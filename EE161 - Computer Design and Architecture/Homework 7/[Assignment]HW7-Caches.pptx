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77" r:id="rId2"/>
    <p:sldId id="368" r:id="rId3"/>
    <p:sldId id="313" r:id="rId4"/>
    <p:sldId id="319" r:id="rId5"/>
    <p:sldId id="316" r:id="rId6"/>
    <p:sldId id="318" r:id="rId7"/>
    <p:sldId id="384" r:id="rId8"/>
    <p:sldId id="378" r:id="rId9"/>
    <p:sldId id="261" r:id="rId10"/>
    <p:sldId id="385" r:id="rId11"/>
    <p:sldId id="383" r:id="rId12"/>
    <p:sldId id="387" r:id="rId13"/>
    <p:sldId id="271" r:id="rId14"/>
    <p:sldId id="388" r:id="rId15"/>
  </p:sldIdLst>
  <p:sldSz cx="9144000" cy="5143500" type="screen16x9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62"/>
  </p:normalViewPr>
  <p:slideViewPr>
    <p:cSldViewPr snapToGrid="0" snapToObjects="1">
      <p:cViewPr varScale="1">
        <p:scale>
          <a:sx n="161" d="100"/>
          <a:sy n="161" d="100"/>
        </p:scale>
        <p:origin x="784" y="2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239AA-C88D-2048-A5B1-8FB2BA3BA45E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C76CA-946E-C74F-8725-6FAAF1D36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62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7C720-C358-5946-B7DB-39D4FC7A818F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534248-36AE-BD41-9BA8-17BC2379A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49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06246D-19A8-0D4D-873D-ACE36D55E004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2017 David Black-Schaffer</a:t>
            </a:r>
          </a:p>
        </p:txBody>
      </p:sp>
    </p:spTree>
    <p:extLst>
      <p:ext uri="{BB962C8B-B14F-4D97-AF65-F5344CB8AC3E}">
        <p14:creationId xmlns:p14="http://schemas.microsoft.com/office/powerpoint/2010/main" val="2057608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2012 David Black-Schaffer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FCE52E-F2C0-5848-A904-5B91B511C1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37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0528" y="1469231"/>
            <a:ext cx="7772400" cy="11025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8054" y="2571750"/>
            <a:ext cx="6400800" cy="7920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0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5" y="771550"/>
            <a:ext cx="8856984" cy="42484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758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7704" y="771548"/>
            <a:ext cx="7056784" cy="4248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07950" y="771549"/>
            <a:ext cx="1655763" cy="4248472"/>
          </a:xfrm>
          <a:effectLst>
            <a:outerShdw blurRad="50800" dist="38100" dir="2700000">
              <a:srgbClr val="000000">
                <a:alpha val="43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sz="18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714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3" y="2283718"/>
            <a:ext cx="6587009" cy="1165572"/>
          </a:xfrm>
        </p:spPr>
        <p:txBody>
          <a:bodyPr anchor="b" anchorCtr="0"/>
          <a:lstStyle>
            <a:lvl1pPr algn="l">
              <a:defRPr sz="4000" b="1" strike="noStrike" cap="none" normalizeH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7702" y="3449290"/>
            <a:ext cx="6587009" cy="1125140"/>
          </a:xfrm>
        </p:spPr>
        <p:txBody>
          <a:bodyPr anchor="t" anchorCtr="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8684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532440" y="267494"/>
            <a:ext cx="611560" cy="69954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820472" cy="69954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3478"/>
            <a:ext cx="8928992" cy="48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4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8820472" cy="771550"/>
          </a:xfrm>
          <a:prstGeom prst="rect">
            <a:avLst/>
          </a:prstGeom>
          <a:solidFill>
            <a:schemeClr val="bg1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532440" y="267494"/>
            <a:ext cx="611560" cy="69954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09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04" y="771550"/>
            <a:ext cx="4392488" cy="288032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4008" y="756629"/>
            <a:ext cx="4392486" cy="289645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0"/>
          </p:nvPr>
        </p:nvSpPr>
        <p:spPr>
          <a:xfrm>
            <a:off x="107505" y="3723878"/>
            <a:ext cx="8928990" cy="1296143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8001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504" y="689999"/>
            <a:ext cx="4389884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504" y="1169821"/>
            <a:ext cx="4389884" cy="24820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689999"/>
            <a:ext cx="439146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169821"/>
            <a:ext cx="4391468" cy="248204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8"/>
          <p:cNvSpPr>
            <a:spLocks noGrp="1"/>
          </p:cNvSpPr>
          <p:nvPr>
            <p:ph sz="quarter" idx="10"/>
          </p:nvPr>
        </p:nvSpPr>
        <p:spPr>
          <a:xfrm>
            <a:off x="107505" y="3723878"/>
            <a:ext cx="8928990" cy="1296143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5695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156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4114800"/>
            <a:ext cx="7056784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9712" y="771550"/>
            <a:ext cx="5943556" cy="3343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9712" y="4539853"/>
            <a:ext cx="7066064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1193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 txBox="1">
            <a:spLocks/>
          </p:cNvSpPr>
          <p:nvPr/>
        </p:nvSpPr>
        <p:spPr>
          <a:xfrm>
            <a:off x="8532440" y="0"/>
            <a:ext cx="611560" cy="273844"/>
          </a:xfrm>
          <a:prstGeom prst="rect">
            <a:avLst/>
          </a:prstGeom>
        </p:spPr>
        <p:txBody>
          <a:bodyPr vert="horz" wrap="none" lIns="36000" tIns="45720" rIns="3600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353E411C-A4CB-6542-905F-D3B3E3931710}" type="slidenum">
              <a:rPr lang="en-US" smtClean="0">
                <a:solidFill>
                  <a:schemeClr val="accent1"/>
                </a:solidFill>
              </a:rPr>
              <a:pPr algn="r"/>
              <a:t>‹#›</a:t>
            </a:fld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0" y="0"/>
            <a:ext cx="9144000" cy="627534"/>
            <a:chOff x="0" y="0"/>
            <a:chExt cx="9367948" cy="627534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036495" cy="6069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Straight Connector 8"/>
            <p:cNvCxnSpPr/>
            <p:nvPr userDrawn="1"/>
          </p:nvCxnSpPr>
          <p:spPr>
            <a:xfrm>
              <a:off x="0" y="627534"/>
              <a:ext cx="9367948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" y="30875"/>
            <a:ext cx="9036495" cy="5761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871" y="699542"/>
            <a:ext cx="8800617" cy="432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51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800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80000"/>
        </a:lnSpc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80000"/>
        </a:lnSpc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80000"/>
        </a:lnSpc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elaheh@cs.ucr.edu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336C6A44-908D-FA4F-B97D-085453C94D84}"/>
              </a:ext>
            </a:extLst>
          </p:cNvPr>
          <p:cNvSpPr txBox="1">
            <a:spLocks/>
          </p:cNvSpPr>
          <p:nvPr/>
        </p:nvSpPr>
        <p:spPr>
          <a:xfrm>
            <a:off x="252549" y="830888"/>
            <a:ext cx="8422640" cy="1591324"/>
          </a:xfrm>
          <a:prstGeom prst="rect">
            <a:avLst/>
          </a:prstGeom>
          <a:noFill/>
          <a:ln w="3810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lnSpc>
                <a:spcPct val="8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lnSpc>
                <a:spcPct val="8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lnSpc>
                <a:spcPct val="8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lnSpc>
                <a:spcPct val="8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C00000"/>
                </a:solidFill>
              </a:rPr>
              <a:t>Assignment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: Caches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5882150B-A291-5A43-9ECE-D5D1E9CAEB7E}"/>
              </a:ext>
            </a:extLst>
          </p:cNvPr>
          <p:cNvSpPr txBox="1">
            <a:spLocks/>
          </p:cNvSpPr>
          <p:nvPr/>
        </p:nvSpPr>
        <p:spPr bwMode="auto">
          <a:xfrm>
            <a:off x="866517" y="2447440"/>
            <a:ext cx="7194704" cy="1867893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224FB3"/>
              </a:buClr>
              <a:buSzPct val="60000"/>
              <a:buFont typeface="Wingdings" charset="0"/>
              <a:buNone/>
              <a:defRPr sz="3200">
                <a:solidFill>
                  <a:srgbClr val="F1AB00"/>
                </a:solidFill>
                <a:latin typeface="+mn-lt"/>
                <a:ea typeface="+mn-ea"/>
                <a:cs typeface="ＭＳ Ｐゴシック" charset="0"/>
              </a:defRPr>
            </a:lvl1pPr>
            <a:lvl2pPr marL="692150" indent="-34766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EA9B1C"/>
              </a:buClr>
              <a:buSzPct val="120000"/>
              <a:buFont typeface="Wingdings" pitchFamily="2" charset="2"/>
              <a:buChar char="§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Blip>
                <a:blip r:embed="rId3"/>
              </a:buBlip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charset="0"/>
              <a:buBlip>
                <a:blip r:embed="rId4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charset="0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defTabSz="914400"/>
            <a:endParaRPr lang="en-US" sz="2400" kern="0" dirty="0">
              <a:solidFill>
                <a:schemeClr val="accent5">
                  <a:lumMod val="50000"/>
                </a:schemeClr>
              </a:solidFill>
            </a:endParaRPr>
          </a:p>
          <a:p>
            <a:pPr defTabSz="914400"/>
            <a:r>
              <a:rPr lang="en-US" sz="2400" kern="0" dirty="0">
                <a:solidFill>
                  <a:schemeClr val="tx1"/>
                </a:solidFill>
              </a:rPr>
              <a:t>Instructor: Elaheh Sadredini</a:t>
            </a:r>
          </a:p>
          <a:p>
            <a:pPr defTabSz="914400"/>
            <a:r>
              <a:rPr lang="en-US" sz="2400" kern="0" dirty="0">
                <a:solidFill>
                  <a:schemeClr val="tx1"/>
                </a:solidFill>
                <a:hlinkClick r:id="rId5"/>
              </a:rPr>
              <a:t>elaheh@cs.ucr.edu</a:t>
            </a:r>
            <a:endParaRPr lang="en-US" sz="2400" kern="0" dirty="0">
              <a:solidFill>
                <a:schemeClr val="tx1"/>
              </a:solidFill>
            </a:endParaRPr>
          </a:p>
          <a:p>
            <a:pPr defTabSz="914400"/>
            <a:r>
              <a:rPr lang="en-US" sz="2400" kern="0" dirty="0">
                <a:solidFill>
                  <a:schemeClr val="tx1"/>
                </a:solidFill>
              </a:rPr>
              <a:t>University of California, Riverside</a:t>
            </a:r>
          </a:p>
          <a:p>
            <a:pPr defTabSz="914400"/>
            <a:endParaRPr lang="en-US" sz="2400" kern="0" dirty="0">
              <a:solidFill>
                <a:schemeClr val="tx1"/>
              </a:solidFill>
            </a:endParaRPr>
          </a:p>
          <a:p>
            <a:pPr defTabSz="914400"/>
            <a:br>
              <a:rPr lang="en-US" sz="1400" kern="0" dirty="0">
                <a:solidFill>
                  <a:schemeClr val="tx1"/>
                </a:solidFill>
              </a:rPr>
            </a:br>
            <a:endParaRPr lang="en-US" sz="14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1761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2920-9E00-C749-8549-794C6963F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(total 4 points)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0739C-94B7-9D40-A26F-C98DE4D11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 1: 1 point</a:t>
            </a:r>
          </a:p>
          <a:p>
            <a:pPr lvl="1"/>
            <a:r>
              <a:rPr lang="en-US" dirty="0"/>
              <a:t>Part B: 0.4 points, Part C: 0.4 points</a:t>
            </a:r>
          </a:p>
          <a:p>
            <a:r>
              <a:rPr lang="en-US" dirty="0"/>
              <a:t>Question 2: 1.2 point</a:t>
            </a:r>
          </a:p>
          <a:p>
            <a:pPr lvl="1"/>
            <a:r>
              <a:rPr lang="en-US" dirty="0"/>
              <a:t>Each part 0.4 point</a:t>
            </a:r>
          </a:p>
          <a:p>
            <a:r>
              <a:rPr lang="en-US" dirty="0"/>
              <a:t>Question 3: 1.4 point</a:t>
            </a:r>
          </a:p>
          <a:p>
            <a:pPr lvl="1"/>
            <a:r>
              <a:rPr lang="en-US" dirty="0"/>
              <a:t>Part A, B, C each 0.4 point, Part D 0.2 point</a:t>
            </a:r>
          </a:p>
          <a:p>
            <a:r>
              <a:rPr lang="en-US" dirty="0"/>
              <a:t>Question 4: 0.6 point</a:t>
            </a:r>
          </a:p>
          <a:p>
            <a:pPr lvl="1"/>
            <a:r>
              <a:rPr lang="en-US" dirty="0"/>
              <a:t>Each part 0.2 point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849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What goes into and out from a cache?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E99965-D456-B546-B6AB-E3C7CB2A647A}"/>
              </a:ext>
            </a:extLst>
          </p:cNvPr>
          <p:cNvSpPr/>
          <p:nvPr/>
        </p:nvSpPr>
        <p:spPr>
          <a:xfrm>
            <a:off x="142094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Processor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3B21F2-B0B2-A149-97F6-DA15A58A955E}"/>
              </a:ext>
            </a:extLst>
          </p:cNvPr>
          <p:cNvSpPr/>
          <p:nvPr/>
        </p:nvSpPr>
        <p:spPr>
          <a:xfrm>
            <a:off x="7784286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BB30D-6EE4-2D41-8FEF-429B9F248094}"/>
              </a:ext>
            </a:extLst>
          </p:cNvPr>
          <p:cNvSpPr/>
          <p:nvPr/>
        </p:nvSpPr>
        <p:spPr>
          <a:xfrm>
            <a:off x="2975103" y="1039136"/>
            <a:ext cx="3410266" cy="339273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Cache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B005E8-15CD-2847-B757-E63DA7A4F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59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goes into and out from a cache?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42094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Processor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84286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Memory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976124" y="1731893"/>
            <a:ext cx="808162" cy="307777"/>
            <a:chOff x="5541684" y="1225647"/>
            <a:chExt cx="808162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541684" y="1225647"/>
              <a:ext cx="7671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Address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976124" y="2192070"/>
            <a:ext cx="808162" cy="307777"/>
            <a:chOff x="5541684" y="1225647"/>
            <a:chExt cx="808162" cy="307777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41684" y="1225647"/>
              <a:ext cx="703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In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976124" y="2779663"/>
            <a:ext cx="837326" cy="307777"/>
            <a:chOff x="5541684" y="1225647"/>
            <a:chExt cx="837326" cy="307777"/>
          </a:xfrm>
        </p:grpSpPr>
        <p:sp>
          <p:nvSpPr>
            <p:cNvPr id="15" name="TextBox 14"/>
            <p:cNvSpPr txBox="1"/>
            <p:nvPr/>
          </p:nvSpPr>
          <p:spPr>
            <a:xfrm>
              <a:off x="5541684" y="1225647"/>
              <a:ext cx="837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Out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1394302" y="1731893"/>
            <a:ext cx="808162" cy="307777"/>
            <a:chOff x="5541684" y="1225647"/>
            <a:chExt cx="808162" cy="307777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541684" y="1225647"/>
              <a:ext cx="7671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Address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394302" y="2192070"/>
            <a:ext cx="837326" cy="307777"/>
            <a:chOff x="5541684" y="1225647"/>
            <a:chExt cx="837326" cy="307777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541684" y="1225647"/>
              <a:ext cx="837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Out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394302" y="2779663"/>
            <a:ext cx="808162" cy="307777"/>
            <a:chOff x="5541684" y="1225647"/>
            <a:chExt cx="808162" cy="307777"/>
          </a:xfrm>
        </p:grpSpPr>
        <p:sp>
          <p:nvSpPr>
            <p:cNvPr id="23" name="TextBox 22"/>
            <p:cNvSpPr txBox="1"/>
            <p:nvPr/>
          </p:nvSpPr>
          <p:spPr>
            <a:xfrm>
              <a:off x="5541684" y="1225647"/>
              <a:ext cx="703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In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2975103" y="1039136"/>
            <a:ext cx="3410266" cy="339273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Cache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845431" y="1669722"/>
            <a:ext cx="1722895" cy="266445"/>
            <a:chOff x="3561242" y="1669722"/>
            <a:chExt cx="2273511" cy="266445"/>
          </a:xfrm>
        </p:grpSpPr>
        <p:sp>
          <p:nvSpPr>
            <p:cNvPr id="26" name="Rectangle 25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845431" y="1922549"/>
            <a:ext cx="1722895" cy="266445"/>
            <a:chOff x="3561242" y="1669722"/>
            <a:chExt cx="2273511" cy="266445"/>
          </a:xfrm>
        </p:grpSpPr>
        <p:sp>
          <p:nvSpPr>
            <p:cNvPr id="30" name="Rectangle 29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845431" y="2175376"/>
            <a:ext cx="1722895" cy="266445"/>
            <a:chOff x="3561242" y="1669722"/>
            <a:chExt cx="2273511" cy="266445"/>
          </a:xfrm>
        </p:grpSpPr>
        <p:sp>
          <p:nvSpPr>
            <p:cNvPr id="33" name="Rectangle 32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845431" y="2428203"/>
            <a:ext cx="1722895" cy="266445"/>
            <a:chOff x="3561242" y="1669722"/>
            <a:chExt cx="2273511" cy="266445"/>
          </a:xfrm>
        </p:grpSpPr>
        <p:sp>
          <p:nvSpPr>
            <p:cNvPr id="36" name="Rectangle 35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012734" y="2694648"/>
            <a:ext cx="299631" cy="501720"/>
            <a:chOff x="2174387" y="1615913"/>
            <a:chExt cx="299631" cy="501720"/>
          </a:xfrm>
        </p:grpSpPr>
        <p:sp>
          <p:nvSpPr>
            <p:cNvPr id="52" name="Freeform 51"/>
            <p:cNvSpPr/>
            <p:nvPr/>
          </p:nvSpPr>
          <p:spPr>
            <a:xfrm flipH="1">
              <a:off x="2271809" y="1615913"/>
              <a:ext cx="45719" cy="238704"/>
            </a:xfrm>
            <a:custGeom>
              <a:avLst/>
              <a:gdLst>
                <a:gd name="connsiteX0" fmla="*/ 0 w 0"/>
                <a:gd name="connsiteY0" fmla="*/ 0 h 505149"/>
                <a:gd name="connsiteX1" fmla="*/ 0 w 0"/>
                <a:gd name="connsiteY1" fmla="*/ 505149 h 505149"/>
                <a:gd name="connsiteX2" fmla="*/ 0 w 0"/>
                <a:gd name="connsiteY2" fmla="*/ 505149 h 505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505149">
                  <a:moveTo>
                    <a:pt x="0" y="0"/>
                  </a:moveTo>
                  <a:lnTo>
                    <a:pt x="0" y="505149"/>
                  </a:lnTo>
                  <a:lnTo>
                    <a:pt x="0" y="505149"/>
                  </a:lnTo>
                </a:path>
              </a:pathLst>
            </a:custGeom>
            <a:ln>
              <a:solidFill>
                <a:srgbClr val="000000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2174387" y="1748301"/>
              <a:ext cx="299631" cy="369332"/>
              <a:chOff x="5070517" y="888940"/>
              <a:chExt cx="299631" cy="369332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76096" y="968710"/>
                <a:ext cx="276999" cy="27699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5070517" y="888940"/>
                <a:ext cx="2996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=</a:t>
                </a:r>
              </a:p>
            </p:txBody>
          </p:sp>
        </p:grpSp>
      </p:grpSp>
      <p:sp>
        <p:nvSpPr>
          <p:cNvPr id="56" name="Freeform 55"/>
          <p:cNvSpPr/>
          <p:nvPr/>
        </p:nvSpPr>
        <p:spPr>
          <a:xfrm>
            <a:off x="3161602" y="2122679"/>
            <a:ext cx="834804" cy="941439"/>
          </a:xfrm>
          <a:custGeom>
            <a:avLst/>
            <a:gdLst>
              <a:gd name="connsiteX0" fmla="*/ 0 w 834804"/>
              <a:gd name="connsiteY0" fmla="*/ 0 h 941439"/>
              <a:gd name="connsiteX1" fmla="*/ 222022 w 834804"/>
              <a:gd name="connsiteY1" fmla="*/ 941439 h 941439"/>
              <a:gd name="connsiteX2" fmla="*/ 834804 w 834804"/>
              <a:gd name="connsiteY2" fmla="*/ 941439 h 94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04" h="941439">
                <a:moveTo>
                  <a:pt x="0" y="0"/>
                </a:moveTo>
                <a:lnTo>
                  <a:pt x="222022" y="941439"/>
                </a:lnTo>
                <a:lnTo>
                  <a:pt x="834804" y="941439"/>
                </a:ln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2975103" y="1802945"/>
            <a:ext cx="870328" cy="758481"/>
            <a:chOff x="2975103" y="1802945"/>
            <a:chExt cx="870328" cy="758481"/>
          </a:xfrm>
        </p:grpSpPr>
        <p:grpSp>
          <p:nvGrpSpPr>
            <p:cNvPr id="47" name="Group 46"/>
            <p:cNvGrpSpPr/>
            <p:nvPr/>
          </p:nvGrpSpPr>
          <p:grpSpPr>
            <a:xfrm>
              <a:off x="3401386" y="1802945"/>
              <a:ext cx="444045" cy="758481"/>
              <a:chOff x="3401386" y="1802945"/>
              <a:chExt cx="444045" cy="758481"/>
            </a:xfrm>
          </p:grpSpPr>
          <p:cxnSp>
            <p:nvCxnSpPr>
              <p:cNvPr id="39" name="Straight Arrow Connector 38"/>
              <p:cNvCxnSpPr>
                <a:endCxn id="36" idx="1"/>
              </p:cNvCxnSpPr>
              <p:nvPr/>
            </p:nvCxnSpPr>
            <p:spPr>
              <a:xfrm>
                <a:off x="3401386" y="2175376"/>
                <a:ext cx="444045" cy="386050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/>
              <p:cNvCxnSpPr>
                <a:endCxn id="33" idx="1"/>
              </p:cNvCxnSpPr>
              <p:nvPr/>
            </p:nvCxnSpPr>
            <p:spPr>
              <a:xfrm>
                <a:off x="3401386" y="2161758"/>
                <a:ext cx="444045" cy="146841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endCxn id="30" idx="1"/>
              </p:cNvCxnSpPr>
              <p:nvPr/>
            </p:nvCxnSpPr>
            <p:spPr>
              <a:xfrm flipV="1">
                <a:off x="3401386" y="2055772"/>
                <a:ext cx="444045" cy="92368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Arrow Connector 43"/>
              <p:cNvCxnSpPr>
                <a:endCxn id="26" idx="1"/>
              </p:cNvCxnSpPr>
              <p:nvPr/>
            </p:nvCxnSpPr>
            <p:spPr>
              <a:xfrm flipV="1">
                <a:off x="3401386" y="1802945"/>
                <a:ext cx="444045" cy="345195"/>
              </a:xfrm>
              <a:prstGeom prst="straightConnector1">
                <a:avLst/>
              </a:prstGeom>
              <a:ln>
                <a:solidFill>
                  <a:srgbClr val="000000"/>
                </a:solidFill>
                <a:tailEnd type="arrow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Straight Arrow Connector 63"/>
            <p:cNvCxnSpPr/>
            <p:nvPr/>
          </p:nvCxnSpPr>
          <p:spPr>
            <a:xfrm>
              <a:off x="2975103" y="2122679"/>
              <a:ext cx="426283" cy="3907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32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Straight Arrow Connector 66"/>
          <p:cNvCxnSpPr/>
          <p:nvPr/>
        </p:nvCxnSpPr>
        <p:spPr>
          <a:xfrm>
            <a:off x="2975103" y="2122679"/>
            <a:ext cx="426283" cy="3907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goes into and out from a cache?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42094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Processor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84286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Memory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976124" y="1731893"/>
            <a:ext cx="808162" cy="307777"/>
            <a:chOff x="5541684" y="1225647"/>
            <a:chExt cx="808162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541684" y="1225647"/>
              <a:ext cx="7671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Address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976124" y="2192070"/>
            <a:ext cx="808162" cy="307777"/>
            <a:chOff x="5541684" y="1225647"/>
            <a:chExt cx="808162" cy="307777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41684" y="1225647"/>
              <a:ext cx="703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In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976124" y="2779663"/>
            <a:ext cx="837326" cy="307777"/>
            <a:chOff x="5541684" y="1225647"/>
            <a:chExt cx="837326" cy="307777"/>
          </a:xfrm>
        </p:grpSpPr>
        <p:sp>
          <p:nvSpPr>
            <p:cNvPr id="15" name="TextBox 14"/>
            <p:cNvSpPr txBox="1"/>
            <p:nvPr/>
          </p:nvSpPr>
          <p:spPr>
            <a:xfrm>
              <a:off x="5541684" y="1225647"/>
              <a:ext cx="837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Out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1394302" y="1731893"/>
            <a:ext cx="808162" cy="307777"/>
            <a:chOff x="5541684" y="1225647"/>
            <a:chExt cx="808162" cy="307777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541684" y="1225647"/>
              <a:ext cx="7671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Address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394302" y="2192070"/>
            <a:ext cx="837326" cy="307777"/>
            <a:chOff x="5541684" y="1225647"/>
            <a:chExt cx="837326" cy="307777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541684" y="1225647"/>
              <a:ext cx="837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Out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394302" y="2779663"/>
            <a:ext cx="808162" cy="307777"/>
            <a:chOff x="5541684" y="1225647"/>
            <a:chExt cx="808162" cy="307777"/>
          </a:xfrm>
        </p:grpSpPr>
        <p:sp>
          <p:nvSpPr>
            <p:cNvPr id="23" name="TextBox 22"/>
            <p:cNvSpPr txBox="1"/>
            <p:nvPr/>
          </p:nvSpPr>
          <p:spPr>
            <a:xfrm>
              <a:off x="5541684" y="1225647"/>
              <a:ext cx="703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In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2975103" y="1039136"/>
            <a:ext cx="3410266" cy="339273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Cache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845431" y="1669722"/>
            <a:ext cx="1722895" cy="266445"/>
            <a:chOff x="3561242" y="1669722"/>
            <a:chExt cx="2273511" cy="266445"/>
          </a:xfrm>
        </p:grpSpPr>
        <p:sp>
          <p:nvSpPr>
            <p:cNvPr id="26" name="Rectangle 25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845431" y="1922549"/>
            <a:ext cx="1722895" cy="266445"/>
            <a:chOff x="3561242" y="1669722"/>
            <a:chExt cx="2273511" cy="266445"/>
          </a:xfrm>
        </p:grpSpPr>
        <p:sp>
          <p:nvSpPr>
            <p:cNvPr id="30" name="Rectangle 29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845431" y="2175376"/>
            <a:ext cx="1722895" cy="266445"/>
            <a:chOff x="3561242" y="1669722"/>
            <a:chExt cx="2273511" cy="266445"/>
          </a:xfrm>
        </p:grpSpPr>
        <p:sp>
          <p:nvSpPr>
            <p:cNvPr id="33" name="Rectangle 32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845431" y="2428203"/>
            <a:ext cx="1722895" cy="266445"/>
            <a:chOff x="3561242" y="1669722"/>
            <a:chExt cx="2273511" cy="266445"/>
          </a:xfrm>
        </p:grpSpPr>
        <p:sp>
          <p:nvSpPr>
            <p:cNvPr id="36" name="Rectangle 35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3401386" y="1802945"/>
            <a:ext cx="444045" cy="758481"/>
            <a:chOff x="3401386" y="1802945"/>
            <a:chExt cx="444045" cy="758481"/>
          </a:xfrm>
        </p:grpSpPr>
        <p:cxnSp>
          <p:nvCxnSpPr>
            <p:cNvPr id="39" name="Straight Arrow Connector 38"/>
            <p:cNvCxnSpPr>
              <a:endCxn id="36" idx="1"/>
            </p:cNvCxnSpPr>
            <p:nvPr/>
          </p:nvCxnSpPr>
          <p:spPr>
            <a:xfrm>
              <a:off x="3401386" y="2175376"/>
              <a:ext cx="444045" cy="38605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33" idx="1"/>
            </p:cNvCxnSpPr>
            <p:nvPr/>
          </p:nvCxnSpPr>
          <p:spPr>
            <a:xfrm>
              <a:off x="3401386" y="2161758"/>
              <a:ext cx="444045" cy="146841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endCxn id="30" idx="1"/>
            </p:cNvCxnSpPr>
            <p:nvPr/>
          </p:nvCxnSpPr>
          <p:spPr>
            <a:xfrm flipV="1">
              <a:off x="3401386" y="2055772"/>
              <a:ext cx="444045" cy="92368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endCxn id="26" idx="1"/>
            </p:cNvCxnSpPr>
            <p:nvPr/>
          </p:nvCxnSpPr>
          <p:spPr>
            <a:xfrm flipV="1">
              <a:off x="3401386" y="1802945"/>
              <a:ext cx="444045" cy="345195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/>
          <p:cNvGrpSpPr/>
          <p:nvPr/>
        </p:nvGrpSpPr>
        <p:grpSpPr>
          <a:xfrm>
            <a:off x="4012734" y="2694648"/>
            <a:ext cx="299631" cy="501720"/>
            <a:chOff x="2174387" y="1615913"/>
            <a:chExt cx="299631" cy="501720"/>
          </a:xfrm>
        </p:grpSpPr>
        <p:sp>
          <p:nvSpPr>
            <p:cNvPr id="52" name="Freeform 51"/>
            <p:cNvSpPr/>
            <p:nvPr/>
          </p:nvSpPr>
          <p:spPr>
            <a:xfrm flipH="1">
              <a:off x="2271809" y="1615913"/>
              <a:ext cx="45719" cy="238704"/>
            </a:xfrm>
            <a:custGeom>
              <a:avLst/>
              <a:gdLst>
                <a:gd name="connsiteX0" fmla="*/ 0 w 0"/>
                <a:gd name="connsiteY0" fmla="*/ 0 h 505149"/>
                <a:gd name="connsiteX1" fmla="*/ 0 w 0"/>
                <a:gd name="connsiteY1" fmla="*/ 505149 h 505149"/>
                <a:gd name="connsiteX2" fmla="*/ 0 w 0"/>
                <a:gd name="connsiteY2" fmla="*/ 505149 h 505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505149">
                  <a:moveTo>
                    <a:pt x="0" y="0"/>
                  </a:moveTo>
                  <a:lnTo>
                    <a:pt x="0" y="505149"/>
                  </a:lnTo>
                  <a:lnTo>
                    <a:pt x="0" y="505149"/>
                  </a:lnTo>
                </a:path>
              </a:pathLst>
            </a:custGeom>
            <a:ln>
              <a:solidFill>
                <a:srgbClr val="000000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2174387" y="1748301"/>
              <a:ext cx="299631" cy="369332"/>
              <a:chOff x="5070517" y="888940"/>
              <a:chExt cx="299631" cy="369332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76096" y="968710"/>
                <a:ext cx="276999" cy="27699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5070517" y="888940"/>
                <a:ext cx="2996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=</a:t>
                </a:r>
              </a:p>
            </p:txBody>
          </p:sp>
        </p:grpSp>
      </p:grpSp>
      <p:sp>
        <p:nvSpPr>
          <p:cNvPr id="56" name="Freeform 55"/>
          <p:cNvSpPr/>
          <p:nvPr/>
        </p:nvSpPr>
        <p:spPr>
          <a:xfrm>
            <a:off x="3161602" y="2122679"/>
            <a:ext cx="834804" cy="941439"/>
          </a:xfrm>
          <a:custGeom>
            <a:avLst/>
            <a:gdLst>
              <a:gd name="connsiteX0" fmla="*/ 0 w 834804"/>
              <a:gd name="connsiteY0" fmla="*/ 0 h 941439"/>
              <a:gd name="connsiteX1" fmla="*/ 222022 w 834804"/>
              <a:gd name="connsiteY1" fmla="*/ 941439 h 941439"/>
              <a:gd name="connsiteX2" fmla="*/ 834804 w 834804"/>
              <a:gd name="connsiteY2" fmla="*/ 941439 h 94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04" h="941439">
                <a:moveTo>
                  <a:pt x="0" y="0"/>
                </a:moveTo>
                <a:lnTo>
                  <a:pt x="222022" y="941439"/>
                </a:lnTo>
                <a:lnTo>
                  <a:pt x="834804" y="941439"/>
                </a:ln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44045" y="1834030"/>
            <a:ext cx="568378" cy="381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lw</a:t>
            </a:r>
            <a:endParaRPr lang="en-US" dirty="0"/>
          </a:p>
        </p:txBody>
      </p:sp>
      <p:sp>
        <p:nvSpPr>
          <p:cNvPr id="58" name="Freeform 57"/>
          <p:cNvSpPr/>
          <p:nvPr/>
        </p:nvSpPr>
        <p:spPr>
          <a:xfrm>
            <a:off x="1385421" y="2016101"/>
            <a:ext cx="2433367" cy="159867"/>
          </a:xfrm>
          <a:custGeom>
            <a:avLst/>
            <a:gdLst>
              <a:gd name="connsiteX0" fmla="*/ 0 w 2433367"/>
              <a:gd name="connsiteY0" fmla="*/ 0 h 159867"/>
              <a:gd name="connsiteX1" fmla="*/ 834805 w 2433367"/>
              <a:gd name="connsiteY1" fmla="*/ 0 h 159867"/>
              <a:gd name="connsiteX2" fmla="*/ 2015965 w 2433367"/>
              <a:gd name="connsiteY2" fmla="*/ 159867 h 159867"/>
              <a:gd name="connsiteX3" fmla="*/ 2433367 w 2433367"/>
              <a:gd name="connsiteY3" fmla="*/ 26645 h 159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367" h="159867">
                <a:moveTo>
                  <a:pt x="0" y="0"/>
                </a:moveTo>
                <a:lnTo>
                  <a:pt x="834805" y="0"/>
                </a:lnTo>
                <a:lnTo>
                  <a:pt x="2015965" y="159867"/>
                </a:lnTo>
                <a:lnTo>
                  <a:pt x="2433367" y="26645"/>
                </a:lnTo>
              </a:path>
            </a:pathLst>
          </a:custGeom>
          <a:ln w="38100" cmpd="sng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4138501" y="2033864"/>
            <a:ext cx="444045" cy="1003610"/>
          </a:xfrm>
          <a:custGeom>
            <a:avLst/>
            <a:gdLst>
              <a:gd name="connsiteX0" fmla="*/ 0 w 444045"/>
              <a:gd name="connsiteY0" fmla="*/ 0 h 1003610"/>
              <a:gd name="connsiteX1" fmla="*/ 17762 w 444045"/>
              <a:gd name="connsiteY1" fmla="*/ 1003610 h 1003610"/>
              <a:gd name="connsiteX2" fmla="*/ 444045 w 444045"/>
              <a:gd name="connsiteY2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4045" h="1003610">
                <a:moveTo>
                  <a:pt x="0" y="0"/>
                </a:moveTo>
                <a:lnTo>
                  <a:pt x="17762" y="1003610"/>
                </a:lnTo>
                <a:lnTo>
                  <a:pt x="444045" y="1003610"/>
                </a:lnTo>
              </a:path>
            </a:pathLst>
          </a:custGeom>
          <a:ln w="38100" cmpd="sng">
            <a:solidFill>
              <a:srgbClr val="C0504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/>
          <p:cNvSpPr/>
          <p:nvPr/>
        </p:nvSpPr>
        <p:spPr>
          <a:xfrm>
            <a:off x="3152721" y="2131561"/>
            <a:ext cx="790400" cy="932557"/>
          </a:xfrm>
          <a:custGeom>
            <a:avLst/>
            <a:gdLst>
              <a:gd name="connsiteX0" fmla="*/ 0 w 790400"/>
              <a:gd name="connsiteY0" fmla="*/ 0 h 932557"/>
              <a:gd name="connsiteX1" fmla="*/ 222022 w 790400"/>
              <a:gd name="connsiteY1" fmla="*/ 923676 h 932557"/>
              <a:gd name="connsiteX2" fmla="*/ 790400 w 790400"/>
              <a:gd name="connsiteY2" fmla="*/ 932557 h 93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400" h="932557">
                <a:moveTo>
                  <a:pt x="0" y="0"/>
                </a:moveTo>
                <a:lnTo>
                  <a:pt x="222022" y="923676"/>
                </a:lnTo>
                <a:lnTo>
                  <a:pt x="790400" y="932557"/>
                </a:lnTo>
              </a:path>
            </a:pathLst>
          </a:custGeom>
          <a:ln w="38100" cmpd="sng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653593" y="2852808"/>
            <a:ext cx="458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Hit</a:t>
            </a:r>
          </a:p>
        </p:txBody>
      </p:sp>
      <p:sp>
        <p:nvSpPr>
          <p:cNvPr id="62" name="Freeform 61"/>
          <p:cNvSpPr/>
          <p:nvPr/>
        </p:nvSpPr>
        <p:spPr>
          <a:xfrm>
            <a:off x="1420945" y="2069390"/>
            <a:ext cx="3570123" cy="1003610"/>
          </a:xfrm>
          <a:custGeom>
            <a:avLst/>
            <a:gdLst>
              <a:gd name="connsiteX0" fmla="*/ 3570123 w 3570123"/>
              <a:gd name="connsiteY0" fmla="*/ 0 h 1003610"/>
              <a:gd name="connsiteX1" fmla="*/ 3561242 w 3570123"/>
              <a:gd name="connsiteY1" fmla="*/ 799335 h 1003610"/>
              <a:gd name="connsiteX2" fmla="*/ 1536396 w 3570123"/>
              <a:gd name="connsiteY2" fmla="*/ 799335 h 1003610"/>
              <a:gd name="connsiteX3" fmla="*/ 781519 w 3570123"/>
              <a:gd name="connsiteY3" fmla="*/ 985847 h 1003610"/>
              <a:gd name="connsiteX4" fmla="*/ 0 w 3570123"/>
              <a:gd name="connsiteY4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0123" h="1003610">
                <a:moveTo>
                  <a:pt x="3570123" y="0"/>
                </a:moveTo>
                <a:cubicBezTo>
                  <a:pt x="3567163" y="266445"/>
                  <a:pt x="3564202" y="532890"/>
                  <a:pt x="3561242" y="799335"/>
                </a:cubicBezTo>
                <a:lnTo>
                  <a:pt x="1536396" y="799335"/>
                </a:lnTo>
                <a:lnTo>
                  <a:pt x="781519" y="985847"/>
                </a:lnTo>
                <a:lnTo>
                  <a:pt x="0" y="1003610"/>
                </a:lnTo>
              </a:path>
            </a:pathLst>
          </a:custGeom>
          <a:ln w="38100" cmpd="sng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/>
          <p:cNvSpPr txBox="1"/>
          <p:nvPr/>
        </p:nvSpPr>
        <p:spPr>
          <a:xfrm>
            <a:off x="71047" y="710520"/>
            <a:ext cx="277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– </a:t>
            </a:r>
            <a:r>
              <a:rPr lang="en-US" b="1" dirty="0">
                <a:solidFill>
                  <a:srgbClr val="C0504D"/>
                </a:solidFill>
              </a:rPr>
              <a:t>hit in cache</a:t>
            </a:r>
          </a:p>
        </p:txBody>
      </p:sp>
    </p:spTree>
    <p:extLst>
      <p:ext uri="{BB962C8B-B14F-4D97-AF65-F5344CB8AC3E}">
        <p14:creationId xmlns:p14="http://schemas.microsoft.com/office/powerpoint/2010/main" val="37975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goes into and out from a cache?</a:t>
            </a:r>
          </a:p>
        </p:txBody>
      </p:sp>
      <p:sp>
        <p:nvSpPr>
          <p:cNvPr id="4" name="Rectangle 3"/>
          <p:cNvSpPr/>
          <p:nvPr/>
        </p:nvSpPr>
        <p:spPr>
          <a:xfrm>
            <a:off x="142094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Processor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84286" y="1669722"/>
            <a:ext cx="1252208" cy="166084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Memory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976124" y="1731893"/>
            <a:ext cx="808162" cy="307777"/>
            <a:chOff x="5541684" y="1225647"/>
            <a:chExt cx="808162" cy="307777"/>
          </a:xfrm>
        </p:grpSpPr>
        <p:cxnSp>
          <p:nvCxnSpPr>
            <p:cNvPr id="7" name="Straight Arrow Connector 6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5541684" y="1225647"/>
              <a:ext cx="7671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Address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976124" y="2192070"/>
            <a:ext cx="808162" cy="307777"/>
            <a:chOff x="5541684" y="1225647"/>
            <a:chExt cx="808162" cy="307777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541684" y="1225647"/>
              <a:ext cx="703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In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976124" y="2779663"/>
            <a:ext cx="837326" cy="307777"/>
            <a:chOff x="5541684" y="1225647"/>
            <a:chExt cx="837326" cy="307777"/>
          </a:xfrm>
        </p:grpSpPr>
        <p:sp>
          <p:nvSpPr>
            <p:cNvPr id="15" name="TextBox 14"/>
            <p:cNvSpPr txBox="1"/>
            <p:nvPr/>
          </p:nvSpPr>
          <p:spPr>
            <a:xfrm>
              <a:off x="5541684" y="1225647"/>
              <a:ext cx="837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Out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1394302" y="1731893"/>
            <a:ext cx="808162" cy="307777"/>
            <a:chOff x="5541684" y="1225647"/>
            <a:chExt cx="808162" cy="307777"/>
          </a:xfrm>
        </p:grpSpPr>
        <p:cxnSp>
          <p:nvCxnSpPr>
            <p:cNvPr id="17" name="Straight Arrow Connector 16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541684" y="1225647"/>
              <a:ext cx="7671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Address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1394302" y="2192070"/>
            <a:ext cx="837326" cy="307777"/>
            <a:chOff x="5541684" y="1225647"/>
            <a:chExt cx="837326" cy="307777"/>
          </a:xfrm>
        </p:grpSpPr>
        <p:cxnSp>
          <p:nvCxnSpPr>
            <p:cNvPr id="20" name="Straight Arrow Connector 19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541684" y="1225647"/>
              <a:ext cx="837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Out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394302" y="2779663"/>
            <a:ext cx="808162" cy="307777"/>
            <a:chOff x="5541684" y="1225647"/>
            <a:chExt cx="808162" cy="307777"/>
          </a:xfrm>
        </p:grpSpPr>
        <p:sp>
          <p:nvSpPr>
            <p:cNvPr id="23" name="TextBox 22"/>
            <p:cNvSpPr txBox="1"/>
            <p:nvPr/>
          </p:nvSpPr>
          <p:spPr>
            <a:xfrm>
              <a:off x="5541684" y="1225647"/>
              <a:ext cx="70355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Data In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5541684" y="1518737"/>
              <a:ext cx="808162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/>
          <p:cNvSpPr/>
          <p:nvPr/>
        </p:nvSpPr>
        <p:spPr>
          <a:xfrm>
            <a:off x="2975103" y="1039136"/>
            <a:ext cx="3410266" cy="3392734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Cache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845431" y="1669722"/>
            <a:ext cx="1722895" cy="266445"/>
            <a:chOff x="3561242" y="1669722"/>
            <a:chExt cx="2273511" cy="266445"/>
          </a:xfrm>
        </p:grpSpPr>
        <p:sp>
          <p:nvSpPr>
            <p:cNvPr id="26" name="Rectangle 25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845431" y="1922549"/>
            <a:ext cx="1722895" cy="266445"/>
            <a:chOff x="3561242" y="1669722"/>
            <a:chExt cx="2273511" cy="266445"/>
          </a:xfrm>
        </p:grpSpPr>
        <p:sp>
          <p:nvSpPr>
            <p:cNvPr id="30" name="Rectangle 29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845431" y="2175376"/>
            <a:ext cx="1722895" cy="266445"/>
            <a:chOff x="3561242" y="1669722"/>
            <a:chExt cx="2273511" cy="266445"/>
          </a:xfrm>
        </p:grpSpPr>
        <p:sp>
          <p:nvSpPr>
            <p:cNvPr id="33" name="Rectangle 32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845431" y="2428203"/>
            <a:ext cx="1722895" cy="266445"/>
            <a:chOff x="3561242" y="1669722"/>
            <a:chExt cx="2273511" cy="266445"/>
          </a:xfrm>
        </p:grpSpPr>
        <p:sp>
          <p:nvSpPr>
            <p:cNvPr id="36" name="Rectangle 35"/>
            <p:cNvSpPr/>
            <p:nvPr/>
          </p:nvSpPr>
          <p:spPr>
            <a:xfrm>
              <a:off x="3561242" y="1669722"/>
              <a:ext cx="772639" cy="26644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Tag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333881" y="1669722"/>
              <a:ext cx="1500872" cy="26644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dirty="0"/>
                <a:t>Data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3401386" y="1802945"/>
            <a:ext cx="444045" cy="758481"/>
            <a:chOff x="3401386" y="1802945"/>
            <a:chExt cx="444045" cy="758481"/>
          </a:xfrm>
        </p:grpSpPr>
        <p:cxnSp>
          <p:nvCxnSpPr>
            <p:cNvPr id="39" name="Straight Arrow Connector 38"/>
            <p:cNvCxnSpPr>
              <a:endCxn id="36" idx="1"/>
            </p:cNvCxnSpPr>
            <p:nvPr/>
          </p:nvCxnSpPr>
          <p:spPr>
            <a:xfrm>
              <a:off x="3401386" y="2175376"/>
              <a:ext cx="444045" cy="386050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endCxn id="33" idx="1"/>
            </p:cNvCxnSpPr>
            <p:nvPr/>
          </p:nvCxnSpPr>
          <p:spPr>
            <a:xfrm>
              <a:off x="3401386" y="2161758"/>
              <a:ext cx="444045" cy="146841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endCxn id="30" idx="1"/>
            </p:cNvCxnSpPr>
            <p:nvPr/>
          </p:nvCxnSpPr>
          <p:spPr>
            <a:xfrm flipV="1">
              <a:off x="3401386" y="2055772"/>
              <a:ext cx="444045" cy="92368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endCxn id="26" idx="1"/>
            </p:cNvCxnSpPr>
            <p:nvPr/>
          </p:nvCxnSpPr>
          <p:spPr>
            <a:xfrm flipV="1">
              <a:off x="3401386" y="1802945"/>
              <a:ext cx="444045" cy="345195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Straight Arrow Connector 48"/>
          <p:cNvCxnSpPr/>
          <p:nvPr/>
        </p:nvCxnSpPr>
        <p:spPr>
          <a:xfrm>
            <a:off x="2975103" y="2122679"/>
            <a:ext cx="426283" cy="39079"/>
          </a:xfrm>
          <a:prstGeom prst="straightConnector1">
            <a:avLst/>
          </a:prstGeom>
          <a:ln>
            <a:solidFill>
              <a:srgbClr val="000000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4012734" y="2694648"/>
            <a:ext cx="299631" cy="501720"/>
            <a:chOff x="2174387" y="1615913"/>
            <a:chExt cx="299631" cy="501720"/>
          </a:xfrm>
        </p:grpSpPr>
        <p:sp>
          <p:nvSpPr>
            <p:cNvPr id="52" name="Freeform 51"/>
            <p:cNvSpPr/>
            <p:nvPr/>
          </p:nvSpPr>
          <p:spPr>
            <a:xfrm flipH="1">
              <a:off x="2271809" y="1615913"/>
              <a:ext cx="45719" cy="238704"/>
            </a:xfrm>
            <a:custGeom>
              <a:avLst/>
              <a:gdLst>
                <a:gd name="connsiteX0" fmla="*/ 0 w 0"/>
                <a:gd name="connsiteY0" fmla="*/ 0 h 505149"/>
                <a:gd name="connsiteX1" fmla="*/ 0 w 0"/>
                <a:gd name="connsiteY1" fmla="*/ 505149 h 505149"/>
                <a:gd name="connsiteX2" fmla="*/ 0 w 0"/>
                <a:gd name="connsiteY2" fmla="*/ 505149 h 505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h="505149">
                  <a:moveTo>
                    <a:pt x="0" y="0"/>
                  </a:moveTo>
                  <a:lnTo>
                    <a:pt x="0" y="505149"/>
                  </a:lnTo>
                  <a:lnTo>
                    <a:pt x="0" y="505149"/>
                  </a:lnTo>
                </a:path>
              </a:pathLst>
            </a:custGeom>
            <a:ln>
              <a:solidFill>
                <a:srgbClr val="000000"/>
              </a:solidFill>
              <a:headEnd type="none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" name="Group 52"/>
            <p:cNvGrpSpPr/>
            <p:nvPr/>
          </p:nvGrpSpPr>
          <p:grpSpPr>
            <a:xfrm>
              <a:off x="2174387" y="1748301"/>
              <a:ext cx="299631" cy="369332"/>
              <a:chOff x="5070517" y="888940"/>
              <a:chExt cx="299631" cy="369332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5076096" y="968710"/>
                <a:ext cx="276999" cy="276999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5070517" y="888940"/>
                <a:ext cx="2996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=</a:t>
                </a:r>
              </a:p>
            </p:txBody>
          </p:sp>
        </p:grpSp>
      </p:grpSp>
      <p:sp>
        <p:nvSpPr>
          <p:cNvPr id="56" name="Freeform 55"/>
          <p:cNvSpPr/>
          <p:nvPr/>
        </p:nvSpPr>
        <p:spPr>
          <a:xfrm>
            <a:off x="3161602" y="2122679"/>
            <a:ext cx="834804" cy="941439"/>
          </a:xfrm>
          <a:custGeom>
            <a:avLst/>
            <a:gdLst>
              <a:gd name="connsiteX0" fmla="*/ 0 w 834804"/>
              <a:gd name="connsiteY0" fmla="*/ 0 h 941439"/>
              <a:gd name="connsiteX1" fmla="*/ 222022 w 834804"/>
              <a:gd name="connsiteY1" fmla="*/ 941439 h 941439"/>
              <a:gd name="connsiteX2" fmla="*/ 834804 w 834804"/>
              <a:gd name="connsiteY2" fmla="*/ 941439 h 94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4804" h="941439">
                <a:moveTo>
                  <a:pt x="0" y="0"/>
                </a:moveTo>
                <a:lnTo>
                  <a:pt x="222022" y="941439"/>
                </a:lnTo>
                <a:lnTo>
                  <a:pt x="834804" y="941439"/>
                </a:lnTo>
              </a:path>
            </a:pathLst>
          </a:custGeom>
          <a:ln>
            <a:solidFill>
              <a:srgbClr val="000000"/>
            </a:solidFill>
            <a:headEnd type="none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44045" y="1834030"/>
            <a:ext cx="568378" cy="38190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/>
              <a:t>lw</a:t>
            </a:r>
            <a:endParaRPr lang="en-US" dirty="0"/>
          </a:p>
        </p:txBody>
      </p:sp>
      <p:sp>
        <p:nvSpPr>
          <p:cNvPr id="58" name="Freeform 57"/>
          <p:cNvSpPr/>
          <p:nvPr/>
        </p:nvSpPr>
        <p:spPr>
          <a:xfrm>
            <a:off x="1385421" y="2016101"/>
            <a:ext cx="2433367" cy="159867"/>
          </a:xfrm>
          <a:custGeom>
            <a:avLst/>
            <a:gdLst>
              <a:gd name="connsiteX0" fmla="*/ 0 w 2433367"/>
              <a:gd name="connsiteY0" fmla="*/ 0 h 159867"/>
              <a:gd name="connsiteX1" fmla="*/ 834805 w 2433367"/>
              <a:gd name="connsiteY1" fmla="*/ 0 h 159867"/>
              <a:gd name="connsiteX2" fmla="*/ 2015965 w 2433367"/>
              <a:gd name="connsiteY2" fmla="*/ 159867 h 159867"/>
              <a:gd name="connsiteX3" fmla="*/ 2433367 w 2433367"/>
              <a:gd name="connsiteY3" fmla="*/ 26645 h 159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3367" h="159867">
                <a:moveTo>
                  <a:pt x="0" y="0"/>
                </a:moveTo>
                <a:lnTo>
                  <a:pt x="834805" y="0"/>
                </a:lnTo>
                <a:lnTo>
                  <a:pt x="2015965" y="159867"/>
                </a:lnTo>
                <a:lnTo>
                  <a:pt x="2433367" y="26645"/>
                </a:lnTo>
              </a:path>
            </a:pathLst>
          </a:custGeom>
          <a:ln w="38100" cmpd="sng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 58"/>
          <p:cNvSpPr/>
          <p:nvPr/>
        </p:nvSpPr>
        <p:spPr>
          <a:xfrm>
            <a:off x="4138501" y="2033864"/>
            <a:ext cx="444045" cy="1003610"/>
          </a:xfrm>
          <a:custGeom>
            <a:avLst/>
            <a:gdLst>
              <a:gd name="connsiteX0" fmla="*/ 0 w 444045"/>
              <a:gd name="connsiteY0" fmla="*/ 0 h 1003610"/>
              <a:gd name="connsiteX1" fmla="*/ 17762 w 444045"/>
              <a:gd name="connsiteY1" fmla="*/ 1003610 h 1003610"/>
              <a:gd name="connsiteX2" fmla="*/ 444045 w 444045"/>
              <a:gd name="connsiteY2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44045" h="1003610">
                <a:moveTo>
                  <a:pt x="0" y="0"/>
                </a:moveTo>
                <a:lnTo>
                  <a:pt x="17762" y="1003610"/>
                </a:lnTo>
                <a:lnTo>
                  <a:pt x="444045" y="1003610"/>
                </a:lnTo>
              </a:path>
            </a:pathLst>
          </a:custGeom>
          <a:ln w="38100" cmpd="sng">
            <a:solidFill>
              <a:srgbClr val="C0504D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reeform 59"/>
          <p:cNvSpPr/>
          <p:nvPr/>
        </p:nvSpPr>
        <p:spPr>
          <a:xfrm>
            <a:off x="3152721" y="2131561"/>
            <a:ext cx="790400" cy="932557"/>
          </a:xfrm>
          <a:custGeom>
            <a:avLst/>
            <a:gdLst>
              <a:gd name="connsiteX0" fmla="*/ 0 w 790400"/>
              <a:gd name="connsiteY0" fmla="*/ 0 h 932557"/>
              <a:gd name="connsiteX1" fmla="*/ 222022 w 790400"/>
              <a:gd name="connsiteY1" fmla="*/ 923676 h 932557"/>
              <a:gd name="connsiteX2" fmla="*/ 790400 w 790400"/>
              <a:gd name="connsiteY2" fmla="*/ 932557 h 932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90400" h="932557">
                <a:moveTo>
                  <a:pt x="0" y="0"/>
                </a:moveTo>
                <a:lnTo>
                  <a:pt x="222022" y="923676"/>
                </a:lnTo>
                <a:lnTo>
                  <a:pt x="790400" y="932557"/>
                </a:lnTo>
              </a:path>
            </a:pathLst>
          </a:custGeom>
          <a:ln w="38100" cmpd="sng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653593" y="285280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Miss</a:t>
            </a:r>
          </a:p>
        </p:txBody>
      </p:sp>
      <p:sp>
        <p:nvSpPr>
          <p:cNvPr id="62" name="Freeform 61"/>
          <p:cNvSpPr/>
          <p:nvPr/>
        </p:nvSpPr>
        <p:spPr>
          <a:xfrm>
            <a:off x="1420945" y="2069390"/>
            <a:ext cx="3570123" cy="1003610"/>
          </a:xfrm>
          <a:custGeom>
            <a:avLst/>
            <a:gdLst>
              <a:gd name="connsiteX0" fmla="*/ 3570123 w 3570123"/>
              <a:gd name="connsiteY0" fmla="*/ 0 h 1003610"/>
              <a:gd name="connsiteX1" fmla="*/ 3561242 w 3570123"/>
              <a:gd name="connsiteY1" fmla="*/ 799335 h 1003610"/>
              <a:gd name="connsiteX2" fmla="*/ 1536396 w 3570123"/>
              <a:gd name="connsiteY2" fmla="*/ 799335 h 1003610"/>
              <a:gd name="connsiteX3" fmla="*/ 781519 w 3570123"/>
              <a:gd name="connsiteY3" fmla="*/ 985847 h 1003610"/>
              <a:gd name="connsiteX4" fmla="*/ 0 w 3570123"/>
              <a:gd name="connsiteY4" fmla="*/ 1003610 h 1003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0123" h="1003610">
                <a:moveTo>
                  <a:pt x="3570123" y="0"/>
                </a:moveTo>
                <a:cubicBezTo>
                  <a:pt x="3567163" y="266445"/>
                  <a:pt x="3564202" y="532890"/>
                  <a:pt x="3561242" y="799335"/>
                </a:cubicBezTo>
                <a:lnTo>
                  <a:pt x="1536396" y="799335"/>
                </a:lnTo>
                <a:lnTo>
                  <a:pt x="781519" y="985847"/>
                </a:lnTo>
                <a:lnTo>
                  <a:pt x="0" y="1003610"/>
                </a:lnTo>
              </a:path>
            </a:pathLst>
          </a:custGeom>
          <a:ln w="38100" cmpd="sng">
            <a:solidFill>
              <a:schemeClr val="accent2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Freeform 63"/>
          <p:cNvSpPr/>
          <p:nvPr/>
        </p:nvSpPr>
        <p:spPr>
          <a:xfrm>
            <a:off x="3161602" y="1385514"/>
            <a:ext cx="4600307" cy="754928"/>
          </a:xfrm>
          <a:custGeom>
            <a:avLst/>
            <a:gdLst>
              <a:gd name="connsiteX0" fmla="*/ 0 w 4600307"/>
              <a:gd name="connsiteY0" fmla="*/ 754928 h 754928"/>
              <a:gd name="connsiteX1" fmla="*/ 364117 w 4600307"/>
              <a:gd name="connsiteY1" fmla="*/ 8882 h 754928"/>
              <a:gd name="connsiteX2" fmla="*/ 3454671 w 4600307"/>
              <a:gd name="connsiteY2" fmla="*/ 0 h 754928"/>
              <a:gd name="connsiteX3" fmla="*/ 3818788 w 4600307"/>
              <a:gd name="connsiteY3" fmla="*/ 648350 h 754928"/>
              <a:gd name="connsiteX4" fmla="*/ 4600307 w 4600307"/>
              <a:gd name="connsiteY4" fmla="*/ 639469 h 754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0307" h="754928">
                <a:moveTo>
                  <a:pt x="0" y="754928"/>
                </a:moveTo>
                <a:lnTo>
                  <a:pt x="364117" y="8882"/>
                </a:lnTo>
                <a:lnTo>
                  <a:pt x="3454671" y="0"/>
                </a:lnTo>
                <a:lnTo>
                  <a:pt x="3818788" y="648350"/>
                </a:lnTo>
                <a:lnTo>
                  <a:pt x="4600307" y="639469"/>
                </a:lnTo>
              </a:path>
            </a:pathLst>
          </a:custGeom>
          <a:ln w="38100" cmpd="sng">
            <a:solidFill>
              <a:srgbClr val="00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65" name="Freeform 64"/>
          <p:cNvSpPr/>
          <p:nvPr/>
        </p:nvSpPr>
        <p:spPr>
          <a:xfrm>
            <a:off x="5550565" y="2069390"/>
            <a:ext cx="2246868" cy="994728"/>
          </a:xfrm>
          <a:custGeom>
            <a:avLst/>
            <a:gdLst>
              <a:gd name="connsiteX0" fmla="*/ 2246868 w 2246868"/>
              <a:gd name="connsiteY0" fmla="*/ 994728 h 994728"/>
              <a:gd name="connsiteX1" fmla="*/ 1438706 w 2246868"/>
              <a:gd name="connsiteY1" fmla="*/ 994728 h 994728"/>
              <a:gd name="connsiteX2" fmla="*/ 603901 w 2246868"/>
              <a:gd name="connsiteY2" fmla="*/ 106578 h 994728"/>
              <a:gd name="connsiteX3" fmla="*/ 0 w 2246868"/>
              <a:gd name="connsiteY3" fmla="*/ 0 h 994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46868" h="994728">
                <a:moveTo>
                  <a:pt x="2246868" y="994728"/>
                </a:moveTo>
                <a:lnTo>
                  <a:pt x="1438706" y="994728"/>
                </a:lnTo>
                <a:lnTo>
                  <a:pt x="603901" y="106578"/>
                </a:lnTo>
                <a:lnTo>
                  <a:pt x="0" y="0"/>
                </a:lnTo>
              </a:path>
            </a:pathLst>
          </a:custGeom>
          <a:ln w="38100" cmpd="sng">
            <a:solidFill>
              <a:srgbClr val="0000FF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FF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71047" y="1079852"/>
            <a:ext cx="277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Load – </a:t>
            </a:r>
            <a:r>
              <a:rPr lang="en-US" b="1" dirty="0">
                <a:solidFill>
                  <a:srgbClr val="0000FF"/>
                </a:solidFill>
              </a:rPr>
              <a:t>miss in cache</a:t>
            </a:r>
          </a:p>
        </p:txBody>
      </p:sp>
    </p:spTree>
    <p:extLst>
      <p:ext uri="{BB962C8B-B14F-4D97-AF65-F5344CB8AC3E}">
        <p14:creationId xmlns:p14="http://schemas.microsoft.com/office/powerpoint/2010/main" val="239767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animBg="1"/>
      <p:bldP spid="59" grpId="0" animBg="1"/>
      <p:bldP spid="60" grpId="0" animBg="1"/>
      <p:bldP spid="61" grpId="0"/>
      <p:bldP spid="62" grpId="0" animBg="1"/>
      <p:bldP spid="64" grpId="0" animBg="1"/>
      <p:bldP spid="6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034D-788B-D04C-A0D8-CDFF0B23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1: Diagram of the Caches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1F666-0487-FD44-9CE6-8217F195B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Draw a diagram of the following caches (note: answer for part A is provided. Follow the same structure for part B and C)</a:t>
            </a:r>
          </a:p>
          <a:p>
            <a:pPr>
              <a:buAutoNum type="alphaUcPeriod"/>
            </a:pPr>
            <a:endParaRPr lang="en-US" sz="1800" dirty="0"/>
          </a:p>
          <a:p>
            <a:pPr>
              <a:buAutoNum type="alphaUcPeriod"/>
            </a:pPr>
            <a:r>
              <a:rPr lang="en-US" sz="1800" dirty="0"/>
              <a:t>Direct-mapped, cache capacity = 64 cache line, cache line size = 8-byte, word size = 4-byte, write strategy:  write through</a:t>
            </a:r>
          </a:p>
          <a:p>
            <a:pPr>
              <a:buAutoNum type="alphaUcPeriod"/>
            </a:pPr>
            <a:endParaRPr lang="en-US" sz="1800" dirty="0"/>
          </a:p>
          <a:p>
            <a:pPr>
              <a:buAutoNum type="alphaUcPeriod"/>
            </a:pPr>
            <a:endParaRPr lang="en-US" sz="1800" dirty="0"/>
          </a:p>
          <a:p>
            <a:pPr>
              <a:buAutoNum type="alphaUcPeriod"/>
            </a:pPr>
            <a:endParaRPr lang="en-US" sz="1800" dirty="0"/>
          </a:p>
          <a:p>
            <a:pPr>
              <a:buAutoNum type="alphaUcPeriod"/>
            </a:pPr>
            <a:endParaRPr lang="en-US" sz="1800" dirty="0"/>
          </a:p>
          <a:p>
            <a:pPr>
              <a:buFont typeface="Arial"/>
              <a:buAutoNum type="alphaUcPeriod"/>
            </a:pPr>
            <a:r>
              <a:rPr lang="en-US" sz="1800" dirty="0"/>
              <a:t>Fully-associative, cache capacity = 256 cache line, cache line size = 16-byte, word size = 4-byte, write strategy:  write back</a:t>
            </a:r>
          </a:p>
          <a:p>
            <a:pPr>
              <a:buFont typeface="Arial"/>
              <a:buAutoNum type="alphaUcPeriod"/>
            </a:pPr>
            <a:endParaRPr lang="en-US" sz="1800" dirty="0"/>
          </a:p>
          <a:p>
            <a:pPr>
              <a:buFont typeface="Arial"/>
              <a:buAutoNum type="alphaUcPeriod"/>
            </a:pPr>
            <a:r>
              <a:rPr lang="en-US" sz="1800" dirty="0"/>
              <a:t>4-way set-associative, cache capacity = 4096 cache line, cache line size = 64-byte, word size = 4-byte, write strategy:  write back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93278F-6630-3F4A-8951-C3714C4981D7}"/>
              </a:ext>
            </a:extLst>
          </p:cNvPr>
          <p:cNvSpPr/>
          <p:nvPr/>
        </p:nvSpPr>
        <p:spPr>
          <a:xfrm>
            <a:off x="1581442" y="2352044"/>
            <a:ext cx="1028096" cy="266095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Tag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C56901-CA55-E04B-8DBF-FF79607BA3E4}"/>
              </a:ext>
            </a:extLst>
          </p:cNvPr>
          <p:cNvSpPr/>
          <p:nvPr/>
        </p:nvSpPr>
        <p:spPr>
          <a:xfrm>
            <a:off x="2609538" y="2352044"/>
            <a:ext cx="1028096" cy="266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2F1892-0761-4847-A4E9-F3957A4DCEFF}"/>
              </a:ext>
            </a:extLst>
          </p:cNvPr>
          <p:cNvSpPr/>
          <p:nvPr/>
        </p:nvSpPr>
        <p:spPr>
          <a:xfrm>
            <a:off x="4683871" y="2352044"/>
            <a:ext cx="229808" cy="2660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V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382089-BCA2-C646-B600-988FB92A7712}"/>
              </a:ext>
            </a:extLst>
          </p:cNvPr>
          <p:cNvSpPr/>
          <p:nvPr/>
        </p:nvSpPr>
        <p:spPr>
          <a:xfrm>
            <a:off x="3637634" y="2352044"/>
            <a:ext cx="1028096" cy="26609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/>
              <a:t>Data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0C59749-9FC4-394F-978D-B2F154DDDBAD}"/>
              </a:ext>
            </a:extLst>
          </p:cNvPr>
          <p:cNvGrpSpPr/>
          <p:nvPr/>
        </p:nvGrpSpPr>
        <p:grpSpPr>
          <a:xfrm>
            <a:off x="1581442" y="2618139"/>
            <a:ext cx="3332237" cy="266095"/>
            <a:chOff x="2305352" y="1349829"/>
            <a:chExt cx="3332237" cy="26609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987417D-21A0-D745-B865-4333C7D14CD0}"/>
                </a:ext>
              </a:extLst>
            </p:cNvPr>
            <p:cNvSpPr/>
            <p:nvPr/>
          </p:nvSpPr>
          <p:spPr>
            <a:xfrm>
              <a:off x="2305352" y="1349829"/>
              <a:ext cx="1028096" cy="26609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Tag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B54A9C-25C1-6141-9045-782F26BD9C7E}"/>
                </a:ext>
              </a:extLst>
            </p:cNvPr>
            <p:cNvSpPr/>
            <p:nvPr/>
          </p:nvSpPr>
          <p:spPr>
            <a:xfrm>
              <a:off x="3333448" y="1349829"/>
              <a:ext cx="1028096" cy="26609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Data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ADBB17-A1D5-5F43-97F1-C3043C76E0E0}"/>
                </a:ext>
              </a:extLst>
            </p:cNvPr>
            <p:cNvSpPr/>
            <p:nvPr/>
          </p:nvSpPr>
          <p:spPr>
            <a:xfrm>
              <a:off x="5407781" y="1349829"/>
              <a:ext cx="229808" cy="26609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V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CE846E-BDA5-0642-964F-CA26C0DE5DA3}"/>
                </a:ext>
              </a:extLst>
            </p:cNvPr>
            <p:cNvSpPr/>
            <p:nvPr/>
          </p:nvSpPr>
          <p:spPr>
            <a:xfrm>
              <a:off x="4361544" y="1349829"/>
              <a:ext cx="1028096" cy="26609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Data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C9C80B-20BD-B945-87A4-8EC78050DA49}"/>
              </a:ext>
            </a:extLst>
          </p:cNvPr>
          <p:cNvGrpSpPr/>
          <p:nvPr/>
        </p:nvGrpSpPr>
        <p:grpSpPr>
          <a:xfrm>
            <a:off x="1581442" y="3036634"/>
            <a:ext cx="3332237" cy="266095"/>
            <a:chOff x="2305352" y="1349829"/>
            <a:chExt cx="3332237" cy="26609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B5A10A7-8B22-BC49-9036-15CFDBDA2A36}"/>
                </a:ext>
              </a:extLst>
            </p:cNvPr>
            <p:cNvSpPr/>
            <p:nvPr/>
          </p:nvSpPr>
          <p:spPr>
            <a:xfrm>
              <a:off x="2305352" y="1349829"/>
              <a:ext cx="1028096" cy="266095"/>
            </a:xfrm>
            <a:prstGeom prst="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Tag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9E42F4-C94B-2A41-8307-BFFD950F2633}"/>
                </a:ext>
              </a:extLst>
            </p:cNvPr>
            <p:cNvSpPr/>
            <p:nvPr/>
          </p:nvSpPr>
          <p:spPr>
            <a:xfrm>
              <a:off x="3333448" y="1349829"/>
              <a:ext cx="1028096" cy="26609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Data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B2A80CB-7DAC-1E42-899D-83AA9B225E0F}"/>
                </a:ext>
              </a:extLst>
            </p:cNvPr>
            <p:cNvSpPr/>
            <p:nvPr/>
          </p:nvSpPr>
          <p:spPr>
            <a:xfrm>
              <a:off x="5407781" y="1349829"/>
              <a:ext cx="229808" cy="266095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V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3624274-5987-1C41-A5E2-1AFDB2A4E565}"/>
                </a:ext>
              </a:extLst>
            </p:cNvPr>
            <p:cNvSpPr/>
            <p:nvPr/>
          </p:nvSpPr>
          <p:spPr>
            <a:xfrm>
              <a:off x="4361544" y="1349829"/>
              <a:ext cx="1028096" cy="266095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 dirty="0"/>
                <a:t>Data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BB3C80-44AD-AF4D-92F8-1A5978B679B5}"/>
              </a:ext>
            </a:extLst>
          </p:cNvPr>
          <p:cNvGrpSpPr/>
          <p:nvPr/>
        </p:nvGrpSpPr>
        <p:grpSpPr>
          <a:xfrm>
            <a:off x="963123" y="2352044"/>
            <a:ext cx="474316" cy="1006108"/>
            <a:chOff x="1377052" y="1197429"/>
            <a:chExt cx="474316" cy="1006108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397FA3DA-AE19-4644-AD0A-B5EAF420BBA3}"/>
                </a:ext>
              </a:extLst>
            </p:cNvPr>
            <p:cNvCxnSpPr/>
            <p:nvPr/>
          </p:nvCxnSpPr>
          <p:spPr>
            <a:xfrm>
              <a:off x="1851368" y="1197429"/>
              <a:ext cx="0" cy="100610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D97B56-4FB6-AA40-B1EC-886DDC8572D9}"/>
                </a:ext>
              </a:extLst>
            </p:cNvPr>
            <p:cNvSpPr txBox="1"/>
            <p:nvPr/>
          </p:nvSpPr>
          <p:spPr>
            <a:xfrm>
              <a:off x="1377052" y="1514179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100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E39B-020D-7F47-BA9E-3A36F978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D1A3-D151-FA42-8568-E2FD0910FCC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350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2: How are the bits used for addressing?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Determine which bits in a 32-bit address are used for selecting the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</a:rPr>
              <a:t>byte (B)</a:t>
            </a:r>
            <a:r>
              <a:rPr lang="en-US" sz="1800" dirty="0"/>
              <a:t>, selecting the 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</a:rPr>
              <a:t>word (W)</a:t>
            </a:r>
            <a:r>
              <a:rPr lang="en-US" sz="1800" dirty="0"/>
              <a:t>, indexing the 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cache (I)</a:t>
            </a:r>
            <a:r>
              <a:rPr lang="en-US" sz="1800" dirty="0"/>
              <a:t>, and the cache </a:t>
            </a:r>
            <a:r>
              <a:rPr lang="en-US" sz="1800" b="1" dirty="0">
                <a:solidFill>
                  <a:schemeClr val="accent5">
                    <a:lumMod val="75000"/>
                  </a:schemeClr>
                </a:solidFill>
              </a:rPr>
              <a:t>tag (T)</a:t>
            </a:r>
            <a:r>
              <a:rPr lang="en-US" sz="1800" dirty="0"/>
              <a:t>, for each of the following caches:</a:t>
            </a:r>
          </a:p>
          <a:p>
            <a:endParaRPr lang="en-US" sz="1800" dirty="0"/>
          </a:p>
          <a:p>
            <a:pPr>
              <a:buAutoNum type="alphaUcPeriod"/>
            </a:pPr>
            <a:r>
              <a:rPr lang="en-US" sz="1800" b="1" dirty="0"/>
              <a:t>Direct-mapped, cache capacity = 64 cache line, cache line size = 8-byte, word size = 4-byte</a:t>
            </a:r>
          </a:p>
          <a:p>
            <a:pPr>
              <a:buFont typeface="Arial"/>
              <a:buAutoNum type="alphaUcPeriod"/>
            </a:pPr>
            <a:r>
              <a:rPr lang="en-US" sz="1800" b="1" dirty="0"/>
              <a:t>Fully-associative, cache capacity = 256 cache line, cache line size = 16-byte, word size = 4-byte</a:t>
            </a:r>
          </a:p>
          <a:p>
            <a:pPr>
              <a:buFont typeface="Arial"/>
              <a:buAutoNum type="alphaUcPeriod"/>
            </a:pPr>
            <a:r>
              <a:rPr lang="en-US" sz="1800" b="1" dirty="0"/>
              <a:t>4-way set-associative, cache capacity = 4096 cache line, cache line size = 64-byte, word size = 4-byte</a:t>
            </a:r>
          </a:p>
          <a:p>
            <a:pPr>
              <a:buFont typeface="Arial"/>
              <a:buAutoNum type="alphaUcPeriod"/>
            </a:pPr>
            <a:endParaRPr lang="en-US" sz="1800" b="1" dirty="0"/>
          </a:p>
          <a:p>
            <a:pPr marL="0" indent="0">
              <a:buNone/>
            </a:pPr>
            <a:r>
              <a:rPr lang="en-US" sz="1600" dirty="0"/>
              <a:t>Note: cache capacity represents the maximum number of cache blocks (or cache lines) that can fit in the cache</a:t>
            </a:r>
            <a:endParaRPr lang="en-US" sz="1800" b="1" dirty="0"/>
          </a:p>
          <a:p>
            <a:pPr>
              <a:buAutoNum type="alphaUcPeriod"/>
            </a:pPr>
            <a:endParaRPr lang="en-US" sz="1800" b="1" dirty="0"/>
          </a:p>
          <a:p>
            <a:pPr lvl="1"/>
            <a:endParaRPr lang="en-US" sz="1600" dirty="0"/>
          </a:p>
          <a:p>
            <a:pPr lvl="1"/>
            <a:endParaRPr lang="en-US" sz="1600" b="1" dirty="0">
              <a:solidFill>
                <a:schemeClr val="accent6">
                  <a:lumMod val="75000"/>
                </a:schemeClr>
              </a:solidFill>
              <a:latin typeface="Consolas"/>
              <a:cs typeface="Consolas"/>
            </a:endParaRPr>
          </a:p>
          <a:p>
            <a:pPr lvl="1"/>
            <a:endParaRPr lang="en-US" sz="1600" b="1" dirty="0">
              <a:solidFill>
                <a:schemeClr val="accent6">
                  <a:lumMod val="75000"/>
                </a:schemeClr>
              </a:solidFill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91981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E39B-020D-7F47-BA9E-3A36F978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D1A3-D151-FA42-8568-E2FD0910FCC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180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3: How much overhead for the caches?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Calculate the number of bits used for actual data and overhead (i.e., tag, valid bit, dirty bit) for each of the following caches</a:t>
            </a:r>
          </a:p>
          <a:p>
            <a:pPr>
              <a:buAutoNum type="alphaUcPeriod"/>
            </a:pPr>
            <a:r>
              <a:rPr lang="en-US" sz="1800" b="1" dirty="0"/>
              <a:t>Direct-mapped, cache capacity = 64 cache line, cache line size = 8-byte, word size = 4-byte, </a:t>
            </a:r>
            <a:r>
              <a:rPr lang="en-US" sz="1800" b="1" dirty="0">
                <a:solidFill>
                  <a:srgbClr val="C00000"/>
                </a:solidFill>
              </a:rPr>
              <a:t>write strategy:  write through</a:t>
            </a:r>
          </a:p>
          <a:p>
            <a:pPr>
              <a:buFont typeface="Arial"/>
              <a:buAutoNum type="alphaUcPeriod"/>
            </a:pPr>
            <a:r>
              <a:rPr lang="en-US" sz="1800" b="1" dirty="0"/>
              <a:t>Fully-associative, cache capacity = 256 cache line, cache line size = 16-byte, word size = 4-byte, </a:t>
            </a:r>
            <a:r>
              <a:rPr lang="en-US" sz="1800" b="1" dirty="0">
                <a:solidFill>
                  <a:srgbClr val="C00000"/>
                </a:solidFill>
              </a:rPr>
              <a:t>write strategy:  write back</a:t>
            </a:r>
            <a:endParaRPr lang="en-US" sz="1800" b="1" dirty="0"/>
          </a:p>
          <a:p>
            <a:pPr>
              <a:buFont typeface="Arial"/>
              <a:buAutoNum type="alphaUcPeriod"/>
            </a:pPr>
            <a:r>
              <a:rPr lang="en-US" sz="1800" b="1" dirty="0"/>
              <a:t>4-way set-associative, cache capacity = 4096 cache line, cache line size = 64-byte, word size = 4-byte, </a:t>
            </a:r>
            <a:r>
              <a:rPr lang="en-US" sz="1800" b="1" dirty="0">
                <a:solidFill>
                  <a:srgbClr val="C00000"/>
                </a:solidFill>
              </a:rPr>
              <a:t>write strategy:  write back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D. How the cache line size affect the overhead? </a:t>
            </a:r>
          </a:p>
          <a:p>
            <a:pPr lvl="1"/>
            <a:endParaRPr lang="en-US" sz="1600" b="1" dirty="0">
              <a:solidFill>
                <a:schemeClr val="accent5">
                  <a:lumMod val="75000"/>
                </a:schemeClr>
              </a:solidFill>
              <a:latin typeface="Consolas"/>
              <a:cs typeface="Consolas"/>
            </a:endParaRPr>
          </a:p>
          <a:p>
            <a:pPr lvl="1"/>
            <a:endParaRPr lang="en-US" sz="1600" b="1" dirty="0">
              <a:solidFill>
                <a:schemeClr val="accent5">
                  <a:lumMod val="75000"/>
                </a:schemeClr>
              </a:solidFill>
              <a:latin typeface="Consolas"/>
              <a:cs typeface="Consolas"/>
            </a:endParaRPr>
          </a:p>
          <a:p>
            <a:pPr lvl="1"/>
            <a:endParaRPr lang="en-US" sz="1600" b="1" dirty="0">
              <a:solidFill>
                <a:schemeClr val="accent5">
                  <a:lumMod val="75000"/>
                </a:schemeClr>
              </a:solidFill>
              <a:latin typeface="Consolas"/>
              <a:cs typeface="Consolas"/>
            </a:endParaRPr>
          </a:p>
          <a:p>
            <a:pPr lvl="1"/>
            <a:endParaRPr lang="en-US" sz="1600" b="1" dirty="0">
              <a:solidFill>
                <a:schemeClr val="accent5">
                  <a:lumMod val="75000"/>
                </a:schemeClr>
              </a:solidFill>
              <a:latin typeface="Consolas"/>
              <a:cs typeface="Consolas"/>
            </a:endParaRPr>
          </a:p>
          <a:p>
            <a:pPr lvl="1"/>
            <a:endParaRPr lang="en-US" sz="1600" b="1" dirty="0">
              <a:solidFill>
                <a:schemeClr val="accent5">
                  <a:lumMod val="75000"/>
                </a:schemeClr>
              </a:solidFill>
              <a:latin typeface="Consolas"/>
              <a:cs typeface="Consolas"/>
            </a:endParaRP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14423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E39B-020D-7F47-BA9E-3A36F978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D1A3-D151-FA42-8568-E2FD0910FCC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862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4: Average Memory Access Time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5" y="771550"/>
            <a:ext cx="6211909" cy="4248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Consider the processor (on right) with two-level cache hierarchy. Suppose that </a:t>
            </a:r>
            <a:r>
              <a:rPr lang="en-US" sz="1800" b="1" dirty="0">
                <a:solidFill>
                  <a:srgbClr val="C0504D"/>
                </a:solidFill>
              </a:rPr>
              <a:t>65%</a:t>
            </a:r>
            <a:r>
              <a:rPr lang="en-US" sz="1800" dirty="0">
                <a:solidFill>
                  <a:srgbClr val="C0504D"/>
                </a:solidFill>
              </a:rPr>
              <a:t> </a:t>
            </a:r>
            <a:r>
              <a:rPr lang="en-US" sz="1800" dirty="0"/>
              <a:t>of </a:t>
            </a:r>
            <a:r>
              <a:rPr lang="en-US" sz="1800" i="1" dirty="0"/>
              <a:t>benchmark A</a:t>
            </a:r>
            <a:r>
              <a:rPr lang="en-US" sz="1800" dirty="0"/>
              <a:t>’s instructions are accessed from the </a:t>
            </a:r>
            <a:r>
              <a:rPr lang="en-US" sz="1800" b="1" dirty="0">
                <a:solidFill>
                  <a:srgbClr val="C0504D"/>
                </a:solidFill>
              </a:rPr>
              <a:t>L1 cache</a:t>
            </a:r>
            <a:r>
              <a:rPr lang="en-US" sz="1800" dirty="0"/>
              <a:t>, whereas the rest come from the </a:t>
            </a:r>
            <a:r>
              <a:rPr lang="en-US" sz="1800" b="1" dirty="0">
                <a:solidFill>
                  <a:schemeClr val="accent3">
                    <a:lumMod val="75000"/>
                  </a:schemeClr>
                </a:solidFill>
              </a:rPr>
              <a:t>L2 cache.</a:t>
            </a:r>
          </a:p>
          <a:p>
            <a:pPr>
              <a:buFont typeface="+mj-lt"/>
              <a:buAutoNum type="alphaUcPeriod"/>
            </a:pPr>
            <a:r>
              <a:rPr lang="en-US" sz="1800" dirty="0"/>
              <a:t>What is the average access time for memory instructions in the benchmark </a:t>
            </a:r>
          </a:p>
          <a:p>
            <a:pPr>
              <a:buFont typeface="+mj-lt"/>
              <a:buAutoNum type="alphaUcPeriod"/>
            </a:pPr>
            <a:r>
              <a:rPr lang="en-US" sz="1800" dirty="0"/>
              <a:t>If we change the L1 cache to be 4-way set associative we increase its flexibility and find that 85% of the instructions are now accessed from the L1. What is the average access time for memory instructions in the benchmark now?</a:t>
            </a:r>
            <a:r>
              <a:rPr lang="en-US" sz="1600" dirty="0">
                <a:solidFill>
                  <a:srgbClr val="C0504D"/>
                </a:solidFill>
              </a:rPr>
              <a:t> </a:t>
            </a:r>
          </a:p>
          <a:p>
            <a:pPr>
              <a:buFont typeface="+mj-lt"/>
              <a:buAutoNum type="alphaUcPeriod"/>
            </a:pPr>
            <a:r>
              <a:rPr lang="en-US" sz="1800" dirty="0"/>
              <a:t>What is the speedup for changing the L1?</a:t>
            </a:r>
          </a:p>
          <a:p>
            <a:pPr marL="457200" lvl="1" indent="0">
              <a:buNone/>
            </a:pPr>
            <a:r>
              <a:rPr lang="en-US" sz="1600" dirty="0"/>
              <a:t> </a:t>
            </a:r>
            <a:endParaRPr lang="en-US" sz="1800" dirty="0"/>
          </a:p>
        </p:txBody>
      </p:sp>
      <p:sp>
        <p:nvSpPr>
          <p:cNvPr id="18" name="Oval 17"/>
          <p:cNvSpPr/>
          <p:nvPr/>
        </p:nvSpPr>
        <p:spPr>
          <a:xfrm>
            <a:off x="7103178" y="3659161"/>
            <a:ext cx="551562" cy="52126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40719" y="3084579"/>
            <a:ext cx="473705" cy="3427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L1</a:t>
            </a:r>
          </a:p>
        </p:txBody>
      </p:sp>
      <p:cxnSp>
        <p:nvCxnSpPr>
          <p:cNvPr id="20" name="Straight Connector 19"/>
          <p:cNvCxnSpPr>
            <a:stCxn id="18" idx="0"/>
            <a:endCxn id="19" idx="2"/>
          </p:cNvCxnSpPr>
          <p:nvPr/>
        </p:nvCxnSpPr>
        <p:spPr>
          <a:xfrm flipH="1" flipV="1">
            <a:off x="7377572" y="3427310"/>
            <a:ext cx="1387" cy="231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7380175" y="2620880"/>
            <a:ext cx="0" cy="464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966335" y="2155979"/>
            <a:ext cx="807522" cy="464901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/>
              <a:t>L2</a:t>
            </a:r>
          </a:p>
        </p:txBody>
      </p:sp>
      <p:cxnSp>
        <p:nvCxnSpPr>
          <p:cNvPr id="27" name="Straight Connector 26"/>
          <p:cNvCxnSpPr>
            <a:endCxn id="28" idx="2"/>
          </p:cNvCxnSpPr>
          <p:nvPr/>
        </p:nvCxnSpPr>
        <p:spPr>
          <a:xfrm flipH="1" flipV="1">
            <a:off x="7366882" y="1539858"/>
            <a:ext cx="3215" cy="616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419474" y="1128994"/>
            <a:ext cx="1894816" cy="41086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/>
              <a:t>DRAM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2296" y="2974028"/>
            <a:ext cx="1300166" cy="555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Direct Mapped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Size: 64 </a:t>
            </a:r>
            <a:r>
              <a:rPr lang="en-US" sz="1000" dirty="0" err="1">
                <a:solidFill>
                  <a:schemeClr val="tx1"/>
                </a:solidFill>
              </a:rPr>
              <a:t>kB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Latency: 1 cycle</a:t>
            </a:r>
          </a:p>
        </p:txBody>
      </p:sp>
      <p:sp>
        <p:nvSpPr>
          <p:cNvPr id="30" name="Right Brace 29"/>
          <p:cNvSpPr/>
          <p:nvPr/>
        </p:nvSpPr>
        <p:spPr>
          <a:xfrm flipH="1">
            <a:off x="7661518" y="3026073"/>
            <a:ext cx="132828" cy="4636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899887" y="2127164"/>
            <a:ext cx="1300166" cy="5556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8-way assoc.</a:t>
            </a: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Size: 256 </a:t>
            </a:r>
            <a:r>
              <a:rPr lang="en-US" sz="1000" dirty="0" err="1">
                <a:solidFill>
                  <a:schemeClr val="tx1"/>
                </a:solidFill>
              </a:rPr>
              <a:t>kB</a:t>
            </a:r>
            <a:endParaRPr lang="en-US" sz="1000" dirty="0">
              <a:solidFill>
                <a:schemeClr val="tx1"/>
              </a:solidFill>
            </a:endParaRPr>
          </a:p>
          <a:p>
            <a:pPr marL="171450" indent="-171450">
              <a:buFont typeface="Arial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Latency: 5 cycles</a:t>
            </a:r>
          </a:p>
        </p:txBody>
      </p:sp>
      <p:sp>
        <p:nvSpPr>
          <p:cNvPr id="32" name="Right Brace 31"/>
          <p:cNvSpPr/>
          <p:nvPr/>
        </p:nvSpPr>
        <p:spPr>
          <a:xfrm flipH="1">
            <a:off x="7824328" y="2179209"/>
            <a:ext cx="132828" cy="4636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402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1E39B-020D-7F47-BA9E-3A36F9788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Answer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D1A3-D151-FA42-8568-E2FD0910FCCD}"/>
              </a:ext>
            </a:extLst>
          </p:cNvPr>
          <p:cNvSpPr>
            <a:spLocks noGrp="1"/>
          </p:cNvSpPr>
          <p:nvPr>
            <p:ph idx="1"/>
          </p:nvPr>
        </p:nvSpPr>
        <p:spPr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75311"/>
      </p:ext>
    </p:extLst>
  </p:cSld>
  <p:clrMapOvr>
    <a:masterClrMapping/>
  </p:clrMapOvr>
</p:sld>
</file>

<file path=ppt/theme/theme1.xml><?xml version="1.0" encoding="utf-8"?>
<a:theme xmlns:a="http://schemas.openxmlformats.org/drawingml/2006/main" name="Widescreen Vide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10-io.pptx</Template>
  <TotalTime>5547</TotalTime>
  <Words>731</Words>
  <Application>Microsoft Macintosh PowerPoint</Application>
  <PresentationFormat>On-screen Show (16:9)</PresentationFormat>
  <Paragraphs>151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Wingdings</vt:lpstr>
      <vt:lpstr>Widescreen Video</vt:lpstr>
      <vt:lpstr>PowerPoint Presentation</vt:lpstr>
      <vt:lpstr>Grading (total 4 points)</vt:lpstr>
      <vt:lpstr>Review: What goes into and out from a cache? </vt:lpstr>
      <vt:lpstr>What goes into and out from a cache?</vt:lpstr>
      <vt:lpstr>What goes into and out from a cache?</vt:lpstr>
      <vt:lpstr>What goes into and out from a cache?</vt:lpstr>
      <vt:lpstr>Question 1: Diagram of the Caches </vt:lpstr>
      <vt:lpstr>Answer</vt:lpstr>
      <vt:lpstr>Question 2: How are the bits used for addressing? </vt:lpstr>
      <vt:lpstr>Answer</vt:lpstr>
      <vt:lpstr>Question 3: How much overhead for the caches?</vt:lpstr>
      <vt:lpstr>Answer</vt:lpstr>
      <vt:lpstr>Question 4: Average Memory Access Time  </vt:lpstr>
      <vt:lpstr>Answer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Input/Output Practice Problems</dc:title>
  <dc:creator>David Black-Schaffer</dc:creator>
  <cp:lastModifiedBy>Elaheh Sadredini</cp:lastModifiedBy>
  <cp:revision>161</cp:revision>
  <cp:lastPrinted>2020-11-03T07:42:49Z</cp:lastPrinted>
  <dcterms:created xsi:type="dcterms:W3CDTF">2012-11-14T14:36:43Z</dcterms:created>
  <dcterms:modified xsi:type="dcterms:W3CDTF">2023-05-26T17:55:15Z</dcterms:modified>
</cp:coreProperties>
</file>