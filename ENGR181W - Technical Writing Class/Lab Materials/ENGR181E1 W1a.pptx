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07068e77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e07068e77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07068e77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e07068e77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hand holding a pen&#10;&#10;Description automatically generated" id="102" name="Google Shape;102;p15"/>
          <p:cNvPicPr preferRelativeResize="0"/>
          <p:nvPr/>
        </p:nvPicPr>
        <p:blipFill rotWithShape="1">
          <a:blip r:embed="rId3">
            <a:alphaModFix amt="50000"/>
          </a:blip>
          <a:srcRect b="28963" l="0" r="0" t="14787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>
            <p:ph type="ctrTitle"/>
          </p:nvPr>
        </p:nvSpPr>
        <p:spPr>
          <a:xfrm>
            <a:off x="1524000" y="1122362"/>
            <a:ext cx="9144000" cy="29005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lang="en-US">
                <a:solidFill>
                  <a:srgbClr val="FFFFFF"/>
                </a:solidFill>
              </a:rPr>
              <a:t>ENGR181W: Essay 1</a:t>
            </a:r>
            <a:endParaRPr/>
          </a:p>
        </p:txBody>
      </p:sp>
      <p:sp>
        <p:nvSpPr>
          <p:cNvPr id="104" name="Google Shape;104;p15"/>
          <p:cNvSpPr txBox="1"/>
          <p:nvPr>
            <p:ph idx="1" type="subTitle"/>
          </p:nvPr>
        </p:nvSpPr>
        <p:spPr>
          <a:xfrm>
            <a:off x="1524000" y="4159404"/>
            <a:ext cx="9144000" cy="1098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None/>
            </a:pPr>
            <a:r>
              <a:rPr lang="en-US" sz="1700">
                <a:solidFill>
                  <a:srgbClr val="FFFFFF"/>
                </a:solidFill>
              </a:rPr>
              <a:t>ENGR181W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700"/>
              <a:buNone/>
            </a:pPr>
            <a:r>
              <a:rPr lang="en-US" sz="1700">
                <a:solidFill>
                  <a:srgbClr val="FFFFFF"/>
                </a:solidFill>
              </a:rPr>
              <a:t>Spring 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700"/>
              <a:buNone/>
            </a:pPr>
            <a:r>
              <a:rPr lang="en-US" sz="1700">
                <a:solidFill>
                  <a:srgbClr val="FFFFFF"/>
                </a:solidFill>
              </a:rPr>
              <a:t>The University Writing Program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>
            <p:ph type="title"/>
          </p:nvPr>
        </p:nvSpPr>
        <p:spPr>
          <a:xfrm>
            <a:off x="1028700" y="1967266"/>
            <a:ext cx="2628900" cy="2547257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lang="en-US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The prompt</a:t>
            </a:r>
            <a:endParaRPr/>
          </a:p>
        </p:txBody>
      </p:sp>
      <p:pic>
        <p:nvPicPr>
          <p:cNvPr descr="A screenshot of a computer screen&#10;&#10;Description automatically generated" id="111" name="Google Shape;111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6525" y="741061"/>
            <a:ext cx="7981271" cy="5427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3049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erson reading a book in a library&#10;&#10;Description automatically generated" id="118" name="Google Shape;118;p17"/>
          <p:cNvPicPr preferRelativeResize="0"/>
          <p:nvPr/>
        </p:nvPicPr>
        <p:blipFill rotWithShape="1">
          <a:blip r:embed="rId3">
            <a:alphaModFix amt="35000"/>
          </a:blip>
          <a:srcRect b="12495" l="0" r="0" t="16582"/>
          <a:stretch/>
        </p:blipFill>
        <p:spPr>
          <a:xfrm>
            <a:off x="2522356" y="10"/>
            <a:ext cx="966964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>
            <p:ph type="title"/>
          </p:nvPr>
        </p:nvSpPr>
        <p:spPr>
          <a:xfrm>
            <a:off x="838200" y="130602"/>
            <a:ext cx="3822189" cy="189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Organizing the paper</a:t>
            </a:r>
            <a:endParaRPr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838200" y="1829766"/>
            <a:ext cx="3822189" cy="4447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Abstract, key words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I. Introduction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II. Ethical implications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US" sz="1800"/>
              <a:t>Implication #1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US" sz="1800"/>
              <a:t>Implication #2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III. Addressing ethical implications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US" sz="1800"/>
              <a:t>Implication #1</a:t>
            </a:r>
            <a:endParaRPr/>
          </a:p>
          <a:p>
            <a:pPr indent="-514350" lvl="1" marL="9715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US" sz="1800"/>
              <a:t>Implication #2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IV. Professional and ethical responsibility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V. Potential impact of the project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VI. Conclusion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References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17"/>
          <p:cNvSpPr txBox="1"/>
          <p:nvPr/>
        </p:nvSpPr>
        <p:spPr>
          <a:xfrm>
            <a:off x="6026475" y="4299074"/>
            <a:ext cx="4529700" cy="2308800"/>
          </a:xfrm>
          <a:prstGeom prst="rect">
            <a:avLst/>
          </a:prstGeom>
          <a:solidFill>
            <a:srgbClr val="FF0000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not a literal template. You don’t need to follow this model </a:t>
            </a:r>
            <a:r>
              <a:rPr b="0" i="1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exactly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Your paper may ultimately look different, </a:t>
            </a:r>
            <a:r>
              <a:rPr b="0" i="1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these are the required elements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3049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oup of people around a large map&#10;&#10;Description automatically generated" id="128" name="Google Shape;128;p18"/>
          <p:cNvPicPr preferRelativeResize="0"/>
          <p:nvPr/>
        </p:nvPicPr>
        <p:blipFill rotWithShape="1">
          <a:blip r:embed="rId3">
            <a:alphaModFix amt="35000"/>
          </a:blip>
          <a:srcRect b="19346" l="0" r="0" t="9730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/>
          <p:nvPr/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800300" y="279675"/>
            <a:ext cx="77076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000"/>
              <a:t>Implications can include the following areas (but not limited to):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911125" y="1822275"/>
            <a:ext cx="6094500" cy="3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Health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Education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Privacy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Public safety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Social attitude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Fairness of access/accessibility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Psychological/developmental effects on certain demographics (children, young adults, adults, retirees, etc.)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AI bias/automation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Data ownership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Surveillance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3049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oup of people around a large map&#10;&#10;Description automatically generated" id="137" name="Google Shape;137;p19"/>
          <p:cNvPicPr preferRelativeResize="0"/>
          <p:nvPr/>
        </p:nvPicPr>
        <p:blipFill rotWithShape="1">
          <a:blip r:embed="rId3">
            <a:alphaModFix amt="35000"/>
          </a:blip>
          <a:srcRect b="19348" l="0" r="0" t="9730"/>
          <a:stretch/>
        </p:blipFill>
        <p:spPr>
          <a:xfrm>
            <a:off x="2522356" y="10"/>
            <a:ext cx="966964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/>
          <p:nvPr/>
        </p:nvSpPr>
        <p:spPr>
          <a:xfrm>
            <a:off x="-1" y="0"/>
            <a:ext cx="73902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 txBox="1"/>
          <p:nvPr>
            <p:ph type="title"/>
          </p:nvPr>
        </p:nvSpPr>
        <p:spPr>
          <a:xfrm>
            <a:off x="1120425" y="2448375"/>
            <a:ext cx="97515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US" sz="4000"/>
              <a:t>Would you trust a fully self-driving car with no steering wheel? Why or why not?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3049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oup of people around a large map&#10;&#10;Description automatically generated" id="145" name="Google Shape;145;p20"/>
          <p:cNvPicPr preferRelativeResize="0"/>
          <p:nvPr/>
        </p:nvPicPr>
        <p:blipFill rotWithShape="1">
          <a:blip r:embed="rId3">
            <a:alphaModFix amt="35000"/>
          </a:blip>
          <a:srcRect b="19348" l="0" r="0" t="9730"/>
          <a:stretch/>
        </p:blipFill>
        <p:spPr>
          <a:xfrm>
            <a:off x="2522356" y="10"/>
            <a:ext cx="966964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>
            <a:off x="-1" y="0"/>
            <a:ext cx="7390200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25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800300" y="279675"/>
            <a:ext cx="7707600" cy="15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You need to ask yourself…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911125" y="1822275"/>
            <a:ext cx="6821100" cy="3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What ethical issues might arise from my design choices?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What could go wrong? And what are we going to do about it?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Ethics in engineering</a:t>
            </a:r>
            <a:r>
              <a:rPr lang="en-US" sz="2200">
                <a:solidFill>
                  <a:schemeClr val="dk1"/>
                </a:solidFill>
              </a:rPr>
              <a:t> means considering how the things you design can help or harm people, and what responsibility you have for those outcomes.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Today, your job is to identify those risks for your project and start thinking about how you’d address them.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