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10s] Welcome — we're presenting the Battery Management System we built for EE 175AB. It's a 10-cell lithium-ion pack with a programmable electronic load and a PyQt6 desktop dashboard. I'll cover the problem, Nick will walk through hardware, Christian will cover the E-Load and our validation, and I'll close with results and future work. Connor Stewart was our fourth team member but is not presenting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75s] The problem we set out to solve: commercial BMS units like the Orion BMS 2 start around $820 and lock all telemetry behind proprietary software — there's no way to stream per-cell voltage into a custom Python application. That matters because a 10-cell lithium pack at 42 volts stores 151 watt-hours; fault response has to be hardware-enforced, not firmware-timed. So we set six design objectives: cell voltage accuracy within ±20 mV, pack current within ±10 mA, a controllable E-Load sinking current at 36 V, USB CDC telemetry at 115200 baud, PWM fan control, and a total project budget under three thousand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45s] The system splits into three subsystems, each backed by a custom PCB. Connor and I built the Battery Unit — the 10-cell Molicel pack, BMS board, and breaker. Christian led the E-Load, and Connor built the Cell Emulator so we could bring everything up without live cells. Kaushik wrote the operator dashboard. Power flows from the pack out the SYSBUS terminals to the E-Load, and both STM32s talk to the host laptop over standard USB CDC at 115200 baud — no custom drivers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60s] The BMS board centers on the BQ76930 analog front-end, which monitors all ten cells and runs the protection thresholds in hardware. The STM32 talks to it over I²C and streams structured frames out USB CDC at 10 Hz. Originally we used back-to-back MOSFETs for the main breaker, but the surplus parts we got behaved in depletion mode instead of enhancement mode, so we swapped the breaker for an electromechanical relay sourced from the makerspace. That's a tradeoff — we lost directional charge/discharge control, but the relay is unconditionally reliable. The GND-ALWAYS-ON topology is important: even when the breaker opens, the MCU and USB stay alive, so we can still cool the pack and diagnose what 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60s] The E-Load is a closed-loop current sink. The STM32 sets a DAC code, the MCP4725 outputs a reference voltage, the AD8630 op-amp drives the gates of two paralleled MOSFETs, and the voltage across four paralleled 144-ohm shunts is fed back to close the loop. The first iteration was painful — when we applied the load, the XT60 arced and the TVS diode sacrificed itself. The 0.5-watt resistor bank we'd specified was wildly under-rated. Nick completely redesigned the load bank using 10-watt resistors and we lowered the target from 5 amps to 1 amp at 36 volts. After the redesign we got clean linear DAC-to-current behavior and the thermistor-driven fan keeps the MOSFETs in the safe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60s] The software splits into three layers. At the bottom, the STM32 firmware polls the BQ76930 over I²C, packages telemetry into CRC-bounded frames, and pushes them out USB CDC. In the middle, a PyQt6 backend reads the serial port, parses the frames into full snapshots, and exposes them to JavaScript via QWebChannel. At the top, Qt WebEngine hosts the actual UI as local HTML and JavaScript — three tabs for BMS, E-Load, and shared Three.js views. The reason this stack works is that everything runs on one machine with no network roundtrip. QWebChannel gives JavaScript direct access to live hardware data without a server, and using USB CDC means any standard serial terminal can read the same frames for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75s] We ran nine test cases against the full system. Most of them passed in two or three iterations because of the bring-up issues — Test 1 needed a SHIP-mode wakeup pulse and a USB ESD diode workaround before the BQ76930 would respond. Test 3, the breaker, took three iterations and ended in the MOSFET-to-relay swap. Test 6, the E-Load, is the redesign we just walked through. The standout result is Test 9: we powered an NVIDIA Jetson Orin Nano directly off the SYSBUS terminals and ran a 1.3-billion parameter AI inference workload through it with no faults triggered. That's the headline — the pack and the BMS are stable enough to power a real compute load, not just bench equipment. End to end, ±10 mV cell accuracy, $2,966 in total project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45s] To wrap up: we built a complete senior-design BMS with custom hardware, custom firmware, and a custom desktop dashboard, and we got all three layers to talk to each other reliably. Safety is hardware-enforced — the BQ76930 and the relay can isolate the pack without any firmware involvement. And we proved the system is solid enough to power a real compute workload: an NVIDIA Jetson Orin Nano running a 1.3 billion parameter AI model. Future work is straightforward: redesign the breaker as an integrated relay on the board, scale the E-Load past one amp, and add a hardware-in-the-loop replay mode to the dashboard. Thank you — we'd be glad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15s buffer] Thanks again to Dr. Chomko, Mehrnoosh Ayazi, and Manglai Zhou for support throughout the project, and to Connor Stewart, our fourth team member. Full references and design files are linked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5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A900"/>
          </a:solidFill>
          <a:ln w="12700">
            <a:solidFill>
              <a:srgbClr val="F2A900"/>
            </a:solidFill>
            <a:prstDash val="solid"/>
          </a:ln>
        </p:spPr>
      </p:sp>
      <p:sp>
        <p:nvSpPr>
          <p:cNvPr id="3" name="Text 1"/>
          <p:cNvSpPr/>
          <p:nvPr/>
        </p:nvSpPr>
        <p:spPr>
          <a:xfrm>
            <a:off x="914400" y="822960"/>
            <a:ext cx="10058400" cy="365760"/>
          </a:xfrm>
          <a:prstGeom prst="rect">
            <a:avLst/>
          </a:prstGeom>
          <a:noFill/>
          <a:ln/>
        </p:spPr>
        <p:txBody>
          <a:bodyPr wrap="square" lIns="0" tIns="0" rIns="0" bIns="0" rtlCol="0" anchor="ctr"/>
          <a:lstStyle/>
          <a:p>
            <a:pPr indent="0" marL="0">
              <a:buNone/>
            </a:pPr>
            <a:r>
              <a:rPr lang="en-US" sz="1400" b="1" spc="200" kern="0" dirty="0">
                <a:solidFill>
                  <a:srgbClr val="F2A900"/>
                </a:solidFill>
                <a:latin typeface="Calibri" pitchFamily="34" charset="0"/>
                <a:ea typeface="Calibri" pitchFamily="34" charset="-122"/>
                <a:cs typeface="Calibri" pitchFamily="34" charset="-120"/>
              </a:rPr>
              <a:t>EE 175AB  Senior Design   ·   ENGR 181W  Technical Communication</a:t>
            </a:r>
            <a:endParaRPr lang="en-US" sz="1400" dirty="0"/>
          </a:p>
        </p:txBody>
      </p:sp>
      <p:sp>
        <p:nvSpPr>
          <p:cNvPr id="4" name="Text 2"/>
          <p:cNvSpPr/>
          <p:nvPr/>
        </p:nvSpPr>
        <p:spPr>
          <a:xfrm>
            <a:off x="914400" y="137160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Battery Management System</a:t>
            </a:r>
            <a:endParaRPr lang="en-US" sz="6000" dirty="0"/>
          </a:p>
        </p:txBody>
      </p:sp>
      <p:sp>
        <p:nvSpPr>
          <p:cNvPr id="5" name="Text 3"/>
          <p:cNvSpPr/>
          <p:nvPr/>
        </p:nvSpPr>
        <p:spPr>
          <a:xfrm>
            <a:off x="914400" y="2743200"/>
            <a:ext cx="10515600" cy="1280160"/>
          </a:xfrm>
          <a:prstGeom prst="rect">
            <a:avLst/>
          </a:prstGeom>
          <a:noFill/>
          <a:ln/>
        </p:spPr>
        <p:txBody>
          <a:bodyPr wrap="square" lIns="0" tIns="0" rIns="0" bIns="0" rtlCol="0" anchor="ctr"/>
          <a:lstStyle/>
          <a:p>
            <a:pPr indent="0" marL="0">
              <a:buNone/>
            </a:pPr>
            <a:r>
              <a:rPr lang="en-US" sz="2400" dirty="0">
                <a:solidFill>
                  <a:srgbClr val="E8EEF7"/>
                </a:solidFill>
                <a:latin typeface="Calibri" pitchFamily="34" charset="0"/>
                <a:ea typeface="Calibri" pitchFamily="34" charset="-122"/>
                <a:cs typeface="Calibri" pitchFamily="34" charset="-120"/>
              </a:rPr>
              <a:t>A 10-cell lithium-ion pack with a custom programmable</a:t>
            </a:r>
            <a:endParaRPr lang="en-US" sz="2400" dirty="0"/>
          </a:p>
          <a:p>
            <a:pPr indent="0" marL="0">
              <a:buNone/>
            </a:pPr>
            <a:r>
              <a:rPr lang="en-US" sz="2400" dirty="0">
                <a:solidFill>
                  <a:srgbClr val="E8EEF7"/>
                </a:solidFill>
                <a:latin typeface="Calibri" pitchFamily="34" charset="0"/>
                <a:ea typeface="Calibri" pitchFamily="34" charset="-122"/>
                <a:cs typeface="Calibri" pitchFamily="34" charset="-120"/>
              </a:rPr>
              <a:t>electronic load and a PyQt6 desktop dashboard.</a:t>
            </a:r>
            <a:endParaRPr lang="en-US" sz="2400" dirty="0"/>
          </a:p>
        </p:txBody>
      </p:sp>
      <p:sp>
        <p:nvSpPr>
          <p:cNvPr id="6" name="Shape 4"/>
          <p:cNvSpPr/>
          <p:nvPr/>
        </p:nvSpPr>
        <p:spPr>
          <a:xfrm>
            <a:off x="914400" y="4572000"/>
            <a:ext cx="731520" cy="54864"/>
          </a:xfrm>
          <a:prstGeom prst="rect">
            <a:avLst/>
          </a:prstGeom>
          <a:solidFill>
            <a:srgbClr val="F2A900"/>
          </a:solidFill>
          <a:ln w="12700">
            <a:solidFill>
              <a:srgbClr val="F2A900"/>
            </a:solidFill>
            <a:prstDash val="solid"/>
          </a:ln>
        </p:spPr>
      </p:sp>
      <p:sp>
        <p:nvSpPr>
          <p:cNvPr id="7" name="Text 5"/>
          <p:cNvSpPr/>
          <p:nvPr/>
        </p:nvSpPr>
        <p:spPr>
          <a:xfrm>
            <a:off x="914400" y="4754880"/>
            <a:ext cx="100584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Kaushik Vada   ·   Nicholas Poon   ·   Christian Kim</a:t>
            </a:r>
            <a:endParaRPr lang="en-US" sz="2200" dirty="0"/>
          </a:p>
        </p:txBody>
      </p:sp>
      <p:sp>
        <p:nvSpPr>
          <p:cNvPr id="8" name="Text 6"/>
          <p:cNvSpPr/>
          <p:nvPr/>
        </p:nvSpPr>
        <p:spPr>
          <a:xfrm>
            <a:off x="914400" y="5257800"/>
            <a:ext cx="10515600" cy="365760"/>
          </a:xfrm>
          <a:prstGeom prst="rect">
            <a:avLst/>
          </a:prstGeom>
          <a:noFill/>
          <a:ln/>
        </p:spPr>
        <p:txBody>
          <a:bodyPr wrap="square" lIns="0" tIns="0" rIns="0" bIns="0" rtlCol="0" anchor="ctr"/>
          <a:lstStyle/>
          <a:p>
            <a:pPr indent="0" marL="0">
              <a:buNone/>
            </a:pPr>
            <a:r>
              <a:rPr lang="en-US" sz="1400" dirty="0">
                <a:solidFill>
                  <a:srgbClr val="E8EEF7"/>
                </a:solidFill>
                <a:latin typeface="Calibri" pitchFamily="34" charset="0"/>
                <a:ea typeface="Calibri" pitchFamily="34" charset="-122"/>
                <a:cs typeface="Calibri" pitchFamily="34" charset="-120"/>
              </a:rPr>
              <a:t>University of California, Riverside</a:t>
            </a:r>
            <a:pPr indent="0" marL="0">
              <a:buNone/>
            </a:pPr>
            <a:r>
              <a:rPr lang="en-US" sz="1400" dirty="0">
                <a:solidFill>
                  <a:srgbClr val="F2A900"/>
                </a:solidFill>
                <a:latin typeface="Calibri" pitchFamily="34" charset="0"/>
                <a:ea typeface="Calibri" pitchFamily="34" charset="-122"/>
                <a:cs typeface="Calibri" pitchFamily="34" charset="-120"/>
              </a:rPr>
              <a:t>   ·   </a:t>
            </a:r>
            <a:pPr indent="0" marL="0">
              <a:buNone/>
            </a:pPr>
            <a:r>
              <a:rPr lang="en-US" sz="1400" dirty="0">
                <a:solidFill>
                  <a:srgbClr val="E8EEF7"/>
                </a:solidFill>
                <a:latin typeface="Calibri" pitchFamily="34" charset="0"/>
                <a:ea typeface="Calibri" pitchFamily="34" charset="-122"/>
                <a:cs typeface="Calibri" pitchFamily="34" charset="-120"/>
              </a:rPr>
              <a:t>Department of Electrical Engineering</a:t>
            </a:r>
            <a:pPr indent="0" marL="0">
              <a:buNone/>
            </a:pPr>
            <a:r>
              <a:rPr lang="en-US" sz="1400" dirty="0">
                <a:solidFill>
                  <a:srgbClr val="F2A900"/>
                </a:solidFill>
                <a:latin typeface="Calibri" pitchFamily="34" charset="0"/>
                <a:ea typeface="Calibri" pitchFamily="34" charset="-122"/>
                <a:cs typeface="Calibri" pitchFamily="34" charset="-120"/>
              </a:rPr>
              <a:t>   ·   </a:t>
            </a:r>
            <a:pPr indent="0" marL="0">
              <a:buNone/>
            </a:pPr>
            <a:r>
              <a:rPr lang="en-US" sz="1400" dirty="0">
                <a:solidFill>
                  <a:srgbClr val="E8EEF7"/>
                </a:solidFill>
                <a:latin typeface="Calibri" pitchFamily="34" charset="0"/>
                <a:ea typeface="Calibri" pitchFamily="34" charset="-122"/>
                <a:cs typeface="Calibri" pitchFamily="34" charset="-120"/>
              </a:rPr>
              <a:t>June 1, 2026</a:t>
            </a:r>
            <a:endParaRPr lang="en-US" sz="1400" dirty="0"/>
          </a:p>
        </p:txBody>
      </p:sp>
      <p:sp>
        <p:nvSpPr>
          <p:cNvPr id="9" name="Text 7"/>
          <p:cNvSpPr/>
          <p:nvPr/>
        </p:nvSpPr>
        <p:spPr>
          <a:xfrm>
            <a:off x="914400" y="6263640"/>
            <a:ext cx="10515600" cy="320040"/>
          </a:xfrm>
          <a:prstGeom prst="rect">
            <a:avLst/>
          </a:prstGeom>
          <a:noFill/>
          <a:ln/>
        </p:spPr>
        <p:txBody>
          <a:bodyPr wrap="square" lIns="0" tIns="0" rIns="0" bIns="0" rtlCol="0" anchor="ctr"/>
          <a:lstStyle/>
          <a:p>
            <a:pPr indent="0" marL="0">
              <a:buNone/>
            </a:pPr>
            <a:r>
              <a:rPr lang="en-US" sz="1100" i="1" dirty="0">
                <a:solidFill>
                  <a:srgbClr val="FFD37A"/>
                </a:solidFill>
                <a:latin typeface="Calibri" pitchFamily="34" charset="0"/>
                <a:ea typeface="Calibri" pitchFamily="34" charset="-122"/>
                <a:cs typeface="Calibri" pitchFamily="34" charset="-120"/>
              </a:rPr>
              <a:t>Project team also includes Connor Stewart (architecture &amp; BMS schematic). Advised by Dr. Roman Chomko.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sp>
      <p:sp>
        <p:nvSpPr>
          <p:cNvPr id="3" name="Shape 1"/>
          <p:cNvSpPr/>
          <p:nvPr/>
        </p:nvSpPr>
        <p:spPr>
          <a:xfrm>
            <a:off x="548640" y="6446520"/>
            <a:ext cx="11064240" cy="0"/>
          </a:xfrm>
          <a:prstGeom prst="line">
            <a:avLst/>
          </a:prstGeom>
          <a:noFill/>
          <a:ln w="9525">
            <a:solidFill>
              <a:srgbClr val="DCE3EE"/>
            </a:solidFill>
            <a:prstDash val="solid"/>
          </a:ln>
        </p:spPr>
      </p:sp>
      <p:sp>
        <p:nvSpPr>
          <p:cNvPr id="4" name="Text 2"/>
          <p:cNvSpPr/>
          <p:nvPr/>
        </p:nvSpPr>
        <p:spPr>
          <a:xfrm>
            <a:off x="548640" y="6537960"/>
            <a:ext cx="5486400" cy="274320"/>
          </a:xfrm>
          <a:prstGeom prst="rect">
            <a:avLst/>
          </a:prstGeom>
          <a:noFill/>
          <a:ln/>
        </p:spPr>
        <p:txBody>
          <a:bodyPr wrap="square" lIns="0" tIns="0" rIns="0" bIns="0" rtlCol="0" anchor="ctr"/>
          <a:lstStyle/>
          <a:p>
            <a:pPr indent="0" marL="0">
              <a:buNone/>
            </a:pPr>
            <a:r>
              <a:rPr lang="en-US" sz="1000" b="1" dirty="0">
                <a:solidFill>
                  <a:srgbClr val="0F2D5F"/>
                </a:solidFill>
                <a:latin typeface="Calibri" pitchFamily="34" charset="0"/>
                <a:ea typeface="Calibri" pitchFamily="34" charset="-122"/>
                <a:cs typeface="Calibri" pitchFamily="34" charset="-120"/>
              </a:rPr>
              <a:t>Kaushik</a:t>
            </a:r>
            <a:pPr indent="0" marL="0">
              <a:buNone/>
            </a:pPr>
            <a:r>
              <a:rPr lang="en-US" sz="1000" dirty="0">
                <a:solidFill>
                  <a:srgbClr val="7E8DA6"/>
                </a:solidFill>
                <a:latin typeface="Calibri" pitchFamily="34" charset="0"/>
                <a:ea typeface="Calibri" pitchFamily="34" charset="-122"/>
                <a:cs typeface="Calibri" pitchFamily="34" charset="-120"/>
              </a:rPr>
              <a:t>  ·  </a:t>
            </a:r>
            <a:pPr indent="0" marL="0">
              <a:buNone/>
            </a:pPr>
            <a:r>
              <a:rPr lang="en-US" sz="1000" dirty="0">
                <a:solidFill>
                  <a:srgbClr val="445673"/>
                </a:solidFill>
                <a:latin typeface="Calibri" pitchFamily="34" charset="0"/>
                <a:ea typeface="Calibri" pitchFamily="34" charset="-122"/>
                <a:cs typeface="Calibri" pitchFamily="34" charset="-120"/>
              </a:rPr>
              <a:t>Problem &amp; objectives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algn="r" indent="0" marL="0">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pPr algn="r" indent="0" marL="0">
              <a:buNone/>
            </a:pPr>
            <a:r>
              <a:rPr lang="en-US" sz="1000" b="1" dirty="0">
                <a:solidFill>
                  <a:srgbClr val="0F2D5F"/>
                </a:solidFill>
                <a:latin typeface="Calibri" pitchFamily="34" charset="0"/>
                <a:ea typeface="Calibri" pitchFamily="34" charset="-122"/>
                <a:cs typeface="Calibri" pitchFamily="34" charset="-120"/>
              </a:rPr>
              <a:t>   2 / 9</a:t>
            </a:r>
            <a:endParaRPr lang="en-US" sz="1000" dirty="0"/>
          </a:p>
        </p:txBody>
      </p:sp>
      <p:sp>
        <p:nvSpPr>
          <p:cNvPr id="6" name="Text 4"/>
          <p:cNvSpPr/>
          <p:nvPr/>
        </p:nvSpPr>
        <p:spPr>
          <a:xfrm>
            <a:off x="548640" y="320040"/>
            <a:ext cx="11064240" cy="1097280"/>
          </a:xfrm>
          <a:prstGeom prst="rect">
            <a:avLst/>
          </a:prstGeom>
          <a:noFill/>
          <a:ln/>
        </p:spPr>
        <p:txBody>
          <a:bodyPr wrap="square" lIns="0" tIns="0" rIns="0" bIns="0" rtlCol="0" anchor="ctr"/>
          <a:lstStyle/>
          <a:p>
            <a:pPr indent="0" marL="0">
              <a:buNone/>
            </a:pPr>
            <a:r>
              <a:rPr lang="en-US" sz="2200" b="1" dirty="0">
                <a:solidFill>
                  <a:srgbClr val="0F2D5F"/>
                </a:solidFill>
                <a:latin typeface="Calibri" pitchFamily="34" charset="0"/>
                <a:ea typeface="Calibri" pitchFamily="34" charset="-122"/>
                <a:cs typeface="Calibri" pitchFamily="34" charset="-120"/>
              </a:rPr>
              <a:t>Off-the-shelf BMS units cost $800–$1,680 and lock telemetry behind</a:t>
            </a:r>
            <a:endParaRPr lang="en-US" sz="2200" dirty="0"/>
          </a:p>
          <a:p>
            <a:pPr indent="0" marL="0">
              <a:buNone/>
            </a:pPr>
            <a:r>
              <a:rPr lang="en-US" sz="2200" b="1" dirty="0">
                <a:solidFill>
                  <a:srgbClr val="0F2D5F"/>
                </a:solidFill>
                <a:latin typeface="Calibri" pitchFamily="34" charset="0"/>
                <a:ea typeface="Calibri" pitchFamily="34" charset="-122"/>
                <a:cs typeface="Calibri" pitchFamily="34" charset="-120"/>
              </a:rPr>
              <a:t>proprietary software — none expose per-cell data to a custom application.</a:t>
            </a:r>
            <a:endParaRPr lang="en-US" sz="2200" dirty="0"/>
          </a:p>
        </p:txBody>
      </p:sp>
      <p:sp>
        <p:nvSpPr>
          <p:cNvPr id="7" name="Shape 5"/>
          <p:cNvSpPr/>
          <p:nvPr/>
        </p:nvSpPr>
        <p:spPr>
          <a:xfrm>
            <a:off x="548640" y="1783080"/>
            <a:ext cx="91440" cy="1280160"/>
          </a:xfrm>
          <a:prstGeom prst="rect">
            <a:avLst/>
          </a:prstGeom>
          <a:solidFill>
            <a:srgbClr val="F2A900"/>
          </a:solidFill>
          <a:ln w="12700">
            <a:solidFill>
              <a:srgbClr val="F2A900"/>
            </a:solidFill>
            <a:prstDash val="solid"/>
          </a:ln>
        </p:spPr>
      </p:sp>
      <p:sp>
        <p:nvSpPr>
          <p:cNvPr id="8" name="Shape 6"/>
          <p:cNvSpPr/>
          <p:nvPr/>
        </p:nvSpPr>
        <p:spPr>
          <a:xfrm>
            <a:off x="640080" y="1783080"/>
            <a:ext cx="5669280" cy="1280160"/>
          </a:xfrm>
          <a:prstGeom prst="rect">
            <a:avLst/>
          </a:prstGeom>
          <a:solidFill>
            <a:srgbClr val="FFFFFF"/>
          </a:solidFill>
          <a:ln w="9525">
            <a:solidFill>
              <a:srgbClr val="DCE3EE"/>
            </a:solidFill>
            <a:prstDash val="solid"/>
          </a:ln>
        </p:spPr>
      </p:sp>
      <p:sp>
        <p:nvSpPr>
          <p:cNvPr id="9" name="Text 7"/>
          <p:cNvSpPr/>
          <p:nvPr/>
        </p:nvSpPr>
        <p:spPr>
          <a:xfrm>
            <a:off x="868680" y="1892808"/>
            <a:ext cx="5303520" cy="320040"/>
          </a:xfrm>
          <a:prstGeom prst="rect">
            <a:avLst/>
          </a:prstGeom>
          <a:noFill/>
          <a:ln/>
        </p:spPr>
        <p:txBody>
          <a:bodyPr wrap="square" lIns="0" tIns="0" rIns="0" bIns="0" rtlCol="0" anchor="ctr"/>
          <a:lstStyle/>
          <a:p>
            <a:pPr indent="0" marL="0">
              <a:buNone/>
            </a:pPr>
            <a:r>
              <a:rPr lang="en-US" sz="1400" b="1" spc="100" kern="0" dirty="0">
                <a:solidFill>
                  <a:srgbClr val="0F2D5F"/>
                </a:solidFill>
                <a:latin typeface="Calibri" pitchFamily="34" charset="0"/>
                <a:ea typeface="Calibri" pitchFamily="34" charset="-122"/>
                <a:cs typeface="Calibri" pitchFamily="34" charset="-120"/>
              </a:rPr>
              <a:t>Cost</a:t>
            </a:r>
            <a:endParaRPr lang="en-US" sz="1400" dirty="0"/>
          </a:p>
        </p:txBody>
      </p:sp>
      <p:sp>
        <p:nvSpPr>
          <p:cNvPr id="10" name="Text 8"/>
          <p:cNvSpPr/>
          <p:nvPr/>
        </p:nvSpPr>
        <p:spPr>
          <a:xfrm>
            <a:off x="868680" y="2240280"/>
            <a:ext cx="5303520" cy="731520"/>
          </a:xfrm>
          <a:prstGeom prst="rect">
            <a:avLst/>
          </a:prstGeom>
          <a:noFill/>
          <a:ln/>
        </p:spPr>
        <p:txBody>
          <a:bodyPr wrap="square" lIns="0" tIns="0" rIns="0" bIns="0" rtlCol="0" anchor="ctr"/>
          <a:lstStyle/>
          <a:p>
            <a:pPr indent="0" marL="0">
              <a:buNone/>
            </a:pPr>
            <a:r>
              <a:rPr lang="en-US" sz="1400" dirty="0">
                <a:solidFill>
                  <a:srgbClr val="0A1A33"/>
                </a:solidFill>
                <a:latin typeface="Calibri" pitchFamily="34" charset="0"/>
                <a:ea typeface="Calibri" pitchFamily="34" charset="-122"/>
                <a:cs typeface="Calibri" pitchFamily="34" charset="-120"/>
              </a:rPr>
              <a:t>Orion BMS 2 sits at $820–$1,680 and requires its proprietary configurator.</a:t>
            </a:r>
            <a:endParaRPr lang="en-US" sz="1400" dirty="0"/>
          </a:p>
        </p:txBody>
      </p:sp>
      <p:sp>
        <p:nvSpPr>
          <p:cNvPr id="11" name="Shape 9"/>
          <p:cNvSpPr/>
          <p:nvPr/>
        </p:nvSpPr>
        <p:spPr>
          <a:xfrm>
            <a:off x="548640" y="3154680"/>
            <a:ext cx="91440" cy="1280160"/>
          </a:xfrm>
          <a:prstGeom prst="rect">
            <a:avLst/>
          </a:prstGeom>
          <a:solidFill>
            <a:srgbClr val="F2A900"/>
          </a:solidFill>
          <a:ln w="12700">
            <a:solidFill>
              <a:srgbClr val="F2A900"/>
            </a:solidFill>
            <a:prstDash val="solid"/>
          </a:ln>
        </p:spPr>
      </p:sp>
      <p:sp>
        <p:nvSpPr>
          <p:cNvPr id="12" name="Shape 10"/>
          <p:cNvSpPr/>
          <p:nvPr/>
        </p:nvSpPr>
        <p:spPr>
          <a:xfrm>
            <a:off x="640080" y="3154680"/>
            <a:ext cx="5669280" cy="1280160"/>
          </a:xfrm>
          <a:prstGeom prst="rect">
            <a:avLst/>
          </a:prstGeom>
          <a:solidFill>
            <a:srgbClr val="FFFFFF"/>
          </a:solidFill>
          <a:ln w="9525">
            <a:solidFill>
              <a:srgbClr val="DCE3EE"/>
            </a:solidFill>
            <a:prstDash val="solid"/>
          </a:ln>
        </p:spPr>
      </p:sp>
      <p:sp>
        <p:nvSpPr>
          <p:cNvPr id="13" name="Text 11"/>
          <p:cNvSpPr/>
          <p:nvPr/>
        </p:nvSpPr>
        <p:spPr>
          <a:xfrm>
            <a:off x="868680" y="3264408"/>
            <a:ext cx="5303520" cy="320040"/>
          </a:xfrm>
          <a:prstGeom prst="rect">
            <a:avLst/>
          </a:prstGeom>
          <a:noFill/>
          <a:ln/>
        </p:spPr>
        <p:txBody>
          <a:bodyPr wrap="square" lIns="0" tIns="0" rIns="0" bIns="0" rtlCol="0" anchor="ctr"/>
          <a:lstStyle/>
          <a:p>
            <a:pPr indent="0" marL="0">
              <a:buNone/>
            </a:pPr>
            <a:r>
              <a:rPr lang="en-US" sz="1400" b="1" spc="100" kern="0" dirty="0">
                <a:solidFill>
                  <a:srgbClr val="0F2D5F"/>
                </a:solidFill>
                <a:latin typeface="Calibri" pitchFamily="34" charset="0"/>
                <a:ea typeface="Calibri" pitchFamily="34" charset="-122"/>
                <a:cs typeface="Calibri" pitchFamily="34" charset="-120"/>
              </a:rPr>
              <a:t>Visibility</a:t>
            </a:r>
            <a:endParaRPr lang="en-US" sz="1400" dirty="0"/>
          </a:p>
        </p:txBody>
      </p:sp>
      <p:sp>
        <p:nvSpPr>
          <p:cNvPr id="14" name="Text 12"/>
          <p:cNvSpPr/>
          <p:nvPr/>
        </p:nvSpPr>
        <p:spPr>
          <a:xfrm>
            <a:off x="868680" y="3611880"/>
            <a:ext cx="5303520" cy="731520"/>
          </a:xfrm>
          <a:prstGeom prst="rect">
            <a:avLst/>
          </a:prstGeom>
          <a:noFill/>
          <a:ln/>
        </p:spPr>
        <p:txBody>
          <a:bodyPr wrap="square" lIns="0" tIns="0" rIns="0" bIns="0" rtlCol="0" anchor="ctr"/>
          <a:lstStyle/>
          <a:p>
            <a:pPr indent="0" marL="0">
              <a:buNone/>
            </a:pPr>
            <a:r>
              <a:rPr lang="en-US" sz="1400" dirty="0">
                <a:solidFill>
                  <a:srgbClr val="0A1A33"/>
                </a:solidFill>
                <a:latin typeface="Calibri" pitchFamily="34" charset="0"/>
                <a:ea typeface="Calibri" pitchFamily="34" charset="-122"/>
                <a:cs typeface="Calibri" pitchFamily="34" charset="-120"/>
              </a:rPr>
              <a:t>Commercial units don't expose per-cell voltage over a standard USB serial port.</a:t>
            </a:r>
            <a:endParaRPr lang="en-US" sz="1400" dirty="0"/>
          </a:p>
        </p:txBody>
      </p:sp>
      <p:sp>
        <p:nvSpPr>
          <p:cNvPr id="15" name="Shape 13"/>
          <p:cNvSpPr/>
          <p:nvPr/>
        </p:nvSpPr>
        <p:spPr>
          <a:xfrm>
            <a:off x="548640" y="4526280"/>
            <a:ext cx="91440" cy="1280160"/>
          </a:xfrm>
          <a:prstGeom prst="rect">
            <a:avLst/>
          </a:prstGeom>
          <a:solidFill>
            <a:srgbClr val="F2A900"/>
          </a:solidFill>
          <a:ln w="12700">
            <a:solidFill>
              <a:srgbClr val="F2A900"/>
            </a:solidFill>
            <a:prstDash val="solid"/>
          </a:ln>
        </p:spPr>
      </p:sp>
      <p:sp>
        <p:nvSpPr>
          <p:cNvPr id="16" name="Shape 14"/>
          <p:cNvSpPr/>
          <p:nvPr/>
        </p:nvSpPr>
        <p:spPr>
          <a:xfrm>
            <a:off x="640080" y="4526280"/>
            <a:ext cx="5669280" cy="1280160"/>
          </a:xfrm>
          <a:prstGeom prst="rect">
            <a:avLst/>
          </a:prstGeom>
          <a:solidFill>
            <a:srgbClr val="FFFFFF"/>
          </a:solidFill>
          <a:ln w="9525">
            <a:solidFill>
              <a:srgbClr val="DCE3EE"/>
            </a:solidFill>
            <a:prstDash val="solid"/>
          </a:ln>
        </p:spPr>
      </p:sp>
      <p:sp>
        <p:nvSpPr>
          <p:cNvPr id="17" name="Text 15"/>
          <p:cNvSpPr/>
          <p:nvPr/>
        </p:nvSpPr>
        <p:spPr>
          <a:xfrm>
            <a:off x="868680" y="4636008"/>
            <a:ext cx="5303520" cy="320040"/>
          </a:xfrm>
          <a:prstGeom prst="rect">
            <a:avLst/>
          </a:prstGeom>
          <a:noFill/>
          <a:ln/>
        </p:spPr>
        <p:txBody>
          <a:bodyPr wrap="square" lIns="0" tIns="0" rIns="0" bIns="0" rtlCol="0" anchor="ctr"/>
          <a:lstStyle/>
          <a:p>
            <a:pPr indent="0" marL="0">
              <a:buNone/>
            </a:pPr>
            <a:r>
              <a:rPr lang="en-US" sz="1400" b="1" spc="100" kern="0" dirty="0">
                <a:solidFill>
                  <a:srgbClr val="0F2D5F"/>
                </a:solidFill>
                <a:latin typeface="Calibri" pitchFamily="34" charset="0"/>
                <a:ea typeface="Calibri" pitchFamily="34" charset="-122"/>
                <a:cs typeface="Calibri" pitchFamily="34" charset="-120"/>
              </a:rPr>
              <a:t>Safety</a:t>
            </a:r>
            <a:endParaRPr lang="en-US" sz="1400" dirty="0"/>
          </a:p>
        </p:txBody>
      </p:sp>
      <p:sp>
        <p:nvSpPr>
          <p:cNvPr id="18" name="Text 16"/>
          <p:cNvSpPr/>
          <p:nvPr/>
        </p:nvSpPr>
        <p:spPr>
          <a:xfrm>
            <a:off x="868680" y="4983480"/>
            <a:ext cx="5303520" cy="731520"/>
          </a:xfrm>
          <a:prstGeom prst="rect">
            <a:avLst/>
          </a:prstGeom>
          <a:noFill/>
          <a:ln/>
        </p:spPr>
        <p:txBody>
          <a:bodyPr wrap="square" lIns="0" tIns="0" rIns="0" bIns="0" rtlCol="0" anchor="ctr"/>
          <a:lstStyle/>
          <a:p>
            <a:pPr indent="0" marL="0">
              <a:buNone/>
            </a:pPr>
            <a:r>
              <a:rPr lang="en-US" sz="1400" dirty="0">
                <a:solidFill>
                  <a:srgbClr val="0A1A33"/>
                </a:solidFill>
                <a:latin typeface="Calibri" pitchFamily="34" charset="0"/>
                <a:ea typeface="Calibri" pitchFamily="34" charset="-122"/>
                <a:cs typeface="Calibri" pitchFamily="34" charset="-120"/>
              </a:rPr>
              <a:t>A 10s pack at 42 V stores 151 Wh — fault response has to be hardware-enforced, not firmware-timed.</a:t>
            </a:r>
            <a:endParaRPr lang="en-US" sz="1400" dirty="0"/>
          </a:p>
        </p:txBody>
      </p:sp>
      <p:sp>
        <p:nvSpPr>
          <p:cNvPr id="19" name="Shape 17"/>
          <p:cNvSpPr/>
          <p:nvPr/>
        </p:nvSpPr>
        <p:spPr>
          <a:xfrm>
            <a:off x="6583680" y="1783080"/>
            <a:ext cx="5029200" cy="4023360"/>
          </a:xfrm>
          <a:prstGeom prst="rect">
            <a:avLst/>
          </a:prstGeom>
          <a:solidFill>
            <a:srgbClr val="0F2D5F"/>
          </a:solidFill>
          <a:ln w="12700">
            <a:solidFill>
              <a:srgbClr val="0F2D5F"/>
            </a:solidFill>
            <a:prstDash val="solid"/>
          </a:ln>
        </p:spPr>
      </p:sp>
      <p:sp>
        <p:nvSpPr>
          <p:cNvPr id="20" name="Text 18"/>
          <p:cNvSpPr/>
          <p:nvPr/>
        </p:nvSpPr>
        <p:spPr>
          <a:xfrm>
            <a:off x="6858000" y="1965960"/>
            <a:ext cx="4480560" cy="365760"/>
          </a:xfrm>
          <a:prstGeom prst="rect">
            <a:avLst/>
          </a:prstGeom>
          <a:noFill/>
          <a:ln/>
        </p:spPr>
        <p:txBody>
          <a:bodyPr wrap="square" lIns="0" tIns="0" rIns="0" bIns="0" rtlCol="0" anchor="ctr"/>
          <a:lstStyle/>
          <a:p>
            <a:pPr indent="0" marL="0">
              <a:buNone/>
            </a:pPr>
            <a:r>
              <a:rPr lang="en-US" sz="1600" b="1" spc="200" kern="0" dirty="0">
                <a:solidFill>
                  <a:srgbClr val="F2A900"/>
                </a:solidFill>
                <a:latin typeface="Calibri" pitchFamily="34" charset="0"/>
                <a:ea typeface="Calibri" pitchFamily="34" charset="-122"/>
                <a:cs typeface="Calibri" pitchFamily="34" charset="-120"/>
              </a:rPr>
              <a:t>Design objectives</a:t>
            </a:r>
            <a:endParaRPr lang="en-US" sz="1600" dirty="0"/>
          </a:p>
        </p:txBody>
      </p:sp>
      <p:sp>
        <p:nvSpPr>
          <p:cNvPr id="21" name="Text 19"/>
          <p:cNvSpPr/>
          <p:nvPr/>
        </p:nvSpPr>
        <p:spPr>
          <a:xfrm>
            <a:off x="6858000" y="2468880"/>
            <a:ext cx="2286000" cy="365760"/>
          </a:xfrm>
          <a:prstGeom prst="rect">
            <a:avLst/>
          </a:prstGeom>
          <a:noFill/>
          <a:ln/>
        </p:spPr>
        <p:txBody>
          <a:bodyPr wrap="square" lIns="0" tIns="0" rIns="0" bIns="0" rtlCol="0" anchor="ctr"/>
          <a:lstStyle/>
          <a:p>
            <a:pPr indent="0" marL="0">
              <a:buNone/>
            </a:pPr>
            <a:r>
              <a:rPr lang="en-US" sz="1300" dirty="0">
                <a:solidFill>
                  <a:srgbClr val="E8EEF7"/>
                </a:solidFill>
                <a:latin typeface="Calibri" pitchFamily="34" charset="0"/>
                <a:ea typeface="Calibri" pitchFamily="34" charset="-122"/>
                <a:cs typeface="Calibri" pitchFamily="34" charset="-120"/>
              </a:rPr>
              <a:t>Cell voltage error</a:t>
            </a:r>
            <a:endParaRPr lang="en-US" sz="1300" dirty="0"/>
          </a:p>
        </p:txBody>
      </p:sp>
      <p:sp>
        <p:nvSpPr>
          <p:cNvPr id="22" name="Text 20"/>
          <p:cNvSpPr/>
          <p:nvPr/>
        </p:nvSpPr>
        <p:spPr>
          <a:xfrm>
            <a:off x="9144000" y="2468880"/>
            <a:ext cx="2194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 20 mV</a:t>
            </a:r>
            <a:endParaRPr lang="en-US" sz="1300" dirty="0"/>
          </a:p>
        </p:txBody>
      </p:sp>
      <p:sp>
        <p:nvSpPr>
          <p:cNvPr id="23" name="Text 21"/>
          <p:cNvSpPr/>
          <p:nvPr/>
        </p:nvSpPr>
        <p:spPr>
          <a:xfrm>
            <a:off x="6858000" y="2944368"/>
            <a:ext cx="2286000" cy="365760"/>
          </a:xfrm>
          <a:prstGeom prst="rect">
            <a:avLst/>
          </a:prstGeom>
          <a:noFill/>
          <a:ln/>
        </p:spPr>
        <p:txBody>
          <a:bodyPr wrap="square" lIns="0" tIns="0" rIns="0" bIns="0" rtlCol="0" anchor="ctr"/>
          <a:lstStyle/>
          <a:p>
            <a:pPr indent="0" marL="0">
              <a:buNone/>
            </a:pPr>
            <a:r>
              <a:rPr lang="en-US" sz="1300" dirty="0">
                <a:solidFill>
                  <a:srgbClr val="E8EEF7"/>
                </a:solidFill>
                <a:latin typeface="Calibri" pitchFamily="34" charset="0"/>
                <a:ea typeface="Calibri" pitchFamily="34" charset="-122"/>
                <a:cs typeface="Calibri" pitchFamily="34" charset="-120"/>
              </a:rPr>
              <a:t>Pack current error</a:t>
            </a:r>
            <a:endParaRPr lang="en-US" sz="1300" dirty="0"/>
          </a:p>
        </p:txBody>
      </p:sp>
      <p:sp>
        <p:nvSpPr>
          <p:cNvPr id="24" name="Text 22"/>
          <p:cNvSpPr/>
          <p:nvPr/>
        </p:nvSpPr>
        <p:spPr>
          <a:xfrm>
            <a:off x="9144000" y="2944368"/>
            <a:ext cx="2194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 10 mA</a:t>
            </a:r>
            <a:endParaRPr lang="en-US" sz="1300" dirty="0"/>
          </a:p>
        </p:txBody>
      </p:sp>
      <p:sp>
        <p:nvSpPr>
          <p:cNvPr id="25" name="Text 23"/>
          <p:cNvSpPr/>
          <p:nvPr/>
        </p:nvSpPr>
        <p:spPr>
          <a:xfrm>
            <a:off x="6858000" y="3419856"/>
            <a:ext cx="2286000" cy="365760"/>
          </a:xfrm>
          <a:prstGeom prst="rect">
            <a:avLst/>
          </a:prstGeom>
          <a:noFill/>
          <a:ln/>
        </p:spPr>
        <p:txBody>
          <a:bodyPr wrap="square" lIns="0" tIns="0" rIns="0" bIns="0" rtlCol="0" anchor="ctr"/>
          <a:lstStyle/>
          <a:p>
            <a:pPr indent="0" marL="0">
              <a:buNone/>
            </a:pPr>
            <a:r>
              <a:rPr lang="en-US" sz="1300" dirty="0">
                <a:solidFill>
                  <a:srgbClr val="E8EEF7"/>
                </a:solidFill>
                <a:latin typeface="Calibri" pitchFamily="34" charset="0"/>
                <a:ea typeface="Calibri" pitchFamily="34" charset="-122"/>
                <a:cs typeface="Calibri" pitchFamily="34" charset="-120"/>
              </a:rPr>
              <a:t>E-Load regulation</a:t>
            </a:r>
            <a:endParaRPr lang="en-US" sz="1300" dirty="0"/>
          </a:p>
        </p:txBody>
      </p:sp>
      <p:sp>
        <p:nvSpPr>
          <p:cNvPr id="26" name="Text 24"/>
          <p:cNvSpPr/>
          <p:nvPr/>
        </p:nvSpPr>
        <p:spPr>
          <a:xfrm>
            <a:off x="9144000" y="3419856"/>
            <a:ext cx="2194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controlled sink at 36 V</a:t>
            </a:r>
            <a:endParaRPr lang="en-US" sz="1300" dirty="0"/>
          </a:p>
        </p:txBody>
      </p:sp>
      <p:sp>
        <p:nvSpPr>
          <p:cNvPr id="27" name="Text 25"/>
          <p:cNvSpPr/>
          <p:nvPr/>
        </p:nvSpPr>
        <p:spPr>
          <a:xfrm>
            <a:off x="6858000" y="3895344"/>
            <a:ext cx="2286000" cy="365760"/>
          </a:xfrm>
          <a:prstGeom prst="rect">
            <a:avLst/>
          </a:prstGeom>
          <a:noFill/>
          <a:ln/>
        </p:spPr>
        <p:txBody>
          <a:bodyPr wrap="square" lIns="0" tIns="0" rIns="0" bIns="0" rtlCol="0" anchor="ctr"/>
          <a:lstStyle/>
          <a:p>
            <a:pPr indent="0" marL="0">
              <a:buNone/>
            </a:pPr>
            <a:r>
              <a:rPr lang="en-US" sz="1300" dirty="0">
                <a:solidFill>
                  <a:srgbClr val="E8EEF7"/>
                </a:solidFill>
                <a:latin typeface="Calibri" pitchFamily="34" charset="0"/>
                <a:ea typeface="Calibri" pitchFamily="34" charset="-122"/>
                <a:cs typeface="Calibri" pitchFamily="34" charset="-120"/>
              </a:rPr>
              <a:t>Telemetry link</a:t>
            </a:r>
            <a:endParaRPr lang="en-US" sz="1300" dirty="0"/>
          </a:p>
        </p:txBody>
      </p:sp>
      <p:sp>
        <p:nvSpPr>
          <p:cNvPr id="28" name="Text 26"/>
          <p:cNvSpPr/>
          <p:nvPr/>
        </p:nvSpPr>
        <p:spPr>
          <a:xfrm>
            <a:off x="9144000" y="3895344"/>
            <a:ext cx="2194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USB CDC @ 115200 baud</a:t>
            </a:r>
            <a:endParaRPr lang="en-US" sz="1300" dirty="0"/>
          </a:p>
        </p:txBody>
      </p:sp>
      <p:sp>
        <p:nvSpPr>
          <p:cNvPr id="29" name="Text 27"/>
          <p:cNvSpPr/>
          <p:nvPr/>
        </p:nvSpPr>
        <p:spPr>
          <a:xfrm>
            <a:off x="6858000" y="4370832"/>
            <a:ext cx="2286000" cy="365760"/>
          </a:xfrm>
          <a:prstGeom prst="rect">
            <a:avLst/>
          </a:prstGeom>
          <a:noFill/>
          <a:ln/>
        </p:spPr>
        <p:txBody>
          <a:bodyPr wrap="square" lIns="0" tIns="0" rIns="0" bIns="0" rtlCol="0" anchor="ctr"/>
          <a:lstStyle/>
          <a:p>
            <a:pPr indent="0" marL="0">
              <a:buNone/>
            </a:pPr>
            <a:r>
              <a:rPr lang="en-US" sz="1300" dirty="0">
                <a:solidFill>
                  <a:srgbClr val="E8EEF7"/>
                </a:solidFill>
                <a:latin typeface="Calibri" pitchFamily="34" charset="0"/>
                <a:ea typeface="Calibri" pitchFamily="34" charset="-122"/>
                <a:cs typeface="Calibri" pitchFamily="34" charset="-120"/>
              </a:rPr>
              <a:t>Fan control</a:t>
            </a:r>
            <a:endParaRPr lang="en-US" sz="1300" dirty="0"/>
          </a:p>
        </p:txBody>
      </p:sp>
      <p:sp>
        <p:nvSpPr>
          <p:cNvPr id="30" name="Text 28"/>
          <p:cNvSpPr/>
          <p:nvPr/>
        </p:nvSpPr>
        <p:spPr>
          <a:xfrm>
            <a:off x="9144000" y="4370832"/>
            <a:ext cx="2194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0–100 % PWM, auto + manual</a:t>
            </a:r>
            <a:endParaRPr lang="en-US" sz="1300" dirty="0"/>
          </a:p>
        </p:txBody>
      </p:sp>
      <p:sp>
        <p:nvSpPr>
          <p:cNvPr id="31" name="Text 29"/>
          <p:cNvSpPr/>
          <p:nvPr/>
        </p:nvSpPr>
        <p:spPr>
          <a:xfrm>
            <a:off x="6858000" y="4846320"/>
            <a:ext cx="2286000" cy="365760"/>
          </a:xfrm>
          <a:prstGeom prst="rect">
            <a:avLst/>
          </a:prstGeom>
          <a:noFill/>
          <a:ln/>
        </p:spPr>
        <p:txBody>
          <a:bodyPr wrap="square" lIns="0" tIns="0" rIns="0" bIns="0" rtlCol="0" anchor="ctr"/>
          <a:lstStyle/>
          <a:p>
            <a:pPr indent="0" marL="0">
              <a:buNone/>
            </a:pPr>
            <a:r>
              <a:rPr lang="en-US" sz="1300" dirty="0">
                <a:solidFill>
                  <a:srgbClr val="E8EEF7"/>
                </a:solidFill>
                <a:latin typeface="Calibri" pitchFamily="34" charset="0"/>
                <a:ea typeface="Calibri" pitchFamily="34" charset="-122"/>
                <a:cs typeface="Calibri" pitchFamily="34" charset="-120"/>
              </a:rPr>
              <a:t>Pack budget</a:t>
            </a:r>
            <a:endParaRPr lang="en-US" sz="1300" dirty="0"/>
          </a:p>
        </p:txBody>
      </p:sp>
      <p:sp>
        <p:nvSpPr>
          <p:cNvPr id="32" name="Text 30"/>
          <p:cNvSpPr/>
          <p:nvPr/>
        </p:nvSpPr>
        <p:spPr>
          <a:xfrm>
            <a:off x="9144000" y="4846320"/>
            <a:ext cx="2194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$3,000 across 3 PCBs</a:t>
            </a:r>
            <a:endParaRPr lang="en-US" sz="1300" dirty="0"/>
          </a:p>
        </p:txBody>
      </p:sp>
      <p:sp>
        <p:nvSpPr>
          <p:cNvPr id="33" name="Text 31"/>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7E8DA6"/>
                </a:solidFill>
                <a:latin typeface="Calibri" pitchFamily="34" charset="0"/>
                <a:ea typeface="Calibri" pitchFamily="34" charset="-122"/>
                <a:cs typeface="Calibri" pitchFamily="34" charset="-120"/>
              </a:rPr>
              <a:t>Sources: Ewert Energy Systems, Orion BMS 2 product documentation (2024); EE 175AB Final Report §2.1, §3.5.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sp>
      <p:sp>
        <p:nvSpPr>
          <p:cNvPr id="3" name="Shape 1"/>
          <p:cNvSpPr/>
          <p:nvPr/>
        </p:nvSpPr>
        <p:spPr>
          <a:xfrm>
            <a:off x="548640" y="6446520"/>
            <a:ext cx="11064240" cy="0"/>
          </a:xfrm>
          <a:prstGeom prst="line">
            <a:avLst/>
          </a:prstGeom>
          <a:noFill/>
          <a:ln w="9525">
            <a:solidFill>
              <a:srgbClr val="DCE3EE"/>
            </a:solidFill>
            <a:prstDash val="solid"/>
          </a:ln>
        </p:spPr>
      </p:sp>
      <p:sp>
        <p:nvSpPr>
          <p:cNvPr id="4" name="Text 2"/>
          <p:cNvSpPr/>
          <p:nvPr/>
        </p:nvSpPr>
        <p:spPr>
          <a:xfrm>
            <a:off x="548640" y="6537960"/>
            <a:ext cx="5486400" cy="274320"/>
          </a:xfrm>
          <a:prstGeom prst="rect">
            <a:avLst/>
          </a:prstGeom>
          <a:noFill/>
          <a:ln/>
        </p:spPr>
        <p:txBody>
          <a:bodyPr wrap="square" lIns="0" tIns="0" rIns="0" bIns="0" rtlCol="0" anchor="ctr"/>
          <a:lstStyle/>
          <a:p>
            <a:pPr indent="0" marL="0">
              <a:buNone/>
            </a:pPr>
            <a:r>
              <a:rPr lang="en-US" sz="1000" b="1" dirty="0">
                <a:solidFill>
                  <a:srgbClr val="0F2D5F"/>
                </a:solidFill>
                <a:latin typeface="Calibri" pitchFamily="34" charset="0"/>
                <a:ea typeface="Calibri" pitchFamily="34" charset="-122"/>
                <a:cs typeface="Calibri" pitchFamily="34" charset="-120"/>
              </a:rPr>
              <a:t>Nick</a:t>
            </a:r>
            <a:pPr indent="0" marL="0">
              <a:buNone/>
            </a:pPr>
            <a:r>
              <a:rPr lang="en-US" sz="1000" dirty="0">
                <a:solidFill>
                  <a:srgbClr val="7E8DA6"/>
                </a:solidFill>
                <a:latin typeface="Calibri" pitchFamily="34" charset="0"/>
                <a:ea typeface="Calibri" pitchFamily="34" charset="-122"/>
                <a:cs typeface="Calibri" pitchFamily="34" charset="-120"/>
              </a:rPr>
              <a:t>  ·  </a:t>
            </a:r>
            <a:pPr indent="0" marL="0">
              <a:buNone/>
            </a:pPr>
            <a:r>
              <a:rPr lang="en-US" sz="1000" dirty="0">
                <a:solidFill>
                  <a:srgbClr val="445673"/>
                </a:solidFill>
                <a:latin typeface="Calibri" pitchFamily="34" charset="0"/>
                <a:ea typeface="Calibri" pitchFamily="34" charset="-122"/>
                <a:cs typeface="Calibri" pitchFamily="34" charset="-120"/>
              </a:rPr>
              <a:t>System architecture</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algn="r" indent="0" marL="0">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pPr algn="r" indent="0" marL="0">
              <a:buNone/>
            </a:pPr>
            <a:r>
              <a:rPr lang="en-US" sz="1000" b="1" dirty="0">
                <a:solidFill>
                  <a:srgbClr val="0F2D5F"/>
                </a:solidFill>
                <a:latin typeface="Calibri" pitchFamily="34" charset="0"/>
                <a:ea typeface="Calibri" pitchFamily="34" charset="-122"/>
                <a:cs typeface="Calibri" pitchFamily="34" charset="-120"/>
              </a:rPr>
              <a:t>   3 / 9</a:t>
            </a:r>
            <a:endParaRPr lang="en-US" sz="1000" dirty="0"/>
          </a:p>
        </p:txBody>
      </p:sp>
      <p:sp>
        <p:nvSpPr>
          <p:cNvPr id="6" name="Text 4"/>
          <p:cNvSpPr/>
          <p:nvPr/>
        </p:nvSpPr>
        <p:spPr>
          <a:xfrm>
            <a:off x="548640" y="320040"/>
            <a:ext cx="11064240" cy="822960"/>
          </a:xfrm>
          <a:prstGeom prst="rect">
            <a:avLst/>
          </a:prstGeom>
          <a:noFill/>
          <a:ln/>
        </p:spPr>
        <p:txBody>
          <a:bodyPr wrap="square" lIns="0" tIns="0" rIns="0" bIns="0" rtlCol="0" anchor="ctr"/>
          <a:lstStyle/>
          <a:p>
            <a:pPr indent="0" marL="0">
              <a:buNone/>
            </a:pPr>
            <a:r>
              <a:rPr lang="en-US" sz="2200" b="1" dirty="0">
                <a:solidFill>
                  <a:srgbClr val="0F2D5F"/>
                </a:solidFill>
                <a:latin typeface="Calibri" pitchFamily="34" charset="0"/>
                <a:ea typeface="Calibri" pitchFamily="34" charset="-122"/>
                <a:cs typeface="Calibri" pitchFamily="34" charset="-120"/>
              </a:rPr>
              <a:t>Three subsystems, three custom PCBs, one USB CDC bridge to the dashboard.</a:t>
            </a:r>
            <a:endParaRPr lang="en-US" sz="2200" dirty="0"/>
          </a:p>
        </p:txBody>
      </p:sp>
      <p:sp>
        <p:nvSpPr>
          <p:cNvPr id="7" name="Shape 5"/>
          <p:cNvSpPr/>
          <p:nvPr/>
        </p:nvSpPr>
        <p:spPr>
          <a:xfrm>
            <a:off x="548640" y="1554480"/>
            <a:ext cx="3505200" cy="2743200"/>
          </a:xfrm>
          <a:prstGeom prst="rect">
            <a:avLst/>
          </a:prstGeom>
          <a:solidFill>
            <a:srgbClr val="FFFFFF"/>
          </a:solidFill>
          <a:ln w="9525">
            <a:solidFill>
              <a:srgbClr val="DCE3EE"/>
            </a:solidFill>
            <a:prstDash val="solid"/>
          </a:ln>
        </p:spPr>
      </p:sp>
      <p:sp>
        <p:nvSpPr>
          <p:cNvPr id="8" name="Shape 6"/>
          <p:cNvSpPr/>
          <p:nvPr/>
        </p:nvSpPr>
        <p:spPr>
          <a:xfrm>
            <a:off x="548640" y="1554480"/>
            <a:ext cx="3505200" cy="73152"/>
          </a:xfrm>
          <a:prstGeom prst="rect">
            <a:avLst/>
          </a:prstGeom>
          <a:solidFill>
            <a:srgbClr val="F2A900"/>
          </a:solidFill>
          <a:ln w="12700">
            <a:solidFill>
              <a:srgbClr val="F2A900"/>
            </a:solidFill>
            <a:prstDash val="solid"/>
          </a:ln>
        </p:spPr>
      </p:sp>
      <p:sp>
        <p:nvSpPr>
          <p:cNvPr id="9" name="Text 7"/>
          <p:cNvSpPr/>
          <p:nvPr/>
        </p:nvSpPr>
        <p:spPr>
          <a:xfrm>
            <a:off x="777240" y="1737360"/>
            <a:ext cx="3048000" cy="365760"/>
          </a:xfrm>
          <a:prstGeom prst="rect">
            <a:avLst/>
          </a:prstGeom>
          <a:noFill/>
          <a:ln/>
        </p:spPr>
        <p:txBody>
          <a:bodyPr wrap="square" lIns="0" tIns="0" rIns="0" bIns="0" rtlCol="0" anchor="ctr"/>
          <a:lstStyle/>
          <a:p>
            <a:pPr indent="0" marL="0">
              <a:buNone/>
            </a:pPr>
            <a:r>
              <a:rPr lang="en-US" sz="1700" b="1" dirty="0">
                <a:solidFill>
                  <a:srgbClr val="0F2D5F"/>
                </a:solidFill>
                <a:latin typeface="Calibri" pitchFamily="34" charset="0"/>
                <a:ea typeface="Calibri" pitchFamily="34" charset="-122"/>
                <a:cs typeface="Calibri" pitchFamily="34" charset="-120"/>
              </a:rPr>
              <a:t>Battery Unit</a:t>
            </a:r>
            <a:endParaRPr lang="en-US" sz="1700" dirty="0"/>
          </a:p>
        </p:txBody>
      </p:sp>
      <p:sp>
        <p:nvSpPr>
          <p:cNvPr id="10" name="Text 8"/>
          <p:cNvSpPr/>
          <p:nvPr/>
        </p:nvSpPr>
        <p:spPr>
          <a:xfrm>
            <a:off x="777240" y="2121408"/>
            <a:ext cx="3048000" cy="274320"/>
          </a:xfrm>
          <a:prstGeom prst="rect">
            <a:avLst/>
          </a:prstGeom>
          <a:noFill/>
          <a:ln/>
        </p:spPr>
        <p:txBody>
          <a:bodyPr wrap="square" lIns="0" tIns="0" rIns="0" bIns="0" rtlCol="0" anchor="ctr"/>
          <a:lstStyle/>
          <a:p>
            <a:pPr indent="0" marL="0">
              <a:buNone/>
            </a:pPr>
            <a:r>
              <a:rPr lang="en-US" sz="1100" i="1" dirty="0">
                <a:solidFill>
                  <a:srgbClr val="7E8DA6"/>
                </a:solidFill>
                <a:latin typeface="Calibri" pitchFamily="34" charset="0"/>
                <a:ea typeface="Calibri" pitchFamily="34" charset="-122"/>
                <a:cs typeface="Calibri" pitchFamily="34" charset="-120"/>
              </a:rPr>
              <a:t>Nick · Connor</a:t>
            </a:r>
            <a:endParaRPr lang="en-US" sz="1100" dirty="0"/>
          </a:p>
        </p:txBody>
      </p:sp>
      <p:sp>
        <p:nvSpPr>
          <p:cNvPr id="11" name="Shape 9"/>
          <p:cNvSpPr/>
          <p:nvPr/>
        </p:nvSpPr>
        <p:spPr>
          <a:xfrm>
            <a:off x="777240" y="2450592"/>
            <a:ext cx="3048000" cy="0"/>
          </a:xfrm>
          <a:prstGeom prst="line">
            <a:avLst/>
          </a:prstGeom>
          <a:noFill/>
          <a:ln w="9525">
            <a:solidFill>
              <a:srgbClr val="DCE3EE"/>
            </a:solidFill>
            <a:prstDash val="solid"/>
          </a:ln>
        </p:spPr>
      </p:sp>
      <p:sp>
        <p:nvSpPr>
          <p:cNvPr id="12" name="Text 10"/>
          <p:cNvSpPr/>
          <p:nvPr/>
        </p:nvSpPr>
        <p:spPr>
          <a:xfrm>
            <a:off x="82296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10s1p Molicel P42A pack</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10-cell, 36 V nominal, 42 V full</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Custom BMS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BQ76930 AFE + STM32F303RCT6</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Two-stage main breaker (relay)</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Active-cooling enclosure (2× fans)</a:t>
            </a:r>
            <a:endParaRPr lang="en-US" sz="1250" dirty="0"/>
          </a:p>
        </p:txBody>
      </p:sp>
      <p:sp>
        <p:nvSpPr>
          <p:cNvPr id="13" name="Shape 11"/>
          <p:cNvSpPr/>
          <p:nvPr/>
        </p:nvSpPr>
        <p:spPr>
          <a:xfrm>
            <a:off x="4328160" y="1554480"/>
            <a:ext cx="3505200" cy="2743200"/>
          </a:xfrm>
          <a:prstGeom prst="rect">
            <a:avLst/>
          </a:prstGeom>
          <a:solidFill>
            <a:srgbClr val="FFFFFF"/>
          </a:solidFill>
          <a:ln w="9525">
            <a:solidFill>
              <a:srgbClr val="DCE3EE"/>
            </a:solidFill>
            <a:prstDash val="solid"/>
          </a:ln>
        </p:spPr>
      </p:sp>
      <p:sp>
        <p:nvSpPr>
          <p:cNvPr id="14" name="Shape 12"/>
          <p:cNvSpPr/>
          <p:nvPr/>
        </p:nvSpPr>
        <p:spPr>
          <a:xfrm>
            <a:off x="4328160" y="1554480"/>
            <a:ext cx="3505200" cy="73152"/>
          </a:xfrm>
          <a:prstGeom prst="rect">
            <a:avLst/>
          </a:prstGeom>
          <a:solidFill>
            <a:srgbClr val="F2A900"/>
          </a:solidFill>
          <a:ln w="12700">
            <a:solidFill>
              <a:srgbClr val="F2A900"/>
            </a:solidFill>
            <a:prstDash val="solid"/>
          </a:ln>
        </p:spPr>
      </p:sp>
      <p:sp>
        <p:nvSpPr>
          <p:cNvPr id="15" name="Text 13"/>
          <p:cNvSpPr/>
          <p:nvPr/>
        </p:nvSpPr>
        <p:spPr>
          <a:xfrm>
            <a:off x="4556760" y="1737360"/>
            <a:ext cx="3048000" cy="365760"/>
          </a:xfrm>
          <a:prstGeom prst="rect">
            <a:avLst/>
          </a:prstGeom>
          <a:noFill/>
          <a:ln/>
        </p:spPr>
        <p:txBody>
          <a:bodyPr wrap="square" lIns="0" tIns="0" rIns="0" bIns="0" rtlCol="0" anchor="ctr"/>
          <a:lstStyle/>
          <a:p>
            <a:pPr indent="0" marL="0">
              <a:buNone/>
            </a:pPr>
            <a:r>
              <a:rPr lang="en-US" sz="1700" b="1" dirty="0">
                <a:solidFill>
                  <a:srgbClr val="0F2D5F"/>
                </a:solidFill>
                <a:latin typeface="Calibri" pitchFamily="34" charset="0"/>
                <a:ea typeface="Calibri" pitchFamily="34" charset="-122"/>
                <a:cs typeface="Calibri" pitchFamily="34" charset="-120"/>
              </a:rPr>
              <a:t>Testbench Ecosystem</a:t>
            </a:r>
            <a:endParaRPr lang="en-US" sz="1700" dirty="0"/>
          </a:p>
        </p:txBody>
      </p:sp>
      <p:sp>
        <p:nvSpPr>
          <p:cNvPr id="16" name="Text 14"/>
          <p:cNvSpPr/>
          <p:nvPr/>
        </p:nvSpPr>
        <p:spPr>
          <a:xfrm>
            <a:off x="4556760" y="2121408"/>
            <a:ext cx="3048000" cy="274320"/>
          </a:xfrm>
          <a:prstGeom prst="rect">
            <a:avLst/>
          </a:prstGeom>
          <a:noFill/>
          <a:ln/>
        </p:spPr>
        <p:txBody>
          <a:bodyPr wrap="square" lIns="0" tIns="0" rIns="0" bIns="0" rtlCol="0" anchor="ctr"/>
          <a:lstStyle/>
          <a:p>
            <a:pPr indent="0" marL="0">
              <a:buNone/>
            </a:pPr>
            <a:r>
              <a:rPr lang="en-US" sz="1100" i="1" dirty="0">
                <a:solidFill>
                  <a:srgbClr val="7E8DA6"/>
                </a:solidFill>
                <a:latin typeface="Calibri" pitchFamily="34" charset="0"/>
                <a:ea typeface="Calibri" pitchFamily="34" charset="-122"/>
                <a:cs typeface="Calibri" pitchFamily="34" charset="-120"/>
              </a:rPr>
              <a:t>Christian · Nick · Connor</a:t>
            </a:r>
            <a:endParaRPr lang="en-US" sz="1100" dirty="0"/>
          </a:p>
        </p:txBody>
      </p:sp>
      <p:sp>
        <p:nvSpPr>
          <p:cNvPr id="17" name="Shape 15"/>
          <p:cNvSpPr/>
          <p:nvPr/>
        </p:nvSpPr>
        <p:spPr>
          <a:xfrm>
            <a:off x="4556760" y="2450592"/>
            <a:ext cx="3048000" cy="0"/>
          </a:xfrm>
          <a:prstGeom prst="line">
            <a:avLst/>
          </a:prstGeom>
          <a:noFill/>
          <a:ln w="9525">
            <a:solidFill>
              <a:srgbClr val="DCE3EE"/>
            </a:solidFill>
            <a:prstDash val="solid"/>
          </a:ln>
        </p:spPr>
      </p:sp>
      <p:sp>
        <p:nvSpPr>
          <p:cNvPr id="18" name="Text 16"/>
          <p:cNvSpPr/>
          <p:nvPr/>
        </p:nvSpPr>
        <p:spPr>
          <a:xfrm>
            <a:off x="460248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Custom E-Load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12-bit DAC + AD8630 + MOSFETs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36 V / 1 A controllable sink</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Cell Emulator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Voltage dividers + NTC pots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Bring-up without live cells</a:t>
            </a:r>
            <a:endParaRPr lang="en-US" sz="1250" dirty="0"/>
          </a:p>
        </p:txBody>
      </p:sp>
      <p:sp>
        <p:nvSpPr>
          <p:cNvPr id="19" name="Shape 17"/>
          <p:cNvSpPr/>
          <p:nvPr/>
        </p:nvSpPr>
        <p:spPr>
          <a:xfrm>
            <a:off x="8107680" y="1554480"/>
            <a:ext cx="3505200" cy="2743200"/>
          </a:xfrm>
          <a:prstGeom prst="rect">
            <a:avLst/>
          </a:prstGeom>
          <a:solidFill>
            <a:srgbClr val="FFFFFF"/>
          </a:solidFill>
          <a:ln w="9525">
            <a:solidFill>
              <a:srgbClr val="DCE3EE"/>
            </a:solidFill>
            <a:prstDash val="solid"/>
          </a:ln>
        </p:spPr>
      </p:sp>
      <p:sp>
        <p:nvSpPr>
          <p:cNvPr id="20" name="Shape 18"/>
          <p:cNvSpPr/>
          <p:nvPr/>
        </p:nvSpPr>
        <p:spPr>
          <a:xfrm>
            <a:off x="8107680" y="1554480"/>
            <a:ext cx="3505200" cy="73152"/>
          </a:xfrm>
          <a:prstGeom prst="rect">
            <a:avLst/>
          </a:prstGeom>
          <a:solidFill>
            <a:srgbClr val="F2A900"/>
          </a:solidFill>
          <a:ln w="12700">
            <a:solidFill>
              <a:srgbClr val="F2A900"/>
            </a:solidFill>
            <a:prstDash val="solid"/>
          </a:ln>
        </p:spPr>
      </p:sp>
      <p:sp>
        <p:nvSpPr>
          <p:cNvPr id="21" name="Text 19"/>
          <p:cNvSpPr/>
          <p:nvPr/>
        </p:nvSpPr>
        <p:spPr>
          <a:xfrm>
            <a:off x="8336280" y="1737360"/>
            <a:ext cx="3048000" cy="365760"/>
          </a:xfrm>
          <a:prstGeom prst="rect">
            <a:avLst/>
          </a:prstGeom>
          <a:noFill/>
          <a:ln/>
        </p:spPr>
        <p:txBody>
          <a:bodyPr wrap="square" lIns="0" tIns="0" rIns="0" bIns="0" rtlCol="0" anchor="ctr"/>
          <a:lstStyle/>
          <a:p>
            <a:pPr indent="0" marL="0">
              <a:buNone/>
            </a:pPr>
            <a:r>
              <a:rPr lang="en-US" sz="1700" b="1" dirty="0">
                <a:solidFill>
                  <a:srgbClr val="0F2D5F"/>
                </a:solidFill>
                <a:latin typeface="Calibri" pitchFamily="34" charset="0"/>
                <a:ea typeface="Calibri" pitchFamily="34" charset="-122"/>
                <a:cs typeface="Calibri" pitchFamily="34" charset="-120"/>
              </a:rPr>
              <a:t>Operator Station</a:t>
            </a:r>
            <a:endParaRPr lang="en-US" sz="1700" dirty="0"/>
          </a:p>
        </p:txBody>
      </p:sp>
      <p:sp>
        <p:nvSpPr>
          <p:cNvPr id="22" name="Text 20"/>
          <p:cNvSpPr/>
          <p:nvPr/>
        </p:nvSpPr>
        <p:spPr>
          <a:xfrm>
            <a:off x="8336280" y="2121408"/>
            <a:ext cx="3048000" cy="274320"/>
          </a:xfrm>
          <a:prstGeom prst="rect">
            <a:avLst/>
          </a:prstGeom>
          <a:noFill/>
          <a:ln/>
        </p:spPr>
        <p:txBody>
          <a:bodyPr wrap="square" lIns="0" tIns="0" rIns="0" bIns="0" rtlCol="0" anchor="ctr"/>
          <a:lstStyle/>
          <a:p>
            <a:pPr indent="0" marL="0">
              <a:buNone/>
            </a:pPr>
            <a:r>
              <a:rPr lang="en-US" sz="1100" i="1" dirty="0">
                <a:solidFill>
                  <a:srgbClr val="7E8DA6"/>
                </a:solidFill>
                <a:latin typeface="Calibri" pitchFamily="34" charset="0"/>
                <a:ea typeface="Calibri" pitchFamily="34" charset="-122"/>
                <a:cs typeface="Calibri" pitchFamily="34" charset="-120"/>
              </a:rPr>
              <a:t>Kaushik · Christian · Nick</a:t>
            </a:r>
            <a:endParaRPr lang="en-US" sz="1100" dirty="0"/>
          </a:p>
        </p:txBody>
      </p:sp>
      <p:sp>
        <p:nvSpPr>
          <p:cNvPr id="23" name="Shape 21"/>
          <p:cNvSpPr/>
          <p:nvPr/>
        </p:nvSpPr>
        <p:spPr>
          <a:xfrm>
            <a:off x="8336280" y="2450592"/>
            <a:ext cx="3048000" cy="0"/>
          </a:xfrm>
          <a:prstGeom prst="line">
            <a:avLst/>
          </a:prstGeom>
          <a:noFill/>
          <a:ln w="9525">
            <a:solidFill>
              <a:srgbClr val="DCE3EE"/>
            </a:solidFill>
            <a:prstDash val="solid"/>
          </a:ln>
        </p:spPr>
      </p:sp>
      <p:sp>
        <p:nvSpPr>
          <p:cNvPr id="24" name="Text 22"/>
          <p:cNvSpPr/>
          <p:nvPr/>
        </p:nvSpPr>
        <p:spPr>
          <a:xfrm>
            <a:off x="838200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PyQt6 desktop application</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QWebChannel → Qt WebEngine UI</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Three.js 3D cell stack</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BMS, E-Load, telemetry tabs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Cross-platform: Windows + macOS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Runs entirely on the host laptop</a:t>
            </a:r>
            <a:endParaRPr lang="en-US" sz="1250" dirty="0"/>
          </a:p>
        </p:txBody>
      </p:sp>
      <p:sp>
        <p:nvSpPr>
          <p:cNvPr id="25" name="Shape 23"/>
          <p:cNvSpPr/>
          <p:nvPr/>
        </p:nvSpPr>
        <p:spPr>
          <a:xfrm>
            <a:off x="548640" y="4526280"/>
            <a:ext cx="11064240" cy="960120"/>
          </a:xfrm>
          <a:prstGeom prst="roundRect">
            <a:avLst>
              <a:gd name="adj" fmla="val 4762"/>
            </a:avLst>
          </a:prstGeom>
          <a:solidFill>
            <a:srgbClr val="0F2D5F"/>
          </a:solidFill>
          <a:ln w="12700">
            <a:solidFill>
              <a:srgbClr val="0F2D5F"/>
            </a:solidFill>
            <a:prstDash val="solid"/>
          </a:ln>
        </p:spPr>
      </p:sp>
      <p:sp>
        <p:nvSpPr>
          <p:cNvPr id="26" name="Text 24"/>
          <p:cNvSpPr/>
          <p:nvPr/>
        </p:nvSpPr>
        <p:spPr>
          <a:xfrm>
            <a:off x="777240" y="4636008"/>
            <a:ext cx="18288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Calibri" pitchFamily="34" charset="0"/>
                <a:ea typeface="Calibri" pitchFamily="34" charset="-122"/>
                <a:cs typeface="Calibri" pitchFamily="34" charset="-120"/>
              </a:rPr>
              <a:t>Data path</a:t>
            </a:r>
            <a:endParaRPr lang="en-US" sz="1300" dirty="0"/>
          </a:p>
        </p:txBody>
      </p:sp>
      <p:sp>
        <p:nvSpPr>
          <p:cNvPr id="27" name="Text 25"/>
          <p:cNvSpPr/>
          <p:nvPr/>
        </p:nvSpPr>
        <p:spPr>
          <a:xfrm>
            <a:off x="777240" y="4983480"/>
            <a:ext cx="1060704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Battery Unit </a:t>
            </a:r>
            <a:pPr indent="0" marL="0">
              <a:buNone/>
            </a:pPr>
            <a:r>
              <a:rPr lang="en-US" sz="1300" dirty="0">
                <a:solidFill>
                  <a:srgbClr val="E8EEF7"/>
                </a:solidFill>
                <a:latin typeface="Calibri" pitchFamily="34" charset="0"/>
                <a:ea typeface="Calibri" pitchFamily="34" charset="-122"/>
                <a:cs typeface="Calibri" pitchFamily="34" charset="-120"/>
              </a:rPr>
              <a:t>—  SYSBUS+/− DC bus  →  </a:t>
            </a:r>
            <a:pPr indent="0" marL="0">
              <a:buNone/>
            </a:pPr>
            <a:r>
              <a:rPr lang="en-US" sz="1300" b="1" dirty="0">
                <a:solidFill>
                  <a:srgbClr val="FFFFFF"/>
                </a:solidFill>
                <a:latin typeface="Calibri" pitchFamily="34" charset="0"/>
                <a:ea typeface="Calibri" pitchFamily="34" charset="-122"/>
                <a:cs typeface="Calibri" pitchFamily="34" charset="-120"/>
              </a:rPr>
              <a:t>E-Load XT60</a:t>
            </a:r>
            <a:pPr indent="0" marL="0">
              <a:buNone/>
            </a:pPr>
            <a:r>
              <a:rPr lang="en-US" sz="1300" dirty="0">
                <a:solidFill>
                  <a:srgbClr val="F2A900"/>
                </a:solidFill>
                <a:latin typeface="Calibri" pitchFamily="34" charset="0"/>
                <a:ea typeface="Calibri" pitchFamily="34" charset="-122"/>
                <a:cs typeface="Calibri" pitchFamily="34" charset="-120"/>
              </a:rPr>
              <a:t>    ·    </a:t>
            </a:r>
            <a:pPr indent="0" marL="0">
              <a:buNone/>
            </a:pPr>
            <a:r>
              <a:rPr lang="en-US" sz="1300" b="1" dirty="0">
                <a:solidFill>
                  <a:srgbClr val="FFFFFF"/>
                </a:solidFill>
                <a:latin typeface="Calibri" pitchFamily="34" charset="0"/>
                <a:ea typeface="Calibri" pitchFamily="34" charset="-122"/>
                <a:cs typeface="Calibri" pitchFamily="34" charset="-120"/>
              </a:rPr>
              <a:t>Both STM32s  </a:t>
            </a:r>
            <a:pPr indent="0" marL="0">
              <a:buNone/>
            </a:pPr>
            <a:r>
              <a:rPr lang="en-US" sz="1300" dirty="0">
                <a:solidFill>
                  <a:srgbClr val="E8EEF7"/>
                </a:solidFill>
                <a:latin typeface="Calibri" pitchFamily="34" charset="0"/>
                <a:ea typeface="Calibri" pitchFamily="34" charset="-122"/>
                <a:cs typeface="Calibri" pitchFamily="34" charset="-120"/>
              </a:rPr>
              <a:t>—  USB CDC virtual COM @ 115200 baud  →  </a:t>
            </a:r>
            <a:pPr indent="0" marL="0">
              <a:buNone/>
            </a:pPr>
            <a:r>
              <a:rPr lang="en-US" sz="1300" b="1" dirty="0">
                <a:solidFill>
                  <a:srgbClr val="FFFFFF"/>
                </a:solidFill>
                <a:latin typeface="Calibri" pitchFamily="34" charset="0"/>
                <a:ea typeface="Calibri" pitchFamily="34" charset="-122"/>
                <a:cs typeface="Calibri" pitchFamily="34" charset="-120"/>
              </a:rPr>
              <a:t>Operator Station</a:t>
            </a:r>
            <a:endParaRPr lang="en-US" sz="1300" dirty="0"/>
          </a:p>
        </p:txBody>
      </p:sp>
      <p:sp>
        <p:nvSpPr>
          <p:cNvPr id="28" name="Text 26"/>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7E8DA6"/>
                </a:solidFill>
                <a:latin typeface="Calibri" pitchFamily="34" charset="0"/>
                <a:ea typeface="Calibri" pitchFamily="34" charset="-122"/>
                <a:cs typeface="Calibri" pitchFamily="34" charset="-120"/>
              </a:rPr>
              <a:t>Source: EE 175AB Final Report §5.1 System Architecture, §5.2 Hardware Architecture.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sp>
      <p:sp>
        <p:nvSpPr>
          <p:cNvPr id="3" name="Shape 1"/>
          <p:cNvSpPr/>
          <p:nvPr/>
        </p:nvSpPr>
        <p:spPr>
          <a:xfrm>
            <a:off x="548640" y="6446520"/>
            <a:ext cx="11064240" cy="0"/>
          </a:xfrm>
          <a:prstGeom prst="line">
            <a:avLst/>
          </a:prstGeom>
          <a:noFill/>
          <a:ln w="9525">
            <a:solidFill>
              <a:srgbClr val="DCE3EE"/>
            </a:solidFill>
            <a:prstDash val="solid"/>
          </a:ln>
        </p:spPr>
      </p:sp>
      <p:sp>
        <p:nvSpPr>
          <p:cNvPr id="4" name="Text 2"/>
          <p:cNvSpPr/>
          <p:nvPr/>
        </p:nvSpPr>
        <p:spPr>
          <a:xfrm>
            <a:off x="548640" y="6537960"/>
            <a:ext cx="5486400" cy="274320"/>
          </a:xfrm>
          <a:prstGeom prst="rect">
            <a:avLst/>
          </a:prstGeom>
          <a:noFill/>
          <a:ln/>
        </p:spPr>
        <p:txBody>
          <a:bodyPr wrap="square" lIns="0" tIns="0" rIns="0" bIns="0" rtlCol="0" anchor="ctr"/>
          <a:lstStyle/>
          <a:p>
            <a:pPr indent="0" marL="0">
              <a:buNone/>
            </a:pPr>
            <a:r>
              <a:rPr lang="en-US" sz="1000" b="1" dirty="0">
                <a:solidFill>
                  <a:srgbClr val="0F2D5F"/>
                </a:solidFill>
                <a:latin typeface="Calibri" pitchFamily="34" charset="0"/>
                <a:ea typeface="Calibri" pitchFamily="34" charset="-122"/>
                <a:cs typeface="Calibri" pitchFamily="34" charset="-120"/>
              </a:rPr>
              <a:t>Nick</a:t>
            </a:r>
            <a:pPr indent="0" marL="0">
              <a:buNone/>
            </a:pPr>
            <a:r>
              <a:rPr lang="en-US" sz="1000" dirty="0">
                <a:solidFill>
                  <a:srgbClr val="7E8DA6"/>
                </a:solidFill>
                <a:latin typeface="Calibri" pitchFamily="34" charset="0"/>
                <a:ea typeface="Calibri" pitchFamily="34" charset="-122"/>
                <a:cs typeface="Calibri" pitchFamily="34" charset="-120"/>
              </a:rPr>
              <a:t>  ·  </a:t>
            </a:r>
            <a:pPr indent="0" marL="0">
              <a:buNone/>
            </a:pPr>
            <a:r>
              <a:rPr lang="en-US" sz="1000" dirty="0">
                <a:solidFill>
                  <a:srgbClr val="445673"/>
                </a:solidFill>
                <a:latin typeface="Calibri" pitchFamily="34" charset="0"/>
                <a:ea typeface="Calibri" pitchFamily="34" charset="-122"/>
                <a:cs typeface="Calibri" pitchFamily="34" charset="-120"/>
              </a:rPr>
              <a:t>BMS hardware</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algn="r" indent="0" marL="0">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pPr algn="r" indent="0" marL="0">
              <a:buNone/>
            </a:pPr>
            <a:r>
              <a:rPr lang="en-US" sz="1000" b="1" dirty="0">
                <a:solidFill>
                  <a:srgbClr val="0F2D5F"/>
                </a:solidFill>
                <a:latin typeface="Calibri" pitchFamily="34" charset="0"/>
                <a:ea typeface="Calibri" pitchFamily="34" charset="-122"/>
                <a:cs typeface="Calibri" pitchFamily="34" charset="-120"/>
              </a:rPr>
              <a:t>   4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indent="0" marL="0">
              <a:buNone/>
            </a:pPr>
            <a:r>
              <a:rPr lang="en-US" sz="2200" b="1" dirty="0">
                <a:solidFill>
                  <a:srgbClr val="0F2D5F"/>
                </a:solidFill>
                <a:latin typeface="Calibri" pitchFamily="34" charset="0"/>
                <a:ea typeface="Calibri" pitchFamily="34" charset="-122"/>
                <a:cs typeface="Calibri" pitchFamily="34" charset="-120"/>
              </a:rPr>
              <a:t>BQ76930 AFE handles cell sensing and fault flagging; an electromechanical</a:t>
            </a:r>
            <a:endParaRPr lang="en-US" sz="2200" dirty="0"/>
          </a:p>
          <a:p>
            <a:pPr indent="0" marL="0">
              <a:buNone/>
            </a:pPr>
            <a:r>
              <a:rPr lang="en-US" sz="2200" b="1" dirty="0">
                <a:solidFill>
                  <a:srgbClr val="0F2D5F"/>
                </a:solidFill>
                <a:latin typeface="Calibri" pitchFamily="34" charset="0"/>
                <a:ea typeface="Calibri" pitchFamily="34" charset="-122"/>
                <a:cs typeface="Calibri" pitchFamily="34" charset="-120"/>
              </a:rPr>
              <a:t>relay isolates the pack under fault — independent of firmware state.</a:t>
            </a:r>
            <a:endParaRPr lang="en-US" sz="2200" dirty="0"/>
          </a:p>
        </p:txBody>
      </p:sp>
      <p:sp>
        <p:nvSpPr>
          <p:cNvPr id="7" name="Shape 5"/>
          <p:cNvSpPr/>
          <p:nvPr/>
        </p:nvSpPr>
        <p:spPr>
          <a:xfrm>
            <a:off x="548640" y="1783080"/>
            <a:ext cx="1463040" cy="914400"/>
          </a:xfrm>
          <a:prstGeom prst="rect">
            <a:avLst/>
          </a:prstGeom>
          <a:solidFill>
            <a:srgbClr val="FFFFFF"/>
          </a:solidFill>
          <a:ln w="12700">
            <a:solidFill>
              <a:srgbClr val="0F2D5F"/>
            </a:solidFill>
            <a:prstDash val="solid"/>
          </a:ln>
        </p:spPr>
      </p:sp>
      <p:sp>
        <p:nvSpPr>
          <p:cNvPr id="8" name="Text 6"/>
          <p:cNvSpPr/>
          <p:nvPr/>
        </p:nvSpPr>
        <p:spPr>
          <a:xfrm>
            <a:off x="621792" y="1892808"/>
            <a:ext cx="1316736" cy="365760"/>
          </a:xfrm>
          <a:prstGeom prst="rect">
            <a:avLst/>
          </a:prstGeom>
          <a:noFill/>
          <a:ln/>
        </p:spPr>
        <p:txBody>
          <a:bodyPr wrap="square" lIns="0" tIns="0" rIns="0" bIns="0" rtlCol="0" anchor="ctr"/>
          <a:lstStyle/>
          <a:p>
            <a:pPr algn="ctr" indent="0" marL="0">
              <a:buNone/>
            </a:pPr>
            <a:r>
              <a:rPr lang="en-US" sz="1300" b="1" dirty="0">
                <a:solidFill>
                  <a:srgbClr val="0F2D5F"/>
                </a:solidFill>
                <a:latin typeface="Calibri" pitchFamily="34" charset="0"/>
                <a:ea typeface="Calibri" pitchFamily="34" charset="-122"/>
                <a:cs typeface="Calibri" pitchFamily="34" charset="-120"/>
              </a:rPr>
              <a:t>10 cell taps</a:t>
            </a:r>
            <a:endParaRPr lang="en-US" sz="1300" dirty="0"/>
          </a:p>
        </p:txBody>
      </p:sp>
      <p:sp>
        <p:nvSpPr>
          <p:cNvPr id="9" name="Text 7"/>
          <p:cNvSpPr/>
          <p:nvPr/>
        </p:nvSpPr>
        <p:spPr>
          <a:xfrm>
            <a:off x="621792" y="2258568"/>
            <a:ext cx="131673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VC1 … VC10</a:t>
            </a:r>
            <a:endParaRPr lang="en-US" sz="1000" dirty="0"/>
          </a:p>
        </p:txBody>
      </p:sp>
      <p:sp>
        <p:nvSpPr>
          <p:cNvPr id="10" name="Shape 8"/>
          <p:cNvSpPr/>
          <p:nvPr/>
        </p:nvSpPr>
        <p:spPr>
          <a:xfrm>
            <a:off x="2057400" y="2240280"/>
            <a:ext cx="213360" cy="0"/>
          </a:xfrm>
          <a:prstGeom prst="line">
            <a:avLst/>
          </a:prstGeom>
          <a:noFill/>
          <a:ln w="19050">
            <a:solidFill>
              <a:srgbClr val="0F2D5F"/>
            </a:solidFill>
            <a:prstDash val="solid"/>
            <a:tailEnd type="triangle"/>
          </a:ln>
        </p:spPr>
      </p:sp>
      <p:sp>
        <p:nvSpPr>
          <p:cNvPr id="11" name="Shape 9"/>
          <p:cNvSpPr/>
          <p:nvPr/>
        </p:nvSpPr>
        <p:spPr>
          <a:xfrm>
            <a:off x="2316480" y="1783080"/>
            <a:ext cx="1463040" cy="914400"/>
          </a:xfrm>
          <a:prstGeom prst="rect">
            <a:avLst/>
          </a:prstGeom>
          <a:solidFill>
            <a:srgbClr val="FFFFFF"/>
          </a:solidFill>
          <a:ln w="12700">
            <a:solidFill>
              <a:srgbClr val="0F2D5F"/>
            </a:solidFill>
            <a:prstDash val="solid"/>
          </a:ln>
        </p:spPr>
      </p:sp>
      <p:sp>
        <p:nvSpPr>
          <p:cNvPr id="12" name="Text 10"/>
          <p:cNvSpPr/>
          <p:nvPr/>
        </p:nvSpPr>
        <p:spPr>
          <a:xfrm>
            <a:off x="2389632" y="1892808"/>
            <a:ext cx="1316736" cy="365760"/>
          </a:xfrm>
          <a:prstGeom prst="rect">
            <a:avLst/>
          </a:prstGeom>
          <a:noFill/>
          <a:ln/>
        </p:spPr>
        <p:txBody>
          <a:bodyPr wrap="square" lIns="0" tIns="0" rIns="0" bIns="0" rtlCol="0" anchor="ctr"/>
          <a:lstStyle/>
          <a:p>
            <a:pPr algn="ctr" indent="0" marL="0">
              <a:buNone/>
            </a:pPr>
            <a:r>
              <a:rPr lang="en-US" sz="1300" b="1" dirty="0">
                <a:solidFill>
                  <a:srgbClr val="0F2D5F"/>
                </a:solidFill>
                <a:latin typeface="Calibri" pitchFamily="34" charset="0"/>
                <a:ea typeface="Calibri" pitchFamily="34" charset="-122"/>
                <a:cs typeface="Calibri" pitchFamily="34" charset="-120"/>
              </a:rPr>
              <a:t>BQ76930 AFE</a:t>
            </a:r>
            <a:endParaRPr lang="en-US" sz="1300" dirty="0"/>
          </a:p>
        </p:txBody>
      </p:sp>
      <p:sp>
        <p:nvSpPr>
          <p:cNvPr id="13" name="Text 11"/>
          <p:cNvSpPr/>
          <p:nvPr/>
        </p:nvSpPr>
        <p:spPr>
          <a:xfrm>
            <a:off x="2389632" y="2258568"/>
            <a:ext cx="131673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14-bit ADC · OV/UV/OC/SCD</a:t>
            </a:r>
            <a:endParaRPr lang="en-US" sz="1000" dirty="0"/>
          </a:p>
        </p:txBody>
      </p:sp>
      <p:sp>
        <p:nvSpPr>
          <p:cNvPr id="14" name="Shape 12"/>
          <p:cNvSpPr/>
          <p:nvPr/>
        </p:nvSpPr>
        <p:spPr>
          <a:xfrm>
            <a:off x="3825240" y="2240280"/>
            <a:ext cx="213360" cy="0"/>
          </a:xfrm>
          <a:prstGeom prst="line">
            <a:avLst/>
          </a:prstGeom>
          <a:noFill/>
          <a:ln w="19050">
            <a:solidFill>
              <a:srgbClr val="0F2D5F"/>
            </a:solidFill>
            <a:prstDash val="solid"/>
            <a:tailEnd type="triangle"/>
          </a:ln>
        </p:spPr>
      </p:sp>
      <p:sp>
        <p:nvSpPr>
          <p:cNvPr id="15" name="Shape 13"/>
          <p:cNvSpPr/>
          <p:nvPr/>
        </p:nvSpPr>
        <p:spPr>
          <a:xfrm>
            <a:off x="4084320" y="1783080"/>
            <a:ext cx="1463040" cy="914400"/>
          </a:xfrm>
          <a:prstGeom prst="rect">
            <a:avLst/>
          </a:prstGeom>
          <a:solidFill>
            <a:srgbClr val="FFFFFF"/>
          </a:solidFill>
          <a:ln w="12700">
            <a:solidFill>
              <a:srgbClr val="0F2D5F"/>
            </a:solidFill>
            <a:prstDash val="solid"/>
          </a:ln>
        </p:spPr>
      </p:sp>
      <p:sp>
        <p:nvSpPr>
          <p:cNvPr id="16" name="Text 14"/>
          <p:cNvSpPr/>
          <p:nvPr/>
        </p:nvSpPr>
        <p:spPr>
          <a:xfrm>
            <a:off x="4157472" y="1892808"/>
            <a:ext cx="1316736" cy="365760"/>
          </a:xfrm>
          <a:prstGeom prst="rect">
            <a:avLst/>
          </a:prstGeom>
          <a:noFill/>
          <a:ln/>
        </p:spPr>
        <p:txBody>
          <a:bodyPr wrap="square" lIns="0" tIns="0" rIns="0" bIns="0" rtlCol="0" anchor="ctr"/>
          <a:lstStyle/>
          <a:p>
            <a:pPr algn="ctr" indent="0" marL="0">
              <a:buNone/>
            </a:pPr>
            <a:r>
              <a:rPr lang="en-US" sz="1300" b="1" dirty="0">
                <a:solidFill>
                  <a:srgbClr val="0F2D5F"/>
                </a:solidFill>
                <a:latin typeface="Calibri" pitchFamily="34" charset="0"/>
                <a:ea typeface="Calibri" pitchFamily="34" charset="-122"/>
                <a:cs typeface="Calibri" pitchFamily="34" charset="-120"/>
              </a:rPr>
              <a:t>STM32F303RC</a:t>
            </a:r>
            <a:endParaRPr lang="en-US" sz="1300" dirty="0"/>
          </a:p>
        </p:txBody>
      </p:sp>
      <p:sp>
        <p:nvSpPr>
          <p:cNvPr id="17" name="Text 15"/>
          <p:cNvSpPr/>
          <p:nvPr/>
        </p:nvSpPr>
        <p:spPr>
          <a:xfrm>
            <a:off x="4157472" y="2258568"/>
            <a:ext cx="131673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I²C @ 400 kHz · DMA</a:t>
            </a:r>
            <a:endParaRPr lang="en-US" sz="1000" dirty="0"/>
          </a:p>
        </p:txBody>
      </p:sp>
      <p:sp>
        <p:nvSpPr>
          <p:cNvPr id="18" name="Shape 16"/>
          <p:cNvSpPr/>
          <p:nvPr/>
        </p:nvSpPr>
        <p:spPr>
          <a:xfrm>
            <a:off x="5593080" y="2240280"/>
            <a:ext cx="213360" cy="0"/>
          </a:xfrm>
          <a:prstGeom prst="line">
            <a:avLst/>
          </a:prstGeom>
          <a:noFill/>
          <a:ln w="19050">
            <a:solidFill>
              <a:srgbClr val="0F2D5F"/>
            </a:solidFill>
            <a:prstDash val="solid"/>
            <a:tailEnd type="triangle"/>
          </a:ln>
        </p:spPr>
      </p:sp>
      <p:sp>
        <p:nvSpPr>
          <p:cNvPr id="19" name="Shape 17"/>
          <p:cNvSpPr/>
          <p:nvPr/>
        </p:nvSpPr>
        <p:spPr>
          <a:xfrm>
            <a:off x="5852160" y="1783080"/>
            <a:ext cx="1463040" cy="914400"/>
          </a:xfrm>
          <a:prstGeom prst="rect">
            <a:avLst/>
          </a:prstGeom>
          <a:solidFill>
            <a:srgbClr val="FFFFFF"/>
          </a:solidFill>
          <a:ln w="12700">
            <a:solidFill>
              <a:srgbClr val="0F2D5F"/>
            </a:solidFill>
            <a:prstDash val="solid"/>
          </a:ln>
        </p:spPr>
      </p:sp>
      <p:sp>
        <p:nvSpPr>
          <p:cNvPr id="20" name="Text 18"/>
          <p:cNvSpPr/>
          <p:nvPr/>
        </p:nvSpPr>
        <p:spPr>
          <a:xfrm>
            <a:off x="5925312" y="1892808"/>
            <a:ext cx="1316736" cy="365760"/>
          </a:xfrm>
          <a:prstGeom prst="rect">
            <a:avLst/>
          </a:prstGeom>
          <a:noFill/>
          <a:ln/>
        </p:spPr>
        <p:txBody>
          <a:bodyPr wrap="square" lIns="0" tIns="0" rIns="0" bIns="0" rtlCol="0" anchor="ctr"/>
          <a:lstStyle/>
          <a:p>
            <a:pPr algn="ctr" indent="0" marL="0">
              <a:buNone/>
            </a:pPr>
            <a:r>
              <a:rPr lang="en-US" sz="1300" b="1" dirty="0">
                <a:solidFill>
                  <a:srgbClr val="0F2D5F"/>
                </a:solidFill>
                <a:latin typeface="Calibri" pitchFamily="34" charset="0"/>
                <a:ea typeface="Calibri" pitchFamily="34" charset="-122"/>
                <a:cs typeface="Calibri" pitchFamily="34" charset="-120"/>
              </a:rPr>
              <a:t>USB CDC</a:t>
            </a:r>
            <a:endParaRPr lang="en-US" sz="1300" dirty="0"/>
          </a:p>
        </p:txBody>
      </p:sp>
      <p:sp>
        <p:nvSpPr>
          <p:cNvPr id="21" name="Text 19"/>
          <p:cNvSpPr/>
          <p:nvPr/>
        </p:nvSpPr>
        <p:spPr>
          <a:xfrm>
            <a:off x="5925312" y="2258568"/>
            <a:ext cx="131673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115200 baud · 10 Hz</a:t>
            </a:r>
            <a:endParaRPr lang="en-US" sz="1000" dirty="0"/>
          </a:p>
        </p:txBody>
      </p:sp>
      <p:sp>
        <p:nvSpPr>
          <p:cNvPr id="22" name="Shape 20"/>
          <p:cNvSpPr/>
          <p:nvPr/>
        </p:nvSpPr>
        <p:spPr>
          <a:xfrm>
            <a:off x="548640" y="3063240"/>
            <a:ext cx="6766560" cy="914400"/>
          </a:xfrm>
          <a:prstGeom prst="rect">
            <a:avLst/>
          </a:prstGeom>
          <a:solidFill>
            <a:srgbClr val="FFD37A"/>
          </a:solidFill>
          <a:ln w="9525">
            <a:solidFill>
              <a:srgbClr val="F2A900"/>
            </a:solidFill>
            <a:prstDash val="solid"/>
          </a:ln>
        </p:spPr>
      </p:sp>
      <p:sp>
        <p:nvSpPr>
          <p:cNvPr id="23" name="Text 21"/>
          <p:cNvSpPr/>
          <p:nvPr/>
        </p:nvSpPr>
        <p:spPr>
          <a:xfrm>
            <a:off x="731520" y="3172968"/>
            <a:ext cx="1097280" cy="365760"/>
          </a:xfrm>
          <a:prstGeom prst="rect">
            <a:avLst/>
          </a:prstGeom>
          <a:noFill/>
          <a:ln/>
        </p:spPr>
        <p:txBody>
          <a:bodyPr wrap="square" lIns="0" tIns="0" rIns="0" bIns="0" rtlCol="0" anchor="ctr"/>
          <a:lstStyle/>
          <a:p>
            <a:pPr indent="0" marL="0">
              <a:buNone/>
            </a:pPr>
            <a:r>
              <a:rPr lang="en-US" sz="1300" b="1" spc="200" kern="0" dirty="0">
                <a:solidFill>
                  <a:srgbClr val="0F2D5F"/>
                </a:solidFill>
                <a:latin typeface="Calibri" pitchFamily="34" charset="0"/>
                <a:ea typeface="Calibri" pitchFamily="34" charset="-122"/>
                <a:cs typeface="Calibri" pitchFamily="34" charset="-120"/>
              </a:rPr>
              <a:t>Breaker</a:t>
            </a:r>
            <a:endParaRPr lang="en-US" sz="1300" dirty="0"/>
          </a:p>
        </p:txBody>
      </p:sp>
      <p:sp>
        <p:nvSpPr>
          <p:cNvPr id="24" name="Text 22"/>
          <p:cNvSpPr/>
          <p:nvPr/>
        </p:nvSpPr>
        <p:spPr>
          <a:xfrm>
            <a:off x="1874520" y="3172968"/>
            <a:ext cx="4846320" cy="731520"/>
          </a:xfrm>
          <a:prstGeom prst="rect">
            <a:avLst/>
          </a:prstGeom>
          <a:noFill/>
          <a:ln/>
        </p:spPr>
        <p:txBody>
          <a:bodyPr wrap="square" lIns="0" tIns="0" rIns="0" bIns="0" rtlCol="0" anchor="ctr"/>
          <a:lstStyle/>
          <a:p>
            <a:pPr indent="0" marL="0">
              <a:buNone/>
            </a:pPr>
            <a:r>
              <a:rPr lang="en-US" sz="1200" dirty="0">
                <a:solidFill>
                  <a:srgbClr val="0A1A33"/>
                </a:solidFill>
                <a:latin typeface="Calibri" pitchFamily="34" charset="0"/>
                <a:ea typeface="Calibri" pitchFamily="34" charset="-122"/>
                <a:cs typeface="Calibri" pitchFamily="34" charset="-120"/>
              </a:rPr>
              <a:t>DSG output  →  electromechanical relay opens the SYSBUS path on OV / UV / OC / SCD faults. MOSFET-based breaker was swapped for a mechanical relay during bring-up after surplus FETs showed depletion-mode behavior (Test 3, iter. 3).</a:t>
            </a:r>
            <a:endParaRPr lang="en-US" sz="1200" dirty="0"/>
          </a:p>
        </p:txBody>
      </p:sp>
      <p:sp>
        <p:nvSpPr>
          <p:cNvPr id="25" name="Text 23"/>
          <p:cNvSpPr/>
          <p:nvPr/>
        </p:nvSpPr>
        <p:spPr>
          <a:xfrm>
            <a:off x="7589520" y="1691640"/>
            <a:ext cx="4023360" cy="365760"/>
          </a:xfrm>
          <a:prstGeom prst="rect">
            <a:avLst/>
          </a:prstGeom>
          <a:noFill/>
          <a:ln/>
        </p:spPr>
        <p:txBody>
          <a:bodyPr wrap="square" lIns="0" tIns="0" rIns="0" bIns="0" rtlCol="0" anchor="ctr"/>
          <a:lstStyle/>
          <a:p>
            <a:pPr indent="0" marL="0">
              <a:buNone/>
            </a:pPr>
            <a:r>
              <a:rPr lang="en-US" sz="1600" b="1" dirty="0">
                <a:solidFill>
                  <a:srgbClr val="0F2D5F"/>
                </a:solidFill>
                <a:latin typeface="Calibri" pitchFamily="34" charset="0"/>
                <a:ea typeface="Calibri" pitchFamily="34" charset="-122"/>
                <a:cs typeface="Calibri" pitchFamily="34" charset="-120"/>
              </a:rPr>
              <a:t>What this buys us</a:t>
            </a:r>
            <a:endParaRPr lang="en-US" sz="1600" dirty="0"/>
          </a:p>
        </p:txBody>
      </p:sp>
      <p:sp>
        <p:nvSpPr>
          <p:cNvPr id="26" name="Text 24"/>
          <p:cNvSpPr/>
          <p:nvPr/>
        </p:nvSpPr>
        <p:spPr>
          <a:xfrm>
            <a:off x="7589520" y="2103120"/>
            <a:ext cx="402336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Hardware-enforced safety</a:t>
            </a:r>
            <a:endParaRPr lang="en-US" sz="1300" dirty="0"/>
          </a:p>
        </p:txBody>
      </p:sp>
      <p:sp>
        <p:nvSpPr>
          <p:cNvPr id="27" name="Text 25"/>
          <p:cNvSpPr/>
          <p:nvPr/>
        </p:nvSpPr>
        <p:spPr>
          <a:xfrm>
            <a:off x="7589520" y="2423160"/>
            <a:ext cx="4023360" cy="54864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BQ76930 raises ALERT and drives DSG low even if firmware is mid-reset — the relay opens unconditionally.</a:t>
            </a:r>
            <a:endParaRPr lang="en-US" sz="1150" dirty="0"/>
          </a:p>
        </p:txBody>
      </p:sp>
      <p:sp>
        <p:nvSpPr>
          <p:cNvPr id="28" name="Text 26"/>
          <p:cNvSpPr/>
          <p:nvPr/>
        </p:nvSpPr>
        <p:spPr>
          <a:xfrm>
            <a:off x="7589520" y="3063240"/>
            <a:ext cx="402336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Per-cell visibility</a:t>
            </a:r>
            <a:endParaRPr lang="en-US" sz="1300" dirty="0"/>
          </a:p>
        </p:txBody>
      </p:sp>
      <p:sp>
        <p:nvSpPr>
          <p:cNvPr id="29" name="Text 27"/>
          <p:cNvSpPr/>
          <p:nvPr/>
        </p:nvSpPr>
        <p:spPr>
          <a:xfrm>
            <a:off x="7589520" y="3383280"/>
            <a:ext cx="4023360" cy="54864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All 10 cell voltages and 10 thermistor channels stream live to the dashboard; measured ±10 mV.</a:t>
            </a:r>
            <a:endParaRPr lang="en-US" sz="1150" dirty="0"/>
          </a:p>
        </p:txBody>
      </p:sp>
      <p:sp>
        <p:nvSpPr>
          <p:cNvPr id="30" name="Text 28"/>
          <p:cNvSpPr/>
          <p:nvPr/>
        </p:nvSpPr>
        <p:spPr>
          <a:xfrm>
            <a:off x="7589520" y="4023360"/>
            <a:ext cx="402336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Always-on diagnostics</a:t>
            </a:r>
            <a:endParaRPr lang="en-US" sz="1300" dirty="0"/>
          </a:p>
        </p:txBody>
      </p:sp>
      <p:sp>
        <p:nvSpPr>
          <p:cNvPr id="31" name="Text 29"/>
          <p:cNvSpPr/>
          <p:nvPr/>
        </p:nvSpPr>
        <p:spPr>
          <a:xfrm>
            <a:off x="7589520" y="4343400"/>
            <a:ext cx="4023360" cy="54864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GND-ALWAYS-ON keeps the MCU and USB alive in a fault state for diagnosis and fan control.</a:t>
            </a:r>
            <a:endParaRPr lang="en-US" sz="1150" dirty="0"/>
          </a:p>
        </p:txBody>
      </p:sp>
      <p:sp>
        <p:nvSpPr>
          <p:cNvPr id="32" name="Text 30"/>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7E8DA6"/>
                </a:solidFill>
                <a:latin typeface="Calibri" pitchFamily="34" charset="0"/>
                <a:ea typeface="Calibri" pitchFamily="34" charset="-122"/>
                <a:cs typeface="Calibri" pitchFamily="34" charset="-120"/>
              </a:rPr>
              <a:t>Sources: Texas Instruments, BQ76930 datasheet Rev. G; EE 175AB Final Report §5.2.1, §8.2.12, §11.3.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sp>
      <p:sp>
        <p:nvSpPr>
          <p:cNvPr id="3" name="Shape 1"/>
          <p:cNvSpPr/>
          <p:nvPr/>
        </p:nvSpPr>
        <p:spPr>
          <a:xfrm>
            <a:off x="548640" y="6446520"/>
            <a:ext cx="11064240" cy="0"/>
          </a:xfrm>
          <a:prstGeom prst="line">
            <a:avLst/>
          </a:prstGeom>
          <a:noFill/>
          <a:ln w="9525">
            <a:solidFill>
              <a:srgbClr val="DCE3EE"/>
            </a:solidFill>
            <a:prstDash val="solid"/>
          </a:ln>
        </p:spPr>
      </p:sp>
      <p:sp>
        <p:nvSpPr>
          <p:cNvPr id="4" name="Text 2"/>
          <p:cNvSpPr/>
          <p:nvPr/>
        </p:nvSpPr>
        <p:spPr>
          <a:xfrm>
            <a:off x="548640" y="6537960"/>
            <a:ext cx="5486400" cy="274320"/>
          </a:xfrm>
          <a:prstGeom prst="rect">
            <a:avLst/>
          </a:prstGeom>
          <a:noFill/>
          <a:ln/>
        </p:spPr>
        <p:txBody>
          <a:bodyPr wrap="square" lIns="0" tIns="0" rIns="0" bIns="0" rtlCol="0" anchor="ctr"/>
          <a:lstStyle/>
          <a:p>
            <a:pPr indent="0" marL="0">
              <a:buNone/>
            </a:pPr>
            <a:r>
              <a:rPr lang="en-US" sz="1000" b="1" dirty="0">
                <a:solidFill>
                  <a:srgbClr val="0F2D5F"/>
                </a:solidFill>
                <a:latin typeface="Calibri" pitchFamily="34" charset="0"/>
                <a:ea typeface="Calibri" pitchFamily="34" charset="-122"/>
                <a:cs typeface="Calibri" pitchFamily="34" charset="-120"/>
              </a:rPr>
              <a:t>Christian</a:t>
            </a:r>
            <a:pPr indent="0" marL="0">
              <a:buNone/>
            </a:pPr>
            <a:r>
              <a:rPr lang="en-US" sz="1000" dirty="0">
                <a:solidFill>
                  <a:srgbClr val="7E8DA6"/>
                </a:solidFill>
                <a:latin typeface="Calibri" pitchFamily="34" charset="0"/>
                <a:ea typeface="Calibri" pitchFamily="34" charset="-122"/>
                <a:cs typeface="Calibri" pitchFamily="34" charset="-120"/>
              </a:rPr>
              <a:t>  ·  </a:t>
            </a:r>
            <a:pPr indent="0" marL="0">
              <a:buNone/>
            </a:pPr>
            <a:r>
              <a:rPr lang="en-US" sz="1000" dirty="0">
                <a:solidFill>
                  <a:srgbClr val="445673"/>
                </a:solidFill>
                <a:latin typeface="Calibri" pitchFamily="34" charset="0"/>
                <a:ea typeface="Calibri" pitchFamily="34" charset="-122"/>
                <a:cs typeface="Calibri" pitchFamily="34" charset="-120"/>
              </a:rPr>
              <a:t>E-Load subsystem</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algn="r" indent="0" marL="0">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pPr algn="r" indent="0" marL="0">
              <a:buNone/>
            </a:pPr>
            <a:r>
              <a:rPr lang="en-US" sz="1000" b="1" dirty="0">
                <a:solidFill>
                  <a:srgbClr val="0F2D5F"/>
                </a:solidFill>
                <a:latin typeface="Calibri" pitchFamily="34" charset="0"/>
                <a:ea typeface="Calibri" pitchFamily="34" charset="-122"/>
                <a:cs typeface="Calibri" pitchFamily="34" charset="-120"/>
              </a:rPr>
              <a:t>   5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indent="0" marL="0">
              <a:buNone/>
            </a:pPr>
            <a:r>
              <a:rPr lang="en-US" sz="2200" b="1" dirty="0">
                <a:solidFill>
                  <a:srgbClr val="0F2D5F"/>
                </a:solidFill>
                <a:latin typeface="Calibri" pitchFamily="34" charset="0"/>
                <a:ea typeface="Calibri" pitchFamily="34" charset="-122"/>
                <a:cs typeface="Calibri" pitchFamily="34" charset="-120"/>
              </a:rPr>
              <a:t>12-bit DAC and an AD8630 op-amp close a feedback loop that sinks</a:t>
            </a:r>
            <a:endParaRPr lang="en-US" sz="2200" dirty="0"/>
          </a:p>
          <a:p>
            <a:pPr indent="0" marL="0">
              <a:buNone/>
            </a:pPr>
            <a:r>
              <a:rPr lang="en-US" sz="2200" b="1" dirty="0">
                <a:solidFill>
                  <a:srgbClr val="0F2D5F"/>
                </a:solidFill>
                <a:latin typeface="Calibri" pitchFamily="34" charset="0"/>
                <a:ea typeface="Calibri" pitchFamily="34" charset="-122"/>
                <a:cs typeface="Calibri" pitchFamily="34" charset="-120"/>
              </a:rPr>
              <a:t>controlled current at 36 V — derated to 1 A after a full redesign.</a:t>
            </a:r>
            <a:endParaRPr lang="en-US" sz="2200" dirty="0"/>
          </a:p>
        </p:txBody>
      </p:sp>
      <p:sp>
        <p:nvSpPr>
          <p:cNvPr id="7" name="Shape 5"/>
          <p:cNvSpPr/>
          <p:nvPr/>
        </p:nvSpPr>
        <p:spPr>
          <a:xfrm>
            <a:off x="548640" y="1783080"/>
            <a:ext cx="1417320" cy="914400"/>
          </a:xfrm>
          <a:prstGeom prst="rect">
            <a:avLst/>
          </a:prstGeom>
          <a:solidFill>
            <a:srgbClr val="FFFFFF"/>
          </a:solidFill>
          <a:ln w="12700">
            <a:solidFill>
              <a:srgbClr val="0F2D5F"/>
            </a:solidFill>
            <a:prstDash val="solid"/>
          </a:ln>
        </p:spPr>
      </p:sp>
      <p:sp>
        <p:nvSpPr>
          <p:cNvPr id="8" name="Text 6"/>
          <p:cNvSpPr/>
          <p:nvPr/>
        </p:nvSpPr>
        <p:spPr>
          <a:xfrm>
            <a:off x="621792" y="1892808"/>
            <a:ext cx="1271016" cy="365760"/>
          </a:xfrm>
          <a:prstGeom prst="rect">
            <a:avLst/>
          </a:prstGeom>
          <a:noFill/>
          <a:ln/>
        </p:spPr>
        <p:txBody>
          <a:bodyPr wrap="square" lIns="0" tIns="0" rIns="0" bIns="0" rtlCol="0" anchor="ctr"/>
          <a:lstStyle/>
          <a:p>
            <a:pPr algn="ctr" indent="0" marL="0">
              <a:buNone/>
            </a:pPr>
            <a:r>
              <a:rPr lang="en-US" sz="1250" b="1" dirty="0">
                <a:solidFill>
                  <a:srgbClr val="0F2D5F"/>
                </a:solidFill>
                <a:latin typeface="Calibri" pitchFamily="34" charset="0"/>
                <a:ea typeface="Calibri" pitchFamily="34" charset="-122"/>
                <a:cs typeface="Calibri" pitchFamily="34" charset="-120"/>
              </a:rPr>
              <a:t>STM32F303</a:t>
            </a:r>
            <a:endParaRPr lang="en-US" sz="1250" dirty="0"/>
          </a:p>
        </p:txBody>
      </p:sp>
      <p:sp>
        <p:nvSpPr>
          <p:cNvPr id="9" name="Text 7"/>
          <p:cNvSpPr/>
          <p:nvPr/>
        </p:nvSpPr>
        <p:spPr>
          <a:xfrm>
            <a:off x="621792" y="2258568"/>
            <a:ext cx="127101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I²C set-point</a:t>
            </a:r>
            <a:endParaRPr lang="en-US" sz="1000" dirty="0"/>
          </a:p>
        </p:txBody>
      </p:sp>
      <p:sp>
        <p:nvSpPr>
          <p:cNvPr id="10" name="Shape 8"/>
          <p:cNvSpPr/>
          <p:nvPr/>
        </p:nvSpPr>
        <p:spPr>
          <a:xfrm>
            <a:off x="2011680" y="2240280"/>
            <a:ext cx="-80010" cy="0"/>
          </a:xfrm>
          <a:prstGeom prst="line">
            <a:avLst/>
          </a:prstGeom>
          <a:noFill/>
          <a:ln w="19050">
            <a:solidFill>
              <a:srgbClr val="0F2D5F"/>
            </a:solidFill>
            <a:prstDash val="solid"/>
            <a:tailEnd type="triangle"/>
          </a:ln>
        </p:spPr>
      </p:sp>
      <p:sp>
        <p:nvSpPr>
          <p:cNvPr id="11" name="Shape 9"/>
          <p:cNvSpPr/>
          <p:nvPr/>
        </p:nvSpPr>
        <p:spPr>
          <a:xfrm>
            <a:off x="1977390" y="1783080"/>
            <a:ext cx="1417320" cy="914400"/>
          </a:xfrm>
          <a:prstGeom prst="rect">
            <a:avLst/>
          </a:prstGeom>
          <a:solidFill>
            <a:srgbClr val="FFFFFF"/>
          </a:solidFill>
          <a:ln w="12700">
            <a:solidFill>
              <a:srgbClr val="0F2D5F"/>
            </a:solidFill>
            <a:prstDash val="solid"/>
          </a:ln>
        </p:spPr>
      </p:sp>
      <p:sp>
        <p:nvSpPr>
          <p:cNvPr id="12" name="Text 10"/>
          <p:cNvSpPr/>
          <p:nvPr/>
        </p:nvSpPr>
        <p:spPr>
          <a:xfrm>
            <a:off x="2050542" y="1892808"/>
            <a:ext cx="1271016" cy="365760"/>
          </a:xfrm>
          <a:prstGeom prst="rect">
            <a:avLst/>
          </a:prstGeom>
          <a:noFill/>
          <a:ln/>
        </p:spPr>
        <p:txBody>
          <a:bodyPr wrap="square" lIns="0" tIns="0" rIns="0" bIns="0" rtlCol="0" anchor="ctr"/>
          <a:lstStyle/>
          <a:p>
            <a:pPr algn="ctr" indent="0" marL="0">
              <a:buNone/>
            </a:pPr>
            <a:r>
              <a:rPr lang="en-US" sz="1250" b="1" dirty="0">
                <a:solidFill>
                  <a:srgbClr val="0F2D5F"/>
                </a:solidFill>
                <a:latin typeface="Calibri" pitchFamily="34" charset="0"/>
                <a:ea typeface="Calibri" pitchFamily="34" charset="-122"/>
                <a:cs typeface="Calibri" pitchFamily="34" charset="-120"/>
              </a:rPr>
              <a:t>MCP4725 DAC</a:t>
            </a:r>
            <a:endParaRPr lang="en-US" sz="1250" dirty="0"/>
          </a:p>
        </p:txBody>
      </p:sp>
      <p:sp>
        <p:nvSpPr>
          <p:cNvPr id="13" name="Text 11"/>
          <p:cNvSpPr/>
          <p:nvPr/>
        </p:nvSpPr>
        <p:spPr>
          <a:xfrm>
            <a:off x="2050542" y="2258568"/>
            <a:ext cx="127101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12-bit, I²C</a:t>
            </a:r>
            <a:endParaRPr lang="en-US" sz="1000" dirty="0"/>
          </a:p>
        </p:txBody>
      </p:sp>
      <p:sp>
        <p:nvSpPr>
          <p:cNvPr id="14" name="Shape 12"/>
          <p:cNvSpPr/>
          <p:nvPr/>
        </p:nvSpPr>
        <p:spPr>
          <a:xfrm>
            <a:off x="3440430" y="2240280"/>
            <a:ext cx="-80010" cy="0"/>
          </a:xfrm>
          <a:prstGeom prst="line">
            <a:avLst/>
          </a:prstGeom>
          <a:noFill/>
          <a:ln w="19050">
            <a:solidFill>
              <a:srgbClr val="0F2D5F"/>
            </a:solidFill>
            <a:prstDash val="solid"/>
            <a:tailEnd type="triangle"/>
          </a:ln>
        </p:spPr>
      </p:sp>
      <p:sp>
        <p:nvSpPr>
          <p:cNvPr id="15" name="Shape 13"/>
          <p:cNvSpPr/>
          <p:nvPr/>
        </p:nvSpPr>
        <p:spPr>
          <a:xfrm>
            <a:off x="3406140" y="1783080"/>
            <a:ext cx="1417320" cy="914400"/>
          </a:xfrm>
          <a:prstGeom prst="rect">
            <a:avLst/>
          </a:prstGeom>
          <a:solidFill>
            <a:srgbClr val="FFFFFF"/>
          </a:solidFill>
          <a:ln w="12700">
            <a:solidFill>
              <a:srgbClr val="0F2D5F"/>
            </a:solidFill>
            <a:prstDash val="solid"/>
          </a:ln>
        </p:spPr>
      </p:sp>
      <p:sp>
        <p:nvSpPr>
          <p:cNvPr id="16" name="Text 14"/>
          <p:cNvSpPr/>
          <p:nvPr/>
        </p:nvSpPr>
        <p:spPr>
          <a:xfrm>
            <a:off x="3479292" y="1892808"/>
            <a:ext cx="1271016" cy="365760"/>
          </a:xfrm>
          <a:prstGeom prst="rect">
            <a:avLst/>
          </a:prstGeom>
          <a:noFill/>
          <a:ln/>
        </p:spPr>
        <p:txBody>
          <a:bodyPr wrap="square" lIns="0" tIns="0" rIns="0" bIns="0" rtlCol="0" anchor="ctr"/>
          <a:lstStyle/>
          <a:p>
            <a:pPr algn="ctr" indent="0" marL="0">
              <a:buNone/>
            </a:pPr>
            <a:r>
              <a:rPr lang="en-US" sz="1250" b="1" dirty="0">
                <a:solidFill>
                  <a:srgbClr val="0F2D5F"/>
                </a:solidFill>
                <a:latin typeface="Calibri" pitchFamily="34" charset="0"/>
                <a:ea typeface="Calibri" pitchFamily="34" charset="-122"/>
                <a:cs typeface="Calibri" pitchFamily="34" charset="-120"/>
              </a:rPr>
              <a:t>AD8630 op-amp</a:t>
            </a:r>
            <a:endParaRPr lang="en-US" sz="1250" dirty="0"/>
          </a:p>
        </p:txBody>
      </p:sp>
      <p:sp>
        <p:nvSpPr>
          <p:cNvPr id="17" name="Text 15"/>
          <p:cNvSpPr/>
          <p:nvPr/>
        </p:nvSpPr>
        <p:spPr>
          <a:xfrm>
            <a:off x="3479292" y="2258568"/>
            <a:ext cx="127101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rail-to-rail</a:t>
            </a:r>
            <a:endParaRPr lang="en-US" sz="1000" dirty="0"/>
          </a:p>
        </p:txBody>
      </p:sp>
      <p:sp>
        <p:nvSpPr>
          <p:cNvPr id="18" name="Shape 16"/>
          <p:cNvSpPr/>
          <p:nvPr/>
        </p:nvSpPr>
        <p:spPr>
          <a:xfrm>
            <a:off x="4869180" y="2240280"/>
            <a:ext cx="-80010" cy="0"/>
          </a:xfrm>
          <a:prstGeom prst="line">
            <a:avLst/>
          </a:prstGeom>
          <a:noFill/>
          <a:ln w="19050">
            <a:solidFill>
              <a:srgbClr val="0F2D5F"/>
            </a:solidFill>
            <a:prstDash val="solid"/>
            <a:tailEnd type="triangle"/>
          </a:ln>
        </p:spPr>
      </p:sp>
      <p:sp>
        <p:nvSpPr>
          <p:cNvPr id="19" name="Shape 17"/>
          <p:cNvSpPr/>
          <p:nvPr/>
        </p:nvSpPr>
        <p:spPr>
          <a:xfrm>
            <a:off x="4834890" y="1783080"/>
            <a:ext cx="1417320" cy="914400"/>
          </a:xfrm>
          <a:prstGeom prst="rect">
            <a:avLst/>
          </a:prstGeom>
          <a:solidFill>
            <a:srgbClr val="FFFFFF"/>
          </a:solidFill>
          <a:ln w="12700">
            <a:solidFill>
              <a:srgbClr val="0F2D5F"/>
            </a:solidFill>
            <a:prstDash val="solid"/>
          </a:ln>
        </p:spPr>
      </p:sp>
      <p:sp>
        <p:nvSpPr>
          <p:cNvPr id="20" name="Text 18"/>
          <p:cNvSpPr/>
          <p:nvPr/>
        </p:nvSpPr>
        <p:spPr>
          <a:xfrm>
            <a:off x="4908042" y="1892808"/>
            <a:ext cx="1271016" cy="365760"/>
          </a:xfrm>
          <a:prstGeom prst="rect">
            <a:avLst/>
          </a:prstGeom>
          <a:noFill/>
          <a:ln/>
        </p:spPr>
        <p:txBody>
          <a:bodyPr wrap="square" lIns="0" tIns="0" rIns="0" bIns="0" rtlCol="0" anchor="ctr"/>
          <a:lstStyle/>
          <a:p>
            <a:pPr algn="ctr" indent="0" marL="0">
              <a:buNone/>
            </a:pPr>
            <a:r>
              <a:rPr lang="en-US" sz="1250" b="1" dirty="0">
                <a:solidFill>
                  <a:srgbClr val="0F2D5F"/>
                </a:solidFill>
                <a:latin typeface="Calibri" pitchFamily="34" charset="0"/>
                <a:ea typeface="Calibri" pitchFamily="34" charset="-122"/>
                <a:cs typeface="Calibri" pitchFamily="34" charset="-120"/>
              </a:rPr>
              <a:t>2× IRFP250N</a:t>
            </a:r>
            <a:endParaRPr lang="en-US" sz="1250" dirty="0"/>
          </a:p>
        </p:txBody>
      </p:sp>
      <p:sp>
        <p:nvSpPr>
          <p:cNvPr id="21" name="Text 19"/>
          <p:cNvSpPr/>
          <p:nvPr/>
        </p:nvSpPr>
        <p:spPr>
          <a:xfrm>
            <a:off x="4908042" y="2258568"/>
            <a:ext cx="127101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MOSFET sink</a:t>
            </a:r>
            <a:endParaRPr lang="en-US" sz="1000" dirty="0"/>
          </a:p>
        </p:txBody>
      </p:sp>
      <p:sp>
        <p:nvSpPr>
          <p:cNvPr id="22" name="Shape 20"/>
          <p:cNvSpPr/>
          <p:nvPr/>
        </p:nvSpPr>
        <p:spPr>
          <a:xfrm>
            <a:off x="6297930" y="2240280"/>
            <a:ext cx="-80010" cy="0"/>
          </a:xfrm>
          <a:prstGeom prst="line">
            <a:avLst/>
          </a:prstGeom>
          <a:noFill/>
          <a:ln w="19050">
            <a:solidFill>
              <a:srgbClr val="0F2D5F"/>
            </a:solidFill>
            <a:prstDash val="solid"/>
            <a:tailEnd type="triangle"/>
          </a:ln>
        </p:spPr>
      </p:sp>
      <p:sp>
        <p:nvSpPr>
          <p:cNvPr id="23" name="Shape 21"/>
          <p:cNvSpPr/>
          <p:nvPr/>
        </p:nvSpPr>
        <p:spPr>
          <a:xfrm>
            <a:off x="6263640" y="1783080"/>
            <a:ext cx="1417320" cy="914400"/>
          </a:xfrm>
          <a:prstGeom prst="rect">
            <a:avLst/>
          </a:prstGeom>
          <a:solidFill>
            <a:srgbClr val="FFFFFF"/>
          </a:solidFill>
          <a:ln w="12700">
            <a:solidFill>
              <a:srgbClr val="0F2D5F"/>
            </a:solidFill>
            <a:prstDash val="solid"/>
          </a:ln>
        </p:spPr>
      </p:sp>
      <p:sp>
        <p:nvSpPr>
          <p:cNvPr id="24" name="Text 22"/>
          <p:cNvSpPr/>
          <p:nvPr/>
        </p:nvSpPr>
        <p:spPr>
          <a:xfrm>
            <a:off x="6336792" y="1892808"/>
            <a:ext cx="1271016" cy="365760"/>
          </a:xfrm>
          <a:prstGeom prst="rect">
            <a:avLst/>
          </a:prstGeom>
          <a:noFill/>
          <a:ln/>
        </p:spPr>
        <p:txBody>
          <a:bodyPr wrap="square" lIns="0" tIns="0" rIns="0" bIns="0" rtlCol="0" anchor="ctr"/>
          <a:lstStyle/>
          <a:p>
            <a:pPr algn="ctr" indent="0" marL="0">
              <a:buNone/>
            </a:pPr>
            <a:r>
              <a:rPr lang="en-US" sz="1250" b="1" dirty="0">
                <a:solidFill>
                  <a:srgbClr val="0F2D5F"/>
                </a:solidFill>
                <a:latin typeface="Calibri" pitchFamily="34" charset="0"/>
                <a:ea typeface="Calibri" pitchFamily="34" charset="-122"/>
                <a:cs typeface="Calibri" pitchFamily="34" charset="-120"/>
              </a:rPr>
              <a:t>4× 144 Ω shunt</a:t>
            </a:r>
            <a:endParaRPr lang="en-US" sz="1250" dirty="0"/>
          </a:p>
        </p:txBody>
      </p:sp>
      <p:sp>
        <p:nvSpPr>
          <p:cNvPr id="25" name="Text 23"/>
          <p:cNvSpPr/>
          <p:nvPr/>
        </p:nvSpPr>
        <p:spPr>
          <a:xfrm>
            <a:off x="6336792" y="2258568"/>
            <a:ext cx="1271016" cy="365760"/>
          </a:xfrm>
          <a:prstGeom prst="rect">
            <a:avLst/>
          </a:prstGeom>
          <a:noFill/>
          <a:ln/>
        </p:spPr>
        <p:txBody>
          <a:bodyPr wrap="square" lIns="0" tIns="0" rIns="0" bIns="0" rtlCol="0" anchor="ctr"/>
          <a:lstStyle/>
          <a:p>
            <a:pPr algn="ctr" indent="0" marL="0">
              <a:buNone/>
            </a:pPr>
            <a:r>
              <a:rPr lang="en-US" sz="1000" dirty="0">
                <a:solidFill>
                  <a:srgbClr val="445673"/>
                </a:solidFill>
                <a:latin typeface="Calibri" pitchFamily="34" charset="0"/>
                <a:ea typeface="Calibri" pitchFamily="34" charset="-122"/>
                <a:cs typeface="Calibri" pitchFamily="34" charset="-120"/>
              </a:rPr>
              <a:t>current feedback</a:t>
            </a:r>
            <a:endParaRPr lang="en-US" sz="1000" dirty="0"/>
          </a:p>
        </p:txBody>
      </p:sp>
      <p:sp>
        <p:nvSpPr>
          <p:cNvPr id="26" name="Shape 24"/>
          <p:cNvSpPr/>
          <p:nvPr/>
        </p:nvSpPr>
        <p:spPr>
          <a:xfrm>
            <a:off x="3966210" y="2862072"/>
            <a:ext cx="3143250" cy="0"/>
          </a:xfrm>
          <a:prstGeom prst="line">
            <a:avLst/>
          </a:prstGeom>
          <a:noFill/>
          <a:ln w="19050">
            <a:solidFill>
              <a:srgbClr val="F2A900"/>
            </a:solidFill>
            <a:prstDash val="dash"/>
            <a:headEnd type="triangle"/>
          </a:ln>
        </p:spPr>
      </p:sp>
      <p:sp>
        <p:nvSpPr>
          <p:cNvPr id="27" name="Text 25"/>
          <p:cNvSpPr/>
          <p:nvPr/>
        </p:nvSpPr>
        <p:spPr>
          <a:xfrm>
            <a:off x="3394710" y="2898648"/>
            <a:ext cx="2743200" cy="274320"/>
          </a:xfrm>
          <a:prstGeom prst="rect">
            <a:avLst/>
          </a:prstGeom>
          <a:noFill/>
          <a:ln/>
        </p:spPr>
        <p:txBody>
          <a:bodyPr wrap="square" lIns="0" tIns="0" rIns="0" bIns="0" rtlCol="0" anchor="ctr"/>
          <a:lstStyle/>
          <a:p>
            <a:pPr algn="ctr" indent="0" marL="0">
              <a:buNone/>
            </a:pPr>
            <a:r>
              <a:rPr lang="en-US" sz="1000" i="1" dirty="0">
                <a:solidFill>
                  <a:srgbClr val="F2A900"/>
                </a:solidFill>
                <a:latin typeface="Calibri" pitchFamily="34" charset="0"/>
                <a:ea typeface="Calibri" pitchFamily="34" charset="-122"/>
                <a:cs typeface="Calibri" pitchFamily="34" charset="-120"/>
              </a:rPr>
              <a:t>feedback to op-amp</a:t>
            </a:r>
            <a:endParaRPr lang="en-US" sz="1000" dirty="0"/>
          </a:p>
        </p:txBody>
      </p:sp>
      <p:sp>
        <p:nvSpPr>
          <p:cNvPr id="28" name="Shape 26"/>
          <p:cNvSpPr/>
          <p:nvPr/>
        </p:nvSpPr>
        <p:spPr>
          <a:xfrm>
            <a:off x="548640" y="3337560"/>
            <a:ext cx="7132320" cy="960120"/>
          </a:xfrm>
          <a:prstGeom prst="rect">
            <a:avLst/>
          </a:prstGeom>
          <a:solidFill>
            <a:srgbClr val="FBEDED"/>
          </a:solidFill>
          <a:ln w="9525">
            <a:solidFill>
              <a:srgbClr val="B83232"/>
            </a:solidFill>
            <a:prstDash val="solid"/>
          </a:ln>
        </p:spPr>
      </p:sp>
      <p:sp>
        <p:nvSpPr>
          <p:cNvPr id="29" name="Text 27"/>
          <p:cNvSpPr/>
          <p:nvPr/>
        </p:nvSpPr>
        <p:spPr>
          <a:xfrm>
            <a:off x="731520" y="3429000"/>
            <a:ext cx="2743200" cy="320040"/>
          </a:xfrm>
          <a:prstGeom prst="rect">
            <a:avLst/>
          </a:prstGeom>
          <a:noFill/>
          <a:ln/>
        </p:spPr>
        <p:txBody>
          <a:bodyPr wrap="square" lIns="0" tIns="0" rIns="0" bIns="0" rtlCol="0" anchor="ctr"/>
          <a:lstStyle/>
          <a:p>
            <a:pPr indent="0" marL="0">
              <a:buNone/>
            </a:pPr>
            <a:r>
              <a:rPr lang="en-US" sz="1200" b="1" spc="200" kern="0" dirty="0">
                <a:solidFill>
                  <a:srgbClr val="B83232"/>
                </a:solidFill>
                <a:latin typeface="Calibri" pitchFamily="34" charset="0"/>
                <a:ea typeface="Calibri" pitchFamily="34" charset="-122"/>
                <a:cs typeface="Calibri" pitchFamily="34" charset="-120"/>
              </a:rPr>
              <a:t>Why the spec changed</a:t>
            </a:r>
            <a:endParaRPr lang="en-US" sz="1200" dirty="0"/>
          </a:p>
        </p:txBody>
      </p:sp>
      <p:sp>
        <p:nvSpPr>
          <p:cNvPr id="30" name="Text 28"/>
          <p:cNvSpPr/>
          <p:nvPr/>
        </p:nvSpPr>
        <p:spPr>
          <a:xfrm>
            <a:off x="731520" y="3703320"/>
            <a:ext cx="6766560" cy="59436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Initial bring-up triggered a visible arc at the XT60 and destroyed the TVS diode. The original 0.5 W resistor bank was inadequate for the target current. Nick redesigned the load bank with 10 W-rated parts, and the target was lowered from 5 A to 1 A at 36 V (Test 6, iter. 2).</a:t>
            </a:r>
            <a:endParaRPr lang="en-US" sz="1150" dirty="0"/>
          </a:p>
        </p:txBody>
      </p:sp>
      <p:sp>
        <p:nvSpPr>
          <p:cNvPr id="31" name="Text 29"/>
          <p:cNvSpPr/>
          <p:nvPr/>
        </p:nvSpPr>
        <p:spPr>
          <a:xfrm>
            <a:off x="7955280" y="1691640"/>
            <a:ext cx="3657600" cy="365760"/>
          </a:xfrm>
          <a:prstGeom prst="rect">
            <a:avLst/>
          </a:prstGeom>
          <a:noFill/>
          <a:ln/>
        </p:spPr>
        <p:txBody>
          <a:bodyPr wrap="square" lIns="0" tIns="0" rIns="0" bIns="0" rtlCol="0" anchor="ctr"/>
          <a:lstStyle/>
          <a:p>
            <a:pPr indent="0" marL="0">
              <a:buNone/>
            </a:pPr>
            <a:r>
              <a:rPr lang="en-US" sz="1600" b="1" dirty="0">
                <a:solidFill>
                  <a:srgbClr val="0F2D5F"/>
                </a:solidFill>
                <a:latin typeface="Calibri" pitchFamily="34" charset="0"/>
                <a:ea typeface="Calibri" pitchFamily="34" charset="-122"/>
                <a:cs typeface="Calibri" pitchFamily="34" charset="-120"/>
              </a:rPr>
              <a:t>Measured performance</a:t>
            </a:r>
            <a:endParaRPr lang="en-US" sz="1600" dirty="0"/>
          </a:p>
        </p:txBody>
      </p:sp>
      <p:sp>
        <p:nvSpPr>
          <p:cNvPr id="32" name="Text 30"/>
          <p:cNvSpPr/>
          <p:nvPr/>
        </p:nvSpPr>
        <p:spPr>
          <a:xfrm>
            <a:off x="7955280" y="2103120"/>
            <a:ext cx="365760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1 A at 36 V</a:t>
            </a:r>
            <a:endParaRPr lang="en-US" sz="1300" dirty="0"/>
          </a:p>
        </p:txBody>
      </p:sp>
      <p:sp>
        <p:nvSpPr>
          <p:cNvPr id="33" name="Text 31"/>
          <p:cNvSpPr/>
          <p:nvPr/>
        </p:nvSpPr>
        <p:spPr>
          <a:xfrm>
            <a:off x="7955280" y="2423160"/>
            <a:ext cx="3657600" cy="54864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Sustained controlled-current sink, no thermal shutdown, no component failure.</a:t>
            </a:r>
            <a:endParaRPr lang="en-US" sz="1150" dirty="0"/>
          </a:p>
        </p:txBody>
      </p:sp>
      <p:sp>
        <p:nvSpPr>
          <p:cNvPr id="34" name="Text 32"/>
          <p:cNvSpPr/>
          <p:nvPr/>
        </p:nvSpPr>
        <p:spPr>
          <a:xfrm>
            <a:off x="7955280" y="3063240"/>
            <a:ext cx="365760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Linear DAC mapping</a:t>
            </a:r>
            <a:endParaRPr lang="en-US" sz="1300" dirty="0"/>
          </a:p>
        </p:txBody>
      </p:sp>
      <p:sp>
        <p:nvSpPr>
          <p:cNvPr id="35" name="Text 33"/>
          <p:cNvSpPr/>
          <p:nvPr/>
        </p:nvSpPr>
        <p:spPr>
          <a:xfrm>
            <a:off x="7955280" y="3383280"/>
            <a:ext cx="3657600" cy="54864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Current scales linearly with the DAC code from 0 to full scale.</a:t>
            </a:r>
            <a:endParaRPr lang="en-US" sz="1150" dirty="0"/>
          </a:p>
        </p:txBody>
      </p:sp>
      <p:sp>
        <p:nvSpPr>
          <p:cNvPr id="36" name="Text 34"/>
          <p:cNvSpPr/>
          <p:nvPr/>
        </p:nvSpPr>
        <p:spPr>
          <a:xfrm>
            <a:off x="7955280" y="4023360"/>
            <a:ext cx="365760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Thermal control</a:t>
            </a:r>
            <a:endParaRPr lang="en-US" sz="1300" dirty="0"/>
          </a:p>
        </p:txBody>
      </p:sp>
      <p:sp>
        <p:nvSpPr>
          <p:cNvPr id="37" name="Text 35"/>
          <p:cNvSpPr/>
          <p:nvPr/>
        </p:nvSpPr>
        <p:spPr>
          <a:xfrm>
            <a:off x="7955280" y="4343400"/>
            <a:ext cx="3657600" cy="54864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NTC + open-loop PWM fan ramps from 20 % at 25 °C to 100 % at 45 °C.</a:t>
            </a:r>
            <a:endParaRPr lang="en-US" sz="1150" dirty="0"/>
          </a:p>
        </p:txBody>
      </p:sp>
      <p:sp>
        <p:nvSpPr>
          <p:cNvPr id="38" name="Text 36"/>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7E8DA6"/>
                </a:solidFill>
                <a:latin typeface="Calibri" pitchFamily="34" charset="0"/>
                <a:ea typeface="Calibri" pitchFamily="34" charset="-122"/>
                <a:cs typeface="Calibri" pitchFamily="34" charset="-120"/>
              </a:rPr>
              <a:t>Sources: EE 175AB Final Report §5.2.2, §8.1.13, §11.6 (E-Load redesign + current-sink validation).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sp>
      <p:sp>
        <p:nvSpPr>
          <p:cNvPr id="3" name="Shape 1"/>
          <p:cNvSpPr/>
          <p:nvPr/>
        </p:nvSpPr>
        <p:spPr>
          <a:xfrm>
            <a:off x="548640" y="6446520"/>
            <a:ext cx="11064240" cy="0"/>
          </a:xfrm>
          <a:prstGeom prst="line">
            <a:avLst/>
          </a:prstGeom>
          <a:noFill/>
          <a:ln w="9525">
            <a:solidFill>
              <a:srgbClr val="DCE3EE"/>
            </a:solidFill>
            <a:prstDash val="solid"/>
          </a:ln>
        </p:spPr>
      </p:sp>
      <p:sp>
        <p:nvSpPr>
          <p:cNvPr id="4" name="Text 2"/>
          <p:cNvSpPr/>
          <p:nvPr/>
        </p:nvSpPr>
        <p:spPr>
          <a:xfrm>
            <a:off x="548640" y="6537960"/>
            <a:ext cx="5486400" cy="274320"/>
          </a:xfrm>
          <a:prstGeom prst="rect">
            <a:avLst/>
          </a:prstGeom>
          <a:noFill/>
          <a:ln/>
        </p:spPr>
        <p:txBody>
          <a:bodyPr wrap="square" lIns="0" tIns="0" rIns="0" bIns="0" rtlCol="0" anchor="ctr"/>
          <a:lstStyle/>
          <a:p>
            <a:pPr indent="0" marL="0">
              <a:buNone/>
            </a:pPr>
            <a:r>
              <a:rPr lang="en-US" sz="1000" b="1" dirty="0">
                <a:solidFill>
                  <a:srgbClr val="0F2D5F"/>
                </a:solidFill>
                <a:latin typeface="Calibri" pitchFamily="34" charset="0"/>
                <a:ea typeface="Calibri" pitchFamily="34" charset="-122"/>
                <a:cs typeface="Calibri" pitchFamily="34" charset="-120"/>
              </a:rPr>
              <a:t>Kaushik</a:t>
            </a:r>
            <a:pPr indent="0" marL="0">
              <a:buNone/>
            </a:pPr>
            <a:r>
              <a:rPr lang="en-US" sz="1000" dirty="0">
                <a:solidFill>
                  <a:srgbClr val="7E8DA6"/>
                </a:solidFill>
                <a:latin typeface="Calibri" pitchFamily="34" charset="0"/>
                <a:ea typeface="Calibri" pitchFamily="34" charset="-122"/>
                <a:cs typeface="Calibri" pitchFamily="34" charset="-120"/>
              </a:rPr>
              <a:t>  ·  </a:t>
            </a:r>
            <a:pPr indent="0" marL="0">
              <a:buNone/>
            </a:pPr>
            <a:r>
              <a:rPr lang="en-US" sz="1000" dirty="0">
                <a:solidFill>
                  <a:srgbClr val="445673"/>
                </a:solidFill>
                <a:latin typeface="Calibri" pitchFamily="34" charset="0"/>
                <a:ea typeface="Calibri" pitchFamily="34" charset="-122"/>
                <a:cs typeface="Calibri" pitchFamily="34" charset="-120"/>
              </a:rPr>
              <a:t>Software stack</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algn="r" indent="0" marL="0">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pPr algn="r" indent="0" marL="0">
              <a:buNone/>
            </a:pPr>
            <a:r>
              <a:rPr lang="en-US" sz="1000" b="1" dirty="0">
                <a:solidFill>
                  <a:srgbClr val="0F2D5F"/>
                </a:solidFill>
                <a:latin typeface="Calibri" pitchFamily="34" charset="0"/>
                <a:ea typeface="Calibri" pitchFamily="34" charset="-122"/>
                <a:cs typeface="Calibri" pitchFamily="34" charset="-120"/>
              </a:rPr>
              <a:t>   6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indent="0" marL="0">
              <a:buNone/>
            </a:pPr>
            <a:r>
              <a:rPr lang="en-US" sz="2200" b="1" dirty="0">
                <a:solidFill>
                  <a:srgbClr val="0F2D5F"/>
                </a:solidFill>
                <a:latin typeface="Calibri" pitchFamily="34" charset="0"/>
                <a:ea typeface="Calibri" pitchFamily="34" charset="-122"/>
                <a:cs typeface="Calibri" pitchFamily="34" charset="-120"/>
              </a:rPr>
              <a:t>Three software layers stream live telemetry from STM32 firmware to a</a:t>
            </a:r>
            <a:endParaRPr lang="en-US" sz="2200" dirty="0"/>
          </a:p>
          <a:p>
            <a:pPr indent="0" marL="0">
              <a:buNone/>
            </a:pPr>
            <a:r>
              <a:rPr lang="en-US" sz="2200" b="1" dirty="0">
                <a:solidFill>
                  <a:srgbClr val="0F2D5F"/>
                </a:solidFill>
                <a:latin typeface="Calibri" pitchFamily="34" charset="0"/>
                <a:ea typeface="Calibri" pitchFamily="34" charset="-122"/>
                <a:cs typeface="Calibri" pitchFamily="34" charset="-120"/>
              </a:rPr>
              <a:t>Three.js scene — no HTTP, no network, all on the operator's laptop.</a:t>
            </a:r>
            <a:endParaRPr lang="en-US" sz="2200" dirty="0"/>
          </a:p>
        </p:txBody>
      </p:sp>
      <p:sp>
        <p:nvSpPr>
          <p:cNvPr id="7" name="Shape 5"/>
          <p:cNvSpPr/>
          <p:nvPr/>
        </p:nvSpPr>
        <p:spPr>
          <a:xfrm>
            <a:off x="548640" y="1691640"/>
            <a:ext cx="777240" cy="1325880"/>
          </a:xfrm>
          <a:prstGeom prst="rect">
            <a:avLst/>
          </a:prstGeom>
          <a:solidFill>
            <a:srgbClr val="0F2D5F"/>
          </a:solidFill>
          <a:ln w="12700">
            <a:solidFill>
              <a:srgbClr val="0F2D5F"/>
            </a:solidFill>
            <a:prstDash val="solid"/>
          </a:ln>
        </p:spPr>
      </p:sp>
      <p:sp>
        <p:nvSpPr>
          <p:cNvPr id="8" name="Text 6"/>
          <p:cNvSpPr/>
          <p:nvPr/>
        </p:nvSpPr>
        <p:spPr>
          <a:xfrm>
            <a:off x="548640" y="1691640"/>
            <a:ext cx="777240" cy="1325880"/>
          </a:xfrm>
          <a:prstGeom prst="rect">
            <a:avLst/>
          </a:prstGeom>
          <a:noFill/>
          <a:ln/>
        </p:spPr>
        <p:txBody>
          <a:bodyPr wrap="square" lIns="0" tIns="0" rIns="0" bIns="0" rtlCol="0" anchor="ctr"/>
          <a:lstStyle/>
          <a:p>
            <a:pPr algn="ctr" indent="0" marL="0">
              <a:buNone/>
            </a:pPr>
            <a:r>
              <a:rPr lang="en-US" sz="4000" b="1" dirty="0">
                <a:solidFill>
                  <a:srgbClr val="F2A900"/>
                </a:solidFill>
                <a:latin typeface="Calibri" pitchFamily="34" charset="0"/>
                <a:ea typeface="Calibri" pitchFamily="34" charset="-122"/>
                <a:cs typeface="Calibri" pitchFamily="34" charset="-120"/>
              </a:rPr>
              <a:t>1</a:t>
            </a:r>
            <a:endParaRPr lang="en-US" sz="4000" dirty="0"/>
          </a:p>
        </p:txBody>
      </p:sp>
      <p:sp>
        <p:nvSpPr>
          <p:cNvPr id="9" name="Shape 7"/>
          <p:cNvSpPr/>
          <p:nvPr/>
        </p:nvSpPr>
        <p:spPr>
          <a:xfrm>
            <a:off x="1325880" y="1691640"/>
            <a:ext cx="5989320" cy="1325880"/>
          </a:xfrm>
          <a:prstGeom prst="rect">
            <a:avLst/>
          </a:prstGeom>
          <a:solidFill>
            <a:srgbClr val="FFFFFF"/>
          </a:solidFill>
          <a:ln w="9525">
            <a:solidFill>
              <a:srgbClr val="DCE3EE"/>
            </a:solidFill>
            <a:prstDash val="solid"/>
          </a:ln>
        </p:spPr>
      </p:sp>
      <p:sp>
        <p:nvSpPr>
          <p:cNvPr id="10" name="Text 8"/>
          <p:cNvSpPr/>
          <p:nvPr/>
        </p:nvSpPr>
        <p:spPr>
          <a:xfrm>
            <a:off x="1508760" y="1801368"/>
            <a:ext cx="5760720" cy="365760"/>
          </a:xfrm>
          <a:prstGeom prst="rect">
            <a:avLst/>
          </a:prstGeom>
          <a:noFill/>
          <a:ln/>
        </p:spPr>
        <p:txBody>
          <a:bodyPr wrap="square" lIns="0" tIns="0" rIns="0" bIns="0" rtlCol="0" anchor="ctr"/>
          <a:lstStyle/>
          <a:p>
            <a:pPr indent="0" marL="0">
              <a:buNone/>
            </a:pPr>
            <a:r>
              <a:rPr lang="en-US" sz="1500" b="1" dirty="0">
                <a:solidFill>
                  <a:srgbClr val="0F2D5F"/>
                </a:solidFill>
                <a:latin typeface="Calibri" pitchFamily="34" charset="0"/>
                <a:ea typeface="Calibri" pitchFamily="34" charset="-122"/>
                <a:cs typeface="Calibri" pitchFamily="34" charset="-120"/>
              </a:rPr>
              <a:t>STM32 firmware (C / HAL)</a:t>
            </a:r>
            <a:endParaRPr lang="en-US" sz="1500" dirty="0"/>
          </a:p>
        </p:txBody>
      </p:sp>
      <p:sp>
        <p:nvSpPr>
          <p:cNvPr id="11" name="Text 9"/>
          <p:cNvSpPr/>
          <p:nvPr/>
        </p:nvSpPr>
        <p:spPr>
          <a:xfrm>
            <a:off x="1508760" y="2194560"/>
            <a:ext cx="5760720" cy="731520"/>
          </a:xfrm>
          <a:prstGeom prst="rect">
            <a:avLst/>
          </a:prstGeom>
          <a:noFill/>
          <a:ln/>
        </p:spPr>
        <p:txBody>
          <a:bodyPr wrap="square" lIns="0" tIns="0" rIns="0" bIns="0" rtlCol="0" anchor="ctr"/>
          <a:lstStyle/>
          <a:p>
            <a:pPr indent="0" marL="0">
              <a:buNone/>
            </a:pPr>
            <a:r>
              <a:rPr lang="en-US" sz="1200" dirty="0">
                <a:solidFill>
                  <a:srgbClr val="0A1A33"/>
                </a:solidFill>
                <a:latin typeface="Calibri" pitchFamily="34" charset="0"/>
                <a:ea typeface="Calibri" pitchFamily="34" charset="-122"/>
                <a:cs typeface="Calibri" pitchFamily="34" charset="-120"/>
              </a:rPr>
              <a:t>I²C polling of BQ76930 over DMA · 100-byte CRC-bounded telemetry frames · USB CDC at 115200 baud · ALERT IRQ for sub-cycle faults.</a:t>
            </a:r>
            <a:endParaRPr lang="en-US" sz="1200" dirty="0"/>
          </a:p>
        </p:txBody>
      </p:sp>
      <p:sp>
        <p:nvSpPr>
          <p:cNvPr id="12" name="Shape 10"/>
          <p:cNvSpPr/>
          <p:nvPr/>
        </p:nvSpPr>
        <p:spPr>
          <a:xfrm>
            <a:off x="548640" y="3127248"/>
            <a:ext cx="777240" cy="1325880"/>
          </a:xfrm>
          <a:prstGeom prst="rect">
            <a:avLst/>
          </a:prstGeom>
          <a:solidFill>
            <a:srgbClr val="0F2D5F"/>
          </a:solidFill>
          <a:ln w="12700">
            <a:solidFill>
              <a:srgbClr val="0F2D5F"/>
            </a:solidFill>
            <a:prstDash val="solid"/>
          </a:ln>
        </p:spPr>
      </p:sp>
      <p:sp>
        <p:nvSpPr>
          <p:cNvPr id="13" name="Text 11"/>
          <p:cNvSpPr/>
          <p:nvPr/>
        </p:nvSpPr>
        <p:spPr>
          <a:xfrm>
            <a:off x="548640" y="3127248"/>
            <a:ext cx="777240" cy="1325880"/>
          </a:xfrm>
          <a:prstGeom prst="rect">
            <a:avLst/>
          </a:prstGeom>
          <a:noFill/>
          <a:ln/>
        </p:spPr>
        <p:txBody>
          <a:bodyPr wrap="square" lIns="0" tIns="0" rIns="0" bIns="0" rtlCol="0" anchor="ctr"/>
          <a:lstStyle/>
          <a:p>
            <a:pPr algn="ctr" indent="0" marL="0">
              <a:buNone/>
            </a:pPr>
            <a:r>
              <a:rPr lang="en-US" sz="4000" b="1" dirty="0">
                <a:solidFill>
                  <a:srgbClr val="F2A900"/>
                </a:solidFill>
                <a:latin typeface="Calibri" pitchFamily="34" charset="0"/>
                <a:ea typeface="Calibri" pitchFamily="34" charset="-122"/>
                <a:cs typeface="Calibri" pitchFamily="34" charset="-120"/>
              </a:rPr>
              <a:t>2</a:t>
            </a:r>
            <a:endParaRPr lang="en-US" sz="4000" dirty="0"/>
          </a:p>
        </p:txBody>
      </p:sp>
      <p:sp>
        <p:nvSpPr>
          <p:cNvPr id="14" name="Shape 12"/>
          <p:cNvSpPr/>
          <p:nvPr/>
        </p:nvSpPr>
        <p:spPr>
          <a:xfrm>
            <a:off x="1325880" y="3127248"/>
            <a:ext cx="5989320" cy="1325880"/>
          </a:xfrm>
          <a:prstGeom prst="rect">
            <a:avLst/>
          </a:prstGeom>
          <a:solidFill>
            <a:srgbClr val="FFFFFF"/>
          </a:solidFill>
          <a:ln w="9525">
            <a:solidFill>
              <a:srgbClr val="DCE3EE"/>
            </a:solidFill>
            <a:prstDash val="solid"/>
          </a:ln>
        </p:spPr>
      </p:sp>
      <p:sp>
        <p:nvSpPr>
          <p:cNvPr id="15" name="Text 13"/>
          <p:cNvSpPr/>
          <p:nvPr/>
        </p:nvSpPr>
        <p:spPr>
          <a:xfrm>
            <a:off x="1508760" y="3236976"/>
            <a:ext cx="5760720" cy="365760"/>
          </a:xfrm>
          <a:prstGeom prst="rect">
            <a:avLst/>
          </a:prstGeom>
          <a:noFill/>
          <a:ln/>
        </p:spPr>
        <p:txBody>
          <a:bodyPr wrap="square" lIns="0" tIns="0" rIns="0" bIns="0" rtlCol="0" anchor="ctr"/>
          <a:lstStyle/>
          <a:p>
            <a:pPr indent="0" marL="0">
              <a:buNone/>
            </a:pPr>
            <a:r>
              <a:rPr lang="en-US" sz="1500" b="1" dirty="0">
                <a:solidFill>
                  <a:srgbClr val="0F2D5F"/>
                </a:solidFill>
                <a:latin typeface="Calibri" pitchFamily="34" charset="0"/>
                <a:ea typeface="Calibri" pitchFamily="34" charset="-122"/>
                <a:cs typeface="Calibri" pitchFamily="34" charset="-120"/>
              </a:rPr>
              <a:t>Python backend (PyQt6)</a:t>
            </a:r>
            <a:endParaRPr lang="en-US" sz="1500" dirty="0"/>
          </a:p>
        </p:txBody>
      </p:sp>
      <p:sp>
        <p:nvSpPr>
          <p:cNvPr id="16" name="Text 14"/>
          <p:cNvSpPr/>
          <p:nvPr/>
        </p:nvSpPr>
        <p:spPr>
          <a:xfrm>
            <a:off x="1508760" y="3630168"/>
            <a:ext cx="5760720" cy="731520"/>
          </a:xfrm>
          <a:prstGeom prst="rect">
            <a:avLst/>
          </a:prstGeom>
          <a:noFill/>
          <a:ln/>
        </p:spPr>
        <p:txBody>
          <a:bodyPr wrap="square" lIns="0" tIns="0" rIns="0" bIns="0" rtlCol="0" anchor="ctr"/>
          <a:lstStyle/>
          <a:p>
            <a:pPr indent="0" marL="0">
              <a:buNone/>
            </a:pPr>
            <a:r>
              <a:rPr lang="en-US" sz="1200" dirty="0">
                <a:solidFill>
                  <a:srgbClr val="0A1A33"/>
                </a:solidFill>
                <a:latin typeface="Calibri" pitchFamily="34" charset="0"/>
                <a:ea typeface="Calibri" pitchFamily="34" charset="-122"/>
                <a:cs typeface="Calibri" pitchFamily="34" charset="-120"/>
              </a:rPr>
              <a:t>PySerial worker per virtual COM port · auto-reconnect on USB drop · telemetry parser builds full snapshots before forwarding · QWebChannel bridges Python → JavaScript.</a:t>
            </a:r>
            <a:endParaRPr lang="en-US" sz="1200" dirty="0"/>
          </a:p>
        </p:txBody>
      </p:sp>
      <p:sp>
        <p:nvSpPr>
          <p:cNvPr id="17" name="Shape 15"/>
          <p:cNvSpPr/>
          <p:nvPr/>
        </p:nvSpPr>
        <p:spPr>
          <a:xfrm>
            <a:off x="548640" y="4562856"/>
            <a:ext cx="777240" cy="1325880"/>
          </a:xfrm>
          <a:prstGeom prst="rect">
            <a:avLst/>
          </a:prstGeom>
          <a:solidFill>
            <a:srgbClr val="0F2D5F"/>
          </a:solidFill>
          <a:ln w="12700">
            <a:solidFill>
              <a:srgbClr val="0F2D5F"/>
            </a:solidFill>
            <a:prstDash val="solid"/>
          </a:ln>
        </p:spPr>
      </p:sp>
      <p:sp>
        <p:nvSpPr>
          <p:cNvPr id="18" name="Text 16"/>
          <p:cNvSpPr/>
          <p:nvPr/>
        </p:nvSpPr>
        <p:spPr>
          <a:xfrm>
            <a:off x="548640" y="4562856"/>
            <a:ext cx="777240" cy="1325880"/>
          </a:xfrm>
          <a:prstGeom prst="rect">
            <a:avLst/>
          </a:prstGeom>
          <a:noFill/>
          <a:ln/>
        </p:spPr>
        <p:txBody>
          <a:bodyPr wrap="square" lIns="0" tIns="0" rIns="0" bIns="0" rtlCol="0" anchor="ctr"/>
          <a:lstStyle/>
          <a:p>
            <a:pPr algn="ctr" indent="0" marL="0">
              <a:buNone/>
            </a:pPr>
            <a:r>
              <a:rPr lang="en-US" sz="4000" b="1" dirty="0">
                <a:solidFill>
                  <a:srgbClr val="F2A900"/>
                </a:solidFill>
                <a:latin typeface="Calibri" pitchFamily="34" charset="0"/>
                <a:ea typeface="Calibri" pitchFamily="34" charset="-122"/>
                <a:cs typeface="Calibri" pitchFamily="34" charset="-120"/>
              </a:rPr>
              <a:t>3</a:t>
            </a:r>
            <a:endParaRPr lang="en-US" sz="4000" dirty="0"/>
          </a:p>
        </p:txBody>
      </p:sp>
      <p:sp>
        <p:nvSpPr>
          <p:cNvPr id="19" name="Shape 17"/>
          <p:cNvSpPr/>
          <p:nvPr/>
        </p:nvSpPr>
        <p:spPr>
          <a:xfrm>
            <a:off x="1325880" y="4562856"/>
            <a:ext cx="5989320" cy="1325880"/>
          </a:xfrm>
          <a:prstGeom prst="rect">
            <a:avLst/>
          </a:prstGeom>
          <a:solidFill>
            <a:srgbClr val="FFFFFF"/>
          </a:solidFill>
          <a:ln w="9525">
            <a:solidFill>
              <a:srgbClr val="DCE3EE"/>
            </a:solidFill>
            <a:prstDash val="solid"/>
          </a:ln>
        </p:spPr>
      </p:sp>
      <p:sp>
        <p:nvSpPr>
          <p:cNvPr id="20" name="Text 18"/>
          <p:cNvSpPr/>
          <p:nvPr/>
        </p:nvSpPr>
        <p:spPr>
          <a:xfrm>
            <a:off x="1508760" y="4672584"/>
            <a:ext cx="5760720" cy="365760"/>
          </a:xfrm>
          <a:prstGeom prst="rect">
            <a:avLst/>
          </a:prstGeom>
          <a:noFill/>
          <a:ln/>
        </p:spPr>
        <p:txBody>
          <a:bodyPr wrap="square" lIns="0" tIns="0" rIns="0" bIns="0" rtlCol="0" anchor="ctr"/>
          <a:lstStyle/>
          <a:p>
            <a:pPr indent="0" marL="0">
              <a:buNone/>
            </a:pPr>
            <a:r>
              <a:rPr lang="en-US" sz="1500" b="1" dirty="0">
                <a:solidFill>
                  <a:srgbClr val="0F2D5F"/>
                </a:solidFill>
                <a:latin typeface="Calibri" pitchFamily="34" charset="0"/>
                <a:ea typeface="Calibri" pitchFamily="34" charset="-122"/>
                <a:cs typeface="Calibri" pitchFamily="34" charset="-120"/>
              </a:rPr>
              <a:t>Qt WebEngine frontend</a:t>
            </a:r>
            <a:endParaRPr lang="en-US" sz="1500" dirty="0"/>
          </a:p>
        </p:txBody>
      </p:sp>
      <p:sp>
        <p:nvSpPr>
          <p:cNvPr id="21" name="Text 19"/>
          <p:cNvSpPr/>
          <p:nvPr/>
        </p:nvSpPr>
        <p:spPr>
          <a:xfrm>
            <a:off x="1508760" y="5065776"/>
            <a:ext cx="5760720" cy="731520"/>
          </a:xfrm>
          <a:prstGeom prst="rect">
            <a:avLst/>
          </a:prstGeom>
          <a:noFill/>
          <a:ln/>
        </p:spPr>
        <p:txBody>
          <a:bodyPr wrap="square" lIns="0" tIns="0" rIns="0" bIns="0" rtlCol="0" anchor="ctr"/>
          <a:lstStyle/>
          <a:p>
            <a:pPr indent="0" marL="0">
              <a:buNone/>
            </a:pPr>
            <a:r>
              <a:rPr lang="en-US" sz="1200" dirty="0">
                <a:solidFill>
                  <a:srgbClr val="0A1A33"/>
                </a:solidFill>
                <a:latin typeface="Calibri" pitchFamily="34" charset="0"/>
                <a:ea typeface="Calibri" pitchFamily="34" charset="-122"/>
                <a:cs typeface="Calibri" pitchFamily="34" charset="-120"/>
              </a:rPr>
              <a:t>Local HTML / JS hosted in WebEngine · BMS tab (10-cell grid + Three.js), E-Load tab (DAC slider + Three.js), shared Three.js + GSAP layer for transitions.</a:t>
            </a:r>
            <a:endParaRPr lang="en-US" sz="1200" dirty="0"/>
          </a:p>
        </p:txBody>
      </p:sp>
      <p:sp>
        <p:nvSpPr>
          <p:cNvPr id="22" name="Text 20"/>
          <p:cNvSpPr/>
          <p:nvPr/>
        </p:nvSpPr>
        <p:spPr>
          <a:xfrm>
            <a:off x="7589520" y="1600200"/>
            <a:ext cx="4023360" cy="365760"/>
          </a:xfrm>
          <a:prstGeom prst="rect">
            <a:avLst/>
          </a:prstGeom>
          <a:noFill/>
          <a:ln/>
        </p:spPr>
        <p:txBody>
          <a:bodyPr wrap="square" lIns="0" tIns="0" rIns="0" bIns="0" rtlCol="0" anchor="ctr"/>
          <a:lstStyle/>
          <a:p>
            <a:pPr indent="0" marL="0">
              <a:buNone/>
            </a:pPr>
            <a:r>
              <a:rPr lang="en-US" sz="1600" b="1" dirty="0">
                <a:solidFill>
                  <a:srgbClr val="0F2D5F"/>
                </a:solidFill>
                <a:latin typeface="Calibri" pitchFamily="34" charset="0"/>
                <a:ea typeface="Calibri" pitchFamily="34" charset="-122"/>
                <a:cs typeface="Calibri" pitchFamily="34" charset="-120"/>
              </a:rPr>
              <a:t>Why this stack</a:t>
            </a:r>
            <a:endParaRPr lang="en-US" sz="1600" dirty="0"/>
          </a:p>
        </p:txBody>
      </p:sp>
      <p:sp>
        <p:nvSpPr>
          <p:cNvPr id="23" name="Text 21"/>
          <p:cNvSpPr/>
          <p:nvPr/>
        </p:nvSpPr>
        <p:spPr>
          <a:xfrm>
            <a:off x="7589520" y="2011680"/>
            <a:ext cx="402336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USB CDC over CAN</a:t>
            </a:r>
            <a:endParaRPr lang="en-US" sz="1300" dirty="0"/>
          </a:p>
        </p:txBody>
      </p:sp>
      <p:sp>
        <p:nvSpPr>
          <p:cNvPr id="24" name="Text 22"/>
          <p:cNvSpPr/>
          <p:nvPr/>
        </p:nvSpPr>
        <p:spPr>
          <a:xfrm>
            <a:off x="7589520" y="2331720"/>
            <a:ext cx="4023360" cy="82296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No external transceivers or proprietary adapters; readable from any serial terminal.</a:t>
            </a:r>
            <a:endParaRPr lang="en-US" sz="1150" dirty="0"/>
          </a:p>
        </p:txBody>
      </p:sp>
      <p:sp>
        <p:nvSpPr>
          <p:cNvPr id="25" name="Text 23"/>
          <p:cNvSpPr/>
          <p:nvPr/>
        </p:nvSpPr>
        <p:spPr>
          <a:xfrm>
            <a:off x="7589520" y="3337560"/>
            <a:ext cx="402336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PyQt6 over Electron</a:t>
            </a:r>
            <a:endParaRPr lang="en-US" sz="1300" dirty="0"/>
          </a:p>
        </p:txBody>
      </p:sp>
      <p:sp>
        <p:nvSpPr>
          <p:cNvPr id="26" name="Text 24"/>
          <p:cNvSpPr/>
          <p:nvPr/>
        </p:nvSpPr>
        <p:spPr>
          <a:xfrm>
            <a:off x="7589520" y="3657600"/>
            <a:ext cx="4023360" cy="82296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WebEngine gives us Three.js and GSAP without shipping Chromium and a network stack.</a:t>
            </a:r>
            <a:endParaRPr lang="en-US" sz="1150" dirty="0"/>
          </a:p>
        </p:txBody>
      </p:sp>
      <p:sp>
        <p:nvSpPr>
          <p:cNvPr id="27" name="Text 25"/>
          <p:cNvSpPr/>
          <p:nvPr/>
        </p:nvSpPr>
        <p:spPr>
          <a:xfrm>
            <a:off x="7589520" y="4663440"/>
            <a:ext cx="4023360" cy="320040"/>
          </a:xfrm>
          <a:prstGeom prst="rect">
            <a:avLst/>
          </a:prstGeom>
          <a:noFill/>
          <a:ln/>
        </p:spPr>
        <p:txBody>
          <a:bodyPr wrap="square" lIns="0" tIns="0" rIns="0" bIns="0" rtlCol="0" anchor="ctr"/>
          <a:lstStyle/>
          <a:p>
            <a:pPr indent="0" marL="0">
              <a:buNone/>
            </a:pPr>
            <a:r>
              <a:rPr lang="en-US" sz="1300" b="1" dirty="0">
                <a:solidFill>
                  <a:srgbClr val="1E5AA8"/>
                </a:solidFill>
                <a:latin typeface="Calibri" pitchFamily="34" charset="0"/>
                <a:ea typeface="Calibri" pitchFamily="34" charset="-122"/>
                <a:cs typeface="Calibri" pitchFamily="34" charset="-120"/>
              </a:rPr>
              <a:t>STM32 on both boards</a:t>
            </a:r>
            <a:endParaRPr lang="en-US" sz="1300" dirty="0"/>
          </a:p>
        </p:txBody>
      </p:sp>
      <p:sp>
        <p:nvSpPr>
          <p:cNvPr id="28" name="Text 26"/>
          <p:cNvSpPr/>
          <p:nvPr/>
        </p:nvSpPr>
        <p:spPr>
          <a:xfrm>
            <a:off x="7589520" y="4983480"/>
            <a:ext cx="4023360" cy="82296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Single toolchain, shared peripheral setup, drop-in replacement on either board.</a:t>
            </a:r>
            <a:endParaRPr lang="en-US" sz="1150" dirty="0"/>
          </a:p>
        </p:txBody>
      </p:sp>
      <p:sp>
        <p:nvSpPr>
          <p:cNvPr id="29" name="Text 27"/>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7E8DA6"/>
                </a:solidFill>
                <a:latin typeface="Calibri" pitchFamily="34" charset="0"/>
                <a:ea typeface="Calibri" pitchFamily="34" charset="-122"/>
                <a:cs typeface="Calibri" pitchFamily="34" charset="-120"/>
              </a:rPr>
              <a:t>Source: EE 175AB Final Report §5.3 Software Architecture, §5.4 Rationale and Alternatives.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sp>
      <p:sp>
        <p:nvSpPr>
          <p:cNvPr id="3" name="Shape 1"/>
          <p:cNvSpPr/>
          <p:nvPr/>
        </p:nvSpPr>
        <p:spPr>
          <a:xfrm>
            <a:off x="548640" y="6446520"/>
            <a:ext cx="11064240" cy="0"/>
          </a:xfrm>
          <a:prstGeom prst="line">
            <a:avLst/>
          </a:prstGeom>
          <a:noFill/>
          <a:ln w="9525">
            <a:solidFill>
              <a:srgbClr val="DCE3EE"/>
            </a:solidFill>
            <a:prstDash val="solid"/>
          </a:ln>
        </p:spPr>
      </p:sp>
      <p:sp>
        <p:nvSpPr>
          <p:cNvPr id="4" name="Text 2"/>
          <p:cNvSpPr/>
          <p:nvPr/>
        </p:nvSpPr>
        <p:spPr>
          <a:xfrm>
            <a:off x="548640" y="6537960"/>
            <a:ext cx="5486400" cy="274320"/>
          </a:xfrm>
          <a:prstGeom prst="rect">
            <a:avLst/>
          </a:prstGeom>
          <a:noFill/>
          <a:ln/>
        </p:spPr>
        <p:txBody>
          <a:bodyPr wrap="square" lIns="0" tIns="0" rIns="0" bIns="0" rtlCol="0" anchor="ctr"/>
          <a:lstStyle/>
          <a:p>
            <a:pPr indent="0" marL="0">
              <a:buNone/>
            </a:pPr>
            <a:r>
              <a:rPr lang="en-US" sz="1000" b="1" dirty="0">
                <a:solidFill>
                  <a:srgbClr val="0F2D5F"/>
                </a:solidFill>
                <a:latin typeface="Calibri" pitchFamily="34" charset="0"/>
                <a:ea typeface="Calibri" pitchFamily="34" charset="-122"/>
                <a:cs typeface="Calibri" pitchFamily="34" charset="-120"/>
              </a:rPr>
              <a:t>Christian</a:t>
            </a:r>
            <a:pPr indent="0" marL="0">
              <a:buNone/>
            </a:pPr>
            <a:r>
              <a:rPr lang="en-US" sz="1000" dirty="0">
                <a:solidFill>
                  <a:srgbClr val="7E8DA6"/>
                </a:solidFill>
                <a:latin typeface="Calibri" pitchFamily="34" charset="0"/>
                <a:ea typeface="Calibri" pitchFamily="34" charset="-122"/>
                <a:cs typeface="Calibri" pitchFamily="34" charset="-120"/>
              </a:rPr>
              <a:t>  ·  </a:t>
            </a:r>
            <a:pPr indent="0" marL="0">
              <a:buNone/>
            </a:pPr>
            <a:r>
              <a:rPr lang="en-US" sz="1000" dirty="0">
                <a:solidFill>
                  <a:srgbClr val="445673"/>
                </a:solidFill>
                <a:latin typeface="Calibri" pitchFamily="34" charset="0"/>
                <a:ea typeface="Calibri" pitchFamily="34" charset="-122"/>
                <a:cs typeface="Calibri" pitchFamily="34" charset="-120"/>
              </a:rPr>
              <a:t>Validation &amp; results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algn="r" indent="0" marL="0">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pPr algn="r" indent="0" marL="0">
              <a:buNone/>
            </a:pPr>
            <a:r>
              <a:rPr lang="en-US" sz="1000" b="1" dirty="0">
                <a:solidFill>
                  <a:srgbClr val="0F2D5F"/>
                </a:solidFill>
                <a:latin typeface="Calibri" pitchFamily="34" charset="0"/>
                <a:ea typeface="Calibri" pitchFamily="34" charset="-122"/>
                <a:cs typeface="Calibri" pitchFamily="34" charset="-120"/>
              </a:rPr>
              <a:t>   7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indent="0" marL="0">
              <a:buNone/>
            </a:pPr>
            <a:r>
              <a:rPr lang="en-US" sz="2200" b="1" dirty="0">
                <a:solidFill>
                  <a:srgbClr val="0F2D5F"/>
                </a:solidFill>
                <a:latin typeface="Calibri" pitchFamily="34" charset="0"/>
                <a:ea typeface="Calibri" pitchFamily="34" charset="-122"/>
                <a:cs typeface="Calibri" pitchFamily="34" charset="-120"/>
              </a:rPr>
              <a:t>Nine test cases run, all passed — the BMS powered an NVIDIA Jetson</a:t>
            </a:r>
            <a:endParaRPr lang="en-US" sz="2200" dirty="0"/>
          </a:p>
          <a:p>
            <a:pPr indent="0" marL="0">
              <a:buNone/>
            </a:pPr>
            <a:r>
              <a:rPr lang="en-US" sz="2200" b="1" dirty="0">
                <a:solidFill>
                  <a:srgbClr val="0F2D5F"/>
                </a:solidFill>
                <a:latin typeface="Calibri" pitchFamily="34" charset="0"/>
                <a:ea typeface="Calibri" pitchFamily="34" charset="-122"/>
                <a:cs typeface="Calibri" pitchFamily="34" charset="-120"/>
              </a:rPr>
              <a:t>Orin Nano running a 1.3 B-parameter AI model end to end.</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8778240" cy="914400"/>
        </p:xfrm>
        <a:graphic>
          <a:graphicData uri="http://schemas.openxmlformats.org/drawingml/2006/table">
            <a:tbl>
              <a:tblPr/>
              <a:tblGrid>
                <a:gridCol w="1554480"/>
                <a:gridCol w="3474720"/>
                <a:gridCol w="548640"/>
                <a:gridCol w="3200400"/>
              </a:tblGrid>
              <a:tr h="29260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91440" marR="91440" marT="45720" marB="45720"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we validated</a:t>
                      </a:r>
                      <a:endParaRPr lang="en-US" sz="1200" dirty="0">
                        <a:latin typeface="Calibri" charset="0"/>
                        <a:ea typeface="Calibri" charset="0"/>
                        <a:cs typeface="Calibri" charset="0"/>
                      </a:endParaRPr>
                    </a:p>
                  </a:txBody>
                  <a:tcPr marL="91440" marR="91440" marT="45720" marB="45720"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Iter.</a:t>
                      </a:r>
                      <a:endParaRPr lang="en-US" sz="1200" dirty="0">
                        <a:latin typeface="Calibri" charset="0"/>
                        <a:ea typeface="Calibri" charset="0"/>
                        <a:cs typeface="Calibri" charset="0"/>
                      </a:endParaRPr>
                    </a:p>
                  </a:txBody>
                  <a:tcPr marL="91440" marR="91440" marT="45720" marB="45720"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91440" marR="91440" marT="45720" marB="45720"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1 — I²C bring-up</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BQ76930 detection · register init · CRC fallback</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after SHIP-mode + USB ESD fixes</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2 — Cell telemetry</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All 10 cell voltages + 10 thermistors</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after harness direct-solder</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3 — Breaker logic</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DSG / CHG response · fault trip</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after MOSFET → relay swap</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4 — Fan control</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Auto + manual PWM · 25 °C → 45 °C ramp</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after tachometer deprecated</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5 — USB host link</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CDC enumeration on Windows + macOS</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after enumeration + ESD fix</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6 — E-Load sink</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Linear DAC → current at 36 V / 1 A</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after full load redesign</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7 — Thermistor</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End-to-end thermal tracking</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first iteration</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8 — Cell balancing</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Live AA pack · 200 mV drop in 10 min</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after harness rework</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r>
              <a:tr h="292608">
                <a:tc>
                  <a:txBody>
                    <a:bodyPr/>
                    <a:lstStyle/>
                    <a:p>
                      <a:pPr indent="0" marL="0">
                        <a:buNone/>
                      </a:pPr>
                      <a:r>
                        <a:rPr lang="en-US" sz="1100" b="1" dirty="0">
                          <a:solidFill>
                            <a:srgbClr val="0F2D5F"/>
                          </a:solidFill>
                          <a:latin typeface="Calibri" pitchFamily="34" charset="0"/>
                          <a:ea typeface="Calibri" pitchFamily="34" charset="-122"/>
                          <a:cs typeface="Calibri" pitchFamily="34" charset="-120"/>
                        </a:rPr>
                        <a:t>9 — Jetson Orin Nano</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Boot + run 1.3 B parameter AI inference</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4567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100" dirty="0">
                          <a:solidFill>
                            <a:srgbClr val="0B9E68"/>
                          </a:solidFill>
                          <a:latin typeface="Calibri" pitchFamily="34" charset="0"/>
                          <a:ea typeface="Calibri" pitchFamily="34" charset="-122"/>
                          <a:cs typeface="Calibri" pitchFamily="34" charset="-120"/>
                        </a:rPr>
                        <a:t>Pass first iteration</a:t>
                      </a:r>
                      <a:endParaRPr lang="en-US" sz="1100" dirty="0">
                        <a:latin typeface="Calibri" charset="0"/>
                        <a:ea typeface="Calibri" charset="0"/>
                        <a:cs typeface="Calibri" charset="0"/>
                      </a:endParaRPr>
                    </a:p>
                  </a:txBody>
                  <a:tcPr marL="91440" marR="91440" marT="45720" marB="45720">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r>
            </a:tbl>
          </a:graphicData>
        </a:graphic>
      </p:graphicFrame>
      <p:sp>
        <p:nvSpPr>
          <p:cNvPr id="8" name="Shape 5"/>
          <p:cNvSpPr/>
          <p:nvPr/>
        </p:nvSpPr>
        <p:spPr>
          <a:xfrm>
            <a:off x="9509760" y="1508760"/>
            <a:ext cx="2103120" cy="1280160"/>
          </a:xfrm>
          <a:prstGeom prst="rect">
            <a:avLst/>
          </a:prstGeom>
          <a:solidFill>
            <a:srgbClr val="0F2D5F"/>
          </a:solidFill>
          <a:ln w="12700">
            <a:solidFill>
              <a:srgbClr val="0F2D5F"/>
            </a:solidFill>
            <a:prstDash val="solid"/>
          </a:ln>
        </p:spPr>
      </p:sp>
      <p:sp>
        <p:nvSpPr>
          <p:cNvPr id="9" name="Shape 6"/>
          <p:cNvSpPr/>
          <p:nvPr/>
        </p:nvSpPr>
        <p:spPr>
          <a:xfrm>
            <a:off x="9509760" y="1508760"/>
            <a:ext cx="73152" cy="1280160"/>
          </a:xfrm>
          <a:prstGeom prst="rect">
            <a:avLst/>
          </a:prstGeom>
          <a:solidFill>
            <a:srgbClr val="F2A900"/>
          </a:solidFill>
          <a:ln w="12700">
            <a:solidFill>
              <a:srgbClr val="F2A900"/>
            </a:solidFill>
            <a:prstDash val="solid"/>
          </a:ln>
        </p:spPr>
      </p:sp>
      <p:sp>
        <p:nvSpPr>
          <p:cNvPr id="10" name="Text 7"/>
          <p:cNvSpPr/>
          <p:nvPr/>
        </p:nvSpPr>
        <p:spPr>
          <a:xfrm>
            <a:off x="9692640" y="1673352"/>
            <a:ext cx="1828800" cy="548640"/>
          </a:xfrm>
          <a:prstGeom prst="rect">
            <a:avLst/>
          </a:prstGeom>
          <a:noFill/>
          <a:ln/>
        </p:spPr>
        <p:txBody>
          <a:bodyPr wrap="square" lIns="0" tIns="0" rIns="0" bIns="0" rtlCol="0" anchor="ctr"/>
          <a:lstStyle/>
          <a:p>
            <a:pPr indent="0" marL="0">
              <a:buNone/>
            </a:pPr>
            <a:r>
              <a:rPr lang="en-US" sz="2800" b="1" dirty="0">
                <a:solidFill>
                  <a:srgbClr val="F2A900"/>
                </a:solidFill>
                <a:latin typeface="Calibri" pitchFamily="34" charset="0"/>
                <a:ea typeface="Calibri" pitchFamily="34" charset="-122"/>
                <a:cs typeface="Calibri" pitchFamily="34" charset="-120"/>
              </a:rPr>
              <a:t>± 10 mV</a:t>
            </a:r>
            <a:endParaRPr lang="en-US" sz="2800" dirty="0"/>
          </a:p>
        </p:txBody>
      </p:sp>
      <p:sp>
        <p:nvSpPr>
          <p:cNvPr id="11" name="Text 8"/>
          <p:cNvSpPr/>
          <p:nvPr/>
        </p:nvSpPr>
        <p:spPr>
          <a:xfrm>
            <a:off x="9692640" y="2221992"/>
            <a:ext cx="1828800" cy="548640"/>
          </a:xfrm>
          <a:prstGeom prst="rect">
            <a:avLst/>
          </a:prstGeom>
          <a:noFill/>
          <a:ln/>
        </p:spPr>
        <p:txBody>
          <a:bodyPr wrap="square" lIns="0" tIns="0" rIns="0" bIns="0" rtlCol="0" anchor="ctr"/>
          <a:lstStyle/>
          <a:p>
            <a:pPr indent="0" marL="0">
              <a:buNone/>
            </a:pPr>
            <a:r>
              <a:rPr lang="en-US" sz="1100" dirty="0">
                <a:solidFill>
                  <a:srgbClr val="E8EEF7"/>
                </a:solidFill>
                <a:latin typeface="Calibri" pitchFamily="34" charset="0"/>
                <a:ea typeface="Calibri" pitchFamily="34" charset="-122"/>
                <a:cs typeface="Calibri" pitchFamily="34" charset="-120"/>
              </a:rPr>
              <a:t>measured cell</a:t>
            </a:r>
            <a:endParaRPr lang="en-US" sz="1100" dirty="0"/>
          </a:p>
          <a:p>
            <a:pPr indent="0" marL="0">
              <a:buNone/>
            </a:pPr>
            <a:r>
              <a:rPr lang="en-US" sz="1100" dirty="0">
                <a:solidFill>
                  <a:srgbClr val="E8EEF7"/>
                </a:solidFill>
                <a:latin typeface="Calibri" pitchFamily="34" charset="0"/>
                <a:ea typeface="Calibri" pitchFamily="34" charset="-122"/>
                <a:cs typeface="Calibri" pitchFamily="34" charset="-120"/>
              </a:rPr>
              <a:t>voltage accuracy</a:t>
            </a:r>
            <a:endParaRPr lang="en-US" sz="1100" dirty="0"/>
          </a:p>
        </p:txBody>
      </p:sp>
      <p:sp>
        <p:nvSpPr>
          <p:cNvPr id="12" name="Shape 9"/>
          <p:cNvSpPr/>
          <p:nvPr/>
        </p:nvSpPr>
        <p:spPr>
          <a:xfrm>
            <a:off x="9509760" y="2880360"/>
            <a:ext cx="2103120" cy="1280160"/>
          </a:xfrm>
          <a:prstGeom prst="rect">
            <a:avLst/>
          </a:prstGeom>
          <a:solidFill>
            <a:srgbClr val="0F2D5F"/>
          </a:solidFill>
          <a:ln w="12700">
            <a:solidFill>
              <a:srgbClr val="0F2D5F"/>
            </a:solidFill>
            <a:prstDash val="solid"/>
          </a:ln>
        </p:spPr>
      </p:sp>
      <p:sp>
        <p:nvSpPr>
          <p:cNvPr id="13" name="Shape 10"/>
          <p:cNvSpPr/>
          <p:nvPr/>
        </p:nvSpPr>
        <p:spPr>
          <a:xfrm>
            <a:off x="9509760" y="2880360"/>
            <a:ext cx="73152" cy="1280160"/>
          </a:xfrm>
          <a:prstGeom prst="rect">
            <a:avLst/>
          </a:prstGeom>
          <a:solidFill>
            <a:srgbClr val="F2A900"/>
          </a:solidFill>
          <a:ln w="12700">
            <a:solidFill>
              <a:srgbClr val="F2A900"/>
            </a:solidFill>
            <a:prstDash val="solid"/>
          </a:ln>
        </p:spPr>
      </p:sp>
      <p:sp>
        <p:nvSpPr>
          <p:cNvPr id="14" name="Text 11"/>
          <p:cNvSpPr/>
          <p:nvPr/>
        </p:nvSpPr>
        <p:spPr>
          <a:xfrm>
            <a:off x="9692640" y="3044952"/>
            <a:ext cx="1828800" cy="548640"/>
          </a:xfrm>
          <a:prstGeom prst="rect">
            <a:avLst/>
          </a:prstGeom>
          <a:noFill/>
          <a:ln/>
        </p:spPr>
        <p:txBody>
          <a:bodyPr wrap="square" lIns="0" tIns="0" rIns="0" bIns="0" rtlCol="0" anchor="ctr"/>
          <a:lstStyle/>
          <a:p>
            <a:pPr indent="0" marL="0">
              <a:buNone/>
            </a:pPr>
            <a:r>
              <a:rPr lang="en-US" sz="2800" b="1" dirty="0">
                <a:solidFill>
                  <a:srgbClr val="F2A900"/>
                </a:solidFill>
                <a:latin typeface="Calibri" pitchFamily="34" charset="0"/>
                <a:ea typeface="Calibri" pitchFamily="34" charset="-122"/>
                <a:cs typeface="Calibri" pitchFamily="34" charset="-120"/>
              </a:rPr>
              <a:t>$2,966</a:t>
            </a:r>
            <a:endParaRPr lang="en-US" sz="2800" dirty="0"/>
          </a:p>
        </p:txBody>
      </p:sp>
      <p:sp>
        <p:nvSpPr>
          <p:cNvPr id="15" name="Text 12"/>
          <p:cNvSpPr/>
          <p:nvPr/>
        </p:nvSpPr>
        <p:spPr>
          <a:xfrm>
            <a:off x="9692640" y="3593592"/>
            <a:ext cx="1828800" cy="548640"/>
          </a:xfrm>
          <a:prstGeom prst="rect">
            <a:avLst/>
          </a:prstGeom>
          <a:noFill/>
          <a:ln/>
        </p:spPr>
        <p:txBody>
          <a:bodyPr wrap="square" lIns="0" tIns="0" rIns="0" bIns="0" rtlCol="0" anchor="ctr"/>
          <a:lstStyle/>
          <a:p>
            <a:pPr indent="0" marL="0">
              <a:buNone/>
            </a:pPr>
            <a:r>
              <a:rPr lang="en-US" sz="1100" dirty="0">
                <a:solidFill>
                  <a:srgbClr val="E8EEF7"/>
                </a:solidFill>
                <a:latin typeface="Calibri" pitchFamily="34" charset="0"/>
                <a:ea typeface="Calibri" pitchFamily="34" charset="-122"/>
                <a:cs typeface="Calibri" pitchFamily="34" charset="-120"/>
              </a:rPr>
              <a:t>total project cost</a:t>
            </a:r>
            <a:endParaRPr lang="en-US" sz="1100" dirty="0"/>
          </a:p>
          <a:p>
            <a:pPr indent="0" marL="0">
              <a:buNone/>
            </a:pPr>
            <a:r>
              <a:rPr lang="en-US" sz="1100" dirty="0">
                <a:solidFill>
                  <a:srgbClr val="E8EEF7"/>
                </a:solidFill>
                <a:latin typeface="Calibri" pitchFamily="34" charset="0"/>
                <a:ea typeface="Calibri" pitchFamily="34" charset="-122"/>
                <a:cs typeface="Calibri" pitchFamily="34" charset="-120"/>
              </a:rPr>
              <a:t>across 3 PCBs</a:t>
            </a:r>
            <a:endParaRPr lang="en-US" sz="1100" dirty="0"/>
          </a:p>
        </p:txBody>
      </p:sp>
      <p:sp>
        <p:nvSpPr>
          <p:cNvPr id="16" name="Shape 13"/>
          <p:cNvSpPr/>
          <p:nvPr/>
        </p:nvSpPr>
        <p:spPr>
          <a:xfrm>
            <a:off x="9509760" y="4251960"/>
            <a:ext cx="2103120" cy="1280160"/>
          </a:xfrm>
          <a:prstGeom prst="rect">
            <a:avLst/>
          </a:prstGeom>
          <a:solidFill>
            <a:srgbClr val="0F2D5F"/>
          </a:solidFill>
          <a:ln w="12700">
            <a:solidFill>
              <a:srgbClr val="0F2D5F"/>
            </a:solidFill>
            <a:prstDash val="solid"/>
          </a:ln>
        </p:spPr>
      </p:sp>
      <p:sp>
        <p:nvSpPr>
          <p:cNvPr id="17" name="Shape 14"/>
          <p:cNvSpPr/>
          <p:nvPr/>
        </p:nvSpPr>
        <p:spPr>
          <a:xfrm>
            <a:off x="9509760" y="4251960"/>
            <a:ext cx="73152" cy="1280160"/>
          </a:xfrm>
          <a:prstGeom prst="rect">
            <a:avLst/>
          </a:prstGeom>
          <a:solidFill>
            <a:srgbClr val="F2A900"/>
          </a:solidFill>
          <a:ln w="12700">
            <a:solidFill>
              <a:srgbClr val="F2A900"/>
            </a:solidFill>
            <a:prstDash val="solid"/>
          </a:ln>
        </p:spPr>
      </p:sp>
      <p:sp>
        <p:nvSpPr>
          <p:cNvPr id="18" name="Text 15"/>
          <p:cNvSpPr/>
          <p:nvPr/>
        </p:nvSpPr>
        <p:spPr>
          <a:xfrm>
            <a:off x="9692640" y="4416552"/>
            <a:ext cx="1828800" cy="548640"/>
          </a:xfrm>
          <a:prstGeom prst="rect">
            <a:avLst/>
          </a:prstGeom>
          <a:noFill/>
          <a:ln/>
        </p:spPr>
        <p:txBody>
          <a:bodyPr wrap="square" lIns="0" tIns="0" rIns="0" bIns="0" rtlCol="0" anchor="ctr"/>
          <a:lstStyle/>
          <a:p>
            <a:pPr indent="0" marL="0">
              <a:buNone/>
            </a:pPr>
            <a:r>
              <a:rPr lang="en-US" sz="2800" b="1" dirty="0">
                <a:solidFill>
                  <a:srgbClr val="F2A900"/>
                </a:solidFill>
                <a:latin typeface="Calibri" pitchFamily="34" charset="0"/>
                <a:ea typeface="Calibri" pitchFamily="34" charset="-122"/>
                <a:cs typeface="Calibri" pitchFamily="34" charset="-120"/>
              </a:rPr>
              <a:t>1.3 B</a:t>
            </a:r>
            <a:endParaRPr lang="en-US" sz="2800" dirty="0"/>
          </a:p>
        </p:txBody>
      </p:sp>
      <p:sp>
        <p:nvSpPr>
          <p:cNvPr id="19" name="Text 16"/>
          <p:cNvSpPr/>
          <p:nvPr/>
        </p:nvSpPr>
        <p:spPr>
          <a:xfrm>
            <a:off x="9692640" y="4965192"/>
            <a:ext cx="1828800" cy="548640"/>
          </a:xfrm>
          <a:prstGeom prst="rect">
            <a:avLst/>
          </a:prstGeom>
          <a:noFill/>
          <a:ln/>
        </p:spPr>
        <p:txBody>
          <a:bodyPr wrap="square" lIns="0" tIns="0" rIns="0" bIns="0" rtlCol="0" anchor="ctr"/>
          <a:lstStyle/>
          <a:p>
            <a:pPr indent="0" marL="0">
              <a:buNone/>
            </a:pPr>
            <a:r>
              <a:rPr lang="en-US" sz="1100" dirty="0">
                <a:solidFill>
                  <a:srgbClr val="E8EEF7"/>
                </a:solidFill>
                <a:latin typeface="Calibri" pitchFamily="34" charset="0"/>
                <a:ea typeface="Calibri" pitchFamily="34" charset="-122"/>
                <a:cs typeface="Calibri" pitchFamily="34" charset="-120"/>
              </a:rPr>
              <a:t>param AI model running</a:t>
            </a:r>
            <a:endParaRPr lang="en-US" sz="1100" dirty="0"/>
          </a:p>
          <a:p>
            <a:pPr indent="0" marL="0">
              <a:buNone/>
            </a:pPr>
            <a:r>
              <a:rPr lang="en-US" sz="1100" dirty="0">
                <a:solidFill>
                  <a:srgbClr val="E8EEF7"/>
                </a:solidFill>
                <a:latin typeface="Calibri" pitchFamily="34" charset="0"/>
                <a:ea typeface="Calibri" pitchFamily="34" charset="-122"/>
                <a:cs typeface="Calibri" pitchFamily="34" charset="-120"/>
              </a:rPr>
              <a:t>on BMS-powered Jetson</a:t>
            </a:r>
            <a:endParaRPr lang="en-US" sz="1100" dirty="0"/>
          </a:p>
        </p:txBody>
      </p:sp>
      <p:sp>
        <p:nvSpPr>
          <p:cNvPr id="20" name="Text 17"/>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7E8DA6"/>
                </a:solidFill>
                <a:latin typeface="Calibri" pitchFamily="34" charset="0"/>
                <a:ea typeface="Calibri" pitchFamily="34" charset="-122"/>
                <a:cs typeface="Calibri" pitchFamily="34" charset="-120"/>
              </a:rPr>
              <a:t>Source: EE 175AB Final Report §11 Test Report (Tests 1–9); §3.5 Budget &amp; Cost.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D5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sp>
      <p:sp>
        <p:nvSpPr>
          <p:cNvPr id="3" name="Shape 1"/>
          <p:cNvSpPr/>
          <p:nvPr/>
        </p:nvSpPr>
        <p:spPr>
          <a:xfrm>
            <a:off x="548640" y="6400800"/>
            <a:ext cx="11064240" cy="27432"/>
          </a:xfrm>
          <a:prstGeom prst="rect">
            <a:avLst/>
          </a:prstGeom>
          <a:solidFill>
            <a:srgbClr val="F2A900"/>
          </a:solidFill>
          <a:ln w="12700">
            <a:solidFill>
              <a:srgbClr val="F2A900"/>
            </a:solidFill>
            <a:prstDash val="solid"/>
          </a:ln>
        </p:spPr>
      </p:sp>
      <p:sp>
        <p:nvSpPr>
          <p:cNvPr id="4" name="Text 2"/>
          <p:cNvSpPr/>
          <p:nvPr/>
        </p:nvSpPr>
        <p:spPr>
          <a:xfrm>
            <a:off x="6400800" y="6537960"/>
            <a:ext cx="5212080" cy="274320"/>
          </a:xfrm>
          <a:prstGeom prst="rect">
            <a:avLst/>
          </a:prstGeom>
          <a:noFill/>
          <a:ln/>
        </p:spPr>
        <p:txBody>
          <a:bodyPr wrap="square" lIns="0" tIns="0" rIns="0" bIns="0" rtlCol="0" anchor="ctr"/>
          <a:lstStyle/>
          <a:p>
            <a:pPr algn="r" indent="0" marL="0">
              <a:buNone/>
            </a:pPr>
            <a:r>
              <a:rPr lang="en-US" sz="1000" dirty="0">
                <a:solidFill>
                  <a:srgbClr val="E8EEF7"/>
                </a:solidFill>
                <a:latin typeface="Calibri" pitchFamily="34" charset="0"/>
                <a:ea typeface="Calibri" pitchFamily="34" charset="-122"/>
                <a:cs typeface="Calibri" pitchFamily="34" charset="-120"/>
              </a:rPr>
              <a:t>Battery Management System  ·  EE 175AB / ENGR 181W</a:t>
            </a:r>
            <a:pPr algn="r" indent="0" marL="0">
              <a:buNone/>
            </a:pPr>
            <a:r>
              <a:rPr lang="en-US" sz="1000" b="1" dirty="0">
                <a:solidFill>
                  <a:srgbClr val="F2A900"/>
                </a:solidFill>
                <a:latin typeface="Calibri" pitchFamily="34" charset="0"/>
                <a:ea typeface="Calibri" pitchFamily="34" charset="-122"/>
                <a:cs typeface="Calibri" pitchFamily="34" charset="-120"/>
              </a:rPr>
              <a:t>   8 / 9</a:t>
            </a:r>
            <a:endParaRPr lang="en-US" sz="1000" dirty="0"/>
          </a:p>
        </p:txBody>
      </p:sp>
      <p:sp>
        <p:nvSpPr>
          <p:cNvPr id="5" name="Text 3"/>
          <p:cNvSpPr/>
          <p:nvPr/>
        </p:nvSpPr>
        <p:spPr>
          <a:xfrm>
            <a:off x="548640" y="365760"/>
            <a:ext cx="4572000" cy="731520"/>
          </a:xfrm>
          <a:prstGeom prst="rect">
            <a:avLst/>
          </a:prstGeom>
          <a:noFill/>
          <a:ln/>
        </p:spPr>
        <p:txBody>
          <a:bodyPr wrap="square" lIns="0" tIns="0" rIns="0" bIns="0" rtlCol="0" anchor="ctr"/>
          <a:lstStyle/>
          <a:p>
            <a:pPr indent="0" marL="0">
              <a:buNone/>
            </a:pPr>
            <a:r>
              <a:rPr lang="en-US" sz="3600" b="1" dirty="0">
                <a:solidFill>
                  <a:srgbClr val="F2A900"/>
                </a:solidFill>
                <a:latin typeface="Calibri" pitchFamily="34" charset="0"/>
                <a:ea typeface="Calibri" pitchFamily="34" charset="-122"/>
                <a:cs typeface="Calibri" pitchFamily="34" charset="-120"/>
              </a:rPr>
              <a:t>Conclusion</a:t>
            </a:r>
            <a:endParaRPr lang="en-US" sz="3600" dirty="0"/>
          </a:p>
        </p:txBody>
      </p:sp>
      <p:sp>
        <p:nvSpPr>
          <p:cNvPr id="6" name="Text 4"/>
          <p:cNvSpPr/>
          <p:nvPr/>
        </p:nvSpPr>
        <p:spPr>
          <a:xfrm>
            <a:off x="6400800" y="365760"/>
            <a:ext cx="4572000" cy="731520"/>
          </a:xfrm>
          <a:prstGeom prst="rect">
            <a:avLst/>
          </a:prstGeom>
          <a:noFill/>
          <a:ln/>
        </p:spPr>
        <p:txBody>
          <a:bodyPr wrap="square" lIns="0" tIns="0" rIns="0" bIns="0" rtlCol="0" anchor="ctr"/>
          <a:lstStyle/>
          <a:p>
            <a:pPr indent="0" marL="0">
              <a:buNone/>
            </a:pPr>
            <a:r>
              <a:rPr lang="en-US" sz="3600" b="1" dirty="0">
                <a:solidFill>
                  <a:srgbClr val="F2A900"/>
                </a:solidFill>
                <a:latin typeface="Calibri" pitchFamily="34" charset="0"/>
                <a:ea typeface="Calibri" pitchFamily="34" charset="-122"/>
                <a:cs typeface="Calibri" pitchFamily="34" charset="-120"/>
              </a:rPr>
              <a:t>Future work</a:t>
            </a:r>
            <a:endParaRPr lang="en-US" sz="3600" dirty="0"/>
          </a:p>
        </p:txBody>
      </p:sp>
      <p:sp>
        <p:nvSpPr>
          <p:cNvPr id="7" name="Text 5"/>
          <p:cNvSpPr/>
          <p:nvPr/>
        </p:nvSpPr>
        <p:spPr>
          <a:xfrm>
            <a:off x="548640" y="1280160"/>
            <a:ext cx="640080" cy="640080"/>
          </a:xfrm>
          <a:prstGeom prst="rect">
            <a:avLst/>
          </a:prstGeom>
          <a:noFill/>
          <a:ln/>
        </p:spPr>
        <p:txBody>
          <a:bodyPr wrap="square" lIns="0" tIns="0" rIns="0" bIns="0" rtlCol="0" anchor="ctr"/>
          <a:lstStyle/>
          <a:p>
            <a:pPr indent="0" marL="0">
              <a:buNone/>
            </a:pPr>
            <a:r>
              <a:rPr lang="en-US" sz="4800" b="1" dirty="0">
                <a:solidFill>
                  <a:srgbClr val="F2A900"/>
                </a:solidFill>
                <a:latin typeface="Calibri" pitchFamily="34" charset="0"/>
                <a:ea typeface="Calibri" pitchFamily="34" charset="-122"/>
                <a:cs typeface="Calibri" pitchFamily="34" charset="-120"/>
              </a:rPr>
              <a:t>1</a:t>
            </a:r>
            <a:endParaRPr lang="en-US" sz="4800" dirty="0"/>
          </a:p>
        </p:txBody>
      </p:sp>
      <p:sp>
        <p:nvSpPr>
          <p:cNvPr id="8" name="Text 6"/>
          <p:cNvSpPr/>
          <p:nvPr/>
        </p:nvSpPr>
        <p:spPr>
          <a:xfrm>
            <a:off x="1188720" y="1353312"/>
            <a:ext cx="4937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Full-stack senior design works.</a:t>
            </a:r>
            <a:endParaRPr lang="en-US" sz="1600" dirty="0"/>
          </a:p>
        </p:txBody>
      </p:sp>
      <p:sp>
        <p:nvSpPr>
          <p:cNvPr id="9" name="Text 7"/>
          <p:cNvSpPr/>
          <p:nvPr/>
        </p:nvSpPr>
        <p:spPr>
          <a:xfrm>
            <a:off x="1188720" y="1737360"/>
            <a:ext cx="4937760" cy="91440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Custom PCBs, custom firmware, custom desktop app — all integrated, all observable from one dashboard.</a:t>
            </a:r>
            <a:endParaRPr lang="en-US" sz="1250" dirty="0"/>
          </a:p>
        </p:txBody>
      </p:sp>
      <p:sp>
        <p:nvSpPr>
          <p:cNvPr id="10" name="Text 8"/>
          <p:cNvSpPr/>
          <p:nvPr/>
        </p:nvSpPr>
        <p:spPr>
          <a:xfrm>
            <a:off x="548640" y="2651760"/>
            <a:ext cx="640080" cy="640080"/>
          </a:xfrm>
          <a:prstGeom prst="rect">
            <a:avLst/>
          </a:prstGeom>
          <a:noFill/>
          <a:ln/>
        </p:spPr>
        <p:txBody>
          <a:bodyPr wrap="square" lIns="0" tIns="0" rIns="0" bIns="0" rtlCol="0" anchor="ctr"/>
          <a:lstStyle/>
          <a:p>
            <a:pPr indent="0" marL="0">
              <a:buNone/>
            </a:pPr>
            <a:r>
              <a:rPr lang="en-US" sz="4800" b="1" dirty="0">
                <a:solidFill>
                  <a:srgbClr val="F2A900"/>
                </a:solidFill>
                <a:latin typeface="Calibri" pitchFamily="34" charset="0"/>
                <a:ea typeface="Calibri" pitchFamily="34" charset="-122"/>
                <a:cs typeface="Calibri" pitchFamily="34" charset="-120"/>
              </a:rPr>
              <a:t>2</a:t>
            </a:r>
            <a:endParaRPr lang="en-US" sz="4800" dirty="0"/>
          </a:p>
        </p:txBody>
      </p:sp>
      <p:sp>
        <p:nvSpPr>
          <p:cNvPr id="11" name="Text 9"/>
          <p:cNvSpPr/>
          <p:nvPr/>
        </p:nvSpPr>
        <p:spPr>
          <a:xfrm>
            <a:off x="1188720" y="2724912"/>
            <a:ext cx="4937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Safety is hardware-enforced.</a:t>
            </a:r>
            <a:endParaRPr lang="en-US" sz="1600" dirty="0"/>
          </a:p>
        </p:txBody>
      </p:sp>
      <p:sp>
        <p:nvSpPr>
          <p:cNvPr id="12" name="Text 10"/>
          <p:cNvSpPr/>
          <p:nvPr/>
        </p:nvSpPr>
        <p:spPr>
          <a:xfrm>
            <a:off x="1188720" y="3108960"/>
            <a:ext cx="4937760" cy="91440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BQ76930 + electromechanical relay isolate the pack on fault regardless of firmware state; GND-ALWAYS-ON keeps diagnostics alive.</a:t>
            </a:r>
            <a:endParaRPr lang="en-US" sz="1250" dirty="0"/>
          </a:p>
        </p:txBody>
      </p:sp>
      <p:sp>
        <p:nvSpPr>
          <p:cNvPr id="13" name="Text 11"/>
          <p:cNvSpPr/>
          <p:nvPr/>
        </p:nvSpPr>
        <p:spPr>
          <a:xfrm>
            <a:off x="548640" y="4023360"/>
            <a:ext cx="640080" cy="640080"/>
          </a:xfrm>
          <a:prstGeom prst="rect">
            <a:avLst/>
          </a:prstGeom>
          <a:noFill/>
          <a:ln/>
        </p:spPr>
        <p:txBody>
          <a:bodyPr wrap="square" lIns="0" tIns="0" rIns="0" bIns="0" rtlCol="0" anchor="ctr"/>
          <a:lstStyle/>
          <a:p>
            <a:pPr indent="0" marL="0">
              <a:buNone/>
            </a:pPr>
            <a:r>
              <a:rPr lang="en-US" sz="4800" b="1" dirty="0">
                <a:solidFill>
                  <a:srgbClr val="F2A900"/>
                </a:solidFill>
                <a:latin typeface="Calibri" pitchFamily="34" charset="0"/>
                <a:ea typeface="Calibri" pitchFamily="34" charset="-122"/>
                <a:cs typeface="Calibri" pitchFamily="34" charset="-120"/>
              </a:rPr>
              <a:t>3</a:t>
            </a:r>
            <a:endParaRPr lang="en-US" sz="4800" dirty="0"/>
          </a:p>
        </p:txBody>
      </p:sp>
      <p:sp>
        <p:nvSpPr>
          <p:cNvPr id="14" name="Text 12"/>
          <p:cNvSpPr/>
          <p:nvPr/>
        </p:nvSpPr>
        <p:spPr>
          <a:xfrm>
            <a:off x="1188720" y="4096512"/>
            <a:ext cx="4937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Real compute workload validated.</a:t>
            </a:r>
            <a:endParaRPr lang="en-US" sz="1600" dirty="0"/>
          </a:p>
        </p:txBody>
      </p:sp>
      <p:sp>
        <p:nvSpPr>
          <p:cNvPr id="15" name="Text 13"/>
          <p:cNvSpPr/>
          <p:nvPr/>
        </p:nvSpPr>
        <p:spPr>
          <a:xfrm>
            <a:off x="1188720" y="4480560"/>
            <a:ext cx="4937760" cy="91440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The pack powered an NVIDIA Jetson Orin Nano running a 1.3 B-parameter AI model end-to-end without tripping protection.</a:t>
            </a:r>
            <a:endParaRPr lang="en-US" sz="1250" dirty="0"/>
          </a:p>
        </p:txBody>
      </p:sp>
      <p:sp>
        <p:nvSpPr>
          <p:cNvPr id="16" name="Shape 14"/>
          <p:cNvSpPr/>
          <p:nvPr/>
        </p:nvSpPr>
        <p:spPr>
          <a:xfrm>
            <a:off x="6400800" y="1280160"/>
            <a:ext cx="91440" cy="1188720"/>
          </a:xfrm>
          <a:prstGeom prst="rect">
            <a:avLst/>
          </a:prstGeom>
          <a:solidFill>
            <a:srgbClr val="F2A900"/>
          </a:solidFill>
          <a:ln w="12700">
            <a:solidFill>
              <a:srgbClr val="F2A900"/>
            </a:solidFill>
            <a:prstDash val="solid"/>
          </a:ln>
        </p:spPr>
      </p:sp>
      <p:sp>
        <p:nvSpPr>
          <p:cNvPr id="17" name="Text 15"/>
          <p:cNvSpPr/>
          <p:nvPr/>
        </p:nvSpPr>
        <p:spPr>
          <a:xfrm>
            <a:off x="6629400" y="1280160"/>
            <a:ext cx="5303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BMS</a:t>
            </a:r>
            <a:endParaRPr lang="en-US" sz="1600" dirty="0"/>
          </a:p>
        </p:txBody>
      </p:sp>
      <p:sp>
        <p:nvSpPr>
          <p:cNvPr id="18" name="Text 16"/>
          <p:cNvSpPr/>
          <p:nvPr/>
        </p:nvSpPr>
        <p:spPr>
          <a:xfrm>
            <a:off x="6629400" y="1645920"/>
            <a:ext cx="5303520" cy="82296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Integrate the relay onto the PCB · USB isolation between BMS and E-Load · backup over-temperature comparator · charger harness redesign.</a:t>
            </a:r>
            <a:endParaRPr lang="en-US" sz="1250" dirty="0"/>
          </a:p>
        </p:txBody>
      </p:sp>
      <p:sp>
        <p:nvSpPr>
          <p:cNvPr id="19" name="Shape 17"/>
          <p:cNvSpPr/>
          <p:nvPr/>
        </p:nvSpPr>
        <p:spPr>
          <a:xfrm>
            <a:off x="6400800" y="2651760"/>
            <a:ext cx="91440" cy="1188720"/>
          </a:xfrm>
          <a:prstGeom prst="rect">
            <a:avLst/>
          </a:prstGeom>
          <a:solidFill>
            <a:srgbClr val="F2A900"/>
          </a:solidFill>
          <a:ln w="12700">
            <a:solidFill>
              <a:srgbClr val="F2A900"/>
            </a:solidFill>
            <a:prstDash val="solid"/>
          </a:ln>
        </p:spPr>
      </p:sp>
      <p:sp>
        <p:nvSpPr>
          <p:cNvPr id="20" name="Text 18"/>
          <p:cNvSpPr/>
          <p:nvPr/>
        </p:nvSpPr>
        <p:spPr>
          <a:xfrm>
            <a:off x="6629400" y="2651760"/>
            <a:ext cx="5303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E-Load</a:t>
            </a:r>
            <a:endParaRPr lang="en-US" sz="1600" dirty="0"/>
          </a:p>
        </p:txBody>
      </p:sp>
      <p:sp>
        <p:nvSpPr>
          <p:cNvPr id="21" name="Text 19"/>
          <p:cNvSpPr/>
          <p:nvPr/>
        </p:nvSpPr>
        <p:spPr>
          <a:xfrm>
            <a:off x="6629400" y="3017520"/>
            <a:ext cx="5303520" cy="82296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Scale beyond 1 A · proper op-amp feedback filtering · correct shunt selection · constant-power and constant-resistance modes.</a:t>
            </a:r>
            <a:endParaRPr lang="en-US" sz="1250" dirty="0"/>
          </a:p>
        </p:txBody>
      </p:sp>
      <p:sp>
        <p:nvSpPr>
          <p:cNvPr id="22" name="Shape 20"/>
          <p:cNvSpPr/>
          <p:nvPr/>
        </p:nvSpPr>
        <p:spPr>
          <a:xfrm>
            <a:off x="6400800" y="4023360"/>
            <a:ext cx="91440" cy="1188720"/>
          </a:xfrm>
          <a:prstGeom prst="rect">
            <a:avLst/>
          </a:prstGeom>
          <a:solidFill>
            <a:srgbClr val="F2A900"/>
          </a:solidFill>
          <a:ln w="12700">
            <a:solidFill>
              <a:srgbClr val="F2A900"/>
            </a:solidFill>
            <a:prstDash val="solid"/>
          </a:ln>
        </p:spPr>
      </p:sp>
      <p:sp>
        <p:nvSpPr>
          <p:cNvPr id="23" name="Text 21"/>
          <p:cNvSpPr/>
          <p:nvPr/>
        </p:nvSpPr>
        <p:spPr>
          <a:xfrm>
            <a:off x="6629400" y="4023360"/>
            <a:ext cx="5303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Dashboard</a:t>
            </a:r>
            <a:endParaRPr lang="en-US" sz="1600" dirty="0"/>
          </a:p>
        </p:txBody>
      </p:sp>
      <p:sp>
        <p:nvSpPr>
          <p:cNvPr id="24" name="Text 22"/>
          <p:cNvSpPr/>
          <p:nvPr/>
        </p:nvSpPr>
        <p:spPr>
          <a:xfrm>
            <a:off x="6629400" y="4389120"/>
            <a:ext cx="5303520" cy="82296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Hardware-in-the-loop replay mode from stored telemetry · bidirectional USB hot-plug · LCD module for headless monitoring.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sp>
      <p:sp>
        <p:nvSpPr>
          <p:cNvPr id="3" name="Shape 1"/>
          <p:cNvSpPr/>
          <p:nvPr/>
        </p:nvSpPr>
        <p:spPr>
          <a:xfrm>
            <a:off x="548640" y="6446520"/>
            <a:ext cx="11064240" cy="0"/>
          </a:xfrm>
          <a:prstGeom prst="line">
            <a:avLst/>
          </a:prstGeom>
          <a:noFill/>
          <a:ln w="9525">
            <a:solidFill>
              <a:srgbClr val="DCE3EE"/>
            </a:solidFill>
            <a:prstDash val="solid"/>
          </a:ln>
        </p:spPr>
      </p:sp>
      <p:sp>
        <p:nvSpPr>
          <p:cNvPr id="4" name="Text 2"/>
          <p:cNvSpPr/>
          <p:nvPr/>
        </p:nvSpPr>
        <p:spPr>
          <a:xfrm>
            <a:off x="548640" y="6537960"/>
            <a:ext cx="5486400" cy="274320"/>
          </a:xfrm>
          <a:prstGeom prst="rect">
            <a:avLst/>
          </a:prstGeom>
          <a:noFill/>
          <a:ln/>
        </p:spPr>
        <p:txBody>
          <a:bodyPr wrap="square" lIns="0" tIns="0" rIns="0" bIns="0" rtlCol="0" anchor="ctr"/>
          <a:lstStyle/>
          <a:p>
            <a:pPr indent="0" marL="0">
              <a:buNone/>
            </a:pPr>
            <a:r>
              <a:rPr lang="en-US" sz="1000" b="1" dirty="0">
                <a:solidFill>
                  <a:srgbClr val="0F2D5F"/>
                </a:solidFill>
                <a:latin typeface="Calibri" pitchFamily="34" charset="0"/>
                <a:ea typeface="Calibri" pitchFamily="34" charset="-122"/>
                <a:cs typeface="Calibri" pitchFamily="34" charset="-120"/>
              </a:rPr>
              <a:t>Team</a:t>
            </a:r>
            <a:pPr indent="0" marL="0">
              <a:buNone/>
            </a:pPr>
            <a:r>
              <a:rPr lang="en-US" sz="1000" dirty="0">
                <a:solidFill>
                  <a:srgbClr val="7E8DA6"/>
                </a:solidFill>
                <a:latin typeface="Calibri" pitchFamily="34" charset="0"/>
                <a:ea typeface="Calibri" pitchFamily="34" charset="-122"/>
                <a:cs typeface="Calibri" pitchFamily="34" charset="-120"/>
              </a:rPr>
              <a:t>  ·  </a:t>
            </a:r>
            <a:pPr indent="0" marL="0">
              <a:buNone/>
            </a:pPr>
            <a:r>
              <a:rPr lang="en-US" sz="1000" dirty="0">
                <a:solidFill>
                  <a:srgbClr val="445673"/>
                </a:solidFill>
                <a:latin typeface="Calibri" pitchFamily="34" charset="0"/>
                <a:ea typeface="Calibri" pitchFamily="34" charset="-122"/>
                <a:cs typeface="Calibri" pitchFamily="34" charset="-120"/>
              </a:rPr>
              <a:t>Acknowledgments &amp; references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algn="r" indent="0" marL="0">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pPr algn="r" indent="0" marL="0">
              <a:buNone/>
            </a:pPr>
            <a:r>
              <a:rPr lang="en-US" sz="1000" b="1" dirty="0">
                <a:solidFill>
                  <a:srgbClr val="0F2D5F"/>
                </a:solidFill>
                <a:latin typeface="Calibri" pitchFamily="34" charset="0"/>
                <a:ea typeface="Calibri" pitchFamily="34" charset="-122"/>
                <a:cs typeface="Calibri" pitchFamily="34" charset="-120"/>
              </a:rPr>
              <a:t>   9 / 9</a:t>
            </a:r>
            <a:endParaRPr lang="en-US" sz="1000" dirty="0"/>
          </a:p>
        </p:txBody>
      </p:sp>
      <p:sp>
        <p:nvSpPr>
          <p:cNvPr id="6" name="Text 4"/>
          <p:cNvSpPr/>
          <p:nvPr/>
        </p:nvSpPr>
        <p:spPr>
          <a:xfrm>
            <a:off x="548640" y="365760"/>
            <a:ext cx="5486400" cy="548640"/>
          </a:xfrm>
          <a:prstGeom prst="rect">
            <a:avLst/>
          </a:prstGeom>
          <a:noFill/>
          <a:ln/>
        </p:spPr>
        <p:txBody>
          <a:bodyPr wrap="square" lIns="0" tIns="0" rIns="0" bIns="0" rtlCol="0" anchor="ctr"/>
          <a:lstStyle/>
          <a:p>
            <a:pPr indent="0" marL="0">
              <a:buNone/>
            </a:pPr>
            <a:r>
              <a:rPr lang="en-US" sz="2600" b="1" dirty="0">
                <a:solidFill>
                  <a:srgbClr val="0F2D5F"/>
                </a:solidFill>
                <a:latin typeface="Calibri" pitchFamily="34" charset="0"/>
                <a:ea typeface="Calibri" pitchFamily="34" charset="-122"/>
                <a:cs typeface="Calibri" pitchFamily="34" charset="-120"/>
              </a:rPr>
              <a:t>Acknowledgments</a:t>
            </a:r>
            <a:endParaRPr lang="en-US" sz="2600" dirty="0"/>
          </a:p>
        </p:txBody>
      </p:sp>
      <p:sp>
        <p:nvSpPr>
          <p:cNvPr id="7" name="Text 5"/>
          <p:cNvSpPr/>
          <p:nvPr/>
        </p:nvSpPr>
        <p:spPr>
          <a:xfrm>
            <a:off x="6400800" y="365760"/>
            <a:ext cx="5486400" cy="548640"/>
          </a:xfrm>
          <a:prstGeom prst="rect">
            <a:avLst/>
          </a:prstGeom>
          <a:noFill/>
          <a:ln/>
        </p:spPr>
        <p:txBody>
          <a:bodyPr wrap="square" lIns="0" tIns="0" rIns="0" bIns="0" rtlCol="0" anchor="ctr"/>
          <a:lstStyle/>
          <a:p>
            <a:pPr indent="0" marL="0">
              <a:buNone/>
            </a:pPr>
            <a:r>
              <a:rPr lang="en-US" sz="2600" b="1" dirty="0">
                <a:solidFill>
                  <a:srgbClr val="0F2D5F"/>
                </a:solidFill>
                <a:latin typeface="Calibri" pitchFamily="34" charset="0"/>
                <a:ea typeface="Calibri" pitchFamily="34" charset="-122"/>
                <a:cs typeface="Calibri" pitchFamily="34" charset="-120"/>
              </a:rPr>
              <a:t>Key references</a:t>
            </a:r>
            <a:endParaRPr lang="en-US" sz="2600" dirty="0"/>
          </a:p>
        </p:txBody>
      </p:sp>
      <p:sp>
        <p:nvSpPr>
          <p:cNvPr id="8" name="Shape 6"/>
          <p:cNvSpPr/>
          <p:nvPr/>
        </p:nvSpPr>
        <p:spPr>
          <a:xfrm>
            <a:off x="548640" y="1097280"/>
            <a:ext cx="73152" cy="960120"/>
          </a:xfrm>
          <a:prstGeom prst="rect">
            <a:avLst/>
          </a:prstGeom>
          <a:solidFill>
            <a:srgbClr val="F2A900"/>
          </a:solidFill>
          <a:ln w="12700">
            <a:solidFill>
              <a:srgbClr val="F2A900"/>
            </a:solidFill>
            <a:prstDash val="solid"/>
          </a:ln>
        </p:spPr>
      </p:sp>
      <p:sp>
        <p:nvSpPr>
          <p:cNvPr id="9" name="Text 7"/>
          <p:cNvSpPr/>
          <p:nvPr/>
        </p:nvSpPr>
        <p:spPr>
          <a:xfrm>
            <a:off x="713232" y="1097280"/>
            <a:ext cx="5212080" cy="320040"/>
          </a:xfrm>
          <a:prstGeom prst="rect">
            <a:avLst/>
          </a:prstGeom>
          <a:noFill/>
          <a:ln/>
        </p:spPr>
        <p:txBody>
          <a:bodyPr wrap="square" lIns="0" tIns="0" rIns="0" bIns="0" rtlCol="0" anchor="ctr"/>
          <a:lstStyle/>
          <a:p>
            <a:pPr indent="0" marL="0">
              <a:buNone/>
            </a:pPr>
            <a:r>
              <a:rPr lang="en-US" sz="1400" b="1" dirty="0">
                <a:solidFill>
                  <a:srgbClr val="0F2D5F"/>
                </a:solidFill>
                <a:latin typeface="Calibri" pitchFamily="34" charset="0"/>
                <a:ea typeface="Calibri" pitchFamily="34" charset="-122"/>
                <a:cs typeface="Calibri" pitchFamily="34" charset="-120"/>
              </a:rPr>
              <a:t>Dr. Roman Chomko</a:t>
            </a:r>
            <a:endParaRPr lang="en-US" sz="1400" dirty="0"/>
          </a:p>
        </p:txBody>
      </p:sp>
      <p:sp>
        <p:nvSpPr>
          <p:cNvPr id="10" name="Text 8"/>
          <p:cNvSpPr/>
          <p:nvPr/>
        </p:nvSpPr>
        <p:spPr>
          <a:xfrm>
            <a:off x="713232" y="1417320"/>
            <a:ext cx="5212080" cy="64008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EE 175A/B faculty advisor — architecture review, documentation rigor, design oversight across both quarters.</a:t>
            </a:r>
            <a:endParaRPr lang="en-US" sz="1150" dirty="0"/>
          </a:p>
        </p:txBody>
      </p:sp>
      <p:sp>
        <p:nvSpPr>
          <p:cNvPr id="11" name="Shape 9"/>
          <p:cNvSpPr/>
          <p:nvPr/>
        </p:nvSpPr>
        <p:spPr>
          <a:xfrm>
            <a:off x="548640" y="2194560"/>
            <a:ext cx="73152" cy="960120"/>
          </a:xfrm>
          <a:prstGeom prst="rect">
            <a:avLst/>
          </a:prstGeom>
          <a:solidFill>
            <a:srgbClr val="F2A900"/>
          </a:solidFill>
          <a:ln w="12700">
            <a:solidFill>
              <a:srgbClr val="F2A900"/>
            </a:solidFill>
            <a:prstDash val="solid"/>
          </a:ln>
        </p:spPr>
      </p:sp>
      <p:sp>
        <p:nvSpPr>
          <p:cNvPr id="12" name="Text 10"/>
          <p:cNvSpPr/>
          <p:nvPr/>
        </p:nvSpPr>
        <p:spPr>
          <a:xfrm>
            <a:off x="713232" y="2194560"/>
            <a:ext cx="5212080" cy="320040"/>
          </a:xfrm>
          <a:prstGeom prst="rect">
            <a:avLst/>
          </a:prstGeom>
          <a:noFill/>
          <a:ln/>
        </p:spPr>
        <p:txBody>
          <a:bodyPr wrap="square" lIns="0" tIns="0" rIns="0" bIns="0" rtlCol="0" anchor="ctr"/>
          <a:lstStyle/>
          <a:p>
            <a:pPr indent="0" marL="0">
              <a:buNone/>
            </a:pPr>
            <a:r>
              <a:rPr lang="en-US" sz="1400" b="1" dirty="0">
                <a:solidFill>
                  <a:srgbClr val="0F2D5F"/>
                </a:solidFill>
                <a:latin typeface="Calibri" pitchFamily="34" charset="0"/>
                <a:ea typeface="Calibri" pitchFamily="34" charset="-122"/>
                <a:cs typeface="Calibri" pitchFamily="34" charset="-120"/>
              </a:rPr>
              <a:t>Mehrnoosh Ayazi</a:t>
            </a:r>
            <a:endParaRPr lang="en-US" sz="1400" dirty="0"/>
          </a:p>
        </p:txBody>
      </p:sp>
      <p:sp>
        <p:nvSpPr>
          <p:cNvPr id="13" name="Text 11"/>
          <p:cNvSpPr/>
          <p:nvPr/>
        </p:nvSpPr>
        <p:spPr>
          <a:xfrm>
            <a:off x="713232" y="2514600"/>
            <a:ext cx="5212080" cy="64008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Lab session support and weekly bring-up guidance through the rework phases.</a:t>
            </a:r>
            <a:endParaRPr lang="en-US" sz="1150" dirty="0"/>
          </a:p>
        </p:txBody>
      </p:sp>
      <p:sp>
        <p:nvSpPr>
          <p:cNvPr id="14" name="Shape 12"/>
          <p:cNvSpPr/>
          <p:nvPr/>
        </p:nvSpPr>
        <p:spPr>
          <a:xfrm>
            <a:off x="548640" y="3291840"/>
            <a:ext cx="73152" cy="960120"/>
          </a:xfrm>
          <a:prstGeom prst="rect">
            <a:avLst/>
          </a:prstGeom>
          <a:solidFill>
            <a:srgbClr val="F2A900"/>
          </a:solidFill>
          <a:ln w="12700">
            <a:solidFill>
              <a:srgbClr val="F2A900"/>
            </a:solidFill>
            <a:prstDash val="solid"/>
          </a:ln>
        </p:spPr>
      </p:sp>
      <p:sp>
        <p:nvSpPr>
          <p:cNvPr id="15" name="Text 13"/>
          <p:cNvSpPr/>
          <p:nvPr/>
        </p:nvSpPr>
        <p:spPr>
          <a:xfrm>
            <a:off x="713232" y="3291840"/>
            <a:ext cx="5212080" cy="320040"/>
          </a:xfrm>
          <a:prstGeom prst="rect">
            <a:avLst/>
          </a:prstGeom>
          <a:noFill/>
          <a:ln/>
        </p:spPr>
        <p:txBody>
          <a:bodyPr wrap="square" lIns="0" tIns="0" rIns="0" bIns="0" rtlCol="0" anchor="ctr"/>
          <a:lstStyle/>
          <a:p>
            <a:pPr indent="0" marL="0">
              <a:buNone/>
            </a:pPr>
            <a:r>
              <a:rPr lang="en-US" sz="1400" b="1" dirty="0">
                <a:solidFill>
                  <a:srgbClr val="0F2D5F"/>
                </a:solidFill>
                <a:latin typeface="Calibri" pitchFamily="34" charset="0"/>
                <a:ea typeface="Calibri" pitchFamily="34" charset="-122"/>
                <a:cs typeface="Calibri" pitchFamily="34" charset="-120"/>
              </a:rPr>
              <a:t>Manglai Zhou</a:t>
            </a:r>
            <a:endParaRPr lang="en-US" sz="1400" dirty="0"/>
          </a:p>
        </p:txBody>
      </p:sp>
      <p:sp>
        <p:nvSpPr>
          <p:cNvPr id="16" name="Text 14"/>
          <p:cNvSpPr/>
          <p:nvPr/>
        </p:nvSpPr>
        <p:spPr>
          <a:xfrm>
            <a:off x="713232" y="3611880"/>
            <a:ext cx="5212080" cy="64008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Makerspace access, lithium-cell storage, and the relay that replaced the failed breaker MOSFETs.</a:t>
            </a:r>
            <a:endParaRPr lang="en-US" sz="1150" dirty="0"/>
          </a:p>
        </p:txBody>
      </p:sp>
      <p:sp>
        <p:nvSpPr>
          <p:cNvPr id="17" name="Shape 15"/>
          <p:cNvSpPr/>
          <p:nvPr/>
        </p:nvSpPr>
        <p:spPr>
          <a:xfrm>
            <a:off x="548640" y="4389120"/>
            <a:ext cx="73152" cy="960120"/>
          </a:xfrm>
          <a:prstGeom prst="rect">
            <a:avLst/>
          </a:prstGeom>
          <a:solidFill>
            <a:srgbClr val="F2A900"/>
          </a:solidFill>
          <a:ln w="12700">
            <a:solidFill>
              <a:srgbClr val="F2A900"/>
            </a:solidFill>
            <a:prstDash val="solid"/>
          </a:ln>
        </p:spPr>
      </p:sp>
      <p:sp>
        <p:nvSpPr>
          <p:cNvPr id="18" name="Text 16"/>
          <p:cNvSpPr/>
          <p:nvPr/>
        </p:nvSpPr>
        <p:spPr>
          <a:xfrm>
            <a:off x="713232" y="4389120"/>
            <a:ext cx="5212080" cy="320040"/>
          </a:xfrm>
          <a:prstGeom prst="rect">
            <a:avLst/>
          </a:prstGeom>
          <a:noFill/>
          <a:ln/>
        </p:spPr>
        <p:txBody>
          <a:bodyPr wrap="square" lIns="0" tIns="0" rIns="0" bIns="0" rtlCol="0" anchor="ctr"/>
          <a:lstStyle/>
          <a:p>
            <a:pPr indent="0" marL="0">
              <a:buNone/>
            </a:pPr>
            <a:r>
              <a:rPr lang="en-US" sz="1400" b="1" dirty="0">
                <a:solidFill>
                  <a:srgbClr val="0F2D5F"/>
                </a:solidFill>
                <a:latin typeface="Calibri" pitchFamily="34" charset="0"/>
                <a:ea typeface="Calibri" pitchFamily="34" charset="-122"/>
                <a:cs typeface="Calibri" pitchFamily="34" charset="-120"/>
              </a:rPr>
              <a:t>Connor Stewart</a:t>
            </a:r>
            <a:endParaRPr lang="en-US" sz="1400" dirty="0"/>
          </a:p>
        </p:txBody>
      </p:sp>
      <p:sp>
        <p:nvSpPr>
          <p:cNvPr id="19" name="Text 17"/>
          <p:cNvSpPr/>
          <p:nvPr/>
        </p:nvSpPr>
        <p:spPr>
          <a:xfrm>
            <a:off x="713232" y="4709160"/>
            <a:ext cx="5212080" cy="640080"/>
          </a:xfrm>
          <a:prstGeom prst="rect">
            <a:avLst/>
          </a:prstGeom>
          <a:noFill/>
          <a:ln/>
        </p:spPr>
        <p:txBody>
          <a:bodyPr wrap="square" lIns="0" tIns="0" rIns="0" bIns="0" rtlCol="0" anchor="ctr"/>
          <a:lstStyle/>
          <a:p>
            <a:pPr indent="0" marL="0">
              <a:buNone/>
            </a:pPr>
            <a:r>
              <a:rPr lang="en-US" sz="1150" dirty="0">
                <a:solidFill>
                  <a:srgbClr val="0A1A33"/>
                </a:solidFill>
                <a:latin typeface="Calibri" pitchFamily="34" charset="0"/>
                <a:ea typeface="Calibri" pitchFamily="34" charset="-122"/>
                <a:cs typeface="Calibri" pitchFamily="34" charset="-120"/>
              </a:rPr>
              <a:t>Fourth team member — overall hardware architecture, BMS schematic logic, Cell Emulator PCB.</a:t>
            </a:r>
            <a:endParaRPr lang="en-US" sz="1150" dirty="0"/>
          </a:p>
        </p:txBody>
      </p:sp>
      <p:sp>
        <p:nvSpPr>
          <p:cNvPr id="20" name="Text 18"/>
          <p:cNvSpPr/>
          <p:nvPr/>
        </p:nvSpPr>
        <p:spPr>
          <a:xfrm>
            <a:off x="6400800" y="1097280"/>
            <a:ext cx="5212080" cy="4389120"/>
          </a:xfrm>
          <a:prstGeom prst="rect">
            <a:avLst/>
          </a:prstGeom>
          <a:noFill/>
          <a:ln/>
        </p:spPr>
        <p:txBody>
          <a:bodyPr wrap="square" lIns="0" tIns="0" rIns="0" bIns="0" rtlCol="0" anchor="t"/>
          <a:lstStyle/>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[1]  Texas Instruments, BQ769x0 3-Series to 15-Series Cell Battery Monitor Family, Datasheet SLUSBK2G, Rev. G, May 2016.</a:t>
            </a:r>
            <a:endParaRPr lang="en-US" sz="1050" dirty="0"/>
          </a:p>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[2]  STMicroelectronics, RM0316 — STM32F303xB/C/D/E Reference Manual, Rev. 10, 2020.</a:t>
            </a:r>
            <a:endParaRPr lang="en-US" sz="1050" dirty="0"/>
          </a:p>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[3]  Analog Devices, AD8628/AD8629/AD8630 Zero-Drift Op-Amp Datasheet, Rev. K, 2023.</a:t>
            </a:r>
            <a:endParaRPr lang="en-US" sz="1050" dirty="0"/>
          </a:p>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[4]  Microchip Technology, MCP4725 12-Bit DAC with EEPROM, Datasheet DS20002039F, 2023.</a:t>
            </a:r>
            <a:endParaRPr lang="en-US" sz="1050" dirty="0"/>
          </a:p>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[5]  Molicel, INR-21700-P42A Lithium-Ion Cell Datasheet, Rev. 1.0, 2019.</a:t>
            </a:r>
            <a:endParaRPr lang="en-US" sz="1050" dirty="0"/>
          </a:p>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[6]  IPC, IPC-2221B Generic Standard on Printed Board Design, 2012.</a:t>
            </a:r>
            <a:endParaRPr lang="en-US" sz="1050" dirty="0"/>
          </a:p>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[7]  NXP Semiconductors, UM10204 I²C-Bus Specification, Rev. 7.0, 2021.</a:t>
            </a:r>
            <a:endParaRPr lang="en-US" sz="1050" dirty="0"/>
          </a:p>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[8]  USB-IF, Universal Serial Bus Specification, Rev. 2.0, 2000.</a:t>
            </a:r>
            <a:endParaRPr lang="en-US" sz="1050" dirty="0"/>
          </a:p>
          <a:p>
            <a:pPr indent="0" marL="0">
              <a:spcAft>
                <a:spcPts val="400"/>
              </a:spcAft>
              <a:buNone/>
            </a:pPr>
            <a:r>
              <a:rPr lang="en-US" sz="1050" dirty="0">
                <a:solidFill>
                  <a:srgbClr val="0A1A33"/>
                </a:solidFill>
                <a:latin typeface="Calibri" pitchFamily="34" charset="0"/>
                <a:ea typeface="Calibri" pitchFamily="34" charset="-122"/>
                <a:cs typeface="Calibri" pitchFamily="34" charset="-120"/>
              </a:rPr>
              <a:t>[9]  Ewert Energy Systems, Orion BMS 2 Product Documentation, 2024.</a:t>
            </a:r>
            <a:endParaRPr lang="en-US" sz="1050" dirty="0"/>
          </a:p>
        </p:txBody>
      </p:sp>
      <p:sp>
        <p:nvSpPr>
          <p:cNvPr id="21" name="Shape 19"/>
          <p:cNvSpPr/>
          <p:nvPr/>
        </p:nvSpPr>
        <p:spPr>
          <a:xfrm>
            <a:off x="548640" y="5623560"/>
            <a:ext cx="11064240" cy="548640"/>
          </a:xfrm>
          <a:prstGeom prst="rect">
            <a:avLst/>
          </a:prstGeom>
          <a:solidFill>
            <a:srgbClr val="0F2D5F"/>
          </a:solidFill>
          <a:ln w="12700">
            <a:solidFill>
              <a:srgbClr val="0F2D5F"/>
            </a:solidFill>
            <a:prstDash val="solid"/>
          </a:ln>
        </p:spPr>
      </p:sp>
      <p:sp>
        <p:nvSpPr>
          <p:cNvPr id="22" name="Text 20"/>
          <p:cNvSpPr/>
          <p:nvPr/>
        </p:nvSpPr>
        <p:spPr>
          <a:xfrm>
            <a:off x="548640" y="5623560"/>
            <a:ext cx="11064240" cy="548640"/>
          </a:xfrm>
          <a:prstGeom prst="rect">
            <a:avLst/>
          </a:prstGeom>
          <a:noFill/>
          <a:ln/>
        </p:spPr>
        <p:txBody>
          <a:bodyPr wrap="square" lIns="0" tIns="0" rIns="0" bIns="0" rtlCol="0" anchor="ctr"/>
          <a:lstStyle/>
          <a:p>
            <a:pPr algn="ctr" indent="0" marL="0">
              <a:buNone/>
            </a:pPr>
            <a:r>
              <a:rPr lang="en-US" sz="1300" b="1" dirty="0">
                <a:solidFill>
                  <a:srgbClr val="F2A900"/>
                </a:solidFill>
                <a:latin typeface="Calibri" pitchFamily="34" charset="0"/>
                <a:ea typeface="Calibri" pitchFamily="34" charset="-122"/>
                <a:cs typeface="Calibri" pitchFamily="34" charset="-120"/>
              </a:rPr>
              <a:t>Contact:  </a:t>
            </a:r>
            <a:pPr algn="ctr" indent="0" marL="0">
              <a:buNone/>
            </a:pPr>
            <a:r>
              <a:rPr lang="en-US" sz="1300" dirty="0">
                <a:solidFill>
                  <a:srgbClr val="FFFFFF"/>
                </a:solidFill>
                <a:latin typeface="Calibri" pitchFamily="34" charset="0"/>
                <a:ea typeface="Calibri" pitchFamily="34" charset="-122"/>
                <a:cs typeface="Calibri" pitchFamily="34" charset="-120"/>
              </a:rPr>
              <a:t>vvada002@ucr.edu</a:t>
            </a:r>
            <a:pPr algn="ctr" indent="0" marL="0">
              <a:buNone/>
            </a:pPr>
            <a:r>
              <a:rPr lang="en-US" sz="1300" dirty="0">
                <a:solidFill>
                  <a:srgbClr val="F2A900"/>
                </a:solidFill>
                <a:latin typeface="Calibri" pitchFamily="34" charset="0"/>
                <a:ea typeface="Calibri" pitchFamily="34" charset="-122"/>
                <a:cs typeface="Calibri" pitchFamily="34" charset="-120"/>
              </a:rPr>
              <a:t>   ·   </a:t>
            </a:r>
            <a:pPr algn="ctr" indent="0" marL="0">
              <a:buNone/>
            </a:pPr>
            <a:r>
              <a:rPr lang="en-US" sz="1300" dirty="0">
                <a:solidFill>
                  <a:srgbClr val="FFFFFF"/>
                </a:solidFill>
                <a:latin typeface="Calibri" pitchFamily="34" charset="0"/>
                <a:ea typeface="Calibri" pitchFamily="34" charset="-122"/>
                <a:cs typeface="Calibri" pitchFamily="34" charset="-120"/>
              </a:rPr>
              <a:t>npoon010@ucr.edu</a:t>
            </a:r>
            <a:pPr algn="ctr" indent="0" marL="0">
              <a:buNone/>
            </a:pPr>
            <a:r>
              <a:rPr lang="en-US" sz="1300" dirty="0">
                <a:solidFill>
                  <a:srgbClr val="F2A900"/>
                </a:solidFill>
                <a:latin typeface="Calibri" pitchFamily="34" charset="0"/>
                <a:ea typeface="Calibri" pitchFamily="34" charset="-122"/>
                <a:cs typeface="Calibri" pitchFamily="34" charset="-120"/>
              </a:rPr>
              <a:t>   ·   </a:t>
            </a:r>
            <a:pPr algn="ctr" indent="0" marL="0">
              <a:buNone/>
            </a:pPr>
            <a:r>
              <a:rPr lang="en-US" sz="1300" dirty="0">
                <a:solidFill>
                  <a:srgbClr val="FFFFFF"/>
                </a:solidFill>
                <a:latin typeface="Calibri" pitchFamily="34" charset="0"/>
                <a:ea typeface="Calibri" pitchFamily="34" charset="-122"/>
                <a:cs typeface="Calibri" pitchFamily="34" charset="-120"/>
              </a:rPr>
              <a:t>ckim331@ucr.edu</a:t>
            </a:r>
            <a:pPr algn="ctr" indent="0" marL="0">
              <a:buNone/>
            </a:pPr>
            <a:r>
              <a:rPr lang="en-US" sz="1300" dirty="0">
                <a:solidFill>
                  <a:srgbClr val="F2A900"/>
                </a:solidFill>
                <a:latin typeface="Calibri" pitchFamily="34" charset="0"/>
                <a:ea typeface="Calibri" pitchFamily="34" charset="-122"/>
                <a:cs typeface="Calibri" pitchFamily="34" charset="-120"/>
              </a:rPr>
              <a:t>   ·   </a:t>
            </a:r>
            <a:pPr algn="ctr" indent="0" marL="0">
              <a:buNone/>
            </a:pPr>
            <a:r>
              <a:rPr lang="en-US" sz="1300" dirty="0">
                <a:solidFill>
                  <a:srgbClr val="FFFFFF"/>
                </a:solidFill>
                <a:latin typeface="Calibri" pitchFamily="34" charset="0"/>
                <a:ea typeface="Calibri" pitchFamily="34" charset="-122"/>
                <a:cs typeface="Calibri" pitchFamily="34" charset="-120"/>
              </a:rPr>
              <a:t>cstew032@ucr.edu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Battery Management System — EE175AB / ENGR 181W</dc:title>
  <dc:subject>PptxGenJS Presentation</dc:subject>
  <dc:creator>Kaushik Vada, Nick Poon, Christian Kim</dc:creator>
  <cp:lastModifiedBy>Kaushik Vada, Nick Poon, Christian Kim</cp:lastModifiedBy>
  <cp:revision>1</cp:revision>
  <dcterms:created xsi:type="dcterms:W3CDTF">2026-05-18T20:46:17Z</dcterms:created>
  <dcterms:modified xsi:type="dcterms:W3CDTF">2026-05-18T20:46:17Z</dcterms:modified>
</cp:coreProperties>
</file>