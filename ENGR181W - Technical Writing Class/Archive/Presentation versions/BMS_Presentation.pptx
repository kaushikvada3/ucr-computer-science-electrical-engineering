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9" r:id="rId2"/>
    <p:sldId id="281" r:id="rId3"/>
    <p:sldId id="282" r:id="rId4"/>
    <p:sldId id="285" r:id="rId5"/>
    <p:sldId id="287" r:id="rId6"/>
    <p:sldId id="289" r:id="rId7"/>
    <p:sldId id="288" r:id="rId8"/>
    <p:sldId id="274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84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05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— Brief, ~10 s. No need to read the title. Kaushik opens: 'Good afternoon, I'm Kaushik Vada — I'm here with Nick Poon and Christian Kim, and we're going to walk you through our Battery Management System project for EE 175.'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&amp; OBJECTIVES — Kaushik, ~45–55 s. Hit the safety stakes (42 V, 100+ A on a short), then the commercial gap (Orion costs $1,200 and won't expose telemetry), then transition into the five quantitative targets that defined the project from day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— Kaushik, ~45–55 s. Walk left to right: Battery Unit holds the pack and BMS, Testbench holds the E-Load and support boards, Operator Station runs the dashboard. Two USB cables and one software bridge — that's the whole interconnect. Hand off to Christian for the E-Load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BMS HARDWARE — Kaushik, ~50–60 s. Anchor on the BQ76930 — explain that hardware protection means the pack is safe even if the STM32 is mid-reset. Walk through the signal chain. Don't read the right-hand callouts; just gesture and let the audience read while you speak. Hand off to Christian.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E-LOAD — Christian, ~55–65 s. Explain the feedback loop: DAC sets the reference, op-amp drives MOSFET gates until the shunt voltage matches. Mention the thermal margin briefly. Hand off to Nick for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— Nick, ~50–60 s. Walk top-down: firmware packs the frame, Python decodes and exposes it via QWebChannel, Three.js renders the 3D cell stack. The right-hand callouts justify each architectural decision — pick one or two, don't read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— Nick → Kaushik, ~45 s. Read the headline: all five met, three exceeded by 2× or more. Point at the 70 µs breaker line and the $966 cost line specifically. Hand back to Kaushik to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CONCLUSIONS — Kaushik, ~35–45 s. Hit the three numbered takeaways. Then: 'We're happy to take questions.' DO NOT advance off this slide — it stays on screen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— Do not flip to this during the talk. It exists for the rubric and for the audience after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8000" y="889000"/>
            <a:ext cx="812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spc="300" dirty="0">
                <a:solidFill>
                  <a:srgbClr val="F4B431"/>
                </a:solidFill>
                <a:latin typeface="Calibri"/>
              </a:rPr>
              <a:t>SENIOR DESIGN  ·  EE 175AB  ·  ENGR 181W</a:t>
            </a:r>
          </a:p>
        </p:txBody>
      </p:sp>
      <p:sp>
        <p:nvSpPr>
          <p:cNvPr id="4" name="Text 2"/>
          <p:cNvSpPr/>
          <p:nvPr/>
        </p:nvSpPr>
        <p:spPr>
          <a:xfrm>
            <a:off x="508000" y="1397000"/>
            <a:ext cx="812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000" b="1" spc="-50" dirty="0">
                <a:solidFill>
                  <a:srgbClr val="FFFFFF"/>
                </a:solidFill>
                <a:latin typeface="Calibri"/>
              </a:rPr>
              <a:t>Battery Management System</a:t>
            </a:r>
          </a:p>
        </p:txBody>
      </p:sp>
      <p:sp>
        <p:nvSpPr>
          <p:cNvPr id="5" name="Text 3"/>
          <p:cNvSpPr/>
          <p:nvPr/>
        </p:nvSpPr>
        <p:spPr>
          <a:xfrm>
            <a:off x="508000" y="28575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9AB6E0"/>
                </a:solidFill>
                <a:latin typeface="Calibri Light"/>
              </a:rPr>
              <a:t>A 10-cell lithium-ion pack with programmable electronic load and a real-time desktop dashboard.</a:t>
            </a:r>
          </a:p>
        </p:txBody>
      </p:sp>
      <p:sp>
        <p:nvSpPr>
          <p:cNvPr id="6" name="Text 4"/>
          <p:cNvSpPr/>
          <p:nvPr/>
        </p:nvSpPr>
        <p:spPr>
          <a:xfrm>
            <a:off x="508000" y="43815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Kaushik Vada  ·  Nick Poon  ·  Christian Kim</a:t>
            </a:r>
          </a:p>
        </p:txBody>
      </p:sp>
      <p:sp>
        <p:nvSpPr>
          <p:cNvPr id="7" name="Text 5"/>
          <p:cNvSpPr/>
          <p:nvPr/>
        </p:nvSpPr>
        <p:spPr>
          <a:xfrm>
            <a:off x="4826000" y="44196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9AB6E0"/>
                </a:solidFill>
                <a:latin typeface="Calibri"/>
              </a:rPr>
              <a:t>University of California, Riverside  ·  June 1,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F738DF-7260-2148-A496-5A40A44EF122}"/>
              </a:ext>
            </a:extLst>
          </p:cNvPr>
          <p:cNvSpPr/>
          <p:nvPr/>
        </p:nvSpPr>
        <p:spPr>
          <a:xfrm>
            <a:off x="508000" y="457200"/>
            <a:ext cx="177800" cy="1778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E0C779-8888-F04D-A4CB-A0B518133736}"/>
              </a:ext>
            </a:extLst>
          </p:cNvPr>
          <p:cNvSpPr/>
          <p:nvPr/>
        </p:nvSpPr>
        <p:spPr>
          <a:xfrm>
            <a:off x="762000" y="520700"/>
            <a:ext cx="1016000" cy="254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086D72-6F81-4C4F-B3F8-4A7235406A3F}"/>
              </a:ext>
            </a:extLst>
          </p:cNvPr>
          <p:cNvSpPr/>
          <p:nvPr/>
        </p:nvSpPr>
        <p:spPr>
          <a:xfrm>
            <a:off x="508000" y="4191000"/>
            <a:ext cx="8128000" cy="1905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8264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35000"/>
            <a:ext cx="8229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0" dirty="0">
                <a:solidFill>
                  <a:srgbClr val="0A1F44"/>
                </a:solidFill>
                <a:latin typeface="Calibri Light"/>
              </a:rPr>
              <a:t>Commercial 10-cell BMS units cost $1,200+ and lock telemetry behind proprietary software — none feed a custom Python application.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6276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/>
              </a:rPr>
              <a:t>The gap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975104"/>
            <a:ext cx="4114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A1F44"/>
                </a:solidFill>
                <a:latin typeface="Calibri"/>
              </a:rPr>
              <a:t>Safety. </a:t>
            </a:r>
            <a:r>
              <a:rPr lang="en-US" sz="1500" dirty="0">
                <a:solidFill>
                  <a:srgbClr val="2D2D2D"/>
                </a:solidFill>
                <a:latin typeface="Calibri"/>
              </a:rPr>
              <a:t>A 10s pack at 42 V can source 100+ A into a short — no MCU response is fast enough.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A1F44"/>
                </a:solidFill>
                <a:latin typeface="Calibri"/>
              </a:rPr>
              <a:t>Cost. </a:t>
            </a:r>
            <a:r>
              <a:rPr lang="en-US" sz="1500" dirty="0">
                <a:solidFill>
                  <a:srgbClr val="2D2D2D"/>
                </a:solidFill>
                <a:latin typeface="Calibri"/>
              </a:rPr>
              <a:t>Orion BMS 2 starts at $1,200 and requires Orion's proprietary configurator.</a:t>
            </a:r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0A1F44"/>
                </a:solidFill>
                <a:latin typeface="Calibri"/>
              </a:rPr>
              <a:t>Integration. </a:t>
            </a:r>
            <a:r>
              <a:rPr lang="en-US" sz="1500" dirty="0">
                <a:solidFill>
                  <a:srgbClr val="2D2D2D"/>
                </a:solidFill>
                <a:latin typeface="Calibri"/>
              </a:rPr>
              <a:t>No commercial unit exposes per-cell voltage over standard USB serial.</a:t>
            </a:r>
          </a:p>
        </p:txBody>
      </p:sp>
      <p:sp>
        <p:nvSpPr>
          <p:cNvPr id="6" name="Shape 4"/>
          <p:cNvSpPr/>
          <p:nvPr/>
        </p:nvSpPr>
        <p:spPr>
          <a:xfrm>
            <a:off x="4846320" y="1627632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83480" y="17190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/>
              </a:rPr>
              <a:t>Five design objectives</a:t>
            </a:r>
          </a:p>
        </p:txBody>
      </p:sp>
      <p:sp>
        <p:nvSpPr>
          <p:cNvPr id="8" name="Text 6"/>
          <p:cNvSpPr/>
          <p:nvPr/>
        </p:nvSpPr>
        <p:spPr>
          <a:xfrm>
            <a:off x="4983480" y="2130552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A1F44"/>
                </a:solidFill>
                <a:latin typeface="Calibri"/>
              </a:rPr>
              <a:t>Cell voltage error   </a:t>
            </a:r>
            <a:r>
              <a:rPr lang="en-US" sz="1500" b="1" dirty="0">
                <a:solidFill>
                  <a:srgbClr val="F4B431"/>
                </a:solidFill>
                <a:latin typeface="Calibri"/>
              </a:rPr>
              <a:t>≤ ± 20 mV</a:t>
            </a:r>
          </a:p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A1F44"/>
                </a:solidFill>
                <a:latin typeface="Calibri"/>
              </a:rPr>
              <a:t>Breaker response   </a:t>
            </a:r>
            <a:r>
              <a:rPr lang="en-US" sz="1500" b="1" dirty="0">
                <a:solidFill>
                  <a:srgbClr val="F4B431"/>
                </a:solidFill>
                <a:latin typeface="Calibri"/>
              </a:rPr>
              <a:t>≤ 5 ms</a:t>
            </a:r>
          </a:p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A1F44"/>
                </a:solidFill>
                <a:latin typeface="Calibri"/>
              </a:rPr>
              <a:t>E-Load regulation   </a:t>
            </a:r>
            <a:r>
              <a:rPr lang="en-US" sz="1500" b="1" dirty="0">
                <a:solidFill>
                  <a:srgbClr val="F4B431"/>
                </a:solidFill>
                <a:latin typeface="Calibri"/>
              </a:rPr>
              <a:t>within 2% of setpoint</a:t>
            </a:r>
          </a:p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A1F44"/>
                </a:solidFill>
                <a:latin typeface="Calibri"/>
              </a:rPr>
              <a:t>Dashboard refresh   </a:t>
            </a:r>
            <a:r>
              <a:rPr lang="en-US" sz="1500" b="1" dirty="0">
                <a:solidFill>
                  <a:srgbClr val="F4B431"/>
                </a:solidFill>
                <a:latin typeface="Calibri"/>
              </a:rPr>
              <a:t>≥ 5 Hz live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0A1F44"/>
                </a:solidFill>
                <a:latin typeface="Calibri"/>
              </a:rPr>
              <a:t>Total budget   </a:t>
            </a:r>
            <a:r>
              <a:rPr lang="en-US" sz="1500" b="1" dirty="0">
                <a:solidFill>
                  <a:srgbClr val="F4B431"/>
                </a:solidFill>
                <a:latin typeface="Calibri"/>
              </a:rPr>
              <a:t>≤ $3,000 across 4 PCBs</a:t>
            </a:r>
          </a:p>
        </p:txBody>
      </p:sp>
      <p:sp>
        <p:nvSpPr>
          <p:cNvPr id="11" name="Text 9"/>
          <p:cNvSpPr/>
          <p:nvPr/>
        </p:nvSpPr>
        <p:spPr>
          <a:xfrm>
            <a:off x="5943600" y="48417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spc="200" dirty="0">
                <a:solidFill>
                  <a:srgbClr val="5A6B85"/>
                </a:solidFill>
                <a:latin typeface="Calibri"/>
              </a:rPr>
              <a:t>INTRO &amp; PROBLEM</a:t>
            </a:r>
          </a:p>
        </p:txBody>
      </p:sp>
      <p:sp>
        <p:nvSpPr>
          <p:cNvPr id="12" name="Text 10"/>
          <p:cNvSpPr/>
          <p:nvPr/>
        </p:nvSpPr>
        <p:spPr>
          <a:xfrm>
            <a:off x="8178800" y="482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A1F44"/>
                </a:solidFill>
                <a:latin typeface="Calibri"/>
              </a:rPr>
              <a:t>02 / 09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40859E-4991-9541-BE1D-582343BCD5E1}"/>
              </a:ext>
            </a:extLst>
          </p:cNvPr>
          <p:cNvSpPr/>
          <p:nvPr/>
        </p:nvSpPr>
        <p:spPr>
          <a:xfrm>
            <a:off x="457200" y="279400"/>
            <a:ext cx="127000" cy="1270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B279F9-3E10-F140-B4BA-49E840BB4F05}"/>
              </a:ext>
            </a:extLst>
          </p:cNvPr>
          <p:cNvSpPr/>
          <p:nvPr/>
        </p:nvSpPr>
        <p:spPr>
          <a:xfrm>
            <a:off x="635000" y="330200"/>
            <a:ext cx="635000" cy="1905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DB3EC9-4963-7447-BC51-C43183B6421D}"/>
              </a:ext>
            </a:extLst>
          </p:cNvPr>
          <p:cNvSpPr/>
          <p:nvPr/>
        </p:nvSpPr>
        <p:spPr>
          <a:xfrm>
            <a:off x="4851400" y="1625600"/>
            <a:ext cx="3835400" cy="2540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5617E1-D1C5-3B49-BFB4-D9E918F0E199}"/>
              </a:ext>
            </a:extLst>
          </p:cNvPr>
          <p:cNvSpPr/>
          <p:nvPr/>
        </p:nvSpPr>
        <p:spPr>
          <a:xfrm>
            <a:off x="4902200" y="1549400"/>
            <a:ext cx="101600" cy="101600"/>
          </a:xfrm>
          <a:prstGeom prst="ellipse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4DD6D6-F693-164B-92FD-EFB3EA521CE7}"/>
              </a:ext>
            </a:extLst>
          </p:cNvPr>
          <p:cNvSpPr/>
          <p:nvPr/>
        </p:nvSpPr>
        <p:spPr>
          <a:xfrm>
            <a:off x="457200" y="4737100"/>
            <a:ext cx="8229600" cy="12700"/>
          </a:xfrm>
          <a:prstGeom prst="rect">
            <a:avLst/>
          </a:prstGeom>
          <a:solidFill>
            <a:srgbClr val="C9C2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12D4D8-8169-8145-A1EB-5ADDB9C92FDC}"/>
              </a:ext>
            </a:extLst>
          </p:cNvPr>
          <p:cNvSpPr txBox="1"/>
          <p:nvPr/>
        </p:nvSpPr>
        <p:spPr>
          <a:xfrm>
            <a:off x="1397000" y="2794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0A1F44"/>
                </a:solidFill>
                <a:latin typeface="Calibri"/>
                <a:cs typeface="Calibri"/>
              </a:rPr>
              <a:t>01 · INTRO &amp; PROBLEM</a:t>
            </a:r>
          </a:p>
        </p:txBody>
      </p:sp>
    </p:spTree>
    <p:extLst>
      <p:ext uri="{BB962C8B-B14F-4D97-AF65-F5344CB8AC3E}">
        <p14:creationId xmlns:p14="http://schemas.microsoft.com/office/powerpoint/2010/main" val="2035056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711200"/>
            <a:ext cx="8229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0" dirty="0">
                <a:solidFill>
                  <a:srgbClr val="0A1F44"/>
                </a:solidFill>
                <a:latin typeface="Calibri Light"/>
              </a:rPr>
              <a:t>The testbench splits into </a:t>
            </a:r>
            <a:r>
              <a:rPr lang="en-US" sz="2400" b="1" dirty="0">
                <a:solidFill>
                  <a:srgbClr val="0A1F44"/>
                </a:solidFill>
                <a:latin typeface="Calibri"/>
              </a:rPr>
              <a:t>three domains</a:t>
            </a:r>
            <a:r>
              <a:rPr lang="en-US" sz="2400" b="0" dirty="0">
                <a:solidFill>
                  <a:srgbClr val="0A1F44"/>
                </a:solidFill>
                <a:latin typeface="Calibri Light"/>
              </a:rPr>
              <a:t> linked by USB CDC and a QWebChannel software bridge.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2286000" cy="210312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F44"/>
                </a:solidFill>
                <a:latin typeface="Calibri"/>
              </a:rPr>
              <a:t>Battery Unit</a:t>
            </a:r>
          </a:p>
        </p:txBody>
      </p:sp>
      <p:sp>
        <p:nvSpPr>
          <p:cNvPr id="7" name="Text 5"/>
          <p:cNvSpPr/>
          <p:nvPr/>
        </p:nvSpPr>
        <p:spPr>
          <a:xfrm>
            <a:off x="621792" y="2084832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10s1p Molicel P42A pack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PCB (BQ76930 + STM32)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 solid-state pack breaker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627632"/>
            <a:ext cx="2286000" cy="210312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29000" y="1627632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16276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F44"/>
                </a:solidFill>
                <a:latin typeface="Calibri"/>
              </a:rPr>
              <a:t>Testbench</a:t>
            </a:r>
          </a:p>
        </p:txBody>
      </p:sp>
      <p:sp>
        <p:nvSpPr>
          <p:cNvPr id="11" name="Text 9"/>
          <p:cNvSpPr/>
          <p:nvPr/>
        </p:nvSpPr>
        <p:spPr>
          <a:xfrm>
            <a:off x="3593592" y="2084832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E-Load PCB (DAC + op-amp + MOSFETs)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board (LM76005 buck stages)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emulator for safe bring-up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627632"/>
            <a:ext cx="2286000" cy="210312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1627632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16276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F44"/>
                </a:solidFill>
                <a:latin typeface="Calibri"/>
              </a:rPr>
              <a:t>Operator Station</a:t>
            </a:r>
          </a:p>
        </p:txBody>
      </p:sp>
      <p:sp>
        <p:nvSpPr>
          <p:cNvPr id="15" name="Text 13"/>
          <p:cNvSpPr/>
          <p:nvPr/>
        </p:nvSpPr>
        <p:spPr>
          <a:xfrm>
            <a:off x="6565392" y="2084832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 desktop application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3D cell-stack scene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AGX Orin host platform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3682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spc="100" dirty="0">
                <a:solidFill>
                  <a:srgbClr val="0A1F44"/>
                </a:solidFill>
                <a:latin typeface="Calibri"/>
              </a:rPr>
              <a:t>10 A</a:t>
            </a:r>
          </a:p>
        </p:txBody>
      </p:sp>
      <p:sp>
        <p:nvSpPr>
          <p:cNvPr id="17" name="Shape 15"/>
          <p:cNvSpPr/>
          <p:nvPr/>
        </p:nvSpPr>
        <p:spPr>
          <a:xfrm>
            <a:off x="2743200" y="2679192"/>
            <a:ext cx="685800" cy="0"/>
          </a:xfrm>
          <a:prstGeom prst="line">
            <a:avLst/>
          </a:prstGeom>
          <a:noFill/>
          <a:ln w="25400">
            <a:solidFill>
              <a:srgbClr val="0A1F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15000" y="23682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spc="100" dirty="0">
                <a:solidFill>
                  <a:srgbClr val="0A1F44"/>
                </a:solidFill>
                <a:latin typeface="Calibri"/>
              </a:rPr>
              <a:t>USB CDC</a:t>
            </a:r>
          </a:p>
        </p:txBody>
      </p:sp>
      <p:sp>
        <p:nvSpPr>
          <p:cNvPr id="19" name="Shape 17"/>
          <p:cNvSpPr/>
          <p:nvPr/>
        </p:nvSpPr>
        <p:spPr>
          <a:xfrm>
            <a:off x="5715000" y="2679192"/>
            <a:ext cx="685800" cy="0"/>
          </a:xfrm>
          <a:prstGeom prst="line">
            <a:avLst/>
          </a:prstGeom>
          <a:noFill/>
          <a:ln w="25400">
            <a:solidFill>
              <a:srgbClr val="0A1F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9593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5"/>
                </a:solidFill>
                <a:latin typeface="Calibri"/>
              </a:rPr>
              <a:t>USB CDC virtual COM at 115200 baud  ·  QWebChannel bridges Python → JavaScript at 10 Hz</a:t>
            </a:r>
          </a:p>
        </p:txBody>
      </p:sp>
      <p:sp>
        <p:nvSpPr>
          <p:cNvPr id="22" name="Text 20"/>
          <p:cNvSpPr/>
          <p:nvPr/>
        </p:nvSpPr>
        <p:spPr>
          <a:xfrm>
            <a:off x="201168" y="48417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48417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spc="200" dirty="0">
                <a:solidFill>
                  <a:srgbClr val="5A6B85"/>
                </a:solidFill>
                <a:latin typeface="Calibri"/>
              </a:rPr>
              <a:t>SYSTEM OVERVIEW</a:t>
            </a:r>
          </a:p>
        </p:txBody>
      </p:sp>
      <p:sp>
        <p:nvSpPr>
          <p:cNvPr id="24" name="Text 22"/>
          <p:cNvSpPr/>
          <p:nvPr/>
        </p:nvSpPr>
        <p:spPr>
          <a:xfrm>
            <a:off x="8178800" y="482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A1F44"/>
                </a:solidFill>
                <a:latin typeface="Calibri"/>
              </a:rPr>
              <a:t>03 / 09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1244A7-83EC-F840-8C3D-95467D6C91E2}"/>
              </a:ext>
            </a:extLst>
          </p:cNvPr>
          <p:cNvSpPr/>
          <p:nvPr/>
        </p:nvSpPr>
        <p:spPr>
          <a:xfrm>
            <a:off x="457200" y="279400"/>
            <a:ext cx="127000" cy="1270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AC902E-7B24-D64A-9AF8-AA753182E14D}"/>
              </a:ext>
            </a:extLst>
          </p:cNvPr>
          <p:cNvSpPr/>
          <p:nvPr/>
        </p:nvSpPr>
        <p:spPr>
          <a:xfrm>
            <a:off x="635000" y="330200"/>
            <a:ext cx="635000" cy="2540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F42A3A-8744-F042-BD90-D6EA3B119657}"/>
              </a:ext>
            </a:extLst>
          </p:cNvPr>
          <p:cNvSpPr txBox="1"/>
          <p:nvPr/>
        </p:nvSpPr>
        <p:spPr>
          <a:xfrm>
            <a:off x="1397000" y="2794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0A1F44"/>
                </a:solidFill>
              </a:rPr>
              <a:t>02 · SYSTEM OVERVIEW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5449C2-B8F5-1D4D-AAE3-36EEDA0B62B3}"/>
              </a:ext>
            </a:extLst>
          </p:cNvPr>
          <p:cNvSpPr/>
          <p:nvPr/>
        </p:nvSpPr>
        <p:spPr>
          <a:xfrm>
            <a:off x="457200" y="1625600"/>
            <a:ext cx="2286000" cy="2540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251181E-2B68-4F44-9F51-C35967634932}"/>
              </a:ext>
            </a:extLst>
          </p:cNvPr>
          <p:cNvSpPr/>
          <p:nvPr/>
        </p:nvSpPr>
        <p:spPr>
          <a:xfrm>
            <a:off x="508000" y="1549400"/>
            <a:ext cx="101600" cy="101600"/>
          </a:xfrm>
          <a:prstGeom prst="ellipse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D51218-32E9-3F4D-BC97-88ACC7C99ED0}"/>
              </a:ext>
            </a:extLst>
          </p:cNvPr>
          <p:cNvSpPr/>
          <p:nvPr/>
        </p:nvSpPr>
        <p:spPr>
          <a:xfrm>
            <a:off x="3429000" y="1625600"/>
            <a:ext cx="2286000" cy="2540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AC2978F-27A1-CC47-9D77-73862691DC0A}"/>
              </a:ext>
            </a:extLst>
          </p:cNvPr>
          <p:cNvSpPr/>
          <p:nvPr/>
        </p:nvSpPr>
        <p:spPr>
          <a:xfrm>
            <a:off x="3479800" y="1549400"/>
            <a:ext cx="101600" cy="101600"/>
          </a:xfrm>
          <a:prstGeom prst="ellipse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B909B5-351C-2740-BC95-D4F0052FC40F}"/>
              </a:ext>
            </a:extLst>
          </p:cNvPr>
          <p:cNvSpPr/>
          <p:nvPr/>
        </p:nvSpPr>
        <p:spPr>
          <a:xfrm>
            <a:off x="6400800" y="1625600"/>
            <a:ext cx="2286000" cy="2540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C604A5A-7E0C-A14D-B42C-ACCCC0E71022}"/>
              </a:ext>
            </a:extLst>
          </p:cNvPr>
          <p:cNvSpPr/>
          <p:nvPr/>
        </p:nvSpPr>
        <p:spPr>
          <a:xfrm>
            <a:off x="6451600" y="1549400"/>
            <a:ext cx="101600" cy="101600"/>
          </a:xfrm>
          <a:prstGeom prst="ellipse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8BDFDC-1053-8840-8123-56B90AF4648C}"/>
              </a:ext>
            </a:extLst>
          </p:cNvPr>
          <p:cNvSpPr/>
          <p:nvPr/>
        </p:nvSpPr>
        <p:spPr>
          <a:xfrm>
            <a:off x="457200" y="4737100"/>
            <a:ext cx="8229600" cy="12700"/>
          </a:xfrm>
          <a:prstGeom prst="rect">
            <a:avLst/>
          </a:prstGeom>
          <a:solidFill>
            <a:srgbClr val="C9C2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31946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" from="1+#ppt_h/2" to="#ppt_y"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8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" from="1+#ppt_h/2" to="#ppt_y"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8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" from="1+#ppt_h/2" to="#ppt_y"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5" grpId="1" animBg="1"/>
      <p:bldP spid="6" grpId="0"/>
      <p:bldP spid="6" grpId="1" animBg="1"/>
      <p:bldP spid="7" grpId="0"/>
      <p:bldP spid="7" grpId="1" animBg="1"/>
      <p:bldP spid="8" grpId="0" animBg="1"/>
      <p:bldP spid="9" grpId="0"/>
      <p:bldP spid="9" grpId="1" animBg="1"/>
      <p:bldP spid="10" grpId="0"/>
      <p:bldP spid="10" grpId="1" animBg="1"/>
      <p:bldP spid="11" grpId="0"/>
      <p:bldP spid="11" grpId="1" animBg="1"/>
      <p:bldP spid="12" grpId="0" animBg="1"/>
      <p:bldP spid="13" grpId="0"/>
      <p:bldP spid="13" grpId="1" animBg="1"/>
      <p:bldP spid="14" grpId="0"/>
      <p:bldP spid="14" grpId="1" animBg="1"/>
      <p:bldP spid="15" grpId="0"/>
      <p:bldP spid="15" grpId="1" animBg="1"/>
      <p:bldP spid="16" grpId="0"/>
      <p:bldP spid="16" grpId="1" animBg="1"/>
      <p:bldP spid="17" grpId="0"/>
      <p:bldP spid="17" grpId="1" animBg="1"/>
      <p:bldP spid="18" grpId="0"/>
      <p:bldP spid="18" grpId="1" animBg="1"/>
      <p:bldP spid="19" grpId="0"/>
      <p:bldP spid="19" grpId="1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711200"/>
            <a:ext cx="8229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BQ76930 AFE opens the pack breaker in 70 µs under short circuit — hardware-enforced, independent of firmware state.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73352"/>
            <a:ext cx="1097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7282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cell taps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391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VC1…VC10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54480" y="2048256"/>
            <a:ext cx="137160" cy="0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91640" y="1673352"/>
            <a:ext cx="1097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91640" y="17282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BQ76930 AFE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20391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14-bit ADC, OV/UV/SCD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2048256"/>
            <a:ext cx="137160" cy="0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26080" y="1673352"/>
            <a:ext cx="1097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0" y="17282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STM32F303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0391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@ 400 kHz, DMA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23360" y="2048256"/>
            <a:ext cx="137160" cy="0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60520" y="1673352"/>
            <a:ext cx="1097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60520" y="17282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CDC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60520" y="20391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115200 baud, 10 Hz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91640" y="2926080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91640" y="2953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 pin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3172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900" dirty="0">
                <a:solidFill>
                  <a:srgbClr val="7A5200"/>
                </a:solidFill>
              </a:rPr>
              <a:t>→ 40 A relay opens on SCD</a:t>
            </a:r>
          </a:p>
        </p:txBody>
      </p:sp>
      <p:sp>
        <p:nvSpPr>
          <p:cNvPr id="22" name="Shape 20"/>
          <p:cNvSpPr/>
          <p:nvPr/>
        </p:nvSpPr>
        <p:spPr>
          <a:xfrm>
            <a:off x="2240280" y="2423160"/>
            <a:ext cx="0" cy="502920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0" y="1627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buys you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69280" y="1993392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protection 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even if firmware is mid-reset or stuck.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mV ADC resolution 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calibrated 14-bit per-cell ADC.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100-byte telemetry frame 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CRC-16 over USB CDC every 100 ms.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BQ76930 datasheet (Rev. H), Texas Instruments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50892"/>
            <a:ext cx="146304" cy="292608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1168" y="48417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5943600" y="48417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spc="200" dirty="0">
                <a:solidFill>
                  <a:srgbClr val="5A6B85"/>
                </a:solidFill>
                <a:latin typeface="Calibri"/>
              </a:rPr>
              <a:t>PROTECTION</a:t>
            </a:r>
          </a:p>
        </p:txBody>
      </p:sp>
      <p:sp>
        <p:nvSpPr>
          <p:cNvPr id="29" name="Text 27"/>
          <p:cNvSpPr/>
          <p:nvPr/>
        </p:nvSpPr>
        <p:spPr>
          <a:xfrm>
            <a:off x="7924800" y="4841748"/>
            <a:ext cx="116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A1F44"/>
                </a:solidFill>
                <a:latin typeface="Calibri"/>
              </a:rPr>
              <a:t>04 / 09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620359-BE9F-014A-AB2B-E752C73757C5}"/>
              </a:ext>
            </a:extLst>
          </p:cNvPr>
          <p:cNvSpPr/>
          <p:nvPr/>
        </p:nvSpPr>
        <p:spPr>
          <a:xfrm>
            <a:off x="457200" y="279400"/>
            <a:ext cx="127000" cy="1270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4665C3-E749-4141-BD28-B123EF881984}"/>
              </a:ext>
            </a:extLst>
          </p:cNvPr>
          <p:cNvSpPr/>
          <p:nvPr/>
        </p:nvSpPr>
        <p:spPr>
          <a:xfrm>
            <a:off x="635000" y="330200"/>
            <a:ext cx="635000" cy="2540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7ED7BC-723A-1E4F-B5C0-048B6648EAA2}"/>
              </a:ext>
            </a:extLst>
          </p:cNvPr>
          <p:cNvSpPr txBox="1"/>
          <p:nvPr/>
        </p:nvSpPr>
        <p:spPr>
          <a:xfrm>
            <a:off x="1397000" y="2794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0A1F44"/>
                </a:solidFill>
              </a:rPr>
              <a:t>03 · PROTECTION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851F19-AE4C-2C4C-8861-26A8C7E7C9BC}"/>
              </a:ext>
            </a:extLst>
          </p:cNvPr>
          <p:cNvSpPr/>
          <p:nvPr/>
        </p:nvSpPr>
        <p:spPr>
          <a:xfrm>
            <a:off x="457200" y="4737100"/>
            <a:ext cx="8229600" cy="12700"/>
          </a:xfrm>
          <a:prstGeom prst="rect">
            <a:avLst/>
          </a:prstGeom>
          <a:solidFill>
            <a:srgbClr val="C9C2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86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711200"/>
            <a:ext cx="8229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12-bit DAC and AD8630 op-amp close the feedback loop that holds 10 A discharge within 2 % across the 30–42 V pack range.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73352"/>
            <a:ext cx="960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7282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025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set-point cmd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17320" y="2029968"/>
            <a:ext cx="228600" cy="0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5920" y="1673352"/>
            <a:ext cx="960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45920" y="17282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MCP4725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0025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 DAC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2029968"/>
            <a:ext cx="228600" cy="0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34640" y="1673352"/>
            <a:ext cx="960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34640" y="17282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AD8630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0025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rail-to-rail op-amp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94760" y="2029968"/>
            <a:ext cx="228600" cy="0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023360" y="1673352"/>
            <a:ext cx="960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0" y="17282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IRFP250N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20025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1100" b="1" dirty="0">
                <a:solidFill>
                  <a:srgbClr val="0A1F44"/>
                </a:solidFill>
              </a:rPr>
              <a:t>144 Ω × 4 shunt</a:t>
            </a:r>
          </a:p>
        </p:txBody>
      </p:sp>
      <p:sp>
        <p:nvSpPr>
          <p:cNvPr id="19" name="Shape 17"/>
          <p:cNvSpPr/>
          <p:nvPr/>
        </p:nvSpPr>
        <p:spPr>
          <a:xfrm>
            <a:off x="4023360" y="2843784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0" y="28986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Ω shunt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03420" y="2386584"/>
            <a:ext cx="0" cy="457200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03420" y="3346704"/>
            <a:ext cx="0" cy="274320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14700" y="3621024"/>
            <a:ext cx="1188720" cy="0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14700" y="2386584"/>
            <a:ext cx="0" cy="1234440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60420" y="33467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E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0" y="1627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performance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69280" y="1993392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</a:rPr>
              <a:t>1 A at 36 V 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</a:rPr>
              <a:t>sink validated across 4×144Ω paralleled channels with 0.1 A DAC resolution.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</a:rPr>
              <a:t>10 W power resistors 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</a:rPr>
              <a:t>(post-redesign) with IRFP250N MOSFETs sharing dissipation across the bank.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</a:rPr>
              <a:t>NTC thermistor 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</a:rPr>
              <a:t>drives PWM fan control with a 70 °C cutoff for thermal safety.</a:t>
            </a:r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E-Load bring-up data, EE 175AB test logs, May 2026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50892"/>
            <a:ext cx="146304" cy="292608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01168" y="48417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5943600" y="48417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spc="200" dirty="0">
                <a:solidFill>
                  <a:srgbClr val="5A6B85"/>
                </a:solidFill>
                <a:latin typeface="Calibri"/>
              </a:rPr>
              <a:t>LOAD CONTROL</a:t>
            </a:r>
          </a:p>
        </p:txBody>
      </p:sp>
      <p:sp>
        <p:nvSpPr>
          <p:cNvPr id="32" name="Text 30"/>
          <p:cNvSpPr/>
          <p:nvPr/>
        </p:nvSpPr>
        <p:spPr>
          <a:xfrm>
            <a:off x="7924800" y="4841748"/>
            <a:ext cx="116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A1F44"/>
                </a:solidFill>
                <a:latin typeface="Calibri"/>
              </a:rPr>
              <a:t>05 / 09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EF6604-272F-B14A-95D2-06A420F53A19}"/>
              </a:ext>
            </a:extLst>
          </p:cNvPr>
          <p:cNvSpPr/>
          <p:nvPr/>
        </p:nvSpPr>
        <p:spPr>
          <a:xfrm>
            <a:off x="457200" y="279400"/>
            <a:ext cx="127000" cy="1270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871986-0425-9848-B9CB-BA52411441FE}"/>
              </a:ext>
            </a:extLst>
          </p:cNvPr>
          <p:cNvSpPr/>
          <p:nvPr/>
        </p:nvSpPr>
        <p:spPr>
          <a:xfrm>
            <a:off x="635000" y="330200"/>
            <a:ext cx="635000" cy="2540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41BA89-7722-024A-A3E4-252C5908BB7E}"/>
              </a:ext>
            </a:extLst>
          </p:cNvPr>
          <p:cNvSpPr txBox="1"/>
          <p:nvPr/>
        </p:nvSpPr>
        <p:spPr>
          <a:xfrm>
            <a:off x="1397000" y="2794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0A1F44"/>
                </a:solidFill>
              </a:rPr>
              <a:t>04 · LOAD CONTROL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BA12BE-6566-9447-96D8-05E3BB3DBA29}"/>
              </a:ext>
            </a:extLst>
          </p:cNvPr>
          <p:cNvSpPr/>
          <p:nvPr/>
        </p:nvSpPr>
        <p:spPr>
          <a:xfrm>
            <a:off x="457200" y="4737100"/>
            <a:ext cx="8229600" cy="12700"/>
          </a:xfrm>
          <a:prstGeom prst="rect">
            <a:avLst/>
          </a:prstGeom>
          <a:solidFill>
            <a:srgbClr val="C9C2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54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711200"/>
            <a:ext cx="8229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software layers stream 10 Hz telemetry from STM32 firmware to a Three.js scene with no network stack.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4846320" cy="804672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0078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STM32 Firmware (C / HAL)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DMA-backed I²C polling · 100-byte CRC-16 framed telemetry · ALERT interrupt for sub-cycle faults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96896"/>
            <a:ext cx="4846320" cy="804672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67004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Python Backend (PyQt6)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8094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QThread per CDC port · auto-reconnect on USB drop · QWebChannel exposes telemetry object to 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4846320" cy="804672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63931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Three.js Frontend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95020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cylindrical meshes (2×5) · green→yellow→red emissive mapping · GSAP fault state transitions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80360" y="2432304"/>
            <a:ext cx="0" cy="164592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80360" y="3401568"/>
            <a:ext cx="0" cy="164592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1627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69280" y="1993392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CDC over CAN 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external transceivers and adapters.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WebEngine over Electron 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CORS and a 200 MB Chromium binary.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over Pi Zero 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100 ms USB frames with no scheduler jitter.</a:t>
            </a:r>
            <a:endParaRPr lang="en-US" sz="1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F3F5A55-EA0F-AB4F-BA36-33BB0A50F7A2}"/>
              </a:ext>
            </a:extLst>
          </p:cNvPr>
          <p:cNvSpPr/>
          <p:nvPr/>
        </p:nvSpPr>
        <p:spPr>
          <a:xfrm>
            <a:off x="457200" y="279400"/>
            <a:ext cx="127000" cy="1270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E65E0E9-3C9E-C140-B217-1FA54FAF06C6}"/>
              </a:ext>
            </a:extLst>
          </p:cNvPr>
          <p:cNvSpPr/>
          <p:nvPr/>
        </p:nvSpPr>
        <p:spPr>
          <a:xfrm>
            <a:off x="635000" y="330200"/>
            <a:ext cx="635000" cy="2540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6FB0D1-54B5-2447-AC2E-F41588BA0924}"/>
              </a:ext>
            </a:extLst>
          </p:cNvPr>
          <p:cNvSpPr txBox="1"/>
          <p:nvPr/>
        </p:nvSpPr>
        <p:spPr>
          <a:xfrm>
            <a:off x="1397000" y="279400"/>
            <a:ext cx="5080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b="1">
                <a:solidFill>
                  <a:srgbClr val="0A1F44"/>
                </a:solidFill>
                <a:latin typeface="Calibri"/>
                <a:cs typeface="Calibri"/>
              </a:rPr>
              <a:t>06 · SOFTWARE STACK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3E9357D-45D0-234E-BDA4-346FD3552C67}"/>
              </a:ext>
            </a:extLst>
          </p:cNvPr>
          <p:cNvSpPr/>
          <p:nvPr/>
        </p:nvSpPr>
        <p:spPr>
          <a:xfrm>
            <a:off x="457200" y="4737100"/>
            <a:ext cx="8229600" cy="12700"/>
          </a:xfrm>
          <a:prstGeom prst="rect">
            <a:avLst/>
          </a:prstGeom>
          <a:solidFill>
            <a:srgbClr val="C9C2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7389D8-DA3C-BC45-B7B5-5429648E1667}"/>
              </a:ext>
            </a:extLst>
          </p:cNvPr>
          <p:cNvSpPr txBox="1"/>
          <p:nvPr/>
        </p:nvSpPr>
        <p:spPr>
          <a:xfrm>
            <a:off x="2540000" y="4838700"/>
            <a:ext cx="4064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 b="1">
                <a:solidFill>
                  <a:srgbClr val="5A6B85"/>
                </a:solidFill>
                <a:latin typeface="Calibri"/>
                <a:cs typeface="Calibri"/>
              </a:rPr>
              <a:t>SOFTWARE STACK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0D6CE33-6B31-2F4E-A944-3B965C549829}"/>
              </a:ext>
            </a:extLst>
          </p:cNvPr>
          <p:cNvSpPr txBox="1"/>
          <p:nvPr/>
        </p:nvSpPr>
        <p:spPr>
          <a:xfrm>
            <a:off x="7924800" y="4838700"/>
            <a:ext cx="762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b="1">
                <a:solidFill>
                  <a:srgbClr val="0A1F44"/>
                </a:solidFill>
                <a:latin typeface="Calibri"/>
                <a:cs typeface="Calibri"/>
              </a:rPr>
              <a:t>06 / 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5828AE-180A-E84B-996C-FC697445E9DB}"/>
              </a:ext>
            </a:extLst>
          </p:cNvPr>
          <p:cNvSpPr/>
          <p:nvPr/>
        </p:nvSpPr>
        <p:spPr>
          <a:xfrm>
            <a:off x="457200" y="1627632"/>
            <a:ext cx="4846320" cy="2540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938B6C-1B86-3A4B-8E9B-568D5542B350}"/>
              </a:ext>
            </a:extLst>
          </p:cNvPr>
          <p:cNvSpPr/>
          <p:nvPr/>
        </p:nvSpPr>
        <p:spPr>
          <a:xfrm>
            <a:off x="5100320" y="1729232"/>
            <a:ext cx="101600" cy="1016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1F0B60-002E-F847-84A9-2C708D4C9602}"/>
              </a:ext>
            </a:extLst>
          </p:cNvPr>
          <p:cNvSpPr/>
          <p:nvPr/>
        </p:nvSpPr>
        <p:spPr>
          <a:xfrm>
            <a:off x="457200" y="2596896"/>
            <a:ext cx="4846320" cy="2540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E9A3BD-11BD-6944-9F54-677B505CF7A9}"/>
              </a:ext>
            </a:extLst>
          </p:cNvPr>
          <p:cNvSpPr/>
          <p:nvPr/>
        </p:nvSpPr>
        <p:spPr>
          <a:xfrm>
            <a:off x="5100320" y="2698496"/>
            <a:ext cx="101600" cy="1016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278344-4854-074E-921F-9AA749743120}"/>
              </a:ext>
            </a:extLst>
          </p:cNvPr>
          <p:cNvSpPr/>
          <p:nvPr/>
        </p:nvSpPr>
        <p:spPr>
          <a:xfrm>
            <a:off x="457200" y="3566160"/>
            <a:ext cx="4846320" cy="2540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FC7020-B6C0-F943-90E4-B4AFF226A217}"/>
              </a:ext>
            </a:extLst>
          </p:cNvPr>
          <p:cNvSpPr/>
          <p:nvPr/>
        </p:nvSpPr>
        <p:spPr>
          <a:xfrm>
            <a:off x="5100320" y="3667760"/>
            <a:ext cx="101600" cy="1016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89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711200"/>
            <a:ext cx="8229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</a:rPr>
              <a:t>All five design objectives were met — cell-voltage error and dashboard rate were 2× better than spec.</a:t>
            </a: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627632"/>
          <a:ext cx="8229600" cy="230428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voltage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20 mV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10 mV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7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better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Breaker response (SCD)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on SCD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7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success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E-Load regulation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spec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refresh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 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Hz steady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7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better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system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$3,000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7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99 % of 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FFF4D6"/>
          </a:solidFill>
          <a:ln w="12700">
            <a:solidFill>
              <a:srgbClr val="E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41605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5200"/>
                </a:solidFill>
                <a:latin typeface="Calibri" pitchFamily="34" charset="0"/>
              </a:rPr>
              <a:t>Headline:  </a:t>
            </a:r>
            <a:r>
              <a:rPr lang="en-US" sz="1300" dirty="0">
                <a:solidFill>
                  <a:srgbClr val="7A5200"/>
                </a:solidFill>
                <a:latin typeface="Calibri" pitchFamily="34" charset="0"/>
              </a:rPr>
              <a:t>every quantitative spec met — and the system shipped at $2,966, just inside the $3,000 ceiling.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7127D4-AC49-C340-8B15-59E206D83ED2}"/>
              </a:ext>
            </a:extLst>
          </p:cNvPr>
          <p:cNvSpPr/>
          <p:nvPr/>
        </p:nvSpPr>
        <p:spPr>
          <a:xfrm>
            <a:off x="457200" y="279400"/>
            <a:ext cx="127000" cy="1270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4394A5-E317-6C42-8222-E7787C292C7C}"/>
              </a:ext>
            </a:extLst>
          </p:cNvPr>
          <p:cNvSpPr/>
          <p:nvPr/>
        </p:nvSpPr>
        <p:spPr>
          <a:xfrm>
            <a:off x="635000" y="330200"/>
            <a:ext cx="635000" cy="2540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C59F06-8AC5-6249-8FA0-9BC75E1EB3CA}"/>
              </a:ext>
            </a:extLst>
          </p:cNvPr>
          <p:cNvSpPr txBox="1"/>
          <p:nvPr/>
        </p:nvSpPr>
        <p:spPr>
          <a:xfrm>
            <a:off x="1397000" y="279400"/>
            <a:ext cx="5080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b="1">
                <a:solidFill>
                  <a:srgbClr val="0A1F44"/>
                </a:solidFill>
                <a:latin typeface="Calibri"/>
                <a:cs typeface="Calibri"/>
              </a:rPr>
              <a:t>06 · RESULTS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97B041-75DE-BD43-809A-68BD4CEF517A}"/>
              </a:ext>
            </a:extLst>
          </p:cNvPr>
          <p:cNvSpPr/>
          <p:nvPr/>
        </p:nvSpPr>
        <p:spPr>
          <a:xfrm>
            <a:off x="457200" y="4737100"/>
            <a:ext cx="8229600" cy="12700"/>
          </a:xfrm>
          <a:prstGeom prst="rect">
            <a:avLst/>
          </a:prstGeom>
          <a:solidFill>
            <a:srgbClr val="C9C2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F61596-FD76-674D-A2A9-F8B78709F7EE}"/>
              </a:ext>
            </a:extLst>
          </p:cNvPr>
          <p:cNvSpPr txBox="1"/>
          <p:nvPr/>
        </p:nvSpPr>
        <p:spPr>
          <a:xfrm>
            <a:off x="2540000" y="4838700"/>
            <a:ext cx="4064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 b="1">
                <a:solidFill>
                  <a:srgbClr val="5A6B85"/>
                </a:solidFill>
                <a:latin typeface="Calibri"/>
                <a:cs typeface="Calibri"/>
              </a:rPr>
              <a:t>RESULTS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EE2168-7791-174C-A38C-DDE140C09BB2}"/>
              </a:ext>
            </a:extLst>
          </p:cNvPr>
          <p:cNvSpPr txBox="1"/>
          <p:nvPr/>
        </p:nvSpPr>
        <p:spPr>
          <a:xfrm>
            <a:off x="7924800" y="4838700"/>
            <a:ext cx="762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b="1">
                <a:solidFill>
                  <a:srgbClr val="0A1F44"/>
                </a:solidFill>
                <a:latin typeface="Calibri"/>
                <a:cs typeface="Calibri"/>
              </a:rPr>
              <a:t>07 / 09</a:t>
            </a:r>
          </a:p>
        </p:txBody>
      </p:sp>
    </p:spTree>
    <p:extLst>
      <p:ext uri="{BB962C8B-B14F-4D97-AF65-F5344CB8AC3E}">
        <p14:creationId xmlns:p14="http://schemas.microsoft.com/office/powerpoint/2010/main" val="2249276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D51266-05F6-6245-BE19-633AA607B8A9}"/>
              </a:ext>
            </a:extLst>
          </p:cNvPr>
          <p:cNvSpPr/>
          <p:nvPr/>
        </p:nvSpPr>
        <p:spPr>
          <a:xfrm>
            <a:off x="457200" y="279400"/>
            <a:ext cx="127000" cy="1270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7C329C-B29F-1B42-8DED-C6F358F04CEB}"/>
              </a:ext>
            </a:extLst>
          </p:cNvPr>
          <p:cNvSpPr/>
          <p:nvPr/>
        </p:nvSpPr>
        <p:spPr>
          <a:xfrm>
            <a:off x="635000" y="330200"/>
            <a:ext cx="635000" cy="25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96CF34-B01D-7F4A-BD5E-4AB0E4E856E7}"/>
              </a:ext>
            </a:extLst>
          </p:cNvPr>
          <p:cNvSpPr txBox="1"/>
          <p:nvPr/>
        </p:nvSpPr>
        <p:spPr>
          <a:xfrm>
            <a:off x="1397000" y="279400"/>
            <a:ext cx="5080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b="1">
                <a:solidFill>
                  <a:srgbClr val="F4B431"/>
                </a:solidFill>
                <a:latin typeface="Calibri"/>
                <a:cs typeface="Calibri"/>
              </a:rPr>
              <a:t>07 · CONCLUSIONS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31F815-1BF2-8D4E-B523-6CF5CD41463C}"/>
              </a:ext>
            </a:extLst>
          </p:cNvPr>
          <p:cNvSpPr txBox="1"/>
          <p:nvPr/>
        </p:nvSpPr>
        <p:spPr>
          <a:xfrm>
            <a:off x="457200" y="711200"/>
            <a:ext cx="8229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Calibri"/>
                <a:cs typeface="Calibri"/>
              </a:rPr>
              <a:t>Three takeaways from the build.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010174-19B7-8C4A-92B6-015AACB9D333}"/>
              </a:ext>
            </a:extLst>
          </p:cNvPr>
          <p:cNvSpPr/>
          <p:nvPr/>
        </p:nvSpPr>
        <p:spPr>
          <a:xfrm>
            <a:off x="457200" y="1841500"/>
            <a:ext cx="2286000" cy="2540000"/>
          </a:xfrm>
          <a:prstGeom prst="rect">
            <a:avLst/>
          </a:prstGeom>
          <a:solidFill>
            <a:srgbClr val="1328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09BB05-9039-B845-B5F2-F93A3A9AEC51}"/>
              </a:ext>
            </a:extLst>
          </p:cNvPr>
          <p:cNvSpPr/>
          <p:nvPr/>
        </p:nvSpPr>
        <p:spPr>
          <a:xfrm>
            <a:off x="457200" y="1841500"/>
            <a:ext cx="2286000" cy="381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FA153-E285-9748-937C-B6C897AB322A}"/>
              </a:ext>
            </a:extLst>
          </p:cNvPr>
          <p:cNvSpPr txBox="1"/>
          <p:nvPr/>
        </p:nvSpPr>
        <p:spPr>
          <a:xfrm>
            <a:off x="711200" y="20955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4B431"/>
                </a:solidFill>
                <a:latin typeface="Calibri"/>
                <a:cs typeface="Calibri"/>
              </a:rPr>
              <a:t>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5146EC-4D54-A14B-A160-E635727AB6BA}"/>
              </a:ext>
            </a:extLst>
          </p:cNvPr>
          <p:cNvSpPr txBox="1"/>
          <p:nvPr/>
        </p:nvSpPr>
        <p:spPr>
          <a:xfrm>
            <a:off x="711200" y="2794000"/>
            <a:ext cx="177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Calibri"/>
                <a:cs typeface="Calibri"/>
              </a:rPr>
              <a:t>End-to-end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927647-25AF-E748-97FA-3F1E6F45F736}"/>
              </a:ext>
            </a:extLst>
          </p:cNvPr>
          <p:cNvSpPr txBox="1"/>
          <p:nvPr/>
        </p:nvSpPr>
        <p:spPr>
          <a:xfrm>
            <a:off x="711200" y="3238500"/>
            <a:ext cx="1778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9AB6E0"/>
                </a:solidFill>
                <a:latin typeface="Calibri"/>
                <a:cs typeface="Calibri"/>
              </a:rPr>
              <a:t>Pack monitoring, breaker protection, programmable load, and 10 Hz dashboard meet every quantitative spec — at 99% of the $3,000 ceiling.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0BB1CA-DDF3-854D-A4AA-9BC0D9D472C8}"/>
              </a:ext>
            </a:extLst>
          </p:cNvPr>
          <p:cNvSpPr/>
          <p:nvPr/>
        </p:nvSpPr>
        <p:spPr>
          <a:xfrm>
            <a:off x="3429000" y="1841500"/>
            <a:ext cx="2286000" cy="2540000"/>
          </a:xfrm>
          <a:prstGeom prst="rect">
            <a:avLst/>
          </a:prstGeom>
          <a:solidFill>
            <a:srgbClr val="1328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4B1E17-04CD-0241-874D-517004910920}"/>
              </a:ext>
            </a:extLst>
          </p:cNvPr>
          <p:cNvSpPr/>
          <p:nvPr/>
        </p:nvSpPr>
        <p:spPr>
          <a:xfrm>
            <a:off x="3429000" y="1841500"/>
            <a:ext cx="2286000" cy="381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B570F6-29D9-3441-99DF-3955FF8EE6EB}"/>
              </a:ext>
            </a:extLst>
          </p:cNvPr>
          <p:cNvSpPr txBox="1"/>
          <p:nvPr/>
        </p:nvSpPr>
        <p:spPr>
          <a:xfrm>
            <a:off x="3683000" y="20955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4B431"/>
                </a:solidFill>
                <a:latin typeface="Calibri"/>
                <a:cs typeface="Calibri"/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AEAC30-0448-1445-97DA-F5FC1ECE451E}"/>
              </a:ext>
            </a:extLst>
          </p:cNvPr>
          <p:cNvSpPr txBox="1"/>
          <p:nvPr/>
        </p:nvSpPr>
        <p:spPr>
          <a:xfrm>
            <a:off x="3683000" y="2794000"/>
            <a:ext cx="177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Calibri"/>
                <a:cs typeface="Calibri"/>
              </a:rPr>
              <a:t>USB beats CAN here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81030D-6366-6547-93D2-4266232A9661}"/>
              </a:ext>
            </a:extLst>
          </p:cNvPr>
          <p:cNvSpPr txBox="1"/>
          <p:nvPr/>
        </p:nvSpPr>
        <p:spPr>
          <a:xfrm>
            <a:off x="3683000" y="3238500"/>
            <a:ext cx="1778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9AB6E0"/>
                </a:solidFill>
                <a:latin typeface="Calibri"/>
                <a:cs typeface="Calibri"/>
              </a:rPr>
              <a:t>USB CDC removed transceivers, cabling, and the Pi Zero from the BOM while preserving 100 ms frame timing with no scheduler jitter.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E5F292-77C3-5341-B4EB-978B27CA0705}"/>
              </a:ext>
            </a:extLst>
          </p:cNvPr>
          <p:cNvSpPr/>
          <p:nvPr/>
        </p:nvSpPr>
        <p:spPr>
          <a:xfrm>
            <a:off x="6400800" y="1841500"/>
            <a:ext cx="2286000" cy="2540000"/>
          </a:xfrm>
          <a:prstGeom prst="rect">
            <a:avLst/>
          </a:prstGeom>
          <a:solidFill>
            <a:srgbClr val="1328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03AE98-56A1-A54B-B83A-29F94226CAAA}"/>
              </a:ext>
            </a:extLst>
          </p:cNvPr>
          <p:cNvSpPr/>
          <p:nvPr/>
        </p:nvSpPr>
        <p:spPr>
          <a:xfrm>
            <a:off x="6400800" y="1841500"/>
            <a:ext cx="2286000" cy="381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768653-0B25-4F46-A917-A42C5A287769}"/>
              </a:ext>
            </a:extLst>
          </p:cNvPr>
          <p:cNvSpPr txBox="1"/>
          <p:nvPr/>
        </p:nvSpPr>
        <p:spPr>
          <a:xfrm>
            <a:off x="6654800" y="20955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4B431"/>
                </a:solidFill>
                <a:latin typeface="Calibri"/>
                <a:cs typeface="Calibri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BEAC3F-E704-AE40-98CF-B67D4436B7B3}"/>
              </a:ext>
            </a:extLst>
          </p:cNvPr>
          <p:cNvSpPr txBox="1"/>
          <p:nvPr/>
        </p:nvSpPr>
        <p:spPr>
          <a:xfrm>
            <a:off x="6654800" y="2794000"/>
            <a:ext cx="177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Calibri"/>
                <a:cs typeface="Calibri"/>
              </a:rPr>
              <a:t>Buy the right resistor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0F694B-8DFC-494D-9806-8B0A882D3FB6}"/>
              </a:ext>
            </a:extLst>
          </p:cNvPr>
          <p:cNvSpPr txBox="1"/>
          <p:nvPr/>
        </p:nvSpPr>
        <p:spPr>
          <a:xfrm>
            <a:off x="6654800" y="3238500"/>
            <a:ext cx="1778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9AB6E0"/>
                </a:solidFill>
                <a:latin typeface="Calibri"/>
                <a:cs typeface="Calibri"/>
              </a:rPr>
              <a:t>The 1 W → 10 W power-resistor redesign was the single biggest schedule risk. Spec dissipation headroom before layout, not after.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5BA5CA-7B64-1749-890F-9CAC0A5460F9}"/>
              </a:ext>
            </a:extLst>
          </p:cNvPr>
          <p:cNvSpPr/>
          <p:nvPr/>
        </p:nvSpPr>
        <p:spPr>
          <a:xfrm>
            <a:off x="457200" y="4737100"/>
            <a:ext cx="8229600" cy="12700"/>
          </a:xfrm>
          <a:prstGeom prst="rect">
            <a:avLst/>
          </a:prstGeom>
          <a:solidFill>
            <a:srgbClr val="2A3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EEB240-79B2-854B-8A57-8268A26C27D3}"/>
              </a:ext>
            </a:extLst>
          </p:cNvPr>
          <p:cNvSpPr txBox="1"/>
          <p:nvPr/>
        </p:nvSpPr>
        <p:spPr>
          <a:xfrm>
            <a:off x="2540000" y="4838700"/>
            <a:ext cx="4064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 b="1">
                <a:solidFill>
                  <a:srgbClr val="9AB6E0"/>
                </a:solidFill>
                <a:latin typeface="Calibri"/>
                <a:cs typeface="Calibri"/>
              </a:rPr>
              <a:t>CONCLUSIONS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7A8C20-8D6B-014F-B473-62BC254FA641}"/>
              </a:ext>
            </a:extLst>
          </p:cNvPr>
          <p:cNvSpPr txBox="1"/>
          <p:nvPr/>
        </p:nvSpPr>
        <p:spPr>
          <a:xfrm>
            <a:off x="7924800" y="4838700"/>
            <a:ext cx="762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Calibri"/>
                <a:cs typeface="Calibri"/>
              </a:rPr>
              <a:t>07 / 09</a:t>
            </a:r>
          </a:p>
        </p:txBody>
      </p:sp>
    </p:spTree>
    <p:extLst>
      <p:ext uri="{BB962C8B-B14F-4D97-AF65-F5344CB8AC3E}">
        <p14:creationId xmlns:p14="http://schemas.microsoft.com/office/powerpoint/2010/main" val="287027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1524000"/>
            <a:ext cx="8229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Texas Instruments, “BQ76930 3-Series to 15-Series Cell Battery Monitor and Protector Datasheet,” Rev. H, 2021.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STMicroelectronics, “RM0316 — STM32F303 Reference Manual,” Rev. 9, 2022.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Molicel, “INR-21700-P42A Lithium-Ion Cell Datasheet,” Rev. 1.0, 2019.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IPC, IPC-2221B Generic Standard on Printed Board Design, 2012.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NXP Semiconductors, “UM10204 I²C-bus Specification and User Manual,” Rev. 7.0, 2021.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IEC, IEC 62133-2 Secondary Cells and Batteries Containing Alkaline or Other Non-Acid Electrolytes — Safety Requirements, 2nd ed., 2017.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USB-IF, Universal Serial Bus Specification, Rev. 2.0, 2000.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Ewert Energy Systems, “Orion BMS 2 Product Documentation,” 2024.</a:t>
            </a:r>
            <a:endParaRPr lang="en-US" sz="13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A24D0D-6433-A947-AC94-9A53D970BCE4}"/>
              </a:ext>
            </a:extLst>
          </p:cNvPr>
          <p:cNvSpPr/>
          <p:nvPr/>
        </p:nvSpPr>
        <p:spPr>
          <a:xfrm>
            <a:off x="457200" y="279400"/>
            <a:ext cx="127000" cy="127000"/>
          </a:xfrm>
          <a:prstGeom prst="rect">
            <a:avLst/>
          </a:prstGeom>
          <a:solidFill>
            <a:srgbClr val="F4B4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A52ED4-6760-5549-BDD4-7AF72A2E163F}"/>
              </a:ext>
            </a:extLst>
          </p:cNvPr>
          <p:cNvSpPr/>
          <p:nvPr/>
        </p:nvSpPr>
        <p:spPr>
          <a:xfrm>
            <a:off x="635000" y="330200"/>
            <a:ext cx="635000" cy="2540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24340-ED74-EB43-BC9F-3228FE6980A1}"/>
              </a:ext>
            </a:extLst>
          </p:cNvPr>
          <p:cNvSpPr txBox="1"/>
          <p:nvPr/>
        </p:nvSpPr>
        <p:spPr>
          <a:xfrm>
            <a:off x="1397000" y="279400"/>
            <a:ext cx="5080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b="1">
                <a:solidFill>
                  <a:srgbClr val="0A1F44"/>
                </a:solidFill>
                <a:latin typeface="Calibri"/>
                <a:cs typeface="Calibri"/>
              </a:rPr>
              <a:t>08 · REFERENCES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6A4A9-C703-9147-AA38-6FAFB8E95467}"/>
              </a:ext>
            </a:extLst>
          </p:cNvPr>
          <p:cNvSpPr txBox="1"/>
          <p:nvPr/>
        </p:nvSpPr>
        <p:spPr>
          <a:xfrm>
            <a:off x="457200" y="711200"/>
            <a:ext cx="8229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0A1F44"/>
                </a:solidFill>
                <a:latin typeface="Calibri"/>
                <a:cs typeface="Calibri"/>
              </a:rPr>
              <a:t>References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F9D29F-4F22-C94B-AD24-5362BE870B38}"/>
              </a:ext>
            </a:extLst>
          </p:cNvPr>
          <p:cNvSpPr/>
          <p:nvPr/>
        </p:nvSpPr>
        <p:spPr>
          <a:xfrm>
            <a:off x="457200" y="4737100"/>
            <a:ext cx="8229600" cy="12700"/>
          </a:xfrm>
          <a:prstGeom prst="rect">
            <a:avLst/>
          </a:prstGeom>
          <a:solidFill>
            <a:srgbClr val="C9C2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066F0E-1457-DC44-B6FD-2B0371389B69}"/>
              </a:ext>
            </a:extLst>
          </p:cNvPr>
          <p:cNvSpPr txBox="1"/>
          <p:nvPr/>
        </p:nvSpPr>
        <p:spPr>
          <a:xfrm>
            <a:off x="2540000" y="4838700"/>
            <a:ext cx="4064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 b="1">
                <a:solidFill>
                  <a:srgbClr val="5A6B85"/>
                </a:solidFill>
                <a:latin typeface="Calibri"/>
                <a:cs typeface="Calibri"/>
              </a:rPr>
              <a:t>REFERENCES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D6A70B-FE80-8442-BB95-C9C5FC0139B9}"/>
              </a:ext>
            </a:extLst>
          </p:cNvPr>
          <p:cNvSpPr txBox="1"/>
          <p:nvPr/>
        </p:nvSpPr>
        <p:spPr>
          <a:xfrm>
            <a:off x="7924800" y="4838700"/>
            <a:ext cx="762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b="1">
                <a:solidFill>
                  <a:srgbClr val="0A1F44"/>
                </a:solidFill>
                <a:latin typeface="Calibri"/>
                <a:cs typeface="Calibri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430F179-A832-684E-BC30-BBF415FB2CC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29c3e6b8-a1fd-4271-b3a7-8381e19bb00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1446</Words>
  <Application>Microsoft Macintosh PowerPoint</Application>
  <PresentationFormat>On-screen Show (16:9)</PresentationFormat>
  <Paragraphs>166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UC Riverside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Management System — ENGR 181W Project Presentation</dc:title>
  <dc:subject>PptxGenJS Presentation</dc:subject>
  <dc:creator>Kaushik Vada</dc:creator>
  <cp:lastModifiedBy>Kaushik Vada</cp:lastModifiedBy>
  <cp:revision>5</cp:revision>
  <dcterms:created xsi:type="dcterms:W3CDTF">2026-05-17T05:17:46Z</dcterms:created>
  <dcterms:modified xsi:type="dcterms:W3CDTF">2026-05-21T05:53:58Z</dcterms:modified>
</cp:coreProperties>
</file>