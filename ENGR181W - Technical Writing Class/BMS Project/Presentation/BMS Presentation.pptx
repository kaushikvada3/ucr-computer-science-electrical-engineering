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2"/>
  </p:notesMasterIdLst>
  <p:sldIdLst>
    <p:sldId id="256" r:id="rId3"/>
    <p:sldId id="264" r:id="rId4"/>
    <p:sldId id="266" r:id="rId5"/>
    <p:sldId id="288" r:id="rId6"/>
    <p:sldId id="286" r:id="rId7"/>
    <p:sldId id="295" r:id="rId8"/>
    <p:sldId id="261" r:id="rId9"/>
    <p:sldId id="280" r:id="rId10"/>
    <p:sldId id="27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Poon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8"/>
    <p:restoredTop sz="93059"/>
  </p:normalViewPr>
  <p:slideViewPr>
    <p:cSldViewPr snapToGrid="0">
      <p:cViewPr varScale="1">
        <p:scale>
          <a:sx n="159" d="100"/>
          <a:sy n="159" d="100"/>
        </p:scale>
        <p:origin x="200" y="7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8d10a868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48d10a868_3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[Kaushik, 10s] Welcome — we're presenting the Battery Management System we built for EE 175AB. It's a 10-cell lithium-ion pack with a programmable electronic load and a PyQt6 desktop dashboard. I'll cover the problem, Nick will walk through hardware, Christian will cover the E-Load and our validation, and I'll close with results and future work. Connor Stewart was our fourth team member but is not presenting today.</a:t>
            </a:r>
            <a:endParaRPr/>
          </a:p>
        </p:txBody>
      </p:sp>
      <p:sp>
        <p:nvSpPr>
          <p:cNvPr id="55" name="Google Shape;55;g3e48d10a868_3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5142b781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5142b781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5142b781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5142b781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142b781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5142b781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142b781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5142b781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142b781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5142b781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8d10a868_3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e48d10a868_3_2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[Kaushik, 45s] To wrap up: we built a complete senior-design BMS with custom hardware, custom firmware, and a custom desktop dashboard, and we got all three layers to talk to each other reliably. Safety is hardware-enforced — the BQ76930 and the relay can isolate the pack without any firmware involvement. And we proved the system is solid enough to power a real compute workload: an NVIDIA Jetson Orin Nano running a 1.3 billion parameter AI model. Future work is straightforward: redesign the breaker as an integrated relay on the board, scale the E-Load past one amp, and add a hardware-in-the-loop replay mode to the dashboard. Thank you — we'd be glad to take questions.</a:t>
            </a:r>
            <a:endParaRPr/>
          </a:p>
        </p:txBody>
      </p:sp>
      <p:sp>
        <p:nvSpPr>
          <p:cNvPr id="95" name="Google Shape;95;g3e48d10a868_3_2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142b78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142b78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85800" y="61722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EE 175AB  Senior Design   ·   ENGR 181W  Technical Communication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85800" y="1028700"/>
            <a:ext cx="78867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lang="en" sz="4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 Management System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85800" y="2057400"/>
            <a:ext cx="78867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Custom Designed</a:t>
            </a:r>
            <a:endParaRPr sz="1800" u="sng">
              <a:solidFill>
                <a:srgbClr val="E8EE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10-cell lithium-ion pack Battery Management System PCB</a:t>
            </a:r>
            <a:endParaRPr sz="1800">
              <a:solidFill>
                <a:srgbClr val="E8EE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Electronic Load PCB</a:t>
            </a:r>
            <a:endParaRPr sz="1800">
              <a:solidFill>
                <a:srgbClr val="E8EE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Compatible User Interface  </a:t>
            </a:r>
            <a:endParaRPr sz="1800">
              <a:solidFill>
                <a:srgbClr val="E8EE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85800" y="3429000"/>
            <a:ext cx="548640" cy="41148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85800" y="356616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"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Kaushik Vada   ·   Nicholas Poon   ·   Christian Kim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85800" y="394335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University of California, Riverside</a:t>
            </a:r>
            <a:r>
              <a:rPr lang="en" sz="110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en" sz="11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Department of Electrical Engineering</a:t>
            </a:r>
            <a:r>
              <a:rPr lang="en" sz="110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en" sz="11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June 1,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85800" y="4697730"/>
            <a:ext cx="78867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37A"/>
              </a:buClr>
              <a:buSzPts val="800"/>
              <a:buFont typeface="Calibri"/>
              <a:buNone/>
            </a:pPr>
            <a:r>
              <a:rPr lang="en" sz="800" i="1">
                <a:solidFill>
                  <a:srgbClr val="FFD37A"/>
                </a:solidFill>
                <a:latin typeface="Calibri"/>
                <a:ea typeface="Calibri"/>
                <a:cs typeface="Calibri"/>
                <a:sym typeface="Calibri"/>
              </a:rPr>
              <a:t>Project team also includes alumni and former team member Connor Stewart (architecture &amp; BMS schematic). Advised by Dr. Roman Chomko.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2C04-BA74-E729-6E20-3D2D905C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</a:p>
        </p:txBody>
      </p:sp>
      <p:sp>
        <p:nvSpPr>
          <p:cNvPr id="200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ECBE2-1B03-1F25-1A9D-601E2AC02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600"/>
              </a:spcBef>
              <a:buNone/>
            </a:pPr>
            <a:r>
              <a:rPr lang="en" sz="20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</a:p>
          <a:p>
            <a:pPr marL="342900" indent="-342900" algn="l">
              <a:spcBef>
                <a:spcPts val="900"/>
              </a:spcBef>
              <a:buClr>
                <a:srgbClr val="F2A900"/>
              </a:buClr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Lithium-ion cells without protection risk thermal runaway — a serious safety hazard</a:t>
            </a:r>
          </a:p>
          <a:p>
            <a:pPr marL="342900" indent="-342900" algn="l">
              <a:spcBef>
                <a:spcPts val="900"/>
              </a:spcBef>
              <a:buClr>
                <a:srgbClr val="F2A900"/>
              </a:buClr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Battery Management System (BMS) is essential in nearly every rechargeable device</a:t>
            </a:r>
          </a:p>
          <a:p>
            <a:pPr algn="l">
              <a:spcBef>
                <a:spcPts val="1600"/>
              </a:spcBef>
              <a:buNone/>
            </a:pPr>
            <a:r>
              <a:rPr lang="en" sz="20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</a:p>
          <a:p>
            <a:pPr marL="342900" indent="-342900" algn="l">
              <a:spcBef>
                <a:spcPts val="900"/>
              </a:spcBef>
              <a:buClr>
                <a:srgbClr val="F2A900"/>
              </a:buClr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and build a custom BMS to understand battery systems firsthand</a:t>
            </a:r>
          </a:p>
          <a:p>
            <a:pPr marL="342900" indent="-342900" algn="l">
              <a:spcBef>
                <a:spcPts val="900"/>
              </a:spcBef>
              <a:buClr>
                <a:srgbClr val="F2A900"/>
              </a:buClr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Sharpen our PCB design skills and learn BMS architecture end-to-end</a:t>
            </a:r>
          </a:p>
        </p:txBody>
      </p:sp>
    </p:spTree>
    <p:extLst>
      <p:ext uri="{BB962C8B-B14F-4D97-AF65-F5344CB8AC3E}">
        <p14:creationId xmlns:p14="http://schemas.microsoft.com/office/powerpoint/2010/main" val="39237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C124-FC55-2971-410F-25B33706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D61E2-D1D2-E2E6-0C51-68964BAF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143000"/>
            <a:ext cx="4267200" cy="3429000"/>
          </a:xfrm>
        </p:spPr>
        <p:txBody>
          <a:bodyPr/>
          <a:lstStyle/>
          <a:p>
            <a:pPr algn="l">
              <a:spcAft>
                <a:spcPts val="80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designed and manufactured three custom PCBs that work together:</a:t>
            </a:r>
          </a:p>
          <a:p>
            <a:pPr marL="342900" indent="-342900" algn="l">
              <a:spcBef>
                <a:spcPts val="500"/>
              </a:spcBef>
              <a:buClr>
                <a:srgbClr val="F2A900"/>
              </a:buClr>
              <a:buFont typeface="Arial"/>
              <a:buChar char="•"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BMS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the core board: monitoring, safety logic, and telemetry</a:t>
            </a:r>
          </a:p>
          <a:p>
            <a:pPr marL="342900" indent="-342900" algn="l">
              <a:spcBef>
                <a:spcPts val="500"/>
              </a:spcBef>
              <a:buClr>
                <a:srgbClr val="F2A900"/>
              </a:buClr>
              <a:buFont typeface="Arial"/>
              <a:buChar char="•"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Eload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 test bench to safely exercise the BMS safety behavior</a:t>
            </a:r>
          </a:p>
          <a:p>
            <a:pPr marL="342900" indent="-342900" algn="l">
              <a:spcBef>
                <a:spcPts val="500"/>
              </a:spcBef>
              <a:buClr>
                <a:srgbClr val="F2A900"/>
              </a:buClr>
              <a:buFont typeface="Arial"/>
              <a:buChar char="•"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 Emulator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emulates battery cells for controlled testing</a:t>
            </a:r>
          </a:p>
        </p:txBody>
      </p:sp>
      <p:pic>
        <p:nvPicPr>
          <p:cNvPr id="87" name="Copied Picture 87" title="image.png"/>
          <p:cNvPicPr preferRelativeResize="0"/>
          <p:nvPr/>
        </p:nvPicPr>
        <p:blipFill rotWithShape="1">
          <a:blip r:embed="rId3">
            <a:alphaModFix/>
          </a:blip>
          <a:srcRect t="729" b="739"/>
          <a:stretch/>
        </p:blipFill>
        <p:spPr>
          <a:xfrm>
            <a:off x="4699000" y="1524000"/>
            <a:ext cx="4064000" cy="1689521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210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12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HeroPanel"/>
          <p:cNvSpPr/>
          <p:nvPr/>
        </p:nvSpPr>
        <p:spPr>
          <a:xfrm>
            <a:off x="1905000" y="1498600"/>
            <a:ext cx="5334000" cy="2667000"/>
          </a:xfrm>
          <a:prstGeom prst="roundRect">
            <a:avLst/>
          </a:prstGeom>
          <a:solidFill>
            <a:srgbClr val="F7F2E6"/>
          </a:solidFill>
          <a:ln w="9525">
            <a:solidFill>
              <a:srgbClr val="F2A900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35733-C2D7-9D77-5ECD-5F929E4A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The BMS Board</a:t>
            </a:r>
          </a:p>
        </p:txBody>
      </p:sp>
      <p:sp>
        <p:nvSpPr>
          <p:cNvPr id="220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Sub"/>
          <p:cNvSpPr/>
          <p:nvPr/>
        </p:nvSpPr>
        <p:spPr>
          <a:xfrm>
            <a:off x="317500" y="106680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V / 4 A nominal · built around the BQ76930 BMS IC</a:t>
            </a:r>
          </a:p>
        </p:txBody>
      </p:sp>
      <p:pic>
        <p:nvPicPr>
          <p:cNvPr id="92" name="Copied Picture 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905000"/>
            <a:ext cx="4572000" cy="16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HeroCap"/>
          <p:cNvSpPr/>
          <p:nvPr/>
        </p:nvSpPr>
        <p:spPr>
          <a:xfrm>
            <a:off x="1905000" y="3810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300" b="1">
                <a:solidFill>
                  <a:srgbClr val="B07D00"/>
                </a:solidFill>
                <a:latin typeface="Calibri"/>
                <a:ea typeface="Calibri"/>
                <a:cs typeface="Calibri"/>
                <a:sym typeface="Calibri"/>
              </a:rPr>
              <a:t>Custom BMS main board · designed &amp; manufactured in Altium</a:t>
            </a:r>
          </a:p>
        </p:txBody>
      </p:sp>
      <p:sp>
        <p:nvSpPr>
          <p:cNvPr id="400" name="badge1"/>
          <p:cNvSpPr/>
          <p:nvPr/>
        </p:nvSpPr>
        <p:spPr>
          <a:xfrm>
            <a:off x="4882869" y="495825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401" name="txt1"/>
          <p:cNvSpPr/>
          <p:nvPr/>
        </p:nvSpPr>
        <p:spPr>
          <a:xfrm>
            <a:off x="5289269" y="445025"/>
            <a:ext cx="11176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 dirty="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Cell monitoring</a:t>
            </a:r>
          </a:p>
          <a:p>
            <a:pPr algn="l">
              <a:buNone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&amp; current per cell</a:t>
            </a:r>
          </a:p>
        </p:txBody>
      </p:sp>
      <p:sp>
        <p:nvSpPr>
          <p:cNvPr id="402" name="badge2"/>
          <p:cNvSpPr/>
          <p:nvPr/>
        </p:nvSpPr>
        <p:spPr>
          <a:xfrm>
            <a:off x="7226300" y="43688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403" name="txt2"/>
          <p:cNvSpPr/>
          <p:nvPr/>
        </p:nvSpPr>
        <p:spPr>
          <a:xfrm>
            <a:off x="7632700" y="4318000"/>
            <a:ext cx="11176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 dirty="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Fault detection</a:t>
            </a:r>
          </a:p>
          <a:p>
            <a:pPr algn="l">
              <a:buNone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fault-status tracking</a:t>
            </a:r>
          </a:p>
        </p:txBody>
      </p:sp>
      <p:sp>
        <p:nvSpPr>
          <p:cNvPr id="404" name="badge3"/>
          <p:cNvSpPr/>
          <p:nvPr/>
        </p:nvSpPr>
        <p:spPr>
          <a:xfrm>
            <a:off x="7302500" y="19050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405" name="txt3"/>
          <p:cNvSpPr/>
          <p:nvPr/>
        </p:nvSpPr>
        <p:spPr>
          <a:xfrm>
            <a:off x="7708900" y="1854200"/>
            <a:ext cx="11176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Hardware safety</a:t>
            </a:r>
          </a:p>
          <a:p>
            <a:pPr algn="l"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 isolates pack on fault</a:t>
            </a:r>
          </a:p>
        </p:txBody>
      </p:sp>
      <p:sp>
        <p:nvSpPr>
          <p:cNvPr id="406" name="badge4"/>
          <p:cNvSpPr/>
          <p:nvPr/>
        </p:nvSpPr>
        <p:spPr>
          <a:xfrm>
            <a:off x="6339347" y="474803"/>
            <a:ext cx="303022" cy="313121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407" name="txt4"/>
          <p:cNvSpPr/>
          <p:nvPr/>
        </p:nvSpPr>
        <p:spPr>
          <a:xfrm>
            <a:off x="6745746" y="445025"/>
            <a:ext cx="1613635" cy="69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 dirty="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Thermal control</a:t>
            </a:r>
          </a:p>
          <a:p>
            <a:pPr algn="l">
              <a:buNone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Thermistors drive cooling fan</a:t>
            </a:r>
          </a:p>
        </p:txBody>
      </p:sp>
      <p:sp>
        <p:nvSpPr>
          <p:cNvPr id="408" name="badge5"/>
          <p:cNvSpPr/>
          <p:nvPr/>
        </p:nvSpPr>
        <p:spPr>
          <a:xfrm>
            <a:off x="7467600" y="33782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409" name="txt5"/>
          <p:cNvSpPr/>
          <p:nvPr/>
        </p:nvSpPr>
        <p:spPr>
          <a:xfrm>
            <a:off x="7874000" y="3327400"/>
            <a:ext cx="11176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 dirty="0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Telemetry</a:t>
            </a:r>
          </a:p>
          <a:p>
            <a:pPr algn="l">
              <a:buNone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data to host over USB (STM32)</a:t>
            </a:r>
          </a:p>
        </p:txBody>
      </p:sp>
      <p:cxnSp>
        <p:nvCxnSpPr>
          <p:cNvPr id="450" name="ldr450"/>
          <p:cNvCxnSpPr>
            <a:cxnSpLocks/>
          </p:cNvCxnSpPr>
          <p:nvPr/>
        </p:nvCxnSpPr>
        <p:spPr>
          <a:xfrm flipH="1">
            <a:off x="4504494" y="903498"/>
            <a:ext cx="378375" cy="1403981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451" name="ldr451"/>
          <p:cNvCxnSpPr/>
          <p:nvPr/>
        </p:nvCxnSpPr>
        <p:spPr>
          <a:xfrm>
            <a:off x="1905000" y="3238500"/>
            <a:ext cx="381000" cy="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452" name="ldr452"/>
          <p:cNvCxnSpPr/>
          <p:nvPr/>
        </p:nvCxnSpPr>
        <p:spPr>
          <a:xfrm>
            <a:off x="6858000" y="2222500"/>
            <a:ext cx="444500" cy="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454" name="ldr454"/>
          <p:cNvCxnSpPr>
            <a:cxnSpLocks/>
          </p:cNvCxnSpPr>
          <p:nvPr/>
        </p:nvCxnSpPr>
        <p:spPr>
          <a:xfrm>
            <a:off x="6858000" y="3098800"/>
            <a:ext cx="533400" cy="391823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10" name="ldr451">
            <a:extLst>
              <a:ext uri="{FF2B5EF4-FFF2-40B4-BE49-F238E27FC236}">
                <a16:creationId xmlns:a16="http://schemas.microsoft.com/office/drawing/2014/main" id="{E6649E7C-8F88-AF46-204C-8500C6A24DB5}"/>
              </a:ext>
            </a:extLst>
          </p:cNvPr>
          <p:cNvCxnSpPr>
            <a:cxnSpLocks/>
          </p:cNvCxnSpPr>
          <p:nvPr/>
        </p:nvCxnSpPr>
        <p:spPr>
          <a:xfrm>
            <a:off x="6043322" y="3238500"/>
            <a:ext cx="1245981" cy="97790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</p:spTree>
    <p:extLst>
      <p:ext uri="{BB962C8B-B14F-4D97-AF65-F5344CB8AC3E}">
        <p14:creationId xmlns:p14="http://schemas.microsoft.com/office/powerpoint/2010/main" val="247280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30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9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3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" dur="300"/>
                                  <p:tgtEl>
                                    <p:spTgt spid="4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23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300"/>
                                  <p:tgtEl>
                                    <p:spTgt spid="400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300"/>
                                  <p:tgtEl>
                                    <p:spTgt spid="400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300"/>
                                  <p:tgtEl>
                                    <p:spTgt spid="40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3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6" dur="300"/>
                                  <p:tgtEl>
                                    <p:spTgt spid="40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7" dur="300"/>
                                  <p:tgtEl>
                                    <p:spTgt spid="40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300"/>
                                  <p:tgtEl>
                                    <p:spTgt spid="4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4" dur="300"/>
                                  <p:tgtEl>
                                    <p:spTgt spid="4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23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300"/>
                                  <p:tgtEl>
                                    <p:spTgt spid="40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8" dur="300"/>
                                  <p:tgtEl>
                                    <p:spTgt spid="40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40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300"/>
                                  <p:tgtEl>
                                    <p:spTgt spid="4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23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8" dur="300"/>
                                  <p:tgtEl>
                                    <p:spTgt spid="40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9" dur="300"/>
                                  <p:tgtEl>
                                    <p:spTgt spid="40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300"/>
                                  <p:tgtEl>
                                    <p:spTgt spid="4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300"/>
                                  <p:tgtEl>
                                    <p:spTgt spid="4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3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9" dur="300"/>
                                  <p:tgtEl>
                                    <p:spTgt spid="40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0" dur="300"/>
                                  <p:tgtEl>
                                    <p:spTgt spid="40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300"/>
                                  <p:tgtEl>
                                    <p:spTgt spid="4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HeroPanel"/>
          <p:cNvSpPr/>
          <p:nvPr/>
        </p:nvSpPr>
        <p:spPr>
          <a:xfrm>
            <a:off x="1905000" y="1498600"/>
            <a:ext cx="5334000" cy="2667000"/>
          </a:xfrm>
          <a:prstGeom prst="roundRect">
            <a:avLst/>
          </a:prstGeom>
          <a:solidFill>
            <a:srgbClr val="F7F2E6"/>
          </a:solidFill>
          <a:ln w="9525">
            <a:solidFill>
              <a:srgbClr val="F2A900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35733-C2D7-9D77-5ECD-5F929E4A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Eload — Test Bench</a:t>
            </a:r>
          </a:p>
        </p:txBody>
      </p:sp>
      <p:sp>
        <p:nvSpPr>
          <p:cNvPr id="220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Sub"/>
          <p:cNvSpPr/>
          <p:nvPr/>
        </p:nvSpPr>
        <p:spPr>
          <a:xfrm>
            <a:off x="317500" y="10668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self-contained electronic load that safely draws controlled current to exercise the BMS.</a:t>
            </a:r>
          </a:p>
        </p:txBody>
      </p:sp>
      <p:pic>
        <p:nvPicPr>
          <p:cNvPr id="221" name="Copied Picture 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000" y="1905000"/>
            <a:ext cx="4318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Copied Picture 2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9000" y="2946400"/>
            <a:ext cx="1016000" cy="8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HeroCap"/>
          <p:cNvSpPr/>
          <p:nvPr/>
        </p:nvSpPr>
        <p:spPr>
          <a:xfrm>
            <a:off x="2540000" y="38100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300" b="1">
                <a:solidFill>
                  <a:srgbClr val="B07D00"/>
                </a:solidFill>
                <a:latin typeface="Calibri"/>
                <a:ea typeface="Calibri"/>
                <a:cs typeface="Calibri"/>
                <a:sym typeface="Calibri"/>
              </a:rPr>
              <a:t>Eload board — Altium-designed</a:t>
            </a:r>
          </a:p>
        </p:txBody>
      </p:sp>
      <p:sp>
        <p:nvSpPr>
          <p:cNvPr id="303" name="FanCap"/>
          <p:cNvSpPr/>
          <p:nvPr/>
        </p:nvSpPr>
        <p:spPr>
          <a:xfrm>
            <a:off x="5842000" y="3810000"/>
            <a:ext cx="12065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300" b="1">
                <a:solidFill>
                  <a:srgbClr val="B07D00"/>
                </a:solidFill>
                <a:latin typeface="Calibri"/>
                <a:ea typeface="Calibri"/>
                <a:cs typeface="Calibri"/>
                <a:sym typeface="Calibri"/>
              </a:rPr>
              <a:t>Cooling fan</a:t>
            </a:r>
          </a:p>
        </p:txBody>
      </p:sp>
      <p:sp>
        <p:nvSpPr>
          <p:cNvPr id="400" name="badge1"/>
          <p:cNvSpPr/>
          <p:nvPr/>
        </p:nvSpPr>
        <p:spPr>
          <a:xfrm>
            <a:off x="317500" y="19050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401" name="txt1"/>
          <p:cNvSpPr/>
          <p:nvPr/>
        </p:nvSpPr>
        <p:spPr>
          <a:xfrm>
            <a:off x="711200" y="1905000"/>
            <a:ext cx="1168400" cy="952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Current sink</a:t>
            </a:r>
          </a:p>
          <a:p>
            <a:pPr algn="l">
              <a:spcBef>
                <a:spcPts val="200"/>
              </a:spcBef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power MOSFETs sink the load current through precision shunts.</a:t>
            </a:r>
          </a:p>
        </p:txBody>
      </p:sp>
      <p:sp>
        <p:nvSpPr>
          <p:cNvPr id="402" name="badge2"/>
          <p:cNvSpPr/>
          <p:nvPr/>
        </p:nvSpPr>
        <p:spPr>
          <a:xfrm>
            <a:off x="317500" y="32004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403" name="txt2"/>
          <p:cNvSpPr/>
          <p:nvPr/>
        </p:nvSpPr>
        <p:spPr>
          <a:xfrm>
            <a:off x="711200" y="3200400"/>
            <a:ext cx="1168400" cy="952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Set &amp; measure</a:t>
            </a:r>
          </a:p>
          <a:p>
            <a:pPr algn="l">
              <a:spcBef>
                <a:spcPts val="200"/>
              </a:spcBef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DAC sets the current; the STM32 reads the shunts for accurate V &amp; I.</a:t>
            </a:r>
          </a:p>
        </p:txBody>
      </p:sp>
      <p:sp>
        <p:nvSpPr>
          <p:cNvPr id="404" name="badge3"/>
          <p:cNvSpPr/>
          <p:nvPr/>
        </p:nvSpPr>
        <p:spPr>
          <a:xfrm>
            <a:off x="7302500" y="1905000"/>
            <a:ext cx="330200" cy="33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405" name="txt3"/>
          <p:cNvSpPr/>
          <p:nvPr/>
        </p:nvSpPr>
        <p:spPr>
          <a:xfrm>
            <a:off x="7620000" y="1905000"/>
            <a:ext cx="1168400" cy="101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" sz="14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Connect &amp; cool</a:t>
            </a:r>
          </a:p>
          <a:p>
            <a:pPr algn="l">
              <a:spcBef>
                <a:spcPts val="200"/>
              </a:spcBef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via XT60, host via USB-C; a PWM fan cools the MOSFETs.</a:t>
            </a:r>
          </a:p>
        </p:txBody>
      </p:sp>
      <p:cxnSp>
        <p:nvCxnSpPr>
          <p:cNvPr id="450" name="ldr450"/>
          <p:cNvCxnSpPr/>
          <p:nvPr/>
        </p:nvCxnSpPr>
        <p:spPr>
          <a:xfrm>
            <a:off x="1905000" y="2070100"/>
            <a:ext cx="508000" cy="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451" name="ldr451"/>
          <p:cNvCxnSpPr/>
          <p:nvPr/>
        </p:nvCxnSpPr>
        <p:spPr>
          <a:xfrm>
            <a:off x="1905000" y="3365500"/>
            <a:ext cx="508000" cy="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  <p:cxnSp>
        <p:nvCxnSpPr>
          <p:cNvPr id="452" name="ldr452"/>
          <p:cNvCxnSpPr/>
          <p:nvPr/>
        </p:nvCxnSpPr>
        <p:spPr>
          <a:xfrm>
            <a:off x="6858000" y="2070100"/>
            <a:ext cx="444500" cy="0"/>
          </a:xfrm>
          <a:prstGeom prst="line">
            <a:avLst/>
          </a:prstGeom>
          <a:ln w="12700" cap="rnd">
            <a:solidFill>
              <a:srgbClr val="F2A900"/>
            </a:solidFill>
          </a:ln>
        </p:spPr>
      </p:cxnSp>
    </p:spTree>
    <p:extLst>
      <p:ext uri="{BB962C8B-B14F-4D97-AF65-F5344CB8AC3E}">
        <p14:creationId xmlns:p14="http://schemas.microsoft.com/office/powerpoint/2010/main" val="178511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2">
            <a:extLst>
              <a:ext uri="{FF2B5EF4-FFF2-40B4-BE49-F238E27FC236}">
                <a16:creationId xmlns:a16="http://schemas.microsoft.com/office/drawing/2014/main" id="{FE342069-9E07-7041-8D66-587D58F14808}"/>
              </a:ext>
            </a:extLst>
          </p:cNvPr>
          <p:cNvSpPr/>
          <p:nvPr/>
        </p:nvSpPr>
        <p:spPr>
          <a:xfrm>
            <a:off x="381000" y="2489200"/>
            <a:ext cx="4419600" cy="1651000"/>
          </a:xfrm>
          <a:prstGeom prst="roundRect">
            <a:avLst/>
          </a:prstGeom>
          <a:solidFill>
            <a:srgbClr val="16161A"/>
          </a:solidFill>
          <a:ln w="127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0" name="card3">
            <a:extLst>
              <a:ext uri="{FF2B5EF4-FFF2-40B4-BE49-F238E27FC236}">
                <a16:creationId xmlns:a16="http://schemas.microsoft.com/office/drawing/2014/main" id="{FE342069-9E07-7041-8D66-587D58F14808}"/>
              </a:ext>
            </a:extLst>
          </p:cNvPr>
          <p:cNvSpPr/>
          <p:nvPr/>
        </p:nvSpPr>
        <p:spPr>
          <a:xfrm>
            <a:off x="381000" y="4318000"/>
            <a:ext cx="4419600" cy="1651000"/>
          </a:xfrm>
          <a:prstGeom prst="roundRect">
            <a:avLst/>
          </a:prstGeom>
          <a:solidFill>
            <a:srgbClr val="16161A"/>
          </a:solidFill>
          <a:ln w="127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card1">
            <a:extLst>
              <a:ext uri="{FF2B5EF4-FFF2-40B4-BE49-F238E27FC236}">
                <a16:creationId xmlns:a16="http://schemas.microsoft.com/office/drawing/2014/main" id="{B1C1341C-D4F6-DD44-98D2-7595C76E6555}"/>
              </a:ext>
            </a:extLst>
          </p:cNvPr>
          <p:cNvSpPr/>
          <p:nvPr/>
        </p:nvSpPr>
        <p:spPr>
          <a:xfrm>
            <a:off x="381000" y="660400"/>
            <a:ext cx="4419600" cy="1651000"/>
          </a:xfrm>
          <a:prstGeom prst="roundRect">
            <a:avLst/>
          </a:prstGeom>
          <a:solidFill>
            <a:srgbClr val="16161A"/>
          </a:solidFill>
          <a:ln w="127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35733-C2D7-9D77-5ECD-5F929E4A3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9400"/>
            <a:ext cx="4191000" cy="558800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" sz="2800" b="1">
                <a:solidFill>
                  <a:srgbClr val="FFFFFF"/>
                </a:solidFill>
              </a:rPr>
              <a:t>GUI &amp; Telemetry</a:t>
            </a:r>
          </a:p>
        </p:txBody>
      </p:sp>
      <p:sp>
        <p:nvSpPr>
          <p:cNvPr id="220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Sub"/>
          <p:cNvSpPr/>
          <p:nvPr/>
        </p:nvSpPr>
        <p:spPr>
          <a:xfrm>
            <a:off x="381000" y="8890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0A500"/>
                </a:solidFill>
              </a:rPr>
              <a:t>Python host control · USB CDC · live monitoring</a:t>
            </a:r>
          </a:p>
        </p:txBody>
      </p:sp>
      <p:sp>
        <p:nvSpPr>
          <p:cNvPr id="303" name="InsetCap"/>
          <p:cNvSpPr/>
          <p:nvPr/>
        </p:nvSpPr>
        <p:spPr>
          <a:xfrm>
            <a:off x="5054600" y="4597400"/>
            <a:ext cx="37084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9A8060"/>
                </a:solidFill>
              </a:rPr>
              <a:t>Command surface</a:t>
            </a:r>
          </a:p>
        </p:txBody>
      </p:sp>
      <p:sp>
        <p:nvSpPr>
          <p:cNvPr id="401" name="txt1"/>
          <p:cNvSpPr/>
          <p:nvPr/>
        </p:nvSpPr>
        <p:spPr>
          <a:xfrm>
            <a:off x="660400" y="838200"/>
            <a:ext cx="3911600" cy="1346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 telemetry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400" dirty="0">
                <a:solidFill>
                  <a:srgbClr val="B8B8C0"/>
                </a:solidFill>
              </a:rPr>
              <a:t>Real-time streaming of </a:t>
            </a:r>
            <a:r>
              <a:rPr lang="en-US" sz="1400" b="1" dirty="0">
                <a:solidFill>
                  <a:srgbClr val="E8E8EC"/>
                </a:solidFill>
              </a:rPr>
              <a:t>cell voltage</a:t>
            </a:r>
            <a:r>
              <a:rPr lang="en-US" sz="1400" dirty="0">
                <a:solidFill>
                  <a:srgbClr val="B8B8C0"/>
                </a:solidFill>
              </a:rPr>
              <a:t>, </a:t>
            </a:r>
            <a:r>
              <a:rPr lang="en-US" sz="1400" b="1" dirty="0">
                <a:solidFill>
                  <a:srgbClr val="E8E8EC"/>
                </a:solidFill>
              </a:rPr>
              <a:t>pack current</a:t>
            </a:r>
            <a:r>
              <a:rPr lang="en-US" sz="1400" dirty="0">
                <a:solidFill>
                  <a:srgbClr val="B8B8C0"/>
                </a:solidFill>
              </a:rPr>
              <a:t>, and </a:t>
            </a:r>
            <a:r>
              <a:rPr lang="en-US" sz="1400" b="1" dirty="0">
                <a:solidFill>
                  <a:srgbClr val="E8E8EC"/>
                </a:solidFill>
              </a:rPr>
              <a:t>thermal sensor data</a:t>
            </a:r>
            <a:r>
              <a:rPr lang="en-US" sz="1400" dirty="0">
                <a:solidFill>
                  <a:srgbClr val="B8B8C0"/>
                </a:solidFill>
              </a:rPr>
              <a:t>.</a:t>
            </a:r>
          </a:p>
        </p:txBody>
      </p:sp>
      <p:sp>
        <p:nvSpPr>
          <p:cNvPr id="403" name="txt2"/>
          <p:cNvSpPr/>
          <p:nvPr/>
        </p:nvSpPr>
        <p:spPr>
          <a:xfrm>
            <a:off x="660400" y="2667000"/>
            <a:ext cx="3911600" cy="1346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Fault status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400" dirty="0">
                <a:solidFill>
                  <a:srgbClr val="B8B8C0"/>
                </a:solidFill>
              </a:rPr>
              <a:t>Surfaces active </a:t>
            </a:r>
            <a:r>
              <a:rPr lang="en-US" sz="1400" b="1" dirty="0">
                <a:solidFill>
                  <a:srgbClr val="E8E8EC"/>
                </a:solidFill>
              </a:rPr>
              <a:t>hardware faults</a:t>
            </a:r>
            <a:r>
              <a:rPr lang="en-US" sz="1400" dirty="0">
                <a:solidFill>
                  <a:srgbClr val="B8B8C0"/>
                </a:solidFill>
              </a:rPr>
              <a:t>, </a:t>
            </a:r>
            <a:r>
              <a:rPr lang="en-US" sz="1400" b="1" dirty="0">
                <a:solidFill>
                  <a:srgbClr val="E8E8EC"/>
                </a:solidFill>
              </a:rPr>
              <a:t>safety states</a:t>
            </a:r>
            <a:r>
              <a:rPr lang="en-US" sz="1400" dirty="0">
                <a:solidFill>
                  <a:srgbClr val="B8B8C0"/>
                </a:solidFill>
              </a:rPr>
              <a:t>, and </a:t>
            </a:r>
            <a:r>
              <a:rPr lang="en-US" sz="1400" b="1" dirty="0">
                <a:solidFill>
                  <a:srgbClr val="E8E8EC"/>
                </a:solidFill>
              </a:rPr>
              <a:t>BQ76930 register alerts</a:t>
            </a:r>
            <a:r>
              <a:rPr lang="en-US" sz="1400" dirty="0">
                <a:solidFill>
                  <a:srgbClr val="B8B8C0"/>
                </a:solidFill>
              </a:rPr>
              <a:t>.</a:t>
            </a:r>
          </a:p>
        </p:txBody>
      </p:sp>
      <p:sp>
        <p:nvSpPr>
          <p:cNvPr id="405" name="txt3"/>
          <p:cNvSpPr/>
          <p:nvPr/>
        </p:nvSpPr>
        <p:spPr>
          <a:xfrm>
            <a:off x="660400" y="4495800"/>
            <a:ext cx="3911600" cy="1346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Command surface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400" dirty="0">
                <a:solidFill>
                  <a:srgbClr val="B8B8C0"/>
                </a:solidFill>
              </a:rPr>
              <a:t>Bi-directional control link for </a:t>
            </a:r>
            <a:r>
              <a:rPr lang="en-US" sz="1400" b="1" dirty="0">
                <a:solidFill>
                  <a:srgbClr val="E8E8EC"/>
                </a:solidFill>
              </a:rPr>
              <a:t>FET states</a:t>
            </a:r>
            <a:r>
              <a:rPr lang="en-US" sz="1400" dirty="0">
                <a:solidFill>
                  <a:srgbClr val="B8B8C0"/>
                </a:solidFill>
              </a:rPr>
              <a:t>, </a:t>
            </a:r>
            <a:r>
              <a:rPr lang="en-US" sz="1400" b="1" dirty="0">
                <a:solidFill>
                  <a:srgbClr val="E8E8EC"/>
                </a:solidFill>
              </a:rPr>
              <a:t>fan PWM</a:t>
            </a:r>
            <a:r>
              <a:rPr lang="en-US" sz="1400" dirty="0">
                <a:solidFill>
                  <a:srgbClr val="B8B8C0"/>
                </a:solidFill>
              </a:rPr>
              <a:t>, and </a:t>
            </a:r>
            <a:r>
              <a:rPr lang="en-US" sz="1400" b="1" dirty="0">
                <a:solidFill>
                  <a:srgbClr val="E8E8EC"/>
                </a:solidFill>
              </a:rPr>
              <a:t>calibration commands</a:t>
            </a:r>
            <a:r>
              <a:rPr lang="en-US" sz="1400" dirty="0">
                <a:solidFill>
                  <a:srgbClr val="B8B8C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9DC37-FBD8-DB47-8585-B6C479D94ECA}"/>
              </a:ext>
            </a:extLst>
          </p:cNvPr>
          <p:cNvSpPr txBox="1"/>
          <p:nvPr/>
        </p:nvSpPr>
        <p:spPr>
          <a:xfrm>
            <a:off x="5054600" y="2997200"/>
            <a:ext cx="3708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9A8060"/>
                </a:solidFill>
              </a:rPr>
              <a:t>Full size on slides 8–9</a:t>
            </a:r>
          </a:p>
        </p:txBody>
      </p:sp>
      <p:pic>
        <p:nvPicPr>
          <p:cNvPr id="221" name="Copied Picture 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600" y="711200"/>
            <a:ext cx="370840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Copied Picture 2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600" y="3175000"/>
            <a:ext cx="37084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96F649-5699-824F-9D74-03422DAEFED7}"/>
              </a:ext>
            </a:extLst>
          </p:cNvPr>
          <p:cNvSpPr/>
          <p:nvPr/>
        </p:nvSpPr>
        <p:spPr>
          <a:xfrm>
            <a:off x="381000" y="660400"/>
            <a:ext cx="63500" cy="1651000"/>
          </a:xfrm>
          <a:prstGeom prst="rect">
            <a:avLst/>
          </a:prstGeom>
          <a:solidFill>
            <a:srgbClr val="F0A500"/>
          </a:solidFill>
          <a:ln w="254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5F200-A01D-A342-AF2F-C9E07C9FB4FF}"/>
              </a:ext>
            </a:extLst>
          </p:cNvPr>
          <p:cNvSpPr/>
          <p:nvPr/>
        </p:nvSpPr>
        <p:spPr>
          <a:xfrm>
            <a:off x="381000" y="2489200"/>
            <a:ext cx="63500" cy="1651000"/>
          </a:xfrm>
          <a:prstGeom prst="rect">
            <a:avLst/>
          </a:prstGeom>
          <a:solidFill>
            <a:srgbClr val="E0524A"/>
          </a:solidFill>
          <a:ln w="254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C43BFE-4411-5B4D-A3F0-C168E8B96D41}"/>
              </a:ext>
            </a:extLst>
          </p:cNvPr>
          <p:cNvSpPr/>
          <p:nvPr/>
        </p:nvSpPr>
        <p:spPr>
          <a:xfrm>
            <a:off x="381000" y="4318000"/>
            <a:ext cx="63500" cy="1651000"/>
          </a:xfrm>
          <a:prstGeom prst="rect">
            <a:avLst/>
          </a:prstGeom>
          <a:solidFill>
            <a:srgbClr val="4E7FE0"/>
          </a:solidFill>
          <a:ln w="25400" cap="flat" cmpd="sng" algn="ctr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0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411480" y="4800600"/>
            <a:ext cx="8298180" cy="20574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4800600" y="4903470"/>
            <a:ext cx="39090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Battery Management System  ·  EE 175AB / ENGR 181W</a:t>
            </a:r>
            <a:r>
              <a:rPr lang="en" sz="8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   8 / 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411480" y="2743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700"/>
              <a:buFont typeface="Calibri"/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4800600" y="2743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700"/>
              <a:buFont typeface="Calibri"/>
              <a:buNone/>
            </a:pPr>
            <a:r>
              <a:rPr lang="en" sz="27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411480" y="96012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3600"/>
              <a:buFont typeface="Calibri"/>
              <a:buNone/>
            </a:pPr>
            <a:r>
              <a:rPr lang="en" sz="36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891540" y="101498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 senior design works.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891540" y="1303020"/>
            <a:ext cx="3703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Custom PCBs, custom firmware, custom desktop app — all integrated, all observable from one dashboard.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411480" y="198882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3600"/>
              <a:buFont typeface="Calibri"/>
              <a:buNone/>
            </a:pPr>
            <a:r>
              <a:rPr lang="en" sz="36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891540" y="204368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is hardware-enforced.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891540" y="2331720"/>
            <a:ext cx="3703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BQ76930 + electromechanical relay isolate the pack on fault regardless of firmware state; GND-ALWAYS-ON keeps diagnostics alive.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411480" y="301752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3600"/>
              <a:buFont typeface="Calibri"/>
              <a:buNone/>
            </a:pPr>
            <a:r>
              <a:rPr lang="en" sz="36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891540" y="307238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compute workload validated.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891540" y="3360420"/>
            <a:ext cx="3703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The pack powered an NVIDIA Jetson Orin Nano running a 1.3 B-parameter AI model end-to-end without tripping protection.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4800600" y="960120"/>
            <a:ext cx="68580" cy="891540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4972050" y="96012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4972050" y="1234440"/>
            <a:ext cx="397764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Integrate the relay onto the PCB · USB isolation between BMS and E-Load · backup over-temperature comparator · charger harness redesign.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4800600" y="1988820"/>
            <a:ext cx="68580" cy="891540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4972050" y="198882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4972050" y="2263140"/>
            <a:ext cx="397764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Scale beyond 1 A · proper op-amp feedback filtering · correct shunt selection · constant-power and constant-resistance modes.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800600" y="3017520"/>
            <a:ext cx="68580" cy="891540"/>
          </a:xfrm>
          <a:prstGeom prst="rect">
            <a:avLst/>
          </a:prstGeom>
          <a:solidFill>
            <a:srgbClr val="F2A900"/>
          </a:solidFill>
          <a:ln w="127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4972050" y="301752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972050" y="3291840"/>
            <a:ext cx="397764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Hardware-in-the-loop replay mode from stored telemetry · bidirectional USB hot-plug · LCD module for headless monitoring.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38300" y="126375"/>
            <a:ext cx="20673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Placeholder rn for images copy n paste accordingly to their slide page</a:t>
            </a:r>
            <a:endParaRPr sz="1200"/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625" y="3222625"/>
            <a:ext cx="2138025" cy="18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 title="image.png"/>
          <p:cNvPicPr preferRelativeResize="0"/>
          <p:nvPr/>
        </p:nvPicPr>
        <p:blipFill rotWithShape="1">
          <a:blip r:embed="rId4">
            <a:alphaModFix/>
          </a:blip>
          <a:srcRect t="729" b="739"/>
          <a:stretch/>
        </p:blipFill>
        <p:spPr>
          <a:xfrm>
            <a:off x="78100" y="3358879"/>
            <a:ext cx="2662276" cy="1689521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7600" y="3334325"/>
            <a:ext cx="3123175" cy="17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5225" y="1781621"/>
            <a:ext cx="2298300" cy="127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300" y="1242325"/>
            <a:ext cx="2787751" cy="186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6951" y="164900"/>
            <a:ext cx="3205874" cy="13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92625" y="1605900"/>
            <a:ext cx="3434200" cy="1502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75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E362-4923-DFF0-9D10-E47577BD1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" sz="24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Speaker Notes (hidden — not shown in presentation)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8E9BA-7D13-8487-1B10-15CFDD6B0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500"/>
              </a:spcBef>
              <a:buNone/>
            </a:pPr>
            <a:r>
              <a:rPr lang="en" sz="15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Delivery / timing cues (parked from slide faces)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 &amp; Motivation: Nick — ~1 min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Overview: ~20 sec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transitions tight; hand off cleanly between presenters</a:t>
            </a:r>
          </a:p>
          <a:p>
            <a:pPr algn="l">
              <a:spcBef>
                <a:spcPts val="500"/>
              </a:spcBef>
              <a:buNone/>
            </a:pPr>
            <a:r>
              <a:rPr lang="en" sz="1500" b="1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Reminders to self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use unnecessary technical terms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small text — don't just read the lecture slides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images of the GUI together with the BMS</a:t>
            </a:r>
          </a:p>
          <a:p>
            <a:pPr marL="285750" indent="-285750" algn="l">
              <a:spcBef>
                <a:spcPts val="200"/>
              </a:spcBef>
              <a:buClr>
                <a:srgbClr val="F2A900"/>
              </a:buClr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 each part, then present results at the end</a:t>
            </a:r>
          </a:p>
        </p:txBody>
      </p:sp>
    </p:spTree>
    <p:extLst>
      <p:ext uri="{BB962C8B-B14F-4D97-AF65-F5344CB8AC3E}">
        <p14:creationId xmlns:p14="http://schemas.microsoft.com/office/powerpoint/2010/main" val="49746492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4E434D-DA7F-A049-8D02-306F9E054A2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ace3cf7-a8b3-4d53-a899-64fcd69a720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837</Words>
  <Application>Microsoft Macintosh PowerPoint</Application>
  <PresentationFormat>On-screen Show (16:9)</PresentationFormat>
  <Paragraphs>95</Paragraphs>
  <Slides>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Simple Light</vt:lpstr>
      <vt:lpstr>Office Theme</vt:lpstr>
      <vt:lpstr>PowerPoint Presentation</vt:lpstr>
      <vt:lpstr>Introduction &amp; Motivation</vt:lpstr>
      <vt:lpstr>System Overview</vt:lpstr>
      <vt:lpstr>The BMS Board</vt:lpstr>
      <vt:lpstr>Eload — Test Bench</vt:lpstr>
      <vt:lpstr>GUI &amp; Telemetry</vt:lpstr>
      <vt:lpstr>PowerPoint Presentation</vt:lpstr>
      <vt:lpstr>PowerPoint Presentation</vt:lpstr>
      <vt:lpstr>Speaker Notes (hidden — not shown in presentation)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Kaushik Vada</cp:lastModifiedBy>
  <cp:revision>5</cp:revision>
  <dcterms:modified xsi:type="dcterms:W3CDTF">2026-05-29T23:04:36Z</dcterms:modified>
</cp:coreProperties>
</file>