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6858000" cx="12192000"/>
  <p:notesSz cx="6858000" cy="9144000"/>
  <p:embeddedFontLst>
    <p:embeddedFont>
      <p:font typeface="Play"/>
      <p:regular r:id="rId13"/>
      <p:bold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Play-regular.fntdata"/><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4" Type="http://schemas.openxmlformats.org/officeDocument/2006/relationships/font" Target="fonts/Play-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dfc3eadb92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g3dfc3eadb9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df69c74f44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g3df69c74f44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df69c74f44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g3df69c74f4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df69c74f44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g3df69c74f44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df69c74f44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g3df69c74f44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mailto:theidar@ucr.edu"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sp>
        <p:nvSpPr>
          <p:cNvPr id="89" name="Google Shape;89;p13"/>
          <p:cNvSpPr/>
          <p:nvPr/>
        </p:nvSpPr>
        <p:spPr>
          <a:xfrm>
            <a:off x="3048" y="0"/>
            <a:ext cx="12188952"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0" name="Google Shape;90;p13"/>
          <p:cNvSpPr/>
          <p:nvPr/>
        </p:nvSpPr>
        <p:spPr>
          <a:xfrm>
            <a:off x="0" y="0"/>
            <a:ext cx="12188952" cy="6858000"/>
          </a:xfrm>
          <a:prstGeom prst="rect">
            <a:avLst/>
          </a:prstGeom>
          <a:solidFill>
            <a:schemeClr val="dk1">
              <a:alpha val="5294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nvGrpSpPr>
          <p:cNvPr id="91" name="Google Shape;91;p13"/>
          <p:cNvGrpSpPr/>
          <p:nvPr/>
        </p:nvGrpSpPr>
        <p:grpSpPr>
          <a:xfrm>
            <a:off x="1" y="2075420"/>
            <a:ext cx="12396066" cy="4440643"/>
            <a:chOff x="1" y="2075420"/>
            <a:chExt cx="12396066" cy="4440643"/>
          </a:xfrm>
        </p:grpSpPr>
        <p:sp>
          <p:nvSpPr>
            <p:cNvPr id="92" name="Google Shape;92;p13"/>
            <p:cNvSpPr/>
            <p:nvPr/>
          </p:nvSpPr>
          <p:spPr>
            <a:xfrm rot="4500000">
              <a:off x="7942191" y="2507571"/>
              <a:ext cx="3563871" cy="3563871"/>
            </a:xfrm>
            <a:prstGeom prst="ellipse">
              <a:avLst/>
            </a:prstGeom>
            <a:noFill/>
            <a:ln cap="flat" cmpd="sng" w="31750">
              <a:solidFill>
                <a:srgbClr val="2A7AD0">
                  <a:alpha val="10196"/>
                </a:srgbClr>
              </a:solidFill>
              <a:prstDash val="dot"/>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3" name="Google Shape;93;p13"/>
            <p:cNvSpPr/>
            <p:nvPr/>
          </p:nvSpPr>
          <p:spPr>
            <a:xfrm rot="-5400000">
              <a:off x="10435065" y="4048931"/>
              <a:ext cx="1381607" cy="1381607"/>
            </a:xfrm>
            <a:prstGeom prst="ellipse">
              <a:avLst/>
            </a:prstGeom>
            <a:noFill/>
            <a:ln cap="flat" cmpd="sng" w="31750">
              <a:solidFill>
                <a:srgbClr val="2A7AD0">
                  <a:alpha val="20000"/>
                </a:srgbClr>
              </a:solidFill>
              <a:prstDash val="dot"/>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4" name="Google Shape;94;p13"/>
            <p:cNvSpPr/>
            <p:nvPr/>
          </p:nvSpPr>
          <p:spPr>
            <a:xfrm rot="-5400000">
              <a:off x="1" y="2075420"/>
              <a:ext cx="3144364" cy="3144364"/>
            </a:xfrm>
            <a:prstGeom prst="ellipse">
              <a:avLst/>
            </a:prstGeom>
            <a:gradFill>
              <a:gsLst>
                <a:gs pos="0">
                  <a:srgbClr val="0A1D30">
                    <a:alpha val="20000"/>
                  </a:srgbClr>
                </a:gs>
                <a:gs pos="100000">
                  <a:srgbClr val="061320">
                    <a:alpha val="10196"/>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5" name="Google Shape;95;p13"/>
            <p:cNvSpPr/>
            <p:nvPr/>
          </p:nvSpPr>
          <p:spPr>
            <a:xfrm rot="-9000000">
              <a:off x="10150845" y="4270841"/>
              <a:ext cx="1897885" cy="1897885"/>
            </a:xfrm>
            <a:prstGeom prst="ellipse">
              <a:avLst/>
            </a:prstGeom>
            <a:gradFill>
              <a:gsLst>
                <a:gs pos="0">
                  <a:srgbClr val="0A1D30">
                    <a:alpha val="10196"/>
                  </a:srgbClr>
                </a:gs>
                <a:gs pos="100000">
                  <a:srgbClr val="0A1D30">
                    <a:alpha val="2000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6" name="Google Shape;96;p13"/>
            <p:cNvSpPr/>
            <p:nvPr/>
          </p:nvSpPr>
          <p:spPr>
            <a:xfrm rot="4500000">
              <a:off x="2046780" y="3040492"/>
              <a:ext cx="2579322" cy="2579322"/>
            </a:xfrm>
            <a:prstGeom prst="ellipse">
              <a:avLst/>
            </a:prstGeom>
            <a:noFill/>
            <a:ln cap="flat" cmpd="sng" w="31750">
              <a:solidFill>
                <a:srgbClr val="2A7AD0">
                  <a:alpha val="20000"/>
                </a:srgbClr>
              </a:solidFill>
              <a:prstDash val="dot"/>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7" name="Google Shape;97;p13"/>
            <p:cNvSpPr/>
            <p:nvPr/>
          </p:nvSpPr>
          <p:spPr>
            <a:xfrm rot="4500000">
              <a:off x="2224640" y="3193975"/>
              <a:ext cx="2243193" cy="2243193"/>
            </a:xfrm>
            <a:prstGeom prst="ellipse">
              <a:avLst/>
            </a:prstGeom>
            <a:noFill/>
            <a:ln cap="flat" cmpd="sng" w="31750">
              <a:solidFill>
                <a:srgbClr val="2A7AD0">
                  <a:alpha val="1019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
        <p:nvSpPr>
          <p:cNvPr id="98" name="Google Shape;98;p13"/>
          <p:cNvSpPr/>
          <p:nvPr/>
        </p:nvSpPr>
        <p:spPr>
          <a:xfrm rot="-5400000">
            <a:off x="10438146" y="1042605"/>
            <a:ext cx="2796461" cy="711252"/>
          </a:xfrm>
          <a:prstGeom prst="rect">
            <a:avLst/>
          </a:prstGeom>
          <a:gradFill>
            <a:gsLst>
              <a:gs pos="0">
                <a:srgbClr val="6DA5E3">
                  <a:alpha val="0"/>
                </a:srgbClr>
              </a:gs>
              <a:gs pos="100000">
                <a:srgbClr val="0A1D30">
                  <a:alpha val="10196"/>
                </a:srgbClr>
              </a:gs>
            </a:gsLst>
            <a:lin ang="8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nvGrpSpPr>
          <p:cNvPr id="99" name="Google Shape;99;p13"/>
          <p:cNvGrpSpPr/>
          <p:nvPr/>
        </p:nvGrpSpPr>
        <p:grpSpPr>
          <a:xfrm>
            <a:off x="11259539" y="317578"/>
            <a:ext cx="548640" cy="549007"/>
            <a:chOff x="7029447" y="3514725"/>
            <a:chExt cx="1285875" cy="549007"/>
          </a:xfrm>
        </p:grpSpPr>
        <p:cxnSp>
          <p:nvCxnSpPr>
            <p:cNvPr id="100" name="Google Shape;100;p13"/>
            <p:cNvCxnSpPr/>
            <p:nvPr/>
          </p:nvCxnSpPr>
          <p:spPr>
            <a:xfrm>
              <a:off x="7029447" y="3514725"/>
              <a:ext cx="1285875" cy="0"/>
            </a:xfrm>
            <a:prstGeom prst="straightConnector1">
              <a:avLst/>
            </a:prstGeom>
            <a:noFill/>
            <a:ln cap="rnd" cmpd="sng" w="31750">
              <a:solidFill>
                <a:srgbClr val="2A7AD0">
                  <a:alpha val="40000"/>
                </a:srgbClr>
              </a:solidFill>
              <a:prstDash val="dot"/>
              <a:round/>
              <a:headEnd len="sm" w="sm" type="none"/>
              <a:tailEnd len="sm" w="sm" type="none"/>
            </a:ln>
          </p:spPr>
        </p:cxnSp>
        <p:cxnSp>
          <p:nvCxnSpPr>
            <p:cNvPr id="101" name="Google Shape;101;p13"/>
            <p:cNvCxnSpPr/>
            <p:nvPr/>
          </p:nvCxnSpPr>
          <p:spPr>
            <a:xfrm>
              <a:off x="7029447" y="3697727"/>
              <a:ext cx="1285875" cy="0"/>
            </a:xfrm>
            <a:prstGeom prst="straightConnector1">
              <a:avLst/>
            </a:prstGeom>
            <a:noFill/>
            <a:ln cap="rnd" cmpd="sng" w="31750">
              <a:solidFill>
                <a:srgbClr val="2A7AD0">
                  <a:alpha val="40000"/>
                </a:srgbClr>
              </a:solidFill>
              <a:prstDash val="dot"/>
              <a:round/>
              <a:headEnd len="sm" w="sm" type="none"/>
              <a:tailEnd len="sm" w="sm" type="none"/>
            </a:ln>
          </p:spPr>
        </p:cxnSp>
        <p:cxnSp>
          <p:nvCxnSpPr>
            <p:cNvPr id="102" name="Google Shape;102;p13"/>
            <p:cNvCxnSpPr/>
            <p:nvPr/>
          </p:nvCxnSpPr>
          <p:spPr>
            <a:xfrm>
              <a:off x="7029447" y="3880729"/>
              <a:ext cx="1285875" cy="0"/>
            </a:xfrm>
            <a:prstGeom prst="straightConnector1">
              <a:avLst/>
            </a:prstGeom>
            <a:noFill/>
            <a:ln cap="rnd" cmpd="sng" w="31750">
              <a:solidFill>
                <a:srgbClr val="2A7AD0">
                  <a:alpha val="40000"/>
                </a:srgbClr>
              </a:solidFill>
              <a:prstDash val="dot"/>
              <a:round/>
              <a:headEnd len="sm" w="sm" type="none"/>
              <a:tailEnd len="sm" w="sm" type="none"/>
            </a:ln>
          </p:spPr>
        </p:cxnSp>
        <p:cxnSp>
          <p:nvCxnSpPr>
            <p:cNvPr id="103" name="Google Shape;103;p13"/>
            <p:cNvCxnSpPr/>
            <p:nvPr/>
          </p:nvCxnSpPr>
          <p:spPr>
            <a:xfrm>
              <a:off x="7029447" y="4063732"/>
              <a:ext cx="1285875" cy="0"/>
            </a:xfrm>
            <a:prstGeom prst="straightConnector1">
              <a:avLst/>
            </a:prstGeom>
            <a:noFill/>
            <a:ln cap="rnd" cmpd="sng" w="31750">
              <a:solidFill>
                <a:srgbClr val="2A7AD0">
                  <a:alpha val="40000"/>
                </a:srgbClr>
              </a:solidFill>
              <a:prstDash val="dot"/>
              <a:round/>
              <a:headEnd len="sm" w="sm" type="none"/>
              <a:tailEnd len="sm" w="sm" type="none"/>
            </a:ln>
          </p:spPr>
        </p:cxnSp>
      </p:grpSp>
      <p:sp>
        <p:nvSpPr>
          <p:cNvPr id="104" name="Google Shape;104;p13"/>
          <p:cNvSpPr/>
          <p:nvPr/>
        </p:nvSpPr>
        <p:spPr>
          <a:xfrm rot="10800000">
            <a:off x="-1" y="6140785"/>
            <a:ext cx="6095997" cy="711252"/>
          </a:xfrm>
          <a:prstGeom prst="rect">
            <a:avLst/>
          </a:prstGeom>
          <a:gradFill>
            <a:gsLst>
              <a:gs pos="0">
                <a:srgbClr val="061320">
                  <a:alpha val="10196"/>
                </a:srgbClr>
              </a:gs>
              <a:gs pos="10000">
                <a:srgbClr val="061320">
                  <a:alpha val="10196"/>
                </a:srgbClr>
              </a:gs>
              <a:gs pos="100000">
                <a:srgbClr val="2A7AD0">
                  <a:alpha val="0"/>
                </a:srgbClr>
              </a:gs>
            </a:gsLst>
            <a:lin ang="8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nvGrpSpPr>
          <p:cNvPr id="105" name="Google Shape;105;p13"/>
          <p:cNvGrpSpPr/>
          <p:nvPr/>
        </p:nvGrpSpPr>
        <p:grpSpPr>
          <a:xfrm rot="5400000">
            <a:off x="616345" y="5940560"/>
            <a:ext cx="1285875" cy="549007"/>
            <a:chOff x="7029447" y="3514725"/>
            <a:chExt cx="1285875" cy="549007"/>
          </a:xfrm>
        </p:grpSpPr>
        <p:cxnSp>
          <p:nvCxnSpPr>
            <p:cNvPr id="106" name="Google Shape;106;p13"/>
            <p:cNvCxnSpPr/>
            <p:nvPr/>
          </p:nvCxnSpPr>
          <p:spPr>
            <a:xfrm>
              <a:off x="7029447" y="3514725"/>
              <a:ext cx="1285875" cy="0"/>
            </a:xfrm>
            <a:prstGeom prst="straightConnector1">
              <a:avLst/>
            </a:prstGeom>
            <a:noFill/>
            <a:ln cap="rnd" cmpd="sng" w="31750">
              <a:solidFill>
                <a:srgbClr val="2A7AD0">
                  <a:alpha val="40000"/>
                </a:srgbClr>
              </a:solidFill>
              <a:prstDash val="dot"/>
              <a:round/>
              <a:headEnd len="sm" w="sm" type="none"/>
              <a:tailEnd len="sm" w="sm" type="none"/>
            </a:ln>
          </p:spPr>
        </p:cxnSp>
        <p:cxnSp>
          <p:nvCxnSpPr>
            <p:cNvPr id="107" name="Google Shape;107;p13"/>
            <p:cNvCxnSpPr/>
            <p:nvPr/>
          </p:nvCxnSpPr>
          <p:spPr>
            <a:xfrm>
              <a:off x="7029447" y="3697727"/>
              <a:ext cx="1285875" cy="0"/>
            </a:xfrm>
            <a:prstGeom prst="straightConnector1">
              <a:avLst/>
            </a:prstGeom>
            <a:noFill/>
            <a:ln cap="rnd" cmpd="sng" w="31750">
              <a:solidFill>
                <a:srgbClr val="2A7AD0">
                  <a:alpha val="40000"/>
                </a:srgbClr>
              </a:solidFill>
              <a:prstDash val="dot"/>
              <a:round/>
              <a:headEnd len="sm" w="sm" type="none"/>
              <a:tailEnd len="sm" w="sm" type="none"/>
            </a:ln>
          </p:spPr>
        </p:cxnSp>
        <p:cxnSp>
          <p:nvCxnSpPr>
            <p:cNvPr id="108" name="Google Shape;108;p13"/>
            <p:cNvCxnSpPr/>
            <p:nvPr/>
          </p:nvCxnSpPr>
          <p:spPr>
            <a:xfrm>
              <a:off x="7029447" y="3880729"/>
              <a:ext cx="1285875" cy="0"/>
            </a:xfrm>
            <a:prstGeom prst="straightConnector1">
              <a:avLst/>
            </a:prstGeom>
            <a:noFill/>
            <a:ln cap="rnd" cmpd="sng" w="31750">
              <a:solidFill>
                <a:srgbClr val="2A7AD0">
                  <a:alpha val="40000"/>
                </a:srgbClr>
              </a:solidFill>
              <a:prstDash val="dot"/>
              <a:round/>
              <a:headEnd len="sm" w="sm" type="none"/>
              <a:tailEnd len="sm" w="sm" type="none"/>
            </a:ln>
          </p:spPr>
        </p:cxnSp>
        <p:cxnSp>
          <p:nvCxnSpPr>
            <p:cNvPr id="109" name="Google Shape;109;p13"/>
            <p:cNvCxnSpPr/>
            <p:nvPr/>
          </p:nvCxnSpPr>
          <p:spPr>
            <a:xfrm>
              <a:off x="7029447" y="4063732"/>
              <a:ext cx="1285875" cy="0"/>
            </a:xfrm>
            <a:prstGeom prst="straightConnector1">
              <a:avLst/>
            </a:prstGeom>
            <a:noFill/>
            <a:ln cap="rnd" cmpd="sng" w="31750">
              <a:solidFill>
                <a:srgbClr val="2A7AD0">
                  <a:alpha val="40000"/>
                </a:srgbClr>
              </a:solidFill>
              <a:prstDash val="dot"/>
              <a:round/>
              <a:headEnd len="sm" w="sm" type="none"/>
              <a:tailEnd len="sm" w="sm" type="none"/>
            </a:ln>
          </p:spPr>
        </p:cxnSp>
      </p:grpSp>
      <p:pic>
        <p:nvPicPr>
          <p:cNvPr descr="A hand holding a pen&#10;&#10;Description automatically generated" id="110" name="Google Shape;110;p13"/>
          <p:cNvPicPr preferRelativeResize="0"/>
          <p:nvPr/>
        </p:nvPicPr>
        <p:blipFill rotWithShape="1">
          <a:blip r:embed="rId3">
            <a:alphaModFix amt="25000"/>
          </a:blip>
          <a:srcRect b="28963" l="0" r="0" t="14787"/>
          <a:stretch/>
        </p:blipFill>
        <p:spPr>
          <a:xfrm>
            <a:off x="782669" y="29548"/>
            <a:ext cx="10691280" cy="6013845"/>
          </a:xfrm>
          <a:prstGeom prst="rect">
            <a:avLst/>
          </a:prstGeom>
          <a:noFill/>
          <a:ln>
            <a:noFill/>
          </a:ln>
        </p:spPr>
      </p:pic>
      <p:sp>
        <p:nvSpPr>
          <p:cNvPr id="111" name="Google Shape;111;p13"/>
          <p:cNvSpPr txBox="1"/>
          <p:nvPr>
            <p:ph type="ctrTitle"/>
          </p:nvPr>
        </p:nvSpPr>
        <p:spPr>
          <a:xfrm>
            <a:off x="2618173" y="630936"/>
            <a:ext cx="7315200" cy="270201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4800"/>
              <a:buFont typeface="Play"/>
              <a:buNone/>
            </a:pPr>
            <a:r>
              <a:rPr lang="en-US" sz="4800">
                <a:solidFill>
                  <a:schemeClr val="lt1"/>
                </a:solidFill>
              </a:rPr>
              <a:t>ENGR181W: Essay 2</a:t>
            </a:r>
            <a:endParaRPr/>
          </a:p>
        </p:txBody>
      </p:sp>
      <p:sp>
        <p:nvSpPr>
          <p:cNvPr id="112" name="Google Shape;112;p13"/>
          <p:cNvSpPr txBox="1"/>
          <p:nvPr>
            <p:ph idx="1" type="subTitle"/>
          </p:nvPr>
        </p:nvSpPr>
        <p:spPr>
          <a:xfrm>
            <a:off x="2618174" y="3427487"/>
            <a:ext cx="7315200" cy="2615906"/>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lt1"/>
              </a:buClr>
              <a:buSzPts val="2400"/>
              <a:buNone/>
            </a:pPr>
            <a:r>
              <a:rPr lang="en-US">
                <a:solidFill>
                  <a:schemeClr val="lt1"/>
                </a:solidFill>
              </a:rPr>
              <a:t>ENGR181W</a:t>
            </a:r>
            <a:endParaRPr/>
          </a:p>
          <a:p>
            <a:pPr indent="0" lvl="0" marL="0" rtl="0" algn="ctr">
              <a:lnSpc>
                <a:spcPct val="90000"/>
              </a:lnSpc>
              <a:spcBef>
                <a:spcPts val="1000"/>
              </a:spcBef>
              <a:spcAft>
                <a:spcPts val="0"/>
              </a:spcAft>
              <a:buClr>
                <a:schemeClr val="lt1"/>
              </a:buClr>
              <a:buSzPts val="2400"/>
              <a:buNone/>
            </a:pPr>
            <a:r>
              <a:rPr lang="en-US">
                <a:solidFill>
                  <a:schemeClr val="lt1"/>
                </a:solidFill>
              </a:rPr>
              <a:t>Spring 2026</a:t>
            </a:r>
            <a:endParaRPr/>
          </a:p>
          <a:p>
            <a:pPr indent="0" lvl="0" marL="0" rtl="0" algn="ctr">
              <a:lnSpc>
                <a:spcPct val="90000"/>
              </a:lnSpc>
              <a:spcBef>
                <a:spcPts val="1000"/>
              </a:spcBef>
              <a:spcAft>
                <a:spcPts val="0"/>
              </a:spcAft>
              <a:buClr>
                <a:schemeClr val="lt1"/>
              </a:buClr>
              <a:buSzPts val="2400"/>
              <a:buNone/>
            </a:pPr>
            <a:r>
              <a:rPr lang="en-US">
                <a:solidFill>
                  <a:schemeClr val="lt1"/>
                </a:solidFill>
              </a:rPr>
              <a:t>Jovana Isevski</a:t>
            </a:r>
            <a:endParaRPr/>
          </a:p>
          <a:p>
            <a:pPr indent="0" lvl="0" marL="0" rtl="0" algn="ctr">
              <a:lnSpc>
                <a:spcPct val="90000"/>
              </a:lnSpc>
              <a:spcBef>
                <a:spcPts val="1000"/>
              </a:spcBef>
              <a:spcAft>
                <a:spcPts val="0"/>
              </a:spcAft>
              <a:buClr>
                <a:schemeClr val="lt1"/>
              </a:buClr>
              <a:buSzPts val="2400"/>
              <a:buNone/>
            </a:pPr>
            <a:r>
              <a:rPr lang="en-US">
                <a:solidFill>
                  <a:schemeClr val="lt1"/>
                </a:solidFill>
              </a:rPr>
              <a:t>The University Writing Program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6" name="Shape 116"/>
        <p:cNvGrpSpPr/>
        <p:nvPr/>
      </p:nvGrpSpPr>
      <p:grpSpPr>
        <a:xfrm>
          <a:off x="0" y="0"/>
          <a:ext cx="0" cy="0"/>
          <a:chOff x="0" y="0"/>
          <a:chExt cx="0" cy="0"/>
        </a:xfrm>
      </p:grpSpPr>
      <p:sp>
        <p:nvSpPr>
          <p:cNvPr id="117" name="Google Shape;117;p14"/>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8" name="Google Shape;118;p14"/>
          <p:cNvSpPr txBox="1"/>
          <p:nvPr>
            <p:ph type="title"/>
          </p:nvPr>
        </p:nvSpPr>
        <p:spPr>
          <a:xfrm>
            <a:off x="838200" y="0"/>
            <a:ext cx="10009800" cy="1807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Announcement from the Professor</a:t>
            </a:r>
            <a:endParaRPr/>
          </a:p>
        </p:txBody>
      </p:sp>
      <p:sp>
        <p:nvSpPr>
          <p:cNvPr id="119" name="Google Shape;119;p14"/>
          <p:cNvSpPr txBox="1"/>
          <p:nvPr>
            <p:ph idx="1" type="body"/>
          </p:nvPr>
        </p:nvSpPr>
        <p:spPr>
          <a:xfrm>
            <a:off x="838200" y="1566486"/>
            <a:ext cx="10383900" cy="5367600"/>
          </a:xfrm>
          <a:prstGeom prst="rect">
            <a:avLst/>
          </a:prstGeom>
          <a:noFill/>
          <a:ln>
            <a:noFill/>
          </a:ln>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b="1" lang="en-US" sz="2400"/>
              <a:t>Since Canvas is down, </a:t>
            </a:r>
            <a:r>
              <a:rPr b="1" lang="en-US" sz="2400"/>
              <a:t>Essay 1</a:t>
            </a:r>
            <a:r>
              <a:rPr b="1" lang="en-US" sz="2400"/>
              <a:t> deadline is extended to</a:t>
            </a:r>
            <a:endParaRPr b="1" sz="2400"/>
          </a:p>
          <a:p>
            <a:pPr indent="0" lvl="0" marL="0" rtl="0" algn="l">
              <a:spcBef>
                <a:spcPts val="1000"/>
              </a:spcBef>
              <a:spcAft>
                <a:spcPts val="0"/>
              </a:spcAft>
              <a:buClr>
                <a:schemeClr val="dk1"/>
              </a:buClr>
              <a:buSzPts val="1100"/>
              <a:buFont typeface="Arial"/>
              <a:buNone/>
            </a:pPr>
            <a:r>
              <a:rPr b="1" lang="en-US" sz="2400">
                <a:solidFill>
                  <a:srgbClr val="FF0000"/>
                </a:solidFill>
              </a:rPr>
              <a:t>Saturday 8:00 PM</a:t>
            </a:r>
            <a:r>
              <a:rPr b="1" lang="en-US" sz="2400"/>
              <a:t>.</a:t>
            </a:r>
            <a:endParaRPr b="1" sz="2400"/>
          </a:p>
          <a:p>
            <a:pPr indent="0" lvl="0" marL="0" rtl="0" algn="l">
              <a:spcBef>
                <a:spcPts val="1000"/>
              </a:spcBef>
              <a:spcAft>
                <a:spcPts val="0"/>
              </a:spcAft>
              <a:buClr>
                <a:schemeClr val="dk1"/>
              </a:buClr>
              <a:buSzPts val="1100"/>
              <a:buFont typeface="Arial"/>
              <a:buNone/>
            </a:pPr>
            <a:r>
              <a:rPr b="1" lang="en-US" sz="2400"/>
              <a:t>• If by that time (Saturday 5/9) </a:t>
            </a:r>
            <a:r>
              <a:rPr b="1" lang="en-US" sz="2400">
                <a:solidFill>
                  <a:srgbClr val="0000FF"/>
                </a:solidFill>
              </a:rPr>
              <a:t>Canvas</a:t>
            </a:r>
            <a:r>
              <a:rPr b="1" lang="en-US" sz="2400"/>
              <a:t> is functional,</a:t>
            </a:r>
            <a:endParaRPr b="1" sz="2400"/>
          </a:p>
          <a:p>
            <a:pPr indent="0" lvl="0" marL="0" rtl="0" algn="l">
              <a:spcBef>
                <a:spcPts val="1000"/>
              </a:spcBef>
              <a:spcAft>
                <a:spcPts val="0"/>
              </a:spcAft>
              <a:buClr>
                <a:schemeClr val="dk1"/>
              </a:buClr>
              <a:buSzPts val="1100"/>
              <a:buFont typeface="Arial"/>
              <a:buNone/>
            </a:pPr>
            <a:r>
              <a:rPr b="1" lang="en-US" sz="2400"/>
              <a:t>upload your essay there.</a:t>
            </a:r>
            <a:endParaRPr b="1" sz="2400"/>
          </a:p>
          <a:p>
            <a:pPr indent="0" lvl="0" marL="0" rtl="0" algn="l">
              <a:spcBef>
                <a:spcPts val="1000"/>
              </a:spcBef>
              <a:spcAft>
                <a:spcPts val="0"/>
              </a:spcAft>
              <a:buClr>
                <a:schemeClr val="dk1"/>
              </a:buClr>
              <a:buSzPts val="1100"/>
              <a:buFont typeface="Arial"/>
              <a:buNone/>
            </a:pPr>
            <a:r>
              <a:rPr b="1" lang="en-US" sz="2400"/>
              <a:t>• If Canvas still is down by Saturday, </a:t>
            </a:r>
            <a:r>
              <a:rPr b="1" lang="en-US" sz="2400">
                <a:solidFill>
                  <a:srgbClr val="0000FF"/>
                </a:solidFill>
              </a:rPr>
              <a:t>send your</a:t>
            </a:r>
            <a:endParaRPr b="1" sz="2400">
              <a:solidFill>
                <a:srgbClr val="0000FF"/>
              </a:solidFill>
            </a:endParaRPr>
          </a:p>
          <a:p>
            <a:pPr indent="0" lvl="0" marL="0" rtl="0" algn="l">
              <a:spcBef>
                <a:spcPts val="1000"/>
              </a:spcBef>
              <a:spcAft>
                <a:spcPts val="0"/>
              </a:spcAft>
              <a:buClr>
                <a:schemeClr val="dk1"/>
              </a:buClr>
              <a:buSzPts val="1100"/>
              <a:buFont typeface="Arial"/>
              <a:buNone/>
            </a:pPr>
            <a:r>
              <a:rPr b="1" lang="en-US" sz="2400">
                <a:solidFill>
                  <a:srgbClr val="0000FF"/>
                </a:solidFill>
              </a:rPr>
              <a:t>essay as an attachment</a:t>
            </a:r>
            <a:r>
              <a:rPr b="1" lang="en-US" sz="2400"/>
              <a:t> to </a:t>
            </a:r>
            <a:r>
              <a:rPr b="1" lang="en-US" sz="2400" u="sng">
                <a:solidFill>
                  <a:schemeClr val="hlink"/>
                </a:solidFill>
                <a:hlinkClick r:id="rId3"/>
              </a:rPr>
              <a:t>theidar@ucr.edu</a:t>
            </a:r>
            <a:r>
              <a:rPr b="1" lang="en-US" sz="2400"/>
              <a:t> by 8:00 PM,</a:t>
            </a:r>
            <a:endParaRPr b="1" sz="2400"/>
          </a:p>
          <a:p>
            <a:pPr indent="0" lvl="0" marL="0" rtl="0" algn="l">
              <a:spcBef>
                <a:spcPts val="1000"/>
              </a:spcBef>
              <a:spcAft>
                <a:spcPts val="0"/>
              </a:spcAft>
              <a:buClr>
                <a:schemeClr val="dk1"/>
              </a:buClr>
              <a:buSzPts val="1100"/>
              <a:buFont typeface="Arial"/>
              <a:buNone/>
            </a:pPr>
            <a:r>
              <a:rPr b="1" lang="en-US" sz="2400"/>
              <a:t>Saturday 5/9.</a:t>
            </a:r>
            <a:endParaRPr b="1" sz="2400"/>
          </a:p>
          <a:p>
            <a:pPr indent="0" lvl="0" marL="0" rtl="0" algn="l">
              <a:spcBef>
                <a:spcPts val="1000"/>
              </a:spcBef>
              <a:spcAft>
                <a:spcPts val="0"/>
              </a:spcAft>
              <a:buClr>
                <a:schemeClr val="dk1"/>
              </a:buClr>
              <a:buSzPts val="1100"/>
              <a:buFont typeface="Arial"/>
              <a:buNone/>
            </a:pPr>
            <a:r>
              <a:rPr b="1" lang="en-US" sz="2400"/>
              <a:t>• </a:t>
            </a:r>
            <a:r>
              <a:rPr b="1" lang="en-US" sz="2400" u="sng"/>
              <a:t>Essays submitted or uploaded after 8:00 PM on</a:t>
            </a:r>
            <a:endParaRPr b="1" sz="2400" u="sng"/>
          </a:p>
          <a:p>
            <a:pPr indent="0" lvl="0" marL="0" rtl="0" algn="l">
              <a:spcBef>
                <a:spcPts val="1000"/>
              </a:spcBef>
              <a:spcAft>
                <a:spcPts val="0"/>
              </a:spcAft>
              <a:buClr>
                <a:schemeClr val="dk1"/>
              </a:buClr>
              <a:buSzPts val="1100"/>
              <a:buFont typeface="Arial"/>
              <a:buNone/>
            </a:pPr>
            <a:r>
              <a:rPr b="1" lang="en-US" sz="2400" u="sng"/>
              <a:t>Saturday (5/9)</a:t>
            </a:r>
            <a:r>
              <a:rPr b="1" lang="en-US" sz="2400"/>
              <a:t> </a:t>
            </a:r>
            <a:r>
              <a:rPr b="1" lang="en-US" sz="2400">
                <a:solidFill>
                  <a:srgbClr val="FF0000"/>
                </a:solidFill>
              </a:rPr>
              <a:t>will not be accepted</a:t>
            </a:r>
            <a:r>
              <a:rPr b="1" lang="en-US" sz="2400"/>
              <a:t>.</a:t>
            </a:r>
            <a:endParaRPr b="1" sz="2400"/>
          </a:p>
          <a:p>
            <a:pPr indent="0" lvl="0" marL="0" rtl="0" algn="l">
              <a:lnSpc>
                <a:spcPct val="90000"/>
              </a:lnSpc>
              <a:spcBef>
                <a:spcPts val="1000"/>
              </a:spcBef>
              <a:spcAft>
                <a:spcPts val="0"/>
              </a:spcAft>
              <a:buNone/>
            </a:pPr>
            <a:r>
              <a:t/>
            </a:r>
            <a:endParaRPr b="1"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5"/>
          <p:cNvSpPr txBox="1"/>
          <p:nvPr>
            <p:ph type="title"/>
          </p:nvPr>
        </p:nvSpPr>
        <p:spPr>
          <a:xfrm>
            <a:off x="838200" y="2382850"/>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lang="en-US"/>
              <a:t>What’s something in your field that didn’t exist 5–10 years ago?</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8" name="Shape 128"/>
        <p:cNvGrpSpPr/>
        <p:nvPr/>
      </p:nvGrpSpPr>
      <p:grpSpPr>
        <a:xfrm>
          <a:off x="0" y="0"/>
          <a:ext cx="0" cy="0"/>
          <a:chOff x="0" y="0"/>
          <a:chExt cx="0" cy="0"/>
        </a:xfrm>
      </p:grpSpPr>
      <p:sp>
        <p:nvSpPr>
          <p:cNvPr id="129" name="Google Shape;129;p16"/>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0" name="Google Shape;130;p16"/>
          <p:cNvSpPr txBox="1"/>
          <p:nvPr>
            <p:ph type="title"/>
          </p:nvPr>
        </p:nvSpPr>
        <p:spPr>
          <a:xfrm>
            <a:off x="838200" y="0"/>
            <a:ext cx="5251200" cy="1807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Essay 2 Prompt</a:t>
            </a:r>
            <a:endParaRPr/>
          </a:p>
        </p:txBody>
      </p:sp>
      <p:sp>
        <p:nvSpPr>
          <p:cNvPr id="131" name="Google Shape;131;p16"/>
          <p:cNvSpPr txBox="1"/>
          <p:nvPr>
            <p:ph idx="1" type="body"/>
          </p:nvPr>
        </p:nvSpPr>
        <p:spPr>
          <a:xfrm>
            <a:off x="838200" y="1566486"/>
            <a:ext cx="10383900" cy="5367600"/>
          </a:xfrm>
          <a:prstGeom prst="rect">
            <a:avLst/>
          </a:prstGeom>
          <a:noFill/>
          <a:ln>
            <a:noFill/>
          </a:ln>
        </p:spPr>
        <p:txBody>
          <a:bodyPr anchorCtr="0" anchor="t" bIns="45700" lIns="91425" spcFirstLastPara="1" rIns="91425" wrap="square" tIns="45700">
            <a:noAutofit/>
          </a:bodyPr>
          <a:lstStyle/>
          <a:p>
            <a:pPr indent="-514350" lvl="0" marL="514350" rtl="0" algn="l">
              <a:lnSpc>
                <a:spcPct val="90000"/>
              </a:lnSpc>
              <a:spcBef>
                <a:spcPts val="0"/>
              </a:spcBef>
              <a:spcAft>
                <a:spcPts val="0"/>
              </a:spcAft>
              <a:buClr>
                <a:schemeClr val="dk1"/>
              </a:buClr>
              <a:buSzPts val="2400"/>
              <a:buAutoNum type="alphaLcParenR"/>
            </a:pPr>
            <a:r>
              <a:rPr b="1" lang="en-US" sz="2400"/>
              <a:t>Discuss the contemporary engineering issues related to the project.</a:t>
            </a:r>
            <a:r>
              <a:rPr lang="en-US" sz="2400"/>
              <a:t> Potential contemporary engineering issues related to your project include:</a:t>
            </a:r>
            <a:endParaRPr/>
          </a:p>
          <a:p>
            <a:pPr indent="-228600" lvl="1" marL="685800" rtl="0" algn="l">
              <a:lnSpc>
                <a:spcPct val="90000"/>
              </a:lnSpc>
              <a:spcBef>
                <a:spcPts val="500"/>
              </a:spcBef>
              <a:spcAft>
                <a:spcPts val="0"/>
              </a:spcAft>
              <a:buClr>
                <a:schemeClr val="dk1"/>
              </a:buClr>
              <a:buSzPts val="2000"/>
              <a:buChar char="•"/>
            </a:pPr>
            <a:r>
              <a:rPr lang="en-US" sz="2000"/>
              <a:t>new </a:t>
            </a:r>
            <a:r>
              <a:rPr lang="en-US" sz="2000" u="sng"/>
              <a:t>technologies</a:t>
            </a:r>
            <a:endParaRPr u="sng"/>
          </a:p>
          <a:p>
            <a:pPr indent="-228600" lvl="1" marL="685800" rtl="0" algn="l">
              <a:lnSpc>
                <a:spcPct val="90000"/>
              </a:lnSpc>
              <a:spcBef>
                <a:spcPts val="500"/>
              </a:spcBef>
              <a:spcAft>
                <a:spcPts val="0"/>
              </a:spcAft>
              <a:buClr>
                <a:schemeClr val="dk1"/>
              </a:buClr>
              <a:buSzPts val="2000"/>
              <a:buChar char="•"/>
            </a:pPr>
            <a:r>
              <a:rPr lang="en-US" sz="2000"/>
              <a:t>new </a:t>
            </a:r>
            <a:r>
              <a:rPr lang="en-US" sz="2000" u="sng"/>
              <a:t>industry standards</a:t>
            </a:r>
            <a:endParaRPr u="sng"/>
          </a:p>
          <a:p>
            <a:pPr indent="-228600" lvl="1" marL="685800" rtl="0" algn="l">
              <a:lnSpc>
                <a:spcPct val="90000"/>
              </a:lnSpc>
              <a:spcBef>
                <a:spcPts val="500"/>
              </a:spcBef>
              <a:spcAft>
                <a:spcPts val="0"/>
              </a:spcAft>
              <a:buClr>
                <a:schemeClr val="dk1"/>
              </a:buClr>
              <a:buSzPts val="2000"/>
              <a:buChar char="•"/>
            </a:pPr>
            <a:r>
              <a:rPr lang="en-US" sz="2000"/>
              <a:t>new </a:t>
            </a:r>
            <a:r>
              <a:rPr lang="en-US" sz="2000" u="sng"/>
              <a:t>design methods</a:t>
            </a:r>
            <a:endParaRPr u="sng"/>
          </a:p>
          <a:p>
            <a:pPr indent="-228600" lvl="1" marL="685800" rtl="0" algn="l">
              <a:lnSpc>
                <a:spcPct val="90000"/>
              </a:lnSpc>
              <a:spcBef>
                <a:spcPts val="500"/>
              </a:spcBef>
              <a:spcAft>
                <a:spcPts val="0"/>
              </a:spcAft>
              <a:buClr>
                <a:schemeClr val="dk1"/>
              </a:buClr>
              <a:buSzPts val="2000"/>
              <a:buChar char="•"/>
            </a:pPr>
            <a:r>
              <a:rPr lang="en-US" sz="2000"/>
              <a:t>new </a:t>
            </a:r>
            <a:r>
              <a:rPr lang="en-US" sz="2000" u="sng"/>
              <a:t>materials</a:t>
            </a:r>
            <a:endParaRPr u="sng"/>
          </a:p>
          <a:p>
            <a:pPr indent="-228600" lvl="1" marL="685800" rtl="0" algn="l">
              <a:lnSpc>
                <a:spcPct val="90000"/>
              </a:lnSpc>
              <a:spcBef>
                <a:spcPts val="500"/>
              </a:spcBef>
              <a:spcAft>
                <a:spcPts val="0"/>
              </a:spcAft>
              <a:buClr>
                <a:schemeClr val="dk1"/>
              </a:buClr>
              <a:buSzPts val="2000"/>
              <a:buChar char="•"/>
            </a:pPr>
            <a:r>
              <a:rPr lang="en-US" sz="2000"/>
              <a:t>new </a:t>
            </a:r>
            <a:r>
              <a:rPr lang="en-US" sz="2000" u="sng"/>
              <a:t>trends in manufacturing</a:t>
            </a:r>
            <a:r>
              <a:rPr lang="en-US" sz="2000"/>
              <a:t>, etc. </a:t>
            </a:r>
            <a:endParaRPr/>
          </a:p>
          <a:p>
            <a:pPr indent="-514350" lvl="0" marL="514350" rtl="0" algn="l">
              <a:lnSpc>
                <a:spcPct val="90000"/>
              </a:lnSpc>
              <a:spcBef>
                <a:spcPts val="1000"/>
              </a:spcBef>
              <a:spcAft>
                <a:spcPts val="0"/>
              </a:spcAft>
              <a:buClr>
                <a:schemeClr val="dk1"/>
              </a:buClr>
              <a:buSzPts val="2400"/>
              <a:buAutoNum type="alphaLcParenR"/>
            </a:pPr>
            <a:r>
              <a:rPr lang="en-US" sz="2400"/>
              <a:t>Discuss how doing this design project helped you (a) recognize the need, and (b) develop the ability in lifelong learning.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5" name="Shape 135"/>
        <p:cNvGrpSpPr/>
        <p:nvPr/>
      </p:nvGrpSpPr>
      <p:grpSpPr>
        <a:xfrm>
          <a:off x="0" y="0"/>
          <a:ext cx="0" cy="0"/>
          <a:chOff x="0" y="0"/>
          <a:chExt cx="0" cy="0"/>
        </a:xfrm>
      </p:grpSpPr>
      <p:sp>
        <p:nvSpPr>
          <p:cNvPr id="136" name="Google Shape;136;p17"/>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7" name="Google Shape;137;p17"/>
          <p:cNvSpPr txBox="1"/>
          <p:nvPr>
            <p:ph type="title"/>
          </p:nvPr>
        </p:nvSpPr>
        <p:spPr>
          <a:xfrm>
            <a:off x="838200" y="-340075"/>
            <a:ext cx="5251200" cy="1807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Essay 2 Prompt</a:t>
            </a:r>
            <a:endParaRPr/>
          </a:p>
        </p:txBody>
      </p:sp>
      <p:sp>
        <p:nvSpPr>
          <p:cNvPr id="138" name="Google Shape;138;p17"/>
          <p:cNvSpPr txBox="1"/>
          <p:nvPr>
            <p:ph idx="1" type="body"/>
          </p:nvPr>
        </p:nvSpPr>
        <p:spPr>
          <a:xfrm>
            <a:off x="838200" y="874986"/>
            <a:ext cx="10383900" cy="5367600"/>
          </a:xfrm>
          <a:prstGeom prst="rect">
            <a:avLst/>
          </a:prstGeom>
          <a:noFill/>
          <a:ln>
            <a:noFill/>
          </a:ln>
        </p:spPr>
        <p:txBody>
          <a:bodyPr anchorCtr="0" anchor="t" bIns="45700" lIns="91425" spcFirstLastPara="1" rIns="91425" wrap="square" tIns="45700">
            <a:noAutofit/>
          </a:bodyPr>
          <a:lstStyle/>
          <a:p>
            <a:pPr indent="0" lvl="1" marL="0" rtl="0" algn="l">
              <a:spcBef>
                <a:spcPts val="500"/>
              </a:spcBef>
              <a:spcAft>
                <a:spcPts val="0"/>
              </a:spcAft>
              <a:buNone/>
            </a:pPr>
            <a:r>
              <a:t/>
            </a:r>
            <a:endParaRPr sz="2000"/>
          </a:p>
          <a:p>
            <a:pPr indent="0" lvl="1" marL="0" rtl="0" algn="l">
              <a:spcBef>
                <a:spcPts val="500"/>
              </a:spcBef>
              <a:spcAft>
                <a:spcPts val="0"/>
              </a:spcAft>
              <a:buNone/>
            </a:pPr>
            <a:r>
              <a:rPr b="1" lang="en-US" sz="2000"/>
              <a:t>Examples</a:t>
            </a:r>
            <a:r>
              <a:rPr lang="en-US" sz="2000"/>
              <a:t>: </a:t>
            </a:r>
            <a:endParaRPr sz="2000"/>
          </a:p>
          <a:p>
            <a:pPr indent="-355600" lvl="0" marL="457200" rtl="0" algn="l">
              <a:spcBef>
                <a:spcPts val="1000"/>
              </a:spcBef>
              <a:spcAft>
                <a:spcPts val="0"/>
              </a:spcAft>
              <a:buSzPts val="2000"/>
              <a:buChar char="•"/>
            </a:pPr>
            <a:r>
              <a:rPr lang="en-US" sz="2000"/>
              <a:t>One trend in electronics is </a:t>
            </a:r>
            <a:r>
              <a:rPr b="1" lang="en-US" sz="2000"/>
              <a:t>high-level integration and very low-power consumption</a:t>
            </a:r>
            <a:r>
              <a:rPr lang="en-US" sz="2000"/>
              <a:t> requirement; how is that related to your project? </a:t>
            </a:r>
            <a:endParaRPr sz="2000"/>
          </a:p>
          <a:p>
            <a:pPr indent="-355600" lvl="0" marL="457200" rtl="0" algn="l">
              <a:spcBef>
                <a:spcPts val="0"/>
              </a:spcBef>
              <a:spcAft>
                <a:spcPts val="0"/>
              </a:spcAft>
              <a:buSzPts val="2000"/>
              <a:buChar char="•"/>
            </a:pPr>
            <a:r>
              <a:rPr lang="en-US" sz="2000"/>
              <a:t>Another example is </a:t>
            </a:r>
            <a:r>
              <a:rPr b="1" lang="en-US" sz="2000"/>
              <a:t>Internet-dependent distributed real-time sensing</a:t>
            </a:r>
            <a:r>
              <a:rPr lang="en-US" sz="2000"/>
              <a:t>; how does your project fit with that trend? </a:t>
            </a:r>
            <a:endParaRPr sz="2000"/>
          </a:p>
          <a:p>
            <a:pPr indent="-355600" lvl="0" marL="457200" rtl="0" algn="l">
              <a:spcBef>
                <a:spcPts val="0"/>
              </a:spcBef>
              <a:spcAft>
                <a:spcPts val="0"/>
              </a:spcAft>
              <a:buSzPts val="2000"/>
              <a:buChar char="•"/>
            </a:pPr>
            <a:r>
              <a:rPr lang="en-US" sz="2000"/>
              <a:t>Other examples of contemporary engineering issues include AI, quantum mechanics, cloud computing, broadband wireless data becoming more widespread, renewable energy, natural resources becoming increasingly limited, population becoming old and needing more care, Internet security threats are increasing, etc.  </a:t>
            </a:r>
            <a:endParaRPr sz="2000"/>
          </a:p>
          <a:p>
            <a:pPr indent="0" lvl="0" marL="0" rtl="0" algn="l">
              <a:spcBef>
                <a:spcPts val="1000"/>
              </a:spcBef>
              <a:spcAft>
                <a:spcPts val="0"/>
              </a:spcAft>
              <a:buNone/>
            </a:pPr>
            <a:r>
              <a:rPr b="1" lang="en-US" sz="2000"/>
              <a:t>This essay is NOT about ethics again</a:t>
            </a:r>
            <a:r>
              <a:rPr lang="en-US" sz="2000"/>
              <a:t>.</a:t>
            </a:r>
            <a:endParaRPr sz="2000"/>
          </a:p>
          <a:p>
            <a:pPr indent="0" lvl="0" marL="0" rtl="0" algn="l">
              <a:spcBef>
                <a:spcPts val="1000"/>
              </a:spcBef>
              <a:spcAft>
                <a:spcPts val="0"/>
              </a:spcAft>
              <a:buNone/>
            </a:pPr>
            <a:r>
              <a:rPr lang="en-US" sz="2000"/>
              <a:t>It’s about:</a:t>
            </a:r>
            <a:endParaRPr sz="2000"/>
          </a:p>
          <a:p>
            <a:pPr indent="-355600" lvl="0" marL="457200" rtl="0" algn="l">
              <a:spcBef>
                <a:spcPts val="1000"/>
              </a:spcBef>
              <a:spcAft>
                <a:spcPts val="0"/>
              </a:spcAft>
              <a:buSzPts val="2000"/>
              <a:buChar char="•"/>
            </a:pPr>
            <a:r>
              <a:rPr lang="en-US" sz="2000"/>
              <a:t>What trends your project is part of</a:t>
            </a:r>
            <a:endParaRPr sz="2000"/>
          </a:p>
          <a:p>
            <a:pPr indent="-355600" lvl="0" marL="457200" rtl="0" algn="l">
              <a:spcBef>
                <a:spcPts val="0"/>
              </a:spcBef>
              <a:spcAft>
                <a:spcPts val="0"/>
              </a:spcAft>
              <a:buSzPts val="2000"/>
              <a:buChar char="•"/>
            </a:pPr>
            <a:r>
              <a:rPr lang="en-US" sz="2000"/>
              <a:t>Why engineers need to keep learning</a:t>
            </a: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8"/>
          <p:cNvSpPr txBox="1"/>
          <p:nvPr>
            <p:ph type="title"/>
          </p:nvPr>
        </p:nvSpPr>
        <p:spPr>
          <a:xfrm>
            <a:off x="838200" y="10440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100"/>
              <a:t>Group Brainstorming</a:t>
            </a:r>
            <a:endParaRPr sz="4100"/>
          </a:p>
        </p:txBody>
      </p:sp>
      <p:sp>
        <p:nvSpPr>
          <p:cNvPr id="144" name="Google Shape;144;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06400" lvl="0" marL="457200" rtl="0" algn="l">
              <a:lnSpc>
                <a:spcPct val="90000"/>
              </a:lnSpc>
              <a:spcBef>
                <a:spcPts val="1000"/>
              </a:spcBef>
              <a:spcAft>
                <a:spcPts val="0"/>
              </a:spcAft>
              <a:buSzPts val="2800"/>
              <a:buAutoNum type="arabicPeriod"/>
            </a:pPr>
            <a:r>
              <a:rPr lang="en-US"/>
              <a:t>What new technology/trend is your project part of?</a:t>
            </a:r>
            <a:endParaRPr/>
          </a:p>
          <a:p>
            <a:pPr indent="-406400" lvl="0" marL="457200" rtl="0" algn="l">
              <a:lnSpc>
                <a:spcPct val="90000"/>
              </a:lnSpc>
              <a:spcBef>
                <a:spcPts val="0"/>
              </a:spcBef>
              <a:spcAft>
                <a:spcPts val="0"/>
              </a:spcAft>
              <a:buSzPts val="2800"/>
              <a:buAutoNum type="arabicPeriod"/>
            </a:pPr>
            <a:r>
              <a:rPr lang="en-US"/>
              <a:t>Why is this trend important right now?</a:t>
            </a:r>
            <a:endParaRPr/>
          </a:p>
          <a:p>
            <a:pPr indent="-406400" lvl="0" marL="457200" rtl="0" algn="l">
              <a:lnSpc>
                <a:spcPct val="90000"/>
              </a:lnSpc>
              <a:spcBef>
                <a:spcPts val="0"/>
              </a:spcBef>
              <a:spcAft>
                <a:spcPts val="0"/>
              </a:spcAft>
              <a:buSzPts val="2800"/>
              <a:buAutoNum type="arabicPeriod"/>
            </a:pPr>
            <a:r>
              <a:rPr lang="en-US"/>
              <a:t>How does your project connect to it?</a:t>
            </a:r>
            <a:endParaRPr/>
          </a:p>
          <a:p>
            <a:pPr indent="-406400" lvl="0" marL="457200" rtl="0" algn="l">
              <a:lnSpc>
                <a:spcPct val="90000"/>
              </a:lnSpc>
              <a:spcBef>
                <a:spcPts val="0"/>
              </a:spcBef>
              <a:spcAft>
                <a:spcPts val="0"/>
              </a:spcAft>
              <a:buSzPts val="2800"/>
              <a:buAutoNum type="arabicPeriod"/>
            </a:pPr>
            <a:r>
              <a:rPr lang="en-US"/>
              <a:t>What responsibility does this create for engineers?</a:t>
            </a:r>
            <a:endParaRPr/>
          </a:p>
          <a:p>
            <a:pPr indent="0" lvl="0" marL="0" rtl="0" algn="l">
              <a:lnSpc>
                <a:spcPct val="90000"/>
              </a:lnSpc>
              <a:spcBef>
                <a:spcPts val="1000"/>
              </a:spcBef>
              <a:spcAft>
                <a:spcPts val="0"/>
              </a:spcAft>
              <a:buNone/>
            </a:pPr>
            <a:r>
              <a:t/>
            </a:r>
            <a:endParaRPr/>
          </a:p>
          <a:p>
            <a:pPr indent="0" lvl="0" marL="0" rtl="0" algn="l">
              <a:lnSpc>
                <a:spcPct val="90000"/>
              </a:lnSpc>
              <a:spcBef>
                <a:spcPts val="1000"/>
              </a:spcBef>
              <a:spcAft>
                <a:spcPts val="0"/>
              </a:spcAft>
              <a:buNone/>
            </a:pPr>
            <a:r>
              <a:rPr lang="en-US"/>
              <a:t>You’ll discuss this in groups, but </a:t>
            </a:r>
            <a:r>
              <a:rPr b="1" lang="en-US"/>
              <a:t>each person must identify their own issue</a:t>
            </a:r>
            <a:r>
              <a:rPr lang="en-US"/>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9"/>
          <p:cNvSpPr txBox="1"/>
          <p:nvPr>
            <p:ph type="title"/>
          </p:nvPr>
        </p:nvSpPr>
        <p:spPr>
          <a:xfrm>
            <a:off x="838200" y="10440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100"/>
              <a:t>Lifelong Learning</a:t>
            </a:r>
            <a:endParaRPr sz="4100"/>
          </a:p>
        </p:txBody>
      </p:sp>
      <p:sp>
        <p:nvSpPr>
          <p:cNvPr id="150" name="Google Shape;150;p19"/>
          <p:cNvSpPr txBox="1"/>
          <p:nvPr>
            <p:ph idx="1" type="body"/>
          </p:nvPr>
        </p:nvSpPr>
        <p:spPr>
          <a:xfrm>
            <a:off x="838200" y="15422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None/>
            </a:pPr>
            <a:r>
              <a:rPr b="1" lang="en-US"/>
              <a:t>Lifelong learning</a:t>
            </a:r>
            <a:r>
              <a:rPr lang="en-US"/>
              <a:t> = engineers constantly need to learn new tools, technologies, and knowledge because things change.</a:t>
            </a:r>
            <a:endParaRPr/>
          </a:p>
          <a:p>
            <a:pPr indent="0" lvl="0" marL="0" rtl="0" algn="l">
              <a:lnSpc>
                <a:spcPct val="90000"/>
              </a:lnSpc>
              <a:spcBef>
                <a:spcPts val="1000"/>
              </a:spcBef>
              <a:spcAft>
                <a:spcPts val="0"/>
              </a:spcAft>
              <a:buNone/>
            </a:pPr>
            <a:r>
              <a:t/>
            </a:r>
            <a:endParaRPr/>
          </a:p>
          <a:p>
            <a:pPr indent="-342900" lvl="0" marL="457200" rtl="0" algn="l">
              <a:lnSpc>
                <a:spcPct val="90000"/>
              </a:lnSpc>
              <a:spcBef>
                <a:spcPts val="1000"/>
              </a:spcBef>
              <a:spcAft>
                <a:spcPts val="0"/>
              </a:spcAft>
              <a:buSzPts val="1800"/>
              <a:buChar char="•"/>
            </a:pPr>
            <a:r>
              <a:rPr lang="en-US"/>
              <a:t>What did you have to learn for your project that you didn’t know before?</a:t>
            </a:r>
            <a:endParaRPr/>
          </a:p>
          <a:p>
            <a:pPr indent="-342900" lvl="0" marL="457200" rtl="0" algn="l">
              <a:lnSpc>
                <a:spcPct val="90000"/>
              </a:lnSpc>
              <a:spcBef>
                <a:spcPts val="0"/>
              </a:spcBef>
              <a:spcAft>
                <a:spcPts val="0"/>
              </a:spcAft>
              <a:buSzPts val="1800"/>
              <a:buChar char="•"/>
            </a:pPr>
            <a:r>
              <a:rPr lang="en-US"/>
              <a:t>You’re not quite done learning once you’ve built your product. If yours became a real product or career-level project, what new knowledge would you still need to develop?</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0"/>
          <p:cNvSpPr txBox="1"/>
          <p:nvPr>
            <p:ph type="title"/>
          </p:nvPr>
        </p:nvSpPr>
        <p:spPr>
          <a:xfrm>
            <a:off x="838200" y="10440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100"/>
              <a:t>Wrap-up:</a:t>
            </a:r>
            <a:endParaRPr sz="4100"/>
          </a:p>
        </p:txBody>
      </p:sp>
      <p:sp>
        <p:nvSpPr>
          <p:cNvPr id="156" name="Google Shape;156;p20"/>
          <p:cNvSpPr txBox="1"/>
          <p:nvPr>
            <p:ph idx="1" type="body"/>
          </p:nvPr>
        </p:nvSpPr>
        <p:spPr>
          <a:xfrm>
            <a:off x="838200" y="1542225"/>
            <a:ext cx="10515600" cy="4351200"/>
          </a:xfrm>
          <a:prstGeom prst="rect">
            <a:avLst/>
          </a:prstGeom>
          <a:noFill/>
          <a:ln>
            <a:noFill/>
          </a:ln>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b="1" lang="en-US"/>
              <a:t>My contemporary issue: </a:t>
            </a:r>
            <a:r>
              <a:rPr lang="en-US"/>
              <a:t>______</a:t>
            </a:r>
            <a:endParaRPr/>
          </a:p>
          <a:p>
            <a:pPr indent="0" lvl="0" marL="0" rtl="0" algn="l">
              <a:spcBef>
                <a:spcPts val="1000"/>
              </a:spcBef>
              <a:spcAft>
                <a:spcPts val="0"/>
              </a:spcAft>
              <a:buClr>
                <a:schemeClr val="dk1"/>
              </a:buClr>
              <a:buSzPts val="1100"/>
              <a:buFont typeface="Arial"/>
              <a:buNone/>
            </a:pPr>
            <a:r>
              <a:rPr b="1" lang="en-US"/>
              <a:t>Why it matters: </a:t>
            </a:r>
            <a:r>
              <a:rPr lang="en-US"/>
              <a:t>______</a:t>
            </a:r>
            <a:endParaRPr/>
          </a:p>
          <a:p>
            <a:pPr indent="0" lvl="0" marL="0" rtl="0" algn="l">
              <a:spcBef>
                <a:spcPts val="1000"/>
              </a:spcBef>
              <a:spcAft>
                <a:spcPts val="0"/>
              </a:spcAft>
              <a:buClr>
                <a:schemeClr val="dk1"/>
              </a:buClr>
              <a:buSzPts val="1100"/>
              <a:buFont typeface="Arial"/>
              <a:buNone/>
            </a:pPr>
            <a:r>
              <a:rPr b="1" lang="en-US"/>
              <a:t>What I had to learn:</a:t>
            </a:r>
            <a:r>
              <a:rPr lang="en-US"/>
              <a:t> ______</a:t>
            </a:r>
            <a:endParaRPr/>
          </a:p>
          <a:p>
            <a:pPr indent="0" lvl="0" marL="0" rtl="0" algn="l">
              <a:lnSpc>
                <a:spcPct val="90000"/>
              </a:lnSpc>
              <a:spcBef>
                <a:spcPts val="1000"/>
              </a:spcBef>
              <a:spcAft>
                <a:spcPts val="0"/>
              </a:spcAft>
              <a:buNone/>
            </a:pPr>
            <a:r>
              <a:t/>
            </a:r>
            <a:endParaRPr b="1"/>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