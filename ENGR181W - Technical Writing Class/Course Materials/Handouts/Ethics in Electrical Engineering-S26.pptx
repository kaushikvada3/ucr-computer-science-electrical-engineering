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89" r:id="rId20"/>
    <p:sldId id="276" r:id="rId21"/>
    <p:sldId id="273" r:id="rId22"/>
    <p:sldId id="274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Malgun Gothic Semilight" panose="020B0502040204020203" pitchFamily="34" charset="-128"/>
      <p:regular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821583-BE2B-46A4-BC72-E0BAE69D8D30}">
  <a:tblStyle styleId="{B2821583-BE2B-46A4-BC72-E0BAE69D8D3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4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39189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26160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1253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onlineethics.org/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0" y="3429000"/>
            <a:ext cx="5715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34728"/>
            <a:ext cx="1160145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ETHICS IN ENGINEERING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674739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A Comprehensive Guide for Electrical Professionals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8025" y="3438525"/>
            <a:ext cx="56959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1524000" y="-1333500"/>
            <a:ext cx="5715000" cy="63787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11175" y="426727"/>
            <a:ext cx="3810000" cy="4254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08076"/>
            <a:ext cx="3492400" cy="228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708076"/>
            <a:ext cx="3492549" cy="228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708076"/>
            <a:ext cx="3492400" cy="228957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00335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+mj-lt"/>
                <a:ea typeface="Montserrat"/>
                <a:cs typeface="Arial" panose="020B0604020202020204" pitchFamily="34" charset="0"/>
                <a:sym typeface="Montserrat"/>
              </a:rPr>
              <a:t>STANDARDS</a:t>
            </a:r>
            <a:endParaRPr dirty="0">
              <a:latin typeface="+mj-l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422451"/>
            <a:ext cx="2901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Establishing the moral rules and technical standards for the profession.</a:t>
            </a:r>
            <a:endParaRPr b="1"/>
          </a:p>
        </p:txBody>
      </p:sp>
      <p:sp>
        <p:nvSpPr>
          <p:cNvPr id="99" name="Google Shape;99;p14"/>
          <p:cNvSpPr txBox="1"/>
          <p:nvPr/>
        </p:nvSpPr>
        <p:spPr>
          <a:xfrm>
            <a:off x="4644925" y="3003351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+mj-lt"/>
                <a:ea typeface="Montserrat"/>
                <a:cs typeface="Arial" panose="020B0604020202020204" pitchFamily="34" charset="0"/>
                <a:sym typeface="Montserrat"/>
              </a:rPr>
              <a:t>RESPONSIBILITY</a:t>
            </a:r>
            <a:endParaRPr dirty="0">
              <a:latin typeface="+mj-lt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644925" y="3422451"/>
            <a:ext cx="29019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Accepting the obligation to protect public safety and the environment.</a:t>
            </a:r>
            <a:endParaRPr b="1"/>
          </a:p>
        </p:txBody>
      </p:sp>
      <p:sp>
        <p:nvSpPr>
          <p:cNvPr id="101" name="Google Shape;101;p14"/>
          <p:cNvSpPr txBox="1"/>
          <p:nvPr/>
        </p:nvSpPr>
        <p:spPr>
          <a:xfrm>
            <a:off x="8423225" y="300335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+mj-lt"/>
                <a:ea typeface="Montserrat"/>
                <a:cs typeface="Arial" panose="020B0604020202020204" pitchFamily="34" charset="0"/>
                <a:sym typeface="Montserrat"/>
              </a:rPr>
              <a:t>INTEGRITY</a:t>
            </a:r>
            <a:endParaRPr dirty="0">
              <a:latin typeface="+mj-l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423225" y="3422451"/>
            <a:ext cx="29019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Maintaining honesty in data reporting, design, and business practices.</a:t>
            </a:r>
            <a:endParaRPr b="1"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8FAFC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  <a:sym typeface="Montserrat"/>
              </a:rPr>
              <a:t>DEFINING ENGINEERING ETHICS</a:t>
            </a:r>
            <a:endParaRPr sz="4000" dirty="0"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167550" y="2868322"/>
            <a:ext cx="45720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0" y="4420997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Duty to Public Welfare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491175" y="2597500"/>
            <a:ext cx="7129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Engineering decisions have massive societal impact.</a:t>
            </a:r>
            <a:endParaRPr sz="1500" b="1"/>
          </a:p>
        </p:txBody>
      </p:sp>
      <p:sp>
        <p:nvSpPr>
          <p:cNvPr id="112" name="Google Shape;112;p15"/>
          <p:cNvSpPr txBox="1"/>
          <p:nvPr/>
        </p:nvSpPr>
        <p:spPr>
          <a:xfrm>
            <a:off x="4918575" y="3069825"/>
            <a:ext cx="688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Failures lead to loss of life and economic collapse.</a:t>
            </a:r>
            <a:endParaRPr sz="1600" b="1"/>
          </a:p>
        </p:txBody>
      </p:sp>
      <p:sp>
        <p:nvSpPr>
          <p:cNvPr id="113" name="Google Shape;113;p15"/>
          <p:cNvSpPr txBox="1"/>
          <p:nvPr/>
        </p:nvSpPr>
        <p:spPr>
          <a:xfrm>
            <a:off x="5524025" y="3557450"/>
            <a:ext cx="619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Public trust is the foundation of the license.</a:t>
            </a:r>
            <a:endParaRPr sz="1600" b="1"/>
          </a:p>
        </p:txBody>
      </p:sp>
      <p:sp>
        <p:nvSpPr>
          <p:cNvPr id="114" name="Google Shape;114;p15"/>
          <p:cNvSpPr txBox="1"/>
          <p:nvPr/>
        </p:nvSpPr>
        <p:spPr>
          <a:xfrm>
            <a:off x="5840575" y="4143800"/>
            <a:ext cx="632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Ethical conduct ensures sustainable innovation.</a:t>
            </a:r>
            <a:endParaRPr sz="1600" b="1"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+mj-lt"/>
                <a:ea typeface="Montserrat"/>
                <a:cs typeface="Arial" panose="020B0604020202020204" pitchFamily="34" charset="0"/>
                <a:sym typeface="Montserrat"/>
              </a:rPr>
              <a:t>THE TRUST DEFICIT</a:t>
            </a:r>
            <a:endParaRPr dirty="0">
              <a:latin typeface="+mj-lt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66363" y="2047875"/>
            <a:ext cx="2454137" cy="166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400" y="1713825"/>
            <a:ext cx="2952775" cy="199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000125" y="2047875"/>
            <a:ext cx="812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Hold paramount the safety, health, and welfare of the public.</a:t>
            </a:r>
            <a:endParaRPr sz="1600" b="1"/>
          </a:p>
        </p:txBody>
      </p:sp>
      <p:sp>
        <p:nvSpPr>
          <p:cNvPr id="124" name="Google Shape;124;p16"/>
          <p:cNvSpPr txBox="1"/>
          <p:nvPr/>
        </p:nvSpPr>
        <p:spPr>
          <a:xfrm>
            <a:off x="1000125" y="2878325"/>
            <a:ext cx="8026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Notify proper authorities if judgment is overruled.</a:t>
            </a:r>
            <a:endParaRPr sz="1700" b="1"/>
          </a:p>
        </p:txBody>
      </p:sp>
      <p:sp>
        <p:nvSpPr>
          <p:cNvPr id="125" name="Google Shape;125;p16"/>
          <p:cNvSpPr txBox="1"/>
          <p:nvPr/>
        </p:nvSpPr>
        <p:spPr>
          <a:xfrm>
            <a:off x="1000125" y="3708800"/>
            <a:ext cx="812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Approve only those documents that are safe for use.</a:t>
            </a:r>
            <a:endParaRPr sz="1700" b="1"/>
          </a:p>
        </p:txBody>
      </p:sp>
      <p:sp>
        <p:nvSpPr>
          <p:cNvPr id="126" name="Google Shape;126;p16"/>
          <p:cNvSpPr txBox="1"/>
          <p:nvPr/>
        </p:nvSpPr>
        <p:spPr>
          <a:xfrm>
            <a:off x="1000125" y="4539250"/>
            <a:ext cx="89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Ensure designs are fail-safe and follow rigorous testing.</a:t>
            </a:r>
            <a:endParaRPr sz="1700" b="1"/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SAFETY: THE HIGHEST CANON</a:t>
            </a:r>
            <a:endParaRPr dirty="0"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478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7833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0879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3925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/>
        </p:nvSpPr>
        <p:spPr>
          <a:xfrm>
            <a:off x="1000125" y="2831901"/>
            <a:ext cx="106203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Disclosure</a:t>
            </a:r>
            <a:r>
              <a:rPr lang="en-US" sz="21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: Disclose all potential conflicts of interest.</a:t>
            </a:r>
            <a:endParaRPr sz="1700" b="1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1000125" y="3342382"/>
            <a:ext cx="106203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Fairness</a:t>
            </a:r>
            <a:r>
              <a:rPr lang="en-US" sz="21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: Treat all people fairly regardless of background.</a:t>
            </a:r>
            <a:endParaRPr sz="1700" b="1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1000125" y="3852862"/>
            <a:ext cx="106203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Lifelong Learning</a:t>
            </a:r>
            <a:r>
              <a:rPr lang="en-US" sz="21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: Maintain and improve technical competence.</a:t>
            </a:r>
            <a:endParaRPr sz="1700" b="1"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1000125" y="4363342"/>
            <a:ext cx="106203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Honesty</a:t>
            </a:r>
            <a:r>
              <a:rPr lang="en-US" sz="21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: Be truthful in all professional statements and test data.</a:t>
            </a:r>
            <a:endParaRPr sz="1700" b="1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IEEE PROFESSIONAL CODE</a:t>
            </a:r>
            <a:endParaRPr dirty="0"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3190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423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528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3633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762000" y="1725215"/>
            <a:ext cx="69386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THERAC-25 TRAGEDY (1980s)</a:t>
            </a:r>
            <a:endParaRPr dirty="0"/>
          </a:p>
        </p:txBody>
      </p:sp>
      <p:sp>
        <p:nvSpPr>
          <p:cNvPr id="152" name="Google Shape;152;p18"/>
          <p:cNvSpPr/>
          <p:nvPr/>
        </p:nvSpPr>
        <p:spPr>
          <a:xfrm>
            <a:off x="571500" y="1725215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572950"/>
            <a:ext cx="1025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 medical accelerator delivered massive radiation overdoses.</a:t>
            </a:r>
            <a:endParaRPr sz="2100" b="1"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3212900"/>
            <a:ext cx="10392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Software bugs replaced physical safety interlocks.</a:t>
            </a:r>
            <a:endParaRPr sz="2100" b="1"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3852850"/>
            <a:ext cx="108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 "race condition" in code led to fatal power surges.</a:t>
            </a:r>
            <a:endParaRPr sz="2000" b="1"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4492825"/>
            <a:ext cx="10832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Engineers initially ignored technician reports of errors.</a:t>
            </a:r>
            <a:endParaRPr sz="2100" b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B940A7-26C4-469A-8C76-8FE11A62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175" y="3597800"/>
            <a:ext cx="2381250" cy="3190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240BF3-672D-45B8-891F-04C400F7DF56}"/>
              </a:ext>
            </a:extLst>
          </p:cNvPr>
          <p:cNvSpPr txBox="1"/>
          <p:nvPr/>
        </p:nvSpPr>
        <p:spPr>
          <a:xfrm>
            <a:off x="342899" y="5226784"/>
            <a:ext cx="91865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The incidents highlight the dangers of engineer overconfidence: </a:t>
            </a:r>
            <a:r>
              <a:rPr lang="en-US" sz="28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engineers dismissed end user reports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68066"/>
            <a:ext cx="3492400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868066"/>
            <a:ext cx="3492549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868066"/>
            <a:ext cx="3492400" cy="196959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866775" y="316334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REDUNDANCY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66775" y="3582441"/>
            <a:ext cx="29019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Never rely solely on software for critical safety functions.</a:t>
            </a:r>
            <a:endParaRPr b="1"/>
          </a:p>
        </p:txBody>
      </p:sp>
      <p:sp>
        <p:nvSpPr>
          <p:cNvPr id="167" name="Google Shape;167;p19"/>
          <p:cNvSpPr txBox="1"/>
          <p:nvPr/>
        </p:nvSpPr>
        <p:spPr>
          <a:xfrm>
            <a:off x="4644925" y="3163341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USER FEEDBACK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4644925" y="3582441"/>
            <a:ext cx="29019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Take all field error reports seriously and investigate deeply.</a:t>
            </a:r>
            <a:endParaRPr b="1"/>
          </a:p>
        </p:txBody>
      </p:sp>
      <p:sp>
        <p:nvSpPr>
          <p:cNvPr id="169" name="Google Shape;169;p19"/>
          <p:cNvSpPr txBox="1"/>
          <p:nvPr/>
        </p:nvSpPr>
        <p:spPr>
          <a:xfrm>
            <a:off x="8423225" y="316334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RIGOROUS QA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8423225" y="3582441"/>
            <a:ext cx="29019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Document every software change and perform regression tests.</a:t>
            </a:r>
            <a:endParaRPr b="1"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LESSON: SOFTWARE SAFETY</a:t>
            </a:r>
            <a:endParaRPr dirty="0"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300" y="2868990"/>
            <a:ext cx="12038700" cy="290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05043" y="3647484"/>
            <a:ext cx="6405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Removing a surge protector saves $2 per unit.</a:t>
            </a:r>
            <a:endParaRPr sz="1500" b="1" dirty="0"/>
          </a:p>
        </p:txBody>
      </p:sp>
      <p:sp>
        <p:nvSpPr>
          <p:cNvPr id="180" name="Google Shape;180;p20"/>
          <p:cNvSpPr txBox="1"/>
          <p:nvPr/>
        </p:nvSpPr>
        <p:spPr>
          <a:xfrm>
            <a:off x="1041990" y="4198867"/>
            <a:ext cx="6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Potential risk: 1 in 10,000 failure rate over 5 years.</a:t>
            </a:r>
            <a:endParaRPr b="1"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COST VS. SAFETY TRADE-OFFS</a:t>
            </a:r>
            <a:endParaRPr dirty="0"/>
          </a:p>
        </p:txBody>
      </p:sp>
      <p:sp>
        <p:nvSpPr>
          <p:cNvPr id="183" name="Google Shape;183;p20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E4B379-380D-E8FD-401C-5EF2B7019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717" y="2716883"/>
            <a:ext cx="4402283" cy="1844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9DBF7-4AAA-27DE-E640-03A5AC39C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366" y="4561612"/>
            <a:ext cx="4200073" cy="12932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F45B57-09FF-D648-012A-89B5A6435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950" y="2387716"/>
            <a:ext cx="1566386" cy="2002037"/>
          </a:xfrm>
          <a:prstGeom prst="rect">
            <a:avLst/>
          </a:prstGeom>
        </p:spPr>
      </p:pic>
      <p:sp>
        <p:nvSpPr>
          <p:cNvPr id="178" name="Google Shape;178;p20"/>
          <p:cNvSpPr txBox="1"/>
          <p:nvPr/>
        </p:nvSpPr>
        <p:spPr>
          <a:xfrm>
            <a:off x="153300" y="2787874"/>
            <a:ext cx="67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Management pushes for 15% cost reduction in hardware.</a:t>
            </a:r>
            <a:endParaRPr b="1"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1291856" y="4819785"/>
            <a:ext cx="659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Ethical Question: Is the profit worth the marginal risk?</a:t>
            </a:r>
            <a:endParaRPr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0134" y="2569672"/>
            <a:ext cx="3680366" cy="177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359850" y="2380150"/>
            <a:ext cx="6871800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Engineers designed "defeat devices" in  Electronic Control Unit (ECU) code.</a:t>
            </a:r>
            <a:endParaRPr sz="1800" dirty="0"/>
          </a:p>
        </p:txBody>
      </p:sp>
      <p:sp>
        <p:nvSpPr>
          <p:cNvPr id="190" name="Google Shape;190;p21"/>
          <p:cNvSpPr txBox="1"/>
          <p:nvPr/>
        </p:nvSpPr>
        <p:spPr>
          <a:xfrm>
            <a:off x="359850" y="3722075"/>
            <a:ext cx="7271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Software detected test conditions to lower emissions.</a:t>
            </a:r>
            <a:endParaRPr sz="1800"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329271" y="4340322"/>
            <a:ext cx="7271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 real-world driving, pollution was 40x the limit.</a:t>
            </a:r>
            <a:endParaRPr sz="1900" dirty="0"/>
          </a:p>
        </p:txBody>
      </p:sp>
      <p:sp>
        <p:nvSpPr>
          <p:cNvPr id="192" name="Google Shape;192;p21"/>
          <p:cNvSpPr txBox="1"/>
          <p:nvPr/>
        </p:nvSpPr>
        <p:spPr>
          <a:xfrm>
            <a:off x="359850" y="4982625"/>
            <a:ext cx="7271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Resulted in multi-billion dollar fines and jail time.</a:t>
            </a:r>
            <a:endParaRPr sz="1900" dirty="0"/>
          </a:p>
        </p:txBody>
      </p:sp>
      <p:pic>
        <p:nvPicPr>
          <p:cNvPr id="193" name="Google Shape;19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3625" y="2234923"/>
            <a:ext cx="4393124" cy="2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VW EMISSIONS SCANDAL</a:t>
            </a:r>
            <a:endParaRPr dirty="0"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68066"/>
            <a:ext cx="3492400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868066"/>
            <a:ext cx="3492549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868066"/>
            <a:ext cx="3492400" cy="19695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866775" y="316334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TRANSPARENCY</a:t>
            </a:r>
            <a:endParaRPr dirty="0"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3582450"/>
            <a:ext cx="3423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Black-box logic must not hide illegal or unethical outcomes.</a:t>
            </a:r>
            <a:endParaRPr sz="1600"/>
          </a:p>
        </p:txBody>
      </p:sp>
      <p:sp>
        <p:nvSpPr>
          <p:cNvPr id="205" name="Google Shape;205;p22"/>
          <p:cNvSpPr txBox="1"/>
          <p:nvPr/>
        </p:nvSpPr>
        <p:spPr>
          <a:xfrm>
            <a:off x="4644925" y="3163341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ACCOUNTABILITY</a:t>
            </a:r>
            <a:endParaRPr dirty="0"/>
          </a:p>
        </p:txBody>
      </p:sp>
      <p:sp>
        <p:nvSpPr>
          <p:cNvPr id="206" name="Google Shape;206;p22"/>
          <p:cNvSpPr txBox="1"/>
          <p:nvPr/>
        </p:nvSpPr>
        <p:spPr>
          <a:xfrm>
            <a:off x="4349650" y="3582450"/>
            <a:ext cx="3423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Engineers are responsible for the logic they implement.</a:t>
            </a:r>
            <a:endParaRPr sz="1600"/>
          </a:p>
        </p:txBody>
      </p:sp>
      <p:sp>
        <p:nvSpPr>
          <p:cNvPr id="207" name="Google Shape;207;p22"/>
          <p:cNvSpPr txBox="1"/>
          <p:nvPr/>
        </p:nvSpPr>
        <p:spPr>
          <a:xfrm>
            <a:off x="8423225" y="316334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DUTY TO TRUTH</a:t>
            </a:r>
            <a:endParaRPr dirty="0"/>
          </a:p>
        </p:txBody>
      </p:sp>
      <p:sp>
        <p:nvSpPr>
          <p:cNvPr id="208" name="Google Shape;208;p22"/>
          <p:cNvSpPr txBox="1"/>
          <p:nvPr/>
        </p:nvSpPr>
        <p:spPr>
          <a:xfrm>
            <a:off x="8127950" y="3582450"/>
            <a:ext cx="349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Falsifying environmental data violates the social contract.</a:t>
            </a:r>
            <a:endParaRPr sz="1600"/>
          </a:p>
        </p:txBody>
      </p:sp>
      <p:sp>
        <p:nvSpPr>
          <p:cNvPr id="209" name="Google Shape;209;p2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ALGORITHMIC INTEGRITY</a:t>
            </a:r>
            <a:endParaRPr dirty="0"/>
          </a:p>
        </p:txBody>
      </p:sp>
      <p:sp>
        <p:nvSpPr>
          <p:cNvPr id="210" name="Google Shape;210;p22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760770" y="1514283"/>
            <a:ext cx="714487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INTEL Floating-Point Divide (FDIV) FLAW</a:t>
            </a:r>
            <a:endParaRPr dirty="0"/>
          </a:p>
        </p:txBody>
      </p:sp>
      <p:sp>
        <p:nvSpPr>
          <p:cNvPr id="216" name="Google Shape;216;p23"/>
          <p:cNvSpPr/>
          <p:nvPr/>
        </p:nvSpPr>
        <p:spPr>
          <a:xfrm>
            <a:off x="571500" y="1725215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2572950"/>
            <a:ext cx="751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 bug in floating-point division was found by a user.</a:t>
            </a:r>
            <a:endParaRPr sz="1800" dirty="0"/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3212900"/>
            <a:ext cx="751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Intel knew of the flaw but chose not to disclose it.</a:t>
            </a:r>
            <a:endParaRPr sz="2000"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3852850"/>
            <a:ext cx="751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They claimed the error was rare and "insignificant."</a:t>
            </a:r>
            <a:endParaRPr sz="2000"/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4492825"/>
            <a:ext cx="7513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Public backlash forced a $475M total chip recall.</a:t>
            </a:r>
            <a:endParaRPr sz="1900"/>
          </a:p>
        </p:txBody>
      </p:sp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8370" y="0"/>
            <a:ext cx="3993630" cy="449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B00ED9-F374-4056-B9E4-9B794CF88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560" y="4467904"/>
            <a:ext cx="238125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/>
        </p:nvSpPr>
        <p:spPr>
          <a:xfrm>
            <a:off x="952500" y="2697500"/>
            <a:ext cx="10947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 "The engineer must be honest about limitations and errors in their work, regardless of the financial cost." 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4221509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— Professional Responsibility Principle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381000" y="2126009"/>
            <a:ext cx="457200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23651"/>
            <a:ext cx="3271250" cy="187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33176"/>
            <a:ext cx="3271250" cy="18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4036725" y="2323650"/>
            <a:ext cx="75837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EEs design the chips that store and encrypt data.</a:t>
            </a:r>
            <a:endParaRPr sz="1900" b="1" dirty="0"/>
          </a:p>
        </p:txBody>
      </p:sp>
      <p:sp>
        <p:nvSpPr>
          <p:cNvPr id="236" name="Google Shape;236;p25"/>
          <p:cNvSpPr txBox="1"/>
          <p:nvPr/>
        </p:nvSpPr>
        <p:spPr>
          <a:xfrm>
            <a:off x="4027275" y="3230026"/>
            <a:ext cx="75837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Backdoors for state surveillance are ethical dilemmas.</a:t>
            </a:r>
            <a:endParaRPr sz="1800" b="1" dirty="0"/>
          </a:p>
        </p:txBody>
      </p:sp>
      <p:sp>
        <p:nvSpPr>
          <p:cNvPr id="237" name="Google Shape;237;p25"/>
          <p:cNvSpPr txBox="1"/>
          <p:nvPr/>
        </p:nvSpPr>
        <p:spPr>
          <a:xfrm>
            <a:off x="4036725" y="3919945"/>
            <a:ext cx="786840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Designing "planned obsolescence" into device life.</a:t>
            </a:r>
            <a:endParaRPr sz="2000" b="1" dirty="0"/>
          </a:p>
        </p:txBody>
      </p:sp>
      <p:sp>
        <p:nvSpPr>
          <p:cNvPr id="238" name="Google Shape;238;p25"/>
          <p:cNvSpPr txBox="1"/>
          <p:nvPr/>
        </p:nvSpPr>
        <p:spPr>
          <a:xfrm>
            <a:off x="4036725" y="4715275"/>
            <a:ext cx="75837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Ethical design prioritizes user data ownership.</a:t>
            </a:r>
            <a:endParaRPr sz="2100" b="1" dirty="0"/>
          </a:p>
        </p:txBody>
      </p:sp>
      <p:sp>
        <p:nvSpPr>
          <p:cNvPr id="239" name="Google Shape;239;p2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HARDWARE PRIVACY ETHICS</a:t>
            </a:r>
            <a:endParaRPr dirty="0"/>
          </a:p>
        </p:txBody>
      </p:sp>
      <p:sp>
        <p:nvSpPr>
          <p:cNvPr id="240" name="Google Shape;240;p25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/>
          <p:nvPr/>
        </p:nvSpPr>
        <p:spPr>
          <a:xfrm>
            <a:off x="571500" y="3409962"/>
            <a:ext cx="11049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510733" y="3739604"/>
            <a:ext cx="2552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4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TARGETING</a:t>
            </a:r>
            <a:endParaRPr sz="1700" dirty="0"/>
          </a:p>
        </p:txBody>
      </p:sp>
      <p:sp>
        <p:nvSpPr>
          <p:cNvPr id="247" name="Google Shape;247;p26"/>
          <p:cNvSpPr txBox="1"/>
          <p:nvPr/>
        </p:nvSpPr>
        <p:spPr>
          <a:xfrm>
            <a:off x="571525" y="4223275"/>
            <a:ext cx="27852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PLC systems identified in industrial facility.</a:t>
            </a:r>
            <a:endParaRPr b="1" dirty="0"/>
          </a:p>
        </p:txBody>
      </p:sp>
      <p:sp>
        <p:nvSpPr>
          <p:cNvPr id="248" name="Google Shape;248;p26"/>
          <p:cNvSpPr txBox="1"/>
          <p:nvPr/>
        </p:nvSpPr>
        <p:spPr>
          <a:xfrm>
            <a:off x="3383413" y="3739604"/>
            <a:ext cx="2552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4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INFECTION</a:t>
            </a:r>
            <a:endParaRPr sz="1700" dirty="0"/>
          </a:p>
        </p:txBody>
      </p:sp>
      <p:sp>
        <p:nvSpPr>
          <p:cNvPr id="249" name="Google Shape;249;p26"/>
          <p:cNvSpPr txBox="1"/>
          <p:nvPr/>
        </p:nvSpPr>
        <p:spPr>
          <a:xfrm>
            <a:off x="3356676" y="4223275"/>
            <a:ext cx="26493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Software payload delivered via USB drives.</a:t>
            </a:r>
            <a:endParaRPr b="1"/>
          </a:p>
        </p:txBody>
      </p:sp>
      <p:sp>
        <p:nvSpPr>
          <p:cNvPr id="250" name="Google Shape;250;p26"/>
          <p:cNvSpPr txBox="1"/>
          <p:nvPr/>
        </p:nvSpPr>
        <p:spPr>
          <a:xfrm>
            <a:off x="6256094" y="3739604"/>
            <a:ext cx="2552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4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EXECUTION</a:t>
            </a:r>
            <a:endParaRPr sz="1700" dirty="0"/>
          </a:p>
        </p:txBody>
      </p:sp>
      <p:sp>
        <p:nvSpPr>
          <p:cNvPr id="251" name="Google Shape;251;p26"/>
          <p:cNvSpPr txBox="1"/>
          <p:nvPr/>
        </p:nvSpPr>
        <p:spPr>
          <a:xfrm>
            <a:off x="6273085" y="4223279"/>
            <a:ext cx="24306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Sensors spoofed while centrifuges overspun.</a:t>
            </a:r>
            <a:endParaRPr b="1" dirty="0"/>
          </a:p>
        </p:txBody>
      </p:sp>
      <p:sp>
        <p:nvSpPr>
          <p:cNvPr id="252" name="Google Shape;252;p26"/>
          <p:cNvSpPr txBox="1"/>
          <p:nvPr/>
        </p:nvSpPr>
        <p:spPr>
          <a:xfrm>
            <a:off x="9128774" y="3739604"/>
            <a:ext cx="2552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4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ETHIC</a:t>
            </a:r>
            <a:endParaRPr sz="1700" dirty="0"/>
          </a:p>
        </p:txBody>
      </p:sp>
      <p:sp>
        <p:nvSpPr>
          <p:cNvPr id="253" name="Google Shape;253;p26"/>
          <p:cNvSpPr txBox="1"/>
          <p:nvPr/>
        </p:nvSpPr>
        <p:spPr>
          <a:xfrm>
            <a:off x="9189466" y="4223279"/>
            <a:ext cx="24306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The morality of designing digital weapons.</a:t>
            </a:r>
            <a:endParaRPr b="1"/>
          </a:p>
        </p:txBody>
      </p:sp>
      <p:sp>
        <p:nvSpPr>
          <p:cNvPr id="254" name="Google Shape;254;p2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INFRASTRUCTURE ETHICS</a:t>
            </a:r>
            <a:endParaRPr dirty="0"/>
          </a:p>
        </p:txBody>
      </p:sp>
      <p:sp>
        <p:nvSpPr>
          <p:cNvPr id="255" name="Google Shape;255;p26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/>
        </p:nvSpPr>
        <p:spPr>
          <a:xfrm>
            <a:off x="762000" y="1725215"/>
            <a:ext cx="50006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THE E-WASTE CRISIS</a:t>
            </a:r>
            <a:endParaRPr dirty="0"/>
          </a:p>
        </p:txBody>
      </p:sp>
      <p:sp>
        <p:nvSpPr>
          <p:cNvPr id="261" name="Google Shape;261;p27"/>
          <p:cNvSpPr/>
          <p:nvPr/>
        </p:nvSpPr>
        <p:spPr>
          <a:xfrm>
            <a:off x="571500" y="1725215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571500" y="2572950"/>
            <a:ext cx="80511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Millions of tons of toxic lead and mercury are discarded.</a:t>
            </a:r>
            <a:endParaRPr sz="1800" b="1" dirty="0"/>
          </a:p>
        </p:txBody>
      </p:sp>
      <p:sp>
        <p:nvSpPr>
          <p:cNvPr id="263" name="Google Shape;263;p27"/>
          <p:cNvSpPr txBox="1"/>
          <p:nvPr/>
        </p:nvSpPr>
        <p:spPr>
          <a:xfrm>
            <a:off x="571499" y="3212900"/>
            <a:ext cx="8689041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EE designs often make recycling difficult (glued batteries).</a:t>
            </a:r>
            <a:endParaRPr sz="1900" b="1" dirty="0"/>
          </a:p>
        </p:txBody>
      </p:sp>
      <p:sp>
        <p:nvSpPr>
          <p:cNvPr id="264" name="Google Shape;264;p27"/>
          <p:cNvSpPr txBox="1"/>
          <p:nvPr/>
        </p:nvSpPr>
        <p:spPr>
          <a:xfrm>
            <a:off x="571500" y="3852850"/>
            <a:ext cx="938828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Global impact on communities where waste is dumped.</a:t>
            </a:r>
            <a:endParaRPr sz="2000" b="1" dirty="0"/>
          </a:p>
        </p:txBody>
      </p:sp>
      <p:sp>
        <p:nvSpPr>
          <p:cNvPr id="265" name="Google Shape;265;p27"/>
          <p:cNvSpPr txBox="1"/>
          <p:nvPr/>
        </p:nvSpPr>
        <p:spPr>
          <a:xfrm>
            <a:off x="571500" y="4492825"/>
            <a:ext cx="98136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Duty: Design for disassembly and sustainable materials.</a:t>
            </a:r>
            <a:endParaRPr sz="2000" b="1" dirty="0"/>
          </a:p>
        </p:txBody>
      </p:sp>
      <p:pic>
        <p:nvPicPr>
          <p:cNvPr id="266" name="Google Shape;26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89140" y="0"/>
            <a:ext cx="2702860" cy="296731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4E23C9-03C3-48BB-8702-06FC2947778B}"/>
              </a:ext>
            </a:extLst>
          </p:cNvPr>
          <p:cNvSpPr txBox="1"/>
          <p:nvPr/>
        </p:nvSpPr>
        <p:spPr>
          <a:xfrm>
            <a:off x="161365" y="5458179"/>
            <a:ext cx="107979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Global electronic waste (e-waste) reached approximately </a:t>
            </a:r>
            <a:r>
              <a:rPr lang="en-US" sz="3200" b="1" dirty="0">
                <a:solidFill>
                  <a:srgbClr val="FF0000"/>
                </a:solidFill>
              </a:rPr>
              <a:t>65 million </a:t>
            </a:r>
            <a:r>
              <a:rPr lang="en-US" sz="3200" dirty="0">
                <a:solidFill>
                  <a:srgbClr val="FFFF00"/>
                </a:solidFill>
              </a:rPr>
              <a:t>metric tons annually in 2025.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19225"/>
            <a:ext cx="1104900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/>
          <p:cNvSpPr txBox="1"/>
          <p:nvPr/>
        </p:nvSpPr>
        <p:spPr>
          <a:xfrm>
            <a:off x="56900" y="4312000"/>
            <a:ext cx="121068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Engineers must consider the cradle-to-grave cycle of every circuit board and battery designed.</a:t>
            </a:r>
            <a:endParaRPr sz="3200" b="1" dirty="0">
              <a:solidFill>
                <a:srgbClr val="FFFF00"/>
              </a:solidFill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DESIGNING FOR THE FUTURE</a:t>
            </a:r>
            <a:endParaRPr dirty="0"/>
          </a:p>
        </p:txBody>
      </p:sp>
      <p:sp>
        <p:nvSpPr>
          <p:cNvPr id="274" name="Google Shape;274;p28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2800" y="2490779"/>
            <a:ext cx="3617699" cy="184761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9"/>
          <p:cNvSpPr txBox="1"/>
          <p:nvPr/>
        </p:nvSpPr>
        <p:spPr>
          <a:xfrm>
            <a:off x="571500" y="2490775"/>
            <a:ext cx="108741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Pressure to launch thin phones squeezed battery space.</a:t>
            </a:r>
            <a:endParaRPr sz="2100" b="1" dirty="0"/>
          </a:p>
        </p:txBody>
      </p:sp>
      <p:sp>
        <p:nvSpPr>
          <p:cNvPr id="281" name="Google Shape;281;p29"/>
          <p:cNvSpPr txBox="1"/>
          <p:nvPr/>
        </p:nvSpPr>
        <p:spPr>
          <a:xfrm>
            <a:off x="571500" y="3130750"/>
            <a:ext cx="11049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Internal separators failed under mechanical stress.</a:t>
            </a:r>
            <a:endParaRPr sz="2200" b="1" dirty="0"/>
          </a:p>
        </p:txBody>
      </p:sp>
      <p:sp>
        <p:nvSpPr>
          <p:cNvPr id="282" name="Google Shape;282;p29"/>
          <p:cNvSpPr txBox="1"/>
          <p:nvPr/>
        </p:nvSpPr>
        <p:spPr>
          <a:xfrm>
            <a:off x="571500" y="3770700"/>
            <a:ext cx="11049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Rapid thermal runaway led to explosions and fires.</a:t>
            </a:r>
            <a:endParaRPr sz="2200" b="1" dirty="0"/>
          </a:p>
        </p:txBody>
      </p:sp>
      <p:sp>
        <p:nvSpPr>
          <p:cNvPr id="283" name="Google Shape;283;p29"/>
          <p:cNvSpPr txBox="1"/>
          <p:nvPr/>
        </p:nvSpPr>
        <p:spPr>
          <a:xfrm>
            <a:off x="571500" y="4410675"/>
            <a:ext cx="11049000" cy="62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 failure in checking manufacturing tolerances.</a:t>
            </a:r>
            <a:endParaRPr sz="2500" b="1" dirty="0"/>
          </a:p>
        </p:txBody>
      </p:sp>
      <p:pic>
        <p:nvPicPr>
          <p:cNvPr id="284" name="Google Shape;28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8700" y="649504"/>
            <a:ext cx="3617699" cy="18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SAMSUNG BATTERY FIRES</a:t>
            </a:r>
            <a:endParaRPr dirty="0"/>
          </a:p>
        </p:txBody>
      </p:sp>
      <p:sp>
        <p:nvSpPr>
          <p:cNvPr id="286" name="Google Shape;286;p29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34182B-B611-4BA1-8B4C-CD9F439442FE}"/>
              </a:ext>
            </a:extLst>
          </p:cNvPr>
          <p:cNvSpPr txBox="1"/>
          <p:nvPr/>
        </p:nvSpPr>
        <p:spPr>
          <a:xfrm>
            <a:off x="349624" y="5763280"/>
            <a:ext cx="116899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In 2016, Samsung recalled over </a:t>
            </a:r>
            <a:r>
              <a:rPr lang="en-US" sz="2400" b="1" dirty="0">
                <a:solidFill>
                  <a:srgbClr val="FFFF00"/>
                </a:solidFill>
              </a:rPr>
              <a:t>2.5 million </a:t>
            </a:r>
            <a:r>
              <a:rPr lang="en-US" sz="2400" dirty="0">
                <a:solidFill>
                  <a:srgbClr val="FFFF00"/>
                </a:solidFill>
              </a:rPr>
              <a:t>Galaxy Note 7 smartphones after numerous reports of batteries overheating and catching fire.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33322"/>
            <a:ext cx="3811975" cy="2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649" y="2264785"/>
            <a:ext cx="3681359" cy="22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2"/>
          <p:cNvSpPr txBox="1"/>
          <p:nvPr/>
        </p:nvSpPr>
        <p:spPr>
          <a:xfrm>
            <a:off x="3998259" y="2233325"/>
            <a:ext cx="7622116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Single-point failure: Reliance on one sensor for MCAS.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3998259" y="2873275"/>
            <a:ext cx="7622241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Software overrode pilots based on bad sensor data.</a:t>
            </a:r>
            <a:endParaRPr kumimoji="0" sz="1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3998259" y="3513225"/>
            <a:ext cx="7622241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Crews were not trained on the system to save costs.</a:t>
            </a:r>
            <a:endParaRPr kumimoji="0" sz="1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2" name="Google Shape;322;p32"/>
          <p:cNvSpPr txBox="1"/>
          <p:nvPr/>
        </p:nvSpPr>
        <p:spPr>
          <a:xfrm>
            <a:off x="3998259" y="4153200"/>
            <a:ext cx="762224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Result: Two crashes and hundreds of lives lost.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BOEING MCAS FAILURE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7309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2800" y="2490779"/>
            <a:ext cx="3617699" cy="184761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9"/>
          <p:cNvSpPr txBox="1"/>
          <p:nvPr/>
        </p:nvSpPr>
        <p:spPr>
          <a:xfrm>
            <a:off x="284446" y="1379995"/>
            <a:ext cx="673356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Two fatal crashes of the aircraft model in 2018 and 2019 that killed a combined 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346 people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kumimoji="0" sz="2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251012" y="3349642"/>
            <a:ext cx="11689976" cy="4265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The software MCAS was an automated flight control feature designed to prevent the 737 MAX from stalling by pushing the plane’s nose downward.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2900" b="1" dirty="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The system relied on data from a single angle-of-attack (</a:t>
            </a:r>
            <a:r>
              <a:rPr lang="en-US" sz="2400" b="1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AoA</a:t>
            </a:r>
            <a:r>
              <a:rPr lang="en-US" sz="2400" b="1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) sensor.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="1" dirty="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Lack of training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2400" b="1" dirty="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832513" y="571500"/>
            <a:ext cx="1133091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The Boeing 737 MAX tragedy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6D0556-FF03-44A7-900A-BB8E3621B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000" y="9618"/>
            <a:ext cx="4113000" cy="274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38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 txBox="1"/>
          <p:nvPr/>
        </p:nvSpPr>
        <p:spPr>
          <a:xfrm>
            <a:off x="1000125" y="2831901"/>
            <a:ext cx="106203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No Single Point of Failure: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Especially for critical flight control.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1000125" y="3342382"/>
            <a:ext cx="106203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The Pilot/Operator Rule: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Humans must always have an override.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1000125" y="3852862"/>
            <a:ext cx="106203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Full Disclosure: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Safety-critical features shouldn't be "add-ons."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1000125" y="4363342"/>
            <a:ext cx="106203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Transparency: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Clearly communicate system logic to end-users.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SYSTEM ARCHITECTURE ETHICS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3190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423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528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3633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6021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68066"/>
            <a:ext cx="3492400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868066"/>
            <a:ext cx="3492549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868066"/>
            <a:ext cx="3492400" cy="196959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 txBox="1"/>
          <p:nvPr/>
        </p:nvSpPr>
        <p:spPr>
          <a:xfrm>
            <a:off x="866775" y="316334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MARGIN OF ERROR</a:t>
            </a:r>
            <a:endParaRPr dirty="0"/>
          </a:p>
        </p:txBody>
      </p:sp>
      <p:sp>
        <p:nvSpPr>
          <p:cNvPr id="295" name="Google Shape;295;p30"/>
          <p:cNvSpPr txBox="1"/>
          <p:nvPr/>
        </p:nvSpPr>
        <p:spPr>
          <a:xfrm>
            <a:off x="866775" y="3582441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Never compromise physical tolerances for aesthetic goals.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4644925" y="3163341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STRESS TESTING</a:t>
            </a:r>
            <a:endParaRPr dirty="0"/>
          </a:p>
        </p:txBody>
      </p:sp>
      <p:sp>
        <p:nvSpPr>
          <p:cNvPr id="297" name="Google Shape;297;p30"/>
          <p:cNvSpPr txBox="1"/>
          <p:nvPr/>
        </p:nvSpPr>
        <p:spPr>
          <a:xfrm>
            <a:off x="4644925" y="3582441"/>
            <a:ext cx="290199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Simulate 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worst-case 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scenarios, not just typical use cases.</a:t>
            </a:r>
            <a:endParaRPr dirty="0"/>
          </a:p>
        </p:txBody>
      </p:sp>
      <p:sp>
        <p:nvSpPr>
          <p:cNvPr id="298" name="Google Shape;298;p30"/>
          <p:cNvSpPr txBox="1"/>
          <p:nvPr/>
        </p:nvSpPr>
        <p:spPr>
          <a:xfrm>
            <a:off x="8423225" y="316334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MANAGEMENT DUTY</a:t>
            </a:r>
            <a:endParaRPr dirty="0"/>
          </a:p>
        </p:txBody>
      </p:sp>
      <p:sp>
        <p:nvSpPr>
          <p:cNvPr id="299" name="Google Shape;299;p30"/>
          <p:cNvSpPr txBox="1"/>
          <p:nvPr/>
        </p:nvSpPr>
        <p:spPr>
          <a:xfrm>
            <a:off x="8423225" y="3582441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EEs must inform CEOs when physical limits are breached.</a:t>
            </a:r>
            <a:endParaRPr/>
          </a:p>
        </p:txBody>
      </p:sp>
      <p:sp>
        <p:nvSpPr>
          <p:cNvPr id="300" name="Google Shape;300;p3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THE "LAUNCH AT ALL COSTS" TRAP</a:t>
            </a:r>
            <a:endParaRPr dirty="0"/>
          </a:p>
        </p:txBody>
      </p:sp>
      <p:sp>
        <p:nvSpPr>
          <p:cNvPr id="301" name="Google Shape;301;p30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 txBox="1"/>
          <p:nvPr/>
        </p:nvSpPr>
        <p:spPr>
          <a:xfrm>
            <a:off x="810762" y="1748885"/>
            <a:ext cx="50006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BIAS IN AUTOMATION</a:t>
            </a:r>
            <a:endParaRPr dirty="0"/>
          </a:p>
        </p:txBody>
      </p:sp>
      <p:sp>
        <p:nvSpPr>
          <p:cNvPr id="307" name="Google Shape;307;p31"/>
          <p:cNvSpPr/>
          <p:nvPr/>
        </p:nvSpPr>
        <p:spPr>
          <a:xfrm>
            <a:off x="571500" y="1725215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431987" y="2595284"/>
            <a:ext cx="10661276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AI models in recruitment and policing show racial bias.</a:t>
            </a:r>
            <a:endParaRPr sz="2200" b="1" dirty="0"/>
          </a:p>
        </p:txBody>
      </p:sp>
      <p:sp>
        <p:nvSpPr>
          <p:cNvPr id="309" name="Google Shape;309;p31"/>
          <p:cNvSpPr txBox="1"/>
          <p:nvPr/>
        </p:nvSpPr>
        <p:spPr>
          <a:xfrm>
            <a:off x="415737" y="3164744"/>
            <a:ext cx="11360525" cy="1120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AI training data is often missing information or doesn’t represent everyone fairly.</a:t>
            </a:r>
            <a:endParaRPr sz="2200" b="1" dirty="0"/>
          </a:p>
        </p:txBody>
      </p:sp>
      <p:sp>
        <p:nvSpPr>
          <p:cNvPr id="310" name="Google Shape;310;p31"/>
          <p:cNvSpPr txBox="1"/>
          <p:nvPr/>
        </p:nvSpPr>
        <p:spPr>
          <a:xfrm>
            <a:off x="415737" y="4577674"/>
            <a:ext cx="107913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Ethics: How do we ensure "fair" hardware-software integration?</a:t>
            </a:r>
            <a:endParaRPr sz="2200" b="1" dirty="0"/>
          </a:p>
        </p:txBody>
      </p:sp>
      <p:sp>
        <p:nvSpPr>
          <p:cNvPr id="311" name="Google Shape;311;p31"/>
          <p:cNvSpPr txBox="1"/>
          <p:nvPr/>
        </p:nvSpPr>
        <p:spPr>
          <a:xfrm>
            <a:off x="431987" y="5541171"/>
            <a:ext cx="103095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The "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Invisible Hand</a:t>
            </a:r>
            <a:r>
              <a:rPr lang="en-US" sz="26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" problem of neural network weights.</a:t>
            </a:r>
            <a:endParaRPr sz="2200" b="1" dirty="0"/>
          </a:p>
        </p:txBody>
      </p:sp>
      <p:pic>
        <p:nvPicPr>
          <p:cNvPr id="312" name="Google Shape;31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7048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 txBox="1"/>
          <p:nvPr/>
        </p:nvSpPr>
        <p:spPr>
          <a:xfrm>
            <a:off x="360350" y="2423025"/>
            <a:ext cx="38142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#1</a:t>
            </a:r>
            <a:endParaRPr/>
          </a:p>
        </p:txBody>
      </p:sp>
      <p:sp>
        <p:nvSpPr>
          <p:cNvPr id="344" name="Google Shape;344;p34"/>
          <p:cNvSpPr txBox="1"/>
          <p:nvPr/>
        </p:nvSpPr>
        <p:spPr>
          <a:xfrm>
            <a:off x="181325" y="4228222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Internal Escalation First</a:t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4572000" y="2815075"/>
            <a:ext cx="745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Identify the technical or ethical violation clearly.</a:t>
            </a:r>
            <a:endParaRPr sz="1900" b="1"/>
          </a:p>
        </p:txBody>
      </p:sp>
      <p:sp>
        <p:nvSpPr>
          <p:cNvPr id="346" name="Google Shape;346;p34"/>
          <p:cNvSpPr txBox="1"/>
          <p:nvPr/>
        </p:nvSpPr>
        <p:spPr>
          <a:xfrm>
            <a:off x="4572000" y="3281025"/>
            <a:ext cx="7048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Gather data evidence to support your concern.</a:t>
            </a:r>
            <a:endParaRPr sz="1900"/>
          </a:p>
        </p:txBody>
      </p:sp>
      <p:sp>
        <p:nvSpPr>
          <p:cNvPr id="347" name="Google Shape;347;p34"/>
          <p:cNvSpPr txBox="1"/>
          <p:nvPr/>
        </p:nvSpPr>
        <p:spPr>
          <a:xfrm>
            <a:off x="4572000" y="3746975"/>
            <a:ext cx="759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Bring concern to immediate management in writing.</a:t>
            </a:r>
            <a:endParaRPr sz="2000"/>
          </a:p>
        </p:txBody>
      </p:sp>
      <p:sp>
        <p:nvSpPr>
          <p:cNvPr id="348" name="Google Shape;348;p34"/>
          <p:cNvSpPr txBox="1"/>
          <p:nvPr/>
        </p:nvSpPr>
        <p:spPr>
          <a:xfrm>
            <a:off x="4572000" y="4318100"/>
            <a:ext cx="7048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Escalate to legal or public if safety is ignored.</a:t>
            </a:r>
            <a:endParaRPr sz="1900" dirty="0"/>
          </a:p>
        </p:txBody>
      </p:sp>
      <p:sp>
        <p:nvSpPr>
          <p:cNvPr id="349" name="Google Shape;349;p3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WHISTLEBLOWING PROTOCOL</a:t>
            </a:r>
            <a:endParaRPr dirty="0"/>
          </a:p>
        </p:txBody>
      </p:sp>
      <p:sp>
        <p:nvSpPr>
          <p:cNvPr id="350" name="Google Shape;350;p34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/>
          <p:nvPr/>
        </p:nvSpPr>
        <p:spPr>
          <a:xfrm>
            <a:off x="647700" y="357375"/>
            <a:ext cx="724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CHALLENGER EXPLOSION</a:t>
            </a:r>
            <a:endParaRPr dirty="0"/>
          </a:p>
        </p:txBody>
      </p:sp>
      <p:sp>
        <p:nvSpPr>
          <p:cNvPr id="356" name="Google Shape;356;p35"/>
          <p:cNvSpPr/>
          <p:nvPr/>
        </p:nvSpPr>
        <p:spPr>
          <a:xfrm>
            <a:off x="571500" y="1651843"/>
            <a:ext cx="76200" cy="933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773700" y="1282550"/>
            <a:ext cx="759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Engineers warned that O-rings fail in freezing cold.</a:t>
            </a:r>
            <a:endParaRPr sz="2000"/>
          </a:p>
        </p:txBody>
      </p:sp>
      <p:sp>
        <p:nvSpPr>
          <p:cNvPr id="358" name="Google Shape;358;p35"/>
          <p:cNvSpPr txBox="1"/>
          <p:nvPr/>
        </p:nvSpPr>
        <p:spPr>
          <a:xfrm>
            <a:off x="773700" y="1957025"/>
            <a:ext cx="8781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Management pressured them to "take off your engineering hat."</a:t>
            </a:r>
            <a:endParaRPr sz="1700" b="1">
              <a:solidFill>
                <a:srgbClr val="FFFF00"/>
              </a:solidFill>
            </a:endParaRPr>
          </a:p>
        </p:txBody>
      </p:sp>
      <p:sp>
        <p:nvSpPr>
          <p:cNvPr id="359" name="Google Shape;359;p35"/>
          <p:cNvSpPr txBox="1"/>
          <p:nvPr/>
        </p:nvSpPr>
        <p:spPr>
          <a:xfrm>
            <a:off x="773700" y="3020663"/>
            <a:ext cx="72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Groupthink and schedule pressure overrode physics.</a:t>
            </a:r>
            <a:endParaRPr sz="1800"/>
          </a:p>
        </p:txBody>
      </p:sp>
      <p:sp>
        <p:nvSpPr>
          <p:cNvPr id="360" name="Google Shape;360;p35"/>
          <p:cNvSpPr txBox="1"/>
          <p:nvPr/>
        </p:nvSpPr>
        <p:spPr>
          <a:xfrm>
            <a:off x="751350" y="4099925"/>
            <a:ext cx="703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Resulted in the total loss of ship and crew.</a:t>
            </a:r>
            <a:endParaRPr sz="1800"/>
          </a:p>
        </p:txBody>
      </p:sp>
      <p:pic>
        <p:nvPicPr>
          <p:cNvPr id="361" name="Google Shape;36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91000" y="2966300"/>
            <a:ext cx="3500901" cy="393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"/>
          <p:cNvSpPr txBox="1"/>
          <p:nvPr/>
        </p:nvSpPr>
        <p:spPr>
          <a:xfrm>
            <a:off x="277905" y="2411759"/>
            <a:ext cx="11743765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1" u="none" strike="noStrike" cap="none" dirty="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b="1" i="1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"Never take off your engineering hat for a management decision that involves technical safety." </a:t>
            </a:r>
            <a:endParaRPr b="1" dirty="0">
              <a:solidFill>
                <a:srgbClr val="FFFF00"/>
              </a:solidFill>
            </a:endParaRPr>
          </a:p>
        </p:txBody>
      </p:sp>
      <p:sp>
        <p:nvSpPr>
          <p:cNvPr id="367" name="Google Shape;367;p36"/>
          <p:cNvSpPr txBox="1"/>
          <p:nvPr/>
        </p:nvSpPr>
        <p:spPr>
          <a:xfrm>
            <a:off x="571500" y="4507259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— Roger Boisjoly (Challenger Engineer)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/>
        </p:nvSpPr>
        <p:spPr>
          <a:xfrm>
            <a:off x="1000125" y="2831901"/>
            <a:ext cx="106203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Refrain from accepting gifts from potential component vendors.</a:t>
            </a:r>
            <a:endParaRPr sz="1900" b="1" dirty="0"/>
          </a:p>
        </p:txBody>
      </p:sp>
      <p:sp>
        <p:nvSpPr>
          <p:cNvPr id="374" name="Google Shape;374;p37"/>
          <p:cNvSpPr txBox="1"/>
          <p:nvPr/>
        </p:nvSpPr>
        <p:spPr>
          <a:xfrm>
            <a:off x="1000125" y="3342382"/>
            <a:ext cx="106203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Disclose financial stakes in third-party service providers.</a:t>
            </a:r>
            <a:endParaRPr sz="2100" b="1" dirty="0"/>
          </a:p>
        </p:txBody>
      </p:sp>
      <p:sp>
        <p:nvSpPr>
          <p:cNvPr id="375" name="Google Shape;375;p37"/>
          <p:cNvSpPr txBox="1"/>
          <p:nvPr/>
        </p:nvSpPr>
        <p:spPr>
          <a:xfrm>
            <a:off x="1000125" y="3852862"/>
            <a:ext cx="106203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Do not consult for direct competitors on the same tech.</a:t>
            </a:r>
            <a:endParaRPr sz="2200" b="1" dirty="0"/>
          </a:p>
        </p:txBody>
      </p:sp>
      <p:sp>
        <p:nvSpPr>
          <p:cNvPr id="376" name="Google Shape;376;p37"/>
          <p:cNvSpPr txBox="1"/>
          <p:nvPr/>
        </p:nvSpPr>
        <p:spPr>
          <a:xfrm>
            <a:off x="1000125" y="4363342"/>
            <a:ext cx="106203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Disqualify yourself from contract decisions involving family.</a:t>
            </a:r>
            <a:endParaRPr sz="2100" b="1" dirty="0"/>
          </a:p>
        </p:txBody>
      </p:sp>
      <p:sp>
        <p:nvSpPr>
          <p:cNvPr id="377" name="Google Shape;377;p3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AVOIDING CONFLICTS OF INTEREST</a:t>
            </a:r>
            <a:endParaRPr dirty="0"/>
          </a:p>
        </p:txBody>
      </p:sp>
      <p:sp>
        <p:nvSpPr>
          <p:cNvPr id="378" name="Google Shape;378;p37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3190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423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528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3633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3725" y="2338470"/>
            <a:ext cx="5334000" cy="305633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8"/>
          <p:cNvSpPr txBox="1"/>
          <p:nvPr/>
        </p:nvSpPr>
        <p:spPr>
          <a:xfrm>
            <a:off x="218113" y="1951583"/>
            <a:ext cx="6729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Cultural "gifts" can easily cross into illegal bribes.</a:t>
            </a:r>
            <a:endParaRPr sz="1600" b="1" dirty="0"/>
          </a:p>
        </p:txBody>
      </p:sp>
      <p:sp>
        <p:nvSpPr>
          <p:cNvPr id="389" name="Google Shape;389;p38"/>
          <p:cNvSpPr txBox="1"/>
          <p:nvPr/>
        </p:nvSpPr>
        <p:spPr>
          <a:xfrm>
            <a:off x="155886" y="2551394"/>
            <a:ext cx="7421726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Foreign Corrupt Practices Act (FCPA) compliance is key.</a:t>
            </a:r>
            <a:endParaRPr sz="1700" b="1" dirty="0"/>
          </a:p>
        </p:txBody>
      </p:sp>
      <p:sp>
        <p:nvSpPr>
          <p:cNvPr id="390" name="Google Shape;390;p38"/>
          <p:cNvSpPr txBox="1"/>
          <p:nvPr/>
        </p:nvSpPr>
        <p:spPr>
          <a:xfrm>
            <a:off x="155886" y="3248036"/>
            <a:ext cx="7821828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Facilitation payments for grid access are often unethical.</a:t>
            </a:r>
            <a:endParaRPr sz="1700" b="1" dirty="0"/>
          </a:p>
        </p:txBody>
      </p:sp>
      <p:sp>
        <p:nvSpPr>
          <p:cNvPr id="391" name="Google Shape;391;p38"/>
          <p:cNvSpPr txBox="1"/>
          <p:nvPr/>
        </p:nvSpPr>
        <p:spPr>
          <a:xfrm>
            <a:off x="155886" y="3894905"/>
            <a:ext cx="69906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Build a culture of merit, not kickbacks.</a:t>
            </a:r>
            <a:endParaRPr sz="2100" b="1" dirty="0"/>
          </a:p>
        </p:txBody>
      </p:sp>
      <p:pic>
        <p:nvPicPr>
          <p:cNvPr id="392" name="Google Shape;39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4400" y="2113899"/>
            <a:ext cx="4163326" cy="23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GLOBAL ETHICS &amp; INTEGRITY</a:t>
            </a:r>
            <a:endParaRPr dirty="0"/>
          </a:p>
        </p:txBody>
      </p:sp>
      <p:sp>
        <p:nvSpPr>
          <p:cNvPr id="394" name="Google Shape;394;p38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600" y="2706828"/>
            <a:ext cx="3778300" cy="213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3900" y="2706930"/>
            <a:ext cx="3778300" cy="213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2203" y="2706925"/>
            <a:ext cx="3778147" cy="21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9"/>
          <p:cNvSpPr txBox="1"/>
          <p:nvPr/>
        </p:nvSpPr>
        <p:spPr>
          <a:xfrm>
            <a:off x="866775" y="3163341"/>
            <a:ext cx="304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PATENTS</a:t>
            </a:r>
            <a:endParaRPr sz="1800" dirty="0"/>
          </a:p>
        </p:txBody>
      </p:sp>
      <p:sp>
        <p:nvSpPr>
          <p:cNvPr id="403" name="Google Shape;403;p39"/>
          <p:cNvSpPr txBox="1"/>
          <p:nvPr/>
        </p:nvSpPr>
        <p:spPr>
          <a:xfrm>
            <a:off x="421275" y="3555745"/>
            <a:ext cx="34923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Respect others' circuit topologies and software patents.</a:t>
            </a:r>
            <a:endParaRPr sz="1700" dirty="0"/>
          </a:p>
        </p:txBody>
      </p:sp>
      <p:sp>
        <p:nvSpPr>
          <p:cNvPr id="404" name="Google Shape;404;p39"/>
          <p:cNvSpPr txBox="1"/>
          <p:nvPr/>
        </p:nvSpPr>
        <p:spPr>
          <a:xfrm>
            <a:off x="4644925" y="3163341"/>
            <a:ext cx="304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ATTRIBUTION</a:t>
            </a:r>
            <a:endParaRPr sz="1800" dirty="0"/>
          </a:p>
        </p:txBody>
      </p:sp>
      <p:sp>
        <p:nvSpPr>
          <p:cNvPr id="405" name="Google Shape;405;p39"/>
          <p:cNvSpPr txBox="1"/>
          <p:nvPr/>
        </p:nvSpPr>
        <p:spPr>
          <a:xfrm>
            <a:off x="4644925" y="3582441"/>
            <a:ext cx="29019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Always give credit to open-source libraries or team members.</a:t>
            </a:r>
            <a:endParaRPr sz="1700"/>
          </a:p>
        </p:txBody>
      </p:sp>
      <p:sp>
        <p:nvSpPr>
          <p:cNvPr id="406" name="Google Shape;406;p39"/>
          <p:cNvSpPr txBox="1"/>
          <p:nvPr/>
        </p:nvSpPr>
        <p:spPr>
          <a:xfrm>
            <a:off x="8423225" y="3163341"/>
            <a:ext cx="304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TRADE SECRETS</a:t>
            </a:r>
            <a:endParaRPr sz="1800" dirty="0"/>
          </a:p>
        </p:txBody>
      </p:sp>
      <p:sp>
        <p:nvSpPr>
          <p:cNvPr id="407" name="Google Shape;407;p39"/>
          <p:cNvSpPr txBox="1"/>
          <p:nvPr/>
        </p:nvSpPr>
        <p:spPr>
          <a:xfrm>
            <a:off x="8127850" y="3582441"/>
            <a:ext cx="3342175" cy="13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Maintain confidentiality when moving between firms.</a:t>
            </a:r>
            <a:endParaRPr sz="1700" dirty="0"/>
          </a:p>
        </p:txBody>
      </p:sp>
      <p:sp>
        <p:nvSpPr>
          <p:cNvPr id="408" name="Google Shape;408;p39"/>
          <p:cNvSpPr txBox="1"/>
          <p:nvPr/>
        </p:nvSpPr>
        <p:spPr>
          <a:xfrm>
            <a:off x="790575" y="490818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Intellectual Property (IP) AND The EE Designer</a:t>
            </a:r>
            <a:endParaRPr dirty="0"/>
          </a:p>
        </p:txBody>
      </p:sp>
      <p:sp>
        <p:nvSpPr>
          <p:cNvPr id="409" name="Google Shape;409;p39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/>
          <p:nvPr/>
        </p:nvSpPr>
        <p:spPr>
          <a:xfrm>
            <a:off x="1000125" y="2182673"/>
            <a:ext cx="1108429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Teams with similar backgrounds often overlook important safety and usability issues..</a:t>
            </a:r>
            <a:endParaRPr sz="2000" dirty="0"/>
          </a:p>
        </p:txBody>
      </p:sp>
      <p:sp>
        <p:nvSpPr>
          <p:cNvPr id="415" name="Google Shape;415;p40"/>
          <p:cNvSpPr txBox="1"/>
          <p:nvPr/>
        </p:nvSpPr>
        <p:spPr>
          <a:xfrm>
            <a:off x="1000125" y="3342382"/>
            <a:ext cx="1062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Discrimination violates the fundamental IEEE principle.</a:t>
            </a:r>
            <a:endParaRPr sz="2200"/>
          </a:p>
        </p:txBody>
      </p:sp>
      <p:sp>
        <p:nvSpPr>
          <p:cNvPr id="416" name="Google Shape;416;p40"/>
          <p:cNvSpPr txBox="1"/>
          <p:nvPr/>
        </p:nvSpPr>
        <p:spPr>
          <a:xfrm>
            <a:off x="1000125" y="3852862"/>
            <a:ext cx="10620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Diverse inputs improve system robustness and accessibility.</a:t>
            </a:r>
            <a:endParaRPr sz="2100"/>
          </a:p>
        </p:txBody>
      </p:sp>
      <p:sp>
        <p:nvSpPr>
          <p:cNvPr id="417" name="Google Shape;417;p40"/>
          <p:cNvSpPr txBox="1"/>
          <p:nvPr/>
        </p:nvSpPr>
        <p:spPr>
          <a:xfrm>
            <a:off x="1000125" y="4363342"/>
            <a:ext cx="10620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Mentorship for underrepresented groups builds the profession.</a:t>
            </a:r>
            <a:endParaRPr sz="2100"/>
          </a:p>
        </p:txBody>
      </p:sp>
      <p:sp>
        <p:nvSpPr>
          <p:cNvPr id="418" name="Google Shape;418;p4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INCLUSION FOR BETTER DESIGN</a:t>
            </a:r>
            <a:endParaRPr dirty="0"/>
          </a:p>
        </p:txBody>
      </p:sp>
      <p:sp>
        <p:nvSpPr>
          <p:cNvPr id="419" name="Google Shape;419;p40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047" y="23549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423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528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3633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/>
          <p:nvPr/>
        </p:nvSpPr>
        <p:spPr>
          <a:xfrm>
            <a:off x="609600" y="1054083"/>
            <a:ext cx="85254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NORTHEAST BLACKOUT (Aug. 2003)</a:t>
            </a:r>
            <a:endParaRPr dirty="0"/>
          </a:p>
        </p:txBody>
      </p:sp>
      <p:sp>
        <p:nvSpPr>
          <p:cNvPr id="429" name="Google Shape;429;p41"/>
          <p:cNvSpPr/>
          <p:nvPr/>
        </p:nvSpPr>
        <p:spPr>
          <a:xfrm>
            <a:off x="571500" y="1491853"/>
            <a:ext cx="76200" cy="933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1"/>
          <p:cNvSpPr txBox="1"/>
          <p:nvPr/>
        </p:nvSpPr>
        <p:spPr>
          <a:xfrm>
            <a:off x="571500" y="2806300"/>
            <a:ext cx="7362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 software bug in monitoring tools blinded operators.</a:t>
            </a:r>
            <a:endParaRPr sz="1800"/>
          </a:p>
        </p:txBody>
      </p:sp>
      <p:sp>
        <p:nvSpPr>
          <p:cNvPr id="431" name="Google Shape;431;p41"/>
          <p:cNvSpPr txBox="1"/>
          <p:nvPr/>
        </p:nvSpPr>
        <p:spPr>
          <a:xfrm>
            <a:off x="571500" y="3446275"/>
            <a:ext cx="705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 sagging power line caused a local failure cascade.</a:t>
            </a:r>
            <a:endParaRPr sz="1900"/>
          </a:p>
        </p:txBody>
      </p:sp>
      <p:sp>
        <p:nvSpPr>
          <p:cNvPr id="432" name="Google Shape;432;p41"/>
          <p:cNvSpPr txBox="1"/>
          <p:nvPr/>
        </p:nvSpPr>
        <p:spPr>
          <a:xfrm>
            <a:off x="571500" y="4133075"/>
            <a:ext cx="73626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Lack of communication led to grid failure for 50M people.</a:t>
            </a:r>
            <a:endParaRPr sz="1800"/>
          </a:p>
        </p:txBody>
      </p:sp>
      <p:sp>
        <p:nvSpPr>
          <p:cNvPr id="433" name="Google Shape;433;p41"/>
          <p:cNvSpPr txBox="1"/>
          <p:nvPr/>
        </p:nvSpPr>
        <p:spPr>
          <a:xfrm>
            <a:off x="475200" y="5359650"/>
            <a:ext cx="7252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Ethics: Duty to maintain resilient grid communications.</a:t>
            </a:r>
            <a:endParaRPr sz="1900"/>
          </a:p>
        </p:txBody>
      </p:sp>
      <p:pic>
        <p:nvPicPr>
          <p:cNvPr id="434" name="Google Shape;434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075" y="2220825"/>
            <a:ext cx="4121925" cy="463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FD7D5D-D400-4758-A2C8-CF58FDEA6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0706" y="144322"/>
            <a:ext cx="2543530" cy="265784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9" name="Google Shape;439;p42"/>
          <p:cNvGraphicFramePr/>
          <p:nvPr/>
        </p:nvGraphicFramePr>
        <p:xfrm>
          <a:off x="516400" y="2453925"/>
          <a:ext cx="11324425" cy="3360300"/>
        </p:xfrm>
        <a:graphic>
          <a:graphicData uri="http://schemas.openxmlformats.org/drawingml/2006/table">
            <a:tbl>
              <a:tblPr firstRow="1" bandRow="1">
                <a:noFill/>
                <a:tableStyleId>{B2821583-BE2B-46A4-BC72-E0BAE69D8D30}</a:tableStyleId>
              </a:tblPr>
              <a:tblGrid>
                <a:gridCol w="33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Component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Ethical Priority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Redundancy Plan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Grid Sensors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Accuracy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Dual-channel Verification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Protection Relays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Instant Trip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Backup Mechanical Breaker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Control Software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Logic Integrity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Watchdog Timers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0" name="Google Shape;440;p42"/>
          <p:cNvSpPr/>
          <p:nvPr/>
        </p:nvSpPr>
        <p:spPr>
          <a:xfrm>
            <a:off x="571500" y="3097762"/>
            <a:ext cx="32445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2"/>
          <p:cNvSpPr/>
          <p:nvPr/>
        </p:nvSpPr>
        <p:spPr>
          <a:xfrm>
            <a:off x="3816101" y="3357562"/>
            <a:ext cx="290304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2"/>
          <p:cNvSpPr/>
          <p:nvPr/>
        </p:nvSpPr>
        <p:spPr>
          <a:xfrm>
            <a:off x="6719143" y="3357562"/>
            <a:ext cx="490135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2"/>
          <p:cNvSpPr/>
          <p:nvPr/>
        </p:nvSpPr>
        <p:spPr>
          <a:xfrm>
            <a:off x="571500" y="3910012"/>
            <a:ext cx="32446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2"/>
          <p:cNvSpPr/>
          <p:nvPr/>
        </p:nvSpPr>
        <p:spPr>
          <a:xfrm>
            <a:off x="3816101" y="3910012"/>
            <a:ext cx="290304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2"/>
          <p:cNvSpPr/>
          <p:nvPr/>
        </p:nvSpPr>
        <p:spPr>
          <a:xfrm>
            <a:off x="6719143" y="3910012"/>
            <a:ext cx="490135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571500" y="4462462"/>
            <a:ext cx="32446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3816101" y="4462462"/>
            <a:ext cx="290304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2"/>
          <p:cNvSpPr/>
          <p:nvPr/>
        </p:nvSpPr>
        <p:spPr>
          <a:xfrm>
            <a:off x="6719143" y="4462462"/>
            <a:ext cx="490135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2"/>
          <p:cNvSpPr/>
          <p:nvPr/>
        </p:nvSpPr>
        <p:spPr>
          <a:xfrm>
            <a:off x="571500" y="5014912"/>
            <a:ext cx="32446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2"/>
          <p:cNvSpPr/>
          <p:nvPr/>
        </p:nvSpPr>
        <p:spPr>
          <a:xfrm>
            <a:off x="3816101" y="5014912"/>
            <a:ext cx="290304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2"/>
          <p:cNvSpPr/>
          <p:nvPr/>
        </p:nvSpPr>
        <p:spPr>
          <a:xfrm>
            <a:off x="6719143" y="5014912"/>
            <a:ext cx="490135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SYSTEM HEALTH MATRIX</a:t>
            </a:r>
            <a:endParaRPr dirty="0"/>
          </a:p>
        </p:txBody>
      </p:sp>
      <p:sp>
        <p:nvSpPr>
          <p:cNvPr id="453" name="Google Shape;453;p42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33625"/>
            <a:ext cx="3943542" cy="2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3"/>
          <p:cNvSpPr txBox="1"/>
          <p:nvPr/>
        </p:nvSpPr>
        <p:spPr>
          <a:xfrm>
            <a:off x="4132729" y="2033656"/>
            <a:ext cx="8030696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Transitioning from fossil fuels is a moral imperative.</a:t>
            </a:r>
            <a:endParaRPr sz="1900" b="1" dirty="0"/>
          </a:p>
        </p:txBody>
      </p:sp>
      <p:sp>
        <p:nvSpPr>
          <p:cNvPr id="461" name="Google Shape;461;p43"/>
          <p:cNvSpPr txBox="1"/>
          <p:nvPr/>
        </p:nvSpPr>
        <p:spPr>
          <a:xfrm>
            <a:off x="4132728" y="2894350"/>
            <a:ext cx="7781365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Renewables must be integrated without    compromising stability.</a:t>
            </a:r>
            <a:endParaRPr sz="1900" b="1" dirty="0"/>
          </a:p>
        </p:txBody>
      </p:sp>
      <p:sp>
        <p:nvSpPr>
          <p:cNvPr id="462" name="Google Shape;462;p43"/>
          <p:cNvSpPr txBox="1"/>
          <p:nvPr/>
        </p:nvSpPr>
        <p:spPr>
          <a:xfrm>
            <a:off x="4186175" y="4307608"/>
            <a:ext cx="7781364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Equitable access to clean power for all communities.</a:t>
            </a:r>
            <a:endParaRPr sz="1900" b="1" dirty="0"/>
          </a:p>
        </p:txBody>
      </p:sp>
      <p:sp>
        <p:nvSpPr>
          <p:cNvPr id="463" name="Google Shape;463;p43"/>
          <p:cNvSpPr txBox="1"/>
          <p:nvPr/>
        </p:nvSpPr>
        <p:spPr>
          <a:xfrm>
            <a:off x="4186175" y="5239023"/>
            <a:ext cx="7727918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Reducing energy poverty through engineering innovation.</a:t>
            </a:r>
            <a:endParaRPr sz="1900" b="1" dirty="0"/>
          </a:p>
        </p:txBody>
      </p:sp>
      <p:sp>
        <p:nvSpPr>
          <p:cNvPr id="464" name="Google Shape;464;p4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GREEN GRID ETHICS</a:t>
            </a:r>
            <a:endParaRPr dirty="0"/>
          </a:p>
        </p:txBody>
      </p:sp>
      <p:sp>
        <p:nvSpPr>
          <p:cNvPr id="465" name="Google Shape;465;p43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46D934-63F0-45EA-AF62-F088C8402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93" y="2138445"/>
            <a:ext cx="3429975" cy="22780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68066"/>
            <a:ext cx="3492400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868066"/>
            <a:ext cx="3492549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868066"/>
            <a:ext cx="3492400" cy="1969591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4"/>
          <p:cNvSpPr txBox="1"/>
          <p:nvPr/>
        </p:nvSpPr>
        <p:spPr>
          <a:xfrm>
            <a:off x="866775" y="316334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BIO-PRIVACY</a:t>
            </a:r>
            <a:endParaRPr dirty="0"/>
          </a:p>
        </p:txBody>
      </p:sp>
      <p:sp>
        <p:nvSpPr>
          <p:cNvPr id="474" name="Google Shape;474;p44"/>
          <p:cNvSpPr txBox="1"/>
          <p:nvPr/>
        </p:nvSpPr>
        <p:spPr>
          <a:xfrm>
            <a:off x="866775" y="3582441"/>
            <a:ext cx="29018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Who owns the data from a brain-computer interface?</a:t>
            </a:r>
            <a:endParaRPr/>
          </a:p>
        </p:txBody>
      </p:sp>
      <p:sp>
        <p:nvSpPr>
          <p:cNvPr id="475" name="Google Shape;475;p44"/>
          <p:cNvSpPr txBox="1"/>
          <p:nvPr/>
        </p:nvSpPr>
        <p:spPr>
          <a:xfrm>
            <a:off x="4644925" y="3163341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HACKING LIFE</a:t>
            </a:r>
            <a:endParaRPr dirty="0"/>
          </a:p>
        </p:txBody>
      </p:sp>
      <p:sp>
        <p:nvSpPr>
          <p:cNvPr id="476" name="Google Shape;476;p44"/>
          <p:cNvSpPr txBox="1"/>
          <p:nvPr/>
        </p:nvSpPr>
        <p:spPr>
          <a:xfrm>
            <a:off x="4644925" y="3582441"/>
            <a:ext cx="290199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Security ethics for pace-makers and neural implants.</a:t>
            </a:r>
            <a:endParaRPr/>
          </a:p>
        </p:txBody>
      </p:sp>
      <p:sp>
        <p:nvSpPr>
          <p:cNvPr id="477" name="Google Shape;477;p44"/>
          <p:cNvSpPr txBox="1"/>
          <p:nvPr/>
        </p:nvSpPr>
        <p:spPr>
          <a:xfrm>
            <a:off x="8423225" y="3163341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AUGMENTATION</a:t>
            </a:r>
            <a:endParaRPr dirty="0"/>
          </a:p>
        </p:txBody>
      </p:sp>
      <p:sp>
        <p:nvSpPr>
          <p:cNvPr id="478" name="Google Shape;478;p44"/>
          <p:cNvSpPr txBox="1"/>
          <p:nvPr/>
        </p:nvSpPr>
        <p:spPr>
          <a:xfrm>
            <a:off x="8423225" y="3582441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Addressing the digital divide in human enhancement.</a:t>
            </a:r>
            <a:endParaRPr/>
          </a:p>
        </p:txBody>
      </p:sp>
      <p:sp>
        <p:nvSpPr>
          <p:cNvPr id="479" name="Google Shape;479;p4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THE FRONTIERS: BIO-ELECTRONICS</a:t>
            </a:r>
            <a:endParaRPr dirty="0"/>
          </a:p>
        </p:txBody>
      </p:sp>
      <p:sp>
        <p:nvSpPr>
          <p:cNvPr id="480" name="Google Shape;480;p44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5"/>
          <p:cNvSpPr/>
          <p:nvPr/>
        </p:nvSpPr>
        <p:spPr>
          <a:xfrm>
            <a:off x="571500" y="5173443"/>
            <a:ext cx="11049000" cy="63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5"/>
          <p:cNvSpPr/>
          <p:nvPr/>
        </p:nvSpPr>
        <p:spPr>
          <a:xfrm>
            <a:off x="1374830" y="5788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5"/>
          <p:cNvSpPr txBox="1"/>
          <p:nvPr/>
        </p:nvSpPr>
        <p:spPr>
          <a:xfrm>
            <a:off x="510733" y="373960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ANALYZE</a:t>
            </a:r>
            <a:endParaRPr dirty="0"/>
          </a:p>
        </p:txBody>
      </p:sp>
      <p:sp>
        <p:nvSpPr>
          <p:cNvPr id="488" name="Google Shape;488;p45"/>
          <p:cNvSpPr txBox="1"/>
          <p:nvPr/>
        </p:nvSpPr>
        <p:spPr>
          <a:xfrm>
            <a:off x="571525" y="4246079"/>
            <a:ext cx="24306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Identify stakeholders and technical facts.</a:t>
            </a:r>
            <a:endParaRPr/>
          </a:p>
        </p:txBody>
      </p:sp>
      <p:sp>
        <p:nvSpPr>
          <p:cNvPr id="489" name="Google Shape;489;p45"/>
          <p:cNvSpPr/>
          <p:nvPr/>
        </p:nvSpPr>
        <p:spPr>
          <a:xfrm rot="10800000">
            <a:off x="4355150" y="5773625"/>
            <a:ext cx="204900" cy="20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5"/>
          <p:cNvSpPr txBox="1"/>
          <p:nvPr/>
        </p:nvSpPr>
        <p:spPr>
          <a:xfrm>
            <a:off x="3444188" y="3645029"/>
            <a:ext cx="2552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EVALUATE</a:t>
            </a:r>
            <a:endParaRPr dirty="0"/>
          </a:p>
        </p:txBody>
      </p:sp>
      <p:sp>
        <p:nvSpPr>
          <p:cNvPr id="491" name="Google Shape;491;p45"/>
          <p:cNvSpPr txBox="1"/>
          <p:nvPr/>
        </p:nvSpPr>
        <p:spPr>
          <a:xfrm>
            <a:off x="3444243" y="4347292"/>
            <a:ext cx="24306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Apply IEEE code and safety standards.</a:t>
            </a:r>
            <a:endParaRPr/>
          </a:p>
        </p:txBody>
      </p:sp>
      <p:sp>
        <p:nvSpPr>
          <p:cNvPr id="492" name="Google Shape;492;p45"/>
          <p:cNvSpPr/>
          <p:nvPr/>
        </p:nvSpPr>
        <p:spPr>
          <a:xfrm>
            <a:off x="7244335" y="57817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5"/>
          <p:cNvSpPr txBox="1"/>
          <p:nvPr/>
        </p:nvSpPr>
        <p:spPr>
          <a:xfrm>
            <a:off x="6256094" y="373960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ACT</a:t>
            </a:r>
            <a:endParaRPr dirty="0"/>
          </a:p>
        </p:txBody>
      </p:sp>
      <p:sp>
        <p:nvSpPr>
          <p:cNvPr id="494" name="Google Shape;494;p45"/>
          <p:cNvSpPr txBox="1"/>
          <p:nvPr/>
        </p:nvSpPr>
        <p:spPr>
          <a:xfrm>
            <a:off x="6316923" y="4039717"/>
            <a:ext cx="24306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Choose the path that holds safety paramount.</a:t>
            </a:r>
            <a:endParaRPr/>
          </a:p>
        </p:txBody>
      </p:sp>
      <p:sp>
        <p:nvSpPr>
          <p:cNvPr id="495" name="Google Shape;495;p45"/>
          <p:cNvSpPr/>
          <p:nvPr/>
        </p:nvSpPr>
        <p:spPr>
          <a:xfrm>
            <a:off x="10309616" y="5788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5"/>
          <p:cNvSpPr txBox="1"/>
          <p:nvPr/>
        </p:nvSpPr>
        <p:spPr>
          <a:xfrm>
            <a:off x="9128774" y="373960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REVIEW</a:t>
            </a:r>
            <a:endParaRPr dirty="0"/>
          </a:p>
        </p:txBody>
      </p:sp>
      <p:sp>
        <p:nvSpPr>
          <p:cNvPr id="497" name="Google Shape;497;p45"/>
          <p:cNvSpPr txBox="1"/>
          <p:nvPr/>
        </p:nvSpPr>
        <p:spPr>
          <a:xfrm>
            <a:off x="9189566" y="4233517"/>
            <a:ext cx="24306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Monitor outcomes and adjust protocols.</a:t>
            </a:r>
            <a:endParaRPr/>
          </a:p>
        </p:txBody>
      </p:sp>
      <p:sp>
        <p:nvSpPr>
          <p:cNvPr id="498" name="Google Shape;498;p4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THE ETHICAL DECISION LOOP</a:t>
            </a:r>
            <a:endParaRPr dirty="0"/>
          </a:p>
        </p:txBody>
      </p:sp>
      <p:sp>
        <p:nvSpPr>
          <p:cNvPr id="499" name="Google Shape;499;p45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36AD22-A7D1-4232-B6FE-22A2B2D5C3C6}"/>
              </a:ext>
            </a:extLst>
          </p:cNvPr>
          <p:cNvSpPr txBox="1"/>
          <p:nvPr/>
        </p:nvSpPr>
        <p:spPr>
          <a:xfrm>
            <a:off x="470647" y="2019617"/>
            <a:ext cx="11250706" cy="36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0" u="none" strike="noStrike" dirty="0">
                <a:solidFill>
                  <a:schemeClr val="bg1"/>
                </a:solidFill>
                <a:effectLst/>
                <a:latin typeface="+mj-lt"/>
              </a:rPr>
              <a:t>The </a:t>
            </a:r>
            <a:r>
              <a:rPr lang="en-US" sz="3200" b="1" u="none" strike="noStrike" dirty="0">
                <a:solidFill>
                  <a:schemeClr val="bg1"/>
                </a:solidFill>
                <a:effectLst/>
                <a:latin typeface="+mj-lt"/>
              </a:rPr>
              <a:t>University of Virginia (UVA)</a:t>
            </a:r>
            <a:r>
              <a:rPr lang="en-US" sz="3200" dirty="0">
                <a:solidFill>
                  <a:schemeClr val="bg1"/>
                </a:solidFill>
                <a:latin typeface="+mj-lt"/>
              </a:rPr>
              <a:t> stands out as the premier institution for engineering ethics resources. It hosts the internationally renowned </a:t>
            </a:r>
            <a:r>
              <a:rPr lang="en-US" sz="3200" b="0" u="none" strike="noStrike" dirty="0">
                <a:solidFill>
                  <a:schemeClr val="bg1"/>
                </a:solidFill>
                <a:effectLst/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Ethics Center (OEC)</a:t>
            </a:r>
            <a:r>
              <a:rPr lang="en-US" sz="3200" dirty="0">
                <a:solidFill>
                  <a:schemeClr val="bg1"/>
                </a:solidFill>
                <a:latin typeface="+mj-lt"/>
              </a:rPr>
              <a:t>, which serves as a massive digital library and clearinghouse for STEM ethics resources, case studies, and research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17434-5392-4F38-BB71-53C08E5B8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5859" y="438947"/>
            <a:ext cx="8241312" cy="130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30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1414</Words>
  <Application>Microsoft Office PowerPoint</Application>
  <PresentationFormat>Widescreen</PresentationFormat>
  <Paragraphs>197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Open Sans</vt:lpstr>
      <vt:lpstr>Calibri</vt:lpstr>
      <vt:lpstr>Malgun Gothic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Tofigh Heidarzadeh</cp:lastModifiedBy>
  <cp:revision>23</cp:revision>
  <dcterms:modified xsi:type="dcterms:W3CDTF">2026-05-20T20:44:53Z</dcterms:modified>
</cp:coreProperties>
</file>