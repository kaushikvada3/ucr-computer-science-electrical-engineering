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9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287" r:id="rId33"/>
    <p:sldId id="290" r:id="rId34"/>
    <p:sldId id="289" r:id="rId35"/>
  </p:sldIdLst>
  <p:sldSz cx="12192000" cy="6858000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Fira Code" panose="020B0809050000020004" pitchFamily="49" charset="0"/>
      <p:regular r:id="rId41"/>
      <p:bold r:id="rId42"/>
    </p:embeddedFont>
    <p:embeddedFont>
      <p:font typeface="Inter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40AA4E-4281-47BD-A289-B14DD2C969B7}">
  <a:tblStyle styleId="{4640AA4E-4281-47BD-A289-B14DD2C969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808AFB-0151-59E7-3FC2-7D7C0D614FC7}"/>
              </a:ext>
            </a:extLst>
          </p:cNvPr>
          <p:cNvSpPr txBox="1"/>
          <p:nvPr/>
        </p:nvSpPr>
        <p:spPr>
          <a:xfrm>
            <a:off x="1251789" y="1272018"/>
            <a:ext cx="933460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ENGR181W</a:t>
            </a:r>
          </a:p>
          <a:p>
            <a:pPr algn="ctr"/>
            <a:endParaRPr lang="en-US" sz="48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Technical Communication and Documentation </a:t>
            </a:r>
          </a:p>
        </p:txBody>
      </p:sp>
    </p:spTree>
    <p:extLst>
      <p:ext uri="{BB962C8B-B14F-4D97-AF65-F5344CB8AC3E}">
        <p14:creationId xmlns:p14="http://schemas.microsoft.com/office/powerpoint/2010/main" val="1427056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585436" y="2232719"/>
            <a:ext cx="9021127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MASTERING WHITE PAPERS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Inter"/>
                <a:ea typeface="Inter"/>
                <a:sym typeface="Inter"/>
              </a:rPr>
              <a:t>White Papers vs. Report</a:t>
            </a:r>
            <a:endParaRPr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720167" y="4592051"/>
            <a:ext cx="8970557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accent6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The Bridge Between Engineering Theory and Industrial Authority</a:t>
            </a:r>
            <a:endParaRPr sz="3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914900" y="647817"/>
            <a:ext cx="1905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2532" y="1212835"/>
            <a:ext cx="7381875" cy="38899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860595" y="2916435"/>
            <a:ext cx="6470808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THE STRATEGIC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 IMPERATIVE</a:t>
            </a:r>
            <a:endParaRPr/>
          </a:p>
        </p:txBody>
      </p:sp>
      <p:sp>
        <p:nvSpPr>
          <p:cNvPr id="2" name="Google Shape;148;p18">
            <a:extLst>
              <a:ext uri="{FF2B5EF4-FFF2-40B4-BE49-F238E27FC236}">
                <a16:creationId xmlns:a16="http://schemas.microsoft.com/office/drawing/2014/main" id="{CFA87CBD-F6F2-8489-42D6-3B982951AD92}"/>
              </a:ext>
            </a:extLst>
          </p:cNvPr>
          <p:cNvSpPr txBox="1"/>
          <p:nvPr/>
        </p:nvSpPr>
        <p:spPr>
          <a:xfrm>
            <a:off x="3367086" y="2088248"/>
            <a:ext cx="54578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SECTION 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2995612"/>
            <a:ext cx="24003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84%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362325" y="3267075"/>
            <a:ext cx="866108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OF TECH B2B BUYERS</a:t>
            </a:r>
            <a:endParaRPr sz="2800"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3362324" y="3676650"/>
            <a:ext cx="871094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Consult white papers during the evaluation phase of complex electrical engineering systems. It is the gold standard for "Technical Trust."</a:t>
            </a:r>
            <a:endParaRPr sz="2800"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INDUSTRY INFLUENCE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62187"/>
            <a:ext cx="34861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62187"/>
            <a:ext cx="34861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62187"/>
            <a:ext cx="348615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803910" y="33099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R&amp;D ENGINEER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03910" y="3776662"/>
            <a:ext cx="311277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Used to document new architectures and patent-adjacent research findings for stakeholders.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4575810" y="33099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FIELD APPS (FAE*)</a:t>
            </a:r>
            <a:endParaRPr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4648200" y="3776662"/>
            <a:ext cx="28956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Bridging the gap between complex silicon features and customer implementation needs.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347710" y="33099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PRODUCT MARKETING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20100" y="3776662"/>
            <a:ext cx="28956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Translating technical specs into high-value business outcomes for executive buyers.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2605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6050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9300" y="26050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CAREER APPLICATIONS FOR EE GRADUATES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E5C101-8E43-4862-82E3-69A6E3BA457F}"/>
              </a:ext>
            </a:extLst>
          </p:cNvPr>
          <p:cNvSpPr txBox="1"/>
          <p:nvPr/>
        </p:nvSpPr>
        <p:spPr>
          <a:xfrm>
            <a:off x="654424" y="6066222"/>
            <a:ext cx="110983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*Field Applications Engineer. An FAE is a hybrid technical-business role that acts as the bridge between a technology company (like a chip manufacturer) and its clients. 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1498" y="2219326"/>
            <a:ext cx="3349477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605314" y="1701542"/>
            <a:ext cx="54906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ESTABLISHING AUTHORITY</a:t>
            </a:r>
            <a:endParaRPr sz="2000"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2628900"/>
            <a:ext cx="7547566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 a graduating student, you lack years of experience.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well-written white paper on your capstone project serves as objective proof of your technical depth and communication skills.</a:t>
            </a:r>
            <a:endParaRPr sz="1800" b="1" dirty="0"/>
          </a:p>
        </p:txBody>
      </p:sp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46558" y="2228851"/>
            <a:ext cx="3254892" cy="215176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979081" y="4448659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Showcases logical problem-solving.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921782" y="5042544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Proves ability to handle complex data.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921782" y="5717374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Differentiates you from thousands of applicants.</a:t>
            </a:r>
            <a:endParaRPr b="1" dirty="0">
              <a:solidFill>
                <a:srgbClr val="FFFF00"/>
              </a:solidFill>
            </a:endParaRPr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1496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144" y="51062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144" y="578207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BEYOND THE RESUME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4130" y="1483965"/>
            <a:ext cx="9181213" cy="3889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3367087" y="2322165"/>
            <a:ext cx="54578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SECTION 02</a:t>
            </a:r>
            <a:endParaRPr dirty="0"/>
          </a:p>
        </p:txBody>
      </p:sp>
      <p:sp>
        <p:nvSpPr>
          <p:cNvPr id="149" name="Google Shape;149;p18"/>
          <p:cNvSpPr txBox="1"/>
          <p:nvPr/>
        </p:nvSpPr>
        <p:spPr>
          <a:xfrm>
            <a:off x="3230641" y="2916435"/>
            <a:ext cx="5730716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DEFINING THE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 MEDIUM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90825"/>
            <a:ext cx="522922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790825"/>
            <a:ext cx="522922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760333" y="3086100"/>
            <a:ext cx="487060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TECHNICAL GUIDE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76300" y="3552825"/>
            <a:ext cx="46386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 data-driven document that defines a complex challenge and outlines a technical solution based on engineering principles.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561058" y="3086100"/>
            <a:ext cx="487060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EDUCATIONAL MARKETING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677025" y="3552825"/>
            <a:ext cx="46386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It aims to persuade by informing. It does not "sell" features; it "validates" solutions through rigorous analysis.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WHAT IS A WHITE PAPER?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20"/>
          <p:cNvGraphicFramePr/>
          <p:nvPr>
            <p:extLst>
              <p:ext uri="{D42A27DB-BD31-4B8C-83A1-F6EECF244321}">
                <p14:modId xmlns:p14="http://schemas.microsoft.com/office/powerpoint/2010/main" val="1495854261"/>
              </p:ext>
            </p:extLst>
          </p:nvPr>
        </p:nvGraphicFramePr>
        <p:xfrm>
          <a:off x="581025" y="2462212"/>
          <a:ext cx="11020400" cy="3009875"/>
        </p:xfrm>
        <a:graphic>
          <a:graphicData uri="http://schemas.openxmlformats.org/drawingml/2006/table">
            <a:tbl>
              <a:tblPr firstRow="1" bandRow="1">
                <a:noFill/>
                <a:tableStyleId>{4640AA4E-4281-47BD-A289-B14DD2C969B7}</a:tableStyleId>
              </a:tblPr>
              <a:tblGrid>
                <a:gridCol w="19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Academic Research Paper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Technical White Paper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Goal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Advance academic knowledge.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Solve an industrial/business problem.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Tone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theoretical &amp; objective.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Persuasive &amp; application-focused.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Focus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Novelty of research.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Reliability &amp; efficiency in practice.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Audience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Peers &amp; Professors.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Engineers &amp; Decision-makers.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9" name="Google Shape;169;p2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WHITE PAPER VS RESEARCH PAPER</a:t>
            </a:r>
            <a:endParaRPr dirty="0"/>
          </a:p>
        </p:txBody>
      </p:sp>
      <p:sp>
        <p:nvSpPr>
          <p:cNvPr id="170" name="Google Shape;170;p20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621744" y="2524124"/>
            <a:ext cx="54906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TECHNICAL MANUALS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6381750" y="294322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WHITE PAPERS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923925" y="3314700"/>
            <a:ext cx="4886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Focus: "How to use it."</a:t>
            </a:r>
            <a:endParaRPr b="1" dirty="0"/>
          </a:p>
        </p:txBody>
      </p:sp>
      <p:sp>
        <p:nvSpPr>
          <p:cNvPr id="179" name="Google Shape;179;p21"/>
          <p:cNvSpPr txBox="1"/>
          <p:nvPr/>
        </p:nvSpPr>
        <p:spPr>
          <a:xfrm>
            <a:off x="923925" y="3810000"/>
            <a:ext cx="4886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Functional descriptions.</a:t>
            </a:r>
            <a:endParaRPr b="1" dirty="0"/>
          </a:p>
        </p:txBody>
      </p:sp>
      <p:sp>
        <p:nvSpPr>
          <p:cNvPr id="180" name="Google Shape;180;p21"/>
          <p:cNvSpPr txBox="1"/>
          <p:nvPr/>
        </p:nvSpPr>
        <p:spPr>
          <a:xfrm>
            <a:off x="923925" y="4305300"/>
            <a:ext cx="4886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Non-persuasive.</a:t>
            </a:r>
            <a:endParaRPr b="1"/>
          </a:p>
        </p:txBody>
      </p:sp>
      <p:sp>
        <p:nvSpPr>
          <p:cNvPr id="181" name="Google Shape;181;p21"/>
          <p:cNvSpPr txBox="1"/>
          <p:nvPr/>
        </p:nvSpPr>
        <p:spPr>
          <a:xfrm>
            <a:off x="6696075" y="3314700"/>
            <a:ext cx="4914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Focus: "Why this solution works."</a:t>
            </a:r>
            <a:endParaRPr b="1" dirty="0"/>
          </a:p>
        </p:txBody>
      </p:sp>
      <p:sp>
        <p:nvSpPr>
          <p:cNvPr id="182" name="Google Shape;182;p21"/>
          <p:cNvSpPr txBox="1"/>
          <p:nvPr/>
        </p:nvSpPr>
        <p:spPr>
          <a:xfrm>
            <a:off x="6696075" y="3810000"/>
            <a:ext cx="4914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Theoretical justification.</a:t>
            </a:r>
            <a:endParaRPr b="1" dirty="0"/>
          </a:p>
        </p:txBody>
      </p:sp>
      <p:sp>
        <p:nvSpPr>
          <p:cNvPr id="183" name="Google Shape;183;p21"/>
          <p:cNvSpPr txBox="1"/>
          <p:nvPr/>
        </p:nvSpPr>
        <p:spPr>
          <a:xfrm>
            <a:off x="6696075" y="4305300"/>
            <a:ext cx="4914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Comparative analysis.</a:t>
            </a:r>
            <a:endParaRPr b="1"/>
          </a:p>
        </p:txBody>
      </p:sp>
      <p:pic>
        <p:nvPicPr>
          <p:cNvPr id="184" name="Google Shape;1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432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8385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338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3432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8385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333875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WHITE PAPER VS TECHNICAL MANUAL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962025" y="2538412"/>
            <a:ext cx="10648950" cy="219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1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"Engineering is the art of organizing and directing men [humankind] and controlling the forces and materials of nature for the benefit of the human race."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50" i="1" dirty="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Henry G. Stott, IEEE President 1907</a:t>
            </a:r>
            <a:r>
              <a:rPr lang="en-US" sz="2850" b="0" i="1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dirty="0"/>
          </a:p>
        </p:txBody>
      </p:sp>
      <p:sp>
        <p:nvSpPr>
          <p:cNvPr id="198" name="Google Shape;198;p22"/>
          <p:cNvSpPr/>
          <p:nvPr/>
        </p:nvSpPr>
        <p:spPr>
          <a:xfrm>
            <a:off x="581025" y="2538412"/>
            <a:ext cx="76200" cy="17811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5141" y="1483965"/>
            <a:ext cx="8910082" cy="3889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3709987" y="2322165"/>
            <a:ext cx="47720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SECTION 03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3590686" y="2916435"/>
            <a:ext cx="5010626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ANATOMY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 STRUCTURE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/>
          <p:nvPr/>
        </p:nvSpPr>
        <p:spPr>
          <a:xfrm>
            <a:off x="581025" y="3771900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1170086" y="35337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476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539665" y="4152900"/>
            <a:ext cx="173709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3045172" y="35337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476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2414751" y="4152900"/>
            <a:ext cx="173709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4920257" y="35337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476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4289836" y="4152900"/>
            <a:ext cx="17370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TECH BACKGROUND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6795343" y="35337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476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6164921" y="4152900"/>
            <a:ext cx="20912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9137153" y="35528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476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8506732" y="4122122"/>
            <a:ext cx="17370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RESULTS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10545514" y="35337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476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9915093" y="4152900"/>
            <a:ext cx="17370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CTA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THE 6-STEP LAYOUT STRUCTURE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581025" y="2769670"/>
            <a:ext cx="54906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THE "HOOK" TITLE</a:t>
            </a:r>
            <a:endParaRPr sz="2000" dirty="0">
              <a:solidFill>
                <a:srgbClr val="FFFF00"/>
              </a:solidFill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581025" y="3276600"/>
            <a:ext cx="5229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Avoid: "A Study on Buck Converters."</a:t>
            </a:r>
            <a:endParaRPr b="1" dirty="0"/>
          </a:p>
        </p:txBody>
      </p:sp>
      <p:sp>
        <p:nvSpPr>
          <p:cNvPr id="235" name="Google Shape;235;p25"/>
          <p:cNvSpPr txBox="1"/>
          <p:nvPr/>
        </p:nvSpPr>
        <p:spPr>
          <a:xfrm>
            <a:off x="581025" y="3771900"/>
            <a:ext cx="5229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Use: "Optimizing Efficiency in Low-Voltage Buck Converters for Automotive IoT Applications."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6381750" y="2867025"/>
            <a:ext cx="54906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THE SUMMARY</a:t>
            </a:r>
            <a:endParaRPr sz="2000" b="1">
              <a:solidFill>
                <a:srgbClr val="FFFF00"/>
              </a:solidFill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6381750" y="3276600"/>
            <a:ext cx="52292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250-word snapshot of the problem, the specific engineering innovation, and the quantified result (e.g., "95% efficiency achieved").</a:t>
            </a:r>
            <a:endParaRPr b="1" dirty="0"/>
          </a:p>
        </p:txBody>
      </p:sp>
      <p:sp>
        <p:nvSpPr>
          <p:cNvPr id="238" name="Google Shape;238;p2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TITLE &amp; EXECUTIVE SUMMARY</a:t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202" y="-3721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202" y="1828689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6241" y="1900902"/>
            <a:ext cx="2725922" cy="27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4391248" y="2353271"/>
            <a:ext cx="54906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THE PROBLEM STATEMENT</a:t>
            </a:r>
            <a:endParaRPr sz="2000" dirty="0">
              <a:solidFill>
                <a:srgbClr val="FFFF00"/>
              </a:solidFill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4391248" y="3044873"/>
            <a:ext cx="6677468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Great white papers begin with a pain point.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 EE, this is usually a limitation of current technology (thermal constraints, latency, noise, or cost).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5438554" y="5474516"/>
            <a:ext cx="6359121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Establish Urgency: What happens if this problem isn't solved? (e.g., data corruption in high-speed signaling).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DEFINING THE CHALLENGE</a:t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581025" y="2524125"/>
            <a:ext cx="115814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BACKGROUND &amp; CONTEXT</a:t>
            </a:r>
            <a:endParaRPr sz="2000" dirty="0">
              <a:solidFill>
                <a:srgbClr val="FFFF00"/>
              </a:solidFill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581025" y="2933700"/>
            <a:ext cx="110299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Before presenting your solution, educate the reader on the </a:t>
            </a:r>
            <a:r>
              <a:rPr lang="en-US" sz="2000" b="1" i="1" u="none" strike="noStrike" cap="none" dirty="0">
                <a:solidFill>
                  <a:schemeClr val="accent6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current landscape</a:t>
            </a: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b="1" dirty="0"/>
          </a:p>
        </p:txBody>
      </p:sp>
      <p:sp>
        <p:nvSpPr>
          <p:cNvPr id="259" name="Google Shape;259;p27"/>
          <p:cNvSpPr txBox="1"/>
          <p:nvPr/>
        </p:nvSpPr>
        <p:spPr>
          <a:xfrm>
            <a:off x="952500" y="3581400"/>
            <a:ext cx="106584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Reference industry standards (IEEE, CISPR).</a:t>
            </a:r>
            <a:endParaRPr sz="2000" b="1" dirty="0"/>
          </a:p>
        </p:txBody>
      </p:sp>
      <p:sp>
        <p:nvSpPr>
          <p:cNvPr id="260" name="Google Shape;260;p27"/>
          <p:cNvSpPr txBox="1"/>
          <p:nvPr/>
        </p:nvSpPr>
        <p:spPr>
          <a:xfrm>
            <a:off x="952500" y="4076700"/>
            <a:ext cx="106584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Acknowledge existing methodologies.</a:t>
            </a:r>
            <a:endParaRPr sz="2000" b="1" dirty="0"/>
          </a:p>
        </p:txBody>
      </p:sp>
      <p:sp>
        <p:nvSpPr>
          <p:cNvPr id="261" name="Google Shape;261;p27"/>
          <p:cNvSpPr txBox="1"/>
          <p:nvPr/>
        </p:nvSpPr>
        <p:spPr>
          <a:xfrm>
            <a:off x="952500" y="4572000"/>
            <a:ext cx="106584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the "Gap" your work fills.</a:t>
            </a:r>
            <a:endParaRPr sz="2000" b="1" dirty="0"/>
          </a:p>
        </p:txBody>
      </p:sp>
      <p:pic>
        <p:nvPicPr>
          <p:cNvPr id="262" name="Google Shape;26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09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05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6005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THE TECHNICAL FOUNDATION</a:t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525" y="-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/>
          <p:cNvSpPr txBox="1"/>
          <p:nvPr/>
        </p:nvSpPr>
        <p:spPr>
          <a:xfrm>
            <a:off x="581025" y="1700212"/>
            <a:ext cx="519064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THE METHODOLOGY</a:t>
            </a:r>
            <a:endParaRPr dirty="0"/>
          </a:p>
        </p:txBody>
      </p:sp>
      <p:sp>
        <p:nvSpPr>
          <p:cNvPr id="273" name="Google Shape;273;p28"/>
          <p:cNvSpPr/>
          <p:nvPr/>
        </p:nvSpPr>
        <p:spPr>
          <a:xfrm>
            <a:off x="581025" y="2281237"/>
            <a:ext cx="4943475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581025" y="2776537"/>
            <a:ext cx="885848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is where your engineering consistency shines.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Describe your design flow, circuit topology, and simulation parameters.</a:t>
            </a:r>
            <a:endParaRPr sz="1800" b="1" dirty="0"/>
          </a:p>
        </p:txBody>
      </p:sp>
      <p:sp>
        <p:nvSpPr>
          <p:cNvPr id="275" name="Google Shape;275;p28"/>
          <p:cNvSpPr txBox="1"/>
          <p:nvPr/>
        </p:nvSpPr>
        <p:spPr>
          <a:xfrm>
            <a:off x="581025" y="4071937"/>
            <a:ext cx="7085438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schematics and flowcharts to reduce cognitive load on the reader.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Words explain the 'why'; visuals explain the 'how'.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276" name="Google Shape;27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1981" y="9525"/>
            <a:ext cx="3240494" cy="331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 txBox="1"/>
          <p:nvPr/>
        </p:nvSpPr>
        <p:spPr>
          <a:xfrm>
            <a:off x="581025" y="1943100"/>
            <a:ext cx="115814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EFFICIENCY VS FREQUENCY RESPONSE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283" name="Google Shape;28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2675"/>
            <a:ext cx="110299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/>
          <p:nvPr/>
        </p:nvSpPr>
        <p:spPr>
          <a:xfrm>
            <a:off x="581025" y="5305425"/>
            <a:ext cx="11029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Figure 1: Comparative Analysis of Switching Loss (dB)</a:t>
            </a:r>
            <a:endParaRPr b="1" dirty="0"/>
          </a:p>
        </p:txBody>
      </p:sp>
      <p:sp>
        <p:nvSpPr>
          <p:cNvPr id="285" name="Google Shape;285;p2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VALIDATION THROUGH DATA</a:t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66987"/>
            <a:ext cx="5372100" cy="388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66987"/>
            <a:ext cx="5692930" cy="388724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 txBox="1"/>
          <p:nvPr/>
        </p:nvSpPr>
        <p:spPr>
          <a:xfrm>
            <a:off x="756761" y="3614737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SYNTHESIS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876300" y="4081462"/>
            <a:ext cx="47815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Summarize how the data supports the original problem statement.</a:t>
            </a:r>
            <a:endParaRPr sz="2000" b="1" dirty="0"/>
          </a:p>
        </p:txBody>
      </p:sp>
      <p:sp>
        <p:nvSpPr>
          <p:cNvPr id="296" name="Google Shape;296;p30"/>
          <p:cNvSpPr txBox="1"/>
          <p:nvPr/>
        </p:nvSpPr>
        <p:spPr>
          <a:xfrm>
            <a:off x="6414611" y="3614737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THE CTA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6534150" y="4081462"/>
            <a:ext cx="47815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Guide the reader. Should they download an Altium file?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Request a dev kit? Contact R&amp;D?</a:t>
            </a:r>
            <a:endParaRPr sz="2000" b="1" dirty="0"/>
          </a:p>
        </p:txBody>
      </p:sp>
      <p:pic>
        <p:nvPicPr>
          <p:cNvPr id="298" name="Google Shape;298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67050" y="29098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96325" y="29098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CONCLUSION &amp; CTA</a:t>
            </a: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9553" y="1483965"/>
            <a:ext cx="8250866" cy="3889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/>
          <p:nvPr/>
        </p:nvSpPr>
        <p:spPr>
          <a:xfrm>
            <a:off x="3386137" y="2322165"/>
            <a:ext cx="54197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SECTION 04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3250644" y="2916435"/>
            <a:ext cx="5690711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REAL-WORLD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 EE EXAMPLES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3163"/>
            <a:ext cx="1233553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2"/>
          <p:cNvSpPr txBox="1"/>
          <p:nvPr/>
        </p:nvSpPr>
        <p:spPr>
          <a:xfrm>
            <a:off x="581025" y="1038224"/>
            <a:ext cx="51906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EXAMPLE 1: SEMICONDUCTOR</a:t>
            </a:r>
            <a:endParaRPr sz="2400" dirty="0">
              <a:solidFill>
                <a:srgbClr val="FFFF00"/>
              </a:solidFill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666085" y="1750338"/>
            <a:ext cx="580914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Topic: </a:t>
            </a:r>
            <a:r>
              <a:rPr lang="en-US" sz="20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GaN</a:t>
            </a: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(Gallium Nitride) Power Density.</a:t>
            </a:r>
            <a:endParaRPr sz="2000" b="1" dirty="0"/>
          </a:p>
        </p:txBody>
      </p:sp>
      <p:sp>
        <p:nvSpPr>
          <p:cNvPr id="317" name="Google Shape;317;p32"/>
          <p:cNvSpPr txBox="1"/>
          <p:nvPr/>
        </p:nvSpPr>
        <p:spPr>
          <a:xfrm>
            <a:off x="581025" y="2821305"/>
            <a:ext cx="629292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Companies like </a:t>
            </a:r>
            <a:r>
              <a:rPr lang="en-US" sz="20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</a:t>
            </a: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lang="en-US" sz="20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Infineon*</a:t>
            </a: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white papers to prove that </a:t>
            </a:r>
            <a:r>
              <a:rPr lang="en-US" sz="20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GaN</a:t>
            </a: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allows for 3x higher power density in chargers compared to Silicon.</a:t>
            </a:r>
            <a:endParaRPr sz="2000" b="1" dirty="0"/>
          </a:p>
        </p:txBody>
      </p:sp>
      <p:sp>
        <p:nvSpPr>
          <p:cNvPr id="318" name="Google Shape;318;p32"/>
          <p:cNvSpPr txBox="1"/>
          <p:nvPr/>
        </p:nvSpPr>
        <p:spPr>
          <a:xfrm>
            <a:off x="581025" y="4877157"/>
            <a:ext cx="65587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"Proof" usually includes thermal imaging and size comparisons.</a:t>
            </a:r>
            <a:endParaRPr b="1" dirty="0"/>
          </a:p>
        </p:txBody>
      </p:sp>
      <p:pic>
        <p:nvPicPr>
          <p:cNvPr id="319" name="Google Shape;319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8860" y="9525"/>
            <a:ext cx="4553615" cy="52270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A9F465-1A2F-B488-5A27-13EDF52BDDFE}"/>
              </a:ext>
            </a:extLst>
          </p:cNvPr>
          <p:cNvSpPr txBox="1"/>
          <p:nvPr/>
        </p:nvSpPr>
        <p:spPr>
          <a:xfrm>
            <a:off x="581025" y="6077661"/>
            <a:ext cx="6265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*Texas Instruments (TI) and Infineon Technologies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-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 txBox="1"/>
          <p:nvPr/>
        </p:nvSpPr>
        <p:spPr>
          <a:xfrm>
            <a:off x="581025" y="1399177"/>
            <a:ext cx="51906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EXAMPLE 2: POWER GRID</a:t>
            </a:r>
            <a:endParaRPr sz="2000" dirty="0">
              <a:solidFill>
                <a:srgbClr val="FFFF00"/>
              </a:solidFill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581025" y="2595562"/>
            <a:ext cx="49434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Topic: EV Fast Charging Challenges.</a:t>
            </a:r>
            <a:endParaRPr sz="2000" b="1" dirty="0"/>
          </a:p>
        </p:txBody>
      </p:sp>
      <p:sp>
        <p:nvSpPr>
          <p:cNvPr id="327" name="Google Shape;327;p33"/>
          <p:cNvSpPr txBox="1"/>
          <p:nvPr/>
        </p:nvSpPr>
        <p:spPr>
          <a:xfrm>
            <a:off x="581025" y="3281362"/>
            <a:ext cx="6973408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Siemens</a:t>
            </a: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publishes papers on how ultra-fast charging stations (350kW+) impact local grid stability and the role of stationary battery storage in buffering load spikes.</a:t>
            </a:r>
            <a:endParaRPr sz="2000" b="1" dirty="0"/>
          </a:p>
        </p:txBody>
      </p:sp>
      <p:pic>
        <p:nvPicPr>
          <p:cNvPr id="328" name="Google Shape;32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591" y="9525"/>
            <a:ext cx="4053884" cy="4573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-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4"/>
          <p:cNvSpPr txBox="1"/>
          <p:nvPr/>
        </p:nvSpPr>
        <p:spPr>
          <a:xfrm>
            <a:off x="581025" y="1721698"/>
            <a:ext cx="51906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EXAMPLE 3: IOT &amp; COMM</a:t>
            </a:r>
            <a:endParaRPr sz="2000">
              <a:solidFill>
                <a:srgbClr val="FFFF00"/>
              </a:solidFill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581025" y="2747962"/>
            <a:ext cx="764325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Topic: LPWAN* (</a:t>
            </a:r>
            <a:r>
              <a:rPr lang="en-US" sz="240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LoRaWAN</a:t>
            </a:r>
            <a:r>
              <a:rPr lang="en-US" sz="240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for Smart Cities.</a:t>
            </a:r>
            <a:endParaRPr sz="2400" dirty="0"/>
          </a:p>
        </p:txBody>
      </p:sp>
      <p:sp>
        <p:nvSpPr>
          <p:cNvPr id="336" name="Google Shape;336;p34"/>
          <p:cNvSpPr txBox="1"/>
          <p:nvPr/>
        </p:nvSpPr>
        <p:spPr>
          <a:xfrm>
            <a:off x="581025" y="3872562"/>
            <a:ext cx="731364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White papers focus on signal penetration in dense urban environments and the trade-offs between data rate and range in sub-GHz bands.</a:t>
            </a:r>
            <a:endParaRPr sz="2000" b="1" dirty="0"/>
          </a:p>
        </p:txBody>
      </p:sp>
      <p:pic>
        <p:nvPicPr>
          <p:cNvPr id="337" name="Google Shape;337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94405" y="9525"/>
            <a:ext cx="3788070" cy="45996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B93C34-40D9-4E01-4E2F-D1C2A79ECB31}"/>
              </a:ext>
            </a:extLst>
          </p:cNvPr>
          <p:cNvSpPr txBox="1"/>
          <p:nvPr/>
        </p:nvSpPr>
        <p:spPr>
          <a:xfrm>
            <a:off x="581025" y="5942491"/>
            <a:ext cx="61961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*LPWAN = Low-Power Wide-Area Network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5"/>
          <p:cNvSpPr txBox="1"/>
          <p:nvPr/>
        </p:nvSpPr>
        <p:spPr>
          <a:xfrm>
            <a:off x="581025" y="1328294"/>
            <a:ext cx="51906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EXAMPLE 4: AI &amp; EDGE</a:t>
            </a:r>
            <a:endParaRPr sz="2400" dirty="0">
              <a:solidFill>
                <a:srgbClr val="FFFF00"/>
              </a:solidFill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501281" y="1960740"/>
            <a:ext cx="682455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Topic: Neural Processing Units (NPUs).</a:t>
            </a:r>
            <a:endParaRPr sz="2400" b="1" dirty="0"/>
          </a:p>
        </p:txBody>
      </p:sp>
      <p:sp>
        <p:nvSpPr>
          <p:cNvPr id="345" name="Google Shape;345;p35"/>
          <p:cNvSpPr txBox="1"/>
          <p:nvPr/>
        </p:nvSpPr>
        <p:spPr>
          <a:xfrm>
            <a:off x="581025" y="3433762"/>
            <a:ext cx="709568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Silicon vendors like </a:t>
            </a:r>
            <a:r>
              <a:rPr lang="en-US" sz="20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ARM</a:t>
            </a: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lang="en-US" sz="20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Synopsys</a:t>
            </a: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demonstrate how specialized hardware accelerators reduce TOPS/Watt* for vision processing at the edge.</a:t>
            </a:r>
            <a:endParaRPr sz="2000" b="1" dirty="0"/>
          </a:p>
        </p:txBody>
      </p:sp>
      <p:pic>
        <p:nvPicPr>
          <p:cNvPr id="346" name="Google Shape;346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2642" y="9525"/>
            <a:ext cx="4069833" cy="4493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D8C6CF-A6BB-1B9D-69AA-5A61F9E6F575}"/>
              </a:ext>
            </a:extLst>
          </p:cNvPr>
          <p:cNvSpPr txBox="1"/>
          <p:nvPr/>
        </p:nvSpPr>
        <p:spPr>
          <a:xfrm>
            <a:off x="360178" y="6217672"/>
            <a:ext cx="61961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*TOPS (Tera Operations Per Second)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1687" y="1483965"/>
            <a:ext cx="8048625" cy="3889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6"/>
          <p:cNvSpPr txBox="1"/>
          <p:nvPr/>
        </p:nvSpPr>
        <p:spPr>
          <a:xfrm>
            <a:off x="2681287" y="2322165"/>
            <a:ext cx="6829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SECTION 05</a:t>
            </a:r>
            <a:endParaRPr/>
          </a:p>
        </p:txBody>
      </p:sp>
      <p:sp>
        <p:nvSpPr>
          <p:cNvPr id="354" name="Google Shape;354;p36"/>
          <p:cNvSpPr txBox="1"/>
          <p:nvPr/>
        </p:nvSpPr>
        <p:spPr>
          <a:xfrm>
            <a:off x="2510551" y="2916435"/>
            <a:ext cx="7170896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THE GRADUATE'S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 ROADMAP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691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7"/>
          <p:cNvSpPr txBox="1"/>
          <p:nvPr/>
        </p:nvSpPr>
        <p:spPr>
          <a:xfrm>
            <a:off x="671402" y="1747837"/>
            <a:ext cx="54906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MINING YOUR PROJECT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576263" y="2531864"/>
            <a:ext cx="722803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Don't let your final year project gather dust on a shelf. Convert your technical report into a professional white paper.</a:t>
            </a:r>
            <a:endParaRPr sz="1800" b="1" dirty="0"/>
          </a:p>
        </p:txBody>
      </p:sp>
      <p:sp>
        <p:nvSpPr>
          <p:cNvPr id="363" name="Google Shape;363;p37"/>
          <p:cNvSpPr txBox="1"/>
          <p:nvPr/>
        </p:nvSpPr>
        <p:spPr>
          <a:xfrm>
            <a:off x="581025" y="4076700"/>
            <a:ext cx="712758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Focus on the </a:t>
            </a:r>
            <a:r>
              <a:rPr lang="en-US" sz="18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Engineering Decisions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Why did you choose a MOSFET over an IGBT*? Why that specific filtering topology?</a:t>
            </a:r>
            <a:endParaRPr sz="1800" b="1" dirty="0"/>
          </a:p>
        </p:txBody>
      </p:sp>
      <p:pic>
        <p:nvPicPr>
          <p:cNvPr id="364" name="Google Shape;364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5527" y="166687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YOUR CAPSTONE AS A PAPER</a:t>
            </a:r>
            <a:endParaRPr/>
          </a:p>
        </p:txBody>
      </p:sp>
      <p:sp>
        <p:nvSpPr>
          <p:cNvPr id="366" name="Google Shape;366;p37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92B42-05EA-656A-76D4-51C4A21BB308}"/>
              </a:ext>
            </a:extLst>
          </p:cNvPr>
          <p:cNvSpPr txBox="1"/>
          <p:nvPr/>
        </p:nvSpPr>
        <p:spPr>
          <a:xfrm>
            <a:off x="576263" y="5876042"/>
            <a:ext cx="6193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*Insulated-Gate Bipolar Transistor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8"/>
          <p:cNvSpPr txBox="1"/>
          <p:nvPr/>
        </p:nvSpPr>
        <p:spPr>
          <a:xfrm>
            <a:off x="1042510" y="2666359"/>
            <a:ext cx="106584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Host your white papers on LinkedIn or a personal GitHub/Portfolio site.</a:t>
            </a:r>
            <a:endParaRPr sz="1800" b="1" dirty="0"/>
          </a:p>
        </p:txBody>
      </p:sp>
      <p:sp>
        <p:nvSpPr>
          <p:cNvPr id="373" name="Google Shape;373;p38"/>
          <p:cNvSpPr txBox="1"/>
          <p:nvPr/>
        </p:nvSpPr>
        <p:spPr>
          <a:xfrm>
            <a:off x="952500" y="3624262"/>
            <a:ext cx="106584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Send relevant papers ahead of interviews as "technical pre-reading."</a:t>
            </a:r>
            <a:endParaRPr sz="1800" b="1" dirty="0"/>
          </a:p>
        </p:txBody>
      </p:sp>
      <p:sp>
        <p:nvSpPr>
          <p:cNvPr id="374" name="Google Shape;374;p38"/>
          <p:cNvSpPr txBox="1"/>
          <p:nvPr/>
        </p:nvSpPr>
        <p:spPr>
          <a:xfrm>
            <a:off x="952499" y="4484391"/>
            <a:ext cx="106584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Target niche communities (</a:t>
            </a:r>
            <a:r>
              <a:rPr lang="en-US" sz="18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EEVblog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IEEE Xplore, specific LinkedIn groups).</a:t>
            </a:r>
            <a:endParaRPr sz="1800" b="1" dirty="0"/>
          </a:p>
        </p:txBody>
      </p:sp>
      <p:pic>
        <p:nvPicPr>
          <p:cNvPr id="375" name="Google Shape;37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8239" y="27641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52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939" y="454154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8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BUILDING A PORTFOLIO</a:t>
            </a:r>
            <a:endParaRPr/>
          </a:p>
        </p:txBody>
      </p:sp>
      <p:sp>
        <p:nvSpPr>
          <p:cNvPr id="379" name="Google Shape;379;p38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66987"/>
            <a:ext cx="53721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66987"/>
            <a:ext cx="53721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9"/>
          <p:cNvSpPr txBox="1"/>
          <p:nvPr/>
        </p:nvSpPr>
        <p:spPr>
          <a:xfrm>
            <a:off x="756761" y="3614737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INTERNAL ADVOCATE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388" name="Google Shape;388;p39"/>
          <p:cNvSpPr txBox="1"/>
          <p:nvPr/>
        </p:nvSpPr>
        <p:spPr>
          <a:xfrm>
            <a:off x="876300" y="4081462"/>
            <a:ext cx="47815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white papers to justify new tech stack choices to your future boss.</a:t>
            </a:r>
            <a:endParaRPr sz="1800" b="1" dirty="0"/>
          </a:p>
        </p:txBody>
      </p:sp>
      <p:sp>
        <p:nvSpPr>
          <p:cNvPr id="389" name="Google Shape;389;p39"/>
          <p:cNvSpPr txBox="1"/>
          <p:nvPr/>
        </p:nvSpPr>
        <p:spPr>
          <a:xfrm>
            <a:off x="6414611" y="3614737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CONFERENCE PREP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390" name="Google Shape;390;p39"/>
          <p:cNvSpPr txBox="1"/>
          <p:nvPr/>
        </p:nvSpPr>
        <p:spPr>
          <a:xfrm>
            <a:off x="6534150" y="4081462"/>
            <a:ext cx="47815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white paper is the perfect foundation for a conference talk or poster.</a:t>
            </a:r>
            <a:endParaRPr sz="1800" b="1" dirty="0"/>
          </a:p>
        </p:txBody>
      </p:sp>
      <p:pic>
        <p:nvPicPr>
          <p:cNvPr id="391" name="Google Shape;391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81325" y="29098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39175" y="29098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LEADERSHIP THROUGH WRITING</a:t>
            </a:r>
            <a:endParaRPr/>
          </a:p>
        </p:txBody>
      </p:sp>
      <p:sp>
        <p:nvSpPr>
          <p:cNvPr id="394" name="Google Shape;394;p39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2362" y="1483965"/>
            <a:ext cx="4867275" cy="3889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0"/>
          <p:cNvSpPr txBox="1"/>
          <p:nvPr/>
        </p:nvSpPr>
        <p:spPr>
          <a:xfrm>
            <a:off x="4271962" y="2322165"/>
            <a:ext cx="36480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SECTION 06</a:t>
            </a:r>
            <a:endParaRPr/>
          </a:p>
        </p:txBody>
      </p:sp>
      <p:sp>
        <p:nvSpPr>
          <p:cNvPr id="402" name="Google Shape;402;p40"/>
          <p:cNvSpPr txBox="1"/>
          <p:nvPr/>
        </p:nvSpPr>
        <p:spPr>
          <a:xfrm>
            <a:off x="4180760" y="2916435"/>
            <a:ext cx="3830478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DESIGN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 VISUALS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 txBox="1"/>
          <p:nvPr/>
        </p:nvSpPr>
        <p:spPr>
          <a:xfrm>
            <a:off x="581025" y="1414461"/>
            <a:ext cx="51906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VISUALIZING COMPLEXITY</a:t>
            </a:r>
            <a:endParaRPr sz="2400" dirty="0">
              <a:solidFill>
                <a:srgbClr val="FFFF00"/>
              </a:solidFill>
            </a:endParaRPr>
          </a:p>
        </p:txBody>
      </p:sp>
      <p:sp>
        <p:nvSpPr>
          <p:cNvPr id="409" name="Google Shape;409;p41"/>
          <p:cNvSpPr txBox="1"/>
          <p:nvPr/>
        </p:nvSpPr>
        <p:spPr>
          <a:xfrm>
            <a:off x="581025" y="2595562"/>
            <a:ext cx="7818696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white paper is not a novel.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should be </a:t>
            </a:r>
            <a:r>
              <a:rPr lang="en-US" sz="18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skimmable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	</a:t>
            </a:r>
            <a:r>
              <a:rPr lang="en-US" sz="24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a section takes more than 3 paragraphs 	without a visual, you are losing the reader.</a:t>
            </a:r>
            <a:endParaRPr sz="2400" b="1" dirty="0"/>
          </a:p>
        </p:txBody>
      </p:sp>
      <p:sp>
        <p:nvSpPr>
          <p:cNvPr id="410" name="Google Shape;410;p41"/>
          <p:cNvSpPr txBox="1"/>
          <p:nvPr/>
        </p:nvSpPr>
        <p:spPr>
          <a:xfrm>
            <a:off x="581025" y="4954218"/>
            <a:ext cx="1083834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Callouts for Key Findings: Place critical statistics and achievements in boxed callouts to draw the reader’s attention.</a:t>
            </a:r>
            <a:endParaRPr sz="2000" b="1" dirty="0"/>
          </a:p>
        </p:txBody>
      </p:sp>
      <p:pic>
        <p:nvPicPr>
          <p:cNvPr id="411" name="Google Shape;411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7944" y="9525"/>
            <a:ext cx="3644531" cy="4062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3"/>
          <p:cNvSpPr txBox="1"/>
          <p:nvPr/>
        </p:nvSpPr>
        <p:spPr>
          <a:xfrm>
            <a:off x="681037" y="2166937"/>
            <a:ext cx="5490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TYPOGRAPHY</a:t>
            </a:r>
            <a:endParaRPr sz="2400" dirty="0"/>
          </a:p>
        </p:txBody>
      </p:sp>
      <p:sp>
        <p:nvSpPr>
          <p:cNvPr id="427" name="Google Shape;427;p43"/>
          <p:cNvSpPr txBox="1"/>
          <p:nvPr/>
        </p:nvSpPr>
        <p:spPr>
          <a:xfrm>
            <a:off x="6171723" y="2034659"/>
            <a:ext cx="5490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WHITE SPACE</a:t>
            </a:r>
            <a:endParaRPr sz="2400" dirty="0"/>
          </a:p>
        </p:txBody>
      </p:sp>
      <p:sp>
        <p:nvSpPr>
          <p:cNvPr id="428" name="Google Shape;428;p43"/>
          <p:cNvSpPr txBox="1"/>
          <p:nvPr/>
        </p:nvSpPr>
        <p:spPr>
          <a:xfrm>
            <a:off x="5741581" y="3009900"/>
            <a:ext cx="5659367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 not crowd the page.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Engineering is precise; your layout should reflect that precision through clean margins and balance.</a:t>
            </a:r>
            <a:endParaRPr sz="2400" b="1" dirty="0"/>
          </a:p>
        </p:txBody>
      </p:sp>
      <p:sp>
        <p:nvSpPr>
          <p:cNvPr id="429" name="Google Shape;429;p43"/>
          <p:cNvSpPr txBox="1"/>
          <p:nvPr/>
        </p:nvSpPr>
        <p:spPr>
          <a:xfrm>
            <a:off x="923925" y="3314700"/>
            <a:ext cx="4886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Sans-Serif for readability.</a:t>
            </a:r>
            <a:endParaRPr b="1" dirty="0"/>
          </a:p>
        </p:txBody>
      </p:sp>
      <p:sp>
        <p:nvSpPr>
          <p:cNvPr id="430" name="Google Shape;430;p43"/>
          <p:cNvSpPr txBox="1"/>
          <p:nvPr/>
        </p:nvSpPr>
        <p:spPr>
          <a:xfrm>
            <a:off x="923925" y="3810000"/>
            <a:ext cx="4886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Monospace for code/math.</a:t>
            </a:r>
            <a:endParaRPr b="1" dirty="0"/>
          </a:p>
        </p:txBody>
      </p:sp>
      <p:sp>
        <p:nvSpPr>
          <p:cNvPr id="431" name="Google Shape;431;p43"/>
          <p:cNvSpPr txBox="1"/>
          <p:nvPr/>
        </p:nvSpPr>
        <p:spPr>
          <a:xfrm>
            <a:off x="923925" y="4305300"/>
            <a:ext cx="4886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Consistent hierarchy (H1, H2).</a:t>
            </a:r>
            <a:endParaRPr b="1" dirty="0"/>
          </a:p>
        </p:txBody>
      </p:sp>
      <p:pic>
        <p:nvPicPr>
          <p:cNvPr id="432" name="Google Shape;43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432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8385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338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DESIGN PRINCIPLES</a:t>
            </a:r>
            <a:endParaRPr/>
          </a:p>
        </p:txBody>
      </p:sp>
      <p:sp>
        <p:nvSpPr>
          <p:cNvPr id="436" name="Google Shape;436;p43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3687" y="1483965"/>
            <a:ext cx="6524625" cy="3889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4"/>
          <p:cNvSpPr txBox="1"/>
          <p:nvPr/>
        </p:nvSpPr>
        <p:spPr>
          <a:xfrm>
            <a:off x="3443287" y="2322165"/>
            <a:ext cx="5305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SECTION 07</a:t>
            </a:r>
            <a:endParaRPr/>
          </a:p>
        </p:txBody>
      </p:sp>
      <p:sp>
        <p:nvSpPr>
          <p:cNvPr id="444" name="Google Shape;444;p44"/>
          <p:cNvSpPr txBox="1"/>
          <p:nvPr/>
        </p:nvSpPr>
        <p:spPr>
          <a:xfrm>
            <a:off x="3310651" y="2916435"/>
            <a:ext cx="5570696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EXECUTION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 PITFALLS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49C11-0A00-197F-B32C-EC2F73F0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884"/>
            <a:ext cx="12192000" cy="4032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89568C-5191-53F1-9265-029F6B6DB9D3}"/>
              </a:ext>
            </a:extLst>
          </p:cNvPr>
          <p:cNvSpPr txBox="1"/>
          <p:nvPr/>
        </p:nvSpPr>
        <p:spPr>
          <a:xfrm>
            <a:off x="554221" y="623067"/>
            <a:ext cx="6750345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3150" b="1" i="0" u="none" strike="noStrike" dirty="0">
                <a:solidFill>
                  <a:srgbClr val="22D3EE"/>
                </a:solidFill>
                <a:effectLst/>
                <a:latin typeface="Inter" panose="020B0604020202020204" charset="0"/>
              </a:rPr>
              <a:t>TOP DRAFTING MISTAKES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588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6987" y="1963042"/>
            <a:ext cx="7058025" cy="293176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6"/>
          <p:cNvSpPr txBox="1"/>
          <p:nvPr/>
        </p:nvSpPr>
        <p:spPr>
          <a:xfrm>
            <a:off x="3030616" y="2572642"/>
            <a:ext cx="6130766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468" name="Google Shape;468;p46"/>
          <p:cNvSpPr txBox="1"/>
          <p:nvPr/>
        </p:nvSpPr>
        <p:spPr>
          <a:xfrm>
            <a:off x="3176587" y="3591817"/>
            <a:ext cx="58388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Start writing today. Your career depends on it.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1129</Words>
  <Application>Microsoft Office PowerPoint</Application>
  <PresentationFormat>Widescreen</PresentationFormat>
  <Paragraphs>159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Fira Code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Tofigh Heidarzadeh</cp:lastModifiedBy>
  <cp:revision>19</cp:revision>
  <dcterms:modified xsi:type="dcterms:W3CDTF">2026-05-20T21:05:36Z</dcterms:modified>
</cp:coreProperties>
</file>