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ink/ink1.xml" ContentType="application/inkml+xml"/>
  <Override PartName="/ppt/ink/ink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sldIdLst>
    <p:sldId id="268" r:id="rId4"/>
    <p:sldId id="332" r:id="rId5"/>
    <p:sldId id="256" r:id="rId6"/>
    <p:sldId id="350" r:id="rId7"/>
    <p:sldId id="351" r:id="rId8"/>
    <p:sldId id="352" r:id="rId9"/>
    <p:sldId id="353" r:id="rId10"/>
    <p:sldId id="257" r:id="rId11"/>
    <p:sldId id="258" r:id="rId12"/>
    <p:sldId id="349" r:id="rId13"/>
    <p:sldId id="259" r:id="rId14"/>
    <p:sldId id="261" r:id="rId15"/>
    <p:sldId id="260" r:id="rId16"/>
    <p:sldId id="333" r:id="rId17"/>
    <p:sldId id="334" r:id="rId18"/>
    <p:sldId id="262" r:id="rId19"/>
    <p:sldId id="335" r:id="rId20"/>
    <p:sldId id="266" r:id="rId21"/>
    <p:sldId id="337" r:id="rId22"/>
    <p:sldId id="338" r:id="rId23"/>
    <p:sldId id="339" r:id="rId24"/>
    <p:sldId id="340" r:id="rId25"/>
    <p:sldId id="267" r:id="rId26"/>
    <p:sldId id="341" r:id="rId27"/>
    <p:sldId id="269" r:id="rId28"/>
    <p:sldId id="270" r:id="rId29"/>
    <p:sldId id="271" r:id="rId30"/>
    <p:sldId id="272" r:id="rId31"/>
    <p:sldId id="273" r:id="rId32"/>
    <p:sldId id="274" r:id="rId33"/>
    <p:sldId id="342" r:id="rId34"/>
    <p:sldId id="343" r:id="rId35"/>
    <p:sldId id="344" r:id="rId36"/>
    <p:sldId id="345" r:id="rId37"/>
    <p:sldId id="346" r:id="rId38"/>
    <p:sldId id="347" r:id="rId39"/>
    <p:sldId id="348" r:id="rId40"/>
    <p:sldId id="265" r:id="rId41"/>
    <p:sldId id="277" r:id="rId42"/>
    <p:sldId id="299" r:id="rId43"/>
    <p:sldId id="300" r:id="rId44"/>
    <p:sldId id="290" r:id="rId45"/>
    <p:sldId id="278" r:id="rId46"/>
    <p:sldId id="301" r:id="rId47"/>
    <p:sldId id="295" r:id="rId48"/>
    <p:sldId id="279" r:id="rId49"/>
    <p:sldId id="280" r:id="rId50"/>
    <p:sldId id="281" r:id="rId51"/>
    <p:sldId id="282" r:id="rId52"/>
    <p:sldId id="302" r:id="rId53"/>
    <p:sldId id="296" r:id="rId54"/>
    <p:sldId id="303" r:id="rId55"/>
    <p:sldId id="297" r:id="rId56"/>
    <p:sldId id="304" r:id="rId57"/>
    <p:sldId id="283" r:id="rId58"/>
    <p:sldId id="276" r:id="rId59"/>
    <p:sldId id="284" r:id="rId60"/>
    <p:sldId id="285" r:id="rId61"/>
    <p:sldId id="286" r:id="rId62"/>
    <p:sldId id="287" r:id="rId63"/>
    <p:sldId id="298" r:id="rId64"/>
    <p:sldId id="288" r:id="rId65"/>
    <p:sldId id="289" r:id="rId66"/>
    <p:sldId id="293" r:id="rId67"/>
    <p:sldId id="294"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544" autoAdjust="0"/>
    <p:restoredTop sz="94660"/>
  </p:normalViewPr>
  <p:slideViewPr>
    <p:cSldViewPr snapToGrid="0">
      <p:cViewPr>
        <p:scale>
          <a:sx n="87" d="100"/>
          <a:sy n="87" d="100"/>
        </p:scale>
        <p:origin x="1134" y="6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7" Type="http://schemas.openxmlformats.org/officeDocument/2006/relationships/slide" Target="slides/slide4.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1T22:22:27.725"/>
    </inkml:context>
    <inkml:brush xml:id="br0">
      <inkml:brushProperty name="width" value="0.05" units="cm"/>
      <inkml:brushProperty name="height" value="0.05" units="cm"/>
      <inkml:brushProperty name="color" value="#E71224"/>
    </inkml:brush>
  </inkml:definitions>
  <inkml:trace contextRef="#ctx0" brushRef="#br0">2 1275 24575,'8'-9'0,"-2"1"0,1-1 0,-1 0 0,0-1 0,-1 1 0,0-1 0,6-20 0,1 3 0,64-122 0,13 5 0,-72 118 0,41-61 0,5 3 0,135-142 0,-178 207 0,1 2 0,0 0 0,1 1 0,1 1 0,25-12 0,125-51 0,-106 54 0,85-19 0,-36 12 0,-66 18 0,52-7 0,52 0 0,-59 8 0,318-59 0,-385 66 0,0 1 0,39-1 0,57 6 0,-48 1 0,-75-2 0,14-1 0,0 1 0,0 1 0,1 1 0,-1 0 0,-1 1 0,20 5 0,-9 3 0,-1 0 0,-1 1 0,0 1 0,31 25 0,79 73 0,-116-97 0,111 115 0,-43-41 0,120 145 0,-70-77 0,-53-64 0,38 69 0,-64-80 0,-6-17 0,13 18 0,-51-65 0,-2 1 0,0-1 0,8 20 0,60 197 0,-78-232 0,14 49 0,-2 1 0,-2 0 0,2 57 0,33 285 0,-33-309 0,0 109 0,-15 85 0,3-252 0,-3-1 0,0 1 0,-1-1 0,-2 1 0,0-2 0,-14 33 0,-1-9 0,-14 35 0,27-64 0,-1 0 0,0-1 0,-18 25 0,-41 48 0,22-31 0,1 1 0,-3-3 0,-2-1 0,-63 55 0,52-60 0,-2-3 0,-76 45 0,127-88 0,0-1 0,0-1 0,-1 0 0,1 0 0,-15 3 0,7-4 0,-1-1 0,-33 1 0,-323-5 0,182-2 0,-612 2-2560,639 1 2886,147 0-326,-15 1 0,0-2 0,-57-9 0,81 7 13,0-1 0,1 1 0,0-2-1,-1 0 1,2 0 0,-18-12 0,-57-47 1448,44 30-854,-88-55-524,-32-27-90,68 32 7,-18-15 0,5 5 0,85 73 0,2-1 0,-30-42 0,-35-50 0,76 104 0,1 0 0,0-1 0,0 0 0,1-1 0,1 1 0,0-1 0,-4-14 0,-18-48 0,4 12 0,-24-79 0,41 122 0,-6-20 0,1-1 0,-6-48 0,12 50 0,-3 1 0,-20-64 0,21 78 0,1-1 0,1-1 0,1 1 0,0-26 0,4-100 0,2 77 0,-2-328 0,2 372 0,1-1 0,8-34 0,2-25 0,-8-93-994,-5 172 623,0-21-6455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21T22:22:37.913"/>
    </inkml:context>
    <inkml:brush xml:id="br0">
      <inkml:brushProperty name="width" value="0.05" units="cm"/>
      <inkml:brushProperty name="height" value="0.05" units="cm"/>
      <inkml:brushProperty name="color" value="#E71224"/>
    </inkml:brush>
  </inkml:definitions>
  <inkml:trace contextRef="#ctx0" brushRef="#br0">297 1111 24575,'10'0'0,"0"-1"0,0 1 0,0-2 0,12-2 0,-16 2 0,0 0 0,-1 0 0,1-1 0,-1 1 0,0-1 0,1-1 0,-1 1 0,5-6 0,10-9 0,-1-2 0,25-32 0,-25 27 0,69-90 0,112-195 0,-167 256 0,54-71 0,-64 98 0,0 0 0,2 1 0,56-43 0,-68 60 0,1 0 0,0 1 0,17-7 0,47-15 0,-55 22 0,-2-1 0,31-17 0,-38 17 0,1 1 0,1 1 0,-1 0 0,24-6 0,35-1 0,122-9 0,75 14 0,-269 9 0,49-1 0,92 10 0,-127-6 0,0 0 0,0 1 0,0 0 0,-1 2 0,0 0 0,0 0 0,0 1 0,0 1 0,23 18 0,-9-1 0,49 55 0,-55-54 0,200 240 0,-221-263 0,260 341 0,-181-235 0,-70-92 0,5 9 0,-2 2 0,23 56 0,-20-41 0,-9-21 0,-1 1 0,-1-1 0,0 1 0,-2 0 0,2 35 0,-6 121 0,-2-86 0,2 115 0,0-200 0,0 1 0,0-1 0,-1 1 0,0-1 0,-1 0 0,0 1 0,0-1 0,-1 0 0,1 0 0,-8 13 0,3-11 0,-1-1 0,-14 15 0,7-9 0,-3 4 0,0-1 0,-2 0 0,0-2 0,-1 0 0,0-1 0,-31 15 0,21-16 0,-2-2 0,1 0 0,-63 12 0,35-11 0,-57 11 0,-189-15 0,234-9 0,-1317-2 0,1380 2 0,-1-1 0,0 0 0,-15-3 0,21 3 0,-1 0 0,0-1 0,0 0 0,1 0 0,-1 0 0,1-1 0,0 0 0,0 1 0,-4-5 0,-9-9 0,-17-21 0,19 19 0,-31-28 0,-11 4 0,-91-53 0,15 11 0,111 69 0,5 4 0,-20-18 0,31 24 0,1 0 0,0 0 0,0-1 0,1 1 0,-1-1 0,1-1 0,-4-8 0,-2-7 0,1-1 0,2 0 0,0-1 0,-8-48 0,10 23 0,2 24 0,-10-48 0,4 44 0,-17-73 0,23 86 0,1 1 0,0 0 0,2-1 0,1-28 0,0 37 0,0 0 0,1 1 0,0-1 0,0 1 0,0-1 0,1 1 0,0 0 0,0 0 0,0 0 0,1 1 0,0-1 0,0 1 0,1 0 0,-1 0 0,10-7 0,-7 6 0,0 1 0,0 0 0,1 0 0,0 1 0,0 0 0,0 1 0,0 0 0,1 0 0,0 0 0,-1 1 0,17-1 0,158 2 0,-97 3 0,-8-3 0,96 5 0,-161-2-455,1 0 0,16 5 0,-10-1-6371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52A2A6C-DB6D-401A-8EEA-81806C42A998}"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C1E1B2-71C2-4D64-807A-DCCC01D83EF4}" type="slidenum">
              <a:rPr lang="en-US" smtClean="0"/>
              <a:t>‹#›</a:t>
            </a:fld>
            <a:endParaRPr lang="en-US"/>
          </a:p>
        </p:txBody>
      </p:sp>
    </p:spTree>
    <p:extLst>
      <p:ext uri="{BB962C8B-B14F-4D97-AF65-F5344CB8AC3E}">
        <p14:creationId xmlns:p14="http://schemas.microsoft.com/office/powerpoint/2010/main" val="281505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2A2A6C-DB6D-401A-8EEA-81806C42A998}"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C1E1B2-71C2-4D64-807A-DCCC01D83EF4}" type="slidenum">
              <a:rPr lang="en-US" smtClean="0"/>
              <a:t>‹#›</a:t>
            </a:fld>
            <a:endParaRPr lang="en-US"/>
          </a:p>
        </p:txBody>
      </p:sp>
    </p:spTree>
    <p:extLst>
      <p:ext uri="{BB962C8B-B14F-4D97-AF65-F5344CB8AC3E}">
        <p14:creationId xmlns:p14="http://schemas.microsoft.com/office/powerpoint/2010/main" val="2809504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52A2A6C-DB6D-401A-8EEA-81806C42A998}"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C1E1B2-71C2-4D64-807A-DCCC01D83EF4}" type="slidenum">
              <a:rPr lang="en-US" smtClean="0"/>
              <a:t>‹#›</a:t>
            </a:fld>
            <a:endParaRPr lang="en-US"/>
          </a:p>
        </p:txBody>
      </p:sp>
    </p:spTree>
    <p:extLst>
      <p:ext uri="{BB962C8B-B14F-4D97-AF65-F5344CB8AC3E}">
        <p14:creationId xmlns:p14="http://schemas.microsoft.com/office/powerpoint/2010/main" val="1729608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52A2A6C-DB6D-401A-8EEA-81806C42A998}"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C1E1B2-71C2-4D64-807A-DCCC01D83EF4}" type="slidenum">
              <a:rPr lang="en-US" smtClean="0"/>
              <a:t>‹#›</a:t>
            </a:fld>
            <a:endParaRPr lang="en-US"/>
          </a:p>
        </p:txBody>
      </p:sp>
    </p:spTree>
    <p:extLst>
      <p:ext uri="{BB962C8B-B14F-4D97-AF65-F5344CB8AC3E}">
        <p14:creationId xmlns:p14="http://schemas.microsoft.com/office/powerpoint/2010/main" val="4195125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52A2A6C-DB6D-401A-8EEA-81806C42A998}" type="datetimeFigureOut">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C1E1B2-71C2-4D64-807A-DCCC01D83EF4}" type="slidenum">
              <a:rPr lang="en-US" smtClean="0"/>
              <a:t>‹#›</a:t>
            </a:fld>
            <a:endParaRPr lang="en-US"/>
          </a:p>
        </p:txBody>
      </p:sp>
    </p:spTree>
    <p:extLst>
      <p:ext uri="{BB962C8B-B14F-4D97-AF65-F5344CB8AC3E}">
        <p14:creationId xmlns:p14="http://schemas.microsoft.com/office/powerpoint/2010/main" val="55299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2A2A6C-DB6D-401A-8EEA-81806C42A998}" type="datetimeFigureOut">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C1E1B2-71C2-4D64-807A-DCCC01D83EF4}" type="slidenum">
              <a:rPr lang="en-US" smtClean="0"/>
              <a:t>‹#›</a:t>
            </a:fld>
            <a:endParaRPr lang="en-US"/>
          </a:p>
        </p:txBody>
      </p:sp>
    </p:spTree>
    <p:extLst>
      <p:ext uri="{BB962C8B-B14F-4D97-AF65-F5344CB8AC3E}">
        <p14:creationId xmlns:p14="http://schemas.microsoft.com/office/powerpoint/2010/main" val="760653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2A2A6C-DB6D-401A-8EEA-81806C42A998}" type="datetimeFigureOut">
              <a:rPr lang="en-US" smtClean="0"/>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C1E1B2-71C2-4D64-807A-DCCC01D83EF4}" type="slidenum">
              <a:rPr lang="en-US" smtClean="0"/>
              <a:t>‹#›</a:t>
            </a:fld>
            <a:endParaRPr lang="en-US"/>
          </a:p>
        </p:txBody>
      </p:sp>
    </p:spTree>
    <p:extLst>
      <p:ext uri="{BB962C8B-B14F-4D97-AF65-F5344CB8AC3E}">
        <p14:creationId xmlns:p14="http://schemas.microsoft.com/office/powerpoint/2010/main" val="1997627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52A2A6C-DB6D-401A-8EEA-81806C42A998}"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C1E1B2-71C2-4D64-807A-DCCC01D83EF4}" type="slidenum">
              <a:rPr lang="en-US" smtClean="0"/>
              <a:t>‹#›</a:t>
            </a:fld>
            <a:endParaRPr lang="en-US"/>
          </a:p>
        </p:txBody>
      </p:sp>
    </p:spTree>
    <p:extLst>
      <p:ext uri="{BB962C8B-B14F-4D97-AF65-F5344CB8AC3E}">
        <p14:creationId xmlns:p14="http://schemas.microsoft.com/office/powerpoint/2010/main" val="34144846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52A2A6C-DB6D-401A-8EEA-81806C42A998}"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C1E1B2-71C2-4D64-807A-DCCC01D83EF4}" type="slidenum">
              <a:rPr lang="en-US" smtClean="0"/>
              <a:t>‹#›</a:t>
            </a:fld>
            <a:endParaRPr lang="en-US"/>
          </a:p>
        </p:txBody>
      </p:sp>
    </p:spTree>
    <p:extLst>
      <p:ext uri="{BB962C8B-B14F-4D97-AF65-F5344CB8AC3E}">
        <p14:creationId xmlns:p14="http://schemas.microsoft.com/office/powerpoint/2010/main" val="2199985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2A2A6C-DB6D-401A-8EEA-81806C42A998}"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C1E1B2-71C2-4D64-807A-DCCC01D83EF4}" type="slidenum">
              <a:rPr lang="en-US" smtClean="0"/>
              <a:t>‹#›</a:t>
            </a:fld>
            <a:endParaRPr lang="en-US"/>
          </a:p>
        </p:txBody>
      </p:sp>
    </p:spTree>
    <p:extLst>
      <p:ext uri="{BB962C8B-B14F-4D97-AF65-F5344CB8AC3E}">
        <p14:creationId xmlns:p14="http://schemas.microsoft.com/office/powerpoint/2010/main" val="2779325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2A2A6C-DB6D-401A-8EEA-81806C42A998}"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C1E1B2-71C2-4D64-807A-DCCC01D83EF4}" type="slidenum">
              <a:rPr lang="en-US" smtClean="0"/>
              <a:t>‹#›</a:t>
            </a:fld>
            <a:endParaRPr lang="en-US"/>
          </a:p>
        </p:txBody>
      </p:sp>
    </p:spTree>
    <p:extLst>
      <p:ext uri="{BB962C8B-B14F-4D97-AF65-F5344CB8AC3E}">
        <p14:creationId xmlns:p14="http://schemas.microsoft.com/office/powerpoint/2010/main" val="995457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9188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123460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31893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361235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40608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76186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26477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13539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833685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44734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6764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0DAA8-08BF-5513-57EF-3A9E9557D0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372C58-1259-FDB0-2496-172543D492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D5556E-8901-E454-FD0E-7AAE0394456E}"/>
              </a:ext>
            </a:extLst>
          </p:cNvPr>
          <p:cNvSpPr>
            <a:spLocks noGrp="1"/>
          </p:cNvSpPr>
          <p:nvPr>
            <p:ph type="dt" sz="half" idx="10"/>
          </p:nvPr>
        </p:nvSpPr>
        <p:spPr/>
        <p:txBody>
          <a:bodyPr/>
          <a:lstStyle/>
          <a:p>
            <a:fld id="{B7CBE857-177B-4E83-AF1A-887C2997DBC6}" type="datetimeFigureOut">
              <a:rPr lang="en-US" smtClean="0"/>
              <a:t>4/24/2026</a:t>
            </a:fld>
            <a:endParaRPr lang="en-US"/>
          </a:p>
        </p:txBody>
      </p:sp>
      <p:sp>
        <p:nvSpPr>
          <p:cNvPr id="5" name="Footer Placeholder 4">
            <a:extLst>
              <a:ext uri="{FF2B5EF4-FFF2-40B4-BE49-F238E27FC236}">
                <a16:creationId xmlns:a16="http://schemas.microsoft.com/office/drawing/2014/main" id="{62A22170-8CC4-BB40-EC35-94B2B05145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C6868B-11C6-060A-7E26-59C8C824CDFA}"/>
              </a:ext>
            </a:extLst>
          </p:cNvPr>
          <p:cNvSpPr>
            <a:spLocks noGrp="1"/>
          </p:cNvSpPr>
          <p:nvPr>
            <p:ph type="sldNum" sz="quarter" idx="12"/>
          </p:nvPr>
        </p:nvSpPr>
        <p:spPr/>
        <p:txBody>
          <a:bodyPr/>
          <a:lstStyle/>
          <a:p>
            <a:fld id="{5A202DEA-5524-474C-A8D1-57CD17794292}" type="slidenum">
              <a:rPr lang="en-US" smtClean="0"/>
              <a:t>‹#›</a:t>
            </a:fld>
            <a:endParaRPr lang="en-US"/>
          </a:p>
        </p:txBody>
      </p:sp>
    </p:spTree>
    <p:extLst>
      <p:ext uri="{BB962C8B-B14F-4D97-AF65-F5344CB8AC3E}">
        <p14:creationId xmlns:p14="http://schemas.microsoft.com/office/powerpoint/2010/main" val="16291392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51AC6-97A8-A83A-A852-393746704D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E21EC5-012E-721C-FF67-933DA3C45B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6623ED-B0DF-BF07-ED37-10E8F392E41E}"/>
              </a:ext>
            </a:extLst>
          </p:cNvPr>
          <p:cNvSpPr>
            <a:spLocks noGrp="1"/>
          </p:cNvSpPr>
          <p:nvPr>
            <p:ph type="dt" sz="half" idx="10"/>
          </p:nvPr>
        </p:nvSpPr>
        <p:spPr/>
        <p:txBody>
          <a:bodyPr/>
          <a:lstStyle/>
          <a:p>
            <a:fld id="{B7CBE857-177B-4E83-AF1A-887C2997DBC6}" type="datetimeFigureOut">
              <a:rPr lang="en-US" smtClean="0"/>
              <a:t>4/24/2026</a:t>
            </a:fld>
            <a:endParaRPr lang="en-US"/>
          </a:p>
        </p:txBody>
      </p:sp>
      <p:sp>
        <p:nvSpPr>
          <p:cNvPr id="5" name="Footer Placeholder 4">
            <a:extLst>
              <a:ext uri="{FF2B5EF4-FFF2-40B4-BE49-F238E27FC236}">
                <a16:creationId xmlns:a16="http://schemas.microsoft.com/office/drawing/2014/main" id="{A800F8C7-F198-0045-2237-1A0081C82D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23111C-091B-1CF4-65F7-235C24A215EB}"/>
              </a:ext>
            </a:extLst>
          </p:cNvPr>
          <p:cNvSpPr>
            <a:spLocks noGrp="1"/>
          </p:cNvSpPr>
          <p:nvPr>
            <p:ph type="sldNum" sz="quarter" idx="12"/>
          </p:nvPr>
        </p:nvSpPr>
        <p:spPr/>
        <p:txBody>
          <a:bodyPr/>
          <a:lstStyle/>
          <a:p>
            <a:fld id="{5A202DEA-5524-474C-A8D1-57CD17794292}" type="slidenum">
              <a:rPr lang="en-US" smtClean="0"/>
              <a:t>‹#›</a:t>
            </a:fld>
            <a:endParaRPr lang="en-US"/>
          </a:p>
        </p:txBody>
      </p:sp>
    </p:spTree>
    <p:extLst>
      <p:ext uri="{BB962C8B-B14F-4D97-AF65-F5344CB8AC3E}">
        <p14:creationId xmlns:p14="http://schemas.microsoft.com/office/powerpoint/2010/main" val="6466836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4C50C-82A1-AB8E-1380-1BEEFEDC01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CE9620-10BC-814D-C1EC-1DC73C7814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E22051-6069-82C7-2D58-9CCABE99959A}"/>
              </a:ext>
            </a:extLst>
          </p:cNvPr>
          <p:cNvSpPr>
            <a:spLocks noGrp="1"/>
          </p:cNvSpPr>
          <p:nvPr>
            <p:ph type="dt" sz="half" idx="10"/>
          </p:nvPr>
        </p:nvSpPr>
        <p:spPr/>
        <p:txBody>
          <a:bodyPr/>
          <a:lstStyle/>
          <a:p>
            <a:fld id="{B7CBE857-177B-4E83-AF1A-887C2997DBC6}" type="datetimeFigureOut">
              <a:rPr lang="en-US" smtClean="0"/>
              <a:t>4/24/2026</a:t>
            </a:fld>
            <a:endParaRPr lang="en-US"/>
          </a:p>
        </p:txBody>
      </p:sp>
      <p:sp>
        <p:nvSpPr>
          <p:cNvPr id="5" name="Footer Placeholder 4">
            <a:extLst>
              <a:ext uri="{FF2B5EF4-FFF2-40B4-BE49-F238E27FC236}">
                <a16:creationId xmlns:a16="http://schemas.microsoft.com/office/drawing/2014/main" id="{D79F178D-ED02-3373-68A0-E918404CED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53C128-E43E-4F75-56A8-6DE4810906DC}"/>
              </a:ext>
            </a:extLst>
          </p:cNvPr>
          <p:cNvSpPr>
            <a:spLocks noGrp="1"/>
          </p:cNvSpPr>
          <p:nvPr>
            <p:ph type="sldNum" sz="quarter" idx="12"/>
          </p:nvPr>
        </p:nvSpPr>
        <p:spPr/>
        <p:txBody>
          <a:bodyPr/>
          <a:lstStyle/>
          <a:p>
            <a:fld id="{5A202DEA-5524-474C-A8D1-57CD17794292}" type="slidenum">
              <a:rPr lang="en-US" smtClean="0"/>
              <a:t>‹#›</a:t>
            </a:fld>
            <a:endParaRPr lang="en-US"/>
          </a:p>
        </p:txBody>
      </p:sp>
    </p:spTree>
    <p:extLst>
      <p:ext uri="{BB962C8B-B14F-4D97-AF65-F5344CB8AC3E}">
        <p14:creationId xmlns:p14="http://schemas.microsoft.com/office/powerpoint/2010/main" val="30030967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1FB74-022C-66A7-F833-8ADC547AD2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118F4DA-EDEB-34C4-5315-E6179885C7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09FC40-092F-C5DB-71C6-069375842B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FC1F45-77B3-DEEE-202D-B163F94F1E07}"/>
              </a:ext>
            </a:extLst>
          </p:cNvPr>
          <p:cNvSpPr>
            <a:spLocks noGrp="1"/>
          </p:cNvSpPr>
          <p:nvPr>
            <p:ph type="dt" sz="half" idx="10"/>
          </p:nvPr>
        </p:nvSpPr>
        <p:spPr/>
        <p:txBody>
          <a:bodyPr/>
          <a:lstStyle/>
          <a:p>
            <a:fld id="{B7CBE857-177B-4E83-AF1A-887C2997DBC6}" type="datetimeFigureOut">
              <a:rPr lang="en-US" smtClean="0"/>
              <a:t>4/24/2026</a:t>
            </a:fld>
            <a:endParaRPr lang="en-US"/>
          </a:p>
        </p:txBody>
      </p:sp>
      <p:sp>
        <p:nvSpPr>
          <p:cNvPr id="6" name="Footer Placeholder 5">
            <a:extLst>
              <a:ext uri="{FF2B5EF4-FFF2-40B4-BE49-F238E27FC236}">
                <a16:creationId xmlns:a16="http://schemas.microsoft.com/office/drawing/2014/main" id="{29050801-8965-5E38-78F5-A0098102C2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59C991-F13B-9981-D711-B663EA11527E}"/>
              </a:ext>
            </a:extLst>
          </p:cNvPr>
          <p:cNvSpPr>
            <a:spLocks noGrp="1"/>
          </p:cNvSpPr>
          <p:nvPr>
            <p:ph type="sldNum" sz="quarter" idx="12"/>
          </p:nvPr>
        </p:nvSpPr>
        <p:spPr/>
        <p:txBody>
          <a:bodyPr/>
          <a:lstStyle/>
          <a:p>
            <a:fld id="{5A202DEA-5524-474C-A8D1-57CD17794292}" type="slidenum">
              <a:rPr lang="en-US" smtClean="0"/>
              <a:t>‹#›</a:t>
            </a:fld>
            <a:endParaRPr lang="en-US"/>
          </a:p>
        </p:txBody>
      </p:sp>
    </p:spTree>
    <p:extLst>
      <p:ext uri="{BB962C8B-B14F-4D97-AF65-F5344CB8AC3E}">
        <p14:creationId xmlns:p14="http://schemas.microsoft.com/office/powerpoint/2010/main" val="40934236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5C3FB-60F3-E722-F906-AF69124E4B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F23819-F237-C6C4-1FEE-4DE5AE9226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C86FD9-2E89-F4A6-F9A4-6CDA3D272D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96D9311-ECF4-B229-63D7-9866A1C4DD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73826D-DECA-58A4-228B-DAE28EA58F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5E156A-72F9-5426-A9B8-427656E605D8}"/>
              </a:ext>
            </a:extLst>
          </p:cNvPr>
          <p:cNvSpPr>
            <a:spLocks noGrp="1"/>
          </p:cNvSpPr>
          <p:nvPr>
            <p:ph type="dt" sz="half" idx="10"/>
          </p:nvPr>
        </p:nvSpPr>
        <p:spPr/>
        <p:txBody>
          <a:bodyPr/>
          <a:lstStyle/>
          <a:p>
            <a:fld id="{B7CBE857-177B-4E83-AF1A-887C2997DBC6}" type="datetimeFigureOut">
              <a:rPr lang="en-US" smtClean="0"/>
              <a:t>4/24/2026</a:t>
            </a:fld>
            <a:endParaRPr lang="en-US"/>
          </a:p>
        </p:txBody>
      </p:sp>
      <p:sp>
        <p:nvSpPr>
          <p:cNvPr id="8" name="Footer Placeholder 7">
            <a:extLst>
              <a:ext uri="{FF2B5EF4-FFF2-40B4-BE49-F238E27FC236}">
                <a16:creationId xmlns:a16="http://schemas.microsoft.com/office/drawing/2014/main" id="{64F2AA9A-5857-DC52-DFC5-B90FB6F404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6F9AD1-E4C1-AF25-9C57-152216916250}"/>
              </a:ext>
            </a:extLst>
          </p:cNvPr>
          <p:cNvSpPr>
            <a:spLocks noGrp="1"/>
          </p:cNvSpPr>
          <p:nvPr>
            <p:ph type="sldNum" sz="quarter" idx="12"/>
          </p:nvPr>
        </p:nvSpPr>
        <p:spPr/>
        <p:txBody>
          <a:bodyPr/>
          <a:lstStyle/>
          <a:p>
            <a:fld id="{5A202DEA-5524-474C-A8D1-57CD17794292}" type="slidenum">
              <a:rPr lang="en-US" smtClean="0"/>
              <a:t>‹#›</a:t>
            </a:fld>
            <a:endParaRPr lang="en-US"/>
          </a:p>
        </p:txBody>
      </p:sp>
    </p:spTree>
    <p:extLst>
      <p:ext uri="{BB962C8B-B14F-4D97-AF65-F5344CB8AC3E}">
        <p14:creationId xmlns:p14="http://schemas.microsoft.com/office/powerpoint/2010/main" val="38369267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712A4-EE35-2872-C4CA-8BB3F2B128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A521813-E1D3-DD94-EA3E-7C77D116DF97}"/>
              </a:ext>
            </a:extLst>
          </p:cNvPr>
          <p:cNvSpPr>
            <a:spLocks noGrp="1"/>
          </p:cNvSpPr>
          <p:nvPr>
            <p:ph type="dt" sz="half" idx="10"/>
          </p:nvPr>
        </p:nvSpPr>
        <p:spPr/>
        <p:txBody>
          <a:bodyPr/>
          <a:lstStyle/>
          <a:p>
            <a:fld id="{B7CBE857-177B-4E83-AF1A-887C2997DBC6}" type="datetimeFigureOut">
              <a:rPr lang="en-US" smtClean="0"/>
              <a:t>4/24/2026</a:t>
            </a:fld>
            <a:endParaRPr lang="en-US"/>
          </a:p>
        </p:txBody>
      </p:sp>
      <p:sp>
        <p:nvSpPr>
          <p:cNvPr id="4" name="Footer Placeholder 3">
            <a:extLst>
              <a:ext uri="{FF2B5EF4-FFF2-40B4-BE49-F238E27FC236}">
                <a16:creationId xmlns:a16="http://schemas.microsoft.com/office/drawing/2014/main" id="{FF74BD81-C064-71D2-1498-7547D06BBC1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9FF08A6-DBC8-47F9-FE04-A1380CACCAC1}"/>
              </a:ext>
            </a:extLst>
          </p:cNvPr>
          <p:cNvSpPr>
            <a:spLocks noGrp="1"/>
          </p:cNvSpPr>
          <p:nvPr>
            <p:ph type="sldNum" sz="quarter" idx="12"/>
          </p:nvPr>
        </p:nvSpPr>
        <p:spPr/>
        <p:txBody>
          <a:bodyPr/>
          <a:lstStyle/>
          <a:p>
            <a:fld id="{5A202DEA-5524-474C-A8D1-57CD17794292}" type="slidenum">
              <a:rPr lang="en-US" smtClean="0"/>
              <a:t>‹#›</a:t>
            </a:fld>
            <a:endParaRPr lang="en-US"/>
          </a:p>
        </p:txBody>
      </p:sp>
    </p:spTree>
    <p:extLst>
      <p:ext uri="{BB962C8B-B14F-4D97-AF65-F5344CB8AC3E}">
        <p14:creationId xmlns:p14="http://schemas.microsoft.com/office/powerpoint/2010/main" val="35663994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2E05A5-27AD-4A44-41D1-B9C9B3FB4891}"/>
              </a:ext>
            </a:extLst>
          </p:cNvPr>
          <p:cNvSpPr>
            <a:spLocks noGrp="1"/>
          </p:cNvSpPr>
          <p:nvPr>
            <p:ph type="dt" sz="half" idx="10"/>
          </p:nvPr>
        </p:nvSpPr>
        <p:spPr/>
        <p:txBody>
          <a:bodyPr/>
          <a:lstStyle/>
          <a:p>
            <a:fld id="{B7CBE857-177B-4E83-AF1A-887C2997DBC6}" type="datetimeFigureOut">
              <a:rPr lang="en-US" smtClean="0"/>
              <a:t>4/24/2026</a:t>
            </a:fld>
            <a:endParaRPr lang="en-US"/>
          </a:p>
        </p:txBody>
      </p:sp>
      <p:sp>
        <p:nvSpPr>
          <p:cNvPr id="3" name="Footer Placeholder 2">
            <a:extLst>
              <a:ext uri="{FF2B5EF4-FFF2-40B4-BE49-F238E27FC236}">
                <a16:creationId xmlns:a16="http://schemas.microsoft.com/office/drawing/2014/main" id="{D0179A64-1B13-2A97-4D69-7B219AB9C99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33D7F0-2204-124A-3E40-96EDBCE804AA}"/>
              </a:ext>
            </a:extLst>
          </p:cNvPr>
          <p:cNvSpPr>
            <a:spLocks noGrp="1"/>
          </p:cNvSpPr>
          <p:nvPr>
            <p:ph type="sldNum" sz="quarter" idx="12"/>
          </p:nvPr>
        </p:nvSpPr>
        <p:spPr/>
        <p:txBody>
          <a:bodyPr/>
          <a:lstStyle/>
          <a:p>
            <a:fld id="{5A202DEA-5524-474C-A8D1-57CD17794292}" type="slidenum">
              <a:rPr lang="en-US" smtClean="0"/>
              <a:t>‹#›</a:t>
            </a:fld>
            <a:endParaRPr lang="en-US"/>
          </a:p>
        </p:txBody>
      </p:sp>
    </p:spTree>
    <p:extLst>
      <p:ext uri="{BB962C8B-B14F-4D97-AF65-F5344CB8AC3E}">
        <p14:creationId xmlns:p14="http://schemas.microsoft.com/office/powerpoint/2010/main" val="14185338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D389A-1F07-40DC-FDE1-20C8957DE4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B1CF13-1F41-7FA9-2428-EC81CEC006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4BDE01-4D27-C263-FD41-4CE9E63531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45ECA0-5A33-4401-2265-BEDA9426B3B7}"/>
              </a:ext>
            </a:extLst>
          </p:cNvPr>
          <p:cNvSpPr>
            <a:spLocks noGrp="1"/>
          </p:cNvSpPr>
          <p:nvPr>
            <p:ph type="dt" sz="half" idx="10"/>
          </p:nvPr>
        </p:nvSpPr>
        <p:spPr/>
        <p:txBody>
          <a:bodyPr/>
          <a:lstStyle/>
          <a:p>
            <a:fld id="{B7CBE857-177B-4E83-AF1A-887C2997DBC6}" type="datetimeFigureOut">
              <a:rPr lang="en-US" smtClean="0"/>
              <a:t>4/24/2026</a:t>
            </a:fld>
            <a:endParaRPr lang="en-US"/>
          </a:p>
        </p:txBody>
      </p:sp>
      <p:sp>
        <p:nvSpPr>
          <p:cNvPr id="6" name="Footer Placeholder 5">
            <a:extLst>
              <a:ext uri="{FF2B5EF4-FFF2-40B4-BE49-F238E27FC236}">
                <a16:creationId xmlns:a16="http://schemas.microsoft.com/office/drawing/2014/main" id="{27C20815-FC12-6D77-4582-E0F2B631F0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D09B31-0C57-D589-901C-C4111BD36F33}"/>
              </a:ext>
            </a:extLst>
          </p:cNvPr>
          <p:cNvSpPr>
            <a:spLocks noGrp="1"/>
          </p:cNvSpPr>
          <p:nvPr>
            <p:ph type="sldNum" sz="quarter" idx="12"/>
          </p:nvPr>
        </p:nvSpPr>
        <p:spPr/>
        <p:txBody>
          <a:bodyPr/>
          <a:lstStyle/>
          <a:p>
            <a:fld id="{5A202DEA-5524-474C-A8D1-57CD17794292}" type="slidenum">
              <a:rPr lang="en-US" smtClean="0"/>
              <a:t>‹#›</a:t>
            </a:fld>
            <a:endParaRPr lang="en-US"/>
          </a:p>
        </p:txBody>
      </p:sp>
    </p:spTree>
    <p:extLst>
      <p:ext uri="{BB962C8B-B14F-4D97-AF65-F5344CB8AC3E}">
        <p14:creationId xmlns:p14="http://schemas.microsoft.com/office/powerpoint/2010/main" val="8940806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F55B1-F051-298B-A10F-66DC834061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1EFD3E-1855-C0AE-7B35-54372C30ED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CC623D-1037-9C19-D254-5FCFB6AD0D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0E266A-D38C-084D-2778-8A8058F5988E}"/>
              </a:ext>
            </a:extLst>
          </p:cNvPr>
          <p:cNvSpPr>
            <a:spLocks noGrp="1"/>
          </p:cNvSpPr>
          <p:nvPr>
            <p:ph type="dt" sz="half" idx="10"/>
          </p:nvPr>
        </p:nvSpPr>
        <p:spPr/>
        <p:txBody>
          <a:bodyPr/>
          <a:lstStyle/>
          <a:p>
            <a:fld id="{B7CBE857-177B-4E83-AF1A-887C2997DBC6}" type="datetimeFigureOut">
              <a:rPr lang="en-US" smtClean="0"/>
              <a:t>4/24/2026</a:t>
            </a:fld>
            <a:endParaRPr lang="en-US"/>
          </a:p>
        </p:txBody>
      </p:sp>
      <p:sp>
        <p:nvSpPr>
          <p:cNvPr id="6" name="Footer Placeholder 5">
            <a:extLst>
              <a:ext uri="{FF2B5EF4-FFF2-40B4-BE49-F238E27FC236}">
                <a16:creationId xmlns:a16="http://schemas.microsoft.com/office/drawing/2014/main" id="{742B3ED5-324B-E665-E01E-DAA1758873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A12F7D-F7B1-AC91-35FA-EECDA618ED1E}"/>
              </a:ext>
            </a:extLst>
          </p:cNvPr>
          <p:cNvSpPr>
            <a:spLocks noGrp="1"/>
          </p:cNvSpPr>
          <p:nvPr>
            <p:ph type="sldNum" sz="quarter" idx="12"/>
          </p:nvPr>
        </p:nvSpPr>
        <p:spPr/>
        <p:txBody>
          <a:bodyPr/>
          <a:lstStyle/>
          <a:p>
            <a:fld id="{5A202DEA-5524-474C-A8D1-57CD17794292}" type="slidenum">
              <a:rPr lang="en-US" smtClean="0"/>
              <a:t>‹#›</a:t>
            </a:fld>
            <a:endParaRPr lang="en-US"/>
          </a:p>
        </p:txBody>
      </p:sp>
    </p:spTree>
    <p:extLst>
      <p:ext uri="{BB962C8B-B14F-4D97-AF65-F5344CB8AC3E}">
        <p14:creationId xmlns:p14="http://schemas.microsoft.com/office/powerpoint/2010/main" val="25422535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2156F-8DDD-D650-7D37-8F53C7F6D7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FFCB79D-687E-9BE3-D31A-BB5524C8DD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9BD8DF-7455-58D7-93C3-E11A7C9A19B0}"/>
              </a:ext>
            </a:extLst>
          </p:cNvPr>
          <p:cNvSpPr>
            <a:spLocks noGrp="1"/>
          </p:cNvSpPr>
          <p:nvPr>
            <p:ph type="dt" sz="half" idx="10"/>
          </p:nvPr>
        </p:nvSpPr>
        <p:spPr/>
        <p:txBody>
          <a:bodyPr/>
          <a:lstStyle/>
          <a:p>
            <a:fld id="{B7CBE857-177B-4E83-AF1A-887C2997DBC6}" type="datetimeFigureOut">
              <a:rPr lang="en-US" smtClean="0"/>
              <a:t>4/24/2026</a:t>
            </a:fld>
            <a:endParaRPr lang="en-US"/>
          </a:p>
        </p:txBody>
      </p:sp>
      <p:sp>
        <p:nvSpPr>
          <p:cNvPr id="5" name="Footer Placeholder 4">
            <a:extLst>
              <a:ext uri="{FF2B5EF4-FFF2-40B4-BE49-F238E27FC236}">
                <a16:creationId xmlns:a16="http://schemas.microsoft.com/office/drawing/2014/main" id="{00BC2D70-B8B5-3F74-C9F7-D95C6F742B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6A6F8C-BEB5-ED0A-4396-1D2F0E8CD77E}"/>
              </a:ext>
            </a:extLst>
          </p:cNvPr>
          <p:cNvSpPr>
            <a:spLocks noGrp="1"/>
          </p:cNvSpPr>
          <p:nvPr>
            <p:ph type="sldNum" sz="quarter" idx="12"/>
          </p:nvPr>
        </p:nvSpPr>
        <p:spPr/>
        <p:txBody>
          <a:bodyPr/>
          <a:lstStyle/>
          <a:p>
            <a:fld id="{5A202DEA-5524-474C-A8D1-57CD17794292}" type="slidenum">
              <a:rPr lang="en-US" smtClean="0"/>
              <a:t>‹#›</a:t>
            </a:fld>
            <a:endParaRPr lang="en-US"/>
          </a:p>
        </p:txBody>
      </p:sp>
    </p:spTree>
    <p:extLst>
      <p:ext uri="{BB962C8B-B14F-4D97-AF65-F5344CB8AC3E}">
        <p14:creationId xmlns:p14="http://schemas.microsoft.com/office/powerpoint/2010/main" val="27634005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55AC54-441D-FA38-524E-242FAFA3D3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15AF02-7895-FDC8-2AD1-27B15A9E90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09D803-6586-57C0-EF42-82338F27F437}"/>
              </a:ext>
            </a:extLst>
          </p:cNvPr>
          <p:cNvSpPr>
            <a:spLocks noGrp="1"/>
          </p:cNvSpPr>
          <p:nvPr>
            <p:ph type="dt" sz="half" idx="10"/>
          </p:nvPr>
        </p:nvSpPr>
        <p:spPr/>
        <p:txBody>
          <a:bodyPr/>
          <a:lstStyle/>
          <a:p>
            <a:fld id="{B7CBE857-177B-4E83-AF1A-887C2997DBC6}" type="datetimeFigureOut">
              <a:rPr lang="en-US" smtClean="0"/>
              <a:t>4/24/2026</a:t>
            </a:fld>
            <a:endParaRPr lang="en-US"/>
          </a:p>
        </p:txBody>
      </p:sp>
      <p:sp>
        <p:nvSpPr>
          <p:cNvPr id="5" name="Footer Placeholder 4">
            <a:extLst>
              <a:ext uri="{FF2B5EF4-FFF2-40B4-BE49-F238E27FC236}">
                <a16:creationId xmlns:a16="http://schemas.microsoft.com/office/drawing/2014/main" id="{F8F23851-EA4D-E41D-CE92-3FD1F806B7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E1DB02-A9B7-28BC-D180-D56C025E0292}"/>
              </a:ext>
            </a:extLst>
          </p:cNvPr>
          <p:cNvSpPr>
            <a:spLocks noGrp="1"/>
          </p:cNvSpPr>
          <p:nvPr>
            <p:ph type="sldNum" sz="quarter" idx="12"/>
          </p:nvPr>
        </p:nvSpPr>
        <p:spPr/>
        <p:txBody>
          <a:bodyPr/>
          <a:lstStyle/>
          <a:p>
            <a:fld id="{5A202DEA-5524-474C-A8D1-57CD17794292}" type="slidenum">
              <a:rPr lang="en-US" smtClean="0"/>
              <a:t>‹#›</a:t>
            </a:fld>
            <a:endParaRPr lang="en-US"/>
          </a:p>
        </p:txBody>
      </p:sp>
    </p:spTree>
    <p:extLst>
      <p:ext uri="{BB962C8B-B14F-4D97-AF65-F5344CB8AC3E}">
        <p14:creationId xmlns:p14="http://schemas.microsoft.com/office/powerpoint/2010/main" val="3432558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2A2A6C-DB6D-401A-8EEA-81806C42A998}" type="datetimeFigureOut">
              <a:rPr lang="en-US" smtClean="0"/>
              <a:t>4/24/2026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C1E1B2-71C2-4D64-807A-DCCC01D83EF4}" type="slidenum">
              <a:rPr lang="en-US" smtClean="0"/>
              <a:t>‹#›</a:t>
            </a:fld>
            <a:endParaRPr lang="en-US"/>
          </a:p>
        </p:txBody>
      </p:sp>
    </p:spTree>
    <p:extLst>
      <p:ext uri="{BB962C8B-B14F-4D97-AF65-F5344CB8AC3E}">
        <p14:creationId xmlns:p14="http://schemas.microsoft.com/office/powerpoint/2010/main" val="3144162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4/24/2026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2298226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BBB549-C0C6-899A-7BE0-A81F0D7C04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DEEC4F-1AC2-4506-46B7-0116BD806F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C06498-B5A8-484C-4886-BC7AA831B7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CBE857-177B-4E83-AF1A-887C2997DBC6}" type="datetimeFigureOut">
              <a:rPr lang="en-US" smtClean="0"/>
              <a:t>4/24/2026</a:t>
            </a:fld>
            <a:endParaRPr lang="en-US"/>
          </a:p>
        </p:txBody>
      </p:sp>
      <p:sp>
        <p:nvSpPr>
          <p:cNvPr id="5" name="Footer Placeholder 4">
            <a:extLst>
              <a:ext uri="{FF2B5EF4-FFF2-40B4-BE49-F238E27FC236}">
                <a16:creationId xmlns:a16="http://schemas.microsoft.com/office/drawing/2014/main" id="{5F706FDC-032F-CAA3-FB4C-937051F415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F92AB65-1AE1-9800-5F6F-09D5E56E00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202DEA-5524-474C-A8D1-57CD17794292}" type="slidenum">
              <a:rPr lang="en-US" smtClean="0"/>
              <a:t>‹#›</a:t>
            </a:fld>
            <a:endParaRPr lang="en-US"/>
          </a:p>
        </p:txBody>
      </p:sp>
    </p:spTree>
    <p:extLst>
      <p:ext uri="{BB962C8B-B14F-4D97-AF65-F5344CB8AC3E}">
        <p14:creationId xmlns:p14="http://schemas.microsoft.com/office/powerpoint/2010/main" val="375910568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sfu.ca/~whitmore/style/conciseness_01.htm" TargetMode="External"/><Relationship Id="rId2" Type="http://schemas.openxmlformats.org/officeDocument/2006/relationships/hyperlink" Target="https://blog.udemy.com/redundancy-examples/" TargetMode="External"/><Relationship Id="rId1" Type="http://schemas.openxmlformats.org/officeDocument/2006/relationships/slideLayout" Target="../slideLayouts/slideLayout1.xml"/><Relationship Id="rId5" Type="http://schemas.openxmlformats.org/officeDocument/2006/relationships/hyperlink" Target="http://www.sandhills.edu/academic-departments/english/wordguide/chartadvice.html" TargetMode="External"/><Relationship Id="rId4" Type="http://schemas.openxmlformats.org/officeDocument/2006/relationships/hyperlink" Target="http://www.techprose.com/assets/techwriting_guidelines.pdf"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customXml" Target="../ink/ink2.xml"/><Relationship Id="rId4" Type="http://schemas.openxmlformats.org/officeDocument/2006/relationships/image" Target="../media/image90.png"/></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ENGR 181W</a:t>
            </a:r>
          </a:p>
        </p:txBody>
      </p:sp>
      <p:sp>
        <p:nvSpPr>
          <p:cNvPr id="3" name="Subtitle 2"/>
          <p:cNvSpPr>
            <a:spLocks noGrp="1"/>
          </p:cNvSpPr>
          <p:nvPr>
            <p:ph type="subTitle" idx="1"/>
          </p:nvPr>
        </p:nvSpPr>
        <p:spPr>
          <a:xfrm>
            <a:off x="319453" y="4599633"/>
            <a:ext cx="11553093" cy="2070798"/>
          </a:xfrm>
        </p:spPr>
        <p:txBody>
          <a:bodyPr>
            <a:normAutofit/>
          </a:bodyPr>
          <a:lstStyle/>
          <a:p>
            <a:pPr algn="l"/>
            <a:r>
              <a:rPr lang="en-US" sz="1800" dirty="0">
                <a:hlinkClick r:id="rId2"/>
              </a:rPr>
              <a:t>https://blog.udemy.com/redundancy-examples/</a:t>
            </a:r>
            <a:endParaRPr lang="en-US" sz="1800" dirty="0"/>
          </a:p>
          <a:p>
            <a:pPr algn="l"/>
            <a:r>
              <a:rPr lang="en-US" sz="1800" dirty="0">
                <a:hlinkClick r:id="rId3"/>
              </a:rPr>
              <a:t>http://www.sfu.ca/~whitmore/style/conciseness_01.htm</a:t>
            </a:r>
            <a:endParaRPr lang="en-US" sz="1800" dirty="0"/>
          </a:p>
          <a:p>
            <a:pPr algn="l"/>
            <a:r>
              <a:rPr lang="en-US" sz="1800" dirty="0">
                <a:hlinkClick r:id="rId4"/>
              </a:rPr>
              <a:t>http://www.techprose.com/assets/techwriting_guidelines.pdf</a:t>
            </a:r>
            <a:endParaRPr lang="en-US" sz="1800" dirty="0"/>
          </a:p>
          <a:p>
            <a:pPr algn="l"/>
            <a:r>
              <a:rPr lang="en-US" sz="1800" dirty="0">
                <a:hlinkClick r:id="rId5"/>
              </a:rPr>
              <a:t>http://www.sandhills.edu/academic-departments/english/wordguide/chartadvice.html</a:t>
            </a:r>
            <a:endParaRPr lang="en-US" sz="1800" dirty="0"/>
          </a:p>
          <a:p>
            <a:pPr algn="l"/>
            <a:r>
              <a:rPr lang="en-US" sz="1800" dirty="0"/>
              <a:t>https://infogram.com/blog/do-you-know-when-to-use-tables-vs-charts/</a:t>
            </a:r>
          </a:p>
          <a:p>
            <a:pPr algn="l"/>
            <a:endParaRPr lang="en-US" sz="1800" dirty="0"/>
          </a:p>
          <a:p>
            <a:pPr algn="l"/>
            <a:endParaRPr lang="en-US" sz="1800" dirty="0"/>
          </a:p>
          <a:p>
            <a:pPr algn="l"/>
            <a:endParaRPr lang="en-US" sz="1800" dirty="0"/>
          </a:p>
          <a:p>
            <a:pPr algn="l"/>
            <a:endParaRPr lang="en-US" sz="1800" dirty="0"/>
          </a:p>
        </p:txBody>
      </p:sp>
    </p:spTree>
    <p:extLst>
      <p:ext uri="{BB962C8B-B14F-4D97-AF65-F5344CB8AC3E}">
        <p14:creationId xmlns:p14="http://schemas.microsoft.com/office/powerpoint/2010/main" val="746834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4D2F1-5248-F479-FA75-A46150B75F33}"/>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32244D7D-AC5B-0A8D-C315-B09D2F4F73EB}"/>
              </a:ext>
            </a:extLst>
          </p:cNvPr>
          <p:cNvSpPr>
            <a:spLocks noGrp="1"/>
          </p:cNvSpPr>
          <p:nvPr>
            <p:ph type="subTitle" idx="1"/>
          </p:nvPr>
        </p:nvSpPr>
        <p:spPr/>
        <p:txBody>
          <a:bodyPr/>
          <a:lstStyle/>
          <a:p>
            <a:endParaRPr lang="en-US"/>
          </a:p>
        </p:txBody>
      </p:sp>
      <p:pic>
        <p:nvPicPr>
          <p:cNvPr id="1026" name="Picture 2" descr="Cover for guide on data presentation by SlideModel">
            <a:extLst>
              <a:ext uri="{FF2B5EF4-FFF2-40B4-BE49-F238E27FC236}">
                <a16:creationId xmlns:a16="http://schemas.microsoft.com/office/drawing/2014/main" id="{399940DD-40FB-D169-BDF9-61E6E93515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977" y="-216648"/>
            <a:ext cx="11430000" cy="62388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D95F514-6567-5DC5-72D8-219D65462CA8}"/>
              </a:ext>
            </a:extLst>
          </p:cNvPr>
          <p:cNvSpPr txBox="1"/>
          <p:nvPr/>
        </p:nvSpPr>
        <p:spPr>
          <a:xfrm>
            <a:off x="752654" y="6488668"/>
            <a:ext cx="60945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https://slidemodel.com/turning-data-eye-opening-stories/</a:t>
            </a:r>
          </a:p>
        </p:txBody>
      </p:sp>
    </p:spTree>
    <p:extLst>
      <p:ext uri="{BB962C8B-B14F-4D97-AF65-F5344CB8AC3E}">
        <p14:creationId xmlns:p14="http://schemas.microsoft.com/office/powerpoint/2010/main" val="4100924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b="1" dirty="0"/>
              <a:t>Visuals, Tables, and Graphs in Technical &amp; Scientific Reports</a:t>
            </a:r>
          </a:p>
        </p:txBody>
      </p:sp>
      <p:sp>
        <p:nvSpPr>
          <p:cNvPr id="3" name="Content Placeholder 2"/>
          <p:cNvSpPr>
            <a:spLocks noGrp="1"/>
          </p:cNvSpPr>
          <p:nvPr>
            <p:ph idx="1"/>
          </p:nvPr>
        </p:nvSpPr>
        <p:spPr>
          <a:xfrm>
            <a:off x="1981200" y="3133165"/>
            <a:ext cx="8229600" cy="2992998"/>
          </a:xfrm>
        </p:spPr>
        <p:txBody>
          <a:bodyPr/>
          <a:lstStyle/>
          <a:p>
            <a:r>
              <a:rPr dirty="0"/>
              <a:t>History, Importance, and Best Practices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4B3A515-ACEE-D9F7-A59D-A9A6393DE27C}"/>
              </a:ext>
            </a:extLst>
          </p:cNvPr>
          <p:cNvPicPr>
            <a:picLocks noChangeAspect="1"/>
          </p:cNvPicPr>
          <p:nvPr/>
        </p:nvPicPr>
        <p:blipFill>
          <a:blip r:embed="rId2"/>
          <a:stretch>
            <a:fillRect/>
          </a:stretch>
        </p:blipFill>
        <p:spPr>
          <a:xfrm>
            <a:off x="2856628" y="3056763"/>
            <a:ext cx="6478744" cy="3642556"/>
          </a:xfrm>
          <a:prstGeom prst="rect">
            <a:avLst/>
          </a:prstGeom>
        </p:spPr>
      </p:pic>
      <p:sp>
        <p:nvSpPr>
          <p:cNvPr id="6" name="TextBox 5">
            <a:extLst>
              <a:ext uri="{FF2B5EF4-FFF2-40B4-BE49-F238E27FC236}">
                <a16:creationId xmlns:a16="http://schemas.microsoft.com/office/drawing/2014/main" id="{D4C6DAB9-E4D0-551B-498C-969B4AD1E05D}"/>
              </a:ext>
            </a:extLst>
          </p:cNvPr>
          <p:cNvSpPr txBox="1"/>
          <p:nvPr/>
        </p:nvSpPr>
        <p:spPr>
          <a:xfrm>
            <a:off x="126026" y="0"/>
            <a:ext cx="8754206" cy="584775"/>
          </a:xfrm>
          <a:prstGeom prst="rect">
            <a:avLst/>
          </a:prstGeom>
          <a:noFill/>
        </p:spPr>
        <p:txBody>
          <a:bodyPr wrap="square">
            <a:spAutoFit/>
          </a:bodyPr>
          <a:lstStyle/>
          <a:p>
            <a:r>
              <a:rPr lang="en-US" sz="3200" b="1" dirty="0"/>
              <a:t>The Challenger Disaster: When a Graph Failed</a:t>
            </a:r>
          </a:p>
        </p:txBody>
      </p:sp>
      <p:sp>
        <p:nvSpPr>
          <p:cNvPr id="8" name="TextBox 7">
            <a:extLst>
              <a:ext uri="{FF2B5EF4-FFF2-40B4-BE49-F238E27FC236}">
                <a16:creationId xmlns:a16="http://schemas.microsoft.com/office/drawing/2014/main" id="{1DC621C9-79BA-E2A1-273C-E8926F1BECFA}"/>
              </a:ext>
            </a:extLst>
          </p:cNvPr>
          <p:cNvSpPr txBox="1"/>
          <p:nvPr/>
        </p:nvSpPr>
        <p:spPr>
          <a:xfrm>
            <a:off x="126026" y="584775"/>
            <a:ext cx="12065974" cy="2677656"/>
          </a:xfrm>
          <a:prstGeom prst="rect">
            <a:avLst/>
          </a:prstGeom>
          <a:noFill/>
        </p:spPr>
        <p:txBody>
          <a:bodyPr wrap="square">
            <a:spAutoFit/>
          </a:bodyPr>
          <a:lstStyle/>
          <a:p>
            <a:r>
              <a:rPr lang="en-US" sz="2800" dirty="0"/>
              <a:t>On January 28, 1986, NASA launched the Space Shuttle Challenger.</a:t>
            </a:r>
          </a:p>
          <a:p>
            <a:endParaRPr lang="en-US" sz="2800" dirty="0"/>
          </a:p>
          <a:p>
            <a:r>
              <a:rPr lang="en-US" sz="2800" dirty="0"/>
              <a:t>It exploded 73 seconds after liftoff, killing all seven astronauts.</a:t>
            </a:r>
          </a:p>
          <a:p>
            <a:endParaRPr lang="en-US" sz="2800" dirty="0"/>
          </a:p>
          <a:p>
            <a:r>
              <a:rPr lang="en-US" sz="2800" b="1" dirty="0"/>
              <a:t>The cause</a:t>
            </a:r>
            <a:r>
              <a:rPr lang="en-US" sz="2800" dirty="0"/>
              <a:t>: failure of O-ring seals in the solid rocket boosters due to low temperature.</a:t>
            </a:r>
          </a:p>
        </p:txBody>
      </p:sp>
    </p:spTree>
    <p:extLst>
      <p:ext uri="{BB962C8B-B14F-4D97-AF65-F5344CB8AC3E}">
        <p14:creationId xmlns:p14="http://schemas.microsoft.com/office/powerpoint/2010/main" val="2351702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74986D0-AB62-1EAA-6C4D-FCB095694C5F}"/>
              </a:ext>
            </a:extLst>
          </p:cNvPr>
          <p:cNvSpPr txBox="1"/>
          <p:nvPr/>
        </p:nvSpPr>
        <p:spPr>
          <a:xfrm>
            <a:off x="1" y="41592"/>
            <a:ext cx="6246564" cy="6488828"/>
          </a:xfrm>
          <a:prstGeom prst="rect">
            <a:avLst/>
          </a:prstGeom>
          <a:solidFill>
            <a:schemeClr val="accent3">
              <a:lumMod val="40000"/>
              <a:lumOff val="60000"/>
            </a:schemeClr>
          </a:solidFill>
        </p:spPr>
        <p:txBody>
          <a:bodyPr wrap="square">
            <a:spAutoFit/>
          </a:bodyPr>
          <a:lstStyle/>
          <a:p>
            <a:pPr>
              <a:lnSpc>
                <a:spcPct val="150000"/>
              </a:lnSpc>
            </a:pPr>
            <a:r>
              <a:rPr lang="en-US" sz="2800" b="1" dirty="0"/>
              <a:t>The Engineering Concern</a:t>
            </a:r>
          </a:p>
          <a:p>
            <a:pPr>
              <a:lnSpc>
                <a:spcPct val="150000"/>
              </a:lnSpc>
            </a:pPr>
            <a:r>
              <a:rPr lang="en-US" sz="2800" dirty="0"/>
              <a:t>Engineers at </a:t>
            </a:r>
            <a:r>
              <a:rPr lang="en-US" sz="2800" i="1" dirty="0"/>
              <a:t>Morton Thiokol </a:t>
            </a:r>
            <a:r>
              <a:rPr lang="en-US" sz="2800" dirty="0"/>
              <a:t>(the booster manufacturer) were deeply worried:</a:t>
            </a:r>
          </a:p>
          <a:p>
            <a:pPr>
              <a:lnSpc>
                <a:spcPct val="150000"/>
              </a:lnSpc>
              <a:buFont typeface="Arial" panose="020B0604020202020204" pitchFamily="34" charset="0"/>
              <a:buChar char="•"/>
            </a:pPr>
            <a:r>
              <a:rPr lang="en-US" sz="2800" dirty="0"/>
              <a:t>Past launches had shown </a:t>
            </a:r>
            <a:r>
              <a:rPr lang="en-US" sz="2800" b="1" dirty="0"/>
              <a:t>O-ring damage</a:t>
            </a:r>
            <a:r>
              <a:rPr lang="en-US" sz="2800" dirty="0"/>
              <a:t> at lower temperatures </a:t>
            </a:r>
          </a:p>
          <a:p>
            <a:pPr>
              <a:lnSpc>
                <a:spcPct val="150000"/>
              </a:lnSpc>
              <a:buFont typeface="Arial" panose="020B0604020202020204" pitchFamily="34" charset="0"/>
              <a:buChar char="•"/>
            </a:pPr>
            <a:r>
              <a:rPr lang="en-US" sz="2800" dirty="0"/>
              <a:t>The forecast temperature was </a:t>
            </a:r>
            <a:r>
              <a:rPr lang="en-US" sz="2800" b="1" dirty="0"/>
              <a:t>much colder than any previous launch</a:t>
            </a:r>
            <a:r>
              <a:rPr lang="en-US" sz="2800" dirty="0"/>
              <a:t> </a:t>
            </a:r>
          </a:p>
          <a:p>
            <a:pPr>
              <a:lnSpc>
                <a:spcPct val="150000"/>
              </a:lnSpc>
            </a:pPr>
            <a:r>
              <a:rPr lang="en-US" sz="2800" dirty="0"/>
              <a:t>They tried to communicate this risk to NASA management.</a:t>
            </a:r>
          </a:p>
          <a:p>
            <a:pPr>
              <a:lnSpc>
                <a:spcPct val="150000"/>
              </a:lnSpc>
            </a:pPr>
            <a:endParaRPr lang="en-US" sz="2800" dirty="0"/>
          </a:p>
        </p:txBody>
      </p:sp>
      <p:sp>
        <p:nvSpPr>
          <p:cNvPr id="7" name="TextBox 6">
            <a:extLst>
              <a:ext uri="{FF2B5EF4-FFF2-40B4-BE49-F238E27FC236}">
                <a16:creationId xmlns:a16="http://schemas.microsoft.com/office/drawing/2014/main" id="{A71FF59A-B505-69BD-7FFB-FB79023A6352}"/>
              </a:ext>
            </a:extLst>
          </p:cNvPr>
          <p:cNvSpPr txBox="1"/>
          <p:nvPr/>
        </p:nvSpPr>
        <p:spPr>
          <a:xfrm>
            <a:off x="6374921" y="41592"/>
            <a:ext cx="5817079" cy="6632072"/>
          </a:xfrm>
          <a:prstGeom prst="rect">
            <a:avLst/>
          </a:prstGeom>
          <a:solidFill>
            <a:schemeClr val="accent6">
              <a:lumMod val="40000"/>
              <a:lumOff val="60000"/>
            </a:schemeClr>
          </a:solidFill>
        </p:spPr>
        <p:txBody>
          <a:bodyPr wrap="square">
            <a:spAutoFit/>
          </a:bodyPr>
          <a:lstStyle/>
          <a:p>
            <a:pPr>
              <a:lnSpc>
                <a:spcPct val="150000"/>
              </a:lnSpc>
            </a:pPr>
            <a:r>
              <a:rPr lang="en-US" sz="2600" b="1" dirty="0"/>
              <a:t>The Critical Problem: The Graph</a:t>
            </a:r>
          </a:p>
          <a:p>
            <a:pPr>
              <a:lnSpc>
                <a:spcPct val="150000"/>
              </a:lnSpc>
            </a:pPr>
            <a:r>
              <a:rPr lang="en-US" sz="2600" dirty="0"/>
              <a:t>The engineers presented charts to NASA- but:</a:t>
            </a:r>
          </a:p>
          <a:p>
            <a:pPr>
              <a:lnSpc>
                <a:spcPct val="150000"/>
              </a:lnSpc>
            </a:pPr>
            <a:r>
              <a:rPr lang="en-US" sz="2600" dirty="0"/>
              <a:t>Data were fragmented across multiple tables</a:t>
            </a:r>
          </a:p>
          <a:p>
            <a:pPr marL="457200" indent="-457200">
              <a:lnSpc>
                <a:spcPct val="150000"/>
              </a:lnSpc>
              <a:buFont typeface="Arial" panose="020B0604020202020204" pitchFamily="34" charset="0"/>
              <a:buChar char="•"/>
            </a:pPr>
            <a:r>
              <a:rPr lang="en-US" sz="2600" b="1" dirty="0"/>
              <a:t>No clear </a:t>
            </a:r>
            <a:r>
              <a:rPr lang="en-US" sz="2600" dirty="0"/>
              <a:t>temperature vs failure </a:t>
            </a:r>
            <a:r>
              <a:rPr lang="en-US" sz="2600" b="1" dirty="0"/>
              <a:t>relationship</a:t>
            </a:r>
          </a:p>
          <a:p>
            <a:pPr marL="457200" indent="-457200">
              <a:lnSpc>
                <a:spcPct val="150000"/>
              </a:lnSpc>
              <a:buFont typeface="Arial" panose="020B0604020202020204" pitchFamily="34" charset="0"/>
              <a:buChar char="•"/>
            </a:pPr>
            <a:r>
              <a:rPr lang="en-US" sz="2600" dirty="0"/>
              <a:t>The visual did not show </a:t>
            </a:r>
            <a:r>
              <a:rPr lang="en-US" sz="2600" b="1" dirty="0"/>
              <a:t>the pattern </a:t>
            </a:r>
            <a:r>
              <a:rPr lang="en-US" sz="2600" dirty="0"/>
              <a:t>of increasing risk</a:t>
            </a:r>
          </a:p>
          <a:p>
            <a:pPr>
              <a:lnSpc>
                <a:spcPct val="150000"/>
              </a:lnSpc>
            </a:pPr>
            <a:r>
              <a:rPr lang="en-US" sz="2600" b="1" dirty="0"/>
              <a:t>In other words, the data existed—but the story was invisible.</a:t>
            </a:r>
          </a:p>
        </p:txBody>
      </p:sp>
    </p:spTree>
    <p:extLst>
      <p:ext uri="{BB962C8B-B14F-4D97-AF65-F5344CB8AC3E}">
        <p14:creationId xmlns:p14="http://schemas.microsoft.com/office/powerpoint/2010/main" val="1225248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2F3AC9-7F76-1DB2-DFC7-7FFC49620577}"/>
              </a:ext>
            </a:extLst>
          </p:cNvPr>
          <p:cNvSpPr>
            <a:spLocks noGrp="1"/>
          </p:cNvSpPr>
          <p:nvPr>
            <p:ph idx="1"/>
          </p:nvPr>
        </p:nvSpPr>
        <p:spPr>
          <a:xfrm>
            <a:off x="211157" y="134957"/>
            <a:ext cx="11769686" cy="6276859"/>
          </a:xfrm>
        </p:spPr>
        <p:txBody>
          <a:bodyPr>
            <a:normAutofit fontScale="92500" lnSpcReduction="20000"/>
          </a:bodyPr>
          <a:lstStyle/>
          <a:p>
            <a:r>
              <a:rPr lang="en-US" b="1" dirty="0"/>
              <a:t>What Was Missing</a:t>
            </a:r>
          </a:p>
          <a:p>
            <a:r>
              <a:rPr lang="en-US" dirty="0"/>
              <a:t>A simple, effective graph would have shown:</a:t>
            </a:r>
          </a:p>
          <a:p>
            <a:pPr>
              <a:buFont typeface="Arial" panose="020B0604020202020204" pitchFamily="34" charset="0"/>
              <a:buChar char="•"/>
            </a:pPr>
            <a:r>
              <a:rPr lang="en-US" dirty="0"/>
              <a:t>X-axis: Temperature </a:t>
            </a:r>
          </a:p>
          <a:p>
            <a:pPr>
              <a:buFont typeface="Arial" panose="020B0604020202020204" pitchFamily="34" charset="0"/>
              <a:buChar char="•"/>
            </a:pPr>
            <a:r>
              <a:rPr lang="en-US" dirty="0"/>
              <a:t>Y-axis: O-ring damage </a:t>
            </a:r>
          </a:p>
          <a:p>
            <a:pPr>
              <a:buFont typeface="Arial" panose="020B0604020202020204" pitchFamily="34" charset="0"/>
              <a:buChar char="•"/>
            </a:pPr>
            <a:r>
              <a:rPr lang="en-US" dirty="0"/>
              <a:t>Clear trend: </a:t>
            </a:r>
            <a:r>
              <a:rPr lang="en-US" b="1" dirty="0"/>
              <a:t>Lower temperature → higher risk</a:t>
            </a:r>
            <a:r>
              <a:rPr lang="en-US" dirty="0"/>
              <a:t> </a:t>
            </a:r>
          </a:p>
          <a:p>
            <a:r>
              <a:rPr lang="en-US" dirty="0"/>
              <a:t>Instead, the data were buried in confusing visuals.</a:t>
            </a:r>
          </a:p>
          <a:p>
            <a:endParaRPr lang="en-US" dirty="0"/>
          </a:p>
          <a:p>
            <a:r>
              <a:rPr lang="en-US" b="1" dirty="0"/>
              <a:t>What Happened</a:t>
            </a:r>
          </a:p>
          <a:p>
            <a:endParaRPr lang="en-US" dirty="0"/>
          </a:p>
          <a:p>
            <a:r>
              <a:rPr lang="en-US" dirty="0"/>
              <a:t>NASA managers looked at the charts and concluded: “There is no clear evidence that temperature is a critical factor.”</a:t>
            </a:r>
          </a:p>
          <a:p>
            <a:endParaRPr lang="en-US" dirty="0"/>
          </a:p>
          <a:p>
            <a:r>
              <a:rPr lang="en-US" b="1" dirty="0"/>
              <a:t>The launch proceeded.</a:t>
            </a:r>
          </a:p>
          <a:p>
            <a:endParaRPr lang="en-US" dirty="0"/>
          </a:p>
        </p:txBody>
      </p:sp>
    </p:spTree>
    <p:extLst>
      <p:ext uri="{BB962C8B-B14F-4D97-AF65-F5344CB8AC3E}">
        <p14:creationId xmlns:p14="http://schemas.microsoft.com/office/powerpoint/2010/main" val="2860129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7D3AF048-598B-2190-2EF3-7D4F462A3142}"/>
              </a:ext>
            </a:extLst>
          </p:cNvPr>
          <p:cNvSpPr>
            <a:spLocks noChangeArrowheads="1"/>
          </p:cNvSpPr>
          <p:nvPr/>
        </p:nvSpPr>
        <p:spPr bwMode="auto">
          <a:xfrm>
            <a:off x="117513" y="-75717"/>
            <a:ext cx="1187618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The Aftermath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After the disaster, analysts like Edward Tufte reconstructed the data properly.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A simple scatter plot revealed: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A </a:t>
            </a:r>
            <a:r>
              <a:rPr kumimoji="0" lang="en-US" altLang="en-US" sz="2800" b="1" i="0" u="none" strike="noStrike" cap="none" normalizeH="0" baseline="0" dirty="0">
                <a:ln>
                  <a:noFill/>
                </a:ln>
                <a:solidFill>
                  <a:schemeClr val="tx1"/>
                </a:solidFill>
                <a:effectLst/>
                <a:latin typeface="Arial" panose="020B0604020202020204" pitchFamily="34" charset="0"/>
              </a:rPr>
              <a:t>strong correlation</a:t>
            </a:r>
            <a:r>
              <a:rPr kumimoji="0" lang="en-US" altLang="en-US" sz="2800" b="0" i="0" u="none" strike="noStrike" cap="none" normalizeH="0" baseline="0" dirty="0">
                <a:ln>
                  <a:noFill/>
                </a:ln>
                <a:solidFill>
                  <a:schemeClr val="tx1"/>
                </a:solidFill>
                <a:effectLst/>
                <a:latin typeface="Arial" panose="020B0604020202020204" pitchFamily="34" charset="0"/>
              </a:rPr>
              <a:t> between cold temperature and O-ring failure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launch occurred at the </a:t>
            </a:r>
            <a:r>
              <a:rPr kumimoji="0" lang="en-US" altLang="en-US" sz="2800" b="1" i="0" u="none" strike="noStrike" cap="none" normalizeH="0" baseline="0" dirty="0">
                <a:ln>
                  <a:noFill/>
                </a:ln>
                <a:solidFill>
                  <a:schemeClr val="tx1"/>
                </a:solidFill>
                <a:effectLst/>
                <a:latin typeface="Arial" panose="020B0604020202020204" pitchFamily="34" charset="0"/>
              </a:rPr>
              <a:t>worst possible data point</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Arial" panose="020B0604020202020204" pitchFamily="34" charset="0"/>
              </a:rPr>
              <a:t>The correct graph made the danger obvious in seconds.</a:t>
            </a:r>
          </a:p>
        </p:txBody>
      </p:sp>
      <p:sp>
        <p:nvSpPr>
          <p:cNvPr id="11" name="Rectangle 8">
            <a:extLst>
              <a:ext uri="{FF2B5EF4-FFF2-40B4-BE49-F238E27FC236}">
                <a16:creationId xmlns:a16="http://schemas.microsoft.com/office/drawing/2014/main" id="{49763AA7-5525-942D-C7CA-0A8C3AAA04C3}"/>
              </a:ext>
            </a:extLst>
          </p:cNvPr>
          <p:cNvSpPr>
            <a:spLocks noChangeArrowheads="1"/>
          </p:cNvSpPr>
          <p:nvPr/>
        </p:nvSpPr>
        <p:spPr bwMode="auto">
          <a:xfrm>
            <a:off x="0" y="3894601"/>
            <a:ext cx="12192000" cy="2862322"/>
          </a:xfrm>
          <a:prstGeom prst="rect">
            <a:avLst/>
          </a:prstGeom>
          <a:solidFill>
            <a:schemeClr val="accent3">
              <a:lumMod val="40000"/>
              <a:lumOff val="6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Why This Story Matters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Data Alone Is Not Enough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The engineers had the right data—but not the right </a:t>
            </a:r>
            <a:r>
              <a:rPr kumimoji="0" lang="en-US" altLang="en-US" sz="2400" b="1" i="0" u="none" strike="noStrike" cap="none" normalizeH="0" baseline="0" dirty="0">
                <a:ln>
                  <a:noFill/>
                </a:ln>
                <a:solidFill>
                  <a:schemeClr val="tx1"/>
                </a:solidFill>
                <a:effectLst/>
                <a:latin typeface="Arial" panose="020B0604020202020204" pitchFamily="34" charset="0"/>
              </a:rPr>
              <a:t>visual argument</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Visualization Is Decision-Making</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46045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r>
              <a:t>- Historical evolution of data visualization</a:t>
            </a:r>
          </a:p>
          <a:p>
            <a:r>
              <a:t>- Importance of visuals in reports</a:t>
            </a:r>
          </a:p>
          <a:p>
            <a:r>
              <a:t>- Types: tables, graphs, images</a:t>
            </a:r>
          </a:p>
          <a:p>
            <a:r>
              <a:t>- Design principles and best practices</a:t>
            </a:r>
          </a:p>
          <a:p>
            <a:r>
              <a:t>- Common pitfalls</a:t>
            </a:r>
          </a:p>
          <a:p>
            <a:r>
              <a:t>- Case studies and examples</a:t>
            </a:r>
          </a:p>
          <a:p>
            <a:r>
              <a:t>- Conclusion and Q&amp;A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2624" y="-106362"/>
            <a:ext cx="9135035" cy="1143000"/>
          </a:xfrm>
        </p:spPr>
        <p:txBody>
          <a:bodyPr/>
          <a:lstStyle/>
          <a:p>
            <a:r>
              <a:rPr dirty="0"/>
              <a:t>Origins of Scientific Visualization</a:t>
            </a:r>
          </a:p>
        </p:txBody>
      </p:sp>
      <p:sp>
        <p:nvSpPr>
          <p:cNvPr id="3" name="Content Placeholder 2"/>
          <p:cNvSpPr>
            <a:spLocks noGrp="1"/>
          </p:cNvSpPr>
          <p:nvPr>
            <p:ph idx="1"/>
          </p:nvPr>
        </p:nvSpPr>
        <p:spPr>
          <a:xfrm>
            <a:off x="1613648" y="1317813"/>
            <a:ext cx="5701553" cy="5329517"/>
          </a:xfrm>
        </p:spPr>
        <p:txBody>
          <a:bodyPr>
            <a:normAutofit fontScale="92500" lnSpcReduction="10000"/>
          </a:bodyPr>
          <a:lstStyle/>
          <a:p>
            <a:r>
              <a:rPr sz="2800" dirty="0"/>
              <a:t> </a:t>
            </a:r>
            <a:r>
              <a:rPr lang="en-US" sz="2800" b="1" dirty="0"/>
              <a:t>Nicole Oresme </a:t>
            </a:r>
            <a:r>
              <a:rPr lang="en-US" sz="2800" dirty="0"/>
              <a:t>(c. 1323-1382) </a:t>
            </a:r>
          </a:p>
          <a:p>
            <a:pPr lvl="1"/>
            <a:r>
              <a:rPr lang="en-US" sz="3000" dirty="0"/>
              <a:t>The  pioneer of  development of modern graphs and charting </a:t>
            </a:r>
          </a:p>
          <a:p>
            <a:pPr lvl="1"/>
            <a:r>
              <a:rPr lang="en-US" sz="3000" dirty="0"/>
              <a:t>Used diagrams to visualize mathematical concepts, particularly in the context of motion and acceleration. </a:t>
            </a:r>
          </a:p>
          <a:p>
            <a:endParaRPr lang="en-US" sz="2800" dirty="0"/>
          </a:p>
          <a:p>
            <a:r>
              <a:rPr lang="en-US" sz="2800" b="1" dirty="0"/>
              <a:t>Oresme</a:t>
            </a:r>
            <a:r>
              <a:rPr lang="en-US" sz="2800" dirty="0"/>
              <a:t>'s diagrams, which he called "Latitude of Forms," were used to represent quantities like position, velocity, and time, and to visualize the relationship between them. </a:t>
            </a:r>
            <a:endParaRPr sz="2800" dirty="0"/>
          </a:p>
        </p:txBody>
      </p:sp>
      <p:pic>
        <p:nvPicPr>
          <p:cNvPr id="5" name="Picture 4">
            <a:extLst>
              <a:ext uri="{FF2B5EF4-FFF2-40B4-BE49-F238E27FC236}">
                <a16:creationId xmlns:a16="http://schemas.microsoft.com/office/drawing/2014/main" id="{D566454C-7CCB-C9BE-329B-BEFB590B04AD}"/>
              </a:ext>
            </a:extLst>
          </p:cNvPr>
          <p:cNvPicPr>
            <a:picLocks noChangeAspect="1"/>
          </p:cNvPicPr>
          <p:nvPr/>
        </p:nvPicPr>
        <p:blipFill>
          <a:blip r:embed="rId2"/>
          <a:stretch>
            <a:fillRect/>
          </a:stretch>
        </p:blipFill>
        <p:spPr>
          <a:xfrm>
            <a:off x="8089118" y="1141640"/>
            <a:ext cx="2292012" cy="3321030"/>
          </a:xfrm>
          <a:prstGeom prst="rect">
            <a:avLst/>
          </a:prstGeom>
        </p:spPr>
      </p:pic>
      <p:sp>
        <p:nvSpPr>
          <p:cNvPr id="7" name="TextBox 6">
            <a:extLst>
              <a:ext uri="{FF2B5EF4-FFF2-40B4-BE49-F238E27FC236}">
                <a16:creationId xmlns:a16="http://schemas.microsoft.com/office/drawing/2014/main" id="{464F8533-9100-4768-4251-1885C4F24789}"/>
              </a:ext>
            </a:extLst>
          </p:cNvPr>
          <p:cNvSpPr txBox="1"/>
          <p:nvPr/>
        </p:nvSpPr>
        <p:spPr>
          <a:xfrm>
            <a:off x="8009234" y="3982571"/>
            <a:ext cx="2998540" cy="307777"/>
          </a:xfrm>
          <a:prstGeom prst="rect">
            <a:avLst/>
          </a:prstGeom>
          <a:noFill/>
        </p:spPr>
        <p:txBody>
          <a:bodyPr wrap="square">
            <a:spAutoFit/>
          </a:bodyPr>
          <a:lstStyle/>
          <a:p>
            <a:pPr defTabSz="457200"/>
            <a:r>
              <a:rPr lang="en-US" sz="1400" b="1" dirty="0">
                <a:solidFill>
                  <a:prstClr val="black"/>
                </a:solidFill>
                <a:latin typeface="Calibri"/>
              </a:rPr>
              <a:t>De </a:t>
            </a:r>
            <a:r>
              <a:rPr lang="en-US" sz="1400" b="1" dirty="0" err="1">
                <a:solidFill>
                  <a:prstClr val="black"/>
                </a:solidFill>
                <a:latin typeface="Calibri"/>
              </a:rPr>
              <a:t>latitudinibus</a:t>
            </a:r>
            <a:r>
              <a:rPr lang="en-US" sz="1400" b="1" dirty="0">
                <a:solidFill>
                  <a:prstClr val="black"/>
                </a:solidFill>
                <a:latin typeface="Calibri"/>
              </a:rPr>
              <a:t> </a:t>
            </a:r>
            <a:r>
              <a:rPr lang="en-US" sz="1400" b="1" dirty="0" err="1">
                <a:solidFill>
                  <a:prstClr val="black"/>
                </a:solidFill>
                <a:latin typeface="Calibri"/>
              </a:rPr>
              <a:t>formarum</a:t>
            </a:r>
            <a:r>
              <a:rPr lang="en-US" sz="1400" b="1" dirty="0">
                <a:solidFill>
                  <a:prstClr val="black"/>
                </a:solidFill>
                <a:latin typeface="Calibri"/>
              </a:rPr>
              <a:t>, 1486</a:t>
            </a:r>
          </a:p>
        </p:txBody>
      </p:sp>
      <p:pic>
        <p:nvPicPr>
          <p:cNvPr id="4" name="Picture 3">
            <a:extLst>
              <a:ext uri="{FF2B5EF4-FFF2-40B4-BE49-F238E27FC236}">
                <a16:creationId xmlns:a16="http://schemas.microsoft.com/office/drawing/2014/main" id="{6ED506E0-C23B-E9BB-F9B7-443B34229955}"/>
              </a:ext>
            </a:extLst>
          </p:cNvPr>
          <p:cNvPicPr>
            <a:picLocks noChangeAspect="1"/>
          </p:cNvPicPr>
          <p:nvPr/>
        </p:nvPicPr>
        <p:blipFill>
          <a:blip r:embed="rId3"/>
          <a:stretch>
            <a:fillRect/>
          </a:stretch>
        </p:blipFill>
        <p:spPr>
          <a:xfrm>
            <a:off x="8142406" y="4906735"/>
            <a:ext cx="2828925" cy="16192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A86E75E-D2F5-521D-168A-CA71CF0FB782}"/>
              </a:ext>
            </a:extLst>
          </p:cNvPr>
          <p:cNvPicPr>
            <a:picLocks noChangeAspect="1"/>
          </p:cNvPicPr>
          <p:nvPr/>
        </p:nvPicPr>
        <p:blipFill>
          <a:blip r:embed="rId2"/>
          <a:stretch>
            <a:fillRect/>
          </a:stretch>
        </p:blipFill>
        <p:spPr>
          <a:xfrm>
            <a:off x="2978988" y="0"/>
            <a:ext cx="9144000" cy="5000625"/>
          </a:xfrm>
          <a:prstGeom prst="rect">
            <a:avLst/>
          </a:prstGeom>
          <a:ln w="15875">
            <a:solidFill>
              <a:schemeClr val="accent1"/>
            </a:solidFill>
          </a:ln>
        </p:spPr>
      </p:pic>
      <p:sp>
        <p:nvSpPr>
          <p:cNvPr id="4" name="TextBox 3">
            <a:extLst>
              <a:ext uri="{FF2B5EF4-FFF2-40B4-BE49-F238E27FC236}">
                <a16:creationId xmlns:a16="http://schemas.microsoft.com/office/drawing/2014/main" id="{BA3F24D8-7711-BC81-E5F6-A61265052D79}"/>
              </a:ext>
            </a:extLst>
          </p:cNvPr>
          <p:cNvSpPr txBox="1"/>
          <p:nvPr/>
        </p:nvSpPr>
        <p:spPr>
          <a:xfrm>
            <a:off x="69012" y="5041624"/>
            <a:ext cx="12122988" cy="1631216"/>
          </a:xfrm>
          <a:prstGeom prst="rect">
            <a:avLst/>
          </a:prstGeom>
          <a:noFill/>
        </p:spPr>
        <p:txBody>
          <a:bodyPr wrap="square">
            <a:spAutoFit/>
          </a:bodyPr>
          <a:lstStyle/>
          <a:p>
            <a:r>
              <a:rPr lang="en-US" sz="2000" b="1" dirty="0"/>
              <a:t>Example of polar area diagram by Florence Nightingale (1820–1910).</a:t>
            </a:r>
          </a:p>
          <a:p>
            <a:endParaRPr lang="en-US" sz="2000" b="1" dirty="0"/>
          </a:p>
          <a:p>
            <a:endParaRPr lang="en-US" sz="2000" b="1" dirty="0"/>
          </a:p>
          <a:p>
            <a:r>
              <a:rPr lang="en-US" sz="2000" b="1" dirty="0"/>
              <a:t>This graphic indicates the annual rate of mortality per 1,000 in each month that occurred from preventable diseases (in blue), those that were the results of wounds (in red), and those due to other causes (in black).</a:t>
            </a:r>
          </a:p>
        </p:txBody>
      </p:sp>
      <p:sp>
        <p:nvSpPr>
          <p:cNvPr id="6" name="TextBox 5">
            <a:extLst>
              <a:ext uri="{FF2B5EF4-FFF2-40B4-BE49-F238E27FC236}">
                <a16:creationId xmlns:a16="http://schemas.microsoft.com/office/drawing/2014/main" id="{089CC7BD-7D40-0E89-C7EE-8A65789C5C80}"/>
              </a:ext>
            </a:extLst>
          </p:cNvPr>
          <p:cNvSpPr txBox="1"/>
          <p:nvPr/>
        </p:nvSpPr>
        <p:spPr>
          <a:xfrm>
            <a:off x="69012" y="234516"/>
            <a:ext cx="3045124" cy="1477328"/>
          </a:xfrm>
          <a:prstGeom prst="rect">
            <a:avLst/>
          </a:prstGeom>
          <a:noFill/>
        </p:spPr>
        <p:txBody>
          <a:bodyPr wrap="square">
            <a:spAutoFit/>
          </a:bodyPr>
          <a:lstStyle/>
          <a:p>
            <a:r>
              <a:rPr lang="en-US" b="1" dirty="0"/>
              <a:t>Diagram of the causes of mortality in the army in the East, made by Florence Nightingale, sent to Queen Victoria in 1858.</a:t>
            </a:r>
          </a:p>
        </p:txBody>
      </p:sp>
    </p:spTree>
    <p:extLst>
      <p:ext uri="{BB962C8B-B14F-4D97-AF65-F5344CB8AC3E}">
        <p14:creationId xmlns:p14="http://schemas.microsoft.com/office/powerpoint/2010/main" val="2468318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3278" y="0"/>
            <a:ext cx="8229600" cy="541150"/>
          </a:xfrm>
        </p:spPr>
        <p:txBody>
          <a:bodyPr>
            <a:normAutofit fontScale="90000"/>
          </a:bodyPr>
          <a:lstStyle/>
          <a:p>
            <a:r>
              <a:rPr dirty="0"/>
              <a:t>Evolution in the 20th Century</a:t>
            </a:r>
          </a:p>
        </p:txBody>
      </p:sp>
      <p:sp>
        <p:nvSpPr>
          <p:cNvPr id="3" name="Content Placeholder 2"/>
          <p:cNvSpPr>
            <a:spLocks noGrp="1"/>
          </p:cNvSpPr>
          <p:nvPr>
            <p:ph idx="1"/>
          </p:nvPr>
        </p:nvSpPr>
        <p:spPr>
          <a:xfrm>
            <a:off x="0" y="1000132"/>
            <a:ext cx="7269747" cy="1501588"/>
          </a:xfrm>
        </p:spPr>
        <p:txBody>
          <a:bodyPr>
            <a:normAutofit lnSpcReduction="10000"/>
          </a:bodyPr>
          <a:lstStyle/>
          <a:p>
            <a:r>
              <a:rPr dirty="0"/>
              <a:t>- </a:t>
            </a:r>
            <a:r>
              <a:rPr b="1" dirty="0"/>
              <a:t>Fritz Kahn</a:t>
            </a:r>
            <a:r>
              <a:rPr dirty="0"/>
              <a:t>’s infographics</a:t>
            </a:r>
            <a:endParaRPr lang="en-US" dirty="0"/>
          </a:p>
          <a:p>
            <a:pPr lvl="1"/>
            <a:r>
              <a:rPr lang="en-US" dirty="0"/>
              <a:t>Fritz Kahn (1888 – 1968), German physician pioneer of  infographics.</a:t>
            </a:r>
            <a:endParaRPr dirty="0"/>
          </a:p>
          <a:p>
            <a:pPr marL="0" indent="0">
              <a:buNone/>
            </a:pPr>
            <a:endParaRPr lang="en-US" dirty="0"/>
          </a:p>
        </p:txBody>
      </p:sp>
      <p:pic>
        <p:nvPicPr>
          <p:cNvPr id="6" name="Picture 5">
            <a:extLst>
              <a:ext uri="{FF2B5EF4-FFF2-40B4-BE49-F238E27FC236}">
                <a16:creationId xmlns:a16="http://schemas.microsoft.com/office/drawing/2014/main" id="{5D9B8B2A-259F-2D4F-6736-E37F91888F01}"/>
              </a:ext>
            </a:extLst>
          </p:cNvPr>
          <p:cNvPicPr>
            <a:picLocks noChangeAspect="1"/>
          </p:cNvPicPr>
          <p:nvPr/>
        </p:nvPicPr>
        <p:blipFill>
          <a:blip r:embed="rId2"/>
          <a:stretch>
            <a:fillRect/>
          </a:stretch>
        </p:blipFill>
        <p:spPr>
          <a:xfrm>
            <a:off x="8557591" y="60782"/>
            <a:ext cx="3537013" cy="6736435"/>
          </a:xfrm>
          <a:prstGeom prst="rect">
            <a:avLst/>
          </a:prstGeom>
        </p:spPr>
      </p:pic>
      <p:sp>
        <p:nvSpPr>
          <p:cNvPr id="8" name="TextBox 7">
            <a:extLst>
              <a:ext uri="{FF2B5EF4-FFF2-40B4-BE49-F238E27FC236}">
                <a16:creationId xmlns:a16="http://schemas.microsoft.com/office/drawing/2014/main" id="{12D92650-1BDD-0DED-DC9C-6C79D595DFA4}"/>
              </a:ext>
            </a:extLst>
          </p:cNvPr>
          <p:cNvSpPr txBox="1"/>
          <p:nvPr/>
        </p:nvSpPr>
        <p:spPr>
          <a:xfrm>
            <a:off x="1227312" y="4988651"/>
            <a:ext cx="6152320" cy="1077218"/>
          </a:xfrm>
          <a:prstGeom prst="rect">
            <a:avLst/>
          </a:prstGeom>
          <a:noFill/>
        </p:spPr>
        <p:txBody>
          <a:bodyPr wrap="square">
            <a:spAutoFit/>
          </a:bodyPr>
          <a:lstStyle/>
          <a:p>
            <a:r>
              <a:rPr lang="en-US" sz="3200" b="1" dirty="0"/>
              <a:t>Iconic Fritz Kahn infographic of the Human Factory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Visuals Matter</a:t>
            </a:r>
          </a:p>
        </p:txBody>
      </p:sp>
      <p:sp>
        <p:nvSpPr>
          <p:cNvPr id="3" name="Content Placeholder 2"/>
          <p:cNvSpPr>
            <a:spLocks noGrp="1"/>
          </p:cNvSpPr>
          <p:nvPr>
            <p:ph idx="1"/>
          </p:nvPr>
        </p:nvSpPr>
        <p:spPr/>
        <p:txBody>
          <a:bodyPr>
            <a:normAutofit/>
          </a:bodyPr>
          <a:lstStyle/>
          <a:p>
            <a:r>
              <a:rPr sz="4800" dirty="0"/>
              <a:t>- Enhance understanding</a:t>
            </a:r>
          </a:p>
          <a:p>
            <a:r>
              <a:rPr sz="4800" dirty="0"/>
              <a:t>- Improve engagement</a:t>
            </a:r>
          </a:p>
          <a:p>
            <a:r>
              <a:rPr sz="4800" dirty="0"/>
              <a:t>- Support claims with evidence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A2C05-5E55-41B5-5ED0-9ECC4DBEDC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F0153D-651C-205B-46F5-61378F451BFC}"/>
              </a:ext>
            </a:extLst>
          </p:cNvPr>
          <p:cNvSpPr>
            <a:spLocks noGrp="1"/>
          </p:cNvSpPr>
          <p:nvPr>
            <p:ph idx="1"/>
          </p:nvPr>
        </p:nvSpPr>
        <p:spPr/>
        <p:txBody>
          <a:bodyPr/>
          <a:lstStyle/>
          <a:p>
            <a:endParaRPr lang="en-US"/>
          </a:p>
        </p:txBody>
      </p:sp>
      <p:pic>
        <p:nvPicPr>
          <p:cNvPr id="2050" name="Picture 2" descr="Turning Your Data into Eye-opening Stories PPT Template ">
            <a:extLst>
              <a:ext uri="{FF2B5EF4-FFF2-40B4-BE49-F238E27FC236}">
                <a16:creationId xmlns:a16="http://schemas.microsoft.com/office/drawing/2014/main" id="{8FAE99BE-E794-D81D-6087-42A0F6E8B5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14313"/>
            <a:ext cx="11430000" cy="642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6327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FCBA75-40E8-E908-28B4-A12CD0FB0674}"/>
              </a:ext>
            </a:extLst>
          </p:cNvPr>
          <p:cNvSpPr>
            <a:spLocks noGrp="1"/>
          </p:cNvSpPr>
          <p:nvPr>
            <p:ph idx="1"/>
          </p:nvPr>
        </p:nvSpPr>
        <p:spPr>
          <a:xfrm>
            <a:off x="215660" y="284672"/>
            <a:ext cx="11138140" cy="6304971"/>
          </a:xfrm>
        </p:spPr>
        <p:txBody>
          <a:bodyPr>
            <a:normAutofit/>
          </a:bodyPr>
          <a:lstStyle/>
          <a:p>
            <a:pPr>
              <a:lnSpc>
                <a:spcPct val="150000"/>
              </a:lnSpc>
            </a:pPr>
            <a:r>
              <a:rPr lang="en-US" sz="3200" dirty="0"/>
              <a:t>In this age of overwhelming information, the skill to </a:t>
            </a:r>
            <a:r>
              <a:rPr lang="en-US" sz="3200" b="1" dirty="0"/>
              <a:t>effectively convey data </a:t>
            </a:r>
            <a:r>
              <a:rPr lang="en-US" sz="3200" dirty="0"/>
              <a:t>has become extremely valuable. </a:t>
            </a:r>
          </a:p>
          <a:p>
            <a:pPr>
              <a:lnSpc>
                <a:spcPct val="150000"/>
              </a:lnSpc>
            </a:pPr>
            <a:endParaRPr lang="en-US" sz="3200" dirty="0"/>
          </a:p>
          <a:p>
            <a:pPr>
              <a:lnSpc>
                <a:spcPct val="150000"/>
              </a:lnSpc>
            </a:pPr>
            <a:r>
              <a:rPr lang="en-US" sz="3200" dirty="0"/>
              <a:t>Initiating a discussion on data presentation types involves thoughtful consideration of the </a:t>
            </a:r>
            <a:r>
              <a:rPr lang="en-US" sz="3200" b="1" dirty="0"/>
              <a:t>nature of your data </a:t>
            </a:r>
            <a:r>
              <a:rPr lang="en-US" sz="3200" dirty="0"/>
              <a:t>and the </a:t>
            </a:r>
            <a:r>
              <a:rPr lang="en-US" sz="3200" b="1" dirty="0"/>
              <a:t>message</a:t>
            </a:r>
            <a:r>
              <a:rPr lang="en-US" sz="3200" dirty="0"/>
              <a:t> you aim to convey. </a:t>
            </a:r>
          </a:p>
          <a:p>
            <a:pPr>
              <a:lnSpc>
                <a:spcPct val="150000"/>
              </a:lnSpc>
            </a:pPr>
            <a:endParaRPr lang="en-US" sz="3200" dirty="0"/>
          </a:p>
        </p:txBody>
      </p:sp>
    </p:spTree>
    <p:extLst>
      <p:ext uri="{BB962C8B-B14F-4D97-AF65-F5344CB8AC3E}">
        <p14:creationId xmlns:p14="http://schemas.microsoft.com/office/powerpoint/2010/main" val="3594109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913FE-6A25-3FD2-EAD7-15BEC105F00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7886EB-FAAB-E6F5-5ACC-D1AAAD5CEE70}"/>
              </a:ext>
            </a:extLst>
          </p:cNvPr>
          <p:cNvSpPr>
            <a:spLocks noGrp="1"/>
          </p:cNvSpPr>
          <p:nvPr>
            <p:ph idx="1"/>
          </p:nvPr>
        </p:nvSpPr>
        <p:spPr>
          <a:xfrm>
            <a:off x="215660" y="284672"/>
            <a:ext cx="11138140" cy="5892291"/>
          </a:xfrm>
        </p:spPr>
        <p:txBody>
          <a:bodyPr/>
          <a:lstStyle/>
          <a:p>
            <a:r>
              <a:rPr lang="en-US" b="1" dirty="0"/>
              <a:t>What is a Data Presentation?</a:t>
            </a:r>
          </a:p>
          <a:p>
            <a:endParaRPr lang="en-US" dirty="0"/>
          </a:p>
          <a:p>
            <a:pPr>
              <a:lnSpc>
                <a:spcPct val="150000"/>
              </a:lnSpc>
            </a:pPr>
            <a:r>
              <a:rPr lang="en-US" dirty="0"/>
              <a:t>To disclose </a:t>
            </a:r>
            <a:r>
              <a:rPr lang="en-US" b="1" dirty="0"/>
              <a:t>quantitative information </a:t>
            </a:r>
            <a:r>
              <a:rPr lang="en-US" dirty="0"/>
              <a:t>to an audience using </a:t>
            </a:r>
            <a:r>
              <a:rPr lang="en-US" b="1" dirty="0"/>
              <a:t>visual formats</a:t>
            </a:r>
            <a:r>
              <a:rPr lang="en-US" dirty="0"/>
              <a:t> and narrative techniques derived from data analysis</a:t>
            </a:r>
          </a:p>
          <a:p>
            <a:pPr>
              <a:lnSpc>
                <a:spcPct val="150000"/>
              </a:lnSpc>
            </a:pPr>
            <a:endParaRPr lang="en-US" dirty="0"/>
          </a:p>
          <a:p>
            <a:pPr>
              <a:lnSpc>
                <a:spcPct val="150000"/>
              </a:lnSpc>
            </a:pPr>
            <a:r>
              <a:rPr lang="en-US" dirty="0"/>
              <a:t>Making </a:t>
            </a:r>
            <a:r>
              <a:rPr lang="en-US" b="1" dirty="0"/>
              <a:t>complex data understandable </a:t>
            </a:r>
            <a:r>
              <a:rPr lang="en-US" dirty="0"/>
              <a:t>and actionable.</a:t>
            </a:r>
          </a:p>
          <a:p>
            <a:pPr>
              <a:lnSpc>
                <a:spcPct val="150000"/>
              </a:lnSpc>
            </a:pPr>
            <a:endParaRPr lang="en-US" dirty="0"/>
          </a:p>
          <a:p>
            <a:pPr marL="228600" marR="0" lvl="0" indent="-228600" algn="l" defTabSz="914400" rtl="0" eaLnBrk="1" fontAlgn="auto" latinLnBrk="0" hangingPunct="1">
              <a:lnSpc>
                <a:spcPct val="150000"/>
              </a:lnSpc>
              <a:spcBef>
                <a:spcPts val="10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prstClr val="black"/>
                </a:solidFill>
                <a:effectLst/>
                <a:uLnTx/>
                <a:uFillTx/>
                <a:latin typeface="Aptos" panose="02110004020202020204"/>
                <a:ea typeface="+mn-ea"/>
                <a:cs typeface="+mn-cs"/>
              </a:rPr>
              <a:t>Different types of visualizations serve distinct purposes. </a:t>
            </a:r>
          </a:p>
          <a:p>
            <a:pPr>
              <a:lnSpc>
                <a:spcPct val="150000"/>
              </a:lnSpc>
            </a:pPr>
            <a:endParaRPr lang="en-US" dirty="0"/>
          </a:p>
        </p:txBody>
      </p:sp>
    </p:spTree>
    <p:extLst>
      <p:ext uri="{BB962C8B-B14F-4D97-AF65-F5344CB8AC3E}">
        <p14:creationId xmlns:p14="http://schemas.microsoft.com/office/powerpoint/2010/main" val="1059515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580127"/>
          </a:xfrm>
        </p:spPr>
        <p:txBody>
          <a:bodyPr>
            <a:normAutofit fontScale="90000"/>
          </a:bodyPr>
          <a:lstStyle/>
          <a:p>
            <a:pPr algn="l"/>
            <a:r>
              <a:rPr b="1" dirty="0"/>
              <a:t>Communicating to Different Audiences</a:t>
            </a:r>
          </a:p>
        </p:txBody>
      </p:sp>
      <p:sp>
        <p:nvSpPr>
          <p:cNvPr id="3" name="Content Placeholder 2"/>
          <p:cNvSpPr>
            <a:spLocks noGrp="1"/>
          </p:cNvSpPr>
          <p:nvPr>
            <p:ph idx="1"/>
          </p:nvPr>
        </p:nvSpPr>
        <p:spPr>
          <a:xfrm>
            <a:off x="490330" y="1411355"/>
            <a:ext cx="10972800" cy="4207912"/>
          </a:xfrm>
        </p:spPr>
        <p:txBody>
          <a:bodyPr>
            <a:normAutofit/>
          </a:bodyPr>
          <a:lstStyle/>
          <a:p>
            <a:r>
              <a:rPr dirty="0"/>
              <a:t>Experts vs. non-experts</a:t>
            </a:r>
          </a:p>
          <a:p>
            <a:r>
              <a:rPr dirty="0"/>
              <a:t>Cross-disciplinary communication</a:t>
            </a:r>
          </a:p>
          <a:p>
            <a:r>
              <a:rPr dirty="0"/>
              <a:t>International accessibility</a:t>
            </a:r>
            <a:endParaRPr lang="en-US" dirty="0"/>
          </a:p>
          <a:p>
            <a:endParaRPr lang="en-US" dirty="0"/>
          </a:p>
          <a:p>
            <a:pPr lvl="2"/>
            <a:r>
              <a:rPr lang="en-US" dirty="0"/>
              <a:t>Visuals Support Replicability</a:t>
            </a:r>
          </a:p>
          <a:p>
            <a:r>
              <a:rPr lang="en-US" dirty="0"/>
              <a:t>Comparison across studies</a:t>
            </a:r>
          </a:p>
          <a:p>
            <a:r>
              <a:rPr lang="en-US" dirty="0"/>
              <a:t>Facilitate validation and reanalysis</a:t>
            </a:r>
          </a:p>
          <a:p>
            <a:endParaRPr dirty="0"/>
          </a:p>
        </p:txBody>
      </p:sp>
    </p:spTree>
    <p:extLst>
      <p:ext uri="{BB962C8B-B14F-4D97-AF65-F5344CB8AC3E}">
        <p14:creationId xmlns:p14="http://schemas.microsoft.com/office/powerpoint/2010/main" val="3271290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2AC16-AF21-D782-3E82-6036ED406A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5141E0-1D77-E271-0824-A4D78A22A126}"/>
              </a:ext>
            </a:extLst>
          </p:cNvPr>
          <p:cNvSpPr>
            <a:spLocks noGrp="1"/>
          </p:cNvSpPr>
          <p:nvPr>
            <p:ph idx="1"/>
          </p:nvPr>
        </p:nvSpPr>
        <p:spPr>
          <a:xfrm>
            <a:off x="215660" y="284672"/>
            <a:ext cx="11138140" cy="6533571"/>
          </a:xfrm>
        </p:spPr>
        <p:txBody>
          <a:bodyPr>
            <a:normAutofit/>
          </a:bodyPr>
          <a:lstStyle/>
          <a:p>
            <a:r>
              <a:rPr lang="en-US" b="1" dirty="0">
                <a:solidFill>
                  <a:srgbClr val="C00000"/>
                </a:solidFill>
              </a:rPr>
              <a:t>What Should a Data Presentation Include?</a:t>
            </a:r>
          </a:p>
          <a:p>
            <a:endParaRPr lang="en-US" dirty="0"/>
          </a:p>
          <a:p>
            <a:r>
              <a:rPr lang="en-US" b="1" i="1" dirty="0"/>
              <a:t>The art of data storytelling</a:t>
            </a:r>
          </a:p>
          <a:p>
            <a:endParaRPr lang="en-US" dirty="0"/>
          </a:p>
          <a:p>
            <a:pPr algn="l">
              <a:buFont typeface="Arial" panose="020B0604020202020204" pitchFamily="34" charset="0"/>
              <a:buChar char="•"/>
            </a:pPr>
            <a:r>
              <a:rPr lang="en-US" b="1" i="0" dirty="0">
                <a:solidFill>
                  <a:srgbClr val="212529"/>
                </a:solidFill>
                <a:effectLst/>
                <a:latin typeface="Open Sans" panose="020B0606030504020204" pitchFamily="34" charset="0"/>
              </a:rPr>
              <a:t>Clear Objectives</a:t>
            </a:r>
          </a:p>
          <a:p>
            <a:pPr algn="l">
              <a:buFont typeface="Arial" panose="020B0604020202020204" pitchFamily="34" charset="0"/>
              <a:buChar char="•"/>
            </a:pPr>
            <a:endParaRPr lang="en-US" b="1" dirty="0">
              <a:solidFill>
                <a:srgbClr val="212529"/>
              </a:solidFill>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Engaging introduction</a:t>
            </a:r>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Structured Narrative</a:t>
            </a:r>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Visual Elements</a:t>
            </a:r>
            <a:endParaRPr lang="en-US" b="0"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Insights and Analysis </a:t>
            </a:r>
            <a:endParaRPr lang="en-US" b="0" i="0" dirty="0">
              <a:solidFill>
                <a:srgbClr val="212529"/>
              </a:solidFill>
              <a:effectLst/>
              <a:latin typeface="Open Sans" panose="020B0606030504020204" pitchFamily="34" charset="0"/>
            </a:endParaRPr>
          </a:p>
          <a:p>
            <a:r>
              <a:rPr lang="en-US" b="1" i="0" dirty="0">
                <a:solidFill>
                  <a:srgbClr val="212529"/>
                </a:solidFill>
                <a:effectLst/>
                <a:latin typeface="Open Sans" panose="020B0606030504020204" pitchFamily="34" charset="0"/>
              </a:rPr>
              <a:t>Conclusion &amp; CTA (</a:t>
            </a:r>
            <a:r>
              <a:rPr lang="en-US" b="1" dirty="0"/>
              <a:t>Call to Action)</a:t>
            </a:r>
            <a:endParaRPr lang="en-US" b="1" i="0" dirty="0">
              <a:solidFill>
                <a:srgbClr val="212529"/>
              </a:solidFill>
              <a:effectLst/>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Q&amp;A Session </a:t>
            </a:r>
            <a:endParaRPr lang="en-US" b="0" i="0" dirty="0">
              <a:solidFill>
                <a:srgbClr val="212529"/>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1843465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A0434-7136-ED09-5DFE-4E5F7C7FD6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132BF6-6693-8F8F-1C22-FF839A1A9BF7}"/>
              </a:ext>
            </a:extLst>
          </p:cNvPr>
          <p:cNvSpPr>
            <a:spLocks noGrp="1"/>
          </p:cNvSpPr>
          <p:nvPr>
            <p:ph idx="1"/>
          </p:nvPr>
        </p:nvSpPr>
        <p:spPr>
          <a:xfrm>
            <a:off x="215660" y="284672"/>
            <a:ext cx="11138140" cy="5892291"/>
          </a:xfrm>
        </p:spPr>
        <p:txBody>
          <a:bodyPr>
            <a:normAutofit/>
          </a:bodyPr>
          <a:lstStyle/>
          <a:p>
            <a:pPr algn="l">
              <a:buFont typeface="Arial" panose="020B0604020202020204" pitchFamily="34" charset="0"/>
              <a:buChar char="•"/>
            </a:pPr>
            <a:r>
              <a:rPr lang="en-US" b="1" i="0" dirty="0">
                <a:solidFill>
                  <a:srgbClr val="212529"/>
                </a:solidFill>
                <a:effectLst/>
                <a:latin typeface="Open Sans" panose="020B0606030504020204" pitchFamily="34" charset="0"/>
              </a:rPr>
              <a:t>Data Fuels Up Your Stories</a:t>
            </a:r>
          </a:p>
          <a:p>
            <a:pPr algn="l">
              <a:buFont typeface="Arial" panose="020B0604020202020204" pitchFamily="34" charset="0"/>
              <a:buChar char="•"/>
            </a:pPr>
            <a:endParaRPr lang="en-US" b="1" dirty="0">
              <a:solidFill>
                <a:srgbClr val="212529"/>
              </a:solidFill>
              <a:latin typeface="Open Sans" panose="020B0606030504020204" pitchFamily="34" charset="0"/>
            </a:endParaRPr>
          </a:p>
          <a:p>
            <a:pPr algn="l">
              <a:buFont typeface="Arial" panose="020B0604020202020204" pitchFamily="34" charset="0"/>
              <a:buChar char="•"/>
            </a:pPr>
            <a:r>
              <a:rPr lang="en-US" b="1" dirty="0"/>
              <a:t>Visuals + Data = More Engagement</a:t>
            </a:r>
          </a:p>
          <a:p>
            <a:pPr algn="l">
              <a:buFont typeface="Arial" panose="020B0604020202020204" pitchFamily="34" charset="0"/>
              <a:buChar char="•"/>
            </a:pPr>
            <a:endParaRPr lang="en-US" b="1" dirty="0"/>
          </a:p>
          <a:p>
            <a:pPr algn="l">
              <a:buFont typeface="Arial" panose="020B0604020202020204" pitchFamily="34" charset="0"/>
              <a:buChar char="•"/>
            </a:pPr>
            <a:r>
              <a:rPr lang="en-US" b="1" dirty="0"/>
              <a:t>Data Stories Can Help You Make an Impact</a:t>
            </a:r>
          </a:p>
        </p:txBody>
      </p:sp>
    </p:spTree>
    <p:extLst>
      <p:ext uri="{BB962C8B-B14F-4D97-AF65-F5344CB8AC3E}">
        <p14:creationId xmlns:p14="http://schemas.microsoft.com/office/powerpoint/2010/main" val="1491186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5F2FD-6183-0DCF-77DD-95C93BBDAC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91BCB2-7B4D-33DF-888D-9E4CAA47825E}"/>
              </a:ext>
            </a:extLst>
          </p:cNvPr>
          <p:cNvSpPr>
            <a:spLocks noGrp="1"/>
          </p:cNvSpPr>
          <p:nvPr>
            <p:ph idx="1"/>
          </p:nvPr>
        </p:nvSpPr>
        <p:spPr/>
        <p:txBody>
          <a:bodyPr/>
          <a:lstStyle/>
          <a:p>
            <a:endParaRPr lang="en-US"/>
          </a:p>
        </p:txBody>
      </p:sp>
      <p:pic>
        <p:nvPicPr>
          <p:cNvPr id="3074" name="Picture 2" descr="Cover for chart vs. graph article by SlideModel">
            <a:extLst>
              <a:ext uri="{FF2B5EF4-FFF2-40B4-BE49-F238E27FC236}">
                <a16:creationId xmlns:a16="http://schemas.microsoft.com/office/drawing/2014/main" id="{27182131-43B3-37FE-B938-8A10318EE5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09563"/>
            <a:ext cx="11430000" cy="6238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4337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0D850-C283-1B7C-C226-949392B746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C12739-2EFB-47D2-A8E2-63E78D9009EF}"/>
              </a:ext>
            </a:extLst>
          </p:cNvPr>
          <p:cNvSpPr>
            <a:spLocks noGrp="1"/>
          </p:cNvSpPr>
          <p:nvPr>
            <p:ph idx="1"/>
          </p:nvPr>
        </p:nvSpPr>
        <p:spPr>
          <a:xfrm>
            <a:off x="215660" y="284672"/>
            <a:ext cx="11138140" cy="5892291"/>
          </a:xfrm>
        </p:spPr>
        <p:txBody>
          <a:bodyPr>
            <a:normAutofit/>
          </a:bodyPr>
          <a:lstStyle/>
          <a:p>
            <a:pPr algn="l">
              <a:buFont typeface="Arial" panose="020B0604020202020204" pitchFamily="34" charset="0"/>
              <a:buChar char="•"/>
            </a:pPr>
            <a:r>
              <a:rPr lang="en-US" b="1" i="0" dirty="0">
                <a:solidFill>
                  <a:srgbClr val="212529"/>
                </a:solidFill>
                <a:effectLst/>
                <a:latin typeface="Open Sans" panose="020B0606030504020204" pitchFamily="34" charset="0"/>
              </a:rPr>
              <a:t>Difference Between a Chart and a Graph</a:t>
            </a:r>
          </a:p>
          <a:p>
            <a:pPr algn="l">
              <a:buFont typeface="Arial" panose="020B0604020202020204" pitchFamily="34" charset="0"/>
              <a:buChar char="•"/>
            </a:pPr>
            <a:endParaRPr lang="en-US" b="1" dirty="0">
              <a:solidFill>
                <a:srgbClr val="212529"/>
              </a:solidFill>
              <a:latin typeface="Open Sans" panose="020B0606030504020204" pitchFamily="34" charset="0"/>
            </a:endParaRPr>
          </a:p>
          <a:p>
            <a:pPr algn="l">
              <a:buFont typeface="Arial" panose="020B0604020202020204" pitchFamily="34" charset="0"/>
              <a:buChar char="•"/>
            </a:pPr>
            <a:r>
              <a:rPr lang="en-US" b="1" dirty="0"/>
              <a:t>A chart </a:t>
            </a:r>
            <a:r>
              <a:rPr lang="en-US" dirty="0"/>
              <a:t>is a visual representation of information or data. The purpose of a chart is to help viewers understand and analyze information easily with the help of visuals.</a:t>
            </a:r>
          </a:p>
          <a:p>
            <a:pPr algn="l">
              <a:buFont typeface="Arial" panose="020B0604020202020204" pitchFamily="34" charset="0"/>
              <a:buChar char="•"/>
            </a:pPr>
            <a:endParaRPr lang="en-US" dirty="0"/>
          </a:p>
          <a:p>
            <a:pPr algn="l">
              <a:buFont typeface="Arial" panose="020B0604020202020204" pitchFamily="34" charset="0"/>
              <a:buChar char="•"/>
            </a:pPr>
            <a:endParaRPr lang="en-US" dirty="0"/>
          </a:p>
          <a:p>
            <a:pPr algn="l">
              <a:buFont typeface="Arial" panose="020B0604020202020204" pitchFamily="34" charset="0"/>
              <a:buChar char="•"/>
            </a:pPr>
            <a:r>
              <a:rPr lang="en-US" b="1" i="0" dirty="0">
                <a:solidFill>
                  <a:srgbClr val="212529"/>
                </a:solidFill>
                <a:effectLst/>
                <a:latin typeface="Open Sans" panose="020B0606030504020204" pitchFamily="34" charset="0"/>
              </a:rPr>
              <a:t>A graph</a:t>
            </a:r>
            <a:r>
              <a:rPr lang="en-US" b="0" i="0" dirty="0">
                <a:solidFill>
                  <a:srgbClr val="212529"/>
                </a:solidFill>
                <a:effectLst/>
                <a:latin typeface="Open Sans" panose="020B0606030504020204" pitchFamily="34" charset="0"/>
              </a:rPr>
              <a:t> is a chart that uses mathematical equations to visualize data and analyze relationships and trends. For a chart to be a graph—and not another type of chart—it must involve a mathematical analysis, generally using the x and y axis to plot data points.</a:t>
            </a:r>
            <a:endParaRPr lang="en-US" dirty="0"/>
          </a:p>
        </p:txBody>
      </p:sp>
    </p:spTree>
    <p:extLst>
      <p:ext uri="{BB962C8B-B14F-4D97-AF65-F5344CB8AC3E}">
        <p14:creationId xmlns:p14="http://schemas.microsoft.com/office/powerpoint/2010/main" val="1425757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A tree map showcasing the different types of data visualization representations">
            <a:extLst>
              <a:ext uri="{FF2B5EF4-FFF2-40B4-BE49-F238E27FC236}">
                <a16:creationId xmlns:a16="http://schemas.microsoft.com/office/drawing/2014/main" id="{B96E08A7-2CA5-D06D-77E2-4B8D8B260D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11" y="139269"/>
            <a:ext cx="11741989" cy="64091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4736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Global Warming Temperature Animation infographic created by Antti Lipponen">
            <a:extLst>
              <a:ext uri="{FF2B5EF4-FFF2-40B4-BE49-F238E27FC236}">
                <a16:creationId xmlns:a16="http://schemas.microsoft.com/office/drawing/2014/main" id="{A02EC43A-4721-ED0E-309D-BFEECBA2DC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3690" y="72925"/>
            <a:ext cx="7929113" cy="6034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27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2178D-62D5-43B0-9BDB-3D9B6738D20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8929FC-B27F-C63C-0603-6174626B3F65}"/>
              </a:ext>
            </a:extLst>
          </p:cNvPr>
          <p:cNvSpPr>
            <a:spLocks noGrp="1"/>
          </p:cNvSpPr>
          <p:nvPr>
            <p:ph idx="1"/>
          </p:nvPr>
        </p:nvSpPr>
        <p:spPr>
          <a:xfrm>
            <a:off x="215660" y="284672"/>
            <a:ext cx="11138140" cy="5892291"/>
          </a:xfrm>
        </p:spPr>
        <p:txBody>
          <a:bodyPr>
            <a:normAutofit/>
          </a:bodyPr>
          <a:lstStyle/>
          <a:p>
            <a:pPr algn="l">
              <a:buFont typeface="Arial" panose="020B0604020202020204" pitchFamily="34" charset="0"/>
              <a:buChar char="•"/>
            </a:pPr>
            <a:r>
              <a:rPr lang="en-US" b="1" i="0" dirty="0">
                <a:solidFill>
                  <a:srgbClr val="FF0000"/>
                </a:solidFill>
                <a:effectLst/>
                <a:latin typeface="Open Sans" panose="020B0606030504020204" pitchFamily="34" charset="0"/>
              </a:rPr>
              <a:t>Bar Charts</a:t>
            </a:r>
          </a:p>
          <a:p>
            <a:pPr algn="l">
              <a:lnSpc>
                <a:spcPct val="150000"/>
              </a:lnSpc>
              <a:buFont typeface="Arial" panose="020B0604020202020204" pitchFamily="34" charset="0"/>
              <a:buChar char="•"/>
            </a:pPr>
            <a:r>
              <a:rPr lang="en-US" b="1" i="0" dirty="0">
                <a:solidFill>
                  <a:srgbClr val="212529"/>
                </a:solidFill>
                <a:effectLst/>
                <a:latin typeface="Open Sans" panose="020B0606030504020204" pitchFamily="34" charset="0"/>
              </a:rPr>
              <a:t>Bar charts are a graphical representation of data using rectangular bars to show quantities or frequencies in an established category. </a:t>
            </a:r>
          </a:p>
          <a:p>
            <a:pPr algn="l">
              <a:lnSpc>
                <a:spcPct val="150000"/>
              </a:lnSpc>
              <a:buFont typeface="Arial" panose="020B0604020202020204" pitchFamily="34" charset="0"/>
              <a:buChar char="•"/>
            </a:pPr>
            <a:endParaRPr lang="en-US" b="1" dirty="0">
              <a:solidFill>
                <a:srgbClr val="212529"/>
              </a:solidFill>
              <a:latin typeface="Open Sans" panose="020B0606030504020204" pitchFamily="34" charset="0"/>
            </a:endParaRPr>
          </a:p>
          <a:p>
            <a:pPr algn="l">
              <a:lnSpc>
                <a:spcPct val="150000"/>
              </a:lnSpc>
              <a:buFont typeface="Arial" panose="020B0604020202020204" pitchFamily="34" charset="0"/>
              <a:buChar char="•"/>
            </a:pPr>
            <a:r>
              <a:rPr lang="en-US" b="1" i="0" dirty="0">
                <a:solidFill>
                  <a:srgbClr val="212529"/>
                </a:solidFill>
                <a:effectLst/>
                <a:latin typeface="Open Sans" panose="020B0606030504020204" pitchFamily="34" charset="0"/>
              </a:rPr>
              <a:t>They make it easy for readers to spot patterns or trends. Bar charts can be horizontal or vertical, although the vertical format is commonly known as a column chart. </a:t>
            </a:r>
            <a:endParaRPr lang="en-US" b="1" dirty="0"/>
          </a:p>
        </p:txBody>
      </p:sp>
    </p:spTree>
    <p:extLst>
      <p:ext uri="{BB962C8B-B14F-4D97-AF65-F5344CB8AC3E}">
        <p14:creationId xmlns:p14="http://schemas.microsoft.com/office/powerpoint/2010/main" val="762571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Presentation of the data through bar charts">
            <a:extLst>
              <a:ext uri="{FF2B5EF4-FFF2-40B4-BE49-F238E27FC236}">
                <a16:creationId xmlns:a16="http://schemas.microsoft.com/office/drawing/2014/main" id="{BDF6F6CB-CAAD-45F4-91B9-C04727CFAB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201" y="366174"/>
            <a:ext cx="10484599" cy="6491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555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21A80-641A-9D19-B500-A155AA7D5F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0199E8-6F90-0612-BB15-9E3FCB78E903}"/>
              </a:ext>
            </a:extLst>
          </p:cNvPr>
          <p:cNvSpPr>
            <a:spLocks noGrp="1"/>
          </p:cNvSpPr>
          <p:nvPr>
            <p:ph idx="1"/>
          </p:nvPr>
        </p:nvSpPr>
        <p:spPr>
          <a:xfrm>
            <a:off x="215660" y="284672"/>
            <a:ext cx="11138140" cy="5892291"/>
          </a:xfrm>
        </p:spPr>
        <p:txBody>
          <a:bodyPr>
            <a:normAutofit/>
          </a:bodyPr>
          <a:lstStyle/>
          <a:p>
            <a:pPr algn="l">
              <a:buFont typeface="Arial" panose="020B0604020202020204" pitchFamily="34" charset="0"/>
              <a:buChar char="•"/>
            </a:pPr>
            <a:r>
              <a:rPr lang="en-US" b="1" i="0" dirty="0">
                <a:solidFill>
                  <a:srgbClr val="FF0000"/>
                </a:solidFill>
                <a:effectLst/>
                <a:latin typeface="Open Sans" panose="020B0606030504020204" pitchFamily="34" charset="0"/>
              </a:rPr>
              <a:t>Line Graphs</a:t>
            </a:r>
          </a:p>
          <a:p>
            <a:pPr algn="l">
              <a:lnSpc>
                <a:spcPct val="150000"/>
              </a:lnSpc>
              <a:buFont typeface="Arial" panose="020B0604020202020204" pitchFamily="34" charset="0"/>
              <a:buChar char="•"/>
            </a:pPr>
            <a:r>
              <a:rPr lang="en-US" b="1" i="0" dirty="0">
                <a:solidFill>
                  <a:srgbClr val="212529"/>
                </a:solidFill>
                <a:effectLst/>
                <a:latin typeface="Open Sans" panose="020B0606030504020204" pitchFamily="34" charset="0"/>
              </a:rPr>
              <a:t>Line graphs help illustrate </a:t>
            </a:r>
            <a:r>
              <a:rPr lang="en-US" b="1" i="0" dirty="0">
                <a:solidFill>
                  <a:srgbClr val="FF0000"/>
                </a:solidFill>
                <a:effectLst/>
                <a:latin typeface="Open Sans" panose="020B0606030504020204" pitchFamily="34" charset="0"/>
              </a:rPr>
              <a:t>data trends</a:t>
            </a:r>
            <a:r>
              <a:rPr lang="en-US" b="1" i="0" dirty="0">
                <a:solidFill>
                  <a:srgbClr val="212529"/>
                </a:solidFill>
                <a:effectLst/>
                <a:latin typeface="Open Sans" panose="020B0606030504020204" pitchFamily="34" charset="0"/>
              </a:rPr>
              <a:t>, </a:t>
            </a:r>
            <a:r>
              <a:rPr lang="en-US" b="1" i="0" dirty="0">
                <a:solidFill>
                  <a:srgbClr val="FF0000"/>
                </a:solidFill>
                <a:effectLst/>
                <a:latin typeface="Open Sans" panose="020B0606030504020204" pitchFamily="34" charset="0"/>
              </a:rPr>
              <a:t>progressions</a:t>
            </a:r>
            <a:r>
              <a:rPr lang="en-US" b="1" i="0" dirty="0">
                <a:solidFill>
                  <a:srgbClr val="212529"/>
                </a:solidFill>
                <a:effectLst/>
                <a:latin typeface="Open Sans" panose="020B0606030504020204" pitchFamily="34" charset="0"/>
              </a:rPr>
              <a:t>, or </a:t>
            </a:r>
            <a:r>
              <a:rPr lang="en-US" b="1" i="0" dirty="0">
                <a:solidFill>
                  <a:srgbClr val="FF0000"/>
                </a:solidFill>
                <a:effectLst/>
                <a:latin typeface="Open Sans" panose="020B0606030504020204" pitchFamily="34" charset="0"/>
              </a:rPr>
              <a:t>fluctuations</a:t>
            </a:r>
            <a:r>
              <a:rPr lang="en-US" b="1" i="0" dirty="0">
                <a:solidFill>
                  <a:srgbClr val="212529"/>
                </a:solidFill>
                <a:effectLst/>
                <a:latin typeface="Open Sans" panose="020B0606030504020204" pitchFamily="34" charset="0"/>
              </a:rPr>
              <a:t> by connecting a series of data points called ‘markers’ with straight line segments. </a:t>
            </a:r>
          </a:p>
          <a:p>
            <a:pPr algn="l">
              <a:lnSpc>
                <a:spcPct val="150000"/>
              </a:lnSpc>
              <a:buFont typeface="Arial" panose="020B0604020202020204" pitchFamily="34" charset="0"/>
              <a:buChar char="•"/>
            </a:pPr>
            <a:endParaRPr lang="en-US" b="1" dirty="0">
              <a:solidFill>
                <a:srgbClr val="212529"/>
              </a:solidFill>
              <a:latin typeface="Open Sans" panose="020B0606030504020204" pitchFamily="34" charset="0"/>
            </a:endParaRPr>
          </a:p>
          <a:p>
            <a:pPr algn="l">
              <a:lnSpc>
                <a:spcPct val="150000"/>
              </a:lnSpc>
              <a:buFont typeface="Arial" panose="020B0604020202020204" pitchFamily="34" charset="0"/>
              <a:buChar char="•"/>
            </a:pPr>
            <a:r>
              <a:rPr lang="en-US" b="1" i="0" dirty="0">
                <a:solidFill>
                  <a:srgbClr val="212529"/>
                </a:solidFill>
                <a:effectLst/>
                <a:latin typeface="Open Sans" panose="020B0606030504020204" pitchFamily="34" charset="0"/>
              </a:rPr>
              <a:t>This provides a straightforward representation of how </a:t>
            </a:r>
            <a:r>
              <a:rPr lang="en-US" b="1" i="0" dirty="0">
                <a:solidFill>
                  <a:srgbClr val="FF0000"/>
                </a:solidFill>
                <a:effectLst/>
                <a:latin typeface="Open Sans" panose="020B0606030504020204" pitchFamily="34" charset="0"/>
              </a:rPr>
              <a:t>values change</a:t>
            </a:r>
            <a:r>
              <a:rPr lang="en-US" b="1" i="0" dirty="0">
                <a:solidFill>
                  <a:srgbClr val="212529"/>
                </a:solidFill>
                <a:effectLst/>
                <a:latin typeface="Open Sans" panose="020B0606030504020204" pitchFamily="34" charset="0"/>
              </a:rPr>
              <a:t>.</a:t>
            </a:r>
            <a:endParaRPr lang="en-US" b="1" dirty="0"/>
          </a:p>
        </p:txBody>
      </p:sp>
    </p:spTree>
    <p:extLst>
      <p:ext uri="{BB962C8B-B14F-4D97-AF65-F5344CB8AC3E}">
        <p14:creationId xmlns:p14="http://schemas.microsoft.com/office/powerpoint/2010/main" val="1661446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Line graph in data presentation">
            <a:extLst>
              <a:ext uri="{FF2B5EF4-FFF2-40B4-BE49-F238E27FC236}">
                <a16:creationId xmlns:a16="http://schemas.microsoft.com/office/drawing/2014/main" id="{0A4A515D-489C-D8D7-5EBE-A81BB440048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33000"/>
                    </a14:imgEffect>
                    <a14:imgEffect>
                      <a14:brightnessContrast bright="-11000"/>
                    </a14:imgEffect>
                  </a14:imgLayer>
                </a14:imgProps>
              </a:ext>
              <a:ext uri="{28A0092B-C50C-407E-A947-70E740481C1C}">
                <a14:useLocalDpi xmlns:a14="http://schemas.microsoft.com/office/drawing/2010/main" val="0"/>
              </a:ext>
            </a:extLst>
          </a:blip>
          <a:srcRect/>
          <a:stretch>
            <a:fillRect/>
          </a:stretch>
        </p:blipFill>
        <p:spPr bwMode="auto">
          <a:xfrm>
            <a:off x="992037" y="163901"/>
            <a:ext cx="9804400" cy="607066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DD645C4-C7EF-A854-4E2B-6134ED8D9943}"/>
              </a:ext>
            </a:extLst>
          </p:cNvPr>
          <p:cNvSpPr txBox="1"/>
          <p:nvPr/>
        </p:nvSpPr>
        <p:spPr>
          <a:xfrm>
            <a:off x="1330625" y="6207516"/>
            <a:ext cx="60945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12529"/>
                </a:solidFill>
                <a:effectLst/>
                <a:uLnTx/>
                <a:uFillTx/>
                <a:latin typeface="Open Sans" panose="020B0606030504020204" pitchFamily="34" charset="0"/>
                <a:ea typeface="+mn-ea"/>
                <a:cs typeface="+mn-cs"/>
              </a:rPr>
              <a:t>Adding Clarity with Color</a:t>
            </a:r>
          </a:p>
        </p:txBody>
      </p:sp>
    </p:spTree>
    <p:extLst>
      <p:ext uri="{BB962C8B-B14F-4D97-AF65-F5344CB8AC3E}">
        <p14:creationId xmlns:p14="http://schemas.microsoft.com/office/powerpoint/2010/main" val="1833396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8DB4D-FD44-4786-D6C3-6D79F6687F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B9F225-753C-AF2B-C4F4-11046B07DE05}"/>
              </a:ext>
            </a:extLst>
          </p:cNvPr>
          <p:cNvSpPr>
            <a:spLocks noGrp="1"/>
          </p:cNvSpPr>
          <p:nvPr>
            <p:ph idx="1"/>
          </p:nvPr>
        </p:nvSpPr>
        <p:spPr>
          <a:xfrm>
            <a:off x="215660" y="284672"/>
            <a:ext cx="11138140" cy="5892291"/>
          </a:xfrm>
        </p:spPr>
        <p:txBody>
          <a:bodyPr>
            <a:normAutofit/>
          </a:bodyPr>
          <a:lstStyle/>
          <a:p>
            <a:pPr algn="l">
              <a:buFont typeface="Arial" panose="020B0604020202020204" pitchFamily="34" charset="0"/>
              <a:buChar char="•"/>
            </a:pPr>
            <a:r>
              <a:rPr lang="en-US" b="1" i="0" dirty="0">
                <a:solidFill>
                  <a:srgbClr val="FF0000"/>
                </a:solidFill>
                <a:effectLst/>
                <a:latin typeface="Open Sans" panose="020B0606030504020204" pitchFamily="34" charset="0"/>
              </a:rPr>
              <a:t>Tree map Chart</a:t>
            </a:r>
          </a:p>
          <a:p>
            <a:pPr algn="l">
              <a:lnSpc>
                <a:spcPct val="150000"/>
              </a:lnSpc>
              <a:buFont typeface="Arial" panose="020B0604020202020204" pitchFamily="34" charset="0"/>
              <a:buChar char="•"/>
            </a:pPr>
            <a:r>
              <a:rPr lang="en-US" b="1" i="0" dirty="0">
                <a:solidFill>
                  <a:srgbClr val="212529"/>
                </a:solidFill>
                <a:effectLst/>
                <a:latin typeface="Open Sans" panose="020B0606030504020204" pitchFamily="34" charset="0"/>
              </a:rPr>
              <a:t>Treemap charts represent </a:t>
            </a:r>
            <a:r>
              <a:rPr lang="en-US" b="1" i="0" dirty="0">
                <a:solidFill>
                  <a:srgbClr val="FF0000"/>
                </a:solidFill>
                <a:effectLst/>
                <a:latin typeface="Open Sans" panose="020B0606030504020204" pitchFamily="34" charset="0"/>
              </a:rPr>
              <a:t>hierarchical data </a:t>
            </a:r>
            <a:r>
              <a:rPr lang="en-US" b="1" i="0" dirty="0">
                <a:solidFill>
                  <a:srgbClr val="212529"/>
                </a:solidFill>
                <a:effectLst/>
                <a:latin typeface="Open Sans" panose="020B0606030504020204" pitchFamily="34" charset="0"/>
              </a:rPr>
              <a:t>structured in a series of nested rectangles. </a:t>
            </a:r>
          </a:p>
          <a:p>
            <a:pPr algn="l">
              <a:lnSpc>
                <a:spcPct val="150000"/>
              </a:lnSpc>
              <a:buFont typeface="Arial" panose="020B0604020202020204" pitchFamily="34" charset="0"/>
              <a:buChar char="•"/>
            </a:pPr>
            <a:endParaRPr lang="en-US" b="1" dirty="0">
              <a:solidFill>
                <a:srgbClr val="212529"/>
              </a:solidFill>
              <a:latin typeface="Open Sans" panose="020B0606030504020204" pitchFamily="34" charset="0"/>
            </a:endParaRPr>
          </a:p>
          <a:p>
            <a:pPr algn="l">
              <a:lnSpc>
                <a:spcPct val="150000"/>
              </a:lnSpc>
              <a:buFont typeface="Arial" panose="020B0604020202020204" pitchFamily="34" charset="0"/>
              <a:buChar char="•"/>
            </a:pPr>
            <a:r>
              <a:rPr lang="en-US" b="1" i="0" dirty="0">
                <a:solidFill>
                  <a:srgbClr val="212529"/>
                </a:solidFill>
                <a:effectLst/>
                <a:latin typeface="Open Sans" panose="020B0606030504020204" pitchFamily="34" charset="0"/>
              </a:rPr>
              <a:t>As each branch of the ‘tree’ is given a rectangle, smaller tiles can be seen representing sub-branches, meaning elements on a lower hierarchical level than the parent rectangle.</a:t>
            </a:r>
            <a:endParaRPr lang="en-US" b="1" dirty="0"/>
          </a:p>
        </p:txBody>
      </p:sp>
    </p:spTree>
    <p:extLst>
      <p:ext uri="{BB962C8B-B14F-4D97-AF65-F5344CB8AC3E}">
        <p14:creationId xmlns:p14="http://schemas.microsoft.com/office/powerpoint/2010/main" val="25383675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B57271-AAF5-2262-9AC7-3462FC730CB0}"/>
              </a:ext>
            </a:extLst>
          </p:cNvPr>
          <p:cNvPicPr>
            <a:picLocks noChangeAspect="1"/>
          </p:cNvPicPr>
          <p:nvPr/>
        </p:nvPicPr>
        <p:blipFill>
          <a:blip r:embed="rId2"/>
          <a:stretch>
            <a:fillRect/>
          </a:stretch>
        </p:blipFill>
        <p:spPr>
          <a:xfrm>
            <a:off x="445873" y="377687"/>
            <a:ext cx="11465892" cy="6192078"/>
          </a:xfrm>
          <a:prstGeom prst="rect">
            <a:avLst/>
          </a:prstGeom>
        </p:spPr>
      </p:pic>
    </p:spTree>
    <p:extLst>
      <p:ext uri="{BB962C8B-B14F-4D97-AF65-F5344CB8AC3E}">
        <p14:creationId xmlns:p14="http://schemas.microsoft.com/office/powerpoint/2010/main" val="10575691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B764B-A77A-A95F-589F-AE62EC58E58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509BEC-0C6A-14ED-5339-0F882778A1EA}"/>
              </a:ext>
            </a:extLst>
          </p:cNvPr>
          <p:cNvSpPr>
            <a:spLocks noGrp="1"/>
          </p:cNvSpPr>
          <p:nvPr>
            <p:ph idx="1"/>
          </p:nvPr>
        </p:nvSpPr>
        <p:spPr>
          <a:xfrm>
            <a:off x="215660" y="284672"/>
            <a:ext cx="11138140" cy="5892291"/>
          </a:xfrm>
        </p:spPr>
        <p:txBody>
          <a:bodyPr>
            <a:normAutofit lnSpcReduction="10000"/>
          </a:bodyPr>
          <a:lstStyle/>
          <a:p>
            <a:pPr algn="l">
              <a:buFont typeface="Arial" panose="020B0604020202020204" pitchFamily="34" charset="0"/>
              <a:buChar char="•"/>
            </a:pPr>
            <a:r>
              <a:rPr lang="en-US" b="1" i="0" dirty="0">
                <a:solidFill>
                  <a:srgbClr val="FF0000"/>
                </a:solidFill>
                <a:effectLst/>
                <a:latin typeface="Open Sans" panose="020B0606030504020204" pitchFamily="34" charset="0"/>
              </a:rPr>
              <a:t>Heat map</a:t>
            </a:r>
          </a:p>
          <a:p>
            <a:pPr algn="l">
              <a:lnSpc>
                <a:spcPct val="150000"/>
              </a:lnSpc>
              <a:buFont typeface="Arial" panose="020B0604020202020204" pitchFamily="34" charset="0"/>
              <a:buChar char="•"/>
            </a:pPr>
            <a:r>
              <a:rPr lang="en-US" b="1" i="0" dirty="0">
                <a:solidFill>
                  <a:srgbClr val="212529"/>
                </a:solidFill>
                <a:effectLst/>
                <a:latin typeface="Open Sans" panose="020B0606030504020204" pitchFamily="34" charset="0"/>
              </a:rPr>
              <a:t>A heatmap is a data visualization tool that uses color coding to represent values across a two-dimensional surface. </a:t>
            </a:r>
          </a:p>
          <a:p>
            <a:pPr algn="l">
              <a:lnSpc>
                <a:spcPct val="150000"/>
              </a:lnSpc>
              <a:buFont typeface="Arial" panose="020B0604020202020204" pitchFamily="34" charset="0"/>
              <a:buChar char="•"/>
            </a:pPr>
            <a:endParaRPr lang="en-US" b="1" dirty="0">
              <a:solidFill>
                <a:srgbClr val="212529"/>
              </a:solidFill>
              <a:latin typeface="Open Sans" panose="020B0606030504020204" pitchFamily="34" charset="0"/>
            </a:endParaRPr>
          </a:p>
          <a:p>
            <a:pPr algn="l">
              <a:lnSpc>
                <a:spcPct val="150000"/>
              </a:lnSpc>
              <a:buFont typeface="Arial" panose="020B0604020202020204" pitchFamily="34" charset="0"/>
              <a:buChar char="•"/>
            </a:pPr>
            <a:r>
              <a:rPr lang="en-US" b="1" i="0" dirty="0">
                <a:solidFill>
                  <a:srgbClr val="212529"/>
                </a:solidFill>
                <a:effectLst/>
                <a:latin typeface="Open Sans" panose="020B0606030504020204" pitchFamily="34" charset="0"/>
              </a:rPr>
              <a:t>In these, colors replace numbers to indicate the magnitude of each cell. </a:t>
            </a:r>
          </a:p>
          <a:p>
            <a:pPr algn="l">
              <a:lnSpc>
                <a:spcPct val="150000"/>
              </a:lnSpc>
              <a:buFont typeface="Arial" panose="020B0604020202020204" pitchFamily="34" charset="0"/>
              <a:buChar char="•"/>
            </a:pPr>
            <a:endParaRPr lang="en-US" b="1" dirty="0">
              <a:solidFill>
                <a:srgbClr val="212529"/>
              </a:solidFill>
              <a:latin typeface="Open Sans" panose="020B0606030504020204" pitchFamily="34" charset="0"/>
            </a:endParaRPr>
          </a:p>
          <a:p>
            <a:pPr algn="l">
              <a:lnSpc>
                <a:spcPct val="150000"/>
              </a:lnSpc>
              <a:buFont typeface="Arial" panose="020B0604020202020204" pitchFamily="34" charset="0"/>
              <a:buChar char="•"/>
            </a:pPr>
            <a:r>
              <a:rPr lang="en-US" b="1" i="0" dirty="0">
                <a:solidFill>
                  <a:srgbClr val="212529"/>
                </a:solidFill>
                <a:effectLst/>
                <a:latin typeface="Open Sans" panose="020B0606030504020204" pitchFamily="34" charset="0"/>
              </a:rPr>
              <a:t>This color-shaded matrix display is valuable for summarizing and understanding data sets with a glance.</a:t>
            </a:r>
            <a:endParaRPr lang="en-US" b="1" dirty="0"/>
          </a:p>
        </p:txBody>
      </p:sp>
    </p:spTree>
    <p:extLst>
      <p:ext uri="{BB962C8B-B14F-4D97-AF65-F5344CB8AC3E}">
        <p14:creationId xmlns:p14="http://schemas.microsoft.com/office/powerpoint/2010/main" val="1652440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8C0C153-103B-B138-F2EC-9D031EA1B9BC}"/>
              </a:ext>
            </a:extLst>
          </p:cNvPr>
          <p:cNvPicPr>
            <a:picLocks noChangeAspect="1"/>
          </p:cNvPicPr>
          <p:nvPr/>
        </p:nvPicPr>
        <p:blipFill>
          <a:blip r:embed="rId2"/>
          <a:stretch>
            <a:fillRect/>
          </a:stretch>
        </p:blipFill>
        <p:spPr>
          <a:xfrm>
            <a:off x="94891" y="423234"/>
            <a:ext cx="12192000" cy="5700979"/>
          </a:xfrm>
          <a:prstGeom prst="rect">
            <a:avLst/>
          </a:prstGeom>
        </p:spPr>
      </p:pic>
      <p:sp>
        <p:nvSpPr>
          <p:cNvPr id="7" name="TextBox 6">
            <a:extLst>
              <a:ext uri="{FF2B5EF4-FFF2-40B4-BE49-F238E27FC236}">
                <a16:creationId xmlns:a16="http://schemas.microsoft.com/office/drawing/2014/main" id="{9920F138-AD0E-9A67-A75B-CBF1693D1B8E}"/>
              </a:ext>
            </a:extLst>
          </p:cNvPr>
          <p:cNvSpPr txBox="1"/>
          <p:nvPr/>
        </p:nvSpPr>
        <p:spPr>
          <a:xfrm>
            <a:off x="286829" y="121572"/>
            <a:ext cx="60945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NASA Releases Detailed Global Climate Change Projections</a:t>
            </a:r>
          </a:p>
        </p:txBody>
      </p:sp>
      <p:sp>
        <p:nvSpPr>
          <p:cNvPr id="9" name="TextBox 8">
            <a:extLst>
              <a:ext uri="{FF2B5EF4-FFF2-40B4-BE49-F238E27FC236}">
                <a16:creationId xmlns:a16="http://schemas.microsoft.com/office/drawing/2014/main" id="{DE780E8C-9B75-6D66-9C16-E792FE03E35E}"/>
              </a:ext>
            </a:extLst>
          </p:cNvPr>
          <p:cNvSpPr txBox="1"/>
          <p:nvPr/>
        </p:nvSpPr>
        <p:spPr>
          <a:xfrm>
            <a:off x="183311" y="6257835"/>
            <a:ext cx="11816032"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NASA has released data showing how temperature and rainfall patterns worldwide may change through the year 2100 because of growing concentrations of greenhouse gases in Earth’s atmosphere.</a:t>
            </a:r>
          </a:p>
        </p:txBody>
      </p:sp>
    </p:spTree>
    <p:extLst>
      <p:ext uri="{BB962C8B-B14F-4D97-AF65-F5344CB8AC3E}">
        <p14:creationId xmlns:p14="http://schemas.microsoft.com/office/powerpoint/2010/main" val="32338260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71932A7-356A-D7AB-C332-52749C32D950}"/>
              </a:ext>
            </a:extLst>
          </p:cNvPr>
          <p:cNvPicPr>
            <a:picLocks noChangeAspect="1"/>
          </p:cNvPicPr>
          <p:nvPr/>
        </p:nvPicPr>
        <p:blipFill>
          <a:blip r:embed="rId2"/>
          <a:stretch>
            <a:fillRect/>
          </a:stretch>
        </p:blipFill>
        <p:spPr>
          <a:xfrm>
            <a:off x="0" y="682543"/>
            <a:ext cx="12192000" cy="5492913"/>
          </a:xfrm>
          <a:prstGeom prst="rect">
            <a:avLst/>
          </a:prstGeom>
        </p:spPr>
      </p:pic>
    </p:spTree>
    <p:extLst>
      <p:ext uri="{BB962C8B-B14F-4D97-AF65-F5344CB8AC3E}">
        <p14:creationId xmlns:p14="http://schemas.microsoft.com/office/powerpoint/2010/main" val="25093240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FF6E4-2A16-6D2A-5AE6-A724704F716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E39ECC-DE1A-9D03-9ACA-9BC9754E30E0}"/>
              </a:ext>
            </a:extLst>
          </p:cNvPr>
          <p:cNvSpPr>
            <a:spLocks noGrp="1"/>
          </p:cNvSpPr>
          <p:nvPr>
            <p:ph idx="1"/>
          </p:nvPr>
        </p:nvSpPr>
        <p:spPr>
          <a:xfrm>
            <a:off x="215660" y="284672"/>
            <a:ext cx="11138140" cy="5892291"/>
          </a:xfrm>
        </p:spPr>
        <p:txBody>
          <a:bodyPr>
            <a:normAutofit/>
          </a:bodyPr>
          <a:lstStyle/>
          <a:p>
            <a:pPr algn="l">
              <a:buFont typeface="Arial" panose="020B0604020202020204" pitchFamily="34" charset="0"/>
              <a:buChar char="•"/>
            </a:pPr>
            <a:r>
              <a:rPr lang="en-US" b="1" i="0" dirty="0">
                <a:solidFill>
                  <a:srgbClr val="FF0000"/>
                </a:solidFill>
                <a:effectLst/>
                <a:latin typeface="Open Sans" panose="020B0606030504020204" pitchFamily="34" charset="0"/>
              </a:rPr>
              <a:t>Pie Charts</a:t>
            </a:r>
          </a:p>
          <a:p>
            <a:pPr algn="l">
              <a:buFont typeface="Arial" panose="020B0604020202020204" pitchFamily="34" charset="0"/>
              <a:buChar char="•"/>
            </a:pPr>
            <a:endParaRPr lang="en-US" b="1" dirty="0">
              <a:solidFill>
                <a:srgbClr val="212529"/>
              </a:solidFill>
              <a:latin typeface="Open Sans" panose="020B0606030504020204" pitchFamily="34" charset="0"/>
            </a:endParaRPr>
          </a:p>
          <a:p>
            <a:pPr algn="l">
              <a:lnSpc>
                <a:spcPct val="150000"/>
              </a:lnSpc>
              <a:buFont typeface="Arial" panose="020B0604020202020204" pitchFamily="34" charset="0"/>
              <a:buChar char="•"/>
            </a:pPr>
            <a:r>
              <a:rPr lang="en-US" b="1" i="0" dirty="0">
                <a:solidFill>
                  <a:srgbClr val="212529"/>
                </a:solidFill>
                <a:effectLst/>
                <a:latin typeface="Open Sans" panose="020B0606030504020204" pitchFamily="34" charset="0"/>
              </a:rPr>
              <a:t>Pie charts are </a:t>
            </a:r>
            <a:r>
              <a:rPr lang="en-US" b="1" i="0" dirty="0">
                <a:solidFill>
                  <a:srgbClr val="FF0000"/>
                </a:solidFill>
                <a:effectLst/>
                <a:latin typeface="Open Sans" panose="020B0606030504020204" pitchFamily="34" charset="0"/>
              </a:rPr>
              <a:t>circular statistical graphics </a:t>
            </a:r>
            <a:r>
              <a:rPr lang="en-US" b="1" i="0" dirty="0">
                <a:solidFill>
                  <a:srgbClr val="212529"/>
                </a:solidFill>
                <a:effectLst/>
                <a:latin typeface="Open Sans" panose="020B0606030504020204" pitchFamily="34" charset="0"/>
              </a:rPr>
              <a:t>divided into slices to illustrate numerical proportions. </a:t>
            </a:r>
          </a:p>
          <a:p>
            <a:pPr algn="l">
              <a:lnSpc>
                <a:spcPct val="150000"/>
              </a:lnSpc>
              <a:buFont typeface="Arial" panose="020B0604020202020204" pitchFamily="34" charset="0"/>
              <a:buChar char="•"/>
            </a:pPr>
            <a:endParaRPr lang="en-US" b="1" dirty="0">
              <a:solidFill>
                <a:srgbClr val="212529"/>
              </a:solidFill>
              <a:latin typeface="Open Sans" panose="020B0606030504020204" pitchFamily="34" charset="0"/>
            </a:endParaRPr>
          </a:p>
          <a:p>
            <a:pPr algn="l">
              <a:lnSpc>
                <a:spcPct val="150000"/>
              </a:lnSpc>
              <a:buFont typeface="Arial" panose="020B0604020202020204" pitchFamily="34" charset="0"/>
              <a:buChar char="•"/>
            </a:pPr>
            <a:r>
              <a:rPr lang="en-US" b="1" i="0" dirty="0">
                <a:solidFill>
                  <a:srgbClr val="212529"/>
                </a:solidFill>
                <a:effectLst/>
                <a:latin typeface="Open Sans" panose="020B0606030504020204" pitchFamily="34" charset="0"/>
              </a:rPr>
              <a:t>Each slice represents a proportionate part of the whole, making it easy to visualize the </a:t>
            </a:r>
            <a:r>
              <a:rPr lang="en-US" b="1" i="0" dirty="0">
                <a:solidFill>
                  <a:srgbClr val="FF0000"/>
                </a:solidFill>
                <a:effectLst/>
                <a:latin typeface="Open Sans" panose="020B0606030504020204" pitchFamily="34" charset="0"/>
              </a:rPr>
              <a:t>contribution</a:t>
            </a:r>
            <a:r>
              <a:rPr lang="en-US" b="1" i="0" dirty="0">
                <a:solidFill>
                  <a:srgbClr val="212529"/>
                </a:solidFill>
                <a:effectLst/>
                <a:latin typeface="Open Sans" panose="020B0606030504020204" pitchFamily="34" charset="0"/>
              </a:rPr>
              <a:t> of each component to the total.</a:t>
            </a:r>
            <a:endParaRPr lang="en-US" b="1" dirty="0"/>
          </a:p>
        </p:txBody>
      </p:sp>
    </p:spTree>
    <p:extLst>
      <p:ext uri="{BB962C8B-B14F-4D97-AF65-F5344CB8AC3E}">
        <p14:creationId xmlns:p14="http://schemas.microsoft.com/office/powerpoint/2010/main" val="1499032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3CEE1112-2E5E-F6F3-CFA6-7F28F1A13B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571" y="824198"/>
            <a:ext cx="7177178" cy="538288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A27EFC0-066B-7545-A224-56C60A71C2C4}"/>
              </a:ext>
            </a:extLst>
          </p:cNvPr>
          <p:cNvPicPr>
            <a:picLocks noChangeAspect="1"/>
          </p:cNvPicPr>
          <p:nvPr/>
        </p:nvPicPr>
        <p:blipFill>
          <a:blip r:embed="rId3"/>
          <a:stretch>
            <a:fillRect/>
          </a:stretch>
        </p:blipFill>
        <p:spPr>
          <a:xfrm>
            <a:off x="7264001" y="1086203"/>
            <a:ext cx="4858428" cy="5220429"/>
          </a:xfrm>
          <a:prstGeom prst="rect">
            <a:avLst/>
          </a:prstGeom>
        </p:spPr>
      </p:pic>
      <p:sp>
        <p:nvSpPr>
          <p:cNvPr id="3" name="TextBox 2">
            <a:extLst>
              <a:ext uri="{FF2B5EF4-FFF2-40B4-BE49-F238E27FC236}">
                <a16:creationId xmlns:a16="http://schemas.microsoft.com/office/drawing/2014/main" id="{D3A4AB87-4373-28C8-96D3-D92CA149CFA4}"/>
              </a:ext>
            </a:extLst>
          </p:cNvPr>
          <p:cNvSpPr txBox="1"/>
          <p:nvPr/>
        </p:nvSpPr>
        <p:spPr>
          <a:xfrm>
            <a:off x="196297" y="140971"/>
            <a:ext cx="11926131" cy="996170"/>
          </a:xfrm>
          <a:prstGeom prst="rect">
            <a:avLst/>
          </a:prstGeom>
          <a:noFill/>
        </p:spPr>
        <p:txBody>
          <a:bodyPr wrap="square">
            <a:spAutoFit/>
          </a:bodyPr>
          <a:lstStyle/>
          <a:p>
            <a:pPr marL="228600" indent="-228600">
              <a:lnSpc>
                <a:spcPct val="90000"/>
              </a:lnSpc>
              <a:spcBef>
                <a:spcPts val="1000"/>
              </a:spcBef>
              <a:buFont typeface="Arial" panose="020B0604020202020204" pitchFamily="34" charset="0"/>
              <a:buChar char="•"/>
              <a:defRPr/>
            </a:pPr>
            <a:r>
              <a:rPr kumimoji="0" lang="en-US" sz="2800" b="1" i="0" u="none" strike="noStrike" kern="1200" cap="none" spc="0" normalizeH="0" baseline="0" noProof="0" dirty="0">
                <a:ln>
                  <a:noFill/>
                </a:ln>
                <a:solidFill>
                  <a:srgbClr val="FF0000"/>
                </a:solidFill>
                <a:effectLst/>
                <a:uLnTx/>
                <a:uFillTx/>
                <a:latin typeface="Open Sans" panose="020B0606030504020204" pitchFamily="34" charset="0"/>
                <a:ea typeface="+mn-ea"/>
                <a:cs typeface="+mn-cs"/>
              </a:rPr>
              <a:t>Pie Charts                                                              3D </a:t>
            </a:r>
            <a:r>
              <a:rPr lang="en-US" sz="2800" b="1" i="0" dirty="0">
                <a:solidFill>
                  <a:srgbClr val="FF0000"/>
                </a:solidFill>
                <a:effectLst/>
                <a:latin typeface="Open Sans" panose="020B0606030504020204" pitchFamily="34" charset="0"/>
              </a:rPr>
              <a:t>Pie Charts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800" b="1" i="0" u="none" strike="noStrike" kern="1200" cap="none" spc="0" normalizeH="0" baseline="0" noProof="0" dirty="0">
              <a:ln>
                <a:noFill/>
              </a:ln>
              <a:solidFill>
                <a:srgbClr val="FF0000"/>
              </a:solidFill>
              <a:effectLst/>
              <a:uLnTx/>
              <a:uFillTx/>
              <a:latin typeface="Open Sans" panose="020B0606030504020204" pitchFamily="34" charset="0"/>
              <a:ea typeface="+mn-ea"/>
              <a:cs typeface="+mn-cs"/>
            </a:endParaRPr>
          </a:p>
        </p:txBody>
      </p:sp>
    </p:spTree>
    <p:extLst>
      <p:ext uri="{BB962C8B-B14F-4D97-AF65-F5344CB8AC3E}">
        <p14:creationId xmlns:p14="http://schemas.microsoft.com/office/powerpoint/2010/main" val="8212913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1A8C7-E94E-D6F8-88E6-A3E19A9E269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06B773-5315-23BB-EEAB-8F11832498F7}"/>
              </a:ext>
            </a:extLst>
          </p:cNvPr>
          <p:cNvSpPr>
            <a:spLocks noGrp="1"/>
          </p:cNvSpPr>
          <p:nvPr>
            <p:ph idx="1"/>
          </p:nvPr>
        </p:nvSpPr>
        <p:spPr>
          <a:xfrm>
            <a:off x="215660" y="284672"/>
            <a:ext cx="11138140" cy="5892291"/>
          </a:xfrm>
        </p:spPr>
        <p:txBody>
          <a:bodyPr>
            <a:normAutofit/>
          </a:bodyPr>
          <a:lstStyle/>
          <a:p>
            <a:pPr algn="l">
              <a:buFont typeface="Arial" panose="020B0604020202020204" pitchFamily="34" charset="0"/>
              <a:buChar char="•"/>
            </a:pPr>
            <a:r>
              <a:rPr lang="en-US" b="1" i="0" dirty="0">
                <a:solidFill>
                  <a:srgbClr val="FF0000"/>
                </a:solidFill>
                <a:effectLst/>
                <a:latin typeface="Open Sans" panose="020B0606030504020204" pitchFamily="34" charset="0"/>
              </a:rPr>
              <a:t>Histogram</a:t>
            </a:r>
          </a:p>
          <a:p>
            <a:pPr algn="l">
              <a:lnSpc>
                <a:spcPct val="150000"/>
              </a:lnSpc>
              <a:buFont typeface="Arial" panose="020B0604020202020204" pitchFamily="34" charset="0"/>
              <a:buChar char="•"/>
            </a:pPr>
            <a:r>
              <a:rPr lang="en-US" b="1" i="0" dirty="0">
                <a:solidFill>
                  <a:srgbClr val="212529"/>
                </a:solidFill>
                <a:effectLst/>
                <a:latin typeface="Open Sans" panose="020B0606030504020204" pitchFamily="34" charset="0"/>
              </a:rPr>
              <a:t>Histograms present the </a:t>
            </a:r>
            <a:r>
              <a:rPr lang="en-US" b="1" i="0" dirty="0">
                <a:solidFill>
                  <a:srgbClr val="FF0000"/>
                </a:solidFill>
                <a:effectLst/>
                <a:latin typeface="Open Sans" panose="020B0606030504020204" pitchFamily="34" charset="0"/>
              </a:rPr>
              <a:t>distribution of numerical variables</a:t>
            </a:r>
            <a:r>
              <a:rPr lang="en-US" b="1" i="0" dirty="0">
                <a:solidFill>
                  <a:srgbClr val="212529"/>
                </a:solidFill>
                <a:effectLst/>
                <a:latin typeface="Open Sans" panose="020B0606030504020204" pitchFamily="34" charset="0"/>
              </a:rPr>
              <a:t>. </a:t>
            </a:r>
          </a:p>
          <a:p>
            <a:pPr algn="l">
              <a:lnSpc>
                <a:spcPct val="150000"/>
              </a:lnSpc>
              <a:buFont typeface="Arial" panose="020B0604020202020204" pitchFamily="34" charset="0"/>
              <a:buChar char="•"/>
            </a:pPr>
            <a:endParaRPr lang="en-US" b="1" dirty="0">
              <a:solidFill>
                <a:srgbClr val="212529"/>
              </a:solidFill>
              <a:latin typeface="Open Sans" panose="020B0606030504020204" pitchFamily="34" charset="0"/>
            </a:endParaRPr>
          </a:p>
          <a:p>
            <a:pPr algn="l">
              <a:lnSpc>
                <a:spcPct val="150000"/>
              </a:lnSpc>
              <a:buFont typeface="Arial" panose="020B0604020202020204" pitchFamily="34" charset="0"/>
              <a:buChar char="•"/>
            </a:pPr>
            <a:r>
              <a:rPr lang="en-US" b="1" i="0" dirty="0">
                <a:solidFill>
                  <a:srgbClr val="212529"/>
                </a:solidFill>
                <a:effectLst/>
                <a:latin typeface="Open Sans" panose="020B0606030504020204" pitchFamily="34" charset="0"/>
              </a:rPr>
              <a:t>Unlike a bar chart that records each unique response separately, histograms organize numeric responses into bins and show the frequency of reactions within each bin. </a:t>
            </a:r>
            <a:endParaRPr lang="en-US" b="1" dirty="0"/>
          </a:p>
        </p:txBody>
      </p:sp>
    </p:spTree>
    <p:extLst>
      <p:ext uri="{BB962C8B-B14F-4D97-AF65-F5344CB8AC3E}">
        <p14:creationId xmlns:p14="http://schemas.microsoft.com/office/powerpoint/2010/main" val="1565847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Frequency Histogram in Excel | One bin or bar per value">
            <a:extLst>
              <a:ext uri="{FF2B5EF4-FFF2-40B4-BE49-F238E27FC236}">
                <a16:creationId xmlns:a16="http://schemas.microsoft.com/office/drawing/2014/main" id="{E92B0354-4C46-766C-4F09-9DD1DDC890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288" y="0"/>
            <a:ext cx="5357004" cy="38967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B5C4377-A441-43B6-1AF1-E6A6BEF729BB}"/>
              </a:ext>
            </a:extLst>
          </p:cNvPr>
          <p:cNvPicPr>
            <a:picLocks noChangeAspect="1"/>
          </p:cNvPicPr>
          <p:nvPr/>
        </p:nvPicPr>
        <p:blipFill>
          <a:blip r:embed="rId3"/>
          <a:stretch>
            <a:fillRect/>
          </a:stretch>
        </p:blipFill>
        <p:spPr>
          <a:xfrm>
            <a:off x="4861980" y="3830128"/>
            <a:ext cx="7105732" cy="3027872"/>
          </a:xfrm>
          <a:prstGeom prst="rect">
            <a:avLst/>
          </a:prstGeom>
        </p:spPr>
      </p:pic>
      <p:sp>
        <p:nvSpPr>
          <p:cNvPr id="7" name="TextBox 6">
            <a:extLst>
              <a:ext uri="{FF2B5EF4-FFF2-40B4-BE49-F238E27FC236}">
                <a16:creationId xmlns:a16="http://schemas.microsoft.com/office/drawing/2014/main" id="{E4261166-E159-4D01-60EA-C351527C8A4F}"/>
              </a:ext>
            </a:extLst>
          </p:cNvPr>
          <p:cNvSpPr txBox="1"/>
          <p:nvPr/>
        </p:nvSpPr>
        <p:spPr>
          <a:xfrm>
            <a:off x="5727221" y="2427707"/>
            <a:ext cx="6094562"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In photography, a histogram shows the distribution of tones in an image, indicating how much of the image falls at each level of brightness, from black (0% brightness) to white (100% brightness).</a:t>
            </a:r>
          </a:p>
        </p:txBody>
      </p:sp>
    </p:spTree>
    <p:extLst>
      <p:ext uri="{BB962C8B-B14F-4D97-AF65-F5344CB8AC3E}">
        <p14:creationId xmlns:p14="http://schemas.microsoft.com/office/powerpoint/2010/main" val="21941064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241D4-380A-1026-5061-4AE5C22B12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04266D-93F5-968C-10EF-42B2055829A5}"/>
              </a:ext>
            </a:extLst>
          </p:cNvPr>
          <p:cNvSpPr>
            <a:spLocks noGrp="1"/>
          </p:cNvSpPr>
          <p:nvPr>
            <p:ph idx="1"/>
          </p:nvPr>
        </p:nvSpPr>
        <p:spPr>
          <a:xfrm>
            <a:off x="-1" y="103517"/>
            <a:ext cx="11619781" cy="5892291"/>
          </a:xfrm>
        </p:spPr>
        <p:txBody>
          <a:bodyPr>
            <a:normAutofit/>
          </a:bodyPr>
          <a:lstStyle/>
          <a:p>
            <a:pPr algn="l">
              <a:buFont typeface="Arial" panose="020B0604020202020204" pitchFamily="34" charset="0"/>
              <a:buChar char="•"/>
            </a:pPr>
            <a:r>
              <a:rPr lang="en-US" b="1" i="0" dirty="0">
                <a:solidFill>
                  <a:srgbClr val="FF0000"/>
                </a:solidFill>
                <a:effectLst/>
                <a:latin typeface="Open Sans" panose="020B0606030504020204" pitchFamily="34" charset="0"/>
              </a:rPr>
              <a:t>Scatter Plot</a:t>
            </a:r>
          </a:p>
          <a:p>
            <a:pPr algn="l">
              <a:buFont typeface="Arial" panose="020B0604020202020204" pitchFamily="34" charset="0"/>
              <a:buChar char="•"/>
            </a:pPr>
            <a:r>
              <a:rPr lang="en-US" b="1" i="0" dirty="0">
                <a:solidFill>
                  <a:srgbClr val="212529"/>
                </a:solidFill>
                <a:effectLst/>
                <a:latin typeface="Open Sans" panose="020B0606030504020204" pitchFamily="34" charset="0"/>
              </a:rPr>
              <a:t>A scatter plot is a graphical representation of the relationship between two variables. </a:t>
            </a:r>
          </a:p>
          <a:p>
            <a:pPr algn="l">
              <a:buFont typeface="Arial" panose="020B0604020202020204" pitchFamily="34" charset="0"/>
              <a:buChar char="•"/>
            </a:pPr>
            <a:endParaRPr lang="en-US" b="1" dirty="0">
              <a:solidFill>
                <a:srgbClr val="212529"/>
              </a:solidFill>
              <a:latin typeface="Open Sans" panose="020B0606030504020204" pitchFamily="34" charset="0"/>
            </a:endParaRPr>
          </a:p>
          <a:p>
            <a:pPr algn="l">
              <a:buFont typeface="Arial" panose="020B0604020202020204" pitchFamily="34" charset="0"/>
              <a:buChar char="•"/>
            </a:pPr>
            <a:r>
              <a:rPr lang="en-US" b="1" i="0" dirty="0">
                <a:solidFill>
                  <a:srgbClr val="212529"/>
                </a:solidFill>
                <a:effectLst/>
                <a:latin typeface="Open Sans" panose="020B0606030504020204" pitchFamily="34" charset="0"/>
              </a:rPr>
              <a:t>It consists of individual data points on a two-dimensional plane. This plane plots one variable on the x-axis and the other on the y-axis.</a:t>
            </a:r>
            <a:endParaRPr lang="en-US" b="1" dirty="0"/>
          </a:p>
        </p:txBody>
      </p:sp>
      <p:pic>
        <p:nvPicPr>
          <p:cNvPr id="6" name="Picture 5">
            <a:extLst>
              <a:ext uri="{FF2B5EF4-FFF2-40B4-BE49-F238E27FC236}">
                <a16:creationId xmlns:a16="http://schemas.microsoft.com/office/drawing/2014/main" id="{944F172C-6235-2C98-ED28-5EB11F07E107}"/>
              </a:ext>
            </a:extLst>
          </p:cNvPr>
          <p:cNvPicPr>
            <a:picLocks noChangeAspect="1"/>
          </p:cNvPicPr>
          <p:nvPr/>
        </p:nvPicPr>
        <p:blipFill>
          <a:blip r:embed="rId2"/>
          <a:stretch>
            <a:fillRect/>
          </a:stretch>
        </p:blipFill>
        <p:spPr>
          <a:xfrm>
            <a:off x="0" y="3597964"/>
            <a:ext cx="4648731" cy="2941983"/>
          </a:xfrm>
          <a:prstGeom prst="rect">
            <a:avLst/>
          </a:prstGeom>
        </p:spPr>
      </p:pic>
      <p:pic>
        <p:nvPicPr>
          <p:cNvPr id="7" name="Picture 6">
            <a:extLst>
              <a:ext uri="{FF2B5EF4-FFF2-40B4-BE49-F238E27FC236}">
                <a16:creationId xmlns:a16="http://schemas.microsoft.com/office/drawing/2014/main" id="{8402F0D1-8BA3-A557-1D2A-03592D0B4BEB}"/>
              </a:ext>
            </a:extLst>
          </p:cNvPr>
          <p:cNvPicPr>
            <a:picLocks noChangeAspect="1"/>
          </p:cNvPicPr>
          <p:nvPr/>
        </p:nvPicPr>
        <p:blipFill>
          <a:blip r:embed="rId3"/>
          <a:stretch>
            <a:fillRect/>
          </a:stretch>
        </p:blipFill>
        <p:spPr>
          <a:xfrm>
            <a:off x="5889694" y="3597964"/>
            <a:ext cx="3820058" cy="2886478"/>
          </a:xfrm>
          <a:prstGeom prst="rect">
            <a:avLst/>
          </a:prstGeom>
        </p:spPr>
      </p:pic>
    </p:spTree>
    <p:extLst>
      <p:ext uri="{BB962C8B-B14F-4D97-AF65-F5344CB8AC3E}">
        <p14:creationId xmlns:p14="http://schemas.microsoft.com/office/powerpoint/2010/main" val="39112166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86796F-A2BB-1E23-8D98-BA432D2B219D}"/>
              </a:ext>
            </a:extLst>
          </p:cNvPr>
          <p:cNvPicPr>
            <a:picLocks noChangeAspect="1"/>
          </p:cNvPicPr>
          <p:nvPr/>
        </p:nvPicPr>
        <p:blipFill>
          <a:blip r:embed="rId2"/>
          <a:stretch>
            <a:fillRect/>
          </a:stretch>
        </p:blipFill>
        <p:spPr>
          <a:xfrm>
            <a:off x="868258" y="1732378"/>
            <a:ext cx="9078286" cy="4009576"/>
          </a:xfrm>
          <a:prstGeom prst="rect">
            <a:avLst/>
          </a:prstGeom>
        </p:spPr>
      </p:pic>
      <p:sp>
        <p:nvSpPr>
          <p:cNvPr id="6" name="TextBox 5">
            <a:extLst>
              <a:ext uri="{FF2B5EF4-FFF2-40B4-BE49-F238E27FC236}">
                <a16:creationId xmlns:a16="http://schemas.microsoft.com/office/drawing/2014/main" id="{775315A6-9945-D0F4-8C3A-DE3EBDCB5EBE}"/>
              </a:ext>
            </a:extLst>
          </p:cNvPr>
          <p:cNvSpPr txBox="1"/>
          <p:nvPr/>
        </p:nvSpPr>
        <p:spPr>
          <a:xfrm>
            <a:off x="206237" y="5863143"/>
            <a:ext cx="11889685" cy="400110"/>
          </a:xfrm>
          <a:prstGeom prst="rect">
            <a:avLst/>
          </a:prstGeom>
          <a:noFill/>
        </p:spPr>
        <p:txBody>
          <a:bodyPr wrap="square">
            <a:spAutoFit/>
          </a:bodyPr>
          <a:lstStyle/>
          <a:p>
            <a:r>
              <a:rPr lang="en-US" sz="2000" b="1" dirty="0"/>
              <a:t>A typical for a digital signal (left) and how masks can define forbidden areas in your application (right).</a:t>
            </a:r>
          </a:p>
        </p:txBody>
      </p:sp>
      <p:sp>
        <p:nvSpPr>
          <p:cNvPr id="8" name="TextBox 7">
            <a:extLst>
              <a:ext uri="{FF2B5EF4-FFF2-40B4-BE49-F238E27FC236}">
                <a16:creationId xmlns:a16="http://schemas.microsoft.com/office/drawing/2014/main" id="{527F0C35-E159-A847-E5AB-9D066E62348E}"/>
              </a:ext>
            </a:extLst>
          </p:cNvPr>
          <p:cNvSpPr txBox="1"/>
          <p:nvPr/>
        </p:nvSpPr>
        <p:spPr>
          <a:xfrm>
            <a:off x="206237" y="0"/>
            <a:ext cx="6097656" cy="523220"/>
          </a:xfrm>
          <a:prstGeom prst="rect">
            <a:avLst/>
          </a:prstGeom>
          <a:noFill/>
        </p:spPr>
        <p:txBody>
          <a:bodyPr wrap="square">
            <a:spAutoFit/>
          </a:bodyPr>
          <a:lstStyle/>
          <a:p>
            <a:r>
              <a:rPr kumimoji="0" lang="en-US" sz="2800" b="1" i="0" u="none" strike="noStrike" kern="1200" cap="none" spc="0" normalizeH="0" baseline="0" noProof="0" dirty="0">
                <a:ln>
                  <a:noFill/>
                </a:ln>
                <a:solidFill>
                  <a:prstClr val="black"/>
                </a:solidFill>
                <a:effectLst/>
                <a:uLnTx/>
                <a:uFillTx/>
                <a:latin typeface="Calibri"/>
                <a:ea typeface="+mn-ea"/>
                <a:cs typeface="+mn-cs"/>
              </a:rPr>
              <a:t>Eye Diagram </a:t>
            </a:r>
            <a:endParaRPr lang="en-US" dirty="0"/>
          </a:p>
        </p:txBody>
      </p:sp>
      <p:sp>
        <p:nvSpPr>
          <p:cNvPr id="10" name="TextBox 9">
            <a:extLst>
              <a:ext uri="{FF2B5EF4-FFF2-40B4-BE49-F238E27FC236}">
                <a16:creationId xmlns:a16="http://schemas.microsoft.com/office/drawing/2014/main" id="{21BEB6B1-9DE8-AB0B-A2C0-F5BCD02B3C52}"/>
              </a:ext>
            </a:extLst>
          </p:cNvPr>
          <p:cNvSpPr txBox="1"/>
          <p:nvPr/>
        </p:nvSpPr>
        <p:spPr>
          <a:xfrm>
            <a:off x="151157" y="594747"/>
            <a:ext cx="11889685" cy="707886"/>
          </a:xfrm>
          <a:prstGeom prst="rect">
            <a:avLst/>
          </a:prstGeom>
          <a:noFill/>
        </p:spPr>
        <p:txBody>
          <a:bodyPr wrap="square">
            <a:spAutoFit/>
          </a:bodyPr>
          <a:lstStyle/>
          <a:p>
            <a:r>
              <a:rPr lang="en-US" sz="2000" b="1" dirty="0"/>
              <a:t>An eye diagram is a crucial tool in telecommunications used to evaluate the quality of high-speed digital signals by overlaying multiple bits on an oscilloscope to form an eye-like shape.</a:t>
            </a:r>
          </a:p>
        </p:txBody>
      </p:sp>
    </p:spTree>
    <p:extLst>
      <p:ext uri="{BB962C8B-B14F-4D97-AF65-F5344CB8AC3E}">
        <p14:creationId xmlns:p14="http://schemas.microsoft.com/office/powerpoint/2010/main" val="41214867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523" y="-117161"/>
            <a:ext cx="12115800" cy="914330"/>
          </a:xfrm>
        </p:spPr>
        <p:txBody>
          <a:bodyPr>
            <a:normAutofit/>
          </a:bodyPr>
          <a:lstStyle/>
          <a:p>
            <a:r>
              <a:rPr b="1" dirty="0"/>
              <a:t>Examples of Effective Visual Communication</a:t>
            </a:r>
          </a:p>
        </p:txBody>
      </p:sp>
      <p:sp>
        <p:nvSpPr>
          <p:cNvPr id="3" name="Content Placeholder 2"/>
          <p:cNvSpPr>
            <a:spLocks noGrp="1"/>
          </p:cNvSpPr>
          <p:nvPr>
            <p:ph idx="1"/>
          </p:nvPr>
        </p:nvSpPr>
        <p:spPr>
          <a:xfrm>
            <a:off x="211015" y="850614"/>
            <a:ext cx="8229600" cy="1837765"/>
          </a:xfrm>
        </p:spPr>
        <p:txBody>
          <a:bodyPr>
            <a:normAutofit/>
          </a:bodyPr>
          <a:lstStyle/>
          <a:p>
            <a:r>
              <a:rPr sz="4000" dirty="0"/>
              <a:t>- Raw data vs. graph</a:t>
            </a:r>
          </a:p>
          <a:p>
            <a:r>
              <a:rPr sz="4000" dirty="0"/>
              <a:t>- Before-and-after comparisons</a:t>
            </a:r>
          </a:p>
        </p:txBody>
      </p:sp>
      <p:pic>
        <p:nvPicPr>
          <p:cNvPr id="4" name="Picture 3">
            <a:extLst>
              <a:ext uri="{FF2B5EF4-FFF2-40B4-BE49-F238E27FC236}">
                <a16:creationId xmlns:a16="http://schemas.microsoft.com/office/drawing/2014/main" id="{C7485DE9-C609-6C8C-E9FD-96AA636D30BD}"/>
              </a:ext>
            </a:extLst>
          </p:cNvPr>
          <p:cNvPicPr>
            <a:picLocks noChangeAspect="1"/>
          </p:cNvPicPr>
          <p:nvPr/>
        </p:nvPicPr>
        <p:blipFill>
          <a:blip r:embed="rId2"/>
          <a:stretch>
            <a:fillRect/>
          </a:stretch>
        </p:blipFill>
        <p:spPr>
          <a:xfrm>
            <a:off x="536536" y="2642700"/>
            <a:ext cx="10186976" cy="42153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861644"/>
            <a:ext cx="12192000" cy="5873263"/>
          </a:xfrm>
        </p:spPr>
        <p:txBody>
          <a:bodyPr>
            <a:noAutofit/>
          </a:bodyPr>
          <a:lstStyle/>
          <a:p>
            <a:pPr>
              <a:lnSpc>
                <a:spcPct val="150000"/>
              </a:lnSpc>
            </a:pPr>
            <a:r>
              <a:rPr lang="en-US" sz="3600" b="1" dirty="0">
                <a:latin typeface="+mj-lt"/>
              </a:rPr>
              <a:t>When you write engineering documents, you’re likely to need </a:t>
            </a:r>
            <a:r>
              <a:rPr lang="en-US" sz="3600" b="1" dirty="0">
                <a:solidFill>
                  <a:srgbClr val="C00000"/>
                </a:solidFill>
                <a:latin typeface="+mj-lt"/>
              </a:rPr>
              <a:t>tables</a:t>
            </a:r>
            <a:r>
              <a:rPr lang="en-US" sz="3600" b="1" dirty="0">
                <a:latin typeface="+mj-lt"/>
              </a:rPr>
              <a:t>, </a:t>
            </a:r>
            <a:r>
              <a:rPr lang="en-US" sz="3600" b="1" dirty="0">
                <a:solidFill>
                  <a:srgbClr val="C00000"/>
                </a:solidFill>
                <a:latin typeface="+mj-lt"/>
              </a:rPr>
              <a:t>illustrations</a:t>
            </a:r>
            <a:r>
              <a:rPr lang="en-US" sz="3600" b="1" dirty="0">
                <a:latin typeface="+mj-lt"/>
              </a:rPr>
              <a:t>, </a:t>
            </a:r>
            <a:r>
              <a:rPr lang="en-US" sz="3600" b="1" dirty="0">
                <a:solidFill>
                  <a:srgbClr val="C00000"/>
                </a:solidFill>
                <a:latin typeface="+mj-lt"/>
              </a:rPr>
              <a:t>diagrams</a:t>
            </a:r>
            <a:r>
              <a:rPr lang="en-US" sz="3600" b="1" dirty="0">
                <a:latin typeface="+mj-lt"/>
              </a:rPr>
              <a:t>, </a:t>
            </a:r>
            <a:r>
              <a:rPr lang="en-US" sz="3600" b="1" dirty="0">
                <a:solidFill>
                  <a:srgbClr val="C00000"/>
                </a:solidFill>
                <a:latin typeface="+mj-lt"/>
              </a:rPr>
              <a:t>charts</a:t>
            </a:r>
            <a:r>
              <a:rPr lang="en-US" sz="3600" b="1" dirty="0">
                <a:latin typeface="+mj-lt"/>
              </a:rPr>
              <a:t>, </a:t>
            </a:r>
            <a:r>
              <a:rPr lang="en-US" sz="3600" b="1" dirty="0">
                <a:solidFill>
                  <a:srgbClr val="C00000"/>
                </a:solidFill>
                <a:latin typeface="+mj-lt"/>
              </a:rPr>
              <a:t>graphs</a:t>
            </a:r>
            <a:r>
              <a:rPr lang="en-US" sz="3600" b="1" dirty="0">
                <a:latin typeface="+mj-lt"/>
              </a:rPr>
              <a:t>, </a:t>
            </a:r>
            <a:r>
              <a:rPr lang="en-US" sz="3600" b="1" dirty="0">
                <a:solidFill>
                  <a:srgbClr val="C00000"/>
                </a:solidFill>
                <a:latin typeface="+mj-lt"/>
              </a:rPr>
              <a:t>drawings</a:t>
            </a:r>
            <a:r>
              <a:rPr lang="en-US" sz="3600" b="1" dirty="0">
                <a:latin typeface="+mj-lt"/>
              </a:rPr>
              <a:t>, and </a:t>
            </a:r>
            <a:r>
              <a:rPr lang="en-US" sz="3600" b="1" dirty="0">
                <a:solidFill>
                  <a:srgbClr val="C00000"/>
                </a:solidFill>
                <a:latin typeface="+mj-lt"/>
              </a:rPr>
              <a:t>schematics</a:t>
            </a:r>
            <a:r>
              <a:rPr lang="en-US" sz="3600" b="1" dirty="0">
                <a:latin typeface="+mj-lt"/>
              </a:rPr>
              <a:t>.</a:t>
            </a:r>
          </a:p>
          <a:p>
            <a:pPr>
              <a:lnSpc>
                <a:spcPct val="150000"/>
              </a:lnSpc>
            </a:pPr>
            <a:endParaRPr lang="en-US" sz="3600" b="1" dirty="0">
              <a:latin typeface="+mj-lt"/>
            </a:endParaRPr>
          </a:p>
          <a:p>
            <a:pPr>
              <a:lnSpc>
                <a:spcPct val="150000"/>
              </a:lnSpc>
            </a:pPr>
            <a:r>
              <a:rPr lang="en-US" sz="3600" b="1" dirty="0">
                <a:latin typeface="+mj-lt"/>
              </a:rPr>
              <a:t>Non-textual material helps present your information more effectively and gives a polished, professional look to your work.</a:t>
            </a:r>
          </a:p>
        </p:txBody>
      </p:sp>
      <p:sp>
        <p:nvSpPr>
          <p:cNvPr id="5" name="Title 1"/>
          <p:cNvSpPr txBox="1">
            <a:spLocks/>
          </p:cNvSpPr>
          <p:nvPr/>
        </p:nvSpPr>
        <p:spPr>
          <a:xfrm>
            <a:off x="0" y="0"/>
            <a:ext cx="12192000" cy="681037"/>
          </a:xfrm>
          <a:prstGeom prst="rect">
            <a:avLst/>
          </a:prstGeom>
          <a:solidFill>
            <a:schemeClr val="accent4">
              <a:lumMod val="40000"/>
              <a:lumOff val="6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prstClr val="black"/>
                </a:solidFill>
              </a:rPr>
              <a:t>Constructing Engineering Tables and Graphics</a:t>
            </a:r>
          </a:p>
        </p:txBody>
      </p:sp>
    </p:spTree>
    <p:extLst>
      <p:ext uri="{BB962C8B-B14F-4D97-AF65-F5344CB8AC3E}">
        <p14:creationId xmlns:p14="http://schemas.microsoft.com/office/powerpoint/2010/main" val="31392608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6A484C-F70E-44AD-A5A1-9F5F5917F58E}"/>
              </a:ext>
            </a:extLst>
          </p:cNvPr>
          <p:cNvSpPr>
            <a:spLocks noGrp="1"/>
          </p:cNvSpPr>
          <p:nvPr>
            <p:ph idx="1"/>
          </p:nvPr>
        </p:nvSpPr>
        <p:spPr>
          <a:xfrm>
            <a:off x="143352" y="182558"/>
            <a:ext cx="11733909" cy="6297755"/>
          </a:xfrm>
        </p:spPr>
        <p:txBody>
          <a:bodyPr>
            <a:normAutofit/>
          </a:bodyPr>
          <a:lstStyle/>
          <a:p>
            <a:r>
              <a:rPr lang="en-US" sz="3600" dirty="0">
                <a:latin typeface="+mj-lt"/>
              </a:rPr>
              <a:t>Rules:</a:t>
            </a:r>
          </a:p>
          <a:p>
            <a:endParaRPr lang="en-US" sz="3600" dirty="0">
              <a:latin typeface="+mj-lt"/>
            </a:endParaRPr>
          </a:p>
          <a:p>
            <a:r>
              <a:rPr lang="en-US" sz="3600" dirty="0">
                <a:latin typeface="+mj-lt"/>
              </a:rPr>
              <a:t>If the results can be stated in one sentence, no visual is needed.</a:t>
            </a:r>
          </a:p>
          <a:p>
            <a:endParaRPr lang="en-US" sz="3600" dirty="0">
              <a:latin typeface="+mj-lt"/>
            </a:endParaRPr>
          </a:p>
          <a:p>
            <a:r>
              <a:rPr lang="en-US" sz="3600" dirty="0">
                <a:latin typeface="+mj-lt"/>
              </a:rPr>
              <a:t>If the numbers are more important than the trend, use a table.</a:t>
            </a:r>
          </a:p>
          <a:p>
            <a:endParaRPr lang="en-US" sz="3600" dirty="0">
              <a:latin typeface="+mj-lt"/>
            </a:endParaRPr>
          </a:p>
          <a:p>
            <a:r>
              <a:rPr lang="en-US" sz="3600" dirty="0">
                <a:latin typeface="+mj-lt"/>
              </a:rPr>
              <a:t>If the trend is more important than the numbers, use a graph.</a:t>
            </a:r>
          </a:p>
        </p:txBody>
      </p:sp>
    </p:spTree>
    <p:extLst>
      <p:ext uri="{BB962C8B-B14F-4D97-AF65-F5344CB8AC3E}">
        <p14:creationId xmlns:p14="http://schemas.microsoft.com/office/powerpoint/2010/main" val="9249665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B59F5C-7BFE-465B-95E6-9492BE4ADA98}"/>
              </a:ext>
            </a:extLst>
          </p:cNvPr>
          <p:cNvSpPr>
            <a:spLocks noGrp="1"/>
          </p:cNvSpPr>
          <p:nvPr>
            <p:ph idx="1"/>
          </p:nvPr>
        </p:nvSpPr>
        <p:spPr>
          <a:xfrm>
            <a:off x="252045" y="240323"/>
            <a:ext cx="11764363" cy="5931877"/>
          </a:xfrm>
        </p:spPr>
        <p:txBody>
          <a:bodyPr>
            <a:normAutofit/>
          </a:bodyPr>
          <a:lstStyle/>
          <a:p>
            <a:r>
              <a:rPr lang="en-US" sz="3200" dirty="0"/>
              <a:t>Tables are not exclusively used to display quantitative information! </a:t>
            </a:r>
          </a:p>
          <a:p>
            <a:endParaRPr lang="en-US" sz="3200" dirty="0"/>
          </a:p>
          <a:p>
            <a:r>
              <a:rPr lang="en-US" sz="3200" dirty="0"/>
              <a:t>Whenever you have </a:t>
            </a:r>
            <a:r>
              <a:rPr lang="en-US" sz="3200" b="1" dirty="0"/>
              <a:t>more than one set of values </a:t>
            </a:r>
            <a:r>
              <a:rPr lang="en-US" sz="3200" dirty="0"/>
              <a:t>that have a direct relationship, you may use a table to organize the data. </a:t>
            </a:r>
          </a:p>
        </p:txBody>
      </p:sp>
      <p:pic>
        <p:nvPicPr>
          <p:cNvPr id="5" name="Picture 4">
            <a:extLst>
              <a:ext uri="{FF2B5EF4-FFF2-40B4-BE49-F238E27FC236}">
                <a16:creationId xmlns:a16="http://schemas.microsoft.com/office/drawing/2014/main" id="{C1A32EA1-1D30-4A45-8A59-10E601DFCC74}"/>
              </a:ext>
            </a:extLst>
          </p:cNvPr>
          <p:cNvPicPr>
            <a:picLocks noChangeAspect="1"/>
          </p:cNvPicPr>
          <p:nvPr/>
        </p:nvPicPr>
        <p:blipFill>
          <a:blip r:embed="rId2"/>
          <a:stretch>
            <a:fillRect/>
          </a:stretch>
        </p:blipFill>
        <p:spPr>
          <a:xfrm>
            <a:off x="3926236" y="4044863"/>
            <a:ext cx="7281638" cy="2572814"/>
          </a:xfrm>
          <a:prstGeom prst="rect">
            <a:avLst/>
          </a:prstGeom>
        </p:spPr>
      </p:pic>
    </p:spTree>
    <p:extLst>
      <p:ext uri="{BB962C8B-B14F-4D97-AF65-F5344CB8AC3E}">
        <p14:creationId xmlns:p14="http://schemas.microsoft.com/office/powerpoint/2010/main" val="35738732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1999" cy="707886"/>
          </a:xfrm>
          <a:prstGeom prst="rect">
            <a:avLst/>
          </a:prstGeom>
          <a:solidFill>
            <a:schemeClr val="accent4">
              <a:lumMod val="20000"/>
              <a:lumOff val="80000"/>
            </a:schemeClr>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C00000"/>
                </a:solidFill>
                <a:effectLst/>
                <a:uLnTx/>
                <a:uFillTx/>
                <a:latin typeface="Times New Roman" panose="02020603050405020304"/>
                <a:ea typeface="+mn-ea"/>
                <a:cs typeface="+mn-cs"/>
              </a:rPr>
              <a:t>Tables</a:t>
            </a:r>
          </a:p>
        </p:txBody>
      </p:sp>
      <p:sp>
        <p:nvSpPr>
          <p:cNvPr id="2" name="Rectangle 1"/>
          <p:cNvSpPr/>
          <p:nvPr/>
        </p:nvSpPr>
        <p:spPr>
          <a:xfrm>
            <a:off x="0" y="918979"/>
            <a:ext cx="4172997" cy="452431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imes New Roman" panose="02020603050405020304"/>
                <a:ea typeface="+mn-ea"/>
                <a:cs typeface="+mn-cs"/>
              </a:rPr>
              <a:t>Tables contain </a:t>
            </a:r>
            <a:r>
              <a:rPr kumimoji="0" lang="en-US" sz="3200" b="1" i="0" u="none" strike="noStrike" kern="1200" cap="none" spc="0" normalizeH="0" baseline="0" noProof="0" dirty="0">
                <a:ln>
                  <a:noFill/>
                </a:ln>
                <a:solidFill>
                  <a:srgbClr val="C00000"/>
                </a:solidFill>
                <a:effectLst/>
                <a:uLnTx/>
                <a:uFillTx/>
                <a:latin typeface="Times New Roman" panose="02020603050405020304"/>
                <a:ea typeface="+mn-ea"/>
                <a:cs typeface="+mn-cs"/>
              </a:rPr>
              <a:t>accurate data and numbers</a:t>
            </a:r>
            <a:r>
              <a:rPr kumimoji="0" lang="en-US" sz="3200" b="0" i="0" u="none" strike="noStrike" kern="1200" cap="none" spc="0" normalizeH="0" baseline="0" noProof="0" dirty="0">
                <a:ln>
                  <a:noFill/>
                </a:ln>
                <a:solidFill>
                  <a:prstClr val="black"/>
                </a:solidFill>
                <a:effectLst/>
                <a:uLnTx/>
                <a:uFillTx/>
                <a:latin typeface="Times New Roman" panose="020206030504050203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3200" dirty="0">
              <a:solidFill>
                <a:prstClr val="black"/>
              </a:solidFill>
              <a:latin typeface="Times New Roman" panose="02020603050405020304"/>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imes New Roman" panose="02020603050405020304"/>
                <a:ea typeface="+mn-ea"/>
                <a:cs typeface="+mn-cs"/>
              </a:rPr>
              <a:t>They are the best sources  of information when you want to enter  numbers into electronic spreadsheets or databases.</a:t>
            </a:r>
          </a:p>
        </p:txBody>
      </p:sp>
      <p:pic>
        <p:nvPicPr>
          <p:cNvPr id="3" name="Picture 2"/>
          <p:cNvPicPr>
            <a:picLocks noChangeAspect="1"/>
          </p:cNvPicPr>
          <p:nvPr/>
        </p:nvPicPr>
        <p:blipFill>
          <a:blip r:embed="rId2"/>
          <a:stretch>
            <a:fillRect/>
          </a:stretch>
        </p:blipFill>
        <p:spPr>
          <a:xfrm>
            <a:off x="4172997" y="707885"/>
            <a:ext cx="8019003" cy="5241471"/>
          </a:xfrm>
          <a:prstGeom prst="rect">
            <a:avLst/>
          </a:prstGeom>
        </p:spPr>
      </p:pic>
    </p:spTree>
    <p:extLst>
      <p:ext uri="{BB962C8B-B14F-4D97-AF65-F5344CB8AC3E}">
        <p14:creationId xmlns:p14="http://schemas.microsoft.com/office/powerpoint/2010/main" val="18918449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861644"/>
            <a:ext cx="12192000" cy="5873263"/>
          </a:xfrm>
        </p:spPr>
        <p:txBody>
          <a:bodyPr>
            <a:noAutofit/>
          </a:bodyPr>
          <a:lstStyle/>
          <a:p>
            <a:pPr>
              <a:lnSpc>
                <a:spcPct val="100000"/>
              </a:lnSpc>
            </a:pPr>
            <a:r>
              <a:rPr lang="en-US" sz="3600" b="1" dirty="0">
                <a:latin typeface="+mj-lt"/>
              </a:rPr>
              <a:t>Convert Text to Tables</a:t>
            </a:r>
          </a:p>
          <a:p>
            <a:pPr lvl="2">
              <a:lnSpc>
                <a:spcPct val="100000"/>
              </a:lnSpc>
            </a:pPr>
            <a:r>
              <a:rPr lang="en-US" sz="2800" b="1" dirty="0">
                <a:latin typeface="+mj-lt"/>
              </a:rPr>
              <a:t>In most word-processing software, you can convert a column of text to a table.</a:t>
            </a:r>
          </a:p>
          <a:p>
            <a:pPr lvl="2">
              <a:lnSpc>
                <a:spcPct val="100000"/>
              </a:lnSpc>
            </a:pPr>
            <a:endParaRPr lang="en-US" sz="2800" b="1" dirty="0">
              <a:latin typeface="+mj-lt"/>
            </a:endParaRPr>
          </a:p>
        </p:txBody>
      </p:sp>
      <p:sp>
        <p:nvSpPr>
          <p:cNvPr id="5" name="Title 1"/>
          <p:cNvSpPr txBox="1">
            <a:spLocks/>
          </p:cNvSpPr>
          <p:nvPr/>
        </p:nvSpPr>
        <p:spPr>
          <a:xfrm>
            <a:off x="0" y="0"/>
            <a:ext cx="12192000" cy="681037"/>
          </a:xfrm>
          <a:prstGeom prst="rect">
            <a:avLst/>
          </a:prstGeom>
          <a:solidFill>
            <a:schemeClr val="accent4">
              <a:lumMod val="40000"/>
              <a:lumOff val="6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prstClr val="black"/>
                </a:solidFill>
              </a:rPr>
              <a:t>TABLES</a:t>
            </a:r>
          </a:p>
        </p:txBody>
      </p:sp>
      <p:grpSp>
        <p:nvGrpSpPr>
          <p:cNvPr id="4" name="Group 4"/>
          <p:cNvGrpSpPr>
            <a:grpSpLocks noChangeAspect="1"/>
          </p:cNvGrpSpPr>
          <p:nvPr/>
        </p:nvGrpSpPr>
        <p:grpSpPr bwMode="auto">
          <a:xfrm>
            <a:off x="160064" y="2400300"/>
            <a:ext cx="11106651" cy="4218198"/>
            <a:chOff x="796" y="1863"/>
            <a:chExt cx="5245" cy="1992"/>
          </a:xfrm>
        </p:grpSpPr>
        <p:sp>
          <p:nvSpPr>
            <p:cNvPr id="6" name="AutoShape 3"/>
            <p:cNvSpPr>
              <a:spLocks noChangeAspect="1" noChangeArrowheads="1" noTextEdit="1"/>
            </p:cNvSpPr>
            <p:nvPr/>
          </p:nvSpPr>
          <p:spPr bwMode="auto">
            <a:xfrm>
              <a:off x="796" y="1863"/>
              <a:ext cx="5245" cy="1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30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 y="1863"/>
              <a:ext cx="5253" cy="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8" name="Straight Connector 7"/>
          <p:cNvCxnSpPr/>
          <p:nvPr/>
        </p:nvCxnSpPr>
        <p:spPr>
          <a:xfrm flipV="1">
            <a:off x="9274629" y="2955471"/>
            <a:ext cx="1551214" cy="2"/>
          </a:xfrm>
          <a:prstGeom prst="line">
            <a:avLst/>
          </a:prstGeom>
          <a:ln w="31750">
            <a:solidFill>
              <a:srgbClr val="C00000"/>
            </a:solidFill>
          </a:ln>
        </p:spPr>
        <p:style>
          <a:lnRef idx="3">
            <a:schemeClr val="accent5"/>
          </a:lnRef>
          <a:fillRef idx="0">
            <a:schemeClr val="accent5"/>
          </a:fillRef>
          <a:effectRef idx="2">
            <a:schemeClr val="accent5"/>
          </a:effectRef>
          <a:fontRef idx="minor">
            <a:schemeClr val="tx1"/>
          </a:fontRef>
        </p:style>
      </p:cxnSp>
      <p:pic>
        <p:nvPicPr>
          <p:cNvPr id="12" name="Picture 11"/>
          <p:cNvPicPr>
            <a:picLocks noChangeAspect="1"/>
          </p:cNvPicPr>
          <p:nvPr/>
        </p:nvPicPr>
        <p:blipFill>
          <a:blip r:embed="rId3"/>
          <a:stretch>
            <a:fillRect/>
          </a:stretch>
        </p:blipFill>
        <p:spPr>
          <a:xfrm>
            <a:off x="9274629" y="3315787"/>
            <a:ext cx="1572904" cy="30483"/>
          </a:xfrm>
          <a:prstGeom prst="rect">
            <a:avLst/>
          </a:prstGeom>
        </p:spPr>
      </p:pic>
      <p:pic>
        <p:nvPicPr>
          <p:cNvPr id="13" name="Picture 12"/>
          <p:cNvPicPr>
            <a:picLocks noChangeAspect="1"/>
          </p:cNvPicPr>
          <p:nvPr/>
        </p:nvPicPr>
        <p:blipFill>
          <a:blip r:embed="rId3"/>
          <a:stretch>
            <a:fillRect/>
          </a:stretch>
        </p:blipFill>
        <p:spPr>
          <a:xfrm>
            <a:off x="9274629" y="4463646"/>
            <a:ext cx="1572904" cy="30483"/>
          </a:xfrm>
          <a:prstGeom prst="rect">
            <a:avLst/>
          </a:prstGeom>
        </p:spPr>
      </p:pic>
      <p:pic>
        <p:nvPicPr>
          <p:cNvPr id="14" name="Picture 13"/>
          <p:cNvPicPr>
            <a:picLocks noChangeAspect="1"/>
          </p:cNvPicPr>
          <p:nvPr/>
        </p:nvPicPr>
        <p:blipFill>
          <a:blip r:embed="rId3"/>
          <a:stretch>
            <a:fillRect/>
          </a:stretch>
        </p:blipFill>
        <p:spPr>
          <a:xfrm>
            <a:off x="525277" y="3783033"/>
            <a:ext cx="1572904" cy="30483"/>
          </a:xfrm>
          <a:prstGeom prst="rect">
            <a:avLst/>
          </a:prstGeom>
        </p:spPr>
      </p:pic>
      <p:pic>
        <p:nvPicPr>
          <p:cNvPr id="15" name="Picture 14"/>
          <p:cNvPicPr>
            <a:picLocks noChangeAspect="1"/>
          </p:cNvPicPr>
          <p:nvPr/>
        </p:nvPicPr>
        <p:blipFill>
          <a:blip r:embed="rId3"/>
          <a:stretch>
            <a:fillRect/>
          </a:stretch>
        </p:blipFill>
        <p:spPr>
          <a:xfrm>
            <a:off x="525277" y="5634444"/>
            <a:ext cx="1572904" cy="30483"/>
          </a:xfrm>
          <a:prstGeom prst="rect">
            <a:avLst/>
          </a:prstGeom>
        </p:spPr>
      </p:pic>
      <p:sp>
        <p:nvSpPr>
          <p:cNvPr id="2" name="Rectangle 1"/>
          <p:cNvSpPr/>
          <p:nvPr/>
        </p:nvSpPr>
        <p:spPr>
          <a:xfrm>
            <a:off x="2256443" y="3481754"/>
            <a:ext cx="732942" cy="1758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p:nvPr/>
        </p:nvCxnSpPr>
        <p:spPr>
          <a:xfrm flipV="1">
            <a:off x="2098181" y="3147646"/>
            <a:ext cx="891204" cy="334108"/>
          </a:xfrm>
          <a:prstGeom prst="straightConnector1">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12133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B061512-B61C-4A06-BFC2-E382AE86D8E2}"/>
              </a:ext>
            </a:extLst>
          </p:cNvPr>
          <p:cNvSpPr>
            <a:spLocks noGrp="1"/>
          </p:cNvSpPr>
          <p:nvPr>
            <p:ph type="subTitle" idx="1"/>
          </p:nvPr>
        </p:nvSpPr>
        <p:spPr>
          <a:xfrm>
            <a:off x="351692" y="322385"/>
            <a:ext cx="11594122" cy="6394938"/>
          </a:xfrm>
        </p:spPr>
        <p:txBody>
          <a:bodyPr>
            <a:normAutofit lnSpcReduction="10000"/>
          </a:bodyPr>
          <a:lstStyle/>
          <a:p>
            <a:pPr algn="l"/>
            <a:r>
              <a:rPr lang="en-US" sz="3200" b="1" dirty="0">
                <a:solidFill>
                  <a:srgbClr val="C00000"/>
                </a:solidFill>
              </a:rPr>
              <a:t>Table makes the most sense:</a:t>
            </a:r>
          </a:p>
          <a:p>
            <a:pPr algn="l"/>
            <a:endParaRPr lang="en-US" sz="2800" dirty="0"/>
          </a:p>
          <a:p>
            <a:pPr marL="457200" indent="-457200" algn="l">
              <a:buFont typeface="Wingdings" panose="05000000000000000000" pitchFamily="2" charset="2"/>
              <a:buChar char="§"/>
            </a:pPr>
            <a:r>
              <a:rPr lang="en-US" sz="2800" b="1" dirty="0"/>
              <a:t>The display will be used to look up </a:t>
            </a:r>
            <a:r>
              <a:rPr lang="en-US" sz="2800" b="1" u="sng" dirty="0"/>
              <a:t>individual values</a:t>
            </a:r>
            <a:r>
              <a:rPr lang="en-US" sz="2800" b="1" dirty="0"/>
              <a:t>.</a:t>
            </a:r>
          </a:p>
          <a:p>
            <a:pPr marL="457200" indent="-457200" algn="l">
              <a:buFont typeface="Wingdings" panose="05000000000000000000" pitchFamily="2" charset="2"/>
              <a:buChar char="§"/>
            </a:pPr>
            <a:endParaRPr lang="en-US" sz="2800" b="1" dirty="0"/>
          </a:p>
          <a:p>
            <a:pPr marL="457200" indent="-457200" algn="l">
              <a:buFont typeface="Wingdings" panose="05000000000000000000" pitchFamily="2" charset="2"/>
              <a:buChar char="§"/>
            </a:pPr>
            <a:r>
              <a:rPr lang="en-US" sz="2800" b="1" dirty="0"/>
              <a:t>It will be used to </a:t>
            </a:r>
            <a:r>
              <a:rPr lang="en-US" sz="2800" b="1" u="sng" dirty="0"/>
              <a:t>compare</a:t>
            </a:r>
            <a:r>
              <a:rPr lang="en-US" sz="2800" b="1" dirty="0"/>
              <a:t> individual values but not entire series of values to one another.</a:t>
            </a:r>
          </a:p>
          <a:p>
            <a:pPr marL="457200" indent="-457200" algn="l">
              <a:buFont typeface="Wingdings" panose="05000000000000000000" pitchFamily="2" charset="2"/>
              <a:buChar char="§"/>
            </a:pPr>
            <a:endParaRPr lang="en-US" sz="2800" b="1" dirty="0"/>
          </a:p>
          <a:p>
            <a:pPr marL="457200" indent="-457200" algn="l">
              <a:buFont typeface="Wingdings" panose="05000000000000000000" pitchFamily="2" charset="2"/>
              <a:buChar char="§"/>
            </a:pPr>
            <a:r>
              <a:rPr lang="en-US" sz="2800" b="1" u="sng" dirty="0"/>
              <a:t>Precise values </a:t>
            </a:r>
            <a:r>
              <a:rPr lang="en-US" sz="2800" b="1" dirty="0"/>
              <a:t>are required.</a:t>
            </a:r>
          </a:p>
          <a:p>
            <a:pPr marL="457200" indent="-457200" algn="l">
              <a:buFont typeface="Wingdings" panose="05000000000000000000" pitchFamily="2" charset="2"/>
              <a:buChar char="§"/>
            </a:pPr>
            <a:endParaRPr lang="en-US" sz="2800" b="1" dirty="0"/>
          </a:p>
          <a:p>
            <a:pPr marL="457200" indent="-457200" algn="l">
              <a:buFont typeface="Wingdings" panose="05000000000000000000" pitchFamily="2" charset="2"/>
              <a:buChar char="§"/>
            </a:pPr>
            <a:r>
              <a:rPr lang="en-US" sz="2800" b="1" dirty="0"/>
              <a:t>The quantitative information to be communicated involves </a:t>
            </a:r>
            <a:r>
              <a:rPr lang="en-US" sz="2800" b="1" u="sng" dirty="0"/>
              <a:t>more than one unit of measure.</a:t>
            </a:r>
          </a:p>
          <a:p>
            <a:pPr marL="457200" indent="-457200" algn="l">
              <a:buFont typeface="Wingdings" panose="05000000000000000000" pitchFamily="2" charset="2"/>
              <a:buChar char="§"/>
            </a:pPr>
            <a:endParaRPr lang="en-US" sz="2800" b="1" dirty="0"/>
          </a:p>
          <a:p>
            <a:pPr marL="457200" indent="-457200" algn="l">
              <a:buFont typeface="Wingdings" panose="05000000000000000000" pitchFamily="2" charset="2"/>
              <a:buChar char="§"/>
            </a:pPr>
            <a:r>
              <a:rPr lang="en-US" sz="2800" b="1" dirty="0"/>
              <a:t>Both summary and detail values are included.</a:t>
            </a:r>
          </a:p>
        </p:txBody>
      </p:sp>
    </p:spTree>
    <p:extLst>
      <p:ext uri="{BB962C8B-B14F-4D97-AF65-F5344CB8AC3E}">
        <p14:creationId xmlns:p14="http://schemas.microsoft.com/office/powerpoint/2010/main" val="5305852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a:grpSpLocks noChangeAspect="1"/>
          </p:cNvGrpSpPr>
          <p:nvPr/>
        </p:nvGrpSpPr>
        <p:grpSpPr bwMode="auto">
          <a:xfrm>
            <a:off x="58040" y="1776046"/>
            <a:ext cx="12184760" cy="3335704"/>
            <a:chOff x="-32" y="1100"/>
            <a:chExt cx="7744" cy="2120"/>
          </a:xfrm>
        </p:grpSpPr>
        <p:sp>
          <p:nvSpPr>
            <p:cNvPr id="6" name="AutoShape 3"/>
            <p:cNvSpPr>
              <a:spLocks noChangeAspect="1" noChangeArrowheads="1" noTextEdit="1"/>
            </p:cNvSpPr>
            <p:nvPr/>
          </p:nvSpPr>
          <p:spPr bwMode="auto">
            <a:xfrm>
              <a:off x="-32" y="1100"/>
              <a:ext cx="7744" cy="2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30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 y="1100"/>
              <a:ext cx="7750" cy="2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7D3AF54-53D8-0E81-89F4-51D16A575D1E}"/>
                  </a:ext>
                </a:extLst>
              </p14:cNvPr>
              <p14:cNvContentPartPr/>
              <p14:nvPr/>
            </p14:nvContentPartPr>
            <p14:xfrm>
              <a:off x="168988" y="3966600"/>
              <a:ext cx="1426680" cy="1439280"/>
            </p14:xfrm>
          </p:contentPart>
        </mc:Choice>
        <mc:Fallback xmlns="">
          <p:pic>
            <p:nvPicPr>
              <p:cNvPr id="2" name="Ink 1">
                <a:extLst>
                  <a:ext uri="{FF2B5EF4-FFF2-40B4-BE49-F238E27FC236}">
                    <a16:creationId xmlns:a16="http://schemas.microsoft.com/office/drawing/2014/main" id="{47D3AF54-53D8-0E81-89F4-51D16A575D1E}"/>
                  </a:ext>
                </a:extLst>
              </p:cNvPr>
              <p:cNvPicPr/>
              <p:nvPr/>
            </p:nvPicPr>
            <p:blipFill>
              <a:blip r:embed="rId4"/>
              <a:stretch>
                <a:fillRect/>
              </a:stretch>
            </p:blipFill>
            <p:spPr>
              <a:xfrm>
                <a:off x="159988" y="3957960"/>
                <a:ext cx="1444320" cy="1456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58E0F4AE-D8D5-72FC-C5F2-E007F009CE4F}"/>
                  </a:ext>
                </a:extLst>
              </p14:cNvPr>
              <p14:cNvContentPartPr/>
              <p14:nvPr/>
            </p14:nvContentPartPr>
            <p14:xfrm>
              <a:off x="2331508" y="1587000"/>
              <a:ext cx="1139040" cy="787320"/>
            </p14:xfrm>
          </p:contentPart>
        </mc:Choice>
        <mc:Fallback xmlns="">
          <p:pic>
            <p:nvPicPr>
              <p:cNvPr id="3" name="Ink 2">
                <a:extLst>
                  <a:ext uri="{FF2B5EF4-FFF2-40B4-BE49-F238E27FC236}">
                    <a16:creationId xmlns:a16="http://schemas.microsoft.com/office/drawing/2014/main" id="{58E0F4AE-D8D5-72FC-C5F2-E007F009CE4F}"/>
                  </a:ext>
                </a:extLst>
              </p:cNvPr>
              <p:cNvPicPr/>
              <p:nvPr/>
            </p:nvPicPr>
            <p:blipFill>
              <a:blip r:embed="rId6"/>
              <a:stretch>
                <a:fillRect/>
              </a:stretch>
            </p:blipFill>
            <p:spPr>
              <a:xfrm>
                <a:off x="2322868" y="1578360"/>
                <a:ext cx="1156680" cy="804960"/>
              </a:xfrm>
              <a:prstGeom prst="rect">
                <a:avLst/>
              </a:prstGeom>
            </p:spPr>
          </p:pic>
        </mc:Fallback>
      </mc:AlternateContent>
    </p:spTree>
    <p:extLst>
      <p:ext uri="{BB962C8B-B14F-4D97-AF65-F5344CB8AC3E}">
        <p14:creationId xmlns:p14="http://schemas.microsoft.com/office/powerpoint/2010/main" val="1826633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861644"/>
            <a:ext cx="12192000" cy="5873263"/>
          </a:xfrm>
        </p:spPr>
        <p:txBody>
          <a:bodyPr>
            <a:noAutofit/>
          </a:bodyPr>
          <a:lstStyle/>
          <a:p>
            <a:pPr>
              <a:lnSpc>
                <a:spcPct val="100000"/>
              </a:lnSpc>
            </a:pPr>
            <a:r>
              <a:rPr lang="en-US" sz="3600" b="1" dirty="0">
                <a:latin typeface="+mj-lt"/>
              </a:rPr>
              <a:t>Use Tables for Two-Column Lists</a:t>
            </a:r>
          </a:p>
          <a:p>
            <a:pPr lvl="2">
              <a:lnSpc>
                <a:spcPct val="100000"/>
              </a:lnSpc>
            </a:pPr>
            <a:endParaRPr lang="en-US" sz="2800" b="1" dirty="0">
              <a:latin typeface="+mj-lt"/>
            </a:endParaRPr>
          </a:p>
        </p:txBody>
      </p:sp>
      <p:sp>
        <p:nvSpPr>
          <p:cNvPr id="5" name="Title 1"/>
          <p:cNvSpPr txBox="1">
            <a:spLocks/>
          </p:cNvSpPr>
          <p:nvPr/>
        </p:nvSpPr>
        <p:spPr>
          <a:xfrm>
            <a:off x="0" y="0"/>
            <a:ext cx="12192000" cy="681037"/>
          </a:xfrm>
          <a:prstGeom prst="rect">
            <a:avLst/>
          </a:prstGeom>
          <a:solidFill>
            <a:schemeClr val="accent4">
              <a:lumMod val="40000"/>
              <a:lumOff val="6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prstClr val="black"/>
                </a:solidFill>
              </a:rPr>
              <a:t>TABLES</a:t>
            </a:r>
          </a:p>
        </p:txBody>
      </p:sp>
      <p:grpSp>
        <p:nvGrpSpPr>
          <p:cNvPr id="7" name="Group 4"/>
          <p:cNvGrpSpPr>
            <a:grpSpLocks noChangeAspect="1"/>
          </p:cNvGrpSpPr>
          <p:nvPr/>
        </p:nvGrpSpPr>
        <p:grpSpPr bwMode="auto">
          <a:xfrm>
            <a:off x="516775" y="1757202"/>
            <a:ext cx="10982395" cy="4806884"/>
            <a:chOff x="1537" y="1152"/>
            <a:chExt cx="4606" cy="2016"/>
          </a:xfrm>
        </p:grpSpPr>
        <p:sp>
          <p:nvSpPr>
            <p:cNvPr id="9" name="AutoShape 3"/>
            <p:cNvSpPr>
              <a:spLocks noChangeAspect="1" noChangeArrowheads="1" noTextEdit="1"/>
            </p:cNvSpPr>
            <p:nvPr/>
          </p:nvSpPr>
          <p:spPr bwMode="auto">
            <a:xfrm>
              <a:off x="1537" y="1152"/>
              <a:ext cx="4606" cy="20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410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7" y="1152"/>
              <a:ext cx="4614" cy="2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Left-Up Arrow 9"/>
          <p:cNvSpPr/>
          <p:nvPr/>
        </p:nvSpPr>
        <p:spPr>
          <a:xfrm rot="5400000">
            <a:off x="2686050" y="4825093"/>
            <a:ext cx="718456" cy="898072"/>
          </a:xfrm>
          <a:prstGeom prst="leftUpArrow">
            <a:avLst>
              <a:gd name="adj1" fmla="val 26411"/>
              <a:gd name="adj2" fmla="val 20474"/>
              <a:gd name="adj3" fmla="val 25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1151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861644"/>
            <a:ext cx="12192000" cy="5873263"/>
          </a:xfrm>
        </p:spPr>
        <p:txBody>
          <a:bodyPr>
            <a:noAutofit/>
          </a:bodyPr>
          <a:lstStyle/>
          <a:p>
            <a:pPr>
              <a:lnSpc>
                <a:spcPct val="100000"/>
              </a:lnSpc>
            </a:pPr>
            <a:r>
              <a:rPr lang="en-US" sz="3600" b="1" dirty="0">
                <a:solidFill>
                  <a:srgbClr val="FF0000"/>
                </a:solidFill>
                <a:latin typeface="+mj-lt"/>
              </a:rPr>
              <a:t>Import Spreadsheet Data to Create Tables</a:t>
            </a:r>
            <a:endParaRPr lang="en-US" sz="2800" b="1" dirty="0">
              <a:solidFill>
                <a:srgbClr val="FF0000"/>
              </a:solidFill>
              <a:latin typeface="+mj-lt"/>
            </a:endParaRPr>
          </a:p>
        </p:txBody>
      </p:sp>
      <p:sp>
        <p:nvSpPr>
          <p:cNvPr id="5" name="Title 1"/>
          <p:cNvSpPr txBox="1">
            <a:spLocks/>
          </p:cNvSpPr>
          <p:nvPr/>
        </p:nvSpPr>
        <p:spPr>
          <a:xfrm>
            <a:off x="0" y="0"/>
            <a:ext cx="12192000" cy="681037"/>
          </a:xfrm>
          <a:prstGeom prst="rect">
            <a:avLst/>
          </a:prstGeom>
          <a:solidFill>
            <a:schemeClr val="accent4">
              <a:lumMod val="40000"/>
              <a:lumOff val="6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prstClr val="black"/>
                </a:solidFill>
              </a:rPr>
              <a:t>TABLES</a:t>
            </a:r>
          </a:p>
        </p:txBody>
      </p:sp>
      <p:grpSp>
        <p:nvGrpSpPr>
          <p:cNvPr id="4" name="Group 4"/>
          <p:cNvGrpSpPr>
            <a:grpSpLocks noChangeAspect="1"/>
          </p:cNvGrpSpPr>
          <p:nvPr/>
        </p:nvGrpSpPr>
        <p:grpSpPr bwMode="auto">
          <a:xfrm>
            <a:off x="179959" y="1889192"/>
            <a:ext cx="11384525" cy="4968808"/>
            <a:chOff x="1393" y="1092"/>
            <a:chExt cx="4894" cy="2136"/>
          </a:xfrm>
        </p:grpSpPr>
        <p:sp>
          <p:nvSpPr>
            <p:cNvPr id="6" name="AutoShape 3"/>
            <p:cNvSpPr>
              <a:spLocks noChangeAspect="1" noChangeArrowheads="1" noTextEdit="1"/>
            </p:cNvSpPr>
            <p:nvPr/>
          </p:nvSpPr>
          <p:spPr bwMode="auto">
            <a:xfrm>
              <a:off x="1393" y="1092"/>
              <a:ext cx="4894" cy="2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30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3" y="1092"/>
              <a:ext cx="4902" cy="2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5363237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3"/>
          <p:cNvSpPr>
            <a:spLocks noChangeAspect="1" noChangeArrowheads="1" noTextEdit="1"/>
          </p:cNvSpPr>
          <p:nvPr/>
        </p:nvSpPr>
        <p:spPr bwMode="auto">
          <a:xfrm>
            <a:off x="177574" y="861644"/>
            <a:ext cx="7529512" cy="6013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 name="Title 1"/>
          <p:cNvSpPr txBox="1">
            <a:spLocks/>
          </p:cNvSpPr>
          <p:nvPr/>
        </p:nvSpPr>
        <p:spPr>
          <a:xfrm>
            <a:off x="0" y="0"/>
            <a:ext cx="12192000" cy="681037"/>
          </a:xfrm>
          <a:prstGeom prst="rect">
            <a:avLst/>
          </a:prstGeom>
          <a:solidFill>
            <a:schemeClr val="accent4">
              <a:lumMod val="40000"/>
              <a:lumOff val="6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prstClr val="black"/>
                </a:solidFill>
              </a:rPr>
              <a:t>TABLES</a:t>
            </a:r>
          </a:p>
        </p:txBody>
      </p:sp>
      <p:pic>
        <p:nvPicPr>
          <p:cNvPr id="2" name="Picture 1"/>
          <p:cNvPicPr>
            <a:picLocks noChangeAspect="1"/>
          </p:cNvPicPr>
          <p:nvPr/>
        </p:nvPicPr>
        <p:blipFill>
          <a:blip r:embed="rId2"/>
          <a:stretch>
            <a:fillRect/>
          </a:stretch>
        </p:blipFill>
        <p:spPr>
          <a:xfrm>
            <a:off x="0" y="681037"/>
            <a:ext cx="9117361" cy="6009600"/>
          </a:xfrm>
          <a:prstGeom prst="rect">
            <a:avLst/>
          </a:prstGeom>
        </p:spPr>
      </p:pic>
      <p:sp>
        <p:nvSpPr>
          <p:cNvPr id="3" name="Content Placeholder 2"/>
          <p:cNvSpPr>
            <a:spLocks noGrp="1"/>
          </p:cNvSpPr>
          <p:nvPr>
            <p:ph idx="1"/>
          </p:nvPr>
        </p:nvSpPr>
        <p:spPr>
          <a:xfrm>
            <a:off x="0" y="861644"/>
            <a:ext cx="11993526" cy="5873263"/>
          </a:xfrm>
        </p:spPr>
        <p:txBody>
          <a:bodyPr>
            <a:noAutofit/>
          </a:bodyPr>
          <a:lstStyle/>
          <a:p>
            <a:pPr lvl="3" algn="r">
              <a:lnSpc>
                <a:spcPct val="100000"/>
              </a:lnSpc>
            </a:pPr>
            <a:r>
              <a:rPr lang="en-US" sz="3600" b="1" dirty="0">
                <a:solidFill>
                  <a:srgbClr val="C00000"/>
                </a:solidFill>
                <a:latin typeface="+mj-lt"/>
              </a:rPr>
              <a:t>Convert Paragraphs to Tables</a:t>
            </a:r>
          </a:p>
        </p:txBody>
      </p:sp>
    </p:spTree>
    <p:extLst>
      <p:ext uri="{BB962C8B-B14F-4D97-AF65-F5344CB8AC3E}">
        <p14:creationId xmlns:p14="http://schemas.microsoft.com/office/powerpoint/2010/main" val="39349382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81038"/>
            <a:ext cx="12192000" cy="6053870"/>
          </a:xfrm>
        </p:spPr>
        <p:txBody>
          <a:bodyPr>
            <a:noAutofit/>
          </a:bodyPr>
          <a:lstStyle/>
          <a:p>
            <a:pPr>
              <a:lnSpc>
                <a:spcPct val="100000"/>
              </a:lnSpc>
            </a:pPr>
            <a:r>
              <a:rPr lang="en-US" b="1" dirty="0">
                <a:solidFill>
                  <a:srgbClr val="C00000"/>
                </a:solidFill>
                <a:latin typeface="+mj-lt"/>
              </a:rPr>
              <a:t>Number tables </a:t>
            </a:r>
            <a:r>
              <a:rPr lang="en-US" b="1" dirty="0">
                <a:latin typeface="+mj-lt"/>
              </a:rPr>
              <a:t>consecutively throughout a report in the order of their 	appearance. You may put the </a:t>
            </a:r>
            <a:r>
              <a:rPr lang="en-US" b="1" dirty="0">
                <a:solidFill>
                  <a:srgbClr val="C00000"/>
                </a:solidFill>
                <a:latin typeface="+mj-lt"/>
              </a:rPr>
              <a:t>title above </a:t>
            </a:r>
            <a:r>
              <a:rPr lang="en-US" b="1" dirty="0">
                <a:latin typeface="+mj-lt"/>
              </a:rPr>
              <a:t>and the </a:t>
            </a:r>
            <a:r>
              <a:rPr lang="en-US" b="1" dirty="0">
                <a:solidFill>
                  <a:srgbClr val="C00000"/>
                </a:solidFill>
                <a:latin typeface="+mj-lt"/>
              </a:rPr>
              <a:t>number below the table</a:t>
            </a:r>
            <a:r>
              <a:rPr lang="en-US" b="1" dirty="0">
                <a:latin typeface="+mj-lt"/>
              </a:rPr>
              <a:t>. </a:t>
            </a:r>
          </a:p>
          <a:p>
            <a:pPr>
              <a:lnSpc>
                <a:spcPct val="100000"/>
              </a:lnSpc>
            </a:pPr>
            <a:r>
              <a:rPr lang="en-US" b="1" dirty="0">
                <a:latin typeface="+mj-lt"/>
              </a:rPr>
              <a:t>Use the </a:t>
            </a:r>
            <a:r>
              <a:rPr lang="en-US" b="1" dirty="0">
                <a:solidFill>
                  <a:srgbClr val="C00000"/>
                </a:solidFill>
                <a:latin typeface="+mj-lt"/>
              </a:rPr>
              <a:t>table title </a:t>
            </a:r>
            <a:r>
              <a:rPr lang="en-US" b="1" dirty="0">
                <a:latin typeface="+mj-lt"/>
              </a:rPr>
              <a:t>to identify the main point of the table. </a:t>
            </a:r>
          </a:p>
          <a:p>
            <a:pPr>
              <a:lnSpc>
                <a:spcPct val="100000"/>
              </a:lnSpc>
            </a:pPr>
            <a:r>
              <a:rPr lang="en-US" b="1" dirty="0">
                <a:solidFill>
                  <a:srgbClr val="C00000"/>
                </a:solidFill>
                <a:latin typeface="+mj-lt"/>
              </a:rPr>
              <a:t>Cite the source </a:t>
            </a:r>
            <a:r>
              <a:rPr lang="en-US" b="1" dirty="0">
                <a:latin typeface="+mj-lt"/>
              </a:rPr>
              <a:t>of the data – unless it is obviously data collected for the paper. </a:t>
            </a:r>
          </a:p>
          <a:p>
            <a:pPr>
              <a:lnSpc>
                <a:spcPct val="100000"/>
              </a:lnSpc>
            </a:pPr>
            <a:r>
              <a:rPr lang="en-US" b="1" dirty="0">
                <a:latin typeface="+mj-lt"/>
              </a:rPr>
              <a:t>Place </a:t>
            </a:r>
            <a:r>
              <a:rPr lang="en-US" b="1" dirty="0">
                <a:solidFill>
                  <a:srgbClr val="FF0000"/>
                </a:solidFill>
                <a:latin typeface="+mj-lt"/>
              </a:rPr>
              <a:t>explanatory comments </a:t>
            </a:r>
            <a:r>
              <a:rPr lang="en-US" b="1" dirty="0">
                <a:solidFill>
                  <a:srgbClr val="C00000"/>
                </a:solidFill>
                <a:latin typeface="+mj-lt"/>
              </a:rPr>
              <a:t>below the bottom rule</a:t>
            </a:r>
            <a:r>
              <a:rPr lang="en-US" b="1" dirty="0">
                <a:latin typeface="+mj-lt"/>
              </a:rPr>
              <a:t>. Use the word </a:t>
            </a:r>
            <a:r>
              <a:rPr lang="en-US" b="1" dirty="0">
                <a:solidFill>
                  <a:srgbClr val="C00000"/>
                </a:solidFill>
                <a:latin typeface="+mj-lt"/>
              </a:rPr>
              <a:t>Note</a:t>
            </a:r>
            <a:r>
              <a:rPr lang="en-US" b="1" dirty="0">
                <a:latin typeface="+mj-lt"/>
              </a:rPr>
              <a:t> 	followed by the comment. </a:t>
            </a:r>
          </a:p>
          <a:p>
            <a:pPr>
              <a:lnSpc>
                <a:spcPct val="100000"/>
              </a:lnSpc>
            </a:pPr>
            <a:r>
              <a:rPr lang="en-US" b="1" dirty="0">
                <a:solidFill>
                  <a:srgbClr val="C00000"/>
                </a:solidFill>
                <a:latin typeface="+mj-lt"/>
              </a:rPr>
              <a:t>Horizontally center</a:t>
            </a:r>
            <a:r>
              <a:rPr lang="en-US" b="1" dirty="0">
                <a:latin typeface="+mj-lt"/>
              </a:rPr>
              <a:t>, within the report margins, figures and tables and the 	corresponding titles. </a:t>
            </a:r>
          </a:p>
          <a:p>
            <a:pPr>
              <a:lnSpc>
                <a:spcPct val="100000"/>
              </a:lnSpc>
            </a:pPr>
            <a:r>
              <a:rPr lang="en-US" b="1" dirty="0">
                <a:latin typeface="+mj-lt"/>
              </a:rPr>
              <a:t>Use tables if there will be </a:t>
            </a:r>
            <a:r>
              <a:rPr lang="en-US" b="1" dirty="0">
                <a:solidFill>
                  <a:srgbClr val="C00000"/>
                </a:solidFill>
                <a:latin typeface="+mj-lt"/>
              </a:rPr>
              <a:t>more than three to four entries</a:t>
            </a:r>
            <a:r>
              <a:rPr lang="en-US" b="1" dirty="0">
                <a:latin typeface="+mj-lt"/>
              </a:rPr>
              <a:t>. </a:t>
            </a:r>
          </a:p>
          <a:p>
            <a:pPr>
              <a:lnSpc>
                <a:spcPct val="100000"/>
              </a:lnSpc>
            </a:pPr>
            <a:r>
              <a:rPr lang="en-US" b="1" dirty="0">
                <a:latin typeface="+mj-lt"/>
              </a:rPr>
              <a:t>Whenever possible, keep figures and tables in </a:t>
            </a:r>
            <a:r>
              <a:rPr lang="en-US" b="1" dirty="0">
                <a:solidFill>
                  <a:srgbClr val="C00000"/>
                </a:solidFill>
                <a:latin typeface="+mj-lt"/>
              </a:rPr>
              <a:t>close proximity to the text </a:t>
            </a:r>
            <a:r>
              <a:rPr lang="en-US" b="1" dirty="0">
                <a:latin typeface="+mj-lt"/>
              </a:rPr>
              <a:t>that 	describes them</a:t>
            </a:r>
            <a:endParaRPr lang="en-US" sz="2800" b="1" dirty="0">
              <a:latin typeface="+mj-lt"/>
            </a:endParaRPr>
          </a:p>
        </p:txBody>
      </p:sp>
      <p:sp>
        <p:nvSpPr>
          <p:cNvPr id="5" name="Title 1"/>
          <p:cNvSpPr txBox="1">
            <a:spLocks/>
          </p:cNvSpPr>
          <p:nvPr/>
        </p:nvSpPr>
        <p:spPr>
          <a:xfrm>
            <a:off x="0" y="1"/>
            <a:ext cx="12192000" cy="681037"/>
          </a:xfrm>
          <a:prstGeom prst="rect">
            <a:avLst/>
          </a:prstGeom>
          <a:solidFill>
            <a:schemeClr val="accent4">
              <a:lumMod val="40000"/>
              <a:lumOff val="6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prstClr val="black"/>
                </a:solidFill>
              </a:rPr>
              <a:t>Guidelines for Constructing Tables</a:t>
            </a:r>
          </a:p>
        </p:txBody>
      </p:sp>
    </p:spTree>
    <p:extLst>
      <p:ext uri="{BB962C8B-B14F-4D97-AF65-F5344CB8AC3E}">
        <p14:creationId xmlns:p14="http://schemas.microsoft.com/office/powerpoint/2010/main" val="1941617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CF652C-D634-4684-85A4-DFEAEC0F7582}"/>
              </a:ext>
            </a:extLst>
          </p:cNvPr>
          <p:cNvPicPr>
            <a:picLocks noChangeAspect="1"/>
          </p:cNvPicPr>
          <p:nvPr/>
        </p:nvPicPr>
        <p:blipFill>
          <a:blip r:embed="rId2"/>
          <a:stretch>
            <a:fillRect/>
          </a:stretch>
        </p:blipFill>
        <p:spPr>
          <a:xfrm>
            <a:off x="2080846" y="474686"/>
            <a:ext cx="7907215" cy="5908628"/>
          </a:xfrm>
          <a:prstGeom prst="rect">
            <a:avLst/>
          </a:prstGeom>
        </p:spPr>
      </p:pic>
      <p:sp>
        <p:nvSpPr>
          <p:cNvPr id="6" name="Oval 5">
            <a:extLst>
              <a:ext uri="{FF2B5EF4-FFF2-40B4-BE49-F238E27FC236}">
                <a16:creationId xmlns:a16="http://schemas.microsoft.com/office/drawing/2014/main" id="{1D3E654E-EF11-49A6-BCC1-3BFEF25C6E6C}"/>
              </a:ext>
            </a:extLst>
          </p:cNvPr>
          <p:cNvSpPr/>
          <p:nvPr/>
        </p:nvSpPr>
        <p:spPr>
          <a:xfrm>
            <a:off x="3675185" y="2133600"/>
            <a:ext cx="1582615" cy="509954"/>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632BC9E-7F04-4F91-A7E0-8BA9181531FE}"/>
              </a:ext>
            </a:extLst>
          </p:cNvPr>
          <p:cNvSpPr/>
          <p:nvPr/>
        </p:nvSpPr>
        <p:spPr>
          <a:xfrm>
            <a:off x="2385647" y="4195762"/>
            <a:ext cx="1582615" cy="509954"/>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7FD3AA30-52B1-4AE9-B829-31318326E31F}"/>
              </a:ext>
            </a:extLst>
          </p:cNvPr>
          <p:cNvSpPr/>
          <p:nvPr/>
        </p:nvSpPr>
        <p:spPr>
          <a:xfrm>
            <a:off x="5984632" y="2743200"/>
            <a:ext cx="1160584" cy="392723"/>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A5A033F2-4AB7-4017-9FF1-037A5AF09095}"/>
              </a:ext>
            </a:extLst>
          </p:cNvPr>
          <p:cNvSpPr/>
          <p:nvPr/>
        </p:nvSpPr>
        <p:spPr>
          <a:xfrm>
            <a:off x="2514601" y="3663461"/>
            <a:ext cx="1160584" cy="392723"/>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B7592590-FBD4-475D-85F9-6E34773E3928}"/>
              </a:ext>
            </a:extLst>
          </p:cNvPr>
          <p:cNvCxnSpPr/>
          <p:nvPr/>
        </p:nvCxnSpPr>
        <p:spPr>
          <a:xfrm flipV="1">
            <a:off x="3675185" y="3135923"/>
            <a:ext cx="2420815" cy="539262"/>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64F9208-B471-4341-8C83-423AD96417C2}"/>
              </a:ext>
            </a:extLst>
          </p:cNvPr>
          <p:cNvCxnSpPr>
            <a:endCxn id="7" idx="7"/>
          </p:cNvCxnSpPr>
          <p:nvPr/>
        </p:nvCxnSpPr>
        <p:spPr>
          <a:xfrm flipH="1">
            <a:off x="3736493" y="2643554"/>
            <a:ext cx="888261" cy="1626889"/>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0281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 y="170122"/>
            <a:ext cx="12025422" cy="6687878"/>
          </a:xfrm>
        </p:spPr>
        <p:txBody>
          <a:bodyPr>
            <a:normAutofit/>
          </a:bodyPr>
          <a:lstStyle/>
          <a:p>
            <a:r>
              <a:rPr lang="en-US" sz="3200" b="1" dirty="0"/>
              <a:t>Quick Reference for Tables</a:t>
            </a:r>
          </a:p>
          <a:p>
            <a:r>
              <a:rPr lang="en-US" dirty="0"/>
              <a:t>Tables should be:</a:t>
            </a:r>
          </a:p>
          <a:p>
            <a:endParaRPr lang="en-US" sz="3200" dirty="0"/>
          </a:p>
          <a:p>
            <a:r>
              <a:rPr lang="en-US" sz="3200" dirty="0"/>
              <a:t>Centered on the page.</a:t>
            </a:r>
          </a:p>
          <a:p>
            <a:r>
              <a:rPr lang="en-US" sz="3200" dirty="0"/>
              <a:t>Numbered in the order they appear in the text.</a:t>
            </a:r>
          </a:p>
          <a:p>
            <a:r>
              <a:rPr lang="en-US" sz="3200" dirty="0"/>
              <a:t>Referenced in the order they appear in the text.</a:t>
            </a:r>
          </a:p>
          <a:p>
            <a:r>
              <a:rPr lang="en-US" sz="3200" dirty="0"/>
              <a:t>Labeled with the table number and descriptive title above the 	table.</a:t>
            </a:r>
          </a:p>
          <a:p>
            <a:r>
              <a:rPr lang="en-US" sz="3200" dirty="0"/>
              <a:t>Labeled with column and/or row labels that describe the data, 	including units of measurement.</a:t>
            </a:r>
          </a:p>
          <a:p>
            <a:r>
              <a:rPr lang="en-US" sz="3200" dirty="0"/>
              <a:t>Set apart from the text itself; </a:t>
            </a:r>
            <a:r>
              <a:rPr lang="en-US" sz="3200" dirty="0">
                <a:solidFill>
                  <a:srgbClr val="FF0000"/>
                </a:solidFill>
              </a:rPr>
              <a:t>text does not flow around the 	table.</a:t>
            </a:r>
          </a:p>
        </p:txBody>
      </p:sp>
    </p:spTree>
    <p:extLst>
      <p:ext uri="{BB962C8B-B14F-4D97-AF65-F5344CB8AC3E}">
        <p14:creationId xmlns:p14="http://schemas.microsoft.com/office/powerpoint/2010/main" val="17739455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E0A5A-4930-4C4C-ABB7-67A2039872B8}"/>
              </a:ext>
            </a:extLst>
          </p:cNvPr>
          <p:cNvSpPr>
            <a:spLocks noGrp="1"/>
          </p:cNvSpPr>
          <p:nvPr>
            <p:ph type="ctrTitle"/>
          </p:nvPr>
        </p:nvSpPr>
        <p:spPr>
          <a:xfrm>
            <a:off x="703385" y="381001"/>
            <a:ext cx="10585938" cy="890954"/>
          </a:xfrm>
        </p:spPr>
        <p:txBody>
          <a:bodyPr>
            <a:normAutofit fontScale="90000"/>
          </a:bodyPr>
          <a:lstStyle/>
          <a:p>
            <a:r>
              <a:rPr lang="en-US" dirty="0"/>
              <a:t>No tables right after a title or subtitle  </a:t>
            </a:r>
          </a:p>
        </p:txBody>
      </p:sp>
      <p:sp>
        <p:nvSpPr>
          <p:cNvPr id="3" name="Subtitle 2">
            <a:extLst>
              <a:ext uri="{FF2B5EF4-FFF2-40B4-BE49-F238E27FC236}">
                <a16:creationId xmlns:a16="http://schemas.microsoft.com/office/drawing/2014/main" id="{A26ED78E-3CEB-4495-8815-3CDACA589BF1}"/>
              </a:ext>
            </a:extLst>
          </p:cNvPr>
          <p:cNvSpPr>
            <a:spLocks noGrp="1"/>
          </p:cNvSpPr>
          <p:nvPr>
            <p:ph type="subTitle" idx="1"/>
          </p:nvPr>
        </p:nvSpPr>
        <p:spPr>
          <a:xfrm>
            <a:off x="592015" y="1949084"/>
            <a:ext cx="11002107" cy="4627562"/>
          </a:xfrm>
          <a:solidFill>
            <a:schemeClr val="accent3">
              <a:lumMod val="20000"/>
              <a:lumOff val="80000"/>
            </a:schemeClr>
          </a:solidFill>
        </p:spPr>
        <p:txBody>
          <a:bodyPr/>
          <a:lstStyle/>
          <a:p>
            <a:pPr algn="l"/>
            <a:r>
              <a:rPr lang="en-US" b="1" dirty="0"/>
              <a:t>3.1</a:t>
            </a:r>
            <a:r>
              <a:rPr lang="en-US" dirty="0"/>
              <a:t> </a:t>
            </a:r>
            <a:r>
              <a:rPr lang="en-US" b="1" dirty="0"/>
              <a:t>Budget Analysis</a:t>
            </a:r>
          </a:p>
          <a:p>
            <a:pPr algn="l"/>
            <a:endParaRPr lang="en-US" b="1" dirty="0"/>
          </a:p>
          <a:p>
            <a:pPr algn="l"/>
            <a:endParaRPr lang="en-US" b="1" dirty="0"/>
          </a:p>
          <a:p>
            <a:pPr algn="l"/>
            <a:endParaRPr lang="en-US" b="1" dirty="0"/>
          </a:p>
          <a:p>
            <a:pPr algn="l"/>
            <a:endParaRPr lang="en-US" b="1" dirty="0"/>
          </a:p>
          <a:p>
            <a:pPr algn="l"/>
            <a:endParaRPr lang="en-US" b="1" dirty="0"/>
          </a:p>
          <a:p>
            <a:pPr algn="l"/>
            <a:r>
              <a:rPr lang="en-US" sz="1800" dirty="0"/>
              <a:t>Table 3.1. Components purchased </a:t>
            </a:r>
          </a:p>
        </p:txBody>
      </p:sp>
      <p:graphicFrame>
        <p:nvGraphicFramePr>
          <p:cNvPr id="4" name="Table 4">
            <a:extLst>
              <a:ext uri="{FF2B5EF4-FFF2-40B4-BE49-F238E27FC236}">
                <a16:creationId xmlns:a16="http://schemas.microsoft.com/office/drawing/2014/main" id="{96749008-5E5E-4863-9A23-B005257FE68F}"/>
              </a:ext>
            </a:extLst>
          </p:cNvPr>
          <p:cNvGraphicFramePr>
            <a:graphicFrameLocks noGrp="1"/>
          </p:cNvGraphicFramePr>
          <p:nvPr>
            <p:extLst>
              <p:ext uri="{D42A27DB-BD31-4B8C-83A1-F6EECF244321}">
                <p14:modId xmlns:p14="http://schemas.microsoft.com/office/powerpoint/2010/main" val="597691221"/>
              </p:ext>
            </p:extLst>
          </p:nvPr>
        </p:nvGraphicFramePr>
        <p:xfrm>
          <a:off x="650630" y="2941189"/>
          <a:ext cx="8897815" cy="1512364"/>
        </p:xfrm>
        <a:graphic>
          <a:graphicData uri="http://schemas.openxmlformats.org/drawingml/2006/table">
            <a:tbl>
              <a:tblPr firstRow="1" bandRow="1">
                <a:tableStyleId>{5C22544A-7EE6-4342-B048-85BDC9FD1C3A}</a:tableStyleId>
              </a:tblPr>
              <a:tblGrid>
                <a:gridCol w="3329354">
                  <a:extLst>
                    <a:ext uri="{9D8B030D-6E8A-4147-A177-3AD203B41FA5}">
                      <a16:colId xmlns:a16="http://schemas.microsoft.com/office/drawing/2014/main" val="3662410972"/>
                    </a:ext>
                  </a:extLst>
                </a:gridCol>
                <a:gridCol w="1635370">
                  <a:extLst>
                    <a:ext uri="{9D8B030D-6E8A-4147-A177-3AD203B41FA5}">
                      <a16:colId xmlns:a16="http://schemas.microsoft.com/office/drawing/2014/main" val="2650386454"/>
                    </a:ext>
                  </a:extLst>
                </a:gridCol>
                <a:gridCol w="1711569">
                  <a:extLst>
                    <a:ext uri="{9D8B030D-6E8A-4147-A177-3AD203B41FA5}">
                      <a16:colId xmlns:a16="http://schemas.microsoft.com/office/drawing/2014/main" val="269927978"/>
                    </a:ext>
                  </a:extLst>
                </a:gridCol>
                <a:gridCol w="1863969">
                  <a:extLst>
                    <a:ext uri="{9D8B030D-6E8A-4147-A177-3AD203B41FA5}">
                      <a16:colId xmlns:a16="http://schemas.microsoft.com/office/drawing/2014/main" val="3995018890"/>
                    </a:ext>
                  </a:extLst>
                </a:gridCol>
                <a:gridCol w="357553">
                  <a:extLst>
                    <a:ext uri="{9D8B030D-6E8A-4147-A177-3AD203B41FA5}">
                      <a16:colId xmlns:a16="http://schemas.microsoft.com/office/drawing/2014/main" val="2592194931"/>
                    </a:ext>
                  </a:extLst>
                </a:gridCol>
              </a:tblGrid>
              <a:tr h="436142">
                <a:tc>
                  <a:txBody>
                    <a:bodyPr/>
                    <a:lstStyle/>
                    <a:p>
                      <a:r>
                        <a:rPr lang="en-US" dirty="0"/>
                        <a:t>Item</a:t>
                      </a:r>
                    </a:p>
                  </a:txBody>
                  <a:tcPr/>
                </a:tc>
                <a:tc>
                  <a:txBody>
                    <a:bodyPr/>
                    <a:lstStyle/>
                    <a:p>
                      <a:r>
                        <a:rPr lang="en-US" dirty="0"/>
                        <a:t>Quantity</a:t>
                      </a:r>
                    </a:p>
                  </a:txBody>
                  <a:tcPr/>
                </a:tc>
                <a:tc>
                  <a:txBody>
                    <a:bodyPr/>
                    <a:lstStyle/>
                    <a:p>
                      <a:r>
                        <a:rPr lang="en-US" dirty="0"/>
                        <a:t>Price $</a:t>
                      </a:r>
                    </a:p>
                  </a:txBody>
                  <a:tcPr/>
                </a:tc>
                <a:tc>
                  <a:txBody>
                    <a:bodyPr/>
                    <a:lstStyle/>
                    <a:p>
                      <a:r>
                        <a:rPr lang="en-US" dirty="0"/>
                        <a:t>Total $</a:t>
                      </a:r>
                    </a:p>
                  </a:txBody>
                  <a:tcPr/>
                </a:tc>
                <a:tc>
                  <a:txBody>
                    <a:bodyPr/>
                    <a:lstStyle/>
                    <a:p>
                      <a:endParaRPr lang="en-US"/>
                    </a:p>
                  </a:txBody>
                  <a:tcPr/>
                </a:tc>
                <a:extLst>
                  <a:ext uri="{0D108BD9-81ED-4DB2-BD59-A6C34878D82A}">
                    <a16:rowId xmlns:a16="http://schemas.microsoft.com/office/drawing/2014/main" val="2864795420"/>
                  </a:ext>
                </a:extLst>
              </a:tr>
              <a:tr h="436142">
                <a:tc>
                  <a:txBody>
                    <a:bodyPr/>
                    <a:lstStyle/>
                    <a:p>
                      <a:r>
                        <a:rPr lang="en-US" dirty="0"/>
                        <a:t>Raspberry Pi</a:t>
                      </a:r>
                    </a:p>
                  </a:txBody>
                  <a:tcPr/>
                </a:tc>
                <a:tc>
                  <a:txBody>
                    <a:bodyPr/>
                    <a:lstStyle/>
                    <a:p>
                      <a:r>
                        <a:rPr lang="en-US" dirty="0"/>
                        <a:t>1</a:t>
                      </a:r>
                    </a:p>
                  </a:txBody>
                  <a:tcPr/>
                </a:tc>
                <a:tc>
                  <a:txBody>
                    <a:bodyPr/>
                    <a:lstStyle/>
                    <a:p>
                      <a:r>
                        <a:rPr lang="en-US" dirty="0"/>
                        <a:t>66.75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66.75</a:t>
                      </a:r>
                    </a:p>
                  </a:txBody>
                  <a:tcPr/>
                </a:tc>
                <a:tc>
                  <a:txBody>
                    <a:bodyPr/>
                    <a:lstStyle/>
                    <a:p>
                      <a:endParaRPr lang="en-US"/>
                    </a:p>
                  </a:txBody>
                  <a:tcPr/>
                </a:tc>
                <a:extLst>
                  <a:ext uri="{0D108BD9-81ED-4DB2-BD59-A6C34878D82A}">
                    <a16:rowId xmlns:a16="http://schemas.microsoft.com/office/drawing/2014/main" val="454849859"/>
                  </a:ext>
                </a:extLst>
              </a:tr>
              <a:tr h="436142">
                <a:tc>
                  <a:txBody>
                    <a:bodyPr/>
                    <a:lstStyle/>
                    <a:p>
                      <a:r>
                        <a:rPr lang="en-US" dirty="0" err="1"/>
                        <a:t>Hechengdianzi</a:t>
                      </a:r>
                      <a:r>
                        <a:rPr lang="en-US" dirty="0"/>
                        <a:t> 775 DC Motor DC 12V 7500-15000RPM </a:t>
                      </a:r>
                    </a:p>
                  </a:txBody>
                  <a:tcPr/>
                </a:tc>
                <a:tc>
                  <a:txBody>
                    <a:bodyPr/>
                    <a:lstStyle/>
                    <a:p>
                      <a:r>
                        <a:rPr lang="en-US" dirty="0"/>
                        <a:t>1</a:t>
                      </a:r>
                    </a:p>
                  </a:txBody>
                  <a:tcPr/>
                </a:tc>
                <a:tc>
                  <a:txBody>
                    <a:bodyPr/>
                    <a:lstStyle/>
                    <a:p>
                      <a:r>
                        <a:rPr lang="en-US" dirty="0"/>
                        <a:t>18.99</a:t>
                      </a:r>
                    </a:p>
                  </a:txBody>
                  <a:tcPr/>
                </a:tc>
                <a:tc>
                  <a:txBody>
                    <a:bodyPr/>
                    <a:lstStyle/>
                    <a:p>
                      <a:r>
                        <a:rPr lang="en-US" dirty="0"/>
                        <a:t>18.99</a:t>
                      </a:r>
                    </a:p>
                  </a:txBody>
                  <a:tcPr/>
                </a:tc>
                <a:tc>
                  <a:txBody>
                    <a:bodyPr/>
                    <a:lstStyle/>
                    <a:p>
                      <a:endParaRPr lang="en-US" dirty="0"/>
                    </a:p>
                  </a:txBody>
                  <a:tcPr/>
                </a:tc>
                <a:extLst>
                  <a:ext uri="{0D108BD9-81ED-4DB2-BD59-A6C34878D82A}">
                    <a16:rowId xmlns:a16="http://schemas.microsoft.com/office/drawing/2014/main" val="2527830801"/>
                  </a:ext>
                </a:extLst>
              </a:tr>
            </a:tbl>
          </a:graphicData>
        </a:graphic>
      </p:graphicFrame>
      <p:cxnSp>
        <p:nvCxnSpPr>
          <p:cNvPr id="6" name="Straight Connector 5">
            <a:extLst>
              <a:ext uri="{FF2B5EF4-FFF2-40B4-BE49-F238E27FC236}">
                <a16:creationId xmlns:a16="http://schemas.microsoft.com/office/drawing/2014/main" id="{08C4D862-BA03-4CCD-B398-C899B1F0A5CD}"/>
              </a:ext>
            </a:extLst>
          </p:cNvPr>
          <p:cNvCxnSpPr/>
          <p:nvPr/>
        </p:nvCxnSpPr>
        <p:spPr>
          <a:xfrm flipH="1">
            <a:off x="949569" y="1172308"/>
            <a:ext cx="9437077" cy="5081954"/>
          </a:xfrm>
          <a:prstGeom prst="line">
            <a:avLst/>
          </a:prstGeom>
          <a:ln w="730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319CAA-0987-4B60-9527-2ED2CEFFD6FC}"/>
              </a:ext>
            </a:extLst>
          </p:cNvPr>
          <p:cNvCxnSpPr>
            <a:cxnSpLocks/>
          </p:cNvCxnSpPr>
          <p:nvPr/>
        </p:nvCxnSpPr>
        <p:spPr>
          <a:xfrm>
            <a:off x="949569" y="1172308"/>
            <a:ext cx="10117016" cy="5017477"/>
          </a:xfrm>
          <a:prstGeom prst="line">
            <a:avLst/>
          </a:prstGeom>
          <a:ln w="730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04470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4549" y="265814"/>
            <a:ext cx="11855302" cy="6592186"/>
          </a:xfrm>
        </p:spPr>
        <p:txBody>
          <a:bodyPr>
            <a:normAutofit/>
          </a:bodyPr>
          <a:lstStyle/>
          <a:p>
            <a:r>
              <a:rPr lang="en-US" sz="3200" b="1" dirty="0"/>
              <a:t>Quick Reference for Figures</a:t>
            </a:r>
          </a:p>
          <a:p>
            <a:r>
              <a:rPr lang="en-US" dirty="0"/>
              <a:t>Figures should be:</a:t>
            </a:r>
          </a:p>
          <a:p>
            <a:endParaRPr lang="en-US" dirty="0"/>
          </a:p>
          <a:p>
            <a:r>
              <a:rPr lang="en-US" dirty="0"/>
              <a:t>Centered on the page.</a:t>
            </a:r>
          </a:p>
          <a:p>
            <a:r>
              <a:rPr lang="en-US" dirty="0"/>
              <a:t>Labeled (under the figure) with the figure number and appropriate 	descriptive title (“Figure” can be spelled out [“Figure 1.”] or 	abbreviated [“Fig. 1.”] as long as you are consistent).</a:t>
            </a:r>
          </a:p>
          <a:p>
            <a:endParaRPr lang="en-US" dirty="0"/>
          </a:p>
          <a:p>
            <a:r>
              <a:rPr lang="en-US" dirty="0"/>
              <a:t>Numbered in the order they appear in the text.</a:t>
            </a:r>
          </a:p>
          <a:p>
            <a:endParaRPr lang="en-US" dirty="0"/>
          </a:p>
          <a:p>
            <a:r>
              <a:rPr lang="en-US" dirty="0"/>
              <a:t>Referenced in the order they appear in the text (i.e. Figure 1 is 	referenced in the text before Figure 2 and so forth).</a:t>
            </a:r>
          </a:p>
          <a:p>
            <a:r>
              <a:rPr lang="en-US" u="sng" dirty="0"/>
              <a:t>Set apart from the text; text should not flow around figures</a:t>
            </a:r>
            <a:r>
              <a:rPr lang="en-US" dirty="0"/>
              <a:t>.</a:t>
            </a:r>
          </a:p>
        </p:txBody>
      </p:sp>
    </p:spTree>
    <p:extLst>
      <p:ext uri="{BB962C8B-B14F-4D97-AF65-F5344CB8AC3E}">
        <p14:creationId xmlns:p14="http://schemas.microsoft.com/office/powerpoint/2010/main" val="41212415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E0A5A-4930-4C4C-ABB7-67A2039872B8}"/>
              </a:ext>
            </a:extLst>
          </p:cNvPr>
          <p:cNvSpPr>
            <a:spLocks noGrp="1"/>
          </p:cNvSpPr>
          <p:nvPr>
            <p:ph type="ctrTitle"/>
          </p:nvPr>
        </p:nvSpPr>
        <p:spPr>
          <a:xfrm>
            <a:off x="375138" y="381001"/>
            <a:ext cx="11330353" cy="890954"/>
          </a:xfrm>
        </p:spPr>
        <p:txBody>
          <a:bodyPr>
            <a:normAutofit fontScale="90000"/>
          </a:bodyPr>
          <a:lstStyle/>
          <a:p>
            <a:r>
              <a:rPr lang="en-US" dirty="0"/>
              <a:t>No visuals right after a title or subtitle  </a:t>
            </a:r>
          </a:p>
        </p:txBody>
      </p:sp>
      <p:sp>
        <p:nvSpPr>
          <p:cNvPr id="3" name="Subtitle 2">
            <a:extLst>
              <a:ext uri="{FF2B5EF4-FFF2-40B4-BE49-F238E27FC236}">
                <a16:creationId xmlns:a16="http://schemas.microsoft.com/office/drawing/2014/main" id="{A26ED78E-3CEB-4495-8815-3CDACA589BF1}"/>
              </a:ext>
            </a:extLst>
          </p:cNvPr>
          <p:cNvSpPr>
            <a:spLocks noGrp="1"/>
          </p:cNvSpPr>
          <p:nvPr>
            <p:ph type="subTitle" idx="1"/>
          </p:nvPr>
        </p:nvSpPr>
        <p:spPr>
          <a:xfrm>
            <a:off x="592015" y="1949084"/>
            <a:ext cx="11002107" cy="4908916"/>
          </a:xfrm>
          <a:solidFill>
            <a:schemeClr val="accent3">
              <a:lumMod val="20000"/>
              <a:lumOff val="80000"/>
            </a:schemeClr>
          </a:solidFill>
        </p:spPr>
        <p:txBody>
          <a:bodyPr>
            <a:normAutofit lnSpcReduction="10000"/>
          </a:bodyPr>
          <a:lstStyle/>
          <a:p>
            <a:pPr algn="l"/>
            <a:r>
              <a:rPr lang="en-US" b="1" dirty="0"/>
              <a:t>4.1</a:t>
            </a:r>
            <a:r>
              <a:rPr lang="en-US" dirty="0"/>
              <a:t> </a:t>
            </a:r>
            <a:r>
              <a:rPr lang="en-US" b="1" dirty="0"/>
              <a:t>High level Design</a:t>
            </a:r>
          </a:p>
          <a:p>
            <a:pPr algn="l"/>
            <a:endParaRPr lang="en-US" b="1" dirty="0"/>
          </a:p>
          <a:p>
            <a:pPr algn="l"/>
            <a:endParaRPr lang="en-US" b="1" dirty="0"/>
          </a:p>
          <a:p>
            <a:pPr algn="l"/>
            <a:endParaRPr lang="en-US" b="1" dirty="0"/>
          </a:p>
          <a:p>
            <a:pPr algn="l"/>
            <a:endParaRPr lang="en-US" b="1" dirty="0"/>
          </a:p>
          <a:p>
            <a:pPr algn="l"/>
            <a:endParaRPr lang="en-US" b="1"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endParaRPr lang="en-US" sz="1800" dirty="0"/>
          </a:p>
          <a:p>
            <a:pPr algn="l"/>
            <a:r>
              <a:rPr lang="en-US" sz="1800" dirty="0"/>
              <a:t>Figure 4.1. Components purchased </a:t>
            </a:r>
          </a:p>
        </p:txBody>
      </p:sp>
      <p:pic>
        <p:nvPicPr>
          <p:cNvPr id="5" name="Picture 4">
            <a:extLst>
              <a:ext uri="{FF2B5EF4-FFF2-40B4-BE49-F238E27FC236}">
                <a16:creationId xmlns:a16="http://schemas.microsoft.com/office/drawing/2014/main" id="{1DCCB0EF-D088-49DE-9FE6-7DAB335BAC81}"/>
              </a:ext>
            </a:extLst>
          </p:cNvPr>
          <p:cNvPicPr>
            <a:picLocks noChangeAspect="1"/>
          </p:cNvPicPr>
          <p:nvPr/>
        </p:nvPicPr>
        <p:blipFill>
          <a:blip r:embed="rId2"/>
          <a:stretch>
            <a:fillRect/>
          </a:stretch>
        </p:blipFill>
        <p:spPr>
          <a:xfrm>
            <a:off x="1190625" y="2561019"/>
            <a:ext cx="6482129" cy="3568318"/>
          </a:xfrm>
          <a:prstGeom prst="rect">
            <a:avLst/>
          </a:prstGeom>
        </p:spPr>
      </p:pic>
      <p:cxnSp>
        <p:nvCxnSpPr>
          <p:cNvPr id="7" name="Straight Connector 6">
            <a:extLst>
              <a:ext uri="{FF2B5EF4-FFF2-40B4-BE49-F238E27FC236}">
                <a16:creationId xmlns:a16="http://schemas.microsoft.com/office/drawing/2014/main" id="{95319CAA-0987-4B60-9527-2ED2CEFFD6FC}"/>
              </a:ext>
            </a:extLst>
          </p:cNvPr>
          <p:cNvCxnSpPr>
            <a:cxnSpLocks/>
          </p:cNvCxnSpPr>
          <p:nvPr/>
        </p:nvCxnSpPr>
        <p:spPr>
          <a:xfrm>
            <a:off x="949569" y="1172308"/>
            <a:ext cx="10117016" cy="5017477"/>
          </a:xfrm>
          <a:prstGeom prst="line">
            <a:avLst/>
          </a:prstGeom>
          <a:ln w="730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8C4D862-BA03-4CCD-B398-C899B1F0A5CD}"/>
              </a:ext>
            </a:extLst>
          </p:cNvPr>
          <p:cNvCxnSpPr/>
          <p:nvPr/>
        </p:nvCxnSpPr>
        <p:spPr>
          <a:xfrm flipH="1">
            <a:off x="949569" y="1172308"/>
            <a:ext cx="9437077" cy="5081954"/>
          </a:xfrm>
          <a:prstGeom prst="line">
            <a:avLst/>
          </a:prstGeom>
          <a:ln w="7302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38269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81038"/>
            <a:ext cx="12192000" cy="6053870"/>
          </a:xfrm>
        </p:spPr>
        <p:txBody>
          <a:bodyPr>
            <a:noAutofit/>
          </a:bodyPr>
          <a:lstStyle/>
          <a:p>
            <a:pPr>
              <a:lnSpc>
                <a:spcPct val="100000"/>
              </a:lnSpc>
            </a:pPr>
            <a:r>
              <a:rPr lang="en-US" sz="3600" b="1" dirty="0">
                <a:latin typeface="+mj-lt"/>
              </a:rPr>
              <a:t>The terms </a:t>
            </a:r>
            <a:r>
              <a:rPr lang="en-US" sz="3600" b="1" dirty="0">
                <a:solidFill>
                  <a:srgbClr val="C00000"/>
                </a:solidFill>
                <a:latin typeface="+mj-lt"/>
              </a:rPr>
              <a:t>charts</a:t>
            </a:r>
            <a:r>
              <a:rPr lang="en-US" sz="3600" b="1" dirty="0">
                <a:latin typeface="+mj-lt"/>
              </a:rPr>
              <a:t> and </a:t>
            </a:r>
            <a:r>
              <a:rPr lang="en-US" sz="3600" b="1" dirty="0">
                <a:solidFill>
                  <a:srgbClr val="C00000"/>
                </a:solidFill>
                <a:latin typeface="+mj-lt"/>
              </a:rPr>
              <a:t>graphs</a:t>
            </a:r>
            <a:r>
              <a:rPr lang="en-US" sz="3600" b="1" dirty="0">
                <a:latin typeface="+mj-lt"/>
              </a:rPr>
              <a:t> encompass the numerous ingenious ways of showing </a:t>
            </a:r>
            <a:r>
              <a:rPr lang="en-US" sz="3600" b="1" dirty="0">
                <a:solidFill>
                  <a:srgbClr val="C00000"/>
                </a:solidFill>
                <a:latin typeface="+mj-lt"/>
              </a:rPr>
              <a:t>relationships between data.</a:t>
            </a:r>
          </a:p>
          <a:p>
            <a:pPr>
              <a:lnSpc>
                <a:spcPct val="100000"/>
              </a:lnSpc>
            </a:pPr>
            <a:endParaRPr lang="en-US" sz="3600" b="1" dirty="0">
              <a:solidFill>
                <a:srgbClr val="C00000"/>
              </a:solidFill>
              <a:latin typeface="+mj-lt"/>
            </a:endParaRPr>
          </a:p>
          <a:p>
            <a:pPr>
              <a:lnSpc>
                <a:spcPct val="100000"/>
              </a:lnSpc>
            </a:pPr>
            <a:r>
              <a:rPr lang="en-US" sz="3600" b="1" dirty="0">
                <a:latin typeface="+mj-lt"/>
              </a:rPr>
              <a:t>There are different types of graphs, such as </a:t>
            </a:r>
            <a:r>
              <a:rPr lang="en-US" sz="3600" b="1" dirty="0">
                <a:solidFill>
                  <a:srgbClr val="C00000"/>
                </a:solidFill>
                <a:latin typeface="+mj-lt"/>
              </a:rPr>
              <a:t>Line graphs</a:t>
            </a:r>
            <a:r>
              <a:rPr lang="en-US" sz="3600" b="1" dirty="0">
                <a:latin typeface="+mj-lt"/>
              </a:rPr>
              <a:t>, </a:t>
            </a:r>
            <a:r>
              <a:rPr lang="en-US" sz="3600" b="1" dirty="0">
                <a:solidFill>
                  <a:srgbClr val="C00000"/>
                </a:solidFill>
                <a:latin typeface="+mj-lt"/>
              </a:rPr>
              <a:t>bar charts</a:t>
            </a:r>
            <a:r>
              <a:rPr lang="en-US" sz="3600" b="1" dirty="0">
                <a:latin typeface="+mj-lt"/>
              </a:rPr>
              <a:t>, pie charts, and </a:t>
            </a:r>
            <a:r>
              <a:rPr lang="en-US" sz="3600" b="1" dirty="0">
                <a:solidFill>
                  <a:srgbClr val="C00000"/>
                </a:solidFill>
                <a:latin typeface="+mj-lt"/>
              </a:rPr>
              <a:t>three-dimensional</a:t>
            </a:r>
            <a:r>
              <a:rPr lang="en-US" sz="3600" b="1" dirty="0">
                <a:latin typeface="+mj-lt"/>
              </a:rPr>
              <a:t> variations such as pictographs. </a:t>
            </a:r>
          </a:p>
          <a:p>
            <a:pPr>
              <a:lnSpc>
                <a:spcPct val="100000"/>
              </a:lnSpc>
            </a:pPr>
            <a:endParaRPr lang="en-US" sz="3600" b="1" dirty="0">
              <a:latin typeface="+mj-lt"/>
            </a:endParaRPr>
          </a:p>
          <a:p>
            <a:pPr>
              <a:lnSpc>
                <a:spcPct val="100000"/>
              </a:lnSpc>
            </a:pPr>
            <a:r>
              <a:rPr lang="en-US" sz="3600" b="1" dirty="0">
                <a:latin typeface="+mj-lt"/>
              </a:rPr>
              <a:t>All of these types are </a:t>
            </a:r>
            <a:r>
              <a:rPr lang="en-US" sz="3600" b="1" dirty="0">
                <a:solidFill>
                  <a:srgbClr val="FF0000"/>
                </a:solidFill>
                <a:latin typeface="+mj-lt"/>
              </a:rPr>
              <a:t>visual representations of tables</a:t>
            </a:r>
            <a:r>
              <a:rPr lang="en-US" sz="3600" b="1" dirty="0">
                <a:latin typeface="+mj-lt"/>
              </a:rPr>
              <a:t>. </a:t>
            </a:r>
          </a:p>
        </p:txBody>
      </p:sp>
      <p:sp>
        <p:nvSpPr>
          <p:cNvPr id="5" name="Title 1"/>
          <p:cNvSpPr txBox="1">
            <a:spLocks/>
          </p:cNvSpPr>
          <p:nvPr/>
        </p:nvSpPr>
        <p:spPr>
          <a:xfrm>
            <a:off x="0" y="1"/>
            <a:ext cx="12192000" cy="681037"/>
          </a:xfrm>
          <a:prstGeom prst="rect">
            <a:avLst/>
          </a:prstGeom>
          <a:solidFill>
            <a:schemeClr val="accent4">
              <a:lumMod val="40000"/>
              <a:lumOff val="60000"/>
            </a:schemeClr>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solidFill>
                  <a:prstClr val="black"/>
                </a:solidFill>
              </a:rPr>
              <a:t>CHARTS AND GRAPHS</a:t>
            </a:r>
          </a:p>
        </p:txBody>
      </p:sp>
    </p:spTree>
    <p:extLst>
      <p:ext uri="{BB962C8B-B14F-4D97-AF65-F5344CB8AC3E}">
        <p14:creationId xmlns:p14="http://schemas.microsoft.com/office/powerpoint/2010/main" val="33712551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a:grpSpLocks noChangeAspect="1"/>
          </p:cNvGrpSpPr>
          <p:nvPr/>
        </p:nvGrpSpPr>
        <p:grpSpPr bwMode="auto">
          <a:xfrm>
            <a:off x="2710543" y="1305952"/>
            <a:ext cx="9481457" cy="5552049"/>
            <a:chOff x="1329" y="680"/>
            <a:chExt cx="5022" cy="2960"/>
          </a:xfrm>
        </p:grpSpPr>
        <p:sp>
          <p:nvSpPr>
            <p:cNvPr id="6" name="AutoShape 3"/>
            <p:cNvSpPr>
              <a:spLocks noChangeAspect="1" noChangeArrowheads="1" noTextEdit="1"/>
            </p:cNvSpPr>
            <p:nvPr/>
          </p:nvSpPr>
          <p:spPr bwMode="auto">
            <a:xfrm>
              <a:off x="1329" y="680"/>
              <a:ext cx="5022" cy="2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51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9" y="680"/>
              <a:ext cx="5030" cy="2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Rectangle 6"/>
          <p:cNvSpPr/>
          <p:nvPr/>
        </p:nvSpPr>
        <p:spPr>
          <a:xfrm>
            <a:off x="0" y="0"/>
            <a:ext cx="6613071" cy="2862322"/>
          </a:xfrm>
          <a:prstGeom prst="rect">
            <a:avLst/>
          </a:prstGeom>
          <a:solidFill>
            <a:schemeClr val="accent4">
              <a:lumMod val="20000"/>
              <a:lumOff val="80000"/>
            </a:schemeClr>
          </a:solidFill>
        </p:spPr>
        <p:txBody>
          <a:bodyPr wrap="square">
            <a:spAutoFit/>
          </a:bodyPr>
          <a:lstStyle/>
          <a:p>
            <a:r>
              <a:rPr lang="en-US" sz="3600" b="1" dirty="0">
                <a:solidFill>
                  <a:schemeClr val="accent5">
                    <a:lumMod val="50000"/>
                  </a:schemeClr>
                </a:solidFill>
                <a:latin typeface="+mj-lt"/>
              </a:rPr>
              <a:t>In </a:t>
            </a:r>
            <a:r>
              <a:rPr lang="en-US" sz="3600" b="1" dirty="0">
                <a:solidFill>
                  <a:srgbClr val="C00000"/>
                </a:solidFill>
                <a:latin typeface="+mj-lt"/>
              </a:rPr>
              <a:t>tables</a:t>
            </a:r>
            <a:r>
              <a:rPr lang="en-US" sz="3600" b="1" dirty="0">
                <a:solidFill>
                  <a:schemeClr val="accent5">
                    <a:lumMod val="50000"/>
                  </a:schemeClr>
                </a:solidFill>
                <a:latin typeface="+mj-lt"/>
              </a:rPr>
              <a:t>, the significance of the data is not </a:t>
            </a:r>
            <a:r>
              <a:rPr lang="en-US" sz="3600" b="1" dirty="0">
                <a:solidFill>
                  <a:srgbClr val="C00000"/>
                </a:solidFill>
                <a:latin typeface="+mj-lt"/>
              </a:rPr>
              <a:t>immediately evident </a:t>
            </a:r>
            <a:r>
              <a:rPr lang="en-US" sz="3600" b="1" dirty="0">
                <a:solidFill>
                  <a:schemeClr val="accent5">
                    <a:lumMod val="50000"/>
                  </a:schemeClr>
                </a:solidFill>
                <a:latin typeface="+mj-lt"/>
              </a:rPr>
              <a:t>without careful study. Charts and graphs, on the other hand, make that significance stand out.</a:t>
            </a:r>
          </a:p>
        </p:txBody>
      </p:sp>
    </p:spTree>
    <p:extLst>
      <p:ext uri="{BB962C8B-B14F-4D97-AF65-F5344CB8AC3E}">
        <p14:creationId xmlns:p14="http://schemas.microsoft.com/office/powerpoint/2010/main" val="24018521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a:grpSpLocks noChangeAspect="1"/>
          </p:cNvGrpSpPr>
          <p:nvPr/>
        </p:nvGrpSpPr>
        <p:grpSpPr bwMode="auto">
          <a:xfrm>
            <a:off x="283228" y="1045028"/>
            <a:ext cx="11562512" cy="5584371"/>
            <a:chOff x="2225" y="1380"/>
            <a:chExt cx="3230" cy="1560"/>
          </a:xfrm>
        </p:grpSpPr>
        <p:sp>
          <p:nvSpPr>
            <p:cNvPr id="6" name="AutoShape 3"/>
            <p:cNvSpPr>
              <a:spLocks noChangeAspect="1" noChangeArrowheads="1" noTextEdit="1"/>
            </p:cNvSpPr>
            <p:nvPr/>
          </p:nvSpPr>
          <p:spPr bwMode="auto">
            <a:xfrm>
              <a:off x="2225" y="1380"/>
              <a:ext cx="3230" cy="1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614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5" y="1380"/>
              <a:ext cx="3238" cy="1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Rectangle 6"/>
          <p:cNvSpPr/>
          <p:nvPr/>
        </p:nvSpPr>
        <p:spPr>
          <a:xfrm>
            <a:off x="-63030" y="129804"/>
            <a:ext cx="12255029" cy="707886"/>
          </a:xfrm>
          <a:prstGeom prst="rect">
            <a:avLst/>
          </a:prstGeom>
          <a:solidFill>
            <a:schemeClr val="accent4">
              <a:lumMod val="20000"/>
              <a:lumOff val="80000"/>
            </a:schemeClr>
          </a:solidFill>
        </p:spPr>
        <p:txBody>
          <a:bodyPr wrap="square">
            <a:spAutoFit/>
          </a:bodyPr>
          <a:lstStyle/>
          <a:p>
            <a:r>
              <a:rPr lang="en-US" sz="4000" b="1" dirty="0">
                <a:solidFill>
                  <a:srgbClr val="C00000"/>
                </a:solidFill>
                <a:latin typeface="+mj-lt"/>
              </a:rPr>
              <a:t>Charts can present data more dramatically than tables.</a:t>
            </a:r>
          </a:p>
        </p:txBody>
      </p:sp>
    </p:spTree>
    <p:extLst>
      <p:ext uri="{BB962C8B-B14F-4D97-AF65-F5344CB8AC3E}">
        <p14:creationId xmlns:p14="http://schemas.microsoft.com/office/powerpoint/2010/main" val="38130125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1999" cy="707886"/>
          </a:xfrm>
          <a:prstGeom prst="rect">
            <a:avLst/>
          </a:prstGeom>
          <a:solidFill>
            <a:schemeClr val="accent4">
              <a:lumMod val="20000"/>
              <a:lumOff val="80000"/>
            </a:schemeClr>
          </a:solidFill>
        </p:spPr>
        <p:txBody>
          <a:bodyPr wrap="square">
            <a:spAutoFit/>
          </a:bodyPr>
          <a:lstStyle/>
          <a:p>
            <a:r>
              <a:rPr lang="en-US" sz="4000" b="1" dirty="0">
                <a:solidFill>
                  <a:srgbClr val="C00000"/>
                </a:solidFill>
                <a:latin typeface="Times New Roman" panose="02020603050405020304"/>
              </a:rPr>
              <a:t>When to use a line graph, bar chart, or pie chart?</a:t>
            </a:r>
          </a:p>
        </p:txBody>
      </p:sp>
      <p:sp>
        <p:nvSpPr>
          <p:cNvPr id="2" name="Rectangle 1"/>
          <p:cNvSpPr/>
          <p:nvPr/>
        </p:nvSpPr>
        <p:spPr>
          <a:xfrm>
            <a:off x="114300" y="1231900"/>
            <a:ext cx="5826611" cy="5016758"/>
          </a:xfrm>
          <a:prstGeom prst="rect">
            <a:avLst/>
          </a:prstGeom>
        </p:spPr>
        <p:txBody>
          <a:bodyPr wrap="square">
            <a:spAutoFit/>
          </a:bodyPr>
          <a:lstStyle/>
          <a:p>
            <a:r>
              <a:rPr lang="en-US" sz="4000" dirty="0">
                <a:latin typeface="+mj-lt"/>
              </a:rPr>
              <a:t>Line graphs depict </a:t>
            </a:r>
            <a:r>
              <a:rPr lang="en-US" sz="4000" b="1" dirty="0">
                <a:solidFill>
                  <a:srgbClr val="C00000"/>
                </a:solidFill>
                <a:latin typeface="+mj-lt"/>
              </a:rPr>
              <a:t>change</a:t>
            </a:r>
            <a:r>
              <a:rPr lang="en-US" sz="4000" dirty="0">
                <a:solidFill>
                  <a:srgbClr val="C00000"/>
                </a:solidFill>
                <a:latin typeface="+mj-lt"/>
              </a:rPr>
              <a:t> </a:t>
            </a:r>
            <a:r>
              <a:rPr lang="en-US" sz="4000" dirty="0">
                <a:latin typeface="+mj-lt"/>
              </a:rPr>
              <a:t>in data occurring </a:t>
            </a:r>
            <a:r>
              <a:rPr lang="en-US" sz="4000" b="1" dirty="0">
                <a:solidFill>
                  <a:srgbClr val="C00000"/>
                </a:solidFill>
                <a:latin typeface="+mj-lt"/>
              </a:rPr>
              <a:t>over time. </a:t>
            </a:r>
          </a:p>
          <a:p>
            <a:endParaRPr lang="en-US" sz="4000" dirty="0">
              <a:latin typeface="+mj-lt"/>
            </a:endParaRPr>
          </a:p>
          <a:p>
            <a:r>
              <a:rPr lang="en-US" sz="4000" dirty="0">
                <a:latin typeface="+mj-lt"/>
              </a:rPr>
              <a:t>Several lines enable readers to compare changes between different sets of data over time.</a:t>
            </a:r>
          </a:p>
        </p:txBody>
      </p:sp>
      <p:pic>
        <p:nvPicPr>
          <p:cNvPr id="8" name="Picture 7"/>
          <p:cNvPicPr>
            <a:picLocks noChangeAspect="1"/>
          </p:cNvPicPr>
          <p:nvPr/>
        </p:nvPicPr>
        <p:blipFill>
          <a:blip r:embed="rId2"/>
          <a:stretch>
            <a:fillRect/>
          </a:stretch>
        </p:blipFill>
        <p:spPr>
          <a:xfrm>
            <a:off x="5940912" y="900144"/>
            <a:ext cx="5778242" cy="5778242"/>
          </a:xfrm>
          <a:prstGeom prst="rect">
            <a:avLst/>
          </a:prstGeom>
        </p:spPr>
      </p:pic>
    </p:spTree>
    <p:extLst>
      <p:ext uri="{BB962C8B-B14F-4D97-AF65-F5344CB8AC3E}">
        <p14:creationId xmlns:p14="http://schemas.microsoft.com/office/powerpoint/2010/main" val="139056182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0" y="5617369"/>
            <a:ext cx="11914414" cy="1200329"/>
          </a:xfrm>
          <a:prstGeom prst="rect">
            <a:avLst/>
          </a:prstGeom>
        </p:spPr>
        <p:txBody>
          <a:bodyPr wrap="square">
            <a:spAutoFit/>
          </a:bodyPr>
          <a:lstStyle/>
          <a:p>
            <a:r>
              <a:rPr lang="en-US" sz="4000" b="1" dirty="0">
                <a:solidFill>
                  <a:srgbClr val="C00000"/>
                </a:solidFill>
                <a:latin typeface="+mj-lt"/>
              </a:rPr>
              <a:t>Several lines enable readers to compare changes between different sets of data over time.</a:t>
            </a: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brightnessContrast bright="8000" contrast="7000"/>
                    </a14:imgEffect>
                  </a14:imgLayer>
                </a14:imgProps>
              </a:ext>
            </a:extLst>
          </a:blip>
          <a:stretch>
            <a:fillRect/>
          </a:stretch>
        </p:blipFill>
        <p:spPr>
          <a:xfrm>
            <a:off x="-1" y="0"/>
            <a:ext cx="11691257" cy="5476636"/>
          </a:xfrm>
          <a:prstGeom prst="rect">
            <a:avLst/>
          </a:prstGeom>
        </p:spPr>
      </p:pic>
    </p:spTree>
    <p:extLst>
      <p:ext uri="{BB962C8B-B14F-4D97-AF65-F5344CB8AC3E}">
        <p14:creationId xmlns:p14="http://schemas.microsoft.com/office/powerpoint/2010/main" val="7787578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1999" cy="707886"/>
          </a:xfrm>
          <a:prstGeom prst="rect">
            <a:avLst/>
          </a:prstGeom>
          <a:solidFill>
            <a:schemeClr val="accent4">
              <a:lumMod val="20000"/>
              <a:lumOff val="80000"/>
            </a:schemeClr>
          </a:solidFill>
        </p:spPr>
        <p:txBody>
          <a:bodyPr wrap="square">
            <a:spAutoFit/>
          </a:bodyPr>
          <a:lstStyle/>
          <a:p>
            <a:r>
              <a:rPr lang="en-US" sz="4000" b="1" dirty="0">
                <a:solidFill>
                  <a:srgbClr val="C00000"/>
                </a:solidFill>
                <a:latin typeface="Times New Roman" panose="02020603050405020304"/>
              </a:rPr>
              <a:t>Pie charts</a:t>
            </a:r>
          </a:p>
        </p:txBody>
      </p:sp>
      <p:sp>
        <p:nvSpPr>
          <p:cNvPr id="3" name="Rectangle 2"/>
          <p:cNvSpPr/>
          <p:nvPr/>
        </p:nvSpPr>
        <p:spPr>
          <a:xfrm>
            <a:off x="-1" y="707886"/>
            <a:ext cx="5780315" cy="6001643"/>
          </a:xfrm>
          <a:prstGeom prst="rect">
            <a:avLst/>
          </a:prstGeom>
        </p:spPr>
        <p:txBody>
          <a:bodyPr wrap="square">
            <a:spAutoFit/>
          </a:bodyPr>
          <a:lstStyle/>
          <a:p>
            <a:pPr>
              <a:lnSpc>
                <a:spcPct val="150000"/>
              </a:lnSpc>
            </a:pPr>
            <a:r>
              <a:rPr lang="en-US" sz="3200" dirty="0">
                <a:latin typeface="+mj-lt"/>
              </a:rPr>
              <a:t>Pie charts depict </a:t>
            </a:r>
            <a:r>
              <a:rPr lang="en-US" sz="3200" b="1" dirty="0">
                <a:solidFill>
                  <a:srgbClr val="FF0000"/>
                </a:solidFill>
                <a:latin typeface="+mj-lt"/>
              </a:rPr>
              <a:t>the relative portion of a total amount</a:t>
            </a:r>
            <a:r>
              <a:rPr lang="en-US" sz="3200" dirty="0">
                <a:latin typeface="+mj-lt"/>
              </a:rPr>
              <a:t> made up by each member that contributes to that total. </a:t>
            </a:r>
          </a:p>
          <a:p>
            <a:pPr>
              <a:lnSpc>
                <a:spcPct val="150000"/>
              </a:lnSpc>
            </a:pPr>
            <a:endParaRPr lang="en-US" sz="3200" dirty="0">
              <a:latin typeface="+mj-lt"/>
            </a:endParaRPr>
          </a:p>
          <a:p>
            <a:pPr>
              <a:lnSpc>
                <a:spcPct val="150000"/>
              </a:lnSpc>
            </a:pPr>
            <a:r>
              <a:rPr lang="en-US" sz="3200" dirty="0">
                <a:latin typeface="+mj-lt"/>
              </a:rPr>
              <a:t>Pie charts give readers a dramatic sense of the percentages of each element making up a whole.</a:t>
            </a:r>
          </a:p>
        </p:txBody>
      </p:sp>
      <p:sp>
        <p:nvSpPr>
          <p:cNvPr id="4" name="Rectangle 3"/>
          <p:cNvSpPr/>
          <p:nvPr/>
        </p:nvSpPr>
        <p:spPr>
          <a:xfrm>
            <a:off x="6330042" y="6211669"/>
            <a:ext cx="6096000" cy="400110"/>
          </a:xfrm>
          <a:prstGeom prst="rect">
            <a:avLst/>
          </a:prstGeom>
        </p:spPr>
        <p:txBody>
          <a:bodyPr>
            <a:spAutoFit/>
          </a:bodyPr>
          <a:lstStyle/>
          <a:p>
            <a:r>
              <a:rPr lang="en-US" sz="2000" b="1" dirty="0">
                <a:solidFill>
                  <a:srgbClr val="C00000"/>
                </a:solidFill>
              </a:rPr>
              <a:t>Spending habits of people in the UK in 2001.</a:t>
            </a:r>
          </a:p>
        </p:txBody>
      </p:sp>
      <p:pic>
        <p:nvPicPr>
          <p:cNvPr id="5" name="Picture 4"/>
          <p:cNvPicPr>
            <a:picLocks noChangeAspect="1"/>
          </p:cNvPicPr>
          <p:nvPr/>
        </p:nvPicPr>
        <p:blipFill>
          <a:blip r:embed="rId2"/>
          <a:stretch>
            <a:fillRect/>
          </a:stretch>
        </p:blipFill>
        <p:spPr>
          <a:xfrm>
            <a:off x="6330042" y="707886"/>
            <a:ext cx="5282550" cy="5513834"/>
          </a:xfrm>
          <a:prstGeom prst="rect">
            <a:avLst/>
          </a:prstGeom>
        </p:spPr>
      </p:pic>
    </p:spTree>
    <p:extLst>
      <p:ext uri="{BB962C8B-B14F-4D97-AF65-F5344CB8AC3E}">
        <p14:creationId xmlns:p14="http://schemas.microsoft.com/office/powerpoint/2010/main" val="16506971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writingcenter.unc.edu/files/2012/07/chart-figure-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11" y="1100484"/>
            <a:ext cx="7008842" cy="523500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writingcenter.unc.edu/files/2012/07/chart-figure-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63203" y="1901425"/>
            <a:ext cx="5273051" cy="39877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11628" y="304800"/>
            <a:ext cx="3760966" cy="461665"/>
          </a:xfrm>
          <a:prstGeom prst="rect">
            <a:avLst/>
          </a:prstGeom>
          <a:noFill/>
        </p:spPr>
        <p:txBody>
          <a:bodyPr wrap="none" rtlCol="0">
            <a:spAutoFit/>
          </a:bodyPr>
          <a:lstStyle/>
          <a:p>
            <a:r>
              <a:rPr lang="en-US" sz="2400" dirty="0"/>
              <a:t>Examples of bad Pi charts</a:t>
            </a:r>
          </a:p>
        </p:txBody>
      </p:sp>
    </p:spTree>
    <p:extLst>
      <p:ext uri="{BB962C8B-B14F-4D97-AF65-F5344CB8AC3E}">
        <p14:creationId xmlns:p14="http://schemas.microsoft.com/office/powerpoint/2010/main" val="280091153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1999" cy="707886"/>
          </a:xfrm>
          <a:prstGeom prst="rect">
            <a:avLst/>
          </a:prstGeom>
          <a:solidFill>
            <a:schemeClr val="accent4">
              <a:lumMod val="20000"/>
              <a:lumOff val="80000"/>
            </a:schemeClr>
          </a:solidFill>
        </p:spPr>
        <p:txBody>
          <a:bodyPr wrap="square">
            <a:spAutoFit/>
          </a:bodyPr>
          <a:lstStyle/>
          <a:p>
            <a:r>
              <a:rPr lang="en-US" sz="4000" b="1" dirty="0">
                <a:solidFill>
                  <a:srgbClr val="C00000"/>
                </a:solidFill>
                <a:latin typeface="Times New Roman" panose="02020603050405020304"/>
              </a:rPr>
              <a:t>Bar charts</a:t>
            </a:r>
          </a:p>
        </p:txBody>
      </p:sp>
      <p:sp>
        <p:nvSpPr>
          <p:cNvPr id="2" name="Rectangle 1"/>
          <p:cNvSpPr/>
          <p:nvPr/>
        </p:nvSpPr>
        <p:spPr>
          <a:xfrm>
            <a:off x="0" y="6211669"/>
            <a:ext cx="12192000" cy="646331"/>
          </a:xfrm>
          <a:prstGeom prst="rect">
            <a:avLst/>
          </a:prstGeom>
        </p:spPr>
        <p:txBody>
          <a:bodyPr wrap="square">
            <a:spAutoFit/>
          </a:bodyPr>
          <a:lstStyle/>
          <a:p>
            <a:r>
              <a:rPr lang="en-US" sz="3600" b="1" dirty="0">
                <a:solidFill>
                  <a:srgbClr val="C00000"/>
                </a:solidFill>
                <a:latin typeface="+mj-lt"/>
              </a:rPr>
              <a:t>Bar charts enable comparisons between different categories. </a:t>
            </a:r>
          </a:p>
        </p:txBody>
      </p:sp>
      <p:pic>
        <p:nvPicPr>
          <p:cNvPr id="6" name="Picture 5"/>
          <p:cNvPicPr>
            <a:picLocks noChangeAspect="1"/>
          </p:cNvPicPr>
          <p:nvPr/>
        </p:nvPicPr>
        <p:blipFill>
          <a:blip r:embed="rId2"/>
          <a:stretch>
            <a:fillRect/>
          </a:stretch>
        </p:blipFill>
        <p:spPr>
          <a:xfrm>
            <a:off x="2547257" y="707886"/>
            <a:ext cx="9223505" cy="5553938"/>
          </a:xfrm>
          <a:prstGeom prst="rect">
            <a:avLst/>
          </a:prstGeom>
        </p:spPr>
      </p:pic>
    </p:spTree>
    <p:extLst>
      <p:ext uri="{BB962C8B-B14F-4D97-AF65-F5344CB8AC3E}">
        <p14:creationId xmlns:p14="http://schemas.microsoft.com/office/powerpoint/2010/main" val="11122036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1999" cy="707886"/>
          </a:xfrm>
          <a:prstGeom prst="rect">
            <a:avLst/>
          </a:prstGeom>
          <a:solidFill>
            <a:schemeClr val="accent4">
              <a:lumMod val="20000"/>
              <a:lumOff val="80000"/>
            </a:schemeClr>
          </a:solidFill>
        </p:spPr>
        <p:txBody>
          <a:bodyPr wrap="square">
            <a:spAutoFit/>
          </a:bodyPr>
          <a:lstStyle/>
          <a:p>
            <a:r>
              <a:rPr lang="en-US" sz="4000" b="1" dirty="0">
                <a:solidFill>
                  <a:srgbClr val="C00000"/>
                </a:solidFill>
                <a:latin typeface="Times New Roman" panose="02020603050405020304"/>
              </a:rPr>
              <a:t>Horizontal Bar Charts</a:t>
            </a:r>
          </a:p>
        </p:txBody>
      </p:sp>
      <p:pic>
        <p:nvPicPr>
          <p:cNvPr id="10" name="Picture 9"/>
          <p:cNvPicPr>
            <a:picLocks noChangeAspect="1"/>
          </p:cNvPicPr>
          <p:nvPr/>
        </p:nvPicPr>
        <p:blipFill>
          <a:blip r:embed="rId2"/>
          <a:stretch>
            <a:fillRect/>
          </a:stretch>
        </p:blipFill>
        <p:spPr>
          <a:xfrm>
            <a:off x="6139542" y="-94499"/>
            <a:ext cx="6052457" cy="6952499"/>
          </a:xfrm>
          <a:prstGeom prst="rect">
            <a:avLst/>
          </a:prstGeom>
        </p:spPr>
      </p:pic>
      <p:sp>
        <p:nvSpPr>
          <p:cNvPr id="11" name="Rectangle 10"/>
          <p:cNvSpPr/>
          <p:nvPr/>
        </p:nvSpPr>
        <p:spPr>
          <a:xfrm>
            <a:off x="43542" y="6211669"/>
            <a:ext cx="6096000" cy="523220"/>
          </a:xfrm>
          <a:prstGeom prst="rect">
            <a:avLst/>
          </a:prstGeom>
        </p:spPr>
        <p:txBody>
          <a:bodyPr>
            <a:spAutoFit/>
          </a:bodyPr>
          <a:lstStyle/>
          <a:p>
            <a:r>
              <a:rPr lang="en-US" sz="1400" b="1" dirty="0"/>
              <a:t>Source: Pew Research Center for the People &amp; the Press survey, conducted in May and June 2009</a:t>
            </a:r>
          </a:p>
        </p:txBody>
      </p:sp>
    </p:spTree>
    <p:extLst>
      <p:ext uri="{BB962C8B-B14F-4D97-AF65-F5344CB8AC3E}">
        <p14:creationId xmlns:p14="http://schemas.microsoft.com/office/powerpoint/2010/main" val="13396256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1999" cy="707886"/>
          </a:xfrm>
          <a:prstGeom prst="rect">
            <a:avLst/>
          </a:prstGeom>
          <a:solidFill>
            <a:schemeClr val="accent4">
              <a:lumMod val="20000"/>
              <a:lumOff val="80000"/>
            </a:schemeClr>
          </a:solidFill>
        </p:spPr>
        <p:txBody>
          <a:bodyPr wrap="square">
            <a:spAutoFit/>
          </a:bodyPr>
          <a:lstStyle/>
          <a:p>
            <a:r>
              <a:rPr lang="en-US" sz="4000" b="1" dirty="0">
                <a:solidFill>
                  <a:srgbClr val="C00000"/>
                </a:solidFill>
                <a:latin typeface="Times New Roman" panose="02020603050405020304"/>
              </a:rPr>
              <a:t>3 D charts</a:t>
            </a:r>
          </a:p>
        </p:txBody>
      </p:sp>
      <p:sp>
        <p:nvSpPr>
          <p:cNvPr id="2" name="Rectangle 1"/>
          <p:cNvSpPr/>
          <p:nvPr/>
        </p:nvSpPr>
        <p:spPr>
          <a:xfrm>
            <a:off x="140677" y="707887"/>
            <a:ext cx="5169877" cy="5632311"/>
          </a:xfrm>
          <a:prstGeom prst="rect">
            <a:avLst/>
          </a:prstGeom>
        </p:spPr>
        <p:txBody>
          <a:bodyPr wrap="square">
            <a:spAutoFit/>
          </a:bodyPr>
          <a:lstStyle/>
          <a:p>
            <a:r>
              <a:rPr lang="en-US" sz="4000" dirty="0">
                <a:latin typeface="+mj-lt"/>
              </a:rPr>
              <a:t> 3D charts allows you to see the data and connection between data from different angles, or perspectives</a:t>
            </a:r>
          </a:p>
          <a:p>
            <a:endParaRPr lang="en-US" sz="4000" dirty="0">
              <a:latin typeface="+mj-lt"/>
            </a:endParaRPr>
          </a:p>
          <a:p>
            <a:r>
              <a:rPr lang="en-US" sz="4000" dirty="0">
                <a:latin typeface="+mj-lt"/>
              </a:rPr>
              <a:t>3D charts offers more depth due to its added dimension</a:t>
            </a:r>
          </a:p>
        </p:txBody>
      </p:sp>
      <p:pic>
        <p:nvPicPr>
          <p:cNvPr id="6" name="Picture 5"/>
          <p:cNvPicPr>
            <a:picLocks noChangeAspect="1"/>
          </p:cNvPicPr>
          <p:nvPr/>
        </p:nvPicPr>
        <p:blipFill>
          <a:blip r:embed="rId2"/>
          <a:stretch>
            <a:fillRect/>
          </a:stretch>
        </p:blipFill>
        <p:spPr>
          <a:xfrm>
            <a:off x="5310555" y="658218"/>
            <a:ext cx="6724832" cy="5868313"/>
          </a:xfrm>
          <a:prstGeom prst="rect">
            <a:avLst/>
          </a:prstGeom>
        </p:spPr>
      </p:pic>
    </p:spTree>
    <p:extLst>
      <p:ext uri="{BB962C8B-B14F-4D97-AF65-F5344CB8AC3E}">
        <p14:creationId xmlns:p14="http://schemas.microsoft.com/office/powerpoint/2010/main" val="21212285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19200" y="266700"/>
            <a:ext cx="9753600" cy="6324600"/>
          </a:xfrm>
          <a:prstGeom prst="rect">
            <a:avLst/>
          </a:prstGeom>
        </p:spPr>
      </p:pic>
    </p:spTree>
    <p:extLst>
      <p:ext uri="{BB962C8B-B14F-4D97-AF65-F5344CB8AC3E}">
        <p14:creationId xmlns:p14="http://schemas.microsoft.com/office/powerpoint/2010/main" val="21442563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1514</TotalTime>
  <Words>2224</Words>
  <Application>Microsoft Office PowerPoint</Application>
  <PresentationFormat>Widescreen</PresentationFormat>
  <Paragraphs>292</Paragraphs>
  <Slides>65</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65</vt:i4>
      </vt:variant>
    </vt:vector>
  </HeadingPairs>
  <TitlesOfParts>
    <vt:vector size="75" baseType="lpstr">
      <vt:lpstr>Aptos</vt:lpstr>
      <vt:lpstr>Aptos Display</vt:lpstr>
      <vt:lpstr>Arial</vt:lpstr>
      <vt:lpstr>Calibri</vt:lpstr>
      <vt:lpstr>Open Sans</vt:lpstr>
      <vt:lpstr>Times New Roman</vt:lpstr>
      <vt:lpstr>Wingdings</vt:lpstr>
      <vt:lpstr>Office Theme</vt:lpstr>
      <vt:lpstr>1_Office Theme</vt:lpstr>
      <vt:lpstr>2_Office Theme</vt:lpstr>
      <vt:lpstr>ENGR 181W</vt:lpstr>
      <vt:lpstr>PowerPoint Presentation</vt:lpstr>
      <vt:lpstr>Visuals, Tables, and Graphs in Technical &amp; Scientific Reports</vt:lpstr>
      <vt:lpstr>PowerPoint Presentation</vt:lpstr>
      <vt:lpstr>PowerPoint Presentation</vt:lpstr>
      <vt:lpstr>PowerPoint Presentation</vt:lpstr>
      <vt:lpstr>PowerPoint Presentation</vt:lpstr>
      <vt:lpstr>Agenda</vt:lpstr>
      <vt:lpstr>Origins of Scientific Visualization</vt:lpstr>
      <vt:lpstr>PowerPoint Presentation</vt:lpstr>
      <vt:lpstr>Evolution in the 20th Century</vt:lpstr>
      <vt:lpstr>Why Visuals Matter</vt:lpstr>
      <vt:lpstr>PowerPoint Presentation</vt:lpstr>
      <vt:lpstr>PowerPoint Presentation</vt:lpstr>
      <vt:lpstr>PowerPoint Presentation</vt:lpstr>
      <vt:lpstr>Communicating to Different Audiences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Examples of Effective Visual Communication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 tables right after a title or subtitle  </vt:lpstr>
      <vt:lpstr>PowerPoint Presentation</vt:lpstr>
      <vt:lpstr>No visuals right after a title or subtitle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Tofigh Heidarzadeh</dc:creator>
  <cp:lastModifiedBy>Tofigh</cp:lastModifiedBy>
  <cp:revision>90</cp:revision>
  <dcterms:created xsi:type="dcterms:W3CDTF">2017-04-27T01:30:33Z</dcterms:created>
  <dcterms:modified xsi:type="dcterms:W3CDTF">2026-04-24T22:15:54Z</dcterms:modified>
</cp:coreProperties>
</file>