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sldIdLst>
    <p:sldId id="304" r:id="rId3"/>
    <p:sldId id="397" r:id="rId4"/>
    <p:sldId id="396" r:id="rId5"/>
    <p:sldId id="398" r:id="rId6"/>
    <p:sldId id="399" r:id="rId7"/>
    <p:sldId id="258" r:id="rId8"/>
    <p:sldId id="259" r:id="rId9"/>
    <p:sldId id="260" r:id="rId10"/>
    <p:sldId id="262" r:id="rId11"/>
    <p:sldId id="263" r:id="rId12"/>
    <p:sldId id="264" r:id="rId13"/>
    <p:sldId id="265" r:id="rId14"/>
    <p:sldId id="403" r:id="rId15"/>
    <p:sldId id="266" r:id="rId16"/>
    <p:sldId id="404" r:id="rId17"/>
    <p:sldId id="303" r:id="rId18"/>
    <p:sldId id="267" r:id="rId19"/>
    <p:sldId id="268" r:id="rId20"/>
    <p:sldId id="269" r:id="rId21"/>
    <p:sldId id="274" r:id="rId22"/>
    <p:sldId id="275" r:id="rId23"/>
    <p:sldId id="411" r:id="rId24"/>
    <p:sldId id="276" r:id="rId25"/>
    <p:sldId id="270" r:id="rId26"/>
    <p:sldId id="271" r:id="rId27"/>
    <p:sldId id="273" r:id="rId28"/>
    <p:sldId id="412" r:id="rId29"/>
    <p:sldId id="277" r:id="rId30"/>
    <p:sldId id="278" r:id="rId31"/>
    <p:sldId id="279" r:id="rId32"/>
    <p:sldId id="280" r:id="rId33"/>
    <p:sldId id="281" r:id="rId34"/>
    <p:sldId id="282" r:id="rId35"/>
    <p:sldId id="413" r:id="rId36"/>
    <p:sldId id="283" r:id="rId37"/>
    <p:sldId id="405" r:id="rId38"/>
    <p:sldId id="285" r:id="rId39"/>
    <p:sldId id="286" r:id="rId40"/>
    <p:sldId id="287" r:id="rId41"/>
    <p:sldId id="288" r:id="rId42"/>
    <p:sldId id="289" r:id="rId43"/>
    <p:sldId id="406" r:id="rId44"/>
    <p:sldId id="408" r:id="rId45"/>
    <p:sldId id="407" r:id="rId46"/>
    <p:sldId id="409" r:id="rId47"/>
    <p:sldId id="330" r:id="rId48"/>
    <p:sldId id="290" r:id="rId49"/>
    <p:sldId id="291" r:id="rId50"/>
    <p:sldId id="293" r:id="rId51"/>
    <p:sldId id="294" r:id="rId52"/>
    <p:sldId id="295" r:id="rId53"/>
    <p:sldId id="296" r:id="rId54"/>
    <p:sldId id="297" r:id="rId55"/>
    <p:sldId id="298" r:id="rId56"/>
    <p:sldId id="292" r:id="rId57"/>
    <p:sldId id="299" r:id="rId58"/>
    <p:sldId id="300" r:id="rId59"/>
    <p:sldId id="301" r:id="rId60"/>
    <p:sldId id="302" r:id="rId61"/>
    <p:sldId id="410" r:id="rId62"/>
    <p:sldId id="400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03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49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24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7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01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6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90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69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69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27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8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1DF2-8F16-4A02-AFB5-59E1678A90EE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15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FF4D5-F35B-420F-948D-069E8587321A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66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AED94-D601-4C89-AA7E-899AF3FA3093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36FA-20DD-427F-955D-002D7DCF5A50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66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D3AA3-9604-4452-BBB7-03EAB4899636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49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64677-3A75-423F-9C2B-E486DB9E0959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96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4F2-870C-4ED6-84A5-CE24570D94A1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74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D9CC2-9FA0-4ADA-8F34-008174DC722F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420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37F6-6D40-4E22-81D5-2946F28F5791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070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62DC-ADDC-42E7-801F-6603FD251CA2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35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D8BDD-8216-4B36-BB92-C06A601CD73C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Technical 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3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88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0B5D2-EA52-4703-ACA5-6080B5091DE8}" type="datetime1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Technical Writing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A8198-B36E-4E8C-B56F-5CE897E273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5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ers.uiowa.edu/careerbuzz/201509/10-things-do-right-interview" TargetMode="External"/><Relationship Id="rId2" Type="http://schemas.openxmlformats.org/officeDocument/2006/relationships/hyperlink" Target="https://www.indeed.com/career-advice/interviewing/job-interview-etiquett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business.tutsplus.com/tutorials/how-to-use-resume-keywords-and-phrases--cms-2731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ercenter.georgetown.edu/major-career-guides/resumes-cover-letters/resume-formatting-tips/" TargetMode="External"/><Relationship Id="rId2" Type="http://schemas.openxmlformats.org/officeDocument/2006/relationships/hyperlink" Target="https://www.indeed.com/career-advice/resumes-cover-letters/resume-format-guide-with-examples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erkins.org/resource/step-step-guide-formatting-your-resume/" TargetMode="External"/><Relationship Id="rId4" Type="http://schemas.openxmlformats.org/officeDocument/2006/relationships/hyperlink" Target="https://careercenter.umich.edu/article/resume-resources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05FF5-C498-4C50-94EA-4B2D5CEF1604}"/>
              </a:ext>
            </a:extLst>
          </p:cNvPr>
          <p:cNvSpPr/>
          <p:nvPr/>
        </p:nvSpPr>
        <p:spPr>
          <a:xfrm>
            <a:off x="219342" y="5797759"/>
            <a:ext cx="1044865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https://www.indeed.com/career-advice/interviewing/job-interview-etiquette</a:t>
            </a:r>
            <a:endParaRPr lang="en-US" sz="1400" dirty="0"/>
          </a:p>
          <a:p>
            <a:r>
              <a:rPr lang="en-US" sz="1400" dirty="0">
                <a:hlinkClick r:id="rId3"/>
              </a:rPr>
              <a:t>https://careers.uiowa.edu/careerbuzz/201509/10-things-do-right-interview</a:t>
            </a:r>
            <a:endParaRPr lang="en-US" sz="1400" dirty="0"/>
          </a:p>
          <a:p>
            <a:r>
              <a:rPr lang="en-US" sz="1400" dirty="0"/>
              <a:t>D. F. Beer and D. A. </a:t>
            </a:r>
            <a:r>
              <a:rPr lang="en-US" sz="1400" dirty="0" err="1"/>
              <a:t>McMurrey</a:t>
            </a:r>
            <a:r>
              <a:rPr lang="en-US" sz="1400" dirty="0"/>
              <a:t>, A Guide to Writing as an Engineer, 4th ed. New York: Wiley Publications, 2014. 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232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93985-28AA-4CEC-88FE-4D489030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Times New Roman"/>
              </a:rPr>
              <a:t>Technical Writing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4F981-E361-4709-BFF8-45497315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9A8198-B36E-4E8C-B56F-5CE897E27388}" type="slidenum">
              <a:rPr lang="en-US">
                <a:solidFill>
                  <a:prstClr val="black">
                    <a:tint val="75000"/>
                  </a:prstClr>
                </a:solidFill>
                <a:latin typeface="Times New Roman"/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0ECC2D-1976-4FE1-93D5-0331BA340EF9}"/>
              </a:ext>
            </a:extLst>
          </p:cNvPr>
          <p:cNvSpPr txBox="1"/>
          <p:nvPr/>
        </p:nvSpPr>
        <p:spPr>
          <a:xfrm>
            <a:off x="1600200" y="914401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prstClr val="black"/>
                </a:solidFill>
                <a:latin typeface="Times New Roman"/>
              </a:rPr>
              <a:t>Being Effective in </a:t>
            </a:r>
            <a:r>
              <a:rPr lang="en-US" sz="3600" b="1" i="1" dirty="0">
                <a:solidFill>
                  <a:prstClr val="black"/>
                </a:solidFill>
                <a:latin typeface="Times New Roman"/>
              </a:rPr>
              <a:t>ANY</a:t>
            </a:r>
            <a:r>
              <a:rPr lang="en-US" sz="3600" b="1" dirty="0">
                <a:solidFill>
                  <a:prstClr val="black"/>
                </a:solidFill>
                <a:latin typeface="Times New Roman"/>
              </a:rPr>
              <a:t> Role   </a:t>
            </a:r>
          </a:p>
          <a:p>
            <a:endParaRPr lang="en-US" sz="3600" dirty="0">
              <a:solidFill>
                <a:prstClr val="black"/>
              </a:solidFill>
              <a:latin typeface="Times New Roman"/>
            </a:endParaRPr>
          </a:p>
          <a:p>
            <a:r>
              <a:rPr lang="en-US" sz="3600" dirty="0">
                <a:solidFill>
                  <a:prstClr val="black"/>
                </a:solidFill>
                <a:latin typeface="Times New Roman"/>
              </a:rPr>
              <a:t>There are three basic components to any profession…</a:t>
            </a:r>
          </a:p>
          <a:p>
            <a:endParaRPr lang="en-US" sz="3600" dirty="0">
              <a:solidFill>
                <a:prstClr val="black"/>
              </a:solidFill>
              <a:latin typeface="Times New Roman"/>
            </a:endParaRPr>
          </a:p>
          <a:p>
            <a:pPr marL="285750" indent="-285750">
              <a:buFontTx/>
              <a:buChar char="-"/>
            </a:pPr>
            <a:r>
              <a:rPr lang="en-US" sz="3600" b="1" dirty="0">
                <a:solidFill>
                  <a:prstClr val="black"/>
                </a:solidFill>
                <a:latin typeface="Times New Roman"/>
              </a:rPr>
              <a:t>Technical Skills</a:t>
            </a:r>
          </a:p>
          <a:p>
            <a:pPr marL="285750" indent="-285750">
              <a:buFontTx/>
              <a:buChar char="-"/>
            </a:pPr>
            <a:r>
              <a:rPr lang="en-US" sz="3600" b="1" dirty="0">
                <a:solidFill>
                  <a:prstClr val="black"/>
                </a:solidFill>
                <a:latin typeface="Times New Roman"/>
              </a:rPr>
              <a:t>Business Skills / Job Knowledge </a:t>
            </a:r>
          </a:p>
          <a:p>
            <a:pPr marL="285750" indent="-285750">
              <a:buFontTx/>
              <a:buChar char="-"/>
            </a:pPr>
            <a:r>
              <a:rPr lang="en-US" sz="3600" b="1" dirty="0">
                <a:solidFill>
                  <a:prstClr val="black"/>
                </a:solidFill>
                <a:latin typeface="Times New Roman"/>
              </a:rPr>
              <a:t>Human Skills </a:t>
            </a:r>
          </a:p>
        </p:txBody>
      </p:sp>
    </p:spTree>
    <p:extLst>
      <p:ext uri="{BB962C8B-B14F-4D97-AF65-F5344CB8AC3E}">
        <p14:creationId xmlns:p14="http://schemas.microsoft.com/office/powerpoint/2010/main" val="3364451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0C00D-B130-4562-A5F8-994D4287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Times New Roman"/>
              </a:rPr>
              <a:t>Technical Writing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06980-9412-42D0-B107-05B2CA62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9A8198-B36E-4E8C-B56F-5CE897E27388}" type="slidenum">
              <a:rPr lang="en-US">
                <a:solidFill>
                  <a:prstClr val="black">
                    <a:tint val="75000"/>
                  </a:prstClr>
                </a:solidFill>
                <a:latin typeface="Times New Roman"/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C74550-E1E8-48F3-8989-8A3CB647E2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19228"/>
            <a:ext cx="8614228" cy="67625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007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5C399-C9D8-4697-BC83-E5E3E0A8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  <a:latin typeface="Times New Roman"/>
              </a:rPr>
              <a:t>Technical Writing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43B5-4686-460B-B15A-B53FA526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9A8198-B36E-4E8C-B56F-5CE897E27388}" type="slidenum">
              <a:rPr lang="en-US">
                <a:solidFill>
                  <a:prstClr val="black">
                    <a:tint val="75000"/>
                  </a:prstClr>
                </a:solidFill>
                <a:latin typeface="Times New Roman"/>
              </a:rPr>
              <a:pPr>
                <a:defRPr/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4DBA0-8112-4324-BF1C-CB92B5D7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27125"/>
            <a:ext cx="6858000" cy="5794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252DA0-067F-4FF6-8DDD-714D3A486AC3}"/>
              </a:ext>
            </a:extLst>
          </p:cNvPr>
          <p:cNvSpPr txBox="1"/>
          <p:nvPr/>
        </p:nvSpPr>
        <p:spPr>
          <a:xfrm>
            <a:off x="2133600" y="381001"/>
            <a:ext cx="716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/>
              </a:rPr>
              <a:t>The 100 meters sprint race records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7B1501-FD67-BE97-165D-430CD8B21100}"/>
              </a:ext>
            </a:extLst>
          </p:cNvPr>
          <p:cNvCxnSpPr/>
          <p:nvPr/>
        </p:nvCxnSpPr>
        <p:spPr>
          <a:xfrm>
            <a:off x="773723" y="3493477"/>
            <a:ext cx="8587154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40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/>
              <a:t>Three Points:</a:t>
            </a:r>
          </a:p>
          <a:p>
            <a:pPr>
              <a:lnSpc>
                <a:spcPct val="100000"/>
              </a:lnSpc>
            </a:pPr>
            <a:r>
              <a:rPr lang="en-US" sz="4800" b="1" i="1" dirty="0">
                <a:solidFill>
                  <a:srgbClr val="C00000"/>
                </a:solidFill>
              </a:rPr>
              <a:t>Emphasis</a:t>
            </a:r>
            <a:r>
              <a:rPr lang="en-US" sz="4800" i="1" dirty="0">
                <a:solidFill>
                  <a:srgbClr val="C00000"/>
                </a:solidFill>
              </a:rPr>
              <a:t>:</a:t>
            </a:r>
            <a:r>
              <a:rPr lang="en-US" sz="4800" i="1" dirty="0"/>
              <a:t> </a:t>
            </a:r>
            <a:r>
              <a:rPr lang="en-US" sz="3200" dirty="0"/>
              <a:t>Select just a few major points of emphasis from your 				professional life.</a:t>
            </a:r>
            <a:endParaRPr lang="en-US" sz="4800" i="1" dirty="0"/>
          </a:p>
          <a:p>
            <a:pPr>
              <a:lnSpc>
                <a:spcPct val="100000"/>
              </a:lnSpc>
            </a:pPr>
            <a:endParaRPr lang="en-US" sz="4800" i="1" dirty="0"/>
          </a:p>
          <a:p>
            <a:pPr>
              <a:lnSpc>
                <a:spcPct val="100000"/>
              </a:lnSpc>
            </a:pPr>
            <a:r>
              <a:rPr lang="en-US" sz="4800" b="1" i="1" dirty="0">
                <a:solidFill>
                  <a:srgbClr val="C00000"/>
                </a:solidFill>
              </a:rPr>
              <a:t>Length:</a:t>
            </a:r>
            <a:r>
              <a:rPr lang="en-US" sz="4800" i="1" dirty="0"/>
              <a:t> </a:t>
            </a:r>
            <a:r>
              <a:rPr lang="en-US" sz="3600" dirty="0"/>
              <a:t>Only one page. </a:t>
            </a:r>
            <a:endParaRPr lang="en-US" sz="4800" i="1" dirty="0"/>
          </a:p>
          <a:p>
            <a:pPr>
              <a:lnSpc>
                <a:spcPct val="100000"/>
              </a:lnSpc>
            </a:pPr>
            <a:endParaRPr lang="en-US" sz="4800" i="1" dirty="0"/>
          </a:p>
          <a:p>
            <a:pPr>
              <a:lnSpc>
                <a:spcPct val="100000"/>
              </a:lnSpc>
            </a:pPr>
            <a:r>
              <a:rPr lang="en-US" sz="4800" b="1" i="1" dirty="0">
                <a:solidFill>
                  <a:srgbClr val="C00000"/>
                </a:solidFill>
              </a:rPr>
              <a:t>Arrangement:</a:t>
            </a:r>
            <a:r>
              <a:rPr lang="en-US" sz="4800" b="1" i="1" dirty="0"/>
              <a:t> </a:t>
            </a:r>
            <a:r>
              <a:rPr lang="en-US" sz="3600" dirty="0"/>
              <a:t>Pleasing to the eye and easy to scan.</a:t>
            </a:r>
            <a:r>
              <a:rPr lang="en-US" sz="3600" i="1" dirty="0"/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Résum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é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8654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i="1" dirty="0"/>
              <a:t>The </a:t>
            </a:r>
            <a:r>
              <a:rPr lang="en-US" i="1" dirty="0">
                <a:solidFill>
                  <a:srgbClr val="FF0000"/>
                </a:solidFill>
              </a:rPr>
              <a:t>resume</a:t>
            </a:r>
            <a:r>
              <a:rPr lang="en-US" i="1" dirty="0"/>
              <a:t> is your </a:t>
            </a:r>
            <a:r>
              <a:rPr lang="en-US" i="1" dirty="0">
                <a:solidFill>
                  <a:srgbClr val="FF0000"/>
                </a:solidFill>
              </a:rPr>
              <a:t>main vehicle </a:t>
            </a:r>
            <a:r>
              <a:rPr lang="en-US" i="1" dirty="0"/>
              <a:t>for presenting </a:t>
            </a:r>
            <a:r>
              <a:rPr lang="en-US" i="1" dirty="0">
                <a:solidFill>
                  <a:srgbClr val="FF0000"/>
                </a:solidFill>
              </a:rPr>
              <a:t>yourself</a:t>
            </a:r>
            <a:r>
              <a:rPr lang="en-US" i="1" dirty="0"/>
              <a:t> to a potential </a:t>
            </a:r>
            <a:r>
              <a:rPr lang="en-US" i="1" dirty="0">
                <a:solidFill>
                  <a:srgbClr val="FF0000"/>
                </a:solidFill>
              </a:rPr>
              <a:t>employer</a:t>
            </a:r>
            <a:r>
              <a:rPr lang="en-US" i="1" dirty="0"/>
              <a:t>. </a:t>
            </a:r>
          </a:p>
          <a:p>
            <a:pPr>
              <a:lnSpc>
                <a:spcPct val="100000"/>
              </a:lnSpc>
            </a:pPr>
            <a:endParaRPr lang="en-US" i="1" dirty="0"/>
          </a:p>
          <a:p>
            <a:pPr>
              <a:lnSpc>
                <a:spcPct val="100000"/>
              </a:lnSpc>
            </a:pPr>
            <a:r>
              <a:rPr lang="en-US" dirty="0"/>
              <a:t>The central question to ask in preparing your resume is, </a:t>
            </a:r>
            <a:r>
              <a:rPr lang="en-US" i="1" dirty="0"/>
              <a:t>‘‘</a:t>
            </a:r>
            <a:r>
              <a:rPr lang="en-US" i="1" u="sng" dirty="0"/>
              <a:t>If you were an employer, would you want to read this resume?’’ </a:t>
            </a:r>
            <a:r>
              <a:rPr lang="en-US" i="1" dirty="0"/>
              <a:t>. . . </a:t>
            </a:r>
          </a:p>
          <a:p>
            <a:pPr>
              <a:lnSpc>
                <a:spcPct val="100000"/>
              </a:lnSpc>
            </a:pPr>
            <a:endParaRPr lang="en-US" i="1" dirty="0"/>
          </a:p>
          <a:p>
            <a:pPr>
              <a:lnSpc>
                <a:spcPct val="100000"/>
              </a:lnSpc>
            </a:pPr>
            <a:r>
              <a:rPr lang="en-US" dirty="0"/>
              <a:t>Visual impact and appearance are extremely important</a:t>
            </a:r>
            <a:r>
              <a:rPr lang="en-US" i="1" dirty="0"/>
              <a:t>.</a:t>
            </a:r>
          </a:p>
          <a:p>
            <a:endParaRPr lang="en-US" dirty="0">
              <a:latin typeface="TimesTen-Roman"/>
            </a:endParaRPr>
          </a:p>
          <a:p>
            <a:endParaRPr lang="en-US" dirty="0">
              <a:latin typeface="TimesTen-Roman"/>
            </a:endParaRPr>
          </a:p>
          <a:p>
            <a:r>
              <a:rPr lang="en-US" sz="1800" dirty="0"/>
              <a:t>Reference:</a:t>
            </a:r>
          </a:p>
          <a:p>
            <a:r>
              <a:rPr lang="en-US" sz="1800" dirty="0"/>
              <a:t>Raymond Landis, </a:t>
            </a:r>
            <a:r>
              <a:rPr lang="en-US" sz="1800" i="1" dirty="0"/>
              <a:t>Studying Engineering: A Road Map to a Rewarding Career</a:t>
            </a:r>
            <a:r>
              <a:rPr lang="en-US" sz="1800" dirty="0"/>
              <a:t>, 2nd ed. (Los Angeles, CA: Discovery Press, 2000), p. 223.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Writing to Get an Engineering Job</a:t>
            </a:r>
          </a:p>
        </p:txBody>
      </p:sp>
    </p:spTree>
    <p:extLst>
      <p:ext uri="{BB962C8B-B14F-4D97-AF65-F5344CB8AC3E}">
        <p14:creationId xmlns:p14="http://schemas.microsoft.com/office/powerpoint/2010/main" val="403971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A resume is a summary of your professional experience, education, and other background </a:t>
            </a:r>
            <a:r>
              <a:rPr lang="en-US" sz="3200" b="1" u="sng" dirty="0">
                <a:solidFill>
                  <a:srgbClr val="FF0000"/>
                </a:solidFill>
              </a:rPr>
              <a:t>relevant </a:t>
            </a:r>
            <a:r>
              <a:rPr lang="en-US" sz="3200" b="1" dirty="0">
                <a:solidFill>
                  <a:srgbClr val="FF0000"/>
                </a:solidFill>
              </a:rPr>
              <a:t>to the employment opportunity you are seeking</a:t>
            </a:r>
            <a:r>
              <a:rPr lang="en-US" sz="3200" b="1" dirty="0"/>
              <a:t>.</a:t>
            </a:r>
          </a:p>
          <a:p>
            <a:pPr>
              <a:lnSpc>
                <a:spcPct val="150000"/>
              </a:lnSpc>
            </a:pPr>
            <a:endParaRPr lang="en-US" sz="3200" b="1" dirty="0"/>
          </a:p>
          <a:p>
            <a:pPr>
              <a:lnSpc>
                <a:spcPct val="150000"/>
              </a:lnSpc>
            </a:pPr>
            <a:r>
              <a:rPr lang="en-US" sz="3200" dirty="0"/>
              <a:t>The key to writing an effective resume – one that highlights your best qualifications – is  a design that can be scanned in about </a:t>
            </a:r>
            <a:r>
              <a:rPr lang="en-US" sz="3200" b="1" dirty="0">
                <a:solidFill>
                  <a:srgbClr val="C00000"/>
                </a:solidFill>
              </a:rPr>
              <a:t>20 to 30 seconds</a:t>
            </a:r>
            <a:r>
              <a:rPr lang="en-US" sz="3200" b="1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Writing to Get an Engineering Job</a:t>
            </a:r>
          </a:p>
        </p:txBody>
      </p:sp>
    </p:spTree>
    <p:extLst>
      <p:ext uri="{BB962C8B-B14F-4D97-AF65-F5344CB8AC3E}">
        <p14:creationId xmlns:p14="http://schemas.microsoft.com/office/powerpoint/2010/main" val="164904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Developing a resume is </a:t>
            </a:r>
            <a:r>
              <a:rPr lang="en-US" sz="3200" b="1" dirty="0">
                <a:solidFill>
                  <a:srgbClr val="C00000"/>
                </a:solidFill>
              </a:rPr>
              <a:t>not a one-time effort</a:t>
            </a:r>
            <a:r>
              <a:rPr lang="en-US" sz="3200" b="1" dirty="0"/>
              <a:t>. Consider it a work in progress. </a:t>
            </a:r>
          </a:p>
          <a:p>
            <a:pPr lvl="1">
              <a:lnSpc>
                <a:spcPct val="100000"/>
              </a:lnSpc>
            </a:pPr>
            <a:r>
              <a:rPr lang="en-US" sz="2000" b="1" dirty="0"/>
              <a:t>Resume is not a </a:t>
            </a:r>
            <a:r>
              <a:rPr lang="en-US" sz="2000" b="1" dirty="0">
                <a:solidFill>
                  <a:srgbClr val="C00000"/>
                </a:solidFill>
              </a:rPr>
              <a:t>permanent record </a:t>
            </a:r>
            <a:r>
              <a:rPr lang="en-US" sz="2000" b="1" dirty="0"/>
              <a:t>of your background, which you updated only infrequently.</a:t>
            </a:r>
          </a:p>
          <a:p>
            <a:pPr>
              <a:lnSpc>
                <a:spcPct val="100000"/>
              </a:lnSpc>
            </a:pPr>
            <a:endParaRPr lang="en-US" sz="2400" b="1" dirty="0"/>
          </a:p>
          <a:p>
            <a:pPr>
              <a:lnSpc>
                <a:spcPct val="100000"/>
              </a:lnSpc>
            </a:pPr>
            <a:r>
              <a:rPr lang="en-US" sz="3200" b="1" dirty="0"/>
              <a:t>You may have to revise it for every new employment opportunity you seek; </a:t>
            </a:r>
          </a:p>
          <a:p>
            <a:pPr>
              <a:lnSpc>
                <a:spcPct val="100000"/>
              </a:lnSpc>
            </a:pPr>
            <a:endParaRPr lang="en-US" sz="3200" b="1" dirty="0"/>
          </a:p>
          <a:p>
            <a:pPr>
              <a:lnSpc>
                <a:spcPct val="100000"/>
              </a:lnSpc>
            </a:pPr>
            <a:r>
              <a:rPr lang="en-US" sz="3200" b="1" dirty="0"/>
              <a:t>You </a:t>
            </a:r>
            <a:r>
              <a:rPr lang="en-US" sz="3200" b="1" dirty="0">
                <a:solidFill>
                  <a:srgbClr val="C00000"/>
                </a:solidFill>
              </a:rPr>
              <a:t>must update </a:t>
            </a:r>
            <a:r>
              <a:rPr lang="en-US" sz="3200" b="1" dirty="0"/>
              <a:t>it at every </a:t>
            </a:r>
            <a:r>
              <a:rPr lang="en-US" sz="3200" b="1" dirty="0">
                <a:solidFill>
                  <a:srgbClr val="C00000"/>
                </a:solidFill>
              </a:rPr>
              <a:t>accomplishment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</a:rPr>
              <a:t>milestone</a:t>
            </a:r>
            <a:r>
              <a:rPr lang="en-US" sz="3200" b="1" dirty="0"/>
              <a:t>, or </a:t>
            </a:r>
            <a:r>
              <a:rPr lang="en-US" sz="3200" b="1" dirty="0">
                <a:solidFill>
                  <a:srgbClr val="C00000"/>
                </a:solidFill>
              </a:rPr>
              <a:t>new phase </a:t>
            </a:r>
            <a:r>
              <a:rPr lang="en-US" sz="3200" b="1" dirty="0"/>
              <a:t>in your career.</a:t>
            </a:r>
          </a:p>
          <a:p>
            <a:pPr lvl="3">
              <a:lnSpc>
                <a:spcPct val="100000"/>
              </a:lnSpc>
            </a:pPr>
            <a:r>
              <a:rPr lang="en-US" sz="2200" b="1" dirty="0"/>
              <a:t>You have to </a:t>
            </a:r>
            <a:r>
              <a:rPr lang="en-US" sz="2200" b="1" dirty="0">
                <a:solidFill>
                  <a:srgbClr val="FF0000"/>
                </a:solidFill>
              </a:rPr>
              <a:t>redesign</a:t>
            </a:r>
            <a:r>
              <a:rPr lang="en-US" sz="2200" b="1" dirty="0"/>
              <a:t> your resume for every new employment opportunity.</a:t>
            </a:r>
          </a:p>
          <a:p>
            <a:pPr lvl="3">
              <a:lnSpc>
                <a:spcPct val="100000"/>
              </a:lnSpc>
            </a:pPr>
            <a:endParaRPr lang="en-US" sz="22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Writing to Get an Engineering Job</a:t>
            </a:r>
          </a:p>
        </p:txBody>
      </p:sp>
    </p:spTree>
    <p:extLst>
      <p:ext uri="{BB962C8B-B14F-4D97-AF65-F5344CB8AC3E}">
        <p14:creationId xmlns:p14="http://schemas.microsoft.com/office/powerpoint/2010/main" val="401787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Keep a </a:t>
            </a:r>
            <a:r>
              <a:rPr lang="en-US" sz="4000" b="1" dirty="0">
                <a:solidFill>
                  <a:srgbClr val="C00000"/>
                </a:solidFill>
              </a:rPr>
              <a:t>working draft </a:t>
            </a:r>
            <a:r>
              <a:rPr lang="en-US" sz="4000" b="1" dirty="0"/>
              <a:t>of your resume always at hand 	(a digital file or a hard copy) </a:t>
            </a:r>
          </a:p>
          <a:p>
            <a:pPr lvl="1">
              <a:lnSpc>
                <a:spcPct val="150000"/>
              </a:lnSpc>
            </a:pPr>
            <a:endParaRPr lang="en-US" sz="3600" b="1" dirty="0"/>
          </a:p>
          <a:p>
            <a:pPr>
              <a:lnSpc>
                <a:spcPct val="150000"/>
              </a:lnSpc>
            </a:pPr>
            <a:r>
              <a:rPr lang="en-US" sz="4000" b="1" dirty="0"/>
              <a:t>Scribble notes whenever your career takes a </a:t>
            </a:r>
            <a:r>
              <a:rPr lang="en-US" sz="4000" b="1" dirty="0">
                <a:solidFill>
                  <a:srgbClr val="C00000"/>
                </a:solidFill>
              </a:rPr>
              <a:t>new turn</a:t>
            </a:r>
            <a:r>
              <a:rPr lang="en-US" sz="4000" b="1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Compile a comprehensive list of your education, experience, project management activities, training, skills, and licenses, and then select the most relevant items for your résumé.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Writing to Get an Engineering Job</a:t>
            </a:r>
          </a:p>
        </p:txBody>
      </p:sp>
    </p:spTree>
    <p:extLst>
      <p:ext uri="{BB962C8B-B14F-4D97-AF65-F5344CB8AC3E}">
        <p14:creationId xmlns:p14="http://schemas.microsoft.com/office/powerpoint/2010/main" val="297471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4000" b="1" dirty="0"/>
              <a:t>The </a:t>
            </a:r>
            <a:r>
              <a:rPr lang="en-US" sz="4000" b="1" dirty="0">
                <a:solidFill>
                  <a:srgbClr val="C00000"/>
                </a:solidFill>
              </a:rPr>
              <a:t>design</a:t>
            </a:r>
            <a:r>
              <a:rPr lang="en-US" sz="4000" b="1" dirty="0"/>
              <a:t> of a resume is certainly important to success in an employment search. </a:t>
            </a:r>
          </a:p>
          <a:p>
            <a:pPr>
              <a:lnSpc>
                <a:spcPct val="150000"/>
              </a:lnSpc>
            </a:pPr>
            <a:endParaRPr lang="en-US" sz="4000" b="1" dirty="0"/>
          </a:p>
          <a:p>
            <a:pPr>
              <a:lnSpc>
                <a:spcPct val="150000"/>
              </a:lnSpc>
            </a:pPr>
            <a:r>
              <a:rPr lang="en-US" sz="4000" b="1" dirty="0"/>
              <a:t>But a resume </a:t>
            </a:r>
            <a:r>
              <a:rPr lang="en-US" sz="4000" b="1" dirty="0">
                <a:solidFill>
                  <a:srgbClr val="C00000"/>
                </a:solidFill>
              </a:rPr>
              <a:t>can’t do it alone </a:t>
            </a:r>
          </a:p>
          <a:p>
            <a:pPr>
              <a:lnSpc>
                <a:spcPct val="150000"/>
              </a:lnSpc>
            </a:pPr>
            <a:endParaRPr lang="en-US" sz="4000" b="1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4000" b="1" dirty="0"/>
              <a:t>Many</a:t>
            </a: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/>
              <a:t>other elements have to be present such as </a:t>
            </a:r>
            <a:r>
              <a:rPr lang="en-US" sz="4000" b="1" dirty="0">
                <a:solidFill>
                  <a:srgbClr val="C00000"/>
                </a:solidFill>
              </a:rPr>
              <a:t>connections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</a:rPr>
              <a:t>timing</a:t>
            </a:r>
            <a:r>
              <a:rPr lang="en-US" sz="4000" b="1" dirty="0"/>
              <a:t>, </a:t>
            </a:r>
            <a:r>
              <a:rPr lang="en-US" sz="4000" b="1" dirty="0">
                <a:solidFill>
                  <a:srgbClr val="C00000"/>
                </a:solidFill>
              </a:rPr>
              <a:t>need</a:t>
            </a:r>
            <a:r>
              <a:rPr lang="en-US" sz="4000" b="1" dirty="0"/>
              <a:t>, and of course your </a:t>
            </a:r>
            <a:r>
              <a:rPr lang="en-US" sz="4000" b="1" dirty="0">
                <a:solidFill>
                  <a:srgbClr val="C00000"/>
                </a:solidFill>
              </a:rPr>
              <a:t>actual qualifications</a:t>
            </a:r>
            <a:r>
              <a:rPr lang="en-US" sz="4000" b="1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350330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Chronological </a:t>
            </a:r>
            <a:r>
              <a:rPr lang="en-US" sz="4000" b="1" dirty="0"/>
              <a:t>or </a:t>
            </a:r>
            <a:r>
              <a:rPr lang="en-US" sz="4000" b="1" i="1" dirty="0">
                <a:solidFill>
                  <a:srgbClr val="C00000"/>
                </a:solidFill>
              </a:rPr>
              <a:t>Functional </a:t>
            </a:r>
            <a:r>
              <a:rPr lang="en-US" sz="4000" b="1" dirty="0"/>
              <a:t>Organization. </a:t>
            </a:r>
          </a:p>
          <a:p>
            <a:pPr>
              <a:lnSpc>
                <a:spcPct val="150000"/>
              </a:lnSpc>
            </a:pPr>
            <a:endParaRPr lang="en-US" sz="4000" b="1" dirty="0"/>
          </a:p>
          <a:p>
            <a:pPr>
              <a:lnSpc>
                <a:spcPct val="150000"/>
              </a:lnSpc>
            </a:pPr>
            <a:r>
              <a:rPr lang="en-US" sz="4000" b="1" dirty="0"/>
              <a:t>One of the first issues in resume design is whether to </a:t>
            </a:r>
            <a:r>
              <a:rPr lang="en-US" sz="4000" b="1" dirty="0">
                <a:solidFill>
                  <a:srgbClr val="FF0000"/>
                </a:solidFill>
              </a:rPr>
              <a:t>divide </a:t>
            </a:r>
            <a:r>
              <a:rPr lang="en-US" sz="4000" b="1" dirty="0"/>
              <a:t>your background information </a:t>
            </a:r>
            <a:r>
              <a:rPr lang="en-US" sz="4000" b="1" dirty="0">
                <a:solidFill>
                  <a:srgbClr val="FF0000"/>
                </a:solidFill>
              </a:rPr>
              <a:t>chronologically</a:t>
            </a:r>
            <a:r>
              <a:rPr lang="en-US" sz="4000" b="1" dirty="0"/>
              <a:t> or </a:t>
            </a:r>
            <a:r>
              <a:rPr lang="en-US" sz="4000" b="1" dirty="0">
                <a:solidFill>
                  <a:srgbClr val="FF0000"/>
                </a:solidFill>
              </a:rPr>
              <a:t>functionally</a:t>
            </a:r>
            <a:r>
              <a:rPr lang="en-US" sz="4000" b="1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297898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596313" y="5355602"/>
            <a:ext cx="211872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Chronological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Organization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8230" y="2217906"/>
            <a:ext cx="2818083" cy="4640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7DE9F-13B9-AF20-489E-181753379BD9}"/>
              </a:ext>
            </a:extLst>
          </p:cNvPr>
          <p:cNvSpPr txBox="1"/>
          <p:nvPr/>
        </p:nvSpPr>
        <p:spPr>
          <a:xfrm>
            <a:off x="122926" y="91446"/>
            <a:ext cx="6094562" cy="623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 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alex.morgan@email.com | (555) 123-4567 | Riverside, CA | linkedin.com/in/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Summary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Results-driven Electrical Engineering graduate with strong experience in embedded systems, circuit design, and project management. Proven ability to lead technical teams, deliver projects on time, and communicate complex ideas effectively.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Education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University of California, Riverside — B.S. in Electrical Engineering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Graduated: June 2025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Relevant Coursework: Signals and Systems, Digital Design, Embedded Systems, Control Systems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Experience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Intern — </a:t>
            </a:r>
            <a:r>
              <a:rPr lang="en-US" sz="11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TechCore</a:t>
            </a: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Solutions, Irvine, CA (June 2024 – Sept 2024)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and tested PCB layouts using Altium Designer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Assisted in debugging embedded systems using C/C++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Collaborated with cross-functional teams to improve product efficiency by 15%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Engineering Assistant — UCR Research Lab, Riverside, CA (Sept 2023 – June 2024)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Supported research in sensor networks and data acquisition systems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Conducted data analysis using MATLAB and Python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Prepared technical documentation and reports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C04C4-9D55-2359-B359-683A185AF31D}"/>
              </a:ext>
            </a:extLst>
          </p:cNvPr>
          <p:cNvSpPr txBox="1"/>
          <p:nvPr/>
        </p:nvSpPr>
        <p:spPr>
          <a:xfrm>
            <a:off x="6894662" y="422556"/>
            <a:ext cx="4978130" cy="4572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Projects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Smart Home Automation System (2024)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IoT-based system using Arduino and Raspberry Pi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Integrated mobile app for remote monitoring and control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Improved energy efficiency through automated scheduling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Autonomous Line-Following Robot (2023)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control algorithms and sensor integration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Programmed microcontroller using C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Achieved 98% accuracy in path tracking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Skills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Programming: C, C++, Python, MATLAB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Tools: Altium Designer,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LTspice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SolidWorks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Other: Project Management, Technical Writing, Data Analysis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Certifications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Fundamentals of Engineering (FE) — Expected 2025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Certified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42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BBA3D0-13FA-9573-F45F-F4FD72BD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29" y="106532"/>
            <a:ext cx="480282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7696FC-BFEB-2C4A-1DF2-1F5252CB48D9}"/>
              </a:ext>
            </a:extLst>
          </p:cNvPr>
          <p:cNvSpPr/>
          <p:nvPr/>
        </p:nvSpPr>
        <p:spPr>
          <a:xfrm>
            <a:off x="8525291" y="295330"/>
            <a:ext cx="211872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Chronological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Organization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BACAA2-A5D4-17F4-32E2-735B3B998713}"/>
              </a:ext>
            </a:extLst>
          </p:cNvPr>
          <p:cNvCxnSpPr/>
          <p:nvPr/>
        </p:nvCxnSpPr>
        <p:spPr>
          <a:xfrm flipV="1">
            <a:off x="408373" y="1020932"/>
            <a:ext cx="4270159" cy="506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23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983637" y="5805828"/>
            <a:ext cx="22083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Functional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05784-E5D7-12A1-FB11-DB7F64D437CA}"/>
              </a:ext>
            </a:extLst>
          </p:cNvPr>
          <p:cNvSpPr txBox="1"/>
          <p:nvPr/>
        </p:nvSpPr>
        <p:spPr>
          <a:xfrm>
            <a:off x="150962" y="124663"/>
            <a:ext cx="6150634" cy="689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 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alex.morgan@email.com | (555) 123-4567 | Riverside, CA | linkedin.com/in/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Summary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graduate with strong competencies in embedded systems, circuit design, and technical project execution. Demonstrated ability to apply engineering principles in practical settings and communicate technical results effectively.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Core Competencies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Embedded Systems &amp; Programming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and debugged embedded applications using C/C++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Implemented microcontroller-based systems (Arduino, Raspberry Pi)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Circuit Design &amp; Analysis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and tested PCB layouts using Altium Designer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Performed simulations using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LTspice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Data Analysis &amp; Technical Documentation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Analyzed experimental data using MATLAB and Python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Produced structured technical reports and documentation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Project Management &amp; Teamwork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Coordinated with cross-functional teams to meet project deadlines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Managed small-scale engineering projects and lab tasks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D2718-52F2-4542-D17F-B23FB03ED895}"/>
              </a:ext>
            </a:extLst>
          </p:cNvPr>
          <p:cNvSpPr txBox="1"/>
          <p:nvPr/>
        </p:nvSpPr>
        <p:spPr>
          <a:xfrm>
            <a:off x="6680460" y="1421789"/>
            <a:ext cx="5511540" cy="5224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Selected Projects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Smart Home Automation System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IoT-based system with remote monitoring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Improved energy efficiency through automation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Autonomous Line-Following Robot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control algorithms and sensor systems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Achieved high accuracy in navigation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Experience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Intern 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TechCore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Solutions, Irvine, CA (June 2024 – Sept 2024)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Engineering Assistant — UCR Research Lab, Riverside, CA (Sept 2023 – June 2024)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Education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University of California, Riverside — B.S. in Electrical Engineering, June 2025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Additional Information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Programming: C, C++, Python, MATLAB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Tools: Altium Designer,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LTspice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SolidWorks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Certifications: FE (Expected), CLAD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90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5FB1B5-E150-A89A-E5AE-61773567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85" y="142043"/>
            <a:ext cx="4335046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6D52D5-F3CE-DB82-1087-F0AEF6969951}"/>
              </a:ext>
            </a:extLst>
          </p:cNvPr>
          <p:cNvCxnSpPr/>
          <p:nvPr/>
        </p:nvCxnSpPr>
        <p:spPr>
          <a:xfrm flipV="1">
            <a:off x="603682" y="1029810"/>
            <a:ext cx="3764132" cy="39949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963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085937" cy="59046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Keywords for Resumes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01" y="713064"/>
            <a:ext cx="12116499" cy="592262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3A3A3A"/>
                </a:solidFill>
                <a:latin typeface="Roboto"/>
              </a:rPr>
              <a:t>Types of Keywords for Resumes</a:t>
            </a:r>
          </a:p>
          <a:p>
            <a:r>
              <a:rPr lang="en-US" dirty="0">
                <a:solidFill>
                  <a:srgbClr val="3A3A3A"/>
                </a:solidFill>
                <a:latin typeface="Roboto"/>
              </a:rPr>
              <a:t>What keywords should you use on your resume? Here's a quick starting point to begin considering the types of keywords to include on your resume: 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Industry-Specific Skills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 Bookkeeping, product launch, and proposal writing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Soft Skills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Problem solving, communication, sales, and team management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Hardware and Software Used for the Job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Dreamweaver, SQL, and VOIP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Job Titles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UX Designer, Business Development Manager, and Full stack Developer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Training and Certification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Six Sigma, Project Management, and ITIL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Education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MBA, PhD, and BS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Industry Jargon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 Asset management, A/B Editing, and digital video editing workflow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Impressive Terms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Fortune 500 and top salesman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Company Names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 Big name companies are sometimes used when finding applicants for top positions.</a:t>
            </a:r>
          </a:p>
          <a:p>
            <a:r>
              <a:rPr lang="en-US" b="1" dirty="0">
                <a:solidFill>
                  <a:srgbClr val="3A3A3A"/>
                </a:solidFill>
                <a:latin typeface="Roboto"/>
              </a:rPr>
              <a:t>Locations</a:t>
            </a:r>
            <a:r>
              <a:rPr lang="en-US" dirty="0">
                <a:solidFill>
                  <a:srgbClr val="3A3A3A"/>
                </a:solidFill>
                <a:latin typeface="Roboto"/>
              </a:rPr>
              <a:t> - Zip codes, city or state names used to narrow down searches to a geographic 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560" y="6558237"/>
            <a:ext cx="12015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hlinkClick r:id="rId2"/>
              </a:rPr>
              <a:t>https://business.tutsplus.com/tutorials/how-to-use-resume-keywords-and-phrases--cms-27311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8642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chronological approach divides your background into: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</a:rPr>
              <a:t>Education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</a:rPr>
              <a:t>Work experience</a:t>
            </a:r>
            <a:r>
              <a:rPr lang="en-US" sz="4000" b="1" dirty="0"/>
              <a:t>, and possibly </a:t>
            </a:r>
            <a:r>
              <a:rPr lang="en-US" sz="4000" b="1" dirty="0">
                <a:solidFill>
                  <a:srgbClr val="FF0000"/>
                </a:solidFill>
              </a:rPr>
              <a:t>military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3167078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</a:t>
            </a:r>
            <a:r>
              <a:rPr lang="en-US" sz="4000" b="1" dirty="0">
                <a:solidFill>
                  <a:srgbClr val="C00000"/>
                </a:solidFill>
              </a:rPr>
              <a:t>chronological </a:t>
            </a:r>
            <a:r>
              <a:rPr lang="en-US" sz="4000" b="1" dirty="0"/>
              <a:t>approach: </a:t>
            </a:r>
          </a:p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Strengths:</a:t>
            </a:r>
            <a:r>
              <a:rPr lang="en-US" sz="40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Shows your </a:t>
            </a:r>
            <a:r>
              <a:rPr lang="en-US" sz="4000" b="1" dirty="0">
                <a:solidFill>
                  <a:srgbClr val="C00000"/>
                </a:solidFill>
              </a:rPr>
              <a:t>work history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Your </a:t>
            </a:r>
            <a:r>
              <a:rPr lang="en-US" sz="4000" b="1" dirty="0">
                <a:solidFill>
                  <a:srgbClr val="C00000"/>
                </a:solidFill>
              </a:rPr>
              <a:t>responsibilities</a:t>
            </a:r>
            <a:r>
              <a:rPr lang="en-US" sz="4000" b="1" dirty="0"/>
              <a:t> and projects for each 				organization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Shows </a:t>
            </a:r>
            <a:r>
              <a:rPr lang="en-US" sz="4000" b="1" dirty="0">
                <a:solidFill>
                  <a:srgbClr val="C00000"/>
                </a:solidFill>
              </a:rPr>
              <a:t>where you studied </a:t>
            </a:r>
            <a:r>
              <a:rPr lang="en-US" sz="4000" b="1" dirty="0"/>
              <a:t>and what you studied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1635739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</a:t>
            </a:r>
            <a:r>
              <a:rPr lang="en-US" sz="4000" b="1" dirty="0">
                <a:solidFill>
                  <a:srgbClr val="C00000"/>
                </a:solidFill>
              </a:rPr>
              <a:t>chronological </a:t>
            </a:r>
            <a:r>
              <a:rPr lang="en-US" sz="4000" b="1" dirty="0"/>
              <a:t>approach: </a:t>
            </a:r>
          </a:p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Weakness:</a:t>
            </a:r>
            <a:r>
              <a:rPr lang="en-US" sz="40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Information is spread across </a:t>
            </a:r>
            <a:r>
              <a:rPr lang="en-US" sz="4000" b="1" dirty="0">
                <a:solidFill>
                  <a:srgbClr val="C00000"/>
                </a:solidFill>
              </a:rPr>
              <a:t>work</a:t>
            </a:r>
            <a:r>
              <a:rPr lang="en-US" sz="4000" b="1" dirty="0"/>
              <a:t> and </a:t>
            </a:r>
            <a:r>
              <a:rPr lang="en-US" sz="4000" b="1" dirty="0">
                <a:solidFill>
                  <a:srgbClr val="C00000"/>
                </a:solidFill>
              </a:rPr>
              <a:t>education</a:t>
            </a:r>
            <a:r>
              <a:rPr lang="en-US" sz="4000" b="1" dirty="0"/>
              <a:t> 	sections</a:t>
            </a:r>
          </a:p>
          <a:p>
            <a:pPr>
              <a:lnSpc>
                <a:spcPct val="100000"/>
              </a:lnSpc>
            </a:pPr>
            <a:r>
              <a:rPr lang="en-US" sz="4000" b="1" dirty="0"/>
              <a:t>Does not give a capsule picture of your key qualifications and your </a:t>
            </a:r>
            <a:r>
              <a:rPr lang="en-US" sz="4000" b="1" dirty="0">
                <a:solidFill>
                  <a:srgbClr val="C00000"/>
                </a:solidFill>
              </a:rPr>
              <a:t>key strengths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274210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72860"/>
            <a:ext cx="12192000" cy="61851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/>
              <a:t>The </a:t>
            </a:r>
            <a:r>
              <a:rPr lang="en-US" sz="3000" b="1" dirty="0">
                <a:solidFill>
                  <a:srgbClr val="C00000"/>
                </a:solidFill>
              </a:rPr>
              <a:t>chronological </a:t>
            </a:r>
            <a:r>
              <a:rPr lang="en-US" sz="3000" b="1" dirty="0"/>
              <a:t>approach: </a:t>
            </a:r>
          </a:p>
          <a:p>
            <a:pPr>
              <a:lnSpc>
                <a:spcPct val="150000"/>
              </a:lnSpc>
            </a:pPr>
            <a:r>
              <a:rPr lang="en-US" sz="3000" b="1" dirty="0"/>
              <a:t>A solution for the Weakness of Chronological approach: </a:t>
            </a:r>
          </a:p>
          <a:p>
            <a:pPr lvl="1">
              <a:lnSpc>
                <a:spcPct val="150000"/>
              </a:lnSpc>
            </a:pPr>
            <a:r>
              <a:rPr lang="en-US" sz="2600" b="1" dirty="0"/>
              <a:t>Add a </a:t>
            </a:r>
            <a:r>
              <a:rPr lang="en-US" sz="2600" b="1" i="1" dirty="0">
                <a:solidFill>
                  <a:srgbClr val="C00000"/>
                </a:solidFill>
              </a:rPr>
              <a:t>highlights</a:t>
            </a:r>
            <a:r>
              <a:rPr lang="en-US" sz="2600" b="1" dirty="0"/>
              <a:t> section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Adding a </a:t>
            </a:r>
            <a:r>
              <a:rPr lang="en-US" sz="2600" b="1" dirty="0"/>
              <a:t>“Highlights” (or “Key Highlights” / “Key Achievements”) section</a:t>
            </a:r>
            <a:r>
              <a:rPr lang="en-US" sz="2600" dirty="0"/>
              <a:t> at the top of a chronological résumé is not only common, but highly recommended, especially for: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Engineering and technical roles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Entry-level candidates (to surface strengths quickly)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Competitive job applications where recruiters skim in seconds</a:t>
            </a:r>
          </a:p>
          <a:p>
            <a:pPr lvl="1">
              <a:lnSpc>
                <a:spcPct val="150000"/>
              </a:lnSpc>
            </a:pPr>
            <a:endParaRPr lang="en-US" sz="2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3860906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400" b="1" i="1" u="sng" dirty="0">
                <a:solidFill>
                  <a:srgbClr val="C00000"/>
                </a:solidFill>
              </a:rPr>
              <a:t>Highlights Section</a:t>
            </a:r>
            <a:r>
              <a:rPr lang="en-US" sz="4400" b="1" u="sng" dirty="0"/>
              <a:t> </a:t>
            </a:r>
            <a:r>
              <a:rPr lang="en-US" sz="4000" b="1" dirty="0"/>
              <a:t>or 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Summary of Education 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Highlights of Experience, 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Synopsis of Qualifications, 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Professional Expertise</a:t>
            </a:r>
            <a:r>
              <a:rPr lang="en-US" sz="4000" b="1" dirty="0"/>
              <a:t>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5AC85-A1C3-D2E2-D5D7-5004F312E210}"/>
              </a:ext>
            </a:extLst>
          </p:cNvPr>
          <p:cNvSpPr txBox="1"/>
          <p:nvPr/>
        </p:nvSpPr>
        <p:spPr>
          <a:xfrm>
            <a:off x="7104184" y="836391"/>
            <a:ext cx="4952999" cy="44617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 career highlights/qualifications section of a ​resume is an optional customized section of a resume that lists key achievements, skills, traits, and experience relevant to the position for which you are applying. It is also known as a resume summary.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22049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8DF5F3-F204-0A4F-9775-12952D121BB7}"/>
              </a:ext>
            </a:extLst>
          </p:cNvPr>
          <p:cNvSpPr txBox="1"/>
          <p:nvPr/>
        </p:nvSpPr>
        <p:spPr>
          <a:xfrm>
            <a:off x="131553" y="316441"/>
            <a:ext cx="6094562" cy="570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 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alex.morgan@email.com | (555) 123-4567 | Riverside, CA | linkedin.com/in/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Highlights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and tested PCB layouts, improving system efficiency by 15%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IoT-based smart home system integrating Arduino and Raspberry Pi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Strong programming skills in C, C++, Python, and MATLAB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Proven experience in technical documentation and data analysis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Effective team collaborator with project management experience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Summary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Results-driven Electrical Engineering graduate with experience in embedded systems, circuit design, and project execution. Skilled in translating theoretical concepts into practical applications and delivering projects efficiently.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Education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University of California, Riverside — B.S. in Electrical Engineering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Graduated: June 2025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2DA48-07FD-132C-5488-7C5EA98C03A2}"/>
              </a:ext>
            </a:extLst>
          </p:cNvPr>
          <p:cNvSpPr txBox="1"/>
          <p:nvPr/>
        </p:nvSpPr>
        <p:spPr>
          <a:xfrm>
            <a:off x="6433149" y="738327"/>
            <a:ext cx="6094562" cy="5381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Experience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Intern —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TechCore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Solutions, Irvine, CA (June 2024 – Sept 2024)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and tested PCB layouts using Altium Designer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Assisted in debugging embedded systems using C/C++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Collaborated with teams to improve product efficiency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Engineering Assistant — UCR Research Lab, Riverside, CA (Sept 2023 – June 2024)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Supported research in sensor networks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Conducted data analysis using MATLAB and Python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Prepared technical documentation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Projects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Smart Home Automation System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IoT-based system for automation and monitoring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Autonomous Line-Following Robot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control algorithms and sensor integration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Skills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Programming: C, C++, Python, MATLAB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Tools: Altium Designer,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LTspice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SolidWorks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Other: Project Management, Technical Writing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59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400" b="1" i="1" u="sng" dirty="0">
                <a:solidFill>
                  <a:srgbClr val="C00000"/>
                </a:solidFill>
              </a:rPr>
              <a:t>Highlights Section</a:t>
            </a:r>
            <a:r>
              <a:rPr lang="en-US" sz="4400" b="1" u="sng" dirty="0"/>
              <a:t> </a:t>
            </a:r>
            <a:r>
              <a:rPr lang="en-US" sz="40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For professionals who are </a:t>
            </a:r>
            <a:r>
              <a:rPr lang="en-US" sz="4000" b="1" dirty="0">
                <a:solidFill>
                  <a:srgbClr val="C00000"/>
                </a:solidFill>
              </a:rPr>
              <a:t>several years </a:t>
            </a:r>
            <a:r>
              <a:rPr lang="en-US" sz="4000" b="1" dirty="0"/>
              <a:t>into their careers. 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The highlights section provides a neat </a:t>
            </a:r>
            <a:r>
              <a:rPr lang="en-US" sz="3600" b="1" dirty="0">
                <a:solidFill>
                  <a:srgbClr val="C00000"/>
                </a:solidFill>
              </a:rPr>
              <a:t>bulleted list </a:t>
            </a:r>
            <a:r>
              <a:rPr lang="en-US" sz="3600" b="1" dirty="0"/>
              <a:t>of your key accomplishments, key areas of expertise, key education and training, and so on.</a:t>
            </a:r>
          </a:p>
        </p:txBody>
      </p:sp>
    </p:spTree>
    <p:extLst>
      <p:ext uri="{BB962C8B-B14F-4D97-AF65-F5344CB8AC3E}">
        <p14:creationId xmlns:p14="http://schemas.microsoft.com/office/powerpoint/2010/main" val="3710885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</a:t>
            </a:r>
            <a:r>
              <a:rPr lang="en-US" sz="4000" b="1" i="1" dirty="0">
                <a:solidFill>
                  <a:srgbClr val="C00000"/>
                </a:solidFill>
              </a:rPr>
              <a:t>functional</a:t>
            </a:r>
            <a:r>
              <a:rPr lang="en-US" sz="4000" b="1" dirty="0"/>
              <a:t> approach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Divides your background into </a:t>
            </a:r>
            <a:r>
              <a:rPr lang="en-US" sz="4000" b="1" dirty="0">
                <a:solidFill>
                  <a:srgbClr val="C00000"/>
                </a:solidFill>
              </a:rPr>
              <a:t>groups</a:t>
            </a:r>
            <a:r>
              <a:rPr lang="en-US" sz="4000" b="1" dirty="0"/>
              <a:t> of related education, training, and experience. 	</a:t>
            </a:r>
          </a:p>
          <a:p>
            <a:pPr lvl="1">
              <a:lnSpc>
                <a:spcPct val="120000"/>
              </a:lnSpc>
            </a:pPr>
            <a:r>
              <a:rPr lang="en-US" sz="3300" dirty="0"/>
              <a:t>Example: Courses you have taken in college on </a:t>
            </a:r>
            <a:r>
              <a:rPr lang="en-US" sz="3300" dirty="0">
                <a:solidFill>
                  <a:srgbClr val="C00000"/>
                </a:solidFill>
              </a:rPr>
              <a:t>project management</a:t>
            </a:r>
            <a:r>
              <a:rPr lang="en-US" sz="3300" dirty="0"/>
              <a:t>, attended professional seminars on the subject, taken lead roles in the management of several projects, and maybe even won an award for your management of a project. </a:t>
            </a:r>
          </a:p>
          <a:p>
            <a:pPr>
              <a:lnSpc>
                <a:spcPct val="150000"/>
              </a:lnSpc>
            </a:pPr>
            <a:r>
              <a:rPr lang="en-US" sz="4400" b="1" dirty="0"/>
              <a:t>All of this could be summarized under the heading </a:t>
            </a:r>
            <a:r>
              <a:rPr lang="en-US" sz="4000" b="1" dirty="0"/>
              <a:t>‘‘Project Management’’ in a functionally organized resume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1712304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</a:t>
            </a:r>
            <a:r>
              <a:rPr lang="en-US" sz="4000" b="1" i="1" dirty="0">
                <a:solidFill>
                  <a:srgbClr val="C00000"/>
                </a:solidFill>
              </a:rPr>
              <a:t>functional</a:t>
            </a:r>
            <a:r>
              <a:rPr lang="en-US" sz="4000" b="1" dirty="0"/>
              <a:t> approach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Strength: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</a:rPr>
              <a:t>Consolidates</a:t>
            </a:r>
            <a:r>
              <a:rPr lang="en-US" sz="4000" b="1" dirty="0"/>
              <a:t> information about each of your key 	qualifications, 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</a:rPr>
              <a:t>Summarizes</a:t>
            </a:r>
            <a:r>
              <a:rPr lang="en-US" sz="4000" b="1" dirty="0"/>
              <a:t> all relevant work experience and education for each qualification.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1772279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The </a:t>
            </a:r>
            <a:r>
              <a:rPr lang="en-US" sz="4000" b="1" i="1" dirty="0">
                <a:solidFill>
                  <a:srgbClr val="C00000"/>
                </a:solidFill>
              </a:rPr>
              <a:t>functional</a:t>
            </a:r>
            <a:r>
              <a:rPr lang="en-US" sz="4000" b="1" dirty="0"/>
              <a:t> approach 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Weakness: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</a:rPr>
              <a:t>Chronology</a:t>
            </a:r>
            <a:r>
              <a:rPr lang="en-US" sz="4000" b="1" dirty="0"/>
              <a:t> of your career is unclear.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4000" b="1" dirty="0"/>
          </a:p>
          <a:p>
            <a:pPr>
              <a:lnSpc>
                <a:spcPct val="100000"/>
              </a:lnSpc>
            </a:pPr>
            <a:r>
              <a:rPr lang="en-US" sz="4000" b="1" dirty="0"/>
              <a:t>Solution: include a </a:t>
            </a:r>
            <a:r>
              <a:rPr lang="en-US" sz="4400" b="1" i="1" u="sng" dirty="0">
                <a:solidFill>
                  <a:srgbClr val="FF0000"/>
                </a:solidFill>
              </a:rPr>
              <a:t>list</a:t>
            </a:r>
            <a:r>
              <a:rPr lang="en-US" sz="4000" b="1" dirty="0"/>
              <a:t> of your experience and education  (no description, just the names and dates)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2338883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9321313-B2E0-4479-62B6-1CBF8A265A17}"/>
              </a:ext>
            </a:extLst>
          </p:cNvPr>
          <p:cNvSpPr txBox="1"/>
          <p:nvPr/>
        </p:nvSpPr>
        <p:spPr>
          <a:xfrm>
            <a:off x="88420" y="0"/>
            <a:ext cx="6094562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600"/>
              </a:spcAft>
            </a:pPr>
            <a:r>
              <a:rPr lang="en-US" sz="20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 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algn="ctr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Riverside, CA | (555) 123-4567 | alex.morgan@email.com | linkedin.com/in/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alexmorgan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 </a:t>
            </a: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Highlights</a:t>
            </a: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and tested PCB layouts, improving system efficiency by 15%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Experience with embedded systems programming (C/C++, Arduino, Raspberry Pi)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Strong background in data analysis using MATLAB and Python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Proven ability to work in teams and deliver technical projects on time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Skilled in technical documentation and engineering communication</a:t>
            </a:r>
          </a:p>
          <a:p>
            <a:pPr marL="0" marR="0">
              <a:spcAft>
                <a:spcPts val="60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Career Snapshot</a:t>
            </a: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Experience:</a:t>
            </a: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Intern —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TechCore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Solutions, Irvine, CA (Jun 2024 – Sep 2024)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Engineering Assistant — UCR Research Lab, Riverside, CA (Sep 2023 – Jun 2024)</a:t>
            </a: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Education:</a:t>
            </a: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B.S. Electrical Engineering — University of California, Riverside (2021 – 2025)</a:t>
            </a:r>
          </a:p>
          <a:p>
            <a:pPr marL="0" marR="0">
              <a:spcAft>
                <a:spcPts val="60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Professional Experience</a:t>
            </a:r>
          </a:p>
          <a:p>
            <a:pPr marL="0" marR="0">
              <a:spcAft>
                <a:spcPts val="600"/>
              </a:spcAft>
            </a:pP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Intern — </a:t>
            </a:r>
            <a:r>
              <a:rPr lang="en-US" sz="1100" b="1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TechCore</a:t>
            </a:r>
            <a:r>
              <a:rPr lang="en-US" sz="11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Solutions, Irvine, CA (Jun 2024 – Sep 2024)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spcAft>
                <a:spcPts val="6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and tested PCB layouts using Altium Designer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Debugged embedded systems using C/C++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Collaborated with teams to improve product performance by 15%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Assisted in prototype development and validation</a:t>
            </a:r>
          </a:p>
          <a:p>
            <a:pPr marL="0" marR="0">
              <a:spcAft>
                <a:spcPts val="600"/>
              </a:spcAft>
            </a:pP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5F3EB9-8CAE-8306-84C3-6EDDC6BE95D2}"/>
              </a:ext>
            </a:extLst>
          </p:cNvPr>
          <p:cNvSpPr txBox="1"/>
          <p:nvPr/>
        </p:nvSpPr>
        <p:spPr>
          <a:xfrm>
            <a:off x="6096000" y="1963663"/>
            <a:ext cx="609456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Engineering Assistant — UCR Research Lab, Riverside, CA (Sep 2023 – Jun 2024)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Supported research in sensor networks and data acquisition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Conducted data analysis using MATLAB and Python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Prepared technical reports and documentation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Assisted in lab setup and testing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Projects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Smart Home Automation System (2024)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IoT-based system using Arduino and Raspberry Pi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Enabled remote monitoring via mobile interface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Improved energy efficiency through automation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Autonomous Line-Following Robot (2023)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control algorithms and sensor integration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Programmed microcontroller in C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Achieved 98% tracking accuracy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Education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University of California, Riverside — B.S. Electrical Engineering (June 2025)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Relevant Coursework: Signals &amp; Systems, Embedded Systems, Digital Design, Control Systems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Skills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Programming: C, C++, Python, MATLAB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Tools: Altium Designer,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LTspice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SolidWorks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Other: Technical Writing, Data Analysis, Project Management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65F91"/>
                </a:solidFill>
                <a:effectLst/>
                <a:uLnTx/>
                <a:uFillTx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Certifications</a:t>
            </a:r>
          </a:p>
          <a:p>
            <a:pPr marL="0" marR="0" lvl="0" indent="0" algn="l" defTabSz="914400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Fundamentals of Engineering (FE) — Expected 2025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Certified LabVIEW Associate Developer (CLAD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81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Objectives Section</a:t>
            </a:r>
            <a:endParaRPr lang="en-US" sz="4000" b="1" dirty="0"/>
          </a:p>
          <a:p>
            <a:pPr lvl="1">
              <a:lnSpc>
                <a:spcPct val="150000"/>
              </a:lnSpc>
            </a:pPr>
            <a:r>
              <a:rPr lang="en-US" sz="3600" b="1" dirty="0"/>
              <a:t>Describes your career and </a:t>
            </a:r>
            <a:r>
              <a:rPr lang="en-US" sz="3600" b="1" dirty="0">
                <a:solidFill>
                  <a:srgbClr val="C00000"/>
                </a:solidFill>
              </a:rPr>
              <a:t>professional focus</a:t>
            </a:r>
            <a:r>
              <a:rPr lang="en-US" sz="3600" b="1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Indicates the type of </a:t>
            </a:r>
            <a:r>
              <a:rPr lang="en-US" sz="3600" b="1" dirty="0">
                <a:solidFill>
                  <a:srgbClr val="C00000"/>
                </a:solidFill>
              </a:rPr>
              <a:t>work </a:t>
            </a:r>
            <a:r>
              <a:rPr lang="en-US" sz="3600" b="1" dirty="0"/>
              <a:t>you want to do, 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Indicates the type of </a:t>
            </a:r>
            <a:r>
              <a:rPr lang="en-US" sz="3600" b="1" dirty="0">
                <a:solidFill>
                  <a:srgbClr val="C00000"/>
                </a:solidFill>
              </a:rPr>
              <a:t>position</a:t>
            </a:r>
            <a:r>
              <a:rPr lang="en-US" sz="3600" b="1" dirty="0"/>
              <a:t> you seek,  and the type of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600" b="1" dirty="0"/>
              <a:t>	organization you want to work for</a:t>
            </a:r>
          </a:p>
          <a:p>
            <a:pPr lvl="1">
              <a:lnSpc>
                <a:spcPct val="150000"/>
              </a:lnSpc>
            </a:pPr>
            <a:endParaRPr lang="en-US" sz="3600" b="1" dirty="0"/>
          </a:p>
          <a:p>
            <a:pPr lvl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Include </a:t>
            </a:r>
            <a:r>
              <a:rPr lang="en-US" sz="3600" b="1" dirty="0"/>
              <a:t>an Objective Section or not?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479085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Objectives Section</a:t>
            </a:r>
            <a:endParaRPr lang="en-US" sz="4000" b="1" dirty="0"/>
          </a:p>
          <a:p>
            <a:pPr lvl="1">
              <a:lnSpc>
                <a:spcPct val="150000"/>
              </a:lnSpc>
            </a:pPr>
            <a:r>
              <a:rPr lang="en-US" sz="3600" b="1" dirty="0"/>
              <a:t>Must be short, not more than </a:t>
            </a:r>
            <a:r>
              <a:rPr lang="en-US" sz="3600" b="1" dirty="0">
                <a:solidFill>
                  <a:srgbClr val="C00000"/>
                </a:solidFill>
              </a:rPr>
              <a:t>two or three </a:t>
            </a:r>
            <a:r>
              <a:rPr lang="en-US" sz="3600" b="1" dirty="0"/>
              <a:t>lines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Must be specific</a:t>
            </a:r>
          </a:p>
          <a:p>
            <a:pPr lvl="1">
              <a:lnSpc>
                <a:spcPct val="150000"/>
              </a:lnSpc>
            </a:pPr>
            <a:r>
              <a:rPr lang="en-US" sz="3600" b="1" i="1" dirty="0"/>
              <a:t>Weak objectives statement</a:t>
            </a:r>
            <a:r>
              <a:rPr lang="en-US" sz="3600" b="1" dirty="0"/>
              <a:t>: </a:t>
            </a:r>
            <a:r>
              <a:rPr lang="en-US" sz="3600" dirty="0"/>
              <a:t>Seeking a challenging, rewarding career with a dynamic upscale company where I will have ample room for professional and personal growth.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783376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Objectives Section</a:t>
            </a:r>
            <a:endParaRPr lang="en-US" sz="4000" b="1" dirty="0"/>
          </a:p>
          <a:p>
            <a:pPr lvl="1">
              <a:lnSpc>
                <a:spcPct val="150000"/>
              </a:lnSpc>
            </a:pPr>
            <a:r>
              <a:rPr lang="en-US" sz="3600" b="1" i="1" dirty="0"/>
              <a:t>Improved objectives statement: </a:t>
            </a:r>
            <a:r>
              <a:rPr lang="en-US" sz="3600" b="1" dirty="0"/>
              <a:t>Construction engineer seeking position in HVAC design and energy calculation for residential and commercial structures.</a:t>
            </a:r>
            <a:endParaRPr lang="en-US" sz="3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171193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Objectives Section</a:t>
            </a:r>
            <a:endParaRPr lang="en-US" sz="4000" b="1" dirty="0"/>
          </a:p>
          <a:p>
            <a:pPr lvl="1"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Include </a:t>
            </a:r>
            <a:r>
              <a:rPr lang="en-US" sz="3600" b="1" dirty="0"/>
              <a:t>an Objective Section </a:t>
            </a:r>
            <a:r>
              <a:rPr lang="en-US" sz="3600" b="1" dirty="0">
                <a:solidFill>
                  <a:srgbClr val="C00000"/>
                </a:solidFill>
              </a:rPr>
              <a:t>or not</a:t>
            </a:r>
            <a:r>
              <a:rPr lang="en-US" sz="3600" b="1" dirty="0"/>
              <a:t>? 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It can narrow your opportunities.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It depends to the type of company and specifications of the job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617593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Memberships and Licenses</a:t>
            </a:r>
            <a:r>
              <a:rPr lang="en-US" sz="4000" b="1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list of professional organizations and licenses. </a:t>
            </a:r>
          </a:p>
          <a:p>
            <a:pPr>
              <a:lnSpc>
                <a:spcPct val="150000"/>
              </a:lnSpc>
            </a:pPr>
            <a:r>
              <a:rPr lang="en-US" sz="4000" b="1" i="1" dirty="0">
                <a:solidFill>
                  <a:srgbClr val="C00000"/>
                </a:solidFill>
              </a:rPr>
              <a:t>Specialized Equipment and Knowledge</a:t>
            </a:r>
            <a:r>
              <a:rPr lang="en-US" sz="4000" b="1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3600" b="1" dirty="0"/>
              <a:t>Itemizes technical knowledge. </a:t>
            </a:r>
          </a:p>
          <a:p>
            <a:pPr lvl="2">
              <a:lnSpc>
                <a:spcPct val="150000"/>
              </a:lnSpc>
            </a:pPr>
            <a:endParaRPr lang="en-US" sz="3600" b="1" dirty="0"/>
          </a:p>
          <a:p>
            <a:pPr lvl="2">
              <a:lnSpc>
                <a:spcPct val="150000"/>
              </a:lnSpc>
            </a:pPr>
            <a:r>
              <a:rPr lang="en-US" sz="3600" b="1" dirty="0"/>
              <a:t>For example, computer specialists may list the hardware and software they know. </a:t>
            </a:r>
          </a:p>
          <a:p>
            <a:pPr lvl="2">
              <a:lnSpc>
                <a:spcPct val="150000"/>
              </a:lnSpc>
            </a:pPr>
            <a:r>
              <a:rPr lang="en-US" sz="3200" b="1" dirty="0"/>
              <a:t>Electrical engineers may list their skills in such areas as analog circuit and signal analysis as well as digital and control systems.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2193994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2192000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/>
              <a:t>Create sections based on your own achievements: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If you have published articles in professional journals, create a </a:t>
            </a:r>
            <a:r>
              <a:rPr lang="en-US" sz="3200" dirty="0">
                <a:solidFill>
                  <a:srgbClr val="C00000"/>
                </a:solidFill>
              </a:rPr>
              <a:t>publications</a:t>
            </a:r>
            <a:r>
              <a:rPr lang="en-US" sz="3200" dirty="0"/>
              <a:t> section.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If you’ve received </a:t>
            </a:r>
            <a:r>
              <a:rPr lang="en-US" sz="3200" dirty="0">
                <a:solidFill>
                  <a:srgbClr val="FF0000"/>
                </a:solidFill>
              </a:rPr>
              <a:t>honors and awards</a:t>
            </a:r>
            <a:r>
              <a:rPr lang="en-US" sz="3200" dirty="0"/>
              <a:t>, create a section for that.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If you have received </a:t>
            </a:r>
            <a:r>
              <a:rPr lang="en-US" sz="3200" dirty="0">
                <a:solidFill>
                  <a:srgbClr val="FF0000"/>
                </a:solidFill>
              </a:rPr>
              <a:t>patents</a:t>
            </a:r>
            <a:r>
              <a:rPr lang="en-US" sz="3200" dirty="0"/>
              <a:t>, list those in their own section.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If you have various </a:t>
            </a:r>
            <a:r>
              <a:rPr lang="en-US" sz="3200" dirty="0">
                <a:solidFill>
                  <a:srgbClr val="FF0000"/>
                </a:solidFill>
              </a:rPr>
              <a:t>security clearances</a:t>
            </a:r>
            <a:r>
              <a:rPr lang="en-US" sz="3200" dirty="0"/>
              <a:t>, list them. </a:t>
            </a:r>
          </a:p>
          <a:p>
            <a:pPr lvl="1">
              <a:lnSpc>
                <a:spcPct val="100000"/>
              </a:lnSpc>
            </a:pPr>
            <a:endParaRPr lang="en-US" sz="3200" b="1" dirty="0"/>
          </a:p>
          <a:p>
            <a:pPr>
              <a:lnSpc>
                <a:spcPct val="100000"/>
              </a:lnSpc>
            </a:pPr>
            <a:r>
              <a:rPr lang="en-US" sz="4000" b="1" dirty="0"/>
              <a:t>The idea is to design the resume so that it emphasizes 	your best and most important qualifications.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1973487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304DDE9-5AC6-6D6E-6FFC-7097E829E2AD}"/>
              </a:ext>
            </a:extLst>
          </p:cNvPr>
          <p:cNvSpPr txBox="1"/>
          <p:nvPr/>
        </p:nvSpPr>
        <p:spPr>
          <a:xfrm>
            <a:off x="129396" y="117693"/>
            <a:ext cx="1103318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Where to Put These Sections in a Résumé</a:t>
            </a:r>
          </a:p>
          <a:p>
            <a:r>
              <a:rPr lang="en-US" dirty="0"/>
              <a:t>🔹 General Rule</a:t>
            </a:r>
          </a:p>
          <a:p>
            <a:r>
              <a:rPr lang="en-US" dirty="0"/>
              <a:t>•	Place high-impact, job-relevant sections earlier </a:t>
            </a:r>
          </a:p>
          <a:p>
            <a:r>
              <a:rPr lang="en-US" dirty="0"/>
              <a:t>•	Place less critical or supplementary sections later </a:t>
            </a:r>
          </a:p>
          <a:p>
            <a:r>
              <a:rPr lang="en-US" dirty="0"/>
              <a:t>•	Keep the résumé 1 page (students) or 1–2 pages max 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b="1" dirty="0"/>
              <a:t>Recommended Order (Engineering / Technical Resume)</a:t>
            </a:r>
          </a:p>
          <a:p>
            <a:r>
              <a:rPr lang="en-US" dirty="0"/>
              <a:t>Top Section (after Highlights / Summary)</a:t>
            </a:r>
          </a:p>
          <a:p>
            <a:r>
              <a:rPr lang="en-US" b="1" i="1" dirty="0"/>
              <a:t>Use here ONLY if highly relevant</a:t>
            </a:r>
          </a:p>
          <a:p>
            <a:r>
              <a:rPr lang="en-US" dirty="0"/>
              <a:t>1.	Publications (for research / academic / R&amp;D roles) </a:t>
            </a:r>
          </a:p>
          <a:p>
            <a:r>
              <a:rPr lang="en-US" dirty="0"/>
              <a:t>2.	Patents (very strong—can go high if applicable) </a:t>
            </a:r>
          </a:p>
          <a:p>
            <a:r>
              <a:rPr lang="en-US" dirty="0"/>
              <a:t>_______________________________________</a:t>
            </a:r>
          </a:p>
          <a:p>
            <a:r>
              <a:rPr lang="en-US" b="1" dirty="0"/>
              <a:t>Middle Section (after Experience / Projects)</a:t>
            </a:r>
          </a:p>
          <a:p>
            <a:r>
              <a:rPr lang="en-US" dirty="0"/>
              <a:t>Most common placement</a:t>
            </a:r>
          </a:p>
          <a:p>
            <a:r>
              <a:rPr lang="en-US" dirty="0"/>
              <a:t>3.	Honors and Awards </a:t>
            </a:r>
          </a:p>
          <a:p>
            <a:r>
              <a:rPr lang="en-US" dirty="0"/>
              <a:t>•	Scholarships </a:t>
            </a:r>
          </a:p>
          <a:p>
            <a:r>
              <a:rPr lang="en-US" dirty="0"/>
              <a:t>•	Dean’s list </a:t>
            </a:r>
          </a:p>
          <a:p>
            <a:r>
              <a:rPr lang="en-US" dirty="0"/>
              <a:t>•	Competitions </a:t>
            </a:r>
          </a:p>
          <a:p>
            <a:r>
              <a:rPr lang="en-US" dirty="0"/>
              <a:t>•	Fellowships 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b="1" dirty="0"/>
              <a:t>Bottom Section (near Skills / Certifications)</a:t>
            </a:r>
          </a:p>
          <a:p>
            <a:r>
              <a:rPr lang="en-US" dirty="0"/>
              <a:t>Supporting information</a:t>
            </a:r>
          </a:p>
          <a:p>
            <a:r>
              <a:rPr lang="en-US" dirty="0"/>
              <a:t>4.	Security Clearances </a:t>
            </a:r>
          </a:p>
          <a:p>
            <a:r>
              <a:rPr lang="en-US" dirty="0"/>
              <a:t>•	……..</a:t>
            </a:r>
          </a:p>
        </p:txBody>
      </p:sp>
    </p:spTree>
    <p:extLst>
      <p:ext uri="{BB962C8B-B14F-4D97-AF65-F5344CB8AC3E}">
        <p14:creationId xmlns:p14="http://schemas.microsoft.com/office/powerpoint/2010/main" val="727551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7472"/>
            <a:ext cx="12192000" cy="651052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6400" b="1" dirty="0"/>
              <a:t>For the </a:t>
            </a:r>
            <a:r>
              <a:rPr lang="en-US" sz="6400" b="1" dirty="0">
                <a:solidFill>
                  <a:srgbClr val="C00000"/>
                </a:solidFill>
              </a:rPr>
              <a:t>education section</a:t>
            </a:r>
            <a:r>
              <a:rPr lang="en-US" sz="6400" b="1" dirty="0"/>
              <a:t>, here are some ideas: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/>
              <a:t>•	</a:t>
            </a:r>
            <a:r>
              <a:rPr lang="en-US" sz="4800" dirty="0"/>
              <a:t>Name, location, and brief description of the </a:t>
            </a:r>
            <a:r>
              <a:rPr lang="en-US" sz="4800" dirty="0">
                <a:solidFill>
                  <a:srgbClr val="C00000"/>
                </a:solidFill>
              </a:rPr>
              <a:t>educational institution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Your </a:t>
            </a:r>
            <a:r>
              <a:rPr lang="en-US" sz="4800" dirty="0">
                <a:solidFill>
                  <a:srgbClr val="C00000"/>
                </a:solidFill>
              </a:rPr>
              <a:t>major and minors</a:t>
            </a:r>
            <a:r>
              <a:rPr lang="en-US" sz="4800" dirty="0"/>
              <a:t>, grade point average (overall and in your 			major)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</a:t>
            </a:r>
            <a:r>
              <a:rPr lang="en-US" sz="4800" dirty="0">
                <a:solidFill>
                  <a:srgbClr val="C00000"/>
                </a:solidFill>
              </a:rPr>
              <a:t>Major emphasis </a:t>
            </a:r>
            <a:r>
              <a:rPr lang="en-US" sz="4800" dirty="0"/>
              <a:t>of study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[</a:t>
            </a:r>
            <a:r>
              <a:rPr lang="en-US" sz="4800" dirty="0">
                <a:solidFill>
                  <a:srgbClr val="C00000"/>
                </a:solidFill>
              </a:rPr>
              <a:t>Important courses </a:t>
            </a:r>
            <a:r>
              <a:rPr lang="en-US" sz="4800" dirty="0"/>
              <a:t>taken with descriptions]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</a:t>
            </a:r>
            <a:r>
              <a:rPr lang="en-US" sz="4800" dirty="0">
                <a:solidFill>
                  <a:srgbClr val="C00000"/>
                </a:solidFill>
              </a:rPr>
              <a:t>Experience</a:t>
            </a:r>
            <a:r>
              <a:rPr lang="en-US" sz="4800" dirty="0"/>
              <a:t> with technologies, equipment, and technical processes at 		that educational	institution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</a:t>
            </a:r>
            <a:r>
              <a:rPr lang="en-US" sz="4800" dirty="0">
                <a:solidFill>
                  <a:srgbClr val="C00000"/>
                </a:solidFill>
              </a:rPr>
              <a:t>Important projects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</a:t>
            </a:r>
            <a:r>
              <a:rPr lang="en-US" sz="4800" dirty="0">
                <a:solidFill>
                  <a:srgbClr val="C00000"/>
                </a:solidFill>
              </a:rPr>
              <a:t>Awards, memberships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800" dirty="0"/>
              <a:t>• 	Dates of </a:t>
            </a:r>
            <a:r>
              <a:rPr lang="en-US" sz="4800" dirty="0">
                <a:solidFill>
                  <a:srgbClr val="C00000"/>
                </a:solidFill>
              </a:rPr>
              <a:t>enrollment</a:t>
            </a:r>
            <a:r>
              <a:rPr lang="en-US" sz="4800" dirty="0"/>
              <a:t> and </a:t>
            </a:r>
            <a:r>
              <a:rPr lang="en-US" sz="4800" dirty="0">
                <a:solidFill>
                  <a:srgbClr val="C00000"/>
                </a:solidFill>
              </a:rPr>
              <a:t>graduation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3474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/>
              </a:rPr>
              <a:t>Design Components</a:t>
            </a:r>
          </a:p>
        </p:txBody>
      </p:sp>
    </p:spTree>
    <p:extLst>
      <p:ext uri="{BB962C8B-B14F-4D97-AF65-F5344CB8AC3E}">
        <p14:creationId xmlns:p14="http://schemas.microsoft.com/office/powerpoint/2010/main" val="3171816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C6AEB8-F736-C4CC-CBFF-507DD76D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63" y="0"/>
            <a:ext cx="5686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76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7472"/>
            <a:ext cx="12192000" cy="651052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Include </a:t>
            </a:r>
            <a:r>
              <a:rPr lang="en-US" dirty="0">
                <a:solidFill>
                  <a:srgbClr val="C00000"/>
                </a:solidFill>
              </a:rPr>
              <a:t>specific details </a:t>
            </a:r>
            <a:r>
              <a:rPr lang="en-US" dirty="0"/>
              <a:t>about qualifications and background.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Use </a:t>
            </a:r>
            <a:r>
              <a:rPr lang="en-US" dirty="0">
                <a:solidFill>
                  <a:srgbClr val="C00000"/>
                </a:solidFill>
              </a:rPr>
              <a:t>strong action verbs </a:t>
            </a:r>
            <a:r>
              <a:rPr lang="en-US" dirty="0"/>
              <a:t>when presenting details about	qualifications and background:</a:t>
            </a:r>
          </a:p>
          <a:p>
            <a:pPr lvl="2"/>
            <a:r>
              <a:rPr lang="en-US" sz="2800" i="1" dirty="0"/>
              <a:t>designed, developed, coordinated, supervised</a:t>
            </a:r>
            <a:r>
              <a:rPr lang="en-US" sz="2800" dirty="0"/>
              <a:t>, and so on.</a:t>
            </a:r>
          </a:p>
          <a:p>
            <a:pPr marL="914400" lvl="2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• Make sure that the </a:t>
            </a:r>
            <a:r>
              <a:rPr lang="en-US" dirty="0">
                <a:solidFill>
                  <a:srgbClr val="C00000"/>
                </a:solidFill>
              </a:rPr>
              <a:t>different sections </a:t>
            </a:r>
            <a:r>
              <a:rPr lang="en-US" dirty="0"/>
              <a:t>of your resume are </a:t>
            </a:r>
            <a:r>
              <a:rPr lang="en-US" dirty="0">
                <a:solidFill>
                  <a:srgbClr val="C00000"/>
                </a:solidFill>
              </a:rPr>
              <a:t>distinct from each other</a:t>
            </a:r>
            <a:r>
              <a:rPr lang="en-US" dirty="0"/>
              <a:t>; use spacing, ruled lines, and headings.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Present </a:t>
            </a:r>
            <a:r>
              <a:rPr lang="en-US" dirty="0">
                <a:solidFill>
                  <a:srgbClr val="C00000"/>
                </a:solidFill>
              </a:rPr>
              <a:t>education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work experience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reverse</a:t>
            </a:r>
            <a:r>
              <a:rPr lang="en-US" dirty="0"/>
              <a:t> chronological order.</a:t>
            </a:r>
          </a:p>
          <a:p>
            <a:pPr marL="0" indent="0">
              <a:buNone/>
            </a:pPr>
            <a:r>
              <a:rPr lang="en-US" dirty="0"/>
              <a:t> • When referring to your own work, </a:t>
            </a:r>
            <a:r>
              <a:rPr lang="en-US" dirty="0">
                <a:solidFill>
                  <a:srgbClr val="C00000"/>
                </a:solidFill>
              </a:rPr>
              <a:t>omit</a:t>
            </a:r>
            <a:r>
              <a:rPr lang="en-US" dirty="0"/>
              <a:t> </a:t>
            </a:r>
            <a:r>
              <a:rPr lang="en-US" i="1" u="sng" dirty="0">
                <a:solidFill>
                  <a:srgbClr val="C00000"/>
                </a:solidFill>
              </a:rPr>
              <a:t>I</a:t>
            </a:r>
            <a:r>
              <a:rPr lang="en-US" dirty="0"/>
              <a:t>. Instead of writing ‘‘I supervised a team 	of 12 designers </a:t>
            </a:r>
            <a:r>
              <a:rPr lang="en-US" i="1" dirty="0"/>
              <a:t>. . . </a:t>
            </a:r>
            <a:r>
              <a:rPr lang="en-US" dirty="0"/>
              <a:t>,’’ write ‘‘</a:t>
            </a:r>
            <a:r>
              <a:rPr lang="en-US" dirty="0">
                <a:solidFill>
                  <a:srgbClr val="C00000"/>
                </a:solidFill>
              </a:rPr>
              <a:t>Supervised </a:t>
            </a:r>
            <a:r>
              <a:rPr lang="en-US" dirty="0"/>
              <a:t>a team of 12 designers.</a:t>
            </a:r>
            <a:r>
              <a:rPr lang="en-US" i="1" dirty="0"/>
              <a:t>.</a:t>
            </a:r>
            <a:r>
              <a:rPr lang="en-US" dirty="0"/>
              <a:t>’’</a:t>
            </a: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3474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/>
              </a:rPr>
              <a:t>Tips on Writing Resumes</a:t>
            </a:r>
          </a:p>
        </p:txBody>
      </p:sp>
    </p:spTree>
    <p:extLst>
      <p:ext uri="{BB962C8B-B14F-4D97-AF65-F5344CB8AC3E}">
        <p14:creationId xmlns:p14="http://schemas.microsoft.com/office/powerpoint/2010/main" val="4083219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0060"/>
            <a:ext cx="12192000" cy="5727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• Indicate the meanings of </a:t>
            </a:r>
            <a:r>
              <a:rPr lang="en-US" sz="3200" dirty="0">
                <a:solidFill>
                  <a:srgbClr val="C00000"/>
                </a:solidFill>
              </a:rPr>
              <a:t>abbreviations</a:t>
            </a:r>
            <a:r>
              <a:rPr lang="en-US" sz="3200" dirty="0"/>
              <a:t> or 	acronyms. </a:t>
            </a:r>
          </a:p>
          <a:p>
            <a:pPr marL="0" indent="0">
              <a:buNone/>
            </a:pPr>
            <a:r>
              <a:rPr lang="en-US" sz="3200" dirty="0"/>
              <a:t>• Use </a:t>
            </a:r>
            <a:r>
              <a:rPr lang="en-US" sz="3200" dirty="0">
                <a:solidFill>
                  <a:srgbClr val="C00000"/>
                </a:solidFill>
              </a:rPr>
              <a:t>format</a:t>
            </a:r>
            <a:r>
              <a:rPr lang="en-US" sz="3200" dirty="0"/>
              <a:t> consistently.</a:t>
            </a:r>
          </a:p>
          <a:p>
            <a:r>
              <a:rPr lang="en-US" sz="3200" dirty="0"/>
              <a:t> Use </a:t>
            </a:r>
            <a:r>
              <a:rPr lang="en-US" sz="3200" dirty="0">
                <a:solidFill>
                  <a:srgbClr val="C00000"/>
                </a:solidFill>
              </a:rPr>
              <a:t>consistent</a:t>
            </a:r>
            <a:r>
              <a:rPr lang="en-US" sz="3200" dirty="0"/>
              <a:t> margins.</a:t>
            </a:r>
          </a:p>
          <a:p>
            <a:r>
              <a:rPr lang="en-US" sz="3200" dirty="0"/>
              <a:t> Use </a:t>
            </a:r>
            <a:r>
              <a:rPr lang="en-US" sz="3200" dirty="0">
                <a:solidFill>
                  <a:srgbClr val="C00000"/>
                </a:solidFill>
              </a:rPr>
              <a:t>special typography </a:t>
            </a:r>
            <a:r>
              <a:rPr lang="en-US" sz="3200" dirty="0"/>
              <a:t>moderately.</a:t>
            </a:r>
          </a:p>
          <a:p>
            <a:r>
              <a:rPr lang="en-US" sz="3200" dirty="0"/>
              <a:t> Keep resumes as </a:t>
            </a:r>
            <a:r>
              <a:rPr lang="en-US" sz="3200" dirty="0">
                <a:solidFill>
                  <a:srgbClr val="C00000"/>
                </a:solidFill>
              </a:rPr>
              <a:t>short</a:t>
            </a:r>
            <a:r>
              <a:rPr lang="en-US" sz="3200" dirty="0"/>
              <a:t> as possible.</a:t>
            </a:r>
          </a:p>
          <a:p>
            <a:r>
              <a:rPr lang="en-US" sz="3200" dirty="0"/>
              <a:t> Force the resume to </a:t>
            </a:r>
            <a:r>
              <a:rPr lang="en-US" sz="3200" dirty="0">
                <a:solidFill>
                  <a:srgbClr val="C00000"/>
                </a:solidFill>
              </a:rPr>
              <a:t>fill the pages </a:t>
            </a:r>
            <a:r>
              <a:rPr lang="en-US" sz="3200" dirty="0"/>
              <a:t>it 	occupies.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3474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/>
              </a:rPr>
              <a:t>Tips on Writing Resumes</a:t>
            </a:r>
          </a:p>
        </p:txBody>
      </p:sp>
    </p:spTree>
    <p:extLst>
      <p:ext uri="{BB962C8B-B14F-4D97-AF65-F5344CB8AC3E}">
        <p14:creationId xmlns:p14="http://schemas.microsoft.com/office/powerpoint/2010/main" val="1499539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69343"/>
            <a:ext cx="12192000" cy="6288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• If your resume is more than one page, put a </a:t>
            </a:r>
            <a:r>
              <a:rPr lang="en-US" sz="3200" dirty="0">
                <a:solidFill>
                  <a:srgbClr val="C00000"/>
                </a:solidFill>
              </a:rPr>
              <a:t>header</a:t>
            </a:r>
            <a:r>
              <a:rPr lang="en-US" sz="3200" dirty="0"/>
              <a:t> on the second and following pages.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 Omit details on </a:t>
            </a:r>
            <a:r>
              <a:rPr lang="en-US" sz="3200" dirty="0">
                <a:solidFill>
                  <a:srgbClr val="C00000"/>
                </a:solidFill>
              </a:rPr>
              <a:t>age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C00000"/>
                </a:solidFill>
              </a:rPr>
              <a:t>marital status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C00000"/>
                </a:solidFill>
              </a:rPr>
              <a:t>sex</a:t>
            </a:r>
            <a:r>
              <a:rPr lang="en-US" sz="3200" dirty="0"/>
              <a:t>, religion,	handicaps, and other personal  matters. </a:t>
            </a:r>
          </a:p>
          <a:p>
            <a:endParaRPr lang="en-US" sz="3200" dirty="0"/>
          </a:p>
          <a:p>
            <a:r>
              <a:rPr lang="en-US" sz="3200" dirty="0"/>
              <a:t> Don’t include a </a:t>
            </a:r>
            <a:r>
              <a:rPr lang="en-US" sz="3200" dirty="0">
                <a:solidFill>
                  <a:srgbClr val="C00000"/>
                </a:solidFill>
              </a:rPr>
              <a:t>photograph</a:t>
            </a:r>
            <a:r>
              <a:rPr lang="en-US" sz="3200" dirty="0"/>
              <a:t> of yourself.</a:t>
            </a:r>
          </a:p>
          <a:p>
            <a:endParaRPr lang="en-US" sz="3200" dirty="0"/>
          </a:p>
          <a:p>
            <a:r>
              <a:rPr lang="en-US" sz="3200" dirty="0"/>
              <a:t> Don’t omit normal words such as articles (a, an, the).</a:t>
            </a:r>
          </a:p>
          <a:p>
            <a:endParaRPr lang="en-US" sz="3200" dirty="0"/>
          </a:p>
          <a:p>
            <a:r>
              <a:rPr lang="en-US" sz="3200" dirty="0"/>
              <a:t> Avoid </a:t>
            </a:r>
            <a:r>
              <a:rPr lang="en-US" sz="3200" dirty="0">
                <a:solidFill>
                  <a:srgbClr val="C00000"/>
                </a:solidFill>
              </a:rPr>
              <a:t>lengthy paragraphs.</a:t>
            </a:r>
          </a:p>
          <a:p>
            <a:endParaRPr lang="en-US" sz="3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3474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/>
              </a:rPr>
              <a:t>Tips on Writing Resumes</a:t>
            </a:r>
          </a:p>
        </p:txBody>
      </p:sp>
    </p:spTree>
    <p:extLst>
      <p:ext uri="{BB962C8B-B14F-4D97-AF65-F5344CB8AC3E}">
        <p14:creationId xmlns:p14="http://schemas.microsoft.com/office/powerpoint/2010/main" val="770378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7472"/>
            <a:ext cx="12192000" cy="6510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If you are at the beginning of your career as an engineer and 	you have less or no experience: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Cite </a:t>
            </a:r>
            <a:r>
              <a:rPr lang="en-US" dirty="0">
                <a:solidFill>
                  <a:srgbClr val="C00000"/>
                </a:solidFill>
              </a:rPr>
              <a:t>relevant projects </a:t>
            </a:r>
            <a:r>
              <a:rPr lang="en-US" dirty="0"/>
              <a:t>(both in academia and community) you’ve worked on, even if they are </a:t>
            </a:r>
            <a:r>
              <a:rPr lang="en-US" dirty="0">
                <a:solidFill>
                  <a:srgbClr val="C00000"/>
                </a:solidFill>
              </a:rPr>
              <a:t>not ‘‘real’’ </a:t>
            </a:r>
            <a:r>
              <a:rPr lang="en-US" dirty="0"/>
              <a:t>engineering.</a:t>
            </a:r>
          </a:p>
          <a:p>
            <a:pPr marL="0" indent="0">
              <a:buNone/>
            </a:pPr>
            <a:r>
              <a:rPr lang="en-US" dirty="0"/>
              <a:t>• Describe </a:t>
            </a:r>
            <a:r>
              <a:rPr lang="en-US" dirty="0">
                <a:solidFill>
                  <a:srgbClr val="C00000"/>
                </a:solidFill>
              </a:rPr>
              <a:t>college courses </a:t>
            </a:r>
            <a:r>
              <a:rPr lang="en-US" dirty="0"/>
              <a:t>and programs you have been involved in. </a:t>
            </a:r>
          </a:p>
          <a:p>
            <a:r>
              <a:rPr lang="en-US" dirty="0"/>
              <a:t>Write about </a:t>
            </a:r>
            <a:r>
              <a:rPr lang="en-US" dirty="0">
                <a:solidFill>
                  <a:srgbClr val="C00000"/>
                </a:solidFill>
              </a:rPr>
              <a:t>team projects</a:t>
            </a:r>
            <a:r>
              <a:rPr lang="en-US" dirty="0"/>
              <a:t>, senior projects, or reports</a:t>
            </a:r>
          </a:p>
          <a:p>
            <a:pPr marL="0" indent="0">
              <a:buNone/>
            </a:pPr>
            <a:r>
              <a:rPr lang="en-US" dirty="0"/>
              <a:t>• Include </a:t>
            </a:r>
            <a:r>
              <a:rPr lang="en-US" dirty="0">
                <a:solidFill>
                  <a:srgbClr val="C00000"/>
                </a:solidFill>
              </a:rPr>
              <a:t>volunteer work </a:t>
            </a:r>
            <a:r>
              <a:rPr lang="en-US" dirty="0"/>
              <a:t>that has had any trace of engineering to it. (If you’ve not 	done any volunteer work, get to volunteering!)</a:t>
            </a:r>
          </a:p>
          <a:p>
            <a:pPr marL="0" indent="0">
              <a:buNone/>
            </a:pPr>
            <a:r>
              <a:rPr lang="en-US" dirty="0"/>
              <a:t>• List any </a:t>
            </a:r>
            <a:r>
              <a:rPr lang="en-US" dirty="0">
                <a:solidFill>
                  <a:srgbClr val="C00000"/>
                </a:solidFill>
              </a:rPr>
              <a:t>organization</a:t>
            </a:r>
            <a:r>
              <a:rPr lang="en-US" dirty="0"/>
              <a:t>s you have been a member of and </a:t>
            </a:r>
          </a:p>
          <a:p>
            <a:r>
              <a:rPr lang="en-US" dirty="0"/>
              <a:t>Describe any of their activities that have any trace of </a:t>
            </a:r>
            <a:r>
              <a:rPr lang="en-US" dirty="0">
                <a:solidFill>
                  <a:srgbClr val="C00000"/>
                </a:solidFill>
              </a:rPr>
              <a:t>engineering</a:t>
            </a:r>
            <a:r>
              <a:rPr lang="en-US" dirty="0"/>
              <a:t> to 	them. </a:t>
            </a:r>
          </a:p>
          <a:p>
            <a:pPr marL="0" indent="0">
              <a:buNone/>
            </a:pPr>
            <a:r>
              <a:rPr lang="en-US" dirty="0"/>
              <a:t>• Use </a:t>
            </a:r>
            <a:r>
              <a:rPr lang="en-US" dirty="0">
                <a:solidFill>
                  <a:srgbClr val="C00000"/>
                </a:solidFill>
              </a:rPr>
              <a:t>formatting</a:t>
            </a:r>
            <a:r>
              <a:rPr lang="en-US" dirty="0"/>
              <a:t> to spread what information you have to fill out the resume page.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3474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/>
              </a:rPr>
              <a:t>Tips on Writing Resumes</a:t>
            </a:r>
          </a:p>
        </p:txBody>
      </p:sp>
    </p:spTree>
    <p:extLst>
      <p:ext uri="{BB962C8B-B14F-4D97-AF65-F5344CB8AC3E}">
        <p14:creationId xmlns:p14="http://schemas.microsoft.com/office/powerpoint/2010/main" val="1147798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5"/>
            <a:ext cx="4773168" cy="4351338"/>
          </a:xfrm>
        </p:spPr>
        <p:txBody>
          <a:bodyPr/>
          <a:lstStyle/>
          <a:p>
            <a:r>
              <a:rPr lang="en-US" dirty="0"/>
              <a:t>Paragraph-formatting dialog in Microsoft Word.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Before, After, and Line spacing to fine tune the format of your resume and to fill the page, if necessary.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lum bright="12000" contrast="5000"/>
          </a:blip>
          <a:stretch>
            <a:fillRect/>
          </a:stretch>
        </p:blipFill>
        <p:spPr>
          <a:xfrm>
            <a:off x="4559166" y="0"/>
            <a:ext cx="7790742" cy="679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371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9AAF0A-4D5E-ED00-7485-00E9B3D00AAB}"/>
              </a:ext>
            </a:extLst>
          </p:cNvPr>
          <p:cNvSpPr txBox="1"/>
          <p:nvPr/>
        </p:nvSpPr>
        <p:spPr>
          <a:xfrm>
            <a:off x="550985" y="252046"/>
            <a:ext cx="6324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Resume Writing Instructions for a Recent Electrical Engineering Graduate</a:t>
            </a:r>
          </a:p>
          <a:p>
            <a:endParaRPr lang="en-US" b="1" dirty="0"/>
          </a:p>
          <a:p>
            <a:r>
              <a:rPr lang="en-US" b="1" dirty="0"/>
              <a:t>1. Header</a:t>
            </a:r>
          </a:p>
          <a:p>
            <a:r>
              <a:rPr lang="en-US" dirty="0"/>
              <a:t>Include:</a:t>
            </a:r>
          </a:p>
          <a:p>
            <a:r>
              <a:rPr lang="en-US" dirty="0"/>
              <a:t>•	Full name</a:t>
            </a:r>
          </a:p>
          <a:p>
            <a:r>
              <a:rPr lang="en-US" dirty="0"/>
              <a:t>•	Phone number</a:t>
            </a:r>
          </a:p>
          <a:p>
            <a:r>
              <a:rPr lang="en-US" dirty="0"/>
              <a:t>•	Email address</a:t>
            </a:r>
          </a:p>
          <a:p>
            <a:r>
              <a:rPr lang="en-US" dirty="0"/>
              <a:t>•	LinkedIn profile (optional but recommended)</a:t>
            </a:r>
          </a:p>
          <a:p>
            <a:r>
              <a:rPr lang="en-US" dirty="0"/>
              <a:t>•	Portfolio/GitHub (if you have one)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b="1" dirty="0"/>
              <a:t>2. Professional Summary / Objective (2–3 sentences)</a:t>
            </a:r>
          </a:p>
          <a:p>
            <a:endParaRPr lang="en-US" dirty="0"/>
          </a:p>
          <a:p>
            <a:r>
              <a:rPr lang="en-US" dirty="0"/>
              <a:t>A short summary highlighting your degree, areas of interest, key skills, and what you're seeking.</a:t>
            </a:r>
          </a:p>
          <a:p>
            <a:r>
              <a:rPr lang="en-US" i="1" dirty="0"/>
              <a:t>Example:</a:t>
            </a:r>
          </a:p>
          <a:p>
            <a:r>
              <a:rPr lang="en-US" dirty="0"/>
              <a:t>Recent Electrical Engineering graduate with hands-on experience in circuit design, embedded systems, and MATLAB simulations. Eager to apply my skills in a dynamic engineering environment and contribute to innovative electrical solutions.</a:t>
            </a:r>
          </a:p>
          <a:p>
            <a:r>
              <a:rPr lang="en-US" dirty="0"/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58451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B8A49-481B-6107-4042-33895D77981C}"/>
              </a:ext>
            </a:extLst>
          </p:cNvPr>
          <p:cNvSpPr txBox="1"/>
          <p:nvPr/>
        </p:nvSpPr>
        <p:spPr>
          <a:xfrm>
            <a:off x="668215" y="470662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3. Education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List your most recent degree first.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Bachelor of Science in Electrical Engineering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University of XYZ, City, State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Graduation: May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GPA: 3.6/4.0 (if 3.0 or above)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Relevant Coursework (optional):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Digital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Power Electronics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Control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________________________________________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4. Skills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Include both technical and soft skills.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Examples: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Circuit Design (OrCAD,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LTSpice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Embedded Systems (Arduino, Raspberry Pi)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Programming (C, Python, MATLAB)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PCB Design (Altium, Eagle)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Signal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•	Team Collaboration &amp; Communication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9771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280AA-D8FF-65E5-3037-16972FB5A43C}"/>
              </a:ext>
            </a:extLst>
          </p:cNvPr>
          <p:cNvSpPr txBox="1"/>
          <p:nvPr/>
        </p:nvSpPr>
        <p:spPr>
          <a:xfrm>
            <a:off x="1934307" y="335845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Projects (Very Important for New Grads)</a:t>
            </a:r>
          </a:p>
          <a:p>
            <a:r>
              <a:rPr lang="en-US" dirty="0"/>
              <a:t>List academic or personal projects with descriptions and outcomes.</a:t>
            </a:r>
          </a:p>
          <a:p>
            <a:r>
              <a:rPr lang="en-US" i="1" dirty="0"/>
              <a:t>Example:</a:t>
            </a:r>
          </a:p>
          <a:p>
            <a:r>
              <a:rPr lang="en-US" dirty="0"/>
              <a:t>Smart Energy Meter (Senior Design Project)</a:t>
            </a:r>
          </a:p>
          <a:p>
            <a:r>
              <a:rPr lang="en-US" dirty="0"/>
              <a:t>Designed a microcontroller-based energy meter with real-time usage tracking and GSM communication.</a:t>
            </a:r>
          </a:p>
          <a:p>
            <a:r>
              <a:rPr lang="en-US" dirty="0"/>
              <a:t>•	Programmed the system using C++ and Arduino IDE</a:t>
            </a:r>
          </a:p>
          <a:p>
            <a:r>
              <a:rPr lang="en-US" dirty="0"/>
              <a:t>•	Achieved ±2% accuracy compared to commercial meters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b="1" dirty="0"/>
              <a:t>6. Internships / Experience</a:t>
            </a:r>
          </a:p>
          <a:p>
            <a:r>
              <a:rPr lang="en-US" dirty="0"/>
              <a:t>Even part-time or lab assistant roles count.</a:t>
            </a:r>
          </a:p>
          <a:p>
            <a:r>
              <a:rPr lang="en-US" i="1" dirty="0"/>
              <a:t>Example:</a:t>
            </a:r>
          </a:p>
          <a:p>
            <a:r>
              <a:rPr lang="en-US" dirty="0"/>
              <a:t>Electrical Engineering Intern</a:t>
            </a:r>
          </a:p>
          <a:p>
            <a:r>
              <a:rPr lang="en-US" dirty="0"/>
              <a:t>ABC Power Solutions, City, State</a:t>
            </a:r>
          </a:p>
          <a:p>
            <a:r>
              <a:rPr lang="en-US" dirty="0"/>
              <a:t>June 2024 – August 2024</a:t>
            </a:r>
          </a:p>
          <a:p>
            <a:r>
              <a:rPr lang="en-US" dirty="0"/>
              <a:t>•	Assisted in drafting electrical layouts and load calculations</a:t>
            </a:r>
          </a:p>
          <a:p>
            <a:r>
              <a:rPr lang="en-US" dirty="0"/>
              <a:t>•	Used AutoCAD to update single-line diagrams</a:t>
            </a:r>
          </a:p>
          <a:p>
            <a:r>
              <a:rPr lang="en-US" dirty="0"/>
              <a:t>•	Participated in site visits and equipment testing</a:t>
            </a:r>
          </a:p>
          <a:p>
            <a:r>
              <a:rPr lang="en-US" dirty="0"/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518432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B72C3-7B65-38F5-943F-C4D604AE7353}"/>
              </a:ext>
            </a:extLst>
          </p:cNvPr>
          <p:cNvSpPr txBox="1"/>
          <p:nvPr/>
        </p:nvSpPr>
        <p:spPr>
          <a:xfrm>
            <a:off x="1201615" y="84747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7. Certifications (if any)</a:t>
            </a:r>
          </a:p>
          <a:p>
            <a:r>
              <a:rPr lang="en-US" i="1" dirty="0"/>
              <a:t>Examples:</a:t>
            </a:r>
          </a:p>
          <a:p>
            <a:r>
              <a:rPr lang="en-US" dirty="0"/>
              <a:t>•	AutoCAD Electrical Certified Associate</a:t>
            </a:r>
          </a:p>
          <a:p>
            <a:r>
              <a:rPr lang="en-US" dirty="0"/>
              <a:t>•	MATLAB Onramp (MathWorks)</a:t>
            </a:r>
          </a:p>
          <a:p>
            <a:r>
              <a:rPr lang="en-US" dirty="0"/>
              <a:t>•	Coursera: Embedded Systems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b="1" dirty="0"/>
              <a:t>8. Leadership / Extracurriculars (optional)</a:t>
            </a:r>
          </a:p>
          <a:p>
            <a:r>
              <a:rPr lang="en-US" dirty="0"/>
              <a:t>If you participated in clubs, competitions, or volunteered.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President – IEEE Student Chapter</a:t>
            </a:r>
          </a:p>
          <a:p>
            <a:r>
              <a:rPr lang="en-US" dirty="0"/>
              <a:t>•	Organized tech talks and circuit-building workshops</a:t>
            </a:r>
          </a:p>
          <a:p>
            <a:r>
              <a:rPr lang="en-US" dirty="0"/>
              <a:t>•	Increased club participation by 30%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8. Languages (if needed)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547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D6220F-C195-B1AA-BA84-F7C773E63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908" y="146538"/>
            <a:ext cx="11699630" cy="651217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Some useful resources:</a:t>
            </a:r>
          </a:p>
          <a:p>
            <a:pPr algn="l"/>
            <a:endParaRPr lang="en-US" b="1" dirty="0"/>
          </a:p>
          <a:p>
            <a:pPr algn="l"/>
            <a:r>
              <a:rPr lang="en-US" b="1" dirty="0">
                <a:hlinkClick r:id="rId2"/>
              </a:rPr>
              <a:t>https://www.indeed.com/career-advice/resumes-cover-letters/resume-format-guide-with-examples</a:t>
            </a:r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b="1" dirty="0">
                <a:hlinkClick r:id="rId3"/>
              </a:rPr>
              <a:t>https://careercenter.georgetown.edu/major-career-guides/resumes-cover-letters/resume-formatting-tips/</a:t>
            </a:r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b="1" dirty="0">
                <a:solidFill>
                  <a:srgbClr val="C00000"/>
                </a:solidFill>
              </a:rPr>
              <a:t>&gt;&gt;&gt;&gt;</a:t>
            </a:r>
            <a:r>
              <a:rPr lang="en-US" b="1" dirty="0"/>
              <a:t>    </a:t>
            </a:r>
            <a:r>
              <a:rPr lang="en-US" b="1" dirty="0">
                <a:hlinkClick r:id="rId4"/>
              </a:rPr>
              <a:t> https://careercenter.umich.edu/article/resume-resources</a:t>
            </a:r>
            <a:endParaRPr lang="en-US" b="1" dirty="0"/>
          </a:p>
          <a:p>
            <a:pPr algn="l"/>
            <a:endParaRPr lang="en-US" b="1" dirty="0"/>
          </a:p>
          <a:p>
            <a:pPr algn="l"/>
            <a:r>
              <a:rPr lang="en-US" b="1">
                <a:hlinkClick r:id="rId5"/>
              </a:rPr>
              <a:t>https://www.perkins.org/resource/step-step-guide-formatting-your-resume/</a:t>
            </a:r>
            <a:endParaRPr lang="en-US" b="1"/>
          </a:p>
          <a:p>
            <a:pPr algn="l"/>
            <a:endParaRPr lang="en-US" b="1" dirty="0"/>
          </a:p>
          <a:p>
            <a:pPr algn="l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586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• </a:t>
            </a:r>
          </a:p>
          <a:p>
            <a:pPr marL="0" indent="0">
              <a:buNone/>
            </a:pPr>
            <a:r>
              <a:rPr lang="en-US" sz="3600" b="1" dirty="0"/>
              <a:t>Cover letters: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	</a:t>
            </a:r>
            <a:r>
              <a:rPr lang="en-US" sz="4000" dirty="0"/>
              <a:t>You simply announce that a resume is attached,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      Indicate that you are investigating an employment 				opportunity, and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      Specify the position you seek.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Cover letters  </a:t>
            </a:r>
            <a:r>
              <a:rPr lang="en-US" sz="4000" b="1" dirty="0">
                <a:latin typeface="Times New Roman" panose="02020603050405020304"/>
              </a:rPr>
              <a:t>and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  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432747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5078912" y="418012"/>
            <a:ext cx="6007406" cy="6049328"/>
            <a:chOff x="3224" y="0"/>
            <a:chExt cx="4299" cy="4329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3224" y="0"/>
              <a:ext cx="4299" cy="4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4" y="0"/>
              <a:ext cx="4313" cy="4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0" y="1796903"/>
            <a:ext cx="4828032" cy="4147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If the job advertisement asks for resumes only, you can still include this type of letter to identify the position.</a:t>
            </a:r>
          </a:p>
        </p:txBody>
      </p:sp>
    </p:spTree>
    <p:extLst>
      <p:ext uri="{BB962C8B-B14F-4D97-AF65-F5344CB8AC3E}">
        <p14:creationId xmlns:p14="http://schemas.microsoft.com/office/powerpoint/2010/main" val="1557044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dirty="0"/>
              <a:t>• </a:t>
            </a:r>
          </a:p>
          <a:p>
            <a:pPr marL="0" indent="0">
              <a:buNone/>
            </a:pPr>
            <a:r>
              <a:rPr lang="en-US" sz="3600" b="1" dirty="0"/>
              <a:t>Cover letters: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	</a:t>
            </a:r>
            <a:r>
              <a:rPr lang="en-US" sz="4000" dirty="0"/>
              <a:t>The cover letter is certainly easier to write, but it 	doesn’t do anything for you.</a:t>
            </a:r>
          </a:p>
          <a:p>
            <a:pPr>
              <a:lnSpc>
                <a:spcPct val="150000"/>
              </a:lnSpc>
            </a:pP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If a </a:t>
            </a:r>
            <a:r>
              <a:rPr lang="en-US" sz="4000" dirty="0">
                <a:solidFill>
                  <a:srgbClr val="FF0000"/>
                </a:solidFill>
              </a:rPr>
              <a:t>full application letter </a:t>
            </a:r>
            <a:r>
              <a:rPr lang="en-US" sz="4000" dirty="0"/>
              <a:t>is expected, sending only a </a:t>
            </a:r>
            <a:r>
              <a:rPr lang="en-US" sz="4000" dirty="0">
                <a:solidFill>
                  <a:srgbClr val="FF0000"/>
                </a:solidFill>
              </a:rPr>
              <a:t>cover 	letter </a:t>
            </a:r>
            <a:r>
              <a:rPr lang="en-US" sz="4000" dirty="0"/>
              <a:t>makes you seem noncommittal or even indifferent.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Cover letters  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and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  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17350567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The function of the </a:t>
            </a:r>
            <a:r>
              <a:rPr lang="en-US" sz="4000" dirty="0">
                <a:solidFill>
                  <a:srgbClr val="FF0000"/>
                </a:solidFill>
              </a:rPr>
              <a:t>application letter </a:t>
            </a:r>
            <a:r>
              <a:rPr lang="en-US" sz="4000" dirty="0"/>
              <a:t>is: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To </a:t>
            </a:r>
            <a:r>
              <a:rPr lang="en-US" sz="4000" dirty="0">
                <a:solidFill>
                  <a:srgbClr val="FF0000"/>
                </a:solidFill>
              </a:rPr>
              <a:t>introduce you </a:t>
            </a:r>
            <a:r>
              <a:rPr lang="en-US" sz="4000" dirty="0"/>
              <a:t>to the prospective employer,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To state the </a:t>
            </a:r>
            <a:r>
              <a:rPr lang="en-US" sz="4000" dirty="0">
                <a:solidFill>
                  <a:srgbClr val="FF0000"/>
                </a:solidFill>
              </a:rPr>
              <a:t>purpose of the letter </a:t>
            </a:r>
            <a:r>
              <a:rPr lang="en-US" sz="4000" dirty="0"/>
              <a:t>(to seek an </a:t>
            </a:r>
            <a:r>
              <a:rPr lang="en-US" sz="4000" dirty="0">
                <a:solidFill>
                  <a:srgbClr val="FF0000"/>
                </a:solidFill>
              </a:rPr>
              <a:t>interview</a:t>
            </a:r>
            <a:r>
              <a:rPr lang="en-US" sz="4000" dirty="0"/>
              <a:t>),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To </a:t>
            </a:r>
            <a:r>
              <a:rPr lang="en-US" sz="4000" dirty="0">
                <a:solidFill>
                  <a:srgbClr val="FF0000"/>
                </a:solidFill>
              </a:rPr>
              <a:t>identify the position </a:t>
            </a:r>
            <a:r>
              <a:rPr lang="en-US" sz="4000" dirty="0"/>
              <a:t>you are inquiring about, and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To summarize your </a:t>
            </a:r>
            <a:r>
              <a:rPr lang="en-US" sz="4000" dirty="0">
                <a:solidFill>
                  <a:srgbClr val="FF0000"/>
                </a:solidFill>
              </a:rPr>
              <a:t>relevant background </a:t>
            </a:r>
            <a:r>
              <a:rPr lang="en-US" sz="4000" dirty="0"/>
              <a:t>and 	qualifications..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21269628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4000" i="1" dirty="0">
                <a:solidFill>
                  <a:srgbClr val="C00000"/>
                </a:solidFill>
              </a:rPr>
              <a:t>First Paragraph</a:t>
            </a:r>
            <a:r>
              <a:rPr lang="en-US" sz="4000" dirty="0"/>
              <a:t>:  Should be brief paragraph to: 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State the </a:t>
            </a:r>
            <a:r>
              <a:rPr lang="en-US" sz="3600" dirty="0">
                <a:solidFill>
                  <a:srgbClr val="C00000"/>
                </a:solidFill>
              </a:rPr>
              <a:t>purpose of the letter </a:t>
            </a:r>
            <a:r>
              <a:rPr lang="en-US" sz="3600" dirty="0"/>
              <a:t>(to inquire about employment); 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State how you </a:t>
            </a:r>
            <a:r>
              <a:rPr lang="en-US" sz="3600" dirty="0">
                <a:solidFill>
                  <a:srgbClr val="C00000"/>
                </a:solidFill>
              </a:rPr>
              <a:t>found out about the opening</a:t>
            </a:r>
            <a:r>
              <a:rPr lang="en-US" sz="3600" dirty="0"/>
              <a:t>, if applicable;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Say something that will </a:t>
            </a:r>
            <a:r>
              <a:rPr lang="en-US" sz="3600" dirty="0">
                <a:solidFill>
                  <a:srgbClr val="C00000"/>
                </a:solidFill>
              </a:rPr>
              <a:t>catch the readers’ attention </a:t>
            </a:r>
            <a:r>
              <a:rPr lang="en-US" sz="3600" dirty="0"/>
              <a:t>and make them want to continue reading. </a:t>
            </a:r>
          </a:p>
          <a:p>
            <a:pPr>
              <a:lnSpc>
                <a:spcPct val="150000"/>
              </a:lnSpc>
            </a:pP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sz="4000" dirty="0"/>
              <a:t> Keep this first paragraph short, </a:t>
            </a:r>
            <a:r>
              <a:rPr lang="en-US" sz="4000" dirty="0">
                <a:solidFill>
                  <a:srgbClr val="C00000"/>
                </a:solidFill>
              </a:rPr>
              <a:t>four lines at the maximum</a:t>
            </a:r>
            <a:r>
              <a:rPr lang="en-US" sz="4000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7314588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4000" dirty="0"/>
              <a:t>In this </a:t>
            </a:r>
            <a:r>
              <a:rPr lang="en-US" sz="4000" dirty="0">
                <a:solidFill>
                  <a:srgbClr val="C00000"/>
                </a:solidFill>
              </a:rPr>
              <a:t>first paragraph</a:t>
            </a:r>
            <a:r>
              <a:rPr lang="en-US" sz="4000" dirty="0"/>
              <a:t>, consider using one of several common tricks to catch your readers’ attention: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State </a:t>
            </a:r>
            <a:r>
              <a:rPr lang="en-US" sz="3600" dirty="0">
                <a:solidFill>
                  <a:srgbClr val="C00000"/>
                </a:solidFill>
              </a:rPr>
              <a:t>something specific </a:t>
            </a:r>
            <a:r>
              <a:rPr lang="en-US" sz="3600" dirty="0"/>
              <a:t>about your </a:t>
            </a:r>
            <a:r>
              <a:rPr lang="en-US" sz="3600" dirty="0">
                <a:solidFill>
                  <a:srgbClr val="C00000"/>
                </a:solidFill>
              </a:rPr>
              <a:t>qualifications</a:t>
            </a:r>
            <a:r>
              <a:rPr lang="en-US" sz="3600" dirty="0"/>
              <a:t> that makes you 	the right candidate for the position.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Cite </a:t>
            </a:r>
            <a:r>
              <a:rPr lang="en-US" sz="3600" dirty="0">
                <a:solidFill>
                  <a:srgbClr val="C00000"/>
                </a:solidFill>
              </a:rPr>
              <a:t>information about the company </a:t>
            </a:r>
            <a:r>
              <a:rPr lang="en-US" sz="3600" dirty="0"/>
              <a:t>to which you are applying.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3600" dirty="0"/>
          </a:p>
          <a:p>
            <a:pPr lvl="1">
              <a:lnSpc>
                <a:spcPct val="150000"/>
              </a:lnSpc>
            </a:pPr>
            <a:r>
              <a:rPr lang="en-US" sz="3600" dirty="0"/>
              <a:t>Say something </a:t>
            </a:r>
            <a:r>
              <a:rPr lang="en-US" sz="3600" dirty="0">
                <a:solidFill>
                  <a:srgbClr val="C00000"/>
                </a:solidFill>
              </a:rPr>
              <a:t>enthusiastic or energetic </a:t>
            </a:r>
            <a:r>
              <a:rPr lang="en-US" sz="3600" dirty="0"/>
              <a:t>about the kind of work you 	want to do, the kind of organization you want to work for.</a:t>
            </a:r>
          </a:p>
          <a:p>
            <a:pPr>
              <a:lnSpc>
                <a:spcPct val="150000"/>
              </a:lnSpc>
            </a:pPr>
            <a:endParaRPr lang="en-US" sz="4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20175436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i="1" dirty="0">
                <a:solidFill>
                  <a:srgbClr val="C00000"/>
                </a:solidFill>
              </a:rPr>
              <a:t>Middle Paragraphs</a:t>
            </a:r>
            <a:r>
              <a:rPr lang="en-US" sz="4000" dirty="0"/>
              <a:t>. 	Discuss your qualifications that 	relate specifically to the employment you seek.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</a:t>
            </a:r>
            <a:r>
              <a:rPr lang="en-US" sz="4000" i="1" dirty="0">
                <a:solidFill>
                  <a:srgbClr val="C00000"/>
                </a:solidFill>
              </a:rPr>
              <a:t>Chronological approach.</a:t>
            </a:r>
            <a:r>
              <a:rPr lang="en-US" sz="4000" i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</a:t>
            </a:r>
            <a:r>
              <a:rPr lang="en-US" sz="4000" i="1" dirty="0">
                <a:solidFill>
                  <a:srgbClr val="C00000"/>
                </a:solidFill>
              </a:rPr>
              <a:t>Functional approach.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4035357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4700" b="1" i="1" dirty="0">
                <a:solidFill>
                  <a:srgbClr val="C00000"/>
                </a:solidFill>
              </a:rPr>
              <a:t>Final Paragraphs.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 Wrap it up!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Mention that the </a:t>
            </a:r>
            <a:r>
              <a:rPr lang="en-US" sz="4000" dirty="0">
                <a:solidFill>
                  <a:srgbClr val="C00000"/>
                </a:solidFill>
              </a:rPr>
              <a:t>resume</a:t>
            </a:r>
            <a:r>
              <a:rPr lang="en-US" sz="4000" dirty="0"/>
              <a:t> is enclosed;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Urge the prospective employer to </a:t>
            </a:r>
            <a:r>
              <a:rPr lang="en-US" sz="4000" dirty="0">
                <a:solidFill>
                  <a:srgbClr val="C00000"/>
                </a:solidFill>
              </a:rPr>
              <a:t>get in touch</a:t>
            </a:r>
            <a:r>
              <a:rPr lang="en-US" sz="4000" dirty="0"/>
              <a:t>;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Facilitate arrangements for an </a:t>
            </a:r>
            <a:r>
              <a:rPr lang="en-US" sz="4000" dirty="0">
                <a:solidFill>
                  <a:srgbClr val="C00000"/>
                </a:solidFill>
              </a:rPr>
              <a:t>interview</a:t>
            </a:r>
            <a:r>
              <a:rPr lang="en-US" sz="4000" dirty="0"/>
              <a:t>; and 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Find some parting </a:t>
            </a:r>
            <a:r>
              <a:rPr lang="en-US" sz="4000" dirty="0">
                <a:solidFill>
                  <a:srgbClr val="C00000"/>
                </a:solidFill>
              </a:rPr>
              <a:t>encouraging, enthusiastic comment </a:t>
            </a:r>
            <a:r>
              <a:rPr lang="en-US" sz="4000" dirty="0"/>
              <a:t>to make, 	such as your strong interest in the employment, the company, 	the profession, and so 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Full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12696279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917168" y="210052"/>
            <a:ext cx="10081758" cy="6005645"/>
            <a:chOff x="191" y="0"/>
            <a:chExt cx="7153" cy="4261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1" y="0"/>
              <a:ext cx="7153" cy="4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" y="0"/>
              <a:ext cx="7169" cy="4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53462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195389" y="673543"/>
            <a:ext cx="9594532" cy="5471217"/>
            <a:chOff x="177" y="255"/>
            <a:chExt cx="6990" cy="3986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77" y="255"/>
              <a:ext cx="6990" cy="3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6149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" y="255"/>
              <a:ext cx="7006" cy="4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4061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</a:rPr>
              <a:t>Single-space</a:t>
            </a:r>
            <a:r>
              <a:rPr lang="en-US" dirty="0"/>
              <a:t> the individual components (never double-space). </a:t>
            </a:r>
            <a:r>
              <a:rPr lang="en-US" dirty="0">
                <a:solidFill>
                  <a:srgbClr val="C00000"/>
                </a:solidFill>
              </a:rPr>
              <a:t>Double-space</a:t>
            </a:r>
            <a:r>
              <a:rPr lang="en-US" dirty="0"/>
              <a:t> between the components.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C00000"/>
                </a:solidFill>
              </a:rPr>
              <a:t>Do not indent </a:t>
            </a:r>
            <a:r>
              <a:rPr lang="en-US" dirty="0"/>
              <a:t>the first line of paragraphs of the body text.</a:t>
            </a:r>
          </a:p>
          <a:p>
            <a:pPr>
              <a:lnSpc>
                <a:spcPct val="150000"/>
              </a:lnSpc>
            </a:pPr>
            <a:r>
              <a:rPr lang="en-US" dirty="0"/>
              <a:t> Carefully position your letter on the page.</a:t>
            </a:r>
          </a:p>
          <a:p>
            <a:pPr>
              <a:lnSpc>
                <a:spcPct val="150000"/>
              </a:lnSpc>
            </a:pPr>
            <a:r>
              <a:rPr lang="en-US" dirty="0"/>
              <a:t> Avoid </a:t>
            </a:r>
            <a:r>
              <a:rPr lang="en-US" dirty="0">
                <a:solidFill>
                  <a:srgbClr val="C00000"/>
                </a:solidFill>
              </a:rPr>
              <a:t>dense</a:t>
            </a:r>
            <a:r>
              <a:rPr lang="en-US" dirty="0"/>
              <a:t> paragraphs.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Format of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28553179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Don’t be </a:t>
            </a:r>
            <a:r>
              <a:rPr lang="en-US" dirty="0">
                <a:solidFill>
                  <a:srgbClr val="C00000"/>
                </a:solidFill>
              </a:rPr>
              <a:t>overly formal</a:t>
            </a:r>
            <a:r>
              <a:rPr lang="en-US" dirty="0"/>
              <a:t>, overly cautious.</a:t>
            </a:r>
          </a:p>
          <a:p>
            <a:pPr>
              <a:lnSpc>
                <a:spcPct val="150000"/>
              </a:lnSpc>
            </a:pPr>
            <a:r>
              <a:rPr lang="en-US" dirty="0"/>
              <a:t> Don’t show yourself </a:t>
            </a:r>
            <a:r>
              <a:rPr lang="en-US" dirty="0">
                <a:solidFill>
                  <a:srgbClr val="C00000"/>
                </a:solidFill>
              </a:rPr>
              <a:t>overqualified.</a:t>
            </a:r>
          </a:p>
          <a:p>
            <a:pPr>
              <a:lnSpc>
                <a:spcPct val="150000"/>
              </a:lnSpc>
            </a:pPr>
            <a:r>
              <a:rPr lang="en-US" dirty="0"/>
              <a:t>Don’t write </a:t>
            </a:r>
            <a:r>
              <a:rPr lang="en-US" dirty="0">
                <a:solidFill>
                  <a:srgbClr val="C00000"/>
                </a:solidFill>
              </a:rPr>
              <a:t>flattering</a:t>
            </a:r>
            <a:r>
              <a:rPr lang="en-US" dirty="0"/>
              <a:t> stuff about the prospective 	employer</a:t>
            </a:r>
          </a:p>
          <a:p>
            <a:pPr>
              <a:lnSpc>
                <a:spcPct val="150000"/>
              </a:lnSpc>
            </a:pPr>
            <a:r>
              <a:rPr lang="en-US" dirty="0"/>
              <a:t>Don’t show yourself </a:t>
            </a:r>
            <a:r>
              <a:rPr lang="en-US" dirty="0">
                <a:solidFill>
                  <a:srgbClr val="C00000"/>
                </a:solidFill>
              </a:rPr>
              <a:t>hungry</a:t>
            </a:r>
            <a:r>
              <a:rPr lang="en-US" dirty="0"/>
              <a:t>&amp; </a:t>
            </a:r>
            <a:r>
              <a:rPr lang="en-US" dirty="0">
                <a:solidFill>
                  <a:srgbClr val="C00000"/>
                </a:solidFill>
              </a:rPr>
              <a:t>desperate</a:t>
            </a:r>
            <a:r>
              <a:rPr lang="en-US" dirty="0"/>
              <a:t>!</a:t>
            </a:r>
          </a:p>
          <a:p>
            <a:pPr>
              <a:lnSpc>
                <a:spcPct val="150000"/>
              </a:lnSpc>
            </a:pPr>
            <a:r>
              <a:rPr lang="en-US" dirty="0"/>
              <a:t> Avoid the tone that says ‘‘</a:t>
            </a:r>
            <a:r>
              <a:rPr lang="en-US" dirty="0">
                <a:solidFill>
                  <a:srgbClr val="C00000"/>
                </a:solidFill>
              </a:rPr>
              <a:t>I’ll do anything</a:t>
            </a:r>
            <a:r>
              <a:rPr lang="en-US" dirty="0"/>
              <a:t>!’’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Tone in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15492118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12064"/>
            <a:ext cx="12192000" cy="634593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 Avoid diving headlong into the </a:t>
            </a:r>
            <a:r>
              <a:rPr lang="en-US" dirty="0">
                <a:solidFill>
                  <a:srgbClr val="C00000"/>
                </a:solidFill>
              </a:rPr>
              <a:t>details of your background </a:t>
            </a:r>
            <a:r>
              <a:rPr lang="en-US" dirty="0"/>
              <a:t>and qualifications in the very first paragraph.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Get a specific name or department to which to address the letter; avoid the ‘‘</a:t>
            </a:r>
            <a:r>
              <a:rPr lang="en-US" dirty="0">
                <a:solidFill>
                  <a:srgbClr val="C00000"/>
                </a:solidFill>
              </a:rPr>
              <a:t>To Whom It May Concern</a:t>
            </a:r>
            <a:r>
              <a:rPr lang="en-US" dirty="0"/>
              <a:t>’’ syndrome.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standard business letter format </a:t>
            </a:r>
            <a:r>
              <a:rPr lang="en-US" dirty="0"/>
              <a:t>in the application letter.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Keep the letter to </a:t>
            </a:r>
            <a:r>
              <a:rPr lang="en-US" dirty="0">
                <a:solidFill>
                  <a:srgbClr val="C00000"/>
                </a:solidFill>
              </a:rPr>
              <a:t>one page.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Write the letter in terms of the </a:t>
            </a:r>
            <a:r>
              <a:rPr lang="en-US" dirty="0">
                <a:solidFill>
                  <a:srgbClr val="C00000"/>
                </a:solidFill>
              </a:rPr>
              <a:t>prospective employer’s needs </a:t>
            </a:r>
            <a:r>
              <a:rPr lang="en-US" dirty="0"/>
              <a:t>or interests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5120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Tone in Application Letters</a:t>
            </a:r>
          </a:p>
        </p:txBody>
      </p:sp>
    </p:spTree>
    <p:extLst>
      <p:ext uri="{BB962C8B-B14F-4D97-AF65-F5344CB8AC3E}">
        <p14:creationId xmlns:p14="http://schemas.microsoft.com/office/powerpoint/2010/main" val="33773933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3AC85E-2C9B-5CDF-7A03-01F7CC449F2E}"/>
              </a:ext>
            </a:extLst>
          </p:cNvPr>
          <p:cNvSpPr txBox="1"/>
          <p:nvPr/>
        </p:nvSpPr>
        <p:spPr>
          <a:xfrm>
            <a:off x="267419" y="41726"/>
            <a:ext cx="4848046" cy="6774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500"/>
              </a:spcAft>
            </a:pPr>
            <a:r>
              <a:rPr lang="en-US" sz="2600" kern="1400" spc="25" dirty="0">
                <a:solidFill>
                  <a:srgbClr val="17365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ALEXANDER REZA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Graduate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Email: alex.reza@email.com | Phone: (555) 123-4567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LinkedIn: linkedin.com/in/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alexreza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| GitHub: github.com/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alexreza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EDUCATION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B.S. in Electrical Engineering, University of California, Riverside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Expected Graduation: June 2026 | GPA: 3.7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EXPERIENCE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Electrical Engineering Intern, XYZ Technologies (Summer 2025)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Designed multi-layer PCB using Altium, reducing signal noise by 28%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Conducted circuit testing with oscilloscopes and signal generators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Automated MATLAB scripts, reducing testing time by 30%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PROJECTS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Embedded Motor Control System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Developed C-based firmware for ARM microcontroller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Improved efficiency by 22% using optimized control algorithms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- Integrated sensors and real-time feedback systems</a:t>
            </a:r>
          </a:p>
          <a:p>
            <a:pPr marL="0" marR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14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SKILLS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Programming: C, Python, MATLAB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Tools: Altium, </a:t>
            </a:r>
            <a:r>
              <a:rPr lang="en-US" sz="11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LTspice</a:t>
            </a: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, Oscilloscope, Multimeter</a:t>
            </a:r>
            <a:b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</a:br>
            <a:r>
              <a:rPr lang="en-US" sz="11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Hardware: PCB Design, Embedded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1DEAB-6317-2772-534A-41751CE9AAD5}"/>
              </a:ext>
            </a:extLst>
          </p:cNvPr>
          <p:cNvSpPr txBox="1"/>
          <p:nvPr/>
        </p:nvSpPr>
        <p:spPr>
          <a:xfrm>
            <a:off x="6202392" y="276045"/>
            <a:ext cx="5624423" cy="5909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Being bilingual is definitely an asset, especially in engineering roles involving teamwork, documentation, or global collaboration.</a:t>
            </a:r>
          </a:p>
          <a:p>
            <a:r>
              <a:rPr lang="en-US" dirty="0"/>
              <a:t>Where to include it (best options)</a:t>
            </a:r>
          </a:p>
          <a:p>
            <a:r>
              <a:rPr lang="en-US" dirty="0"/>
              <a:t>1. Skills Section (recommended)</a:t>
            </a:r>
          </a:p>
          <a:p>
            <a:r>
              <a:rPr lang="en-US" dirty="0"/>
              <a:t>Most common and clean:</a:t>
            </a:r>
          </a:p>
          <a:p>
            <a:r>
              <a:rPr lang="en-US" dirty="0"/>
              <a:t>•	Languages: English (fluent), Spanish (professional proficiency) 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dirty="0"/>
              <a:t>Add if highly relevant</a:t>
            </a:r>
          </a:p>
          <a:p>
            <a:r>
              <a:rPr lang="en-US" dirty="0"/>
              <a:t>Only if the job benefits directly:</a:t>
            </a:r>
          </a:p>
          <a:p>
            <a:r>
              <a:rPr lang="en-US" dirty="0"/>
              <a:t>•	“Bilingual Electrical Engineering student (English/Spanish) with experience in…” </a:t>
            </a:r>
          </a:p>
          <a:p>
            <a:r>
              <a:rPr lang="en-US" dirty="0"/>
              <a:t>________________________________________</a:t>
            </a:r>
          </a:p>
          <a:p>
            <a:r>
              <a:rPr lang="en-US" dirty="0"/>
              <a:t>3. Experience Section (if used professionally)</a:t>
            </a:r>
          </a:p>
          <a:p>
            <a:r>
              <a:rPr lang="en-US" dirty="0"/>
              <a:t>If language skills were part of the job:</a:t>
            </a:r>
          </a:p>
          <a:p>
            <a:r>
              <a:rPr lang="en-US" dirty="0"/>
              <a:t>•	Collaborated with Spanish-speaking technicians to troubleshoot system failures </a:t>
            </a:r>
          </a:p>
          <a:p>
            <a:r>
              <a:rPr lang="en-US" dirty="0"/>
              <a:t>•	Prepared bilingual technical documentation for international teams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49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3 College Student Resumes That Landed Jobs in 2023">
            <a:extLst>
              <a:ext uri="{FF2B5EF4-FFF2-40B4-BE49-F238E27FC236}">
                <a16:creationId xmlns:a16="http://schemas.microsoft.com/office/drawing/2014/main" id="{4A7BC5BC-020D-A6AF-85D9-9A4579DEF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44450"/>
            <a:ext cx="5316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Sales Leader Resume Template">
            <a:extLst>
              <a:ext uri="{FF2B5EF4-FFF2-40B4-BE49-F238E27FC236}">
                <a16:creationId xmlns:a16="http://schemas.microsoft.com/office/drawing/2014/main" id="{F8574704-9A6E-28B6-C5B4-5DF5B794EE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4544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23FCE-3139-96F0-EA63-003CD7E21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168" y="2540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5051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2438</TotalTime>
  <Words>4601</Words>
  <Application>Microsoft Office PowerPoint</Application>
  <PresentationFormat>Widescreen</PresentationFormat>
  <Paragraphs>505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Arial</vt:lpstr>
      <vt:lpstr>Calibri</vt:lpstr>
      <vt:lpstr>Cambria</vt:lpstr>
      <vt:lpstr>Roboto</vt:lpstr>
      <vt:lpstr>Times New Roman</vt:lpstr>
      <vt:lpstr>TimesTen-Roman</vt:lpstr>
      <vt:lpstr>2_Office Theme</vt:lpstr>
      <vt:lpstr>1_Office Theme</vt:lpstr>
      <vt:lpstr>Resume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Keywords for Resumes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RCCD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RCCD</dc:creator>
  <cp:lastModifiedBy>Tofigh</cp:lastModifiedBy>
  <cp:revision>83</cp:revision>
  <dcterms:created xsi:type="dcterms:W3CDTF">2017-05-16T22:18:58Z</dcterms:created>
  <dcterms:modified xsi:type="dcterms:W3CDTF">2026-05-04T19:33:27Z</dcterms:modified>
</cp:coreProperties>
</file>