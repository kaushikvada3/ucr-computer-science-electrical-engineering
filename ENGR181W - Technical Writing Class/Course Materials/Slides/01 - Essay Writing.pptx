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</p:sldMasterIdLst>
  <p:sldIdLst>
    <p:sldId id="257" r:id="rId4"/>
    <p:sldId id="271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315" r:id="rId13"/>
    <p:sldId id="273" r:id="rId14"/>
    <p:sldId id="262" r:id="rId15"/>
    <p:sldId id="258" r:id="rId16"/>
    <p:sldId id="263" r:id="rId17"/>
    <p:sldId id="264" r:id="rId18"/>
    <p:sldId id="265" r:id="rId19"/>
    <p:sldId id="316" r:id="rId20"/>
    <p:sldId id="266" r:id="rId21"/>
    <p:sldId id="292" r:id="rId22"/>
    <p:sldId id="296" r:id="rId23"/>
    <p:sldId id="272" r:id="rId24"/>
    <p:sldId id="320" r:id="rId25"/>
    <p:sldId id="319" r:id="rId26"/>
    <p:sldId id="334" r:id="rId27"/>
    <p:sldId id="335" r:id="rId28"/>
    <p:sldId id="259" r:id="rId29"/>
    <p:sldId id="260" r:id="rId30"/>
    <p:sldId id="336" r:id="rId31"/>
    <p:sldId id="293" r:id="rId32"/>
    <p:sldId id="294" r:id="rId33"/>
    <p:sldId id="318" r:id="rId34"/>
    <p:sldId id="317" r:id="rId35"/>
    <p:sldId id="337" r:id="rId36"/>
    <p:sldId id="268" r:id="rId37"/>
    <p:sldId id="274" r:id="rId38"/>
    <p:sldId id="267" r:id="rId39"/>
    <p:sldId id="269" r:id="rId40"/>
    <p:sldId id="321" r:id="rId41"/>
    <p:sldId id="270" r:id="rId42"/>
    <p:sldId id="275" r:id="rId43"/>
    <p:sldId id="277" r:id="rId44"/>
    <p:sldId id="312" r:id="rId45"/>
    <p:sldId id="313" r:id="rId46"/>
    <p:sldId id="314" r:id="rId47"/>
    <p:sldId id="322" r:id="rId48"/>
    <p:sldId id="276" r:id="rId49"/>
    <p:sldId id="279" r:id="rId50"/>
    <p:sldId id="295" r:id="rId51"/>
    <p:sldId id="280" r:id="rId52"/>
    <p:sldId id="281" r:id="rId53"/>
    <p:sldId id="283" r:id="rId54"/>
    <p:sldId id="291" r:id="rId55"/>
    <p:sldId id="282" r:id="rId56"/>
    <p:sldId id="297" r:id="rId57"/>
    <p:sldId id="340" r:id="rId58"/>
    <p:sldId id="298" r:id="rId59"/>
    <p:sldId id="299" r:id="rId60"/>
    <p:sldId id="332" r:id="rId61"/>
    <p:sldId id="333" r:id="rId62"/>
    <p:sldId id="323" r:id="rId63"/>
    <p:sldId id="338" r:id="rId64"/>
    <p:sldId id="339" r:id="rId65"/>
    <p:sldId id="324" r:id="rId66"/>
    <p:sldId id="325" r:id="rId67"/>
    <p:sldId id="326" r:id="rId68"/>
    <p:sldId id="327" r:id="rId69"/>
    <p:sldId id="328" r:id="rId70"/>
    <p:sldId id="329" r:id="rId71"/>
    <p:sldId id="330" r:id="rId72"/>
    <p:sldId id="300" r:id="rId73"/>
    <p:sldId id="261" r:id="rId74"/>
    <p:sldId id="301" r:id="rId75"/>
    <p:sldId id="302" r:id="rId76"/>
    <p:sldId id="303" r:id="rId77"/>
    <p:sldId id="304" r:id="rId78"/>
    <p:sldId id="305" r:id="rId79"/>
    <p:sldId id="306" r:id="rId80"/>
    <p:sldId id="307" r:id="rId81"/>
    <p:sldId id="308" r:id="rId82"/>
    <p:sldId id="309" r:id="rId83"/>
    <p:sldId id="310" r:id="rId84"/>
    <p:sldId id="311" r:id="rId85"/>
    <p:sldId id="331" r:id="rId8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FDCD"/>
    <a:srgbClr val="FCF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83" autoAdjust="0"/>
    <p:restoredTop sz="94660"/>
  </p:normalViewPr>
  <p:slideViewPr>
    <p:cSldViewPr snapToGrid="0">
      <p:cViewPr varScale="1">
        <p:scale>
          <a:sx n="65" d="100"/>
          <a:sy n="65" d="100"/>
        </p:scale>
        <p:origin x="182" y="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theme" Target="theme/theme1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5" Type="http://schemas.openxmlformats.org/officeDocument/2006/relationships/slide" Target="slides/slide2.xml"/><Relationship Id="rId90" Type="http://schemas.openxmlformats.org/officeDocument/2006/relationships/tableStyles" Target="tableStyles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slide" Target="slides/slide74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presProps" Target="presProps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A2A6C-DB6D-401A-8EEA-81806C42A99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1E1B2-71C2-4D64-807A-DCCC01D83EF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8230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A2A6C-DB6D-401A-8EEA-81806C42A99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1E1B2-71C2-4D64-807A-DCCC01D83EF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2216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A2A6C-DB6D-401A-8EEA-81806C42A99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1E1B2-71C2-4D64-807A-DCCC01D83EF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6459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A2A6C-DB6D-401A-8EEA-81806C42A99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1E1B2-71C2-4D64-807A-DCCC01D83EF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9136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A2A6C-DB6D-401A-8EEA-81806C42A99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1E1B2-71C2-4D64-807A-DCCC01D83EF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1091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A2A6C-DB6D-401A-8EEA-81806C42A99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1E1B2-71C2-4D64-807A-DCCC01D83EF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9653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A2A6C-DB6D-401A-8EEA-81806C42A99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1E1B2-71C2-4D64-807A-DCCC01D83EF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0272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A2A6C-DB6D-401A-8EEA-81806C42A99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1E1B2-71C2-4D64-807A-DCCC01D83EF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1464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A2A6C-DB6D-401A-8EEA-81806C42A99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1E1B2-71C2-4D64-807A-DCCC01D83EF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536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A2A6C-DB6D-401A-8EEA-81806C42A99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1E1B2-71C2-4D64-807A-DCCC01D83EF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5440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A2A6C-DB6D-401A-8EEA-81806C42A99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1E1B2-71C2-4D64-807A-DCCC01D83EF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198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27B3-5776-49DC-9933-9C94C7E1B6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74187-4894-487B-9622-D68BF52EF9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6376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27B3-5776-49DC-9933-9C94C7E1B6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74187-4894-487B-9622-D68BF52EF9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86740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27B3-5776-49DC-9933-9C94C7E1B6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74187-4894-487B-9622-D68BF52EF9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0817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27B3-5776-49DC-9933-9C94C7E1B6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74187-4894-487B-9622-D68BF52EF9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03607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27B3-5776-49DC-9933-9C94C7E1B6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74187-4894-487B-9622-D68BF52EF9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41650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27B3-5776-49DC-9933-9C94C7E1B6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74187-4894-487B-9622-D68BF52EF9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96096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27B3-5776-49DC-9933-9C94C7E1B6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74187-4894-487B-9622-D68BF52EF9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491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27B3-5776-49DC-9933-9C94C7E1B6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74187-4894-487B-9622-D68BF52EF9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91352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27B3-5776-49DC-9933-9C94C7E1B6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74187-4894-487B-9622-D68BF52EF9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03939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27B3-5776-49DC-9933-9C94C7E1B6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74187-4894-487B-9622-D68BF52EF9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3387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27B3-5776-49DC-9933-9C94C7E1B6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74187-4894-487B-9622-D68BF52EF9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29667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6C3D-6651-4F48-8EC0-E53092F07C6F}" type="datetimeFigureOut">
              <a:rPr lang="en-US" smtClean="0"/>
              <a:pPr/>
              <a:t>4/12/2023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2DD61-D130-48DF-8D3E-D5AA2E134E5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8166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6C3D-6651-4F48-8EC0-E53092F07C6F}" type="datetimeFigureOut">
              <a:rPr lang="en-US" smtClean="0"/>
              <a:pPr/>
              <a:t>4/12/2023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2DD61-D130-48DF-8D3E-D5AA2E134E5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478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6C3D-6651-4F48-8EC0-E53092F07C6F}" type="datetimeFigureOut">
              <a:rPr lang="en-US" smtClean="0"/>
              <a:pPr/>
              <a:t>4/12/2023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2DD61-D130-48DF-8D3E-D5AA2E134E5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608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6C3D-6651-4F48-8EC0-E53092F07C6F}" type="datetimeFigureOut">
              <a:rPr lang="en-US" smtClean="0"/>
              <a:pPr/>
              <a:t>4/12/2023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2DD61-D130-48DF-8D3E-D5AA2E134E5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8968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6C3D-6651-4F48-8EC0-E53092F07C6F}" type="datetimeFigureOut">
              <a:rPr lang="en-US" smtClean="0"/>
              <a:pPr/>
              <a:t>4/12/2023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2DD61-D130-48DF-8D3E-D5AA2E134E5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8647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6C3D-6651-4F48-8EC0-E53092F07C6F}" type="datetimeFigureOut">
              <a:rPr lang="en-US" smtClean="0"/>
              <a:pPr/>
              <a:t>4/12/2023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2DD61-D130-48DF-8D3E-D5AA2E134E5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98778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6C3D-6651-4F48-8EC0-E53092F07C6F}" type="datetimeFigureOut">
              <a:rPr lang="en-US" smtClean="0"/>
              <a:pPr/>
              <a:t>4/12/2023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2DD61-D130-48DF-8D3E-D5AA2E134E5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5778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6C3D-6651-4F48-8EC0-E53092F07C6F}" type="datetimeFigureOut">
              <a:rPr lang="en-US" smtClean="0"/>
              <a:pPr/>
              <a:t>4/12/2023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2DD61-D130-48DF-8D3E-D5AA2E134E5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67669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6C3D-6651-4F48-8EC0-E53092F07C6F}" type="datetimeFigureOut">
              <a:rPr lang="en-US" smtClean="0"/>
              <a:pPr/>
              <a:t>4/12/2023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2DD61-D130-48DF-8D3E-D5AA2E134E5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38964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6C3D-6651-4F48-8EC0-E53092F07C6F}" type="datetimeFigureOut">
              <a:rPr lang="en-US" smtClean="0"/>
              <a:pPr/>
              <a:t>4/12/2023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2DD61-D130-48DF-8D3E-D5AA2E134E5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09253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6C3D-6651-4F48-8EC0-E53092F07C6F}" type="datetimeFigureOut">
              <a:rPr lang="en-US" smtClean="0"/>
              <a:pPr/>
              <a:t>4/12/2023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2DD61-D130-48DF-8D3E-D5AA2E134E5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779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2A2A6C-DB6D-401A-8EEA-81806C42A99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C1E1B2-71C2-4D64-807A-DCCC01D83EF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9852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9627B3-5776-49DC-9933-9C94C7E1B6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174187-4894-487B-9622-D68BF52EF9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2216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DD6C3D-6651-4F48-8EC0-E53092F07C6F}" type="datetimeFigureOut">
              <a:rPr lang="en-US" smtClean="0"/>
              <a:pPr/>
              <a:t>4/12/2023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52DD61-D130-48DF-8D3E-D5AA2E134E5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135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://web.mit.edu/me-ugoffice/communication/technical-writing.pdf" TargetMode="External"/><Relationship Id="rId3" Type="http://schemas.openxmlformats.org/officeDocument/2006/relationships/hyperlink" Target="http://disp.ee.ntu.edu.tw/~pujols/How%20to%20write%20a%20technique%20essay.pdf" TargetMode="External"/><Relationship Id="rId7" Type="http://schemas.openxmlformats.org/officeDocument/2006/relationships/hyperlink" Target="https://unilearning.uow.edu.au/report/3biv.html" TargetMode="External"/><Relationship Id="rId2" Type="http://schemas.openxmlformats.org/officeDocument/2006/relationships/hyperlink" Target="http://www.uio.no/studier/emner/matnat/fys/FYS-GEO4100/h07/undervisningsmateriale/Scientific%20Writing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xplorable.com/how-to-write-an-introduction" TargetMode="External"/><Relationship Id="rId5" Type="http://schemas.openxmlformats.org/officeDocument/2006/relationships/hyperlink" Target="https://www.ncbi.nlm.nih.gov/pmc/articles/PMC3136027/" TargetMode="External"/><Relationship Id="rId10" Type="http://schemas.openxmlformats.org/officeDocument/2006/relationships/hyperlink" Target="https://openoregon.pressbooks.pub/technicalwriting/chapter/10-7-body-of-the-report/#:~:text=The%20body%20of%20the%20report,between%20the%20introduction%20and%20conclusion" TargetMode="External"/><Relationship Id="rId4" Type="http://schemas.openxmlformats.org/officeDocument/2006/relationships/hyperlink" Target="https://ishbel.host.cs.st-andrews.ac.uk/WhatisaTechnicalEssay.pdf" TargetMode="External"/><Relationship Id="rId9" Type="http://schemas.openxmlformats.org/officeDocument/2006/relationships/hyperlink" Target="http://writing.umn.edu/tww/assets/pdfs/intro.pdf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brary.illinois.edu/enx/" TargetMode="External"/><Relationship Id="rId7" Type="http://schemas.openxmlformats.org/officeDocument/2006/relationships/hyperlink" Target="https://librarytechnology.org/library/17" TargetMode="External"/><Relationship Id="rId2" Type="http://schemas.openxmlformats.org/officeDocument/2006/relationships/hyperlink" Target="https://sites.asee.org/eld/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://www.bl.uk/" TargetMode="External"/><Relationship Id="rId5" Type="http://schemas.openxmlformats.org/officeDocument/2006/relationships/hyperlink" Target="http://catalog.loc.gov/" TargetMode="External"/><Relationship Id="rId4" Type="http://schemas.openxmlformats.org/officeDocument/2006/relationships/hyperlink" Target="http://www.libdex.com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hyperlink" Target="https://www.loc.gov/rr/scitech/selected-internet/engineering.html" TargetMode="Externa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spto.gov/patents-application-process/search-patents" TargetMode="External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hyperlink" Target="https://www.epo.org/searching-for-patents.html" TargetMode="Externa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emf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://writing.umn.edu/tww/assets/pdfs/intro.pdf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oi.gov/" TargetMode="Externa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../Essay%20sample%20IEEE.pdf" TargetMode="External"/><Relationship Id="rId2" Type="http://schemas.openxmlformats.org/officeDocument/2006/relationships/hyperlink" Target="../ENGR181-S%2017%20+%20All%20Stuff/Final%20Package/Student%20Folders/Sec%20024/Essay1/Arjun-Essay1Arjun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6.emf"/><Relationship Id="rId4" Type="http://schemas.openxmlformats.org/officeDocument/2006/relationships/image" Target="../media/image35.emf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0.png"/><Relationship Id="rId4" Type="http://schemas.microsoft.com/office/2007/relationships/hdphoto" Target="../media/hdphoto1.wdp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eee.org/documents/style_manual.pdf" TargetMode="External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://web.mit.edu/me-ugoffice/communication/technical-writing.pdf" TargetMode="Externa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://writing.umn.edu/tww/assets/pdfs/intro.pdf" TargetMode="Externa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up.edu/writingcenter/writing-resources/organization-and-structure/creating-an-outline/" TargetMode="External"/><Relationship Id="rId2" Type="http://schemas.openxmlformats.org/officeDocument/2006/relationships/hyperlink" Target="https://www.unl.edu/gradstudies/connections/scientific-writing" TargetMode="External"/><Relationship Id="rId1" Type="http://schemas.openxmlformats.org/officeDocument/2006/relationships/slideLayout" Target="../slideLayouts/slideLayout23.xml"/><Relationship Id="rId5" Type="http://schemas.openxmlformats.org/officeDocument/2006/relationships/hyperlink" Target="https://www.emmelaw.com/wp-content/uploads/2018/04/What-makes-a-good-document.pdf" TargetMode="External"/><Relationship Id="rId4" Type="http://schemas.openxmlformats.org/officeDocument/2006/relationships/hyperlink" Target="https://www.monmouth.edu/resources-for-writers/documents/transitions.pdf/" TargetMode="Externa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9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unl.edu/gradstudies/connections/scientific-writing" TargetMode="External"/><Relationship Id="rId1" Type="http://schemas.openxmlformats.org/officeDocument/2006/relationships/slideLayout" Target="../slideLayouts/slideLayout2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9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9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4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563" y="3895947"/>
            <a:ext cx="10515600" cy="331560"/>
          </a:xfrm>
        </p:spPr>
        <p:txBody>
          <a:bodyPr>
            <a:normAutofit fontScale="90000"/>
          </a:bodyPr>
          <a:lstStyle/>
          <a:p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Texts are directly from the following sources: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788" y="4119562"/>
            <a:ext cx="11872911" cy="1919289"/>
          </a:xfrm>
        </p:spPr>
        <p:txBody>
          <a:bodyPr>
            <a:noAutofit/>
          </a:bodyPr>
          <a:lstStyle/>
          <a:p>
            <a:endParaRPr lang="en-US" sz="1000" dirty="0">
              <a:hlinkClick r:id="rId2"/>
            </a:endParaRPr>
          </a:p>
          <a:p>
            <a:r>
              <a:rPr lang="en-US" sz="1000" dirty="0">
                <a:hlinkClick r:id="rId2"/>
              </a:rPr>
              <a:t>http://www.uio.no/studier/emner/matnat/fys/FYS-GEO4100/h07/undervisningsmateriale/Scientific%20Writing.pdf</a:t>
            </a:r>
            <a:endParaRPr lang="en-US" sz="1000" dirty="0"/>
          </a:p>
          <a:p>
            <a:r>
              <a:rPr lang="en-US" sz="1000" dirty="0">
                <a:hlinkClick r:id="rId3"/>
              </a:rPr>
              <a:t>http://disp.ee.ntu.edu.tw/~pujols/How%20to%20write%20a%20technique%20essay.pdf</a:t>
            </a:r>
            <a:endParaRPr lang="en-US" sz="1000" dirty="0"/>
          </a:p>
          <a:p>
            <a:r>
              <a:rPr lang="en-US" sz="1000" dirty="0">
                <a:hlinkClick r:id="rId4"/>
              </a:rPr>
              <a:t>https://ishbel.host.cs.st-andrews.ac.uk/WhatisaTechnicalEssay.pdf</a:t>
            </a:r>
            <a:endParaRPr lang="en-US" sz="1000" dirty="0"/>
          </a:p>
          <a:p>
            <a:r>
              <a:rPr lang="en-US" sz="1000" dirty="0">
                <a:hlinkClick r:id="rId5"/>
              </a:rPr>
              <a:t>https://www.ncbi.nlm.nih.gov/pmc/articles/PMC3136027/</a:t>
            </a:r>
            <a:endParaRPr lang="en-US" sz="1000" dirty="0"/>
          </a:p>
          <a:p>
            <a:r>
              <a:rPr lang="en-US" sz="1000" dirty="0">
                <a:hlinkClick r:id="rId6"/>
              </a:rPr>
              <a:t>https://explorable.com/how-to-write-an-introduction</a:t>
            </a:r>
            <a:endParaRPr lang="en-US" sz="1000" dirty="0"/>
          </a:p>
          <a:p>
            <a:r>
              <a:rPr lang="en-US" sz="1000" dirty="0">
                <a:hlinkClick r:id="rId7"/>
              </a:rPr>
              <a:t>https://unilearning.uow.edu.au/report/3biv.html</a:t>
            </a:r>
            <a:endParaRPr lang="en-US" sz="1000" dirty="0"/>
          </a:p>
          <a:p>
            <a:r>
              <a:rPr lang="en-US" sz="1000" dirty="0">
                <a:hlinkClick r:id="rId8"/>
              </a:rPr>
              <a:t>http://web.mit.edu/me-ugoffice/communication/technical-writing.pdf</a:t>
            </a:r>
            <a:endParaRPr lang="en-US" sz="1000" dirty="0"/>
          </a:p>
          <a:p>
            <a:r>
              <a:rPr lang="en-US" sz="1000" dirty="0">
                <a:hlinkClick r:id="rId9"/>
              </a:rPr>
              <a:t>http://writing.umn.edu/tww/assets/pdfs/intro.pdf</a:t>
            </a:r>
            <a:endParaRPr lang="en-US" sz="1000" dirty="0"/>
          </a:p>
          <a:p>
            <a:r>
              <a:rPr lang="en-US" sz="1000" dirty="0">
                <a:hlinkClick r:id="rId10"/>
              </a:rPr>
              <a:t>https://openoregon.pressbooks.pub/technicalwriting/chapter/10-7-body-of-the-report/#:~:text=The%20body%20of%20the%20report,between%20the%20introduction%20and%20conclusion</a:t>
            </a:r>
            <a:r>
              <a:rPr lang="en-US" sz="1000" dirty="0"/>
              <a:t>.</a:t>
            </a:r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</p:txBody>
      </p:sp>
      <p:sp>
        <p:nvSpPr>
          <p:cNvPr id="4" name="TextBox 3"/>
          <p:cNvSpPr txBox="1"/>
          <p:nvPr/>
        </p:nvSpPr>
        <p:spPr>
          <a:xfrm>
            <a:off x="838200" y="1965277"/>
            <a:ext cx="37433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/>
              <a:t>ENGR 181W</a:t>
            </a:r>
          </a:p>
        </p:txBody>
      </p:sp>
    </p:spTree>
    <p:extLst>
      <p:ext uri="{BB962C8B-B14F-4D97-AF65-F5344CB8AC3E}">
        <p14:creationId xmlns:p14="http://schemas.microsoft.com/office/powerpoint/2010/main" val="1166014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463" y="577516"/>
            <a:ext cx="8213558" cy="5599447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+mj-lt"/>
              </a:rPr>
              <a:t>If a man [person] can group his ideas, then he is a writer.</a:t>
            </a:r>
          </a:p>
          <a:p>
            <a:pPr lvl="3"/>
            <a:r>
              <a:rPr lang="en-US" sz="3000" dirty="0">
                <a:latin typeface="+mj-lt"/>
              </a:rPr>
              <a:t>Robert Louis Stevenson (1850-1894)</a:t>
            </a:r>
          </a:p>
          <a:p>
            <a:pPr lvl="3"/>
            <a:endParaRPr lang="en-US" sz="3000" dirty="0">
              <a:latin typeface="+mj-lt"/>
            </a:endParaRPr>
          </a:p>
          <a:p>
            <a:pPr marL="1371600" lvl="3" indent="0">
              <a:buNone/>
            </a:pPr>
            <a:r>
              <a:rPr lang="en-US" sz="3000" b="1" dirty="0">
                <a:latin typeface="+mj-lt"/>
              </a:rPr>
              <a:t>Notable works:</a:t>
            </a:r>
          </a:p>
          <a:p>
            <a:pPr marL="1371600" lvl="3" indent="0">
              <a:buNone/>
            </a:pPr>
            <a:r>
              <a:rPr lang="en-US" sz="3000" i="1" dirty="0">
                <a:latin typeface="+mj-lt"/>
              </a:rPr>
              <a:t>Treasure Island</a:t>
            </a:r>
            <a:br>
              <a:rPr lang="en-US" sz="3000" i="1" dirty="0">
                <a:latin typeface="+mj-lt"/>
              </a:rPr>
            </a:br>
            <a:r>
              <a:rPr lang="en-US" sz="3000" i="1" dirty="0">
                <a:latin typeface="+mj-lt"/>
              </a:rPr>
              <a:t>A Child's Garden of Verses</a:t>
            </a:r>
            <a:br>
              <a:rPr lang="en-US" sz="3000" i="1" dirty="0">
                <a:latin typeface="+mj-lt"/>
              </a:rPr>
            </a:br>
            <a:r>
              <a:rPr lang="en-US" sz="3000" i="1" dirty="0">
                <a:latin typeface="+mj-lt"/>
              </a:rPr>
              <a:t>Kidnapped</a:t>
            </a:r>
            <a:br>
              <a:rPr lang="en-US" sz="3000" i="1" dirty="0">
                <a:latin typeface="+mj-lt"/>
              </a:rPr>
            </a:br>
            <a:r>
              <a:rPr lang="en-US" sz="3000" i="1" dirty="0">
                <a:latin typeface="+mj-lt"/>
              </a:rPr>
              <a:t>Strange Case of Dr. Jekyll and Mr. Hyde</a:t>
            </a:r>
          </a:p>
          <a:p>
            <a:pPr lvl="3"/>
            <a:endParaRPr lang="en-US" sz="3000" dirty="0">
              <a:latin typeface="+mj-lt"/>
            </a:endParaRPr>
          </a:p>
          <a:p>
            <a:pPr lvl="3"/>
            <a:endParaRPr lang="en-US" sz="3000" dirty="0">
              <a:latin typeface="+mj-lt"/>
            </a:endParaRPr>
          </a:p>
          <a:p>
            <a:pPr lvl="3"/>
            <a:endParaRPr lang="en-US" sz="3000" dirty="0">
              <a:latin typeface="+mj-lt"/>
            </a:endParaRPr>
          </a:p>
          <a:p>
            <a:pPr lvl="3"/>
            <a:endParaRPr lang="en-US" sz="3000" dirty="0">
              <a:latin typeface="+mj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241673" y="0"/>
            <a:ext cx="3950327" cy="5903495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4435967"/>
              </p:ext>
            </p:extLst>
          </p:nvPr>
        </p:nvGraphicFramePr>
        <p:xfrm>
          <a:off x="469232" y="6326597"/>
          <a:ext cx="10515600" cy="3657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endParaRPr lang="en-US" dirty="0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dirty="0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6543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00000"/>
                </a:solidFill>
              </a:rPr>
              <a:t>BASIC SEARCH STRATEGIES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681037"/>
            <a:ext cx="12192000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latin typeface="+mj-lt"/>
              </a:rPr>
              <a:t>Following the Trail</a:t>
            </a:r>
          </a:p>
          <a:p>
            <a:endParaRPr lang="en-US" sz="40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4400" dirty="0">
                <a:latin typeface="+mj-lt"/>
              </a:rPr>
              <a:t>When you need </a:t>
            </a:r>
            <a:r>
              <a:rPr lang="en-US" sz="4400" dirty="0">
                <a:solidFill>
                  <a:srgbClr val="C00000"/>
                </a:solidFill>
                <a:latin typeface="+mj-lt"/>
              </a:rPr>
              <a:t>background</a:t>
            </a:r>
            <a:r>
              <a:rPr lang="en-US" sz="4400" dirty="0">
                <a:latin typeface="+mj-lt"/>
              </a:rPr>
              <a:t> or history on a subject, start down the information trail with the most readily </a:t>
            </a:r>
            <a:r>
              <a:rPr lang="en-US" sz="4400" dirty="0">
                <a:solidFill>
                  <a:srgbClr val="C00000"/>
                </a:solidFill>
                <a:latin typeface="+mj-lt"/>
              </a:rPr>
              <a:t>available tools </a:t>
            </a:r>
            <a:r>
              <a:rPr lang="en-US" sz="4400" dirty="0">
                <a:latin typeface="+mj-lt"/>
              </a:rPr>
              <a:t>first. These are usually technical </a:t>
            </a:r>
            <a:r>
              <a:rPr lang="en-US" sz="4400" dirty="0">
                <a:solidFill>
                  <a:srgbClr val="C00000"/>
                </a:solidFill>
                <a:latin typeface="+mj-lt"/>
              </a:rPr>
              <a:t>encyclopedias</a:t>
            </a:r>
            <a:r>
              <a:rPr lang="en-US" sz="4400" dirty="0">
                <a:latin typeface="+mj-lt"/>
              </a:rPr>
              <a:t>, </a:t>
            </a:r>
            <a:r>
              <a:rPr lang="en-US" sz="4400" dirty="0">
                <a:solidFill>
                  <a:srgbClr val="C00000"/>
                </a:solidFill>
                <a:latin typeface="+mj-lt"/>
              </a:rPr>
              <a:t>textbooks</a:t>
            </a:r>
            <a:r>
              <a:rPr lang="en-US" sz="4400" dirty="0">
                <a:latin typeface="+mj-lt"/>
              </a:rPr>
              <a:t>, and </a:t>
            </a:r>
            <a:r>
              <a:rPr lang="en-US" sz="4400" dirty="0">
                <a:solidFill>
                  <a:srgbClr val="C00000"/>
                </a:solidFill>
                <a:latin typeface="+mj-lt"/>
              </a:rPr>
              <a:t>periodicals.</a:t>
            </a:r>
          </a:p>
        </p:txBody>
      </p:sp>
    </p:spTree>
    <p:extLst>
      <p:ext uri="{BB962C8B-B14F-4D97-AF65-F5344CB8AC3E}">
        <p14:creationId xmlns:p14="http://schemas.microsoft.com/office/powerpoint/2010/main" val="2659417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018308"/>
            <a:ext cx="12192000" cy="5839692"/>
          </a:xfrm>
        </p:spPr>
        <p:txBody>
          <a:bodyPr>
            <a:normAutofit/>
          </a:bodyPr>
          <a:lstStyle/>
          <a:p>
            <a:r>
              <a:rPr lang="en-US" sz="4000" b="1" dirty="0"/>
              <a:t>Be aware of the </a:t>
            </a:r>
            <a:r>
              <a:rPr lang="en-US" sz="4000" b="1" dirty="0">
                <a:solidFill>
                  <a:srgbClr val="C00000"/>
                </a:solidFill>
              </a:rPr>
              <a:t>publication dates </a:t>
            </a:r>
            <a:r>
              <a:rPr lang="en-US" sz="4000" b="1" dirty="0"/>
              <a:t>of such sources.</a:t>
            </a:r>
          </a:p>
          <a:p>
            <a:r>
              <a:rPr lang="en-US" sz="4000" b="1" dirty="0"/>
              <a:t>Use </a:t>
            </a:r>
            <a:r>
              <a:rPr lang="en-US" sz="4000" b="1" dirty="0">
                <a:solidFill>
                  <a:srgbClr val="C00000"/>
                </a:solidFill>
              </a:rPr>
              <a:t>reliable</a:t>
            </a:r>
            <a:r>
              <a:rPr lang="en-US" sz="4000" b="1" dirty="0"/>
              <a:t> sources.</a:t>
            </a:r>
          </a:p>
          <a:p>
            <a:r>
              <a:rPr lang="en-US" sz="4000" b="1" dirty="0"/>
              <a:t>Use </a:t>
            </a:r>
            <a:r>
              <a:rPr lang="en-US" sz="4000" b="1" dirty="0">
                <a:solidFill>
                  <a:srgbClr val="C00000"/>
                </a:solidFill>
              </a:rPr>
              <a:t>Peer-Reviewed</a:t>
            </a:r>
            <a:r>
              <a:rPr lang="en-US" sz="4000" b="1" dirty="0"/>
              <a:t> journals.</a:t>
            </a:r>
          </a:p>
          <a:p>
            <a:r>
              <a:rPr lang="en-US" sz="4000" b="1" dirty="0"/>
              <a:t>Don’t trust every </a:t>
            </a:r>
            <a:r>
              <a:rPr lang="en-US" sz="4000" b="1" dirty="0">
                <a:solidFill>
                  <a:srgbClr val="C00000"/>
                </a:solidFill>
              </a:rPr>
              <a:t>online</a:t>
            </a:r>
            <a:r>
              <a:rPr lang="en-US" sz="4000" b="1" dirty="0"/>
              <a:t> sources and information.</a:t>
            </a:r>
          </a:p>
          <a:p>
            <a:r>
              <a:rPr lang="en-US" sz="4000" b="1" dirty="0"/>
              <a:t>Use </a:t>
            </a:r>
            <a:r>
              <a:rPr lang="en-US" sz="4000" b="1" dirty="0">
                <a:solidFill>
                  <a:srgbClr val="C00000"/>
                </a:solidFill>
              </a:rPr>
              <a:t>reliable domains</a:t>
            </a:r>
            <a:r>
              <a:rPr lang="en-US" sz="4000" b="1" dirty="0"/>
              <a:t>: .</a:t>
            </a:r>
            <a:r>
              <a:rPr lang="en-US" sz="4000" b="1" dirty="0" err="1"/>
              <a:t>edu</a:t>
            </a:r>
            <a:r>
              <a:rPr lang="en-US" sz="4000" b="1" dirty="0"/>
              <a:t>, .</a:t>
            </a:r>
            <a:r>
              <a:rPr lang="en-US" sz="4000" b="1" dirty="0" err="1"/>
              <a:t>gov</a:t>
            </a:r>
            <a:r>
              <a:rPr lang="en-US" sz="4000" b="1" dirty="0"/>
              <a:t>,… </a:t>
            </a:r>
          </a:p>
          <a:p>
            <a:r>
              <a:rPr lang="en-US" sz="4000" b="1" dirty="0">
                <a:solidFill>
                  <a:srgbClr val="C00000"/>
                </a:solidFill>
              </a:rPr>
              <a:t>Wikipedia</a:t>
            </a:r>
            <a:r>
              <a:rPr lang="en-US" sz="4000" b="1" dirty="0"/>
              <a:t> should not be used as a credible source</a:t>
            </a:r>
          </a:p>
          <a:p>
            <a:endParaRPr lang="en-US" sz="4000" b="1" dirty="0"/>
          </a:p>
          <a:p>
            <a:endParaRPr lang="en-US" sz="4000" b="1" dirty="0"/>
          </a:p>
          <a:p>
            <a:endParaRPr lang="en-US" sz="4000" b="1" dirty="0"/>
          </a:p>
          <a:p>
            <a:endParaRPr lang="en-US" sz="4000" b="1" dirty="0"/>
          </a:p>
          <a:p>
            <a:endParaRPr lang="en-US" sz="3600" b="1" dirty="0"/>
          </a:p>
          <a:p>
            <a:endParaRPr lang="en-US" sz="3600" b="1" i="1" dirty="0">
              <a:solidFill>
                <a:srgbClr val="00206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78970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/>
              </a:rPr>
              <a:t>BASIC SEARCH STRATEGIES</a:t>
            </a:r>
          </a:p>
        </p:txBody>
      </p:sp>
    </p:spTree>
    <p:extLst>
      <p:ext uri="{BB962C8B-B14F-4D97-AF65-F5344CB8AC3E}">
        <p14:creationId xmlns:p14="http://schemas.microsoft.com/office/powerpoint/2010/main" val="2623803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018308"/>
            <a:ext cx="12192000" cy="583969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https://ieeexplore.ieee.org/Xplore/home.jsp</a:t>
            </a:r>
          </a:p>
          <a:p>
            <a:r>
              <a:rPr lang="en-US" dirty="0">
                <a:solidFill>
                  <a:srgbClr val="C00000"/>
                </a:solidFill>
              </a:rPr>
              <a:t>American Society </a:t>
            </a:r>
            <a:r>
              <a:rPr lang="en-US" dirty="0"/>
              <a:t>for Engineering Education, Engineering Libraries Division: </a:t>
            </a:r>
            <a:r>
              <a:rPr lang="en-US" dirty="0">
                <a:hlinkClick r:id="rId2"/>
              </a:rPr>
              <a:t>https://sites.asee.org/eld/</a:t>
            </a:r>
            <a:endParaRPr lang="en-US" dirty="0"/>
          </a:p>
          <a:p>
            <a:pPr marL="0" indent="0">
              <a:buNone/>
            </a:pPr>
            <a:r>
              <a:rPr lang="nl-NL" dirty="0">
                <a:solidFill>
                  <a:srgbClr val="C00000"/>
                </a:solidFill>
              </a:rPr>
              <a:t>Grainger Engineering Library</a:t>
            </a:r>
          </a:p>
          <a:p>
            <a:r>
              <a:rPr lang="nl-NL" dirty="0">
                <a:hlinkClick r:id="rId3"/>
              </a:rPr>
              <a:t>https://www.library.illinois.edu/enx/</a:t>
            </a:r>
            <a:endParaRPr lang="nl-NL" dirty="0"/>
          </a:p>
          <a:p>
            <a:r>
              <a:rPr lang="en-US" dirty="0" err="1">
                <a:solidFill>
                  <a:srgbClr val="C00000"/>
                </a:solidFill>
              </a:rPr>
              <a:t>LibDex</a:t>
            </a:r>
            <a:r>
              <a:rPr lang="en-US" dirty="0"/>
              <a:t> — </a:t>
            </a:r>
            <a:r>
              <a:rPr lang="en-US" dirty="0">
                <a:hlinkClick r:id="rId4"/>
              </a:rPr>
              <a:t>www.libdex.com/</a:t>
            </a:r>
            <a:endParaRPr lang="en-US" dirty="0"/>
          </a:p>
          <a:p>
            <a:r>
              <a:rPr lang="en-US" dirty="0" err="1">
                <a:solidFill>
                  <a:srgbClr val="C00000"/>
                </a:solidFill>
              </a:rPr>
              <a:t>LibWeb</a:t>
            </a:r>
            <a:r>
              <a:rPr lang="en-US" dirty="0">
                <a:solidFill>
                  <a:srgbClr val="C00000"/>
                </a:solidFill>
              </a:rPr>
              <a:t>:</a:t>
            </a:r>
            <a:r>
              <a:rPr lang="en-US" dirty="0"/>
              <a:t> http://www.lib-web.org/ </a:t>
            </a:r>
          </a:p>
          <a:p>
            <a:r>
              <a:rPr lang="en-US" dirty="0"/>
              <a:t>The Library of Congress Catalog: </a:t>
            </a:r>
            <a:r>
              <a:rPr lang="en-US" dirty="0">
                <a:hlinkClick r:id="rId5"/>
              </a:rPr>
              <a:t>http://catalog.loc.gov/</a:t>
            </a:r>
            <a:endParaRPr lang="en-US" dirty="0"/>
          </a:p>
          <a:p>
            <a:r>
              <a:rPr lang="en-US" dirty="0"/>
              <a:t>The British Library: </a:t>
            </a:r>
            <a:r>
              <a:rPr lang="en-US" dirty="0">
                <a:hlinkClick r:id="rId6"/>
              </a:rPr>
              <a:t>www.bl.uk</a:t>
            </a:r>
            <a:endParaRPr lang="en-US" dirty="0"/>
          </a:p>
          <a:p>
            <a:r>
              <a:rPr lang="en-US" dirty="0"/>
              <a:t>Canada Institute for Scientific and Technical Information (CISTI)</a:t>
            </a:r>
          </a:p>
          <a:p>
            <a:r>
              <a:rPr lang="en-US" dirty="0">
                <a:hlinkClick r:id="rId7"/>
              </a:rPr>
              <a:t>https://librarytechnology.org/library/17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78970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C00000"/>
                </a:solidFill>
                <a:latin typeface="Times New Roman" panose="02020603050405020304"/>
              </a:rPr>
              <a:t>Finding Internet-Accessible, Engineering-Related Libraries</a:t>
            </a:r>
          </a:p>
        </p:txBody>
      </p:sp>
    </p:spTree>
    <p:extLst>
      <p:ext uri="{BB962C8B-B14F-4D97-AF65-F5344CB8AC3E}">
        <p14:creationId xmlns:p14="http://schemas.microsoft.com/office/powerpoint/2010/main" val="1358954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1E79326-568A-491E-B3A0-85E925FE5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672" y="543070"/>
            <a:ext cx="12192000" cy="68120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63AD5B-8818-41A6-95A0-CB5E3073A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" y="329268"/>
            <a:ext cx="11754069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8331AD4-FB81-45BD-89B8-110CB74323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485" y="226503"/>
            <a:ext cx="12306563" cy="70635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5F5E49-3A93-44B3-BE32-7FD27299E3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375" y="0"/>
            <a:ext cx="100012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366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910" y="6385801"/>
            <a:ext cx="10515600" cy="472199"/>
          </a:xfrm>
        </p:spPr>
        <p:txBody>
          <a:bodyPr>
            <a:normAutofit/>
          </a:bodyPr>
          <a:lstStyle/>
          <a:p>
            <a:r>
              <a:rPr lang="en-US" sz="1800" dirty="0">
                <a:hlinkClick r:id="rId2"/>
              </a:rPr>
              <a:t>https://www.loc.gov/rr/scitech/selected-internet/engineering.html</a:t>
            </a:r>
            <a:endParaRPr lang="en-US" sz="1800" dirty="0"/>
          </a:p>
          <a:p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-49963"/>
            <a:ext cx="10883824" cy="6385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054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20592F-3084-4BC7-9D67-36BF7E177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666" y="17649"/>
            <a:ext cx="9643407" cy="6417709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2666" y="6435358"/>
            <a:ext cx="10515600" cy="363016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hlinkClick r:id="rId3"/>
              </a:rPr>
              <a:t>https://www.uspto.gov/patents-application-process/search-patents</a:t>
            </a:r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C5EAF3-DA93-4C3C-AF5A-4EF222AF69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79" y="-17649"/>
            <a:ext cx="10451591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6E1C20-7502-4BD2-9F99-29D5E40D57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156" y="159458"/>
            <a:ext cx="10072890" cy="66808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64AC80-9E39-4675-B0E7-E0BB443704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-17649"/>
            <a:ext cx="12192000" cy="606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857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597" y="6262972"/>
            <a:ext cx="10515600" cy="322073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hlinkClick r:id="rId2"/>
              </a:rPr>
              <a:t>https://www.epo.org/searching-for-patents.html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0135" y="0"/>
            <a:ext cx="10622540" cy="604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513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E829EE-545E-4580-A286-6A32CC829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50" y="0"/>
            <a:ext cx="11006900" cy="6858000"/>
          </a:xfrm>
          <a:prstGeom prst="rect">
            <a:avLst/>
          </a:prstGeom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01E79CC4-FADA-481C-BAA9-86BE90AAB7F2}"/>
              </a:ext>
            </a:extLst>
          </p:cNvPr>
          <p:cNvSpPr/>
          <p:nvPr/>
        </p:nvSpPr>
        <p:spPr>
          <a:xfrm>
            <a:off x="6096000" y="671119"/>
            <a:ext cx="484632" cy="978408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85BAA5-81F8-4FE7-A918-F38F59A56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629" y="638984"/>
            <a:ext cx="524301" cy="999831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BB02BCBD-B2F5-4100-9206-BB86DA4853FA}"/>
              </a:ext>
            </a:extLst>
          </p:cNvPr>
          <p:cNvSpPr/>
          <p:nvPr/>
        </p:nvSpPr>
        <p:spPr>
          <a:xfrm>
            <a:off x="8588928" y="649696"/>
            <a:ext cx="484632" cy="978408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781341C-E743-44FA-9331-3FB861D1F7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42" y="0"/>
            <a:ext cx="11061915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567FB5A-A5FA-422F-B4AB-4C82117EC1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686" y="24581"/>
            <a:ext cx="11208774" cy="68334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6CDE72F-6673-4524-BEC0-A4CB4D9527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699" y="125361"/>
            <a:ext cx="11356258" cy="6607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264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018308"/>
            <a:ext cx="12192000" cy="5591039"/>
          </a:xfrm>
        </p:spPr>
        <p:txBody>
          <a:bodyPr>
            <a:normAutofit/>
          </a:bodyPr>
          <a:lstStyle/>
          <a:p>
            <a:r>
              <a:rPr lang="en-US" sz="4000" b="1" dirty="0"/>
              <a:t>There are essentially two approaches to write the Essay and Summary:</a:t>
            </a:r>
          </a:p>
          <a:p>
            <a:endParaRPr lang="en-US" sz="4000" b="1" dirty="0"/>
          </a:p>
          <a:p>
            <a:pPr lvl="2"/>
            <a:r>
              <a:rPr lang="en-US" sz="4400" b="1" dirty="0">
                <a:solidFill>
                  <a:srgbClr val="C00000"/>
                </a:solidFill>
              </a:rPr>
              <a:t>Descriptive</a:t>
            </a:r>
            <a:r>
              <a:rPr lang="en-US" sz="4400" b="1" dirty="0"/>
              <a:t> &gt; More general</a:t>
            </a:r>
          </a:p>
          <a:p>
            <a:pPr lvl="2"/>
            <a:endParaRPr lang="en-US" sz="2800" b="1" dirty="0"/>
          </a:p>
          <a:p>
            <a:pPr lvl="2"/>
            <a:endParaRPr lang="en-US" sz="2800" b="1" dirty="0"/>
          </a:p>
          <a:p>
            <a:pPr lvl="2"/>
            <a:endParaRPr lang="en-US" sz="2800" b="1" dirty="0"/>
          </a:p>
          <a:p>
            <a:pPr lvl="2"/>
            <a:r>
              <a:rPr lang="en-US" sz="4400" b="1" dirty="0">
                <a:solidFill>
                  <a:srgbClr val="C00000"/>
                </a:solidFill>
              </a:rPr>
              <a:t>Informative</a:t>
            </a:r>
            <a:r>
              <a:rPr lang="en-US" sz="4400" b="1" dirty="0"/>
              <a:t> &gt; Specific + More details</a:t>
            </a:r>
          </a:p>
          <a:p>
            <a:endParaRPr lang="en-US" sz="3600" b="1" i="1" dirty="0">
              <a:solidFill>
                <a:srgbClr val="00206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78970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prstClr val="black"/>
                </a:solidFill>
                <a:latin typeface="Times New Roman" panose="02020603050405020304"/>
              </a:rPr>
              <a:t>Essay Layout</a:t>
            </a:r>
          </a:p>
        </p:txBody>
      </p:sp>
    </p:spTree>
    <p:extLst>
      <p:ext uri="{BB962C8B-B14F-4D97-AF65-F5344CB8AC3E}">
        <p14:creationId xmlns:p14="http://schemas.microsoft.com/office/powerpoint/2010/main" val="1550369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00000"/>
                </a:solidFill>
              </a:rPr>
              <a:t>How to write a technical essay?</a:t>
            </a:r>
          </a:p>
        </p:txBody>
      </p:sp>
      <p:sp>
        <p:nvSpPr>
          <p:cNvPr id="4" name="Isosceles Triangle 3"/>
          <p:cNvSpPr/>
          <p:nvPr/>
        </p:nvSpPr>
        <p:spPr>
          <a:xfrm>
            <a:off x="7118167" y="2262167"/>
            <a:ext cx="3795368" cy="2932963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085236" y="2992048"/>
            <a:ext cx="23537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+mj-lt"/>
              </a:rPr>
              <a:t>Audience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0565" y="2969963"/>
            <a:ext cx="20150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+mj-lt"/>
              </a:rPr>
              <a:t>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02601" y="5303059"/>
            <a:ext cx="23537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+mj-lt"/>
              </a:rPr>
              <a:t>Occasion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70198"/>
            <a:ext cx="4318000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4400" b="1" dirty="0">
                <a:latin typeface="+mj-lt"/>
              </a:rPr>
              <a:t>Subject Matter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4630" y="848100"/>
            <a:ext cx="5049203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sz="4400" b="1" dirty="0">
                <a:latin typeface="+mj-lt"/>
              </a:rPr>
              <a:t>Writing Constraints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12903" y="1892294"/>
            <a:ext cx="4005097" cy="321742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91428" y="5191727"/>
            <a:ext cx="34714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latin typeface="+mj-lt"/>
              </a:rPr>
              <a:t>Large-format CCDs</a:t>
            </a:r>
          </a:p>
        </p:txBody>
      </p:sp>
      <p:sp>
        <p:nvSpPr>
          <p:cNvPr id="17" name="Right Brace 16"/>
          <p:cNvSpPr/>
          <p:nvPr/>
        </p:nvSpPr>
        <p:spPr>
          <a:xfrm>
            <a:off x="5163139" y="1253067"/>
            <a:ext cx="560328" cy="4523435"/>
          </a:xfrm>
          <a:prstGeom prst="rightBrace">
            <a:avLst>
              <a:gd name="adj1" fmla="val 45175"/>
              <a:gd name="adj2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631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0433" y="831335"/>
            <a:ext cx="3132666" cy="2578493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fr-FR" sz="3600" b="1" dirty="0"/>
              <a:t>Reports</a:t>
            </a:r>
          </a:p>
          <a:p>
            <a:r>
              <a:rPr lang="fr-FR" sz="3600" b="1" dirty="0"/>
              <a:t>Articles</a:t>
            </a:r>
          </a:p>
          <a:p>
            <a:r>
              <a:rPr lang="fr-FR" sz="3600" b="1" dirty="0"/>
              <a:t>Proposals</a:t>
            </a:r>
          </a:p>
          <a:p>
            <a:r>
              <a:rPr lang="fr-FR" sz="3600" b="1" dirty="0"/>
              <a:t>Web Pages</a:t>
            </a:r>
          </a:p>
          <a:p>
            <a:endParaRPr lang="fr-FR" sz="3600" b="1" dirty="0"/>
          </a:p>
        </p:txBody>
      </p:sp>
      <p:sp>
        <p:nvSpPr>
          <p:cNvPr id="4" name="Rectangle 3"/>
          <p:cNvSpPr/>
          <p:nvPr/>
        </p:nvSpPr>
        <p:spPr>
          <a:xfrm>
            <a:off x="6705594" y="1746542"/>
            <a:ext cx="54525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/>
              <a:t>Specific technical audiences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01265" y="2987008"/>
            <a:ext cx="2286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/>
              <a:t>General technical</a:t>
            </a:r>
          </a:p>
          <a:p>
            <a:r>
              <a:rPr lang="en-US" sz="3600" dirty="0"/>
              <a:t>audiences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4265" y="5283273"/>
            <a:ext cx="47751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/>
              <a:t>Non-technical audiences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flipH="1">
            <a:off x="8009461" y="2523295"/>
            <a:ext cx="3928526" cy="2784094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5833530" y="400896"/>
            <a:ext cx="1" cy="57967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387600" y="4452276"/>
            <a:ext cx="3327403" cy="23083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3600" dirty="0"/>
              <a:t>Conferences</a:t>
            </a:r>
          </a:p>
          <a:p>
            <a:r>
              <a:rPr lang="en-US" sz="3600" dirty="0"/>
              <a:t>Lectures</a:t>
            </a:r>
          </a:p>
          <a:p>
            <a:r>
              <a:rPr lang="en-US" sz="3600" dirty="0"/>
              <a:t>Meetings</a:t>
            </a:r>
          </a:p>
          <a:p>
            <a:r>
              <a:rPr lang="en-US" sz="3600" dirty="0"/>
              <a:t>Posters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31" y="302602"/>
            <a:ext cx="33485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Forms of Writing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73300" y="3904739"/>
            <a:ext cx="19415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Occasions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5721" y="109655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Audience</a:t>
            </a:r>
          </a:p>
        </p:txBody>
      </p:sp>
    </p:spTree>
    <p:extLst>
      <p:ext uri="{BB962C8B-B14F-4D97-AF65-F5344CB8AC3E}">
        <p14:creationId xmlns:p14="http://schemas.microsoft.com/office/powerpoint/2010/main" val="1858460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00000"/>
                </a:solidFill>
              </a:rPr>
              <a:t>How to write a technical essay?</a:t>
            </a:r>
          </a:p>
        </p:txBody>
      </p:sp>
      <p:sp>
        <p:nvSpPr>
          <p:cNvPr id="4" name="Isosceles Triangle 3"/>
          <p:cNvSpPr/>
          <p:nvPr/>
        </p:nvSpPr>
        <p:spPr>
          <a:xfrm>
            <a:off x="6096000" y="1441970"/>
            <a:ext cx="2382197" cy="164039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33636" y="1969778"/>
            <a:ext cx="23537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prstClr val="black"/>
                </a:solidFill>
                <a:latin typeface="Times New Roman" panose="02020603050405020304"/>
              </a:rPr>
              <a:t>Audience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7098" y="1912812"/>
            <a:ext cx="20150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prstClr val="black"/>
                </a:solidFill>
                <a:latin typeface="Times New Roman" panose="02020603050405020304"/>
              </a:rPr>
              <a:t>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04528" y="3082361"/>
            <a:ext cx="23537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prstClr val="black"/>
                </a:solidFill>
                <a:latin typeface="Times New Roman" panose="02020603050405020304"/>
              </a:rPr>
              <a:t>Occasion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" y="848100"/>
            <a:ext cx="3158430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prstClr val="black"/>
                </a:solidFill>
                <a:latin typeface="Times New Roman" panose="02020603050405020304"/>
              </a:rPr>
              <a:t>Subject Matter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78896" y="848100"/>
            <a:ext cx="3721468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prstClr val="black"/>
                </a:solidFill>
                <a:latin typeface="Times New Roman" panose="02020603050405020304"/>
              </a:rPr>
              <a:t>Writing Constraints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432875"/>
            <a:ext cx="3158430" cy="253727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06655" y="4093257"/>
            <a:ext cx="26477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Times New Roman" panose="02020603050405020304"/>
              </a:rPr>
              <a:t>Large-format CCDs</a:t>
            </a:r>
          </a:p>
        </p:txBody>
      </p:sp>
      <p:sp>
        <p:nvSpPr>
          <p:cNvPr id="17" name="Right Brace 16"/>
          <p:cNvSpPr/>
          <p:nvPr/>
        </p:nvSpPr>
        <p:spPr>
          <a:xfrm>
            <a:off x="5224763" y="4974000"/>
            <a:ext cx="278569" cy="1274399"/>
          </a:xfrm>
          <a:prstGeom prst="rightBrace">
            <a:avLst>
              <a:gd name="adj1" fmla="val 45175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4988468"/>
            <a:ext cx="522476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b="1" dirty="0">
                <a:solidFill>
                  <a:srgbClr val="C00000"/>
                </a:solidFill>
                <a:latin typeface="+mj-lt"/>
              </a:rPr>
              <a:t>Purpose of Writing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643467" y="4554922"/>
            <a:ext cx="105325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ight Brace 15"/>
          <p:cNvSpPr/>
          <p:nvPr/>
        </p:nvSpPr>
        <p:spPr>
          <a:xfrm>
            <a:off x="3637181" y="1548681"/>
            <a:ext cx="269394" cy="2573866"/>
          </a:xfrm>
          <a:prstGeom prst="rightBrace">
            <a:avLst>
              <a:gd name="adj1" fmla="val 45175"/>
              <a:gd name="adj2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279770" y="4544356"/>
            <a:ext cx="281320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b="1" dirty="0">
                <a:latin typeface="+mj-lt"/>
              </a:rPr>
              <a:t>To inform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9250" y="5667505"/>
            <a:ext cx="312726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latin typeface="+mj-lt"/>
              </a:rPr>
              <a:t>To persuade</a:t>
            </a:r>
          </a:p>
        </p:txBody>
      </p:sp>
    </p:spTree>
    <p:extLst>
      <p:ext uri="{BB962C8B-B14F-4D97-AF65-F5344CB8AC3E}">
        <p14:creationId xmlns:p14="http://schemas.microsoft.com/office/powerpoint/2010/main" val="7601384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00000"/>
                </a:solidFill>
              </a:rPr>
              <a:t>How to write a technical essay?</a:t>
            </a:r>
          </a:p>
        </p:txBody>
      </p:sp>
      <p:sp>
        <p:nvSpPr>
          <p:cNvPr id="17" name="Right Brace 16"/>
          <p:cNvSpPr/>
          <p:nvPr/>
        </p:nvSpPr>
        <p:spPr>
          <a:xfrm>
            <a:off x="5503332" y="1559690"/>
            <a:ext cx="278569" cy="1274399"/>
          </a:xfrm>
          <a:prstGeom prst="rightBrace">
            <a:avLst>
              <a:gd name="adj1" fmla="val 45175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78568" y="1559690"/>
            <a:ext cx="522476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b="1" dirty="0">
                <a:solidFill>
                  <a:srgbClr val="C00000"/>
                </a:solidFill>
                <a:latin typeface="Times New Roman" panose="02020603050405020304"/>
              </a:rPr>
              <a:t>Purpose of Writing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9250" y="971422"/>
            <a:ext cx="281320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b="1" dirty="0">
                <a:solidFill>
                  <a:prstClr val="black"/>
                </a:solidFill>
                <a:latin typeface="Times New Roman" panose="02020603050405020304"/>
              </a:rPr>
              <a:t>To inform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9250" y="2196889"/>
            <a:ext cx="312726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prstClr val="black"/>
                </a:solidFill>
                <a:latin typeface="Times New Roman" panose="02020603050405020304"/>
              </a:rPr>
              <a:t>To persuade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09849" y="3989255"/>
            <a:ext cx="386849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b="1" dirty="0">
                <a:solidFill>
                  <a:prstClr val="black"/>
                </a:solidFill>
                <a:latin typeface="Times New Roman" panose="02020603050405020304"/>
              </a:rPr>
              <a:t>Writing Style 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5400000">
            <a:off x="7419023" y="2152327"/>
            <a:ext cx="827719" cy="2683815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524932" y="3989255"/>
            <a:ext cx="4732035" cy="25545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+mj-lt"/>
              </a:rPr>
              <a:t>Audience checklist:</a:t>
            </a:r>
          </a:p>
          <a:p>
            <a:r>
              <a:rPr lang="en-US" sz="3200" i="1" dirty="0">
                <a:latin typeface="+mj-lt"/>
              </a:rPr>
              <a:t>Who they are?</a:t>
            </a:r>
          </a:p>
          <a:p>
            <a:r>
              <a:rPr lang="en-US" sz="3200" i="1" dirty="0">
                <a:latin typeface="+mj-lt"/>
              </a:rPr>
              <a:t>What they know?</a:t>
            </a:r>
          </a:p>
          <a:p>
            <a:r>
              <a:rPr lang="en-US" sz="3200" i="1" dirty="0">
                <a:latin typeface="+mj-lt"/>
              </a:rPr>
              <a:t>Why will they read?</a:t>
            </a:r>
          </a:p>
          <a:p>
            <a:r>
              <a:rPr lang="en-US" sz="3200" i="1" dirty="0">
                <a:latin typeface="+mj-lt"/>
              </a:rPr>
              <a:t>How will they read?</a:t>
            </a:r>
          </a:p>
        </p:txBody>
      </p:sp>
    </p:spTree>
    <p:extLst>
      <p:ext uri="{BB962C8B-B14F-4D97-AF65-F5344CB8AC3E}">
        <p14:creationId xmlns:p14="http://schemas.microsoft.com/office/powerpoint/2010/main" val="2367963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124096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/>
              <a:t>Three aspects of writing affect the way that readers assess your documents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91886" y="1719942"/>
            <a:ext cx="3396343" cy="4833258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/>
              <a:t>Writing</a:t>
            </a:r>
          </a:p>
        </p:txBody>
      </p:sp>
      <p:sp>
        <p:nvSpPr>
          <p:cNvPr id="4" name="Right Arrow 3"/>
          <p:cNvSpPr/>
          <p:nvPr/>
        </p:nvSpPr>
        <p:spPr>
          <a:xfrm>
            <a:off x="4027714" y="1415141"/>
            <a:ext cx="3439886" cy="1698171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02060"/>
                </a:solidFill>
              </a:rPr>
              <a:t>Content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27714" y="5159829"/>
            <a:ext cx="3439886" cy="1698171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02060"/>
                </a:solidFill>
              </a:rPr>
              <a:t>Form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027714" y="3287485"/>
            <a:ext cx="3439886" cy="1698171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02060"/>
                </a:solidFill>
              </a:rPr>
              <a:t>Style</a:t>
            </a:r>
          </a:p>
        </p:txBody>
      </p:sp>
      <p:sp>
        <p:nvSpPr>
          <p:cNvPr id="2" name="Rectangle 1"/>
          <p:cNvSpPr/>
          <p:nvPr/>
        </p:nvSpPr>
        <p:spPr>
          <a:xfrm>
            <a:off x="9357570" y="6553200"/>
            <a:ext cx="286969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>
                <a:hlinkClick r:id="rId2"/>
              </a:rPr>
              <a:t>http://writing.umn.edu/tww/assets/pdfs/intro.pdf</a:t>
            </a:r>
            <a:r>
              <a:rPr lang="en-US" sz="1000" dirty="0"/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8337665" y="1719942"/>
            <a:ext cx="3557848" cy="45727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/>
              <a:t>Reader</a:t>
            </a:r>
          </a:p>
        </p:txBody>
      </p:sp>
    </p:spTree>
    <p:extLst>
      <p:ext uri="{BB962C8B-B14F-4D97-AF65-F5344CB8AC3E}">
        <p14:creationId xmlns:p14="http://schemas.microsoft.com/office/powerpoint/2010/main" val="35575585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9DD0458-20CE-4223-94CF-87F0A87AE9AC}"/>
              </a:ext>
            </a:extLst>
          </p:cNvPr>
          <p:cNvSpPr/>
          <p:nvPr/>
        </p:nvSpPr>
        <p:spPr>
          <a:xfrm>
            <a:off x="2280619" y="189700"/>
            <a:ext cx="2528049" cy="1420121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solidFill>
                  <a:schemeClr val="tx1"/>
                </a:solidFill>
              </a:rPr>
              <a:t>Problem Statement</a:t>
            </a:r>
          </a:p>
          <a:p>
            <a:pPr algn="ctr"/>
            <a:r>
              <a:rPr lang="en-US" i="1" dirty="0">
                <a:solidFill>
                  <a:schemeClr val="tx1"/>
                </a:solidFill>
              </a:rPr>
              <a:t>(Categorize problems/questions)</a:t>
            </a:r>
          </a:p>
          <a:p>
            <a:pPr algn="ctr"/>
            <a:r>
              <a:rPr lang="en-US" b="1" u="sng" dirty="0">
                <a:solidFill>
                  <a:schemeClr val="tx1"/>
                </a:solidFill>
              </a:rPr>
              <a:t>Goals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0A4862-2A2F-48CA-B221-F454CF11215A}"/>
              </a:ext>
            </a:extLst>
          </p:cNvPr>
          <p:cNvSpPr/>
          <p:nvPr/>
        </p:nvSpPr>
        <p:spPr>
          <a:xfrm>
            <a:off x="314659" y="1878867"/>
            <a:ext cx="2655347" cy="966397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Background/Literature Review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(Prior Knowledge)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8BCC8C-2ACF-4626-9513-3EC41E09266E}"/>
              </a:ext>
            </a:extLst>
          </p:cNvPr>
          <p:cNvSpPr/>
          <p:nvPr/>
        </p:nvSpPr>
        <p:spPr>
          <a:xfrm>
            <a:off x="1511446" y="3101163"/>
            <a:ext cx="2528049" cy="230931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Generate possible solutions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- Knowledge</a:t>
            </a:r>
          </a:p>
          <a:p>
            <a:pPr marL="285750" indent="-285750" algn="ctr">
              <a:buFontTx/>
              <a:buChar char="-"/>
            </a:pPr>
            <a:r>
              <a:rPr lang="en-US" dirty="0">
                <a:solidFill>
                  <a:schemeClr val="tx1"/>
                </a:solidFill>
              </a:rPr>
              <a:t>Experience</a:t>
            </a:r>
          </a:p>
          <a:p>
            <a:pPr marL="285750" indent="-285750" algn="ctr">
              <a:buFontTx/>
              <a:buChar char="-"/>
            </a:pPr>
            <a:r>
              <a:rPr lang="en-US" dirty="0">
                <a:solidFill>
                  <a:schemeClr val="tx1"/>
                </a:solidFill>
              </a:rPr>
              <a:t>Methodology</a:t>
            </a:r>
          </a:p>
          <a:p>
            <a:pPr marL="285750" indent="-285750" algn="ctr">
              <a:buFontTx/>
              <a:buChar char="-"/>
            </a:pPr>
            <a:r>
              <a:rPr lang="en-US" dirty="0">
                <a:solidFill>
                  <a:schemeClr val="tx1"/>
                </a:solidFill>
              </a:rPr>
              <a:t>Discussion</a:t>
            </a:r>
          </a:p>
          <a:p>
            <a:pPr marL="285750" indent="-285750" algn="ctr">
              <a:buFontTx/>
              <a:buChar char="-"/>
            </a:pPr>
            <a:r>
              <a:rPr lang="en-US" dirty="0">
                <a:solidFill>
                  <a:schemeClr val="tx1"/>
                </a:solidFill>
              </a:rPr>
              <a:t>Analysis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Arrow: Left-Right-Up 7">
            <a:extLst>
              <a:ext uri="{FF2B5EF4-FFF2-40B4-BE49-F238E27FC236}">
                <a16:creationId xmlns:a16="http://schemas.microsoft.com/office/drawing/2014/main" id="{45CA0759-0112-4C81-86F7-D55E29F1ADF3}"/>
              </a:ext>
            </a:extLst>
          </p:cNvPr>
          <p:cNvSpPr/>
          <p:nvPr/>
        </p:nvSpPr>
        <p:spPr>
          <a:xfrm rot="16200000">
            <a:off x="2907483" y="2041594"/>
            <a:ext cx="1054250" cy="640946"/>
          </a:xfrm>
          <a:prstGeom prst="leftRightUpArrow">
            <a:avLst>
              <a:gd name="adj1" fmla="val 22144"/>
              <a:gd name="adj2" fmla="val 11072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B3609F-E6DC-492A-8FB1-30964938A207}"/>
              </a:ext>
            </a:extLst>
          </p:cNvPr>
          <p:cNvSpPr/>
          <p:nvPr/>
        </p:nvSpPr>
        <p:spPr>
          <a:xfrm>
            <a:off x="2208904" y="5886849"/>
            <a:ext cx="2599764" cy="570582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Results / Solutions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B1B18FE0-27C9-4A3D-A665-6097BF74B559}"/>
              </a:ext>
            </a:extLst>
          </p:cNvPr>
          <p:cNvSpPr/>
          <p:nvPr/>
        </p:nvSpPr>
        <p:spPr>
          <a:xfrm rot="5400000">
            <a:off x="3587246" y="5540201"/>
            <a:ext cx="335668" cy="164487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Up-Down 10">
            <a:extLst>
              <a:ext uri="{FF2B5EF4-FFF2-40B4-BE49-F238E27FC236}">
                <a16:creationId xmlns:a16="http://schemas.microsoft.com/office/drawing/2014/main" id="{541D63CA-6F9C-449B-928E-B3866869542D}"/>
              </a:ext>
            </a:extLst>
          </p:cNvPr>
          <p:cNvSpPr/>
          <p:nvPr/>
        </p:nvSpPr>
        <p:spPr>
          <a:xfrm>
            <a:off x="4555864" y="2153257"/>
            <a:ext cx="252804" cy="3458132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57A3D05-E14F-4CC9-ACC9-CB44B02642AA}"/>
              </a:ext>
            </a:extLst>
          </p:cNvPr>
          <p:cNvCxnSpPr>
            <a:cxnSpLocks/>
          </p:cNvCxnSpPr>
          <p:nvPr/>
        </p:nvCxnSpPr>
        <p:spPr>
          <a:xfrm>
            <a:off x="5319657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96FC2DCC-49F8-4AA0-8856-52B7E2122D65}"/>
              </a:ext>
            </a:extLst>
          </p:cNvPr>
          <p:cNvSpPr/>
          <p:nvPr/>
        </p:nvSpPr>
        <p:spPr>
          <a:xfrm>
            <a:off x="5603408" y="18970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Project: A flying drone for photography, search &amp; rescue operations.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A23140-ABC1-4666-975E-F94C3884EC69}"/>
              </a:ext>
            </a:extLst>
          </p:cNvPr>
          <p:cNvSpPr/>
          <p:nvPr/>
        </p:nvSpPr>
        <p:spPr>
          <a:xfrm>
            <a:off x="6291001" y="1072634"/>
            <a:ext cx="5586337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	</a:t>
            </a:r>
            <a:r>
              <a:rPr lang="en-US" b="1" dirty="0"/>
              <a:t>ETHICAL RESPONSIBILITIES</a:t>
            </a:r>
          </a:p>
          <a:p>
            <a:pPr marL="342900" indent="-342900">
              <a:buAutoNum type="alphaLcPeriod"/>
            </a:pPr>
            <a:r>
              <a:rPr lang="en-US" dirty="0"/>
              <a:t>Privacy concerns on private land</a:t>
            </a:r>
          </a:p>
          <a:p>
            <a:pPr marL="342900" indent="-342900">
              <a:buAutoNum type="alphaLcPeriod"/>
            </a:pPr>
            <a:r>
              <a:rPr lang="en-US" dirty="0"/>
              <a:t>Safety concerns of flying objects</a:t>
            </a:r>
          </a:p>
          <a:p>
            <a:pPr marL="342900" indent="-342900">
              <a:buAutoNum type="alphaLcPeriod"/>
            </a:pPr>
            <a:r>
              <a:rPr lang="en-US" dirty="0"/>
              <a:t>Image transfer security</a:t>
            </a:r>
          </a:p>
          <a:p>
            <a:endParaRPr lang="en-US" dirty="0"/>
          </a:p>
          <a:p>
            <a:pPr algn="ctr"/>
            <a:r>
              <a:rPr lang="en-US" b="1" dirty="0"/>
              <a:t>SOCIETAL IMPACT</a:t>
            </a:r>
          </a:p>
          <a:p>
            <a:pPr marL="342900" indent="-342900">
              <a:buAutoNum type="alphaLcPeriod"/>
            </a:pPr>
            <a:r>
              <a:rPr lang="en-US" dirty="0"/>
              <a:t>Adoption by film industry</a:t>
            </a:r>
          </a:p>
          <a:p>
            <a:pPr marL="342900" indent="-342900">
              <a:buAutoNum type="alphaLcPeriod"/>
            </a:pPr>
            <a:r>
              <a:rPr lang="en-US" dirty="0"/>
              <a:t>Adoption by Search &amp; Rescue</a:t>
            </a:r>
          </a:p>
          <a:p>
            <a:pPr marL="342900" indent="-342900">
              <a:buAutoNum type="alphaLcPeriod"/>
            </a:pPr>
            <a:endParaRPr lang="en-US" dirty="0"/>
          </a:p>
          <a:p>
            <a:pPr algn="ctr"/>
            <a:r>
              <a:rPr lang="en-US" b="1" dirty="0"/>
              <a:t>Economic Impact</a:t>
            </a:r>
          </a:p>
          <a:p>
            <a:pPr marL="342900" indent="-342900">
              <a:buAutoNum type="alphaLcPeriod"/>
            </a:pPr>
            <a:r>
              <a:rPr lang="en-US" dirty="0"/>
              <a:t>……</a:t>
            </a:r>
          </a:p>
          <a:p>
            <a:pPr marL="342900" indent="-342900">
              <a:buAutoNum type="alphaLcPeriod"/>
            </a:pPr>
            <a:r>
              <a:rPr lang="en-US" dirty="0"/>
              <a:t>……</a:t>
            </a:r>
          </a:p>
          <a:p>
            <a:pPr marL="342900" indent="-342900">
              <a:buAutoNum type="alphaLcPeriod"/>
            </a:pPr>
            <a:endParaRPr lang="en-US" dirty="0"/>
          </a:p>
          <a:p>
            <a:pPr marL="342900" indent="-342900">
              <a:buAutoNum type="alphaLcPeriod"/>
            </a:pPr>
            <a:endParaRPr lang="en-US" dirty="0"/>
          </a:p>
          <a:p>
            <a:pPr algn="ctr"/>
            <a:r>
              <a:rPr lang="en-US" b="1" dirty="0"/>
              <a:t>Conclusion: </a:t>
            </a:r>
          </a:p>
          <a:p>
            <a:pPr lvl="1" algn="ctr"/>
            <a:endParaRPr lang="en-US" dirty="0"/>
          </a:p>
          <a:p>
            <a:r>
              <a:rPr lang="en-US" dirty="0"/>
              <a:t>How did your approach address these issues?</a:t>
            </a:r>
          </a:p>
          <a:p>
            <a:pPr marL="342900" indent="-342900">
              <a:buAutoNum type="alphaLcPeriod"/>
            </a:pP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BF80206-F1B4-4DDE-87DD-FD4C84B8A2E0}"/>
              </a:ext>
            </a:extLst>
          </p:cNvPr>
          <p:cNvSpPr/>
          <p:nvPr/>
        </p:nvSpPr>
        <p:spPr>
          <a:xfrm>
            <a:off x="5521828" y="0"/>
            <a:ext cx="6568564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cap="small" dirty="0">
                <a:solidFill>
                  <a:schemeClr val="tx1"/>
                </a:solidFill>
              </a:rPr>
              <a:t>References</a:t>
            </a:r>
          </a:p>
          <a:p>
            <a:endParaRPr lang="en-US" sz="1400" cap="small" dirty="0">
              <a:solidFill>
                <a:schemeClr val="tx1"/>
              </a:solidFill>
            </a:endParaRPr>
          </a:p>
          <a:p>
            <a:pPr lvl="0"/>
            <a:r>
              <a:rPr lang="en-US" sz="1400" dirty="0">
                <a:solidFill>
                  <a:schemeClr val="tx1"/>
                </a:solidFill>
              </a:rPr>
              <a:t>[1] 	"Gartner Says Almost 3 Million Personal and Commercial Drones Will Be Shipped in 2017", </a:t>
            </a:r>
            <a:r>
              <a:rPr lang="en-US" sz="1400" i="1" dirty="0">
                <a:solidFill>
                  <a:schemeClr val="tx1"/>
                </a:solidFill>
              </a:rPr>
              <a:t>Gartner.com</a:t>
            </a:r>
            <a:r>
              <a:rPr lang="en-US" sz="1400" dirty="0">
                <a:solidFill>
                  <a:schemeClr val="tx1"/>
                </a:solidFill>
              </a:rPr>
              <a:t>, 2017. [Online]. Available: http://www.gartner.com/newsroom/id/3602317. [Accessed: 17- May- 2017].</a:t>
            </a:r>
          </a:p>
          <a:p>
            <a:r>
              <a:rPr lang="en-US" sz="1400" dirty="0">
                <a:solidFill>
                  <a:schemeClr val="tx1"/>
                </a:solidFill>
              </a:rPr>
              <a:t> </a:t>
            </a:r>
          </a:p>
          <a:p>
            <a:r>
              <a:rPr lang="en-US" sz="1400" dirty="0">
                <a:solidFill>
                  <a:schemeClr val="tx1"/>
                </a:solidFill>
              </a:rPr>
              <a:t>[2]	"A Drone, a Shotgun, and the Future of Airspace Rights", Fortune.com, 2017. [Online]. Available: http://fortune.com/2016/09/25/drone-shotgun-airspace-rights/. [Accessed: 18- May- 2017].</a:t>
            </a:r>
          </a:p>
          <a:p>
            <a:r>
              <a:rPr lang="en-US" sz="1400" dirty="0">
                <a:solidFill>
                  <a:schemeClr val="tx1"/>
                </a:solidFill>
              </a:rPr>
              <a:t> </a:t>
            </a:r>
          </a:p>
          <a:p>
            <a:r>
              <a:rPr lang="en-US" sz="1400" dirty="0">
                <a:solidFill>
                  <a:schemeClr val="tx1"/>
                </a:solidFill>
              </a:rPr>
              <a:t>[3]	"As Wildfire Season Continues to Heat up, Interior Partners with Industry to Eliminate Drone Intrusions", Doi.gov, 2017. [Online]. Available: https://www.doi.gov/pressreleases/wildfire-season-continues-heat-interior-partners-industry-eliminate-drone-intrusions. [Accessed: 18- May- 2017].</a:t>
            </a:r>
          </a:p>
          <a:p>
            <a:r>
              <a:rPr lang="en-US" sz="1400" dirty="0">
                <a:solidFill>
                  <a:schemeClr val="tx1"/>
                </a:solidFill>
              </a:rPr>
              <a:t> </a:t>
            </a:r>
          </a:p>
          <a:p>
            <a:r>
              <a:rPr lang="en-US" sz="1400" dirty="0">
                <a:solidFill>
                  <a:schemeClr val="tx1"/>
                </a:solidFill>
              </a:rPr>
              <a:t>[4]	U.S. Department of the Interior, </a:t>
            </a:r>
            <a:r>
              <a:rPr lang="en-US" sz="1400" dirty="0">
                <a:solidFill>
                  <a:schemeClr val="tx1"/>
                </a:solidFill>
                <a:hlinkClick r:id="rId2"/>
              </a:rPr>
              <a:t>https://www.doi.gov</a:t>
            </a:r>
            <a:r>
              <a:rPr lang="en-US" sz="1400" dirty="0">
                <a:solidFill>
                  <a:schemeClr val="tx1"/>
                </a:solidFill>
              </a:rPr>
              <a:t> [Accessed: 10- May- 2017]. 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[5]	R.  Verrier, "Drones are providing film and TV viewers a new perspective on the action", latimes.com, 2017. [Online]. Available: http://www.latimes.com/entertainment/envelope/cotown/la-et-ct-drones-hollywood-20151008-story.html. [Accessed: 18- May- 2017].</a:t>
            </a:r>
          </a:p>
          <a:p>
            <a:r>
              <a:rPr lang="en-US" sz="1400" dirty="0">
                <a:solidFill>
                  <a:schemeClr val="tx1"/>
                </a:solidFill>
              </a:rPr>
              <a:t> 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[6]	"Drones to the Search-and-Rescue - </a:t>
            </a:r>
            <a:r>
              <a:rPr lang="en-US" sz="1400" dirty="0" err="1">
                <a:solidFill>
                  <a:schemeClr val="tx1"/>
                </a:solidFill>
              </a:rPr>
              <a:t>AirMap</a:t>
            </a:r>
            <a:r>
              <a:rPr lang="en-US" sz="1400" dirty="0">
                <a:solidFill>
                  <a:schemeClr val="tx1"/>
                </a:solidFill>
              </a:rPr>
              <a:t>", </a:t>
            </a:r>
            <a:r>
              <a:rPr lang="en-US" sz="1400" dirty="0" err="1">
                <a:solidFill>
                  <a:schemeClr val="tx1"/>
                </a:solidFill>
              </a:rPr>
              <a:t>AirMap</a:t>
            </a:r>
            <a:r>
              <a:rPr lang="en-US" sz="1400" dirty="0">
                <a:solidFill>
                  <a:schemeClr val="tx1"/>
                </a:solidFill>
              </a:rPr>
              <a:t>, 2017. [Online]. Available: https://www.airmap.com/uas-drones-sar-search-rescue/. [Accessed: 18- May- 2017].</a:t>
            </a:r>
          </a:p>
        </p:txBody>
      </p:sp>
    </p:spTree>
    <p:extLst>
      <p:ext uri="{BB962C8B-B14F-4D97-AF65-F5344CB8AC3E}">
        <p14:creationId xmlns:p14="http://schemas.microsoft.com/office/powerpoint/2010/main" val="4288206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prstClr val="black"/>
                </a:solidFill>
              </a:rPr>
              <a:t>Structure of an essay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0" y="1349828"/>
            <a:ext cx="5747657" cy="55081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>
                <a:latin typeface="+mj-lt"/>
              </a:rPr>
              <a:t>1. Title/subtitle/Author</a:t>
            </a:r>
          </a:p>
          <a:p>
            <a:pPr marL="0" indent="0">
              <a:buNone/>
            </a:pPr>
            <a:r>
              <a:rPr lang="en-US" sz="4400" dirty="0">
                <a:latin typeface="+mj-lt"/>
              </a:rPr>
              <a:t>2.  Abstract</a:t>
            </a:r>
          </a:p>
          <a:p>
            <a:pPr marL="0" indent="0">
              <a:buNone/>
            </a:pPr>
            <a:r>
              <a:rPr lang="en-US" sz="4400" dirty="0">
                <a:latin typeface="+mj-lt"/>
              </a:rPr>
              <a:t>3.  Introduction</a:t>
            </a:r>
          </a:p>
          <a:p>
            <a:pPr marL="0" indent="0">
              <a:buNone/>
            </a:pPr>
            <a:r>
              <a:rPr lang="en-US" sz="4400" dirty="0">
                <a:latin typeface="+mj-lt"/>
              </a:rPr>
              <a:t>4.  Content</a:t>
            </a:r>
          </a:p>
          <a:p>
            <a:pPr marL="0" indent="0">
              <a:buNone/>
            </a:pPr>
            <a:r>
              <a:rPr lang="en-US" sz="4400" dirty="0">
                <a:latin typeface="+mj-lt"/>
              </a:rPr>
              <a:t>5.  Conclusion</a:t>
            </a:r>
          </a:p>
          <a:p>
            <a:pPr marL="0" indent="0">
              <a:buNone/>
            </a:pPr>
            <a:r>
              <a:rPr lang="en-US" sz="4400" dirty="0">
                <a:latin typeface="+mj-lt"/>
              </a:rPr>
              <a:t>6.  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36971" y="957942"/>
            <a:ext cx="3918858" cy="59000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Title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sz="1050" i="1" dirty="0">
                <a:solidFill>
                  <a:schemeClr val="tx1"/>
                </a:solidFill>
              </a:rPr>
              <a:t>Aaaaaaaaaaaaaaaaa</a:t>
            </a:r>
          </a:p>
          <a:p>
            <a:pPr algn="ctr"/>
            <a:r>
              <a:rPr lang="en-US" sz="1050" i="1" dirty="0">
                <a:solidFill>
                  <a:schemeClr val="tx1"/>
                </a:solidFill>
              </a:rPr>
              <a:t>Aaaaaaaaaaaaaaaaa</a:t>
            </a:r>
          </a:p>
          <a:p>
            <a:pPr algn="ctr"/>
            <a:endParaRPr lang="en-US" i="1" dirty="0">
              <a:solidFill>
                <a:schemeClr val="tx1"/>
              </a:solidFill>
            </a:endParaRPr>
          </a:p>
          <a:p>
            <a:r>
              <a:rPr lang="en-US" sz="1100" i="1" dirty="0">
                <a:solidFill>
                  <a:schemeClr val="tx1"/>
                </a:solidFill>
              </a:rPr>
              <a:t> Abstractaaaaaaaaaaaaaaaaaaaaaaaaaaaaaaaaaaaaaaaaaaaaaaaaaaaaaaaaaaaaaaaaaaaaaaaaaaaaaa.</a:t>
            </a:r>
          </a:p>
          <a:p>
            <a:endParaRPr lang="en-US" i="1" dirty="0">
              <a:solidFill>
                <a:schemeClr val="tx1"/>
              </a:solidFill>
            </a:endParaRPr>
          </a:p>
          <a:p>
            <a:r>
              <a:rPr lang="en-US" sz="1100" dirty="0">
                <a:solidFill>
                  <a:schemeClr val="tx1"/>
                </a:solidFill>
              </a:rPr>
              <a:t>Aaaaaaaaaaaaaaaaaaaaaaaaaaaaaaaaaaaaaaaaaaaaaaaaaaaaaaaaaaaaaaaaaaaaaaaaaaaaaaaaaaaaaaaaaaaaaaaaaaaaaaaaaaaaaaaaaaaaaaaaaaaaaaaaaaaaaaaaaaaaaaaaaaaaaaaaaaaaaaa</a:t>
            </a:r>
          </a:p>
          <a:p>
            <a:endParaRPr lang="en-US" sz="1100" dirty="0">
              <a:solidFill>
                <a:schemeClr val="tx1"/>
              </a:solidFill>
            </a:endParaRPr>
          </a:p>
          <a:p>
            <a:r>
              <a:rPr lang="en-US" sz="1100" dirty="0">
                <a:solidFill>
                  <a:schemeClr val="tx1"/>
                </a:solidFill>
              </a:rPr>
              <a:t>Aaaaaaaaaaaaaaaaaaaaaaaaaaaaaaaaaaaaaaaaaaaaaaaaaaaaaaaaaaaaaaaaaaaaaaaaaaaaaaaaaaaaaaaaaaaaaaaaaaaaaaaaaaaaaaaaaaaaaaaaaaaaaaaaaaaaaaaaaaaaaaaaaaaaaaaaaaaaaaaaaaaaaaaaaaaaaaaaaaa</a:t>
            </a:r>
          </a:p>
          <a:p>
            <a:endParaRPr lang="en-US" sz="1100" dirty="0">
              <a:solidFill>
                <a:schemeClr val="tx1"/>
              </a:solidFill>
            </a:endParaRPr>
          </a:p>
          <a:p>
            <a:r>
              <a:rPr lang="en-US" sz="1100" dirty="0">
                <a:solidFill>
                  <a:schemeClr val="tx1"/>
                </a:solidFill>
              </a:rPr>
              <a:t>Aaaaaaaaaaaaaaaaaaaaaaaaaaaaaaaaaaaaaaaaaaaaaaaaaaaaaaaaaaaaaaaaaaaaaaaaaaaaaaaaaaaaaaaaaaaaaaaaaaaaaaaaaaaaaaaaaaaaaaaaaaaaaaaaaaaaaaaaaaaaaaaaaaaaaaaaaaaaaaaaaaaaaaaaaaaaaaaaaaaaaaaaaaaaaaaaaaaaaaaaaaaaaaaaaaaaaaaaa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r>
              <a:rPr lang="en-US" sz="1050" dirty="0">
                <a:solidFill>
                  <a:schemeClr val="tx1"/>
                </a:solidFill>
              </a:rPr>
              <a:t>Aaaaaaaaaaaaaaaaaaaaaaaaaaaaaaaaaaaaaaaaaaaaaaaaaaaaaaaaaaaaaaaaaaaaaaaaaaaaaaaaaaaaaaaaaaaaaaaaaaaaaaaaaaaaaaaaaaaaaaaaaaaaaaaaaaaaaa</a:t>
            </a:r>
          </a:p>
          <a:p>
            <a:endParaRPr lang="en-US" sz="1050" dirty="0">
              <a:solidFill>
                <a:schemeClr val="tx1"/>
              </a:solidFill>
            </a:endParaRPr>
          </a:p>
          <a:p>
            <a:endParaRPr lang="en-US" sz="1050" dirty="0">
              <a:solidFill>
                <a:schemeClr val="tx1"/>
              </a:solidFill>
            </a:endParaRPr>
          </a:p>
          <a:p>
            <a:r>
              <a:rPr lang="en-US" sz="1050" dirty="0">
                <a:solidFill>
                  <a:schemeClr val="tx1"/>
                </a:solidFill>
              </a:rPr>
              <a:t>References: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876CA2C-304C-44C8-9BC5-EEB851100E02}"/>
              </a:ext>
            </a:extLst>
          </p:cNvPr>
          <p:cNvCxnSpPr/>
          <p:nvPr/>
        </p:nvCxnSpPr>
        <p:spPr>
          <a:xfrm flipV="1">
            <a:off x="5336771" y="1573876"/>
            <a:ext cx="2848494" cy="1274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B344F85-BCA3-4962-A9EF-6D61FE10FDEA}"/>
              </a:ext>
            </a:extLst>
          </p:cNvPr>
          <p:cNvCxnSpPr>
            <a:cxnSpLocks/>
          </p:cNvCxnSpPr>
          <p:nvPr/>
        </p:nvCxnSpPr>
        <p:spPr>
          <a:xfrm>
            <a:off x="3316778" y="2480756"/>
            <a:ext cx="383770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1BB0F55-A38F-47B2-9DCA-5191E8C384D9}"/>
              </a:ext>
            </a:extLst>
          </p:cNvPr>
          <p:cNvCxnSpPr>
            <a:cxnSpLocks/>
          </p:cNvCxnSpPr>
          <p:nvPr/>
        </p:nvCxnSpPr>
        <p:spPr>
          <a:xfrm>
            <a:off x="3739342" y="3198422"/>
            <a:ext cx="341514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2BDA0C2-5BF0-4C27-B64C-5602084BB921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2981498" y="3990901"/>
            <a:ext cx="4020193" cy="7142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D4B34DB-D6BC-4612-A834-299A7623CBB6}"/>
              </a:ext>
            </a:extLst>
          </p:cNvPr>
          <p:cNvCxnSpPr>
            <a:cxnSpLocks/>
          </p:cNvCxnSpPr>
          <p:nvPr/>
        </p:nvCxnSpPr>
        <p:spPr>
          <a:xfrm>
            <a:off x="3417916" y="4655920"/>
            <a:ext cx="3775364" cy="11186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5D59DBC-E25A-448C-97CB-8C63FDD631CB}"/>
              </a:ext>
            </a:extLst>
          </p:cNvPr>
          <p:cNvCxnSpPr>
            <a:cxnSpLocks/>
          </p:cNvCxnSpPr>
          <p:nvPr/>
        </p:nvCxnSpPr>
        <p:spPr>
          <a:xfrm>
            <a:off x="3316778" y="5486797"/>
            <a:ext cx="3937462" cy="10857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Left Brace 17">
            <a:extLst>
              <a:ext uri="{FF2B5EF4-FFF2-40B4-BE49-F238E27FC236}">
                <a16:creationId xmlns:a16="http://schemas.microsoft.com/office/drawing/2014/main" id="{0B7B6521-27D7-4644-A218-31C9298A6AB3}"/>
              </a:ext>
            </a:extLst>
          </p:cNvPr>
          <p:cNvSpPr/>
          <p:nvPr/>
        </p:nvSpPr>
        <p:spPr>
          <a:xfrm>
            <a:off x="8328956" y="1047417"/>
            <a:ext cx="288176" cy="944274"/>
          </a:xfrm>
          <a:prstGeom prst="leftBrace">
            <a:avLst>
              <a:gd name="adj1" fmla="val 8333"/>
              <a:gd name="adj2" fmla="val 53164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420AE04D-0207-4FEC-97B4-A698BF45EFC9}"/>
              </a:ext>
            </a:extLst>
          </p:cNvPr>
          <p:cNvSpPr/>
          <p:nvPr/>
        </p:nvSpPr>
        <p:spPr>
          <a:xfrm>
            <a:off x="7001691" y="3768040"/>
            <a:ext cx="252550" cy="1762692"/>
          </a:xfrm>
          <a:prstGeom prst="leftBrace">
            <a:avLst>
              <a:gd name="adj1" fmla="val 8333"/>
              <a:gd name="adj2" fmla="val 53164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1667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050EA-7B68-4906-B6F0-2EC7D24E9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796" y="2547256"/>
            <a:ext cx="6359633" cy="1175657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en-US" dirty="0">
              <a:hlinkClick r:id="rId2" action="ppaction://hlinkfile"/>
            </a:endParaRPr>
          </a:p>
          <a:p>
            <a:pPr marL="0" indent="0">
              <a:buNone/>
            </a:pPr>
            <a:r>
              <a:rPr lang="en-US" dirty="0">
                <a:hlinkClick r:id="rId3" action="ppaction://hlinkfile"/>
              </a:rPr>
              <a:t>Example 1</a:t>
            </a:r>
            <a:endParaRPr lang="en-US" dirty="0">
              <a:hlinkClick r:id="rId2" action="ppaction://hlinkfile"/>
            </a:endParaRPr>
          </a:p>
          <a:p>
            <a:pPr marL="0" indent="0">
              <a:buNone/>
            </a:pPr>
            <a:endParaRPr lang="en-US" dirty="0">
              <a:hlinkClick r:id="rId2" action="ppaction://hlinkfile"/>
            </a:endParaRPr>
          </a:p>
          <a:p>
            <a:pPr marL="0" indent="0">
              <a:buNone/>
            </a:pPr>
            <a:r>
              <a:rPr lang="en-US" dirty="0">
                <a:hlinkClick r:id="rId2" action="ppaction://hlinkfile"/>
              </a:rPr>
              <a:t>Example</a:t>
            </a:r>
            <a:r>
              <a:rPr lang="en-US" dirty="0"/>
              <a:t>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CBDE2D-8C2D-43C9-9307-96A178F261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322" y="0"/>
            <a:ext cx="117333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8931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E3819-AC15-44D1-9A5E-119529773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85A84-FFBB-4660-8669-336C1D2AB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00B98B-A0EE-4ACB-A215-569864FC1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523"/>
            <a:ext cx="12192000" cy="673695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8E04B83-DBF2-4F0B-A5ED-EA303D8C8021}"/>
              </a:ext>
            </a:extLst>
          </p:cNvPr>
          <p:cNvSpPr/>
          <p:nvPr/>
        </p:nvSpPr>
        <p:spPr>
          <a:xfrm>
            <a:off x="6019800" y="5033963"/>
            <a:ext cx="5624513" cy="15954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553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prstClr val="black"/>
                </a:solidFill>
              </a:rPr>
              <a:t>Structure of an essay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762000"/>
            <a:ext cx="12191999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C00000"/>
                </a:solidFill>
                <a:latin typeface="+mj-lt"/>
              </a:rPr>
              <a:t>Title:</a:t>
            </a:r>
          </a:p>
          <a:p>
            <a:r>
              <a:rPr lang="en-US" sz="4000" dirty="0">
                <a:latin typeface="+mj-lt"/>
              </a:rPr>
              <a:t>	</a:t>
            </a:r>
            <a:r>
              <a:rPr lang="en-US" sz="4000" b="1" dirty="0">
                <a:latin typeface="+mj-lt"/>
              </a:rPr>
              <a:t>Must be Relevant, Accurate, Concise, Strong</a:t>
            </a:r>
          </a:p>
          <a:p>
            <a:endParaRPr lang="en-US" sz="4000" b="1" dirty="0">
              <a:latin typeface="+mj-lt"/>
            </a:endParaRPr>
          </a:p>
          <a:p>
            <a:r>
              <a:rPr lang="en-US" sz="4000" b="1" dirty="0">
                <a:latin typeface="+mj-lt"/>
              </a:rPr>
              <a:t>	Must separates your work from everyone else's 	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92987" y="4535899"/>
            <a:ext cx="6554134" cy="17543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+mj-lt"/>
              </a:rPr>
              <a:t>Energy efficiency in high-speed railway traffic operation: a real-time ecodriving 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" y="4535899"/>
            <a:ext cx="4403706" cy="17543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+mj-lt"/>
              </a:rPr>
              <a:t>An algorithm for </a:t>
            </a:r>
          </a:p>
          <a:p>
            <a:r>
              <a:rPr lang="en-US" sz="3600" dirty="0">
                <a:latin typeface="+mj-lt"/>
              </a:rPr>
              <a:t>Energy efficiency in railway traffic</a:t>
            </a:r>
          </a:p>
        </p:txBody>
      </p:sp>
      <p:sp>
        <p:nvSpPr>
          <p:cNvPr id="4" name="Right Arrow 3"/>
          <p:cNvSpPr/>
          <p:nvPr/>
        </p:nvSpPr>
        <p:spPr>
          <a:xfrm>
            <a:off x="4482372" y="5170746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586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4A608-BF5A-4815-9688-1E7275716F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123416"/>
            <a:ext cx="12105982" cy="6734584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The Hall Effect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 Hall-Effect Current Sensors</a:t>
            </a:r>
            <a:br>
              <a:rPr lang="en-US" sz="4000" dirty="0"/>
            </a:br>
            <a:br>
              <a:rPr lang="en-US" sz="4000" dirty="0"/>
            </a:b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Hall-Effect Current Sensors</a:t>
            </a:r>
            <a:r>
              <a:rPr lang="en-US" sz="4000" dirty="0"/>
              <a:t>: Principles of Operation and Implementation Techniques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Hall Effect Sensors Design, Integration and Behavior Analysis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Use of Hall Effect Sensors for Protection and Monitoring Applications</a:t>
            </a:r>
            <a:br>
              <a:rPr lang="en-US" sz="4000" dirty="0"/>
            </a:br>
            <a:br>
              <a:rPr lang="en-US" sz="4000" dirty="0"/>
            </a:br>
            <a:endParaRPr lang="en-US" sz="4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775DBCB-BA1D-4C02-B41A-247694AC379E}"/>
              </a:ext>
            </a:extLst>
          </p:cNvPr>
          <p:cNvCxnSpPr/>
          <p:nvPr/>
        </p:nvCxnSpPr>
        <p:spPr>
          <a:xfrm>
            <a:off x="2030753" y="1121963"/>
            <a:ext cx="8106184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8D2BC49-C0BE-4216-899D-5CCFD1EC63F3}"/>
              </a:ext>
            </a:extLst>
          </p:cNvPr>
          <p:cNvCxnSpPr/>
          <p:nvPr/>
        </p:nvCxnSpPr>
        <p:spPr>
          <a:xfrm>
            <a:off x="2030753" y="2003639"/>
            <a:ext cx="8106184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E4E93D5-F947-4BB1-A4C2-D3CD58A21BC0}"/>
              </a:ext>
            </a:extLst>
          </p:cNvPr>
          <p:cNvCxnSpPr/>
          <p:nvPr/>
        </p:nvCxnSpPr>
        <p:spPr>
          <a:xfrm>
            <a:off x="2030753" y="3686584"/>
            <a:ext cx="8106184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84A8591-B52D-4EAE-B774-DAF0433684D6}"/>
              </a:ext>
            </a:extLst>
          </p:cNvPr>
          <p:cNvCxnSpPr/>
          <p:nvPr/>
        </p:nvCxnSpPr>
        <p:spPr>
          <a:xfrm>
            <a:off x="2042908" y="4752449"/>
            <a:ext cx="8106184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24014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A8847B9-FA80-4234-B8C5-4C3CFF6B49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333" y="191706"/>
            <a:ext cx="7479876" cy="625617"/>
          </a:xfrm>
        </p:spPr>
        <p:txBody>
          <a:bodyPr>
            <a:noAutofit/>
          </a:bodyPr>
          <a:lstStyle/>
          <a:p>
            <a:pPr algn="l"/>
            <a:r>
              <a:rPr lang="en-US" sz="4000" b="1" dirty="0">
                <a:solidFill>
                  <a:srgbClr val="C00000"/>
                </a:solidFill>
              </a:rPr>
              <a:t>Bad examples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1F1ABC-0FDD-45DE-9B7A-E6ECAA089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655" y="1030287"/>
            <a:ext cx="10193854" cy="17765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2F5877-FE39-4AB8-80EC-7877A64DD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903" y="3120447"/>
            <a:ext cx="10926363" cy="843712"/>
          </a:xfrm>
          <a:prstGeom prst="rect">
            <a:avLst/>
          </a:prstGeom>
          <a:ln w="12700">
            <a:solidFill>
              <a:srgbClr val="7030A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F86C3E-966D-4410-B2AD-927DE75795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7409" y="4390087"/>
            <a:ext cx="6400800" cy="2257941"/>
          </a:xfrm>
          <a:prstGeom prst="rect">
            <a:avLst/>
          </a:prstGeom>
          <a:ln w="47625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4741286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C9F0DF-89B5-AA35-EEFB-FEE5AE557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307" y="0"/>
            <a:ext cx="11283386" cy="35990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01EF49-50E0-93A2-D796-755038EE4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166" y="3941024"/>
            <a:ext cx="11675402" cy="2916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0650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A8C213-67FC-DC17-5D1B-D25D8AD24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" y="392723"/>
            <a:ext cx="12129130" cy="6101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617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018308"/>
            <a:ext cx="12192000" cy="3241965"/>
          </a:xfrm>
        </p:spPr>
        <p:txBody>
          <a:bodyPr>
            <a:normAutofit/>
          </a:bodyPr>
          <a:lstStyle/>
          <a:p>
            <a:r>
              <a:rPr lang="en-US" sz="4000" b="1" dirty="0"/>
              <a:t> </a:t>
            </a:r>
            <a:r>
              <a:rPr lang="en-US" sz="4800" b="1" dirty="0">
                <a:solidFill>
                  <a:srgbClr val="C00000"/>
                </a:solidFill>
              </a:rPr>
              <a:t>Abstract</a:t>
            </a:r>
            <a:r>
              <a:rPr lang="en-US" sz="4000" b="1" dirty="0"/>
              <a:t> (usually 150-200 words)</a:t>
            </a:r>
          </a:p>
          <a:p>
            <a:r>
              <a:rPr lang="en-US" sz="4000" b="1" dirty="0"/>
              <a:t> </a:t>
            </a:r>
            <a:r>
              <a:rPr lang="en-US" sz="3600" b="1" i="1" dirty="0">
                <a:solidFill>
                  <a:srgbClr val="002060"/>
                </a:solidFill>
              </a:rPr>
              <a:t>What is the difference between Abstract and Introduction?</a:t>
            </a:r>
          </a:p>
          <a:p>
            <a:endParaRPr lang="en-US" sz="3600" b="1" i="1" dirty="0">
              <a:solidFill>
                <a:srgbClr val="002060"/>
              </a:solidFill>
            </a:endParaRPr>
          </a:p>
          <a:p>
            <a:r>
              <a:rPr lang="en-US" sz="3600" b="1" dirty="0"/>
              <a:t>Abstract is a short summary of the entire paper that states the purpose of the paper and its main conclusion.</a:t>
            </a:r>
          </a:p>
          <a:p>
            <a:endParaRPr lang="en-US" sz="3600" b="1" dirty="0"/>
          </a:p>
          <a:p>
            <a:endParaRPr lang="en-US" sz="3600" b="1" i="1" dirty="0">
              <a:solidFill>
                <a:srgbClr val="00206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78970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prstClr val="black"/>
                </a:solidFill>
                <a:latin typeface="+mn-lt"/>
              </a:rPr>
              <a:t>Essay Layout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457343"/>
            <a:ext cx="12192000" cy="2462213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bg1"/>
                </a:solidFill>
              </a:rPr>
              <a:t>	</a:t>
            </a:r>
            <a:r>
              <a:rPr lang="en-US" sz="3200" b="1" dirty="0">
                <a:solidFill>
                  <a:srgbClr val="FFFF00"/>
                </a:solidFill>
              </a:rPr>
              <a:t>&gt;</a:t>
            </a:r>
            <a:r>
              <a:rPr lang="en-US" sz="3000" b="1" dirty="0">
                <a:solidFill>
                  <a:schemeClr val="bg1"/>
                </a:solidFill>
              </a:rPr>
              <a:t> The abstract of a paper is the only part of the paper that is 	published in conference proceedings.</a:t>
            </a:r>
          </a:p>
          <a:p>
            <a:endParaRPr lang="en-US" sz="3000" b="1" dirty="0">
              <a:solidFill>
                <a:schemeClr val="bg1"/>
              </a:solidFill>
            </a:endParaRPr>
          </a:p>
          <a:p>
            <a:r>
              <a:rPr lang="en-US" sz="3000" b="1" dirty="0">
                <a:solidFill>
                  <a:schemeClr val="bg1"/>
                </a:solidFill>
              </a:rPr>
              <a:t>	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&gt; </a:t>
            </a:r>
            <a:r>
              <a:rPr lang="en-US" sz="3000" b="1" dirty="0">
                <a:solidFill>
                  <a:schemeClr val="bg1"/>
                </a:solidFill>
              </a:rPr>
              <a:t>The abstract is the only part of the paper that readers see when 	they	search through most of electronic databases.   </a:t>
            </a:r>
          </a:p>
        </p:txBody>
      </p:sp>
    </p:spTree>
    <p:extLst>
      <p:ext uri="{BB962C8B-B14F-4D97-AF65-F5344CB8AC3E}">
        <p14:creationId xmlns:p14="http://schemas.microsoft.com/office/powerpoint/2010/main" val="1211296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885" y="0"/>
            <a:ext cx="12060115" cy="6858000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Abstract</a:t>
            </a:r>
            <a:r>
              <a:rPr lang="en-US" sz="3200" b="1" dirty="0"/>
              <a:t> typically contains topic, research question, methods, results, and conclusion.</a:t>
            </a:r>
          </a:p>
          <a:p>
            <a:endParaRPr lang="en-US" sz="3200" dirty="0"/>
          </a:p>
          <a:p>
            <a:r>
              <a:rPr lang="en-US" sz="3200" dirty="0"/>
              <a:t> Uses </a:t>
            </a:r>
            <a:r>
              <a:rPr lang="en-US" sz="3200" b="1" dirty="0"/>
              <a:t>one or more well-developed paragraphs</a:t>
            </a:r>
            <a:r>
              <a:rPr lang="en-US" sz="3200" dirty="0"/>
              <a:t>, which are unified, 	coherent, concise, and able to stand alone</a:t>
            </a:r>
          </a:p>
          <a:p>
            <a:pPr marL="0" indent="0">
              <a:buNone/>
            </a:pPr>
            <a:r>
              <a:rPr lang="en-US" sz="3200" dirty="0"/>
              <a:t>•  Uses </a:t>
            </a:r>
            <a:r>
              <a:rPr lang="en-US" sz="3200" b="1" dirty="0"/>
              <a:t>an introduction-body-conclusion </a:t>
            </a:r>
            <a:r>
              <a:rPr lang="en-US" sz="3200" dirty="0"/>
              <a:t>structure in which the parts of 	the report are discussed in order: </a:t>
            </a:r>
            <a:r>
              <a:rPr lang="en-US" sz="3200" u="sng" dirty="0"/>
              <a:t>purpose, research questions, </a:t>
            </a:r>
            <a:r>
              <a:rPr lang="en-US" sz="3200" dirty="0"/>
              <a:t>	</a:t>
            </a:r>
            <a:r>
              <a:rPr lang="en-US" sz="3200" u="sng" dirty="0"/>
              <a:t>methods, findings, conclusions, recommendations.</a:t>
            </a:r>
          </a:p>
          <a:p>
            <a:pPr marL="0" indent="0">
              <a:buNone/>
            </a:pPr>
            <a:r>
              <a:rPr lang="en-US" sz="3200" dirty="0"/>
              <a:t>•  Follows strictly the </a:t>
            </a:r>
            <a:r>
              <a:rPr lang="en-US" sz="3200" b="1" dirty="0"/>
              <a:t>chronology</a:t>
            </a:r>
            <a:r>
              <a:rPr lang="en-US" sz="3200" dirty="0"/>
              <a:t> of the report</a:t>
            </a:r>
          </a:p>
          <a:p>
            <a:pPr marL="0" indent="0">
              <a:buNone/>
            </a:pPr>
            <a:r>
              <a:rPr lang="en-US" sz="3200" dirty="0"/>
              <a:t>•  Adds no new information - merely </a:t>
            </a:r>
            <a:r>
              <a:rPr lang="en-US" sz="3200" b="1" dirty="0"/>
              <a:t>summarizes report.</a:t>
            </a:r>
          </a:p>
          <a:p>
            <a:pPr marL="0" indent="0">
              <a:buNone/>
            </a:pPr>
            <a:r>
              <a:rPr lang="en-US" sz="3200" dirty="0"/>
              <a:t>•  </a:t>
            </a:r>
            <a:r>
              <a:rPr lang="en-US" sz="3200" dirty="0">
                <a:solidFill>
                  <a:srgbClr val="C00000"/>
                </a:solidFill>
              </a:rPr>
              <a:t>Contains stand-alone qualities </a:t>
            </a:r>
            <a:r>
              <a:rPr lang="en-US" sz="3200" dirty="0"/>
              <a:t>- the abstract </a:t>
            </a:r>
            <a:r>
              <a:rPr lang="en-US" sz="3200" b="1" dirty="0"/>
              <a:t>can be understood 	without reading the paper.</a:t>
            </a:r>
          </a:p>
          <a:p>
            <a:pPr marL="0" indent="0">
              <a:buNone/>
            </a:pPr>
            <a:r>
              <a:rPr lang="en-US" sz="3200" dirty="0"/>
              <a:t>•  Is intelligible to a wide audience.</a:t>
            </a:r>
          </a:p>
        </p:txBody>
      </p:sp>
    </p:spTree>
    <p:extLst>
      <p:ext uri="{BB962C8B-B14F-4D97-AF65-F5344CB8AC3E}">
        <p14:creationId xmlns:p14="http://schemas.microsoft.com/office/powerpoint/2010/main" val="25839020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6814CE-4883-7831-CD92-BFA1A3CCB352}"/>
              </a:ext>
            </a:extLst>
          </p:cNvPr>
          <p:cNvSpPr txBox="1"/>
          <p:nvPr/>
        </p:nvSpPr>
        <p:spPr>
          <a:xfrm>
            <a:off x="257907" y="545123"/>
            <a:ext cx="11435861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/>
              <a:t>In abstract: </a:t>
            </a:r>
          </a:p>
          <a:p>
            <a:endParaRPr lang="en-US" sz="4400" dirty="0"/>
          </a:p>
          <a:p>
            <a:r>
              <a:rPr lang="en-US" sz="4400" dirty="0"/>
              <a:t>Avoid General Discussions</a:t>
            </a:r>
          </a:p>
          <a:p>
            <a:r>
              <a:rPr lang="en-US" sz="4400" dirty="0"/>
              <a:t>Avoid Textbook Style Writing</a:t>
            </a:r>
          </a:p>
          <a:p>
            <a:r>
              <a:rPr lang="en-US" sz="4400" dirty="0"/>
              <a:t>Avoid Irrelevant Information</a:t>
            </a:r>
          </a:p>
          <a:p>
            <a:r>
              <a:rPr lang="en-US" sz="4400" dirty="0"/>
              <a:t>Avoid Long Sentences and Long Paragraphs</a:t>
            </a:r>
          </a:p>
          <a:p>
            <a:r>
              <a:rPr lang="en-US" sz="4400" dirty="0"/>
              <a:t>Avoid Narrative Style</a:t>
            </a:r>
          </a:p>
        </p:txBody>
      </p:sp>
    </p:spTree>
    <p:extLst>
      <p:ext uri="{BB962C8B-B14F-4D97-AF65-F5344CB8AC3E}">
        <p14:creationId xmlns:p14="http://schemas.microsoft.com/office/powerpoint/2010/main" val="7546632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10916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+mn-lt"/>
              </a:rPr>
              <a:t>Abstract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10916"/>
            <a:ext cx="11353800" cy="6214080"/>
          </a:xfrm>
        </p:spPr>
        <p:txBody>
          <a:bodyPr>
            <a:noAutofit/>
          </a:bodyPr>
          <a:lstStyle/>
          <a:p>
            <a:r>
              <a:rPr lang="en-US" sz="2400" dirty="0"/>
              <a:t>What is an abstract?</a:t>
            </a:r>
          </a:p>
          <a:p>
            <a:r>
              <a:rPr lang="en-US" sz="2400" dirty="0"/>
              <a:t>A150- to 200-word paragraph that provides readers with a </a:t>
            </a:r>
            <a:r>
              <a:rPr lang="en-US" sz="2400" b="1" u="sng" dirty="0"/>
              <a:t>quick overview of your essay </a:t>
            </a:r>
            <a:r>
              <a:rPr lang="en-US" sz="2400" u="sng" dirty="0"/>
              <a:t>and its organization</a:t>
            </a:r>
            <a:r>
              <a:rPr lang="en-US" sz="2400" dirty="0"/>
              <a:t>. </a:t>
            </a:r>
          </a:p>
          <a:p>
            <a:r>
              <a:rPr lang="en-US" sz="2400" dirty="0"/>
              <a:t>It should express your thesis (or central idea) and your key points.</a:t>
            </a:r>
          </a:p>
          <a:p>
            <a:r>
              <a:rPr lang="en-US" sz="2400" dirty="0"/>
              <a:t>It should also suggest any implications or applications of the research you discuss in the paper.</a:t>
            </a:r>
          </a:p>
          <a:p>
            <a:r>
              <a:rPr lang="en-US" sz="2400" dirty="0">
                <a:solidFill>
                  <a:srgbClr val="C00000"/>
                </a:solidFill>
              </a:rPr>
              <a:t>An abstract is “a concise summary of the entire paper.”</a:t>
            </a:r>
          </a:p>
          <a:p>
            <a:r>
              <a:rPr lang="en-US" sz="2400" dirty="0"/>
              <a:t>The function of an abstract is to describe, not to evaluate or defend, the paper.</a:t>
            </a:r>
          </a:p>
          <a:p>
            <a:r>
              <a:rPr lang="en-US" sz="2400" dirty="0"/>
              <a:t>The abstract should begin with a brief but precise statement of the problem or issue, followed by a description of the research method and design, the major findings, and the conclusions reached.</a:t>
            </a:r>
          </a:p>
          <a:p>
            <a:r>
              <a:rPr lang="en-US" sz="2400" dirty="0">
                <a:solidFill>
                  <a:srgbClr val="C00000"/>
                </a:solidFill>
              </a:rPr>
              <a:t>The abstract should contain the most important key words referring to method and content:</a:t>
            </a:r>
            <a:r>
              <a:rPr lang="en-US" sz="2400" dirty="0"/>
              <a:t> these facilitate access to the abstract by computer search and enable a reader to decide whether to read the entire dissertation.</a:t>
            </a:r>
          </a:p>
        </p:txBody>
      </p:sp>
    </p:spTree>
    <p:extLst>
      <p:ext uri="{BB962C8B-B14F-4D97-AF65-F5344CB8AC3E}">
        <p14:creationId xmlns:p14="http://schemas.microsoft.com/office/powerpoint/2010/main" val="37105701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F890EB-E93E-435B-B3D4-F6844250D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162"/>
            <a:ext cx="12323045" cy="67858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1766339-0222-484D-AD8F-737DFC77C838}"/>
              </a:ext>
            </a:extLst>
          </p:cNvPr>
          <p:cNvSpPr txBox="1"/>
          <p:nvPr/>
        </p:nvSpPr>
        <p:spPr>
          <a:xfrm>
            <a:off x="0" y="190734"/>
            <a:ext cx="296759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The abstract should begin with a brief but precise statement of the problem or issue, followed by a description of the research method and design, the major findings, and the conclusions reached.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845B7-5561-4773-95E2-2E409E0B7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523" y="1489242"/>
            <a:ext cx="5562600" cy="5202525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/>
              <a:t>Abstract</a:t>
            </a:r>
          </a:p>
          <a:p>
            <a:pPr marL="0" indent="0">
              <a:buNone/>
            </a:pPr>
            <a:r>
              <a:rPr lang="en-US" sz="2200" dirty="0"/>
              <a:t>The societal and ethical impacts of</a:t>
            </a:r>
          </a:p>
          <a:p>
            <a:pPr marL="0" indent="0">
              <a:buNone/>
            </a:pPr>
            <a:r>
              <a:rPr lang="en-US" sz="2200" dirty="0"/>
              <a:t>introducing new technology is often</a:t>
            </a:r>
          </a:p>
          <a:p>
            <a:pPr marL="0" indent="0">
              <a:buNone/>
            </a:pPr>
            <a:r>
              <a:rPr lang="en-US" sz="2200" dirty="0"/>
              <a:t>overlooked. The responsibility falls on the</a:t>
            </a:r>
          </a:p>
          <a:p>
            <a:pPr marL="0" indent="0">
              <a:buNone/>
            </a:pPr>
            <a:r>
              <a:rPr lang="en-US" sz="2200" dirty="0"/>
              <a:t>developers to address and find solutions to</a:t>
            </a:r>
          </a:p>
          <a:p>
            <a:pPr marL="0" indent="0">
              <a:buNone/>
            </a:pPr>
            <a:r>
              <a:rPr lang="en-US" sz="2200" dirty="0"/>
              <a:t>these problems. This paper addresses some</a:t>
            </a:r>
          </a:p>
          <a:p>
            <a:pPr marL="0" indent="0">
              <a:buNone/>
            </a:pPr>
            <a:r>
              <a:rPr lang="en-US" sz="2200" dirty="0"/>
              <a:t>of the issues in engineering an Air Hockey</a:t>
            </a:r>
          </a:p>
          <a:p>
            <a:pPr marL="0" indent="0">
              <a:buNone/>
            </a:pPr>
            <a:r>
              <a:rPr lang="en-US" sz="2200" dirty="0"/>
              <a:t>Robot. Issues regarding societal impact,</a:t>
            </a:r>
          </a:p>
          <a:p>
            <a:pPr marL="0" indent="0">
              <a:buNone/>
            </a:pPr>
            <a:r>
              <a:rPr lang="en-US" sz="2200" dirty="0"/>
              <a:t>privacy issues and global impact on the</a:t>
            </a:r>
          </a:p>
          <a:p>
            <a:pPr marL="0" indent="0">
              <a:buNone/>
            </a:pPr>
            <a:r>
              <a:rPr lang="en-US" sz="2200" dirty="0"/>
              <a:t>environment. It does this and provides</a:t>
            </a:r>
          </a:p>
          <a:p>
            <a:pPr marL="0" indent="0">
              <a:buNone/>
            </a:pPr>
            <a:r>
              <a:rPr lang="en-US" sz="2200" dirty="0"/>
              <a:t>solutions to the problems, some which can</a:t>
            </a:r>
          </a:p>
          <a:p>
            <a:pPr marL="0" indent="0">
              <a:buNone/>
            </a:pPr>
            <a:r>
              <a:rPr lang="en-US" sz="2200" dirty="0"/>
              <a:t>be implemented without altering the design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269E55-DC15-4051-A916-B62C7F7961D3}"/>
              </a:ext>
            </a:extLst>
          </p:cNvPr>
          <p:cNvSpPr txBox="1"/>
          <p:nvPr/>
        </p:nvSpPr>
        <p:spPr>
          <a:xfrm>
            <a:off x="6456542" y="1270460"/>
            <a:ext cx="5562600" cy="5509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200" dirty="0"/>
              <a:t>Abstract – The advancement of technology </a:t>
            </a:r>
          </a:p>
          <a:p>
            <a:r>
              <a:rPr lang="en-US" sz="2200" dirty="0"/>
              <a:t>affects how we progress as a society. </a:t>
            </a:r>
          </a:p>
          <a:p>
            <a:r>
              <a:rPr lang="en-US" sz="2200" dirty="0"/>
              <a:t>Solving problems does not stop in the </a:t>
            </a:r>
          </a:p>
          <a:p>
            <a:r>
              <a:rPr lang="en-US" sz="2200" dirty="0"/>
              <a:t>classroom. Innovation must be extended </a:t>
            </a:r>
          </a:p>
          <a:p>
            <a:r>
              <a:rPr lang="en-US" sz="2200" dirty="0"/>
              <a:t>past the reach of conventional settings. </a:t>
            </a:r>
          </a:p>
          <a:p>
            <a:r>
              <a:rPr lang="en-US" sz="2200" dirty="0"/>
              <a:t>Technology must be used to create </a:t>
            </a:r>
          </a:p>
          <a:p>
            <a:r>
              <a:rPr lang="en-US" sz="2200" dirty="0"/>
              <a:t>meaningful social and ethical impacts. The</a:t>
            </a:r>
          </a:p>
          <a:p>
            <a:r>
              <a:rPr lang="en-US" sz="2200" dirty="0"/>
              <a:t>lack of gender and racial representation has </a:t>
            </a:r>
          </a:p>
          <a:p>
            <a:r>
              <a:rPr lang="en-US" sz="2200" dirty="0"/>
              <a:t>limited the amount of influence in our </a:t>
            </a:r>
          </a:p>
          <a:p>
            <a:r>
              <a:rPr lang="en-US" sz="2200" dirty="0"/>
              <a:t>communities. Closing this gap starts with</a:t>
            </a:r>
          </a:p>
          <a:p>
            <a:r>
              <a:rPr lang="en-US" sz="2200" dirty="0"/>
              <a:t>exposure at an early age. It is our </a:t>
            </a:r>
          </a:p>
          <a:p>
            <a:r>
              <a:rPr lang="en-US" sz="2200" dirty="0"/>
              <a:t>responsibility as engineers to show how </a:t>
            </a:r>
          </a:p>
          <a:p>
            <a:r>
              <a:rPr lang="en-US" sz="2200" dirty="0"/>
              <a:t>entertaining and informative, science and </a:t>
            </a:r>
          </a:p>
          <a:p>
            <a:r>
              <a:rPr lang="en-US" sz="2200" dirty="0"/>
              <a:t>mathematics can be. Engineers need to be </a:t>
            </a:r>
          </a:p>
          <a:p>
            <a:r>
              <a:rPr lang="en-US" sz="2200" dirty="0"/>
              <a:t>able to outline how self-development can be </a:t>
            </a:r>
          </a:p>
          <a:p>
            <a:r>
              <a:rPr lang="en-US" sz="2200" dirty="0"/>
              <a:t>established.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CD5BEA-FFA7-4E42-9622-0405D4B660D2}"/>
              </a:ext>
            </a:extLst>
          </p:cNvPr>
          <p:cNvSpPr txBox="1"/>
          <p:nvPr/>
        </p:nvSpPr>
        <p:spPr>
          <a:xfrm>
            <a:off x="847082" y="611470"/>
            <a:ext cx="28071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Bad Examples </a:t>
            </a:r>
          </a:p>
        </p:txBody>
      </p:sp>
    </p:spTree>
    <p:extLst>
      <p:ext uri="{BB962C8B-B14F-4D97-AF65-F5344CB8AC3E}">
        <p14:creationId xmlns:p14="http://schemas.microsoft.com/office/powerpoint/2010/main" val="31793693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B506D-CDEA-4DBE-AFFF-9811ECE672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7999" y="82249"/>
            <a:ext cx="10397066" cy="778934"/>
          </a:xfrm>
        </p:spPr>
        <p:txBody>
          <a:bodyPr>
            <a:normAutofit/>
          </a:bodyPr>
          <a:lstStyle/>
          <a:p>
            <a:r>
              <a:rPr lang="en-US" sz="4000" dirty="0"/>
              <a:t>Keywords  or Index Terms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35DA04-9ED6-4FF1-BC00-128C732ADE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6335" y="967618"/>
            <a:ext cx="11819466" cy="3923696"/>
          </a:xfrm>
        </p:spPr>
        <p:txBody>
          <a:bodyPr>
            <a:normAutofit/>
          </a:bodyPr>
          <a:lstStyle/>
          <a:p>
            <a:pPr algn="l"/>
            <a:r>
              <a:rPr lang="en-US" sz="2800" dirty="0"/>
              <a:t>Keywords are words that capture the essence of your paper.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algn="l"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Identify the most important 2 - 4 words from your research question </a:t>
            </a:r>
            <a:r>
              <a:rPr lang="en-US" sz="2800" dirty="0"/>
              <a:t>or thesis.</a:t>
            </a:r>
          </a:p>
          <a:p>
            <a:pPr algn="l"/>
            <a:endParaRPr lang="en-US" sz="2800" dirty="0"/>
          </a:p>
          <a:p>
            <a:pPr algn="l"/>
            <a:r>
              <a:rPr lang="en-US" sz="2800" dirty="0"/>
              <a:t>Do not use words or phrases from the title as keywords.</a:t>
            </a:r>
          </a:p>
          <a:p>
            <a:pPr algn="l"/>
            <a:endParaRPr lang="en-US" sz="2800" dirty="0"/>
          </a:p>
          <a:p>
            <a:pPr algn="l"/>
            <a:r>
              <a:rPr lang="en-US" sz="2800" dirty="0"/>
              <a:t>Keywords make your paper searchable.</a:t>
            </a:r>
          </a:p>
          <a:p>
            <a:pPr algn="l"/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127712-8600-4EBF-95B4-CDE7BBB25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6068" y="5254311"/>
            <a:ext cx="5651940" cy="63607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chemeClr val="accent1">
                <a:lumMod val="75000"/>
              </a:schemeClr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13AA514-3EAA-4179-8406-783A5EEEC777}"/>
              </a:ext>
            </a:extLst>
          </p:cNvPr>
          <p:cNvSpPr txBox="1"/>
          <p:nvPr/>
        </p:nvSpPr>
        <p:spPr>
          <a:xfrm>
            <a:off x="449942" y="5427602"/>
            <a:ext cx="542456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i="1" dirty="0"/>
              <a:t>Keywords – technology, education, STEM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6CAE95-0D67-4565-98E5-9408F90CF66B}"/>
              </a:ext>
            </a:extLst>
          </p:cNvPr>
          <p:cNvSpPr txBox="1"/>
          <p:nvPr/>
        </p:nvSpPr>
        <p:spPr>
          <a:xfrm>
            <a:off x="449942" y="6014739"/>
            <a:ext cx="9705219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/>
              <a:t>Keywords— hoverbike, public safety, privacy, clean energy, environmental impact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99C8DA8-A82A-4157-BC05-73C86FF83713}"/>
              </a:ext>
            </a:extLst>
          </p:cNvPr>
          <p:cNvCxnSpPr/>
          <p:nvPr/>
        </p:nvCxnSpPr>
        <p:spPr>
          <a:xfrm flipV="1">
            <a:off x="226335" y="4634541"/>
            <a:ext cx="11772141" cy="38705"/>
          </a:xfrm>
          <a:prstGeom prst="line">
            <a:avLst/>
          </a:prstGeom>
          <a:ln w="25400" cmpd="dbl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A54BA2B-C6A9-4816-80F5-2A91CCCC7F67}"/>
              </a:ext>
            </a:extLst>
          </p:cNvPr>
          <p:cNvSpPr txBox="1"/>
          <p:nvPr/>
        </p:nvSpPr>
        <p:spPr>
          <a:xfrm>
            <a:off x="226335" y="4723218"/>
            <a:ext cx="5659755" cy="461665"/>
          </a:xfrm>
          <a:prstGeom prst="rect">
            <a:avLst/>
          </a:prstGeom>
          <a:solidFill>
            <a:srgbClr val="EFFDCD"/>
          </a:solidFill>
        </p:spPr>
        <p:txBody>
          <a:bodyPr wrap="none" rtlCol="0">
            <a:spAutoFit/>
          </a:bodyPr>
          <a:lstStyle/>
          <a:p>
            <a:r>
              <a:rPr lang="en-US" sz="2400" b="1" dirty="0"/>
              <a:t>Some bad examples from the past years </a:t>
            </a:r>
          </a:p>
        </p:txBody>
      </p:sp>
    </p:spTree>
    <p:extLst>
      <p:ext uri="{BB962C8B-B14F-4D97-AF65-F5344CB8AC3E}">
        <p14:creationId xmlns:p14="http://schemas.microsoft.com/office/powerpoint/2010/main" val="10847426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4229C1-0949-20C5-C3FF-6C8CE6577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31" y="211015"/>
            <a:ext cx="9284682" cy="32179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40ED3E-0652-4FBF-B9DC-EC6C33D05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634" y="3876846"/>
            <a:ext cx="10656703" cy="270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6169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147" y="789709"/>
            <a:ext cx="12079705" cy="606829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b="1" dirty="0"/>
              <a:t>1. It introduces the </a:t>
            </a:r>
            <a:r>
              <a:rPr lang="en-US" sz="3600" b="1" dirty="0">
                <a:solidFill>
                  <a:srgbClr val="C00000"/>
                </a:solidFill>
              </a:rPr>
              <a:t>problem</a:t>
            </a:r>
            <a:r>
              <a:rPr lang="en-US" sz="3600" b="1" dirty="0"/>
              <a:t> and </a:t>
            </a:r>
            <a:r>
              <a:rPr lang="en-US" sz="3600" b="1" dirty="0">
                <a:solidFill>
                  <a:srgbClr val="C00000"/>
                </a:solidFill>
              </a:rPr>
              <a:t>motivation</a:t>
            </a:r>
            <a:r>
              <a:rPr lang="en-US" sz="3600" b="1" dirty="0"/>
              <a:t> for the study.</a:t>
            </a:r>
          </a:p>
          <a:p>
            <a:endParaRPr lang="en-US" sz="3600" dirty="0"/>
          </a:p>
          <a:p>
            <a:pPr lvl="2"/>
            <a:r>
              <a:rPr lang="en-US" sz="3600" dirty="0"/>
              <a:t>Tell the reader what the </a:t>
            </a:r>
            <a:r>
              <a:rPr lang="en-US" sz="3600" dirty="0">
                <a:solidFill>
                  <a:srgbClr val="C00000"/>
                </a:solidFill>
              </a:rPr>
              <a:t>topic</a:t>
            </a:r>
            <a:r>
              <a:rPr lang="en-US" sz="3600" dirty="0"/>
              <a:t> of the report is.</a:t>
            </a:r>
          </a:p>
          <a:p>
            <a:pPr lvl="2"/>
            <a:r>
              <a:rPr lang="en-US" sz="3600" dirty="0"/>
              <a:t>Explain why this topic is </a:t>
            </a:r>
            <a:r>
              <a:rPr lang="en-US" sz="3600" dirty="0">
                <a:solidFill>
                  <a:srgbClr val="C00000"/>
                </a:solidFill>
              </a:rPr>
              <a:t>important</a:t>
            </a:r>
            <a:r>
              <a:rPr lang="en-US" sz="3600" dirty="0"/>
              <a:t> or relevant.</a:t>
            </a:r>
          </a:p>
          <a:p>
            <a:pPr marL="0" indent="0">
              <a:buNone/>
            </a:pPr>
            <a:r>
              <a:rPr lang="en-US" sz="3600" b="1" dirty="0"/>
              <a:t>2</a:t>
            </a:r>
            <a:r>
              <a:rPr lang="en-US" sz="3600" dirty="0"/>
              <a:t>. </a:t>
            </a:r>
            <a:r>
              <a:rPr lang="en-US" sz="3600" b="1" dirty="0"/>
              <a:t>It provides a brief summary of </a:t>
            </a:r>
            <a:r>
              <a:rPr lang="en-US" sz="3600" b="1" dirty="0">
                <a:solidFill>
                  <a:srgbClr val="C00000"/>
                </a:solidFill>
              </a:rPr>
              <a:t>previous</a:t>
            </a:r>
            <a:r>
              <a:rPr lang="en-US" sz="3600" b="1" dirty="0"/>
              <a:t> engineering 	and/or scientific </a:t>
            </a:r>
            <a:r>
              <a:rPr lang="en-US" sz="3600" b="1" dirty="0">
                <a:solidFill>
                  <a:srgbClr val="C00000"/>
                </a:solidFill>
              </a:rPr>
              <a:t>work</a:t>
            </a:r>
            <a:r>
              <a:rPr lang="en-US" sz="3600" b="1" dirty="0"/>
              <a:t> on the topic</a:t>
            </a:r>
            <a:r>
              <a:rPr lang="en-US" sz="3600" dirty="0"/>
              <a:t>.</a:t>
            </a:r>
          </a:p>
          <a:p>
            <a:endParaRPr lang="en-US" sz="3600" dirty="0"/>
          </a:p>
          <a:p>
            <a:pPr marL="0" indent="0">
              <a:buNone/>
            </a:pPr>
            <a:r>
              <a:rPr lang="en-US" sz="3600" b="1" dirty="0"/>
              <a:t>3</a:t>
            </a:r>
            <a:r>
              <a:rPr lang="en-US" sz="3600" dirty="0"/>
              <a:t>. </a:t>
            </a:r>
            <a:r>
              <a:rPr lang="en-US" sz="3600" b="1" dirty="0"/>
              <a:t>It outlines the purpose and specific </a:t>
            </a:r>
            <a:r>
              <a:rPr lang="en-US" sz="3600" b="1" dirty="0">
                <a:solidFill>
                  <a:srgbClr val="C00000"/>
                </a:solidFill>
              </a:rPr>
              <a:t>objectives</a:t>
            </a:r>
            <a:r>
              <a:rPr lang="en-US" sz="3600" b="1" dirty="0"/>
              <a:t> of the 	</a:t>
            </a:r>
            <a:r>
              <a:rPr lang="en-US" sz="3600" b="1" dirty="0">
                <a:solidFill>
                  <a:srgbClr val="C00000"/>
                </a:solidFill>
              </a:rPr>
              <a:t>project</a:t>
            </a:r>
            <a:r>
              <a:rPr lang="en-US" sz="3600" b="1" dirty="0"/>
              <a:t>.</a:t>
            </a:r>
          </a:p>
          <a:p>
            <a:endParaRPr lang="en-US" sz="3600" dirty="0"/>
          </a:p>
          <a:p>
            <a:pPr marL="0" indent="0">
              <a:buNone/>
            </a:pPr>
            <a:r>
              <a:rPr lang="en-US" sz="3600" b="1" dirty="0"/>
              <a:t>4. It provides a ‘</a:t>
            </a:r>
            <a:r>
              <a:rPr lang="en-US" sz="3600" b="1" dirty="0">
                <a:solidFill>
                  <a:srgbClr val="C00000"/>
                </a:solidFill>
              </a:rPr>
              <a:t>road map</a:t>
            </a:r>
            <a:r>
              <a:rPr lang="en-US" sz="3600" b="1" dirty="0"/>
              <a:t>’ for the rest of the report.</a:t>
            </a:r>
          </a:p>
          <a:p>
            <a:endParaRPr lang="en-US" sz="36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78970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prstClr val="black"/>
                </a:solidFill>
                <a:latin typeface="Times New Roman" panose="02020603050405020304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808757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0751" y="1846471"/>
            <a:ext cx="3334153" cy="641685"/>
          </a:xfrm>
        </p:spPr>
        <p:txBody>
          <a:bodyPr>
            <a:noAutofit/>
          </a:bodyPr>
          <a:lstStyle/>
          <a:p>
            <a:r>
              <a:rPr lang="en-US" sz="4000" b="1" dirty="0"/>
              <a:t>Introduction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flipH="1">
            <a:off x="708456" y="2488156"/>
            <a:ext cx="10793733" cy="2655514"/>
          </a:xfrm>
          <a:prstGeom prst="rect">
            <a:avLst/>
          </a:prstGeo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7502288" y="1846471"/>
            <a:ext cx="2331522" cy="6416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/>
              <a:t>Body</a:t>
            </a:r>
          </a:p>
        </p:txBody>
      </p:sp>
      <p:sp>
        <p:nvSpPr>
          <p:cNvPr id="6" name="Rectangle 5"/>
          <p:cNvSpPr/>
          <p:nvPr/>
        </p:nvSpPr>
        <p:spPr>
          <a:xfrm>
            <a:off x="1299410" y="0"/>
            <a:ext cx="9368589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C00000"/>
                </a:solidFill>
              </a:rPr>
              <a:t>The introduction defines the scope and limitations of the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557410" y="5492967"/>
            <a:ext cx="1109582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accent6">
                    <a:lumMod val="75000"/>
                  </a:schemeClr>
                </a:solidFill>
              </a:rPr>
              <a:t>A strong introduction tells readers why the research is important</a:t>
            </a:r>
          </a:p>
        </p:txBody>
      </p:sp>
    </p:spTree>
    <p:extLst>
      <p:ext uri="{BB962C8B-B14F-4D97-AF65-F5344CB8AC3E}">
        <p14:creationId xmlns:p14="http://schemas.microsoft.com/office/powerpoint/2010/main" val="38554865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018308"/>
            <a:ext cx="12192000" cy="5687292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sz="3600" b="1" dirty="0"/>
              <a:t>Like in any good Hollywood movie, the first task of the </a:t>
            </a:r>
            <a:r>
              <a:rPr lang="en-US" sz="3600" b="1" dirty="0">
                <a:solidFill>
                  <a:srgbClr val="C00000"/>
                </a:solidFill>
              </a:rPr>
              <a:t>introduction is to set the scene</a:t>
            </a:r>
            <a:r>
              <a:rPr lang="en-US" sz="3600" b="1" dirty="0"/>
              <a:t>, giving your paper a context and seeing how it fits in with previous research in the field.</a:t>
            </a:r>
          </a:p>
          <a:p>
            <a:pPr>
              <a:lnSpc>
                <a:spcPct val="150000"/>
              </a:lnSpc>
            </a:pPr>
            <a:endParaRPr lang="en-US" sz="3600" b="1" dirty="0"/>
          </a:p>
          <a:p>
            <a:pPr>
              <a:lnSpc>
                <a:spcPct val="150000"/>
              </a:lnSpc>
            </a:pPr>
            <a:r>
              <a:rPr lang="en-US" sz="3600" b="1" dirty="0"/>
              <a:t>The </a:t>
            </a:r>
            <a:r>
              <a:rPr lang="en-US" sz="3600" b="1" dirty="0">
                <a:solidFill>
                  <a:srgbClr val="C00000"/>
                </a:solidFill>
              </a:rPr>
              <a:t>beginning</a:t>
            </a:r>
            <a:r>
              <a:rPr lang="en-US" sz="3600" b="1" dirty="0"/>
              <a:t> of the introduction should quickly </a:t>
            </a:r>
            <a:r>
              <a:rPr lang="en-US" sz="3600" b="1" dirty="0">
                <a:solidFill>
                  <a:srgbClr val="C00000"/>
                </a:solidFill>
              </a:rPr>
              <a:t>explain</a:t>
            </a:r>
            <a:r>
              <a:rPr lang="en-US" sz="3600" b="1" dirty="0"/>
              <a:t> the </a:t>
            </a:r>
            <a:r>
              <a:rPr lang="en-US" sz="3600" b="1" dirty="0">
                <a:solidFill>
                  <a:srgbClr val="C00000"/>
                </a:solidFill>
              </a:rPr>
              <a:t>importance</a:t>
            </a:r>
            <a:r>
              <a:rPr lang="en-US" sz="3600" b="1" dirty="0"/>
              <a:t> of the Experiment, Study, Design, …being reported. </a:t>
            </a:r>
          </a:p>
          <a:p>
            <a:pPr>
              <a:lnSpc>
                <a:spcPct val="150000"/>
              </a:lnSpc>
            </a:pPr>
            <a:endParaRPr lang="en-US" sz="3600" b="1" i="1" dirty="0">
              <a:solidFill>
                <a:srgbClr val="00206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78970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prstClr val="black"/>
                </a:solidFill>
                <a:latin typeface="Times New Roman" panose="02020603050405020304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4644976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8547" y="737936"/>
            <a:ext cx="11790948" cy="612006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/>
              <a:t> Statement of the </a:t>
            </a:r>
            <a:r>
              <a:rPr lang="en-US" sz="3200" b="1" dirty="0">
                <a:solidFill>
                  <a:srgbClr val="C00000"/>
                </a:solidFill>
              </a:rPr>
              <a:t>problem/s</a:t>
            </a:r>
          </a:p>
          <a:p>
            <a:pPr>
              <a:lnSpc>
                <a:spcPct val="120000"/>
              </a:lnSpc>
            </a:pPr>
            <a:r>
              <a:rPr lang="en-US" sz="3200" b="1" dirty="0"/>
              <a:t> Description of </a:t>
            </a:r>
            <a:r>
              <a:rPr lang="en-US" sz="3200" b="1" dirty="0">
                <a:solidFill>
                  <a:srgbClr val="C00000"/>
                </a:solidFill>
              </a:rPr>
              <a:t>main aim/s</a:t>
            </a:r>
            <a:r>
              <a:rPr lang="en-US" sz="3200" b="1" dirty="0"/>
              <a:t>, objective/s and scope (the 	parameters) of the report</a:t>
            </a:r>
          </a:p>
          <a:p>
            <a:pPr>
              <a:lnSpc>
                <a:spcPct val="120000"/>
              </a:lnSpc>
            </a:pPr>
            <a:r>
              <a:rPr lang="en-US" sz="3200" b="1" dirty="0"/>
              <a:t> Review of </a:t>
            </a:r>
            <a:r>
              <a:rPr lang="en-US" sz="3200" b="1" dirty="0">
                <a:solidFill>
                  <a:srgbClr val="C00000"/>
                </a:solidFill>
              </a:rPr>
              <a:t>previous work</a:t>
            </a:r>
            <a:r>
              <a:rPr lang="en-US" sz="3200" b="1" dirty="0"/>
              <a:t>/research in this area and identification 	of the importance of this research  </a:t>
            </a:r>
          </a:p>
          <a:p>
            <a:pPr>
              <a:lnSpc>
                <a:spcPct val="120000"/>
              </a:lnSpc>
            </a:pPr>
            <a:r>
              <a:rPr lang="en-US" sz="3200" b="1" dirty="0"/>
              <a:t>Explanations of </a:t>
            </a:r>
            <a:r>
              <a:rPr lang="en-US" sz="3200" b="1" dirty="0">
                <a:solidFill>
                  <a:srgbClr val="C00000"/>
                </a:solidFill>
              </a:rPr>
              <a:t>terminology</a:t>
            </a:r>
            <a:r>
              <a:rPr lang="en-US" sz="3200" b="1" dirty="0"/>
              <a:t> if necessary;</a:t>
            </a:r>
          </a:p>
          <a:p>
            <a:pPr>
              <a:lnSpc>
                <a:spcPct val="120000"/>
              </a:lnSpc>
            </a:pPr>
            <a:r>
              <a:rPr lang="en-US" sz="3200" b="1" dirty="0"/>
              <a:t> </a:t>
            </a:r>
            <a:r>
              <a:rPr lang="en-US" sz="3200" b="1" dirty="0">
                <a:solidFill>
                  <a:srgbClr val="C00000"/>
                </a:solidFill>
              </a:rPr>
              <a:t>Method</a:t>
            </a:r>
            <a:r>
              <a:rPr lang="en-US" sz="3200" b="1" dirty="0"/>
              <a:t>(s) of approach;</a:t>
            </a:r>
          </a:p>
          <a:p>
            <a:pPr>
              <a:lnSpc>
                <a:spcPct val="120000"/>
              </a:lnSpc>
            </a:pPr>
            <a:r>
              <a:rPr lang="en-US" sz="3200" b="1" dirty="0"/>
              <a:t> Indications of </a:t>
            </a:r>
            <a:r>
              <a:rPr lang="en-US" sz="3200" b="1" dirty="0">
                <a:solidFill>
                  <a:srgbClr val="C00000"/>
                </a:solidFill>
              </a:rPr>
              <a:t>scope</a:t>
            </a:r>
            <a:r>
              <a:rPr lang="en-US" sz="3200" b="1" dirty="0"/>
              <a:t> and limitations of the study;</a:t>
            </a:r>
          </a:p>
          <a:p>
            <a:pPr>
              <a:lnSpc>
                <a:spcPct val="120000"/>
              </a:lnSpc>
            </a:pPr>
            <a:r>
              <a:rPr lang="en-US" sz="3200" b="1" dirty="0"/>
              <a:t> Outline of </a:t>
            </a:r>
            <a:r>
              <a:rPr lang="en-US" sz="3200" b="1" dirty="0">
                <a:solidFill>
                  <a:srgbClr val="C00000"/>
                </a:solidFill>
              </a:rPr>
              <a:t>material</a:t>
            </a:r>
            <a:r>
              <a:rPr lang="en-US" sz="3200" b="1" dirty="0"/>
              <a:t> presented in rest of report.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12192000" cy="7379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prstClr val="black"/>
                </a:solidFill>
                <a:latin typeface="Times New Roman" panose="02020603050405020304"/>
              </a:rPr>
              <a:t>Introduction in a Technical Report</a:t>
            </a:r>
          </a:p>
        </p:txBody>
      </p:sp>
    </p:spTree>
    <p:extLst>
      <p:ext uri="{BB962C8B-B14F-4D97-AF65-F5344CB8AC3E}">
        <p14:creationId xmlns:p14="http://schemas.microsoft.com/office/powerpoint/2010/main" val="18414566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734914-32F2-467A-AB77-2A4CFFC87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795"/>
            <a:ext cx="4607237" cy="50707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1DD092-63F8-474B-B530-5619E65FD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55" y="5227552"/>
            <a:ext cx="4407065" cy="4896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CE6B76-0A54-4CEF-B7BE-0FAC4892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0816" y="219566"/>
            <a:ext cx="6572732" cy="31041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0A57EF8-24A0-4743-9D23-04B3C4A5B3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1488" y="3234417"/>
            <a:ext cx="6057442" cy="252907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B35B2C2-E9C8-4D8A-8FB5-320E1CADAD62}"/>
              </a:ext>
            </a:extLst>
          </p:cNvPr>
          <p:cNvSpPr txBox="1"/>
          <p:nvPr/>
        </p:nvSpPr>
        <p:spPr>
          <a:xfrm>
            <a:off x="191105" y="6107415"/>
            <a:ext cx="1180979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/>
              <a:t>Introduction set’s the scene……The beginning of the introduction quickly explains the importance of the Experiment, Study, Design, …being reported…. </a:t>
            </a:r>
          </a:p>
        </p:txBody>
      </p:sp>
    </p:spTree>
    <p:extLst>
      <p:ext uri="{BB962C8B-B14F-4D97-AF65-F5344CB8AC3E}">
        <p14:creationId xmlns:p14="http://schemas.microsoft.com/office/powerpoint/2010/main" val="15717671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1" y="2900421"/>
            <a:ext cx="6625389" cy="1242263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4400" b="1" dirty="0"/>
              <a:t>Choose a logical strategy 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12192000" cy="7379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prstClr val="black"/>
                </a:solidFill>
                <a:latin typeface="Times New Roman" panose="02020603050405020304"/>
              </a:rPr>
              <a:t>Body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804484" y="1075444"/>
            <a:ext cx="28715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Chronological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16779" y="1756299"/>
            <a:ext cx="28715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Spatial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16779" y="2503177"/>
            <a:ext cx="24303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Parallel Parts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16780" y="3140673"/>
            <a:ext cx="44035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Decreasing Importance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16779" y="3745440"/>
            <a:ext cx="44035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Increasing Importance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16778" y="4382936"/>
            <a:ext cx="44035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General to Specific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16777" y="4997911"/>
            <a:ext cx="44035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Specific to General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16776" y="5625199"/>
            <a:ext cx="44035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Comparative </a:t>
            </a:r>
          </a:p>
        </p:txBody>
      </p:sp>
      <p:sp>
        <p:nvSpPr>
          <p:cNvPr id="13" name="Left Brace 12"/>
          <p:cNvSpPr/>
          <p:nvPr/>
        </p:nvSpPr>
        <p:spPr>
          <a:xfrm>
            <a:off x="6721643" y="1075444"/>
            <a:ext cx="842210" cy="4892219"/>
          </a:xfrm>
          <a:prstGeom prst="leftBrace">
            <a:avLst>
              <a:gd name="adj1" fmla="val 48333"/>
              <a:gd name="adj2" fmla="val 4836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69495" y="4363601"/>
            <a:ext cx="6096000" cy="2308324"/>
          </a:xfrm>
          <a:prstGeom prst="rect">
            <a:avLst/>
          </a:prstGeom>
          <a:solidFill>
            <a:srgbClr val="FCFFEF"/>
          </a:solidFill>
        </p:spPr>
        <p:txBody>
          <a:bodyPr>
            <a:spAutoFit/>
          </a:bodyPr>
          <a:lstStyle/>
          <a:p>
            <a:r>
              <a:rPr lang="en-US" sz="3600" b="1" i="1" dirty="0">
                <a:solidFill>
                  <a:schemeClr val="accent6">
                    <a:lumMod val="50000"/>
                  </a:schemeClr>
                </a:solidFill>
              </a:rPr>
              <a:t>This is where you get to show the reader how much you know and understand about the topic of the essay</a:t>
            </a:r>
          </a:p>
        </p:txBody>
      </p:sp>
    </p:spTree>
    <p:extLst>
      <p:ext uri="{BB962C8B-B14F-4D97-AF65-F5344CB8AC3E}">
        <p14:creationId xmlns:p14="http://schemas.microsoft.com/office/powerpoint/2010/main" val="15994644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1" y="737936"/>
            <a:ext cx="5598694" cy="4973053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b="1" dirty="0"/>
              <a:t>Heading</a:t>
            </a:r>
          </a:p>
          <a:p>
            <a:pPr lvl="1">
              <a:lnSpc>
                <a:spcPct val="120000"/>
              </a:lnSpc>
            </a:pPr>
            <a:r>
              <a:rPr lang="en-US" sz="2800" dirty="0"/>
              <a:t>Subheading</a:t>
            </a:r>
          </a:p>
          <a:p>
            <a:pPr lvl="1">
              <a:lnSpc>
                <a:spcPct val="120000"/>
              </a:lnSpc>
            </a:pPr>
            <a:r>
              <a:rPr lang="en-US" sz="2800" dirty="0"/>
              <a:t>Subheading</a:t>
            </a:r>
          </a:p>
          <a:p>
            <a:pPr lvl="0">
              <a:lnSpc>
                <a:spcPct val="120000"/>
              </a:lnSpc>
            </a:pPr>
            <a:r>
              <a:rPr lang="en-US" b="1" dirty="0">
                <a:solidFill>
                  <a:prstClr val="black"/>
                </a:solidFill>
              </a:rPr>
              <a:t>Heading</a:t>
            </a:r>
          </a:p>
          <a:p>
            <a:pPr lvl="1">
              <a:lnSpc>
                <a:spcPct val="120000"/>
              </a:lnSpc>
            </a:pPr>
            <a:r>
              <a:rPr lang="en-US" sz="2800" dirty="0">
                <a:solidFill>
                  <a:prstClr val="black"/>
                </a:solidFill>
              </a:rPr>
              <a:t>Subheading</a:t>
            </a:r>
          </a:p>
          <a:p>
            <a:pPr lvl="1">
              <a:lnSpc>
                <a:spcPct val="120000"/>
              </a:lnSpc>
            </a:pPr>
            <a:r>
              <a:rPr lang="en-US" sz="2800" dirty="0">
                <a:solidFill>
                  <a:prstClr val="black"/>
                </a:solidFill>
              </a:rPr>
              <a:t>Subheading</a:t>
            </a:r>
          </a:p>
          <a:p>
            <a:pPr lvl="0">
              <a:lnSpc>
                <a:spcPct val="120000"/>
              </a:lnSpc>
            </a:pPr>
            <a:r>
              <a:rPr lang="en-US" b="1" dirty="0">
                <a:solidFill>
                  <a:prstClr val="black"/>
                </a:solidFill>
              </a:rPr>
              <a:t>Heading</a:t>
            </a:r>
          </a:p>
          <a:p>
            <a:pPr lvl="1">
              <a:lnSpc>
                <a:spcPct val="120000"/>
              </a:lnSpc>
            </a:pPr>
            <a:r>
              <a:rPr lang="en-US" sz="2800" dirty="0">
                <a:solidFill>
                  <a:prstClr val="black"/>
                </a:solidFill>
              </a:rPr>
              <a:t>Subheading</a:t>
            </a:r>
          </a:p>
          <a:p>
            <a:pPr lvl="1">
              <a:lnSpc>
                <a:spcPct val="120000"/>
              </a:lnSpc>
            </a:pPr>
            <a:r>
              <a:rPr lang="en-US" sz="2800" dirty="0">
                <a:solidFill>
                  <a:prstClr val="black"/>
                </a:solidFill>
              </a:rPr>
              <a:t>Subheading</a:t>
            </a:r>
          </a:p>
          <a:p>
            <a:pPr>
              <a:lnSpc>
                <a:spcPct val="120000"/>
              </a:lnSpc>
            </a:pPr>
            <a:endParaRPr lang="en-US" b="1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7379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prstClr val="black"/>
                </a:solidFill>
                <a:latin typeface="Times New Roman" panose="02020603050405020304"/>
              </a:rPr>
              <a:t>Body</a:t>
            </a:r>
          </a:p>
        </p:txBody>
      </p:sp>
      <p:sp>
        <p:nvSpPr>
          <p:cNvPr id="2" name="Rectangle 1"/>
          <p:cNvSpPr/>
          <p:nvPr/>
        </p:nvSpPr>
        <p:spPr>
          <a:xfrm>
            <a:off x="592315" y="2711118"/>
            <a:ext cx="4732421" cy="14465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C00000"/>
                </a:solidFill>
              </a:rPr>
              <a:t>Make sections</a:t>
            </a:r>
          </a:p>
          <a:p>
            <a:pPr algn="ctr"/>
            <a:r>
              <a:rPr lang="en-US" sz="4400" b="1" dirty="0">
                <a:solidFill>
                  <a:srgbClr val="C00000"/>
                </a:solidFill>
              </a:rPr>
              <a:t>and subsections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24736" y="898786"/>
            <a:ext cx="1076065" cy="46517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" y="5646853"/>
            <a:ext cx="1219200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When you divide a section into subsections, all the pieces should be of the same pie</a:t>
            </a:r>
          </a:p>
        </p:txBody>
      </p:sp>
    </p:spTree>
    <p:extLst>
      <p:ext uri="{BB962C8B-B14F-4D97-AF65-F5344CB8AC3E}">
        <p14:creationId xmlns:p14="http://schemas.microsoft.com/office/powerpoint/2010/main" val="25063416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81256" y="4051820"/>
            <a:ext cx="4932091" cy="1140051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05470" y="5477430"/>
            <a:ext cx="4932091" cy="1140051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05470" y="2822783"/>
            <a:ext cx="4932091" cy="1140051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05470" y="1460589"/>
            <a:ext cx="4932091" cy="1140051"/>
          </a:xfrm>
          <a:prstGeom prst="rect">
            <a:avLst/>
          </a:prstGeom>
        </p:spPr>
      </p:pic>
      <p:pic>
        <p:nvPicPr>
          <p:cNvPr id="16" name="Content Placeholder 15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64000"/>
                    </a14:imgEffect>
                    <a14:imgEffect>
                      <a14:brightnessContrast bright="46000" contrast="5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401183" y="-1895713"/>
            <a:ext cx="1137424" cy="492885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rot="5400000">
            <a:off x="6923690" y="1589690"/>
            <a:ext cx="6826468" cy="37101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43961" y="814258"/>
            <a:ext cx="21818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Transition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43961" y="2351402"/>
            <a:ext cx="21818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Transition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43961" y="4923311"/>
            <a:ext cx="21818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Transition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3961" y="3656745"/>
            <a:ext cx="21818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Transition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6124" y="431159"/>
            <a:ext cx="5439103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/>
              <a:t>The essay should be written such that it flows within individual sections, and across sections to tell a coherent story.</a:t>
            </a:r>
          </a:p>
        </p:txBody>
      </p:sp>
    </p:spTree>
    <p:extLst>
      <p:ext uri="{BB962C8B-B14F-4D97-AF65-F5344CB8AC3E}">
        <p14:creationId xmlns:p14="http://schemas.microsoft.com/office/powerpoint/2010/main" val="29522191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74E9F87-D156-494F-81D1-ABBB11C318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209" y="177210"/>
            <a:ext cx="11894289" cy="6797748"/>
          </a:xfrm>
        </p:spPr>
        <p:txBody>
          <a:bodyPr>
            <a:normAutofit/>
          </a:bodyPr>
          <a:lstStyle/>
          <a:p>
            <a:pPr algn="l"/>
            <a:r>
              <a:rPr lang="en-US" sz="3600" dirty="0"/>
              <a:t>- The body of the report is of course the main text of the report, 	the sections between the introduction and conclusion.</a:t>
            </a:r>
          </a:p>
          <a:p>
            <a:pPr algn="l"/>
            <a:endParaRPr lang="en-US" sz="3600" dirty="0"/>
          </a:p>
          <a:p>
            <a:pPr algn="l"/>
            <a:r>
              <a:rPr lang="en-US" sz="3600" dirty="0"/>
              <a:t>- Divided into numbered and headed sections. </a:t>
            </a:r>
          </a:p>
          <a:p>
            <a:pPr algn="l"/>
            <a:r>
              <a:rPr lang="en-US" sz="3600" dirty="0"/>
              <a:t>	These sections separate the different main ideas in a 	logical order.</a:t>
            </a:r>
          </a:p>
          <a:p>
            <a:pPr algn="l"/>
            <a:endParaRPr lang="en-US" sz="3600" dirty="0"/>
          </a:p>
          <a:p>
            <a:pPr algn="l"/>
            <a:r>
              <a:rPr lang="en-US" sz="3600" i="0" dirty="0">
                <a:solidFill>
                  <a:srgbClr val="222222"/>
                </a:solidFill>
                <a:effectLst/>
              </a:rPr>
              <a:t>- Make the phrasing of headings self-explanatory: </a:t>
            </a:r>
          </a:p>
          <a:p>
            <a:pPr algn="l"/>
            <a:r>
              <a:rPr lang="en-US" sz="3600" dirty="0">
                <a:solidFill>
                  <a:srgbClr val="222222"/>
                </a:solidFill>
              </a:rPr>
              <a:t>	I</a:t>
            </a:r>
            <a:r>
              <a:rPr lang="en-US" sz="3600" i="0" dirty="0">
                <a:solidFill>
                  <a:srgbClr val="222222"/>
                </a:solidFill>
                <a:effectLst/>
              </a:rPr>
              <a:t>nstead of “Background” or “Technical Information,” 	make it more specific, such as “Physics of Fiber Optics.”</a:t>
            </a:r>
          </a:p>
          <a:p>
            <a:pPr algn="l"/>
            <a:endParaRPr lang="en-US" sz="3600" dirty="0"/>
          </a:p>
          <a:p>
            <a:pPr algn="l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4318934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3E919-7DBA-4BD0-9725-7107DF665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07" y="205563"/>
            <a:ext cx="12135293" cy="6471684"/>
          </a:xfrm>
        </p:spPr>
        <p:txBody>
          <a:bodyPr>
            <a:normAutofit/>
          </a:bodyPr>
          <a:lstStyle/>
          <a:p>
            <a:r>
              <a:rPr lang="en-US" sz="3600" dirty="0"/>
              <a:t>Make headings indicate the range of topic coverage in the section. </a:t>
            </a:r>
          </a:p>
          <a:p>
            <a:endParaRPr lang="en-US" sz="3600" dirty="0"/>
          </a:p>
          <a:p>
            <a:r>
              <a:rPr lang="en-US" sz="3600" dirty="0"/>
              <a:t>For example, if the section covers the </a:t>
            </a:r>
            <a:r>
              <a:rPr lang="en-US" sz="3600" u="sng" dirty="0"/>
              <a:t>design and operation </a:t>
            </a:r>
            <a:r>
              <a:rPr lang="en-US" sz="3600" dirty="0"/>
              <a:t>of a 	pressurized water reactor, the heading “Pressurized Water 	Reactor Design” would be incomplete and misleading.</a:t>
            </a:r>
          </a:p>
          <a:p>
            <a:endParaRPr lang="en-US" sz="3600" dirty="0"/>
          </a:p>
          <a:p>
            <a:r>
              <a:rPr lang="en-US" sz="3600" dirty="0"/>
              <a:t>Avoid pronoun reference to headings. For example, if you have 	a heading “Torque,” do not begin the sentence following it 	with something like this: “</a:t>
            </a:r>
            <a:r>
              <a:rPr lang="en-US" sz="3600" u="sng" dirty="0"/>
              <a:t>This is a physics principle</a:t>
            </a:r>
            <a:r>
              <a:rPr lang="en-US" sz="3600" dirty="0"/>
              <a:t>…..”</a:t>
            </a:r>
          </a:p>
        </p:txBody>
      </p:sp>
    </p:spTree>
    <p:extLst>
      <p:ext uri="{BB962C8B-B14F-4D97-AF65-F5344CB8AC3E}">
        <p14:creationId xmlns:p14="http://schemas.microsoft.com/office/powerpoint/2010/main" val="17854789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3E919-7DBA-4BD0-9725-7107DF665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07" y="205563"/>
            <a:ext cx="12135293" cy="6471684"/>
          </a:xfrm>
        </p:spPr>
        <p:txBody>
          <a:bodyPr>
            <a:normAutofit lnSpcReduction="10000"/>
          </a:bodyPr>
          <a:lstStyle/>
          <a:p>
            <a:r>
              <a:rPr lang="en-US" sz="3600" dirty="0"/>
              <a:t>When possible, omit articles from the beginning of headings.</a:t>
            </a:r>
          </a:p>
          <a:p>
            <a:endParaRPr lang="en-US" sz="3600" dirty="0"/>
          </a:p>
          <a:p>
            <a:r>
              <a:rPr lang="en-US" sz="3600" dirty="0"/>
              <a:t> 	</a:t>
            </a:r>
            <a:r>
              <a:rPr lang="en-US" sz="3200" dirty="0"/>
              <a:t>For example, “The Pressurized Water Reactor” can easily be 	changed to “Pressurized Water Reactor” or, better yet, 	“Pressurized Water Reactors.”</a:t>
            </a:r>
          </a:p>
          <a:p>
            <a:endParaRPr lang="en-US" sz="3600" dirty="0"/>
          </a:p>
          <a:p>
            <a:r>
              <a:rPr lang="en-US" sz="3600" dirty="0"/>
              <a:t>Avoid “widowed” headings: that’s where a heading occurs at 	the bottom of a page and the text it introduces starts at the 	top of the next page. </a:t>
            </a:r>
          </a:p>
          <a:p>
            <a:endParaRPr lang="en-US" sz="3600" dirty="0"/>
          </a:p>
          <a:p>
            <a:r>
              <a:rPr lang="en-US" sz="3600" dirty="0"/>
              <a:t>Keep at least two lines of body text with the heading or force it to start the new page.</a:t>
            </a:r>
          </a:p>
        </p:txBody>
      </p:sp>
    </p:spTree>
    <p:extLst>
      <p:ext uri="{BB962C8B-B14F-4D97-AF65-F5344CB8AC3E}">
        <p14:creationId xmlns:p14="http://schemas.microsoft.com/office/powerpoint/2010/main" val="35451562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3E919-7DBA-4BD0-9725-7107DF665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07" y="205563"/>
            <a:ext cx="12135293" cy="6471684"/>
          </a:xfrm>
        </p:spPr>
        <p:txBody>
          <a:bodyPr>
            <a:normAutofit/>
          </a:bodyPr>
          <a:lstStyle/>
          <a:p>
            <a:r>
              <a:rPr lang="en-US" sz="3600" dirty="0"/>
              <a:t>Body shows the depth of your technical knowledge.</a:t>
            </a:r>
          </a:p>
          <a:p>
            <a:endParaRPr lang="en-US" sz="3600" dirty="0"/>
          </a:p>
          <a:p>
            <a:r>
              <a:rPr lang="en-US" sz="3600" dirty="0"/>
              <a:t>Body shows you logic in presentation of the topic.</a:t>
            </a:r>
          </a:p>
          <a:p>
            <a:endParaRPr lang="en-US" sz="3600" dirty="0"/>
          </a:p>
          <a:p>
            <a:r>
              <a:rPr lang="en-US" sz="3600" dirty="0"/>
              <a:t>Body shows your knowledge about the background of the topic.</a:t>
            </a:r>
          </a:p>
          <a:p>
            <a:endParaRPr lang="en-US" sz="3600" dirty="0"/>
          </a:p>
          <a:p>
            <a:r>
              <a:rPr lang="en-US" sz="3600" dirty="0"/>
              <a:t>Body shows how up-to-date are you in that topic.</a:t>
            </a:r>
          </a:p>
          <a:p>
            <a:endParaRPr lang="en-US" sz="3600" dirty="0"/>
          </a:p>
          <a:p>
            <a:r>
              <a:rPr lang="en-US" sz="3600" dirty="0"/>
              <a:t>Body shows you knowledge about the topic and its connections with other subjects. </a:t>
            </a:r>
          </a:p>
        </p:txBody>
      </p:sp>
    </p:spTree>
    <p:extLst>
      <p:ext uri="{BB962C8B-B14F-4D97-AF65-F5344CB8AC3E}">
        <p14:creationId xmlns:p14="http://schemas.microsoft.com/office/powerpoint/2010/main" val="9128775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018307"/>
            <a:ext cx="12192000" cy="572933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/>
              <a:t>The </a:t>
            </a:r>
            <a:r>
              <a:rPr lang="en-US" sz="4000" b="1" dirty="0">
                <a:solidFill>
                  <a:srgbClr val="C00000"/>
                </a:solidFill>
              </a:rPr>
              <a:t>conclusions</a:t>
            </a:r>
            <a:r>
              <a:rPr lang="en-US" sz="4000" b="1" dirty="0"/>
              <a:t> section provides an </a:t>
            </a:r>
            <a:r>
              <a:rPr lang="en-US" sz="4000" b="1" dirty="0">
                <a:solidFill>
                  <a:srgbClr val="C00000"/>
                </a:solidFill>
              </a:rPr>
              <a:t>effective ending </a:t>
            </a:r>
            <a:r>
              <a:rPr lang="en-US" sz="4000" b="1" dirty="0"/>
              <a:t>to your report. </a:t>
            </a:r>
          </a:p>
          <a:p>
            <a:pPr>
              <a:lnSpc>
                <a:spcPct val="150000"/>
              </a:lnSpc>
            </a:pPr>
            <a:r>
              <a:rPr lang="en-US" sz="4000" b="1" dirty="0"/>
              <a:t>The content should relate directly to the aims of the project as stated in the introduction, and sum up the </a:t>
            </a:r>
            <a:r>
              <a:rPr lang="en-US" sz="4000" b="1" u="sng" dirty="0"/>
              <a:t>essential features of your work</a:t>
            </a:r>
            <a:r>
              <a:rPr lang="en-US" sz="4000" b="1" dirty="0"/>
              <a:t>. 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78970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prstClr val="black"/>
                </a:solidFill>
                <a:latin typeface="Times New Roman" panose="02020603050405020304"/>
              </a:rPr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16269851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1999" cy="68580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4400" b="1" dirty="0"/>
              <a:t>Conclusion:</a:t>
            </a:r>
          </a:p>
          <a:p>
            <a:pPr lvl="1">
              <a:lnSpc>
                <a:spcPct val="150000"/>
              </a:lnSpc>
            </a:pPr>
            <a:r>
              <a:rPr lang="en-US" sz="3600" b="1" dirty="0"/>
              <a:t>States whether you have </a:t>
            </a:r>
            <a:r>
              <a:rPr lang="en-US" sz="3600" b="1" dirty="0">
                <a:solidFill>
                  <a:srgbClr val="C00000"/>
                </a:solidFill>
              </a:rPr>
              <a:t>achieved your aims.</a:t>
            </a:r>
          </a:p>
          <a:p>
            <a:pPr lvl="1">
              <a:lnSpc>
                <a:spcPct val="150000"/>
              </a:lnSpc>
            </a:pPr>
            <a:r>
              <a:rPr lang="en-US" sz="3600" b="1" dirty="0"/>
              <a:t>Gives </a:t>
            </a:r>
            <a:r>
              <a:rPr lang="en-US" sz="3600" b="1"/>
              <a:t>a </a:t>
            </a:r>
            <a:r>
              <a:rPr lang="en-US" sz="3600" b="1">
                <a:solidFill>
                  <a:srgbClr val="C00000"/>
                </a:solidFill>
              </a:rPr>
              <a:t>summary </a:t>
            </a:r>
            <a:r>
              <a:rPr lang="en-US" sz="3600" b="1" dirty="0"/>
              <a:t>of the key findings or information 	in your report.</a:t>
            </a:r>
          </a:p>
          <a:p>
            <a:pPr lvl="1">
              <a:lnSpc>
                <a:spcPct val="150000"/>
              </a:lnSpc>
            </a:pPr>
            <a:r>
              <a:rPr lang="en-US" sz="3600" b="1" dirty="0"/>
              <a:t>Highlights the </a:t>
            </a:r>
            <a:r>
              <a:rPr lang="en-US" sz="3600" b="1" dirty="0">
                <a:solidFill>
                  <a:srgbClr val="C00000"/>
                </a:solidFill>
              </a:rPr>
              <a:t>major outcomes </a:t>
            </a:r>
            <a:r>
              <a:rPr lang="en-US" sz="3600" b="1" dirty="0"/>
              <a:t>of your investigation and 		their </a:t>
            </a:r>
            <a:r>
              <a:rPr lang="en-US" sz="3600" b="1" dirty="0">
                <a:solidFill>
                  <a:srgbClr val="C00000"/>
                </a:solidFill>
              </a:rPr>
              <a:t>significance</a:t>
            </a:r>
            <a:r>
              <a:rPr lang="en-US" sz="3600" b="1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sz="3600" b="1" dirty="0"/>
              <a:t>Analyzes results and gives a </a:t>
            </a:r>
            <a:r>
              <a:rPr lang="en-US" sz="3600" b="1" dirty="0">
                <a:solidFill>
                  <a:srgbClr val="C00000"/>
                </a:solidFill>
              </a:rPr>
              <a:t>future perspective</a:t>
            </a:r>
            <a:r>
              <a:rPr lang="en-US" sz="3600" b="1" dirty="0"/>
              <a:t>.</a:t>
            </a:r>
          </a:p>
          <a:p>
            <a:pPr lvl="1">
              <a:lnSpc>
                <a:spcPct val="150000"/>
              </a:lnSpc>
            </a:pPr>
            <a:endParaRPr lang="en-US" sz="4000" b="1" dirty="0"/>
          </a:p>
          <a:p>
            <a:pPr>
              <a:lnSpc>
                <a:spcPct val="150000"/>
              </a:lnSpc>
            </a:pPr>
            <a:endParaRPr lang="en-US" sz="4400" b="1" dirty="0"/>
          </a:p>
          <a:p>
            <a:pPr>
              <a:lnSpc>
                <a:spcPct val="150000"/>
              </a:lnSpc>
            </a:pPr>
            <a:endParaRPr lang="en-US" sz="4400" b="1" dirty="0"/>
          </a:p>
          <a:p>
            <a:pPr>
              <a:lnSpc>
                <a:spcPct val="150000"/>
              </a:lnSpc>
            </a:pPr>
            <a:endParaRPr lang="en-US" sz="4400" b="1" dirty="0"/>
          </a:p>
          <a:p>
            <a:pPr>
              <a:lnSpc>
                <a:spcPct val="150000"/>
              </a:lnSpc>
            </a:pPr>
            <a:endParaRPr lang="en-US" sz="4400" b="1" dirty="0"/>
          </a:p>
          <a:p>
            <a:pPr>
              <a:lnSpc>
                <a:spcPct val="150000"/>
              </a:lnSpc>
            </a:pPr>
            <a:endParaRPr lang="en-US" sz="4400" b="1" dirty="0"/>
          </a:p>
          <a:p>
            <a:pPr>
              <a:lnSpc>
                <a:spcPct val="150000"/>
              </a:lnSpc>
            </a:pPr>
            <a:endParaRPr lang="en-US" sz="4400" b="1" dirty="0"/>
          </a:p>
          <a:p>
            <a:pPr>
              <a:lnSpc>
                <a:spcPct val="150000"/>
              </a:lnSpc>
            </a:pP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23363179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42576" y="0"/>
            <a:ext cx="6257109" cy="5464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4500" y="5499055"/>
            <a:ext cx="5879374" cy="11672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98ED0F-7F18-46C5-B4EB-AF6ADBFFD8A1}"/>
              </a:ext>
            </a:extLst>
          </p:cNvPr>
          <p:cNvSpPr txBox="1"/>
          <p:nvPr/>
        </p:nvSpPr>
        <p:spPr>
          <a:xfrm>
            <a:off x="7097487" y="751344"/>
            <a:ext cx="4330096" cy="424731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VI. CONCLUSION</a:t>
            </a:r>
          </a:p>
          <a:p>
            <a:r>
              <a:rPr lang="en-US" dirty="0"/>
              <a:t>As shown, the Smart Pillow is shown to be the quintessential ethical product. By</a:t>
            </a:r>
          </a:p>
          <a:p>
            <a:r>
              <a:rPr lang="en-US" dirty="0"/>
              <a:t>improving a user's quality of sleep, overall</a:t>
            </a:r>
          </a:p>
          <a:p>
            <a:r>
              <a:rPr lang="en-US" dirty="0"/>
              <a:t>quality of life is enhanced. With snoring</a:t>
            </a:r>
          </a:p>
          <a:p>
            <a:r>
              <a:rPr lang="en-US" dirty="0"/>
              <a:t>detection, mechanical actuation, temperature</a:t>
            </a:r>
          </a:p>
          <a:p>
            <a:r>
              <a:rPr lang="en-US" dirty="0"/>
              <a:t>control, and heart rate sensing, the user can</a:t>
            </a:r>
          </a:p>
          <a:p>
            <a:r>
              <a:rPr lang="en-US" dirty="0"/>
              <a:t>improve upon sleep quality. Mechanical</a:t>
            </a:r>
          </a:p>
          <a:p>
            <a:r>
              <a:rPr lang="en-US" dirty="0"/>
              <a:t>actuation is shown to be more than 99%</a:t>
            </a:r>
          </a:p>
          <a:p>
            <a:r>
              <a:rPr lang="en-US" dirty="0"/>
              <a:t>accurate. To test mechanical actuation, the</a:t>
            </a:r>
          </a:p>
          <a:p>
            <a:r>
              <a:rPr lang="en-US" dirty="0"/>
              <a:t>pillow was set to 15.5 PSI (pound per square</a:t>
            </a:r>
          </a:p>
          <a:p>
            <a:r>
              <a:rPr lang="en-US" dirty="0"/>
              <a:t>inch). After eight hours, the pillow</a:t>
            </a:r>
          </a:p>
          <a:p>
            <a:r>
              <a:rPr lang="en-US" dirty="0"/>
              <a:t>decreased to 15.4, a loss of 0.1. With such</a:t>
            </a:r>
          </a:p>
          <a:p>
            <a:r>
              <a:rPr lang="en-US" dirty="0"/>
              <a:t>mechanical actuation, the user is guaranteed</a:t>
            </a:r>
          </a:p>
          <a:p>
            <a:r>
              <a:rPr lang="en-US" dirty="0"/>
              <a:t>any desired firmness setting. 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018307"/>
            <a:ext cx="12192000" cy="572933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/>
              <a:t>All good essays should normally cite references to the existing literature that relates to the topic of the essay.</a:t>
            </a:r>
          </a:p>
          <a:p>
            <a:pPr>
              <a:lnSpc>
                <a:spcPct val="150000"/>
              </a:lnSpc>
            </a:pPr>
            <a:endParaRPr lang="en-US" sz="4000" b="1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78970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prstClr val="black"/>
                </a:solidFill>
                <a:latin typeface="Times New Roman" panose="02020603050405020304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61306" y="5685149"/>
            <a:ext cx="9469387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hlinkClick r:id="rId2"/>
              </a:rPr>
              <a:t>https://www.ieee.org/documents/style_manual.pdf</a:t>
            </a:r>
            <a:endParaRPr lang="en-US" sz="3600" dirty="0"/>
          </a:p>
          <a:p>
            <a:endParaRPr lang="en-US" sz="3600" dirty="0"/>
          </a:p>
        </p:txBody>
      </p:sp>
      <p:sp>
        <p:nvSpPr>
          <p:cNvPr id="5" name="Rectangle 4"/>
          <p:cNvSpPr/>
          <p:nvPr/>
        </p:nvSpPr>
        <p:spPr>
          <a:xfrm>
            <a:off x="115945" y="4253327"/>
            <a:ext cx="12424748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0" dirty="0">
                <a:solidFill>
                  <a:srgbClr val="C00000"/>
                </a:solidFill>
              </a:rPr>
              <a:t>IEEE EDITORIAL STYLE MANUAL </a:t>
            </a:r>
          </a:p>
        </p:txBody>
      </p:sp>
    </p:spTree>
    <p:extLst>
      <p:ext uri="{BB962C8B-B14F-4D97-AF65-F5344CB8AC3E}">
        <p14:creationId xmlns:p14="http://schemas.microsoft.com/office/powerpoint/2010/main" val="17272345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018307"/>
            <a:ext cx="12192000" cy="572933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/>
              <a:t>Types of illustrations: </a:t>
            </a:r>
          </a:p>
          <a:p>
            <a:pPr lvl="1">
              <a:lnSpc>
                <a:spcPct val="150000"/>
              </a:lnSpc>
            </a:pPr>
            <a:r>
              <a:rPr lang="en-US" sz="3600" b="1" dirty="0">
                <a:solidFill>
                  <a:srgbClr val="C00000"/>
                </a:solidFill>
              </a:rPr>
              <a:t>Tables:</a:t>
            </a:r>
            <a:r>
              <a:rPr lang="en-US" sz="3600" b="1" dirty="0"/>
              <a:t> Show numerical data </a:t>
            </a:r>
          </a:p>
          <a:p>
            <a:pPr lvl="1">
              <a:lnSpc>
                <a:spcPct val="150000"/>
              </a:lnSpc>
            </a:pPr>
            <a:r>
              <a:rPr lang="en-US" sz="3600" b="1" dirty="0">
                <a:solidFill>
                  <a:srgbClr val="C00000"/>
                </a:solidFill>
              </a:rPr>
              <a:t>Graphs: </a:t>
            </a:r>
            <a:r>
              <a:rPr lang="en-US" sz="3600" b="1" dirty="0"/>
              <a:t>Show changes, Compare data</a:t>
            </a:r>
          </a:p>
          <a:p>
            <a:pPr lvl="1">
              <a:lnSpc>
                <a:spcPct val="150000"/>
              </a:lnSpc>
            </a:pPr>
            <a:r>
              <a:rPr lang="en-US" sz="3600" b="1" dirty="0">
                <a:solidFill>
                  <a:srgbClr val="C00000"/>
                </a:solidFill>
              </a:rPr>
              <a:t>Diagrams / Drawings</a:t>
            </a:r>
            <a:r>
              <a:rPr lang="en-US" sz="3600" b="1" dirty="0"/>
              <a:t>: Show &amp; control details; ability to</a:t>
            </a:r>
          </a:p>
          <a:p>
            <a:pPr lvl="2">
              <a:lnSpc>
                <a:spcPct val="150000"/>
              </a:lnSpc>
            </a:pPr>
            <a:r>
              <a:rPr lang="en-US" sz="3200" b="1" dirty="0"/>
              <a:t>Show flow of a variable through a system</a:t>
            </a:r>
          </a:p>
          <a:p>
            <a:pPr lvl="1">
              <a:lnSpc>
                <a:spcPct val="150000"/>
              </a:lnSpc>
            </a:pPr>
            <a:r>
              <a:rPr lang="en-US" sz="3600" b="1" dirty="0">
                <a:solidFill>
                  <a:srgbClr val="C00000"/>
                </a:solidFill>
              </a:rPr>
              <a:t>Photographs</a:t>
            </a:r>
            <a:r>
              <a:rPr lang="en-US" sz="3600" b="1" dirty="0"/>
              <a:t>: </a:t>
            </a:r>
            <a:r>
              <a:rPr lang="en-US" sz="3200" b="1" dirty="0"/>
              <a:t>The main advantage of photographs is realism 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78970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prstClr val="black"/>
                </a:solidFill>
                <a:latin typeface="Times New Roman" panose="02020603050405020304"/>
              </a:rPr>
              <a:t>Illustrations</a:t>
            </a:r>
          </a:p>
        </p:txBody>
      </p:sp>
    </p:spTree>
    <p:extLst>
      <p:ext uri="{BB962C8B-B14F-4D97-AF65-F5344CB8AC3E}">
        <p14:creationId xmlns:p14="http://schemas.microsoft.com/office/powerpoint/2010/main" val="261969551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828" y="286297"/>
            <a:ext cx="10515600" cy="643869"/>
          </a:xfrm>
        </p:spPr>
        <p:txBody>
          <a:bodyPr>
            <a:normAutofit fontScale="90000"/>
          </a:bodyPr>
          <a:lstStyle/>
          <a:p>
            <a:r>
              <a:rPr lang="en-US" dirty="0"/>
              <a:t>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287" y="930166"/>
            <a:ext cx="11818187" cy="5927834"/>
          </a:xfrm>
        </p:spPr>
        <p:txBody>
          <a:bodyPr/>
          <a:lstStyle/>
          <a:p>
            <a:r>
              <a:rPr lang="en-US" b="1" dirty="0"/>
              <a:t>Does the essay have an </a:t>
            </a:r>
            <a:r>
              <a:rPr lang="en-US" b="1" dirty="0">
                <a:solidFill>
                  <a:srgbClr val="C00000"/>
                </a:solidFill>
              </a:rPr>
              <a:t>abstract</a:t>
            </a:r>
            <a:r>
              <a:rPr lang="en-US" b="1" dirty="0"/>
              <a:t>?</a:t>
            </a:r>
          </a:p>
          <a:p>
            <a:r>
              <a:rPr lang="en-US" b="1" dirty="0"/>
              <a:t>Does the essay have an </a:t>
            </a:r>
            <a:r>
              <a:rPr lang="en-US" b="1" dirty="0">
                <a:solidFill>
                  <a:srgbClr val="C00000"/>
                </a:solidFill>
              </a:rPr>
              <a:t>introduction</a:t>
            </a:r>
            <a:r>
              <a:rPr lang="en-US" b="1" dirty="0"/>
              <a:t>?</a:t>
            </a:r>
          </a:p>
          <a:p>
            <a:r>
              <a:rPr lang="en-US" b="1" dirty="0"/>
              <a:t>Does the essay have a valid set of </a:t>
            </a:r>
            <a:r>
              <a:rPr lang="en-US" b="1" dirty="0">
                <a:solidFill>
                  <a:srgbClr val="C00000"/>
                </a:solidFill>
              </a:rPr>
              <a:t>conclusions</a:t>
            </a:r>
            <a:r>
              <a:rPr lang="en-US" b="1" dirty="0"/>
              <a:t>?</a:t>
            </a:r>
          </a:p>
          <a:p>
            <a:r>
              <a:rPr lang="en-US" b="1" dirty="0"/>
              <a:t>Does the essay </a:t>
            </a:r>
            <a:r>
              <a:rPr lang="en-US" b="1" dirty="0">
                <a:solidFill>
                  <a:srgbClr val="C00000"/>
                </a:solidFill>
              </a:rPr>
              <a:t>address the question </a:t>
            </a:r>
            <a:r>
              <a:rPr lang="en-US" b="1" dirty="0"/>
              <a:t>that was asked?</a:t>
            </a:r>
          </a:p>
          <a:p>
            <a:r>
              <a:rPr lang="en-US" b="1" dirty="0"/>
              <a:t>Is there an entry in the </a:t>
            </a:r>
            <a:r>
              <a:rPr lang="en-US" b="1" dirty="0">
                <a:solidFill>
                  <a:srgbClr val="C00000"/>
                </a:solidFill>
              </a:rPr>
              <a:t>reference list </a:t>
            </a:r>
            <a:r>
              <a:rPr lang="en-US" b="1" dirty="0"/>
              <a:t>for every article that is cited in the  essay?</a:t>
            </a:r>
          </a:p>
          <a:p>
            <a:r>
              <a:rPr lang="en-US" b="1" dirty="0"/>
              <a:t>Have I </a:t>
            </a:r>
            <a:r>
              <a:rPr lang="en-US" b="1" dirty="0">
                <a:solidFill>
                  <a:srgbClr val="C00000"/>
                </a:solidFill>
              </a:rPr>
              <a:t>spellchecked</a:t>
            </a:r>
            <a:r>
              <a:rPr lang="en-US" b="1" dirty="0"/>
              <a:t> the essay?</a:t>
            </a:r>
          </a:p>
          <a:p>
            <a:r>
              <a:rPr lang="en-US" b="1" dirty="0"/>
              <a:t>Are </a:t>
            </a:r>
            <a:r>
              <a:rPr lang="en-US" b="1" dirty="0">
                <a:solidFill>
                  <a:srgbClr val="C00000"/>
                </a:solidFill>
              </a:rPr>
              <a:t>tables/diagrams/ images </a:t>
            </a:r>
            <a:r>
              <a:rPr lang="en-US" b="1" dirty="0"/>
              <a:t>captioned, and addressed in the text? </a:t>
            </a:r>
          </a:p>
          <a:p>
            <a:r>
              <a:rPr lang="en-US" b="1" dirty="0"/>
              <a:t>Are </a:t>
            </a:r>
            <a:r>
              <a:rPr lang="en-US" b="1" dirty="0">
                <a:solidFill>
                  <a:srgbClr val="C00000"/>
                </a:solidFill>
              </a:rPr>
              <a:t>citations/references </a:t>
            </a:r>
            <a:r>
              <a:rPr lang="en-US" b="1" dirty="0"/>
              <a:t>follow the </a:t>
            </a:r>
            <a:r>
              <a:rPr lang="en-US" b="1" dirty="0">
                <a:solidFill>
                  <a:srgbClr val="C00000"/>
                </a:solidFill>
              </a:rPr>
              <a:t>IEEE</a:t>
            </a:r>
            <a:r>
              <a:rPr lang="en-US" b="1" dirty="0"/>
              <a:t> style manual?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1696243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>
            <a:grpSpLocks noChangeAspect="1"/>
          </p:cNvGrpSpPr>
          <p:nvPr/>
        </p:nvGrpSpPr>
        <p:grpSpPr bwMode="auto">
          <a:xfrm>
            <a:off x="464409" y="205945"/>
            <a:ext cx="9079320" cy="6314303"/>
            <a:chOff x="360" y="201"/>
            <a:chExt cx="5881" cy="4090"/>
          </a:xfrm>
        </p:grpSpPr>
        <p:sp>
          <p:nvSpPr>
            <p:cNvPr id="6" name="AutoShape 3"/>
            <p:cNvSpPr>
              <a:spLocks noChangeAspect="1" noChangeArrowheads="1" noTextEdit="1"/>
            </p:cNvSpPr>
            <p:nvPr/>
          </p:nvSpPr>
          <p:spPr bwMode="auto">
            <a:xfrm>
              <a:off x="360" y="201"/>
              <a:ext cx="5881" cy="40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2053" name="Picture 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" y="201"/>
              <a:ext cx="5890" cy="40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Rectangle 1"/>
          <p:cNvSpPr/>
          <p:nvPr/>
        </p:nvSpPr>
        <p:spPr>
          <a:xfrm>
            <a:off x="8419070" y="6534143"/>
            <a:ext cx="377293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>
                <a:hlinkClick r:id="rId3"/>
              </a:rPr>
              <a:t>http://web.mit.edu/me-ugoffice/communication/technical-writing.pdf</a:t>
            </a:r>
            <a:endParaRPr lang="en-US" sz="1000" dirty="0"/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6558507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>
            <a:grpSpLocks noChangeAspect="1"/>
          </p:cNvGrpSpPr>
          <p:nvPr/>
        </p:nvGrpSpPr>
        <p:grpSpPr bwMode="auto">
          <a:xfrm>
            <a:off x="1614615" y="0"/>
            <a:ext cx="9722493" cy="6572491"/>
            <a:chOff x="497" y="0"/>
            <a:chExt cx="6494" cy="4390"/>
          </a:xfrm>
        </p:grpSpPr>
        <p:sp>
          <p:nvSpPr>
            <p:cNvPr id="6" name="AutoShape 3"/>
            <p:cNvSpPr>
              <a:spLocks noChangeAspect="1" noChangeArrowheads="1" noTextEdit="1"/>
            </p:cNvSpPr>
            <p:nvPr/>
          </p:nvSpPr>
          <p:spPr bwMode="auto">
            <a:xfrm>
              <a:off x="675" y="0"/>
              <a:ext cx="5863" cy="4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2053" name="Picture 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" y="0"/>
              <a:ext cx="6494" cy="43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Rectangle 1"/>
          <p:cNvSpPr/>
          <p:nvPr/>
        </p:nvSpPr>
        <p:spPr>
          <a:xfrm>
            <a:off x="0" y="6596390"/>
            <a:ext cx="290175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hlinkClick r:id="rId3"/>
              </a:rPr>
              <a:t>http://writing.umn.edu/tww/assets/pdfs/intro.pdf</a:t>
            </a:r>
            <a:endParaRPr lang="en-US" sz="1100" dirty="0"/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848899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21747"/>
          </a:xfrm>
        </p:spPr>
        <p:txBody>
          <a:bodyPr/>
          <a:lstStyle/>
          <a:p>
            <a:r>
              <a:rPr lang="en-US" b="1" dirty="0"/>
              <a:t>ENGR 181W</a:t>
            </a:r>
          </a:p>
        </p:txBody>
      </p:sp>
      <p:sp>
        <p:nvSpPr>
          <p:cNvPr id="4" name="Rectangle 3"/>
          <p:cNvSpPr/>
          <p:nvPr/>
        </p:nvSpPr>
        <p:spPr>
          <a:xfrm>
            <a:off x="306067" y="5842337"/>
            <a:ext cx="855784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2"/>
              </a:rPr>
              <a:t>https://www.unl.edu/gradstudies/connections/scientific-writing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3"/>
              </a:rPr>
              <a:t>https://www.iup.edu/writingcenter/writing-resources/organization-and-structure/creating-an-outline/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/>
              </a:rPr>
              <a:t>https://www.monmouth.edu/resources-for-writers/documents/transitions.pdf/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5"/>
              </a:rPr>
              <a:t>https://www.emmelaw.com/wp-content/uploads/2018/04/What-makes-a-good-document.pdf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Eunson, Baden. 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Communicating in the 21st Century, 4th Edition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. John Wiley &amp; Sons, 2015. Print.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554012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908DFD-8452-2224-28E2-AF3DFD5AB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36" y="187569"/>
            <a:ext cx="12200713" cy="6576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61075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73785"/>
            <a:ext cx="12192000" cy="6722303"/>
          </a:xfrm>
        </p:spPr>
        <p:txBody>
          <a:bodyPr lIns="182880" anchor="t" anchorCtr="0">
            <a:normAutofit/>
          </a:bodyPr>
          <a:lstStyle/>
          <a:p>
            <a:pPr algn="l"/>
            <a:r>
              <a:rPr lang="en-US" sz="4800" b="1" dirty="0"/>
              <a:t>What is scientific writing? </a:t>
            </a:r>
            <a:br>
              <a:rPr lang="en-US" sz="4800" b="1" dirty="0"/>
            </a:br>
            <a:br>
              <a:rPr lang="en-US" sz="4800" b="1" dirty="0"/>
            </a:br>
            <a:r>
              <a:rPr lang="en-US" sz="4800" b="1" dirty="0"/>
              <a:t>Scientific writing is not just writing about science.</a:t>
            </a:r>
            <a:br>
              <a:rPr lang="en-US" sz="4800" b="1" dirty="0"/>
            </a:br>
            <a:br>
              <a:rPr lang="en-US" sz="4800" b="1" dirty="0"/>
            </a:br>
            <a:r>
              <a:rPr lang="en-US" sz="4800" b="1" dirty="0"/>
              <a:t>Scientific writing is a type of technical writing 	that researchers and scientists write about 	their studies and share it with others.</a:t>
            </a:r>
            <a:br>
              <a:rPr lang="en-US" sz="4800" b="1" dirty="0"/>
            </a:br>
            <a:endParaRPr lang="en-US" sz="4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592154-E916-4B38-89D9-3E0CB3DE9A93}"/>
              </a:ext>
            </a:extLst>
          </p:cNvPr>
          <p:cNvSpPr txBox="1"/>
          <p:nvPr/>
        </p:nvSpPr>
        <p:spPr>
          <a:xfrm>
            <a:off x="71437" y="6072876"/>
            <a:ext cx="12120563" cy="84638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1" u="none" strike="noStrike" kern="1200" cap="none" spc="0" normalizeH="0" baseline="0" noProof="0" dirty="0">
                <a:ln>
                  <a:noFill/>
                </a:ln>
                <a:solidFill>
                  <a:srgbClr val="424240"/>
                </a:solidFill>
                <a:effectLst/>
                <a:uLnTx/>
                <a:uFillTx/>
                <a:latin typeface="Gotham SSm A"/>
                <a:ea typeface="+mn-ea"/>
                <a:cs typeface="+mn-cs"/>
              </a:rPr>
              <a:t>This is a summary of an interview with Dr. Rick Lombardo from the Office of Graduate Studies of University of Nebraska-Lincoln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2"/>
              </a:rPr>
              <a:t>https://www.unl.edu/gradstudies/connections/scientific-writing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655928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73785"/>
            <a:ext cx="12192000" cy="6722303"/>
          </a:xfrm>
        </p:spPr>
        <p:txBody>
          <a:bodyPr lIns="182880" anchor="t" anchorCtr="0">
            <a:normAutofit/>
          </a:bodyPr>
          <a:lstStyle/>
          <a:p>
            <a:pPr marL="685800" indent="-685800" algn="l">
              <a:buFont typeface="Wingdings" panose="05000000000000000000" pitchFamily="2" charset="2"/>
              <a:buChar char="Ø"/>
            </a:pPr>
            <a:r>
              <a:rPr lang="en-US" sz="4800" b="1" dirty="0"/>
              <a:t> Scientific writing must reflect the same precision of the research process. </a:t>
            </a:r>
            <a:br>
              <a:rPr lang="en-US" sz="4800" b="1" dirty="0"/>
            </a:br>
            <a:br>
              <a:rPr lang="en-US" sz="4800" b="1" dirty="0"/>
            </a:br>
            <a:r>
              <a:rPr lang="en-US" sz="4800" b="1" dirty="0"/>
              <a:t>Scientific communication demands:</a:t>
            </a:r>
            <a:br>
              <a:rPr lang="en-US" sz="4800" b="1" dirty="0"/>
            </a:br>
            <a:r>
              <a:rPr lang="en-US" sz="4800" b="1" dirty="0"/>
              <a:t>	</a:t>
            </a:r>
            <a:br>
              <a:rPr lang="en-US" sz="4800" b="1" dirty="0"/>
            </a:br>
            <a:r>
              <a:rPr lang="en-US" sz="4800" b="1" dirty="0"/>
              <a:t>	- Precision </a:t>
            </a:r>
            <a:br>
              <a:rPr lang="en-US" sz="4800" b="1" dirty="0"/>
            </a:br>
            <a:r>
              <a:rPr lang="en-US" sz="4800" b="1" dirty="0"/>
              <a:t>		- the precise use of words and phrases</a:t>
            </a:r>
            <a:br>
              <a:rPr lang="en-US" sz="4800" b="1" dirty="0"/>
            </a:br>
            <a:r>
              <a:rPr lang="en-US" sz="4800" b="1" dirty="0"/>
              <a:t> 	- Clarity, and </a:t>
            </a:r>
            <a:br>
              <a:rPr lang="en-US" sz="4800" b="1" dirty="0"/>
            </a:br>
            <a:r>
              <a:rPr lang="en-US" sz="4800" b="1" dirty="0"/>
              <a:t>	- Economy</a:t>
            </a:r>
          </a:p>
        </p:txBody>
      </p:sp>
    </p:spTree>
    <p:extLst>
      <p:ext uri="{BB962C8B-B14F-4D97-AF65-F5344CB8AC3E}">
        <p14:creationId xmlns:p14="http://schemas.microsoft.com/office/powerpoint/2010/main" val="52102247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08DEC19-9522-437A-83C1-8883B66A96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968433"/>
              </p:ext>
            </p:extLst>
          </p:nvPr>
        </p:nvGraphicFramePr>
        <p:xfrm>
          <a:off x="53219" y="319315"/>
          <a:ext cx="12100076" cy="6125028"/>
        </p:xfrm>
        <a:graphic>
          <a:graphicData uri="http://schemas.openxmlformats.org/drawingml/2006/table">
            <a:tbl>
              <a:tblPr firstRow="1" firstCol="1" bandRow="1"/>
              <a:tblGrid>
                <a:gridCol w="6050038">
                  <a:extLst>
                    <a:ext uri="{9D8B030D-6E8A-4147-A177-3AD203B41FA5}">
                      <a16:colId xmlns:a16="http://schemas.microsoft.com/office/drawing/2014/main" val="755126098"/>
                    </a:ext>
                  </a:extLst>
                </a:gridCol>
                <a:gridCol w="6050038">
                  <a:extLst>
                    <a:ext uri="{9D8B030D-6E8A-4147-A177-3AD203B41FA5}">
                      <a16:colId xmlns:a16="http://schemas.microsoft.com/office/drawing/2014/main" val="4180836493"/>
                    </a:ext>
                  </a:extLst>
                </a:gridCol>
              </a:tblGrid>
              <a:tr h="63201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Technical Writing</a:t>
                      </a:r>
                      <a:endParaRPr lang="en-US" sz="3200" b="1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Academic/Scientific Writing </a:t>
                      </a:r>
                      <a:endParaRPr lang="en-US" sz="3200" b="1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7230534"/>
                  </a:ext>
                </a:extLst>
              </a:tr>
              <a:tr h="363088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Technical writing focuses on providing detailed and simple information about the product or service.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95250" marT="133350" marB="1333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Academic writing focuses on proving a theory or viewpoint in one way or the other and emphasizes upon one specific subject.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95250" marT="133350" marB="1333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5921577"/>
                  </a:ext>
                </a:extLst>
              </a:tr>
              <a:tr h="186212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Technical writing contains factual and straight forward content.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95250" marT="133350" marB="1333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Academic writing contains contents on specific discipline or field.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95250" marT="133350" marB="1333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440094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01AE8D-082F-479A-B7B0-58CC91C3E3E9}"/>
              </a:ext>
            </a:extLst>
          </p:cNvPr>
          <p:cNvCxnSpPr/>
          <p:nvPr/>
        </p:nvCxnSpPr>
        <p:spPr>
          <a:xfrm>
            <a:off x="5883124" y="469295"/>
            <a:ext cx="0" cy="584925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86693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01AE8D-082F-479A-B7B0-58CC91C3E3E9}"/>
              </a:ext>
            </a:extLst>
          </p:cNvPr>
          <p:cNvCxnSpPr>
            <a:cxnSpLocks/>
          </p:cNvCxnSpPr>
          <p:nvPr/>
        </p:nvCxnSpPr>
        <p:spPr>
          <a:xfrm flipH="1">
            <a:off x="5936343" y="469295"/>
            <a:ext cx="33867" cy="584925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B119616-04D4-4D78-82D5-070FAC879B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201055"/>
              </p:ext>
            </p:extLst>
          </p:nvPr>
        </p:nvGraphicFramePr>
        <p:xfrm>
          <a:off x="106437" y="725714"/>
          <a:ext cx="12017830" cy="5757334"/>
        </p:xfrm>
        <a:graphic>
          <a:graphicData uri="http://schemas.openxmlformats.org/drawingml/2006/table">
            <a:tbl>
              <a:tblPr firstRow="1" firstCol="1" bandRow="1"/>
              <a:tblGrid>
                <a:gridCol w="6008915">
                  <a:extLst>
                    <a:ext uri="{9D8B030D-6E8A-4147-A177-3AD203B41FA5}">
                      <a16:colId xmlns:a16="http://schemas.microsoft.com/office/drawing/2014/main" val="1894107875"/>
                    </a:ext>
                  </a:extLst>
                </a:gridCol>
                <a:gridCol w="6008915">
                  <a:extLst>
                    <a:ext uri="{9D8B030D-6E8A-4147-A177-3AD203B41FA5}">
                      <a16:colId xmlns:a16="http://schemas.microsoft.com/office/drawing/2014/main" val="60002049"/>
                    </a:ext>
                  </a:extLst>
                </a:gridCol>
              </a:tblGrid>
              <a:tr h="145264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Own or personal point views are not included.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95250" marT="133350" marB="1333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Own or personal point of view may be included.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95250" marT="133350" marB="1333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0237177"/>
                  </a:ext>
                </a:extLst>
              </a:tr>
              <a:tr h="186606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Its purpose is getting something done.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95250" marT="133350" marB="1333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Its purposes is to demonstrate what a person knows.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95250" marT="133350" marB="1333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0108810"/>
                  </a:ext>
                </a:extLst>
              </a:tr>
              <a:tr h="243862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 technical writing the </a:t>
                      </a:r>
                      <a:r>
                        <a:rPr lang="en-US" sz="3200" u="sng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knowledge</a:t>
                      </a: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of topic is </a:t>
                      </a:r>
                      <a:r>
                        <a:rPr lang="en-US" sz="3200" u="sng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more than the reader </a:t>
                      </a: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who is going through it.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95250" marT="133350" marB="1333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 academic writing the knowledge of topic is less than the teacher who is evaluating the topic.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95250" marT="133350" marB="1333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135955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19AF628-8113-4026-A85C-1EF5B3351FC8}"/>
              </a:ext>
            </a:extLst>
          </p:cNvPr>
          <p:cNvSpPr txBox="1"/>
          <p:nvPr/>
        </p:nvSpPr>
        <p:spPr>
          <a:xfrm>
            <a:off x="256211" y="245925"/>
            <a:ext cx="34374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Writing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B96813-F54C-4F55-B049-9586CA74FF70}"/>
              </a:ext>
            </a:extLst>
          </p:cNvPr>
          <p:cNvSpPr txBox="1"/>
          <p:nvPr/>
        </p:nvSpPr>
        <p:spPr>
          <a:xfrm>
            <a:off x="6282059" y="245925"/>
            <a:ext cx="36002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 Writing </a:t>
            </a:r>
          </a:p>
        </p:txBody>
      </p:sp>
    </p:spTree>
    <p:extLst>
      <p:ext uri="{BB962C8B-B14F-4D97-AF65-F5344CB8AC3E}">
        <p14:creationId xmlns:p14="http://schemas.microsoft.com/office/powerpoint/2010/main" val="221204498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534B52-7D49-4B21-A34F-3D5A7F794A5B}"/>
              </a:ext>
            </a:extLst>
          </p:cNvPr>
          <p:cNvSpPr txBox="1"/>
          <p:nvPr/>
        </p:nvSpPr>
        <p:spPr>
          <a:xfrm>
            <a:off x="139147" y="64605"/>
            <a:ext cx="11767929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Rules for Scientific Writing </a:t>
            </a:r>
          </a:p>
          <a:p>
            <a:r>
              <a:rPr lang="en-US" sz="2400" dirty="0"/>
              <a:t>• Interest, inform, and persuade the reader  </a:t>
            </a:r>
          </a:p>
          <a:p>
            <a:r>
              <a:rPr lang="en-US" sz="2400" dirty="0"/>
              <a:t>• Write for your reader and </a:t>
            </a:r>
            <a:r>
              <a:rPr lang="en-US" sz="2400" b="1" dirty="0">
                <a:solidFill>
                  <a:srgbClr val="C00000"/>
                </a:solidFill>
              </a:rPr>
              <a:t>write clearly  </a:t>
            </a:r>
          </a:p>
          <a:p>
            <a:r>
              <a:rPr lang="en-US" sz="2400" dirty="0"/>
              <a:t>• Eliminate unnecessary </a:t>
            </a:r>
            <a:r>
              <a:rPr lang="en-US" sz="2400" dirty="0">
                <a:solidFill>
                  <a:srgbClr val="C00000"/>
                </a:solidFill>
              </a:rPr>
              <a:t>redundancy </a:t>
            </a:r>
            <a:r>
              <a:rPr lang="en-US" sz="2400" dirty="0"/>
              <a:t> </a:t>
            </a:r>
          </a:p>
          <a:p>
            <a:r>
              <a:rPr lang="en-US" sz="2400" dirty="0"/>
              <a:t>• Don't over explain and avoid overstatement  </a:t>
            </a:r>
          </a:p>
          <a:p>
            <a:r>
              <a:rPr lang="en-US" sz="2400" dirty="0"/>
              <a:t>• Use </a:t>
            </a:r>
            <a:r>
              <a:rPr lang="en-US" sz="2400" dirty="0">
                <a:solidFill>
                  <a:srgbClr val="C00000"/>
                </a:solidFill>
              </a:rPr>
              <a:t>consistent tenses  </a:t>
            </a:r>
          </a:p>
          <a:p>
            <a:r>
              <a:rPr lang="en-US" sz="2400" dirty="0"/>
              <a:t>• Use the </a:t>
            </a:r>
            <a:r>
              <a:rPr lang="en-US" sz="2400" dirty="0">
                <a:solidFill>
                  <a:srgbClr val="C00000"/>
                </a:solidFill>
              </a:rPr>
              <a:t>precise word  </a:t>
            </a:r>
          </a:p>
          <a:p>
            <a:r>
              <a:rPr lang="en-US" sz="2400" dirty="0"/>
              <a:t>• </a:t>
            </a:r>
            <a:r>
              <a:rPr lang="en-US" sz="2400" dirty="0">
                <a:solidFill>
                  <a:srgbClr val="C00000"/>
                </a:solidFill>
              </a:rPr>
              <a:t>Simpler words </a:t>
            </a:r>
            <a:r>
              <a:rPr lang="en-US" sz="2400" dirty="0"/>
              <a:t>are preferred over complex words</a:t>
            </a:r>
          </a:p>
          <a:p>
            <a:r>
              <a:rPr lang="en-US" sz="2400" dirty="0"/>
              <a:t>• </a:t>
            </a:r>
            <a:r>
              <a:rPr lang="en-US" sz="2400" dirty="0">
                <a:solidFill>
                  <a:srgbClr val="C00000"/>
                </a:solidFill>
              </a:rPr>
              <a:t>Simpler sentences </a:t>
            </a:r>
            <a:r>
              <a:rPr lang="en-US" sz="2400" dirty="0"/>
              <a:t>are preferred over more complicated sentences </a:t>
            </a:r>
          </a:p>
          <a:p>
            <a:r>
              <a:rPr lang="en-US" sz="2400" dirty="0"/>
              <a:t>• Use the </a:t>
            </a:r>
            <a:r>
              <a:rPr lang="en-US" sz="2400" dirty="0">
                <a:solidFill>
                  <a:srgbClr val="C00000"/>
                </a:solidFill>
              </a:rPr>
              <a:t>active voice </a:t>
            </a:r>
            <a:r>
              <a:rPr lang="en-US" sz="2400" dirty="0"/>
              <a:t>(except generally in methods) </a:t>
            </a:r>
          </a:p>
          <a:p>
            <a:r>
              <a:rPr lang="en-US" sz="2400" dirty="0"/>
              <a:t>• Make sure the subject and verb agree </a:t>
            </a:r>
          </a:p>
          <a:p>
            <a:r>
              <a:rPr lang="en-US" sz="2400" dirty="0"/>
              <a:t>• Use affirmative rather than negative constructions  </a:t>
            </a:r>
          </a:p>
          <a:p>
            <a:r>
              <a:rPr lang="en-US" sz="2400" dirty="0"/>
              <a:t>• Avoid use of the indefinite "this"  </a:t>
            </a:r>
          </a:p>
          <a:p>
            <a:r>
              <a:rPr lang="en-US" sz="2400" dirty="0"/>
              <a:t>• Use transitions  </a:t>
            </a:r>
          </a:p>
          <a:p>
            <a:r>
              <a:rPr lang="en-US" sz="2400" dirty="0"/>
              <a:t>• </a:t>
            </a:r>
            <a:r>
              <a:rPr lang="en-US" sz="2400" dirty="0">
                <a:solidFill>
                  <a:srgbClr val="C00000"/>
                </a:solidFill>
              </a:rPr>
              <a:t>Cite sources </a:t>
            </a:r>
            <a:r>
              <a:rPr lang="en-US" sz="2400" dirty="0"/>
              <a:t>as well as findings  </a:t>
            </a:r>
          </a:p>
          <a:p>
            <a:r>
              <a:rPr lang="en-US" sz="2400" dirty="0"/>
              <a:t>• </a:t>
            </a:r>
            <a:r>
              <a:rPr lang="en-US" sz="2400" dirty="0">
                <a:solidFill>
                  <a:srgbClr val="C00000"/>
                </a:solidFill>
              </a:rPr>
              <a:t>Proofread</a:t>
            </a:r>
            <a:r>
              <a:rPr lang="en-US" sz="2400" dirty="0"/>
              <a:t> your paper carefully; spell check does not catch everything; "there" is spelled 	correctly but not if you meant "their" </a:t>
            </a:r>
          </a:p>
        </p:txBody>
      </p:sp>
    </p:spTree>
    <p:extLst>
      <p:ext uri="{BB962C8B-B14F-4D97-AF65-F5344CB8AC3E}">
        <p14:creationId xmlns:p14="http://schemas.microsoft.com/office/powerpoint/2010/main" val="9084204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618F13-C10C-D2AA-5BDD-A11BF0B42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41" y="0"/>
            <a:ext cx="9841522" cy="68152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056BF4-51AA-19A8-85FD-860498F8E328}"/>
              </a:ext>
            </a:extLst>
          </p:cNvPr>
          <p:cNvSpPr txBox="1"/>
          <p:nvPr/>
        </p:nvSpPr>
        <p:spPr>
          <a:xfrm>
            <a:off x="6945923" y="10345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Physics letters B, 2018, Vol.783 (C), p.392-414</a:t>
            </a:r>
          </a:p>
        </p:txBody>
      </p:sp>
    </p:spTree>
    <p:extLst>
      <p:ext uri="{BB962C8B-B14F-4D97-AF65-F5344CB8AC3E}">
        <p14:creationId xmlns:p14="http://schemas.microsoft.com/office/powerpoint/2010/main" val="344263572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D84EFA-38C7-0C97-AB0D-B43B0EB0C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692" y="87513"/>
            <a:ext cx="9700846" cy="67704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98B924-FDC5-F45E-9C51-D506A86319A7}"/>
              </a:ext>
            </a:extLst>
          </p:cNvPr>
          <p:cNvSpPr txBox="1"/>
          <p:nvPr/>
        </p:nvSpPr>
        <p:spPr>
          <a:xfrm>
            <a:off x="0" y="4798313"/>
            <a:ext cx="2256692" cy="1600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Research </a:t>
            </a:r>
            <a:r>
              <a:rPr lang="en-US" sz="1400" dirty="0" err="1"/>
              <a:t>articleFull</a:t>
            </a:r>
            <a:r>
              <a:rPr lang="en-US" sz="1400" dirty="0"/>
              <a:t> text access</a:t>
            </a:r>
          </a:p>
          <a:p>
            <a:r>
              <a:rPr lang="en-US" sz="1400" dirty="0"/>
              <a:t>Robot control systems: A survey</a:t>
            </a:r>
          </a:p>
          <a:p>
            <a:r>
              <a:rPr lang="en-US" sz="1400" dirty="0"/>
              <a:t>Mary M. Moya, Homayoun </a:t>
            </a:r>
            <a:r>
              <a:rPr lang="en-US" sz="1400" dirty="0" err="1"/>
              <a:t>Seraji</a:t>
            </a:r>
            <a:endParaRPr lang="en-US" sz="1400" dirty="0"/>
          </a:p>
          <a:p>
            <a:r>
              <a:rPr lang="en-US" sz="1400" dirty="0"/>
              <a:t>September–December 1987</a:t>
            </a:r>
          </a:p>
        </p:txBody>
      </p:sp>
    </p:spTree>
    <p:extLst>
      <p:ext uri="{BB962C8B-B14F-4D97-AF65-F5344CB8AC3E}">
        <p14:creationId xmlns:p14="http://schemas.microsoft.com/office/powerpoint/2010/main" val="352395204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C97665B-BA1C-4EF3-A392-CF18AE6F4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75" y="147449"/>
            <a:ext cx="7574640" cy="6563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65895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C92ACB-DF91-473C-8A31-EED1F9B82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02" y="489566"/>
            <a:ext cx="11839732" cy="5685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15831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C93F0-5C29-4BB2-AF32-FDB7CB21B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057" y="188843"/>
            <a:ext cx="11877259" cy="5988120"/>
          </a:xfrm>
        </p:spPr>
        <p:txBody>
          <a:bodyPr>
            <a:normAutofit/>
          </a:bodyPr>
          <a:lstStyle/>
          <a:p>
            <a:r>
              <a:rPr lang="en-US" sz="3200" b="1" dirty="0"/>
              <a:t>Above</a:t>
            </a:r>
            <a:r>
              <a:rPr lang="en-US" sz="3200" dirty="0"/>
              <a:t> ("the above method," "mentioned above," etc.) </a:t>
            </a:r>
          </a:p>
          <a:p>
            <a:endParaRPr lang="en-US" sz="3200" dirty="0"/>
          </a:p>
          <a:p>
            <a:r>
              <a:rPr lang="en-US" sz="3200" dirty="0"/>
              <a:t>Often, you are referring to something preceding, but not necessarily above; a loose reference, convenient for writers, but not for readers. Be specific. </a:t>
            </a:r>
          </a:p>
          <a:p>
            <a:endParaRPr lang="en-US" sz="3200" dirty="0"/>
          </a:p>
          <a:p>
            <a:r>
              <a:rPr lang="en-US" sz="3200" dirty="0"/>
              <a:t>You know exactly what and where, but your readers may have to search (sometimes through much preceding material).</a:t>
            </a:r>
          </a:p>
        </p:txBody>
      </p:sp>
    </p:spTree>
    <p:extLst>
      <p:ext uri="{BB962C8B-B14F-4D97-AF65-F5344CB8AC3E}">
        <p14:creationId xmlns:p14="http://schemas.microsoft.com/office/powerpoint/2010/main" val="286306733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017B3CB-9EC6-4792-801D-FB62DA6C0A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965" y="208721"/>
            <a:ext cx="11743083" cy="6589643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/>
              <a:t>Compare with</a:t>
            </a:r>
            <a:r>
              <a:rPr lang="en-US" sz="3200" dirty="0"/>
              <a:t>, </a:t>
            </a:r>
            <a:r>
              <a:rPr lang="en-US" sz="3200" b="1" dirty="0"/>
              <a:t>compare to </a:t>
            </a:r>
            <a:endParaRPr lang="en-US" sz="3200" dirty="0"/>
          </a:p>
          <a:p>
            <a:pPr algn="l"/>
            <a:r>
              <a:rPr lang="en-US" sz="3200" i="1" dirty="0"/>
              <a:t>Compare with </a:t>
            </a:r>
            <a:r>
              <a:rPr lang="en-US" sz="3200" dirty="0"/>
              <a:t>means to examine differences and similarities; </a:t>
            </a:r>
          </a:p>
          <a:p>
            <a:pPr algn="l"/>
            <a:r>
              <a:rPr lang="en-US" sz="3200" i="1" dirty="0"/>
              <a:t>Compare to </a:t>
            </a:r>
            <a:r>
              <a:rPr lang="en-US" sz="3200" dirty="0"/>
              <a:t>means to represent as similar. </a:t>
            </a:r>
          </a:p>
          <a:p>
            <a:pPr algn="l"/>
            <a:endParaRPr lang="en-US" sz="3200" dirty="0"/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	One may conclude that the music of Brahms compares to that of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	Beethoven, but to do that, one must first compare the music of Brahms 	with that of Beethoven.</a:t>
            </a:r>
          </a:p>
          <a:p>
            <a:pPr algn="l"/>
            <a:endParaRPr lang="en-US" sz="2800" dirty="0"/>
          </a:p>
          <a:p>
            <a:pPr algn="l"/>
            <a:r>
              <a:rPr lang="en-US" sz="2800" b="1" dirty="0"/>
              <a:t>Which </a:t>
            </a:r>
            <a:r>
              <a:rPr lang="en-US" sz="2800" dirty="0"/>
              <a:t>or </a:t>
            </a:r>
            <a:r>
              <a:rPr lang="en-US" sz="2800" b="1" dirty="0"/>
              <a:t>that</a:t>
            </a:r>
            <a:r>
              <a:rPr lang="en-US" sz="2800" dirty="0"/>
              <a:t>? Simple rule: Which always follows a comma (and a pause), but that never does. </a:t>
            </a:r>
          </a:p>
          <a:p>
            <a:pPr algn="l"/>
            <a:r>
              <a:rPr lang="en-US" sz="2800" dirty="0"/>
              <a:t>	This study, which cost $10,000, was a success. The study that cost 	$10,000 was a success.</a:t>
            </a:r>
          </a:p>
        </p:txBody>
      </p:sp>
    </p:spTree>
    <p:extLst>
      <p:ext uri="{BB962C8B-B14F-4D97-AF65-F5344CB8AC3E}">
        <p14:creationId xmlns:p14="http://schemas.microsoft.com/office/powerpoint/2010/main" val="79953683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8C167D-4B65-4D5C-80F8-96DB6E546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97" y="591378"/>
            <a:ext cx="11812205" cy="5411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43816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CB71C1-1054-467E-88FA-7FF403EC8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24" y="879613"/>
            <a:ext cx="11924450" cy="4979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8029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519784-73E7-441B-AB9A-2F5ECBAE4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1" y="676484"/>
            <a:ext cx="6926900" cy="51931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69AEDD4-92AF-4475-AAE2-05740FF2F4C1}"/>
              </a:ext>
            </a:extLst>
          </p:cNvPr>
          <p:cNvSpPr txBox="1"/>
          <p:nvPr/>
        </p:nvSpPr>
        <p:spPr>
          <a:xfrm>
            <a:off x="4627908" y="621844"/>
            <a:ext cx="609517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u="none" strike="noStrike" baseline="0" dirty="0">
                <a:solidFill>
                  <a:srgbClr val="C00000"/>
                </a:solidFill>
                <a:latin typeface="Caecilia-Heavy"/>
              </a:rPr>
              <a:t>Document Abstract: The “Big Picture” for Decision Makers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0C93F9-6452-4C1B-A697-A2CF401286ED}"/>
              </a:ext>
            </a:extLst>
          </p:cNvPr>
          <p:cNvSpPr txBox="1"/>
          <p:nvPr/>
        </p:nvSpPr>
        <p:spPr>
          <a:xfrm>
            <a:off x="7626212" y="3020703"/>
            <a:ext cx="463536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Document Body: Details for All Readers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49103D-114C-4566-8A69-705C6E6B864B}"/>
              </a:ext>
            </a:extLst>
          </p:cNvPr>
          <p:cNvSpPr txBox="1"/>
          <p:nvPr/>
        </p:nvSpPr>
        <p:spPr>
          <a:xfrm>
            <a:off x="4891295" y="5820657"/>
            <a:ext cx="698596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u="none" strike="noStrike" baseline="0" dirty="0">
                <a:solidFill>
                  <a:srgbClr val="C00000"/>
                </a:solidFill>
                <a:latin typeface="Caecilia-Heavy"/>
              </a:rPr>
              <a:t>Document Conclusion: Wrap-Up Leading to Next Step</a:t>
            </a:r>
            <a:endParaRPr lang="en-US" sz="2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836461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73785"/>
            <a:ext cx="12192000" cy="6722303"/>
          </a:xfrm>
        </p:spPr>
        <p:txBody>
          <a:bodyPr lIns="182880" anchor="t" anchorCtr="0">
            <a:normAutofit fontScale="90000"/>
          </a:bodyPr>
          <a:lstStyle/>
          <a:p>
            <a:pPr marL="685800" indent="-685800" algn="l">
              <a:buFont typeface="Wingdings" panose="05000000000000000000" pitchFamily="2" charset="2"/>
              <a:buChar char="Ø"/>
            </a:pPr>
            <a:r>
              <a:rPr lang="en-US" sz="4000" b="1" dirty="0"/>
              <a:t> </a:t>
            </a:r>
            <a:r>
              <a:rPr lang="en-US" sz="4900" b="1" dirty="0"/>
              <a:t>Scientific / technical writing: </a:t>
            </a:r>
            <a:br>
              <a:rPr lang="en-US" sz="4000" b="1" dirty="0"/>
            </a:br>
            <a:r>
              <a:rPr lang="en-US" sz="4000" b="1" dirty="0"/>
              <a:t>	Highly technical information </a:t>
            </a:r>
            <a:br>
              <a:rPr lang="en-US" sz="4000" b="1" dirty="0"/>
            </a:br>
            <a:br>
              <a:rPr lang="en-US" sz="4000" b="1" dirty="0"/>
            </a:br>
            <a:r>
              <a:rPr lang="en-US" sz="4000" b="1" dirty="0"/>
              <a:t>	</a:t>
            </a:r>
            <a:r>
              <a:rPr lang="en-US" sz="3600" b="1" dirty="0"/>
              <a:t>	- For people who may, or may not, be as knowledgeable</a:t>
            </a:r>
            <a:br>
              <a:rPr lang="en-US" sz="4000" b="1" dirty="0"/>
            </a:br>
            <a:r>
              <a:rPr lang="en-US" sz="4000" b="1" dirty="0"/>
              <a:t>		- </a:t>
            </a:r>
            <a:r>
              <a:rPr lang="en-US" sz="3600" b="1" dirty="0"/>
              <a:t>They may, or may not, be a native speaker </a:t>
            </a:r>
            <a:br>
              <a:rPr lang="en-US" sz="3600" b="1" dirty="0"/>
            </a:br>
            <a:br>
              <a:rPr lang="en-US" sz="4000" b="1" dirty="0"/>
            </a:br>
            <a:r>
              <a:rPr lang="en-US" sz="4000" b="1" dirty="0"/>
              <a:t>- </a:t>
            </a:r>
            <a:r>
              <a:rPr lang="en-US" sz="3600" b="1" dirty="0"/>
              <a:t>The research question, hypotheses, methods, analysis, and 				conclusions must be stated clearly and simply.</a:t>
            </a:r>
            <a:br>
              <a:rPr lang="en-US" sz="3600" b="1" dirty="0"/>
            </a:br>
            <a:br>
              <a:rPr lang="en-US" sz="3600" b="1" dirty="0"/>
            </a:br>
            <a:r>
              <a:rPr lang="en-US" sz="3600" b="1" dirty="0"/>
              <a:t>- Facts, figures, and methods used in research must be precise and 			exact</a:t>
            </a:r>
            <a:br>
              <a:rPr lang="en-US" sz="3600" b="1" dirty="0"/>
            </a:br>
            <a:r>
              <a:rPr lang="en-US" sz="3600" b="1" dirty="0"/>
              <a:t>- Description of the results must be precise and exact</a:t>
            </a:r>
            <a:br>
              <a:rPr lang="en-US" sz="3600" b="1" dirty="0"/>
            </a:b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31647410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73785"/>
            <a:ext cx="12192000" cy="6722303"/>
          </a:xfrm>
        </p:spPr>
        <p:txBody>
          <a:bodyPr lIns="182880" anchor="t" anchorCtr="0">
            <a:normAutofit/>
          </a:bodyPr>
          <a:lstStyle/>
          <a:p>
            <a:pPr marL="685800" indent="-685800" algn="l">
              <a:buFont typeface="Wingdings" panose="05000000000000000000" pitchFamily="2" charset="2"/>
              <a:buChar char="Ø"/>
            </a:pPr>
            <a:br>
              <a:rPr lang="en-US" sz="4900" b="1" dirty="0"/>
            </a:br>
            <a:r>
              <a:rPr lang="en-US" sz="4900" b="1" dirty="0"/>
              <a:t>Accurate words and punctuation:  </a:t>
            </a:r>
            <a:br>
              <a:rPr lang="en-US" sz="4900" b="1" dirty="0"/>
            </a:br>
            <a:br>
              <a:rPr lang="en-US" sz="4900" b="1" dirty="0"/>
            </a:br>
            <a:r>
              <a:rPr lang="en-US" sz="3600" b="1" dirty="0"/>
              <a:t> “Isotopes, which were discovered in 1853, are radioactive,” 			reads as if all isotopes were discovered in 1853. </a:t>
            </a:r>
            <a:br>
              <a:rPr lang="en-US" sz="3600" b="1" dirty="0"/>
            </a:br>
            <a:br>
              <a:rPr lang="en-US" sz="3600" b="1" dirty="0"/>
            </a:br>
            <a:r>
              <a:rPr lang="en-US" sz="3600" b="1" dirty="0"/>
              <a:t>The writer intended to say: “The isotopes that were 				discovered in 1853 are radioactive.”</a:t>
            </a:r>
            <a:br>
              <a:rPr lang="en-US" sz="3600" b="1" dirty="0"/>
            </a:b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55216139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73785"/>
            <a:ext cx="12192000" cy="6722303"/>
          </a:xfrm>
        </p:spPr>
        <p:txBody>
          <a:bodyPr lIns="182880" anchor="t" anchorCtr="0">
            <a:normAutofit/>
          </a:bodyPr>
          <a:lstStyle/>
          <a:p>
            <a:pPr marL="685800" indent="-685800" algn="l">
              <a:buFont typeface="Wingdings" panose="05000000000000000000" pitchFamily="2" charset="2"/>
              <a:buChar char="Ø"/>
            </a:pPr>
            <a:br>
              <a:rPr lang="en-US" sz="4900" b="1" dirty="0"/>
            </a:br>
            <a:r>
              <a:rPr lang="en-US" sz="4900" b="1" dirty="0"/>
              <a:t>The organization of writing </a:t>
            </a:r>
            <a:br>
              <a:rPr lang="en-US" sz="4900" b="1" dirty="0"/>
            </a:br>
            <a:br>
              <a:rPr lang="en-US" sz="4900" b="1" dirty="0"/>
            </a:br>
            <a:r>
              <a:rPr lang="en-US" sz="4900" b="1" dirty="0"/>
              <a:t>	</a:t>
            </a:r>
            <a:r>
              <a:rPr lang="en-US" sz="4900" b="1" u="sng" dirty="0"/>
              <a:t>Readability: </a:t>
            </a:r>
            <a:r>
              <a:rPr lang="en-US" sz="4000" b="1" dirty="0"/>
              <a:t>If your reader has to work too 			hard to understand your meaning or your organization, 	you have a problem in your writing. </a:t>
            </a:r>
            <a:br>
              <a:rPr lang="en-US" sz="4000" b="1" dirty="0"/>
            </a:br>
            <a:br>
              <a:rPr lang="en-US" sz="4000" b="1" dirty="0"/>
            </a:br>
            <a:r>
              <a:rPr lang="en-US" sz="4000" b="1" dirty="0"/>
              <a:t>	</a:t>
            </a:r>
            <a:r>
              <a:rPr lang="en-US" sz="4900" b="1" u="sng" dirty="0"/>
              <a:t>Remember, </a:t>
            </a:r>
            <a:r>
              <a:rPr lang="en-US" sz="4000" b="1" dirty="0"/>
              <a:t>you are not writing to impress. You are 	writing to communicate.</a:t>
            </a:r>
            <a:br>
              <a:rPr lang="en-US" sz="4000" b="1" dirty="0"/>
            </a:b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56449844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73785"/>
            <a:ext cx="12192000" cy="6722303"/>
          </a:xfrm>
        </p:spPr>
        <p:txBody>
          <a:bodyPr lIns="182880" anchor="t" anchorCtr="0">
            <a:normAutofit/>
          </a:bodyPr>
          <a:lstStyle/>
          <a:p>
            <a:pPr marL="685800" indent="-685800" algn="l">
              <a:buFont typeface="Wingdings" panose="05000000000000000000" pitchFamily="2" charset="2"/>
              <a:buChar char="Ø"/>
            </a:pPr>
            <a:br>
              <a:rPr lang="en-US" sz="4900" b="1" dirty="0"/>
            </a:br>
            <a:r>
              <a:rPr lang="en-US" sz="4900" b="1" u="sng" dirty="0">
                <a:solidFill>
                  <a:srgbClr val="C00000"/>
                </a:solidFill>
              </a:rPr>
              <a:t>Logic</a:t>
            </a:r>
            <a:r>
              <a:rPr lang="en-US" sz="4900" b="1" u="sng" dirty="0"/>
              <a:t> </a:t>
            </a:r>
            <a:r>
              <a:rPr lang="en-US" sz="4900" u="sng" dirty="0"/>
              <a:t>and</a:t>
            </a:r>
            <a:r>
              <a:rPr lang="en-US" sz="4900" b="1" u="sng" dirty="0"/>
              <a:t> </a:t>
            </a:r>
            <a:r>
              <a:rPr lang="en-US" sz="4900" b="1" u="sng" dirty="0">
                <a:solidFill>
                  <a:srgbClr val="C00000"/>
                </a:solidFill>
              </a:rPr>
              <a:t>organization</a:t>
            </a:r>
            <a:r>
              <a:rPr lang="en-US" sz="4900" b="1" u="sng" dirty="0"/>
              <a:t>: </a:t>
            </a:r>
            <a:br>
              <a:rPr lang="en-US" sz="4900" b="1" dirty="0"/>
            </a:br>
            <a:r>
              <a:rPr lang="en-US" sz="4900" b="1" dirty="0"/>
              <a:t>		</a:t>
            </a:r>
            <a:r>
              <a:rPr lang="en-US" sz="4000" b="1" dirty="0"/>
              <a:t>Two important pillars of technical/scientific 				writing</a:t>
            </a:r>
            <a:br>
              <a:rPr lang="en-US" sz="4900" b="1" dirty="0"/>
            </a:br>
            <a:br>
              <a:rPr lang="en-US" sz="4900" b="1" dirty="0"/>
            </a:br>
            <a:r>
              <a:rPr lang="en-US" sz="4900" b="1" dirty="0"/>
              <a:t> - </a:t>
            </a:r>
            <a:r>
              <a:rPr lang="en-US" sz="4000" b="1" dirty="0"/>
              <a:t>In face-to-face explanation you can get an  instant 			feedback</a:t>
            </a:r>
            <a:br>
              <a:rPr lang="en-US" sz="4000" b="1" dirty="0"/>
            </a:br>
            <a:br>
              <a:rPr lang="en-US" sz="4000" b="1" dirty="0"/>
            </a:br>
            <a:r>
              <a:rPr lang="en-US" sz="4000" b="1" dirty="0"/>
              <a:t>- In writing you have only one chance </a:t>
            </a:r>
            <a:br>
              <a:rPr lang="en-US" sz="4900" b="1" dirty="0"/>
            </a:br>
            <a:endParaRPr lang="en-US" sz="4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B78842-D0B3-6133-8072-575696B27733}"/>
              </a:ext>
            </a:extLst>
          </p:cNvPr>
          <p:cNvSpPr txBox="1"/>
          <p:nvPr/>
        </p:nvSpPr>
        <p:spPr>
          <a:xfrm>
            <a:off x="8686800" y="5955323"/>
            <a:ext cx="3352800" cy="70788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/>
              <a:t>Simplex</a:t>
            </a:r>
          </a:p>
          <a:p>
            <a:r>
              <a:rPr lang="en-US" sz="2000" b="1"/>
              <a:t>One-way: Radio broadcasting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4290409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73785"/>
            <a:ext cx="7977188" cy="6722303"/>
          </a:xfrm>
        </p:spPr>
        <p:txBody>
          <a:bodyPr lIns="182880" anchor="t" anchorCtr="0">
            <a:normAutofit fontScale="90000"/>
          </a:bodyPr>
          <a:lstStyle/>
          <a:p>
            <a:pPr marL="685800" indent="-685800" algn="l">
              <a:buFont typeface="Wingdings" panose="05000000000000000000" pitchFamily="2" charset="2"/>
              <a:buChar char="Ø"/>
            </a:pPr>
            <a:br>
              <a:rPr lang="en-US" sz="4900" b="1" dirty="0"/>
            </a:br>
            <a:r>
              <a:rPr lang="en-US" sz="4900" b="1" u="sng" dirty="0"/>
              <a:t>The first step </a:t>
            </a:r>
            <a:r>
              <a:rPr lang="en-US" sz="4900" b="1" dirty="0"/>
              <a:t>in being logical: </a:t>
            </a:r>
            <a:br>
              <a:rPr lang="en-US" sz="4900" b="1" dirty="0"/>
            </a:br>
            <a:br>
              <a:rPr lang="en-US" sz="4900" b="1" dirty="0"/>
            </a:br>
            <a:r>
              <a:rPr lang="en-US" sz="4900" b="1" dirty="0"/>
              <a:t>Creation of an </a:t>
            </a:r>
            <a:r>
              <a:rPr lang="en-US" sz="4900" b="1" u="sng" dirty="0">
                <a:solidFill>
                  <a:srgbClr val="C00000"/>
                </a:solidFill>
              </a:rPr>
              <a:t>outline </a:t>
            </a:r>
            <a:r>
              <a:rPr lang="en-US" sz="4900" b="1" dirty="0"/>
              <a:t>			before you begin writing.</a:t>
            </a:r>
            <a:br>
              <a:rPr lang="en-US" sz="4900" b="1" dirty="0"/>
            </a:br>
            <a:br>
              <a:rPr lang="en-US" sz="4900" b="1" dirty="0"/>
            </a:br>
            <a:r>
              <a:rPr lang="en-US" sz="4900" b="1" dirty="0"/>
              <a:t> </a:t>
            </a:r>
            <a:br>
              <a:rPr lang="en-US" sz="4900" b="1" dirty="0"/>
            </a:br>
            <a:r>
              <a:rPr lang="en-US" sz="4900" b="1" dirty="0"/>
              <a:t>This is the step that takes the greatest investment of time. </a:t>
            </a:r>
            <a:br>
              <a:rPr lang="en-US" sz="4900" b="1" dirty="0"/>
            </a:br>
            <a:endParaRPr lang="en-US" sz="40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F59EAE-31D9-4585-AC0F-EDD1E1CAF110}"/>
              </a:ext>
            </a:extLst>
          </p:cNvPr>
          <p:cNvSpPr/>
          <p:nvPr/>
        </p:nvSpPr>
        <p:spPr>
          <a:xfrm>
            <a:off x="7681913" y="381001"/>
            <a:ext cx="4452938" cy="618172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Identify your topic or thesis statement.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Decide what points you would like to discuss during your paper.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Put your points in logical, numerical order so that each point connects back to your main point.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Write possible transitions between paragraphs.</a:t>
            </a:r>
          </a:p>
        </p:txBody>
      </p:sp>
    </p:spTree>
    <p:extLst>
      <p:ext uri="{BB962C8B-B14F-4D97-AF65-F5344CB8AC3E}">
        <p14:creationId xmlns:p14="http://schemas.microsoft.com/office/powerpoint/2010/main" val="227600038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73785"/>
            <a:ext cx="12192000" cy="6722303"/>
          </a:xfrm>
        </p:spPr>
        <p:txBody>
          <a:bodyPr lIns="182880" anchor="t" anchorCtr="0">
            <a:normAutofit fontScale="90000"/>
          </a:bodyPr>
          <a:lstStyle/>
          <a:p>
            <a:pPr algn="l"/>
            <a:br>
              <a:rPr lang="en-US" sz="4000" b="1" dirty="0"/>
            </a:br>
            <a:r>
              <a:rPr lang="en-US" sz="4000" b="1" dirty="0"/>
              <a:t>- Every paragraph should have one topic sentence, not two or 	three. </a:t>
            </a:r>
            <a:br>
              <a:rPr lang="en-US" sz="4000" b="1" dirty="0"/>
            </a:br>
            <a:br>
              <a:rPr lang="en-US" sz="4000" b="1" dirty="0"/>
            </a:br>
            <a:r>
              <a:rPr lang="en-US" sz="4000" b="1" dirty="0"/>
              <a:t>- All sentences in a paragraph should support or elaborate upon 	what your topic sentence.</a:t>
            </a:r>
            <a:br>
              <a:rPr lang="en-US" sz="4000" b="1" dirty="0"/>
            </a:br>
            <a:r>
              <a:rPr lang="en-US" sz="4000" b="1" dirty="0"/>
              <a:t> </a:t>
            </a:r>
            <a:br>
              <a:rPr lang="en-US" sz="4000" b="1" dirty="0"/>
            </a:br>
            <a:r>
              <a:rPr lang="en-US" sz="4000" b="1" dirty="0"/>
              <a:t>- All of your paragraphs should be logically organized around your 	</a:t>
            </a:r>
            <a:r>
              <a:rPr lang="en-US" sz="4000" b="1" u="sng" dirty="0"/>
              <a:t>section headings or sub-headings</a:t>
            </a:r>
            <a:r>
              <a:rPr lang="en-US" sz="4000" b="1" dirty="0"/>
              <a:t>. </a:t>
            </a:r>
            <a:br>
              <a:rPr lang="en-US" sz="4000" b="1" dirty="0"/>
            </a:br>
            <a:br>
              <a:rPr lang="en-US" sz="4000" b="1" dirty="0"/>
            </a:br>
            <a:r>
              <a:rPr lang="en-US" sz="4000" b="1" dirty="0"/>
              <a:t>- You should have a rationale for </a:t>
            </a:r>
            <a:r>
              <a:rPr lang="en-US" sz="4000" b="1" u="sng" dirty="0"/>
              <a:t>where each paragraph is placed</a:t>
            </a:r>
            <a:r>
              <a:rPr lang="en-US" sz="4000" b="1" dirty="0"/>
              <a:t>. </a:t>
            </a:r>
            <a:br>
              <a:rPr lang="en-US" sz="4000" b="1" dirty="0"/>
            </a:br>
            <a:br>
              <a:rPr lang="en-US" sz="4000" b="1" dirty="0"/>
            </a:br>
            <a:r>
              <a:rPr lang="en-US" sz="4000" b="1" dirty="0"/>
              <a:t>- You must maintain a natural logic that is </a:t>
            </a:r>
            <a:r>
              <a:rPr lang="en-US" sz="4000" b="1" u="sng" dirty="0"/>
              <a:t>accessible to the reader</a:t>
            </a:r>
            <a:r>
              <a:rPr lang="en-US" sz="4000" b="1" dirty="0"/>
              <a:t>.</a:t>
            </a:r>
            <a:br>
              <a:rPr lang="en-US" sz="4000" b="1" dirty="0"/>
            </a:br>
            <a:br>
              <a:rPr lang="en-US" sz="4000" b="1" dirty="0"/>
            </a:b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90824290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73785"/>
            <a:ext cx="12192000" cy="6722303"/>
          </a:xfrm>
        </p:spPr>
        <p:txBody>
          <a:bodyPr lIns="182880" anchor="t" anchorCtr="0">
            <a:normAutofit/>
          </a:bodyPr>
          <a:lstStyle/>
          <a:p>
            <a:pPr algn="l"/>
            <a:br>
              <a:rPr lang="en-US" sz="3600" b="1" dirty="0"/>
            </a:br>
            <a:r>
              <a:rPr lang="en-US" sz="3600" b="1" dirty="0"/>
              <a:t>- Use effective transitions between sections, paragraphs, 	sentences, and within sentences.</a:t>
            </a:r>
            <a:br>
              <a:rPr lang="en-US" sz="3600" b="1" dirty="0"/>
            </a:br>
            <a:br>
              <a:rPr lang="en-US" sz="3600" b="1" dirty="0"/>
            </a:br>
            <a:r>
              <a:rPr lang="en-US" sz="3600" b="1" dirty="0"/>
              <a:t>- Use strong verbs and concrete nouns. </a:t>
            </a:r>
            <a:br>
              <a:rPr lang="en-US" sz="3600" b="1" dirty="0"/>
            </a:br>
            <a:br>
              <a:rPr lang="en-US" sz="3600" b="1" dirty="0"/>
            </a:br>
            <a:r>
              <a:rPr lang="en-US" sz="3600" b="1" dirty="0"/>
              <a:t>- Don’t start sentences with weak phrases like, “There are . . .“ or 	“In order to determine,” instead of “To determine.”</a:t>
            </a:r>
            <a:br>
              <a:rPr lang="en-US" sz="3600" b="1" dirty="0"/>
            </a:br>
            <a:endParaRPr lang="en-US" sz="3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4D7FAA-0436-45F6-8E05-1536ECEC86A6}"/>
              </a:ext>
            </a:extLst>
          </p:cNvPr>
          <p:cNvSpPr txBox="1"/>
          <p:nvPr/>
        </p:nvSpPr>
        <p:spPr>
          <a:xfrm>
            <a:off x="-33338" y="4487764"/>
            <a:ext cx="12225338" cy="230832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the book, many loud sounds prevented the characters from sleeping. The characters were unable to embark on their journey the next day.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Revision: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the book, many loud sounds prevented the characters from sleeping. </a:t>
            </a: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 a result of their lack of sleep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the characters were unable to start their journey the next day.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Rationale: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transition helps to connect the two paragraphs by showing that the event occurring in the second paragraph was a result of the event that was described in the first paragraph. </a:t>
            </a:r>
          </a:p>
        </p:txBody>
      </p:sp>
    </p:spTree>
    <p:extLst>
      <p:ext uri="{BB962C8B-B14F-4D97-AF65-F5344CB8AC3E}">
        <p14:creationId xmlns:p14="http://schemas.microsoft.com/office/powerpoint/2010/main" val="361862547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73785"/>
            <a:ext cx="12192000" cy="6722303"/>
          </a:xfrm>
        </p:spPr>
        <p:txBody>
          <a:bodyPr lIns="182880" anchor="t" anchorCtr="0">
            <a:normAutofit/>
          </a:bodyPr>
          <a:lstStyle/>
          <a:p>
            <a:pPr algn="l"/>
            <a:br>
              <a:rPr lang="en-US" sz="4000" b="1" dirty="0"/>
            </a:br>
            <a:r>
              <a:rPr lang="en-US" sz="4000" b="1" dirty="0"/>
              <a:t>- Always strive to make the implicit explicit. </a:t>
            </a:r>
            <a:br>
              <a:rPr lang="en-US" sz="4000" b="1" dirty="0"/>
            </a:br>
            <a:r>
              <a:rPr lang="en-US" sz="4000" b="1" dirty="0"/>
              <a:t>		</a:t>
            </a:r>
            <a:r>
              <a:rPr lang="en-US" sz="4000" dirty="0"/>
              <a:t>Just because you know what you meant to say 			does not mean your audience does.</a:t>
            </a:r>
            <a:br>
              <a:rPr lang="en-US" sz="4000" dirty="0"/>
            </a:br>
            <a:br>
              <a:rPr lang="en-US" sz="4000" dirty="0"/>
            </a:br>
            <a:r>
              <a:rPr lang="en-US" sz="4000" b="1" dirty="0"/>
              <a:t>One other suggestion: </a:t>
            </a:r>
            <a:br>
              <a:rPr lang="en-US" sz="4000" b="1" dirty="0"/>
            </a:br>
            <a:r>
              <a:rPr lang="en-US" sz="4000" b="1" dirty="0"/>
              <a:t>	</a:t>
            </a:r>
            <a:r>
              <a:rPr lang="en-US" sz="4000" dirty="0"/>
              <a:t>After you have written a section, step away from it for 	a day and return with a fresh eye. 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	This will help you view your writing from the reader’s 	perspective.</a:t>
            </a:r>
            <a:br>
              <a:rPr lang="en-US" sz="4000" dirty="0"/>
            </a:b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22819517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25959-4070-4344-9C16-D08901737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450851"/>
            <a:ext cx="10515600" cy="615950"/>
          </a:xfrm>
        </p:spPr>
        <p:txBody>
          <a:bodyPr>
            <a:normAutofit fontScale="90000"/>
          </a:bodyPr>
          <a:lstStyle/>
          <a:p>
            <a:r>
              <a:rPr lang="en-US" sz="4400" b="1" i="0" u="none" strike="noStrike" baseline="0" dirty="0">
                <a:solidFill>
                  <a:srgbClr val="9370B2"/>
                </a:solidFill>
                <a:latin typeface="RdgVesta-Bold"/>
              </a:rPr>
              <a:t>The sixteen criteria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1167FC-AEDD-4074-9B19-893928BE5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3346"/>
            <a:ext cx="12192000" cy="445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98029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25959-4070-4344-9C16-D08901737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450851"/>
            <a:ext cx="10515600" cy="615950"/>
          </a:xfrm>
        </p:spPr>
        <p:txBody>
          <a:bodyPr>
            <a:normAutofit fontScale="90000"/>
          </a:bodyPr>
          <a:lstStyle/>
          <a:p>
            <a:r>
              <a:rPr lang="en-US" sz="4400" b="1" i="0" u="none" strike="noStrike" baseline="0" dirty="0">
                <a:solidFill>
                  <a:srgbClr val="9370B2"/>
                </a:solidFill>
                <a:latin typeface="RdgVesta-Bold"/>
              </a:rPr>
              <a:t>The sixteen criteria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A369DE-D21C-4C4E-88A3-F478EF02B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419337"/>
            <a:ext cx="12122427" cy="3949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01398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25959-4070-4344-9C16-D08901737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450851"/>
            <a:ext cx="10515600" cy="615950"/>
          </a:xfrm>
        </p:spPr>
        <p:txBody>
          <a:bodyPr>
            <a:normAutofit fontScale="90000"/>
          </a:bodyPr>
          <a:lstStyle/>
          <a:p>
            <a:r>
              <a:rPr lang="en-US" sz="4400" b="1" i="0" u="none" strike="noStrike" baseline="0" dirty="0">
                <a:solidFill>
                  <a:srgbClr val="9370B2"/>
                </a:solidFill>
                <a:latin typeface="RdgVesta-Bold"/>
              </a:rPr>
              <a:t>The sixteen criteria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B0222D-82EE-4B4C-BE77-5356BAE0A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2779"/>
            <a:ext cx="12192000" cy="4472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54347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25959-4070-4344-9C16-D08901737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450851"/>
            <a:ext cx="10515600" cy="615950"/>
          </a:xfrm>
        </p:spPr>
        <p:txBody>
          <a:bodyPr>
            <a:normAutofit fontScale="90000"/>
          </a:bodyPr>
          <a:lstStyle/>
          <a:p>
            <a:r>
              <a:rPr lang="en-US" sz="4400" b="1" i="0" u="none" strike="noStrike" baseline="0" dirty="0">
                <a:solidFill>
                  <a:srgbClr val="9370B2"/>
                </a:solidFill>
                <a:latin typeface="RdgVesta-Bold"/>
              </a:rPr>
              <a:t>The sixteen criteria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EF01FF-E945-44F8-9D29-512ABB53B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275263"/>
            <a:ext cx="12192000" cy="531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00357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44274C9-76A5-4C68-ADA2-D7689914D1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451711"/>
              </p:ext>
            </p:extLst>
          </p:nvPr>
        </p:nvGraphicFramePr>
        <p:xfrm>
          <a:off x="104776" y="157163"/>
          <a:ext cx="11782424" cy="6548946"/>
        </p:xfrm>
        <a:graphic>
          <a:graphicData uri="http://schemas.openxmlformats.org/drawingml/2006/table">
            <a:tbl>
              <a:tblPr firstRow="1" firstCol="1" bandRow="1"/>
              <a:tblGrid>
                <a:gridCol w="3065866">
                  <a:extLst>
                    <a:ext uri="{9D8B030D-6E8A-4147-A177-3AD203B41FA5}">
                      <a16:colId xmlns:a16="http://schemas.microsoft.com/office/drawing/2014/main" val="248219535"/>
                    </a:ext>
                  </a:extLst>
                </a:gridCol>
                <a:gridCol w="3419034">
                  <a:extLst>
                    <a:ext uri="{9D8B030D-6E8A-4147-A177-3AD203B41FA5}">
                      <a16:colId xmlns:a16="http://schemas.microsoft.com/office/drawing/2014/main" val="2456673974"/>
                    </a:ext>
                  </a:extLst>
                </a:gridCol>
                <a:gridCol w="5297524">
                  <a:extLst>
                    <a:ext uri="{9D8B030D-6E8A-4147-A177-3AD203B41FA5}">
                      <a16:colId xmlns:a16="http://schemas.microsoft.com/office/drawing/2014/main" val="2679222781"/>
                    </a:ext>
                  </a:extLst>
                </a:gridCol>
              </a:tblGrid>
              <a:tr h="3591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Aspect</a:t>
                      </a: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General Writing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Technical Writing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5169367"/>
                  </a:ext>
                </a:extLst>
              </a:tr>
              <a:tr h="3591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Purpose</a:t>
                      </a: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To entertain and inform</a:t>
                      </a: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Primarily to inform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2972950"/>
                  </a:ext>
                </a:extLst>
              </a:tr>
              <a:tr h="3591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Emphasis</a:t>
                      </a: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General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Specific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7245736"/>
                  </a:ext>
                </a:extLst>
              </a:tr>
              <a:tr h="111554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Time frame or shelf life</a:t>
                      </a: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More ephemeral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 More permanent; for the record</a:t>
                      </a: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 Ongoing/multiple/revised editions commo</a:t>
                      </a: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9364086"/>
                  </a:ext>
                </a:extLst>
              </a:tr>
              <a:tr h="73735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External validation of writing</a:t>
                      </a: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Writing is often verified by fact-checkers, editors</a:t>
                      </a: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Writing (e.g. journal articles) may be reviewed anonymously by referees</a:t>
                      </a: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0189892"/>
                  </a:ext>
                </a:extLst>
              </a:tr>
              <a:tr h="338471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Style</a:t>
                      </a:r>
                      <a:endParaRPr lang="en-US" sz="24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-Quotation common</a:t>
                      </a:r>
                      <a:endParaRPr lang="en-US" sz="24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-Slang, puns, humor acceptable</a:t>
                      </a:r>
                      <a:endParaRPr lang="en-US" sz="24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-Few footnotes, references</a:t>
                      </a:r>
                      <a:endParaRPr lang="en-US" sz="24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-First-and second-person references common</a:t>
                      </a:r>
                      <a:endParaRPr lang="en-US" sz="24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-Passive voice used less often</a:t>
                      </a:r>
                      <a:endParaRPr lang="en-US" sz="24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sz="2400" b="1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Quotation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b="1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uncommon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-Slang, puns, humor not readily acceptable</a:t>
                      </a:r>
                      <a:endParaRPr lang="en-US" sz="24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-Footnotes, references common</a:t>
                      </a:r>
                      <a:endParaRPr lang="en-US" sz="24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-First and second-person references uncommon</a:t>
                      </a:r>
                      <a:endParaRPr lang="en-US" sz="24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-Passive voice used more oft</a:t>
                      </a:r>
                      <a:endParaRPr lang="en-US" sz="24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51021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336586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944353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-Arial">
      <a:maj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1935</TotalTime>
  <Words>4414</Words>
  <Application>Microsoft Office PowerPoint</Application>
  <PresentationFormat>Widescreen</PresentationFormat>
  <Paragraphs>514</Paragraphs>
  <Slides>83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83</vt:i4>
      </vt:variant>
    </vt:vector>
  </HeadingPairs>
  <TitlesOfParts>
    <vt:vector size="95" baseType="lpstr">
      <vt:lpstr>Arial</vt:lpstr>
      <vt:lpstr>Arial Unicode MS</vt:lpstr>
      <vt:lpstr>Caecilia-Heavy</vt:lpstr>
      <vt:lpstr>Calibri</vt:lpstr>
      <vt:lpstr>Calibri Light</vt:lpstr>
      <vt:lpstr>Gotham SSm A</vt:lpstr>
      <vt:lpstr>RdgVesta-Bold</vt:lpstr>
      <vt:lpstr>Times New Roman</vt:lpstr>
      <vt:lpstr>Wingdings</vt:lpstr>
      <vt:lpstr>1_Office Theme</vt:lpstr>
      <vt:lpstr>2_Office Theme</vt:lpstr>
      <vt:lpstr>3_Office Theme</vt:lpstr>
      <vt:lpstr>  Texts are directly from the following sources: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Hall Effect   Hall-Effect Current Sensors  Hall-Effect Current Sensors: Principles of Operation and Implementation Techniques  Hall Effect Sensors Design, Integration and Behavior Analysis  Use of Hall Effect Sensors for Protection and Monitoring Applications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Abstract </vt:lpstr>
      <vt:lpstr>PowerPoint Presentation</vt:lpstr>
      <vt:lpstr>PowerPoint Presentation</vt:lpstr>
      <vt:lpstr>Keywords  or Index Terms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Checklist</vt:lpstr>
      <vt:lpstr>PowerPoint Presentation</vt:lpstr>
      <vt:lpstr>PowerPoint Presentation</vt:lpstr>
      <vt:lpstr>ENGR 181W</vt:lpstr>
      <vt:lpstr>PowerPoint Presentation</vt:lpstr>
      <vt:lpstr>What is scientific writing?   Scientific writing is not just writing about science.  Scientific writing is a type of technical writing  that researchers and scientists write about  their studies and share it with others. </vt:lpstr>
      <vt:lpstr> Scientific writing must reflect the same precision of the research process.   Scientific communication demands:    - Precision    - the precise use of words and phrases   - Clarity, and   - Economy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Scientific / technical writing:   Highly technical information     - For people who may, or may not, be as knowledgeable   - They may, or may not, be a native speaker   - The research question, hypotheses, methods, analysis, and     conclusions must be stated clearly and simply.  - Facts, figures, and methods used in research must be precise and    exact - Description of the results must be precise and exact </vt:lpstr>
      <vt:lpstr> Accurate words and punctuation:     “Isotopes, which were discovered in 1853, are radioactive,”    reads as if all isotopes were discovered in 1853.   The writer intended to say: “The isotopes that were     discovered in 1853 are radioactive.” </vt:lpstr>
      <vt:lpstr> The organization of writing    Readability: If your reader has to work too    hard to understand your meaning or your organization,  you have a problem in your writing.    Remember, you are not writing to impress. You are  writing to communicate. </vt:lpstr>
      <vt:lpstr> Logic and organization:    Two important pillars of technical/scientific     writing   - In face-to-face explanation you can get an  instant    feedback  - In writing you have only one chance  </vt:lpstr>
      <vt:lpstr> The first step in being logical:   Creation of an outline    before you begin writing.    This is the step that takes the greatest investment of time.  </vt:lpstr>
      <vt:lpstr> - Every paragraph should have one topic sentence, not two or  three.   - All sentences in a paragraph should support or elaborate upon  what your topic sentence.   - All of your paragraphs should be logically organized around your  section headings or sub-headings.   - You should have a rationale for where each paragraph is placed.   - You must maintain a natural logic that is accessible to the reader.  </vt:lpstr>
      <vt:lpstr> - Use effective transitions between sections, paragraphs,  sentences, and within sentences.  - Use strong verbs and concrete nouns.   - Don’t start sentences with weak phrases like, “There are . . .“ or  “In order to determine,” instead of “To determine.” </vt:lpstr>
      <vt:lpstr> - Always strive to make the implicit explicit.    Just because you know what you meant to say    does not mean your audience does.  One other suggestion:   After you have written a section, step away from it for  a day and return with a fresh eye.    This will help you view your writing from the reader’s  perspective. </vt:lpstr>
      <vt:lpstr>The sixteen criteria</vt:lpstr>
      <vt:lpstr>The sixteen criteria</vt:lpstr>
      <vt:lpstr>The sixteen criteria</vt:lpstr>
      <vt:lpstr>The sixteen criteria</vt:lpstr>
      <vt:lpstr>PowerPoint Presentation</vt:lpstr>
      <vt:lpstr>PowerPoint Presentation</vt:lpstr>
    </vt:vector>
  </TitlesOfParts>
  <Company>COE Riverside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Tofigh Heidarzadeh</dc:creator>
  <cp:lastModifiedBy>Heidarzadeh, Tofigh</cp:lastModifiedBy>
  <cp:revision>145</cp:revision>
  <dcterms:created xsi:type="dcterms:W3CDTF">2017-05-10T01:20:47Z</dcterms:created>
  <dcterms:modified xsi:type="dcterms:W3CDTF">2023-04-12T22:43:28Z</dcterms:modified>
</cp:coreProperties>
</file>