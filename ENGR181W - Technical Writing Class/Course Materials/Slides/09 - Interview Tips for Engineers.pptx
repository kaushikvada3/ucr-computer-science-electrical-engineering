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7" r:id="rId3"/>
    <p:sldId id="258" r:id="rId4"/>
    <p:sldId id="305" r:id="rId5"/>
    <p:sldId id="306" r:id="rId6"/>
    <p:sldId id="307" r:id="rId7"/>
    <p:sldId id="308" r:id="rId8"/>
    <p:sldId id="309" r:id="rId9"/>
    <p:sldId id="310" r:id="rId10"/>
    <p:sldId id="311" r:id="rId11"/>
    <p:sldId id="402" r:id="rId12"/>
    <p:sldId id="312" r:id="rId13"/>
    <p:sldId id="313" r:id="rId14"/>
    <p:sldId id="314" r:id="rId15"/>
    <p:sldId id="32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5" r:id="rId25"/>
    <p:sldId id="329" r:id="rId26"/>
    <p:sldId id="327" r:id="rId27"/>
    <p:sldId id="328" r:id="rId28"/>
    <p:sldId id="323" r:id="rId29"/>
    <p:sldId id="256" r:id="rId30"/>
    <p:sldId id="403" r:id="rId31"/>
    <p:sldId id="261" r:id="rId32"/>
    <p:sldId id="263" r:id="rId33"/>
    <p:sldId id="264" r:id="rId34"/>
    <p:sldId id="265" r:id="rId35"/>
    <p:sldId id="266" r:id="rId36"/>
    <p:sldId id="269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EEA30-8A88-46DD-A2A2-907B98F4F07E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A29A-374C-4017-9299-CCD07A1A0A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19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EEA30-8A88-46DD-A2A2-907B98F4F07E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A29A-374C-4017-9299-CCD07A1A0A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24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EEA30-8A88-46DD-A2A2-907B98F4F07E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A29A-374C-4017-9299-CCD07A1A0A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99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EEA30-8A88-46DD-A2A2-907B98F4F07E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A29A-374C-4017-9299-CCD07A1A0A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518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EEA30-8A88-46DD-A2A2-907B98F4F07E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A29A-374C-4017-9299-CCD07A1A0A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289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EEA30-8A88-46DD-A2A2-907B98F4F07E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A29A-374C-4017-9299-CCD07A1A0A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290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EEA30-8A88-46DD-A2A2-907B98F4F07E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A29A-374C-4017-9299-CCD07A1A0A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7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EEA30-8A88-46DD-A2A2-907B98F4F07E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A29A-374C-4017-9299-CCD07A1A0A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421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EEA30-8A88-46DD-A2A2-907B98F4F07E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A29A-374C-4017-9299-CCD07A1A0A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807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EEA30-8A88-46DD-A2A2-907B98F4F07E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A29A-374C-4017-9299-CCD07A1A0A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84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EEA30-8A88-46DD-A2A2-907B98F4F07E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A29A-374C-4017-9299-CCD07A1A0A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79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148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69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5735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5014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8559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713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909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881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355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446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71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EEA30-8A88-46DD-A2A2-907B98F4F07E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4A29A-374C-4017-9299-CCD07A1A0A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024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56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PenelopeCruz789/top-10-electrical-engineer-interview-questions-and-answers" TargetMode="External"/><Relationship Id="rId2" Type="http://schemas.openxmlformats.org/officeDocument/2006/relationships/hyperlink" Target="https://www.glassdoor.com/Interview/entry-level-electrical-engineer-interview-questions-SRCH_KO0,31.ht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18799"/>
            <a:ext cx="11887200" cy="2387600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venir Black"/>
              </a:rPr>
              <a:t>INTERVIEW TIPS FOR ENGINEERS 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5105399"/>
            <a:ext cx="12192000" cy="1752601"/>
          </a:xfrm>
        </p:spPr>
        <p:txBody>
          <a:bodyPr>
            <a:normAutofit/>
          </a:bodyPr>
          <a:lstStyle/>
          <a:p>
            <a:endParaRPr lang="en-US" sz="1200" dirty="0"/>
          </a:p>
          <a:p>
            <a:r>
              <a:rPr lang="en-US" sz="1200" dirty="0"/>
              <a:t>Texts are directly from: </a:t>
            </a:r>
          </a:p>
          <a:p>
            <a:r>
              <a:rPr lang="en-US" sz="1200" dirty="0"/>
              <a:t>https://www.triad-eng.com/staffing-articles/interview-tips-for-engineers.php#A Recruiter’s Guide to a Successful Engineering Interview</a:t>
            </a:r>
          </a:p>
          <a:p>
            <a:r>
              <a:rPr lang="en-US" sz="1200" dirty="0">
                <a:hlinkClick r:id="rId2"/>
              </a:rPr>
              <a:t>https://www.glassdoor.com/Interview/entry-level-electrical-engineer-interview-questions-SRCH_KO0,31.htm</a:t>
            </a:r>
            <a:endParaRPr lang="en-US" sz="1200" dirty="0"/>
          </a:p>
          <a:p>
            <a:r>
              <a:rPr lang="en-US" sz="1200" dirty="0">
                <a:hlinkClick r:id="rId3"/>
              </a:rPr>
              <a:t>https://www.slideshare.net/PenelopeCruz789/top-10-electrical-engineer-interview-questions-and-answers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73137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92726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Before Your Interview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728"/>
            <a:ext cx="12192000" cy="6165272"/>
          </a:xfrm>
        </p:spPr>
        <p:txBody>
          <a:bodyPr>
            <a:normAutofit/>
          </a:bodyPr>
          <a:lstStyle/>
          <a:p>
            <a:endParaRPr lang="en-US" sz="4000" dirty="0"/>
          </a:p>
          <a:p>
            <a:r>
              <a:rPr lang="en-US" sz="4000" dirty="0"/>
              <a:t>Know Your Knowledge, Skills, and Accomplishments</a:t>
            </a:r>
          </a:p>
          <a:p>
            <a:endParaRPr lang="en-US" sz="4000" dirty="0"/>
          </a:p>
          <a:p>
            <a:pPr lvl="1"/>
            <a:r>
              <a:rPr lang="en-US" sz="3600" dirty="0"/>
              <a:t>Review your resume carefully </a:t>
            </a:r>
          </a:p>
          <a:p>
            <a:pPr lvl="1"/>
            <a:r>
              <a:rPr lang="en-US" sz="3600" dirty="0"/>
              <a:t>Don’t exaggerate</a:t>
            </a:r>
          </a:p>
          <a:p>
            <a:pPr lvl="1"/>
            <a:r>
              <a:rPr lang="en-US" sz="3600" dirty="0"/>
              <a:t>Don’t miss any important item that you can add to the resume</a:t>
            </a:r>
          </a:p>
          <a:p>
            <a:pPr lvl="1"/>
            <a:r>
              <a:rPr lang="en-US" sz="3600" dirty="0"/>
              <a:t>Make sure that you can discuss each bullet point on your 	resume (your education, experience, etc.)</a:t>
            </a:r>
          </a:p>
          <a:p>
            <a:pPr marL="457200" lvl="1" indent="0">
              <a:buNone/>
            </a:pPr>
            <a:endParaRPr lang="en-US" sz="3600" dirty="0"/>
          </a:p>
          <a:p>
            <a:pPr lvl="1"/>
            <a:endParaRPr lang="en-US" sz="3600" dirty="0"/>
          </a:p>
          <a:p>
            <a:pPr lvl="1"/>
            <a:endParaRPr lang="en-US" sz="3600" dirty="0"/>
          </a:p>
          <a:p>
            <a:pPr lvl="1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71773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92726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Before Your Interview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728"/>
            <a:ext cx="12192000" cy="6165272"/>
          </a:xfrm>
        </p:spPr>
        <p:txBody>
          <a:bodyPr>
            <a:normAutofit/>
          </a:bodyPr>
          <a:lstStyle/>
          <a:p>
            <a:endParaRPr lang="en-US" sz="4000" dirty="0"/>
          </a:p>
          <a:p>
            <a:r>
              <a:rPr lang="en-US" sz="4000" dirty="0"/>
              <a:t>Prepare Your References</a:t>
            </a:r>
          </a:p>
          <a:p>
            <a:pPr lvl="1"/>
            <a:endParaRPr lang="en-US" sz="3600" dirty="0"/>
          </a:p>
          <a:p>
            <a:pPr lvl="1">
              <a:lnSpc>
                <a:spcPct val="150000"/>
              </a:lnSpc>
            </a:pPr>
            <a:r>
              <a:rPr lang="en-US" sz="3600" dirty="0"/>
              <a:t>Send the latest version of your resume to all references</a:t>
            </a:r>
          </a:p>
          <a:p>
            <a:pPr lvl="1">
              <a:lnSpc>
                <a:spcPct val="150000"/>
              </a:lnSpc>
            </a:pPr>
            <a:r>
              <a:rPr lang="en-US" sz="3600" dirty="0"/>
              <a:t>Update your references about your accomplishments</a:t>
            </a:r>
          </a:p>
          <a:p>
            <a:pPr lvl="1">
              <a:lnSpc>
                <a:spcPct val="150000"/>
              </a:lnSpc>
            </a:pPr>
            <a:r>
              <a:rPr lang="en-US" sz="3600" dirty="0"/>
              <a:t>Make sure you have secured permission from each reference</a:t>
            </a:r>
          </a:p>
          <a:p>
            <a:pPr lvl="1">
              <a:lnSpc>
                <a:spcPct val="150000"/>
              </a:lnSpc>
            </a:pPr>
            <a:endParaRPr lang="en-US" sz="3600" dirty="0"/>
          </a:p>
          <a:p>
            <a:pPr lvl="1"/>
            <a:endParaRPr lang="en-US" sz="3600" dirty="0"/>
          </a:p>
          <a:p>
            <a:pPr lvl="1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38796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92726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Before Your Interview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728"/>
            <a:ext cx="12192000" cy="6165272"/>
          </a:xfrm>
        </p:spPr>
        <p:txBody>
          <a:bodyPr>
            <a:normAutofit/>
          </a:bodyPr>
          <a:lstStyle/>
          <a:p>
            <a:endParaRPr lang="en-US" sz="4000" dirty="0"/>
          </a:p>
          <a:p>
            <a:r>
              <a:rPr lang="en-US" sz="4000" dirty="0"/>
              <a:t>Research Your Interviewer</a:t>
            </a:r>
          </a:p>
          <a:p>
            <a:pPr marL="0" indent="0">
              <a:buNone/>
            </a:pPr>
            <a:endParaRPr lang="en-US" sz="3600" dirty="0"/>
          </a:p>
          <a:p>
            <a:pPr lvl="1"/>
            <a:r>
              <a:rPr lang="en-US" sz="3600" dirty="0"/>
              <a:t>Try to learn in advance the names of interviewers, </a:t>
            </a:r>
          </a:p>
          <a:p>
            <a:pPr lvl="2"/>
            <a:r>
              <a:rPr lang="en-US" sz="3200" dirty="0"/>
              <a:t>Their professional background, </a:t>
            </a:r>
          </a:p>
          <a:p>
            <a:pPr lvl="2"/>
            <a:r>
              <a:rPr lang="en-US" sz="3200" dirty="0"/>
              <a:t>Education, and expertise</a:t>
            </a:r>
          </a:p>
          <a:p>
            <a:pPr lvl="2"/>
            <a:r>
              <a:rPr lang="en-US" sz="3200" dirty="0"/>
              <a:t>Interests</a:t>
            </a:r>
          </a:p>
          <a:p>
            <a:pPr lvl="1"/>
            <a:endParaRPr lang="en-US" sz="3600" dirty="0"/>
          </a:p>
          <a:p>
            <a:pPr lvl="1"/>
            <a:r>
              <a:rPr lang="en-US" sz="3600" dirty="0"/>
              <a:t>Prepare </a:t>
            </a:r>
            <a:r>
              <a:rPr lang="en-US" sz="3600" dirty="0">
                <a:solidFill>
                  <a:srgbClr val="C00000"/>
                </a:solidFill>
              </a:rPr>
              <a:t>your own questions </a:t>
            </a:r>
            <a:r>
              <a:rPr lang="en-US" sz="3600" dirty="0"/>
              <a:t>related to the interviewer's skills/interest or your common interests</a:t>
            </a:r>
          </a:p>
          <a:p>
            <a:pPr lvl="1"/>
            <a:endParaRPr lang="en-US" sz="3600" dirty="0"/>
          </a:p>
          <a:p>
            <a:pPr lvl="1"/>
            <a:endParaRPr lang="en-US" sz="3600" dirty="0"/>
          </a:p>
          <a:p>
            <a:pPr lvl="1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60238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92726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Before Your Interview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728"/>
            <a:ext cx="12192000" cy="6165272"/>
          </a:xfrm>
        </p:spPr>
        <p:txBody>
          <a:bodyPr>
            <a:normAutofit fontScale="92500" lnSpcReduction="10000"/>
          </a:bodyPr>
          <a:lstStyle/>
          <a:p>
            <a:endParaRPr lang="en-US" sz="4000" dirty="0"/>
          </a:p>
          <a:p>
            <a:r>
              <a:rPr lang="en-US" sz="4000" b="1" dirty="0">
                <a:solidFill>
                  <a:srgbClr val="C00000"/>
                </a:solidFill>
              </a:rPr>
              <a:t>Learn About Your Potential New Workplace</a:t>
            </a:r>
            <a:endParaRPr lang="en-US" sz="36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3600" dirty="0"/>
              <a:t>Research the company</a:t>
            </a:r>
          </a:p>
          <a:p>
            <a:pPr lvl="1">
              <a:lnSpc>
                <a:spcPct val="150000"/>
              </a:lnSpc>
            </a:pPr>
            <a:r>
              <a:rPr lang="en-US" sz="3200" dirty="0">
                <a:solidFill>
                  <a:srgbClr val="C00000"/>
                </a:solidFill>
              </a:rPr>
              <a:t>Review their website</a:t>
            </a:r>
            <a:r>
              <a:rPr lang="en-US" sz="3200" dirty="0"/>
              <a:t>, </a:t>
            </a:r>
          </a:p>
          <a:p>
            <a:pPr lvl="2">
              <a:lnSpc>
                <a:spcPct val="150000"/>
              </a:lnSpc>
            </a:pPr>
            <a:r>
              <a:rPr lang="en-US" sz="3200" dirty="0"/>
              <a:t>Learn about their achievements / Current Projects</a:t>
            </a:r>
          </a:p>
          <a:p>
            <a:pPr lvl="2">
              <a:lnSpc>
                <a:spcPct val="150000"/>
              </a:lnSpc>
            </a:pPr>
            <a:r>
              <a:rPr lang="en-US" sz="3200" dirty="0"/>
              <a:t>Learn about their key figures</a:t>
            </a:r>
          </a:p>
          <a:p>
            <a:pPr lvl="2">
              <a:lnSpc>
                <a:spcPct val="150000"/>
              </a:lnSpc>
            </a:pPr>
            <a:r>
              <a:rPr lang="en-US" sz="3200" dirty="0"/>
              <a:t>Review their online press releases </a:t>
            </a:r>
          </a:p>
          <a:p>
            <a:pPr lvl="2">
              <a:lnSpc>
                <a:spcPct val="150000"/>
              </a:lnSpc>
            </a:pPr>
            <a:r>
              <a:rPr lang="en-US" sz="3200" dirty="0"/>
              <a:t>Make yourself knowledgeable on company’s background and  its 	current status </a:t>
            </a:r>
          </a:p>
          <a:p>
            <a:pPr marL="457200" lvl="1" indent="0">
              <a:buNone/>
            </a:pPr>
            <a:endParaRPr lang="en-US" sz="3600" dirty="0"/>
          </a:p>
          <a:p>
            <a:pPr lvl="1"/>
            <a:endParaRPr lang="en-US" sz="3600" dirty="0"/>
          </a:p>
          <a:p>
            <a:pPr lvl="1"/>
            <a:endParaRPr lang="en-US" sz="3600" dirty="0"/>
          </a:p>
          <a:p>
            <a:pPr lvl="1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09512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92726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Before Your Interview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728"/>
            <a:ext cx="12192000" cy="6165272"/>
          </a:xfrm>
        </p:spPr>
        <p:txBody>
          <a:bodyPr>
            <a:normAutofit lnSpcReduction="10000"/>
          </a:bodyPr>
          <a:lstStyle/>
          <a:p>
            <a:endParaRPr lang="en-US" sz="4000" dirty="0"/>
          </a:p>
          <a:p>
            <a:r>
              <a:rPr lang="en-US" sz="4000" dirty="0"/>
              <a:t> Review the requirements and skills listed in the 	employer’s job description </a:t>
            </a:r>
            <a:endParaRPr lang="en-US" sz="3600" dirty="0"/>
          </a:p>
          <a:p>
            <a:pPr lvl="1"/>
            <a:endParaRPr lang="en-US" sz="3600" dirty="0"/>
          </a:p>
          <a:p>
            <a:pPr lvl="1"/>
            <a:r>
              <a:rPr lang="en-US" sz="3600" dirty="0"/>
              <a:t> </a:t>
            </a:r>
            <a:r>
              <a:rPr lang="en-US" sz="3600" b="1" dirty="0">
                <a:solidFill>
                  <a:srgbClr val="C00000"/>
                </a:solidFill>
              </a:rPr>
              <a:t>Plan Key Talking Points </a:t>
            </a:r>
          </a:p>
          <a:p>
            <a:pPr marL="457200" lvl="1" indent="0">
              <a:buNone/>
            </a:pPr>
            <a:endParaRPr lang="en-US" sz="3600" dirty="0"/>
          </a:p>
          <a:p>
            <a:pPr lvl="1"/>
            <a:r>
              <a:rPr lang="en-US" sz="3600" dirty="0"/>
              <a:t> Prepare </a:t>
            </a:r>
            <a:r>
              <a:rPr lang="en-US" sz="3600" u="sng" dirty="0"/>
              <a:t>relevant and </a:t>
            </a:r>
            <a:r>
              <a:rPr lang="en-US" sz="3600" u="sng" dirty="0">
                <a:solidFill>
                  <a:srgbClr val="C00000"/>
                </a:solidFill>
              </a:rPr>
              <a:t>explicit </a:t>
            </a:r>
            <a:r>
              <a:rPr lang="en-US" sz="3600" dirty="0"/>
              <a:t>examples to use during the 	interview</a:t>
            </a:r>
          </a:p>
          <a:p>
            <a:pPr lvl="1"/>
            <a:endParaRPr lang="en-US" sz="3600" dirty="0"/>
          </a:p>
          <a:p>
            <a:pPr marL="457200" lvl="1" indent="0">
              <a:buNone/>
            </a:pPr>
            <a:endParaRPr lang="en-US" sz="3600" dirty="0"/>
          </a:p>
          <a:p>
            <a:pPr lvl="1"/>
            <a:r>
              <a:rPr lang="en-US" sz="3600" dirty="0"/>
              <a:t> Plan your answers to common interview questions</a:t>
            </a:r>
          </a:p>
          <a:p>
            <a:pPr marL="457200" lvl="1" indent="0">
              <a:buNone/>
            </a:pPr>
            <a:endParaRPr lang="en-US" sz="3600" dirty="0"/>
          </a:p>
          <a:p>
            <a:pPr lvl="1"/>
            <a:endParaRPr lang="en-US" sz="3600" dirty="0"/>
          </a:p>
          <a:p>
            <a:pPr lvl="1"/>
            <a:endParaRPr lang="en-US" sz="3600" dirty="0"/>
          </a:p>
          <a:p>
            <a:pPr lvl="1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83509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92726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Before Your Interview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728"/>
            <a:ext cx="12192000" cy="6165272"/>
          </a:xfrm>
        </p:spPr>
        <p:txBody>
          <a:bodyPr>
            <a:normAutofit fontScale="92500" lnSpcReduction="10000"/>
          </a:bodyPr>
          <a:lstStyle/>
          <a:p>
            <a:endParaRPr lang="en-US" sz="4000" dirty="0"/>
          </a:p>
          <a:p>
            <a:r>
              <a:rPr lang="en-US" sz="4000" dirty="0"/>
              <a:t> Practice Answering Questions - OUT LOUD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sz="4000" dirty="0"/>
              <a:t> Consider How You Will Sell Yourself</a:t>
            </a:r>
          </a:p>
          <a:p>
            <a:pPr marL="457200" lvl="1" indent="0">
              <a:buNone/>
            </a:pPr>
            <a:endParaRPr lang="en-US" sz="3600" dirty="0"/>
          </a:p>
          <a:p>
            <a:r>
              <a:rPr lang="en-US" sz="4000" dirty="0"/>
              <a:t> Sleep well! Hangover can kill the interview!</a:t>
            </a:r>
          </a:p>
          <a:p>
            <a:endParaRPr lang="en-US" sz="4000" dirty="0"/>
          </a:p>
          <a:p>
            <a:r>
              <a:rPr lang="en-US" sz="4000" dirty="0"/>
              <a:t>Keep calm. Meditate before. </a:t>
            </a:r>
          </a:p>
          <a:p>
            <a:pPr lvl="1"/>
            <a:endParaRPr lang="en-US" sz="3600" dirty="0"/>
          </a:p>
          <a:p>
            <a:pPr marL="457200" lvl="1" indent="0">
              <a:buNone/>
            </a:pPr>
            <a:endParaRPr lang="en-US" sz="3600" dirty="0"/>
          </a:p>
          <a:p>
            <a:pPr lvl="1"/>
            <a:r>
              <a:rPr lang="en-US" sz="3600" dirty="0"/>
              <a:t> </a:t>
            </a:r>
          </a:p>
          <a:p>
            <a:pPr lvl="1"/>
            <a:endParaRPr lang="en-US" sz="3600" dirty="0"/>
          </a:p>
          <a:p>
            <a:pPr lvl="1"/>
            <a:endParaRPr lang="en-US" sz="3600" dirty="0"/>
          </a:p>
          <a:p>
            <a:pPr lvl="1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86845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92726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Before Your Interview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728"/>
            <a:ext cx="12192000" cy="6165272"/>
          </a:xfrm>
        </p:spPr>
        <p:txBody>
          <a:bodyPr>
            <a:normAutofit/>
          </a:bodyPr>
          <a:lstStyle/>
          <a:p>
            <a:endParaRPr lang="en-US" sz="4000" dirty="0"/>
          </a:p>
          <a:p>
            <a:r>
              <a:rPr lang="en-US" sz="4000" dirty="0"/>
              <a:t> Dress Professionally, </a:t>
            </a:r>
          </a:p>
          <a:p>
            <a:pPr lvl="1"/>
            <a:r>
              <a:rPr lang="en-US" sz="3600" dirty="0"/>
              <a:t>but not Too Much!</a:t>
            </a:r>
          </a:p>
          <a:p>
            <a:pPr lvl="1"/>
            <a:endParaRPr lang="en-US" sz="3600" dirty="0"/>
          </a:p>
          <a:p>
            <a:r>
              <a:rPr lang="en-US" sz="4000" dirty="0"/>
              <a:t>Don’t Arrive Too Early</a:t>
            </a:r>
          </a:p>
          <a:p>
            <a:endParaRPr lang="en-US" sz="4000" dirty="0"/>
          </a:p>
          <a:p>
            <a:r>
              <a:rPr lang="en-US" sz="4000" dirty="0"/>
              <a:t>Don’t Bring Electronics</a:t>
            </a:r>
          </a:p>
          <a:p>
            <a:endParaRPr lang="en-US" sz="3600" dirty="0"/>
          </a:p>
          <a:p>
            <a:pPr marL="457200" lvl="1" indent="0">
              <a:buNone/>
            </a:pPr>
            <a:r>
              <a:rPr lang="en-US" sz="3600" dirty="0"/>
              <a:t> </a:t>
            </a:r>
          </a:p>
          <a:p>
            <a:pPr lvl="1"/>
            <a:endParaRPr lang="en-US" sz="3600" dirty="0"/>
          </a:p>
          <a:p>
            <a:pPr lvl="1"/>
            <a:endParaRPr lang="en-US" sz="3600" dirty="0"/>
          </a:p>
          <a:p>
            <a:pPr lvl="1"/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91108" y="692726"/>
            <a:ext cx="6121599" cy="344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399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92726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Before Your Interview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857424"/>
            <a:ext cx="11963400" cy="2848707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3200" dirty="0"/>
              <a:t> The first few minutes of any in-person social interaction greatly influences a person’s impression of you, so it is important to present yourself well from the first moment of interaction.</a:t>
            </a:r>
          </a:p>
          <a:p>
            <a:pPr lvl="1">
              <a:lnSpc>
                <a:spcPct val="170000"/>
              </a:lnSpc>
            </a:pPr>
            <a:endParaRPr lang="en-US" sz="3200" dirty="0"/>
          </a:p>
          <a:p>
            <a:pPr lvl="1">
              <a:lnSpc>
                <a:spcPct val="170000"/>
              </a:lnSpc>
            </a:pPr>
            <a:endParaRPr lang="en-US" sz="3200" dirty="0"/>
          </a:p>
          <a:p>
            <a:pPr lvl="1">
              <a:lnSpc>
                <a:spcPct val="170000"/>
              </a:lnSpc>
            </a:pPr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00066" y="217411"/>
            <a:ext cx="5126138" cy="342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757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92726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During Your Interview</a:t>
            </a:r>
            <a:endParaRPr lang="en-US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333CFD9-5A71-F911-D375-2D6A6371B95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58260" y="1040179"/>
            <a:ext cx="11805139" cy="5107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Sit up straight. </a:t>
            </a:r>
          </a:p>
          <a:p>
            <a:r>
              <a:rPr lang="en-US" sz="3200" dirty="0"/>
              <a:t>Smile. </a:t>
            </a:r>
          </a:p>
          <a:p>
            <a:r>
              <a:rPr lang="en-US" sz="3200" dirty="0"/>
              <a:t>Practice appropriate facial expressions. </a:t>
            </a:r>
          </a:p>
          <a:p>
            <a:r>
              <a:rPr lang="en-US" sz="3200" dirty="0"/>
              <a:t>Practice your handshake. </a:t>
            </a:r>
          </a:p>
          <a:p>
            <a:r>
              <a:rPr lang="en-US" sz="3200" dirty="0"/>
              <a:t>Watch your gestures. </a:t>
            </a:r>
          </a:p>
          <a:p>
            <a:r>
              <a:rPr lang="en-US" sz="3200" dirty="0"/>
              <a:t>Don’t fidget</a:t>
            </a:r>
          </a:p>
          <a:p>
            <a:r>
              <a:rPr lang="en-US" sz="3200" dirty="0"/>
              <a:t>Maintain eye contact. </a:t>
            </a:r>
          </a:p>
          <a:p>
            <a:r>
              <a:rPr lang="en-US" sz="3200" dirty="0"/>
              <a:t>Maintain your focus on the interviewers. </a:t>
            </a:r>
          </a:p>
          <a:p>
            <a:r>
              <a:rPr lang="en-US" sz="3200" dirty="0"/>
              <a:t>Take short notes</a:t>
            </a:r>
          </a:p>
        </p:txBody>
      </p:sp>
    </p:spTree>
    <p:extLst>
      <p:ext uri="{BB962C8B-B14F-4D97-AF65-F5344CB8AC3E}">
        <p14:creationId xmlns:p14="http://schemas.microsoft.com/office/powerpoint/2010/main" val="3241638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92726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Interview Questions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728"/>
            <a:ext cx="12192000" cy="6165272"/>
          </a:xfrm>
        </p:spPr>
        <p:txBody>
          <a:bodyPr>
            <a:normAutofit/>
          </a:bodyPr>
          <a:lstStyle/>
          <a:p>
            <a:endParaRPr lang="en-US" sz="4000" dirty="0"/>
          </a:p>
          <a:p>
            <a:pPr lvl="0"/>
            <a:r>
              <a:rPr lang="en-US" sz="4000" dirty="0">
                <a:solidFill>
                  <a:prstClr val="black"/>
                </a:solidFill>
              </a:rPr>
              <a:t>General questions</a:t>
            </a:r>
          </a:p>
          <a:p>
            <a:pPr lvl="0"/>
            <a:r>
              <a:rPr lang="en-US" sz="4000" dirty="0">
                <a:solidFill>
                  <a:prstClr val="black"/>
                </a:solidFill>
              </a:rPr>
              <a:t>Technical questions</a:t>
            </a:r>
          </a:p>
          <a:p>
            <a:r>
              <a:rPr lang="en-US" sz="4000" dirty="0"/>
              <a:t> Project-based questions</a:t>
            </a:r>
          </a:p>
          <a:p>
            <a:r>
              <a:rPr lang="en-US" sz="4000" dirty="0"/>
              <a:t> Problem-solving / behavioral questions </a:t>
            </a:r>
          </a:p>
          <a:p>
            <a:endParaRPr lang="en-US" sz="3600" dirty="0"/>
          </a:p>
          <a:p>
            <a:pPr lvl="1"/>
            <a:endParaRPr lang="en-US" sz="3600" dirty="0"/>
          </a:p>
          <a:p>
            <a:pPr lvl="1"/>
            <a:endParaRPr lang="en-US" sz="3600" dirty="0"/>
          </a:p>
          <a:p>
            <a:pPr lvl="1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9073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92726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Interview Questions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728"/>
            <a:ext cx="10889673" cy="6165272"/>
          </a:xfrm>
        </p:spPr>
        <p:txBody>
          <a:bodyPr>
            <a:normAutofit/>
          </a:bodyPr>
          <a:lstStyle/>
          <a:p>
            <a:pPr lvl="0"/>
            <a:r>
              <a:rPr lang="en-US" sz="4000" b="1" i="1" dirty="0">
                <a:solidFill>
                  <a:prstClr val="black"/>
                </a:solidFill>
              </a:rPr>
              <a:t>General questions</a:t>
            </a:r>
          </a:p>
          <a:p>
            <a:pPr lvl="1"/>
            <a:r>
              <a:rPr lang="en-US" sz="3600" dirty="0">
                <a:solidFill>
                  <a:prstClr val="black"/>
                </a:solidFill>
              </a:rPr>
              <a:t>About you and your education</a:t>
            </a:r>
          </a:p>
          <a:p>
            <a:pPr marL="457200" lvl="1" indent="0">
              <a:buNone/>
            </a:pPr>
            <a:endParaRPr lang="en-US" sz="3600" dirty="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3600" b="1" u="sng" dirty="0">
                <a:solidFill>
                  <a:srgbClr val="C00000"/>
                </a:solidFill>
              </a:rPr>
              <a:t>Tell me about yourself </a:t>
            </a:r>
            <a:r>
              <a:rPr lang="en-US" sz="3600" u="sng" dirty="0">
                <a:solidFill>
                  <a:prstClr val="black"/>
                </a:solidFill>
              </a:rPr>
              <a:t>: Two- to three- minute snapshot of who you are and why you're the best candidate for this position.</a:t>
            </a:r>
          </a:p>
          <a:p>
            <a:pPr lvl="2">
              <a:lnSpc>
                <a:spcPct val="100000"/>
              </a:lnSpc>
            </a:pPr>
            <a:r>
              <a:rPr lang="en-US" sz="3200" dirty="0">
                <a:solidFill>
                  <a:prstClr val="black"/>
                </a:solidFill>
              </a:rPr>
              <a:t>Your answer is directly related to the position (in particular) and to the company (in general)</a:t>
            </a:r>
          </a:p>
          <a:p>
            <a:pPr marL="457200" lvl="1" indent="0">
              <a:buNone/>
            </a:pPr>
            <a:endParaRPr lang="en-US" sz="3600" u="sng" dirty="0">
              <a:solidFill>
                <a:prstClr val="black"/>
              </a:solidFill>
            </a:endParaRPr>
          </a:p>
          <a:p>
            <a:pPr lvl="1"/>
            <a:endParaRPr lang="en-US" sz="3600" dirty="0"/>
          </a:p>
          <a:p>
            <a:pPr lvl="1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98342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92726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Interview Questions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728"/>
            <a:ext cx="9922747" cy="6165272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US" sz="4000" b="1" i="1" dirty="0">
                <a:solidFill>
                  <a:prstClr val="black"/>
                </a:solidFill>
              </a:rPr>
              <a:t>General questions</a:t>
            </a:r>
            <a:r>
              <a:rPr lang="en-US" sz="4000" dirty="0">
                <a:solidFill>
                  <a:prstClr val="black"/>
                </a:solidFill>
              </a:rPr>
              <a:t>: Some examples</a:t>
            </a:r>
          </a:p>
          <a:p>
            <a:pPr marL="457200" lvl="1" indent="0">
              <a:buNone/>
            </a:pPr>
            <a:endParaRPr lang="en-US" sz="3600" u="sng" dirty="0">
              <a:solidFill>
                <a:prstClr val="black"/>
              </a:solidFill>
            </a:endParaRPr>
          </a:p>
          <a:p>
            <a:pPr lvl="2"/>
            <a:r>
              <a:rPr lang="en-US" sz="3200" dirty="0">
                <a:solidFill>
                  <a:prstClr val="black"/>
                </a:solidFill>
              </a:rPr>
              <a:t>When and where did you get your electrical engineering degree?</a:t>
            </a:r>
          </a:p>
          <a:p>
            <a:pPr lvl="2"/>
            <a:endParaRPr lang="en-US" sz="3200" dirty="0">
              <a:solidFill>
                <a:prstClr val="black"/>
              </a:solidFill>
            </a:endParaRPr>
          </a:p>
          <a:p>
            <a:pPr lvl="2"/>
            <a:r>
              <a:rPr lang="en-US" sz="3200" dirty="0">
                <a:solidFill>
                  <a:prstClr val="black"/>
                </a:solidFill>
              </a:rPr>
              <a:t> In what classes did you excel? </a:t>
            </a:r>
            <a:r>
              <a:rPr lang="en-US" sz="2800" dirty="0">
                <a:solidFill>
                  <a:srgbClr val="FF0000"/>
                </a:solidFill>
              </a:rPr>
              <a:t>[is it related to this position?]</a:t>
            </a:r>
          </a:p>
          <a:p>
            <a:pPr lvl="2"/>
            <a:endParaRPr lang="en-US" sz="2800" dirty="0">
              <a:solidFill>
                <a:srgbClr val="FF0000"/>
              </a:solidFill>
            </a:endParaRPr>
          </a:p>
          <a:p>
            <a:pPr lvl="2"/>
            <a:r>
              <a:rPr lang="en-US" sz="3200" dirty="0"/>
              <a:t> Where do you see yourself in five years’ time? </a:t>
            </a:r>
            <a:r>
              <a:rPr lang="en-US" sz="2800" dirty="0">
                <a:solidFill>
                  <a:srgbClr val="FF0000"/>
                </a:solidFill>
              </a:rPr>
              <a:t>[Have a plan related 			to this position (in particular)  and to  the company, in 			general]</a:t>
            </a:r>
          </a:p>
          <a:p>
            <a:pPr lvl="2"/>
            <a:endParaRPr lang="en-US" sz="2800" dirty="0">
              <a:solidFill>
                <a:srgbClr val="FF0000"/>
              </a:solidFill>
            </a:endParaRPr>
          </a:p>
          <a:p>
            <a:pPr lvl="2"/>
            <a:r>
              <a:rPr lang="en-US" sz="3200" dirty="0"/>
              <a:t>What is your greatest strength? </a:t>
            </a:r>
          </a:p>
          <a:p>
            <a:pPr lvl="3"/>
            <a:r>
              <a:rPr lang="en-US" sz="3000" dirty="0">
                <a:solidFill>
                  <a:srgbClr val="FF0000"/>
                </a:solidFill>
              </a:rPr>
              <a:t>Two types of strength:</a:t>
            </a:r>
            <a:r>
              <a:rPr lang="en-US" sz="3000" dirty="0"/>
              <a:t> </a:t>
            </a:r>
          </a:p>
          <a:p>
            <a:pPr lvl="5"/>
            <a:r>
              <a:rPr lang="en-US" sz="3000" dirty="0"/>
              <a:t>There are </a:t>
            </a:r>
            <a:r>
              <a:rPr lang="en-US" sz="3000" u="sng" dirty="0"/>
              <a:t>certain strengths that all employers seek </a:t>
            </a:r>
            <a:r>
              <a:rPr lang="en-US" sz="3000" dirty="0"/>
              <a:t>in the candidates they hire. </a:t>
            </a:r>
          </a:p>
          <a:p>
            <a:pPr lvl="5"/>
            <a:r>
              <a:rPr lang="en-US" sz="3000" dirty="0"/>
              <a:t>Others will be </a:t>
            </a:r>
            <a:r>
              <a:rPr lang="en-US" sz="3000" u="sng" dirty="0"/>
              <a:t>specific to the job </a:t>
            </a:r>
            <a:r>
              <a:rPr lang="en-US" sz="3000" dirty="0"/>
              <a:t>and the company.</a:t>
            </a:r>
          </a:p>
          <a:p>
            <a:pPr lvl="2"/>
            <a:endParaRPr lang="en-US" sz="2800" dirty="0">
              <a:solidFill>
                <a:srgbClr val="FF0000"/>
              </a:solidFill>
            </a:endParaRPr>
          </a:p>
          <a:p>
            <a:pPr lvl="2"/>
            <a:r>
              <a:rPr lang="en-US" sz="2800" dirty="0">
                <a:solidFill>
                  <a:srgbClr val="FF0000"/>
                </a:solidFill>
              </a:rPr>
              <a:t>[The company wants to learn whether you are a good fit for the role you are  interviewing for] </a:t>
            </a:r>
          </a:p>
          <a:p>
            <a:pPr lvl="2"/>
            <a:r>
              <a:rPr lang="en-US" sz="3200" dirty="0"/>
              <a:t> </a:t>
            </a:r>
            <a:endParaRPr lang="en-US" sz="3600" dirty="0"/>
          </a:p>
          <a:p>
            <a:pPr lvl="1"/>
            <a:endParaRPr lang="en-US" sz="3600" dirty="0"/>
          </a:p>
          <a:p>
            <a:pPr lvl="1"/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4ED5E3-1BC7-F43F-A393-ABE6257BE383}"/>
              </a:ext>
            </a:extLst>
          </p:cNvPr>
          <p:cNvSpPr txBox="1"/>
          <p:nvPr/>
        </p:nvSpPr>
        <p:spPr>
          <a:xfrm>
            <a:off x="9997272" y="4094704"/>
            <a:ext cx="2120203" cy="230832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List your skills that match those the employer is seeking. This list can include education or training, soft skills, hard skills, or past work experiences.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9E4BA6-8925-E94B-52A3-43C0CE571D5A}"/>
              </a:ext>
            </a:extLst>
          </p:cNvPr>
          <p:cNvSpPr txBox="1"/>
          <p:nvPr/>
        </p:nvSpPr>
        <p:spPr>
          <a:xfrm>
            <a:off x="9882554" y="1034980"/>
            <a:ext cx="2309446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General Rule: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Be Specific </a:t>
            </a:r>
          </a:p>
        </p:txBody>
      </p:sp>
    </p:spTree>
    <p:extLst>
      <p:ext uri="{BB962C8B-B14F-4D97-AF65-F5344CB8AC3E}">
        <p14:creationId xmlns:p14="http://schemas.microsoft.com/office/powerpoint/2010/main" val="2901109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C9E252-0EE9-C096-6C96-860A98AE6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265" y="92947"/>
            <a:ext cx="12136735" cy="6672105"/>
          </a:xfrm>
        </p:spPr>
        <p:txBody>
          <a:bodyPr/>
          <a:lstStyle/>
          <a:p>
            <a:pPr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What is your greatest weakness?  </a:t>
            </a:r>
            <a:r>
              <a:rPr lang="en-US" sz="2000" dirty="0"/>
              <a:t>[Turn weakness indirectly to strength, or talk about a weakness not 						directly related to the  job]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I focus too much on the details.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I have trouble saying “no.”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I get impatient when projects run beyond the deadline.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I can have trouble asking for help.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Why should we hire you? 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Match your skills/experience/knowledge/enthusiasm/ideas… with the position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 What is your greatest accomplishment? 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Better be related to the job or your expertise, but not necessarily. In any case be specific  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 What can we expect from you in your first 90 days? 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Will be defined based on the specifications of the job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 </a:t>
            </a:r>
            <a:r>
              <a:rPr lang="en-US" sz="2800" dirty="0">
                <a:solidFill>
                  <a:srgbClr val="C00000"/>
                </a:solidFill>
              </a:rPr>
              <a:t>Do you have any questions</a:t>
            </a:r>
            <a:r>
              <a:rPr lang="en-US" sz="2800" dirty="0"/>
              <a:t>?  Sure… Study the Job &amp; Company very well 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D19AFD-BC10-196C-2904-C04FD66A8E60}"/>
              </a:ext>
            </a:extLst>
          </p:cNvPr>
          <p:cNvSpPr txBox="1"/>
          <p:nvPr/>
        </p:nvSpPr>
        <p:spPr>
          <a:xfrm>
            <a:off x="9731829" y="1085222"/>
            <a:ext cx="2309446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General Rule: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Be Specific </a:t>
            </a:r>
          </a:p>
        </p:txBody>
      </p:sp>
    </p:spTree>
    <p:extLst>
      <p:ext uri="{BB962C8B-B14F-4D97-AF65-F5344CB8AC3E}">
        <p14:creationId xmlns:p14="http://schemas.microsoft.com/office/powerpoint/2010/main" val="2172509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92726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Interview Questions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728"/>
            <a:ext cx="12192000" cy="6165272"/>
          </a:xfrm>
        </p:spPr>
        <p:txBody>
          <a:bodyPr>
            <a:normAutofit/>
          </a:bodyPr>
          <a:lstStyle/>
          <a:p>
            <a:endParaRPr lang="en-US" sz="4000" dirty="0"/>
          </a:p>
          <a:p>
            <a:pPr lvl="0"/>
            <a:r>
              <a:rPr lang="en-US" sz="4000" b="1" i="1" dirty="0">
                <a:solidFill>
                  <a:prstClr val="black"/>
                </a:solidFill>
              </a:rPr>
              <a:t>Technical questions</a:t>
            </a:r>
          </a:p>
          <a:p>
            <a:r>
              <a:rPr lang="en-US" sz="4000" dirty="0"/>
              <a:t> 	Sometimes interviewers ask technical questions like 	an oral engineering exam:</a:t>
            </a:r>
          </a:p>
          <a:p>
            <a:pPr lvl="2"/>
            <a:r>
              <a:rPr lang="en-US" sz="2800" dirty="0"/>
              <a:t>What is a general  layout of an  Electrical power grid?</a:t>
            </a:r>
          </a:p>
          <a:p>
            <a:pPr lvl="2"/>
            <a:r>
              <a:rPr lang="en-US" sz="2800" dirty="0"/>
              <a:t>What is arc flash analysis?</a:t>
            </a:r>
          </a:p>
          <a:p>
            <a:pPr lvl="2"/>
            <a:r>
              <a:rPr lang="en-US" sz="2800" dirty="0"/>
              <a:t>What does a transistor do?</a:t>
            </a:r>
          </a:p>
          <a:p>
            <a:pPr lvl="2"/>
            <a:r>
              <a:rPr lang="en-US" sz="2800" dirty="0"/>
              <a:t>Can you explain Norton's Theorem in a single sentence?</a:t>
            </a:r>
          </a:p>
          <a:p>
            <a:pPr lvl="2"/>
            <a:r>
              <a:rPr lang="en-US" sz="2800" dirty="0"/>
              <a:t>What are the three most common types of cable for transmitting power?</a:t>
            </a:r>
          </a:p>
          <a:p>
            <a:pPr lvl="2"/>
            <a:r>
              <a:rPr lang="en-US" sz="2800" dirty="0"/>
              <a:t>What electrical engineering computer software are you familiar with?</a:t>
            </a:r>
          </a:p>
          <a:p>
            <a:pPr lvl="1"/>
            <a:r>
              <a:rPr lang="en-US" sz="3200" b="1" dirty="0"/>
              <a:t>Project Management Questions</a:t>
            </a:r>
          </a:p>
          <a:p>
            <a:pPr lvl="2"/>
            <a:endParaRPr lang="en-US" sz="2800" dirty="0"/>
          </a:p>
          <a:p>
            <a:pPr lvl="1"/>
            <a:endParaRPr lang="en-US" sz="3600" dirty="0"/>
          </a:p>
          <a:p>
            <a:pPr lvl="1"/>
            <a:endParaRPr lang="en-US" sz="3600" dirty="0"/>
          </a:p>
          <a:p>
            <a:pPr lvl="1"/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393CC1-10AC-4D95-A547-A2B905A07E99}"/>
              </a:ext>
            </a:extLst>
          </p:cNvPr>
          <p:cNvSpPr txBox="1"/>
          <p:nvPr/>
        </p:nvSpPr>
        <p:spPr>
          <a:xfrm rot="19259694">
            <a:off x="8988346" y="634151"/>
            <a:ext cx="2309446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General Rule: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Be Specific </a:t>
            </a:r>
          </a:p>
        </p:txBody>
      </p:sp>
    </p:spTree>
    <p:extLst>
      <p:ext uri="{BB962C8B-B14F-4D97-AF65-F5344CB8AC3E}">
        <p14:creationId xmlns:p14="http://schemas.microsoft.com/office/powerpoint/2010/main" val="2662055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92726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Interview Questions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728"/>
            <a:ext cx="12192000" cy="6165272"/>
          </a:xfrm>
        </p:spPr>
        <p:txBody>
          <a:bodyPr>
            <a:normAutofit lnSpcReduction="10000"/>
          </a:bodyPr>
          <a:lstStyle/>
          <a:p>
            <a:r>
              <a:rPr lang="en-US" sz="4000" b="1" i="1" dirty="0"/>
              <a:t>Project-based questions</a:t>
            </a:r>
          </a:p>
          <a:p>
            <a:endParaRPr lang="en-US" sz="4000" dirty="0"/>
          </a:p>
          <a:p>
            <a:pPr lvl="1"/>
            <a:r>
              <a:rPr lang="en-US" sz="3600" dirty="0"/>
              <a:t>What projects have you worked on?</a:t>
            </a:r>
          </a:p>
          <a:p>
            <a:pPr lvl="1"/>
            <a:r>
              <a:rPr lang="en-US" sz="3600" dirty="0"/>
              <a:t>What was your position? </a:t>
            </a:r>
          </a:p>
          <a:p>
            <a:pPr lvl="1"/>
            <a:r>
              <a:rPr lang="en-US" sz="3600" dirty="0"/>
              <a:t>Were you the project lead or subject matter expert?</a:t>
            </a:r>
          </a:p>
          <a:p>
            <a:pPr lvl="1"/>
            <a:r>
              <a:rPr lang="en-US" sz="3600" dirty="0"/>
              <a:t>What was the end result?</a:t>
            </a:r>
          </a:p>
          <a:p>
            <a:pPr lvl="1"/>
            <a:r>
              <a:rPr lang="en-US" sz="3600" dirty="0"/>
              <a:t>What did you accomplish?</a:t>
            </a:r>
          </a:p>
          <a:p>
            <a:pPr lvl="1"/>
            <a:r>
              <a:rPr lang="en-US" sz="3600" dirty="0"/>
              <a:t>Explain about one of your projects which is failed?</a:t>
            </a:r>
          </a:p>
          <a:p>
            <a:pPr lvl="1"/>
            <a:r>
              <a:rPr lang="en-US" sz="3600" dirty="0"/>
              <a:t>Tell me about an experience in which you analyzed 	information and evaluated results to choose the best solution 	to a problem.</a:t>
            </a:r>
          </a:p>
          <a:p>
            <a:pPr lvl="1"/>
            <a:endParaRPr lang="en-US" sz="3600" dirty="0"/>
          </a:p>
          <a:p>
            <a:pPr lvl="1"/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8FE27-6DD3-497D-8D72-69C6702D238C}"/>
              </a:ext>
            </a:extLst>
          </p:cNvPr>
          <p:cNvSpPr txBox="1"/>
          <p:nvPr/>
        </p:nvSpPr>
        <p:spPr>
          <a:xfrm rot="18647498">
            <a:off x="9201990" y="845940"/>
            <a:ext cx="2309446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General Rule: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Be Specific </a:t>
            </a:r>
          </a:p>
        </p:txBody>
      </p:sp>
    </p:spTree>
    <p:extLst>
      <p:ext uri="{BB962C8B-B14F-4D97-AF65-F5344CB8AC3E}">
        <p14:creationId xmlns:p14="http://schemas.microsoft.com/office/powerpoint/2010/main" val="3941600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92726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Interview Questions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728"/>
            <a:ext cx="12192000" cy="6165272"/>
          </a:xfrm>
        </p:spPr>
        <p:txBody>
          <a:bodyPr>
            <a:normAutofit lnSpcReduction="10000"/>
          </a:bodyPr>
          <a:lstStyle/>
          <a:p>
            <a:r>
              <a:rPr lang="en-US" sz="4000" b="1" i="1" dirty="0">
                <a:solidFill>
                  <a:srgbClr val="C00000"/>
                </a:solidFill>
              </a:rPr>
              <a:t>Problem-solving / behavioral questions </a:t>
            </a:r>
          </a:p>
          <a:p>
            <a:pPr lvl="1"/>
            <a:r>
              <a:rPr lang="en-US" sz="2800" u="sng" dirty="0"/>
              <a:t>Your interviewer simply wants to gain a sense of how you think, and observe how you communicate your answer.</a:t>
            </a:r>
          </a:p>
          <a:p>
            <a:pPr lvl="1"/>
            <a:endParaRPr lang="en-US" sz="2800" dirty="0"/>
          </a:p>
          <a:p>
            <a:pPr lvl="1"/>
            <a:r>
              <a:rPr lang="en-US" sz="3200" dirty="0"/>
              <a:t>How would you approach this problem…”</a:t>
            </a:r>
          </a:p>
          <a:p>
            <a:pPr lvl="1"/>
            <a:r>
              <a:rPr lang="en-US" sz="3200" dirty="0"/>
              <a:t>What major challenges and problems did you face? How did you 	handle them? </a:t>
            </a:r>
          </a:p>
          <a:p>
            <a:pPr lvl="1"/>
            <a:r>
              <a:rPr lang="en-US" sz="3200" dirty="0"/>
              <a:t>Describe the most challenging written technical report or 	presentation that you’ve had to complete.</a:t>
            </a:r>
          </a:p>
          <a:p>
            <a:pPr lvl="1"/>
            <a:r>
              <a:rPr lang="en-US" sz="3200" dirty="0"/>
              <a:t> What checks and balances do you use to make sure that you don’t 	make mistakes?</a:t>
            </a:r>
          </a:p>
          <a:p>
            <a:pPr lvl="1"/>
            <a:r>
              <a:rPr lang="en-US" sz="3200" dirty="0"/>
              <a:t>On your last project assignment, what problems did you identify that had been previously overlooked?</a:t>
            </a:r>
          </a:p>
          <a:p>
            <a:pPr lvl="1"/>
            <a:endParaRPr lang="en-US" sz="3600" dirty="0"/>
          </a:p>
          <a:p>
            <a:endParaRPr lang="en-US" sz="3600" dirty="0"/>
          </a:p>
          <a:p>
            <a:pPr lvl="1"/>
            <a:endParaRPr lang="en-US" sz="3600" dirty="0"/>
          </a:p>
          <a:p>
            <a:pPr lvl="1"/>
            <a:endParaRPr lang="en-US" sz="3600" dirty="0"/>
          </a:p>
          <a:p>
            <a:pPr lvl="1"/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96C02-E27A-4BE5-A98F-440CA2BC48C4}"/>
              </a:ext>
            </a:extLst>
          </p:cNvPr>
          <p:cNvSpPr txBox="1"/>
          <p:nvPr/>
        </p:nvSpPr>
        <p:spPr>
          <a:xfrm>
            <a:off x="9404658" y="277228"/>
            <a:ext cx="2309446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General Rule: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Be Specific </a:t>
            </a:r>
          </a:p>
        </p:txBody>
      </p:sp>
    </p:spTree>
    <p:extLst>
      <p:ext uri="{BB962C8B-B14F-4D97-AF65-F5344CB8AC3E}">
        <p14:creationId xmlns:p14="http://schemas.microsoft.com/office/powerpoint/2010/main" val="2865055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92726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Interview Questions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728"/>
            <a:ext cx="12192000" cy="6165272"/>
          </a:xfrm>
        </p:spPr>
        <p:txBody>
          <a:bodyPr>
            <a:normAutofit/>
          </a:bodyPr>
          <a:lstStyle/>
          <a:p>
            <a:r>
              <a:rPr lang="en-US" sz="4000" b="1" i="1" dirty="0">
                <a:solidFill>
                  <a:srgbClr val="C00000"/>
                </a:solidFill>
              </a:rPr>
              <a:t>Problem-solving / behavioral questions </a:t>
            </a:r>
          </a:p>
          <a:p>
            <a:pPr lvl="1"/>
            <a:r>
              <a:rPr lang="en-US" sz="2800" u="sng" dirty="0"/>
              <a:t>Your interviewer simply wants to gain a sense of how you think, and observe how you communicate your answer.</a:t>
            </a:r>
          </a:p>
          <a:p>
            <a:pPr lvl="1"/>
            <a:endParaRPr lang="en-US" sz="2800" u="sng" dirty="0"/>
          </a:p>
          <a:p>
            <a:pPr lvl="1"/>
            <a:endParaRPr lang="en-US" sz="2800" u="sng" dirty="0"/>
          </a:p>
          <a:p>
            <a:pPr lvl="1"/>
            <a:endParaRPr lang="en-US" sz="2800" dirty="0"/>
          </a:p>
          <a:p>
            <a:pPr lvl="1"/>
            <a:r>
              <a:rPr lang="en-US" sz="3600" dirty="0"/>
              <a:t>How do you deal with conflict?  Do you avoid it or face it? </a:t>
            </a:r>
          </a:p>
          <a:p>
            <a:pPr lvl="1"/>
            <a:r>
              <a:rPr lang="en-US" sz="3600" dirty="0"/>
              <a:t>what do you think are the best techniques to deal with conflicts at any time? </a:t>
            </a:r>
          </a:p>
          <a:p>
            <a:pPr lvl="1"/>
            <a:r>
              <a:rPr lang="en-US" sz="3600" dirty="0"/>
              <a:t>What did you like or dislike about your previous job? </a:t>
            </a:r>
          </a:p>
          <a:p>
            <a:pPr lvl="1"/>
            <a:r>
              <a:rPr lang="en-US" sz="3600" dirty="0"/>
              <a:t>What are the most difficult decisions to make? </a:t>
            </a:r>
          </a:p>
          <a:p>
            <a:pPr lvl="1"/>
            <a:endParaRPr lang="en-US" sz="3600" dirty="0"/>
          </a:p>
          <a:p>
            <a:pPr lvl="1"/>
            <a:endParaRPr lang="en-US" sz="3600" dirty="0"/>
          </a:p>
          <a:p>
            <a:endParaRPr lang="en-US" sz="3600" dirty="0"/>
          </a:p>
          <a:p>
            <a:pPr lvl="1"/>
            <a:endParaRPr lang="en-US" sz="3600" dirty="0"/>
          </a:p>
          <a:p>
            <a:pPr lvl="1"/>
            <a:endParaRPr lang="en-US" sz="3600" dirty="0"/>
          </a:p>
          <a:p>
            <a:pPr lvl="1"/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152FFD-46AB-457D-B5A2-981C50474B39}"/>
              </a:ext>
            </a:extLst>
          </p:cNvPr>
          <p:cNvSpPr txBox="1"/>
          <p:nvPr/>
        </p:nvSpPr>
        <p:spPr>
          <a:xfrm>
            <a:off x="1802396" y="2301682"/>
            <a:ext cx="8587208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THINK LIKE AN ENGINEER </a:t>
            </a:r>
          </a:p>
        </p:txBody>
      </p:sp>
    </p:spTree>
    <p:extLst>
      <p:ext uri="{BB962C8B-B14F-4D97-AF65-F5344CB8AC3E}">
        <p14:creationId xmlns:p14="http://schemas.microsoft.com/office/powerpoint/2010/main" val="2597837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2B5D5D-4498-40A7-9E1D-D8872168874E}"/>
              </a:ext>
            </a:extLst>
          </p:cNvPr>
          <p:cNvSpPr/>
          <p:nvPr/>
        </p:nvSpPr>
        <p:spPr>
          <a:xfrm>
            <a:off x="752475" y="6573443"/>
            <a:ext cx="109442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https://www.vawizard.org/wiz-pdf/STAR_Method_Interviews.pdf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30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2671" y="87923"/>
            <a:ext cx="11497058" cy="6485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67029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467AEE-958C-4B0D-A319-3A21BD28D3FD}"/>
              </a:ext>
            </a:extLst>
          </p:cNvPr>
          <p:cNvSpPr/>
          <p:nvPr/>
        </p:nvSpPr>
        <p:spPr>
          <a:xfrm>
            <a:off x="76200" y="93133"/>
            <a:ext cx="12039600" cy="6801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SAMPLE BEHAVIORAL INTERVIEW QUESTIONS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Practice using the STAR Method on these common behavioral interviewing questions: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• Give me a specific example of a time when you used good judgment and logic in 	solving a problem.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• Give me an example of a time when you set a goal and were able to meet or 	achieve it.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• Tell me about a time when you had to use your presentation skills to influence 	someone's opinion.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• Give me a specific example of a time when you had to conform to a policy with 	which you did not agree.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• Please discuss an important written document you were required to complete.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• Tell me about a time when you had to go above and beyond the call of duty in 	order to get a job done.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• Tell me about a time when you had too many things to do and you were required 	to prioritize your tasks.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6819CD-22AA-46B2-A5BD-006575D76EF4}"/>
              </a:ext>
            </a:extLst>
          </p:cNvPr>
          <p:cNvSpPr/>
          <p:nvPr/>
        </p:nvSpPr>
        <p:spPr>
          <a:xfrm>
            <a:off x="6096000" y="6534034"/>
            <a:ext cx="51011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https://www.vawizard.org/wiz-pdf/STAR_Method_Interviews.pdf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E8ADFE-C4CD-42E6-911A-121C2F41521E}"/>
              </a:ext>
            </a:extLst>
          </p:cNvPr>
          <p:cNvSpPr txBox="1"/>
          <p:nvPr/>
        </p:nvSpPr>
        <p:spPr>
          <a:xfrm>
            <a:off x="10578516" y="-7571"/>
            <a:ext cx="1613483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General Rule: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Be Specific </a:t>
            </a:r>
          </a:p>
        </p:txBody>
      </p:sp>
    </p:spTree>
    <p:extLst>
      <p:ext uri="{BB962C8B-B14F-4D97-AF65-F5344CB8AC3E}">
        <p14:creationId xmlns:p14="http://schemas.microsoft.com/office/powerpoint/2010/main" val="2377336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92726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During your Interview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728"/>
            <a:ext cx="12192000" cy="6165272"/>
          </a:xfrm>
        </p:spPr>
        <p:txBody>
          <a:bodyPr>
            <a:normAutofit/>
          </a:bodyPr>
          <a:lstStyle/>
          <a:p>
            <a:r>
              <a:rPr lang="en-US" sz="3200" dirty="0"/>
              <a:t>Shake hands with your interviewer(s)</a:t>
            </a:r>
          </a:p>
          <a:p>
            <a:r>
              <a:rPr lang="en-US" sz="3200" dirty="0"/>
              <a:t>First impressions should convey trustworthiness and 	competence</a:t>
            </a:r>
          </a:p>
          <a:p>
            <a:r>
              <a:rPr lang="en-US" sz="3200" dirty="0"/>
              <a:t>Take time to collect your thoughts</a:t>
            </a:r>
          </a:p>
          <a:p>
            <a:r>
              <a:rPr lang="en-US" sz="3200" dirty="0"/>
              <a:t>Don’t </a:t>
            </a:r>
            <a:r>
              <a:rPr lang="en-US" sz="3200" u="sng" dirty="0"/>
              <a:t>Talk</a:t>
            </a:r>
            <a:r>
              <a:rPr lang="en-US" sz="3200" dirty="0"/>
              <a:t> too much</a:t>
            </a:r>
          </a:p>
          <a:p>
            <a:r>
              <a:rPr lang="en-US" sz="3200" dirty="0"/>
              <a:t>Don’t be monotonous / Avoid filler words (</a:t>
            </a:r>
            <a:r>
              <a:rPr lang="en-US" sz="3200" i="1" dirty="0"/>
              <a:t>Um,</a:t>
            </a:r>
            <a:r>
              <a:rPr lang="en-US" sz="3200" dirty="0"/>
              <a:t> </a:t>
            </a:r>
            <a:r>
              <a:rPr lang="en-US" sz="3200" i="1" dirty="0"/>
              <a:t>Ah, And you know…</a:t>
            </a:r>
            <a:r>
              <a:rPr lang="en-US" sz="3200" dirty="0"/>
              <a:t>)</a:t>
            </a:r>
          </a:p>
          <a:p>
            <a:pPr lvl="1"/>
            <a:r>
              <a:rPr lang="en-US" sz="3200" i="1" dirty="0"/>
              <a:t>Avoid “Do you what I mean…?”</a:t>
            </a:r>
          </a:p>
          <a:p>
            <a:r>
              <a:rPr lang="en-US" sz="3200" dirty="0"/>
              <a:t>Have eye contact, manage your body language</a:t>
            </a:r>
          </a:p>
          <a:p>
            <a:r>
              <a:rPr lang="en-US" sz="3200" dirty="0"/>
              <a:t>Take notes</a:t>
            </a:r>
          </a:p>
          <a:p>
            <a:r>
              <a:rPr lang="en-US" sz="3200" dirty="0"/>
              <a:t>Think about possible questions </a:t>
            </a:r>
          </a:p>
          <a:p>
            <a:r>
              <a:rPr lang="en-US" sz="3200" dirty="0"/>
              <a:t> Bring extra resume  </a:t>
            </a:r>
          </a:p>
          <a:p>
            <a:pPr lvl="1"/>
            <a:endParaRPr lang="en-US" sz="3600" dirty="0"/>
          </a:p>
          <a:p>
            <a:pPr lvl="1"/>
            <a:endParaRPr lang="en-US" sz="3600" dirty="0"/>
          </a:p>
          <a:p>
            <a:pPr lvl="1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82540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92726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During your Interview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728"/>
            <a:ext cx="12192000" cy="6165272"/>
          </a:xfrm>
        </p:spPr>
        <p:txBody>
          <a:bodyPr>
            <a:normAutofit/>
          </a:bodyPr>
          <a:lstStyle/>
          <a:p>
            <a:pPr lvl="1"/>
            <a:r>
              <a:rPr lang="en-US" sz="3600" dirty="0"/>
              <a:t>It’s OK to say, I don’t know</a:t>
            </a:r>
          </a:p>
          <a:p>
            <a:pPr lvl="1"/>
            <a:r>
              <a:rPr lang="en-US" sz="3600" dirty="0"/>
              <a:t>Be specific about your contributions and results</a:t>
            </a:r>
          </a:p>
          <a:p>
            <a:pPr lvl="1"/>
            <a:r>
              <a:rPr lang="en-US" sz="3600" dirty="0"/>
              <a:t>Be honest and positive</a:t>
            </a:r>
          </a:p>
          <a:p>
            <a:pPr lvl="1"/>
            <a:r>
              <a:rPr lang="en-US" sz="3600" dirty="0"/>
              <a:t>Ask questions</a:t>
            </a:r>
          </a:p>
          <a:p>
            <a:pPr lvl="1"/>
            <a:r>
              <a:rPr lang="en-US" sz="3600" dirty="0"/>
              <a:t>Ask about any concern regarding your qualifications </a:t>
            </a:r>
          </a:p>
          <a:p>
            <a:pPr lvl="1"/>
            <a:r>
              <a:rPr lang="en-US" sz="3600" dirty="0"/>
              <a:t>Don’t ask about compensation and benefits</a:t>
            </a:r>
          </a:p>
          <a:p>
            <a:pPr lvl="1"/>
            <a:r>
              <a:rPr lang="en-US" sz="3600" dirty="0"/>
              <a:t>Don’t exaggerate</a:t>
            </a:r>
          </a:p>
          <a:p>
            <a:pPr lvl="1"/>
            <a:r>
              <a:rPr lang="en-US" sz="3600" dirty="0"/>
              <a:t>Don’t speak negatively about prior managers or colleagues</a:t>
            </a:r>
          </a:p>
          <a:p>
            <a:pPr lvl="1"/>
            <a:r>
              <a:rPr lang="en-US" sz="3600" dirty="0"/>
              <a:t>Sit and behave professionally </a:t>
            </a:r>
          </a:p>
          <a:p>
            <a:pPr marL="457200" lvl="1" indent="0">
              <a:buNone/>
            </a:pPr>
            <a:endParaRPr lang="en-US" sz="3600" dirty="0"/>
          </a:p>
          <a:p>
            <a:pPr lvl="1"/>
            <a:endParaRPr lang="en-US" sz="3600" dirty="0"/>
          </a:p>
          <a:p>
            <a:pPr lvl="1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00554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92726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During your Interview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728"/>
            <a:ext cx="12192000" cy="6165272"/>
          </a:xfrm>
        </p:spPr>
        <p:txBody>
          <a:bodyPr>
            <a:normAutofit/>
          </a:bodyPr>
          <a:lstStyle/>
          <a:p>
            <a:pPr lvl="1"/>
            <a:r>
              <a:rPr lang="en-US" sz="3600" dirty="0"/>
              <a:t>If you are sitting when someone approaches you, stand up before you shake their hand. Look them in the eyes and smile. </a:t>
            </a:r>
          </a:p>
          <a:p>
            <a:pPr lvl="1"/>
            <a:endParaRPr lang="en-US" sz="3600" dirty="0"/>
          </a:p>
          <a:p>
            <a:pPr lvl="1"/>
            <a:r>
              <a:rPr lang="en-US" sz="3600" dirty="0"/>
              <a:t>Offer a greeting like, “It’s nice to meet you…” and say their name. You’ll be more likely to </a:t>
            </a:r>
            <a:r>
              <a:rPr lang="en-US" sz="3600" dirty="0">
                <a:solidFill>
                  <a:srgbClr val="C00000"/>
                </a:solidFill>
              </a:rPr>
              <a:t>remember</a:t>
            </a:r>
            <a:r>
              <a:rPr lang="en-US" sz="3600" dirty="0"/>
              <a:t> their name if you say it out loud when you first meet.</a:t>
            </a:r>
          </a:p>
          <a:p>
            <a:pPr lvl="1"/>
            <a:endParaRPr lang="en-US" sz="3600" dirty="0"/>
          </a:p>
          <a:p>
            <a:pPr lvl="1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938433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7B1BDF-4D4E-48D7-B146-2A4472C7CD2C}"/>
              </a:ext>
            </a:extLst>
          </p:cNvPr>
          <p:cNvSpPr/>
          <p:nvPr/>
        </p:nvSpPr>
        <p:spPr>
          <a:xfrm>
            <a:off x="0" y="0"/>
            <a:ext cx="118117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How to sit during an interview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Sit at the back of the chair.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Lean forward.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Keep both feet on the ground.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Tilt your head. Lean your head slightly to one side at times to appear friendly and interested 	in what the interviewer is saying.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Make eye contact.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Nod.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Control your hands. Avoid distracting or nervous actions such as touching your face or hair and defensive actions such as crossing your arms.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Restrain nervous habits.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Respect personal space. </a:t>
            </a:r>
          </a:p>
        </p:txBody>
      </p:sp>
    </p:spTree>
    <p:extLst>
      <p:ext uri="{BB962C8B-B14F-4D97-AF65-F5344CB8AC3E}">
        <p14:creationId xmlns:p14="http://schemas.microsoft.com/office/powerpoint/2010/main" val="3369121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92726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During your Interview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728"/>
            <a:ext cx="12192000" cy="6165272"/>
          </a:xfrm>
        </p:spPr>
        <p:txBody>
          <a:bodyPr>
            <a:normAutofit/>
          </a:bodyPr>
          <a:lstStyle/>
          <a:p>
            <a:pPr lvl="1"/>
            <a:r>
              <a:rPr lang="en-US" sz="3600" dirty="0"/>
              <a:t>Practice polite, confident body language</a:t>
            </a:r>
          </a:p>
          <a:p>
            <a:pPr lvl="1"/>
            <a:endParaRPr lang="en-US" sz="3600" dirty="0"/>
          </a:p>
          <a:p>
            <a:pPr lvl="1"/>
            <a:r>
              <a:rPr lang="en-US" sz="3600" dirty="0"/>
              <a:t>While you’re waiting for your interviewers, sit with your back straight and shoulders open. Hands can rest on your lap or armrests. </a:t>
            </a:r>
          </a:p>
          <a:p>
            <a:pPr lvl="1"/>
            <a:endParaRPr lang="en-US" sz="3600" dirty="0"/>
          </a:p>
          <a:p>
            <a:pPr lvl="1"/>
            <a:r>
              <a:rPr lang="en-US" sz="3600" dirty="0"/>
              <a:t>Always have a napkins in your pocket </a:t>
            </a:r>
          </a:p>
          <a:p>
            <a:pPr lvl="1"/>
            <a:endParaRPr lang="en-US" sz="3600" dirty="0"/>
          </a:p>
          <a:p>
            <a:pPr lvl="1"/>
            <a:r>
              <a:rPr lang="en-US" sz="3600" dirty="0"/>
              <a:t>Do not check the time back to back but  consider the 	allocated time for the interview </a:t>
            </a:r>
          </a:p>
        </p:txBody>
      </p:sp>
    </p:spTree>
    <p:extLst>
      <p:ext uri="{BB962C8B-B14F-4D97-AF65-F5344CB8AC3E}">
        <p14:creationId xmlns:p14="http://schemas.microsoft.com/office/powerpoint/2010/main" val="41632636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92726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During your Interview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728"/>
            <a:ext cx="12192000" cy="6165272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lang="en-US" sz="3600" dirty="0"/>
              <a:t>Some interviews may be conducted over a meal. All the basics of how 	to be polite at the table apply here:</a:t>
            </a:r>
          </a:p>
          <a:p>
            <a:pPr lvl="1"/>
            <a:endParaRPr lang="en-US" sz="3600" dirty="0"/>
          </a:p>
          <a:p>
            <a:pPr lvl="1"/>
            <a:r>
              <a:rPr lang="en-US" sz="3600" dirty="0"/>
              <a:t>    If your meal arrives first, wait to eat until others have received their 			food as well.</a:t>
            </a:r>
          </a:p>
          <a:p>
            <a:pPr lvl="1"/>
            <a:endParaRPr lang="en-US" sz="3600" dirty="0"/>
          </a:p>
          <a:p>
            <a:pPr lvl="1"/>
            <a:r>
              <a:rPr lang="en-US" sz="3600" dirty="0"/>
              <a:t>    Place your napkin in your lap.</a:t>
            </a:r>
          </a:p>
          <a:p>
            <a:pPr lvl="1"/>
            <a:endParaRPr lang="en-US" sz="3600" dirty="0"/>
          </a:p>
          <a:p>
            <a:pPr lvl="1"/>
            <a:r>
              <a:rPr lang="en-US" sz="3600" dirty="0"/>
              <a:t>    Don’t talk with food in your mouth.</a:t>
            </a:r>
          </a:p>
          <a:p>
            <a:pPr lvl="1"/>
            <a:endParaRPr lang="en-US" sz="3600" dirty="0"/>
          </a:p>
          <a:p>
            <a:pPr lvl="1"/>
            <a:r>
              <a:rPr lang="en-US" sz="3600" dirty="0"/>
              <a:t>    Take small, manageable bites.</a:t>
            </a:r>
          </a:p>
          <a:p>
            <a:pPr lvl="1"/>
            <a:endParaRPr lang="en-US" sz="3600" dirty="0"/>
          </a:p>
          <a:p>
            <a:pPr lvl="1"/>
            <a:r>
              <a:rPr lang="en-US" sz="3600" dirty="0"/>
              <a:t>    It’s best to not drink alcoholic beverages during an interview. If your 		interviewer orders alcohol, use your best judgment and stay 			within your comfort zone. You can always opt for a seltzer or 			soft drink.</a:t>
            </a:r>
          </a:p>
        </p:txBody>
      </p:sp>
    </p:spTree>
    <p:extLst>
      <p:ext uri="{BB962C8B-B14F-4D97-AF65-F5344CB8AC3E}">
        <p14:creationId xmlns:p14="http://schemas.microsoft.com/office/powerpoint/2010/main" val="3028698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92726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After your Interview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728"/>
            <a:ext cx="12192000" cy="6165272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3600" dirty="0"/>
              <a:t>Thank Your Interviewer</a:t>
            </a:r>
          </a:p>
          <a:p>
            <a:pPr lvl="1">
              <a:lnSpc>
                <a:spcPct val="150000"/>
              </a:lnSpc>
            </a:pPr>
            <a:r>
              <a:rPr lang="en-US" sz="3600" dirty="0"/>
              <a:t>Reflect on the Conversation</a:t>
            </a:r>
          </a:p>
          <a:p>
            <a:pPr lvl="1">
              <a:lnSpc>
                <a:spcPct val="150000"/>
              </a:lnSpc>
            </a:pPr>
            <a:r>
              <a:rPr lang="en-US" sz="3600" dirty="0"/>
              <a:t>Send a thank you note after the interview, within 24 hours.</a:t>
            </a:r>
          </a:p>
          <a:p>
            <a:pPr lvl="3">
              <a:lnSpc>
                <a:spcPct val="150000"/>
              </a:lnSpc>
            </a:pPr>
            <a:r>
              <a:rPr lang="en-US" sz="4800" b="1" dirty="0">
                <a:solidFill>
                  <a:srgbClr val="FF0000"/>
                </a:solidFill>
              </a:rPr>
              <a:t>And Wait!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sz="3600" dirty="0"/>
          </a:p>
          <a:p>
            <a:pPr lvl="1"/>
            <a:endParaRPr lang="en-US" sz="3600" dirty="0"/>
          </a:p>
          <a:p>
            <a:pPr lvl="1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2992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37478"/>
            <a:ext cx="8924544" cy="822642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sz="3400" b="1" dirty="0"/>
              <a:t>Interview Tips for Entry-Level Electrical Engineers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296" y="1035063"/>
            <a:ext cx="8842248" cy="5685459"/>
          </a:xfrm>
        </p:spPr>
        <p:txBody>
          <a:bodyPr>
            <a:normAutofit fontScale="77500" lnSpcReduction="20000"/>
          </a:bodyPr>
          <a:lstStyle/>
          <a:p>
            <a:r>
              <a:rPr i="1" dirty="0"/>
              <a:t>How to stand out and succeed</a:t>
            </a:r>
            <a:endParaRPr lang="en-US" i="1" dirty="0"/>
          </a:p>
          <a:p>
            <a:pPr lvl="1"/>
            <a:r>
              <a:rPr lang="en-US" sz="3200" b="1" dirty="0"/>
              <a:t>Know Your Fundamentals</a:t>
            </a:r>
          </a:p>
          <a:p>
            <a:pPr marL="457200" lvl="1" indent="0">
              <a:buNone/>
            </a:pPr>
            <a:endParaRPr lang="en-US" sz="3200" b="1" dirty="0"/>
          </a:p>
          <a:p>
            <a:pPr lvl="2"/>
            <a:r>
              <a:rPr lang="en-US" b="1" dirty="0"/>
              <a:t>Review circuits, signals, power basics</a:t>
            </a:r>
          </a:p>
          <a:p>
            <a:pPr lvl="2"/>
            <a:r>
              <a:rPr lang="en-US" b="1" dirty="0"/>
              <a:t>Examples: </a:t>
            </a:r>
          </a:p>
          <a:p>
            <a:pPr lvl="2"/>
            <a:endParaRPr lang="en-US" b="1" dirty="0"/>
          </a:p>
          <a:p>
            <a:pPr lvl="2"/>
            <a:r>
              <a:rPr lang="en-US" b="1" dirty="0"/>
              <a:t>Be ready to explain Ohm’s Law in real systems</a:t>
            </a:r>
          </a:p>
          <a:p>
            <a:pPr lvl="2"/>
            <a:endParaRPr lang="en-US" b="1" dirty="0"/>
          </a:p>
          <a:p>
            <a:pPr lvl="2"/>
            <a:r>
              <a:rPr lang="en-US" b="1" dirty="0"/>
              <a:t>Explain Thevenin's Theorem in two sentences. </a:t>
            </a:r>
          </a:p>
          <a:p>
            <a:pPr lvl="2"/>
            <a:r>
              <a:rPr lang="en-US" b="1" dirty="0"/>
              <a:t>Why do we care about it in the context of input and output impedance?</a:t>
            </a:r>
          </a:p>
          <a:p>
            <a:pPr lvl="2"/>
            <a:endParaRPr lang="en-US" b="1" dirty="0"/>
          </a:p>
          <a:p>
            <a:pPr lvl="2"/>
            <a:r>
              <a:rPr lang="en-US" b="1" dirty="0"/>
              <a:t>AC vs. DC Applications: "Why do we use AC for long-distance power transmission instead of DC? </a:t>
            </a:r>
          </a:p>
          <a:p>
            <a:pPr lvl="2"/>
            <a:endParaRPr lang="en-US" b="1" dirty="0"/>
          </a:p>
          <a:p>
            <a:pPr lvl="2"/>
            <a:r>
              <a:rPr lang="en-US" b="1" dirty="0"/>
              <a:t>Why does a capacitor block DC but allow AC to pass?</a:t>
            </a:r>
          </a:p>
          <a:p>
            <a:pPr lvl="2"/>
            <a:endParaRPr lang="en-US" b="1" dirty="0"/>
          </a:p>
          <a:p>
            <a:pPr lvl="2"/>
            <a:r>
              <a:rPr lang="en-US" b="1" dirty="0"/>
              <a:t>The Troubleshooting Walkthrough</a:t>
            </a:r>
          </a:p>
          <a:p>
            <a:pPr lvl="3"/>
            <a:endParaRPr sz="3200" b="1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476744" y="6117017"/>
            <a:ext cx="2734056" cy="6038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>
                <a:solidFill>
                  <a:prstClr val="black"/>
                </a:solidFill>
                <a:latin typeface="Calibri"/>
              </a:rPr>
              <a:t>Prepare for Technical Tests</a:t>
            </a:r>
            <a:endParaRPr lang="en-US" sz="1800" b="1" dirty="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36012"/>
            <a:ext cx="8229600" cy="1143000"/>
          </a:xfrm>
        </p:spPr>
        <p:txBody>
          <a:bodyPr/>
          <a:lstStyle/>
          <a:p>
            <a:r>
              <a:rPr dirty="0"/>
              <a:t>Understand the Job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304937"/>
            <a:ext cx="8229600" cy="4525963"/>
          </a:xfrm>
        </p:spPr>
        <p:txBody>
          <a:bodyPr/>
          <a:lstStyle/>
          <a:p>
            <a:r>
              <a:rPr dirty="0"/>
              <a:t>Match your skills to role</a:t>
            </a:r>
          </a:p>
          <a:p>
            <a:r>
              <a:rPr dirty="0"/>
              <a:t>Example: If job mentions PLCs, prepare one project using PLC</a:t>
            </a:r>
            <a:endParaRPr lang="en-US" dirty="0"/>
          </a:p>
          <a:p>
            <a:endParaRPr lang="en-US" dirty="0"/>
          </a:p>
          <a:p>
            <a:r>
              <a:rPr lang="en-US" dirty="0"/>
              <a:t>Know details deeply</a:t>
            </a:r>
          </a:p>
          <a:p>
            <a:r>
              <a:rPr lang="en-US" dirty="0"/>
              <a:t>Example: Explain design decisions, challenges, results</a:t>
            </a:r>
          </a:p>
          <a:p>
            <a:endParaRPr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4BDA067-CAA8-F23B-9375-355919C4AEC3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8924544" cy="8226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 dirty="0">
                <a:solidFill>
                  <a:prstClr val="black"/>
                </a:solidFill>
                <a:latin typeface="Calibri"/>
              </a:rPr>
              <a:t>Interview Tips for Entry-Level Electrical Engineers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4444" y="742524"/>
            <a:ext cx="8229600" cy="1143000"/>
          </a:xfrm>
        </p:spPr>
        <p:txBody>
          <a:bodyPr/>
          <a:lstStyle/>
          <a:p>
            <a:r>
              <a:rPr dirty="0"/>
              <a:t>Practice Common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8944" y="2146955"/>
            <a:ext cx="8229600" cy="4525963"/>
          </a:xfrm>
        </p:spPr>
        <p:txBody>
          <a:bodyPr/>
          <a:lstStyle/>
          <a:p>
            <a:r>
              <a:rPr dirty="0"/>
              <a:t>Why this company?</a:t>
            </a:r>
          </a:p>
          <a:p>
            <a:r>
              <a:rPr dirty="0"/>
              <a:t>Tell me about a project</a:t>
            </a:r>
            <a:endParaRPr lang="en-US" dirty="0"/>
          </a:p>
          <a:p>
            <a:endParaRPr lang="en-US" dirty="0"/>
          </a:p>
          <a:p>
            <a:r>
              <a:rPr lang="en-US" dirty="0"/>
              <a:t>Avoid jargon overload</a:t>
            </a:r>
          </a:p>
          <a:p>
            <a:pPr lvl="1"/>
            <a:r>
              <a:rPr lang="en-US" dirty="0" err="1"/>
              <a:t>xample</a:t>
            </a:r>
            <a:r>
              <a:rPr lang="en-US" dirty="0"/>
              <a:t>: Explain transformer to a non-engineer</a:t>
            </a:r>
          </a:p>
          <a:p>
            <a:endParaRPr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411BA3E-5D79-E9E7-522D-D4C2B8D8E983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8924544" cy="8226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 dirty="0">
                <a:solidFill>
                  <a:prstClr val="black"/>
                </a:solidFill>
                <a:latin typeface="Calibri"/>
              </a:rPr>
              <a:t>Interview Tips for Entry-Level Electrical Engineers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914718"/>
            <a:ext cx="8229600" cy="1143000"/>
          </a:xfrm>
        </p:spPr>
        <p:txBody>
          <a:bodyPr/>
          <a:lstStyle/>
          <a:p>
            <a:r>
              <a:rPr dirty="0"/>
              <a:t>Demonstrate Problem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414017"/>
            <a:ext cx="8229600" cy="4525963"/>
          </a:xfrm>
        </p:spPr>
        <p:txBody>
          <a:bodyPr/>
          <a:lstStyle/>
          <a:p>
            <a:r>
              <a:rPr dirty="0"/>
              <a:t>Think clearly during questions</a:t>
            </a:r>
          </a:p>
          <a:p>
            <a:pPr lvl="1"/>
            <a:r>
              <a:rPr dirty="0"/>
              <a:t>Example: Circuit troubleshooting steps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8E4F0F-9838-AE8E-3BA7-D2E84DB63D85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8924544" cy="8226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 dirty="0">
                <a:solidFill>
                  <a:prstClr val="black"/>
                </a:solidFill>
                <a:latin typeface="Calibri"/>
              </a:rPr>
              <a:t>Interview Tips for Entry-Level Electrical Engineers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527304" y="351602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prstClr val="black"/>
                </a:solidFill>
                <a:latin typeface="Calibri"/>
              </a:rPr>
              <a:t>Use the STAR Method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33707D-BB27-448B-7C67-D2663C49672B}"/>
              </a:ext>
            </a:extLst>
          </p:cNvPr>
          <p:cNvSpPr txBox="1"/>
          <p:nvPr/>
        </p:nvSpPr>
        <p:spPr>
          <a:xfrm>
            <a:off x="2742438" y="4767576"/>
            <a:ext cx="7770114" cy="117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457200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0" dirty="0">
                <a:solidFill>
                  <a:prstClr val="black"/>
                </a:solidFill>
                <a:latin typeface="Calibri"/>
              </a:rPr>
              <a:t>Situation, Task, Action, Result</a:t>
            </a:r>
          </a:p>
          <a:p>
            <a:pPr marL="800100" lvl="1" indent="-342900" defTabSz="457200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0" dirty="0">
                <a:solidFill>
                  <a:prstClr val="black"/>
                </a:solidFill>
                <a:latin typeface="Calibri"/>
              </a:rPr>
              <a:t>Example: Describe capstone clearly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152" y="1061340"/>
            <a:ext cx="8229600" cy="1143000"/>
          </a:xfrm>
        </p:spPr>
        <p:txBody>
          <a:bodyPr/>
          <a:lstStyle/>
          <a:p>
            <a:r>
              <a:rPr dirty="0"/>
              <a:t>Behavioral Questions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4352" y="2204341"/>
            <a:ext cx="8229600" cy="4525963"/>
          </a:xfrm>
        </p:spPr>
        <p:txBody>
          <a:bodyPr/>
          <a:lstStyle/>
          <a:p>
            <a:r>
              <a:rPr dirty="0"/>
              <a:t>Teamwork, leadership</a:t>
            </a:r>
          </a:p>
          <a:p>
            <a:r>
              <a:rPr dirty="0"/>
              <a:t>Example: Conflict resolution in group project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AA0E7C4-6D2B-3D4C-DF61-55D139B21C2E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052560" cy="8226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 dirty="0">
                <a:solidFill>
                  <a:prstClr val="black"/>
                </a:solidFill>
                <a:latin typeface="Calibri"/>
              </a:rPr>
              <a:t>Interview Tips for Entry-Level Electrical Engineers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36244"/>
            <a:ext cx="8229600" cy="1143000"/>
          </a:xfrm>
        </p:spPr>
        <p:txBody>
          <a:bodyPr/>
          <a:lstStyle/>
          <a:p>
            <a:r>
              <a:rPr dirty="0"/>
              <a:t>Ask Good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752345"/>
            <a:ext cx="8229600" cy="3373819"/>
          </a:xfrm>
        </p:spPr>
        <p:txBody>
          <a:bodyPr/>
          <a:lstStyle/>
          <a:p>
            <a:r>
              <a:rPr lang="en-US" dirty="0"/>
              <a:t>Study the company and the job </a:t>
            </a:r>
          </a:p>
          <a:p>
            <a:r>
              <a:rPr dirty="0"/>
              <a:t>About team, tools, projects</a:t>
            </a:r>
          </a:p>
          <a:p>
            <a:r>
              <a:rPr dirty="0"/>
              <a:t>Example: What software tools are used?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9FA84E-6116-CD48-D3B1-0E1499BB78EF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8924544" cy="8226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 dirty="0">
                <a:solidFill>
                  <a:prstClr val="black"/>
                </a:solidFill>
                <a:latin typeface="Calibri"/>
              </a:rPr>
              <a:t>Interview Tips for Entry-Level Electrical Engineers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2872" y="1051879"/>
            <a:ext cx="8229600" cy="1143000"/>
          </a:xfrm>
        </p:spPr>
        <p:txBody>
          <a:bodyPr/>
          <a:lstStyle/>
          <a:p>
            <a:r>
              <a:rPr dirty="0"/>
              <a:t>Body Language &amp;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1472" y="2313433"/>
            <a:ext cx="8229600" cy="2697163"/>
          </a:xfrm>
        </p:spPr>
        <p:txBody>
          <a:bodyPr/>
          <a:lstStyle/>
          <a:p>
            <a:r>
              <a:rPr dirty="0"/>
              <a:t>Eye contact, clarity, confidence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C4C98C-06F2-D3F1-8B02-964868CB9AD3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8924544" cy="8226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 dirty="0">
                <a:solidFill>
                  <a:prstClr val="black"/>
                </a:solidFill>
                <a:latin typeface="Calibri"/>
              </a:rPr>
              <a:t>Interview Tips for Entry-Level Electrical Engineers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2CBE08-1359-F0D1-FC89-9AC287F6C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740" y="2966531"/>
            <a:ext cx="4635849" cy="20440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93BB24-EE52-BABA-4B31-E54A54371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176" y="5029251"/>
            <a:ext cx="4306824" cy="162403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Follow-Up After Interview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Send thank-you email within 24 hours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941320" y="3712465"/>
            <a:ext cx="7421880" cy="2566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  <a:p>
            <a:r>
              <a:rPr lang="en-US" sz="4400">
                <a:solidFill>
                  <a:prstClr val="black"/>
                </a:solidFill>
                <a:latin typeface="Calibri"/>
              </a:rPr>
              <a:t>Final Advice</a:t>
            </a:r>
            <a:endParaRPr lang="en-US">
              <a:solidFill>
                <a:prstClr val="black"/>
              </a:solidFill>
              <a:latin typeface="Calibri"/>
            </a:endParaRPr>
          </a:p>
          <a:p>
            <a:endParaRPr lang="en-US">
              <a:solidFill>
                <a:prstClr val="black"/>
              </a:solidFill>
              <a:latin typeface="Calibri"/>
            </a:endParaRPr>
          </a:p>
          <a:p>
            <a:r>
              <a:rPr lang="en-US">
                <a:solidFill>
                  <a:prstClr val="black"/>
                </a:solidFill>
                <a:latin typeface="Calibri"/>
              </a:rPr>
              <a:t>Be honest, prepared, and confident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2090</Words>
  <Application>Microsoft Office PowerPoint</Application>
  <PresentationFormat>Widescreen</PresentationFormat>
  <Paragraphs>341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Avenir Black</vt:lpstr>
      <vt:lpstr>Calibri</vt:lpstr>
      <vt:lpstr>Times New Roman</vt:lpstr>
      <vt:lpstr>1_Office Theme</vt:lpstr>
      <vt:lpstr>Office Theme</vt:lpstr>
      <vt:lpstr>INTERVIEW TIPS FOR ENGINEERS </vt:lpstr>
      <vt:lpstr>Before Your Interview</vt:lpstr>
      <vt:lpstr>Before Your Interview</vt:lpstr>
      <vt:lpstr>Before Your Interview</vt:lpstr>
      <vt:lpstr>Before Your Interview</vt:lpstr>
      <vt:lpstr>Before Your Interview</vt:lpstr>
      <vt:lpstr>Before Your Interview</vt:lpstr>
      <vt:lpstr>Before Your Interview</vt:lpstr>
      <vt:lpstr>Before Your Interview</vt:lpstr>
      <vt:lpstr>During Your Interview</vt:lpstr>
      <vt:lpstr>Interview Questions</vt:lpstr>
      <vt:lpstr>Interview Questions</vt:lpstr>
      <vt:lpstr>Interview Questions</vt:lpstr>
      <vt:lpstr>PowerPoint Presentation</vt:lpstr>
      <vt:lpstr>Interview Questions</vt:lpstr>
      <vt:lpstr>Interview Questions</vt:lpstr>
      <vt:lpstr>Interview Questions</vt:lpstr>
      <vt:lpstr>Interview Questions</vt:lpstr>
      <vt:lpstr>PowerPoint Presentation</vt:lpstr>
      <vt:lpstr>PowerPoint Presentation</vt:lpstr>
      <vt:lpstr>During your Interview</vt:lpstr>
      <vt:lpstr>During your Interview</vt:lpstr>
      <vt:lpstr>During your Interview</vt:lpstr>
      <vt:lpstr>PowerPoint Presentation</vt:lpstr>
      <vt:lpstr>During your Interview</vt:lpstr>
      <vt:lpstr>During your Interview</vt:lpstr>
      <vt:lpstr>After your Interview</vt:lpstr>
      <vt:lpstr>Interview Tips for Entry-Level Electrical Engineers</vt:lpstr>
      <vt:lpstr>Understand the Job Description</vt:lpstr>
      <vt:lpstr>Practice Common Questions</vt:lpstr>
      <vt:lpstr>Demonstrate Problem Solving</vt:lpstr>
      <vt:lpstr>Behavioral Questions Matter</vt:lpstr>
      <vt:lpstr>Ask Good Questions</vt:lpstr>
      <vt:lpstr>Body Language &amp; Communication</vt:lpstr>
      <vt:lpstr>Follow-Up After Interview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Tofigh</dc:creator>
  <cp:lastModifiedBy>Tofigh</cp:lastModifiedBy>
  <cp:revision>2</cp:revision>
  <dcterms:created xsi:type="dcterms:W3CDTF">2026-05-04T18:23:27Z</dcterms:created>
  <dcterms:modified xsi:type="dcterms:W3CDTF">2026-05-06T19:17:48Z</dcterms:modified>
</cp:coreProperties>
</file>