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97" r:id="rId3"/>
    <p:sldId id="256" r:id="rId4"/>
    <p:sldId id="345" r:id="rId5"/>
    <p:sldId id="346" r:id="rId6"/>
    <p:sldId id="347" r:id="rId7"/>
    <p:sldId id="348" r:id="rId8"/>
    <p:sldId id="349" r:id="rId9"/>
    <p:sldId id="257" r:id="rId10"/>
    <p:sldId id="258" r:id="rId11"/>
    <p:sldId id="350" r:id="rId12"/>
    <p:sldId id="351" r:id="rId13"/>
    <p:sldId id="260" r:id="rId14"/>
    <p:sldId id="259" r:id="rId15"/>
    <p:sldId id="261" r:id="rId16"/>
    <p:sldId id="262" r:id="rId17"/>
    <p:sldId id="264" r:id="rId18"/>
    <p:sldId id="263" r:id="rId19"/>
    <p:sldId id="342" r:id="rId20"/>
    <p:sldId id="343" r:id="rId21"/>
    <p:sldId id="344" r:id="rId22"/>
    <p:sldId id="298" r:id="rId23"/>
    <p:sldId id="299" r:id="rId24"/>
    <p:sldId id="332" r:id="rId25"/>
    <p:sldId id="333" r:id="rId26"/>
    <p:sldId id="323" r:id="rId27"/>
    <p:sldId id="338" r:id="rId28"/>
    <p:sldId id="339" r:id="rId29"/>
    <p:sldId id="328" r:id="rId30"/>
    <p:sldId id="329" r:id="rId31"/>
    <p:sldId id="330" r:id="rId32"/>
    <p:sldId id="300" r:id="rId33"/>
    <p:sldId id="341" r:id="rId34"/>
    <p:sldId id="301" r:id="rId35"/>
    <p:sldId id="302" r:id="rId36"/>
    <p:sldId id="303" r:id="rId37"/>
    <p:sldId id="304" r:id="rId38"/>
    <p:sldId id="305" r:id="rId39"/>
    <p:sldId id="306" r:id="rId40"/>
    <p:sldId id="307" r:id="rId41"/>
    <p:sldId id="308" r:id="rId42"/>
    <p:sldId id="309" r:id="rId43"/>
    <p:sldId id="310" r:id="rId44"/>
    <p:sldId id="31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61" d="100"/>
          <a:sy n="61" d="100"/>
        </p:scale>
        <p:origin x="871" y="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21034-FC57-6070-CF71-5B39199182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2018DC-82AC-33F9-2385-4BEAA10E7F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F406A8-8F24-B636-290A-D990AB779F26}"/>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5" name="Footer Placeholder 4">
            <a:extLst>
              <a:ext uri="{FF2B5EF4-FFF2-40B4-BE49-F238E27FC236}">
                <a16:creationId xmlns:a16="http://schemas.microsoft.com/office/drawing/2014/main" id="{3D3D3FB0-98F6-D63A-430B-692E847A13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05896-9B77-D2E0-F53B-515AF49F3E4E}"/>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805770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28C8-40A8-62AE-A583-B0C13A119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096A7-2DE6-1063-5AB8-FCB67F6425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77911-C850-43A7-0BF7-A0CFA7F2911E}"/>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5" name="Footer Placeholder 4">
            <a:extLst>
              <a:ext uri="{FF2B5EF4-FFF2-40B4-BE49-F238E27FC236}">
                <a16:creationId xmlns:a16="http://schemas.microsoft.com/office/drawing/2014/main" id="{3E0E716A-1109-77A0-89A7-278A8C44F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CA240-795C-4BD0-DE1A-894CE1F0396A}"/>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4103622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17B0-6B6E-C953-55C0-3953A9E694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467E9A-ECCA-66DD-9239-2070D4C2E0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C3BADF-8753-1995-C8AC-1C972CB13349}"/>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5" name="Footer Placeholder 4">
            <a:extLst>
              <a:ext uri="{FF2B5EF4-FFF2-40B4-BE49-F238E27FC236}">
                <a16:creationId xmlns:a16="http://schemas.microsoft.com/office/drawing/2014/main" id="{41F16E52-E639-DA63-F52B-426C29DA9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BE9DA-F3B4-D904-74F1-0EC86FF4EEE9}"/>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2215179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B54E-A355-C76B-2060-F46AE25581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C5F5F4-615C-9AC2-33FF-E372CE8C65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54C60B-4F83-6FC0-DC89-1CCFC5F933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BAB095-09CB-2E12-1878-7D1994BC0806}"/>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6" name="Footer Placeholder 5">
            <a:extLst>
              <a:ext uri="{FF2B5EF4-FFF2-40B4-BE49-F238E27FC236}">
                <a16:creationId xmlns:a16="http://schemas.microsoft.com/office/drawing/2014/main" id="{6DEE11C1-6378-C3D9-7D17-08886B9F8F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04919E-7BC6-D54B-7462-780157A51F0E}"/>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248556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DEA2B-276A-215F-0D84-00650B9EC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6C0FF2-6012-59DF-E44F-4AE29B8E7B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9F4CBE-543C-25D4-0986-027B4CC9BA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BD53E-C280-7CD8-C7B8-5976D3728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9649D-AC3C-3F1C-FC9E-D689FA5CE2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8C1A2-BDF3-5533-D877-8F22C5C7CC52}"/>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8" name="Footer Placeholder 7">
            <a:extLst>
              <a:ext uri="{FF2B5EF4-FFF2-40B4-BE49-F238E27FC236}">
                <a16:creationId xmlns:a16="http://schemas.microsoft.com/office/drawing/2014/main" id="{A7479CE8-7FE4-C1C5-77CF-9E0E36D532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170A4D-ECD7-07F1-E507-CD6C4BFD208A}"/>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149058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C130C-A9EF-778E-669B-1A79D30CF4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9CE119-64EA-8156-7A04-BC2ED6E8A053}"/>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4" name="Footer Placeholder 3">
            <a:extLst>
              <a:ext uri="{FF2B5EF4-FFF2-40B4-BE49-F238E27FC236}">
                <a16:creationId xmlns:a16="http://schemas.microsoft.com/office/drawing/2014/main" id="{A702D36E-6935-0483-F9CB-CCF770195E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9AECB1-E521-E954-B65E-4BB3171D3A70}"/>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252614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C98265-6E32-D041-6F4B-193BC1D8D592}"/>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3" name="Footer Placeholder 2">
            <a:extLst>
              <a:ext uri="{FF2B5EF4-FFF2-40B4-BE49-F238E27FC236}">
                <a16:creationId xmlns:a16="http://schemas.microsoft.com/office/drawing/2014/main" id="{F0CAFDF2-CD34-C0CE-B230-774E657B47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007B0D-5912-30A6-9677-203919F4B7B0}"/>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2157033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2A309-6B67-0DD9-A95B-7FD9DF76D6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42DFAD-93ED-BA1E-EEEF-B0D80CF1AC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A4AC76-C4F3-8F5E-9624-07BBA75EE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E07719-D269-A60A-FFB5-461DC02C81DC}"/>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6" name="Footer Placeholder 5">
            <a:extLst>
              <a:ext uri="{FF2B5EF4-FFF2-40B4-BE49-F238E27FC236}">
                <a16:creationId xmlns:a16="http://schemas.microsoft.com/office/drawing/2014/main" id="{150EC10F-8F06-5E1D-8E21-27811B30C2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84E743-2DEB-663B-A5BA-00B7F24475AB}"/>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1425795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D7AE7-3A16-38CE-34B8-DE410E2DA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75B6FD-E89B-9929-4C18-ACDE896A17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2447C9-11E7-0D6E-A186-5EBFDD2467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02EAB-8DD4-D950-70B6-9E8C1962937D}"/>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6" name="Footer Placeholder 5">
            <a:extLst>
              <a:ext uri="{FF2B5EF4-FFF2-40B4-BE49-F238E27FC236}">
                <a16:creationId xmlns:a16="http://schemas.microsoft.com/office/drawing/2014/main" id="{61B5A626-E068-56A6-BD4E-82D09D66FC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89754D-881C-80B7-4D16-4769AEB88C73}"/>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163781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2EFE-B250-E706-F93D-50A6E8C5CC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9D5E60-6104-D49C-BC3F-60112105D6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EB8C4-78E0-01FC-204D-4DC613AFC9AE}"/>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5" name="Footer Placeholder 4">
            <a:extLst>
              <a:ext uri="{FF2B5EF4-FFF2-40B4-BE49-F238E27FC236}">
                <a16:creationId xmlns:a16="http://schemas.microsoft.com/office/drawing/2014/main" id="{2DB9DD6F-0A49-6DD8-CB8B-CE5654F670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B8900-FC7D-81E4-0373-5B682042B783}"/>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3325193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D78F4B-65EF-ABF3-7033-446EA1731C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334277-3682-2655-AC1F-6DAAF68F12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65A319-3EEF-3538-BF2E-3F3DE965E2F0}"/>
              </a:ext>
            </a:extLst>
          </p:cNvPr>
          <p:cNvSpPr>
            <a:spLocks noGrp="1"/>
          </p:cNvSpPr>
          <p:nvPr>
            <p:ph type="dt" sz="half" idx="10"/>
          </p:nvPr>
        </p:nvSpPr>
        <p:spPr/>
        <p:txBody>
          <a:bodyPr/>
          <a:lstStyle/>
          <a:p>
            <a:fld id="{2AFD3D8B-4003-4307-A13F-CDE10CF9DEB9}" type="datetimeFigureOut">
              <a:rPr lang="en-US" smtClean="0"/>
              <a:t>4/14/2025</a:t>
            </a:fld>
            <a:endParaRPr lang="en-US"/>
          </a:p>
        </p:txBody>
      </p:sp>
      <p:sp>
        <p:nvSpPr>
          <p:cNvPr id="5" name="Footer Placeholder 4">
            <a:extLst>
              <a:ext uri="{FF2B5EF4-FFF2-40B4-BE49-F238E27FC236}">
                <a16:creationId xmlns:a16="http://schemas.microsoft.com/office/drawing/2014/main" id="{615F28DB-E5B8-2CE3-F268-211886FD8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55379-7BBA-8B90-B3DC-279D9C9D2BFB}"/>
              </a:ext>
            </a:extLst>
          </p:cNvPr>
          <p:cNvSpPr>
            <a:spLocks noGrp="1"/>
          </p:cNvSpPr>
          <p:nvPr>
            <p:ph type="sldNum" sz="quarter" idx="12"/>
          </p:nvPr>
        </p:nvSpPr>
        <p:spPr/>
        <p:txBody>
          <a:bodyPr/>
          <a:lstStyle/>
          <a:p>
            <a:fld id="{F465987D-2A35-459E-A4FB-1318651A7E75}" type="slidenum">
              <a:rPr lang="en-US" smtClean="0"/>
              <a:t>‹#›</a:t>
            </a:fld>
            <a:endParaRPr lang="en-US"/>
          </a:p>
        </p:txBody>
      </p:sp>
    </p:spTree>
    <p:extLst>
      <p:ext uri="{BB962C8B-B14F-4D97-AF65-F5344CB8AC3E}">
        <p14:creationId xmlns:p14="http://schemas.microsoft.com/office/powerpoint/2010/main" val="4291344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EDD6C3D-6651-4F48-8EC0-E53092F07C6F}"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74500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DD6C3D-6651-4F48-8EC0-E53092F07C6F}"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524613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DD6C3D-6651-4F48-8EC0-E53092F07C6F}"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4559028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DD6C3D-6651-4F48-8EC0-E53092F07C6F}"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1225835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DD6C3D-6651-4F48-8EC0-E53092F07C6F}" type="datetimeFigureOut">
              <a:rPr lang="en-US"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3043169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DD6C3D-6651-4F48-8EC0-E53092F07C6F}" type="datetimeFigureOut">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6530476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DD6C3D-6651-4F48-8EC0-E53092F07C6F}"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106663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DD6C3D-6651-4F48-8EC0-E53092F07C6F}"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18357484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DD6C3D-6651-4F48-8EC0-E53092F07C6F}"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322177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DD6C3D-6651-4F48-8EC0-E53092F07C6F}"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6592617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DD6C3D-6651-4F48-8EC0-E53092F07C6F}"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187568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9D8D79-1F8C-13BA-F67B-2E61E8227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EF08DC-441E-8C90-34DB-285FA12DF6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7861C5-0741-788B-6E5F-DF0BF16868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FD3D8B-4003-4307-A13F-CDE10CF9DEB9}" type="datetimeFigureOut">
              <a:rPr lang="en-US" smtClean="0"/>
              <a:t>4/14/2025</a:t>
            </a:fld>
            <a:endParaRPr lang="en-US"/>
          </a:p>
        </p:txBody>
      </p:sp>
      <p:sp>
        <p:nvSpPr>
          <p:cNvPr id="5" name="Footer Placeholder 4">
            <a:extLst>
              <a:ext uri="{FF2B5EF4-FFF2-40B4-BE49-F238E27FC236}">
                <a16:creationId xmlns:a16="http://schemas.microsoft.com/office/drawing/2014/main" id="{F63090CF-BBCA-3F7D-98B5-766B284461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E46B5C-E3E1-5467-4F2A-F57E89450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65987D-2A35-459E-A4FB-1318651A7E75}" type="slidenum">
              <a:rPr lang="en-US" smtClean="0"/>
              <a:t>‹#›</a:t>
            </a:fld>
            <a:endParaRPr lang="en-US"/>
          </a:p>
        </p:txBody>
      </p:sp>
    </p:spTree>
    <p:extLst>
      <p:ext uri="{BB962C8B-B14F-4D97-AF65-F5344CB8AC3E}">
        <p14:creationId xmlns:p14="http://schemas.microsoft.com/office/powerpoint/2010/main" val="1942706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DD6C3D-6651-4F48-8EC0-E53092F07C6F}" type="datetimeFigureOut">
              <a:rPr lang="en-US" smtClean="0"/>
              <a:pPr/>
              <a:t>4/14/2025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52DD61-D130-48DF-8D3E-D5AA2E134E53}" type="slidenum">
              <a:rPr lang="en-US" smtClean="0"/>
              <a:pPr/>
              <a:t>‹#›</a:t>
            </a:fld>
            <a:endParaRPr lang="en-US"/>
          </a:p>
        </p:txBody>
      </p:sp>
    </p:spTree>
    <p:extLst>
      <p:ext uri="{BB962C8B-B14F-4D97-AF65-F5344CB8AC3E}">
        <p14:creationId xmlns:p14="http://schemas.microsoft.com/office/powerpoint/2010/main" val="2494463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up.edu/writingcenter/writing-resources/organization-and-structure/creating-an-outline/" TargetMode="External"/><Relationship Id="rId2" Type="http://schemas.openxmlformats.org/officeDocument/2006/relationships/hyperlink" Target="https://www.unl.edu/gradstudies/connections/scientific-writing" TargetMode="External"/><Relationship Id="rId1" Type="http://schemas.openxmlformats.org/officeDocument/2006/relationships/slideLayout" Target="../slideLayouts/slideLayout12.xml"/><Relationship Id="rId5" Type="http://schemas.openxmlformats.org/officeDocument/2006/relationships/hyperlink" Target="https://www.emmelaw.com/wp-content/uploads/2018/04/What-makes-a-good-document.pdf" TargetMode="External"/><Relationship Id="rId4" Type="http://schemas.openxmlformats.org/officeDocument/2006/relationships/hyperlink" Target="https://www.monmouth.edu/resources-for-writers/documents/transitions.pdf/"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unl.edu/gradstudies/connections/scientific-writing"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21747"/>
          </a:xfrm>
        </p:spPr>
        <p:txBody>
          <a:bodyPr/>
          <a:lstStyle/>
          <a:p>
            <a:r>
              <a:rPr lang="en-US" b="1" dirty="0"/>
              <a:t>ENGR 181W</a:t>
            </a:r>
          </a:p>
        </p:txBody>
      </p:sp>
      <p:sp>
        <p:nvSpPr>
          <p:cNvPr id="4" name="Rectangle 3"/>
          <p:cNvSpPr/>
          <p:nvPr/>
        </p:nvSpPr>
        <p:spPr>
          <a:xfrm>
            <a:off x="306067" y="5842337"/>
            <a:ext cx="8557846"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2"/>
              </a:rPr>
              <a:t>https://www.unl.edu/gradstudies/connections/scientific-writing</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3"/>
              </a:rPr>
              <a:t>https://www.iup.edu/writingcenter/writing-resources/organization-and-structure/creating-an-outline/</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4"/>
              </a:rPr>
              <a:t>https://www.monmouth.edu/resources-for-writers/documents/transitions.pdf/</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hlinkClick r:id="rId5"/>
              </a:rPr>
              <a:t>https://www.emmelaw.com/wp-content/uploads/2018/04/What-makes-a-good-document.pdf</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Unicode MS"/>
                <a:ea typeface="+mn-ea"/>
                <a:cs typeface="+mn-cs"/>
              </a:rPr>
              <a:t>Eunson, Baden. </a:t>
            </a:r>
            <a:r>
              <a:rPr kumimoji="0" lang="en-US" sz="1200" b="0" i="1" u="none" strike="noStrike" kern="1200" cap="none" spc="0" normalizeH="0" baseline="0" noProof="0" dirty="0">
                <a:ln>
                  <a:noFill/>
                </a:ln>
                <a:solidFill>
                  <a:srgbClr val="000000"/>
                </a:solidFill>
                <a:effectLst/>
                <a:uLnTx/>
                <a:uFillTx/>
                <a:latin typeface="Arial Unicode MS"/>
                <a:ea typeface="+mn-ea"/>
                <a:cs typeface="+mn-cs"/>
              </a:rPr>
              <a:t>Communicating in the 21st Century, 4th Edition</a:t>
            </a:r>
            <a:r>
              <a:rPr kumimoji="0" lang="en-US" sz="1200" b="0" i="0" u="none" strike="noStrike" kern="1200" cap="none" spc="0" normalizeH="0" baseline="0" noProof="0" dirty="0">
                <a:ln>
                  <a:noFill/>
                </a:ln>
                <a:solidFill>
                  <a:srgbClr val="000000"/>
                </a:solidFill>
                <a:effectLst/>
                <a:uLnTx/>
                <a:uFillTx/>
                <a:latin typeface="Arial Unicode MS"/>
                <a:ea typeface="+mn-ea"/>
                <a:cs typeface="+mn-cs"/>
              </a:rPr>
              <a:t>. John Wiley &amp; Sons, 2015. Print.</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5231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AD8E0-7F72-BD67-BB24-677F018A5F4A}"/>
              </a:ext>
            </a:extLst>
          </p:cNvPr>
          <p:cNvSpPr>
            <a:spLocks noGrp="1"/>
          </p:cNvSpPr>
          <p:nvPr>
            <p:ph type="ctrTitle"/>
          </p:nvPr>
        </p:nvSpPr>
        <p:spPr>
          <a:xfrm>
            <a:off x="0" y="736881"/>
            <a:ext cx="11407588" cy="477837"/>
          </a:xfrm>
        </p:spPr>
        <p:txBody>
          <a:bodyPr>
            <a:normAutofit fontScale="90000"/>
          </a:bodyPr>
          <a:lstStyle/>
          <a:p>
            <a:r>
              <a:rPr lang="en-US" dirty="0"/>
              <a:t>Structure of Technical Documents</a:t>
            </a:r>
          </a:p>
        </p:txBody>
      </p:sp>
      <p:sp>
        <p:nvSpPr>
          <p:cNvPr id="3" name="Subtitle 2">
            <a:extLst>
              <a:ext uri="{FF2B5EF4-FFF2-40B4-BE49-F238E27FC236}">
                <a16:creationId xmlns:a16="http://schemas.microsoft.com/office/drawing/2014/main" id="{E2474784-E604-035A-9F7A-C8CE98F4811E}"/>
              </a:ext>
            </a:extLst>
          </p:cNvPr>
          <p:cNvSpPr>
            <a:spLocks noGrp="1"/>
          </p:cNvSpPr>
          <p:nvPr>
            <p:ph type="subTitle" idx="1"/>
          </p:nvPr>
        </p:nvSpPr>
        <p:spPr>
          <a:xfrm>
            <a:off x="354105" y="1739152"/>
            <a:ext cx="11553265" cy="4935071"/>
          </a:xfrm>
        </p:spPr>
        <p:txBody>
          <a:bodyPr>
            <a:normAutofit fontScale="70000" lnSpcReduction="20000"/>
          </a:bodyPr>
          <a:lstStyle/>
          <a:p>
            <a:pPr algn="l">
              <a:lnSpc>
                <a:spcPct val="150000"/>
              </a:lnSpc>
            </a:pPr>
            <a:r>
              <a:rPr lang="en-US" sz="3200" b="1" i="1" dirty="0"/>
              <a:t>Organizing Information</a:t>
            </a:r>
          </a:p>
          <a:p>
            <a:pPr algn="l">
              <a:lnSpc>
                <a:spcPct val="150000"/>
              </a:lnSpc>
            </a:pPr>
            <a:r>
              <a:rPr lang="en-US" sz="3200" dirty="0"/>
              <a:t>-- Importance of structure in technical writing.</a:t>
            </a:r>
          </a:p>
          <a:p>
            <a:pPr marL="457200" indent="-457200" algn="l">
              <a:lnSpc>
                <a:spcPct val="150000"/>
              </a:lnSpc>
              <a:buFont typeface="Wingdings" panose="05000000000000000000" pitchFamily="2" charset="2"/>
              <a:buChar char="n"/>
            </a:pPr>
            <a:r>
              <a:rPr lang="en-US" sz="3200" dirty="0"/>
              <a:t>Common structures: </a:t>
            </a:r>
          </a:p>
          <a:p>
            <a:pPr marL="914400" lvl="1" indent="-457200" algn="l">
              <a:lnSpc>
                <a:spcPct val="150000"/>
              </a:lnSpc>
              <a:buFont typeface="Wingdings" panose="05000000000000000000" pitchFamily="2" charset="2"/>
              <a:buChar char="n"/>
            </a:pPr>
            <a:r>
              <a:rPr lang="en-US" sz="2800" dirty="0"/>
              <a:t>Introduction, </a:t>
            </a:r>
          </a:p>
          <a:p>
            <a:pPr marL="914400" lvl="1" indent="-457200" algn="l">
              <a:lnSpc>
                <a:spcPct val="150000"/>
              </a:lnSpc>
              <a:buFont typeface="Wingdings" panose="05000000000000000000" pitchFamily="2" charset="2"/>
              <a:buChar char="n"/>
            </a:pPr>
            <a:r>
              <a:rPr lang="en-US" sz="2600" dirty="0"/>
              <a:t>Methodology, </a:t>
            </a:r>
          </a:p>
          <a:p>
            <a:pPr marL="914400" lvl="1" indent="-457200" algn="l">
              <a:lnSpc>
                <a:spcPct val="150000"/>
              </a:lnSpc>
              <a:buFont typeface="Wingdings" panose="05000000000000000000" pitchFamily="2" charset="2"/>
              <a:buChar char="n"/>
            </a:pPr>
            <a:r>
              <a:rPr lang="en-US" sz="2600" dirty="0"/>
              <a:t>Results, </a:t>
            </a:r>
          </a:p>
          <a:p>
            <a:pPr marL="914400" lvl="1" indent="-457200" algn="l">
              <a:lnSpc>
                <a:spcPct val="150000"/>
              </a:lnSpc>
              <a:buFont typeface="Wingdings" panose="05000000000000000000" pitchFamily="2" charset="2"/>
              <a:buChar char="n"/>
            </a:pPr>
            <a:r>
              <a:rPr lang="en-US" sz="2600" dirty="0"/>
              <a:t>Discussion, </a:t>
            </a:r>
          </a:p>
          <a:p>
            <a:pPr marL="914400" lvl="1" indent="-457200" algn="l">
              <a:lnSpc>
                <a:spcPct val="150000"/>
              </a:lnSpc>
              <a:buFont typeface="Wingdings" panose="05000000000000000000" pitchFamily="2" charset="2"/>
              <a:buChar char="n"/>
            </a:pPr>
            <a:r>
              <a:rPr lang="en-US" sz="2600" dirty="0"/>
              <a:t>Conclusion (IMRaD).</a:t>
            </a:r>
          </a:p>
          <a:p>
            <a:pPr marL="914400" lvl="1" indent="-457200" algn="l">
              <a:lnSpc>
                <a:spcPct val="150000"/>
              </a:lnSpc>
              <a:buFont typeface="Wingdings" panose="05000000000000000000" pitchFamily="2" charset="2"/>
              <a:buChar char="n"/>
            </a:pPr>
            <a:endParaRPr lang="en-US" sz="2600" dirty="0"/>
          </a:p>
          <a:p>
            <a:pPr algn="l">
              <a:lnSpc>
                <a:spcPct val="150000"/>
              </a:lnSpc>
            </a:pPr>
            <a:r>
              <a:rPr lang="en-US" sz="3200" dirty="0"/>
              <a:t>-- </a:t>
            </a:r>
            <a:r>
              <a:rPr lang="en-US" sz="3200" b="1" dirty="0">
                <a:solidFill>
                  <a:srgbClr val="C00000"/>
                </a:solidFill>
              </a:rPr>
              <a:t>The pyramid principle </a:t>
            </a:r>
            <a:r>
              <a:rPr lang="en-US" sz="3200" b="1" dirty="0"/>
              <a:t>for presenting complex information.</a:t>
            </a:r>
          </a:p>
          <a:p>
            <a:pPr algn="l">
              <a:lnSpc>
                <a:spcPct val="150000"/>
              </a:lnSpc>
            </a:pPr>
            <a:endParaRPr lang="en-US" sz="3200" dirty="0"/>
          </a:p>
        </p:txBody>
      </p:sp>
      <p:pic>
        <p:nvPicPr>
          <p:cNvPr id="4" name="Picture 3">
            <a:extLst>
              <a:ext uri="{FF2B5EF4-FFF2-40B4-BE49-F238E27FC236}">
                <a16:creationId xmlns:a16="http://schemas.microsoft.com/office/drawing/2014/main" id="{50832655-EC31-A878-57E4-406AB3D5AF89}"/>
              </a:ext>
            </a:extLst>
          </p:cNvPr>
          <p:cNvPicPr>
            <a:picLocks noChangeAspect="1"/>
          </p:cNvPicPr>
          <p:nvPr/>
        </p:nvPicPr>
        <p:blipFill>
          <a:blip r:embed="rId2"/>
          <a:stretch>
            <a:fillRect/>
          </a:stretch>
        </p:blipFill>
        <p:spPr>
          <a:xfrm>
            <a:off x="6239436" y="3043518"/>
            <a:ext cx="5116530" cy="2694173"/>
          </a:xfrm>
          <a:prstGeom prst="rect">
            <a:avLst/>
          </a:prstGeom>
        </p:spPr>
      </p:pic>
    </p:spTree>
    <p:extLst>
      <p:ext uri="{BB962C8B-B14F-4D97-AF65-F5344CB8AC3E}">
        <p14:creationId xmlns:p14="http://schemas.microsoft.com/office/powerpoint/2010/main" val="528730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9C9A-F9CA-049F-A92C-7011FF8D2FF5}"/>
              </a:ext>
            </a:extLst>
          </p:cNvPr>
          <p:cNvSpPr>
            <a:spLocks noGrp="1"/>
          </p:cNvSpPr>
          <p:nvPr>
            <p:ph type="title"/>
          </p:nvPr>
        </p:nvSpPr>
        <p:spPr>
          <a:xfrm>
            <a:off x="194733" y="18255"/>
            <a:ext cx="11997267" cy="1325563"/>
          </a:xfrm>
        </p:spPr>
        <p:txBody>
          <a:bodyPr>
            <a:normAutofit/>
          </a:bodyPr>
          <a:lstStyle/>
          <a:p>
            <a:r>
              <a:rPr lang="en-US" sz="2800" b="1" dirty="0"/>
              <a:t>A sample </a:t>
            </a:r>
            <a:r>
              <a:rPr lang="en-US" sz="2800" b="1" dirty="0" err="1"/>
              <a:t>IMRaD</a:t>
            </a:r>
            <a:r>
              <a:rPr lang="en-US" sz="2800" b="1" dirty="0"/>
              <a:t> (Introduction, Methods, Results, and Discussion)-style paper about the function of a Raspberry Pi</a:t>
            </a:r>
          </a:p>
        </p:txBody>
      </p:sp>
      <p:sp>
        <p:nvSpPr>
          <p:cNvPr id="3" name="Content Placeholder 2">
            <a:extLst>
              <a:ext uri="{FF2B5EF4-FFF2-40B4-BE49-F238E27FC236}">
                <a16:creationId xmlns:a16="http://schemas.microsoft.com/office/drawing/2014/main" id="{E52BC5B2-28A0-5F4B-34BF-FFD3C57E4C13}"/>
              </a:ext>
            </a:extLst>
          </p:cNvPr>
          <p:cNvSpPr>
            <a:spLocks noGrp="1"/>
          </p:cNvSpPr>
          <p:nvPr>
            <p:ph idx="1"/>
          </p:nvPr>
        </p:nvSpPr>
        <p:spPr>
          <a:xfrm>
            <a:off x="101600" y="1193800"/>
            <a:ext cx="12090400" cy="5664200"/>
          </a:xfrm>
          <a:solidFill>
            <a:schemeClr val="accent6">
              <a:lumMod val="20000"/>
              <a:lumOff val="80000"/>
            </a:schemeClr>
          </a:solidFill>
        </p:spPr>
        <p:txBody>
          <a:bodyPr/>
          <a:lstStyle/>
          <a:p>
            <a:pPr>
              <a:buNone/>
            </a:pPr>
            <a:r>
              <a:rPr lang="en-US" b="1" dirty="0"/>
              <a:t>The Function of a Raspberry Pi in Modern Computing Applications</a:t>
            </a:r>
          </a:p>
          <a:p>
            <a:pPr>
              <a:buNone/>
            </a:pPr>
            <a:endParaRPr lang="en-US" b="1" dirty="0">
              <a:solidFill>
                <a:srgbClr val="C00000"/>
              </a:solidFill>
            </a:endParaRPr>
          </a:p>
          <a:p>
            <a:pPr>
              <a:buNone/>
            </a:pPr>
            <a:r>
              <a:rPr lang="en-US" b="1" dirty="0">
                <a:solidFill>
                  <a:srgbClr val="C00000"/>
                </a:solidFill>
              </a:rPr>
              <a:t>Introduction</a:t>
            </a:r>
          </a:p>
          <a:p>
            <a:r>
              <a:rPr lang="en-US" dirty="0"/>
              <a:t>The Raspberry Pi is a low-cost, credit-card-sized computer developed by the Raspberry Pi Foundation with the goal of promoting computer science education and accessibility. Since its release in 2012, it has gained widespread popularity in educational, hobbyist, and professional circles due to its affordability, versatility, and extensive community support. This paper aims to examine the functions of the Raspberry Pi, highlighting its applications in computing tasks such as data processing, automation, and Internet of Things (IoT) integration.</a:t>
            </a:r>
          </a:p>
          <a:p>
            <a:endParaRPr lang="en-US" dirty="0"/>
          </a:p>
        </p:txBody>
      </p:sp>
    </p:spTree>
    <p:extLst>
      <p:ext uri="{BB962C8B-B14F-4D97-AF65-F5344CB8AC3E}">
        <p14:creationId xmlns:p14="http://schemas.microsoft.com/office/powerpoint/2010/main" val="1122635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73A14-BA50-4EE6-B2B9-4BB14D517C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35165B-ABCE-DF6D-71C4-D05D42EECF08}"/>
              </a:ext>
            </a:extLst>
          </p:cNvPr>
          <p:cNvSpPr>
            <a:spLocks noGrp="1"/>
          </p:cNvSpPr>
          <p:nvPr>
            <p:ph idx="1"/>
          </p:nvPr>
        </p:nvSpPr>
        <p:spPr>
          <a:xfrm>
            <a:off x="76200" y="0"/>
            <a:ext cx="12115800" cy="6858000"/>
          </a:xfrm>
          <a:solidFill>
            <a:schemeClr val="accent6">
              <a:lumMod val="20000"/>
              <a:lumOff val="80000"/>
            </a:schemeClr>
          </a:solidFill>
        </p:spPr>
        <p:txBody>
          <a:bodyPr>
            <a:normAutofit/>
          </a:bodyPr>
          <a:lstStyle/>
          <a:p>
            <a:pPr>
              <a:buNone/>
            </a:pPr>
            <a:r>
              <a:rPr lang="en-US" b="1" dirty="0">
                <a:solidFill>
                  <a:srgbClr val="C00000"/>
                </a:solidFill>
              </a:rPr>
              <a:t>Results</a:t>
            </a:r>
          </a:p>
          <a:p>
            <a:r>
              <a:rPr lang="en-US" sz="3600" dirty="0"/>
              <a:t>The Raspberry Pi successfully executed basic desktop computing tasks with acceptable performance, especially on newer models with increased RAM and processing power. GPIO interfacing allowed seamless communication with external sensors, motors, and LEDs. The Raspberry Pi also functioned effectively as a lightweight server and IoT controller. Media playback was smooth with Kodi on the Pi 4, supporting 1080p streaming. Average power consumption remained below 5 W in most scenarios, demonstrating the device's energy efficiency.</a:t>
            </a:r>
          </a:p>
          <a:p>
            <a:endParaRPr lang="en-US" dirty="0"/>
          </a:p>
        </p:txBody>
      </p:sp>
    </p:spTree>
    <p:extLst>
      <p:ext uri="{BB962C8B-B14F-4D97-AF65-F5344CB8AC3E}">
        <p14:creationId xmlns:p14="http://schemas.microsoft.com/office/powerpoint/2010/main" val="2315721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FA72E-9694-EFFE-3261-680855EF56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56A84-FE5D-8994-C774-EC3837B2FDBD}"/>
              </a:ext>
            </a:extLst>
          </p:cNvPr>
          <p:cNvSpPr>
            <a:spLocks noGrp="1"/>
          </p:cNvSpPr>
          <p:nvPr>
            <p:ph idx="1"/>
          </p:nvPr>
        </p:nvSpPr>
        <p:spPr>
          <a:xfrm>
            <a:off x="76200" y="0"/>
            <a:ext cx="12115800" cy="6858000"/>
          </a:xfrm>
          <a:solidFill>
            <a:schemeClr val="accent6">
              <a:lumMod val="20000"/>
              <a:lumOff val="80000"/>
            </a:schemeClr>
          </a:solidFill>
        </p:spPr>
        <p:txBody>
          <a:bodyPr>
            <a:normAutofit/>
          </a:bodyPr>
          <a:lstStyle/>
          <a:p>
            <a:pPr>
              <a:buNone/>
            </a:pPr>
            <a:r>
              <a:rPr lang="en-US" b="1" dirty="0">
                <a:solidFill>
                  <a:srgbClr val="C00000"/>
                </a:solidFill>
              </a:rPr>
              <a:t>Results</a:t>
            </a:r>
          </a:p>
          <a:p>
            <a:endParaRPr lang="en-US" dirty="0"/>
          </a:p>
        </p:txBody>
      </p:sp>
      <p:pic>
        <p:nvPicPr>
          <p:cNvPr id="4" name="Picture 3">
            <a:extLst>
              <a:ext uri="{FF2B5EF4-FFF2-40B4-BE49-F238E27FC236}">
                <a16:creationId xmlns:a16="http://schemas.microsoft.com/office/drawing/2014/main" id="{7CFB1C56-09A6-1615-A8B2-578D123ADA7D}"/>
              </a:ext>
            </a:extLst>
          </p:cNvPr>
          <p:cNvPicPr>
            <a:picLocks noChangeAspect="1"/>
          </p:cNvPicPr>
          <p:nvPr/>
        </p:nvPicPr>
        <p:blipFill>
          <a:blip r:embed="rId2"/>
          <a:stretch>
            <a:fillRect/>
          </a:stretch>
        </p:blipFill>
        <p:spPr>
          <a:xfrm>
            <a:off x="76200" y="677333"/>
            <a:ext cx="11837175" cy="4487334"/>
          </a:xfrm>
          <a:prstGeom prst="rect">
            <a:avLst/>
          </a:prstGeom>
        </p:spPr>
      </p:pic>
    </p:spTree>
    <p:extLst>
      <p:ext uri="{BB962C8B-B14F-4D97-AF65-F5344CB8AC3E}">
        <p14:creationId xmlns:p14="http://schemas.microsoft.com/office/powerpoint/2010/main" val="2976536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D99B-902D-C7E6-7366-ECCD3378D7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0CD1F-D9C0-5B4D-60DA-DA27303B60E7}"/>
              </a:ext>
            </a:extLst>
          </p:cNvPr>
          <p:cNvSpPr>
            <a:spLocks noGrp="1"/>
          </p:cNvSpPr>
          <p:nvPr>
            <p:ph idx="1"/>
          </p:nvPr>
        </p:nvSpPr>
        <p:spPr>
          <a:xfrm>
            <a:off x="76200" y="0"/>
            <a:ext cx="12115800" cy="6858000"/>
          </a:xfrm>
          <a:solidFill>
            <a:schemeClr val="accent6">
              <a:lumMod val="20000"/>
              <a:lumOff val="80000"/>
            </a:schemeClr>
          </a:solidFill>
        </p:spPr>
        <p:txBody>
          <a:bodyPr>
            <a:normAutofit/>
          </a:bodyPr>
          <a:lstStyle/>
          <a:p>
            <a:pPr>
              <a:buNone/>
            </a:pPr>
            <a:r>
              <a:rPr lang="en-US" b="1" dirty="0">
                <a:solidFill>
                  <a:srgbClr val="C00000"/>
                </a:solidFill>
              </a:rPr>
              <a:t>Discussion</a:t>
            </a:r>
          </a:p>
          <a:p>
            <a:r>
              <a:rPr lang="en-US" sz="3600" dirty="0"/>
              <a:t>The Raspberry Pi proves to be a versatile computing platform capable of serving numerous functions. Its GPIO pins allow direct interfacing with the physical world, making it ideal for prototyping electronics and automation projects. The ability to run a full Linux-based OS enables use in more traditional computing roles, such as programming, office tasks, and hosting services. While not intended for high-performance computing, its balance of cost, functionality, and energy efficiency makes it a powerful tool for education, DIY projects, and light professional applications.</a:t>
            </a:r>
          </a:p>
          <a:p>
            <a:endParaRPr lang="en-US" dirty="0"/>
          </a:p>
        </p:txBody>
      </p:sp>
    </p:spTree>
    <p:extLst>
      <p:ext uri="{BB962C8B-B14F-4D97-AF65-F5344CB8AC3E}">
        <p14:creationId xmlns:p14="http://schemas.microsoft.com/office/powerpoint/2010/main" val="366208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F9CE2-541E-7DC1-C45F-14A77DC265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4BF6F-EE7F-96A8-C054-AB9C4BC80287}"/>
              </a:ext>
            </a:extLst>
          </p:cNvPr>
          <p:cNvSpPr>
            <a:spLocks noGrp="1"/>
          </p:cNvSpPr>
          <p:nvPr>
            <p:ph idx="1"/>
          </p:nvPr>
        </p:nvSpPr>
        <p:spPr>
          <a:xfrm>
            <a:off x="76200" y="0"/>
            <a:ext cx="12115800" cy="6858000"/>
          </a:xfrm>
          <a:solidFill>
            <a:schemeClr val="accent6">
              <a:lumMod val="20000"/>
              <a:lumOff val="80000"/>
            </a:schemeClr>
          </a:solidFill>
        </p:spPr>
        <p:txBody>
          <a:bodyPr>
            <a:normAutofit/>
          </a:bodyPr>
          <a:lstStyle/>
          <a:p>
            <a:pPr>
              <a:buNone/>
            </a:pPr>
            <a:r>
              <a:rPr lang="en-US" b="1" dirty="0">
                <a:solidFill>
                  <a:srgbClr val="C00000"/>
                </a:solidFill>
              </a:rPr>
              <a:t>Conclusion</a:t>
            </a:r>
          </a:p>
          <a:p>
            <a:r>
              <a:rPr lang="en-US" sz="3600" dirty="0"/>
              <a:t>The Raspberry Pi is a multifunctional microcomputer with capabilities that extend far beyond its price point. Its small size, flexibility, and support for various software applications position it as a key component in learning environments and embedded system development. Future iterations of the Raspberry Pi are expected to further expand its computing power and functional range, solidifying its role in the broader computing ecosystem.</a:t>
            </a:r>
          </a:p>
          <a:p>
            <a:endParaRPr lang="en-US" dirty="0"/>
          </a:p>
        </p:txBody>
      </p:sp>
    </p:spTree>
    <p:extLst>
      <p:ext uri="{BB962C8B-B14F-4D97-AF65-F5344CB8AC3E}">
        <p14:creationId xmlns:p14="http://schemas.microsoft.com/office/powerpoint/2010/main" val="138476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AA624-E9B3-B288-6083-BA24DA216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66357-A4B2-3FC8-2ECF-7F2BE882729B}"/>
              </a:ext>
            </a:extLst>
          </p:cNvPr>
          <p:cNvSpPr>
            <a:spLocks noGrp="1"/>
          </p:cNvSpPr>
          <p:nvPr>
            <p:ph type="ctrTitle"/>
          </p:nvPr>
        </p:nvSpPr>
        <p:spPr>
          <a:xfrm>
            <a:off x="0" y="382775"/>
            <a:ext cx="11407588" cy="477837"/>
          </a:xfrm>
        </p:spPr>
        <p:txBody>
          <a:bodyPr>
            <a:noAutofit/>
          </a:bodyPr>
          <a:lstStyle/>
          <a:p>
            <a:r>
              <a:rPr lang="en-US" sz="3200" b="1" dirty="0">
                <a:solidFill>
                  <a:srgbClr val="C00000"/>
                </a:solidFill>
              </a:rPr>
              <a:t>The pyramid principle for presenting complex information</a:t>
            </a:r>
          </a:p>
        </p:txBody>
      </p:sp>
      <p:sp>
        <p:nvSpPr>
          <p:cNvPr id="3" name="Subtitle 2">
            <a:extLst>
              <a:ext uri="{FF2B5EF4-FFF2-40B4-BE49-F238E27FC236}">
                <a16:creationId xmlns:a16="http://schemas.microsoft.com/office/drawing/2014/main" id="{F3A11ACA-BFB4-3FAD-8281-AB37178C0939}"/>
              </a:ext>
            </a:extLst>
          </p:cNvPr>
          <p:cNvSpPr>
            <a:spLocks noGrp="1"/>
          </p:cNvSpPr>
          <p:nvPr>
            <p:ph type="subTitle" idx="1"/>
          </p:nvPr>
        </p:nvSpPr>
        <p:spPr>
          <a:xfrm>
            <a:off x="237565" y="1461248"/>
            <a:ext cx="11669805" cy="5212976"/>
          </a:xfrm>
        </p:spPr>
        <p:txBody>
          <a:bodyPr>
            <a:normAutofit fontScale="70000" lnSpcReduction="20000"/>
          </a:bodyPr>
          <a:lstStyle/>
          <a:p>
            <a:pPr marL="457200" indent="-457200" algn="l">
              <a:lnSpc>
                <a:spcPct val="150000"/>
              </a:lnSpc>
              <a:buFont typeface="Wingdings" panose="05000000000000000000" pitchFamily="2" charset="2"/>
              <a:buChar char="n"/>
            </a:pPr>
            <a:r>
              <a:rPr lang="en-US" sz="3200" dirty="0"/>
              <a:t>The </a:t>
            </a:r>
            <a:r>
              <a:rPr lang="en-US" sz="3200" b="1" dirty="0"/>
              <a:t>Pyramid Principle </a:t>
            </a:r>
            <a:r>
              <a:rPr lang="en-US" sz="3200" dirty="0"/>
              <a:t>is a communication framework developed by Barbara Minto at McKinsey &amp; Company. </a:t>
            </a:r>
          </a:p>
          <a:p>
            <a:pPr marL="457200" indent="-457200" algn="l">
              <a:lnSpc>
                <a:spcPct val="150000"/>
              </a:lnSpc>
              <a:buFont typeface="Wingdings" panose="05000000000000000000" pitchFamily="2" charset="2"/>
              <a:buChar char="n"/>
            </a:pPr>
            <a:endParaRPr lang="en-US" sz="3200" dirty="0"/>
          </a:p>
          <a:p>
            <a:pPr marL="457200" indent="-457200" algn="l">
              <a:lnSpc>
                <a:spcPct val="150000"/>
              </a:lnSpc>
              <a:buFont typeface="Wingdings" panose="05000000000000000000" pitchFamily="2" charset="2"/>
              <a:buChar char="n"/>
            </a:pPr>
            <a:r>
              <a:rPr lang="en-US" sz="3200" dirty="0"/>
              <a:t>It's designed to help you present complex ideas clearly, logically, and persuasively—especially in business or analytical writing and presentations.</a:t>
            </a:r>
          </a:p>
          <a:p>
            <a:pPr algn="l">
              <a:lnSpc>
                <a:spcPct val="150000"/>
              </a:lnSpc>
            </a:pPr>
            <a:r>
              <a:rPr lang="en-US" sz="3200" b="1" dirty="0"/>
              <a:t>Core Idea:</a:t>
            </a:r>
          </a:p>
          <a:p>
            <a:pPr algn="l">
              <a:lnSpc>
                <a:spcPct val="150000"/>
              </a:lnSpc>
            </a:pPr>
            <a:r>
              <a:rPr lang="en-US" sz="3200" dirty="0"/>
              <a:t>The Pyramid Principle suggests that you should start with the main message or conclusion first, then support it with logical arguments, and finally provide detailed evidence. </a:t>
            </a:r>
          </a:p>
          <a:p>
            <a:pPr algn="l">
              <a:lnSpc>
                <a:spcPct val="150000"/>
              </a:lnSpc>
            </a:pPr>
            <a:endParaRPr lang="en-US" sz="3200" dirty="0"/>
          </a:p>
          <a:p>
            <a:pPr algn="l">
              <a:lnSpc>
                <a:spcPct val="150000"/>
              </a:lnSpc>
            </a:pPr>
            <a:r>
              <a:rPr lang="en-US" sz="3200" b="1" dirty="0"/>
              <a:t>The structure looks like an inverted pyramid, hence the name.</a:t>
            </a:r>
          </a:p>
        </p:txBody>
      </p:sp>
    </p:spTree>
    <p:extLst>
      <p:ext uri="{BB962C8B-B14F-4D97-AF65-F5344CB8AC3E}">
        <p14:creationId xmlns:p14="http://schemas.microsoft.com/office/powerpoint/2010/main" val="4098159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56202E-6D9E-AF3D-89A7-125510F86821}"/>
              </a:ext>
            </a:extLst>
          </p:cNvPr>
          <p:cNvSpPr txBox="1"/>
          <p:nvPr/>
        </p:nvSpPr>
        <p:spPr>
          <a:xfrm>
            <a:off x="125786" y="986118"/>
            <a:ext cx="8717896" cy="4471032"/>
          </a:xfrm>
          <a:prstGeom prst="rect">
            <a:avLst/>
          </a:prstGeom>
          <a:noFill/>
        </p:spPr>
        <p:txBody>
          <a:bodyPr wrap="square">
            <a:spAutoFit/>
          </a:bodyPr>
          <a:lstStyle/>
          <a:p>
            <a:pPr>
              <a:lnSpc>
                <a:spcPct val="150000"/>
              </a:lnSpc>
            </a:pPr>
            <a:r>
              <a:rPr lang="en-US" sz="2400" b="1" dirty="0"/>
              <a:t>Minto published her book, </a:t>
            </a:r>
            <a:r>
              <a:rPr lang="en-US" sz="2400" b="1" i="1" dirty="0"/>
              <a:t>The Pyramid Principle: Logic in Writing and Thinking</a:t>
            </a:r>
            <a:r>
              <a:rPr lang="en-US" sz="2400" b="1" dirty="0"/>
              <a:t>, in 1985, and an upgraded edition entitled The Minto Pyramid Principle: Logic in Writing, Thinking and Problem Solving in 1996.</a:t>
            </a:r>
          </a:p>
          <a:p>
            <a:pPr>
              <a:lnSpc>
                <a:spcPct val="150000"/>
              </a:lnSpc>
            </a:pPr>
            <a:endParaRPr lang="en-US" sz="2400" b="1" dirty="0"/>
          </a:p>
          <a:p>
            <a:pPr>
              <a:lnSpc>
                <a:spcPct val="150000"/>
              </a:lnSpc>
            </a:pPr>
            <a:r>
              <a:rPr lang="en-US" sz="2400" b="1" dirty="0"/>
              <a:t>Minto graduated from Harvard Business School in 1963.</a:t>
            </a:r>
          </a:p>
          <a:p>
            <a:pPr>
              <a:lnSpc>
                <a:spcPct val="150000"/>
              </a:lnSpc>
            </a:pPr>
            <a:endParaRPr lang="en-US" sz="2400" b="1" dirty="0"/>
          </a:p>
          <a:p>
            <a:pPr>
              <a:lnSpc>
                <a:spcPct val="150000"/>
              </a:lnSpc>
            </a:pPr>
            <a:r>
              <a:rPr lang="en-US" sz="2400" b="1" dirty="0"/>
              <a:t>She was one of only eight women to graduate in a class of 600.</a:t>
            </a:r>
          </a:p>
        </p:txBody>
      </p:sp>
      <p:pic>
        <p:nvPicPr>
          <p:cNvPr id="4" name="Picture 3">
            <a:extLst>
              <a:ext uri="{FF2B5EF4-FFF2-40B4-BE49-F238E27FC236}">
                <a16:creationId xmlns:a16="http://schemas.microsoft.com/office/drawing/2014/main" id="{5DD4FCDC-370C-16F7-CF37-8EF1FE466197}"/>
              </a:ext>
            </a:extLst>
          </p:cNvPr>
          <p:cNvPicPr>
            <a:picLocks noChangeAspect="1"/>
          </p:cNvPicPr>
          <p:nvPr/>
        </p:nvPicPr>
        <p:blipFill>
          <a:blip r:embed="rId2"/>
          <a:stretch>
            <a:fillRect/>
          </a:stretch>
        </p:blipFill>
        <p:spPr>
          <a:xfrm>
            <a:off x="9972585" y="2828836"/>
            <a:ext cx="2093629" cy="2995052"/>
          </a:xfrm>
          <a:prstGeom prst="rect">
            <a:avLst/>
          </a:prstGeom>
        </p:spPr>
      </p:pic>
      <p:pic>
        <p:nvPicPr>
          <p:cNvPr id="5" name="Picture 4">
            <a:extLst>
              <a:ext uri="{FF2B5EF4-FFF2-40B4-BE49-F238E27FC236}">
                <a16:creationId xmlns:a16="http://schemas.microsoft.com/office/drawing/2014/main" id="{1CD13184-09D6-FABA-C338-26EEC0ACB7F3}"/>
              </a:ext>
            </a:extLst>
          </p:cNvPr>
          <p:cNvPicPr>
            <a:picLocks noChangeAspect="1"/>
          </p:cNvPicPr>
          <p:nvPr/>
        </p:nvPicPr>
        <p:blipFill>
          <a:blip r:embed="rId3"/>
          <a:stretch>
            <a:fillRect/>
          </a:stretch>
        </p:blipFill>
        <p:spPr>
          <a:xfrm>
            <a:off x="9144000" y="346215"/>
            <a:ext cx="2922214" cy="1767214"/>
          </a:xfrm>
          <a:prstGeom prst="rect">
            <a:avLst/>
          </a:prstGeom>
        </p:spPr>
      </p:pic>
    </p:spTree>
    <p:extLst>
      <p:ext uri="{BB962C8B-B14F-4D97-AF65-F5344CB8AC3E}">
        <p14:creationId xmlns:p14="http://schemas.microsoft.com/office/powerpoint/2010/main" val="256271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25326D-0F50-0DC5-4AE1-F33C1555EEE8}"/>
              </a:ext>
            </a:extLst>
          </p:cNvPr>
          <p:cNvSpPr txBox="1"/>
          <p:nvPr/>
        </p:nvSpPr>
        <p:spPr>
          <a:xfrm>
            <a:off x="319413" y="313152"/>
            <a:ext cx="10571967" cy="6001643"/>
          </a:xfrm>
          <a:prstGeom prst="rect">
            <a:avLst/>
          </a:prstGeom>
          <a:noFill/>
        </p:spPr>
        <p:txBody>
          <a:bodyPr wrap="square">
            <a:spAutoFit/>
          </a:bodyPr>
          <a:lstStyle/>
          <a:p>
            <a:pPr>
              <a:buNone/>
            </a:pPr>
            <a:r>
              <a:rPr lang="en-US" sz="3200" b="1" dirty="0">
                <a:solidFill>
                  <a:srgbClr val="C00000"/>
                </a:solidFill>
              </a:rPr>
              <a:t>1. Recommending a Phone to a Friend</a:t>
            </a:r>
          </a:p>
          <a:p>
            <a:pPr>
              <a:buNone/>
            </a:pPr>
            <a:endParaRPr lang="en-US" sz="3200" b="1" dirty="0"/>
          </a:p>
          <a:p>
            <a:pPr>
              <a:buNone/>
            </a:pPr>
            <a:r>
              <a:rPr lang="en-US" sz="3200" b="1" dirty="0"/>
              <a:t>Main Idea (Top of the Pyramid):</a:t>
            </a:r>
            <a:br>
              <a:rPr lang="en-US" sz="3200" dirty="0"/>
            </a:br>
            <a:r>
              <a:rPr lang="en-US" sz="3200" dirty="0"/>
              <a:t>	</a:t>
            </a:r>
            <a:r>
              <a:rPr lang="en-US" sz="3200" i="1" dirty="0"/>
              <a:t>“You should get the XYZ smartphone”</a:t>
            </a:r>
          </a:p>
          <a:p>
            <a:pPr>
              <a:buNone/>
            </a:pPr>
            <a:r>
              <a:rPr lang="en-US" sz="3200" b="1" dirty="0"/>
              <a:t>Supporting Reasons:</a:t>
            </a:r>
            <a:endParaRPr lang="en-US" sz="3200" dirty="0"/>
          </a:p>
          <a:p>
            <a:pPr lvl="1">
              <a:buFont typeface="Arial" panose="020B0604020202020204" pitchFamily="34" charset="0"/>
              <a:buChar char="•"/>
            </a:pPr>
            <a:r>
              <a:rPr lang="en-US" sz="3200" dirty="0"/>
              <a:t>It has great battery life.</a:t>
            </a:r>
          </a:p>
          <a:p>
            <a:pPr lvl="1">
              <a:buFont typeface="Arial" panose="020B0604020202020204" pitchFamily="34" charset="0"/>
              <a:buChar char="•"/>
            </a:pPr>
            <a:r>
              <a:rPr lang="en-US" sz="3200" dirty="0"/>
              <a:t>The camera is excellent.</a:t>
            </a:r>
          </a:p>
          <a:p>
            <a:pPr lvl="1">
              <a:buFont typeface="Arial" panose="020B0604020202020204" pitchFamily="34" charset="0"/>
              <a:buChar char="•"/>
            </a:pPr>
            <a:r>
              <a:rPr lang="en-US" sz="3200" dirty="0"/>
              <a:t>It fits your budget.</a:t>
            </a:r>
          </a:p>
          <a:p>
            <a:pPr>
              <a:buNone/>
            </a:pPr>
            <a:r>
              <a:rPr lang="en-US" sz="3200" b="1" dirty="0"/>
              <a:t>Supporting Evidence:</a:t>
            </a:r>
            <a:endParaRPr lang="en-US" sz="3200" dirty="0"/>
          </a:p>
          <a:p>
            <a:pPr lvl="1">
              <a:buFont typeface="Arial" panose="020B0604020202020204" pitchFamily="34" charset="0"/>
              <a:buChar char="•"/>
            </a:pPr>
            <a:r>
              <a:rPr lang="en-US" sz="3200" dirty="0"/>
              <a:t>Battery lasts up to 2 days with regular use.</a:t>
            </a:r>
          </a:p>
          <a:p>
            <a:pPr lvl="1">
              <a:buFont typeface="Arial" panose="020B0604020202020204" pitchFamily="34" charset="0"/>
              <a:buChar char="•"/>
            </a:pPr>
            <a:r>
              <a:rPr lang="en-US" sz="3200" dirty="0"/>
              <a:t>Camera includes night mode and cinematic video.</a:t>
            </a:r>
          </a:p>
          <a:p>
            <a:pPr lvl="1">
              <a:buFont typeface="Arial" panose="020B0604020202020204" pitchFamily="34" charset="0"/>
              <a:buChar char="•"/>
            </a:pPr>
            <a:r>
              <a:rPr lang="en-US" sz="3200" dirty="0"/>
              <a:t>It’s currently on sale for $599.</a:t>
            </a:r>
          </a:p>
        </p:txBody>
      </p:sp>
    </p:spTree>
    <p:extLst>
      <p:ext uri="{BB962C8B-B14F-4D97-AF65-F5344CB8AC3E}">
        <p14:creationId xmlns:p14="http://schemas.microsoft.com/office/powerpoint/2010/main" val="580287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95949-7B16-5D46-7BFD-6C4C88BEC3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9D478A-6DEF-9279-B86D-CF5C60952C80}"/>
              </a:ext>
            </a:extLst>
          </p:cNvPr>
          <p:cNvSpPr txBox="1"/>
          <p:nvPr/>
        </p:nvSpPr>
        <p:spPr>
          <a:xfrm>
            <a:off x="319413" y="313152"/>
            <a:ext cx="10571967"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00000"/>
                </a:solidFill>
                <a:effectLst/>
                <a:uLnTx/>
                <a:uFillTx/>
                <a:latin typeface="Aptos" panose="02110004020202020204"/>
                <a:ea typeface="+mn-ea"/>
                <a:cs typeface="+mn-cs"/>
              </a:rPr>
              <a:t>2. Pitching a New Dinner Plan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C00000"/>
              </a:solidFill>
              <a:effectLst/>
              <a:uLnTx/>
              <a:uFillTx/>
              <a:latin typeface="Aptos" panose="02110004020202020204"/>
              <a:ea typeface="+mn-ea"/>
              <a:cs typeface="+mn-cs"/>
            </a:endParaRPr>
          </a:p>
          <a:p>
            <a:pPr>
              <a:buNone/>
            </a:pPr>
            <a:r>
              <a:rPr lang="en-US" sz="3200" b="1" dirty="0"/>
              <a:t>Main Idea:</a:t>
            </a:r>
            <a:br>
              <a:rPr lang="en-US" sz="3200" dirty="0"/>
            </a:br>
            <a:r>
              <a:rPr lang="en-US" sz="3200" dirty="0"/>
              <a:t>	</a:t>
            </a:r>
            <a:r>
              <a:rPr lang="en-US" sz="3200" i="1" dirty="0"/>
              <a:t>“Let’s have spaghetti for dinner tonight.”</a:t>
            </a:r>
          </a:p>
          <a:p>
            <a:pPr>
              <a:buNone/>
            </a:pPr>
            <a:r>
              <a:rPr lang="en-US" sz="3200" b="1" dirty="0"/>
              <a:t>Supporting Reasons:</a:t>
            </a:r>
            <a:endParaRPr lang="en-US" sz="3200" dirty="0"/>
          </a:p>
          <a:p>
            <a:pPr lvl="1">
              <a:buFont typeface="Arial" panose="020B0604020202020204" pitchFamily="34" charset="0"/>
              <a:buChar char="•"/>
            </a:pPr>
            <a:r>
              <a:rPr lang="en-US" sz="3200" dirty="0"/>
              <a:t>It’s quick and easy to make.</a:t>
            </a:r>
          </a:p>
          <a:p>
            <a:pPr lvl="1">
              <a:buFont typeface="Arial" panose="020B0604020202020204" pitchFamily="34" charset="0"/>
              <a:buChar char="•"/>
            </a:pPr>
            <a:r>
              <a:rPr lang="en-US" sz="3200" dirty="0"/>
              <a:t>We already have all the ingredients.</a:t>
            </a:r>
          </a:p>
          <a:p>
            <a:pPr lvl="1">
              <a:buFont typeface="Arial" panose="020B0604020202020204" pitchFamily="34" charset="0"/>
              <a:buChar char="•"/>
            </a:pPr>
            <a:r>
              <a:rPr lang="en-US" sz="3200" dirty="0"/>
              <a:t>Everyone in the family likes it.</a:t>
            </a:r>
          </a:p>
          <a:p>
            <a:pPr>
              <a:buNone/>
            </a:pPr>
            <a:r>
              <a:rPr lang="en-US" sz="3200" b="1" dirty="0"/>
              <a:t>Evidence:</a:t>
            </a:r>
            <a:endParaRPr lang="en-US" sz="3200" dirty="0"/>
          </a:p>
          <a:p>
            <a:pPr lvl="1">
              <a:buFont typeface="Arial" panose="020B0604020202020204" pitchFamily="34" charset="0"/>
              <a:buChar char="•"/>
            </a:pPr>
            <a:r>
              <a:rPr lang="en-US" sz="3200" dirty="0"/>
              <a:t>Takes 20 minutes to cook.</a:t>
            </a:r>
          </a:p>
          <a:p>
            <a:pPr lvl="1">
              <a:buFont typeface="Arial" panose="020B0604020202020204" pitchFamily="34" charset="0"/>
              <a:buChar char="•"/>
            </a:pPr>
            <a:r>
              <a:rPr lang="en-US" sz="3200" dirty="0"/>
              <a:t>We’ve got pasta, sauce, and ground beef.</a:t>
            </a:r>
          </a:p>
          <a:p>
            <a:pPr lvl="1">
              <a:buFont typeface="Arial" panose="020B0604020202020204" pitchFamily="34" charset="0"/>
              <a:buChar char="•"/>
            </a:pPr>
            <a:r>
              <a:rPr lang="en-US" sz="3200" dirty="0"/>
              <a:t>Kids asked for it last week.</a:t>
            </a:r>
          </a:p>
        </p:txBody>
      </p:sp>
    </p:spTree>
    <p:extLst>
      <p:ext uri="{BB962C8B-B14F-4D97-AF65-F5344CB8AC3E}">
        <p14:creationId xmlns:p14="http://schemas.microsoft.com/office/powerpoint/2010/main" val="385140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48744-70ED-5BE3-ACB1-44C1A06B2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E9AD8-9602-7AF2-BE12-CBBB6FFECC70}"/>
              </a:ext>
            </a:extLst>
          </p:cNvPr>
          <p:cNvSpPr>
            <a:spLocks noGrp="1"/>
          </p:cNvSpPr>
          <p:nvPr>
            <p:ph type="ctrTitle"/>
          </p:nvPr>
        </p:nvSpPr>
        <p:spPr>
          <a:xfrm>
            <a:off x="0" y="382775"/>
            <a:ext cx="11407588" cy="477837"/>
          </a:xfrm>
        </p:spPr>
        <p:txBody>
          <a:bodyPr>
            <a:noAutofit/>
          </a:bodyPr>
          <a:lstStyle/>
          <a:p>
            <a:r>
              <a:rPr lang="en-US" sz="3200" b="1" dirty="0"/>
              <a:t>The pyramid principle for presenting complex information</a:t>
            </a:r>
          </a:p>
        </p:txBody>
      </p:sp>
      <p:sp>
        <p:nvSpPr>
          <p:cNvPr id="3" name="Subtitle 2">
            <a:extLst>
              <a:ext uri="{FF2B5EF4-FFF2-40B4-BE49-F238E27FC236}">
                <a16:creationId xmlns:a16="http://schemas.microsoft.com/office/drawing/2014/main" id="{37C5DFFA-4B11-587D-360A-D324D4044670}"/>
              </a:ext>
            </a:extLst>
          </p:cNvPr>
          <p:cNvSpPr>
            <a:spLocks noGrp="1"/>
          </p:cNvSpPr>
          <p:nvPr>
            <p:ph type="subTitle" idx="1"/>
          </p:nvPr>
        </p:nvSpPr>
        <p:spPr>
          <a:xfrm>
            <a:off x="261097" y="999565"/>
            <a:ext cx="11720232" cy="5665693"/>
          </a:xfrm>
        </p:spPr>
        <p:txBody>
          <a:bodyPr>
            <a:normAutofit fontScale="62500" lnSpcReduction="20000"/>
          </a:bodyPr>
          <a:lstStyle/>
          <a:p>
            <a:pPr marL="457200" indent="-457200" algn="l">
              <a:lnSpc>
                <a:spcPct val="150000"/>
              </a:lnSpc>
              <a:buFont typeface="Wingdings" panose="05000000000000000000" pitchFamily="2" charset="2"/>
              <a:buChar char="n"/>
            </a:pPr>
            <a:r>
              <a:rPr lang="en-US" sz="3200" b="1" dirty="0"/>
              <a:t>Basic Structure:</a:t>
            </a:r>
          </a:p>
          <a:p>
            <a:pPr marL="457200" indent="-457200" algn="l">
              <a:lnSpc>
                <a:spcPct val="150000"/>
              </a:lnSpc>
              <a:buFont typeface="Wingdings" panose="05000000000000000000" pitchFamily="2" charset="2"/>
              <a:buChar char="n"/>
            </a:pPr>
            <a:r>
              <a:rPr lang="en-US" sz="3200" b="1" dirty="0"/>
              <a:t>1.	Top of the Pyramid – The Main Message</a:t>
            </a:r>
          </a:p>
          <a:p>
            <a:pPr lvl="1" algn="l">
              <a:lnSpc>
                <a:spcPct val="150000"/>
              </a:lnSpc>
            </a:pPr>
            <a:r>
              <a:rPr lang="en-US" sz="2800" b="1" dirty="0"/>
              <a:t>o	This is your key takeaway or recommendation.</a:t>
            </a:r>
          </a:p>
          <a:p>
            <a:pPr lvl="1" algn="l">
              <a:lnSpc>
                <a:spcPct val="150000"/>
              </a:lnSpc>
            </a:pPr>
            <a:r>
              <a:rPr lang="en-US" sz="2800" b="1" dirty="0"/>
              <a:t>o	Think of it as your answer to the audience’s implied question: “So what?”</a:t>
            </a:r>
          </a:p>
          <a:p>
            <a:pPr lvl="1" algn="l">
              <a:lnSpc>
                <a:spcPct val="150000"/>
              </a:lnSpc>
            </a:pPr>
            <a:endParaRPr lang="en-US" sz="2800" b="1" dirty="0"/>
          </a:p>
          <a:p>
            <a:pPr marL="457200" indent="-457200" algn="l">
              <a:lnSpc>
                <a:spcPct val="150000"/>
              </a:lnSpc>
              <a:buFont typeface="Wingdings" panose="05000000000000000000" pitchFamily="2" charset="2"/>
              <a:buChar char="n"/>
            </a:pPr>
            <a:r>
              <a:rPr lang="en-US" sz="3200" b="1" dirty="0"/>
              <a:t>2.	Middle – Supporting Arguments (Grouped Logically)</a:t>
            </a:r>
          </a:p>
          <a:p>
            <a:pPr lvl="1" algn="l">
              <a:lnSpc>
                <a:spcPct val="150000"/>
              </a:lnSpc>
            </a:pPr>
            <a:r>
              <a:rPr lang="en-US" sz="2800" b="1" dirty="0"/>
              <a:t>o	These are 2–4 reasons or points that support your main message.</a:t>
            </a:r>
          </a:p>
          <a:p>
            <a:pPr lvl="1" algn="l">
              <a:lnSpc>
                <a:spcPct val="150000"/>
              </a:lnSpc>
            </a:pPr>
            <a:r>
              <a:rPr lang="en-US" sz="2800" b="1" dirty="0"/>
              <a:t>o	They should be grouped in a way that makes logical sense (e.g., chronologically, by category, or by importance).</a:t>
            </a:r>
          </a:p>
          <a:p>
            <a:pPr lvl="1" algn="l">
              <a:lnSpc>
                <a:spcPct val="150000"/>
              </a:lnSpc>
            </a:pPr>
            <a:endParaRPr lang="en-US" sz="2800" b="1" dirty="0"/>
          </a:p>
          <a:p>
            <a:pPr marL="457200" indent="-457200" algn="l">
              <a:lnSpc>
                <a:spcPct val="150000"/>
              </a:lnSpc>
              <a:buFont typeface="Wingdings" panose="05000000000000000000" pitchFamily="2" charset="2"/>
              <a:buChar char="n"/>
            </a:pPr>
            <a:r>
              <a:rPr lang="en-US" sz="3200" b="1" dirty="0"/>
              <a:t>3.	Base – Evidence/Details</a:t>
            </a:r>
          </a:p>
          <a:p>
            <a:pPr lvl="1" algn="l">
              <a:lnSpc>
                <a:spcPct val="150000"/>
              </a:lnSpc>
            </a:pPr>
            <a:r>
              <a:rPr lang="en-US" sz="2800" b="1" dirty="0"/>
              <a:t>o	Here’s where you provide facts, data, and examples that back up each supporting point.</a:t>
            </a:r>
          </a:p>
          <a:p>
            <a:pPr marL="457200" indent="-457200" algn="l">
              <a:lnSpc>
                <a:spcPct val="150000"/>
              </a:lnSpc>
              <a:buFont typeface="Wingdings" panose="05000000000000000000" pitchFamily="2" charset="2"/>
              <a:buChar char="n"/>
            </a:pPr>
            <a:endParaRPr lang="en-US" sz="3200" b="1" dirty="0"/>
          </a:p>
        </p:txBody>
      </p:sp>
    </p:spTree>
    <p:extLst>
      <p:ext uri="{BB962C8B-B14F-4D97-AF65-F5344CB8AC3E}">
        <p14:creationId xmlns:p14="http://schemas.microsoft.com/office/powerpoint/2010/main" val="2141473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C56E7-0181-B073-8B17-CDDA50D05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9B346-8B2D-2192-B392-3E05E60C65F9}"/>
              </a:ext>
            </a:extLst>
          </p:cNvPr>
          <p:cNvSpPr>
            <a:spLocks noGrp="1"/>
          </p:cNvSpPr>
          <p:nvPr>
            <p:ph type="ctrTitle"/>
          </p:nvPr>
        </p:nvSpPr>
        <p:spPr>
          <a:xfrm>
            <a:off x="582706" y="2362200"/>
            <a:ext cx="11407588" cy="4204447"/>
          </a:xfrm>
        </p:spPr>
        <p:txBody>
          <a:bodyPr>
            <a:noAutofit/>
          </a:bodyPr>
          <a:lstStyle/>
          <a:p>
            <a:pPr algn="l">
              <a:lnSpc>
                <a:spcPct val="150000"/>
              </a:lnSpc>
            </a:pPr>
            <a:r>
              <a:rPr lang="en-US" sz="3200" b="1" dirty="0"/>
              <a:t>Why It Works:</a:t>
            </a:r>
            <a:br>
              <a:rPr lang="en-US" sz="3200" b="1" dirty="0"/>
            </a:br>
            <a:br>
              <a:rPr lang="en-US" sz="3200" b="1" dirty="0"/>
            </a:br>
            <a:r>
              <a:rPr lang="en-US" sz="3200" b="1" dirty="0"/>
              <a:t>•	Clarity: It forces you to clarify your thinking.</a:t>
            </a:r>
            <a:br>
              <a:rPr lang="en-US" sz="3200" b="1" dirty="0"/>
            </a:br>
            <a:br>
              <a:rPr lang="en-US" sz="3200" b="1" dirty="0"/>
            </a:br>
            <a:r>
              <a:rPr lang="en-US" sz="3200" b="1" dirty="0"/>
              <a:t>•	Efficiency: You get to the point quickly—ideal for busy 	readers or listeners.</a:t>
            </a:r>
            <a:br>
              <a:rPr lang="en-US" sz="3200" b="1" dirty="0"/>
            </a:br>
            <a:br>
              <a:rPr lang="en-US" sz="3200" b="1" dirty="0"/>
            </a:br>
            <a:r>
              <a:rPr lang="en-US" sz="3200" b="1" dirty="0"/>
              <a:t>•	Logic: It builds arguments in a way that feels natural and 	convincing.</a:t>
            </a:r>
          </a:p>
        </p:txBody>
      </p:sp>
    </p:spTree>
    <p:extLst>
      <p:ext uri="{BB962C8B-B14F-4D97-AF65-F5344CB8AC3E}">
        <p14:creationId xmlns:p14="http://schemas.microsoft.com/office/powerpoint/2010/main" val="190818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EBE3E-58BA-A6E0-44F0-93F09F872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BA456-C652-594D-499E-98E8719D5B28}"/>
              </a:ext>
            </a:extLst>
          </p:cNvPr>
          <p:cNvSpPr>
            <a:spLocks noGrp="1"/>
          </p:cNvSpPr>
          <p:nvPr>
            <p:ph type="ctrTitle"/>
          </p:nvPr>
        </p:nvSpPr>
        <p:spPr>
          <a:xfrm>
            <a:off x="0" y="382775"/>
            <a:ext cx="11407588" cy="477837"/>
          </a:xfrm>
        </p:spPr>
        <p:txBody>
          <a:bodyPr>
            <a:noAutofit/>
          </a:bodyPr>
          <a:lstStyle/>
          <a:p>
            <a:r>
              <a:rPr lang="en-US" sz="3200" b="1" dirty="0"/>
              <a:t>Example 1:</a:t>
            </a:r>
          </a:p>
        </p:txBody>
      </p:sp>
      <p:sp>
        <p:nvSpPr>
          <p:cNvPr id="3" name="Subtitle 2">
            <a:extLst>
              <a:ext uri="{FF2B5EF4-FFF2-40B4-BE49-F238E27FC236}">
                <a16:creationId xmlns:a16="http://schemas.microsoft.com/office/drawing/2014/main" id="{E598BBC8-8632-3ADA-30DF-9A43FCB5A3DD}"/>
              </a:ext>
            </a:extLst>
          </p:cNvPr>
          <p:cNvSpPr>
            <a:spLocks noGrp="1"/>
          </p:cNvSpPr>
          <p:nvPr>
            <p:ph type="subTitle" idx="1"/>
          </p:nvPr>
        </p:nvSpPr>
        <p:spPr>
          <a:xfrm>
            <a:off x="261097" y="999565"/>
            <a:ext cx="11720232" cy="5665693"/>
          </a:xfrm>
        </p:spPr>
        <p:txBody>
          <a:bodyPr>
            <a:normAutofit fontScale="77500" lnSpcReduction="20000"/>
          </a:bodyPr>
          <a:lstStyle/>
          <a:p>
            <a:pPr marL="457200" indent="-457200" algn="l">
              <a:lnSpc>
                <a:spcPct val="150000"/>
              </a:lnSpc>
              <a:buFont typeface="Wingdings" panose="05000000000000000000" pitchFamily="2" charset="2"/>
              <a:buChar char="n"/>
            </a:pPr>
            <a:r>
              <a:rPr lang="en-US" sz="3200" b="1" dirty="0"/>
              <a:t>Let’s say you’re recommending your company switch to a new software.</a:t>
            </a:r>
          </a:p>
          <a:p>
            <a:pPr marL="457200" indent="-457200" algn="l">
              <a:lnSpc>
                <a:spcPct val="150000"/>
              </a:lnSpc>
              <a:buFont typeface="Wingdings" panose="05000000000000000000" pitchFamily="2" charset="2"/>
              <a:buChar char="n"/>
            </a:pPr>
            <a:r>
              <a:rPr lang="en-US" sz="3200" b="1" dirty="0"/>
              <a:t>•	Main Message: We should adopt Software X for our project management needs.</a:t>
            </a:r>
          </a:p>
          <a:p>
            <a:pPr marL="457200" indent="-457200" algn="l">
              <a:lnSpc>
                <a:spcPct val="150000"/>
              </a:lnSpc>
              <a:buFont typeface="Wingdings" panose="05000000000000000000" pitchFamily="2" charset="2"/>
              <a:buChar char="n"/>
            </a:pPr>
            <a:r>
              <a:rPr lang="en-US" sz="3200" b="1" dirty="0"/>
              <a:t>	Support 1: It will improve team collaboration (evidence: survey data, user feedback).</a:t>
            </a:r>
          </a:p>
          <a:p>
            <a:pPr marL="457200" indent="-457200" algn="l">
              <a:lnSpc>
                <a:spcPct val="150000"/>
              </a:lnSpc>
              <a:buFont typeface="Wingdings" panose="05000000000000000000" pitchFamily="2" charset="2"/>
              <a:buChar char="n"/>
            </a:pPr>
            <a:r>
              <a:rPr lang="en-US" sz="3200" b="1" dirty="0"/>
              <a:t>	Support 2: It’s more cost-effective than our current tool (evidence: pricing comparison).</a:t>
            </a:r>
          </a:p>
          <a:p>
            <a:pPr marL="457200" indent="-457200" algn="l">
              <a:lnSpc>
                <a:spcPct val="150000"/>
              </a:lnSpc>
              <a:buFont typeface="Wingdings" panose="05000000000000000000" pitchFamily="2" charset="2"/>
              <a:buChar char="n"/>
            </a:pPr>
            <a:r>
              <a:rPr lang="en-US" sz="3200" b="1" dirty="0"/>
              <a:t>	Support 3: It integrates seamlessly with our existing systems (evidence: IT analysis).</a:t>
            </a:r>
          </a:p>
          <a:p>
            <a:pPr marL="457200" indent="-457200" algn="l">
              <a:lnSpc>
                <a:spcPct val="150000"/>
              </a:lnSpc>
              <a:buFont typeface="Wingdings" panose="05000000000000000000" pitchFamily="2" charset="2"/>
              <a:buChar char="n"/>
            </a:pPr>
            <a:endParaRPr lang="en-US" sz="3200" b="1" dirty="0"/>
          </a:p>
        </p:txBody>
      </p:sp>
    </p:spTree>
    <p:extLst>
      <p:ext uri="{BB962C8B-B14F-4D97-AF65-F5344CB8AC3E}">
        <p14:creationId xmlns:p14="http://schemas.microsoft.com/office/powerpoint/2010/main" val="3549196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626E8-0D05-DC44-8B39-C2947C787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48315-D350-4652-135F-F137E58730EB}"/>
              </a:ext>
            </a:extLst>
          </p:cNvPr>
          <p:cNvSpPr>
            <a:spLocks noGrp="1"/>
          </p:cNvSpPr>
          <p:nvPr>
            <p:ph type="ctrTitle"/>
          </p:nvPr>
        </p:nvSpPr>
        <p:spPr>
          <a:xfrm>
            <a:off x="0" y="678611"/>
            <a:ext cx="11407588" cy="477837"/>
          </a:xfrm>
        </p:spPr>
        <p:txBody>
          <a:bodyPr>
            <a:noAutofit/>
          </a:bodyPr>
          <a:lstStyle/>
          <a:p>
            <a:r>
              <a:rPr lang="en-US" sz="2800" b="1" dirty="0"/>
              <a:t>Example 2: Environmental and Ethical Aspect of Lithium –ion Batteries</a:t>
            </a:r>
            <a:br>
              <a:rPr lang="en-US" sz="2800" b="1" dirty="0"/>
            </a:br>
            <a:endParaRPr lang="en-US" sz="2800" b="1" dirty="0"/>
          </a:p>
        </p:txBody>
      </p:sp>
      <p:sp>
        <p:nvSpPr>
          <p:cNvPr id="3" name="Subtitle 2">
            <a:extLst>
              <a:ext uri="{FF2B5EF4-FFF2-40B4-BE49-F238E27FC236}">
                <a16:creationId xmlns:a16="http://schemas.microsoft.com/office/drawing/2014/main" id="{CA3394AD-556B-ED7F-49E1-203084B313A7}"/>
              </a:ext>
            </a:extLst>
          </p:cNvPr>
          <p:cNvSpPr>
            <a:spLocks noGrp="1"/>
          </p:cNvSpPr>
          <p:nvPr>
            <p:ph type="subTitle" idx="1"/>
          </p:nvPr>
        </p:nvSpPr>
        <p:spPr>
          <a:xfrm>
            <a:off x="261097" y="999565"/>
            <a:ext cx="11720232" cy="5665693"/>
          </a:xfrm>
        </p:spPr>
        <p:txBody>
          <a:bodyPr>
            <a:normAutofit/>
          </a:bodyPr>
          <a:lstStyle/>
          <a:p>
            <a:pPr marL="457200" indent="-457200" algn="l">
              <a:lnSpc>
                <a:spcPct val="150000"/>
              </a:lnSpc>
              <a:buFont typeface="Wingdings" panose="05000000000000000000" pitchFamily="2" charset="2"/>
              <a:buChar char="n"/>
            </a:pPr>
            <a:r>
              <a:rPr lang="en-US" sz="3200" b="1" dirty="0"/>
              <a:t>Top of the Pyramid – Main Message (Thesis Statement):</a:t>
            </a:r>
          </a:p>
          <a:p>
            <a:pPr marL="457200" indent="-457200" algn="l">
              <a:lnSpc>
                <a:spcPct val="150000"/>
              </a:lnSpc>
              <a:buFont typeface="Wingdings" panose="05000000000000000000" pitchFamily="2" charset="2"/>
              <a:buChar char="n"/>
            </a:pPr>
            <a:endParaRPr lang="en-US" sz="3200" b="1" dirty="0"/>
          </a:p>
          <a:p>
            <a:pPr marL="914400" lvl="1" indent="-457200" algn="l">
              <a:lnSpc>
                <a:spcPct val="150000"/>
              </a:lnSpc>
              <a:buFont typeface="Wingdings" panose="05000000000000000000" pitchFamily="2" charset="2"/>
              <a:buChar char="n"/>
            </a:pPr>
            <a:r>
              <a:rPr lang="en-US" sz="2800" b="1" dirty="0"/>
              <a:t>While lithium-ion batteries are crucial for transitioning to clean energy, they raise serious environmental and ethical concerns that must be addressed to ensure a truly sustainable future.</a:t>
            </a:r>
          </a:p>
          <a:p>
            <a:pPr marL="457200" indent="-457200" algn="l">
              <a:lnSpc>
                <a:spcPct val="150000"/>
              </a:lnSpc>
              <a:buFont typeface="Wingdings" panose="05000000000000000000" pitchFamily="2" charset="2"/>
              <a:buChar char="n"/>
            </a:pPr>
            <a:endParaRPr lang="en-US" sz="3200" b="1" dirty="0"/>
          </a:p>
        </p:txBody>
      </p:sp>
    </p:spTree>
    <p:extLst>
      <p:ext uri="{BB962C8B-B14F-4D97-AF65-F5344CB8AC3E}">
        <p14:creationId xmlns:p14="http://schemas.microsoft.com/office/powerpoint/2010/main" val="1434682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69B92-84CC-4002-C30D-2270443C4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456C2-3970-C31D-C231-CD1352FF234B}"/>
              </a:ext>
            </a:extLst>
          </p:cNvPr>
          <p:cNvSpPr>
            <a:spLocks noGrp="1"/>
          </p:cNvSpPr>
          <p:nvPr>
            <p:ph type="ctrTitle"/>
          </p:nvPr>
        </p:nvSpPr>
        <p:spPr>
          <a:xfrm>
            <a:off x="0" y="382775"/>
            <a:ext cx="11407588" cy="477837"/>
          </a:xfrm>
        </p:spPr>
        <p:txBody>
          <a:bodyPr>
            <a:noAutofit/>
          </a:bodyPr>
          <a:lstStyle/>
          <a:p>
            <a:r>
              <a:rPr lang="en-US" sz="2800" b="1" dirty="0"/>
              <a:t>Example 2: Environmental and Ethical Aspect of Lithium –ion Batteries</a:t>
            </a:r>
          </a:p>
        </p:txBody>
      </p:sp>
      <p:sp>
        <p:nvSpPr>
          <p:cNvPr id="3" name="Subtitle 2">
            <a:extLst>
              <a:ext uri="{FF2B5EF4-FFF2-40B4-BE49-F238E27FC236}">
                <a16:creationId xmlns:a16="http://schemas.microsoft.com/office/drawing/2014/main" id="{F9CFF85F-23A3-9D51-D154-C3643FCB720A}"/>
              </a:ext>
            </a:extLst>
          </p:cNvPr>
          <p:cNvSpPr>
            <a:spLocks noGrp="1"/>
          </p:cNvSpPr>
          <p:nvPr>
            <p:ph type="subTitle" idx="1"/>
          </p:nvPr>
        </p:nvSpPr>
        <p:spPr>
          <a:xfrm>
            <a:off x="261097" y="999565"/>
            <a:ext cx="11720232" cy="5665693"/>
          </a:xfrm>
        </p:spPr>
        <p:txBody>
          <a:bodyPr>
            <a:normAutofit fontScale="55000" lnSpcReduction="20000"/>
          </a:bodyPr>
          <a:lstStyle/>
          <a:p>
            <a:pPr marL="457200" indent="-457200" algn="l">
              <a:lnSpc>
                <a:spcPct val="150000"/>
              </a:lnSpc>
              <a:buFont typeface="Wingdings" panose="05000000000000000000" pitchFamily="2" charset="2"/>
              <a:buChar char="n"/>
            </a:pPr>
            <a:r>
              <a:rPr lang="en-US" sz="3200" b="1" dirty="0"/>
              <a:t> Middle of the Pyramid – Supporting Arguments (Grouped Logically):</a:t>
            </a:r>
          </a:p>
          <a:p>
            <a:pPr marL="457200" indent="-457200" algn="l">
              <a:lnSpc>
                <a:spcPct val="150000"/>
              </a:lnSpc>
              <a:buFont typeface="Wingdings" panose="05000000000000000000" pitchFamily="2" charset="2"/>
              <a:buChar char="n"/>
            </a:pPr>
            <a:r>
              <a:rPr lang="en-US" sz="3200" b="1" dirty="0"/>
              <a:t>1.	Environmental Impact of Lithium Extraction and Disposal</a:t>
            </a:r>
          </a:p>
          <a:p>
            <a:pPr marL="914400" lvl="1" indent="-457200" algn="l">
              <a:lnSpc>
                <a:spcPct val="150000"/>
              </a:lnSpc>
              <a:buFont typeface="Wingdings" panose="05000000000000000000" pitchFamily="2" charset="2"/>
              <a:buChar char="n"/>
            </a:pPr>
            <a:r>
              <a:rPr lang="en-US" sz="2800" b="1" dirty="0"/>
              <a:t>Mining for lithium consumes vast amounts of water and can lead to ecosystem destruction.</a:t>
            </a:r>
          </a:p>
          <a:p>
            <a:pPr marL="914400" lvl="1" indent="-457200" algn="l">
              <a:lnSpc>
                <a:spcPct val="150000"/>
              </a:lnSpc>
              <a:buFont typeface="Wingdings" panose="05000000000000000000" pitchFamily="2" charset="2"/>
              <a:buChar char="n"/>
            </a:pPr>
            <a:r>
              <a:rPr lang="en-US" sz="2800" b="1" dirty="0"/>
              <a:t>Battery production has a large carbon footprint.</a:t>
            </a:r>
          </a:p>
          <a:p>
            <a:pPr marL="914400" lvl="1" indent="-457200" algn="l">
              <a:lnSpc>
                <a:spcPct val="150000"/>
              </a:lnSpc>
              <a:buFont typeface="Wingdings" panose="05000000000000000000" pitchFamily="2" charset="2"/>
              <a:buChar char="n"/>
            </a:pPr>
            <a:r>
              <a:rPr lang="en-US" sz="2800" b="1" dirty="0"/>
              <a:t>Improper disposal leads to toxic waste and pollution.</a:t>
            </a:r>
          </a:p>
          <a:p>
            <a:pPr marL="457200" indent="-457200" algn="l">
              <a:lnSpc>
                <a:spcPct val="150000"/>
              </a:lnSpc>
              <a:buFont typeface="Wingdings" panose="05000000000000000000" pitchFamily="2" charset="2"/>
              <a:buChar char="n"/>
            </a:pPr>
            <a:r>
              <a:rPr lang="en-US" sz="3200" b="1" dirty="0"/>
              <a:t>2.	Ethical Concerns in the Supply Chain</a:t>
            </a:r>
          </a:p>
          <a:p>
            <a:pPr marL="914400" lvl="1" indent="-457200" algn="l">
              <a:lnSpc>
                <a:spcPct val="150000"/>
              </a:lnSpc>
              <a:buFont typeface="Wingdings" panose="05000000000000000000" pitchFamily="2" charset="2"/>
              <a:buChar char="n"/>
            </a:pPr>
            <a:r>
              <a:rPr lang="en-US" sz="2800" b="1" dirty="0"/>
              <a:t>Many raw materials (e.g., cobalt) are mined under poor labor conditions, often involving child labor.</a:t>
            </a:r>
          </a:p>
          <a:p>
            <a:pPr marL="914400" lvl="1" indent="-457200" algn="l">
              <a:lnSpc>
                <a:spcPct val="150000"/>
              </a:lnSpc>
              <a:buFont typeface="Wingdings" panose="05000000000000000000" pitchFamily="2" charset="2"/>
              <a:buChar char="n"/>
            </a:pPr>
            <a:r>
              <a:rPr lang="en-US" sz="2800" b="1" dirty="0"/>
              <a:t>There’s a lack of transparency and accountability in sourcing practices.</a:t>
            </a:r>
          </a:p>
          <a:p>
            <a:pPr marL="914400" lvl="1" indent="-457200" algn="l">
              <a:lnSpc>
                <a:spcPct val="150000"/>
              </a:lnSpc>
              <a:buFont typeface="Wingdings" panose="05000000000000000000" pitchFamily="2" charset="2"/>
              <a:buChar char="n"/>
            </a:pPr>
            <a:r>
              <a:rPr lang="en-US" sz="2800" b="1" dirty="0"/>
              <a:t>Communities near mining sites often face displacement and health hazards.</a:t>
            </a:r>
          </a:p>
          <a:p>
            <a:pPr marL="457200" indent="-457200" algn="l">
              <a:lnSpc>
                <a:spcPct val="150000"/>
              </a:lnSpc>
              <a:buFont typeface="Wingdings" panose="05000000000000000000" pitchFamily="2" charset="2"/>
              <a:buChar char="n"/>
            </a:pPr>
            <a:r>
              <a:rPr lang="en-US" sz="3200" b="1" dirty="0"/>
              <a:t>3.	Need for Regulation, Recycling, and Innovation</a:t>
            </a:r>
          </a:p>
          <a:p>
            <a:pPr marL="914400" lvl="1" indent="-457200" algn="l">
              <a:lnSpc>
                <a:spcPct val="150000"/>
              </a:lnSpc>
              <a:buFont typeface="Wingdings" panose="05000000000000000000" pitchFamily="2" charset="2"/>
              <a:buChar char="n"/>
            </a:pPr>
            <a:r>
              <a:rPr lang="en-US" sz="2800" b="1" dirty="0"/>
              <a:t>Stronger environmental and labor regulations are needed globally.</a:t>
            </a:r>
          </a:p>
          <a:p>
            <a:pPr marL="914400" lvl="1" indent="-457200" algn="l">
              <a:lnSpc>
                <a:spcPct val="150000"/>
              </a:lnSpc>
              <a:buFont typeface="Wingdings" panose="05000000000000000000" pitchFamily="2" charset="2"/>
              <a:buChar char="n"/>
            </a:pPr>
            <a:r>
              <a:rPr lang="en-US" sz="2800" b="1" dirty="0"/>
              <a:t>Battery recycling and second-life programs can reduce resource pressure.</a:t>
            </a:r>
          </a:p>
          <a:p>
            <a:pPr marL="914400" lvl="1" indent="-457200" algn="l">
              <a:lnSpc>
                <a:spcPct val="150000"/>
              </a:lnSpc>
              <a:buFont typeface="Wingdings" panose="05000000000000000000" pitchFamily="2" charset="2"/>
              <a:buChar char="n"/>
            </a:pPr>
            <a:r>
              <a:rPr lang="en-US" sz="2800" b="1" dirty="0"/>
              <a:t>Research into alternatives (like solid-state batteries or sodium-ion) could offer cleaner, more ethical solutions.</a:t>
            </a:r>
          </a:p>
          <a:p>
            <a:pPr marL="457200" indent="-457200" algn="l">
              <a:lnSpc>
                <a:spcPct val="150000"/>
              </a:lnSpc>
              <a:buFont typeface="Wingdings" panose="05000000000000000000" pitchFamily="2" charset="2"/>
              <a:buChar char="n"/>
            </a:pPr>
            <a:endParaRPr lang="en-US" sz="3200" b="1" dirty="0"/>
          </a:p>
        </p:txBody>
      </p:sp>
    </p:spTree>
    <p:extLst>
      <p:ext uri="{BB962C8B-B14F-4D97-AF65-F5344CB8AC3E}">
        <p14:creationId xmlns:p14="http://schemas.microsoft.com/office/powerpoint/2010/main" val="2497581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E5D5-14F8-E107-1CED-0881D83E6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79A4C-001B-D29E-8429-009F5299757D}"/>
              </a:ext>
            </a:extLst>
          </p:cNvPr>
          <p:cNvSpPr>
            <a:spLocks noGrp="1"/>
          </p:cNvSpPr>
          <p:nvPr>
            <p:ph type="ctrTitle"/>
          </p:nvPr>
        </p:nvSpPr>
        <p:spPr>
          <a:xfrm>
            <a:off x="0" y="382775"/>
            <a:ext cx="11407588" cy="477837"/>
          </a:xfrm>
        </p:spPr>
        <p:txBody>
          <a:bodyPr>
            <a:noAutofit/>
          </a:bodyPr>
          <a:lstStyle/>
          <a:p>
            <a:r>
              <a:rPr lang="en-US" sz="2800" b="1" dirty="0"/>
              <a:t>Example 2: Environmental and Ethical Aspect of Lithium –ion Batteries</a:t>
            </a:r>
          </a:p>
        </p:txBody>
      </p:sp>
      <p:sp>
        <p:nvSpPr>
          <p:cNvPr id="3" name="Subtitle 2">
            <a:extLst>
              <a:ext uri="{FF2B5EF4-FFF2-40B4-BE49-F238E27FC236}">
                <a16:creationId xmlns:a16="http://schemas.microsoft.com/office/drawing/2014/main" id="{A9566624-55AF-8C0E-16BA-19C586C93A0F}"/>
              </a:ext>
            </a:extLst>
          </p:cNvPr>
          <p:cNvSpPr>
            <a:spLocks noGrp="1"/>
          </p:cNvSpPr>
          <p:nvPr>
            <p:ph type="subTitle" idx="1"/>
          </p:nvPr>
        </p:nvSpPr>
        <p:spPr>
          <a:xfrm>
            <a:off x="261097" y="999565"/>
            <a:ext cx="11720232" cy="5665693"/>
          </a:xfrm>
        </p:spPr>
        <p:txBody>
          <a:bodyPr>
            <a:normAutofit fontScale="92500" lnSpcReduction="20000"/>
          </a:bodyPr>
          <a:lstStyle/>
          <a:p>
            <a:pPr algn="l">
              <a:lnSpc>
                <a:spcPct val="150000"/>
              </a:lnSpc>
            </a:pPr>
            <a:endParaRPr lang="en-US" sz="3200" b="1" dirty="0"/>
          </a:p>
          <a:p>
            <a:pPr marL="457200" indent="-457200" algn="l">
              <a:lnSpc>
                <a:spcPct val="150000"/>
              </a:lnSpc>
              <a:buFont typeface="Wingdings" panose="05000000000000000000" pitchFamily="2" charset="2"/>
              <a:buChar char="n"/>
            </a:pPr>
            <a:r>
              <a:rPr lang="en-US" sz="3200" b="1" dirty="0"/>
              <a:t>Bottom of the Pyramid – Supporting Evidence:</a:t>
            </a:r>
          </a:p>
          <a:p>
            <a:pPr marL="457200" indent="-457200" algn="l">
              <a:lnSpc>
                <a:spcPct val="150000"/>
              </a:lnSpc>
              <a:buFont typeface="Wingdings" panose="05000000000000000000" pitchFamily="2" charset="2"/>
              <a:buChar char="n"/>
            </a:pPr>
            <a:r>
              <a:rPr lang="en-US" sz="3200" b="1" dirty="0"/>
              <a:t>Each of the above points would be expanded with:</a:t>
            </a:r>
          </a:p>
          <a:p>
            <a:pPr marL="914400" lvl="1" indent="-457200" algn="l">
              <a:lnSpc>
                <a:spcPct val="150000"/>
              </a:lnSpc>
              <a:buFont typeface="Wingdings" panose="05000000000000000000" pitchFamily="2" charset="2"/>
              <a:buChar char="n"/>
            </a:pPr>
            <a:r>
              <a:rPr lang="en-US" sz="2800" b="1" dirty="0"/>
              <a:t>•	Facts and statistics (e.g., water usage in lithium triangle countries)</a:t>
            </a:r>
          </a:p>
          <a:p>
            <a:pPr marL="914400" lvl="1" indent="-457200" algn="l">
              <a:lnSpc>
                <a:spcPct val="150000"/>
              </a:lnSpc>
              <a:buFont typeface="Wingdings" panose="05000000000000000000" pitchFamily="2" charset="2"/>
              <a:buChar char="n"/>
            </a:pPr>
            <a:r>
              <a:rPr lang="en-US" sz="2800" b="1" dirty="0"/>
              <a:t>•	Case studies (e.g., cobalt mining in the DRC)</a:t>
            </a:r>
          </a:p>
          <a:p>
            <a:pPr marL="914400" lvl="1" indent="-457200" algn="l">
              <a:lnSpc>
                <a:spcPct val="150000"/>
              </a:lnSpc>
              <a:buFont typeface="Wingdings" panose="05000000000000000000" pitchFamily="2" charset="2"/>
              <a:buChar char="n"/>
            </a:pPr>
            <a:r>
              <a:rPr lang="en-US" sz="2800" b="1" dirty="0"/>
              <a:t>•	Quotations from experts or reports (e.g., Amnesty International, UN, IEA)</a:t>
            </a:r>
          </a:p>
          <a:p>
            <a:pPr marL="914400" lvl="1" indent="-457200" algn="l">
              <a:lnSpc>
                <a:spcPct val="150000"/>
              </a:lnSpc>
              <a:buFont typeface="Wingdings" panose="05000000000000000000" pitchFamily="2" charset="2"/>
              <a:buChar char="n"/>
            </a:pPr>
            <a:r>
              <a:rPr lang="en-US" sz="2800" b="1" dirty="0"/>
              <a:t>•	Graphs or charts (if it's a presentation)</a:t>
            </a:r>
          </a:p>
          <a:p>
            <a:pPr marL="457200" indent="-457200" algn="l">
              <a:lnSpc>
                <a:spcPct val="150000"/>
              </a:lnSpc>
              <a:buFont typeface="Wingdings" panose="05000000000000000000" pitchFamily="2" charset="2"/>
              <a:buChar char="n"/>
            </a:pPr>
            <a:endParaRPr lang="en-US" sz="3200" b="1" dirty="0"/>
          </a:p>
        </p:txBody>
      </p:sp>
    </p:spTree>
    <p:extLst>
      <p:ext uri="{BB962C8B-B14F-4D97-AF65-F5344CB8AC3E}">
        <p14:creationId xmlns:p14="http://schemas.microsoft.com/office/powerpoint/2010/main" val="4119297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191C68-9F1F-4673-B10A-925795F74C10}"/>
              </a:ext>
            </a:extLst>
          </p:cNvPr>
          <p:cNvPicPr>
            <a:picLocks noChangeAspect="1"/>
          </p:cNvPicPr>
          <p:nvPr/>
        </p:nvPicPr>
        <p:blipFill>
          <a:blip r:embed="rId2"/>
          <a:stretch>
            <a:fillRect/>
          </a:stretch>
        </p:blipFill>
        <p:spPr>
          <a:xfrm>
            <a:off x="93508" y="113758"/>
            <a:ext cx="6346129" cy="4861654"/>
          </a:xfrm>
          <a:prstGeom prst="rect">
            <a:avLst/>
          </a:prstGeom>
        </p:spPr>
      </p:pic>
      <p:pic>
        <p:nvPicPr>
          <p:cNvPr id="5" name="Picture 4">
            <a:extLst>
              <a:ext uri="{FF2B5EF4-FFF2-40B4-BE49-F238E27FC236}">
                <a16:creationId xmlns:a16="http://schemas.microsoft.com/office/drawing/2014/main" id="{CA2F07C3-9CF2-4717-877C-16DE86D763A0}"/>
              </a:ext>
            </a:extLst>
          </p:cNvPr>
          <p:cNvPicPr>
            <a:picLocks noChangeAspect="1"/>
          </p:cNvPicPr>
          <p:nvPr/>
        </p:nvPicPr>
        <p:blipFill>
          <a:blip r:embed="rId3"/>
          <a:stretch>
            <a:fillRect/>
          </a:stretch>
        </p:blipFill>
        <p:spPr>
          <a:xfrm>
            <a:off x="6454229" y="203404"/>
            <a:ext cx="5737771" cy="4772007"/>
          </a:xfrm>
          <a:prstGeom prst="rect">
            <a:avLst/>
          </a:prstGeom>
        </p:spPr>
      </p:pic>
    </p:spTree>
    <p:extLst>
      <p:ext uri="{BB962C8B-B14F-4D97-AF65-F5344CB8AC3E}">
        <p14:creationId xmlns:p14="http://schemas.microsoft.com/office/powerpoint/2010/main" val="121350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E7300A-64F3-4E12-8927-D68DB8630400}"/>
              </a:ext>
            </a:extLst>
          </p:cNvPr>
          <p:cNvPicPr>
            <a:picLocks noChangeAspect="1"/>
          </p:cNvPicPr>
          <p:nvPr/>
        </p:nvPicPr>
        <p:blipFill>
          <a:blip r:embed="rId2"/>
          <a:stretch>
            <a:fillRect/>
          </a:stretch>
        </p:blipFill>
        <p:spPr>
          <a:xfrm>
            <a:off x="2953386" y="0"/>
            <a:ext cx="6285227" cy="6858000"/>
          </a:xfrm>
          <a:prstGeom prst="rect">
            <a:avLst/>
          </a:prstGeom>
        </p:spPr>
      </p:pic>
    </p:spTree>
    <p:extLst>
      <p:ext uri="{BB962C8B-B14F-4D97-AF65-F5344CB8AC3E}">
        <p14:creationId xmlns:p14="http://schemas.microsoft.com/office/powerpoint/2010/main" val="2959204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16DE8E-ED30-4388-9ED9-7447B7E8D9A9}"/>
              </a:ext>
            </a:extLst>
          </p:cNvPr>
          <p:cNvPicPr>
            <a:picLocks noChangeAspect="1"/>
          </p:cNvPicPr>
          <p:nvPr/>
        </p:nvPicPr>
        <p:blipFill>
          <a:blip r:embed="rId2"/>
          <a:stretch>
            <a:fillRect/>
          </a:stretch>
        </p:blipFill>
        <p:spPr>
          <a:xfrm>
            <a:off x="3642563" y="0"/>
            <a:ext cx="4906874" cy="6858000"/>
          </a:xfrm>
          <a:prstGeom prst="rect">
            <a:avLst/>
          </a:prstGeom>
        </p:spPr>
      </p:pic>
    </p:spTree>
    <p:extLst>
      <p:ext uri="{BB962C8B-B14F-4D97-AF65-F5344CB8AC3E}">
        <p14:creationId xmlns:p14="http://schemas.microsoft.com/office/powerpoint/2010/main" val="3635970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algn="l"/>
            <a:r>
              <a:rPr lang="en-US" sz="4800" b="1" dirty="0"/>
              <a:t>What is scientific writing? </a:t>
            </a:r>
            <a:br>
              <a:rPr lang="en-US" sz="4800" b="1" dirty="0"/>
            </a:br>
            <a:br>
              <a:rPr lang="en-US" sz="4800" b="1" dirty="0"/>
            </a:br>
            <a:r>
              <a:rPr lang="en-US" sz="4800" b="1" dirty="0"/>
              <a:t>Scientific writing is not just writing about science.</a:t>
            </a:r>
            <a:br>
              <a:rPr lang="en-US" sz="4800" b="1" dirty="0"/>
            </a:br>
            <a:br>
              <a:rPr lang="en-US" sz="4800" b="1" dirty="0"/>
            </a:br>
            <a:r>
              <a:rPr lang="en-US" sz="4800" b="1" dirty="0"/>
              <a:t>Scientific writing is a type of technical writing 	that researchers and scientists write about 	their studies and share it with others.</a:t>
            </a:r>
            <a:br>
              <a:rPr lang="en-US" sz="4800" b="1" dirty="0"/>
            </a:br>
            <a:endParaRPr lang="en-US" sz="4800" b="1" dirty="0"/>
          </a:p>
        </p:txBody>
      </p:sp>
      <p:sp>
        <p:nvSpPr>
          <p:cNvPr id="5" name="TextBox 4">
            <a:extLst>
              <a:ext uri="{FF2B5EF4-FFF2-40B4-BE49-F238E27FC236}">
                <a16:creationId xmlns:a16="http://schemas.microsoft.com/office/drawing/2014/main" id="{6C592154-E916-4B38-89D9-3E0CB3DE9A93}"/>
              </a:ext>
            </a:extLst>
          </p:cNvPr>
          <p:cNvSpPr txBox="1"/>
          <p:nvPr/>
        </p:nvSpPr>
        <p:spPr>
          <a:xfrm>
            <a:off x="71437" y="6072876"/>
            <a:ext cx="12120563" cy="846386"/>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1" u="none" strike="noStrike" kern="1200" cap="none" spc="0" normalizeH="0" baseline="0" noProof="0" dirty="0">
                <a:ln>
                  <a:noFill/>
                </a:ln>
                <a:solidFill>
                  <a:srgbClr val="424240"/>
                </a:solidFill>
                <a:effectLst/>
                <a:uLnTx/>
                <a:uFillTx/>
                <a:latin typeface="Gotham SSm A"/>
                <a:ea typeface="+mn-ea"/>
                <a:cs typeface="+mn-cs"/>
              </a:rPr>
              <a:t>This is a summary of an interview with Dr. Rick Lombardo from the Office of Graduate Studies of University of Nebraska-Lincoln </a:t>
            </a:r>
            <a:r>
              <a:rPr kumimoji="0" lang="en-US" sz="1400" b="1" i="0" u="none" strike="noStrike" kern="1200" cap="none" spc="0" normalizeH="0" baseline="0" noProof="0" dirty="0">
                <a:ln>
                  <a:noFill/>
                </a:ln>
                <a:solidFill>
                  <a:prstClr val="black"/>
                </a:solidFill>
                <a:effectLst/>
                <a:uLnTx/>
                <a:uFillTx/>
                <a:latin typeface="Calibri"/>
                <a:ea typeface="+mn-ea"/>
                <a:cs typeface="+mn-cs"/>
                <a:hlinkClick r:id="rId2"/>
              </a:rPr>
              <a:t>https://www.unl.edu/gradstudies/connections/scientific-writing</a:t>
            </a: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6559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marL="685800" indent="-685800" algn="l">
              <a:buFont typeface="Wingdings" panose="05000000000000000000" pitchFamily="2" charset="2"/>
              <a:buChar char="Ø"/>
            </a:pPr>
            <a:r>
              <a:rPr lang="en-US" sz="4800" b="1" dirty="0"/>
              <a:t> Scientific writing must reflect the same precision of the research process. </a:t>
            </a:r>
            <a:br>
              <a:rPr lang="en-US" sz="4800" b="1" dirty="0"/>
            </a:br>
            <a:br>
              <a:rPr lang="en-US" sz="4800" b="1" dirty="0"/>
            </a:br>
            <a:r>
              <a:rPr lang="en-US" sz="4800" b="1" dirty="0"/>
              <a:t>Scientific communication demands:</a:t>
            </a:r>
            <a:br>
              <a:rPr lang="en-US" sz="4800" b="1" dirty="0"/>
            </a:br>
            <a:r>
              <a:rPr lang="en-US" sz="4800" b="1" dirty="0"/>
              <a:t>	</a:t>
            </a:r>
            <a:br>
              <a:rPr lang="en-US" sz="4800" b="1" dirty="0"/>
            </a:br>
            <a:r>
              <a:rPr lang="en-US" sz="4800" b="1" dirty="0"/>
              <a:t>	- Precision </a:t>
            </a:r>
            <a:br>
              <a:rPr lang="en-US" sz="4800" b="1" dirty="0"/>
            </a:br>
            <a:r>
              <a:rPr lang="en-US" sz="4800" b="1" dirty="0"/>
              <a:t>		- the precise use of words and phrases</a:t>
            </a:r>
            <a:br>
              <a:rPr lang="en-US" sz="4800" b="1" dirty="0"/>
            </a:br>
            <a:r>
              <a:rPr lang="en-US" sz="4800" b="1" dirty="0"/>
              <a:t> 	- Clarity, and </a:t>
            </a:r>
            <a:br>
              <a:rPr lang="en-US" sz="4800" b="1" dirty="0"/>
            </a:br>
            <a:r>
              <a:rPr lang="en-US" sz="4800" b="1" dirty="0"/>
              <a:t>	- Economy</a:t>
            </a:r>
          </a:p>
        </p:txBody>
      </p:sp>
    </p:spTree>
    <p:extLst>
      <p:ext uri="{BB962C8B-B14F-4D97-AF65-F5344CB8AC3E}">
        <p14:creationId xmlns:p14="http://schemas.microsoft.com/office/powerpoint/2010/main" val="521022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08DEC19-9522-437A-83C1-8883B66A9643}"/>
              </a:ext>
            </a:extLst>
          </p:cNvPr>
          <p:cNvGraphicFramePr>
            <a:graphicFrameLocks noGrp="1"/>
          </p:cNvGraphicFramePr>
          <p:nvPr/>
        </p:nvGraphicFramePr>
        <p:xfrm>
          <a:off x="53219" y="319315"/>
          <a:ext cx="12100076" cy="6125028"/>
        </p:xfrm>
        <a:graphic>
          <a:graphicData uri="http://schemas.openxmlformats.org/drawingml/2006/table">
            <a:tbl>
              <a:tblPr firstRow="1" firstCol="1" bandRow="1"/>
              <a:tblGrid>
                <a:gridCol w="6050038">
                  <a:extLst>
                    <a:ext uri="{9D8B030D-6E8A-4147-A177-3AD203B41FA5}">
                      <a16:colId xmlns:a16="http://schemas.microsoft.com/office/drawing/2014/main" val="755126098"/>
                    </a:ext>
                  </a:extLst>
                </a:gridCol>
                <a:gridCol w="6050038">
                  <a:extLst>
                    <a:ext uri="{9D8B030D-6E8A-4147-A177-3AD203B41FA5}">
                      <a16:colId xmlns:a16="http://schemas.microsoft.com/office/drawing/2014/main" val="4180836493"/>
                    </a:ext>
                  </a:extLst>
                </a:gridCol>
              </a:tblGrid>
              <a:tr h="632018">
                <a:tc>
                  <a:txBody>
                    <a:bodyPr/>
                    <a:lstStyle/>
                    <a:p>
                      <a:pPr marL="0" marR="0">
                        <a:lnSpc>
                          <a:spcPct val="107000"/>
                        </a:lnSpc>
                        <a:spcBef>
                          <a:spcPts val="0"/>
                        </a:spcBef>
                        <a:spcAft>
                          <a:spcPts val="0"/>
                        </a:spcAft>
                      </a:pPr>
                      <a:r>
                        <a:rPr lang="en-US" sz="3200" b="1" dirty="0">
                          <a:solidFill>
                            <a:schemeClr val="accent6">
                              <a:lumMod val="50000"/>
                            </a:schemeClr>
                          </a:solidFill>
                          <a:effectLst/>
                          <a:latin typeface="Times New Roman" panose="02020603050405020304" pitchFamily="18" charset="0"/>
                          <a:ea typeface="Times New Roman" panose="02020603050405020304" pitchFamily="18" charset="0"/>
                          <a:cs typeface="Arial" panose="020B0604020202020204" pitchFamily="34" charset="0"/>
                        </a:rPr>
                        <a:t>Technical Writing</a:t>
                      </a:r>
                      <a:endParaRPr lang="en-US" sz="3200" b="1" dirty="0">
                        <a:solidFill>
                          <a:schemeClr val="accent6">
                            <a:lumMod val="5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3200" b="1"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Academic/Scientific Writing </a:t>
                      </a:r>
                      <a:endParaRPr lang="en-US" sz="3200" b="1"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637230534"/>
                  </a:ext>
                </a:extLst>
              </a:tr>
              <a:tr h="3630888">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Technical writing focuses on providing detailed and simple information about the product or service.</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Academic writing focuses on proving a theory or viewpoint in one way or the other and emphasizes upon one specific subject.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extLst>
                  <a:ext uri="{0D108BD9-81ED-4DB2-BD59-A6C34878D82A}">
                    <a16:rowId xmlns:a16="http://schemas.microsoft.com/office/drawing/2014/main" val="2405921577"/>
                  </a:ext>
                </a:extLst>
              </a:tr>
              <a:tr h="1862122">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Technical writing contains factual and straight forward content.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Academic writing contains contents on specific discipline or field.</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extLst>
                  <a:ext uri="{0D108BD9-81ED-4DB2-BD59-A6C34878D82A}">
                    <a16:rowId xmlns:a16="http://schemas.microsoft.com/office/drawing/2014/main" val="2404400943"/>
                  </a:ext>
                </a:extLst>
              </a:tr>
            </a:tbl>
          </a:graphicData>
        </a:graphic>
      </p:graphicFrame>
      <p:cxnSp>
        <p:nvCxnSpPr>
          <p:cNvPr id="6" name="Straight Connector 5">
            <a:extLst>
              <a:ext uri="{FF2B5EF4-FFF2-40B4-BE49-F238E27FC236}">
                <a16:creationId xmlns:a16="http://schemas.microsoft.com/office/drawing/2014/main" id="{B601AE8D-082F-479A-B7B0-58CC91C3E3E9}"/>
              </a:ext>
            </a:extLst>
          </p:cNvPr>
          <p:cNvCxnSpPr/>
          <p:nvPr/>
        </p:nvCxnSpPr>
        <p:spPr>
          <a:xfrm>
            <a:off x="5883124" y="469295"/>
            <a:ext cx="0" cy="5849257"/>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866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B601AE8D-082F-479A-B7B0-58CC91C3E3E9}"/>
              </a:ext>
            </a:extLst>
          </p:cNvPr>
          <p:cNvCxnSpPr>
            <a:cxnSpLocks/>
          </p:cNvCxnSpPr>
          <p:nvPr/>
        </p:nvCxnSpPr>
        <p:spPr>
          <a:xfrm flipH="1">
            <a:off x="5936343" y="469295"/>
            <a:ext cx="33867" cy="584925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3B119616-04D4-4D78-82D5-070FAC879B93}"/>
              </a:ext>
            </a:extLst>
          </p:cNvPr>
          <p:cNvGraphicFramePr>
            <a:graphicFrameLocks noGrp="1"/>
          </p:cNvGraphicFramePr>
          <p:nvPr/>
        </p:nvGraphicFramePr>
        <p:xfrm>
          <a:off x="106437" y="725714"/>
          <a:ext cx="12017830" cy="5757334"/>
        </p:xfrm>
        <a:graphic>
          <a:graphicData uri="http://schemas.openxmlformats.org/drawingml/2006/table">
            <a:tbl>
              <a:tblPr firstRow="1" firstCol="1" bandRow="1"/>
              <a:tblGrid>
                <a:gridCol w="6008915">
                  <a:extLst>
                    <a:ext uri="{9D8B030D-6E8A-4147-A177-3AD203B41FA5}">
                      <a16:colId xmlns:a16="http://schemas.microsoft.com/office/drawing/2014/main" val="1894107875"/>
                    </a:ext>
                  </a:extLst>
                </a:gridCol>
                <a:gridCol w="6008915">
                  <a:extLst>
                    <a:ext uri="{9D8B030D-6E8A-4147-A177-3AD203B41FA5}">
                      <a16:colId xmlns:a16="http://schemas.microsoft.com/office/drawing/2014/main" val="60002049"/>
                    </a:ext>
                  </a:extLst>
                </a:gridCol>
              </a:tblGrid>
              <a:tr h="1452642">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Own or personal point views are not included.</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Own or personal point of view may be included.</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extLst>
                  <a:ext uri="{0D108BD9-81ED-4DB2-BD59-A6C34878D82A}">
                    <a16:rowId xmlns:a16="http://schemas.microsoft.com/office/drawing/2014/main" val="3130237177"/>
                  </a:ext>
                </a:extLst>
              </a:tr>
              <a:tr h="1866068">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Its purpose is getting something done.</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tc>
                  <a:txBody>
                    <a:bodyPr/>
                    <a:lstStyle/>
                    <a:p>
                      <a:pPr marL="0" marR="0">
                        <a:lnSpc>
                          <a:spcPct val="107000"/>
                        </a:lnSpc>
                        <a:spcBef>
                          <a:spcPts val="0"/>
                        </a:spcBef>
                        <a:spcAft>
                          <a:spcPts val="0"/>
                        </a:spcAft>
                      </a:pPr>
                      <a:r>
                        <a:rPr lang="en-US" sz="3200">
                          <a:effectLst/>
                          <a:latin typeface="Times New Roman" panose="02020603050405020304" pitchFamily="18" charset="0"/>
                          <a:ea typeface="Times New Roman" panose="02020603050405020304" pitchFamily="18" charset="0"/>
                          <a:cs typeface="Arial" panose="020B0604020202020204" pitchFamily="34" charset="0"/>
                        </a:rPr>
                        <a:t>Its purposes is to demonstrate what a person knows.</a:t>
                      </a:r>
                      <a:endParaRPr lang="en-US" sz="320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extLst>
                  <a:ext uri="{0D108BD9-81ED-4DB2-BD59-A6C34878D82A}">
                    <a16:rowId xmlns:a16="http://schemas.microsoft.com/office/drawing/2014/main" val="2820108810"/>
                  </a:ext>
                </a:extLst>
              </a:tr>
              <a:tr h="2438624">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In technical writing the </a:t>
                      </a:r>
                      <a:r>
                        <a:rPr lang="en-US" sz="3200" u="sng" dirty="0">
                          <a:effectLst/>
                          <a:latin typeface="Times New Roman" panose="02020603050405020304" pitchFamily="18" charset="0"/>
                          <a:ea typeface="Times New Roman" panose="02020603050405020304" pitchFamily="18" charset="0"/>
                          <a:cs typeface="Arial" panose="020B0604020202020204" pitchFamily="34" charset="0"/>
                        </a:rPr>
                        <a:t>knowledge</a:t>
                      </a:r>
                      <a:r>
                        <a:rPr lang="en-US" sz="3200" dirty="0">
                          <a:effectLst/>
                          <a:latin typeface="Times New Roman" panose="02020603050405020304" pitchFamily="18" charset="0"/>
                          <a:ea typeface="Times New Roman" panose="02020603050405020304" pitchFamily="18" charset="0"/>
                          <a:cs typeface="Arial" panose="020B0604020202020204" pitchFamily="34" charset="0"/>
                        </a:rPr>
                        <a:t> of topic is </a:t>
                      </a:r>
                      <a:r>
                        <a:rPr lang="en-US" sz="3200" u="sng" dirty="0">
                          <a:effectLst/>
                          <a:latin typeface="Times New Roman" panose="02020603050405020304" pitchFamily="18" charset="0"/>
                          <a:ea typeface="Times New Roman" panose="02020603050405020304" pitchFamily="18" charset="0"/>
                          <a:cs typeface="Arial" panose="020B0604020202020204" pitchFamily="34" charset="0"/>
                        </a:rPr>
                        <a:t>more than the reader </a:t>
                      </a:r>
                      <a:r>
                        <a:rPr lang="en-US" sz="3200" dirty="0">
                          <a:effectLst/>
                          <a:latin typeface="Times New Roman" panose="02020603050405020304" pitchFamily="18" charset="0"/>
                          <a:ea typeface="Times New Roman" panose="02020603050405020304" pitchFamily="18" charset="0"/>
                          <a:cs typeface="Arial" panose="020B0604020202020204" pitchFamily="34" charset="0"/>
                        </a:rPr>
                        <a:t>who is going through it.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tc>
                  <a:txBody>
                    <a:bodyPr/>
                    <a:lstStyle/>
                    <a:p>
                      <a:pPr marL="0" marR="0">
                        <a:lnSpc>
                          <a:spcPct val="107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Arial" panose="020B0604020202020204" pitchFamily="34" charset="0"/>
                        </a:rPr>
                        <a:t>In academic writing the knowledge of topic is less than the teacher who is evaluating the topic.</a:t>
                      </a:r>
                      <a:endParaRPr lang="en-US" sz="3200" dirty="0">
                        <a:effectLst/>
                        <a:latin typeface="Calibri" panose="020F0502020204030204" pitchFamily="34" charset="0"/>
                        <a:ea typeface="Calibri" panose="020F0502020204030204" pitchFamily="34" charset="0"/>
                        <a:cs typeface="Arial" panose="020B0604020202020204" pitchFamily="34" charset="0"/>
                      </a:endParaRPr>
                    </a:p>
                  </a:txBody>
                  <a:tcPr marL="95250" marR="95250" marT="133350" marB="133350" anchor="b">
                    <a:lnL>
                      <a:noFill/>
                    </a:lnL>
                    <a:lnR>
                      <a:noFill/>
                    </a:lnR>
                    <a:lnT>
                      <a:noFill/>
                    </a:lnT>
                    <a:lnB>
                      <a:noFill/>
                    </a:lnB>
                  </a:tcPr>
                </a:tc>
                <a:extLst>
                  <a:ext uri="{0D108BD9-81ED-4DB2-BD59-A6C34878D82A}">
                    <a16:rowId xmlns:a16="http://schemas.microsoft.com/office/drawing/2014/main" val="2801359553"/>
                  </a:ext>
                </a:extLst>
              </a:tr>
            </a:tbl>
          </a:graphicData>
        </a:graphic>
      </p:graphicFrame>
      <p:sp>
        <p:nvSpPr>
          <p:cNvPr id="9" name="TextBox 8">
            <a:extLst>
              <a:ext uri="{FF2B5EF4-FFF2-40B4-BE49-F238E27FC236}">
                <a16:creationId xmlns:a16="http://schemas.microsoft.com/office/drawing/2014/main" id="{A19AF628-8113-4026-A85C-1EF5B3351FC8}"/>
              </a:ext>
            </a:extLst>
          </p:cNvPr>
          <p:cNvSpPr txBox="1"/>
          <p:nvPr/>
        </p:nvSpPr>
        <p:spPr>
          <a:xfrm>
            <a:off x="256211" y="245925"/>
            <a:ext cx="343747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70AD47">
                    <a:lumMod val="50000"/>
                  </a:srgbClr>
                </a:solidFill>
                <a:effectLst/>
                <a:uLnTx/>
                <a:uFillTx/>
                <a:latin typeface="Times New Roman" panose="02020603050405020304" pitchFamily="18" charset="0"/>
                <a:ea typeface="+mn-ea"/>
                <a:cs typeface="Times New Roman" panose="02020603050405020304" pitchFamily="18" charset="0"/>
              </a:rPr>
              <a:t>Technical Writing </a:t>
            </a:r>
          </a:p>
        </p:txBody>
      </p:sp>
      <p:sp>
        <p:nvSpPr>
          <p:cNvPr id="10" name="TextBox 9">
            <a:extLst>
              <a:ext uri="{FF2B5EF4-FFF2-40B4-BE49-F238E27FC236}">
                <a16:creationId xmlns:a16="http://schemas.microsoft.com/office/drawing/2014/main" id="{BAB96813-F54C-4F55-B049-9586CA74FF70}"/>
              </a:ext>
            </a:extLst>
          </p:cNvPr>
          <p:cNvSpPr txBox="1"/>
          <p:nvPr/>
        </p:nvSpPr>
        <p:spPr>
          <a:xfrm>
            <a:off x="6282059" y="245925"/>
            <a:ext cx="36002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Academic  Writing </a:t>
            </a:r>
          </a:p>
        </p:txBody>
      </p:sp>
    </p:spTree>
    <p:extLst>
      <p:ext uri="{BB962C8B-B14F-4D97-AF65-F5344CB8AC3E}">
        <p14:creationId xmlns:p14="http://schemas.microsoft.com/office/powerpoint/2010/main" val="2212044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534B52-7D49-4B21-A34F-3D5A7F794A5B}"/>
              </a:ext>
            </a:extLst>
          </p:cNvPr>
          <p:cNvSpPr txBox="1"/>
          <p:nvPr/>
        </p:nvSpPr>
        <p:spPr>
          <a:xfrm>
            <a:off x="139147" y="64605"/>
            <a:ext cx="11767929" cy="6370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Rules for Scientific Writing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Interest, inform, and persuade the reader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Write for your reader and </a:t>
            </a:r>
            <a:r>
              <a:rPr kumimoji="0" lang="en-US" sz="2400" b="1" i="0" u="none" strike="noStrike" kern="1200" cap="none" spc="0" normalizeH="0" baseline="0" noProof="0" dirty="0">
                <a:ln>
                  <a:noFill/>
                </a:ln>
                <a:solidFill>
                  <a:srgbClr val="C00000"/>
                </a:solidFill>
                <a:effectLst/>
                <a:uLnTx/>
                <a:uFillTx/>
                <a:latin typeface="Calibri"/>
                <a:ea typeface="+mn-ea"/>
                <a:cs typeface="+mn-cs"/>
              </a:rPr>
              <a:t>write clearly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Eliminate unnecessary </a:t>
            </a:r>
            <a:r>
              <a:rPr kumimoji="0" lang="en-US" sz="2400" b="0" i="0" u="none" strike="noStrike" kern="1200" cap="none" spc="0" normalizeH="0" baseline="0" noProof="0" dirty="0">
                <a:ln>
                  <a:noFill/>
                </a:ln>
                <a:solidFill>
                  <a:srgbClr val="C00000"/>
                </a:solidFill>
                <a:effectLst/>
                <a:uLnTx/>
                <a:uFillTx/>
                <a:latin typeface="Calibri"/>
                <a:ea typeface="+mn-ea"/>
                <a:cs typeface="+mn-cs"/>
              </a:rPr>
              <a:t>redundancy </a:t>
            </a: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Don't over explain and avoid overstatement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Use </a:t>
            </a:r>
            <a:r>
              <a:rPr kumimoji="0" lang="en-US" sz="2400" b="0" i="0" u="none" strike="noStrike" kern="1200" cap="none" spc="0" normalizeH="0" baseline="0" noProof="0" dirty="0">
                <a:ln>
                  <a:noFill/>
                </a:ln>
                <a:solidFill>
                  <a:srgbClr val="C00000"/>
                </a:solidFill>
                <a:effectLst/>
                <a:uLnTx/>
                <a:uFillTx/>
                <a:latin typeface="Calibri"/>
                <a:ea typeface="+mn-ea"/>
                <a:cs typeface="+mn-cs"/>
              </a:rPr>
              <a:t>consistent tenses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Use the </a:t>
            </a:r>
            <a:r>
              <a:rPr kumimoji="0" lang="en-US" sz="2400" b="0" i="0" u="none" strike="noStrike" kern="1200" cap="none" spc="0" normalizeH="0" baseline="0" noProof="0" dirty="0">
                <a:ln>
                  <a:noFill/>
                </a:ln>
                <a:solidFill>
                  <a:srgbClr val="C00000"/>
                </a:solidFill>
                <a:effectLst/>
                <a:uLnTx/>
                <a:uFillTx/>
                <a:latin typeface="Calibri"/>
                <a:ea typeface="+mn-ea"/>
                <a:cs typeface="+mn-cs"/>
              </a:rPr>
              <a:t>precise word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a:ln>
                  <a:noFill/>
                </a:ln>
                <a:solidFill>
                  <a:srgbClr val="C00000"/>
                </a:solidFill>
                <a:effectLst/>
                <a:uLnTx/>
                <a:uFillTx/>
                <a:latin typeface="Calibri"/>
                <a:ea typeface="+mn-ea"/>
                <a:cs typeface="+mn-cs"/>
              </a:rPr>
              <a:t>Simpler words </a:t>
            </a:r>
            <a:r>
              <a:rPr kumimoji="0" lang="en-US" sz="2400" b="0" i="0" u="none" strike="noStrike" kern="1200" cap="none" spc="0" normalizeH="0" baseline="0" noProof="0" dirty="0">
                <a:ln>
                  <a:noFill/>
                </a:ln>
                <a:solidFill>
                  <a:prstClr val="black"/>
                </a:solidFill>
                <a:effectLst/>
                <a:uLnTx/>
                <a:uFillTx/>
                <a:latin typeface="Calibri"/>
                <a:ea typeface="+mn-ea"/>
                <a:cs typeface="+mn-cs"/>
              </a:rPr>
              <a:t>are preferred over complex words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a:ln>
                  <a:noFill/>
                </a:ln>
                <a:solidFill>
                  <a:srgbClr val="C00000"/>
                </a:solidFill>
                <a:effectLst/>
                <a:uLnTx/>
                <a:uFillTx/>
                <a:latin typeface="Calibri"/>
                <a:ea typeface="+mn-ea"/>
                <a:cs typeface="+mn-cs"/>
              </a:rPr>
              <a:t>Simpler sentences </a:t>
            </a:r>
            <a:r>
              <a:rPr kumimoji="0" lang="en-US" sz="2400" b="0" i="0" u="none" strike="noStrike" kern="1200" cap="none" spc="0" normalizeH="0" baseline="0" noProof="0" dirty="0">
                <a:ln>
                  <a:noFill/>
                </a:ln>
                <a:solidFill>
                  <a:prstClr val="black"/>
                </a:solidFill>
                <a:effectLst/>
                <a:uLnTx/>
                <a:uFillTx/>
                <a:latin typeface="Calibri"/>
                <a:ea typeface="+mn-ea"/>
                <a:cs typeface="+mn-cs"/>
              </a:rPr>
              <a:t>are preferred over more complicated sentences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Use the </a:t>
            </a:r>
            <a:r>
              <a:rPr kumimoji="0" lang="en-US" sz="2400" b="0" i="0" u="none" strike="noStrike" kern="1200" cap="none" spc="0" normalizeH="0" baseline="0" noProof="0" dirty="0">
                <a:ln>
                  <a:noFill/>
                </a:ln>
                <a:solidFill>
                  <a:srgbClr val="C00000"/>
                </a:solidFill>
                <a:effectLst/>
                <a:uLnTx/>
                <a:uFillTx/>
                <a:latin typeface="Calibri"/>
                <a:ea typeface="+mn-ea"/>
                <a:cs typeface="+mn-cs"/>
              </a:rPr>
              <a:t>active voice </a:t>
            </a:r>
            <a:r>
              <a:rPr kumimoji="0" lang="en-US" sz="2400" b="0" i="0" u="none" strike="noStrike" kern="1200" cap="none" spc="0" normalizeH="0" baseline="0" noProof="0" dirty="0">
                <a:ln>
                  <a:noFill/>
                </a:ln>
                <a:solidFill>
                  <a:prstClr val="black"/>
                </a:solidFill>
                <a:effectLst/>
                <a:uLnTx/>
                <a:uFillTx/>
                <a:latin typeface="Calibri"/>
                <a:ea typeface="+mn-ea"/>
                <a:cs typeface="+mn-cs"/>
              </a:rPr>
              <a:t>(except generally in methods)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Make sure the subject and verb agree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Use affirmative rather than negative constructions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Avoid use of the indefinite "this"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Use transitions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a:ln>
                  <a:noFill/>
                </a:ln>
                <a:solidFill>
                  <a:srgbClr val="C00000"/>
                </a:solidFill>
                <a:effectLst/>
                <a:uLnTx/>
                <a:uFillTx/>
                <a:latin typeface="Calibri"/>
                <a:ea typeface="+mn-ea"/>
                <a:cs typeface="+mn-cs"/>
              </a:rPr>
              <a:t>Cite sources </a:t>
            </a:r>
            <a:r>
              <a:rPr kumimoji="0" lang="en-US" sz="2400" b="0" i="0" u="none" strike="noStrike" kern="1200" cap="none" spc="0" normalizeH="0" baseline="0" noProof="0" dirty="0">
                <a:ln>
                  <a:noFill/>
                </a:ln>
                <a:solidFill>
                  <a:prstClr val="black"/>
                </a:solidFill>
                <a:effectLst/>
                <a:uLnTx/>
                <a:uFillTx/>
                <a:latin typeface="Calibri"/>
                <a:ea typeface="+mn-ea"/>
                <a:cs typeface="+mn-cs"/>
              </a:rPr>
              <a:t>as well as findings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sz="2400" b="0" i="0" u="none" strike="noStrike" kern="1200" cap="none" spc="0" normalizeH="0" baseline="0" noProof="0" dirty="0">
                <a:ln>
                  <a:noFill/>
                </a:ln>
                <a:solidFill>
                  <a:srgbClr val="C00000"/>
                </a:solidFill>
                <a:effectLst/>
                <a:uLnTx/>
                <a:uFillTx/>
                <a:latin typeface="Calibri"/>
                <a:ea typeface="+mn-ea"/>
                <a:cs typeface="+mn-cs"/>
              </a:rPr>
              <a:t>Proofread</a:t>
            </a:r>
            <a:r>
              <a:rPr kumimoji="0" lang="en-US" sz="2400" b="0" i="0" u="none" strike="noStrike" kern="1200" cap="none" spc="0" normalizeH="0" baseline="0" noProof="0" dirty="0">
                <a:ln>
                  <a:noFill/>
                </a:ln>
                <a:solidFill>
                  <a:prstClr val="black"/>
                </a:solidFill>
                <a:effectLst/>
                <a:uLnTx/>
                <a:uFillTx/>
                <a:latin typeface="Calibri"/>
                <a:ea typeface="+mn-ea"/>
                <a:cs typeface="+mn-cs"/>
              </a:rPr>
              <a:t> your paper carefully; spell check does not catch everything; "there" is spelled 	correctly but not if you meant "their" </a:t>
            </a:r>
          </a:p>
        </p:txBody>
      </p:sp>
    </p:spTree>
    <p:extLst>
      <p:ext uri="{BB962C8B-B14F-4D97-AF65-F5344CB8AC3E}">
        <p14:creationId xmlns:p14="http://schemas.microsoft.com/office/powerpoint/2010/main" val="90842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618F13-C10C-D2AA-5BDD-A11BF0B42A2F}"/>
              </a:ext>
            </a:extLst>
          </p:cNvPr>
          <p:cNvPicPr>
            <a:picLocks noChangeAspect="1"/>
          </p:cNvPicPr>
          <p:nvPr/>
        </p:nvPicPr>
        <p:blipFill>
          <a:blip r:embed="rId2"/>
          <a:stretch>
            <a:fillRect/>
          </a:stretch>
        </p:blipFill>
        <p:spPr>
          <a:xfrm>
            <a:off x="603741" y="0"/>
            <a:ext cx="9841522" cy="6815207"/>
          </a:xfrm>
          <a:prstGeom prst="rect">
            <a:avLst/>
          </a:prstGeom>
        </p:spPr>
      </p:pic>
      <p:sp>
        <p:nvSpPr>
          <p:cNvPr id="5" name="TextBox 4">
            <a:extLst>
              <a:ext uri="{FF2B5EF4-FFF2-40B4-BE49-F238E27FC236}">
                <a16:creationId xmlns:a16="http://schemas.microsoft.com/office/drawing/2014/main" id="{19056BF4-51AA-19A8-85FD-860498F8E328}"/>
              </a:ext>
            </a:extLst>
          </p:cNvPr>
          <p:cNvSpPr txBox="1"/>
          <p:nvPr/>
        </p:nvSpPr>
        <p:spPr>
          <a:xfrm>
            <a:off x="6945923" y="103453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Physics letters B, 2018, Vol.783 (C), p.392-414</a:t>
            </a:r>
          </a:p>
        </p:txBody>
      </p:sp>
    </p:spTree>
    <p:extLst>
      <p:ext uri="{BB962C8B-B14F-4D97-AF65-F5344CB8AC3E}">
        <p14:creationId xmlns:p14="http://schemas.microsoft.com/office/powerpoint/2010/main" val="3442635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D84EFA-38C7-0C97-AB0D-B43B0EB0CA0E}"/>
              </a:ext>
            </a:extLst>
          </p:cNvPr>
          <p:cNvPicPr>
            <a:picLocks noChangeAspect="1"/>
          </p:cNvPicPr>
          <p:nvPr/>
        </p:nvPicPr>
        <p:blipFill>
          <a:blip r:embed="rId2"/>
          <a:stretch>
            <a:fillRect/>
          </a:stretch>
        </p:blipFill>
        <p:spPr>
          <a:xfrm>
            <a:off x="2256692" y="87513"/>
            <a:ext cx="9700846" cy="6770487"/>
          </a:xfrm>
          <a:prstGeom prst="rect">
            <a:avLst/>
          </a:prstGeom>
        </p:spPr>
      </p:pic>
      <p:sp>
        <p:nvSpPr>
          <p:cNvPr id="5" name="TextBox 4">
            <a:extLst>
              <a:ext uri="{FF2B5EF4-FFF2-40B4-BE49-F238E27FC236}">
                <a16:creationId xmlns:a16="http://schemas.microsoft.com/office/drawing/2014/main" id="{CD98B924-FDC5-F45E-9C51-D506A86319A7}"/>
              </a:ext>
            </a:extLst>
          </p:cNvPr>
          <p:cNvSpPr txBox="1"/>
          <p:nvPr/>
        </p:nvSpPr>
        <p:spPr>
          <a:xfrm>
            <a:off x="0" y="4798313"/>
            <a:ext cx="2256692" cy="1600438"/>
          </a:xfrm>
          <a:prstGeom prst="rect">
            <a:avLst/>
          </a:prstGeom>
          <a:solidFill>
            <a:schemeClr val="accent1">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Research article Full text access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Robot control systems: A survey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Mary M. Moya, Homayoun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Seraji</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September–December 1987</a:t>
            </a:r>
          </a:p>
        </p:txBody>
      </p:sp>
    </p:spTree>
    <p:extLst>
      <p:ext uri="{BB962C8B-B14F-4D97-AF65-F5344CB8AC3E}">
        <p14:creationId xmlns:p14="http://schemas.microsoft.com/office/powerpoint/2010/main" val="3523952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8C167D-4B65-4D5C-80F8-96DB6E546297}"/>
              </a:ext>
            </a:extLst>
          </p:cNvPr>
          <p:cNvPicPr>
            <a:picLocks noChangeAspect="1"/>
          </p:cNvPicPr>
          <p:nvPr/>
        </p:nvPicPr>
        <p:blipFill>
          <a:blip r:embed="rId2"/>
          <a:stretch>
            <a:fillRect/>
          </a:stretch>
        </p:blipFill>
        <p:spPr>
          <a:xfrm>
            <a:off x="189897" y="591378"/>
            <a:ext cx="11812205" cy="5411857"/>
          </a:xfrm>
          <a:prstGeom prst="rect">
            <a:avLst/>
          </a:prstGeom>
        </p:spPr>
      </p:pic>
    </p:spTree>
    <p:extLst>
      <p:ext uri="{BB962C8B-B14F-4D97-AF65-F5344CB8AC3E}">
        <p14:creationId xmlns:p14="http://schemas.microsoft.com/office/powerpoint/2010/main" val="8074381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CB71C1-1054-467E-88FA-7FF403EC89F2}"/>
              </a:ext>
            </a:extLst>
          </p:cNvPr>
          <p:cNvPicPr>
            <a:picLocks noChangeAspect="1"/>
          </p:cNvPicPr>
          <p:nvPr/>
        </p:nvPicPr>
        <p:blipFill>
          <a:blip r:embed="rId2"/>
          <a:stretch>
            <a:fillRect/>
          </a:stretch>
        </p:blipFill>
        <p:spPr>
          <a:xfrm>
            <a:off x="56224" y="879613"/>
            <a:ext cx="11924450" cy="4979504"/>
          </a:xfrm>
          <a:prstGeom prst="rect">
            <a:avLst/>
          </a:prstGeom>
        </p:spPr>
      </p:pic>
    </p:spTree>
    <p:extLst>
      <p:ext uri="{BB962C8B-B14F-4D97-AF65-F5344CB8AC3E}">
        <p14:creationId xmlns:p14="http://schemas.microsoft.com/office/powerpoint/2010/main" val="258880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519784-73E7-441B-AB9A-2F5ECBAE4D2E}"/>
              </a:ext>
            </a:extLst>
          </p:cNvPr>
          <p:cNvPicPr>
            <a:picLocks noChangeAspect="1"/>
          </p:cNvPicPr>
          <p:nvPr/>
        </p:nvPicPr>
        <p:blipFill>
          <a:blip r:embed="rId2"/>
          <a:stretch>
            <a:fillRect/>
          </a:stretch>
        </p:blipFill>
        <p:spPr>
          <a:xfrm>
            <a:off x="104361" y="676484"/>
            <a:ext cx="6926900" cy="5193195"/>
          </a:xfrm>
          <a:prstGeom prst="rect">
            <a:avLst/>
          </a:prstGeom>
        </p:spPr>
      </p:pic>
      <p:sp>
        <p:nvSpPr>
          <p:cNvPr id="7" name="TextBox 6">
            <a:extLst>
              <a:ext uri="{FF2B5EF4-FFF2-40B4-BE49-F238E27FC236}">
                <a16:creationId xmlns:a16="http://schemas.microsoft.com/office/drawing/2014/main" id="{769AEDD4-92AF-4475-AAE2-05740FF2F4C1}"/>
              </a:ext>
            </a:extLst>
          </p:cNvPr>
          <p:cNvSpPr txBox="1"/>
          <p:nvPr/>
        </p:nvSpPr>
        <p:spPr>
          <a:xfrm>
            <a:off x="4627908" y="621844"/>
            <a:ext cx="6095170"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Caecilia-Heavy"/>
                <a:ea typeface="+mn-ea"/>
                <a:cs typeface="+mn-cs"/>
              </a:rPr>
              <a:t>Document Abstract: The “Big Picture” for Decision Makers</a:t>
            </a:r>
            <a:endParaRPr kumimoji="0" lang="en-US" sz="2800" b="0" i="0" u="none" strike="noStrike" kern="1200" cap="none" spc="0" normalizeH="0" baseline="0" noProof="0" dirty="0">
              <a:ln>
                <a:noFill/>
              </a:ln>
              <a:solidFill>
                <a:srgbClr val="C00000"/>
              </a:solidFill>
              <a:effectLst/>
              <a:uLnTx/>
              <a:uFillTx/>
              <a:latin typeface="Calibri"/>
              <a:ea typeface="+mn-ea"/>
              <a:cs typeface="+mn-cs"/>
            </a:endParaRPr>
          </a:p>
        </p:txBody>
      </p:sp>
      <p:sp>
        <p:nvSpPr>
          <p:cNvPr id="9" name="TextBox 8">
            <a:extLst>
              <a:ext uri="{FF2B5EF4-FFF2-40B4-BE49-F238E27FC236}">
                <a16:creationId xmlns:a16="http://schemas.microsoft.com/office/drawing/2014/main" id="{AA0C93F9-6452-4C1B-A697-A2CF401286ED}"/>
              </a:ext>
            </a:extLst>
          </p:cNvPr>
          <p:cNvSpPr txBox="1"/>
          <p:nvPr/>
        </p:nvSpPr>
        <p:spPr>
          <a:xfrm>
            <a:off x="7626212" y="3020703"/>
            <a:ext cx="4635362"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Calibri"/>
                <a:ea typeface="+mn-ea"/>
                <a:cs typeface="+mn-cs"/>
              </a:rPr>
              <a:t>Document Body: Details for All Readers</a:t>
            </a:r>
          </a:p>
        </p:txBody>
      </p:sp>
      <p:sp>
        <p:nvSpPr>
          <p:cNvPr id="11" name="TextBox 10">
            <a:extLst>
              <a:ext uri="{FF2B5EF4-FFF2-40B4-BE49-F238E27FC236}">
                <a16:creationId xmlns:a16="http://schemas.microsoft.com/office/drawing/2014/main" id="{B749103D-114C-4566-8A69-705C6E6B864B}"/>
              </a:ext>
            </a:extLst>
          </p:cNvPr>
          <p:cNvSpPr txBox="1"/>
          <p:nvPr/>
        </p:nvSpPr>
        <p:spPr>
          <a:xfrm>
            <a:off x="4891295" y="5820657"/>
            <a:ext cx="6985965"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Caecilia-Heavy"/>
                <a:ea typeface="+mn-ea"/>
                <a:cs typeface="+mn-cs"/>
              </a:rPr>
              <a:t>Document Conclusion: Wrap-Up Leading to Next Step</a:t>
            </a:r>
            <a:endParaRPr kumimoji="0" lang="en-US" sz="2800" b="0" i="0" u="none" strike="noStrike" kern="1200" cap="none" spc="0" normalizeH="0" baseline="0" noProof="0" dirty="0">
              <a:ln>
                <a:noFill/>
              </a:ln>
              <a:solidFill>
                <a:srgbClr val="C00000"/>
              </a:solidFill>
              <a:effectLst/>
              <a:uLnTx/>
              <a:uFillTx/>
              <a:latin typeface="Calibri"/>
              <a:ea typeface="+mn-ea"/>
              <a:cs typeface="+mn-cs"/>
            </a:endParaRPr>
          </a:p>
        </p:txBody>
      </p:sp>
    </p:spTree>
    <p:extLst>
      <p:ext uri="{BB962C8B-B14F-4D97-AF65-F5344CB8AC3E}">
        <p14:creationId xmlns:p14="http://schemas.microsoft.com/office/powerpoint/2010/main" val="1568364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fontScale="90000"/>
          </a:bodyPr>
          <a:lstStyle/>
          <a:p>
            <a:pPr marL="685800" indent="-685800" algn="l">
              <a:buFont typeface="Wingdings" panose="05000000000000000000" pitchFamily="2" charset="2"/>
              <a:buChar char="Ø"/>
            </a:pPr>
            <a:r>
              <a:rPr lang="en-US" sz="4000" b="1" dirty="0"/>
              <a:t> </a:t>
            </a:r>
            <a:r>
              <a:rPr lang="en-US" sz="4900" b="1" dirty="0"/>
              <a:t>Scientific / technical writing: </a:t>
            </a:r>
            <a:br>
              <a:rPr lang="en-US" sz="4000" b="1" dirty="0"/>
            </a:br>
            <a:r>
              <a:rPr lang="en-US" sz="4000" b="1" dirty="0"/>
              <a:t>	Highly technical information </a:t>
            </a:r>
            <a:br>
              <a:rPr lang="en-US" sz="4000" b="1" dirty="0"/>
            </a:br>
            <a:br>
              <a:rPr lang="en-US" sz="4000" b="1" dirty="0"/>
            </a:br>
            <a:r>
              <a:rPr lang="en-US" sz="4000" b="1" dirty="0"/>
              <a:t>	</a:t>
            </a:r>
            <a:r>
              <a:rPr lang="en-US" sz="3600" b="1" dirty="0"/>
              <a:t>	- For people who may, or may not, be as knowledgeable</a:t>
            </a:r>
            <a:br>
              <a:rPr lang="en-US" sz="4000" b="1" dirty="0"/>
            </a:br>
            <a:r>
              <a:rPr lang="en-US" sz="4000" b="1" dirty="0"/>
              <a:t>		- </a:t>
            </a:r>
            <a:r>
              <a:rPr lang="en-US" sz="3600" b="1" dirty="0"/>
              <a:t>They may, or may not, be a native speaker </a:t>
            </a:r>
            <a:br>
              <a:rPr lang="en-US" sz="3600" b="1" dirty="0"/>
            </a:br>
            <a:br>
              <a:rPr lang="en-US" sz="4000" b="1" dirty="0"/>
            </a:br>
            <a:r>
              <a:rPr lang="en-US" sz="4000" b="1" dirty="0"/>
              <a:t>- </a:t>
            </a:r>
            <a:r>
              <a:rPr lang="en-US" sz="3600" b="1" dirty="0"/>
              <a:t>The research question, hypotheses, methods, analysis, and 				conclusions must be stated clearly and simply.</a:t>
            </a:r>
            <a:br>
              <a:rPr lang="en-US" sz="3600" b="1" dirty="0"/>
            </a:br>
            <a:br>
              <a:rPr lang="en-US" sz="3600" b="1" dirty="0"/>
            </a:br>
            <a:r>
              <a:rPr lang="en-US" sz="3600" b="1" dirty="0"/>
              <a:t>- Facts, figures, and methods used in research must be precise and 			exact</a:t>
            </a:r>
            <a:br>
              <a:rPr lang="en-US" sz="3600" b="1" dirty="0"/>
            </a:br>
            <a:r>
              <a:rPr lang="en-US" sz="3600" b="1" dirty="0"/>
              <a:t>- Description of the results must be precise and exact</a:t>
            </a:r>
            <a:br>
              <a:rPr lang="en-US" sz="3600" b="1" dirty="0"/>
            </a:br>
            <a:endParaRPr lang="en-US" sz="3600" b="1" dirty="0"/>
          </a:p>
        </p:txBody>
      </p:sp>
    </p:spTree>
    <p:extLst>
      <p:ext uri="{BB962C8B-B14F-4D97-AF65-F5344CB8AC3E}">
        <p14:creationId xmlns:p14="http://schemas.microsoft.com/office/powerpoint/2010/main" val="2316474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marL="685800" indent="-685800" algn="l">
              <a:buFont typeface="Wingdings" panose="05000000000000000000" pitchFamily="2" charset="2"/>
              <a:buChar char="Ø"/>
            </a:pPr>
            <a:br>
              <a:rPr lang="en-US" sz="4900" b="1" dirty="0"/>
            </a:br>
            <a:r>
              <a:rPr lang="en-US" sz="4900" b="1" dirty="0"/>
              <a:t>Accurate words and punctuation:  </a:t>
            </a:r>
            <a:br>
              <a:rPr lang="en-US" sz="4900" b="1" dirty="0"/>
            </a:br>
            <a:br>
              <a:rPr lang="en-US" sz="4900" b="1" dirty="0"/>
            </a:br>
            <a:r>
              <a:rPr lang="en-US" sz="3600" b="1" dirty="0"/>
              <a:t> “Isotopes, which were discovered in 1853, are radioactive,” 			reads as if all isotopes were discovered in 1853. </a:t>
            </a:r>
            <a:br>
              <a:rPr lang="en-US" sz="3600" b="1" dirty="0"/>
            </a:br>
            <a:br>
              <a:rPr lang="en-US" sz="3600" b="1" dirty="0"/>
            </a:br>
            <a:r>
              <a:rPr lang="en-US" sz="3600" b="1" dirty="0"/>
              <a:t>The writer intended to say: “The isotopes that were 				discovered in 1853 are radioactive.”</a:t>
            </a:r>
            <a:br>
              <a:rPr lang="en-US" sz="3600" b="1" dirty="0"/>
            </a:br>
            <a:endParaRPr lang="en-US" sz="3600" b="1" dirty="0"/>
          </a:p>
        </p:txBody>
      </p:sp>
    </p:spTree>
    <p:extLst>
      <p:ext uri="{BB962C8B-B14F-4D97-AF65-F5344CB8AC3E}">
        <p14:creationId xmlns:p14="http://schemas.microsoft.com/office/powerpoint/2010/main" val="2552161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marL="685800" indent="-685800" algn="l">
              <a:buFont typeface="Wingdings" panose="05000000000000000000" pitchFamily="2" charset="2"/>
              <a:buChar char="Ø"/>
            </a:pPr>
            <a:br>
              <a:rPr lang="en-US" sz="4900" b="1" dirty="0"/>
            </a:br>
            <a:r>
              <a:rPr lang="en-US" sz="4900" b="1" dirty="0"/>
              <a:t>The organization of writing </a:t>
            </a:r>
            <a:br>
              <a:rPr lang="en-US" sz="4900" b="1" dirty="0"/>
            </a:br>
            <a:br>
              <a:rPr lang="en-US" sz="4900" b="1" dirty="0"/>
            </a:br>
            <a:r>
              <a:rPr lang="en-US" sz="4900" b="1" dirty="0"/>
              <a:t>	</a:t>
            </a:r>
            <a:r>
              <a:rPr lang="en-US" sz="4900" b="1" u="sng" dirty="0"/>
              <a:t>Readability: </a:t>
            </a:r>
            <a:r>
              <a:rPr lang="en-US" sz="4000" b="1" dirty="0"/>
              <a:t>If your reader has to work too 			hard to understand your meaning or your organization, 	you have a problem in your writing. </a:t>
            </a:r>
            <a:br>
              <a:rPr lang="en-US" sz="4000" b="1" dirty="0"/>
            </a:br>
            <a:br>
              <a:rPr lang="en-US" sz="4000" b="1" dirty="0"/>
            </a:br>
            <a:r>
              <a:rPr lang="en-US" sz="4000" b="1" dirty="0"/>
              <a:t>	</a:t>
            </a:r>
            <a:r>
              <a:rPr lang="en-US" sz="4400" b="1" dirty="0"/>
              <a:t>Remember, </a:t>
            </a:r>
            <a:r>
              <a:rPr lang="en-US" sz="4000" b="1" dirty="0"/>
              <a:t>you are not writing to impress. You are 	writing to communicate.</a:t>
            </a:r>
            <a:br>
              <a:rPr lang="en-US" sz="4000" b="1" dirty="0"/>
            </a:br>
            <a:endParaRPr lang="en-US" sz="4000" b="1" dirty="0"/>
          </a:p>
        </p:txBody>
      </p:sp>
    </p:spTree>
    <p:extLst>
      <p:ext uri="{BB962C8B-B14F-4D97-AF65-F5344CB8AC3E}">
        <p14:creationId xmlns:p14="http://schemas.microsoft.com/office/powerpoint/2010/main" val="1564498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marL="685800" indent="-685800" algn="l">
              <a:buFont typeface="Wingdings" panose="05000000000000000000" pitchFamily="2" charset="2"/>
              <a:buChar char="Ø"/>
            </a:pPr>
            <a:br>
              <a:rPr lang="en-US" sz="4900" b="1" dirty="0"/>
            </a:br>
            <a:r>
              <a:rPr lang="en-US" sz="4900" b="1" u="sng" dirty="0">
                <a:solidFill>
                  <a:srgbClr val="C00000"/>
                </a:solidFill>
              </a:rPr>
              <a:t>Logic</a:t>
            </a:r>
            <a:r>
              <a:rPr lang="en-US" sz="4900" b="1" u="sng" dirty="0"/>
              <a:t> </a:t>
            </a:r>
            <a:r>
              <a:rPr lang="en-US" sz="4900" u="sng" dirty="0"/>
              <a:t>and</a:t>
            </a:r>
            <a:r>
              <a:rPr lang="en-US" sz="4900" b="1" u="sng" dirty="0"/>
              <a:t> </a:t>
            </a:r>
            <a:r>
              <a:rPr lang="en-US" sz="4900" b="1" u="sng" dirty="0">
                <a:solidFill>
                  <a:srgbClr val="C00000"/>
                </a:solidFill>
              </a:rPr>
              <a:t>organization</a:t>
            </a:r>
            <a:r>
              <a:rPr lang="en-US" sz="4900" b="1" u="sng" dirty="0"/>
              <a:t>: </a:t>
            </a:r>
            <a:br>
              <a:rPr lang="en-US" sz="4900" b="1" dirty="0"/>
            </a:br>
            <a:r>
              <a:rPr lang="en-US" sz="4900" b="1" dirty="0"/>
              <a:t>		</a:t>
            </a:r>
            <a:r>
              <a:rPr lang="en-US" sz="4000" b="1" dirty="0"/>
              <a:t>Two important pillars of technical/scientific 				writing</a:t>
            </a:r>
            <a:br>
              <a:rPr lang="en-US" sz="4900" b="1" dirty="0"/>
            </a:br>
            <a:br>
              <a:rPr lang="en-US" sz="4900" b="1" dirty="0"/>
            </a:br>
            <a:r>
              <a:rPr lang="en-US" sz="4900" b="1" dirty="0"/>
              <a:t> - </a:t>
            </a:r>
            <a:r>
              <a:rPr lang="en-US" sz="4000" b="1" dirty="0"/>
              <a:t>In face-to-face explanation you can get an  instant 			feedback</a:t>
            </a:r>
            <a:br>
              <a:rPr lang="en-US" sz="4000" b="1" dirty="0"/>
            </a:br>
            <a:br>
              <a:rPr lang="en-US" sz="4000" b="1" dirty="0"/>
            </a:br>
            <a:r>
              <a:rPr lang="en-US" sz="4000" b="1" dirty="0"/>
              <a:t>- In writing you have only one chance </a:t>
            </a:r>
            <a:br>
              <a:rPr lang="en-US" sz="4900" b="1" dirty="0"/>
            </a:br>
            <a:endParaRPr lang="en-US" sz="4000" b="1" dirty="0"/>
          </a:p>
        </p:txBody>
      </p:sp>
      <p:sp>
        <p:nvSpPr>
          <p:cNvPr id="3" name="TextBox 2">
            <a:extLst>
              <a:ext uri="{FF2B5EF4-FFF2-40B4-BE49-F238E27FC236}">
                <a16:creationId xmlns:a16="http://schemas.microsoft.com/office/drawing/2014/main" id="{F0B78842-D0B3-6133-8072-575696B27733}"/>
              </a:ext>
            </a:extLst>
          </p:cNvPr>
          <p:cNvSpPr txBox="1"/>
          <p:nvPr/>
        </p:nvSpPr>
        <p:spPr>
          <a:xfrm>
            <a:off x="8686800" y="5955323"/>
            <a:ext cx="3352800" cy="707886"/>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Calibri"/>
                <a:ea typeface="+mn-ea"/>
                <a:cs typeface="+mn-cs"/>
              </a:rPr>
              <a:t>Simplex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Calibri"/>
                <a:ea typeface="+mn-ea"/>
                <a:cs typeface="+mn-cs"/>
              </a:rPr>
              <a:t>One-way: Radio broadcasting</a:t>
            </a:r>
            <a:endParaRPr kumimoji="0" lang="en-US" sz="2000" b="1"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2904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 y="73785"/>
            <a:ext cx="7977188" cy="6722303"/>
          </a:xfrm>
        </p:spPr>
        <p:txBody>
          <a:bodyPr lIns="182880" anchor="t" anchorCtr="0">
            <a:normAutofit fontScale="90000"/>
          </a:bodyPr>
          <a:lstStyle/>
          <a:p>
            <a:pPr marL="685800" indent="-685800" algn="l">
              <a:buFont typeface="Wingdings" panose="05000000000000000000" pitchFamily="2" charset="2"/>
              <a:buChar char="Ø"/>
            </a:pPr>
            <a:br>
              <a:rPr lang="en-US" sz="4900" b="1" dirty="0"/>
            </a:br>
            <a:r>
              <a:rPr lang="en-US" sz="4900" b="1" u="sng" dirty="0"/>
              <a:t>The first step </a:t>
            </a:r>
            <a:r>
              <a:rPr lang="en-US" sz="4900" b="1" dirty="0"/>
              <a:t>in being logical: </a:t>
            </a:r>
            <a:br>
              <a:rPr lang="en-US" sz="4900" b="1" dirty="0"/>
            </a:br>
            <a:br>
              <a:rPr lang="en-US" sz="4900" b="1" dirty="0"/>
            </a:br>
            <a:r>
              <a:rPr lang="en-US" sz="4900" b="1" dirty="0"/>
              <a:t>Creation of an </a:t>
            </a:r>
            <a:r>
              <a:rPr lang="en-US" sz="4900" b="1" u="sng" dirty="0">
                <a:solidFill>
                  <a:srgbClr val="C00000"/>
                </a:solidFill>
              </a:rPr>
              <a:t>outline </a:t>
            </a:r>
            <a:r>
              <a:rPr lang="en-US" sz="4900" b="1" dirty="0"/>
              <a:t>			before you begin writing.</a:t>
            </a:r>
            <a:br>
              <a:rPr lang="en-US" sz="4900" b="1" dirty="0"/>
            </a:br>
            <a:br>
              <a:rPr lang="en-US" sz="4900" b="1" dirty="0"/>
            </a:br>
            <a:r>
              <a:rPr lang="en-US" sz="4900" b="1" dirty="0"/>
              <a:t> </a:t>
            </a:r>
            <a:br>
              <a:rPr lang="en-US" sz="4900" b="1" dirty="0"/>
            </a:br>
            <a:r>
              <a:rPr lang="en-US" sz="4900" b="1" dirty="0"/>
              <a:t>This is the step that takes the greatest investment of time. </a:t>
            </a:r>
            <a:br>
              <a:rPr lang="en-US" sz="4900" b="1" dirty="0"/>
            </a:br>
            <a:endParaRPr lang="en-US" sz="4000" b="1" dirty="0"/>
          </a:p>
        </p:txBody>
      </p:sp>
      <p:sp>
        <p:nvSpPr>
          <p:cNvPr id="3" name="Rectangle 2">
            <a:extLst>
              <a:ext uri="{FF2B5EF4-FFF2-40B4-BE49-F238E27FC236}">
                <a16:creationId xmlns:a16="http://schemas.microsoft.com/office/drawing/2014/main" id="{74F59EAE-31D9-4585-AC0F-EDD1E1CAF110}"/>
              </a:ext>
            </a:extLst>
          </p:cNvPr>
          <p:cNvSpPr/>
          <p:nvPr/>
        </p:nvSpPr>
        <p:spPr>
          <a:xfrm>
            <a:off x="7681913" y="381001"/>
            <a:ext cx="4452938" cy="6181724"/>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rPr>
              <a:t>Identify your topic or thesis statement.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rPr>
              <a:t>Decide what points you would like to discuss during your paper.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rPr>
              <a:t>Put your points in logical, numerical order so that each point connects back to your main point.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546A">
                    <a:lumMod val="50000"/>
                  </a:srgbClr>
                </a:solidFill>
                <a:effectLst/>
                <a:uLnTx/>
                <a:uFillTx/>
                <a:latin typeface="Calibri"/>
                <a:ea typeface="+mn-ea"/>
                <a:cs typeface="+mn-cs"/>
              </a:rPr>
              <a:t>Write possible transitions between paragraphs.</a:t>
            </a:r>
          </a:p>
        </p:txBody>
      </p:sp>
    </p:spTree>
    <p:extLst>
      <p:ext uri="{BB962C8B-B14F-4D97-AF65-F5344CB8AC3E}">
        <p14:creationId xmlns:p14="http://schemas.microsoft.com/office/powerpoint/2010/main" val="22760003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fontScale="90000"/>
          </a:bodyPr>
          <a:lstStyle/>
          <a:p>
            <a:pPr algn="l"/>
            <a:br>
              <a:rPr lang="en-US" sz="4000" b="1" dirty="0"/>
            </a:br>
            <a:r>
              <a:rPr lang="en-US" sz="4000" b="1" dirty="0"/>
              <a:t>- Every paragraph should have one topic sentence, not two or 	three. </a:t>
            </a:r>
            <a:br>
              <a:rPr lang="en-US" sz="4000" b="1" dirty="0"/>
            </a:br>
            <a:br>
              <a:rPr lang="en-US" sz="4000" b="1" dirty="0"/>
            </a:br>
            <a:r>
              <a:rPr lang="en-US" sz="4000" b="1" dirty="0"/>
              <a:t>- All sentences in a paragraph should support or elaborate upon 	what your topic sentence.</a:t>
            </a:r>
            <a:br>
              <a:rPr lang="en-US" sz="4000" b="1" dirty="0"/>
            </a:br>
            <a:r>
              <a:rPr lang="en-US" sz="4000" b="1" dirty="0"/>
              <a:t> </a:t>
            </a:r>
            <a:br>
              <a:rPr lang="en-US" sz="4000" b="1" dirty="0"/>
            </a:br>
            <a:r>
              <a:rPr lang="en-US" sz="4000" b="1" dirty="0"/>
              <a:t>- All of your paragraphs should be logically organized around your 	</a:t>
            </a:r>
            <a:r>
              <a:rPr lang="en-US" sz="4000" b="1" u="sng" dirty="0"/>
              <a:t>section headings or sub-headings</a:t>
            </a:r>
            <a:r>
              <a:rPr lang="en-US" sz="4000" b="1" dirty="0"/>
              <a:t>. </a:t>
            </a:r>
            <a:br>
              <a:rPr lang="en-US" sz="4000" b="1" dirty="0"/>
            </a:br>
            <a:br>
              <a:rPr lang="en-US" sz="4000" b="1" dirty="0"/>
            </a:br>
            <a:r>
              <a:rPr lang="en-US" sz="4000" b="1" dirty="0"/>
              <a:t>- You should have a rationale for </a:t>
            </a:r>
            <a:r>
              <a:rPr lang="en-US" sz="4000" b="1" u="sng" dirty="0"/>
              <a:t>where each paragraph is placed</a:t>
            </a:r>
            <a:r>
              <a:rPr lang="en-US" sz="4000" b="1" dirty="0"/>
              <a:t>. </a:t>
            </a:r>
            <a:br>
              <a:rPr lang="en-US" sz="4000" b="1" dirty="0"/>
            </a:br>
            <a:br>
              <a:rPr lang="en-US" sz="4000" b="1" dirty="0"/>
            </a:br>
            <a:r>
              <a:rPr lang="en-US" sz="4000" b="1" dirty="0"/>
              <a:t>- You must maintain a natural logic that is </a:t>
            </a:r>
            <a:r>
              <a:rPr lang="en-US" sz="4000" b="1" u="sng" dirty="0"/>
              <a:t>accessible to the reader</a:t>
            </a:r>
            <a:r>
              <a:rPr lang="en-US" sz="4000" b="1" dirty="0"/>
              <a:t>.</a:t>
            </a:r>
            <a:br>
              <a:rPr lang="en-US" sz="4000" b="1" dirty="0"/>
            </a:br>
            <a:br>
              <a:rPr lang="en-US" sz="4000" b="1" dirty="0"/>
            </a:br>
            <a:endParaRPr lang="en-US" sz="4000" b="1" dirty="0"/>
          </a:p>
        </p:txBody>
      </p:sp>
    </p:spTree>
    <p:extLst>
      <p:ext uri="{BB962C8B-B14F-4D97-AF65-F5344CB8AC3E}">
        <p14:creationId xmlns:p14="http://schemas.microsoft.com/office/powerpoint/2010/main" val="3908242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algn="l"/>
            <a:br>
              <a:rPr lang="en-US" sz="3600" b="1" dirty="0"/>
            </a:br>
            <a:r>
              <a:rPr lang="en-US" sz="3600" b="1" dirty="0"/>
              <a:t>- Use effective transitions between sections, paragraphs, 	sentences, and within sentences.</a:t>
            </a:r>
            <a:br>
              <a:rPr lang="en-US" sz="3600" b="1" dirty="0"/>
            </a:br>
            <a:br>
              <a:rPr lang="en-US" sz="3600" b="1" dirty="0"/>
            </a:br>
            <a:r>
              <a:rPr lang="en-US" sz="3600" b="1" dirty="0"/>
              <a:t>- Use strong verbs and concrete nouns. </a:t>
            </a:r>
            <a:br>
              <a:rPr lang="en-US" sz="3600" b="1" dirty="0"/>
            </a:br>
            <a:br>
              <a:rPr lang="en-US" sz="3600" b="1" dirty="0"/>
            </a:br>
            <a:r>
              <a:rPr lang="en-US" sz="3600" b="1" dirty="0"/>
              <a:t>- Don’t start sentences with weak phrases like, “There are . . .“ or 	“</a:t>
            </a:r>
            <a:r>
              <a:rPr lang="en-US" sz="3600" b="1" dirty="0">
                <a:highlight>
                  <a:srgbClr val="FFFF00"/>
                </a:highlight>
              </a:rPr>
              <a:t>In order </a:t>
            </a:r>
            <a:r>
              <a:rPr lang="en-US" sz="3600" b="1" dirty="0"/>
              <a:t>to determine,” instead of “To determine.”</a:t>
            </a:r>
            <a:br>
              <a:rPr lang="en-US" sz="3600" b="1" dirty="0"/>
            </a:br>
            <a:endParaRPr lang="en-US" sz="3600" b="1" dirty="0"/>
          </a:p>
        </p:txBody>
      </p:sp>
      <p:sp>
        <p:nvSpPr>
          <p:cNvPr id="3" name="TextBox 2">
            <a:extLst>
              <a:ext uri="{FF2B5EF4-FFF2-40B4-BE49-F238E27FC236}">
                <a16:creationId xmlns:a16="http://schemas.microsoft.com/office/drawing/2014/main" id="{0A4D7FAA-0436-45F6-8E05-1536ECEC86A6}"/>
              </a:ext>
            </a:extLst>
          </p:cNvPr>
          <p:cNvSpPr txBox="1"/>
          <p:nvPr/>
        </p:nvSpPr>
        <p:spPr>
          <a:xfrm>
            <a:off x="-33338" y="4487764"/>
            <a:ext cx="12225338" cy="2308324"/>
          </a:xfrm>
          <a:prstGeom prst="rect">
            <a:avLst/>
          </a:prstGeom>
          <a:solidFill>
            <a:schemeClr val="accent6">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 the book, many loud sounds prevented the characters from sleeping. The characters were unable to embark on their journey the next day.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Revision: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 the book, many loud sounds prevented the characters from sleeping. </a:t>
            </a:r>
            <a:r>
              <a:rPr kumimoji="0" lang="en-US" sz="1800" b="0" i="0" u="sng" strike="noStrike" kern="1200" cap="none" spc="0" normalizeH="0" baseline="0" noProof="0" dirty="0">
                <a:ln>
                  <a:noFill/>
                </a:ln>
                <a:solidFill>
                  <a:prstClr val="black"/>
                </a:solidFill>
                <a:effectLst/>
                <a:uLnTx/>
                <a:uFillTx/>
                <a:latin typeface="Calibri"/>
                <a:ea typeface="+mn-ea"/>
                <a:cs typeface="+mn-cs"/>
              </a:rPr>
              <a:t>As a result of their lack of sleep</a:t>
            </a:r>
            <a:r>
              <a:rPr kumimoji="0" lang="en-US" sz="1800" b="0" i="0" u="none" strike="noStrike" kern="1200" cap="none" spc="0" normalizeH="0" baseline="0" noProof="0" dirty="0">
                <a:ln>
                  <a:noFill/>
                </a:ln>
                <a:solidFill>
                  <a:prstClr val="black"/>
                </a:solidFill>
                <a:effectLst/>
                <a:uLnTx/>
                <a:uFillTx/>
                <a:latin typeface="Calibri"/>
                <a:ea typeface="+mn-ea"/>
                <a:cs typeface="+mn-cs"/>
              </a:rPr>
              <a:t>, the characters were unable to start their journey the next day.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Rationale: </a:t>
            </a:r>
            <a:r>
              <a:rPr kumimoji="0" lang="en-US" sz="1800" b="0" i="0" u="none" strike="noStrike" kern="1200" cap="none" spc="0" normalizeH="0" baseline="0" noProof="0" dirty="0">
                <a:ln>
                  <a:noFill/>
                </a:ln>
                <a:solidFill>
                  <a:prstClr val="black"/>
                </a:solidFill>
                <a:effectLst/>
                <a:uLnTx/>
                <a:uFillTx/>
                <a:latin typeface="Calibri"/>
                <a:ea typeface="+mn-ea"/>
                <a:cs typeface="+mn-cs"/>
              </a:rPr>
              <a:t>The transition helps to connect the two paragraphs by showing that the event occurring in the second paragraph was a result of the event that was described in the first paragraph. </a:t>
            </a:r>
          </a:p>
        </p:txBody>
      </p:sp>
    </p:spTree>
    <p:extLst>
      <p:ext uri="{BB962C8B-B14F-4D97-AF65-F5344CB8AC3E}">
        <p14:creationId xmlns:p14="http://schemas.microsoft.com/office/powerpoint/2010/main" val="3618625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73785"/>
            <a:ext cx="12192000" cy="6722303"/>
          </a:xfrm>
        </p:spPr>
        <p:txBody>
          <a:bodyPr lIns="182880" anchor="t" anchorCtr="0">
            <a:normAutofit/>
          </a:bodyPr>
          <a:lstStyle/>
          <a:p>
            <a:pPr algn="l"/>
            <a:br>
              <a:rPr lang="en-US" sz="4000" b="1" dirty="0"/>
            </a:br>
            <a:r>
              <a:rPr lang="en-US" sz="4000" b="1" dirty="0"/>
              <a:t>- Always strive to make the implicit explicit. </a:t>
            </a:r>
            <a:br>
              <a:rPr lang="en-US" sz="4000" b="1" dirty="0"/>
            </a:br>
            <a:r>
              <a:rPr lang="en-US" sz="4000" b="1" dirty="0"/>
              <a:t>		</a:t>
            </a:r>
            <a:r>
              <a:rPr lang="en-US" sz="4000" dirty="0"/>
              <a:t>Just because you know what you meant to say 			does not mean your audience does.</a:t>
            </a:r>
            <a:br>
              <a:rPr lang="en-US" sz="4000" dirty="0"/>
            </a:br>
            <a:br>
              <a:rPr lang="en-US" sz="4000" dirty="0"/>
            </a:br>
            <a:r>
              <a:rPr lang="en-US" sz="4000" b="1" dirty="0"/>
              <a:t>One other suggestion: </a:t>
            </a:r>
            <a:br>
              <a:rPr lang="en-US" sz="4000" b="1" dirty="0"/>
            </a:br>
            <a:r>
              <a:rPr lang="en-US" sz="4000" b="1" dirty="0"/>
              <a:t>	</a:t>
            </a:r>
            <a:r>
              <a:rPr lang="en-US" sz="4000" dirty="0"/>
              <a:t>After you have written a section, step away from it for 	a day and return with a fresh eye. </a:t>
            </a:r>
            <a:br>
              <a:rPr lang="en-US" sz="4000" dirty="0"/>
            </a:br>
            <a:br>
              <a:rPr lang="en-US" sz="4000" dirty="0"/>
            </a:br>
            <a:r>
              <a:rPr lang="en-US" sz="4000" dirty="0"/>
              <a:t>	This will help you view your writing from the reader’s 	perspective.</a:t>
            </a:r>
            <a:br>
              <a:rPr lang="en-US" sz="4000" dirty="0"/>
            </a:br>
            <a:endParaRPr lang="en-US" sz="4000" dirty="0"/>
          </a:p>
        </p:txBody>
      </p:sp>
    </p:spTree>
    <p:extLst>
      <p:ext uri="{BB962C8B-B14F-4D97-AF65-F5344CB8AC3E}">
        <p14:creationId xmlns:p14="http://schemas.microsoft.com/office/powerpoint/2010/main" val="2228195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450851"/>
            <a:ext cx="10515600" cy="615950"/>
          </a:xfrm>
        </p:spPr>
        <p:txBody>
          <a:bodyPr>
            <a:normAutofit fontScale="90000"/>
          </a:bodyPr>
          <a:lstStyle/>
          <a:p>
            <a:r>
              <a:rPr lang="en-US" sz="4400" b="1" i="0" u="none" strike="noStrike" baseline="0" dirty="0">
                <a:solidFill>
                  <a:srgbClr val="9370B2"/>
                </a:solidFill>
                <a:latin typeface="RdgVesta-Bold"/>
              </a:rPr>
              <a:t>The sixteen criteria</a:t>
            </a:r>
            <a:endParaRPr lang="en-US" dirty="0"/>
          </a:p>
        </p:txBody>
      </p:sp>
      <p:pic>
        <p:nvPicPr>
          <p:cNvPr id="4" name="Picture 3">
            <a:extLst>
              <a:ext uri="{FF2B5EF4-FFF2-40B4-BE49-F238E27FC236}">
                <a16:creationId xmlns:a16="http://schemas.microsoft.com/office/drawing/2014/main" id="{0F1167FC-AEDD-4074-9B19-893928BE566B}"/>
              </a:ext>
            </a:extLst>
          </p:cNvPr>
          <p:cNvPicPr>
            <a:picLocks noChangeAspect="1"/>
          </p:cNvPicPr>
          <p:nvPr/>
        </p:nvPicPr>
        <p:blipFill>
          <a:blip r:embed="rId2"/>
          <a:stretch>
            <a:fillRect/>
          </a:stretch>
        </p:blipFill>
        <p:spPr>
          <a:xfrm>
            <a:off x="0" y="1203346"/>
            <a:ext cx="12192000" cy="4451307"/>
          </a:xfrm>
          <a:prstGeom prst="rect">
            <a:avLst/>
          </a:prstGeom>
        </p:spPr>
      </p:pic>
    </p:spTree>
    <p:extLst>
      <p:ext uri="{BB962C8B-B14F-4D97-AF65-F5344CB8AC3E}">
        <p14:creationId xmlns:p14="http://schemas.microsoft.com/office/powerpoint/2010/main" val="2727980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450851"/>
            <a:ext cx="10515600" cy="615950"/>
          </a:xfrm>
        </p:spPr>
        <p:txBody>
          <a:bodyPr>
            <a:normAutofit fontScale="90000"/>
          </a:bodyPr>
          <a:lstStyle/>
          <a:p>
            <a:r>
              <a:rPr lang="en-US" sz="4400" b="1" i="0" u="none" strike="noStrike" baseline="0" dirty="0">
                <a:solidFill>
                  <a:srgbClr val="9370B2"/>
                </a:solidFill>
                <a:latin typeface="RdgVesta-Bold"/>
              </a:rPr>
              <a:t>The sixteen criteria</a:t>
            </a:r>
            <a:endParaRPr lang="en-US" dirty="0"/>
          </a:p>
        </p:txBody>
      </p:sp>
      <p:pic>
        <p:nvPicPr>
          <p:cNvPr id="5" name="Picture 4">
            <a:extLst>
              <a:ext uri="{FF2B5EF4-FFF2-40B4-BE49-F238E27FC236}">
                <a16:creationId xmlns:a16="http://schemas.microsoft.com/office/drawing/2014/main" id="{57A369DE-D21C-4C4E-88A3-F478EF02BB84}"/>
              </a:ext>
            </a:extLst>
          </p:cNvPr>
          <p:cNvPicPr>
            <a:picLocks noChangeAspect="1"/>
          </p:cNvPicPr>
          <p:nvPr/>
        </p:nvPicPr>
        <p:blipFill>
          <a:blip r:embed="rId2"/>
          <a:stretch>
            <a:fillRect/>
          </a:stretch>
        </p:blipFill>
        <p:spPr>
          <a:xfrm>
            <a:off x="-1" y="1419337"/>
            <a:ext cx="12122427" cy="3949751"/>
          </a:xfrm>
          <a:prstGeom prst="rect">
            <a:avLst/>
          </a:prstGeom>
        </p:spPr>
      </p:pic>
    </p:spTree>
    <p:extLst>
      <p:ext uri="{BB962C8B-B14F-4D97-AF65-F5344CB8AC3E}">
        <p14:creationId xmlns:p14="http://schemas.microsoft.com/office/powerpoint/2010/main" val="3928013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450851"/>
            <a:ext cx="10515600" cy="615950"/>
          </a:xfrm>
        </p:spPr>
        <p:txBody>
          <a:bodyPr>
            <a:normAutofit fontScale="90000"/>
          </a:bodyPr>
          <a:lstStyle/>
          <a:p>
            <a:r>
              <a:rPr lang="en-US" sz="4400" b="1" i="0" u="none" strike="noStrike" baseline="0" dirty="0">
                <a:solidFill>
                  <a:srgbClr val="9370B2"/>
                </a:solidFill>
                <a:latin typeface="RdgVesta-Bold"/>
              </a:rPr>
              <a:t>The sixteen criteria</a:t>
            </a:r>
            <a:endParaRPr lang="en-US" dirty="0"/>
          </a:p>
        </p:txBody>
      </p:sp>
      <p:pic>
        <p:nvPicPr>
          <p:cNvPr id="5" name="Picture 4">
            <a:extLst>
              <a:ext uri="{FF2B5EF4-FFF2-40B4-BE49-F238E27FC236}">
                <a16:creationId xmlns:a16="http://schemas.microsoft.com/office/drawing/2014/main" id="{FCB0222D-82EE-4B4C-BE77-5356BAE0A3C7}"/>
              </a:ext>
            </a:extLst>
          </p:cNvPr>
          <p:cNvPicPr>
            <a:picLocks noChangeAspect="1"/>
          </p:cNvPicPr>
          <p:nvPr/>
        </p:nvPicPr>
        <p:blipFill>
          <a:blip r:embed="rId2"/>
          <a:stretch>
            <a:fillRect/>
          </a:stretch>
        </p:blipFill>
        <p:spPr>
          <a:xfrm>
            <a:off x="0" y="1192779"/>
            <a:ext cx="12192000" cy="4472442"/>
          </a:xfrm>
          <a:prstGeom prst="rect">
            <a:avLst/>
          </a:prstGeom>
        </p:spPr>
      </p:pic>
    </p:spTree>
    <p:extLst>
      <p:ext uri="{BB962C8B-B14F-4D97-AF65-F5344CB8AC3E}">
        <p14:creationId xmlns:p14="http://schemas.microsoft.com/office/powerpoint/2010/main" val="2513543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450851"/>
            <a:ext cx="10515600" cy="615950"/>
          </a:xfrm>
        </p:spPr>
        <p:txBody>
          <a:bodyPr>
            <a:normAutofit fontScale="90000"/>
          </a:bodyPr>
          <a:lstStyle/>
          <a:p>
            <a:r>
              <a:rPr lang="en-US" sz="4400" b="1" i="0" u="none" strike="noStrike" baseline="0" dirty="0">
                <a:solidFill>
                  <a:srgbClr val="9370B2"/>
                </a:solidFill>
                <a:latin typeface="RdgVesta-Bold"/>
              </a:rPr>
              <a:t>The sixteen criteria</a:t>
            </a:r>
            <a:endParaRPr lang="en-US" dirty="0"/>
          </a:p>
        </p:txBody>
      </p:sp>
      <p:pic>
        <p:nvPicPr>
          <p:cNvPr id="4" name="Picture 3">
            <a:extLst>
              <a:ext uri="{FF2B5EF4-FFF2-40B4-BE49-F238E27FC236}">
                <a16:creationId xmlns:a16="http://schemas.microsoft.com/office/drawing/2014/main" id="{51EF01FF-E945-44F8-9D29-512ABB53BADC}"/>
              </a:ext>
            </a:extLst>
          </p:cNvPr>
          <p:cNvPicPr>
            <a:picLocks noChangeAspect="1"/>
          </p:cNvPicPr>
          <p:nvPr/>
        </p:nvPicPr>
        <p:blipFill>
          <a:blip r:embed="rId2"/>
          <a:stretch>
            <a:fillRect/>
          </a:stretch>
        </p:blipFill>
        <p:spPr>
          <a:xfrm>
            <a:off x="-1" y="1275263"/>
            <a:ext cx="12192000" cy="5311326"/>
          </a:xfrm>
          <a:prstGeom prst="rect">
            <a:avLst/>
          </a:prstGeom>
        </p:spPr>
      </p:pic>
    </p:spTree>
    <p:extLst>
      <p:ext uri="{BB962C8B-B14F-4D97-AF65-F5344CB8AC3E}">
        <p14:creationId xmlns:p14="http://schemas.microsoft.com/office/powerpoint/2010/main" val="28850035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44274C9-76A5-4C68-ADA2-D7689914D116}"/>
              </a:ext>
            </a:extLst>
          </p:cNvPr>
          <p:cNvGraphicFramePr>
            <a:graphicFrameLocks noGrp="1"/>
          </p:cNvGraphicFramePr>
          <p:nvPr/>
        </p:nvGraphicFramePr>
        <p:xfrm>
          <a:off x="104776" y="157163"/>
          <a:ext cx="11782424" cy="6548946"/>
        </p:xfrm>
        <a:graphic>
          <a:graphicData uri="http://schemas.openxmlformats.org/drawingml/2006/table">
            <a:tbl>
              <a:tblPr firstRow="1" firstCol="1" bandRow="1"/>
              <a:tblGrid>
                <a:gridCol w="3065866">
                  <a:extLst>
                    <a:ext uri="{9D8B030D-6E8A-4147-A177-3AD203B41FA5}">
                      <a16:colId xmlns:a16="http://schemas.microsoft.com/office/drawing/2014/main" val="248219535"/>
                    </a:ext>
                  </a:extLst>
                </a:gridCol>
                <a:gridCol w="3419034">
                  <a:extLst>
                    <a:ext uri="{9D8B030D-6E8A-4147-A177-3AD203B41FA5}">
                      <a16:colId xmlns:a16="http://schemas.microsoft.com/office/drawing/2014/main" val="2456673974"/>
                    </a:ext>
                  </a:extLst>
                </a:gridCol>
                <a:gridCol w="5297524">
                  <a:extLst>
                    <a:ext uri="{9D8B030D-6E8A-4147-A177-3AD203B41FA5}">
                      <a16:colId xmlns:a16="http://schemas.microsoft.com/office/drawing/2014/main" val="2679222781"/>
                    </a:ext>
                  </a:extLst>
                </a:gridCol>
              </a:tblGrid>
              <a:tr h="359153">
                <a:tc>
                  <a:txBody>
                    <a:bodyPr/>
                    <a:lstStyle/>
                    <a:p>
                      <a:pPr marL="0" marR="0">
                        <a:lnSpc>
                          <a:spcPct val="107000"/>
                        </a:lnSpc>
                        <a:spcBef>
                          <a:spcPts val="0"/>
                        </a:spcBef>
                        <a:spcAft>
                          <a:spcPts val="0"/>
                        </a:spcAft>
                      </a:pPr>
                      <a:r>
                        <a:rPr lang="en-US" sz="2400" b="1">
                          <a:solidFill>
                            <a:srgbClr val="000000"/>
                          </a:solidFill>
                          <a:effectLst/>
                          <a:latin typeface="+mn-lt"/>
                          <a:ea typeface="Calibri" panose="020F0502020204030204" pitchFamily="34" charset="0"/>
                          <a:cs typeface="Arial" panose="020B0604020202020204" pitchFamily="34" charset="0"/>
                        </a:rPr>
                        <a:t>Aspect</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b="1" dirty="0">
                          <a:solidFill>
                            <a:srgbClr val="C00000"/>
                          </a:solidFill>
                          <a:effectLst/>
                          <a:latin typeface="+mn-lt"/>
                          <a:ea typeface="Calibri" panose="020F0502020204030204" pitchFamily="34" charset="0"/>
                          <a:cs typeface="Arial" panose="020B0604020202020204" pitchFamily="34" charset="0"/>
                        </a:rPr>
                        <a:t>General Writing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b="1" dirty="0">
                          <a:solidFill>
                            <a:srgbClr val="C00000"/>
                          </a:solidFill>
                          <a:effectLst/>
                          <a:latin typeface="+mn-lt"/>
                          <a:ea typeface="Calibri" panose="020F0502020204030204" pitchFamily="34" charset="0"/>
                          <a:cs typeface="Arial" panose="020B0604020202020204" pitchFamily="34" charset="0"/>
                        </a:rPr>
                        <a:t>Technical Writing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169367"/>
                  </a:ext>
                </a:extLst>
              </a:tr>
              <a:tr h="359153">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Purpose</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To entertain and inform</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latin typeface="+mn-lt"/>
                          <a:ea typeface="Calibri" panose="020F0502020204030204" pitchFamily="34" charset="0"/>
                          <a:cs typeface="Arial" panose="020B0604020202020204" pitchFamily="34" charset="0"/>
                        </a:rPr>
                        <a:t>Primarily to inform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2972950"/>
                  </a:ext>
                </a:extLst>
              </a:tr>
              <a:tr h="359153">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Emphasis</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latin typeface="+mn-lt"/>
                          <a:ea typeface="Calibri" panose="020F0502020204030204" pitchFamily="34" charset="0"/>
                          <a:cs typeface="Arial" panose="020B0604020202020204" pitchFamily="34" charset="0"/>
                        </a:rPr>
                        <a:t>General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effectLst/>
                          <a:latin typeface="+mn-lt"/>
                          <a:ea typeface="Calibri" panose="020F0502020204030204" pitchFamily="34" charset="0"/>
                          <a:cs typeface="Arial" panose="020B0604020202020204" pitchFamily="34" charset="0"/>
                        </a:rPr>
                        <a:t>Specific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7245736"/>
                  </a:ext>
                </a:extLst>
              </a:tr>
              <a:tr h="1115546">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Time frame or shelf life</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dirty="0">
                          <a:effectLst/>
                          <a:latin typeface="+mn-lt"/>
                          <a:ea typeface="Calibri" panose="020F0502020204030204" pitchFamily="34" charset="0"/>
                          <a:cs typeface="Arial" panose="020B0604020202020204" pitchFamily="34" charset="0"/>
                        </a:rPr>
                        <a:t>More ephemeral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 More permanent; for the record</a:t>
                      </a:r>
                      <a:endParaRPr lang="en-US" sz="240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 Ongoing/multiple/revised editions commo</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9364086"/>
                  </a:ext>
                </a:extLst>
              </a:tr>
              <a:tr h="737351">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External validation of writing</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Writing is often verified by fact-checkers, editors</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a:solidFill>
                            <a:srgbClr val="000000"/>
                          </a:solidFill>
                          <a:effectLst/>
                          <a:latin typeface="+mn-lt"/>
                          <a:ea typeface="Calibri" panose="020F0502020204030204" pitchFamily="34" charset="0"/>
                          <a:cs typeface="Arial" panose="020B0604020202020204" pitchFamily="34" charset="0"/>
                        </a:rPr>
                        <a:t>Writing (e.g. journal articles) may be reviewed anonymously by referees</a:t>
                      </a:r>
                      <a:endParaRPr lang="en-US" sz="24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0189892"/>
                  </a:ext>
                </a:extLst>
              </a:tr>
              <a:tr h="3384718">
                <a:tc>
                  <a:txBody>
                    <a:bodyPr/>
                    <a:lstStyle/>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Style</a:t>
                      </a:r>
                      <a:endParaRPr lang="en-US" sz="2400" dirty="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-Quotation common</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-Slang, puns, humor acceptable</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-Few footnotes, references</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-First-and second-person references common</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-Passive voice used less often</a:t>
                      </a:r>
                      <a:endParaRPr lang="en-US" sz="2400" dirty="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a:t>
                      </a:r>
                      <a:r>
                        <a:rPr lang="en-US" sz="2400" b="1" dirty="0">
                          <a:solidFill>
                            <a:srgbClr val="C00000"/>
                          </a:solidFill>
                          <a:effectLst/>
                          <a:latin typeface="+mn-lt"/>
                          <a:ea typeface="Calibri" panose="020F0502020204030204" pitchFamily="34" charset="0"/>
                          <a:cs typeface="Arial" panose="020B0604020202020204" pitchFamily="34" charset="0"/>
                        </a:rPr>
                        <a:t>Quotation</a:t>
                      </a:r>
                      <a:r>
                        <a:rPr lang="en-US" sz="2400" dirty="0">
                          <a:solidFill>
                            <a:srgbClr val="000000"/>
                          </a:solidFill>
                          <a:effectLst/>
                          <a:latin typeface="+mn-lt"/>
                          <a:ea typeface="Calibri" panose="020F0502020204030204" pitchFamily="34" charset="0"/>
                          <a:cs typeface="Arial" panose="020B0604020202020204" pitchFamily="34" charset="0"/>
                        </a:rPr>
                        <a:t> </a:t>
                      </a:r>
                      <a:r>
                        <a:rPr lang="en-US" sz="2400" b="1" dirty="0">
                          <a:solidFill>
                            <a:srgbClr val="C00000"/>
                          </a:solidFill>
                          <a:effectLst/>
                          <a:latin typeface="+mn-lt"/>
                          <a:ea typeface="Calibri" panose="020F0502020204030204" pitchFamily="34" charset="0"/>
                          <a:cs typeface="Arial" panose="020B0604020202020204" pitchFamily="34" charset="0"/>
                        </a:rPr>
                        <a:t>uncommon</a:t>
                      </a: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-Slang, puns, humor not readily acceptable</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-Footnotes, references common</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-First and second-person references uncommon</a:t>
                      </a:r>
                      <a:endParaRPr lang="en-US" sz="24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2400" dirty="0">
                          <a:solidFill>
                            <a:srgbClr val="000000"/>
                          </a:solidFill>
                          <a:effectLst/>
                          <a:latin typeface="+mn-lt"/>
                          <a:ea typeface="Calibri" panose="020F0502020204030204" pitchFamily="34" charset="0"/>
                          <a:cs typeface="Arial" panose="020B0604020202020204" pitchFamily="34" charset="0"/>
                        </a:rPr>
                        <a:t>-Passive voice used more oft</a:t>
                      </a:r>
                      <a:endParaRPr lang="en-US" sz="2400" dirty="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5102168"/>
                  </a:ext>
                </a:extLst>
              </a:tr>
            </a:tbl>
          </a:graphicData>
        </a:graphic>
      </p:graphicFrame>
    </p:spTree>
    <p:extLst>
      <p:ext uri="{BB962C8B-B14F-4D97-AF65-F5344CB8AC3E}">
        <p14:creationId xmlns:p14="http://schemas.microsoft.com/office/powerpoint/2010/main" val="2593365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1755</TotalTime>
  <Words>2647</Words>
  <Application>Microsoft Office PowerPoint</Application>
  <PresentationFormat>Widescreen</PresentationFormat>
  <Paragraphs>206</Paragraphs>
  <Slides>43</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43</vt:i4>
      </vt:variant>
    </vt:vector>
  </HeadingPairs>
  <TitlesOfParts>
    <vt:vector size="56" baseType="lpstr">
      <vt:lpstr>Aptos</vt:lpstr>
      <vt:lpstr>Aptos Display</vt:lpstr>
      <vt:lpstr>Arial</vt:lpstr>
      <vt:lpstr>Arial Unicode MS</vt:lpstr>
      <vt:lpstr>Caecilia-Heavy</vt:lpstr>
      <vt:lpstr>Calibri</vt:lpstr>
      <vt:lpstr>Calibri Light</vt:lpstr>
      <vt:lpstr>Gotham SSm A</vt:lpstr>
      <vt:lpstr>RdgVesta-Bold</vt:lpstr>
      <vt:lpstr>Times New Roman</vt:lpstr>
      <vt:lpstr>Wingdings</vt:lpstr>
      <vt:lpstr>Office Theme</vt:lpstr>
      <vt:lpstr>3_Office Theme</vt:lpstr>
      <vt:lpstr>ENGR 181W</vt:lpstr>
      <vt:lpstr>Structure of Technical Documents</vt:lpstr>
      <vt:lpstr>A sample IMRaD (Introduction, Methods, Results, and Discussion)-style paper about the function of a Raspberry Pi</vt:lpstr>
      <vt:lpstr>PowerPoint Presentation</vt:lpstr>
      <vt:lpstr>PowerPoint Presentation</vt:lpstr>
      <vt:lpstr>PowerPoint Presentation</vt:lpstr>
      <vt:lpstr>PowerPoint Presentation</vt:lpstr>
      <vt:lpstr>The pyramid principle for presenting complex information</vt:lpstr>
      <vt:lpstr>PowerPoint Presentation</vt:lpstr>
      <vt:lpstr>PowerPoint Presentation</vt:lpstr>
      <vt:lpstr>PowerPoint Presentation</vt:lpstr>
      <vt:lpstr>The pyramid principle for presenting complex information</vt:lpstr>
      <vt:lpstr>Why It Works:  • Clarity: It forces you to clarify your thinking.  • Efficiency: You get to the point quickly—ideal for busy  readers or listeners.  • Logic: It builds arguments in a way that feels natural and  convincing.</vt:lpstr>
      <vt:lpstr>Example 1:</vt:lpstr>
      <vt:lpstr>Example 2: Environmental and Ethical Aspect of Lithium –ion Batteries </vt:lpstr>
      <vt:lpstr>Example 2: Environmental and Ethical Aspect of Lithium –ion Batteries</vt:lpstr>
      <vt:lpstr>Example 2: Environmental and Ethical Aspect of Lithium –ion Batteries</vt:lpstr>
      <vt:lpstr>PowerPoint Presentation</vt:lpstr>
      <vt:lpstr>PowerPoint Presentation</vt:lpstr>
      <vt:lpstr>PowerPoint Presentation</vt:lpstr>
      <vt:lpstr>What is scientific writing?   Scientific writing is not just writing about science.  Scientific writing is a type of technical writing  that researchers and scientists write about  their studies and share it with others. </vt:lpstr>
      <vt:lpstr> Scientific writing must reflect the same precision of the research process.   Scientific communication demands:    - Precision    - the precise use of words and phrases   - Clarity, and   - Economy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Scientific / technical writing:   Highly technical information     - For people who may, or may not, be as knowledgeable   - They may, or may not, be a native speaker   - The research question, hypotheses, methods, analysis, and     conclusions must be stated clearly and simply.  - Facts, figures, and methods used in research must be precise and    exact - Description of the results must be precise and exact </vt:lpstr>
      <vt:lpstr> Accurate words and punctuation:     “Isotopes, which were discovered in 1853, are radioactive,”    reads as if all isotopes were discovered in 1853.   The writer intended to say: “The isotopes that were     discovered in 1853 are radioactive.” </vt:lpstr>
      <vt:lpstr> The organization of writing    Readability: If your reader has to work too    hard to understand your meaning or your organization,  you have a problem in your writing.    Remember, you are not writing to impress. You are  writing to communicate. </vt:lpstr>
      <vt:lpstr> Logic and organization:    Two important pillars of technical/scientific     writing   - In face-to-face explanation you can get an  instant    feedback  - In writing you have only one chance  </vt:lpstr>
      <vt:lpstr> The first step in being logical:   Creation of an outline    before you begin writing.    This is the step that takes the greatest investment of time.  </vt:lpstr>
      <vt:lpstr> - Every paragraph should have one topic sentence, not two or  three.   - All sentences in a paragraph should support or elaborate upon  what your topic sentence.   - All of your paragraphs should be logically organized around your  section headings or sub-headings.   - You should have a rationale for where each paragraph is placed.   - You must maintain a natural logic that is accessible to the reader.  </vt:lpstr>
      <vt:lpstr> - Use effective transitions between sections, paragraphs,  sentences, and within sentences.  - Use strong verbs and concrete nouns.   - Don’t start sentences with weak phrases like, “There are . . .“ or  “In order to determine,” instead of “To determine.” </vt:lpstr>
      <vt:lpstr> - Always strive to make the implicit explicit.    Just because you know what you meant to say    does not mean your audience does.  One other suggestion:   After you have written a section, step away from it for  a day and return with a fresh eye.    This will help you view your writing from the reader’s  perspective. </vt:lpstr>
      <vt:lpstr>The sixteen criteria</vt:lpstr>
      <vt:lpstr>The sixteen criteria</vt:lpstr>
      <vt:lpstr>The sixteen criteria</vt:lpstr>
      <vt:lpstr>The sixteen criteria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181W</dc:title>
  <dc:creator>Tofigh Heidarzadeh</dc:creator>
  <cp:lastModifiedBy>Tofigh Heidarzadeh</cp:lastModifiedBy>
  <cp:revision>10</cp:revision>
  <dcterms:created xsi:type="dcterms:W3CDTF">2025-04-13T00:38:36Z</dcterms:created>
  <dcterms:modified xsi:type="dcterms:W3CDTF">2025-04-14T22:22:29Z</dcterms:modified>
</cp:coreProperties>
</file>