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85" r:id="rId4"/>
    <p:sldId id="286" r:id="rId5"/>
    <p:sldId id="287" r:id="rId6"/>
    <p:sldId id="288" r:id="rId7"/>
    <p:sldId id="257" r:id="rId8"/>
    <p:sldId id="258" r:id="rId9"/>
    <p:sldId id="259" r:id="rId10"/>
    <p:sldId id="260" r:id="rId11"/>
    <p:sldId id="261"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2" r:id="rId30"/>
    <p:sldId id="283" r:id="rId31"/>
    <p:sldId id="289" r:id="rId32"/>
    <p:sldId id="290" r:id="rId33"/>
    <p:sldId id="29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6"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9BAF-25A3-F261-0FC2-6E494841AE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40B541-E468-4532-A318-39D02BB8D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351E09-5ACE-628C-2A10-830884E6B89E}"/>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36C96BE7-F821-DC25-8DD7-BB2C832AD8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C1241-E919-B11C-4BBC-26BA83AD1344}"/>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3005281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53F77-F5EA-6D11-0393-1A96EF162B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B9E6D2-5E3F-B0C5-5712-07203FAD98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53016A-CF35-8819-1F41-9B220C64DC3C}"/>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9A9ECBEB-5C0E-8611-5FF5-6FFA1B5367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96546-70AF-1842-AF14-ACD361FBDD8B}"/>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785396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EF0C-EBE8-25EA-D4E8-C80F8B4E48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4E816B-3183-7753-7BED-D538C032CA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A288FD-58F5-B353-C3AA-5E0C6887DAD9}"/>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51E37597-2D24-6DED-3106-8BC0D9372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FE31F4-B2F3-BAFD-5546-07FCF9B95C35}"/>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2752305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354C-AEB6-B5B0-D12B-E78BF87C7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AF288C-9F32-310A-D606-33D34C0B0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FC8FAC-8D94-C981-08C5-2DC8E6DCBE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61FA62-D0D8-BC79-77EA-0205D3AFE53A}"/>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6" name="Footer Placeholder 5">
            <a:extLst>
              <a:ext uri="{FF2B5EF4-FFF2-40B4-BE49-F238E27FC236}">
                <a16:creationId xmlns:a16="http://schemas.microsoft.com/office/drawing/2014/main" id="{07F7DE7E-A480-9474-A987-C8F2604E84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DFFA-E12E-564A-7A62-71905ECE5858}"/>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96859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565F6-1C56-CEA8-4D45-3A9897C53A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502070-ED0A-04EE-D858-53F54F4BF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778CE7-891B-A056-EEDF-DBB0302D68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B2CFDA-1955-14F8-4440-0220717B9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0ECBBD-F555-E1D7-1FA4-3A77CE8158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394C4A-D57D-59CF-A197-B65529D4D5CE}"/>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8" name="Footer Placeholder 7">
            <a:extLst>
              <a:ext uri="{FF2B5EF4-FFF2-40B4-BE49-F238E27FC236}">
                <a16:creationId xmlns:a16="http://schemas.microsoft.com/office/drawing/2014/main" id="{534EE71A-4F60-36AA-C502-CA6F3238C7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84C702-D4EA-E36D-FFD1-84D2B70C0897}"/>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4167155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4CBE-6061-C526-EC17-F8B2444D9E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065A6-A9DA-E6B7-3D9A-34D20140C08F}"/>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4" name="Footer Placeholder 3">
            <a:extLst>
              <a:ext uri="{FF2B5EF4-FFF2-40B4-BE49-F238E27FC236}">
                <a16:creationId xmlns:a16="http://schemas.microsoft.com/office/drawing/2014/main" id="{01C1C00E-0E88-7AC0-A999-A5A509B6F1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80DC04-545D-831E-1ECD-AF8319CF6C2F}"/>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181167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1D439F-E5A2-00E7-FD8E-EE5F60405753}"/>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3" name="Footer Placeholder 2">
            <a:extLst>
              <a:ext uri="{FF2B5EF4-FFF2-40B4-BE49-F238E27FC236}">
                <a16:creationId xmlns:a16="http://schemas.microsoft.com/office/drawing/2014/main" id="{D3E350A7-7E3B-1421-BEC4-BE7AC4544E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EF0964-0CA3-CCC4-22E4-6974EE89E07D}"/>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411599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8BF4C-3658-08A8-5B84-52C53B9727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495FA9-DF84-163C-9996-271398CED6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8F0435-37F5-4F71-0895-16E6A4886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FA334A-31D3-8718-B3EE-E84EC0CFFD92}"/>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6" name="Footer Placeholder 5">
            <a:extLst>
              <a:ext uri="{FF2B5EF4-FFF2-40B4-BE49-F238E27FC236}">
                <a16:creationId xmlns:a16="http://schemas.microsoft.com/office/drawing/2014/main" id="{D1F2EB96-0886-A1AC-1B77-CC2CA0769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A3EE7B-6998-9EE3-B708-625A32351EE5}"/>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2317121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34C0-7DDE-1DE4-DEC0-8416494A28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F5AAC4-0BEB-07BA-CB79-296DC3575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F195EF-0AC5-65D2-D951-FD276D5A98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469264-464F-AE46-6A12-5A617D04DE0F}"/>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6" name="Footer Placeholder 5">
            <a:extLst>
              <a:ext uri="{FF2B5EF4-FFF2-40B4-BE49-F238E27FC236}">
                <a16:creationId xmlns:a16="http://schemas.microsoft.com/office/drawing/2014/main" id="{327FBE60-CC92-163C-F6FA-D7D7B5B43A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78139E-EC6C-30B5-A3E2-A03A8240D674}"/>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1871029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B45A1-60FC-E919-5394-428B192BAF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36B2D8-30EF-DBAD-8150-E6ECE76468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6EF03-7616-1EDA-84C7-7F0B542FD1F7}"/>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7CCEF53A-71FE-4C22-2449-6EF98E523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897D9-1605-4F05-2DDC-721EEC92ADE9}"/>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1262855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9ACC33-04BE-1E47-9B78-8340DF552B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678CC3-1A4A-E974-10F8-E39E3E050A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5304E8-69FD-3B58-6B69-63ABE0E3793A}"/>
              </a:ext>
            </a:extLst>
          </p:cNvPr>
          <p:cNvSpPr>
            <a:spLocks noGrp="1"/>
          </p:cNvSpPr>
          <p:nvPr>
            <p:ph type="dt" sz="half" idx="10"/>
          </p:nvPr>
        </p:nvSpPr>
        <p:spPr/>
        <p:txBody>
          <a:body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9CBA63E2-689E-D4A4-CA59-668FFEA9E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C57A4-2F55-EBA7-67B0-8A58347C8877}"/>
              </a:ext>
            </a:extLst>
          </p:cNvPr>
          <p:cNvSpPr>
            <a:spLocks noGrp="1"/>
          </p:cNvSpPr>
          <p:nvPr>
            <p:ph type="sldNum" sz="quarter" idx="12"/>
          </p:nvPr>
        </p:nvSpPr>
        <p:spPr/>
        <p:txBody>
          <a:bodyPr/>
          <a:lstStyle/>
          <a:p>
            <a:fld id="{B3426C7F-7647-4E80-B23B-ADC2DA2363B3}" type="slidenum">
              <a:rPr lang="en-US" smtClean="0"/>
              <a:t>‹#›</a:t>
            </a:fld>
            <a:endParaRPr lang="en-US"/>
          </a:p>
        </p:txBody>
      </p:sp>
    </p:spTree>
    <p:extLst>
      <p:ext uri="{BB962C8B-B14F-4D97-AF65-F5344CB8AC3E}">
        <p14:creationId xmlns:p14="http://schemas.microsoft.com/office/powerpoint/2010/main" val="124936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CAE78-7BF2-9E58-AF2A-09700B2A54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EACFB7-ECC9-D727-51BC-B9B39EE1A6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59AFF4-F09C-9C57-4AFD-310527D59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698968-3D77-44EE-87D3-4403E3EEF11B}" type="datetimeFigureOut">
              <a:rPr lang="en-US" smtClean="0"/>
              <a:t>4/13/2026</a:t>
            </a:fld>
            <a:endParaRPr lang="en-US"/>
          </a:p>
        </p:txBody>
      </p:sp>
      <p:sp>
        <p:nvSpPr>
          <p:cNvPr id="5" name="Footer Placeholder 4">
            <a:extLst>
              <a:ext uri="{FF2B5EF4-FFF2-40B4-BE49-F238E27FC236}">
                <a16:creationId xmlns:a16="http://schemas.microsoft.com/office/drawing/2014/main" id="{CCC5C826-5DEB-3F9C-673A-98C4617FC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66E442-0D49-9630-24EC-9CEABCA1F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426C7F-7647-4E80-B23B-ADC2DA2363B3}" type="slidenum">
              <a:rPr lang="en-US" smtClean="0"/>
              <a:t>‹#›</a:t>
            </a:fld>
            <a:endParaRPr lang="en-US"/>
          </a:p>
        </p:txBody>
      </p:sp>
    </p:spTree>
    <p:extLst>
      <p:ext uri="{BB962C8B-B14F-4D97-AF65-F5344CB8AC3E}">
        <p14:creationId xmlns:p14="http://schemas.microsoft.com/office/powerpoint/2010/main" val="3132881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FAD1-DDDD-0476-CA7E-8ECAF8053268}"/>
              </a:ext>
            </a:extLst>
          </p:cNvPr>
          <p:cNvSpPr>
            <a:spLocks noGrp="1"/>
          </p:cNvSpPr>
          <p:nvPr>
            <p:ph type="ctrTitle"/>
          </p:nvPr>
        </p:nvSpPr>
        <p:spPr/>
        <p:txBody>
          <a:bodyPr>
            <a:normAutofit fontScale="90000"/>
          </a:bodyPr>
          <a:lstStyle/>
          <a:p>
            <a:r>
              <a:rPr lang="en-US" dirty="0"/>
              <a:t>AI in Technical Communication</a:t>
            </a:r>
            <a:br>
              <a:rPr lang="en-US" dirty="0"/>
            </a:br>
            <a:endParaRPr lang="en-US" dirty="0"/>
          </a:p>
        </p:txBody>
      </p:sp>
    </p:spTree>
    <p:extLst>
      <p:ext uri="{BB962C8B-B14F-4D97-AF65-F5344CB8AC3E}">
        <p14:creationId xmlns:p14="http://schemas.microsoft.com/office/powerpoint/2010/main" val="408367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FB532-5C4A-CB1B-5456-0B1B55FE5DE8}"/>
              </a:ext>
            </a:extLst>
          </p:cNvPr>
          <p:cNvSpPr txBox="1"/>
          <p:nvPr/>
        </p:nvSpPr>
        <p:spPr>
          <a:xfrm>
            <a:off x="51816" y="495098"/>
            <a:ext cx="12088368" cy="5078313"/>
          </a:xfrm>
          <a:prstGeom prst="rect">
            <a:avLst/>
          </a:prstGeom>
          <a:noFill/>
        </p:spPr>
        <p:txBody>
          <a:bodyPr wrap="square">
            <a:spAutoFit/>
          </a:bodyPr>
          <a:lstStyle/>
          <a:p>
            <a:r>
              <a:rPr lang="en-US" sz="3600" b="1" dirty="0"/>
              <a:t>AI will not replace engineers.</a:t>
            </a:r>
          </a:p>
          <a:p>
            <a:endParaRPr lang="en-US" sz="3600" dirty="0"/>
          </a:p>
          <a:p>
            <a:r>
              <a:rPr lang="en-US" sz="3600" dirty="0"/>
              <a:t>But engineers who know how to use AI effectively may replace those who do not.”</a:t>
            </a:r>
          </a:p>
          <a:p>
            <a:endParaRPr lang="en-US" sz="3600" dirty="0"/>
          </a:p>
          <a:p>
            <a:endParaRPr lang="en-US" sz="3600" dirty="0"/>
          </a:p>
          <a:p>
            <a:r>
              <a:rPr lang="en-US" sz="3600" dirty="0"/>
              <a:t>In technical communication, AI is becoming a force multiplier - but only when used critically, ethically, and professionally.</a:t>
            </a:r>
          </a:p>
        </p:txBody>
      </p:sp>
    </p:spTree>
    <p:extLst>
      <p:ext uri="{BB962C8B-B14F-4D97-AF65-F5344CB8AC3E}">
        <p14:creationId xmlns:p14="http://schemas.microsoft.com/office/powerpoint/2010/main" val="418904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FB532-5C4A-CB1B-5456-0B1B55FE5DE8}"/>
              </a:ext>
            </a:extLst>
          </p:cNvPr>
          <p:cNvSpPr txBox="1"/>
          <p:nvPr/>
        </p:nvSpPr>
        <p:spPr>
          <a:xfrm>
            <a:off x="51816" y="367082"/>
            <a:ext cx="12088368" cy="52754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Aptos" panose="02110004020202020204"/>
                <a:ea typeface="+mn-ea"/>
                <a:cs typeface="+mn-cs"/>
              </a:rPr>
              <a:t>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b="1" dirty="0">
              <a:solidFill>
                <a:prstClr val="black"/>
              </a:solidFill>
              <a:latin typeface="Aptos" panose="02110004020202020204"/>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How can engineers use AI to improve technical writing without sacrificing </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3600" b="1" dirty="0">
                <a:solidFill>
                  <a:prstClr val="black"/>
                </a:solidFill>
                <a:latin typeface="Aptos" panose="02110004020202020204"/>
              </a:rPr>
              <a:t>	- </a:t>
            </a: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accuracy, </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3600" b="1" dirty="0">
                <a:solidFill>
                  <a:prstClr val="black"/>
                </a:solidFill>
                <a:latin typeface="Aptos" panose="02110004020202020204"/>
              </a:rPr>
              <a:t>	- </a:t>
            </a: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ethics, and</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3600" b="1" dirty="0">
                <a:solidFill>
                  <a:prstClr val="black"/>
                </a:solidFill>
                <a:latin typeface="Aptos" panose="02110004020202020204"/>
              </a:rPr>
              <a:t>	-</a:t>
            </a: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 professional responsibility?</a:t>
            </a: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3371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FB532-5C4A-CB1B-5456-0B1B55FE5DE8}"/>
              </a:ext>
            </a:extLst>
          </p:cNvPr>
          <p:cNvSpPr txBox="1"/>
          <p:nvPr/>
        </p:nvSpPr>
        <p:spPr>
          <a:xfrm>
            <a:off x="51816" y="-79412"/>
            <a:ext cx="12088368" cy="69374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Aptos" panose="02110004020202020204"/>
                <a:ea typeface="+mn-ea"/>
                <a:cs typeface="+mn-cs"/>
              </a:rPr>
              <a:t>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 Would you trust AI to write the documentation for an aircraft control system?</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US" sz="3600" b="1" dirty="0">
              <a:solidFill>
                <a:prstClr val="black"/>
              </a:solidFill>
              <a:latin typeface="Aptos" panose="02110004020202020204"/>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 Would you trust AI to write the documentation for a national power grid?</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C00000"/>
              </a:solidFill>
              <a:effectLst/>
              <a:uLnTx/>
              <a:uFillTx/>
              <a:latin typeface="Aptos" panose="0211000402020202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Aptos" panose="02110004020202020204"/>
                <a:ea typeface="+mn-ea"/>
                <a:cs typeface="+mn-cs"/>
              </a:rPr>
              <a:t>NO!, not without rigorous, continuous human oversight. </a:t>
            </a:r>
          </a:p>
        </p:txBody>
      </p:sp>
    </p:spTree>
    <p:extLst>
      <p:ext uri="{BB962C8B-B14F-4D97-AF65-F5344CB8AC3E}">
        <p14:creationId xmlns:p14="http://schemas.microsoft.com/office/powerpoint/2010/main" val="3657515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FB532-5C4A-CB1B-5456-0B1B55FE5DE8}"/>
              </a:ext>
            </a:extLst>
          </p:cNvPr>
          <p:cNvSpPr txBox="1"/>
          <p:nvPr/>
        </p:nvSpPr>
        <p:spPr>
          <a:xfrm>
            <a:off x="51816" y="-79412"/>
            <a:ext cx="12088368" cy="416742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AI as Junior Intern</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Think of AI as an extremely fast intern: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helpful, productive, often impressive - but sometimes confidently wrong.</a:t>
            </a:r>
          </a:p>
        </p:txBody>
      </p:sp>
    </p:spTree>
    <p:extLst>
      <p:ext uri="{BB962C8B-B14F-4D97-AF65-F5344CB8AC3E}">
        <p14:creationId xmlns:p14="http://schemas.microsoft.com/office/powerpoint/2010/main" val="262844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FB532-5C4A-CB1B-5456-0B1B55FE5DE8}"/>
              </a:ext>
            </a:extLst>
          </p:cNvPr>
          <p:cNvSpPr txBox="1"/>
          <p:nvPr/>
        </p:nvSpPr>
        <p:spPr>
          <a:xfrm>
            <a:off x="51816" y="-79412"/>
            <a:ext cx="12088368" cy="582941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AI as Calculator for Writing</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1" u="none" strike="noStrike" kern="1200" cap="none" spc="0" normalizeH="0" baseline="0" noProof="0" dirty="0">
                <a:ln>
                  <a:noFill/>
                </a:ln>
                <a:solidFill>
                  <a:srgbClr val="C00000"/>
                </a:solidFill>
                <a:effectLst/>
                <a:uLnTx/>
                <a:uFillTx/>
                <a:latin typeface="Aptos" panose="02110004020202020204"/>
                <a:ea typeface="+mn-ea"/>
                <a:cs typeface="+mn-cs"/>
              </a:rPr>
              <a:t>Useful analogy for engineers: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black"/>
                </a:solidFill>
                <a:effectLst/>
                <a:uLnTx/>
                <a:uFillTx/>
                <a:latin typeface="Aptos" panose="02110004020202020204"/>
                <a:ea typeface="+mn-ea"/>
                <a:cs typeface="+mn-cs"/>
              </a:rPr>
              <a:t>Just as calculators changed engineering mathematics but did not eliminate the need to understand math, AI changes writing but does not eliminate the need to understand communication.</a:t>
            </a:r>
          </a:p>
        </p:txBody>
      </p:sp>
    </p:spTree>
    <p:extLst>
      <p:ext uri="{BB962C8B-B14F-4D97-AF65-F5344CB8AC3E}">
        <p14:creationId xmlns:p14="http://schemas.microsoft.com/office/powerpoint/2010/main" val="3447405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9BB6-20F9-4F88-819F-0D0913C9AA5D}"/>
              </a:ext>
            </a:extLst>
          </p:cNvPr>
          <p:cNvSpPr>
            <a:spLocks noGrp="1"/>
          </p:cNvSpPr>
          <p:nvPr>
            <p:ph type="title"/>
          </p:nvPr>
        </p:nvSpPr>
        <p:spPr>
          <a:xfrm>
            <a:off x="1" y="1"/>
            <a:ext cx="11978640" cy="6858000"/>
          </a:xfrm>
        </p:spPr>
        <p:txBody>
          <a:bodyPr>
            <a:normAutofit fontScale="90000"/>
          </a:bodyPr>
          <a:lstStyle/>
          <a:p>
            <a:pPr marL="571500" indent="-571500">
              <a:lnSpc>
                <a:spcPct val="150000"/>
              </a:lnSpc>
              <a:buFont typeface="Arial" panose="020B0604020202020204" pitchFamily="34" charset="0"/>
              <a:buChar char="•"/>
            </a:pPr>
            <a:r>
              <a:rPr lang="en-US" b="1" dirty="0"/>
              <a:t>Core Concept: </a:t>
            </a:r>
            <a:br>
              <a:rPr lang="en-US" b="1" dirty="0"/>
            </a:br>
            <a:r>
              <a:rPr lang="en-US" b="1" dirty="0"/>
              <a:t>- </a:t>
            </a:r>
            <a:r>
              <a:rPr lang="en-US" dirty="0"/>
              <a:t>Moving from "AI as a Creator" to "AI as a Co-Pilot." </a:t>
            </a:r>
            <a:br>
              <a:rPr lang="en-US" dirty="0"/>
            </a:br>
            <a:br>
              <a:rPr lang="en-US" dirty="0"/>
            </a:br>
            <a:r>
              <a:rPr lang="en-US" dirty="0"/>
              <a:t>- For engineers, the goal is to use Large Language Models (LLMs) to reduce the "</a:t>
            </a:r>
            <a:r>
              <a:rPr lang="en-US" i="1" dirty="0">
                <a:solidFill>
                  <a:srgbClr val="FF0000"/>
                </a:solidFill>
              </a:rPr>
              <a:t>blank page syndrome</a:t>
            </a:r>
            <a:r>
              <a:rPr lang="en-US" dirty="0"/>
              <a:t>" while maintaining absolute technical accuracy and security.</a:t>
            </a:r>
            <a:br>
              <a:rPr lang="en-US" dirty="0"/>
            </a:br>
            <a:endParaRPr lang="en-US" dirty="0"/>
          </a:p>
        </p:txBody>
      </p:sp>
    </p:spTree>
    <p:extLst>
      <p:ext uri="{BB962C8B-B14F-4D97-AF65-F5344CB8AC3E}">
        <p14:creationId xmlns:p14="http://schemas.microsoft.com/office/powerpoint/2010/main" val="117638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1368D5-5A01-7C2B-5CB1-315AFA6AB836}"/>
              </a:ext>
            </a:extLst>
          </p:cNvPr>
          <p:cNvSpPr txBox="1"/>
          <p:nvPr/>
        </p:nvSpPr>
        <p:spPr>
          <a:xfrm>
            <a:off x="302996" y="586945"/>
            <a:ext cx="11586007" cy="4998420"/>
          </a:xfrm>
          <a:prstGeom prst="rect">
            <a:avLst/>
          </a:prstGeom>
          <a:noFill/>
        </p:spPr>
        <p:txBody>
          <a:bodyPr wrap="square">
            <a:spAutoFit/>
          </a:bodyPr>
          <a:lstStyle/>
          <a:p>
            <a:pPr>
              <a:lnSpc>
                <a:spcPct val="150000"/>
              </a:lnSpc>
            </a:pPr>
            <a:r>
              <a:rPr lang="en-US" sz="3600" b="1" dirty="0"/>
              <a:t>Blank page syndrome</a:t>
            </a:r>
            <a:r>
              <a:rPr lang="en-US" sz="3600" dirty="0"/>
              <a:t> (often called </a:t>
            </a:r>
            <a:r>
              <a:rPr lang="en-US" sz="3600" dirty="0">
                <a:solidFill>
                  <a:srgbClr val="FF0000"/>
                </a:solidFill>
              </a:rPr>
              <a:t>writer's block</a:t>
            </a:r>
            <a:r>
              <a:rPr lang="en-US" sz="3600" dirty="0"/>
              <a:t>) is the psychological stall that occurs when you are faced with a fresh, empty document and find yourself unable to begin.</a:t>
            </a:r>
          </a:p>
          <a:p>
            <a:pPr>
              <a:lnSpc>
                <a:spcPct val="150000"/>
              </a:lnSpc>
            </a:pPr>
            <a:endParaRPr lang="en-US" sz="3600" dirty="0"/>
          </a:p>
          <a:p>
            <a:pPr>
              <a:lnSpc>
                <a:spcPct val="150000"/>
              </a:lnSpc>
            </a:pPr>
            <a:r>
              <a:rPr lang="en-US" sz="3600" dirty="0"/>
              <a:t> It is the gap between the </a:t>
            </a:r>
            <a:r>
              <a:rPr lang="en-US" sz="3600" b="1" dirty="0">
                <a:solidFill>
                  <a:srgbClr val="FF0000"/>
                </a:solidFill>
              </a:rPr>
              <a:t>desire to create</a:t>
            </a:r>
            <a:r>
              <a:rPr lang="en-US" sz="3600" dirty="0">
                <a:solidFill>
                  <a:srgbClr val="FF0000"/>
                </a:solidFill>
              </a:rPr>
              <a:t> </a:t>
            </a:r>
            <a:r>
              <a:rPr lang="en-US" sz="3600" dirty="0"/>
              <a:t>and the </a:t>
            </a:r>
            <a:r>
              <a:rPr lang="en-US" sz="3600" b="1" dirty="0">
                <a:solidFill>
                  <a:srgbClr val="FF0000"/>
                </a:solidFill>
              </a:rPr>
              <a:t>ability to produce</a:t>
            </a:r>
            <a:r>
              <a:rPr lang="en-US" sz="3600" dirty="0"/>
              <a:t> the first few words or lines.</a:t>
            </a:r>
          </a:p>
        </p:txBody>
      </p:sp>
    </p:spTree>
    <p:extLst>
      <p:ext uri="{BB962C8B-B14F-4D97-AF65-F5344CB8AC3E}">
        <p14:creationId xmlns:p14="http://schemas.microsoft.com/office/powerpoint/2010/main" val="268028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AD2BC-392A-A80E-3EF9-9389551EB5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F1675A-0576-8BCB-8590-353F82C2EC4E}"/>
              </a:ext>
            </a:extLst>
          </p:cNvPr>
          <p:cNvSpPr txBox="1"/>
          <p:nvPr/>
        </p:nvSpPr>
        <p:spPr>
          <a:xfrm>
            <a:off x="205604" y="127040"/>
            <a:ext cx="11586007" cy="5509200"/>
          </a:xfrm>
          <a:prstGeom prst="rect">
            <a:avLst/>
          </a:prstGeom>
          <a:noFill/>
        </p:spPr>
        <p:txBody>
          <a:bodyPr wrap="square">
            <a:spAutoFit/>
          </a:bodyPr>
          <a:lstStyle/>
          <a:p>
            <a:pPr>
              <a:buNone/>
            </a:pPr>
            <a:r>
              <a:rPr lang="en-US" sz="3600" b="1" dirty="0"/>
              <a:t>Why It Happens?</a:t>
            </a:r>
          </a:p>
          <a:p>
            <a:pPr>
              <a:buNone/>
            </a:pPr>
            <a:endParaRPr lang="en-US" sz="3600" b="1" dirty="0"/>
          </a:p>
          <a:p>
            <a:pPr>
              <a:buNone/>
            </a:pPr>
            <a:r>
              <a:rPr lang="en-US" sz="3200" dirty="0"/>
              <a:t>It rarely stems from a lack of ideas. Instead, it is usually triggered by:</a:t>
            </a:r>
          </a:p>
          <a:p>
            <a:pPr>
              <a:buFont typeface="Arial" panose="020B0604020202020204" pitchFamily="34" charset="0"/>
              <a:buChar char="•"/>
            </a:pPr>
            <a:r>
              <a:rPr lang="en-US" sz="3600" b="1" dirty="0">
                <a:solidFill>
                  <a:srgbClr val="FF0000"/>
                </a:solidFill>
              </a:rPr>
              <a:t>Perfectionism</a:t>
            </a:r>
            <a:r>
              <a:rPr lang="en-US" sz="3600" b="1" dirty="0"/>
              <a:t>:</a:t>
            </a:r>
            <a:r>
              <a:rPr lang="en-US" sz="3600" dirty="0"/>
              <a:t> </a:t>
            </a:r>
            <a:r>
              <a:rPr lang="en-US" sz="2800" dirty="0"/>
              <a:t>The fear that the first draft won't be "good enough," leading to self-censorship before a single word is written.</a:t>
            </a:r>
          </a:p>
          <a:p>
            <a:pPr>
              <a:buFont typeface="Arial" panose="020B0604020202020204" pitchFamily="34" charset="0"/>
              <a:buChar char="•"/>
            </a:pPr>
            <a:endParaRPr lang="en-US" sz="2800" dirty="0"/>
          </a:p>
          <a:p>
            <a:pPr>
              <a:buFont typeface="Arial" panose="020B0604020202020204" pitchFamily="34" charset="0"/>
              <a:buChar char="•"/>
            </a:pPr>
            <a:r>
              <a:rPr lang="en-US" sz="3600" b="1" dirty="0">
                <a:solidFill>
                  <a:srgbClr val="FF0000"/>
                </a:solidFill>
              </a:rPr>
              <a:t>Analysis Paralysis</a:t>
            </a:r>
            <a:r>
              <a:rPr lang="en-US" sz="3600" b="1" dirty="0"/>
              <a:t>:</a:t>
            </a:r>
            <a:r>
              <a:rPr lang="en-US" sz="3600" dirty="0"/>
              <a:t> </a:t>
            </a:r>
            <a:r>
              <a:rPr lang="en-US" sz="2800" dirty="0"/>
              <a:t>Having too many ideas or directions and being unable to choose the "perfect" starting point.</a:t>
            </a:r>
          </a:p>
          <a:p>
            <a:pPr>
              <a:buFont typeface="Arial" panose="020B0604020202020204" pitchFamily="34" charset="0"/>
              <a:buChar char="•"/>
            </a:pPr>
            <a:endParaRPr lang="en-US" sz="2800" dirty="0"/>
          </a:p>
          <a:p>
            <a:pPr>
              <a:buFont typeface="Arial" panose="020B0604020202020204" pitchFamily="34" charset="0"/>
              <a:buChar char="•"/>
            </a:pPr>
            <a:r>
              <a:rPr lang="en-US" sz="3600" b="1" dirty="0">
                <a:solidFill>
                  <a:srgbClr val="FF0000"/>
                </a:solidFill>
              </a:rPr>
              <a:t>High Stakes</a:t>
            </a:r>
            <a:r>
              <a:rPr lang="en-US" sz="3600" b="1" dirty="0"/>
              <a:t>:</a:t>
            </a:r>
            <a:r>
              <a:rPr lang="en-US" sz="3600" dirty="0"/>
              <a:t> </a:t>
            </a:r>
            <a:r>
              <a:rPr lang="en-US" sz="2800" dirty="0"/>
              <a:t>Feeling that the project is so important (like a fellowship proposal or a major curriculum update) that the opening must be profound.</a:t>
            </a:r>
          </a:p>
        </p:txBody>
      </p:sp>
    </p:spTree>
    <p:extLst>
      <p:ext uri="{BB962C8B-B14F-4D97-AF65-F5344CB8AC3E}">
        <p14:creationId xmlns:p14="http://schemas.microsoft.com/office/powerpoint/2010/main" val="501583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32C8-E17C-9CC8-D3AA-ACBDC689EA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810416-F7BD-9841-18C6-505F39A1B9DC}"/>
              </a:ext>
            </a:extLst>
          </p:cNvPr>
          <p:cNvSpPr txBox="1"/>
          <p:nvPr/>
        </p:nvSpPr>
        <p:spPr>
          <a:xfrm>
            <a:off x="0" y="40469"/>
            <a:ext cx="12192000" cy="6869958"/>
          </a:xfrm>
          <a:prstGeom prst="rect">
            <a:avLst/>
          </a:prstGeom>
          <a:noFill/>
        </p:spPr>
        <p:txBody>
          <a:bodyPr wrap="square">
            <a:spAutoFit/>
          </a:bodyPr>
          <a:lstStyle/>
          <a:p>
            <a:pPr marL="0" marR="0">
              <a:lnSpc>
                <a:spcPct val="115000"/>
              </a:lnSpc>
              <a:spcAft>
                <a:spcPts val="800"/>
              </a:spcAft>
              <a:buNone/>
            </a:pPr>
            <a:r>
              <a:rPr lang="en-US" sz="3600" b="1" kern="0" dirty="0">
                <a:effectLst/>
                <a:latin typeface="Arial" panose="020B0604020202020204" pitchFamily="34" charset="0"/>
                <a:ea typeface="Times New Roman" panose="02020603050405020304" pitchFamily="18" charset="0"/>
                <a:cs typeface="Arial" panose="020B0604020202020204" pitchFamily="34" charset="0"/>
              </a:rPr>
              <a:t>1. AI Opportunities: The "Force Multiplier"</a:t>
            </a:r>
            <a:endParaRPr lang="en-US" sz="3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Rapid Summarization</a:t>
            </a:r>
            <a:r>
              <a:rPr lang="en-US" sz="28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Converting 50 pages of raw test data or research into a 200-word Executive Summary.</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Style Transformation</a:t>
            </a:r>
            <a:r>
              <a:rPr lang="en-US" sz="28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Instantly converting "Engineer-speak" (jargon-heavy) into "Stakeholder-speak" (benefit-focused).</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Automated Formatting</a:t>
            </a:r>
            <a:r>
              <a:rPr lang="en-US" sz="28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Taking unformatted notes and generating structured Markdown, LaTeX, or HTML code.</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Language Bridge</a:t>
            </a:r>
            <a:r>
              <a:rPr lang="en-US" sz="28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Helping non-native speakers polish grammar and tone to meet international professional standards.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6647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15056-7DD5-68CE-3024-B4445F1216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8ECCE9-F986-120E-1AAA-FDD8EEC95884}"/>
              </a:ext>
            </a:extLst>
          </p:cNvPr>
          <p:cNvSpPr txBox="1"/>
          <p:nvPr/>
        </p:nvSpPr>
        <p:spPr>
          <a:xfrm>
            <a:off x="0" y="40469"/>
            <a:ext cx="12192000" cy="6939144"/>
          </a:xfrm>
          <a:prstGeom prst="rect">
            <a:avLst/>
          </a:prstGeom>
          <a:noFill/>
        </p:spPr>
        <p:txBody>
          <a:bodyPr wrap="square">
            <a:spAutoFit/>
          </a:bodyPr>
          <a:lstStyle/>
          <a:p>
            <a:pPr marL="0" marR="0">
              <a:lnSpc>
                <a:spcPct val="115000"/>
              </a:lnSpc>
              <a:spcAft>
                <a:spcPts val="800"/>
              </a:spcAft>
              <a:buNone/>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2. Pitfalls: The "Engineering Hazards“</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6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Hallucinations</a:t>
            </a:r>
            <a:r>
              <a:rPr lang="en-US" sz="2600" b="1" i="1" kern="0" dirty="0">
                <a:effectLst/>
                <a:latin typeface="Arial" panose="020B0604020202020204" pitchFamily="34" charset="0"/>
                <a:ea typeface="Times New Roman" panose="02020603050405020304" pitchFamily="18" charset="0"/>
                <a:cs typeface="Arial" panose="020B0604020202020204" pitchFamily="34" charset="0"/>
              </a:rPr>
              <a:t>:</a:t>
            </a:r>
            <a:r>
              <a:rPr lang="en-US" sz="2600" i="1" kern="0" dirty="0">
                <a:effectLst/>
                <a:latin typeface="Arial" panose="020B0604020202020204" pitchFamily="34" charset="0"/>
                <a:ea typeface="Times New Roman" panose="02020603050405020304" pitchFamily="18" charset="0"/>
                <a:cs typeface="Arial" panose="020B0604020202020204" pitchFamily="34" charset="0"/>
              </a:rPr>
              <a:t> </a:t>
            </a:r>
            <a:r>
              <a:rPr lang="en-US" sz="2600" kern="0" dirty="0">
                <a:effectLst/>
                <a:latin typeface="Arial" panose="020B0604020202020204" pitchFamily="34" charset="0"/>
                <a:ea typeface="Times New Roman" panose="02020603050405020304" pitchFamily="18" charset="0"/>
                <a:cs typeface="Arial" panose="020B0604020202020204" pitchFamily="34" charset="0"/>
              </a:rPr>
              <a:t>AI may confidently invent "facts," such as specific torque requirements or material tolerances that do not exist.</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6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Data Privacy </a:t>
            </a:r>
            <a:r>
              <a:rPr lang="en-US" sz="2600" b="1" kern="0" dirty="0">
                <a:effectLst/>
                <a:latin typeface="Arial" panose="020B0604020202020204" pitchFamily="34" charset="0"/>
                <a:ea typeface="Times New Roman" panose="02020603050405020304" pitchFamily="18" charset="0"/>
                <a:cs typeface="Arial" panose="020B0604020202020204" pitchFamily="34" charset="0"/>
              </a:rPr>
              <a:t>(Shadow IT):</a:t>
            </a:r>
            <a:r>
              <a:rPr lang="en-US" sz="2600" kern="0" dirty="0">
                <a:effectLst/>
                <a:latin typeface="Arial" panose="020B0604020202020204" pitchFamily="34" charset="0"/>
                <a:ea typeface="Times New Roman" panose="02020603050405020304" pitchFamily="18" charset="0"/>
                <a:cs typeface="Arial" panose="020B0604020202020204" pitchFamily="34" charset="0"/>
              </a:rPr>
              <a:t> Uploading proprietary schematics or trade secrets into a public LLM can violate IP laws and company policy.</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6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Lack of Context</a:t>
            </a:r>
            <a:r>
              <a:rPr lang="en-US" sz="26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600" kern="0" dirty="0">
                <a:effectLst/>
                <a:latin typeface="Arial" panose="020B0604020202020204" pitchFamily="34" charset="0"/>
                <a:ea typeface="Times New Roman" panose="02020603050405020304" pitchFamily="18" charset="0"/>
                <a:cs typeface="Arial" panose="020B0604020202020204" pitchFamily="34" charset="0"/>
              </a:rPr>
              <a:t> </a:t>
            </a:r>
            <a:r>
              <a:rPr lang="en-US" sz="2600" i="1" kern="0" dirty="0">
                <a:effectLst/>
                <a:latin typeface="Arial" panose="020B0604020202020204" pitchFamily="34" charset="0"/>
                <a:ea typeface="Times New Roman" panose="02020603050405020304" pitchFamily="18" charset="0"/>
                <a:cs typeface="Arial" panose="020B0604020202020204" pitchFamily="34" charset="0"/>
              </a:rPr>
              <a:t>AI </a:t>
            </a:r>
            <a:r>
              <a:rPr lang="en-US" sz="2600" i="1" u="sng" kern="0" dirty="0">
                <a:effectLst/>
                <a:latin typeface="Arial" panose="020B0604020202020204" pitchFamily="34" charset="0"/>
                <a:ea typeface="Times New Roman" panose="02020603050405020304" pitchFamily="18" charset="0"/>
                <a:cs typeface="Arial" panose="020B0604020202020204" pitchFamily="34" charset="0"/>
              </a:rPr>
              <a:t>does not understand physical constraints or safety-critical environments unless explicitly told</a:t>
            </a:r>
            <a:r>
              <a:rPr lang="en-US" sz="2600" kern="0" dirty="0">
                <a:effectLst/>
                <a:latin typeface="Arial" panose="020B0604020202020204" pitchFamily="34" charset="0"/>
                <a:ea typeface="Times New Roman" panose="02020603050405020304" pitchFamily="18" charset="0"/>
                <a:cs typeface="Arial" panose="020B0604020202020204" pitchFamily="34" charset="0"/>
              </a:rPr>
              <a:t>.</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600" b="1" i="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Degradation of Skill</a:t>
            </a:r>
            <a:r>
              <a:rPr lang="en-US" sz="2600" b="1" kern="0" dirty="0">
                <a:effectLst/>
                <a:latin typeface="Arial" panose="020B0604020202020204" pitchFamily="34" charset="0"/>
                <a:ea typeface="Times New Roman" panose="02020603050405020304" pitchFamily="18" charset="0"/>
                <a:cs typeface="Arial" panose="020B0604020202020204" pitchFamily="34" charset="0"/>
              </a:rPr>
              <a:t>:</a:t>
            </a:r>
            <a:r>
              <a:rPr lang="en-US" sz="2600" kern="0" dirty="0">
                <a:effectLst/>
                <a:latin typeface="Arial" panose="020B0604020202020204" pitchFamily="34" charset="0"/>
                <a:ea typeface="Times New Roman" panose="02020603050405020304" pitchFamily="18" charset="0"/>
                <a:cs typeface="Arial" panose="020B0604020202020204" pitchFamily="34" charset="0"/>
              </a:rPr>
              <a:t> Over-reliance can lead to a "black box" mentality where the engineer no longer understands the documentation they are signing off on.</a:t>
            </a:r>
            <a:endParaRPr lang="en-US" sz="26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456008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287B-497F-4D37-4670-8FA960D2EC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343CC5-360F-0113-A0FD-07E19EDD923E}"/>
              </a:ext>
            </a:extLst>
          </p:cNvPr>
          <p:cNvSpPr txBox="1"/>
          <p:nvPr/>
        </p:nvSpPr>
        <p:spPr>
          <a:xfrm>
            <a:off x="140677" y="40469"/>
            <a:ext cx="12011646" cy="6232860"/>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5 Practical Examples for Engineering Students</a:t>
            </a: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Example A: Summarizing Complex Research</a:t>
            </a: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Task:</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An engineer has a 40-page technical paper on "Gallium Nitride (</a:t>
            </a:r>
            <a:r>
              <a:rPr kumimoji="0" lang="en-US" sz="2800" b="0" i="0" u="none" strike="noStrike" kern="0" cap="none" spc="0" normalizeH="0" baseline="0" noProof="0" dirty="0" err="1">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GaN</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Semiconductors."</a:t>
            </a: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AI Use:</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"Summarize the thermal conductivity findings of this paper into five bullet points for a project manager.“</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Result:</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The engineer saves two hours of reading but </a:t>
            </a:r>
            <a:r>
              <a:rPr kumimoji="0" lang="en-US" sz="2800" b="1" i="0" u="none" strike="noStrike" kern="0" cap="none" spc="0" normalizeH="0" baseline="0" noProof="0" dirty="0">
                <a:ln>
                  <a:noFill/>
                </a:ln>
                <a:solidFill>
                  <a:srgbClr val="C00000"/>
                </a:solidFill>
                <a:effectLst/>
                <a:uLnTx/>
                <a:uFillTx/>
                <a:latin typeface="Arial" panose="020B0604020202020204" pitchFamily="34" charset="0"/>
                <a:ea typeface="Times New Roman" panose="02020603050405020304" pitchFamily="18" charset="0"/>
                <a:cs typeface="Arial" panose="020B0604020202020204" pitchFamily="34" charset="0"/>
              </a:rPr>
              <a:t>must</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cross-reference the specific values (e.g., </a:t>
            </a:r>
            <a:r>
              <a:rPr kumimoji="0" lang="en-US" sz="2800" b="0" i="1"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1.3 W/cm . K</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against the source text.</a:t>
            </a: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126870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3ABAB-A6C7-2CE9-7506-C5483636F5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69F5B1-1C42-8F4B-67DF-B0AB0A2D2622}"/>
              </a:ext>
            </a:extLst>
          </p:cNvPr>
          <p:cNvSpPr txBox="1"/>
          <p:nvPr/>
        </p:nvSpPr>
        <p:spPr>
          <a:xfrm>
            <a:off x="140677" y="40469"/>
            <a:ext cx="12011646" cy="6590394"/>
          </a:xfrm>
          <a:prstGeom prst="rect">
            <a:avLst/>
          </a:prstGeom>
          <a:noFill/>
        </p:spPr>
        <p:txBody>
          <a:bodyPr wrap="square">
            <a:spAutoFit/>
          </a:bodyPr>
          <a:lstStyle/>
          <a:p>
            <a:pPr marL="0" marR="0">
              <a:lnSpc>
                <a:spcPct val="115000"/>
              </a:lnSpc>
              <a:spcAft>
                <a:spcPts val="800"/>
              </a:spcAft>
              <a:buNone/>
            </a:pPr>
            <a:r>
              <a:rPr lang="en-US" sz="3200" b="1" kern="0" dirty="0">
                <a:effectLst/>
                <a:latin typeface="Arial" panose="020B0604020202020204" pitchFamily="34" charset="0"/>
                <a:ea typeface="Times New Roman" panose="02020603050405020304" pitchFamily="18" charset="0"/>
                <a:cs typeface="Arial" panose="020B0604020202020204" pitchFamily="34" charset="0"/>
              </a:rPr>
              <a:t>Example B: Drafting API (Application Programming Interface) Documentation</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Task:</a:t>
            </a:r>
            <a:r>
              <a:rPr lang="en-US" sz="2800" kern="0" dirty="0">
                <a:effectLst/>
                <a:latin typeface="Arial" panose="020B0604020202020204" pitchFamily="34" charset="0"/>
                <a:ea typeface="Times New Roman" panose="02020603050405020304" pitchFamily="18" charset="0"/>
                <a:cs typeface="Arial" panose="020B0604020202020204" pitchFamily="34" charset="0"/>
              </a:rPr>
              <a:t> A software engineer has written a complex Python function but hasn't documented the </a:t>
            </a:r>
            <a:r>
              <a:rPr lang="en-US" sz="2800" u="sng" kern="0" dirty="0">
                <a:effectLst/>
                <a:latin typeface="Arial" panose="020B0604020202020204" pitchFamily="34" charset="0"/>
                <a:ea typeface="Times New Roman" panose="02020603050405020304" pitchFamily="18" charset="0"/>
                <a:cs typeface="Arial" panose="020B0604020202020204" pitchFamily="34" charset="0"/>
              </a:rPr>
              <a:t>arguments</a:t>
            </a:r>
            <a:r>
              <a:rPr lang="en-US" sz="2800" kern="0" dirty="0">
                <a:latin typeface="Arial" panose="020B0604020202020204" pitchFamily="34" charset="0"/>
                <a:ea typeface="Times New Roman" panose="02020603050405020304" pitchFamily="18" charset="0"/>
                <a:cs typeface="Arial" panose="020B0604020202020204" pitchFamily="34" charset="0"/>
              </a:rPr>
              <a:t> </a:t>
            </a:r>
            <a:r>
              <a:rPr lang="en-US" sz="2000" kern="0" dirty="0">
                <a:latin typeface="Arial" panose="020B0604020202020204" pitchFamily="34" charset="0"/>
                <a:ea typeface="Times New Roman" panose="02020603050405020304" pitchFamily="18" charset="0"/>
                <a:cs typeface="Arial" panose="020B0604020202020204" pitchFamily="34" charset="0"/>
              </a:rPr>
              <a:t>(</a:t>
            </a:r>
            <a:r>
              <a:rPr lang="en-US" sz="2000" dirty="0"/>
              <a:t>In Python, an argument is a value or object that you pass into a function or method when you call it).</a:t>
            </a:r>
            <a:endParaRPr lang="en-US" sz="2000" kern="0"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AI Use:</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The engineer pastes the code block and asks the AI to "Generate a Docstring in Google Style.“</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Result: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The AI identifies the variables and types, creating a clean, professional header in seconds.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760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E148F-ED82-D13B-FB2F-142660EDCE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862B8E-AB84-CA9E-EAC6-E7441CE9D3C0}"/>
              </a:ext>
            </a:extLst>
          </p:cNvPr>
          <p:cNvSpPr txBox="1"/>
          <p:nvPr/>
        </p:nvSpPr>
        <p:spPr>
          <a:xfrm>
            <a:off x="0" y="-58846"/>
            <a:ext cx="12011646" cy="5847113"/>
          </a:xfrm>
          <a:prstGeom prst="rect">
            <a:avLst/>
          </a:prstGeom>
          <a:noFill/>
        </p:spPr>
        <p:txBody>
          <a:bodyPr wrap="square">
            <a:spAutoFit/>
          </a:bodyPr>
          <a:lstStyle/>
          <a:p>
            <a:pPr marL="0" marR="0">
              <a:lnSpc>
                <a:spcPct val="115000"/>
              </a:lnSpc>
              <a:spcAft>
                <a:spcPts val="800"/>
              </a:spcAft>
              <a:buNone/>
            </a:pPr>
            <a:r>
              <a:rPr lang="en-US" sz="3600" b="1" kern="0" dirty="0">
                <a:effectLst/>
                <a:latin typeface="Arial" panose="020B0604020202020204" pitchFamily="34" charset="0"/>
                <a:ea typeface="Times New Roman" panose="02020603050405020304" pitchFamily="18" charset="0"/>
                <a:cs typeface="Arial" panose="020B0604020202020204" pitchFamily="34" charset="0"/>
              </a:rPr>
              <a:t>Example C: Converting "Notes" to a Formal Proposal</a:t>
            </a:r>
          </a:p>
          <a:p>
            <a:pPr marL="0" marR="0">
              <a:lnSpc>
                <a:spcPct val="115000"/>
              </a:lnSpc>
              <a:spcAft>
                <a:spcPts val="800"/>
              </a:spcAft>
              <a:buNone/>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Task:</a:t>
            </a:r>
            <a:r>
              <a:rPr lang="en-US" sz="2800" kern="0" dirty="0">
                <a:effectLst/>
                <a:latin typeface="Arial" panose="020B0604020202020204" pitchFamily="34" charset="0"/>
                <a:ea typeface="Times New Roman" panose="02020603050405020304" pitchFamily="18" charset="0"/>
                <a:cs typeface="Arial" panose="020B0604020202020204" pitchFamily="34" charset="0"/>
              </a:rPr>
              <a:t> An engineer has a list of bullet points about why a bridge needs a specific carbon-fiber reinforcement.</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AI Use:</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"Turn these technical notes into a formal 'Statement of Need' for a city council proposal. Use a professional, persuasive tone.“</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Result: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The AI structures the argument logically, moving from "problem" to "technical solution" to "public benefit."</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6110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201D9-2E8E-831B-CB9D-D48880AD67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58105C-613A-8B80-69A4-5947EFA97946}"/>
              </a:ext>
            </a:extLst>
          </p:cNvPr>
          <p:cNvSpPr txBox="1"/>
          <p:nvPr/>
        </p:nvSpPr>
        <p:spPr>
          <a:xfrm>
            <a:off x="0" y="-58846"/>
            <a:ext cx="12192000" cy="6484211"/>
          </a:xfrm>
          <a:prstGeom prst="rect">
            <a:avLst/>
          </a:prstGeom>
          <a:noFill/>
        </p:spPr>
        <p:txBody>
          <a:bodyPr wrap="square">
            <a:spAutoFit/>
          </a:bodyPr>
          <a:lstStyle/>
          <a:p>
            <a:pPr marL="0" marR="0">
              <a:lnSpc>
                <a:spcPct val="115000"/>
              </a:lnSpc>
              <a:spcAft>
                <a:spcPts val="800"/>
              </a:spcAft>
              <a:buNone/>
            </a:pPr>
            <a:r>
              <a:rPr lang="en-US" sz="4000" b="1" kern="0" dirty="0">
                <a:effectLst/>
                <a:latin typeface="Arial" panose="020B0604020202020204" pitchFamily="34" charset="0"/>
                <a:ea typeface="Times New Roman" panose="02020603050405020304" pitchFamily="18" charset="0"/>
                <a:cs typeface="Arial" panose="020B0604020202020204" pitchFamily="34" charset="0"/>
              </a:rPr>
              <a:t>Example D: </a:t>
            </a:r>
          </a:p>
          <a:p>
            <a:pPr marL="0" marR="0">
              <a:lnSpc>
                <a:spcPct val="115000"/>
              </a:lnSpc>
              <a:spcAft>
                <a:spcPts val="800"/>
              </a:spcAft>
              <a:buNone/>
            </a:pPr>
            <a:r>
              <a:rPr lang="en-US" sz="3200" b="1" kern="0" dirty="0">
                <a:effectLst/>
                <a:latin typeface="Arial" panose="020B0604020202020204" pitchFamily="34" charset="0"/>
                <a:ea typeface="Times New Roman" panose="02020603050405020304" pitchFamily="18" charset="0"/>
                <a:cs typeface="Arial" panose="020B0604020202020204" pitchFamily="34" charset="0"/>
              </a:rPr>
              <a:t>Generating Safety Warnings (Standard Operating Procedure, SOPs)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Task:</a:t>
            </a:r>
            <a:r>
              <a:rPr lang="en-US" sz="2800" kern="0" dirty="0">
                <a:effectLst/>
                <a:latin typeface="Arial" panose="020B0604020202020204" pitchFamily="34" charset="0"/>
                <a:ea typeface="Times New Roman" panose="02020603050405020304" pitchFamily="18" charset="0"/>
                <a:cs typeface="Arial" panose="020B0604020202020204" pitchFamily="34" charset="0"/>
              </a:rPr>
              <a:t> Drafting an instruction manual for a high-voltage testing rig.</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AI Use:</a:t>
            </a:r>
            <a:r>
              <a:rPr lang="en-US" sz="2800" kern="0" dirty="0">
                <a:effectLst/>
                <a:latin typeface="Arial" panose="020B0604020202020204" pitchFamily="34" charset="0"/>
                <a:ea typeface="Times New Roman" panose="02020603050405020304" pitchFamily="18" charset="0"/>
                <a:cs typeface="Arial" panose="020B0604020202020204" pitchFamily="34" charset="0"/>
              </a:rPr>
              <a:t> "Review this procedure and suggest where </a:t>
            </a:r>
            <a:r>
              <a:rPr lang="en-US" sz="2800"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DANGER</a:t>
            </a:r>
            <a:r>
              <a:rPr lang="en-US" sz="2800" kern="0" dirty="0">
                <a:effectLst/>
                <a:latin typeface="Arial" panose="020B0604020202020204" pitchFamily="34" charset="0"/>
                <a:ea typeface="Times New Roman" panose="02020603050405020304" pitchFamily="18" charset="0"/>
                <a:cs typeface="Arial" panose="020B0604020202020204" pitchFamily="34" charset="0"/>
              </a:rPr>
              <a:t> and </a:t>
            </a:r>
            <a:r>
              <a:rPr lang="en-US" sz="2800"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CAUTION</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tags should be placed according to ANSI standards (</a:t>
            </a:r>
            <a:r>
              <a:rPr lang="en-US" sz="2800" dirty="0"/>
              <a:t>American National </a:t>
            </a:r>
            <a:r>
              <a:rPr lang="en-US" sz="2800" b="1" dirty="0"/>
              <a:t>Standards</a:t>
            </a:r>
            <a:r>
              <a:rPr lang="en-US" sz="2800" dirty="0"/>
              <a:t> Institute - </a:t>
            </a:r>
            <a:r>
              <a:rPr lang="en-US" sz="2800" b="1" dirty="0"/>
              <a:t>ANSI)</a:t>
            </a:r>
            <a:endParaRPr lang="en-US" sz="2800" kern="0" dirty="0">
              <a:effectLst/>
              <a:ea typeface="Times New Roman" panose="02020603050405020304" pitchFamily="18"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Result: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The AI flags high-risk steps (e.g., "manual discharge of capacitors") that the engineer might have overlooked in the text.</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518996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47533-AA70-03E8-C9BD-299107944C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9171B2-E680-995B-1193-B03A6E3FBF54}"/>
              </a:ext>
            </a:extLst>
          </p:cNvPr>
          <p:cNvSpPr txBox="1"/>
          <p:nvPr/>
        </p:nvSpPr>
        <p:spPr>
          <a:xfrm>
            <a:off x="91981" y="314489"/>
            <a:ext cx="12192000" cy="5776325"/>
          </a:xfrm>
          <a:prstGeom prst="rect">
            <a:avLst/>
          </a:prstGeom>
          <a:noFill/>
        </p:spPr>
        <p:txBody>
          <a:bodyPr wrap="square">
            <a:spAutoFit/>
          </a:bodyPr>
          <a:lstStyle/>
          <a:p>
            <a:pPr marL="0" marR="0">
              <a:lnSpc>
                <a:spcPct val="115000"/>
              </a:lnSpc>
              <a:spcAft>
                <a:spcPts val="800"/>
              </a:spcAft>
              <a:buNone/>
            </a:pPr>
            <a:r>
              <a:rPr lang="en-US" sz="3200" b="1" kern="0" dirty="0">
                <a:effectLst/>
                <a:latin typeface="Arial" panose="020B0604020202020204" pitchFamily="34" charset="0"/>
                <a:ea typeface="Times New Roman" panose="02020603050405020304" pitchFamily="18" charset="0"/>
                <a:cs typeface="Arial" panose="020B0604020202020204" pitchFamily="34" charset="0"/>
              </a:rPr>
              <a:t>Example E: Code-to-Plain-English Translation</a:t>
            </a:r>
          </a:p>
          <a:p>
            <a:pPr marL="0" marR="0">
              <a:lnSpc>
                <a:spcPct val="115000"/>
              </a:lnSpc>
              <a:spcAft>
                <a:spcPts val="800"/>
              </a:spcAft>
              <a:buNone/>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Task:</a:t>
            </a:r>
            <a:r>
              <a:rPr lang="en-US" sz="2800" kern="0" dirty="0">
                <a:effectLst/>
                <a:latin typeface="Arial" panose="020B0604020202020204" pitchFamily="34" charset="0"/>
                <a:ea typeface="Times New Roman" panose="02020603050405020304" pitchFamily="18" charset="0"/>
                <a:cs typeface="Arial" panose="020B0604020202020204" pitchFamily="34" charset="0"/>
              </a:rPr>
              <a:t> Explaining a complex sorting algorithm used in a company's internal software to the legal/compliance department.</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AI Use:</a:t>
            </a:r>
            <a:r>
              <a:rPr lang="en-US" sz="2800" kern="0" dirty="0">
                <a:effectLst/>
                <a:latin typeface="Arial" panose="020B0604020202020204" pitchFamily="34" charset="0"/>
                <a:ea typeface="Times New Roman" panose="02020603050405020304" pitchFamily="18" charset="0"/>
                <a:cs typeface="Arial" panose="020B0604020202020204" pitchFamily="34" charset="0"/>
              </a:rPr>
              <a:t> "Explain this B-tree search logic using a real-world analogy involving a library filing system.“</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Result:</a:t>
            </a:r>
            <a:r>
              <a:rPr lang="en-US" sz="2800" kern="0" dirty="0">
                <a:effectLst/>
                <a:latin typeface="Arial" panose="020B0604020202020204" pitchFamily="34" charset="0"/>
                <a:ea typeface="Times New Roman" panose="02020603050405020304" pitchFamily="18" charset="0"/>
                <a:cs typeface="Arial" panose="020B0604020202020204" pitchFamily="34" charset="0"/>
              </a:rPr>
              <a:t> The AI provides a relatable metaphor that helps non-technical stakeholders understand the intellectual property being protected.</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180363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B5CC-65F6-6E25-0481-CEE2CB45D4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110967-CDA3-617F-C88A-88C2EB0F2226}"/>
              </a:ext>
            </a:extLst>
          </p:cNvPr>
          <p:cNvSpPr txBox="1"/>
          <p:nvPr/>
        </p:nvSpPr>
        <p:spPr>
          <a:xfrm>
            <a:off x="91981" y="314489"/>
            <a:ext cx="12192000" cy="5277279"/>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Example F: General Translation</a:t>
            </a: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32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Task:</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Translating academic papers between English and non-English languages</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AI Use:</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Translate a specific manual from German to English.</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US" sz="28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Result:</a:t>
            </a:r>
            <a:r>
              <a:rPr kumimoji="0" lang="en-US" sz="2800" b="0"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The AI translates the text to English. However, be careful of non-European languages. Why?  </a:t>
            </a:r>
            <a:endParaRPr kumimoji="0" lang="en-US" sz="2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884160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FC741-187C-9DF5-873C-831F45D697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6772DB-D9E7-1EBB-DE65-CFA295F5AA80}"/>
              </a:ext>
            </a:extLst>
          </p:cNvPr>
          <p:cNvSpPr txBox="1"/>
          <p:nvPr/>
        </p:nvSpPr>
        <p:spPr>
          <a:xfrm>
            <a:off x="91981" y="314489"/>
            <a:ext cx="12192000" cy="5370766"/>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kumimoji="0" lang="en-US" sz="3200" b="1" i="0" u="none" strike="noStrike" kern="0" cap="none" spc="0" normalizeH="0" baseline="0" noProof="0" dirty="0">
                <a:ln>
                  <a:noFill/>
                </a:ln>
                <a:effectLst/>
                <a:uLnTx/>
                <a:uFillTx/>
                <a:latin typeface="Arial" panose="020B0604020202020204" pitchFamily="34" charset="0"/>
                <a:ea typeface="Times New Roman" panose="02020603050405020304" pitchFamily="18" charset="0"/>
                <a:cs typeface="Arial" panose="020B0604020202020204" pitchFamily="34" charset="0"/>
              </a:rPr>
              <a:t>The "Golden Rule" of AI in Engineering</a:t>
            </a:r>
          </a:p>
          <a:p>
            <a:pPr marL="0" marR="0" lvl="0" indent="0" algn="ctr" defTabSz="914400" rtl="0" eaLnBrk="1" fontAlgn="auto" latinLnBrk="0" hangingPunct="1">
              <a:lnSpc>
                <a:spcPct val="115000"/>
              </a:lnSpc>
              <a:spcBef>
                <a:spcPts val="0"/>
              </a:spcBef>
              <a:spcAft>
                <a:spcPts val="800"/>
              </a:spcAft>
              <a:buClrTx/>
              <a:buSzTx/>
              <a:buFontTx/>
              <a:buNone/>
              <a:tabLst/>
              <a:defRPr/>
            </a:pPr>
            <a:r>
              <a:rPr kumimoji="0" lang="en-US" sz="4800" b="1" i="0" u="none" strike="noStrike" kern="0" cap="none" spc="0" normalizeH="0" baseline="0" noProof="0" dirty="0">
                <a:ln>
                  <a:noFill/>
                </a:ln>
                <a:solidFill>
                  <a:srgbClr val="C00000"/>
                </a:solidFill>
                <a:effectLst/>
                <a:uLnTx/>
                <a:uFillTx/>
                <a:latin typeface="Arial" panose="020B0604020202020204" pitchFamily="34" charset="0"/>
                <a:ea typeface="Times New Roman" panose="02020603050405020304" pitchFamily="18" charset="0"/>
                <a:cs typeface="Arial" panose="020B0604020202020204" pitchFamily="34" charset="0"/>
              </a:rPr>
              <a:t>"Trust but Verify." </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200" b="1" kern="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457200" marR="0" lvl="0" indent="-45720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32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In technical communication, the engineer – </a:t>
            </a:r>
            <a:r>
              <a:rPr kumimoji="0" lang="en-US" sz="3200" b="1" i="0" u="none" strike="noStrike" kern="0" cap="none" spc="0" normalizeH="0" baseline="0" noProof="0" dirty="0">
                <a:ln>
                  <a:noFill/>
                </a:ln>
                <a:solidFill>
                  <a:srgbClr val="C00000"/>
                </a:solidFill>
                <a:effectLst/>
                <a:uLnTx/>
                <a:uFillTx/>
                <a:latin typeface="Arial" panose="020B0604020202020204" pitchFamily="34" charset="0"/>
                <a:ea typeface="Times New Roman" panose="02020603050405020304" pitchFamily="18" charset="0"/>
                <a:cs typeface="Arial" panose="020B0604020202020204" pitchFamily="34" charset="0"/>
              </a:rPr>
              <a:t>not the AI </a:t>
            </a:r>
            <a:r>
              <a:rPr kumimoji="0" lang="en-US" sz="3200" b="1" i="0" u="none" strike="noStrike" kern="0" cap="none" spc="0" normalizeH="0" baseline="0" noProof="0" dirty="0">
                <a:ln>
                  <a:noFill/>
                </a:ln>
                <a:effectLst/>
                <a:uLnTx/>
                <a:uFillTx/>
                <a:latin typeface="Arial" panose="020B0604020202020204" pitchFamily="34" charset="0"/>
                <a:ea typeface="Times New Roman" panose="02020603050405020304" pitchFamily="18" charset="0"/>
                <a:cs typeface="Arial" panose="020B0604020202020204" pitchFamily="34" charset="0"/>
              </a:rPr>
              <a:t>– is </a:t>
            </a:r>
            <a:r>
              <a:rPr kumimoji="0" lang="en-US" sz="32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legally and ethically responsible for every word. </a:t>
            </a:r>
          </a:p>
          <a:p>
            <a:pPr marL="457200" marR="0" lvl="0" indent="-45720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endParaRPr lang="en-US" sz="3200" b="1" kern="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457200" marR="0" lvl="0" indent="-45720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32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If the AI suggests a measurement, the engineer </a:t>
            </a:r>
            <a:r>
              <a:rPr kumimoji="0" lang="en-US" sz="3200" b="1" i="0" u="none" strike="noStrike" kern="0" cap="none" spc="0" normalizeH="0" baseline="0" noProof="0" dirty="0">
                <a:ln>
                  <a:noFill/>
                </a:ln>
                <a:solidFill>
                  <a:srgbClr val="C00000"/>
                </a:solidFill>
                <a:effectLst/>
                <a:uLnTx/>
                <a:uFillTx/>
                <a:latin typeface="Arial" panose="020B0604020202020204" pitchFamily="34" charset="0"/>
                <a:ea typeface="Times New Roman" panose="02020603050405020304" pitchFamily="18" charset="0"/>
                <a:cs typeface="Arial" panose="020B0604020202020204" pitchFamily="34" charset="0"/>
              </a:rPr>
              <a:t>must</a:t>
            </a:r>
            <a:r>
              <a:rPr kumimoji="0" lang="en-US" sz="3200" b="1" i="0"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manually verify it against the physical design.</a:t>
            </a:r>
          </a:p>
        </p:txBody>
      </p:sp>
    </p:spTree>
    <p:extLst>
      <p:ext uri="{BB962C8B-B14F-4D97-AF65-F5344CB8AC3E}">
        <p14:creationId xmlns:p14="http://schemas.microsoft.com/office/powerpoint/2010/main" val="75167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0A574-D7CC-87D3-CD87-73697008C2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FD93C0-A465-E55C-1B29-AF61FBADB7A6}"/>
              </a:ext>
            </a:extLst>
          </p:cNvPr>
          <p:cNvSpPr txBox="1"/>
          <p:nvPr/>
        </p:nvSpPr>
        <p:spPr>
          <a:xfrm>
            <a:off x="70338" y="-12471"/>
            <a:ext cx="12192000" cy="6870471"/>
          </a:xfrm>
          <a:prstGeom prst="rect">
            <a:avLst/>
          </a:prstGeom>
          <a:noFill/>
        </p:spPr>
        <p:txBody>
          <a:bodyPr wrap="square">
            <a:spAutoFit/>
          </a:bodyPr>
          <a:lstStyle/>
          <a:p>
            <a:pPr marL="0" marR="0">
              <a:lnSpc>
                <a:spcPct val="115000"/>
              </a:lnSpc>
              <a:spcAft>
                <a:spcPts val="800"/>
              </a:spcAft>
              <a:buNone/>
            </a:pPr>
            <a:r>
              <a:rPr lang="en-US" sz="3200" b="1"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Five realistic pitfalls to watch out for:</a:t>
            </a:r>
          </a:p>
          <a:p>
            <a:pPr marL="0" marR="0">
              <a:lnSpc>
                <a:spcPct val="115000"/>
              </a:lnSpc>
              <a:spcAft>
                <a:spcPts val="800"/>
              </a:spcAft>
              <a:buNone/>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1. The "</a:t>
            </a:r>
            <a:r>
              <a:rPr lang="en-US" sz="2800" b="1"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Hallucination</a:t>
            </a: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 of Technical Specs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AI models are designed to predict the next likely word, not to perform 	physics engine calculations or verify manufacturer catalogs.</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Pitfall:</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An AI might confidently generate a torque specification, a material 			grade (e.g., "Grade 80" when only Grade 50 exists for that alloy), or a part 			number that sounds plausible but is entirely fictitious.</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Risk:</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If these "ghost specs" aren't caught during a peer review, they can lead to procurement errors or, worse, structural compromises.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1224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A0549-AB08-4AA8-C49A-FA09138B1F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02B088-9E75-384B-C09E-0B7C63CFF44E}"/>
              </a:ext>
            </a:extLst>
          </p:cNvPr>
          <p:cNvSpPr txBox="1"/>
          <p:nvPr/>
        </p:nvSpPr>
        <p:spPr>
          <a:xfrm>
            <a:off x="70338" y="-12471"/>
            <a:ext cx="12192000" cy="6169766"/>
          </a:xfrm>
          <a:prstGeom prst="rect">
            <a:avLst/>
          </a:prstGeom>
          <a:noFill/>
        </p:spPr>
        <p:txBody>
          <a:bodyPr wrap="square">
            <a:spAutoFit/>
          </a:bodyPr>
          <a:lstStyle/>
          <a:p>
            <a:pPr marL="0" marR="0">
              <a:lnSpc>
                <a:spcPct val="115000"/>
              </a:lnSpc>
              <a:spcAft>
                <a:spcPts val="800"/>
              </a:spcAft>
              <a:buNone/>
            </a:pPr>
            <a:r>
              <a:rPr lang="en-US" sz="3600" b="1" kern="0" dirty="0">
                <a:effectLst/>
                <a:latin typeface="Times New Roman" panose="02020603050405020304" pitchFamily="18" charset="0"/>
                <a:ea typeface="Times New Roman" panose="02020603050405020304" pitchFamily="18" charset="0"/>
                <a:cs typeface="Arial" panose="020B0604020202020204" pitchFamily="34" charset="0"/>
              </a:rPr>
              <a:t>2. Contextual Drift in Requirements</a:t>
            </a: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Engineering documents like System Requirements Specifications (SRS) rely on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absolute consistency</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Pitfall:</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When using AI to summarize or rephrase long-form documentation, the model may subtly shift the "intent." For example, changing a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must</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 mandatory requirement) to a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should</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 recommendation) or a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can</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(an optional feature).</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Risk:</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This creates legal and functional ambiguity, leading to scope creep or failure to meet safety standards during the verification and validation phase.</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294315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B37F-CF10-2998-CB63-E459BD07000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8F6C44-A4A8-FAFB-9F05-6310194FD26F}"/>
              </a:ext>
            </a:extLst>
          </p:cNvPr>
          <p:cNvSpPr txBox="1"/>
          <p:nvPr/>
        </p:nvSpPr>
        <p:spPr>
          <a:xfrm>
            <a:off x="70338" y="-12471"/>
            <a:ext cx="11908843" cy="6028189"/>
          </a:xfrm>
          <a:prstGeom prst="rect">
            <a:avLst/>
          </a:prstGeom>
          <a:noFill/>
        </p:spPr>
        <p:txBody>
          <a:bodyPr wrap="square">
            <a:spAutoFit/>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3. Erosion of "Institutional Memory"</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Much of engineering wisdom is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tribal knowledge</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—knowing </a:t>
            </a:r>
            <a:r>
              <a:rPr lang="en-US" sz="2800" i="1" kern="0" dirty="0">
                <a:effectLst/>
                <a:latin typeface="Times New Roman" panose="02020603050405020304" pitchFamily="18" charset="0"/>
                <a:ea typeface="Times New Roman" panose="02020603050405020304" pitchFamily="18" charset="0"/>
                <a:cs typeface="Arial" panose="020B0604020202020204" pitchFamily="34" charset="0"/>
              </a:rPr>
              <a:t>why</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a specific valve was chosen over another ten years ago.</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Pitfall:</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Relying on AI to draft documentation based on current prompts can lead to "sterile" writing that misses the historical context or the "lessons learned" from previous failures.</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Risk:</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Future engineers reading the AI-generated documentation may lack the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nuanced understanding of the design's evolution</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leading them to repeat past mistakes during maintenance or upgrades.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04720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C77B-2D49-C8D6-5D02-29D54D13DF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9DDBD9-AEA3-9B96-FDBC-6AC730748895}"/>
              </a:ext>
            </a:extLst>
          </p:cNvPr>
          <p:cNvSpPr txBox="1"/>
          <p:nvPr/>
        </p:nvSpPr>
        <p:spPr>
          <a:xfrm>
            <a:off x="97391" y="198544"/>
            <a:ext cx="11908843" cy="5603457"/>
          </a:xfrm>
          <a:prstGeom prst="rect">
            <a:avLst/>
          </a:prstGeom>
          <a:noFill/>
        </p:spPr>
        <p:txBody>
          <a:bodyPr wrap="square">
            <a:spAutoFit/>
          </a:bodyPr>
          <a:lstStyle/>
          <a:p>
            <a:pPr marL="0" marR="0">
              <a:lnSpc>
                <a:spcPct val="115000"/>
              </a:lnSpc>
              <a:spcAft>
                <a:spcPts val="800"/>
              </a:spcAft>
              <a:buNone/>
            </a:pPr>
            <a:r>
              <a:rPr lang="en-US" sz="3200" b="1" kern="0" dirty="0">
                <a:effectLst/>
                <a:latin typeface="Times New Roman" panose="02020603050405020304" pitchFamily="18" charset="0"/>
                <a:ea typeface="Times New Roman" panose="02020603050405020304" pitchFamily="18" charset="0"/>
                <a:cs typeface="Arial" panose="020B0604020202020204" pitchFamily="34" charset="0"/>
              </a:rPr>
              <a:t>4. Over-Reliance on "Standard" Solutions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AI is trained on the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average</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of the internet and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existing datasets</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which favors the most common way of doing things.</a:t>
            </a:r>
          </a:p>
          <a:p>
            <a:pPr marL="0" marR="0">
              <a:lnSpc>
                <a:spcPct val="115000"/>
              </a:lnSpc>
              <a:spcAft>
                <a:spcPts val="800"/>
              </a:spcAft>
              <a:buNone/>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Pitfall:</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When tasked with describing a solution for a unique or proprietary engineering problem, AI tends to pivot toward </a:t>
            </a:r>
            <a:r>
              <a:rPr lang="en-US" sz="2800"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generic</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industry standards.</a:t>
            </a:r>
          </a:p>
          <a:p>
            <a:pPr marL="342900" marR="0" lvl="0" indent="-342900">
              <a:lnSpc>
                <a:spcPct val="115000"/>
              </a:lnSpc>
              <a:spcAft>
                <a:spcPts val="800"/>
              </a:spcAft>
              <a:buSzPts val="1000"/>
              <a:buFont typeface="Symbol" panose="05050102010706020507" pitchFamily="18" charset="2"/>
              <a:buChar char=""/>
              <a:tabLst>
                <a:tab pos="457200" algn="l"/>
              </a:tabLst>
            </a:pP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Arial" panose="020B0604020202020204" pitchFamily="34" charset="0"/>
              </a:rPr>
              <a:t>The Risk:</a:t>
            </a:r>
            <a:r>
              <a:rPr lang="en-US" sz="2800" kern="0" dirty="0">
                <a:effectLst/>
                <a:latin typeface="Times New Roman" panose="02020603050405020304" pitchFamily="18" charset="0"/>
                <a:ea typeface="Times New Roman" panose="02020603050405020304" pitchFamily="18" charset="0"/>
                <a:cs typeface="Arial" panose="020B0604020202020204" pitchFamily="34" charset="0"/>
              </a:rPr>
              <a:t> This can stifle innovation or lead to "cookie-cutter" documentation that doesn't actually reflect the unique edge cases of a specific, complex system. It effectively replaces precision with "plausibility."</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879214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BFE05-49A1-2B83-72DE-2F1156DA68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9ADA23-2138-230D-605F-703ED9B1C57D}"/>
              </a:ext>
            </a:extLst>
          </p:cNvPr>
          <p:cNvSpPr txBox="1"/>
          <p:nvPr/>
        </p:nvSpPr>
        <p:spPr>
          <a:xfrm>
            <a:off x="97391" y="198544"/>
            <a:ext cx="11908843" cy="6686702"/>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5. Obfuscation of Complex Logic</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Good engineering writing should be as simple as possible, but no simpler.</a:t>
            </a: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The Pitfall: AI-generated text can often be "</a:t>
            </a:r>
            <a:r>
              <a:rPr kumimoji="0" lang="en-US" sz="3200"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wordy</a:t>
            </a: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or "</a:t>
            </a:r>
            <a:r>
              <a:rPr kumimoji="0" lang="en-US" sz="3200"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fluffy</a:t>
            </a: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using professional-sounding jargon to mask a lack of depth. It might describe a process in five paragraphs that a human engineer could explain in two bullet points and a diagram.</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The Risk: Documentation becomes a "</a:t>
            </a:r>
            <a:r>
              <a:rPr kumimoji="0" lang="en-US" sz="3200"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wall of text</a:t>
            </a: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that is difficult for technicians or field engineers to parse quickly. In high-pressure environments, density is the enemy of safety.</a:t>
            </a:r>
          </a:p>
        </p:txBody>
      </p:sp>
    </p:spTree>
    <p:extLst>
      <p:ext uri="{BB962C8B-B14F-4D97-AF65-F5344CB8AC3E}">
        <p14:creationId xmlns:p14="http://schemas.microsoft.com/office/powerpoint/2010/main" val="1836903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603D9-1379-2047-8CE7-587EF84D6F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48C29B-BF0D-8D52-2FD0-35E5092F9BD0}"/>
              </a:ext>
            </a:extLst>
          </p:cNvPr>
          <p:cNvSpPr txBox="1"/>
          <p:nvPr/>
        </p:nvSpPr>
        <p:spPr>
          <a:xfrm>
            <a:off x="536556" y="1042605"/>
            <a:ext cx="11118887" cy="295850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800"/>
              </a:spcAft>
              <a:buClrTx/>
              <a:buSzTx/>
              <a:buFontTx/>
              <a:buNone/>
              <a:tabLst/>
              <a:defRPr/>
            </a:pPr>
            <a:r>
              <a:rPr kumimoji="0" lang="en-US" sz="3200" b="1"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Obfuscation of Complex Logic </a:t>
            </a:r>
            <a:r>
              <a:rPr kumimoji="0" lang="en-US" sz="3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occurs when an AI provides a summary or explanation that sounds technically plausible but glosses over critical mathematical or structural nuances, effectively hiding the "</a:t>
            </a:r>
            <a:r>
              <a:rPr kumimoji="0" lang="en-US" sz="3200" b="1"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how</a:t>
            </a:r>
            <a:r>
              <a:rPr kumimoji="0" lang="en-US" sz="3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behind a "</a:t>
            </a:r>
            <a:r>
              <a:rPr kumimoji="0" lang="en-US" sz="3200" b="1" i="0" u="none" strike="noStrike" kern="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Arial" panose="020B0604020202020204" pitchFamily="34" charset="0"/>
              </a:rPr>
              <a:t>what</a:t>
            </a:r>
            <a:r>
              <a:rPr kumimoji="0" lang="en-US" sz="3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a:t>
            </a:r>
            <a:endParaRPr kumimoji="0" lang="en-US" sz="32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496882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245F-8CD0-ABF3-BCCA-31B6B1FC8E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59FA95-FB34-A662-9DDC-B389E5F2F533}"/>
              </a:ext>
            </a:extLst>
          </p:cNvPr>
          <p:cNvSpPr txBox="1"/>
          <p:nvPr/>
        </p:nvSpPr>
        <p:spPr>
          <a:xfrm>
            <a:off x="233559" y="214776"/>
            <a:ext cx="11875478" cy="6640151"/>
          </a:xfrm>
          <a:prstGeom prst="rect">
            <a:avLst/>
          </a:prstGeom>
          <a:noFill/>
        </p:spPr>
        <p:txBody>
          <a:bodyPr wrap="square">
            <a:spAutoFit/>
          </a:bodyPr>
          <a:lstStyle/>
          <a:p>
            <a:pPr marL="0" marR="0">
              <a:lnSpc>
                <a:spcPct val="115000"/>
              </a:lnSpc>
              <a:spcAft>
                <a:spcPts val="800"/>
              </a:spcAft>
              <a:buNone/>
            </a:pPr>
            <a:r>
              <a:rPr lang="en-US" sz="2600" b="1" kern="0" dirty="0">
                <a:effectLst/>
                <a:latin typeface="Arial" panose="020B0604020202020204" pitchFamily="34" charset="0"/>
                <a:ea typeface="Times New Roman" panose="02020603050405020304" pitchFamily="18" charset="0"/>
                <a:cs typeface="Arial" panose="020B0604020202020204" pitchFamily="34" charset="0"/>
              </a:rPr>
              <a:t>AI-Generated Obfuscation: Computer Vision in Pick-and-Place Robots</a:t>
            </a:r>
          </a:p>
          <a:p>
            <a:pPr marL="0" marR="0">
              <a:lnSpc>
                <a:spcPct val="115000"/>
              </a:lnSpc>
              <a:spcAft>
                <a:spcPts val="800"/>
              </a:spcAft>
              <a:buNone/>
            </a:pPr>
            <a:endParaRPr lang="en-US" sz="26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800" kern="0" dirty="0">
                <a:effectLst/>
                <a:latin typeface="Arial" panose="020B0604020202020204" pitchFamily="34" charset="0"/>
                <a:ea typeface="Times New Roman" panose="02020603050405020304" pitchFamily="18" charset="0"/>
                <a:cs typeface="Arial" panose="020B0604020202020204" pitchFamily="34" charset="0"/>
              </a:rPr>
              <a:t>"The pick-and-place system utilizes advanced computer vision algorithms to achieve high-precision object recognition in real-time. By leveraging deep learning neural networks, the robot's optical sensors process environmental data to seamlessly distinguish between varying geometries and orientations. The software then calculates the optimal coordinates for the end-effector to execute a successful grasp with minimal latency. This intelligent visual feedback loop ensures adaptive performance even in dynamic or cluttered workspaces. Through continuous pattern matching, the system maintains a high throughput rate while significantly reducing operational errors. This integration of optics and AI creates a robust solution for modern industrial automation."</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73098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AAFE79-E687-FEE6-0A4D-CD0AFCD47642}"/>
              </a:ext>
            </a:extLst>
          </p:cNvPr>
          <p:cNvSpPr txBox="1"/>
          <p:nvPr/>
        </p:nvSpPr>
        <p:spPr>
          <a:xfrm>
            <a:off x="104154" y="0"/>
            <a:ext cx="11691065" cy="559512"/>
          </a:xfrm>
          <a:prstGeom prst="rect">
            <a:avLst/>
          </a:prstGeom>
          <a:noFill/>
        </p:spPr>
        <p:txBody>
          <a:bodyPr wrap="square">
            <a:spAutoFit/>
          </a:bodyPr>
          <a:lstStyle/>
          <a:p>
            <a:pPr marL="0" marR="0">
              <a:lnSpc>
                <a:spcPct val="115000"/>
              </a:lnSpc>
              <a:spcAft>
                <a:spcPts val="800"/>
              </a:spcAft>
              <a:buNone/>
            </a:pPr>
            <a:r>
              <a:rPr lang="en-US" sz="2800" b="1" kern="0" dirty="0">
                <a:effectLst/>
                <a:latin typeface="Arial" panose="020B0604020202020204" pitchFamily="34" charset="0"/>
                <a:ea typeface="Times New Roman" panose="02020603050405020304" pitchFamily="18" charset="0"/>
                <a:cs typeface="Arial" panose="020B0604020202020204" pitchFamily="34" charset="0"/>
              </a:rPr>
              <a:t>Comparison: Obfuscated vs. Transparent Engineering Logic</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13AD1C1-9B84-0AD8-E936-2BC5DAF41FE9}"/>
              </a:ext>
            </a:extLst>
          </p:cNvPr>
          <p:cNvPicPr>
            <a:picLocks noChangeAspect="1"/>
          </p:cNvPicPr>
          <p:nvPr/>
        </p:nvPicPr>
        <p:blipFill>
          <a:blip r:embed="rId2"/>
          <a:stretch>
            <a:fillRect/>
          </a:stretch>
        </p:blipFill>
        <p:spPr>
          <a:xfrm>
            <a:off x="54106" y="742524"/>
            <a:ext cx="12192000" cy="6115476"/>
          </a:xfrm>
          <a:prstGeom prst="rect">
            <a:avLst/>
          </a:prstGeom>
        </p:spPr>
      </p:pic>
    </p:spTree>
    <p:extLst>
      <p:ext uri="{BB962C8B-B14F-4D97-AF65-F5344CB8AC3E}">
        <p14:creationId xmlns:p14="http://schemas.microsoft.com/office/powerpoint/2010/main" val="3198706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33585A-8137-7561-14CA-C24A3187D4B9}"/>
              </a:ext>
            </a:extLst>
          </p:cNvPr>
          <p:cNvSpPr txBox="1"/>
          <p:nvPr/>
        </p:nvSpPr>
        <p:spPr>
          <a:xfrm>
            <a:off x="173141" y="660967"/>
            <a:ext cx="11735701" cy="5991833"/>
          </a:xfrm>
          <a:prstGeom prst="rect">
            <a:avLst/>
          </a:prstGeom>
          <a:noFill/>
        </p:spPr>
        <p:txBody>
          <a:bodyPr wrap="square">
            <a:spAutoFit/>
          </a:bodyPr>
          <a:lstStyle/>
          <a:p>
            <a:pPr marL="0" marR="0">
              <a:lnSpc>
                <a:spcPct val="115000"/>
              </a:lnSpc>
              <a:spcAft>
                <a:spcPts val="800"/>
              </a:spcAft>
              <a:buNone/>
            </a:pPr>
            <a:r>
              <a:rPr lang="en-US" sz="3200" b="1" kern="0" dirty="0">
                <a:effectLst/>
                <a:latin typeface="Arial" panose="020B0604020202020204" pitchFamily="34" charset="0"/>
                <a:ea typeface="Times New Roman" panose="02020603050405020304" pitchFamily="18" charset="0"/>
                <a:cs typeface="Arial" panose="020B0604020202020204" pitchFamily="34" charset="0"/>
              </a:rPr>
              <a:t>Why this is "Obfuscation“</a:t>
            </a:r>
          </a:p>
          <a:p>
            <a:pPr marL="0" marR="0">
              <a:lnSpc>
                <a:spcPct val="115000"/>
              </a:lnSpc>
              <a:spcAft>
                <a:spcPts val="800"/>
              </a:spcAft>
              <a:buNone/>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3200" kern="0" dirty="0">
                <a:effectLst/>
                <a:latin typeface="Arial" panose="020B0604020202020204" pitchFamily="34" charset="0"/>
                <a:ea typeface="Times New Roman" panose="02020603050405020304" pitchFamily="18" charset="0"/>
                <a:cs typeface="Arial" panose="020B0604020202020204" pitchFamily="34" charset="0"/>
              </a:rPr>
              <a:t>The AI text above uses </a:t>
            </a:r>
            <a:r>
              <a:rPr lang="en-US" sz="3200" b="1" kern="0" dirty="0">
                <a:effectLst/>
                <a:latin typeface="Arial" panose="020B0604020202020204" pitchFamily="34" charset="0"/>
                <a:ea typeface="Times New Roman" panose="02020603050405020304" pitchFamily="18" charset="0"/>
                <a:cs typeface="Arial" panose="020B0604020202020204" pitchFamily="34" charset="0"/>
              </a:rPr>
              <a:t>"Semantic Fillers"</a:t>
            </a:r>
            <a:r>
              <a:rPr lang="en-US" sz="3200" kern="0" dirty="0">
                <a:effectLst/>
                <a:latin typeface="Arial" panose="020B0604020202020204" pitchFamily="34" charset="0"/>
                <a:ea typeface="Times New Roman" panose="02020603050405020304" pitchFamily="18" charset="0"/>
                <a:cs typeface="Arial" panose="020B0604020202020204" pitchFamily="34" charset="0"/>
              </a:rPr>
              <a:t>—words like </a:t>
            </a:r>
            <a:r>
              <a:rPr lang="en-US" sz="3200" i="1" kern="0" dirty="0">
                <a:effectLst/>
                <a:latin typeface="Arial" panose="020B0604020202020204" pitchFamily="34" charset="0"/>
                <a:ea typeface="Times New Roman" panose="02020603050405020304" pitchFamily="18" charset="0"/>
                <a:cs typeface="Arial" panose="020B0604020202020204" pitchFamily="34" charset="0"/>
              </a:rPr>
              <a:t>seamlessly</a:t>
            </a:r>
            <a:r>
              <a:rPr lang="en-US" sz="3200" kern="0" dirty="0">
                <a:effectLst/>
                <a:latin typeface="Arial" panose="020B0604020202020204" pitchFamily="34" charset="0"/>
                <a:ea typeface="Times New Roman" panose="02020603050405020304" pitchFamily="18" charset="0"/>
                <a:cs typeface="Arial" panose="020B0604020202020204" pitchFamily="34" charset="0"/>
              </a:rPr>
              <a:t>, </a:t>
            </a:r>
            <a:r>
              <a:rPr lang="en-US" sz="3200" i="1" kern="0" dirty="0">
                <a:effectLst/>
                <a:latin typeface="Arial" panose="020B0604020202020204" pitchFamily="34" charset="0"/>
                <a:ea typeface="Times New Roman" panose="02020603050405020304" pitchFamily="18" charset="0"/>
                <a:cs typeface="Arial" panose="020B0604020202020204" pitchFamily="34" charset="0"/>
              </a:rPr>
              <a:t>advanced</a:t>
            </a:r>
            <a:r>
              <a:rPr lang="en-US" sz="3200" kern="0" dirty="0">
                <a:effectLst/>
                <a:latin typeface="Arial" panose="020B0604020202020204" pitchFamily="34" charset="0"/>
                <a:ea typeface="Times New Roman" panose="02020603050405020304" pitchFamily="18" charset="0"/>
                <a:cs typeface="Arial" panose="020B0604020202020204" pitchFamily="34" charset="0"/>
              </a:rPr>
              <a:t>, </a:t>
            </a:r>
            <a:r>
              <a:rPr lang="en-US" sz="3200" i="1" kern="0" dirty="0">
                <a:effectLst/>
                <a:latin typeface="Arial" panose="020B0604020202020204" pitchFamily="34" charset="0"/>
                <a:ea typeface="Times New Roman" panose="02020603050405020304" pitchFamily="18" charset="0"/>
                <a:cs typeface="Arial" panose="020B0604020202020204" pitchFamily="34" charset="0"/>
              </a:rPr>
              <a:t>intelligent</a:t>
            </a:r>
            <a:r>
              <a:rPr lang="en-US" sz="3200" kern="0" dirty="0">
                <a:effectLst/>
                <a:latin typeface="Arial" panose="020B0604020202020204" pitchFamily="34" charset="0"/>
                <a:ea typeface="Times New Roman" panose="02020603050405020304" pitchFamily="18" charset="0"/>
                <a:cs typeface="Arial" panose="020B0604020202020204" pitchFamily="34" charset="0"/>
              </a:rPr>
              <a:t>, and </a:t>
            </a:r>
            <a:r>
              <a:rPr lang="en-US" sz="3200" i="1" kern="0" dirty="0">
                <a:effectLst/>
                <a:latin typeface="Arial" panose="020B0604020202020204" pitchFamily="34" charset="0"/>
                <a:ea typeface="Times New Roman" panose="02020603050405020304" pitchFamily="18" charset="0"/>
                <a:cs typeface="Arial" panose="020B0604020202020204" pitchFamily="34" charset="0"/>
              </a:rPr>
              <a:t>robust</a:t>
            </a:r>
            <a:r>
              <a:rPr lang="en-US" sz="3200" kern="0" dirty="0">
                <a:effectLst/>
                <a:latin typeface="Arial" panose="020B0604020202020204" pitchFamily="34" charset="0"/>
                <a:ea typeface="Times New Roman" panose="02020603050405020304" pitchFamily="18" charset="0"/>
                <a:cs typeface="Arial" panose="020B0604020202020204" pitchFamily="34" charset="0"/>
              </a:rPr>
              <a:t>. </a:t>
            </a:r>
          </a:p>
          <a:p>
            <a:pPr marL="0" marR="0">
              <a:lnSpc>
                <a:spcPct val="150000"/>
              </a:lnSpc>
              <a:spcAft>
                <a:spcPts val="800"/>
              </a:spcAft>
              <a:buNone/>
            </a:pPr>
            <a:endParaRPr lang="en-US" sz="3200" kern="0" dirty="0">
              <a:latin typeface="Arial" panose="020B0604020202020204" pitchFamily="34" charset="0"/>
              <a:ea typeface="Times New Roman" panose="02020603050405020304" pitchFamily="18" charset="0"/>
              <a:cs typeface="Arial" panose="020B0604020202020204" pitchFamily="34" charset="0"/>
            </a:endParaRPr>
          </a:p>
          <a:p>
            <a:pPr marL="0" marR="0">
              <a:lnSpc>
                <a:spcPct val="150000"/>
              </a:lnSpc>
              <a:spcAft>
                <a:spcPts val="800"/>
              </a:spcAft>
              <a:buNone/>
            </a:pPr>
            <a:r>
              <a:rPr lang="en-US" sz="3200" kern="0" dirty="0">
                <a:effectLst/>
                <a:latin typeface="Arial" panose="020B0604020202020204" pitchFamily="34" charset="0"/>
                <a:ea typeface="Times New Roman" panose="02020603050405020304" pitchFamily="18" charset="0"/>
                <a:cs typeface="Arial" panose="020B0604020202020204" pitchFamily="34" charset="0"/>
              </a:rPr>
              <a:t>These words provide a sense of confidence to a non-technical reader but offer zero utility to an engineer trying to debug why a robot is missing a part.</a:t>
            </a:r>
            <a:endParaRPr lang="en-US" sz="32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29607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477005"/>
            <a:ext cx="11735701" cy="5563703"/>
          </a:xfrm>
          <a:prstGeom prst="rect">
            <a:avLst/>
          </a:prstGeom>
          <a:noFill/>
        </p:spPr>
        <p:txBody>
          <a:bodyPr wrap="square">
            <a:spAutoFit/>
          </a:bodyPr>
          <a:lstStyle/>
          <a:p>
            <a:pPr marL="0" marR="0">
              <a:lnSpc>
                <a:spcPct val="115000"/>
              </a:lnSpc>
              <a:spcAft>
                <a:spcPts val="800"/>
              </a:spcAft>
              <a:buNone/>
            </a:pPr>
            <a:r>
              <a:rPr lang="en-US" sz="3600" b="1" kern="0" dirty="0">
                <a:effectLst/>
                <a:latin typeface="Times New Roman" panose="02020603050405020304" pitchFamily="18" charset="0"/>
                <a:ea typeface="Times New Roman" panose="02020603050405020304" pitchFamily="18" charset="0"/>
                <a:cs typeface="Arial" panose="020B0604020202020204" pitchFamily="34" charset="0"/>
              </a:rPr>
              <a:t>Tip:</a:t>
            </a:r>
            <a:r>
              <a:rPr lang="en-US" sz="3600" kern="0" dirty="0">
                <a:effectLst/>
                <a:latin typeface="Times New Roman" panose="02020603050405020304" pitchFamily="18" charset="0"/>
                <a:ea typeface="Times New Roman" panose="02020603050405020304" pitchFamily="18" charset="0"/>
                <a:cs typeface="Arial" panose="020B0604020202020204" pitchFamily="34" charset="0"/>
              </a:rPr>
              <a:t> </a:t>
            </a:r>
          </a:p>
          <a:p>
            <a:pPr marL="0" marR="0">
              <a:lnSpc>
                <a:spcPct val="115000"/>
              </a:lnSpc>
              <a:spcAft>
                <a:spcPts val="800"/>
              </a:spcAft>
              <a:buNone/>
            </a:pPr>
            <a:endParaRPr lang="en-US" sz="3600" kern="0" dirty="0">
              <a:latin typeface="Times New Roman" panose="02020603050405020304" pitchFamily="18" charset="0"/>
              <a:ea typeface="Times New Roman" panose="02020603050405020304" pitchFamily="18" charset="0"/>
              <a:cs typeface="Arial" panose="020B0604020202020204" pitchFamily="34" charset="0"/>
            </a:endParaRPr>
          </a:p>
          <a:p>
            <a:pPr marL="0" marR="0">
              <a:lnSpc>
                <a:spcPct val="115000"/>
              </a:lnSpc>
              <a:spcAft>
                <a:spcPts val="800"/>
              </a:spcAft>
              <a:buNone/>
            </a:pPr>
            <a:r>
              <a:rPr lang="en-US" sz="3600" kern="0" dirty="0">
                <a:effectLst/>
                <a:latin typeface="Times New Roman" panose="02020603050405020304" pitchFamily="18" charset="0"/>
                <a:ea typeface="Times New Roman" panose="02020603050405020304" pitchFamily="18" charset="0"/>
                <a:cs typeface="Arial" panose="020B0604020202020204" pitchFamily="34" charset="0"/>
              </a:rPr>
              <a:t>Always treat AI-generated engineering drafts as "</a:t>
            </a:r>
            <a:r>
              <a:rPr lang="en-US" sz="3600" kern="0"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Level 0</a:t>
            </a:r>
            <a:r>
              <a:rPr lang="en-US" sz="3600" kern="0" dirty="0">
                <a:effectLst/>
                <a:latin typeface="Times New Roman" panose="02020603050405020304" pitchFamily="18" charset="0"/>
                <a:ea typeface="Times New Roman" panose="02020603050405020304" pitchFamily="18" charset="0"/>
                <a:cs typeface="Arial" panose="020B0604020202020204" pitchFamily="34" charset="0"/>
              </a:rPr>
              <a:t>" content. </a:t>
            </a:r>
          </a:p>
          <a:p>
            <a:pPr marL="0" marR="0">
              <a:lnSpc>
                <a:spcPct val="115000"/>
              </a:lnSpc>
              <a:spcAft>
                <a:spcPts val="800"/>
              </a:spcAft>
              <a:buNone/>
            </a:pPr>
            <a:endParaRPr lang="en-US" sz="3600" kern="0" dirty="0">
              <a:latin typeface="Times New Roman" panose="02020603050405020304" pitchFamily="18" charset="0"/>
              <a:ea typeface="Times New Roman" panose="02020603050405020304" pitchFamily="18" charset="0"/>
              <a:cs typeface="Arial" panose="020B0604020202020204" pitchFamily="34" charset="0"/>
            </a:endParaRPr>
          </a:p>
          <a:p>
            <a:pPr marL="0" marR="0">
              <a:lnSpc>
                <a:spcPct val="115000"/>
              </a:lnSpc>
              <a:spcAft>
                <a:spcPts val="800"/>
              </a:spcAft>
              <a:buNone/>
            </a:pPr>
            <a:r>
              <a:rPr lang="en-US" sz="3600" kern="0" dirty="0">
                <a:effectLst/>
                <a:latin typeface="Times New Roman" panose="02020603050405020304" pitchFamily="18" charset="0"/>
                <a:ea typeface="Times New Roman" panose="02020603050405020304" pitchFamily="18" charset="0"/>
                <a:cs typeface="Arial" panose="020B0604020202020204" pitchFamily="34" charset="0"/>
              </a:rPr>
              <a:t>It requires a Subject Matter Expert (SME) to provide a "Level 1" technical audit to ensure the physics, the logic, and the specific constraints of your project remain intact.</a:t>
            </a:r>
            <a:endParaRPr lang="en-US" sz="36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552809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477005"/>
            <a:ext cx="11735701" cy="5663858"/>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i="0" u="none" strike="noStrike" kern="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Arial" panose="020B0604020202020204" pitchFamily="34" charset="0"/>
              </a:rPr>
              <a:t>Five Famous AI-Related Lawsuits:</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The Anthropic $1.5 Billion Piracy Settlement (2025)</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600" kern="0" dirty="0">
              <a:solidFill>
                <a:prstClr val="black"/>
              </a:solidFill>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In one of the largest copyright settlements in history, AI lab Anthropic agreed to pay $1.5 billion to settle the </a:t>
            </a:r>
            <a:r>
              <a:rPr kumimoji="0" lang="en-US" sz="3200" i="0" u="none" strike="noStrike" kern="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Bartz</a:t>
            </a:r>
            <a:r>
              <a:rPr kumimoji="0" lang="en-US" sz="320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v. Anthropic case. The lawsuit alleged that the company had trained its Claude models on millions of pirated books sourced from "shadow libraries" like Library Genesis. The settlement required Anthropic to pay roughly $3,000 for each of the nearly 500,000 pirated books used.</a:t>
            </a:r>
          </a:p>
        </p:txBody>
      </p:sp>
    </p:spTree>
    <p:extLst>
      <p:ext uri="{BB962C8B-B14F-4D97-AF65-F5344CB8AC3E}">
        <p14:creationId xmlns:p14="http://schemas.microsoft.com/office/powerpoint/2010/main" val="2144871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120305"/>
            <a:ext cx="11735701" cy="6617389"/>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2. </a:t>
            </a:r>
            <a:r>
              <a:rPr kumimoji="0" lang="en-US" sz="3600" b="0" i="0" u="none" strike="noStrike" kern="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Grok’s</a:t>
            </a: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"Mass Digital Undressing" Spree (2026)</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600" kern="0" dirty="0">
              <a:solidFill>
                <a:prstClr val="black"/>
              </a:solidFill>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In early 2026, Elon Musk’s AI chatbot Grok faced a global firestorm after an update to its "Aurora" image model allowed users to generate non-consensual sexualized images of real people. The Center for Countering Digital Hate (CCDH) estimated that 3 million sexualized images were generated in just 11 days, some appearing to depict children. This led to multiple national bans and a cease-and-desist from California’s Attorney General.</a:t>
            </a:r>
          </a:p>
        </p:txBody>
      </p:sp>
    </p:spTree>
    <p:extLst>
      <p:ext uri="{BB962C8B-B14F-4D97-AF65-F5344CB8AC3E}">
        <p14:creationId xmlns:p14="http://schemas.microsoft.com/office/powerpoint/2010/main" val="1392446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120305"/>
            <a:ext cx="11735701" cy="671998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3. The Pentagon Blacklisting of Anthropic (2026)</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600" kern="0" dirty="0">
              <a:solidFill>
                <a:prstClr val="black"/>
              </a:solidFill>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Following a standoff regarding ethical guardrails, the U.S. government designated Anthropic as a "supply chain risk," effectively blacklisting it from federal use. The conflict arose when </a:t>
            </a:r>
            <a:r>
              <a:rPr kumimoji="0" lang="en-US" sz="3600" b="0" i="0" u="none" strike="noStrike" kern="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Anthropic's</a:t>
            </a: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 CEO refused to remove usage restrictions that prevented its AI from being used in fully autonomous weapons systems or domestic surveillance, a move the Pentagon labeled "corporate virtue-signaling.“</a:t>
            </a:r>
          </a:p>
        </p:txBody>
      </p:sp>
    </p:spTree>
    <p:extLst>
      <p:ext uri="{BB962C8B-B14F-4D97-AF65-F5344CB8AC3E}">
        <p14:creationId xmlns:p14="http://schemas.microsoft.com/office/powerpoint/2010/main" val="2304201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120305"/>
            <a:ext cx="11735701" cy="598029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4. Air Canada’s Negligent Chatbot (2024)</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600" kern="0" dirty="0">
              <a:solidFill>
                <a:prstClr val="black"/>
              </a:solidFill>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In a landmark legal case, Air Canada was forced to pay damages to a customer after its AI chatbot hallucinated a "bereavement discount" policy that didn't exist. The airline argued the chatbot was a "separate legal entity" responsible for its own actions, but the court rejected this, ruling that companies are legally responsible for the information provided by their AI tools.</a:t>
            </a:r>
          </a:p>
        </p:txBody>
      </p:sp>
    </p:spTree>
    <p:extLst>
      <p:ext uri="{BB962C8B-B14F-4D97-AF65-F5344CB8AC3E}">
        <p14:creationId xmlns:p14="http://schemas.microsoft.com/office/powerpoint/2010/main" val="1973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4A07-D753-C641-7A61-6C9CE08B6B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16A3D-A78E-E074-B08E-D6EE77B29D67}"/>
              </a:ext>
            </a:extLst>
          </p:cNvPr>
          <p:cNvSpPr txBox="1"/>
          <p:nvPr/>
        </p:nvSpPr>
        <p:spPr>
          <a:xfrm>
            <a:off x="228149" y="120305"/>
            <a:ext cx="11735701" cy="598029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5. Supermarket AI Suggests "Chlorine Gas" Recipes (2023)</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3600" kern="0" dirty="0">
              <a:solidFill>
                <a:prstClr val="black"/>
              </a:solidFill>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36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rPr>
              <a:t>A New Zealand supermarket’s AI meal planner made international headlines when it began suggesting lethal recipes to users. When prompted with random household items, the AI recommended "aromatic water mix" (which produced chlorine gas), "bleach rice," and "poison bread sandwiches." The incident highlighted the lack of safety filters in many early consumer-facing AI tools.</a:t>
            </a:r>
          </a:p>
        </p:txBody>
      </p:sp>
    </p:spTree>
    <p:extLst>
      <p:ext uri="{BB962C8B-B14F-4D97-AF65-F5344CB8AC3E}">
        <p14:creationId xmlns:p14="http://schemas.microsoft.com/office/powerpoint/2010/main" val="1948450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2256</Words>
  <Application>Microsoft Office PowerPoint</Application>
  <PresentationFormat>Widescreen</PresentationFormat>
  <Paragraphs>169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Symbol</vt:lpstr>
      <vt:lpstr>Times New Roman</vt:lpstr>
      <vt:lpstr>Office Theme</vt:lpstr>
      <vt:lpstr>AI in Technical Communication </vt:lpstr>
      <vt:lpstr>PowerPoint Presentation</vt:lpstr>
      <vt:lpstr>PowerPoint Presentation</vt:lpstr>
      <vt:lpstr>PowerPoint Presentation</vt:lpstr>
      <vt:lpstr>PowerPoint Presentation</vt:lpstr>
      <vt:lpstr>PowerPoint Presentation</vt:lpstr>
      <vt:lpstr>Core Concept:  - Moving from "AI as a Creator" to "AI as a Co-Pilot."   - For engineers, the goal is to use Large Language Models (LLMs) to reduce the "blank page syndrome" while maintaining absolute technical accuracy and security.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Technical Communication </dc:title>
  <dc:creator>Tofigh Heidarzadeh</dc:creator>
  <cp:lastModifiedBy>Tofigh Heidarzadeh</cp:lastModifiedBy>
  <cp:revision>21</cp:revision>
  <dcterms:created xsi:type="dcterms:W3CDTF">2026-04-12T20:32:29Z</dcterms:created>
  <dcterms:modified xsi:type="dcterms:W3CDTF">2026-04-13T21:31:01Z</dcterms:modified>
</cp:coreProperties>
</file>