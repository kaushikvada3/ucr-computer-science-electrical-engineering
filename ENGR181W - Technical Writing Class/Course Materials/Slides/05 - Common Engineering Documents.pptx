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4" r:id="rId2"/>
    <p:sldId id="295" r:id="rId3"/>
    <p:sldId id="327" r:id="rId4"/>
    <p:sldId id="328" r:id="rId5"/>
    <p:sldId id="296" r:id="rId6"/>
    <p:sldId id="298" r:id="rId7"/>
    <p:sldId id="300" r:id="rId8"/>
    <p:sldId id="299" r:id="rId9"/>
    <p:sldId id="307" r:id="rId10"/>
    <p:sldId id="297" r:id="rId11"/>
    <p:sldId id="301" r:id="rId12"/>
    <p:sldId id="302" r:id="rId13"/>
    <p:sldId id="303" r:id="rId14"/>
    <p:sldId id="304" r:id="rId15"/>
    <p:sldId id="305" r:id="rId16"/>
    <p:sldId id="306" r:id="rId17"/>
    <p:sldId id="309" r:id="rId18"/>
    <p:sldId id="311" r:id="rId19"/>
    <p:sldId id="313" r:id="rId20"/>
    <p:sldId id="310" r:id="rId21"/>
    <p:sldId id="308" r:id="rId22"/>
    <p:sldId id="314" r:id="rId23"/>
    <p:sldId id="312" r:id="rId24"/>
    <p:sldId id="315" r:id="rId25"/>
    <p:sldId id="316" r:id="rId26"/>
    <p:sldId id="317" r:id="rId27"/>
    <p:sldId id="318" r:id="rId28"/>
    <p:sldId id="319" r:id="rId29"/>
    <p:sldId id="320" r:id="rId30"/>
    <p:sldId id="321" r:id="rId31"/>
    <p:sldId id="322" r:id="rId32"/>
    <p:sldId id="323" r:id="rId33"/>
    <p:sldId id="324" r:id="rId34"/>
    <p:sldId id="325" r:id="rId35"/>
    <p:sldId id="326" r:id="rId36"/>
    <p:sldId id="257" r:id="rId37"/>
    <p:sldId id="258" r:id="rId38"/>
    <p:sldId id="259" r:id="rId39"/>
    <p:sldId id="260" r:id="rId40"/>
    <p:sldId id="261" r:id="rId41"/>
    <p:sldId id="262" r:id="rId42"/>
    <p:sldId id="263" r:id="rId43"/>
    <p:sldId id="264" r:id="rId44"/>
    <p:sldId id="265" r:id="rId45"/>
    <p:sldId id="266" r:id="rId46"/>
    <p:sldId id="267" r:id="rId47"/>
    <p:sldId id="269" r:id="rId48"/>
    <p:sldId id="268" r:id="rId49"/>
    <p:sldId id="271" r:id="rId50"/>
    <p:sldId id="272" r:id="rId51"/>
    <p:sldId id="273" r:id="rId52"/>
    <p:sldId id="274" r:id="rId53"/>
    <p:sldId id="275" r:id="rId54"/>
    <p:sldId id="276" r:id="rId55"/>
    <p:sldId id="277" r:id="rId56"/>
    <p:sldId id="278" r:id="rId57"/>
    <p:sldId id="279" r:id="rId58"/>
    <p:sldId id="280" r:id="rId59"/>
    <p:sldId id="281" r:id="rId60"/>
    <p:sldId id="282" r:id="rId61"/>
    <p:sldId id="270" r:id="rId62"/>
    <p:sldId id="283" r:id="rId63"/>
    <p:sldId id="284" r:id="rId64"/>
    <p:sldId id="285" r:id="rId65"/>
    <p:sldId id="286" r:id="rId66"/>
    <p:sldId id="287" r:id="rId67"/>
    <p:sldId id="288" r:id="rId68"/>
    <p:sldId id="290" r:id="rId69"/>
    <p:sldId id="291" r:id="rId70"/>
    <p:sldId id="292" r:id="rId71"/>
    <p:sldId id="293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8" autoAdjust="0"/>
    <p:restoredTop sz="94660"/>
  </p:normalViewPr>
  <p:slideViewPr>
    <p:cSldViewPr snapToGrid="0">
      <p:cViewPr varScale="1">
        <p:scale>
          <a:sx n="60" d="100"/>
          <a:sy n="60" d="100"/>
        </p:scale>
        <p:origin x="40" y="3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012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694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33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966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71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09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857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976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759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590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437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9627B3-5776-49DC-9933-9C94C7E1B67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5/6/2025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74187-4894-487B-9622-D68BF52EF91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49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468D43-B759-B81B-1811-A11918D25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8577"/>
            <a:ext cx="12192000" cy="350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66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C409B7-7BD6-32DB-8C9D-D70137F61D83}"/>
              </a:ext>
            </a:extLst>
          </p:cNvPr>
          <p:cNvSpPr txBox="1"/>
          <p:nvPr/>
        </p:nvSpPr>
        <p:spPr>
          <a:xfrm>
            <a:off x="262980" y="409877"/>
            <a:ext cx="11685179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Sampling from </a:t>
            </a:r>
            <a:r>
              <a:rPr lang="en-US" sz="3600" b="1" dirty="0" err="1"/>
              <a:t>CompuMed</a:t>
            </a:r>
            <a:r>
              <a:rPr lang="en-US" sz="3600" dirty="0"/>
              <a:t> Company:</a:t>
            </a:r>
          </a:p>
          <a:p>
            <a:endParaRPr lang="en-US" sz="3600" dirty="0"/>
          </a:p>
          <a:p>
            <a:r>
              <a:rPr lang="en-US" sz="3600" dirty="0"/>
              <a:t>Supervisors and employees write average over 5 letters, 10 memos, 50 e-mail messages, and numerous </a:t>
            </a:r>
            <a:r>
              <a:rPr lang="en-US" sz="40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instant messages and text messages a day.</a:t>
            </a:r>
            <a:r>
              <a:rPr lang="en-US" sz="4000" spc="588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</a:p>
          <a:p>
            <a:endParaRPr lang="en-US" sz="4000" spc="5880" dirty="0">
              <a:solidFill>
                <a:srgbClr val="000000"/>
              </a:solidFill>
              <a:ea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3AD005-AE37-1934-8A65-42771DCF4482}"/>
              </a:ext>
            </a:extLst>
          </p:cNvPr>
          <p:cNvSpPr txBox="1"/>
          <p:nvPr/>
        </p:nvSpPr>
        <p:spPr>
          <a:xfrm>
            <a:off x="379307" y="4416213"/>
            <a:ext cx="10891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Letters and messages are written to different audiences </a:t>
            </a:r>
            <a:r>
              <a:rPr lang="en-US" sz="3600" dirty="0">
                <a:solidFill>
                  <a:srgbClr val="FF0000"/>
                </a:solidFill>
              </a:rPr>
              <a:t>inside</a:t>
            </a:r>
            <a:r>
              <a:rPr lang="en-US" sz="3600" dirty="0"/>
              <a:t> and </a:t>
            </a:r>
            <a:r>
              <a:rPr lang="en-US" sz="3600" dirty="0">
                <a:solidFill>
                  <a:srgbClr val="FF0000"/>
                </a:solidFill>
              </a:rPr>
              <a:t>outside</a:t>
            </a:r>
            <a:r>
              <a:rPr lang="en-US" sz="3600" dirty="0"/>
              <a:t> of the company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F2D669-BB8A-4E5D-B992-3FC16781B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05495" y="409877"/>
            <a:ext cx="2680746" cy="38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538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A44127-34A5-EDE8-32EB-E4956FDDC1DA}"/>
              </a:ext>
            </a:extLst>
          </p:cNvPr>
          <p:cNvSpPr txBox="1"/>
          <p:nvPr/>
        </p:nvSpPr>
        <p:spPr>
          <a:xfrm>
            <a:off x="127590" y="164805"/>
            <a:ext cx="1179682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On average, an entry-level engineer at a large company like </a:t>
            </a:r>
            <a:r>
              <a:rPr lang="en-US" sz="2400" b="1" dirty="0"/>
              <a:t>Southern California Edison (SCE)</a:t>
            </a:r>
            <a:r>
              <a:rPr lang="en-US" sz="2400" dirty="0"/>
              <a:t> might produce the following types and quantities of written communication per </a:t>
            </a:r>
            <a:r>
              <a:rPr lang="en-US" sz="2400" b="1" dirty="0"/>
              <a:t>week</a:t>
            </a:r>
            <a:r>
              <a:rPr lang="en-US" sz="2400" dirty="0"/>
              <a:t>: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b="1" dirty="0"/>
              <a:t>Estimated Weekly Output:</a:t>
            </a:r>
          </a:p>
          <a:p>
            <a:pPr>
              <a:buNone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Emails:</a:t>
            </a:r>
            <a:r>
              <a:rPr lang="en-US" sz="2400" dirty="0"/>
              <a:t> 50–150</a:t>
            </a:r>
            <a:br>
              <a:rPr lang="en-US" sz="2400" dirty="0"/>
            </a:br>
            <a:r>
              <a:rPr lang="en-US" sz="2400" dirty="0"/>
              <a:t>(Mostly short, internal communication with team members, managers, and other departments.)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Memos:</a:t>
            </a:r>
            <a:r>
              <a:rPr lang="en-US" sz="2400" dirty="0"/>
              <a:t> 1–3</a:t>
            </a:r>
            <a:br>
              <a:rPr lang="en-US" sz="2400" dirty="0"/>
            </a:br>
            <a:r>
              <a:rPr lang="en-US" sz="2400" dirty="0"/>
              <a:t>(Internal documents about project updates, safety notes, or process clarifications.)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Reports:</a:t>
            </a:r>
            <a:r>
              <a:rPr lang="en-US" sz="2400" dirty="0"/>
              <a:t> 0.25–1</a:t>
            </a:r>
            <a:br>
              <a:rPr lang="en-US" sz="2400" dirty="0"/>
            </a:br>
            <a:r>
              <a:rPr lang="en-US" sz="2400" dirty="0"/>
              <a:t>(Typically contributes to a larger team report monthly or writes small standalone reports.)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Letters (formal external communication):</a:t>
            </a:r>
            <a:r>
              <a:rPr lang="en-US" sz="2400" dirty="0"/>
              <a:t> Rare</a:t>
            </a:r>
            <a:br>
              <a:rPr lang="en-US" sz="2400" dirty="0"/>
            </a:br>
            <a:r>
              <a:rPr lang="en-US" sz="2400" dirty="0"/>
              <a:t>(Maybe 1 per month or less; handled more often by legal, regulatory, or senior staff.)</a:t>
            </a:r>
          </a:p>
        </p:txBody>
      </p:sp>
    </p:spTree>
    <p:extLst>
      <p:ext uri="{BB962C8B-B14F-4D97-AF65-F5344CB8AC3E}">
        <p14:creationId xmlns:p14="http://schemas.microsoft.com/office/powerpoint/2010/main" val="2039202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8049200-197A-451C-2F46-BBA49821CF25}"/>
              </a:ext>
            </a:extLst>
          </p:cNvPr>
          <p:cNvSpPr txBox="1"/>
          <p:nvPr/>
        </p:nvSpPr>
        <p:spPr>
          <a:xfrm>
            <a:off x="164804" y="5774330"/>
            <a:ext cx="118446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The actual numbers depend heavily on the specific role (e.g., field engineer vs. design vs. compliance), project phase, and department.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83B8A9-4BDC-B0D4-299C-D47EB98FC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30" y="413886"/>
            <a:ext cx="8531756" cy="489479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1934A35-5F52-FC85-00DB-C1E9A3DD9CDB}"/>
              </a:ext>
            </a:extLst>
          </p:cNvPr>
          <p:cNvSpPr txBox="1"/>
          <p:nvPr/>
        </p:nvSpPr>
        <p:spPr>
          <a:xfrm>
            <a:off x="5790757" y="485185"/>
            <a:ext cx="60951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Southern California Edison (SCE)</a:t>
            </a:r>
          </a:p>
        </p:txBody>
      </p:sp>
    </p:spTree>
    <p:extLst>
      <p:ext uri="{BB962C8B-B14F-4D97-AF65-F5344CB8AC3E}">
        <p14:creationId xmlns:p14="http://schemas.microsoft.com/office/powerpoint/2010/main" val="78346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93" y="737936"/>
            <a:ext cx="11999495" cy="6120063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Letters</a:t>
            </a:r>
            <a:r>
              <a:rPr lang="en-US" sz="2400" b="1" spc="340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of</a:t>
            </a:r>
            <a:r>
              <a:rPr lang="en-US" sz="2400" b="1" spc="115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inquiry</a:t>
            </a:r>
            <a:r>
              <a:rPr lang="en-US" sz="2400" b="1" spc="280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to</a:t>
            </a:r>
            <a:r>
              <a:rPr lang="en-US" sz="2400" b="1" spc="140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retailers</a:t>
            </a:r>
            <a:r>
              <a:rPr lang="en-US" sz="2400" b="1" spc="265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seeking</a:t>
            </a:r>
            <a:r>
              <a:rPr lang="en-US" sz="2400" b="1" spc="5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product information</a:t>
            </a:r>
            <a:r>
              <a:rPr lang="en-US" sz="2400" b="1" spc="45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(technical</a:t>
            </a:r>
            <a:r>
              <a:rPr lang="en-US" sz="2400" b="1" spc="43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specifications,</a:t>
            </a:r>
            <a:r>
              <a:rPr lang="en-US" sz="2400" b="1" spc="72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	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pricing, warranties,</a:t>
            </a:r>
            <a:r>
              <a:rPr lang="en-US" sz="2400" b="1" spc="43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guarantees,</a:t>
            </a:r>
            <a:r>
              <a:rPr lang="en-US" sz="2400" b="1" spc="58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credentials</a:t>
            </a:r>
            <a:r>
              <a:rPr lang="en-US" sz="2400" b="1" spc="48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of</a:t>
            </a:r>
            <a:r>
              <a:rPr lang="en-US" sz="2400" b="1" spc="16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service</a:t>
            </a:r>
            <a:r>
              <a:rPr lang="en-US" sz="2400" b="1" spc="33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staff,</a:t>
            </a:r>
            <a:r>
              <a:rPr lang="en-US" sz="2400" b="1" spc="2565" dirty="0">
                <a:solidFill>
                  <a:srgbClr val="000000"/>
                </a:solidFill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</a:t>
            </a:r>
            <a:r>
              <a:rPr lang="en-US" sz="2400" b="1" spc="21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so</a:t>
            </a:r>
            <a:r>
              <a:rPr lang="en-US" sz="2400" b="1" spc="19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forth)</a:t>
            </a:r>
            <a:r>
              <a:rPr lang="en-US" sz="2400" b="1" spc="1654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spc="49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endParaRPr lang="en-US" sz="2400" b="1" dirty="0"/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Cover</a:t>
            </a:r>
            <a:r>
              <a:rPr lang="en-US" sz="2400" b="1" spc="150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letters</a:t>
            </a:r>
            <a:r>
              <a:rPr lang="en-US" sz="2400" b="1" spc="5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prefacing</a:t>
            </a:r>
            <a:r>
              <a:rPr lang="en-US" sz="2400" b="1" spc="11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CompuMed’s</a:t>
            </a:r>
            <a:r>
              <a:rPr lang="en-US" sz="2400" b="1" spc="1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proposals</a:t>
            </a:r>
            <a:r>
              <a:rPr lang="en-US" sz="2400" b="1" spc="354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Complaint</a:t>
            </a:r>
            <a:r>
              <a:rPr lang="en-US" sz="2400" b="1" spc="615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letters</a:t>
            </a:r>
            <a:r>
              <a:rPr lang="en-US" sz="2400" b="1" spc="240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written</a:t>
            </a:r>
            <a:r>
              <a:rPr lang="en-US" sz="2400" b="1" spc="21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to</a:t>
            </a:r>
            <a:r>
              <a:rPr lang="en-US" sz="2400" b="1" spc="14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parts-manufacturers</a:t>
            </a:r>
            <a:r>
              <a:rPr lang="en-US" sz="2400" b="1" spc="86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if and</a:t>
            </a:r>
            <a:r>
              <a:rPr lang="en-US" sz="2400" b="1" spc="21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when</a:t>
            </a:r>
            <a:r>
              <a:rPr lang="en-US" sz="2400" b="1" spc="23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faulty</a:t>
            </a:r>
            <a:r>
              <a:rPr lang="en-US" sz="2400" b="1" spc="23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equipment</a:t>
            </a:r>
            <a:r>
              <a:rPr lang="en-US" sz="2400" b="1" spc="54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</a:t>
            </a:r>
            <a:r>
              <a:rPr lang="en-US" sz="2400" b="1" spc="26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	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materials</a:t>
            </a:r>
            <a:r>
              <a:rPr lang="en-US" sz="2400" b="1" spc="37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are received</a:t>
            </a:r>
            <a:r>
              <a:rPr lang="en-US" sz="2400" b="1" spc="48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</a:t>
            </a:r>
            <a:r>
              <a:rPr lang="en-US" sz="2400" b="1" spc="12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shipping</a:t>
            </a:r>
            <a:r>
              <a:rPr lang="en-US" sz="2400" b="1" spc="52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and</a:t>
            </a:r>
            <a:r>
              <a:rPr lang="en-US" sz="2400" b="1" spc="21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adjustment</a:t>
            </a:r>
            <a:r>
              <a:rPr lang="en-US" sz="2400" b="1" spc="54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letters</a:t>
            </a:r>
            <a:r>
              <a:rPr lang="en-US" sz="2400" b="1" spc="24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to compensate retailers</a:t>
            </a:r>
            <a:r>
              <a:rPr lang="en-US" sz="2400" b="1" spc="26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	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when</a:t>
            </a:r>
            <a:r>
              <a:rPr lang="en-US" sz="2400" b="1" spc="33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problems</a:t>
            </a:r>
            <a:r>
              <a:rPr lang="en-US" sz="2400" b="1" spc="48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occur </a:t>
            </a:r>
          </a:p>
          <a:p>
            <a:pPr>
              <a:lnSpc>
                <a:spcPct val="120000"/>
              </a:lnSpc>
            </a:pPr>
            <a:endParaRPr lang="en-US" sz="2400" b="1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Memos</a:t>
            </a:r>
            <a:r>
              <a:rPr lang="en-US" sz="2400" b="1" spc="34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to accomplish</a:t>
            </a:r>
            <a:r>
              <a:rPr lang="en-US" sz="2400" b="1" spc="62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a</a:t>
            </a:r>
            <a:r>
              <a:rPr lang="en-US" sz="2400" b="1" spc="9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variety</a:t>
            </a:r>
            <a:r>
              <a:rPr lang="en-US" sz="2400" b="1" spc="26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of</a:t>
            </a:r>
            <a:r>
              <a:rPr lang="en-US" sz="2400" b="1" spc="11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goals</a:t>
            </a:r>
            <a:endParaRPr lang="en-US" sz="2400" b="1" dirty="0">
              <a:effectLst/>
              <a:ea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Document</a:t>
            </a:r>
            <a:r>
              <a:rPr lang="en-US" sz="2400" b="1" spc="65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work accomplished</a:t>
            </a:r>
            <a:endParaRPr lang="en-US" sz="2400" b="1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Call</a:t>
            </a:r>
            <a:r>
              <a:rPr lang="en-US" sz="2400" b="1" spc="360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meetings</a:t>
            </a:r>
            <a:r>
              <a:rPr lang="en-US" sz="2400" b="1" spc="460" dirty="0">
                <a:solidFill>
                  <a:srgbClr val="C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2400" b="1" spc="215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establish</a:t>
            </a:r>
            <a:r>
              <a:rPr lang="en-US" sz="2400" b="1" spc="425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meeting</a:t>
            </a:r>
            <a:r>
              <a:rPr lang="en-US" sz="2400" b="1" spc="52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agendas</a:t>
            </a:r>
            <a:endParaRPr lang="en-US" sz="2400" b="1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Request</a:t>
            </a:r>
            <a:r>
              <a:rPr lang="en-US" sz="2400" b="1" spc="400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equipment</a:t>
            </a:r>
            <a:r>
              <a:rPr lang="en-US" sz="2400" b="1" spc="54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from</a:t>
            </a:r>
            <a:r>
              <a:rPr lang="en-US" sz="2400" b="1" spc="20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purchasing</a:t>
            </a:r>
            <a:endParaRPr lang="en-US" sz="2400" b="1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sz="2400" b="1" dirty="0">
                <a:solidFill>
                  <a:srgbClr val="C00000"/>
                </a:solidFill>
                <a:effectLst/>
                <a:ea typeface="Calibri" panose="020F0502020204030204" pitchFamily="34" charset="0"/>
              </a:rPr>
              <a:t>Preface</a:t>
            </a:r>
            <a:r>
              <a:rPr lang="en-US" sz="2400" b="1" spc="34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internal</a:t>
            </a:r>
            <a:r>
              <a:rPr lang="en-US" sz="2400" b="1" spc="265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proposals</a:t>
            </a:r>
            <a:endParaRPr lang="en-US" sz="2400" b="1" spc="3545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>
              <a:lnSpc>
                <a:spcPct val="120000"/>
              </a:lnSpc>
            </a:pPr>
            <a:endParaRPr lang="en-US" sz="24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Writing Common Engineering Documents</a:t>
            </a:r>
          </a:p>
        </p:txBody>
      </p:sp>
    </p:spTree>
    <p:extLst>
      <p:ext uri="{BB962C8B-B14F-4D97-AF65-F5344CB8AC3E}">
        <p14:creationId xmlns:p14="http://schemas.microsoft.com/office/powerpoint/2010/main" val="3667203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23C484-7CB9-A95D-271D-D0456B006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8" y="244093"/>
            <a:ext cx="8098925" cy="924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06D659-2458-1D44-9761-A26997CE0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628" y="487680"/>
            <a:ext cx="4915257" cy="3008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710525-2A85-60AE-07B3-D2B427B4D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274" y="2560314"/>
            <a:ext cx="10328643" cy="39894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827682-D6F2-81D0-5125-8B919702CACD}"/>
              </a:ext>
            </a:extLst>
          </p:cNvPr>
          <p:cNvSpPr txBox="1"/>
          <p:nvPr/>
        </p:nvSpPr>
        <p:spPr>
          <a:xfrm>
            <a:off x="639595" y="1638560"/>
            <a:ext cx="9651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Percentage of Employees Who Consider E-mail, Memos, Letters, and Reports “Extremely Important”</a:t>
            </a:r>
            <a:endParaRPr lang="en-US" sz="24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4C9AE1-E689-7CD4-B863-C95741B717D6}"/>
              </a:ext>
            </a:extLst>
          </p:cNvPr>
          <p:cNvSpPr/>
          <p:nvPr/>
        </p:nvSpPr>
        <p:spPr>
          <a:xfrm>
            <a:off x="352213" y="788491"/>
            <a:ext cx="5418667" cy="430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29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93" y="737936"/>
            <a:ext cx="11999495" cy="612006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3100" b="1" u="sng" dirty="0"/>
              <a:t>Memos, letters, and e-mail </a:t>
            </a:r>
            <a:r>
              <a:rPr lang="en-US" sz="3100" b="1" dirty="0"/>
              <a:t>messages are </a:t>
            </a:r>
            <a:r>
              <a:rPr lang="en-US" sz="3100" b="1" dirty="0">
                <a:solidFill>
                  <a:srgbClr val="C00000"/>
                </a:solidFill>
              </a:rPr>
              <a:t>three common </a:t>
            </a:r>
            <a:r>
              <a:rPr lang="en-US" sz="3100" b="1" dirty="0"/>
              <a:t>types of communication channels. </a:t>
            </a:r>
          </a:p>
          <a:p>
            <a:pPr>
              <a:lnSpc>
                <a:spcPct val="120000"/>
              </a:lnSpc>
            </a:pPr>
            <a:endParaRPr lang="en-US" sz="3100" b="1" dirty="0"/>
          </a:p>
          <a:p>
            <a:pPr>
              <a:lnSpc>
                <a:spcPct val="120000"/>
              </a:lnSpc>
            </a:pPr>
            <a:r>
              <a:rPr lang="en-US" sz="3100" b="1" dirty="0"/>
              <a:t>Other communication channels include </a:t>
            </a:r>
            <a:r>
              <a:rPr lang="en-US" sz="3100" b="1" u="sng" dirty="0"/>
              <a:t>reports</a:t>
            </a:r>
            <a:r>
              <a:rPr lang="en-US" sz="3100" b="1" dirty="0"/>
              <a:t>, </a:t>
            </a:r>
            <a:r>
              <a:rPr lang="en-US" sz="3100" b="1" u="sng" dirty="0"/>
              <a:t>Web sites</a:t>
            </a:r>
            <a:r>
              <a:rPr lang="en-US" sz="3100" b="1" dirty="0"/>
              <a:t>, </a:t>
            </a:r>
            <a:r>
              <a:rPr lang="en-US" sz="3100" b="1" u="sng" dirty="0"/>
              <a:t>blogs</a:t>
            </a:r>
            <a:r>
              <a:rPr lang="en-US" sz="3100" b="1" dirty="0"/>
              <a:t>, 	</a:t>
            </a:r>
            <a:r>
              <a:rPr lang="en-US" sz="3100" b="1" u="sng" dirty="0"/>
              <a:t>PowerPoint presentations</a:t>
            </a:r>
            <a:r>
              <a:rPr lang="en-US" sz="3100" b="1" dirty="0"/>
              <a:t>, </a:t>
            </a:r>
            <a:r>
              <a:rPr lang="en-US" sz="3100" b="1" u="sng" dirty="0"/>
              <a:t>oral communication</a:t>
            </a:r>
            <a:r>
              <a:rPr lang="en-US" sz="3100" b="1" dirty="0"/>
              <a:t>, </a:t>
            </a:r>
            <a:r>
              <a:rPr lang="en-US" sz="3100" b="1" u="sng" dirty="0"/>
              <a:t>instant</a:t>
            </a:r>
            <a:r>
              <a:rPr lang="en-US" sz="3100" b="1" dirty="0"/>
              <a:t> 	</a:t>
            </a:r>
            <a:r>
              <a:rPr lang="en-US" sz="3100" b="1" u="sng" dirty="0"/>
              <a:t>messages</a:t>
            </a:r>
            <a:r>
              <a:rPr lang="en-US" sz="3100" b="1" dirty="0"/>
              <a:t>, </a:t>
            </a:r>
            <a:r>
              <a:rPr lang="en-US" sz="3100" b="1" u="sng" dirty="0"/>
              <a:t>text messages</a:t>
            </a:r>
            <a:r>
              <a:rPr lang="en-US" sz="3100" b="1" dirty="0"/>
              <a:t>, and more. </a:t>
            </a:r>
          </a:p>
          <a:p>
            <a:pPr>
              <a:lnSpc>
                <a:spcPct val="120000"/>
              </a:lnSpc>
            </a:pPr>
            <a:r>
              <a:rPr lang="en-US" sz="3100" b="1" dirty="0">
                <a:solidFill>
                  <a:srgbClr val="C00000"/>
                </a:solidFill>
              </a:rPr>
              <a:t>When should you write an e-mail message instead of a memo? </a:t>
            </a:r>
          </a:p>
          <a:p>
            <a:pPr>
              <a:lnSpc>
                <a:spcPct val="120000"/>
              </a:lnSpc>
            </a:pPr>
            <a:r>
              <a:rPr lang="en-US" sz="3100" b="1" dirty="0">
                <a:solidFill>
                  <a:srgbClr val="C00000"/>
                </a:solidFill>
              </a:rPr>
              <a:t>When should you write a memo instead of a letter? </a:t>
            </a:r>
          </a:p>
          <a:p>
            <a:pPr>
              <a:lnSpc>
                <a:spcPct val="120000"/>
              </a:lnSpc>
            </a:pPr>
            <a:r>
              <a:rPr lang="en-US" sz="3100" b="1" dirty="0"/>
              <a:t>Is an instant message or a text message appropriate to the situation? </a:t>
            </a:r>
          </a:p>
          <a:p>
            <a:pPr>
              <a:lnSpc>
                <a:spcPct val="120000"/>
              </a:lnSpc>
            </a:pPr>
            <a:endParaRPr lang="en-US" sz="3100" b="1" dirty="0"/>
          </a:p>
          <a:p>
            <a:pPr>
              <a:lnSpc>
                <a:spcPct val="120000"/>
              </a:lnSpc>
            </a:pPr>
            <a:endParaRPr lang="en-US" sz="24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Which Communication Channel Should You Use?</a:t>
            </a:r>
          </a:p>
        </p:txBody>
      </p:sp>
    </p:spTree>
    <p:extLst>
      <p:ext uri="{BB962C8B-B14F-4D97-AF65-F5344CB8AC3E}">
        <p14:creationId xmlns:p14="http://schemas.microsoft.com/office/powerpoint/2010/main" val="1391186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93" y="737936"/>
            <a:ext cx="11999495" cy="612006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3100" b="1" dirty="0"/>
              <a:t>For example, e-mail is a convenient communication channel. </a:t>
            </a:r>
          </a:p>
          <a:p>
            <a:pPr>
              <a:lnSpc>
                <a:spcPct val="120000"/>
              </a:lnSpc>
            </a:pPr>
            <a:endParaRPr lang="en-US" sz="3100" b="1" dirty="0"/>
          </a:p>
          <a:p>
            <a:pPr>
              <a:lnSpc>
                <a:spcPct val="120000"/>
              </a:lnSpc>
            </a:pPr>
            <a:r>
              <a:rPr lang="en-US" sz="3100" b="1" dirty="0"/>
              <a:t>E-mail might not be the best communication channel to use if you are </a:t>
            </a:r>
            <a:r>
              <a:rPr lang="en-US" sz="3100" b="1" dirty="0">
                <a:solidFill>
                  <a:srgbClr val="C00000"/>
                </a:solidFill>
              </a:rPr>
              <a:t>discussing a highly sensitive topic </a:t>
            </a:r>
            <a:r>
              <a:rPr lang="en-US" sz="3100" b="1" dirty="0"/>
              <a:t>such as a pending merger, corporate takeover, or layoffs, </a:t>
            </a:r>
          </a:p>
          <a:p>
            <a:pPr>
              <a:lnSpc>
                <a:spcPct val="120000"/>
              </a:lnSpc>
            </a:pPr>
            <a:endParaRPr lang="en-US" sz="3100" b="1" dirty="0"/>
          </a:p>
          <a:p>
            <a:pPr>
              <a:lnSpc>
                <a:spcPct val="120000"/>
              </a:lnSpc>
            </a:pPr>
            <a:r>
              <a:rPr lang="en-US" sz="3100" b="1" dirty="0"/>
              <a:t>An e-mail message would be </a:t>
            </a:r>
            <a:r>
              <a:rPr lang="en-US" sz="3100" b="1" dirty="0">
                <a:solidFill>
                  <a:srgbClr val="C00000"/>
                </a:solidFill>
              </a:rPr>
              <a:t>less secure </a:t>
            </a:r>
            <a:r>
              <a:rPr lang="en-US" sz="3100" b="1" dirty="0"/>
              <a:t>than a letter sent in a sealed envelope. </a:t>
            </a:r>
          </a:p>
          <a:p>
            <a:pPr>
              <a:lnSpc>
                <a:spcPct val="120000"/>
              </a:lnSpc>
            </a:pPr>
            <a:endParaRPr lang="en-US" sz="3100" b="1" dirty="0"/>
          </a:p>
          <a:p>
            <a:pPr>
              <a:lnSpc>
                <a:spcPct val="120000"/>
              </a:lnSpc>
            </a:pPr>
            <a:endParaRPr lang="en-US" sz="24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Which Communication Channel Should You Use?</a:t>
            </a:r>
          </a:p>
        </p:txBody>
      </p:sp>
    </p:spTree>
    <p:extLst>
      <p:ext uri="{BB962C8B-B14F-4D97-AF65-F5344CB8AC3E}">
        <p14:creationId xmlns:p14="http://schemas.microsoft.com/office/powerpoint/2010/main" val="2590280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C8C487-7B7E-7627-6FCC-3AFDAC9C0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985"/>
            <a:ext cx="8729330" cy="61966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B51D9F-A54F-2037-CC16-4845C5486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65" y="56512"/>
            <a:ext cx="11434766" cy="783459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920D1F57-6C6D-4475-B44D-48451CE5C1E1}"/>
              </a:ext>
            </a:extLst>
          </p:cNvPr>
          <p:cNvSpPr/>
          <p:nvPr/>
        </p:nvSpPr>
        <p:spPr>
          <a:xfrm>
            <a:off x="1" y="3429000"/>
            <a:ext cx="9060110" cy="3429000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05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Writing Common Engineering Documents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982A5C-C964-F334-4CEC-6561CFB6B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16" y="1260101"/>
            <a:ext cx="11307753" cy="53537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47FC2F-EC56-3549-ECA1-09FDDA97214C}"/>
              </a:ext>
            </a:extLst>
          </p:cNvPr>
          <p:cNvSpPr txBox="1"/>
          <p:nvPr/>
        </p:nvSpPr>
        <p:spPr>
          <a:xfrm>
            <a:off x="494453" y="8143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Instant messages (IM), and text messages(TM), </a:t>
            </a:r>
          </a:p>
        </p:txBody>
      </p:sp>
    </p:spTree>
    <p:extLst>
      <p:ext uri="{BB962C8B-B14F-4D97-AF65-F5344CB8AC3E}">
        <p14:creationId xmlns:p14="http://schemas.microsoft.com/office/powerpoint/2010/main" val="634610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Writing Common Engineering Documents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47FC2F-EC56-3549-ECA1-09FDDA97214C}"/>
              </a:ext>
            </a:extLst>
          </p:cNvPr>
          <p:cNvSpPr txBox="1"/>
          <p:nvPr/>
        </p:nvSpPr>
        <p:spPr>
          <a:xfrm>
            <a:off x="326673" y="6585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rPr>
              <a:t>Instant messages (IM), and text messages(TM),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3D45B1-1AB0-9CF8-A459-A94CB91E4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69" y="1357575"/>
            <a:ext cx="9370774" cy="5399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ECA4C5-E286-A3BA-4942-C0555F1BA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673" y="988243"/>
            <a:ext cx="9146870" cy="36933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71686E3-D0E5-4AEE-B48C-76C92FF4DBAF}"/>
              </a:ext>
            </a:extLst>
          </p:cNvPr>
          <p:cNvSpPr/>
          <p:nvPr/>
        </p:nvSpPr>
        <p:spPr>
          <a:xfrm>
            <a:off x="5360565" y="2701255"/>
            <a:ext cx="1879134" cy="260897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488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Writing Common Engineering Documents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47FC2F-EC56-3549-ECA1-09FDDA97214C}"/>
              </a:ext>
            </a:extLst>
          </p:cNvPr>
          <p:cNvSpPr txBox="1"/>
          <p:nvPr/>
        </p:nvSpPr>
        <p:spPr>
          <a:xfrm>
            <a:off x="494453" y="8143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+mn-cs"/>
              </a:rPr>
              <a:t>Instant messages (IM), and text messages(TM),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705D0F-441F-D528-996C-477A0183C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55" y="1182756"/>
            <a:ext cx="9523678" cy="55899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CED0A5B-25B2-4388-8E57-1903DB035B97}"/>
              </a:ext>
            </a:extLst>
          </p:cNvPr>
          <p:cNvSpPr/>
          <p:nvPr/>
        </p:nvSpPr>
        <p:spPr>
          <a:xfrm>
            <a:off x="1778466" y="4437776"/>
            <a:ext cx="1795244" cy="233496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D13E40-3BE0-4002-8DC8-2D001BDF3BDD}"/>
              </a:ext>
            </a:extLst>
          </p:cNvPr>
          <p:cNvSpPr/>
          <p:nvPr/>
        </p:nvSpPr>
        <p:spPr>
          <a:xfrm>
            <a:off x="5538132" y="4437775"/>
            <a:ext cx="1795244" cy="2334965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933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8B2CA2-E8C4-1280-5ACD-2A84E15CFB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5548" y="0"/>
            <a:ext cx="11377786" cy="6857251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517D6C-2468-4482-9FDB-0182AD267DF8}"/>
              </a:ext>
            </a:extLst>
          </p:cNvPr>
          <p:cNvCxnSpPr/>
          <p:nvPr/>
        </p:nvCxnSpPr>
        <p:spPr>
          <a:xfrm>
            <a:off x="1065402" y="3833769"/>
            <a:ext cx="6912528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0938D70-E86B-4D16-8802-D38B4E5EBECB}"/>
              </a:ext>
            </a:extLst>
          </p:cNvPr>
          <p:cNvCxnSpPr/>
          <p:nvPr/>
        </p:nvCxnSpPr>
        <p:spPr>
          <a:xfrm>
            <a:off x="1142301" y="2350315"/>
            <a:ext cx="6912528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C51150-D1F4-4BDA-B9D9-1B4B42CD4FC4}"/>
              </a:ext>
            </a:extLst>
          </p:cNvPr>
          <p:cNvCxnSpPr/>
          <p:nvPr/>
        </p:nvCxnSpPr>
        <p:spPr>
          <a:xfrm>
            <a:off x="1065402" y="5915637"/>
            <a:ext cx="6912528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813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Reasons for Writing Memos: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87283F-9129-3A01-C1FB-26679506493C}"/>
              </a:ext>
            </a:extLst>
          </p:cNvPr>
          <p:cNvSpPr txBox="1"/>
          <p:nvPr/>
        </p:nvSpPr>
        <p:spPr>
          <a:xfrm>
            <a:off x="376569" y="851723"/>
            <a:ext cx="1181543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+mj-lt"/>
              </a:rPr>
              <a:t>Documentation</a:t>
            </a:r>
          </a:p>
          <a:p>
            <a:endParaRPr lang="en-US" sz="3200" b="1" dirty="0">
              <a:latin typeface="+mj-lt"/>
            </a:endParaRPr>
          </a:p>
          <a:p>
            <a:r>
              <a:rPr lang="en-US" sz="3200" b="1" dirty="0">
                <a:latin typeface="+mj-lt"/>
              </a:rPr>
              <a:t>Confirmation</a:t>
            </a:r>
          </a:p>
          <a:p>
            <a:endParaRPr lang="en-US" sz="3200" b="1" dirty="0">
              <a:latin typeface="+mj-lt"/>
            </a:endParaRPr>
          </a:p>
          <a:p>
            <a:r>
              <a:rPr lang="en-US" sz="3200" b="1" dirty="0">
                <a:latin typeface="+mj-lt"/>
              </a:rPr>
              <a:t>Procedures</a:t>
            </a:r>
          </a:p>
          <a:p>
            <a:endParaRPr lang="en-US" sz="3200" b="1" dirty="0">
              <a:latin typeface="+mj-lt"/>
            </a:endParaRPr>
          </a:p>
          <a:p>
            <a:r>
              <a:rPr lang="en-US" sz="3200" b="1" dirty="0">
                <a:latin typeface="+mj-lt"/>
              </a:rPr>
              <a:t>Recommendations</a:t>
            </a:r>
          </a:p>
          <a:p>
            <a:r>
              <a:rPr lang="en-US" sz="3200" b="1" dirty="0">
                <a:latin typeface="+mj-lt"/>
              </a:rPr>
              <a:t>  </a:t>
            </a:r>
          </a:p>
          <a:p>
            <a:r>
              <a:rPr lang="en-US" sz="3200" b="1" dirty="0">
                <a:latin typeface="+mj-lt"/>
              </a:rPr>
              <a:t>Status</a:t>
            </a:r>
          </a:p>
          <a:p>
            <a:endParaRPr lang="en-US" sz="3200" b="1" dirty="0">
              <a:latin typeface="+mj-lt"/>
            </a:endParaRPr>
          </a:p>
          <a:p>
            <a:r>
              <a:rPr lang="en-US" sz="3200" b="1" dirty="0">
                <a:latin typeface="+mj-lt"/>
              </a:rPr>
              <a:t>Inquiry</a:t>
            </a:r>
          </a:p>
        </p:txBody>
      </p:sp>
    </p:spTree>
    <p:extLst>
      <p:ext uri="{BB962C8B-B14F-4D97-AF65-F5344CB8AC3E}">
        <p14:creationId xmlns:p14="http://schemas.microsoft.com/office/powerpoint/2010/main" val="2184308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1999495" cy="612006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/>
              <a:t>Memos contain the following key components: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Memo identification lines (Date, To, From, and Subject)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Introduction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Discussion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Conclusion</a:t>
            </a:r>
          </a:p>
          <a:p>
            <a:pPr>
              <a:lnSpc>
                <a:spcPct val="120000"/>
              </a:lnSpc>
            </a:pPr>
            <a:endParaRPr lang="en-US" sz="32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Criteria for Writing Memos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35D524-5BA8-2B03-FF3E-FA08C39FC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418" y="3695259"/>
            <a:ext cx="8983329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164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0984B8-12BB-A57D-F318-6CD59FFD0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07" y="0"/>
            <a:ext cx="110675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590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51FF0C-7E60-37BF-2548-4F2CE00A7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56" y="581134"/>
            <a:ext cx="11297888" cy="26641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B7DDC0-A139-FBCD-7539-5F6AF25CD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590" y="2850450"/>
            <a:ext cx="9482820" cy="3829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234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184C78-0F5B-9EA8-F4E7-82D0F470C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25" y="926122"/>
            <a:ext cx="11932549" cy="456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935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EB2D02-672C-497D-9B78-896DDF56A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685" y="0"/>
            <a:ext cx="64966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413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0204AA-A250-5067-BDA5-607915B58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269" y="392723"/>
            <a:ext cx="9712300" cy="491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743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16B5D5-0753-DDE0-CE8C-8D413B889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49" y="-86781"/>
            <a:ext cx="10813311" cy="704701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2B139F-8EB1-4023-BDDD-DEC1B7DD2CC2}"/>
              </a:ext>
            </a:extLst>
          </p:cNvPr>
          <p:cNvCxnSpPr/>
          <p:nvPr/>
        </p:nvCxnSpPr>
        <p:spPr>
          <a:xfrm>
            <a:off x="1585520" y="4613945"/>
            <a:ext cx="6912528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8A6FFD6-C1F5-4DDD-BA68-D1C69B9DDCED}"/>
              </a:ext>
            </a:extLst>
          </p:cNvPr>
          <p:cNvCxnSpPr/>
          <p:nvPr/>
        </p:nvCxnSpPr>
        <p:spPr>
          <a:xfrm>
            <a:off x="1585520" y="1988191"/>
            <a:ext cx="6912528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1E84FBD-438B-42AA-A43D-0301B5EBD3EF}"/>
              </a:ext>
            </a:extLst>
          </p:cNvPr>
          <p:cNvCxnSpPr/>
          <p:nvPr/>
        </p:nvCxnSpPr>
        <p:spPr>
          <a:xfrm>
            <a:off x="1677798" y="2902591"/>
            <a:ext cx="6912528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1E524D-C697-4F16-A3DB-FECCC7991E98}"/>
              </a:ext>
            </a:extLst>
          </p:cNvPr>
          <p:cNvCxnSpPr/>
          <p:nvPr/>
        </p:nvCxnSpPr>
        <p:spPr>
          <a:xfrm>
            <a:off x="1677798" y="5192785"/>
            <a:ext cx="6912528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1C368D-B33F-4717-89A5-CC8C6194B622}"/>
              </a:ext>
            </a:extLst>
          </p:cNvPr>
          <p:cNvCxnSpPr/>
          <p:nvPr/>
        </p:nvCxnSpPr>
        <p:spPr>
          <a:xfrm>
            <a:off x="1677798" y="6082018"/>
            <a:ext cx="6912528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443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8CEB3B-6357-4528-ADE6-C5140E2D9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42417" y="876239"/>
            <a:ext cx="8615566" cy="510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386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747E30-834D-4A21-81F1-FE8EA0B56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31940" y="121783"/>
            <a:ext cx="7728119" cy="673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10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8DB5F1-F4D6-4638-9828-7522105D7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13354" y="0"/>
            <a:ext cx="59652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220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53B5-BA48-4BAD-A94C-C99D68C3F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43376"/>
            <a:ext cx="9144000" cy="776775"/>
          </a:xfrm>
        </p:spPr>
        <p:txBody>
          <a:bodyPr>
            <a:normAutofit/>
          </a:bodyPr>
          <a:lstStyle/>
          <a:p>
            <a:r>
              <a:rPr lang="en-US" sz="4000" dirty="0"/>
              <a:t>Criteria for Different Types of Letters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A3D22-B952-4AE5-897E-75083B361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629" y="1662545"/>
            <a:ext cx="11804073" cy="5195455"/>
          </a:xfrm>
        </p:spPr>
        <p:txBody>
          <a:bodyPr>
            <a:normAutofit/>
          </a:bodyPr>
          <a:lstStyle/>
          <a:p>
            <a:pPr marL="342900" indent="-342900" algn="l">
              <a:buFontTx/>
              <a:buChar char="-"/>
            </a:pPr>
            <a:r>
              <a:rPr lang="en-US" sz="3600" dirty="0"/>
              <a:t>Inquiry </a:t>
            </a:r>
          </a:p>
          <a:p>
            <a:pPr marL="342900" indent="-342900" algn="l">
              <a:buFontTx/>
              <a:buChar char="-"/>
            </a:pPr>
            <a:r>
              <a:rPr lang="en-US" sz="3600" dirty="0"/>
              <a:t>Cover Letter </a:t>
            </a:r>
          </a:p>
          <a:p>
            <a:pPr marL="342900" indent="-342900" algn="l">
              <a:buFontTx/>
              <a:buChar char="-"/>
            </a:pPr>
            <a:r>
              <a:rPr lang="en-US" sz="3600" dirty="0"/>
              <a:t>Complaint</a:t>
            </a:r>
          </a:p>
          <a:p>
            <a:pPr marL="342900" indent="-342900" algn="l">
              <a:buFontTx/>
              <a:buChar char="-"/>
            </a:pPr>
            <a:r>
              <a:rPr lang="en-US" sz="3600" dirty="0"/>
              <a:t>Adjustment</a:t>
            </a:r>
          </a:p>
          <a:p>
            <a:pPr marL="342900" indent="-342900" algn="l">
              <a:buFontTx/>
              <a:buChar char="-"/>
            </a:pPr>
            <a:r>
              <a:rPr lang="en-US" sz="3600" dirty="0"/>
              <a:t>Bad news</a:t>
            </a:r>
          </a:p>
          <a:p>
            <a:pPr marL="342900" indent="-342900" algn="l">
              <a:buFontTx/>
              <a:buChar char="-"/>
            </a:pPr>
            <a:r>
              <a:rPr lang="en-US" sz="3600" dirty="0"/>
              <a:t>Confirmation</a:t>
            </a:r>
          </a:p>
          <a:p>
            <a:pPr marL="342900" indent="-342900" algn="l">
              <a:buFontTx/>
              <a:buChar char="-"/>
            </a:pPr>
            <a:r>
              <a:rPr lang="en-US" sz="3600" dirty="0"/>
              <a:t>Recommendation</a:t>
            </a:r>
          </a:p>
        </p:txBody>
      </p:sp>
    </p:spTree>
    <p:extLst>
      <p:ext uri="{BB962C8B-B14F-4D97-AF65-F5344CB8AC3E}">
        <p14:creationId xmlns:p14="http://schemas.microsoft.com/office/powerpoint/2010/main" val="2366497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53B5-BA48-4BAD-A94C-C99D68C3F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43376"/>
            <a:ext cx="9144000" cy="776775"/>
          </a:xfrm>
        </p:spPr>
        <p:txBody>
          <a:bodyPr>
            <a:normAutofit/>
          </a:bodyPr>
          <a:lstStyle/>
          <a:p>
            <a:r>
              <a:rPr lang="en-US" sz="4000" dirty="0"/>
              <a:t>Criteria for Different Types of Letters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A3D22-B952-4AE5-897E-75083B361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47156"/>
            <a:ext cx="11804073" cy="5195455"/>
          </a:xfrm>
        </p:spPr>
        <p:txBody>
          <a:bodyPr>
            <a:normAutofit/>
          </a:bodyPr>
          <a:lstStyle/>
          <a:p>
            <a:pPr marL="342900" indent="-342900" algn="l">
              <a:buFontTx/>
              <a:buChar char="-"/>
            </a:pPr>
            <a:r>
              <a:rPr lang="en-US" sz="3600" dirty="0"/>
              <a:t>Letter of Inquiry </a:t>
            </a:r>
          </a:p>
          <a:p>
            <a:pPr marL="342900" indent="-342900" algn="l">
              <a:buFontTx/>
              <a:buChar char="-"/>
            </a:pP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7C3479-EA3E-47A5-BBD3-690205D7D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24359" y="1775924"/>
            <a:ext cx="9172575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1006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53B5-BA48-4BAD-A94C-C99D68C3F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43376"/>
            <a:ext cx="9144000" cy="776775"/>
          </a:xfrm>
        </p:spPr>
        <p:txBody>
          <a:bodyPr>
            <a:normAutofit/>
          </a:bodyPr>
          <a:lstStyle/>
          <a:p>
            <a:r>
              <a:rPr lang="en-US" sz="4000" dirty="0"/>
              <a:t>Criteria for Different Types of Letters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A3D22-B952-4AE5-897E-75083B361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47156"/>
            <a:ext cx="11804073" cy="5195455"/>
          </a:xfrm>
        </p:spPr>
        <p:txBody>
          <a:bodyPr>
            <a:normAutofit/>
          </a:bodyPr>
          <a:lstStyle/>
          <a:p>
            <a:pPr marL="342900" indent="-342900" algn="l">
              <a:buFontTx/>
              <a:buChar char="-"/>
            </a:pPr>
            <a:r>
              <a:rPr lang="en-US" sz="3600" dirty="0"/>
              <a:t>Letter of Inquiry </a:t>
            </a:r>
          </a:p>
          <a:p>
            <a:pPr marL="342900" indent="-342900" algn="l">
              <a:buFontTx/>
              <a:buChar char="-"/>
            </a:pP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A36D44-8C4A-4105-8FC7-2B6F1A2EC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9638" y="1908118"/>
            <a:ext cx="11792723" cy="380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8110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47954E-E45D-4996-AF7B-04BD43BBF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83194" y="138112"/>
            <a:ext cx="8439150" cy="6581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64AFCF-90D5-4682-9A0F-2FE736753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34" y="284648"/>
            <a:ext cx="4227217" cy="34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911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B47C9C-555D-432F-8DBF-02E416A89F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8754" y="0"/>
            <a:ext cx="839449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97501C-A61C-4037-983B-30453D2B86B4}"/>
              </a:ext>
            </a:extLst>
          </p:cNvPr>
          <p:cNvSpPr txBox="1"/>
          <p:nvPr/>
        </p:nvSpPr>
        <p:spPr>
          <a:xfrm>
            <a:off x="226503" y="276837"/>
            <a:ext cx="28353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Cover Letter </a:t>
            </a:r>
          </a:p>
        </p:txBody>
      </p:sp>
    </p:spTree>
    <p:extLst>
      <p:ext uri="{BB962C8B-B14F-4D97-AF65-F5344CB8AC3E}">
        <p14:creationId xmlns:p14="http://schemas.microsoft.com/office/powerpoint/2010/main" val="9507881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3AF7DF-3191-4988-B68B-361EBA46A2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6862" y="848090"/>
            <a:ext cx="9058275" cy="57245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FAD9D9-2561-4A6D-9E70-0B6C9E6D6AB0}"/>
              </a:ext>
            </a:extLst>
          </p:cNvPr>
          <p:cNvSpPr txBox="1"/>
          <p:nvPr/>
        </p:nvSpPr>
        <p:spPr>
          <a:xfrm>
            <a:off x="281354" y="-7003"/>
            <a:ext cx="32624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Complaint Letters </a:t>
            </a:r>
          </a:p>
        </p:txBody>
      </p:sp>
    </p:spTree>
    <p:extLst>
      <p:ext uri="{BB962C8B-B14F-4D97-AF65-F5344CB8AC3E}">
        <p14:creationId xmlns:p14="http://schemas.microsoft.com/office/powerpoint/2010/main" val="37414264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D1020F-EA74-46A7-A759-C9AFB086E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7119" y="1312985"/>
            <a:ext cx="10337762" cy="51471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F543CF-FCF7-4FE8-BF57-AA399F021885}"/>
              </a:ext>
            </a:extLst>
          </p:cNvPr>
          <p:cNvSpPr txBox="1"/>
          <p:nvPr/>
        </p:nvSpPr>
        <p:spPr>
          <a:xfrm>
            <a:off x="515814" y="-7003"/>
            <a:ext cx="49236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Adjustment Letters </a:t>
            </a:r>
          </a:p>
        </p:txBody>
      </p:sp>
    </p:spTree>
    <p:extLst>
      <p:ext uri="{BB962C8B-B14F-4D97-AF65-F5344CB8AC3E}">
        <p14:creationId xmlns:p14="http://schemas.microsoft.com/office/powerpoint/2010/main" val="34021420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347B69-2F6F-4FF5-9CE7-05293CA50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8523" y="255553"/>
            <a:ext cx="10292862" cy="651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3433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05AE70-3937-42D2-96EE-A46AD7175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93470" y="0"/>
            <a:ext cx="84050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268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17A4E8-1E21-43F5-A054-BDCC1FC0F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9911" y="562708"/>
            <a:ext cx="12054188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703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5C67DC-404E-4A2F-BF65-AFF79909E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53" y="609600"/>
            <a:ext cx="12200810" cy="565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4044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1999495" cy="61200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sz="3200" b="1" dirty="0"/>
              <a:t>Common types of reports you may write as an engineer, particularly in terms of their typical content and organization. </a:t>
            </a:r>
          </a:p>
          <a:p>
            <a:pPr>
              <a:lnSpc>
                <a:spcPct val="120000"/>
              </a:lnSpc>
            </a:pPr>
            <a:endParaRPr lang="en-US" sz="3200" b="1" dirty="0"/>
          </a:p>
          <a:p>
            <a:pPr>
              <a:lnSpc>
                <a:spcPct val="120000"/>
              </a:lnSpc>
            </a:pPr>
            <a:r>
              <a:rPr lang="en-US" sz="3200" b="1" dirty="0"/>
              <a:t>1. Inspection or trip reports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2. Laboratory and field reports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3. Specifications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4. Proposals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5. Progress reports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6. Instructions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7. Recommendation reports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prstClr val="black"/>
                </a:solidFill>
                <a:latin typeface="Times New Roman" panose="02020603050405020304"/>
              </a:rPr>
              <a:t>Writing Common Engineering Documents</a:t>
            </a:r>
          </a:p>
        </p:txBody>
      </p:sp>
    </p:spTree>
    <p:extLst>
      <p:ext uri="{BB962C8B-B14F-4D97-AF65-F5344CB8AC3E}">
        <p14:creationId xmlns:p14="http://schemas.microsoft.com/office/powerpoint/2010/main" val="23260399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1999495" cy="612006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/>
              <a:t>Determine the </a:t>
            </a:r>
            <a:r>
              <a:rPr lang="en-US" sz="3200" b="1" dirty="0">
                <a:solidFill>
                  <a:srgbClr val="FF0000"/>
                </a:solidFill>
              </a:rPr>
              <a:t>requirements</a:t>
            </a:r>
            <a:r>
              <a:rPr lang="en-US" sz="3200" b="1" dirty="0"/>
              <a:t> for the report you must write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Find out your </a:t>
            </a:r>
            <a:r>
              <a:rPr lang="en-US" sz="3200" b="1" dirty="0">
                <a:solidFill>
                  <a:srgbClr val="FF0000"/>
                </a:solidFill>
              </a:rPr>
              <a:t>company’s requirements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Think </a:t>
            </a:r>
            <a:r>
              <a:rPr lang="en-US" sz="3200" b="1" dirty="0">
                <a:solidFill>
                  <a:srgbClr val="FF0000"/>
                </a:solidFill>
              </a:rPr>
              <a:t>c</a:t>
            </a:r>
            <a:r>
              <a:rPr lang="en-US" sz="3200" b="1" dirty="0">
                <a:solidFill>
                  <a:srgbClr val="C00000"/>
                </a:solidFill>
              </a:rPr>
              <a:t>reatively</a:t>
            </a:r>
            <a:r>
              <a:rPr lang="en-US" sz="3200" b="1" dirty="0"/>
              <a:t> about </a:t>
            </a:r>
            <a:r>
              <a:rPr lang="en-US" sz="3200" b="1" dirty="0">
                <a:solidFill>
                  <a:srgbClr val="C00000"/>
                </a:solidFill>
              </a:rPr>
              <a:t>content</a:t>
            </a:r>
            <a:r>
              <a:rPr lang="en-US" sz="3200" b="1" dirty="0"/>
              <a:t> and </a:t>
            </a:r>
            <a:r>
              <a:rPr lang="en-US" sz="3200" b="1" dirty="0">
                <a:solidFill>
                  <a:srgbClr val="C00000"/>
                </a:solidFill>
              </a:rPr>
              <a:t>organization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Build your reports on the needs of your </a:t>
            </a:r>
            <a:r>
              <a:rPr lang="en-US" sz="3200" b="1" dirty="0">
                <a:solidFill>
                  <a:srgbClr val="C00000"/>
                </a:solidFill>
              </a:rPr>
              <a:t>audience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Be careful with </a:t>
            </a:r>
            <a:r>
              <a:rPr lang="en-US" sz="3200" b="1" dirty="0">
                <a:solidFill>
                  <a:srgbClr val="C00000"/>
                </a:solidFill>
              </a:rPr>
              <a:t>discussion of technical background</a:t>
            </a:r>
          </a:p>
          <a:p>
            <a:pPr>
              <a:lnSpc>
                <a:spcPct val="120000"/>
              </a:lnSpc>
            </a:pPr>
            <a:r>
              <a:rPr lang="en-US" sz="3200" b="1" dirty="0"/>
              <a:t>Be careful with the report </a:t>
            </a:r>
            <a:r>
              <a:rPr lang="en-US" sz="3200" b="1" dirty="0">
                <a:solidFill>
                  <a:srgbClr val="C00000"/>
                </a:solidFill>
              </a:rPr>
              <a:t>introduction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prstClr val="black"/>
                </a:solidFill>
                <a:latin typeface="Times New Roman" panose="02020603050405020304"/>
              </a:rPr>
              <a:t>Writing Common Engineering Documents</a:t>
            </a:r>
          </a:p>
        </p:txBody>
      </p:sp>
    </p:spTree>
    <p:extLst>
      <p:ext uri="{BB962C8B-B14F-4D97-AF65-F5344CB8AC3E}">
        <p14:creationId xmlns:p14="http://schemas.microsoft.com/office/powerpoint/2010/main" val="35517319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1999495" cy="61200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sz="3600" b="1" dirty="0"/>
              <a:t>One common group of engineering reports handles tasks such as reporting on the:</a:t>
            </a:r>
          </a:p>
          <a:p>
            <a:pPr lvl="1">
              <a:lnSpc>
                <a:spcPct val="120000"/>
              </a:lnSpc>
            </a:pPr>
            <a:r>
              <a:rPr lang="en-US" b="1" dirty="0"/>
              <a:t> </a:t>
            </a:r>
            <a:r>
              <a:rPr lang="en-US" sz="3200" b="1" dirty="0">
                <a:solidFill>
                  <a:srgbClr val="C00000"/>
                </a:solidFill>
              </a:rPr>
              <a:t>Inspection</a:t>
            </a:r>
            <a:r>
              <a:rPr lang="en-US" sz="3200" b="1" dirty="0"/>
              <a:t> of a </a:t>
            </a:r>
            <a:r>
              <a:rPr lang="en-US" sz="3200" b="1" dirty="0">
                <a:solidFill>
                  <a:srgbClr val="C00000"/>
                </a:solidFill>
              </a:rPr>
              <a:t>site</a:t>
            </a:r>
            <a:r>
              <a:rPr lang="en-US" sz="3200" b="1" dirty="0"/>
              <a:t> or facility; </a:t>
            </a:r>
          </a:p>
          <a:p>
            <a:pPr lvl="1">
              <a:lnSpc>
                <a:spcPct val="120000"/>
              </a:lnSpc>
            </a:pPr>
            <a:r>
              <a:rPr lang="en-US" sz="3200" b="1" dirty="0"/>
              <a:t>Describing an </a:t>
            </a:r>
            <a:r>
              <a:rPr lang="en-US" sz="3200" b="1" dirty="0">
                <a:solidFill>
                  <a:srgbClr val="C00000"/>
                </a:solidFill>
              </a:rPr>
              <a:t>incident</a:t>
            </a:r>
            <a:r>
              <a:rPr lang="en-US" sz="3200" b="1" dirty="0"/>
              <a:t> or accident and exploring the causes,  	effects, and prevention;</a:t>
            </a:r>
          </a:p>
          <a:p>
            <a:pPr lvl="1">
              <a:lnSpc>
                <a:spcPct val="120000"/>
              </a:lnSpc>
            </a:pPr>
            <a:r>
              <a:rPr lang="en-US" sz="3200" b="1" dirty="0">
                <a:solidFill>
                  <a:srgbClr val="C00000"/>
                </a:solidFill>
              </a:rPr>
              <a:t>Summarizing events </a:t>
            </a:r>
            <a:r>
              <a:rPr lang="en-US" sz="3200" b="1" dirty="0"/>
              <a:t>and results of a business trip; </a:t>
            </a:r>
          </a:p>
          <a:p>
            <a:pPr lvl="1">
              <a:lnSpc>
                <a:spcPct val="120000"/>
              </a:lnSpc>
            </a:pPr>
            <a:r>
              <a:rPr lang="en-US" sz="3200" b="1" dirty="0"/>
              <a:t>Describing </a:t>
            </a:r>
            <a:r>
              <a:rPr lang="en-US" sz="3200" b="1" dirty="0">
                <a:solidFill>
                  <a:srgbClr val="C00000"/>
                </a:solidFill>
              </a:rPr>
              <a:t>property</a:t>
            </a:r>
            <a:r>
              <a:rPr lang="en-US" sz="3200" b="1" dirty="0"/>
              <a:t>, </a:t>
            </a:r>
            <a:r>
              <a:rPr lang="en-US" sz="3200" b="1" dirty="0">
                <a:solidFill>
                  <a:srgbClr val="C00000"/>
                </a:solidFill>
              </a:rPr>
              <a:t>equipment</a:t>
            </a:r>
            <a:r>
              <a:rPr lang="en-US" sz="3200" b="1" dirty="0"/>
              <a:t>, or new technology.</a:t>
            </a:r>
          </a:p>
          <a:p>
            <a:pPr>
              <a:lnSpc>
                <a:spcPct val="120000"/>
              </a:lnSpc>
            </a:pPr>
            <a:r>
              <a:rPr lang="en-US" sz="3600" b="1" dirty="0"/>
              <a:t>These reports are similar since they contain lots of </a:t>
            </a:r>
            <a:r>
              <a:rPr lang="en-US" sz="3600" b="1" dirty="0">
                <a:solidFill>
                  <a:srgbClr val="C00000"/>
                </a:solidFill>
              </a:rPr>
              <a:t>description</a:t>
            </a:r>
            <a:r>
              <a:rPr lang="en-US" sz="3600" b="1" dirty="0"/>
              <a:t>, narration, discussion of related </a:t>
            </a:r>
            <a:r>
              <a:rPr lang="en-US" sz="3600" b="1" dirty="0">
                <a:solidFill>
                  <a:srgbClr val="C00000"/>
                </a:solidFill>
              </a:rPr>
              <a:t>causes</a:t>
            </a:r>
            <a:r>
              <a:rPr lang="en-US" sz="3600" b="1" dirty="0"/>
              <a:t> and </a:t>
            </a:r>
            <a:r>
              <a:rPr lang="en-US" sz="3600" b="1" dirty="0">
                <a:solidFill>
                  <a:srgbClr val="C00000"/>
                </a:solidFill>
              </a:rPr>
              <a:t>effects</a:t>
            </a:r>
            <a:r>
              <a:rPr lang="en-US" sz="3600" b="1" dirty="0"/>
              <a:t>, as well as a certain amount of </a:t>
            </a:r>
            <a:r>
              <a:rPr lang="en-US" sz="3600" b="1" dirty="0">
                <a:solidFill>
                  <a:srgbClr val="C00000"/>
                </a:solidFill>
              </a:rPr>
              <a:t>interpretation</a:t>
            </a:r>
            <a:r>
              <a:rPr lang="en-US" sz="3600" b="1" dirty="0"/>
              <a:t> and </a:t>
            </a:r>
            <a:r>
              <a:rPr lang="en-US" sz="3600" b="1" dirty="0">
                <a:solidFill>
                  <a:srgbClr val="C00000"/>
                </a:solidFill>
              </a:rPr>
              <a:t>evaluation.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prstClr val="black"/>
                </a:solidFill>
                <a:latin typeface="Times New Roman" panose="02020603050405020304"/>
              </a:rPr>
              <a:t>INSPECTION AND TRIP REPORTS</a:t>
            </a:r>
          </a:p>
        </p:txBody>
      </p:sp>
    </p:spTree>
    <p:extLst>
      <p:ext uri="{BB962C8B-B14F-4D97-AF65-F5344CB8AC3E}">
        <p14:creationId xmlns:p14="http://schemas.microsoft.com/office/powerpoint/2010/main" val="32922234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1999495" cy="61200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/>
              <a:t>Trip reports: Discuss the </a:t>
            </a:r>
            <a:r>
              <a:rPr lang="en-US" sz="3600" b="1" dirty="0">
                <a:solidFill>
                  <a:srgbClr val="C00000"/>
                </a:solidFill>
              </a:rPr>
              <a:t>events</a:t>
            </a:r>
            <a:r>
              <a:rPr lang="en-US" sz="3600" b="1" dirty="0"/>
              <a:t>, </a:t>
            </a:r>
            <a:r>
              <a:rPr lang="en-US" sz="3600" b="1" dirty="0">
                <a:solidFill>
                  <a:srgbClr val="C00000"/>
                </a:solidFill>
              </a:rPr>
              <a:t>findings</a:t>
            </a:r>
            <a:r>
              <a:rPr lang="en-US" sz="3600" b="1" dirty="0"/>
              <a:t>, and other aspects of a business trip. </a:t>
            </a:r>
          </a:p>
          <a:p>
            <a:pPr>
              <a:lnSpc>
                <a:spcPct val="150000"/>
              </a:lnSpc>
            </a:pPr>
            <a:r>
              <a:rPr lang="en-US" sz="3600" b="1" dirty="0"/>
              <a:t>This type documents </a:t>
            </a:r>
            <a:r>
              <a:rPr lang="en-US" sz="3600" b="1" dirty="0">
                <a:solidFill>
                  <a:srgbClr val="C00000"/>
                </a:solidFill>
              </a:rPr>
              <a:t>observations</a:t>
            </a:r>
            <a:r>
              <a:rPr lang="en-US" sz="3600" b="1" dirty="0"/>
              <a:t> so that people in your organization can share them.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prstClr val="black"/>
                </a:solidFill>
                <a:latin typeface="Times New Roman" panose="02020603050405020304"/>
              </a:rPr>
              <a:t>INSPECTION AND TRIP REPORTS</a:t>
            </a:r>
          </a:p>
        </p:txBody>
      </p:sp>
    </p:spTree>
    <p:extLst>
      <p:ext uri="{BB962C8B-B14F-4D97-AF65-F5344CB8AC3E}">
        <p14:creationId xmlns:p14="http://schemas.microsoft.com/office/powerpoint/2010/main" val="17917211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7163"/>
            <a:ext cx="3886200" cy="507033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A Short business-trip report</a:t>
            </a: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4062413" y="157163"/>
            <a:ext cx="7700962" cy="6737350"/>
            <a:chOff x="2559" y="99"/>
            <a:chExt cx="4851" cy="4244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2559" y="99"/>
              <a:ext cx="4851" cy="4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9" y="99"/>
              <a:ext cx="4858" cy="4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Rectangle 6"/>
          <p:cNvSpPr/>
          <p:nvPr/>
        </p:nvSpPr>
        <p:spPr>
          <a:xfrm>
            <a:off x="0" y="1273315"/>
            <a:ext cx="43434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Discuss the events, findings, and other aspects of a business</a:t>
            </a:r>
          </a:p>
          <a:p>
            <a:r>
              <a:rPr lang="en-US" sz="3600" dirty="0"/>
              <a:t>trip. </a:t>
            </a:r>
          </a:p>
          <a:p>
            <a:endParaRPr lang="en-US" sz="3600" dirty="0"/>
          </a:p>
          <a:p>
            <a:r>
              <a:rPr lang="en-US" sz="3600" dirty="0"/>
              <a:t>This type documents observations so that people in your organization</a:t>
            </a:r>
          </a:p>
          <a:p>
            <a:r>
              <a:rPr lang="en-US" sz="3600" dirty="0"/>
              <a:t>can share them.</a:t>
            </a:r>
          </a:p>
        </p:txBody>
      </p:sp>
    </p:spTree>
    <p:extLst>
      <p:ext uri="{BB962C8B-B14F-4D97-AF65-F5344CB8AC3E}">
        <p14:creationId xmlns:p14="http://schemas.microsoft.com/office/powerpoint/2010/main" val="32820688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1999495" cy="612006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3600" b="1" i="1" dirty="0">
                <a:solidFill>
                  <a:srgbClr val="C00000"/>
                </a:solidFill>
              </a:rPr>
              <a:t>Investigation or accident reports:</a:t>
            </a:r>
          </a:p>
          <a:p>
            <a:pPr>
              <a:lnSpc>
                <a:spcPct val="120000"/>
              </a:lnSpc>
            </a:pPr>
            <a:r>
              <a:rPr lang="en-US" sz="3600" b="1" dirty="0"/>
              <a:t>Describe your </a:t>
            </a:r>
            <a:r>
              <a:rPr lang="en-US" sz="3600" b="1" i="1" dirty="0">
                <a:solidFill>
                  <a:schemeClr val="accent6">
                    <a:lumMod val="50000"/>
                  </a:schemeClr>
                </a:solidFill>
              </a:rPr>
              <a:t>findings</a:t>
            </a: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3600" b="1" dirty="0"/>
              <a:t>concerning a </a:t>
            </a:r>
            <a:r>
              <a:rPr lang="en-US" sz="3600" b="1" i="1" dirty="0">
                <a:solidFill>
                  <a:schemeClr val="accent6">
                    <a:lumMod val="50000"/>
                  </a:schemeClr>
                </a:solidFill>
              </a:rPr>
              <a:t>problem</a:t>
            </a:r>
            <a:r>
              <a:rPr lang="en-US" sz="3600" b="1" dirty="0"/>
              <a:t>; explore its causes, its consequences, and what can be done to avoid it.</a:t>
            </a:r>
          </a:p>
          <a:p>
            <a:pPr>
              <a:lnSpc>
                <a:spcPct val="120000"/>
              </a:lnSpc>
            </a:pPr>
            <a:endParaRPr lang="en-US" sz="3600" b="1" dirty="0"/>
          </a:p>
          <a:p>
            <a:pPr>
              <a:lnSpc>
                <a:spcPct val="120000"/>
              </a:lnSpc>
            </a:pPr>
            <a:r>
              <a:rPr lang="en-US" sz="3600" b="1" i="1" dirty="0">
                <a:solidFill>
                  <a:srgbClr val="C00000"/>
                </a:solidFill>
              </a:rPr>
              <a:t>Inspection or site reports: </a:t>
            </a:r>
          </a:p>
          <a:p>
            <a:pPr>
              <a:lnSpc>
                <a:spcPct val="120000"/>
              </a:lnSpc>
            </a:pPr>
            <a:r>
              <a:rPr lang="en-US" sz="3600" b="1" dirty="0"/>
              <a:t>Report your </a:t>
            </a:r>
            <a:r>
              <a:rPr lang="en-US" sz="3600" b="1" i="1" dirty="0">
                <a:solidFill>
                  <a:schemeClr val="accent6">
                    <a:lumMod val="50000"/>
                  </a:schemeClr>
                </a:solidFill>
              </a:rPr>
              <a:t>observations</a:t>
            </a:r>
            <a:r>
              <a:rPr lang="en-US" sz="3600" b="1" dirty="0"/>
              <a:t> of a facility, a property, or an installation of equipment, with description and possibly evaluation of it.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4000" b="1" dirty="0">
              <a:solidFill>
                <a:prstClr val="black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9801749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1999495" cy="612006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C00000"/>
                </a:solidFill>
              </a:rPr>
              <a:t>For the content of your report, consider these suggestions:</a:t>
            </a:r>
          </a:p>
          <a:p>
            <a:pPr>
              <a:lnSpc>
                <a:spcPct val="120000"/>
              </a:lnSpc>
            </a:pPr>
            <a:r>
              <a:rPr lang="en-US" sz="3600" b="1" dirty="0"/>
              <a:t>Introduction</a:t>
            </a:r>
          </a:p>
          <a:p>
            <a:pPr>
              <a:lnSpc>
                <a:spcPct val="120000"/>
              </a:lnSpc>
            </a:pPr>
            <a:r>
              <a:rPr lang="en-US" sz="3600" b="1" dirty="0"/>
              <a:t>Background For the content of your informal report, consider these suggestions:</a:t>
            </a:r>
          </a:p>
          <a:p>
            <a:pPr>
              <a:lnSpc>
                <a:spcPct val="120000"/>
              </a:lnSpc>
            </a:pPr>
            <a:r>
              <a:rPr lang="en-US" sz="3600" b="1" dirty="0"/>
              <a:t>Factual Discussion</a:t>
            </a:r>
          </a:p>
          <a:p>
            <a:pPr>
              <a:lnSpc>
                <a:spcPct val="120000"/>
              </a:lnSpc>
            </a:pPr>
            <a:r>
              <a:rPr lang="en-US" sz="3600" b="1" dirty="0"/>
              <a:t>Actions Taken</a:t>
            </a:r>
          </a:p>
          <a:p>
            <a:pPr>
              <a:lnSpc>
                <a:spcPct val="120000"/>
              </a:lnSpc>
            </a:pPr>
            <a:r>
              <a:rPr lang="en-US" sz="3600" b="1" dirty="0"/>
              <a:t>Interpretive, Evaluative, or Advisory Discussion</a:t>
            </a:r>
          </a:p>
          <a:p>
            <a:pPr>
              <a:lnSpc>
                <a:spcPct val="120000"/>
              </a:lnSpc>
            </a:pPr>
            <a:endParaRPr lang="en-US" sz="36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1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>
                <a:solidFill>
                  <a:prstClr val="black"/>
                </a:solidFill>
                <a:latin typeface="Times New Roman" panose="02020603050405020304"/>
              </a:rPr>
              <a:t>Contents and Organization</a:t>
            </a:r>
            <a:endParaRPr lang="en-US" sz="4000" b="1" dirty="0">
              <a:solidFill>
                <a:prstClr val="black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40630017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1999495" cy="61200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/>
              <a:t>Laboratory and field reports present not only the </a:t>
            </a:r>
            <a:r>
              <a:rPr lang="en-US" sz="3600" b="1" dirty="0">
                <a:solidFill>
                  <a:srgbClr val="C00000"/>
                </a:solidFill>
              </a:rPr>
              <a:t>data</a:t>
            </a:r>
            <a:r>
              <a:rPr lang="en-US" sz="3600" b="1" dirty="0"/>
              <a:t> from an </a:t>
            </a:r>
            <a:r>
              <a:rPr lang="en-US" sz="3600" b="1" dirty="0">
                <a:solidFill>
                  <a:srgbClr val="C00000"/>
                </a:solidFill>
              </a:rPr>
              <a:t>experiment</a:t>
            </a:r>
            <a:r>
              <a:rPr lang="en-US" sz="3600" b="1" dirty="0"/>
              <a:t> or survey and the </a:t>
            </a:r>
            <a:r>
              <a:rPr lang="en-US" sz="3600" b="1" dirty="0">
                <a:solidFill>
                  <a:srgbClr val="C00000"/>
                </a:solidFill>
              </a:rPr>
              <a:t>conclusions</a:t>
            </a:r>
            <a:r>
              <a:rPr lang="en-US" sz="3600" b="1" dirty="0"/>
              <a:t> that can be drawn from that data, but also the </a:t>
            </a:r>
            <a:r>
              <a:rPr lang="en-US" sz="3600" b="1" dirty="0">
                <a:solidFill>
                  <a:srgbClr val="C00000"/>
                </a:solidFill>
              </a:rPr>
              <a:t>theory</a:t>
            </a:r>
            <a:r>
              <a:rPr lang="en-US" sz="3600" b="1" dirty="0"/>
              <a:t>, </a:t>
            </a:r>
            <a:r>
              <a:rPr lang="en-US" sz="3600" b="1" dirty="0">
                <a:solidFill>
                  <a:srgbClr val="C00000"/>
                </a:solidFill>
              </a:rPr>
              <a:t>method</a:t>
            </a:r>
            <a:r>
              <a:rPr lang="en-US" sz="3600" b="1" dirty="0"/>
              <a:t>, </a:t>
            </a:r>
            <a:r>
              <a:rPr lang="en-US" sz="3600" b="1" dirty="0">
                <a:solidFill>
                  <a:srgbClr val="C00000"/>
                </a:solidFill>
              </a:rPr>
              <a:t>procedure</a:t>
            </a:r>
            <a:r>
              <a:rPr lang="en-US" sz="3600" b="1" dirty="0"/>
              <a:t>, and </a:t>
            </a:r>
            <a:r>
              <a:rPr lang="en-US" sz="3600" b="1" dirty="0">
                <a:solidFill>
                  <a:srgbClr val="C00000"/>
                </a:solidFill>
              </a:rPr>
              <a:t>equipment</a:t>
            </a:r>
            <a:r>
              <a:rPr lang="en-US" sz="3600" b="1" dirty="0"/>
              <a:t> used in that experiment or survey.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prstClr val="black"/>
                </a:solidFill>
                <a:latin typeface="Times New Roman" panose="02020603050405020304"/>
              </a:rPr>
              <a:t>LABORATORY AND FIELD REPORTS</a:t>
            </a:r>
          </a:p>
        </p:txBody>
      </p:sp>
    </p:spTree>
    <p:extLst>
      <p:ext uri="{BB962C8B-B14F-4D97-AF65-F5344CB8AC3E}">
        <p14:creationId xmlns:p14="http://schemas.microsoft.com/office/powerpoint/2010/main" val="21544509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7936"/>
            <a:ext cx="11999495" cy="612006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C00000"/>
                </a:solidFill>
              </a:rPr>
              <a:t>Contents and Organization</a:t>
            </a:r>
            <a:r>
              <a:rPr lang="en-US" sz="3600" b="1" dirty="0"/>
              <a:t>:</a:t>
            </a:r>
          </a:p>
          <a:p>
            <a:pPr>
              <a:lnSpc>
                <a:spcPct val="150000"/>
              </a:lnSpc>
            </a:pPr>
            <a:r>
              <a:rPr lang="en-US" sz="3600" b="1" dirty="0"/>
              <a:t>Introduction</a:t>
            </a:r>
          </a:p>
          <a:p>
            <a:pPr>
              <a:lnSpc>
                <a:spcPct val="150000"/>
              </a:lnSpc>
            </a:pPr>
            <a:r>
              <a:rPr lang="en-US" sz="3600" b="1" dirty="0"/>
              <a:t>Background</a:t>
            </a:r>
          </a:p>
          <a:p>
            <a:pPr>
              <a:lnSpc>
                <a:spcPct val="150000"/>
              </a:lnSpc>
            </a:pPr>
            <a:r>
              <a:rPr lang="en-US" sz="3600" b="1" dirty="0"/>
              <a:t>Literature Review</a:t>
            </a:r>
          </a:p>
          <a:p>
            <a:pPr>
              <a:lnSpc>
                <a:spcPct val="150000"/>
              </a:lnSpc>
            </a:pPr>
            <a:r>
              <a:rPr lang="en-US" sz="3600" b="1" dirty="0"/>
              <a:t>Theory, Method, Procedure, and Equipment</a:t>
            </a:r>
          </a:p>
          <a:p>
            <a:pPr>
              <a:lnSpc>
                <a:spcPct val="150000"/>
              </a:lnSpc>
            </a:pPr>
            <a:r>
              <a:rPr lang="en-US" sz="3600" b="1" dirty="0"/>
              <a:t>Observations, Data, Findings, and Results</a:t>
            </a:r>
          </a:p>
          <a:p>
            <a:pPr>
              <a:lnSpc>
                <a:spcPct val="150000"/>
              </a:lnSpc>
            </a:pPr>
            <a:r>
              <a:rPr lang="en-US" sz="3600" b="1" dirty="0"/>
              <a:t>Conclusions</a:t>
            </a:r>
          </a:p>
          <a:p>
            <a:pPr>
              <a:lnSpc>
                <a:spcPct val="150000"/>
              </a:lnSpc>
            </a:pPr>
            <a:r>
              <a:rPr lang="en-US" sz="3600" b="1" dirty="0"/>
              <a:t>Implications and Further Research</a:t>
            </a:r>
          </a:p>
          <a:p>
            <a:pPr>
              <a:lnSpc>
                <a:spcPct val="150000"/>
              </a:lnSpc>
            </a:pPr>
            <a:r>
              <a:rPr lang="en-US" sz="3600" b="1" dirty="0"/>
              <a:t>Information Sources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7379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prstClr val="black"/>
                </a:solidFill>
                <a:latin typeface="Times New Roman" panose="02020603050405020304"/>
              </a:rPr>
              <a:t>LABORATORY AND FIELD REPORTS</a:t>
            </a:r>
          </a:p>
        </p:txBody>
      </p:sp>
    </p:spTree>
    <p:extLst>
      <p:ext uri="{BB962C8B-B14F-4D97-AF65-F5344CB8AC3E}">
        <p14:creationId xmlns:p14="http://schemas.microsoft.com/office/powerpoint/2010/main" val="4232971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08000"/>
            <a:ext cx="11999495" cy="6350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3600" b="1" dirty="0"/>
              <a:t>Specifications are </a:t>
            </a:r>
            <a:r>
              <a:rPr lang="en-US" sz="3600" b="1" dirty="0">
                <a:solidFill>
                  <a:srgbClr val="C00000"/>
                </a:solidFill>
              </a:rPr>
              <a:t>descriptions</a:t>
            </a:r>
            <a:r>
              <a:rPr lang="en-US" sz="3600" b="1" dirty="0"/>
              <a:t> of </a:t>
            </a:r>
            <a:r>
              <a:rPr lang="en-US" sz="3600" b="1" dirty="0">
                <a:solidFill>
                  <a:srgbClr val="C00000"/>
                </a:solidFill>
              </a:rPr>
              <a:t>products</a:t>
            </a:r>
            <a:r>
              <a:rPr lang="en-US" sz="3600" b="1" dirty="0"/>
              <a:t> or product requirements. They provide </a:t>
            </a:r>
            <a:r>
              <a:rPr lang="en-US" sz="3600" b="1" dirty="0">
                <a:solidFill>
                  <a:srgbClr val="C00000"/>
                </a:solidFill>
              </a:rPr>
              <a:t>details</a:t>
            </a:r>
            <a:r>
              <a:rPr lang="en-US" sz="3600" b="1" dirty="0"/>
              <a:t> for the </a:t>
            </a:r>
            <a:r>
              <a:rPr lang="en-US" sz="3600" b="1" dirty="0">
                <a:solidFill>
                  <a:srgbClr val="C00000"/>
                </a:solidFill>
              </a:rPr>
              <a:t>design</a:t>
            </a:r>
            <a:r>
              <a:rPr lang="en-US" sz="3600" b="1" dirty="0"/>
              <a:t>, </a:t>
            </a:r>
            <a:r>
              <a:rPr lang="en-US" sz="3600" b="1" dirty="0">
                <a:solidFill>
                  <a:srgbClr val="C00000"/>
                </a:solidFill>
              </a:rPr>
              <a:t>manufacture</a:t>
            </a:r>
            <a:r>
              <a:rPr lang="en-US" sz="3600" b="1" dirty="0"/>
              <a:t>, </a:t>
            </a:r>
            <a:r>
              <a:rPr lang="en-US" sz="3600" b="1" dirty="0">
                <a:solidFill>
                  <a:srgbClr val="C00000"/>
                </a:solidFill>
              </a:rPr>
              <a:t>testing</a:t>
            </a:r>
            <a:r>
              <a:rPr lang="en-US" sz="3600" b="1" dirty="0"/>
              <a:t>, </a:t>
            </a:r>
            <a:r>
              <a:rPr lang="en-US" sz="3600" b="1" dirty="0">
                <a:solidFill>
                  <a:srgbClr val="C00000"/>
                </a:solidFill>
              </a:rPr>
              <a:t>installation</a:t>
            </a:r>
            <a:r>
              <a:rPr lang="en-US" sz="3600" b="1" dirty="0"/>
              <a:t>, and </a:t>
            </a:r>
            <a:r>
              <a:rPr lang="en-US" sz="3600" b="1" dirty="0">
                <a:solidFill>
                  <a:srgbClr val="C00000"/>
                </a:solidFill>
              </a:rPr>
              <a:t>use</a:t>
            </a:r>
            <a:r>
              <a:rPr lang="en-US" sz="3600" b="1" dirty="0"/>
              <a:t> of a product.</a:t>
            </a:r>
          </a:p>
          <a:p>
            <a:pPr>
              <a:lnSpc>
                <a:spcPct val="150000"/>
              </a:lnSpc>
            </a:pPr>
            <a:endParaRPr lang="en-US" sz="3600" b="1" dirty="0"/>
          </a:p>
          <a:p>
            <a:pPr>
              <a:lnSpc>
                <a:spcPct val="150000"/>
              </a:lnSpc>
            </a:pPr>
            <a:r>
              <a:rPr lang="en-US" sz="3600" b="1" dirty="0"/>
              <a:t>When you write specifications, </a:t>
            </a:r>
            <a:r>
              <a:rPr lang="en-US" sz="3600" b="1" dirty="0">
                <a:solidFill>
                  <a:srgbClr val="C00000"/>
                </a:solidFill>
              </a:rPr>
              <a:t>accuracy</a:t>
            </a:r>
            <a:r>
              <a:rPr lang="en-US" sz="3600" b="1" dirty="0"/>
              <a:t>, </a:t>
            </a:r>
            <a:r>
              <a:rPr lang="en-US" sz="3600" b="1" dirty="0">
                <a:solidFill>
                  <a:srgbClr val="C00000"/>
                </a:solidFill>
              </a:rPr>
              <a:t>precision</a:t>
            </a:r>
            <a:r>
              <a:rPr lang="en-US" sz="3600" b="1" dirty="0"/>
              <a:t> of detail, and </a:t>
            </a:r>
            <a:r>
              <a:rPr lang="en-US" sz="3600" b="1" dirty="0">
                <a:solidFill>
                  <a:srgbClr val="C00000"/>
                </a:solidFill>
              </a:rPr>
              <a:t>clarity</a:t>
            </a:r>
            <a:r>
              <a:rPr lang="en-US" sz="3600" b="1" dirty="0"/>
              <a:t> are critical.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C00000"/>
                </a:solidFill>
              </a:rPr>
              <a:t>Poorly written </a:t>
            </a:r>
            <a:r>
              <a:rPr lang="en-US" sz="3600" b="1" dirty="0"/>
              <a:t>specifications can cause a range of problems and </a:t>
            </a:r>
            <a:r>
              <a:rPr lang="en-US" sz="4800" b="1" dirty="0">
                <a:solidFill>
                  <a:srgbClr val="7030A0"/>
                </a:solidFill>
              </a:rPr>
              <a:t>lead to lawsuits.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prstClr val="black"/>
                </a:solidFill>
                <a:latin typeface="Times New Roman" panose="02020603050405020304"/>
              </a:rPr>
              <a:t>SPECIFICATIONS</a:t>
            </a:r>
          </a:p>
        </p:txBody>
      </p:sp>
    </p:spTree>
    <p:extLst>
      <p:ext uri="{BB962C8B-B14F-4D97-AF65-F5344CB8AC3E}">
        <p14:creationId xmlns:p14="http://schemas.microsoft.com/office/powerpoint/2010/main" val="38505459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2"/>
          <p:cNvGrpSpPr>
            <a:grpSpLocks noChangeAspect="1"/>
          </p:cNvGrpSpPr>
          <p:nvPr/>
        </p:nvGrpSpPr>
        <p:grpSpPr bwMode="auto">
          <a:xfrm>
            <a:off x="3923773" y="171449"/>
            <a:ext cx="7981951" cy="6686551"/>
            <a:chOff x="2301" y="108"/>
            <a:chExt cx="5028" cy="4212"/>
          </a:xfrm>
        </p:grpSpPr>
        <p:sp>
          <p:nvSpPr>
            <p:cNvPr id="7" name="AutoShape 11"/>
            <p:cNvSpPr>
              <a:spLocks noChangeAspect="1" noChangeArrowheads="1" noTextEdit="1"/>
            </p:cNvSpPr>
            <p:nvPr/>
          </p:nvSpPr>
          <p:spPr bwMode="auto">
            <a:xfrm>
              <a:off x="2603" y="219"/>
              <a:ext cx="4726" cy="39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2061" name="Picture 1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1" y="108"/>
              <a:ext cx="5028" cy="4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extBox 1"/>
          <p:cNvSpPr txBox="1"/>
          <p:nvPr/>
        </p:nvSpPr>
        <p:spPr>
          <a:xfrm>
            <a:off x="169334" y="728133"/>
            <a:ext cx="4233864" cy="56323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/>
              <a:t>Published reports, specifications, manuals, … of big companies like General Electric, Boeing, Intel, and many others, can be used as templets of  professional technical writing. </a:t>
            </a:r>
          </a:p>
        </p:txBody>
      </p:sp>
    </p:spTree>
    <p:extLst>
      <p:ext uri="{BB962C8B-B14F-4D97-AF65-F5344CB8AC3E}">
        <p14:creationId xmlns:p14="http://schemas.microsoft.com/office/powerpoint/2010/main" val="31678486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533" y="454025"/>
            <a:ext cx="303106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Specifications- excerpts. Outline and </a:t>
            </a:r>
            <a:r>
              <a:rPr lang="en-US" dirty="0">
                <a:solidFill>
                  <a:srgbClr val="C00000"/>
                </a:solidFill>
              </a:rPr>
              <a:t>two-column</a:t>
            </a:r>
            <a:r>
              <a:rPr lang="en-US" dirty="0"/>
              <a:t> style are commonly used to present information in specifications.</a:t>
            </a: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3021013" y="268288"/>
            <a:ext cx="8947150" cy="6183312"/>
            <a:chOff x="1903" y="169"/>
            <a:chExt cx="5636" cy="3895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1903" y="169"/>
              <a:ext cx="5636" cy="38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3" y="169"/>
              <a:ext cx="5648" cy="39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8" name="Group 8"/>
          <p:cNvGrpSpPr>
            <a:grpSpLocks noChangeAspect="1"/>
          </p:cNvGrpSpPr>
          <p:nvPr/>
        </p:nvGrpSpPr>
        <p:grpSpPr bwMode="auto">
          <a:xfrm>
            <a:off x="2770188" y="5883275"/>
            <a:ext cx="3575050" cy="588963"/>
            <a:chOff x="1745" y="3706"/>
            <a:chExt cx="2252" cy="371"/>
          </a:xfrm>
        </p:grpSpPr>
        <p:sp>
          <p:nvSpPr>
            <p:cNvPr id="9" name="AutoShape 7"/>
            <p:cNvSpPr>
              <a:spLocks noChangeAspect="1" noChangeArrowheads="1" noTextEdit="1"/>
            </p:cNvSpPr>
            <p:nvPr/>
          </p:nvSpPr>
          <p:spPr bwMode="auto">
            <a:xfrm>
              <a:off x="1745" y="3706"/>
              <a:ext cx="2252" cy="3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3081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5" y="3706"/>
              <a:ext cx="2265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495873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08000"/>
            <a:ext cx="11999495" cy="635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/>
              <a:t>Use </a:t>
            </a:r>
            <a:r>
              <a:rPr lang="en-US" sz="3600" b="1" dirty="0">
                <a:solidFill>
                  <a:srgbClr val="C00000"/>
                </a:solidFill>
              </a:rPr>
              <a:t>two-column lists </a:t>
            </a:r>
            <a:r>
              <a:rPr lang="en-US" sz="3600" b="1" dirty="0"/>
              <a:t>or tables to list specific details.</a:t>
            </a:r>
          </a:p>
          <a:p>
            <a:pPr>
              <a:lnSpc>
                <a:spcPct val="100000"/>
              </a:lnSpc>
            </a:pPr>
            <a:r>
              <a:rPr lang="en-US" sz="3600" b="1" dirty="0"/>
              <a:t>In </a:t>
            </a:r>
            <a:r>
              <a:rPr lang="en-US" sz="3600" b="1" dirty="0">
                <a:solidFill>
                  <a:srgbClr val="C00000"/>
                </a:solidFill>
              </a:rPr>
              <a:t>sentence-style</a:t>
            </a:r>
            <a:r>
              <a:rPr lang="en-US" sz="3600" b="1" dirty="0"/>
              <a:t> specifications, make sure each specific requirement has its own separate sentence.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3600" b="1" dirty="0"/>
              <a:t>• Provide </a:t>
            </a:r>
            <a:r>
              <a:rPr lang="en-US" sz="3600" b="1" dirty="0">
                <a:solidFill>
                  <a:srgbClr val="C00000"/>
                </a:solidFill>
              </a:rPr>
              <a:t>numerical</a:t>
            </a:r>
            <a:r>
              <a:rPr lang="en-US" sz="3600" b="1" dirty="0"/>
              <a:t> specifications in both </a:t>
            </a:r>
            <a:r>
              <a:rPr lang="en-US" sz="3600" b="1" dirty="0">
                <a:solidFill>
                  <a:srgbClr val="C00000"/>
                </a:solidFill>
              </a:rPr>
              <a:t>words</a:t>
            </a:r>
            <a:r>
              <a:rPr lang="en-US" sz="3600" b="1" dirty="0"/>
              <a:t> and 	</a:t>
            </a:r>
            <a:r>
              <a:rPr lang="en-US" sz="3600" b="1" dirty="0">
                <a:solidFill>
                  <a:srgbClr val="C00000"/>
                </a:solidFill>
              </a:rPr>
              <a:t>symbols</a:t>
            </a:r>
            <a:r>
              <a:rPr lang="en-US" sz="3600" b="1" dirty="0"/>
              <a:t>: for example, ‘‘the distance between the two 	components shall be three centimeters (3 cm).’’</a:t>
            </a:r>
          </a:p>
          <a:p>
            <a:pPr>
              <a:lnSpc>
                <a:spcPct val="100000"/>
              </a:lnSpc>
            </a:pPr>
            <a:r>
              <a:rPr lang="en-US" sz="3600" b="1" dirty="0"/>
              <a:t>Make sure your </a:t>
            </a:r>
            <a:r>
              <a:rPr lang="en-US" sz="3600" b="1" dirty="0">
                <a:solidFill>
                  <a:srgbClr val="C00000"/>
                </a:solidFill>
              </a:rPr>
              <a:t>specifications are complete</a:t>
            </a:r>
            <a:r>
              <a:rPr lang="en-US" sz="3600" b="1" dirty="0"/>
              <a:t>.</a:t>
            </a:r>
          </a:p>
          <a:p>
            <a:pPr>
              <a:lnSpc>
                <a:spcPct val="100000"/>
              </a:lnSpc>
            </a:pPr>
            <a:endParaRPr lang="en-US" sz="36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prstClr val="black"/>
                </a:solidFill>
                <a:latin typeface="Times New Roman" panose="02020603050405020304"/>
              </a:rPr>
              <a:t>SPECIFICATIONS</a:t>
            </a:r>
          </a:p>
        </p:txBody>
      </p:sp>
    </p:spTree>
    <p:extLst>
      <p:ext uri="{BB962C8B-B14F-4D97-AF65-F5344CB8AC3E}">
        <p14:creationId xmlns:p14="http://schemas.microsoft.com/office/powerpoint/2010/main" val="8185914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08000"/>
            <a:ext cx="11999495" cy="635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/>
              <a:t>One of an engineer’s most important tools, particularly a consulting engineer, is the </a:t>
            </a:r>
            <a:r>
              <a:rPr lang="en-US" sz="3600" b="1" dirty="0">
                <a:solidFill>
                  <a:srgbClr val="C00000"/>
                </a:solidFill>
              </a:rPr>
              <a:t>proposal</a:t>
            </a:r>
            <a:r>
              <a:rPr lang="en-US" sz="3600" b="1" dirty="0"/>
              <a:t>.</a:t>
            </a:r>
          </a:p>
          <a:p>
            <a:pPr>
              <a:lnSpc>
                <a:spcPct val="100000"/>
              </a:lnSpc>
            </a:pPr>
            <a:endParaRPr lang="en-US" sz="3600" b="1" dirty="0"/>
          </a:p>
          <a:p>
            <a:pPr>
              <a:lnSpc>
                <a:spcPct val="100000"/>
              </a:lnSpc>
            </a:pPr>
            <a:r>
              <a:rPr lang="en-US" sz="3600" b="1" dirty="0"/>
              <a:t>In the typical proposal scenario, an organization sends out a </a:t>
            </a:r>
            <a:r>
              <a:rPr lang="en-US" sz="3600" b="1" dirty="0">
                <a:solidFill>
                  <a:srgbClr val="C00000"/>
                </a:solidFill>
              </a:rPr>
              <a:t>request for proposals </a:t>
            </a:r>
            <a:r>
              <a:rPr lang="en-US" sz="3600" b="1" dirty="0"/>
              <a:t>(</a:t>
            </a: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RFP</a:t>
            </a:r>
            <a:r>
              <a:rPr lang="en-US" sz="3600" b="1" dirty="0"/>
              <a:t>) to do a project.</a:t>
            </a:r>
          </a:p>
          <a:p>
            <a:pPr>
              <a:lnSpc>
                <a:spcPct val="100000"/>
              </a:lnSpc>
            </a:pPr>
            <a:endParaRPr lang="en-US" sz="3600" b="1" dirty="0"/>
          </a:p>
          <a:p>
            <a:pPr>
              <a:lnSpc>
                <a:spcPct val="100000"/>
              </a:lnSpc>
            </a:pPr>
            <a:r>
              <a:rPr lang="en-US" sz="3600" b="1" dirty="0"/>
              <a:t>Proposal writing is a </a:t>
            </a:r>
            <a:r>
              <a:rPr lang="en-US" sz="3600" b="1" dirty="0">
                <a:solidFill>
                  <a:srgbClr val="C00000"/>
                </a:solidFill>
              </a:rPr>
              <a:t>competitive affair</a:t>
            </a:r>
            <a:r>
              <a:rPr lang="en-US" sz="3600" b="1" dirty="0"/>
              <a:t>. You must highlight your </a:t>
            </a:r>
            <a:r>
              <a:rPr lang="en-US" sz="3600" b="1" dirty="0">
                <a:solidFill>
                  <a:srgbClr val="C00000"/>
                </a:solidFill>
              </a:rPr>
              <a:t>organization’s strengths</a:t>
            </a:r>
            <a:r>
              <a:rPr lang="en-US" sz="3600" b="1" dirty="0"/>
              <a:t>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4000" b="1" dirty="0">
                <a:solidFill>
                  <a:prstClr val="black"/>
                </a:solidFill>
                <a:latin typeface="Times New Roman" panose="02020603050405020304"/>
              </a:rPr>
              <a:t>PROPOSALS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211245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08000"/>
            <a:ext cx="11999495" cy="635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/>
              <a:t>Proposals are commonly divided into two types, based on whether the recipient requested them:</a:t>
            </a:r>
          </a:p>
          <a:p>
            <a:pPr>
              <a:lnSpc>
                <a:spcPct val="100000"/>
              </a:lnSpc>
            </a:pPr>
            <a:endParaRPr lang="en-US" sz="3600" b="1" dirty="0"/>
          </a:p>
          <a:p>
            <a:pPr>
              <a:lnSpc>
                <a:spcPct val="100000"/>
              </a:lnSpc>
            </a:pPr>
            <a:r>
              <a:rPr lang="en-US" sz="3600" b="1" i="1" dirty="0">
                <a:solidFill>
                  <a:srgbClr val="C00000"/>
                </a:solidFill>
              </a:rPr>
              <a:t>Solicited. </a:t>
            </a:r>
            <a:r>
              <a:rPr lang="en-US" sz="3600" b="1" dirty="0"/>
              <a:t>If an organization issues a request for proposals, 	the proposals are said to be ‘‘solicited’’—they have 	been requested.</a:t>
            </a:r>
          </a:p>
          <a:p>
            <a:pPr>
              <a:lnSpc>
                <a:spcPct val="100000"/>
              </a:lnSpc>
            </a:pPr>
            <a:endParaRPr lang="en-US" sz="3600" b="1" dirty="0"/>
          </a:p>
          <a:p>
            <a:pPr>
              <a:lnSpc>
                <a:spcPct val="100000"/>
              </a:lnSpc>
            </a:pPr>
            <a:r>
              <a:rPr lang="en-US" sz="3600" b="1" i="1" dirty="0">
                <a:solidFill>
                  <a:srgbClr val="C00000"/>
                </a:solidFill>
              </a:rPr>
              <a:t>Unsolicited</a:t>
            </a:r>
            <a:r>
              <a:rPr lang="en-US" sz="3600" b="1" dirty="0"/>
              <a:t>. Individuals and companies often initiate 	proposals without formal request from the recipients.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4000" b="1" dirty="0">
                <a:solidFill>
                  <a:prstClr val="black"/>
                </a:solidFill>
                <a:latin typeface="Times New Roman" panose="02020603050405020304"/>
              </a:rPr>
              <a:t>Types of Proposals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537902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08000"/>
            <a:ext cx="11999495" cy="635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/>
              <a:t>Proposals can also be </a:t>
            </a:r>
            <a:r>
              <a:rPr lang="en-US" sz="3600" b="1" dirty="0">
                <a:solidFill>
                  <a:srgbClr val="C00000"/>
                </a:solidFill>
              </a:rPr>
              <a:t>divided </a:t>
            </a:r>
            <a:r>
              <a:rPr lang="en-US" sz="3600" b="1" dirty="0"/>
              <a:t>according to the </a:t>
            </a:r>
            <a:r>
              <a:rPr lang="en-US" sz="3600" b="1" dirty="0">
                <a:solidFill>
                  <a:srgbClr val="C00000"/>
                </a:solidFill>
              </a:rPr>
              <a:t>context</a:t>
            </a:r>
            <a:r>
              <a:rPr lang="en-US" sz="3600" b="1" dirty="0"/>
              <a:t> in which they occur:</a:t>
            </a:r>
          </a:p>
          <a:p>
            <a:pPr>
              <a:lnSpc>
                <a:spcPct val="100000"/>
              </a:lnSpc>
            </a:pPr>
            <a:r>
              <a:rPr lang="en-US" sz="3600" b="1" i="1" dirty="0">
                <a:solidFill>
                  <a:srgbClr val="C00000"/>
                </a:solidFill>
              </a:rPr>
              <a:t>Internal. </a:t>
            </a:r>
            <a:r>
              <a:rPr lang="en-US" sz="3600" dirty="0"/>
              <a:t>If you address your proposal to someone within your organization, format and contents change significantly</a:t>
            </a:r>
            <a:r>
              <a:rPr lang="en-US" sz="3600" b="1" i="1" dirty="0">
                <a:solidFill>
                  <a:srgbClr val="C00000"/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endParaRPr lang="en-US" sz="3600" b="1" dirty="0"/>
          </a:p>
          <a:p>
            <a:pPr>
              <a:lnSpc>
                <a:spcPct val="100000"/>
              </a:lnSpc>
            </a:pPr>
            <a:r>
              <a:rPr lang="en-US" sz="3600" b="1" i="1" dirty="0">
                <a:solidFill>
                  <a:srgbClr val="C00000"/>
                </a:solidFill>
              </a:rPr>
              <a:t>External. </a:t>
            </a:r>
            <a:r>
              <a:rPr lang="en-US" sz="3600" b="1" dirty="0"/>
              <a:t>If you address your proposal to an organization outside of your own, you must present your qualifications and use some combination of the business-letter and formal-report formats.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Types of Proposals</a:t>
            </a:r>
          </a:p>
        </p:txBody>
      </p:sp>
    </p:spTree>
    <p:extLst>
      <p:ext uri="{BB962C8B-B14F-4D97-AF65-F5344CB8AC3E}">
        <p14:creationId xmlns:p14="http://schemas.microsoft.com/office/powerpoint/2010/main" val="346277983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08000"/>
            <a:ext cx="11999495" cy="635000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3600" b="1" i="1" dirty="0"/>
              <a:t>Introduction</a:t>
            </a:r>
          </a:p>
          <a:p>
            <a:pPr>
              <a:lnSpc>
                <a:spcPct val="100000"/>
              </a:lnSpc>
            </a:pPr>
            <a:r>
              <a:rPr lang="en-US" sz="3600" b="1" i="1" dirty="0"/>
              <a:t>Background</a:t>
            </a:r>
          </a:p>
          <a:p>
            <a:pPr>
              <a:lnSpc>
                <a:spcPct val="100000"/>
              </a:lnSpc>
            </a:pPr>
            <a:r>
              <a:rPr lang="en-US" sz="3600" b="1" i="1" dirty="0"/>
              <a:t>Actual Proposal Statement</a:t>
            </a:r>
          </a:p>
          <a:p>
            <a:pPr>
              <a:lnSpc>
                <a:spcPct val="100000"/>
              </a:lnSpc>
            </a:pPr>
            <a:r>
              <a:rPr lang="en-US" sz="3600" b="1" i="1" dirty="0"/>
              <a:t>Description of the Work Product</a:t>
            </a:r>
          </a:p>
          <a:p>
            <a:pPr>
              <a:lnSpc>
                <a:spcPct val="100000"/>
              </a:lnSpc>
            </a:pPr>
            <a:r>
              <a:rPr lang="en-US" sz="3600" b="1" i="1" dirty="0"/>
              <a:t>Benefits and Feasibility of the Project</a:t>
            </a:r>
          </a:p>
          <a:p>
            <a:pPr>
              <a:lnSpc>
                <a:spcPct val="100000"/>
              </a:lnSpc>
            </a:pPr>
            <a:r>
              <a:rPr lang="en-US" sz="3600" b="1" i="1" dirty="0"/>
              <a:t>Method or Approach</a:t>
            </a:r>
          </a:p>
          <a:p>
            <a:pPr>
              <a:lnSpc>
                <a:spcPct val="100000"/>
              </a:lnSpc>
            </a:pPr>
            <a:r>
              <a:rPr lang="en-US" sz="3600" b="1" i="1" dirty="0"/>
              <a:t>Qualifications and References</a:t>
            </a:r>
          </a:p>
          <a:p>
            <a:pPr>
              <a:lnSpc>
                <a:spcPct val="100000"/>
              </a:lnSpc>
            </a:pPr>
            <a:r>
              <a:rPr lang="en-US" sz="3600" b="1" i="1" dirty="0"/>
              <a:t>Schedule</a:t>
            </a:r>
          </a:p>
          <a:p>
            <a:pPr>
              <a:lnSpc>
                <a:spcPct val="100000"/>
              </a:lnSpc>
            </a:pPr>
            <a:r>
              <a:rPr lang="en-US" sz="3600" b="1" i="1" dirty="0"/>
              <a:t>Costs</a:t>
            </a:r>
          </a:p>
          <a:p>
            <a:pPr>
              <a:lnSpc>
                <a:spcPct val="100000"/>
              </a:lnSpc>
            </a:pPr>
            <a:r>
              <a:rPr lang="en-US" sz="3600" b="1" i="1" dirty="0"/>
              <a:t>Conclusion</a:t>
            </a:r>
          </a:p>
          <a:p>
            <a:pPr>
              <a:lnSpc>
                <a:spcPct val="100000"/>
              </a:lnSpc>
            </a:pPr>
            <a:endParaRPr lang="en-US" sz="36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/>
                <a:ea typeface="+mj-ea"/>
                <a:cs typeface="+mj-cs"/>
              </a:rPr>
              <a:t>Proposals</a:t>
            </a:r>
            <a:r>
              <a:rPr lang="en-US" sz="4000" b="1" dirty="0">
                <a:solidFill>
                  <a:prstClr val="black"/>
                </a:solidFill>
                <a:latin typeface="Times New Roman" panose="02020603050405020304"/>
              </a:rPr>
              <a:t>’ organization and content 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440329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08000"/>
            <a:ext cx="11999495" cy="635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/>
              <a:t>Another common report type is variously called the progress report, status report, interim report, quarterly report, or monthly report.</a:t>
            </a:r>
          </a:p>
          <a:p>
            <a:pPr>
              <a:lnSpc>
                <a:spcPct val="100000"/>
              </a:lnSpc>
            </a:pPr>
            <a:endParaRPr lang="en-US" sz="3600" b="1" dirty="0"/>
          </a:p>
          <a:p>
            <a:pPr>
              <a:lnSpc>
                <a:spcPct val="100000"/>
              </a:lnSpc>
            </a:pPr>
            <a:r>
              <a:rPr lang="en-US" sz="3600" b="1" dirty="0"/>
              <a:t>Its job is to present to your clients or associates the </a:t>
            </a:r>
            <a:r>
              <a:rPr lang="en-US" sz="3600" b="1" dirty="0">
                <a:solidFill>
                  <a:srgbClr val="C00000"/>
                </a:solidFill>
              </a:rPr>
              <a:t>status of the work</a:t>
            </a:r>
            <a:r>
              <a:rPr lang="en-US" sz="3600" b="1" dirty="0"/>
              <a:t> you are doing for them.</a:t>
            </a:r>
          </a:p>
          <a:p>
            <a:pPr>
              <a:lnSpc>
                <a:spcPct val="100000"/>
              </a:lnSpc>
            </a:pPr>
            <a:endParaRPr lang="en-US" sz="3600" b="1" dirty="0"/>
          </a:p>
          <a:p>
            <a:pPr>
              <a:lnSpc>
                <a:spcPct val="100000"/>
              </a:lnSpc>
            </a:pPr>
            <a:r>
              <a:rPr lang="en-US" sz="3600" b="1" dirty="0"/>
              <a:t>It is very similar </a:t>
            </a:r>
            <a:r>
              <a:rPr lang="en-US" sz="3600" b="1" dirty="0">
                <a:solidFill>
                  <a:srgbClr val="C00000"/>
                </a:solidFill>
              </a:rPr>
              <a:t>to your project report</a:t>
            </a:r>
            <a:r>
              <a:rPr lang="en-US" sz="3600" b="1" dirty="0"/>
              <a:t>!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4000" b="1" dirty="0">
                <a:solidFill>
                  <a:srgbClr val="C00000"/>
                </a:solidFill>
                <a:latin typeface="Times New Roman" panose="02020603050405020304"/>
              </a:rPr>
              <a:t>PROGRESS REPORTS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6633793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08000"/>
            <a:ext cx="11999495" cy="635000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4000" b="1" i="1" dirty="0"/>
              <a:t>Introduction</a:t>
            </a:r>
          </a:p>
          <a:p>
            <a:pPr>
              <a:lnSpc>
                <a:spcPct val="100000"/>
              </a:lnSpc>
            </a:pPr>
            <a:r>
              <a:rPr lang="en-US" sz="4000" b="1" i="1" dirty="0"/>
              <a:t>Project Description</a:t>
            </a:r>
          </a:p>
          <a:p>
            <a:pPr>
              <a:lnSpc>
                <a:spcPct val="100000"/>
              </a:lnSpc>
            </a:pPr>
            <a:r>
              <a:rPr lang="en-US" sz="4000" b="1" i="1" dirty="0"/>
              <a:t>Progress Summary	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chemeClr val="accent6">
                    <a:lumMod val="50000"/>
                  </a:schemeClr>
                </a:solidFill>
              </a:rPr>
              <a:t>• Time-periods approach</a:t>
            </a:r>
          </a:p>
          <a:p>
            <a:pPr lvl="1">
              <a:lnSpc>
                <a:spcPct val="100000"/>
              </a:lnSpc>
            </a:pPr>
            <a:r>
              <a:rPr lang="en-US" sz="4000" b="1" i="1" dirty="0">
                <a:solidFill>
                  <a:schemeClr val="accent6">
                    <a:lumMod val="50000"/>
                  </a:schemeClr>
                </a:solidFill>
              </a:rPr>
              <a:t>Project-tasks approach</a:t>
            </a:r>
          </a:p>
          <a:p>
            <a:pPr lvl="1">
              <a:lnSpc>
                <a:spcPct val="100000"/>
              </a:lnSpc>
            </a:pPr>
            <a:r>
              <a:rPr lang="en-US" sz="4000" b="1" i="1" dirty="0">
                <a:solidFill>
                  <a:schemeClr val="accent6">
                    <a:lumMod val="50000"/>
                  </a:schemeClr>
                </a:solidFill>
              </a:rPr>
              <a:t>Combined approach</a:t>
            </a:r>
          </a:p>
          <a:p>
            <a:pPr>
              <a:lnSpc>
                <a:spcPct val="100000"/>
              </a:lnSpc>
            </a:pPr>
            <a:r>
              <a:rPr lang="en-US" sz="4000" b="1" i="1" dirty="0"/>
              <a:t>Problems Encountered</a:t>
            </a:r>
          </a:p>
          <a:p>
            <a:pPr>
              <a:lnSpc>
                <a:spcPct val="100000"/>
              </a:lnSpc>
            </a:pPr>
            <a:r>
              <a:rPr lang="en-US" sz="4000" b="1" i="1" dirty="0"/>
              <a:t>Changes in Requirements</a:t>
            </a:r>
          </a:p>
          <a:p>
            <a:pPr>
              <a:lnSpc>
                <a:spcPct val="100000"/>
              </a:lnSpc>
            </a:pPr>
            <a:r>
              <a:rPr lang="en-US" sz="4000" b="1" i="1" dirty="0"/>
              <a:t>Overall Assessment of the Project</a:t>
            </a:r>
          </a:p>
          <a:p>
            <a:pPr lvl="1">
              <a:lnSpc>
                <a:spcPct val="100000"/>
              </a:lnSpc>
            </a:pPr>
            <a:endParaRPr lang="en-US" sz="3200" b="1" i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3600" b="1" dirty="0">
                <a:solidFill>
                  <a:prstClr val="black"/>
                </a:solidFill>
                <a:latin typeface="Times New Roman" panose="02020603050405020304"/>
              </a:rPr>
              <a:t>Contents and Organization of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/>
              </a:rPr>
              <a:t>Progress Reports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2828591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08000"/>
            <a:ext cx="11999495" cy="6350000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US" sz="3600" b="1" dirty="0"/>
              <a:t>In your engineering career, you may often find yourself writing </a:t>
            </a:r>
            <a:r>
              <a:rPr lang="en-US" sz="3600" b="1" i="1" dirty="0">
                <a:solidFill>
                  <a:srgbClr val="FF0000"/>
                </a:solidFill>
              </a:rPr>
              <a:t>step-by-step procedures </a:t>
            </a:r>
            <a:r>
              <a:rPr lang="en-US" sz="3600" b="1" dirty="0"/>
              <a:t>for employees, colleagues, customers, or clients.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3600" b="1" dirty="0"/>
          </a:p>
          <a:p>
            <a:pPr lvl="1">
              <a:lnSpc>
                <a:spcPct val="150000"/>
              </a:lnSpc>
            </a:pPr>
            <a:r>
              <a:rPr lang="en-US" sz="4000" b="1" dirty="0"/>
              <a:t>Critical in instructions writing is </a:t>
            </a:r>
            <a:r>
              <a:rPr lang="en-US" sz="4000" b="1" dirty="0">
                <a:solidFill>
                  <a:srgbClr val="C00000"/>
                </a:solidFill>
              </a:rPr>
              <a:t>putting yourself in your readers’ place</a:t>
            </a:r>
            <a:r>
              <a:rPr lang="en-US" sz="4000" b="1" dirty="0"/>
              <a:t>, making no unwarranted assumptions about their background or knowledge.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3600" b="1" dirty="0">
                <a:solidFill>
                  <a:prstClr val="black"/>
                </a:solidFill>
                <a:latin typeface="Times New Roman" panose="02020603050405020304"/>
              </a:rPr>
              <a:t>INSTRUCTIONS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889813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08000"/>
            <a:ext cx="11999495" cy="6350000"/>
          </a:xfrm>
        </p:spPr>
        <p:txBody>
          <a:bodyPr>
            <a:normAutofit fontScale="92500" lnSpcReduction="20000"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US" sz="4700" b="1" i="1" dirty="0">
                <a:solidFill>
                  <a:srgbClr val="C00000"/>
                </a:solidFill>
              </a:rPr>
              <a:t>Introduction</a:t>
            </a:r>
            <a:r>
              <a:rPr lang="en-US" sz="4000" b="1" dirty="0">
                <a:solidFill>
                  <a:srgbClr val="C00000"/>
                </a:solidFill>
              </a:rPr>
              <a:t>.</a:t>
            </a:r>
            <a:r>
              <a:rPr lang="en-US" sz="4000" b="1" dirty="0"/>
              <a:t>   In the introduction, include some 				combination of the following: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4000" b="1" dirty="0"/>
              <a:t>• 	</a:t>
            </a:r>
            <a:r>
              <a:rPr lang="en-US" sz="4000" b="1" i="1" u="sng" dirty="0">
                <a:solidFill>
                  <a:schemeClr val="accent6">
                    <a:lumMod val="50000"/>
                  </a:schemeClr>
                </a:solidFill>
              </a:rPr>
              <a:t>Subject</a:t>
            </a:r>
            <a:r>
              <a:rPr lang="en-US" sz="4000" b="1" i="1" dirty="0">
                <a:solidFill>
                  <a:schemeClr val="accent6">
                    <a:lumMod val="50000"/>
                  </a:schemeClr>
                </a:solidFill>
              </a:rPr>
              <a:t>.</a:t>
            </a:r>
            <a:r>
              <a:rPr lang="en-US" sz="4000" b="1" dirty="0"/>
              <a:t> Indicate the procedure you’ll explain.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4000" b="1" dirty="0"/>
              <a:t>• 	</a:t>
            </a:r>
            <a:r>
              <a:rPr lang="en-US" sz="4000" b="1" i="1" u="sng" dirty="0">
                <a:solidFill>
                  <a:schemeClr val="accent6">
                    <a:lumMod val="50000"/>
                  </a:schemeClr>
                </a:solidFill>
              </a:rPr>
              <a:t>Product</a:t>
            </a:r>
            <a:r>
              <a:rPr lang="en-US" sz="4000" b="1" dirty="0"/>
              <a:t>. If you are providing instructions for a 				product, identify it.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4000" b="1" dirty="0"/>
              <a:t>•	</a:t>
            </a:r>
            <a:r>
              <a:rPr lang="en-US" sz="4000" b="1" i="1" u="sng" dirty="0">
                <a:solidFill>
                  <a:schemeClr val="accent6">
                    <a:lumMod val="50000"/>
                  </a:schemeClr>
                </a:solidFill>
              </a:rPr>
              <a:t>Audience</a:t>
            </a:r>
            <a:r>
              <a:rPr lang="en-US" sz="4000" b="1" dirty="0"/>
              <a:t>. Indicate knowledge or background  your 			readers need in order to understand your 			instructions. If no special background is 				needed, indicate that as well.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4000" b="1" dirty="0"/>
              <a:t>• </a:t>
            </a:r>
            <a:r>
              <a:rPr lang="en-US" sz="4000" b="1" i="1" u="sng" dirty="0">
                <a:solidFill>
                  <a:schemeClr val="accent6">
                    <a:lumMod val="50000"/>
                  </a:schemeClr>
                </a:solidFill>
              </a:rPr>
              <a:t>Overview</a:t>
            </a:r>
            <a:r>
              <a:rPr lang="en-US" sz="4000" b="1" dirty="0"/>
              <a:t>. Briefly list the main contents of the 					instructions; for example, list the major 				tasks or procedures to be presented.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3600" b="1" dirty="0">
                <a:solidFill>
                  <a:prstClr val="black"/>
                </a:solidFill>
                <a:latin typeface="Times New Roman" panose="02020603050405020304"/>
              </a:rPr>
              <a:t>Contents and Organization of </a:t>
            </a:r>
            <a:r>
              <a:rPr lang="en-US" sz="3600" b="1" dirty="0">
                <a:solidFill>
                  <a:srgbClr val="C00000"/>
                </a:solidFill>
                <a:latin typeface="Times New Roman" panose="02020603050405020304"/>
              </a:rPr>
              <a:t>INSTRUCTIONS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31459135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08000"/>
            <a:ext cx="11999495" cy="6350000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chemeClr val="accent6">
                    <a:lumMod val="50000"/>
                  </a:schemeClr>
                </a:solidFill>
              </a:rPr>
              <a:t>Equipment and Supplies</a:t>
            </a:r>
            <a:r>
              <a:rPr lang="en-US" sz="4000" b="1" dirty="0"/>
              <a:t>. List the supplies and  			equipment that readers must gather before 		they begin.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4000" b="1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chemeClr val="accent6">
                    <a:lumMod val="50000"/>
                  </a:schemeClr>
                </a:solidFill>
              </a:rPr>
              <a:t>Structure of the Instructions</a:t>
            </a:r>
            <a:r>
              <a:rPr lang="en-US" sz="4000" b="1" dirty="0"/>
              <a:t>. Before you dive into 		the step-by-step discussion, identify the tasks 		in the procedure.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lang="en-US" sz="3600" b="1" dirty="0">
                <a:solidFill>
                  <a:prstClr val="black"/>
                </a:solidFill>
                <a:latin typeface="Times New Roman" panose="02020603050405020304"/>
              </a:rPr>
              <a:t>Contents and Organization of </a:t>
            </a:r>
            <a:r>
              <a:rPr lang="en-US" sz="3600" b="1" dirty="0">
                <a:solidFill>
                  <a:srgbClr val="C00000"/>
                </a:solidFill>
                <a:latin typeface="Times New Roman" panose="02020603050405020304"/>
              </a:rPr>
              <a:t>INSTRUCTIONS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9912464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4287" y="1313411"/>
            <a:ext cx="6410325" cy="5350914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US" sz="4000" b="1" dirty="0"/>
              <a:t>The transmittal letter is a </a:t>
            </a:r>
            <a:r>
              <a:rPr lang="en-US" sz="4000" b="1" i="1" dirty="0">
                <a:solidFill>
                  <a:srgbClr val="C00000"/>
                </a:solidFill>
              </a:rPr>
              <a:t>cover letter</a:t>
            </a:r>
            <a:r>
              <a:rPr lang="en-US" sz="4000" b="1" dirty="0"/>
              <a:t>. 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sz="4000" b="1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sz="4000" b="1" dirty="0"/>
              <a:t>It is either attached to the outside of the report or bound within the report.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sz="3600" b="1" dirty="0">
                <a:solidFill>
                  <a:srgbClr val="C00000"/>
                </a:solidFill>
                <a:latin typeface="Times New Roman" panose="02020603050405020304"/>
              </a:rPr>
              <a:t>LETTER OF TRANSMITTAL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/>
            </a:endParaRP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6396038" y="0"/>
            <a:ext cx="5795962" cy="6965950"/>
            <a:chOff x="4029" y="0"/>
            <a:chExt cx="3651" cy="4388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4029" y="0"/>
              <a:ext cx="3651" cy="4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9" y="0"/>
              <a:ext cx="3660" cy="4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7408120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4287" y="508000"/>
            <a:ext cx="11984614" cy="6350000"/>
          </a:xfrm>
        </p:spPr>
        <p:txBody>
          <a:bodyPr>
            <a:normAutofit lnSpcReduction="10000"/>
          </a:bodyPr>
          <a:lstStyle/>
          <a:p>
            <a:endParaRPr lang="en-US" sz="3600" i="1" dirty="0"/>
          </a:p>
          <a:p>
            <a:r>
              <a:rPr lang="en-US" sz="3600" b="1" i="1" dirty="0">
                <a:solidFill>
                  <a:srgbClr val="C00000"/>
                </a:solidFill>
              </a:rPr>
              <a:t>First paragraph</a:t>
            </a:r>
            <a:r>
              <a:rPr lang="en-US" sz="3600" i="1" dirty="0"/>
              <a:t>.  </a:t>
            </a:r>
            <a:r>
              <a:rPr lang="en-US" sz="3600" dirty="0"/>
              <a:t>Cites the name of the report, putting it in italics. It also mentions the reason for the report 	and the date it was assigned</a:t>
            </a:r>
            <a:r>
              <a:rPr lang="en-US" sz="3600" dirty="0">
                <a:latin typeface="TimesTen-Roman"/>
              </a:rPr>
              <a:t>.</a:t>
            </a:r>
          </a:p>
          <a:p>
            <a:r>
              <a:rPr lang="en-US" sz="3600" b="1" i="1" dirty="0">
                <a:solidFill>
                  <a:srgbClr val="C00000"/>
                </a:solidFill>
              </a:rPr>
              <a:t>Second paragraph</a:t>
            </a:r>
            <a:r>
              <a:rPr lang="en-US" sz="3600" i="1" dirty="0"/>
              <a:t>. </a:t>
            </a:r>
            <a:r>
              <a:rPr lang="en-US" sz="3600" dirty="0"/>
              <a:t>Focuses on the purpose of the report 	and gives a brief synopsis of the contents of the 	report.</a:t>
            </a:r>
          </a:p>
          <a:p>
            <a:r>
              <a:rPr lang="en-US" sz="3600" b="1" i="1" dirty="0">
                <a:solidFill>
                  <a:srgbClr val="C00000"/>
                </a:solidFill>
              </a:rPr>
              <a:t>Third paragraph</a:t>
            </a:r>
            <a:r>
              <a:rPr lang="en-US" sz="3600" i="1" dirty="0"/>
              <a:t>. </a:t>
            </a:r>
            <a:r>
              <a:rPr lang="en-US" sz="3600" dirty="0"/>
              <a:t>Acknowledges any funding or help by other people, and also mentions any limitations or omissions in the report.</a:t>
            </a:r>
          </a:p>
          <a:p>
            <a:r>
              <a:rPr lang="en-US" sz="3600" b="1" i="1" dirty="0">
                <a:solidFill>
                  <a:srgbClr val="C00000"/>
                </a:solidFill>
              </a:rPr>
              <a:t>Final paragraph</a:t>
            </a:r>
            <a:r>
              <a:rPr lang="en-US" sz="3600" i="1" dirty="0"/>
              <a:t>. </a:t>
            </a:r>
            <a:r>
              <a:rPr lang="en-US" sz="3600" dirty="0"/>
              <a:t>Closes with a gesture of good will, expressing hope that the reader finds the report satisfactory. </a:t>
            </a:r>
          </a:p>
          <a:p>
            <a:pPr lvl="2"/>
            <a:r>
              <a:rPr lang="en-US" sz="2800" dirty="0"/>
              <a:t>It also encourages the reader to get in touch with any questions, comments, or concerns, and gives contact information.</a:t>
            </a:r>
            <a:endParaRPr lang="en-US" sz="28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/>
              </a:rPr>
              <a:t>LETTER OF TRANSMITTAL</a:t>
            </a:r>
          </a:p>
        </p:txBody>
      </p:sp>
    </p:spTree>
    <p:extLst>
      <p:ext uri="{BB962C8B-B14F-4D97-AF65-F5344CB8AC3E}">
        <p14:creationId xmlns:p14="http://schemas.microsoft.com/office/powerpoint/2010/main" val="26642630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4287" y="508000"/>
            <a:ext cx="11984614" cy="6350000"/>
          </a:xfrm>
        </p:spPr>
        <p:txBody>
          <a:bodyPr>
            <a:normAutofit fontScale="92500" lnSpcReduction="10000"/>
          </a:bodyPr>
          <a:lstStyle/>
          <a:p>
            <a:r>
              <a:rPr lang="en-US" sz="4800" b="1" dirty="0"/>
              <a:t>If your report is </a:t>
            </a:r>
            <a:r>
              <a:rPr lang="en-US" sz="4800" b="1" dirty="0">
                <a:solidFill>
                  <a:srgbClr val="C00000"/>
                </a:solidFill>
              </a:rPr>
              <a:t>over ten pages</a:t>
            </a:r>
            <a:r>
              <a:rPr lang="en-US" sz="4800" b="1" dirty="0"/>
              <a:t>, bind it in some way and create a label for the cover.</a:t>
            </a:r>
          </a:p>
          <a:p>
            <a:endParaRPr lang="en-US" sz="4800" b="1" dirty="0"/>
          </a:p>
          <a:p>
            <a:r>
              <a:rPr lang="en-US" sz="4800" b="1" dirty="0">
                <a:solidFill>
                  <a:srgbClr val="C00000"/>
                </a:solidFill>
              </a:rPr>
              <a:t>Covers</a:t>
            </a:r>
            <a:r>
              <a:rPr lang="en-US" sz="4800" dirty="0"/>
              <a:t> give reports a solid, professional look as well as protection.</a:t>
            </a:r>
          </a:p>
          <a:p>
            <a:endParaRPr lang="en-US" sz="4800" dirty="0"/>
          </a:p>
          <a:p>
            <a:r>
              <a:rPr lang="en-US" sz="4800" b="1" dirty="0">
                <a:solidFill>
                  <a:srgbClr val="C00000"/>
                </a:solidFill>
              </a:rPr>
              <a:t>Labels</a:t>
            </a:r>
            <a:r>
              <a:rPr lang="en-US" sz="4800" dirty="0"/>
              <a:t>: Be sure to devise a label for the cover of your report. It’s a step that some report writers forget. Without a label, a report is anonymous; it gets ignored.</a:t>
            </a:r>
            <a:endParaRPr lang="en-US" sz="48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/>
              </a:rPr>
              <a:t>COVER AND LABEL</a:t>
            </a:r>
          </a:p>
        </p:txBody>
      </p:sp>
    </p:spTree>
    <p:extLst>
      <p:ext uri="{BB962C8B-B14F-4D97-AF65-F5344CB8AC3E}">
        <p14:creationId xmlns:p14="http://schemas.microsoft.com/office/powerpoint/2010/main" val="17757061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3036888" y="0"/>
            <a:ext cx="9317037" cy="6356350"/>
            <a:chOff x="1913" y="0"/>
            <a:chExt cx="5869" cy="4004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1913" y="0"/>
              <a:ext cx="5869" cy="40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13" y="0"/>
              <a:ext cx="5882" cy="40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01160"/>
            <a:ext cx="6504039" cy="103556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Transmittal letter and report front cover</a:t>
            </a:r>
          </a:p>
        </p:txBody>
      </p:sp>
    </p:spTree>
    <p:extLst>
      <p:ext uri="{BB962C8B-B14F-4D97-AF65-F5344CB8AC3E}">
        <p14:creationId xmlns:p14="http://schemas.microsoft.com/office/powerpoint/2010/main" val="33922989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4288" y="508000"/>
            <a:ext cx="12206287" cy="6350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4800" dirty="0"/>
              <a:t>• </a:t>
            </a:r>
            <a:r>
              <a:rPr lang="en-US" sz="4800" b="1" dirty="0">
                <a:solidFill>
                  <a:srgbClr val="C00000"/>
                </a:solidFill>
              </a:rPr>
              <a:t>All pages </a:t>
            </a:r>
            <a:r>
              <a:rPr lang="en-US" sz="4800" dirty="0"/>
              <a:t>in the report (within but excluding the 	front and back covers) are numbered; however, 	on some pages, the numbers are not displayed.</a:t>
            </a:r>
          </a:p>
          <a:p>
            <a:pPr marL="0" indent="0">
              <a:buNone/>
            </a:pPr>
            <a:r>
              <a:rPr lang="en-US" sz="4800" dirty="0"/>
              <a:t>• In the </a:t>
            </a:r>
            <a:r>
              <a:rPr lang="en-US" sz="4800" dirty="0">
                <a:solidFill>
                  <a:srgbClr val="C00000"/>
                </a:solidFill>
              </a:rPr>
              <a:t>contemporary</a:t>
            </a:r>
            <a:r>
              <a:rPr lang="en-US" sz="4800" dirty="0"/>
              <a:t> design, all pages throughout 	the document use </a:t>
            </a:r>
            <a:r>
              <a:rPr lang="en-US" sz="4800" dirty="0">
                <a:solidFill>
                  <a:srgbClr val="C00000"/>
                </a:solidFill>
              </a:rPr>
              <a:t>Arabic numerals</a:t>
            </a:r>
            <a:r>
              <a:rPr lang="en-US" sz="4800" dirty="0"/>
              <a:t>; in the 	traditional design, all pages </a:t>
            </a:r>
            <a:r>
              <a:rPr lang="en-US" sz="4800" i="1" dirty="0"/>
              <a:t>before </a:t>
            </a:r>
            <a:r>
              <a:rPr lang="en-US" sz="4800" dirty="0"/>
              <a:t>the 	introduction (first page of the body of the report) 	use lowercase roman numerals.</a:t>
            </a:r>
          </a:p>
          <a:p>
            <a:pPr marL="0" indent="0">
              <a:buNone/>
            </a:pPr>
            <a:r>
              <a:rPr lang="en-US" sz="4800" dirty="0"/>
              <a:t>• On </a:t>
            </a:r>
            <a:r>
              <a:rPr lang="en-US" sz="4800" dirty="0">
                <a:solidFill>
                  <a:srgbClr val="C00000"/>
                </a:solidFill>
              </a:rPr>
              <a:t>special pages</a:t>
            </a:r>
            <a:r>
              <a:rPr lang="en-US" sz="4800" dirty="0"/>
              <a:t>, such as the </a:t>
            </a:r>
            <a:r>
              <a:rPr lang="en-US" sz="4800" dirty="0">
                <a:solidFill>
                  <a:srgbClr val="C00000"/>
                </a:solidFill>
              </a:rPr>
              <a:t>title</a:t>
            </a:r>
            <a:r>
              <a:rPr lang="en-US" sz="4800" dirty="0"/>
              <a:t> page and </a:t>
            </a:r>
            <a:r>
              <a:rPr lang="en-US" sz="4800" dirty="0">
                <a:solidFill>
                  <a:srgbClr val="C00000"/>
                </a:solidFill>
              </a:rPr>
              <a:t>page 	one</a:t>
            </a:r>
            <a:r>
              <a:rPr lang="en-US" sz="4800" dirty="0"/>
              <a:t> of the introduction, page numbers are not 	displayed.</a:t>
            </a:r>
            <a:endParaRPr lang="en-US" sz="48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/>
              </a:rPr>
              <a:t>PAGE NUMBERING</a:t>
            </a:r>
          </a:p>
        </p:txBody>
      </p:sp>
    </p:spTree>
    <p:extLst>
      <p:ext uri="{BB962C8B-B14F-4D97-AF65-F5344CB8AC3E}">
        <p14:creationId xmlns:p14="http://schemas.microsoft.com/office/powerpoint/2010/main" val="6006165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4288" y="508000"/>
            <a:ext cx="12206287" cy="635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•</a:t>
            </a:r>
            <a:r>
              <a:rPr lang="en-US" sz="4800" b="1" dirty="0"/>
              <a:t>Most engineering reports contain </a:t>
            </a:r>
            <a:r>
              <a:rPr lang="en-US" sz="4800" b="1" dirty="0">
                <a:solidFill>
                  <a:srgbClr val="C00000"/>
                </a:solidFill>
              </a:rPr>
              <a:t>at least one 	</a:t>
            </a:r>
            <a:r>
              <a:rPr lang="en-US" sz="4800" b="1" dirty="0"/>
              <a:t>abstract—sometimes </a:t>
            </a:r>
            <a:r>
              <a:rPr lang="en-US" sz="4800" b="1" dirty="0">
                <a:solidFill>
                  <a:srgbClr val="C00000"/>
                </a:solidFill>
              </a:rPr>
              <a:t>two</a:t>
            </a:r>
            <a:r>
              <a:rPr lang="en-US" sz="4800" b="1" dirty="0"/>
              <a:t>, in which case 	the abstracts play different roles.</a:t>
            </a:r>
          </a:p>
          <a:p>
            <a:pPr marL="0" indent="0">
              <a:buNone/>
            </a:pPr>
            <a:endParaRPr lang="en-US" sz="4800" b="1" dirty="0"/>
          </a:p>
          <a:p>
            <a:pPr lvl="4"/>
            <a:r>
              <a:rPr lang="en-US" sz="3800" b="1" i="1" dirty="0">
                <a:solidFill>
                  <a:srgbClr val="C00000"/>
                </a:solidFill>
              </a:rPr>
              <a:t>Descriptive abstract</a:t>
            </a:r>
            <a:r>
              <a:rPr lang="en-US" sz="3800" b="1" dirty="0"/>
              <a:t>: Provides an overview of 	the purpose and contents in the report.</a:t>
            </a:r>
          </a:p>
          <a:p>
            <a:pPr marL="1828800" lvl="4" indent="0">
              <a:buNone/>
            </a:pPr>
            <a:endParaRPr lang="en-US" sz="3800" b="1" dirty="0"/>
          </a:p>
          <a:p>
            <a:pPr lvl="4"/>
            <a:r>
              <a:rPr lang="en-US" sz="3800" b="1" i="1" dirty="0">
                <a:solidFill>
                  <a:srgbClr val="C00000"/>
                </a:solidFill>
              </a:rPr>
              <a:t>Executive summary</a:t>
            </a:r>
            <a:r>
              <a:rPr lang="en-US" sz="3800" b="1" dirty="0"/>
              <a:t>: Summarizes the key facts 	and conclusions contained in the report.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/>
              </a:rPr>
              <a:t>ABSTRACT AND 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31616983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1990725" y="0"/>
            <a:ext cx="9807575" cy="6729413"/>
            <a:chOff x="1254" y="0"/>
            <a:chExt cx="6178" cy="4239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1254" y="0"/>
              <a:ext cx="6178" cy="4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205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4" y="0"/>
              <a:ext cx="6192" cy="4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403163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4288" y="508000"/>
            <a:ext cx="12206287" cy="6350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800" dirty="0"/>
              <a:t>•Typically, executive summaries are </a:t>
            </a:r>
            <a:r>
              <a:rPr lang="en-US" sz="4800" u="sng" dirty="0">
                <a:solidFill>
                  <a:srgbClr val="C00000"/>
                </a:solidFill>
              </a:rPr>
              <a:t>one-tenth</a:t>
            </a:r>
            <a:r>
              <a:rPr lang="en-US" sz="4800" dirty="0"/>
              <a:t> to 	</a:t>
            </a:r>
            <a:r>
              <a:rPr lang="en-US" sz="4800" u="sng" dirty="0">
                <a:solidFill>
                  <a:srgbClr val="C00000"/>
                </a:solidFill>
              </a:rPr>
              <a:t>one-twentieth</a:t>
            </a:r>
            <a:r>
              <a:rPr lang="en-US" sz="4800" dirty="0"/>
              <a:t> the length of reports 10 to 50 	pages long.</a:t>
            </a:r>
          </a:p>
          <a:p>
            <a:pPr marL="0" indent="0">
              <a:buNone/>
            </a:pPr>
            <a:endParaRPr lang="en-US" sz="4800" b="1" dirty="0"/>
          </a:p>
          <a:p>
            <a:r>
              <a:rPr lang="en-US" sz="3800" b="1" dirty="0"/>
              <a:t>For longer reports, </a:t>
            </a:r>
            <a:r>
              <a:rPr lang="en-US" sz="3800" b="1" dirty="0">
                <a:solidFill>
                  <a:srgbClr val="C00000"/>
                </a:solidFill>
              </a:rPr>
              <a:t>over 50 pages</a:t>
            </a:r>
            <a:r>
              <a:rPr lang="en-US" sz="3800" b="1" dirty="0"/>
              <a:t>, the executive 	summary should </a:t>
            </a:r>
            <a:r>
              <a:rPr lang="en-US" sz="3800" b="1" dirty="0">
                <a:solidFill>
                  <a:srgbClr val="C00000"/>
                </a:solidFill>
              </a:rPr>
              <a:t>not go over three </a:t>
            </a:r>
            <a:r>
              <a:rPr lang="en-US" sz="3800" b="1" dirty="0"/>
              <a:t>typewritten </a:t>
            </a:r>
            <a:r>
              <a:rPr lang="en-US" sz="3800" b="1" dirty="0">
                <a:solidFill>
                  <a:srgbClr val="C00000"/>
                </a:solidFill>
              </a:rPr>
              <a:t>pages</a:t>
            </a:r>
            <a:r>
              <a:rPr lang="en-US" sz="3800" b="1" dirty="0"/>
              <a:t>.</a:t>
            </a:r>
          </a:p>
          <a:p>
            <a:endParaRPr lang="en-US" sz="3800" b="1" dirty="0"/>
          </a:p>
          <a:p>
            <a:r>
              <a:rPr lang="en-US" sz="3800" b="1" dirty="0"/>
              <a:t>The point of the </a:t>
            </a:r>
            <a:r>
              <a:rPr lang="en-US" sz="3800" b="1" dirty="0">
                <a:solidFill>
                  <a:srgbClr val="C00000"/>
                </a:solidFill>
              </a:rPr>
              <a:t>executive summary </a:t>
            </a:r>
            <a:r>
              <a:rPr lang="en-US" sz="3800" b="1" dirty="0"/>
              <a:t>is to provide a 	</a:t>
            </a:r>
            <a:r>
              <a:rPr lang="en-US" sz="3800" b="1" dirty="0">
                <a:solidFill>
                  <a:srgbClr val="C00000"/>
                </a:solidFill>
              </a:rPr>
              <a:t>summary of the report</a:t>
            </a:r>
            <a:r>
              <a:rPr lang="en-US" sz="3800" b="1" dirty="0"/>
              <a:t>—something that can be read 	quickly.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/>
              </a:rPr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36078039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4288" y="508000"/>
            <a:ext cx="12206287" cy="6350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4800" dirty="0"/>
              <a:t>•</a:t>
            </a:r>
            <a:r>
              <a:rPr lang="en-US" sz="4800" i="1" u="sng" dirty="0">
                <a:solidFill>
                  <a:srgbClr val="7030A0"/>
                </a:solidFill>
              </a:rPr>
              <a:t>How many levels of headings to include</a:t>
            </a:r>
            <a:r>
              <a:rPr lang="en-US" sz="4800" dirty="0"/>
              <a:t>. </a:t>
            </a:r>
          </a:p>
          <a:p>
            <a:pPr marL="0" indent="0">
              <a:buNone/>
            </a:pPr>
            <a:r>
              <a:rPr lang="en-US" sz="4800" dirty="0"/>
              <a:t>	In longer reports, don’t include all of the 	lower-level headings.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• </a:t>
            </a:r>
            <a:r>
              <a:rPr lang="en-US" sz="4800" i="1" dirty="0">
                <a:solidFill>
                  <a:srgbClr val="7030A0"/>
                </a:solidFill>
              </a:rPr>
              <a:t>Indentation, spacing, and capitalization</a:t>
            </a:r>
            <a:r>
              <a:rPr lang="en-US" sz="4800" dirty="0"/>
              <a:t>. E 	Each of 	the three levels of headings are 	aligned with 	each other.</a:t>
            </a:r>
          </a:p>
          <a:p>
            <a:pPr marL="0" indent="0">
              <a:buNone/>
            </a:pPr>
            <a:r>
              <a:rPr lang="en-US" sz="4800" dirty="0"/>
              <a:t>• </a:t>
            </a:r>
            <a:r>
              <a:rPr lang="en-US" sz="4800" i="1" dirty="0">
                <a:solidFill>
                  <a:srgbClr val="7030A0"/>
                </a:solidFill>
              </a:rPr>
              <a:t>Vertical spacing</a:t>
            </a:r>
            <a:r>
              <a:rPr lang="en-US" sz="4800" dirty="0"/>
              <a:t>. The first-level sections have extra 	space above and below, which increases 	readability.</a:t>
            </a:r>
          </a:p>
          <a:p>
            <a:pPr marL="0" indent="0">
              <a:buNone/>
            </a:pPr>
            <a:endParaRPr lang="en-US" sz="38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/>
              </a:rPr>
              <a:t>TABLE OF CONTENTS (TOC)</a:t>
            </a:r>
          </a:p>
        </p:txBody>
      </p:sp>
    </p:spTree>
    <p:extLst>
      <p:ext uri="{BB962C8B-B14F-4D97-AF65-F5344CB8AC3E}">
        <p14:creationId xmlns:p14="http://schemas.microsoft.com/office/powerpoint/2010/main" val="11847201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4288" y="508000"/>
            <a:ext cx="12206287" cy="6350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/>
              <a:t>•</a:t>
            </a:r>
            <a:endParaRPr lang="en-US" sz="38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/>
              </a:rPr>
              <a:t>TABLE OF CONTENTS (TOC)</a:t>
            </a: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 bwMode="auto">
          <a:xfrm>
            <a:off x="7536082" y="0"/>
            <a:ext cx="3879850" cy="6858000"/>
            <a:chOff x="4479" y="0"/>
            <a:chExt cx="2444" cy="4320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/>
          </p:nvSpPr>
          <p:spPr bwMode="auto">
            <a:xfrm>
              <a:off x="4479" y="0"/>
              <a:ext cx="2444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9" y="0"/>
              <a:ext cx="2458" cy="4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" name="Rectangle 6"/>
          <p:cNvSpPr/>
          <p:nvPr/>
        </p:nvSpPr>
        <p:spPr>
          <a:xfrm>
            <a:off x="283779" y="1813034"/>
            <a:ext cx="693682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/>
              <a:t>Levels of headings</a:t>
            </a:r>
          </a:p>
          <a:p>
            <a:endParaRPr lang="en-US" sz="4000" dirty="0"/>
          </a:p>
          <a:p>
            <a:r>
              <a:rPr lang="en-US" sz="4000" dirty="0"/>
              <a:t>Indentation, spacing, and capitalization</a:t>
            </a:r>
          </a:p>
          <a:p>
            <a:endParaRPr lang="en-US" sz="4000" dirty="0"/>
          </a:p>
          <a:p>
            <a:r>
              <a:rPr lang="en-US" sz="4000" dirty="0"/>
              <a:t>Vertical spacing</a:t>
            </a:r>
          </a:p>
          <a:p>
            <a:r>
              <a:rPr lang="en-US" sz="4000" dirty="0"/>
              <a:t> 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4238057" y="1231035"/>
            <a:ext cx="3253633" cy="82450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5693650" y="2563536"/>
            <a:ext cx="2415634" cy="61690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296653" y="4013637"/>
            <a:ext cx="4426163" cy="9743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3647834" y="4693071"/>
            <a:ext cx="4461450" cy="54291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0429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4288" y="508000"/>
            <a:ext cx="12206287" cy="6350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r>
              <a:rPr lang="en-US" sz="4000" b="1" dirty="0"/>
              <a:t>In an engineering report, the </a:t>
            </a:r>
            <a:r>
              <a:rPr lang="en-US" sz="4000" b="1" dirty="0">
                <a:solidFill>
                  <a:srgbClr val="FF0000"/>
                </a:solidFill>
              </a:rPr>
              <a:t>introduction</a:t>
            </a:r>
            <a:r>
              <a:rPr lang="en-US" sz="4000" b="1" dirty="0"/>
              <a:t> prepares the</a:t>
            </a:r>
          </a:p>
          <a:p>
            <a:pPr marL="0" indent="0">
              <a:buNone/>
            </a:pPr>
            <a:r>
              <a:rPr lang="en-US" sz="4000" b="1" dirty="0"/>
              <a:t>reader to </a:t>
            </a:r>
            <a:r>
              <a:rPr lang="en-US" sz="4000" b="1" dirty="0">
                <a:solidFill>
                  <a:srgbClr val="FF0000"/>
                </a:solidFill>
              </a:rPr>
              <a:t>read the main body </a:t>
            </a:r>
            <a:r>
              <a:rPr lang="en-US" sz="4000" b="1" dirty="0"/>
              <a:t>of the report.</a:t>
            </a:r>
          </a:p>
          <a:p>
            <a:pPr marL="0" indent="0">
              <a:buNone/>
            </a:pPr>
            <a:r>
              <a:rPr lang="en-US" sz="4000" b="1" dirty="0"/>
              <a:t>	</a:t>
            </a:r>
          </a:p>
          <a:p>
            <a:pPr marL="0" indent="0">
              <a:buNone/>
            </a:pPr>
            <a:r>
              <a:rPr lang="en-US" sz="4800" b="1" i="1" dirty="0"/>
              <a:t>Introduction</a:t>
            </a:r>
            <a:r>
              <a:rPr lang="en-US" sz="4000" b="1" dirty="0"/>
              <a:t> discusses:</a:t>
            </a:r>
          </a:p>
          <a:p>
            <a:pPr marL="0" indent="0">
              <a:buNone/>
            </a:pPr>
            <a:r>
              <a:rPr lang="en-US" sz="4000" b="1" dirty="0"/>
              <a:t>•	</a:t>
            </a:r>
            <a:r>
              <a:rPr lang="en-US" sz="4000" b="1" dirty="0">
                <a:solidFill>
                  <a:srgbClr val="C00000"/>
                </a:solidFill>
              </a:rPr>
              <a:t>Specific purpose </a:t>
            </a:r>
            <a:r>
              <a:rPr lang="en-US" sz="4000" b="1" dirty="0"/>
              <a:t>and topic of the report. </a:t>
            </a:r>
          </a:p>
          <a:p>
            <a:pPr marL="0" indent="0">
              <a:buNone/>
            </a:pPr>
            <a:r>
              <a:rPr lang="en-US" sz="4000" b="1" dirty="0"/>
              <a:t>• 	</a:t>
            </a:r>
            <a:r>
              <a:rPr lang="en-US" sz="4000" b="1" dirty="0">
                <a:solidFill>
                  <a:srgbClr val="00B050"/>
                </a:solidFill>
              </a:rPr>
              <a:t>Intended audience</a:t>
            </a:r>
          </a:p>
          <a:p>
            <a:pPr marL="0" indent="0">
              <a:buNone/>
            </a:pPr>
            <a:r>
              <a:rPr lang="en-US" sz="4000" b="1" dirty="0"/>
              <a:t>• 	</a:t>
            </a:r>
            <a:r>
              <a:rPr lang="en-US" sz="4000" b="1" dirty="0">
                <a:solidFill>
                  <a:srgbClr val="C00000"/>
                </a:solidFill>
              </a:rPr>
              <a:t>Situation</a:t>
            </a:r>
            <a:r>
              <a:rPr lang="en-US" sz="4000" b="1" dirty="0"/>
              <a:t> that brought about the need for the report.</a:t>
            </a:r>
          </a:p>
          <a:p>
            <a:pPr marL="0" indent="0">
              <a:buNone/>
            </a:pPr>
            <a:r>
              <a:rPr lang="en-US" sz="4000" b="1" dirty="0"/>
              <a:t>• 	</a:t>
            </a:r>
            <a:r>
              <a:rPr lang="en-US" sz="4000" b="1" dirty="0">
                <a:solidFill>
                  <a:srgbClr val="C00000"/>
                </a:solidFill>
              </a:rPr>
              <a:t>Scope</a:t>
            </a:r>
            <a:r>
              <a:rPr lang="en-US" sz="4000" b="1" dirty="0"/>
              <a:t> of the report—topics covered as well as topics 			not covered 	</a:t>
            </a:r>
          </a:p>
          <a:p>
            <a:pPr marL="0" indent="0">
              <a:buNone/>
            </a:pPr>
            <a:r>
              <a:rPr lang="en-US" sz="4000" b="1" dirty="0"/>
              <a:t>• 	</a:t>
            </a:r>
            <a:r>
              <a:rPr lang="en-US" sz="4000" b="1" dirty="0">
                <a:solidFill>
                  <a:srgbClr val="C00000"/>
                </a:solidFill>
              </a:rPr>
              <a:t>Background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/>
              </a:rPr>
              <a:t>LIST OF FIGURES AND TABLES</a:t>
            </a:r>
          </a:p>
        </p:txBody>
      </p:sp>
    </p:spTree>
    <p:extLst>
      <p:ext uri="{BB962C8B-B14F-4D97-AF65-F5344CB8AC3E}">
        <p14:creationId xmlns:p14="http://schemas.microsoft.com/office/powerpoint/2010/main" val="349761178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4288" y="508000"/>
            <a:ext cx="12206287" cy="6350000"/>
          </a:xfrm>
        </p:spPr>
        <p:txBody>
          <a:bodyPr>
            <a:normAutofit lnSpcReduction="10000"/>
          </a:bodyPr>
          <a:lstStyle/>
          <a:p>
            <a:r>
              <a:rPr lang="en-US" sz="4000" b="1" i="1" dirty="0"/>
              <a:t>Unnecessary Passive Voice.</a:t>
            </a:r>
          </a:p>
          <a:p>
            <a:r>
              <a:rPr lang="en-US" sz="4000" b="1" i="1" dirty="0"/>
              <a:t>Overreliance on the Be Verb (Nominalization).</a:t>
            </a:r>
          </a:p>
          <a:p>
            <a:pPr lvl="3"/>
            <a:r>
              <a:rPr lang="en-US" sz="3000" b="1" i="1" dirty="0">
                <a:solidFill>
                  <a:srgbClr val="C00000"/>
                </a:solidFill>
              </a:rPr>
              <a:t>There is a Pizza Hut in Jefferson City that attracts all the teenagers.</a:t>
            </a:r>
          </a:p>
          <a:p>
            <a:pPr lvl="3"/>
            <a:r>
              <a:rPr lang="en-US" sz="3000" b="1" i="1" dirty="0">
                <a:solidFill>
                  <a:schemeClr val="accent6">
                    <a:lumMod val="50000"/>
                  </a:schemeClr>
                </a:solidFill>
              </a:rPr>
              <a:t>The local Pizza Hut attracts all the town's teenagers.</a:t>
            </a:r>
          </a:p>
          <a:p>
            <a:r>
              <a:rPr lang="en-US" sz="4000" b="1" i="1" dirty="0"/>
              <a:t>Unnecessary Expletives.</a:t>
            </a:r>
          </a:p>
          <a:p>
            <a:pPr lvl="3"/>
            <a:r>
              <a:rPr lang="en-US" sz="3000" b="1" dirty="0">
                <a:solidFill>
                  <a:srgbClr val="C00000"/>
                </a:solidFill>
              </a:rPr>
              <a:t>Expletives use some form of ‘‘it is’’ or ‘‘there is.’’</a:t>
            </a:r>
          </a:p>
          <a:p>
            <a:pPr lvl="3"/>
            <a:endParaRPr lang="en-US" sz="3000" b="1" dirty="0">
              <a:solidFill>
                <a:srgbClr val="C00000"/>
              </a:solidFill>
            </a:endParaRPr>
          </a:p>
          <a:p>
            <a:pPr lvl="3"/>
            <a:r>
              <a:rPr lang="en-US" sz="3000" b="1" i="1" dirty="0"/>
              <a:t>It is the results of studies of the central region of the M87 galaxy…</a:t>
            </a:r>
          </a:p>
          <a:p>
            <a:pPr lvl="3"/>
            <a:endParaRPr lang="en-US" sz="3000" b="1" i="1" dirty="0">
              <a:solidFill>
                <a:srgbClr val="C00000"/>
              </a:solidFill>
            </a:endParaRPr>
          </a:p>
          <a:p>
            <a:pPr lvl="3"/>
            <a:r>
              <a:rPr lang="en-US" sz="3000" b="1" i="1" dirty="0">
                <a:solidFill>
                  <a:schemeClr val="accent6">
                    <a:lumMod val="50000"/>
                  </a:schemeClr>
                </a:solidFill>
              </a:rPr>
              <a:t>Results of studies of the central region of the M87 galaxy show that….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/>
              </a:rPr>
              <a:t>Clarity of Writing Style</a:t>
            </a:r>
          </a:p>
        </p:txBody>
      </p:sp>
    </p:spTree>
    <p:extLst>
      <p:ext uri="{BB962C8B-B14F-4D97-AF65-F5344CB8AC3E}">
        <p14:creationId xmlns:p14="http://schemas.microsoft.com/office/powerpoint/2010/main" val="15653302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4288" y="508000"/>
            <a:ext cx="12206287" cy="6350000"/>
          </a:xfrm>
        </p:spPr>
        <p:txBody>
          <a:bodyPr>
            <a:normAutofit/>
          </a:bodyPr>
          <a:lstStyle/>
          <a:p>
            <a:r>
              <a:rPr lang="en-US" sz="4000" b="1" i="1" dirty="0"/>
              <a:t>Redundant Phrasing.</a:t>
            </a:r>
          </a:p>
          <a:p>
            <a:pPr lvl="3"/>
            <a:r>
              <a:rPr lang="en-US" sz="3600" dirty="0"/>
              <a:t>With reference to the fact that the company is deficient in manufacturing and production space, the contract may in all probability be awarded to some other enterprise.</a:t>
            </a:r>
          </a:p>
          <a:p>
            <a:pPr lvl="3"/>
            <a:endParaRPr lang="en-US" sz="3600" dirty="0"/>
          </a:p>
          <a:p>
            <a:pPr lvl="3"/>
            <a:r>
              <a:rPr lang="en-US" sz="3600" b="1" dirty="0">
                <a:solidFill>
                  <a:schemeClr val="accent6">
                    <a:lumMod val="50000"/>
                  </a:schemeClr>
                </a:solidFill>
              </a:rPr>
              <a:t>The company may not be awarded the contract because it lacks production facilities.</a:t>
            </a:r>
          </a:p>
          <a:p>
            <a:endParaRPr lang="en-US" sz="4000" b="1" i="1" dirty="0"/>
          </a:p>
          <a:p>
            <a:r>
              <a:rPr lang="en-US" sz="4000" b="1" i="1" dirty="0"/>
              <a:t>Noun Stacks</a:t>
            </a:r>
          </a:p>
          <a:p>
            <a:pPr lvl="3"/>
            <a:r>
              <a:rPr lang="en-US" sz="3000" b="1" i="1" dirty="0">
                <a:solidFill>
                  <a:srgbClr val="C00000"/>
                </a:solidFill>
              </a:rPr>
              <a:t>Cocombustion-chamber exit gas temperatures</a:t>
            </a:r>
            <a:r>
              <a:rPr lang="en-US" sz="3000" b="1" i="1" dirty="0"/>
              <a:t>…</a:t>
            </a:r>
          </a:p>
          <a:p>
            <a:pPr lvl="3"/>
            <a:r>
              <a:rPr lang="en-US" sz="3000" b="1" i="1" dirty="0">
                <a:solidFill>
                  <a:schemeClr val="accent6">
                    <a:lumMod val="50000"/>
                  </a:schemeClr>
                </a:solidFill>
              </a:rPr>
              <a:t>The temperature of gas exiting the cocombustion chamber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C00000"/>
                </a:solidFill>
                <a:latin typeface="Times New Roman" panose="02020603050405020304"/>
              </a:rPr>
              <a:t>Clarity of Writing Style</a:t>
            </a:r>
          </a:p>
        </p:txBody>
      </p:sp>
    </p:spTree>
    <p:extLst>
      <p:ext uri="{BB962C8B-B14F-4D97-AF65-F5344CB8AC3E}">
        <p14:creationId xmlns:p14="http://schemas.microsoft.com/office/powerpoint/2010/main" val="334428275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4288" y="508000"/>
            <a:ext cx="12206287" cy="6350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000" dirty="0"/>
              <a:t>• </a:t>
            </a:r>
            <a:r>
              <a:rPr lang="en-US" sz="4000" b="1" i="1" dirty="0">
                <a:solidFill>
                  <a:srgbClr val="FF0000"/>
                </a:solidFill>
              </a:rPr>
              <a:t>Conclude.</a:t>
            </a:r>
            <a:r>
              <a:rPr lang="en-US" sz="4000" i="1" dirty="0"/>
              <a:t> </a:t>
            </a:r>
            <a:r>
              <a:rPr lang="en-US" sz="4000" dirty="0"/>
              <a:t>Draw logical conclusions from the discussion 	that has preceded; make inferences on the data that 	has been presented.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</a:rPr>
              <a:t>• </a:t>
            </a:r>
            <a:r>
              <a:rPr lang="en-US" sz="4000" b="1" i="1" dirty="0">
                <a:solidFill>
                  <a:srgbClr val="FF0000"/>
                </a:solidFill>
              </a:rPr>
              <a:t>Summarize</a:t>
            </a:r>
            <a:r>
              <a:rPr lang="en-US" sz="4000" i="1" dirty="0"/>
              <a:t>. </a:t>
            </a:r>
            <a:r>
              <a:rPr lang="en-US" sz="4000" dirty="0"/>
              <a:t>Review the key points, key facts, and so on from the preceding material. 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• </a:t>
            </a:r>
            <a:r>
              <a:rPr lang="en-US" sz="4000" b="1" i="1" dirty="0">
                <a:solidFill>
                  <a:srgbClr val="FF0000"/>
                </a:solidFill>
              </a:rPr>
              <a:t>Generalize.</a:t>
            </a:r>
            <a:r>
              <a:rPr lang="en-US" sz="4000" i="1" dirty="0"/>
              <a:t> </a:t>
            </a:r>
            <a:r>
              <a:rPr lang="en-US" sz="4000" dirty="0"/>
              <a:t>Move away from the specific topic of the 	report to a general discussion of such implications, 	applications, and future developments—but only in 	general terms.</a:t>
            </a:r>
            <a:endParaRPr lang="en-US" sz="4000" b="1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>
                <a:solidFill>
                  <a:srgbClr val="C00000"/>
                </a:solidFill>
                <a:latin typeface="Times New Roman" panose="02020603050405020304"/>
              </a:rPr>
              <a:t>CONCLUSIONS</a:t>
            </a:r>
            <a:endParaRPr lang="en-US" sz="3600" b="1" dirty="0">
              <a:solidFill>
                <a:srgbClr val="C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98433637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</TotalTime>
  <Words>2567</Words>
  <Application>Microsoft Office PowerPoint</Application>
  <PresentationFormat>Widescreen</PresentationFormat>
  <Paragraphs>292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6" baseType="lpstr">
      <vt:lpstr>Arial</vt:lpstr>
      <vt:lpstr>Calibri</vt:lpstr>
      <vt:lpstr>Times New Roman</vt:lpstr>
      <vt:lpstr>TimesTen-Roman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Criteria for Different Types of Letters</vt:lpstr>
      <vt:lpstr>Criteria for Different Types of Letters</vt:lpstr>
      <vt:lpstr>Criteria for Different Types of Letters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COE Riverside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Tofigh Heidarzadeh</dc:creator>
  <cp:lastModifiedBy>Tofigh Heidarzadeh</cp:lastModifiedBy>
  <cp:revision>64</cp:revision>
  <dcterms:created xsi:type="dcterms:W3CDTF">2017-05-15T20:42:23Z</dcterms:created>
  <dcterms:modified xsi:type="dcterms:W3CDTF">2025-05-06T23:41:40Z</dcterms:modified>
</cp:coreProperties>
</file>