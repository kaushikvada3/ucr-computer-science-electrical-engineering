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121"/>
  </p:notesMasterIdLst>
  <p:sldIdLst>
    <p:sldId id="256" r:id="rId5"/>
    <p:sldId id="360" r:id="rId6"/>
    <p:sldId id="323" r:id="rId7"/>
    <p:sldId id="347" r:id="rId8"/>
    <p:sldId id="348" r:id="rId9"/>
    <p:sldId id="350" r:id="rId10"/>
    <p:sldId id="351" r:id="rId11"/>
    <p:sldId id="349" r:id="rId12"/>
    <p:sldId id="352" r:id="rId13"/>
    <p:sldId id="355" r:id="rId14"/>
    <p:sldId id="359" r:id="rId15"/>
    <p:sldId id="358" r:id="rId16"/>
    <p:sldId id="356" r:id="rId17"/>
    <p:sldId id="361" r:id="rId18"/>
    <p:sldId id="362" r:id="rId19"/>
    <p:sldId id="354" r:id="rId20"/>
    <p:sldId id="363" r:id="rId21"/>
    <p:sldId id="364" r:id="rId22"/>
    <p:sldId id="365" r:id="rId23"/>
    <p:sldId id="366" r:id="rId24"/>
    <p:sldId id="272" r:id="rId25"/>
    <p:sldId id="273" r:id="rId26"/>
    <p:sldId id="292" r:id="rId27"/>
    <p:sldId id="274" r:id="rId28"/>
    <p:sldId id="389" r:id="rId29"/>
    <p:sldId id="641" r:id="rId30"/>
    <p:sldId id="644" r:id="rId31"/>
    <p:sldId id="643" r:id="rId32"/>
    <p:sldId id="390" r:id="rId33"/>
    <p:sldId id="391" r:id="rId34"/>
    <p:sldId id="640" r:id="rId35"/>
    <p:sldId id="392" r:id="rId36"/>
    <p:sldId id="268" r:id="rId37"/>
    <p:sldId id="393" r:id="rId38"/>
    <p:sldId id="267" r:id="rId39"/>
    <p:sldId id="269" r:id="rId40"/>
    <p:sldId id="621" r:id="rId41"/>
    <p:sldId id="394" r:id="rId42"/>
    <p:sldId id="271" r:id="rId43"/>
    <p:sldId id="284" r:id="rId44"/>
    <p:sldId id="622" r:id="rId45"/>
    <p:sldId id="287" r:id="rId46"/>
    <p:sldId id="623" r:id="rId47"/>
    <p:sldId id="624" r:id="rId48"/>
    <p:sldId id="288" r:id="rId49"/>
    <p:sldId id="289" r:id="rId50"/>
    <p:sldId id="290" r:id="rId51"/>
    <p:sldId id="315" r:id="rId52"/>
    <p:sldId id="625" r:id="rId53"/>
    <p:sldId id="262" r:id="rId54"/>
    <p:sldId id="258" r:id="rId55"/>
    <p:sldId id="263" r:id="rId56"/>
    <p:sldId id="264" r:id="rId57"/>
    <p:sldId id="265" r:id="rId58"/>
    <p:sldId id="626" r:id="rId59"/>
    <p:sldId id="266" r:id="rId60"/>
    <p:sldId id="627" r:id="rId61"/>
    <p:sldId id="296" r:id="rId62"/>
    <p:sldId id="628" r:id="rId63"/>
    <p:sldId id="629" r:id="rId64"/>
    <p:sldId id="630" r:id="rId65"/>
    <p:sldId id="259" r:id="rId66"/>
    <p:sldId id="260" r:id="rId67"/>
    <p:sldId id="293" r:id="rId68"/>
    <p:sldId id="294" r:id="rId69"/>
    <p:sldId id="631" r:id="rId70"/>
    <p:sldId id="632" r:id="rId71"/>
    <p:sldId id="633" r:id="rId72"/>
    <p:sldId id="634" r:id="rId73"/>
    <p:sldId id="635" r:id="rId74"/>
    <p:sldId id="636" r:id="rId75"/>
    <p:sldId id="645" r:id="rId76"/>
    <p:sldId id="637" r:id="rId77"/>
    <p:sldId id="270" r:id="rId78"/>
    <p:sldId id="275" r:id="rId79"/>
    <p:sldId id="277" r:id="rId80"/>
    <p:sldId id="312" r:id="rId81"/>
    <p:sldId id="313" r:id="rId82"/>
    <p:sldId id="314" r:id="rId83"/>
    <p:sldId id="638" r:id="rId84"/>
    <p:sldId id="276" r:id="rId85"/>
    <p:sldId id="279" r:id="rId86"/>
    <p:sldId id="295" r:id="rId87"/>
    <p:sldId id="280" r:id="rId88"/>
    <p:sldId id="642" r:id="rId89"/>
    <p:sldId id="281" r:id="rId90"/>
    <p:sldId id="283" r:id="rId91"/>
    <p:sldId id="291" r:id="rId92"/>
    <p:sldId id="282" r:id="rId93"/>
    <p:sldId id="297" r:id="rId94"/>
    <p:sldId id="298" r:id="rId95"/>
    <p:sldId id="299" r:id="rId96"/>
    <p:sldId id="332" r:id="rId97"/>
    <p:sldId id="333" r:id="rId98"/>
    <p:sldId id="639" r:id="rId99"/>
    <p:sldId id="324" r:id="rId100"/>
    <p:sldId id="325" r:id="rId101"/>
    <p:sldId id="326" r:id="rId102"/>
    <p:sldId id="327" r:id="rId103"/>
    <p:sldId id="328" r:id="rId104"/>
    <p:sldId id="329" r:id="rId105"/>
    <p:sldId id="330" r:id="rId106"/>
    <p:sldId id="300" r:id="rId107"/>
    <p:sldId id="261" r:id="rId108"/>
    <p:sldId id="301" r:id="rId109"/>
    <p:sldId id="302" r:id="rId110"/>
    <p:sldId id="303" r:id="rId111"/>
    <p:sldId id="304" r:id="rId112"/>
    <p:sldId id="305" r:id="rId113"/>
    <p:sldId id="306" r:id="rId114"/>
    <p:sldId id="307" r:id="rId115"/>
    <p:sldId id="308" r:id="rId116"/>
    <p:sldId id="309" r:id="rId117"/>
    <p:sldId id="310" r:id="rId118"/>
    <p:sldId id="311" r:id="rId119"/>
    <p:sldId id="331" r:id="rId1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p:cViewPr varScale="1">
        <p:scale>
          <a:sx n="111" d="100"/>
          <a:sy n="111" d="100"/>
        </p:scale>
        <p:origin x="1338" y="22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B60D29-6D41-482D-92CA-99B88C913F9A}" type="datetimeFigureOut">
              <a:rPr lang="en-US" smtClean="0"/>
              <a:pPr/>
              <a:t>4/3/2026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A341F3-7FF5-4DE5-BC33-6AB1BA1E8E28}" type="slidenum">
              <a:rPr lang="en-US" smtClean="0"/>
              <a:pPr/>
              <a:t>‹#›</a:t>
            </a:fld>
            <a:endParaRPr lang="en-US"/>
          </a:p>
        </p:txBody>
      </p:sp>
    </p:spTree>
    <p:extLst>
      <p:ext uri="{BB962C8B-B14F-4D97-AF65-F5344CB8AC3E}">
        <p14:creationId xmlns:p14="http://schemas.microsoft.com/office/powerpoint/2010/main" val="697343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A341F3-7FF5-4DE5-BC33-6AB1BA1E8E28}" type="slidenum">
              <a:rPr lang="en-US" smtClean="0"/>
              <a:pPr/>
              <a:t>32</a:t>
            </a:fld>
            <a:endParaRPr lang="en-US"/>
          </a:p>
        </p:txBody>
      </p:sp>
    </p:spTree>
    <p:extLst>
      <p:ext uri="{BB962C8B-B14F-4D97-AF65-F5344CB8AC3E}">
        <p14:creationId xmlns:p14="http://schemas.microsoft.com/office/powerpoint/2010/main" val="2074615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D821DF2-8F16-4A02-AFB5-59E1678A90EE}" type="datetime1">
              <a:rPr lang="en-US" smtClean="0"/>
              <a:pPr/>
              <a:t>4/3/2026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129984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9FF4D5-F35B-420F-948D-069E8587321A}" type="datetime1">
              <a:rPr lang="en-US" smtClean="0"/>
              <a:pPr/>
              <a:t>4/3/2026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53601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AED94-D601-4C89-AA7E-899AF3FA3093}" type="datetime1">
              <a:rPr lang="en-US" smtClean="0"/>
              <a:pPr/>
              <a:t>4/3/2026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286120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2736FA-20DD-427F-955D-002D7DCF5A50}" type="datetime1">
              <a:rPr lang="en-US" smtClean="0"/>
              <a:pPr/>
              <a:t>4/3/2026</a:t>
            </a:fld>
            <a:endParaRPr lang="en-US"/>
          </a:p>
        </p:txBody>
      </p:sp>
      <p:sp>
        <p:nvSpPr>
          <p:cNvPr id="6" name="Footer Placeholder 5"/>
          <p:cNvSpPr>
            <a:spLocks noGrp="1"/>
          </p:cNvSpPr>
          <p:nvPr>
            <p:ph type="ftr" sz="quarter" idx="11"/>
          </p:nvPr>
        </p:nvSpPr>
        <p:spPr/>
        <p:txBody>
          <a:bodyPr/>
          <a:lstStyle/>
          <a:p>
            <a:r>
              <a:rPr lang="en-US"/>
              <a:t>Technical Writing</a:t>
            </a:r>
          </a:p>
        </p:txBody>
      </p:sp>
      <p:sp>
        <p:nvSpPr>
          <p:cNvPr id="7" name="Slide Number Placeholder 6"/>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121189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3D3AA3-9604-4452-BBB7-03EAB4899636}" type="datetime1">
              <a:rPr lang="en-US" smtClean="0"/>
              <a:pPr/>
              <a:t>4/3/2026</a:t>
            </a:fld>
            <a:endParaRPr lang="en-US"/>
          </a:p>
        </p:txBody>
      </p:sp>
      <p:sp>
        <p:nvSpPr>
          <p:cNvPr id="8" name="Footer Placeholder 7"/>
          <p:cNvSpPr>
            <a:spLocks noGrp="1"/>
          </p:cNvSpPr>
          <p:nvPr>
            <p:ph type="ftr" sz="quarter" idx="11"/>
          </p:nvPr>
        </p:nvSpPr>
        <p:spPr/>
        <p:txBody>
          <a:bodyPr/>
          <a:lstStyle/>
          <a:p>
            <a:r>
              <a:rPr lang="en-US"/>
              <a:t>Technical Writing</a:t>
            </a:r>
          </a:p>
        </p:txBody>
      </p:sp>
      <p:sp>
        <p:nvSpPr>
          <p:cNvPr id="9" name="Slide Number Placeholder 8"/>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1385295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864677-3A75-423F-9C2B-E486DB9E0959}" type="datetime1">
              <a:rPr lang="en-US" smtClean="0"/>
              <a:pPr/>
              <a:t>4/3/2026</a:t>
            </a:fld>
            <a:endParaRPr lang="en-US"/>
          </a:p>
        </p:txBody>
      </p:sp>
      <p:sp>
        <p:nvSpPr>
          <p:cNvPr id="4" name="Footer Placeholder 3"/>
          <p:cNvSpPr>
            <a:spLocks noGrp="1"/>
          </p:cNvSpPr>
          <p:nvPr>
            <p:ph type="ftr" sz="quarter" idx="11"/>
          </p:nvPr>
        </p:nvSpPr>
        <p:spPr/>
        <p:txBody>
          <a:bodyPr/>
          <a:lstStyle/>
          <a:p>
            <a:r>
              <a:rPr lang="en-US"/>
              <a:t>Technical Writing</a:t>
            </a:r>
          </a:p>
        </p:txBody>
      </p:sp>
      <p:sp>
        <p:nvSpPr>
          <p:cNvPr id="5" name="Slide Number Placeholder 4"/>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543632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1E4F2-870C-4ED6-84A5-CE24570D94A1}" type="datetime1">
              <a:rPr lang="en-US" smtClean="0"/>
              <a:pPr/>
              <a:t>4/3/2026</a:t>
            </a:fld>
            <a:endParaRPr lang="en-US"/>
          </a:p>
        </p:txBody>
      </p:sp>
      <p:sp>
        <p:nvSpPr>
          <p:cNvPr id="3" name="Footer Placeholder 2"/>
          <p:cNvSpPr>
            <a:spLocks noGrp="1"/>
          </p:cNvSpPr>
          <p:nvPr>
            <p:ph type="ftr" sz="quarter" idx="11"/>
          </p:nvPr>
        </p:nvSpPr>
        <p:spPr/>
        <p:txBody>
          <a:bodyPr/>
          <a:lstStyle/>
          <a:p>
            <a:r>
              <a:rPr lang="en-US"/>
              <a:t>Technical Writing</a:t>
            </a:r>
          </a:p>
        </p:txBody>
      </p:sp>
      <p:sp>
        <p:nvSpPr>
          <p:cNvPr id="4" name="Slide Number Placeholder 3"/>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477794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FD9CC2-9FA0-4ADA-8F34-008174DC722F}" type="datetime1">
              <a:rPr lang="en-US" smtClean="0"/>
              <a:pPr/>
              <a:t>4/3/2026</a:t>
            </a:fld>
            <a:endParaRPr lang="en-US"/>
          </a:p>
        </p:txBody>
      </p:sp>
      <p:sp>
        <p:nvSpPr>
          <p:cNvPr id="6" name="Footer Placeholder 5"/>
          <p:cNvSpPr>
            <a:spLocks noGrp="1"/>
          </p:cNvSpPr>
          <p:nvPr>
            <p:ph type="ftr" sz="quarter" idx="11"/>
          </p:nvPr>
        </p:nvSpPr>
        <p:spPr/>
        <p:txBody>
          <a:bodyPr/>
          <a:lstStyle/>
          <a:p>
            <a:r>
              <a:rPr lang="en-US"/>
              <a:t>Technical Writing</a:t>
            </a:r>
          </a:p>
        </p:txBody>
      </p:sp>
      <p:sp>
        <p:nvSpPr>
          <p:cNvPr id="7" name="Slide Number Placeholder 6"/>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473422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BA37F6-6D40-4E22-81D5-2946F28F5791}" type="datetime1">
              <a:rPr lang="en-US" smtClean="0"/>
              <a:pPr/>
              <a:t>4/3/2026</a:t>
            </a:fld>
            <a:endParaRPr lang="en-US"/>
          </a:p>
        </p:txBody>
      </p:sp>
      <p:sp>
        <p:nvSpPr>
          <p:cNvPr id="6" name="Footer Placeholder 5"/>
          <p:cNvSpPr>
            <a:spLocks noGrp="1"/>
          </p:cNvSpPr>
          <p:nvPr>
            <p:ph type="ftr" sz="quarter" idx="11"/>
          </p:nvPr>
        </p:nvSpPr>
        <p:spPr/>
        <p:txBody>
          <a:bodyPr/>
          <a:lstStyle/>
          <a:p>
            <a:r>
              <a:rPr lang="en-US"/>
              <a:t>Technical Writing</a:t>
            </a:r>
          </a:p>
        </p:txBody>
      </p:sp>
      <p:sp>
        <p:nvSpPr>
          <p:cNvPr id="7" name="Slide Number Placeholder 6"/>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632192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F62DC-ADDC-42E7-801F-6603FD251CA2}" type="datetime1">
              <a:rPr lang="en-US" smtClean="0"/>
              <a:pPr/>
              <a:t>4/3/2026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73563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2D8BDD-8216-4B36-BB92-C06A601CD73C}" type="datetime1">
              <a:rPr lang="en-US" smtClean="0"/>
              <a:pPr/>
              <a:t>4/3/2026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485751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15945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8502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01779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85907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9800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4714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2968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369199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382906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70730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85404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977276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910031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6633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5496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543862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124220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26537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475504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174386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96133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20293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EDD6C3D-6651-4F48-8EC0-E53092F07C6F}"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8556604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DD6C3D-6651-4F48-8EC0-E53092F07C6F}"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6402979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DD6C3D-6651-4F48-8EC0-E53092F07C6F}"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8594605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DD6C3D-6651-4F48-8EC0-E53092F07C6F}"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6948911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DD6C3D-6651-4F48-8EC0-E53092F07C6F}"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4899752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DD6C3D-6651-4F48-8EC0-E53092F07C6F}"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2900281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DD6C3D-6651-4F48-8EC0-E53092F07C6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15733003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EDD6C3D-6651-4F48-8EC0-E53092F07C6F}"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8076684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EDD6C3D-6651-4F48-8EC0-E53092F07C6F}"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40171331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DD6C3D-6651-4F48-8EC0-E53092F07C6F}"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11402953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DD6C3D-6651-4F48-8EC0-E53092F07C6F}"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52DD61-D130-48DF-8D3E-D5AA2E134E53}" type="slidenum">
              <a:rPr lang="en-US" smtClean="0"/>
              <a:pPr/>
              <a:t>‹#›</a:t>
            </a:fld>
            <a:endParaRPr lang="en-US"/>
          </a:p>
        </p:txBody>
      </p:sp>
    </p:spTree>
    <p:extLst>
      <p:ext uri="{BB962C8B-B14F-4D97-AF65-F5344CB8AC3E}">
        <p14:creationId xmlns:p14="http://schemas.microsoft.com/office/powerpoint/2010/main" val="4206982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70B5D2-EA52-4703-ACA5-6080B5091DE8}" type="datetime1">
              <a:rPr lang="en-US" smtClean="0"/>
              <a:pPr/>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Technical Writing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9A8198-B36E-4E8C-B56F-5CE897E27388}" type="slidenum">
              <a:rPr lang="en-US" smtClean="0"/>
              <a:pPr/>
              <a:t>‹#›</a:t>
            </a:fld>
            <a:endParaRPr lang="en-US"/>
          </a:p>
        </p:txBody>
      </p:sp>
    </p:spTree>
    <p:extLst>
      <p:ext uri="{BB962C8B-B14F-4D97-AF65-F5344CB8AC3E}">
        <p14:creationId xmlns:p14="http://schemas.microsoft.com/office/powerpoint/2010/main" val="4189811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D9627B3-5776-49DC-9933-9C94C7E1B67C}"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174187-4894-487B-9622-D68BF52EF91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507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52A2A6C-DB6D-401A-8EEA-81806C42A998}" type="datetimeFigureOut">
              <a:rPr lang="en-US" smtClean="0">
                <a:solidFill>
                  <a:prstClr val="black">
                    <a:tint val="75000"/>
                  </a:prstClr>
                </a:solidFill>
              </a:rPr>
              <a:pPr/>
              <a:t>4/3/2026</a:t>
            </a:fld>
            <a:endParaRPr 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2C1E1B2-71C2-4D64-807A-DCCC01D83EF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9811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EDD6C3D-6651-4F48-8EC0-E53092F07C6F}" type="datetimeFigureOut">
              <a:rPr lang="en-US" smtClean="0"/>
              <a:pPr/>
              <a:t>4/3/2026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52DD61-D130-48DF-8D3E-D5AA2E134E53}" type="slidenum">
              <a:rPr lang="en-US" smtClean="0"/>
              <a:pPr/>
              <a:t>‹#›</a:t>
            </a:fld>
            <a:endParaRPr lang="en-US"/>
          </a:p>
        </p:txBody>
      </p:sp>
    </p:spTree>
    <p:extLst>
      <p:ext uri="{BB962C8B-B14F-4D97-AF65-F5344CB8AC3E}">
        <p14:creationId xmlns:p14="http://schemas.microsoft.com/office/powerpoint/2010/main" val="20396500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rammar.yourdictionary.com/style-and-usage/sexist-language.html" TargetMode="External"/><Relationship Id="rId2" Type="http://schemas.openxmlformats.org/officeDocument/2006/relationships/hyperlink" Target="http://www.sjsu.edu/writingcenter/handouts/Concrete%20Language.pdf" TargetMode="External"/><Relationship Id="rId1" Type="http://schemas.openxmlformats.org/officeDocument/2006/relationships/slideLayout" Target="../slideLayouts/slideLayout1.xml"/><Relationship Id="rId4" Type="http://schemas.openxmlformats.org/officeDocument/2006/relationships/hyperlink" Target="https://msu.edu/course/be/485/bewritingguideV2.0.pdf"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upcp.ece.gatech.edu/docs/curriculum/Characteristics_of_Technical_Writing.pdf" TargetMode="External"/><Relationship Id="rId2" Type="http://schemas.openxmlformats.org/officeDocument/2006/relationships/hyperlink" Target="http://toefl.uobabylon.edu.iq/papers/itp_2015_41931767.pdf" TargetMode="External"/><Relationship Id="rId1" Type="http://schemas.openxmlformats.org/officeDocument/2006/relationships/slideLayout" Target="../slideLayouts/slideLayout2.xml"/><Relationship Id="rId4" Type="http://schemas.openxmlformats.org/officeDocument/2006/relationships/hyperlink" Target="http://www.ecs.csun.edu/asme/Technical_Writing_11-12-2014.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toefl.uobabylon.edu.iq/papers/itp_2015_41931767.pdf" TargetMode="External"/><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toefl.uobabylon.edu.iq/papers/itp_2015_41931767.pdf" TargetMode="External"/><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hyperlink" Target="https://www.library.illinois.edu/enx/" TargetMode="External"/><Relationship Id="rId7" Type="http://schemas.openxmlformats.org/officeDocument/2006/relationships/hyperlink" Target="https://librarytechnology.org/library/17" TargetMode="External"/><Relationship Id="rId2" Type="http://schemas.openxmlformats.org/officeDocument/2006/relationships/hyperlink" Target="https://sites.asee.org/eld/" TargetMode="External"/><Relationship Id="rId1" Type="http://schemas.openxmlformats.org/officeDocument/2006/relationships/slideLayout" Target="../slideLayouts/slideLayout13.xml"/><Relationship Id="rId6" Type="http://schemas.openxmlformats.org/officeDocument/2006/relationships/hyperlink" Target="http://www.bl.uk/" TargetMode="External"/><Relationship Id="rId5" Type="http://schemas.openxmlformats.org/officeDocument/2006/relationships/hyperlink" Target="http://catalog.loc.gov/" TargetMode="External"/><Relationship Id="rId4" Type="http://schemas.openxmlformats.org/officeDocument/2006/relationships/hyperlink" Target="http://www.libdex.com/"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3.xml"/><Relationship Id="rId5" Type="http://schemas.openxmlformats.org/officeDocument/2006/relationships/image" Target="../media/image17.emf"/><Relationship Id="rId4" Type="http://schemas.openxmlformats.org/officeDocument/2006/relationships/image" Target="../media/image16.emf"/></Relationships>
</file>

<file path=ppt/slides/_rels/slide4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hyperlink" Target="https://www.loc.gov/rr/scitech/selected-internet/engineering.html"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https://www.uspto.gov/patents-application-process/search-patents" TargetMode="External"/><Relationship Id="rId2" Type="http://schemas.openxmlformats.org/officeDocument/2006/relationships/image" Target="../media/image19.emf"/><Relationship Id="rId1" Type="http://schemas.openxmlformats.org/officeDocument/2006/relationships/slideLayout" Target="../slideLayouts/slideLayout13.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4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hyperlink" Target="https://www.epo.org/searching-for-patents.html" TargetMode="Externa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13.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hyperlink" Target="http://writing.umn.edu/tww/assets/pdfs/intro.pdf" TargetMode="Externa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hyperlink" Target="https://www.doi.gov/" TargetMode="Externa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3" Type="http://schemas.openxmlformats.org/officeDocument/2006/relationships/hyperlink" Target="../Essay%20sample%20IEEE.pdf" TargetMode="External"/><Relationship Id="rId2" Type="http://schemas.openxmlformats.org/officeDocument/2006/relationships/hyperlink" Target="../ENGR181-S%2017%20+%20All%20Stuff/Final%20Package/Student%20Folders/Sec%20024/Essay1/Arjun-Essay1Arjun.pdf" TargetMode="External"/><Relationship Id="rId1" Type="http://schemas.openxmlformats.org/officeDocument/2006/relationships/slideLayout" Target="../slideLayouts/slideLayout24.xml"/><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3.xml"/><Relationship Id="rId4" Type="http://schemas.openxmlformats.org/officeDocument/2006/relationships/image" Target="../media/image36.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17.xml"/><Relationship Id="rId5" Type="http://schemas.openxmlformats.org/officeDocument/2006/relationships/image" Target="../media/image42.emf"/><Relationship Id="rId4" Type="http://schemas.openxmlformats.org/officeDocument/2006/relationships/image" Target="../media/image41.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 Id="rId5" Type="http://schemas.openxmlformats.org/officeDocument/2006/relationships/image" Target="../media/image46.png"/><Relationship Id="rId4" Type="http://schemas.microsoft.com/office/2007/relationships/hdphoto" Target="../media/hdphoto1.wdp"/></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hyperlink" Target="https://www.ieee.org/documents/style_manual.pdf" TargetMode="Externa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hyperlink" Target="http://web.mit.edu/me-ugoffice/communication/technical-writing.pdf" TargetMode="External"/><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hyperlink" Target="http://writing.umn.edu/tww/assets/pdfs/intro.pdf" TargetMode="External"/><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hyperlink" Target="https://www.iup.edu/writingcenter/writing-resources/organization-and-structure/creating-an-outline/" TargetMode="External"/><Relationship Id="rId2" Type="http://schemas.openxmlformats.org/officeDocument/2006/relationships/hyperlink" Target="https://www.unl.edu/gradstudies/connections/scientific-writing" TargetMode="External"/><Relationship Id="rId1" Type="http://schemas.openxmlformats.org/officeDocument/2006/relationships/slideLayout" Target="../slideLayouts/slideLayout34.xml"/><Relationship Id="rId5" Type="http://schemas.openxmlformats.org/officeDocument/2006/relationships/hyperlink" Target="https://www.emmelaw.com/wp-content/uploads/2018/04/What-makes-a-good-document.pdf" TargetMode="External"/><Relationship Id="rId4" Type="http://schemas.openxmlformats.org/officeDocument/2006/relationships/hyperlink" Target="https://www.monmouth.edu/resources-for-writers/documents/transitions.pdf/" TargetMode="External"/></Relationships>
</file>

<file path=ppt/slides/_rels/slide91.xml.rels><?xml version="1.0" encoding="UTF-8" standalone="yes"?>
<Relationships xmlns="http://schemas.openxmlformats.org/package/2006/relationships"><Relationship Id="rId2" Type="http://schemas.openxmlformats.org/officeDocument/2006/relationships/hyperlink" Target="https://www.unl.edu/gradstudies/connections/scientific-writing" TargetMode="External"/><Relationship Id="rId1" Type="http://schemas.openxmlformats.org/officeDocument/2006/relationships/slideLayout" Target="../slideLayouts/slideLayout3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4.xml"/></Relationships>
</file>

<file path=ppt/slides/_rels/slide9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4.xml"/></Relationships>
</file>

<file path=ppt/slides/_rels/slide10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4.xml"/></Relationships>
</file>

<file path=ppt/slides/_rels/slide10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5.xml"/></Relationships>
</file>

<file path=ppt/slides/_rels/slide11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5.xml"/></Relationships>
</file>

<file path=ppt/slides/_rels/slide11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5.xml"/></Relationships>
</file>

<file path=ppt/slides/_rels/slide11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772400" cy="1470025"/>
          </a:xfrm>
        </p:spPr>
        <p:txBody>
          <a:bodyPr/>
          <a:lstStyle/>
          <a:p>
            <a:r>
              <a:rPr lang="en-US" dirty="0"/>
              <a:t>Technical Communication</a:t>
            </a:r>
          </a:p>
        </p:txBody>
      </p:sp>
      <p:sp>
        <p:nvSpPr>
          <p:cNvPr id="3" name="Subtitle 2"/>
          <p:cNvSpPr>
            <a:spLocks noGrp="1"/>
          </p:cNvSpPr>
          <p:nvPr>
            <p:ph type="subTitle" idx="1"/>
          </p:nvPr>
        </p:nvSpPr>
        <p:spPr>
          <a:xfrm>
            <a:off x="1371600" y="3581400"/>
            <a:ext cx="6400800" cy="914400"/>
          </a:xfrm>
        </p:spPr>
        <p:txBody>
          <a:bodyPr>
            <a:normAutofit/>
          </a:bodyPr>
          <a:lstStyle/>
          <a:p>
            <a:r>
              <a:rPr lang="en-US" dirty="0"/>
              <a:t>Tofigh Heidarzadeh, PhD</a:t>
            </a:r>
          </a:p>
          <a:p>
            <a:endParaRPr lang="en-US" dirty="0"/>
          </a:p>
        </p:txBody>
      </p:sp>
      <p:sp>
        <p:nvSpPr>
          <p:cNvPr id="5" name="Slide Number Placeholder 4"/>
          <p:cNvSpPr>
            <a:spLocks noGrp="1"/>
          </p:cNvSpPr>
          <p:nvPr>
            <p:ph type="sldNum" sz="quarter" idx="12"/>
          </p:nvPr>
        </p:nvSpPr>
        <p:spPr/>
        <p:txBody>
          <a:bodyPr/>
          <a:lstStyle/>
          <a:p>
            <a:fld id="{CE9A8198-B36E-4E8C-B56F-5CE897E27388}" type="slidenum">
              <a:rPr lang="en-US" smtClean="0"/>
              <a:pPr/>
              <a:t>1</a:t>
            </a:fld>
            <a:endParaRPr lang="en-US"/>
          </a:p>
        </p:txBody>
      </p:sp>
      <p:sp>
        <p:nvSpPr>
          <p:cNvPr id="4" name="Rectangle 3"/>
          <p:cNvSpPr/>
          <p:nvPr/>
        </p:nvSpPr>
        <p:spPr>
          <a:xfrm>
            <a:off x="381000" y="5327101"/>
            <a:ext cx="5943600" cy="138499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2"/>
              </a:rPr>
              <a:t>https://www.thepunctuationguide.com/em-dash.html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2"/>
              </a:rPr>
              <a:t>http://www.sjsu.edu/writingcenter/handouts/Concrete%20Language.pdf</a:t>
            </a:r>
            <a:endParaRPr kumimoji="0" lang="en-US"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3"/>
              </a:rPr>
              <a:t>http://grammar.yourdictionary.com/style-and-usage/sexist-language.html</a:t>
            </a:r>
            <a:endParaRPr kumimoji="0" lang="en-US"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4"/>
              </a:rPr>
              <a:t>https://msu.edu/course/be/485/bewritingguideV2.0.pdf</a:t>
            </a:r>
            <a:endParaRPr kumimoji="0" lang="en-US" sz="1200" b="0" i="0" u="none" strike="noStrike" kern="0" cap="none" spc="0" normalizeH="0" baseline="0" noProof="0" dirty="0">
              <a:ln>
                <a:noFill/>
              </a:ln>
              <a:solidFill>
                <a:sysClr val="windowText" lastClr="000000"/>
              </a:solidFill>
              <a:effectLst/>
              <a:uLnTx/>
              <a:uFillTx/>
            </a:endParaRPr>
          </a:p>
          <a:p>
            <a:pPr marL="171450" lvl="0" indent="-171450">
              <a:buFontTx/>
              <a:buChar char="-"/>
              <a:defRPr/>
            </a:pPr>
            <a:r>
              <a:rPr lang="en-US" sz="1200" kern="0" dirty="0">
                <a:solidFill>
                  <a:sysClr val="windowText" lastClr="000000"/>
                </a:solidFill>
              </a:rPr>
              <a:t>D. F. Beer and D. A. </a:t>
            </a:r>
            <a:r>
              <a:rPr lang="en-US" sz="1200" kern="0" dirty="0" err="1">
                <a:solidFill>
                  <a:sysClr val="windowText" lastClr="000000"/>
                </a:solidFill>
              </a:rPr>
              <a:t>McMurrey</a:t>
            </a:r>
            <a:r>
              <a:rPr lang="en-US" sz="1200" kern="0" dirty="0">
                <a:solidFill>
                  <a:sysClr val="windowText" lastClr="000000"/>
                </a:solidFill>
              </a:rPr>
              <a:t>, A Guide to Writing as an Engineer, 4th ed. New York: Wiley Publications, 2014. </a:t>
            </a:r>
          </a:p>
          <a:p>
            <a:pPr marL="171450" lvl="0" indent="-171450">
              <a:buFontTx/>
              <a:buChar char="-"/>
              <a:defRPr/>
            </a:pPr>
            <a:endParaRPr kumimoji="0" lang="en-US" sz="12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26052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E9A8198-B36E-4E8C-B56F-5CE897E27388}" type="slidenum">
              <a:rPr lang="en-US" smtClean="0"/>
              <a:pPr/>
              <a:t>2</a:t>
            </a:fld>
            <a:endParaRPr lang="en-US"/>
          </a:p>
        </p:txBody>
      </p:sp>
      <p:sp>
        <p:nvSpPr>
          <p:cNvPr id="6" name="Content Placeholder 5"/>
          <p:cNvSpPr>
            <a:spLocks noGrp="1"/>
          </p:cNvSpPr>
          <p:nvPr>
            <p:ph idx="1"/>
          </p:nvPr>
        </p:nvSpPr>
        <p:spPr>
          <a:xfrm>
            <a:off x="228600" y="457200"/>
            <a:ext cx="8229600" cy="2862322"/>
          </a:xfrm>
          <a:prstGeom prst="rect">
            <a:avLst/>
          </a:prstGeom>
        </p:spPr>
        <p:txBody>
          <a:bodyPr wrap="square">
            <a:spAutoFit/>
          </a:bodyPr>
          <a:lstStyle/>
          <a:p>
            <a:r>
              <a:rPr lang="en-US" sz="1200" b="1" dirty="0"/>
              <a:t>References: </a:t>
            </a:r>
          </a:p>
          <a:p>
            <a:r>
              <a:rPr lang="en-US" sz="1200" dirty="0"/>
              <a:t>S. M. Gerson, </a:t>
            </a:r>
            <a:r>
              <a:rPr lang="en-US" sz="1200" i="1" dirty="0"/>
              <a:t>A Teacher’s Guide to Technical Writing. </a:t>
            </a:r>
            <a:r>
              <a:rPr lang="en-US" sz="1200" dirty="0"/>
              <a:t>Kansas Curriculum Center, Washburn University, </a:t>
            </a:r>
            <a:r>
              <a:rPr lang="en-US" sz="1200" dirty="0">
                <a:hlinkClick r:id="rId2"/>
              </a:rPr>
              <a:t>http://toefl.uobabylon.edu.iq/papers/itp_2015_41931767.pdf</a:t>
            </a:r>
            <a:endParaRPr lang="en-US" sz="1200" dirty="0"/>
          </a:p>
          <a:p>
            <a:r>
              <a:rPr lang="en-US" sz="1200" dirty="0"/>
              <a:t>D. F. Beer and D. A. </a:t>
            </a:r>
            <a:r>
              <a:rPr lang="en-US" sz="1200" dirty="0" err="1"/>
              <a:t>McMurrey</a:t>
            </a:r>
            <a:r>
              <a:rPr lang="en-US" sz="1200" dirty="0"/>
              <a:t>, </a:t>
            </a:r>
            <a:r>
              <a:rPr lang="en-US" sz="1200" i="1" dirty="0"/>
              <a:t>A Guide to Writing as an Engineer</a:t>
            </a:r>
            <a:r>
              <a:rPr lang="en-US" sz="1200" dirty="0"/>
              <a:t>, 4th ed. New York: Wiley Publications, 2014.</a:t>
            </a:r>
          </a:p>
          <a:p>
            <a:r>
              <a:rPr lang="en-US" sz="1200" dirty="0"/>
              <a:t>“Characteristics of Technical Writing,” </a:t>
            </a:r>
            <a:r>
              <a:rPr lang="en-US" sz="1200" dirty="0">
                <a:hlinkClick r:id="rId3"/>
              </a:rPr>
              <a:t>http://upcp.ece.gatech.edu/docs/curriculum/Characteristics_of_Technical_Writing.pdf</a:t>
            </a:r>
            <a:endParaRPr lang="en-US" sz="1200" dirty="0"/>
          </a:p>
          <a:p>
            <a:r>
              <a:rPr lang="en-US" sz="1200" dirty="0"/>
              <a:t>G. Youssef  and V. </a:t>
            </a:r>
            <a:r>
              <a:rPr lang="en-US" sz="1200" dirty="0" err="1"/>
              <a:t>Durgesh</a:t>
            </a:r>
            <a:r>
              <a:rPr lang="en-US" sz="1200" dirty="0"/>
              <a:t>, “Technical Writing,” Mechanical Engineering Department, California State University Northridge, </a:t>
            </a:r>
            <a:r>
              <a:rPr lang="en-US" sz="1200" dirty="0">
                <a:hlinkClick r:id="rId4"/>
              </a:rPr>
              <a:t>http://www.ecs.csun.edu/asme/Technical_Writing_11-12-2014.pdf</a:t>
            </a:r>
            <a:endParaRPr lang="en-US" sz="1200" dirty="0"/>
          </a:p>
          <a:p>
            <a:r>
              <a:rPr lang="en-US" sz="1200" dirty="0"/>
              <a:t>N. Kelley, “Sentence Structure of Technical Writing.” Program in Writing and Humanistic Studies at MIT.</a:t>
            </a:r>
          </a:p>
          <a:p>
            <a:endParaRPr lang="en-US" sz="1200" dirty="0"/>
          </a:p>
          <a:p>
            <a:endParaRPr lang="en-US" sz="1200" dirty="0"/>
          </a:p>
          <a:p>
            <a:endParaRPr lang="en-US" sz="1200" dirty="0"/>
          </a:p>
          <a:p>
            <a:endParaRPr lang="en-US" sz="1200" dirty="0"/>
          </a:p>
          <a:p>
            <a:r>
              <a:rPr lang="en-US" sz="1200" b="1" dirty="0"/>
              <a:t>Note: Texts in PPT slides are directly from reading materials.</a:t>
            </a:r>
          </a:p>
        </p:txBody>
      </p:sp>
    </p:spTree>
    <p:extLst>
      <p:ext uri="{BB962C8B-B14F-4D97-AF65-F5344CB8AC3E}">
        <p14:creationId xmlns:p14="http://schemas.microsoft.com/office/powerpoint/2010/main" val="4253341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839200" cy="6400800"/>
          </a:xfrm>
        </p:spPr>
        <p:txBody>
          <a:bodyPr>
            <a:normAutofit fontScale="92500"/>
          </a:bodyPr>
          <a:lstStyle/>
          <a:p>
            <a:r>
              <a:rPr lang="en-US" dirty="0"/>
              <a:t>Two relatively recent trends make communication skills even more vital to the engineering profession: </a:t>
            </a:r>
          </a:p>
          <a:p>
            <a:endParaRPr lang="en-US" dirty="0"/>
          </a:p>
          <a:p>
            <a:pPr marL="0" indent="0">
              <a:buNone/>
            </a:pPr>
            <a:r>
              <a:rPr lang="en-US" dirty="0"/>
              <a:t>     </a:t>
            </a:r>
            <a:r>
              <a:rPr lang="en-US" b="1" dirty="0">
                <a:solidFill>
                  <a:srgbClr val="C00000"/>
                </a:solidFill>
              </a:rPr>
              <a:t>A) Specialization</a:t>
            </a:r>
          </a:p>
          <a:p>
            <a:pPr marL="0" indent="0">
              <a:buNone/>
            </a:pPr>
            <a:r>
              <a:rPr lang="en-US" dirty="0"/>
              <a:t>	Due to the advancement and specialization of 	technology, engineers are finding it increasingly 	difficult to communicate with one another. </a:t>
            </a:r>
          </a:p>
          <a:p>
            <a:pPr lvl="1"/>
            <a:endParaRPr lang="en-US" dirty="0"/>
          </a:p>
          <a:p>
            <a:pPr marL="457200" lvl="1" indent="0">
              <a:buNone/>
            </a:pPr>
            <a:r>
              <a:rPr lang="en-US" sz="3200" b="1" dirty="0">
                <a:solidFill>
                  <a:srgbClr val="C00000"/>
                </a:solidFill>
              </a:rPr>
              <a:t>B) Accountability </a:t>
            </a:r>
          </a:p>
          <a:p>
            <a:pPr marL="457200" lvl="1" indent="0">
              <a:buNone/>
            </a:pPr>
            <a:r>
              <a:rPr lang="en-US" dirty="0"/>
              <a:t>Because engineers and their companies are now held much more accountable by the public, engineers must also be able to communicate with government, news media, and the general public. </a:t>
            </a:r>
          </a:p>
        </p:txBody>
      </p:sp>
    </p:spTree>
    <p:extLst>
      <p:ext uri="{BB962C8B-B14F-4D97-AF65-F5344CB8AC3E}">
        <p14:creationId xmlns:p14="http://schemas.microsoft.com/office/powerpoint/2010/main" val="4011002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393202"/>
            <a:ext cx="8077200" cy="3458935"/>
          </a:xfrm>
        </p:spPr>
        <p:txBody>
          <a:bodyPr/>
          <a:lstStyle/>
          <a:p>
            <a:r>
              <a:rPr lang="en-US" dirty="0"/>
              <a:t>In written communication, we are primarily concerned with:</a:t>
            </a:r>
          </a:p>
          <a:p>
            <a:pPr lvl="2"/>
            <a:r>
              <a:rPr lang="en-US" sz="4000" dirty="0"/>
              <a:t> syntactic (grammar), </a:t>
            </a:r>
          </a:p>
          <a:p>
            <a:pPr lvl="2"/>
            <a:r>
              <a:rPr lang="en-US" sz="4000" dirty="0"/>
              <a:t>semantic (word meanings), and</a:t>
            </a:r>
          </a:p>
          <a:p>
            <a:pPr lvl="2"/>
            <a:r>
              <a:rPr lang="en-US" sz="4000" dirty="0"/>
              <a:t>organizational noise.</a:t>
            </a:r>
          </a:p>
        </p:txBody>
      </p:sp>
      <p:sp>
        <p:nvSpPr>
          <p:cNvPr id="6" name="Rectangle 5"/>
          <p:cNvSpPr/>
          <p:nvPr/>
        </p:nvSpPr>
        <p:spPr>
          <a:xfrm>
            <a:off x="0" y="128408"/>
            <a:ext cx="5562600" cy="1569660"/>
          </a:xfrm>
          <a:prstGeom prst="rect">
            <a:avLst/>
          </a:prstGeom>
          <a:ln w="12700">
            <a:solidFill>
              <a:schemeClr val="accent1"/>
            </a:solidFill>
          </a:ln>
        </p:spPr>
        <p:txBody>
          <a:bodyPr wrap="square">
            <a:spAutoFit/>
          </a:bodyPr>
          <a:lstStyle/>
          <a:p>
            <a:r>
              <a:rPr lang="en-US" sz="2400" dirty="0"/>
              <a:t>No concentration? Why?</a:t>
            </a:r>
          </a:p>
          <a:p>
            <a:endParaRPr lang="en-US" sz="2400" dirty="0"/>
          </a:p>
          <a:p>
            <a:r>
              <a:rPr lang="en-US" sz="2400" dirty="0"/>
              <a:t>You are experiencing </a:t>
            </a:r>
            <a:r>
              <a:rPr lang="en-US" sz="2400" b="1" u="sng" dirty="0">
                <a:solidFill>
                  <a:srgbClr val="FF0000"/>
                </a:solidFill>
              </a:rPr>
              <a:t>noise</a:t>
            </a:r>
            <a:r>
              <a:rPr lang="en-US" sz="2400" dirty="0"/>
              <a:t> interference with the </a:t>
            </a:r>
            <a:r>
              <a:rPr lang="en-US" sz="2400" b="1" i="1" dirty="0"/>
              <a:t>transmission of information</a:t>
            </a:r>
            <a:r>
              <a:rPr lang="en-US" sz="2400" dirty="0"/>
              <a:t>. </a:t>
            </a:r>
          </a:p>
        </p:txBody>
      </p:sp>
      <p:pic>
        <p:nvPicPr>
          <p:cNvPr id="7" name="Picture 6"/>
          <p:cNvPicPr>
            <a:picLocks noChangeAspect="1"/>
          </p:cNvPicPr>
          <p:nvPr/>
        </p:nvPicPr>
        <p:blipFill>
          <a:blip r:embed="rId2" cstate="print"/>
          <a:stretch>
            <a:fillRect/>
          </a:stretch>
        </p:blipFill>
        <p:spPr>
          <a:xfrm>
            <a:off x="5388539" y="0"/>
            <a:ext cx="3755461" cy="1798476"/>
          </a:xfrm>
          <a:prstGeom prst="rect">
            <a:avLst/>
          </a:prstGeom>
        </p:spPr>
      </p:pic>
      <p:pic>
        <p:nvPicPr>
          <p:cNvPr id="1028" name="Picture 4" descr="http://ajslp.pubs.asha.org/data/Journals/AJSLP/935673/AJSLP-15-0081Eadie_featimage.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4831" y="1365891"/>
            <a:ext cx="1730337" cy="8651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2250202"/>
            <a:ext cx="9144000" cy="1143000"/>
          </a:xfrm>
          <a:solidFill>
            <a:schemeClr val="accent6">
              <a:lumMod val="20000"/>
              <a:lumOff val="80000"/>
            </a:schemeClr>
          </a:solidFill>
          <a:ln w="12700">
            <a:solidFill>
              <a:schemeClr val="accent1"/>
            </a:solidFill>
          </a:ln>
        </p:spPr>
        <p:txBody>
          <a:bodyPr>
            <a:normAutofit/>
          </a:bodyPr>
          <a:lstStyle/>
          <a:p>
            <a:r>
              <a:rPr lang="en-US" sz="2800" b="1" dirty="0"/>
              <a:t>NOISE AND THE COMMUNICATION  PROCESS</a:t>
            </a:r>
          </a:p>
        </p:txBody>
      </p:sp>
    </p:spTree>
    <p:extLst>
      <p:ext uri="{BB962C8B-B14F-4D97-AF65-F5344CB8AC3E}">
        <p14:creationId xmlns:p14="http://schemas.microsoft.com/office/powerpoint/2010/main" val="3399784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noChangeAspect="1"/>
          </p:cNvGrpSpPr>
          <p:nvPr/>
        </p:nvGrpSpPr>
        <p:grpSpPr bwMode="auto">
          <a:xfrm>
            <a:off x="74613" y="1295400"/>
            <a:ext cx="9075737" cy="2209800"/>
            <a:chOff x="47" y="816"/>
            <a:chExt cx="5717" cy="1392"/>
          </a:xfrm>
        </p:grpSpPr>
        <p:sp>
          <p:nvSpPr>
            <p:cNvPr id="5" name="AutoShape 3"/>
            <p:cNvSpPr>
              <a:spLocks noChangeAspect="1" noChangeArrowheads="1" noTextEdit="1"/>
            </p:cNvSpPr>
            <p:nvPr/>
          </p:nvSpPr>
          <p:spPr bwMode="auto">
            <a:xfrm>
              <a:off x="47" y="816"/>
              <a:ext cx="5717"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 y="816"/>
              <a:ext cx="5722" cy="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itle 1"/>
          <p:cNvSpPr>
            <a:spLocks noGrp="1"/>
          </p:cNvSpPr>
          <p:nvPr>
            <p:ph type="title"/>
          </p:nvPr>
        </p:nvSpPr>
        <p:spPr/>
        <p:txBody>
          <a:bodyPr/>
          <a:lstStyle/>
          <a:p>
            <a:r>
              <a:rPr lang="en-US" b="1" dirty="0">
                <a:solidFill>
                  <a:schemeClr val="accent6">
                    <a:lumMod val="50000"/>
                  </a:schemeClr>
                </a:solidFill>
              </a:rPr>
              <a:t>Noise</a:t>
            </a:r>
          </a:p>
        </p:txBody>
      </p:sp>
      <p:sp>
        <p:nvSpPr>
          <p:cNvPr id="7" name="Rectangular Callout 6"/>
          <p:cNvSpPr/>
          <p:nvPr/>
        </p:nvSpPr>
        <p:spPr>
          <a:xfrm rot="10800000" flipV="1">
            <a:off x="1143000" y="3886200"/>
            <a:ext cx="1371600" cy="639762"/>
          </a:xfrm>
          <a:prstGeom prst="wedgeRectCallout">
            <a:avLst>
              <a:gd name="adj1" fmla="val -33005"/>
              <a:gd name="adj2" fmla="val -2466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Sender</a:t>
            </a:r>
          </a:p>
        </p:txBody>
      </p:sp>
      <p:sp>
        <p:nvSpPr>
          <p:cNvPr id="9" name="Rectangular Callout 8"/>
          <p:cNvSpPr/>
          <p:nvPr/>
        </p:nvSpPr>
        <p:spPr>
          <a:xfrm rot="10800000" flipV="1">
            <a:off x="2438400" y="4827714"/>
            <a:ext cx="2971800" cy="887286"/>
          </a:xfrm>
          <a:prstGeom prst="wedgeRectCallout">
            <a:avLst>
              <a:gd name="adj1" fmla="val -17240"/>
              <a:gd name="adj2" fmla="val -28970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Speech,  writing, other conventional set of signs..</a:t>
            </a:r>
          </a:p>
        </p:txBody>
      </p:sp>
      <p:sp>
        <p:nvSpPr>
          <p:cNvPr id="10" name="Rectangular Callout 9"/>
          <p:cNvSpPr/>
          <p:nvPr/>
        </p:nvSpPr>
        <p:spPr>
          <a:xfrm rot="10800000" flipV="1">
            <a:off x="74537" y="3107595"/>
            <a:ext cx="1371600" cy="397605"/>
          </a:xfrm>
          <a:prstGeom prst="wedgeRectCallout">
            <a:avLst>
              <a:gd name="adj1" fmla="val -27022"/>
              <a:gd name="adj2" fmla="val -15815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Signal</a:t>
            </a:r>
          </a:p>
        </p:txBody>
      </p:sp>
      <p:sp>
        <p:nvSpPr>
          <p:cNvPr id="3" name="Rectangle 2"/>
          <p:cNvSpPr/>
          <p:nvPr/>
        </p:nvSpPr>
        <p:spPr>
          <a:xfrm>
            <a:off x="1981200" y="1403640"/>
            <a:ext cx="5105400" cy="18589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ular Callout 10"/>
          <p:cNvSpPr/>
          <p:nvPr/>
        </p:nvSpPr>
        <p:spPr>
          <a:xfrm rot="10800000" flipV="1">
            <a:off x="5943600" y="4158644"/>
            <a:ext cx="1600200" cy="639762"/>
          </a:xfrm>
          <a:prstGeom prst="wedgeRectCallout">
            <a:avLst>
              <a:gd name="adj1" fmla="val -5289"/>
              <a:gd name="adj2" fmla="val -288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Receiver</a:t>
            </a:r>
          </a:p>
        </p:txBody>
      </p:sp>
    </p:spTree>
    <p:extLst>
      <p:ext uri="{BB962C8B-B14F-4D97-AF65-F5344CB8AC3E}">
        <p14:creationId xmlns:p14="http://schemas.microsoft.com/office/powerpoint/2010/main" val="818606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398" y="795630"/>
            <a:ext cx="9029699" cy="5349875"/>
          </a:xfrm>
        </p:spPr>
        <p:txBody>
          <a:bodyPr>
            <a:noAutofit/>
          </a:bodyPr>
          <a:lstStyle/>
          <a:p>
            <a:r>
              <a:rPr lang="en-US" dirty="0"/>
              <a:t>When they bought the machine, they </a:t>
            </a:r>
            <a:r>
              <a:rPr lang="en-US" dirty="0" err="1"/>
              <a:t>werent</a:t>
            </a:r>
            <a:r>
              <a:rPr lang="en-US" dirty="0"/>
              <a:t> aware of it’s shortcomings.</a:t>
            </a:r>
          </a:p>
          <a:p>
            <a:r>
              <a:rPr lang="en-US" dirty="0"/>
              <a:t>They were under the allusion that the project could be completed in six weeks.</a:t>
            </a:r>
          </a:p>
          <a:p>
            <a:r>
              <a:rPr lang="en-US" dirty="0"/>
              <a:t>There was not a sufficient enough number of samples to validate the data.</a:t>
            </a:r>
          </a:p>
          <a:p>
            <a:r>
              <a:rPr lang="en-US" dirty="0"/>
              <a:t>Our intention is to implement the verification of the reliability of the system in the near future.</a:t>
            </a:r>
          </a:p>
        </p:txBody>
      </p:sp>
      <p:sp>
        <p:nvSpPr>
          <p:cNvPr id="6" name="Rectangle 5"/>
          <p:cNvSpPr/>
          <p:nvPr/>
        </p:nvSpPr>
        <p:spPr>
          <a:xfrm>
            <a:off x="68710" y="97302"/>
            <a:ext cx="3848100" cy="646331"/>
          </a:xfrm>
          <a:prstGeom prst="rect">
            <a:avLst/>
          </a:prstGeom>
          <a:solidFill>
            <a:schemeClr val="accent6">
              <a:lumMod val="20000"/>
              <a:lumOff val="80000"/>
            </a:schemeClr>
          </a:solidFill>
        </p:spPr>
        <p:txBody>
          <a:bodyPr wrap="square">
            <a:spAutoFit/>
          </a:bodyPr>
          <a:lstStyle/>
          <a:p>
            <a:r>
              <a:rPr lang="en-US" sz="3600" b="1" dirty="0">
                <a:solidFill>
                  <a:schemeClr val="accent6">
                    <a:lumMod val="50000"/>
                  </a:schemeClr>
                </a:solidFill>
              </a:rPr>
              <a:t>Noisy sentences</a:t>
            </a:r>
          </a:p>
        </p:txBody>
      </p:sp>
      <p:sp>
        <p:nvSpPr>
          <p:cNvPr id="8" name="Oval 7"/>
          <p:cNvSpPr/>
          <p:nvPr/>
        </p:nvSpPr>
        <p:spPr>
          <a:xfrm>
            <a:off x="6376436" y="795630"/>
            <a:ext cx="1219200" cy="60960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62000" y="1381786"/>
            <a:ext cx="685800" cy="4572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810000" y="1905000"/>
            <a:ext cx="15240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147482" y="2908779"/>
            <a:ext cx="2895600" cy="7733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79914" y="3892956"/>
            <a:ext cx="8610600" cy="14768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41782" y="5329639"/>
            <a:ext cx="8720668" cy="523220"/>
          </a:xfrm>
          <a:prstGeom prst="rect">
            <a:avLst/>
          </a:prstGeom>
        </p:spPr>
        <p:txBody>
          <a:bodyPr wrap="square">
            <a:spAutoFit/>
          </a:bodyPr>
          <a:lstStyle/>
          <a:p>
            <a:pPr marL="457200" indent="-457200">
              <a:buFont typeface="Arial" panose="020B0604020202020204" pitchFamily="34" charset="0"/>
              <a:buChar char="•"/>
            </a:pPr>
            <a:r>
              <a:rPr lang="en-US" sz="2800" b="1" dirty="0"/>
              <a:t>There were not enough samples to validate the data</a:t>
            </a:r>
          </a:p>
        </p:txBody>
      </p:sp>
      <p:sp>
        <p:nvSpPr>
          <p:cNvPr id="14" name="Rectangle 13"/>
          <p:cNvSpPr/>
          <p:nvPr/>
        </p:nvSpPr>
        <p:spPr>
          <a:xfrm>
            <a:off x="289982" y="5931801"/>
            <a:ext cx="7767319" cy="523220"/>
          </a:xfrm>
          <a:prstGeom prst="rect">
            <a:avLst/>
          </a:prstGeom>
        </p:spPr>
        <p:txBody>
          <a:bodyPr wrap="none">
            <a:spAutoFit/>
          </a:bodyPr>
          <a:lstStyle/>
          <a:p>
            <a:pPr marL="457200" indent="-457200">
              <a:buFont typeface="Arial" panose="020B0604020202020204" pitchFamily="34" charset="0"/>
              <a:buChar char="•"/>
            </a:pPr>
            <a:r>
              <a:rPr lang="en-US" sz="2800" b="1" dirty="0"/>
              <a:t>We want to verify the system’s reliability soon.</a:t>
            </a:r>
          </a:p>
        </p:txBody>
      </p:sp>
    </p:spTree>
    <p:extLst>
      <p:ext uri="{BB962C8B-B14F-4D97-AF65-F5344CB8AC3E}">
        <p14:creationId xmlns:p14="http://schemas.microsoft.com/office/powerpoint/2010/main" val="73252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74143"/>
            <a:ext cx="9144000" cy="5783857"/>
          </a:xfrm>
        </p:spPr>
        <p:txBody>
          <a:bodyPr>
            <a:noAutofit/>
          </a:bodyPr>
          <a:lstStyle/>
          <a:p>
            <a:r>
              <a:rPr lang="en-US" sz="2400" dirty="0">
                <a:solidFill>
                  <a:srgbClr val="000000"/>
                </a:solidFill>
                <a:effectLst/>
                <a:latin typeface="Times New Roman" panose="02020603050405020304" pitchFamily="18" charset="0"/>
                <a:ea typeface="Times New Roman" panose="02020603050405020304" pitchFamily="18" charset="0"/>
              </a:rPr>
              <a:t>Executive Summary  </a:t>
            </a:r>
            <a:r>
              <a:rPr lang="en-US" sz="2400" i="1" dirty="0">
                <a:solidFill>
                  <a:srgbClr val="000000"/>
                </a:solidFill>
                <a:effectLst/>
                <a:latin typeface="Times New Roman" panose="02020603050405020304" pitchFamily="18" charset="0"/>
                <a:ea typeface="Times New Roman" panose="02020603050405020304" pitchFamily="18" charset="0"/>
              </a:rPr>
              <a:t>(from 3 years ago)</a:t>
            </a:r>
          </a:p>
          <a:p>
            <a:endParaRPr lang="en-US" sz="1800" dirty="0">
              <a:solidFill>
                <a:srgbClr val="000000"/>
              </a:solidFill>
              <a:latin typeface="Times New Roman" panose="02020603050405020304" pitchFamily="18" charset="0"/>
              <a:ea typeface="Times New Roman" panose="02020603050405020304" pitchFamily="18" charset="0"/>
            </a:endParaRPr>
          </a:p>
          <a:p>
            <a:endParaRPr lang="en-US" sz="1800" dirty="0">
              <a:solidFill>
                <a:srgbClr val="000000"/>
              </a:solidFill>
              <a:effectLst/>
              <a:latin typeface="Times New Roman" panose="02020603050405020304" pitchFamily="18" charset="0"/>
              <a:ea typeface="Times New Roman" panose="02020603050405020304" pitchFamily="18" charset="0"/>
            </a:endParaRPr>
          </a:p>
          <a:p>
            <a:r>
              <a:rPr lang="en-US" sz="2800" dirty="0"/>
              <a:t>The Pick and Place robot </a:t>
            </a:r>
            <a:r>
              <a:rPr lang="en-US" sz="2800" dirty="0">
                <a:highlight>
                  <a:srgbClr val="FFFF00"/>
                </a:highlight>
              </a:rPr>
              <a:t>is </a:t>
            </a:r>
            <a:r>
              <a:rPr lang="en-US" sz="2800" dirty="0"/>
              <a:t>a smart machine </a:t>
            </a:r>
            <a:r>
              <a:rPr lang="en-US" sz="2800" dirty="0">
                <a:highlight>
                  <a:srgbClr val="FFFF00"/>
                </a:highlight>
              </a:rPr>
              <a:t>is</a:t>
            </a:r>
            <a:r>
              <a:rPr lang="en-US" sz="2800" dirty="0"/>
              <a:t> designed for great changes and advantage to our life. Many problems have been </a:t>
            </a:r>
            <a:r>
              <a:rPr lang="en-US" sz="2800" dirty="0">
                <a:highlight>
                  <a:srgbClr val="FFFF00"/>
                </a:highlight>
              </a:rPr>
              <a:t>solved by robot our life quality </a:t>
            </a:r>
            <a:r>
              <a:rPr lang="en-US" sz="2800" dirty="0"/>
              <a:t>has been elevated to a level that our ancestors may have never dreamed of. A robot can work 24 hours a day </a:t>
            </a:r>
            <a:r>
              <a:rPr lang="en-US" sz="2800" dirty="0">
                <a:highlight>
                  <a:srgbClr val="FFFF00"/>
                </a:highlight>
              </a:rPr>
              <a:t>for year on </a:t>
            </a:r>
            <a:r>
              <a:rPr lang="en-US" sz="2800" dirty="0"/>
              <a:t>end with no failures whatsoever. </a:t>
            </a:r>
            <a:r>
              <a:rPr lang="en-US" sz="2800" dirty="0">
                <a:highlight>
                  <a:srgbClr val="FFFF00"/>
                </a:highlight>
              </a:rPr>
              <a:t>Though it is reprogrammable, in many app. It is programmed once and then repeat that exact same task for years.</a:t>
            </a:r>
          </a:p>
        </p:txBody>
      </p:sp>
      <p:sp>
        <p:nvSpPr>
          <p:cNvPr id="5" name="Slide Number Placeholder 4"/>
          <p:cNvSpPr>
            <a:spLocks noGrp="1"/>
          </p:cNvSpPr>
          <p:nvPr>
            <p:ph type="sldNum" sz="quarter" idx="12"/>
          </p:nvPr>
        </p:nvSpPr>
        <p:spPr/>
        <p:txBody>
          <a:bodyPr/>
          <a:lstStyle/>
          <a:p>
            <a:endParaRPr lang="en-US" dirty="0"/>
          </a:p>
        </p:txBody>
      </p:sp>
      <p:sp>
        <p:nvSpPr>
          <p:cNvPr id="6" name="Rectangle 5"/>
          <p:cNvSpPr/>
          <p:nvPr/>
        </p:nvSpPr>
        <p:spPr>
          <a:xfrm>
            <a:off x="228600" y="150813"/>
            <a:ext cx="2611933" cy="707886"/>
          </a:xfrm>
          <a:prstGeom prst="rect">
            <a:avLst/>
          </a:prstGeom>
          <a:solidFill>
            <a:schemeClr val="accent6">
              <a:lumMod val="20000"/>
              <a:lumOff val="80000"/>
            </a:schemeClr>
          </a:solidFill>
        </p:spPr>
        <p:txBody>
          <a:bodyPr wrap="none">
            <a:spAutoFit/>
          </a:bodyPr>
          <a:lstStyle/>
          <a:p>
            <a:r>
              <a:rPr lang="en-US" sz="4000" b="1" dirty="0"/>
              <a:t>More noise</a:t>
            </a:r>
          </a:p>
        </p:txBody>
      </p:sp>
    </p:spTree>
    <p:extLst>
      <p:ext uri="{BB962C8B-B14F-4D97-AF65-F5344CB8AC3E}">
        <p14:creationId xmlns:p14="http://schemas.microsoft.com/office/powerpoint/2010/main" val="2003640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2286000"/>
          </a:xfrm>
        </p:spPr>
        <p:txBody>
          <a:bodyPr>
            <a:normAutofit fontScale="92500" lnSpcReduction="20000"/>
          </a:bodyPr>
          <a:lstStyle/>
          <a:p>
            <a:endParaRPr lang="en-US" dirty="0"/>
          </a:p>
          <a:p>
            <a:endParaRPr lang="en-US" dirty="0"/>
          </a:p>
          <a:p>
            <a:r>
              <a:rPr lang="en-US" dirty="0"/>
              <a:t>In engineering writing, anything causing a reader to hesitate — whether in uncertainty, frustration, or even unintended amusement — is noise.</a:t>
            </a:r>
          </a:p>
        </p:txBody>
      </p:sp>
      <p:sp>
        <p:nvSpPr>
          <p:cNvPr id="11" name="Arrow: Striped Right 10"/>
          <p:cNvSpPr/>
          <p:nvPr/>
        </p:nvSpPr>
        <p:spPr>
          <a:xfrm>
            <a:off x="3431765" y="2663000"/>
            <a:ext cx="1140235" cy="653735"/>
          </a:xfrm>
          <a:prstGeom prst="stripedRightArrow">
            <a:avLst>
              <a:gd name="adj1" fmla="val 63020"/>
              <a:gd name="adj2" fmla="val 3915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Striped Right 13"/>
          <p:cNvSpPr/>
          <p:nvPr/>
        </p:nvSpPr>
        <p:spPr>
          <a:xfrm rot="8440479">
            <a:off x="5537318" y="3978031"/>
            <a:ext cx="1046672" cy="713231"/>
          </a:xfrm>
          <a:prstGeom prst="stripedRightArrow">
            <a:avLst>
              <a:gd name="adj1" fmla="val 63020"/>
              <a:gd name="adj2" fmla="val 3915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566106" y="4894045"/>
            <a:ext cx="1718286" cy="88664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Revising</a:t>
            </a:r>
          </a:p>
        </p:txBody>
      </p:sp>
      <p:sp>
        <p:nvSpPr>
          <p:cNvPr id="17" name="Arrow: Striped Right 16"/>
          <p:cNvSpPr/>
          <p:nvPr/>
        </p:nvSpPr>
        <p:spPr>
          <a:xfrm rot="13942671">
            <a:off x="2433786" y="4376143"/>
            <a:ext cx="1215437" cy="713231"/>
          </a:xfrm>
          <a:prstGeom prst="stripedRightArrow">
            <a:avLst>
              <a:gd name="adj1" fmla="val 63020"/>
              <a:gd name="adj2" fmla="val 39150"/>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708957" y="2922606"/>
            <a:ext cx="1674495" cy="92108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Planning/</a:t>
            </a:r>
          </a:p>
          <a:p>
            <a:pPr algn="ctr"/>
            <a:r>
              <a:rPr lang="en-US" sz="2400" b="1" dirty="0">
                <a:solidFill>
                  <a:srgbClr val="C00000"/>
                </a:solidFill>
              </a:rPr>
              <a:t>Rethinking</a:t>
            </a:r>
          </a:p>
        </p:txBody>
      </p:sp>
      <p:sp>
        <p:nvSpPr>
          <p:cNvPr id="19" name="Rectangle 18"/>
          <p:cNvSpPr/>
          <p:nvPr/>
        </p:nvSpPr>
        <p:spPr>
          <a:xfrm>
            <a:off x="4903332" y="2922606"/>
            <a:ext cx="1807799" cy="88492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Writing</a:t>
            </a:r>
          </a:p>
        </p:txBody>
      </p:sp>
      <p:sp>
        <p:nvSpPr>
          <p:cNvPr id="33" name="Rectangle 32"/>
          <p:cNvSpPr/>
          <p:nvPr/>
        </p:nvSpPr>
        <p:spPr>
          <a:xfrm>
            <a:off x="2209800" y="3858225"/>
            <a:ext cx="990600" cy="35098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rPr>
              <a:t>Noise Filter</a:t>
            </a:r>
          </a:p>
        </p:txBody>
      </p:sp>
      <p:sp>
        <p:nvSpPr>
          <p:cNvPr id="34" name="Rectangle 33"/>
          <p:cNvSpPr/>
          <p:nvPr/>
        </p:nvSpPr>
        <p:spPr>
          <a:xfrm rot="5400000">
            <a:off x="4232541" y="2931822"/>
            <a:ext cx="990600" cy="35098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rPr>
              <a:t>Noise Filter</a:t>
            </a:r>
          </a:p>
        </p:txBody>
      </p:sp>
      <p:sp>
        <p:nvSpPr>
          <p:cNvPr id="35" name="Rectangle 34"/>
          <p:cNvSpPr/>
          <p:nvPr/>
        </p:nvSpPr>
        <p:spPr>
          <a:xfrm rot="5400000">
            <a:off x="4950804" y="4770992"/>
            <a:ext cx="990600" cy="35098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rPr>
              <a:t>Noise Filter</a:t>
            </a:r>
          </a:p>
        </p:txBody>
      </p:sp>
      <p:sp>
        <p:nvSpPr>
          <p:cNvPr id="4" name="TextBox 3">
            <a:extLst>
              <a:ext uri="{FF2B5EF4-FFF2-40B4-BE49-F238E27FC236}">
                <a16:creationId xmlns:a16="http://schemas.microsoft.com/office/drawing/2014/main" id="{119E0972-BD00-F791-0D9B-7CE5CDF967C6}"/>
              </a:ext>
            </a:extLst>
          </p:cNvPr>
          <p:cNvSpPr txBox="1"/>
          <p:nvPr/>
        </p:nvSpPr>
        <p:spPr>
          <a:xfrm>
            <a:off x="457200" y="131187"/>
            <a:ext cx="4455450" cy="707886"/>
          </a:xfrm>
          <a:prstGeom prst="rect">
            <a:avLst/>
          </a:prstGeom>
          <a:noFill/>
        </p:spPr>
        <p:txBody>
          <a:bodyPr wrap="none" rtlCol="0">
            <a:spAutoFit/>
          </a:bodyPr>
          <a:lstStyle/>
          <a:p>
            <a:r>
              <a:rPr lang="en-US" sz="4000" b="1" i="1" dirty="0">
                <a:solidFill>
                  <a:srgbClr val="C00000"/>
                </a:solidFill>
              </a:rPr>
              <a:t>Writing is a process </a:t>
            </a:r>
          </a:p>
        </p:txBody>
      </p:sp>
    </p:spTree>
    <p:extLst>
      <p:ext uri="{BB962C8B-B14F-4D97-AF65-F5344CB8AC3E}">
        <p14:creationId xmlns:p14="http://schemas.microsoft.com/office/powerpoint/2010/main" val="1258690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E9A8198-B36E-4E8C-B56F-5CE897E27388}" type="slidenum">
              <a:rPr lang="en-US" smtClean="0"/>
              <a:pPr/>
              <a:t>9</a:t>
            </a:fld>
            <a:endParaRPr lang="en-US"/>
          </a:p>
        </p:txBody>
      </p:sp>
      <p:pic>
        <p:nvPicPr>
          <p:cNvPr id="7" name="Picture 6"/>
          <p:cNvPicPr>
            <a:picLocks noChangeAspect="1"/>
          </p:cNvPicPr>
          <p:nvPr/>
        </p:nvPicPr>
        <p:blipFill>
          <a:blip r:embed="rId2" cstate="print">
            <a:lum bright="-2000" contrast="25000"/>
          </a:blip>
          <a:stretch>
            <a:fillRect/>
          </a:stretch>
        </p:blipFill>
        <p:spPr>
          <a:xfrm>
            <a:off x="240814" y="228600"/>
            <a:ext cx="8880095" cy="4213350"/>
          </a:xfrm>
          <a:prstGeom prst="rect">
            <a:avLst/>
          </a:prstGeom>
        </p:spPr>
      </p:pic>
      <p:sp>
        <p:nvSpPr>
          <p:cNvPr id="8" name="Rectangle 7"/>
          <p:cNvSpPr/>
          <p:nvPr/>
        </p:nvSpPr>
        <p:spPr>
          <a:xfrm>
            <a:off x="240814" y="4930558"/>
            <a:ext cx="8750786" cy="1200329"/>
          </a:xfrm>
          <a:prstGeom prst="rect">
            <a:avLst/>
          </a:prstGeom>
          <a:solidFill>
            <a:schemeClr val="accent3">
              <a:lumMod val="20000"/>
              <a:lumOff val="80000"/>
            </a:schemeClr>
          </a:solidFill>
        </p:spPr>
        <p:txBody>
          <a:bodyPr wrap="square">
            <a:spAutoFit/>
          </a:bodyPr>
          <a:lstStyle/>
          <a:p>
            <a:r>
              <a:rPr lang="en-US" sz="2400" b="1" dirty="0">
                <a:solidFill>
                  <a:srgbClr val="002060"/>
                </a:solidFill>
              </a:rPr>
              <a:t>How well the input is processed once it is in the system, i.e., how well you convey your information to others, will determine the impact of your message.</a:t>
            </a:r>
          </a:p>
        </p:txBody>
      </p:sp>
    </p:spTree>
    <p:extLst>
      <p:ext uri="{BB962C8B-B14F-4D97-AF65-F5344CB8AC3E}">
        <p14:creationId xmlns:p14="http://schemas.microsoft.com/office/powerpoint/2010/main" val="1927987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563562"/>
          </a:xfrm>
        </p:spPr>
        <p:txBody>
          <a:bodyPr>
            <a:normAutofit fontScale="90000"/>
          </a:bodyPr>
          <a:lstStyle/>
          <a:p>
            <a:pPr lvl="0">
              <a:spcBef>
                <a:spcPct val="20000"/>
              </a:spcBef>
            </a:pPr>
            <a:r>
              <a:rPr lang="en-US" sz="5400" dirty="0">
                <a:solidFill>
                  <a:prstClr val="black"/>
                </a:solidFill>
                <a:ea typeface="+mn-ea"/>
                <a:cs typeface="+mn-cs"/>
              </a:rPr>
              <a:t>What is technical writing?</a:t>
            </a:r>
            <a:br>
              <a:rPr lang="en-US" sz="5400" dirty="0">
                <a:solidFill>
                  <a:prstClr val="black"/>
                </a:solidFill>
                <a:ea typeface="+mn-ea"/>
                <a:cs typeface="+mn-cs"/>
              </a:rPr>
            </a:br>
            <a:endParaRPr lang="en-US" dirty="0"/>
          </a:p>
        </p:txBody>
      </p:sp>
      <p:sp>
        <p:nvSpPr>
          <p:cNvPr id="3" name="Content Placeholder 2"/>
          <p:cNvSpPr>
            <a:spLocks noGrp="1"/>
          </p:cNvSpPr>
          <p:nvPr>
            <p:ph idx="1"/>
          </p:nvPr>
        </p:nvSpPr>
        <p:spPr>
          <a:xfrm>
            <a:off x="228600" y="1295400"/>
            <a:ext cx="8763000" cy="5257800"/>
          </a:xfrm>
        </p:spPr>
        <p:txBody>
          <a:bodyPr>
            <a:normAutofit fontScale="40000" lnSpcReduction="20000"/>
          </a:bodyPr>
          <a:lstStyle/>
          <a:p>
            <a:r>
              <a:rPr lang="en-US" sz="6500" b="1" dirty="0"/>
              <a:t>Technical writing is </a:t>
            </a:r>
            <a:r>
              <a:rPr lang="en-US" sz="6500" b="1" u="sng" dirty="0">
                <a:solidFill>
                  <a:srgbClr val="FF0000"/>
                </a:solidFill>
              </a:rPr>
              <a:t>denotative</a:t>
            </a:r>
            <a:r>
              <a:rPr lang="en-US" sz="6500" b="1" dirty="0"/>
              <a:t>, not connotative.</a:t>
            </a:r>
          </a:p>
          <a:p>
            <a:endParaRPr lang="en-US" sz="6500" b="1" dirty="0"/>
          </a:p>
          <a:p>
            <a:pPr>
              <a:lnSpc>
                <a:spcPct val="170000"/>
              </a:lnSpc>
            </a:pPr>
            <a:r>
              <a:rPr lang="en-US" sz="6500" b="1" dirty="0"/>
              <a:t>Technical writing conveys </a:t>
            </a:r>
            <a:r>
              <a:rPr lang="en-US" sz="6500" b="1" dirty="0">
                <a:solidFill>
                  <a:srgbClr val="FF0000"/>
                </a:solidFill>
              </a:rPr>
              <a:t>specific information </a:t>
            </a:r>
            <a:r>
              <a:rPr lang="en-US" sz="6500" b="1" dirty="0"/>
              <a:t>about a </a:t>
            </a:r>
            <a:r>
              <a:rPr lang="en-US" sz="6500" b="1" dirty="0">
                <a:solidFill>
                  <a:srgbClr val="FF0000"/>
                </a:solidFill>
              </a:rPr>
              <a:t>technical subject </a:t>
            </a:r>
            <a:r>
              <a:rPr lang="en-US" sz="6500" b="1" dirty="0"/>
              <a:t>(a project, business, industry, etc.) to a </a:t>
            </a:r>
            <a:r>
              <a:rPr lang="en-US" sz="6500" b="1" dirty="0">
                <a:solidFill>
                  <a:srgbClr val="FF0000"/>
                </a:solidFill>
              </a:rPr>
              <a:t>specific audience </a:t>
            </a:r>
            <a:r>
              <a:rPr lang="en-US" sz="6500" b="1" dirty="0"/>
              <a:t>for a </a:t>
            </a:r>
            <a:r>
              <a:rPr lang="en-US" sz="6500" b="1" dirty="0">
                <a:solidFill>
                  <a:srgbClr val="FF0000"/>
                </a:solidFill>
              </a:rPr>
              <a:t>specific purpose</a:t>
            </a:r>
            <a:r>
              <a:rPr lang="en-US" sz="6500" b="1" dirty="0"/>
              <a:t>.</a:t>
            </a:r>
          </a:p>
          <a:p>
            <a:pPr marL="0" indent="0">
              <a:buNone/>
            </a:pPr>
            <a:endParaRPr lang="en-US" sz="6500" b="1" dirty="0"/>
          </a:p>
          <a:p>
            <a:r>
              <a:rPr lang="en-US" sz="6500" b="1" dirty="0"/>
              <a:t>Technical writing focuses on </a:t>
            </a:r>
            <a:r>
              <a:rPr lang="en-US" sz="6500" b="1" u="sng" dirty="0"/>
              <a:t>products</a:t>
            </a:r>
            <a:r>
              <a:rPr lang="en-US" sz="6500" b="1" dirty="0"/>
              <a:t> and </a:t>
            </a:r>
            <a:r>
              <a:rPr lang="en-US" sz="6500" b="1" u="sng" dirty="0"/>
              <a:t>services</a:t>
            </a:r>
            <a:r>
              <a:rPr lang="en-US" sz="6500" b="1" dirty="0"/>
              <a:t> and explains clearly how to manufacture them, market them, manage them, deliver them, and use them.</a:t>
            </a:r>
          </a:p>
          <a:p>
            <a:endParaRPr lang="en-US" dirty="0"/>
          </a:p>
          <a:p>
            <a:endParaRPr lang="en-US" dirty="0"/>
          </a:p>
        </p:txBody>
      </p:sp>
    </p:spTree>
    <p:extLst>
      <p:ext uri="{BB962C8B-B14F-4D97-AF65-F5344CB8AC3E}">
        <p14:creationId xmlns:p14="http://schemas.microsoft.com/office/powerpoint/2010/main" val="2559989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85800"/>
            <a:ext cx="8839200" cy="6035675"/>
          </a:xfrm>
        </p:spPr>
        <p:txBody>
          <a:bodyPr>
            <a:normAutofit fontScale="92500" lnSpcReduction="10000"/>
          </a:bodyPr>
          <a:lstStyle/>
          <a:p>
            <a:r>
              <a:rPr lang="en-US" sz="3500" b="1" dirty="0"/>
              <a:t>Technical writing, which must be understood easily and quickly, includes:</a:t>
            </a:r>
          </a:p>
          <a:p>
            <a:pPr>
              <a:buFont typeface="Wingdings" panose="05000000000000000000" pitchFamily="2" charset="2"/>
              <a:buChar char="q"/>
            </a:pPr>
            <a:r>
              <a:rPr lang="en-US" dirty="0"/>
              <a:t> memos and e-mail</a:t>
            </a:r>
          </a:p>
          <a:p>
            <a:pPr>
              <a:buFont typeface="Wingdings" panose="05000000000000000000" pitchFamily="2" charset="2"/>
              <a:buChar char="q"/>
            </a:pPr>
            <a:r>
              <a:rPr lang="en-US" dirty="0"/>
              <a:t> letters</a:t>
            </a:r>
          </a:p>
          <a:p>
            <a:pPr>
              <a:buFont typeface="Wingdings" panose="05000000000000000000" pitchFamily="2" charset="2"/>
              <a:buChar char="q"/>
            </a:pPr>
            <a:r>
              <a:rPr lang="en-US" dirty="0"/>
              <a:t> reports</a:t>
            </a:r>
          </a:p>
          <a:p>
            <a:pPr>
              <a:buFont typeface="Wingdings" panose="05000000000000000000" pitchFamily="2" charset="2"/>
              <a:buChar char="q"/>
            </a:pPr>
            <a:r>
              <a:rPr lang="en-US" dirty="0"/>
              <a:t> instructions</a:t>
            </a:r>
          </a:p>
          <a:p>
            <a:pPr>
              <a:buFont typeface="Wingdings" panose="05000000000000000000" pitchFamily="2" charset="2"/>
              <a:buChar char="q"/>
            </a:pPr>
            <a:r>
              <a:rPr lang="en-US" dirty="0"/>
              <a:t> brochures and newsletters</a:t>
            </a:r>
          </a:p>
          <a:p>
            <a:pPr>
              <a:buFont typeface="Wingdings" panose="05000000000000000000" pitchFamily="2" charset="2"/>
              <a:buChar char="q"/>
            </a:pPr>
            <a:r>
              <a:rPr lang="en-US" dirty="0"/>
              <a:t> the job search</a:t>
            </a:r>
          </a:p>
          <a:p>
            <a:pPr>
              <a:buFont typeface="Wingdings" panose="05000000000000000000" pitchFamily="2" charset="2"/>
              <a:buChar char="q"/>
            </a:pPr>
            <a:r>
              <a:rPr lang="en-US" dirty="0"/>
              <a:t> web pages</a:t>
            </a:r>
          </a:p>
          <a:p>
            <a:pPr>
              <a:buFont typeface="Wingdings" panose="05000000000000000000" pitchFamily="2" charset="2"/>
              <a:buChar char="q"/>
            </a:pPr>
            <a:r>
              <a:rPr lang="en-US" dirty="0"/>
              <a:t> fliers</a:t>
            </a:r>
          </a:p>
          <a:p>
            <a:pPr>
              <a:buFont typeface="Wingdings" panose="05000000000000000000" pitchFamily="2" charset="2"/>
              <a:buChar char="q"/>
            </a:pPr>
            <a:r>
              <a:rPr lang="en-US" dirty="0"/>
              <a:t> PowerPoint presentations</a:t>
            </a:r>
          </a:p>
          <a:p>
            <a:pPr>
              <a:buFont typeface="Wingdings" panose="05000000000000000000" pitchFamily="2" charset="2"/>
              <a:buChar char="q"/>
            </a:pPr>
            <a:r>
              <a:rPr lang="en-US" dirty="0"/>
              <a:t> graphics</a:t>
            </a:r>
          </a:p>
        </p:txBody>
      </p:sp>
    </p:spTree>
    <p:extLst>
      <p:ext uri="{BB962C8B-B14F-4D97-AF65-F5344CB8AC3E}">
        <p14:creationId xmlns:p14="http://schemas.microsoft.com/office/powerpoint/2010/main" val="1606595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5821363"/>
          </a:xfrm>
        </p:spPr>
        <p:txBody>
          <a:bodyPr>
            <a:normAutofit/>
          </a:bodyPr>
          <a:lstStyle/>
          <a:p>
            <a:r>
              <a:rPr lang="en-US" sz="4400" b="1" dirty="0"/>
              <a:t>Technical writing is not:</a:t>
            </a:r>
          </a:p>
          <a:p>
            <a:pPr lvl="1"/>
            <a:r>
              <a:rPr lang="en-US" sz="3600" b="1" dirty="0"/>
              <a:t>Literature.</a:t>
            </a:r>
            <a:r>
              <a:rPr lang="en-US" sz="3600" dirty="0"/>
              <a:t>  It is not a story nor poetry.</a:t>
            </a:r>
          </a:p>
          <a:p>
            <a:pPr lvl="1"/>
            <a:r>
              <a:rPr lang="en-US" sz="3600" b="1" dirty="0"/>
              <a:t>Journalism.</a:t>
            </a:r>
            <a:r>
              <a:rPr lang="en-US" sz="3600" dirty="0"/>
              <a:t>  It does not narrate an event nor report news.</a:t>
            </a:r>
          </a:p>
          <a:p>
            <a:pPr lvl="1"/>
            <a:r>
              <a:rPr lang="en-US" sz="3600" b="1" dirty="0"/>
              <a:t>An essay.</a:t>
            </a:r>
            <a:r>
              <a:rPr lang="en-US" sz="3600" dirty="0"/>
              <a:t>  It does not express an opinion.</a:t>
            </a:r>
          </a:p>
          <a:p>
            <a:pPr lvl="1"/>
            <a:r>
              <a:rPr lang="en-US" sz="3600" b="1" dirty="0"/>
              <a:t>Personal.</a:t>
            </a:r>
            <a:r>
              <a:rPr lang="en-US" sz="3600" dirty="0"/>
              <a:t>  While it may relate to the reader, it is not about your experiences.</a:t>
            </a:r>
          </a:p>
          <a:p>
            <a:endParaRPr lang="en-US" dirty="0"/>
          </a:p>
        </p:txBody>
      </p:sp>
    </p:spTree>
    <p:extLst>
      <p:ext uri="{BB962C8B-B14F-4D97-AF65-F5344CB8AC3E}">
        <p14:creationId xmlns:p14="http://schemas.microsoft.com/office/powerpoint/2010/main" val="2638909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871" y="274638"/>
            <a:ext cx="8338929" cy="487362"/>
          </a:xfrm>
        </p:spPr>
        <p:txBody>
          <a:bodyPr>
            <a:normAutofit fontScale="90000"/>
          </a:bodyPr>
          <a:lstStyle/>
          <a:p>
            <a:r>
              <a:rPr lang="en-US" dirty="0">
                <a:solidFill>
                  <a:prstClr val="black"/>
                </a:solidFill>
              </a:rPr>
              <a:t>What is technical writing?</a:t>
            </a:r>
            <a:endParaRPr lang="en-US" dirty="0"/>
          </a:p>
        </p:txBody>
      </p:sp>
      <p:pic>
        <p:nvPicPr>
          <p:cNvPr id="6" name="Content Placeholder 5"/>
          <p:cNvPicPr>
            <a:picLocks noGrp="1" noChangeAspect="1"/>
          </p:cNvPicPr>
          <p:nvPr>
            <p:ph idx="1"/>
          </p:nvPr>
        </p:nvPicPr>
        <p:blipFill>
          <a:blip r:embed="rId2" cstate="print">
            <a:lum contrast="16000"/>
          </a:blip>
          <a:stretch>
            <a:fillRect/>
          </a:stretch>
        </p:blipFill>
        <p:spPr>
          <a:xfrm>
            <a:off x="347871" y="1028945"/>
            <a:ext cx="8305799" cy="5217825"/>
          </a:xfrm>
          <a:prstGeom prst="rect">
            <a:avLst/>
          </a:prstGeom>
        </p:spPr>
      </p:pic>
      <p:sp>
        <p:nvSpPr>
          <p:cNvPr id="5" name="Slide Number Placeholder 4"/>
          <p:cNvSpPr>
            <a:spLocks noGrp="1"/>
          </p:cNvSpPr>
          <p:nvPr>
            <p:ph type="sldNum" sz="quarter" idx="12"/>
          </p:nvPr>
        </p:nvSpPr>
        <p:spPr/>
        <p:txBody>
          <a:bodyPr/>
          <a:lstStyle/>
          <a:p>
            <a:fld id="{CE9A8198-B36E-4E8C-B56F-5CE897E27388}" type="slidenum">
              <a:rPr lang="en-US" smtClean="0"/>
              <a:pPr/>
              <a:t>13</a:t>
            </a:fld>
            <a:endParaRPr lang="en-US"/>
          </a:p>
        </p:txBody>
      </p:sp>
      <p:sp>
        <p:nvSpPr>
          <p:cNvPr id="7" name="Rectangle 6"/>
          <p:cNvSpPr/>
          <p:nvPr/>
        </p:nvSpPr>
        <p:spPr>
          <a:xfrm>
            <a:off x="347871" y="6356350"/>
            <a:ext cx="8491331" cy="261610"/>
          </a:xfrm>
          <a:prstGeom prst="rect">
            <a:avLst/>
          </a:prstGeom>
        </p:spPr>
        <p:txBody>
          <a:bodyPr wrap="square">
            <a:spAutoFit/>
          </a:bodyPr>
          <a:lstStyle/>
          <a:p>
            <a:r>
              <a:rPr lang="en-US" sz="1100" dirty="0">
                <a:latin typeface="Arial" panose="020B0604020202020204" pitchFamily="34" charset="0"/>
              </a:rPr>
              <a:t>http://www.micron.com/k12/writing/differences.html</a:t>
            </a:r>
            <a:endParaRPr lang="en-US" sz="1100" dirty="0"/>
          </a:p>
        </p:txBody>
      </p:sp>
    </p:spTree>
    <p:extLst>
      <p:ext uri="{BB962C8B-B14F-4D97-AF65-F5344CB8AC3E}">
        <p14:creationId xmlns:p14="http://schemas.microsoft.com/office/powerpoint/2010/main" val="3479265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lum contrast="18000"/>
          </a:blip>
          <a:stretch>
            <a:fillRect/>
          </a:stretch>
        </p:blipFill>
        <p:spPr>
          <a:xfrm>
            <a:off x="304800" y="203018"/>
            <a:ext cx="8001000" cy="6337389"/>
          </a:xfrm>
          <a:prstGeom prst="rect">
            <a:avLst/>
          </a:prstGeom>
        </p:spPr>
      </p:pic>
      <p:sp>
        <p:nvSpPr>
          <p:cNvPr id="2" name="Rectangle 1"/>
          <p:cNvSpPr/>
          <p:nvPr/>
        </p:nvSpPr>
        <p:spPr>
          <a:xfrm>
            <a:off x="2286000" y="6596390"/>
            <a:ext cx="4572000" cy="430887"/>
          </a:xfrm>
          <a:prstGeom prst="rect">
            <a:avLst/>
          </a:prstGeom>
        </p:spPr>
        <p:txBody>
          <a:bodyPr>
            <a:spAutoFit/>
          </a:bodyPr>
          <a:lstStyle/>
          <a:p>
            <a:r>
              <a:rPr lang="en-US" sz="1100" dirty="0">
                <a:hlinkClick r:id="rId3"/>
              </a:rPr>
              <a:t>http://toefl.uobabylon.edu.iq/papers/itp_2015_41931767.pdf</a:t>
            </a:r>
            <a:endParaRPr lang="en-US" sz="1100" dirty="0"/>
          </a:p>
          <a:p>
            <a:endParaRPr lang="en-US" sz="1100" dirty="0"/>
          </a:p>
        </p:txBody>
      </p:sp>
    </p:spTree>
    <p:extLst>
      <p:ext uri="{BB962C8B-B14F-4D97-AF65-F5344CB8AC3E}">
        <p14:creationId xmlns:p14="http://schemas.microsoft.com/office/powerpoint/2010/main" val="840378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cstate="print">
            <a:lum bright="-2000" contrast="24000"/>
          </a:blip>
          <a:stretch>
            <a:fillRect/>
          </a:stretch>
        </p:blipFill>
        <p:spPr>
          <a:xfrm>
            <a:off x="381000" y="410716"/>
            <a:ext cx="8534400" cy="6036567"/>
          </a:xfrm>
          <a:prstGeom prst="rect">
            <a:avLst/>
          </a:prstGeom>
        </p:spPr>
      </p:pic>
      <p:sp>
        <p:nvSpPr>
          <p:cNvPr id="7" name="Rectangle 6"/>
          <p:cNvSpPr/>
          <p:nvPr/>
        </p:nvSpPr>
        <p:spPr>
          <a:xfrm>
            <a:off x="2286000" y="6596390"/>
            <a:ext cx="4572000" cy="430887"/>
          </a:xfrm>
          <a:prstGeom prst="rect">
            <a:avLst/>
          </a:prstGeom>
        </p:spPr>
        <p:txBody>
          <a:bodyPr>
            <a:spAutoFit/>
          </a:bodyPr>
          <a:lstStyle/>
          <a:p>
            <a:r>
              <a:rPr lang="en-US" sz="1100" dirty="0">
                <a:hlinkClick r:id="rId3"/>
              </a:rPr>
              <a:t>http://toefl.uobabylon.edu.iq/papers/itp_2015_41931767.pdf</a:t>
            </a:r>
            <a:endParaRPr lang="en-US" sz="1100" dirty="0"/>
          </a:p>
          <a:p>
            <a:endParaRPr lang="en-US" sz="1100" dirty="0"/>
          </a:p>
        </p:txBody>
      </p:sp>
    </p:spTree>
    <p:extLst>
      <p:ext uri="{BB962C8B-B14F-4D97-AF65-F5344CB8AC3E}">
        <p14:creationId xmlns:p14="http://schemas.microsoft.com/office/powerpoint/2010/main" val="933186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715000"/>
          </a:xfrm>
        </p:spPr>
        <p:txBody>
          <a:bodyPr/>
          <a:lstStyle/>
          <a:p>
            <a:r>
              <a:rPr lang="en-US" b="1" dirty="0"/>
              <a:t>Components of technical writing</a:t>
            </a:r>
          </a:p>
          <a:p>
            <a:pPr lvl="1"/>
            <a:r>
              <a:rPr lang="en-US" sz="3600" dirty="0"/>
              <a:t>Development</a:t>
            </a:r>
          </a:p>
          <a:p>
            <a:pPr lvl="1"/>
            <a:r>
              <a:rPr lang="en-US" sz="3600" dirty="0"/>
              <a:t>Grammar</a:t>
            </a:r>
          </a:p>
          <a:p>
            <a:pPr lvl="1"/>
            <a:r>
              <a:rPr lang="en-US" sz="3600" dirty="0"/>
              <a:t>Organization</a:t>
            </a:r>
          </a:p>
          <a:p>
            <a:pPr lvl="1"/>
            <a:r>
              <a:rPr lang="en-US" sz="3600" dirty="0"/>
              <a:t>Style</a:t>
            </a:r>
          </a:p>
          <a:p>
            <a:pPr lvl="1"/>
            <a:r>
              <a:rPr lang="en-US" sz="3600" dirty="0"/>
              <a:t>Document Design</a:t>
            </a:r>
          </a:p>
          <a:p>
            <a:pPr marL="0" indent="0">
              <a:buNone/>
            </a:pPr>
            <a:endParaRPr lang="en-US" dirty="0"/>
          </a:p>
        </p:txBody>
      </p:sp>
      <p:sp>
        <p:nvSpPr>
          <p:cNvPr id="5" name="Slide Number Placeholder 4"/>
          <p:cNvSpPr>
            <a:spLocks noGrp="1"/>
          </p:cNvSpPr>
          <p:nvPr>
            <p:ph type="sldNum" sz="quarter" idx="12"/>
          </p:nvPr>
        </p:nvSpPr>
        <p:spPr/>
        <p:txBody>
          <a:bodyPr/>
          <a:lstStyle/>
          <a:p>
            <a:fld id="{CE9A8198-B36E-4E8C-B56F-5CE897E27388}" type="slidenum">
              <a:rPr lang="en-US" smtClean="0"/>
              <a:pPr/>
              <a:t>16</a:t>
            </a:fld>
            <a:endParaRPr lang="en-US"/>
          </a:p>
        </p:txBody>
      </p:sp>
    </p:spTree>
    <p:extLst>
      <p:ext uri="{BB962C8B-B14F-4D97-AF65-F5344CB8AC3E}">
        <p14:creationId xmlns:p14="http://schemas.microsoft.com/office/powerpoint/2010/main" val="2219847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9067800" cy="6781800"/>
          </a:xfrm>
        </p:spPr>
        <p:txBody>
          <a:bodyPr/>
          <a:lstStyle/>
          <a:p>
            <a:pPr lvl="0"/>
            <a:r>
              <a:rPr lang="en-US" b="1" dirty="0">
                <a:solidFill>
                  <a:prstClr val="black"/>
                </a:solidFill>
              </a:rPr>
              <a:t>Components of technical writing</a:t>
            </a:r>
          </a:p>
          <a:p>
            <a:pPr lvl="1"/>
            <a:r>
              <a:rPr lang="en-US" sz="3600" b="1" dirty="0">
                <a:solidFill>
                  <a:prstClr val="black"/>
                </a:solidFill>
              </a:rPr>
              <a:t>Development</a:t>
            </a:r>
          </a:p>
          <a:p>
            <a:pPr lvl="2"/>
            <a:r>
              <a:rPr lang="en-US" dirty="0"/>
              <a:t>Logical progression</a:t>
            </a:r>
          </a:p>
          <a:p>
            <a:pPr lvl="2"/>
            <a:r>
              <a:rPr lang="en-US" dirty="0"/>
              <a:t>Uses examples, anecdotes, evidence, data, research results</a:t>
            </a:r>
          </a:p>
          <a:p>
            <a:pPr lvl="2"/>
            <a:r>
              <a:rPr lang="en-US" dirty="0"/>
              <a:t>Start with overall objectives, then get into details (inductive vs. deductive argument)</a:t>
            </a:r>
          </a:p>
          <a:p>
            <a:pPr lvl="2"/>
            <a:endParaRPr lang="en-US" dirty="0"/>
          </a:p>
          <a:p>
            <a:pPr lvl="2"/>
            <a:r>
              <a:rPr lang="en-US" b="1" dirty="0"/>
              <a:t>Background/literature review</a:t>
            </a:r>
          </a:p>
          <a:p>
            <a:pPr lvl="2"/>
            <a:r>
              <a:rPr lang="en-US" dirty="0"/>
              <a:t>In computer science, it can involve looking at source code to determine what it really does</a:t>
            </a:r>
          </a:p>
          <a:p>
            <a:pPr lvl="2"/>
            <a:r>
              <a:rPr lang="en-US" dirty="0"/>
              <a:t>Always keep track of your sources</a:t>
            </a:r>
          </a:p>
          <a:p>
            <a:pPr lvl="2"/>
            <a:endParaRPr lang="en-US" b="1" dirty="0"/>
          </a:p>
          <a:p>
            <a:pPr lvl="2"/>
            <a:r>
              <a:rPr lang="en-US" b="1" dirty="0"/>
              <a:t>Presentation of data</a:t>
            </a:r>
          </a:p>
          <a:p>
            <a:pPr lvl="2"/>
            <a:r>
              <a:rPr lang="en-US" dirty="0"/>
              <a:t>Use charts, graphs, and tables</a:t>
            </a:r>
          </a:p>
          <a:p>
            <a:pPr lvl="2"/>
            <a:endParaRPr lang="en-US" dirty="0"/>
          </a:p>
          <a:p>
            <a:pPr lvl="2"/>
            <a:endParaRPr lang="en-US" dirty="0"/>
          </a:p>
        </p:txBody>
      </p:sp>
      <p:sp>
        <p:nvSpPr>
          <p:cNvPr id="5" name="Slide Number Placeholder 4"/>
          <p:cNvSpPr>
            <a:spLocks noGrp="1"/>
          </p:cNvSpPr>
          <p:nvPr>
            <p:ph type="sldNum" sz="quarter" idx="12"/>
          </p:nvPr>
        </p:nvSpPr>
        <p:spPr/>
        <p:txBody>
          <a:bodyPr/>
          <a:lstStyle/>
          <a:p>
            <a:fld id="{CE9A8198-B36E-4E8C-B56F-5CE897E27388}" type="slidenum">
              <a:rPr lang="en-US" smtClean="0"/>
              <a:pPr/>
              <a:t>17</a:t>
            </a:fld>
            <a:endParaRPr lang="en-US"/>
          </a:p>
        </p:txBody>
      </p:sp>
    </p:spTree>
    <p:extLst>
      <p:ext uri="{BB962C8B-B14F-4D97-AF65-F5344CB8AC3E}">
        <p14:creationId xmlns:p14="http://schemas.microsoft.com/office/powerpoint/2010/main" val="575600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487362"/>
          </a:xfrm>
          <a:ln>
            <a:solidFill>
              <a:schemeClr val="accent1"/>
            </a:solidFill>
          </a:ln>
        </p:spPr>
        <p:txBody>
          <a:bodyPr>
            <a:normAutofit fontScale="90000"/>
          </a:bodyPr>
          <a:lstStyle/>
          <a:p>
            <a:pPr algn="l"/>
            <a:r>
              <a:rPr lang="en-US" b="1" dirty="0"/>
              <a:t>Grammar</a:t>
            </a:r>
          </a:p>
        </p:txBody>
      </p:sp>
      <p:sp>
        <p:nvSpPr>
          <p:cNvPr id="3" name="Content Placeholder 2"/>
          <p:cNvSpPr>
            <a:spLocks noGrp="1"/>
          </p:cNvSpPr>
          <p:nvPr>
            <p:ph idx="1"/>
          </p:nvPr>
        </p:nvSpPr>
        <p:spPr>
          <a:xfrm>
            <a:off x="152400" y="1066800"/>
            <a:ext cx="8915400" cy="5654675"/>
          </a:xfrm>
        </p:spPr>
        <p:txBody>
          <a:bodyPr>
            <a:normAutofit/>
          </a:bodyPr>
          <a:lstStyle/>
          <a:p>
            <a:r>
              <a:rPr lang="en-US" dirty="0"/>
              <a:t>Correct grammar is an essential component of successful writing. </a:t>
            </a:r>
          </a:p>
          <a:p>
            <a:pPr lvl="1"/>
            <a:r>
              <a:rPr lang="en-US" dirty="0"/>
              <a:t>You have to build a knowledge of common grammar and punctuation conventions.</a:t>
            </a:r>
          </a:p>
          <a:p>
            <a:pPr lvl="1"/>
            <a:r>
              <a:rPr lang="en-US" dirty="0"/>
              <a:t>Technical reports use formal English, </a:t>
            </a:r>
            <a:r>
              <a:rPr lang="en-US" b="1" dirty="0"/>
              <a:t>direct language</a:t>
            </a:r>
            <a:r>
              <a:rPr lang="en-US" dirty="0"/>
              <a:t>, and </a:t>
            </a:r>
            <a:r>
              <a:rPr lang="en-US" b="1" dirty="0"/>
              <a:t>simple terms</a:t>
            </a:r>
            <a:r>
              <a:rPr lang="en-US" dirty="0"/>
              <a:t>.</a:t>
            </a:r>
          </a:p>
          <a:p>
            <a:pPr lvl="1"/>
            <a:r>
              <a:rPr lang="en-US" dirty="0"/>
              <a:t>Always check for grammar, spelling, and punctuation mistakes, or ask from someone who knows.</a:t>
            </a:r>
          </a:p>
          <a:p>
            <a:r>
              <a:rPr lang="en-US" b="1" dirty="0">
                <a:solidFill>
                  <a:srgbClr val="C00000"/>
                </a:solidFill>
              </a:rPr>
              <a:t>UCR has a writing center staffed with people who will be glad to help.</a:t>
            </a:r>
          </a:p>
          <a:p>
            <a:endParaRPr lang="en-US" dirty="0"/>
          </a:p>
        </p:txBody>
      </p:sp>
    </p:spTree>
    <p:extLst>
      <p:ext uri="{BB962C8B-B14F-4D97-AF65-F5344CB8AC3E}">
        <p14:creationId xmlns:p14="http://schemas.microsoft.com/office/powerpoint/2010/main" val="2810304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611187"/>
          </a:xfrm>
          <a:ln>
            <a:solidFill>
              <a:schemeClr val="accent1"/>
            </a:solidFill>
          </a:ln>
        </p:spPr>
        <p:txBody>
          <a:bodyPr>
            <a:normAutofit fontScale="90000"/>
          </a:bodyPr>
          <a:lstStyle/>
          <a:p>
            <a:pPr algn="l"/>
            <a:r>
              <a:rPr lang="en-US" b="1" dirty="0"/>
              <a:t>Grammar</a:t>
            </a:r>
          </a:p>
        </p:txBody>
      </p:sp>
      <p:sp>
        <p:nvSpPr>
          <p:cNvPr id="3" name="Content Placeholder 2"/>
          <p:cNvSpPr>
            <a:spLocks noGrp="1"/>
          </p:cNvSpPr>
          <p:nvPr>
            <p:ph idx="1"/>
          </p:nvPr>
        </p:nvSpPr>
        <p:spPr>
          <a:xfrm>
            <a:off x="76200" y="914400"/>
            <a:ext cx="8991600" cy="5807075"/>
          </a:xfrm>
        </p:spPr>
        <p:txBody>
          <a:bodyPr>
            <a:normAutofit/>
          </a:bodyPr>
          <a:lstStyle/>
          <a:p>
            <a:r>
              <a:rPr lang="en-US" dirty="0"/>
              <a:t>In technical writing, </a:t>
            </a:r>
            <a:r>
              <a:rPr lang="en-US" b="1" dirty="0"/>
              <a:t>every word </a:t>
            </a:r>
            <a:r>
              <a:rPr lang="en-US" dirty="0"/>
              <a:t>must have a </a:t>
            </a:r>
            <a:r>
              <a:rPr lang="en-US" b="1" dirty="0"/>
              <a:t>place</a:t>
            </a:r>
            <a:r>
              <a:rPr lang="en-US" dirty="0"/>
              <a:t> in the sentence and a meaning.</a:t>
            </a:r>
          </a:p>
          <a:p>
            <a:pPr>
              <a:lnSpc>
                <a:spcPct val="150000"/>
              </a:lnSpc>
            </a:pPr>
            <a:r>
              <a:rPr lang="en-US" dirty="0"/>
              <a:t>Avoid slang, clichés, and sexist language</a:t>
            </a:r>
          </a:p>
          <a:p>
            <a:r>
              <a:rPr lang="en-US" b="1" dirty="0">
                <a:solidFill>
                  <a:srgbClr val="C00000"/>
                </a:solidFill>
              </a:rPr>
              <a:t>Impress the audience with analysis, not vocabulary</a:t>
            </a:r>
            <a:r>
              <a:rPr lang="en-US" b="1" dirty="0"/>
              <a:t>. </a:t>
            </a:r>
          </a:p>
          <a:p>
            <a:endParaRPr lang="en-US" b="1" dirty="0"/>
          </a:p>
          <a:p>
            <a:r>
              <a:rPr lang="en-US" dirty="0"/>
              <a:t>Replace complex words with simple language if it 	conveys the same meaning.</a:t>
            </a:r>
          </a:p>
          <a:p>
            <a:pPr>
              <a:lnSpc>
                <a:spcPct val="150000"/>
              </a:lnSpc>
            </a:pPr>
            <a:r>
              <a:rPr lang="en-US" dirty="0"/>
              <a:t>Explain acronyms.  </a:t>
            </a:r>
          </a:p>
        </p:txBody>
      </p:sp>
    </p:spTree>
    <p:extLst>
      <p:ext uri="{BB962C8B-B14F-4D97-AF65-F5344CB8AC3E}">
        <p14:creationId xmlns:p14="http://schemas.microsoft.com/office/powerpoint/2010/main" val="1857530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370277" cy="685800"/>
          </a:xfrm>
          <a:ln>
            <a:solidFill>
              <a:schemeClr val="accent1"/>
            </a:solidFill>
          </a:ln>
        </p:spPr>
        <p:txBody>
          <a:bodyPr>
            <a:normAutofit fontScale="90000"/>
          </a:bodyPr>
          <a:lstStyle/>
          <a:p>
            <a:pPr algn="l"/>
            <a:r>
              <a:rPr lang="en-US" b="1" dirty="0"/>
              <a:t>Grammar</a:t>
            </a:r>
          </a:p>
        </p:txBody>
      </p:sp>
      <p:sp>
        <p:nvSpPr>
          <p:cNvPr id="3" name="Content Placeholder 2"/>
          <p:cNvSpPr>
            <a:spLocks noGrp="1"/>
          </p:cNvSpPr>
          <p:nvPr>
            <p:ph idx="1"/>
          </p:nvPr>
        </p:nvSpPr>
        <p:spPr>
          <a:xfrm>
            <a:off x="228600" y="914400"/>
            <a:ext cx="8610600" cy="5441950"/>
          </a:xfrm>
        </p:spPr>
        <p:txBody>
          <a:bodyPr>
            <a:normAutofit/>
          </a:bodyPr>
          <a:lstStyle/>
          <a:p>
            <a:r>
              <a:rPr lang="en-US" dirty="0"/>
              <a:t>Pay attention to all suggestions of your word processor.</a:t>
            </a:r>
          </a:p>
          <a:p>
            <a:endParaRPr lang="en-US" dirty="0"/>
          </a:p>
          <a:p>
            <a:r>
              <a:rPr lang="en-US" dirty="0"/>
              <a:t>Do not change tenses in the middle of a sentence</a:t>
            </a:r>
          </a:p>
          <a:p>
            <a:r>
              <a:rPr lang="en-US" dirty="0"/>
              <a:t>A sentence has a </a:t>
            </a:r>
            <a:r>
              <a:rPr lang="en-US" u="sng" dirty="0"/>
              <a:t>subject</a:t>
            </a:r>
            <a:r>
              <a:rPr lang="en-US" dirty="0"/>
              <a:t> and a </a:t>
            </a:r>
            <a:r>
              <a:rPr lang="en-US" u="sng" dirty="0"/>
              <a:t>predicate</a:t>
            </a:r>
          </a:p>
          <a:p>
            <a:r>
              <a:rPr lang="en-US" b="1" dirty="0">
                <a:solidFill>
                  <a:srgbClr val="C00000"/>
                </a:solidFill>
              </a:rPr>
              <a:t>Avoid long sentences </a:t>
            </a:r>
          </a:p>
          <a:p>
            <a:r>
              <a:rPr lang="en-US" dirty="0"/>
              <a:t>Make the antecedents of your pronouns clear</a:t>
            </a:r>
          </a:p>
          <a:p>
            <a:r>
              <a:rPr lang="en-US" dirty="0"/>
              <a:t>Use correct punctuation</a:t>
            </a:r>
          </a:p>
          <a:p>
            <a:r>
              <a:rPr lang="en-US" b="1" dirty="0">
                <a:solidFill>
                  <a:srgbClr val="FF0000"/>
                </a:solidFill>
              </a:rPr>
              <a:t>U r not </a:t>
            </a:r>
            <a:r>
              <a:rPr lang="en-US" b="1" dirty="0" err="1">
                <a:solidFill>
                  <a:srgbClr val="FF0000"/>
                </a:solidFill>
              </a:rPr>
              <a:t>txting</a:t>
            </a:r>
            <a:r>
              <a:rPr lang="en-US" b="1" dirty="0">
                <a:solidFill>
                  <a:srgbClr val="FF0000"/>
                </a:solidFill>
              </a:rPr>
              <a:t> lol!</a:t>
            </a:r>
          </a:p>
          <a:p>
            <a:endParaRPr lang="en-US" dirty="0"/>
          </a:p>
        </p:txBody>
      </p:sp>
    </p:spTree>
    <p:extLst>
      <p:ext uri="{BB962C8B-B14F-4D97-AF65-F5344CB8AC3E}">
        <p14:creationId xmlns:p14="http://schemas.microsoft.com/office/powerpoint/2010/main" val="310919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763000" cy="609600"/>
          </a:xfrm>
          <a:ln>
            <a:solidFill>
              <a:schemeClr val="accent1"/>
            </a:solidFill>
          </a:ln>
        </p:spPr>
        <p:txBody>
          <a:bodyPr>
            <a:normAutofit fontScale="90000"/>
          </a:bodyPr>
          <a:lstStyle/>
          <a:p>
            <a:pPr algn="l"/>
            <a:r>
              <a:rPr lang="en-US" b="1" dirty="0"/>
              <a:t>Document Organization</a:t>
            </a:r>
          </a:p>
        </p:txBody>
      </p:sp>
      <p:sp>
        <p:nvSpPr>
          <p:cNvPr id="3" name="Content Placeholder 2"/>
          <p:cNvSpPr>
            <a:spLocks noGrp="1"/>
          </p:cNvSpPr>
          <p:nvPr>
            <p:ph idx="1"/>
          </p:nvPr>
        </p:nvSpPr>
        <p:spPr>
          <a:xfrm>
            <a:off x="0" y="762000"/>
            <a:ext cx="9144000" cy="6096000"/>
          </a:xfrm>
        </p:spPr>
        <p:txBody>
          <a:bodyPr>
            <a:noAutofit/>
          </a:bodyPr>
          <a:lstStyle/>
          <a:p>
            <a:r>
              <a:rPr lang="en-US" sz="2800" dirty="0"/>
              <a:t>Technical writing is organized in a direct, linear format. </a:t>
            </a:r>
            <a:r>
              <a:rPr lang="en-US" dirty="0"/>
              <a:t>All technical documents have a clear:</a:t>
            </a:r>
          </a:p>
          <a:p>
            <a:endParaRPr lang="en-US" dirty="0"/>
          </a:p>
          <a:p>
            <a:r>
              <a:rPr lang="en-US" sz="2400" b="1" dirty="0"/>
              <a:t>Introduction</a:t>
            </a:r>
            <a:r>
              <a:rPr lang="en-US" sz="2400" dirty="0"/>
              <a:t>: this is where you provide motivation and context/background for the information being presented in the document. </a:t>
            </a:r>
          </a:p>
          <a:p>
            <a:r>
              <a:rPr lang="en-US" sz="2400" dirty="0">
                <a:solidFill>
                  <a:srgbClr val="FF0000"/>
                </a:solidFill>
              </a:rPr>
              <a:t>Always provide the “big picture” before jumping into the technical details.</a:t>
            </a:r>
          </a:p>
          <a:p>
            <a:endParaRPr lang="en-US" sz="2400" dirty="0"/>
          </a:p>
          <a:p>
            <a:r>
              <a:rPr lang="en-US" sz="2400" b="1" dirty="0"/>
              <a:t>Body</a:t>
            </a:r>
            <a:r>
              <a:rPr lang="en-US" sz="2400" dirty="0"/>
              <a:t>: this is where the information is expounded upon and where technical details are given.</a:t>
            </a:r>
          </a:p>
          <a:p>
            <a:endParaRPr lang="en-US" sz="2400" dirty="0"/>
          </a:p>
          <a:p>
            <a:r>
              <a:rPr lang="en-US" sz="2400" b="1" dirty="0"/>
              <a:t>Conclusion</a:t>
            </a:r>
            <a:r>
              <a:rPr lang="en-US" sz="2400" dirty="0"/>
              <a:t>: this is where the main points are reemphasized and where the “big picture” is once again discussed.</a:t>
            </a:r>
          </a:p>
          <a:p>
            <a:endParaRPr lang="en-US" sz="2800" dirty="0"/>
          </a:p>
          <a:p>
            <a:endParaRPr lang="en-US" sz="2800" dirty="0"/>
          </a:p>
          <a:p>
            <a:endParaRPr lang="en-US" sz="2800" dirty="0"/>
          </a:p>
        </p:txBody>
      </p:sp>
    </p:spTree>
    <p:extLst>
      <p:ext uri="{BB962C8B-B14F-4D97-AF65-F5344CB8AC3E}">
        <p14:creationId xmlns:p14="http://schemas.microsoft.com/office/powerpoint/2010/main" val="533668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685800"/>
          </a:xfrm>
          <a:ln>
            <a:solidFill>
              <a:schemeClr val="accent1"/>
            </a:solidFill>
          </a:ln>
        </p:spPr>
        <p:txBody>
          <a:bodyPr>
            <a:normAutofit fontScale="90000"/>
          </a:bodyPr>
          <a:lstStyle/>
          <a:p>
            <a:pPr algn="l"/>
            <a:r>
              <a:rPr lang="en-US" b="1" dirty="0"/>
              <a:t>Style</a:t>
            </a:r>
          </a:p>
        </p:txBody>
      </p:sp>
      <p:sp>
        <p:nvSpPr>
          <p:cNvPr id="3" name="Content Placeholder 2"/>
          <p:cNvSpPr>
            <a:spLocks noGrp="1"/>
          </p:cNvSpPr>
          <p:nvPr>
            <p:ph idx="1"/>
          </p:nvPr>
        </p:nvSpPr>
        <p:spPr>
          <a:xfrm>
            <a:off x="-76200" y="1066800"/>
            <a:ext cx="9296400" cy="5059363"/>
          </a:xfrm>
        </p:spPr>
        <p:txBody>
          <a:bodyPr/>
          <a:lstStyle/>
          <a:p>
            <a:r>
              <a:rPr lang="en-US" dirty="0"/>
              <a:t>Use short, denotative words, short sentences, and short paragraphs.</a:t>
            </a:r>
          </a:p>
          <a:p>
            <a:endParaRPr lang="en-US" dirty="0"/>
          </a:p>
          <a:p>
            <a:r>
              <a:rPr lang="en-US" dirty="0"/>
              <a:t>Your text must be simple and clear. Remember: </a:t>
            </a:r>
          </a:p>
          <a:p>
            <a:pPr lvl="1"/>
            <a:r>
              <a:rPr lang="en-US" b="1" dirty="0">
                <a:solidFill>
                  <a:srgbClr val="C00000"/>
                </a:solidFill>
              </a:rPr>
              <a:t>a good technical writing does not need reinterpretation.</a:t>
            </a:r>
          </a:p>
          <a:p>
            <a:pPr marL="0" indent="0">
              <a:buNone/>
            </a:pPr>
            <a:endParaRPr lang="en-US" dirty="0"/>
          </a:p>
          <a:p>
            <a:r>
              <a:rPr lang="en-US" dirty="0"/>
              <a:t>Use diagrams, tables and graphics to provide clear information. </a:t>
            </a:r>
          </a:p>
        </p:txBody>
      </p:sp>
    </p:spTree>
    <p:extLst>
      <p:ext uri="{BB962C8B-B14F-4D97-AF65-F5344CB8AC3E}">
        <p14:creationId xmlns:p14="http://schemas.microsoft.com/office/powerpoint/2010/main" val="3729035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a:solidFill>
                  <a:srgbClr val="C00000"/>
                </a:solidFill>
              </a:rPr>
              <a:t>Document Organization</a:t>
            </a:r>
          </a:p>
        </p:txBody>
      </p:sp>
      <p:sp>
        <p:nvSpPr>
          <p:cNvPr id="3" name="Content Placeholder 2"/>
          <p:cNvSpPr>
            <a:spLocks noGrp="1"/>
          </p:cNvSpPr>
          <p:nvPr>
            <p:ph idx="1"/>
          </p:nvPr>
        </p:nvSpPr>
        <p:spPr>
          <a:xfrm>
            <a:off x="0" y="914400"/>
            <a:ext cx="9144000" cy="5943600"/>
          </a:xfrm>
        </p:spPr>
        <p:txBody>
          <a:bodyPr>
            <a:normAutofit/>
          </a:bodyPr>
          <a:lstStyle/>
          <a:p>
            <a:r>
              <a:rPr lang="en-US" dirty="0"/>
              <a:t>Put the most useful, general information first</a:t>
            </a:r>
          </a:p>
          <a:p>
            <a:r>
              <a:rPr lang="en-US" dirty="0"/>
              <a:t>Follow it with details</a:t>
            </a:r>
          </a:p>
          <a:p>
            <a:pPr marL="0" indent="0">
              <a:buNone/>
            </a:pPr>
            <a:endParaRPr lang="en-US" dirty="0"/>
          </a:p>
          <a:p>
            <a:pPr lvl="0"/>
            <a:r>
              <a:rPr lang="en-US" dirty="0">
                <a:solidFill>
                  <a:prstClr val="black"/>
                </a:solidFill>
              </a:rPr>
              <a:t>Provide an introduction, a body, and a conclusion</a:t>
            </a:r>
          </a:p>
          <a:p>
            <a:pPr lvl="0"/>
            <a:endParaRPr lang="en-US" dirty="0">
              <a:solidFill>
                <a:prstClr val="black"/>
              </a:solidFill>
            </a:endParaRPr>
          </a:p>
          <a:p>
            <a:pPr lvl="0"/>
            <a:r>
              <a:rPr lang="en-US" dirty="0">
                <a:solidFill>
                  <a:prstClr val="black"/>
                </a:solidFill>
              </a:rPr>
              <a:t>Use topic sentences only when needed</a:t>
            </a:r>
          </a:p>
          <a:p>
            <a:pPr lvl="0"/>
            <a:endParaRPr lang="en-US" dirty="0">
              <a:solidFill>
                <a:prstClr val="black"/>
              </a:solidFill>
            </a:endParaRPr>
          </a:p>
          <a:p>
            <a:pPr lvl="0"/>
            <a:r>
              <a:rPr lang="en-US" dirty="0">
                <a:solidFill>
                  <a:prstClr val="black"/>
                </a:solidFill>
              </a:rPr>
              <a:t>For some documents, alphabetize certain sections</a:t>
            </a:r>
          </a:p>
          <a:p>
            <a:endParaRPr lang="en-US" sz="2400" dirty="0"/>
          </a:p>
        </p:txBody>
      </p:sp>
    </p:spTree>
    <p:extLst>
      <p:ext uri="{BB962C8B-B14F-4D97-AF65-F5344CB8AC3E}">
        <p14:creationId xmlns:p14="http://schemas.microsoft.com/office/powerpoint/2010/main" val="1273514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563562"/>
          </a:xfrm>
          <a:ln>
            <a:solidFill>
              <a:schemeClr val="accent1"/>
            </a:solidFill>
          </a:ln>
        </p:spPr>
        <p:txBody>
          <a:bodyPr>
            <a:normAutofit fontScale="90000"/>
          </a:bodyPr>
          <a:lstStyle/>
          <a:p>
            <a:pPr algn="l"/>
            <a:r>
              <a:rPr lang="en-US" b="1" dirty="0"/>
              <a:t>Document Design</a:t>
            </a:r>
          </a:p>
        </p:txBody>
      </p:sp>
      <p:sp>
        <p:nvSpPr>
          <p:cNvPr id="3" name="Content Placeholder 2"/>
          <p:cNvSpPr>
            <a:spLocks noGrp="1"/>
          </p:cNvSpPr>
          <p:nvPr>
            <p:ph idx="1"/>
          </p:nvPr>
        </p:nvSpPr>
        <p:spPr>
          <a:xfrm>
            <a:off x="76200" y="990600"/>
            <a:ext cx="8915400" cy="5867400"/>
          </a:xfrm>
        </p:spPr>
        <p:txBody>
          <a:bodyPr>
            <a:normAutofit/>
          </a:bodyPr>
          <a:lstStyle/>
          <a:p>
            <a:r>
              <a:rPr lang="en-US" sz="3000" dirty="0"/>
              <a:t>Document design refers to the </a:t>
            </a:r>
            <a:r>
              <a:rPr lang="en-US" sz="3000" u="sng" dirty="0"/>
              <a:t>physical layout </a:t>
            </a:r>
            <a:r>
              <a:rPr lang="en-US" sz="3000" dirty="0"/>
              <a:t>of the correspondence.</a:t>
            </a:r>
          </a:p>
          <a:p>
            <a:r>
              <a:rPr lang="en-US" sz="3000" dirty="0"/>
              <a:t>Technical writing uses </a:t>
            </a:r>
            <a:r>
              <a:rPr lang="en-US" sz="3000" u="sng" dirty="0"/>
              <a:t>highlighting techniques </a:t>
            </a:r>
          </a:p>
          <a:p>
            <a:endParaRPr lang="en-US" sz="3000" dirty="0"/>
          </a:p>
          <a:p>
            <a:pPr lvl="1"/>
            <a:r>
              <a:rPr lang="en-US" sz="2200" dirty="0">
                <a:solidFill>
                  <a:srgbClr val="C00000"/>
                </a:solidFill>
              </a:rPr>
              <a:t>Use </a:t>
            </a:r>
            <a:r>
              <a:rPr lang="en-US" sz="2200" b="1" dirty="0">
                <a:solidFill>
                  <a:srgbClr val="C00000"/>
                </a:solidFill>
              </a:rPr>
              <a:t>highlighting techniques, </a:t>
            </a:r>
            <a:r>
              <a:rPr lang="en-US" sz="2200" dirty="0">
                <a:solidFill>
                  <a:srgbClr val="C00000"/>
                </a:solidFill>
              </a:rPr>
              <a:t>such as graphics, headings, subheadings, various fonts (but not too many), white space, bullets, etc.</a:t>
            </a:r>
          </a:p>
          <a:p>
            <a:pPr lvl="1"/>
            <a:endParaRPr lang="en-US" sz="2200" dirty="0">
              <a:solidFill>
                <a:srgbClr val="C00000"/>
              </a:solidFill>
            </a:endParaRPr>
          </a:p>
          <a:p>
            <a:pPr lvl="1"/>
            <a:r>
              <a:rPr lang="en-US" dirty="0"/>
              <a:t>For </a:t>
            </a:r>
            <a:r>
              <a:rPr lang="en-US" dirty="0">
                <a:solidFill>
                  <a:srgbClr val="002060"/>
                </a:solidFill>
              </a:rPr>
              <a:t>sequential instructions</a:t>
            </a:r>
            <a:r>
              <a:rPr lang="en-US" dirty="0"/>
              <a:t>, use numbered lists</a:t>
            </a:r>
          </a:p>
          <a:p>
            <a:pPr lvl="1"/>
            <a:r>
              <a:rPr lang="en-US" dirty="0"/>
              <a:t>For </a:t>
            </a:r>
            <a:r>
              <a:rPr lang="en-US" dirty="0">
                <a:solidFill>
                  <a:srgbClr val="002060"/>
                </a:solidFill>
              </a:rPr>
              <a:t>longer documents</a:t>
            </a:r>
            <a:r>
              <a:rPr lang="en-US" dirty="0"/>
              <a:t>, include a table of contents and an index</a:t>
            </a:r>
          </a:p>
          <a:p>
            <a:pPr lvl="1"/>
            <a:r>
              <a:rPr lang="en-US" dirty="0"/>
              <a:t>For </a:t>
            </a:r>
            <a:r>
              <a:rPr lang="en-US" dirty="0">
                <a:solidFill>
                  <a:srgbClr val="002060"/>
                </a:solidFill>
              </a:rPr>
              <a:t>online documents</a:t>
            </a:r>
            <a:r>
              <a:rPr lang="en-US" dirty="0"/>
              <a:t>, use hyperlinks</a:t>
            </a:r>
          </a:p>
        </p:txBody>
      </p:sp>
    </p:spTree>
    <p:extLst>
      <p:ext uri="{BB962C8B-B14F-4D97-AF65-F5344CB8AC3E}">
        <p14:creationId xmlns:p14="http://schemas.microsoft.com/office/powerpoint/2010/main" val="2187617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229600" cy="5578475"/>
          </a:xfrm>
        </p:spPr>
        <p:txBody>
          <a:bodyPr>
            <a:normAutofit/>
          </a:bodyPr>
          <a:lstStyle/>
          <a:p>
            <a:pPr lvl="1"/>
            <a:r>
              <a:rPr lang="en-US" sz="4000" dirty="0"/>
              <a:t>Clarity</a:t>
            </a:r>
          </a:p>
          <a:p>
            <a:pPr lvl="1"/>
            <a:r>
              <a:rPr lang="en-US" sz="4000" dirty="0"/>
              <a:t>Conciseness</a:t>
            </a:r>
          </a:p>
          <a:p>
            <a:pPr lvl="1"/>
            <a:r>
              <a:rPr lang="en-US" sz="4000" dirty="0"/>
              <a:t>Accessible document design</a:t>
            </a:r>
          </a:p>
          <a:p>
            <a:pPr lvl="1"/>
            <a:r>
              <a:rPr lang="en-US" sz="4000" dirty="0"/>
              <a:t>Audience recognition</a:t>
            </a:r>
          </a:p>
          <a:p>
            <a:pPr lvl="1"/>
            <a:r>
              <a:rPr lang="en-US" sz="4000" dirty="0"/>
              <a:t>Accuracy</a:t>
            </a:r>
          </a:p>
          <a:p>
            <a:r>
              <a:rPr lang="en-US" sz="4000" dirty="0"/>
              <a:t>Applications</a:t>
            </a:r>
          </a:p>
          <a:p>
            <a:endParaRPr lang="en-US" sz="4000" dirty="0"/>
          </a:p>
        </p:txBody>
      </p:sp>
      <p:sp>
        <p:nvSpPr>
          <p:cNvPr id="6" name="Title 5"/>
          <p:cNvSpPr>
            <a:spLocks noGrp="1"/>
          </p:cNvSpPr>
          <p:nvPr>
            <p:ph type="title"/>
          </p:nvPr>
        </p:nvSpPr>
        <p:spPr>
          <a:xfrm>
            <a:off x="228600" y="304800"/>
            <a:ext cx="8229600" cy="609600"/>
          </a:xfrm>
          <a:ln>
            <a:solidFill>
              <a:schemeClr val="accent1"/>
            </a:solidFill>
          </a:ln>
        </p:spPr>
        <p:txBody>
          <a:bodyPr/>
          <a:lstStyle/>
          <a:p>
            <a:pPr algn="l"/>
            <a:r>
              <a:rPr lang="en-US" sz="3200" b="1" dirty="0">
                <a:solidFill>
                  <a:prstClr val="black"/>
                </a:solidFill>
                <a:ea typeface="+mn-ea"/>
                <a:cs typeface="+mn-cs"/>
              </a:rPr>
              <a:t>Traits of technical writing</a:t>
            </a:r>
            <a:endParaRPr lang="en-US" b="1" dirty="0"/>
          </a:p>
        </p:txBody>
      </p:sp>
    </p:spTree>
    <p:extLst>
      <p:ext uri="{BB962C8B-B14F-4D97-AF65-F5344CB8AC3E}">
        <p14:creationId xmlns:p14="http://schemas.microsoft.com/office/powerpoint/2010/main" val="1751422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0446136-5BA4-B513-8FC7-9F9B7A0AFEE3}"/>
              </a:ext>
            </a:extLst>
          </p:cNvPr>
          <p:cNvSpPr>
            <a:spLocks noGrp="1"/>
          </p:cNvSpPr>
          <p:nvPr>
            <p:ph type="ftr" sz="quarter" idx="11"/>
          </p:nvPr>
        </p:nvSpPr>
        <p:spPr/>
        <p:txBody>
          <a:bodyPr/>
          <a:lstStyle/>
          <a:p>
            <a:r>
              <a:rPr lang="en-US"/>
              <a:t>Technical Writing</a:t>
            </a:r>
          </a:p>
        </p:txBody>
      </p:sp>
      <p:sp>
        <p:nvSpPr>
          <p:cNvPr id="5" name="Slide Number Placeholder 4">
            <a:extLst>
              <a:ext uri="{FF2B5EF4-FFF2-40B4-BE49-F238E27FC236}">
                <a16:creationId xmlns:a16="http://schemas.microsoft.com/office/drawing/2014/main" id="{9C268B9A-B81B-2E64-6230-C0E467613538}"/>
              </a:ext>
            </a:extLst>
          </p:cNvPr>
          <p:cNvSpPr>
            <a:spLocks noGrp="1"/>
          </p:cNvSpPr>
          <p:nvPr>
            <p:ph type="sldNum" sz="quarter" idx="12"/>
          </p:nvPr>
        </p:nvSpPr>
        <p:spPr/>
        <p:txBody>
          <a:bodyPr/>
          <a:lstStyle/>
          <a:p>
            <a:fld id="{CE9A8198-B36E-4E8C-B56F-5CE897E27388}" type="slidenum">
              <a:rPr lang="en-US" smtClean="0"/>
              <a:pPr/>
              <a:t>26</a:t>
            </a:fld>
            <a:endParaRPr lang="en-US"/>
          </a:p>
        </p:txBody>
      </p:sp>
      <p:pic>
        <p:nvPicPr>
          <p:cNvPr id="7" name="Picture 6">
            <a:extLst>
              <a:ext uri="{FF2B5EF4-FFF2-40B4-BE49-F238E27FC236}">
                <a16:creationId xmlns:a16="http://schemas.microsoft.com/office/drawing/2014/main" id="{8BC3A394-CA10-ED4A-BE9E-83D5E24C4C94}"/>
              </a:ext>
            </a:extLst>
          </p:cNvPr>
          <p:cNvPicPr>
            <a:picLocks noChangeAspect="1"/>
          </p:cNvPicPr>
          <p:nvPr/>
        </p:nvPicPr>
        <p:blipFill>
          <a:blip r:embed="rId2"/>
          <a:stretch>
            <a:fillRect/>
          </a:stretch>
        </p:blipFill>
        <p:spPr>
          <a:xfrm>
            <a:off x="32829" y="1341064"/>
            <a:ext cx="9111171" cy="5353289"/>
          </a:xfrm>
          <a:prstGeom prst="rect">
            <a:avLst/>
          </a:prstGeom>
        </p:spPr>
      </p:pic>
      <p:sp>
        <p:nvSpPr>
          <p:cNvPr id="8" name="Title 1">
            <a:extLst>
              <a:ext uri="{FF2B5EF4-FFF2-40B4-BE49-F238E27FC236}">
                <a16:creationId xmlns:a16="http://schemas.microsoft.com/office/drawing/2014/main" id="{D55F8EC5-6364-0D8F-7EFA-167E5E25B5C7}"/>
              </a:ext>
            </a:extLst>
          </p:cNvPr>
          <p:cNvSpPr txBox="1">
            <a:spLocks/>
          </p:cNvSpPr>
          <p:nvPr/>
        </p:nvSpPr>
        <p:spPr>
          <a:xfrm>
            <a:off x="114300" y="298154"/>
            <a:ext cx="8915400" cy="430975"/>
          </a:xfrm>
          <a:prstGeom prst="rect">
            <a:avLst/>
          </a:prstGeom>
          <a:solidFill>
            <a:schemeClr val="accent6">
              <a:lumMod val="20000"/>
              <a:lumOff val="80000"/>
            </a:schemeClr>
          </a:solidFill>
        </p:spPr>
        <p:txBody>
          <a:bodyPr vert="horz" lIns="91440" tIns="45720" rIns="91440" bIns="45720" rtlCol="0" anchor="t">
            <a:normAutofit fontScale="82500" lnSpcReduction="20000"/>
          </a:bodyPr>
          <a:lstStyle>
            <a:lvl1pPr algn="l" defTabSz="914400" rtl="0" eaLnBrk="1" latinLnBrk="0" hangingPunct="1">
              <a:spcBef>
                <a:spcPct val="0"/>
              </a:spcBef>
              <a:buNone/>
              <a:defRPr sz="4000" b="1" kern="1200" cap="all">
                <a:solidFill>
                  <a:schemeClr val="tx1"/>
                </a:solidFill>
                <a:latin typeface="+mj-lt"/>
                <a:ea typeface="+mj-ea"/>
                <a:cs typeface="+mj-cs"/>
              </a:defRPr>
            </a:lvl1pPr>
          </a:lstStyle>
          <a:p>
            <a:r>
              <a:rPr lang="en-US" sz="3200"/>
              <a:t>Some Bad Examples: </a:t>
            </a:r>
            <a:endParaRPr lang="en-US" sz="3200" dirty="0"/>
          </a:p>
        </p:txBody>
      </p:sp>
    </p:spTree>
    <p:extLst>
      <p:ext uri="{BB962C8B-B14F-4D97-AF65-F5344CB8AC3E}">
        <p14:creationId xmlns:p14="http://schemas.microsoft.com/office/powerpoint/2010/main" val="4115350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BEB34E-073D-A906-96D0-1D0B3D22598C}"/>
              </a:ext>
            </a:extLst>
          </p:cNvPr>
          <p:cNvSpPr txBox="1"/>
          <p:nvPr/>
        </p:nvSpPr>
        <p:spPr>
          <a:xfrm>
            <a:off x="190500" y="1211085"/>
            <a:ext cx="8763000" cy="4435830"/>
          </a:xfrm>
          <a:prstGeom prst="rect">
            <a:avLst/>
          </a:prstGeom>
          <a:noFill/>
        </p:spPr>
        <p:txBody>
          <a:bodyPr wrap="square">
            <a:spAutoFit/>
          </a:bodyPr>
          <a:lstStyle/>
          <a:p>
            <a:pPr>
              <a:lnSpc>
                <a:spcPct val="150000"/>
              </a:lnSpc>
            </a:pPr>
            <a:r>
              <a:rPr lang="en-US" sz="3200" dirty="0"/>
              <a:t>An effective IEEE introduction follows a specific "funnel" structure: </a:t>
            </a:r>
          </a:p>
          <a:p>
            <a:pPr marL="457200" indent="-457200">
              <a:lnSpc>
                <a:spcPct val="150000"/>
              </a:lnSpc>
              <a:buFont typeface="Arial" panose="020B0604020202020204" pitchFamily="34" charset="0"/>
              <a:buChar char="•"/>
            </a:pPr>
            <a:r>
              <a:rPr lang="en-US" sz="3200" dirty="0"/>
              <a:t>Starting with a broad overview of the field,</a:t>
            </a:r>
          </a:p>
          <a:p>
            <a:pPr marL="457200" indent="-457200">
              <a:lnSpc>
                <a:spcPct val="150000"/>
              </a:lnSpc>
              <a:buFont typeface="Arial" panose="020B0604020202020204" pitchFamily="34" charset="0"/>
              <a:buChar char="•"/>
            </a:pPr>
            <a:r>
              <a:rPr lang="en-US" sz="3200" dirty="0"/>
              <a:t>Narrowing down to the specific problem,</a:t>
            </a:r>
          </a:p>
          <a:p>
            <a:pPr marL="457200" indent="-457200">
              <a:lnSpc>
                <a:spcPct val="150000"/>
              </a:lnSpc>
              <a:buFont typeface="Arial" panose="020B0604020202020204" pitchFamily="34" charset="0"/>
              <a:buChar char="•"/>
            </a:pPr>
            <a:r>
              <a:rPr lang="en-US" sz="3200" dirty="0"/>
              <a:t>Identifying a gap in existing research, and finally </a:t>
            </a:r>
          </a:p>
          <a:p>
            <a:pPr marL="457200" indent="-457200">
              <a:lnSpc>
                <a:spcPct val="150000"/>
              </a:lnSpc>
              <a:buFont typeface="Arial" panose="020B0604020202020204" pitchFamily="34" charset="0"/>
              <a:buChar char="•"/>
            </a:pPr>
            <a:r>
              <a:rPr lang="en-US" sz="3200" dirty="0"/>
              <a:t>Stating the paper's contribution.</a:t>
            </a:r>
          </a:p>
        </p:txBody>
      </p:sp>
      <p:sp>
        <p:nvSpPr>
          <p:cNvPr id="4" name="TextBox 3">
            <a:extLst>
              <a:ext uri="{FF2B5EF4-FFF2-40B4-BE49-F238E27FC236}">
                <a16:creationId xmlns:a16="http://schemas.microsoft.com/office/drawing/2014/main" id="{B357D5AF-AB56-705A-A857-38A3ED47EC3B}"/>
              </a:ext>
            </a:extLst>
          </p:cNvPr>
          <p:cNvSpPr txBox="1"/>
          <p:nvPr/>
        </p:nvSpPr>
        <p:spPr>
          <a:xfrm>
            <a:off x="381000" y="110402"/>
            <a:ext cx="3608680" cy="923330"/>
          </a:xfrm>
          <a:prstGeom prst="rect">
            <a:avLst/>
          </a:prstGeom>
          <a:noFill/>
        </p:spPr>
        <p:txBody>
          <a:bodyPr wrap="none" rtlCol="0">
            <a:spAutoFit/>
          </a:bodyPr>
          <a:lstStyle/>
          <a:p>
            <a:r>
              <a:rPr lang="en-US" sz="5400" dirty="0">
                <a:solidFill>
                  <a:srgbClr val="C00000"/>
                </a:solidFill>
              </a:rPr>
              <a:t>Introduction</a:t>
            </a:r>
          </a:p>
        </p:txBody>
      </p:sp>
    </p:spTree>
    <p:extLst>
      <p:ext uri="{BB962C8B-B14F-4D97-AF65-F5344CB8AC3E}">
        <p14:creationId xmlns:p14="http://schemas.microsoft.com/office/powerpoint/2010/main" val="1462070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questionnaire with text on it&#10;&#10;AI-generated content may be incorrect.">
            <a:extLst>
              <a:ext uri="{FF2B5EF4-FFF2-40B4-BE49-F238E27FC236}">
                <a16:creationId xmlns:a16="http://schemas.microsoft.com/office/drawing/2014/main" id="{A6B9C94F-B3B8-BCFC-BF82-8B8F80DCEEC6}"/>
              </a:ext>
            </a:extLst>
          </p:cNvPr>
          <p:cNvPicPr>
            <a:picLocks noChangeAspect="1"/>
          </p:cNvPicPr>
          <p:nvPr/>
        </p:nvPicPr>
        <p:blipFill>
          <a:blip r:embed="rId2"/>
          <a:stretch>
            <a:fillRect/>
          </a:stretch>
        </p:blipFill>
        <p:spPr>
          <a:xfrm>
            <a:off x="1219200" y="-147320"/>
            <a:ext cx="6638925" cy="7081520"/>
          </a:xfrm>
          <a:prstGeom prst="rect">
            <a:avLst/>
          </a:prstGeom>
        </p:spPr>
      </p:pic>
      <p:sp>
        <p:nvSpPr>
          <p:cNvPr id="3" name="Slide Number Placeholder 2">
            <a:extLst>
              <a:ext uri="{FF2B5EF4-FFF2-40B4-BE49-F238E27FC236}">
                <a16:creationId xmlns:a16="http://schemas.microsoft.com/office/drawing/2014/main" id="{8F8FF532-178E-6A72-C3C7-6F2F11E28E99}"/>
              </a:ext>
            </a:extLst>
          </p:cNvPr>
          <p:cNvSpPr>
            <a:spLocks noGrp="1"/>
          </p:cNvSpPr>
          <p:nvPr>
            <p:ph type="sldNum" sz="quarter" idx="12"/>
          </p:nvPr>
        </p:nvSpPr>
        <p:spPr>
          <a:xfrm>
            <a:off x="6457950" y="6356350"/>
            <a:ext cx="2057400" cy="365125"/>
          </a:xfrm>
        </p:spPr>
        <p:txBody>
          <a:bodyPr>
            <a:normAutofit/>
          </a:bodyPr>
          <a:lstStyle/>
          <a:p>
            <a:pPr>
              <a:spcAft>
                <a:spcPts val="600"/>
              </a:spcAft>
            </a:pPr>
            <a:fld id="{CE9A8198-B36E-4E8C-B56F-5CE897E27388}" type="slidenum">
              <a:rPr lang="en-US" smtClean="0"/>
              <a:pPr>
                <a:spcAft>
                  <a:spcPts val="600"/>
                </a:spcAft>
              </a:pPr>
              <a:t>28</a:t>
            </a:fld>
            <a:endParaRPr lang="en-US"/>
          </a:p>
        </p:txBody>
      </p:sp>
    </p:spTree>
    <p:extLst>
      <p:ext uri="{BB962C8B-B14F-4D97-AF65-F5344CB8AC3E}">
        <p14:creationId xmlns:p14="http://schemas.microsoft.com/office/powerpoint/2010/main" val="2550217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0B7ED-46C9-4375-B38B-8AA12576214B}"/>
              </a:ext>
            </a:extLst>
          </p:cNvPr>
          <p:cNvSpPr>
            <a:spLocks noGrp="1"/>
          </p:cNvSpPr>
          <p:nvPr>
            <p:ph type="ctrTitle"/>
          </p:nvPr>
        </p:nvSpPr>
        <p:spPr>
          <a:xfrm>
            <a:off x="76200" y="102425"/>
            <a:ext cx="8915400" cy="430975"/>
          </a:xfrm>
          <a:solidFill>
            <a:schemeClr val="accent6">
              <a:lumMod val="20000"/>
              <a:lumOff val="80000"/>
            </a:schemeClr>
          </a:solidFill>
        </p:spPr>
        <p:txBody>
          <a:bodyPr>
            <a:normAutofit fontScale="90000"/>
          </a:bodyPr>
          <a:lstStyle/>
          <a:p>
            <a:r>
              <a:rPr lang="en-US" sz="3200" dirty="0"/>
              <a:t>Some Bad Examples: </a:t>
            </a:r>
          </a:p>
        </p:txBody>
      </p:sp>
      <p:sp>
        <p:nvSpPr>
          <p:cNvPr id="3" name="Subtitle 2">
            <a:extLst>
              <a:ext uri="{FF2B5EF4-FFF2-40B4-BE49-F238E27FC236}">
                <a16:creationId xmlns:a16="http://schemas.microsoft.com/office/drawing/2014/main" id="{239B4BC7-96F3-4419-B5C1-C92667E60A1E}"/>
              </a:ext>
            </a:extLst>
          </p:cNvPr>
          <p:cNvSpPr>
            <a:spLocks noGrp="1"/>
          </p:cNvSpPr>
          <p:nvPr>
            <p:ph type="subTitle" idx="1"/>
          </p:nvPr>
        </p:nvSpPr>
        <p:spPr>
          <a:xfrm>
            <a:off x="152400" y="3657600"/>
            <a:ext cx="8915400" cy="3124200"/>
          </a:xfrm>
        </p:spPr>
        <p:txBody>
          <a:bodyPr>
            <a:normAutofit/>
          </a:bodyPr>
          <a:lstStyle/>
          <a:p>
            <a:pPr marL="342900" marR="0" lvl="0" indent="-342900" algn="l" rtl="0">
              <a:spcBef>
                <a:spcPts val="0"/>
              </a:spcBef>
              <a:spcAft>
                <a:spcPts val="1200"/>
              </a:spcAft>
              <a:buFont typeface="+mj-lt"/>
              <a:buAutoNum type="arabicPeriod"/>
            </a:pPr>
            <a:r>
              <a:rPr lang="en-US" sz="3600" b="1" kern="0" dirty="0">
                <a:solidFill>
                  <a:srgbClr val="333333"/>
                </a:solidFill>
                <a:effectLst/>
                <a:latin typeface="Arial" panose="020B0604020202020204" pitchFamily="34" charset="0"/>
                <a:ea typeface="Arial" panose="020B0604020202020204" pitchFamily="34" charset="0"/>
              </a:rPr>
              <a:t>* Introduction  </a:t>
            </a:r>
          </a:p>
          <a:p>
            <a:pPr marL="0" marR="0" algn="l">
              <a:lnSpc>
                <a:spcPct val="115000"/>
              </a:lnSpc>
              <a:spcBef>
                <a:spcPts val="0"/>
              </a:spcBef>
              <a:spcAft>
                <a:spcPts val="1600"/>
              </a:spcAft>
            </a:pPr>
            <a:r>
              <a:rPr lang="en-US" sz="3200" dirty="0">
                <a:solidFill>
                  <a:schemeClr val="tx1"/>
                </a:solidFill>
                <a:effectLst/>
                <a:latin typeface="Times New Roman" panose="02020603050405020304" pitchFamily="18" charset="0"/>
                <a:ea typeface="Times New Roman" panose="02020603050405020304" pitchFamily="18" charset="0"/>
              </a:rPr>
              <a:t>Our project ties into the many subfields of Electrical Engineering which we have studied and applied in order to have a functioning robot. </a:t>
            </a:r>
            <a:r>
              <a:rPr lang="en-US" sz="1600" dirty="0">
                <a:solidFill>
                  <a:schemeClr val="tx1"/>
                </a:solidFill>
                <a:effectLst/>
                <a:latin typeface="Times New Roman" panose="02020603050405020304" pitchFamily="18" charset="0"/>
                <a:ea typeface="Times New Roman" panose="02020603050405020304" pitchFamily="18" charset="0"/>
              </a:rPr>
              <a:t> </a:t>
            </a:r>
            <a:endParaRPr lang="en-US" dirty="0"/>
          </a:p>
        </p:txBody>
      </p:sp>
      <p:sp>
        <p:nvSpPr>
          <p:cNvPr id="4" name="Footer Placeholder 3">
            <a:extLst>
              <a:ext uri="{FF2B5EF4-FFF2-40B4-BE49-F238E27FC236}">
                <a16:creationId xmlns:a16="http://schemas.microsoft.com/office/drawing/2014/main" id="{3A8CBD6A-C692-4147-8A43-5BD45DE43362}"/>
              </a:ext>
            </a:extLst>
          </p:cNvPr>
          <p:cNvSpPr>
            <a:spLocks noGrp="1"/>
          </p:cNvSpPr>
          <p:nvPr>
            <p:ph type="ftr" sz="quarter" idx="11"/>
          </p:nvPr>
        </p:nvSpPr>
        <p:spPr/>
        <p:txBody>
          <a:bodyPr/>
          <a:lstStyle/>
          <a:p>
            <a:r>
              <a:rPr lang="en-US"/>
              <a:t>Technical Writing</a:t>
            </a:r>
          </a:p>
        </p:txBody>
      </p:sp>
      <p:sp>
        <p:nvSpPr>
          <p:cNvPr id="5" name="Slide Number Placeholder 4">
            <a:extLst>
              <a:ext uri="{FF2B5EF4-FFF2-40B4-BE49-F238E27FC236}">
                <a16:creationId xmlns:a16="http://schemas.microsoft.com/office/drawing/2014/main" id="{C1CA1345-83F2-45BE-BEEA-65860EC4E684}"/>
              </a:ext>
            </a:extLst>
          </p:cNvPr>
          <p:cNvSpPr>
            <a:spLocks noGrp="1"/>
          </p:cNvSpPr>
          <p:nvPr>
            <p:ph type="sldNum" sz="quarter" idx="12"/>
          </p:nvPr>
        </p:nvSpPr>
        <p:spPr/>
        <p:txBody>
          <a:bodyPr/>
          <a:lstStyle/>
          <a:p>
            <a:fld id="{CE9A8198-B36E-4E8C-B56F-5CE897E27388}" type="slidenum">
              <a:rPr lang="en-US" smtClean="0"/>
              <a:pPr/>
              <a:t>29</a:t>
            </a:fld>
            <a:endParaRPr lang="en-US"/>
          </a:p>
        </p:txBody>
      </p:sp>
      <p:sp>
        <p:nvSpPr>
          <p:cNvPr id="7" name="TextBox 6">
            <a:extLst>
              <a:ext uri="{FF2B5EF4-FFF2-40B4-BE49-F238E27FC236}">
                <a16:creationId xmlns:a16="http://schemas.microsoft.com/office/drawing/2014/main" id="{8482B46E-18A3-4C74-ACEF-EFC55D0A32C5}"/>
              </a:ext>
            </a:extLst>
          </p:cNvPr>
          <p:cNvSpPr txBox="1"/>
          <p:nvPr/>
        </p:nvSpPr>
        <p:spPr>
          <a:xfrm>
            <a:off x="152400" y="838201"/>
            <a:ext cx="8610600" cy="2308324"/>
          </a:xfrm>
          <a:prstGeom prst="rect">
            <a:avLst/>
          </a:prstGeom>
          <a:solidFill>
            <a:schemeClr val="accent3">
              <a:lumMod val="40000"/>
              <a:lumOff val="60000"/>
            </a:schemeClr>
          </a:solidFill>
        </p:spPr>
        <p:txBody>
          <a:bodyPr wrap="square">
            <a:spAutoFit/>
          </a:bodyPr>
          <a:lstStyle/>
          <a:p>
            <a:r>
              <a:rPr lang="en-US" sz="2400" b="1" dirty="0"/>
              <a:t>Introduction: </a:t>
            </a:r>
            <a:r>
              <a:rPr lang="en-US" sz="2400" dirty="0"/>
              <a:t>(From ECE Senior Project Report Template) </a:t>
            </a:r>
          </a:p>
          <a:p>
            <a:r>
              <a:rPr lang="en-US" sz="2400" dirty="0"/>
              <a:t>2.1* Design Objectives and System Overview</a:t>
            </a:r>
          </a:p>
          <a:p>
            <a:r>
              <a:rPr lang="en-US" sz="2400" dirty="0"/>
              <a:t> </a:t>
            </a:r>
          </a:p>
          <a:p>
            <a:r>
              <a:rPr lang="en-US" sz="2400" dirty="0"/>
              <a:t> Describe the concept and application of the design: </a:t>
            </a:r>
          </a:p>
          <a:p>
            <a:r>
              <a:rPr lang="en-US" sz="2400" dirty="0"/>
              <a:t> </a:t>
            </a:r>
          </a:p>
          <a:p>
            <a:r>
              <a:rPr lang="en-US" sz="2400" dirty="0"/>
              <a:t> What are you designing? </a:t>
            </a:r>
          </a:p>
        </p:txBody>
      </p:sp>
    </p:spTree>
    <p:extLst>
      <p:ext uri="{BB962C8B-B14F-4D97-AF65-F5344CB8AC3E}">
        <p14:creationId xmlns:p14="http://schemas.microsoft.com/office/powerpoint/2010/main" val="2504189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9B4BC7-96F3-4419-B5C1-C92667E60A1E}"/>
              </a:ext>
            </a:extLst>
          </p:cNvPr>
          <p:cNvSpPr>
            <a:spLocks noGrp="1"/>
          </p:cNvSpPr>
          <p:nvPr>
            <p:ph type="subTitle" idx="1"/>
          </p:nvPr>
        </p:nvSpPr>
        <p:spPr>
          <a:xfrm>
            <a:off x="114300" y="3124200"/>
            <a:ext cx="8915400" cy="3124200"/>
          </a:xfrm>
        </p:spPr>
        <p:txBody>
          <a:bodyPr>
            <a:normAutofit/>
          </a:bodyPr>
          <a:lstStyle/>
          <a:p>
            <a:pPr marR="0" lvl="0" algn="l" rtl="0">
              <a:spcBef>
                <a:spcPts val="0"/>
              </a:spcBef>
              <a:spcAft>
                <a:spcPts val="1200"/>
              </a:spcAft>
            </a:pPr>
            <a:r>
              <a:rPr lang="en-US" sz="3600" b="1" kern="0" dirty="0">
                <a:solidFill>
                  <a:srgbClr val="333333"/>
                </a:solidFill>
                <a:latin typeface="Arial" panose="020B0604020202020204" pitchFamily="34" charset="0"/>
                <a:ea typeface="Arial" panose="020B0604020202020204" pitchFamily="34" charset="0"/>
              </a:rPr>
              <a:t>2.</a:t>
            </a:r>
            <a:r>
              <a:rPr lang="en-US" sz="3600" b="1" kern="0" dirty="0">
                <a:solidFill>
                  <a:srgbClr val="333333"/>
                </a:solidFill>
                <a:effectLst/>
                <a:latin typeface="Arial" panose="020B0604020202020204" pitchFamily="34" charset="0"/>
                <a:ea typeface="Arial" panose="020B0604020202020204" pitchFamily="34" charset="0"/>
              </a:rPr>
              <a:t> Introduction  </a:t>
            </a:r>
          </a:p>
          <a:p>
            <a:pPr marL="0" marR="0" algn="l">
              <a:lnSpc>
                <a:spcPct val="115000"/>
              </a:lnSpc>
              <a:spcBef>
                <a:spcPts val="0"/>
              </a:spcBef>
              <a:spcAft>
                <a:spcPts val="1600"/>
              </a:spcAft>
            </a:pPr>
            <a:r>
              <a:rPr lang="en-US" sz="3200" dirty="0">
                <a:solidFill>
                  <a:schemeClr val="tx1"/>
                </a:solidFill>
                <a:effectLst/>
                <a:latin typeface="Times New Roman" panose="02020603050405020304" pitchFamily="18" charset="0"/>
                <a:ea typeface="Times New Roman" panose="02020603050405020304" pitchFamily="18" charset="0"/>
              </a:rPr>
              <a:t>Our design for this project began with the creation of three main nodes consisting of one for the mobile base, the second for the robotic arm, and the third for the computer vision aspect of this project.</a:t>
            </a:r>
            <a:endParaRPr lang="en-US" dirty="0"/>
          </a:p>
        </p:txBody>
      </p:sp>
      <p:sp>
        <p:nvSpPr>
          <p:cNvPr id="4" name="Footer Placeholder 3">
            <a:extLst>
              <a:ext uri="{FF2B5EF4-FFF2-40B4-BE49-F238E27FC236}">
                <a16:creationId xmlns:a16="http://schemas.microsoft.com/office/drawing/2014/main" id="{3A8CBD6A-C692-4147-8A43-5BD45DE4336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C1CA1345-83F2-45BE-BEEA-65860EC4E6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id="{8482B46E-18A3-4C74-ACEF-EFC55D0A32C5}"/>
              </a:ext>
            </a:extLst>
          </p:cNvPr>
          <p:cNvSpPr txBox="1"/>
          <p:nvPr/>
        </p:nvSpPr>
        <p:spPr>
          <a:xfrm>
            <a:off x="152400" y="136526"/>
            <a:ext cx="8610600" cy="2308324"/>
          </a:xfrm>
          <a:prstGeom prst="rect">
            <a:avLst/>
          </a:prstGeom>
          <a:solidFill>
            <a:schemeClr val="accent3">
              <a:lumMod val="40000"/>
              <a:lumOff val="6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Introduction: </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(From ECE Senior Project Report Template)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2.1* Design Objectives and System Overview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 Describe the concept and application of the design: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 What are you designing? </a:t>
            </a:r>
          </a:p>
        </p:txBody>
      </p:sp>
      <p:cxnSp>
        <p:nvCxnSpPr>
          <p:cNvPr id="6" name="Straight Connector 5">
            <a:extLst>
              <a:ext uri="{FF2B5EF4-FFF2-40B4-BE49-F238E27FC236}">
                <a16:creationId xmlns:a16="http://schemas.microsoft.com/office/drawing/2014/main" id="{2CB05E6E-0464-E834-E975-F5D32CA5DEC5}"/>
              </a:ext>
            </a:extLst>
          </p:cNvPr>
          <p:cNvCxnSpPr/>
          <p:nvPr/>
        </p:nvCxnSpPr>
        <p:spPr>
          <a:xfrm>
            <a:off x="304800" y="3810000"/>
            <a:ext cx="8305800" cy="259080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BC550E5F-FE49-C983-6C22-E6B439E8B84B}"/>
              </a:ext>
            </a:extLst>
          </p:cNvPr>
          <p:cNvCxnSpPr>
            <a:cxnSpLocks/>
          </p:cNvCxnSpPr>
          <p:nvPr/>
        </p:nvCxnSpPr>
        <p:spPr>
          <a:xfrm flipH="1">
            <a:off x="228600" y="3352800"/>
            <a:ext cx="8458200" cy="289560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61329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F016485-278E-25CD-ECA7-7D3C9D10D9A4}"/>
              </a:ext>
            </a:extLst>
          </p:cNvPr>
          <p:cNvSpPr>
            <a:spLocks noGrp="1"/>
          </p:cNvSpPr>
          <p:nvPr>
            <p:ph type="ftr" sz="quarter" idx="11"/>
          </p:nvPr>
        </p:nvSpPr>
        <p:spPr/>
        <p:txBody>
          <a:bodyPr/>
          <a:lstStyle/>
          <a:p>
            <a:r>
              <a:rPr lang="en-US"/>
              <a:t>Technical Writing</a:t>
            </a:r>
          </a:p>
        </p:txBody>
      </p:sp>
      <p:sp>
        <p:nvSpPr>
          <p:cNvPr id="5" name="Slide Number Placeholder 4">
            <a:extLst>
              <a:ext uri="{FF2B5EF4-FFF2-40B4-BE49-F238E27FC236}">
                <a16:creationId xmlns:a16="http://schemas.microsoft.com/office/drawing/2014/main" id="{D8EFCDE3-EF12-5ED1-1BEE-9592551B6B29}"/>
              </a:ext>
            </a:extLst>
          </p:cNvPr>
          <p:cNvSpPr>
            <a:spLocks noGrp="1"/>
          </p:cNvSpPr>
          <p:nvPr>
            <p:ph type="sldNum" sz="quarter" idx="12"/>
          </p:nvPr>
        </p:nvSpPr>
        <p:spPr/>
        <p:txBody>
          <a:bodyPr/>
          <a:lstStyle/>
          <a:p>
            <a:fld id="{CE9A8198-B36E-4E8C-B56F-5CE897E27388}" type="slidenum">
              <a:rPr lang="en-US" smtClean="0"/>
              <a:pPr/>
              <a:t>31</a:t>
            </a:fld>
            <a:endParaRPr lang="en-US"/>
          </a:p>
        </p:txBody>
      </p:sp>
      <p:pic>
        <p:nvPicPr>
          <p:cNvPr id="7" name="Picture 6">
            <a:extLst>
              <a:ext uri="{FF2B5EF4-FFF2-40B4-BE49-F238E27FC236}">
                <a16:creationId xmlns:a16="http://schemas.microsoft.com/office/drawing/2014/main" id="{56ED039E-1F26-E786-66C4-E6F7C48A07C5}"/>
              </a:ext>
            </a:extLst>
          </p:cNvPr>
          <p:cNvPicPr>
            <a:picLocks noChangeAspect="1"/>
          </p:cNvPicPr>
          <p:nvPr/>
        </p:nvPicPr>
        <p:blipFill>
          <a:blip r:embed="rId2"/>
          <a:stretch>
            <a:fillRect/>
          </a:stretch>
        </p:blipFill>
        <p:spPr>
          <a:xfrm>
            <a:off x="52483" y="1295400"/>
            <a:ext cx="9039033" cy="4267199"/>
          </a:xfrm>
          <a:prstGeom prst="rect">
            <a:avLst/>
          </a:prstGeom>
        </p:spPr>
      </p:pic>
      <p:sp>
        <p:nvSpPr>
          <p:cNvPr id="8" name="Title 1">
            <a:extLst>
              <a:ext uri="{FF2B5EF4-FFF2-40B4-BE49-F238E27FC236}">
                <a16:creationId xmlns:a16="http://schemas.microsoft.com/office/drawing/2014/main" id="{CA837B92-208A-A01D-D3AB-E5417E4F80FF}"/>
              </a:ext>
            </a:extLst>
          </p:cNvPr>
          <p:cNvSpPr>
            <a:spLocks noGrp="1"/>
          </p:cNvSpPr>
          <p:nvPr>
            <p:ph type="ctrTitle"/>
          </p:nvPr>
        </p:nvSpPr>
        <p:spPr>
          <a:xfrm>
            <a:off x="76200" y="102425"/>
            <a:ext cx="8915400" cy="430975"/>
          </a:xfrm>
          <a:solidFill>
            <a:schemeClr val="accent6">
              <a:lumMod val="20000"/>
              <a:lumOff val="80000"/>
            </a:schemeClr>
          </a:solidFill>
        </p:spPr>
        <p:txBody>
          <a:bodyPr>
            <a:normAutofit fontScale="90000"/>
          </a:bodyPr>
          <a:lstStyle/>
          <a:p>
            <a:r>
              <a:rPr lang="en-US" sz="3200" dirty="0"/>
              <a:t>Some Bad Examples: </a:t>
            </a:r>
          </a:p>
        </p:txBody>
      </p:sp>
      <p:cxnSp>
        <p:nvCxnSpPr>
          <p:cNvPr id="3" name="Straight Connector 2">
            <a:extLst>
              <a:ext uri="{FF2B5EF4-FFF2-40B4-BE49-F238E27FC236}">
                <a16:creationId xmlns:a16="http://schemas.microsoft.com/office/drawing/2014/main" id="{F8E0537C-B489-56F4-C6A9-6BE4005401EF}"/>
              </a:ext>
            </a:extLst>
          </p:cNvPr>
          <p:cNvCxnSpPr/>
          <p:nvPr/>
        </p:nvCxnSpPr>
        <p:spPr>
          <a:xfrm>
            <a:off x="1143000" y="25908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6" name="Straight Connector 5">
            <a:extLst>
              <a:ext uri="{FF2B5EF4-FFF2-40B4-BE49-F238E27FC236}">
                <a16:creationId xmlns:a16="http://schemas.microsoft.com/office/drawing/2014/main" id="{0A4A99DE-68AB-A0B5-9E9F-64ED6B7D0105}"/>
              </a:ext>
            </a:extLst>
          </p:cNvPr>
          <p:cNvCxnSpPr/>
          <p:nvPr/>
        </p:nvCxnSpPr>
        <p:spPr>
          <a:xfrm>
            <a:off x="1828800" y="28194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9" name="Straight Connector 8">
            <a:extLst>
              <a:ext uri="{FF2B5EF4-FFF2-40B4-BE49-F238E27FC236}">
                <a16:creationId xmlns:a16="http://schemas.microsoft.com/office/drawing/2014/main" id="{C40D40A7-80FC-04C5-FCF8-7427116DBAC7}"/>
              </a:ext>
            </a:extLst>
          </p:cNvPr>
          <p:cNvCxnSpPr/>
          <p:nvPr/>
        </p:nvCxnSpPr>
        <p:spPr>
          <a:xfrm>
            <a:off x="457200" y="30480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Straight Connector 9">
            <a:extLst>
              <a:ext uri="{FF2B5EF4-FFF2-40B4-BE49-F238E27FC236}">
                <a16:creationId xmlns:a16="http://schemas.microsoft.com/office/drawing/2014/main" id="{872C9D97-04E0-3123-191C-C95CE2D97055}"/>
              </a:ext>
            </a:extLst>
          </p:cNvPr>
          <p:cNvCxnSpPr/>
          <p:nvPr/>
        </p:nvCxnSpPr>
        <p:spPr>
          <a:xfrm>
            <a:off x="1981200" y="30480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Straight Connector 10">
            <a:extLst>
              <a:ext uri="{FF2B5EF4-FFF2-40B4-BE49-F238E27FC236}">
                <a16:creationId xmlns:a16="http://schemas.microsoft.com/office/drawing/2014/main" id="{DECEDBB5-859A-3FAE-80C0-5F26F920C563}"/>
              </a:ext>
            </a:extLst>
          </p:cNvPr>
          <p:cNvCxnSpPr/>
          <p:nvPr/>
        </p:nvCxnSpPr>
        <p:spPr>
          <a:xfrm>
            <a:off x="6362700" y="30480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Straight Connector 11">
            <a:extLst>
              <a:ext uri="{FF2B5EF4-FFF2-40B4-BE49-F238E27FC236}">
                <a16:creationId xmlns:a16="http://schemas.microsoft.com/office/drawing/2014/main" id="{77FA93D5-F76D-5026-2901-75C0FFCF19C1}"/>
              </a:ext>
            </a:extLst>
          </p:cNvPr>
          <p:cNvCxnSpPr/>
          <p:nvPr/>
        </p:nvCxnSpPr>
        <p:spPr>
          <a:xfrm>
            <a:off x="7772400" y="30480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Straight Connector 12">
            <a:extLst>
              <a:ext uri="{FF2B5EF4-FFF2-40B4-BE49-F238E27FC236}">
                <a16:creationId xmlns:a16="http://schemas.microsoft.com/office/drawing/2014/main" id="{25163D96-7146-7B73-F7BD-A602DE9FFC91}"/>
              </a:ext>
            </a:extLst>
          </p:cNvPr>
          <p:cNvCxnSpPr/>
          <p:nvPr/>
        </p:nvCxnSpPr>
        <p:spPr>
          <a:xfrm>
            <a:off x="1981200" y="33528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Straight Connector 13">
            <a:extLst>
              <a:ext uri="{FF2B5EF4-FFF2-40B4-BE49-F238E27FC236}">
                <a16:creationId xmlns:a16="http://schemas.microsoft.com/office/drawing/2014/main" id="{A1E93B75-42C3-96EF-032A-12224F63CD1A}"/>
              </a:ext>
            </a:extLst>
          </p:cNvPr>
          <p:cNvCxnSpPr/>
          <p:nvPr/>
        </p:nvCxnSpPr>
        <p:spPr>
          <a:xfrm>
            <a:off x="8305800" y="3344174"/>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Straight Connector 14">
            <a:extLst>
              <a:ext uri="{FF2B5EF4-FFF2-40B4-BE49-F238E27FC236}">
                <a16:creationId xmlns:a16="http://schemas.microsoft.com/office/drawing/2014/main" id="{248E6574-E597-2E04-1073-4FFCC67D5609}"/>
              </a:ext>
            </a:extLst>
          </p:cNvPr>
          <p:cNvCxnSpPr/>
          <p:nvPr/>
        </p:nvCxnSpPr>
        <p:spPr>
          <a:xfrm>
            <a:off x="533400" y="35814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Straight Connector 15">
            <a:extLst>
              <a:ext uri="{FF2B5EF4-FFF2-40B4-BE49-F238E27FC236}">
                <a16:creationId xmlns:a16="http://schemas.microsoft.com/office/drawing/2014/main" id="{CA840EBC-D7C8-75F2-8DCB-22F4C4956939}"/>
              </a:ext>
            </a:extLst>
          </p:cNvPr>
          <p:cNvCxnSpPr>
            <a:cxnSpLocks/>
          </p:cNvCxnSpPr>
          <p:nvPr/>
        </p:nvCxnSpPr>
        <p:spPr>
          <a:xfrm>
            <a:off x="1887747" y="3810000"/>
            <a:ext cx="2074653"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8" name="Straight Connector 17">
            <a:extLst>
              <a:ext uri="{FF2B5EF4-FFF2-40B4-BE49-F238E27FC236}">
                <a16:creationId xmlns:a16="http://schemas.microsoft.com/office/drawing/2014/main" id="{63AF69D6-81F2-15A1-351D-4C3A72C0AC79}"/>
              </a:ext>
            </a:extLst>
          </p:cNvPr>
          <p:cNvCxnSpPr>
            <a:cxnSpLocks/>
          </p:cNvCxnSpPr>
          <p:nvPr/>
        </p:nvCxnSpPr>
        <p:spPr>
          <a:xfrm>
            <a:off x="5334000" y="3801374"/>
            <a:ext cx="25146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Straight Connector 19">
            <a:extLst>
              <a:ext uri="{FF2B5EF4-FFF2-40B4-BE49-F238E27FC236}">
                <a16:creationId xmlns:a16="http://schemas.microsoft.com/office/drawing/2014/main" id="{3F4D30DB-1067-C24B-D48F-956D32A6E6A2}"/>
              </a:ext>
            </a:extLst>
          </p:cNvPr>
          <p:cNvCxnSpPr>
            <a:cxnSpLocks/>
          </p:cNvCxnSpPr>
          <p:nvPr/>
        </p:nvCxnSpPr>
        <p:spPr>
          <a:xfrm>
            <a:off x="457200" y="4038600"/>
            <a:ext cx="2286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2" name="Straight Connector 21">
            <a:extLst>
              <a:ext uri="{FF2B5EF4-FFF2-40B4-BE49-F238E27FC236}">
                <a16:creationId xmlns:a16="http://schemas.microsoft.com/office/drawing/2014/main" id="{FAECCBE2-E97A-8B0A-9278-34B1450EE377}"/>
              </a:ext>
            </a:extLst>
          </p:cNvPr>
          <p:cNvCxnSpPr/>
          <p:nvPr/>
        </p:nvCxnSpPr>
        <p:spPr>
          <a:xfrm>
            <a:off x="8305800" y="3827253"/>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3" name="Straight Connector 22">
            <a:extLst>
              <a:ext uri="{FF2B5EF4-FFF2-40B4-BE49-F238E27FC236}">
                <a16:creationId xmlns:a16="http://schemas.microsoft.com/office/drawing/2014/main" id="{F63E2D95-7802-E0CF-A949-C3B8D0444E7A}"/>
              </a:ext>
            </a:extLst>
          </p:cNvPr>
          <p:cNvCxnSpPr/>
          <p:nvPr/>
        </p:nvCxnSpPr>
        <p:spPr>
          <a:xfrm>
            <a:off x="5486400" y="40386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4" name="Straight Connector 23">
            <a:extLst>
              <a:ext uri="{FF2B5EF4-FFF2-40B4-BE49-F238E27FC236}">
                <a16:creationId xmlns:a16="http://schemas.microsoft.com/office/drawing/2014/main" id="{92368FFE-E684-D63D-D3F0-B28F1B0794C6}"/>
              </a:ext>
            </a:extLst>
          </p:cNvPr>
          <p:cNvCxnSpPr>
            <a:cxnSpLocks/>
          </p:cNvCxnSpPr>
          <p:nvPr/>
        </p:nvCxnSpPr>
        <p:spPr>
          <a:xfrm>
            <a:off x="8048445" y="4495800"/>
            <a:ext cx="790755"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6" name="Straight Connector 25">
            <a:extLst>
              <a:ext uri="{FF2B5EF4-FFF2-40B4-BE49-F238E27FC236}">
                <a16:creationId xmlns:a16="http://schemas.microsoft.com/office/drawing/2014/main" id="{8C292599-5F55-E4D1-91FF-92E5EABDBBFC}"/>
              </a:ext>
            </a:extLst>
          </p:cNvPr>
          <p:cNvCxnSpPr/>
          <p:nvPr/>
        </p:nvCxnSpPr>
        <p:spPr>
          <a:xfrm>
            <a:off x="769189" y="47244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7" name="Straight Connector 26">
            <a:extLst>
              <a:ext uri="{FF2B5EF4-FFF2-40B4-BE49-F238E27FC236}">
                <a16:creationId xmlns:a16="http://schemas.microsoft.com/office/drawing/2014/main" id="{92D197CB-3009-149E-FF6D-808A5816C8A1}"/>
              </a:ext>
            </a:extLst>
          </p:cNvPr>
          <p:cNvCxnSpPr/>
          <p:nvPr/>
        </p:nvCxnSpPr>
        <p:spPr>
          <a:xfrm>
            <a:off x="7162800" y="475603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28" name="Straight Connector 27">
            <a:extLst>
              <a:ext uri="{FF2B5EF4-FFF2-40B4-BE49-F238E27FC236}">
                <a16:creationId xmlns:a16="http://schemas.microsoft.com/office/drawing/2014/main" id="{2E0C7993-98EB-55CE-9866-B3BE3921410E}"/>
              </a:ext>
            </a:extLst>
          </p:cNvPr>
          <p:cNvCxnSpPr>
            <a:cxnSpLocks/>
          </p:cNvCxnSpPr>
          <p:nvPr/>
        </p:nvCxnSpPr>
        <p:spPr>
          <a:xfrm>
            <a:off x="4953000" y="5029200"/>
            <a:ext cx="6858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30" name="Straight Connector 29">
            <a:extLst>
              <a:ext uri="{FF2B5EF4-FFF2-40B4-BE49-F238E27FC236}">
                <a16:creationId xmlns:a16="http://schemas.microsoft.com/office/drawing/2014/main" id="{A37D4E95-D2DB-3972-A577-70F4AE487EC1}"/>
              </a:ext>
            </a:extLst>
          </p:cNvPr>
          <p:cNvCxnSpPr/>
          <p:nvPr/>
        </p:nvCxnSpPr>
        <p:spPr>
          <a:xfrm>
            <a:off x="4876800" y="5257800"/>
            <a:ext cx="381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31" name="Straight Connector 30">
            <a:extLst>
              <a:ext uri="{FF2B5EF4-FFF2-40B4-BE49-F238E27FC236}">
                <a16:creationId xmlns:a16="http://schemas.microsoft.com/office/drawing/2014/main" id="{150E054C-7A56-27C0-841C-32DD15460A6C}"/>
              </a:ext>
            </a:extLst>
          </p:cNvPr>
          <p:cNvCxnSpPr/>
          <p:nvPr/>
        </p:nvCxnSpPr>
        <p:spPr>
          <a:xfrm>
            <a:off x="3962400" y="5486400"/>
            <a:ext cx="381000" cy="0"/>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254276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9B4BC7-96F3-4419-B5C1-C92667E60A1E}"/>
              </a:ext>
            </a:extLst>
          </p:cNvPr>
          <p:cNvSpPr>
            <a:spLocks noGrp="1"/>
          </p:cNvSpPr>
          <p:nvPr>
            <p:ph type="subTitle" idx="1"/>
          </p:nvPr>
        </p:nvSpPr>
        <p:spPr>
          <a:xfrm>
            <a:off x="76200" y="2057399"/>
            <a:ext cx="8991600" cy="4698175"/>
          </a:xfrm>
        </p:spPr>
        <p:txBody>
          <a:bodyPr>
            <a:normAutofit fontScale="40000" lnSpcReduction="20000"/>
          </a:bodyPr>
          <a:lstStyle/>
          <a:p>
            <a:pPr marR="0" lvl="0" algn="l" rtl="0">
              <a:spcBef>
                <a:spcPts val="0"/>
              </a:spcBef>
              <a:spcAft>
                <a:spcPts val="1200"/>
              </a:spcAft>
            </a:pPr>
            <a:r>
              <a:rPr lang="en-US" sz="3600" b="1" kern="0" dirty="0">
                <a:solidFill>
                  <a:srgbClr val="333333"/>
                </a:solidFill>
                <a:latin typeface="Arial" panose="020B0604020202020204" pitchFamily="34" charset="0"/>
                <a:ea typeface="Arial" panose="020B0604020202020204" pitchFamily="34" charset="0"/>
              </a:rPr>
              <a:t>LPF: Low-Pass Filter. </a:t>
            </a:r>
            <a:r>
              <a:rPr lang="en-US" sz="3600" b="1" strike="sngStrike" kern="0" dirty="0">
                <a:solidFill>
                  <a:srgbClr val="333333"/>
                </a:solidFill>
                <a:latin typeface="Arial" panose="020B0604020202020204" pitchFamily="34" charset="0"/>
                <a:ea typeface="Arial" panose="020B0604020202020204" pitchFamily="34" charset="0"/>
              </a:rPr>
              <a:t>A low-pass filter is an electronic filter that allows a signal to pass below the cutoff frequency rather than above the cutoff frequency. For different filters, the signal strength of each frequency is different.</a:t>
            </a:r>
          </a:p>
          <a:p>
            <a:pPr marR="0" lvl="0" algn="l" rtl="0">
              <a:spcBef>
                <a:spcPts val="0"/>
              </a:spcBef>
              <a:spcAft>
                <a:spcPts val="1200"/>
              </a:spcAft>
            </a:pPr>
            <a:r>
              <a:rPr lang="en-US" sz="3600" b="1" strike="sngStrike" kern="0" dirty="0">
                <a:solidFill>
                  <a:srgbClr val="333333"/>
                </a:solidFill>
                <a:latin typeface="Arial" panose="020B0604020202020204" pitchFamily="34" charset="0"/>
                <a:ea typeface="Arial" panose="020B0604020202020204" pitchFamily="34" charset="0"/>
              </a:rPr>
              <a:t>When used in audio applications, it is sometimes referred to as a high frequency shear filter, or a high frequency cancellation filter. The low-pass filter concept comes in many different forms, including electronic circuits (such as hiss filters used in audio devices), digital algorithms for smoothing data, acoustic barriers, image blurring, and so on. Both these tools provide a smooth form of signal by eliminating short-term fluctuations and preserving long-term trends.</a:t>
            </a:r>
          </a:p>
          <a:p>
            <a:pPr marR="0" lvl="0" algn="l" rtl="0">
              <a:spcBef>
                <a:spcPts val="0"/>
              </a:spcBef>
              <a:spcAft>
                <a:spcPts val="1200"/>
              </a:spcAft>
            </a:pPr>
            <a:r>
              <a:rPr lang="en-US" sz="3600" b="1" strike="sngStrike" kern="0" dirty="0">
                <a:solidFill>
                  <a:srgbClr val="333333"/>
                </a:solidFill>
                <a:latin typeface="Arial" panose="020B0604020202020204" pitchFamily="34" charset="0"/>
                <a:ea typeface="Arial" panose="020B0604020202020204" pitchFamily="34" charset="0"/>
              </a:rPr>
              <a:t>The role of low-pass filters in signal processing is equivalent to that of moving average in other fields, such as finance. There are many kinds of low-pass filters, among which the Butterworth filter and Chebyshev filter are the most common ones.</a:t>
            </a:r>
          </a:p>
          <a:p>
            <a:pPr marR="0" lvl="0" algn="l" rtl="0">
              <a:spcBef>
                <a:spcPts val="0"/>
              </a:spcBef>
              <a:spcAft>
                <a:spcPts val="1200"/>
              </a:spcAft>
            </a:pPr>
            <a:r>
              <a:rPr lang="en-US" sz="3600" b="1" strike="sngStrike" kern="0" dirty="0">
                <a:solidFill>
                  <a:srgbClr val="333333"/>
                </a:solidFill>
                <a:latin typeface="Arial" panose="020B0604020202020204" pitchFamily="34" charset="0"/>
                <a:ea typeface="Arial" panose="020B0604020202020204" pitchFamily="34" charset="0"/>
              </a:rPr>
              <a:t>Butterworth filter</a:t>
            </a:r>
          </a:p>
          <a:p>
            <a:pPr marR="0" lvl="0" algn="l" rtl="0">
              <a:spcBef>
                <a:spcPts val="0"/>
              </a:spcBef>
              <a:spcAft>
                <a:spcPts val="1200"/>
              </a:spcAft>
            </a:pPr>
            <a:r>
              <a:rPr lang="en-US" sz="3600" b="1" strike="sngStrike" kern="0" dirty="0">
                <a:solidFill>
                  <a:srgbClr val="333333"/>
                </a:solidFill>
                <a:latin typeface="Arial" panose="020B0604020202020204" pitchFamily="34" charset="0"/>
                <a:ea typeface="Arial" panose="020B0604020202020204" pitchFamily="34" charset="0"/>
              </a:rPr>
              <a:t>The Butterworth filter is a kind of design classification of filter, which adopts Butterworth transfer function, including high-pass, low-pass, band-pass, band-stop and other filter types. The Butterworth filter has stable amplitude-frequency characteristics both inside and outside the passband, but has a long transition band, which will easily cause distortion.</a:t>
            </a:r>
          </a:p>
          <a:p>
            <a:pPr marR="0" lvl="0" algn="l" rtl="0">
              <a:spcBef>
                <a:spcPts val="0"/>
              </a:spcBef>
              <a:spcAft>
                <a:spcPts val="1200"/>
              </a:spcAft>
            </a:pPr>
            <a:r>
              <a:rPr lang="en-US" sz="3600" b="1" strike="sngStrike" kern="0" dirty="0">
                <a:solidFill>
                  <a:srgbClr val="333333"/>
                </a:solidFill>
                <a:latin typeface="Arial" panose="020B0604020202020204" pitchFamily="34" charset="0"/>
                <a:ea typeface="Arial" panose="020B0604020202020204" pitchFamily="34" charset="0"/>
              </a:rPr>
              <a:t>Chebyshev filter</a:t>
            </a:r>
          </a:p>
          <a:p>
            <a:pPr marR="0" lvl="0" algn="l" rtl="0">
              <a:spcBef>
                <a:spcPts val="0"/>
              </a:spcBef>
              <a:spcAft>
                <a:spcPts val="1200"/>
              </a:spcAft>
            </a:pPr>
            <a:r>
              <a:rPr lang="en-US" sz="3600" b="1" strike="sngStrike" kern="0" dirty="0">
                <a:solidFill>
                  <a:srgbClr val="333333"/>
                </a:solidFill>
                <a:latin typeface="Arial" panose="020B0604020202020204" pitchFamily="34" charset="0"/>
                <a:ea typeface="Arial" panose="020B0604020202020204" pitchFamily="34" charset="0"/>
              </a:rPr>
              <a:t>The Chebyshev filter is a design classification of filters, which adopts Chebyshev transfer function, and also has high pass, low pass, band pass, high resistance, band resistance and other filter types. Com-pared with the Butterworth filter, the transition band of the Chebyshev filter is significantly narrow, but the internal amplitude-frequency characteristic is very unstable.</a:t>
            </a:r>
          </a:p>
        </p:txBody>
      </p:sp>
      <p:sp>
        <p:nvSpPr>
          <p:cNvPr id="4" name="Footer Placeholder 3">
            <a:extLst>
              <a:ext uri="{FF2B5EF4-FFF2-40B4-BE49-F238E27FC236}">
                <a16:creationId xmlns:a16="http://schemas.microsoft.com/office/drawing/2014/main" id="{3A8CBD6A-C692-4147-8A43-5BD45DE4336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C1CA1345-83F2-45BE-BEEA-65860EC4E6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id="{8482B46E-18A3-4C74-ACEF-EFC55D0A32C5}"/>
              </a:ext>
            </a:extLst>
          </p:cNvPr>
          <p:cNvSpPr txBox="1"/>
          <p:nvPr/>
        </p:nvSpPr>
        <p:spPr>
          <a:xfrm>
            <a:off x="17682" y="533400"/>
            <a:ext cx="9067800" cy="1384995"/>
          </a:xfrm>
          <a:prstGeom prst="rect">
            <a:avLst/>
          </a:prstGeom>
          <a:solidFill>
            <a:schemeClr val="accent3">
              <a:lumMod val="40000"/>
              <a:lumOff val="6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Times New Roman"/>
                <a:ea typeface="+mn-ea"/>
                <a:cs typeface="+mn-cs"/>
              </a:rPr>
              <a:t>Introduction: </a:t>
            </a:r>
            <a:r>
              <a:rPr kumimoji="0" lang="en-US" sz="2000" b="0" i="0" u="none" strike="noStrike" kern="1200" cap="none" spc="0" normalizeH="0" baseline="0" noProof="0" dirty="0">
                <a:ln>
                  <a:noFill/>
                </a:ln>
                <a:solidFill>
                  <a:prstClr val="black"/>
                </a:solidFill>
                <a:effectLst/>
                <a:uLnTx/>
                <a:uFillTx/>
                <a:latin typeface="Times New Roman"/>
                <a:ea typeface="+mn-ea"/>
                <a:cs typeface="+mn-cs"/>
              </a:rPr>
              <a:t>(From ECE Senior Project Report Template)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a:ea typeface="+mn-ea"/>
                <a:cs typeface="+mn-cs"/>
              </a:rPr>
              <a:t>2.5* Definitions and Acronyms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a:ea typeface="+mn-ea"/>
                <a:cs typeface="+mn-cs"/>
              </a:rPr>
              <a:t> List any project definitions and acronyms introduced to the project by this design.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1974886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111" y="762000"/>
            <a:ext cx="9059779" cy="6019800"/>
          </a:xfrm>
        </p:spPr>
        <p:txBody>
          <a:bodyPr>
            <a:normAutofit/>
          </a:bodyPr>
          <a:lstStyle/>
          <a:p>
            <a:pPr marL="0" indent="0">
              <a:buNone/>
            </a:pPr>
            <a:r>
              <a:rPr lang="en-US" sz="2700" b="1" dirty="0"/>
              <a:t>1. It introduces the </a:t>
            </a:r>
            <a:r>
              <a:rPr lang="en-US" sz="2700" b="1" dirty="0">
                <a:solidFill>
                  <a:srgbClr val="C00000"/>
                </a:solidFill>
              </a:rPr>
              <a:t>problem</a:t>
            </a:r>
            <a:r>
              <a:rPr lang="en-US" sz="2700" b="1" dirty="0"/>
              <a:t> and </a:t>
            </a:r>
            <a:r>
              <a:rPr lang="en-US" sz="2700" b="1" dirty="0">
                <a:solidFill>
                  <a:srgbClr val="C00000"/>
                </a:solidFill>
              </a:rPr>
              <a:t>motivation</a:t>
            </a:r>
            <a:r>
              <a:rPr lang="en-US" sz="2700" b="1" dirty="0"/>
              <a:t> for the study.</a:t>
            </a:r>
          </a:p>
          <a:p>
            <a:endParaRPr lang="en-US" sz="2700" dirty="0"/>
          </a:p>
          <a:p>
            <a:pPr lvl="2"/>
            <a:r>
              <a:rPr lang="en-US" sz="2700" dirty="0"/>
              <a:t>Tell the reader what the </a:t>
            </a:r>
            <a:r>
              <a:rPr lang="en-US" sz="2700" dirty="0">
                <a:solidFill>
                  <a:srgbClr val="C00000"/>
                </a:solidFill>
              </a:rPr>
              <a:t>topic</a:t>
            </a:r>
            <a:r>
              <a:rPr lang="en-US" sz="2700" dirty="0"/>
              <a:t> of the report is.</a:t>
            </a:r>
          </a:p>
          <a:p>
            <a:pPr lvl="2"/>
            <a:r>
              <a:rPr lang="en-US" sz="2700" dirty="0"/>
              <a:t>Explain why this topic is </a:t>
            </a:r>
            <a:r>
              <a:rPr lang="en-US" sz="2700" dirty="0">
                <a:solidFill>
                  <a:srgbClr val="C00000"/>
                </a:solidFill>
              </a:rPr>
              <a:t>important</a:t>
            </a:r>
            <a:r>
              <a:rPr lang="en-US" sz="2700" dirty="0"/>
              <a:t> or relevant.</a:t>
            </a:r>
          </a:p>
          <a:p>
            <a:pPr lvl="2"/>
            <a:endParaRPr lang="en-US" sz="2700" dirty="0"/>
          </a:p>
          <a:p>
            <a:pPr marL="0" indent="0">
              <a:buNone/>
            </a:pPr>
            <a:r>
              <a:rPr lang="en-US" sz="2700" b="1" dirty="0"/>
              <a:t>2</a:t>
            </a:r>
            <a:r>
              <a:rPr lang="en-US" sz="2700" dirty="0"/>
              <a:t>. </a:t>
            </a:r>
            <a:r>
              <a:rPr lang="en-US" sz="2700" b="1" dirty="0"/>
              <a:t>It provides a brief summary of </a:t>
            </a:r>
            <a:r>
              <a:rPr lang="en-US" sz="2700" b="1" dirty="0">
                <a:solidFill>
                  <a:srgbClr val="C00000"/>
                </a:solidFill>
              </a:rPr>
              <a:t>previous</a:t>
            </a:r>
            <a:r>
              <a:rPr lang="en-US" sz="2700" b="1" dirty="0"/>
              <a:t> engineering 	and/or scientific </a:t>
            </a:r>
            <a:r>
              <a:rPr lang="en-US" sz="2700" b="1" dirty="0">
                <a:solidFill>
                  <a:srgbClr val="C00000"/>
                </a:solidFill>
              </a:rPr>
              <a:t>work</a:t>
            </a:r>
            <a:r>
              <a:rPr lang="en-US" sz="2700" b="1" dirty="0"/>
              <a:t> on the topic</a:t>
            </a:r>
            <a:r>
              <a:rPr lang="en-US" sz="2700" dirty="0"/>
              <a:t>.</a:t>
            </a:r>
          </a:p>
          <a:p>
            <a:endParaRPr lang="en-US" sz="2700" dirty="0"/>
          </a:p>
          <a:p>
            <a:pPr marL="0" indent="0">
              <a:buNone/>
            </a:pPr>
            <a:r>
              <a:rPr lang="en-US" sz="2700" b="1" dirty="0"/>
              <a:t>3</a:t>
            </a:r>
            <a:r>
              <a:rPr lang="en-US" sz="2700" dirty="0"/>
              <a:t>. </a:t>
            </a:r>
            <a:r>
              <a:rPr lang="en-US" sz="2700" b="1" dirty="0"/>
              <a:t>It outlines the purpose and specific </a:t>
            </a:r>
            <a:r>
              <a:rPr lang="en-US" sz="2700" b="1" dirty="0">
                <a:solidFill>
                  <a:srgbClr val="C00000"/>
                </a:solidFill>
              </a:rPr>
              <a:t>objectives</a:t>
            </a:r>
            <a:r>
              <a:rPr lang="en-US" sz="2700" b="1" dirty="0"/>
              <a:t> of the 	</a:t>
            </a:r>
            <a:r>
              <a:rPr lang="en-US" sz="2700" b="1" dirty="0">
                <a:solidFill>
                  <a:srgbClr val="C00000"/>
                </a:solidFill>
              </a:rPr>
              <a:t>project</a:t>
            </a:r>
            <a:r>
              <a:rPr lang="en-US" sz="2700" b="1" dirty="0"/>
              <a:t>.</a:t>
            </a:r>
          </a:p>
          <a:p>
            <a:endParaRPr lang="en-US" sz="2700" dirty="0"/>
          </a:p>
          <a:p>
            <a:pPr marL="0" indent="0">
              <a:buNone/>
            </a:pPr>
            <a:r>
              <a:rPr lang="en-US" sz="2700" b="1" dirty="0"/>
              <a:t>4. It provides a ‘</a:t>
            </a:r>
            <a:r>
              <a:rPr lang="en-US" sz="2700" b="1" dirty="0">
                <a:solidFill>
                  <a:srgbClr val="C00000"/>
                </a:solidFill>
              </a:rPr>
              <a:t>road map</a:t>
            </a:r>
            <a:r>
              <a:rPr lang="en-US" sz="2700" b="1" dirty="0"/>
              <a:t>’ for the rest of the report.</a:t>
            </a:r>
          </a:p>
          <a:p>
            <a:endParaRPr lang="en-US" sz="2700" dirty="0"/>
          </a:p>
        </p:txBody>
      </p:sp>
      <p:sp>
        <p:nvSpPr>
          <p:cNvPr id="4" name="Title 1"/>
          <p:cNvSpPr txBox="1">
            <a:spLocks/>
          </p:cNvSpPr>
          <p:nvPr/>
        </p:nvSpPr>
        <p:spPr>
          <a:xfrm>
            <a:off x="-28207" y="7620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Introduction</a:t>
            </a:r>
          </a:p>
        </p:txBody>
      </p:sp>
    </p:spTree>
    <p:extLst>
      <p:ext uri="{BB962C8B-B14F-4D97-AF65-F5344CB8AC3E}">
        <p14:creationId xmlns:p14="http://schemas.microsoft.com/office/powerpoint/2010/main" val="380875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564" y="2242104"/>
            <a:ext cx="2500615" cy="481264"/>
          </a:xfrm>
        </p:spPr>
        <p:txBody>
          <a:bodyPr>
            <a:noAutofit/>
          </a:bodyPr>
          <a:lstStyle/>
          <a:p>
            <a:r>
              <a:rPr lang="en-US" sz="3000" b="1" dirty="0"/>
              <a:t>Introduction</a:t>
            </a:r>
          </a:p>
        </p:txBody>
      </p:sp>
      <p:pic>
        <p:nvPicPr>
          <p:cNvPr id="4" name="Picture 3"/>
          <p:cNvPicPr>
            <a:picLocks noChangeAspect="1"/>
          </p:cNvPicPr>
          <p:nvPr/>
        </p:nvPicPr>
        <p:blipFill>
          <a:blip r:embed="rId2" cstate="print"/>
          <a:stretch>
            <a:fillRect/>
          </a:stretch>
        </p:blipFill>
        <p:spPr>
          <a:xfrm flipH="1">
            <a:off x="531342" y="2723367"/>
            <a:ext cx="8095300" cy="1991636"/>
          </a:xfrm>
          <a:prstGeom prst="rect">
            <a:avLst/>
          </a:prstGeom>
        </p:spPr>
      </p:pic>
      <p:sp>
        <p:nvSpPr>
          <p:cNvPr id="5" name="Content Placeholder 2"/>
          <p:cNvSpPr txBox="1">
            <a:spLocks/>
          </p:cNvSpPr>
          <p:nvPr/>
        </p:nvSpPr>
        <p:spPr>
          <a:xfrm>
            <a:off x="5626716" y="2242104"/>
            <a:ext cx="1748642" cy="48126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pPr>
            <a:r>
              <a:rPr lang="en-US" sz="3000" b="1" dirty="0">
                <a:solidFill>
                  <a:prstClr val="black"/>
                </a:solidFill>
                <a:latin typeface="Times New Roman"/>
              </a:rPr>
              <a:t>Body</a:t>
            </a:r>
          </a:p>
        </p:txBody>
      </p:sp>
      <p:sp>
        <p:nvSpPr>
          <p:cNvPr id="6" name="Rectangle 5"/>
          <p:cNvSpPr/>
          <p:nvPr/>
        </p:nvSpPr>
        <p:spPr>
          <a:xfrm>
            <a:off x="974558" y="857250"/>
            <a:ext cx="7026442" cy="1107996"/>
          </a:xfrm>
          <a:prstGeom prst="rect">
            <a:avLst/>
          </a:prstGeom>
        </p:spPr>
        <p:txBody>
          <a:bodyPr wrap="square">
            <a:spAutoFit/>
          </a:bodyPr>
          <a:lstStyle/>
          <a:p>
            <a:pPr algn="ctr" defTabSz="685800"/>
            <a:r>
              <a:rPr lang="en-US" sz="3300" b="1" dirty="0">
                <a:solidFill>
                  <a:srgbClr val="C00000"/>
                </a:solidFill>
                <a:latin typeface="Times New Roman"/>
              </a:rPr>
              <a:t>The introduction defines the scope and limitations of the work</a:t>
            </a:r>
          </a:p>
        </p:txBody>
      </p:sp>
      <p:sp>
        <p:nvSpPr>
          <p:cNvPr id="7" name="Rectangle 6"/>
          <p:cNvSpPr/>
          <p:nvPr/>
        </p:nvSpPr>
        <p:spPr>
          <a:xfrm>
            <a:off x="418058" y="4976975"/>
            <a:ext cx="8321868" cy="1015663"/>
          </a:xfrm>
          <a:prstGeom prst="rect">
            <a:avLst/>
          </a:prstGeom>
        </p:spPr>
        <p:txBody>
          <a:bodyPr wrap="square">
            <a:spAutoFit/>
          </a:bodyPr>
          <a:lstStyle/>
          <a:p>
            <a:pPr algn="ctr" defTabSz="685800"/>
            <a:r>
              <a:rPr lang="en-US" sz="3000" b="1" dirty="0">
                <a:solidFill>
                  <a:srgbClr val="70AD47">
                    <a:lumMod val="75000"/>
                  </a:srgbClr>
                </a:solidFill>
                <a:latin typeface="Times New Roman"/>
              </a:rPr>
              <a:t>A strong introduction tells readers why the research is important</a:t>
            </a:r>
          </a:p>
        </p:txBody>
      </p:sp>
    </p:spTree>
    <p:extLst>
      <p:ext uri="{BB962C8B-B14F-4D97-AF65-F5344CB8AC3E}">
        <p14:creationId xmlns:p14="http://schemas.microsoft.com/office/powerpoint/2010/main" val="3855486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265469"/>
          </a:xfrm>
        </p:spPr>
        <p:txBody>
          <a:bodyPr>
            <a:normAutofit fontScale="92500"/>
          </a:bodyPr>
          <a:lstStyle/>
          <a:p>
            <a:pPr>
              <a:lnSpc>
                <a:spcPct val="150000"/>
              </a:lnSpc>
            </a:pPr>
            <a:r>
              <a:rPr lang="en-US" sz="2700" b="1" dirty="0"/>
              <a:t>Like in any good Hollywood movie, the first task of the </a:t>
            </a:r>
            <a:r>
              <a:rPr lang="en-US" sz="2700" b="1" dirty="0">
                <a:solidFill>
                  <a:srgbClr val="C00000"/>
                </a:solidFill>
              </a:rPr>
              <a:t>introduction is to set the scene</a:t>
            </a:r>
            <a:r>
              <a:rPr lang="en-US" sz="2700" b="1" dirty="0"/>
              <a:t>, giving your paper a context and seeing how it fits in with previous research in the field.</a:t>
            </a:r>
          </a:p>
          <a:p>
            <a:pPr>
              <a:lnSpc>
                <a:spcPct val="150000"/>
              </a:lnSpc>
            </a:pPr>
            <a:endParaRPr lang="en-US" sz="2700" b="1" dirty="0"/>
          </a:p>
          <a:p>
            <a:pPr>
              <a:lnSpc>
                <a:spcPct val="150000"/>
              </a:lnSpc>
            </a:pPr>
            <a:r>
              <a:rPr lang="en-US" sz="2700" b="1" dirty="0"/>
              <a:t>The </a:t>
            </a:r>
            <a:r>
              <a:rPr lang="en-US" sz="2700" b="1" dirty="0">
                <a:solidFill>
                  <a:srgbClr val="C00000"/>
                </a:solidFill>
              </a:rPr>
              <a:t>beginning</a:t>
            </a:r>
            <a:r>
              <a:rPr lang="en-US" sz="2700" b="1" dirty="0"/>
              <a:t> of the introduction should quickly </a:t>
            </a:r>
            <a:r>
              <a:rPr lang="en-US" sz="2700" b="1" dirty="0">
                <a:solidFill>
                  <a:srgbClr val="C00000"/>
                </a:solidFill>
              </a:rPr>
              <a:t>explain</a:t>
            </a:r>
            <a:r>
              <a:rPr lang="en-US" sz="2700" b="1" dirty="0"/>
              <a:t> the </a:t>
            </a:r>
            <a:r>
              <a:rPr lang="en-US" sz="2700" b="1" dirty="0">
                <a:solidFill>
                  <a:srgbClr val="C00000"/>
                </a:solidFill>
              </a:rPr>
              <a:t>importance</a:t>
            </a:r>
            <a:r>
              <a:rPr lang="en-US" sz="2700" b="1" dirty="0"/>
              <a:t> of the Experiment, Study, Design, …being reported. </a:t>
            </a:r>
          </a:p>
          <a:p>
            <a:pPr>
              <a:lnSpc>
                <a:spcPct val="150000"/>
              </a:lnSpc>
            </a:pPr>
            <a:endParaRPr lang="en-US" sz="2700" b="1" i="1" dirty="0">
              <a:solidFill>
                <a:srgbClr val="002060"/>
              </a:solidFill>
            </a:endParaRP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Introduction</a:t>
            </a:r>
          </a:p>
        </p:txBody>
      </p:sp>
    </p:spTree>
    <p:extLst>
      <p:ext uri="{BB962C8B-B14F-4D97-AF65-F5344CB8AC3E}">
        <p14:creationId xmlns:p14="http://schemas.microsoft.com/office/powerpoint/2010/main" val="2464497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410" y="1410703"/>
            <a:ext cx="8843211" cy="4590047"/>
          </a:xfrm>
        </p:spPr>
        <p:txBody>
          <a:bodyPr>
            <a:normAutofit lnSpcReduction="10000"/>
          </a:bodyPr>
          <a:lstStyle/>
          <a:p>
            <a:pPr>
              <a:lnSpc>
                <a:spcPct val="120000"/>
              </a:lnSpc>
            </a:pPr>
            <a:r>
              <a:rPr lang="en-US" sz="2400" b="1" dirty="0"/>
              <a:t> Statement of the </a:t>
            </a:r>
            <a:r>
              <a:rPr lang="en-US" sz="2400" b="1" dirty="0">
                <a:solidFill>
                  <a:srgbClr val="C00000"/>
                </a:solidFill>
              </a:rPr>
              <a:t>problem/s</a:t>
            </a:r>
          </a:p>
          <a:p>
            <a:pPr>
              <a:lnSpc>
                <a:spcPct val="120000"/>
              </a:lnSpc>
            </a:pPr>
            <a:r>
              <a:rPr lang="en-US" sz="2400" b="1" dirty="0"/>
              <a:t> Description of </a:t>
            </a:r>
            <a:r>
              <a:rPr lang="en-US" sz="2400" b="1" dirty="0">
                <a:solidFill>
                  <a:srgbClr val="C00000"/>
                </a:solidFill>
              </a:rPr>
              <a:t>main aim/s</a:t>
            </a:r>
            <a:r>
              <a:rPr lang="en-US" sz="2400" b="1" dirty="0"/>
              <a:t>, objective/s and scope (the 	parameters) of the report</a:t>
            </a:r>
          </a:p>
          <a:p>
            <a:pPr>
              <a:lnSpc>
                <a:spcPct val="120000"/>
              </a:lnSpc>
            </a:pPr>
            <a:r>
              <a:rPr lang="en-US" sz="2400" b="1" dirty="0"/>
              <a:t> Review of </a:t>
            </a:r>
            <a:r>
              <a:rPr lang="en-US" sz="2400" b="1" dirty="0">
                <a:solidFill>
                  <a:srgbClr val="C00000"/>
                </a:solidFill>
              </a:rPr>
              <a:t>previous work</a:t>
            </a:r>
            <a:r>
              <a:rPr lang="en-US" sz="2400" b="1" dirty="0"/>
              <a:t>/research in this area and identification 	of the importance of this research  </a:t>
            </a:r>
          </a:p>
          <a:p>
            <a:pPr>
              <a:lnSpc>
                <a:spcPct val="120000"/>
              </a:lnSpc>
            </a:pPr>
            <a:r>
              <a:rPr lang="en-US" sz="2400" b="1" dirty="0"/>
              <a:t>Explanations of </a:t>
            </a:r>
            <a:r>
              <a:rPr lang="en-US" sz="2400" b="1" dirty="0">
                <a:solidFill>
                  <a:srgbClr val="C00000"/>
                </a:solidFill>
              </a:rPr>
              <a:t>terminology</a:t>
            </a:r>
            <a:r>
              <a:rPr lang="en-US" sz="2400" b="1" dirty="0"/>
              <a:t> if necessary;</a:t>
            </a:r>
          </a:p>
          <a:p>
            <a:pPr>
              <a:lnSpc>
                <a:spcPct val="120000"/>
              </a:lnSpc>
            </a:pPr>
            <a:r>
              <a:rPr lang="en-US" sz="2400" b="1" dirty="0"/>
              <a:t> </a:t>
            </a:r>
            <a:r>
              <a:rPr lang="en-US" sz="2400" b="1" dirty="0">
                <a:solidFill>
                  <a:srgbClr val="C00000"/>
                </a:solidFill>
              </a:rPr>
              <a:t>Method</a:t>
            </a:r>
            <a:r>
              <a:rPr lang="en-US" sz="2400" b="1" dirty="0"/>
              <a:t>(s) of approach;</a:t>
            </a:r>
          </a:p>
          <a:p>
            <a:pPr>
              <a:lnSpc>
                <a:spcPct val="120000"/>
              </a:lnSpc>
            </a:pPr>
            <a:r>
              <a:rPr lang="en-US" sz="2400" b="1" dirty="0"/>
              <a:t> Indications of </a:t>
            </a:r>
            <a:r>
              <a:rPr lang="en-US" sz="2400" b="1" dirty="0">
                <a:solidFill>
                  <a:srgbClr val="C00000"/>
                </a:solidFill>
              </a:rPr>
              <a:t>scope</a:t>
            </a:r>
            <a:r>
              <a:rPr lang="en-US" sz="2400" b="1" dirty="0"/>
              <a:t> and limitations of the study;</a:t>
            </a:r>
          </a:p>
          <a:p>
            <a:pPr>
              <a:lnSpc>
                <a:spcPct val="120000"/>
              </a:lnSpc>
            </a:pPr>
            <a:r>
              <a:rPr lang="en-US" sz="2400" b="1" dirty="0"/>
              <a:t> Outline of </a:t>
            </a:r>
            <a:r>
              <a:rPr lang="en-US" sz="2400" b="1" dirty="0">
                <a:solidFill>
                  <a:srgbClr val="C00000"/>
                </a:solidFill>
              </a:rPr>
              <a:t>material</a:t>
            </a:r>
            <a:r>
              <a:rPr lang="en-US" sz="2400" b="1" dirty="0"/>
              <a:t> presented in rest of report.</a:t>
            </a:r>
          </a:p>
        </p:txBody>
      </p:sp>
      <p:sp>
        <p:nvSpPr>
          <p:cNvPr id="4" name="Title 1"/>
          <p:cNvSpPr txBox="1">
            <a:spLocks/>
          </p:cNvSpPr>
          <p:nvPr/>
        </p:nvSpPr>
        <p:spPr>
          <a:xfrm>
            <a:off x="0" y="857251"/>
            <a:ext cx="9144000" cy="55345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000" b="1" dirty="0">
                <a:solidFill>
                  <a:prstClr val="black"/>
                </a:solidFill>
                <a:latin typeface="Times New Roman" panose="02020603050405020304"/>
              </a:rPr>
              <a:t>Introduction in a Technical Report</a:t>
            </a:r>
          </a:p>
        </p:txBody>
      </p:sp>
    </p:spTree>
    <p:extLst>
      <p:ext uri="{BB962C8B-B14F-4D97-AF65-F5344CB8AC3E}">
        <p14:creationId xmlns:p14="http://schemas.microsoft.com/office/powerpoint/2010/main" val="1841456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EB24F63-736D-4458-80E7-2AACC3D52DDE}"/>
              </a:ext>
            </a:extLst>
          </p:cNvPr>
          <p:cNvSpPr>
            <a:spLocks noGrp="1"/>
          </p:cNvSpPr>
          <p:nvPr>
            <p:ph type="subTitle" idx="1"/>
          </p:nvPr>
        </p:nvSpPr>
        <p:spPr>
          <a:xfrm>
            <a:off x="152400" y="1676400"/>
            <a:ext cx="8458200" cy="3962400"/>
          </a:xfrm>
        </p:spPr>
        <p:txBody>
          <a:bodyPr>
            <a:normAutofit lnSpcReduction="10000"/>
          </a:bodyPr>
          <a:lstStyle/>
          <a:p>
            <a:r>
              <a:rPr lang="en-US" sz="3600" b="1" dirty="0"/>
              <a:t>Think about your first Technical Essay </a:t>
            </a:r>
          </a:p>
          <a:p>
            <a:r>
              <a:rPr lang="en-US" sz="3600" dirty="0"/>
              <a:t>(Due: Week 6)</a:t>
            </a:r>
          </a:p>
          <a:p>
            <a:endParaRPr lang="en-US" sz="3600" dirty="0"/>
          </a:p>
          <a:p>
            <a:r>
              <a:rPr lang="en-US" sz="3600" dirty="0"/>
              <a:t>Start collecting information </a:t>
            </a:r>
          </a:p>
          <a:p>
            <a:r>
              <a:rPr lang="en-US" sz="3600" dirty="0"/>
              <a:t>Outline the essay and its subsections</a:t>
            </a:r>
          </a:p>
          <a:p>
            <a:r>
              <a:rPr lang="en-US" sz="3600" dirty="0"/>
              <a:t>Do online + Library research</a:t>
            </a:r>
          </a:p>
          <a:p>
            <a:r>
              <a:rPr lang="en-US" sz="3600" dirty="0"/>
              <a:t> </a:t>
            </a:r>
          </a:p>
          <a:p>
            <a:endParaRPr lang="en-US" sz="3600" dirty="0"/>
          </a:p>
        </p:txBody>
      </p:sp>
      <p:sp>
        <p:nvSpPr>
          <p:cNvPr id="4" name="Arrow: Down 3">
            <a:extLst>
              <a:ext uri="{FF2B5EF4-FFF2-40B4-BE49-F238E27FC236}">
                <a16:creationId xmlns:a16="http://schemas.microsoft.com/office/drawing/2014/main" id="{6C3E0CB0-399C-42F9-A324-63EF28ECEBA6}"/>
              </a:ext>
            </a:extLst>
          </p:cNvPr>
          <p:cNvSpPr/>
          <p:nvPr/>
        </p:nvSpPr>
        <p:spPr>
          <a:xfrm>
            <a:off x="3886200" y="5181600"/>
            <a:ext cx="1752600" cy="1600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2229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F0CB8-72EF-4A2E-B800-F1D0DA598F71}"/>
              </a:ext>
            </a:extLst>
          </p:cNvPr>
          <p:cNvSpPr>
            <a:spLocks noGrp="1"/>
          </p:cNvSpPr>
          <p:nvPr>
            <p:ph idx="1"/>
          </p:nvPr>
        </p:nvSpPr>
        <p:spPr>
          <a:xfrm>
            <a:off x="152400" y="228600"/>
            <a:ext cx="8763000" cy="6477000"/>
          </a:xfrm>
        </p:spPr>
        <p:txBody>
          <a:bodyPr>
            <a:normAutofit/>
          </a:bodyPr>
          <a:lstStyle/>
          <a:p>
            <a:r>
              <a:rPr lang="en-US" b="1" dirty="0"/>
              <a:t>Write an assay on “Understanding of Professional and Ethical Responsibility and Global, Economic, Environmental and Societal Impact of your project”  &gt; 1300 words</a:t>
            </a:r>
          </a:p>
          <a:p>
            <a:r>
              <a:rPr lang="en-US" dirty="0"/>
              <a:t>In this essay you have to explain:</a:t>
            </a:r>
          </a:p>
          <a:p>
            <a:r>
              <a:rPr lang="en-US" dirty="0"/>
              <a:t>a)	What are the </a:t>
            </a:r>
            <a:r>
              <a:rPr lang="en-US" b="1" dirty="0"/>
              <a:t>ethical</a:t>
            </a:r>
            <a:r>
              <a:rPr lang="en-US" dirty="0"/>
              <a:t> implications of your project </a:t>
            </a:r>
            <a:r>
              <a:rPr lang="en-US" dirty="0">
                <a:highlight>
                  <a:srgbClr val="FFFF00"/>
                </a:highlight>
              </a:rPr>
              <a:t>if your </a:t>
            </a:r>
            <a:r>
              <a:rPr lang="en-US" u="sng" dirty="0">
                <a:highlight>
                  <a:srgbClr val="FFFF00"/>
                </a:highlight>
              </a:rPr>
              <a:t>design becomes a commercial product or service</a:t>
            </a:r>
            <a:r>
              <a:rPr lang="en-US" dirty="0">
                <a:highlight>
                  <a:srgbClr val="FFFF00"/>
                </a:highlight>
              </a:rPr>
              <a:t>,</a:t>
            </a:r>
            <a:r>
              <a:rPr lang="en-US" dirty="0"/>
              <a:t> examples include but not limited to implications in </a:t>
            </a:r>
            <a:r>
              <a:rPr lang="en-US" b="1" dirty="0"/>
              <a:t>health, education, privacy, social attitude, fairness of access</a:t>
            </a:r>
            <a:r>
              <a:rPr lang="en-US" dirty="0"/>
              <a:t>, </a:t>
            </a:r>
            <a:r>
              <a:rPr lang="en-US" b="1" dirty="0"/>
              <a:t>public safety, psychological and developmental effects on children and young adults,</a:t>
            </a:r>
            <a:r>
              <a:rPr lang="en-US" dirty="0"/>
              <a:t> etc.? </a:t>
            </a:r>
          </a:p>
          <a:p>
            <a:r>
              <a:rPr lang="en-US" dirty="0"/>
              <a:t>      b</a:t>
            </a:r>
            <a:r>
              <a:rPr lang="en-US" u="sng" dirty="0"/>
              <a:t>) How does your approach address these ethical issues</a:t>
            </a:r>
            <a:r>
              <a:rPr lang="en-US" dirty="0"/>
              <a:t>?</a:t>
            </a:r>
          </a:p>
          <a:p>
            <a:r>
              <a:rPr lang="en-US" dirty="0"/>
              <a:t>      c) What you learned through this design project about </a:t>
            </a:r>
            <a:r>
              <a:rPr lang="en-US" u="sng" dirty="0"/>
              <a:t>professional and ethical responsibility. </a:t>
            </a:r>
          </a:p>
          <a:p>
            <a:r>
              <a:rPr lang="en-US" dirty="0"/>
              <a:t>      d) Discuss the </a:t>
            </a:r>
            <a:r>
              <a:rPr lang="en-US" u="sng" dirty="0"/>
              <a:t>potential global, economic, societal, and environmental impact of the project if your design becomes a commercial product or service. </a:t>
            </a:r>
            <a:r>
              <a:rPr lang="en-US" dirty="0"/>
              <a:t>You do not need to address every aspect, just focus on a couple of aspects that are related to your project. For example, if your design becomes a commercial product or service, how will it improve quality of life, affect the environment, energy usage, resource allocation, enhance entertainment, education, globalization etc.? Are there any political debates, laws and regulations that are related to your project?</a:t>
            </a:r>
          </a:p>
          <a:p>
            <a:endParaRPr lang="en-US" dirty="0"/>
          </a:p>
        </p:txBody>
      </p:sp>
    </p:spTree>
    <p:extLst>
      <p:ext uri="{BB962C8B-B14F-4D97-AF65-F5344CB8AC3E}">
        <p14:creationId xmlns:p14="http://schemas.microsoft.com/office/powerpoint/2010/main" val="2237806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347" y="1290388"/>
            <a:ext cx="6160169" cy="4199585"/>
          </a:xfrm>
        </p:spPr>
        <p:txBody>
          <a:bodyPr>
            <a:normAutofit/>
          </a:bodyPr>
          <a:lstStyle/>
          <a:p>
            <a:r>
              <a:rPr lang="en-US" sz="3000" b="1" dirty="0">
                <a:latin typeface="+mj-lt"/>
              </a:rPr>
              <a:t>If a man [person] can group his ideas, then he is a writer.</a:t>
            </a:r>
          </a:p>
          <a:p>
            <a:pPr lvl="3"/>
            <a:r>
              <a:rPr lang="en-US" sz="2250" dirty="0">
                <a:latin typeface="+mj-lt"/>
              </a:rPr>
              <a:t>Robert Louis Stevenson (1850-1894)</a:t>
            </a:r>
          </a:p>
          <a:p>
            <a:pPr lvl="3"/>
            <a:endParaRPr lang="en-US" sz="2250" dirty="0">
              <a:latin typeface="+mj-lt"/>
            </a:endParaRPr>
          </a:p>
          <a:p>
            <a:pPr marL="1028700" lvl="3" indent="0">
              <a:buNone/>
            </a:pPr>
            <a:r>
              <a:rPr lang="en-US" sz="2250" b="1" dirty="0">
                <a:latin typeface="+mj-lt"/>
              </a:rPr>
              <a:t>Notable works:</a:t>
            </a:r>
          </a:p>
          <a:p>
            <a:pPr marL="1028700" lvl="3" indent="0">
              <a:buNone/>
            </a:pPr>
            <a:r>
              <a:rPr lang="en-US" sz="2250" i="1" dirty="0">
                <a:latin typeface="+mj-lt"/>
              </a:rPr>
              <a:t>Treasure Island</a:t>
            </a:r>
            <a:br>
              <a:rPr lang="en-US" sz="2250" i="1" dirty="0">
                <a:latin typeface="+mj-lt"/>
              </a:rPr>
            </a:br>
            <a:r>
              <a:rPr lang="en-US" sz="2250" i="1" dirty="0">
                <a:latin typeface="+mj-lt"/>
              </a:rPr>
              <a:t>A Child's Garden of Verses</a:t>
            </a:r>
            <a:br>
              <a:rPr lang="en-US" sz="2250" i="1" dirty="0">
                <a:latin typeface="+mj-lt"/>
              </a:rPr>
            </a:br>
            <a:r>
              <a:rPr lang="en-US" sz="2250" i="1" dirty="0">
                <a:latin typeface="+mj-lt"/>
              </a:rPr>
              <a:t>Kidnapped</a:t>
            </a:r>
            <a:br>
              <a:rPr lang="en-US" sz="2250" i="1" dirty="0">
                <a:latin typeface="+mj-lt"/>
              </a:rPr>
            </a:br>
            <a:r>
              <a:rPr lang="en-US" sz="2250" i="1" dirty="0">
                <a:latin typeface="+mj-lt"/>
              </a:rPr>
              <a:t>Strange Case of Dr. Jekyll and Mr. Hyde</a:t>
            </a:r>
          </a:p>
          <a:p>
            <a:pPr lvl="3"/>
            <a:endParaRPr lang="en-US" sz="2250" dirty="0">
              <a:latin typeface="+mj-lt"/>
            </a:endParaRPr>
          </a:p>
          <a:p>
            <a:pPr lvl="3"/>
            <a:endParaRPr lang="en-US" sz="2250" dirty="0">
              <a:latin typeface="+mj-lt"/>
            </a:endParaRPr>
          </a:p>
          <a:p>
            <a:pPr lvl="3"/>
            <a:endParaRPr lang="en-US" sz="2250" dirty="0">
              <a:latin typeface="+mj-lt"/>
            </a:endParaRPr>
          </a:p>
          <a:p>
            <a:pPr lvl="3"/>
            <a:endParaRPr lang="en-US" sz="2250" dirty="0">
              <a:latin typeface="+mj-lt"/>
            </a:endParaRPr>
          </a:p>
        </p:txBody>
      </p:sp>
      <p:pic>
        <p:nvPicPr>
          <p:cNvPr id="4" name="Picture 3"/>
          <p:cNvPicPr>
            <a:picLocks noChangeAspect="1"/>
          </p:cNvPicPr>
          <p:nvPr/>
        </p:nvPicPr>
        <p:blipFill>
          <a:blip r:embed="rId2" cstate="print"/>
          <a:stretch>
            <a:fillRect/>
          </a:stretch>
        </p:blipFill>
        <p:spPr>
          <a:xfrm>
            <a:off x="6181255" y="857251"/>
            <a:ext cx="2962745" cy="4427621"/>
          </a:xfrm>
          <a:prstGeom prst="rect">
            <a:avLst/>
          </a:prstGeom>
        </p:spPr>
      </p:pic>
      <p:graphicFrame>
        <p:nvGraphicFramePr>
          <p:cNvPr id="5" name="Table 4"/>
          <p:cNvGraphicFramePr>
            <a:graphicFrameLocks noGrp="1"/>
          </p:cNvGraphicFramePr>
          <p:nvPr/>
        </p:nvGraphicFramePr>
        <p:xfrm>
          <a:off x="351924" y="5602198"/>
          <a:ext cx="7886700" cy="222885"/>
        </p:xfrm>
        <a:graphic>
          <a:graphicData uri="http://schemas.openxmlformats.org/drawingml/2006/table">
            <a:tbl>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222885">
                <a:tc>
                  <a:txBody>
                    <a:bodyPr/>
                    <a:lstStyle/>
                    <a:p>
                      <a:pPr algn="l" fontAlgn="t"/>
                      <a:endParaRPr lang="en-US" sz="1000" dirty="0">
                        <a:effectLst/>
                      </a:endParaRPr>
                    </a:p>
                  </a:txBody>
                  <a:tcPr marL="68580" marR="68580" marT="34290" marB="34290">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l" fontAlgn="t"/>
                      <a:endParaRPr lang="en-US" sz="1000" dirty="0">
                        <a:effectLst/>
                      </a:endParaRPr>
                    </a:p>
                  </a:txBody>
                  <a:tcPr marL="68580" marR="68580" marT="34290" marB="34290">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86543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510778"/>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srgbClr val="C00000"/>
                </a:solidFill>
                <a:latin typeface="Times New Roman"/>
              </a:rPr>
              <a:t>BASIC SEARCH STRATEGIES</a:t>
            </a:r>
          </a:p>
        </p:txBody>
      </p:sp>
      <p:sp>
        <p:nvSpPr>
          <p:cNvPr id="2" name="Rectangle 1"/>
          <p:cNvSpPr/>
          <p:nvPr/>
        </p:nvSpPr>
        <p:spPr>
          <a:xfrm>
            <a:off x="0" y="1368028"/>
            <a:ext cx="9144000" cy="3971408"/>
          </a:xfrm>
          <a:prstGeom prst="rect">
            <a:avLst/>
          </a:prstGeom>
        </p:spPr>
        <p:txBody>
          <a:bodyPr wrap="square">
            <a:spAutoFit/>
          </a:bodyPr>
          <a:lstStyle/>
          <a:p>
            <a:pPr defTabSz="685800"/>
            <a:r>
              <a:rPr lang="en-US" sz="3000" b="1" dirty="0">
                <a:solidFill>
                  <a:prstClr val="black"/>
                </a:solidFill>
                <a:latin typeface="Times New Roman"/>
              </a:rPr>
              <a:t>Following the Trail</a:t>
            </a:r>
          </a:p>
          <a:p>
            <a:pPr defTabSz="685800"/>
            <a:endParaRPr lang="en-US" sz="3000" dirty="0">
              <a:solidFill>
                <a:prstClr val="black"/>
              </a:solidFill>
              <a:latin typeface="Times New Roman"/>
            </a:endParaRPr>
          </a:p>
          <a:p>
            <a:pPr defTabSz="685800">
              <a:lnSpc>
                <a:spcPct val="150000"/>
              </a:lnSpc>
            </a:pPr>
            <a:r>
              <a:rPr lang="en-US" sz="3300" dirty="0">
                <a:solidFill>
                  <a:prstClr val="black"/>
                </a:solidFill>
                <a:latin typeface="Times New Roman"/>
              </a:rPr>
              <a:t>When you need </a:t>
            </a:r>
            <a:r>
              <a:rPr lang="en-US" sz="3300" dirty="0">
                <a:solidFill>
                  <a:srgbClr val="C00000"/>
                </a:solidFill>
                <a:latin typeface="Times New Roman"/>
              </a:rPr>
              <a:t>background</a:t>
            </a:r>
            <a:r>
              <a:rPr lang="en-US" sz="3300" dirty="0">
                <a:solidFill>
                  <a:prstClr val="black"/>
                </a:solidFill>
                <a:latin typeface="Times New Roman"/>
              </a:rPr>
              <a:t> or history on a subject, start down the information trail with the most readily </a:t>
            </a:r>
            <a:r>
              <a:rPr lang="en-US" sz="3300" dirty="0">
                <a:solidFill>
                  <a:srgbClr val="C00000"/>
                </a:solidFill>
                <a:latin typeface="Times New Roman"/>
              </a:rPr>
              <a:t>available tools </a:t>
            </a:r>
            <a:r>
              <a:rPr lang="en-US" sz="3300" dirty="0">
                <a:solidFill>
                  <a:prstClr val="black"/>
                </a:solidFill>
                <a:latin typeface="Times New Roman"/>
              </a:rPr>
              <a:t>first. These are usually technical </a:t>
            </a:r>
            <a:r>
              <a:rPr lang="en-US" sz="3300" dirty="0">
                <a:solidFill>
                  <a:srgbClr val="C00000"/>
                </a:solidFill>
                <a:latin typeface="Times New Roman"/>
              </a:rPr>
              <a:t>encyclopedias</a:t>
            </a:r>
            <a:r>
              <a:rPr lang="en-US" sz="3300" dirty="0">
                <a:solidFill>
                  <a:prstClr val="black"/>
                </a:solidFill>
                <a:latin typeface="Times New Roman"/>
              </a:rPr>
              <a:t>, </a:t>
            </a:r>
            <a:r>
              <a:rPr lang="en-US" sz="3300" dirty="0">
                <a:solidFill>
                  <a:srgbClr val="C00000"/>
                </a:solidFill>
                <a:latin typeface="Times New Roman"/>
              </a:rPr>
              <a:t>textbooks</a:t>
            </a:r>
            <a:r>
              <a:rPr lang="en-US" sz="3300" dirty="0">
                <a:solidFill>
                  <a:prstClr val="black"/>
                </a:solidFill>
                <a:latin typeface="Times New Roman"/>
              </a:rPr>
              <a:t>, and </a:t>
            </a:r>
            <a:r>
              <a:rPr lang="en-US" sz="3300" dirty="0">
                <a:solidFill>
                  <a:srgbClr val="C00000"/>
                </a:solidFill>
                <a:latin typeface="Times New Roman"/>
              </a:rPr>
              <a:t>periodicals.</a:t>
            </a:r>
          </a:p>
        </p:txBody>
      </p:sp>
    </p:spTree>
    <p:extLst>
      <p:ext uri="{BB962C8B-B14F-4D97-AF65-F5344CB8AC3E}">
        <p14:creationId xmlns:p14="http://schemas.microsoft.com/office/powerpoint/2010/main" val="2659417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379769"/>
          </a:xfrm>
        </p:spPr>
        <p:txBody>
          <a:bodyPr>
            <a:normAutofit/>
          </a:bodyPr>
          <a:lstStyle/>
          <a:p>
            <a:r>
              <a:rPr lang="en-US" sz="3000" b="1" dirty="0"/>
              <a:t>Be aware of the </a:t>
            </a:r>
            <a:r>
              <a:rPr lang="en-US" sz="3000" b="1" dirty="0">
                <a:solidFill>
                  <a:srgbClr val="C00000"/>
                </a:solidFill>
              </a:rPr>
              <a:t>publication dates </a:t>
            </a:r>
            <a:r>
              <a:rPr lang="en-US" sz="3000" b="1" dirty="0"/>
              <a:t>of such sources.</a:t>
            </a:r>
          </a:p>
          <a:p>
            <a:r>
              <a:rPr lang="en-US" sz="3000" b="1" dirty="0"/>
              <a:t>Use </a:t>
            </a:r>
            <a:r>
              <a:rPr lang="en-US" sz="3000" b="1" dirty="0">
                <a:solidFill>
                  <a:srgbClr val="C00000"/>
                </a:solidFill>
              </a:rPr>
              <a:t>reliable</a:t>
            </a:r>
            <a:r>
              <a:rPr lang="en-US" sz="3000" b="1" dirty="0"/>
              <a:t> sources.</a:t>
            </a:r>
          </a:p>
          <a:p>
            <a:r>
              <a:rPr lang="en-US" sz="3000" b="1" dirty="0"/>
              <a:t>Use </a:t>
            </a:r>
            <a:r>
              <a:rPr lang="en-US" sz="3000" b="1" dirty="0">
                <a:solidFill>
                  <a:srgbClr val="C00000"/>
                </a:solidFill>
              </a:rPr>
              <a:t>Peer-Reviewed</a:t>
            </a:r>
            <a:r>
              <a:rPr lang="en-US" sz="3000" b="1" dirty="0"/>
              <a:t> journals.</a:t>
            </a:r>
          </a:p>
          <a:p>
            <a:r>
              <a:rPr lang="en-US" sz="3000" b="1" dirty="0"/>
              <a:t>Don’t trust every </a:t>
            </a:r>
            <a:r>
              <a:rPr lang="en-US" sz="3000" b="1" dirty="0">
                <a:solidFill>
                  <a:srgbClr val="C00000"/>
                </a:solidFill>
              </a:rPr>
              <a:t>online</a:t>
            </a:r>
            <a:r>
              <a:rPr lang="en-US" sz="3000" b="1" dirty="0"/>
              <a:t> sources and information.</a:t>
            </a:r>
          </a:p>
          <a:p>
            <a:r>
              <a:rPr lang="en-US" sz="3000" b="1" dirty="0"/>
              <a:t>Use </a:t>
            </a:r>
            <a:r>
              <a:rPr lang="en-US" sz="3000" b="1" dirty="0">
                <a:solidFill>
                  <a:srgbClr val="C00000"/>
                </a:solidFill>
              </a:rPr>
              <a:t>reliable domains</a:t>
            </a:r>
            <a:r>
              <a:rPr lang="en-US" sz="3000" b="1" dirty="0"/>
              <a:t>: .</a:t>
            </a:r>
            <a:r>
              <a:rPr lang="en-US" sz="3000" b="1" dirty="0" err="1"/>
              <a:t>edu</a:t>
            </a:r>
            <a:r>
              <a:rPr lang="en-US" sz="3000" b="1" dirty="0"/>
              <a:t>  .gov … </a:t>
            </a:r>
          </a:p>
          <a:p>
            <a:r>
              <a:rPr lang="en-US" sz="3000" b="1" dirty="0">
                <a:solidFill>
                  <a:srgbClr val="C00000"/>
                </a:solidFill>
              </a:rPr>
              <a:t>Wikipedia</a:t>
            </a:r>
            <a:r>
              <a:rPr lang="en-US" sz="3000" b="1" dirty="0"/>
              <a:t> should not be used as a credible source</a:t>
            </a:r>
          </a:p>
          <a:p>
            <a:endParaRPr lang="en-US" sz="3000" b="1" dirty="0"/>
          </a:p>
          <a:p>
            <a:endParaRPr lang="en-US" sz="3000" b="1" dirty="0"/>
          </a:p>
          <a:p>
            <a:endParaRPr lang="en-US" sz="3000" b="1" dirty="0"/>
          </a:p>
          <a:p>
            <a:endParaRPr lang="en-US" sz="3000" b="1" dirty="0"/>
          </a:p>
          <a:p>
            <a:endParaRPr lang="en-US" sz="2700" b="1" dirty="0"/>
          </a:p>
          <a:p>
            <a:endParaRPr lang="en-US" sz="2700" b="1" i="1" dirty="0">
              <a:solidFill>
                <a:srgbClr val="002060"/>
              </a:solidFill>
            </a:endParaRP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srgbClr val="C00000"/>
                </a:solidFill>
                <a:latin typeface="Times New Roman" panose="02020603050405020304"/>
              </a:rPr>
              <a:t>BASIC SEARCH STRATEGIES</a:t>
            </a:r>
          </a:p>
        </p:txBody>
      </p:sp>
    </p:spTree>
    <p:extLst>
      <p:ext uri="{BB962C8B-B14F-4D97-AF65-F5344CB8AC3E}">
        <p14:creationId xmlns:p14="http://schemas.microsoft.com/office/powerpoint/2010/main" val="37243906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lum bright="3000" contrast="11000"/>
          </a:blip>
          <a:stretch>
            <a:fillRect/>
          </a:stretch>
        </p:blipFill>
        <p:spPr>
          <a:xfrm>
            <a:off x="1" y="1023939"/>
            <a:ext cx="9143999" cy="4976812"/>
          </a:xfrm>
          <a:prstGeom prst="rect">
            <a:avLst/>
          </a:prstGeom>
        </p:spPr>
      </p:pic>
    </p:spTree>
    <p:extLst>
      <p:ext uri="{BB962C8B-B14F-4D97-AF65-F5344CB8AC3E}">
        <p14:creationId xmlns:p14="http://schemas.microsoft.com/office/powerpoint/2010/main" val="2912826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379769"/>
          </a:xfrm>
        </p:spPr>
        <p:txBody>
          <a:bodyPr>
            <a:normAutofit/>
          </a:bodyPr>
          <a:lstStyle/>
          <a:p>
            <a:r>
              <a:rPr lang="en-US" dirty="0">
                <a:solidFill>
                  <a:srgbClr val="C00000"/>
                </a:solidFill>
              </a:rPr>
              <a:t>https://ieeexplore.ieee.org/Xplore/home.jsp</a:t>
            </a:r>
          </a:p>
          <a:p>
            <a:r>
              <a:rPr lang="en-US" dirty="0">
                <a:solidFill>
                  <a:srgbClr val="C00000"/>
                </a:solidFill>
              </a:rPr>
              <a:t>American Society </a:t>
            </a:r>
            <a:r>
              <a:rPr lang="en-US" dirty="0"/>
              <a:t>for Engineering Education, Engineering Libraries Division: </a:t>
            </a:r>
            <a:r>
              <a:rPr lang="en-US" dirty="0">
                <a:hlinkClick r:id="rId2"/>
              </a:rPr>
              <a:t>https://sites.asee.org/eld/</a:t>
            </a:r>
            <a:endParaRPr lang="en-US" dirty="0"/>
          </a:p>
          <a:p>
            <a:pPr marL="0" indent="0">
              <a:buNone/>
            </a:pPr>
            <a:r>
              <a:rPr lang="nl-NL" dirty="0">
                <a:solidFill>
                  <a:srgbClr val="C00000"/>
                </a:solidFill>
              </a:rPr>
              <a:t>Grainger Engineering Library</a:t>
            </a:r>
          </a:p>
          <a:p>
            <a:r>
              <a:rPr lang="nl-NL" dirty="0">
                <a:hlinkClick r:id="rId3"/>
              </a:rPr>
              <a:t>https://www.library.illinois.edu/enx/</a:t>
            </a:r>
            <a:endParaRPr lang="nl-NL" dirty="0"/>
          </a:p>
          <a:p>
            <a:r>
              <a:rPr lang="en-US" dirty="0" err="1">
                <a:solidFill>
                  <a:srgbClr val="C00000"/>
                </a:solidFill>
              </a:rPr>
              <a:t>LibDex</a:t>
            </a:r>
            <a:r>
              <a:rPr lang="en-US" dirty="0"/>
              <a:t> — </a:t>
            </a:r>
            <a:r>
              <a:rPr lang="en-US" dirty="0">
                <a:hlinkClick r:id="rId4"/>
              </a:rPr>
              <a:t>www.libdex.com/</a:t>
            </a:r>
            <a:endParaRPr lang="en-US" dirty="0"/>
          </a:p>
          <a:p>
            <a:r>
              <a:rPr lang="en-US" dirty="0" err="1">
                <a:solidFill>
                  <a:srgbClr val="C00000"/>
                </a:solidFill>
              </a:rPr>
              <a:t>LibWeb</a:t>
            </a:r>
            <a:r>
              <a:rPr lang="en-US" dirty="0">
                <a:solidFill>
                  <a:srgbClr val="C00000"/>
                </a:solidFill>
              </a:rPr>
              <a:t>:</a:t>
            </a:r>
            <a:r>
              <a:rPr lang="en-US" dirty="0"/>
              <a:t> http://www.lib-web.org/ </a:t>
            </a:r>
          </a:p>
          <a:p>
            <a:r>
              <a:rPr lang="en-US" dirty="0"/>
              <a:t>The Library of Congress Catalog: </a:t>
            </a:r>
            <a:r>
              <a:rPr lang="en-US" dirty="0">
                <a:hlinkClick r:id="rId5"/>
              </a:rPr>
              <a:t>http://catalog.loc.gov/</a:t>
            </a:r>
            <a:endParaRPr lang="en-US" dirty="0"/>
          </a:p>
          <a:p>
            <a:r>
              <a:rPr lang="en-US" dirty="0"/>
              <a:t>The British Library: </a:t>
            </a:r>
            <a:r>
              <a:rPr lang="en-US" dirty="0">
                <a:hlinkClick r:id="rId6"/>
              </a:rPr>
              <a:t>www.bl.uk</a:t>
            </a:r>
            <a:endParaRPr lang="en-US" dirty="0"/>
          </a:p>
          <a:p>
            <a:r>
              <a:rPr lang="en-US" dirty="0"/>
              <a:t>Canada Institute for Scientific and Technical Information (CISTI)</a:t>
            </a:r>
          </a:p>
          <a:p>
            <a:r>
              <a:rPr lang="en-US" dirty="0">
                <a:hlinkClick r:id="rId7"/>
              </a:rPr>
              <a:t>https://librarytechnology.org/library/17</a:t>
            </a:r>
            <a:endParaRPr lang="en-US" dirty="0"/>
          </a:p>
          <a:p>
            <a:endParaRPr lang="en-US" dirty="0"/>
          </a:p>
          <a:p>
            <a:endParaRPr lang="en-US" dirty="0"/>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2700" b="1" dirty="0">
                <a:solidFill>
                  <a:srgbClr val="C00000"/>
                </a:solidFill>
                <a:latin typeface="Times New Roman" panose="02020603050405020304"/>
              </a:rPr>
              <a:t>Finding Internet-Accessible, Engineering-Related Libraries</a:t>
            </a:r>
          </a:p>
        </p:txBody>
      </p:sp>
    </p:spTree>
    <p:extLst>
      <p:ext uri="{BB962C8B-B14F-4D97-AF65-F5344CB8AC3E}">
        <p14:creationId xmlns:p14="http://schemas.microsoft.com/office/powerpoint/2010/main" val="14313140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E79326-568A-491E-B3A0-85E925FE5F37}"/>
              </a:ext>
            </a:extLst>
          </p:cNvPr>
          <p:cNvPicPr>
            <a:picLocks noChangeAspect="1"/>
          </p:cNvPicPr>
          <p:nvPr/>
        </p:nvPicPr>
        <p:blipFill>
          <a:blip r:embed="rId2"/>
          <a:stretch>
            <a:fillRect/>
          </a:stretch>
        </p:blipFill>
        <p:spPr>
          <a:xfrm>
            <a:off x="302004" y="1264553"/>
            <a:ext cx="9144000" cy="5109072"/>
          </a:xfrm>
          <a:prstGeom prst="rect">
            <a:avLst/>
          </a:prstGeom>
        </p:spPr>
      </p:pic>
      <p:pic>
        <p:nvPicPr>
          <p:cNvPr id="5" name="Picture 4">
            <a:extLst>
              <a:ext uri="{FF2B5EF4-FFF2-40B4-BE49-F238E27FC236}">
                <a16:creationId xmlns:a16="http://schemas.microsoft.com/office/drawing/2014/main" id="{D463AD5B-8818-41A6-95A0-CB5E3073AD5A}"/>
              </a:ext>
            </a:extLst>
          </p:cNvPr>
          <p:cNvPicPr>
            <a:picLocks noChangeAspect="1"/>
          </p:cNvPicPr>
          <p:nvPr/>
        </p:nvPicPr>
        <p:blipFill>
          <a:blip r:embed="rId3"/>
          <a:stretch>
            <a:fillRect/>
          </a:stretch>
        </p:blipFill>
        <p:spPr>
          <a:xfrm>
            <a:off x="8847" y="1104201"/>
            <a:ext cx="8815552" cy="5143500"/>
          </a:xfrm>
          <a:prstGeom prst="rect">
            <a:avLst/>
          </a:prstGeom>
        </p:spPr>
      </p:pic>
      <p:pic>
        <p:nvPicPr>
          <p:cNvPr id="3" name="Picture 2">
            <a:extLst>
              <a:ext uri="{FF2B5EF4-FFF2-40B4-BE49-F238E27FC236}">
                <a16:creationId xmlns:a16="http://schemas.microsoft.com/office/drawing/2014/main" id="{98331AD4-FB81-45BD-89B8-110CB74323B2}"/>
              </a:ext>
            </a:extLst>
          </p:cNvPr>
          <p:cNvPicPr>
            <a:picLocks noChangeAspect="1"/>
          </p:cNvPicPr>
          <p:nvPr/>
        </p:nvPicPr>
        <p:blipFill>
          <a:blip r:embed="rId4"/>
          <a:stretch>
            <a:fillRect/>
          </a:stretch>
        </p:blipFill>
        <p:spPr>
          <a:xfrm>
            <a:off x="135364" y="1027127"/>
            <a:ext cx="9229922" cy="5297648"/>
          </a:xfrm>
          <a:prstGeom prst="rect">
            <a:avLst/>
          </a:prstGeom>
        </p:spPr>
      </p:pic>
      <p:pic>
        <p:nvPicPr>
          <p:cNvPr id="6" name="Picture 5">
            <a:extLst>
              <a:ext uri="{FF2B5EF4-FFF2-40B4-BE49-F238E27FC236}">
                <a16:creationId xmlns:a16="http://schemas.microsoft.com/office/drawing/2014/main" id="{AC5F5E49-3A93-44B3-BE32-7FD27299E3EA}"/>
              </a:ext>
            </a:extLst>
          </p:cNvPr>
          <p:cNvPicPr>
            <a:picLocks noChangeAspect="1"/>
          </p:cNvPicPr>
          <p:nvPr/>
        </p:nvPicPr>
        <p:blipFill>
          <a:blip r:embed="rId5">
            <a:lum bright="-14000"/>
          </a:blip>
          <a:stretch>
            <a:fillRect/>
          </a:stretch>
        </p:blipFill>
        <p:spPr>
          <a:xfrm>
            <a:off x="302004" y="1055351"/>
            <a:ext cx="7500938" cy="5143500"/>
          </a:xfrm>
          <a:prstGeom prst="rect">
            <a:avLst/>
          </a:prstGeom>
        </p:spPr>
      </p:pic>
    </p:spTree>
    <p:extLst>
      <p:ext uri="{BB962C8B-B14F-4D97-AF65-F5344CB8AC3E}">
        <p14:creationId xmlns:p14="http://schemas.microsoft.com/office/powerpoint/2010/main" val="366561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433" y="5646601"/>
            <a:ext cx="7886700" cy="354149"/>
          </a:xfrm>
        </p:spPr>
        <p:txBody>
          <a:bodyPr>
            <a:normAutofit/>
          </a:bodyPr>
          <a:lstStyle/>
          <a:p>
            <a:r>
              <a:rPr lang="en-US" sz="1350" dirty="0">
                <a:hlinkClick r:id="rId2"/>
              </a:rPr>
              <a:t>https://www.loc.gov/rr/scitech/selected-internet/engineering.html</a:t>
            </a:r>
            <a:endParaRPr lang="en-US" sz="1350" dirty="0"/>
          </a:p>
          <a:p>
            <a:endParaRPr lang="en-US" sz="1350" dirty="0"/>
          </a:p>
        </p:txBody>
      </p:sp>
      <p:pic>
        <p:nvPicPr>
          <p:cNvPr id="4" name="Picture 3"/>
          <p:cNvPicPr>
            <a:picLocks noChangeAspect="1"/>
          </p:cNvPicPr>
          <p:nvPr/>
        </p:nvPicPr>
        <p:blipFill>
          <a:blip r:embed="rId3" cstate="print"/>
          <a:stretch>
            <a:fillRect/>
          </a:stretch>
        </p:blipFill>
        <p:spPr>
          <a:xfrm>
            <a:off x="0" y="819778"/>
            <a:ext cx="8162868" cy="4789351"/>
          </a:xfrm>
          <a:prstGeom prst="rect">
            <a:avLst/>
          </a:prstGeom>
        </p:spPr>
      </p:pic>
    </p:spTree>
    <p:extLst>
      <p:ext uri="{BB962C8B-B14F-4D97-AF65-F5344CB8AC3E}">
        <p14:creationId xmlns:p14="http://schemas.microsoft.com/office/powerpoint/2010/main" val="997054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20592F-3084-4BC7-9D67-36BF7E1777E3}"/>
              </a:ext>
            </a:extLst>
          </p:cNvPr>
          <p:cNvPicPr>
            <a:picLocks noChangeAspect="1"/>
          </p:cNvPicPr>
          <p:nvPr/>
        </p:nvPicPr>
        <p:blipFill>
          <a:blip r:embed="rId2"/>
          <a:stretch>
            <a:fillRect/>
          </a:stretch>
        </p:blipFill>
        <p:spPr>
          <a:xfrm>
            <a:off x="557000" y="870487"/>
            <a:ext cx="7232555" cy="4813282"/>
          </a:xfrm>
          <a:prstGeom prst="rect">
            <a:avLst/>
          </a:prstGeom>
        </p:spPr>
      </p:pic>
      <p:sp>
        <p:nvSpPr>
          <p:cNvPr id="3" name="Content Placeholder 2"/>
          <p:cNvSpPr>
            <a:spLocks noGrp="1"/>
          </p:cNvSpPr>
          <p:nvPr>
            <p:ph idx="1"/>
          </p:nvPr>
        </p:nvSpPr>
        <p:spPr>
          <a:xfrm>
            <a:off x="557000" y="5683769"/>
            <a:ext cx="7886700" cy="272262"/>
          </a:xfrm>
        </p:spPr>
        <p:txBody>
          <a:bodyPr>
            <a:normAutofit fontScale="77500" lnSpcReduction="20000"/>
          </a:bodyPr>
          <a:lstStyle/>
          <a:p>
            <a:r>
              <a:rPr lang="en-US" dirty="0">
                <a:hlinkClick r:id="rId3"/>
              </a:rPr>
              <a:t>https://www.uspto.gov/patents-application-process/search-patents</a:t>
            </a:r>
            <a:endParaRPr lang="en-US" dirty="0"/>
          </a:p>
          <a:p>
            <a:endParaRPr lang="en-US" dirty="0"/>
          </a:p>
        </p:txBody>
      </p:sp>
      <p:pic>
        <p:nvPicPr>
          <p:cNvPr id="7" name="Picture 6">
            <a:extLst>
              <a:ext uri="{FF2B5EF4-FFF2-40B4-BE49-F238E27FC236}">
                <a16:creationId xmlns:a16="http://schemas.microsoft.com/office/drawing/2014/main" id="{08C5EAF3-DA93-4C3C-AF5A-4EF222AF69C8}"/>
              </a:ext>
            </a:extLst>
          </p:cNvPr>
          <p:cNvPicPr>
            <a:picLocks noChangeAspect="1"/>
          </p:cNvPicPr>
          <p:nvPr/>
        </p:nvPicPr>
        <p:blipFill>
          <a:blip r:embed="rId4"/>
          <a:stretch>
            <a:fillRect/>
          </a:stretch>
        </p:blipFill>
        <p:spPr>
          <a:xfrm>
            <a:off x="495360" y="844013"/>
            <a:ext cx="7838693" cy="5143500"/>
          </a:xfrm>
          <a:prstGeom prst="rect">
            <a:avLst/>
          </a:prstGeom>
        </p:spPr>
      </p:pic>
      <p:pic>
        <p:nvPicPr>
          <p:cNvPr id="8" name="Picture 7">
            <a:extLst>
              <a:ext uri="{FF2B5EF4-FFF2-40B4-BE49-F238E27FC236}">
                <a16:creationId xmlns:a16="http://schemas.microsoft.com/office/drawing/2014/main" id="{896E1C20-7502-4BD2-9F99-29D5E40D57AC}"/>
              </a:ext>
            </a:extLst>
          </p:cNvPr>
          <p:cNvPicPr>
            <a:picLocks noChangeAspect="1"/>
          </p:cNvPicPr>
          <p:nvPr/>
        </p:nvPicPr>
        <p:blipFill>
          <a:blip r:embed="rId5"/>
          <a:stretch>
            <a:fillRect/>
          </a:stretch>
        </p:blipFill>
        <p:spPr>
          <a:xfrm>
            <a:off x="459867" y="976844"/>
            <a:ext cx="7554668" cy="5010670"/>
          </a:xfrm>
          <a:prstGeom prst="rect">
            <a:avLst/>
          </a:prstGeom>
        </p:spPr>
      </p:pic>
      <p:pic>
        <p:nvPicPr>
          <p:cNvPr id="9" name="Picture 8">
            <a:extLst>
              <a:ext uri="{FF2B5EF4-FFF2-40B4-BE49-F238E27FC236}">
                <a16:creationId xmlns:a16="http://schemas.microsoft.com/office/drawing/2014/main" id="{6264AC80-9E39-4675-B0E7-E0BB4437043A}"/>
              </a:ext>
            </a:extLst>
          </p:cNvPr>
          <p:cNvPicPr>
            <a:picLocks noChangeAspect="1"/>
          </p:cNvPicPr>
          <p:nvPr/>
        </p:nvPicPr>
        <p:blipFill>
          <a:blip r:embed="rId6">
            <a:lum bright="-14000"/>
          </a:blip>
          <a:stretch>
            <a:fillRect/>
          </a:stretch>
        </p:blipFill>
        <p:spPr>
          <a:xfrm>
            <a:off x="0" y="844014"/>
            <a:ext cx="9144000" cy="4552474"/>
          </a:xfrm>
          <a:prstGeom prst="rect">
            <a:avLst/>
          </a:prstGeom>
        </p:spPr>
      </p:pic>
    </p:spTree>
    <p:extLst>
      <p:ext uri="{BB962C8B-B14F-4D97-AF65-F5344CB8AC3E}">
        <p14:creationId xmlns:p14="http://schemas.microsoft.com/office/powerpoint/2010/main" val="3232857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3698" y="5554479"/>
            <a:ext cx="7886700" cy="241555"/>
          </a:xfrm>
        </p:spPr>
        <p:txBody>
          <a:bodyPr>
            <a:normAutofit fontScale="62500" lnSpcReduction="20000"/>
          </a:bodyPr>
          <a:lstStyle/>
          <a:p>
            <a:r>
              <a:rPr lang="en-US" dirty="0">
                <a:hlinkClick r:id="rId2"/>
              </a:rPr>
              <a:t>https://www.epo.org/searching-for-patents.html</a:t>
            </a:r>
            <a:endParaRPr lang="en-US" dirty="0"/>
          </a:p>
          <a:p>
            <a:endParaRPr lang="en-US" dirty="0"/>
          </a:p>
        </p:txBody>
      </p:sp>
      <p:pic>
        <p:nvPicPr>
          <p:cNvPr id="4" name="Picture 3"/>
          <p:cNvPicPr>
            <a:picLocks noChangeAspect="1"/>
          </p:cNvPicPr>
          <p:nvPr/>
        </p:nvPicPr>
        <p:blipFill>
          <a:blip r:embed="rId3" cstate="print"/>
          <a:stretch>
            <a:fillRect/>
          </a:stretch>
        </p:blipFill>
        <p:spPr>
          <a:xfrm>
            <a:off x="150101" y="857250"/>
            <a:ext cx="7966905" cy="4537415"/>
          </a:xfrm>
          <a:prstGeom prst="rect">
            <a:avLst/>
          </a:prstGeom>
        </p:spPr>
      </p:pic>
    </p:spTree>
    <p:extLst>
      <p:ext uri="{BB962C8B-B14F-4D97-AF65-F5344CB8AC3E}">
        <p14:creationId xmlns:p14="http://schemas.microsoft.com/office/powerpoint/2010/main" val="36245135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E829EE-545E-4580-A286-6A32CC829E25}"/>
              </a:ext>
            </a:extLst>
          </p:cNvPr>
          <p:cNvPicPr>
            <a:picLocks noChangeAspect="1"/>
          </p:cNvPicPr>
          <p:nvPr/>
        </p:nvPicPr>
        <p:blipFill>
          <a:blip r:embed="rId2"/>
          <a:stretch>
            <a:fillRect/>
          </a:stretch>
        </p:blipFill>
        <p:spPr>
          <a:xfrm>
            <a:off x="444413" y="857250"/>
            <a:ext cx="8255175" cy="5143500"/>
          </a:xfrm>
          <a:prstGeom prst="rect">
            <a:avLst/>
          </a:prstGeom>
        </p:spPr>
      </p:pic>
      <p:sp>
        <p:nvSpPr>
          <p:cNvPr id="6" name="Arrow: Down 5">
            <a:extLst>
              <a:ext uri="{FF2B5EF4-FFF2-40B4-BE49-F238E27FC236}">
                <a16:creationId xmlns:a16="http://schemas.microsoft.com/office/drawing/2014/main" id="{01E79CC4-FADA-481C-BAA9-86BE90AAB7F2}"/>
              </a:ext>
            </a:extLst>
          </p:cNvPr>
          <p:cNvSpPr/>
          <p:nvPr/>
        </p:nvSpPr>
        <p:spPr>
          <a:xfrm>
            <a:off x="4572000" y="1360589"/>
            <a:ext cx="363474" cy="73380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imes New Roman"/>
            </a:endParaRPr>
          </a:p>
        </p:txBody>
      </p:sp>
      <p:pic>
        <p:nvPicPr>
          <p:cNvPr id="7" name="Picture 6">
            <a:extLst>
              <a:ext uri="{FF2B5EF4-FFF2-40B4-BE49-F238E27FC236}">
                <a16:creationId xmlns:a16="http://schemas.microsoft.com/office/drawing/2014/main" id="{D185BAA5-81F8-4FE7-A918-F38F59A56E5D}"/>
              </a:ext>
            </a:extLst>
          </p:cNvPr>
          <p:cNvPicPr>
            <a:picLocks noChangeAspect="1"/>
          </p:cNvPicPr>
          <p:nvPr/>
        </p:nvPicPr>
        <p:blipFill>
          <a:blip r:embed="rId3"/>
          <a:stretch>
            <a:fillRect/>
          </a:stretch>
        </p:blipFill>
        <p:spPr>
          <a:xfrm>
            <a:off x="5491972" y="1336489"/>
            <a:ext cx="393226" cy="749873"/>
          </a:xfrm>
          <a:prstGeom prst="rect">
            <a:avLst/>
          </a:prstGeom>
        </p:spPr>
      </p:pic>
      <p:sp>
        <p:nvSpPr>
          <p:cNvPr id="8" name="Arrow: Down 7">
            <a:extLst>
              <a:ext uri="{FF2B5EF4-FFF2-40B4-BE49-F238E27FC236}">
                <a16:creationId xmlns:a16="http://schemas.microsoft.com/office/drawing/2014/main" id="{BB02BCBD-B2F5-4100-9206-BB86DA4853FA}"/>
              </a:ext>
            </a:extLst>
          </p:cNvPr>
          <p:cNvSpPr/>
          <p:nvPr/>
        </p:nvSpPr>
        <p:spPr>
          <a:xfrm>
            <a:off x="6441696" y="1344522"/>
            <a:ext cx="363474" cy="73380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Times New Roman"/>
            </a:endParaRPr>
          </a:p>
        </p:txBody>
      </p:sp>
      <p:pic>
        <p:nvPicPr>
          <p:cNvPr id="12" name="Picture 11">
            <a:extLst>
              <a:ext uri="{FF2B5EF4-FFF2-40B4-BE49-F238E27FC236}">
                <a16:creationId xmlns:a16="http://schemas.microsoft.com/office/drawing/2014/main" id="{B781341C-E743-44FA-9331-3FB861D1F71E}"/>
              </a:ext>
            </a:extLst>
          </p:cNvPr>
          <p:cNvPicPr>
            <a:picLocks noChangeAspect="1"/>
          </p:cNvPicPr>
          <p:nvPr/>
        </p:nvPicPr>
        <p:blipFill>
          <a:blip r:embed="rId4"/>
          <a:stretch>
            <a:fillRect/>
          </a:stretch>
        </p:blipFill>
        <p:spPr>
          <a:xfrm>
            <a:off x="423782" y="857250"/>
            <a:ext cx="8296436" cy="5143500"/>
          </a:xfrm>
          <a:prstGeom prst="rect">
            <a:avLst/>
          </a:prstGeom>
        </p:spPr>
      </p:pic>
      <p:pic>
        <p:nvPicPr>
          <p:cNvPr id="11" name="Picture 10">
            <a:extLst>
              <a:ext uri="{FF2B5EF4-FFF2-40B4-BE49-F238E27FC236}">
                <a16:creationId xmlns:a16="http://schemas.microsoft.com/office/drawing/2014/main" id="{2567FB5A-A5FA-422F-B4AB-4C82117EC193}"/>
              </a:ext>
            </a:extLst>
          </p:cNvPr>
          <p:cNvPicPr>
            <a:picLocks noChangeAspect="1"/>
          </p:cNvPicPr>
          <p:nvPr/>
        </p:nvPicPr>
        <p:blipFill>
          <a:blip r:embed="rId5"/>
          <a:stretch>
            <a:fillRect/>
          </a:stretch>
        </p:blipFill>
        <p:spPr>
          <a:xfrm>
            <a:off x="228514" y="875686"/>
            <a:ext cx="8406581" cy="5125064"/>
          </a:xfrm>
          <a:prstGeom prst="rect">
            <a:avLst/>
          </a:prstGeom>
        </p:spPr>
      </p:pic>
      <p:pic>
        <p:nvPicPr>
          <p:cNvPr id="13" name="Picture 12">
            <a:extLst>
              <a:ext uri="{FF2B5EF4-FFF2-40B4-BE49-F238E27FC236}">
                <a16:creationId xmlns:a16="http://schemas.microsoft.com/office/drawing/2014/main" id="{06CDE72F-6673-4524-BEC0-A4CB4D9527D9}"/>
              </a:ext>
            </a:extLst>
          </p:cNvPr>
          <p:cNvPicPr>
            <a:picLocks noChangeAspect="1"/>
          </p:cNvPicPr>
          <p:nvPr/>
        </p:nvPicPr>
        <p:blipFill>
          <a:blip r:embed="rId6">
            <a:lum bright="-11000"/>
          </a:blip>
          <a:stretch>
            <a:fillRect/>
          </a:stretch>
        </p:blipFill>
        <p:spPr>
          <a:xfrm>
            <a:off x="203024" y="951271"/>
            <a:ext cx="8517194" cy="4955458"/>
          </a:xfrm>
          <a:prstGeom prst="rect">
            <a:avLst/>
          </a:prstGeom>
        </p:spPr>
      </p:pic>
    </p:spTree>
    <p:extLst>
      <p:ext uri="{BB962C8B-B14F-4D97-AF65-F5344CB8AC3E}">
        <p14:creationId xmlns:p14="http://schemas.microsoft.com/office/powerpoint/2010/main" val="411926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2"/>
            <a:ext cx="9144000" cy="4193279"/>
          </a:xfrm>
        </p:spPr>
        <p:txBody>
          <a:bodyPr>
            <a:normAutofit/>
          </a:bodyPr>
          <a:lstStyle/>
          <a:p>
            <a:r>
              <a:rPr lang="en-US" sz="3000" b="1" dirty="0"/>
              <a:t>There are essentially two approaches to write the Essay and Summary:</a:t>
            </a:r>
          </a:p>
          <a:p>
            <a:endParaRPr lang="en-US" sz="3000" b="1" dirty="0"/>
          </a:p>
          <a:p>
            <a:pPr lvl="2"/>
            <a:r>
              <a:rPr lang="en-US" sz="3300" b="1" dirty="0">
                <a:solidFill>
                  <a:srgbClr val="C00000"/>
                </a:solidFill>
              </a:rPr>
              <a:t>Descriptive</a:t>
            </a:r>
            <a:r>
              <a:rPr lang="en-US" sz="3300" b="1" dirty="0"/>
              <a:t> &gt; More general</a:t>
            </a:r>
          </a:p>
          <a:p>
            <a:pPr lvl="2"/>
            <a:endParaRPr lang="en-US" sz="2100" b="1" dirty="0"/>
          </a:p>
          <a:p>
            <a:pPr lvl="2"/>
            <a:endParaRPr lang="en-US" sz="2100" b="1" dirty="0"/>
          </a:p>
          <a:p>
            <a:pPr lvl="2"/>
            <a:endParaRPr lang="en-US" sz="2100" b="1" dirty="0"/>
          </a:p>
          <a:p>
            <a:pPr lvl="2"/>
            <a:r>
              <a:rPr lang="en-US" sz="3300" b="1" dirty="0">
                <a:solidFill>
                  <a:srgbClr val="C00000"/>
                </a:solidFill>
              </a:rPr>
              <a:t>Informative</a:t>
            </a:r>
            <a:r>
              <a:rPr lang="en-US" sz="3300" b="1" dirty="0"/>
              <a:t> &gt; Specific + More details</a:t>
            </a:r>
          </a:p>
          <a:p>
            <a:endParaRPr lang="en-US" sz="2700" b="1" i="1" dirty="0">
              <a:solidFill>
                <a:srgbClr val="002060"/>
              </a:solidFill>
            </a:endParaRP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Essay Layout</a:t>
            </a:r>
          </a:p>
        </p:txBody>
      </p:sp>
    </p:spTree>
    <p:extLst>
      <p:ext uri="{BB962C8B-B14F-4D97-AF65-F5344CB8AC3E}">
        <p14:creationId xmlns:p14="http://schemas.microsoft.com/office/powerpoint/2010/main" val="15503690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510778"/>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srgbClr val="C00000"/>
                </a:solidFill>
                <a:latin typeface="Times New Roman"/>
              </a:rPr>
              <a:t>How to write a technical essay?</a:t>
            </a:r>
          </a:p>
        </p:txBody>
      </p:sp>
      <p:sp>
        <p:nvSpPr>
          <p:cNvPr id="4" name="Isosceles Triangle 3"/>
          <p:cNvSpPr/>
          <p:nvPr/>
        </p:nvSpPr>
        <p:spPr>
          <a:xfrm>
            <a:off x="5424063" y="2564790"/>
            <a:ext cx="2846526" cy="219972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6" name="TextBox 5"/>
          <p:cNvSpPr txBox="1"/>
          <p:nvPr/>
        </p:nvSpPr>
        <p:spPr>
          <a:xfrm>
            <a:off x="4563927" y="3101286"/>
            <a:ext cx="1765301" cy="553998"/>
          </a:xfrm>
          <a:prstGeom prst="rect">
            <a:avLst/>
          </a:prstGeom>
          <a:noFill/>
        </p:spPr>
        <p:txBody>
          <a:bodyPr wrap="square" rtlCol="0">
            <a:spAutoFit/>
          </a:bodyPr>
          <a:lstStyle/>
          <a:p>
            <a:pPr defTabSz="685800"/>
            <a:r>
              <a:rPr lang="en-US" sz="3000" b="1" dirty="0">
                <a:solidFill>
                  <a:prstClr val="black"/>
                </a:solidFill>
                <a:latin typeface="Times New Roman"/>
              </a:rPr>
              <a:t>Audience</a:t>
            </a:r>
          </a:p>
        </p:txBody>
      </p:sp>
      <p:sp>
        <p:nvSpPr>
          <p:cNvPr id="7" name="TextBox 6"/>
          <p:cNvSpPr txBox="1"/>
          <p:nvPr/>
        </p:nvSpPr>
        <p:spPr>
          <a:xfrm>
            <a:off x="7365424" y="3084722"/>
            <a:ext cx="1702376" cy="553998"/>
          </a:xfrm>
          <a:prstGeom prst="rect">
            <a:avLst/>
          </a:prstGeom>
          <a:noFill/>
        </p:spPr>
        <p:txBody>
          <a:bodyPr wrap="square" rtlCol="0">
            <a:spAutoFit/>
          </a:bodyPr>
          <a:lstStyle/>
          <a:p>
            <a:pPr defTabSz="685800"/>
            <a:r>
              <a:rPr lang="en-US" sz="3000" b="1" dirty="0">
                <a:solidFill>
                  <a:prstClr val="black"/>
                </a:solidFill>
                <a:latin typeface="Times New Roman"/>
              </a:rPr>
              <a:t>Purpose</a:t>
            </a:r>
          </a:p>
        </p:txBody>
      </p:sp>
      <p:sp>
        <p:nvSpPr>
          <p:cNvPr id="8" name="TextBox 7"/>
          <p:cNvSpPr txBox="1"/>
          <p:nvPr/>
        </p:nvSpPr>
        <p:spPr>
          <a:xfrm>
            <a:off x="6076951" y="4834544"/>
            <a:ext cx="1765301" cy="553998"/>
          </a:xfrm>
          <a:prstGeom prst="rect">
            <a:avLst/>
          </a:prstGeom>
          <a:noFill/>
        </p:spPr>
        <p:txBody>
          <a:bodyPr wrap="square" rtlCol="0">
            <a:spAutoFit/>
          </a:bodyPr>
          <a:lstStyle/>
          <a:p>
            <a:pPr defTabSz="685800"/>
            <a:r>
              <a:rPr lang="en-US" sz="3000" b="1" dirty="0">
                <a:solidFill>
                  <a:prstClr val="black"/>
                </a:solidFill>
                <a:latin typeface="Times New Roman"/>
              </a:rPr>
              <a:t>Occasion</a:t>
            </a:r>
          </a:p>
        </p:txBody>
      </p:sp>
      <p:sp>
        <p:nvSpPr>
          <p:cNvPr id="9" name="Rectangle 8"/>
          <p:cNvSpPr/>
          <p:nvPr/>
        </p:nvSpPr>
        <p:spPr>
          <a:xfrm>
            <a:off x="0" y="1509899"/>
            <a:ext cx="3238500" cy="600164"/>
          </a:xfrm>
          <a:prstGeom prst="rect">
            <a:avLst/>
          </a:prstGeom>
          <a:solidFill>
            <a:schemeClr val="accent6">
              <a:lumMod val="20000"/>
              <a:lumOff val="80000"/>
            </a:schemeClr>
          </a:solidFill>
        </p:spPr>
        <p:txBody>
          <a:bodyPr wrap="square">
            <a:spAutoFit/>
          </a:bodyPr>
          <a:lstStyle/>
          <a:p>
            <a:pPr defTabSz="685800"/>
            <a:r>
              <a:rPr lang="en-US" sz="3300" b="1" dirty="0">
                <a:solidFill>
                  <a:prstClr val="black"/>
                </a:solidFill>
                <a:latin typeface="Times New Roman"/>
              </a:rPr>
              <a:t>Subject Matter</a:t>
            </a:r>
          </a:p>
        </p:txBody>
      </p:sp>
      <p:sp>
        <p:nvSpPr>
          <p:cNvPr id="11" name="Rectangle 10"/>
          <p:cNvSpPr/>
          <p:nvPr/>
        </p:nvSpPr>
        <p:spPr>
          <a:xfrm>
            <a:off x="4765973" y="1493325"/>
            <a:ext cx="3833485" cy="600164"/>
          </a:xfrm>
          <a:prstGeom prst="rect">
            <a:avLst/>
          </a:prstGeom>
          <a:solidFill>
            <a:schemeClr val="accent6">
              <a:lumMod val="20000"/>
              <a:lumOff val="80000"/>
            </a:schemeClr>
          </a:solidFill>
        </p:spPr>
        <p:txBody>
          <a:bodyPr wrap="none">
            <a:spAutoFit/>
          </a:bodyPr>
          <a:lstStyle/>
          <a:p>
            <a:pPr defTabSz="685800"/>
            <a:r>
              <a:rPr lang="en-US" sz="3300" b="1" dirty="0">
                <a:solidFill>
                  <a:prstClr val="black"/>
                </a:solidFill>
                <a:latin typeface="Times New Roman"/>
              </a:rPr>
              <a:t>Writing Constraints</a:t>
            </a:r>
          </a:p>
        </p:txBody>
      </p:sp>
      <p:pic>
        <p:nvPicPr>
          <p:cNvPr id="14" name="Picture 13"/>
          <p:cNvPicPr>
            <a:picLocks noChangeAspect="1"/>
          </p:cNvPicPr>
          <p:nvPr/>
        </p:nvPicPr>
        <p:blipFill>
          <a:blip r:embed="rId2" cstate="print"/>
          <a:stretch>
            <a:fillRect/>
          </a:stretch>
        </p:blipFill>
        <p:spPr>
          <a:xfrm>
            <a:off x="234678" y="2276471"/>
            <a:ext cx="3003823" cy="2413071"/>
          </a:xfrm>
          <a:prstGeom prst="rect">
            <a:avLst/>
          </a:prstGeom>
        </p:spPr>
      </p:pic>
      <p:sp>
        <p:nvSpPr>
          <p:cNvPr id="15" name="Rectangle 14"/>
          <p:cNvSpPr/>
          <p:nvPr/>
        </p:nvSpPr>
        <p:spPr>
          <a:xfrm>
            <a:off x="368571" y="4751046"/>
            <a:ext cx="2647713" cy="461665"/>
          </a:xfrm>
          <a:prstGeom prst="rect">
            <a:avLst/>
          </a:prstGeom>
        </p:spPr>
        <p:txBody>
          <a:bodyPr wrap="none">
            <a:spAutoFit/>
          </a:bodyPr>
          <a:lstStyle/>
          <a:p>
            <a:pPr defTabSz="685800"/>
            <a:r>
              <a:rPr lang="en-US" sz="2400" dirty="0">
                <a:solidFill>
                  <a:prstClr val="black"/>
                </a:solidFill>
                <a:latin typeface="Times New Roman"/>
              </a:rPr>
              <a:t>Large-format CCDs</a:t>
            </a:r>
          </a:p>
        </p:txBody>
      </p:sp>
      <p:sp>
        <p:nvSpPr>
          <p:cNvPr id="17" name="Right Brace 16"/>
          <p:cNvSpPr/>
          <p:nvPr/>
        </p:nvSpPr>
        <p:spPr>
          <a:xfrm>
            <a:off x="3872354" y="1797051"/>
            <a:ext cx="420246" cy="3392576"/>
          </a:xfrm>
          <a:prstGeom prst="rightBrace">
            <a:avLst>
              <a:gd name="adj1" fmla="val 45175"/>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a:solidFill>
                <a:prstClr val="black"/>
              </a:solidFill>
              <a:latin typeface="Arial"/>
            </a:endParaRPr>
          </a:p>
        </p:txBody>
      </p:sp>
    </p:spTree>
    <p:extLst>
      <p:ext uri="{BB962C8B-B14F-4D97-AF65-F5344CB8AC3E}">
        <p14:creationId xmlns:p14="http://schemas.microsoft.com/office/powerpoint/2010/main" val="10456311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325" y="1480752"/>
            <a:ext cx="2349500" cy="1933870"/>
          </a:xfrm>
          <a:solidFill>
            <a:schemeClr val="accent6">
              <a:lumMod val="20000"/>
              <a:lumOff val="80000"/>
            </a:schemeClr>
          </a:solidFill>
        </p:spPr>
        <p:txBody>
          <a:bodyPr>
            <a:noAutofit/>
          </a:bodyPr>
          <a:lstStyle/>
          <a:p>
            <a:r>
              <a:rPr lang="fr-FR" sz="2700" b="1" dirty="0"/>
              <a:t>Reports</a:t>
            </a:r>
          </a:p>
          <a:p>
            <a:r>
              <a:rPr lang="fr-FR" sz="2700" b="1" dirty="0"/>
              <a:t>Articles</a:t>
            </a:r>
          </a:p>
          <a:p>
            <a:r>
              <a:rPr lang="fr-FR" sz="2700" b="1" dirty="0"/>
              <a:t>Proposals</a:t>
            </a:r>
          </a:p>
          <a:p>
            <a:r>
              <a:rPr lang="fr-FR" sz="2700" b="1" dirty="0"/>
              <a:t>Web Pages</a:t>
            </a:r>
          </a:p>
          <a:p>
            <a:endParaRPr lang="fr-FR" sz="2700" b="1" dirty="0"/>
          </a:p>
        </p:txBody>
      </p:sp>
      <p:sp>
        <p:nvSpPr>
          <p:cNvPr id="4" name="Rectangle 3"/>
          <p:cNvSpPr/>
          <p:nvPr/>
        </p:nvSpPr>
        <p:spPr>
          <a:xfrm>
            <a:off x="5029196" y="2167157"/>
            <a:ext cx="4089402" cy="507831"/>
          </a:xfrm>
          <a:prstGeom prst="rect">
            <a:avLst/>
          </a:prstGeom>
        </p:spPr>
        <p:txBody>
          <a:bodyPr wrap="square">
            <a:spAutoFit/>
          </a:bodyPr>
          <a:lstStyle/>
          <a:p>
            <a:pPr defTabSz="685800"/>
            <a:r>
              <a:rPr lang="en-US" sz="2700" dirty="0">
                <a:solidFill>
                  <a:prstClr val="black"/>
                </a:solidFill>
                <a:latin typeface="Times New Roman"/>
              </a:rPr>
              <a:t>Specific technical audiences</a:t>
            </a:r>
          </a:p>
        </p:txBody>
      </p:sp>
      <p:sp>
        <p:nvSpPr>
          <p:cNvPr id="5" name="Rectangle 4"/>
          <p:cNvSpPr/>
          <p:nvPr/>
        </p:nvSpPr>
        <p:spPr>
          <a:xfrm>
            <a:off x="4425949" y="3097506"/>
            <a:ext cx="1714500" cy="1338828"/>
          </a:xfrm>
          <a:prstGeom prst="rect">
            <a:avLst/>
          </a:prstGeom>
        </p:spPr>
        <p:txBody>
          <a:bodyPr wrap="square">
            <a:spAutoFit/>
          </a:bodyPr>
          <a:lstStyle/>
          <a:p>
            <a:pPr defTabSz="685800"/>
            <a:r>
              <a:rPr lang="en-US" sz="2700" dirty="0">
                <a:solidFill>
                  <a:prstClr val="black"/>
                </a:solidFill>
                <a:latin typeface="Times New Roman"/>
              </a:rPr>
              <a:t>General technical</a:t>
            </a:r>
          </a:p>
          <a:p>
            <a:pPr defTabSz="685800"/>
            <a:r>
              <a:rPr lang="en-US" sz="2700" dirty="0">
                <a:solidFill>
                  <a:prstClr val="black"/>
                </a:solidFill>
                <a:latin typeface="Times New Roman"/>
              </a:rPr>
              <a:t>audiences</a:t>
            </a:r>
          </a:p>
        </p:txBody>
      </p:sp>
      <p:sp>
        <p:nvSpPr>
          <p:cNvPr id="6" name="Rectangle 5"/>
          <p:cNvSpPr/>
          <p:nvPr/>
        </p:nvSpPr>
        <p:spPr>
          <a:xfrm>
            <a:off x="5283199" y="4819705"/>
            <a:ext cx="3581396" cy="507831"/>
          </a:xfrm>
          <a:prstGeom prst="rect">
            <a:avLst/>
          </a:prstGeom>
        </p:spPr>
        <p:txBody>
          <a:bodyPr wrap="square">
            <a:spAutoFit/>
          </a:bodyPr>
          <a:lstStyle/>
          <a:p>
            <a:pPr defTabSz="685800"/>
            <a:r>
              <a:rPr lang="en-US" sz="2700" dirty="0">
                <a:solidFill>
                  <a:prstClr val="black"/>
                </a:solidFill>
                <a:latin typeface="Times New Roman"/>
              </a:rPr>
              <a:t>Non-technical audiences</a:t>
            </a:r>
          </a:p>
        </p:txBody>
      </p:sp>
      <p:pic>
        <p:nvPicPr>
          <p:cNvPr id="7" name="Picture 6"/>
          <p:cNvPicPr>
            <a:picLocks noChangeAspect="1"/>
          </p:cNvPicPr>
          <p:nvPr/>
        </p:nvPicPr>
        <p:blipFill>
          <a:blip r:embed="rId2" cstate="print"/>
          <a:stretch>
            <a:fillRect/>
          </a:stretch>
        </p:blipFill>
        <p:spPr>
          <a:xfrm flipH="1">
            <a:off x="6007096" y="2749721"/>
            <a:ext cx="2946395" cy="2088071"/>
          </a:xfrm>
          <a:prstGeom prst="rect">
            <a:avLst/>
          </a:prstGeom>
        </p:spPr>
      </p:pic>
      <p:cxnSp>
        <p:nvCxnSpPr>
          <p:cNvPr id="9" name="Straight Connector 8"/>
          <p:cNvCxnSpPr/>
          <p:nvPr/>
        </p:nvCxnSpPr>
        <p:spPr>
          <a:xfrm>
            <a:off x="4375148" y="1157922"/>
            <a:ext cx="1" cy="4347529"/>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790701" y="4196457"/>
            <a:ext cx="2495552" cy="1754326"/>
          </a:xfrm>
          <a:prstGeom prst="rect">
            <a:avLst/>
          </a:prstGeom>
          <a:solidFill>
            <a:schemeClr val="accent5">
              <a:lumMod val="20000"/>
              <a:lumOff val="80000"/>
            </a:schemeClr>
          </a:solidFill>
        </p:spPr>
        <p:txBody>
          <a:bodyPr wrap="square">
            <a:spAutoFit/>
          </a:bodyPr>
          <a:lstStyle/>
          <a:p>
            <a:pPr defTabSz="685800"/>
            <a:r>
              <a:rPr lang="en-US" sz="2700" dirty="0">
                <a:solidFill>
                  <a:prstClr val="black"/>
                </a:solidFill>
                <a:latin typeface="Times New Roman"/>
              </a:rPr>
              <a:t>Conferences</a:t>
            </a:r>
          </a:p>
          <a:p>
            <a:pPr defTabSz="685800"/>
            <a:r>
              <a:rPr lang="en-US" sz="2700" dirty="0">
                <a:solidFill>
                  <a:prstClr val="black"/>
                </a:solidFill>
                <a:latin typeface="Times New Roman"/>
              </a:rPr>
              <a:t>Lectures</a:t>
            </a:r>
          </a:p>
          <a:p>
            <a:pPr defTabSz="685800"/>
            <a:r>
              <a:rPr lang="en-US" sz="2700" dirty="0">
                <a:solidFill>
                  <a:prstClr val="black"/>
                </a:solidFill>
                <a:latin typeface="Times New Roman"/>
              </a:rPr>
              <a:t>Meetings</a:t>
            </a:r>
          </a:p>
          <a:p>
            <a:pPr defTabSz="685800"/>
            <a:r>
              <a:rPr lang="en-US" sz="2700" dirty="0">
                <a:solidFill>
                  <a:prstClr val="black"/>
                </a:solidFill>
                <a:latin typeface="Times New Roman"/>
              </a:rPr>
              <a:t>Posters</a:t>
            </a:r>
          </a:p>
        </p:txBody>
      </p:sp>
      <p:sp>
        <p:nvSpPr>
          <p:cNvPr id="12" name="TextBox 11"/>
          <p:cNvSpPr txBox="1"/>
          <p:nvPr/>
        </p:nvSpPr>
        <p:spPr>
          <a:xfrm>
            <a:off x="60324" y="1084202"/>
            <a:ext cx="2557175" cy="461665"/>
          </a:xfrm>
          <a:prstGeom prst="rect">
            <a:avLst/>
          </a:prstGeom>
          <a:noFill/>
        </p:spPr>
        <p:txBody>
          <a:bodyPr wrap="none" rtlCol="0">
            <a:spAutoFit/>
          </a:bodyPr>
          <a:lstStyle/>
          <a:p>
            <a:pPr defTabSz="685800"/>
            <a:r>
              <a:rPr lang="en-US" sz="2400" b="1" dirty="0">
                <a:solidFill>
                  <a:srgbClr val="FF0000"/>
                </a:solidFill>
                <a:latin typeface="Times New Roman"/>
              </a:rPr>
              <a:t>Forms of Writing </a:t>
            </a:r>
          </a:p>
        </p:txBody>
      </p:sp>
      <p:sp>
        <p:nvSpPr>
          <p:cNvPr id="13" name="TextBox 12"/>
          <p:cNvSpPr txBox="1"/>
          <p:nvPr/>
        </p:nvSpPr>
        <p:spPr>
          <a:xfrm>
            <a:off x="1704975" y="3785805"/>
            <a:ext cx="1500732" cy="461665"/>
          </a:xfrm>
          <a:prstGeom prst="rect">
            <a:avLst/>
          </a:prstGeom>
          <a:noFill/>
        </p:spPr>
        <p:txBody>
          <a:bodyPr wrap="none" rtlCol="0">
            <a:spAutoFit/>
          </a:bodyPr>
          <a:lstStyle/>
          <a:p>
            <a:pPr defTabSz="685800"/>
            <a:r>
              <a:rPr lang="en-US" sz="2400" b="1" dirty="0">
                <a:solidFill>
                  <a:srgbClr val="FF0000"/>
                </a:solidFill>
                <a:latin typeface="Times New Roman"/>
              </a:rPr>
              <a:t>Occasions</a:t>
            </a:r>
          </a:p>
        </p:txBody>
      </p:sp>
      <p:sp>
        <p:nvSpPr>
          <p:cNvPr id="14" name="TextBox 13"/>
          <p:cNvSpPr txBox="1"/>
          <p:nvPr/>
        </p:nvSpPr>
        <p:spPr>
          <a:xfrm>
            <a:off x="5704291" y="1679667"/>
            <a:ext cx="1415772" cy="461665"/>
          </a:xfrm>
          <a:prstGeom prst="rect">
            <a:avLst/>
          </a:prstGeom>
          <a:noFill/>
        </p:spPr>
        <p:txBody>
          <a:bodyPr wrap="none" rtlCol="0">
            <a:spAutoFit/>
          </a:bodyPr>
          <a:lstStyle/>
          <a:p>
            <a:pPr defTabSz="685800"/>
            <a:r>
              <a:rPr lang="en-US" sz="2400" b="1" dirty="0">
                <a:solidFill>
                  <a:srgbClr val="FF0000"/>
                </a:solidFill>
                <a:latin typeface="Times New Roman"/>
              </a:rPr>
              <a:t>Audience</a:t>
            </a:r>
          </a:p>
        </p:txBody>
      </p:sp>
    </p:spTree>
    <p:extLst>
      <p:ext uri="{BB962C8B-B14F-4D97-AF65-F5344CB8AC3E}">
        <p14:creationId xmlns:p14="http://schemas.microsoft.com/office/powerpoint/2010/main" val="18584608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510778"/>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srgbClr val="C00000"/>
                </a:solidFill>
                <a:latin typeface="Times New Roman"/>
              </a:rPr>
              <a:t>How to write a technical essay?</a:t>
            </a:r>
          </a:p>
        </p:txBody>
      </p:sp>
      <p:sp>
        <p:nvSpPr>
          <p:cNvPr id="4" name="Isosceles Triangle 3"/>
          <p:cNvSpPr/>
          <p:nvPr/>
        </p:nvSpPr>
        <p:spPr>
          <a:xfrm>
            <a:off x="4572000" y="1938728"/>
            <a:ext cx="1786648" cy="123029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6" name="TextBox 5"/>
          <p:cNvSpPr txBox="1"/>
          <p:nvPr/>
        </p:nvSpPr>
        <p:spPr>
          <a:xfrm>
            <a:off x="3325227" y="2334584"/>
            <a:ext cx="1765301" cy="461665"/>
          </a:xfrm>
          <a:prstGeom prst="rect">
            <a:avLst/>
          </a:prstGeom>
          <a:noFill/>
        </p:spPr>
        <p:txBody>
          <a:bodyPr wrap="square" rtlCol="0">
            <a:spAutoFit/>
          </a:bodyPr>
          <a:lstStyle/>
          <a:p>
            <a:pPr defTabSz="685800"/>
            <a:r>
              <a:rPr lang="en-US" sz="2400" b="1" dirty="0">
                <a:solidFill>
                  <a:prstClr val="black"/>
                </a:solidFill>
                <a:latin typeface="Times New Roman" panose="02020603050405020304"/>
              </a:rPr>
              <a:t>Audience</a:t>
            </a:r>
          </a:p>
        </p:txBody>
      </p:sp>
      <p:sp>
        <p:nvSpPr>
          <p:cNvPr id="7" name="TextBox 6"/>
          <p:cNvSpPr txBox="1"/>
          <p:nvPr/>
        </p:nvSpPr>
        <p:spPr>
          <a:xfrm>
            <a:off x="5930324" y="2291859"/>
            <a:ext cx="1511300" cy="461665"/>
          </a:xfrm>
          <a:prstGeom prst="rect">
            <a:avLst/>
          </a:prstGeom>
          <a:noFill/>
        </p:spPr>
        <p:txBody>
          <a:bodyPr wrap="square" rtlCol="0">
            <a:spAutoFit/>
          </a:bodyPr>
          <a:lstStyle/>
          <a:p>
            <a:pPr defTabSz="685800"/>
            <a:r>
              <a:rPr lang="en-US" sz="2400" b="1" dirty="0">
                <a:solidFill>
                  <a:prstClr val="black"/>
                </a:solidFill>
                <a:latin typeface="Times New Roman" panose="02020603050405020304"/>
              </a:rPr>
              <a:t>Purpose</a:t>
            </a:r>
          </a:p>
        </p:txBody>
      </p:sp>
      <p:sp>
        <p:nvSpPr>
          <p:cNvPr id="8" name="TextBox 7"/>
          <p:cNvSpPr txBox="1"/>
          <p:nvPr/>
        </p:nvSpPr>
        <p:spPr>
          <a:xfrm>
            <a:off x="4653396" y="3169021"/>
            <a:ext cx="1765301" cy="461665"/>
          </a:xfrm>
          <a:prstGeom prst="rect">
            <a:avLst/>
          </a:prstGeom>
          <a:noFill/>
        </p:spPr>
        <p:txBody>
          <a:bodyPr wrap="square" rtlCol="0">
            <a:spAutoFit/>
          </a:bodyPr>
          <a:lstStyle/>
          <a:p>
            <a:pPr defTabSz="685800"/>
            <a:r>
              <a:rPr lang="en-US" sz="2400" b="1" dirty="0">
                <a:solidFill>
                  <a:prstClr val="black"/>
                </a:solidFill>
                <a:latin typeface="Times New Roman" panose="02020603050405020304"/>
              </a:rPr>
              <a:t>Occasion</a:t>
            </a:r>
          </a:p>
        </p:txBody>
      </p:sp>
      <p:sp>
        <p:nvSpPr>
          <p:cNvPr id="9" name="Rectangle 8"/>
          <p:cNvSpPr/>
          <p:nvPr/>
        </p:nvSpPr>
        <p:spPr>
          <a:xfrm>
            <a:off x="1" y="1493325"/>
            <a:ext cx="2368823" cy="461665"/>
          </a:xfrm>
          <a:prstGeom prst="rect">
            <a:avLst/>
          </a:prstGeom>
          <a:solidFill>
            <a:schemeClr val="accent6">
              <a:lumMod val="20000"/>
              <a:lumOff val="80000"/>
            </a:schemeClr>
          </a:solidFill>
        </p:spPr>
        <p:txBody>
          <a:bodyPr wrap="square">
            <a:spAutoFit/>
          </a:bodyPr>
          <a:lstStyle/>
          <a:p>
            <a:pPr defTabSz="685800"/>
            <a:r>
              <a:rPr lang="en-US" sz="2400" b="1" dirty="0">
                <a:solidFill>
                  <a:prstClr val="black"/>
                </a:solidFill>
                <a:latin typeface="Times New Roman" panose="02020603050405020304"/>
              </a:rPr>
              <a:t>Subject Matter</a:t>
            </a:r>
          </a:p>
        </p:txBody>
      </p:sp>
      <p:sp>
        <p:nvSpPr>
          <p:cNvPr id="11" name="Rectangle 10"/>
          <p:cNvSpPr/>
          <p:nvPr/>
        </p:nvSpPr>
        <p:spPr>
          <a:xfrm>
            <a:off x="4334172" y="1493325"/>
            <a:ext cx="2838469" cy="461665"/>
          </a:xfrm>
          <a:prstGeom prst="rect">
            <a:avLst/>
          </a:prstGeom>
          <a:solidFill>
            <a:schemeClr val="accent6">
              <a:lumMod val="20000"/>
              <a:lumOff val="80000"/>
            </a:schemeClr>
          </a:solidFill>
        </p:spPr>
        <p:txBody>
          <a:bodyPr wrap="none">
            <a:spAutoFit/>
          </a:bodyPr>
          <a:lstStyle/>
          <a:p>
            <a:pPr defTabSz="685800"/>
            <a:r>
              <a:rPr lang="en-US" sz="2400" b="1" dirty="0">
                <a:solidFill>
                  <a:prstClr val="black"/>
                </a:solidFill>
                <a:latin typeface="Times New Roman" panose="02020603050405020304"/>
              </a:rPr>
              <a:t>Writing Constraints</a:t>
            </a:r>
          </a:p>
        </p:txBody>
      </p:sp>
      <p:pic>
        <p:nvPicPr>
          <p:cNvPr id="14" name="Picture 13"/>
          <p:cNvPicPr>
            <a:picLocks noChangeAspect="1"/>
          </p:cNvPicPr>
          <p:nvPr/>
        </p:nvPicPr>
        <p:blipFill>
          <a:blip r:embed="rId2" cstate="print"/>
          <a:stretch>
            <a:fillRect/>
          </a:stretch>
        </p:blipFill>
        <p:spPr>
          <a:xfrm>
            <a:off x="0" y="1931906"/>
            <a:ext cx="2368823" cy="1902954"/>
          </a:xfrm>
          <a:prstGeom prst="rect">
            <a:avLst/>
          </a:prstGeom>
        </p:spPr>
      </p:pic>
      <p:sp>
        <p:nvSpPr>
          <p:cNvPr id="15" name="Rectangle 14"/>
          <p:cNvSpPr/>
          <p:nvPr/>
        </p:nvSpPr>
        <p:spPr>
          <a:xfrm>
            <a:off x="229991" y="3927193"/>
            <a:ext cx="2033570" cy="369332"/>
          </a:xfrm>
          <a:prstGeom prst="rect">
            <a:avLst/>
          </a:prstGeom>
        </p:spPr>
        <p:txBody>
          <a:bodyPr wrap="none">
            <a:spAutoFit/>
          </a:bodyPr>
          <a:lstStyle/>
          <a:p>
            <a:pPr defTabSz="685800"/>
            <a:r>
              <a:rPr lang="en-US" dirty="0">
                <a:solidFill>
                  <a:prstClr val="black"/>
                </a:solidFill>
                <a:latin typeface="Times New Roman" panose="02020603050405020304"/>
              </a:rPr>
              <a:t>Large-format CCDs</a:t>
            </a:r>
          </a:p>
        </p:txBody>
      </p:sp>
      <p:sp>
        <p:nvSpPr>
          <p:cNvPr id="17" name="Right Brace 16"/>
          <p:cNvSpPr/>
          <p:nvPr/>
        </p:nvSpPr>
        <p:spPr>
          <a:xfrm>
            <a:off x="3918573" y="4587751"/>
            <a:ext cx="208927" cy="955799"/>
          </a:xfrm>
          <a:prstGeom prst="rightBrace">
            <a:avLst>
              <a:gd name="adj1" fmla="val 45175"/>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a:solidFill>
                <a:prstClr val="black"/>
              </a:solidFill>
              <a:latin typeface="Arial"/>
            </a:endParaRPr>
          </a:p>
        </p:txBody>
      </p:sp>
      <p:sp>
        <p:nvSpPr>
          <p:cNvPr id="2" name="Rectangle 1"/>
          <p:cNvSpPr/>
          <p:nvPr/>
        </p:nvSpPr>
        <p:spPr>
          <a:xfrm>
            <a:off x="0" y="4598602"/>
            <a:ext cx="3963906" cy="646331"/>
          </a:xfrm>
          <a:prstGeom prst="rect">
            <a:avLst/>
          </a:prstGeom>
        </p:spPr>
        <p:txBody>
          <a:bodyPr wrap="none">
            <a:spAutoFit/>
          </a:bodyPr>
          <a:lstStyle/>
          <a:p>
            <a:pPr defTabSz="685800"/>
            <a:r>
              <a:rPr lang="en-US" sz="3600" b="1" dirty="0">
                <a:solidFill>
                  <a:srgbClr val="C00000"/>
                </a:solidFill>
                <a:latin typeface="Times New Roman"/>
              </a:rPr>
              <a:t>Purpose of Writing</a:t>
            </a:r>
          </a:p>
        </p:txBody>
      </p:sp>
      <p:cxnSp>
        <p:nvCxnSpPr>
          <p:cNvPr id="10" name="Straight Connector 9"/>
          <p:cNvCxnSpPr/>
          <p:nvPr/>
        </p:nvCxnSpPr>
        <p:spPr>
          <a:xfrm>
            <a:off x="482601" y="4273442"/>
            <a:ext cx="789940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ight Brace 15"/>
          <p:cNvSpPr/>
          <p:nvPr/>
        </p:nvSpPr>
        <p:spPr>
          <a:xfrm>
            <a:off x="2727886" y="2018761"/>
            <a:ext cx="202046" cy="1930400"/>
          </a:xfrm>
          <a:prstGeom prst="rightBrace">
            <a:avLst>
              <a:gd name="adj1" fmla="val 45175"/>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a:solidFill>
                <a:prstClr val="black"/>
              </a:solidFill>
              <a:latin typeface="Arial"/>
            </a:endParaRPr>
          </a:p>
        </p:txBody>
      </p:sp>
      <p:sp>
        <p:nvSpPr>
          <p:cNvPr id="12" name="Rectangle 11"/>
          <p:cNvSpPr/>
          <p:nvPr/>
        </p:nvSpPr>
        <p:spPr>
          <a:xfrm>
            <a:off x="4709828" y="4265518"/>
            <a:ext cx="2155655" cy="646331"/>
          </a:xfrm>
          <a:prstGeom prst="rect">
            <a:avLst/>
          </a:prstGeom>
        </p:spPr>
        <p:txBody>
          <a:bodyPr wrap="none">
            <a:spAutoFit/>
          </a:bodyPr>
          <a:lstStyle/>
          <a:p>
            <a:pPr defTabSz="685800"/>
            <a:r>
              <a:rPr lang="en-US" sz="3600" b="1" dirty="0">
                <a:solidFill>
                  <a:prstClr val="black"/>
                </a:solidFill>
                <a:latin typeface="Times New Roman"/>
              </a:rPr>
              <a:t>To inform</a:t>
            </a:r>
          </a:p>
        </p:txBody>
      </p:sp>
      <p:sp>
        <p:nvSpPr>
          <p:cNvPr id="13" name="Rectangle 12"/>
          <p:cNvSpPr/>
          <p:nvPr/>
        </p:nvSpPr>
        <p:spPr>
          <a:xfrm>
            <a:off x="4701938" y="5107879"/>
            <a:ext cx="2391617" cy="600164"/>
          </a:xfrm>
          <a:prstGeom prst="rect">
            <a:avLst/>
          </a:prstGeom>
        </p:spPr>
        <p:txBody>
          <a:bodyPr wrap="none">
            <a:spAutoFit/>
          </a:bodyPr>
          <a:lstStyle/>
          <a:p>
            <a:pPr defTabSz="685800"/>
            <a:r>
              <a:rPr lang="en-US" sz="3300" b="1" dirty="0">
                <a:solidFill>
                  <a:prstClr val="black"/>
                </a:solidFill>
                <a:latin typeface="Times New Roman"/>
              </a:rPr>
              <a:t>To persuade</a:t>
            </a:r>
          </a:p>
        </p:txBody>
      </p:sp>
    </p:spTree>
    <p:extLst>
      <p:ext uri="{BB962C8B-B14F-4D97-AF65-F5344CB8AC3E}">
        <p14:creationId xmlns:p14="http://schemas.microsoft.com/office/powerpoint/2010/main" val="760138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510778"/>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srgbClr val="C00000"/>
                </a:solidFill>
                <a:latin typeface="Times New Roman"/>
              </a:rPr>
              <a:t>How to write a technical essay?</a:t>
            </a:r>
          </a:p>
        </p:txBody>
      </p:sp>
      <p:sp>
        <p:nvSpPr>
          <p:cNvPr id="17" name="Right Brace 16"/>
          <p:cNvSpPr/>
          <p:nvPr/>
        </p:nvSpPr>
        <p:spPr>
          <a:xfrm>
            <a:off x="4127499" y="2027018"/>
            <a:ext cx="208927" cy="955799"/>
          </a:xfrm>
          <a:prstGeom prst="rightBrace">
            <a:avLst>
              <a:gd name="adj1" fmla="val 45175"/>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a:solidFill>
                <a:prstClr val="black"/>
              </a:solidFill>
              <a:latin typeface="Arial"/>
            </a:endParaRPr>
          </a:p>
        </p:txBody>
      </p:sp>
      <p:sp>
        <p:nvSpPr>
          <p:cNvPr id="2" name="Rectangle 1"/>
          <p:cNvSpPr/>
          <p:nvPr/>
        </p:nvSpPr>
        <p:spPr>
          <a:xfrm>
            <a:off x="208926" y="2027018"/>
            <a:ext cx="3963906" cy="646331"/>
          </a:xfrm>
          <a:prstGeom prst="rect">
            <a:avLst/>
          </a:prstGeom>
        </p:spPr>
        <p:txBody>
          <a:bodyPr wrap="none">
            <a:spAutoFit/>
          </a:bodyPr>
          <a:lstStyle/>
          <a:p>
            <a:pPr defTabSz="685800"/>
            <a:r>
              <a:rPr lang="en-US" sz="3600" b="1" dirty="0">
                <a:solidFill>
                  <a:srgbClr val="C00000"/>
                </a:solidFill>
                <a:latin typeface="Times New Roman" panose="02020603050405020304"/>
              </a:rPr>
              <a:t>Purpose of Writing</a:t>
            </a:r>
          </a:p>
        </p:txBody>
      </p:sp>
      <p:sp>
        <p:nvSpPr>
          <p:cNvPr id="12" name="Rectangle 11"/>
          <p:cNvSpPr/>
          <p:nvPr/>
        </p:nvSpPr>
        <p:spPr>
          <a:xfrm>
            <a:off x="4701938" y="1585817"/>
            <a:ext cx="2155655" cy="646331"/>
          </a:xfrm>
          <a:prstGeom prst="rect">
            <a:avLst/>
          </a:prstGeom>
        </p:spPr>
        <p:txBody>
          <a:bodyPr wrap="none">
            <a:spAutoFit/>
          </a:bodyPr>
          <a:lstStyle/>
          <a:p>
            <a:pPr defTabSz="685800"/>
            <a:r>
              <a:rPr lang="en-US" sz="3600" b="1" dirty="0">
                <a:solidFill>
                  <a:prstClr val="black"/>
                </a:solidFill>
                <a:latin typeface="Times New Roman" panose="02020603050405020304"/>
              </a:rPr>
              <a:t>To inform</a:t>
            </a:r>
          </a:p>
        </p:txBody>
      </p:sp>
      <p:sp>
        <p:nvSpPr>
          <p:cNvPr id="13" name="Rectangle 12"/>
          <p:cNvSpPr/>
          <p:nvPr/>
        </p:nvSpPr>
        <p:spPr>
          <a:xfrm>
            <a:off x="4701938" y="2504917"/>
            <a:ext cx="2391617" cy="600164"/>
          </a:xfrm>
          <a:prstGeom prst="rect">
            <a:avLst/>
          </a:prstGeom>
        </p:spPr>
        <p:txBody>
          <a:bodyPr wrap="none">
            <a:spAutoFit/>
          </a:bodyPr>
          <a:lstStyle/>
          <a:p>
            <a:pPr defTabSz="685800"/>
            <a:r>
              <a:rPr lang="en-US" sz="3300" b="1" dirty="0">
                <a:solidFill>
                  <a:prstClr val="black"/>
                </a:solidFill>
                <a:latin typeface="Times New Roman" panose="02020603050405020304"/>
              </a:rPr>
              <a:t>To persuade</a:t>
            </a:r>
          </a:p>
        </p:txBody>
      </p:sp>
      <p:sp>
        <p:nvSpPr>
          <p:cNvPr id="19" name="Rectangle 18"/>
          <p:cNvSpPr/>
          <p:nvPr/>
        </p:nvSpPr>
        <p:spPr>
          <a:xfrm>
            <a:off x="4548554" y="4818687"/>
            <a:ext cx="2946319" cy="646331"/>
          </a:xfrm>
          <a:prstGeom prst="rect">
            <a:avLst/>
          </a:prstGeom>
        </p:spPr>
        <p:txBody>
          <a:bodyPr wrap="none">
            <a:spAutoFit/>
          </a:bodyPr>
          <a:lstStyle/>
          <a:p>
            <a:pPr defTabSz="685800"/>
            <a:r>
              <a:rPr lang="en-US" sz="3600" b="1" dirty="0">
                <a:solidFill>
                  <a:prstClr val="black"/>
                </a:solidFill>
                <a:latin typeface="Times New Roman" panose="02020603050405020304"/>
              </a:rPr>
              <a:t>Writing Style </a:t>
            </a:r>
          </a:p>
        </p:txBody>
      </p:sp>
      <p:pic>
        <p:nvPicPr>
          <p:cNvPr id="21" name="Picture 20"/>
          <p:cNvPicPr>
            <a:picLocks noChangeAspect="1"/>
          </p:cNvPicPr>
          <p:nvPr/>
        </p:nvPicPr>
        <p:blipFill>
          <a:blip r:embed="rId2" cstate="print"/>
          <a:stretch>
            <a:fillRect/>
          </a:stretch>
        </p:blipFill>
        <p:spPr>
          <a:xfrm rot="5400000">
            <a:off x="5587351" y="3647364"/>
            <a:ext cx="620789" cy="2012861"/>
          </a:xfrm>
          <a:prstGeom prst="rect">
            <a:avLst/>
          </a:prstGeom>
        </p:spPr>
      </p:pic>
      <p:sp>
        <p:nvSpPr>
          <p:cNvPr id="22" name="Rectangle 21"/>
          <p:cNvSpPr/>
          <p:nvPr/>
        </p:nvSpPr>
        <p:spPr>
          <a:xfrm>
            <a:off x="393700" y="3849191"/>
            <a:ext cx="3549026" cy="1938992"/>
          </a:xfrm>
          <a:prstGeom prst="rect">
            <a:avLst/>
          </a:prstGeom>
          <a:solidFill>
            <a:schemeClr val="accent1">
              <a:lumMod val="20000"/>
              <a:lumOff val="80000"/>
            </a:schemeClr>
          </a:solidFill>
          <a:ln>
            <a:solidFill>
              <a:schemeClr val="accent4">
                <a:lumMod val="40000"/>
                <a:lumOff val="60000"/>
              </a:schemeClr>
            </a:solidFill>
          </a:ln>
        </p:spPr>
        <p:txBody>
          <a:bodyPr wrap="square">
            <a:spAutoFit/>
          </a:bodyPr>
          <a:lstStyle/>
          <a:p>
            <a:pPr defTabSz="685800"/>
            <a:r>
              <a:rPr lang="en-US" sz="2400" b="1" dirty="0">
                <a:solidFill>
                  <a:srgbClr val="002060"/>
                </a:solidFill>
                <a:latin typeface="Times New Roman"/>
              </a:rPr>
              <a:t>Audience checklist:</a:t>
            </a:r>
          </a:p>
          <a:p>
            <a:pPr defTabSz="685800"/>
            <a:r>
              <a:rPr lang="en-US" sz="2400" i="1" dirty="0">
                <a:solidFill>
                  <a:prstClr val="black"/>
                </a:solidFill>
                <a:latin typeface="Times New Roman"/>
              </a:rPr>
              <a:t>Who they are?</a:t>
            </a:r>
          </a:p>
          <a:p>
            <a:pPr defTabSz="685800"/>
            <a:r>
              <a:rPr lang="en-US" sz="2400" i="1" dirty="0">
                <a:solidFill>
                  <a:prstClr val="black"/>
                </a:solidFill>
                <a:latin typeface="Times New Roman"/>
              </a:rPr>
              <a:t>What they know?</a:t>
            </a:r>
          </a:p>
          <a:p>
            <a:pPr defTabSz="685800"/>
            <a:r>
              <a:rPr lang="en-US" sz="2400" i="1" dirty="0">
                <a:solidFill>
                  <a:prstClr val="black"/>
                </a:solidFill>
                <a:latin typeface="Times New Roman"/>
              </a:rPr>
              <a:t>Why will they read?</a:t>
            </a:r>
          </a:p>
          <a:p>
            <a:pPr defTabSz="685800"/>
            <a:r>
              <a:rPr lang="en-US" sz="2400" i="1" dirty="0">
                <a:solidFill>
                  <a:prstClr val="black"/>
                </a:solidFill>
                <a:latin typeface="Times New Roman"/>
              </a:rPr>
              <a:t>How will they read?</a:t>
            </a:r>
          </a:p>
        </p:txBody>
      </p:sp>
    </p:spTree>
    <p:extLst>
      <p:ext uri="{BB962C8B-B14F-4D97-AF65-F5344CB8AC3E}">
        <p14:creationId xmlns:p14="http://schemas.microsoft.com/office/powerpoint/2010/main" val="2367963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930726"/>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000" b="1" dirty="0">
                <a:solidFill>
                  <a:prstClr val="black"/>
                </a:solidFill>
                <a:latin typeface="Times New Roman"/>
              </a:rPr>
              <a:t>Three aspects of writing affect the way that readers assess your documents</a:t>
            </a:r>
          </a:p>
        </p:txBody>
      </p:sp>
      <p:sp>
        <p:nvSpPr>
          <p:cNvPr id="3" name="Rectangle 2"/>
          <p:cNvSpPr/>
          <p:nvPr/>
        </p:nvSpPr>
        <p:spPr>
          <a:xfrm>
            <a:off x="293915" y="2147206"/>
            <a:ext cx="2547257" cy="3624944"/>
          </a:xfrm>
          <a:prstGeom prst="rect">
            <a:avLst/>
          </a:prstGeom>
          <a:solidFill>
            <a:schemeClr val="accent2">
              <a:lumMod val="5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US" sz="5400" dirty="0">
                <a:solidFill>
                  <a:prstClr val="white"/>
                </a:solidFill>
                <a:latin typeface="Arial"/>
              </a:rPr>
              <a:t>Writing</a:t>
            </a:r>
          </a:p>
        </p:txBody>
      </p:sp>
      <p:sp>
        <p:nvSpPr>
          <p:cNvPr id="4" name="Right Arrow 3"/>
          <p:cNvSpPr/>
          <p:nvPr/>
        </p:nvSpPr>
        <p:spPr>
          <a:xfrm>
            <a:off x="3020785" y="1918606"/>
            <a:ext cx="2579915" cy="1273628"/>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3000" b="1" dirty="0">
                <a:solidFill>
                  <a:srgbClr val="002060"/>
                </a:solidFill>
                <a:latin typeface="Arial"/>
              </a:rPr>
              <a:t>Content</a:t>
            </a:r>
          </a:p>
        </p:txBody>
      </p:sp>
      <p:sp>
        <p:nvSpPr>
          <p:cNvPr id="14" name="Right Arrow 13"/>
          <p:cNvSpPr/>
          <p:nvPr/>
        </p:nvSpPr>
        <p:spPr>
          <a:xfrm>
            <a:off x="3020785" y="4727122"/>
            <a:ext cx="2579915" cy="1273628"/>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3000" b="1" dirty="0">
                <a:solidFill>
                  <a:srgbClr val="002060"/>
                </a:solidFill>
                <a:latin typeface="Arial"/>
              </a:rPr>
              <a:t>Form</a:t>
            </a:r>
          </a:p>
        </p:txBody>
      </p:sp>
      <p:sp>
        <p:nvSpPr>
          <p:cNvPr id="15" name="Right Arrow 14"/>
          <p:cNvSpPr/>
          <p:nvPr/>
        </p:nvSpPr>
        <p:spPr>
          <a:xfrm>
            <a:off x="3020785" y="3322864"/>
            <a:ext cx="2579915" cy="1273628"/>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3000" b="1" dirty="0">
                <a:solidFill>
                  <a:srgbClr val="002060"/>
                </a:solidFill>
                <a:latin typeface="Arial"/>
              </a:rPr>
              <a:t>Style</a:t>
            </a:r>
          </a:p>
        </p:txBody>
      </p:sp>
      <p:sp>
        <p:nvSpPr>
          <p:cNvPr id="2" name="Rectangle 1"/>
          <p:cNvSpPr/>
          <p:nvPr/>
        </p:nvSpPr>
        <p:spPr>
          <a:xfrm>
            <a:off x="7018178" y="5772150"/>
            <a:ext cx="2207656" cy="207749"/>
          </a:xfrm>
          <a:prstGeom prst="rect">
            <a:avLst/>
          </a:prstGeom>
        </p:spPr>
        <p:txBody>
          <a:bodyPr wrap="none">
            <a:spAutoFit/>
          </a:bodyPr>
          <a:lstStyle/>
          <a:p>
            <a:pPr defTabSz="685800"/>
            <a:r>
              <a:rPr lang="en-US" sz="750" dirty="0">
                <a:solidFill>
                  <a:prstClr val="black"/>
                </a:solidFill>
                <a:latin typeface="Arial"/>
                <a:hlinkClick r:id="rId2"/>
              </a:rPr>
              <a:t>http://writing.umn.edu/tww/assets/pdfs/intro.pdf</a:t>
            </a:r>
            <a:r>
              <a:rPr lang="en-US" sz="750" dirty="0">
                <a:solidFill>
                  <a:prstClr val="black"/>
                </a:solidFill>
                <a:latin typeface="Arial"/>
              </a:rPr>
              <a:t> </a:t>
            </a:r>
          </a:p>
        </p:txBody>
      </p:sp>
      <p:sp>
        <p:nvSpPr>
          <p:cNvPr id="6" name="Rectangle 5"/>
          <p:cNvSpPr/>
          <p:nvPr/>
        </p:nvSpPr>
        <p:spPr>
          <a:xfrm>
            <a:off x="6253249" y="2147207"/>
            <a:ext cx="2668386" cy="3429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3300" b="1" dirty="0">
                <a:solidFill>
                  <a:prstClr val="white"/>
                </a:solidFill>
                <a:latin typeface="Arial"/>
              </a:rPr>
              <a:t>Reader</a:t>
            </a:r>
          </a:p>
        </p:txBody>
      </p:sp>
    </p:spTree>
    <p:extLst>
      <p:ext uri="{BB962C8B-B14F-4D97-AF65-F5344CB8AC3E}">
        <p14:creationId xmlns:p14="http://schemas.microsoft.com/office/powerpoint/2010/main" val="35575585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DD0458-20CE-4223-94CF-87F0A87AE9AC}"/>
              </a:ext>
            </a:extLst>
          </p:cNvPr>
          <p:cNvSpPr/>
          <p:nvPr/>
        </p:nvSpPr>
        <p:spPr>
          <a:xfrm>
            <a:off x="1710465" y="999525"/>
            <a:ext cx="1896037" cy="106509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b="1" u="sng" dirty="0">
                <a:solidFill>
                  <a:prstClr val="black"/>
                </a:solidFill>
                <a:latin typeface="Arial"/>
              </a:rPr>
              <a:t>Problem Statement</a:t>
            </a:r>
          </a:p>
          <a:p>
            <a:pPr algn="ctr" defTabSz="685800"/>
            <a:r>
              <a:rPr lang="en-US" sz="1350" i="1" dirty="0">
                <a:solidFill>
                  <a:prstClr val="black"/>
                </a:solidFill>
                <a:latin typeface="Arial"/>
              </a:rPr>
              <a:t>(Categorize problems/questions)</a:t>
            </a:r>
          </a:p>
          <a:p>
            <a:pPr algn="ctr" defTabSz="685800"/>
            <a:r>
              <a:rPr lang="en-US" sz="1350" b="1" u="sng" dirty="0">
                <a:solidFill>
                  <a:prstClr val="black"/>
                </a:solidFill>
                <a:latin typeface="Arial"/>
              </a:rPr>
              <a:t>Goals</a:t>
            </a:r>
          </a:p>
        </p:txBody>
      </p:sp>
      <p:sp>
        <p:nvSpPr>
          <p:cNvPr id="6" name="Rectangle 5">
            <a:extLst>
              <a:ext uri="{FF2B5EF4-FFF2-40B4-BE49-F238E27FC236}">
                <a16:creationId xmlns:a16="http://schemas.microsoft.com/office/drawing/2014/main" id="{090A4862-2A2F-48CA-B221-F454CF11215A}"/>
              </a:ext>
            </a:extLst>
          </p:cNvPr>
          <p:cNvSpPr/>
          <p:nvPr/>
        </p:nvSpPr>
        <p:spPr>
          <a:xfrm>
            <a:off x="235995" y="2266401"/>
            <a:ext cx="2099606" cy="72479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b="1" dirty="0">
                <a:solidFill>
                  <a:prstClr val="black"/>
                </a:solidFill>
                <a:latin typeface="Arial"/>
              </a:rPr>
              <a:t>Background/Literature Review</a:t>
            </a:r>
          </a:p>
          <a:p>
            <a:pPr algn="ctr" defTabSz="685800"/>
            <a:r>
              <a:rPr lang="en-US" sz="1350" dirty="0">
                <a:solidFill>
                  <a:prstClr val="black"/>
                </a:solidFill>
                <a:latin typeface="Arial"/>
              </a:rPr>
              <a:t>(Prior Knowledge)</a:t>
            </a:r>
          </a:p>
        </p:txBody>
      </p:sp>
      <p:sp>
        <p:nvSpPr>
          <p:cNvPr id="7" name="Rectangle 6">
            <a:extLst>
              <a:ext uri="{FF2B5EF4-FFF2-40B4-BE49-F238E27FC236}">
                <a16:creationId xmlns:a16="http://schemas.microsoft.com/office/drawing/2014/main" id="{B38BCC8C-2ACF-4626-9513-3EC41E09266E}"/>
              </a:ext>
            </a:extLst>
          </p:cNvPr>
          <p:cNvSpPr/>
          <p:nvPr/>
        </p:nvSpPr>
        <p:spPr>
          <a:xfrm>
            <a:off x="1133585" y="3183122"/>
            <a:ext cx="1896037" cy="1731983"/>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b="1" dirty="0">
                <a:solidFill>
                  <a:prstClr val="black"/>
                </a:solidFill>
                <a:latin typeface="Arial"/>
              </a:rPr>
              <a:t>Generate possible solutions</a:t>
            </a:r>
          </a:p>
          <a:p>
            <a:pPr algn="ctr" defTabSz="685800"/>
            <a:r>
              <a:rPr lang="en-US" sz="1350" dirty="0">
                <a:solidFill>
                  <a:prstClr val="black"/>
                </a:solidFill>
                <a:latin typeface="Arial"/>
              </a:rPr>
              <a:t>- Knowledge</a:t>
            </a:r>
          </a:p>
          <a:p>
            <a:pPr marL="214313" indent="-214313" algn="ctr" defTabSz="685800">
              <a:buFontTx/>
              <a:buChar char="-"/>
            </a:pPr>
            <a:r>
              <a:rPr lang="en-US" sz="1350" dirty="0">
                <a:solidFill>
                  <a:prstClr val="black"/>
                </a:solidFill>
                <a:latin typeface="Arial"/>
              </a:rPr>
              <a:t>Experience</a:t>
            </a:r>
          </a:p>
          <a:p>
            <a:pPr marL="214313" indent="-214313" algn="ctr" defTabSz="685800">
              <a:buFontTx/>
              <a:buChar char="-"/>
            </a:pPr>
            <a:r>
              <a:rPr lang="en-US" sz="1350" dirty="0">
                <a:solidFill>
                  <a:prstClr val="black"/>
                </a:solidFill>
                <a:latin typeface="Arial"/>
              </a:rPr>
              <a:t>Methodology</a:t>
            </a:r>
          </a:p>
          <a:p>
            <a:pPr marL="214313" indent="-214313" algn="ctr" defTabSz="685800">
              <a:buFontTx/>
              <a:buChar char="-"/>
            </a:pPr>
            <a:r>
              <a:rPr lang="en-US" sz="1350" dirty="0">
                <a:solidFill>
                  <a:prstClr val="black"/>
                </a:solidFill>
                <a:latin typeface="Arial"/>
              </a:rPr>
              <a:t>Discussion</a:t>
            </a:r>
          </a:p>
          <a:p>
            <a:pPr marL="214313" indent="-214313" algn="ctr" defTabSz="685800">
              <a:buFontTx/>
              <a:buChar char="-"/>
            </a:pPr>
            <a:r>
              <a:rPr lang="en-US" sz="1350" dirty="0">
                <a:solidFill>
                  <a:prstClr val="black"/>
                </a:solidFill>
                <a:latin typeface="Arial"/>
              </a:rPr>
              <a:t>Analysis</a:t>
            </a:r>
          </a:p>
          <a:p>
            <a:pPr algn="ctr" defTabSz="685800"/>
            <a:endParaRPr lang="en-US" sz="1350" dirty="0">
              <a:solidFill>
                <a:prstClr val="black"/>
              </a:solidFill>
              <a:latin typeface="Arial"/>
            </a:endParaRPr>
          </a:p>
        </p:txBody>
      </p:sp>
      <p:sp>
        <p:nvSpPr>
          <p:cNvPr id="8" name="Arrow: Left-Right-Up 7">
            <a:extLst>
              <a:ext uri="{FF2B5EF4-FFF2-40B4-BE49-F238E27FC236}">
                <a16:creationId xmlns:a16="http://schemas.microsoft.com/office/drawing/2014/main" id="{45CA0759-0112-4C81-86F7-D55E29F1ADF3}"/>
              </a:ext>
            </a:extLst>
          </p:cNvPr>
          <p:cNvSpPr/>
          <p:nvPr/>
        </p:nvSpPr>
        <p:spPr>
          <a:xfrm rot="16200000">
            <a:off x="2180612" y="2388445"/>
            <a:ext cx="790688" cy="480710"/>
          </a:xfrm>
          <a:prstGeom prst="leftRightUpArrow">
            <a:avLst>
              <a:gd name="adj1" fmla="val 22144"/>
              <a:gd name="adj2" fmla="val 11072"/>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9" name="Rectangle 8">
            <a:extLst>
              <a:ext uri="{FF2B5EF4-FFF2-40B4-BE49-F238E27FC236}">
                <a16:creationId xmlns:a16="http://schemas.microsoft.com/office/drawing/2014/main" id="{63B3609F-E6DC-492A-8FB1-30964938A207}"/>
              </a:ext>
            </a:extLst>
          </p:cNvPr>
          <p:cNvSpPr/>
          <p:nvPr/>
        </p:nvSpPr>
        <p:spPr>
          <a:xfrm>
            <a:off x="1656678" y="5272387"/>
            <a:ext cx="1949823" cy="42793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b="1" dirty="0">
                <a:solidFill>
                  <a:prstClr val="black"/>
                </a:solidFill>
                <a:latin typeface="Arial"/>
              </a:rPr>
              <a:t>Results / Solutions</a:t>
            </a:r>
            <a:endParaRPr lang="en-US" sz="1350" dirty="0">
              <a:solidFill>
                <a:prstClr val="black"/>
              </a:solidFill>
              <a:latin typeface="Arial"/>
            </a:endParaRPr>
          </a:p>
        </p:txBody>
      </p:sp>
      <p:sp>
        <p:nvSpPr>
          <p:cNvPr id="10" name="Arrow: Pentagon 9">
            <a:extLst>
              <a:ext uri="{FF2B5EF4-FFF2-40B4-BE49-F238E27FC236}">
                <a16:creationId xmlns:a16="http://schemas.microsoft.com/office/drawing/2014/main" id="{B1B18FE0-27C9-4A3D-A665-6097BF74B559}"/>
              </a:ext>
            </a:extLst>
          </p:cNvPr>
          <p:cNvSpPr/>
          <p:nvPr/>
        </p:nvSpPr>
        <p:spPr>
          <a:xfrm rot="5400000">
            <a:off x="2690435" y="5012401"/>
            <a:ext cx="251751" cy="12336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11" name="Arrow: Up-Down 10">
            <a:extLst>
              <a:ext uri="{FF2B5EF4-FFF2-40B4-BE49-F238E27FC236}">
                <a16:creationId xmlns:a16="http://schemas.microsoft.com/office/drawing/2014/main" id="{541D63CA-6F9C-449B-928E-B3866869542D}"/>
              </a:ext>
            </a:extLst>
          </p:cNvPr>
          <p:cNvSpPr/>
          <p:nvPr/>
        </p:nvSpPr>
        <p:spPr>
          <a:xfrm>
            <a:off x="3416898" y="2472193"/>
            <a:ext cx="189603" cy="2593599"/>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cxnSp>
        <p:nvCxnSpPr>
          <p:cNvPr id="13" name="Straight Connector 12">
            <a:extLst>
              <a:ext uri="{FF2B5EF4-FFF2-40B4-BE49-F238E27FC236}">
                <a16:creationId xmlns:a16="http://schemas.microsoft.com/office/drawing/2014/main" id="{A57A3D05-E14F-4CC9-ACC9-CB44B02642AA}"/>
              </a:ext>
            </a:extLst>
          </p:cNvPr>
          <p:cNvCxnSpPr>
            <a:cxnSpLocks/>
          </p:cNvCxnSpPr>
          <p:nvPr/>
        </p:nvCxnSpPr>
        <p:spPr>
          <a:xfrm>
            <a:off x="3989743" y="857250"/>
            <a:ext cx="0" cy="514350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16" name="Rectangle 15">
            <a:extLst>
              <a:ext uri="{FF2B5EF4-FFF2-40B4-BE49-F238E27FC236}">
                <a16:creationId xmlns:a16="http://schemas.microsoft.com/office/drawing/2014/main" id="{96FC2DCC-49F8-4AA0-8856-52B7E2122D65}"/>
              </a:ext>
            </a:extLst>
          </p:cNvPr>
          <p:cNvSpPr/>
          <p:nvPr/>
        </p:nvSpPr>
        <p:spPr>
          <a:xfrm>
            <a:off x="4202556" y="999525"/>
            <a:ext cx="4572000" cy="507831"/>
          </a:xfrm>
          <a:prstGeom prst="rect">
            <a:avLst/>
          </a:prstGeom>
        </p:spPr>
        <p:txBody>
          <a:bodyPr>
            <a:spAutoFit/>
          </a:bodyPr>
          <a:lstStyle/>
          <a:p>
            <a:pPr defTabSz="685800"/>
            <a:r>
              <a:rPr lang="en-US" sz="1350" dirty="0">
                <a:solidFill>
                  <a:prstClr val="black"/>
                </a:solidFill>
                <a:latin typeface="Arial"/>
              </a:rPr>
              <a:t>Project: A flying drone for photography, search &amp; rescue operations. </a:t>
            </a:r>
          </a:p>
        </p:txBody>
      </p:sp>
      <p:sp>
        <p:nvSpPr>
          <p:cNvPr id="17" name="Rectangle 16">
            <a:extLst>
              <a:ext uri="{FF2B5EF4-FFF2-40B4-BE49-F238E27FC236}">
                <a16:creationId xmlns:a16="http://schemas.microsoft.com/office/drawing/2014/main" id="{E9A23140-ABC1-4666-975E-F94C3884EC69}"/>
              </a:ext>
            </a:extLst>
          </p:cNvPr>
          <p:cNvSpPr/>
          <p:nvPr/>
        </p:nvSpPr>
        <p:spPr>
          <a:xfrm>
            <a:off x="4718251" y="1661725"/>
            <a:ext cx="4189753" cy="3831818"/>
          </a:xfrm>
          <a:prstGeom prst="rect">
            <a:avLst/>
          </a:prstGeom>
        </p:spPr>
        <p:txBody>
          <a:bodyPr wrap="square">
            <a:spAutoFit/>
          </a:bodyPr>
          <a:lstStyle/>
          <a:p>
            <a:pPr defTabSz="685800"/>
            <a:r>
              <a:rPr lang="en-US" sz="1350" dirty="0">
                <a:solidFill>
                  <a:prstClr val="black"/>
                </a:solidFill>
                <a:latin typeface="Arial"/>
              </a:rPr>
              <a:t>	</a:t>
            </a:r>
            <a:r>
              <a:rPr lang="en-US" sz="1350" b="1" dirty="0">
                <a:solidFill>
                  <a:prstClr val="black"/>
                </a:solidFill>
                <a:latin typeface="Arial"/>
              </a:rPr>
              <a:t>ETHICAL RESPONSIBILITIES</a:t>
            </a:r>
          </a:p>
          <a:p>
            <a:pPr marL="257175" indent="-257175" defTabSz="685800">
              <a:buFontTx/>
              <a:buAutoNum type="alphaLcPeriod"/>
            </a:pPr>
            <a:r>
              <a:rPr lang="en-US" sz="1350" dirty="0">
                <a:solidFill>
                  <a:prstClr val="black"/>
                </a:solidFill>
                <a:latin typeface="Arial"/>
              </a:rPr>
              <a:t>Privacy concerns on private land</a:t>
            </a:r>
          </a:p>
          <a:p>
            <a:pPr marL="257175" indent="-257175" defTabSz="685800">
              <a:buFontTx/>
              <a:buAutoNum type="alphaLcPeriod"/>
            </a:pPr>
            <a:r>
              <a:rPr lang="en-US" sz="1350" dirty="0">
                <a:solidFill>
                  <a:prstClr val="black"/>
                </a:solidFill>
                <a:latin typeface="Arial"/>
              </a:rPr>
              <a:t>Safety concerns of flying objects</a:t>
            </a:r>
          </a:p>
          <a:p>
            <a:pPr marL="257175" indent="-257175" defTabSz="685800">
              <a:buFontTx/>
              <a:buAutoNum type="alphaLcPeriod"/>
            </a:pPr>
            <a:r>
              <a:rPr lang="en-US" sz="1350" dirty="0">
                <a:solidFill>
                  <a:prstClr val="black"/>
                </a:solidFill>
                <a:latin typeface="Arial"/>
              </a:rPr>
              <a:t>Image transfer security</a:t>
            </a:r>
          </a:p>
          <a:p>
            <a:pPr defTabSz="685800"/>
            <a:endParaRPr lang="en-US" sz="1350" dirty="0">
              <a:solidFill>
                <a:prstClr val="black"/>
              </a:solidFill>
              <a:latin typeface="Arial"/>
            </a:endParaRPr>
          </a:p>
          <a:p>
            <a:pPr algn="ctr" defTabSz="685800"/>
            <a:r>
              <a:rPr lang="en-US" sz="1350" b="1" dirty="0">
                <a:solidFill>
                  <a:prstClr val="black"/>
                </a:solidFill>
                <a:latin typeface="Arial"/>
              </a:rPr>
              <a:t>SOCIETAL IMPACT</a:t>
            </a:r>
          </a:p>
          <a:p>
            <a:pPr marL="257175" indent="-257175" defTabSz="685800">
              <a:buFontTx/>
              <a:buAutoNum type="alphaLcPeriod"/>
            </a:pPr>
            <a:r>
              <a:rPr lang="en-US" sz="1350" dirty="0">
                <a:solidFill>
                  <a:prstClr val="black"/>
                </a:solidFill>
                <a:latin typeface="Arial"/>
              </a:rPr>
              <a:t>Adoption by film industry</a:t>
            </a:r>
          </a:p>
          <a:p>
            <a:pPr marL="257175" indent="-257175" defTabSz="685800">
              <a:buFontTx/>
              <a:buAutoNum type="alphaLcPeriod"/>
            </a:pPr>
            <a:r>
              <a:rPr lang="en-US" sz="1350" dirty="0">
                <a:solidFill>
                  <a:prstClr val="black"/>
                </a:solidFill>
                <a:latin typeface="Arial"/>
              </a:rPr>
              <a:t>Adoption by Search &amp; Rescue</a:t>
            </a:r>
          </a:p>
          <a:p>
            <a:pPr marL="257175" indent="-257175" defTabSz="685800">
              <a:buFontTx/>
              <a:buAutoNum type="alphaLcPeriod"/>
            </a:pPr>
            <a:endParaRPr lang="en-US" sz="1350" dirty="0">
              <a:solidFill>
                <a:prstClr val="black"/>
              </a:solidFill>
              <a:latin typeface="Arial"/>
            </a:endParaRPr>
          </a:p>
          <a:p>
            <a:pPr algn="ctr" defTabSz="685800"/>
            <a:r>
              <a:rPr lang="en-US" sz="1350" b="1" dirty="0">
                <a:solidFill>
                  <a:prstClr val="black"/>
                </a:solidFill>
                <a:latin typeface="Arial"/>
              </a:rPr>
              <a:t>Economic Impact</a:t>
            </a:r>
          </a:p>
          <a:p>
            <a:pPr marL="257175" indent="-257175" defTabSz="685800">
              <a:buFontTx/>
              <a:buAutoNum type="alphaLcPeriod"/>
            </a:pPr>
            <a:r>
              <a:rPr lang="en-US" sz="1350" dirty="0">
                <a:solidFill>
                  <a:prstClr val="black"/>
                </a:solidFill>
                <a:latin typeface="Arial"/>
              </a:rPr>
              <a:t>……</a:t>
            </a:r>
          </a:p>
          <a:p>
            <a:pPr marL="257175" indent="-257175" defTabSz="685800">
              <a:buFontTx/>
              <a:buAutoNum type="alphaLcPeriod"/>
            </a:pPr>
            <a:r>
              <a:rPr lang="en-US" sz="1350" dirty="0">
                <a:solidFill>
                  <a:prstClr val="black"/>
                </a:solidFill>
                <a:latin typeface="Arial"/>
              </a:rPr>
              <a:t>……</a:t>
            </a:r>
          </a:p>
          <a:p>
            <a:pPr marL="257175" indent="-257175" defTabSz="685800">
              <a:buFontTx/>
              <a:buAutoNum type="alphaLcPeriod"/>
            </a:pPr>
            <a:endParaRPr lang="en-US" sz="1350" dirty="0">
              <a:solidFill>
                <a:prstClr val="black"/>
              </a:solidFill>
              <a:latin typeface="Arial"/>
            </a:endParaRPr>
          </a:p>
          <a:p>
            <a:pPr marL="257175" indent="-257175" defTabSz="685800">
              <a:buFontTx/>
              <a:buAutoNum type="alphaLcPeriod"/>
            </a:pPr>
            <a:endParaRPr lang="en-US" sz="1350" dirty="0">
              <a:solidFill>
                <a:prstClr val="black"/>
              </a:solidFill>
              <a:latin typeface="Arial"/>
            </a:endParaRPr>
          </a:p>
          <a:p>
            <a:pPr algn="ctr" defTabSz="685800"/>
            <a:r>
              <a:rPr lang="en-US" sz="1350" b="1" dirty="0">
                <a:solidFill>
                  <a:prstClr val="black"/>
                </a:solidFill>
                <a:latin typeface="Arial"/>
              </a:rPr>
              <a:t>Conclusion: </a:t>
            </a:r>
          </a:p>
          <a:p>
            <a:pPr marL="342900" lvl="1" algn="ctr" defTabSz="685800"/>
            <a:endParaRPr lang="en-US" sz="1350" dirty="0">
              <a:solidFill>
                <a:prstClr val="black"/>
              </a:solidFill>
              <a:latin typeface="Arial"/>
            </a:endParaRPr>
          </a:p>
          <a:p>
            <a:pPr defTabSz="685800"/>
            <a:r>
              <a:rPr lang="en-US" sz="1350" dirty="0">
                <a:solidFill>
                  <a:prstClr val="black"/>
                </a:solidFill>
                <a:latin typeface="Arial"/>
              </a:rPr>
              <a:t>How did your approach address these issues?</a:t>
            </a:r>
          </a:p>
          <a:p>
            <a:pPr marL="257175" indent="-257175" defTabSz="685800">
              <a:buFontTx/>
              <a:buAutoNum type="alphaLcPeriod"/>
            </a:pPr>
            <a:endParaRPr lang="en-US" sz="1350" dirty="0">
              <a:solidFill>
                <a:prstClr val="black"/>
              </a:solidFill>
              <a:latin typeface="Arial"/>
            </a:endParaRPr>
          </a:p>
        </p:txBody>
      </p:sp>
      <p:sp>
        <p:nvSpPr>
          <p:cNvPr id="18" name="Rectangle 17">
            <a:extLst>
              <a:ext uri="{FF2B5EF4-FFF2-40B4-BE49-F238E27FC236}">
                <a16:creationId xmlns:a16="http://schemas.microsoft.com/office/drawing/2014/main" id="{6BF80206-F1B4-4DDE-87DD-FD4C84B8A2E0}"/>
              </a:ext>
            </a:extLst>
          </p:cNvPr>
          <p:cNvSpPr/>
          <p:nvPr/>
        </p:nvSpPr>
        <p:spPr>
          <a:xfrm>
            <a:off x="4141371" y="857250"/>
            <a:ext cx="4926423" cy="5143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r>
              <a:rPr lang="en-US" sz="1050" b="1" cap="small" dirty="0">
                <a:solidFill>
                  <a:prstClr val="black"/>
                </a:solidFill>
                <a:latin typeface="Arial"/>
              </a:rPr>
              <a:t>References</a:t>
            </a:r>
          </a:p>
          <a:p>
            <a:pPr defTabSz="685800"/>
            <a:endParaRPr lang="en-US" sz="1050" cap="small" dirty="0">
              <a:solidFill>
                <a:prstClr val="black"/>
              </a:solidFill>
              <a:latin typeface="Arial"/>
            </a:endParaRPr>
          </a:p>
          <a:p>
            <a:pPr defTabSz="685800"/>
            <a:r>
              <a:rPr lang="en-US" sz="1050" dirty="0">
                <a:solidFill>
                  <a:prstClr val="black"/>
                </a:solidFill>
                <a:latin typeface="Arial"/>
              </a:rPr>
              <a:t>[1] 	"Gartner Says Almost 3 Million Personal and Commercial Drones Will Be Shipped in 2017", </a:t>
            </a:r>
            <a:r>
              <a:rPr lang="en-US" sz="1050" i="1" dirty="0">
                <a:solidFill>
                  <a:prstClr val="black"/>
                </a:solidFill>
                <a:latin typeface="Arial"/>
              </a:rPr>
              <a:t>Gartner.com</a:t>
            </a:r>
            <a:r>
              <a:rPr lang="en-US" sz="1050" dirty="0">
                <a:solidFill>
                  <a:prstClr val="black"/>
                </a:solidFill>
                <a:latin typeface="Arial"/>
              </a:rPr>
              <a:t>, 2017. [Online]. Available: http://www.gartner.com/newsroom/id/3602317. [Accessed: 17- May- 2017].</a:t>
            </a:r>
          </a:p>
          <a:p>
            <a:pPr defTabSz="685800"/>
            <a:r>
              <a:rPr lang="en-US" sz="1050" dirty="0">
                <a:solidFill>
                  <a:prstClr val="black"/>
                </a:solidFill>
                <a:latin typeface="Arial"/>
              </a:rPr>
              <a:t> </a:t>
            </a:r>
          </a:p>
          <a:p>
            <a:pPr defTabSz="685800"/>
            <a:r>
              <a:rPr lang="en-US" sz="1050" dirty="0">
                <a:solidFill>
                  <a:prstClr val="black"/>
                </a:solidFill>
                <a:latin typeface="Arial"/>
              </a:rPr>
              <a:t>[2]	"A Drone, a Shotgun, and the Future of Airspace Rights", Fortune.com, 2017. [Online]. Available: http://fortune.com/2016/09/25/drone-shotgun-airspace-rights/. [Accessed: 18- May- 2017].</a:t>
            </a:r>
          </a:p>
          <a:p>
            <a:pPr defTabSz="685800"/>
            <a:r>
              <a:rPr lang="en-US" sz="1050" dirty="0">
                <a:solidFill>
                  <a:prstClr val="black"/>
                </a:solidFill>
                <a:latin typeface="Arial"/>
              </a:rPr>
              <a:t> </a:t>
            </a:r>
          </a:p>
          <a:p>
            <a:pPr defTabSz="685800"/>
            <a:r>
              <a:rPr lang="en-US" sz="1050" dirty="0">
                <a:solidFill>
                  <a:prstClr val="black"/>
                </a:solidFill>
                <a:latin typeface="Arial"/>
              </a:rPr>
              <a:t>[3]	"As Wildfire Season Continues to Heat up, Interior Partners with Industry to Eliminate Drone Intrusions", Doi.gov, 2017. [Online]. Available: https://www.doi.gov/pressreleases/wildfire-season-continues-heat-interior-partners-industry-eliminate-drone-intrusions. [Accessed: 18- May- 2017].</a:t>
            </a:r>
          </a:p>
          <a:p>
            <a:pPr defTabSz="685800"/>
            <a:r>
              <a:rPr lang="en-US" sz="1050" dirty="0">
                <a:solidFill>
                  <a:prstClr val="black"/>
                </a:solidFill>
                <a:latin typeface="Arial"/>
              </a:rPr>
              <a:t> </a:t>
            </a:r>
          </a:p>
          <a:p>
            <a:pPr defTabSz="685800"/>
            <a:r>
              <a:rPr lang="en-US" sz="1050" dirty="0">
                <a:solidFill>
                  <a:prstClr val="black"/>
                </a:solidFill>
                <a:latin typeface="Arial"/>
              </a:rPr>
              <a:t>[4]	U.S. Department of the Interior, </a:t>
            </a:r>
            <a:r>
              <a:rPr lang="en-US" sz="1050" dirty="0">
                <a:solidFill>
                  <a:prstClr val="black"/>
                </a:solidFill>
                <a:latin typeface="Arial"/>
                <a:hlinkClick r:id="rId2"/>
              </a:rPr>
              <a:t>https://www.doi.gov</a:t>
            </a:r>
            <a:r>
              <a:rPr lang="en-US" sz="1050" dirty="0">
                <a:solidFill>
                  <a:prstClr val="black"/>
                </a:solidFill>
                <a:latin typeface="Arial"/>
              </a:rPr>
              <a:t> [Accessed: 10- May- 2017]. </a:t>
            </a:r>
          </a:p>
          <a:p>
            <a:pPr defTabSz="685800"/>
            <a:endParaRPr lang="en-US" sz="1050" dirty="0">
              <a:solidFill>
                <a:prstClr val="black"/>
              </a:solidFill>
              <a:latin typeface="Arial"/>
            </a:endParaRPr>
          </a:p>
          <a:p>
            <a:pPr defTabSz="685800"/>
            <a:r>
              <a:rPr lang="en-US" sz="1050" dirty="0">
                <a:solidFill>
                  <a:prstClr val="black"/>
                </a:solidFill>
                <a:latin typeface="Arial"/>
              </a:rPr>
              <a:t>[5]	R.  Verrier, "Drones are providing film and TV viewers a new perspective on the action", latimes.com, 2017. [Online]. Available: http://www.latimes.com/entertainment/envelope/cotown/la-et-ct-drones-hollywood-20151008-story.html. [Accessed: 18- May- 2017].</a:t>
            </a:r>
          </a:p>
          <a:p>
            <a:pPr defTabSz="685800"/>
            <a:r>
              <a:rPr lang="en-US" sz="1050" dirty="0">
                <a:solidFill>
                  <a:prstClr val="black"/>
                </a:solidFill>
                <a:latin typeface="Arial"/>
              </a:rPr>
              <a:t> </a:t>
            </a:r>
          </a:p>
          <a:p>
            <a:pPr defTabSz="685800"/>
            <a:endParaRPr lang="en-US" sz="1050" dirty="0">
              <a:solidFill>
                <a:prstClr val="black"/>
              </a:solidFill>
              <a:latin typeface="Arial"/>
            </a:endParaRPr>
          </a:p>
          <a:p>
            <a:pPr defTabSz="685800"/>
            <a:r>
              <a:rPr lang="en-US" sz="1050" dirty="0">
                <a:solidFill>
                  <a:prstClr val="black"/>
                </a:solidFill>
                <a:latin typeface="Arial"/>
              </a:rPr>
              <a:t>[6]	"Drones to the Search-and-Rescue - </a:t>
            </a:r>
            <a:r>
              <a:rPr lang="en-US" sz="1050" dirty="0" err="1">
                <a:solidFill>
                  <a:prstClr val="black"/>
                </a:solidFill>
                <a:latin typeface="Arial"/>
              </a:rPr>
              <a:t>AirMap</a:t>
            </a:r>
            <a:r>
              <a:rPr lang="en-US" sz="1050" dirty="0">
                <a:solidFill>
                  <a:prstClr val="black"/>
                </a:solidFill>
                <a:latin typeface="Arial"/>
              </a:rPr>
              <a:t>", </a:t>
            </a:r>
            <a:r>
              <a:rPr lang="en-US" sz="1050" dirty="0" err="1">
                <a:solidFill>
                  <a:prstClr val="black"/>
                </a:solidFill>
                <a:latin typeface="Arial"/>
              </a:rPr>
              <a:t>AirMap</a:t>
            </a:r>
            <a:r>
              <a:rPr lang="en-US" sz="1050" dirty="0">
                <a:solidFill>
                  <a:prstClr val="black"/>
                </a:solidFill>
                <a:latin typeface="Arial"/>
              </a:rPr>
              <a:t>, 2017. [Online]. Available: https://www.airmap.com/uas-drones-sar-search-rescue/. [Accessed: 18- May- 2017].</a:t>
            </a:r>
          </a:p>
        </p:txBody>
      </p:sp>
    </p:spTree>
    <p:extLst>
      <p:ext uri="{BB962C8B-B14F-4D97-AF65-F5344CB8AC3E}">
        <p14:creationId xmlns:p14="http://schemas.microsoft.com/office/powerpoint/2010/main" val="428820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571500"/>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a:rPr>
              <a:t>Structure of an essay</a:t>
            </a:r>
          </a:p>
        </p:txBody>
      </p:sp>
      <p:sp>
        <p:nvSpPr>
          <p:cNvPr id="8" name="Content Placeholder 2"/>
          <p:cNvSpPr>
            <a:spLocks noGrp="1"/>
          </p:cNvSpPr>
          <p:nvPr>
            <p:ph idx="1"/>
          </p:nvPr>
        </p:nvSpPr>
        <p:spPr>
          <a:xfrm>
            <a:off x="0" y="1869622"/>
            <a:ext cx="4310743" cy="4131128"/>
          </a:xfrm>
        </p:spPr>
        <p:txBody>
          <a:bodyPr>
            <a:normAutofit/>
          </a:bodyPr>
          <a:lstStyle/>
          <a:p>
            <a:pPr marL="0" indent="0">
              <a:buNone/>
            </a:pPr>
            <a:r>
              <a:rPr lang="en-US" sz="3300" dirty="0">
                <a:latin typeface="+mj-lt"/>
              </a:rPr>
              <a:t>1. Title/subtitle/Author</a:t>
            </a:r>
          </a:p>
          <a:p>
            <a:pPr marL="0" indent="0">
              <a:buNone/>
            </a:pPr>
            <a:r>
              <a:rPr lang="en-US" sz="3300" dirty="0">
                <a:latin typeface="+mj-lt"/>
              </a:rPr>
              <a:t>2.  Abstract</a:t>
            </a:r>
          </a:p>
          <a:p>
            <a:pPr marL="0" indent="0">
              <a:buNone/>
            </a:pPr>
            <a:r>
              <a:rPr lang="en-US" sz="3300" dirty="0">
                <a:latin typeface="+mj-lt"/>
              </a:rPr>
              <a:t>3.  Introduction</a:t>
            </a:r>
          </a:p>
          <a:p>
            <a:pPr marL="0" indent="0">
              <a:buNone/>
            </a:pPr>
            <a:r>
              <a:rPr lang="en-US" sz="3300" dirty="0">
                <a:latin typeface="+mj-lt"/>
              </a:rPr>
              <a:t>4.  Content</a:t>
            </a:r>
          </a:p>
          <a:p>
            <a:pPr marL="0" indent="0">
              <a:buNone/>
            </a:pPr>
            <a:r>
              <a:rPr lang="en-US" sz="3300" dirty="0">
                <a:latin typeface="+mj-lt"/>
              </a:rPr>
              <a:t>5.  Conclusion</a:t>
            </a:r>
          </a:p>
          <a:p>
            <a:pPr marL="0" indent="0">
              <a:buNone/>
            </a:pPr>
            <a:r>
              <a:rPr lang="en-US" sz="3300" dirty="0">
                <a:latin typeface="+mj-lt"/>
              </a:rPr>
              <a:t>6.  References</a:t>
            </a:r>
          </a:p>
        </p:txBody>
      </p:sp>
      <p:sp>
        <p:nvSpPr>
          <p:cNvPr id="6" name="Rectangle 5"/>
          <p:cNvSpPr/>
          <p:nvPr/>
        </p:nvSpPr>
        <p:spPr>
          <a:xfrm>
            <a:off x="5502728" y="1575707"/>
            <a:ext cx="2939144" cy="44250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685800"/>
            <a:r>
              <a:rPr lang="en-US" sz="1350" dirty="0">
                <a:solidFill>
                  <a:prstClr val="black"/>
                </a:solidFill>
                <a:latin typeface="Arial"/>
              </a:rPr>
              <a:t>Title</a:t>
            </a:r>
          </a:p>
          <a:p>
            <a:pPr algn="ctr" defTabSz="685800"/>
            <a:endParaRPr lang="en-US" sz="1350" dirty="0">
              <a:solidFill>
                <a:prstClr val="black"/>
              </a:solidFill>
              <a:latin typeface="Arial"/>
            </a:endParaRPr>
          </a:p>
          <a:p>
            <a:pPr algn="ctr" defTabSz="685800"/>
            <a:r>
              <a:rPr lang="en-US" sz="788" i="1" dirty="0">
                <a:solidFill>
                  <a:prstClr val="black"/>
                </a:solidFill>
                <a:latin typeface="Arial"/>
              </a:rPr>
              <a:t>Aaaaaaaaaaaaaaaaa</a:t>
            </a:r>
          </a:p>
          <a:p>
            <a:pPr algn="ctr" defTabSz="685800"/>
            <a:r>
              <a:rPr lang="en-US" sz="788" i="1" dirty="0">
                <a:solidFill>
                  <a:prstClr val="black"/>
                </a:solidFill>
                <a:latin typeface="Arial"/>
              </a:rPr>
              <a:t>Aaaaaaaaaaaaaaaaa</a:t>
            </a:r>
          </a:p>
          <a:p>
            <a:pPr algn="ctr" defTabSz="685800"/>
            <a:endParaRPr lang="en-US" sz="1350" i="1" dirty="0">
              <a:solidFill>
                <a:prstClr val="black"/>
              </a:solidFill>
              <a:latin typeface="Arial"/>
            </a:endParaRPr>
          </a:p>
          <a:p>
            <a:pPr defTabSz="685800"/>
            <a:r>
              <a:rPr lang="en-US" sz="825" i="1" dirty="0">
                <a:solidFill>
                  <a:prstClr val="black"/>
                </a:solidFill>
                <a:latin typeface="Arial"/>
              </a:rPr>
              <a:t> Abstractaaaaaaaaaaaaaaaaaaaaaaaaaaaaaaaaaaaaaaaaaaaaaaaaaaaaaaaaaaaaaaaaaaaaaaaaaaaaaa.</a:t>
            </a:r>
          </a:p>
          <a:p>
            <a:pPr defTabSz="685800"/>
            <a:endParaRPr lang="en-US" sz="1350" i="1" dirty="0">
              <a:solidFill>
                <a:prstClr val="black"/>
              </a:solidFill>
              <a:latin typeface="Arial"/>
            </a:endParaRPr>
          </a:p>
          <a:p>
            <a:pPr defTabSz="685800"/>
            <a:r>
              <a:rPr lang="en-US" sz="825" dirty="0">
                <a:solidFill>
                  <a:prstClr val="black"/>
                </a:solidFill>
                <a:latin typeface="Arial"/>
              </a:rPr>
              <a:t>Aaaaaaaaaaaaaaaaaaaaaaaaaaaaaaaaaaaaaaaaaaaaaaaaaaaaaaaaaaaaaaaaaaaaaaaaaaaaaaaaaaaaaaaaaaaaaaaaaaaaaaaaaaaaaaaaaaaaaaaaaaaaaaaaaaaaaaaaaaaaaaaaaaaaaaaaaaaaaaa</a:t>
            </a:r>
          </a:p>
          <a:p>
            <a:pPr defTabSz="685800"/>
            <a:endParaRPr lang="en-US" sz="825" dirty="0">
              <a:solidFill>
                <a:prstClr val="black"/>
              </a:solidFill>
              <a:latin typeface="Arial"/>
            </a:endParaRPr>
          </a:p>
          <a:p>
            <a:pPr defTabSz="685800"/>
            <a:r>
              <a:rPr lang="en-US" sz="825" dirty="0">
                <a:solidFill>
                  <a:prstClr val="black"/>
                </a:solidFill>
                <a:latin typeface="Arial"/>
              </a:rPr>
              <a:t>Aaaaaaaaaaaaaaaaaaaaaaaaaaaaaaaaaaaaaaaaaaaaaaaaaaaaaaaaaaaaaaaaaaaaaaaaaaaaaaaaaaaaaaaaaaaaaaaaaaaaaaaaaaaaaaaaaaaaaaaaaaaaaaaaaaaaaaaaaaaaaaaaaaaaaaaaaaaaaaaaaaaaaaaaaaaaaaaaaaa</a:t>
            </a:r>
          </a:p>
          <a:p>
            <a:pPr defTabSz="685800"/>
            <a:endParaRPr lang="en-US" sz="825" dirty="0">
              <a:solidFill>
                <a:prstClr val="black"/>
              </a:solidFill>
              <a:latin typeface="Arial"/>
            </a:endParaRPr>
          </a:p>
          <a:p>
            <a:pPr defTabSz="685800"/>
            <a:r>
              <a:rPr lang="en-US" sz="825" dirty="0">
                <a:solidFill>
                  <a:prstClr val="black"/>
                </a:solidFill>
                <a:latin typeface="Arial"/>
              </a:rPr>
              <a:t>Aaaaaaaaaaaaaaaaaaaaaaaaaaaaaaaaaaaaaaaaaaaaaaaaaaaaaaaaaaaaaaaaaaaaaaaaaaaaaaaaaaaaaaaaaaaaaaaaaaaaaaaaaaaaaaaaaaaaaaaaaaaaaaaaaaaaaaaaaaaaaaaaaaaaaaaaaaaaaaaaaaaaaaaaaaaaaaaaaaaaaaaaaaaaaaaaaaaaaaaaaaaaaaaaaaaaaaaaa</a:t>
            </a:r>
          </a:p>
          <a:p>
            <a:pPr algn="ctr" defTabSz="685800"/>
            <a:endParaRPr lang="en-US" sz="1350" dirty="0">
              <a:solidFill>
                <a:prstClr val="black"/>
              </a:solidFill>
              <a:latin typeface="Arial"/>
            </a:endParaRPr>
          </a:p>
          <a:p>
            <a:pPr defTabSz="685800"/>
            <a:r>
              <a:rPr lang="en-US" sz="788" dirty="0">
                <a:solidFill>
                  <a:prstClr val="black"/>
                </a:solidFill>
                <a:latin typeface="Arial"/>
              </a:rPr>
              <a:t>Aaaaaaaaaaaaaaaaaaaaaaaaaaaaaaaaaaaaaaaaaaaaaaaaaaaaaaaaaaaaaaaaaaaaaaaaaaaaaaaaaaaaaaaaaaaaaaaaaaaaaaaaaaaaaaaaaaaaaaaaaaaaaaaaaaaaaa</a:t>
            </a:r>
          </a:p>
          <a:p>
            <a:pPr defTabSz="685800"/>
            <a:endParaRPr lang="en-US" sz="788" dirty="0">
              <a:solidFill>
                <a:prstClr val="black"/>
              </a:solidFill>
              <a:latin typeface="Arial"/>
            </a:endParaRPr>
          </a:p>
          <a:p>
            <a:pPr defTabSz="685800"/>
            <a:endParaRPr lang="en-US" sz="788" dirty="0">
              <a:solidFill>
                <a:prstClr val="black"/>
              </a:solidFill>
              <a:latin typeface="Arial"/>
            </a:endParaRPr>
          </a:p>
          <a:p>
            <a:pPr defTabSz="685800"/>
            <a:r>
              <a:rPr lang="en-US" sz="788" dirty="0">
                <a:solidFill>
                  <a:prstClr val="black"/>
                </a:solidFill>
                <a:latin typeface="Arial"/>
              </a:rPr>
              <a:t>References:</a:t>
            </a:r>
          </a:p>
        </p:txBody>
      </p:sp>
      <p:cxnSp>
        <p:nvCxnSpPr>
          <p:cNvPr id="3" name="Straight Arrow Connector 2">
            <a:extLst>
              <a:ext uri="{FF2B5EF4-FFF2-40B4-BE49-F238E27FC236}">
                <a16:creationId xmlns:a16="http://schemas.microsoft.com/office/drawing/2014/main" id="{D876CA2C-304C-44C8-9BC5-EEB851100E02}"/>
              </a:ext>
            </a:extLst>
          </p:cNvPr>
          <p:cNvCxnSpPr/>
          <p:nvPr/>
        </p:nvCxnSpPr>
        <p:spPr>
          <a:xfrm flipV="1">
            <a:off x="4002578" y="2037657"/>
            <a:ext cx="2136371" cy="95597"/>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7B344F85-BCA3-4962-A9EF-6D61FE10FDEA}"/>
              </a:ext>
            </a:extLst>
          </p:cNvPr>
          <p:cNvCxnSpPr>
            <a:cxnSpLocks/>
          </p:cNvCxnSpPr>
          <p:nvPr/>
        </p:nvCxnSpPr>
        <p:spPr>
          <a:xfrm>
            <a:off x="2487584" y="2717817"/>
            <a:ext cx="2878282" cy="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E1BB0F55-A38F-47B2-9DCA-5191E8C384D9}"/>
              </a:ext>
            </a:extLst>
          </p:cNvPr>
          <p:cNvCxnSpPr>
            <a:cxnSpLocks/>
          </p:cNvCxnSpPr>
          <p:nvPr/>
        </p:nvCxnSpPr>
        <p:spPr>
          <a:xfrm>
            <a:off x="2804507" y="3256067"/>
            <a:ext cx="2561359" cy="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92BDA0C2-5BF0-4C27-B64C-5602084BB921}"/>
              </a:ext>
            </a:extLst>
          </p:cNvPr>
          <p:cNvCxnSpPr>
            <a:cxnSpLocks/>
            <a:endCxn id="19" idx="1"/>
          </p:cNvCxnSpPr>
          <p:nvPr/>
        </p:nvCxnSpPr>
        <p:spPr>
          <a:xfrm>
            <a:off x="2236124" y="3850426"/>
            <a:ext cx="3015145" cy="535693"/>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5D4B34DB-D6BC-4612-A834-299A7623CBB6}"/>
              </a:ext>
            </a:extLst>
          </p:cNvPr>
          <p:cNvCxnSpPr>
            <a:cxnSpLocks/>
          </p:cNvCxnSpPr>
          <p:nvPr/>
        </p:nvCxnSpPr>
        <p:spPr>
          <a:xfrm>
            <a:off x="2563437" y="4349191"/>
            <a:ext cx="2831523" cy="838991"/>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85D59DBC-E25A-448C-97CB-8C63FDD631CB}"/>
              </a:ext>
            </a:extLst>
          </p:cNvPr>
          <p:cNvCxnSpPr>
            <a:cxnSpLocks/>
          </p:cNvCxnSpPr>
          <p:nvPr/>
        </p:nvCxnSpPr>
        <p:spPr>
          <a:xfrm>
            <a:off x="2487583" y="4972348"/>
            <a:ext cx="2953097" cy="814349"/>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8" name="Left Brace 17">
            <a:extLst>
              <a:ext uri="{FF2B5EF4-FFF2-40B4-BE49-F238E27FC236}">
                <a16:creationId xmlns:a16="http://schemas.microsoft.com/office/drawing/2014/main" id="{0B7B6521-27D7-4644-A218-31C9298A6AB3}"/>
              </a:ext>
            </a:extLst>
          </p:cNvPr>
          <p:cNvSpPr/>
          <p:nvPr/>
        </p:nvSpPr>
        <p:spPr>
          <a:xfrm>
            <a:off x="6246717" y="1642813"/>
            <a:ext cx="216132" cy="708206"/>
          </a:xfrm>
          <a:prstGeom prst="leftBrace">
            <a:avLst>
              <a:gd name="adj1" fmla="val 8333"/>
              <a:gd name="adj2" fmla="val 53164"/>
            </a:avLst>
          </a:prstGeom>
        </p:spPr>
        <p:style>
          <a:lnRef idx="3">
            <a:schemeClr val="accent2"/>
          </a:lnRef>
          <a:fillRef idx="0">
            <a:schemeClr val="accent2"/>
          </a:fillRef>
          <a:effectRef idx="2">
            <a:schemeClr val="accent2"/>
          </a:effectRef>
          <a:fontRef idx="minor">
            <a:schemeClr val="tx1"/>
          </a:fontRef>
        </p:style>
        <p:txBody>
          <a:bodyPr rtlCol="0" anchor="ctr"/>
          <a:lstStyle/>
          <a:p>
            <a:pPr algn="ctr" defTabSz="685800"/>
            <a:endParaRPr lang="en-US" sz="1350">
              <a:solidFill>
                <a:prstClr val="black"/>
              </a:solidFill>
              <a:latin typeface="Arial"/>
            </a:endParaRPr>
          </a:p>
        </p:txBody>
      </p:sp>
      <p:sp>
        <p:nvSpPr>
          <p:cNvPr id="19" name="Left Brace 18">
            <a:extLst>
              <a:ext uri="{FF2B5EF4-FFF2-40B4-BE49-F238E27FC236}">
                <a16:creationId xmlns:a16="http://schemas.microsoft.com/office/drawing/2014/main" id="{420AE04D-0207-4FEC-97B4-A698BF45EFC9}"/>
              </a:ext>
            </a:extLst>
          </p:cNvPr>
          <p:cNvSpPr/>
          <p:nvPr/>
        </p:nvSpPr>
        <p:spPr>
          <a:xfrm>
            <a:off x="5251268" y="3683280"/>
            <a:ext cx="189413" cy="1322019"/>
          </a:xfrm>
          <a:prstGeom prst="leftBrace">
            <a:avLst>
              <a:gd name="adj1" fmla="val 8333"/>
              <a:gd name="adj2" fmla="val 53164"/>
            </a:avLst>
          </a:prstGeom>
        </p:spPr>
        <p:style>
          <a:lnRef idx="3">
            <a:schemeClr val="accent2"/>
          </a:lnRef>
          <a:fillRef idx="0">
            <a:schemeClr val="accent2"/>
          </a:fillRef>
          <a:effectRef idx="2">
            <a:schemeClr val="accent2"/>
          </a:effectRef>
          <a:fontRef idx="minor">
            <a:schemeClr val="tx1"/>
          </a:fontRef>
        </p:style>
        <p:txBody>
          <a:bodyPr rtlCol="0" anchor="ctr"/>
          <a:lstStyle/>
          <a:p>
            <a:pPr algn="ctr" defTabSz="685800"/>
            <a:endParaRPr lang="en-US" sz="1350">
              <a:solidFill>
                <a:prstClr val="black"/>
              </a:solidFill>
              <a:latin typeface="Arial"/>
            </a:endParaRPr>
          </a:p>
        </p:txBody>
      </p:sp>
    </p:spTree>
    <p:extLst>
      <p:ext uri="{BB962C8B-B14F-4D97-AF65-F5344CB8AC3E}">
        <p14:creationId xmlns:p14="http://schemas.microsoft.com/office/powerpoint/2010/main" val="19841667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1050EA-7B68-4906-B6F0-2EC7D24E92F9}"/>
              </a:ext>
            </a:extLst>
          </p:cNvPr>
          <p:cNvSpPr>
            <a:spLocks noGrp="1"/>
          </p:cNvSpPr>
          <p:nvPr>
            <p:ph idx="1"/>
          </p:nvPr>
        </p:nvSpPr>
        <p:spPr>
          <a:xfrm>
            <a:off x="128847" y="2767692"/>
            <a:ext cx="4769725" cy="881743"/>
          </a:xfrm>
        </p:spPr>
        <p:txBody>
          <a:bodyPr>
            <a:normAutofit fontScale="47500" lnSpcReduction="20000"/>
          </a:bodyPr>
          <a:lstStyle/>
          <a:p>
            <a:pPr marL="0" indent="0">
              <a:buNone/>
            </a:pPr>
            <a:endParaRPr lang="en-US" dirty="0">
              <a:hlinkClick r:id="rId2" action="ppaction://hlinkfile"/>
            </a:endParaRPr>
          </a:p>
          <a:p>
            <a:pPr marL="0" indent="0">
              <a:buNone/>
            </a:pPr>
            <a:r>
              <a:rPr lang="en-US" dirty="0">
                <a:hlinkClick r:id="rId3" action="ppaction://hlinkfile"/>
              </a:rPr>
              <a:t>Example 1</a:t>
            </a:r>
            <a:endParaRPr lang="en-US" dirty="0">
              <a:hlinkClick r:id="rId2" action="ppaction://hlinkfile"/>
            </a:endParaRPr>
          </a:p>
          <a:p>
            <a:pPr marL="0" indent="0">
              <a:buNone/>
            </a:pPr>
            <a:endParaRPr lang="en-US" dirty="0">
              <a:hlinkClick r:id="rId2" action="ppaction://hlinkfile"/>
            </a:endParaRPr>
          </a:p>
          <a:p>
            <a:pPr marL="0" indent="0">
              <a:buNone/>
            </a:pPr>
            <a:r>
              <a:rPr lang="en-US" dirty="0">
                <a:hlinkClick r:id="rId2" action="ppaction://hlinkfile"/>
              </a:rPr>
              <a:t>Example</a:t>
            </a:r>
            <a:r>
              <a:rPr lang="en-US" dirty="0"/>
              <a:t> 2</a:t>
            </a:r>
          </a:p>
        </p:txBody>
      </p:sp>
      <p:pic>
        <p:nvPicPr>
          <p:cNvPr id="4" name="Picture 3">
            <a:extLst>
              <a:ext uri="{FF2B5EF4-FFF2-40B4-BE49-F238E27FC236}">
                <a16:creationId xmlns:a16="http://schemas.microsoft.com/office/drawing/2014/main" id="{57CBDE2D-8C2D-43C9-9307-96A178F261A5}"/>
              </a:ext>
            </a:extLst>
          </p:cNvPr>
          <p:cNvPicPr>
            <a:picLocks noChangeAspect="1"/>
          </p:cNvPicPr>
          <p:nvPr/>
        </p:nvPicPr>
        <p:blipFill>
          <a:blip r:embed="rId4"/>
          <a:stretch>
            <a:fillRect/>
          </a:stretch>
        </p:blipFill>
        <p:spPr>
          <a:xfrm>
            <a:off x="171992" y="857250"/>
            <a:ext cx="8800017" cy="5143500"/>
          </a:xfrm>
          <a:prstGeom prst="rect">
            <a:avLst/>
          </a:prstGeom>
        </p:spPr>
      </p:pic>
    </p:spTree>
    <p:extLst>
      <p:ext uri="{BB962C8B-B14F-4D97-AF65-F5344CB8AC3E}">
        <p14:creationId xmlns:p14="http://schemas.microsoft.com/office/powerpoint/2010/main" val="39758931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785A84-FFBB-4660-8669-336C1D2AB67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200B98B-A0EE-4ACB-A215-569864FC1DDC}"/>
              </a:ext>
            </a:extLst>
          </p:cNvPr>
          <p:cNvPicPr>
            <a:picLocks noChangeAspect="1"/>
          </p:cNvPicPr>
          <p:nvPr/>
        </p:nvPicPr>
        <p:blipFill>
          <a:blip r:embed="rId2"/>
          <a:stretch>
            <a:fillRect/>
          </a:stretch>
        </p:blipFill>
        <p:spPr>
          <a:xfrm>
            <a:off x="0" y="902642"/>
            <a:ext cx="9144000" cy="5052716"/>
          </a:xfrm>
          <a:prstGeom prst="rect">
            <a:avLst/>
          </a:prstGeom>
        </p:spPr>
      </p:pic>
      <p:sp>
        <p:nvSpPr>
          <p:cNvPr id="6" name="Rectangle 5">
            <a:extLst>
              <a:ext uri="{FF2B5EF4-FFF2-40B4-BE49-F238E27FC236}">
                <a16:creationId xmlns:a16="http://schemas.microsoft.com/office/drawing/2014/main" id="{E8E04B83-DBF2-4F0B-A5ED-EA303D8C8021}"/>
              </a:ext>
            </a:extLst>
          </p:cNvPr>
          <p:cNvSpPr/>
          <p:nvPr/>
        </p:nvSpPr>
        <p:spPr>
          <a:xfrm>
            <a:off x="4514850" y="4632723"/>
            <a:ext cx="4218385" cy="11965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Tree>
    <p:extLst>
      <p:ext uri="{BB962C8B-B14F-4D97-AF65-F5344CB8AC3E}">
        <p14:creationId xmlns:p14="http://schemas.microsoft.com/office/powerpoint/2010/main" val="575553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857250"/>
            <a:ext cx="9144000" cy="571500"/>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a:rPr>
              <a:t>Structure of an essay</a:t>
            </a:r>
          </a:p>
        </p:txBody>
      </p:sp>
      <p:sp>
        <p:nvSpPr>
          <p:cNvPr id="2" name="Rectangle 1"/>
          <p:cNvSpPr/>
          <p:nvPr/>
        </p:nvSpPr>
        <p:spPr>
          <a:xfrm>
            <a:off x="1" y="1428750"/>
            <a:ext cx="9143999" cy="2492990"/>
          </a:xfrm>
          <a:prstGeom prst="rect">
            <a:avLst/>
          </a:prstGeom>
        </p:spPr>
        <p:txBody>
          <a:bodyPr wrap="square">
            <a:spAutoFit/>
          </a:bodyPr>
          <a:lstStyle/>
          <a:p>
            <a:pPr defTabSz="685800"/>
            <a:r>
              <a:rPr lang="en-US" sz="3600" b="1" dirty="0">
                <a:solidFill>
                  <a:srgbClr val="C00000"/>
                </a:solidFill>
                <a:latin typeface="Times New Roman"/>
              </a:rPr>
              <a:t>Title:</a:t>
            </a:r>
          </a:p>
          <a:p>
            <a:pPr defTabSz="685800"/>
            <a:r>
              <a:rPr lang="en-US" sz="3000" dirty="0">
                <a:solidFill>
                  <a:prstClr val="black"/>
                </a:solidFill>
                <a:latin typeface="Times New Roman"/>
              </a:rPr>
              <a:t>	</a:t>
            </a:r>
            <a:r>
              <a:rPr lang="en-US" sz="3000" b="1" dirty="0">
                <a:solidFill>
                  <a:prstClr val="black"/>
                </a:solidFill>
                <a:latin typeface="Times New Roman"/>
              </a:rPr>
              <a:t>Must be Relevant, Accurate, Concise, Strong</a:t>
            </a:r>
          </a:p>
          <a:p>
            <a:pPr defTabSz="685800"/>
            <a:endParaRPr lang="en-US" sz="3000" b="1" dirty="0">
              <a:solidFill>
                <a:prstClr val="black"/>
              </a:solidFill>
              <a:latin typeface="Times New Roman"/>
            </a:endParaRPr>
          </a:p>
          <a:p>
            <a:pPr defTabSz="685800"/>
            <a:r>
              <a:rPr lang="en-US" sz="3000" b="1" dirty="0">
                <a:solidFill>
                  <a:prstClr val="black"/>
                </a:solidFill>
                <a:latin typeface="Times New Roman"/>
              </a:rPr>
              <a:t>	Must separates your work from everyone else's 	work</a:t>
            </a:r>
          </a:p>
        </p:txBody>
      </p:sp>
      <p:sp>
        <p:nvSpPr>
          <p:cNvPr id="3" name="TextBox 2"/>
          <p:cNvSpPr txBox="1"/>
          <p:nvPr/>
        </p:nvSpPr>
        <p:spPr>
          <a:xfrm>
            <a:off x="4194740" y="4259174"/>
            <a:ext cx="4915601" cy="1338828"/>
          </a:xfrm>
          <a:prstGeom prst="rect">
            <a:avLst/>
          </a:prstGeom>
          <a:solidFill>
            <a:schemeClr val="accent6">
              <a:lumMod val="20000"/>
              <a:lumOff val="80000"/>
            </a:schemeClr>
          </a:solidFill>
        </p:spPr>
        <p:txBody>
          <a:bodyPr wrap="square" rtlCol="0">
            <a:spAutoFit/>
          </a:bodyPr>
          <a:lstStyle/>
          <a:p>
            <a:pPr defTabSz="685800"/>
            <a:r>
              <a:rPr lang="en-US" sz="2700" dirty="0">
                <a:solidFill>
                  <a:prstClr val="black"/>
                </a:solidFill>
                <a:latin typeface="Times New Roman"/>
              </a:rPr>
              <a:t>Energy efficiency in high-speed railway traffic operation: a real-time ecodriving algorithm</a:t>
            </a:r>
          </a:p>
        </p:txBody>
      </p:sp>
      <p:sp>
        <p:nvSpPr>
          <p:cNvPr id="7" name="TextBox 6"/>
          <p:cNvSpPr txBox="1"/>
          <p:nvPr/>
        </p:nvSpPr>
        <p:spPr>
          <a:xfrm>
            <a:off x="1" y="4259174"/>
            <a:ext cx="3302780" cy="1338828"/>
          </a:xfrm>
          <a:prstGeom prst="rect">
            <a:avLst/>
          </a:prstGeom>
          <a:solidFill>
            <a:schemeClr val="accent6">
              <a:lumMod val="20000"/>
              <a:lumOff val="80000"/>
            </a:schemeClr>
          </a:solidFill>
        </p:spPr>
        <p:txBody>
          <a:bodyPr wrap="square" rtlCol="0">
            <a:spAutoFit/>
          </a:bodyPr>
          <a:lstStyle/>
          <a:p>
            <a:pPr defTabSz="685800"/>
            <a:r>
              <a:rPr lang="en-US" sz="2700" dirty="0">
                <a:solidFill>
                  <a:prstClr val="black"/>
                </a:solidFill>
                <a:latin typeface="Times New Roman"/>
              </a:rPr>
              <a:t>An algorithm for </a:t>
            </a:r>
          </a:p>
          <a:p>
            <a:pPr defTabSz="685800"/>
            <a:r>
              <a:rPr lang="en-US" sz="2700" dirty="0">
                <a:solidFill>
                  <a:prstClr val="black"/>
                </a:solidFill>
                <a:latin typeface="Times New Roman"/>
              </a:rPr>
              <a:t>Energy efficiency in railway traffic</a:t>
            </a:r>
          </a:p>
        </p:txBody>
      </p:sp>
      <p:sp>
        <p:nvSpPr>
          <p:cNvPr id="4" name="Right Arrow 3"/>
          <p:cNvSpPr/>
          <p:nvPr/>
        </p:nvSpPr>
        <p:spPr>
          <a:xfrm>
            <a:off x="3361779" y="4735310"/>
            <a:ext cx="733806" cy="363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Tree>
    <p:extLst>
      <p:ext uri="{BB962C8B-B14F-4D97-AF65-F5344CB8AC3E}">
        <p14:creationId xmlns:p14="http://schemas.microsoft.com/office/powerpoint/2010/main" val="1292586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4A608-BF5A-4815-9688-1E7275716FA3}"/>
              </a:ext>
            </a:extLst>
          </p:cNvPr>
          <p:cNvSpPr>
            <a:spLocks noGrp="1"/>
          </p:cNvSpPr>
          <p:nvPr>
            <p:ph type="ctrTitle"/>
          </p:nvPr>
        </p:nvSpPr>
        <p:spPr>
          <a:xfrm>
            <a:off x="1" y="949812"/>
            <a:ext cx="9079487" cy="5050938"/>
          </a:xfrm>
        </p:spPr>
        <p:txBody>
          <a:bodyPr>
            <a:normAutofit fontScale="90000"/>
          </a:bodyPr>
          <a:lstStyle/>
          <a:p>
            <a:r>
              <a:rPr lang="en-US" sz="3000" dirty="0"/>
              <a:t>The Hall Effect</a:t>
            </a:r>
            <a:br>
              <a:rPr lang="en-US" sz="3000" dirty="0"/>
            </a:br>
            <a:br>
              <a:rPr lang="en-US" sz="3000" dirty="0"/>
            </a:br>
            <a:r>
              <a:rPr lang="en-US" sz="3000" dirty="0"/>
              <a:t> Hall-Effect Current Sensors</a:t>
            </a:r>
            <a:br>
              <a:rPr lang="en-US" sz="3000" dirty="0"/>
            </a:br>
            <a:br>
              <a:rPr lang="en-US" sz="3000" dirty="0"/>
            </a:br>
            <a:r>
              <a:rPr lang="en-US" sz="3000" dirty="0">
                <a:solidFill>
                  <a:prstClr val="black"/>
                </a:solidFill>
                <a:latin typeface="Times New Roman"/>
              </a:rPr>
              <a:t>Hall-Effect Current Sensors</a:t>
            </a:r>
            <a:r>
              <a:rPr lang="en-US" sz="3000" dirty="0"/>
              <a:t>: Principles of Operation and Implementation Techniques</a:t>
            </a:r>
            <a:br>
              <a:rPr lang="en-US" sz="3000" dirty="0"/>
            </a:br>
            <a:br>
              <a:rPr lang="en-US" sz="3000" dirty="0"/>
            </a:br>
            <a:r>
              <a:rPr lang="en-US" sz="3000" dirty="0"/>
              <a:t>Hall Effect Sensors Design, Integration and Behavior Analysis</a:t>
            </a:r>
            <a:br>
              <a:rPr lang="en-US" sz="3000" dirty="0"/>
            </a:br>
            <a:br>
              <a:rPr lang="en-US" sz="3000" dirty="0"/>
            </a:br>
            <a:r>
              <a:rPr lang="en-US" sz="3000" dirty="0"/>
              <a:t>Use of Hall Effect Sensors for Protection and Monitoring Applications</a:t>
            </a:r>
            <a:br>
              <a:rPr lang="en-US" sz="3000" dirty="0"/>
            </a:br>
            <a:br>
              <a:rPr lang="en-US" sz="3000" dirty="0"/>
            </a:br>
            <a:endParaRPr lang="en-US" sz="3000" dirty="0"/>
          </a:p>
        </p:txBody>
      </p:sp>
      <p:cxnSp>
        <p:nvCxnSpPr>
          <p:cNvPr id="5" name="Straight Connector 4">
            <a:extLst>
              <a:ext uri="{FF2B5EF4-FFF2-40B4-BE49-F238E27FC236}">
                <a16:creationId xmlns:a16="http://schemas.microsoft.com/office/drawing/2014/main" id="{E775DBCB-BA1D-4C02-B41A-247694AC379E}"/>
              </a:ext>
            </a:extLst>
          </p:cNvPr>
          <p:cNvCxnSpPr/>
          <p:nvPr/>
        </p:nvCxnSpPr>
        <p:spPr>
          <a:xfrm>
            <a:off x="1523065" y="1698722"/>
            <a:ext cx="607963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8D2BC49-C0BE-4216-899D-5CCFD1EC63F3}"/>
              </a:ext>
            </a:extLst>
          </p:cNvPr>
          <p:cNvCxnSpPr/>
          <p:nvPr/>
        </p:nvCxnSpPr>
        <p:spPr>
          <a:xfrm>
            <a:off x="1523065" y="2359979"/>
            <a:ext cx="607963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E4E93D5-F947-4BB1-A4C2-D3CD58A21BC0}"/>
              </a:ext>
            </a:extLst>
          </p:cNvPr>
          <p:cNvCxnSpPr/>
          <p:nvPr/>
        </p:nvCxnSpPr>
        <p:spPr>
          <a:xfrm>
            <a:off x="1523065" y="3622188"/>
            <a:ext cx="607963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84A8591-B52D-4EAE-B774-DAF0433684D6}"/>
              </a:ext>
            </a:extLst>
          </p:cNvPr>
          <p:cNvCxnSpPr/>
          <p:nvPr/>
        </p:nvCxnSpPr>
        <p:spPr>
          <a:xfrm>
            <a:off x="1532181" y="4421587"/>
            <a:ext cx="607963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24014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8847B9-FA80-4234-B8C5-4C3CFF6B4980}"/>
              </a:ext>
            </a:extLst>
          </p:cNvPr>
          <p:cNvSpPr>
            <a:spLocks noGrp="1"/>
          </p:cNvSpPr>
          <p:nvPr>
            <p:ph type="subTitle" idx="1"/>
          </p:nvPr>
        </p:nvSpPr>
        <p:spPr>
          <a:xfrm>
            <a:off x="201250" y="1001030"/>
            <a:ext cx="5609907" cy="469213"/>
          </a:xfrm>
        </p:spPr>
        <p:txBody>
          <a:bodyPr>
            <a:noAutofit/>
          </a:bodyPr>
          <a:lstStyle/>
          <a:p>
            <a:pPr algn="l"/>
            <a:r>
              <a:rPr lang="en-US" sz="3000" b="1" dirty="0">
                <a:solidFill>
                  <a:srgbClr val="C00000"/>
                </a:solidFill>
              </a:rPr>
              <a:t>Bad examples </a:t>
            </a:r>
          </a:p>
        </p:txBody>
      </p:sp>
      <p:pic>
        <p:nvPicPr>
          <p:cNvPr id="5" name="Picture 4">
            <a:extLst>
              <a:ext uri="{FF2B5EF4-FFF2-40B4-BE49-F238E27FC236}">
                <a16:creationId xmlns:a16="http://schemas.microsoft.com/office/drawing/2014/main" id="{E61F1ABC-0FDD-45DE-9B7A-E6ECAA089055}"/>
              </a:ext>
            </a:extLst>
          </p:cNvPr>
          <p:cNvPicPr>
            <a:picLocks noChangeAspect="1"/>
          </p:cNvPicPr>
          <p:nvPr/>
        </p:nvPicPr>
        <p:blipFill>
          <a:blip r:embed="rId2"/>
          <a:stretch>
            <a:fillRect/>
          </a:stretch>
        </p:blipFill>
        <p:spPr>
          <a:xfrm>
            <a:off x="278741" y="1629966"/>
            <a:ext cx="7645391" cy="1332430"/>
          </a:xfrm>
          <a:prstGeom prst="rect">
            <a:avLst/>
          </a:prstGeom>
        </p:spPr>
      </p:pic>
      <p:pic>
        <p:nvPicPr>
          <p:cNvPr id="7" name="Picture 6">
            <a:extLst>
              <a:ext uri="{FF2B5EF4-FFF2-40B4-BE49-F238E27FC236}">
                <a16:creationId xmlns:a16="http://schemas.microsoft.com/office/drawing/2014/main" id="{DF2F5877-FE39-4AB8-80EC-7877A64DDC4A}"/>
              </a:ext>
            </a:extLst>
          </p:cNvPr>
          <p:cNvPicPr>
            <a:picLocks noChangeAspect="1"/>
          </p:cNvPicPr>
          <p:nvPr/>
        </p:nvPicPr>
        <p:blipFill>
          <a:blip r:embed="rId3"/>
          <a:stretch>
            <a:fillRect/>
          </a:stretch>
        </p:blipFill>
        <p:spPr>
          <a:xfrm>
            <a:off x="313428" y="3197585"/>
            <a:ext cx="8194772" cy="632784"/>
          </a:xfrm>
          <a:prstGeom prst="rect">
            <a:avLst/>
          </a:prstGeom>
          <a:ln w="12700">
            <a:solidFill>
              <a:srgbClr val="7030A0"/>
            </a:solidFill>
          </a:ln>
        </p:spPr>
      </p:pic>
      <p:pic>
        <p:nvPicPr>
          <p:cNvPr id="9" name="Picture 8">
            <a:extLst>
              <a:ext uri="{FF2B5EF4-FFF2-40B4-BE49-F238E27FC236}">
                <a16:creationId xmlns:a16="http://schemas.microsoft.com/office/drawing/2014/main" id="{E4F86C3E-966D-4410-B2AD-927DE75795CC}"/>
              </a:ext>
            </a:extLst>
          </p:cNvPr>
          <p:cNvPicPr>
            <a:picLocks noChangeAspect="1"/>
          </p:cNvPicPr>
          <p:nvPr/>
        </p:nvPicPr>
        <p:blipFill>
          <a:blip r:embed="rId4"/>
          <a:stretch>
            <a:fillRect/>
          </a:stretch>
        </p:blipFill>
        <p:spPr>
          <a:xfrm>
            <a:off x="1010557" y="4149816"/>
            <a:ext cx="4800600" cy="1693456"/>
          </a:xfrm>
          <a:prstGeom prst="rect">
            <a:avLst/>
          </a:prstGeom>
          <a:ln w="47625">
            <a:solidFill>
              <a:srgbClr val="C00000"/>
            </a:solidFill>
          </a:ln>
        </p:spPr>
      </p:pic>
    </p:spTree>
    <p:extLst>
      <p:ext uri="{BB962C8B-B14F-4D97-AF65-F5344CB8AC3E}">
        <p14:creationId xmlns:p14="http://schemas.microsoft.com/office/powerpoint/2010/main" val="4741286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2431474"/>
          </a:xfrm>
        </p:spPr>
        <p:txBody>
          <a:bodyPr>
            <a:normAutofit/>
          </a:bodyPr>
          <a:lstStyle/>
          <a:p>
            <a:r>
              <a:rPr lang="en-US" sz="3000" b="1" dirty="0"/>
              <a:t> </a:t>
            </a:r>
            <a:r>
              <a:rPr lang="en-US" sz="3600" b="1" dirty="0">
                <a:solidFill>
                  <a:srgbClr val="C00000"/>
                </a:solidFill>
              </a:rPr>
              <a:t>Abstract</a:t>
            </a:r>
            <a:r>
              <a:rPr lang="en-US" sz="3000" b="1" dirty="0"/>
              <a:t> (usually 150-200 words)</a:t>
            </a:r>
          </a:p>
          <a:p>
            <a:r>
              <a:rPr lang="en-US" sz="3000" b="1" dirty="0"/>
              <a:t> </a:t>
            </a:r>
            <a:r>
              <a:rPr lang="en-US" sz="2700" b="1" i="1" dirty="0">
                <a:solidFill>
                  <a:srgbClr val="002060"/>
                </a:solidFill>
              </a:rPr>
              <a:t>What is the difference between Abstract and Introduction?</a:t>
            </a:r>
          </a:p>
          <a:p>
            <a:endParaRPr lang="en-US" sz="2700" b="1" i="1" dirty="0">
              <a:solidFill>
                <a:srgbClr val="002060"/>
              </a:solidFill>
            </a:endParaRPr>
          </a:p>
          <a:p>
            <a:r>
              <a:rPr lang="en-US" sz="2700" b="1" dirty="0"/>
              <a:t>Abstract is a short summary of the entire paper that states the purpose of the paper and its main conclusion.</a:t>
            </a:r>
          </a:p>
          <a:p>
            <a:endParaRPr lang="en-US" sz="2700" b="1" dirty="0"/>
          </a:p>
          <a:p>
            <a:endParaRPr lang="en-US" sz="2700" b="1" i="1" dirty="0">
              <a:solidFill>
                <a:srgbClr val="002060"/>
              </a:solidFill>
            </a:endParaRP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a:rPr>
              <a:t>Essay Layout</a:t>
            </a:r>
          </a:p>
        </p:txBody>
      </p:sp>
      <p:sp>
        <p:nvSpPr>
          <p:cNvPr id="5" name="Rectangle 4"/>
          <p:cNvSpPr/>
          <p:nvPr/>
        </p:nvSpPr>
        <p:spPr>
          <a:xfrm>
            <a:off x="0" y="4200257"/>
            <a:ext cx="9144000" cy="1823576"/>
          </a:xfrm>
          <a:prstGeom prst="rect">
            <a:avLst/>
          </a:prstGeom>
          <a:solidFill>
            <a:schemeClr val="accent6">
              <a:lumMod val="50000"/>
            </a:schemeClr>
          </a:solidFill>
        </p:spPr>
        <p:txBody>
          <a:bodyPr wrap="square">
            <a:spAutoFit/>
          </a:bodyPr>
          <a:lstStyle/>
          <a:p>
            <a:pPr defTabSz="685800"/>
            <a:r>
              <a:rPr lang="en-US" sz="2250" b="1" dirty="0">
                <a:solidFill>
                  <a:prstClr val="white"/>
                </a:solidFill>
                <a:latin typeface="Times New Roman"/>
              </a:rPr>
              <a:t>	The abstract of a paper is the only part of the paper that is 	published in conference proceedings.</a:t>
            </a:r>
          </a:p>
          <a:p>
            <a:pPr defTabSz="685800"/>
            <a:endParaRPr lang="en-US" sz="2250" b="1" dirty="0">
              <a:solidFill>
                <a:prstClr val="white"/>
              </a:solidFill>
              <a:latin typeface="Times New Roman"/>
            </a:endParaRPr>
          </a:p>
          <a:p>
            <a:pPr defTabSz="685800"/>
            <a:r>
              <a:rPr lang="en-US" sz="2250" b="1" dirty="0">
                <a:solidFill>
                  <a:prstClr val="white"/>
                </a:solidFill>
                <a:latin typeface="Times New Roman"/>
              </a:rPr>
              <a:t>	The abstract is the only part of the paper that readers see when they 	search through most of electronic databases. </a:t>
            </a:r>
          </a:p>
        </p:txBody>
      </p:sp>
    </p:spTree>
    <p:extLst>
      <p:ext uri="{BB962C8B-B14F-4D97-AF65-F5344CB8AC3E}">
        <p14:creationId xmlns:p14="http://schemas.microsoft.com/office/powerpoint/2010/main" val="1211296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914" y="857250"/>
            <a:ext cx="9045086" cy="5143500"/>
          </a:xfrm>
        </p:spPr>
        <p:txBody>
          <a:bodyPr>
            <a:normAutofit lnSpcReduction="10000"/>
          </a:bodyPr>
          <a:lstStyle/>
          <a:p>
            <a:r>
              <a:rPr lang="en-US" sz="3300" b="1" dirty="0">
                <a:solidFill>
                  <a:srgbClr val="FF0000"/>
                </a:solidFill>
              </a:rPr>
              <a:t>Abstract</a:t>
            </a:r>
            <a:r>
              <a:rPr lang="en-US" sz="2400" b="1" dirty="0"/>
              <a:t> typically contains topic, research question, methods, results, and conclusion.</a:t>
            </a:r>
          </a:p>
          <a:p>
            <a:endParaRPr lang="en-US" sz="2400" dirty="0"/>
          </a:p>
          <a:p>
            <a:r>
              <a:rPr lang="en-US" sz="2400" dirty="0"/>
              <a:t> Uses </a:t>
            </a:r>
            <a:r>
              <a:rPr lang="en-US" sz="2400" b="1" dirty="0"/>
              <a:t>one or more well-developed paragraphs</a:t>
            </a:r>
            <a:r>
              <a:rPr lang="en-US" sz="2400" dirty="0"/>
              <a:t>, which are unified, 	coherent, concise, and able to stand alone</a:t>
            </a:r>
          </a:p>
          <a:p>
            <a:pPr marL="0" indent="0">
              <a:buNone/>
            </a:pPr>
            <a:r>
              <a:rPr lang="en-US" sz="2400" dirty="0"/>
              <a:t>•  Uses </a:t>
            </a:r>
            <a:r>
              <a:rPr lang="en-US" sz="2400" b="1" dirty="0"/>
              <a:t>an introduction-body-conclusion </a:t>
            </a:r>
            <a:r>
              <a:rPr lang="en-US" sz="2400" dirty="0"/>
              <a:t>structure in which the parts of 	the report are discussed in order: </a:t>
            </a:r>
            <a:r>
              <a:rPr lang="en-US" sz="2400" u="sng" dirty="0"/>
              <a:t>purpose, research questions, </a:t>
            </a:r>
            <a:r>
              <a:rPr lang="en-US" sz="2400" dirty="0"/>
              <a:t>	</a:t>
            </a:r>
            <a:r>
              <a:rPr lang="en-US" sz="2400" u="sng" dirty="0"/>
              <a:t>methods, findings, conclusions, recommendations.</a:t>
            </a:r>
          </a:p>
          <a:p>
            <a:pPr marL="0" indent="0">
              <a:buNone/>
            </a:pPr>
            <a:r>
              <a:rPr lang="en-US" sz="2400" dirty="0"/>
              <a:t>•  Follows strictly the </a:t>
            </a:r>
            <a:r>
              <a:rPr lang="en-US" sz="2400" b="1" dirty="0"/>
              <a:t>chronology</a:t>
            </a:r>
            <a:r>
              <a:rPr lang="en-US" sz="2400" dirty="0"/>
              <a:t> of the report</a:t>
            </a:r>
          </a:p>
          <a:p>
            <a:pPr marL="0" indent="0">
              <a:buNone/>
            </a:pPr>
            <a:r>
              <a:rPr lang="en-US" sz="2400" dirty="0"/>
              <a:t>•  Adds no new information - merely </a:t>
            </a:r>
            <a:r>
              <a:rPr lang="en-US" sz="2400" b="1" dirty="0"/>
              <a:t>summarizes report.</a:t>
            </a:r>
          </a:p>
          <a:p>
            <a:pPr marL="0" indent="0">
              <a:buNone/>
            </a:pPr>
            <a:r>
              <a:rPr lang="en-US" sz="2400" dirty="0"/>
              <a:t>•  </a:t>
            </a:r>
            <a:r>
              <a:rPr lang="en-US" sz="2400" dirty="0">
                <a:solidFill>
                  <a:srgbClr val="C00000"/>
                </a:solidFill>
              </a:rPr>
              <a:t>Contains stand-alone qualities </a:t>
            </a:r>
            <a:r>
              <a:rPr lang="en-US" sz="2400" dirty="0"/>
              <a:t>- the abstract </a:t>
            </a:r>
            <a:r>
              <a:rPr lang="en-US" sz="2400" b="1" dirty="0"/>
              <a:t>can be understood 	without reading the paper.</a:t>
            </a:r>
          </a:p>
          <a:p>
            <a:pPr marL="0" indent="0">
              <a:buNone/>
            </a:pPr>
            <a:r>
              <a:rPr lang="en-US" sz="2400" dirty="0"/>
              <a:t>•  Is intelligible to a wide audience.</a:t>
            </a:r>
          </a:p>
        </p:txBody>
      </p:sp>
    </p:spTree>
    <p:extLst>
      <p:ext uri="{BB962C8B-B14F-4D97-AF65-F5344CB8AC3E}">
        <p14:creationId xmlns:p14="http://schemas.microsoft.com/office/powerpoint/2010/main" val="2583902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57250"/>
            <a:ext cx="7886700" cy="383187"/>
          </a:xfrm>
          <a:solidFill>
            <a:schemeClr val="accent4">
              <a:lumMod val="20000"/>
              <a:lumOff val="80000"/>
            </a:schemeClr>
          </a:solidFill>
        </p:spPr>
        <p:txBody>
          <a:bodyPr>
            <a:normAutofit fontScale="90000"/>
          </a:bodyPr>
          <a:lstStyle/>
          <a:p>
            <a:pPr algn="ctr"/>
            <a:r>
              <a:rPr lang="en-US" dirty="0">
                <a:latin typeface="+mn-lt"/>
              </a:rPr>
              <a:t>Abstract </a:t>
            </a:r>
          </a:p>
        </p:txBody>
      </p:sp>
      <p:sp>
        <p:nvSpPr>
          <p:cNvPr id="3" name="Content Placeholder 2"/>
          <p:cNvSpPr>
            <a:spLocks noGrp="1"/>
          </p:cNvSpPr>
          <p:nvPr>
            <p:ph idx="1"/>
          </p:nvPr>
        </p:nvSpPr>
        <p:spPr>
          <a:xfrm>
            <a:off x="0" y="1240437"/>
            <a:ext cx="8515350" cy="4660560"/>
          </a:xfrm>
        </p:spPr>
        <p:txBody>
          <a:bodyPr>
            <a:noAutofit/>
          </a:bodyPr>
          <a:lstStyle/>
          <a:p>
            <a:r>
              <a:rPr lang="en-US" sz="1800" dirty="0"/>
              <a:t>What is an abstract?</a:t>
            </a:r>
          </a:p>
          <a:p>
            <a:r>
              <a:rPr lang="en-US" sz="1800" dirty="0"/>
              <a:t>A150- to 200-word paragraph that provides readers with a </a:t>
            </a:r>
            <a:r>
              <a:rPr lang="en-US" sz="1800" b="1" u="sng" dirty="0"/>
              <a:t>quick overview of your essay </a:t>
            </a:r>
            <a:r>
              <a:rPr lang="en-US" sz="1800" u="sng" dirty="0"/>
              <a:t>and its organization</a:t>
            </a:r>
            <a:r>
              <a:rPr lang="en-US" sz="1800" dirty="0"/>
              <a:t>. </a:t>
            </a:r>
          </a:p>
          <a:p>
            <a:r>
              <a:rPr lang="en-US" sz="1800" dirty="0"/>
              <a:t>It should express your thesis (or central idea) and your key points.</a:t>
            </a:r>
          </a:p>
          <a:p>
            <a:r>
              <a:rPr lang="en-US" sz="1800" dirty="0"/>
              <a:t>It should also suggest any implications or applications of the research you discuss in the paper.</a:t>
            </a:r>
          </a:p>
          <a:p>
            <a:r>
              <a:rPr lang="en-US" sz="1800" dirty="0">
                <a:solidFill>
                  <a:srgbClr val="C00000"/>
                </a:solidFill>
              </a:rPr>
              <a:t>An abstract is “a concise summary of the entire paper.”</a:t>
            </a:r>
          </a:p>
          <a:p>
            <a:r>
              <a:rPr lang="en-US" sz="1800" dirty="0"/>
              <a:t>The function of an abstract is to describe, not to evaluate or defend, the paper.</a:t>
            </a:r>
          </a:p>
          <a:p>
            <a:r>
              <a:rPr lang="en-US" sz="1800" dirty="0"/>
              <a:t>The abstract should begin with a brief but precise statement of the problem or issue, followed by a description of the research method and design, the major findings, and the conclusions reached.</a:t>
            </a:r>
          </a:p>
          <a:p>
            <a:r>
              <a:rPr lang="en-US" sz="1800" dirty="0">
                <a:solidFill>
                  <a:srgbClr val="C00000"/>
                </a:solidFill>
              </a:rPr>
              <a:t>The abstract should contain the most important key words referring to method and content:</a:t>
            </a:r>
            <a:r>
              <a:rPr lang="en-US" sz="1800" dirty="0"/>
              <a:t> these facilitate access to the abstract by computer search and enable a reader to decide whether to read the entire dissertation.</a:t>
            </a:r>
          </a:p>
        </p:txBody>
      </p:sp>
    </p:spTree>
    <p:extLst>
      <p:ext uri="{BB962C8B-B14F-4D97-AF65-F5344CB8AC3E}">
        <p14:creationId xmlns:p14="http://schemas.microsoft.com/office/powerpoint/2010/main" val="37105701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F890EB-E93E-435B-B3D4-F6844250DF37}"/>
              </a:ext>
            </a:extLst>
          </p:cNvPr>
          <p:cNvPicPr>
            <a:picLocks noChangeAspect="1"/>
          </p:cNvPicPr>
          <p:nvPr/>
        </p:nvPicPr>
        <p:blipFill>
          <a:blip r:embed="rId2"/>
          <a:stretch>
            <a:fillRect/>
          </a:stretch>
        </p:blipFill>
        <p:spPr>
          <a:xfrm>
            <a:off x="11723" y="1000301"/>
            <a:ext cx="9242284" cy="5089379"/>
          </a:xfrm>
          <a:prstGeom prst="rect">
            <a:avLst/>
          </a:prstGeom>
        </p:spPr>
      </p:pic>
      <p:sp>
        <p:nvSpPr>
          <p:cNvPr id="9" name="TextBox 8">
            <a:extLst>
              <a:ext uri="{FF2B5EF4-FFF2-40B4-BE49-F238E27FC236}">
                <a16:creationId xmlns:a16="http://schemas.microsoft.com/office/drawing/2014/main" id="{31766339-0222-484D-AD8F-737DFC77C838}"/>
              </a:ext>
            </a:extLst>
          </p:cNvPr>
          <p:cNvSpPr txBox="1"/>
          <p:nvPr/>
        </p:nvSpPr>
        <p:spPr>
          <a:xfrm>
            <a:off x="0" y="1000301"/>
            <a:ext cx="2225695" cy="1938992"/>
          </a:xfrm>
          <a:prstGeom prst="rect">
            <a:avLst/>
          </a:prstGeom>
          <a:noFill/>
        </p:spPr>
        <p:txBody>
          <a:bodyPr wrap="square">
            <a:spAutoFit/>
          </a:bodyPr>
          <a:lstStyle/>
          <a:p>
            <a:pPr defTabSz="685800"/>
            <a:r>
              <a:rPr lang="en-US" sz="1500" dirty="0">
                <a:solidFill>
                  <a:srgbClr val="C00000"/>
                </a:solidFill>
                <a:latin typeface="Times New Roman"/>
              </a:rPr>
              <a:t>The abstract should begin with a brief but precise statement of the problem or issue, followed by a description of the research method and design, the major findings, and the conclusions reached.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845B7-5561-4773-95E2-2E409E0B7FE6}"/>
              </a:ext>
            </a:extLst>
          </p:cNvPr>
          <p:cNvSpPr>
            <a:spLocks noGrp="1"/>
          </p:cNvSpPr>
          <p:nvPr>
            <p:ph idx="1"/>
          </p:nvPr>
        </p:nvSpPr>
        <p:spPr>
          <a:xfrm>
            <a:off x="271892" y="1974182"/>
            <a:ext cx="4171950" cy="3901894"/>
          </a:xfrm>
          <a:solidFill>
            <a:schemeClr val="tx2">
              <a:lumMod val="20000"/>
              <a:lumOff val="80000"/>
            </a:schemeClr>
          </a:solidFill>
        </p:spPr>
        <p:txBody>
          <a:bodyPr>
            <a:noAutofit/>
          </a:bodyPr>
          <a:lstStyle/>
          <a:p>
            <a:pPr marL="0" indent="0">
              <a:buNone/>
            </a:pPr>
            <a:r>
              <a:rPr lang="en-US" sz="1650" dirty="0"/>
              <a:t>Abstract</a:t>
            </a:r>
          </a:p>
          <a:p>
            <a:pPr marL="0" indent="0">
              <a:buNone/>
            </a:pPr>
            <a:r>
              <a:rPr lang="en-US" sz="1650" dirty="0"/>
              <a:t>The societal and ethical impacts of</a:t>
            </a:r>
          </a:p>
          <a:p>
            <a:pPr marL="0" indent="0">
              <a:buNone/>
            </a:pPr>
            <a:r>
              <a:rPr lang="en-US" sz="1650" dirty="0"/>
              <a:t>introducing new technology is often</a:t>
            </a:r>
          </a:p>
          <a:p>
            <a:pPr marL="0" indent="0">
              <a:buNone/>
            </a:pPr>
            <a:r>
              <a:rPr lang="en-US" sz="1650" dirty="0"/>
              <a:t>overlooked. The responsibility falls on the</a:t>
            </a:r>
          </a:p>
          <a:p>
            <a:pPr marL="0" indent="0">
              <a:buNone/>
            </a:pPr>
            <a:r>
              <a:rPr lang="en-US" sz="1650" dirty="0"/>
              <a:t>developers to address and find solutions to</a:t>
            </a:r>
          </a:p>
          <a:p>
            <a:pPr marL="0" indent="0">
              <a:buNone/>
            </a:pPr>
            <a:r>
              <a:rPr lang="en-US" sz="1650" dirty="0"/>
              <a:t>these problems. This paper addresses some</a:t>
            </a:r>
          </a:p>
          <a:p>
            <a:pPr marL="0" indent="0">
              <a:buNone/>
            </a:pPr>
            <a:r>
              <a:rPr lang="en-US" sz="1650" dirty="0"/>
              <a:t>of the issues in engineering an Air Hockey</a:t>
            </a:r>
          </a:p>
          <a:p>
            <a:pPr marL="0" indent="0">
              <a:buNone/>
            </a:pPr>
            <a:r>
              <a:rPr lang="en-US" sz="1650" dirty="0"/>
              <a:t>Robot. Issues regarding societal impact,</a:t>
            </a:r>
          </a:p>
          <a:p>
            <a:pPr marL="0" indent="0">
              <a:buNone/>
            </a:pPr>
            <a:r>
              <a:rPr lang="en-US" sz="1650" dirty="0"/>
              <a:t>privacy issues and global impact on the</a:t>
            </a:r>
          </a:p>
          <a:p>
            <a:pPr marL="0" indent="0">
              <a:buNone/>
            </a:pPr>
            <a:r>
              <a:rPr lang="en-US" sz="1650" dirty="0"/>
              <a:t>environment. It does this and provides</a:t>
            </a:r>
          </a:p>
          <a:p>
            <a:pPr marL="0" indent="0">
              <a:buNone/>
            </a:pPr>
            <a:r>
              <a:rPr lang="en-US" sz="1650" dirty="0"/>
              <a:t>solutions to the problems, some which can</a:t>
            </a:r>
          </a:p>
          <a:p>
            <a:pPr marL="0" indent="0">
              <a:buNone/>
            </a:pPr>
            <a:r>
              <a:rPr lang="en-US" sz="1650" dirty="0"/>
              <a:t>be implemented without altering the design</a:t>
            </a:r>
          </a:p>
        </p:txBody>
      </p:sp>
      <p:sp>
        <p:nvSpPr>
          <p:cNvPr id="7" name="TextBox 6">
            <a:extLst>
              <a:ext uri="{FF2B5EF4-FFF2-40B4-BE49-F238E27FC236}">
                <a16:creationId xmlns:a16="http://schemas.microsoft.com/office/drawing/2014/main" id="{5F269E55-DC15-4051-A916-B62C7F7961D3}"/>
              </a:ext>
            </a:extLst>
          </p:cNvPr>
          <p:cNvSpPr txBox="1"/>
          <p:nvPr/>
        </p:nvSpPr>
        <p:spPr>
          <a:xfrm>
            <a:off x="4842407" y="1810095"/>
            <a:ext cx="4171950" cy="4154984"/>
          </a:xfrm>
          <a:prstGeom prst="rect">
            <a:avLst/>
          </a:prstGeom>
          <a:solidFill>
            <a:schemeClr val="accent2">
              <a:lumMod val="20000"/>
              <a:lumOff val="80000"/>
            </a:schemeClr>
          </a:solidFill>
        </p:spPr>
        <p:txBody>
          <a:bodyPr wrap="square">
            <a:spAutoFit/>
          </a:bodyPr>
          <a:lstStyle/>
          <a:p>
            <a:pPr defTabSz="685800"/>
            <a:r>
              <a:rPr lang="en-US" sz="1650" dirty="0">
                <a:solidFill>
                  <a:prstClr val="black"/>
                </a:solidFill>
                <a:latin typeface="Times New Roman"/>
              </a:rPr>
              <a:t>Abstract – The advancement of technology </a:t>
            </a:r>
          </a:p>
          <a:p>
            <a:pPr defTabSz="685800"/>
            <a:r>
              <a:rPr lang="en-US" sz="1650" dirty="0">
                <a:solidFill>
                  <a:prstClr val="black"/>
                </a:solidFill>
                <a:latin typeface="Times New Roman"/>
              </a:rPr>
              <a:t>affects how we progress as a society. </a:t>
            </a:r>
          </a:p>
          <a:p>
            <a:pPr defTabSz="685800"/>
            <a:r>
              <a:rPr lang="en-US" sz="1650" dirty="0">
                <a:solidFill>
                  <a:prstClr val="black"/>
                </a:solidFill>
                <a:latin typeface="Times New Roman"/>
              </a:rPr>
              <a:t>Solving problems does not stop in the </a:t>
            </a:r>
          </a:p>
          <a:p>
            <a:pPr defTabSz="685800"/>
            <a:r>
              <a:rPr lang="en-US" sz="1650" dirty="0">
                <a:solidFill>
                  <a:prstClr val="black"/>
                </a:solidFill>
                <a:latin typeface="Times New Roman"/>
              </a:rPr>
              <a:t>classroom. Innovation must be extended </a:t>
            </a:r>
          </a:p>
          <a:p>
            <a:pPr defTabSz="685800"/>
            <a:r>
              <a:rPr lang="en-US" sz="1650" dirty="0">
                <a:solidFill>
                  <a:prstClr val="black"/>
                </a:solidFill>
                <a:latin typeface="Times New Roman"/>
              </a:rPr>
              <a:t>past the reach of conventional settings. </a:t>
            </a:r>
          </a:p>
          <a:p>
            <a:pPr defTabSz="685800"/>
            <a:r>
              <a:rPr lang="en-US" sz="1650" dirty="0">
                <a:solidFill>
                  <a:prstClr val="black"/>
                </a:solidFill>
                <a:latin typeface="Times New Roman"/>
              </a:rPr>
              <a:t>Technology must be used to create </a:t>
            </a:r>
          </a:p>
          <a:p>
            <a:pPr defTabSz="685800"/>
            <a:r>
              <a:rPr lang="en-US" sz="1650" dirty="0">
                <a:solidFill>
                  <a:prstClr val="black"/>
                </a:solidFill>
                <a:latin typeface="Times New Roman"/>
              </a:rPr>
              <a:t>meaningful social and ethical impacts. The</a:t>
            </a:r>
          </a:p>
          <a:p>
            <a:pPr defTabSz="685800"/>
            <a:r>
              <a:rPr lang="en-US" sz="1650" dirty="0">
                <a:solidFill>
                  <a:prstClr val="black"/>
                </a:solidFill>
                <a:latin typeface="Times New Roman"/>
              </a:rPr>
              <a:t>lack of gender and racial representation has </a:t>
            </a:r>
          </a:p>
          <a:p>
            <a:pPr defTabSz="685800"/>
            <a:r>
              <a:rPr lang="en-US" sz="1650" dirty="0">
                <a:solidFill>
                  <a:prstClr val="black"/>
                </a:solidFill>
                <a:latin typeface="Times New Roman"/>
              </a:rPr>
              <a:t>limited the amount of influence in our </a:t>
            </a:r>
          </a:p>
          <a:p>
            <a:pPr defTabSz="685800"/>
            <a:r>
              <a:rPr lang="en-US" sz="1650" dirty="0">
                <a:solidFill>
                  <a:prstClr val="black"/>
                </a:solidFill>
                <a:latin typeface="Times New Roman"/>
              </a:rPr>
              <a:t>communities. Closing this gap starts with</a:t>
            </a:r>
          </a:p>
          <a:p>
            <a:pPr defTabSz="685800"/>
            <a:r>
              <a:rPr lang="en-US" sz="1650" dirty="0">
                <a:solidFill>
                  <a:prstClr val="black"/>
                </a:solidFill>
                <a:latin typeface="Times New Roman"/>
              </a:rPr>
              <a:t>exposure at an early age. It is our </a:t>
            </a:r>
          </a:p>
          <a:p>
            <a:pPr defTabSz="685800"/>
            <a:r>
              <a:rPr lang="en-US" sz="1650" dirty="0">
                <a:solidFill>
                  <a:prstClr val="black"/>
                </a:solidFill>
                <a:latin typeface="Times New Roman"/>
              </a:rPr>
              <a:t>responsibility as engineers to show how </a:t>
            </a:r>
          </a:p>
          <a:p>
            <a:pPr defTabSz="685800"/>
            <a:r>
              <a:rPr lang="en-US" sz="1650" dirty="0">
                <a:solidFill>
                  <a:prstClr val="black"/>
                </a:solidFill>
                <a:latin typeface="Times New Roman"/>
              </a:rPr>
              <a:t>entertaining and informative, science and </a:t>
            </a:r>
          </a:p>
          <a:p>
            <a:pPr defTabSz="685800"/>
            <a:r>
              <a:rPr lang="en-US" sz="1650" dirty="0">
                <a:solidFill>
                  <a:prstClr val="black"/>
                </a:solidFill>
                <a:latin typeface="Times New Roman"/>
              </a:rPr>
              <a:t>mathematics can be. Engineers need to be </a:t>
            </a:r>
          </a:p>
          <a:p>
            <a:pPr defTabSz="685800"/>
            <a:r>
              <a:rPr lang="en-US" sz="1650" dirty="0">
                <a:solidFill>
                  <a:prstClr val="black"/>
                </a:solidFill>
                <a:latin typeface="Times New Roman"/>
              </a:rPr>
              <a:t>able to outline how self-development can be </a:t>
            </a:r>
          </a:p>
          <a:p>
            <a:pPr defTabSz="685800"/>
            <a:r>
              <a:rPr lang="en-US" sz="1650" dirty="0">
                <a:solidFill>
                  <a:prstClr val="black"/>
                </a:solidFill>
                <a:latin typeface="Times New Roman"/>
              </a:rPr>
              <a:t>established.</a:t>
            </a:r>
          </a:p>
        </p:txBody>
      </p:sp>
      <p:sp>
        <p:nvSpPr>
          <p:cNvPr id="8" name="TextBox 7">
            <a:extLst>
              <a:ext uri="{FF2B5EF4-FFF2-40B4-BE49-F238E27FC236}">
                <a16:creationId xmlns:a16="http://schemas.microsoft.com/office/drawing/2014/main" id="{5FCD5BEA-FFA7-4E42-9622-0405D4B660D2}"/>
              </a:ext>
            </a:extLst>
          </p:cNvPr>
          <p:cNvSpPr txBox="1"/>
          <p:nvPr/>
        </p:nvSpPr>
        <p:spPr>
          <a:xfrm>
            <a:off x="635312" y="1315853"/>
            <a:ext cx="2151551" cy="461665"/>
          </a:xfrm>
          <a:prstGeom prst="rect">
            <a:avLst/>
          </a:prstGeom>
          <a:noFill/>
        </p:spPr>
        <p:txBody>
          <a:bodyPr wrap="none" rtlCol="0">
            <a:spAutoFit/>
          </a:bodyPr>
          <a:lstStyle/>
          <a:p>
            <a:pPr defTabSz="685800"/>
            <a:r>
              <a:rPr lang="en-US" sz="2400" b="1" dirty="0">
                <a:solidFill>
                  <a:srgbClr val="C00000"/>
                </a:solidFill>
                <a:latin typeface="Times New Roman"/>
              </a:rPr>
              <a:t>Bad Examples </a:t>
            </a:r>
          </a:p>
        </p:txBody>
      </p:sp>
    </p:spTree>
    <p:extLst>
      <p:ext uri="{BB962C8B-B14F-4D97-AF65-F5344CB8AC3E}">
        <p14:creationId xmlns:p14="http://schemas.microsoft.com/office/powerpoint/2010/main" val="3179369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B506D-CDEA-4DBE-AFFF-9811ECE672C8}"/>
              </a:ext>
            </a:extLst>
          </p:cNvPr>
          <p:cNvSpPr>
            <a:spLocks noGrp="1"/>
          </p:cNvSpPr>
          <p:nvPr>
            <p:ph type="ctrTitle"/>
          </p:nvPr>
        </p:nvSpPr>
        <p:spPr>
          <a:xfrm>
            <a:off x="380999" y="918937"/>
            <a:ext cx="7797800" cy="584201"/>
          </a:xfrm>
        </p:spPr>
        <p:txBody>
          <a:bodyPr>
            <a:normAutofit/>
          </a:bodyPr>
          <a:lstStyle/>
          <a:p>
            <a:r>
              <a:rPr lang="en-US" sz="3000" dirty="0"/>
              <a:t>Keywords  or Index Terms </a:t>
            </a:r>
          </a:p>
        </p:txBody>
      </p:sp>
      <p:sp>
        <p:nvSpPr>
          <p:cNvPr id="3" name="Subtitle 2">
            <a:extLst>
              <a:ext uri="{FF2B5EF4-FFF2-40B4-BE49-F238E27FC236}">
                <a16:creationId xmlns:a16="http://schemas.microsoft.com/office/drawing/2014/main" id="{E835DA04-9ED6-4FF1-BC00-128C732ADE30}"/>
              </a:ext>
            </a:extLst>
          </p:cNvPr>
          <p:cNvSpPr>
            <a:spLocks noGrp="1"/>
          </p:cNvSpPr>
          <p:nvPr>
            <p:ph type="subTitle" idx="1"/>
          </p:nvPr>
        </p:nvSpPr>
        <p:spPr>
          <a:xfrm>
            <a:off x="169751" y="1582964"/>
            <a:ext cx="8864600" cy="2942772"/>
          </a:xfrm>
        </p:spPr>
        <p:txBody>
          <a:bodyPr>
            <a:normAutofit/>
          </a:bodyPr>
          <a:lstStyle/>
          <a:p>
            <a:pPr algn="l"/>
            <a:r>
              <a:rPr lang="en-US" sz="2100" dirty="0"/>
              <a:t>Keywords are words that capture the essence of your paper. </a:t>
            </a:r>
          </a:p>
          <a:p>
            <a:pPr algn="l">
              <a:defRPr/>
            </a:pPr>
            <a:endParaRPr lang="en-US" sz="2100" dirty="0">
              <a:solidFill>
                <a:prstClr val="black"/>
              </a:solidFill>
              <a:latin typeface="Times New Roman"/>
            </a:endParaRPr>
          </a:p>
          <a:p>
            <a:pPr algn="l">
              <a:defRPr/>
            </a:pPr>
            <a:r>
              <a:rPr lang="en-US" sz="2100" dirty="0">
                <a:solidFill>
                  <a:prstClr val="black"/>
                </a:solidFill>
                <a:latin typeface="Times New Roman"/>
              </a:rPr>
              <a:t>Identify the most important 2 - 4 words from your research question </a:t>
            </a:r>
            <a:r>
              <a:rPr lang="en-US" sz="2100" dirty="0"/>
              <a:t>or thesis.</a:t>
            </a:r>
          </a:p>
          <a:p>
            <a:pPr algn="l"/>
            <a:endParaRPr lang="en-US" sz="2100" dirty="0"/>
          </a:p>
          <a:p>
            <a:pPr algn="l"/>
            <a:r>
              <a:rPr lang="en-US" sz="2100" dirty="0"/>
              <a:t>Do not use words or phrases from the title as keywords.</a:t>
            </a:r>
          </a:p>
          <a:p>
            <a:pPr algn="l"/>
            <a:endParaRPr lang="en-US" sz="2100" dirty="0"/>
          </a:p>
          <a:p>
            <a:pPr algn="l"/>
            <a:r>
              <a:rPr lang="en-US" sz="2100" dirty="0"/>
              <a:t>Keywords make your paper searchable.</a:t>
            </a:r>
          </a:p>
          <a:p>
            <a:pPr algn="l"/>
            <a:endParaRPr lang="en-US" sz="2100" dirty="0"/>
          </a:p>
        </p:txBody>
      </p:sp>
      <p:pic>
        <p:nvPicPr>
          <p:cNvPr id="5" name="Picture 4">
            <a:extLst>
              <a:ext uri="{FF2B5EF4-FFF2-40B4-BE49-F238E27FC236}">
                <a16:creationId xmlns:a16="http://schemas.microsoft.com/office/drawing/2014/main" id="{D4127712-8600-4EBF-95B4-CDE7BBB252B3}"/>
              </a:ext>
            </a:extLst>
          </p:cNvPr>
          <p:cNvPicPr>
            <a:picLocks noChangeAspect="1"/>
          </p:cNvPicPr>
          <p:nvPr/>
        </p:nvPicPr>
        <p:blipFill>
          <a:blip r:embed="rId2"/>
          <a:stretch>
            <a:fillRect/>
          </a:stretch>
        </p:blipFill>
        <p:spPr>
          <a:xfrm>
            <a:off x="4602051" y="4797984"/>
            <a:ext cx="4238955" cy="477053"/>
          </a:xfrm>
          <a:prstGeom prst="rect">
            <a:avLst/>
          </a:prstGeom>
          <a:solidFill>
            <a:schemeClr val="tx2">
              <a:lumMod val="20000"/>
              <a:lumOff val="80000"/>
            </a:schemeClr>
          </a:solidFill>
          <a:ln w="28575">
            <a:solidFill>
              <a:schemeClr val="accent1">
                <a:lumMod val="75000"/>
              </a:schemeClr>
            </a:solidFill>
          </a:ln>
        </p:spPr>
      </p:pic>
      <p:sp>
        <p:nvSpPr>
          <p:cNvPr id="7" name="TextBox 6">
            <a:extLst>
              <a:ext uri="{FF2B5EF4-FFF2-40B4-BE49-F238E27FC236}">
                <a16:creationId xmlns:a16="http://schemas.microsoft.com/office/drawing/2014/main" id="{B13AA514-3EAA-4179-8406-783A5EEEC777}"/>
              </a:ext>
            </a:extLst>
          </p:cNvPr>
          <p:cNvSpPr txBox="1"/>
          <p:nvPr/>
        </p:nvSpPr>
        <p:spPr>
          <a:xfrm>
            <a:off x="337457" y="4927952"/>
            <a:ext cx="4068420" cy="369332"/>
          </a:xfrm>
          <a:prstGeom prst="rect">
            <a:avLst/>
          </a:prstGeom>
          <a:solidFill>
            <a:schemeClr val="accent1">
              <a:lumMod val="20000"/>
              <a:lumOff val="80000"/>
            </a:schemeClr>
          </a:solidFill>
        </p:spPr>
        <p:txBody>
          <a:bodyPr wrap="square">
            <a:spAutoFit/>
          </a:bodyPr>
          <a:lstStyle/>
          <a:p>
            <a:pPr defTabSz="685800"/>
            <a:r>
              <a:rPr lang="en-US" i="1" dirty="0">
                <a:solidFill>
                  <a:prstClr val="black"/>
                </a:solidFill>
                <a:latin typeface="Times New Roman"/>
              </a:rPr>
              <a:t>Keywords – technology, education, STEM</a:t>
            </a:r>
          </a:p>
        </p:txBody>
      </p:sp>
      <p:sp>
        <p:nvSpPr>
          <p:cNvPr id="11" name="TextBox 10">
            <a:extLst>
              <a:ext uri="{FF2B5EF4-FFF2-40B4-BE49-F238E27FC236}">
                <a16:creationId xmlns:a16="http://schemas.microsoft.com/office/drawing/2014/main" id="{F56CAE95-0D67-4565-98E5-9408F90CF66B}"/>
              </a:ext>
            </a:extLst>
          </p:cNvPr>
          <p:cNvSpPr txBox="1"/>
          <p:nvPr/>
        </p:nvSpPr>
        <p:spPr>
          <a:xfrm>
            <a:off x="337457" y="5368305"/>
            <a:ext cx="7278914" cy="323165"/>
          </a:xfrm>
          <a:prstGeom prst="rect">
            <a:avLst/>
          </a:prstGeom>
          <a:solidFill>
            <a:schemeClr val="accent2">
              <a:lumMod val="20000"/>
              <a:lumOff val="80000"/>
            </a:schemeClr>
          </a:solidFill>
        </p:spPr>
        <p:txBody>
          <a:bodyPr wrap="square">
            <a:spAutoFit/>
          </a:bodyPr>
          <a:lstStyle/>
          <a:p>
            <a:pPr defTabSz="685800"/>
            <a:r>
              <a:rPr lang="en-US" sz="1500" dirty="0">
                <a:solidFill>
                  <a:prstClr val="black"/>
                </a:solidFill>
                <a:latin typeface="Times New Roman"/>
              </a:rPr>
              <a:t>Keywords— hoverbike, public safety, privacy, clean energy, environmental impact</a:t>
            </a:r>
          </a:p>
        </p:txBody>
      </p:sp>
      <p:cxnSp>
        <p:nvCxnSpPr>
          <p:cNvPr id="13" name="Straight Connector 12">
            <a:extLst>
              <a:ext uri="{FF2B5EF4-FFF2-40B4-BE49-F238E27FC236}">
                <a16:creationId xmlns:a16="http://schemas.microsoft.com/office/drawing/2014/main" id="{199C8DA8-A82A-4157-BC05-73C86FF83713}"/>
              </a:ext>
            </a:extLst>
          </p:cNvPr>
          <p:cNvCxnSpPr/>
          <p:nvPr/>
        </p:nvCxnSpPr>
        <p:spPr>
          <a:xfrm flipV="1">
            <a:off x="169752" y="4333156"/>
            <a:ext cx="8829106" cy="29029"/>
          </a:xfrm>
          <a:prstGeom prst="line">
            <a:avLst/>
          </a:prstGeom>
          <a:ln w="2540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A54BA2B-C6A9-4816-80F5-2A91CCCC7F67}"/>
              </a:ext>
            </a:extLst>
          </p:cNvPr>
          <p:cNvSpPr txBox="1"/>
          <p:nvPr/>
        </p:nvSpPr>
        <p:spPr>
          <a:xfrm>
            <a:off x="169751" y="4399664"/>
            <a:ext cx="4136710" cy="369332"/>
          </a:xfrm>
          <a:prstGeom prst="rect">
            <a:avLst/>
          </a:prstGeom>
          <a:solidFill>
            <a:srgbClr val="EFFDCD"/>
          </a:solidFill>
        </p:spPr>
        <p:txBody>
          <a:bodyPr wrap="none" rtlCol="0">
            <a:spAutoFit/>
          </a:bodyPr>
          <a:lstStyle/>
          <a:p>
            <a:pPr defTabSz="685800"/>
            <a:r>
              <a:rPr lang="en-US" b="1" dirty="0">
                <a:solidFill>
                  <a:prstClr val="black"/>
                </a:solidFill>
                <a:latin typeface="Times New Roman"/>
              </a:rPr>
              <a:t>Some bad examples from the past years </a:t>
            </a:r>
          </a:p>
        </p:txBody>
      </p:sp>
    </p:spTree>
    <p:extLst>
      <p:ext uri="{BB962C8B-B14F-4D97-AF65-F5344CB8AC3E}">
        <p14:creationId xmlns:p14="http://schemas.microsoft.com/office/powerpoint/2010/main" val="10847426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111" y="1449532"/>
            <a:ext cx="9059779" cy="4551218"/>
          </a:xfrm>
        </p:spPr>
        <p:txBody>
          <a:bodyPr>
            <a:normAutofit lnSpcReduction="10000"/>
          </a:bodyPr>
          <a:lstStyle/>
          <a:p>
            <a:pPr marL="0" indent="0">
              <a:buNone/>
            </a:pPr>
            <a:r>
              <a:rPr lang="en-US" sz="2700" b="1" dirty="0"/>
              <a:t>1. It introduces the </a:t>
            </a:r>
            <a:r>
              <a:rPr lang="en-US" sz="2700" b="1" dirty="0">
                <a:solidFill>
                  <a:srgbClr val="C00000"/>
                </a:solidFill>
              </a:rPr>
              <a:t>problem</a:t>
            </a:r>
            <a:r>
              <a:rPr lang="en-US" sz="2700" b="1" dirty="0"/>
              <a:t> and </a:t>
            </a:r>
            <a:r>
              <a:rPr lang="en-US" sz="2700" b="1" dirty="0">
                <a:solidFill>
                  <a:srgbClr val="C00000"/>
                </a:solidFill>
              </a:rPr>
              <a:t>motivation</a:t>
            </a:r>
            <a:r>
              <a:rPr lang="en-US" sz="2700" b="1" dirty="0"/>
              <a:t> for the study.</a:t>
            </a:r>
          </a:p>
          <a:p>
            <a:endParaRPr lang="en-US" sz="2700" dirty="0"/>
          </a:p>
          <a:p>
            <a:pPr lvl="2"/>
            <a:r>
              <a:rPr lang="en-US" sz="2700" dirty="0"/>
              <a:t>Tell the reader what the </a:t>
            </a:r>
            <a:r>
              <a:rPr lang="en-US" sz="2700" dirty="0">
                <a:solidFill>
                  <a:srgbClr val="C00000"/>
                </a:solidFill>
              </a:rPr>
              <a:t>topic</a:t>
            </a:r>
            <a:r>
              <a:rPr lang="en-US" sz="2700" dirty="0"/>
              <a:t> of the report is.</a:t>
            </a:r>
          </a:p>
          <a:p>
            <a:pPr lvl="2"/>
            <a:r>
              <a:rPr lang="en-US" sz="2700" dirty="0"/>
              <a:t>Explain why this topic is </a:t>
            </a:r>
            <a:r>
              <a:rPr lang="en-US" sz="2700" dirty="0">
                <a:solidFill>
                  <a:srgbClr val="C00000"/>
                </a:solidFill>
              </a:rPr>
              <a:t>important</a:t>
            </a:r>
            <a:r>
              <a:rPr lang="en-US" sz="2700" dirty="0"/>
              <a:t> or relevant.</a:t>
            </a:r>
          </a:p>
          <a:p>
            <a:pPr marL="0" indent="0">
              <a:buNone/>
            </a:pPr>
            <a:r>
              <a:rPr lang="en-US" sz="2700" b="1" dirty="0"/>
              <a:t>2</a:t>
            </a:r>
            <a:r>
              <a:rPr lang="en-US" sz="2700" dirty="0"/>
              <a:t>. </a:t>
            </a:r>
            <a:r>
              <a:rPr lang="en-US" sz="2700" b="1" dirty="0"/>
              <a:t>It provides a brief summary of </a:t>
            </a:r>
            <a:r>
              <a:rPr lang="en-US" sz="2700" b="1" dirty="0">
                <a:solidFill>
                  <a:srgbClr val="C00000"/>
                </a:solidFill>
              </a:rPr>
              <a:t>previous</a:t>
            </a:r>
            <a:r>
              <a:rPr lang="en-US" sz="2700" b="1" dirty="0"/>
              <a:t> engineering 	and/or scientific </a:t>
            </a:r>
            <a:r>
              <a:rPr lang="en-US" sz="2700" b="1" dirty="0">
                <a:solidFill>
                  <a:srgbClr val="C00000"/>
                </a:solidFill>
              </a:rPr>
              <a:t>work</a:t>
            </a:r>
            <a:r>
              <a:rPr lang="en-US" sz="2700" b="1" dirty="0"/>
              <a:t> on the topic</a:t>
            </a:r>
            <a:r>
              <a:rPr lang="en-US" sz="2700" dirty="0"/>
              <a:t>.</a:t>
            </a:r>
          </a:p>
          <a:p>
            <a:endParaRPr lang="en-US" sz="2700" dirty="0"/>
          </a:p>
          <a:p>
            <a:pPr marL="0" indent="0">
              <a:buNone/>
            </a:pPr>
            <a:r>
              <a:rPr lang="en-US" sz="2700" b="1" dirty="0"/>
              <a:t>3</a:t>
            </a:r>
            <a:r>
              <a:rPr lang="en-US" sz="2700" dirty="0"/>
              <a:t>. </a:t>
            </a:r>
            <a:r>
              <a:rPr lang="en-US" sz="2700" b="1" dirty="0"/>
              <a:t>It outlines the purpose and specific </a:t>
            </a:r>
            <a:r>
              <a:rPr lang="en-US" sz="2700" b="1" dirty="0">
                <a:solidFill>
                  <a:srgbClr val="C00000"/>
                </a:solidFill>
              </a:rPr>
              <a:t>objectives</a:t>
            </a:r>
            <a:r>
              <a:rPr lang="en-US" sz="2700" b="1" dirty="0"/>
              <a:t> of the 	</a:t>
            </a:r>
            <a:r>
              <a:rPr lang="en-US" sz="2700" b="1" dirty="0">
                <a:solidFill>
                  <a:srgbClr val="C00000"/>
                </a:solidFill>
              </a:rPr>
              <a:t>project</a:t>
            </a:r>
            <a:r>
              <a:rPr lang="en-US" sz="2700" b="1" dirty="0"/>
              <a:t>.</a:t>
            </a:r>
          </a:p>
          <a:p>
            <a:endParaRPr lang="en-US" sz="2700" dirty="0"/>
          </a:p>
          <a:p>
            <a:pPr marL="0" indent="0">
              <a:buNone/>
            </a:pPr>
            <a:r>
              <a:rPr lang="en-US" sz="2700" b="1" dirty="0"/>
              <a:t>4. It provides a ‘</a:t>
            </a:r>
            <a:r>
              <a:rPr lang="en-US" sz="2700" b="1" dirty="0">
                <a:solidFill>
                  <a:srgbClr val="C00000"/>
                </a:solidFill>
              </a:rPr>
              <a:t>road map</a:t>
            </a:r>
            <a:r>
              <a:rPr lang="en-US" sz="2700" b="1" dirty="0"/>
              <a:t>’ for the rest of the report.</a:t>
            </a:r>
          </a:p>
          <a:p>
            <a:endParaRPr lang="en-US" sz="2700" dirty="0"/>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Introduction</a:t>
            </a:r>
          </a:p>
        </p:txBody>
      </p:sp>
    </p:spTree>
    <p:extLst>
      <p:ext uri="{BB962C8B-B14F-4D97-AF65-F5344CB8AC3E}">
        <p14:creationId xmlns:p14="http://schemas.microsoft.com/office/powerpoint/2010/main" val="33134270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564" y="2242104"/>
            <a:ext cx="2500615" cy="481264"/>
          </a:xfrm>
        </p:spPr>
        <p:txBody>
          <a:bodyPr>
            <a:noAutofit/>
          </a:bodyPr>
          <a:lstStyle/>
          <a:p>
            <a:r>
              <a:rPr lang="en-US" sz="3000" b="1" dirty="0"/>
              <a:t>Introduction</a:t>
            </a:r>
          </a:p>
        </p:txBody>
      </p:sp>
      <p:pic>
        <p:nvPicPr>
          <p:cNvPr id="4" name="Picture 3"/>
          <p:cNvPicPr>
            <a:picLocks noChangeAspect="1"/>
          </p:cNvPicPr>
          <p:nvPr/>
        </p:nvPicPr>
        <p:blipFill>
          <a:blip r:embed="rId2" cstate="print"/>
          <a:stretch>
            <a:fillRect/>
          </a:stretch>
        </p:blipFill>
        <p:spPr>
          <a:xfrm flipH="1">
            <a:off x="531342" y="2723367"/>
            <a:ext cx="8095300" cy="1991636"/>
          </a:xfrm>
          <a:prstGeom prst="rect">
            <a:avLst/>
          </a:prstGeom>
        </p:spPr>
      </p:pic>
      <p:sp>
        <p:nvSpPr>
          <p:cNvPr id="5" name="Content Placeholder 2"/>
          <p:cNvSpPr txBox="1">
            <a:spLocks/>
          </p:cNvSpPr>
          <p:nvPr/>
        </p:nvSpPr>
        <p:spPr>
          <a:xfrm>
            <a:off x="5626716" y="2242104"/>
            <a:ext cx="1748642" cy="48126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pPr>
            <a:r>
              <a:rPr lang="en-US" sz="3000" b="1" dirty="0">
                <a:solidFill>
                  <a:prstClr val="black"/>
                </a:solidFill>
                <a:latin typeface="Times New Roman"/>
              </a:rPr>
              <a:t>Body</a:t>
            </a:r>
          </a:p>
        </p:txBody>
      </p:sp>
      <p:sp>
        <p:nvSpPr>
          <p:cNvPr id="6" name="Rectangle 5"/>
          <p:cNvSpPr/>
          <p:nvPr/>
        </p:nvSpPr>
        <p:spPr>
          <a:xfrm>
            <a:off x="974558" y="857250"/>
            <a:ext cx="7026442" cy="1107996"/>
          </a:xfrm>
          <a:prstGeom prst="rect">
            <a:avLst/>
          </a:prstGeom>
        </p:spPr>
        <p:txBody>
          <a:bodyPr wrap="square">
            <a:spAutoFit/>
          </a:bodyPr>
          <a:lstStyle/>
          <a:p>
            <a:pPr algn="ctr" defTabSz="685800"/>
            <a:r>
              <a:rPr lang="en-US" sz="3300" b="1" dirty="0">
                <a:solidFill>
                  <a:srgbClr val="C00000"/>
                </a:solidFill>
                <a:latin typeface="Times New Roman"/>
              </a:rPr>
              <a:t>The introduction defines the scope and limitations of the work</a:t>
            </a:r>
          </a:p>
        </p:txBody>
      </p:sp>
      <p:sp>
        <p:nvSpPr>
          <p:cNvPr id="7" name="Rectangle 6"/>
          <p:cNvSpPr/>
          <p:nvPr/>
        </p:nvSpPr>
        <p:spPr>
          <a:xfrm>
            <a:off x="418058" y="4976975"/>
            <a:ext cx="8321868" cy="1015663"/>
          </a:xfrm>
          <a:prstGeom prst="rect">
            <a:avLst/>
          </a:prstGeom>
        </p:spPr>
        <p:txBody>
          <a:bodyPr wrap="square">
            <a:spAutoFit/>
          </a:bodyPr>
          <a:lstStyle/>
          <a:p>
            <a:pPr algn="ctr" defTabSz="685800"/>
            <a:r>
              <a:rPr lang="en-US" sz="3000" b="1" dirty="0">
                <a:solidFill>
                  <a:srgbClr val="70AD47">
                    <a:lumMod val="75000"/>
                  </a:srgbClr>
                </a:solidFill>
                <a:latin typeface="Times New Roman"/>
              </a:rPr>
              <a:t>A strong introduction tells readers why the research is important</a:t>
            </a:r>
          </a:p>
        </p:txBody>
      </p:sp>
    </p:spTree>
    <p:extLst>
      <p:ext uri="{BB962C8B-B14F-4D97-AF65-F5344CB8AC3E}">
        <p14:creationId xmlns:p14="http://schemas.microsoft.com/office/powerpoint/2010/main" val="33372223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265469"/>
          </a:xfrm>
        </p:spPr>
        <p:txBody>
          <a:bodyPr>
            <a:normAutofit fontScale="92500"/>
          </a:bodyPr>
          <a:lstStyle/>
          <a:p>
            <a:pPr>
              <a:lnSpc>
                <a:spcPct val="150000"/>
              </a:lnSpc>
            </a:pPr>
            <a:r>
              <a:rPr lang="en-US" sz="2700" b="1" dirty="0"/>
              <a:t>Like in any good Hollywood movie, the first task of the </a:t>
            </a:r>
            <a:r>
              <a:rPr lang="en-US" sz="2700" b="1" dirty="0">
                <a:solidFill>
                  <a:srgbClr val="C00000"/>
                </a:solidFill>
              </a:rPr>
              <a:t>introduction is to set the scene</a:t>
            </a:r>
            <a:r>
              <a:rPr lang="en-US" sz="2700" b="1" dirty="0"/>
              <a:t>, giving your paper a context and seeing how it fits in with previous research in the field.</a:t>
            </a:r>
          </a:p>
          <a:p>
            <a:pPr>
              <a:lnSpc>
                <a:spcPct val="150000"/>
              </a:lnSpc>
            </a:pPr>
            <a:endParaRPr lang="en-US" sz="2700" b="1" dirty="0"/>
          </a:p>
          <a:p>
            <a:pPr>
              <a:lnSpc>
                <a:spcPct val="150000"/>
              </a:lnSpc>
            </a:pPr>
            <a:r>
              <a:rPr lang="en-US" sz="2700" b="1" dirty="0"/>
              <a:t>The </a:t>
            </a:r>
            <a:r>
              <a:rPr lang="en-US" sz="2700" b="1" dirty="0">
                <a:solidFill>
                  <a:srgbClr val="C00000"/>
                </a:solidFill>
              </a:rPr>
              <a:t>beginning</a:t>
            </a:r>
            <a:r>
              <a:rPr lang="en-US" sz="2700" b="1" dirty="0"/>
              <a:t> of the introduction should quickly </a:t>
            </a:r>
            <a:r>
              <a:rPr lang="en-US" sz="2700" b="1" dirty="0">
                <a:solidFill>
                  <a:srgbClr val="C00000"/>
                </a:solidFill>
              </a:rPr>
              <a:t>explain</a:t>
            </a:r>
            <a:r>
              <a:rPr lang="en-US" sz="2700" b="1" dirty="0"/>
              <a:t> the </a:t>
            </a:r>
            <a:r>
              <a:rPr lang="en-US" sz="2700" b="1" dirty="0">
                <a:solidFill>
                  <a:srgbClr val="C00000"/>
                </a:solidFill>
              </a:rPr>
              <a:t>importance</a:t>
            </a:r>
            <a:r>
              <a:rPr lang="en-US" sz="2700" b="1" dirty="0"/>
              <a:t> of the Experiment, Study, Design, …being reported. </a:t>
            </a:r>
          </a:p>
          <a:p>
            <a:pPr>
              <a:lnSpc>
                <a:spcPct val="150000"/>
              </a:lnSpc>
            </a:pPr>
            <a:endParaRPr lang="en-US" sz="2700" b="1" i="1" dirty="0">
              <a:solidFill>
                <a:srgbClr val="002060"/>
              </a:solidFill>
            </a:endParaRP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Introduction</a:t>
            </a:r>
          </a:p>
        </p:txBody>
      </p:sp>
    </p:spTree>
    <p:extLst>
      <p:ext uri="{BB962C8B-B14F-4D97-AF65-F5344CB8AC3E}">
        <p14:creationId xmlns:p14="http://schemas.microsoft.com/office/powerpoint/2010/main" val="32645506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410" y="1410703"/>
            <a:ext cx="8843211" cy="4590047"/>
          </a:xfrm>
        </p:spPr>
        <p:txBody>
          <a:bodyPr>
            <a:normAutofit lnSpcReduction="10000"/>
          </a:bodyPr>
          <a:lstStyle/>
          <a:p>
            <a:pPr>
              <a:lnSpc>
                <a:spcPct val="120000"/>
              </a:lnSpc>
            </a:pPr>
            <a:r>
              <a:rPr lang="en-US" sz="2400" b="1" dirty="0"/>
              <a:t> Statement of the </a:t>
            </a:r>
            <a:r>
              <a:rPr lang="en-US" sz="2400" b="1" dirty="0">
                <a:solidFill>
                  <a:srgbClr val="C00000"/>
                </a:solidFill>
              </a:rPr>
              <a:t>problem/s</a:t>
            </a:r>
          </a:p>
          <a:p>
            <a:pPr>
              <a:lnSpc>
                <a:spcPct val="120000"/>
              </a:lnSpc>
            </a:pPr>
            <a:r>
              <a:rPr lang="en-US" sz="2400" b="1" dirty="0"/>
              <a:t> Description of </a:t>
            </a:r>
            <a:r>
              <a:rPr lang="en-US" sz="2400" b="1" dirty="0">
                <a:solidFill>
                  <a:srgbClr val="C00000"/>
                </a:solidFill>
              </a:rPr>
              <a:t>main aim/s</a:t>
            </a:r>
            <a:r>
              <a:rPr lang="en-US" sz="2400" b="1" dirty="0"/>
              <a:t>, objective/s and scope (the 	parameters) of the report</a:t>
            </a:r>
          </a:p>
          <a:p>
            <a:pPr>
              <a:lnSpc>
                <a:spcPct val="120000"/>
              </a:lnSpc>
            </a:pPr>
            <a:r>
              <a:rPr lang="en-US" sz="2400" b="1" dirty="0"/>
              <a:t> Review of </a:t>
            </a:r>
            <a:r>
              <a:rPr lang="en-US" sz="2400" b="1" dirty="0">
                <a:solidFill>
                  <a:srgbClr val="C00000"/>
                </a:solidFill>
              </a:rPr>
              <a:t>previous work</a:t>
            </a:r>
            <a:r>
              <a:rPr lang="en-US" sz="2400" b="1" dirty="0"/>
              <a:t>/research in this area and identification 	of the importance of this research  </a:t>
            </a:r>
          </a:p>
          <a:p>
            <a:pPr>
              <a:lnSpc>
                <a:spcPct val="120000"/>
              </a:lnSpc>
            </a:pPr>
            <a:r>
              <a:rPr lang="en-US" sz="2400" b="1" dirty="0"/>
              <a:t>Explanations of </a:t>
            </a:r>
            <a:r>
              <a:rPr lang="en-US" sz="2400" b="1" dirty="0">
                <a:solidFill>
                  <a:srgbClr val="C00000"/>
                </a:solidFill>
              </a:rPr>
              <a:t>terminology</a:t>
            </a:r>
            <a:r>
              <a:rPr lang="en-US" sz="2400" b="1" dirty="0"/>
              <a:t> if necessary;</a:t>
            </a:r>
          </a:p>
          <a:p>
            <a:pPr>
              <a:lnSpc>
                <a:spcPct val="120000"/>
              </a:lnSpc>
            </a:pPr>
            <a:r>
              <a:rPr lang="en-US" sz="2400" b="1" dirty="0"/>
              <a:t> </a:t>
            </a:r>
            <a:r>
              <a:rPr lang="en-US" sz="2400" b="1" dirty="0">
                <a:solidFill>
                  <a:srgbClr val="C00000"/>
                </a:solidFill>
              </a:rPr>
              <a:t>Method</a:t>
            </a:r>
            <a:r>
              <a:rPr lang="en-US" sz="2400" b="1" dirty="0"/>
              <a:t>(s) of approach;</a:t>
            </a:r>
          </a:p>
          <a:p>
            <a:pPr>
              <a:lnSpc>
                <a:spcPct val="120000"/>
              </a:lnSpc>
            </a:pPr>
            <a:r>
              <a:rPr lang="en-US" sz="2400" b="1" dirty="0"/>
              <a:t> Indications of </a:t>
            </a:r>
            <a:r>
              <a:rPr lang="en-US" sz="2400" b="1" dirty="0">
                <a:solidFill>
                  <a:srgbClr val="C00000"/>
                </a:solidFill>
              </a:rPr>
              <a:t>scope</a:t>
            </a:r>
            <a:r>
              <a:rPr lang="en-US" sz="2400" b="1" dirty="0"/>
              <a:t> and limitations of the study;</a:t>
            </a:r>
          </a:p>
          <a:p>
            <a:pPr>
              <a:lnSpc>
                <a:spcPct val="120000"/>
              </a:lnSpc>
            </a:pPr>
            <a:r>
              <a:rPr lang="en-US" sz="2400" b="1" dirty="0"/>
              <a:t> Outline of </a:t>
            </a:r>
            <a:r>
              <a:rPr lang="en-US" sz="2400" b="1" dirty="0">
                <a:solidFill>
                  <a:srgbClr val="C00000"/>
                </a:solidFill>
              </a:rPr>
              <a:t>material</a:t>
            </a:r>
            <a:r>
              <a:rPr lang="en-US" sz="2400" b="1" dirty="0"/>
              <a:t> presented in rest of report.</a:t>
            </a:r>
          </a:p>
        </p:txBody>
      </p:sp>
      <p:sp>
        <p:nvSpPr>
          <p:cNvPr id="4" name="Title 1"/>
          <p:cNvSpPr txBox="1">
            <a:spLocks/>
          </p:cNvSpPr>
          <p:nvPr/>
        </p:nvSpPr>
        <p:spPr>
          <a:xfrm>
            <a:off x="0" y="857251"/>
            <a:ext cx="9144000" cy="55345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000" b="1" dirty="0">
                <a:solidFill>
                  <a:prstClr val="black"/>
                </a:solidFill>
                <a:latin typeface="Times New Roman" panose="02020603050405020304"/>
              </a:rPr>
              <a:t>Introduction in a Technical Report</a:t>
            </a:r>
          </a:p>
        </p:txBody>
      </p:sp>
    </p:spTree>
    <p:extLst>
      <p:ext uri="{BB962C8B-B14F-4D97-AF65-F5344CB8AC3E}">
        <p14:creationId xmlns:p14="http://schemas.microsoft.com/office/powerpoint/2010/main" val="3767558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DB0489-7EC3-BC4E-0A80-B14878938114}"/>
              </a:ext>
            </a:extLst>
          </p:cNvPr>
          <p:cNvSpPr txBox="1"/>
          <p:nvPr/>
        </p:nvSpPr>
        <p:spPr>
          <a:xfrm>
            <a:off x="0" y="0"/>
            <a:ext cx="9220200" cy="6986528"/>
          </a:xfrm>
          <a:prstGeom prst="rect">
            <a:avLst/>
          </a:prstGeom>
          <a:noFill/>
        </p:spPr>
        <p:txBody>
          <a:bodyPr wrap="square">
            <a:spAutoFit/>
          </a:bodyPr>
          <a:lstStyle/>
          <a:p>
            <a:r>
              <a:rPr lang="en-US" sz="1600" b="1" dirty="0"/>
              <a:t>Deep Learning for Real-Time Edge Detection  (</a:t>
            </a:r>
            <a:r>
              <a:rPr lang="en-US" sz="1600" b="1" i="1" dirty="0"/>
              <a:t>IEEE Publications</a:t>
            </a:r>
            <a:r>
              <a:rPr lang="en-US" sz="1600" b="1" dirty="0"/>
              <a:t>)</a:t>
            </a:r>
          </a:p>
          <a:p>
            <a:endParaRPr lang="en-US" sz="1600" b="1" dirty="0"/>
          </a:p>
          <a:p>
            <a:r>
              <a:rPr lang="en-US" sz="1600" b="1" dirty="0">
                <a:solidFill>
                  <a:srgbClr val="C00000"/>
                </a:solidFill>
              </a:rPr>
              <a:t>Broad Context &amp; Importance     </a:t>
            </a:r>
          </a:p>
          <a:p>
            <a:r>
              <a:rPr lang="en-US" sz="1600" dirty="0"/>
              <a:t>In recent years, the proliferation of Internet of Things (IoT) devices has led to an unprecedented demand for efficient computer vision algorithms. Edge detection, a fundamental task in image processing, serves as the primary building block for higher-level applications such as object recognition, autonomous navigation, and medical imaging [1]. The ability to extract meaningful structural information while discarding redundant data is critical for reducing the computational load on resource-constrained devices.</a:t>
            </a:r>
          </a:p>
          <a:p>
            <a:endParaRPr lang="en-US" sz="1600" dirty="0"/>
          </a:p>
          <a:p>
            <a:r>
              <a:rPr lang="en-US" sz="1600" b="1" dirty="0">
                <a:solidFill>
                  <a:srgbClr val="C00000"/>
                </a:solidFill>
              </a:rPr>
              <a:t>State of the Art &amp; Limitations </a:t>
            </a:r>
          </a:p>
          <a:p>
            <a:r>
              <a:rPr lang="en-US" sz="1600" dirty="0"/>
              <a:t>Traditional edge detection methods, such as the Canny [2] and Sobel [3] operators, rely on handcrafted features and gradient-based calculations. While these methods are computationally inexpensive, they often struggle with noisy environments and fail to capture complex semantic boundaries. More recently, convolutional neural networks (CNNs) have set new benchmarks in accuracy [4], [5]. However, these deep models typically require significant memory and high-end GPU support, making them impractical for real-time deployment on mobile or edge platforms [6]. </a:t>
            </a:r>
          </a:p>
          <a:p>
            <a:endParaRPr lang="en-US" sz="1600" dirty="0"/>
          </a:p>
          <a:p>
            <a:r>
              <a:rPr lang="en-US" sz="1600" b="1" dirty="0">
                <a:solidFill>
                  <a:srgbClr val="C00000"/>
                </a:solidFill>
              </a:rPr>
              <a:t>The Research Gap</a:t>
            </a:r>
          </a:p>
          <a:p>
            <a:r>
              <a:rPr lang="en-US" sz="1600" dirty="0"/>
              <a:t>Despite these advancements, there remains a significant trade-off between detection accuracy and inference speed. Current state-of-the-art models like HED (Holistically-Nested Edge Detection) [7] involve millions of parameters, resulting in high latency. There is a clear need for a lightweight architecture that preserves the hierarchical learning capabilities of deep networks without the associated hardware overhead.[4] The Proposed </a:t>
            </a:r>
          </a:p>
          <a:p>
            <a:endParaRPr lang="en-US" sz="1600" dirty="0"/>
          </a:p>
          <a:p>
            <a:r>
              <a:rPr lang="en-US" sz="1600" b="1" dirty="0">
                <a:solidFill>
                  <a:srgbClr val="C00000"/>
                </a:solidFill>
              </a:rPr>
              <a:t>Solution &amp; Contributions</a:t>
            </a:r>
          </a:p>
          <a:p>
            <a:r>
              <a:rPr lang="en-US" sz="1600" dirty="0"/>
              <a:t>In this paper, we propose a novel "Light-Edge" architecture designed specifically for real-time performance on edge devices. Our approach utilizes depth-wise separable convolutions to drastically reduce the parameter count while maintaining edge precision. The primary contributions of this work are as follows:</a:t>
            </a:r>
          </a:p>
        </p:txBody>
      </p:sp>
    </p:spTree>
    <p:extLst>
      <p:ext uri="{BB962C8B-B14F-4D97-AF65-F5344CB8AC3E}">
        <p14:creationId xmlns:p14="http://schemas.microsoft.com/office/powerpoint/2010/main" val="6557322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734914-32F2-467A-AB77-2A4CFFC87B85}"/>
              </a:ext>
            </a:extLst>
          </p:cNvPr>
          <p:cNvPicPr>
            <a:picLocks noChangeAspect="1"/>
          </p:cNvPicPr>
          <p:nvPr/>
        </p:nvPicPr>
        <p:blipFill>
          <a:blip r:embed="rId2"/>
          <a:stretch>
            <a:fillRect/>
          </a:stretch>
        </p:blipFill>
        <p:spPr>
          <a:xfrm>
            <a:off x="0" y="974847"/>
            <a:ext cx="3455428" cy="3803068"/>
          </a:xfrm>
          <a:prstGeom prst="rect">
            <a:avLst/>
          </a:prstGeom>
        </p:spPr>
      </p:pic>
      <p:pic>
        <p:nvPicPr>
          <p:cNvPr id="6" name="Picture 5">
            <a:extLst>
              <a:ext uri="{FF2B5EF4-FFF2-40B4-BE49-F238E27FC236}">
                <a16:creationId xmlns:a16="http://schemas.microsoft.com/office/drawing/2014/main" id="{8B1DD092-63F8-474B-B530-5619E65FD567}"/>
              </a:ext>
            </a:extLst>
          </p:cNvPr>
          <p:cNvPicPr>
            <a:picLocks noChangeAspect="1"/>
          </p:cNvPicPr>
          <p:nvPr/>
        </p:nvPicPr>
        <p:blipFill>
          <a:blip r:embed="rId3"/>
          <a:stretch>
            <a:fillRect/>
          </a:stretch>
        </p:blipFill>
        <p:spPr>
          <a:xfrm>
            <a:off x="115917" y="4777914"/>
            <a:ext cx="3305299" cy="367256"/>
          </a:xfrm>
          <a:prstGeom prst="rect">
            <a:avLst/>
          </a:prstGeom>
        </p:spPr>
      </p:pic>
      <p:pic>
        <p:nvPicPr>
          <p:cNvPr id="8" name="Picture 7">
            <a:extLst>
              <a:ext uri="{FF2B5EF4-FFF2-40B4-BE49-F238E27FC236}">
                <a16:creationId xmlns:a16="http://schemas.microsoft.com/office/drawing/2014/main" id="{7ECE6B76-0A54-4CEF-B7BE-0FAC489259A5}"/>
              </a:ext>
            </a:extLst>
          </p:cNvPr>
          <p:cNvPicPr>
            <a:picLocks noChangeAspect="1"/>
          </p:cNvPicPr>
          <p:nvPr/>
        </p:nvPicPr>
        <p:blipFill>
          <a:blip r:embed="rId4"/>
          <a:stretch>
            <a:fillRect/>
          </a:stretch>
        </p:blipFill>
        <p:spPr>
          <a:xfrm>
            <a:off x="3968112" y="1021925"/>
            <a:ext cx="4929549" cy="2328104"/>
          </a:xfrm>
          <a:prstGeom prst="rect">
            <a:avLst/>
          </a:prstGeom>
        </p:spPr>
      </p:pic>
      <p:pic>
        <p:nvPicPr>
          <p:cNvPr id="10" name="Picture 9">
            <a:extLst>
              <a:ext uri="{FF2B5EF4-FFF2-40B4-BE49-F238E27FC236}">
                <a16:creationId xmlns:a16="http://schemas.microsoft.com/office/drawing/2014/main" id="{20A57EF8-24A0-4743-9D23-04B3C4A5B353}"/>
              </a:ext>
            </a:extLst>
          </p:cNvPr>
          <p:cNvPicPr>
            <a:picLocks noChangeAspect="1"/>
          </p:cNvPicPr>
          <p:nvPr/>
        </p:nvPicPr>
        <p:blipFill>
          <a:blip r:embed="rId5"/>
          <a:stretch>
            <a:fillRect/>
          </a:stretch>
        </p:blipFill>
        <p:spPr>
          <a:xfrm>
            <a:off x="4133616" y="3283063"/>
            <a:ext cx="4543082" cy="1896806"/>
          </a:xfrm>
          <a:prstGeom prst="rect">
            <a:avLst/>
          </a:prstGeom>
        </p:spPr>
      </p:pic>
      <p:sp>
        <p:nvSpPr>
          <p:cNvPr id="12" name="TextBox 11">
            <a:extLst>
              <a:ext uri="{FF2B5EF4-FFF2-40B4-BE49-F238E27FC236}">
                <a16:creationId xmlns:a16="http://schemas.microsoft.com/office/drawing/2014/main" id="{3B35B2C2-E9C8-4D8A-8FB5-320E1CADAD62}"/>
              </a:ext>
            </a:extLst>
          </p:cNvPr>
          <p:cNvSpPr txBox="1"/>
          <p:nvPr/>
        </p:nvSpPr>
        <p:spPr>
          <a:xfrm>
            <a:off x="143329" y="5437811"/>
            <a:ext cx="8857343" cy="507831"/>
          </a:xfrm>
          <a:prstGeom prst="rect">
            <a:avLst/>
          </a:prstGeom>
          <a:solidFill>
            <a:schemeClr val="accent2">
              <a:lumMod val="40000"/>
              <a:lumOff val="60000"/>
            </a:schemeClr>
          </a:solidFill>
        </p:spPr>
        <p:txBody>
          <a:bodyPr wrap="square">
            <a:spAutoFit/>
          </a:bodyPr>
          <a:lstStyle/>
          <a:p>
            <a:pPr defTabSz="685800"/>
            <a:r>
              <a:rPr lang="en-US" sz="1350" b="1" dirty="0">
                <a:solidFill>
                  <a:prstClr val="black"/>
                </a:solidFill>
                <a:latin typeface="Times New Roman"/>
              </a:rPr>
              <a:t>Introduction set’s the scene……The beginning of the introduction quickly explains the importance of the Experiment, Study, Design, …being reported…. </a:t>
            </a:r>
          </a:p>
        </p:txBody>
      </p:sp>
    </p:spTree>
    <p:extLst>
      <p:ext uri="{BB962C8B-B14F-4D97-AF65-F5344CB8AC3E}">
        <p14:creationId xmlns:p14="http://schemas.microsoft.com/office/powerpoint/2010/main" val="15717671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1" y="3032566"/>
            <a:ext cx="4969042" cy="931697"/>
          </a:xfrm>
        </p:spPr>
        <p:txBody>
          <a:bodyPr>
            <a:noAutofit/>
          </a:bodyPr>
          <a:lstStyle/>
          <a:p>
            <a:pPr marL="0" indent="0">
              <a:lnSpc>
                <a:spcPct val="120000"/>
              </a:lnSpc>
              <a:buNone/>
            </a:pPr>
            <a:r>
              <a:rPr lang="en-US" sz="3300" b="1" dirty="0"/>
              <a:t>Choose a logical strategy </a:t>
            </a:r>
          </a:p>
        </p:txBody>
      </p:sp>
      <p:sp>
        <p:nvSpPr>
          <p:cNvPr id="4" name="Title 1"/>
          <p:cNvSpPr txBox="1">
            <a:spLocks/>
          </p:cNvSpPr>
          <p:nvPr/>
        </p:nvSpPr>
        <p:spPr>
          <a:xfrm>
            <a:off x="0" y="857251"/>
            <a:ext cx="9144000" cy="55345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000" b="1" dirty="0">
                <a:solidFill>
                  <a:prstClr val="black"/>
                </a:solidFill>
                <a:latin typeface="Times New Roman" panose="02020603050405020304"/>
              </a:rPr>
              <a:t>Body</a:t>
            </a:r>
          </a:p>
        </p:txBody>
      </p:sp>
      <p:sp>
        <p:nvSpPr>
          <p:cNvPr id="2" name="TextBox 1"/>
          <p:cNvSpPr txBox="1"/>
          <p:nvPr/>
        </p:nvSpPr>
        <p:spPr>
          <a:xfrm>
            <a:off x="5853363" y="1663833"/>
            <a:ext cx="2153652" cy="461665"/>
          </a:xfrm>
          <a:prstGeom prst="rect">
            <a:avLst/>
          </a:prstGeom>
          <a:noFill/>
        </p:spPr>
        <p:txBody>
          <a:bodyPr wrap="square" rtlCol="0">
            <a:spAutoFit/>
          </a:bodyPr>
          <a:lstStyle/>
          <a:p>
            <a:pPr defTabSz="685800"/>
            <a:r>
              <a:rPr lang="en-US" sz="2400" dirty="0">
                <a:solidFill>
                  <a:prstClr val="black"/>
                </a:solidFill>
                <a:latin typeface="Times New Roman"/>
              </a:rPr>
              <a:t>Chronological</a:t>
            </a:r>
          </a:p>
        </p:txBody>
      </p:sp>
      <p:sp>
        <p:nvSpPr>
          <p:cNvPr id="5" name="TextBox 4"/>
          <p:cNvSpPr txBox="1"/>
          <p:nvPr/>
        </p:nvSpPr>
        <p:spPr>
          <a:xfrm>
            <a:off x="5937584" y="2174475"/>
            <a:ext cx="2153652" cy="461665"/>
          </a:xfrm>
          <a:prstGeom prst="rect">
            <a:avLst/>
          </a:prstGeom>
          <a:noFill/>
        </p:spPr>
        <p:txBody>
          <a:bodyPr wrap="square" rtlCol="0">
            <a:spAutoFit/>
          </a:bodyPr>
          <a:lstStyle/>
          <a:p>
            <a:pPr defTabSz="685800"/>
            <a:r>
              <a:rPr lang="en-US" sz="2400" dirty="0">
                <a:solidFill>
                  <a:prstClr val="black"/>
                </a:solidFill>
                <a:latin typeface="Times New Roman"/>
              </a:rPr>
              <a:t>Spatial</a:t>
            </a:r>
          </a:p>
        </p:txBody>
      </p:sp>
      <p:sp>
        <p:nvSpPr>
          <p:cNvPr id="7" name="TextBox 6"/>
          <p:cNvSpPr txBox="1"/>
          <p:nvPr/>
        </p:nvSpPr>
        <p:spPr>
          <a:xfrm>
            <a:off x="5937584" y="2734633"/>
            <a:ext cx="1822784" cy="461665"/>
          </a:xfrm>
          <a:prstGeom prst="rect">
            <a:avLst/>
          </a:prstGeom>
          <a:noFill/>
        </p:spPr>
        <p:txBody>
          <a:bodyPr wrap="square" rtlCol="0">
            <a:spAutoFit/>
          </a:bodyPr>
          <a:lstStyle/>
          <a:p>
            <a:pPr defTabSz="685800"/>
            <a:r>
              <a:rPr lang="en-US" sz="2400" dirty="0">
                <a:solidFill>
                  <a:prstClr val="black"/>
                </a:solidFill>
                <a:latin typeface="Times New Roman"/>
              </a:rPr>
              <a:t>Parallel Parts</a:t>
            </a:r>
          </a:p>
        </p:txBody>
      </p:sp>
      <p:sp>
        <p:nvSpPr>
          <p:cNvPr id="8" name="TextBox 7"/>
          <p:cNvSpPr txBox="1"/>
          <p:nvPr/>
        </p:nvSpPr>
        <p:spPr>
          <a:xfrm>
            <a:off x="5937585" y="3212755"/>
            <a:ext cx="3302668" cy="461665"/>
          </a:xfrm>
          <a:prstGeom prst="rect">
            <a:avLst/>
          </a:prstGeom>
          <a:noFill/>
        </p:spPr>
        <p:txBody>
          <a:bodyPr wrap="square" rtlCol="0">
            <a:spAutoFit/>
          </a:bodyPr>
          <a:lstStyle/>
          <a:p>
            <a:pPr defTabSz="685800"/>
            <a:r>
              <a:rPr lang="en-US" sz="2400" dirty="0">
                <a:solidFill>
                  <a:prstClr val="black"/>
                </a:solidFill>
                <a:latin typeface="Times New Roman"/>
              </a:rPr>
              <a:t>Decreasing Importance</a:t>
            </a:r>
          </a:p>
        </p:txBody>
      </p:sp>
      <p:sp>
        <p:nvSpPr>
          <p:cNvPr id="9" name="TextBox 8"/>
          <p:cNvSpPr txBox="1"/>
          <p:nvPr/>
        </p:nvSpPr>
        <p:spPr>
          <a:xfrm>
            <a:off x="5937585" y="3666330"/>
            <a:ext cx="3302668" cy="461665"/>
          </a:xfrm>
          <a:prstGeom prst="rect">
            <a:avLst/>
          </a:prstGeom>
          <a:noFill/>
        </p:spPr>
        <p:txBody>
          <a:bodyPr wrap="square" rtlCol="0">
            <a:spAutoFit/>
          </a:bodyPr>
          <a:lstStyle/>
          <a:p>
            <a:pPr defTabSz="685800"/>
            <a:r>
              <a:rPr lang="en-US" sz="2400" dirty="0">
                <a:solidFill>
                  <a:prstClr val="black"/>
                </a:solidFill>
                <a:latin typeface="Times New Roman"/>
              </a:rPr>
              <a:t>Increasing Importance</a:t>
            </a:r>
          </a:p>
        </p:txBody>
      </p:sp>
      <p:sp>
        <p:nvSpPr>
          <p:cNvPr id="10" name="TextBox 9"/>
          <p:cNvSpPr txBox="1"/>
          <p:nvPr/>
        </p:nvSpPr>
        <p:spPr>
          <a:xfrm>
            <a:off x="5937584" y="4144452"/>
            <a:ext cx="3302668" cy="461665"/>
          </a:xfrm>
          <a:prstGeom prst="rect">
            <a:avLst/>
          </a:prstGeom>
          <a:noFill/>
        </p:spPr>
        <p:txBody>
          <a:bodyPr wrap="square" rtlCol="0">
            <a:spAutoFit/>
          </a:bodyPr>
          <a:lstStyle/>
          <a:p>
            <a:pPr defTabSz="685800"/>
            <a:r>
              <a:rPr lang="en-US" sz="2400" dirty="0">
                <a:solidFill>
                  <a:prstClr val="black"/>
                </a:solidFill>
                <a:latin typeface="Times New Roman"/>
              </a:rPr>
              <a:t>General to Specific</a:t>
            </a:r>
          </a:p>
        </p:txBody>
      </p:sp>
      <p:sp>
        <p:nvSpPr>
          <p:cNvPr id="11" name="TextBox 10"/>
          <p:cNvSpPr txBox="1"/>
          <p:nvPr/>
        </p:nvSpPr>
        <p:spPr>
          <a:xfrm>
            <a:off x="5937583" y="4605684"/>
            <a:ext cx="3302668" cy="461665"/>
          </a:xfrm>
          <a:prstGeom prst="rect">
            <a:avLst/>
          </a:prstGeom>
          <a:noFill/>
        </p:spPr>
        <p:txBody>
          <a:bodyPr wrap="square" rtlCol="0">
            <a:spAutoFit/>
          </a:bodyPr>
          <a:lstStyle/>
          <a:p>
            <a:pPr defTabSz="685800"/>
            <a:r>
              <a:rPr lang="en-US" sz="2400" dirty="0">
                <a:solidFill>
                  <a:prstClr val="black"/>
                </a:solidFill>
                <a:latin typeface="Times New Roman"/>
              </a:rPr>
              <a:t>Specific to General</a:t>
            </a:r>
          </a:p>
        </p:txBody>
      </p:sp>
      <p:sp>
        <p:nvSpPr>
          <p:cNvPr id="12" name="TextBox 11"/>
          <p:cNvSpPr txBox="1"/>
          <p:nvPr/>
        </p:nvSpPr>
        <p:spPr>
          <a:xfrm>
            <a:off x="5937582" y="5076150"/>
            <a:ext cx="3302668" cy="461665"/>
          </a:xfrm>
          <a:prstGeom prst="rect">
            <a:avLst/>
          </a:prstGeom>
          <a:noFill/>
        </p:spPr>
        <p:txBody>
          <a:bodyPr wrap="square" rtlCol="0">
            <a:spAutoFit/>
          </a:bodyPr>
          <a:lstStyle/>
          <a:p>
            <a:pPr defTabSz="685800"/>
            <a:r>
              <a:rPr lang="en-US" sz="2400" dirty="0">
                <a:solidFill>
                  <a:prstClr val="black"/>
                </a:solidFill>
                <a:latin typeface="Times New Roman"/>
              </a:rPr>
              <a:t>Comparative </a:t>
            </a:r>
          </a:p>
        </p:txBody>
      </p:sp>
      <p:sp>
        <p:nvSpPr>
          <p:cNvPr id="13" name="Left Brace 12"/>
          <p:cNvSpPr/>
          <p:nvPr/>
        </p:nvSpPr>
        <p:spPr>
          <a:xfrm>
            <a:off x="5041232" y="1663834"/>
            <a:ext cx="631658" cy="3669164"/>
          </a:xfrm>
          <a:prstGeom prst="leftBrace">
            <a:avLst>
              <a:gd name="adj1" fmla="val 48333"/>
              <a:gd name="adj2" fmla="val 4836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a:solidFill>
                <a:prstClr val="black"/>
              </a:solidFill>
              <a:latin typeface="Times New Roman"/>
            </a:endParaRPr>
          </a:p>
        </p:txBody>
      </p:sp>
      <p:sp>
        <p:nvSpPr>
          <p:cNvPr id="14" name="Rectangle 13"/>
          <p:cNvSpPr/>
          <p:nvPr/>
        </p:nvSpPr>
        <p:spPr>
          <a:xfrm>
            <a:off x="427121" y="4129951"/>
            <a:ext cx="4572000" cy="1754326"/>
          </a:xfrm>
          <a:prstGeom prst="rect">
            <a:avLst/>
          </a:prstGeom>
          <a:solidFill>
            <a:srgbClr val="FCFFEF"/>
          </a:solidFill>
        </p:spPr>
        <p:txBody>
          <a:bodyPr>
            <a:spAutoFit/>
          </a:bodyPr>
          <a:lstStyle/>
          <a:p>
            <a:pPr defTabSz="685800"/>
            <a:r>
              <a:rPr lang="en-US" sz="2700" b="1" i="1" dirty="0">
                <a:solidFill>
                  <a:srgbClr val="70AD47">
                    <a:lumMod val="50000"/>
                  </a:srgbClr>
                </a:solidFill>
                <a:latin typeface="Times New Roman"/>
              </a:rPr>
              <a:t>This is where you get to show the reader how much you know and understand about the topic of the essay</a:t>
            </a:r>
          </a:p>
        </p:txBody>
      </p:sp>
    </p:spTree>
    <p:extLst>
      <p:ext uri="{BB962C8B-B14F-4D97-AF65-F5344CB8AC3E}">
        <p14:creationId xmlns:p14="http://schemas.microsoft.com/office/powerpoint/2010/main" val="15994644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0601" y="1410702"/>
            <a:ext cx="4199021" cy="3729790"/>
          </a:xfrm>
        </p:spPr>
        <p:txBody>
          <a:bodyPr>
            <a:normAutofit fontScale="92500"/>
          </a:bodyPr>
          <a:lstStyle/>
          <a:p>
            <a:pPr>
              <a:lnSpc>
                <a:spcPct val="120000"/>
              </a:lnSpc>
            </a:pPr>
            <a:r>
              <a:rPr lang="en-US" b="1" dirty="0"/>
              <a:t>Heading</a:t>
            </a:r>
          </a:p>
          <a:p>
            <a:pPr lvl="1">
              <a:lnSpc>
                <a:spcPct val="120000"/>
              </a:lnSpc>
            </a:pPr>
            <a:r>
              <a:rPr lang="en-US" sz="2100" dirty="0"/>
              <a:t>Subheading</a:t>
            </a:r>
          </a:p>
          <a:p>
            <a:pPr lvl="1">
              <a:lnSpc>
                <a:spcPct val="120000"/>
              </a:lnSpc>
            </a:pPr>
            <a:r>
              <a:rPr lang="en-US" sz="2100" dirty="0"/>
              <a:t>Subheading</a:t>
            </a:r>
          </a:p>
          <a:p>
            <a:pPr lvl="0">
              <a:lnSpc>
                <a:spcPct val="120000"/>
              </a:lnSpc>
            </a:pPr>
            <a:r>
              <a:rPr lang="en-US" b="1" dirty="0">
                <a:solidFill>
                  <a:prstClr val="black"/>
                </a:solidFill>
              </a:rPr>
              <a:t>Heading</a:t>
            </a:r>
          </a:p>
          <a:p>
            <a:pPr lvl="1">
              <a:lnSpc>
                <a:spcPct val="120000"/>
              </a:lnSpc>
            </a:pPr>
            <a:r>
              <a:rPr lang="en-US" sz="2100" dirty="0">
                <a:solidFill>
                  <a:prstClr val="black"/>
                </a:solidFill>
              </a:rPr>
              <a:t>Subheading</a:t>
            </a:r>
          </a:p>
          <a:p>
            <a:pPr lvl="1">
              <a:lnSpc>
                <a:spcPct val="120000"/>
              </a:lnSpc>
            </a:pPr>
            <a:r>
              <a:rPr lang="en-US" sz="2100" dirty="0">
                <a:solidFill>
                  <a:prstClr val="black"/>
                </a:solidFill>
              </a:rPr>
              <a:t>Subheading</a:t>
            </a:r>
          </a:p>
          <a:p>
            <a:pPr lvl="0">
              <a:lnSpc>
                <a:spcPct val="120000"/>
              </a:lnSpc>
            </a:pPr>
            <a:r>
              <a:rPr lang="en-US" b="1" dirty="0">
                <a:solidFill>
                  <a:prstClr val="black"/>
                </a:solidFill>
              </a:rPr>
              <a:t>Heading</a:t>
            </a:r>
          </a:p>
          <a:p>
            <a:pPr lvl="1">
              <a:lnSpc>
                <a:spcPct val="120000"/>
              </a:lnSpc>
            </a:pPr>
            <a:r>
              <a:rPr lang="en-US" sz="2100" dirty="0">
                <a:solidFill>
                  <a:prstClr val="black"/>
                </a:solidFill>
              </a:rPr>
              <a:t>Subheading</a:t>
            </a:r>
          </a:p>
          <a:p>
            <a:pPr lvl="1">
              <a:lnSpc>
                <a:spcPct val="120000"/>
              </a:lnSpc>
            </a:pPr>
            <a:r>
              <a:rPr lang="en-US" sz="2100" dirty="0">
                <a:solidFill>
                  <a:prstClr val="black"/>
                </a:solidFill>
              </a:rPr>
              <a:t>Subheading</a:t>
            </a:r>
          </a:p>
          <a:p>
            <a:pPr>
              <a:lnSpc>
                <a:spcPct val="120000"/>
              </a:lnSpc>
            </a:pPr>
            <a:endParaRPr lang="en-US" b="1" dirty="0"/>
          </a:p>
        </p:txBody>
      </p:sp>
      <p:sp>
        <p:nvSpPr>
          <p:cNvPr id="4" name="Title 1"/>
          <p:cNvSpPr txBox="1">
            <a:spLocks/>
          </p:cNvSpPr>
          <p:nvPr/>
        </p:nvSpPr>
        <p:spPr>
          <a:xfrm>
            <a:off x="0" y="857250"/>
            <a:ext cx="9144000" cy="55345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000" b="1" dirty="0">
                <a:solidFill>
                  <a:prstClr val="black"/>
                </a:solidFill>
                <a:latin typeface="Times New Roman" panose="02020603050405020304"/>
              </a:rPr>
              <a:t>Body</a:t>
            </a:r>
          </a:p>
        </p:txBody>
      </p:sp>
      <p:sp>
        <p:nvSpPr>
          <p:cNvPr id="2" name="Rectangle 1"/>
          <p:cNvSpPr/>
          <p:nvPr/>
        </p:nvSpPr>
        <p:spPr>
          <a:xfrm>
            <a:off x="444237" y="2890589"/>
            <a:ext cx="3549316" cy="1107996"/>
          </a:xfrm>
          <a:prstGeom prst="rect">
            <a:avLst/>
          </a:prstGeom>
          <a:solidFill>
            <a:schemeClr val="accent6">
              <a:lumMod val="20000"/>
              <a:lumOff val="80000"/>
            </a:schemeClr>
          </a:solidFill>
        </p:spPr>
        <p:txBody>
          <a:bodyPr wrap="square">
            <a:spAutoFit/>
          </a:bodyPr>
          <a:lstStyle/>
          <a:p>
            <a:pPr algn="ctr" defTabSz="685800"/>
            <a:r>
              <a:rPr lang="en-US" sz="3300" b="1" dirty="0">
                <a:solidFill>
                  <a:srgbClr val="C00000"/>
                </a:solidFill>
                <a:latin typeface="Times New Roman"/>
              </a:rPr>
              <a:t>Make sections</a:t>
            </a:r>
          </a:p>
          <a:p>
            <a:pPr algn="ctr" defTabSz="685800"/>
            <a:r>
              <a:rPr lang="en-US" sz="3300" b="1" dirty="0">
                <a:solidFill>
                  <a:srgbClr val="C00000"/>
                </a:solidFill>
                <a:latin typeface="Times New Roman"/>
              </a:rPr>
              <a:t>and subsections</a:t>
            </a:r>
          </a:p>
        </p:txBody>
      </p:sp>
      <p:pic>
        <p:nvPicPr>
          <p:cNvPr id="5" name="Picture 4"/>
          <p:cNvPicPr>
            <a:picLocks noChangeAspect="1"/>
          </p:cNvPicPr>
          <p:nvPr/>
        </p:nvPicPr>
        <p:blipFill>
          <a:blip r:embed="rId2" cstate="print"/>
          <a:stretch>
            <a:fillRect/>
          </a:stretch>
        </p:blipFill>
        <p:spPr>
          <a:xfrm>
            <a:off x="3993552" y="1531339"/>
            <a:ext cx="807049" cy="3488837"/>
          </a:xfrm>
          <a:prstGeom prst="rect">
            <a:avLst/>
          </a:prstGeom>
        </p:spPr>
      </p:pic>
      <p:sp>
        <p:nvSpPr>
          <p:cNvPr id="6" name="Rectangle 5"/>
          <p:cNvSpPr/>
          <p:nvPr/>
        </p:nvSpPr>
        <p:spPr>
          <a:xfrm>
            <a:off x="1" y="5092390"/>
            <a:ext cx="9144000" cy="923330"/>
          </a:xfrm>
          <a:prstGeom prst="rect">
            <a:avLst/>
          </a:prstGeom>
          <a:solidFill>
            <a:schemeClr val="accent2">
              <a:lumMod val="40000"/>
              <a:lumOff val="60000"/>
            </a:schemeClr>
          </a:solidFill>
        </p:spPr>
        <p:txBody>
          <a:bodyPr wrap="square">
            <a:spAutoFit/>
          </a:bodyPr>
          <a:lstStyle/>
          <a:p>
            <a:pPr algn="ctr" defTabSz="685800"/>
            <a:r>
              <a:rPr lang="en-US" sz="2700" b="1" dirty="0">
                <a:solidFill>
                  <a:prstClr val="black"/>
                </a:solidFill>
                <a:latin typeface="Times New Roman"/>
              </a:rPr>
              <a:t>When you divide a section into subsections, all the pieces should be of the same pie</a:t>
            </a:r>
          </a:p>
        </p:txBody>
      </p:sp>
    </p:spTree>
    <p:extLst>
      <p:ext uri="{BB962C8B-B14F-4D97-AF65-F5344CB8AC3E}">
        <p14:creationId xmlns:p14="http://schemas.microsoft.com/office/powerpoint/2010/main" val="25063416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2" cstate="print"/>
          <a:stretch>
            <a:fillRect/>
          </a:stretch>
        </p:blipFill>
        <p:spPr>
          <a:xfrm>
            <a:off x="3360943" y="3896116"/>
            <a:ext cx="3699068" cy="855038"/>
          </a:xfrm>
          <a:prstGeom prst="rect">
            <a:avLst/>
          </a:prstGeom>
        </p:spPr>
      </p:pic>
      <p:pic>
        <p:nvPicPr>
          <p:cNvPr id="24" name="Picture 23"/>
          <p:cNvPicPr>
            <a:picLocks noChangeAspect="1"/>
          </p:cNvPicPr>
          <p:nvPr/>
        </p:nvPicPr>
        <p:blipFill>
          <a:blip r:embed="rId2" cstate="print"/>
          <a:stretch>
            <a:fillRect/>
          </a:stretch>
        </p:blipFill>
        <p:spPr>
          <a:xfrm>
            <a:off x="3379103" y="4965323"/>
            <a:ext cx="3699068" cy="855038"/>
          </a:xfrm>
          <a:prstGeom prst="rect">
            <a:avLst/>
          </a:prstGeom>
        </p:spPr>
      </p:pic>
      <p:pic>
        <p:nvPicPr>
          <p:cNvPr id="20" name="Picture 19"/>
          <p:cNvPicPr>
            <a:picLocks noChangeAspect="1"/>
          </p:cNvPicPr>
          <p:nvPr/>
        </p:nvPicPr>
        <p:blipFill>
          <a:blip r:embed="rId2" cstate="print"/>
          <a:stretch>
            <a:fillRect/>
          </a:stretch>
        </p:blipFill>
        <p:spPr>
          <a:xfrm>
            <a:off x="3379103" y="2974338"/>
            <a:ext cx="3699068" cy="855038"/>
          </a:xfrm>
          <a:prstGeom prst="rect">
            <a:avLst/>
          </a:prstGeom>
        </p:spPr>
      </p:pic>
      <p:pic>
        <p:nvPicPr>
          <p:cNvPr id="18" name="Picture 17"/>
          <p:cNvPicPr>
            <a:picLocks noChangeAspect="1"/>
          </p:cNvPicPr>
          <p:nvPr/>
        </p:nvPicPr>
        <p:blipFill>
          <a:blip r:embed="rId2" cstate="print"/>
          <a:stretch>
            <a:fillRect/>
          </a:stretch>
        </p:blipFill>
        <p:spPr>
          <a:xfrm>
            <a:off x="3379103" y="1952692"/>
            <a:ext cx="3699068" cy="855038"/>
          </a:xfrm>
          <a:prstGeom prst="rect">
            <a:avLst/>
          </a:prstGeom>
        </p:spPr>
      </p:pic>
      <p:pic>
        <p:nvPicPr>
          <p:cNvPr id="16" name="Content Placeholder 15"/>
          <p:cNvPicPr>
            <a:picLocks noGrp="1" noChangeAspect="1"/>
          </p:cNvPicPr>
          <p:nvPr>
            <p:ph idx="1"/>
          </p:nvPr>
        </p:nvPicPr>
        <p:blipFill>
          <a:blip r:embed="rId3" cstate="print">
            <a:extLst>
              <a:ext uri="{BEBA8EAE-BF5A-486C-A8C5-ECC9F3942E4B}">
                <a14:imgProps xmlns:a14="http://schemas.microsoft.com/office/drawing/2010/main">
                  <a14:imgLayer r:embed="rId4">
                    <a14:imgEffect>
                      <a14:sharpenSoften amount="64000"/>
                    </a14:imgEffect>
                    <a14:imgEffect>
                      <a14:brightnessContrast bright="46000" contrast="58000"/>
                    </a14:imgEffect>
                  </a14:imgLayer>
                </a14:imgProps>
              </a:ext>
              <a:ext uri="{28A0092B-C50C-407E-A947-70E740481C1C}">
                <a14:useLocalDpi xmlns:a14="http://schemas.microsoft.com/office/drawing/2010/main" val="0"/>
              </a:ext>
            </a:extLst>
          </a:blip>
          <a:stretch>
            <a:fillRect/>
          </a:stretch>
        </p:blipFill>
        <p:spPr>
          <a:xfrm rot="5400000">
            <a:off x="4800887" y="-564535"/>
            <a:ext cx="853068" cy="3696638"/>
          </a:xfrm>
        </p:spPr>
      </p:pic>
      <p:pic>
        <p:nvPicPr>
          <p:cNvPr id="6" name="Picture 5"/>
          <p:cNvPicPr>
            <a:picLocks noChangeAspect="1"/>
          </p:cNvPicPr>
          <p:nvPr/>
        </p:nvPicPr>
        <p:blipFill>
          <a:blip r:embed="rId5" cstate="print"/>
          <a:stretch>
            <a:fillRect/>
          </a:stretch>
        </p:blipFill>
        <p:spPr>
          <a:xfrm rot="5400000">
            <a:off x="5192768" y="2049518"/>
            <a:ext cx="5119851" cy="2782614"/>
          </a:xfrm>
          <a:prstGeom prst="rect">
            <a:avLst/>
          </a:prstGeom>
        </p:spPr>
      </p:pic>
      <p:sp>
        <p:nvSpPr>
          <p:cNvPr id="17" name="TextBox 16"/>
          <p:cNvSpPr txBox="1"/>
          <p:nvPr/>
        </p:nvSpPr>
        <p:spPr>
          <a:xfrm>
            <a:off x="4532971" y="1467944"/>
            <a:ext cx="1682512" cy="507831"/>
          </a:xfrm>
          <a:prstGeom prst="rect">
            <a:avLst/>
          </a:prstGeom>
          <a:noFill/>
        </p:spPr>
        <p:txBody>
          <a:bodyPr wrap="none" rtlCol="0">
            <a:spAutoFit/>
          </a:bodyPr>
          <a:lstStyle/>
          <a:p>
            <a:pPr defTabSz="685800"/>
            <a:r>
              <a:rPr lang="en-US" sz="2700" dirty="0">
                <a:solidFill>
                  <a:prstClr val="black"/>
                </a:solidFill>
                <a:latin typeface="Times New Roman"/>
              </a:rPr>
              <a:t>Transition </a:t>
            </a:r>
          </a:p>
        </p:txBody>
      </p:sp>
      <p:sp>
        <p:nvSpPr>
          <p:cNvPr id="19" name="TextBox 18"/>
          <p:cNvSpPr txBox="1"/>
          <p:nvPr/>
        </p:nvSpPr>
        <p:spPr>
          <a:xfrm>
            <a:off x="4532971" y="2620802"/>
            <a:ext cx="1682512" cy="507831"/>
          </a:xfrm>
          <a:prstGeom prst="rect">
            <a:avLst/>
          </a:prstGeom>
          <a:noFill/>
        </p:spPr>
        <p:txBody>
          <a:bodyPr wrap="none" rtlCol="0">
            <a:spAutoFit/>
          </a:bodyPr>
          <a:lstStyle/>
          <a:p>
            <a:pPr defTabSz="685800"/>
            <a:r>
              <a:rPr lang="en-US" sz="2700" dirty="0">
                <a:solidFill>
                  <a:prstClr val="black"/>
                </a:solidFill>
                <a:latin typeface="Times New Roman"/>
              </a:rPr>
              <a:t>Transition </a:t>
            </a:r>
          </a:p>
        </p:txBody>
      </p:sp>
      <p:sp>
        <p:nvSpPr>
          <p:cNvPr id="22" name="TextBox 21"/>
          <p:cNvSpPr txBox="1"/>
          <p:nvPr/>
        </p:nvSpPr>
        <p:spPr>
          <a:xfrm>
            <a:off x="4532971" y="4549734"/>
            <a:ext cx="1682512" cy="507831"/>
          </a:xfrm>
          <a:prstGeom prst="rect">
            <a:avLst/>
          </a:prstGeom>
          <a:noFill/>
        </p:spPr>
        <p:txBody>
          <a:bodyPr wrap="none" rtlCol="0">
            <a:spAutoFit/>
          </a:bodyPr>
          <a:lstStyle/>
          <a:p>
            <a:pPr defTabSz="685800"/>
            <a:r>
              <a:rPr lang="en-US" sz="2700" dirty="0">
                <a:solidFill>
                  <a:prstClr val="black"/>
                </a:solidFill>
                <a:latin typeface="Times New Roman"/>
              </a:rPr>
              <a:t>Transition </a:t>
            </a:r>
          </a:p>
        </p:txBody>
      </p:sp>
      <p:sp>
        <p:nvSpPr>
          <p:cNvPr id="23" name="TextBox 22"/>
          <p:cNvSpPr txBox="1"/>
          <p:nvPr/>
        </p:nvSpPr>
        <p:spPr>
          <a:xfrm>
            <a:off x="4532971" y="3599809"/>
            <a:ext cx="1682512" cy="507831"/>
          </a:xfrm>
          <a:prstGeom prst="rect">
            <a:avLst/>
          </a:prstGeom>
          <a:noFill/>
        </p:spPr>
        <p:txBody>
          <a:bodyPr wrap="none" rtlCol="0">
            <a:spAutoFit/>
          </a:bodyPr>
          <a:lstStyle/>
          <a:p>
            <a:pPr defTabSz="685800"/>
            <a:r>
              <a:rPr lang="en-US" sz="2700" dirty="0">
                <a:solidFill>
                  <a:prstClr val="black"/>
                </a:solidFill>
                <a:latin typeface="Times New Roman"/>
              </a:rPr>
              <a:t>Transition </a:t>
            </a:r>
          </a:p>
        </p:txBody>
      </p:sp>
      <p:sp>
        <p:nvSpPr>
          <p:cNvPr id="25" name="Rectangle 24"/>
          <p:cNvSpPr/>
          <p:nvPr/>
        </p:nvSpPr>
        <p:spPr>
          <a:xfrm>
            <a:off x="94594" y="1180620"/>
            <a:ext cx="4079327" cy="4164345"/>
          </a:xfrm>
          <a:prstGeom prst="rect">
            <a:avLst/>
          </a:prstGeom>
        </p:spPr>
        <p:txBody>
          <a:bodyPr wrap="square">
            <a:spAutoFit/>
          </a:bodyPr>
          <a:lstStyle/>
          <a:p>
            <a:pPr defTabSz="685800">
              <a:lnSpc>
                <a:spcPct val="150000"/>
              </a:lnSpc>
            </a:pPr>
            <a:r>
              <a:rPr lang="en-US" sz="3000" b="1" dirty="0">
                <a:solidFill>
                  <a:prstClr val="black"/>
                </a:solidFill>
                <a:latin typeface="Times New Roman"/>
              </a:rPr>
              <a:t>The essay should be written such that it flows within individual sections, and across sections to tell a coherent story.</a:t>
            </a:r>
          </a:p>
        </p:txBody>
      </p:sp>
    </p:spTree>
    <p:extLst>
      <p:ext uri="{BB962C8B-B14F-4D97-AF65-F5344CB8AC3E}">
        <p14:creationId xmlns:p14="http://schemas.microsoft.com/office/powerpoint/2010/main" val="29522191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74E9F87-D156-494F-81D1-ABBB11C3188C}"/>
              </a:ext>
            </a:extLst>
          </p:cNvPr>
          <p:cNvSpPr>
            <a:spLocks noGrp="1"/>
          </p:cNvSpPr>
          <p:nvPr>
            <p:ph type="subTitle" idx="1"/>
          </p:nvPr>
        </p:nvSpPr>
        <p:spPr>
          <a:xfrm>
            <a:off x="132907" y="990158"/>
            <a:ext cx="8920717" cy="5098311"/>
          </a:xfrm>
        </p:spPr>
        <p:txBody>
          <a:bodyPr>
            <a:normAutofit/>
          </a:bodyPr>
          <a:lstStyle/>
          <a:p>
            <a:pPr algn="l"/>
            <a:r>
              <a:rPr lang="en-US" sz="2700" dirty="0"/>
              <a:t>- The body of the report is of course the main text of the report, 	the sections between the introduction and conclusion.</a:t>
            </a:r>
          </a:p>
          <a:p>
            <a:pPr algn="l"/>
            <a:endParaRPr lang="en-US" sz="2700" dirty="0"/>
          </a:p>
          <a:p>
            <a:pPr algn="l"/>
            <a:r>
              <a:rPr lang="en-US" sz="2700" dirty="0"/>
              <a:t>- Divided into numbered and headed sections. </a:t>
            </a:r>
          </a:p>
          <a:p>
            <a:pPr algn="l"/>
            <a:r>
              <a:rPr lang="en-US" sz="2700" dirty="0"/>
              <a:t>	These sections separate the different main ideas in a 	logical order.</a:t>
            </a:r>
          </a:p>
          <a:p>
            <a:pPr algn="l"/>
            <a:endParaRPr lang="en-US" sz="2700" dirty="0"/>
          </a:p>
          <a:p>
            <a:pPr algn="l"/>
            <a:r>
              <a:rPr lang="en-US" sz="2700" dirty="0">
                <a:solidFill>
                  <a:srgbClr val="222222"/>
                </a:solidFill>
              </a:rPr>
              <a:t>- Make the phrasing of headings self-explanatory: </a:t>
            </a:r>
          </a:p>
          <a:p>
            <a:pPr algn="l"/>
            <a:r>
              <a:rPr lang="en-US" sz="2700" dirty="0">
                <a:solidFill>
                  <a:srgbClr val="222222"/>
                </a:solidFill>
              </a:rPr>
              <a:t>	Instead of “Background” or “Technical Information,” 	make it more specific, such as “Physics of Fiber Optics.”</a:t>
            </a:r>
          </a:p>
          <a:p>
            <a:pPr algn="l"/>
            <a:endParaRPr lang="en-US" sz="2700" dirty="0"/>
          </a:p>
          <a:p>
            <a:pPr algn="l"/>
            <a:endParaRPr lang="en-US" sz="2700" dirty="0"/>
          </a:p>
        </p:txBody>
      </p:sp>
    </p:spTree>
    <p:extLst>
      <p:ext uri="{BB962C8B-B14F-4D97-AF65-F5344CB8AC3E}">
        <p14:creationId xmlns:p14="http://schemas.microsoft.com/office/powerpoint/2010/main" val="24318934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3E919-7DBA-4BD0-9725-7107DF6650B9}"/>
              </a:ext>
            </a:extLst>
          </p:cNvPr>
          <p:cNvSpPr>
            <a:spLocks noGrp="1"/>
          </p:cNvSpPr>
          <p:nvPr>
            <p:ph idx="1"/>
          </p:nvPr>
        </p:nvSpPr>
        <p:spPr>
          <a:xfrm>
            <a:off x="42531" y="1011422"/>
            <a:ext cx="9101470" cy="4853763"/>
          </a:xfrm>
        </p:spPr>
        <p:txBody>
          <a:bodyPr>
            <a:normAutofit/>
          </a:bodyPr>
          <a:lstStyle/>
          <a:p>
            <a:r>
              <a:rPr lang="en-US" sz="2700" dirty="0"/>
              <a:t>Make headings indicate the range of topic coverage in the section. </a:t>
            </a:r>
          </a:p>
          <a:p>
            <a:endParaRPr lang="en-US" sz="2700" dirty="0"/>
          </a:p>
          <a:p>
            <a:r>
              <a:rPr lang="en-US" sz="2700" dirty="0"/>
              <a:t>For example, if the section covers the </a:t>
            </a:r>
            <a:r>
              <a:rPr lang="en-US" sz="2700" u="sng" dirty="0"/>
              <a:t>design and operation </a:t>
            </a:r>
            <a:r>
              <a:rPr lang="en-US" sz="2700" dirty="0"/>
              <a:t>of a 	pressurized water reactor, the heading “Pressurized Water 	Reactor Design” would be incomplete and misleading.</a:t>
            </a:r>
          </a:p>
          <a:p>
            <a:endParaRPr lang="en-US" sz="2700" dirty="0"/>
          </a:p>
          <a:p>
            <a:r>
              <a:rPr lang="en-US" sz="2700" dirty="0"/>
              <a:t>Avoid pronoun reference to headings. For example, if you have 	a heading “Torque,” do not begin the sentence following it 	with something like this: “</a:t>
            </a:r>
            <a:r>
              <a:rPr lang="en-US" sz="2700" u="sng" dirty="0"/>
              <a:t>This is a physics principle</a:t>
            </a:r>
            <a:r>
              <a:rPr lang="en-US" sz="2700" dirty="0"/>
              <a:t>…..”</a:t>
            </a:r>
          </a:p>
        </p:txBody>
      </p:sp>
    </p:spTree>
    <p:extLst>
      <p:ext uri="{BB962C8B-B14F-4D97-AF65-F5344CB8AC3E}">
        <p14:creationId xmlns:p14="http://schemas.microsoft.com/office/powerpoint/2010/main" val="17854789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3E919-7DBA-4BD0-9725-7107DF6650B9}"/>
              </a:ext>
            </a:extLst>
          </p:cNvPr>
          <p:cNvSpPr>
            <a:spLocks noGrp="1"/>
          </p:cNvSpPr>
          <p:nvPr>
            <p:ph idx="1"/>
          </p:nvPr>
        </p:nvSpPr>
        <p:spPr>
          <a:xfrm>
            <a:off x="42531" y="1011422"/>
            <a:ext cx="9101470" cy="4853763"/>
          </a:xfrm>
        </p:spPr>
        <p:txBody>
          <a:bodyPr>
            <a:normAutofit lnSpcReduction="10000"/>
          </a:bodyPr>
          <a:lstStyle/>
          <a:p>
            <a:r>
              <a:rPr lang="en-US" sz="2700" dirty="0"/>
              <a:t>When possible, omit articles from the beginning of headings.</a:t>
            </a:r>
          </a:p>
          <a:p>
            <a:endParaRPr lang="en-US" sz="2700" dirty="0"/>
          </a:p>
          <a:p>
            <a:r>
              <a:rPr lang="en-US" sz="2700" dirty="0"/>
              <a:t> 	</a:t>
            </a:r>
            <a:r>
              <a:rPr lang="en-US" sz="2400" dirty="0"/>
              <a:t>For example, “The Pressurized Water Reactor” can easily be 	changed to “Pressurized Water Reactor” or, better yet, 	“Pressurized Water Reactors.”</a:t>
            </a:r>
          </a:p>
          <a:p>
            <a:endParaRPr lang="en-US" sz="2700" dirty="0"/>
          </a:p>
          <a:p>
            <a:r>
              <a:rPr lang="en-US" sz="2700" dirty="0"/>
              <a:t>Avoid “widowed” headings: that’s where a heading occurs at 	the bottom of a page and the text it introduces starts at the 	top of the next page. </a:t>
            </a:r>
          </a:p>
          <a:p>
            <a:endParaRPr lang="en-US" sz="2700" dirty="0"/>
          </a:p>
          <a:p>
            <a:r>
              <a:rPr lang="en-US" sz="2700" dirty="0"/>
              <a:t>Keep at least two lines of body text with the heading or force it to start the new page.</a:t>
            </a:r>
          </a:p>
        </p:txBody>
      </p:sp>
    </p:spTree>
    <p:extLst>
      <p:ext uri="{BB962C8B-B14F-4D97-AF65-F5344CB8AC3E}">
        <p14:creationId xmlns:p14="http://schemas.microsoft.com/office/powerpoint/2010/main" val="35451562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3E919-7DBA-4BD0-9725-7107DF6650B9}"/>
              </a:ext>
            </a:extLst>
          </p:cNvPr>
          <p:cNvSpPr>
            <a:spLocks noGrp="1"/>
          </p:cNvSpPr>
          <p:nvPr>
            <p:ph idx="1"/>
          </p:nvPr>
        </p:nvSpPr>
        <p:spPr>
          <a:xfrm>
            <a:off x="42531" y="1011422"/>
            <a:ext cx="9101470" cy="4853763"/>
          </a:xfrm>
        </p:spPr>
        <p:txBody>
          <a:bodyPr>
            <a:normAutofit lnSpcReduction="10000"/>
          </a:bodyPr>
          <a:lstStyle/>
          <a:p>
            <a:r>
              <a:rPr lang="en-US" sz="2700" dirty="0"/>
              <a:t>Body shows the depth of your technical knowledge.</a:t>
            </a:r>
          </a:p>
          <a:p>
            <a:endParaRPr lang="en-US" sz="2700" dirty="0"/>
          </a:p>
          <a:p>
            <a:r>
              <a:rPr lang="en-US" sz="2700" dirty="0"/>
              <a:t>Body shows you logic in presentation of the topic.</a:t>
            </a:r>
          </a:p>
          <a:p>
            <a:endParaRPr lang="en-US" sz="2700" dirty="0"/>
          </a:p>
          <a:p>
            <a:r>
              <a:rPr lang="en-US" sz="2700" dirty="0"/>
              <a:t>Body shows your knowledge about the background of the topic.</a:t>
            </a:r>
          </a:p>
          <a:p>
            <a:endParaRPr lang="en-US" sz="2700" dirty="0"/>
          </a:p>
          <a:p>
            <a:r>
              <a:rPr lang="en-US" sz="2700" dirty="0"/>
              <a:t>Body shows how up-to-date are you in that topic.</a:t>
            </a:r>
          </a:p>
          <a:p>
            <a:endParaRPr lang="en-US" sz="2700" dirty="0"/>
          </a:p>
          <a:p>
            <a:r>
              <a:rPr lang="en-US" sz="2700" dirty="0"/>
              <a:t>Body shows you knowledge about the topic and its connections with other subjects. </a:t>
            </a:r>
          </a:p>
        </p:txBody>
      </p:sp>
    </p:spTree>
    <p:extLst>
      <p:ext uri="{BB962C8B-B14F-4D97-AF65-F5344CB8AC3E}">
        <p14:creationId xmlns:p14="http://schemas.microsoft.com/office/powerpoint/2010/main" val="9128775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297000"/>
          </a:xfrm>
        </p:spPr>
        <p:txBody>
          <a:bodyPr>
            <a:noAutofit/>
          </a:bodyPr>
          <a:lstStyle/>
          <a:p>
            <a:pPr>
              <a:lnSpc>
                <a:spcPct val="150000"/>
              </a:lnSpc>
            </a:pPr>
            <a:r>
              <a:rPr lang="en-US" sz="3000" b="1" dirty="0"/>
              <a:t>The </a:t>
            </a:r>
            <a:r>
              <a:rPr lang="en-US" sz="3000" b="1" dirty="0">
                <a:solidFill>
                  <a:srgbClr val="C00000"/>
                </a:solidFill>
              </a:rPr>
              <a:t>conclusions</a:t>
            </a:r>
            <a:r>
              <a:rPr lang="en-US" sz="3000" b="1" dirty="0"/>
              <a:t> section provides an </a:t>
            </a:r>
            <a:r>
              <a:rPr lang="en-US" sz="3000" b="1" dirty="0">
                <a:solidFill>
                  <a:srgbClr val="C00000"/>
                </a:solidFill>
              </a:rPr>
              <a:t>effective ending </a:t>
            </a:r>
            <a:r>
              <a:rPr lang="en-US" sz="3000" b="1" dirty="0"/>
              <a:t>to your report. </a:t>
            </a:r>
          </a:p>
          <a:p>
            <a:pPr>
              <a:lnSpc>
                <a:spcPct val="150000"/>
              </a:lnSpc>
            </a:pPr>
            <a:r>
              <a:rPr lang="en-US" sz="3000" b="1" dirty="0"/>
              <a:t>The content should relate directly to the aims of the project as stated in the introduction, and sum up the </a:t>
            </a:r>
            <a:r>
              <a:rPr lang="en-US" sz="3000" b="1" u="sng" dirty="0"/>
              <a:t>essential features of your work</a:t>
            </a:r>
            <a:r>
              <a:rPr lang="en-US" sz="3000" b="1" dirty="0"/>
              <a:t>. </a:t>
            </a: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Conclusions</a:t>
            </a:r>
          </a:p>
        </p:txBody>
      </p:sp>
    </p:spTree>
    <p:extLst>
      <p:ext uri="{BB962C8B-B14F-4D97-AF65-F5344CB8AC3E}">
        <p14:creationId xmlns:p14="http://schemas.microsoft.com/office/powerpoint/2010/main" val="16269851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57250"/>
            <a:ext cx="9143999" cy="5143500"/>
          </a:xfrm>
        </p:spPr>
        <p:txBody>
          <a:bodyPr>
            <a:noAutofit/>
          </a:bodyPr>
          <a:lstStyle/>
          <a:p>
            <a:pPr>
              <a:lnSpc>
                <a:spcPct val="150000"/>
              </a:lnSpc>
            </a:pPr>
            <a:r>
              <a:rPr lang="en-US" sz="3300" b="1" dirty="0"/>
              <a:t>Conclusion:</a:t>
            </a:r>
          </a:p>
          <a:p>
            <a:pPr lvl="1">
              <a:lnSpc>
                <a:spcPct val="150000"/>
              </a:lnSpc>
            </a:pPr>
            <a:r>
              <a:rPr lang="en-US" sz="2700" b="1" dirty="0"/>
              <a:t>States whether you have </a:t>
            </a:r>
            <a:r>
              <a:rPr lang="en-US" sz="2700" b="1" dirty="0">
                <a:solidFill>
                  <a:srgbClr val="C00000"/>
                </a:solidFill>
              </a:rPr>
              <a:t>achieved your aims.</a:t>
            </a:r>
          </a:p>
          <a:p>
            <a:pPr lvl="1">
              <a:lnSpc>
                <a:spcPct val="150000"/>
              </a:lnSpc>
            </a:pPr>
            <a:r>
              <a:rPr lang="en-US" sz="2700" b="1" dirty="0"/>
              <a:t>Gives </a:t>
            </a:r>
            <a:r>
              <a:rPr lang="en-US" sz="2700" b="1"/>
              <a:t>a </a:t>
            </a:r>
            <a:r>
              <a:rPr lang="en-US" sz="2700" b="1">
                <a:solidFill>
                  <a:srgbClr val="C00000"/>
                </a:solidFill>
              </a:rPr>
              <a:t>summary </a:t>
            </a:r>
            <a:r>
              <a:rPr lang="en-US" sz="2700" b="1" dirty="0"/>
              <a:t>of the key findings or information 	in your report.</a:t>
            </a:r>
          </a:p>
          <a:p>
            <a:pPr lvl="1">
              <a:lnSpc>
                <a:spcPct val="150000"/>
              </a:lnSpc>
            </a:pPr>
            <a:r>
              <a:rPr lang="en-US" sz="2700" b="1" dirty="0"/>
              <a:t>Highlights the </a:t>
            </a:r>
            <a:r>
              <a:rPr lang="en-US" sz="2700" b="1" dirty="0">
                <a:solidFill>
                  <a:srgbClr val="C00000"/>
                </a:solidFill>
              </a:rPr>
              <a:t>major outcomes </a:t>
            </a:r>
            <a:r>
              <a:rPr lang="en-US" sz="2700" b="1" dirty="0"/>
              <a:t>of your investigation and 		their </a:t>
            </a:r>
            <a:r>
              <a:rPr lang="en-US" sz="2700" b="1" dirty="0">
                <a:solidFill>
                  <a:srgbClr val="C00000"/>
                </a:solidFill>
              </a:rPr>
              <a:t>significance</a:t>
            </a:r>
            <a:r>
              <a:rPr lang="en-US" sz="2700" b="1" dirty="0"/>
              <a:t>.</a:t>
            </a:r>
          </a:p>
          <a:p>
            <a:pPr lvl="1">
              <a:lnSpc>
                <a:spcPct val="150000"/>
              </a:lnSpc>
            </a:pPr>
            <a:r>
              <a:rPr lang="en-US" sz="2700" b="1" dirty="0"/>
              <a:t>Analyzes results and gives a </a:t>
            </a:r>
            <a:r>
              <a:rPr lang="en-US" sz="2700" b="1" dirty="0">
                <a:solidFill>
                  <a:srgbClr val="C00000"/>
                </a:solidFill>
              </a:rPr>
              <a:t>future perspective</a:t>
            </a:r>
            <a:r>
              <a:rPr lang="en-US" sz="2700" b="1" dirty="0"/>
              <a:t>.</a:t>
            </a:r>
          </a:p>
          <a:p>
            <a:pPr lvl="1">
              <a:lnSpc>
                <a:spcPct val="150000"/>
              </a:lnSpc>
            </a:pPr>
            <a:endParaRPr lang="en-US" sz="3000" b="1" dirty="0"/>
          </a:p>
          <a:p>
            <a:pPr>
              <a:lnSpc>
                <a:spcPct val="150000"/>
              </a:lnSpc>
            </a:pPr>
            <a:endParaRPr lang="en-US" sz="3300" b="1" dirty="0"/>
          </a:p>
          <a:p>
            <a:pPr>
              <a:lnSpc>
                <a:spcPct val="150000"/>
              </a:lnSpc>
            </a:pPr>
            <a:endParaRPr lang="en-US" sz="3300" b="1" dirty="0"/>
          </a:p>
          <a:p>
            <a:pPr>
              <a:lnSpc>
                <a:spcPct val="150000"/>
              </a:lnSpc>
            </a:pPr>
            <a:endParaRPr lang="en-US" sz="3300" b="1" dirty="0"/>
          </a:p>
          <a:p>
            <a:pPr>
              <a:lnSpc>
                <a:spcPct val="150000"/>
              </a:lnSpc>
            </a:pPr>
            <a:endParaRPr lang="en-US" sz="3300" b="1" dirty="0"/>
          </a:p>
          <a:p>
            <a:pPr>
              <a:lnSpc>
                <a:spcPct val="150000"/>
              </a:lnSpc>
            </a:pPr>
            <a:endParaRPr lang="en-US" sz="3300" b="1" dirty="0"/>
          </a:p>
          <a:p>
            <a:pPr>
              <a:lnSpc>
                <a:spcPct val="150000"/>
              </a:lnSpc>
            </a:pPr>
            <a:endParaRPr lang="en-US" sz="3300" b="1" dirty="0"/>
          </a:p>
          <a:p>
            <a:pPr>
              <a:lnSpc>
                <a:spcPct val="150000"/>
              </a:lnSpc>
            </a:pPr>
            <a:endParaRPr lang="en-US" sz="3300" b="1" dirty="0"/>
          </a:p>
        </p:txBody>
      </p:sp>
    </p:spTree>
    <p:extLst>
      <p:ext uri="{BB962C8B-B14F-4D97-AF65-F5344CB8AC3E}">
        <p14:creationId xmlns:p14="http://schemas.microsoft.com/office/powerpoint/2010/main" val="23363179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31932" y="857250"/>
            <a:ext cx="4692832" cy="4098118"/>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333375" y="4981542"/>
            <a:ext cx="4409531" cy="875422"/>
          </a:xfrm>
          <a:prstGeom prst="rect">
            <a:avLst/>
          </a:prstGeom>
          <a:noFill/>
          <a:ln w="9525">
            <a:noFill/>
            <a:miter lim="800000"/>
            <a:headEnd/>
            <a:tailEnd/>
          </a:ln>
        </p:spPr>
      </p:pic>
      <p:sp>
        <p:nvSpPr>
          <p:cNvPr id="5" name="TextBox 4">
            <a:extLst>
              <a:ext uri="{FF2B5EF4-FFF2-40B4-BE49-F238E27FC236}">
                <a16:creationId xmlns:a16="http://schemas.microsoft.com/office/drawing/2014/main" id="{6198ED0F-7F18-46C5-B4EB-AF6ADBFFD8A1}"/>
              </a:ext>
            </a:extLst>
          </p:cNvPr>
          <p:cNvSpPr txBox="1"/>
          <p:nvPr/>
        </p:nvSpPr>
        <p:spPr>
          <a:xfrm>
            <a:off x="5323115" y="1420759"/>
            <a:ext cx="3247572" cy="3624069"/>
          </a:xfrm>
          <a:prstGeom prst="rect">
            <a:avLst/>
          </a:prstGeom>
          <a:solidFill>
            <a:schemeClr val="accent4">
              <a:lumMod val="40000"/>
              <a:lumOff val="60000"/>
            </a:schemeClr>
          </a:solidFill>
        </p:spPr>
        <p:txBody>
          <a:bodyPr wrap="square">
            <a:spAutoFit/>
          </a:bodyPr>
          <a:lstStyle/>
          <a:p>
            <a:pPr defTabSz="685800"/>
            <a:r>
              <a:rPr lang="en-US" sz="1350" dirty="0">
                <a:solidFill>
                  <a:prstClr val="black"/>
                </a:solidFill>
                <a:latin typeface="Times New Roman"/>
              </a:rPr>
              <a:t>VI. CONCLUSION</a:t>
            </a:r>
          </a:p>
          <a:p>
            <a:pPr defTabSz="685800"/>
            <a:r>
              <a:rPr lang="en-US" sz="1350" dirty="0">
                <a:solidFill>
                  <a:prstClr val="black"/>
                </a:solidFill>
                <a:latin typeface="Times New Roman"/>
              </a:rPr>
              <a:t>As shown, the Smart Pillow is shown to be the quintessential ethical product. By</a:t>
            </a:r>
          </a:p>
          <a:p>
            <a:pPr defTabSz="685800"/>
            <a:r>
              <a:rPr lang="en-US" sz="1350" dirty="0">
                <a:solidFill>
                  <a:prstClr val="black"/>
                </a:solidFill>
                <a:latin typeface="Times New Roman"/>
              </a:rPr>
              <a:t>improving a user's quality of sleep, overall</a:t>
            </a:r>
          </a:p>
          <a:p>
            <a:pPr defTabSz="685800"/>
            <a:r>
              <a:rPr lang="en-US" sz="1350" dirty="0">
                <a:solidFill>
                  <a:prstClr val="black"/>
                </a:solidFill>
                <a:latin typeface="Times New Roman"/>
              </a:rPr>
              <a:t>quality of life is enhanced. With snoring</a:t>
            </a:r>
          </a:p>
          <a:p>
            <a:pPr defTabSz="685800"/>
            <a:r>
              <a:rPr lang="en-US" sz="1350" dirty="0">
                <a:solidFill>
                  <a:prstClr val="black"/>
                </a:solidFill>
                <a:latin typeface="Times New Roman"/>
              </a:rPr>
              <a:t>detection, mechanical actuation, temperature</a:t>
            </a:r>
          </a:p>
          <a:p>
            <a:pPr defTabSz="685800"/>
            <a:r>
              <a:rPr lang="en-US" sz="1350" dirty="0">
                <a:solidFill>
                  <a:prstClr val="black"/>
                </a:solidFill>
                <a:latin typeface="Times New Roman"/>
              </a:rPr>
              <a:t>control, and heart rate sensing, the user can</a:t>
            </a:r>
          </a:p>
          <a:p>
            <a:pPr defTabSz="685800"/>
            <a:r>
              <a:rPr lang="en-US" sz="1350" dirty="0">
                <a:solidFill>
                  <a:prstClr val="black"/>
                </a:solidFill>
                <a:latin typeface="Times New Roman"/>
              </a:rPr>
              <a:t>improve upon sleep quality. Mechanical</a:t>
            </a:r>
          </a:p>
          <a:p>
            <a:pPr defTabSz="685800"/>
            <a:r>
              <a:rPr lang="en-US" sz="1350" dirty="0">
                <a:solidFill>
                  <a:prstClr val="black"/>
                </a:solidFill>
                <a:latin typeface="Times New Roman"/>
              </a:rPr>
              <a:t>actuation is shown to be more than 99%</a:t>
            </a:r>
          </a:p>
          <a:p>
            <a:pPr defTabSz="685800"/>
            <a:r>
              <a:rPr lang="en-US" sz="1350" dirty="0">
                <a:solidFill>
                  <a:prstClr val="black"/>
                </a:solidFill>
                <a:latin typeface="Times New Roman"/>
              </a:rPr>
              <a:t>accurate. To test mechanical actuation, the</a:t>
            </a:r>
          </a:p>
          <a:p>
            <a:pPr defTabSz="685800"/>
            <a:r>
              <a:rPr lang="en-US" sz="1350" dirty="0">
                <a:solidFill>
                  <a:prstClr val="black"/>
                </a:solidFill>
                <a:latin typeface="Times New Roman"/>
              </a:rPr>
              <a:t>pillow was set to 15.5 PSI (pound per square</a:t>
            </a:r>
          </a:p>
          <a:p>
            <a:pPr defTabSz="685800"/>
            <a:r>
              <a:rPr lang="en-US" sz="1350" dirty="0">
                <a:solidFill>
                  <a:prstClr val="black"/>
                </a:solidFill>
                <a:latin typeface="Times New Roman"/>
              </a:rPr>
              <a:t>inch). After eight hours, the pillow</a:t>
            </a:r>
          </a:p>
          <a:p>
            <a:pPr defTabSz="685800"/>
            <a:r>
              <a:rPr lang="en-US" sz="1350" dirty="0">
                <a:solidFill>
                  <a:prstClr val="black"/>
                </a:solidFill>
                <a:latin typeface="Times New Roman"/>
              </a:rPr>
              <a:t>decreased to 15.4, a loss of 0.1. With such</a:t>
            </a:r>
          </a:p>
          <a:p>
            <a:pPr defTabSz="685800"/>
            <a:r>
              <a:rPr lang="en-US" sz="1350" dirty="0">
                <a:solidFill>
                  <a:prstClr val="black"/>
                </a:solidFill>
                <a:latin typeface="Times New Roman"/>
              </a:rPr>
              <a:t>mechanical actuation, the user is guaranteed</a:t>
            </a:r>
          </a:p>
          <a:p>
            <a:pPr defTabSz="685800"/>
            <a:r>
              <a:rPr lang="en-US" sz="1350" dirty="0">
                <a:solidFill>
                  <a:prstClr val="black"/>
                </a:solidFill>
                <a:latin typeface="Times New Roman"/>
              </a:rPr>
              <a:t>any desired firmness setting.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297000"/>
          </a:xfrm>
        </p:spPr>
        <p:txBody>
          <a:bodyPr>
            <a:noAutofit/>
          </a:bodyPr>
          <a:lstStyle/>
          <a:p>
            <a:pPr>
              <a:lnSpc>
                <a:spcPct val="150000"/>
              </a:lnSpc>
            </a:pPr>
            <a:r>
              <a:rPr lang="en-US" sz="3000" b="1" dirty="0"/>
              <a:t>All good essays should normally cite references to the existing literature that relates to the topic of the essay.</a:t>
            </a:r>
          </a:p>
          <a:p>
            <a:pPr>
              <a:lnSpc>
                <a:spcPct val="150000"/>
              </a:lnSpc>
            </a:pPr>
            <a:endParaRPr lang="en-US" sz="3000" b="1" dirty="0"/>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References</a:t>
            </a:r>
          </a:p>
        </p:txBody>
      </p:sp>
      <p:sp>
        <p:nvSpPr>
          <p:cNvPr id="3" name="Rectangle 2"/>
          <p:cNvSpPr/>
          <p:nvPr/>
        </p:nvSpPr>
        <p:spPr>
          <a:xfrm>
            <a:off x="1020980" y="5121112"/>
            <a:ext cx="7148175" cy="923330"/>
          </a:xfrm>
          <a:prstGeom prst="rect">
            <a:avLst/>
          </a:prstGeom>
        </p:spPr>
        <p:txBody>
          <a:bodyPr wrap="none">
            <a:spAutoFit/>
          </a:bodyPr>
          <a:lstStyle/>
          <a:p>
            <a:pPr defTabSz="685800"/>
            <a:r>
              <a:rPr lang="en-US" sz="2700" dirty="0">
                <a:solidFill>
                  <a:prstClr val="black"/>
                </a:solidFill>
                <a:latin typeface="Times New Roman"/>
                <a:hlinkClick r:id="rId2"/>
              </a:rPr>
              <a:t>https://www.ieee.org/documents/style_manual.pdf</a:t>
            </a:r>
            <a:endParaRPr lang="en-US" sz="2700" dirty="0">
              <a:solidFill>
                <a:prstClr val="black"/>
              </a:solidFill>
              <a:latin typeface="Times New Roman"/>
            </a:endParaRPr>
          </a:p>
          <a:p>
            <a:pPr defTabSz="685800"/>
            <a:endParaRPr lang="en-US" sz="2700" dirty="0">
              <a:solidFill>
                <a:prstClr val="black"/>
              </a:solidFill>
              <a:latin typeface="Times New Roman"/>
            </a:endParaRPr>
          </a:p>
        </p:txBody>
      </p:sp>
      <p:sp>
        <p:nvSpPr>
          <p:cNvPr id="5" name="Rectangle 4"/>
          <p:cNvSpPr/>
          <p:nvPr/>
        </p:nvSpPr>
        <p:spPr>
          <a:xfrm>
            <a:off x="86959" y="4047245"/>
            <a:ext cx="9364680" cy="784830"/>
          </a:xfrm>
          <a:prstGeom prst="rect">
            <a:avLst/>
          </a:prstGeom>
        </p:spPr>
        <p:txBody>
          <a:bodyPr wrap="none">
            <a:spAutoFit/>
          </a:bodyPr>
          <a:lstStyle/>
          <a:p>
            <a:pPr defTabSz="685800"/>
            <a:r>
              <a:rPr lang="en-US" sz="4500" dirty="0">
                <a:solidFill>
                  <a:srgbClr val="C00000"/>
                </a:solidFill>
                <a:latin typeface="Times New Roman"/>
              </a:rPr>
              <a:t>IEEE EDITORIAL STYLE MANUAL </a:t>
            </a:r>
          </a:p>
        </p:txBody>
      </p:sp>
    </p:spTree>
    <p:extLst>
      <p:ext uri="{BB962C8B-B14F-4D97-AF65-F5344CB8AC3E}">
        <p14:creationId xmlns:p14="http://schemas.microsoft.com/office/powerpoint/2010/main" val="17272345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53B5DD0-C9B9-5FD9-6190-E02AE77D8114}"/>
              </a:ext>
            </a:extLst>
          </p:cNvPr>
          <p:cNvSpPr>
            <a:spLocks noGrp="1"/>
          </p:cNvSpPr>
          <p:nvPr>
            <p:ph type="subTitle" idx="1"/>
          </p:nvPr>
        </p:nvSpPr>
        <p:spPr>
          <a:xfrm>
            <a:off x="152400" y="76200"/>
            <a:ext cx="9067800" cy="6248400"/>
          </a:xfrm>
        </p:spPr>
        <p:txBody>
          <a:bodyPr>
            <a:normAutofit/>
          </a:bodyPr>
          <a:lstStyle/>
          <a:p>
            <a:pPr algn="l"/>
            <a:r>
              <a:rPr lang="en-US" sz="2800" dirty="0"/>
              <a:t>Unlike other styles of writing, scientific writing rarely includes direct quotations.</a:t>
            </a:r>
          </a:p>
          <a:p>
            <a:pPr algn="l"/>
            <a:endParaRPr lang="en-US" sz="2800" dirty="0"/>
          </a:p>
          <a:p>
            <a:pPr algn="l"/>
            <a:r>
              <a:rPr lang="en-US" sz="2800" dirty="0"/>
              <a:t>You can correctly paraphrase, or use the results of a research, then give the reference. </a:t>
            </a:r>
          </a:p>
          <a:p>
            <a:pPr algn="l"/>
            <a:endParaRPr lang="en-US" sz="2800" dirty="0"/>
          </a:p>
          <a:p>
            <a:pPr algn="l"/>
            <a:r>
              <a:rPr lang="en-US" sz="2800" dirty="0"/>
              <a:t>Paraphrasing is not changing a few words. It means re-writing in your own words. </a:t>
            </a:r>
          </a:p>
        </p:txBody>
      </p:sp>
      <p:pic>
        <p:nvPicPr>
          <p:cNvPr id="5" name="Picture 4">
            <a:extLst>
              <a:ext uri="{FF2B5EF4-FFF2-40B4-BE49-F238E27FC236}">
                <a16:creationId xmlns:a16="http://schemas.microsoft.com/office/drawing/2014/main" id="{AF12AA6E-B32C-CF92-0300-C4DFB643438D}"/>
              </a:ext>
            </a:extLst>
          </p:cNvPr>
          <p:cNvPicPr>
            <a:picLocks noChangeAspect="1"/>
          </p:cNvPicPr>
          <p:nvPr/>
        </p:nvPicPr>
        <p:blipFill>
          <a:blip r:embed="rId2"/>
          <a:stretch>
            <a:fillRect/>
          </a:stretch>
        </p:blipFill>
        <p:spPr>
          <a:xfrm>
            <a:off x="1143000" y="3733801"/>
            <a:ext cx="7577040" cy="3124200"/>
          </a:xfrm>
          <a:prstGeom prst="rect">
            <a:avLst/>
          </a:prstGeom>
        </p:spPr>
      </p:pic>
    </p:spTree>
    <p:extLst>
      <p:ext uri="{BB962C8B-B14F-4D97-AF65-F5344CB8AC3E}">
        <p14:creationId xmlns:p14="http://schemas.microsoft.com/office/powerpoint/2010/main" val="35665880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620981"/>
            <a:ext cx="9144000" cy="4297000"/>
          </a:xfrm>
        </p:spPr>
        <p:txBody>
          <a:bodyPr>
            <a:noAutofit/>
          </a:bodyPr>
          <a:lstStyle/>
          <a:p>
            <a:pPr>
              <a:lnSpc>
                <a:spcPct val="150000"/>
              </a:lnSpc>
            </a:pPr>
            <a:r>
              <a:rPr lang="en-US" sz="3000" b="1" dirty="0"/>
              <a:t>Types of illustrations: </a:t>
            </a:r>
          </a:p>
          <a:p>
            <a:pPr lvl="1">
              <a:lnSpc>
                <a:spcPct val="150000"/>
              </a:lnSpc>
            </a:pPr>
            <a:r>
              <a:rPr lang="en-US" sz="2700" b="1" dirty="0">
                <a:solidFill>
                  <a:srgbClr val="C00000"/>
                </a:solidFill>
              </a:rPr>
              <a:t>Tables:</a:t>
            </a:r>
            <a:r>
              <a:rPr lang="en-US" sz="2700" b="1" dirty="0"/>
              <a:t> Show numerical data </a:t>
            </a:r>
          </a:p>
          <a:p>
            <a:pPr lvl="1">
              <a:lnSpc>
                <a:spcPct val="150000"/>
              </a:lnSpc>
            </a:pPr>
            <a:r>
              <a:rPr lang="en-US" sz="2700" b="1" dirty="0">
                <a:solidFill>
                  <a:srgbClr val="C00000"/>
                </a:solidFill>
              </a:rPr>
              <a:t>Graphs: </a:t>
            </a:r>
            <a:r>
              <a:rPr lang="en-US" sz="2700" b="1" dirty="0"/>
              <a:t>Show changes, Compare data</a:t>
            </a:r>
          </a:p>
          <a:p>
            <a:pPr lvl="1">
              <a:lnSpc>
                <a:spcPct val="150000"/>
              </a:lnSpc>
            </a:pPr>
            <a:r>
              <a:rPr lang="en-US" sz="2700" b="1" dirty="0">
                <a:solidFill>
                  <a:srgbClr val="C00000"/>
                </a:solidFill>
              </a:rPr>
              <a:t>Diagrams / Drawings</a:t>
            </a:r>
            <a:r>
              <a:rPr lang="en-US" sz="2700" b="1" dirty="0"/>
              <a:t>: Show &amp; control details; ability to</a:t>
            </a:r>
          </a:p>
          <a:p>
            <a:pPr lvl="2">
              <a:lnSpc>
                <a:spcPct val="150000"/>
              </a:lnSpc>
            </a:pPr>
            <a:r>
              <a:rPr lang="en-US" sz="2400" b="1" dirty="0"/>
              <a:t>Show flow of a variable through a system</a:t>
            </a:r>
          </a:p>
          <a:p>
            <a:pPr lvl="1">
              <a:lnSpc>
                <a:spcPct val="150000"/>
              </a:lnSpc>
            </a:pPr>
            <a:r>
              <a:rPr lang="en-US" sz="2700" b="1" dirty="0">
                <a:solidFill>
                  <a:srgbClr val="C00000"/>
                </a:solidFill>
              </a:rPr>
              <a:t>Photographs</a:t>
            </a:r>
            <a:r>
              <a:rPr lang="en-US" sz="2700" b="1" dirty="0"/>
              <a:t>: </a:t>
            </a:r>
            <a:r>
              <a:rPr lang="en-US" sz="2400" b="1" dirty="0"/>
              <a:t>The main advantage of photographs is realism </a:t>
            </a:r>
          </a:p>
        </p:txBody>
      </p:sp>
      <p:sp>
        <p:nvSpPr>
          <p:cNvPr id="4" name="Title 1"/>
          <p:cNvSpPr txBox="1">
            <a:spLocks/>
          </p:cNvSpPr>
          <p:nvPr/>
        </p:nvSpPr>
        <p:spPr>
          <a:xfrm>
            <a:off x="0" y="857250"/>
            <a:ext cx="9144000" cy="592282"/>
          </a:xfrm>
          <a:prstGeom prst="rect">
            <a:avLst/>
          </a:prstGeom>
          <a:solidFill>
            <a:schemeClr val="accent4">
              <a:lumMod val="40000"/>
              <a:lumOff val="60000"/>
            </a:schemeClr>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r>
              <a:rPr lang="en-US" sz="3300" b="1" dirty="0">
                <a:solidFill>
                  <a:prstClr val="black"/>
                </a:solidFill>
                <a:latin typeface="Times New Roman" panose="02020603050405020304"/>
              </a:rPr>
              <a:t>Illustrations</a:t>
            </a:r>
          </a:p>
        </p:txBody>
      </p:sp>
    </p:spTree>
    <p:extLst>
      <p:ext uri="{BB962C8B-B14F-4D97-AF65-F5344CB8AC3E}">
        <p14:creationId xmlns:p14="http://schemas.microsoft.com/office/powerpoint/2010/main" val="26196955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871" y="1071973"/>
            <a:ext cx="7886700" cy="482902"/>
          </a:xfrm>
        </p:spPr>
        <p:txBody>
          <a:bodyPr>
            <a:normAutofit fontScale="90000"/>
          </a:bodyPr>
          <a:lstStyle/>
          <a:p>
            <a:r>
              <a:rPr lang="en-US" dirty="0"/>
              <a:t>Checklist</a:t>
            </a:r>
          </a:p>
        </p:txBody>
      </p:sp>
      <p:sp>
        <p:nvSpPr>
          <p:cNvPr id="3" name="Content Placeholder 2"/>
          <p:cNvSpPr>
            <a:spLocks noGrp="1"/>
          </p:cNvSpPr>
          <p:nvPr>
            <p:ph idx="1"/>
          </p:nvPr>
        </p:nvSpPr>
        <p:spPr>
          <a:xfrm>
            <a:off x="168216" y="1554874"/>
            <a:ext cx="8863640" cy="4445876"/>
          </a:xfrm>
        </p:spPr>
        <p:txBody>
          <a:bodyPr/>
          <a:lstStyle/>
          <a:p>
            <a:r>
              <a:rPr lang="en-US" b="1" dirty="0"/>
              <a:t>Does the essay have an </a:t>
            </a:r>
            <a:r>
              <a:rPr lang="en-US" b="1" dirty="0">
                <a:solidFill>
                  <a:srgbClr val="C00000"/>
                </a:solidFill>
              </a:rPr>
              <a:t>abstract</a:t>
            </a:r>
            <a:r>
              <a:rPr lang="en-US" b="1" dirty="0"/>
              <a:t>?</a:t>
            </a:r>
          </a:p>
          <a:p>
            <a:r>
              <a:rPr lang="en-US" b="1" dirty="0"/>
              <a:t>Does the essay have an </a:t>
            </a:r>
            <a:r>
              <a:rPr lang="en-US" b="1" dirty="0">
                <a:solidFill>
                  <a:srgbClr val="C00000"/>
                </a:solidFill>
              </a:rPr>
              <a:t>introduction</a:t>
            </a:r>
            <a:r>
              <a:rPr lang="en-US" b="1" dirty="0"/>
              <a:t>?</a:t>
            </a:r>
          </a:p>
          <a:p>
            <a:r>
              <a:rPr lang="en-US" b="1" dirty="0"/>
              <a:t>Does the essay have a valid set of </a:t>
            </a:r>
            <a:r>
              <a:rPr lang="en-US" b="1" dirty="0">
                <a:solidFill>
                  <a:srgbClr val="C00000"/>
                </a:solidFill>
              </a:rPr>
              <a:t>conclusions</a:t>
            </a:r>
            <a:r>
              <a:rPr lang="en-US" b="1" dirty="0"/>
              <a:t>?</a:t>
            </a:r>
          </a:p>
          <a:p>
            <a:r>
              <a:rPr lang="en-US" b="1" dirty="0"/>
              <a:t>Does the essay </a:t>
            </a:r>
            <a:r>
              <a:rPr lang="en-US" b="1" dirty="0">
                <a:solidFill>
                  <a:srgbClr val="C00000"/>
                </a:solidFill>
              </a:rPr>
              <a:t>address the question </a:t>
            </a:r>
            <a:r>
              <a:rPr lang="en-US" b="1" dirty="0"/>
              <a:t>that was asked?</a:t>
            </a:r>
          </a:p>
          <a:p>
            <a:r>
              <a:rPr lang="en-US" b="1" dirty="0"/>
              <a:t>Is there an entry in the </a:t>
            </a:r>
            <a:r>
              <a:rPr lang="en-US" b="1" dirty="0">
                <a:solidFill>
                  <a:srgbClr val="C00000"/>
                </a:solidFill>
              </a:rPr>
              <a:t>reference list </a:t>
            </a:r>
            <a:r>
              <a:rPr lang="en-US" b="1" dirty="0"/>
              <a:t>for every article that is cited in the  essay?</a:t>
            </a:r>
          </a:p>
          <a:p>
            <a:r>
              <a:rPr lang="en-US" b="1" dirty="0"/>
              <a:t>Have I </a:t>
            </a:r>
            <a:r>
              <a:rPr lang="en-US" b="1" dirty="0">
                <a:solidFill>
                  <a:srgbClr val="C00000"/>
                </a:solidFill>
              </a:rPr>
              <a:t>spellchecked</a:t>
            </a:r>
            <a:r>
              <a:rPr lang="en-US" b="1" dirty="0"/>
              <a:t> the essay?</a:t>
            </a:r>
          </a:p>
          <a:p>
            <a:r>
              <a:rPr lang="en-US" b="1" dirty="0"/>
              <a:t>Are </a:t>
            </a:r>
            <a:r>
              <a:rPr lang="en-US" b="1" dirty="0">
                <a:solidFill>
                  <a:srgbClr val="C00000"/>
                </a:solidFill>
              </a:rPr>
              <a:t>tables/diagrams/ images </a:t>
            </a:r>
            <a:r>
              <a:rPr lang="en-US" b="1" dirty="0"/>
              <a:t>captioned, and addressed in the text? </a:t>
            </a:r>
          </a:p>
          <a:p>
            <a:r>
              <a:rPr lang="en-US" b="1" dirty="0"/>
              <a:t>Are </a:t>
            </a:r>
            <a:r>
              <a:rPr lang="en-US" b="1" dirty="0">
                <a:solidFill>
                  <a:srgbClr val="C00000"/>
                </a:solidFill>
              </a:rPr>
              <a:t>citations/references </a:t>
            </a:r>
            <a:r>
              <a:rPr lang="en-US" b="1" dirty="0"/>
              <a:t>follow the </a:t>
            </a:r>
            <a:r>
              <a:rPr lang="en-US" b="1" dirty="0">
                <a:solidFill>
                  <a:srgbClr val="C00000"/>
                </a:solidFill>
              </a:rPr>
              <a:t>IEEE</a:t>
            </a:r>
            <a:r>
              <a:rPr lang="en-US" b="1" dirty="0"/>
              <a:t> style manual?</a:t>
            </a:r>
          </a:p>
          <a:p>
            <a:endParaRPr lang="en-US" b="1" dirty="0"/>
          </a:p>
        </p:txBody>
      </p:sp>
    </p:spTree>
    <p:extLst>
      <p:ext uri="{BB962C8B-B14F-4D97-AF65-F5344CB8AC3E}">
        <p14:creationId xmlns:p14="http://schemas.microsoft.com/office/powerpoint/2010/main" val="14169624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bwMode="auto">
          <a:xfrm>
            <a:off x="348307" y="1011709"/>
            <a:ext cx="6809490" cy="4735727"/>
            <a:chOff x="360" y="201"/>
            <a:chExt cx="5881" cy="4090"/>
          </a:xfrm>
        </p:grpSpPr>
        <p:sp>
          <p:nvSpPr>
            <p:cNvPr id="6" name="AutoShape 3"/>
            <p:cNvSpPr>
              <a:spLocks noChangeAspect="1" noChangeArrowheads="1" noTextEdit="1"/>
            </p:cNvSpPr>
            <p:nvPr/>
          </p:nvSpPr>
          <p:spPr bwMode="auto">
            <a:xfrm>
              <a:off x="360" y="201"/>
              <a:ext cx="5881" cy="4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prstClr val="black"/>
                </a:solidFill>
                <a:latin typeface="Times New Roman"/>
              </a:endParaRPr>
            </a:p>
          </p:txBody>
        </p:sp>
        <p:pic>
          <p:nvPicPr>
            <p:cNvPr id="205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0" y="201"/>
              <a:ext cx="5890" cy="4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1"/>
          <p:cNvSpPr/>
          <p:nvPr/>
        </p:nvSpPr>
        <p:spPr>
          <a:xfrm>
            <a:off x="6314302" y="5757858"/>
            <a:ext cx="2829698" cy="438582"/>
          </a:xfrm>
          <a:prstGeom prst="rect">
            <a:avLst/>
          </a:prstGeom>
        </p:spPr>
        <p:txBody>
          <a:bodyPr wrap="square">
            <a:spAutoFit/>
          </a:bodyPr>
          <a:lstStyle/>
          <a:p>
            <a:pPr defTabSz="685800"/>
            <a:r>
              <a:rPr lang="en-US" sz="750" dirty="0">
                <a:solidFill>
                  <a:prstClr val="black"/>
                </a:solidFill>
                <a:latin typeface="Times New Roman"/>
                <a:hlinkClick r:id="rId3"/>
              </a:rPr>
              <a:t>http://web.mit.edu/me-ugoffice/communication/technical-writing.pdf</a:t>
            </a:r>
            <a:endParaRPr lang="en-US" sz="750" dirty="0">
              <a:solidFill>
                <a:prstClr val="black"/>
              </a:solidFill>
              <a:latin typeface="Times New Roman"/>
            </a:endParaRPr>
          </a:p>
          <a:p>
            <a:pPr defTabSz="685800"/>
            <a:endParaRPr lang="en-US" sz="750" dirty="0">
              <a:solidFill>
                <a:prstClr val="black"/>
              </a:solidFill>
              <a:latin typeface="Times New Roman"/>
            </a:endParaRPr>
          </a:p>
        </p:txBody>
      </p:sp>
    </p:spTree>
    <p:extLst>
      <p:ext uri="{BB962C8B-B14F-4D97-AF65-F5344CB8AC3E}">
        <p14:creationId xmlns:p14="http://schemas.microsoft.com/office/powerpoint/2010/main" val="26558507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bwMode="auto">
          <a:xfrm>
            <a:off x="1210962" y="857251"/>
            <a:ext cx="7291870" cy="4929368"/>
            <a:chOff x="497" y="0"/>
            <a:chExt cx="6494" cy="4390"/>
          </a:xfrm>
        </p:grpSpPr>
        <p:sp>
          <p:nvSpPr>
            <p:cNvPr id="6" name="AutoShape 3"/>
            <p:cNvSpPr>
              <a:spLocks noChangeAspect="1" noChangeArrowheads="1" noTextEdit="1"/>
            </p:cNvSpPr>
            <p:nvPr/>
          </p:nvSpPr>
          <p:spPr bwMode="auto">
            <a:xfrm>
              <a:off x="675" y="0"/>
              <a:ext cx="5863" cy="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800"/>
              <a:endParaRPr lang="en-US" sz="1350">
                <a:solidFill>
                  <a:prstClr val="black"/>
                </a:solidFill>
                <a:latin typeface="Times New Roman"/>
              </a:endParaRPr>
            </a:p>
          </p:txBody>
        </p:sp>
        <p:pic>
          <p:nvPicPr>
            <p:cNvPr id="205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7" y="0"/>
              <a:ext cx="6494" cy="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1"/>
          <p:cNvSpPr/>
          <p:nvPr/>
        </p:nvSpPr>
        <p:spPr>
          <a:xfrm>
            <a:off x="1" y="5804543"/>
            <a:ext cx="2228495" cy="346249"/>
          </a:xfrm>
          <a:prstGeom prst="rect">
            <a:avLst/>
          </a:prstGeom>
        </p:spPr>
        <p:txBody>
          <a:bodyPr wrap="none">
            <a:spAutoFit/>
          </a:bodyPr>
          <a:lstStyle/>
          <a:p>
            <a:pPr defTabSz="685800"/>
            <a:r>
              <a:rPr lang="en-US" sz="825" dirty="0">
                <a:solidFill>
                  <a:prstClr val="black"/>
                </a:solidFill>
                <a:latin typeface="Times New Roman"/>
                <a:hlinkClick r:id="rId3"/>
              </a:rPr>
              <a:t>http://writing.umn.edu/tww/assets/pdfs/intro.pdf</a:t>
            </a:r>
            <a:endParaRPr lang="en-US" sz="825" dirty="0">
              <a:solidFill>
                <a:prstClr val="black"/>
              </a:solidFill>
              <a:latin typeface="Times New Roman"/>
            </a:endParaRPr>
          </a:p>
          <a:p>
            <a:pPr defTabSz="685800"/>
            <a:endParaRPr lang="en-US" sz="825" dirty="0">
              <a:solidFill>
                <a:prstClr val="black"/>
              </a:solidFill>
              <a:latin typeface="Times New Roman"/>
            </a:endParaRPr>
          </a:p>
        </p:txBody>
      </p:sp>
    </p:spTree>
    <p:extLst>
      <p:ext uri="{BB962C8B-B14F-4D97-AF65-F5344CB8AC3E}">
        <p14:creationId xmlns:p14="http://schemas.microsoft.com/office/powerpoint/2010/main" val="26848899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99023"/>
            <a:ext cx="6858000" cy="766310"/>
          </a:xfrm>
        </p:spPr>
        <p:txBody>
          <a:bodyPr/>
          <a:lstStyle/>
          <a:p>
            <a:r>
              <a:rPr lang="en-US" b="1" dirty="0"/>
              <a:t>ENGR 181W</a:t>
            </a:r>
          </a:p>
        </p:txBody>
      </p:sp>
      <p:sp>
        <p:nvSpPr>
          <p:cNvPr id="4" name="Rectangle 3"/>
          <p:cNvSpPr/>
          <p:nvPr/>
        </p:nvSpPr>
        <p:spPr>
          <a:xfrm>
            <a:off x="229550" y="5239003"/>
            <a:ext cx="6418385" cy="1477328"/>
          </a:xfrm>
          <a:prstGeom prst="rect">
            <a:avLst/>
          </a:prstGeom>
        </p:spPr>
        <p:txBody>
          <a:bodyPr wrap="square">
            <a:spAutoFit/>
          </a:bodyPr>
          <a:lstStyle/>
          <a:p>
            <a:pPr defTabSz="685800">
              <a:defRPr/>
            </a:pPr>
            <a:r>
              <a:rPr lang="en-US" sz="900" dirty="0">
                <a:solidFill>
                  <a:prstClr val="black"/>
                </a:solidFill>
                <a:latin typeface="Calibri"/>
                <a:hlinkClick r:id="rId2"/>
              </a:rPr>
              <a:t>https://www.unl.edu/gradstudies/connections/scientific-writing</a:t>
            </a:r>
            <a:endParaRPr lang="en-US" sz="900" dirty="0">
              <a:solidFill>
                <a:prstClr val="black"/>
              </a:solidFill>
              <a:latin typeface="Calibri"/>
            </a:endParaRPr>
          </a:p>
          <a:p>
            <a:pPr defTabSz="685800">
              <a:defRPr/>
            </a:pPr>
            <a:r>
              <a:rPr lang="en-US" sz="900" dirty="0">
                <a:solidFill>
                  <a:prstClr val="black"/>
                </a:solidFill>
                <a:latin typeface="Calibri"/>
                <a:hlinkClick r:id="rId3"/>
              </a:rPr>
              <a:t>https://www.iup.edu/writingcenter/writing-resources/organization-and-structure/creating-an-outline/</a:t>
            </a:r>
            <a:endParaRPr lang="en-US" sz="900" dirty="0">
              <a:solidFill>
                <a:prstClr val="black"/>
              </a:solidFill>
              <a:latin typeface="Calibri"/>
            </a:endParaRPr>
          </a:p>
          <a:p>
            <a:pPr defTabSz="685800">
              <a:defRPr/>
            </a:pPr>
            <a:r>
              <a:rPr lang="en-US" sz="900" dirty="0">
                <a:solidFill>
                  <a:prstClr val="black"/>
                </a:solidFill>
                <a:latin typeface="Calibri"/>
                <a:hlinkClick r:id="rId4"/>
              </a:rPr>
              <a:t>https://www.monmouth.edu/resources-for-writers/documents/transitions.pdf/</a:t>
            </a:r>
            <a:endParaRPr lang="en-US" sz="900" dirty="0">
              <a:solidFill>
                <a:prstClr val="black"/>
              </a:solidFill>
              <a:latin typeface="Calibri"/>
            </a:endParaRPr>
          </a:p>
          <a:p>
            <a:pPr defTabSz="685800">
              <a:defRPr/>
            </a:pPr>
            <a:r>
              <a:rPr lang="en-US" sz="900" dirty="0">
                <a:solidFill>
                  <a:prstClr val="black"/>
                </a:solidFill>
                <a:latin typeface="Calibri"/>
                <a:hlinkClick r:id="rId5"/>
              </a:rPr>
              <a:t>https://www.emmelaw.com/wp-content/uploads/2018/04/What-makes-a-good-document.pdf</a:t>
            </a:r>
            <a:endParaRPr lang="en-US" sz="900" dirty="0">
              <a:solidFill>
                <a:prstClr val="black"/>
              </a:solidFill>
              <a:latin typeface="Calibri"/>
            </a:endParaRPr>
          </a:p>
          <a:p>
            <a:pPr defTabSz="685800">
              <a:defRPr/>
            </a:pPr>
            <a:r>
              <a:rPr lang="en-US" sz="900" dirty="0">
                <a:solidFill>
                  <a:srgbClr val="000000"/>
                </a:solidFill>
                <a:latin typeface="Arial Unicode MS"/>
              </a:rPr>
              <a:t>Eunson, Baden. </a:t>
            </a:r>
            <a:r>
              <a:rPr lang="en-US" sz="900" i="1" dirty="0">
                <a:solidFill>
                  <a:srgbClr val="000000"/>
                </a:solidFill>
                <a:latin typeface="Arial Unicode MS"/>
              </a:rPr>
              <a:t>Communicating in the 21st Century, 4th Edition</a:t>
            </a:r>
            <a:r>
              <a:rPr lang="en-US" sz="900" dirty="0">
                <a:solidFill>
                  <a:srgbClr val="000000"/>
                </a:solidFill>
                <a:latin typeface="Arial Unicode MS"/>
              </a:rPr>
              <a:t>. John Wiley &amp; Sons, 2015. Print.</a:t>
            </a:r>
            <a:endParaRPr lang="en-US" sz="900" dirty="0">
              <a:solidFill>
                <a:prstClr val="black"/>
              </a:solidFill>
              <a:latin typeface="Calibri"/>
            </a:endParaRPr>
          </a:p>
          <a:p>
            <a:pPr defTabSz="685800">
              <a:defRPr/>
            </a:pPr>
            <a:endParaRPr lang="en-US" sz="900" dirty="0">
              <a:solidFill>
                <a:prstClr val="black"/>
              </a:solidFill>
              <a:latin typeface="Calibri"/>
            </a:endParaRPr>
          </a:p>
          <a:p>
            <a:pPr defTabSz="685800">
              <a:defRPr/>
            </a:pPr>
            <a:endParaRPr lang="en-US" sz="900" dirty="0">
              <a:solidFill>
                <a:prstClr val="black"/>
              </a:solidFill>
              <a:latin typeface="Calibri"/>
            </a:endParaRPr>
          </a:p>
          <a:p>
            <a:pPr defTabSz="685800">
              <a:defRPr/>
            </a:pPr>
            <a:endParaRPr lang="en-US" sz="900" dirty="0">
              <a:solidFill>
                <a:prstClr val="black"/>
              </a:solidFill>
              <a:latin typeface="Calibri"/>
            </a:endParaRPr>
          </a:p>
          <a:p>
            <a:pPr defTabSz="685800">
              <a:defRPr/>
            </a:pPr>
            <a:endParaRPr lang="en-US" sz="900" dirty="0">
              <a:solidFill>
                <a:prstClr val="black"/>
              </a:solidFill>
              <a:latin typeface="Calibri"/>
            </a:endParaRPr>
          </a:p>
          <a:p>
            <a:pPr defTabSz="685800">
              <a:defRPr/>
            </a:pPr>
            <a:endParaRPr lang="en-US" sz="900" dirty="0">
              <a:solidFill>
                <a:prstClr val="black"/>
              </a:solidFill>
              <a:latin typeface="Calibri"/>
            </a:endParaRPr>
          </a:p>
        </p:txBody>
      </p:sp>
    </p:spTree>
    <p:extLst>
      <p:ext uri="{BB962C8B-B14F-4D97-AF65-F5344CB8AC3E}">
        <p14:creationId xmlns:p14="http://schemas.microsoft.com/office/powerpoint/2010/main" val="5655401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a:bodyPr>
          <a:lstStyle/>
          <a:p>
            <a:pPr algn="l"/>
            <a:r>
              <a:rPr lang="en-US" sz="3600" b="1" dirty="0"/>
              <a:t>What is scientific writing? </a:t>
            </a:r>
            <a:br>
              <a:rPr lang="en-US" sz="3600" b="1" dirty="0"/>
            </a:br>
            <a:br>
              <a:rPr lang="en-US" sz="3600" b="1" dirty="0"/>
            </a:br>
            <a:r>
              <a:rPr lang="en-US" sz="3600" b="1" dirty="0"/>
              <a:t>Scientific writing is not just writing about science.</a:t>
            </a:r>
            <a:br>
              <a:rPr lang="en-US" sz="3600" b="1" dirty="0"/>
            </a:br>
            <a:br>
              <a:rPr lang="en-US" sz="3600" b="1" dirty="0"/>
            </a:br>
            <a:r>
              <a:rPr lang="en-US" sz="3600" b="1" dirty="0"/>
              <a:t>Scientific writing is a type of technical writing 	that researchers and scientists write about 	their studies and share it with others.</a:t>
            </a:r>
            <a:br>
              <a:rPr lang="en-US" sz="3600" b="1" dirty="0"/>
            </a:br>
            <a:endParaRPr lang="en-US" sz="3600" b="1" dirty="0"/>
          </a:p>
        </p:txBody>
      </p:sp>
      <p:sp>
        <p:nvSpPr>
          <p:cNvPr id="5" name="TextBox 4">
            <a:extLst>
              <a:ext uri="{FF2B5EF4-FFF2-40B4-BE49-F238E27FC236}">
                <a16:creationId xmlns:a16="http://schemas.microsoft.com/office/drawing/2014/main" id="{6C592154-E916-4B38-89D9-3E0CB3DE9A93}"/>
              </a:ext>
            </a:extLst>
          </p:cNvPr>
          <p:cNvSpPr txBox="1"/>
          <p:nvPr/>
        </p:nvSpPr>
        <p:spPr>
          <a:xfrm>
            <a:off x="53578" y="5411907"/>
            <a:ext cx="9090422" cy="657872"/>
          </a:xfrm>
          <a:prstGeom prst="rect">
            <a:avLst/>
          </a:prstGeom>
          <a:solidFill>
            <a:schemeClr val="accent4">
              <a:lumMod val="60000"/>
              <a:lumOff val="40000"/>
            </a:schemeClr>
          </a:solidFill>
        </p:spPr>
        <p:txBody>
          <a:bodyPr wrap="square" rtlCol="0">
            <a:spAutoFit/>
          </a:bodyPr>
          <a:lstStyle/>
          <a:p>
            <a:pPr defTabSz="685800">
              <a:defRPr/>
            </a:pPr>
            <a:r>
              <a:rPr lang="en-US" sz="1275" b="1" i="1" dirty="0">
                <a:solidFill>
                  <a:srgbClr val="424240"/>
                </a:solidFill>
                <a:latin typeface="Gotham SSm A"/>
              </a:rPr>
              <a:t>This is a summary of an interview with Dr. Rick Lombardo from the Office of Graduate Studies of University of Nebraska-Lincoln </a:t>
            </a:r>
            <a:r>
              <a:rPr lang="en-US" sz="1050" b="1" dirty="0">
                <a:solidFill>
                  <a:prstClr val="black"/>
                </a:solidFill>
                <a:latin typeface="Calibri"/>
                <a:hlinkClick r:id="rId2"/>
              </a:rPr>
              <a:t>https://www.unl.edu/gradstudies/connections/scientific-writing</a:t>
            </a:r>
            <a:endParaRPr lang="en-US" sz="1050" b="1" dirty="0">
              <a:solidFill>
                <a:prstClr val="black"/>
              </a:solidFill>
              <a:latin typeface="Calibri"/>
            </a:endParaRPr>
          </a:p>
          <a:p>
            <a:pPr defTabSz="685800">
              <a:defRPr/>
            </a:pPr>
            <a:endParaRPr lang="en-US" sz="1350" b="1" dirty="0">
              <a:solidFill>
                <a:prstClr val="black"/>
              </a:solidFill>
              <a:latin typeface="Calibri"/>
            </a:endParaRPr>
          </a:p>
        </p:txBody>
      </p:sp>
    </p:spTree>
    <p:extLst>
      <p:ext uri="{BB962C8B-B14F-4D97-AF65-F5344CB8AC3E}">
        <p14:creationId xmlns:p14="http://schemas.microsoft.com/office/powerpoint/2010/main" val="29065592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a:bodyPr>
          <a:lstStyle/>
          <a:p>
            <a:pPr marL="514350" indent="-514350" algn="l">
              <a:buFont typeface="Wingdings" panose="05000000000000000000" pitchFamily="2" charset="2"/>
              <a:buChar char="Ø"/>
            </a:pPr>
            <a:r>
              <a:rPr lang="en-US" sz="3600" b="1" dirty="0"/>
              <a:t> Scientific writing must reflect the same precision of the research process. </a:t>
            </a:r>
            <a:br>
              <a:rPr lang="en-US" sz="3600" b="1" dirty="0"/>
            </a:br>
            <a:br>
              <a:rPr lang="en-US" sz="3600" b="1" dirty="0"/>
            </a:br>
            <a:r>
              <a:rPr lang="en-US" sz="3600" b="1" dirty="0"/>
              <a:t>Scientific communication demands:</a:t>
            </a:r>
            <a:br>
              <a:rPr lang="en-US" sz="3600" b="1" dirty="0"/>
            </a:br>
            <a:r>
              <a:rPr lang="en-US" sz="3600" b="1" dirty="0"/>
              <a:t>	</a:t>
            </a:r>
            <a:br>
              <a:rPr lang="en-US" sz="3600" b="1" dirty="0"/>
            </a:br>
            <a:r>
              <a:rPr lang="en-US" sz="3600" b="1" dirty="0"/>
              <a:t>	- Precision </a:t>
            </a:r>
            <a:br>
              <a:rPr lang="en-US" sz="3600" b="1" dirty="0"/>
            </a:br>
            <a:r>
              <a:rPr lang="en-US" sz="3600" b="1" dirty="0"/>
              <a:t>		- the precise use of words and phrases</a:t>
            </a:r>
            <a:br>
              <a:rPr lang="en-US" sz="3600" b="1" dirty="0"/>
            </a:br>
            <a:r>
              <a:rPr lang="en-US" sz="3600" b="1" dirty="0"/>
              <a:t> 	- Clarity, and </a:t>
            </a:r>
            <a:br>
              <a:rPr lang="en-US" sz="3600" b="1" dirty="0"/>
            </a:br>
            <a:r>
              <a:rPr lang="en-US" sz="3600" b="1" dirty="0"/>
              <a:t>	- Economy</a:t>
            </a:r>
          </a:p>
        </p:txBody>
      </p:sp>
    </p:spTree>
    <p:extLst>
      <p:ext uri="{BB962C8B-B14F-4D97-AF65-F5344CB8AC3E}">
        <p14:creationId xmlns:p14="http://schemas.microsoft.com/office/powerpoint/2010/main" val="5210224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08DEC19-9522-437A-83C1-8883B66A9643}"/>
              </a:ext>
            </a:extLst>
          </p:cNvPr>
          <p:cNvGraphicFramePr>
            <a:graphicFrameLocks noGrp="1"/>
          </p:cNvGraphicFramePr>
          <p:nvPr/>
        </p:nvGraphicFramePr>
        <p:xfrm>
          <a:off x="39914" y="1096736"/>
          <a:ext cx="9075058" cy="4593772"/>
        </p:xfrm>
        <a:graphic>
          <a:graphicData uri="http://schemas.openxmlformats.org/drawingml/2006/table">
            <a:tbl>
              <a:tblPr firstRow="1" firstCol="1" bandRow="1"/>
              <a:tblGrid>
                <a:gridCol w="4537529">
                  <a:extLst>
                    <a:ext uri="{9D8B030D-6E8A-4147-A177-3AD203B41FA5}">
                      <a16:colId xmlns:a16="http://schemas.microsoft.com/office/drawing/2014/main" val="755126098"/>
                    </a:ext>
                  </a:extLst>
                </a:gridCol>
                <a:gridCol w="4537529">
                  <a:extLst>
                    <a:ext uri="{9D8B030D-6E8A-4147-A177-3AD203B41FA5}">
                      <a16:colId xmlns:a16="http://schemas.microsoft.com/office/drawing/2014/main" val="4180836493"/>
                    </a:ext>
                  </a:extLst>
                </a:gridCol>
              </a:tblGrid>
              <a:tr h="474014">
                <a:tc>
                  <a:txBody>
                    <a:bodyPr/>
                    <a:lstStyle/>
                    <a:p>
                      <a:pPr marL="0" marR="0">
                        <a:lnSpc>
                          <a:spcPct val="107000"/>
                        </a:lnSpc>
                        <a:spcBef>
                          <a:spcPts val="0"/>
                        </a:spcBef>
                        <a:spcAft>
                          <a:spcPts val="0"/>
                        </a:spcAft>
                      </a:pPr>
                      <a:r>
                        <a:rPr lang="en-US" sz="2400" b="1" dirty="0">
                          <a:solidFill>
                            <a:schemeClr val="accent6">
                              <a:lumMod val="50000"/>
                            </a:schemeClr>
                          </a:solidFill>
                          <a:effectLst/>
                          <a:latin typeface="Times New Roman" panose="02020603050405020304" pitchFamily="18" charset="0"/>
                          <a:ea typeface="Times New Roman" panose="02020603050405020304" pitchFamily="18" charset="0"/>
                          <a:cs typeface="Arial" panose="020B0604020202020204" pitchFamily="34" charset="0"/>
                        </a:rPr>
                        <a:t>Technical Writing</a:t>
                      </a:r>
                      <a:endParaRPr lang="en-US" sz="2400" b="1" dirty="0">
                        <a:solidFill>
                          <a:schemeClr val="accent6">
                            <a:lumMod val="5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2400" b="1"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Academic/Scientific Writing </a:t>
                      </a:r>
                      <a:endParaRPr lang="en-US" sz="2400" b="1"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637230534"/>
                  </a:ext>
                </a:extLst>
              </a:tr>
              <a:tr h="2723166">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Technical writing focuses on providing detailed and lucid information about the product or service.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Academic writing focuses on proving a theory or viewpoint in one way or the other and emphasizes upon one specific subject.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extLst>
                  <a:ext uri="{0D108BD9-81ED-4DB2-BD59-A6C34878D82A}">
                    <a16:rowId xmlns:a16="http://schemas.microsoft.com/office/drawing/2014/main" val="2405921577"/>
                  </a:ext>
                </a:extLst>
              </a:tr>
              <a:tr h="1396592">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Technical writing contains factual and straight forward content.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Academic writing contains contents on specific discipline or field.</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extLst>
                  <a:ext uri="{0D108BD9-81ED-4DB2-BD59-A6C34878D82A}">
                    <a16:rowId xmlns:a16="http://schemas.microsoft.com/office/drawing/2014/main" val="2404400943"/>
                  </a:ext>
                </a:extLst>
              </a:tr>
            </a:tbl>
          </a:graphicData>
        </a:graphic>
      </p:graphicFrame>
      <p:cxnSp>
        <p:nvCxnSpPr>
          <p:cNvPr id="6" name="Straight Connector 5">
            <a:extLst>
              <a:ext uri="{FF2B5EF4-FFF2-40B4-BE49-F238E27FC236}">
                <a16:creationId xmlns:a16="http://schemas.microsoft.com/office/drawing/2014/main" id="{B601AE8D-082F-479A-B7B0-58CC91C3E3E9}"/>
              </a:ext>
            </a:extLst>
          </p:cNvPr>
          <p:cNvCxnSpPr/>
          <p:nvPr/>
        </p:nvCxnSpPr>
        <p:spPr>
          <a:xfrm>
            <a:off x="4412343" y="1209222"/>
            <a:ext cx="0" cy="438694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8669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B601AE8D-082F-479A-B7B0-58CC91C3E3E9}"/>
              </a:ext>
            </a:extLst>
          </p:cNvPr>
          <p:cNvCxnSpPr>
            <a:cxnSpLocks/>
          </p:cNvCxnSpPr>
          <p:nvPr/>
        </p:nvCxnSpPr>
        <p:spPr>
          <a:xfrm flipH="1">
            <a:off x="4452258" y="1209222"/>
            <a:ext cx="25400" cy="4386943"/>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3B119616-04D4-4D78-82D5-070FAC879B93}"/>
              </a:ext>
            </a:extLst>
          </p:cNvPr>
          <p:cNvGraphicFramePr>
            <a:graphicFrameLocks noGrp="1"/>
          </p:cNvGraphicFramePr>
          <p:nvPr/>
        </p:nvGraphicFramePr>
        <p:xfrm>
          <a:off x="79828" y="1401535"/>
          <a:ext cx="9013372" cy="4318001"/>
        </p:xfrm>
        <a:graphic>
          <a:graphicData uri="http://schemas.openxmlformats.org/drawingml/2006/table">
            <a:tbl>
              <a:tblPr firstRow="1" firstCol="1" bandRow="1"/>
              <a:tblGrid>
                <a:gridCol w="4506686">
                  <a:extLst>
                    <a:ext uri="{9D8B030D-6E8A-4147-A177-3AD203B41FA5}">
                      <a16:colId xmlns:a16="http://schemas.microsoft.com/office/drawing/2014/main" val="1894107875"/>
                    </a:ext>
                  </a:extLst>
                </a:gridCol>
                <a:gridCol w="4506686">
                  <a:extLst>
                    <a:ext uri="{9D8B030D-6E8A-4147-A177-3AD203B41FA5}">
                      <a16:colId xmlns:a16="http://schemas.microsoft.com/office/drawing/2014/main" val="60002049"/>
                    </a:ext>
                  </a:extLst>
                </a:gridCol>
              </a:tblGrid>
              <a:tr h="1089482">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Own or personal point views are not included.</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Own or personal point of view may be included.</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extLst>
                  <a:ext uri="{0D108BD9-81ED-4DB2-BD59-A6C34878D82A}">
                    <a16:rowId xmlns:a16="http://schemas.microsoft.com/office/drawing/2014/main" val="3130237177"/>
                  </a:ext>
                </a:extLst>
              </a:tr>
              <a:tr h="1399551">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Its purpose is getting something done.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tc>
                  <a:txBody>
                    <a:bodyPr/>
                    <a:lstStyle/>
                    <a:p>
                      <a:pPr marL="0" marR="0">
                        <a:lnSpc>
                          <a:spcPct val="107000"/>
                        </a:lnSpc>
                        <a:spcBef>
                          <a:spcPts val="0"/>
                        </a:spcBef>
                        <a:spcAft>
                          <a:spcPts val="0"/>
                        </a:spcAft>
                      </a:pPr>
                      <a:r>
                        <a:rPr lang="en-US" sz="2400">
                          <a:effectLst/>
                          <a:latin typeface="Times New Roman" panose="02020603050405020304" pitchFamily="18" charset="0"/>
                          <a:ea typeface="Times New Roman" panose="02020603050405020304" pitchFamily="18" charset="0"/>
                          <a:cs typeface="Arial" panose="020B0604020202020204" pitchFamily="34" charset="0"/>
                        </a:rPr>
                        <a:t>Its purposes is to demonstrate what a person knows.</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extLst>
                  <a:ext uri="{0D108BD9-81ED-4DB2-BD59-A6C34878D82A}">
                    <a16:rowId xmlns:a16="http://schemas.microsoft.com/office/drawing/2014/main" val="2820108810"/>
                  </a:ext>
                </a:extLst>
              </a:tr>
              <a:tr h="1828968">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In technical writing the knowledge of topic is more than the reader who is going through it.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tc>
                  <a:txBody>
                    <a:bodyPr/>
                    <a:lstStyle/>
                    <a:p>
                      <a:pPr marL="0" marR="0">
                        <a:lnSpc>
                          <a:spcPct val="107000"/>
                        </a:lnSpc>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In academic writing the knowledge of topic is less than the teacher who is evaluating the topic.</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71438" marR="71438" marT="100013" marB="100013" anchor="b">
                    <a:lnL>
                      <a:noFill/>
                    </a:lnL>
                    <a:lnR>
                      <a:noFill/>
                    </a:lnR>
                    <a:lnT>
                      <a:noFill/>
                    </a:lnT>
                    <a:lnB>
                      <a:noFill/>
                    </a:lnB>
                  </a:tcPr>
                </a:tc>
                <a:extLst>
                  <a:ext uri="{0D108BD9-81ED-4DB2-BD59-A6C34878D82A}">
                    <a16:rowId xmlns:a16="http://schemas.microsoft.com/office/drawing/2014/main" val="2801359553"/>
                  </a:ext>
                </a:extLst>
              </a:tr>
            </a:tbl>
          </a:graphicData>
        </a:graphic>
      </p:graphicFrame>
      <p:sp>
        <p:nvSpPr>
          <p:cNvPr id="9" name="TextBox 8">
            <a:extLst>
              <a:ext uri="{FF2B5EF4-FFF2-40B4-BE49-F238E27FC236}">
                <a16:creationId xmlns:a16="http://schemas.microsoft.com/office/drawing/2014/main" id="{A19AF628-8113-4026-A85C-1EF5B3351FC8}"/>
              </a:ext>
            </a:extLst>
          </p:cNvPr>
          <p:cNvSpPr txBox="1"/>
          <p:nvPr/>
        </p:nvSpPr>
        <p:spPr>
          <a:xfrm>
            <a:off x="192158" y="1041694"/>
            <a:ext cx="2621872" cy="461665"/>
          </a:xfrm>
          <a:prstGeom prst="rect">
            <a:avLst/>
          </a:prstGeom>
          <a:noFill/>
        </p:spPr>
        <p:txBody>
          <a:bodyPr wrap="none" rtlCol="0">
            <a:spAutoFit/>
          </a:bodyPr>
          <a:lstStyle/>
          <a:p>
            <a:pPr defTabSz="685800"/>
            <a:r>
              <a:rPr lang="en-US" sz="2400" b="1" dirty="0">
                <a:solidFill>
                  <a:srgbClr val="70AD47">
                    <a:lumMod val="50000"/>
                  </a:srgbClr>
                </a:solidFill>
                <a:latin typeface="Times New Roman" panose="02020603050405020304" pitchFamily="18" charset="0"/>
                <a:cs typeface="Times New Roman" panose="02020603050405020304" pitchFamily="18" charset="0"/>
              </a:rPr>
              <a:t>Technical Writing </a:t>
            </a:r>
          </a:p>
        </p:txBody>
      </p:sp>
      <p:sp>
        <p:nvSpPr>
          <p:cNvPr id="10" name="TextBox 9">
            <a:extLst>
              <a:ext uri="{FF2B5EF4-FFF2-40B4-BE49-F238E27FC236}">
                <a16:creationId xmlns:a16="http://schemas.microsoft.com/office/drawing/2014/main" id="{BAB96813-F54C-4F55-B049-9586CA74FF70}"/>
              </a:ext>
            </a:extLst>
          </p:cNvPr>
          <p:cNvSpPr txBox="1"/>
          <p:nvPr/>
        </p:nvSpPr>
        <p:spPr>
          <a:xfrm>
            <a:off x="4711544" y="1041694"/>
            <a:ext cx="4195444" cy="461665"/>
          </a:xfrm>
          <a:prstGeom prst="rect">
            <a:avLst/>
          </a:prstGeom>
          <a:noFill/>
        </p:spPr>
        <p:txBody>
          <a:bodyPr wrap="none" rtlCol="0">
            <a:spAutoFit/>
          </a:bodyPr>
          <a:lstStyle/>
          <a:p>
            <a:pPr defTabSz="685800"/>
            <a:r>
              <a:rPr lang="en-US" sz="2400" b="1" dirty="0">
                <a:solidFill>
                  <a:srgbClr val="C00000"/>
                </a:solidFill>
                <a:latin typeface="Times New Roman" panose="02020603050405020304" pitchFamily="18" charset="0"/>
                <a:cs typeface="Times New Roman" panose="02020603050405020304" pitchFamily="18" charset="0"/>
              </a:rPr>
              <a:t>Academic / Scientific  Writing </a:t>
            </a:r>
          </a:p>
        </p:txBody>
      </p:sp>
    </p:spTree>
    <p:extLst>
      <p:ext uri="{BB962C8B-B14F-4D97-AF65-F5344CB8AC3E}">
        <p14:creationId xmlns:p14="http://schemas.microsoft.com/office/powerpoint/2010/main" val="22120449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534B52-7D49-4B21-A34F-3D5A7F794A5B}"/>
              </a:ext>
            </a:extLst>
          </p:cNvPr>
          <p:cNvSpPr txBox="1"/>
          <p:nvPr/>
        </p:nvSpPr>
        <p:spPr>
          <a:xfrm>
            <a:off x="104361" y="905704"/>
            <a:ext cx="8825947" cy="4801314"/>
          </a:xfrm>
          <a:prstGeom prst="rect">
            <a:avLst/>
          </a:prstGeom>
          <a:noFill/>
        </p:spPr>
        <p:txBody>
          <a:bodyPr wrap="square">
            <a:spAutoFit/>
          </a:bodyPr>
          <a:lstStyle/>
          <a:p>
            <a:pPr defTabSz="685800"/>
            <a:r>
              <a:rPr lang="en-US" b="1" dirty="0">
                <a:solidFill>
                  <a:prstClr val="black"/>
                </a:solidFill>
                <a:latin typeface="Calibri"/>
              </a:rPr>
              <a:t>Rules for Scientific Writing </a:t>
            </a:r>
          </a:p>
          <a:p>
            <a:pPr defTabSz="685800"/>
            <a:r>
              <a:rPr lang="en-US" dirty="0">
                <a:solidFill>
                  <a:prstClr val="black"/>
                </a:solidFill>
                <a:latin typeface="Calibri"/>
              </a:rPr>
              <a:t>• Interest, inform, and persuade the reader  </a:t>
            </a:r>
          </a:p>
          <a:p>
            <a:pPr defTabSz="685800"/>
            <a:r>
              <a:rPr lang="en-US" dirty="0">
                <a:solidFill>
                  <a:prstClr val="black"/>
                </a:solidFill>
                <a:latin typeface="Calibri"/>
              </a:rPr>
              <a:t>• Write for your reader and </a:t>
            </a:r>
            <a:r>
              <a:rPr lang="en-US" b="1" dirty="0">
                <a:solidFill>
                  <a:srgbClr val="C00000"/>
                </a:solidFill>
                <a:latin typeface="Calibri"/>
              </a:rPr>
              <a:t>write clearly  </a:t>
            </a:r>
          </a:p>
          <a:p>
            <a:pPr defTabSz="685800"/>
            <a:r>
              <a:rPr lang="en-US" dirty="0">
                <a:solidFill>
                  <a:prstClr val="black"/>
                </a:solidFill>
                <a:latin typeface="Calibri"/>
              </a:rPr>
              <a:t>• Eliminate unnecessary </a:t>
            </a:r>
            <a:r>
              <a:rPr lang="en-US" dirty="0">
                <a:solidFill>
                  <a:srgbClr val="C00000"/>
                </a:solidFill>
                <a:latin typeface="Calibri"/>
              </a:rPr>
              <a:t>redundancy </a:t>
            </a:r>
            <a:r>
              <a:rPr lang="en-US" dirty="0">
                <a:solidFill>
                  <a:prstClr val="black"/>
                </a:solidFill>
                <a:latin typeface="Calibri"/>
              </a:rPr>
              <a:t> </a:t>
            </a:r>
          </a:p>
          <a:p>
            <a:pPr defTabSz="685800"/>
            <a:r>
              <a:rPr lang="en-US" dirty="0">
                <a:solidFill>
                  <a:prstClr val="black"/>
                </a:solidFill>
                <a:latin typeface="Calibri"/>
              </a:rPr>
              <a:t>• Don't over explain and avoid overstatement  </a:t>
            </a:r>
          </a:p>
          <a:p>
            <a:pPr defTabSz="685800"/>
            <a:r>
              <a:rPr lang="en-US" dirty="0">
                <a:solidFill>
                  <a:prstClr val="black"/>
                </a:solidFill>
                <a:latin typeface="Calibri"/>
              </a:rPr>
              <a:t>• Use </a:t>
            </a:r>
            <a:r>
              <a:rPr lang="en-US" dirty="0">
                <a:solidFill>
                  <a:srgbClr val="C00000"/>
                </a:solidFill>
                <a:latin typeface="Calibri"/>
              </a:rPr>
              <a:t>consistent tenses  </a:t>
            </a:r>
          </a:p>
          <a:p>
            <a:pPr defTabSz="685800"/>
            <a:r>
              <a:rPr lang="en-US" dirty="0">
                <a:solidFill>
                  <a:prstClr val="black"/>
                </a:solidFill>
                <a:latin typeface="Calibri"/>
              </a:rPr>
              <a:t>• Use the </a:t>
            </a:r>
            <a:r>
              <a:rPr lang="en-US" dirty="0">
                <a:solidFill>
                  <a:srgbClr val="C00000"/>
                </a:solidFill>
                <a:latin typeface="Calibri"/>
              </a:rPr>
              <a:t>precise word  </a:t>
            </a:r>
          </a:p>
          <a:p>
            <a:pPr defTabSz="685800"/>
            <a:r>
              <a:rPr lang="en-US" dirty="0">
                <a:solidFill>
                  <a:prstClr val="black"/>
                </a:solidFill>
                <a:latin typeface="Calibri"/>
              </a:rPr>
              <a:t>• </a:t>
            </a:r>
            <a:r>
              <a:rPr lang="en-US" dirty="0">
                <a:solidFill>
                  <a:srgbClr val="C00000"/>
                </a:solidFill>
                <a:latin typeface="Calibri"/>
              </a:rPr>
              <a:t>Simpler words </a:t>
            </a:r>
            <a:r>
              <a:rPr lang="en-US" dirty="0">
                <a:solidFill>
                  <a:prstClr val="black"/>
                </a:solidFill>
                <a:latin typeface="Calibri"/>
              </a:rPr>
              <a:t>are preferred over complex words</a:t>
            </a:r>
          </a:p>
          <a:p>
            <a:pPr defTabSz="685800"/>
            <a:r>
              <a:rPr lang="en-US" dirty="0">
                <a:solidFill>
                  <a:prstClr val="black"/>
                </a:solidFill>
                <a:latin typeface="Calibri"/>
              </a:rPr>
              <a:t>• </a:t>
            </a:r>
            <a:r>
              <a:rPr lang="en-US" dirty="0">
                <a:solidFill>
                  <a:srgbClr val="C00000"/>
                </a:solidFill>
                <a:latin typeface="Calibri"/>
              </a:rPr>
              <a:t>Simpler sentences </a:t>
            </a:r>
            <a:r>
              <a:rPr lang="en-US" dirty="0">
                <a:solidFill>
                  <a:prstClr val="black"/>
                </a:solidFill>
                <a:latin typeface="Calibri"/>
              </a:rPr>
              <a:t>are preferred over more complicated sentences </a:t>
            </a:r>
          </a:p>
          <a:p>
            <a:pPr defTabSz="685800"/>
            <a:r>
              <a:rPr lang="en-US" dirty="0">
                <a:solidFill>
                  <a:prstClr val="black"/>
                </a:solidFill>
                <a:latin typeface="Calibri"/>
              </a:rPr>
              <a:t>• Use the </a:t>
            </a:r>
            <a:r>
              <a:rPr lang="en-US" dirty="0">
                <a:solidFill>
                  <a:srgbClr val="C00000"/>
                </a:solidFill>
                <a:latin typeface="Calibri"/>
              </a:rPr>
              <a:t>active voice </a:t>
            </a:r>
            <a:r>
              <a:rPr lang="en-US" dirty="0">
                <a:solidFill>
                  <a:prstClr val="black"/>
                </a:solidFill>
                <a:latin typeface="Calibri"/>
              </a:rPr>
              <a:t>(except generally in methods) </a:t>
            </a:r>
          </a:p>
          <a:p>
            <a:pPr defTabSz="685800"/>
            <a:r>
              <a:rPr lang="en-US" dirty="0">
                <a:solidFill>
                  <a:prstClr val="black"/>
                </a:solidFill>
                <a:latin typeface="Calibri"/>
              </a:rPr>
              <a:t>• Make sure the subject and verb agree </a:t>
            </a:r>
          </a:p>
          <a:p>
            <a:pPr defTabSz="685800"/>
            <a:r>
              <a:rPr lang="en-US" dirty="0">
                <a:solidFill>
                  <a:prstClr val="black"/>
                </a:solidFill>
                <a:latin typeface="Calibri"/>
              </a:rPr>
              <a:t>• Use affirmative rather than negative constructions  </a:t>
            </a:r>
          </a:p>
          <a:p>
            <a:pPr defTabSz="685800"/>
            <a:r>
              <a:rPr lang="en-US" dirty="0">
                <a:solidFill>
                  <a:prstClr val="black"/>
                </a:solidFill>
                <a:latin typeface="Calibri"/>
              </a:rPr>
              <a:t>• Avoid use of the indefinite "this"  </a:t>
            </a:r>
          </a:p>
          <a:p>
            <a:pPr defTabSz="685800"/>
            <a:r>
              <a:rPr lang="en-US" dirty="0">
                <a:solidFill>
                  <a:prstClr val="black"/>
                </a:solidFill>
                <a:latin typeface="Calibri"/>
              </a:rPr>
              <a:t>• Use transitions  </a:t>
            </a:r>
          </a:p>
          <a:p>
            <a:pPr defTabSz="685800"/>
            <a:r>
              <a:rPr lang="en-US" dirty="0">
                <a:solidFill>
                  <a:prstClr val="black"/>
                </a:solidFill>
                <a:latin typeface="Calibri"/>
              </a:rPr>
              <a:t>• </a:t>
            </a:r>
            <a:r>
              <a:rPr lang="en-US" dirty="0">
                <a:solidFill>
                  <a:srgbClr val="C00000"/>
                </a:solidFill>
                <a:latin typeface="Calibri"/>
              </a:rPr>
              <a:t>Cite sources </a:t>
            </a:r>
            <a:r>
              <a:rPr lang="en-US" dirty="0">
                <a:solidFill>
                  <a:prstClr val="black"/>
                </a:solidFill>
                <a:latin typeface="Calibri"/>
              </a:rPr>
              <a:t>as well as findings  </a:t>
            </a:r>
          </a:p>
          <a:p>
            <a:pPr defTabSz="685800"/>
            <a:r>
              <a:rPr lang="en-US" dirty="0">
                <a:solidFill>
                  <a:prstClr val="black"/>
                </a:solidFill>
                <a:latin typeface="Calibri"/>
              </a:rPr>
              <a:t>• </a:t>
            </a:r>
            <a:r>
              <a:rPr lang="en-US" dirty="0">
                <a:solidFill>
                  <a:srgbClr val="C00000"/>
                </a:solidFill>
                <a:latin typeface="Calibri"/>
              </a:rPr>
              <a:t>Proofread</a:t>
            </a:r>
            <a:r>
              <a:rPr lang="en-US" dirty="0">
                <a:solidFill>
                  <a:prstClr val="black"/>
                </a:solidFill>
                <a:latin typeface="Calibri"/>
              </a:rPr>
              <a:t> your paper carefully; spell check does not catch everything; "there" is spelled 	correctly but not if you meant "their" </a:t>
            </a:r>
          </a:p>
        </p:txBody>
      </p:sp>
    </p:spTree>
    <p:extLst>
      <p:ext uri="{BB962C8B-B14F-4D97-AF65-F5344CB8AC3E}">
        <p14:creationId xmlns:p14="http://schemas.microsoft.com/office/powerpoint/2010/main" val="908420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97665B-BA1C-4EF3-A392-CF18AE6F4415}"/>
              </a:ext>
            </a:extLst>
          </p:cNvPr>
          <p:cNvPicPr>
            <a:picLocks noChangeAspect="1"/>
          </p:cNvPicPr>
          <p:nvPr/>
        </p:nvPicPr>
        <p:blipFill>
          <a:blip r:embed="rId2"/>
          <a:stretch>
            <a:fillRect/>
          </a:stretch>
        </p:blipFill>
        <p:spPr>
          <a:xfrm>
            <a:off x="457200" y="451639"/>
            <a:ext cx="6872494" cy="5954722"/>
          </a:xfrm>
          <a:prstGeom prst="rect">
            <a:avLst/>
          </a:prstGeom>
        </p:spPr>
      </p:pic>
    </p:spTree>
    <p:extLst>
      <p:ext uri="{BB962C8B-B14F-4D97-AF65-F5344CB8AC3E}">
        <p14:creationId xmlns:p14="http://schemas.microsoft.com/office/powerpoint/2010/main" val="21286589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C92ACB-DF91-473C-8A31-EED1F9B82D8C}"/>
              </a:ext>
            </a:extLst>
          </p:cNvPr>
          <p:cNvPicPr>
            <a:picLocks noChangeAspect="1"/>
          </p:cNvPicPr>
          <p:nvPr/>
        </p:nvPicPr>
        <p:blipFill>
          <a:blip r:embed="rId2"/>
          <a:stretch>
            <a:fillRect/>
          </a:stretch>
        </p:blipFill>
        <p:spPr>
          <a:xfrm>
            <a:off x="88057" y="1505779"/>
            <a:ext cx="8879799" cy="4263887"/>
          </a:xfrm>
          <a:prstGeom prst="rect">
            <a:avLst/>
          </a:prstGeom>
        </p:spPr>
      </p:pic>
    </p:spTree>
    <p:extLst>
      <p:ext uri="{BB962C8B-B14F-4D97-AF65-F5344CB8AC3E}">
        <p14:creationId xmlns:p14="http://schemas.microsoft.com/office/powerpoint/2010/main" val="26121583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C93F0-5C29-4BB2-AF32-FDB7CB21BD67}"/>
              </a:ext>
            </a:extLst>
          </p:cNvPr>
          <p:cNvSpPr>
            <a:spLocks noGrp="1"/>
          </p:cNvSpPr>
          <p:nvPr>
            <p:ph idx="1"/>
          </p:nvPr>
        </p:nvSpPr>
        <p:spPr>
          <a:xfrm>
            <a:off x="115543" y="998882"/>
            <a:ext cx="8907944" cy="4491090"/>
          </a:xfrm>
        </p:spPr>
        <p:txBody>
          <a:bodyPr>
            <a:normAutofit/>
          </a:bodyPr>
          <a:lstStyle/>
          <a:p>
            <a:r>
              <a:rPr lang="en-US" sz="2400" b="1" dirty="0"/>
              <a:t>Above</a:t>
            </a:r>
            <a:r>
              <a:rPr lang="en-US" sz="2400" dirty="0"/>
              <a:t> ("the above method," "mentioned above," etc.) </a:t>
            </a:r>
          </a:p>
          <a:p>
            <a:endParaRPr lang="en-US" sz="2400" dirty="0"/>
          </a:p>
          <a:p>
            <a:r>
              <a:rPr lang="en-US" sz="2400" dirty="0"/>
              <a:t>Often, you are referring to something preceding, but not necessarily above; a loose reference, convenient for writers, but not for readers. Be specific. </a:t>
            </a:r>
          </a:p>
          <a:p>
            <a:endParaRPr lang="en-US" sz="2400" dirty="0"/>
          </a:p>
          <a:p>
            <a:r>
              <a:rPr lang="en-US" sz="2400" dirty="0"/>
              <a:t>You know exactly what and where, but your readers may have to search (sometimes through much preceding material).</a:t>
            </a:r>
          </a:p>
        </p:txBody>
      </p:sp>
    </p:spTree>
    <p:extLst>
      <p:ext uri="{BB962C8B-B14F-4D97-AF65-F5344CB8AC3E}">
        <p14:creationId xmlns:p14="http://schemas.microsoft.com/office/powerpoint/2010/main" val="28630673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017B3CB-9EC6-4792-801D-FB62DA6C0AFC}"/>
              </a:ext>
            </a:extLst>
          </p:cNvPr>
          <p:cNvSpPr>
            <a:spLocks noGrp="1"/>
          </p:cNvSpPr>
          <p:nvPr>
            <p:ph type="subTitle" idx="1"/>
          </p:nvPr>
        </p:nvSpPr>
        <p:spPr>
          <a:xfrm>
            <a:off x="126724" y="1013791"/>
            <a:ext cx="8807312" cy="4942232"/>
          </a:xfrm>
        </p:spPr>
        <p:txBody>
          <a:bodyPr>
            <a:normAutofit/>
          </a:bodyPr>
          <a:lstStyle/>
          <a:p>
            <a:pPr algn="l"/>
            <a:r>
              <a:rPr lang="en-US" sz="2400" b="1" dirty="0"/>
              <a:t>Compare with</a:t>
            </a:r>
            <a:r>
              <a:rPr lang="en-US" sz="2400" dirty="0"/>
              <a:t>, </a:t>
            </a:r>
            <a:r>
              <a:rPr lang="en-US" sz="2400" b="1" dirty="0"/>
              <a:t>compare to </a:t>
            </a:r>
            <a:endParaRPr lang="en-US" sz="2400" dirty="0"/>
          </a:p>
          <a:p>
            <a:pPr algn="l"/>
            <a:r>
              <a:rPr lang="en-US" sz="2400" i="1" dirty="0"/>
              <a:t>Compare with </a:t>
            </a:r>
            <a:r>
              <a:rPr lang="en-US" sz="2400" dirty="0"/>
              <a:t>means to examine differences and similarities; </a:t>
            </a:r>
          </a:p>
          <a:p>
            <a:pPr algn="l"/>
            <a:r>
              <a:rPr lang="en-US" sz="2400" i="1" dirty="0"/>
              <a:t>Compare to </a:t>
            </a:r>
            <a:r>
              <a:rPr lang="en-US" sz="2400" dirty="0"/>
              <a:t>means to represent as similar. </a:t>
            </a:r>
          </a:p>
          <a:p>
            <a:pPr algn="l"/>
            <a:endParaRPr lang="en-US" sz="2400" dirty="0"/>
          </a:p>
          <a:p>
            <a:pPr algn="l">
              <a:lnSpc>
                <a:spcPct val="100000"/>
              </a:lnSpc>
              <a:spcBef>
                <a:spcPts val="0"/>
              </a:spcBef>
            </a:pPr>
            <a:r>
              <a:rPr lang="en-US" sz="2100" dirty="0"/>
              <a:t>	One may conclude that the music of Brahms compares to that of</a:t>
            </a:r>
          </a:p>
          <a:p>
            <a:pPr algn="l">
              <a:lnSpc>
                <a:spcPct val="100000"/>
              </a:lnSpc>
              <a:spcBef>
                <a:spcPts val="0"/>
              </a:spcBef>
            </a:pPr>
            <a:r>
              <a:rPr lang="en-US" sz="2100" dirty="0"/>
              <a:t>	Beethoven, but to do that, one must first compare the music of Brahms 	with that of Beethoven.</a:t>
            </a:r>
          </a:p>
          <a:p>
            <a:pPr algn="l"/>
            <a:endParaRPr lang="en-US" sz="2100" dirty="0"/>
          </a:p>
          <a:p>
            <a:pPr algn="l"/>
            <a:r>
              <a:rPr lang="en-US" sz="2100" b="1" dirty="0"/>
              <a:t>Which </a:t>
            </a:r>
            <a:r>
              <a:rPr lang="en-US" sz="2100" dirty="0"/>
              <a:t>or </a:t>
            </a:r>
            <a:r>
              <a:rPr lang="en-US" sz="2100" b="1" dirty="0"/>
              <a:t>that</a:t>
            </a:r>
            <a:r>
              <a:rPr lang="en-US" sz="2100" dirty="0"/>
              <a:t>? Simple rule: Which always follows a comma (and a pause), but that never does. </a:t>
            </a:r>
          </a:p>
          <a:p>
            <a:pPr algn="l"/>
            <a:r>
              <a:rPr lang="en-US" sz="2100" dirty="0"/>
              <a:t>	This study, which cost $10,000, was a success. The study that cost 	$10,000 was a success.</a:t>
            </a:r>
          </a:p>
        </p:txBody>
      </p:sp>
    </p:spTree>
    <p:extLst>
      <p:ext uri="{BB962C8B-B14F-4D97-AF65-F5344CB8AC3E}">
        <p14:creationId xmlns:p14="http://schemas.microsoft.com/office/powerpoint/2010/main" val="7995368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8C167D-4B65-4D5C-80F8-96DB6E546297}"/>
              </a:ext>
            </a:extLst>
          </p:cNvPr>
          <p:cNvPicPr>
            <a:picLocks noChangeAspect="1"/>
          </p:cNvPicPr>
          <p:nvPr/>
        </p:nvPicPr>
        <p:blipFill>
          <a:blip r:embed="rId2"/>
          <a:stretch>
            <a:fillRect/>
          </a:stretch>
        </p:blipFill>
        <p:spPr>
          <a:xfrm>
            <a:off x="142423" y="1300784"/>
            <a:ext cx="8859154" cy="4058893"/>
          </a:xfrm>
          <a:prstGeom prst="rect">
            <a:avLst/>
          </a:prstGeom>
        </p:spPr>
      </p:pic>
    </p:spTree>
    <p:extLst>
      <p:ext uri="{BB962C8B-B14F-4D97-AF65-F5344CB8AC3E}">
        <p14:creationId xmlns:p14="http://schemas.microsoft.com/office/powerpoint/2010/main" val="8074381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CB71C1-1054-467E-88FA-7FF403EC89F2}"/>
              </a:ext>
            </a:extLst>
          </p:cNvPr>
          <p:cNvPicPr>
            <a:picLocks noChangeAspect="1"/>
          </p:cNvPicPr>
          <p:nvPr/>
        </p:nvPicPr>
        <p:blipFill>
          <a:blip r:embed="rId2"/>
          <a:stretch>
            <a:fillRect/>
          </a:stretch>
        </p:blipFill>
        <p:spPr>
          <a:xfrm>
            <a:off x="42168" y="1516960"/>
            <a:ext cx="8943338" cy="3734628"/>
          </a:xfrm>
          <a:prstGeom prst="rect">
            <a:avLst/>
          </a:prstGeom>
        </p:spPr>
      </p:pic>
    </p:spTree>
    <p:extLst>
      <p:ext uri="{BB962C8B-B14F-4D97-AF65-F5344CB8AC3E}">
        <p14:creationId xmlns:p14="http://schemas.microsoft.com/office/powerpoint/2010/main" val="2588802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519784-73E7-441B-AB9A-2F5ECBAE4D2E}"/>
              </a:ext>
            </a:extLst>
          </p:cNvPr>
          <p:cNvPicPr>
            <a:picLocks noChangeAspect="1"/>
          </p:cNvPicPr>
          <p:nvPr/>
        </p:nvPicPr>
        <p:blipFill>
          <a:blip r:embed="rId2"/>
          <a:stretch>
            <a:fillRect/>
          </a:stretch>
        </p:blipFill>
        <p:spPr>
          <a:xfrm>
            <a:off x="78271" y="1364614"/>
            <a:ext cx="5195175" cy="3894896"/>
          </a:xfrm>
          <a:prstGeom prst="rect">
            <a:avLst/>
          </a:prstGeom>
        </p:spPr>
      </p:pic>
      <p:sp>
        <p:nvSpPr>
          <p:cNvPr id="7" name="TextBox 6">
            <a:extLst>
              <a:ext uri="{FF2B5EF4-FFF2-40B4-BE49-F238E27FC236}">
                <a16:creationId xmlns:a16="http://schemas.microsoft.com/office/drawing/2014/main" id="{769AEDD4-92AF-4475-AAE2-05740FF2F4C1}"/>
              </a:ext>
            </a:extLst>
          </p:cNvPr>
          <p:cNvSpPr txBox="1"/>
          <p:nvPr/>
        </p:nvSpPr>
        <p:spPr>
          <a:xfrm>
            <a:off x="3470931" y="1323633"/>
            <a:ext cx="4571378" cy="738664"/>
          </a:xfrm>
          <a:prstGeom prst="rect">
            <a:avLst/>
          </a:prstGeom>
          <a:noFill/>
        </p:spPr>
        <p:txBody>
          <a:bodyPr wrap="square">
            <a:spAutoFit/>
          </a:bodyPr>
          <a:lstStyle/>
          <a:p>
            <a:pPr defTabSz="685800"/>
            <a:r>
              <a:rPr lang="en-US" sz="2100" b="1" dirty="0">
                <a:solidFill>
                  <a:srgbClr val="C00000"/>
                </a:solidFill>
                <a:latin typeface="Caecilia-Heavy"/>
              </a:rPr>
              <a:t>Document Abstract: The “Big Picture” for Decision Makers</a:t>
            </a:r>
            <a:endParaRPr lang="en-US" sz="2100" dirty="0">
              <a:solidFill>
                <a:srgbClr val="C00000"/>
              </a:solidFill>
              <a:latin typeface="Calibri"/>
            </a:endParaRPr>
          </a:p>
        </p:txBody>
      </p:sp>
      <p:sp>
        <p:nvSpPr>
          <p:cNvPr id="9" name="TextBox 8">
            <a:extLst>
              <a:ext uri="{FF2B5EF4-FFF2-40B4-BE49-F238E27FC236}">
                <a16:creationId xmlns:a16="http://schemas.microsoft.com/office/drawing/2014/main" id="{AA0C93F9-6452-4C1B-A697-A2CF401286ED}"/>
              </a:ext>
            </a:extLst>
          </p:cNvPr>
          <p:cNvSpPr txBox="1"/>
          <p:nvPr/>
        </p:nvSpPr>
        <p:spPr>
          <a:xfrm>
            <a:off x="5719659" y="3122777"/>
            <a:ext cx="3476522" cy="738664"/>
          </a:xfrm>
          <a:prstGeom prst="rect">
            <a:avLst/>
          </a:prstGeom>
          <a:noFill/>
        </p:spPr>
        <p:txBody>
          <a:bodyPr wrap="square">
            <a:spAutoFit/>
          </a:bodyPr>
          <a:lstStyle/>
          <a:p>
            <a:pPr defTabSz="685800"/>
            <a:r>
              <a:rPr lang="en-US" sz="2100" b="1" dirty="0">
                <a:solidFill>
                  <a:srgbClr val="C00000"/>
                </a:solidFill>
                <a:latin typeface="Calibri"/>
              </a:rPr>
              <a:t>Document Body: Details for All Readers</a:t>
            </a:r>
          </a:p>
        </p:txBody>
      </p:sp>
      <p:sp>
        <p:nvSpPr>
          <p:cNvPr id="11" name="TextBox 10">
            <a:extLst>
              <a:ext uri="{FF2B5EF4-FFF2-40B4-BE49-F238E27FC236}">
                <a16:creationId xmlns:a16="http://schemas.microsoft.com/office/drawing/2014/main" id="{B749103D-114C-4566-8A69-705C6E6B864B}"/>
              </a:ext>
            </a:extLst>
          </p:cNvPr>
          <p:cNvSpPr txBox="1"/>
          <p:nvPr/>
        </p:nvSpPr>
        <p:spPr>
          <a:xfrm>
            <a:off x="3668472" y="5222743"/>
            <a:ext cx="5239474" cy="738664"/>
          </a:xfrm>
          <a:prstGeom prst="rect">
            <a:avLst/>
          </a:prstGeom>
          <a:noFill/>
        </p:spPr>
        <p:txBody>
          <a:bodyPr wrap="square">
            <a:spAutoFit/>
          </a:bodyPr>
          <a:lstStyle/>
          <a:p>
            <a:pPr defTabSz="685800"/>
            <a:r>
              <a:rPr lang="en-US" sz="2100" b="1" dirty="0">
                <a:solidFill>
                  <a:srgbClr val="C00000"/>
                </a:solidFill>
                <a:latin typeface="Caecilia-Heavy"/>
              </a:rPr>
              <a:t>Document Conclusion: Wrap-Up Leading to Next Step</a:t>
            </a:r>
            <a:endParaRPr lang="en-US" sz="2100" dirty="0">
              <a:solidFill>
                <a:srgbClr val="C00000"/>
              </a:solidFill>
              <a:latin typeface="Calibri"/>
            </a:endParaRPr>
          </a:p>
        </p:txBody>
      </p:sp>
    </p:spTree>
    <p:extLst>
      <p:ext uri="{BB962C8B-B14F-4D97-AF65-F5344CB8AC3E}">
        <p14:creationId xmlns:p14="http://schemas.microsoft.com/office/powerpoint/2010/main" val="15683646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fontScale="90000"/>
          </a:bodyPr>
          <a:lstStyle/>
          <a:p>
            <a:pPr marL="514350" indent="-514350" algn="l">
              <a:buFont typeface="Wingdings" panose="05000000000000000000" pitchFamily="2" charset="2"/>
              <a:buChar char="Ø"/>
            </a:pPr>
            <a:r>
              <a:rPr lang="en-US" sz="3000" b="1" dirty="0"/>
              <a:t> </a:t>
            </a:r>
            <a:r>
              <a:rPr lang="en-US" sz="3675" b="1" dirty="0"/>
              <a:t>Scientific / technical writing: </a:t>
            </a:r>
            <a:br>
              <a:rPr lang="en-US" sz="3000" b="1" dirty="0"/>
            </a:br>
            <a:r>
              <a:rPr lang="en-US" sz="3000" b="1" dirty="0"/>
              <a:t>	Highly technical information </a:t>
            </a:r>
            <a:br>
              <a:rPr lang="en-US" sz="3000" b="1" dirty="0"/>
            </a:br>
            <a:br>
              <a:rPr lang="en-US" sz="3000" b="1" dirty="0"/>
            </a:br>
            <a:r>
              <a:rPr lang="en-US" sz="3000" b="1" dirty="0"/>
              <a:t>	</a:t>
            </a:r>
            <a:r>
              <a:rPr lang="en-US" sz="2700" b="1" dirty="0"/>
              <a:t>	- For people who may, or may not, be as knowledgeable</a:t>
            </a:r>
            <a:br>
              <a:rPr lang="en-US" sz="3000" b="1" dirty="0"/>
            </a:br>
            <a:r>
              <a:rPr lang="en-US" sz="3000" b="1" dirty="0"/>
              <a:t>		- </a:t>
            </a:r>
            <a:r>
              <a:rPr lang="en-US" sz="2700" b="1" dirty="0"/>
              <a:t>They may, or may not, be a native speaker </a:t>
            </a:r>
            <a:br>
              <a:rPr lang="en-US" sz="2700" b="1" dirty="0"/>
            </a:br>
            <a:br>
              <a:rPr lang="en-US" sz="3000" b="1" dirty="0"/>
            </a:br>
            <a:r>
              <a:rPr lang="en-US" sz="3000" b="1" dirty="0"/>
              <a:t>- </a:t>
            </a:r>
            <a:r>
              <a:rPr lang="en-US" sz="2700" b="1" dirty="0"/>
              <a:t>The research question, hypotheses, methods, analysis, and 				conclusions must be stated clearly and simply.</a:t>
            </a:r>
            <a:br>
              <a:rPr lang="en-US" sz="2700" b="1" dirty="0"/>
            </a:br>
            <a:br>
              <a:rPr lang="en-US" sz="2700" b="1" dirty="0"/>
            </a:br>
            <a:r>
              <a:rPr lang="en-US" sz="2700" b="1" dirty="0"/>
              <a:t>- Facts, figures, and methods used in research must be precise and 			exact</a:t>
            </a:r>
            <a:br>
              <a:rPr lang="en-US" sz="2700" b="1" dirty="0"/>
            </a:br>
            <a:r>
              <a:rPr lang="en-US" sz="2700" b="1" dirty="0"/>
              <a:t>- Description of the results must be precise and exact</a:t>
            </a:r>
            <a:br>
              <a:rPr lang="en-US" sz="2700" b="1" dirty="0"/>
            </a:br>
            <a:endParaRPr lang="en-US" sz="2700" b="1" dirty="0"/>
          </a:p>
        </p:txBody>
      </p:sp>
    </p:spTree>
    <p:extLst>
      <p:ext uri="{BB962C8B-B14F-4D97-AF65-F5344CB8AC3E}">
        <p14:creationId xmlns:p14="http://schemas.microsoft.com/office/powerpoint/2010/main" val="23164741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a:bodyPr>
          <a:lstStyle/>
          <a:p>
            <a:pPr marL="514350" indent="-514350" algn="l">
              <a:buFont typeface="Wingdings" panose="05000000000000000000" pitchFamily="2" charset="2"/>
              <a:buChar char="Ø"/>
            </a:pPr>
            <a:br>
              <a:rPr lang="en-US" sz="3675" b="1" dirty="0"/>
            </a:br>
            <a:r>
              <a:rPr lang="en-US" sz="3675" b="1" dirty="0"/>
              <a:t>Accurate words and punctuation:  </a:t>
            </a:r>
            <a:br>
              <a:rPr lang="en-US" sz="3675" b="1" dirty="0"/>
            </a:br>
            <a:br>
              <a:rPr lang="en-US" sz="3675" b="1" dirty="0"/>
            </a:br>
            <a:r>
              <a:rPr lang="en-US" sz="2700" b="1" dirty="0"/>
              <a:t> “Isotopes, which were discovered in 1853, are radioactive,” 			reads as if all isotopes were discovered in 1853. </a:t>
            </a:r>
            <a:br>
              <a:rPr lang="en-US" sz="2700" b="1" dirty="0"/>
            </a:br>
            <a:br>
              <a:rPr lang="en-US" sz="2700" b="1" dirty="0"/>
            </a:br>
            <a:r>
              <a:rPr lang="en-US" sz="2700" b="1" dirty="0"/>
              <a:t>The writer intended to say: “The isotopes that were 				discovered in 1853 are radioactive.”</a:t>
            </a:r>
            <a:br>
              <a:rPr lang="en-US" sz="2700" b="1" dirty="0"/>
            </a:br>
            <a:endParaRPr lang="en-US" sz="2700" b="1" dirty="0"/>
          </a:p>
        </p:txBody>
      </p:sp>
    </p:spTree>
    <p:extLst>
      <p:ext uri="{BB962C8B-B14F-4D97-AF65-F5344CB8AC3E}">
        <p14:creationId xmlns:p14="http://schemas.microsoft.com/office/powerpoint/2010/main" val="255216139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a:bodyPr>
          <a:lstStyle/>
          <a:p>
            <a:pPr marL="514350" indent="-514350" algn="l">
              <a:buFont typeface="Wingdings" panose="05000000000000000000" pitchFamily="2" charset="2"/>
              <a:buChar char="Ø"/>
            </a:pPr>
            <a:br>
              <a:rPr lang="en-US" sz="3675" b="1" dirty="0"/>
            </a:br>
            <a:r>
              <a:rPr lang="en-US" sz="3675" b="1" dirty="0"/>
              <a:t>The organization of writing </a:t>
            </a:r>
            <a:br>
              <a:rPr lang="en-US" sz="3675" b="1" dirty="0"/>
            </a:br>
            <a:br>
              <a:rPr lang="en-US" sz="3675" b="1" dirty="0"/>
            </a:br>
            <a:r>
              <a:rPr lang="en-US" sz="3675" b="1" dirty="0"/>
              <a:t>	</a:t>
            </a:r>
            <a:r>
              <a:rPr lang="en-US" sz="3675" b="1" u="sng" dirty="0"/>
              <a:t>Readability: </a:t>
            </a:r>
            <a:r>
              <a:rPr lang="en-US" sz="3000" b="1" dirty="0"/>
              <a:t>If your reader has to work too 			hard to understand your meaning or your organization, 	you have a problem in your writing. </a:t>
            </a:r>
            <a:br>
              <a:rPr lang="en-US" sz="3000" b="1" dirty="0"/>
            </a:br>
            <a:br>
              <a:rPr lang="en-US" sz="3000" b="1" dirty="0"/>
            </a:br>
            <a:r>
              <a:rPr lang="en-US" sz="3000" b="1" dirty="0"/>
              <a:t>	</a:t>
            </a:r>
            <a:r>
              <a:rPr lang="en-US" sz="3675" b="1" u="sng" dirty="0"/>
              <a:t>Remember, </a:t>
            </a:r>
            <a:r>
              <a:rPr lang="en-US" sz="3000" b="1" dirty="0"/>
              <a:t>you are not writing to impress. You are 	writing to communicate.</a:t>
            </a:r>
            <a:br>
              <a:rPr lang="en-US" sz="3000" b="1" dirty="0"/>
            </a:br>
            <a:endParaRPr lang="en-US" sz="3000" b="1" dirty="0"/>
          </a:p>
        </p:txBody>
      </p:sp>
    </p:spTree>
    <p:extLst>
      <p:ext uri="{BB962C8B-B14F-4D97-AF65-F5344CB8AC3E}">
        <p14:creationId xmlns:p14="http://schemas.microsoft.com/office/powerpoint/2010/main" val="15644984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a:bodyPr>
          <a:lstStyle/>
          <a:p>
            <a:pPr marL="514350" indent="-514350" algn="l">
              <a:buFont typeface="Wingdings" panose="05000000000000000000" pitchFamily="2" charset="2"/>
              <a:buChar char="Ø"/>
            </a:pPr>
            <a:br>
              <a:rPr lang="en-US" sz="3675" b="1" dirty="0"/>
            </a:br>
            <a:r>
              <a:rPr lang="en-US" sz="3675" b="1" u="sng" dirty="0">
                <a:solidFill>
                  <a:srgbClr val="C00000"/>
                </a:solidFill>
              </a:rPr>
              <a:t>Logic</a:t>
            </a:r>
            <a:r>
              <a:rPr lang="en-US" sz="3675" b="1" u="sng" dirty="0"/>
              <a:t> </a:t>
            </a:r>
            <a:r>
              <a:rPr lang="en-US" sz="3675" u="sng" dirty="0"/>
              <a:t>and</a:t>
            </a:r>
            <a:r>
              <a:rPr lang="en-US" sz="3675" b="1" u="sng" dirty="0"/>
              <a:t> </a:t>
            </a:r>
            <a:r>
              <a:rPr lang="en-US" sz="3675" b="1" u="sng" dirty="0">
                <a:solidFill>
                  <a:srgbClr val="C00000"/>
                </a:solidFill>
              </a:rPr>
              <a:t>organization</a:t>
            </a:r>
            <a:r>
              <a:rPr lang="en-US" sz="3675" b="1" u="sng" dirty="0"/>
              <a:t>: </a:t>
            </a:r>
            <a:br>
              <a:rPr lang="en-US" sz="3675" b="1" dirty="0"/>
            </a:br>
            <a:r>
              <a:rPr lang="en-US" sz="3675" b="1" dirty="0"/>
              <a:t>		</a:t>
            </a:r>
            <a:r>
              <a:rPr lang="en-US" sz="3000" b="1" dirty="0"/>
              <a:t>Two important pillars of technical/scientific 				writing</a:t>
            </a:r>
            <a:br>
              <a:rPr lang="en-US" sz="3675" b="1" dirty="0"/>
            </a:br>
            <a:br>
              <a:rPr lang="en-US" sz="3675" b="1" dirty="0"/>
            </a:br>
            <a:r>
              <a:rPr lang="en-US" sz="3675" b="1" dirty="0"/>
              <a:t> - </a:t>
            </a:r>
            <a:r>
              <a:rPr lang="en-US" sz="3000" b="1" dirty="0"/>
              <a:t>In face-to-face explanation you can get an  instant 			feedback</a:t>
            </a:r>
            <a:br>
              <a:rPr lang="en-US" sz="3000" b="1" dirty="0"/>
            </a:br>
            <a:br>
              <a:rPr lang="en-US" sz="3000" b="1" dirty="0"/>
            </a:br>
            <a:r>
              <a:rPr lang="en-US" sz="3000" b="1" dirty="0"/>
              <a:t>- In writing you have only one chance </a:t>
            </a:r>
            <a:br>
              <a:rPr lang="en-US" sz="3675" b="1" dirty="0"/>
            </a:br>
            <a:endParaRPr lang="en-US" sz="3000" b="1" dirty="0"/>
          </a:p>
        </p:txBody>
      </p:sp>
    </p:spTree>
    <p:extLst>
      <p:ext uri="{BB962C8B-B14F-4D97-AF65-F5344CB8AC3E}">
        <p14:creationId xmlns:p14="http://schemas.microsoft.com/office/powerpoint/2010/main" val="3429040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 y="912589"/>
            <a:ext cx="5982891" cy="5041727"/>
          </a:xfrm>
        </p:spPr>
        <p:txBody>
          <a:bodyPr vert="horz" lIns="137160" tIns="45720" rIns="91440" bIns="45720" rtlCol="0" anchor="t" anchorCtr="0">
            <a:normAutofit fontScale="90000"/>
          </a:bodyPr>
          <a:lstStyle/>
          <a:p>
            <a:pPr marL="514350" indent="-514350" algn="l">
              <a:buFont typeface="Wingdings" panose="05000000000000000000" pitchFamily="2" charset="2"/>
              <a:buChar char="Ø"/>
            </a:pPr>
            <a:br>
              <a:rPr lang="en-US" sz="3675" b="1" dirty="0"/>
            </a:br>
            <a:r>
              <a:rPr lang="en-US" sz="3675" b="1" u="sng" dirty="0"/>
              <a:t>The first step </a:t>
            </a:r>
            <a:r>
              <a:rPr lang="en-US" sz="3675" b="1" dirty="0"/>
              <a:t>in being logical: </a:t>
            </a:r>
            <a:br>
              <a:rPr lang="en-US" sz="3675" b="1" dirty="0"/>
            </a:br>
            <a:br>
              <a:rPr lang="en-US" sz="3675" b="1" dirty="0"/>
            </a:br>
            <a:r>
              <a:rPr lang="en-US" sz="3675" b="1" dirty="0"/>
              <a:t>Creation of an outline 			before you begin writing.</a:t>
            </a:r>
            <a:br>
              <a:rPr lang="en-US" sz="3675" b="1" dirty="0"/>
            </a:br>
            <a:br>
              <a:rPr lang="en-US" sz="3675" b="1" dirty="0"/>
            </a:br>
            <a:r>
              <a:rPr lang="en-US" sz="3675" b="1" dirty="0"/>
              <a:t> </a:t>
            </a:r>
            <a:br>
              <a:rPr lang="en-US" sz="3675" b="1" dirty="0"/>
            </a:br>
            <a:r>
              <a:rPr lang="en-US" sz="3675" b="1" dirty="0"/>
              <a:t>This is the step that takes the greatest investment of time. </a:t>
            </a:r>
            <a:br>
              <a:rPr lang="en-US" sz="3675" b="1" dirty="0"/>
            </a:br>
            <a:endParaRPr lang="en-US" sz="3000" b="1" dirty="0"/>
          </a:p>
        </p:txBody>
      </p:sp>
      <p:sp>
        <p:nvSpPr>
          <p:cNvPr id="3" name="Rectangle 2">
            <a:extLst>
              <a:ext uri="{FF2B5EF4-FFF2-40B4-BE49-F238E27FC236}">
                <a16:creationId xmlns:a16="http://schemas.microsoft.com/office/drawing/2014/main" id="{74F59EAE-31D9-4585-AC0F-EDD1E1CAF110}"/>
              </a:ext>
            </a:extLst>
          </p:cNvPr>
          <p:cNvSpPr/>
          <p:nvPr/>
        </p:nvSpPr>
        <p:spPr>
          <a:xfrm>
            <a:off x="5761435" y="1143001"/>
            <a:ext cx="3339704" cy="4636293"/>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2100" dirty="0">
                <a:solidFill>
                  <a:srgbClr val="44546A">
                    <a:lumMod val="50000"/>
                  </a:srgbClr>
                </a:solidFill>
                <a:latin typeface="Calibri"/>
              </a:rPr>
              <a:t>Identify your topic or thesis statement.</a:t>
            </a:r>
          </a:p>
          <a:p>
            <a:pPr defTabSz="685800">
              <a:defRPr/>
            </a:pPr>
            <a:endParaRPr lang="en-US" sz="2100" dirty="0">
              <a:solidFill>
                <a:srgbClr val="44546A">
                  <a:lumMod val="50000"/>
                </a:srgbClr>
              </a:solidFill>
              <a:latin typeface="Calibri"/>
            </a:endParaRPr>
          </a:p>
          <a:p>
            <a:pPr defTabSz="685800">
              <a:defRPr/>
            </a:pPr>
            <a:r>
              <a:rPr lang="en-US" sz="2100" dirty="0">
                <a:solidFill>
                  <a:srgbClr val="44546A">
                    <a:lumMod val="50000"/>
                  </a:srgbClr>
                </a:solidFill>
                <a:latin typeface="Calibri"/>
              </a:rPr>
              <a:t>Decide what points you would like to discuss during your paper.</a:t>
            </a:r>
          </a:p>
          <a:p>
            <a:pPr defTabSz="685800">
              <a:defRPr/>
            </a:pPr>
            <a:endParaRPr lang="en-US" sz="2100" dirty="0">
              <a:solidFill>
                <a:srgbClr val="44546A">
                  <a:lumMod val="50000"/>
                </a:srgbClr>
              </a:solidFill>
              <a:latin typeface="Calibri"/>
            </a:endParaRPr>
          </a:p>
          <a:p>
            <a:pPr defTabSz="685800">
              <a:defRPr/>
            </a:pPr>
            <a:r>
              <a:rPr lang="en-US" sz="2100" dirty="0">
                <a:solidFill>
                  <a:srgbClr val="44546A">
                    <a:lumMod val="50000"/>
                  </a:srgbClr>
                </a:solidFill>
                <a:latin typeface="Calibri"/>
              </a:rPr>
              <a:t>Put your points in logical, numerical order so that each point connects back to your main point.</a:t>
            </a:r>
          </a:p>
          <a:p>
            <a:pPr defTabSz="685800">
              <a:defRPr/>
            </a:pPr>
            <a:endParaRPr lang="en-US" sz="2100" dirty="0">
              <a:solidFill>
                <a:srgbClr val="44546A">
                  <a:lumMod val="50000"/>
                </a:srgbClr>
              </a:solidFill>
              <a:latin typeface="Calibri"/>
            </a:endParaRPr>
          </a:p>
          <a:p>
            <a:pPr defTabSz="685800">
              <a:defRPr/>
            </a:pPr>
            <a:r>
              <a:rPr lang="en-US" sz="2100" dirty="0">
                <a:solidFill>
                  <a:srgbClr val="44546A">
                    <a:lumMod val="50000"/>
                  </a:srgbClr>
                </a:solidFill>
                <a:latin typeface="Calibri"/>
              </a:rPr>
              <a:t>Write possible transitions between paragraphs.</a:t>
            </a:r>
          </a:p>
        </p:txBody>
      </p:sp>
    </p:spTree>
    <p:extLst>
      <p:ext uri="{BB962C8B-B14F-4D97-AF65-F5344CB8AC3E}">
        <p14:creationId xmlns:p14="http://schemas.microsoft.com/office/powerpoint/2010/main" val="22760003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fontScale="90000"/>
          </a:bodyPr>
          <a:lstStyle/>
          <a:p>
            <a:pPr algn="l"/>
            <a:br>
              <a:rPr lang="en-US" sz="3000" b="1" dirty="0"/>
            </a:br>
            <a:r>
              <a:rPr lang="en-US" sz="3000" b="1" dirty="0"/>
              <a:t>- Every paragraph should have one topic sentence, not two or 	three. </a:t>
            </a:r>
            <a:br>
              <a:rPr lang="en-US" sz="3000" b="1" dirty="0"/>
            </a:br>
            <a:br>
              <a:rPr lang="en-US" sz="3000" b="1" dirty="0"/>
            </a:br>
            <a:r>
              <a:rPr lang="en-US" sz="3000" b="1" dirty="0"/>
              <a:t>- All sentences in a paragraph should support or elaborate upon 	what your topic sentence.</a:t>
            </a:r>
            <a:br>
              <a:rPr lang="en-US" sz="3000" b="1" dirty="0"/>
            </a:br>
            <a:r>
              <a:rPr lang="en-US" sz="3000" b="1" dirty="0"/>
              <a:t> </a:t>
            </a:r>
            <a:br>
              <a:rPr lang="en-US" sz="3000" b="1" dirty="0"/>
            </a:br>
            <a:r>
              <a:rPr lang="en-US" sz="3000" b="1" dirty="0"/>
              <a:t>- All of your paragraphs should be logically organized around your 	</a:t>
            </a:r>
            <a:r>
              <a:rPr lang="en-US" sz="3000" b="1" u="sng" dirty="0"/>
              <a:t>section headings or sub-headings</a:t>
            </a:r>
            <a:r>
              <a:rPr lang="en-US" sz="3000" b="1" dirty="0"/>
              <a:t>. </a:t>
            </a:r>
            <a:br>
              <a:rPr lang="en-US" sz="3000" b="1" dirty="0"/>
            </a:br>
            <a:br>
              <a:rPr lang="en-US" sz="3000" b="1" dirty="0"/>
            </a:br>
            <a:r>
              <a:rPr lang="en-US" sz="3000" b="1" dirty="0"/>
              <a:t>- You should have a rationale for </a:t>
            </a:r>
            <a:r>
              <a:rPr lang="en-US" sz="3000" b="1" u="sng" dirty="0"/>
              <a:t>where each paragraph is placed</a:t>
            </a:r>
            <a:r>
              <a:rPr lang="en-US" sz="3000" b="1" dirty="0"/>
              <a:t>. </a:t>
            </a:r>
            <a:br>
              <a:rPr lang="en-US" sz="3000" b="1" dirty="0"/>
            </a:br>
            <a:br>
              <a:rPr lang="en-US" sz="3000" b="1" dirty="0"/>
            </a:br>
            <a:r>
              <a:rPr lang="en-US" sz="3000" b="1" dirty="0"/>
              <a:t>- You must maintain a natural logic that is </a:t>
            </a:r>
            <a:r>
              <a:rPr lang="en-US" sz="3000" b="1" u="sng" dirty="0"/>
              <a:t>accessible to the reader</a:t>
            </a:r>
            <a:r>
              <a:rPr lang="en-US" sz="3000" b="1" dirty="0"/>
              <a:t>.</a:t>
            </a:r>
            <a:br>
              <a:rPr lang="en-US" sz="3000" b="1" dirty="0"/>
            </a:br>
            <a:br>
              <a:rPr lang="en-US" sz="3000" b="1" dirty="0"/>
            </a:br>
            <a:endParaRPr lang="en-US" sz="3000" b="1" dirty="0"/>
          </a:p>
        </p:txBody>
      </p:sp>
    </p:spTree>
    <p:extLst>
      <p:ext uri="{BB962C8B-B14F-4D97-AF65-F5344CB8AC3E}">
        <p14:creationId xmlns:p14="http://schemas.microsoft.com/office/powerpoint/2010/main" val="39082429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723" y="0"/>
            <a:ext cx="9144000" cy="5041727"/>
          </a:xfrm>
        </p:spPr>
        <p:txBody>
          <a:bodyPr vert="horz" lIns="137160" tIns="45720" rIns="91440" bIns="45720" rtlCol="0" anchor="t" anchorCtr="0">
            <a:normAutofit/>
          </a:bodyPr>
          <a:lstStyle/>
          <a:p>
            <a:pPr algn="l"/>
            <a:br>
              <a:rPr lang="en-US" sz="2700" b="1" dirty="0"/>
            </a:br>
            <a:r>
              <a:rPr lang="en-US" sz="2700" b="1" dirty="0"/>
              <a:t>- Use effective transitions between sections, paragraphs, 	sentences, and within sentences.</a:t>
            </a:r>
            <a:br>
              <a:rPr lang="en-US" sz="2700" b="1" dirty="0"/>
            </a:br>
            <a:br>
              <a:rPr lang="en-US" sz="2700" b="1" dirty="0"/>
            </a:br>
            <a:r>
              <a:rPr lang="en-US" sz="2700" b="1" dirty="0"/>
              <a:t>- Use strong verbs and concrete nouns. </a:t>
            </a:r>
            <a:br>
              <a:rPr lang="en-US" sz="2700" b="1" dirty="0"/>
            </a:br>
            <a:br>
              <a:rPr lang="en-US" sz="2700" b="1" dirty="0"/>
            </a:br>
            <a:r>
              <a:rPr lang="en-US" sz="2700" b="1" dirty="0"/>
              <a:t>- Don’t start sentences with weak phrases like, “There are . . .“ or 	“In order to determine,” instead of “To determine.”</a:t>
            </a:r>
            <a:br>
              <a:rPr lang="en-US" sz="2700" b="1" dirty="0"/>
            </a:br>
            <a:endParaRPr lang="en-US" sz="2700" b="1" dirty="0"/>
          </a:p>
        </p:txBody>
      </p:sp>
      <p:sp>
        <p:nvSpPr>
          <p:cNvPr id="3" name="TextBox 2">
            <a:extLst>
              <a:ext uri="{FF2B5EF4-FFF2-40B4-BE49-F238E27FC236}">
                <a16:creationId xmlns:a16="http://schemas.microsoft.com/office/drawing/2014/main" id="{0A4D7FAA-0436-45F6-8E05-1536ECEC86A6}"/>
              </a:ext>
            </a:extLst>
          </p:cNvPr>
          <p:cNvSpPr txBox="1"/>
          <p:nvPr/>
        </p:nvSpPr>
        <p:spPr>
          <a:xfrm>
            <a:off x="216877" y="3200400"/>
            <a:ext cx="8915400" cy="3477875"/>
          </a:xfrm>
          <a:prstGeom prst="rect">
            <a:avLst/>
          </a:prstGeom>
          <a:solidFill>
            <a:schemeClr val="accent6">
              <a:lumMod val="40000"/>
              <a:lumOff val="60000"/>
            </a:schemeClr>
          </a:solidFill>
        </p:spPr>
        <p:txBody>
          <a:bodyPr wrap="square" rtlCol="0">
            <a:spAutoFit/>
          </a:bodyPr>
          <a:lstStyle/>
          <a:p>
            <a:pPr defTabSz="685800">
              <a:defRPr/>
            </a:pPr>
            <a:r>
              <a:rPr lang="en-US" sz="2000" b="1" dirty="0">
                <a:solidFill>
                  <a:prstClr val="black"/>
                </a:solidFill>
                <a:latin typeface="Calibri"/>
              </a:rPr>
              <a:t>Example:</a:t>
            </a:r>
          </a:p>
          <a:p>
            <a:pPr defTabSz="685800">
              <a:defRPr/>
            </a:pPr>
            <a:r>
              <a:rPr lang="en-US" sz="2000" dirty="0">
                <a:solidFill>
                  <a:prstClr val="black"/>
                </a:solidFill>
                <a:latin typeface="Calibri"/>
              </a:rPr>
              <a:t>In the book, many loud sounds prevented the characters from sleeping. The characters were unable to embark on their journey the next day.</a:t>
            </a:r>
          </a:p>
          <a:p>
            <a:pPr defTabSz="685800">
              <a:defRPr/>
            </a:pPr>
            <a:endParaRPr lang="en-US" sz="2000" b="1" dirty="0">
              <a:solidFill>
                <a:prstClr val="black"/>
              </a:solidFill>
              <a:latin typeface="Calibri"/>
            </a:endParaRPr>
          </a:p>
          <a:p>
            <a:pPr defTabSz="685800">
              <a:defRPr/>
            </a:pPr>
            <a:r>
              <a:rPr lang="en-US" sz="2000" b="1" dirty="0">
                <a:solidFill>
                  <a:prstClr val="black"/>
                </a:solidFill>
                <a:latin typeface="Calibri"/>
              </a:rPr>
              <a:t>Revision:</a:t>
            </a:r>
          </a:p>
          <a:p>
            <a:pPr defTabSz="685800">
              <a:defRPr/>
            </a:pPr>
            <a:r>
              <a:rPr lang="en-US" sz="2000" dirty="0">
                <a:solidFill>
                  <a:prstClr val="black"/>
                </a:solidFill>
                <a:latin typeface="Calibri"/>
              </a:rPr>
              <a:t>In the book, many loud sounds prevented the characters from sleeping. </a:t>
            </a:r>
            <a:r>
              <a:rPr lang="en-US" sz="2000" u="sng" dirty="0">
                <a:solidFill>
                  <a:prstClr val="black"/>
                </a:solidFill>
                <a:latin typeface="Calibri"/>
              </a:rPr>
              <a:t>As a result of their lack of sleep</a:t>
            </a:r>
            <a:r>
              <a:rPr lang="en-US" sz="2000" dirty="0">
                <a:solidFill>
                  <a:prstClr val="black"/>
                </a:solidFill>
                <a:latin typeface="Calibri"/>
              </a:rPr>
              <a:t>, the characters were unable to start their journey the next day.</a:t>
            </a:r>
          </a:p>
          <a:p>
            <a:pPr defTabSz="685800">
              <a:defRPr/>
            </a:pPr>
            <a:endParaRPr lang="en-US" sz="2000" b="1" dirty="0">
              <a:solidFill>
                <a:prstClr val="black"/>
              </a:solidFill>
              <a:latin typeface="Calibri"/>
            </a:endParaRPr>
          </a:p>
          <a:p>
            <a:pPr defTabSz="685800">
              <a:defRPr/>
            </a:pPr>
            <a:r>
              <a:rPr lang="en-US" sz="2000" b="1" dirty="0">
                <a:solidFill>
                  <a:prstClr val="black"/>
                </a:solidFill>
                <a:latin typeface="Calibri"/>
              </a:rPr>
              <a:t>Rationale: </a:t>
            </a:r>
            <a:r>
              <a:rPr lang="en-US" sz="2000" dirty="0">
                <a:solidFill>
                  <a:prstClr val="black"/>
                </a:solidFill>
                <a:latin typeface="Calibri"/>
              </a:rPr>
              <a:t>The transition helps to connect the two paragraphs by showing that the event occurring in the second paragraph was a result of the event that was described in the first paragraph. </a:t>
            </a:r>
          </a:p>
        </p:txBody>
      </p:sp>
    </p:spTree>
    <p:extLst>
      <p:ext uri="{BB962C8B-B14F-4D97-AF65-F5344CB8AC3E}">
        <p14:creationId xmlns:p14="http://schemas.microsoft.com/office/powerpoint/2010/main" val="36186254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912589"/>
            <a:ext cx="9144000" cy="5041727"/>
          </a:xfrm>
        </p:spPr>
        <p:txBody>
          <a:bodyPr vert="horz" lIns="137160" tIns="45720" rIns="91440" bIns="45720" rtlCol="0" anchor="t" anchorCtr="0">
            <a:normAutofit/>
          </a:bodyPr>
          <a:lstStyle/>
          <a:p>
            <a:pPr algn="l"/>
            <a:br>
              <a:rPr lang="en-US" sz="3000" b="1" dirty="0"/>
            </a:br>
            <a:r>
              <a:rPr lang="en-US" sz="3000" b="1" dirty="0"/>
              <a:t>- Always strive to make the implicit explicit. </a:t>
            </a:r>
            <a:br>
              <a:rPr lang="en-US" sz="3000" b="1" dirty="0"/>
            </a:br>
            <a:r>
              <a:rPr lang="en-US" sz="3000" b="1" dirty="0"/>
              <a:t>		</a:t>
            </a:r>
            <a:r>
              <a:rPr lang="en-US" sz="3000" dirty="0"/>
              <a:t>Just because you know what you meant to say 			does not mean your audience does.</a:t>
            </a:r>
            <a:br>
              <a:rPr lang="en-US" sz="3000" dirty="0"/>
            </a:br>
            <a:br>
              <a:rPr lang="en-US" sz="3000" dirty="0"/>
            </a:br>
            <a:r>
              <a:rPr lang="en-US" sz="3000" b="1" dirty="0"/>
              <a:t>One other suggestion: </a:t>
            </a:r>
            <a:br>
              <a:rPr lang="en-US" sz="3000" b="1" dirty="0"/>
            </a:br>
            <a:r>
              <a:rPr lang="en-US" sz="3000" b="1" dirty="0"/>
              <a:t>	</a:t>
            </a:r>
            <a:r>
              <a:rPr lang="en-US" sz="3000" dirty="0"/>
              <a:t>After you have written a section, step away from it for 	a day and return with a fresh eye. </a:t>
            </a:r>
            <a:br>
              <a:rPr lang="en-US" sz="3000" dirty="0"/>
            </a:br>
            <a:br>
              <a:rPr lang="en-US" sz="3000" dirty="0"/>
            </a:br>
            <a:r>
              <a:rPr lang="en-US" sz="3000" dirty="0"/>
              <a:t>	This will help you view your writing from the reader’s 	perspective.</a:t>
            </a:r>
            <a:br>
              <a:rPr lang="en-US" sz="3000" dirty="0"/>
            </a:br>
            <a:endParaRPr lang="en-US" sz="3000" dirty="0"/>
          </a:p>
        </p:txBody>
      </p:sp>
    </p:spTree>
    <p:extLst>
      <p:ext uri="{BB962C8B-B14F-4D97-AF65-F5344CB8AC3E}">
        <p14:creationId xmlns:p14="http://schemas.microsoft.com/office/powerpoint/2010/main" val="22281951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1195388"/>
            <a:ext cx="7886700" cy="461963"/>
          </a:xfrm>
        </p:spPr>
        <p:txBody>
          <a:bodyPr>
            <a:normAutofit fontScale="90000"/>
          </a:bodyPr>
          <a:lstStyle/>
          <a:p>
            <a:r>
              <a:rPr lang="en-US" b="1" dirty="0">
                <a:solidFill>
                  <a:srgbClr val="9370B2"/>
                </a:solidFill>
                <a:latin typeface="RdgVesta-Bold"/>
              </a:rPr>
              <a:t>The sixteen criteria</a:t>
            </a:r>
            <a:endParaRPr lang="en-US" dirty="0"/>
          </a:p>
        </p:txBody>
      </p:sp>
      <p:pic>
        <p:nvPicPr>
          <p:cNvPr id="4" name="Picture 3">
            <a:extLst>
              <a:ext uri="{FF2B5EF4-FFF2-40B4-BE49-F238E27FC236}">
                <a16:creationId xmlns:a16="http://schemas.microsoft.com/office/drawing/2014/main" id="{0F1167FC-AEDD-4074-9B19-893928BE566B}"/>
              </a:ext>
            </a:extLst>
          </p:cNvPr>
          <p:cNvPicPr>
            <a:picLocks noChangeAspect="1"/>
          </p:cNvPicPr>
          <p:nvPr/>
        </p:nvPicPr>
        <p:blipFill>
          <a:blip r:embed="rId2"/>
          <a:stretch>
            <a:fillRect/>
          </a:stretch>
        </p:blipFill>
        <p:spPr>
          <a:xfrm>
            <a:off x="0" y="1759760"/>
            <a:ext cx="9144000" cy="3338480"/>
          </a:xfrm>
          <a:prstGeom prst="rect">
            <a:avLst/>
          </a:prstGeom>
        </p:spPr>
      </p:pic>
    </p:spTree>
    <p:extLst>
      <p:ext uri="{BB962C8B-B14F-4D97-AF65-F5344CB8AC3E}">
        <p14:creationId xmlns:p14="http://schemas.microsoft.com/office/powerpoint/2010/main" val="27279802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1195388"/>
            <a:ext cx="7886700" cy="461963"/>
          </a:xfrm>
        </p:spPr>
        <p:txBody>
          <a:bodyPr>
            <a:normAutofit fontScale="90000"/>
          </a:bodyPr>
          <a:lstStyle/>
          <a:p>
            <a:r>
              <a:rPr lang="en-US" b="1" dirty="0">
                <a:solidFill>
                  <a:srgbClr val="9370B2"/>
                </a:solidFill>
                <a:latin typeface="RdgVesta-Bold"/>
              </a:rPr>
              <a:t>The sixteen criteria</a:t>
            </a:r>
            <a:endParaRPr lang="en-US" dirty="0"/>
          </a:p>
        </p:txBody>
      </p:sp>
      <p:pic>
        <p:nvPicPr>
          <p:cNvPr id="5" name="Picture 4">
            <a:extLst>
              <a:ext uri="{FF2B5EF4-FFF2-40B4-BE49-F238E27FC236}">
                <a16:creationId xmlns:a16="http://schemas.microsoft.com/office/drawing/2014/main" id="{57A369DE-D21C-4C4E-88A3-F478EF02BB84}"/>
              </a:ext>
            </a:extLst>
          </p:cNvPr>
          <p:cNvPicPr>
            <a:picLocks noChangeAspect="1"/>
          </p:cNvPicPr>
          <p:nvPr/>
        </p:nvPicPr>
        <p:blipFill>
          <a:blip r:embed="rId2"/>
          <a:stretch>
            <a:fillRect/>
          </a:stretch>
        </p:blipFill>
        <p:spPr>
          <a:xfrm>
            <a:off x="0" y="1921753"/>
            <a:ext cx="9091820" cy="2962313"/>
          </a:xfrm>
          <a:prstGeom prst="rect">
            <a:avLst/>
          </a:prstGeom>
        </p:spPr>
      </p:pic>
    </p:spTree>
    <p:extLst>
      <p:ext uri="{BB962C8B-B14F-4D97-AF65-F5344CB8AC3E}">
        <p14:creationId xmlns:p14="http://schemas.microsoft.com/office/powerpoint/2010/main" val="392801398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1195388"/>
            <a:ext cx="7886700" cy="461963"/>
          </a:xfrm>
        </p:spPr>
        <p:txBody>
          <a:bodyPr>
            <a:normAutofit fontScale="90000"/>
          </a:bodyPr>
          <a:lstStyle/>
          <a:p>
            <a:r>
              <a:rPr lang="en-US" b="1" dirty="0">
                <a:solidFill>
                  <a:srgbClr val="9370B2"/>
                </a:solidFill>
                <a:latin typeface="RdgVesta-Bold"/>
              </a:rPr>
              <a:t>The sixteen criteria</a:t>
            </a:r>
            <a:endParaRPr lang="en-US" dirty="0"/>
          </a:p>
        </p:txBody>
      </p:sp>
      <p:pic>
        <p:nvPicPr>
          <p:cNvPr id="5" name="Picture 4">
            <a:extLst>
              <a:ext uri="{FF2B5EF4-FFF2-40B4-BE49-F238E27FC236}">
                <a16:creationId xmlns:a16="http://schemas.microsoft.com/office/drawing/2014/main" id="{FCB0222D-82EE-4B4C-BE77-5356BAE0A3C7}"/>
              </a:ext>
            </a:extLst>
          </p:cNvPr>
          <p:cNvPicPr>
            <a:picLocks noChangeAspect="1"/>
          </p:cNvPicPr>
          <p:nvPr/>
        </p:nvPicPr>
        <p:blipFill>
          <a:blip r:embed="rId2"/>
          <a:stretch>
            <a:fillRect/>
          </a:stretch>
        </p:blipFill>
        <p:spPr>
          <a:xfrm>
            <a:off x="0" y="1751834"/>
            <a:ext cx="9144000" cy="3354332"/>
          </a:xfrm>
          <a:prstGeom prst="rect">
            <a:avLst/>
          </a:prstGeom>
        </p:spPr>
      </p:pic>
    </p:spTree>
    <p:extLst>
      <p:ext uri="{BB962C8B-B14F-4D97-AF65-F5344CB8AC3E}">
        <p14:creationId xmlns:p14="http://schemas.microsoft.com/office/powerpoint/2010/main" val="251354347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25959-4070-4344-9C16-D089017377F9}"/>
              </a:ext>
            </a:extLst>
          </p:cNvPr>
          <p:cNvSpPr>
            <a:spLocks noGrp="1"/>
          </p:cNvSpPr>
          <p:nvPr>
            <p:ph type="title"/>
          </p:nvPr>
        </p:nvSpPr>
        <p:spPr>
          <a:xfrm>
            <a:off x="-1" y="1195388"/>
            <a:ext cx="7886700" cy="461963"/>
          </a:xfrm>
        </p:spPr>
        <p:txBody>
          <a:bodyPr>
            <a:normAutofit fontScale="90000"/>
          </a:bodyPr>
          <a:lstStyle/>
          <a:p>
            <a:r>
              <a:rPr lang="en-US" b="1" dirty="0">
                <a:solidFill>
                  <a:srgbClr val="9370B2"/>
                </a:solidFill>
                <a:latin typeface="RdgVesta-Bold"/>
              </a:rPr>
              <a:t>The sixteen criteria</a:t>
            </a:r>
            <a:endParaRPr lang="en-US" dirty="0"/>
          </a:p>
        </p:txBody>
      </p:sp>
      <p:pic>
        <p:nvPicPr>
          <p:cNvPr id="4" name="Picture 3">
            <a:extLst>
              <a:ext uri="{FF2B5EF4-FFF2-40B4-BE49-F238E27FC236}">
                <a16:creationId xmlns:a16="http://schemas.microsoft.com/office/drawing/2014/main" id="{51EF01FF-E945-44F8-9D29-512ABB53BADC}"/>
              </a:ext>
            </a:extLst>
          </p:cNvPr>
          <p:cNvPicPr>
            <a:picLocks noChangeAspect="1"/>
          </p:cNvPicPr>
          <p:nvPr/>
        </p:nvPicPr>
        <p:blipFill>
          <a:blip r:embed="rId2"/>
          <a:stretch>
            <a:fillRect/>
          </a:stretch>
        </p:blipFill>
        <p:spPr>
          <a:xfrm>
            <a:off x="-1" y="1813697"/>
            <a:ext cx="9144000" cy="3983495"/>
          </a:xfrm>
          <a:prstGeom prst="rect">
            <a:avLst/>
          </a:prstGeom>
        </p:spPr>
      </p:pic>
    </p:spTree>
    <p:extLst>
      <p:ext uri="{BB962C8B-B14F-4D97-AF65-F5344CB8AC3E}">
        <p14:creationId xmlns:p14="http://schemas.microsoft.com/office/powerpoint/2010/main" val="288500357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44274C9-76A5-4C68-ADA2-D7689914D116}"/>
              </a:ext>
            </a:extLst>
          </p:cNvPr>
          <p:cNvGraphicFramePr>
            <a:graphicFrameLocks noGrp="1"/>
          </p:cNvGraphicFramePr>
          <p:nvPr/>
        </p:nvGraphicFramePr>
        <p:xfrm>
          <a:off x="78582" y="975122"/>
          <a:ext cx="8836819" cy="4911709"/>
        </p:xfrm>
        <a:graphic>
          <a:graphicData uri="http://schemas.openxmlformats.org/drawingml/2006/table">
            <a:tbl>
              <a:tblPr firstRow="1" firstCol="1" bandRow="1"/>
              <a:tblGrid>
                <a:gridCol w="2299400">
                  <a:extLst>
                    <a:ext uri="{9D8B030D-6E8A-4147-A177-3AD203B41FA5}">
                      <a16:colId xmlns:a16="http://schemas.microsoft.com/office/drawing/2014/main" val="248219535"/>
                    </a:ext>
                  </a:extLst>
                </a:gridCol>
                <a:gridCol w="2564276">
                  <a:extLst>
                    <a:ext uri="{9D8B030D-6E8A-4147-A177-3AD203B41FA5}">
                      <a16:colId xmlns:a16="http://schemas.microsoft.com/office/drawing/2014/main" val="2456673974"/>
                    </a:ext>
                  </a:extLst>
                </a:gridCol>
                <a:gridCol w="3973143">
                  <a:extLst>
                    <a:ext uri="{9D8B030D-6E8A-4147-A177-3AD203B41FA5}">
                      <a16:colId xmlns:a16="http://schemas.microsoft.com/office/drawing/2014/main" val="2679222781"/>
                    </a:ext>
                  </a:extLst>
                </a:gridCol>
              </a:tblGrid>
              <a:tr h="280511">
                <a:tc>
                  <a:txBody>
                    <a:bodyPr/>
                    <a:lstStyle/>
                    <a:p>
                      <a:pPr marL="0" marR="0">
                        <a:lnSpc>
                          <a:spcPct val="107000"/>
                        </a:lnSpc>
                        <a:spcBef>
                          <a:spcPts val="0"/>
                        </a:spcBef>
                        <a:spcAft>
                          <a:spcPts val="0"/>
                        </a:spcAft>
                      </a:pPr>
                      <a:r>
                        <a:rPr lang="en-US" sz="1800" b="1">
                          <a:solidFill>
                            <a:srgbClr val="000000"/>
                          </a:solidFill>
                          <a:effectLst/>
                          <a:latin typeface="+mn-lt"/>
                          <a:ea typeface="Calibri" panose="020F0502020204030204" pitchFamily="34" charset="0"/>
                          <a:cs typeface="Arial" panose="020B0604020202020204" pitchFamily="34" charset="0"/>
                        </a:rPr>
                        <a:t>Aspect</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b="1" dirty="0">
                          <a:solidFill>
                            <a:srgbClr val="C00000"/>
                          </a:solidFill>
                          <a:effectLst/>
                          <a:latin typeface="+mn-lt"/>
                          <a:ea typeface="Calibri" panose="020F0502020204030204" pitchFamily="34" charset="0"/>
                          <a:cs typeface="Arial" panose="020B0604020202020204" pitchFamily="34" charset="0"/>
                        </a:rPr>
                        <a:t>General Writing</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b="1" dirty="0">
                          <a:solidFill>
                            <a:srgbClr val="C00000"/>
                          </a:solidFill>
                          <a:effectLst/>
                          <a:latin typeface="+mn-lt"/>
                          <a:ea typeface="Calibri" panose="020F0502020204030204" pitchFamily="34" charset="0"/>
                          <a:cs typeface="Arial" panose="020B0604020202020204" pitchFamily="34" charset="0"/>
                        </a:rPr>
                        <a:t>Technical Writing</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5169367"/>
                  </a:ext>
                </a:extLst>
              </a:tr>
              <a:tr h="280511">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Purpose</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To entertain and inform</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mn-lt"/>
                          <a:ea typeface="Calibri" panose="020F0502020204030204" pitchFamily="34" charset="0"/>
                          <a:cs typeface="Arial" panose="020B0604020202020204" pitchFamily="34" charset="0"/>
                        </a:rPr>
                        <a:t>Primarily to inform</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2972950"/>
                  </a:ext>
                </a:extLst>
              </a:tr>
              <a:tr h="280511">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Emphasis</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mn-lt"/>
                          <a:ea typeface="Calibri" panose="020F0502020204030204" pitchFamily="34" charset="0"/>
                          <a:cs typeface="Arial" panose="020B0604020202020204" pitchFamily="34" charset="0"/>
                        </a:rPr>
                        <a:t>General</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mn-lt"/>
                          <a:ea typeface="Calibri" panose="020F0502020204030204" pitchFamily="34" charset="0"/>
                          <a:cs typeface="Arial" panose="020B0604020202020204" pitchFamily="34" charset="0"/>
                        </a:rPr>
                        <a:t>Specific</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7245736"/>
                  </a:ext>
                </a:extLst>
              </a:tr>
              <a:tr h="867537">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Time frame or shelf life</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mn-lt"/>
                          <a:ea typeface="Calibri" panose="020F0502020204030204" pitchFamily="34" charset="0"/>
                          <a:cs typeface="Arial" panose="020B0604020202020204" pitchFamily="34" charset="0"/>
                        </a:rPr>
                        <a:t>More ephemeral</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 More permanent; for the record</a:t>
                      </a:r>
                      <a:endParaRPr lang="en-US" sz="180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 Ongoing/multiple/revised editions commo</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9364086"/>
                  </a:ext>
                </a:extLst>
              </a:tr>
              <a:tr h="574025">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External validation of writing</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Writing is often verified by fact-checkers, editors</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Writing (e.g. journal articles) may be reviewed anonymously by referees</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0189892"/>
                  </a:ext>
                </a:extLst>
              </a:tr>
              <a:tr h="2628614">
                <a:tc>
                  <a:txBody>
                    <a:body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Arial" panose="020B0604020202020204" pitchFamily="34" charset="0"/>
                        </a:rPr>
                        <a:t>Style</a:t>
                      </a:r>
                      <a:endParaRPr lang="en-US" sz="1800" dirty="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-Quotation common</a:t>
                      </a:r>
                      <a:endParaRPr lang="en-US" sz="180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-Slang, puns, humor acceptable</a:t>
                      </a:r>
                      <a:endParaRPr lang="en-US" sz="180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-Few footnotes, references</a:t>
                      </a:r>
                      <a:endParaRPr lang="en-US" sz="180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-First-and second-person references common</a:t>
                      </a:r>
                      <a:endParaRPr lang="en-US" sz="180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Arial" panose="020B0604020202020204" pitchFamily="34" charset="0"/>
                        </a:rPr>
                        <a:t>-Passive voice used less often</a:t>
                      </a:r>
                      <a:endParaRPr lang="en-US" sz="180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Arial" panose="020B0604020202020204" pitchFamily="34" charset="0"/>
                        </a:rPr>
                        <a:t>-Quotation uncommon</a:t>
                      </a:r>
                      <a:endParaRPr lang="en-US" sz="18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Arial" panose="020B0604020202020204" pitchFamily="34" charset="0"/>
                        </a:rPr>
                        <a:t>-Slang, puns, humor not readily acceptable</a:t>
                      </a:r>
                      <a:endParaRPr lang="en-US" sz="18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Arial" panose="020B0604020202020204" pitchFamily="34" charset="0"/>
                        </a:rPr>
                        <a:t>-Footnotes, references common</a:t>
                      </a:r>
                      <a:endParaRPr lang="en-US" sz="18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Arial" panose="020B0604020202020204" pitchFamily="34" charset="0"/>
                        </a:rPr>
                        <a:t>-First and second-person references uncommon</a:t>
                      </a:r>
                      <a:endParaRPr lang="en-US" sz="1800" dirty="0">
                        <a:effectLst/>
                        <a:latin typeface="+mn-lt"/>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Arial" panose="020B0604020202020204" pitchFamily="34" charset="0"/>
                        </a:rPr>
                        <a:t>-Passive voice used more oft</a:t>
                      </a:r>
                      <a:endParaRPr lang="en-US" sz="1800" dirty="0">
                        <a:effectLst/>
                        <a:latin typeface="+mn-lt"/>
                        <a:ea typeface="Calibri" panose="020F0502020204030204" pitchFamily="34" charset="0"/>
                        <a:cs typeface="Arial" panose="020B0604020202020204" pitchFamily="34" charset="0"/>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5102168"/>
                  </a:ext>
                </a:extLst>
              </a:tr>
            </a:tbl>
          </a:graphicData>
        </a:graphic>
      </p:graphicFrame>
    </p:spTree>
    <p:extLst>
      <p:ext uri="{BB962C8B-B14F-4D97-AF65-F5344CB8AC3E}">
        <p14:creationId xmlns:p14="http://schemas.microsoft.com/office/powerpoint/2010/main" val="259336586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9443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13431</TotalTime>
  <Words>6947</Words>
  <Application>Microsoft Office PowerPoint</Application>
  <PresentationFormat>On-screen Show (4:3)</PresentationFormat>
  <Paragraphs>768</Paragraphs>
  <Slides>116</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116</vt:i4>
      </vt:variant>
    </vt:vector>
  </HeadingPairs>
  <TitlesOfParts>
    <vt:vector size="129" baseType="lpstr">
      <vt:lpstr>Arial</vt:lpstr>
      <vt:lpstr>Arial Unicode MS</vt:lpstr>
      <vt:lpstr>Caecilia-Heavy</vt:lpstr>
      <vt:lpstr>Calibri</vt:lpstr>
      <vt:lpstr>Calibri Light</vt:lpstr>
      <vt:lpstr>Gotham SSm A</vt:lpstr>
      <vt:lpstr>RdgVesta-Bold</vt:lpstr>
      <vt:lpstr>Times New Roman</vt:lpstr>
      <vt:lpstr>Wingdings</vt:lpstr>
      <vt:lpstr>Office Theme</vt:lpstr>
      <vt:lpstr>2_Office Theme</vt:lpstr>
      <vt:lpstr>1_Office Theme</vt:lpstr>
      <vt:lpstr>3_Office Theme</vt:lpstr>
      <vt:lpstr>Technical Communication</vt:lpstr>
      <vt:lpstr>PowerPoint Presentation</vt:lpstr>
      <vt:lpstr>PowerPoint Presentation</vt:lpstr>
      <vt:lpstr>NOISE AND THE COMMUNICATION  PROCESS</vt:lpstr>
      <vt:lpstr>Noise</vt:lpstr>
      <vt:lpstr>PowerPoint Presentation</vt:lpstr>
      <vt:lpstr>PowerPoint Presentation</vt:lpstr>
      <vt:lpstr>PowerPoint Presentation</vt:lpstr>
      <vt:lpstr>PowerPoint Presentation</vt:lpstr>
      <vt:lpstr>What is technical writing? </vt:lpstr>
      <vt:lpstr>PowerPoint Presentation</vt:lpstr>
      <vt:lpstr>PowerPoint Presentation</vt:lpstr>
      <vt:lpstr>What is technical writing?</vt:lpstr>
      <vt:lpstr>PowerPoint Presentation</vt:lpstr>
      <vt:lpstr>PowerPoint Presentation</vt:lpstr>
      <vt:lpstr>PowerPoint Presentation</vt:lpstr>
      <vt:lpstr>PowerPoint Presentation</vt:lpstr>
      <vt:lpstr>Grammar</vt:lpstr>
      <vt:lpstr>Grammar</vt:lpstr>
      <vt:lpstr>Grammar</vt:lpstr>
      <vt:lpstr>Document Organization</vt:lpstr>
      <vt:lpstr>Style</vt:lpstr>
      <vt:lpstr>Document Organization</vt:lpstr>
      <vt:lpstr>Document Design</vt:lpstr>
      <vt:lpstr>Traits of technical writing</vt:lpstr>
      <vt:lpstr>PowerPoint Presentation</vt:lpstr>
      <vt:lpstr>PowerPoint Presentation</vt:lpstr>
      <vt:lpstr>PowerPoint Presentation</vt:lpstr>
      <vt:lpstr>Some Bad Examples: </vt:lpstr>
      <vt:lpstr>PowerPoint Presentation</vt:lpstr>
      <vt:lpstr>Some Bad Examples: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Hall Effect   Hall-Effect Current Sensors  Hall-Effect Current Sensors: Principles of Operation and Implementation Techniques  Hall Effect Sensors Design, Integration and Behavior Analysis  Use of Hall Effect Sensors for Protection and Monitoring Applications  </vt:lpstr>
      <vt:lpstr>PowerPoint Presentation</vt:lpstr>
      <vt:lpstr>PowerPoint Presentation</vt:lpstr>
      <vt:lpstr>PowerPoint Presentation</vt:lpstr>
      <vt:lpstr>Abstract </vt:lpstr>
      <vt:lpstr>PowerPoint Presentation</vt:lpstr>
      <vt:lpstr>PowerPoint Presentation</vt:lpstr>
      <vt:lpstr>Keywords  or Index Terms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Checklist</vt:lpstr>
      <vt:lpstr>PowerPoint Presentation</vt:lpstr>
      <vt:lpstr>PowerPoint Presentation</vt:lpstr>
      <vt:lpstr>ENGR 181W</vt:lpstr>
      <vt:lpstr>What is scientific writing?   Scientific writing is not just writing about science.  Scientific writing is a type of technical writing  that researchers and scientists write about  their studies and share it with others. </vt:lpstr>
      <vt:lpstr> Scientific writing must reflect the same precision of the research process.   Scientific communication demands:    - Precision    - the precise use of words and phrases   - Clarity, and   - Economy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Scientific / technical writing:   Highly technical information     - For people who may, or may not, be as knowledgeable   - They may, or may not, be a native speaker   - The research question, hypotheses, methods, analysis, and     conclusions must be stated clearly and simply.  - Facts, figures, and methods used in research must be precise and    exact - Description of the results must be precise and exact </vt:lpstr>
      <vt:lpstr> Accurate words and punctuation:     “Isotopes, which were discovered in 1853, are radioactive,”    reads as if all isotopes were discovered in 1853.   The writer intended to say: “The isotopes that were     discovered in 1853 are radioactive.” </vt:lpstr>
      <vt:lpstr> The organization of writing    Readability: If your reader has to work too    hard to understand your meaning or your organization,  you have a problem in your writing.    Remember, you are not writing to impress. You are  writing to communicate. </vt:lpstr>
      <vt:lpstr> Logic and organization:    Two important pillars of technical/scientific     writing   - In face-to-face explanation you can get an  instant    feedback  - In writing you have only one chance  </vt:lpstr>
      <vt:lpstr> The first step in being logical:   Creation of an outline    before you begin writing.    This is the step that takes the greatest investment of time.  </vt:lpstr>
      <vt:lpstr> - Every paragraph should have one topic sentence, not two or  three.   - All sentences in a paragraph should support or elaborate upon  what your topic sentence.   - All of your paragraphs should be logically organized around your  section headings or sub-headings.   - You should have a rationale for where each paragraph is placed.   - You must maintain a natural logic that is accessible to the reader.  </vt:lpstr>
      <vt:lpstr> - Use effective transitions between sections, paragraphs,  sentences, and within sentences.  - Use strong verbs and concrete nouns.   - Don’t start sentences with weak phrases like, “There are . . .“ or  “In order to determine,” instead of “To determine.” </vt:lpstr>
      <vt:lpstr> - Always strive to make the implicit explicit.    Just because you know what you meant to say    does not mean your audience does.  One other suggestion:   After you have written a section, step away from it for  a day and return with a fresh eye.    This will help you view your writing from the reader’s  perspective. </vt:lpstr>
      <vt:lpstr>The sixteen criteria</vt:lpstr>
      <vt:lpstr>The sixteen criteria</vt:lpstr>
      <vt:lpstr>The sixteen criteria</vt:lpstr>
      <vt:lpstr>The sixteen criteria</vt:lpstr>
      <vt:lpstr>PowerPoint Presentation</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Writing Workshop</dc:title>
  <dc:creator>jcole</dc:creator>
  <cp:lastModifiedBy>Tofigh</cp:lastModifiedBy>
  <cp:revision>294</cp:revision>
  <dcterms:created xsi:type="dcterms:W3CDTF">2015-04-15T17:44:41Z</dcterms:created>
  <dcterms:modified xsi:type="dcterms:W3CDTF">2026-04-03T21:41:22Z</dcterms:modified>
</cp:coreProperties>
</file>