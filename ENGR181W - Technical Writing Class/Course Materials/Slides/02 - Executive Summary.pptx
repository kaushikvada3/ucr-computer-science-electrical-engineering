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3"/>
  </p:notesMasterIdLst>
  <p:sldIdLst>
    <p:sldId id="256" r:id="rId3"/>
    <p:sldId id="360" r:id="rId4"/>
    <p:sldId id="316" r:id="rId5"/>
    <p:sldId id="397" r:id="rId6"/>
    <p:sldId id="396" r:id="rId7"/>
    <p:sldId id="398" r:id="rId8"/>
    <p:sldId id="621" r:id="rId9"/>
    <p:sldId id="622" r:id="rId10"/>
    <p:sldId id="623" r:id="rId11"/>
    <p:sldId id="624" r:id="rId12"/>
    <p:sldId id="627" r:id="rId13"/>
    <p:sldId id="628" r:id="rId14"/>
    <p:sldId id="625" r:id="rId15"/>
    <p:sldId id="626" r:id="rId16"/>
    <p:sldId id="629" r:id="rId17"/>
    <p:sldId id="630" r:id="rId18"/>
    <p:sldId id="505" r:id="rId19"/>
    <p:sldId id="506" r:id="rId20"/>
    <p:sldId id="616" r:id="rId21"/>
    <p:sldId id="61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608" r:id="rId36"/>
    <p:sldId id="607" r:id="rId37"/>
    <p:sldId id="317" r:id="rId38"/>
    <p:sldId id="318" r:id="rId39"/>
    <p:sldId id="319" r:id="rId40"/>
    <p:sldId id="320" r:id="rId41"/>
    <p:sldId id="321" r:id="rId42"/>
    <p:sldId id="322" r:id="rId43"/>
    <p:sldId id="353" r:id="rId44"/>
    <p:sldId id="631" r:id="rId45"/>
    <p:sldId id="632" r:id="rId46"/>
    <p:sldId id="618" r:id="rId47"/>
    <p:sldId id="619" r:id="rId48"/>
    <p:sldId id="620" r:id="rId49"/>
    <p:sldId id="323" r:id="rId50"/>
    <p:sldId id="347" r:id="rId51"/>
    <p:sldId id="348" r:id="rId5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150" autoAdjust="0"/>
    <p:restoredTop sz="94660"/>
  </p:normalViewPr>
  <p:slideViewPr>
    <p:cSldViewPr>
      <p:cViewPr varScale="1">
        <p:scale>
          <a:sx n="64" d="100"/>
          <a:sy n="64" d="100"/>
        </p:scale>
        <p:origin x="1632" y="3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02-17T23:44:16.392"/>
    </inkml:context>
    <inkml:brush xml:id="br0">
      <inkml:brushProperty name="width" value="0.10583" units="cm"/>
      <inkml:brushProperty name="height" value="0.10583" units="cm"/>
      <inkml:brushProperty name="ignorePressure" value="1"/>
    </inkml:brush>
  </inkml:definitions>
  <inkml:traceGroup>
    <inkml:annotationXML>
      <emma:emma xmlns:emma="http://www.w3.org/2003/04/emma" version="1.0">
        <emma:interpretation id="{9AE931BC-14E1-4543-9A45-78A663EF1DAB}" emma:medium="tactile" emma:mode="ink">
          <msink:context xmlns:msink="http://schemas.microsoft.com/ink/2010/main" type="writingRegion" rotatedBoundingBox="22380,10395 22912,10395 22912,11535 22380,11535"/>
        </emma:interpretation>
      </emma:emma>
    </inkml:annotationXML>
    <inkml:traceGroup>
      <inkml:annotationXML>
        <emma:emma xmlns:emma="http://www.w3.org/2003/04/emma" version="1.0">
          <emma:interpretation id="{1505E2F4-40FD-4E13-9A1D-35776FA76568}" emma:medium="tactile" emma:mode="ink">
            <msink:context xmlns:msink="http://schemas.microsoft.com/ink/2010/main" type="paragraph" rotatedBoundingBox="22380,10395 22912,10395 22912,11535 22380,11535" alignmentLevel="1"/>
          </emma:interpretation>
        </emma:emma>
      </inkml:annotationXML>
      <inkml:traceGroup>
        <inkml:annotationXML>
          <emma:emma xmlns:emma="http://www.w3.org/2003/04/emma" version="1.0">
            <emma:interpretation id="{27390C8C-A47F-42ED-96E6-346301D36AF4}" emma:medium="tactile" emma:mode="ink">
              <msink:context xmlns:msink="http://schemas.microsoft.com/ink/2010/main" type="line" rotatedBoundingBox="22380,10395 22912,10395 22912,11535 22380,11535"/>
            </emma:interpretation>
          </emma:emma>
        </inkml:annotationXML>
        <inkml:traceGroup>
          <inkml:annotationXML>
            <emma:emma xmlns:emma="http://www.w3.org/2003/04/emma" version="1.0">
              <emma:interpretation id="{FE5D07DA-1D4A-4E11-96AD-0B3219A3B9DF}" emma:medium="tactile" emma:mode="ink">
                <msink:context xmlns:msink="http://schemas.microsoft.com/ink/2010/main" type="inkWord" rotatedBoundingBox="22380,10395 22912,10395 22912,11535 22380,11535"/>
              </emma:interpretation>
              <emma:one-of disjunction-type="recognition" id="oneOf0">
                <emma:interpretation id="interp0" emma:lang="en-US" emma:confidence="0">
                  <emma:literal>4.</emma:literal>
                </emma:interpretation>
                <emma:interpretation id="interp1" emma:lang="en-US" emma:confidence="0">
                  <emma:literal>I</emma:literal>
                </emma:interpretation>
                <emma:interpretation id="interp2" emma:lang="en-US" emma:confidence="0">
                  <emma:literal>2.</emma:literal>
                </emma:interpretation>
                <emma:interpretation id="interp3" emma:lang="en-US" emma:confidence="0">
                  <emma:literal>G</emma:literal>
                </emma:interpretation>
                <emma:interpretation id="interp4" emma:lang="en-US" emma:confidence="0">
                  <emma:literal>6.</emma:literal>
                </emma:interpretation>
              </emma:one-of>
            </emma:emma>
          </inkml:annotationXML>
          <inkml:trace contextRef="#ctx0" brushRef="#br0">399 1008,'-4'0,"-7"4,-1 6,-2 2,0 3,-2-1,-2 1,-3-1,-2-4,2 2,1-2,0-2,-3-3,0-2,2-6,6-7,0-2,3-3,4-4,-2 1,2 0,-4 3,2-1,1-2,3-3,-2-2,0-1,1-2,3-1,1 1,1-1,2 0,-1 0,2 0,-1 1,0-1,1 1,-1-1,0 1,0-1,0 1,0-1,0 1,0-1,0 1,0 0,0-1,0 1,0-1,0 1,0-1,5 5,1 2,4 4,1 0,-2-2,-3-2,3 3,0-1,2 3,0-1,-3-2,3 3,4 2,3 5,-1-1,1 1,2 1,2 3,-3-3,1-1,0 2,2 2,1 1,2 1,1 1,-4 6,-1 5,0 7,-3 0</inkml:trace>
          <inkml:trace contextRef="#ctx0" brushRef="#br0" timeOffset="2669">532 319,'0'4,"-5"2,-1 4,1 5,0 5,2 2,0 3,2-3</inkml:trace>
        </inkml:traceGroup>
      </inkml:traceGroup>
    </inkml:traceGroup>
  </inkml:traceGroup>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3B60D29-6D41-482D-92CA-99B88C913F9A}" type="datetimeFigureOut">
              <a:rPr lang="en-US" smtClean="0"/>
              <a:pPr/>
              <a:t>3/31/2026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9A341F3-7FF5-4DE5-BC33-6AB1BA1E8E28}" type="slidenum">
              <a:rPr lang="en-US" smtClean="0"/>
              <a:pPr/>
              <a:t>‹#›</a:t>
            </a:fld>
            <a:endParaRPr lang="en-US"/>
          </a:p>
        </p:txBody>
      </p:sp>
    </p:spTree>
    <p:extLst>
      <p:ext uri="{BB962C8B-B14F-4D97-AF65-F5344CB8AC3E}">
        <p14:creationId xmlns:p14="http://schemas.microsoft.com/office/powerpoint/2010/main" val="6973437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Warning icon + balance scale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Incorrect vs correct circuit diagram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Student vs AI thinking diagram</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Plagiarism similarity visual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Generic vs detailed writing comparison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Project context diagram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Ethics balance icon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Assessment flowchart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Warning sign for overconfidence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Guided workflow diagram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Checklist verification diagram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Assessment redesign diagram</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Visual suggestion: Balanced scale pros vs cons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D821DF2-8F16-4A02-AFB5-59E1678A90EE}" type="datetime1">
              <a:rPr lang="en-US" smtClean="0"/>
              <a:pPr/>
              <a:t>3/31/2026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129984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9FF4D5-F35B-420F-948D-069E8587321A}" type="datetime1">
              <a:rPr lang="en-US" smtClean="0"/>
              <a:pPr/>
              <a:t>3/31/2026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5360179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9AED94-D601-4C89-AA7E-899AF3FA3093}" type="datetime1">
              <a:rPr lang="en-US" smtClean="0"/>
              <a:pPr/>
              <a:t>3/31/2026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28612081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2736FA-20DD-427F-955D-002D7DCF5A50}" type="datetime1">
              <a:rPr lang="en-US" smtClean="0"/>
              <a:pPr/>
              <a:t>3/31/2026</a:t>
            </a:fld>
            <a:endParaRPr lang="en-US"/>
          </a:p>
        </p:txBody>
      </p:sp>
      <p:sp>
        <p:nvSpPr>
          <p:cNvPr id="6" name="Footer Placeholder 5"/>
          <p:cNvSpPr>
            <a:spLocks noGrp="1"/>
          </p:cNvSpPr>
          <p:nvPr>
            <p:ph type="ftr" sz="quarter" idx="11"/>
          </p:nvPr>
        </p:nvSpPr>
        <p:spPr/>
        <p:txBody>
          <a:bodyPr/>
          <a:lstStyle/>
          <a:p>
            <a:r>
              <a:rPr lang="en-US"/>
              <a:t>Technical Writing</a:t>
            </a:r>
          </a:p>
        </p:txBody>
      </p:sp>
      <p:sp>
        <p:nvSpPr>
          <p:cNvPr id="7" name="Slide Number Placeholder 6"/>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121189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A3D3AA3-9604-4452-BBB7-03EAB4899636}" type="datetime1">
              <a:rPr lang="en-US" smtClean="0"/>
              <a:pPr/>
              <a:t>3/31/2026</a:t>
            </a:fld>
            <a:endParaRPr lang="en-US"/>
          </a:p>
        </p:txBody>
      </p:sp>
      <p:sp>
        <p:nvSpPr>
          <p:cNvPr id="8" name="Footer Placeholder 7"/>
          <p:cNvSpPr>
            <a:spLocks noGrp="1"/>
          </p:cNvSpPr>
          <p:nvPr>
            <p:ph type="ftr" sz="quarter" idx="11"/>
          </p:nvPr>
        </p:nvSpPr>
        <p:spPr/>
        <p:txBody>
          <a:bodyPr/>
          <a:lstStyle/>
          <a:p>
            <a:r>
              <a:rPr lang="en-US"/>
              <a:t>Technical Writing</a:t>
            </a:r>
          </a:p>
        </p:txBody>
      </p:sp>
      <p:sp>
        <p:nvSpPr>
          <p:cNvPr id="9" name="Slide Number Placeholder 8"/>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13852957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864677-3A75-423F-9C2B-E486DB9E0959}" type="datetime1">
              <a:rPr lang="en-US" smtClean="0"/>
              <a:pPr/>
              <a:t>3/31/2026</a:t>
            </a:fld>
            <a:endParaRPr lang="en-US"/>
          </a:p>
        </p:txBody>
      </p:sp>
      <p:sp>
        <p:nvSpPr>
          <p:cNvPr id="4" name="Footer Placeholder 3"/>
          <p:cNvSpPr>
            <a:spLocks noGrp="1"/>
          </p:cNvSpPr>
          <p:nvPr>
            <p:ph type="ftr" sz="quarter" idx="11"/>
          </p:nvPr>
        </p:nvSpPr>
        <p:spPr/>
        <p:txBody>
          <a:bodyPr/>
          <a:lstStyle/>
          <a:p>
            <a:r>
              <a:rPr lang="en-US"/>
              <a:t>Technical Writing</a:t>
            </a:r>
          </a:p>
        </p:txBody>
      </p:sp>
      <p:sp>
        <p:nvSpPr>
          <p:cNvPr id="5" name="Slide Number Placeholder 4"/>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543632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91E4F2-870C-4ED6-84A5-CE24570D94A1}" type="datetime1">
              <a:rPr lang="en-US" smtClean="0"/>
              <a:pPr/>
              <a:t>3/31/2026</a:t>
            </a:fld>
            <a:endParaRPr lang="en-US"/>
          </a:p>
        </p:txBody>
      </p:sp>
      <p:sp>
        <p:nvSpPr>
          <p:cNvPr id="3" name="Footer Placeholder 2"/>
          <p:cNvSpPr>
            <a:spLocks noGrp="1"/>
          </p:cNvSpPr>
          <p:nvPr>
            <p:ph type="ftr" sz="quarter" idx="11"/>
          </p:nvPr>
        </p:nvSpPr>
        <p:spPr/>
        <p:txBody>
          <a:bodyPr/>
          <a:lstStyle/>
          <a:p>
            <a:r>
              <a:rPr lang="en-US"/>
              <a:t>Technical Writing</a:t>
            </a:r>
          </a:p>
        </p:txBody>
      </p:sp>
      <p:sp>
        <p:nvSpPr>
          <p:cNvPr id="4" name="Slide Number Placeholder 3"/>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477794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FFD9CC2-9FA0-4ADA-8F34-008174DC722F}" type="datetime1">
              <a:rPr lang="en-US" smtClean="0"/>
              <a:pPr/>
              <a:t>3/31/2026</a:t>
            </a:fld>
            <a:endParaRPr lang="en-US"/>
          </a:p>
        </p:txBody>
      </p:sp>
      <p:sp>
        <p:nvSpPr>
          <p:cNvPr id="6" name="Footer Placeholder 5"/>
          <p:cNvSpPr>
            <a:spLocks noGrp="1"/>
          </p:cNvSpPr>
          <p:nvPr>
            <p:ph type="ftr" sz="quarter" idx="11"/>
          </p:nvPr>
        </p:nvSpPr>
        <p:spPr/>
        <p:txBody>
          <a:bodyPr/>
          <a:lstStyle/>
          <a:p>
            <a:r>
              <a:rPr lang="en-US"/>
              <a:t>Technical Writing</a:t>
            </a:r>
          </a:p>
        </p:txBody>
      </p:sp>
      <p:sp>
        <p:nvSpPr>
          <p:cNvPr id="7" name="Slide Number Placeholder 6"/>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4734220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BA37F6-6D40-4E22-81D5-2946F28F5791}" type="datetime1">
              <a:rPr lang="en-US" smtClean="0"/>
              <a:pPr/>
              <a:t>3/31/2026</a:t>
            </a:fld>
            <a:endParaRPr lang="en-US"/>
          </a:p>
        </p:txBody>
      </p:sp>
      <p:sp>
        <p:nvSpPr>
          <p:cNvPr id="6" name="Footer Placeholder 5"/>
          <p:cNvSpPr>
            <a:spLocks noGrp="1"/>
          </p:cNvSpPr>
          <p:nvPr>
            <p:ph type="ftr" sz="quarter" idx="11"/>
          </p:nvPr>
        </p:nvSpPr>
        <p:spPr/>
        <p:txBody>
          <a:bodyPr/>
          <a:lstStyle/>
          <a:p>
            <a:r>
              <a:rPr lang="en-US"/>
              <a:t>Technical Writing</a:t>
            </a:r>
          </a:p>
        </p:txBody>
      </p:sp>
      <p:sp>
        <p:nvSpPr>
          <p:cNvPr id="7" name="Slide Number Placeholder 6"/>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632192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3DF62DC-ADDC-42E7-801F-6603FD251CA2}" type="datetime1">
              <a:rPr lang="en-US" smtClean="0"/>
              <a:pPr/>
              <a:t>3/31/2026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3735632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2D8BDD-8216-4B36-BB92-C06A601CD73C}" type="datetime1">
              <a:rPr lang="en-US" smtClean="0"/>
              <a:pPr/>
              <a:t>3/31/2026</a:t>
            </a:fld>
            <a:endParaRPr lang="en-US"/>
          </a:p>
        </p:txBody>
      </p:sp>
      <p:sp>
        <p:nvSpPr>
          <p:cNvPr id="5" name="Footer Placeholder 4"/>
          <p:cNvSpPr>
            <a:spLocks noGrp="1"/>
          </p:cNvSpPr>
          <p:nvPr>
            <p:ph type="ftr" sz="quarter" idx="11"/>
          </p:nvPr>
        </p:nvSpPr>
        <p:spPr/>
        <p:txBody>
          <a:bodyPr/>
          <a:lstStyle/>
          <a:p>
            <a:r>
              <a:rPr lang="en-US"/>
              <a:t>Technical Writing</a:t>
            </a:r>
          </a:p>
        </p:txBody>
      </p:sp>
      <p:sp>
        <p:nvSpPr>
          <p:cNvPr id="6" name="Slide Number Placeholder 5"/>
          <p:cNvSpPr>
            <a:spLocks noGrp="1"/>
          </p:cNvSpPr>
          <p:nvPr>
            <p:ph type="sldNum" sz="quarter" idx="12"/>
          </p:nvPr>
        </p:nvSpPr>
        <p:spPr/>
        <p:txBody>
          <a:bodyPr/>
          <a:lstStyle/>
          <a:p>
            <a:fld id="{CE9A8198-B36E-4E8C-B56F-5CE897E27388}" type="slidenum">
              <a:rPr lang="en-US" smtClean="0"/>
              <a:pPr/>
              <a:t>‹#›</a:t>
            </a:fld>
            <a:endParaRPr lang="en-US"/>
          </a:p>
        </p:txBody>
      </p:sp>
    </p:spTree>
    <p:extLst>
      <p:ext uri="{BB962C8B-B14F-4D97-AF65-F5344CB8AC3E}">
        <p14:creationId xmlns:p14="http://schemas.microsoft.com/office/powerpoint/2010/main" val="4857513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023319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14889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92681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1790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3/31/2026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92392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3/31/2026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56965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35401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201247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107723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5656333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3/31/2026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00231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70B5D2-EA52-4703-ACA5-6080B5091DE8}" type="datetime1">
              <a:rPr lang="en-US" smtClean="0"/>
              <a:pPr/>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Technical Writing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9A8198-B36E-4E8C-B56F-5CE897E27388}" type="slidenum">
              <a:rPr lang="en-US" smtClean="0"/>
              <a:pPr/>
              <a:t>‹#›</a:t>
            </a:fld>
            <a:endParaRPr lang="en-US"/>
          </a:p>
        </p:txBody>
      </p:sp>
    </p:spTree>
    <p:extLst>
      <p:ext uri="{BB962C8B-B14F-4D97-AF65-F5344CB8AC3E}">
        <p14:creationId xmlns:p14="http://schemas.microsoft.com/office/powerpoint/2010/main" val="4189811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826209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grammar.yourdictionary.com/style-and-usage/sexist-language.html" TargetMode="External"/><Relationship Id="rId2" Type="http://schemas.openxmlformats.org/officeDocument/2006/relationships/hyperlink" Target="http://www.sjsu.edu/writingcenter/handouts/Concrete%20Language.pdf" TargetMode="External"/><Relationship Id="rId1" Type="http://schemas.openxmlformats.org/officeDocument/2006/relationships/slideLayout" Target="../slideLayouts/slideLayout1.xml"/><Relationship Id="rId5" Type="http://schemas.openxmlformats.org/officeDocument/2006/relationships/hyperlink" Target="https://projects.iq.harvard.edu/files/hks-communications-program/files/how_to_write_an_exex_summ_to_use_4_18_18.pdf" TargetMode="External"/><Relationship Id="rId4" Type="http://schemas.openxmlformats.org/officeDocument/2006/relationships/hyperlink" Target="https://msu.edu/course/be/485/bewritingguideV2.0.pdf" TargetMode="External"/></Relationships>
</file>

<file path=ppt/slides/_rels/slide2.xml.rels><?xml version="1.0" encoding="UTF-8" standalone="yes"?>
<Relationships xmlns="http://schemas.openxmlformats.org/package/2006/relationships"><Relationship Id="rId3" Type="http://schemas.openxmlformats.org/officeDocument/2006/relationships/hyperlink" Target="http://upcp.ece.gatech.edu/docs/curriculum/Characteristics_of_Technical_Writing.pdf" TargetMode="External"/><Relationship Id="rId2" Type="http://schemas.openxmlformats.org/officeDocument/2006/relationships/hyperlink" Target="http://toefl.uobabylon.edu.iq/papers/itp_2015_41931767.pdf" TargetMode="External"/><Relationship Id="rId1" Type="http://schemas.openxmlformats.org/officeDocument/2006/relationships/slideLayout" Target="../slideLayouts/slideLayout2.xml"/><Relationship Id="rId4" Type="http://schemas.openxmlformats.org/officeDocument/2006/relationships/hyperlink" Target="http://www.ecs.csun.edu/asme/Technical_Writing_11-12-2014.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 Id="rId5" Type="http://schemas.openxmlformats.org/officeDocument/2006/relationships/image" Target="../media/image90.png"/><Relationship Id="rId4" Type="http://schemas.openxmlformats.org/officeDocument/2006/relationships/customXml" Target="../ink/ink1.xml"/></Relationships>
</file>

<file path=ppt/slides/_rels/slide42.xml.rels><?xml version="1.0" encoding="UTF-8" standalone="yes"?>
<Relationships xmlns="http://schemas.openxmlformats.org/package/2006/relationships"><Relationship Id="rId3" Type="http://schemas.openxmlformats.org/officeDocument/2006/relationships/hyperlink" Target="http://i2.wp.com/news.aucotec.com/wp-content/uploads/2016/05/Hyatt_Kansas_City_Collapse.gif" TargetMode="External"/><Relationship Id="rId2" Type="http://schemas.openxmlformats.org/officeDocument/2006/relationships/hyperlink" Target="http://ascelibrary.org/doi/abs/10.1061/(ASCE)1052-3928(1989)115:3(273)?journalCode=jpiedn" TargetMode="External"/><Relationship Id="rId1" Type="http://schemas.openxmlformats.org/officeDocument/2006/relationships/slideLayout" Target="../slideLayouts/slideLayout2.xml"/><Relationship Id="rId4" Type="http://schemas.openxmlformats.org/officeDocument/2006/relationships/image" Target="../media/image14.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772400" cy="1470025"/>
          </a:xfrm>
        </p:spPr>
        <p:txBody>
          <a:bodyPr/>
          <a:lstStyle/>
          <a:p>
            <a:r>
              <a:rPr lang="en-US" dirty="0"/>
              <a:t>Technical Communication</a:t>
            </a:r>
          </a:p>
        </p:txBody>
      </p:sp>
      <p:sp>
        <p:nvSpPr>
          <p:cNvPr id="3" name="Subtitle 2"/>
          <p:cNvSpPr>
            <a:spLocks noGrp="1"/>
          </p:cNvSpPr>
          <p:nvPr>
            <p:ph type="subTitle" idx="1"/>
          </p:nvPr>
        </p:nvSpPr>
        <p:spPr>
          <a:xfrm>
            <a:off x="1371600" y="3581400"/>
            <a:ext cx="6400800" cy="914400"/>
          </a:xfrm>
        </p:spPr>
        <p:txBody>
          <a:bodyPr>
            <a:normAutofit/>
          </a:bodyPr>
          <a:lstStyle/>
          <a:p>
            <a:r>
              <a:rPr lang="en-US" dirty="0"/>
              <a:t>Tofigh Heidarzadeh, PhD</a:t>
            </a:r>
          </a:p>
          <a:p>
            <a:endParaRPr lang="en-US" dirty="0"/>
          </a:p>
        </p:txBody>
      </p:sp>
      <p:sp>
        <p:nvSpPr>
          <p:cNvPr id="5" name="Slide Number Placeholder 4"/>
          <p:cNvSpPr>
            <a:spLocks noGrp="1"/>
          </p:cNvSpPr>
          <p:nvPr>
            <p:ph type="sldNum" sz="quarter" idx="12"/>
          </p:nvPr>
        </p:nvSpPr>
        <p:spPr/>
        <p:txBody>
          <a:bodyPr/>
          <a:lstStyle/>
          <a:p>
            <a:fld id="{CE9A8198-B36E-4E8C-B56F-5CE897E27388}" type="slidenum">
              <a:rPr lang="en-US" smtClean="0"/>
              <a:pPr/>
              <a:t>1</a:t>
            </a:fld>
            <a:endParaRPr lang="en-US"/>
          </a:p>
        </p:txBody>
      </p:sp>
      <p:sp>
        <p:nvSpPr>
          <p:cNvPr id="4" name="Rectangle 3"/>
          <p:cNvSpPr/>
          <p:nvPr/>
        </p:nvSpPr>
        <p:spPr>
          <a:xfrm>
            <a:off x="381000" y="5327101"/>
            <a:ext cx="5943600" cy="1754326"/>
          </a:xfrm>
          <a:prstGeom prst="rect">
            <a:avLst/>
          </a:prstGeom>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2"/>
              </a:rPr>
              <a:t>https://www.thepunctuationguide.com/em-dash.html</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2"/>
              </a:rPr>
              <a:t>http://www.sjsu.edu/writingcenter/handouts/Concrete%20Language.pdf</a:t>
            </a:r>
            <a:endParaRPr kumimoji="0" lang="en-US"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3"/>
              </a:rPr>
              <a:t>http://grammar.yourdictionary.com/style-and-usage/sexist-language.html</a:t>
            </a:r>
            <a:endParaRPr kumimoji="0" lang="en-US"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4"/>
              </a:rPr>
              <a:t>https://msu.edu/course/be/485/bewritingguideV2.0.pdf</a:t>
            </a:r>
            <a:endParaRPr kumimoji="0" lang="en-US" sz="1200" b="0" i="0" u="none" strike="noStrike" kern="0" cap="none" spc="0" normalizeH="0" baseline="0" noProof="0" dirty="0">
              <a:ln>
                <a:noFill/>
              </a:ln>
              <a:solidFill>
                <a:sysClr val="windowText" lastClr="000000"/>
              </a:solidFill>
              <a:effectLst/>
              <a:uLnTx/>
              <a:uFillTx/>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ysClr val="windowText" lastClr="000000"/>
                </a:solidFill>
                <a:effectLst/>
                <a:uLnTx/>
                <a:uFillTx/>
                <a:hlinkClick r:id="rId5"/>
              </a:rPr>
              <a:t>https://projects.iq.harvard.edu/files/hks-communications-program/files/how_to_write_an_exex_summ_to_use_4_18_18.pdf</a:t>
            </a:r>
            <a:endParaRPr kumimoji="0" lang="en-US" sz="1200" b="0" i="0" u="none" strike="noStrike" kern="0" cap="none" spc="0" normalizeH="0" baseline="0" noProof="0" dirty="0">
              <a:ln>
                <a:noFill/>
              </a:ln>
              <a:solidFill>
                <a:sysClr val="windowText" lastClr="000000"/>
              </a:solidFill>
              <a:effectLst/>
              <a:uLnTx/>
              <a:uFillTx/>
            </a:endParaRPr>
          </a:p>
          <a:p>
            <a:pPr marL="171450" lvl="0" indent="-171450">
              <a:buFontTx/>
              <a:buChar char="-"/>
              <a:defRPr/>
            </a:pPr>
            <a:r>
              <a:rPr lang="en-US" sz="1200" kern="0" dirty="0">
                <a:solidFill>
                  <a:sysClr val="windowText" lastClr="000000"/>
                </a:solidFill>
              </a:rPr>
              <a:t>D. F. Beer and D. A. </a:t>
            </a:r>
            <a:r>
              <a:rPr lang="en-US" sz="1200" kern="0" dirty="0" err="1">
                <a:solidFill>
                  <a:sysClr val="windowText" lastClr="000000"/>
                </a:solidFill>
              </a:rPr>
              <a:t>McMurrey</a:t>
            </a:r>
            <a:r>
              <a:rPr lang="en-US" sz="1200" kern="0" dirty="0">
                <a:solidFill>
                  <a:sysClr val="windowText" lastClr="000000"/>
                </a:solidFill>
              </a:rPr>
              <a:t>, A Guide to Writing as an Engineer, 4th ed. New York: Wiley Publications, 2014. </a:t>
            </a:r>
          </a:p>
          <a:p>
            <a:pPr marL="171450" lvl="0" indent="-171450">
              <a:buFontTx/>
              <a:buChar char="-"/>
              <a:defRPr/>
            </a:pPr>
            <a:endParaRPr kumimoji="0" lang="en-US" sz="1200" b="0" i="0" u="none" strike="noStrike" kern="0" cap="none" spc="0" normalizeH="0" baseline="0" noProof="0" dirty="0">
              <a:ln>
                <a:noFill/>
              </a:ln>
              <a:solidFill>
                <a:sysClr val="windowText" lastClr="000000"/>
              </a:solidFill>
              <a:effectLst/>
              <a:uLnTx/>
              <a:uFillTx/>
            </a:endParaRPr>
          </a:p>
        </p:txBody>
      </p:sp>
    </p:spTree>
    <p:extLst>
      <p:ext uri="{BB962C8B-B14F-4D97-AF65-F5344CB8AC3E}">
        <p14:creationId xmlns:p14="http://schemas.microsoft.com/office/powerpoint/2010/main" val="12605283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CE9A8198-B36E-4E8C-B56F-5CE897E27388}" type="slidenum">
              <a:rPr lang="en-US" smtClean="0"/>
              <a:pPr/>
              <a:t>2</a:t>
            </a:fld>
            <a:endParaRPr lang="en-US"/>
          </a:p>
        </p:txBody>
      </p:sp>
      <p:sp>
        <p:nvSpPr>
          <p:cNvPr id="6" name="Content Placeholder 5"/>
          <p:cNvSpPr>
            <a:spLocks noGrp="1"/>
          </p:cNvSpPr>
          <p:nvPr>
            <p:ph idx="1"/>
          </p:nvPr>
        </p:nvSpPr>
        <p:spPr>
          <a:xfrm>
            <a:off x="228600" y="457200"/>
            <a:ext cx="8229600" cy="2862322"/>
          </a:xfrm>
          <a:prstGeom prst="rect">
            <a:avLst/>
          </a:prstGeom>
        </p:spPr>
        <p:txBody>
          <a:bodyPr wrap="square">
            <a:spAutoFit/>
          </a:bodyPr>
          <a:lstStyle/>
          <a:p>
            <a:r>
              <a:rPr lang="en-US" sz="1200" b="1" dirty="0"/>
              <a:t>References: </a:t>
            </a:r>
          </a:p>
          <a:p>
            <a:r>
              <a:rPr lang="en-US" sz="1200" dirty="0"/>
              <a:t>S. M. Gerson, </a:t>
            </a:r>
            <a:r>
              <a:rPr lang="en-US" sz="1200" i="1" dirty="0"/>
              <a:t>A Teacher’s Guide to Technical Writing. </a:t>
            </a:r>
            <a:r>
              <a:rPr lang="en-US" sz="1200" dirty="0"/>
              <a:t>Kansas Curriculum Center, Washburn University, </a:t>
            </a:r>
            <a:r>
              <a:rPr lang="en-US" sz="1200" dirty="0">
                <a:hlinkClick r:id="rId2"/>
              </a:rPr>
              <a:t>http://toefl.uobabylon.edu.iq/papers/itp_2015_41931767.pdf</a:t>
            </a:r>
            <a:endParaRPr lang="en-US" sz="1200" dirty="0"/>
          </a:p>
          <a:p>
            <a:r>
              <a:rPr lang="en-US" sz="1200" dirty="0"/>
              <a:t>D. F. Beer and D. A. </a:t>
            </a:r>
            <a:r>
              <a:rPr lang="en-US" sz="1200" dirty="0" err="1"/>
              <a:t>McMurrey</a:t>
            </a:r>
            <a:r>
              <a:rPr lang="en-US" sz="1200" dirty="0"/>
              <a:t>, </a:t>
            </a:r>
            <a:r>
              <a:rPr lang="en-US" sz="1200" i="1" dirty="0"/>
              <a:t>A Guide to Writing as an Engineer</a:t>
            </a:r>
            <a:r>
              <a:rPr lang="en-US" sz="1200" dirty="0"/>
              <a:t>, 4th ed. New York: Wiley Publications, 2014.</a:t>
            </a:r>
          </a:p>
          <a:p>
            <a:r>
              <a:rPr lang="en-US" sz="1200" dirty="0"/>
              <a:t>“Characteristics of Technical Writing,” </a:t>
            </a:r>
            <a:r>
              <a:rPr lang="en-US" sz="1200" dirty="0">
                <a:hlinkClick r:id="rId3"/>
              </a:rPr>
              <a:t>http://upcp.ece.gatech.edu/docs/curriculum/Characteristics_of_Technical_Writing.pdf</a:t>
            </a:r>
            <a:endParaRPr lang="en-US" sz="1200" dirty="0"/>
          </a:p>
          <a:p>
            <a:r>
              <a:rPr lang="en-US" sz="1200" dirty="0"/>
              <a:t>G. Youssef  and V. </a:t>
            </a:r>
            <a:r>
              <a:rPr lang="en-US" sz="1200" dirty="0" err="1"/>
              <a:t>Durgesh</a:t>
            </a:r>
            <a:r>
              <a:rPr lang="en-US" sz="1200" dirty="0"/>
              <a:t>, “Technical Writing,” Mechanical Engineering Department, California State University Northridge, </a:t>
            </a:r>
            <a:r>
              <a:rPr lang="en-US" sz="1200" dirty="0">
                <a:hlinkClick r:id="rId4"/>
              </a:rPr>
              <a:t>http://www.ecs.csun.edu/asme/Technical_Writing_11-12-2014.pdf</a:t>
            </a:r>
            <a:endParaRPr lang="en-US" sz="1200" dirty="0"/>
          </a:p>
          <a:p>
            <a:r>
              <a:rPr lang="en-US" sz="1200" dirty="0"/>
              <a:t>N. Kelley, “Sentence Structure of Technical Writing.” Program in Writing and Humanistic Studies at MIT.</a:t>
            </a:r>
          </a:p>
          <a:p>
            <a:endParaRPr lang="en-US" sz="1200" dirty="0"/>
          </a:p>
          <a:p>
            <a:endParaRPr lang="en-US" sz="1200" dirty="0"/>
          </a:p>
          <a:p>
            <a:endParaRPr lang="en-US" sz="1200" dirty="0"/>
          </a:p>
          <a:p>
            <a:endParaRPr lang="en-US" sz="1200" dirty="0"/>
          </a:p>
          <a:p>
            <a:r>
              <a:rPr lang="en-US" sz="1200" b="1" dirty="0"/>
              <a:t>Note: Texts in PPT slides are directly from reading materials.</a:t>
            </a:r>
          </a:p>
        </p:txBody>
      </p:sp>
    </p:spTree>
    <p:extLst>
      <p:ext uri="{BB962C8B-B14F-4D97-AF65-F5344CB8AC3E}">
        <p14:creationId xmlns:p14="http://schemas.microsoft.com/office/powerpoint/2010/main" val="42533411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Course Objectives</a:t>
            </a:r>
          </a:p>
        </p:txBody>
      </p:sp>
      <p:sp>
        <p:nvSpPr>
          <p:cNvPr id="5" name="Slide Number Placeholder 4"/>
          <p:cNvSpPr>
            <a:spLocks noGrp="1"/>
          </p:cNvSpPr>
          <p:nvPr>
            <p:ph type="sldNum" sz="quarter" idx="12"/>
          </p:nvPr>
        </p:nvSpPr>
        <p:spPr/>
        <p:txBody>
          <a:bodyPr/>
          <a:lstStyle/>
          <a:p>
            <a:fld id="{CE9A8198-B36E-4E8C-B56F-5CE897E27388}" type="slidenum">
              <a:rPr lang="en-US" smtClean="0"/>
              <a:pPr/>
              <a:t>3</a:t>
            </a:fld>
            <a:endParaRPr lang="en-US"/>
          </a:p>
        </p:txBody>
      </p:sp>
      <p:sp>
        <p:nvSpPr>
          <p:cNvPr id="6" name="Rectangle 5"/>
          <p:cNvSpPr/>
          <p:nvPr/>
        </p:nvSpPr>
        <p:spPr>
          <a:xfrm>
            <a:off x="76200" y="1524000"/>
            <a:ext cx="8915400" cy="4832092"/>
          </a:xfrm>
          <a:prstGeom prst="rect">
            <a:avLst/>
          </a:prstGeom>
        </p:spPr>
        <p:txBody>
          <a:bodyPr wrap="square">
            <a:spAutoFit/>
          </a:bodyPr>
          <a:lstStyle/>
          <a:p>
            <a:pPr marL="285750" indent="-285750">
              <a:buFont typeface="Arial" panose="020B0604020202020204" pitchFamily="34" charset="0"/>
              <a:buChar char="•"/>
            </a:pPr>
            <a:r>
              <a:rPr lang="en-US" sz="2800" dirty="0"/>
              <a:t>To introduce technical communication and documentation skills</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To use your </a:t>
            </a:r>
            <a:r>
              <a:rPr lang="en-US" sz="2800" b="1" dirty="0"/>
              <a:t>capstone design project </a:t>
            </a:r>
            <a:r>
              <a:rPr lang="en-US" sz="2800" dirty="0"/>
              <a:t>as a case study and edit your report based on technical writing standards</a:t>
            </a:r>
          </a:p>
          <a:p>
            <a:endParaRPr lang="en-US" sz="2800" dirty="0"/>
          </a:p>
          <a:p>
            <a:pPr marL="285750" indent="-285750">
              <a:buFont typeface="Arial" panose="020B0604020202020204" pitchFamily="34" charset="0"/>
              <a:buChar char="•"/>
            </a:pPr>
            <a:r>
              <a:rPr lang="en-US" sz="2800" dirty="0"/>
              <a:t>To introduce you </a:t>
            </a:r>
            <a:r>
              <a:rPr lang="en-US" sz="2800" dirty="0">
                <a:solidFill>
                  <a:srgbClr val="C00000"/>
                </a:solidFill>
              </a:rPr>
              <a:t>professional and ethical responsibilities, contemporary issues in engineering </a:t>
            </a:r>
            <a:r>
              <a:rPr lang="en-US" sz="2800" dirty="0"/>
              <a:t>and global impact on economics, society, and the environment</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b="1" dirty="0"/>
              <a:t>To make you a better writer! </a:t>
            </a:r>
          </a:p>
        </p:txBody>
      </p:sp>
    </p:spTree>
    <p:extLst>
      <p:ext uri="{BB962C8B-B14F-4D97-AF65-F5344CB8AC3E}">
        <p14:creationId xmlns:p14="http://schemas.microsoft.com/office/powerpoint/2010/main" val="2152964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7693985-28AA-4CEC-88FE-4D489030F3D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6484F981-E361-4709-BFF8-4549731561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2" name="TextBox 1">
            <a:extLst>
              <a:ext uri="{FF2B5EF4-FFF2-40B4-BE49-F238E27FC236}">
                <a16:creationId xmlns:a16="http://schemas.microsoft.com/office/drawing/2014/main" id="{650ECC2D-1976-4FE1-93D5-0331BA340EF9}"/>
              </a:ext>
            </a:extLst>
          </p:cNvPr>
          <p:cNvSpPr txBox="1"/>
          <p:nvPr/>
        </p:nvSpPr>
        <p:spPr>
          <a:xfrm>
            <a:off x="76200" y="914400"/>
            <a:ext cx="8991600" cy="4524315"/>
          </a:xfrm>
          <a:prstGeom prst="rect">
            <a:avLst/>
          </a:prstGeom>
          <a:noFill/>
        </p:spPr>
        <p:txBody>
          <a:bodyPr wrap="square" rtlCol="0">
            <a:spAutoFit/>
          </a:bodyPr>
          <a:lstStyle/>
          <a:p>
            <a:r>
              <a:rPr lang="en-US" sz="3600" b="1" dirty="0"/>
              <a:t>Being Effective in </a:t>
            </a:r>
            <a:r>
              <a:rPr lang="en-US" sz="3600" b="1" i="1" dirty="0"/>
              <a:t>ANY</a:t>
            </a:r>
            <a:r>
              <a:rPr lang="en-US" sz="3600" b="1" dirty="0"/>
              <a:t> Role   </a:t>
            </a:r>
          </a:p>
          <a:p>
            <a:endParaRPr lang="en-US" sz="3600" dirty="0"/>
          </a:p>
          <a:p>
            <a:r>
              <a:rPr lang="en-US" sz="3600" dirty="0"/>
              <a:t>There are three basic components to any profession…</a:t>
            </a:r>
          </a:p>
          <a:p>
            <a:endParaRPr lang="en-US" sz="3600" dirty="0"/>
          </a:p>
          <a:p>
            <a:pPr marL="285750" indent="-285750">
              <a:buFontTx/>
              <a:buChar char="-"/>
            </a:pPr>
            <a:r>
              <a:rPr lang="en-US" sz="3600" b="1" dirty="0"/>
              <a:t>Technical Skills</a:t>
            </a:r>
          </a:p>
          <a:p>
            <a:pPr marL="285750" indent="-285750">
              <a:buFontTx/>
              <a:buChar char="-"/>
            </a:pPr>
            <a:r>
              <a:rPr lang="en-US" sz="3600" b="1" dirty="0"/>
              <a:t>Business Skills / Job Knowledge </a:t>
            </a:r>
          </a:p>
          <a:p>
            <a:pPr marL="285750" indent="-285750">
              <a:buFontTx/>
              <a:buChar char="-"/>
            </a:pPr>
            <a:r>
              <a:rPr lang="en-US" sz="3600" b="1" dirty="0"/>
              <a:t>Human Skills </a:t>
            </a:r>
          </a:p>
        </p:txBody>
      </p:sp>
    </p:spTree>
    <p:extLst>
      <p:ext uri="{BB962C8B-B14F-4D97-AF65-F5344CB8AC3E}">
        <p14:creationId xmlns:p14="http://schemas.microsoft.com/office/powerpoint/2010/main" val="3364451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3D0C00D-B130-4562-A5F8-994D42878A91}"/>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C2006980-9412-42D0-B107-05B2CA62D8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6" name="Picture 5">
            <a:extLst>
              <a:ext uri="{FF2B5EF4-FFF2-40B4-BE49-F238E27FC236}">
                <a16:creationId xmlns:a16="http://schemas.microsoft.com/office/drawing/2014/main" id="{6AC74550-E1E8-48F3-8989-8A3CB647E24E}"/>
              </a:ext>
            </a:extLst>
          </p:cNvPr>
          <p:cNvPicPr>
            <a:picLocks noChangeAspect="1"/>
          </p:cNvPicPr>
          <p:nvPr/>
        </p:nvPicPr>
        <p:blipFill>
          <a:blip r:embed="rId2" cstate="print">
            <a:extLst>
              <a:ext uri="{BEBA8EAE-BF5A-486C-A8C5-ECC9F3942E4B}">
                <a14:imgProps xmlns:a14="http://schemas.microsoft.com/office/drawing/2010/main">
                  <a14:imgLayer r:embed="rId3">
                    <a14:imgEffect>
                      <a14:sharpenSoften amount="51000"/>
                    </a14:imgEffect>
                  </a14:imgLayer>
                </a14:imgProps>
              </a:ext>
              <a:ext uri="{28A0092B-C50C-407E-A947-70E740481C1C}">
                <a14:useLocalDpi xmlns:a14="http://schemas.microsoft.com/office/drawing/2010/main" val="0"/>
              </a:ext>
            </a:extLst>
          </a:blip>
          <a:srcRect/>
          <a:stretch>
            <a:fillRect/>
          </a:stretch>
        </p:blipFill>
        <p:spPr bwMode="auto">
          <a:xfrm>
            <a:off x="228601" y="19228"/>
            <a:ext cx="8614228" cy="6762572"/>
          </a:xfrm>
          <a:prstGeom prst="rect">
            <a:avLst/>
          </a:prstGeom>
          <a:noFill/>
        </p:spPr>
      </p:pic>
    </p:spTree>
    <p:extLst>
      <p:ext uri="{BB962C8B-B14F-4D97-AF65-F5344CB8AC3E}">
        <p14:creationId xmlns:p14="http://schemas.microsoft.com/office/powerpoint/2010/main" val="3140070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F85C399-C9D8-4697-BC83-E5E3E0A8EFE6}"/>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390243B5-4686-460B-B15A-B53FA526C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8" name="Picture 7">
            <a:extLst>
              <a:ext uri="{FF2B5EF4-FFF2-40B4-BE49-F238E27FC236}">
                <a16:creationId xmlns:a16="http://schemas.microsoft.com/office/drawing/2014/main" id="{7C04DBA0-8112-4324-BF1C-CB92B5D74C75}"/>
              </a:ext>
            </a:extLst>
          </p:cNvPr>
          <p:cNvPicPr>
            <a:picLocks noChangeAspect="1"/>
          </p:cNvPicPr>
          <p:nvPr/>
        </p:nvPicPr>
        <p:blipFill>
          <a:blip r:embed="rId2"/>
          <a:stretch>
            <a:fillRect/>
          </a:stretch>
        </p:blipFill>
        <p:spPr>
          <a:xfrm>
            <a:off x="685800" y="990600"/>
            <a:ext cx="5410200" cy="4571099"/>
          </a:xfrm>
          <a:prstGeom prst="rect">
            <a:avLst/>
          </a:prstGeom>
        </p:spPr>
      </p:pic>
      <p:sp>
        <p:nvSpPr>
          <p:cNvPr id="10" name="TextBox 9">
            <a:extLst>
              <a:ext uri="{FF2B5EF4-FFF2-40B4-BE49-F238E27FC236}">
                <a16:creationId xmlns:a16="http://schemas.microsoft.com/office/drawing/2014/main" id="{2A252DA0-067F-4FF6-8DDD-714D3A486AC3}"/>
              </a:ext>
            </a:extLst>
          </p:cNvPr>
          <p:cNvSpPr txBox="1"/>
          <p:nvPr/>
        </p:nvSpPr>
        <p:spPr>
          <a:xfrm>
            <a:off x="609600" y="381000"/>
            <a:ext cx="716280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The 100 meters sprint race records </a:t>
            </a:r>
          </a:p>
        </p:txBody>
      </p:sp>
      <p:cxnSp>
        <p:nvCxnSpPr>
          <p:cNvPr id="3" name="Straight Connector 2">
            <a:extLst>
              <a:ext uri="{FF2B5EF4-FFF2-40B4-BE49-F238E27FC236}">
                <a16:creationId xmlns:a16="http://schemas.microsoft.com/office/drawing/2014/main" id="{A8DA9BF8-E71C-22BE-70A6-778B5829FE1D}"/>
              </a:ext>
            </a:extLst>
          </p:cNvPr>
          <p:cNvCxnSpPr/>
          <p:nvPr/>
        </p:nvCxnSpPr>
        <p:spPr>
          <a:xfrm>
            <a:off x="152400" y="3048000"/>
            <a:ext cx="662940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3400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AFD83-DBC1-CA20-8547-BD5766F8839E}"/>
              </a:ext>
            </a:extLst>
          </p:cNvPr>
          <p:cNvSpPr>
            <a:spLocks noGrp="1"/>
          </p:cNvSpPr>
          <p:nvPr>
            <p:ph idx="1"/>
          </p:nvPr>
        </p:nvSpPr>
        <p:spPr>
          <a:xfrm>
            <a:off x="152400" y="152400"/>
            <a:ext cx="8763000" cy="6705600"/>
          </a:xfrm>
        </p:spPr>
        <p:txBody>
          <a:bodyPr/>
          <a:lstStyle/>
          <a:p>
            <a:r>
              <a:rPr lang="en-US" dirty="0"/>
              <a:t>The Executive Summary</a:t>
            </a:r>
          </a:p>
          <a:p>
            <a:endParaRPr lang="en-US" dirty="0"/>
          </a:p>
          <a:p>
            <a:pPr lvl="2"/>
            <a:r>
              <a:rPr lang="en-US" dirty="0"/>
              <a:t>Thank about a 5-minute meeting with an entrepreneur </a:t>
            </a:r>
          </a:p>
          <a:p>
            <a:pPr lvl="2"/>
            <a:endParaRPr lang="en-US" dirty="0"/>
          </a:p>
          <a:p>
            <a:pPr lvl="2"/>
            <a:r>
              <a:rPr lang="en-US" dirty="0"/>
              <a:t>You want he/she invest in your project or buy your product</a:t>
            </a:r>
          </a:p>
          <a:p>
            <a:pPr lvl="2"/>
            <a:endParaRPr lang="en-US" dirty="0"/>
          </a:p>
          <a:p>
            <a:pPr lvl="2"/>
            <a:r>
              <a:rPr lang="en-US" dirty="0"/>
              <a:t>How can you introduce your project/product? </a:t>
            </a:r>
          </a:p>
          <a:p>
            <a:pPr lvl="3"/>
            <a:endParaRPr lang="en-US" dirty="0"/>
          </a:p>
          <a:p>
            <a:pPr lvl="3"/>
            <a:r>
              <a:rPr lang="en-US" dirty="0"/>
              <a:t>List the most important features</a:t>
            </a:r>
          </a:p>
          <a:p>
            <a:pPr lvl="3"/>
            <a:r>
              <a:rPr lang="en-US" dirty="0"/>
              <a:t>Find a logical sequence/connection between each item</a:t>
            </a:r>
          </a:p>
          <a:p>
            <a:pPr lvl="3"/>
            <a:r>
              <a:rPr lang="en-US" dirty="0"/>
              <a:t>Make an interesting/attractive conclusion</a:t>
            </a:r>
          </a:p>
        </p:txBody>
      </p:sp>
      <p:sp>
        <p:nvSpPr>
          <p:cNvPr id="4" name="Footer Placeholder 3">
            <a:extLst>
              <a:ext uri="{FF2B5EF4-FFF2-40B4-BE49-F238E27FC236}">
                <a16:creationId xmlns:a16="http://schemas.microsoft.com/office/drawing/2014/main" id="{B267215D-5680-7AD9-2AA8-CFE6D51BD352}"/>
              </a:ext>
            </a:extLst>
          </p:cNvPr>
          <p:cNvSpPr>
            <a:spLocks noGrp="1"/>
          </p:cNvSpPr>
          <p:nvPr>
            <p:ph type="ftr" sz="quarter" idx="11"/>
          </p:nvPr>
        </p:nvSpPr>
        <p:spPr/>
        <p:txBody>
          <a:bodyPr/>
          <a:lstStyle/>
          <a:p>
            <a:r>
              <a:rPr lang="en-US"/>
              <a:t>Technical Writing</a:t>
            </a:r>
          </a:p>
        </p:txBody>
      </p:sp>
      <p:sp>
        <p:nvSpPr>
          <p:cNvPr id="5" name="Slide Number Placeholder 4">
            <a:extLst>
              <a:ext uri="{FF2B5EF4-FFF2-40B4-BE49-F238E27FC236}">
                <a16:creationId xmlns:a16="http://schemas.microsoft.com/office/drawing/2014/main" id="{1DA8FE87-E950-A3CA-BE3E-7C5E57CA449A}"/>
              </a:ext>
            </a:extLst>
          </p:cNvPr>
          <p:cNvSpPr>
            <a:spLocks noGrp="1"/>
          </p:cNvSpPr>
          <p:nvPr>
            <p:ph type="sldNum" sz="quarter" idx="12"/>
          </p:nvPr>
        </p:nvSpPr>
        <p:spPr/>
        <p:txBody>
          <a:bodyPr/>
          <a:lstStyle/>
          <a:p>
            <a:fld id="{CE9A8198-B36E-4E8C-B56F-5CE897E27388}" type="slidenum">
              <a:rPr lang="en-US" smtClean="0"/>
              <a:pPr/>
              <a:t>7</a:t>
            </a:fld>
            <a:endParaRPr lang="en-US"/>
          </a:p>
        </p:txBody>
      </p:sp>
    </p:spTree>
    <p:extLst>
      <p:ext uri="{BB962C8B-B14F-4D97-AF65-F5344CB8AC3E}">
        <p14:creationId xmlns:p14="http://schemas.microsoft.com/office/powerpoint/2010/main" val="1942837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AFD83-DBC1-CA20-8547-BD5766F8839E}"/>
              </a:ext>
            </a:extLst>
          </p:cNvPr>
          <p:cNvSpPr>
            <a:spLocks noGrp="1"/>
          </p:cNvSpPr>
          <p:nvPr>
            <p:ph idx="1"/>
          </p:nvPr>
        </p:nvSpPr>
        <p:spPr>
          <a:xfrm>
            <a:off x="152400" y="152400"/>
            <a:ext cx="8763000" cy="6705600"/>
          </a:xfrm>
        </p:spPr>
        <p:txBody>
          <a:bodyPr/>
          <a:lstStyle/>
          <a:p>
            <a:r>
              <a:rPr lang="en-US" dirty="0"/>
              <a:t>The Executive Summary</a:t>
            </a:r>
          </a:p>
          <a:p>
            <a:endParaRPr lang="en-US" dirty="0"/>
          </a:p>
          <a:p>
            <a:pPr lvl="2"/>
            <a:r>
              <a:rPr lang="en-US" sz="3200" dirty="0"/>
              <a:t>Provides an overview of the main points of a long report. </a:t>
            </a:r>
          </a:p>
          <a:p>
            <a:pPr lvl="2"/>
            <a:endParaRPr lang="en-US" sz="3200" dirty="0"/>
          </a:p>
          <a:p>
            <a:pPr lvl="2"/>
            <a:r>
              <a:rPr lang="en-US" sz="3200" dirty="0"/>
              <a:t>It is often written for people who do not have time to read the entire report. </a:t>
            </a:r>
          </a:p>
          <a:p>
            <a:pPr lvl="2"/>
            <a:endParaRPr lang="en-US" sz="3200" dirty="0"/>
          </a:p>
          <a:p>
            <a:pPr lvl="2"/>
            <a:r>
              <a:rPr lang="en-US" sz="3200" dirty="0"/>
              <a:t>The reader should be able to make a decision based only on reading the executive summary.</a:t>
            </a:r>
          </a:p>
        </p:txBody>
      </p:sp>
      <p:sp>
        <p:nvSpPr>
          <p:cNvPr id="4" name="Footer Placeholder 3">
            <a:extLst>
              <a:ext uri="{FF2B5EF4-FFF2-40B4-BE49-F238E27FC236}">
                <a16:creationId xmlns:a16="http://schemas.microsoft.com/office/drawing/2014/main" id="{B267215D-5680-7AD9-2AA8-CFE6D51BD35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1DA8FE87-E950-A3CA-BE3E-7C5E57CA44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907625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AFD83-DBC1-CA20-8547-BD5766F8839E}"/>
              </a:ext>
            </a:extLst>
          </p:cNvPr>
          <p:cNvSpPr>
            <a:spLocks noGrp="1"/>
          </p:cNvSpPr>
          <p:nvPr>
            <p:ph idx="1"/>
          </p:nvPr>
        </p:nvSpPr>
        <p:spPr>
          <a:xfrm>
            <a:off x="152400" y="152400"/>
            <a:ext cx="8763000" cy="6705600"/>
          </a:xfrm>
        </p:spPr>
        <p:txBody>
          <a:bodyPr/>
          <a:lstStyle/>
          <a:p>
            <a:r>
              <a:rPr lang="en-US" dirty="0"/>
              <a:t>The Executive Summary should:</a:t>
            </a:r>
          </a:p>
          <a:p>
            <a:endParaRPr lang="en-US" dirty="0"/>
          </a:p>
          <a:p>
            <a:pPr lvl="2"/>
            <a:r>
              <a:rPr lang="en-US" sz="3200" dirty="0"/>
              <a:t>Summarize the key points of the report. </a:t>
            </a:r>
          </a:p>
          <a:p>
            <a:pPr lvl="2"/>
            <a:r>
              <a:rPr lang="en-US" sz="3200" dirty="0"/>
              <a:t>Restate the purpose of the report</a:t>
            </a:r>
          </a:p>
          <a:p>
            <a:pPr lvl="2"/>
            <a:r>
              <a:rPr lang="en-US" sz="3200" dirty="0"/>
              <a:t>Highlight the major points of the report</a:t>
            </a:r>
          </a:p>
          <a:p>
            <a:pPr lvl="2"/>
            <a:r>
              <a:rPr lang="en-US" sz="3200" dirty="0"/>
              <a:t>Describe any results, conclusions, or recommendations from the report. </a:t>
            </a:r>
          </a:p>
          <a:p>
            <a:pPr lvl="2"/>
            <a:endParaRPr lang="en-US" sz="3200" dirty="0"/>
          </a:p>
          <a:p>
            <a:pPr lvl="2"/>
            <a:r>
              <a:rPr lang="en-US" sz="3200" dirty="0"/>
              <a:t>It should include enough information so the reader can understand what is discussed in the full report, without having to read it.</a:t>
            </a:r>
          </a:p>
        </p:txBody>
      </p:sp>
      <p:sp>
        <p:nvSpPr>
          <p:cNvPr id="4" name="Footer Placeholder 3">
            <a:extLst>
              <a:ext uri="{FF2B5EF4-FFF2-40B4-BE49-F238E27FC236}">
                <a16:creationId xmlns:a16="http://schemas.microsoft.com/office/drawing/2014/main" id="{B267215D-5680-7AD9-2AA8-CFE6D51BD35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1DA8FE87-E950-A3CA-BE3E-7C5E57CA44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1985209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AFD83-DBC1-CA20-8547-BD5766F8839E}"/>
              </a:ext>
            </a:extLst>
          </p:cNvPr>
          <p:cNvSpPr>
            <a:spLocks noGrp="1"/>
          </p:cNvSpPr>
          <p:nvPr>
            <p:ph idx="1"/>
          </p:nvPr>
        </p:nvSpPr>
        <p:spPr>
          <a:xfrm>
            <a:off x="152400" y="152400"/>
            <a:ext cx="8763000" cy="6705600"/>
          </a:xfrm>
        </p:spPr>
        <p:txBody>
          <a:bodyPr/>
          <a:lstStyle/>
          <a:p>
            <a:r>
              <a:rPr lang="en-US" dirty="0"/>
              <a:t>An executive summary should…</a:t>
            </a:r>
          </a:p>
          <a:p>
            <a:pPr lvl="2"/>
            <a:r>
              <a:rPr lang="en-US" sz="3200" dirty="0"/>
              <a:t>Be presented as a document that can stand on its own</a:t>
            </a:r>
          </a:p>
          <a:p>
            <a:pPr marL="914400" lvl="2" indent="0">
              <a:buNone/>
            </a:pPr>
            <a:r>
              <a:rPr lang="en-US" sz="3200" dirty="0"/>
              <a:t>• Be one to three pages, </a:t>
            </a:r>
            <a:r>
              <a:rPr lang="en-US" sz="3200" u="sng" dirty="0"/>
              <a:t>depending on the length of the report</a:t>
            </a:r>
          </a:p>
          <a:p>
            <a:pPr marL="914400" lvl="2" indent="0">
              <a:buNone/>
            </a:pPr>
            <a:endParaRPr lang="en-US" sz="3200" u="sng" dirty="0"/>
          </a:p>
          <a:p>
            <a:pPr marL="914400" lvl="2" indent="0">
              <a:buNone/>
            </a:pPr>
            <a:r>
              <a:rPr lang="en-US" sz="3200" b="1" dirty="0"/>
              <a:t>Structure:</a:t>
            </a:r>
            <a:r>
              <a:rPr lang="en-US" sz="3200" b="1" u="sng" dirty="0"/>
              <a:t> </a:t>
            </a:r>
          </a:p>
          <a:p>
            <a:pPr lvl="2">
              <a:buFont typeface="Wingdings" panose="05000000000000000000" pitchFamily="2" charset="2"/>
              <a:buChar char="§"/>
            </a:pPr>
            <a:r>
              <a:rPr lang="en-US" sz="3200" dirty="0"/>
              <a:t>Introduction</a:t>
            </a:r>
          </a:p>
          <a:p>
            <a:pPr lvl="2">
              <a:buFont typeface="Wingdings" panose="05000000000000000000" pitchFamily="2" charset="2"/>
              <a:buChar char="§"/>
            </a:pPr>
            <a:r>
              <a:rPr lang="en-US" sz="3200" dirty="0"/>
              <a:t>Body</a:t>
            </a:r>
          </a:p>
          <a:p>
            <a:pPr lvl="2">
              <a:buFont typeface="Wingdings" panose="05000000000000000000" pitchFamily="2" charset="2"/>
              <a:buChar char="§"/>
            </a:pPr>
            <a:r>
              <a:rPr lang="en-US" sz="3200" dirty="0"/>
              <a:t>Conclusion</a:t>
            </a:r>
          </a:p>
        </p:txBody>
      </p:sp>
      <p:sp>
        <p:nvSpPr>
          <p:cNvPr id="4" name="Footer Placeholder 3">
            <a:extLst>
              <a:ext uri="{FF2B5EF4-FFF2-40B4-BE49-F238E27FC236}">
                <a16:creationId xmlns:a16="http://schemas.microsoft.com/office/drawing/2014/main" id="{B267215D-5680-7AD9-2AA8-CFE6D51BD35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1DA8FE87-E950-A3CA-BE3E-7C5E57CA44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2" name="Rectangle 1">
            <a:extLst>
              <a:ext uri="{FF2B5EF4-FFF2-40B4-BE49-F238E27FC236}">
                <a16:creationId xmlns:a16="http://schemas.microsoft.com/office/drawing/2014/main" id="{63A47F18-D8DF-0C1A-0431-55228AC22C71}"/>
              </a:ext>
            </a:extLst>
          </p:cNvPr>
          <p:cNvSpPr/>
          <p:nvPr/>
        </p:nvSpPr>
        <p:spPr>
          <a:xfrm>
            <a:off x="3886200" y="3375479"/>
            <a:ext cx="5116286" cy="2590800"/>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2400" b="1" i="0" dirty="0">
                <a:solidFill>
                  <a:srgbClr val="292D34"/>
                </a:solidFill>
                <a:effectLst/>
                <a:latin typeface="-apple-system"/>
              </a:rPr>
              <a:t>A typical executive summary includes: </a:t>
            </a:r>
          </a:p>
          <a:p>
            <a:pPr algn="l">
              <a:buFont typeface="Arial" panose="020B0604020202020204" pitchFamily="34" charset="0"/>
              <a:buChar char="•"/>
            </a:pPr>
            <a:r>
              <a:rPr lang="en-US" sz="2400" b="1" i="0" dirty="0">
                <a:solidFill>
                  <a:srgbClr val="292D34"/>
                </a:solidFill>
                <a:effectLst/>
                <a:latin typeface="-apple-system"/>
              </a:rPr>
              <a:t>Problem statement</a:t>
            </a:r>
          </a:p>
          <a:p>
            <a:pPr algn="l">
              <a:buFont typeface="Arial" panose="020B0604020202020204" pitchFamily="34" charset="0"/>
              <a:buChar char="•"/>
            </a:pPr>
            <a:r>
              <a:rPr lang="en-US" sz="2400" b="1" i="0" dirty="0">
                <a:solidFill>
                  <a:srgbClr val="292D34"/>
                </a:solidFill>
                <a:effectLst/>
                <a:latin typeface="-apple-system"/>
              </a:rPr>
              <a:t>Proposed solution</a:t>
            </a:r>
          </a:p>
          <a:p>
            <a:pPr algn="l">
              <a:buFont typeface="Arial" panose="020B0604020202020204" pitchFamily="34" charset="0"/>
              <a:buChar char="•"/>
            </a:pPr>
            <a:r>
              <a:rPr lang="en-US" sz="2400" b="1" i="0" dirty="0">
                <a:solidFill>
                  <a:srgbClr val="292D34"/>
                </a:solidFill>
                <a:effectLst/>
                <a:latin typeface="-apple-system"/>
              </a:rPr>
              <a:t>Expected outcomes</a:t>
            </a:r>
          </a:p>
          <a:p>
            <a:pPr algn="l">
              <a:buFont typeface="Arial" panose="020B0604020202020204" pitchFamily="34" charset="0"/>
              <a:buChar char="•"/>
            </a:pPr>
            <a:r>
              <a:rPr lang="en-US" sz="2400" b="1" i="0" dirty="0">
                <a:solidFill>
                  <a:srgbClr val="292D34"/>
                </a:solidFill>
                <a:effectLst/>
                <a:latin typeface="-apple-system"/>
              </a:rPr>
              <a:t>Conclusion</a:t>
            </a:r>
          </a:p>
          <a:p>
            <a:pPr algn="ctr"/>
            <a:endParaRPr lang="en-US" dirty="0"/>
          </a:p>
        </p:txBody>
      </p:sp>
    </p:spTree>
    <p:extLst>
      <p:ext uri="{BB962C8B-B14F-4D97-AF65-F5344CB8AC3E}">
        <p14:creationId xmlns:p14="http://schemas.microsoft.com/office/powerpoint/2010/main" val="967405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F183FFD-300B-B4A4-6498-5953C9B56783}"/>
              </a:ext>
            </a:extLst>
          </p:cNvPr>
          <p:cNvSpPr>
            <a:spLocks noGrp="1"/>
          </p:cNvSpPr>
          <p:nvPr>
            <p:ph type="ftr" sz="quarter" idx="11"/>
          </p:nvPr>
        </p:nvSpPr>
        <p:spPr/>
        <p:txBody>
          <a:bodyPr/>
          <a:lstStyle/>
          <a:p>
            <a:r>
              <a:rPr lang="en-US"/>
              <a:t>Technical Writing</a:t>
            </a:r>
          </a:p>
        </p:txBody>
      </p:sp>
      <p:sp>
        <p:nvSpPr>
          <p:cNvPr id="3" name="Slide Number Placeholder 2">
            <a:extLst>
              <a:ext uri="{FF2B5EF4-FFF2-40B4-BE49-F238E27FC236}">
                <a16:creationId xmlns:a16="http://schemas.microsoft.com/office/drawing/2014/main" id="{57AADB15-5B6C-3CF0-1750-D5F921AF4D19}"/>
              </a:ext>
            </a:extLst>
          </p:cNvPr>
          <p:cNvSpPr>
            <a:spLocks noGrp="1"/>
          </p:cNvSpPr>
          <p:nvPr>
            <p:ph type="sldNum" sz="quarter" idx="12"/>
          </p:nvPr>
        </p:nvSpPr>
        <p:spPr/>
        <p:txBody>
          <a:bodyPr/>
          <a:lstStyle/>
          <a:p>
            <a:fld id="{CE9A8198-B36E-4E8C-B56F-5CE897E27388}" type="slidenum">
              <a:rPr lang="en-US" smtClean="0"/>
              <a:pPr/>
              <a:t>11</a:t>
            </a:fld>
            <a:endParaRPr lang="en-US"/>
          </a:p>
        </p:txBody>
      </p:sp>
      <p:sp>
        <p:nvSpPr>
          <p:cNvPr id="7" name="TextBox 6">
            <a:extLst>
              <a:ext uri="{FF2B5EF4-FFF2-40B4-BE49-F238E27FC236}">
                <a16:creationId xmlns:a16="http://schemas.microsoft.com/office/drawing/2014/main" id="{57264E45-B7D2-6588-425B-6C9AAB86E1E6}"/>
              </a:ext>
            </a:extLst>
          </p:cNvPr>
          <p:cNvSpPr txBox="1"/>
          <p:nvPr/>
        </p:nvSpPr>
        <p:spPr>
          <a:xfrm>
            <a:off x="152400" y="304800"/>
            <a:ext cx="8839200" cy="5693866"/>
          </a:xfrm>
          <a:prstGeom prst="rect">
            <a:avLst/>
          </a:prstGeom>
          <a:noFill/>
        </p:spPr>
        <p:txBody>
          <a:bodyPr wrap="square">
            <a:spAutoFit/>
          </a:bodyPr>
          <a:lstStyle/>
          <a:p>
            <a:pPr>
              <a:buNone/>
            </a:pPr>
            <a:r>
              <a:rPr lang="en-US" sz="2800" b="1" dirty="0"/>
              <a:t>Structure of the Executive Summary </a:t>
            </a:r>
          </a:p>
          <a:p>
            <a:pPr>
              <a:buNone/>
            </a:pPr>
            <a:endParaRPr lang="en-US" sz="2800" b="1" dirty="0"/>
          </a:p>
          <a:p>
            <a:pPr>
              <a:buNone/>
            </a:pPr>
            <a:r>
              <a:rPr lang="en-US" sz="2800" b="1" dirty="0"/>
              <a:t>1. Introduction</a:t>
            </a:r>
          </a:p>
          <a:p>
            <a:pPr lvl="1">
              <a:buFont typeface="Arial" panose="020B0604020202020204" pitchFamily="34" charset="0"/>
              <a:buChar char="•"/>
            </a:pPr>
            <a:r>
              <a:rPr lang="en-US" sz="2800" b="1" dirty="0"/>
              <a:t>Purpose of the Report</a:t>
            </a:r>
            <a:endParaRPr lang="en-US" sz="2800" dirty="0"/>
          </a:p>
          <a:p>
            <a:pPr lvl="1">
              <a:buFont typeface="Arial" panose="020B0604020202020204" pitchFamily="34" charset="0"/>
              <a:buChar char="•"/>
            </a:pPr>
            <a:r>
              <a:rPr lang="en-US" sz="2800" b="1" dirty="0"/>
              <a:t>Scope</a:t>
            </a:r>
          </a:p>
          <a:p>
            <a:pPr lvl="1">
              <a:buFont typeface="Arial" panose="020B0604020202020204" pitchFamily="34" charset="0"/>
              <a:buChar char="•"/>
            </a:pPr>
            <a:r>
              <a:rPr lang="en-US" sz="2800" b="1" dirty="0"/>
              <a:t>Context</a:t>
            </a:r>
            <a:r>
              <a:rPr lang="en-US" sz="2800" dirty="0"/>
              <a:t>: A brief explanation of the background or situation that led to the creation of the report.</a:t>
            </a:r>
          </a:p>
          <a:p>
            <a:pPr>
              <a:buNone/>
            </a:pPr>
            <a:r>
              <a:rPr lang="en-US" sz="2800" b="1" dirty="0"/>
              <a:t>2. Methodology</a:t>
            </a:r>
          </a:p>
          <a:p>
            <a:pPr>
              <a:buNone/>
            </a:pPr>
            <a:r>
              <a:rPr lang="en-US" sz="2800" b="1" dirty="0"/>
              <a:t>3. Key Findings</a:t>
            </a:r>
          </a:p>
          <a:p>
            <a:pPr>
              <a:buNone/>
            </a:pPr>
            <a:r>
              <a:rPr lang="en-US" sz="2800" b="1" dirty="0"/>
              <a:t>4. Analysis (</a:t>
            </a:r>
            <a:r>
              <a:rPr lang="en-US" sz="2800" dirty="0"/>
              <a:t>A high-level overview of the analysis)</a:t>
            </a:r>
          </a:p>
          <a:p>
            <a:pPr>
              <a:buNone/>
            </a:pPr>
            <a:r>
              <a:rPr lang="en-US" sz="2800" b="1" dirty="0"/>
              <a:t>5. Conclusions</a:t>
            </a:r>
          </a:p>
          <a:p>
            <a:pPr>
              <a:buNone/>
            </a:pPr>
            <a:r>
              <a:rPr lang="en-US" sz="2800" b="1" dirty="0"/>
              <a:t>6. Recommendations/ Implications (optional)</a:t>
            </a:r>
          </a:p>
          <a:p>
            <a:pPr>
              <a:buNone/>
            </a:pPr>
            <a:r>
              <a:rPr lang="en-US" sz="2800" b="1" dirty="0"/>
              <a:t>8. Call to Action (optional)</a:t>
            </a:r>
          </a:p>
        </p:txBody>
      </p:sp>
    </p:spTree>
    <p:extLst>
      <p:ext uri="{BB962C8B-B14F-4D97-AF65-F5344CB8AC3E}">
        <p14:creationId xmlns:p14="http://schemas.microsoft.com/office/powerpoint/2010/main" val="2814191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7936301-C8A8-9DCA-79A6-ADE6032D8EFC}"/>
              </a:ext>
            </a:extLst>
          </p:cNvPr>
          <p:cNvSpPr>
            <a:spLocks noGrp="1"/>
          </p:cNvSpPr>
          <p:nvPr>
            <p:ph type="ftr" sz="quarter" idx="11"/>
          </p:nvPr>
        </p:nvSpPr>
        <p:spPr/>
        <p:txBody>
          <a:bodyPr/>
          <a:lstStyle/>
          <a:p>
            <a:r>
              <a:rPr lang="en-US"/>
              <a:t>Technical Writing</a:t>
            </a:r>
          </a:p>
        </p:txBody>
      </p:sp>
      <p:sp>
        <p:nvSpPr>
          <p:cNvPr id="3" name="Slide Number Placeholder 2">
            <a:extLst>
              <a:ext uri="{FF2B5EF4-FFF2-40B4-BE49-F238E27FC236}">
                <a16:creationId xmlns:a16="http://schemas.microsoft.com/office/drawing/2014/main" id="{8FCFFC8E-C1C4-7CA4-55A9-EECD7F3A1694}"/>
              </a:ext>
            </a:extLst>
          </p:cNvPr>
          <p:cNvSpPr>
            <a:spLocks noGrp="1"/>
          </p:cNvSpPr>
          <p:nvPr>
            <p:ph type="sldNum" sz="quarter" idx="12"/>
          </p:nvPr>
        </p:nvSpPr>
        <p:spPr/>
        <p:txBody>
          <a:bodyPr/>
          <a:lstStyle/>
          <a:p>
            <a:fld id="{CE9A8198-B36E-4E8C-B56F-5CE897E27388}" type="slidenum">
              <a:rPr lang="en-US" smtClean="0"/>
              <a:pPr/>
              <a:t>12</a:t>
            </a:fld>
            <a:endParaRPr lang="en-US"/>
          </a:p>
        </p:txBody>
      </p:sp>
      <p:sp>
        <p:nvSpPr>
          <p:cNvPr id="5" name="TextBox 4">
            <a:extLst>
              <a:ext uri="{FF2B5EF4-FFF2-40B4-BE49-F238E27FC236}">
                <a16:creationId xmlns:a16="http://schemas.microsoft.com/office/drawing/2014/main" id="{1DCE77BF-88EA-1B26-9816-3A3E2990C9A2}"/>
              </a:ext>
            </a:extLst>
          </p:cNvPr>
          <p:cNvSpPr txBox="1"/>
          <p:nvPr/>
        </p:nvSpPr>
        <p:spPr>
          <a:xfrm>
            <a:off x="152400" y="136525"/>
            <a:ext cx="8686800"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Tips for Writing an Executive 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1"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Keep it brief</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 The executive summary should be short—typically one to two pages, depending on the length of the full report.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Be clear and concise</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 Avoid unnecessary jargon and overly detailed explanations. The goal is to summarize the report in a way that is easy for anyone to understand.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400" b="1" i="0" u="none" strike="noStrike" kern="1200" cap="none" spc="0" normalizeH="0" baseline="0" noProof="0" dirty="0">
                <a:ln>
                  <a:noFill/>
                </a:ln>
                <a:solidFill>
                  <a:prstClr val="black"/>
                </a:solidFill>
                <a:effectLst/>
                <a:uLnTx/>
                <a:uFillTx/>
                <a:latin typeface="Times New Roman"/>
                <a:ea typeface="+mn-ea"/>
                <a:cs typeface="+mn-cs"/>
              </a:rPr>
              <a:t>Write it last</a:t>
            </a:r>
            <a:r>
              <a:rPr kumimoji="0" lang="en-US" sz="2400" b="0" i="0" u="none" strike="noStrike" kern="1200" cap="none" spc="0" normalizeH="0" baseline="0" noProof="0" dirty="0">
                <a:ln>
                  <a:noFill/>
                </a:ln>
                <a:solidFill>
                  <a:prstClr val="black"/>
                </a:solidFill>
                <a:effectLst/>
                <a:uLnTx/>
                <a:uFillTx/>
                <a:latin typeface="Times New Roman"/>
                <a:ea typeface="+mn-ea"/>
                <a:cs typeface="+mn-cs"/>
              </a:rPr>
              <a:t>: Although it appears at the beginning of the report, it’s usually easier to write the executive summary after completing the rest of the report.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The executive summary should be able to stand alone as a summary of the report, so that if a reader only has time to read the summary, they can still understand the key points and outcomes.</a:t>
            </a:r>
          </a:p>
        </p:txBody>
      </p:sp>
    </p:spTree>
    <p:extLst>
      <p:ext uri="{BB962C8B-B14F-4D97-AF65-F5344CB8AC3E}">
        <p14:creationId xmlns:p14="http://schemas.microsoft.com/office/powerpoint/2010/main" val="31690433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7AFD83-DBC1-CA20-8547-BD5766F8839E}"/>
              </a:ext>
            </a:extLst>
          </p:cNvPr>
          <p:cNvSpPr>
            <a:spLocks noGrp="1"/>
          </p:cNvSpPr>
          <p:nvPr>
            <p:ph idx="1"/>
          </p:nvPr>
        </p:nvSpPr>
        <p:spPr>
          <a:xfrm>
            <a:off x="152400" y="152400"/>
            <a:ext cx="8763000" cy="6705600"/>
          </a:xfrm>
        </p:spPr>
        <p:txBody>
          <a:bodyPr>
            <a:normAutofit fontScale="92500" lnSpcReduction="20000"/>
          </a:bodyPr>
          <a:lstStyle/>
          <a:p>
            <a:pPr marL="342900" marR="0" lvl="0" indent="-342900">
              <a:spcBef>
                <a:spcPts val="0"/>
              </a:spcBef>
              <a:spcAft>
                <a:spcPts val="1200"/>
              </a:spcAft>
              <a:buFont typeface="+mj-lt"/>
              <a:buAutoNum type="arabicPeriod"/>
            </a:pPr>
            <a:r>
              <a:rPr lang="en-US" sz="3200" b="1" kern="0" dirty="0">
                <a:solidFill>
                  <a:srgbClr val="333333"/>
                </a:solidFill>
                <a:effectLst/>
                <a:latin typeface="Times New Roman" panose="02020603050405020304" pitchFamily="18" charset="0"/>
                <a:ea typeface="SimSun" panose="02010600030101010101" pitchFamily="2" charset="-122"/>
                <a:cs typeface="Times New Roman" panose="02020603050405020304" pitchFamily="18" charset="0"/>
              </a:rPr>
              <a:t>* Executive Summary</a:t>
            </a:r>
            <a:endParaRPr lang="en-US" sz="3200" b="1" kern="0" dirty="0">
              <a:solidFill>
                <a:srgbClr val="333333"/>
              </a:solidFill>
              <a:effectLst/>
              <a:latin typeface="Arial" panose="020B0604020202020204" pitchFamily="34" charset="0"/>
              <a:ea typeface="SimSun" panose="02010600030101010101" pitchFamily="2" charset="-122"/>
              <a:cs typeface="Times New Roman" panose="02020603050405020304" pitchFamily="18" charset="0"/>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In one page, present the summary of your project.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Outline the motivation,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Overall goals,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Design objectives,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Key features,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Testing results, and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Your important achievements.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You want to convince the readers succinctly that your project is </a:t>
            </a:r>
            <a:r>
              <a:rPr lang="en-US" sz="3200" u="sng" dirty="0">
                <a:effectLst/>
                <a:latin typeface="Times New Roman" panose="02020603050405020304" pitchFamily="18" charset="0"/>
                <a:ea typeface="SimSun" panose="02010600030101010101" pitchFamily="2" charset="-122"/>
                <a:cs typeface="Times New Roman" panose="02020603050405020304" pitchFamily="18" charset="0"/>
              </a:rPr>
              <a:t>important</a:t>
            </a: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3200" u="sng" dirty="0">
                <a:effectLst/>
                <a:latin typeface="Times New Roman" panose="02020603050405020304" pitchFamily="18" charset="0"/>
                <a:ea typeface="SimSun" panose="02010600030101010101" pitchFamily="2" charset="-122"/>
                <a:cs typeface="Times New Roman" panose="02020603050405020304" pitchFamily="18" charset="0"/>
              </a:rPr>
              <a:t>useful</a:t>
            </a: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a:t>
            </a:r>
            <a:r>
              <a:rPr lang="en-US" sz="3200" u="sng" dirty="0">
                <a:effectLst/>
                <a:latin typeface="Times New Roman" panose="02020603050405020304" pitchFamily="18" charset="0"/>
                <a:ea typeface="SimSun" panose="02010600030101010101" pitchFamily="2" charset="-122"/>
                <a:cs typeface="Times New Roman" panose="02020603050405020304" pitchFamily="18" charset="0"/>
              </a:rPr>
              <a:t>makes a good senior design project</a:t>
            </a: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and you </a:t>
            </a:r>
            <a:r>
              <a:rPr lang="en-US" sz="3200" u="sng" dirty="0">
                <a:effectLst/>
                <a:latin typeface="Times New Roman" panose="02020603050405020304" pitchFamily="18" charset="0"/>
                <a:ea typeface="SimSun" panose="02010600030101010101" pitchFamily="2" charset="-122"/>
                <a:cs typeface="Times New Roman" panose="02020603050405020304" pitchFamily="18" charset="0"/>
              </a:rPr>
              <a:t>succeed in achieving your design objectives.</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a:t>
            </a:r>
            <a:endParaRPr lang="en-US" sz="2400" dirty="0">
              <a:effectLst/>
              <a:latin typeface="Times New Roman" panose="02020603050405020304" pitchFamily="18" charset="0"/>
              <a:ea typeface="SimSun" panose="02010600030101010101" pitchFamily="2" charset="-122"/>
            </a:endParaRPr>
          </a:p>
          <a:p>
            <a:pPr marL="0" marR="0" algn="l">
              <a:spcBef>
                <a:spcPts val="0"/>
              </a:spcBef>
              <a:spcAft>
                <a:spcPts val="0"/>
              </a:spcAft>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You may use several paragraphs, but </a:t>
            </a:r>
            <a:r>
              <a:rPr lang="en-US" sz="3200" u="sng" dirty="0">
                <a:effectLst/>
                <a:latin typeface="Times New Roman" panose="02020603050405020304" pitchFamily="18" charset="0"/>
                <a:ea typeface="SimSun" panose="02010600030101010101" pitchFamily="2" charset="-122"/>
                <a:cs typeface="Times New Roman" panose="02020603050405020304" pitchFamily="18" charset="0"/>
              </a:rPr>
              <a:t>no more sub-sections</a:t>
            </a: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a:t>
            </a:r>
            <a:endParaRPr lang="en-US" sz="2400" dirty="0">
              <a:effectLst/>
              <a:latin typeface="Times New Roman" panose="02020603050405020304" pitchFamily="18" charset="0"/>
              <a:ea typeface="SimSun" panose="02010600030101010101" pitchFamily="2" charset="-122"/>
            </a:endParaRPr>
          </a:p>
          <a:p>
            <a:endParaRPr lang="en-US" sz="3200" dirty="0"/>
          </a:p>
        </p:txBody>
      </p:sp>
      <p:sp>
        <p:nvSpPr>
          <p:cNvPr id="4" name="Footer Placeholder 3">
            <a:extLst>
              <a:ext uri="{FF2B5EF4-FFF2-40B4-BE49-F238E27FC236}">
                <a16:creationId xmlns:a16="http://schemas.microsoft.com/office/drawing/2014/main" id="{B267215D-5680-7AD9-2AA8-CFE6D51BD352}"/>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1DA8FE87-E950-A3CA-BE3E-7C5E57CA44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993531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44DD70-8717-14FB-2847-37C295A7B465}"/>
              </a:ext>
            </a:extLst>
          </p:cNvPr>
          <p:cNvSpPr>
            <a:spLocks noGrp="1"/>
          </p:cNvSpPr>
          <p:nvPr>
            <p:ph idx="1"/>
          </p:nvPr>
        </p:nvSpPr>
        <p:spPr>
          <a:xfrm>
            <a:off x="228600" y="457200"/>
            <a:ext cx="8382000" cy="5638800"/>
          </a:xfrm>
        </p:spPr>
        <p:txBody>
          <a:bodyPr/>
          <a:lstStyle/>
          <a:p>
            <a:pPr marL="0" marR="0" algn="just">
              <a:lnSpc>
                <a:spcPct val="150000"/>
              </a:lnSpc>
              <a:spcBef>
                <a:spcPts val="0"/>
              </a:spcBef>
              <a:spcAft>
                <a:spcPts val="600"/>
              </a:spcAft>
            </a:pPr>
            <a:endParaRPr lang="en-US" sz="2800" dirty="0">
              <a:effectLst/>
              <a:latin typeface="Times New Roman" panose="02020603050405020304" pitchFamily="18" charset="0"/>
              <a:ea typeface="SimSun" panose="02010600030101010101" pitchFamily="2" charset="-122"/>
            </a:endParaRPr>
          </a:p>
          <a:p>
            <a:pPr marL="0" marR="0" algn="just">
              <a:lnSpc>
                <a:spcPct val="150000"/>
              </a:lnSpc>
              <a:spcBef>
                <a:spcPts val="0"/>
              </a:spcBef>
              <a:spcAft>
                <a:spcPts val="600"/>
              </a:spcAft>
            </a:pPr>
            <a:r>
              <a:rPr lang="en-US" sz="3200" u="sng" dirty="0">
                <a:effectLst/>
                <a:latin typeface="Times New Roman" panose="02020603050405020304" pitchFamily="18" charset="0"/>
                <a:ea typeface="SimSun" panose="02010600030101010101" pitchFamily="2" charset="-122"/>
              </a:rPr>
              <a:t>Avoid General Discussions</a:t>
            </a:r>
            <a:endParaRPr lang="en-US" sz="2800" dirty="0">
              <a:effectLst/>
              <a:latin typeface="Times New Roman" panose="02020603050405020304" pitchFamily="18" charset="0"/>
              <a:ea typeface="SimSun" panose="02010600030101010101" pitchFamily="2" charset="-122"/>
            </a:endParaRPr>
          </a:p>
          <a:p>
            <a:pPr marL="0" marR="0" algn="just">
              <a:lnSpc>
                <a:spcPct val="150000"/>
              </a:lnSpc>
              <a:spcBef>
                <a:spcPts val="0"/>
              </a:spcBef>
              <a:spcAft>
                <a:spcPts val="600"/>
              </a:spcAft>
            </a:pPr>
            <a:r>
              <a:rPr lang="en-US" sz="3200" u="sng" dirty="0">
                <a:effectLst/>
                <a:latin typeface="Times New Roman" panose="02020603050405020304" pitchFamily="18" charset="0"/>
                <a:ea typeface="SimSun" panose="02010600030101010101" pitchFamily="2" charset="-122"/>
              </a:rPr>
              <a:t>Avoid Textbook Style Writing</a:t>
            </a:r>
          </a:p>
          <a:p>
            <a:pPr marL="0" marR="0" algn="just">
              <a:lnSpc>
                <a:spcPct val="150000"/>
              </a:lnSpc>
              <a:spcBef>
                <a:spcPts val="0"/>
              </a:spcBef>
              <a:spcAft>
                <a:spcPts val="600"/>
              </a:spcAft>
            </a:pPr>
            <a:r>
              <a:rPr lang="en-US" u="sng" dirty="0">
                <a:latin typeface="Times New Roman" panose="02020603050405020304" pitchFamily="18" charset="0"/>
                <a:ea typeface="SimSun" panose="02010600030101010101" pitchFamily="2" charset="-122"/>
              </a:rPr>
              <a:t>Avoid Narrative style</a:t>
            </a:r>
            <a:endParaRPr lang="en-US" sz="2800" dirty="0">
              <a:effectLst/>
              <a:latin typeface="Times New Roman" panose="02020603050405020304" pitchFamily="18" charset="0"/>
              <a:ea typeface="SimSun" panose="02010600030101010101" pitchFamily="2" charset="-122"/>
            </a:endParaRPr>
          </a:p>
          <a:p>
            <a:pPr marL="0" marR="0" algn="just">
              <a:lnSpc>
                <a:spcPct val="150000"/>
              </a:lnSpc>
              <a:spcBef>
                <a:spcPts val="0"/>
              </a:spcBef>
              <a:spcAft>
                <a:spcPts val="600"/>
              </a:spcAft>
            </a:pPr>
            <a:r>
              <a:rPr lang="en-US" sz="3200" u="sng" dirty="0">
                <a:effectLst/>
                <a:latin typeface="Times New Roman" panose="02020603050405020304" pitchFamily="18" charset="0"/>
                <a:ea typeface="SimSun" panose="02010600030101010101" pitchFamily="2" charset="-122"/>
              </a:rPr>
              <a:t>Avoid Irrelevant Information</a:t>
            </a:r>
            <a:endParaRPr lang="en-US" sz="2800" dirty="0">
              <a:effectLst/>
              <a:latin typeface="Times New Roman" panose="02020603050405020304" pitchFamily="18" charset="0"/>
              <a:ea typeface="SimSun" panose="02010600030101010101" pitchFamily="2" charset="-122"/>
            </a:endParaRPr>
          </a:p>
          <a:p>
            <a:pPr marL="0" marR="0" algn="just">
              <a:lnSpc>
                <a:spcPct val="150000"/>
              </a:lnSpc>
              <a:spcBef>
                <a:spcPts val="0"/>
              </a:spcBef>
              <a:spcAft>
                <a:spcPts val="600"/>
              </a:spcAft>
            </a:pPr>
            <a:r>
              <a:rPr lang="en-US" sz="3200" u="sng" dirty="0">
                <a:effectLst/>
                <a:latin typeface="Times New Roman" panose="02020603050405020304" pitchFamily="18" charset="0"/>
                <a:ea typeface="SimSun" panose="02010600030101010101" pitchFamily="2" charset="-122"/>
              </a:rPr>
              <a:t>Avoid Long Sentences and Long Paragraphs</a:t>
            </a:r>
            <a:endParaRPr lang="en-US" sz="2800" dirty="0">
              <a:effectLst/>
              <a:latin typeface="Times New Roman" panose="02020603050405020304" pitchFamily="18" charset="0"/>
              <a:ea typeface="SimSun" panose="02010600030101010101" pitchFamily="2" charset="-122"/>
            </a:endParaRPr>
          </a:p>
          <a:p>
            <a:endParaRPr lang="en-US" dirty="0"/>
          </a:p>
        </p:txBody>
      </p:sp>
    </p:spTree>
    <p:extLst>
      <p:ext uri="{BB962C8B-B14F-4D97-AF65-F5344CB8AC3E}">
        <p14:creationId xmlns:p14="http://schemas.microsoft.com/office/powerpoint/2010/main" val="2482271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0D27BE5-9BE8-1FC5-2CBF-0250A5A3E1A2}"/>
              </a:ext>
            </a:extLst>
          </p:cNvPr>
          <p:cNvSpPr>
            <a:spLocks noGrp="1"/>
          </p:cNvSpPr>
          <p:nvPr>
            <p:ph type="sldNum" sz="quarter" idx="12"/>
          </p:nvPr>
        </p:nvSpPr>
        <p:spPr/>
        <p:txBody>
          <a:bodyPr/>
          <a:lstStyle/>
          <a:p>
            <a:fld id="{CE9A8198-B36E-4E8C-B56F-5CE897E27388}" type="slidenum">
              <a:rPr lang="en-US" smtClean="0"/>
              <a:pPr/>
              <a:t>15</a:t>
            </a:fld>
            <a:endParaRPr lang="en-US"/>
          </a:p>
        </p:txBody>
      </p:sp>
      <p:sp>
        <p:nvSpPr>
          <p:cNvPr id="5" name="TextBox 4">
            <a:extLst>
              <a:ext uri="{FF2B5EF4-FFF2-40B4-BE49-F238E27FC236}">
                <a16:creationId xmlns:a16="http://schemas.microsoft.com/office/drawing/2014/main" id="{76A3B2FE-3D6E-B3EA-A565-E629024CD338}"/>
              </a:ext>
            </a:extLst>
          </p:cNvPr>
          <p:cNvSpPr txBox="1"/>
          <p:nvPr/>
        </p:nvSpPr>
        <p:spPr>
          <a:xfrm>
            <a:off x="152400" y="0"/>
            <a:ext cx="8915400" cy="6848029"/>
          </a:xfrm>
          <a:prstGeom prst="rect">
            <a:avLst/>
          </a:prstGeom>
          <a:noFill/>
        </p:spPr>
        <p:txBody>
          <a:bodyPr wrap="square">
            <a:spAutoFit/>
          </a:bodyPr>
          <a:lstStyle/>
          <a:p>
            <a:pPr marR="0" lvl="0">
              <a:spcAft>
                <a:spcPts val="1200"/>
              </a:spcAft>
            </a:pPr>
            <a:r>
              <a:rPr lang="en-US" sz="2400" b="1" kern="0" dirty="0">
                <a:solidFill>
                  <a:srgbClr val="C00000"/>
                </a:solidFill>
                <a:effectLst/>
                <a:latin typeface="Arial" panose="020B0604020202020204" pitchFamily="34" charset="0"/>
                <a:cs typeface="Times New Roman" panose="02020603050405020304" pitchFamily="18" charset="0"/>
              </a:rPr>
              <a:t>Bad Executive Summary</a:t>
            </a:r>
          </a:p>
          <a:p>
            <a:pPr marR="0" lvl="0">
              <a:spcAft>
                <a:spcPts val="1200"/>
              </a:spcAft>
            </a:pPr>
            <a:endParaRPr lang="en-US" sz="2400" b="1" kern="0" dirty="0">
              <a:solidFill>
                <a:srgbClr val="C00000"/>
              </a:solidFill>
              <a:effectLst/>
              <a:latin typeface="Arial" panose="020B0604020202020204" pitchFamily="34" charset="0"/>
              <a:cs typeface="Times New Roman" panose="02020603050405020304" pitchFamily="18" charset="0"/>
            </a:endParaRPr>
          </a:p>
          <a:p>
            <a:pPr marR="0" lvl="0">
              <a:spcAft>
                <a:spcPts val="1200"/>
              </a:spcAft>
            </a:pPr>
            <a:r>
              <a:rPr lang="en-US" sz="2400" b="1" kern="0" dirty="0">
                <a:solidFill>
                  <a:srgbClr val="333333"/>
                </a:solidFill>
                <a:latin typeface="Arial" panose="020B0604020202020204" pitchFamily="34" charset="0"/>
                <a:cs typeface="Times New Roman" panose="02020603050405020304" pitchFamily="18" charset="0"/>
              </a:rPr>
              <a:t>1. </a:t>
            </a:r>
            <a:r>
              <a:rPr lang="en-US" sz="2400" b="1" kern="0" dirty="0">
                <a:solidFill>
                  <a:srgbClr val="333333"/>
                </a:solidFill>
                <a:effectLst/>
                <a:latin typeface="Arial" panose="020B0604020202020204" pitchFamily="34" charset="0"/>
                <a:cs typeface="Times New Roman" panose="02020603050405020304" pitchFamily="18" charset="0"/>
              </a:rPr>
              <a:t>Executive Summary</a:t>
            </a:r>
          </a:p>
          <a:p>
            <a:pPr marL="0" marR="0" algn="just">
              <a:spcAft>
                <a:spcPts val="600"/>
              </a:spcAft>
              <a:buNone/>
            </a:pPr>
            <a:r>
              <a:rPr lang="en-US" sz="2400" dirty="0">
                <a:solidFill>
                  <a:srgbClr val="000000"/>
                </a:solidFill>
                <a:effectLst/>
                <a:latin typeface="TimesNewRoman"/>
                <a:ea typeface="SimSun" panose="02010600030101010101" pitchFamily="2" charset="-122"/>
                <a:cs typeface="TimesNewRoman"/>
              </a:rPr>
              <a:t> 	</a:t>
            </a:r>
            <a:r>
              <a:rPr lang="en-US" sz="2200" dirty="0">
                <a:solidFill>
                  <a:srgbClr val="000000"/>
                </a:solidFill>
                <a:effectLst/>
                <a:latin typeface="TimesNewRoman"/>
                <a:ea typeface="SimSun" panose="02010600030101010101" pitchFamily="2" charset="-122"/>
                <a:cs typeface="TimesNewRoman"/>
              </a:rPr>
              <a:t>In a study conducted by the AAA Foundation for Traffic Safety, an estimated 21, 292 crashes were recorded in 2009-2013. Approximately 10% of those crashes involved distracted or sleepy drivers. 21% of those crashes involving a drowsy driver were fatal.  Currently even the most expensive vehicles available are not equipped with any type of system that detects when a driver falls asleep.  Some modern vehicles detect obstacles on the road and employ autonomous driving to avoid accidents, but there are currently no cars with systems that detect the activity of the driver. </a:t>
            </a:r>
            <a:endParaRPr lang="en-US" sz="2200" dirty="0">
              <a:effectLst/>
              <a:latin typeface="Times New Roman" panose="02020603050405020304" pitchFamily="18" charset="0"/>
              <a:ea typeface="SimSun" panose="02010600030101010101" pitchFamily="2" charset="-122"/>
            </a:endParaRPr>
          </a:p>
          <a:p>
            <a:pPr marL="0" marR="0" algn="just">
              <a:spcAft>
                <a:spcPts val="600"/>
              </a:spcAft>
              <a:buNone/>
            </a:pPr>
            <a:r>
              <a:rPr lang="en-US" sz="2200" dirty="0">
                <a:solidFill>
                  <a:srgbClr val="000000"/>
                </a:solidFill>
                <a:effectLst/>
                <a:latin typeface="TimesNewRoman"/>
                <a:ea typeface="SimSun" panose="02010600030101010101" pitchFamily="2" charset="-122"/>
                <a:cs typeface="TimesNewRoman"/>
              </a:rPr>
              <a:t>The main goal of this senior design project is to provide a driver monitoring system that can detect when a driver is falling asleep, and an alarm system to wake the driver up before an accident occurs. The title of the project is the Safe Driving System and it is a two-part device. The first part is an Electroencephalogram (EEG) system that analyzes the electrical activity of the brain as the drivers operate a vehicle. The second is a camera system aimed at tracking the eyes of the driver. …….</a:t>
            </a:r>
            <a:endParaRPr lang="en-US" sz="2200" dirty="0"/>
          </a:p>
        </p:txBody>
      </p:sp>
    </p:spTree>
    <p:extLst>
      <p:ext uri="{BB962C8B-B14F-4D97-AF65-F5344CB8AC3E}">
        <p14:creationId xmlns:p14="http://schemas.microsoft.com/office/powerpoint/2010/main" val="19326751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BE8E1-73EE-9444-C074-52021267220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E2C0C35-FE2F-4C09-CDA5-BD54D81C2B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5" name="TextBox 4">
            <a:extLst>
              <a:ext uri="{FF2B5EF4-FFF2-40B4-BE49-F238E27FC236}">
                <a16:creationId xmlns:a16="http://schemas.microsoft.com/office/drawing/2014/main" id="{4CDE20EF-2E36-DD50-A224-BAC99F3C489B}"/>
              </a:ext>
            </a:extLst>
          </p:cNvPr>
          <p:cNvSpPr txBox="1"/>
          <p:nvPr/>
        </p:nvSpPr>
        <p:spPr>
          <a:xfrm>
            <a:off x="152400" y="0"/>
            <a:ext cx="8915400" cy="650947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1" i="0" u="none" strike="noStrike" kern="0" cap="none" spc="0" normalizeH="0" baseline="0" noProof="0" dirty="0">
                <a:ln>
                  <a:noFill/>
                </a:ln>
                <a:solidFill>
                  <a:srgbClr val="C00000"/>
                </a:solidFill>
                <a:effectLst/>
                <a:uLnTx/>
                <a:uFillTx/>
                <a:latin typeface="Arial" panose="020B0604020202020204" pitchFamily="34" charset="0"/>
                <a:ea typeface="+mn-ea"/>
                <a:cs typeface="Times New Roman" panose="02020603050405020304" pitchFamily="18" charset="0"/>
              </a:rPr>
              <a:t>Bad Executive Summary</a:t>
            </a:r>
          </a:p>
          <a:p>
            <a:pPr marL="0" marR="0" lvl="0" indent="0" algn="l" defTabSz="914400" rtl="0" eaLnBrk="1" fontAlgn="auto" latinLnBrk="0" hangingPunct="1">
              <a:lnSpc>
                <a:spcPct val="100000"/>
              </a:lnSpc>
              <a:spcBef>
                <a:spcPts val="0"/>
              </a:spcBef>
              <a:spcAft>
                <a:spcPts val="1200"/>
              </a:spcAft>
              <a:buClrTx/>
              <a:buSzTx/>
              <a:buFontTx/>
              <a:buNone/>
              <a:tabLst/>
              <a:defRPr/>
            </a:pPr>
            <a:endParaRPr kumimoji="0" lang="en-US" sz="2400" b="1" i="0" u="none" strike="noStrike" kern="0" cap="none" spc="0" normalizeH="0" baseline="0" noProof="0" dirty="0">
              <a:ln>
                <a:noFill/>
              </a:ln>
              <a:solidFill>
                <a:srgbClr val="C00000"/>
              </a:solidFill>
              <a:effectLst/>
              <a:uLnTx/>
              <a:uFillTx/>
              <a:latin typeface="Arial" panose="020B0604020202020204" pitchFamily="34" charset="0"/>
              <a:ea typeface="+mn-e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2400" b="1" i="0" u="none" strike="noStrike" kern="0" cap="none" spc="0" normalizeH="0" baseline="0" noProof="0" dirty="0">
                <a:ln>
                  <a:noFill/>
                </a:ln>
                <a:solidFill>
                  <a:srgbClr val="333333"/>
                </a:solidFill>
                <a:effectLst/>
                <a:uLnTx/>
                <a:uFillTx/>
                <a:latin typeface="Arial" panose="020B0604020202020204" pitchFamily="34" charset="0"/>
                <a:ea typeface="+mn-ea"/>
                <a:cs typeface="Times New Roman" panose="02020603050405020304" pitchFamily="18" charset="0"/>
              </a:rPr>
              <a:t>1. Executive Summary</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0000"/>
                </a:solidFill>
                <a:effectLst/>
                <a:uLnTx/>
                <a:uFillTx/>
                <a:latin typeface="TimesNewRoman"/>
                <a:ea typeface="SimSun" panose="02010600030101010101" pitchFamily="2" charset="-122"/>
                <a:cs typeface="TimesNewRoman"/>
              </a:rPr>
              <a:t> 	</a:t>
            </a:r>
            <a:r>
              <a:rPr kumimoji="0" lang="en-US" sz="2200" b="0" i="0" u="none" strike="noStrike" kern="1200" cap="none" spc="0" normalizeH="0" baseline="0" noProof="0" dirty="0">
                <a:ln>
                  <a:noFill/>
                </a:ln>
                <a:solidFill>
                  <a:srgbClr val="000000"/>
                </a:solidFill>
                <a:effectLst/>
                <a:uLnTx/>
                <a:uFillTx/>
                <a:latin typeface="TimesNewRoman"/>
                <a:ea typeface="SimSun" panose="02010600030101010101" pitchFamily="2" charset="-122"/>
                <a:cs typeface="TimesNewRoman"/>
              </a:rPr>
              <a:t>Autonomous vehicle uses sensors and cameras to drive on its own without human interaction. Today, there is about 33 corporations working on their own implantation like Google and Uber. In February 2017, automated cars are permitted on public roads, but a human driver is behind the wheel to take over if there are any problems with the car. Self-driving cars use sensors and cameras to take the next step; for example, drive right if object detection is on the left, but is that enough. The key problem is none of these cars are aware of their surroundings, the car cannot make the right decision based just on cameras and sensors, they must make better decision than a human mind. That is where neural networks come into place. </a:t>
            </a:r>
          </a:p>
          <a:p>
            <a:pPr marL="0" marR="0" lvl="0" indent="0" algn="just" defTabSz="914400" rtl="0" eaLnBrk="1" fontAlgn="auto" latinLnBrk="0" hangingPunct="1">
              <a:lnSpc>
                <a:spcPct val="100000"/>
              </a:lnSpc>
              <a:spcBef>
                <a:spcPts val="0"/>
              </a:spcBef>
              <a:spcAft>
                <a:spcPts val="600"/>
              </a:spcAft>
              <a:buClrTx/>
              <a:buSzTx/>
              <a:buFontTx/>
              <a:buNone/>
              <a:tabLst/>
              <a:defRPr/>
            </a:pPr>
            <a:r>
              <a:rPr kumimoji="0" lang="en-US" sz="2200" b="0" i="0" u="none" strike="noStrike" kern="1200" cap="none" spc="0" normalizeH="0" baseline="0" noProof="0" dirty="0">
                <a:ln>
                  <a:noFill/>
                </a:ln>
                <a:solidFill>
                  <a:srgbClr val="000000"/>
                </a:solidFill>
                <a:effectLst/>
                <a:uLnTx/>
                <a:uFillTx/>
                <a:latin typeface="TimesNewRoman"/>
                <a:ea typeface="SimSun" panose="02010600030101010101" pitchFamily="2" charset="-122"/>
                <a:cs typeface="TimesNewRoman"/>
              </a:rPr>
              <a:t>Neural networks for short, is a human brain in a computer that can learn on its own and make accurate predictions based on its surroundings. By implementing a Neural network vehicle, the vehicle drives better with enhanced decisions.…….</a:t>
            </a:r>
            <a:endParaRPr kumimoji="0" lang="en-US" sz="2200" b="0" i="0" u="none" strike="noStrike" kern="1200" cap="none" spc="0" normalizeH="0" baseline="0" noProof="0" dirty="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2980099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317" y="625475"/>
            <a:ext cx="9144000" cy="6096000"/>
          </a:xfrm>
        </p:spPr>
        <p:txBody>
          <a:bodyPr>
            <a:normAutofit lnSpcReduction="10000"/>
          </a:bodyPr>
          <a:lstStyle/>
          <a:p>
            <a:pPr lvl="1"/>
            <a:endParaRPr lang="en-US" b="1" dirty="0"/>
          </a:p>
          <a:p>
            <a:pPr lvl="1"/>
            <a:r>
              <a:rPr lang="en-US" b="1" dirty="0"/>
              <a:t>Design Objectives and System Overview</a:t>
            </a:r>
          </a:p>
          <a:p>
            <a:r>
              <a:rPr lang="en-US" dirty="0"/>
              <a:t>This solar powered wireless charging system for electric vehicles introduces an alternative to the current way of</a:t>
            </a:r>
            <a:r>
              <a:rPr lang="en-US" sz="1800" dirty="0"/>
              <a:t> </a:t>
            </a:r>
            <a:r>
              <a:rPr lang="en-US" dirty="0"/>
              <a:t> charging electric vehicles. </a:t>
            </a:r>
            <a:r>
              <a:rPr lang="en-US" u="sng" dirty="0"/>
              <a:t>We have established an at-home wireless charging station, similar to those for mobile and handheld devices, that is powered by solar cells — installed on the roof of a home or commercial property, that removes the hassle of  having a charging cable and utilizes the convenience of wireless power transfer</a:t>
            </a:r>
            <a:r>
              <a:rPr lang="en-US" sz="1800" dirty="0"/>
              <a:t> </a:t>
            </a:r>
            <a:r>
              <a:rPr lang="en-US" u="sng" dirty="0"/>
              <a:t>. </a:t>
            </a:r>
          </a:p>
          <a:p>
            <a:pPr>
              <a:buNone/>
            </a:pPr>
            <a:endParaRPr lang="en-US" u="sng" dirty="0"/>
          </a:p>
          <a:p>
            <a:r>
              <a:rPr lang="en-US" u="sng" dirty="0"/>
              <a:t>(49 words)</a:t>
            </a:r>
            <a:endParaRPr lang="en-US" dirty="0"/>
          </a:p>
          <a:p>
            <a:endParaRPr lang="en-US"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2" name="TextBox 1">
            <a:extLst>
              <a:ext uri="{FF2B5EF4-FFF2-40B4-BE49-F238E27FC236}">
                <a16:creationId xmlns:a16="http://schemas.microsoft.com/office/drawing/2014/main" id="{FE03BCE7-39A3-493A-A78B-4D965D2CA9AF}"/>
              </a:ext>
            </a:extLst>
          </p:cNvPr>
          <p:cNvSpPr txBox="1"/>
          <p:nvPr/>
        </p:nvSpPr>
        <p:spPr>
          <a:xfrm>
            <a:off x="533400" y="228600"/>
            <a:ext cx="2133918" cy="584775"/>
          </a:xfrm>
          <a:prstGeom prst="rect">
            <a:avLst/>
          </a:prstGeom>
          <a:solidFill>
            <a:schemeClr val="accent6">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a:ea typeface="+mn-ea"/>
                <a:cs typeface="+mn-cs"/>
              </a:rPr>
              <a:t>Bad writing</a:t>
            </a:r>
          </a:p>
        </p:txBody>
      </p:sp>
      <p:sp>
        <p:nvSpPr>
          <p:cNvPr id="6" name="Rectangle 5">
            <a:extLst>
              <a:ext uri="{FF2B5EF4-FFF2-40B4-BE49-F238E27FC236}">
                <a16:creationId xmlns:a16="http://schemas.microsoft.com/office/drawing/2014/main" id="{FFAF03E5-564F-4021-92CC-858B4B56B87F}"/>
              </a:ext>
            </a:extLst>
          </p:cNvPr>
          <p:cNvSpPr/>
          <p:nvPr/>
        </p:nvSpPr>
        <p:spPr>
          <a:xfrm>
            <a:off x="7200900" y="5771050"/>
            <a:ext cx="952500" cy="7620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Times New Roman"/>
                <a:ea typeface="+mn-ea"/>
                <a:cs typeface="+mn-cs"/>
              </a:rPr>
              <a:t>C-</a:t>
            </a:r>
          </a:p>
        </p:txBody>
      </p:sp>
    </p:spTree>
    <p:extLst>
      <p:ext uri="{BB962C8B-B14F-4D97-AF65-F5344CB8AC3E}">
        <p14:creationId xmlns:p14="http://schemas.microsoft.com/office/powerpoint/2010/main" val="20022292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 y="591893"/>
            <a:ext cx="9144000" cy="5943600"/>
          </a:xfrm>
        </p:spPr>
        <p:txBody>
          <a:bodyPr>
            <a:normAutofit/>
          </a:bodyPr>
          <a:lstStyle/>
          <a:p>
            <a:pPr>
              <a:lnSpc>
                <a:spcPct val="150000"/>
              </a:lnSpc>
            </a:pPr>
            <a:r>
              <a:rPr lang="en-US" dirty="0"/>
              <a:t>The movement towards everything being wireless is current being put in effective . When considering wireless applications wireless power transfer is a very big subject . Toothbrushes have used this technology for years now and now phones have all recently been built to receive power wirelessly but now the new application is for electric vehicles due to them sprouting worldwide .  </a:t>
            </a:r>
          </a:p>
          <a:p>
            <a:pPr>
              <a:lnSpc>
                <a:spcPct val="150000"/>
              </a:lnSpc>
            </a:pPr>
            <a:endParaRPr lang="en-US" dirty="0"/>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dirty="0">
              <a:ln>
                <a:noFill/>
              </a:ln>
              <a:solidFill>
                <a:prstClr val="black">
                  <a:tint val="75000"/>
                </a:prstClr>
              </a:solidFill>
              <a:effectLst/>
              <a:uLnTx/>
              <a:uFillTx/>
              <a:latin typeface="Times New Roman"/>
              <a:ea typeface="+mn-ea"/>
              <a:cs typeface="+mn-cs"/>
            </a:endParaRPr>
          </a:p>
        </p:txBody>
      </p:sp>
      <p:sp>
        <p:nvSpPr>
          <p:cNvPr id="6" name="TextBox 5">
            <a:extLst>
              <a:ext uri="{FF2B5EF4-FFF2-40B4-BE49-F238E27FC236}">
                <a16:creationId xmlns:a16="http://schemas.microsoft.com/office/drawing/2014/main" id="{0C9C847E-E478-4494-A229-F88232576D72}"/>
              </a:ext>
            </a:extLst>
          </p:cNvPr>
          <p:cNvSpPr txBox="1"/>
          <p:nvPr/>
        </p:nvSpPr>
        <p:spPr>
          <a:xfrm>
            <a:off x="533400" y="52754"/>
            <a:ext cx="2133918" cy="584775"/>
          </a:xfrm>
          <a:prstGeom prst="rect">
            <a:avLst/>
          </a:prstGeom>
          <a:solidFill>
            <a:schemeClr val="accent6">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a:ea typeface="+mn-ea"/>
                <a:cs typeface="+mn-cs"/>
              </a:rPr>
              <a:t>Bad writing</a:t>
            </a:r>
          </a:p>
        </p:txBody>
      </p:sp>
      <p:sp>
        <p:nvSpPr>
          <p:cNvPr id="7" name="Rectangle 6">
            <a:extLst>
              <a:ext uri="{FF2B5EF4-FFF2-40B4-BE49-F238E27FC236}">
                <a16:creationId xmlns:a16="http://schemas.microsoft.com/office/drawing/2014/main" id="{E71A4AC2-F664-4A1B-82A7-EDC3ABEC689F}"/>
              </a:ext>
            </a:extLst>
          </p:cNvPr>
          <p:cNvSpPr/>
          <p:nvPr/>
        </p:nvSpPr>
        <p:spPr>
          <a:xfrm>
            <a:off x="7200900" y="5867400"/>
            <a:ext cx="838200" cy="7620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Times New Roman"/>
                <a:ea typeface="+mn-ea"/>
                <a:cs typeface="+mn-cs"/>
              </a:rPr>
              <a:t>D</a:t>
            </a:r>
          </a:p>
        </p:txBody>
      </p:sp>
    </p:spTree>
    <p:extLst>
      <p:ext uri="{BB962C8B-B14F-4D97-AF65-F5344CB8AC3E}">
        <p14:creationId xmlns:p14="http://schemas.microsoft.com/office/powerpoint/2010/main" val="2176944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84421"/>
            <a:ext cx="9144000" cy="6858000"/>
          </a:xfrm>
        </p:spPr>
        <p:txBody>
          <a:bodyPr>
            <a:normAutofit/>
          </a:bodyPr>
          <a:lstStyle/>
          <a:p>
            <a:pPr>
              <a:lnSpc>
                <a:spcPct val="150000"/>
              </a:lnSpc>
            </a:pPr>
            <a:r>
              <a:rPr lang="en-US" sz="2800" dirty="0"/>
              <a:t>The Pick and Place robot </a:t>
            </a:r>
            <a:r>
              <a:rPr lang="en-US" sz="2800" dirty="0">
                <a:highlight>
                  <a:srgbClr val="FFFF00"/>
                </a:highlight>
              </a:rPr>
              <a:t>is</a:t>
            </a:r>
            <a:r>
              <a:rPr lang="en-US" sz="2800" dirty="0"/>
              <a:t> a smart machine </a:t>
            </a:r>
            <a:r>
              <a:rPr lang="en-US" sz="2800" dirty="0">
                <a:highlight>
                  <a:srgbClr val="FFFF00"/>
                </a:highlight>
              </a:rPr>
              <a:t>is</a:t>
            </a:r>
            <a:r>
              <a:rPr lang="en-US" sz="2800" dirty="0"/>
              <a:t> designed for great changes and advantage to our life. Many problems have been solved by robot and our life quality has been elevated to a level that our ancestors may have never dreamed of. A robot can work 24 hours a day for years on end with no failures whatsoever. Though it is reprogrammable, in many app. It is programmed once and then repeat that exact same task for years.</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TextBox 5">
            <a:extLst>
              <a:ext uri="{FF2B5EF4-FFF2-40B4-BE49-F238E27FC236}">
                <a16:creationId xmlns:a16="http://schemas.microsoft.com/office/drawing/2014/main" id="{0C9C847E-E478-4494-A229-F88232576D72}"/>
              </a:ext>
            </a:extLst>
          </p:cNvPr>
          <p:cNvSpPr txBox="1"/>
          <p:nvPr/>
        </p:nvSpPr>
        <p:spPr>
          <a:xfrm>
            <a:off x="533400" y="76200"/>
            <a:ext cx="3011787" cy="584775"/>
          </a:xfrm>
          <a:prstGeom prst="rect">
            <a:avLst/>
          </a:prstGeom>
          <a:solidFill>
            <a:schemeClr val="accent6">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a:ea typeface="+mn-ea"/>
                <a:cs typeface="+mn-cs"/>
              </a:rPr>
              <a:t>Very Bad writing</a:t>
            </a:r>
          </a:p>
        </p:txBody>
      </p:sp>
      <p:sp>
        <p:nvSpPr>
          <p:cNvPr id="7" name="Rectangle 6">
            <a:extLst>
              <a:ext uri="{FF2B5EF4-FFF2-40B4-BE49-F238E27FC236}">
                <a16:creationId xmlns:a16="http://schemas.microsoft.com/office/drawing/2014/main" id="{9BDEE1C8-CA75-482B-88B8-A990D64CC881}"/>
              </a:ext>
            </a:extLst>
          </p:cNvPr>
          <p:cNvSpPr/>
          <p:nvPr/>
        </p:nvSpPr>
        <p:spPr>
          <a:xfrm>
            <a:off x="7200900" y="5771050"/>
            <a:ext cx="838200" cy="7620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Times New Roman"/>
                <a:ea typeface="+mn-ea"/>
                <a:cs typeface="+mn-cs"/>
              </a:rPr>
              <a:t>F</a:t>
            </a:r>
          </a:p>
        </p:txBody>
      </p:sp>
    </p:spTree>
    <p:extLst>
      <p:ext uri="{BB962C8B-B14F-4D97-AF65-F5344CB8AC3E}">
        <p14:creationId xmlns:p14="http://schemas.microsoft.com/office/powerpoint/2010/main" val="24817719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E2281FE-2573-49AB-9C2F-204237935FC5}"/>
              </a:ext>
            </a:extLst>
          </p:cNvPr>
          <p:cNvSpPr>
            <a:spLocks noGrp="1"/>
          </p:cNvSpPr>
          <p:nvPr>
            <p:ph type="subTitle" idx="1"/>
          </p:nvPr>
        </p:nvSpPr>
        <p:spPr>
          <a:xfrm>
            <a:off x="228600" y="793750"/>
            <a:ext cx="8686800" cy="5562600"/>
          </a:xfrm>
        </p:spPr>
        <p:txBody>
          <a:bodyPr>
            <a:normAutofit fontScale="92500" lnSpcReduction="10000"/>
          </a:bodyPr>
          <a:lstStyle/>
          <a:p>
            <a:pPr algn="l">
              <a:lnSpc>
                <a:spcPct val="150000"/>
              </a:lnSpc>
            </a:pPr>
            <a:endParaRPr lang="en-US" dirty="0">
              <a:solidFill>
                <a:schemeClr val="tx1"/>
              </a:solidFill>
            </a:endParaRPr>
          </a:p>
          <a:p>
            <a:pPr algn="l">
              <a:lnSpc>
                <a:spcPct val="150000"/>
              </a:lnSpc>
            </a:pPr>
            <a:r>
              <a:rPr lang="en-US" dirty="0">
                <a:solidFill>
                  <a:schemeClr val="tx1"/>
                </a:solidFill>
              </a:rPr>
              <a:t>For the further details, when the camera receive the signals from phone app, it will identify which </a:t>
            </a:r>
            <a:r>
              <a:rPr lang="en-US" dirty="0">
                <a:solidFill>
                  <a:schemeClr val="tx1"/>
                </a:solidFill>
                <a:highlight>
                  <a:srgbClr val="FFFF00"/>
                </a:highlight>
              </a:rPr>
              <a:t>staff </a:t>
            </a:r>
            <a:r>
              <a:rPr lang="en-US" dirty="0">
                <a:solidFill>
                  <a:schemeClr val="tx1"/>
                </a:solidFill>
              </a:rPr>
              <a:t>from the users instructions. The camera pass signals back to microcontroller and start to move the grabber to pick the </a:t>
            </a:r>
            <a:r>
              <a:rPr lang="en-US" dirty="0">
                <a:solidFill>
                  <a:schemeClr val="tx1"/>
                </a:solidFill>
                <a:highlight>
                  <a:srgbClr val="FFFF00"/>
                </a:highlight>
              </a:rPr>
              <a:t>staff</a:t>
            </a:r>
            <a:r>
              <a:rPr lang="en-US" dirty="0">
                <a:solidFill>
                  <a:schemeClr val="tx1"/>
                </a:solidFill>
              </a:rPr>
              <a:t>. In the meantime, the robot will move up through motor. Finally, we will place the </a:t>
            </a:r>
            <a:r>
              <a:rPr lang="en-US" dirty="0">
                <a:solidFill>
                  <a:schemeClr val="tx1"/>
                </a:solidFill>
                <a:highlight>
                  <a:srgbClr val="FFFF00"/>
                </a:highlight>
              </a:rPr>
              <a:t>staff</a:t>
            </a:r>
            <a:r>
              <a:rPr lang="en-US" dirty="0">
                <a:solidFill>
                  <a:schemeClr val="tx1"/>
                </a:solidFill>
              </a:rPr>
              <a:t> where we suppose to.</a:t>
            </a:r>
          </a:p>
        </p:txBody>
      </p:sp>
      <p:sp>
        <p:nvSpPr>
          <p:cNvPr id="5" name="Slide Number Placeholder 4">
            <a:extLst>
              <a:ext uri="{FF2B5EF4-FFF2-40B4-BE49-F238E27FC236}">
                <a16:creationId xmlns:a16="http://schemas.microsoft.com/office/drawing/2014/main" id="{8BC38539-2D29-48B0-93F8-459EF0EABF3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6" name="Rectangle 5">
            <a:extLst>
              <a:ext uri="{FF2B5EF4-FFF2-40B4-BE49-F238E27FC236}">
                <a16:creationId xmlns:a16="http://schemas.microsoft.com/office/drawing/2014/main" id="{812A9663-CCA0-413A-AE1D-1CE445D697FE}"/>
              </a:ext>
            </a:extLst>
          </p:cNvPr>
          <p:cNvSpPr/>
          <p:nvPr/>
        </p:nvSpPr>
        <p:spPr>
          <a:xfrm>
            <a:off x="7200900" y="5771050"/>
            <a:ext cx="838200" cy="762000"/>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C00000"/>
                </a:solidFill>
                <a:effectLst/>
                <a:uLnTx/>
                <a:uFillTx/>
                <a:latin typeface="Times New Roman"/>
                <a:ea typeface="+mn-ea"/>
                <a:cs typeface="+mn-cs"/>
              </a:rPr>
              <a:t>F</a:t>
            </a:r>
          </a:p>
        </p:txBody>
      </p:sp>
      <p:sp>
        <p:nvSpPr>
          <p:cNvPr id="7" name="TextBox 6">
            <a:extLst>
              <a:ext uri="{FF2B5EF4-FFF2-40B4-BE49-F238E27FC236}">
                <a16:creationId xmlns:a16="http://schemas.microsoft.com/office/drawing/2014/main" id="{6064D1D5-8EA9-4C6D-B2AB-172DBAAF923A}"/>
              </a:ext>
            </a:extLst>
          </p:cNvPr>
          <p:cNvSpPr txBox="1"/>
          <p:nvPr/>
        </p:nvSpPr>
        <p:spPr>
          <a:xfrm>
            <a:off x="533400" y="52754"/>
            <a:ext cx="3011787" cy="584775"/>
          </a:xfrm>
          <a:prstGeom prst="rect">
            <a:avLst/>
          </a:prstGeom>
          <a:solidFill>
            <a:schemeClr val="accent6">
              <a:lumMod val="40000"/>
              <a:lumOff val="60000"/>
            </a:schemeClr>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a:ea typeface="+mn-ea"/>
                <a:cs typeface="+mn-cs"/>
              </a:rPr>
              <a:t>Very Bad writing</a:t>
            </a:r>
          </a:p>
        </p:txBody>
      </p:sp>
    </p:spTree>
    <p:extLst>
      <p:ext uri="{BB962C8B-B14F-4D97-AF65-F5344CB8AC3E}">
        <p14:creationId xmlns:p14="http://schemas.microsoft.com/office/powerpoint/2010/main" val="30732071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Limitations</a:t>
            </a:r>
            <a:r>
              <a:rPr lang="en-US" dirty="0"/>
              <a:t> of AI</a:t>
            </a:r>
            <a:endParaRPr dirty="0"/>
          </a:p>
        </p:txBody>
      </p:sp>
      <p:sp>
        <p:nvSpPr>
          <p:cNvPr id="3" name="Content Placeholder 2"/>
          <p:cNvSpPr>
            <a:spLocks noGrp="1"/>
          </p:cNvSpPr>
          <p:nvPr>
            <p:ph idx="1"/>
          </p:nvPr>
        </p:nvSpPr>
        <p:spPr/>
        <p:txBody>
          <a:bodyPr/>
          <a:lstStyle/>
          <a:p>
            <a:r>
              <a:rPr dirty="0"/>
              <a:t>AI is powerful but imperfect</a:t>
            </a:r>
          </a:p>
          <a:p>
            <a:r>
              <a:rPr dirty="0"/>
              <a:t>Cannot replace human judgment</a:t>
            </a:r>
          </a:p>
          <a:p>
            <a:r>
              <a:rPr dirty="0"/>
              <a:t>Needs careful supervision</a:t>
            </a:r>
          </a:p>
          <a:p>
            <a:r>
              <a:rPr dirty="0"/>
              <a:t>Risk of overreliance</a:t>
            </a:r>
          </a:p>
          <a:p>
            <a:r>
              <a:rPr dirty="0"/>
              <a:t>Ethical concerns arise</a:t>
            </a:r>
          </a:p>
          <a:p>
            <a:r>
              <a:rPr dirty="0"/>
              <a:t>Critical evaluation required</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1 – Accuracy Issues</a:t>
            </a:r>
          </a:p>
        </p:txBody>
      </p:sp>
      <p:sp>
        <p:nvSpPr>
          <p:cNvPr id="3" name="Content Placeholder 2"/>
          <p:cNvSpPr>
            <a:spLocks noGrp="1"/>
          </p:cNvSpPr>
          <p:nvPr>
            <p:ph idx="1"/>
          </p:nvPr>
        </p:nvSpPr>
        <p:spPr/>
        <p:txBody>
          <a:bodyPr/>
          <a:lstStyle/>
          <a:p>
            <a:r>
              <a:t>AI may produce incorrect info</a:t>
            </a:r>
          </a:p>
          <a:p>
            <a:r>
              <a:t>Example: wrong circuit explanation</a:t>
            </a:r>
          </a:p>
          <a:p>
            <a:r>
              <a:t>Example: incorrect formulas</a:t>
            </a:r>
          </a:p>
          <a:p>
            <a:r>
              <a:t>Hallucinated references</a:t>
            </a:r>
          </a:p>
          <a:p>
            <a:r>
              <a:t>Requires verification</a:t>
            </a:r>
          </a:p>
          <a:p>
            <a:r>
              <a:t>Risk in technical reports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2 – Loss of Learning</a:t>
            </a:r>
          </a:p>
        </p:txBody>
      </p:sp>
      <p:sp>
        <p:nvSpPr>
          <p:cNvPr id="3" name="Content Placeholder 2"/>
          <p:cNvSpPr>
            <a:spLocks noGrp="1"/>
          </p:cNvSpPr>
          <p:nvPr>
            <p:ph idx="1"/>
          </p:nvPr>
        </p:nvSpPr>
        <p:spPr/>
        <p:txBody>
          <a:bodyPr/>
          <a:lstStyle/>
          <a:p>
            <a:r>
              <a:t>Students may skip thinking</a:t>
            </a:r>
          </a:p>
          <a:p>
            <a:r>
              <a:t>Overreliance reduces skill development</a:t>
            </a:r>
          </a:p>
          <a:p>
            <a:r>
              <a:t>Example: copying AI-generated text</a:t>
            </a:r>
          </a:p>
          <a:p>
            <a:r>
              <a:t>Weakens critical reasoning</a:t>
            </a:r>
          </a:p>
          <a:p>
            <a:r>
              <a:t>Less engagement with material</a:t>
            </a:r>
          </a:p>
          <a:p>
            <a:r>
              <a:t>Impacts long-term competence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3 – Plagiarism Risks</a:t>
            </a:r>
          </a:p>
        </p:txBody>
      </p:sp>
      <p:sp>
        <p:nvSpPr>
          <p:cNvPr id="3" name="Content Placeholder 2"/>
          <p:cNvSpPr>
            <a:spLocks noGrp="1"/>
          </p:cNvSpPr>
          <p:nvPr>
            <p:ph idx="1"/>
          </p:nvPr>
        </p:nvSpPr>
        <p:spPr/>
        <p:txBody>
          <a:bodyPr/>
          <a:lstStyle/>
          <a:p>
            <a:r>
              <a:t>AI-generated text may be reused</a:t>
            </a:r>
          </a:p>
          <a:p>
            <a:r>
              <a:t>Difficult to detect originality</a:t>
            </a:r>
          </a:p>
          <a:p>
            <a:r>
              <a:t>Example: identical lab reports</a:t>
            </a:r>
          </a:p>
          <a:p>
            <a:r>
              <a:t>Violates academic integrity</a:t>
            </a:r>
          </a:p>
          <a:p>
            <a:r>
              <a:t>Challenges grading fairness</a:t>
            </a:r>
          </a:p>
          <a:p>
            <a:r>
              <a:t>Requires clear policies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4 – Superficial Writing</a:t>
            </a:r>
          </a:p>
        </p:txBody>
      </p:sp>
      <p:sp>
        <p:nvSpPr>
          <p:cNvPr id="3" name="Content Placeholder 2"/>
          <p:cNvSpPr>
            <a:spLocks noGrp="1"/>
          </p:cNvSpPr>
          <p:nvPr>
            <p:ph idx="1"/>
          </p:nvPr>
        </p:nvSpPr>
        <p:spPr/>
        <p:txBody>
          <a:bodyPr/>
          <a:lstStyle/>
          <a:p>
            <a:r>
              <a:t>AI produces generic explanations</a:t>
            </a:r>
          </a:p>
          <a:p>
            <a:r>
              <a:t>Lacks depth and originality</a:t>
            </a:r>
          </a:p>
          <a:p>
            <a:r>
              <a:t>Example: vague system descriptions</a:t>
            </a:r>
          </a:p>
          <a:p>
            <a:r>
              <a:t>Misses project-specific details</a:t>
            </a:r>
          </a:p>
          <a:p>
            <a:r>
              <a:t>Reduces technical precision</a:t>
            </a:r>
          </a:p>
          <a:p>
            <a:r>
              <a:t>Needs student refinement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5 – Context Limitations</a:t>
            </a:r>
          </a:p>
        </p:txBody>
      </p:sp>
      <p:sp>
        <p:nvSpPr>
          <p:cNvPr id="3" name="Content Placeholder 2"/>
          <p:cNvSpPr>
            <a:spLocks noGrp="1"/>
          </p:cNvSpPr>
          <p:nvPr>
            <p:ph idx="1"/>
          </p:nvPr>
        </p:nvSpPr>
        <p:spPr/>
        <p:txBody>
          <a:bodyPr/>
          <a:lstStyle/>
          <a:p>
            <a:r>
              <a:t>AI lacks full project context</a:t>
            </a:r>
          </a:p>
          <a:p>
            <a:r>
              <a:t>Example: misinterpreting design goals</a:t>
            </a:r>
          </a:p>
          <a:p>
            <a:r>
              <a:t>Example: wrong assumptions</a:t>
            </a:r>
          </a:p>
          <a:p>
            <a:r>
              <a:t>Cannot access real lab setup</a:t>
            </a:r>
          </a:p>
          <a:p>
            <a:r>
              <a:t>May misrepresent results</a:t>
            </a:r>
          </a:p>
          <a:p>
            <a:r>
              <a:t>Requires human correction</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6 – Ethical Concerns</a:t>
            </a:r>
          </a:p>
        </p:txBody>
      </p:sp>
      <p:sp>
        <p:nvSpPr>
          <p:cNvPr id="3" name="Content Placeholder 2"/>
          <p:cNvSpPr>
            <a:spLocks noGrp="1"/>
          </p:cNvSpPr>
          <p:nvPr>
            <p:ph idx="1"/>
          </p:nvPr>
        </p:nvSpPr>
        <p:spPr/>
        <p:txBody>
          <a:bodyPr/>
          <a:lstStyle/>
          <a:p>
            <a:r>
              <a:t>Ownership of AI-generated work</a:t>
            </a:r>
          </a:p>
          <a:p>
            <a:r>
              <a:t>Transparency in usage</a:t>
            </a:r>
          </a:p>
          <a:p>
            <a:r>
              <a:t>Bias in AI outputs</a:t>
            </a:r>
          </a:p>
          <a:p>
            <a:r>
              <a:t>Responsibility for errors</a:t>
            </a:r>
          </a:p>
          <a:p>
            <a:r>
              <a:t>Professional accountability</a:t>
            </a:r>
          </a:p>
          <a:p>
            <a:r>
              <a:t>Need for disclosure policies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7 – Assessment Challenges</a:t>
            </a:r>
          </a:p>
        </p:txBody>
      </p:sp>
      <p:sp>
        <p:nvSpPr>
          <p:cNvPr id="3" name="Content Placeholder 2"/>
          <p:cNvSpPr>
            <a:spLocks noGrp="1"/>
          </p:cNvSpPr>
          <p:nvPr>
            <p:ph idx="1"/>
          </p:nvPr>
        </p:nvSpPr>
        <p:spPr/>
        <p:txBody>
          <a:bodyPr/>
          <a:lstStyle/>
          <a:p>
            <a:r>
              <a:t>Hard to evaluate student work</a:t>
            </a:r>
          </a:p>
          <a:p>
            <a:r>
              <a:t>Who wrote the report?</a:t>
            </a:r>
          </a:p>
          <a:p>
            <a:r>
              <a:t>AI vs student contribution</a:t>
            </a:r>
          </a:p>
          <a:p>
            <a:r>
              <a:t>Example: identical structures</a:t>
            </a:r>
          </a:p>
          <a:p>
            <a:r>
              <a:t>Requires new assessment methods</a:t>
            </a:r>
          </a:p>
          <a:p>
            <a:r>
              <a:t>Oral exams may be needed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 8 – Overconfidence</a:t>
            </a:r>
          </a:p>
        </p:txBody>
      </p:sp>
      <p:sp>
        <p:nvSpPr>
          <p:cNvPr id="3" name="Content Placeholder 2"/>
          <p:cNvSpPr>
            <a:spLocks noGrp="1"/>
          </p:cNvSpPr>
          <p:nvPr>
            <p:ph idx="1"/>
          </p:nvPr>
        </p:nvSpPr>
        <p:spPr/>
        <p:txBody>
          <a:bodyPr/>
          <a:lstStyle/>
          <a:p>
            <a:r>
              <a:t>AI outputs appear authoritative</a:t>
            </a:r>
          </a:p>
          <a:p>
            <a:r>
              <a:t>Students may trust blindly</a:t>
            </a:r>
          </a:p>
          <a:p>
            <a:r>
              <a:t>Example: incorrect calculations accepted</a:t>
            </a:r>
          </a:p>
          <a:p>
            <a:r>
              <a:t>Reduces skepticism</a:t>
            </a:r>
          </a:p>
          <a:p>
            <a:r>
              <a:t>Danger in engineering contexts</a:t>
            </a:r>
          </a:p>
          <a:p>
            <a:r>
              <a:t>Encourage verification habits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 1 – Guided Use</a:t>
            </a:r>
          </a:p>
        </p:txBody>
      </p:sp>
      <p:sp>
        <p:nvSpPr>
          <p:cNvPr id="3" name="Content Placeholder 2"/>
          <p:cNvSpPr>
            <a:spLocks noGrp="1"/>
          </p:cNvSpPr>
          <p:nvPr>
            <p:ph idx="1"/>
          </p:nvPr>
        </p:nvSpPr>
        <p:spPr/>
        <p:txBody>
          <a:bodyPr/>
          <a:lstStyle/>
          <a:p>
            <a:r>
              <a:t>Allow AI for brainstorming only</a:t>
            </a:r>
          </a:p>
          <a:p>
            <a:r>
              <a:t>Require drafts and revisions</a:t>
            </a:r>
          </a:p>
          <a:p>
            <a:r>
              <a:t>Students must justify content</a:t>
            </a:r>
          </a:p>
          <a:p>
            <a:r>
              <a:t>Use AI as assistant, not author</a:t>
            </a:r>
          </a:p>
          <a:p>
            <a:r>
              <a:t>Encourage critical evaluation</a:t>
            </a:r>
          </a:p>
          <a:p>
            <a:r>
              <a:t>Provide clear instructions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Best Practice 2 – Verification</a:t>
            </a:r>
          </a:p>
        </p:txBody>
      </p:sp>
      <p:sp>
        <p:nvSpPr>
          <p:cNvPr id="3" name="Content Placeholder 2"/>
          <p:cNvSpPr>
            <a:spLocks noGrp="1"/>
          </p:cNvSpPr>
          <p:nvPr>
            <p:ph idx="1"/>
          </p:nvPr>
        </p:nvSpPr>
        <p:spPr/>
        <p:txBody>
          <a:bodyPr/>
          <a:lstStyle/>
          <a:p>
            <a:r>
              <a:t>Require source checking</a:t>
            </a:r>
          </a:p>
          <a:p>
            <a:r>
              <a:t>Cross-check formulas and data</a:t>
            </a:r>
          </a:p>
          <a:p>
            <a:r>
              <a:t>Example: verify circuit analysis</a:t>
            </a:r>
          </a:p>
          <a:p>
            <a:r>
              <a:t>Encourage manual calculations</a:t>
            </a:r>
          </a:p>
          <a:p>
            <a:r>
              <a:t>Use multiple references</a:t>
            </a:r>
          </a:p>
          <a:p>
            <a:r>
              <a:t>Develop validation skills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Best Practice 3 – Assessment Design</a:t>
            </a:r>
          </a:p>
        </p:txBody>
      </p:sp>
      <p:sp>
        <p:nvSpPr>
          <p:cNvPr id="3" name="Content Placeholder 2"/>
          <p:cNvSpPr>
            <a:spLocks noGrp="1"/>
          </p:cNvSpPr>
          <p:nvPr>
            <p:ph idx="1"/>
          </p:nvPr>
        </p:nvSpPr>
        <p:spPr/>
        <p:txBody>
          <a:bodyPr/>
          <a:lstStyle/>
          <a:p>
            <a:r>
              <a:t>Use in-class writing tasks</a:t>
            </a:r>
          </a:p>
          <a:p>
            <a:r>
              <a:t>Oral presentations of reports</a:t>
            </a:r>
          </a:p>
          <a:p>
            <a:r>
              <a:t>Explain design decisions</a:t>
            </a:r>
          </a:p>
          <a:p>
            <a:r>
              <a:t>Compare drafts and final work</a:t>
            </a:r>
          </a:p>
          <a:p>
            <a:r>
              <a:t>Focus on process, not just product</a:t>
            </a:r>
          </a:p>
          <a:p>
            <a:r>
              <a:t>Encourage originality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AI offers significant advantages</a:t>
            </a:r>
          </a:p>
          <a:p>
            <a:r>
              <a:t>Improves efficiency and clarity</a:t>
            </a:r>
          </a:p>
          <a:p>
            <a:r>
              <a:t>But introduces serious risks</a:t>
            </a:r>
          </a:p>
          <a:p>
            <a:r>
              <a:t>Requires structured integration</a:t>
            </a:r>
          </a:p>
          <a:p>
            <a:r>
              <a:t>Balance benefits and limitations</a:t>
            </a:r>
          </a:p>
          <a:p>
            <a:r>
              <a:t>Prepare students responsibly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C99A2-B967-4F30-9C1D-7BFF108F921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9DF07299-D22C-4548-AAF9-14CCE72678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pic>
        <p:nvPicPr>
          <p:cNvPr id="6" name="Picture 5">
            <a:extLst>
              <a:ext uri="{FF2B5EF4-FFF2-40B4-BE49-F238E27FC236}">
                <a16:creationId xmlns:a16="http://schemas.microsoft.com/office/drawing/2014/main" id="{12DFBD5D-F8F5-422F-9490-1A46CF8F7B9A}"/>
              </a:ext>
            </a:extLst>
          </p:cNvPr>
          <p:cNvPicPr>
            <a:picLocks noChangeAspect="1"/>
          </p:cNvPicPr>
          <p:nvPr/>
        </p:nvPicPr>
        <p:blipFill>
          <a:blip r:embed="rId2"/>
          <a:stretch>
            <a:fillRect/>
          </a:stretch>
        </p:blipFill>
        <p:spPr>
          <a:xfrm>
            <a:off x="744957" y="1752600"/>
            <a:ext cx="7654085" cy="3581400"/>
          </a:xfrm>
          <a:prstGeom prst="rect">
            <a:avLst/>
          </a:prstGeom>
        </p:spPr>
      </p:pic>
      <p:sp>
        <p:nvSpPr>
          <p:cNvPr id="9" name="TextBox 8">
            <a:extLst>
              <a:ext uri="{FF2B5EF4-FFF2-40B4-BE49-F238E27FC236}">
                <a16:creationId xmlns:a16="http://schemas.microsoft.com/office/drawing/2014/main" id="{02BE4AAA-A1AD-424D-B52C-8E1651A7A98D}"/>
              </a:ext>
            </a:extLst>
          </p:cNvPr>
          <p:cNvSpPr txBox="1"/>
          <p:nvPr/>
        </p:nvSpPr>
        <p:spPr>
          <a:xfrm>
            <a:off x="662354" y="5437412"/>
            <a:ext cx="4572000" cy="95410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Times New Roman"/>
                <a:ea typeface="+mn-ea"/>
                <a:cs typeface="+mn-cs"/>
              </a:rPr>
              <a:t>A robotic arm block diagram and its components </a:t>
            </a:r>
          </a:p>
        </p:txBody>
      </p:sp>
      <p:sp>
        <p:nvSpPr>
          <p:cNvPr id="2" name="TextBox 1">
            <a:extLst>
              <a:ext uri="{FF2B5EF4-FFF2-40B4-BE49-F238E27FC236}">
                <a16:creationId xmlns:a16="http://schemas.microsoft.com/office/drawing/2014/main" id="{A6DFA0CB-1A2D-4194-8422-1E15B7F4AF07}"/>
              </a:ext>
            </a:extLst>
          </p:cNvPr>
          <p:cNvSpPr txBox="1"/>
          <p:nvPr/>
        </p:nvSpPr>
        <p:spPr>
          <a:xfrm>
            <a:off x="76200" y="346305"/>
            <a:ext cx="8686799" cy="95410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C00000"/>
                </a:solidFill>
                <a:effectLst/>
                <a:uLnTx/>
                <a:uFillTx/>
                <a:latin typeface="Times New Roman"/>
                <a:ea typeface="+mn-ea"/>
                <a:cs typeface="+mn-cs"/>
              </a:rPr>
              <a:t>Technical writing is like a design project: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800" b="1" dirty="0">
                <a:solidFill>
                  <a:srgbClr val="C00000"/>
                </a:solidFill>
                <a:latin typeface="Times New Roman"/>
              </a:rPr>
              <a:t>Organize &amp; Categorize the Content</a:t>
            </a:r>
            <a:r>
              <a:rPr kumimoji="0" lang="en-US" sz="2800" b="1" i="0" u="none" strike="noStrike" kern="1200" cap="none" spc="0" normalizeH="0" baseline="0" noProof="0" dirty="0">
                <a:ln>
                  <a:noFill/>
                </a:ln>
                <a:solidFill>
                  <a:srgbClr val="C00000"/>
                </a:solidFill>
                <a:effectLst/>
                <a:uLnTx/>
                <a:uFillTx/>
                <a:latin typeface="Times New Roman"/>
                <a:ea typeface="+mn-ea"/>
                <a:cs typeface="+mn-cs"/>
              </a:rPr>
              <a:t> </a:t>
            </a:r>
          </a:p>
        </p:txBody>
      </p:sp>
    </p:spTree>
    <p:extLst>
      <p:ext uri="{BB962C8B-B14F-4D97-AF65-F5344CB8AC3E}">
        <p14:creationId xmlns:p14="http://schemas.microsoft.com/office/powerpoint/2010/main" val="10220014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CA4EC08-4856-4098-9EB4-B9463244722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92FA860A-BA0C-4F4B-BEE1-B6A87592D8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
        <p:nvSpPr>
          <p:cNvPr id="7" name="TextBox 6">
            <a:extLst>
              <a:ext uri="{FF2B5EF4-FFF2-40B4-BE49-F238E27FC236}">
                <a16:creationId xmlns:a16="http://schemas.microsoft.com/office/drawing/2014/main" id="{7C5B7087-5F21-44CD-A88D-C7CBA2E56F64}"/>
              </a:ext>
            </a:extLst>
          </p:cNvPr>
          <p:cNvSpPr txBox="1"/>
          <p:nvPr/>
        </p:nvSpPr>
        <p:spPr>
          <a:xfrm>
            <a:off x="86564" y="228600"/>
            <a:ext cx="7954386"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Times New Roman"/>
                <a:ea typeface="+mn-ea"/>
                <a:cs typeface="+mn-cs"/>
              </a:rPr>
              <a:t>Think of a motherboard: Every component has a specific value and is there for a specific function </a:t>
            </a:r>
          </a:p>
        </p:txBody>
      </p:sp>
      <p:pic>
        <p:nvPicPr>
          <p:cNvPr id="9" name="Picture 8">
            <a:extLst>
              <a:ext uri="{FF2B5EF4-FFF2-40B4-BE49-F238E27FC236}">
                <a16:creationId xmlns:a16="http://schemas.microsoft.com/office/drawing/2014/main" id="{51D2B191-6DF0-4F7A-A00B-DB7181F11B67}"/>
              </a:ext>
            </a:extLst>
          </p:cNvPr>
          <p:cNvPicPr>
            <a:picLocks noChangeAspect="1"/>
          </p:cNvPicPr>
          <p:nvPr/>
        </p:nvPicPr>
        <p:blipFill>
          <a:blip r:embed="rId2"/>
          <a:stretch>
            <a:fillRect/>
          </a:stretch>
        </p:blipFill>
        <p:spPr>
          <a:xfrm rot="5400000">
            <a:off x="257628" y="954369"/>
            <a:ext cx="4209143" cy="4419600"/>
          </a:xfrm>
          <a:prstGeom prst="rect">
            <a:avLst/>
          </a:prstGeom>
        </p:spPr>
      </p:pic>
      <p:sp>
        <p:nvSpPr>
          <p:cNvPr id="10" name="TextBox 9">
            <a:extLst>
              <a:ext uri="{FF2B5EF4-FFF2-40B4-BE49-F238E27FC236}">
                <a16:creationId xmlns:a16="http://schemas.microsoft.com/office/drawing/2014/main" id="{2FE95B56-B119-43A6-8F96-6FB191A0A3F1}"/>
              </a:ext>
            </a:extLst>
          </p:cNvPr>
          <p:cNvSpPr txBox="1"/>
          <p:nvPr/>
        </p:nvSpPr>
        <p:spPr>
          <a:xfrm>
            <a:off x="4705349" y="1371600"/>
            <a:ext cx="4419601" cy="406265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Can you connect ten 1 </a:t>
            </a:r>
            <a:r>
              <a:rPr kumimoji="0" lang="el-GR" sz="1800" b="0" i="0" u="none" strike="noStrike" kern="1200" cap="none" spc="0" normalizeH="0" baseline="0" noProof="0" dirty="0">
                <a:ln>
                  <a:noFill/>
                </a:ln>
                <a:solidFill>
                  <a:prstClr val="black"/>
                </a:solidFill>
                <a:effectLst/>
                <a:uLnTx/>
                <a:uFillTx/>
                <a:latin typeface="Times New Roman"/>
                <a:ea typeface="+mn-ea"/>
                <a:cs typeface="+mn-cs"/>
              </a:rPr>
              <a:t>Ω</a:t>
            </a:r>
            <a:r>
              <a:rPr kumimoji="0" lang="en-US" sz="1800" b="0" i="0" u="none" strike="noStrike" kern="1200" cap="none" spc="0" normalizeH="0" baseline="0" noProof="0" dirty="0">
                <a:ln>
                  <a:noFill/>
                </a:ln>
                <a:solidFill>
                  <a:prstClr val="black"/>
                </a:solidFill>
                <a:effectLst/>
                <a:uLnTx/>
                <a:uFillTx/>
                <a:latin typeface="Times New Roman"/>
                <a:ea typeface="+mn-ea"/>
                <a:cs typeface="+mn-cs"/>
              </a:rPr>
              <a:t> resistors in series instead of one 10 </a:t>
            </a:r>
            <a:r>
              <a:rPr kumimoji="0" lang="el-GR" sz="1800" b="0" i="0" u="none" strike="noStrike" kern="1200" cap="none" spc="0" normalizeH="0" baseline="0" noProof="0" dirty="0">
                <a:ln>
                  <a:noFill/>
                </a:ln>
                <a:solidFill>
                  <a:prstClr val="black"/>
                </a:solidFill>
                <a:effectLst/>
                <a:uLnTx/>
                <a:uFillTx/>
                <a:latin typeface="Times New Roman"/>
                <a:ea typeface="+mn-ea"/>
                <a:cs typeface="+mn-cs"/>
              </a:rPr>
              <a:t>Ω</a:t>
            </a:r>
            <a:r>
              <a:rPr kumimoji="0" lang="en-US" sz="1800" b="0" i="0" u="none" strike="noStrike" kern="1200" cap="none" spc="0" normalizeH="0" baseline="0" noProof="0" dirty="0">
                <a:ln>
                  <a:noFill/>
                </a:ln>
                <a:solidFill>
                  <a:prstClr val="black"/>
                </a:solidFill>
                <a:effectLst/>
                <a:uLnTx/>
                <a:uFillTx/>
                <a:latin typeface="Times New Roman"/>
                <a:ea typeface="+mn-ea"/>
                <a:cs typeface="+mn-cs"/>
              </a:rPr>
              <a:t> resistor?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Yes, but it is not smart at all!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Times New Roman"/>
                <a:ea typeface="+mn-ea"/>
                <a:cs typeface="+mn-cs"/>
              </a:rPr>
              <a:t>When writing a technical text, think of designing a circuit!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p:txBody>
      </p:sp>
      <p:pic>
        <p:nvPicPr>
          <p:cNvPr id="3" name="Picture 2">
            <a:extLst>
              <a:ext uri="{FF2B5EF4-FFF2-40B4-BE49-F238E27FC236}">
                <a16:creationId xmlns:a16="http://schemas.microsoft.com/office/drawing/2014/main" id="{BF49FB95-6F66-48E3-BA43-6388A84CF719}"/>
              </a:ext>
            </a:extLst>
          </p:cNvPr>
          <p:cNvPicPr>
            <a:picLocks noChangeAspect="1"/>
          </p:cNvPicPr>
          <p:nvPr/>
        </p:nvPicPr>
        <p:blipFill>
          <a:blip r:embed="rId3"/>
          <a:stretch>
            <a:fillRect/>
          </a:stretch>
        </p:blipFill>
        <p:spPr>
          <a:xfrm>
            <a:off x="609600" y="5383975"/>
            <a:ext cx="4139558" cy="273990"/>
          </a:xfrm>
          <a:prstGeom prst="rect">
            <a:avLst/>
          </a:prstGeom>
        </p:spPr>
      </p:pic>
      <p:sp>
        <p:nvSpPr>
          <p:cNvPr id="6" name="Rectangle 5">
            <a:extLst>
              <a:ext uri="{FF2B5EF4-FFF2-40B4-BE49-F238E27FC236}">
                <a16:creationId xmlns:a16="http://schemas.microsoft.com/office/drawing/2014/main" id="{7DF0F0C0-3BAA-4305-B368-A32815632DAB}"/>
              </a:ext>
            </a:extLst>
          </p:cNvPr>
          <p:cNvSpPr/>
          <p:nvPr/>
        </p:nvSpPr>
        <p:spPr>
          <a:xfrm>
            <a:off x="1905000" y="5867400"/>
            <a:ext cx="4953000" cy="4889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Times New Roman"/>
                <a:ea typeface="+mn-ea"/>
                <a:cs typeface="+mn-cs"/>
              </a:rPr>
              <a:t>5  X 2.2 k</a:t>
            </a:r>
            <a:r>
              <a:rPr kumimoji="0" lang="el-GR" sz="1800" b="0" i="0" u="none" strike="noStrike" kern="1200" cap="none" spc="0" normalizeH="0" baseline="0" noProof="0" dirty="0">
                <a:ln>
                  <a:noFill/>
                </a:ln>
                <a:solidFill>
                  <a:prstClr val="black"/>
                </a:solidFill>
                <a:effectLst/>
                <a:uLnTx/>
                <a:uFillTx/>
                <a:latin typeface="Times New Roman"/>
                <a:ea typeface="+mn-ea"/>
                <a:cs typeface="+mn-cs"/>
              </a:rPr>
              <a:t>Ω</a:t>
            </a:r>
            <a:r>
              <a:rPr kumimoji="0" lang="en-US" sz="1800" b="0" i="0" u="none" strike="noStrike" kern="1200" cap="none" spc="0" normalizeH="0" baseline="0" noProof="0" dirty="0">
                <a:ln>
                  <a:noFill/>
                </a:ln>
                <a:solidFill>
                  <a:prstClr val="black"/>
                </a:solidFill>
                <a:effectLst/>
                <a:uLnTx/>
                <a:uFillTx/>
                <a:latin typeface="Times New Roman"/>
                <a:ea typeface="+mn-ea"/>
                <a:cs typeface="+mn-cs"/>
              </a:rPr>
              <a:t> = 11 k</a:t>
            </a:r>
            <a:r>
              <a:rPr kumimoji="0" lang="el-GR" sz="1800" b="0" i="0" u="none" strike="noStrike" kern="1200" cap="none" spc="0" normalizeH="0" baseline="0" noProof="0" dirty="0">
                <a:ln>
                  <a:noFill/>
                </a:ln>
                <a:solidFill>
                  <a:prstClr val="black"/>
                </a:solidFill>
                <a:effectLst/>
                <a:uLnTx/>
                <a:uFillTx/>
                <a:latin typeface="Times New Roman"/>
                <a:ea typeface="+mn-ea"/>
                <a:cs typeface="+mn-cs"/>
              </a:rPr>
              <a:t>Ω</a:t>
            </a:r>
            <a:endParaRPr kumimoji="0" lang="en-US" sz="1800" b="0" i="0" u="none" strike="noStrike" kern="1200" cap="none" spc="0" normalizeH="0" baseline="0" noProof="0" dirty="0">
              <a:ln>
                <a:noFill/>
              </a:ln>
              <a:solidFill>
                <a:prstClr val="black"/>
              </a:solidFill>
              <a:effectLst/>
              <a:uLnTx/>
              <a:uFillTx/>
              <a:latin typeface="Times New Roman"/>
              <a:ea typeface="+mn-ea"/>
              <a:cs typeface="+mn-cs"/>
            </a:endParaRPr>
          </a:p>
        </p:txBody>
      </p:sp>
    </p:spTree>
    <p:extLst>
      <p:ext uri="{BB962C8B-B14F-4D97-AF65-F5344CB8AC3E}">
        <p14:creationId xmlns:p14="http://schemas.microsoft.com/office/powerpoint/2010/main" val="12044848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8150" y="85725"/>
            <a:ext cx="8229600" cy="563562"/>
          </a:xfrm>
        </p:spPr>
        <p:txBody>
          <a:bodyPr>
            <a:normAutofit fontScale="90000"/>
          </a:bodyPr>
          <a:lstStyle/>
          <a:p>
            <a:r>
              <a:rPr lang="en-US" b="1" dirty="0"/>
              <a:t>A story</a:t>
            </a:r>
          </a:p>
        </p:txBody>
      </p:sp>
      <p:sp>
        <p:nvSpPr>
          <p:cNvPr id="3" name="Content Placeholder 2"/>
          <p:cNvSpPr>
            <a:spLocks noGrp="1"/>
          </p:cNvSpPr>
          <p:nvPr>
            <p:ph idx="1"/>
          </p:nvPr>
        </p:nvSpPr>
        <p:spPr>
          <a:xfrm>
            <a:off x="40328" y="4876801"/>
            <a:ext cx="9103672" cy="1981200"/>
          </a:xfrm>
        </p:spPr>
        <p:txBody>
          <a:bodyPr>
            <a:normAutofit lnSpcReduction="10000"/>
          </a:bodyPr>
          <a:lstStyle/>
          <a:p>
            <a:r>
              <a:rPr lang="en-US" dirty="0"/>
              <a:t>Some years later, Rutherford said that “</a:t>
            </a:r>
            <a:r>
              <a:rPr lang="en-US" b="1" dirty="0">
                <a:solidFill>
                  <a:srgbClr val="C00000"/>
                </a:solidFill>
              </a:rPr>
              <a:t>if a scientist cannot explain to the person who is scrubbing the laboratory floor what he is doing, he does not </a:t>
            </a:r>
            <a:r>
              <a:rPr lang="en-US" b="1" i="1" dirty="0">
                <a:solidFill>
                  <a:srgbClr val="C00000"/>
                </a:solidFill>
              </a:rPr>
              <a:t>know</a:t>
            </a:r>
            <a:r>
              <a:rPr lang="en-US" b="1" dirty="0">
                <a:solidFill>
                  <a:srgbClr val="C00000"/>
                </a:solidFill>
              </a:rPr>
              <a:t> what he is doing.</a:t>
            </a:r>
            <a:r>
              <a:rPr lang="en-US" b="1" dirty="0"/>
              <a:t>”</a:t>
            </a:r>
            <a:r>
              <a:rPr lang="en-US" b="1" dirty="0">
                <a:solidFill>
                  <a:srgbClr val="C00000"/>
                </a:solidFill>
              </a:rPr>
              <a:t> </a:t>
            </a:r>
          </a:p>
        </p:txBody>
      </p:sp>
      <p:sp>
        <p:nvSpPr>
          <p:cNvPr id="5" name="Slide Number Placeholder 4"/>
          <p:cNvSpPr>
            <a:spLocks noGrp="1"/>
          </p:cNvSpPr>
          <p:nvPr>
            <p:ph type="sldNum" sz="quarter" idx="12"/>
          </p:nvPr>
        </p:nvSpPr>
        <p:spPr/>
        <p:txBody>
          <a:bodyPr/>
          <a:lstStyle/>
          <a:p>
            <a:fld id="{CE9A8198-B36E-4E8C-B56F-5CE897E27388}" type="slidenum">
              <a:rPr lang="en-US" smtClean="0"/>
              <a:pPr/>
              <a:t>36</a:t>
            </a:fld>
            <a:endParaRPr lang="en-US"/>
          </a:p>
        </p:txBody>
      </p:sp>
      <p:pic>
        <p:nvPicPr>
          <p:cNvPr id="6" name="Picture 5"/>
          <p:cNvPicPr>
            <a:picLocks noChangeAspect="1"/>
          </p:cNvPicPr>
          <p:nvPr/>
        </p:nvPicPr>
        <p:blipFill>
          <a:blip r:embed="rId2" cstate="print"/>
          <a:stretch>
            <a:fillRect/>
          </a:stretch>
        </p:blipFill>
        <p:spPr>
          <a:xfrm>
            <a:off x="7705725" y="638053"/>
            <a:ext cx="1388386" cy="1811581"/>
          </a:xfrm>
          <a:prstGeom prst="rect">
            <a:avLst/>
          </a:prstGeom>
        </p:spPr>
      </p:pic>
      <p:pic>
        <p:nvPicPr>
          <p:cNvPr id="7" name="Picture 6"/>
          <p:cNvPicPr>
            <a:picLocks noChangeAspect="1"/>
          </p:cNvPicPr>
          <p:nvPr/>
        </p:nvPicPr>
        <p:blipFill>
          <a:blip r:embed="rId3" cstate="print"/>
          <a:stretch>
            <a:fillRect/>
          </a:stretch>
        </p:blipFill>
        <p:spPr>
          <a:xfrm>
            <a:off x="48066" y="593482"/>
            <a:ext cx="1475934" cy="1844918"/>
          </a:xfrm>
          <a:prstGeom prst="rect">
            <a:avLst/>
          </a:prstGeom>
        </p:spPr>
      </p:pic>
      <p:sp>
        <p:nvSpPr>
          <p:cNvPr id="8" name="Rectangle 7"/>
          <p:cNvSpPr/>
          <p:nvPr/>
        </p:nvSpPr>
        <p:spPr>
          <a:xfrm>
            <a:off x="1524000" y="871537"/>
            <a:ext cx="6172200" cy="181158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dirty="0">
                <a:solidFill>
                  <a:schemeClr val="tx1"/>
                </a:solidFill>
              </a:rPr>
              <a:t>      Early 1930s: </a:t>
            </a:r>
            <a:r>
              <a:rPr lang="en-US" b="1" dirty="0">
                <a:solidFill>
                  <a:schemeClr val="tx1"/>
                </a:solidFill>
              </a:rPr>
              <a:t>Ernst Rutherford</a:t>
            </a:r>
            <a:r>
              <a:rPr lang="en-US" dirty="0">
                <a:solidFill>
                  <a:schemeClr val="tx1"/>
                </a:solidFill>
              </a:rPr>
              <a:t>, the discoverer of proton, and a prominent atomic physicist, was working on atom splitting. He didn’t like journalists and their reports about his work.</a:t>
            </a:r>
          </a:p>
          <a:p>
            <a:endParaRPr lang="en-US" dirty="0">
              <a:solidFill>
                <a:schemeClr val="tx1"/>
              </a:solidFill>
            </a:endParaRPr>
          </a:p>
          <a:p>
            <a:r>
              <a:rPr lang="en-US" b="1" dirty="0">
                <a:solidFill>
                  <a:schemeClr val="tx1"/>
                </a:solidFill>
              </a:rPr>
              <a:t>Ritchie Calder</a:t>
            </a:r>
            <a:r>
              <a:rPr lang="en-US" dirty="0">
                <a:solidFill>
                  <a:schemeClr val="tx1"/>
                </a:solidFill>
              </a:rPr>
              <a:t>, a British journalist, insisted to visit  Rutherford and write an article on the structure of the nucleus.</a:t>
            </a:r>
          </a:p>
          <a:p>
            <a:endParaRPr lang="en-US" dirty="0">
              <a:solidFill>
                <a:schemeClr val="tx1"/>
              </a:solidFill>
            </a:endParaRPr>
          </a:p>
          <a:p>
            <a:endParaRPr lang="en-US" dirty="0">
              <a:solidFill>
                <a:schemeClr val="tx1"/>
              </a:solidFill>
            </a:endParaRPr>
          </a:p>
          <a:p>
            <a:r>
              <a:rPr lang="en-US" dirty="0">
                <a:solidFill>
                  <a:schemeClr val="tx1"/>
                </a:solidFill>
              </a:rPr>
              <a:t> </a:t>
            </a:r>
          </a:p>
        </p:txBody>
      </p:sp>
      <p:sp>
        <p:nvSpPr>
          <p:cNvPr id="9" name="Arrow: Chevron 8"/>
          <p:cNvSpPr/>
          <p:nvPr/>
        </p:nvSpPr>
        <p:spPr>
          <a:xfrm rot="10800000">
            <a:off x="1604180" y="997258"/>
            <a:ext cx="250160" cy="153792"/>
          </a:xfrm>
          <a:prstGeom prst="chevr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Arrow: Chevron 9"/>
          <p:cNvSpPr/>
          <p:nvPr/>
        </p:nvSpPr>
        <p:spPr>
          <a:xfrm>
            <a:off x="7398415" y="2438400"/>
            <a:ext cx="250160" cy="153792"/>
          </a:xfrm>
          <a:prstGeom prst="chevron">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p:cNvSpPr/>
          <p:nvPr/>
        </p:nvSpPr>
        <p:spPr>
          <a:xfrm>
            <a:off x="40328" y="2753147"/>
            <a:ext cx="9061519" cy="21236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285750" indent="-285750">
              <a:buFontTx/>
              <a:buChar char="-"/>
            </a:pPr>
            <a:r>
              <a:rPr lang="en-US" b="1" dirty="0">
                <a:solidFill>
                  <a:schemeClr val="tx1"/>
                </a:solidFill>
              </a:rPr>
              <a:t>Rutherford</a:t>
            </a:r>
            <a:r>
              <a:rPr lang="en-US" dirty="0">
                <a:solidFill>
                  <a:schemeClr val="tx1"/>
                </a:solidFill>
              </a:rPr>
              <a:t>:  “Your readers can never understand it! Translate it!” Rutherford gives Calder the manuscript of his latest paper, full of formulas, numbers and equations.</a:t>
            </a:r>
          </a:p>
          <a:p>
            <a:pPr marL="285750" indent="-285750">
              <a:buFontTx/>
              <a:buChar char="-"/>
            </a:pPr>
            <a:endParaRPr lang="en-US" dirty="0">
              <a:solidFill>
                <a:schemeClr val="tx1"/>
              </a:solidFill>
            </a:endParaRPr>
          </a:p>
          <a:p>
            <a:pPr marL="285750" indent="-285750">
              <a:buFontTx/>
              <a:buChar char="-"/>
            </a:pPr>
            <a:r>
              <a:rPr lang="en-US" b="1" dirty="0">
                <a:solidFill>
                  <a:schemeClr val="tx1"/>
                </a:solidFill>
              </a:rPr>
              <a:t>Calder:</a:t>
            </a:r>
            <a:r>
              <a:rPr lang="en-US" dirty="0">
                <a:solidFill>
                  <a:schemeClr val="tx1"/>
                </a:solidFill>
              </a:rPr>
              <a:t> “Let’s make a deal. You translate my shorthand and I will translate yours.” Calder hands Rutherford his notes. </a:t>
            </a:r>
          </a:p>
          <a:p>
            <a:pPr marL="285750" indent="-285750">
              <a:buFontTx/>
              <a:buChar char="-"/>
            </a:pPr>
            <a:endParaRPr lang="en-US" dirty="0">
              <a:solidFill>
                <a:schemeClr val="tx1"/>
              </a:solidFill>
            </a:endParaRPr>
          </a:p>
          <a:p>
            <a:pPr marL="285750" indent="-285750">
              <a:buFontTx/>
              <a:buChar char="-"/>
            </a:pPr>
            <a:r>
              <a:rPr lang="en-US" dirty="0">
                <a:solidFill>
                  <a:schemeClr val="tx1"/>
                </a:solidFill>
              </a:rPr>
              <a:t>Rutherford starts to explain very clearly and simply about the structure of the atom…. </a:t>
            </a:r>
          </a:p>
          <a:p>
            <a:endParaRPr lang="en-US" dirty="0">
              <a:solidFill>
                <a:schemeClr val="tx1"/>
              </a:solidFill>
            </a:endParaRPr>
          </a:p>
          <a:p>
            <a:r>
              <a:rPr lang="en-US" dirty="0">
                <a:solidFill>
                  <a:schemeClr val="tx1"/>
                </a:solidFill>
              </a:rPr>
              <a:t> </a:t>
            </a:r>
          </a:p>
        </p:txBody>
      </p:sp>
    </p:spTree>
    <p:extLst>
      <p:ext uri="{BB962C8B-B14F-4D97-AF65-F5344CB8AC3E}">
        <p14:creationId xmlns:p14="http://schemas.microsoft.com/office/powerpoint/2010/main" val="39900803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76200" y="3938052"/>
            <a:ext cx="8991600" cy="2843747"/>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41050" y="4119383"/>
            <a:ext cx="5181600" cy="1219200"/>
          </a:xfrm>
        </p:spPr>
        <p:txBody>
          <a:bodyPr>
            <a:normAutofit fontScale="92500"/>
          </a:bodyPr>
          <a:lstStyle/>
          <a:p>
            <a:r>
              <a:rPr lang="en-US" b="1" dirty="0"/>
              <a:t>B-1b bomber</a:t>
            </a:r>
          </a:p>
          <a:p>
            <a:r>
              <a:rPr lang="en-US" sz="2400" dirty="0"/>
              <a:t>Empty weight: 192,000 </a:t>
            </a:r>
            <a:r>
              <a:rPr lang="en-US" sz="2400" dirty="0" err="1"/>
              <a:t>lb</a:t>
            </a:r>
            <a:r>
              <a:rPr lang="en-US" sz="2400" dirty="0"/>
              <a:t> (87,100 kg)</a:t>
            </a:r>
          </a:p>
        </p:txBody>
      </p:sp>
      <p:pic>
        <p:nvPicPr>
          <p:cNvPr id="1026" name="Picture 2" descr="Top view of B-1B in-flight with white clouds scattered underneath. Its wings are swept fully forward as the gray aircraft flies over the ocea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77000" y="3985671"/>
            <a:ext cx="2438400" cy="14104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04800" y="5338583"/>
            <a:ext cx="8763000" cy="1200329"/>
          </a:xfrm>
          <a:prstGeom prst="rect">
            <a:avLst/>
          </a:prstGeom>
        </p:spPr>
        <p:txBody>
          <a:bodyPr wrap="square">
            <a:spAutoFit/>
          </a:bodyPr>
          <a:lstStyle/>
          <a:p>
            <a:r>
              <a:rPr lang="en-US" sz="2400" b="1" dirty="0"/>
              <a:t>All the proposals, regulations, manuals, procedures, and memos that the B-1b bomber project generated weighed almost as much as the bomber itself.</a:t>
            </a:r>
          </a:p>
        </p:txBody>
      </p:sp>
      <p:sp>
        <p:nvSpPr>
          <p:cNvPr id="7" name="Rectangle 6"/>
          <p:cNvSpPr/>
          <p:nvPr/>
        </p:nvSpPr>
        <p:spPr>
          <a:xfrm>
            <a:off x="169785" y="351353"/>
            <a:ext cx="8077200" cy="1077218"/>
          </a:xfrm>
          <a:prstGeom prst="rect">
            <a:avLst/>
          </a:prstGeom>
        </p:spPr>
        <p:txBody>
          <a:bodyPr wrap="square">
            <a:spAutoFit/>
          </a:bodyPr>
          <a:lstStyle/>
          <a:p>
            <a:endParaRPr lang="en-US" sz="3200" dirty="0"/>
          </a:p>
          <a:p>
            <a:endParaRPr lang="en-US" sz="3200" dirty="0"/>
          </a:p>
        </p:txBody>
      </p:sp>
      <p:sp>
        <p:nvSpPr>
          <p:cNvPr id="8" name="Rectangle 7"/>
          <p:cNvSpPr/>
          <p:nvPr/>
        </p:nvSpPr>
        <p:spPr>
          <a:xfrm>
            <a:off x="76200" y="152401"/>
            <a:ext cx="8991600" cy="3785652"/>
          </a:xfrm>
          <a:prstGeom prst="rect">
            <a:avLst/>
          </a:prstGeom>
        </p:spPr>
        <p:txBody>
          <a:bodyPr wrap="square">
            <a:spAutoFit/>
          </a:bodyPr>
          <a:lstStyle/>
          <a:p>
            <a:pPr>
              <a:lnSpc>
                <a:spcPct val="150000"/>
              </a:lnSpc>
            </a:pPr>
            <a:r>
              <a:rPr lang="en-US" sz="3200" b="1" dirty="0"/>
              <a:t>Engineers write a lot</a:t>
            </a:r>
            <a:endParaRPr lang="en-US" sz="3200" dirty="0"/>
          </a:p>
          <a:p>
            <a:pPr>
              <a:lnSpc>
                <a:spcPct val="150000"/>
              </a:lnSpc>
            </a:pPr>
            <a:r>
              <a:rPr lang="en-US" sz="3200" dirty="0"/>
              <a:t>•   Engineers write many kinds of documents.</a:t>
            </a:r>
          </a:p>
          <a:p>
            <a:pPr>
              <a:lnSpc>
                <a:spcPct val="150000"/>
              </a:lnSpc>
            </a:pPr>
            <a:r>
              <a:rPr lang="en-US" sz="3200" dirty="0"/>
              <a:t>•   Successful engineering careers require strong 	writing skills.</a:t>
            </a:r>
          </a:p>
          <a:p>
            <a:pPr>
              <a:lnSpc>
                <a:spcPct val="150000"/>
              </a:lnSpc>
            </a:pPr>
            <a:r>
              <a:rPr lang="en-US" sz="3200" dirty="0"/>
              <a:t>•   Engineers can learn to write well.</a:t>
            </a:r>
          </a:p>
        </p:txBody>
      </p:sp>
    </p:spTree>
    <p:extLst>
      <p:ext uri="{BB962C8B-B14F-4D97-AF65-F5344CB8AC3E}">
        <p14:creationId xmlns:p14="http://schemas.microsoft.com/office/powerpoint/2010/main" val="11276018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lum contrast="25000"/>
          </a:blip>
          <a:stretch>
            <a:fillRect/>
          </a:stretch>
        </p:blipFill>
        <p:spPr>
          <a:xfrm>
            <a:off x="381000" y="1135280"/>
            <a:ext cx="7772400" cy="5722720"/>
          </a:xfrm>
          <a:prstGeom prst="rect">
            <a:avLst/>
          </a:prstGeom>
        </p:spPr>
      </p:pic>
      <p:sp>
        <p:nvSpPr>
          <p:cNvPr id="3" name="Content Placeholder 2"/>
          <p:cNvSpPr>
            <a:spLocks noGrp="1"/>
          </p:cNvSpPr>
          <p:nvPr>
            <p:ph idx="1"/>
          </p:nvPr>
        </p:nvSpPr>
        <p:spPr>
          <a:xfrm>
            <a:off x="0" y="-740"/>
            <a:ext cx="9134475" cy="1219940"/>
          </a:xfrm>
          <a:solidFill>
            <a:schemeClr val="accent6">
              <a:lumMod val="20000"/>
              <a:lumOff val="80000"/>
            </a:schemeClr>
          </a:solidFill>
        </p:spPr>
        <p:txBody>
          <a:bodyPr>
            <a:normAutofit fontScale="77500" lnSpcReduction="20000"/>
          </a:bodyPr>
          <a:lstStyle/>
          <a:p>
            <a:pPr>
              <a:lnSpc>
                <a:spcPct val="170000"/>
              </a:lnSpc>
            </a:pPr>
            <a:r>
              <a:rPr lang="en-US" b="1" dirty="0"/>
              <a:t>Engineers write many kinds of documents in various contexts and with different purposes and audiences.</a:t>
            </a:r>
          </a:p>
        </p:txBody>
      </p:sp>
    </p:spTree>
    <p:extLst>
      <p:ext uri="{BB962C8B-B14F-4D97-AF65-F5344CB8AC3E}">
        <p14:creationId xmlns:p14="http://schemas.microsoft.com/office/powerpoint/2010/main" val="42388553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kellogg.edu/wp-content/uploads/2015/12/email-logo.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18022" b="3"/>
          <a:stretch/>
        </p:blipFill>
        <p:spPr bwMode="auto">
          <a:xfrm>
            <a:off x="7467600" y="28575"/>
            <a:ext cx="1517145" cy="1836735"/>
          </a:xfrm>
          <a:prstGeom prst="rect">
            <a:avLst/>
          </a:prstGeom>
          <a:noFill/>
          <a:effectLst/>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0" y="1676401"/>
            <a:ext cx="8915400" cy="4547420"/>
          </a:xfrm>
        </p:spPr>
        <p:txBody>
          <a:bodyPr>
            <a:normAutofit/>
          </a:bodyPr>
          <a:lstStyle/>
          <a:p>
            <a:pPr>
              <a:lnSpc>
                <a:spcPct val="150000"/>
              </a:lnSpc>
            </a:pPr>
            <a:r>
              <a:rPr lang="en-US" b="1" dirty="0"/>
              <a:t>Although </a:t>
            </a:r>
            <a:r>
              <a:rPr lang="en-US" b="1" u="sng" dirty="0">
                <a:solidFill>
                  <a:srgbClr val="FF0000"/>
                </a:solidFill>
              </a:rPr>
              <a:t>email</a:t>
            </a:r>
            <a:r>
              <a:rPr lang="en-US" b="1" dirty="0"/>
              <a:t> has perhaps become the most popular form of written communication,  it does not in any way change the need for </a:t>
            </a:r>
            <a:r>
              <a:rPr lang="en-US" b="1" i="1" u="sng" dirty="0">
                <a:solidFill>
                  <a:srgbClr val="FF0000"/>
                </a:solidFill>
              </a:rPr>
              <a:t>clarity</a:t>
            </a:r>
            <a:r>
              <a:rPr lang="en-US" b="1" dirty="0"/>
              <a:t> and </a:t>
            </a:r>
            <a:r>
              <a:rPr lang="en-US" b="1" i="1" u="sng" dirty="0">
                <a:solidFill>
                  <a:srgbClr val="FF0000"/>
                </a:solidFill>
              </a:rPr>
              <a:t>organization</a:t>
            </a:r>
            <a:r>
              <a:rPr lang="en-US" b="1" dirty="0"/>
              <a:t> in engineering writing. </a:t>
            </a:r>
          </a:p>
        </p:txBody>
      </p:sp>
    </p:spTree>
    <p:extLst>
      <p:ext uri="{BB962C8B-B14F-4D97-AF65-F5344CB8AC3E}">
        <p14:creationId xmlns:p14="http://schemas.microsoft.com/office/powerpoint/2010/main" val="98198932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9750" y="685800"/>
            <a:ext cx="5257800" cy="868362"/>
          </a:xfrm>
        </p:spPr>
        <p:txBody>
          <a:bodyPr>
            <a:normAutofit fontScale="90000"/>
          </a:bodyPr>
          <a:lstStyle/>
          <a:p>
            <a:pPr algn="l"/>
            <a:r>
              <a:rPr lang="en-US" sz="2800" b="1" dirty="0"/>
              <a:t>Robert W. Lucky, former Executive Director of AT&amp;T Laboratories:</a:t>
            </a:r>
            <a:br>
              <a:rPr lang="en-US" sz="2800" b="1" dirty="0"/>
            </a:br>
            <a:endParaRPr lang="en-US" sz="2800" b="1" dirty="0"/>
          </a:p>
        </p:txBody>
      </p:sp>
      <p:sp>
        <p:nvSpPr>
          <p:cNvPr id="3" name="Content Placeholder 2"/>
          <p:cNvSpPr>
            <a:spLocks noGrp="1"/>
          </p:cNvSpPr>
          <p:nvPr>
            <p:ph idx="1"/>
          </p:nvPr>
        </p:nvSpPr>
        <p:spPr>
          <a:xfrm>
            <a:off x="152400" y="1119981"/>
            <a:ext cx="8969829" cy="5562600"/>
          </a:xfrm>
        </p:spPr>
        <p:txBody>
          <a:bodyPr>
            <a:normAutofit/>
          </a:bodyPr>
          <a:lstStyle/>
          <a:p>
            <a:pPr marL="0" indent="0">
              <a:lnSpc>
                <a:spcPct val="150000"/>
              </a:lnSpc>
              <a:spcBef>
                <a:spcPts val="0"/>
              </a:spcBef>
              <a:buNone/>
            </a:pPr>
            <a:endParaRPr lang="en-US" i="1" dirty="0">
              <a:solidFill>
                <a:srgbClr val="231F2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i="1" dirty="0">
                <a:solidFill>
                  <a:srgbClr val="231F20"/>
                </a:solidFill>
                <a:latin typeface="Times New Roman" panose="02020603050405020304" pitchFamily="18" charset="0"/>
                <a:cs typeface="Times New Roman" panose="02020603050405020304" pitchFamily="18" charset="0"/>
              </a:rPr>
              <a:t>“</a:t>
            </a:r>
            <a:r>
              <a:rPr lang="en-US" sz="2800" i="1" dirty="0">
                <a:solidFill>
                  <a:srgbClr val="231F20"/>
                </a:solidFill>
                <a:latin typeface="Times New Roman" panose="02020603050405020304" pitchFamily="18" charset="0"/>
                <a:cs typeface="Times New Roman" panose="02020603050405020304" pitchFamily="18" charset="0"/>
              </a:rPr>
              <a:t>It is unquestionably true that </a:t>
            </a:r>
            <a:r>
              <a:rPr lang="en-US" sz="2800" b="1" i="1" dirty="0">
                <a:solidFill>
                  <a:srgbClr val="C00000"/>
                </a:solidFill>
                <a:latin typeface="Times New Roman" panose="02020603050405020304" pitchFamily="18" charset="0"/>
                <a:cs typeface="Times New Roman" panose="02020603050405020304" pitchFamily="18" charset="0"/>
              </a:rPr>
              <a:t>writing</a:t>
            </a:r>
            <a:r>
              <a:rPr lang="en-US" sz="2800" i="1" dirty="0">
                <a:solidFill>
                  <a:srgbClr val="231F20"/>
                </a:solidFill>
                <a:latin typeface="Times New Roman" panose="02020603050405020304" pitchFamily="18" charset="0"/>
                <a:cs typeface="Times New Roman" panose="02020603050405020304" pitchFamily="18" charset="0"/>
              </a:rPr>
              <a:t> and </a:t>
            </a:r>
            <a:r>
              <a:rPr lang="en-US" sz="2800" b="1" i="1" dirty="0">
                <a:solidFill>
                  <a:srgbClr val="C00000"/>
                </a:solidFill>
                <a:latin typeface="Times New Roman" panose="02020603050405020304" pitchFamily="18" charset="0"/>
                <a:cs typeface="Times New Roman" panose="02020603050405020304" pitchFamily="18" charset="0"/>
              </a:rPr>
              <a:t>speaking</a:t>
            </a:r>
            <a:r>
              <a:rPr lang="en-US" sz="2800" i="1" dirty="0">
                <a:solidFill>
                  <a:srgbClr val="231F20"/>
                </a:solidFill>
                <a:latin typeface="Times New Roman" panose="02020603050405020304" pitchFamily="18" charset="0"/>
                <a:cs typeface="Times New Roman" panose="02020603050405020304" pitchFamily="18" charset="0"/>
              </a:rPr>
              <a:t> abilities are essential to the </a:t>
            </a:r>
            <a:r>
              <a:rPr lang="en-US" sz="2800" b="1" i="1" dirty="0">
                <a:solidFill>
                  <a:srgbClr val="C00000"/>
                </a:solidFill>
                <a:latin typeface="Times New Roman" panose="02020603050405020304" pitchFamily="18" charset="0"/>
                <a:cs typeface="Times New Roman" panose="02020603050405020304" pitchFamily="18" charset="0"/>
              </a:rPr>
              <a:t>successful engineer</a:t>
            </a:r>
            <a:r>
              <a:rPr lang="en-US" sz="2800" i="1" dirty="0">
                <a:solidFill>
                  <a:srgbClr val="231F20"/>
                </a:solidFill>
                <a:latin typeface="Times New Roman" panose="02020603050405020304" pitchFamily="18" charset="0"/>
                <a:cs typeface="Times New Roman" panose="02020603050405020304" pitchFamily="18" charset="0"/>
              </a:rPr>
              <a:t>. </a:t>
            </a:r>
          </a:p>
          <a:p>
            <a:pPr marL="0" indent="0">
              <a:lnSpc>
                <a:spcPct val="150000"/>
              </a:lnSpc>
              <a:spcBef>
                <a:spcPts val="0"/>
              </a:spcBef>
              <a:buNone/>
            </a:pPr>
            <a:endParaRPr lang="en-US" sz="2800" i="1" dirty="0">
              <a:solidFill>
                <a:srgbClr val="231F20"/>
              </a:solidFill>
              <a:latin typeface="Times New Roman" panose="02020603050405020304" pitchFamily="18" charset="0"/>
              <a:cs typeface="Times New Roman" panose="02020603050405020304" pitchFamily="18" charset="0"/>
            </a:endParaRPr>
          </a:p>
          <a:p>
            <a:pPr marL="0" indent="0">
              <a:lnSpc>
                <a:spcPct val="150000"/>
              </a:lnSpc>
              <a:spcBef>
                <a:spcPts val="0"/>
              </a:spcBef>
              <a:buNone/>
            </a:pPr>
            <a:r>
              <a:rPr lang="en-US" sz="2800" i="1" dirty="0">
                <a:solidFill>
                  <a:srgbClr val="231F20"/>
                </a:solidFill>
                <a:latin typeface="Times New Roman" panose="02020603050405020304" pitchFamily="18" charset="0"/>
                <a:cs typeface="Times New Roman" panose="02020603050405020304" pitchFamily="18" charset="0"/>
              </a:rPr>
              <a:t>Nearly every engineer who has been </a:t>
            </a:r>
            <a:r>
              <a:rPr lang="en-US" sz="2800" b="1" i="1" dirty="0">
                <a:solidFill>
                  <a:srgbClr val="231F20"/>
                </a:solidFill>
                <a:latin typeface="Times New Roman" panose="02020603050405020304" pitchFamily="18" charset="0"/>
                <a:cs typeface="Times New Roman" panose="02020603050405020304" pitchFamily="18" charset="0"/>
              </a:rPr>
              <a:t>unsuccessful</a:t>
            </a:r>
            <a:r>
              <a:rPr lang="en-US" sz="2800" i="1" dirty="0">
                <a:solidFill>
                  <a:srgbClr val="231F20"/>
                </a:solidFill>
                <a:latin typeface="Times New Roman" panose="02020603050405020304" pitchFamily="18" charset="0"/>
                <a:cs typeface="Times New Roman" panose="02020603050405020304" pitchFamily="18" charset="0"/>
              </a:rPr>
              <a:t> in my division had </a:t>
            </a:r>
            <a:r>
              <a:rPr lang="en-US" sz="2800" b="1" i="1" dirty="0">
                <a:solidFill>
                  <a:srgbClr val="231F20"/>
                </a:solidFill>
                <a:latin typeface="Times New Roman" panose="02020603050405020304" pitchFamily="18" charset="0"/>
                <a:cs typeface="Times New Roman" panose="02020603050405020304" pitchFamily="18" charset="0"/>
              </a:rPr>
              <a:t>poor communication skills</a:t>
            </a:r>
            <a:r>
              <a:rPr lang="en-US" sz="2800" i="1" dirty="0">
                <a:solidFill>
                  <a:srgbClr val="231F20"/>
                </a:solidFill>
                <a:latin typeface="Times New Roman" panose="02020603050405020304" pitchFamily="18" charset="0"/>
                <a:cs typeface="Times New Roman" panose="02020603050405020304" pitchFamily="18" charset="0"/>
              </a:rPr>
              <a:t>. …On the contrary, I have seen many quite average engineers be successful because of above-average communication skills.</a:t>
            </a:r>
            <a:endParaRPr lang="en-US" sz="2800" dirty="0">
              <a:latin typeface="Times New Roman" panose="02020603050405020304" pitchFamily="18" charset="0"/>
              <a:cs typeface="Times New Roman" panose="02020603050405020304" pitchFamily="18" charset="0"/>
            </a:endParaRPr>
          </a:p>
        </p:txBody>
      </p:sp>
      <p:pic>
        <p:nvPicPr>
          <p:cNvPr id="2050" name="Picture 2" descr="Robert Luck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7179129" y="1555"/>
            <a:ext cx="1943100" cy="19993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4807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Rounded Corners 25"/>
          <p:cNvSpPr/>
          <p:nvPr/>
        </p:nvSpPr>
        <p:spPr>
          <a:xfrm>
            <a:off x="54378" y="5143043"/>
            <a:ext cx="7143652" cy="129540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54378" y="1210852"/>
            <a:ext cx="6010950" cy="3505200"/>
          </a:xfrm>
        </p:spPr>
        <p:txBody>
          <a:bodyPr>
            <a:normAutofit fontScale="92500"/>
          </a:bodyPr>
          <a:lstStyle/>
          <a:p>
            <a:r>
              <a:rPr lang="en-US" b="1" dirty="0">
                <a:solidFill>
                  <a:srgbClr val="C00000"/>
                </a:solidFill>
              </a:rPr>
              <a:t>The Mars Climate Orbiter</a:t>
            </a:r>
            <a:r>
              <a:rPr lang="en-US" b="1" dirty="0"/>
              <a:t> </a:t>
            </a:r>
            <a:r>
              <a:rPr lang="en-US" dirty="0"/>
              <a:t>a robotic space probe launched by NASA on December 11, 1998 to study the Martian climate was lost in space because </a:t>
            </a:r>
            <a:r>
              <a:rPr lang="en-US" b="1" i="1" dirty="0">
                <a:solidFill>
                  <a:srgbClr val="7030A0"/>
                </a:solidFill>
              </a:rPr>
              <a:t>engineers failed to make a simple conversion</a:t>
            </a:r>
            <a:r>
              <a:rPr lang="en-US" i="1" dirty="0"/>
              <a:t> </a:t>
            </a:r>
            <a:r>
              <a:rPr lang="en-US" dirty="0"/>
              <a:t>from English units to metric.</a:t>
            </a:r>
          </a:p>
        </p:txBody>
      </p:sp>
      <p:pic>
        <p:nvPicPr>
          <p:cNvPr id="3074" name="Picture 2" descr="http://www.fourth-millennium.net/mission-artwork/mars-climate-orbiter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305351" y="1156906"/>
            <a:ext cx="2772747" cy="274799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pricinglabels.ca/cjbase/images/square_price.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6504" y="3904897"/>
            <a:ext cx="1841594" cy="253841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Rounded Corners 5"/>
          <p:cNvSpPr/>
          <p:nvPr/>
        </p:nvSpPr>
        <p:spPr>
          <a:xfrm>
            <a:off x="7391400" y="5181600"/>
            <a:ext cx="1524000" cy="1133034"/>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tx1"/>
                </a:solidFill>
              </a:rPr>
              <a:t>$193.1 million </a:t>
            </a:r>
          </a:p>
        </p:txBody>
      </p:sp>
      <mc:AlternateContent xmlns:mc="http://schemas.openxmlformats.org/markup-compatibility/2006" xmlns:p14="http://schemas.microsoft.com/office/powerpoint/2010/main">
        <mc:Choice Requires="p14">
          <p:contentPart p14:bwMode="auto" r:id="rId4">
            <p14:nvContentPartPr>
              <p14:cNvPr id="18" name="Ink 17"/>
              <p14:cNvContentPartPr/>
              <p14:nvPr/>
            </p14:nvContentPartPr>
            <p14:xfrm>
              <a:off x="8057100" y="3742500"/>
              <a:ext cx="191880" cy="410760"/>
            </p14:xfrm>
          </p:contentPart>
        </mc:Choice>
        <mc:Fallback xmlns="">
          <p:pic>
            <p:nvPicPr>
              <p:cNvPr id="18" name="Ink 17"/>
              <p:cNvPicPr/>
              <p:nvPr/>
            </p:nvPicPr>
            <p:blipFill>
              <a:blip r:embed="rId5" cstate="print"/>
              <a:stretch>
                <a:fillRect/>
              </a:stretch>
            </p:blipFill>
            <p:spPr>
              <a:xfrm>
                <a:off x="8038020" y="3723420"/>
                <a:ext cx="230040" cy="448920"/>
              </a:xfrm>
              <a:prstGeom prst="rect">
                <a:avLst/>
              </a:prstGeom>
            </p:spPr>
          </p:pic>
        </mc:Fallback>
      </mc:AlternateContent>
      <p:sp>
        <p:nvSpPr>
          <p:cNvPr id="24" name="Rectangle 23"/>
          <p:cNvSpPr/>
          <p:nvPr/>
        </p:nvSpPr>
        <p:spPr>
          <a:xfrm>
            <a:off x="185362" y="5162145"/>
            <a:ext cx="7084579" cy="1200329"/>
          </a:xfrm>
          <a:prstGeom prst="rect">
            <a:avLst/>
          </a:prstGeom>
        </p:spPr>
        <p:txBody>
          <a:bodyPr wrap="square">
            <a:spAutoFit/>
          </a:bodyPr>
          <a:lstStyle/>
          <a:p>
            <a:r>
              <a:rPr lang="en-US" dirty="0"/>
              <a:t>The spacecraft went into orbital insertion, due to ground-based computer software which produced output in non-SI units of pound (force)-seconds (</a:t>
            </a:r>
            <a:r>
              <a:rPr lang="en-US" dirty="0" err="1"/>
              <a:t>lbf·s</a:t>
            </a:r>
            <a:r>
              <a:rPr lang="en-US" dirty="0"/>
              <a:t>) instead of the SI units of newton-seconds (N·s) specified in the contract between NASA and Lockheed. </a:t>
            </a:r>
          </a:p>
        </p:txBody>
      </p:sp>
      <p:sp>
        <p:nvSpPr>
          <p:cNvPr id="2" name="Rectangle 1"/>
          <p:cNvSpPr/>
          <p:nvPr/>
        </p:nvSpPr>
        <p:spPr>
          <a:xfrm>
            <a:off x="62900" y="137836"/>
            <a:ext cx="9015198" cy="938234"/>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2"/>
                </a:solidFill>
              </a:rPr>
              <a:t>Miscommunication Disasters </a:t>
            </a:r>
          </a:p>
        </p:txBody>
      </p:sp>
    </p:spTree>
    <p:extLst>
      <p:ext uri="{BB962C8B-B14F-4D97-AF65-F5344CB8AC3E}">
        <p14:creationId xmlns:p14="http://schemas.microsoft.com/office/powerpoint/2010/main" val="38632092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a:t>Technical Writing</a:t>
            </a:r>
          </a:p>
        </p:txBody>
      </p:sp>
      <p:sp>
        <p:nvSpPr>
          <p:cNvPr id="5" name="Slide Number Placeholder 4"/>
          <p:cNvSpPr>
            <a:spLocks noGrp="1"/>
          </p:cNvSpPr>
          <p:nvPr>
            <p:ph type="sldNum" sz="quarter" idx="12"/>
          </p:nvPr>
        </p:nvSpPr>
        <p:spPr/>
        <p:txBody>
          <a:bodyPr/>
          <a:lstStyle/>
          <a:p>
            <a:fld id="{CE9A8198-B36E-4E8C-B56F-5CE897E27388}" type="slidenum">
              <a:rPr lang="en-US" smtClean="0"/>
              <a:pPr/>
              <a:t>42</a:t>
            </a:fld>
            <a:endParaRPr lang="en-US"/>
          </a:p>
        </p:txBody>
      </p:sp>
      <p:sp>
        <p:nvSpPr>
          <p:cNvPr id="6" name="Rectangle 1"/>
          <p:cNvSpPr>
            <a:spLocks noChangeArrowheads="1"/>
          </p:cNvSpPr>
          <p:nvPr/>
        </p:nvSpPr>
        <p:spPr bwMode="auto">
          <a:xfrm>
            <a:off x="228600" y="2239043"/>
            <a:ext cx="8382000" cy="443198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In July 1981, two walkways in the lobby of the Kansas City Hyatt Regency Hotel collapsed.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400" dirty="0">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effectLst/>
                <a:latin typeface="+mn-lt"/>
              </a:rPr>
              <a:t>The cause was a structural design flaw that resulted in a decrease in the walkways’ load-bearing capacity.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effectLst/>
                <a:latin typeface="+mn-lt"/>
              </a:rPr>
              <a:t>But investigators concluded that the real reason those walkways collapsed was a </a:t>
            </a:r>
            <a:r>
              <a:rPr kumimoji="0" lang="en-US" altLang="en-US" sz="2400" b="1" i="0" u="none" strike="noStrike" cap="none" normalizeH="0" baseline="0" dirty="0">
                <a:ln>
                  <a:noFill/>
                </a:ln>
                <a:effectLst/>
                <a:latin typeface="+mn-lt"/>
                <a:hlinkClick r:id="rId2"/>
              </a:rPr>
              <a:t>miscommunication between the structural engineer and the steel fabricator</a:t>
            </a:r>
            <a:r>
              <a:rPr kumimoji="0" lang="en-US" altLang="en-US" sz="2400" b="1" i="0" u="none" strike="noStrike" cap="none" normalizeH="0" baseline="0" dirty="0">
                <a:ln>
                  <a:noFill/>
                </a:ln>
                <a:effectLst/>
                <a:latin typeface="+mn-lt"/>
              </a:rPr>
              <a:t>. The drawings submitted by the structural engineer were preliminary, but the fabricator interpreted them as final. </a:t>
            </a:r>
            <a:endParaRPr kumimoji="0" lang="en-US" altLang="en-US" sz="1000" b="1" i="0" u="none" strike="noStrike" cap="none" normalizeH="0" baseline="0" dirty="0">
              <a:ln>
                <a:noFill/>
              </a:ln>
              <a:solidFill>
                <a:srgbClr val="2CAEE0"/>
              </a:solidFill>
              <a:effectLst/>
              <a:latin typeface="inherit"/>
            </a:endParaRPr>
          </a:p>
        </p:txBody>
      </p:sp>
      <p:pic>
        <p:nvPicPr>
          <p:cNvPr id="1026" name="Picture 2" descr="Hyatt Hotel Walkway Collapse">
            <a:hlinkClick r:id="rId3"/>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21923" y="152400"/>
            <a:ext cx="3626827" cy="25146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228600" y="228600"/>
            <a:ext cx="5105400" cy="1938992"/>
          </a:xfrm>
          <a:prstGeom prst="rect">
            <a:avLst/>
          </a:prstGeom>
        </p:spPr>
        <p:txBody>
          <a:bodyPr wrap="square">
            <a:spAutoFit/>
          </a:bodyPr>
          <a:lstStyle/>
          <a:p>
            <a:r>
              <a:rPr lang="en-US" sz="3600" dirty="0"/>
              <a:t>Hyatt Regency Disaster</a:t>
            </a:r>
          </a:p>
          <a:p>
            <a:endParaRPr lang="en-US" sz="2800" b="1" dirty="0">
              <a:solidFill>
                <a:srgbClr val="FF0000"/>
              </a:solidFill>
            </a:endParaRPr>
          </a:p>
          <a:p>
            <a:r>
              <a:rPr lang="en-US" sz="2800" b="1" dirty="0">
                <a:solidFill>
                  <a:srgbClr val="FF0000"/>
                </a:solidFill>
              </a:rPr>
              <a:t>The falling walkways killed 114 and injured 216</a:t>
            </a:r>
          </a:p>
        </p:txBody>
      </p:sp>
    </p:spTree>
    <p:extLst>
      <p:ext uri="{BB962C8B-B14F-4D97-AF65-F5344CB8AC3E}">
        <p14:creationId xmlns:p14="http://schemas.microsoft.com/office/powerpoint/2010/main" val="216555402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CFA32E-4482-3F4E-1E1B-803C307B7149}"/>
              </a:ext>
            </a:extLst>
          </p:cNvPr>
          <p:cNvSpPr>
            <a:spLocks noGrp="1"/>
          </p:cNvSpPr>
          <p:nvPr>
            <p:ph idx="1"/>
          </p:nvPr>
        </p:nvSpPr>
        <p:spPr>
          <a:xfrm>
            <a:off x="152400" y="0"/>
            <a:ext cx="8686800" cy="6356350"/>
          </a:xfrm>
        </p:spPr>
        <p:txBody>
          <a:bodyPr>
            <a:normAutofit/>
          </a:bodyPr>
          <a:lstStyle/>
          <a:p>
            <a:r>
              <a:rPr lang="en-US" sz="2800" dirty="0"/>
              <a:t>What was in an engineer's email that led to the BP Deepwater Horizon blowout in the Gulf of Mexico?</a:t>
            </a:r>
          </a:p>
          <a:p>
            <a:endParaRPr lang="en-US" sz="2800" dirty="0"/>
          </a:p>
          <a:p>
            <a:r>
              <a:rPr lang="en-US" sz="2800" dirty="0"/>
              <a:t>Answer: One of the engineers on the rig sent an email to his manager on land, essentially pleading for help in making controversial decisions about closing off the well. The manager responded by mentioning that he was going dancing that evening and would contact the engineer the following day. </a:t>
            </a:r>
          </a:p>
          <a:p>
            <a:endParaRPr lang="en-US" sz="2800" dirty="0"/>
          </a:p>
          <a:p>
            <a:r>
              <a:rPr lang="en-US" sz="2800" dirty="0"/>
              <a:t>The engineer’s message was disorganized, including personal details, which made the tone seem more like a complaint rather than a request for an urgent decision.</a:t>
            </a:r>
          </a:p>
        </p:txBody>
      </p:sp>
      <p:sp>
        <p:nvSpPr>
          <p:cNvPr id="5" name="Slide Number Placeholder 4">
            <a:extLst>
              <a:ext uri="{FF2B5EF4-FFF2-40B4-BE49-F238E27FC236}">
                <a16:creationId xmlns:a16="http://schemas.microsoft.com/office/drawing/2014/main" id="{D97E5E31-DE87-3231-26B0-A9469D0FDAE8}"/>
              </a:ext>
            </a:extLst>
          </p:cNvPr>
          <p:cNvSpPr>
            <a:spLocks noGrp="1"/>
          </p:cNvSpPr>
          <p:nvPr>
            <p:ph type="sldNum" sz="quarter" idx="12"/>
          </p:nvPr>
        </p:nvSpPr>
        <p:spPr/>
        <p:txBody>
          <a:bodyPr/>
          <a:lstStyle/>
          <a:p>
            <a:fld id="{CE9A8198-B36E-4E8C-B56F-5CE897E27388}" type="slidenum">
              <a:rPr lang="en-US" smtClean="0"/>
              <a:pPr/>
              <a:t>43</a:t>
            </a:fld>
            <a:endParaRPr lang="en-US"/>
          </a:p>
        </p:txBody>
      </p:sp>
    </p:spTree>
    <p:extLst>
      <p:ext uri="{BB962C8B-B14F-4D97-AF65-F5344CB8AC3E}">
        <p14:creationId xmlns:p14="http://schemas.microsoft.com/office/powerpoint/2010/main" val="1914556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E89305-DFC0-A7E9-F5DB-72DFB7E621C3}"/>
              </a:ext>
            </a:extLst>
          </p:cNvPr>
          <p:cNvSpPr>
            <a:spLocks noGrp="1"/>
          </p:cNvSpPr>
          <p:nvPr>
            <p:ph idx="1"/>
          </p:nvPr>
        </p:nvSpPr>
        <p:spPr>
          <a:xfrm>
            <a:off x="76200" y="76200"/>
            <a:ext cx="8915400" cy="6705600"/>
          </a:xfrm>
        </p:spPr>
        <p:txBody>
          <a:bodyPr>
            <a:noAutofit/>
          </a:bodyPr>
          <a:lstStyle/>
          <a:p>
            <a:r>
              <a:rPr lang="en-US" sz="2800" dirty="0"/>
              <a:t>What was the role of miscommunication in the Columbia Shuttle disaster?</a:t>
            </a:r>
          </a:p>
          <a:p>
            <a:endParaRPr lang="en-US" sz="2800" dirty="0"/>
          </a:p>
          <a:p>
            <a:r>
              <a:rPr lang="en-US" sz="2400" dirty="0"/>
              <a:t>Answer: There were two major instances of miscommunication. The first occurred when an offsite engineer sent a rambling email to the engineers who had been working around the clock to assess the extent of the damage to the shuttle’s tile. Although the engineer was close to determining what had likely happened, his email included personal issues at the beginning, which caused the engineers to overlook it. </a:t>
            </a:r>
          </a:p>
          <a:p>
            <a:endParaRPr lang="en-US" sz="2400" dirty="0"/>
          </a:p>
          <a:p>
            <a:r>
              <a:rPr lang="en-US" sz="2400" dirty="0"/>
              <a:t>The second miscommunication took place when the engineers presented their findings to NASA in a PowerPoint presentation. The mathematical model they used to assess the damage was not valid for such extensive damage, but they only mentioned this limitation at the bottom of the slide, where it was less likely to be noticed by the audience.</a:t>
            </a:r>
          </a:p>
        </p:txBody>
      </p:sp>
    </p:spTree>
    <p:extLst>
      <p:ext uri="{BB962C8B-B14F-4D97-AF65-F5344CB8AC3E}">
        <p14:creationId xmlns:p14="http://schemas.microsoft.com/office/powerpoint/2010/main" val="22603554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EEC2F01-0EB8-46A1-9427-C6665EA38BE5}"/>
              </a:ext>
            </a:extLst>
          </p:cNvPr>
          <p:cNvSpPr>
            <a:spLocks noGrp="1"/>
          </p:cNvSpPr>
          <p:nvPr>
            <p:ph type="subTitle" idx="1"/>
          </p:nvPr>
        </p:nvSpPr>
        <p:spPr>
          <a:xfrm>
            <a:off x="0" y="304800"/>
            <a:ext cx="9067800" cy="6324600"/>
          </a:xfrm>
        </p:spPr>
        <p:txBody>
          <a:bodyPr>
            <a:normAutofit fontScale="85000" lnSpcReduction="10000"/>
          </a:bodyPr>
          <a:lstStyle/>
          <a:p>
            <a:pPr algn="l"/>
            <a:r>
              <a:rPr lang="en-US" b="1" dirty="0">
                <a:solidFill>
                  <a:srgbClr val="C00000"/>
                </a:solidFill>
              </a:rPr>
              <a:t>Features of </a:t>
            </a:r>
            <a:r>
              <a:rPr lang="en-US" b="1" u="sng" dirty="0">
                <a:solidFill>
                  <a:srgbClr val="C00000"/>
                </a:solidFill>
              </a:rPr>
              <a:t>Academic</a:t>
            </a:r>
            <a:r>
              <a:rPr lang="en-US" b="1" dirty="0">
                <a:solidFill>
                  <a:srgbClr val="C00000"/>
                </a:solidFill>
              </a:rPr>
              <a:t> Writing </a:t>
            </a:r>
            <a:r>
              <a:rPr lang="en-US" b="1" i="1" dirty="0">
                <a:solidFill>
                  <a:srgbClr val="C00000"/>
                </a:solidFill>
              </a:rPr>
              <a:t>(school assignments)</a:t>
            </a:r>
          </a:p>
          <a:p>
            <a:pPr algn="l"/>
            <a:endParaRPr lang="en-US" b="1" dirty="0">
              <a:solidFill>
                <a:srgbClr val="C00000"/>
              </a:solidFill>
            </a:endParaRPr>
          </a:p>
          <a:p>
            <a:pPr algn="l"/>
            <a:r>
              <a:rPr lang="en-US" dirty="0">
                <a:solidFill>
                  <a:schemeClr val="tx1"/>
                </a:solidFill>
              </a:rPr>
              <a:t>■ </a:t>
            </a:r>
            <a:r>
              <a:rPr lang="en-US" b="1" dirty="0">
                <a:solidFill>
                  <a:schemeClr val="tx1"/>
                </a:solidFill>
              </a:rPr>
              <a:t>Purpose: </a:t>
            </a:r>
            <a:r>
              <a:rPr lang="en-US" dirty="0">
                <a:solidFill>
                  <a:schemeClr val="tx1"/>
                </a:solidFill>
              </a:rPr>
              <a:t>Communicating what you know about the topic, in 	a way that justifies a high grade</a:t>
            </a:r>
          </a:p>
          <a:p>
            <a:pPr algn="l"/>
            <a:endParaRPr lang="en-US" dirty="0">
              <a:solidFill>
                <a:schemeClr val="tx1"/>
              </a:solidFill>
            </a:endParaRPr>
          </a:p>
          <a:p>
            <a:pPr algn="l"/>
            <a:r>
              <a:rPr lang="en-US" dirty="0">
                <a:solidFill>
                  <a:schemeClr val="tx1"/>
                </a:solidFill>
              </a:rPr>
              <a:t>■ </a:t>
            </a:r>
            <a:r>
              <a:rPr lang="en-US" b="1" dirty="0">
                <a:solidFill>
                  <a:schemeClr val="tx1"/>
                </a:solidFill>
              </a:rPr>
              <a:t>Your knowledge of topic</a:t>
            </a:r>
            <a:r>
              <a:rPr lang="en-US" dirty="0">
                <a:solidFill>
                  <a:schemeClr val="tx1"/>
                </a:solidFill>
              </a:rPr>
              <a:t>: Less than the teacher who 	evaluates the writing</a:t>
            </a:r>
          </a:p>
          <a:p>
            <a:pPr algn="l"/>
            <a:endParaRPr lang="en-US" dirty="0">
              <a:solidFill>
                <a:schemeClr val="tx1"/>
              </a:solidFill>
            </a:endParaRPr>
          </a:p>
          <a:p>
            <a:pPr algn="l"/>
            <a:r>
              <a:rPr lang="en-US" dirty="0">
                <a:solidFill>
                  <a:schemeClr val="tx1"/>
                </a:solidFill>
              </a:rPr>
              <a:t>■ </a:t>
            </a:r>
            <a:r>
              <a:rPr lang="en-US" b="1" dirty="0">
                <a:solidFill>
                  <a:schemeClr val="tx1"/>
                </a:solidFill>
              </a:rPr>
              <a:t>Audience</a:t>
            </a:r>
            <a:r>
              <a:rPr lang="en-US" dirty="0">
                <a:solidFill>
                  <a:schemeClr val="tx1"/>
                </a:solidFill>
              </a:rPr>
              <a:t>: The teacher who requests the assignment </a:t>
            </a:r>
          </a:p>
          <a:p>
            <a:pPr algn="l"/>
            <a:endParaRPr lang="en-US" dirty="0">
              <a:solidFill>
                <a:schemeClr val="tx1"/>
              </a:solidFill>
            </a:endParaRPr>
          </a:p>
          <a:p>
            <a:pPr algn="l"/>
            <a:r>
              <a:rPr lang="en-US" dirty="0">
                <a:solidFill>
                  <a:schemeClr val="tx1"/>
                </a:solidFill>
              </a:rPr>
              <a:t>■ </a:t>
            </a:r>
            <a:r>
              <a:rPr lang="en-US" b="1" dirty="0">
                <a:solidFill>
                  <a:schemeClr val="tx1"/>
                </a:solidFill>
              </a:rPr>
              <a:t>Criteria for evaluation</a:t>
            </a:r>
            <a:r>
              <a:rPr lang="en-US" dirty="0">
                <a:solidFill>
                  <a:schemeClr val="tx1"/>
                </a:solidFill>
              </a:rPr>
              <a:t>: Depth, logic, clarity, unity, 	supporting evidence, and grammar</a:t>
            </a:r>
          </a:p>
          <a:p>
            <a:pPr algn="l"/>
            <a:endParaRPr lang="en-US" dirty="0">
              <a:solidFill>
                <a:schemeClr val="tx1"/>
              </a:solidFill>
            </a:endParaRPr>
          </a:p>
          <a:p>
            <a:pPr algn="l"/>
            <a:r>
              <a:rPr lang="en-US" dirty="0">
                <a:solidFill>
                  <a:schemeClr val="tx1"/>
                </a:solidFill>
              </a:rPr>
              <a:t>■ </a:t>
            </a:r>
            <a:r>
              <a:rPr lang="en-US" b="1" dirty="0">
                <a:solidFill>
                  <a:schemeClr val="tx1"/>
                </a:solidFill>
              </a:rPr>
              <a:t>Graphic elements</a:t>
            </a:r>
            <a:r>
              <a:rPr lang="en-US" dirty="0">
                <a:solidFill>
                  <a:schemeClr val="tx1"/>
                </a:solidFill>
              </a:rPr>
              <a:t>: Sometimes used to explain and persuade</a:t>
            </a:r>
          </a:p>
        </p:txBody>
      </p:sp>
      <p:sp>
        <p:nvSpPr>
          <p:cNvPr id="4" name="Footer Placeholder 3">
            <a:extLst>
              <a:ext uri="{FF2B5EF4-FFF2-40B4-BE49-F238E27FC236}">
                <a16:creationId xmlns:a16="http://schemas.microsoft.com/office/drawing/2014/main" id="{3500492A-15BE-4B59-A60A-CDADCCD4E333}"/>
              </a:ext>
            </a:extLst>
          </p:cNvPr>
          <p:cNvSpPr>
            <a:spLocks noGrp="1"/>
          </p:cNvSpPr>
          <p:nvPr>
            <p:ph type="ftr" sz="quarter" idx="11"/>
          </p:nvPr>
        </p:nvSpPr>
        <p:spPr/>
        <p:txBody>
          <a:bodyPr/>
          <a:lstStyle/>
          <a:p>
            <a:r>
              <a:rPr lang="en-US"/>
              <a:t>Technical Writing</a:t>
            </a:r>
          </a:p>
        </p:txBody>
      </p:sp>
      <p:sp>
        <p:nvSpPr>
          <p:cNvPr id="5" name="Slide Number Placeholder 4">
            <a:extLst>
              <a:ext uri="{FF2B5EF4-FFF2-40B4-BE49-F238E27FC236}">
                <a16:creationId xmlns:a16="http://schemas.microsoft.com/office/drawing/2014/main" id="{8DE26C9E-262A-4CE8-A02E-D7A7FB3E08F9}"/>
              </a:ext>
            </a:extLst>
          </p:cNvPr>
          <p:cNvSpPr>
            <a:spLocks noGrp="1"/>
          </p:cNvSpPr>
          <p:nvPr>
            <p:ph type="sldNum" sz="quarter" idx="12"/>
          </p:nvPr>
        </p:nvSpPr>
        <p:spPr/>
        <p:txBody>
          <a:bodyPr/>
          <a:lstStyle/>
          <a:p>
            <a:fld id="{CE9A8198-B36E-4E8C-B56F-5CE897E27388}" type="slidenum">
              <a:rPr lang="en-US" smtClean="0"/>
              <a:pPr/>
              <a:t>45</a:t>
            </a:fld>
            <a:endParaRPr lang="en-US"/>
          </a:p>
        </p:txBody>
      </p:sp>
    </p:spTree>
    <p:extLst>
      <p:ext uri="{BB962C8B-B14F-4D97-AF65-F5344CB8AC3E}">
        <p14:creationId xmlns:p14="http://schemas.microsoft.com/office/powerpoint/2010/main" val="12048484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EEC2F01-0EB8-46A1-9427-C6665EA38BE5}"/>
              </a:ext>
            </a:extLst>
          </p:cNvPr>
          <p:cNvSpPr>
            <a:spLocks noGrp="1"/>
          </p:cNvSpPr>
          <p:nvPr>
            <p:ph type="subTitle" idx="1"/>
          </p:nvPr>
        </p:nvSpPr>
        <p:spPr>
          <a:xfrm>
            <a:off x="0" y="304800"/>
            <a:ext cx="9067800" cy="6553200"/>
          </a:xfrm>
        </p:spPr>
        <p:txBody>
          <a:bodyPr>
            <a:normAutofit fontScale="85000" lnSpcReduction="10000"/>
          </a:bodyPr>
          <a:lstStyle/>
          <a:p>
            <a:pPr algn="l"/>
            <a:r>
              <a:rPr lang="en-US" b="1" dirty="0">
                <a:solidFill>
                  <a:srgbClr val="C00000"/>
                </a:solidFill>
              </a:rPr>
              <a:t>Features of </a:t>
            </a:r>
            <a:r>
              <a:rPr lang="en-US" b="1" i="1" dirty="0">
                <a:solidFill>
                  <a:srgbClr val="C00000"/>
                </a:solidFill>
              </a:rPr>
              <a:t>Technical </a:t>
            </a:r>
            <a:r>
              <a:rPr lang="en-US" b="1" dirty="0">
                <a:solidFill>
                  <a:srgbClr val="C00000"/>
                </a:solidFill>
              </a:rPr>
              <a:t>Communication</a:t>
            </a:r>
          </a:p>
          <a:p>
            <a:pPr algn="l"/>
            <a:endParaRPr lang="en-US" b="1" dirty="0">
              <a:solidFill>
                <a:srgbClr val="C00000"/>
              </a:solidFill>
            </a:endParaRPr>
          </a:p>
          <a:p>
            <a:pPr algn="l"/>
            <a:r>
              <a:rPr lang="en-US" dirty="0">
                <a:solidFill>
                  <a:schemeClr val="tx1"/>
                </a:solidFill>
              </a:rPr>
              <a:t>■ </a:t>
            </a:r>
            <a:r>
              <a:rPr lang="en-US" b="1" dirty="0">
                <a:solidFill>
                  <a:schemeClr val="tx1"/>
                </a:solidFill>
              </a:rPr>
              <a:t>Purpose:</a:t>
            </a:r>
            <a:r>
              <a:rPr lang="en-US" dirty="0">
                <a:solidFill>
                  <a:schemeClr val="tx1"/>
                </a:solidFill>
              </a:rPr>
              <a:t> Getting something done within an organization or 	helping a customer, client, or colleague 	get something 	done</a:t>
            </a:r>
          </a:p>
          <a:p>
            <a:pPr algn="l"/>
            <a:endParaRPr lang="en-US" dirty="0">
              <a:solidFill>
                <a:schemeClr val="tx1"/>
              </a:solidFill>
            </a:endParaRPr>
          </a:p>
          <a:p>
            <a:pPr algn="l"/>
            <a:r>
              <a:rPr lang="en-US" dirty="0">
                <a:solidFill>
                  <a:schemeClr val="tx1"/>
                </a:solidFill>
              </a:rPr>
              <a:t>■ </a:t>
            </a:r>
            <a:r>
              <a:rPr lang="en-US" b="1" dirty="0">
                <a:solidFill>
                  <a:schemeClr val="tx1"/>
                </a:solidFill>
              </a:rPr>
              <a:t>Your knowledge of topic</a:t>
            </a:r>
            <a:r>
              <a:rPr lang="en-US" dirty="0">
                <a:solidFill>
                  <a:schemeClr val="tx1"/>
                </a:solidFill>
              </a:rPr>
              <a:t>: Usually greater than that of the 	reader</a:t>
            </a:r>
          </a:p>
          <a:p>
            <a:pPr algn="l"/>
            <a:r>
              <a:rPr lang="en-US" dirty="0">
                <a:solidFill>
                  <a:schemeClr val="tx1"/>
                </a:solidFill>
              </a:rPr>
              <a:t>■ </a:t>
            </a:r>
            <a:r>
              <a:rPr lang="en-US" b="1" dirty="0">
                <a:solidFill>
                  <a:schemeClr val="tx1"/>
                </a:solidFill>
              </a:rPr>
              <a:t>Audience:</a:t>
            </a:r>
            <a:r>
              <a:rPr lang="en-US" dirty="0">
                <a:solidFill>
                  <a:schemeClr val="tx1"/>
                </a:solidFill>
              </a:rPr>
              <a:t> Often several people </a:t>
            </a:r>
            <a:r>
              <a:rPr lang="en-US" u="sng" dirty="0">
                <a:solidFill>
                  <a:schemeClr val="tx1"/>
                </a:solidFill>
              </a:rPr>
              <a:t>with differing technical 	backgrounds</a:t>
            </a:r>
          </a:p>
          <a:p>
            <a:pPr algn="l"/>
            <a:r>
              <a:rPr lang="en-US" dirty="0">
                <a:solidFill>
                  <a:schemeClr val="tx1"/>
                </a:solidFill>
              </a:rPr>
              <a:t>■ </a:t>
            </a:r>
            <a:r>
              <a:rPr lang="en-US" b="1" dirty="0">
                <a:solidFill>
                  <a:schemeClr val="tx1"/>
                </a:solidFill>
              </a:rPr>
              <a:t>Criteria for evaluation</a:t>
            </a:r>
            <a:r>
              <a:rPr lang="en-US" dirty="0">
                <a:solidFill>
                  <a:schemeClr val="tx1"/>
                </a:solidFill>
              </a:rPr>
              <a:t>: Clear and simple organization of 	ideas and supporting detail appropriate to the 	needs of 	busy readers</a:t>
            </a:r>
          </a:p>
          <a:p>
            <a:pPr algn="l"/>
            <a:r>
              <a:rPr lang="en-US" dirty="0">
                <a:solidFill>
                  <a:schemeClr val="tx1"/>
                </a:solidFill>
              </a:rPr>
              <a:t>■ </a:t>
            </a:r>
            <a:r>
              <a:rPr lang="en-US" b="1" dirty="0">
                <a:solidFill>
                  <a:schemeClr val="tx1"/>
                </a:solidFill>
              </a:rPr>
              <a:t>Graphic elements: </a:t>
            </a:r>
            <a:r>
              <a:rPr lang="en-US" dirty="0">
                <a:solidFill>
                  <a:schemeClr val="tx1"/>
                </a:solidFill>
              </a:rPr>
              <a:t>Frequently used to explain existing 	conditions and to present alternative courses of action</a:t>
            </a:r>
          </a:p>
        </p:txBody>
      </p:sp>
      <p:sp>
        <p:nvSpPr>
          <p:cNvPr id="4" name="Footer Placeholder 3">
            <a:extLst>
              <a:ext uri="{FF2B5EF4-FFF2-40B4-BE49-F238E27FC236}">
                <a16:creationId xmlns:a16="http://schemas.microsoft.com/office/drawing/2014/main" id="{3500492A-15BE-4B59-A60A-CDADCCD4E33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rPr>
              <a:t>Technical Writing</a:t>
            </a:r>
          </a:p>
        </p:txBody>
      </p:sp>
      <p:sp>
        <p:nvSpPr>
          <p:cNvPr id="5" name="Slide Number Placeholder 4">
            <a:extLst>
              <a:ext uri="{FF2B5EF4-FFF2-40B4-BE49-F238E27FC236}">
                <a16:creationId xmlns:a16="http://schemas.microsoft.com/office/drawing/2014/main" id="{8DE26C9E-262A-4CE8-A02E-D7A7FB3E08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E9A8198-B36E-4E8C-B56F-5CE897E27388}" type="slidenum">
              <a:rPr kumimoji="0" lang="en-US" sz="1200" b="0" i="0" u="none" strike="noStrike" kern="1200" cap="none" spc="0" normalizeH="0" baseline="0" noProof="0" smtClean="0">
                <a:ln>
                  <a:noFill/>
                </a:ln>
                <a:solidFill>
                  <a:prstClr val="black">
                    <a:tint val="75000"/>
                  </a:prstClr>
                </a:solidFill>
                <a:effectLst/>
                <a:uLnTx/>
                <a:uFillTx/>
                <a:latin typeface="Times New Roman"/>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tint val="75000"/>
                </a:prstClr>
              </a:solidFill>
              <a:effectLst/>
              <a:uLnTx/>
              <a:uFillTx/>
              <a:latin typeface="Times New Roman"/>
              <a:ea typeface="+mn-ea"/>
              <a:cs typeface="+mn-cs"/>
            </a:endParaRPr>
          </a:p>
        </p:txBody>
      </p:sp>
    </p:spTree>
    <p:extLst>
      <p:ext uri="{BB962C8B-B14F-4D97-AF65-F5344CB8AC3E}">
        <p14:creationId xmlns:p14="http://schemas.microsoft.com/office/powerpoint/2010/main" val="1162061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7C8A7FA-C20A-4866-8285-6300CED9DDC8}"/>
              </a:ext>
            </a:extLst>
          </p:cNvPr>
          <p:cNvSpPr>
            <a:spLocks noGrp="1"/>
          </p:cNvSpPr>
          <p:nvPr>
            <p:ph type="subTitle" idx="1"/>
          </p:nvPr>
        </p:nvSpPr>
        <p:spPr>
          <a:xfrm>
            <a:off x="4495800" y="17585"/>
            <a:ext cx="4648200" cy="6858000"/>
          </a:xfrm>
          <a:solidFill>
            <a:schemeClr val="accent5">
              <a:lumMod val="20000"/>
              <a:lumOff val="80000"/>
            </a:schemeClr>
          </a:solidFill>
        </p:spPr>
        <p:txBody>
          <a:bodyPr>
            <a:normAutofit fontScale="70000" lnSpcReduction="20000"/>
          </a:bodyPr>
          <a:lstStyle/>
          <a:p>
            <a:pPr algn="l"/>
            <a:r>
              <a:rPr lang="en-US" sz="3400" b="1" dirty="0">
                <a:solidFill>
                  <a:schemeClr val="tx1"/>
                </a:solidFill>
              </a:rPr>
              <a:t>Technical communication </a:t>
            </a:r>
          </a:p>
          <a:p>
            <a:pPr marL="514350" indent="-514350" algn="l">
              <a:buAutoNum type="arabicPeriod"/>
            </a:pPr>
            <a:endParaRPr lang="en-US" b="1" dirty="0">
              <a:solidFill>
                <a:schemeClr val="tx1"/>
              </a:solidFill>
            </a:endParaRPr>
          </a:p>
          <a:p>
            <a:pPr marL="514350" indent="-514350" algn="l">
              <a:buFont typeface="+mj-lt"/>
              <a:buAutoNum type="arabicPeriod"/>
            </a:pPr>
            <a:r>
              <a:rPr lang="en-US" dirty="0">
                <a:solidFill>
                  <a:schemeClr val="tx1"/>
                </a:solidFill>
              </a:rPr>
              <a:t>Aims to help people make decisions and perform tasks</a:t>
            </a:r>
          </a:p>
          <a:p>
            <a:pPr marL="514350" indent="-514350" algn="l">
              <a:buFont typeface="+mj-lt"/>
              <a:buAutoNum type="arabicPeriod"/>
            </a:pPr>
            <a:endParaRPr lang="en-US" dirty="0">
              <a:solidFill>
                <a:schemeClr val="tx1"/>
              </a:solidFill>
            </a:endParaRPr>
          </a:p>
          <a:p>
            <a:pPr marL="514350" indent="-514350" algn="l">
              <a:buFont typeface="+mj-lt"/>
              <a:buAutoNum type="arabicPeriod"/>
            </a:pPr>
            <a:r>
              <a:rPr lang="en-US" dirty="0">
                <a:solidFill>
                  <a:schemeClr val="tx1"/>
                </a:solidFill>
              </a:rPr>
              <a:t>Responds to the needs of the workplace</a:t>
            </a:r>
          </a:p>
          <a:p>
            <a:pPr marL="514350" indent="-514350" algn="l">
              <a:buFont typeface="+mj-lt"/>
              <a:buAutoNum type="arabicPeriod"/>
            </a:pPr>
            <a:endParaRPr lang="en-US" dirty="0">
              <a:solidFill>
                <a:schemeClr val="tx1"/>
              </a:solidFill>
            </a:endParaRPr>
          </a:p>
          <a:p>
            <a:pPr marL="514350" indent="-514350" algn="l">
              <a:buFont typeface="+mj-lt"/>
              <a:buAutoNum type="arabicPeriod"/>
            </a:pPr>
            <a:r>
              <a:rPr lang="en-US" dirty="0">
                <a:solidFill>
                  <a:schemeClr val="tx1"/>
                </a:solidFill>
              </a:rPr>
              <a:t>Is created by an informed writer conveying needed information both verbally and visually to an uninformed reader</a:t>
            </a:r>
          </a:p>
          <a:p>
            <a:pPr marL="514350" indent="-514350" algn="l">
              <a:buFont typeface="+mj-lt"/>
              <a:buAutoNum type="arabicPeriod"/>
            </a:pPr>
            <a:endParaRPr lang="en-US" dirty="0">
              <a:solidFill>
                <a:schemeClr val="tx1"/>
              </a:solidFill>
            </a:endParaRPr>
          </a:p>
          <a:p>
            <a:pPr marL="514350" indent="-514350" algn="l">
              <a:buFont typeface="+mj-lt"/>
              <a:buAutoNum type="arabicPeriod"/>
            </a:pPr>
            <a:r>
              <a:rPr lang="en-US" dirty="0">
                <a:solidFill>
                  <a:schemeClr val="tx1"/>
                </a:solidFill>
              </a:rPr>
              <a:t>Is read by many readers</a:t>
            </a:r>
          </a:p>
          <a:p>
            <a:pPr marL="514350" indent="-514350" algn="l">
              <a:buFont typeface="+mj-lt"/>
              <a:buAutoNum type="arabicPeriod"/>
            </a:pPr>
            <a:endParaRPr lang="en-US" dirty="0">
              <a:solidFill>
                <a:schemeClr val="tx1"/>
              </a:solidFill>
            </a:endParaRPr>
          </a:p>
          <a:p>
            <a:pPr marL="514350" indent="-514350" algn="l">
              <a:buFont typeface="+mj-lt"/>
              <a:buAutoNum type="arabicPeriod"/>
            </a:pPr>
            <a:r>
              <a:rPr lang="en-US" dirty="0">
                <a:solidFill>
                  <a:schemeClr val="tx1"/>
                </a:solidFill>
              </a:rPr>
              <a:t>Places greater emphasis on techniques of organization and visual cues that help readers find important information as quickly as possible.</a:t>
            </a:r>
          </a:p>
        </p:txBody>
      </p:sp>
      <p:sp>
        <p:nvSpPr>
          <p:cNvPr id="4" name="Footer Placeholder 3">
            <a:extLst>
              <a:ext uri="{FF2B5EF4-FFF2-40B4-BE49-F238E27FC236}">
                <a16:creationId xmlns:a16="http://schemas.microsoft.com/office/drawing/2014/main" id="{804846C8-4D2E-4141-A9C4-793019105453}"/>
              </a:ext>
            </a:extLst>
          </p:cNvPr>
          <p:cNvSpPr>
            <a:spLocks noGrp="1"/>
          </p:cNvSpPr>
          <p:nvPr>
            <p:ph type="ftr" sz="quarter" idx="11"/>
          </p:nvPr>
        </p:nvSpPr>
        <p:spPr/>
        <p:txBody>
          <a:bodyPr/>
          <a:lstStyle/>
          <a:p>
            <a:r>
              <a:rPr lang="en-US"/>
              <a:t>Technical Writing</a:t>
            </a:r>
          </a:p>
        </p:txBody>
      </p:sp>
      <p:sp>
        <p:nvSpPr>
          <p:cNvPr id="5" name="Slide Number Placeholder 4">
            <a:extLst>
              <a:ext uri="{FF2B5EF4-FFF2-40B4-BE49-F238E27FC236}">
                <a16:creationId xmlns:a16="http://schemas.microsoft.com/office/drawing/2014/main" id="{9E20BB5B-31E8-453F-927D-D65085EF1BD6}"/>
              </a:ext>
            </a:extLst>
          </p:cNvPr>
          <p:cNvSpPr>
            <a:spLocks noGrp="1"/>
          </p:cNvSpPr>
          <p:nvPr>
            <p:ph type="sldNum" sz="quarter" idx="12"/>
          </p:nvPr>
        </p:nvSpPr>
        <p:spPr/>
        <p:txBody>
          <a:bodyPr/>
          <a:lstStyle/>
          <a:p>
            <a:fld id="{CE9A8198-B36E-4E8C-B56F-5CE897E27388}" type="slidenum">
              <a:rPr lang="en-US" smtClean="0"/>
              <a:pPr/>
              <a:t>47</a:t>
            </a:fld>
            <a:endParaRPr lang="en-US"/>
          </a:p>
        </p:txBody>
      </p:sp>
      <p:sp>
        <p:nvSpPr>
          <p:cNvPr id="6" name="Subtitle 2">
            <a:extLst>
              <a:ext uri="{FF2B5EF4-FFF2-40B4-BE49-F238E27FC236}">
                <a16:creationId xmlns:a16="http://schemas.microsoft.com/office/drawing/2014/main" id="{4D5C877B-C990-41A2-9E9F-4DA22D989D12}"/>
              </a:ext>
            </a:extLst>
          </p:cNvPr>
          <p:cNvSpPr txBox="1">
            <a:spLocks/>
          </p:cNvSpPr>
          <p:nvPr/>
        </p:nvSpPr>
        <p:spPr>
          <a:xfrm>
            <a:off x="5862" y="0"/>
            <a:ext cx="4470400" cy="6858000"/>
          </a:xfrm>
          <a:prstGeom prst="rect">
            <a:avLst/>
          </a:prstGeom>
          <a:solidFill>
            <a:schemeClr val="accent6">
              <a:lumMod val="20000"/>
              <a:lumOff val="80000"/>
            </a:schemeClr>
          </a:solidFill>
        </p:spPr>
        <p:txBody>
          <a:bodyPr vert="horz" lIns="91440" tIns="45720" rIns="91440" bIns="45720" rtlCol="0">
            <a:norm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2400" b="1" dirty="0">
                <a:solidFill>
                  <a:schemeClr val="tx1"/>
                </a:solidFill>
              </a:rPr>
              <a:t>Academic /school writing </a:t>
            </a:r>
          </a:p>
          <a:p>
            <a:pPr algn="l"/>
            <a:endParaRPr lang="en-US" sz="2400" b="1" dirty="0">
              <a:solidFill>
                <a:schemeClr val="tx1"/>
              </a:solidFill>
            </a:endParaRPr>
          </a:p>
          <a:p>
            <a:pPr marL="514350" indent="-514350" algn="l">
              <a:buFont typeface="+mj-lt"/>
              <a:buAutoNum type="arabicPeriod"/>
            </a:pPr>
            <a:r>
              <a:rPr lang="en-US" sz="2200" dirty="0">
                <a:solidFill>
                  <a:schemeClr val="tx1"/>
                </a:solidFill>
              </a:rPr>
              <a:t>Aims only to display your knowledge.</a:t>
            </a:r>
          </a:p>
          <a:p>
            <a:pPr marL="514350" indent="-514350" algn="l">
              <a:buFont typeface="+mj-lt"/>
              <a:buAutoNum type="arabicPeriod"/>
            </a:pPr>
            <a:endParaRPr lang="en-US" sz="2200" dirty="0">
              <a:solidFill>
                <a:schemeClr val="tx1"/>
              </a:solidFill>
            </a:endParaRPr>
          </a:p>
          <a:p>
            <a:pPr marL="514350" indent="-514350" algn="l">
              <a:buFont typeface="+mj-lt"/>
              <a:buAutoNum type="arabicPeriod"/>
            </a:pPr>
            <a:r>
              <a:rPr lang="en-US" sz="2200" dirty="0">
                <a:solidFill>
                  <a:schemeClr val="tx1"/>
                </a:solidFill>
              </a:rPr>
              <a:t>Responds to an assignment created by a teacher.</a:t>
            </a:r>
          </a:p>
          <a:p>
            <a:pPr marL="514350" indent="-514350" algn="l">
              <a:buFont typeface="+mj-lt"/>
              <a:buAutoNum type="arabicPeriod"/>
            </a:pPr>
            <a:endParaRPr lang="en-US" sz="2200" dirty="0">
              <a:solidFill>
                <a:schemeClr val="tx1"/>
              </a:solidFill>
            </a:endParaRPr>
          </a:p>
          <a:p>
            <a:pPr marL="514350" indent="-514350" algn="l">
              <a:buFont typeface="+mj-lt"/>
              <a:buAutoNum type="arabicPeriod"/>
            </a:pPr>
            <a:r>
              <a:rPr lang="en-US" sz="2200" dirty="0">
                <a:solidFill>
                  <a:schemeClr val="tx1"/>
                </a:solidFill>
              </a:rPr>
              <a:t>Is created by a student as the learner for a teacher as the source of knowledge.</a:t>
            </a:r>
          </a:p>
          <a:p>
            <a:pPr marL="514350" indent="-514350" algn="l">
              <a:buFont typeface="+mj-lt"/>
              <a:buAutoNum type="arabicPeriod"/>
            </a:pPr>
            <a:endParaRPr lang="en-US" sz="2200" dirty="0">
              <a:solidFill>
                <a:schemeClr val="tx1"/>
              </a:solidFill>
            </a:endParaRPr>
          </a:p>
          <a:p>
            <a:pPr marL="514350" indent="-514350" algn="l">
              <a:buFont typeface="+mj-lt"/>
              <a:buAutoNum type="arabicPeriod"/>
            </a:pPr>
            <a:r>
              <a:rPr lang="en-US" sz="2200" dirty="0">
                <a:solidFill>
                  <a:schemeClr val="tx1"/>
                </a:solidFill>
              </a:rPr>
              <a:t>Usually aims to satisfy only one person, the teacher.</a:t>
            </a:r>
          </a:p>
          <a:p>
            <a:pPr algn="l"/>
            <a:endParaRPr lang="en-US" dirty="0">
              <a:solidFill>
                <a:schemeClr val="tx1"/>
              </a:solidFill>
            </a:endParaRPr>
          </a:p>
        </p:txBody>
      </p:sp>
    </p:spTree>
    <p:extLst>
      <p:ext uri="{BB962C8B-B14F-4D97-AF65-F5344CB8AC3E}">
        <p14:creationId xmlns:p14="http://schemas.microsoft.com/office/powerpoint/2010/main" val="2567753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 y="381000"/>
            <a:ext cx="8839200" cy="6400800"/>
          </a:xfrm>
        </p:spPr>
        <p:txBody>
          <a:bodyPr>
            <a:normAutofit fontScale="92500"/>
          </a:bodyPr>
          <a:lstStyle/>
          <a:p>
            <a:r>
              <a:rPr lang="en-US" dirty="0"/>
              <a:t>Two relatively recent trends make communication skills even more vital to the engineering profession: </a:t>
            </a:r>
          </a:p>
          <a:p>
            <a:endParaRPr lang="en-US" dirty="0"/>
          </a:p>
          <a:p>
            <a:pPr marL="0" indent="0">
              <a:buNone/>
            </a:pPr>
            <a:r>
              <a:rPr lang="en-US" dirty="0"/>
              <a:t>     </a:t>
            </a:r>
            <a:r>
              <a:rPr lang="en-US" b="1" dirty="0">
                <a:solidFill>
                  <a:srgbClr val="C00000"/>
                </a:solidFill>
              </a:rPr>
              <a:t>A) Specialization</a:t>
            </a:r>
          </a:p>
          <a:p>
            <a:pPr marL="0" indent="0">
              <a:buNone/>
            </a:pPr>
            <a:r>
              <a:rPr lang="en-US" dirty="0"/>
              <a:t>	Due to the advancement and specialization of 	technology, engineers are finding it increasingly 	difficult to communicate with one another. </a:t>
            </a:r>
          </a:p>
          <a:p>
            <a:pPr lvl="1"/>
            <a:endParaRPr lang="en-US" dirty="0"/>
          </a:p>
          <a:p>
            <a:pPr marL="457200" lvl="1" indent="0">
              <a:buNone/>
            </a:pPr>
            <a:r>
              <a:rPr lang="en-US" sz="3200" b="1" dirty="0">
                <a:solidFill>
                  <a:srgbClr val="C00000"/>
                </a:solidFill>
              </a:rPr>
              <a:t>B) Accountability </a:t>
            </a:r>
          </a:p>
          <a:p>
            <a:pPr marL="457200" lvl="1" indent="0">
              <a:buNone/>
            </a:pPr>
            <a:r>
              <a:rPr lang="en-US" dirty="0"/>
              <a:t>Because engineers and their companies are now held much more accountable by the public, engineers must also be able to communicate with government, news media, and the general public. </a:t>
            </a:r>
          </a:p>
        </p:txBody>
      </p:sp>
    </p:spTree>
    <p:extLst>
      <p:ext uri="{BB962C8B-B14F-4D97-AF65-F5344CB8AC3E}">
        <p14:creationId xmlns:p14="http://schemas.microsoft.com/office/powerpoint/2010/main" val="401100278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3393202"/>
            <a:ext cx="8077200" cy="3458935"/>
          </a:xfrm>
        </p:spPr>
        <p:txBody>
          <a:bodyPr/>
          <a:lstStyle/>
          <a:p>
            <a:r>
              <a:rPr lang="en-US" dirty="0"/>
              <a:t>In written communication, we are primarily concerned with:</a:t>
            </a:r>
          </a:p>
          <a:p>
            <a:pPr lvl="2"/>
            <a:r>
              <a:rPr lang="en-US" sz="4000" dirty="0"/>
              <a:t> syntactic (grammar), </a:t>
            </a:r>
          </a:p>
          <a:p>
            <a:pPr lvl="2"/>
            <a:r>
              <a:rPr lang="en-US" sz="4000" dirty="0"/>
              <a:t>semantic (word meanings), and</a:t>
            </a:r>
          </a:p>
          <a:p>
            <a:pPr lvl="2"/>
            <a:r>
              <a:rPr lang="en-US" sz="4000" dirty="0"/>
              <a:t>organizational noise.</a:t>
            </a:r>
          </a:p>
        </p:txBody>
      </p:sp>
      <p:sp>
        <p:nvSpPr>
          <p:cNvPr id="6" name="Rectangle 5"/>
          <p:cNvSpPr/>
          <p:nvPr/>
        </p:nvSpPr>
        <p:spPr>
          <a:xfrm>
            <a:off x="0" y="128408"/>
            <a:ext cx="5562600" cy="1569660"/>
          </a:xfrm>
          <a:prstGeom prst="rect">
            <a:avLst/>
          </a:prstGeom>
          <a:ln w="12700">
            <a:solidFill>
              <a:schemeClr val="accent1"/>
            </a:solidFill>
          </a:ln>
        </p:spPr>
        <p:txBody>
          <a:bodyPr wrap="square">
            <a:spAutoFit/>
          </a:bodyPr>
          <a:lstStyle/>
          <a:p>
            <a:r>
              <a:rPr lang="en-US" sz="2400" dirty="0"/>
              <a:t>No concentration? Why?</a:t>
            </a:r>
          </a:p>
          <a:p>
            <a:endParaRPr lang="en-US" sz="2400" dirty="0"/>
          </a:p>
          <a:p>
            <a:r>
              <a:rPr lang="en-US" sz="2400" dirty="0"/>
              <a:t>You are experiencing </a:t>
            </a:r>
            <a:r>
              <a:rPr lang="en-US" sz="2400" b="1" u="sng" dirty="0">
                <a:solidFill>
                  <a:srgbClr val="FF0000"/>
                </a:solidFill>
              </a:rPr>
              <a:t>noise</a:t>
            </a:r>
            <a:r>
              <a:rPr lang="en-US" sz="2400" dirty="0"/>
              <a:t> interference with the </a:t>
            </a:r>
            <a:r>
              <a:rPr lang="en-US" sz="2400" b="1" i="1" dirty="0"/>
              <a:t>transmission of information</a:t>
            </a:r>
            <a:r>
              <a:rPr lang="en-US" sz="2400" dirty="0"/>
              <a:t>. </a:t>
            </a:r>
          </a:p>
        </p:txBody>
      </p:sp>
      <p:pic>
        <p:nvPicPr>
          <p:cNvPr id="7" name="Picture 6"/>
          <p:cNvPicPr>
            <a:picLocks noChangeAspect="1"/>
          </p:cNvPicPr>
          <p:nvPr/>
        </p:nvPicPr>
        <p:blipFill>
          <a:blip r:embed="rId2" cstate="print"/>
          <a:stretch>
            <a:fillRect/>
          </a:stretch>
        </p:blipFill>
        <p:spPr>
          <a:xfrm>
            <a:off x="5388539" y="0"/>
            <a:ext cx="3755461" cy="1798476"/>
          </a:xfrm>
          <a:prstGeom prst="rect">
            <a:avLst/>
          </a:prstGeom>
        </p:spPr>
      </p:pic>
      <p:pic>
        <p:nvPicPr>
          <p:cNvPr id="1028" name="Picture 4" descr="http://ajslp.pubs.asha.org/data/Journals/AJSLP/935673/AJSLP-15-0081Eadie_featimage.jpe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54831" y="1365891"/>
            <a:ext cx="1730337" cy="86516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0" y="2250202"/>
            <a:ext cx="9144000" cy="1143000"/>
          </a:xfrm>
          <a:solidFill>
            <a:schemeClr val="accent6">
              <a:lumMod val="20000"/>
              <a:lumOff val="80000"/>
            </a:schemeClr>
          </a:solidFill>
          <a:ln w="12700">
            <a:solidFill>
              <a:schemeClr val="accent1"/>
            </a:solidFill>
          </a:ln>
        </p:spPr>
        <p:txBody>
          <a:bodyPr>
            <a:normAutofit/>
          </a:bodyPr>
          <a:lstStyle/>
          <a:p>
            <a:r>
              <a:rPr lang="en-US" sz="2800" b="1" dirty="0"/>
              <a:t>NOISE AND THE COMMUNICATION  PROCESS</a:t>
            </a:r>
          </a:p>
        </p:txBody>
      </p:sp>
    </p:spTree>
    <p:extLst>
      <p:ext uri="{BB962C8B-B14F-4D97-AF65-F5344CB8AC3E}">
        <p14:creationId xmlns:p14="http://schemas.microsoft.com/office/powerpoint/2010/main" val="33997840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a:grpSpLocks noChangeAspect="1"/>
          </p:cNvGrpSpPr>
          <p:nvPr/>
        </p:nvGrpSpPr>
        <p:grpSpPr bwMode="auto">
          <a:xfrm>
            <a:off x="74613" y="1295400"/>
            <a:ext cx="9075737" cy="2209800"/>
            <a:chOff x="47" y="816"/>
            <a:chExt cx="5717" cy="1392"/>
          </a:xfrm>
        </p:grpSpPr>
        <p:sp>
          <p:nvSpPr>
            <p:cNvPr id="5" name="AutoShape 3"/>
            <p:cNvSpPr>
              <a:spLocks noChangeAspect="1" noChangeArrowheads="1" noTextEdit="1"/>
            </p:cNvSpPr>
            <p:nvPr/>
          </p:nvSpPr>
          <p:spPr bwMode="auto">
            <a:xfrm>
              <a:off x="47" y="816"/>
              <a:ext cx="5717"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 y="816"/>
              <a:ext cx="5722" cy="1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 name="Title 1"/>
          <p:cNvSpPr>
            <a:spLocks noGrp="1"/>
          </p:cNvSpPr>
          <p:nvPr>
            <p:ph type="title"/>
          </p:nvPr>
        </p:nvSpPr>
        <p:spPr/>
        <p:txBody>
          <a:bodyPr/>
          <a:lstStyle/>
          <a:p>
            <a:r>
              <a:rPr lang="en-US" b="1" dirty="0">
                <a:solidFill>
                  <a:schemeClr val="accent6">
                    <a:lumMod val="50000"/>
                  </a:schemeClr>
                </a:solidFill>
              </a:rPr>
              <a:t>Noise</a:t>
            </a:r>
          </a:p>
        </p:txBody>
      </p:sp>
      <p:sp>
        <p:nvSpPr>
          <p:cNvPr id="7" name="Rectangular Callout 6"/>
          <p:cNvSpPr/>
          <p:nvPr/>
        </p:nvSpPr>
        <p:spPr>
          <a:xfrm rot="10800000" flipV="1">
            <a:off x="1143000" y="3886200"/>
            <a:ext cx="1371600" cy="639762"/>
          </a:xfrm>
          <a:prstGeom prst="wedgeRectCallout">
            <a:avLst>
              <a:gd name="adj1" fmla="val -33005"/>
              <a:gd name="adj2" fmla="val -24661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Sender</a:t>
            </a:r>
          </a:p>
        </p:txBody>
      </p:sp>
      <p:sp>
        <p:nvSpPr>
          <p:cNvPr id="9" name="Rectangular Callout 8"/>
          <p:cNvSpPr/>
          <p:nvPr/>
        </p:nvSpPr>
        <p:spPr>
          <a:xfrm rot="10800000" flipV="1">
            <a:off x="2438400" y="4827714"/>
            <a:ext cx="2971800" cy="887286"/>
          </a:xfrm>
          <a:prstGeom prst="wedgeRectCallout">
            <a:avLst>
              <a:gd name="adj1" fmla="val -17240"/>
              <a:gd name="adj2" fmla="val -28970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rgbClr val="C00000"/>
                </a:solidFill>
              </a:rPr>
              <a:t>Speech,  writing, other conventional set of signs..</a:t>
            </a:r>
          </a:p>
        </p:txBody>
      </p:sp>
      <p:sp>
        <p:nvSpPr>
          <p:cNvPr id="10" name="Rectangular Callout 9"/>
          <p:cNvSpPr/>
          <p:nvPr/>
        </p:nvSpPr>
        <p:spPr>
          <a:xfrm rot="10800000" flipV="1">
            <a:off x="74537" y="3107595"/>
            <a:ext cx="1371600" cy="397605"/>
          </a:xfrm>
          <a:prstGeom prst="wedgeRectCallout">
            <a:avLst>
              <a:gd name="adj1" fmla="val -27022"/>
              <a:gd name="adj2" fmla="val -15815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Signal</a:t>
            </a:r>
          </a:p>
        </p:txBody>
      </p:sp>
      <p:sp>
        <p:nvSpPr>
          <p:cNvPr id="3" name="Rectangle 2"/>
          <p:cNvSpPr/>
          <p:nvPr/>
        </p:nvSpPr>
        <p:spPr>
          <a:xfrm>
            <a:off x="1981200" y="1403640"/>
            <a:ext cx="5105400" cy="18589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ular Callout 10"/>
          <p:cNvSpPr/>
          <p:nvPr/>
        </p:nvSpPr>
        <p:spPr>
          <a:xfrm rot="10800000" flipV="1">
            <a:off x="5943600" y="4158644"/>
            <a:ext cx="1600200" cy="639762"/>
          </a:xfrm>
          <a:prstGeom prst="wedgeRectCallout">
            <a:avLst>
              <a:gd name="adj1" fmla="val -5289"/>
              <a:gd name="adj2" fmla="val -28875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solidFill>
                  <a:srgbClr val="C00000"/>
                </a:solidFill>
              </a:rPr>
              <a:t>Receiver</a:t>
            </a:r>
          </a:p>
        </p:txBody>
      </p:sp>
    </p:spTree>
    <p:extLst>
      <p:ext uri="{BB962C8B-B14F-4D97-AF65-F5344CB8AC3E}">
        <p14:creationId xmlns:p14="http://schemas.microsoft.com/office/powerpoint/2010/main" val="8186062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12869</TotalTime>
  <Words>3408</Words>
  <Application>Microsoft Office PowerPoint</Application>
  <PresentationFormat>On-screen Show (4:3)</PresentationFormat>
  <Paragraphs>411</Paragraphs>
  <Slides>50</Slides>
  <Notes>13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50</vt:i4>
      </vt:variant>
    </vt:vector>
  </HeadingPairs>
  <TitlesOfParts>
    <vt:vector size="59" baseType="lpstr">
      <vt:lpstr>-apple-system</vt:lpstr>
      <vt:lpstr>Arial</vt:lpstr>
      <vt:lpstr>Calibri</vt:lpstr>
      <vt:lpstr>inherit</vt:lpstr>
      <vt:lpstr>Times New Roman</vt:lpstr>
      <vt:lpstr>TimesNewRoman</vt:lpstr>
      <vt:lpstr>Wingdings</vt:lpstr>
      <vt:lpstr>Office Theme</vt:lpstr>
      <vt:lpstr>1_Office Theme</vt:lpstr>
      <vt:lpstr>Technical Communication</vt:lpstr>
      <vt:lpstr>PowerPoint Presentation</vt:lpstr>
      <vt:lpstr>Course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 of AI</vt:lpstr>
      <vt:lpstr>Con 1 – Accuracy Issues</vt:lpstr>
      <vt:lpstr>Con 2 – Loss of Learning</vt:lpstr>
      <vt:lpstr>Con 3 – Plagiarism Risks</vt:lpstr>
      <vt:lpstr>Con 4 – Superficial Writing</vt:lpstr>
      <vt:lpstr>Con 5 – Context Limitations</vt:lpstr>
      <vt:lpstr>Con 6 – Ethical Concerns</vt:lpstr>
      <vt:lpstr>Con 7 – Assessment Challenges</vt:lpstr>
      <vt:lpstr>Con 8 – Overconfidence</vt:lpstr>
      <vt:lpstr>Best Practice 1 – Guided Use</vt:lpstr>
      <vt:lpstr>Best Practice 2 – Verification</vt:lpstr>
      <vt:lpstr>Best Practice 3 – Assessment Design</vt:lpstr>
      <vt:lpstr>Conclusion</vt:lpstr>
      <vt:lpstr>PowerPoint Presentation</vt:lpstr>
      <vt:lpstr>PowerPoint Presentation</vt:lpstr>
      <vt:lpstr>A story</vt:lpstr>
      <vt:lpstr>PowerPoint Presentation</vt:lpstr>
      <vt:lpstr>PowerPoint Presentation</vt:lpstr>
      <vt:lpstr>PowerPoint Presentation</vt:lpstr>
      <vt:lpstr>Robert W. Lucky, former Executive Director of AT&amp;T Laboratories: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NOISE AND THE COMMUNICATION  PROCESS</vt:lpstr>
      <vt:lpstr>Noise</vt:lpstr>
    </vt:vector>
  </TitlesOfParts>
  <Company>Toshiba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Writing Workshop</dc:title>
  <dc:creator>jcole</dc:creator>
  <cp:lastModifiedBy>Tofigh Heidarzadeh</cp:lastModifiedBy>
  <cp:revision>290</cp:revision>
  <dcterms:created xsi:type="dcterms:W3CDTF">2015-04-15T17:44:41Z</dcterms:created>
  <dcterms:modified xsi:type="dcterms:W3CDTF">2026-04-01T05:22:52Z</dcterms:modified>
</cp:coreProperties>
</file>