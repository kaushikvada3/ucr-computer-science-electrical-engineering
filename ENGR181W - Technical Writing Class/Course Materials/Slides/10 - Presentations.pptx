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89" r:id="rId4"/>
    <p:sldId id="263" r:id="rId5"/>
    <p:sldId id="264" r:id="rId6"/>
    <p:sldId id="265" r:id="rId7"/>
    <p:sldId id="297" r:id="rId8"/>
    <p:sldId id="298" r:id="rId9"/>
    <p:sldId id="299" r:id="rId10"/>
    <p:sldId id="266" r:id="rId11"/>
    <p:sldId id="256" r:id="rId12"/>
    <p:sldId id="257" r:id="rId13"/>
    <p:sldId id="267" r:id="rId14"/>
    <p:sldId id="300" r:id="rId15"/>
    <p:sldId id="311" r:id="rId16"/>
    <p:sldId id="320" r:id="rId17"/>
    <p:sldId id="295" r:id="rId18"/>
    <p:sldId id="268" r:id="rId19"/>
    <p:sldId id="269" r:id="rId20"/>
    <p:sldId id="270" r:id="rId21"/>
    <p:sldId id="271" r:id="rId22"/>
    <p:sldId id="272" r:id="rId23"/>
    <p:sldId id="273" r:id="rId24"/>
    <p:sldId id="275" r:id="rId25"/>
    <p:sldId id="276" r:id="rId26"/>
    <p:sldId id="277" r:id="rId27"/>
    <p:sldId id="278" r:id="rId28"/>
    <p:sldId id="274" r:id="rId29"/>
    <p:sldId id="279" r:id="rId30"/>
    <p:sldId id="281" r:id="rId31"/>
    <p:sldId id="282" r:id="rId32"/>
    <p:sldId id="301" r:id="rId33"/>
    <p:sldId id="283" r:id="rId34"/>
    <p:sldId id="285" r:id="rId35"/>
    <p:sldId id="286" r:id="rId36"/>
    <p:sldId id="329" r:id="rId37"/>
    <p:sldId id="330" r:id="rId38"/>
    <p:sldId id="332" r:id="rId39"/>
    <p:sldId id="331" r:id="rId40"/>
    <p:sldId id="333" r:id="rId41"/>
    <p:sldId id="287" r:id="rId42"/>
    <p:sldId id="288" r:id="rId43"/>
    <p:sldId id="290" r:id="rId44"/>
    <p:sldId id="291" r:id="rId45"/>
    <p:sldId id="292" r:id="rId46"/>
    <p:sldId id="302" r:id="rId47"/>
    <p:sldId id="309" r:id="rId48"/>
    <p:sldId id="303" r:id="rId49"/>
    <p:sldId id="304" r:id="rId50"/>
    <p:sldId id="306" r:id="rId51"/>
    <p:sldId id="310" r:id="rId52"/>
    <p:sldId id="305" r:id="rId53"/>
    <p:sldId id="307" r:id="rId54"/>
    <p:sldId id="294" r:id="rId55"/>
    <p:sldId id="293" r:id="rId56"/>
    <p:sldId id="312" r:id="rId57"/>
    <p:sldId id="324" r:id="rId58"/>
    <p:sldId id="326" r:id="rId59"/>
    <p:sldId id="325" r:id="rId60"/>
    <p:sldId id="258" r:id="rId61"/>
    <p:sldId id="259" r:id="rId62"/>
    <p:sldId id="260" r:id="rId63"/>
    <p:sldId id="261" r:id="rId64"/>
    <p:sldId id="262" r:id="rId65"/>
    <p:sldId id="313" r:id="rId66"/>
    <p:sldId id="314" r:id="rId67"/>
    <p:sldId id="315" r:id="rId68"/>
    <p:sldId id="316" r:id="rId69"/>
    <p:sldId id="317" r:id="rId70"/>
    <p:sldId id="318" r:id="rId71"/>
    <p:sldId id="322" r:id="rId72"/>
    <p:sldId id="327" r:id="rId73"/>
    <p:sldId id="319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1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3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61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8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01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4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4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7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33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2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7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6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44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704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79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6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856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73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5539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687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607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092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88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58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60784-483E-47F0-82C8-17FD1C334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66EAC-7398-4A59-A56A-06BFAA7B8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6925F-7948-4453-817F-C4A2BD8B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B423B-55F4-4405-ABA5-D69EC2D5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FA5AA-B020-467F-A6F5-5881AC12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031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7880-EB58-4A06-B01A-3321A2D77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9AF0A-5DD0-4755-BA73-64857918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10AE6-106D-43EA-B561-847B70CF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9AEE5-31D9-48D2-92DD-72CE70C3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FE484-3506-4AB2-8319-4319B171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76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52523-3C04-4549-9CEB-914B19DA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183008-D94A-4E00-AFA3-E36578BCD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49DF9-8F4B-498A-9378-B8470504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70280-332D-4708-B984-A277A886E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A327B-BF0F-4301-B053-1EA91087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00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0F7FD-E1EF-4DE0-817A-C57EF70B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1D11-6E9A-436B-96C6-70DC2A1B7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9120D-D14A-49E2-8311-766022339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1BC31-3072-4FA4-B08B-0F4444395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D4F88-629C-4809-9FFD-D414CD6F5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E4AE3-A327-4080-940C-A8576EC2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40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7E87-F079-4A7D-A545-7D661F290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D25F8-3F93-497A-B321-9DC1D2206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9CAA6-E984-4612-826F-81CFF77EB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398C5-4FD4-4D39-8CD4-C4CC1232F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392C9-DE0A-4085-B970-B8DA6F092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E58C65-0F8F-4CEC-9DA2-9AD7F9A8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62594-FBE7-41AB-B1ED-5A0B4B9E5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152C7-2A70-470E-A893-169292B3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408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0490-B526-4F34-8F61-121BFF59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A0A86-16EA-4C6D-9F4B-F846801D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37B34B-8C17-46D8-AFE8-3EC4C867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D9673-7AA4-46F6-8170-9D229866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743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C6A01-9CB1-45D1-BF86-7D22E5A2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80376-151E-4B8B-9B8C-18897F7F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1541D-9704-473E-9EEA-9736C316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029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1E41-5EEF-4707-9F93-C9297E54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A6293-283A-4F31-91DC-3E4501291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DA9F2-BB3F-4BB8-9435-937836634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CCFBD-10F7-4216-842D-8DE7570D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CE5E8-4628-4C31-BA42-A66652F4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34622-D899-4A13-A321-4EA434C4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551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BDE3-C6D0-42DB-BE92-0043CC12A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AFFB8-9613-4104-92C5-F91DFB7E15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90401-109F-4277-9576-013D8A72F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D942F-0782-4258-8707-E82FBA6A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2476A-B081-456E-BB68-24C22E79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95326-D480-4D60-A9DD-531BCB8E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623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BB76-5CCC-4C7C-BF7B-B51D8E36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5D044-F2AB-47C2-B9AF-685231DB3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7D160-B935-400A-B23B-9F801510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7565C-1B33-4A04-8BAF-A09B9E7F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3A281-AE8A-47A7-A519-776A0A32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405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84242-55DA-4612-AC35-C60362CD0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219B1-15D9-4B14-82E8-E513DD3EB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A9767-8EC6-4826-BE66-D37CADD0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2AF2D-957A-4109-AED6-1E47918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C328D-AC2D-4E6F-9C2B-DF30E28B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1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2EE21-A152-4F3F-9E84-A67076BF48B4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652E8-A57E-489D-AB9B-4EF25C856E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A2A6C-DB6D-401A-8EEA-81806C42A99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1E1B2-71C2-4D64-807A-DCCC01D83EF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77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EC4F3-CE3F-4A60-A540-51D41942E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A7B95-8BBD-4C90-A66E-C56FE38C1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5FAF2-3E9D-4632-ADAB-C1430A643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01A9C-4D8C-42DE-B2F2-F37B385B935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85714-4883-4AAB-8DD7-EC9012BF3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8BD8A-68AF-4BB6-9240-4FBE41CB5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AB2FF-DEA3-47B1-8426-53F643EEA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csl.org/legislators-staff/legislative-staff/legislative-staff-coordinating-committee/tips-for-making-effective-powerpoint-presentations.aspx" TargetMode="External"/><Relationship Id="rId7" Type="http://schemas.openxmlformats.org/officeDocument/2006/relationships/hyperlink" Target="https://www.interaction-design.org/literature/article/the-building-blocks-of-visual-design" TargetMode="External"/><Relationship Id="rId2" Type="http://schemas.openxmlformats.org/officeDocument/2006/relationships/hyperlink" Target="https://www.gcflearnfree.org/powerpoint-tips/simple-rules-for-better-powerpoint-presentations/1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usiness.tutsplus.com/tutorials/how-to-make-your-powerpoint-presentation-design-better--cms-28172" TargetMode="External"/><Relationship Id="rId5" Type="http://schemas.openxmlformats.org/officeDocument/2006/relationships/hyperlink" Target="https://www.comm.pitt.edu/oral-comm-lab/audience-analysis" TargetMode="External"/><Relationship Id="rId4" Type="http://schemas.openxmlformats.org/officeDocument/2006/relationships/hyperlink" Target="https://www.cs.cmu.edu/~mihaib/presentation-rules.htm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Rp9PfqUQ8a4?feature=oemb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8.xml"/><Relationship Id="rId1" Type="http://schemas.openxmlformats.org/officeDocument/2006/relationships/video" Target="https://www.youtube.com/embed/Gj8IA6xOpSk?feature=oembed" TargetMode="External"/><Relationship Id="rId4" Type="http://schemas.openxmlformats.org/officeDocument/2006/relationships/hyperlink" Target="https://www.youtube.com/watch?v=Gj8IA6xOpSk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business.tutsplus.com/tutorials/how-to-make-your-powerpoint-presentation-design-better--cms-28172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w66TglPRbc" TargetMode="External"/><Relationship Id="rId2" Type="http://schemas.openxmlformats.org/officeDocument/2006/relationships/hyperlink" Target="https://www.youtube.com/watch?v=dEDcc0aCjaA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youtube.com/watch?v=w82a1FT5o88" TargetMode="External"/><Relationship Id="rId4" Type="http://schemas.openxmlformats.org/officeDocument/2006/relationships/hyperlink" Target="https://www.youtube.com/watch?v=Yl_FJAOcFgQ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is.edu/informationtechnologyservices/wp-content/uploads/sites/106/2013/04/PPDesignTips.pdf" TargetMode="External"/><Relationship Id="rId2" Type="http://schemas.openxmlformats.org/officeDocument/2006/relationships/hyperlink" Target="https://business.tutsplus.com/articles/37-effective-powerpoint-presentation-tips--cms-25421" TargetMode="External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slideLayout" Target="../slideLayouts/slideLayout24.xml"/><Relationship Id="rId1" Type="http://schemas.openxmlformats.org/officeDocument/2006/relationships/video" Target="https://www.youtube.com/embed/Iwpi1Lm6dFo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ENGR 181 W</a:t>
            </a:r>
            <a:br>
              <a:rPr lang="en-US" b="1" dirty="0"/>
            </a:br>
            <a:br>
              <a:rPr lang="en-US" b="1" dirty="0"/>
            </a:br>
            <a:r>
              <a:rPr lang="en-US" b="1" dirty="0">
                <a:solidFill>
                  <a:srgbClr val="C00000"/>
                </a:solidFill>
                <a:latin typeface="Arial Narrow" panose="020B0606020202030204" pitchFamily="34" charset="0"/>
              </a:rPr>
              <a:t>Developing a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884" y="4876800"/>
            <a:ext cx="11928231" cy="1896761"/>
          </a:xfrm>
        </p:spPr>
        <p:txBody>
          <a:bodyPr>
            <a:normAutofit/>
          </a:bodyPr>
          <a:lstStyle/>
          <a:p>
            <a:pPr algn="l"/>
            <a:r>
              <a:rPr lang="en-US" sz="1200" dirty="0">
                <a:hlinkClick r:id="rId2"/>
              </a:rPr>
              <a:t>https://www.gcflearnfree.org/powerpoint-tips/simple-rules-for-better-powerpoint-presentations/1/</a:t>
            </a:r>
            <a:endParaRPr lang="en-US" sz="1200" dirty="0"/>
          </a:p>
          <a:p>
            <a:pPr algn="l"/>
            <a:r>
              <a:rPr lang="en-US" sz="1200" dirty="0">
                <a:hlinkClick r:id="rId3"/>
              </a:rPr>
              <a:t>http://www.ncsl.org/legislators-staff/legislative-staff/legislative-staff-coordinating-committee/tips-for-making-effective-powerpoint-presentations.aspx</a:t>
            </a:r>
            <a:endParaRPr lang="en-US" sz="1200" dirty="0"/>
          </a:p>
          <a:p>
            <a:pPr algn="l"/>
            <a:r>
              <a:rPr lang="en-US" sz="1200" dirty="0">
                <a:hlinkClick r:id="rId4"/>
              </a:rPr>
              <a:t>https://www.cs.cmu.edu/~mihaib/presentation-rules.html</a:t>
            </a:r>
            <a:endParaRPr lang="en-US" sz="1200" dirty="0"/>
          </a:p>
          <a:p>
            <a:pPr algn="l"/>
            <a:r>
              <a:rPr lang="en-US" sz="1200" dirty="0">
                <a:hlinkClick r:id="rId5"/>
              </a:rPr>
              <a:t>https://www.comm.pitt.edu/oral-comm-lab/audience-analysis</a:t>
            </a:r>
            <a:endParaRPr lang="en-US" sz="1200" dirty="0"/>
          </a:p>
          <a:p>
            <a:pPr algn="l"/>
            <a:r>
              <a:rPr lang="en-US" sz="1200" dirty="0">
                <a:hlinkClick r:id="rId6"/>
              </a:rPr>
              <a:t>https://business.tutsplus.com/tutorials/how-to-make-your-powerpoint-presentation-design-better--cms-28172</a:t>
            </a:r>
            <a:endParaRPr lang="en-US" sz="1200" dirty="0"/>
          </a:p>
          <a:p>
            <a:pPr algn="l"/>
            <a:r>
              <a:rPr lang="en-US" sz="1200" dirty="0">
                <a:hlinkClick r:id="rId7"/>
              </a:rPr>
              <a:t>https://www.interaction-design.org/literature/article/the-building-blocks-of-visual-design</a:t>
            </a:r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084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+mj-lt"/>
              </a:rPr>
              <a:t>Developing a worthwhile presentation is like developing a product: </a:t>
            </a:r>
            <a:r>
              <a:rPr lang="en-US" sz="4000" b="1" dirty="0">
                <a:solidFill>
                  <a:srgbClr val="C00000"/>
                </a:solidFill>
                <a:latin typeface="+mj-lt"/>
              </a:rPr>
              <a:t>Research</a:t>
            </a:r>
            <a:r>
              <a:rPr lang="en-US" sz="4000" b="1" dirty="0">
                <a:latin typeface="+mj-lt"/>
              </a:rPr>
              <a:t> and </a:t>
            </a:r>
            <a:r>
              <a:rPr lang="en-US" sz="4000" b="1" dirty="0">
                <a:solidFill>
                  <a:srgbClr val="C00000"/>
                </a:solidFill>
                <a:latin typeface="+mj-lt"/>
              </a:rPr>
              <a:t>planning</a:t>
            </a:r>
            <a:r>
              <a:rPr lang="en-US" sz="4000" b="1" dirty="0">
                <a:latin typeface="+mj-lt"/>
              </a:rPr>
              <a:t> are crucial in the early stages.</a:t>
            </a:r>
          </a:p>
          <a:p>
            <a:pPr>
              <a:lnSpc>
                <a:spcPct val="150000"/>
              </a:lnSpc>
            </a:pPr>
            <a:endParaRPr lang="en-US" sz="4000" b="1" i="1" dirty="0">
              <a:solidFill>
                <a:srgbClr val="C00000"/>
              </a:solidFill>
              <a:latin typeface="+mj-lt"/>
            </a:endParaRPr>
          </a:p>
          <a:p>
            <a:pPr lvl="2">
              <a:lnSpc>
                <a:spcPct val="150000"/>
              </a:lnSpc>
            </a:pPr>
            <a:r>
              <a:rPr lang="en-US" sz="4000" b="1" dirty="0">
                <a:latin typeface="+mj-lt"/>
              </a:rPr>
              <a:t>First: Analyze Your Audience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PREPARING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9347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Who will the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key individuals </a:t>
            </a:r>
            <a:r>
              <a:rPr lang="en-US" sz="3200" b="1" dirty="0">
                <a:latin typeface="+mj-lt"/>
              </a:rPr>
              <a:t>in my audience be?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What needs or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concerns</a:t>
            </a:r>
            <a:r>
              <a:rPr lang="en-US" sz="3200" b="1" dirty="0">
                <a:latin typeface="+mj-lt"/>
              </a:rPr>
              <a:t> do they have regarding my topic?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What are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my objectives </a:t>
            </a:r>
            <a:r>
              <a:rPr lang="en-US" sz="3200" b="1" dirty="0">
                <a:latin typeface="+mj-lt"/>
              </a:rPr>
              <a:t>for this talk?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How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knowledgeable are my listeners </a:t>
            </a:r>
            <a:r>
              <a:rPr lang="en-US" sz="3200" b="1" dirty="0">
                <a:latin typeface="+mj-lt"/>
              </a:rPr>
              <a:t>about my subject?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How can I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get their attention </a:t>
            </a:r>
            <a:r>
              <a:rPr lang="en-US" sz="3200" b="1" dirty="0">
                <a:latin typeface="+mj-lt"/>
              </a:rPr>
              <a:t>and interest right away—and keep it?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What are their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attitudes</a:t>
            </a:r>
            <a:r>
              <a:rPr lang="en-US" sz="3200" b="1" dirty="0">
                <a:latin typeface="+mj-lt"/>
              </a:rPr>
              <a:t> likely to be regarding what I have to say?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3200" b="1" dirty="0">
                <a:solidFill>
                  <a:srgbClr val="C00000"/>
                </a:solidFill>
              </a:rPr>
              <a:t>Some Questions to Ask About Your Listeners Before You Talk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0394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Do I need to work on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changing their attitudes</a:t>
            </a:r>
            <a:r>
              <a:rPr lang="en-US" sz="3200" b="1" dirty="0">
                <a:latin typeface="+mj-lt"/>
              </a:rPr>
              <a:t>, and if so, what is the 	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best way </a:t>
            </a:r>
            <a:r>
              <a:rPr lang="en-US" sz="3200" b="1" dirty="0">
                <a:latin typeface="+mj-lt"/>
              </a:rPr>
              <a:t>to go about it?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What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benefits</a:t>
            </a:r>
            <a:r>
              <a:rPr lang="en-US" sz="3200" b="1" dirty="0">
                <a:latin typeface="+mj-lt"/>
              </a:rPr>
              <a:t> are they going to get from listening to me?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What kind of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questions</a:t>
            </a:r>
            <a:r>
              <a:rPr lang="en-US" sz="3200" b="1" dirty="0">
                <a:latin typeface="+mj-lt"/>
              </a:rPr>
              <a:t> are they likely to ask?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b="1" dirty="0">
                <a:latin typeface="+mj-lt"/>
              </a:rPr>
              <a:t>• What kind of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feedback</a:t>
            </a:r>
            <a:r>
              <a:rPr lang="en-US" sz="3200" b="1" dirty="0">
                <a:latin typeface="+mj-lt"/>
              </a:rPr>
              <a:t> do I want?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Some Questions to Ask About Your Listeners Before You Talk</a:t>
            </a:r>
          </a:p>
        </p:txBody>
      </p:sp>
    </p:spTree>
    <p:extLst>
      <p:ext uri="{BB962C8B-B14F-4D97-AF65-F5344CB8AC3E}">
        <p14:creationId xmlns:p14="http://schemas.microsoft.com/office/powerpoint/2010/main" val="135214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•</a:t>
            </a:r>
            <a:r>
              <a:rPr lang="en-US" b="1" dirty="0">
                <a:latin typeface="+mj-lt"/>
              </a:rPr>
              <a:t>Audience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Overview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•	Audience analysis and taking an audience-centered approach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•	Identifying the audience and adapting a speech to their interests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•	Level of understanding, attitudes, and beliefs of the audience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+mj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About the Audience </a:t>
            </a:r>
          </a:p>
        </p:txBody>
      </p:sp>
    </p:spTree>
    <p:extLst>
      <p:ext uri="{BB962C8B-B14F-4D97-AF65-F5344CB8AC3E}">
        <p14:creationId xmlns:p14="http://schemas.microsoft.com/office/powerpoint/2010/main" val="38108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latin typeface="+mj-lt"/>
              </a:rPr>
              <a:t>•</a:t>
            </a:r>
            <a:r>
              <a:rPr lang="en-US" b="1" dirty="0">
                <a:solidFill>
                  <a:prstClr val="black"/>
                </a:solidFill>
                <a:latin typeface="Times New Roman"/>
              </a:rPr>
              <a:t>Audience Analysis Factors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solidFill>
                  <a:prstClr val="black"/>
                </a:solidFill>
                <a:latin typeface="Times New Roman"/>
              </a:rPr>
              <a:t>Audience expectations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solidFill>
                  <a:prstClr val="black"/>
                </a:solidFill>
                <a:latin typeface="Times New Roman"/>
              </a:rPr>
              <a:t>•	Expectations about the occasion, topic, and speaker.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prstClr val="black"/>
                </a:solidFill>
                <a:latin typeface="Times New Roman"/>
              </a:rPr>
              <a:t>		</a:t>
            </a:r>
            <a:r>
              <a:rPr lang="en-US" sz="2400" dirty="0">
                <a:solidFill>
                  <a:prstClr val="black"/>
                </a:solidFill>
                <a:latin typeface="Times New Roman"/>
              </a:rPr>
              <a:t>Example: when the speaker is an electrical engineer, and the topic is the future 			of electric power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prstClr val="black"/>
                </a:solidFill>
                <a:latin typeface="Times New Roman"/>
              </a:rPr>
              <a:t>	Expectation?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prstClr val="black"/>
                </a:solidFill>
                <a:latin typeface="Times New Roman"/>
              </a:rPr>
              <a:t>	Exception?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solidFill>
                  <a:prstClr val="black"/>
                </a:solidFill>
                <a:latin typeface="Times New Roman"/>
              </a:rPr>
              <a:t>Audience knowledge of a topic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dirty="0">
                <a:solidFill>
                  <a:prstClr val="black"/>
                </a:solidFill>
                <a:latin typeface="Times New Roman"/>
              </a:rPr>
              <a:t>•	Never overestimate or underestimate the audience’s knowledge of a topic.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+mj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About the Audience </a:t>
            </a:r>
          </a:p>
        </p:txBody>
      </p:sp>
    </p:spTree>
    <p:extLst>
      <p:ext uri="{BB962C8B-B14F-4D97-AF65-F5344CB8AC3E}">
        <p14:creationId xmlns:p14="http://schemas.microsoft.com/office/powerpoint/2010/main" val="46729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775" y="0"/>
            <a:ext cx="11510963" cy="6778454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solidFill>
                  <a:prstClr val="black"/>
                </a:solidFill>
                <a:latin typeface="Times New Roman"/>
              </a:rPr>
              <a:t>Attitude toward topic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solidFill>
                  <a:prstClr val="black"/>
                </a:solidFill>
                <a:latin typeface="Times New Roman"/>
              </a:rPr>
              <a:t>Audience size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solidFill>
                  <a:prstClr val="black"/>
                </a:solidFill>
                <a:latin typeface="Times New Roman"/>
              </a:rPr>
              <a:t>Demographics: </a:t>
            </a:r>
            <a:r>
              <a:rPr lang="en-US" sz="2400" dirty="0">
                <a:solidFill>
                  <a:prstClr val="black"/>
                </a:solidFill>
                <a:latin typeface="Times New Roman"/>
              </a:rPr>
              <a:t>Age, gender, religion, ethnic background, class, sexual orientation, 	occupation, education, group membership, etc. 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solidFill>
                  <a:prstClr val="black"/>
                </a:solidFill>
                <a:latin typeface="Times New Roman"/>
              </a:rPr>
              <a:t>Setting: </a:t>
            </a:r>
            <a:r>
              <a:rPr lang="en-US" sz="2400" dirty="0">
                <a:solidFill>
                  <a:prstClr val="black"/>
                </a:solidFill>
                <a:latin typeface="Times New Roman"/>
              </a:rPr>
              <a:t>The set-up of the room (both size and how the audience is arranged), time of day, temperature, external noises, internal noises, and type of space (church, schoolroom, outside).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+mj-lt"/>
              </a:rPr>
              <a:t>Voluntariness: </a:t>
            </a:r>
            <a:r>
              <a:rPr lang="en-US" sz="2400" dirty="0">
                <a:latin typeface="+mj-lt"/>
              </a:rPr>
              <a:t>Audiences are either voluntary or involuntary, in which case they are not inherently interested in the presentation.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+mj-lt"/>
              </a:rPr>
              <a:t>Egocentrism: </a:t>
            </a:r>
            <a:r>
              <a:rPr lang="en-US" sz="2400" b="0" i="0" dirty="0">
                <a:effectLst/>
                <a:latin typeface="+mj-lt"/>
              </a:rPr>
              <a:t>is the inability to differentiate between self and other</a:t>
            </a:r>
            <a:endParaRPr lang="en-US" sz="2400" b="1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10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+mj-lt"/>
              </a:rPr>
              <a:t>It has been said that no speech is ever too long for the 	speaker or too short for the listener. </a:t>
            </a:r>
          </a:p>
          <a:p>
            <a:pPr>
              <a:lnSpc>
                <a:spcPct val="150000"/>
              </a:lnSpc>
            </a:pPr>
            <a:endParaRPr lang="en-US" sz="40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4000" b="1" dirty="0">
                <a:latin typeface="+mj-lt"/>
              </a:rPr>
              <a:t>The cardinal rule here is 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never to speak longer </a:t>
            </a:r>
            <a:r>
              <a:rPr lang="en-US" sz="4000" b="1" dirty="0">
                <a:latin typeface="+mj-lt"/>
              </a:rPr>
              <a:t>than 	you are supposed to.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3200" b="1" dirty="0">
                <a:solidFill>
                  <a:srgbClr val="C00000"/>
                </a:solidFill>
              </a:rPr>
              <a:t>Determine Your Time Frame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59442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629752" y="126416"/>
            <a:ext cx="9132440" cy="5986517"/>
            <a:chOff x="1178" y="415"/>
            <a:chExt cx="5324" cy="349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178" y="415"/>
              <a:ext cx="5324" cy="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" y="415"/>
              <a:ext cx="5330" cy="3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" y="6123225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Just a few of the many kinds of presentations engineers   find themselves giving.</a:t>
            </a:r>
          </a:p>
        </p:txBody>
      </p:sp>
    </p:spTree>
    <p:extLst>
      <p:ext uri="{BB962C8B-B14F-4D97-AF65-F5344CB8AC3E}">
        <p14:creationId xmlns:p14="http://schemas.microsoft.com/office/powerpoint/2010/main" val="4275779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0" y="2692401"/>
            <a:ext cx="11885690" cy="3443288"/>
            <a:chOff x="937" y="1319"/>
            <a:chExt cx="5806" cy="1682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937" y="1319"/>
              <a:ext cx="5806" cy="1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" y="1319"/>
              <a:ext cx="5812" cy="1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18533" y="203200"/>
            <a:ext cx="11904134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+mj-lt"/>
              </a:rPr>
              <a:t>This diagram illustrates, how deeply you go into different aspects of a typical engineering topic is related to how much time you have to speak.</a:t>
            </a:r>
          </a:p>
        </p:txBody>
      </p:sp>
    </p:spTree>
    <p:extLst>
      <p:ext uri="{BB962C8B-B14F-4D97-AF65-F5344CB8AC3E}">
        <p14:creationId xmlns:p14="http://schemas.microsoft.com/office/powerpoint/2010/main" val="3066342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4000" b="1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 Introduce yourself?</a:t>
            </a: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 Checking the audio/video? Asking about time…</a:t>
            </a:r>
          </a:p>
          <a:p>
            <a:pPr>
              <a:lnSpc>
                <a:spcPct val="100000"/>
              </a:lnSpc>
            </a:pPr>
            <a:endParaRPr lang="en-US" sz="4000" b="1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 A question that matters to audience? </a:t>
            </a: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 A shocking Fact? </a:t>
            </a: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 What connects you (or the audience) to this topic?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solidFill>
                  <a:srgbClr val="C00000"/>
                </a:solidFill>
              </a:rPr>
              <a:t>How to Start?</a:t>
            </a:r>
          </a:p>
        </p:txBody>
      </p:sp>
    </p:spTree>
    <p:extLst>
      <p:ext uri="{BB962C8B-B14F-4D97-AF65-F5344CB8AC3E}">
        <p14:creationId xmlns:p14="http://schemas.microsoft.com/office/powerpoint/2010/main" val="2688674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82183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i="1" dirty="0">
                <a:latin typeface="+mj-lt"/>
              </a:rPr>
              <a:t>Professional</a:t>
            </a:r>
            <a:r>
              <a:rPr lang="en-US" sz="4000" b="1" dirty="0">
                <a:latin typeface="+mj-lt"/>
              </a:rPr>
              <a:t> / </a:t>
            </a:r>
            <a:r>
              <a:rPr lang="en-US" sz="3600" i="1" dirty="0">
                <a:latin typeface="+mj-lt"/>
              </a:rPr>
              <a:t>Academic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+mj-lt"/>
              </a:rPr>
              <a:t>How to  Introduce yourself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+mj-lt"/>
              </a:rPr>
              <a:t> 		- </a:t>
            </a:r>
            <a:r>
              <a:rPr lang="en-US" dirty="0">
                <a:latin typeface="+mj-lt"/>
              </a:rPr>
              <a:t>Name and affiliation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+mj-lt"/>
              </a:rPr>
              <a:t>		- Your specialty/ Value/ Production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+mj-lt"/>
              </a:rPr>
              <a:t>		- The reason for your presentation/ Importance 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+mj-lt"/>
            </a:endParaRPr>
          </a:p>
          <a:p>
            <a:pPr lvl="0">
              <a:lnSpc>
                <a:spcPct val="100000"/>
              </a:lnSpc>
            </a:pPr>
            <a:r>
              <a:rPr lang="en-US" sz="3600" i="1" dirty="0">
                <a:solidFill>
                  <a:prstClr val="black"/>
                </a:solidFill>
                <a:latin typeface="Times New Roman"/>
              </a:rPr>
              <a:t>Public / Diverse Audience 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sz="2600" i="1" dirty="0">
                <a:solidFill>
                  <a:prstClr val="black"/>
                </a:solidFill>
                <a:latin typeface="Times New Roman"/>
              </a:rPr>
              <a:t>      -  Your Hook, WOW story 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sz="2600" i="1" dirty="0">
                <a:solidFill>
                  <a:prstClr val="black"/>
                </a:solidFill>
                <a:latin typeface="Times New Roman"/>
              </a:rPr>
              <a:t>      - Transition Topic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sz="2600" i="1" dirty="0">
                <a:solidFill>
                  <a:prstClr val="black"/>
                </a:solidFill>
                <a:latin typeface="Times New Roman"/>
              </a:rPr>
              <a:t>      - Self- Introduction</a:t>
            </a:r>
          </a:p>
          <a:p>
            <a:pPr marL="1371600" lvl="3" indent="0">
              <a:lnSpc>
                <a:spcPct val="100000"/>
              </a:lnSpc>
              <a:buNone/>
            </a:pPr>
            <a:r>
              <a:rPr lang="en-US" sz="2600" i="1" dirty="0">
                <a:solidFill>
                  <a:prstClr val="black"/>
                </a:solidFill>
                <a:latin typeface="Times New Roman"/>
              </a:rPr>
              <a:t>      - Audience Benefit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+mj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How to Start?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903043" y="939114"/>
            <a:ext cx="3288957" cy="52460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Types of Presentation</a:t>
            </a:r>
          </a:p>
          <a:p>
            <a:pPr marL="0" indent="0">
              <a:buNone/>
            </a:pP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dirty="0">
                <a:latin typeface="Arial Narrow" panose="020B0606020202030204" pitchFamily="34" charset="0"/>
              </a:rPr>
              <a:t>Visual Style</a:t>
            </a:r>
          </a:p>
          <a:p>
            <a:r>
              <a:rPr lang="en-US" dirty="0">
                <a:latin typeface="Arial Narrow" panose="020B0606020202030204" pitchFamily="34" charset="0"/>
              </a:rPr>
              <a:t>Freeform Style</a:t>
            </a:r>
          </a:p>
          <a:p>
            <a:r>
              <a:rPr lang="en-US" dirty="0">
                <a:latin typeface="Arial Narrow" panose="020B0606020202030204" pitchFamily="34" charset="0"/>
              </a:rPr>
              <a:t>Instructor Style</a:t>
            </a:r>
          </a:p>
          <a:p>
            <a:r>
              <a:rPr lang="en-US" dirty="0">
                <a:latin typeface="Arial Narrow" panose="020B0606020202030204" pitchFamily="34" charset="0"/>
              </a:rPr>
              <a:t>Coach Style</a:t>
            </a:r>
          </a:p>
          <a:p>
            <a:r>
              <a:rPr lang="en-US" dirty="0">
                <a:latin typeface="Arial Narrow" panose="020B0606020202030204" pitchFamily="34" charset="0"/>
              </a:rPr>
              <a:t>Storytelling Style</a:t>
            </a:r>
          </a:p>
          <a:p>
            <a:r>
              <a:rPr lang="en-US" dirty="0">
                <a:latin typeface="Arial Narrow" panose="020B0606020202030204" pitchFamily="34" charset="0"/>
              </a:rPr>
              <a:t>Connector Style</a:t>
            </a:r>
          </a:p>
        </p:txBody>
      </p:sp>
    </p:spTree>
    <p:extLst>
      <p:ext uri="{BB962C8B-B14F-4D97-AF65-F5344CB8AC3E}">
        <p14:creationId xmlns:p14="http://schemas.microsoft.com/office/powerpoint/2010/main" val="1009076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TEDxUIUC - David E. Goldberg - 7 Missing Basics of Engineering">
            <a:hlinkClick r:id="" action="ppaction://media"/>
            <a:extLst>
              <a:ext uri="{FF2B5EF4-FFF2-40B4-BE49-F238E27FC236}">
                <a16:creationId xmlns:a16="http://schemas.microsoft.com/office/drawing/2014/main" id="{A5C24B41-56F1-4773-AC64-8352D0510F9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7466" y="0"/>
            <a:ext cx="11837372" cy="66881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BE45E8-1FBF-23C5-E063-FD0D5F4938C5}"/>
              </a:ext>
            </a:extLst>
          </p:cNvPr>
          <p:cNvSpPr txBox="1"/>
          <p:nvPr/>
        </p:nvSpPr>
        <p:spPr>
          <a:xfrm>
            <a:off x="864301" y="65861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https://youtu.be/Rp9PfqUQ8a4</a:t>
            </a:r>
          </a:p>
        </p:txBody>
      </p:sp>
    </p:spTree>
    <p:extLst>
      <p:ext uri="{BB962C8B-B14F-4D97-AF65-F5344CB8AC3E}">
        <p14:creationId xmlns:p14="http://schemas.microsoft.com/office/powerpoint/2010/main" val="253344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The call to learn | Clifford Stoll">
            <a:hlinkClick r:id="" action="ppaction://media"/>
            <a:extLst>
              <a:ext uri="{FF2B5EF4-FFF2-40B4-BE49-F238E27FC236}">
                <a16:creationId xmlns:a16="http://schemas.microsoft.com/office/drawing/2014/main" id="{57B47EB5-847A-9B0D-4284-5141B68AF0E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15661" y="48357"/>
            <a:ext cx="9730154" cy="6761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6EB0EF-7DEF-9443-2814-25A412985581}"/>
              </a:ext>
            </a:extLst>
          </p:cNvPr>
          <p:cNvSpPr txBox="1"/>
          <p:nvPr/>
        </p:nvSpPr>
        <p:spPr>
          <a:xfrm>
            <a:off x="70338" y="5990492"/>
            <a:ext cx="21453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hlinkClick r:id="rId4"/>
              </a:rPr>
              <a:t>https://www.youtube.com/watch?v=Gj8IA6xOpSk</a:t>
            </a:r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0836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Oral presentations don’t permit us to give all the </a:t>
            </a:r>
            <a:r>
              <a:rPr lang="en-US" sz="4000" b="1" dirty="0">
                <a:solidFill>
                  <a:srgbClr val="C00000"/>
                </a:solidFill>
                <a:latin typeface="+mj-lt"/>
              </a:rPr>
              <a:t>miniscule details </a:t>
            </a:r>
            <a:r>
              <a:rPr lang="en-US" sz="4000" b="1" dirty="0">
                <a:latin typeface="+mj-lt"/>
              </a:rPr>
              <a:t>about every aspect of our topic. </a:t>
            </a:r>
          </a:p>
          <a:p>
            <a:pPr>
              <a:lnSpc>
                <a:spcPct val="100000"/>
              </a:lnSpc>
            </a:pPr>
            <a:endParaRPr lang="en-US" sz="4000" b="1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Define your </a:t>
            </a:r>
            <a:r>
              <a:rPr lang="en-US" sz="4000" b="1" dirty="0">
                <a:solidFill>
                  <a:srgbClr val="C00000"/>
                </a:solidFill>
                <a:latin typeface="+mj-lt"/>
              </a:rPr>
              <a:t>main purpose </a:t>
            </a:r>
            <a:r>
              <a:rPr lang="en-US" sz="4000" b="1" dirty="0">
                <a:latin typeface="+mj-lt"/>
              </a:rPr>
              <a:t>and based on the </a:t>
            </a:r>
            <a:r>
              <a:rPr lang="en-US" sz="4000" b="1" dirty="0">
                <a:solidFill>
                  <a:srgbClr val="C00000"/>
                </a:solidFill>
                <a:latin typeface="+mj-lt"/>
              </a:rPr>
              <a:t>time  frame</a:t>
            </a:r>
            <a:r>
              <a:rPr lang="en-US" sz="4000" b="1" dirty="0">
                <a:latin typeface="+mj-lt"/>
              </a:rPr>
              <a:t>, develop the presentation based on </a:t>
            </a:r>
            <a:r>
              <a:rPr lang="en-US" sz="4000" b="1" dirty="0">
                <a:solidFill>
                  <a:srgbClr val="C00000"/>
                </a:solidFill>
                <a:latin typeface="+mj-lt"/>
              </a:rPr>
              <a:t>important points</a:t>
            </a:r>
            <a:r>
              <a:rPr lang="en-US" sz="4000" b="1" dirty="0">
                <a:latin typeface="+mj-lt"/>
              </a:rPr>
              <a:t>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Identify Your Key Points</a:t>
            </a:r>
          </a:p>
        </p:txBody>
      </p:sp>
    </p:spTree>
    <p:extLst>
      <p:ext uri="{BB962C8B-B14F-4D97-AF65-F5344CB8AC3E}">
        <p14:creationId xmlns:p14="http://schemas.microsoft.com/office/powerpoint/2010/main" val="268867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endParaRPr lang="en-US" sz="4000" b="1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Each </a:t>
            </a:r>
            <a:r>
              <a:rPr lang="en-US" sz="4000" b="1" i="1" dirty="0">
                <a:solidFill>
                  <a:srgbClr val="C00000"/>
                </a:solidFill>
                <a:latin typeface="+mj-lt"/>
              </a:rPr>
              <a:t>Slide</a:t>
            </a:r>
            <a:r>
              <a:rPr lang="en-US" sz="4000" b="1" dirty="0">
                <a:latin typeface="+mj-lt"/>
              </a:rPr>
              <a:t> works like a </a:t>
            </a:r>
            <a:r>
              <a:rPr lang="en-US" sz="4000" b="1" i="1" dirty="0">
                <a:solidFill>
                  <a:srgbClr val="C00000"/>
                </a:solidFill>
                <a:latin typeface="+mj-lt"/>
              </a:rPr>
              <a:t>Paragraph</a:t>
            </a:r>
            <a:r>
              <a:rPr lang="en-US" sz="4000" b="1" dirty="0">
                <a:latin typeface="+mj-lt"/>
              </a:rPr>
              <a:t> in an essay: it should cover only one subject. </a:t>
            </a:r>
          </a:p>
          <a:p>
            <a:pPr>
              <a:lnSpc>
                <a:spcPct val="100000"/>
              </a:lnSpc>
            </a:pPr>
            <a:endParaRPr lang="en-US" sz="4000" b="1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4000" b="1" dirty="0">
                <a:latin typeface="+mj-lt"/>
              </a:rPr>
              <a:t>You can depict main concepts of the subject by </a:t>
            </a:r>
            <a:r>
              <a:rPr lang="en-US" sz="4000" b="1" dirty="0">
                <a:solidFill>
                  <a:srgbClr val="FF0000"/>
                </a:solidFill>
                <a:latin typeface="+mj-lt"/>
              </a:rPr>
              <a:t>bullet point lines.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Identify Your Key Points</a:t>
            </a:r>
          </a:p>
        </p:txBody>
      </p:sp>
    </p:spTree>
    <p:extLst>
      <p:ext uri="{BB962C8B-B14F-4D97-AF65-F5344CB8AC3E}">
        <p14:creationId xmlns:p14="http://schemas.microsoft.com/office/powerpoint/2010/main" val="200449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Prepare an Outline and Notes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201613" y="681038"/>
            <a:ext cx="11788775" cy="6176962"/>
            <a:chOff x="127" y="429"/>
            <a:chExt cx="7426" cy="3891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27" y="429"/>
              <a:ext cx="7426" cy="38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" y="429"/>
              <a:ext cx="7432" cy="3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811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182033" y="92756"/>
            <a:ext cx="11709400" cy="954437"/>
            <a:chOff x="0" y="0"/>
            <a:chExt cx="10011" cy="816"/>
          </a:xfrm>
        </p:grpSpPr>
        <p:sp>
          <p:nvSpPr>
            <p:cNvPr id="7" name="AutoShape 3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10011" cy="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019" cy="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8"/>
          <p:cNvGrpSpPr>
            <a:grpSpLocks noChangeAspect="1"/>
          </p:cNvGrpSpPr>
          <p:nvPr/>
        </p:nvGrpSpPr>
        <p:grpSpPr bwMode="auto">
          <a:xfrm>
            <a:off x="0" y="1160463"/>
            <a:ext cx="12168188" cy="5540375"/>
            <a:chOff x="0" y="731"/>
            <a:chExt cx="7665" cy="3490"/>
          </a:xfrm>
        </p:grpSpPr>
        <p:sp>
          <p:nvSpPr>
            <p:cNvPr id="10" name="AutoShape 7"/>
            <p:cNvSpPr>
              <a:spLocks noChangeAspect="1" noChangeArrowheads="1" noTextEdit="1"/>
            </p:cNvSpPr>
            <p:nvPr/>
          </p:nvSpPr>
          <p:spPr bwMode="auto">
            <a:xfrm>
              <a:off x="0" y="731"/>
              <a:ext cx="7665" cy="3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731"/>
              <a:ext cx="7671" cy="3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35389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rgbClr val="C00000"/>
                </a:solidFill>
              </a:rPr>
              <a:t>Prepare an Outline and Notes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latin typeface="+mj-lt"/>
              </a:rPr>
              <a:t>Reading a word-for-word written version of your talk in front of an actual audience is </a:t>
            </a:r>
            <a:r>
              <a:rPr lang="en-US" sz="4000" b="1" dirty="0">
                <a:solidFill>
                  <a:srgbClr val="FF0000"/>
                </a:solidFill>
                <a:latin typeface="+mj-lt"/>
              </a:rPr>
              <a:t>NOT</a:t>
            </a:r>
            <a:r>
              <a:rPr lang="en-US" sz="4000" b="1" dirty="0">
                <a:latin typeface="+mj-lt"/>
              </a:rPr>
              <a:t> a good idea. </a:t>
            </a:r>
          </a:p>
          <a:p>
            <a:pPr>
              <a:lnSpc>
                <a:spcPct val="150000"/>
              </a:lnSpc>
            </a:pPr>
            <a:endParaRPr lang="en-US" sz="40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4000" b="1" dirty="0">
                <a:latin typeface="+mj-lt"/>
              </a:rPr>
              <a:t>Determine </a:t>
            </a:r>
            <a:r>
              <a:rPr lang="en-US" sz="4000" b="1" dirty="0">
                <a:solidFill>
                  <a:srgbClr val="FF0000"/>
                </a:solidFill>
                <a:latin typeface="+mj-lt"/>
              </a:rPr>
              <a:t>which prompts </a:t>
            </a:r>
            <a:r>
              <a:rPr lang="en-US" sz="4000" b="1" dirty="0">
                <a:latin typeface="+mj-lt"/>
              </a:rPr>
              <a:t>will best keep you on </a:t>
            </a:r>
            <a:r>
              <a:rPr lang="en-US" sz="4000" b="1" dirty="0">
                <a:solidFill>
                  <a:srgbClr val="FF0000"/>
                </a:solidFill>
                <a:latin typeface="+mj-lt"/>
              </a:rPr>
              <a:t>track</a:t>
            </a:r>
            <a:r>
              <a:rPr lang="en-US" sz="4000" b="1" dirty="0">
                <a:latin typeface="+mj-lt"/>
              </a:rPr>
              <a:t> when giving it. </a:t>
            </a:r>
          </a:p>
        </p:txBody>
      </p:sp>
    </p:spTree>
    <p:extLst>
      <p:ext uri="{BB962C8B-B14F-4D97-AF65-F5344CB8AC3E}">
        <p14:creationId xmlns:p14="http://schemas.microsoft.com/office/powerpoint/2010/main" val="199381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C00000"/>
                </a:solidFill>
              </a:rPr>
              <a:t>Create Supporting Graphics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-1" y="681037"/>
            <a:ext cx="1219199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Most effective engineering speakers support their talks with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illustrations </a:t>
            </a:r>
            <a:r>
              <a:rPr lang="en-US" sz="3200" b="1" dirty="0">
                <a:latin typeface="+mj-lt"/>
              </a:rPr>
              <a:t>of some kind.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You should use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visuals</a:t>
            </a:r>
            <a:r>
              <a:rPr lang="en-US" sz="3200" b="1" dirty="0">
                <a:latin typeface="+mj-lt"/>
              </a:rPr>
              <a:t> wherever you feel they will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latin typeface="+mj-lt"/>
              </a:rPr>
              <a:t> 	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simplify</a:t>
            </a:r>
            <a:r>
              <a:rPr lang="en-US" sz="3200" b="1" i="1" dirty="0">
                <a:latin typeface="+mj-lt"/>
              </a:rPr>
              <a:t> a point</a:t>
            </a:r>
          </a:p>
          <a:p>
            <a:pPr>
              <a:lnSpc>
                <a:spcPct val="100000"/>
              </a:lnSpc>
            </a:pPr>
            <a:r>
              <a:rPr lang="en-US" sz="3200" b="1" i="1" dirty="0">
                <a:latin typeface="+mj-lt"/>
              </a:rPr>
              <a:t> 	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clarify</a:t>
            </a:r>
            <a:r>
              <a:rPr lang="en-US" sz="3200" b="1" i="1" dirty="0">
                <a:latin typeface="+mj-lt"/>
              </a:rPr>
              <a:t> a point</a:t>
            </a:r>
          </a:p>
          <a:p>
            <a:pPr>
              <a:lnSpc>
                <a:spcPct val="100000"/>
              </a:lnSpc>
            </a:pPr>
            <a:r>
              <a:rPr lang="en-US" sz="3200" b="1" i="1" dirty="0">
                <a:latin typeface="+mj-lt"/>
              </a:rPr>
              <a:t> 	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stress</a:t>
            </a:r>
            <a:r>
              <a:rPr lang="en-US" sz="3200" b="1" i="1" dirty="0">
                <a:latin typeface="+mj-lt"/>
              </a:rPr>
              <a:t> a point</a:t>
            </a:r>
          </a:p>
          <a:p>
            <a:pPr>
              <a:lnSpc>
                <a:spcPct val="100000"/>
              </a:lnSpc>
            </a:pPr>
            <a:r>
              <a:rPr lang="en-US" sz="3200" b="1" i="1" dirty="0">
                <a:latin typeface="+mj-lt"/>
              </a:rPr>
              <a:t> 	show 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critical relationships </a:t>
            </a:r>
            <a:r>
              <a:rPr lang="en-US" sz="3200" b="1" i="1" dirty="0">
                <a:latin typeface="+mj-lt"/>
              </a:rPr>
              <a:t>between ideas or facts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ABE2E0-C79C-F1D7-1809-9A5BA51434B9}"/>
              </a:ext>
            </a:extLst>
          </p:cNvPr>
          <p:cNvSpPr txBox="1"/>
          <p:nvPr/>
        </p:nvSpPr>
        <p:spPr>
          <a:xfrm>
            <a:off x="360725" y="5853797"/>
            <a:ext cx="11629992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In tests, people generally remember about 10% of oral information three days later, but that number jumps to 65% if a relevant image is added.</a:t>
            </a:r>
          </a:p>
        </p:txBody>
      </p:sp>
    </p:spTree>
    <p:extLst>
      <p:ext uri="{BB962C8B-B14F-4D97-AF65-F5344CB8AC3E}">
        <p14:creationId xmlns:p14="http://schemas.microsoft.com/office/powerpoint/2010/main" val="2687937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Make Your Information Accessible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000" b="1" i="1" dirty="0">
                <a:latin typeface="+mj-lt"/>
              </a:rPr>
              <a:t>Too complex: </a:t>
            </a:r>
            <a:r>
              <a:rPr lang="en-US" sz="4000" i="1" dirty="0">
                <a:latin typeface="+mj-lt"/>
              </a:rPr>
              <a:t>Don’t let your visuals suffer from 	information overload.</a:t>
            </a:r>
          </a:p>
          <a:p>
            <a:pPr>
              <a:lnSpc>
                <a:spcPct val="150000"/>
              </a:lnSpc>
            </a:pPr>
            <a:r>
              <a:rPr lang="en-US" sz="4000" b="1" i="1" dirty="0">
                <a:latin typeface="+mj-lt"/>
              </a:rPr>
              <a:t>Too small: </a:t>
            </a:r>
            <a:r>
              <a:rPr lang="en-US" sz="4000" i="1" dirty="0">
                <a:latin typeface="+mj-lt"/>
              </a:rPr>
              <a:t>If your visuals consist of lists or other written 	information, make the words easy to read</a:t>
            </a:r>
          </a:p>
        </p:txBody>
      </p:sp>
    </p:spTree>
    <p:extLst>
      <p:ext uri="{BB962C8B-B14F-4D97-AF65-F5344CB8AC3E}">
        <p14:creationId xmlns:p14="http://schemas.microsoft.com/office/powerpoint/2010/main" val="330215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Make Your Information Accessible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i="1" dirty="0">
                <a:latin typeface="+mj-lt"/>
              </a:rPr>
              <a:t>Too complex</a:t>
            </a:r>
            <a:r>
              <a:rPr lang="en-US" sz="4000" b="1" i="1" dirty="0">
                <a:latin typeface="+mj-lt"/>
              </a:rPr>
              <a:t>:</a:t>
            </a:r>
            <a:endParaRPr lang="en-US" sz="4000" i="1" dirty="0">
              <a:latin typeface="+mj-lt"/>
            </a:endParaRPr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2806700" y="985838"/>
            <a:ext cx="9385300" cy="5424487"/>
            <a:chOff x="1768" y="621"/>
            <a:chExt cx="5912" cy="3417"/>
          </a:xfrm>
        </p:grpSpPr>
        <p:sp>
          <p:nvSpPr>
            <p:cNvPr id="4" name="AutoShape 3"/>
            <p:cNvSpPr>
              <a:spLocks noChangeAspect="1" noChangeArrowheads="1" noTextEdit="1"/>
            </p:cNvSpPr>
            <p:nvPr/>
          </p:nvSpPr>
          <p:spPr bwMode="auto">
            <a:xfrm>
              <a:off x="1768" y="621"/>
              <a:ext cx="5912" cy="3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8" y="621"/>
              <a:ext cx="5922" cy="3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50927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Make Your Information Accessible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i="1" dirty="0">
                <a:latin typeface="+mj-lt"/>
              </a:rPr>
              <a:t>Simplified block diagram of the circuit in previous slide:</a:t>
            </a:r>
            <a:endParaRPr lang="en-US" sz="4000" i="1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79094" y="1362074"/>
            <a:ext cx="9833811" cy="568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84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Make Your Information Accessible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i="1" dirty="0">
                <a:latin typeface="+mj-lt"/>
              </a:rPr>
              <a:t>The center block from the diagram expanded to show part of the original circuit.</a:t>
            </a:r>
            <a:endParaRPr lang="en-US" sz="4000" i="1" dirty="0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3262072" y="1773545"/>
            <a:ext cx="8604264" cy="4948989"/>
            <a:chOff x="1465" y="858"/>
            <a:chExt cx="6019" cy="3462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465" y="858"/>
              <a:ext cx="6019" cy="3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" y="858"/>
              <a:ext cx="6029" cy="3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67941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Make Your Information Accessible</a:t>
            </a:r>
          </a:p>
        </p:txBody>
      </p:sp>
      <p:grpSp>
        <p:nvGrpSpPr>
          <p:cNvPr id="3" name="Group 4"/>
          <p:cNvGrpSpPr>
            <a:grpSpLocks noChangeAspect="1"/>
          </p:cNvGrpSpPr>
          <p:nvPr/>
        </p:nvGrpSpPr>
        <p:grpSpPr bwMode="auto">
          <a:xfrm>
            <a:off x="1071690" y="1786650"/>
            <a:ext cx="8749644" cy="5071350"/>
            <a:chOff x="2090" y="971"/>
            <a:chExt cx="5590" cy="3240"/>
          </a:xfrm>
        </p:grpSpPr>
        <p:sp>
          <p:nvSpPr>
            <p:cNvPr id="8" name="AutoShape 3"/>
            <p:cNvSpPr>
              <a:spLocks noChangeAspect="1" noChangeArrowheads="1" noTextEdit="1"/>
            </p:cNvSpPr>
            <p:nvPr/>
          </p:nvSpPr>
          <p:spPr bwMode="auto">
            <a:xfrm>
              <a:off x="2090" y="971"/>
              <a:ext cx="5590" cy="3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0" y="971"/>
              <a:ext cx="5599" cy="3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Rectangle 8"/>
          <p:cNvSpPr/>
          <p:nvPr/>
        </p:nvSpPr>
        <p:spPr>
          <a:xfrm>
            <a:off x="0" y="681038"/>
            <a:ext cx="121327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+mj-lt"/>
              </a:rPr>
              <a:t>Use at least 24-point print on your overheads if you want your audience to read them.</a:t>
            </a:r>
          </a:p>
        </p:txBody>
      </p:sp>
    </p:spTree>
    <p:extLst>
      <p:ext uri="{BB962C8B-B14F-4D97-AF65-F5344CB8AC3E}">
        <p14:creationId xmlns:p14="http://schemas.microsoft.com/office/powerpoint/2010/main" val="2771645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Prepare Handouts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516430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Think carefully about whether you want to provide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handouts</a:t>
            </a:r>
            <a:r>
              <a:rPr lang="en-US" sz="3600" b="1" dirty="0">
                <a:latin typeface="+mj-lt"/>
              </a:rPr>
              <a:t>, and if so,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what kind </a:t>
            </a:r>
            <a:r>
              <a:rPr lang="en-US" sz="3600" b="1" dirty="0">
                <a:latin typeface="+mj-lt"/>
              </a:rPr>
              <a:t>and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when</a:t>
            </a:r>
            <a:r>
              <a:rPr lang="en-US" sz="3600" b="1" dirty="0">
                <a:latin typeface="+mj-lt"/>
              </a:rPr>
              <a:t> you will hand them out.</a:t>
            </a:r>
            <a:endParaRPr lang="en-US" sz="3600" dirty="0">
              <a:latin typeface="+mj-lt"/>
            </a:endParaRP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064" y="782350"/>
            <a:ext cx="6426493" cy="546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1511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Prepare Your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When thinking of how to </a:t>
            </a:r>
            <a:r>
              <a:rPr lang="en-US" sz="3600" b="1" dirty="0">
                <a:solidFill>
                  <a:srgbClr val="FF0000"/>
                </a:solidFill>
                <a:latin typeface="+mj-lt"/>
              </a:rPr>
              <a:t>begin your talk</a:t>
            </a:r>
            <a:r>
              <a:rPr lang="en-US" sz="3600" b="1" dirty="0">
                <a:latin typeface="+mj-lt"/>
              </a:rPr>
              <a:t>, remember that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1. Your audience may be asking themselves, at least 	subconsciously, ‘‘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Why do I need to hear this</a:t>
            </a:r>
            <a:r>
              <a:rPr lang="en-US" sz="3600" b="1" dirty="0">
                <a:latin typeface="+mj-lt"/>
              </a:rPr>
              <a:t>?’’ </a:t>
            </a:r>
          </a:p>
          <a:p>
            <a:pPr>
              <a:lnSpc>
                <a:spcPct val="150000"/>
              </a:lnSpc>
            </a:pPr>
            <a:endParaRPr lang="en-US" sz="36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2. Your audience has a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limited attention span</a:t>
            </a:r>
            <a:r>
              <a:rPr lang="en-US" sz="3600" b="1" dirty="0">
                <a:latin typeface="+mj-lt"/>
              </a:rPr>
              <a:t>.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77884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Prepare Your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To help solve both problems, design your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introduction</a:t>
            </a:r>
            <a:r>
              <a:rPr lang="en-US" sz="3600" b="1" dirty="0">
                <a:latin typeface="+mj-lt"/>
              </a:rPr>
              <a:t> to let your audience know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right away </a:t>
            </a:r>
            <a:r>
              <a:rPr lang="en-US" sz="3600" b="1" dirty="0">
                <a:latin typeface="+mj-lt"/>
              </a:rPr>
              <a:t>what your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topic</a:t>
            </a:r>
            <a:r>
              <a:rPr lang="en-US" sz="3600" b="1" dirty="0">
                <a:latin typeface="+mj-lt"/>
              </a:rPr>
              <a:t> is and of what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benefit</a:t>
            </a:r>
            <a:r>
              <a:rPr lang="en-US" sz="3600" b="1" dirty="0">
                <a:latin typeface="+mj-lt"/>
              </a:rPr>
              <a:t> it is to them.</a:t>
            </a:r>
          </a:p>
          <a:p>
            <a:pPr lvl="3">
              <a:lnSpc>
                <a:spcPct val="150000"/>
              </a:lnSpc>
            </a:pPr>
            <a:r>
              <a:rPr lang="en-US" sz="3600" b="1" dirty="0">
                <a:latin typeface="+mj-lt"/>
              </a:rPr>
              <a:t>In essence, tell them why they should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listen to you</a:t>
            </a:r>
            <a:r>
              <a:rPr lang="en-US" sz="3600" b="1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36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Let your audience know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how long </a:t>
            </a:r>
            <a:r>
              <a:rPr lang="en-US" sz="3600" b="1" dirty="0">
                <a:latin typeface="+mj-lt"/>
              </a:rPr>
              <a:t>you intend to speak if it’s not already known.</a:t>
            </a:r>
          </a:p>
        </p:txBody>
      </p:sp>
    </p:spTree>
    <p:extLst>
      <p:ext uri="{BB962C8B-B14F-4D97-AF65-F5344CB8AC3E}">
        <p14:creationId xmlns:p14="http://schemas.microsoft.com/office/powerpoint/2010/main" val="230600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How to </a:t>
            </a:r>
            <a:r>
              <a:rPr lang="en-US" sz="4000" b="1">
                <a:solidFill>
                  <a:srgbClr val="C00000"/>
                </a:solidFill>
              </a:rPr>
              <a:t>End?  Prepare </a:t>
            </a:r>
            <a:r>
              <a:rPr lang="en-US" sz="4000" b="1" dirty="0">
                <a:solidFill>
                  <a:srgbClr val="C00000"/>
                </a:solidFill>
              </a:rPr>
              <a:t>Your Conclusion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Design the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end</a:t>
            </a:r>
            <a:r>
              <a:rPr lang="en-US" sz="3600" b="1" dirty="0">
                <a:latin typeface="+mj-lt"/>
              </a:rPr>
              <a:t> of your presentation to focus the audience’s attention solely on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essentials</a:t>
            </a:r>
            <a:r>
              <a:rPr lang="en-US" sz="3600" b="1" dirty="0">
                <a:latin typeface="+mj-lt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•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Summarize</a:t>
            </a:r>
            <a:r>
              <a:rPr lang="en-US" sz="3600" b="1" dirty="0">
                <a:latin typeface="+mj-lt"/>
              </a:rPr>
              <a:t> what you have discussed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•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Stress</a:t>
            </a:r>
            <a:r>
              <a:rPr lang="en-US" sz="3600" b="1" dirty="0">
                <a:latin typeface="+mj-lt"/>
              </a:rPr>
              <a:t> your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central idea </a:t>
            </a:r>
            <a:r>
              <a:rPr lang="en-US" sz="3600" b="1" dirty="0">
                <a:latin typeface="+mj-lt"/>
              </a:rPr>
              <a:t>once more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• Review your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key points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• Restate your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recommendations</a:t>
            </a:r>
            <a:r>
              <a:rPr lang="en-US" sz="3600" b="1" dirty="0">
                <a:latin typeface="+mj-lt"/>
              </a:rPr>
              <a:t> or decisions</a:t>
            </a:r>
          </a:p>
        </p:txBody>
      </p:sp>
    </p:spTree>
    <p:extLst>
      <p:ext uri="{BB962C8B-B14F-4D97-AF65-F5344CB8AC3E}">
        <p14:creationId xmlns:p14="http://schemas.microsoft.com/office/powerpoint/2010/main" val="3220664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How to 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End?  Prepare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Your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94702" y="1761218"/>
            <a:ext cx="7942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Audience usually remembers: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4114154"/>
            <a:ext cx="31742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6706" y="4213008"/>
            <a:ext cx="29738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Conclusion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667" y="2750880"/>
            <a:ext cx="1960313" cy="34344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773" y="2750880"/>
            <a:ext cx="2065500" cy="34153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064" y="3009180"/>
            <a:ext cx="1625625" cy="3176134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286980" y="2469104"/>
            <a:ext cx="1767793" cy="406350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24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Get Ready for Questions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Take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note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Answer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briefly</a:t>
            </a:r>
            <a:r>
              <a:rPr lang="en-US" sz="3600" b="1" dirty="0">
                <a:latin typeface="+mj-lt"/>
              </a:rPr>
              <a:t> but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accurately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If you don’t know the answer, be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honest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Think of diplomatic ways to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encourage questions </a:t>
            </a:r>
            <a:r>
              <a:rPr lang="en-US" sz="3600" b="1" dirty="0">
                <a:latin typeface="+mj-lt"/>
              </a:rPr>
              <a:t>from 	people who are reluctant to ask</a:t>
            </a:r>
          </a:p>
        </p:txBody>
      </p:sp>
    </p:spTree>
    <p:extLst>
      <p:ext uri="{BB962C8B-B14F-4D97-AF65-F5344CB8AC3E}">
        <p14:creationId xmlns:p14="http://schemas.microsoft.com/office/powerpoint/2010/main" val="2209642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Avoiding Noise in Engineering Presentations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latin typeface="+mj-lt"/>
              </a:rPr>
              <a:t>Typical noises: 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1. Speaking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Too Softly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2. Speaking Too Slowly or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Rapidly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3. Speaking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Monotonously</a:t>
            </a:r>
            <a:r>
              <a:rPr lang="en-US" sz="3200" b="1" dirty="0">
                <a:latin typeface="+mj-lt"/>
              </a:rPr>
              <a:t>: Show </a:t>
            </a:r>
            <a:r>
              <a:rPr lang="en-US" sz="3200" b="1" dirty="0"/>
              <a:t>ENTHUSIASM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4. Using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Verbal Fillers</a:t>
            </a:r>
            <a:r>
              <a:rPr lang="en-US" sz="3200" b="1" dirty="0">
                <a:latin typeface="+mj-lt"/>
              </a:rPr>
              <a:t>: </a:t>
            </a:r>
            <a:r>
              <a:rPr lang="en-US" sz="3200" i="1" dirty="0">
                <a:latin typeface="TimesTen-Italic"/>
              </a:rPr>
              <a:t>uh, umm, basically</a:t>
            </a:r>
            <a:r>
              <a:rPr lang="en-US" sz="3200" dirty="0">
                <a:latin typeface="TimesTen-Roman"/>
              </a:rPr>
              <a:t>,</a:t>
            </a:r>
            <a:r>
              <a:rPr lang="en-US" sz="3200" i="1" dirty="0">
                <a:latin typeface="TimesTen-Italic"/>
              </a:rPr>
              <a:t> </a:t>
            </a:r>
            <a:r>
              <a:rPr lang="en-US" sz="3200" i="1" dirty="0" err="1">
                <a:latin typeface="TimesTen-Italic"/>
              </a:rPr>
              <a:t>yu’no</a:t>
            </a:r>
            <a:endParaRPr lang="en-US" sz="3200" b="1" dirty="0"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5. Becoming a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Statue</a:t>
            </a:r>
            <a:r>
              <a:rPr lang="en-US" sz="3200" b="1" dirty="0">
                <a:latin typeface="+mj-lt"/>
              </a:rPr>
              <a:t>, Pendulum, or Traveler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6.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Blocking</a:t>
            </a:r>
            <a:r>
              <a:rPr lang="en-US" sz="3200" b="1" dirty="0">
                <a:latin typeface="+mj-lt"/>
              </a:rPr>
              <a:t> the Screen</a:t>
            </a:r>
          </a:p>
          <a:p>
            <a:pPr lvl="1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7.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Reading</a:t>
            </a:r>
            <a:r>
              <a:rPr lang="en-US" sz="3200" b="1" dirty="0">
                <a:latin typeface="+mj-lt"/>
              </a:rPr>
              <a:t> from the screen or from notes</a:t>
            </a:r>
          </a:p>
        </p:txBody>
      </p:sp>
    </p:spTree>
    <p:extLst>
      <p:ext uri="{BB962C8B-B14F-4D97-AF65-F5344CB8AC3E}">
        <p14:creationId xmlns:p14="http://schemas.microsoft.com/office/powerpoint/2010/main" val="3729466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Strengthening Your Presentations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latin typeface="+mj-lt"/>
              </a:rPr>
              <a:t>Use an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Informal Style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latin typeface="+mj-lt"/>
              </a:rPr>
              <a:t>Make Clear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Transitions.</a:t>
            </a:r>
          </a:p>
          <a:p>
            <a:pPr lvl="1">
              <a:lnSpc>
                <a:spcPct val="100000"/>
              </a:lnSpc>
            </a:pPr>
            <a:r>
              <a:rPr lang="en-US" sz="3200" dirty="0">
                <a:latin typeface="+mj-lt"/>
              </a:rPr>
              <a:t>Keep your listeners in the picture by emphasizing connections and transitions in your thinking by using simple words and phrases like these: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3200" dirty="0">
                <a:latin typeface="+mj-lt"/>
              </a:rPr>
              <a:t>	 	</a:t>
            </a:r>
            <a:r>
              <a:rPr lang="en-US" sz="3200" b="1" i="1" u="sng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First, Next ,  On the other hand, As you can see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3200" i="1" dirty="0">
              <a:latin typeface="+mj-lt"/>
            </a:endParaRPr>
          </a:p>
          <a:p>
            <a:pPr>
              <a:lnSpc>
                <a:spcPct val="100000"/>
              </a:lnSpc>
            </a:pPr>
            <a:r>
              <a:rPr lang="en-US" sz="3200" b="1" dirty="0">
                <a:latin typeface="+mj-lt"/>
              </a:rPr>
              <a:t>Repeat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Key Points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latin typeface="+mj-lt"/>
              </a:rPr>
              <a:t>Use a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Pointer</a:t>
            </a:r>
          </a:p>
          <a:p>
            <a:pPr>
              <a:lnSpc>
                <a:spcPct val="100000"/>
              </a:lnSpc>
            </a:pPr>
            <a:r>
              <a:rPr lang="en-US" sz="3200" b="1" dirty="0">
                <a:latin typeface="+mj-lt"/>
              </a:rPr>
              <a:t>Maintain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Eye Contact</a:t>
            </a:r>
          </a:p>
        </p:txBody>
      </p:sp>
    </p:spTree>
    <p:extLst>
      <p:ext uri="{BB962C8B-B14F-4D97-AF65-F5344CB8AC3E}">
        <p14:creationId xmlns:p14="http://schemas.microsoft.com/office/powerpoint/2010/main" val="27623982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A8B0B-F5EA-DDEB-6632-F25CC1456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D08FEB7-68EF-08E0-81EA-25350025B5F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Eight Simple Rules for Making Good Oral Presentations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1B7251-2CE8-DAC6-D2D6-D45FAA23A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1: Talk to the Audience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Understand your audience’s background and expectations.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Tailor your content to what they need and want to learn.</a:t>
            </a:r>
          </a:p>
          <a:p>
            <a:pPr>
              <a:lnSpc>
                <a:spcPct val="150000"/>
              </a:lnSpc>
            </a:pPr>
            <a:endParaRPr lang="en-US" sz="3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2: Less Is More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Avoid overloading your presentation with too much information.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Focus on a few clear, important ideas.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12087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DA5D-43ED-3291-CAC6-8567DD8F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E985C2-4EFC-6392-DA6D-2C199E2B9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3: Only Talk When You Have Something to Say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Present meaningful, relevant content only.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Respect the audience’s time by avoiding unnecessary material.</a:t>
            </a:r>
          </a:p>
          <a:p>
            <a:pPr>
              <a:lnSpc>
                <a:spcPct val="150000"/>
              </a:lnSpc>
            </a:pPr>
            <a:endParaRPr lang="en-US" sz="3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4: Make the Take-Home Message Persistent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Ensure your key points are memorable.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Emphasize a few main ideas the audience will retain.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128F5-C0BF-32DC-DFD0-5BEAD535A46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Eight Simple Rules for Making Good Oral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119980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7873-10F1-7FD4-1E3D-5FC57E1B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73D86A-F7F9-6EF2-B6F9-EA8440AA9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3: Only Talk When You Have Something to Say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Present meaningful, relevant content only.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Respect the audience’s time by avoiding unnecessary material.</a:t>
            </a:r>
          </a:p>
          <a:p>
            <a:pPr>
              <a:lnSpc>
                <a:spcPct val="150000"/>
              </a:lnSpc>
            </a:pPr>
            <a:endParaRPr lang="en-US" sz="3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4: Make the Take-Home Message Persistent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Ensure your key points are memorable.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Emphasize a few main ideas the audience will retain.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3B2F2-1B0D-F7D5-98E1-4615747F0E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Eight Simple Rules for Making Good Oral Presentations</a:t>
            </a:r>
          </a:p>
        </p:txBody>
      </p:sp>
    </p:spTree>
    <p:extLst>
      <p:ext uri="{BB962C8B-B14F-4D97-AF65-F5344CB8AC3E}">
        <p14:creationId xmlns:p14="http://schemas.microsoft.com/office/powerpoint/2010/main" val="29721223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97281-E26F-3B99-91EF-9338FA36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AC62E7-3F80-745C-3C3A-B4ECB50F3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5: Be Logical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Structure your presentation like a clear story.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Maintain a logical flow from beginning to end.</a:t>
            </a:r>
          </a:p>
          <a:p>
            <a:pPr>
              <a:lnSpc>
                <a:spcPct val="150000"/>
              </a:lnSpc>
            </a:pPr>
            <a:br>
              <a:rPr lang="en-US" sz="3200" b="1" dirty="0">
                <a:latin typeface="+mj-lt"/>
              </a:rPr>
            </a:br>
            <a:r>
              <a:rPr lang="en-US" sz="3200" b="1" i="1" dirty="0">
                <a:latin typeface="+mj-lt"/>
              </a:rPr>
              <a:t>Rule 6: Treat the Floor as a Stage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Engage the audience without overacting.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Be natural and confident in your delivery.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8DD8E-96D6-EF2B-AAA8-D7A4FA5E4E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Eight Simple Rules for Making Good Oral Presentations</a:t>
            </a:r>
          </a:p>
        </p:txBody>
      </p:sp>
    </p:spTree>
    <p:extLst>
      <p:ext uri="{BB962C8B-B14F-4D97-AF65-F5344CB8AC3E}">
        <p14:creationId xmlns:p14="http://schemas.microsoft.com/office/powerpoint/2010/main" val="235417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2D95-4CC1-3921-C3B2-F649B246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0E1C3C-1457-54E5-8FAE-F1C3495C6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7: Practice and Time Your Presentation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Rehearse to improve clarity and timing.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Stay within limits and avoid unnecessary deviations.</a:t>
            </a:r>
          </a:p>
          <a:p>
            <a:pPr>
              <a:lnSpc>
                <a:spcPct val="150000"/>
              </a:lnSpc>
            </a:pPr>
            <a:endParaRPr lang="en-US" sz="3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Rule 8: Use Visuals Sparingly but Effectively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Use visuals to support, not overwhelm your message.</a:t>
            </a:r>
            <a:br>
              <a:rPr lang="en-US" sz="3200" b="1" dirty="0">
                <a:latin typeface="+mj-lt"/>
              </a:rPr>
            </a:br>
            <a:r>
              <a:rPr lang="en-US" sz="3200" b="1" dirty="0">
                <a:latin typeface="+mj-lt"/>
              </a:rPr>
              <a:t>Ensure visuals are clear, relevant, and purposeful.</a:t>
            </a:r>
          </a:p>
          <a:p>
            <a:pPr>
              <a:lnSpc>
                <a:spcPct val="100000"/>
              </a:lnSpc>
            </a:pPr>
            <a:endParaRPr lang="en-US" sz="3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4196C-1524-7D89-BB4D-2C3B6FF79F5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Eight Simple Rules for Making Good Oral Presentations</a:t>
            </a:r>
          </a:p>
        </p:txBody>
      </p:sp>
    </p:spTree>
    <p:extLst>
      <p:ext uri="{BB962C8B-B14F-4D97-AF65-F5344CB8AC3E}">
        <p14:creationId xmlns:p14="http://schemas.microsoft.com/office/powerpoint/2010/main" val="2748812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Strengthening Your Presentations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Be Ready for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Unexpected Questions</a:t>
            </a:r>
          </a:p>
          <a:p>
            <a:pPr lvl="2">
              <a:lnSpc>
                <a:spcPct val="150000"/>
              </a:lnSpc>
            </a:pPr>
            <a:r>
              <a:rPr lang="en-US" sz="3200" b="1" dirty="0">
                <a:latin typeface="+mj-lt"/>
              </a:rPr>
              <a:t>Two strategies for tackling unexpected questions are to:</a:t>
            </a:r>
          </a:p>
          <a:p>
            <a:pPr lvl="2"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1. Simply say you 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don’t know</a:t>
            </a:r>
          </a:p>
          <a:p>
            <a:pPr lvl="2"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2. Offer to talk with the questioner 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after your presentation</a:t>
            </a:r>
          </a:p>
          <a:p>
            <a:pPr>
              <a:lnSpc>
                <a:spcPct val="150000"/>
              </a:lnSpc>
            </a:pPr>
            <a:r>
              <a:rPr lang="en-US" sz="4000" b="1" i="1" dirty="0">
                <a:latin typeface="+mj-lt"/>
              </a:rPr>
              <a:t>Are you nervous? </a:t>
            </a:r>
          </a:p>
          <a:p>
            <a:pPr lvl="2">
              <a:lnSpc>
                <a:spcPct val="150000"/>
              </a:lnSpc>
            </a:pPr>
            <a:r>
              <a:rPr lang="en-US" sz="3200" b="1" i="1" dirty="0">
                <a:latin typeface="+mj-lt"/>
              </a:rPr>
              <a:t>Be at the presentation place 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earlier</a:t>
            </a:r>
          </a:p>
          <a:p>
            <a:pPr lvl="2">
              <a:lnSpc>
                <a:spcPct val="100000"/>
              </a:lnSpc>
            </a:pPr>
            <a:r>
              <a:rPr lang="en-US" sz="3200" b="1" i="1" dirty="0">
                <a:latin typeface="+mj-lt"/>
              </a:rPr>
              <a:t>Try to have a few </a:t>
            </a:r>
            <a:r>
              <a:rPr lang="en-US" sz="3200" b="1" i="1" dirty="0">
                <a:solidFill>
                  <a:srgbClr val="C00000"/>
                </a:solidFill>
                <a:latin typeface="+mj-lt"/>
              </a:rPr>
              <a:t>friends/colleagues</a:t>
            </a:r>
            <a:r>
              <a:rPr lang="en-US" sz="3200" b="1" i="1" dirty="0">
                <a:latin typeface="+mj-lt"/>
              </a:rPr>
              <a:t> in the audience to give you moral support</a:t>
            </a:r>
          </a:p>
        </p:txBody>
      </p:sp>
    </p:spTree>
    <p:extLst>
      <p:ext uri="{BB962C8B-B14F-4D97-AF65-F5344CB8AC3E}">
        <p14:creationId xmlns:p14="http://schemas.microsoft.com/office/powerpoint/2010/main" val="40220731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General Rules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C00000"/>
                </a:solidFill>
                <a:latin typeface="+mj-lt"/>
              </a:rPr>
              <a:t>Don't read</a:t>
            </a:r>
            <a:r>
              <a:rPr lang="en-US" sz="3200" b="1" dirty="0">
                <a:latin typeface="+mj-lt"/>
              </a:rPr>
              <a:t> your presentation straight from the slides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+mj-lt"/>
              </a:rPr>
              <a:t>Follow the </a:t>
            </a:r>
            <a:r>
              <a:rPr lang="en-US" sz="3200" b="1" dirty="0">
                <a:solidFill>
                  <a:srgbClr val="C00000"/>
                </a:solidFill>
                <a:latin typeface="+mj-lt"/>
              </a:rPr>
              <a:t>5/5/5</a:t>
            </a:r>
            <a:r>
              <a:rPr lang="en-US" sz="3200" b="1" dirty="0">
                <a:latin typeface="+mj-lt"/>
              </a:rPr>
              <a:t>  (or 7/7/7) rule</a:t>
            </a:r>
          </a:p>
          <a:p>
            <a:pPr lvl="2">
              <a:lnSpc>
                <a:spcPct val="150000"/>
              </a:lnSpc>
            </a:pPr>
            <a:r>
              <a:rPr lang="en-US" sz="3600" b="1" dirty="0">
                <a:latin typeface="+mj-lt"/>
              </a:rPr>
              <a:t>No more than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five words </a:t>
            </a:r>
            <a:r>
              <a:rPr lang="en-US" sz="3600" b="1" dirty="0">
                <a:latin typeface="+mj-lt"/>
              </a:rPr>
              <a:t>per line of text,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five lines of text </a:t>
            </a:r>
            <a:r>
              <a:rPr lang="en-US" sz="3600" b="1" dirty="0">
                <a:latin typeface="+mj-lt"/>
              </a:rPr>
              <a:t>per slide, or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five text-heavy </a:t>
            </a:r>
            <a:r>
              <a:rPr lang="en-US" sz="3600" b="1" dirty="0">
                <a:latin typeface="+mj-lt"/>
              </a:rPr>
              <a:t>slides in a row.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Don't forget your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audience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Choose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readable colors </a:t>
            </a:r>
            <a:r>
              <a:rPr lang="en-US" sz="3600" b="1" dirty="0">
                <a:latin typeface="+mj-lt"/>
              </a:rPr>
              <a:t>and fonts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+mj-lt"/>
              </a:rPr>
              <a:t>Don't overload your presentation with </a:t>
            </a:r>
            <a:r>
              <a:rPr lang="en-US" sz="3600" b="1" dirty="0">
                <a:solidFill>
                  <a:srgbClr val="C00000"/>
                </a:solidFill>
                <a:latin typeface="+mj-lt"/>
              </a:rPr>
              <a:t>animations</a:t>
            </a:r>
          </a:p>
        </p:txBody>
      </p:sp>
    </p:spTree>
    <p:extLst>
      <p:ext uri="{BB962C8B-B14F-4D97-AF65-F5344CB8AC3E}">
        <p14:creationId xmlns:p14="http://schemas.microsoft.com/office/powerpoint/2010/main" val="4027567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General Rules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192000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+mj-lt"/>
              </a:rPr>
              <a:t>Use a Maximum of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15 Slides </a:t>
            </a:r>
            <a:r>
              <a:rPr lang="en-US" sz="2600" dirty="0">
                <a:latin typeface="+mj-lt"/>
              </a:rPr>
              <a:t>(though it depends to the topic and your slide design) </a:t>
            </a:r>
          </a:p>
          <a:p>
            <a:pPr lvl="2">
              <a:lnSpc>
                <a:spcPct val="150000"/>
              </a:lnSpc>
            </a:pPr>
            <a:r>
              <a:rPr lang="en-US" sz="1800" dirty="0">
                <a:latin typeface="+mj-lt"/>
              </a:rPr>
              <a:t>For a talk of less than 10 minutes, 5 or 6 slides are enough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+mj-lt"/>
              </a:rPr>
              <a:t>Make Your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Titles Headlines</a:t>
            </a:r>
            <a:r>
              <a:rPr lang="en-US" sz="2600" b="1" dirty="0">
                <a:latin typeface="+mj-lt"/>
              </a:rPr>
              <a:t>, Not Descriptions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+mj-lt"/>
              </a:rPr>
              <a:t>Let the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Titles</a:t>
            </a:r>
            <a:r>
              <a:rPr lang="en-US" sz="2600" b="1" dirty="0">
                <a:latin typeface="+mj-lt"/>
              </a:rPr>
              <a:t> Tell the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Story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C00000"/>
                </a:solidFill>
                <a:latin typeface="+mj-lt"/>
              </a:rPr>
              <a:t>Layout</a:t>
            </a:r>
            <a:r>
              <a:rPr lang="en-US" sz="2600" b="1" dirty="0">
                <a:latin typeface="+mj-lt"/>
              </a:rPr>
              <a:t> Counts 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+mj-lt"/>
              </a:rPr>
              <a:t>Give Your Audience a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Roadmap</a:t>
            </a:r>
            <a:r>
              <a:rPr lang="en-US" sz="2600" b="1" dirty="0">
                <a:latin typeface="+mj-lt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+mj-lt"/>
              </a:rPr>
              <a:t>Vary Your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Format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latin typeface="+mj-lt"/>
              </a:rPr>
              <a:t>Always Close With an </a:t>
            </a:r>
            <a:r>
              <a:rPr lang="en-US" sz="2600" b="1" dirty="0">
                <a:solidFill>
                  <a:srgbClr val="C00000"/>
                </a:solidFill>
                <a:latin typeface="+mj-lt"/>
              </a:rPr>
              <a:t>Ask</a:t>
            </a:r>
          </a:p>
        </p:txBody>
      </p:sp>
    </p:spTree>
    <p:extLst>
      <p:ext uri="{BB962C8B-B14F-4D97-AF65-F5344CB8AC3E}">
        <p14:creationId xmlns:p14="http://schemas.microsoft.com/office/powerpoint/2010/main" val="4063752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General Rules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rgbClr val="C00000"/>
                </a:solidFill>
                <a:latin typeface="+mj-lt"/>
              </a:rPr>
              <a:t>Limit punctuation </a:t>
            </a:r>
            <a:r>
              <a:rPr lang="en-US" sz="3000" dirty="0">
                <a:latin typeface="+mj-lt"/>
              </a:rPr>
              <a:t>and avoid putting words in all capital letters.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rgbClr val="C00000"/>
                </a:solidFill>
                <a:latin typeface="+mj-lt"/>
              </a:rPr>
              <a:t>Empty space </a:t>
            </a:r>
            <a:r>
              <a:rPr lang="en-US" sz="3000" dirty="0">
                <a:latin typeface="+mj-lt"/>
              </a:rPr>
              <a:t>on the slide will enhance readability.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+mj-lt"/>
              </a:rPr>
              <a:t>Use </a:t>
            </a:r>
            <a:r>
              <a:rPr lang="en-US" sz="3000" dirty="0">
                <a:solidFill>
                  <a:srgbClr val="C00000"/>
                </a:solidFill>
                <a:latin typeface="+mj-lt"/>
              </a:rPr>
              <a:t>contrasting colors </a:t>
            </a:r>
            <a:r>
              <a:rPr lang="en-US" sz="3000" dirty="0">
                <a:latin typeface="+mj-lt"/>
              </a:rPr>
              <a:t>for text and background.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+mj-lt"/>
              </a:rPr>
              <a:t>Avoid the use of </a:t>
            </a:r>
            <a:r>
              <a:rPr lang="en-US" sz="3000" dirty="0">
                <a:solidFill>
                  <a:srgbClr val="C00000"/>
                </a:solidFill>
                <a:latin typeface="+mj-lt"/>
              </a:rPr>
              <a:t>flashy transitions </a:t>
            </a:r>
            <a:r>
              <a:rPr lang="en-US" sz="3000" dirty="0">
                <a:latin typeface="+mj-lt"/>
              </a:rPr>
              <a:t>such as text fly-ins.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+mj-lt"/>
              </a:rPr>
              <a:t>Use good </a:t>
            </a:r>
            <a:r>
              <a:rPr lang="en-US" sz="3000" dirty="0">
                <a:solidFill>
                  <a:srgbClr val="C00000"/>
                </a:solidFill>
                <a:latin typeface="+mj-lt"/>
              </a:rPr>
              <a:t>quality images </a:t>
            </a:r>
            <a:r>
              <a:rPr lang="en-US" sz="3000" dirty="0">
                <a:latin typeface="+mj-lt"/>
              </a:rPr>
              <a:t>that reinforce and complement your message. </a:t>
            </a:r>
          </a:p>
          <a:p>
            <a:pPr>
              <a:lnSpc>
                <a:spcPct val="150000"/>
              </a:lnSpc>
            </a:pPr>
            <a:r>
              <a:rPr lang="en-US" sz="3000" u="sng" dirty="0">
                <a:latin typeface="+mj-lt"/>
              </a:rPr>
              <a:t>Have a </a:t>
            </a:r>
            <a:r>
              <a:rPr lang="en-US" sz="3000" u="sng" dirty="0">
                <a:solidFill>
                  <a:srgbClr val="C00000"/>
                </a:solidFill>
                <a:latin typeface="+mj-lt"/>
              </a:rPr>
              <a:t>Plan B</a:t>
            </a:r>
            <a:r>
              <a:rPr lang="en-US" sz="3000" u="sng" dirty="0">
                <a:latin typeface="+mj-lt"/>
              </a:rPr>
              <a:t> in the event of technical difficulties.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solidFill>
                  <a:srgbClr val="C00000"/>
                </a:solidFill>
                <a:latin typeface="+mj-lt"/>
              </a:rPr>
              <a:t>Do not apologize </a:t>
            </a:r>
            <a:r>
              <a:rPr lang="en-US" sz="3000" dirty="0">
                <a:latin typeface="+mj-lt"/>
              </a:rPr>
              <a:t>for anything in your presentation. </a:t>
            </a:r>
          </a:p>
          <a:p>
            <a:pPr>
              <a:lnSpc>
                <a:spcPct val="150000"/>
              </a:lnSpc>
            </a:pPr>
            <a:endParaRPr lang="en-US" sz="3000" b="1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3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7899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General Rules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Use only </a:t>
            </a:r>
            <a:r>
              <a:rPr lang="en-US" sz="3000" b="1" dirty="0">
                <a:solidFill>
                  <a:srgbClr val="C00000"/>
                </a:solidFill>
                <a:latin typeface="+mj-lt"/>
              </a:rPr>
              <a:t>one idea </a:t>
            </a:r>
            <a:r>
              <a:rPr lang="en-US" sz="3000" b="1" dirty="0">
                <a:latin typeface="+mj-lt"/>
              </a:rPr>
              <a:t>per slide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Have a </a:t>
            </a:r>
            <a:r>
              <a:rPr lang="en-US" sz="3000" b="1" dirty="0">
                <a:solidFill>
                  <a:srgbClr val="C00000"/>
                </a:solidFill>
                <a:latin typeface="+mj-lt"/>
              </a:rPr>
              <a:t>good conclusions </a:t>
            </a:r>
            <a:r>
              <a:rPr lang="en-US" sz="3000" b="1" dirty="0">
                <a:latin typeface="+mj-lt"/>
              </a:rPr>
              <a:t>slide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Having periodic "</a:t>
            </a:r>
            <a:r>
              <a:rPr lang="en-US" sz="3000" b="1" dirty="0">
                <a:solidFill>
                  <a:srgbClr val="C00000"/>
                </a:solidFill>
                <a:latin typeface="+mj-lt"/>
              </a:rPr>
              <a:t>talk outline</a:t>
            </a:r>
            <a:r>
              <a:rPr lang="en-US" sz="3000" b="1" dirty="0">
                <a:latin typeface="+mj-lt"/>
              </a:rPr>
              <a:t>" slides (to show where you are in the 	talk) especially for </a:t>
            </a:r>
            <a:r>
              <a:rPr lang="en-US" sz="3000" b="1" dirty="0">
                <a:solidFill>
                  <a:srgbClr val="C00000"/>
                </a:solidFill>
                <a:latin typeface="+mj-lt"/>
              </a:rPr>
              <a:t>longer talks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+mj-lt"/>
              </a:rPr>
              <a:t>Don't count on the audience </a:t>
            </a:r>
            <a:r>
              <a:rPr lang="en-US" sz="3000" b="1" dirty="0">
                <a:latin typeface="+mj-lt"/>
              </a:rPr>
              <a:t>to remember any detail from one slide to 	another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Try to </a:t>
            </a:r>
            <a:r>
              <a:rPr lang="en-US" sz="3000" b="1" dirty="0">
                <a:solidFill>
                  <a:srgbClr val="C00000"/>
                </a:solidFill>
                <a:latin typeface="+mj-lt"/>
              </a:rPr>
              <a:t>cut out</a:t>
            </a:r>
            <a:r>
              <a:rPr lang="en-US" sz="3000" b="1" dirty="0">
                <a:latin typeface="+mj-lt"/>
              </a:rPr>
              <a:t> as much as possible; less is better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solidFill>
                  <a:srgbClr val="C00000"/>
                </a:solidFill>
                <a:latin typeface="+mj-lt"/>
              </a:rPr>
              <a:t>Humor</a:t>
            </a:r>
            <a:r>
              <a:rPr lang="en-US" sz="3000" b="1" dirty="0">
                <a:latin typeface="+mj-lt"/>
              </a:rPr>
              <a:t> is very useful</a:t>
            </a:r>
          </a:p>
          <a:p>
            <a:pPr>
              <a:lnSpc>
                <a:spcPct val="150000"/>
              </a:lnSpc>
            </a:pPr>
            <a:endParaRPr lang="en-US" sz="3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97152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General Rules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1.	Visual Hierarchy. Understanding the basics of visual hierarchy and 	how you can use it effectively in a presentation.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2.	Slide Layout. Turning the design principles of visual hierarchy into 	effective PowerPoint slide designs.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3.	Typography. Choosing the right typefaces. 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4.	Color. The basics of color theory.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</a:rPr>
              <a:t>5.	Details. The extras that make your presentation great.</a:t>
            </a:r>
          </a:p>
          <a:p>
            <a:pPr>
              <a:lnSpc>
                <a:spcPct val="150000"/>
              </a:lnSpc>
            </a:pPr>
            <a:endParaRPr lang="en-US" sz="3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5277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General Rules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+mj-lt"/>
              </a:rPr>
              <a:t>How to make an effective PowerPoint 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b="1" dirty="0">
                <a:latin typeface="+mj-lt"/>
              </a:rPr>
              <a:t>Visual Hierarchy.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b="1" dirty="0">
                <a:latin typeface="+mj-lt"/>
              </a:rPr>
              <a:t>Slide Layout.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b="1" dirty="0">
                <a:latin typeface="+mj-lt"/>
              </a:rPr>
              <a:t>Typography.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+mj-lt"/>
              </a:rPr>
              <a:t>4. Color.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b="1" dirty="0">
                <a:latin typeface="+mj-lt"/>
              </a:rPr>
              <a:t>5. Details.</a:t>
            </a:r>
          </a:p>
          <a:p>
            <a:pPr>
              <a:lnSpc>
                <a:spcPct val="150000"/>
              </a:lnSpc>
            </a:pPr>
            <a:endParaRPr lang="en-US" sz="3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760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General Rules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b="1" dirty="0">
                <a:latin typeface="+mj-lt"/>
              </a:rPr>
              <a:t>Visual Hierarchy.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600" b="1" dirty="0">
                <a:latin typeface="+mj-lt"/>
              </a:rPr>
              <a:t>	- Arrange elements in a way that it implies importance.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600" b="1" dirty="0">
                <a:latin typeface="+mj-lt"/>
              </a:rPr>
              <a:t>	- Design elements with a stronger contrast than others.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2600" b="1" dirty="0">
              <a:latin typeface="+mj-lt"/>
            </a:endParaRPr>
          </a:p>
        </p:txBody>
      </p:sp>
      <p:pic>
        <p:nvPicPr>
          <p:cNvPr id="4" name="Picture 3" descr="An example of visual hierarchy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229" y="3252401"/>
            <a:ext cx="809244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370702" y="6593815"/>
            <a:ext cx="8880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https://business.tutsplus.com/tutorials/how-to-make-your-powerpoint-presentation-design-better--cms-28172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5901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-10132" y="1"/>
            <a:ext cx="12192000" cy="5766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2800" b="1" dirty="0">
                <a:solidFill>
                  <a:srgbClr val="C00000"/>
                </a:solidFill>
              </a:rPr>
              <a:t>Visual Hierarchy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39" y="739774"/>
            <a:ext cx="6043861" cy="34042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868" y="3418703"/>
            <a:ext cx="6106132" cy="343929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58094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rPr>
              <a:t>General Rules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3000"/>
                    </a14:imgEffect>
                    <a14:imgEffect>
                      <a14:brightnessContrast bright="-15000" contrast="2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032" y="1053605"/>
            <a:ext cx="11811935" cy="496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3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248"/>
            <a:ext cx="3777049" cy="19546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187" y="42916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Size impacts visibility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302" y="383308"/>
            <a:ext cx="4823254" cy="19835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28302" y="42916"/>
            <a:ext cx="41985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Perspective creates an illusion of depth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07829"/>
            <a:ext cx="3832972" cy="19835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2438497"/>
            <a:ext cx="3583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Color and contrast draw attention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8302" y="2777296"/>
            <a:ext cx="4823254" cy="198356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28302" y="2438497"/>
            <a:ext cx="2518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Fonts organize design.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58" y="5160723"/>
            <a:ext cx="3876724" cy="159430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-18865" y="4863018"/>
            <a:ext cx="394691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Space provides emphasis and movement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1319" y="5160723"/>
            <a:ext cx="3955568" cy="16267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257052" y="4832240"/>
            <a:ext cx="3134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293042"/>
                </a:solidFill>
                <a:latin typeface="lato"/>
              </a:rPr>
              <a:t>Negative space emphasizes.</a:t>
            </a:r>
            <a:endParaRPr lang="en-US" b="0" i="0" dirty="0">
              <a:solidFill>
                <a:srgbClr val="293042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30029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"/>
            <a:ext cx="12192000" cy="4036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2800" b="1" dirty="0">
                <a:solidFill>
                  <a:srgbClr val="C00000"/>
                </a:solidFill>
              </a:rPr>
              <a:t>Slide Layout Design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0607" y="4252054"/>
            <a:ext cx="3899981" cy="24176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7" y="477123"/>
            <a:ext cx="5462603" cy="307271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324" y="477123"/>
            <a:ext cx="5412260" cy="304439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9" name="Right Arrow 8"/>
          <p:cNvSpPr/>
          <p:nvPr/>
        </p:nvSpPr>
        <p:spPr>
          <a:xfrm>
            <a:off x="5668369" y="1935892"/>
            <a:ext cx="584886" cy="4681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438" y="4252054"/>
            <a:ext cx="3425911" cy="256943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074" y="4414750"/>
            <a:ext cx="3293433" cy="24700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164757" y="3741332"/>
            <a:ext cx="3724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Contrast, Grouping and Alignment </a:t>
            </a:r>
          </a:p>
        </p:txBody>
      </p:sp>
    </p:spTree>
    <p:extLst>
      <p:ext uri="{BB962C8B-B14F-4D97-AF65-F5344CB8AC3E}">
        <p14:creationId xmlns:p14="http://schemas.microsoft.com/office/powerpoint/2010/main" val="26826663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4448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2800" b="1" dirty="0">
                <a:solidFill>
                  <a:srgbClr val="C00000"/>
                </a:solidFill>
              </a:rPr>
              <a:t>Typography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3319"/>
            <a:ext cx="3935462" cy="295468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120" y="4055203"/>
            <a:ext cx="4426502" cy="233735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729" y="3170654"/>
            <a:ext cx="3641124" cy="20253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6757" y="641177"/>
            <a:ext cx="2890535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Stick to Standard Font</a:t>
            </a:r>
            <a:r>
              <a:rPr lang="en-US" dirty="0"/>
              <a:t>s: </a:t>
            </a:r>
          </a:p>
          <a:p>
            <a:r>
              <a:rPr lang="en-US" dirty="0"/>
              <a:t>Calibri</a:t>
            </a:r>
          </a:p>
          <a:p>
            <a:r>
              <a:rPr lang="en-US" dirty="0"/>
              <a:t>Gill Sans</a:t>
            </a:r>
          </a:p>
          <a:p>
            <a:r>
              <a:rPr lang="en-US" dirty="0"/>
              <a:t>Myriad Pro</a:t>
            </a:r>
          </a:p>
          <a:p>
            <a:r>
              <a:rPr lang="en-US" dirty="0"/>
              <a:t>Cambria</a:t>
            </a:r>
          </a:p>
          <a:p>
            <a:r>
              <a:rPr lang="en-US" dirty="0"/>
              <a:t>Corbel</a:t>
            </a:r>
          </a:p>
          <a:p>
            <a:r>
              <a:rPr lang="en-US" dirty="0"/>
              <a:t>Constantia</a:t>
            </a:r>
          </a:p>
          <a:p>
            <a:r>
              <a:rPr lang="en-US" dirty="0"/>
              <a:t>Garamond</a:t>
            </a:r>
          </a:p>
          <a:p>
            <a:r>
              <a:rPr lang="en-US" dirty="0"/>
              <a:t>Caslon</a:t>
            </a:r>
          </a:p>
          <a:p>
            <a:r>
              <a:rPr lang="en-US" dirty="0"/>
              <a:t>Georgia</a:t>
            </a:r>
          </a:p>
          <a:p>
            <a:r>
              <a:rPr lang="en-US" dirty="0"/>
              <a:t>Tahoma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6353" y="641177"/>
            <a:ext cx="2467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Incorporate Contrast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6353" y="1074919"/>
            <a:ext cx="4613186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Better to use Sans Serif</a:t>
            </a:r>
          </a:p>
          <a:p>
            <a:endParaRPr lang="en-US" b="1" dirty="0"/>
          </a:p>
          <a:p>
            <a:r>
              <a:rPr lang="en-US" b="1" dirty="0"/>
              <a:t>Avoid All Caps</a:t>
            </a:r>
          </a:p>
          <a:p>
            <a:endParaRPr lang="en-US" b="1" dirty="0"/>
          </a:p>
          <a:p>
            <a:r>
              <a:rPr lang="en-US" b="1" dirty="0"/>
              <a:t>Use Fonts Consistently</a:t>
            </a:r>
          </a:p>
          <a:p>
            <a:endParaRPr lang="en-US" b="1" dirty="0"/>
          </a:p>
          <a:p>
            <a:r>
              <a:rPr lang="en-US" b="1" dirty="0"/>
              <a:t>Avoid Italics (except the needed places) </a:t>
            </a:r>
          </a:p>
        </p:txBody>
      </p:sp>
      <p:pic>
        <p:nvPicPr>
          <p:cNvPr id="1026" name="Picture 2" descr="CSS Fonts">
            <a:extLst>
              <a:ext uri="{FF2B5EF4-FFF2-40B4-BE49-F238E27FC236}">
                <a16:creationId xmlns:a16="http://schemas.microsoft.com/office/drawing/2014/main" id="{6040C52D-1771-41A3-AC2A-945847D34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9300" y="641177"/>
            <a:ext cx="3581400" cy="127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5125E5-533D-4C75-B43C-3E413A714790}"/>
              </a:ext>
            </a:extLst>
          </p:cNvPr>
          <p:cNvCxnSpPr/>
          <p:nvPr/>
        </p:nvCxnSpPr>
        <p:spPr>
          <a:xfrm>
            <a:off x="7358743" y="1272419"/>
            <a:ext cx="909562" cy="0"/>
          </a:xfrm>
          <a:prstGeom prst="straightConnector1">
            <a:avLst/>
          </a:prstGeom>
          <a:ln w="50800" cmpd="sng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1764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233" y="72862"/>
            <a:ext cx="5287428" cy="3727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Image result for monroe sequenc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2529" y="3800822"/>
            <a:ext cx="8652238" cy="1968441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06719C-31FA-4986-B7B5-861ACDBBB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909" y="315488"/>
            <a:ext cx="5537302" cy="2763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85FAEE-5AC9-44A8-9D55-EA67DFB43627}"/>
              </a:ext>
            </a:extLst>
          </p:cNvPr>
          <p:cNvSpPr txBox="1"/>
          <p:nvPr/>
        </p:nvSpPr>
        <p:spPr>
          <a:xfrm>
            <a:off x="345231" y="6082649"/>
            <a:ext cx="1131457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Developed by American psychologist Alan Monroe at Purdue University in the mid-1930s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C00000"/>
                </a:solidFill>
              </a:rPr>
              <a:t>Useful Tutorials 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1037"/>
            <a:ext cx="12031579" cy="6176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en-US" sz="30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  <a:hlinkClick r:id="rId2"/>
              </a:rPr>
              <a:t>https://www.youtube.com/watch?v=dEDcc0aCjaA</a:t>
            </a:r>
            <a:endParaRPr lang="en-US" sz="30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  <a:hlinkClick r:id="rId3"/>
              </a:rPr>
              <a:t>https://www.youtube.com/watch?v=-w66TglPRbc</a:t>
            </a:r>
            <a:endParaRPr lang="en-US" sz="30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+mj-lt"/>
                <a:hlinkClick r:id="rId4"/>
              </a:rPr>
              <a:t>https://www.youtube.com/watch?v=Yl_FJAOcFgQ</a:t>
            </a:r>
            <a:endParaRPr lang="en-US" sz="2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+mj-lt"/>
                <a:hlinkClick r:id="rId5"/>
              </a:rPr>
              <a:t>https://www.youtube.com/watch?v=w82a1FT5o88</a:t>
            </a:r>
            <a:endParaRPr lang="en-US" sz="3000" b="1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3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1458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9368" y="868362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+mn-lt"/>
              </a:rPr>
              <a:t>Effective PowerPoint Presentation Tips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4F228D-D223-4123-A756-A6BBF5A1E4AD}"/>
              </a:ext>
            </a:extLst>
          </p:cNvPr>
          <p:cNvSpPr/>
          <p:nvPr/>
        </p:nvSpPr>
        <p:spPr>
          <a:xfrm>
            <a:off x="1462269" y="5343307"/>
            <a:ext cx="990407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https://business.tutsplus.com/articles/37-effective-powerpoint-presentation-tips--cms-25421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https://www.uis.edu/informationtechnologyservices/wp-content/uploads/sites/106/2013/04/PPDesignTips.pdf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3423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16016"/>
            <a:ext cx="8880231" cy="2848708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latin typeface="+mn-lt"/>
              </a:rPr>
              <a:t>Manage Your Anxiety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sz="4900" b="1" dirty="0">
                <a:latin typeface="+mn-lt"/>
              </a:rPr>
              <a:t>"There are two types of speakers. Those who get nervous and those who are liars." (Mark Twain)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E77B4-4361-76BB-D5D1-52C733DDB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061" y="2227384"/>
            <a:ext cx="3727939" cy="279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590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92" y="1471246"/>
            <a:ext cx="11488616" cy="5228493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4400" b="1" dirty="0">
                <a:latin typeface="+mn-lt"/>
              </a:rPr>
              <a:t>- Focus on delivering your message, not on how 	you feel.</a:t>
            </a:r>
            <a:br>
              <a:rPr lang="en-US" sz="4400" b="1" dirty="0">
                <a:latin typeface="+mn-lt"/>
              </a:rPr>
            </a:br>
            <a:br>
              <a:rPr lang="en-US" sz="4400" b="1" dirty="0">
                <a:latin typeface="+mn-lt"/>
              </a:rPr>
            </a:br>
            <a:r>
              <a:rPr lang="en-US" sz="4400" b="1" dirty="0">
                <a:latin typeface="+mn-lt"/>
              </a:rPr>
              <a:t>-  Smile. </a:t>
            </a:r>
            <a:br>
              <a:rPr lang="en-US" sz="4400" b="1" dirty="0">
                <a:latin typeface="+mn-lt"/>
              </a:rPr>
            </a:br>
            <a:br>
              <a:rPr lang="en-US" sz="4400" b="1" dirty="0">
                <a:latin typeface="+mn-lt"/>
              </a:rPr>
            </a:br>
            <a:r>
              <a:rPr lang="en-US" sz="4400" b="1" dirty="0">
                <a:latin typeface="+mn-lt"/>
              </a:rPr>
              <a:t>- Keep presenting! Your anxieties decrease the 	more presentations you give.)</a:t>
            </a:r>
          </a:p>
        </p:txBody>
      </p:sp>
    </p:spTree>
    <p:extLst>
      <p:ext uri="{BB962C8B-B14F-4D97-AF65-F5344CB8AC3E}">
        <p14:creationId xmlns:p14="http://schemas.microsoft.com/office/powerpoint/2010/main" val="18816041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885" y="803031"/>
            <a:ext cx="11204962" cy="5205047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latin typeface="+mn-lt"/>
              </a:rPr>
              <a:t>Create a Strong Beginning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Clearly identify the objectives at the beginning of the session</a:t>
            </a:r>
          </a:p>
        </p:txBody>
      </p:sp>
    </p:spTree>
    <p:extLst>
      <p:ext uri="{BB962C8B-B14F-4D97-AF65-F5344CB8AC3E}">
        <p14:creationId xmlns:p14="http://schemas.microsoft.com/office/powerpoint/2010/main" val="9416586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793" y="0"/>
            <a:ext cx="9144000" cy="1238230"/>
          </a:xfrm>
        </p:spPr>
        <p:txBody>
          <a:bodyPr/>
          <a:lstStyle/>
          <a:p>
            <a:pPr algn="l"/>
            <a:r>
              <a:rPr lang="en-US" b="1" dirty="0">
                <a:latin typeface="+mn-lt"/>
              </a:rPr>
              <a:t>1. Know Your Stuff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0830AE-3EE1-4F78-847C-F44D2A3BC7DE}"/>
              </a:ext>
            </a:extLst>
          </p:cNvPr>
          <p:cNvSpPr txBox="1">
            <a:spLocks/>
          </p:cNvSpPr>
          <p:nvPr/>
        </p:nvSpPr>
        <p:spPr>
          <a:xfrm>
            <a:off x="277793" y="1574157"/>
            <a:ext cx="11563108" cy="50697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Your presentation is about the message you want to get across. </a:t>
            </a: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Think about the narrative that will be discussed, why and in what order.</a:t>
            </a:r>
          </a:p>
        </p:txBody>
      </p:sp>
    </p:spTree>
    <p:extLst>
      <p:ext uri="{BB962C8B-B14F-4D97-AF65-F5344CB8AC3E}">
        <p14:creationId xmlns:p14="http://schemas.microsoft.com/office/powerpoint/2010/main" val="34487717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37" y="428524"/>
            <a:ext cx="9144000" cy="1238230"/>
          </a:xfrm>
        </p:spPr>
        <p:txBody>
          <a:bodyPr/>
          <a:lstStyle/>
          <a:p>
            <a:pPr algn="l"/>
            <a:r>
              <a:rPr lang="en-US" b="1" dirty="0">
                <a:latin typeface="+mn-lt"/>
              </a:rPr>
              <a:t>2. Write it Out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0830AE-3EE1-4F78-847C-F44D2A3BC7DE}"/>
              </a:ext>
            </a:extLst>
          </p:cNvPr>
          <p:cNvSpPr txBox="1">
            <a:spLocks/>
          </p:cNvSpPr>
          <p:nvPr/>
        </p:nvSpPr>
        <p:spPr>
          <a:xfrm>
            <a:off x="277792" y="1574157"/>
            <a:ext cx="11914207" cy="50697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Make a script to show how the information presented will “flow”, and how viewers will see it in sequence. </a:t>
            </a:r>
          </a:p>
        </p:txBody>
      </p:sp>
    </p:spTree>
    <p:extLst>
      <p:ext uri="{BB962C8B-B14F-4D97-AF65-F5344CB8AC3E}">
        <p14:creationId xmlns:p14="http://schemas.microsoft.com/office/powerpoint/2010/main" val="36611925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37" y="428524"/>
            <a:ext cx="10967198" cy="123823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+mn-lt"/>
              </a:rPr>
              <a:t>3. Highlight What is Most Important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0830AE-3EE1-4F78-847C-F44D2A3BC7DE}"/>
              </a:ext>
            </a:extLst>
          </p:cNvPr>
          <p:cNvSpPr txBox="1">
            <a:spLocks/>
          </p:cNvSpPr>
          <p:nvPr/>
        </p:nvSpPr>
        <p:spPr>
          <a:xfrm>
            <a:off x="277792" y="1574157"/>
            <a:ext cx="11914207" cy="50697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A presentation covers the most crucial pieces only.</a:t>
            </a: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Pick key points</a:t>
            </a:r>
          </a:p>
        </p:txBody>
      </p:sp>
    </p:spTree>
    <p:extLst>
      <p:ext uri="{BB962C8B-B14F-4D97-AF65-F5344CB8AC3E}">
        <p14:creationId xmlns:p14="http://schemas.microsoft.com/office/powerpoint/2010/main" val="15332276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78" y="335927"/>
            <a:ext cx="10967198" cy="123823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4. Know Your Audience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0830AE-3EE1-4F78-847C-F44D2A3BC7DE}"/>
              </a:ext>
            </a:extLst>
          </p:cNvPr>
          <p:cNvSpPr txBox="1">
            <a:spLocks/>
          </p:cNvSpPr>
          <p:nvPr/>
        </p:nvSpPr>
        <p:spPr>
          <a:xfrm>
            <a:off x="277792" y="1574158"/>
            <a:ext cx="11914207" cy="3864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Your topic selection, </a:t>
            </a: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The language you use, </a:t>
            </a: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The examples you give to illustrate points, … should be tailored specifically with your 	target audience in mind. </a:t>
            </a:r>
          </a:p>
        </p:txBody>
      </p:sp>
    </p:spTree>
    <p:extLst>
      <p:ext uri="{BB962C8B-B14F-4D97-AF65-F5344CB8AC3E}">
        <p14:creationId xmlns:p14="http://schemas.microsoft.com/office/powerpoint/2010/main" val="3081079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929" y="0"/>
            <a:ext cx="10967198" cy="123823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5.  Keep Your Slides Simple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0830AE-3EE1-4F78-847C-F44D2A3BC7DE}"/>
              </a:ext>
            </a:extLst>
          </p:cNvPr>
          <p:cNvSpPr txBox="1">
            <a:spLocks/>
          </p:cNvSpPr>
          <p:nvPr/>
        </p:nvSpPr>
        <p:spPr>
          <a:xfrm>
            <a:off x="231494" y="1238231"/>
            <a:ext cx="11960505" cy="540563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PowerPoint is </a:t>
            </a:r>
            <a:r>
              <a:rPr kumimoji="0" lang="en-US" sz="54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not an alternative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to a written, formal report.</a:t>
            </a: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The spoken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word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speaks to the audience’s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left brain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.</a:t>
            </a: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The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slideshow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speaks emotionally to the audience’s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right brain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240482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929" y="0"/>
            <a:ext cx="10967198" cy="123823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6. Limit Words on Your Slides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0830AE-3EE1-4F78-847C-F44D2A3BC7DE}"/>
              </a:ext>
            </a:extLst>
          </p:cNvPr>
          <p:cNvSpPr txBox="1">
            <a:spLocks/>
          </p:cNvSpPr>
          <p:nvPr/>
        </p:nvSpPr>
        <p:spPr>
          <a:xfrm>
            <a:off x="231494" y="2199189"/>
            <a:ext cx="11960505" cy="444467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marR="0" lvl="0" indent="-8572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The audience should be listening and watching the visuals, not reading.</a:t>
            </a:r>
          </a:p>
        </p:txBody>
      </p:sp>
    </p:spTree>
    <p:extLst>
      <p:ext uri="{BB962C8B-B14F-4D97-AF65-F5344CB8AC3E}">
        <p14:creationId xmlns:p14="http://schemas.microsoft.com/office/powerpoint/2010/main" val="20052423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"/>
            <a:ext cx="12191999" cy="685800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+mn-lt"/>
              </a:rPr>
              <a:t> 7. Use High-Quality Photos and Graphics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8. Avoid Clip Arts. Avoid Flashy Slide 	Transitions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9. Use Accurate and Relevant Charts and 	Graphs</a:t>
            </a:r>
            <a:br>
              <a:rPr lang="en-US" b="1" dirty="0">
                <a:latin typeface="+mn-lt"/>
              </a:rPr>
            </a:b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88372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14"/>
            <a:ext cx="12191999" cy="67926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+mn-lt"/>
              </a:rPr>
              <a:t> 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10. Choose Appropriate Fonts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		</a:t>
            </a:r>
            <a:r>
              <a:rPr lang="en-US" sz="4900" b="1" dirty="0">
                <a:latin typeface="+mn-lt"/>
              </a:rPr>
              <a:t>San-serif, such as </a:t>
            </a:r>
            <a:r>
              <a:rPr lang="en-US" sz="4900" dirty="0"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  <a:r>
              <a:rPr lang="en-US" sz="4900" b="1" dirty="0">
                <a:latin typeface="+mn-lt"/>
              </a:rPr>
              <a:t> or </a:t>
            </a:r>
            <a:r>
              <a:rPr lang="en-US" sz="4900" dirty="0">
                <a:latin typeface="+mn-lt"/>
              </a:rPr>
              <a:t>Calibri (fonts with 		no “feet” like </a:t>
            </a:r>
            <a:r>
              <a:rPr lang="en-US" sz="6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Feet</a:t>
            </a:r>
            <a:r>
              <a:rPr lang="en-US" sz="4900" dirty="0">
                <a:latin typeface="+mn-lt"/>
              </a:rPr>
              <a:t>)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11. Choose Color Well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12. Clean + Simple Formatting </a:t>
            </a:r>
            <a:br>
              <a:rPr lang="en-US" b="1" dirty="0">
                <a:latin typeface="+mn-lt"/>
              </a:rPr>
            </a:b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228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14"/>
            <a:ext cx="12191999" cy="6792685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 </a:t>
            </a:r>
            <a:r>
              <a:rPr lang="en-US" sz="5400" b="1" dirty="0">
                <a:latin typeface="+mn-lt"/>
              </a:rPr>
              <a:t>13. Make Sure All Objects Are Aligned</a:t>
            </a:r>
            <a:br>
              <a:rPr lang="en-US" sz="5400" b="1" dirty="0">
                <a:latin typeface="+mn-lt"/>
              </a:rPr>
            </a:br>
            <a:br>
              <a:rPr lang="en-US" sz="5400" b="1" dirty="0">
                <a:latin typeface="+mn-lt"/>
              </a:rPr>
            </a:br>
            <a:r>
              <a:rPr lang="en-US" sz="5400" b="1" dirty="0">
                <a:latin typeface="+mn-lt"/>
              </a:rPr>
              <a:t> 14. Limit Punctuation</a:t>
            </a:r>
            <a:br>
              <a:rPr lang="en-US" sz="5400" b="1" dirty="0">
                <a:latin typeface="+mn-lt"/>
              </a:rPr>
            </a:br>
            <a:br>
              <a:rPr lang="en-US" sz="5400" b="1" dirty="0">
                <a:latin typeface="+mn-lt"/>
              </a:rPr>
            </a:br>
            <a:r>
              <a:rPr lang="en-US" sz="5400" b="1" dirty="0">
                <a:latin typeface="+mn-lt"/>
              </a:rPr>
              <a:t> 15. Avoid Over-Formatting Your Points</a:t>
            </a:r>
            <a:br>
              <a:rPr lang="en-US" sz="5400" b="1" dirty="0">
                <a:latin typeface="+mn-lt"/>
              </a:rPr>
            </a:br>
            <a:endParaRPr lang="en-US" sz="5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4368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14"/>
            <a:ext cx="12191999" cy="6792685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 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16. Practice With a Timer 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76FA7-D63D-4FD8-B37A-E3CCEC78E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14" y="279918"/>
            <a:ext cx="4318946" cy="324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130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14"/>
            <a:ext cx="12191999" cy="67926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+mn-lt"/>
              </a:rPr>
              <a:t> 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17. Slow It Down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	</a:t>
            </a:r>
            <a:r>
              <a:rPr lang="en-US" sz="4900" b="1" dirty="0">
                <a:latin typeface="+mn-lt"/>
              </a:rPr>
              <a:t>You will have the chance to emphasize, appear 	more thoughtful, and make your information 	easier to digest.</a:t>
            </a:r>
            <a:br>
              <a:rPr lang="en-US" sz="4900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18. Choose Three Focal Points in the 	Room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2161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14"/>
            <a:ext cx="12191999" cy="67926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+mn-lt"/>
              </a:rPr>
              <a:t> 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19. Eye contact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	</a:t>
            </a:r>
            <a:r>
              <a:rPr lang="en-US" sz="4900" b="1" dirty="0">
                <a:latin typeface="+mn-lt"/>
              </a:rPr>
              <a:t>Eye contact creates a great connection 	with 	your audience </a:t>
            </a:r>
            <a:br>
              <a:rPr lang="en-US" sz="4900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20. </a:t>
            </a:r>
            <a:r>
              <a:rPr lang="en-US" sz="4900" b="1" dirty="0">
                <a:latin typeface="+mn-lt"/>
              </a:rPr>
              <a:t>The quality of your presentation is most 	directly related to the quality of your 	preparation.</a:t>
            </a:r>
            <a:br>
              <a:rPr lang="en-US" sz="4900" b="1" dirty="0">
                <a:latin typeface="+mn-lt"/>
              </a:rPr>
            </a:br>
            <a:br>
              <a:rPr lang="en-US" sz="4900" b="1" dirty="0">
                <a:latin typeface="+mn-lt"/>
              </a:rPr>
            </a:br>
            <a:r>
              <a:rPr lang="en-US" sz="4900" b="1" dirty="0">
                <a:solidFill>
                  <a:srgbClr val="C00000"/>
                </a:solidFill>
                <a:latin typeface="+mn-lt"/>
              </a:rPr>
              <a:t>Believe in the importance of your message.</a:t>
            </a:r>
            <a:r>
              <a:rPr lang="en-US" b="1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36788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3EF9-994F-40D1-A459-2149CCE17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5314"/>
            <a:ext cx="12191999" cy="679268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latin typeface="+mn-lt"/>
              </a:rPr>
              <a:t> 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 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21. Conclude with a Strong Ending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22. Listen attentively before responding 	to questions. </a:t>
            </a:r>
            <a:r>
              <a:rPr lang="en-US" sz="4400" b="1" dirty="0">
                <a:latin typeface="+mn-lt"/>
              </a:rPr>
              <a:t>Better to take note</a:t>
            </a:r>
            <a:br>
              <a:rPr lang="en-US" sz="4900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sz="4900" b="1" dirty="0">
                <a:latin typeface="+mn-lt"/>
              </a:rPr>
              <a:t>.</a:t>
            </a:r>
            <a:br>
              <a:rPr lang="en-US" sz="4900" b="1" dirty="0">
                <a:latin typeface="+mn-lt"/>
              </a:rPr>
            </a:br>
            <a:br>
              <a:rPr lang="en-US" sz="4900" b="1" dirty="0">
                <a:latin typeface="+mn-lt"/>
              </a:rPr>
            </a:br>
            <a:r>
              <a:rPr lang="en-US" sz="4900" b="1" dirty="0">
                <a:solidFill>
                  <a:srgbClr val="C00000"/>
                </a:solidFill>
                <a:latin typeface="+mn-lt"/>
              </a:rPr>
              <a:t>Believe in the importance of your message.</a:t>
            </a:r>
            <a:r>
              <a:rPr lang="en-US" b="1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76686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How to avoid death By PowerPoint | David JP Phillips | TEDxStockholmSalon">
            <a:hlinkClick r:id="" action="ppaction://media"/>
            <a:extLst>
              <a:ext uri="{FF2B5EF4-FFF2-40B4-BE49-F238E27FC236}">
                <a16:creationId xmlns:a16="http://schemas.microsoft.com/office/drawing/2014/main" id="{4BFB88D0-31AB-45E1-B181-223D5196585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25940" y="-71437"/>
            <a:ext cx="11480398" cy="64868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3D6385-CD45-808C-2F86-6AA3BB27BC87}"/>
              </a:ext>
            </a:extLst>
          </p:cNvPr>
          <p:cNvSpPr txBox="1"/>
          <p:nvPr/>
        </p:nvSpPr>
        <p:spPr>
          <a:xfrm>
            <a:off x="408842" y="6415427"/>
            <a:ext cx="6304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https://youtu.be/Iwpi1Lm6dFo</a:t>
            </a:r>
          </a:p>
        </p:txBody>
      </p:sp>
    </p:spTree>
    <p:extLst>
      <p:ext uri="{BB962C8B-B14F-4D97-AF65-F5344CB8AC3E}">
        <p14:creationId xmlns:p14="http://schemas.microsoft.com/office/powerpoint/2010/main" val="119919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2118</TotalTime>
  <Words>2828</Words>
  <Application>Microsoft Office PowerPoint</Application>
  <PresentationFormat>Widescreen</PresentationFormat>
  <Paragraphs>321</Paragraphs>
  <Slides>71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71</vt:i4>
      </vt:variant>
    </vt:vector>
  </HeadingPairs>
  <TitlesOfParts>
    <vt:vector size="82" baseType="lpstr">
      <vt:lpstr>Arial</vt:lpstr>
      <vt:lpstr>Arial Narrow</vt:lpstr>
      <vt:lpstr>Calibri</vt:lpstr>
      <vt:lpstr>Calibri Light</vt:lpstr>
      <vt:lpstr>lato</vt:lpstr>
      <vt:lpstr>Times New Roman</vt:lpstr>
      <vt:lpstr>TimesTen-Italic</vt:lpstr>
      <vt:lpstr>TimesTen-Roman</vt:lpstr>
      <vt:lpstr>Office Theme</vt:lpstr>
      <vt:lpstr>1_Office Theme</vt:lpstr>
      <vt:lpstr>2_Office Theme</vt:lpstr>
      <vt:lpstr>ENGR 181 W  Developing a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Effective PowerPoint Presentation Tips</vt:lpstr>
      <vt:lpstr>Manage Your Anxiety  "There are two types of speakers. Those who get nervous and those who are liars." (Mark Twain)</vt:lpstr>
      <vt:lpstr>- Focus on delivering your message, not on how  you feel.  -  Smile.   - Keep presenting! Your anxieties decrease the  more presentations you give.)</vt:lpstr>
      <vt:lpstr>Create a Strong Beginning  Clearly identify the objectives at the beginning of the session</vt:lpstr>
      <vt:lpstr>1. Know Your Stuff</vt:lpstr>
      <vt:lpstr>2. Write it Out</vt:lpstr>
      <vt:lpstr>3. Highlight What is Most Important</vt:lpstr>
      <vt:lpstr>4. Know Your Audience</vt:lpstr>
      <vt:lpstr>5.  Keep Your Slides Simple</vt:lpstr>
      <vt:lpstr>6. Limit Words on Your Slides</vt:lpstr>
      <vt:lpstr> 7. Use High-Quality Photos and Graphics   8. Avoid Clip Arts. Avoid Flashy Slide  Transitions  9. Use Accurate and Relevant Charts and  Graphs </vt:lpstr>
      <vt:lpstr>    10. Choose Appropriate Fonts   San-serif, such as Arial or Calibri (fonts with   no “feet” like Feet)   11. Choose Color Well   12. Clean + Simple Formatting  </vt:lpstr>
      <vt:lpstr> 13. Make Sure All Objects Are Aligned   14. Limit Punctuation   15. Avoid Over-Formatting Your Points </vt:lpstr>
      <vt:lpstr>   16. Practice With a Timer    </vt:lpstr>
      <vt:lpstr>   17. Slow It Down  You will have the chance to emphasize, appear  more thoughtful, and make your information  easier to digest.   18. Choose Three Focal Points in the  Room   </vt:lpstr>
      <vt:lpstr>   19. Eye contact  Eye contact creates a great connection  with  your audience    20. The quality of your presentation is most  directly related to the quality of your  preparation.  Believe in the importance of your message. </vt:lpstr>
      <vt:lpstr>     21. Conclude with a Strong Ending   22. Listen attentively before responding  to questions. Better to take note  .  Believe in the importance of your message. </vt:lpstr>
      <vt:lpstr>PowerPoint Presentation</vt:lpstr>
    </vt:vector>
  </TitlesOfParts>
  <Company>RCCD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RCCD</dc:creator>
  <cp:lastModifiedBy>Tofigh</cp:lastModifiedBy>
  <cp:revision>95</cp:revision>
  <dcterms:created xsi:type="dcterms:W3CDTF">2017-05-04T22:22:10Z</dcterms:created>
  <dcterms:modified xsi:type="dcterms:W3CDTF">2026-04-27T20:17:05Z</dcterms:modified>
</cp:coreProperties>
</file>