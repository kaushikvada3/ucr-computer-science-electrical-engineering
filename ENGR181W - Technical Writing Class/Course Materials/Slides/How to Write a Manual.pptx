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80" r:id="rId4"/>
    <p:sldId id="281" r:id="rId5"/>
    <p:sldId id="283" r:id="rId6"/>
    <p:sldId id="284" r:id="rId7"/>
    <p:sldId id="282" r:id="rId8"/>
    <p:sldId id="293" r:id="rId9"/>
    <p:sldId id="292" r:id="rId10"/>
    <p:sldId id="285" r:id="rId11"/>
    <p:sldId id="265" r:id="rId12"/>
    <p:sldId id="266" r:id="rId13"/>
    <p:sldId id="286" r:id="rId14"/>
    <p:sldId id="287" r:id="rId15"/>
    <p:sldId id="267" r:id="rId16"/>
    <p:sldId id="268" r:id="rId17"/>
    <p:sldId id="288" r:id="rId18"/>
    <p:sldId id="289" r:id="rId19"/>
    <p:sldId id="290" r:id="rId20"/>
    <p:sldId id="291" r:id="rId21"/>
    <p:sldId id="269" r:id="rId22"/>
    <p:sldId id="257" r:id="rId23"/>
    <p:sldId id="258" r:id="rId24"/>
    <p:sldId id="259" r:id="rId25"/>
    <p:sldId id="260" r:id="rId26"/>
    <p:sldId id="261" r:id="rId27"/>
    <p:sldId id="262" r:id="rId28"/>
    <p:sldId id="263" r:id="rId29"/>
    <p:sldId id="264" r:id="rId30"/>
    <p:sldId id="273" r:id="rId31"/>
    <p:sldId id="274" r:id="rId32"/>
    <p:sldId id="275" r:id="rId33"/>
    <p:sldId id="276" r:id="rId34"/>
    <p:sldId id="277" r:id="rId35"/>
    <p:sldId id="270" r:id="rId36"/>
    <p:sldId id="271" r:id="rId37"/>
    <p:sldId id="272" r:id="rId38"/>
    <p:sldId id="27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16" autoAdjust="0"/>
    <p:restoredTop sz="94660"/>
  </p:normalViewPr>
  <p:slideViewPr>
    <p:cSldViewPr snapToGrid="0">
      <p:cViewPr varScale="1">
        <p:scale>
          <a:sx n="65" d="100"/>
          <a:sy n="65" d="100"/>
        </p:scale>
        <p:origin x="1018"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BCD032F-461F-41E6-B565-30BA0D73834D}"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2109189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CD032F-461F-41E6-B565-30BA0D73834D}"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2877326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CD032F-461F-41E6-B565-30BA0D73834D}"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10805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BCD032F-461F-41E6-B565-30BA0D73834D}" type="datetimeFigureOut">
              <a:rPr lang="en-US" smtClean="0"/>
              <a:t>5/12/2022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3213366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BCD032F-461F-41E6-B565-30BA0D73834D}" type="datetimeFigureOut">
              <a:rPr lang="en-US" smtClean="0"/>
              <a:t>5/12/2022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3972313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032F-461F-41E6-B565-30BA0D73834D}" type="datetimeFigureOut">
              <a:rPr lang="en-US" smtClean="0"/>
              <a:t>5/12/2022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3099505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D032F-461F-41E6-B565-30BA0D73834D}" type="datetimeFigureOut">
              <a:rPr lang="en-US" smtClean="0"/>
              <a:t>5/12/2022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3682042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CD032F-461F-41E6-B565-30BA0D73834D}" type="datetimeFigureOut">
              <a:rPr lang="en-US" smtClean="0"/>
              <a:t>5/12/2022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3150510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CD032F-461F-41E6-B565-30BA0D73834D}" type="datetimeFigureOut">
              <a:rPr lang="en-US" smtClean="0"/>
              <a:t>5/12/2022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369033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CD032F-461F-41E6-B565-30BA0D73834D}"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1541356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CD032F-461F-41E6-B565-30BA0D73834D}"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3A931-FD09-4683-B691-A1B5EAFEE176}" type="slidenum">
              <a:rPr lang="en-US" smtClean="0"/>
              <a:t>‹#›</a:t>
            </a:fld>
            <a:endParaRPr lang="en-US"/>
          </a:p>
        </p:txBody>
      </p:sp>
    </p:spTree>
    <p:extLst>
      <p:ext uri="{BB962C8B-B14F-4D97-AF65-F5344CB8AC3E}">
        <p14:creationId xmlns:p14="http://schemas.microsoft.com/office/powerpoint/2010/main" val="4096267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D032F-461F-41E6-B565-30BA0D73834D}" type="datetimeFigureOut">
              <a:rPr lang="en-US" smtClean="0"/>
              <a:t>5/12/2022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93A931-FD09-4683-B691-A1B5EAFEE176}" type="slidenum">
              <a:rPr lang="en-US" smtClean="0"/>
              <a:t>‹#›</a:t>
            </a:fld>
            <a:endParaRPr lang="en-US"/>
          </a:p>
        </p:txBody>
      </p:sp>
    </p:spTree>
    <p:extLst>
      <p:ext uri="{BB962C8B-B14F-4D97-AF65-F5344CB8AC3E}">
        <p14:creationId xmlns:p14="http://schemas.microsoft.com/office/powerpoint/2010/main" val="1552246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nstrktiv.com/en/user-manual-template/" TargetMode="External"/><Relationship Id="rId2" Type="http://schemas.openxmlformats.org/officeDocument/2006/relationships/hyperlink" Target="https://www.swipeguide.com/insights/how-to-write-manual-work-instructions" TargetMode="External"/><Relationship Id="rId1" Type="http://schemas.openxmlformats.org/officeDocument/2006/relationships/slideLayout" Target="../slideLayouts/slideLayout1.xml"/><Relationship Id="rId4" Type="http://schemas.openxmlformats.org/officeDocument/2006/relationships/hyperlink" Target="https://stepshot.net/how-to-create-a-user-instruction-manual/"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wikihow.com/Create-a-User-Manual" TargetMode="External"/><Relationship Id="rId2" Type="http://schemas.openxmlformats.org/officeDocument/2006/relationships/hyperlink" Target="https://dokit.io/10-golden-rules-to-help-you-create-a-great-user-manual/" TargetMode="External"/><Relationship Id="rId1" Type="http://schemas.openxmlformats.org/officeDocument/2006/relationships/slideLayout" Target="../slideLayouts/slideLayout2.xml"/><Relationship Id="rId5" Type="http://schemas.openxmlformats.org/officeDocument/2006/relationships/hyperlink" Target="https://ucr.on.worldcat.org/oclc/881719875" TargetMode="External"/><Relationship Id="rId4" Type="http://schemas.openxmlformats.org/officeDocument/2006/relationships/hyperlink" Target="https://blog.bit.ai/write-instruction-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Layout" Target="../slideLayouts/slideLayout1.xml"/><Relationship Id="rId1" Type="http://schemas.openxmlformats.org/officeDocument/2006/relationships/vmlDrawing" Target="../drawings/vmlDrawing1.v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0983" y="430385"/>
            <a:ext cx="9144000" cy="1052426"/>
          </a:xfrm>
        </p:spPr>
        <p:txBody>
          <a:bodyPr>
            <a:normAutofit fontScale="90000"/>
          </a:bodyPr>
          <a:lstStyle/>
          <a:p>
            <a:r>
              <a:rPr lang="en-US" sz="7200" dirty="0">
                <a:solidFill>
                  <a:srgbClr val="FF0000"/>
                </a:solidFill>
                <a:latin typeface="Calibri" panose="020F0502020204030204" pitchFamily="34" charset="0"/>
                <a:cs typeface="Calibri" panose="020F0502020204030204" pitchFamily="34" charset="0"/>
              </a:rPr>
              <a:t>ENGR181W</a:t>
            </a:r>
          </a:p>
        </p:txBody>
      </p:sp>
      <p:sp>
        <p:nvSpPr>
          <p:cNvPr id="3" name="Subtitle 2"/>
          <p:cNvSpPr>
            <a:spLocks noGrp="1"/>
          </p:cNvSpPr>
          <p:nvPr>
            <p:ph type="subTitle" idx="1"/>
          </p:nvPr>
        </p:nvSpPr>
        <p:spPr>
          <a:xfrm>
            <a:off x="556054" y="2551714"/>
            <a:ext cx="11170508" cy="1655762"/>
          </a:xfrm>
        </p:spPr>
        <p:txBody>
          <a:bodyPr>
            <a:noAutofit/>
          </a:bodyPr>
          <a:lstStyle/>
          <a:p>
            <a:r>
              <a:rPr lang="en-US" sz="8000" b="1" dirty="0">
                <a:solidFill>
                  <a:srgbClr val="002060"/>
                </a:solidFill>
              </a:rPr>
              <a:t>How to Write a Manual</a:t>
            </a:r>
          </a:p>
        </p:txBody>
      </p:sp>
      <p:sp>
        <p:nvSpPr>
          <p:cNvPr id="4" name="Rectangle 3"/>
          <p:cNvSpPr/>
          <p:nvPr/>
        </p:nvSpPr>
        <p:spPr>
          <a:xfrm>
            <a:off x="0" y="5103674"/>
            <a:ext cx="12192000" cy="2031325"/>
          </a:xfrm>
          <a:prstGeom prst="rect">
            <a:avLst/>
          </a:prstGeom>
        </p:spPr>
        <p:txBody>
          <a:bodyPr wrap="square">
            <a:spAutoFit/>
          </a:bodyPr>
          <a:lstStyle/>
          <a:p>
            <a:r>
              <a:rPr lang="en-US" dirty="0"/>
              <a:t>Some texts are directly from:</a:t>
            </a:r>
          </a:p>
          <a:p>
            <a:r>
              <a:rPr lang="en-US" dirty="0" err="1"/>
              <a:t>Wallwork</a:t>
            </a:r>
            <a:r>
              <a:rPr lang="en-US" dirty="0"/>
              <a:t>, Adrian. </a:t>
            </a:r>
            <a:r>
              <a:rPr lang="en-US" i="1" dirty="0"/>
              <a:t>User Guides, Manuals, and Technical Writing, A Guide to Professional English </a:t>
            </a:r>
            <a:r>
              <a:rPr lang="en-US" dirty="0"/>
              <a:t>(New York: Springer Publications, 2014) </a:t>
            </a:r>
          </a:p>
          <a:p>
            <a:r>
              <a:rPr lang="en-US" dirty="0">
                <a:hlinkClick r:id="rId2"/>
              </a:rPr>
              <a:t>https://www.swipeguide.com/insights/how-to-write-manual-work-instructions</a:t>
            </a:r>
            <a:endParaRPr lang="en-US" dirty="0"/>
          </a:p>
          <a:p>
            <a:r>
              <a:rPr lang="en-US" dirty="0">
                <a:hlinkClick r:id="rId3"/>
              </a:rPr>
              <a:t>https://instrktiv.com/en/user-manual-template/</a:t>
            </a:r>
            <a:endParaRPr lang="en-US" dirty="0"/>
          </a:p>
          <a:p>
            <a:r>
              <a:rPr lang="en-US" dirty="0">
                <a:hlinkClick r:id="rId4"/>
              </a:rPr>
              <a:t>https://stepshot.net/how-to-create-a-user-instruction-manual/</a:t>
            </a:r>
            <a:endParaRPr lang="en-US" dirty="0"/>
          </a:p>
          <a:p>
            <a:endParaRPr lang="en-US" dirty="0"/>
          </a:p>
        </p:txBody>
      </p:sp>
    </p:spTree>
    <p:extLst>
      <p:ext uri="{BB962C8B-B14F-4D97-AF65-F5344CB8AC3E}">
        <p14:creationId xmlns:p14="http://schemas.microsoft.com/office/powerpoint/2010/main" val="464106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172" y="429370"/>
            <a:ext cx="11218628" cy="6345141"/>
          </a:xfrm>
        </p:spPr>
        <p:txBody>
          <a:bodyPr/>
          <a:lstStyle/>
          <a:p>
            <a:r>
              <a:rPr lang="en-US" dirty="0"/>
              <a:t>Useful Resources:</a:t>
            </a:r>
          </a:p>
          <a:p>
            <a:r>
              <a:rPr lang="en-US" dirty="0">
                <a:hlinkClick r:id="rId2"/>
              </a:rPr>
              <a:t>https://dokit.io/10-golden-rules-to-help-you-create-a-great-user-manual/</a:t>
            </a:r>
            <a:endParaRPr lang="en-US" dirty="0"/>
          </a:p>
          <a:p>
            <a:endParaRPr lang="en-US" dirty="0"/>
          </a:p>
          <a:p>
            <a:r>
              <a:rPr lang="en-US" dirty="0">
                <a:hlinkClick r:id="rId3"/>
              </a:rPr>
              <a:t>https://www.wikihow.com/Create-a-User-Manual</a:t>
            </a:r>
            <a:endParaRPr lang="en-US" dirty="0"/>
          </a:p>
          <a:p>
            <a:endParaRPr lang="en-US" dirty="0"/>
          </a:p>
          <a:p>
            <a:r>
              <a:rPr lang="en-US" dirty="0">
                <a:hlinkClick r:id="rId4"/>
              </a:rPr>
              <a:t>https://blog.bit.ai/write-instruction-manual/</a:t>
            </a:r>
            <a:endParaRPr lang="en-US" dirty="0"/>
          </a:p>
          <a:p>
            <a:endParaRPr lang="en-US" dirty="0"/>
          </a:p>
          <a:p>
            <a:r>
              <a:rPr lang="en-US" dirty="0">
                <a:hlinkClick r:id="rId5"/>
              </a:rPr>
              <a:t>https://ucr.on.worldcat.org/oclc/881719875</a:t>
            </a:r>
            <a:endParaRPr lang="en-US" dirty="0"/>
          </a:p>
          <a:p>
            <a:endParaRPr lang="en-US" dirty="0"/>
          </a:p>
        </p:txBody>
      </p:sp>
    </p:spTree>
    <p:extLst>
      <p:ext uri="{BB962C8B-B14F-4D97-AF65-F5344CB8AC3E}">
        <p14:creationId xmlns:p14="http://schemas.microsoft.com/office/powerpoint/2010/main" val="638654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BF2AC-C594-4FB4-A8B7-62866EC6D893}"/>
              </a:ext>
            </a:extLst>
          </p:cNvPr>
          <p:cNvSpPr>
            <a:spLocks noGrp="1"/>
          </p:cNvSpPr>
          <p:nvPr>
            <p:ph idx="1"/>
          </p:nvPr>
        </p:nvSpPr>
        <p:spPr>
          <a:xfrm>
            <a:off x="494864" y="632048"/>
            <a:ext cx="11426203" cy="6135162"/>
          </a:xfrm>
        </p:spPr>
        <p:txBody>
          <a:bodyPr>
            <a:normAutofit/>
          </a:bodyPr>
          <a:lstStyle/>
          <a:p>
            <a:pPr marL="0" indent="0">
              <a:buNone/>
            </a:pPr>
            <a:r>
              <a:rPr lang="en-US" sz="3600" dirty="0"/>
              <a:t>■ A one-page assembly instructions sheet for a toy</a:t>
            </a:r>
          </a:p>
          <a:p>
            <a:pPr marL="0" indent="0">
              <a:buNone/>
            </a:pPr>
            <a:r>
              <a:rPr lang="en-US" sz="3600" dirty="0"/>
              <a:t>■ An information booklet accompanying a sewing 	machine</a:t>
            </a:r>
          </a:p>
          <a:p>
            <a:pPr marL="0" indent="0">
              <a:buNone/>
            </a:pPr>
            <a:r>
              <a:rPr lang="en-US" sz="3600" dirty="0"/>
              <a:t>■ A manual for a new car</a:t>
            </a:r>
          </a:p>
          <a:p>
            <a:pPr marL="0" indent="0">
              <a:buNone/>
            </a:pPr>
            <a:r>
              <a:rPr lang="en-US" sz="3600" dirty="0"/>
              <a:t>■ A manual for some computer software</a:t>
            </a:r>
          </a:p>
          <a:p>
            <a:pPr marL="0" indent="0">
              <a:buNone/>
            </a:pPr>
            <a:r>
              <a:rPr lang="en-US" sz="3600" dirty="0"/>
              <a:t>■ A sign in a laundromat showing how to use the 	machines</a:t>
            </a:r>
          </a:p>
          <a:p>
            <a:pPr marL="0" indent="0">
              <a:buNone/>
            </a:pPr>
            <a:r>
              <a:rPr lang="en-US" sz="3600" dirty="0"/>
              <a:t>■ A note from one person (suddenly taken ill) to another, 	explaining how to perform a job role</a:t>
            </a:r>
          </a:p>
        </p:txBody>
      </p:sp>
    </p:spTree>
    <p:extLst>
      <p:ext uri="{BB962C8B-B14F-4D97-AF65-F5344CB8AC3E}">
        <p14:creationId xmlns:p14="http://schemas.microsoft.com/office/powerpoint/2010/main" val="4270841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BF2AC-C594-4FB4-A8B7-62866EC6D893}"/>
              </a:ext>
            </a:extLst>
          </p:cNvPr>
          <p:cNvSpPr>
            <a:spLocks noGrp="1"/>
          </p:cNvSpPr>
          <p:nvPr>
            <p:ph idx="1"/>
          </p:nvPr>
        </p:nvSpPr>
        <p:spPr>
          <a:xfrm>
            <a:off x="151529" y="251581"/>
            <a:ext cx="11746121" cy="6551554"/>
          </a:xfrm>
        </p:spPr>
        <p:txBody>
          <a:bodyPr>
            <a:normAutofit/>
          </a:bodyPr>
          <a:lstStyle/>
          <a:p>
            <a:pPr marL="0" indent="0">
              <a:buNone/>
            </a:pPr>
            <a:r>
              <a:rPr lang="en-US" sz="3600" dirty="0"/>
              <a:t>■ All these documents are important: </a:t>
            </a:r>
          </a:p>
          <a:p>
            <a:pPr marL="0" indent="0">
              <a:buNone/>
            </a:pPr>
            <a:r>
              <a:rPr lang="en-US" sz="3600" dirty="0"/>
              <a:t>	if they are not written well, and something goes wrong 	because of ambiguous, confusing or incorrect text 	and visuals, then customers will </a:t>
            </a:r>
            <a:r>
              <a:rPr lang="en-US" sz="3600" b="1" u="sng" dirty="0">
                <a:solidFill>
                  <a:srgbClr val="C00000"/>
                </a:solidFill>
              </a:rPr>
              <a:t>sue</a:t>
            </a:r>
            <a:r>
              <a:rPr lang="en-US" sz="3600" dirty="0"/>
              <a:t>.</a:t>
            </a:r>
          </a:p>
          <a:p>
            <a:pPr marL="0" indent="0">
              <a:buNone/>
            </a:pPr>
            <a:endParaRPr lang="en-US" sz="3600" dirty="0"/>
          </a:p>
          <a:p>
            <a:pPr marL="0" indent="0">
              <a:buNone/>
            </a:pPr>
            <a:r>
              <a:rPr lang="en-US" sz="3600" b="1" dirty="0">
                <a:solidFill>
                  <a:srgbClr val="C00000"/>
                </a:solidFill>
              </a:rPr>
              <a:t>Instructions and manuals:</a:t>
            </a:r>
          </a:p>
          <a:p>
            <a:pPr marL="0" indent="0">
              <a:buNone/>
            </a:pPr>
            <a:r>
              <a:rPr lang="en-US" sz="3600" dirty="0"/>
              <a:t>■ Are often used in an unsystematic way</a:t>
            </a:r>
          </a:p>
          <a:p>
            <a:pPr marL="0" indent="0">
              <a:buNone/>
            </a:pPr>
            <a:r>
              <a:rPr lang="en-US" sz="3600" dirty="0"/>
              <a:t>■ Are often misunderstood</a:t>
            </a:r>
          </a:p>
          <a:p>
            <a:pPr marL="0" indent="0">
              <a:buNone/>
            </a:pPr>
            <a:r>
              <a:rPr lang="en-US" sz="3600" dirty="0"/>
              <a:t>■ Are often poorly written</a:t>
            </a:r>
          </a:p>
          <a:p>
            <a:pPr marL="0" indent="0">
              <a:buNone/>
            </a:pPr>
            <a:r>
              <a:rPr lang="en-US" sz="3600" dirty="0"/>
              <a:t>■ Often go unread</a:t>
            </a:r>
          </a:p>
        </p:txBody>
      </p:sp>
    </p:spTree>
    <p:extLst>
      <p:ext uri="{BB962C8B-B14F-4D97-AF65-F5344CB8AC3E}">
        <p14:creationId xmlns:p14="http://schemas.microsoft.com/office/powerpoint/2010/main" val="767028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3FC6DF-89AA-42B4-87CA-384DB17A102B}"/>
              </a:ext>
            </a:extLst>
          </p:cNvPr>
          <p:cNvSpPr>
            <a:spLocks noGrp="1"/>
          </p:cNvSpPr>
          <p:nvPr>
            <p:ph idx="1"/>
          </p:nvPr>
        </p:nvSpPr>
        <p:spPr>
          <a:xfrm>
            <a:off x="79513" y="286246"/>
            <a:ext cx="11870582" cy="6480313"/>
          </a:xfrm>
        </p:spPr>
        <p:txBody>
          <a:bodyPr/>
          <a:lstStyle/>
          <a:p>
            <a:r>
              <a:rPr lang="en-US" dirty="0"/>
              <a:t>Many people work on the assumption of ‘when all else fails, read the manual’.</a:t>
            </a:r>
          </a:p>
          <a:p>
            <a:r>
              <a:rPr lang="en-US" dirty="0"/>
              <a:t> </a:t>
            </a:r>
          </a:p>
          <a:p>
            <a:r>
              <a:rPr lang="en-US" dirty="0"/>
              <a:t>Instead of the information document being the first resort for the user, too often it is the last resort. </a:t>
            </a:r>
          </a:p>
          <a:p>
            <a:endParaRPr lang="en-US" dirty="0"/>
          </a:p>
          <a:p>
            <a:r>
              <a:rPr lang="en-US" sz="2400" b="0" i="0" u="none" strike="noStrike" baseline="0" dirty="0">
                <a:solidFill>
                  <a:srgbClr val="000000"/>
                </a:solidFill>
                <a:latin typeface="Agfa Rotis Serif"/>
              </a:rPr>
              <a:t>Studies have found that users of software manuals tend to proceed in the following order when seeking information (Horton 1993; see also Jansen &amp; </a:t>
            </a:r>
            <a:r>
              <a:rPr lang="en-US" sz="2400" b="0" i="0" u="none" strike="noStrike" baseline="0" dirty="0" err="1">
                <a:solidFill>
                  <a:srgbClr val="000000"/>
                </a:solidFill>
                <a:latin typeface="Agfa Rotis Serif"/>
              </a:rPr>
              <a:t>Balijon</a:t>
            </a:r>
            <a:r>
              <a:rPr lang="en-US" sz="2400" b="0" i="0" u="none" strike="noStrike" baseline="0" dirty="0">
                <a:solidFill>
                  <a:srgbClr val="000000"/>
                </a:solidFill>
                <a:latin typeface="Agfa Rotis Serif"/>
              </a:rPr>
              <a:t> 2002):</a:t>
            </a:r>
          </a:p>
          <a:p>
            <a:endParaRPr lang="en-US" sz="1800" dirty="0">
              <a:solidFill>
                <a:srgbClr val="000000"/>
              </a:solidFill>
              <a:latin typeface="Agfa Rotis Serif"/>
            </a:endParaRPr>
          </a:p>
          <a:p>
            <a:r>
              <a:rPr lang="en-US" dirty="0"/>
              <a:t>1. Try and see what happens (in other words, play around with it)</a:t>
            </a:r>
          </a:p>
          <a:p>
            <a:r>
              <a:rPr lang="en-US" dirty="0"/>
              <a:t>2. Ask another user</a:t>
            </a:r>
          </a:p>
          <a:p>
            <a:r>
              <a:rPr lang="en-US" dirty="0"/>
              <a:t>3. Call the vendor</a:t>
            </a:r>
          </a:p>
          <a:p>
            <a:r>
              <a:rPr lang="en-US" dirty="0"/>
              <a:t>4. Search online documentation (‘help’ screens within the software)</a:t>
            </a:r>
          </a:p>
          <a:p>
            <a:r>
              <a:rPr lang="en-US" dirty="0"/>
              <a:t>5. Read the manual.</a:t>
            </a:r>
          </a:p>
        </p:txBody>
      </p:sp>
    </p:spTree>
    <p:extLst>
      <p:ext uri="{BB962C8B-B14F-4D97-AF65-F5344CB8AC3E}">
        <p14:creationId xmlns:p14="http://schemas.microsoft.com/office/powerpoint/2010/main" val="1325014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E6652-16A8-4F00-B345-ABB8081C0DAB}"/>
              </a:ext>
            </a:extLst>
          </p:cNvPr>
          <p:cNvSpPr>
            <a:spLocks noGrp="1"/>
          </p:cNvSpPr>
          <p:nvPr>
            <p:ph idx="1"/>
          </p:nvPr>
        </p:nvSpPr>
        <p:spPr>
          <a:xfrm>
            <a:off x="159026" y="254442"/>
            <a:ext cx="11616856" cy="6464410"/>
          </a:xfrm>
        </p:spPr>
        <p:txBody>
          <a:bodyPr>
            <a:normAutofit fontScale="92500" lnSpcReduction="10000"/>
          </a:bodyPr>
          <a:lstStyle/>
          <a:p>
            <a:r>
              <a:rPr lang="en-US" sz="4000" dirty="0"/>
              <a:t>Publishing phenomena of books aimed at ‘dummies,’ ‘complete idiots’ and ‘beginners.’</a:t>
            </a:r>
          </a:p>
          <a:p>
            <a:endParaRPr lang="en-US" sz="4000" dirty="0"/>
          </a:p>
          <a:p>
            <a:r>
              <a:rPr lang="en-US" sz="4000" dirty="0"/>
              <a:t>The more effective documents are, the more likely they will be read and used.</a:t>
            </a:r>
          </a:p>
          <a:p>
            <a:endParaRPr lang="en-US" sz="4000" dirty="0"/>
          </a:p>
          <a:p>
            <a:r>
              <a:rPr lang="en-US" sz="4000" dirty="0"/>
              <a:t>True effectiveness is a result of good:</a:t>
            </a:r>
          </a:p>
          <a:p>
            <a:pPr lvl="1"/>
            <a:r>
              <a:rPr lang="en-US" sz="3600" dirty="0"/>
              <a:t>Grammar, </a:t>
            </a:r>
          </a:p>
          <a:p>
            <a:pPr lvl="1"/>
            <a:r>
              <a:rPr lang="en-US" sz="3600" dirty="0"/>
              <a:t>Layout, </a:t>
            </a:r>
          </a:p>
          <a:p>
            <a:pPr lvl="1"/>
            <a:r>
              <a:rPr lang="en-US" sz="3600" dirty="0"/>
              <a:t>Style, </a:t>
            </a:r>
          </a:p>
          <a:p>
            <a:pPr lvl="1"/>
            <a:r>
              <a:rPr lang="en-US" sz="3600" dirty="0"/>
              <a:t>Editing, and </a:t>
            </a:r>
          </a:p>
          <a:p>
            <a:pPr lvl="1"/>
            <a:r>
              <a:rPr lang="en-US" sz="3600" dirty="0"/>
              <a:t>Analysis of the process or product being described</a:t>
            </a:r>
          </a:p>
        </p:txBody>
      </p:sp>
    </p:spTree>
    <p:extLst>
      <p:ext uri="{BB962C8B-B14F-4D97-AF65-F5344CB8AC3E}">
        <p14:creationId xmlns:p14="http://schemas.microsoft.com/office/powerpoint/2010/main" val="3638299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9D185E0-4EC1-4C40-B7A3-56D5CE32636E}"/>
              </a:ext>
            </a:extLst>
          </p:cNvPr>
          <p:cNvSpPr>
            <a:spLocks noGrp="1"/>
          </p:cNvSpPr>
          <p:nvPr>
            <p:ph type="subTitle" idx="1"/>
          </p:nvPr>
        </p:nvSpPr>
        <p:spPr>
          <a:xfrm>
            <a:off x="120177" y="219455"/>
            <a:ext cx="11798373" cy="6531429"/>
          </a:xfrm>
        </p:spPr>
        <p:txBody>
          <a:bodyPr/>
          <a:lstStyle/>
          <a:p>
            <a:pPr algn="l"/>
            <a:r>
              <a:rPr lang="en-US" sz="4400" b="1" dirty="0"/>
              <a:t>The Law</a:t>
            </a:r>
          </a:p>
          <a:p>
            <a:endParaRPr lang="en-US" dirty="0"/>
          </a:p>
          <a:p>
            <a:pPr algn="l">
              <a:lnSpc>
                <a:spcPct val="150000"/>
              </a:lnSpc>
            </a:pPr>
            <a:r>
              <a:rPr lang="en-US" sz="2800" b="1" dirty="0"/>
              <a:t>Products Liability says that a manufacturer has a legal duty to provide both </a:t>
            </a:r>
            <a:r>
              <a:rPr lang="en-US" sz="2800" b="1" dirty="0">
                <a:solidFill>
                  <a:srgbClr val="FF0000"/>
                </a:solidFill>
              </a:rPr>
              <a:t>warnings</a:t>
            </a:r>
            <a:r>
              <a:rPr lang="en-US" sz="2800" b="1" dirty="0"/>
              <a:t> and </a:t>
            </a:r>
            <a:r>
              <a:rPr lang="en-US" sz="2800" b="1" dirty="0">
                <a:solidFill>
                  <a:srgbClr val="FF0000"/>
                </a:solidFill>
              </a:rPr>
              <a:t>instructions</a:t>
            </a:r>
            <a:r>
              <a:rPr lang="en-US" sz="2800" b="1" dirty="0"/>
              <a:t>. </a:t>
            </a:r>
          </a:p>
          <a:p>
            <a:pPr algn="l">
              <a:lnSpc>
                <a:spcPct val="150000"/>
              </a:lnSpc>
            </a:pPr>
            <a:r>
              <a:rPr lang="en-US" sz="2800" b="1" dirty="0"/>
              <a:t>However, it distinguishes between instructions which are meant to “</a:t>
            </a:r>
            <a:r>
              <a:rPr lang="en-US" sz="2800" b="1" u="sng" dirty="0">
                <a:solidFill>
                  <a:srgbClr val="C00000"/>
                </a:solidFill>
              </a:rPr>
              <a:t>inform </a:t>
            </a:r>
            <a:r>
              <a:rPr lang="en-US" sz="2800" b="1" u="sng" dirty="0"/>
              <a:t>persons how to use and consume products safely</a:t>
            </a:r>
            <a:r>
              <a:rPr lang="en-US" sz="2800" b="1" dirty="0"/>
              <a:t>” from warnings which </a:t>
            </a:r>
            <a:r>
              <a:rPr lang="en-US" sz="2800" b="1" u="sng" dirty="0"/>
              <a:t>“</a:t>
            </a:r>
            <a:r>
              <a:rPr lang="en-US" sz="2800" b="1" u="sng" dirty="0">
                <a:solidFill>
                  <a:srgbClr val="C00000"/>
                </a:solidFill>
              </a:rPr>
              <a:t>alert</a:t>
            </a:r>
            <a:r>
              <a:rPr lang="en-US" sz="2800" b="1" u="sng" dirty="0"/>
              <a:t> users and consumers to the existence and nature of product risks so that they can prevent harm either by appropriate conduct during use or consumption or by choosing not to use or consume.”</a:t>
            </a:r>
          </a:p>
        </p:txBody>
      </p:sp>
    </p:spTree>
    <p:extLst>
      <p:ext uri="{BB962C8B-B14F-4D97-AF65-F5344CB8AC3E}">
        <p14:creationId xmlns:p14="http://schemas.microsoft.com/office/powerpoint/2010/main" val="3843200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E77D19-5741-DF7E-8161-68B9596736A7}"/>
              </a:ext>
            </a:extLst>
          </p:cNvPr>
          <p:cNvPicPr>
            <a:picLocks noChangeAspect="1"/>
          </p:cNvPicPr>
          <p:nvPr/>
        </p:nvPicPr>
        <p:blipFill>
          <a:blip r:embed="rId3"/>
          <a:stretch>
            <a:fillRect/>
          </a:stretch>
        </p:blipFill>
        <p:spPr>
          <a:xfrm>
            <a:off x="138209" y="-25388"/>
            <a:ext cx="8022645" cy="4108938"/>
          </a:xfrm>
          <a:prstGeom prst="rect">
            <a:avLst/>
          </a:prstGeom>
        </p:spPr>
      </p:pic>
      <p:sp>
        <p:nvSpPr>
          <p:cNvPr id="5" name="TextBox 4">
            <a:extLst>
              <a:ext uri="{FF2B5EF4-FFF2-40B4-BE49-F238E27FC236}">
                <a16:creationId xmlns:a16="http://schemas.microsoft.com/office/drawing/2014/main" id="{D4ABEBD4-B1D2-5895-0163-6DCED156173D}"/>
              </a:ext>
            </a:extLst>
          </p:cNvPr>
          <p:cNvSpPr txBox="1"/>
          <p:nvPr/>
        </p:nvSpPr>
        <p:spPr>
          <a:xfrm>
            <a:off x="0" y="2230194"/>
            <a:ext cx="6096000" cy="5078313"/>
          </a:xfrm>
          <a:prstGeom prst="rect">
            <a:avLst/>
          </a:prstGeom>
          <a:solidFill>
            <a:schemeClr val="bg1"/>
          </a:solidFill>
        </p:spPr>
        <p:txBody>
          <a:bodyPr wrap="square">
            <a:spAutoFit/>
          </a:bodyPr>
          <a:lstStyle/>
          <a:p>
            <a:r>
              <a:rPr lang="en-US" b="1" dirty="0"/>
              <a:t>CATEGORIES</a:t>
            </a:r>
          </a:p>
          <a:p>
            <a:r>
              <a:rPr lang="en-US" dirty="0"/>
              <a:t>Bicycle Accidents(1)</a:t>
            </a:r>
          </a:p>
          <a:p>
            <a:r>
              <a:rPr lang="en-US" dirty="0"/>
              <a:t>Birth Injuries(9)</a:t>
            </a:r>
          </a:p>
          <a:p>
            <a:r>
              <a:rPr lang="en-US" dirty="0"/>
              <a:t>Brain Injury(7)</a:t>
            </a:r>
          </a:p>
          <a:p>
            <a:r>
              <a:rPr lang="en-US" dirty="0"/>
              <a:t>Burn Injuries(1)</a:t>
            </a:r>
          </a:p>
          <a:p>
            <a:r>
              <a:rPr lang="en-US" dirty="0"/>
              <a:t>Bus Accidents(4)</a:t>
            </a:r>
          </a:p>
          <a:p>
            <a:r>
              <a:rPr lang="en-US" dirty="0"/>
              <a:t>Car Accidents(41)</a:t>
            </a:r>
          </a:p>
          <a:p>
            <a:r>
              <a:rPr lang="en-US" dirty="0"/>
              <a:t>Dangerous Products(5)</a:t>
            </a:r>
          </a:p>
          <a:p>
            <a:r>
              <a:rPr lang="en-US" dirty="0"/>
              <a:t>Discrimination(8)</a:t>
            </a:r>
          </a:p>
          <a:p>
            <a:r>
              <a:rPr lang="en-US" dirty="0"/>
              <a:t>Dog Bites(3)</a:t>
            </a:r>
          </a:p>
          <a:p>
            <a:r>
              <a:rPr lang="en-US" dirty="0"/>
              <a:t>Employee Misclassification(1)</a:t>
            </a:r>
          </a:p>
          <a:p>
            <a:r>
              <a:rPr lang="en-US" dirty="0"/>
              <a:t>Factoid Friday(1)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Fire Injury(2)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Medical Malpractice(7)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Motorcycle Accidents(2)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Neck Injury(1)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News(20)</a:t>
            </a:r>
          </a:p>
          <a:p>
            <a:endParaRPr lang="en-US" dirty="0"/>
          </a:p>
        </p:txBody>
      </p:sp>
      <p:sp>
        <p:nvSpPr>
          <p:cNvPr id="7" name="TextBox 6">
            <a:extLst>
              <a:ext uri="{FF2B5EF4-FFF2-40B4-BE49-F238E27FC236}">
                <a16:creationId xmlns:a16="http://schemas.microsoft.com/office/drawing/2014/main" id="{6EE80E1D-68AF-992F-BCA3-57989CD41AD8}"/>
              </a:ext>
            </a:extLst>
          </p:cNvPr>
          <p:cNvSpPr txBox="1"/>
          <p:nvPr/>
        </p:nvSpPr>
        <p:spPr>
          <a:xfrm>
            <a:off x="4817400" y="2346912"/>
            <a:ext cx="5762676" cy="4247317"/>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Nursing Home Abuse(1)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Pedestrian Accidents(4)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Personal Injury(52)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Premises Liability(4)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Product Liability(10)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Safety Tips(10)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Self-Driving(2)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Skiing Accidents(1)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Spinal Injury(2)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Train Accidents(1)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Truck Accidents(15)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Wage and Hour Claims(3)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Whistleblower(3)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Wrongful Death(3)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Wrongful Termination(2</a:t>
            </a:r>
            <a:endParaRPr lang="en-US" dirty="0"/>
          </a:p>
        </p:txBody>
      </p:sp>
    </p:spTree>
    <p:extLst>
      <p:ext uri="{BB962C8B-B14F-4D97-AF65-F5344CB8AC3E}">
        <p14:creationId xmlns:p14="http://schemas.microsoft.com/office/powerpoint/2010/main" val="3892716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56A525D-D181-4721-A366-4DC9185D706F}"/>
              </a:ext>
            </a:extLst>
          </p:cNvPr>
          <p:cNvSpPr>
            <a:spLocks noGrp="1" noChangeArrowheads="1"/>
          </p:cNvSpPr>
          <p:nvPr>
            <p:ph idx="1"/>
          </p:nvPr>
        </p:nvSpPr>
        <p:spPr bwMode="auto">
          <a:xfrm>
            <a:off x="0" y="295543"/>
            <a:ext cx="12121912"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mn-lt"/>
                <a:cs typeface="Times New Roman" panose="02020603050405020304" pitchFamily="18" charset="0"/>
              </a:rPr>
              <a:t>PRODUCT</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LIABILITY: NEGLIGENCE</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t>
            </a:r>
            <a:r>
              <a:rPr kumimoji="0" lang="en-US" altLang="en-US" sz="2000" b="1" i="1" u="none" strike="noStrike" cap="none" normalizeH="0" baseline="0" dirty="0">
                <a:ln>
                  <a:noFill/>
                </a:ln>
                <a:solidFill>
                  <a:srgbClr val="000000"/>
                </a:solidFill>
                <a:effectLst/>
                <a:latin typeface="+mn-lt"/>
                <a:cs typeface="Times New Roman" panose="02020603050405020304" pitchFamily="18" charset="0"/>
              </a:rPr>
              <a:t>Product Liability</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manufacturer’s, seller’s, or lessor’s liability to consumers, users, and by-standers (privity of contract is NOT required, which means the parties did </a:t>
            </a:r>
            <a:r>
              <a:rPr kumimoji="0" lang="en-US" altLang="en-US" sz="2000" b="1" i="1" u="none" strike="noStrike" cap="none" normalizeH="0" baseline="0" dirty="0">
                <a:ln>
                  <a:noFill/>
                </a:ln>
                <a:solidFill>
                  <a:srgbClr val="FF0000"/>
                </a:solidFill>
                <a:effectLst/>
                <a:latin typeface="+mn-lt"/>
                <a:cs typeface="Times New Roman" panose="02020603050405020304" pitchFamily="18" charset="0"/>
              </a:rPr>
              <a:t>not</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have to have a business deal or relationship directly between themselves) for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physical harm or property damage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that is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caused by the goods.</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t>
            </a:r>
            <a:r>
              <a:rPr kumimoji="0" lang="en-US" altLang="en-US" sz="2000" b="1" i="1" u="none" strike="noStrike" cap="none" normalizeH="0" baseline="0" dirty="0">
                <a:ln>
                  <a:noFill/>
                </a:ln>
                <a:solidFill>
                  <a:srgbClr val="000000"/>
                </a:solidFill>
                <a:effectLst/>
                <a:latin typeface="+mn-lt"/>
                <a:cs typeface="Times New Roman" panose="02020603050405020304" pitchFamily="18" charset="0"/>
              </a:rPr>
              <a:t>Negligence:</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 manufacturer </a:t>
            </a:r>
            <a:r>
              <a:rPr kumimoji="0" lang="en-US" altLang="en-US" sz="2000" b="1" i="0" u="none" strike="noStrike" cap="none" normalizeH="0" baseline="0" dirty="0">
                <a:ln>
                  <a:noFill/>
                </a:ln>
                <a:solidFill>
                  <a:srgbClr val="FF0000"/>
                </a:solidFill>
                <a:effectLst/>
                <a:latin typeface="+mn-lt"/>
                <a:cs typeface="Times New Roman" panose="02020603050405020304" pitchFamily="18" charset="0"/>
              </a:rPr>
              <a:t>is liable</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for its failure to exercise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due care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to ANY</a:t>
            </a:r>
            <a:r>
              <a:rPr kumimoji="0" lang="en-US" altLang="en-US" sz="2000" b="0" i="0" u="none" strike="noStrike" cap="none" normalizeH="0" baseline="0" dirty="0">
                <a:ln>
                  <a:noFill/>
                </a:ln>
                <a:solidFill>
                  <a:srgbClr val="000000"/>
                </a:solidFill>
                <a:effectLst/>
                <a:latin typeface="+mn-lt"/>
                <a:cs typeface="Arial" panose="020B0604020202020204" pitchFamily="34" charset="0"/>
              </a:rPr>
              <a:t>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person who sustained an 	injury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proximately caused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by the manufacturer’s negligence with regard to any of the following:</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design</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of the product,</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selection of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materials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(including any component products purchased from another seller that are 	incorporated into a finished product),</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use of appropriate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production processes,</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assembly</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and testing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of the product, and</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mn-l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         placement of </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adequate warnings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on the product which inform the user of dangers of which an ordinary 	person might not be aware.</a:t>
            </a:r>
            <a:endParaRPr kumimoji="0" lang="en-US" altLang="en-US" sz="20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4135017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E6652-16A8-4F00-B345-ABB8081C0DAB}"/>
              </a:ext>
            </a:extLst>
          </p:cNvPr>
          <p:cNvSpPr>
            <a:spLocks noGrp="1"/>
          </p:cNvSpPr>
          <p:nvPr>
            <p:ph idx="1"/>
          </p:nvPr>
        </p:nvSpPr>
        <p:spPr>
          <a:xfrm>
            <a:off x="159026" y="254442"/>
            <a:ext cx="11616856" cy="6464410"/>
          </a:xfrm>
        </p:spPr>
        <p:txBody>
          <a:bodyPr>
            <a:normAutofit/>
          </a:bodyPr>
          <a:lstStyle/>
          <a:p>
            <a:r>
              <a:rPr lang="en-US" sz="4000" dirty="0"/>
              <a:t>■ </a:t>
            </a:r>
            <a:r>
              <a:rPr lang="en-US" sz="4400" b="1" dirty="0"/>
              <a:t>Two types of manuals</a:t>
            </a:r>
          </a:p>
          <a:p>
            <a:endParaRPr lang="en-US" sz="4000" dirty="0"/>
          </a:p>
          <a:p>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4000" dirty="0"/>
              <a:t>Manuals written for the general public </a:t>
            </a:r>
          </a:p>
          <a:p>
            <a:pPr lvl="2"/>
            <a:r>
              <a:rPr lang="en-US" sz="3200" dirty="0"/>
              <a:t> for example, a manual accompanying a new washing machine</a:t>
            </a:r>
          </a:p>
          <a:p>
            <a:endParaRPr lang="en-US" sz="4000" dirty="0"/>
          </a:p>
          <a:p>
            <a:r>
              <a:rPr lang="en-US" sz="4000" dirty="0"/>
              <a:t>■ Manuals written for a narrower group</a:t>
            </a:r>
          </a:p>
          <a:p>
            <a:pPr lvl="2"/>
            <a:r>
              <a:rPr lang="en-US" sz="3200" dirty="0"/>
              <a:t>for example, a service manual for a washing machine service person, a procedures manual for employees of a particular organization.</a:t>
            </a:r>
          </a:p>
        </p:txBody>
      </p:sp>
    </p:spTree>
    <p:extLst>
      <p:ext uri="{BB962C8B-B14F-4D97-AF65-F5344CB8AC3E}">
        <p14:creationId xmlns:p14="http://schemas.microsoft.com/office/powerpoint/2010/main" val="2023661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11210"/>
            <a:ext cx="12192001" cy="6746789"/>
          </a:xfrm>
        </p:spPr>
        <p:txBody>
          <a:bodyPr>
            <a:normAutofit/>
          </a:bodyPr>
          <a:lstStyle/>
          <a:p>
            <a:r>
              <a:rPr lang="en-US" sz="4400" b="1" dirty="0"/>
              <a:t>User Manuals/Instructions:</a:t>
            </a:r>
          </a:p>
          <a:p>
            <a:endParaRPr lang="en-US" dirty="0"/>
          </a:p>
          <a:p>
            <a:r>
              <a:rPr lang="en-US" sz="4000" b="1" dirty="0"/>
              <a:t>Study: </a:t>
            </a:r>
          </a:p>
          <a:p>
            <a:endParaRPr lang="en-US" sz="4000" b="1" dirty="0"/>
          </a:p>
          <a:p>
            <a:pPr lvl="1"/>
            <a:r>
              <a:rPr lang="en-US" sz="3600" b="1" dirty="0"/>
              <a:t>The subject of the user manual </a:t>
            </a:r>
          </a:p>
          <a:p>
            <a:pPr lvl="1"/>
            <a:r>
              <a:rPr lang="en-US" sz="3600" b="1" dirty="0"/>
              <a:t>The target audience. </a:t>
            </a:r>
          </a:p>
          <a:p>
            <a:r>
              <a:rPr lang="en-US" sz="4000" b="1" dirty="0"/>
              <a:t>These two go hand in hand.</a:t>
            </a:r>
          </a:p>
          <a:p>
            <a:pPr marL="0" indent="0">
              <a:buNone/>
            </a:pPr>
            <a:endParaRPr lang="en-US" sz="4800" b="1" dirty="0"/>
          </a:p>
          <a:p>
            <a:r>
              <a:rPr lang="en-US" sz="3200" b="1" dirty="0"/>
              <a:t>By studying the subject with great attention to details,  you can design how to write for the target audience.</a:t>
            </a:r>
          </a:p>
          <a:p>
            <a:endParaRPr lang="en-US" sz="4800" b="1" dirty="0"/>
          </a:p>
        </p:txBody>
      </p:sp>
    </p:spTree>
    <p:extLst>
      <p:ext uri="{BB962C8B-B14F-4D97-AF65-F5344CB8AC3E}">
        <p14:creationId xmlns:p14="http://schemas.microsoft.com/office/powerpoint/2010/main" val="4255801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8854"/>
            <a:ext cx="12192000" cy="6561438"/>
          </a:xfrm>
        </p:spPr>
        <p:txBody>
          <a:bodyPr>
            <a:normAutofit/>
          </a:bodyPr>
          <a:lstStyle/>
          <a:p>
            <a:pPr marL="0" marR="0">
              <a:lnSpc>
                <a:spcPct val="107000"/>
              </a:lnSpc>
              <a:spcBef>
                <a:spcPts val="0"/>
              </a:spcBef>
              <a:spcAft>
                <a:spcPts val="800"/>
              </a:spcAft>
            </a:pPr>
            <a:r>
              <a:rPr lang="en-US" sz="3600" b="1" dirty="0">
                <a:solidFill>
                  <a:srgbClr val="333333"/>
                </a:solidFill>
                <a:latin typeface="Calibri" panose="020F0502020204030204" pitchFamily="34" charset="0"/>
                <a:ea typeface="Times New Roman" panose="02020603050405020304" pitchFamily="18" charset="0"/>
                <a:cs typeface="Calibri" panose="020F0502020204030204" pitchFamily="34" charset="0"/>
              </a:rPr>
              <a:t>You have to know the level of knowledge of your target 	audience on the subject in question. </a:t>
            </a:r>
          </a:p>
          <a:p>
            <a:pPr marL="0" marR="0" indent="0">
              <a:lnSpc>
                <a:spcPct val="107000"/>
              </a:lnSpc>
              <a:spcBef>
                <a:spcPts val="0"/>
              </a:spcBef>
              <a:spcAft>
                <a:spcPts val="800"/>
              </a:spcAft>
              <a:buNone/>
            </a:pPr>
            <a:endParaRPr lang="en-US" sz="3600" b="1" dirty="0">
              <a:solidFill>
                <a:srgbClr val="333333"/>
              </a:solidFill>
              <a:latin typeface="Calibri" panose="020F0502020204030204" pitchFamily="34" charset="0"/>
              <a:ea typeface="Times New Roman" panose="02020603050405020304" pitchFamily="18" charset="0"/>
              <a:cs typeface="Calibri" panose="020F0502020204030204" pitchFamily="34" charset="0"/>
            </a:endParaRPr>
          </a:p>
          <a:p>
            <a:pPr marL="0" marR="0">
              <a:lnSpc>
                <a:spcPct val="107000"/>
              </a:lnSpc>
              <a:spcBef>
                <a:spcPts val="0"/>
              </a:spcBef>
              <a:spcAft>
                <a:spcPts val="800"/>
              </a:spcAft>
            </a:pPr>
            <a:r>
              <a:rPr lang="en-US" sz="3600" b="1" dirty="0">
                <a:solidFill>
                  <a:srgbClr val="333333"/>
                </a:solidFill>
                <a:latin typeface="Calibri" panose="020F0502020204030204" pitchFamily="34" charset="0"/>
                <a:ea typeface="Times New Roman" panose="02020603050405020304" pitchFamily="18" charset="0"/>
                <a:cs typeface="Calibri" panose="020F0502020204030204" pitchFamily="34" charset="0"/>
              </a:rPr>
              <a:t>In creating documentation for professionals, you need to go 	in depth. </a:t>
            </a:r>
          </a:p>
          <a:p>
            <a:pPr marL="0" marR="0">
              <a:lnSpc>
                <a:spcPct val="107000"/>
              </a:lnSpc>
              <a:spcBef>
                <a:spcPts val="0"/>
              </a:spcBef>
              <a:spcAft>
                <a:spcPts val="800"/>
              </a:spcAft>
            </a:pPr>
            <a:endParaRPr lang="en-US" sz="3600" b="1" dirty="0">
              <a:solidFill>
                <a:srgbClr val="333333"/>
              </a:solidFill>
              <a:latin typeface="Calibri" panose="020F0502020204030204" pitchFamily="34" charset="0"/>
              <a:ea typeface="Times New Roman" panose="02020603050405020304" pitchFamily="18" charset="0"/>
              <a:cs typeface="Calibri" panose="020F0502020204030204" pitchFamily="34" charset="0"/>
            </a:endParaRPr>
          </a:p>
          <a:p>
            <a:pPr marL="0" marR="0">
              <a:lnSpc>
                <a:spcPct val="107000"/>
              </a:lnSpc>
              <a:spcBef>
                <a:spcPts val="0"/>
              </a:spcBef>
              <a:spcAft>
                <a:spcPts val="800"/>
              </a:spcAft>
            </a:pPr>
            <a:r>
              <a:rPr lang="en-US" sz="3600" b="1" dirty="0">
                <a:solidFill>
                  <a:srgbClr val="333333"/>
                </a:solidFill>
                <a:latin typeface="Calibri" panose="020F0502020204030204" pitchFamily="34" charset="0"/>
                <a:ea typeface="Times New Roman" panose="02020603050405020304" pitchFamily="18" charset="0"/>
                <a:cs typeface="Calibri" panose="020F0502020204030204" pitchFamily="34" charset="0"/>
              </a:rPr>
              <a:t>For novice users, make sure to cover all the key moments and 	leave out more complicated unnecessary stuff</a:t>
            </a:r>
          </a:p>
          <a:p>
            <a:pPr marL="0" marR="0">
              <a:lnSpc>
                <a:spcPct val="107000"/>
              </a:lnSpc>
              <a:spcBef>
                <a:spcPts val="0"/>
              </a:spcBef>
              <a:spcAft>
                <a:spcPts val="800"/>
              </a:spcAft>
            </a:pPr>
            <a:endParaRPr lang="en-US" sz="3600" b="1" dirty="0">
              <a:effectLst/>
              <a:latin typeface="Calibri" panose="020F0502020204030204" pitchFamily="34" charset="0"/>
              <a:ea typeface="Calibri" panose="020F0502020204030204" pitchFamily="34" charset="0"/>
              <a:cs typeface="Calibri" panose="020F0502020204030204" pitchFamily="34" charset="0"/>
            </a:endParaRPr>
          </a:p>
          <a:p>
            <a:endParaRPr lang="en-US"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9309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5B630D-1815-4440-97B8-8A820C8D76C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68536FB-E2BF-4584-8FC3-71F05F7D08CA}"/>
              </a:ext>
            </a:extLst>
          </p:cNvPr>
          <p:cNvPicPr>
            <a:picLocks noChangeAspect="1"/>
          </p:cNvPicPr>
          <p:nvPr/>
        </p:nvPicPr>
        <p:blipFill>
          <a:blip r:embed="rId2"/>
          <a:stretch>
            <a:fillRect/>
          </a:stretch>
        </p:blipFill>
        <p:spPr>
          <a:xfrm>
            <a:off x="0" y="409571"/>
            <a:ext cx="12192000" cy="6038857"/>
          </a:xfrm>
          <a:prstGeom prst="rect">
            <a:avLst/>
          </a:prstGeom>
        </p:spPr>
      </p:pic>
    </p:spTree>
    <p:extLst>
      <p:ext uri="{BB962C8B-B14F-4D97-AF65-F5344CB8AC3E}">
        <p14:creationId xmlns:p14="http://schemas.microsoft.com/office/powerpoint/2010/main" val="3737223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CB1D26-11BD-4A49-9098-9A4F39138A77}"/>
              </a:ext>
            </a:extLst>
          </p:cNvPr>
          <p:cNvSpPr>
            <a:spLocks noGrp="1"/>
          </p:cNvSpPr>
          <p:nvPr>
            <p:ph idx="1"/>
          </p:nvPr>
        </p:nvSpPr>
        <p:spPr>
          <a:xfrm>
            <a:off x="181583" y="181584"/>
            <a:ext cx="11621310" cy="6381344"/>
          </a:xfrm>
        </p:spPr>
        <p:txBody>
          <a:bodyPr>
            <a:normAutofit fontScale="92500" lnSpcReduction="20000"/>
          </a:bodyPr>
          <a:lstStyle/>
          <a:p>
            <a:r>
              <a:rPr lang="en-US" sz="4400" b="1" dirty="0"/>
              <a:t>Users are reading </a:t>
            </a:r>
            <a:r>
              <a:rPr lang="en-US" sz="4400" b="1" dirty="0">
                <a:solidFill>
                  <a:srgbClr val="C00000"/>
                </a:solidFill>
              </a:rPr>
              <a:t>to do </a:t>
            </a:r>
            <a:r>
              <a:rPr lang="en-US" sz="4400" b="1" dirty="0"/>
              <a:t>rather than reading to learn.</a:t>
            </a:r>
          </a:p>
          <a:p>
            <a:endParaRPr lang="en-US" sz="4400" b="1" dirty="0"/>
          </a:p>
          <a:p>
            <a:r>
              <a:rPr lang="en-US" sz="4400" b="1" dirty="0"/>
              <a:t>Not infrequently, users are in a </a:t>
            </a:r>
            <a:r>
              <a:rPr lang="en-US" sz="4400" b="1" dirty="0">
                <a:solidFill>
                  <a:srgbClr val="C00000"/>
                </a:solidFill>
              </a:rPr>
              <a:t>state of crisis </a:t>
            </a:r>
            <a:r>
              <a:rPr lang="en-US" sz="4400" b="1" dirty="0"/>
              <a:t>— 	something has gone wrong, and they need 	answers fast: ‘Quick, where’s the manual?’ </a:t>
            </a:r>
          </a:p>
          <a:p>
            <a:endParaRPr lang="en-US" sz="4400" b="1" dirty="0"/>
          </a:p>
          <a:p>
            <a:r>
              <a:rPr lang="en-US" sz="4400" b="1" dirty="0"/>
              <a:t>They therefore need a document that:</a:t>
            </a:r>
          </a:p>
          <a:p>
            <a:endParaRPr lang="en-US" sz="4400" b="1" dirty="0"/>
          </a:p>
          <a:p>
            <a:pPr marL="0" indent="0">
              <a:buNone/>
            </a:pPr>
            <a:r>
              <a:rPr lang="en-US" sz="4200" dirty="0"/>
              <a:t>■ can be physically handled with ease </a:t>
            </a:r>
          </a:p>
          <a:p>
            <a:pPr marL="0" indent="0">
              <a:buNone/>
            </a:pPr>
            <a:r>
              <a:rPr lang="en-US" sz="4200" dirty="0"/>
              <a:t>■ is physically robust</a:t>
            </a:r>
          </a:p>
          <a:p>
            <a:pPr marL="0" indent="0">
              <a:buNone/>
            </a:pPr>
            <a:r>
              <a:rPr lang="en-US" sz="4200" dirty="0"/>
              <a:t>■ is user friendly</a:t>
            </a:r>
            <a:endParaRPr lang="en-US" sz="4400" b="1" dirty="0"/>
          </a:p>
        </p:txBody>
      </p:sp>
    </p:spTree>
    <p:extLst>
      <p:ext uri="{BB962C8B-B14F-4D97-AF65-F5344CB8AC3E}">
        <p14:creationId xmlns:p14="http://schemas.microsoft.com/office/powerpoint/2010/main" val="495761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995" y="210065"/>
            <a:ext cx="7968386" cy="5966898"/>
          </a:xfrm>
        </p:spPr>
        <p:txBody>
          <a:bodyPr>
            <a:normAutofit fontScale="92500" lnSpcReduction="10000"/>
          </a:bodyPr>
          <a:lstStyle/>
          <a:p>
            <a:pPr marL="0" lvl="0">
              <a:lnSpc>
                <a:spcPct val="107000"/>
              </a:lnSpc>
              <a:spcBef>
                <a:spcPts val="0"/>
              </a:spcBef>
              <a:spcAft>
                <a:spcPts val="800"/>
              </a:spcAft>
            </a:pPr>
            <a:r>
              <a:rPr lang="en-US" sz="5400" b="1" dirty="0">
                <a:solidFill>
                  <a:srgbClr val="333333"/>
                </a:solidFill>
                <a:ea typeface="Times New Roman" panose="02020603050405020304" pitchFamily="18" charset="0"/>
                <a:cs typeface="Arial" panose="020B0604020202020204" pitchFamily="34" charset="0"/>
              </a:rPr>
              <a:t>IKEA</a:t>
            </a:r>
          </a:p>
          <a:p>
            <a:pPr marL="0" lvl="0">
              <a:lnSpc>
                <a:spcPct val="107000"/>
              </a:lnSpc>
              <a:spcBef>
                <a:spcPts val="0"/>
              </a:spcBef>
              <a:spcAft>
                <a:spcPts val="800"/>
              </a:spcAft>
            </a:pPr>
            <a:r>
              <a:rPr lang="en-US" sz="4000" dirty="0">
                <a:solidFill>
                  <a:srgbClr val="333333"/>
                </a:solidFill>
                <a:ea typeface="Times New Roman" panose="02020603050405020304" pitchFamily="18" charset="0"/>
                <a:cs typeface="Arial" panose="020B0604020202020204" pitchFamily="34" charset="0"/>
              </a:rPr>
              <a:t>The IKEA technical writers have 	basically created their own 	language to communicate with 	people of any 	race and almost any 	age.</a:t>
            </a:r>
          </a:p>
          <a:p>
            <a:pPr marL="0" lvl="0">
              <a:lnSpc>
                <a:spcPct val="107000"/>
              </a:lnSpc>
              <a:spcBef>
                <a:spcPts val="0"/>
              </a:spcBef>
              <a:spcAft>
                <a:spcPts val="800"/>
              </a:spcAft>
            </a:pPr>
            <a:endParaRPr lang="en-US" sz="4000" dirty="0">
              <a:solidFill>
                <a:srgbClr val="333333"/>
              </a:solidFill>
              <a:ea typeface="Times New Roman" panose="02020603050405020304" pitchFamily="18" charset="0"/>
              <a:cs typeface="Arial" panose="020B0604020202020204" pitchFamily="34" charset="0"/>
            </a:endParaRPr>
          </a:p>
          <a:p>
            <a:pPr marL="0" lvl="0">
              <a:lnSpc>
                <a:spcPct val="107000"/>
              </a:lnSpc>
              <a:spcBef>
                <a:spcPts val="0"/>
              </a:spcBef>
              <a:spcAft>
                <a:spcPts val="800"/>
              </a:spcAft>
            </a:pPr>
            <a:r>
              <a:rPr lang="en-US" sz="4000" dirty="0">
                <a:solidFill>
                  <a:srgbClr val="333333"/>
                </a:solidFill>
                <a:ea typeface="Times New Roman" panose="02020603050405020304" pitchFamily="18" charset="0"/>
                <a:cs typeface="Arial" panose="020B0604020202020204" pitchFamily="34" charset="0"/>
              </a:rPr>
              <a:t>This is a great example of working 	with the target audience.</a:t>
            </a:r>
            <a:endParaRPr lang="en-US" sz="4000" dirty="0">
              <a:solidFill>
                <a:prstClr val="black"/>
              </a:solidFill>
              <a:ea typeface="Calibri" panose="020F0502020204030204" pitchFamily="34" charset="0"/>
              <a:cs typeface="Arial" panose="020B0604020202020204" pitchFamily="34" charset="0"/>
            </a:endParaRPr>
          </a:p>
          <a:p>
            <a:endParaRPr lang="en-US" sz="4000" dirty="0"/>
          </a:p>
        </p:txBody>
      </p:sp>
      <p:pic>
        <p:nvPicPr>
          <p:cNvPr id="4" name="Picture 3"/>
          <p:cNvPicPr>
            <a:picLocks noChangeAspect="1"/>
          </p:cNvPicPr>
          <p:nvPr/>
        </p:nvPicPr>
        <p:blipFill>
          <a:blip r:embed="rId2"/>
          <a:stretch>
            <a:fillRect/>
          </a:stretch>
        </p:blipFill>
        <p:spPr>
          <a:xfrm>
            <a:off x="2325503" y="210065"/>
            <a:ext cx="2325903" cy="956943"/>
          </a:xfrm>
          <a:prstGeom prst="rect">
            <a:avLst/>
          </a:prstGeom>
        </p:spPr>
      </p:pic>
      <p:pic>
        <p:nvPicPr>
          <p:cNvPr id="5" name="Picture 4"/>
          <p:cNvPicPr>
            <a:picLocks noChangeAspect="1"/>
          </p:cNvPicPr>
          <p:nvPr/>
        </p:nvPicPr>
        <p:blipFill>
          <a:blip r:embed="rId3"/>
          <a:stretch>
            <a:fillRect/>
          </a:stretch>
        </p:blipFill>
        <p:spPr>
          <a:xfrm>
            <a:off x="8141381" y="-1"/>
            <a:ext cx="4110544" cy="5502303"/>
          </a:xfrm>
          <a:prstGeom prst="rect">
            <a:avLst/>
          </a:prstGeom>
        </p:spPr>
      </p:pic>
    </p:spTree>
    <p:extLst>
      <p:ext uri="{BB962C8B-B14F-4D97-AF65-F5344CB8AC3E}">
        <p14:creationId xmlns:p14="http://schemas.microsoft.com/office/powerpoint/2010/main" val="1274528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32817" y="-167650"/>
            <a:ext cx="8429239" cy="7025650"/>
          </a:xfrm>
          <a:prstGeom prst="rect">
            <a:avLst/>
          </a:prstGeom>
        </p:spPr>
      </p:pic>
    </p:spTree>
    <p:extLst>
      <p:ext uri="{BB962C8B-B14F-4D97-AF65-F5344CB8AC3E}">
        <p14:creationId xmlns:p14="http://schemas.microsoft.com/office/powerpoint/2010/main" val="2727769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0022CC-7FB1-4EFD-85AF-FFCF95F31D8A}"/>
              </a:ext>
            </a:extLst>
          </p:cNvPr>
          <p:cNvPicPr>
            <a:picLocks noChangeAspect="1"/>
          </p:cNvPicPr>
          <p:nvPr/>
        </p:nvPicPr>
        <p:blipFill>
          <a:blip r:embed="rId2"/>
          <a:stretch>
            <a:fillRect/>
          </a:stretch>
        </p:blipFill>
        <p:spPr>
          <a:xfrm>
            <a:off x="1947159" y="742546"/>
            <a:ext cx="9713061" cy="6206246"/>
          </a:xfrm>
          <a:prstGeom prst="rect">
            <a:avLst/>
          </a:prstGeom>
        </p:spPr>
      </p:pic>
      <p:sp>
        <p:nvSpPr>
          <p:cNvPr id="9" name="TextBox 8">
            <a:extLst>
              <a:ext uri="{FF2B5EF4-FFF2-40B4-BE49-F238E27FC236}">
                <a16:creationId xmlns:a16="http://schemas.microsoft.com/office/drawing/2014/main" id="{C570C5E6-F317-458A-B416-DB47B906EA41}"/>
              </a:ext>
            </a:extLst>
          </p:cNvPr>
          <p:cNvSpPr txBox="1"/>
          <p:nvPr/>
        </p:nvSpPr>
        <p:spPr>
          <a:xfrm>
            <a:off x="3570052" y="0"/>
            <a:ext cx="6245156" cy="584775"/>
          </a:xfrm>
          <a:prstGeom prst="rect">
            <a:avLst/>
          </a:prstGeom>
          <a:noFill/>
        </p:spPr>
        <p:txBody>
          <a:bodyPr wrap="square">
            <a:spAutoFit/>
          </a:bodyPr>
          <a:lstStyle/>
          <a:p>
            <a:r>
              <a:rPr lang="en-US" sz="3200" b="1" dirty="0"/>
              <a:t>A380 Flight Deck</a:t>
            </a:r>
          </a:p>
        </p:txBody>
      </p:sp>
    </p:spTree>
    <p:extLst>
      <p:ext uri="{BB962C8B-B14F-4D97-AF65-F5344CB8AC3E}">
        <p14:creationId xmlns:p14="http://schemas.microsoft.com/office/powerpoint/2010/main" val="3388224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71A2C7-2CD6-476B-8137-9442098D2875}"/>
              </a:ext>
            </a:extLst>
          </p:cNvPr>
          <p:cNvPicPr>
            <a:picLocks noChangeAspect="1"/>
          </p:cNvPicPr>
          <p:nvPr/>
        </p:nvPicPr>
        <p:blipFill>
          <a:blip r:embed="rId2"/>
          <a:stretch>
            <a:fillRect/>
          </a:stretch>
        </p:blipFill>
        <p:spPr>
          <a:xfrm>
            <a:off x="463626" y="0"/>
            <a:ext cx="11498211" cy="6858000"/>
          </a:xfrm>
          <a:prstGeom prst="rect">
            <a:avLst/>
          </a:prstGeom>
        </p:spPr>
      </p:pic>
    </p:spTree>
    <p:extLst>
      <p:ext uri="{BB962C8B-B14F-4D97-AF65-F5344CB8AC3E}">
        <p14:creationId xmlns:p14="http://schemas.microsoft.com/office/powerpoint/2010/main" val="729200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A3DE67-8F63-479C-8771-7383E9CD03EF}"/>
              </a:ext>
            </a:extLst>
          </p:cNvPr>
          <p:cNvPicPr>
            <a:picLocks noChangeAspect="1"/>
          </p:cNvPicPr>
          <p:nvPr/>
        </p:nvPicPr>
        <p:blipFill>
          <a:blip r:embed="rId2"/>
          <a:stretch>
            <a:fillRect/>
          </a:stretch>
        </p:blipFill>
        <p:spPr>
          <a:xfrm>
            <a:off x="469296" y="795494"/>
            <a:ext cx="9484330" cy="5986306"/>
          </a:xfrm>
          <a:prstGeom prst="rect">
            <a:avLst/>
          </a:prstGeom>
        </p:spPr>
      </p:pic>
      <p:sp>
        <p:nvSpPr>
          <p:cNvPr id="7" name="TextBox 6">
            <a:extLst>
              <a:ext uri="{FF2B5EF4-FFF2-40B4-BE49-F238E27FC236}">
                <a16:creationId xmlns:a16="http://schemas.microsoft.com/office/drawing/2014/main" id="{065D2197-1818-43D1-9C71-47A5F6A1C469}"/>
              </a:ext>
            </a:extLst>
          </p:cNvPr>
          <p:cNvSpPr txBox="1"/>
          <p:nvPr/>
        </p:nvSpPr>
        <p:spPr>
          <a:xfrm>
            <a:off x="523875" y="224908"/>
            <a:ext cx="11144249" cy="584775"/>
          </a:xfrm>
          <a:prstGeom prst="rect">
            <a:avLst/>
          </a:prstGeom>
          <a:noFill/>
        </p:spPr>
        <p:txBody>
          <a:bodyPr wrap="square">
            <a:spAutoFit/>
          </a:bodyPr>
          <a:lstStyle/>
          <a:p>
            <a:r>
              <a:rPr lang="en-US" sz="3200" b="1" dirty="0">
                <a:solidFill>
                  <a:srgbClr val="FF0000"/>
                </a:solidFill>
              </a:rPr>
              <a:t>Lack of useful instructions/ Lack of Visual Content</a:t>
            </a:r>
          </a:p>
        </p:txBody>
      </p:sp>
    </p:spTree>
    <p:extLst>
      <p:ext uri="{BB962C8B-B14F-4D97-AF65-F5344CB8AC3E}">
        <p14:creationId xmlns:p14="http://schemas.microsoft.com/office/powerpoint/2010/main" val="484486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10;&#10;Description automatically generated">
            <a:extLst>
              <a:ext uri="{FF2B5EF4-FFF2-40B4-BE49-F238E27FC236}">
                <a16:creationId xmlns:a16="http://schemas.microsoft.com/office/drawing/2014/main" id="{C2B5FFCE-CED5-4596-A154-932D6F9A176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85812" y="0"/>
            <a:ext cx="9029702" cy="6772275"/>
          </a:xfrm>
        </p:spPr>
      </p:pic>
    </p:spTree>
    <p:extLst>
      <p:ext uri="{BB962C8B-B14F-4D97-AF65-F5344CB8AC3E}">
        <p14:creationId xmlns:p14="http://schemas.microsoft.com/office/powerpoint/2010/main" val="876346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854" y="135924"/>
            <a:ext cx="11911914" cy="6598508"/>
          </a:xfrm>
        </p:spPr>
        <p:txBody>
          <a:bodyPr>
            <a:normAutofit/>
          </a:bodyPr>
          <a:lstStyle/>
          <a:p>
            <a:endParaRPr lang="en-US" dirty="0"/>
          </a:p>
          <a:p>
            <a:r>
              <a:rPr lang="en-US" sz="6000" b="1" dirty="0"/>
              <a:t>A documentation plan:</a:t>
            </a:r>
          </a:p>
          <a:p>
            <a:endParaRPr lang="en-US" dirty="0"/>
          </a:p>
          <a:p>
            <a:pPr>
              <a:lnSpc>
                <a:spcPct val="150000"/>
              </a:lnSpc>
            </a:pPr>
            <a:r>
              <a:rPr lang="en-US" sz="4000" b="1" dirty="0"/>
              <a:t>A documentation plan is a document containing all the necessary information for reference when working on a user manual, such as: general information about the project, tools used, timeframes, workflow details, etc.</a:t>
            </a:r>
          </a:p>
        </p:txBody>
      </p:sp>
    </p:spTree>
    <p:extLst>
      <p:ext uri="{BB962C8B-B14F-4D97-AF65-F5344CB8AC3E}">
        <p14:creationId xmlns:p14="http://schemas.microsoft.com/office/powerpoint/2010/main" val="734193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11210"/>
            <a:ext cx="12192001" cy="6746789"/>
          </a:xfrm>
        </p:spPr>
        <p:txBody>
          <a:bodyPr>
            <a:normAutofit/>
          </a:bodyPr>
          <a:lstStyle/>
          <a:p>
            <a:r>
              <a:rPr lang="en-US" sz="6600" b="1" dirty="0"/>
              <a:t>Instructions:</a:t>
            </a:r>
          </a:p>
          <a:p>
            <a:pPr marL="0" indent="0">
              <a:buNone/>
            </a:pPr>
            <a:endParaRPr lang="en-US" sz="6600" b="1" dirty="0"/>
          </a:p>
          <a:p>
            <a:r>
              <a:rPr lang="en-US" sz="4800" b="1" dirty="0"/>
              <a:t>Structure and clarity are key in instructions </a:t>
            </a:r>
          </a:p>
          <a:p>
            <a:endParaRPr lang="en-US" sz="4800" b="1" dirty="0"/>
          </a:p>
          <a:p>
            <a:r>
              <a:rPr lang="en-US" sz="4800" b="1" dirty="0"/>
              <a:t>Instructions must be action-oriented and minimalist. </a:t>
            </a:r>
          </a:p>
          <a:p>
            <a:endParaRPr lang="en-US" sz="4800" b="1" dirty="0"/>
          </a:p>
          <a:p>
            <a:r>
              <a:rPr lang="en-US" sz="4800" b="1" dirty="0"/>
              <a:t>Instructions that follow a particular structure</a:t>
            </a:r>
            <a:r>
              <a:rPr lang="en-US" dirty="0"/>
              <a:t>. </a:t>
            </a:r>
            <a:endParaRPr lang="en-US" sz="4800" b="1" dirty="0"/>
          </a:p>
          <a:p>
            <a:endParaRPr lang="en-US" sz="4800" b="1" dirty="0"/>
          </a:p>
        </p:txBody>
      </p:sp>
    </p:spTree>
    <p:extLst>
      <p:ext uri="{BB962C8B-B14F-4D97-AF65-F5344CB8AC3E}">
        <p14:creationId xmlns:p14="http://schemas.microsoft.com/office/powerpoint/2010/main" val="3535164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11210"/>
            <a:ext cx="12192001" cy="6746789"/>
          </a:xfrm>
        </p:spPr>
        <p:txBody>
          <a:bodyPr>
            <a:normAutofit/>
          </a:bodyPr>
          <a:lstStyle/>
          <a:p>
            <a:r>
              <a:rPr lang="en-US" sz="6600" b="1" dirty="0"/>
              <a:t>Instructions:</a:t>
            </a:r>
          </a:p>
          <a:p>
            <a:r>
              <a:rPr lang="en-US" sz="4800" b="1" dirty="0"/>
              <a:t>The structure must:</a:t>
            </a:r>
          </a:p>
          <a:p>
            <a:endParaRPr lang="en-US" sz="4800" b="1" dirty="0"/>
          </a:p>
          <a:p>
            <a:pPr lvl="2"/>
            <a:r>
              <a:rPr lang="en-US" sz="4000" b="1" dirty="0"/>
              <a:t>Facilitate the correct actions</a:t>
            </a:r>
          </a:p>
          <a:p>
            <a:pPr lvl="2"/>
            <a:endParaRPr lang="en-US" sz="4000" b="1" dirty="0"/>
          </a:p>
          <a:p>
            <a:pPr lvl="2"/>
            <a:r>
              <a:rPr lang="en-US" sz="4000" b="1" dirty="0"/>
              <a:t>Enable users to work independently and at their own pace, and </a:t>
            </a:r>
          </a:p>
          <a:p>
            <a:pPr lvl="2"/>
            <a:endParaRPr lang="en-US" sz="4000" b="1" dirty="0"/>
          </a:p>
          <a:p>
            <a:pPr lvl="2"/>
            <a:r>
              <a:rPr lang="en-US" sz="4000" b="1" dirty="0"/>
              <a:t>Enable users to distinguish materials, tools and the general road map easily.</a:t>
            </a:r>
          </a:p>
          <a:p>
            <a:endParaRPr lang="en-US" sz="4800" b="1" dirty="0"/>
          </a:p>
          <a:p>
            <a:endParaRPr lang="en-US" sz="4800" b="1" dirty="0"/>
          </a:p>
        </p:txBody>
      </p:sp>
    </p:spTree>
    <p:extLst>
      <p:ext uri="{BB962C8B-B14F-4D97-AF65-F5344CB8AC3E}">
        <p14:creationId xmlns:p14="http://schemas.microsoft.com/office/powerpoint/2010/main" val="77858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11210"/>
            <a:ext cx="12192001" cy="6746789"/>
          </a:xfrm>
        </p:spPr>
        <p:txBody>
          <a:bodyPr>
            <a:normAutofit fontScale="92500" lnSpcReduction="10000"/>
          </a:bodyPr>
          <a:lstStyle/>
          <a:p>
            <a:r>
              <a:rPr lang="en-US" sz="6000" b="1" dirty="0"/>
              <a:t>Instructions’ Structure:</a:t>
            </a:r>
            <a:endParaRPr lang="en-US" sz="6600" b="1" dirty="0"/>
          </a:p>
          <a:p>
            <a:r>
              <a:rPr lang="en-US" sz="4800" b="1" dirty="0">
                <a:solidFill>
                  <a:schemeClr val="accent2">
                    <a:lumMod val="75000"/>
                  </a:schemeClr>
                </a:solidFill>
              </a:rPr>
              <a:t>Guide/Topic:</a:t>
            </a:r>
            <a:r>
              <a:rPr lang="en-US" sz="4800" b="1" dirty="0"/>
              <a:t>          </a:t>
            </a:r>
            <a:r>
              <a:rPr lang="en-US" b="1" dirty="0"/>
              <a:t>All</a:t>
            </a:r>
            <a:r>
              <a:rPr lang="en-US" sz="4800" b="1" dirty="0"/>
              <a:t> </a:t>
            </a:r>
            <a:r>
              <a:rPr lang="en-US" sz="3200" b="1" dirty="0"/>
              <a:t>components of the instruction are in 							harmony  and well-oriented and all 							topics are included  </a:t>
            </a:r>
          </a:p>
          <a:p>
            <a:pPr marL="914400" lvl="2" indent="0">
              <a:buNone/>
            </a:pPr>
            <a:endParaRPr lang="en-US" sz="4800" b="1" dirty="0"/>
          </a:p>
          <a:p>
            <a:pPr marL="914400" lvl="2" indent="0">
              <a:buNone/>
            </a:pPr>
            <a:r>
              <a:rPr lang="en-US" sz="4800" b="1" dirty="0">
                <a:solidFill>
                  <a:srgbClr val="FF0000"/>
                </a:solidFill>
              </a:rPr>
              <a:t>[Avoid </a:t>
            </a:r>
            <a:r>
              <a:rPr lang="en-US" sz="4400" b="1" i="0" dirty="0">
                <a:solidFill>
                  <a:srgbClr val="FF0000"/>
                </a:solidFill>
                <a:effectLst/>
                <a:latin typeface="Jost"/>
              </a:rPr>
              <a:t>Bad Navigation]</a:t>
            </a:r>
          </a:p>
          <a:p>
            <a:pPr marL="914400" lvl="2" indent="0">
              <a:buNone/>
            </a:pPr>
            <a:endParaRPr lang="en-US" sz="4800" b="1" dirty="0"/>
          </a:p>
          <a:p>
            <a:r>
              <a:rPr lang="en-US" sz="5600" b="1" dirty="0">
                <a:solidFill>
                  <a:schemeClr val="accent2">
                    <a:lumMod val="75000"/>
                  </a:schemeClr>
                </a:solidFill>
              </a:rPr>
              <a:t>Instruction:</a:t>
            </a:r>
            <a:r>
              <a:rPr lang="en-US" sz="5600" b="1" dirty="0"/>
              <a:t> </a:t>
            </a:r>
            <a:r>
              <a:rPr lang="en-US" sz="3500" b="1" dirty="0"/>
              <a:t>A guide consists of several instructions designed to bring a task from its initial state to its desired state. </a:t>
            </a:r>
          </a:p>
          <a:p>
            <a:pPr marL="914400" lvl="2" indent="0">
              <a:buNone/>
            </a:pPr>
            <a:endParaRPr lang="en-US" sz="4800" b="1" dirty="0"/>
          </a:p>
          <a:p>
            <a:r>
              <a:rPr lang="en-US" sz="5800" b="1" dirty="0">
                <a:solidFill>
                  <a:schemeClr val="accent2">
                    <a:lumMod val="75000"/>
                  </a:schemeClr>
                </a:solidFill>
              </a:rPr>
              <a:t>Step: </a:t>
            </a:r>
            <a:r>
              <a:rPr lang="en-US" sz="3500" b="1" dirty="0"/>
              <a:t>Steps are the detailed descriptions within instructions </a:t>
            </a:r>
          </a:p>
          <a:p>
            <a:endParaRPr lang="en-US" sz="4800" b="1" dirty="0"/>
          </a:p>
          <a:p>
            <a:endParaRPr lang="en-US" sz="4800" b="1" dirty="0"/>
          </a:p>
        </p:txBody>
      </p:sp>
      <p:sp>
        <p:nvSpPr>
          <p:cNvPr id="2" name="AutoShape 2" descr="What Is A Compass? | How Does A Compass Work? | DK Find Ou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2"/>
          <a:stretch>
            <a:fillRect/>
          </a:stretch>
        </p:blipFill>
        <p:spPr>
          <a:xfrm>
            <a:off x="3371104" y="934841"/>
            <a:ext cx="1087395" cy="1092250"/>
          </a:xfrm>
          <a:prstGeom prst="rect">
            <a:avLst/>
          </a:prstGeom>
        </p:spPr>
      </p:pic>
    </p:spTree>
    <p:extLst>
      <p:ext uri="{BB962C8B-B14F-4D97-AF65-F5344CB8AC3E}">
        <p14:creationId xmlns:p14="http://schemas.microsoft.com/office/powerpoint/2010/main" val="1524908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11210"/>
            <a:ext cx="12192001" cy="6746789"/>
          </a:xfrm>
        </p:spPr>
        <p:txBody>
          <a:bodyPr>
            <a:normAutofit fontScale="92500" lnSpcReduction="10000"/>
          </a:bodyPr>
          <a:lstStyle/>
          <a:p>
            <a:r>
              <a:rPr lang="en-US" sz="4000" b="1" dirty="0"/>
              <a:t>Each step must have a clear visual supported by a clear, task-centered sentence.</a:t>
            </a:r>
          </a:p>
          <a:p>
            <a:pPr lvl="2">
              <a:lnSpc>
                <a:spcPct val="150000"/>
              </a:lnSpc>
            </a:pPr>
            <a:r>
              <a:rPr lang="en-US" sz="3200" b="1" dirty="0"/>
              <a:t>Use active present verbs: Open, Press, Connect…</a:t>
            </a:r>
          </a:p>
          <a:p>
            <a:pPr lvl="5">
              <a:lnSpc>
                <a:spcPct val="150000"/>
              </a:lnSpc>
            </a:pPr>
            <a:r>
              <a:rPr lang="en-US" sz="3200" dirty="0"/>
              <a:t>“Fill the bottle” is way better than “You have to fill the bottle”.</a:t>
            </a:r>
            <a:endParaRPr lang="en-US" sz="3000" b="1" dirty="0"/>
          </a:p>
          <a:p>
            <a:pPr lvl="3">
              <a:lnSpc>
                <a:spcPct val="150000"/>
              </a:lnSpc>
            </a:pPr>
            <a:r>
              <a:rPr lang="en-US" sz="3200" b="1" dirty="0"/>
              <a:t>Avoid long wordy sentences </a:t>
            </a:r>
          </a:p>
          <a:p>
            <a:pPr lvl="3">
              <a:lnSpc>
                <a:spcPct val="150000"/>
              </a:lnSpc>
            </a:pPr>
            <a:r>
              <a:rPr lang="en-US" sz="3200" b="1" dirty="0"/>
              <a:t>Break down tasks into two or more sub-tasks when the user needs to perform several actions. </a:t>
            </a:r>
          </a:p>
          <a:p>
            <a:pPr lvl="3"/>
            <a:endParaRPr lang="en-US" sz="3200" b="1" dirty="0"/>
          </a:p>
          <a:p>
            <a:pPr lvl="0"/>
            <a:r>
              <a:rPr lang="en-US" sz="3200" b="1" dirty="0"/>
              <a:t>A maximum of 10-12 steps is recommended for your instructions to be effective. </a:t>
            </a:r>
          </a:p>
          <a:p>
            <a:pPr lvl="2"/>
            <a:endParaRPr lang="en-US" sz="3200" b="1" dirty="0"/>
          </a:p>
          <a:p>
            <a:endParaRPr lang="en-US" sz="4000" b="1" dirty="0"/>
          </a:p>
          <a:p>
            <a:endParaRPr lang="en-US" sz="4000" b="1" dirty="0"/>
          </a:p>
          <a:p>
            <a:endParaRPr lang="en-US" sz="4000" b="1" dirty="0"/>
          </a:p>
        </p:txBody>
      </p:sp>
    </p:spTree>
    <p:extLst>
      <p:ext uri="{BB962C8B-B14F-4D97-AF65-F5344CB8AC3E}">
        <p14:creationId xmlns:p14="http://schemas.microsoft.com/office/powerpoint/2010/main" val="1762032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281" y="111210"/>
            <a:ext cx="12043719" cy="6746789"/>
          </a:xfrm>
        </p:spPr>
        <p:txBody>
          <a:bodyPr>
            <a:normAutofit/>
          </a:bodyPr>
          <a:lstStyle/>
          <a:p>
            <a:pPr marL="0" marR="0">
              <a:lnSpc>
                <a:spcPct val="107000"/>
              </a:lnSpc>
              <a:spcBef>
                <a:spcPts val="0"/>
              </a:spcBef>
              <a:spcAft>
                <a:spcPts val="800"/>
              </a:spcAft>
            </a:pPr>
            <a:r>
              <a:rPr lang="en-US" sz="4400" b="1" dirty="0">
                <a:effectLst/>
                <a:ea typeface="Times New Roman" panose="02020603050405020304" pitchFamily="18" charset="0"/>
                <a:cs typeface="Arial" panose="020B0604020202020204" pitchFamily="34" charset="0"/>
              </a:rPr>
              <a:t>Errors can have catastrophic consequences on the factory floor. </a:t>
            </a:r>
          </a:p>
          <a:p>
            <a:pPr marL="0" marR="0">
              <a:lnSpc>
                <a:spcPct val="107000"/>
              </a:lnSpc>
              <a:spcBef>
                <a:spcPts val="0"/>
              </a:spcBef>
              <a:spcAft>
                <a:spcPts val="800"/>
              </a:spcAft>
            </a:pPr>
            <a:endParaRPr lang="en-US" sz="4400" b="1" dirty="0">
              <a:ea typeface="Times New Roman" panose="02020603050405020304" pitchFamily="18" charset="0"/>
              <a:cs typeface="Arial" panose="020B0604020202020204" pitchFamily="34" charset="0"/>
            </a:endParaRPr>
          </a:p>
          <a:p>
            <a:pPr marL="0" marR="0">
              <a:lnSpc>
                <a:spcPct val="107000"/>
              </a:lnSpc>
              <a:spcBef>
                <a:spcPts val="0"/>
              </a:spcBef>
              <a:spcAft>
                <a:spcPts val="800"/>
              </a:spcAft>
            </a:pPr>
            <a:r>
              <a:rPr lang="en-US" sz="4400" b="1" dirty="0">
                <a:effectLst/>
                <a:ea typeface="Times New Roman" panose="02020603050405020304" pitchFamily="18" charset="0"/>
                <a:cs typeface="Arial" panose="020B0604020202020204" pitchFamily="34" charset="0"/>
              </a:rPr>
              <a:t>Instructional design theory teaches us that the 	best place to </a:t>
            </a:r>
            <a:r>
              <a:rPr lang="en-US" sz="4400" b="1" dirty="0">
                <a:solidFill>
                  <a:srgbClr val="C00000"/>
                </a:solidFill>
                <a:effectLst/>
                <a:ea typeface="Times New Roman" panose="02020603050405020304" pitchFamily="18" charset="0"/>
                <a:cs typeface="Arial" panose="020B0604020202020204" pitchFamily="34" charset="0"/>
              </a:rPr>
              <a:t>prevent</a:t>
            </a:r>
            <a:r>
              <a:rPr lang="en-US" sz="4400" b="1" dirty="0">
                <a:effectLst/>
                <a:ea typeface="Times New Roman" panose="02020603050405020304" pitchFamily="18" charset="0"/>
                <a:cs typeface="Arial" panose="020B0604020202020204" pitchFamily="34" charset="0"/>
              </a:rPr>
              <a:t> (and correct) </a:t>
            </a:r>
            <a:r>
              <a:rPr lang="en-US" sz="4400" b="1" dirty="0">
                <a:solidFill>
                  <a:srgbClr val="C00000"/>
                </a:solidFill>
                <a:effectLst/>
                <a:ea typeface="Times New Roman" panose="02020603050405020304" pitchFamily="18" charset="0"/>
                <a:cs typeface="Arial" panose="020B0604020202020204" pitchFamily="34" charset="0"/>
              </a:rPr>
              <a:t>errors</a:t>
            </a:r>
            <a:r>
              <a:rPr lang="en-US" sz="4400" b="1" dirty="0">
                <a:effectLst/>
                <a:ea typeface="Times New Roman" panose="02020603050405020304" pitchFamily="18" charset="0"/>
                <a:cs typeface="Arial" panose="020B0604020202020204" pitchFamily="34" charset="0"/>
              </a:rPr>
              <a:t> is 	within the work </a:t>
            </a:r>
            <a:r>
              <a:rPr lang="en-US" sz="4400" b="1" dirty="0">
                <a:solidFill>
                  <a:srgbClr val="C00000"/>
                </a:solidFill>
                <a:effectLst/>
                <a:ea typeface="Times New Roman" panose="02020603050405020304" pitchFamily="18" charset="0"/>
                <a:cs typeface="Arial" panose="020B0604020202020204" pitchFamily="34" charset="0"/>
              </a:rPr>
              <a:t>instructions</a:t>
            </a:r>
            <a:r>
              <a:rPr lang="en-US" sz="4400" b="1" dirty="0">
                <a:effectLst/>
                <a:ea typeface="Times New Roman" panose="02020603050405020304" pitchFamily="18" charset="0"/>
                <a:cs typeface="Arial" panose="020B0604020202020204" pitchFamily="34" charset="0"/>
              </a:rPr>
              <a:t>. </a:t>
            </a:r>
            <a:endParaRPr lang="en-US" sz="4400" b="1" dirty="0"/>
          </a:p>
          <a:p>
            <a:endParaRPr lang="en-US" sz="4400" b="1" dirty="0"/>
          </a:p>
          <a:p>
            <a:endParaRPr lang="en-US" sz="4400" b="1" dirty="0"/>
          </a:p>
          <a:p>
            <a:endParaRPr lang="en-US" sz="4400" b="1" dirty="0"/>
          </a:p>
        </p:txBody>
      </p:sp>
    </p:spTree>
    <p:extLst>
      <p:ext uri="{BB962C8B-B14F-4D97-AF65-F5344CB8AC3E}">
        <p14:creationId xmlns:p14="http://schemas.microsoft.com/office/powerpoint/2010/main" val="1815036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281" y="111210"/>
            <a:ext cx="12043719" cy="6746789"/>
          </a:xfrm>
        </p:spPr>
        <p:txBody>
          <a:bodyPr>
            <a:normAutofit/>
          </a:bodyPr>
          <a:lstStyle/>
          <a:p>
            <a:r>
              <a:rPr lang="en-US" sz="4000" b="1" dirty="0"/>
              <a:t>1. Warning:</a:t>
            </a:r>
            <a:endParaRPr lang="en-US" sz="4000" dirty="0"/>
          </a:p>
          <a:p>
            <a:r>
              <a:rPr lang="en-US" sz="4000" dirty="0"/>
              <a:t>Alert operators to potential </a:t>
            </a:r>
            <a:r>
              <a:rPr lang="en-US" sz="4000" dirty="0">
                <a:solidFill>
                  <a:srgbClr val="C00000"/>
                </a:solidFill>
              </a:rPr>
              <a:t>safety hazards </a:t>
            </a:r>
            <a:r>
              <a:rPr lang="en-US" sz="4000" dirty="0"/>
              <a:t>and error-prone tasks. Use analytics to help identify problem areas in your manufacturing workflows.</a:t>
            </a:r>
          </a:p>
          <a:p>
            <a:endParaRPr lang="en-US" dirty="0"/>
          </a:p>
          <a:p>
            <a:endParaRPr lang="en-US" dirty="0"/>
          </a:p>
          <a:p>
            <a:r>
              <a:rPr lang="en-US" sz="4400" b="1" dirty="0"/>
              <a:t>2. Tip:</a:t>
            </a:r>
          </a:p>
          <a:p>
            <a:r>
              <a:rPr lang="en-US" sz="4000" dirty="0"/>
              <a:t>Provide a more detailed description with extra information on how to perform the step.</a:t>
            </a:r>
          </a:p>
        </p:txBody>
      </p:sp>
    </p:spTree>
    <p:extLst>
      <p:ext uri="{BB962C8B-B14F-4D97-AF65-F5344CB8AC3E}">
        <p14:creationId xmlns:p14="http://schemas.microsoft.com/office/powerpoint/2010/main" val="2264063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281" y="111210"/>
            <a:ext cx="12043719" cy="6746789"/>
          </a:xfrm>
        </p:spPr>
        <p:txBody>
          <a:bodyPr>
            <a:normAutofit/>
          </a:bodyPr>
          <a:lstStyle/>
          <a:p>
            <a:pPr lvl="0"/>
            <a:r>
              <a:rPr lang="en-US" sz="4000" b="1" dirty="0">
                <a:solidFill>
                  <a:prstClr val="black"/>
                </a:solidFill>
              </a:rPr>
              <a:t>3. Alternative route:</a:t>
            </a:r>
          </a:p>
          <a:p>
            <a:pPr lvl="0"/>
            <a:r>
              <a:rPr lang="en-US" sz="4000" dirty="0">
                <a:solidFill>
                  <a:prstClr val="black"/>
                </a:solidFill>
              </a:rPr>
              <a:t>An alternative way to perform the same task with the same result. </a:t>
            </a:r>
          </a:p>
          <a:p>
            <a:pPr lvl="0"/>
            <a:endParaRPr lang="en-US" sz="4000" dirty="0">
              <a:solidFill>
                <a:prstClr val="black"/>
              </a:solidFill>
            </a:endParaRPr>
          </a:p>
          <a:p>
            <a:pPr marL="0" lvl="0" indent="0">
              <a:buNone/>
            </a:pPr>
            <a:endParaRPr lang="en-US" sz="4000" dirty="0">
              <a:solidFill>
                <a:prstClr val="black"/>
              </a:solidFill>
            </a:endParaRPr>
          </a:p>
          <a:p>
            <a:pPr lvl="0"/>
            <a:r>
              <a:rPr lang="en-US" sz="4000" b="1" dirty="0">
                <a:solidFill>
                  <a:prstClr val="black"/>
                </a:solidFill>
              </a:rPr>
              <a:t>4. Fixes:</a:t>
            </a:r>
            <a:endParaRPr lang="en-US" sz="4000" dirty="0">
              <a:solidFill>
                <a:prstClr val="black"/>
              </a:solidFill>
            </a:endParaRPr>
          </a:p>
          <a:p>
            <a:pPr lvl="0"/>
            <a:r>
              <a:rPr lang="en-US" sz="4000" dirty="0">
                <a:solidFill>
                  <a:prstClr val="black"/>
                </a:solidFill>
              </a:rPr>
              <a:t>Errors happen. When they do, it’s essential that they are corrected quickly and effectively. Fixes direct users to the easiest potential solution for a likely error.</a:t>
            </a:r>
          </a:p>
          <a:p>
            <a:pPr lvl="0"/>
            <a:endParaRPr lang="en-US" sz="4000" b="1" dirty="0">
              <a:solidFill>
                <a:prstClr val="black"/>
              </a:solidFill>
            </a:endParaRPr>
          </a:p>
        </p:txBody>
      </p:sp>
    </p:spTree>
    <p:extLst>
      <p:ext uri="{BB962C8B-B14F-4D97-AF65-F5344CB8AC3E}">
        <p14:creationId xmlns:p14="http://schemas.microsoft.com/office/powerpoint/2010/main" val="3270666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281" y="111210"/>
            <a:ext cx="12043719" cy="6746789"/>
          </a:xfrm>
        </p:spPr>
        <p:txBody>
          <a:bodyPr>
            <a:normAutofit fontScale="92500" lnSpcReduction="20000"/>
          </a:bodyPr>
          <a:lstStyle/>
          <a:p>
            <a:pPr lvl="0"/>
            <a:r>
              <a:rPr lang="en-US" sz="4000" b="1" dirty="0">
                <a:solidFill>
                  <a:prstClr val="black"/>
                </a:solidFill>
              </a:rPr>
              <a:t>Structure your work instructions in a clear, step-by-step 	instruction </a:t>
            </a:r>
            <a:r>
              <a:rPr lang="en-US" sz="4000" b="1" dirty="0">
                <a:solidFill>
                  <a:srgbClr val="C00000"/>
                </a:solidFill>
              </a:rPr>
              <a:t>hierarchy</a:t>
            </a:r>
          </a:p>
          <a:p>
            <a:pPr lvl="2"/>
            <a:r>
              <a:rPr lang="en-US" sz="3200" b="1" dirty="0">
                <a:solidFill>
                  <a:prstClr val="black"/>
                </a:solidFill>
              </a:rPr>
              <a:t>Guide - topic - instruction - step.</a:t>
            </a:r>
          </a:p>
          <a:p>
            <a:pPr lvl="0">
              <a:lnSpc>
                <a:spcPct val="150000"/>
              </a:lnSpc>
            </a:pPr>
            <a:r>
              <a:rPr lang="en-US" sz="3600" b="1" dirty="0">
                <a:solidFill>
                  <a:prstClr val="black"/>
                </a:solidFill>
              </a:rPr>
              <a:t>Use an active tone of voice.</a:t>
            </a:r>
          </a:p>
          <a:p>
            <a:pPr lvl="0">
              <a:lnSpc>
                <a:spcPct val="150000"/>
              </a:lnSpc>
            </a:pPr>
            <a:r>
              <a:rPr lang="en-US" sz="3600" b="1" dirty="0">
                <a:solidFill>
                  <a:prstClr val="black"/>
                </a:solidFill>
              </a:rPr>
              <a:t>Keep it short and to the point.</a:t>
            </a:r>
          </a:p>
          <a:p>
            <a:pPr lvl="0">
              <a:lnSpc>
                <a:spcPct val="150000"/>
              </a:lnSpc>
            </a:pPr>
            <a:r>
              <a:rPr lang="en-US" sz="3600" b="1" dirty="0">
                <a:solidFill>
                  <a:prstClr val="black"/>
                </a:solidFill>
              </a:rPr>
              <a:t>Use a clear visual to illustrate the step.</a:t>
            </a:r>
          </a:p>
          <a:p>
            <a:pPr lvl="0">
              <a:lnSpc>
                <a:spcPct val="150000"/>
              </a:lnSpc>
            </a:pPr>
            <a:r>
              <a:rPr lang="en-US" sz="3600" b="1" dirty="0">
                <a:solidFill>
                  <a:prstClr val="black"/>
                </a:solidFill>
              </a:rPr>
              <a:t>Split up a task in several different sub-tasks (Separation between 	tasks) </a:t>
            </a:r>
          </a:p>
          <a:p>
            <a:pPr lvl="0">
              <a:lnSpc>
                <a:spcPct val="150000"/>
              </a:lnSpc>
            </a:pPr>
            <a:r>
              <a:rPr lang="en-US" sz="3600" b="1" dirty="0">
                <a:solidFill>
                  <a:prstClr val="black"/>
                </a:solidFill>
              </a:rPr>
              <a:t>Separate all additional information in icons (warnings - tips - 	alternative routes - error fixes).</a:t>
            </a:r>
          </a:p>
        </p:txBody>
      </p:sp>
    </p:spTree>
    <p:extLst>
      <p:ext uri="{BB962C8B-B14F-4D97-AF65-F5344CB8AC3E}">
        <p14:creationId xmlns:p14="http://schemas.microsoft.com/office/powerpoint/2010/main" val="3589139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88900" y="0"/>
            <a:ext cx="11811000" cy="9571851"/>
          </a:xfrm>
          <a:prstGeom prst="rect">
            <a:avLst/>
          </a:prstGeom>
          <a:noFill/>
        </p:spPr>
        <p:txBody>
          <a:bodyPr wrap="square" rtlCol="0">
            <a:spAutoFit/>
          </a:bodyPr>
          <a:lstStyle/>
          <a:p>
            <a:r>
              <a:rPr lang="en-US" sz="2800" b="1" dirty="0"/>
              <a:t>Key Items in a User Manual </a:t>
            </a:r>
          </a:p>
          <a:p>
            <a:endParaRPr lang="en-US" sz="2800" dirty="0"/>
          </a:p>
          <a:p>
            <a:pPr marL="457200" indent="-457200">
              <a:buFont typeface="Arial" panose="020B0604020202020204" pitchFamily="34" charset="0"/>
              <a:buChar char="•"/>
            </a:pPr>
            <a:r>
              <a:rPr lang="en-US" sz="2800" dirty="0"/>
              <a:t>Introduction / Product overview</a:t>
            </a:r>
          </a:p>
          <a:p>
            <a:pPr marL="457200" indent="-457200">
              <a:buFont typeface="Arial" panose="020B0604020202020204" pitchFamily="34" charset="0"/>
              <a:buChar char="•"/>
            </a:pPr>
            <a:r>
              <a:rPr lang="en-US" sz="2800" dirty="0"/>
              <a:t>Key features</a:t>
            </a:r>
          </a:p>
          <a:p>
            <a:pPr marL="1371600" lvl="2" indent="-457200">
              <a:buFont typeface="Arial" panose="020B0604020202020204" pitchFamily="34" charset="0"/>
              <a:buChar char="•"/>
            </a:pPr>
            <a:r>
              <a:rPr lang="en-US" sz="2800" dirty="0"/>
              <a:t>Installation (if needed) </a:t>
            </a:r>
          </a:p>
          <a:p>
            <a:pPr marL="1828800" lvl="3" indent="-457200">
              <a:buFont typeface="Arial" panose="020B0604020202020204" pitchFamily="34" charset="0"/>
              <a:buChar char="•"/>
            </a:pPr>
            <a:r>
              <a:rPr lang="en-US" sz="2800" dirty="0"/>
              <a:t>Tell the reader about the expected results of each step</a:t>
            </a:r>
          </a:p>
          <a:p>
            <a:pPr marL="1828800" lvl="3" indent="-457200">
              <a:buFont typeface="Arial" panose="020B0604020202020204" pitchFamily="34" charset="0"/>
              <a:buChar char="•"/>
            </a:pPr>
            <a:r>
              <a:rPr lang="en-US" sz="2800" dirty="0"/>
              <a:t> </a:t>
            </a:r>
          </a:p>
          <a:p>
            <a:pPr marL="457200" indent="-457200">
              <a:buFont typeface="Arial" panose="020B0604020202020204" pitchFamily="34" charset="0"/>
              <a:buChar char="•"/>
            </a:pPr>
            <a:r>
              <a:rPr lang="en-US" sz="2800" b="1" dirty="0"/>
              <a:t>How to use…</a:t>
            </a:r>
          </a:p>
          <a:p>
            <a:pPr marL="1371600" lvl="2" indent="-457200">
              <a:buFont typeface="Arial" panose="020B0604020202020204" pitchFamily="34" charset="0"/>
              <a:buChar char="•"/>
            </a:pPr>
            <a:r>
              <a:rPr lang="en-US" sz="2800" dirty="0"/>
              <a:t>Function of each feature, relationship between them…</a:t>
            </a:r>
          </a:p>
          <a:p>
            <a:pPr marL="1371600" lvl="2"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Troubleshooting</a:t>
            </a:r>
          </a:p>
          <a:p>
            <a:pPr marL="457200" indent="-457200">
              <a:buFont typeface="Arial" panose="020B0604020202020204" pitchFamily="34" charset="0"/>
              <a:buChar char="•"/>
            </a:pPr>
            <a:r>
              <a:rPr lang="en-US" sz="2800" dirty="0"/>
              <a:t>Warnings and recommendations</a:t>
            </a:r>
          </a:p>
          <a:p>
            <a:pPr marL="1371600" lvl="2" indent="-457200">
              <a:buFont typeface="Arial" panose="020B0604020202020204" pitchFamily="34" charset="0"/>
              <a:buChar char="•"/>
            </a:pPr>
            <a:r>
              <a:rPr lang="en-US" sz="2800" dirty="0"/>
              <a:t>Repeating the words such as </a:t>
            </a:r>
            <a:r>
              <a:rPr lang="en-US" sz="2800" dirty="0">
                <a:solidFill>
                  <a:srgbClr val="C00000"/>
                </a:solidFill>
              </a:rPr>
              <a:t>not</a:t>
            </a:r>
            <a:r>
              <a:rPr lang="en-US" sz="2800" dirty="0"/>
              <a:t> and </a:t>
            </a:r>
            <a:r>
              <a:rPr lang="en-US" sz="2800" dirty="0">
                <a:solidFill>
                  <a:srgbClr val="C00000"/>
                </a:solidFill>
              </a:rPr>
              <a:t>never</a:t>
            </a:r>
            <a:r>
              <a:rPr lang="en-US" sz="2800" dirty="0"/>
              <a:t> is good</a:t>
            </a:r>
          </a:p>
          <a:p>
            <a:r>
              <a:rPr lang="en-US" sz="2800" dirty="0"/>
              <a:t>		practice in warnings</a:t>
            </a:r>
          </a:p>
          <a:p>
            <a:pPr marL="457200" indent="-457200">
              <a:buFont typeface="Arial" panose="020B0604020202020204" pitchFamily="34" charset="0"/>
              <a:buChar char="•"/>
            </a:pPr>
            <a:r>
              <a:rPr lang="en-US" sz="2800" dirty="0"/>
              <a:t>Customer service Information/ Website / How to contact</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Tree>
    <p:extLst>
      <p:ext uri="{BB962C8B-B14F-4D97-AF65-F5344CB8AC3E}">
        <p14:creationId xmlns:p14="http://schemas.microsoft.com/office/powerpoint/2010/main" val="1040577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62353" y="266700"/>
            <a:ext cx="4816960" cy="830997"/>
          </a:xfrm>
          <a:prstGeom prst="rect">
            <a:avLst/>
          </a:prstGeom>
          <a:noFill/>
        </p:spPr>
        <p:txBody>
          <a:bodyPr wrap="none" rtlCol="0">
            <a:spAutoFit/>
          </a:bodyPr>
          <a:lstStyle/>
          <a:p>
            <a:r>
              <a:rPr lang="en-US" sz="4800" b="1" dirty="0"/>
              <a:t>What is in the Box</a:t>
            </a:r>
          </a:p>
        </p:txBody>
      </p:sp>
      <p:graphicFrame>
        <p:nvGraphicFramePr>
          <p:cNvPr id="6" name="Table 5"/>
          <p:cNvGraphicFramePr>
            <a:graphicFrameLocks noGrp="1"/>
          </p:cNvGraphicFramePr>
          <p:nvPr>
            <p:extLst>
              <p:ext uri="{D42A27DB-BD31-4B8C-83A1-F6EECF244321}">
                <p14:modId xmlns:p14="http://schemas.microsoft.com/office/powerpoint/2010/main" val="2504181505"/>
              </p:ext>
            </p:extLst>
          </p:nvPr>
        </p:nvGraphicFramePr>
        <p:xfrm>
          <a:off x="0" y="1266686"/>
          <a:ext cx="12192000" cy="5503822"/>
        </p:xfrm>
        <a:graphic>
          <a:graphicData uri="http://schemas.openxmlformats.org/drawingml/2006/table">
            <a:tbl>
              <a:tblPr firstRow="1" bandRow="1">
                <a:tableStyleId>{5C22544A-7EE6-4342-B048-85BDC9FD1C3A}</a:tableStyleId>
              </a:tblPr>
              <a:tblGrid>
                <a:gridCol w="6142433">
                  <a:extLst>
                    <a:ext uri="{9D8B030D-6E8A-4147-A177-3AD203B41FA5}">
                      <a16:colId xmlns:a16="http://schemas.microsoft.com/office/drawing/2014/main" val="1606993510"/>
                    </a:ext>
                  </a:extLst>
                </a:gridCol>
                <a:gridCol w="6049567">
                  <a:extLst>
                    <a:ext uri="{9D8B030D-6E8A-4147-A177-3AD203B41FA5}">
                      <a16:colId xmlns:a16="http://schemas.microsoft.com/office/drawing/2014/main" val="2552989399"/>
                    </a:ext>
                  </a:extLst>
                </a:gridCol>
              </a:tblGrid>
              <a:tr h="973911">
                <a:tc>
                  <a:txBody>
                    <a:bodyPr/>
                    <a:lstStyle/>
                    <a:p>
                      <a:pPr algn="ctr"/>
                      <a:r>
                        <a:rPr lang="en-US" sz="4000" dirty="0"/>
                        <a:t>YES</a:t>
                      </a:r>
                    </a:p>
                  </a:txBody>
                  <a:tcPr/>
                </a:tc>
                <a:tc>
                  <a:txBody>
                    <a:bodyPr/>
                    <a:lstStyle/>
                    <a:p>
                      <a:pPr algn="ctr"/>
                      <a:r>
                        <a:rPr lang="en-US" sz="4000" dirty="0"/>
                        <a:t>NO</a:t>
                      </a:r>
                    </a:p>
                  </a:txBody>
                  <a:tcPr/>
                </a:tc>
                <a:extLst>
                  <a:ext uri="{0D108BD9-81ED-4DB2-BD59-A6C34878D82A}">
                    <a16:rowId xmlns:a16="http://schemas.microsoft.com/office/drawing/2014/main" val="219908569"/>
                  </a:ext>
                </a:extLst>
              </a:tr>
              <a:tr h="973911">
                <a:tc>
                  <a:txBody>
                    <a:bodyPr/>
                    <a:lstStyle/>
                    <a:p>
                      <a:r>
                        <a:rPr lang="en-US" sz="4000"/>
                        <a:t>SHUB®</a:t>
                      </a:r>
                      <a:endParaRPr lang="en-US" sz="4000" dirty="0"/>
                    </a:p>
                  </a:txBody>
                  <a:tcPr/>
                </a:tc>
                <a:tc>
                  <a:txBody>
                    <a:bodyPr/>
                    <a:lstStyle/>
                    <a:p>
                      <a:r>
                        <a:rPr lang="en-US" sz="4000" dirty="0"/>
                        <a:t>• 1 x SHUB®</a:t>
                      </a:r>
                    </a:p>
                  </a:txBody>
                  <a:tcPr/>
                </a:tc>
                <a:extLst>
                  <a:ext uri="{0D108BD9-81ED-4DB2-BD59-A6C34878D82A}">
                    <a16:rowId xmlns:a16="http://schemas.microsoft.com/office/drawing/2014/main" val="2874628553"/>
                  </a:ext>
                </a:extLst>
              </a:tr>
              <a:tr h="1608178">
                <a:tc>
                  <a:txBody>
                    <a:bodyPr/>
                    <a:lstStyle/>
                    <a:p>
                      <a:pPr marL="571500" indent="-571500">
                        <a:buFont typeface="Arial" panose="020B0604020202020204" pitchFamily="34" charset="0"/>
                        <a:buChar char="•"/>
                      </a:pPr>
                      <a:r>
                        <a:rPr lang="en-US" sz="4000" dirty="0"/>
                        <a:t>Four removable modules with</a:t>
                      </a:r>
                      <a:r>
                        <a:rPr lang="en-US" sz="4000" baseline="0" dirty="0"/>
                        <a:t> </a:t>
                      </a:r>
                      <a:r>
                        <a:rPr lang="en-US" sz="4000" dirty="0"/>
                        <a:t>connectors</a:t>
                      </a:r>
                    </a:p>
                  </a:txBody>
                  <a:tcPr/>
                </a:tc>
                <a:tc>
                  <a:txBody>
                    <a:bodyPr/>
                    <a:lstStyle/>
                    <a:p>
                      <a:pPr marL="571500" indent="-571500">
                        <a:buFont typeface="Arial" panose="020B0604020202020204" pitchFamily="34" charset="0"/>
                        <a:buChar char="•"/>
                      </a:pPr>
                      <a:r>
                        <a:rPr lang="en-US" sz="4000" dirty="0"/>
                        <a:t>4 x removable modules with</a:t>
                      </a:r>
                      <a:r>
                        <a:rPr lang="en-US" sz="4000" baseline="0" dirty="0"/>
                        <a:t> </a:t>
                      </a:r>
                      <a:r>
                        <a:rPr lang="en-US" sz="4000" dirty="0"/>
                        <a:t>connectors</a:t>
                      </a:r>
                    </a:p>
                  </a:txBody>
                  <a:tcPr/>
                </a:tc>
                <a:extLst>
                  <a:ext uri="{0D108BD9-81ED-4DB2-BD59-A6C34878D82A}">
                    <a16:rowId xmlns:a16="http://schemas.microsoft.com/office/drawing/2014/main" val="2099092824"/>
                  </a:ext>
                </a:extLst>
              </a:tr>
              <a:tr h="973911">
                <a:tc>
                  <a:txBody>
                    <a:bodyPr/>
                    <a:lstStyle/>
                    <a:p>
                      <a:r>
                        <a:rPr lang="en-US" sz="4000" dirty="0"/>
                        <a:t>• 5 V DC, 4 A adapter</a:t>
                      </a:r>
                    </a:p>
                  </a:txBody>
                  <a:tcPr/>
                </a:tc>
                <a:tc>
                  <a:txBody>
                    <a:bodyPr/>
                    <a:lstStyle/>
                    <a:p>
                      <a:pPr marL="571500" indent="-571500">
                        <a:buFont typeface="Arial" panose="020B0604020202020204" pitchFamily="34" charset="0"/>
                        <a:buChar char="•"/>
                      </a:pPr>
                      <a:r>
                        <a:rPr lang="pt-BR" sz="4000" dirty="0"/>
                        <a:t>1 × 5V DC, 4A adapter</a:t>
                      </a:r>
                      <a:endParaRPr lang="en-US" sz="4000" dirty="0"/>
                    </a:p>
                  </a:txBody>
                  <a:tcPr/>
                </a:tc>
                <a:extLst>
                  <a:ext uri="{0D108BD9-81ED-4DB2-BD59-A6C34878D82A}">
                    <a16:rowId xmlns:a16="http://schemas.microsoft.com/office/drawing/2014/main" val="1698222700"/>
                  </a:ext>
                </a:extLst>
              </a:tr>
              <a:tr h="973911">
                <a:tc>
                  <a:txBody>
                    <a:bodyPr/>
                    <a:lstStyle/>
                    <a:p>
                      <a:pPr marL="571500" indent="-571500">
                        <a:buFont typeface="Arial" panose="020B0604020202020204" pitchFamily="34" charset="0"/>
                        <a:buChar char="•"/>
                      </a:pPr>
                      <a:r>
                        <a:rPr lang="en-US" sz="4000" dirty="0"/>
                        <a:t>Instruction manual</a:t>
                      </a:r>
                    </a:p>
                  </a:txBody>
                  <a:tcPr/>
                </a:tc>
                <a:tc>
                  <a:txBody>
                    <a:bodyPr/>
                    <a:lstStyle/>
                    <a:p>
                      <a:r>
                        <a:rPr lang="en-US" sz="4000" dirty="0"/>
                        <a:t>• 1 x Instruction manual</a:t>
                      </a:r>
                    </a:p>
                  </a:txBody>
                  <a:tcPr/>
                </a:tc>
                <a:extLst>
                  <a:ext uri="{0D108BD9-81ED-4DB2-BD59-A6C34878D82A}">
                    <a16:rowId xmlns:a16="http://schemas.microsoft.com/office/drawing/2014/main" val="3526215985"/>
                  </a:ext>
                </a:extLst>
              </a:tr>
            </a:tbl>
          </a:graphicData>
        </a:graphic>
      </p:graphicFrame>
    </p:spTree>
    <p:extLst>
      <p:ext uri="{BB962C8B-B14F-4D97-AF65-F5344CB8AC3E}">
        <p14:creationId xmlns:p14="http://schemas.microsoft.com/office/powerpoint/2010/main" val="3892406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00" y="101600"/>
            <a:ext cx="11925300" cy="6756400"/>
          </a:xfrm>
        </p:spPr>
        <p:txBody>
          <a:bodyPr>
            <a:normAutofit/>
          </a:bodyPr>
          <a:lstStyle/>
          <a:p>
            <a:r>
              <a:rPr lang="en-US" sz="4000" dirty="0"/>
              <a:t>Address the reader directly</a:t>
            </a:r>
          </a:p>
          <a:p>
            <a:r>
              <a:rPr lang="en-US" sz="4000" dirty="0"/>
              <a:t>Say what your product or service </a:t>
            </a:r>
            <a:r>
              <a:rPr lang="en-US" sz="4000" dirty="0">
                <a:solidFill>
                  <a:srgbClr val="C00000"/>
                </a:solidFill>
              </a:rPr>
              <a:t>does</a:t>
            </a:r>
            <a:r>
              <a:rPr lang="en-US" sz="4000" dirty="0"/>
              <a:t>, not what it is 	designed to do</a:t>
            </a:r>
          </a:p>
          <a:p>
            <a:endParaRPr lang="en-US" sz="4000" dirty="0"/>
          </a:p>
          <a:p>
            <a:r>
              <a:rPr lang="en-US" sz="4000" dirty="0"/>
              <a:t>Avoid </a:t>
            </a:r>
            <a:r>
              <a:rPr lang="en-US" sz="4000" i="1" u="sng" dirty="0"/>
              <a:t>should </a:t>
            </a:r>
            <a:r>
              <a:rPr lang="en-US" sz="4000" dirty="0"/>
              <a:t>(Do not put doubt in your reader’s mind.) </a:t>
            </a:r>
          </a:p>
          <a:p>
            <a:pPr lvl="1"/>
            <a:r>
              <a:rPr lang="en-US" sz="2800" dirty="0"/>
              <a:t>To launch the </a:t>
            </a:r>
            <a:r>
              <a:rPr lang="en-US" sz="2800" dirty="0" err="1"/>
              <a:t>KwikTrans</a:t>
            </a:r>
            <a:r>
              <a:rPr lang="en-US" sz="2800" dirty="0"/>
              <a:t> application, click the </a:t>
            </a:r>
            <a:r>
              <a:rPr lang="en-US" sz="2800" dirty="0" err="1"/>
              <a:t>KwikTrans</a:t>
            </a:r>
            <a:r>
              <a:rPr lang="en-US" sz="2800" dirty="0"/>
              <a:t> icon on the desktop. This should display the </a:t>
            </a:r>
            <a:r>
              <a:rPr lang="en-US" sz="2800" dirty="0" err="1"/>
              <a:t>KwikTrans</a:t>
            </a:r>
            <a:r>
              <a:rPr lang="en-US" sz="2800" dirty="0"/>
              <a:t> startup window, where you should be able to see a list of choices regarding.</a:t>
            </a:r>
          </a:p>
          <a:p>
            <a:r>
              <a:rPr lang="en-US" sz="3600" dirty="0"/>
              <a:t>Instead tell readers exactly what will happen next, using the present tense</a:t>
            </a:r>
          </a:p>
          <a:p>
            <a:pPr lvl="1"/>
            <a:r>
              <a:rPr lang="en-US" sz="3200" dirty="0"/>
              <a:t>The </a:t>
            </a:r>
            <a:r>
              <a:rPr lang="en-US" sz="3200" dirty="0" err="1"/>
              <a:t>KwikTrans</a:t>
            </a:r>
            <a:r>
              <a:rPr lang="en-US" sz="3200" dirty="0"/>
              <a:t> startup window is displayed, and shows a list of choices regarding.</a:t>
            </a:r>
          </a:p>
        </p:txBody>
      </p:sp>
    </p:spTree>
    <p:extLst>
      <p:ext uri="{BB962C8B-B14F-4D97-AF65-F5344CB8AC3E}">
        <p14:creationId xmlns:p14="http://schemas.microsoft.com/office/powerpoint/2010/main" val="2192712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 y="152400"/>
            <a:ext cx="12077700" cy="6705600"/>
          </a:xfrm>
        </p:spPr>
        <p:txBody>
          <a:bodyPr>
            <a:normAutofit/>
          </a:bodyPr>
          <a:lstStyle/>
          <a:p>
            <a:r>
              <a:rPr lang="en-US" dirty="0"/>
              <a:t>Be careful using words like usually, normally and generally</a:t>
            </a:r>
          </a:p>
          <a:p>
            <a:r>
              <a:rPr lang="en-US" dirty="0"/>
              <a:t>Make it clear to the reader whether he / she has to do something or whether the system does something automatically</a:t>
            </a:r>
          </a:p>
          <a:p>
            <a:endParaRPr lang="en-US" dirty="0"/>
          </a:p>
          <a:p>
            <a:r>
              <a:rPr lang="en-US" dirty="0"/>
              <a:t>Be concise</a:t>
            </a:r>
          </a:p>
          <a:p>
            <a:r>
              <a:rPr lang="en-US" dirty="0"/>
              <a:t>Use verbs rather than nouns</a:t>
            </a:r>
          </a:p>
          <a:p>
            <a:pPr lvl="2"/>
            <a:r>
              <a:rPr lang="en-US" dirty="0"/>
              <a:t>This allows you to transfer the money  vs. This allows the transfer of the money to be performed</a:t>
            </a:r>
          </a:p>
          <a:p>
            <a:pPr lvl="2"/>
            <a:endParaRPr lang="en-US" dirty="0"/>
          </a:p>
          <a:p>
            <a:r>
              <a:rPr lang="en-US" dirty="0"/>
              <a:t>Use adjectives rather than nouns</a:t>
            </a:r>
          </a:p>
          <a:p>
            <a:pPr lvl="2"/>
            <a:r>
              <a:rPr lang="en-US" dirty="0"/>
              <a:t>X is more homogeneous than Y   vs. X has a higher homogeneity with respect to Y.</a:t>
            </a:r>
          </a:p>
          <a:p>
            <a:pPr lvl="2"/>
            <a:endParaRPr lang="en-US" dirty="0"/>
          </a:p>
          <a:p>
            <a:r>
              <a:rPr lang="en-US" dirty="0"/>
              <a:t>Use verbs rather than adjectives that end in –</a:t>
            </a:r>
            <a:r>
              <a:rPr lang="en-US" i="1" dirty="0"/>
              <a:t>able</a:t>
            </a:r>
          </a:p>
          <a:p>
            <a:pPr lvl="1"/>
            <a:r>
              <a:rPr lang="en-US" dirty="0"/>
              <a:t>Download the key from our website. Vs. The key is downloadable from our website.</a:t>
            </a:r>
          </a:p>
        </p:txBody>
      </p:sp>
    </p:spTree>
    <p:extLst>
      <p:ext uri="{BB962C8B-B14F-4D97-AF65-F5344CB8AC3E}">
        <p14:creationId xmlns:p14="http://schemas.microsoft.com/office/powerpoint/2010/main" val="1098258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9700" y="127000"/>
            <a:ext cx="12052300" cy="6731000"/>
          </a:xfrm>
        </p:spPr>
        <p:txBody>
          <a:bodyPr>
            <a:normAutofit/>
          </a:bodyPr>
          <a:lstStyle/>
          <a:p>
            <a:r>
              <a:rPr lang="en-US" dirty="0"/>
              <a:t>Limit yourself to one idea per sentence</a:t>
            </a:r>
          </a:p>
          <a:p>
            <a:r>
              <a:rPr lang="en-US" dirty="0"/>
              <a:t>Avoid long sentences</a:t>
            </a:r>
          </a:p>
          <a:p>
            <a:r>
              <a:rPr lang="en-US" dirty="0"/>
              <a:t>Avoid parenthetical phrases</a:t>
            </a:r>
          </a:p>
          <a:p>
            <a:endParaRPr lang="en-US" dirty="0"/>
          </a:p>
          <a:p>
            <a:r>
              <a:rPr lang="en-US" dirty="0"/>
              <a:t>Key rules for word order</a:t>
            </a:r>
          </a:p>
          <a:p>
            <a:r>
              <a:rPr lang="en-US" dirty="0"/>
              <a:t>Put the most important information at the beginning of the sentence.</a:t>
            </a:r>
          </a:p>
          <a:p>
            <a:r>
              <a:rPr lang="en-US" dirty="0"/>
              <a:t>English word order is strict: 1) subject 2) verb 3) direct object 4) indirect object </a:t>
            </a:r>
          </a:p>
          <a:p>
            <a:endParaRPr lang="en-US" dirty="0"/>
          </a:p>
          <a:p>
            <a:r>
              <a:rPr lang="en-US" dirty="0"/>
              <a:t>All these four elements should go as close as possible to each other.</a:t>
            </a:r>
          </a:p>
          <a:p>
            <a:pPr lvl="1"/>
            <a:r>
              <a:rPr lang="en-US" dirty="0"/>
              <a:t>Adjectives go before nouns. &gt;&gt;&gt; </a:t>
            </a:r>
            <a:r>
              <a:rPr lang="en-US" i="1" dirty="0"/>
              <a:t>difficult questions</a:t>
            </a:r>
          </a:p>
          <a:p>
            <a:pPr lvl="1"/>
            <a:r>
              <a:rPr lang="en-US" dirty="0"/>
              <a:t>Past participles generally go after nouns. &gt;&gt;&gt;&gt; </a:t>
            </a:r>
            <a:r>
              <a:rPr lang="en-US" i="1" dirty="0"/>
              <a:t>data reported</a:t>
            </a:r>
          </a:p>
          <a:p>
            <a:pPr lvl="1"/>
            <a:r>
              <a:rPr lang="en-US" dirty="0"/>
              <a:t>Most adverbs go immediately before main verb. &gt;&gt;&gt; </a:t>
            </a:r>
            <a:r>
              <a:rPr lang="en-US" i="1" dirty="0"/>
              <a:t>I always confuse...</a:t>
            </a:r>
          </a:p>
        </p:txBody>
      </p:sp>
    </p:spTree>
    <p:extLst>
      <p:ext uri="{BB962C8B-B14F-4D97-AF65-F5344CB8AC3E}">
        <p14:creationId xmlns:p14="http://schemas.microsoft.com/office/powerpoint/2010/main" val="965264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a:t>
            </a:r>
          </a:p>
        </p:txBody>
      </p:sp>
      <p:pic>
        <p:nvPicPr>
          <p:cNvPr id="4" name="Picture 3"/>
          <p:cNvPicPr>
            <a:picLocks noChangeAspect="1"/>
          </p:cNvPicPr>
          <p:nvPr/>
        </p:nvPicPr>
        <p:blipFill>
          <a:blip r:embed="rId2"/>
          <a:stretch>
            <a:fillRect/>
          </a:stretch>
        </p:blipFill>
        <p:spPr>
          <a:xfrm>
            <a:off x="4707172" y="5010"/>
            <a:ext cx="7299597" cy="6714980"/>
          </a:xfrm>
          <a:prstGeom prst="rect">
            <a:avLst/>
          </a:prstGeom>
        </p:spPr>
      </p:pic>
    </p:spTree>
    <p:extLst>
      <p:ext uri="{BB962C8B-B14F-4D97-AF65-F5344CB8AC3E}">
        <p14:creationId xmlns:p14="http://schemas.microsoft.com/office/powerpoint/2010/main" val="3563228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a:t>
            </a:r>
          </a:p>
        </p:txBody>
      </p:sp>
      <p:pic>
        <p:nvPicPr>
          <p:cNvPr id="4" name="Picture 3"/>
          <p:cNvPicPr>
            <a:picLocks noChangeAspect="1"/>
          </p:cNvPicPr>
          <p:nvPr/>
        </p:nvPicPr>
        <p:blipFill>
          <a:blip r:embed="rId2"/>
          <a:stretch>
            <a:fillRect/>
          </a:stretch>
        </p:blipFill>
        <p:spPr>
          <a:xfrm>
            <a:off x="3132814" y="84979"/>
            <a:ext cx="8699058" cy="6721999"/>
          </a:xfrm>
          <a:prstGeom prst="rect">
            <a:avLst/>
          </a:prstGeom>
        </p:spPr>
      </p:pic>
    </p:spTree>
    <p:extLst>
      <p:ext uri="{BB962C8B-B14F-4D97-AF65-F5344CB8AC3E}">
        <p14:creationId xmlns:p14="http://schemas.microsoft.com/office/powerpoint/2010/main" val="1332363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666461" cy="1325563"/>
          </a:xfrm>
        </p:spPr>
        <p:txBody>
          <a:bodyPr/>
          <a:lstStyle/>
          <a:p>
            <a:r>
              <a:rPr lang="en-US" dirty="0"/>
              <a:t>Good</a:t>
            </a:r>
          </a:p>
        </p:txBody>
      </p:sp>
      <p:pic>
        <p:nvPicPr>
          <p:cNvPr id="4" name="Picture 3"/>
          <p:cNvPicPr>
            <a:picLocks noChangeAspect="1"/>
          </p:cNvPicPr>
          <p:nvPr/>
        </p:nvPicPr>
        <p:blipFill>
          <a:blip r:embed="rId2"/>
          <a:stretch>
            <a:fillRect/>
          </a:stretch>
        </p:blipFill>
        <p:spPr>
          <a:xfrm>
            <a:off x="3468601" y="1384934"/>
            <a:ext cx="8148752" cy="4411566"/>
          </a:xfrm>
          <a:prstGeom prst="rect">
            <a:avLst/>
          </a:prstGeom>
        </p:spPr>
      </p:pic>
    </p:spTree>
    <p:extLst>
      <p:ext uri="{BB962C8B-B14F-4D97-AF65-F5344CB8AC3E}">
        <p14:creationId xmlns:p14="http://schemas.microsoft.com/office/powerpoint/2010/main" val="4221469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ACEF4-BB3B-8F74-DD8E-E145052D0A21}"/>
              </a:ext>
            </a:extLst>
          </p:cNvPr>
          <p:cNvPicPr>
            <a:picLocks noChangeAspect="1"/>
          </p:cNvPicPr>
          <p:nvPr/>
        </p:nvPicPr>
        <p:blipFill>
          <a:blip r:embed="rId2"/>
          <a:stretch>
            <a:fillRect/>
          </a:stretch>
        </p:blipFill>
        <p:spPr>
          <a:xfrm>
            <a:off x="43730" y="293076"/>
            <a:ext cx="12172414" cy="6307015"/>
          </a:xfrm>
          <a:prstGeom prst="rect">
            <a:avLst/>
          </a:prstGeom>
        </p:spPr>
      </p:pic>
    </p:spTree>
    <p:extLst>
      <p:ext uri="{BB962C8B-B14F-4D97-AF65-F5344CB8AC3E}">
        <p14:creationId xmlns:p14="http://schemas.microsoft.com/office/powerpoint/2010/main" val="1833772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673</TotalTime>
  <Words>1963</Words>
  <Application>Microsoft Office PowerPoint</Application>
  <PresentationFormat>Widescreen</PresentationFormat>
  <Paragraphs>261</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Agfa Rotis Serif</vt:lpstr>
      <vt:lpstr>Arial</vt:lpstr>
      <vt:lpstr>Calibri</vt:lpstr>
      <vt:lpstr>Calibri Light</vt:lpstr>
      <vt:lpstr>Jost</vt:lpstr>
      <vt:lpstr>Office Theme</vt:lpstr>
      <vt:lpstr>ENGR181W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Bad</vt:lpstr>
      <vt:lpstr>Bad</vt:lpstr>
      <vt:lpstr>Good</vt:lpstr>
      <vt:lpstr>PowerPoint Presentation</vt:lpstr>
    </vt:vector>
  </TitlesOfParts>
  <Company>COE Riverside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ENGR181W</dc:title>
  <dc:creator>Tofigh Heidarzadeh</dc:creator>
  <cp:lastModifiedBy>Tofigh Heidarzadeh</cp:lastModifiedBy>
  <cp:revision>53</cp:revision>
  <dcterms:created xsi:type="dcterms:W3CDTF">2020-04-14T22:47:43Z</dcterms:created>
  <dcterms:modified xsi:type="dcterms:W3CDTF">2022-05-13T01:23:20Z</dcterms:modified>
</cp:coreProperties>
</file>