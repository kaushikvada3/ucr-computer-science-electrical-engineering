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Lst>
  <p:notesMasterIdLst>
    <p:notesMasterId r:id="rId31"/>
  </p:notesMasterIdLst>
  <p:handoutMasterIdLst>
    <p:handoutMasterId r:id="rId32"/>
  </p:handoutMasterIdLst>
  <p:sldIdLst>
    <p:sldId id="4743" r:id="rId5"/>
    <p:sldId id="4785" r:id="rId6"/>
    <p:sldId id="398" r:id="rId7"/>
    <p:sldId id="334" r:id="rId8"/>
    <p:sldId id="357" r:id="rId9"/>
    <p:sldId id="383" r:id="rId10"/>
    <p:sldId id="384" r:id="rId11"/>
    <p:sldId id="362" r:id="rId12"/>
    <p:sldId id="356" r:id="rId13"/>
    <p:sldId id="367" r:id="rId14"/>
    <p:sldId id="368" r:id="rId15"/>
    <p:sldId id="373" r:id="rId16"/>
    <p:sldId id="372" r:id="rId17"/>
    <p:sldId id="351" r:id="rId18"/>
    <p:sldId id="369" r:id="rId19"/>
    <p:sldId id="388" r:id="rId20"/>
    <p:sldId id="370" r:id="rId21"/>
    <p:sldId id="395" r:id="rId22"/>
    <p:sldId id="396" r:id="rId23"/>
    <p:sldId id="397" r:id="rId24"/>
    <p:sldId id="375" r:id="rId25"/>
    <p:sldId id="374" r:id="rId26"/>
    <p:sldId id="376" r:id="rId27"/>
    <p:sldId id="389" r:id="rId28"/>
    <p:sldId id="390" r:id="rId29"/>
    <p:sldId id="4788" r:id="rId30"/>
  </p:sldIdLst>
  <p:sldSz cx="12192000" cy="6858000"/>
  <p:notesSz cx="7315200" cy="9601200"/>
  <p:custDataLst>
    <p:tags r:id="rId3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2E91AE04-B0BF-477E-B1F9-6648BD2BA2BC}">
          <p14:sldIdLst>
            <p14:sldId id="4743"/>
            <p14:sldId id="4785"/>
            <p14:sldId id="398"/>
            <p14:sldId id="334"/>
            <p14:sldId id="357"/>
            <p14:sldId id="383"/>
            <p14:sldId id="384"/>
            <p14:sldId id="362"/>
            <p14:sldId id="356"/>
            <p14:sldId id="367"/>
            <p14:sldId id="368"/>
            <p14:sldId id="373"/>
            <p14:sldId id="372"/>
            <p14:sldId id="351"/>
            <p14:sldId id="369"/>
            <p14:sldId id="388"/>
            <p14:sldId id="370"/>
            <p14:sldId id="395"/>
            <p14:sldId id="396"/>
            <p14:sldId id="397"/>
            <p14:sldId id="375"/>
            <p14:sldId id="374"/>
            <p14:sldId id="376"/>
            <p14:sldId id="389"/>
            <p14:sldId id="390"/>
            <p14:sldId id="4788"/>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 id="2" name="Amin Shehata" initials="AS" lastIdx="38" clrIdx="1">
    <p:extLst>
      <p:ext uri="{19B8F6BF-5375-455C-9EA6-DF929625EA0E}">
        <p15:presenceInfo xmlns:p15="http://schemas.microsoft.com/office/powerpoint/2012/main" userId="Amin Shehata" providerId="None"/>
      </p:ext>
    </p:extLst>
  </p:cmAuthor>
  <p:cmAuthor id="3" name="Dave Wilder" initials="DW" lastIdx="35" clrIdx="2">
    <p:extLst>
      <p:ext uri="{19B8F6BF-5375-455C-9EA6-DF929625EA0E}">
        <p15:presenceInfo xmlns:p15="http://schemas.microsoft.com/office/powerpoint/2012/main" userId="S-1-5-21-32445488-941241147-642672607-2681" providerId="AD"/>
      </p:ext>
    </p:extLst>
  </p:cmAuthor>
  <p:cmAuthor id="4" name="Ambili Krishnan" initials="AK" lastIdx="22" clrIdx="3">
    <p:extLst>
      <p:ext uri="{19B8F6BF-5375-455C-9EA6-DF929625EA0E}">
        <p15:presenceInfo xmlns:p15="http://schemas.microsoft.com/office/powerpoint/2012/main" userId="S::ambili@synopsys.com::bb3c5c2a-ef38-48cf-9ea5-c63fe9735d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a:srgbClr val="D723BD"/>
    <a:srgbClr val="C1C6CC"/>
    <a:srgbClr val="5A84FF"/>
    <a:srgbClr val="BDBDBD"/>
    <a:srgbClr val="5858FF"/>
    <a:srgbClr val="BBCDEC"/>
    <a:srgbClr val="000066"/>
    <a:srgbClr val="FFFFFF"/>
    <a:srgbClr val="95D6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668DCF-FF6C-4D06-9342-0815C2695618}" v="3" dt="2025-07-31T12:26:06.9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34" autoAdjust="0"/>
    <p:restoredTop sz="92009" autoAdjust="0"/>
  </p:normalViewPr>
  <p:slideViewPr>
    <p:cSldViewPr snapToGrid="0">
      <p:cViewPr varScale="1">
        <p:scale>
          <a:sx n="107" d="100"/>
          <a:sy n="107" d="100"/>
        </p:scale>
        <p:origin x="528" y="84"/>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gs" Target="tags/tag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e Lazaryan" userId="edf0a458-438d-4fc2-9f33-24202edc9cc9" providerId="ADAL" clId="{C61AED36-23C5-4156-83B6-F5D752AAE414}"/>
    <pc:docChg chg="modMainMaster modNotesMaster">
      <pc:chgData name="Nane Lazaryan" userId="edf0a458-438d-4fc2-9f33-24202edc9cc9" providerId="ADAL" clId="{C61AED36-23C5-4156-83B6-F5D752AAE414}" dt="2025-05-23T10:13:09.347" v="0"/>
      <pc:docMkLst>
        <pc:docMk/>
      </pc:docMkLst>
      <pc:sldMasterChg chg="modSp">
        <pc:chgData name="Nane Lazaryan" userId="edf0a458-438d-4fc2-9f33-24202edc9cc9" providerId="ADAL" clId="{C61AED36-23C5-4156-83B6-F5D752AAE414}" dt="2025-05-23T10:13:09.347" v="0"/>
        <pc:sldMasterMkLst>
          <pc:docMk/>
          <pc:sldMasterMk cId="1599936984" sldId="2147483728"/>
        </pc:sldMasterMkLst>
        <pc:spChg chg="mod">
          <ac:chgData name="Nane Lazaryan" userId="edf0a458-438d-4fc2-9f33-24202edc9cc9" providerId="ADAL" clId="{C61AED36-23C5-4156-83B6-F5D752AAE414}" dt="2025-05-23T10:13:09.347" v="0"/>
          <ac:spMkLst>
            <pc:docMk/>
            <pc:sldMasterMk cId="1599936984" sldId="2147483728"/>
            <ac:spMk id="10" creationId="{0E3FE523-B587-4715-8B86-1BEC0FA2C878}"/>
          </ac:spMkLst>
        </pc:spChg>
      </pc:sldMasterChg>
    </pc:docChg>
  </pc:docChgLst>
  <pc:docChgLst>
    <pc:chgData name="Nane Lazaryan" userId="edf0a458-438d-4fc2-9f33-24202edc9cc9" providerId="ADAL" clId="{4F668DCF-FF6C-4D06-9342-0815C2695618}"/>
    <pc:docChg chg="undo custSel modSld">
      <pc:chgData name="Nane Lazaryan" userId="edf0a458-438d-4fc2-9f33-24202edc9cc9" providerId="ADAL" clId="{4F668DCF-FF6C-4D06-9342-0815C2695618}" dt="2025-07-31T12:26:18.333" v="12" actId="5793"/>
      <pc:docMkLst>
        <pc:docMk/>
      </pc:docMkLst>
      <pc:sldChg chg="modSp mod">
        <pc:chgData name="Nane Lazaryan" userId="edf0a458-438d-4fc2-9f33-24202edc9cc9" providerId="ADAL" clId="{4F668DCF-FF6C-4D06-9342-0815C2695618}" dt="2025-07-31T12:24:45.775" v="0" actId="1076"/>
        <pc:sldMkLst>
          <pc:docMk/>
          <pc:sldMk cId="0" sldId="362"/>
        </pc:sldMkLst>
        <pc:spChg chg="mod">
          <ac:chgData name="Nane Lazaryan" userId="edf0a458-438d-4fc2-9f33-24202edc9cc9" providerId="ADAL" clId="{4F668DCF-FF6C-4D06-9342-0815C2695618}" dt="2025-07-31T12:24:45.775" v="0" actId="1076"/>
          <ac:spMkLst>
            <pc:docMk/>
            <pc:sldMk cId="0" sldId="362"/>
            <ac:spMk id="16388" creationId="{4E9289B9-103A-4AF6-A60C-156CA7C08243}"/>
          </ac:spMkLst>
        </pc:spChg>
      </pc:sldChg>
      <pc:sldChg chg="modSp mod">
        <pc:chgData name="Nane Lazaryan" userId="edf0a458-438d-4fc2-9f33-24202edc9cc9" providerId="ADAL" clId="{4F668DCF-FF6C-4D06-9342-0815C2695618}" dt="2025-07-31T12:25:00.778" v="3" actId="1076"/>
        <pc:sldMkLst>
          <pc:docMk/>
          <pc:sldMk cId="0" sldId="368"/>
        </pc:sldMkLst>
        <pc:spChg chg="mod">
          <ac:chgData name="Nane Lazaryan" userId="edf0a458-438d-4fc2-9f33-24202edc9cc9" providerId="ADAL" clId="{4F668DCF-FF6C-4D06-9342-0815C2695618}" dt="2025-07-31T12:25:00.778" v="3" actId="1076"/>
          <ac:spMkLst>
            <pc:docMk/>
            <pc:sldMk cId="0" sldId="368"/>
            <ac:spMk id="4" creationId="{4D0DEFC7-7436-4058-849E-572A14ADE6E5}"/>
          </ac:spMkLst>
        </pc:spChg>
      </pc:sldChg>
      <pc:sldChg chg="modSp mod">
        <pc:chgData name="Nane Lazaryan" userId="edf0a458-438d-4fc2-9f33-24202edc9cc9" providerId="ADAL" clId="{4F668DCF-FF6C-4D06-9342-0815C2695618}" dt="2025-07-31T12:25:51.980" v="9" actId="403"/>
        <pc:sldMkLst>
          <pc:docMk/>
          <pc:sldMk cId="0" sldId="372"/>
        </pc:sldMkLst>
        <pc:spChg chg="mod">
          <ac:chgData name="Nane Lazaryan" userId="edf0a458-438d-4fc2-9f33-24202edc9cc9" providerId="ADAL" clId="{4F668DCF-FF6C-4D06-9342-0815C2695618}" dt="2025-07-31T12:25:51.980" v="9" actId="403"/>
          <ac:spMkLst>
            <pc:docMk/>
            <pc:sldMk cId="0" sldId="372"/>
            <ac:spMk id="22531" creationId="{ECE46ECB-D4B4-4DB2-A20A-8E5C89DF48DC}"/>
          </ac:spMkLst>
        </pc:spChg>
      </pc:sldChg>
      <pc:sldChg chg="modSp mod">
        <pc:chgData name="Nane Lazaryan" userId="edf0a458-438d-4fc2-9f33-24202edc9cc9" providerId="ADAL" clId="{4F668DCF-FF6C-4D06-9342-0815C2695618}" dt="2025-07-31T12:25:37.204" v="7" actId="1076"/>
        <pc:sldMkLst>
          <pc:docMk/>
          <pc:sldMk cId="0" sldId="373"/>
        </pc:sldMkLst>
        <pc:spChg chg="mod">
          <ac:chgData name="Nane Lazaryan" userId="edf0a458-438d-4fc2-9f33-24202edc9cc9" providerId="ADAL" clId="{4F668DCF-FF6C-4D06-9342-0815C2695618}" dt="2025-07-31T12:25:37.204" v="7" actId="1076"/>
          <ac:spMkLst>
            <pc:docMk/>
            <pc:sldMk cId="0" sldId="373"/>
            <ac:spMk id="212" creationId="{A014FF4E-1F0E-415B-B15A-1318754420E2}"/>
          </ac:spMkLst>
        </pc:spChg>
        <pc:spChg chg="mod">
          <ac:chgData name="Nane Lazaryan" userId="edf0a458-438d-4fc2-9f33-24202edc9cc9" providerId="ADAL" clId="{4F668DCF-FF6C-4D06-9342-0815C2695618}" dt="2025-07-31T12:25:37.204" v="7" actId="1076"/>
          <ac:spMkLst>
            <pc:docMk/>
            <pc:sldMk cId="0" sldId="373"/>
            <ac:spMk id="21571" creationId="{AE63CA72-C68A-438D-B249-84ADEDF90E53}"/>
          </ac:spMkLst>
        </pc:spChg>
        <pc:spChg chg="mod">
          <ac:chgData name="Nane Lazaryan" userId="edf0a458-438d-4fc2-9f33-24202edc9cc9" providerId="ADAL" clId="{4F668DCF-FF6C-4D06-9342-0815C2695618}" dt="2025-07-31T12:25:37.204" v="7" actId="1076"/>
          <ac:spMkLst>
            <pc:docMk/>
            <pc:sldMk cId="0" sldId="373"/>
            <ac:spMk id="21582" creationId="{4ACBF180-DF85-44A4-A3DF-F0954168CA37}"/>
          </ac:spMkLst>
        </pc:spChg>
        <pc:spChg chg="mod">
          <ac:chgData name="Nane Lazaryan" userId="edf0a458-438d-4fc2-9f33-24202edc9cc9" providerId="ADAL" clId="{4F668DCF-FF6C-4D06-9342-0815C2695618}" dt="2025-07-31T12:25:37.204" v="7" actId="1076"/>
          <ac:spMkLst>
            <pc:docMk/>
            <pc:sldMk cId="0" sldId="373"/>
            <ac:spMk id="21591" creationId="{B1E9DB3B-DE15-4BF2-BDD0-B84C15D97377}"/>
          </ac:spMkLst>
        </pc:spChg>
        <pc:spChg chg="mod">
          <ac:chgData name="Nane Lazaryan" userId="edf0a458-438d-4fc2-9f33-24202edc9cc9" providerId="ADAL" clId="{4F668DCF-FF6C-4D06-9342-0815C2695618}" dt="2025-07-31T12:25:37.204" v="7" actId="1076"/>
          <ac:spMkLst>
            <pc:docMk/>
            <pc:sldMk cId="0" sldId="373"/>
            <ac:spMk id="21605" creationId="{422D1AD7-5C3B-4ABF-97AA-40A11CF18397}"/>
          </ac:spMkLst>
        </pc:spChg>
        <pc:spChg chg="mod">
          <ac:chgData name="Nane Lazaryan" userId="edf0a458-438d-4fc2-9f33-24202edc9cc9" providerId="ADAL" clId="{4F668DCF-FF6C-4D06-9342-0815C2695618}" dt="2025-07-31T12:25:37.204" v="7" actId="1076"/>
          <ac:spMkLst>
            <pc:docMk/>
            <pc:sldMk cId="0" sldId="373"/>
            <ac:spMk id="21617" creationId="{A79D7B18-2707-41E9-B584-02ED2D48AB20}"/>
          </ac:spMkLst>
        </pc:spChg>
        <pc:spChg chg="mod">
          <ac:chgData name="Nane Lazaryan" userId="edf0a458-438d-4fc2-9f33-24202edc9cc9" providerId="ADAL" clId="{4F668DCF-FF6C-4D06-9342-0815C2695618}" dt="2025-07-31T12:25:37.204" v="7" actId="1076"/>
          <ac:spMkLst>
            <pc:docMk/>
            <pc:sldMk cId="0" sldId="373"/>
            <ac:spMk id="21619" creationId="{FCB66EE9-6C42-436B-9BA7-D1C7078927CA}"/>
          </ac:spMkLst>
        </pc:spChg>
        <pc:spChg chg="mod">
          <ac:chgData name="Nane Lazaryan" userId="edf0a458-438d-4fc2-9f33-24202edc9cc9" providerId="ADAL" clId="{4F668DCF-FF6C-4D06-9342-0815C2695618}" dt="2025-07-31T12:25:37.204" v="7" actId="1076"/>
          <ac:spMkLst>
            <pc:docMk/>
            <pc:sldMk cId="0" sldId="373"/>
            <ac:spMk id="21625" creationId="{3E12B288-92BB-4536-819F-1DDC97F7B83F}"/>
          </ac:spMkLst>
        </pc:spChg>
        <pc:spChg chg="mod">
          <ac:chgData name="Nane Lazaryan" userId="edf0a458-438d-4fc2-9f33-24202edc9cc9" providerId="ADAL" clId="{4F668DCF-FF6C-4D06-9342-0815C2695618}" dt="2025-07-31T12:25:37.204" v="7" actId="1076"/>
          <ac:spMkLst>
            <pc:docMk/>
            <pc:sldMk cId="0" sldId="373"/>
            <ac:spMk id="21626" creationId="{A7071FEE-BE6E-425B-A586-E30479B2B8C3}"/>
          </ac:spMkLst>
        </pc:spChg>
        <pc:spChg chg="mod">
          <ac:chgData name="Nane Lazaryan" userId="edf0a458-438d-4fc2-9f33-24202edc9cc9" providerId="ADAL" clId="{4F668DCF-FF6C-4D06-9342-0815C2695618}" dt="2025-07-31T12:25:37.204" v="7" actId="1076"/>
          <ac:spMkLst>
            <pc:docMk/>
            <pc:sldMk cId="0" sldId="373"/>
            <ac:spMk id="21629" creationId="{44A4ED1E-733E-44D2-A2D4-F6CAF531196B}"/>
          </ac:spMkLst>
        </pc:spChg>
        <pc:graphicFrameChg chg="mod">
          <ac:chgData name="Nane Lazaryan" userId="edf0a458-438d-4fc2-9f33-24202edc9cc9" providerId="ADAL" clId="{4F668DCF-FF6C-4D06-9342-0815C2695618}" dt="2025-07-31T12:25:18.082" v="5" actId="1076"/>
          <ac:graphicFrameMkLst>
            <pc:docMk/>
            <pc:sldMk cId="0" sldId="373"/>
            <ac:graphicFrameMk id="8" creationId="{7488D5D0-6023-4C08-A94C-28D9404F69FC}"/>
          </ac:graphicFrameMkLst>
        </pc:graphicFrameChg>
      </pc:sldChg>
      <pc:sldChg chg="modSp mod">
        <pc:chgData name="Nane Lazaryan" userId="edf0a458-438d-4fc2-9f33-24202edc9cc9" providerId="ADAL" clId="{4F668DCF-FF6C-4D06-9342-0815C2695618}" dt="2025-07-31T12:26:18.333" v="12" actId="5793"/>
        <pc:sldMkLst>
          <pc:docMk/>
          <pc:sldMk cId="0" sldId="376"/>
        </pc:sldMkLst>
        <pc:spChg chg="mod">
          <ac:chgData name="Nane Lazaryan" userId="edf0a458-438d-4fc2-9f33-24202edc9cc9" providerId="ADAL" clId="{4F668DCF-FF6C-4D06-9342-0815C2695618}" dt="2025-07-31T12:26:18.333" v="12" actId="5793"/>
          <ac:spMkLst>
            <pc:docMk/>
            <pc:sldMk cId="0" sldId="376"/>
            <ac:spMk id="3" creationId="{5B511735-CCF6-4E03-B728-5224E790F950}"/>
          </ac:spMkLst>
        </pc:spChg>
      </pc:sldChg>
      <pc:sldChg chg="modSp">
        <pc:chgData name="Nane Lazaryan" userId="edf0a458-438d-4fc2-9f33-24202edc9cc9" providerId="ADAL" clId="{4F668DCF-FF6C-4D06-9342-0815C2695618}" dt="2025-07-31T12:26:06.935" v="10" actId="1076"/>
        <pc:sldMkLst>
          <pc:docMk/>
          <pc:sldMk cId="0" sldId="395"/>
        </pc:sldMkLst>
        <pc:spChg chg="mod">
          <ac:chgData name="Nane Lazaryan" userId="edf0a458-438d-4fc2-9f33-24202edc9cc9" providerId="ADAL" clId="{4F668DCF-FF6C-4D06-9342-0815C2695618}" dt="2025-07-31T12:26:06.935" v="10" actId="1076"/>
          <ac:spMkLst>
            <pc:docMk/>
            <pc:sldMk cId="0" sldId="395"/>
            <ac:spMk id="129" creationId="{DBAD48EC-0E32-427B-A504-4C3F26A5CB8C}"/>
          </ac:spMkLst>
        </pc:spChg>
        <pc:spChg chg="mod">
          <ac:chgData name="Nane Lazaryan" userId="edf0a458-438d-4fc2-9f33-24202edc9cc9" providerId="ADAL" clId="{4F668DCF-FF6C-4D06-9342-0815C2695618}" dt="2025-07-31T12:26:06.935" v="10" actId="1076"/>
          <ac:spMkLst>
            <pc:docMk/>
            <pc:sldMk cId="0" sldId="395"/>
            <ac:spMk id="130" creationId="{51C98F81-C462-4354-A4A3-B11570FCF29A}"/>
          </ac:spMkLst>
        </pc:spChg>
        <pc:spChg chg="mod">
          <ac:chgData name="Nane Lazaryan" userId="edf0a458-438d-4fc2-9f33-24202edc9cc9" providerId="ADAL" clId="{4F668DCF-FF6C-4D06-9342-0815C2695618}" dt="2025-07-31T12:26:06.935" v="10" actId="1076"/>
          <ac:spMkLst>
            <pc:docMk/>
            <pc:sldMk cId="0" sldId="395"/>
            <ac:spMk id="132" creationId="{357456F2-FB74-4ECC-A52E-736B45441C09}"/>
          </ac:spMkLst>
        </pc:spChg>
        <pc:spChg chg="mod">
          <ac:chgData name="Nane Lazaryan" userId="edf0a458-438d-4fc2-9f33-24202edc9cc9" providerId="ADAL" clId="{4F668DCF-FF6C-4D06-9342-0815C2695618}" dt="2025-07-31T12:26:06.935" v="10" actId="1076"/>
          <ac:spMkLst>
            <pc:docMk/>
            <pc:sldMk cId="0" sldId="395"/>
            <ac:spMk id="143" creationId="{34C92690-5C2F-4B8F-9D95-16F682334569}"/>
          </ac:spMkLst>
        </pc:spChg>
        <pc:spChg chg="mod">
          <ac:chgData name="Nane Lazaryan" userId="edf0a458-438d-4fc2-9f33-24202edc9cc9" providerId="ADAL" clId="{4F668DCF-FF6C-4D06-9342-0815C2695618}" dt="2025-07-31T12:26:06.935" v="10" actId="1076"/>
          <ac:spMkLst>
            <pc:docMk/>
            <pc:sldMk cId="0" sldId="395"/>
            <ac:spMk id="144" creationId="{A7625A78-8E31-4781-A5B6-62362DAD4D22}"/>
          </ac:spMkLst>
        </pc:spChg>
        <pc:spChg chg="mod">
          <ac:chgData name="Nane Lazaryan" userId="edf0a458-438d-4fc2-9f33-24202edc9cc9" providerId="ADAL" clId="{4F668DCF-FF6C-4D06-9342-0815C2695618}" dt="2025-07-31T12:26:06.935" v="10" actId="1076"/>
          <ac:spMkLst>
            <pc:docMk/>
            <pc:sldMk cId="0" sldId="395"/>
            <ac:spMk id="146" creationId="{9E6199CD-5FBE-4D81-98B2-3E21AFE3D834}"/>
          </ac:spMkLst>
        </pc:spChg>
        <pc:spChg chg="mod">
          <ac:chgData name="Nane Lazaryan" userId="edf0a458-438d-4fc2-9f33-24202edc9cc9" providerId="ADAL" clId="{4F668DCF-FF6C-4D06-9342-0815C2695618}" dt="2025-07-31T12:26:06.935" v="10" actId="1076"/>
          <ac:spMkLst>
            <pc:docMk/>
            <pc:sldMk cId="0" sldId="395"/>
            <ac:spMk id="170" creationId="{5CB07667-05CB-4CD4-9499-86F17A64C65C}"/>
          </ac:spMkLst>
        </pc:spChg>
        <pc:spChg chg="mod">
          <ac:chgData name="Nane Lazaryan" userId="edf0a458-438d-4fc2-9f33-24202edc9cc9" providerId="ADAL" clId="{4F668DCF-FF6C-4D06-9342-0815C2695618}" dt="2025-07-31T12:26:06.935" v="10" actId="1076"/>
          <ac:spMkLst>
            <pc:docMk/>
            <pc:sldMk cId="0" sldId="395"/>
            <ac:spMk id="172" creationId="{A1C2D8CE-EAC8-48B3-820B-89C1F4C26298}"/>
          </ac:spMkLst>
        </pc:spChg>
        <pc:spChg chg="mod">
          <ac:chgData name="Nane Lazaryan" userId="edf0a458-438d-4fc2-9f33-24202edc9cc9" providerId="ADAL" clId="{4F668DCF-FF6C-4D06-9342-0815C2695618}" dt="2025-07-31T12:26:06.935" v="10" actId="1076"/>
          <ac:spMkLst>
            <pc:docMk/>
            <pc:sldMk cId="0" sldId="395"/>
            <ac:spMk id="28715" creationId="{77B7D8A5-4402-4317-8048-77E980F97BB7}"/>
          </ac:spMkLst>
        </pc:spChg>
        <pc:spChg chg="mod">
          <ac:chgData name="Nane Lazaryan" userId="edf0a458-438d-4fc2-9f33-24202edc9cc9" providerId="ADAL" clId="{4F668DCF-FF6C-4D06-9342-0815C2695618}" dt="2025-07-31T12:26:06.935" v="10" actId="1076"/>
          <ac:spMkLst>
            <pc:docMk/>
            <pc:sldMk cId="0" sldId="395"/>
            <ac:spMk id="28720" creationId="{763403DA-70B1-4E04-8CAC-F2380CB6764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9EBCFA-0CE2-4A89-8946-0F5E3E710EF2}"/>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a:p>
        </p:txBody>
      </p:sp>
      <p:sp>
        <p:nvSpPr>
          <p:cNvPr id="3" name="Date Placeholder 2">
            <a:extLst>
              <a:ext uri="{FF2B5EF4-FFF2-40B4-BE49-F238E27FC236}">
                <a16:creationId xmlns:a16="http://schemas.microsoft.com/office/drawing/2014/main" id="{502777A9-7004-4E6A-A966-7A45A8D16AA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31B2B96-935C-4E33-8AB6-12B49957FB30}" type="datetimeFigureOut">
              <a:rPr lang="en-US"/>
              <a:t>7/31/2025</a:t>
            </a:fld>
            <a:endParaRPr/>
          </a:p>
        </p:txBody>
      </p:sp>
      <p:sp>
        <p:nvSpPr>
          <p:cNvPr id="4" name="Footer Placeholder 3">
            <a:extLst>
              <a:ext uri="{FF2B5EF4-FFF2-40B4-BE49-F238E27FC236}">
                <a16:creationId xmlns:a16="http://schemas.microsoft.com/office/drawing/2014/main" id="{B4243AFB-A93F-41E6-B3FD-EE51F24745B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a:p>
        </p:txBody>
      </p:sp>
      <p:sp>
        <p:nvSpPr>
          <p:cNvPr id="5" name="Slide Number Placeholder 4">
            <a:extLst>
              <a:ext uri="{FF2B5EF4-FFF2-40B4-BE49-F238E27FC236}">
                <a16:creationId xmlns:a16="http://schemas.microsoft.com/office/drawing/2014/main" id="{5244E995-49EF-4046-B58E-C57E1A05DC7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8D03C2E-0CD0-4868-B096-48302A79D453}" type="slidenum">
              <a:rPr/>
              <a:t>‹#›</a:t>
            </a:fld>
            <a:endParaRPr/>
          </a:p>
        </p:txBody>
      </p:sp>
    </p:spTree>
    <p:extLst>
      <p:ext uri="{BB962C8B-B14F-4D97-AF65-F5344CB8AC3E}">
        <p14:creationId xmlns:p14="http://schemas.microsoft.com/office/powerpoint/2010/main" val="3132870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9400" y="327025"/>
            <a:ext cx="6742113" cy="3792538"/>
          </a:xfrm>
          <a:prstGeom prst="rect">
            <a:avLst/>
          </a:prstGeom>
          <a:noFill/>
          <a:ln w="12700">
            <a:solidFill>
              <a:prstClr val="black"/>
            </a:solidFill>
          </a:ln>
        </p:spPr>
        <p:txBody>
          <a:bodyPr vert="horz" lIns="96661" tIns="48331" rIns="96661" bIns="48331" rtlCol="0" anchor="ctr"/>
          <a:lstStyle/>
          <a:p>
            <a:endParaRPr/>
          </a:p>
        </p:txBody>
      </p:sp>
      <p:sp>
        <p:nvSpPr>
          <p:cNvPr id="5" name="Notes Placeholder 4"/>
          <p:cNvSpPr>
            <a:spLocks noGrp="1"/>
          </p:cNvSpPr>
          <p:nvPr>
            <p:ph type="body" sz="quarter" idx="3"/>
          </p:nvPr>
        </p:nvSpPr>
        <p:spPr>
          <a:xfrm>
            <a:off x="225715" y="4315177"/>
            <a:ext cx="6846999" cy="466618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a:p>
            <a:pPr lvl="0"/>
            <a:endParaRPr lang="en-US"/>
          </a:p>
          <a:p>
            <a:pPr lvl="0"/>
            <a:endParaRPr lang="en-US"/>
          </a:p>
        </p:txBody>
      </p:sp>
      <p:sp>
        <p:nvSpPr>
          <p:cNvPr id="8" name="notes_unit_title">
            <a:extLst>
              <a:ext uri="{FF2B5EF4-FFF2-40B4-BE49-F238E27FC236}">
                <a16:creationId xmlns:a16="http://schemas.microsoft.com/office/drawing/2014/main" id="{BF1565B2-EFDA-4D78-9A32-3760AD7AF946}"/>
              </a:ext>
            </a:extLst>
          </p:cNvPr>
          <p:cNvSpPr>
            <a:spLocks noChangeArrowheads="1"/>
          </p:cNvSpPr>
          <p:nvPr/>
        </p:nvSpPr>
        <p:spPr bwMode="gray">
          <a:xfrm>
            <a:off x="293285" y="9140343"/>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Unit title</a:t>
            </a:r>
          </a:p>
        </p:txBody>
      </p:sp>
      <p:sp>
        <p:nvSpPr>
          <p:cNvPr id="9" name="notes_workshop_title">
            <a:extLst>
              <a:ext uri="{FF2B5EF4-FFF2-40B4-BE49-F238E27FC236}">
                <a16:creationId xmlns:a16="http://schemas.microsoft.com/office/drawing/2014/main" id="{2A452E3B-38D4-40AE-A9FD-30C3D81F3CDC}"/>
              </a:ext>
            </a:extLst>
          </p:cNvPr>
          <p:cNvSpPr>
            <a:spLocks noChangeArrowheads="1"/>
          </p:cNvSpPr>
          <p:nvPr/>
        </p:nvSpPr>
        <p:spPr bwMode="gray">
          <a:xfrm>
            <a:off x="293285" y="9265158"/>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Workshop title</a:t>
            </a:r>
          </a:p>
        </p:txBody>
      </p:sp>
      <p:sp>
        <p:nvSpPr>
          <p:cNvPr id="10" name="notes_unit_page_number">
            <a:extLst>
              <a:ext uri="{FF2B5EF4-FFF2-40B4-BE49-F238E27FC236}">
                <a16:creationId xmlns:a16="http://schemas.microsoft.com/office/drawing/2014/main" id="{036567A9-5248-4D6A-8C65-ED5DE88488E4}"/>
              </a:ext>
            </a:extLst>
          </p:cNvPr>
          <p:cNvSpPr>
            <a:spLocks noChangeArrowheads="1"/>
          </p:cNvSpPr>
          <p:nvPr/>
        </p:nvSpPr>
        <p:spPr bwMode="gray">
          <a:xfrm>
            <a:off x="6480274" y="9140342"/>
            <a:ext cx="592441" cy="138499"/>
          </a:xfrm>
          <a:prstGeom prst="rect">
            <a:avLst/>
          </a:prstGeom>
          <a:noFill/>
          <a:ln w="9525">
            <a:noFill/>
            <a:miter lim="800000"/>
            <a:headEnd/>
            <a:tailEnd/>
          </a:ln>
          <a:effectLst/>
        </p:spPr>
        <p:txBody>
          <a:bodyPr lIns="0" tIns="0" rIns="0" bIns="0">
            <a:spAutoFit/>
          </a:bodyPr>
          <a:lstStyle/>
          <a:p>
            <a:pPr algn="r" defTabSz="1060742" eaLnBrk="0" hangingPunct="0">
              <a:lnSpc>
                <a:spcPct val="90000"/>
              </a:lnSpc>
              <a:defRPr/>
            </a:pPr>
            <a:r>
              <a:rPr lang="en-US" sz="1000" b="1">
                <a:latin typeface="Arial" charset="0"/>
              </a:rPr>
              <a:t>1-</a:t>
            </a:r>
            <a:fld id="{13D6D896-D121-42C7-B389-8F9FEF1461E0}" type="slidenum">
              <a:rPr lang="en-US" sz="1000" b="1" smtClean="0">
                <a:latin typeface="Arial" charset="0"/>
              </a:rPr>
              <a:t>‹#›</a:t>
            </a:fld>
            <a:endParaRPr lang="en-US" sz="1000" b="1">
              <a:latin typeface="Arial" charset="0"/>
            </a:endParaRPr>
          </a:p>
        </p:txBody>
      </p:sp>
      <p:sp>
        <p:nvSpPr>
          <p:cNvPr id="11" name="Line 11">
            <a:extLst>
              <a:ext uri="{FF2B5EF4-FFF2-40B4-BE49-F238E27FC236}">
                <a16:creationId xmlns:a16="http://schemas.microsoft.com/office/drawing/2014/main" id="{77C40210-7C96-4CF9-9F94-A59F3234DF97}"/>
              </a:ext>
            </a:extLst>
          </p:cNvPr>
          <p:cNvSpPr>
            <a:spLocks noChangeShapeType="1"/>
          </p:cNvSpPr>
          <p:nvPr/>
        </p:nvSpPr>
        <p:spPr bwMode="gray">
          <a:xfrm>
            <a:off x="246097" y="9101938"/>
            <a:ext cx="6826618" cy="0"/>
          </a:xfrm>
          <a:prstGeom prst="line">
            <a:avLst/>
          </a:prstGeom>
          <a:noFill/>
          <a:ln w="19050">
            <a:solidFill>
              <a:schemeClr val="bg1">
                <a:lumMod val="75000"/>
              </a:schemeClr>
            </a:solidFill>
            <a:round/>
            <a:headEnd/>
            <a:tailEnd/>
          </a:ln>
          <a:effectLst/>
        </p:spPr>
        <p:txBody>
          <a:bodyPr lIns="102172" tIns="51086" rIns="102172" bIns="51086"/>
          <a:lstStyle/>
          <a:p>
            <a:pPr>
              <a:defRPr/>
            </a:pPr>
            <a:endParaRPr lang="en-US"/>
          </a:p>
        </p:txBody>
      </p:sp>
      <p:sp>
        <p:nvSpPr>
          <p:cNvPr id="12" name="copyright">
            <a:extLst>
              <a:ext uri="{FF2B5EF4-FFF2-40B4-BE49-F238E27FC236}">
                <a16:creationId xmlns:a16="http://schemas.microsoft.com/office/drawing/2014/main" id="{000BB72C-3C16-4EE4-8D76-4BE725F6A697}"/>
              </a:ext>
            </a:extLst>
          </p:cNvPr>
          <p:cNvSpPr txBox="1">
            <a:spLocks noChangeArrowheads="1"/>
          </p:cNvSpPr>
          <p:nvPr/>
        </p:nvSpPr>
        <p:spPr bwMode="auto">
          <a:xfrm>
            <a:off x="2729576" y="9140343"/>
            <a:ext cx="2232097" cy="123111"/>
          </a:xfrm>
          <a:prstGeom prst="rect">
            <a:avLst/>
          </a:prstGeom>
          <a:noFill/>
          <a:ln w="28575">
            <a:noFill/>
            <a:miter lim="800000"/>
            <a:headEnd/>
            <a:tailEnd/>
          </a:ln>
          <a:effectLst/>
        </p:spPr>
        <p:txBody>
          <a:bodyPr wrap="square" lIns="0" tIns="0" rIns="0" bIns="0">
            <a:spAutoFit/>
          </a:bodyPr>
          <a:lstStyle/>
          <a:p>
            <a:pPr algn="ctr" eaLnBrk="0" hangingPunct="0">
              <a:spcBef>
                <a:spcPct val="50000"/>
              </a:spcBef>
              <a:defRPr/>
            </a:pPr>
            <a:r>
              <a:rPr lang="en-US" sz="800" kern="1200" dirty="0">
                <a:solidFill>
                  <a:schemeClr val="tx1"/>
                </a:solidFill>
                <a:effectLst/>
                <a:latin typeface="Arial" pitchFamily="34" charset="0"/>
                <a:ea typeface="+mn-ea"/>
                <a:cs typeface="Arial" pitchFamily="34" charset="0"/>
              </a:rPr>
              <a:t>©2025 Synopsys, Inc. All Rights Reserved.</a:t>
            </a:r>
            <a:endParaRPr lang="en-US" sz="800" b="1" dirty="0">
              <a:latin typeface="Arial" pitchFamily="34" charset="0"/>
              <a:cs typeface="Arial" pitchFamily="34" charset="0"/>
            </a:endParaRPr>
          </a:p>
        </p:txBody>
      </p:sp>
    </p:spTree>
    <p:extLst>
      <p:ext uri="{BB962C8B-B14F-4D97-AF65-F5344CB8AC3E}">
        <p14:creationId xmlns:p14="http://schemas.microsoft.com/office/powerpoint/2010/main" val="2406359760"/>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mn-lt"/>
        <a:ea typeface="+mn-ea"/>
        <a:cs typeface="+mn-cs"/>
      </a:defRPr>
    </a:lvl1pPr>
    <a:lvl2pPr marL="182880" algn="l" defTabSz="914400" rtl="0" eaLnBrk="1" latinLnBrk="0" hangingPunct="1">
      <a:defRPr sz="1000" kern="1200">
        <a:solidFill>
          <a:schemeClr val="tx1"/>
        </a:solidFill>
        <a:latin typeface="+mn-lt"/>
        <a:ea typeface="+mn-ea"/>
        <a:cs typeface="+mn-cs"/>
      </a:defRPr>
    </a:lvl2pPr>
    <a:lvl3pPr marL="365760" algn="l" defTabSz="914400" rtl="0" eaLnBrk="1" latinLnBrk="0" hangingPunct="1">
      <a:defRPr sz="1000" kern="1200">
        <a:solidFill>
          <a:schemeClr val="tx1"/>
        </a:solidFill>
        <a:latin typeface="+mn-lt"/>
        <a:ea typeface="+mn-ea"/>
        <a:cs typeface="+mn-cs"/>
      </a:defRPr>
    </a:lvl3pPr>
    <a:lvl4pPr marL="548640" algn="l" defTabSz="914400" rtl="0" eaLnBrk="1" latinLnBrk="0" hangingPunct="1">
      <a:defRPr sz="1000" kern="1200">
        <a:solidFill>
          <a:schemeClr val="tx1"/>
        </a:solidFill>
        <a:latin typeface="+mn-lt"/>
        <a:ea typeface="+mn-ea"/>
        <a:cs typeface="+mn-cs"/>
      </a:defRPr>
    </a:lvl4pPr>
    <a:lvl5pPr marL="73152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327025"/>
            <a:ext cx="6742113" cy="3792538"/>
          </a:xfrm>
        </p:spPr>
      </p:sp>
      <p:sp>
        <p:nvSpPr>
          <p:cNvPr id="3" name="Notes Placeholder 2"/>
          <p:cNvSpPr>
            <a:spLocks noGrp="1"/>
          </p:cNvSpPr>
          <p:nvPr>
            <p:ph type="body" idx="1"/>
          </p:nvPr>
        </p:nvSpPr>
        <p:spPr>
          <a:xfrm>
            <a:off x="225715" y="4315177"/>
            <a:ext cx="6846999" cy="4666183"/>
          </a:xfrm>
        </p:spPr>
        <p:txBody>
          <a:bodyPr/>
          <a:lstStyle/>
          <a:p>
            <a:endParaRPr lang="en-US"/>
          </a:p>
        </p:txBody>
      </p:sp>
    </p:spTree>
    <p:extLst>
      <p:ext uri="{BB962C8B-B14F-4D97-AF65-F5344CB8AC3E}">
        <p14:creationId xmlns:p14="http://schemas.microsoft.com/office/powerpoint/2010/main" val="219519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B5A06B52-6086-4709-919E-A3CF126D9F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A85D69DD-77CA-46E0-973E-AEAC35585225}" type="slidenum">
              <a:rPr lang="en-US" altLang="en-US" sz="1200"/>
              <a:pPr/>
              <a:t>4</a:t>
            </a:fld>
            <a:endParaRPr lang="en-US" altLang="en-US" sz="1200"/>
          </a:p>
        </p:txBody>
      </p:sp>
      <p:sp>
        <p:nvSpPr>
          <p:cNvPr id="10243" name="Rectangle 2">
            <a:extLst>
              <a:ext uri="{FF2B5EF4-FFF2-40B4-BE49-F238E27FC236}">
                <a16:creationId xmlns:a16="http://schemas.microsoft.com/office/drawing/2014/main" id="{B20EDEFE-EC7F-4657-91AB-5D47A42A3759}"/>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DC377BA3-3172-4CFA-9F0A-3D59D3FDF2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en-US">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9BA376EB-7BB8-45C0-8335-C4AB02C00AF8}"/>
              </a:ext>
            </a:extLst>
          </p:cNvPr>
          <p:cNvSpPr>
            <a:spLocks noGrp="1" noRot="1" noChangeAspect="1" noTextEdit="1"/>
          </p:cNvSpPr>
          <p:nvPr>
            <p:ph type="sldImg"/>
          </p:nvPr>
        </p:nvSpPr>
        <p:spPr>
          <a:ln/>
        </p:spPr>
      </p:sp>
      <p:sp>
        <p:nvSpPr>
          <p:cNvPr id="13315" name="Notes Placeholder 2">
            <a:extLst>
              <a:ext uri="{FF2B5EF4-FFF2-40B4-BE49-F238E27FC236}">
                <a16:creationId xmlns:a16="http://schemas.microsoft.com/office/drawing/2014/main" id="{E6F01A3B-F352-4782-B285-43340568DBF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Fundamentally, timing analysis can be performed dynamically or statically. In dynamic analysis, a circuit is analyzed for a particular time interval by simulating its response for a fully specified set of input patterns. Dynamic analysis can be performed using circuit simulator SPICE, fast circuit simulators, or gate-level simulators. It is the most accurate way of verifying timing and functional characteristics of a circuit is simulation, but for large designs often it can be impossible to do exhaustive analysis in acceptable time. </a:t>
            </a:r>
          </a:p>
        </p:txBody>
      </p:sp>
      <p:sp>
        <p:nvSpPr>
          <p:cNvPr id="13316" name="Slide Number Placeholder 3">
            <a:extLst>
              <a:ext uri="{FF2B5EF4-FFF2-40B4-BE49-F238E27FC236}">
                <a16:creationId xmlns:a16="http://schemas.microsoft.com/office/drawing/2014/main" id="{1446E6B0-16A2-46FA-AE91-47BF7D66B48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1C95D217-A487-4B08-996B-5840CFF921DE}" type="slidenum">
              <a:rPr lang="en-US" altLang="en-US" sz="1200"/>
              <a:pPr/>
              <a:t>6</a:t>
            </a:fld>
            <a:endParaRPr lang="en-US" alt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71F21ACD-B2FB-4CE5-A41B-3FBAF47D965B}"/>
              </a:ext>
            </a:extLst>
          </p:cNvPr>
          <p:cNvSpPr>
            <a:spLocks noGrp="1" noRot="1" noChangeAspect="1" noTextEdit="1"/>
          </p:cNvSpPr>
          <p:nvPr>
            <p:ph type="sldImg"/>
          </p:nvPr>
        </p:nvSpPr>
        <p:spPr>
          <a:ln/>
        </p:spPr>
      </p:sp>
      <p:sp>
        <p:nvSpPr>
          <p:cNvPr id="15363" name="Notes Placeholder 2">
            <a:extLst>
              <a:ext uri="{FF2B5EF4-FFF2-40B4-BE49-F238E27FC236}">
                <a16:creationId xmlns:a16="http://schemas.microsoft.com/office/drawing/2014/main" id="{407A7A58-1875-4121-9AD9-44F8DF51E9D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Static Timing Analysis (STA) is the effective methodology for verifying the timing characteristics of a design without the use of test vectors because thousands of test vectors are required to test all timing paths using logic simulation. </a:t>
            </a:r>
          </a:p>
          <a:p>
            <a:r>
              <a:rPr lang="en-US" altLang="en-US">
                <a:latin typeface="Arial" panose="020B0604020202020204" pitchFamily="34" charset="0"/>
                <a:cs typeface="Arial" panose="020B0604020202020204" pitchFamily="34" charset="0"/>
              </a:rPr>
              <a:t>Key principle behind STA is propagating delays through logic gates by simply summing signal arrive times with delay time of the cell and finding maximum of all available arrive times on a net.</a:t>
            </a:r>
          </a:p>
          <a:p>
            <a:r>
              <a:rPr lang="en-US" altLang="en-US">
                <a:latin typeface="Arial" panose="020B0604020202020204" pitchFamily="34" charset="0"/>
                <a:cs typeface="Arial" panose="020B0604020202020204" pitchFamily="34" charset="0"/>
              </a:rPr>
              <a:t>A gate is being processed in STA when the arrival times of all inputs are known, at which time the candidate delay values at the output are computed using SUM operation  that adds the delay at each input with input-to-pin delay. Once these candidate delays have been found, the MAX operation is applied to determine the maximum arrival time at the output.</a:t>
            </a:r>
            <a:r>
              <a:rPr lang="ru-RU" altLang="en-US">
                <a:latin typeface="Arial" panose="020B0604020202020204" pitchFamily="34" charset="0"/>
                <a:cs typeface="Arial" panose="020B0604020202020204" pitchFamily="34" charset="0"/>
              </a:rPr>
              <a:t> </a:t>
            </a:r>
            <a:r>
              <a:rPr lang="en-US" altLang="en-US">
                <a:latin typeface="Arial" panose="020B0604020202020204" pitchFamily="34" charset="0"/>
                <a:cs typeface="Arial" panose="020B0604020202020204" pitchFamily="34" charset="0"/>
              </a:rPr>
              <a:t>The arrival time at the input is propagated through the gates at each level till it reaches the output. </a:t>
            </a:r>
          </a:p>
        </p:txBody>
      </p:sp>
      <p:sp>
        <p:nvSpPr>
          <p:cNvPr id="15364" name="Slide Number Placeholder 3">
            <a:extLst>
              <a:ext uri="{FF2B5EF4-FFF2-40B4-BE49-F238E27FC236}">
                <a16:creationId xmlns:a16="http://schemas.microsoft.com/office/drawing/2014/main" id="{66475EC3-3CBA-41C8-B6BC-BF7B0232FF1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49F6405D-B523-4774-9CBF-074EA39BA713}" type="slidenum">
              <a:rPr lang="en-US" altLang="en-US" sz="1200"/>
              <a:pPr/>
              <a:t>7</a:t>
            </a:fld>
            <a:endParaRPr lang="en-US" alt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545E07C1-C42D-491E-9565-9B2F40EF836F}"/>
              </a:ext>
            </a:extLst>
          </p:cNvPr>
          <p:cNvSpPr>
            <a:spLocks noGrp="1" noRot="1" noChangeAspect="1" noTextEdit="1"/>
          </p:cNvSpPr>
          <p:nvPr>
            <p:ph type="sldImg"/>
          </p:nvPr>
        </p:nvSpPr>
        <p:spPr>
          <a:ln/>
        </p:spPr>
      </p:sp>
      <p:sp>
        <p:nvSpPr>
          <p:cNvPr id="17411" name="Notes Placeholder 2">
            <a:extLst>
              <a:ext uri="{FF2B5EF4-FFF2-40B4-BE49-F238E27FC236}">
                <a16:creationId xmlns:a16="http://schemas.microsoft.com/office/drawing/2014/main" id="{51EC1D56-928F-4FDF-9607-B8CD4432C07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Though it is high accuracy simulation cannot be used for large design because of slowness and needs to exhaustive vector-set generation. Static timing analysis (STA), in its turn, has a number of vital advantages over dynamic simulation that made it into the industrial workhorse for verifying timing properties of synchronous digital circuits.</a:t>
            </a:r>
            <a:endParaRPr lang="ru-RU" altLang="en-US">
              <a:latin typeface="Arial" panose="020B0604020202020204" pitchFamily="34" charset="0"/>
              <a:cs typeface="Arial" panose="020B0604020202020204" pitchFamily="34" charset="0"/>
            </a:endParaRPr>
          </a:p>
        </p:txBody>
      </p:sp>
      <p:sp>
        <p:nvSpPr>
          <p:cNvPr id="17412" name="Slide Number Placeholder 3">
            <a:extLst>
              <a:ext uri="{FF2B5EF4-FFF2-40B4-BE49-F238E27FC236}">
                <a16:creationId xmlns:a16="http://schemas.microsoft.com/office/drawing/2014/main" id="{054A6A0A-EAA4-48A0-861F-1FB44335E9B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2858B5C6-E2F5-4794-B23B-4B9E43840F1D}" type="slidenum">
              <a:rPr lang="en-US" altLang="en-US" sz="1200"/>
              <a:pPr/>
              <a:t>8</a:t>
            </a:fld>
            <a:endParaRPr lang="en-US" alt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A66571F7-9073-4E96-9137-DADFA46FF6CB}"/>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6B55211E-2A4B-4096-9F58-EEB1A17A2D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2.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3.pn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6.sv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16.svg"/><Relationship Id="rId4" Type="http://schemas.openxmlformats.org/officeDocument/2006/relationships/tags" Target="../tags/tag42.xml"/><Relationship Id="rId9"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47.xml"/><Relationship Id="rId7" Type="http://schemas.openxmlformats.org/officeDocument/2006/relationships/image" Target="../media/image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318227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438150" y="463062"/>
            <a:ext cx="11315700" cy="5340349"/>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sz="3200" b="1">
                <a:solidFill>
                  <a:schemeClr val="tx1"/>
                </a:solidFill>
              </a:rPr>
              <a:t>CONFIDENTIAL INFORMATION</a:t>
            </a:r>
          </a:p>
          <a:p>
            <a:pPr marL="0" indent="0">
              <a:buNone/>
            </a:pPr>
            <a:r>
              <a:rPr sz="2200">
                <a:solidFill>
                  <a:schemeClr val="tx1"/>
                </a:solidFill>
              </a:rPr>
              <a:t>The information contained in this presentation is the confidential and proprietary information of Synopsys. You are not permitted to disseminate or use any of </a:t>
            </a:r>
            <a:br>
              <a:rPr sz="2200">
                <a:solidFill>
                  <a:schemeClr val="tx1"/>
                </a:solidFill>
              </a:rPr>
            </a:br>
            <a:r>
              <a:rPr sz="2200">
                <a:solidFill>
                  <a:schemeClr val="tx1"/>
                </a:solidFill>
              </a:rPr>
              <a:t>the information provided to you in this presentation outside of Synopsys </a:t>
            </a:r>
            <a:br>
              <a:rPr sz="2200">
                <a:solidFill>
                  <a:schemeClr val="tx1"/>
                </a:solidFill>
              </a:rPr>
            </a:br>
            <a:r>
              <a:rPr sz="2200">
                <a:solidFill>
                  <a:schemeClr val="tx1"/>
                </a:solidFill>
              </a:rPr>
              <a:t>without prior written authorization. </a:t>
            </a:r>
          </a:p>
          <a:p>
            <a:pPr>
              <a:buNone/>
            </a:pPr>
            <a:r>
              <a:rPr>
                <a:solidFill>
                  <a:schemeClr val="tx1"/>
                </a:solidFill>
              </a:rPr>
              <a:t> </a:t>
            </a:r>
          </a:p>
          <a:p>
            <a:pPr>
              <a:buNone/>
            </a:pPr>
            <a:r>
              <a:rPr sz="3200" b="1">
                <a:solidFill>
                  <a:schemeClr val="tx1"/>
                </a:solidFill>
              </a:rPr>
              <a:t>IMPORTANT NOTICE</a:t>
            </a:r>
          </a:p>
          <a:p>
            <a:pPr marL="0" indent="0">
              <a:buNone/>
            </a:pPr>
            <a:r>
              <a:rPr sz="2200">
                <a:solidFill>
                  <a:schemeClr val="tx1"/>
                </a:solidFill>
              </a:rPr>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4028982806"/>
      </p:ext>
    </p:extLst>
  </p:cSld>
  <p:clrMapOvr>
    <a:masterClrMapping/>
  </p:clrMapOvr>
  <p:extLst>
    <p:ext uri="{DCECCB84-F9BA-43D5-87BE-67443E8EF086}">
      <p15:sldGuideLst xmlns:p15="http://schemas.microsoft.com/office/powerpoint/2012/main">
        <p15:guide id="2" pos="7392">
          <p15:clr>
            <a:srgbClr val="5ACBF0"/>
          </p15:clr>
        </p15:guide>
        <p15:guide id="3" orient="horz" pos="3888">
          <p15:clr>
            <a:srgbClr val="5ACBF0"/>
          </p15:clr>
        </p15:guide>
        <p15:guide id="4" orient="horz" pos="372">
          <p15:clr>
            <a:srgbClr val="5ACBF0"/>
          </p15:clr>
        </p15:guide>
        <p15:guide id="5"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257750558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78896831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54379080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371657431"/>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9358694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61280-4D33-451D-A498-69BD4915C628}"/>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3" name="Title 2">
            <a:extLst>
              <a:ext uri="{FF2B5EF4-FFF2-40B4-BE49-F238E27FC236}">
                <a16:creationId xmlns:a16="http://schemas.microsoft.com/office/drawing/2014/main" id="{3E70CAF9-E820-418F-A14D-F56F01578AF6}"/>
              </a:ext>
            </a:extLst>
          </p:cNvPr>
          <p:cNvSpPr>
            <a:spLocks noGrp="1"/>
          </p:cNvSpPr>
          <p:nvPr>
            <p:ph type="title" hasCustomPrompt="1"/>
            <p:custDataLst>
              <p:tags r:id="rId1"/>
            </p:custDataLst>
          </p:nvPr>
        </p:nvSpPr>
        <p:spPr>
          <a:xfrm>
            <a:off x="0" y="183401"/>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latin typeface="+mj-lt"/>
              </a:defRPr>
            </a:lvl1pPr>
          </a:lstStyle>
          <a:p>
            <a:pPr marL="0" lvl="0" defTabSz="457200"/>
            <a:r>
              <a:t>Click to Add a Title</a:t>
            </a:r>
          </a:p>
        </p:txBody>
      </p:sp>
    </p:spTree>
    <p:extLst>
      <p:ext uri="{BB962C8B-B14F-4D97-AF65-F5344CB8AC3E}">
        <p14:creationId xmlns:p14="http://schemas.microsoft.com/office/powerpoint/2010/main" val="2866077662"/>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3888">
          <p15:clr>
            <a:srgbClr val="5ACBF0"/>
          </p15:clr>
        </p15:guide>
        <p15:guide id="4" orient="horz" pos="720">
          <p15:clr>
            <a:srgbClr val="5ACBF0"/>
          </p15:clr>
        </p15:guide>
        <p15:guide id="5" orient="horz" pos="115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8690010"/>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626824"/>
      </p:ext>
    </p:extLst>
  </p:cSld>
  <p:clrMapOvr>
    <a:masterClrMapping/>
  </p:clrMapOvr>
  <p:extLst>
    <p:ext uri="{DCECCB84-F9BA-43D5-87BE-67443E8EF086}">
      <p15:sldGuideLst xmlns:p15="http://schemas.microsoft.com/office/powerpoint/2012/main">
        <p15:guide id="4" orient="horz" pos="372">
          <p15:clr>
            <a:srgbClr val="5ACBF0"/>
          </p15:clr>
        </p15:guide>
        <p15:guide id="5" orient="horz" pos="3888">
          <p15:clr>
            <a:srgbClr val="5ACBF0"/>
          </p15:clr>
        </p15:guide>
        <p15:guide id="6" pos="288">
          <p15:clr>
            <a:srgbClr val="5ACBF0"/>
          </p15:clr>
        </p15:guide>
        <p15:guide id="7" pos="7392">
          <p15:clr>
            <a:srgbClr val="5ACBF0"/>
          </p15:clr>
        </p15:guide>
        <p15:guide id="8" orient="horz" pos="115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58714D-2663-4B45-8812-F81E64B5B065}"/>
              </a:ext>
            </a:extLst>
          </p:cNvPr>
          <p:cNvSpPr/>
          <p:nvPr>
            <p:custDataLst>
              <p:tags r:id="rId1"/>
            </p:custDataLst>
          </p:nvPr>
        </p:nvSpPr>
        <p:spPr>
          <a:xfrm>
            <a:off x="0" y="921262"/>
            <a:ext cx="12192000" cy="1368459"/>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hasCustomPrompt="1"/>
            <p:custDataLst>
              <p:tags r:id="rId2"/>
            </p:custDataLst>
          </p:nvPr>
        </p:nvSpPr>
        <p:spPr>
          <a:xfrm>
            <a:off x="456876" y="921262"/>
            <a:ext cx="10319341" cy="1368459"/>
          </a:xfrm>
        </p:spPr>
        <p:txBody>
          <a:bodyPr anchor="ctr">
            <a:normAutofit/>
          </a:bodyPr>
          <a:lstStyle>
            <a:lvl1pPr>
              <a:defRPr sz="3600">
                <a:solidFill>
                  <a:schemeClr val="accent1"/>
                </a:solidFill>
              </a:defRPr>
            </a:lvl1pPr>
          </a:lstStyle>
          <a:p>
            <a:r>
              <a:t>Click to add Agenda</a:t>
            </a:r>
          </a:p>
        </p:txBody>
      </p:sp>
      <p:sp>
        <p:nvSpPr>
          <p:cNvPr id="7" name="Text Placeholder 6"/>
          <p:cNvSpPr>
            <a:spLocks noGrp="1"/>
          </p:cNvSpPr>
          <p:nvPr>
            <p:ph type="body" sz="quarter" idx="10" hasCustomPrompt="1"/>
            <p:custDataLst>
              <p:tags r:id="rId3"/>
            </p:custDataLst>
          </p:nvPr>
        </p:nvSpPr>
        <p:spPr>
          <a:xfrm>
            <a:off x="456876" y="2409824"/>
            <a:ext cx="11278244" cy="3990976"/>
          </a:xfrm>
        </p:spPr>
        <p:txBody>
          <a:bodyPr>
            <a:noAutofit/>
          </a:bodyPr>
          <a:lstStyle>
            <a:lvl1pPr marL="514350" indent="-514350">
              <a:spcBef>
                <a:spcPts val="600"/>
              </a:spcBef>
              <a:spcAft>
                <a:spcPts val="0"/>
              </a:spcAft>
              <a:buClr>
                <a:schemeClr val="tx1"/>
              </a:buClr>
              <a:buSzPct val="100000"/>
              <a:buFont typeface="+mj-lt"/>
              <a:buAutoNum type="arabicPeriod"/>
              <a:defRPr sz="2800" baseline="0">
                <a:solidFill>
                  <a:schemeClr val="tx1"/>
                </a:solidFill>
              </a:defRPr>
            </a:lvl1pPr>
            <a:lvl2pPr marL="749808" indent="-457200">
              <a:buClr>
                <a:schemeClr val="tx1"/>
              </a:buClr>
              <a:buFont typeface="Arial" panose="020B0604020202020204" pitchFamily="34" charset="0"/>
              <a:buChar char="•"/>
              <a:defRPr sz="2400">
                <a:solidFill>
                  <a:schemeClr val="tx1"/>
                </a:solidFill>
              </a:defRPr>
            </a:lvl2pPr>
            <a:lvl3pPr marL="1033272" indent="-457200">
              <a:buClr>
                <a:schemeClr val="tx1"/>
              </a:buClr>
              <a:buSzPct val="120000"/>
              <a:buFont typeface="Wingdings" pitchFamily="2" charset="2"/>
              <a:buChar char="§"/>
              <a:defRPr sz="2000">
                <a:solidFill>
                  <a:schemeClr val="tx1"/>
                </a:solidFill>
              </a:defRPr>
            </a:lvl3pPr>
            <a:lvl4pPr marL="1211580" indent="-342900">
              <a:buClr>
                <a:schemeClr val="tx1"/>
              </a:buClr>
              <a:buSzPct val="80000"/>
              <a:buFont typeface=".Lucida Grande UI Regular"/>
              <a:buChar char="◆"/>
              <a:defRPr sz="1800">
                <a:solidFill>
                  <a:schemeClr val="tx1"/>
                </a:solidFill>
              </a:defRPr>
            </a:lvl4pPr>
            <a:lvl5pPr marL="868680" indent="0">
              <a:buClr>
                <a:schemeClr val="tx1"/>
              </a:buClr>
              <a:buFont typeface="System Font Regular"/>
              <a:buNone/>
              <a:defRPr sz="1800">
                <a:solidFill>
                  <a:schemeClr val="tx1"/>
                </a:solidFill>
              </a:defRPr>
            </a:lvl5pPr>
            <a:lvl6pPr marL="1211580" indent="-342900">
              <a:buClr>
                <a:schemeClr val="tx1"/>
              </a:buClr>
              <a:buSzPct val="100000"/>
              <a:buFont typeface="Arial" panose="020B0604020202020204" pitchFamily="34" charset="0"/>
              <a:buChar char="•"/>
              <a:defRPr sz="1800"/>
            </a:lvl6pPr>
            <a:lvl7pPr marL="1211580" indent="-342900">
              <a:buClr>
                <a:schemeClr val="tx1"/>
              </a:buClr>
              <a:buFont typeface="Arial" panose="020B0604020202020204" pitchFamily="34" charset="0"/>
              <a:buChar char="•"/>
              <a:defRPr sz="1800"/>
            </a:lvl7pPr>
            <a:lvl8pPr marL="1211580" indent="-342900">
              <a:buClr>
                <a:schemeClr val="tx1"/>
              </a:buClr>
              <a:buFont typeface="Arial" panose="020B0604020202020204" pitchFamily="34" charset="0"/>
              <a:buChar char="•"/>
              <a:defRPr sz="1800"/>
            </a:lvl8pPr>
            <a:lvl9pPr marL="1211580" indent="-342900">
              <a:buClr>
                <a:schemeClr val="tx1"/>
              </a:buClr>
              <a:buFont typeface="Arial" panose="020B0604020202020204" pitchFamily="34" charset="0"/>
              <a:buChar char="•"/>
              <a:defRPr sz="1800"/>
            </a:lvl9pPr>
          </a:lstStyle>
          <a:p>
            <a:pPr lvl="0"/>
            <a:r>
              <a:t>Agenda item</a:t>
            </a:r>
            <a:endParaRPr lang="en-US"/>
          </a:p>
          <a:p>
            <a:pPr lvl="5"/>
            <a:endParaRPr lang="en-US"/>
          </a:p>
        </p:txBody>
      </p:sp>
      <p:pic>
        <p:nvPicPr>
          <p:cNvPr id="8" name="Picture 7">
            <a:extLst>
              <a:ext uri="{FF2B5EF4-FFF2-40B4-BE49-F238E27FC236}">
                <a16:creationId xmlns:a16="http://schemas.microsoft.com/office/drawing/2014/main" id="{A4B705BD-3A2D-4144-B3FF-F24403F80C12}"/>
              </a:ext>
            </a:extLst>
          </p:cNvPr>
          <p:cNvPicPr>
            <a:picLocks noChangeAspect="1"/>
          </p:cNvPicPr>
          <p:nvPr>
            <p:custDataLst>
              <p:tags r:id="rId4"/>
            </p:custDataLst>
          </p:nvPr>
        </p:nvPicPr>
        <p:blipFill>
          <a:blip r:embed="rId6" cstate="screen">
            <a:extLst>
              <a:ext uri="{28A0092B-C50C-407E-A947-70E740481C1C}">
                <a14:useLocalDpi xmlns:a14="http://schemas.microsoft.com/office/drawing/2010/main"/>
              </a:ext>
            </a:extLst>
          </a:blip>
          <a:stretch>
            <a:fillRect/>
          </a:stretch>
        </p:blipFill>
        <p:spPr>
          <a:xfrm>
            <a:off x="10829622" y="921262"/>
            <a:ext cx="1362376" cy="1368459"/>
          </a:xfrm>
          <a:prstGeom prst="rect">
            <a:avLst/>
          </a:prstGeom>
        </p:spPr>
      </p:pic>
    </p:spTree>
    <p:extLst>
      <p:ext uri="{BB962C8B-B14F-4D97-AF65-F5344CB8AC3E}">
        <p14:creationId xmlns:p14="http://schemas.microsoft.com/office/powerpoint/2010/main" val="3764476245"/>
      </p:ext>
    </p:extLst>
  </p:cSld>
  <p:clrMapOvr>
    <a:masterClrMapping/>
  </p:clrMapOvr>
  <p:extLst>
    <p:ext uri="{DCECCB84-F9BA-43D5-87BE-67443E8EF086}">
      <p15:sldGuideLst xmlns:p15="http://schemas.microsoft.com/office/powerpoint/2012/main">
        <p15:guide id="1" orient="horz" pos="1512">
          <p15:clr>
            <a:srgbClr val="5ACBF0"/>
          </p15:clr>
        </p15:guide>
        <p15:guide id="2" pos="288">
          <p15:clr>
            <a:srgbClr val="5ACBF0"/>
          </p15:clr>
        </p15:guide>
        <p15:guide id="3" pos="7392">
          <p15:clr>
            <a:srgbClr val="5ACBF0"/>
          </p15:clr>
        </p15:guide>
        <p15:guide id="4" orient="horz" pos="38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D60E6F-7C19-4120-8794-819C5E8622E8}"/>
              </a:ext>
            </a:extLst>
          </p:cNvPr>
          <p:cNvSpPr/>
          <p:nvPr>
            <p:custDataLst>
              <p:tags r:id="rId1"/>
            </p:custDataLst>
          </p:nvPr>
        </p:nvSpPr>
        <p:spPr>
          <a:xfrm>
            <a:off x="0" y="921262"/>
            <a:ext cx="12192000" cy="32004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9" name="Picture 8">
            <a:extLst>
              <a:ext uri="{FF2B5EF4-FFF2-40B4-BE49-F238E27FC236}">
                <a16:creationId xmlns:a16="http://schemas.microsoft.com/office/drawing/2014/main" id="{F3389F0F-5D68-4BA4-BF3C-ED1CEFFE4174}"/>
              </a:ext>
            </a:extLst>
          </p:cNvPr>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10856088" y="921262"/>
            <a:ext cx="1339461" cy="3200400"/>
          </a:xfrm>
          <a:prstGeom prst="rect">
            <a:avLst/>
          </a:prstGeom>
        </p:spPr>
      </p:pic>
      <p:sp>
        <p:nvSpPr>
          <p:cNvPr id="2" name="Title 1"/>
          <p:cNvSpPr>
            <a:spLocks noGrp="1"/>
          </p:cNvSpPr>
          <p:nvPr>
            <p:ph type="title" hasCustomPrompt="1"/>
            <p:custDataLst>
              <p:tags r:id="rId3"/>
            </p:custDataLst>
          </p:nvPr>
        </p:nvSpPr>
        <p:spPr>
          <a:xfrm>
            <a:off x="456877" y="921262"/>
            <a:ext cx="10319339" cy="1001323"/>
          </a:xfrm>
        </p:spPr>
        <p:txBody>
          <a:bodyPr anchor="b">
            <a:normAutofit/>
          </a:bodyPr>
          <a:lstStyle>
            <a:lvl1pPr>
              <a:defRPr sz="3600">
                <a:solidFill>
                  <a:schemeClr val="accent1"/>
                </a:solidFill>
              </a:defRPr>
            </a:lvl1pPr>
          </a:lstStyle>
          <a:p>
            <a:r>
              <a:t>Click to add Section Header</a:t>
            </a:r>
          </a:p>
        </p:txBody>
      </p:sp>
      <p:sp>
        <p:nvSpPr>
          <p:cNvPr id="3" name="Text Placeholder 2"/>
          <p:cNvSpPr>
            <a:spLocks noGrp="1"/>
          </p:cNvSpPr>
          <p:nvPr>
            <p:ph type="body" idx="1" hasCustomPrompt="1"/>
            <p:custDataLst>
              <p:tags r:id="rId4"/>
            </p:custDataLst>
          </p:nvPr>
        </p:nvSpPr>
        <p:spPr>
          <a:xfrm>
            <a:off x="456877" y="1922584"/>
            <a:ext cx="10319339" cy="2084775"/>
          </a:xfrm>
        </p:spPr>
        <p:txBody>
          <a:bodyPr>
            <a:normAutofit/>
          </a:bodyPr>
          <a:lstStyle>
            <a:lvl1pPr marL="0" indent="0">
              <a:spcBef>
                <a:spcPts val="600"/>
              </a:spcBef>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Add a Subtitle</a:t>
            </a:r>
          </a:p>
        </p:txBody>
      </p:sp>
    </p:spTree>
    <p:extLst>
      <p:ext uri="{BB962C8B-B14F-4D97-AF65-F5344CB8AC3E}">
        <p14:creationId xmlns:p14="http://schemas.microsoft.com/office/powerpoint/2010/main" val="298123305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6D063-21E0-49F4-B710-4D6E39322D0C}"/>
              </a:ext>
            </a:extLst>
          </p:cNvPr>
          <p:cNvPicPr>
            <a:picLocks noChangeAspect="1"/>
          </p:cNvPicPr>
          <p:nvPr>
            <p:custDataLst>
              <p:tags r:id="rId1"/>
            </p:custDataLst>
          </p:nvPr>
        </p:nvPicPr>
        <p:blipFill>
          <a:blip r:embed="rId5"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Box 7"/>
          <p:cNvSpPr txBox="1"/>
          <p:nvPr>
            <p:custDataLst>
              <p:tags r:id="rId2"/>
            </p:custDataLst>
          </p:nvPr>
        </p:nvSpPr>
        <p:spPr>
          <a:xfrm>
            <a:off x="3333602" y="2619969"/>
            <a:ext cx="5524797" cy="923330"/>
          </a:xfrm>
          <a:prstGeom prst="rect">
            <a:avLst/>
          </a:prstGeom>
          <a:noFill/>
        </p:spPr>
        <p:txBody>
          <a:bodyPr wrap="square" rtlCol="0">
            <a:spAutoFit/>
          </a:bodyPr>
          <a:lstStyle/>
          <a:p>
            <a:pPr algn="ctr"/>
            <a:r>
              <a:rPr sz="5400" b="1">
                <a:solidFill>
                  <a:schemeClr val="accent1"/>
                </a:solidFill>
              </a:rPr>
              <a:t>Thank You</a:t>
            </a:r>
          </a:p>
        </p:txBody>
      </p:sp>
      <p:pic>
        <p:nvPicPr>
          <p:cNvPr id="5" name="Picture 4">
            <a:extLst>
              <a:ext uri="{FF2B5EF4-FFF2-40B4-BE49-F238E27FC236}">
                <a16:creationId xmlns:a16="http://schemas.microsoft.com/office/drawing/2014/main" id="{77AAF269-FAF3-4093-8469-8EC0980C0624}"/>
              </a:ext>
            </a:extLst>
          </p:cNvPr>
          <p:cNvPicPr>
            <a:picLocks noChangeAspect="1"/>
          </p:cNvPicPr>
          <p:nvPr>
            <p:custDataLst>
              <p:tags r:id="rId3"/>
            </p:custDataLst>
          </p:nvPr>
        </p:nvPicPr>
        <p:blipFill>
          <a:blip r:embed="rId6" cstate="screen">
            <a:extLst>
              <a:ext uri="{28A0092B-C50C-407E-A947-70E740481C1C}">
                <a14:useLocalDpi xmlns:a14="http://schemas.microsoft.com/office/drawing/2010/main"/>
              </a:ext>
            </a:extLst>
          </a:blip>
          <a:stretch>
            <a:fillRect/>
          </a:stretch>
        </p:blipFill>
        <p:spPr>
          <a:xfrm>
            <a:off x="10045587" y="453166"/>
            <a:ext cx="1689536" cy="540651"/>
          </a:xfrm>
          <a:prstGeom prst="rect">
            <a:avLst/>
          </a:prstGeom>
        </p:spPr>
      </p:pic>
    </p:spTree>
    <p:extLst>
      <p:ext uri="{BB962C8B-B14F-4D97-AF65-F5344CB8AC3E}">
        <p14:creationId xmlns:p14="http://schemas.microsoft.com/office/powerpoint/2010/main" val="3366313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C622576-BD66-44E6-9B27-C224C1C8FB56}"/>
              </a:ext>
            </a:extLst>
          </p:cNvPr>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tretch>
            <a:fillRect/>
          </a:stretch>
        </p:blipFill>
        <p:spPr>
          <a:xfrm>
            <a:off x="4068674" y="2760785"/>
            <a:ext cx="4183610" cy="1336430"/>
          </a:xfrm>
          <a:prstGeom prst="rect">
            <a:avLst/>
          </a:prstGeom>
        </p:spPr>
      </p:pic>
    </p:spTree>
    <p:extLst>
      <p:ext uri="{BB962C8B-B14F-4D97-AF65-F5344CB8AC3E}">
        <p14:creationId xmlns:p14="http://schemas.microsoft.com/office/powerpoint/2010/main" val="1701738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10045964" y="457199"/>
            <a:ext cx="1689158" cy="5943601"/>
          </a:xfrm>
        </p:spPr>
        <p:txBody>
          <a:bodyPr vert="eaVert" anchor="ctr"/>
          <a:lstStyle/>
          <a:p>
            <a:r>
              <a:rPr lang="en-US"/>
              <a:t>Click to edit Master title style</a:t>
            </a:r>
            <a:endParaRPr/>
          </a:p>
        </p:txBody>
      </p:sp>
      <p:sp>
        <p:nvSpPr>
          <p:cNvPr id="3" name="Vertical Text Placeholder 2"/>
          <p:cNvSpPr>
            <a:spLocks noGrp="1"/>
          </p:cNvSpPr>
          <p:nvPr>
            <p:ph type="body" orient="vert" idx="1"/>
            <p:custDataLst>
              <p:tags r:id="rId2"/>
            </p:custDataLst>
          </p:nvPr>
        </p:nvSpPr>
        <p:spPr>
          <a:xfrm>
            <a:off x="456879" y="457200"/>
            <a:ext cx="9360429"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Box 4">
            <a:extLst>
              <a:ext uri="{FF2B5EF4-FFF2-40B4-BE49-F238E27FC236}">
                <a16:creationId xmlns:a16="http://schemas.microsoft.com/office/drawing/2014/main" id="{F355DDA2-48E4-496F-AB6D-0DA3825552CB}"/>
              </a:ext>
            </a:extLst>
          </p:cNvPr>
          <p:cNvSpPr txBox="1"/>
          <p:nvPr>
            <p:custDataLst>
              <p:tags r:id="rId3"/>
            </p:custDataLst>
          </p:nvPr>
        </p:nvSpPr>
        <p:spPr>
          <a:xfrm rot="5400000">
            <a:off x="-518439" y="5515895"/>
            <a:ext cx="1353017" cy="230832"/>
          </a:xfrm>
          <a:prstGeom prst="rect">
            <a:avLst/>
          </a:prstGeom>
          <a:noFill/>
        </p:spPr>
        <p:txBody>
          <a:bodyPr wrap="square" rtlCol="0">
            <a:spAutoFit/>
          </a:bodyPr>
          <a:lstStyle/>
          <a:p>
            <a:r>
              <a:rPr sz="900">
                <a:solidFill>
                  <a:schemeClr val="tx1">
                    <a:lumMod val="50000"/>
                    <a:lumOff val="50000"/>
                  </a:schemeClr>
                </a:solidFill>
              </a:rPr>
              <a:t>© 2019 Synopsys, Inc. </a:t>
            </a:r>
          </a:p>
        </p:txBody>
      </p:sp>
      <p:sp>
        <p:nvSpPr>
          <p:cNvPr id="6" name="TextBox 5">
            <a:extLst>
              <a:ext uri="{FF2B5EF4-FFF2-40B4-BE49-F238E27FC236}">
                <a16:creationId xmlns:a16="http://schemas.microsoft.com/office/drawing/2014/main" id="{4DC5F678-53A4-4C2D-8E4A-3796CA282842}"/>
              </a:ext>
            </a:extLst>
          </p:cNvPr>
          <p:cNvSpPr txBox="1"/>
          <p:nvPr>
            <p:custDataLst>
              <p:tags r:id="rId4"/>
            </p:custDataLst>
          </p:nvPr>
        </p:nvSpPr>
        <p:spPr>
          <a:xfrm rot="5400000">
            <a:off x="-268651" y="6289177"/>
            <a:ext cx="853440" cy="215444"/>
          </a:xfrm>
          <a:prstGeom prst="rect">
            <a:avLst/>
          </a:prstGeom>
          <a:noFill/>
        </p:spPr>
        <p:txBody>
          <a:bodyPr wrap="square" rtlCol="0">
            <a:spAutoFit/>
          </a:bodyPr>
          <a:lstStyle/>
          <a:p>
            <a:pPr algn="ctr"/>
            <a:fld id="{CAE2347F-76BC-4690-80B5-B24BA0EA7B0A}" type="slidenum">
              <a:rPr sz="900">
                <a:solidFill>
                  <a:schemeClr val="tx1">
                    <a:lumMod val="50000"/>
                    <a:lumOff val="50000"/>
                  </a:schemeClr>
                </a:solidFill>
              </a:rPr>
              <a:pPr algn="ctr"/>
              <a:t>‹#›</a:t>
            </a:fld>
            <a:endParaRPr sz="900">
              <a:solidFill>
                <a:schemeClr val="tx1">
                  <a:lumMod val="50000"/>
                  <a:lumOff val="50000"/>
                </a:schemeClr>
              </a:solidFill>
            </a:endParaRPr>
          </a:p>
        </p:txBody>
      </p:sp>
      <p:grpSp>
        <p:nvGrpSpPr>
          <p:cNvPr id="21" name="Group 20">
            <a:extLst>
              <a:ext uri="{FF2B5EF4-FFF2-40B4-BE49-F238E27FC236}">
                <a16:creationId xmlns:a16="http://schemas.microsoft.com/office/drawing/2014/main" id="{1966C0AE-D4E4-4290-83DB-872570AA3B7E}"/>
              </a:ext>
            </a:extLst>
          </p:cNvPr>
          <p:cNvGrpSpPr/>
          <p:nvPr>
            <p:custDataLst>
              <p:tags r:id="rId5"/>
            </p:custDataLst>
          </p:nvPr>
        </p:nvGrpSpPr>
        <p:grpSpPr>
          <a:xfrm rot="5400000">
            <a:off x="-461816" y="461816"/>
            <a:ext cx="1152231" cy="228599"/>
            <a:chOff x="-1588" y="6629402"/>
            <a:chExt cx="1152231" cy="228599"/>
          </a:xfrm>
        </p:grpSpPr>
        <p:sp>
          <p:nvSpPr>
            <p:cNvPr id="22" name="Freeform: Shape 21">
              <a:extLst>
                <a:ext uri="{FF2B5EF4-FFF2-40B4-BE49-F238E27FC236}">
                  <a16:creationId xmlns:a16="http://schemas.microsoft.com/office/drawing/2014/main" id="{0668FA34-176E-4C0A-8878-391D136FA130}"/>
                </a:ext>
              </a:extLst>
            </p:cNvPr>
            <p:cNvSpPr/>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23" name="Group 22">
              <a:extLst>
                <a:ext uri="{FF2B5EF4-FFF2-40B4-BE49-F238E27FC236}">
                  <a16:creationId xmlns:a16="http://schemas.microsoft.com/office/drawing/2014/main" id="{C983A029-D5BE-4C5E-8B1B-E265A362764F}"/>
                </a:ext>
              </a:extLst>
            </p:cNvPr>
            <p:cNvGrpSpPr/>
            <p:nvPr/>
          </p:nvGrpSpPr>
          <p:grpSpPr>
            <a:xfrm>
              <a:off x="521037" y="6675438"/>
              <a:ext cx="629606" cy="136522"/>
              <a:chOff x="973138" y="5000626"/>
              <a:chExt cx="3506788" cy="760412"/>
            </a:xfrm>
            <a:solidFill>
              <a:schemeClr val="accent1"/>
            </a:solidFill>
          </p:grpSpPr>
          <p:sp>
            <p:nvSpPr>
              <p:cNvPr id="24" name="Freeform 6">
                <a:extLst>
                  <a:ext uri="{FF2B5EF4-FFF2-40B4-BE49-F238E27FC236}">
                    <a16:creationId xmlns:a16="http://schemas.microsoft.com/office/drawing/2014/main" id="{F9777C50-0973-4E32-87C2-CD7CDFF0DFA3}"/>
                  </a:ext>
                </a:extLst>
              </p:cNvPr>
              <p:cNvSpPr>
                <a:spLocks/>
              </p:cNvSpPr>
              <p:nvPr/>
            </p:nvSpPr>
            <p:spPr bwMode="auto">
              <a:xfrm>
                <a:off x="973138" y="5000626"/>
                <a:ext cx="357188" cy="612775"/>
              </a:xfrm>
              <a:custGeom>
                <a:avLst/>
                <a:gdLst>
                  <a:gd name="T0" fmla="*/ 276 w 451"/>
                  <a:gd name="T1" fmla="*/ 1 h 771"/>
                  <a:gd name="T2" fmla="*/ 354 w 451"/>
                  <a:gd name="T3" fmla="*/ 12 h 771"/>
                  <a:gd name="T4" fmla="*/ 407 w 451"/>
                  <a:gd name="T5" fmla="*/ 33 h 771"/>
                  <a:gd name="T6" fmla="*/ 437 w 451"/>
                  <a:gd name="T7" fmla="*/ 65 h 771"/>
                  <a:gd name="T8" fmla="*/ 447 w 451"/>
                  <a:gd name="T9" fmla="*/ 107 h 771"/>
                  <a:gd name="T10" fmla="*/ 307 w 451"/>
                  <a:gd name="T11" fmla="*/ 203 h 771"/>
                  <a:gd name="T12" fmla="*/ 307 w 451"/>
                  <a:gd name="T13" fmla="*/ 99 h 771"/>
                  <a:gd name="T14" fmla="*/ 297 w 451"/>
                  <a:gd name="T15" fmla="*/ 77 h 771"/>
                  <a:gd name="T16" fmla="*/ 272 w 451"/>
                  <a:gd name="T17" fmla="*/ 64 h 771"/>
                  <a:gd name="T18" fmla="*/ 228 w 451"/>
                  <a:gd name="T19" fmla="*/ 59 h 771"/>
                  <a:gd name="T20" fmla="*/ 182 w 451"/>
                  <a:gd name="T21" fmla="*/ 64 h 771"/>
                  <a:gd name="T22" fmla="*/ 158 w 451"/>
                  <a:gd name="T23" fmla="*/ 77 h 771"/>
                  <a:gd name="T24" fmla="*/ 149 w 451"/>
                  <a:gd name="T25" fmla="*/ 99 h 771"/>
                  <a:gd name="T26" fmla="*/ 148 w 451"/>
                  <a:gd name="T27" fmla="*/ 190 h 771"/>
                  <a:gd name="T28" fmla="*/ 154 w 451"/>
                  <a:gd name="T29" fmla="*/ 226 h 771"/>
                  <a:gd name="T30" fmla="*/ 178 w 451"/>
                  <a:gd name="T31" fmla="*/ 258 h 771"/>
                  <a:gd name="T32" fmla="*/ 421 w 451"/>
                  <a:gd name="T33" fmla="*/ 468 h 771"/>
                  <a:gd name="T34" fmla="*/ 447 w 451"/>
                  <a:gd name="T35" fmla="*/ 515 h 771"/>
                  <a:gd name="T36" fmla="*/ 451 w 451"/>
                  <a:gd name="T37" fmla="*/ 660 h 771"/>
                  <a:gd name="T38" fmla="*/ 439 w 451"/>
                  <a:gd name="T39" fmla="*/ 703 h 771"/>
                  <a:gd name="T40" fmla="*/ 404 w 451"/>
                  <a:gd name="T41" fmla="*/ 736 h 771"/>
                  <a:gd name="T42" fmla="*/ 348 w 451"/>
                  <a:gd name="T43" fmla="*/ 759 h 771"/>
                  <a:gd name="T44" fmla="*/ 272 w 451"/>
                  <a:gd name="T45" fmla="*/ 770 h 771"/>
                  <a:gd name="T46" fmla="*/ 180 w 451"/>
                  <a:gd name="T47" fmla="*/ 770 h 771"/>
                  <a:gd name="T48" fmla="*/ 101 w 451"/>
                  <a:gd name="T49" fmla="*/ 760 h 771"/>
                  <a:gd name="T50" fmla="*/ 44 w 451"/>
                  <a:gd name="T51" fmla="*/ 739 h 771"/>
                  <a:gd name="T52" fmla="*/ 11 w 451"/>
                  <a:gd name="T53" fmla="*/ 705 h 771"/>
                  <a:gd name="T54" fmla="*/ 0 w 451"/>
                  <a:gd name="T55" fmla="*/ 660 h 771"/>
                  <a:gd name="T56" fmla="*/ 140 w 451"/>
                  <a:gd name="T57" fmla="*/ 557 h 771"/>
                  <a:gd name="T58" fmla="*/ 141 w 451"/>
                  <a:gd name="T59" fmla="*/ 673 h 771"/>
                  <a:gd name="T60" fmla="*/ 161 w 451"/>
                  <a:gd name="T61" fmla="*/ 697 h 771"/>
                  <a:gd name="T62" fmla="*/ 200 w 451"/>
                  <a:gd name="T63" fmla="*/ 711 h 771"/>
                  <a:gd name="T64" fmla="*/ 254 w 451"/>
                  <a:gd name="T65" fmla="*/ 711 h 771"/>
                  <a:gd name="T66" fmla="*/ 291 w 451"/>
                  <a:gd name="T67" fmla="*/ 697 h 771"/>
                  <a:gd name="T68" fmla="*/ 310 w 451"/>
                  <a:gd name="T69" fmla="*/ 673 h 771"/>
                  <a:gd name="T70" fmla="*/ 311 w 451"/>
                  <a:gd name="T71" fmla="*/ 550 h 771"/>
                  <a:gd name="T72" fmla="*/ 303 w 451"/>
                  <a:gd name="T73" fmla="*/ 514 h 771"/>
                  <a:gd name="T74" fmla="*/ 272 w 451"/>
                  <a:gd name="T75" fmla="*/ 478 h 771"/>
                  <a:gd name="T76" fmla="*/ 47 w 451"/>
                  <a:gd name="T77" fmla="*/ 281 h 771"/>
                  <a:gd name="T78" fmla="*/ 19 w 451"/>
                  <a:gd name="T79" fmla="*/ 245 h 771"/>
                  <a:gd name="T80" fmla="*/ 8 w 451"/>
                  <a:gd name="T81" fmla="*/ 203 h 771"/>
                  <a:gd name="T82" fmla="*/ 11 w 451"/>
                  <a:gd name="T83" fmla="*/ 88 h 771"/>
                  <a:gd name="T84" fmla="*/ 34 w 451"/>
                  <a:gd name="T85" fmla="*/ 49 h 771"/>
                  <a:gd name="T86" fmla="*/ 78 w 451"/>
                  <a:gd name="T87" fmla="*/ 22 h 771"/>
                  <a:gd name="T88" fmla="*/ 144 w 451"/>
                  <a:gd name="T89" fmla="*/ 5 h 771"/>
                  <a:gd name="T90" fmla="*/ 228 w 451"/>
                  <a:gd name="T91"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1">
                    <a:moveTo>
                      <a:pt x="228" y="0"/>
                    </a:moveTo>
                    <a:lnTo>
                      <a:pt x="276" y="1"/>
                    </a:lnTo>
                    <a:lnTo>
                      <a:pt x="318" y="5"/>
                    </a:lnTo>
                    <a:lnTo>
                      <a:pt x="354" y="12"/>
                    </a:lnTo>
                    <a:lnTo>
                      <a:pt x="382" y="21"/>
                    </a:lnTo>
                    <a:lnTo>
                      <a:pt x="407" y="33"/>
                    </a:lnTo>
                    <a:lnTo>
                      <a:pt x="424" y="48"/>
                    </a:lnTo>
                    <a:lnTo>
                      <a:pt x="437" y="65"/>
                    </a:lnTo>
                    <a:lnTo>
                      <a:pt x="444" y="84"/>
                    </a:lnTo>
                    <a:lnTo>
                      <a:pt x="447" y="107"/>
                    </a:lnTo>
                    <a:lnTo>
                      <a:pt x="447" y="203"/>
                    </a:lnTo>
                    <a:lnTo>
                      <a:pt x="307" y="203"/>
                    </a:lnTo>
                    <a:lnTo>
                      <a:pt x="307" y="111"/>
                    </a:lnTo>
                    <a:lnTo>
                      <a:pt x="307" y="99"/>
                    </a:lnTo>
                    <a:lnTo>
                      <a:pt x="303" y="87"/>
                    </a:lnTo>
                    <a:lnTo>
                      <a:pt x="297" y="77"/>
                    </a:lnTo>
                    <a:lnTo>
                      <a:pt x="287" y="69"/>
                    </a:lnTo>
                    <a:lnTo>
                      <a:pt x="272" y="64"/>
                    </a:lnTo>
                    <a:lnTo>
                      <a:pt x="252" y="60"/>
                    </a:lnTo>
                    <a:lnTo>
                      <a:pt x="228" y="59"/>
                    </a:lnTo>
                    <a:lnTo>
                      <a:pt x="203" y="60"/>
                    </a:lnTo>
                    <a:lnTo>
                      <a:pt x="182" y="64"/>
                    </a:lnTo>
                    <a:lnTo>
                      <a:pt x="169" y="69"/>
                    </a:lnTo>
                    <a:lnTo>
                      <a:pt x="158" y="77"/>
                    </a:lnTo>
                    <a:lnTo>
                      <a:pt x="152" y="87"/>
                    </a:lnTo>
                    <a:lnTo>
                      <a:pt x="149" y="99"/>
                    </a:lnTo>
                    <a:lnTo>
                      <a:pt x="148" y="111"/>
                    </a:lnTo>
                    <a:lnTo>
                      <a:pt x="148" y="190"/>
                    </a:lnTo>
                    <a:lnTo>
                      <a:pt x="149" y="209"/>
                    </a:lnTo>
                    <a:lnTo>
                      <a:pt x="154" y="226"/>
                    </a:lnTo>
                    <a:lnTo>
                      <a:pt x="165" y="243"/>
                    </a:lnTo>
                    <a:lnTo>
                      <a:pt x="178" y="258"/>
                    </a:lnTo>
                    <a:lnTo>
                      <a:pt x="400" y="448"/>
                    </a:lnTo>
                    <a:lnTo>
                      <a:pt x="421" y="468"/>
                    </a:lnTo>
                    <a:lnTo>
                      <a:pt x="437" y="491"/>
                    </a:lnTo>
                    <a:lnTo>
                      <a:pt x="447" y="515"/>
                    </a:lnTo>
                    <a:lnTo>
                      <a:pt x="451" y="541"/>
                    </a:lnTo>
                    <a:lnTo>
                      <a:pt x="451" y="660"/>
                    </a:lnTo>
                    <a:lnTo>
                      <a:pt x="448" y="683"/>
                    </a:lnTo>
                    <a:lnTo>
                      <a:pt x="439" y="703"/>
                    </a:lnTo>
                    <a:lnTo>
                      <a:pt x="424" y="721"/>
                    </a:lnTo>
                    <a:lnTo>
                      <a:pt x="404" y="736"/>
                    </a:lnTo>
                    <a:lnTo>
                      <a:pt x="378" y="748"/>
                    </a:lnTo>
                    <a:lnTo>
                      <a:pt x="348" y="759"/>
                    </a:lnTo>
                    <a:lnTo>
                      <a:pt x="311" y="766"/>
                    </a:lnTo>
                    <a:lnTo>
                      <a:pt x="272" y="770"/>
                    </a:lnTo>
                    <a:lnTo>
                      <a:pt x="228" y="771"/>
                    </a:lnTo>
                    <a:lnTo>
                      <a:pt x="180" y="770"/>
                    </a:lnTo>
                    <a:lnTo>
                      <a:pt x="137" y="767"/>
                    </a:lnTo>
                    <a:lnTo>
                      <a:pt x="101" y="760"/>
                    </a:lnTo>
                    <a:lnTo>
                      <a:pt x="70" y="751"/>
                    </a:lnTo>
                    <a:lnTo>
                      <a:pt x="44" y="739"/>
                    </a:lnTo>
                    <a:lnTo>
                      <a:pt x="24" y="723"/>
                    </a:lnTo>
                    <a:lnTo>
                      <a:pt x="11" y="705"/>
                    </a:lnTo>
                    <a:lnTo>
                      <a:pt x="3" y="684"/>
                    </a:lnTo>
                    <a:lnTo>
                      <a:pt x="0" y="660"/>
                    </a:lnTo>
                    <a:lnTo>
                      <a:pt x="0" y="557"/>
                    </a:lnTo>
                    <a:lnTo>
                      <a:pt x="140" y="557"/>
                    </a:lnTo>
                    <a:lnTo>
                      <a:pt x="140" y="656"/>
                    </a:lnTo>
                    <a:lnTo>
                      <a:pt x="141" y="673"/>
                    </a:lnTo>
                    <a:lnTo>
                      <a:pt x="149" y="687"/>
                    </a:lnTo>
                    <a:lnTo>
                      <a:pt x="161" y="697"/>
                    </a:lnTo>
                    <a:lnTo>
                      <a:pt x="177" y="705"/>
                    </a:lnTo>
                    <a:lnTo>
                      <a:pt x="200" y="711"/>
                    </a:lnTo>
                    <a:lnTo>
                      <a:pt x="228" y="712"/>
                    </a:lnTo>
                    <a:lnTo>
                      <a:pt x="254" y="711"/>
                    </a:lnTo>
                    <a:lnTo>
                      <a:pt x="275" y="705"/>
                    </a:lnTo>
                    <a:lnTo>
                      <a:pt x="291" y="697"/>
                    </a:lnTo>
                    <a:lnTo>
                      <a:pt x="303" y="687"/>
                    </a:lnTo>
                    <a:lnTo>
                      <a:pt x="310" y="673"/>
                    </a:lnTo>
                    <a:lnTo>
                      <a:pt x="311" y="656"/>
                    </a:lnTo>
                    <a:lnTo>
                      <a:pt x="311" y="550"/>
                    </a:lnTo>
                    <a:lnTo>
                      <a:pt x="310" y="531"/>
                    </a:lnTo>
                    <a:lnTo>
                      <a:pt x="303" y="514"/>
                    </a:lnTo>
                    <a:lnTo>
                      <a:pt x="290" y="496"/>
                    </a:lnTo>
                    <a:lnTo>
                      <a:pt x="272" y="478"/>
                    </a:lnTo>
                    <a:lnTo>
                      <a:pt x="67" y="300"/>
                    </a:lnTo>
                    <a:lnTo>
                      <a:pt x="47" y="281"/>
                    </a:lnTo>
                    <a:lnTo>
                      <a:pt x="31" y="262"/>
                    </a:lnTo>
                    <a:lnTo>
                      <a:pt x="19" y="245"/>
                    </a:lnTo>
                    <a:lnTo>
                      <a:pt x="11" y="225"/>
                    </a:lnTo>
                    <a:lnTo>
                      <a:pt x="8" y="203"/>
                    </a:lnTo>
                    <a:lnTo>
                      <a:pt x="8" y="111"/>
                    </a:lnTo>
                    <a:lnTo>
                      <a:pt x="11" y="88"/>
                    </a:lnTo>
                    <a:lnTo>
                      <a:pt x="20" y="67"/>
                    </a:lnTo>
                    <a:lnTo>
                      <a:pt x="34" y="49"/>
                    </a:lnTo>
                    <a:lnTo>
                      <a:pt x="54" y="35"/>
                    </a:lnTo>
                    <a:lnTo>
                      <a:pt x="78" y="22"/>
                    </a:lnTo>
                    <a:lnTo>
                      <a:pt x="109" y="12"/>
                    </a:lnTo>
                    <a:lnTo>
                      <a:pt x="144" y="5"/>
                    </a:lnTo>
                    <a:lnTo>
                      <a:pt x="182" y="1"/>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 name="Freeform 7">
                <a:extLst>
                  <a:ext uri="{FF2B5EF4-FFF2-40B4-BE49-F238E27FC236}">
                    <a16:creationId xmlns:a16="http://schemas.microsoft.com/office/drawing/2014/main" id="{BDE6EBEF-C061-4AAF-BFCE-8B08D8214DE6}"/>
                  </a:ext>
                </a:extLst>
              </p:cNvPr>
              <p:cNvSpPr>
                <a:spLocks noEditPoints="1"/>
              </p:cNvSpPr>
              <p:nvPr/>
            </p:nvSpPr>
            <p:spPr bwMode="auto">
              <a:xfrm>
                <a:off x="2282826" y="5000626"/>
                <a:ext cx="387350" cy="611188"/>
              </a:xfrm>
              <a:custGeom>
                <a:avLst/>
                <a:gdLst>
                  <a:gd name="T0" fmla="*/ 213 w 489"/>
                  <a:gd name="T1" fmla="*/ 61 h 772"/>
                  <a:gd name="T2" fmla="*/ 172 w 489"/>
                  <a:gd name="T3" fmla="*/ 71 h 772"/>
                  <a:gd name="T4" fmla="*/ 149 w 489"/>
                  <a:gd name="T5" fmla="*/ 90 h 772"/>
                  <a:gd name="T6" fmla="*/ 140 w 489"/>
                  <a:gd name="T7" fmla="*/ 116 h 772"/>
                  <a:gd name="T8" fmla="*/ 138 w 489"/>
                  <a:gd name="T9" fmla="*/ 642 h 772"/>
                  <a:gd name="T10" fmla="*/ 142 w 489"/>
                  <a:gd name="T11" fmla="*/ 670 h 772"/>
                  <a:gd name="T12" fmla="*/ 158 w 489"/>
                  <a:gd name="T13" fmla="*/ 693 h 772"/>
                  <a:gd name="T14" fmla="*/ 191 w 489"/>
                  <a:gd name="T15" fmla="*/ 707 h 772"/>
                  <a:gd name="T16" fmla="*/ 244 w 489"/>
                  <a:gd name="T17" fmla="*/ 713 h 772"/>
                  <a:gd name="T18" fmla="*/ 298 w 489"/>
                  <a:gd name="T19" fmla="*/ 707 h 772"/>
                  <a:gd name="T20" fmla="*/ 330 w 489"/>
                  <a:gd name="T21" fmla="*/ 693 h 772"/>
                  <a:gd name="T22" fmla="*/ 345 w 489"/>
                  <a:gd name="T23" fmla="*/ 670 h 772"/>
                  <a:gd name="T24" fmla="*/ 349 w 489"/>
                  <a:gd name="T25" fmla="*/ 642 h 772"/>
                  <a:gd name="T26" fmla="*/ 349 w 489"/>
                  <a:gd name="T27" fmla="*/ 116 h 772"/>
                  <a:gd name="T28" fmla="*/ 340 w 489"/>
                  <a:gd name="T29" fmla="*/ 90 h 772"/>
                  <a:gd name="T30" fmla="*/ 317 w 489"/>
                  <a:gd name="T31" fmla="*/ 71 h 772"/>
                  <a:gd name="T32" fmla="*/ 274 w 489"/>
                  <a:gd name="T33" fmla="*/ 61 h 772"/>
                  <a:gd name="T34" fmla="*/ 244 w 489"/>
                  <a:gd name="T35" fmla="*/ 0 h 772"/>
                  <a:gd name="T36" fmla="*/ 334 w 489"/>
                  <a:gd name="T37" fmla="*/ 6 h 772"/>
                  <a:gd name="T38" fmla="*/ 400 w 489"/>
                  <a:gd name="T39" fmla="*/ 20 h 772"/>
                  <a:gd name="T40" fmla="*/ 446 w 489"/>
                  <a:gd name="T41" fmla="*/ 43 h 772"/>
                  <a:gd name="T42" fmla="*/ 474 w 489"/>
                  <a:gd name="T43" fmla="*/ 73 h 772"/>
                  <a:gd name="T44" fmla="*/ 487 w 489"/>
                  <a:gd name="T45" fmla="*/ 109 h 772"/>
                  <a:gd name="T46" fmla="*/ 489 w 489"/>
                  <a:gd name="T47" fmla="*/ 643 h 772"/>
                  <a:gd name="T48" fmla="*/ 482 w 489"/>
                  <a:gd name="T49" fmla="*/ 682 h 772"/>
                  <a:gd name="T50" fmla="*/ 462 w 489"/>
                  <a:gd name="T51" fmla="*/ 715 h 772"/>
                  <a:gd name="T52" fmla="*/ 425 w 489"/>
                  <a:gd name="T53" fmla="*/ 742 h 772"/>
                  <a:gd name="T54" fmla="*/ 369 w 489"/>
                  <a:gd name="T55" fmla="*/ 761 h 772"/>
                  <a:gd name="T56" fmla="*/ 291 w 489"/>
                  <a:gd name="T57" fmla="*/ 770 h 772"/>
                  <a:gd name="T58" fmla="*/ 196 w 489"/>
                  <a:gd name="T59" fmla="*/ 770 h 772"/>
                  <a:gd name="T60" fmla="*/ 118 w 489"/>
                  <a:gd name="T61" fmla="*/ 761 h 772"/>
                  <a:gd name="T62" fmla="*/ 62 w 489"/>
                  <a:gd name="T63" fmla="*/ 742 h 772"/>
                  <a:gd name="T64" fmla="*/ 26 w 489"/>
                  <a:gd name="T65" fmla="*/ 715 h 772"/>
                  <a:gd name="T66" fmla="*/ 5 w 489"/>
                  <a:gd name="T67" fmla="*/ 682 h 772"/>
                  <a:gd name="T68" fmla="*/ 0 w 489"/>
                  <a:gd name="T69" fmla="*/ 643 h 772"/>
                  <a:gd name="T70" fmla="*/ 1 w 489"/>
                  <a:gd name="T71" fmla="*/ 109 h 772"/>
                  <a:gd name="T72" fmla="*/ 14 w 489"/>
                  <a:gd name="T73" fmla="*/ 73 h 772"/>
                  <a:gd name="T74" fmla="*/ 42 w 489"/>
                  <a:gd name="T75" fmla="*/ 43 h 772"/>
                  <a:gd name="T76" fmla="*/ 87 w 489"/>
                  <a:gd name="T77" fmla="*/ 20 h 772"/>
                  <a:gd name="T78" fmla="*/ 154 w 489"/>
                  <a:gd name="T79" fmla="*/ 6 h 772"/>
                  <a:gd name="T80" fmla="*/ 244 w 489"/>
                  <a:gd name="T8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772">
                    <a:moveTo>
                      <a:pt x="244" y="59"/>
                    </a:moveTo>
                    <a:lnTo>
                      <a:pt x="213" y="61"/>
                    </a:lnTo>
                    <a:lnTo>
                      <a:pt x="191" y="65"/>
                    </a:lnTo>
                    <a:lnTo>
                      <a:pt x="172" y="71"/>
                    </a:lnTo>
                    <a:lnTo>
                      <a:pt x="158" y="79"/>
                    </a:lnTo>
                    <a:lnTo>
                      <a:pt x="149" y="90"/>
                    </a:lnTo>
                    <a:lnTo>
                      <a:pt x="142" y="102"/>
                    </a:lnTo>
                    <a:lnTo>
                      <a:pt x="140" y="116"/>
                    </a:lnTo>
                    <a:lnTo>
                      <a:pt x="138" y="130"/>
                    </a:lnTo>
                    <a:lnTo>
                      <a:pt x="138" y="642"/>
                    </a:lnTo>
                    <a:lnTo>
                      <a:pt x="140" y="656"/>
                    </a:lnTo>
                    <a:lnTo>
                      <a:pt x="142" y="670"/>
                    </a:lnTo>
                    <a:lnTo>
                      <a:pt x="149" y="683"/>
                    </a:lnTo>
                    <a:lnTo>
                      <a:pt x="158" y="693"/>
                    </a:lnTo>
                    <a:lnTo>
                      <a:pt x="172" y="702"/>
                    </a:lnTo>
                    <a:lnTo>
                      <a:pt x="191" y="707"/>
                    </a:lnTo>
                    <a:lnTo>
                      <a:pt x="213" y="711"/>
                    </a:lnTo>
                    <a:lnTo>
                      <a:pt x="244" y="713"/>
                    </a:lnTo>
                    <a:lnTo>
                      <a:pt x="274" y="711"/>
                    </a:lnTo>
                    <a:lnTo>
                      <a:pt x="298" y="707"/>
                    </a:lnTo>
                    <a:lnTo>
                      <a:pt x="317" y="702"/>
                    </a:lnTo>
                    <a:lnTo>
                      <a:pt x="330" y="693"/>
                    </a:lnTo>
                    <a:lnTo>
                      <a:pt x="340" y="683"/>
                    </a:lnTo>
                    <a:lnTo>
                      <a:pt x="345" y="670"/>
                    </a:lnTo>
                    <a:lnTo>
                      <a:pt x="349" y="656"/>
                    </a:lnTo>
                    <a:lnTo>
                      <a:pt x="349" y="642"/>
                    </a:lnTo>
                    <a:lnTo>
                      <a:pt x="349" y="130"/>
                    </a:lnTo>
                    <a:lnTo>
                      <a:pt x="349" y="116"/>
                    </a:lnTo>
                    <a:lnTo>
                      <a:pt x="345" y="102"/>
                    </a:lnTo>
                    <a:lnTo>
                      <a:pt x="340" y="90"/>
                    </a:lnTo>
                    <a:lnTo>
                      <a:pt x="330" y="79"/>
                    </a:lnTo>
                    <a:lnTo>
                      <a:pt x="317" y="71"/>
                    </a:lnTo>
                    <a:lnTo>
                      <a:pt x="298" y="65"/>
                    </a:lnTo>
                    <a:lnTo>
                      <a:pt x="274" y="61"/>
                    </a:lnTo>
                    <a:lnTo>
                      <a:pt x="244" y="59"/>
                    </a:lnTo>
                    <a:close/>
                    <a:moveTo>
                      <a:pt x="244" y="0"/>
                    </a:moveTo>
                    <a:lnTo>
                      <a:pt x="291" y="2"/>
                    </a:lnTo>
                    <a:lnTo>
                      <a:pt x="334" y="6"/>
                    </a:lnTo>
                    <a:lnTo>
                      <a:pt x="369" y="11"/>
                    </a:lnTo>
                    <a:lnTo>
                      <a:pt x="400" y="20"/>
                    </a:lnTo>
                    <a:lnTo>
                      <a:pt x="425" y="31"/>
                    </a:lnTo>
                    <a:lnTo>
                      <a:pt x="446" y="43"/>
                    </a:lnTo>
                    <a:lnTo>
                      <a:pt x="462" y="57"/>
                    </a:lnTo>
                    <a:lnTo>
                      <a:pt x="474" y="73"/>
                    </a:lnTo>
                    <a:lnTo>
                      <a:pt x="482" y="90"/>
                    </a:lnTo>
                    <a:lnTo>
                      <a:pt x="487" y="109"/>
                    </a:lnTo>
                    <a:lnTo>
                      <a:pt x="489" y="129"/>
                    </a:lnTo>
                    <a:lnTo>
                      <a:pt x="489" y="643"/>
                    </a:lnTo>
                    <a:lnTo>
                      <a:pt x="487" y="663"/>
                    </a:lnTo>
                    <a:lnTo>
                      <a:pt x="482" y="682"/>
                    </a:lnTo>
                    <a:lnTo>
                      <a:pt x="474" y="699"/>
                    </a:lnTo>
                    <a:lnTo>
                      <a:pt x="462" y="715"/>
                    </a:lnTo>
                    <a:lnTo>
                      <a:pt x="446" y="729"/>
                    </a:lnTo>
                    <a:lnTo>
                      <a:pt x="425" y="742"/>
                    </a:lnTo>
                    <a:lnTo>
                      <a:pt x="400" y="753"/>
                    </a:lnTo>
                    <a:lnTo>
                      <a:pt x="369" y="761"/>
                    </a:lnTo>
                    <a:lnTo>
                      <a:pt x="334" y="766"/>
                    </a:lnTo>
                    <a:lnTo>
                      <a:pt x="291" y="770"/>
                    </a:lnTo>
                    <a:lnTo>
                      <a:pt x="244" y="772"/>
                    </a:lnTo>
                    <a:lnTo>
                      <a:pt x="196" y="770"/>
                    </a:lnTo>
                    <a:lnTo>
                      <a:pt x="154" y="766"/>
                    </a:lnTo>
                    <a:lnTo>
                      <a:pt x="118" y="761"/>
                    </a:lnTo>
                    <a:lnTo>
                      <a:pt x="87" y="753"/>
                    </a:lnTo>
                    <a:lnTo>
                      <a:pt x="62" y="742"/>
                    </a:lnTo>
                    <a:lnTo>
                      <a:pt x="42" y="729"/>
                    </a:lnTo>
                    <a:lnTo>
                      <a:pt x="26" y="715"/>
                    </a:lnTo>
                    <a:lnTo>
                      <a:pt x="14" y="699"/>
                    </a:lnTo>
                    <a:lnTo>
                      <a:pt x="5" y="682"/>
                    </a:lnTo>
                    <a:lnTo>
                      <a:pt x="1" y="663"/>
                    </a:lnTo>
                    <a:lnTo>
                      <a:pt x="0" y="643"/>
                    </a:lnTo>
                    <a:lnTo>
                      <a:pt x="0" y="129"/>
                    </a:lnTo>
                    <a:lnTo>
                      <a:pt x="1" y="109"/>
                    </a:lnTo>
                    <a:lnTo>
                      <a:pt x="5" y="90"/>
                    </a:lnTo>
                    <a:lnTo>
                      <a:pt x="14" y="73"/>
                    </a:lnTo>
                    <a:lnTo>
                      <a:pt x="26" y="57"/>
                    </a:lnTo>
                    <a:lnTo>
                      <a:pt x="42" y="43"/>
                    </a:lnTo>
                    <a:lnTo>
                      <a:pt x="62" y="31"/>
                    </a:lnTo>
                    <a:lnTo>
                      <a:pt x="87" y="20"/>
                    </a:lnTo>
                    <a:lnTo>
                      <a:pt x="118" y="11"/>
                    </a:lnTo>
                    <a:lnTo>
                      <a:pt x="154" y="6"/>
                    </a:lnTo>
                    <a:lnTo>
                      <a:pt x="196" y="2"/>
                    </a:lnTo>
                    <a:lnTo>
                      <a:pt x="2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 name="Freeform 8">
                <a:extLst>
                  <a:ext uri="{FF2B5EF4-FFF2-40B4-BE49-F238E27FC236}">
                    <a16:creationId xmlns:a16="http://schemas.microsoft.com/office/drawing/2014/main" id="{89D18DE9-FB38-44E3-9753-8DBB95A05D2A}"/>
                  </a:ext>
                </a:extLst>
              </p:cNvPr>
              <p:cNvSpPr>
                <a:spLocks noEditPoints="1"/>
              </p:cNvSpPr>
              <p:nvPr/>
            </p:nvSpPr>
            <p:spPr bwMode="auto">
              <a:xfrm>
                <a:off x="2730501" y="5005388"/>
                <a:ext cx="360363" cy="603250"/>
              </a:xfrm>
              <a:custGeom>
                <a:avLst/>
                <a:gdLst>
                  <a:gd name="T0" fmla="*/ 140 w 454"/>
                  <a:gd name="T1" fmla="*/ 59 h 759"/>
                  <a:gd name="T2" fmla="*/ 140 w 454"/>
                  <a:gd name="T3" fmla="*/ 358 h 759"/>
                  <a:gd name="T4" fmla="*/ 207 w 454"/>
                  <a:gd name="T5" fmla="*/ 358 h 759"/>
                  <a:gd name="T6" fmla="*/ 232 w 454"/>
                  <a:gd name="T7" fmla="*/ 358 h 759"/>
                  <a:gd name="T8" fmla="*/ 255 w 454"/>
                  <a:gd name="T9" fmla="*/ 355 h 759"/>
                  <a:gd name="T10" fmla="*/ 275 w 454"/>
                  <a:gd name="T11" fmla="*/ 352 h 759"/>
                  <a:gd name="T12" fmla="*/ 291 w 454"/>
                  <a:gd name="T13" fmla="*/ 346 h 759"/>
                  <a:gd name="T14" fmla="*/ 303 w 454"/>
                  <a:gd name="T15" fmla="*/ 337 h 759"/>
                  <a:gd name="T16" fmla="*/ 311 w 454"/>
                  <a:gd name="T17" fmla="*/ 325 h 759"/>
                  <a:gd name="T18" fmla="*/ 314 w 454"/>
                  <a:gd name="T19" fmla="*/ 311 h 759"/>
                  <a:gd name="T20" fmla="*/ 314 w 454"/>
                  <a:gd name="T21" fmla="*/ 106 h 759"/>
                  <a:gd name="T22" fmla="*/ 311 w 454"/>
                  <a:gd name="T23" fmla="*/ 91 h 759"/>
                  <a:gd name="T24" fmla="*/ 303 w 454"/>
                  <a:gd name="T25" fmla="*/ 79 h 759"/>
                  <a:gd name="T26" fmla="*/ 291 w 454"/>
                  <a:gd name="T27" fmla="*/ 71 h 759"/>
                  <a:gd name="T28" fmla="*/ 275 w 454"/>
                  <a:gd name="T29" fmla="*/ 64 h 759"/>
                  <a:gd name="T30" fmla="*/ 255 w 454"/>
                  <a:gd name="T31" fmla="*/ 62 h 759"/>
                  <a:gd name="T32" fmla="*/ 232 w 454"/>
                  <a:gd name="T33" fmla="*/ 59 h 759"/>
                  <a:gd name="T34" fmla="*/ 207 w 454"/>
                  <a:gd name="T35" fmla="*/ 59 h 759"/>
                  <a:gd name="T36" fmla="*/ 140 w 454"/>
                  <a:gd name="T37" fmla="*/ 59 h 759"/>
                  <a:gd name="T38" fmla="*/ 0 w 454"/>
                  <a:gd name="T39" fmla="*/ 0 h 759"/>
                  <a:gd name="T40" fmla="*/ 221 w 454"/>
                  <a:gd name="T41" fmla="*/ 0 h 759"/>
                  <a:gd name="T42" fmla="*/ 271 w 454"/>
                  <a:gd name="T43" fmla="*/ 0 h 759"/>
                  <a:gd name="T44" fmla="*/ 314 w 454"/>
                  <a:gd name="T45" fmla="*/ 4 h 759"/>
                  <a:gd name="T46" fmla="*/ 350 w 454"/>
                  <a:gd name="T47" fmla="*/ 8 h 759"/>
                  <a:gd name="T48" fmla="*/ 380 w 454"/>
                  <a:gd name="T49" fmla="*/ 16 h 759"/>
                  <a:gd name="T50" fmla="*/ 404 w 454"/>
                  <a:gd name="T51" fmla="*/ 26 h 759"/>
                  <a:gd name="T52" fmla="*/ 423 w 454"/>
                  <a:gd name="T53" fmla="*/ 38 h 759"/>
                  <a:gd name="T54" fmla="*/ 437 w 454"/>
                  <a:gd name="T55" fmla="*/ 52 h 759"/>
                  <a:gd name="T56" fmla="*/ 447 w 454"/>
                  <a:gd name="T57" fmla="*/ 70 h 759"/>
                  <a:gd name="T58" fmla="*/ 452 w 454"/>
                  <a:gd name="T59" fmla="*/ 91 h 759"/>
                  <a:gd name="T60" fmla="*/ 454 w 454"/>
                  <a:gd name="T61" fmla="*/ 115 h 759"/>
                  <a:gd name="T62" fmla="*/ 454 w 454"/>
                  <a:gd name="T63" fmla="*/ 301 h 759"/>
                  <a:gd name="T64" fmla="*/ 451 w 454"/>
                  <a:gd name="T65" fmla="*/ 325 h 759"/>
                  <a:gd name="T66" fmla="*/ 447 w 454"/>
                  <a:gd name="T67" fmla="*/ 347 h 759"/>
                  <a:gd name="T68" fmla="*/ 437 w 454"/>
                  <a:gd name="T69" fmla="*/ 364 h 759"/>
                  <a:gd name="T70" fmla="*/ 423 w 454"/>
                  <a:gd name="T71" fmla="*/ 379 h 759"/>
                  <a:gd name="T72" fmla="*/ 404 w 454"/>
                  <a:gd name="T73" fmla="*/ 391 h 759"/>
                  <a:gd name="T74" fmla="*/ 380 w 454"/>
                  <a:gd name="T75" fmla="*/ 402 h 759"/>
                  <a:gd name="T76" fmla="*/ 350 w 454"/>
                  <a:gd name="T77" fmla="*/ 408 h 759"/>
                  <a:gd name="T78" fmla="*/ 314 w 454"/>
                  <a:gd name="T79" fmla="*/ 414 h 759"/>
                  <a:gd name="T80" fmla="*/ 271 w 454"/>
                  <a:gd name="T81" fmla="*/ 416 h 759"/>
                  <a:gd name="T82" fmla="*/ 221 w 454"/>
                  <a:gd name="T83" fmla="*/ 416 h 759"/>
                  <a:gd name="T84" fmla="*/ 140 w 454"/>
                  <a:gd name="T85" fmla="*/ 416 h 759"/>
                  <a:gd name="T86" fmla="*/ 140 w 454"/>
                  <a:gd name="T87" fmla="*/ 759 h 759"/>
                  <a:gd name="T88" fmla="*/ 0 w 454"/>
                  <a:gd name="T89" fmla="*/ 759 h 759"/>
                  <a:gd name="T90" fmla="*/ 0 w 454"/>
                  <a:gd name="T91"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4" h="759">
                    <a:moveTo>
                      <a:pt x="140" y="59"/>
                    </a:moveTo>
                    <a:lnTo>
                      <a:pt x="140" y="358"/>
                    </a:lnTo>
                    <a:lnTo>
                      <a:pt x="207" y="358"/>
                    </a:lnTo>
                    <a:lnTo>
                      <a:pt x="232" y="358"/>
                    </a:lnTo>
                    <a:lnTo>
                      <a:pt x="255" y="355"/>
                    </a:lnTo>
                    <a:lnTo>
                      <a:pt x="275" y="352"/>
                    </a:lnTo>
                    <a:lnTo>
                      <a:pt x="291" y="346"/>
                    </a:lnTo>
                    <a:lnTo>
                      <a:pt x="303" y="337"/>
                    </a:lnTo>
                    <a:lnTo>
                      <a:pt x="311" y="325"/>
                    </a:lnTo>
                    <a:lnTo>
                      <a:pt x="314" y="311"/>
                    </a:lnTo>
                    <a:lnTo>
                      <a:pt x="314" y="106"/>
                    </a:lnTo>
                    <a:lnTo>
                      <a:pt x="311" y="91"/>
                    </a:lnTo>
                    <a:lnTo>
                      <a:pt x="303" y="79"/>
                    </a:lnTo>
                    <a:lnTo>
                      <a:pt x="291" y="71"/>
                    </a:lnTo>
                    <a:lnTo>
                      <a:pt x="275" y="64"/>
                    </a:lnTo>
                    <a:lnTo>
                      <a:pt x="255" y="62"/>
                    </a:lnTo>
                    <a:lnTo>
                      <a:pt x="232" y="59"/>
                    </a:lnTo>
                    <a:lnTo>
                      <a:pt x="207" y="59"/>
                    </a:lnTo>
                    <a:lnTo>
                      <a:pt x="140" y="59"/>
                    </a:lnTo>
                    <a:close/>
                    <a:moveTo>
                      <a:pt x="0" y="0"/>
                    </a:moveTo>
                    <a:lnTo>
                      <a:pt x="221" y="0"/>
                    </a:lnTo>
                    <a:lnTo>
                      <a:pt x="271" y="0"/>
                    </a:lnTo>
                    <a:lnTo>
                      <a:pt x="314" y="4"/>
                    </a:lnTo>
                    <a:lnTo>
                      <a:pt x="350" y="8"/>
                    </a:lnTo>
                    <a:lnTo>
                      <a:pt x="380" y="16"/>
                    </a:lnTo>
                    <a:lnTo>
                      <a:pt x="404" y="26"/>
                    </a:lnTo>
                    <a:lnTo>
                      <a:pt x="423" y="38"/>
                    </a:lnTo>
                    <a:lnTo>
                      <a:pt x="437" y="52"/>
                    </a:lnTo>
                    <a:lnTo>
                      <a:pt x="447" y="70"/>
                    </a:lnTo>
                    <a:lnTo>
                      <a:pt x="452" y="91"/>
                    </a:lnTo>
                    <a:lnTo>
                      <a:pt x="454" y="115"/>
                    </a:lnTo>
                    <a:lnTo>
                      <a:pt x="454" y="301"/>
                    </a:lnTo>
                    <a:lnTo>
                      <a:pt x="451" y="325"/>
                    </a:lnTo>
                    <a:lnTo>
                      <a:pt x="447" y="347"/>
                    </a:lnTo>
                    <a:lnTo>
                      <a:pt x="437" y="364"/>
                    </a:lnTo>
                    <a:lnTo>
                      <a:pt x="423" y="379"/>
                    </a:lnTo>
                    <a:lnTo>
                      <a:pt x="404" y="391"/>
                    </a:lnTo>
                    <a:lnTo>
                      <a:pt x="380" y="402"/>
                    </a:lnTo>
                    <a:lnTo>
                      <a:pt x="350" y="408"/>
                    </a:lnTo>
                    <a:lnTo>
                      <a:pt x="314" y="414"/>
                    </a:lnTo>
                    <a:lnTo>
                      <a:pt x="271" y="416"/>
                    </a:lnTo>
                    <a:lnTo>
                      <a:pt x="221" y="416"/>
                    </a:lnTo>
                    <a:lnTo>
                      <a:pt x="140" y="416"/>
                    </a:lnTo>
                    <a:lnTo>
                      <a:pt x="140"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 name="Freeform 9">
                <a:extLst>
                  <a:ext uri="{FF2B5EF4-FFF2-40B4-BE49-F238E27FC236}">
                    <a16:creationId xmlns:a16="http://schemas.microsoft.com/office/drawing/2014/main" id="{8D961941-D9DC-44B7-B4B1-7160F7B31104}"/>
                  </a:ext>
                </a:extLst>
              </p:cNvPr>
              <p:cNvSpPr>
                <a:spLocks/>
              </p:cNvSpPr>
              <p:nvPr/>
            </p:nvSpPr>
            <p:spPr bwMode="auto">
              <a:xfrm>
                <a:off x="3121026" y="5000626"/>
                <a:ext cx="358775" cy="611188"/>
              </a:xfrm>
              <a:custGeom>
                <a:avLst/>
                <a:gdLst>
                  <a:gd name="T0" fmla="*/ 277 w 451"/>
                  <a:gd name="T1" fmla="*/ 2 h 772"/>
                  <a:gd name="T2" fmla="*/ 355 w 451"/>
                  <a:gd name="T3" fmla="*/ 12 h 772"/>
                  <a:gd name="T4" fmla="*/ 407 w 451"/>
                  <a:gd name="T5" fmla="*/ 34 h 772"/>
                  <a:gd name="T6" fmla="*/ 438 w 451"/>
                  <a:gd name="T7" fmla="*/ 65 h 772"/>
                  <a:gd name="T8" fmla="*/ 447 w 451"/>
                  <a:gd name="T9" fmla="*/ 106 h 772"/>
                  <a:gd name="T10" fmla="*/ 309 w 451"/>
                  <a:gd name="T11" fmla="*/ 204 h 772"/>
                  <a:gd name="T12" fmla="*/ 308 w 451"/>
                  <a:gd name="T13" fmla="*/ 98 h 772"/>
                  <a:gd name="T14" fmla="*/ 297 w 451"/>
                  <a:gd name="T15" fmla="*/ 78 h 772"/>
                  <a:gd name="T16" fmla="*/ 273 w 451"/>
                  <a:gd name="T17" fmla="*/ 65 h 772"/>
                  <a:gd name="T18" fmla="*/ 229 w 451"/>
                  <a:gd name="T19" fmla="*/ 59 h 772"/>
                  <a:gd name="T20" fmla="*/ 184 w 451"/>
                  <a:gd name="T21" fmla="*/ 65 h 772"/>
                  <a:gd name="T22" fmla="*/ 159 w 451"/>
                  <a:gd name="T23" fmla="*/ 78 h 772"/>
                  <a:gd name="T24" fmla="*/ 149 w 451"/>
                  <a:gd name="T25" fmla="*/ 98 h 772"/>
                  <a:gd name="T26" fmla="*/ 148 w 451"/>
                  <a:gd name="T27" fmla="*/ 191 h 772"/>
                  <a:gd name="T28" fmla="*/ 155 w 451"/>
                  <a:gd name="T29" fmla="*/ 227 h 772"/>
                  <a:gd name="T30" fmla="*/ 180 w 451"/>
                  <a:gd name="T31" fmla="*/ 259 h 772"/>
                  <a:gd name="T32" fmla="*/ 422 w 451"/>
                  <a:gd name="T33" fmla="*/ 469 h 772"/>
                  <a:gd name="T34" fmla="*/ 449 w 451"/>
                  <a:gd name="T35" fmla="*/ 516 h 772"/>
                  <a:gd name="T36" fmla="*/ 451 w 451"/>
                  <a:gd name="T37" fmla="*/ 660 h 772"/>
                  <a:gd name="T38" fmla="*/ 439 w 451"/>
                  <a:gd name="T39" fmla="*/ 703 h 772"/>
                  <a:gd name="T40" fmla="*/ 404 w 451"/>
                  <a:gd name="T41" fmla="*/ 737 h 772"/>
                  <a:gd name="T42" fmla="*/ 348 w 451"/>
                  <a:gd name="T43" fmla="*/ 760 h 772"/>
                  <a:gd name="T44" fmla="*/ 273 w 451"/>
                  <a:gd name="T45" fmla="*/ 770 h 772"/>
                  <a:gd name="T46" fmla="*/ 180 w 451"/>
                  <a:gd name="T47" fmla="*/ 770 h 772"/>
                  <a:gd name="T48" fmla="*/ 101 w 451"/>
                  <a:gd name="T49" fmla="*/ 760 h 772"/>
                  <a:gd name="T50" fmla="*/ 45 w 451"/>
                  <a:gd name="T51" fmla="*/ 738 h 772"/>
                  <a:gd name="T52" fmla="*/ 11 w 451"/>
                  <a:gd name="T53" fmla="*/ 706 h 772"/>
                  <a:gd name="T54" fmla="*/ 0 w 451"/>
                  <a:gd name="T55" fmla="*/ 660 h 772"/>
                  <a:gd name="T56" fmla="*/ 140 w 451"/>
                  <a:gd name="T57" fmla="*/ 556 h 772"/>
                  <a:gd name="T58" fmla="*/ 143 w 451"/>
                  <a:gd name="T59" fmla="*/ 672 h 772"/>
                  <a:gd name="T60" fmla="*/ 161 w 451"/>
                  <a:gd name="T61" fmla="*/ 698 h 772"/>
                  <a:gd name="T62" fmla="*/ 200 w 451"/>
                  <a:gd name="T63" fmla="*/ 711 h 772"/>
                  <a:gd name="T64" fmla="*/ 254 w 451"/>
                  <a:gd name="T65" fmla="*/ 711 h 772"/>
                  <a:gd name="T66" fmla="*/ 292 w 451"/>
                  <a:gd name="T67" fmla="*/ 698 h 772"/>
                  <a:gd name="T68" fmla="*/ 310 w 451"/>
                  <a:gd name="T69" fmla="*/ 672 h 772"/>
                  <a:gd name="T70" fmla="*/ 313 w 451"/>
                  <a:gd name="T71" fmla="*/ 551 h 772"/>
                  <a:gd name="T72" fmla="*/ 304 w 451"/>
                  <a:gd name="T73" fmla="*/ 513 h 772"/>
                  <a:gd name="T74" fmla="*/ 273 w 451"/>
                  <a:gd name="T75" fmla="*/ 477 h 772"/>
                  <a:gd name="T76" fmla="*/ 47 w 451"/>
                  <a:gd name="T77" fmla="*/ 282 h 772"/>
                  <a:gd name="T78" fmla="*/ 19 w 451"/>
                  <a:gd name="T79" fmla="*/ 244 h 772"/>
                  <a:gd name="T80" fmla="*/ 10 w 451"/>
                  <a:gd name="T81" fmla="*/ 204 h 772"/>
                  <a:gd name="T82" fmla="*/ 13 w 451"/>
                  <a:gd name="T83" fmla="*/ 89 h 772"/>
                  <a:gd name="T84" fmla="*/ 35 w 451"/>
                  <a:gd name="T85" fmla="*/ 50 h 772"/>
                  <a:gd name="T86" fmla="*/ 78 w 451"/>
                  <a:gd name="T87" fmla="*/ 22 h 772"/>
                  <a:gd name="T88" fmla="*/ 144 w 451"/>
                  <a:gd name="T89" fmla="*/ 6 h 772"/>
                  <a:gd name="T90" fmla="*/ 229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9" y="0"/>
                    </a:moveTo>
                    <a:lnTo>
                      <a:pt x="277" y="2"/>
                    </a:lnTo>
                    <a:lnTo>
                      <a:pt x="318" y="6"/>
                    </a:lnTo>
                    <a:lnTo>
                      <a:pt x="355" y="12"/>
                    </a:lnTo>
                    <a:lnTo>
                      <a:pt x="384" y="22"/>
                    </a:lnTo>
                    <a:lnTo>
                      <a:pt x="407" y="34"/>
                    </a:lnTo>
                    <a:lnTo>
                      <a:pt x="426" y="49"/>
                    </a:lnTo>
                    <a:lnTo>
                      <a:pt x="438" y="65"/>
                    </a:lnTo>
                    <a:lnTo>
                      <a:pt x="445" y="85"/>
                    </a:lnTo>
                    <a:lnTo>
                      <a:pt x="447" y="106"/>
                    </a:lnTo>
                    <a:lnTo>
                      <a:pt x="447" y="204"/>
                    </a:lnTo>
                    <a:lnTo>
                      <a:pt x="309" y="204"/>
                    </a:lnTo>
                    <a:lnTo>
                      <a:pt x="309" y="110"/>
                    </a:lnTo>
                    <a:lnTo>
                      <a:pt x="308" y="98"/>
                    </a:lnTo>
                    <a:lnTo>
                      <a:pt x="304" y="87"/>
                    </a:lnTo>
                    <a:lnTo>
                      <a:pt x="297" y="78"/>
                    </a:lnTo>
                    <a:lnTo>
                      <a:pt x="288" y="70"/>
                    </a:lnTo>
                    <a:lnTo>
                      <a:pt x="273" y="65"/>
                    </a:lnTo>
                    <a:lnTo>
                      <a:pt x="254" y="61"/>
                    </a:lnTo>
                    <a:lnTo>
                      <a:pt x="229" y="59"/>
                    </a:lnTo>
                    <a:lnTo>
                      <a:pt x="203" y="61"/>
                    </a:lnTo>
                    <a:lnTo>
                      <a:pt x="184" y="65"/>
                    </a:lnTo>
                    <a:lnTo>
                      <a:pt x="170" y="70"/>
                    </a:lnTo>
                    <a:lnTo>
                      <a:pt x="159" y="78"/>
                    </a:lnTo>
                    <a:lnTo>
                      <a:pt x="152" y="87"/>
                    </a:lnTo>
                    <a:lnTo>
                      <a:pt x="149" y="98"/>
                    </a:lnTo>
                    <a:lnTo>
                      <a:pt x="148" y="110"/>
                    </a:lnTo>
                    <a:lnTo>
                      <a:pt x="148" y="191"/>
                    </a:lnTo>
                    <a:lnTo>
                      <a:pt x="149" y="209"/>
                    </a:lnTo>
                    <a:lnTo>
                      <a:pt x="155" y="227"/>
                    </a:lnTo>
                    <a:lnTo>
                      <a:pt x="165" y="243"/>
                    </a:lnTo>
                    <a:lnTo>
                      <a:pt x="180" y="259"/>
                    </a:lnTo>
                    <a:lnTo>
                      <a:pt x="402" y="448"/>
                    </a:lnTo>
                    <a:lnTo>
                      <a:pt x="422" y="469"/>
                    </a:lnTo>
                    <a:lnTo>
                      <a:pt x="438" y="492"/>
                    </a:lnTo>
                    <a:lnTo>
                      <a:pt x="449" y="516"/>
                    </a:lnTo>
                    <a:lnTo>
                      <a:pt x="451" y="541"/>
                    </a:lnTo>
                    <a:lnTo>
                      <a:pt x="451" y="660"/>
                    </a:lnTo>
                    <a:lnTo>
                      <a:pt x="449" y="683"/>
                    </a:lnTo>
                    <a:lnTo>
                      <a:pt x="439" y="703"/>
                    </a:lnTo>
                    <a:lnTo>
                      <a:pt x="424" y="721"/>
                    </a:lnTo>
                    <a:lnTo>
                      <a:pt x="404" y="737"/>
                    </a:lnTo>
                    <a:lnTo>
                      <a:pt x="379" y="749"/>
                    </a:lnTo>
                    <a:lnTo>
                      <a:pt x="348" y="760"/>
                    </a:lnTo>
                    <a:lnTo>
                      <a:pt x="313" y="766"/>
                    </a:lnTo>
                    <a:lnTo>
                      <a:pt x="273" y="770"/>
                    </a:lnTo>
                    <a:lnTo>
                      <a:pt x="229" y="772"/>
                    </a:lnTo>
                    <a:lnTo>
                      <a:pt x="180" y="770"/>
                    </a:lnTo>
                    <a:lnTo>
                      <a:pt x="137" y="766"/>
                    </a:lnTo>
                    <a:lnTo>
                      <a:pt x="101" y="760"/>
                    </a:lnTo>
                    <a:lnTo>
                      <a:pt x="70" y="750"/>
                    </a:lnTo>
                    <a:lnTo>
                      <a:pt x="45" y="738"/>
                    </a:lnTo>
                    <a:lnTo>
                      <a:pt x="26" y="723"/>
                    </a:lnTo>
                    <a:lnTo>
                      <a:pt x="11" y="706"/>
                    </a:lnTo>
                    <a:lnTo>
                      <a:pt x="3" y="685"/>
                    </a:lnTo>
                    <a:lnTo>
                      <a:pt x="0" y="660"/>
                    </a:lnTo>
                    <a:lnTo>
                      <a:pt x="0" y="556"/>
                    </a:lnTo>
                    <a:lnTo>
                      <a:pt x="140" y="556"/>
                    </a:lnTo>
                    <a:lnTo>
                      <a:pt x="140" y="656"/>
                    </a:lnTo>
                    <a:lnTo>
                      <a:pt x="143" y="672"/>
                    </a:lnTo>
                    <a:lnTo>
                      <a:pt x="149" y="687"/>
                    </a:lnTo>
                    <a:lnTo>
                      <a:pt x="161" y="698"/>
                    </a:lnTo>
                    <a:lnTo>
                      <a:pt x="179" y="706"/>
                    </a:lnTo>
                    <a:lnTo>
                      <a:pt x="200" y="711"/>
                    </a:lnTo>
                    <a:lnTo>
                      <a:pt x="229" y="713"/>
                    </a:lnTo>
                    <a:lnTo>
                      <a:pt x="254" y="711"/>
                    </a:lnTo>
                    <a:lnTo>
                      <a:pt x="276" y="706"/>
                    </a:lnTo>
                    <a:lnTo>
                      <a:pt x="292" y="698"/>
                    </a:lnTo>
                    <a:lnTo>
                      <a:pt x="304" y="687"/>
                    </a:lnTo>
                    <a:lnTo>
                      <a:pt x="310" y="672"/>
                    </a:lnTo>
                    <a:lnTo>
                      <a:pt x="313" y="656"/>
                    </a:lnTo>
                    <a:lnTo>
                      <a:pt x="313" y="551"/>
                    </a:lnTo>
                    <a:lnTo>
                      <a:pt x="310" y="532"/>
                    </a:lnTo>
                    <a:lnTo>
                      <a:pt x="304" y="513"/>
                    </a:lnTo>
                    <a:lnTo>
                      <a:pt x="292" y="496"/>
                    </a:lnTo>
                    <a:lnTo>
                      <a:pt x="273" y="477"/>
                    </a:lnTo>
                    <a:lnTo>
                      <a:pt x="69" y="300"/>
                    </a:lnTo>
                    <a:lnTo>
                      <a:pt x="47" y="282"/>
                    </a:lnTo>
                    <a:lnTo>
                      <a:pt x="31" y="263"/>
                    </a:lnTo>
                    <a:lnTo>
                      <a:pt x="19" y="244"/>
                    </a:lnTo>
                    <a:lnTo>
                      <a:pt x="11" y="225"/>
                    </a:lnTo>
                    <a:lnTo>
                      <a:pt x="10" y="204"/>
                    </a:lnTo>
                    <a:lnTo>
                      <a:pt x="10" y="112"/>
                    </a:lnTo>
                    <a:lnTo>
                      <a:pt x="13" y="89"/>
                    </a:lnTo>
                    <a:lnTo>
                      <a:pt x="21" y="67"/>
                    </a:lnTo>
                    <a:lnTo>
                      <a:pt x="35" y="50"/>
                    </a:lnTo>
                    <a:lnTo>
                      <a:pt x="54" y="35"/>
                    </a:lnTo>
                    <a:lnTo>
                      <a:pt x="78" y="22"/>
                    </a:lnTo>
                    <a:lnTo>
                      <a:pt x="109" y="12"/>
                    </a:lnTo>
                    <a:lnTo>
                      <a:pt x="144" y="6"/>
                    </a:lnTo>
                    <a:lnTo>
                      <a:pt x="184" y="2"/>
                    </a:lnTo>
                    <a:lnTo>
                      <a:pt x="2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 name="Freeform 10">
                <a:extLst>
                  <a:ext uri="{FF2B5EF4-FFF2-40B4-BE49-F238E27FC236}">
                    <a16:creationId xmlns:a16="http://schemas.microsoft.com/office/drawing/2014/main" id="{B9363D07-27BC-4F61-90A5-DF8C3FB43323}"/>
                  </a:ext>
                </a:extLst>
              </p:cNvPr>
              <p:cNvSpPr>
                <a:spLocks/>
              </p:cNvSpPr>
              <p:nvPr/>
            </p:nvSpPr>
            <p:spPr bwMode="auto">
              <a:xfrm>
                <a:off x="3935413" y="5000626"/>
                <a:ext cx="358775" cy="611188"/>
              </a:xfrm>
              <a:custGeom>
                <a:avLst/>
                <a:gdLst>
                  <a:gd name="T0" fmla="*/ 276 w 451"/>
                  <a:gd name="T1" fmla="*/ 2 h 772"/>
                  <a:gd name="T2" fmla="*/ 354 w 451"/>
                  <a:gd name="T3" fmla="*/ 12 h 772"/>
                  <a:gd name="T4" fmla="*/ 407 w 451"/>
                  <a:gd name="T5" fmla="*/ 34 h 772"/>
                  <a:gd name="T6" fmla="*/ 437 w 451"/>
                  <a:gd name="T7" fmla="*/ 65 h 772"/>
                  <a:gd name="T8" fmla="*/ 447 w 451"/>
                  <a:gd name="T9" fmla="*/ 106 h 772"/>
                  <a:gd name="T10" fmla="*/ 307 w 451"/>
                  <a:gd name="T11" fmla="*/ 204 h 772"/>
                  <a:gd name="T12" fmla="*/ 307 w 451"/>
                  <a:gd name="T13" fmla="*/ 98 h 772"/>
                  <a:gd name="T14" fmla="*/ 296 w 451"/>
                  <a:gd name="T15" fmla="*/ 78 h 772"/>
                  <a:gd name="T16" fmla="*/ 272 w 451"/>
                  <a:gd name="T17" fmla="*/ 65 h 772"/>
                  <a:gd name="T18" fmla="*/ 228 w 451"/>
                  <a:gd name="T19" fmla="*/ 59 h 772"/>
                  <a:gd name="T20" fmla="*/ 182 w 451"/>
                  <a:gd name="T21" fmla="*/ 65 h 772"/>
                  <a:gd name="T22" fmla="*/ 158 w 451"/>
                  <a:gd name="T23" fmla="*/ 78 h 772"/>
                  <a:gd name="T24" fmla="*/ 149 w 451"/>
                  <a:gd name="T25" fmla="*/ 98 h 772"/>
                  <a:gd name="T26" fmla="*/ 148 w 451"/>
                  <a:gd name="T27" fmla="*/ 191 h 772"/>
                  <a:gd name="T28" fmla="*/ 154 w 451"/>
                  <a:gd name="T29" fmla="*/ 227 h 772"/>
                  <a:gd name="T30" fmla="*/ 178 w 451"/>
                  <a:gd name="T31" fmla="*/ 259 h 772"/>
                  <a:gd name="T32" fmla="*/ 421 w 451"/>
                  <a:gd name="T33" fmla="*/ 469 h 772"/>
                  <a:gd name="T34" fmla="*/ 447 w 451"/>
                  <a:gd name="T35" fmla="*/ 516 h 772"/>
                  <a:gd name="T36" fmla="*/ 451 w 451"/>
                  <a:gd name="T37" fmla="*/ 660 h 772"/>
                  <a:gd name="T38" fmla="*/ 439 w 451"/>
                  <a:gd name="T39" fmla="*/ 703 h 772"/>
                  <a:gd name="T40" fmla="*/ 404 w 451"/>
                  <a:gd name="T41" fmla="*/ 737 h 772"/>
                  <a:gd name="T42" fmla="*/ 347 w 451"/>
                  <a:gd name="T43" fmla="*/ 760 h 772"/>
                  <a:gd name="T44" fmla="*/ 272 w 451"/>
                  <a:gd name="T45" fmla="*/ 770 h 772"/>
                  <a:gd name="T46" fmla="*/ 180 w 451"/>
                  <a:gd name="T47" fmla="*/ 770 h 772"/>
                  <a:gd name="T48" fmla="*/ 101 w 451"/>
                  <a:gd name="T49" fmla="*/ 760 h 772"/>
                  <a:gd name="T50" fmla="*/ 44 w 451"/>
                  <a:gd name="T51" fmla="*/ 738 h 772"/>
                  <a:gd name="T52" fmla="*/ 11 w 451"/>
                  <a:gd name="T53" fmla="*/ 706 h 772"/>
                  <a:gd name="T54" fmla="*/ 0 w 451"/>
                  <a:gd name="T55" fmla="*/ 660 h 772"/>
                  <a:gd name="T56" fmla="*/ 139 w 451"/>
                  <a:gd name="T57" fmla="*/ 556 h 772"/>
                  <a:gd name="T58" fmla="*/ 141 w 451"/>
                  <a:gd name="T59" fmla="*/ 672 h 772"/>
                  <a:gd name="T60" fmla="*/ 160 w 451"/>
                  <a:gd name="T61" fmla="*/ 698 h 772"/>
                  <a:gd name="T62" fmla="*/ 200 w 451"/>
                  <a:gd name="T63" fmla="*/ 711 h 772"/>
                  <a:gd name="T64" fmla="*/ 254 w 451"/>
                  <a:gd name="T65" fmla="*/ 711 h 772"/>
                  <a:gd name="T66" fmla="*/ 291 w 451"/>
                  <a:gd name="T67" fmla="*/ 698 h 772"/>
                  <a:gd name="T68" fmla="*/ 310 w 451"/>
                  <a:gd name="T69" fmla="*/ 672 h 772"/>
                  <a:gd name="T70" fmla="*/ 311 w 451"/>
                  <a:gd name="T71" fmla="*/ 551 h 772"/>
                  <a:gd name="T72" fmla="*/ 303 w 451"/>
                  <a:gd name="T73" fmla="*/ 515 h 772"/>
                  <a:gd name="T74" fmla="*/ 271 w 451"/>
                  <a:gd name="T75" fmla="*/ 477 h 772"/>
                  <a:gd name="T76" fmla="*/ 47 w 451"/>
                  <a:gd name="T77" fmla="*/ 282 h 772"/>
                  <a:gd name="T78" fmla="*/ 19 w 451"/>
                  <a:gd name="T79" fmla="*/ 244 h 772"/>
                  <a:gd name="T80" fmla="*/ 8 w 451"/>
                  <a:gd name="T81" fmla="*/ 204 h 772"/>
                  <a:gd name="T82" fmla="*/ 11 w 451"/>
                  <a:gd name="T83" fmla="*/ 89 h 772"/>
                  <a:gd name="T84" fmla="*/ 33 w 451"/>
                  <a:gd name="T85" fmla="*/ 50 h 772"/>
                  <a:gd name="T86" fmla="*/ 78 w 451"/>
                  <a:gd name="T87" fmla="*/ 22 h 772"/>
                  <a:gd name="T88" fmla="*/ 144 w 451"/>
                  <a:gd name="T89" fmla="*/ 6 h 772"/>
                  <a:gd name="T90" fmla="*/ 228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8" y="0"/>
                    </a:moveTo>
                    <a:lnTo>
                      <a:pt x="276" y="2"/>
                    </a:lnTo>
                    <a:lnTo>
                      <a:pt x="318" y="6"/>
                    </a:lnTo>
                    <a:lnTo>
                      <a:pt x="354" y="12"/>
                    </a:lnTo>
                    <a:lnTo>
                      <a:pt x="382" y="22"/>
                    </a:lnTo>
                    <a:lnTo>
                      <a:pt x="407" y="34"/>
                    </a:lnTo>
                    <a:lnTo>
                      <a:pt x="424" y="49"/>
                    </a:lnTo>
                    <a:lnTo>
                      <a:pt x="437" y="65"/>
                    </a:lnTo>
                    <a:lnTo>
                      <a:pt x="444" y="85"/>
                    </a:lnTo>
                    <a:lnTo>
                      <a:pt x="447" y="106"/>
                    </a:lnTo>
                    <a:lnTo>
                      <a:pt x="447" y="204"/>
                    </a:lnTo>
                    <a:lnTo>
                      <a:pt x="307" y="204"/>
                    </a:lnTo>
                    <a:lnTo>
                      <a:pt x="307" y="110"/>
                    </a:lnTo>
                    <a:lnTo>
                      <a:pt x="307" y="98"/>
                    </a:lnTo>
                    <a:lnTo>
                      <a:pt x="303" y="87"/>
                    </a:lnTo>
                    <a:lnTo>
                      <a:pt x="296" y="78"/>
                    </a:lnTo>
                    <a:lnTo>
                      <a:pt x="286" y="70"/>
                    </a:lnTo>
                    <a:lnTo>
                      <a:pt x="272" y="65"/>
                    </a:lnTo>
                    <a:lnTo>
                      <a:pt x="252" y="61"/>
                    </a:lnTo>
                    <a:lnTo>
                      <a:pt x="228" y="59"/>
                    </a:lnTo>
                    <a:lnTo>
                      <a:pt x="203" y="61"/>
                    </a:lnTo>
                    <a:lnTo>
                      <a:pt x="182" y="65"/>
                    </a:lnTo>
                    <a:lnTo>
                      <a:pt x="169" y="70"/>
                    </a:lnTo>
                    <a:lnTo>
                      <a:pt x="158" y="78"/>
                    </a:lnTo>
                    <a:lnTo>
                      <a:pt x="152" y="87"/>
                    </a:lnTo>
                    <a:lnTo>
                      <a:pt x="149" y="98"/>
                    </a:lnTo>
                    <a:lnTo>
                      <a:pt x="148" y="110"/>
                    </a:lnTo>
                    <a:lnTo>
                      <a:pt x="148" y="191"/>
                    </a:lnTo>
                    <a:lnTo>
                      <a:pt x="149" y="209"/>
                    </a:lnTo>
                    <a:lnTo>
                      <a:pt x="154" y="227"/>
                    </a:lnTo>
                    <a:lnTo>
                      <a:pt x="164" y="243"/>
                    </a:lnTo>
                    <a:lnTo>
                      <a:pt x="178" y="259"/>
                    </a:lnTo>
                    <a:lnTo>
                      <a:pt x="400" y="448"/>
                    </a:lnTo>
                    <a:lnTo>
                      <a:pt x="421" y="469"/>
                    </a:lnTo>
                    <a:lnTo>
                      <a:pt x="437" y="492"/>
                    </a:lnTo>
                    <a:lnTo>
                      <a:pt x="447" y="516"/>
                    </a:lnTo>
                    <a:lnTo>
                      <a:pt x="451" y="541"/>
                    </a:lnTo>
                    <a:lnTo>
                      <a:pt x="451" y="660"/>
                    </a:lnTo>
                    <a:lnTo>
                      <a:pt x="448" y="683"/>
                    </a:lnTo>
                    <a:lnTo>
                      <a:pt x="439" y="703"/>
                    </a:lnTo>
                    <a:lnTo>
                      <a:pt x="424" y="721"/>
                    </a:lnTo>
                    <a:lnTo>
                      <a:pt x="404" y="737"/>
                    </a:lnTo>
                    <a:lnTo>
                      <a:pt x="378" y="749"/>
                    </a:lnTo>
                    <a:lnTo>
                      <a:pt x="347" y="760"/>
                    </a:lnTo>
                    <a:lnTo>
                      <a:pt x="311" y="766"/>
                    </a:lnTo>
                    <a:lnTo>
                      <a:pt x="272" y="770"/>
                    </a:lnTo>
                    <a:lnTo>
                      <a:pt x="228" y="772"/>
                    </a:lnTo>
                    <a:lnTo>
                      <a:pt x="180" y="770"/>
                    </a:lnTo>
                    <a:lnTo>
                      <a:pt x="137" y="766"/>
                    </a:lnTo>
                    <a:lnTo>
                      <a:pt x="101" y="760"/>
                    </a:lnTo>
                    <a:lnTo>
                      <a:pt x="70" y="750"/>
                    </a:lnTo>
                    <a:lnTo>
                      <a:pt x="44" y="738"/>
                    </a:lnTo>
                    <a:lnTo>
                      <a:pt x="24" y="723"/>
                    </a:lnTo>
                    <a:lnTo>
                      <a:pt x="11" y="706"/>
                    </a:lnTo>
                    <a:lnTo>
                      <a:pt x="3" y="685"/>
                    </a:lnTo>
                    <a:lnTo>
                      <a:pt x="0" y="660"/>
                    </a:lnTo>
                    <a:lnTo>
                      <a:pt x="0" y="556"/>
                    </a:lnTo>
                    <a:lnTo>
                      <a:pt x="139" y="556"/>
                    </a:lnTo>
                    <a:lnTo>
                      <a:pt x="139" y="656"/>
                    </a:lnTo>
                    <a:lnTo>
                      <a:pt x="141" y="672"/>
                    </a:lnTo>
                    <a:lnTo>
                      <a:pt x="149" y="687"/>
                    </a:lnTo>
                    <a:lnTo>
                      <a:pt x="160" y="698"/>
                    </a:lnTo>
                    <a:lnTo>
                      <a:pt x="177" y="706"/>
                    </a:lnTo>
                    <a:lnTo>
                      <a:pt x="200" y="711"/>
                    </a:lnTo>
                    <a:lnTo>
                      <a:pt x="228" y="713"/>
                    </a:lnTo>
                    <a:lnTo>
                      <a:pt x="254" y="711"/>
                    </a:lnTo>
                    <a:lnTo>
                      <a:pt x="275" y="706"/>
                    </a:lnTo>
                    <a:lnTo>
                      <a:pt x="291" y="698"/>
                    </a:lnTo>
                    <a:lnTo>
                      <a:pt x="302" y="687"/>
                    </a:lnTo>
                    <a:lnTo>
                      <a:pt x="310" y="672"/>
                    </a:lnTo>
                    <a:lnTo>
                      <a:pt x="311" y="656"/>
                    </a:lnTo>
                    <a:lnTo>
                      <a:pt x="311" y="551"/>
                    </a:lnTo>
                    <a:lnTo>
                      <a:pt x="310" y="532"/>
                    </a:lnTo>
                    <a:lnTo>
                      <a:pt x="303" y="515"/>
                    </a:lnTo>
                    <a:lnTo>
                      <a:pt x="290" y="496"/>
                    </a:lnTo>
                    <a:lnTo>
                      <a:pt x="271" y="477"/>
                    </a:lnTo>
                    <a:lnTo>
                      <a:pt x="67" y="300"/>
                    </a:lnTo>
                    <a:lnTo>
                      <a:pt x="47" y="282"/>
                    </a:lnTo>
                    <a:lnTo>
                      <a:pt x="31" y="263"/>
                    </a:lnTo>
                    <a:lnTo>
                      <a:pt x="19" y="244"/>
                    </a:lnTo>
                    <a:lnTo>
                      <a:pt x="11" y="225"/>
                    </a:lnTo>
                    <a:lnTo>
                      <a:pt x="8" y="204"/>
                    </a:lnTo>
                    <a:lnTo>
                      <a:pt x="8" y="112"/>
                    </a:lnTo>
                    <a:lnTo>
                      <a:pt x="11" y="89"/>
                    </a:lnTo>
                    <a:lnTo>
                      <a:pt x="20" y="67"/>
                    </a:lnTo>
                    <a:lnTo>
                      <a:pt x="33" y="50"/>
                    </a:lnTo>
                    <a:lnTo>
                      <a:pt x="54" y="35"/>
                    </a:lnTo>
                    <a:lnTo>
                      <a:pt x="78" y="22"/>
                    </a:lnTo>
                    <a:lnTo>
                      <a:pt x="107" y="12"/>
                    </a:lnTo>
                    <a:lnTo>
                      <a:pt x="144" y="6"/>
                    </a:lnTo>
                    <a:lnTo>
                      <a:pt x="182" y="2"/>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 name="Freeform 11">
                <a:extLst>
                  <a:ext uri="{FF2B5EF4-FFF2-40B4-BE49-F238E27FC236}">
                    <a16:creationId xmlns:a16="http://schemas.microsoft.com/office/drawing/2014/main" id="{EE9DFF42-AE36-4CB3-AA29-2528A741DA5F}"/>
                  </a:ext>
                </a:extLst>
              </p:cNvPr>
              <p:cNvSpPr>
                <a:spLocks/>
              </p:cNvSpPr>
              <p:nvPr/>
            </p:nvSpPr>
            <p:spPr bwMode="auto">
              <a:xfrm>
                <a:off x="1430338" y="5005388"/>
                <a:ext cx="352425" cy="755650"/>
              </a:xfrm>
              <a:custGeom>
                <a:avLst/>
                <a:gdLst>
                  <a:gd name="T0" fmla="*/ 305 w 443"/>
                  <a:gd name="T1" fmla="*/ 0 h 952"/>
                  <a:gd name="T2" fmla="*/ 443 w 443"/>
                  <a:gd name="T3" fmla="*/ 0 h 952"/>
                  <a:gd name="T4" fmla="*/ 138 w 443"/>
                  <a:gd name="T5" fmla="*/ 952 h 952"/>
                  <a:gd name="T6" fmla="*/ 0 w 443"/>
                  <a:gd name="T7" fmla="*/ 952 h 952"/>
                  <a:gd name="T8" fmla="*/ 305 w 443"/>
                  <a:gd name="T9" fmla="*/ 0 h 952"/>
                </a:gdLst>
                <a:ahLst/>
                <a:cxnLst>
                  <a:cxn ang="0">
                    <a:pos x="T0" y="T1"/>
                  </a:cxn>
                  <a:cxn ang="0">
                    <a:pos x="T2" y="T3"/>
                  </a:cxn>
                  <a:cxn ang="0">
                    <a:pos x="T4" y="T5"/>
                  </a:cxn>
                  <a:cxn ang="0">
                    <a:pos x="T6" y="T7"/>
                  </a:cxn>
                  <a:cxn ang="0">
                    <a:pos x="T8" y="T9"/>
                  </a:cxn>
                </a:cxnLst>
                <a:rect l="0" t="0" r="r" b="b"/>
                <a:pathLst>
                  <a:path w="443" h="952">
                    <a:moveTo>
                      <a:pt x="305" y="0"/>
                    </a:moveTo>
                    <a:lnTo>
                      <a:pt x="443"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 name="Freeform 12">
                <a:extLst>
                  <a:ext uri="{FF2B5EF4-FFF2-40B4-BE49-F238E27FC236}">
                    <a16:creationId xmlns:a16="http://schemas.microsoft.com/office/drawing/2014/main" id="{2DDF7598-C167-4733-90F9-E44E3AEF9F71}"/>
                  </a:ext>
                </a:extLst>
              </p:cNvPr>
              <p:cNvSpPr>
                <a:spLocks/>
              </p:cNvSpPr>
              <p:nvPr/>
            </p:nvSpPr>
            <p:spPr bwMode="auto">
              <a:xfrm>
                <a:off x="1349376" y="5006976"/>
                <a:ext cx="204788" cy="468313"/>
              </a:xfrm>
              <a:custGeom>
                <a:avLst/>
                <a:gdLst>
                  <a:gd name="T0" fmla="*/ 0 w 257"/>
                  <a:gd name="T1" fmla="*/ 0 h 591"/>
                  <a:gd name="T2" fmla="*/ 138 w 257"/>
                  <a:gd name="T3" fmla="*/ 0 h 591"/>
                  <a:gd name="T4" fmla="*/ 257 w 257"/>
                  <a:gd name="T5" fmla="*/ 373 h 591"/>
                  <a:gd name="T6" fmla="*/ 188 w 257"/>
                  <a:gd name="T7" fmla="*/ 591 h 591"/>
                  <a:gd name="T8" fmla="*/ 0 w 257"/>
                  <a:gd name="T9" fmla="*/ 0 h 591"/>
                </a:gdLst>
                <a:ahLst/>
                <a:cxnLst>
                  <a:cxn ang="0">
                    <a:pos x="T0" y="T1"/>
                  </a:cxn>
                  <a:cxn ang="0">
                    <a:pos x="T2" y="T3"/>
                  </a:cxn>
                  <a:cxn ang="0">
                    <a:pos x="T4" y="T5"/>
                  </a:cxn>
                  <a:cxn ang="0">
                    <a:pos x="T6" y="T7"/>
                  </a:cxn>
                  <a:cxn ang="0">
                    <a:pos x="T8" y="T9"/>
                  </a:cxn>
                </a:cxnLst>
                <a:rect l="0" t="0" r="r" b="b"/>
                <a:pathLst>
                  <a:path w="257" h="591">
                    <a:moveTo>
                      <a:pt x="0" y="0"/>
                    </a:moveTo>
                    <a:lnTo>
                      <a:pt x="138" y="0"/>
                    </a:lnTo>
                    <a:lnTo>
                      <a:pt x="257" y="373"/>
                    </a:lnTo>
                    <a:lnTo>
                      <a:pt x="188" y="59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 name="Freeform 13">
                <a:extLst>
                  <a:ext uri="{FF2B5EF4-FFF2-40B4-BE49-F238E27FC236}">
                    <a16:creationId xmlns:a16="http://schemas.microsoft.com/office/drawing/2014/main" id="{17250C49-24A3-4E87-8762-0B40D1B72FB9}"/>
                  </a:ext>
                </a:extLst>
              </p:cNvPr>
              <p:cNvSpPr>
                <a:spLocks/>
              </p:cNvSpPr>
              <p:nvPr/>
            </p:nvSpPr>
            <p:spPr bwMode="auto">
              <a:xfrm>
                <a:off x="3578226" y="5005388"/>
                <a:ext cx="352425" cy="755650"/>
              </a:xfrm>
              <a:custGeom>
                <a:avLst/>
                <a:gdLst>
                  <a:gd name="T0" fmla="*/ 305 w 444"/>
                  <a:gd name="T1" fmla="*/ 0 h 952"/>
                  <a:gd name="T2" fmla="*/ 444 w 444"/>
                  <a:gd name="T3" fmla="*/ 0 h 952"/>
                  <a:gd name="T4" fmla="*/ 138 w 444"/>
                  <a:gd name="T5" fmla="*/ 952 h 952"/>
                  <a:gd name="T6" fmla="*/ 0 w 444"/>
                  <a:gd name="T7" fmla="*/ 952 h 952"/>
                  <a:gd name="T8" fmla="*/ 305 w 444"/>
                  <a:gd name="T9" fmla="*/ 0 h 952"/>
                </a:gdLst>
                <a:ahLst/>
                <a:cxnLst>
                  <a:cxn ang="0">
                    <a:pos x="T0" y="T1"/>
                  </a:cxn>
                  <a:cxn ang="0">
                    <a:pos x="T2" y="T3"/>
                  </a:cxn>
                  <a:cxn ang="0">
                    <a:pos x="T4" y="T5"/>
                  </a:cxn>
                  <a:cxn ang="0">
                    <a:pos x="T6" y="T7"/>
                  </a:cxn>
                  <a:cxn ang="0">
                    <a:pos x="T8" y="T9"/>
                  </a:cxn>
                </a:cxnLst>
                <a:rect l="0" t="0" r="r" b="b"/>
                <a:pathLst>
                  <a:path w="444" h="952">
                    <a:moveTo>
                      <a:pt x="305" y="0"/>
                    </a:moveTo>
                    <a:lnTo>
                      <a:pt x="444"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 name="Freeform 14">
                <a:extLst>
                  <a:ext uri="{FF2B5EF4-FFF2-40B4-BE49-F238E27FC236}">
                    <a16:creationId xmlns:a16="http://schemas.microsoft.com/office/drawing/2014/main" id="{11BB33A0-C3E9-4248-B1C8-1F04CA0972AA}"/>
                  </a:ext>
                </a:extLst>
              </p:cNvPr>
              <p:cNvSpPr>
                <a:spLocks/>
              </p:cNvSpPr>
              <p:nvPr/>
            </p:nvSpPr>
            <p:spPr bwMode="auto">
              <a:xfrm>
                <a:off x="3495676" y="5005388"/>
                <a:ext cx="206375" cy="468313"/>
              </a:xfrm>
              <a:custGeom>
                <a:avLst/>
                <a:gdLst>
                  <a:gd name="T0" fmla="*/ 0 w 259"/>
                  <a:gd name="T1" fmla="*/ 0 h 589"/>
                  <a:gd name="T2" fmla="*/ 139 w 259"/>
                  <a:gd name="T3" fmla="*/ 0 h 589"/>
                  <a:gd name="T4" fmla="*/ 259 w 259"/>
                  <a:gd name="T5" fmla="*/ 372 h 589"/>
                  <a:gd name="T6" fmla="*/ 189 w 259"/>
                  <a:gd name="T7" fmla="*/ 589 h 589"/>
                  <a:gd name="T8" fmla="*/ 0 w 259"/>
                  <a:gd name="T9" fmla="*/ 0 h 589"/>
                </a:gdLst>
                <a:ahLst/>
                <a:cxnLst>
                  <a:cxn ang="0">
                    <a:pos x="T0" y="T1"/>
                  </a:cxn>
                  <a:cxn ang="0">
                    <a:pos x="T2" y="T3"/>
                  </a:cxn>
                  <a:cxn ang="0">
                    <a:pos x="T4" y="T5"/>
                  </a:cxn>
                  <a:cxn ang="0">
                    <a:pos x="T6" y="T7"/>
                  </a:cxn>
                  <a:cxn ang="0">
                    <a:pos x="T8" y="T9"/>
                  </a:cxn>
                </a:cxnLst>
                <a:rect l="0" t="0" r="r" b="b"/>
                <a:pathLst>
                  <a:path w="259" h="589">
                    <a:moveTo>
                      <a:pt x="0" y="0"/>
                    </a:moveTo>
                    <a:lnTo>
                      <a:pt x="139" y="0"/>
                    </a:lnTo>
                    <a:lnTo>
                      <a:pt x="259" y="372"/>
                    </a:lnTo>
                    <a:lnTo>
                      <a:pt x="189" y="5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 name="Freeform 15">
                <a:extLst>
                  <a:ext uri="{FF2B5EF4-FFF2-40B4-BE49-F238E27FC236}">
                    <a16:creationId xmlns:a16="http://schemas.microsoft.com/office/drawing/2014/main" id="{6F224309-A90E-4600-8714-4FF47A6FC856}"/>
                  </a:ext>
                </a:extLst>
              </p:cNvPr>
              <p:cNvSpPr>
                <a:spLocks/>
              </p:cNvSpPr>
              <p:nvPr/>
            </p:nvSpPr>
            <p:spPr bwMode="auto">
              <a:xfrm>
                <a:off x="1817688" y="5005388"/>
                <a:ext cx="396875" cy="603250"/>
              </a:xfrm>
              <a:custGeom>
                <a:avLst/>
                <a:gdLst>
                  <a:gd name="T0" fmla="*/ 0 w 499"/>
                  <a:gd name="T1" fmla="*/ 0 h 759"/>
                  <a:gd name="T2" fmla="*/ 268 w 499"/>
                  <a:gd name="T3" fmla="*/ 0 h 759"/>
                  <a:gd name="T4" fmla="*/ 318 w 499"/>
                  <a:gd name="T5" fmla="*/ 0 h 759"/>
                  <a:gd name="T6" fmla="*/ 361 w 499"/>
                  <a:gd name="T7" fmla="*/ 4 h 759"/>
                  <a:gd name="T8" fmla="*/ 397 w 499"/>
                  <a:gd name="T9" fmla="*/ 8 h 759"/>
                  <a:gd name="T10" fmla="*/ 427 w 499"/>
                  <a:gd name="T11" fmla="*/ 16 h 759"/>
                  <a:gd name="T12" fmla="*/ 451 w 499"/>
                  <a:gd name="T13" fmla="*/ 26 h 759"/>
                  <a:gd name="T14" fmla="*/ 470 w 499"/>
                  <a:gd name="T15" fmla="*/ 38 h 759"/>
                  <a:gd name="T16" fmla="*/ 483 w 499"/>
                  <a:gd name="T17" fmla="*/ 52 h 759"/>
                  <a:gd name="T18" fmla="*/ 493 w 499"/>
                  <a:gd name="T19" fmla="*/ 70 h 759"/>
                  <a:gd name="T20" fmla="*/ 498 w 499"/>
                  <a:gd name="T21" fmla="*/ 91 h 759"/>
                  <a:gd name="T22" fmla="*/ 499 w 499"/>
                  <a:gd name="T23" fmla="*/ 115 h 759"/>
                  <a:gd name="T24" fmla="*/ 499 w 499"/>
                  <a:gd name="T25" fmla="*/ 759 h 759"/>
                  <a:gd name="T26" fmla="*/ 361 w 499"/>
                  <a:gd name="T27" fmla="*/ 759 h 759"/>
                  <a:gd name="T28" fmla="*/ 361 w 499"/>
                  <a:gd name="T29" fmla="*/ 106 h 759"/>
                  <a:gd name="T30" fmla="*/ 358 w 499"/>
                  <a:gd name="T31" fmla="*/ 91 h 759"/>
                  <a:gd name="T32" fmla="*/ 350 w 499"/>
                  <a:gd name="T33" fmla="*/ 79 h 759"/>
                  <a:gd name="T34" fmla="*/ 338 w 499"/>
                  <a:gd name="T35" fmla="*/ 71 h 759"/>
                  <a:gd name="T36" fmla="*/ 322 w 499"/>
                  <a:gd name="T37" fmla="*/ 66 h 759"/>
                  <a:gd name="T38" fmla="*/ 302 w 499"/>
                  <a:gd name="T39" fmla="*/ 62 h 759"/>
                  <a:gd name="T40" fmla="*/ 279 w 499"/>
                  <a:gd name="T41" fmla="*/ 59 h 759"/>
                  <a:gd name="T42" fmla="*/ 254 w 499"/>
                  <a:gd name="T43" fmla="*/ 59 h 759"/>
                  <a:gd name="T44" fmla="*/ 138 w 499"/>
                  <a:gd name="T45" fmla="*/ 59 h 759"/>
                  <a:gd name="T46" fmla="*/ 138 w 499"/>
                  <a:gd name="T47" fmla="*/ 759 h 759"/>
                  <a:gd name="T48" fmla="*/ 138 w 499"/>
                  <a:gd name="T49" fmla="*/ 759 h 759"/>
                  <a:gd name="T50" fmla="*/ 0 w 499"/>
                  <a:gd name="T51" fmla="*/ 759 h 759"/>
                  <a:gd name="T52" fmla="*/ 0 w 499"/>
                  <a:gd name="T53"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9" h="759">
                    <a:moveTo>
                      <a:pt x="0" y="0"/>
                    </a:moveTo>
                    <a:lnTo>
                      <a:pt x="268" y="0"/>
                    </a:lnTo>
                    <a:lnTo>
                      <a:pt x="318" y="0"/>
                    </a:lnTo>
                    <a:lnTo>
                      <a:pt x="361" y="4"/>
                    </a:lnTo>
                    <a:lnTo>
                      <a:pt x="397" y="8"/>
                    </a:lnTo>
                    <a:lnTo>
                      <a:pt x="427" y="16"/>
                    </a:lnTo>
                    <a:lnTo>
                      <a:pt x="451" y="26"/>
                    </a:lnTo>
                    <a:lnTo>
                      <a:pt x="470" y="38"/>
                    </a:lnTo>
                    <a:lnTo>
                      <a:pt x="483" y="52"/>
                    </a:lnTo>
                    <a:lnTo>
                      <a:pt x="493" y="70"/>
                    </a:lnTo>
                    <a:lnTo>
                      <a:pt x="498" y="91"/>
                    </a:lnTo>
                    <a:lnTo>
                      <a:pt x="499" y="115"/>
                    </a:lnTo>
                    <a:lnTo>
                      <a:pt x="499" y="759"/>
                    </a:lnTo>
                    <a:lnTo>
                      <a:pt x="361" y="759"/>
                    </a:lnTo>
                    <a:lnTo>
                      <a:pt x="361" y="106"/>
                    </a:lnTo>
                    <a:lnTo>
                      <a:pt x="358" y="91"/>
                    </a:lnTo>
                    <a:lnTo>
                      <a:pt x="350" y="79"/>
                    </a:lnTo>
                    <a:lnTo>
                      <a:pt x="338" y="71"/>
                    </a:lnTo>
                    <a:lnTo>
                      <a:pt x="322" y="66"/>
                    </a:lnTo>
                    <a:lnTo>
                      <a:pt x="302" y="62"/>
                    </a:lnTo>
                    <a:lnTo>
                      <a:pt x="279" y="59"/>
                    </a:lnTo>
                    <a:lnTo>
                      <a:pt x="254" y="59"/>
                    </a:lnTo>
                    <a:lnTo>
                      <a:pt x="138" y="59"/>
                    </a:lnTo>
                    <a:lnTo>
                      <a:pt x="138" y="759"/>
                    </a:lnTo>
                    <a:lnTo>
                      <a:pt x="138"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 name="Freeform 16">
                <a:extLst>
                  <a:ext uri="{FF2B5EF4-FFF2-40B4-BE49-F238E27FC236}">
                    <a16:creationId xmlns:a16="http://schemas.microsoft.com/office/drawing/2014/main" id="{538F60B4-8611-4079-A797-E62E8B431E6B}"/>
                  </a:ext>
                </a:extLst>
              </p:cNvPr>
              <p:cNvSpPr>
                <a:spLocks noEditPoints="1"/>
              </p:cNvSpPr>
              <p:nvPr/>
            </p:nvSpPr>
            <p:spPr bwMode="auto">
              <a:xfrm>
                <a:off x="4337051" y="5010151"/>
                <a:ext cx="142875" cy="139700"/>
              </a:xfrm>
              <a:custGeom>
                <a:avLst/>
                <a:gdLst>
                  <a:gd name="T0" fmla="*/ 72 w 180"/>
                  <a:gd name="T1" fmla="*/ 82 h 177"/>
                  <a:gd name="T2" fmla="*/ 100 w 180"/>
                  <a:gd name="T3" fmla="*/ 82 h 177"/>
                  <a:gd name="T4" fmla="*/ 113 w 180"/>
                  <a:gd name="T5" fmla="*/ 75 h 177"/>
                  <a:gd name="T6" fmla="*/ 113 w 180"/>
                  <a:gd name="T7" fmla="*/ 58 h 177"/>
                  <a:gd name="T8" fmla="*/ 101 w 180"/>
                  <a:gd name="T9" fmla="*/ 51 h 177"/>
                  <a:gd name="T10" fmla="*/ 72 w 180"/>
                  <a:gd name="T11" fmla="*/ 51 h 177"/>
                  <a:gd name="T12" fmla="*/ 96 w 180"/>
                  <a:gd name="T13" fmla="*/ 38 h 177"/>
                  <a:gd name="T14" fmla="*/ 123 w 180"/>
                  <a:gd name="T15" fmla="*/ 45 h 177"/>
                  <a:gd name="T16" fmla="*/ 132 w 180"/>
                  <a:gd name="T17" fmla="*/ 66 h 177"/>
                  <a:gd name="T18" fmla="*/ 124 w 180"/>
                  <a:gd name="T19" fmla="*/ 87 h 177"/>
                  <a:gd name="T20" fmla="*/ 105 w 180"/>
                  <a:gd name="T21" fmla="*/ 94 h 177"/>
                  <a:gd name="T22" fmla="*/ 117 w 180"/>
                  <a:gd name="T23" fmla="*/ 140 h 177"/>
                  <a:gd name="T24" fmla="*/ 72 w 180"/>
                  <a:gd name="T25" fmla="*/ 95 h 177"/>
                  <a:gd name="T26" fmla="*/ 57 w 180"/>
                  <a:gd name="T27" fmla="*/ 140 h 177"/>
                  <a:gd name="T28" fmla="*/ 90 w 180"/>
                  <a:gd name="T29" fmla="*/ 15 h 177"/>
                  <a:gd name="T30" fmla="*/ 47 w 180"/>
                  <a:gd name="T31" fmla="*/ 29 h 177"/>
                  <a:gd name="T32" fmla="*/ 22 w 180"/>
                  <a:gd name="T33" fmla="*/ 65 h 177"/>
                  <a:gd name="T34" fmla="*/ 22 w 180"/>
                  <a:gd name="T35" fmla="*/ 113 h 177"/>
                  <a:gd name="T36" fmla="*/ 47 w 180"/>
                  <a:gd name="T37" fmla="*/ 149 h 177"/>
                  <a:gd name="T38" fmla="*/ 90 w 180"/>
                  <a:gd name="T39" fmla="*/ 162 h 177"/>
                  <a:gd name="T40" fmla="*/ 133 w 180"/>
                  <a:gd name="T41" fmla="*/ 149 h 177"/>
                  <a:gd name="T42" fmla="*/ 159 w 180"/>
                  <a:gd name="T43" fmla="*/ 113 h 177"/>
                  <a:gd name="T44" fmla="*/ 159 w 180"/>
                  <a:gd name="T45" fmla="*/ 65 h 177"/>
                  <a:gd name="T46" fmla="*/ 133 w 180"/>
                  <a:gd name="T47" fmla="*/ 29 h 177"/>
                  <a:gd name="T48" fmla="*/ 90 w 180"/>
                  <a:gd name="T49" fmla="*/ 15 h 177"/>
                  <a:gd name="T50" fmla="*/ 115 w 180"/>
                  <a:gd name="T51" fmla="*/ 3 h 177"/>
                  <a:gd name="T52" fmla="*/ 153 w 180"/>
                  <a:gd name="T53" fmla="*/ 26 h 177"/>
                  <a:gd name="T54" fmla="*/ 176 w 180"/>
                  <a:gd name="T55" fmla="*/ 65 h 177"/>
                  <a:gd name="T56" fmla="*/ 176 w 180"/>
                  <a:gd name="T57" fmla="*/ 113 h 177"/>
                  <a:gd name="T58" fmla="*/ 153 w 180"/>
                  <a:gd name="T59" fmla="*/ 152 h 177"/>
                  <a:gd name="T60" fmla="*/ 115 w 180"/>
                  <a:gd name="T61" fmla="*/ 174 h 177"/>
                  <a:gd name="T62" fmla="*/ 68 w 180"/>
                  <a:gd name="T63" fmla="*/ 174 h 177"/>
                  <a:gd name="T64" fmla="*/ 27 w 180"/>
                  <a:gd name="T65" fmla="*/ 152 h 177"/>
                  <a:gd name="T66" fmla="*/ 4 w 180"/>
                  <a:gd name="T67" fmla="*/ 113 h 177"/>
                  <a:gd name="T68" fmla="*/ 4 w 180"/>
                  <a:gd name="T69" fmla="*/ 65 h 177"/>
                  <a:gd name="T70" fmla="*/ 27 w 180"/>
                  <a:gd name="T71" fmla="*/ 26 h 177"/>
                  <a:gd name="T72" fmla="*/ 68 w 180"/>
                  <a:gd name="T73"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0" h="177">
                    <a:moveTo>
                      <a:pt x="72" y="51"/>
                    </a:moveTo>
                    <a:lnTo>
                      <a:pt x="72" y="82"/>
                    </a:lnTo>
                    <a:lnTo>
                      <a:pt x="90" y="82"/>
                    </a:lnTo>
                    <a:lnTo>
                      <a:pt x="100" y="82"/>
                    </a:lnTo>
                    <a:lnTo>
                      <a:pt x="108" y="79"/>
                    </a:lnTo>
                    <a:lnTo>
                      <a:pt x="113" y="75"/>
                    </a:lnTo>
                    <a:lnTo>
                      <a:pt x="116" y="66"/>
                    </a:lnTo>
                    <a:lnTo>
                      <a:pt x="113" y="58"/>
                    </a:lnTo>
                    <a:lnTo>
                      <a:pt x="108" y="54"/>
                    </a:lnTo>
                    <a:lnTo>
                      <a:pt x="101" y="51"/>
                    </a:lnTo>
                    <a:lnTo>
                      <a:pt x="93" y="51"/>
                    </a:lnTo>
                    <a:lnTo>
                      <a:pt x="72" y="51"/>
                    </a:lnTo>
                    <a:close/>
                    <a:moveTo>
                      <a:pt x="57" y="38"/>
                    </a:moveTo>
                    <a:lnTo>
                      <a:pt x="96" y="38"/>
                    </a:lnTo>
                    <a:lnTo>
                      <a:pt x="112" y="39"/>
                    </a:lnTo>
                    <a:lnTo>
                      <a:pt x="123" y="45"/>
                    </a:lnTo>
                    <a:lnTo>
                      <a:pt x="129" y="54"/>
                    </a:lnTo>
                    <a:lnTo>
                      <a:pt x="132" y="66"/>
                    </a:lnTo>
                    <a:lnTo>
                      <a:pt x="129" y="78"/>
                    </a:lnTo>
                    <a:lnTo>
                      <a:pt x="124" y="87"/>
                    </a:lnTo>
                    <a:lnTo>
                      <a:pt x="116" y="91"/>
                    </a:lnTo>
                    <a:lnTo>
                      <a:pt x="105" y="94"/>
                    </a:lnTo>
                    <a:lnTo>
                      <a:pt x="135" y="140"/>
                    </a:lnTo>
                    <a:lnTo>
                      <a:pt x="117" y="140"/>
                    </a:lnTo>
                    <a:lnTo>
                      <a:pt x="90" y="95"/>
                    </a:lnTo>
                    <a:lnTo>
                      <a:pt x="72" y="95"/>
                    </a:lnTo>
                    <a:lnTo>
                      <a:pt x="72" y="140"/>
                    </a:lnTo>
                    <a:lnTo>
                      <a:pt x="57" y="140"/>
                    </a:lnTo>
                    <a:lnTo>
                      <a:pt x="57" y="38"/>
                    </a:lnTo>
                    <a:close/>
                    <a:moveTo>
                      <a:pt x="90" y="15"/>
                    </a:moveTo>
                    <a:lnTo>
                      <a:pt x="68" y="19"/>
                    </a:lnTo>
                    <a:lnTo>
                      <a:pt x="47" y="29"/>
                    </a:lnTo>
                    <a:lnTo>
                      <a:pt x="33" y="45"/>
                    </a:lnTo>
                    <a:lnTo>
                      <a:pt x="22" y="65"/>
                    </a:lnTo>
                    <a:lnTo>
                      <a:pt x="18" y="89"/>
                    </a:lnTo>
                    <a:lnTo>
                      <a:pt x="22" y="113"/>
                    </a:lnTo>
                    <a:lnTo>
                      <a:pt x="33" y="133"/>
                    </a:lnTo>
                    <a:lnTo>
                      <a:pt x="47" y="149"/>
                    </a:lnTo>
                    <a:lnTo>
                      <a:pt x="68" y="158"/>
                    </a:lnTo>
                    <a:lnTo>
                      <a:pt x="90" y="162"/>
                    </a:lnTo>
                    <a:lnTo>
                      <a:pt x="113" y="158"/>
                    </a:lnTo>
                    <a:lnTo>
                      <a:pt x="133" y="149"/>
                    </a:lnTo>
                    <a:lnTo>
                      <a:pt x="148" y="133"/>
                    </a:lnTo>
                    <a:lnTo>
                      <a:pt x="159" y="113"/>
                    </a:lnTo>
                    <a:lnTo>
                      <a:pt x="163" y="89"/>
                    </a:lnTo>
                    <a:lnTo>
                      <a:pt x="159" y="65"/>
                    </a:lnTo>
                    <a:lnTo>
                      <a:pt x="148" y="45"/>
                    </a:lnTo>
                    <a:lnTo>
                      <a:pt x="133" y="29"/>
                    </a:lnTo>
                    <a:lnTo>
                      <a:pt x="113" y="19"/>
                    </a:lnTo>
                    <a:lnTo>
                      <a:pt x="90" y="15"/>
                    </a:lnTo>
                    <a:close/>
                    <a:moveTo>
                      <a:pt x="90" y="0"/>
                    </a:moveTo>
                    <a:lnTo>
                      <a:pt x="115" y="3"/>
                    </a:lnTo>
                    <a:lnTo>
                      <a:pt x="136" y="12"/>
                    </a:lnTo>
                    <a:lnTo>
                      <a:pt x="153" y="26"/>
                    </a:lnTo>
                    <a:lnTo>
                      <a:pt x="168" y="43"/>
                    </a:lnTo>
                    <a:lnTo>
                      <a:pt x="176" y="65"/>
                    </a:lnTo>
                    <a:lnTo>
                      <a:pt x="180" y="89"/>
                    </a:lnTo>
                    <a:lnTo>
                      <a:pt x="176" y="113"/>
                    </a:lnTo>
                    <a:lnTo>
                      <a:pt x="168" y="134"/>
                    </a:lnTo>
                    <a:lnTo>
                      <a:pt x="153" y="152"/>
                    </a:lnTo>
                    <a:lnTo>
                      <a:pt x="136" y="165"/>
                    </a:lnTo>
                    <a:lnTo>
                      <a:pt x="115" y="174"/>
                    </a:lnTo>
                    <a:lnTo>
                      <a:pt x="90" y="177"/>
                    </a:lnTo>
                    <a:lnTo>
                      <a:pt x="68" y="174"/>
                    </a:lnTo>
                    <a:lnTo>
                      <a:pt x="46" y="165"/>
                    </a:lnTo>
                    <a:lnTo>
                      <a:pt x="27" y="152"/>
                    </a:lnTo>
                    <a:lnTo>
                      <a:pt x="14" y="134"/>
                    </a:lnTo>
                    <a:lnTo>
                      <a:pt x="4" y="113"/>
                    </a:lnTo>
                    <a:lnTo>
                      <a:pt x="0" y="89"/>
                    </a:lnTo>
                    <a:lnTo>
                      <a:pt x="4" y="65"/>
                    </a:lnTo>
                    <a:lnTo>
                      <a:pt x="14" y="43"/>
                    </a:lnTo>
                    <a:lnTo>
                      <a:pt x="27" y="26"/>
                    </a:lnTo>
                    <a:lnTo>
                      <a:pt x="46" y="12"/>
                    </a:lnTo>
                    <a:lnTo>
                      <a:pt x="68" y="3"/>
                    </a:lnTo>
                    <a:lnTo>
                      <a:pt x="9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grpSp>
      <p:sp>
        <p:nvSpPr>
          <p:cNvPr id="20" name="ConStatement"/>
          <p:cNvSpPr txBox="1"/>
          <p:nvPr userDrawn="1">
            <p:custDataLst>
              <p:tags r:id="rId6"/>
            </p:custDataLst>
          </p:nvPr>
        </p:nvSpPr>
        <p:spPr>
          <a:xfrm>
            <a:off x="126373" y="0"/>
            <a:ext cx="254000" cy="6858000"/>
          </a:xfrm>
          <a:prstGeom prst="rect">
            <a:avLst/>
          </a:prstGeom>
          <a:noFill/>
        </p:spPr>
        <p:txBody>
          <a:bodyPr vert="mongolianVert" wrap="none" lIns="91440" tIns="45720" rIns="91440" bIns="45720" rtlCol="0" anchor="ctr">
            <a:noAutofit/>
          </a:bodyPr>
          <a:lstStyle/>
          <a:p>
            <a:pPr algn="ctr"/>
            <a:r>
              <a:rPr lang="en-US" sz="900">
                <a:solidFill>
                  <a:srgbClr val="7F7F7F"/>
                </a:solidFill>
                <a:latin typeface="Arial"/>
              </a:rPr>
              <a:t>Synopsys Confidential Information</a:t>
            </a:r>
          </a:p>
        </p:txBody>
      </p:sp>
    </p:spTree>
    <p:extLst>
      <p:ext uri="{BB962C8B-B14F-4D97-AF65-F5344CB8AC3E}">
        <p14:creationId xmlns:p14="http://schemas.microsoft.com/office/powerpoint/2010/main" val="2269970331"/>
      </p:ext>
    </p:extLst>
  </p:cSld>
  <p:clrMapOvr>
    <a:masterClrMapping/>
  </p:clrMapOvr>
  <p:extLst>
    <p:ext uri="{DCECCB84-F9BA-43D5-87BE-67443E8EF086}">
      <p15:sldGuideLst xmlns:p15="http://schemas.microsoft.com/office/powerpoint/2012/main">
        <p15:guide id="1" pos="288">
          <p15:clr>
            <a:srgbClr val="5ACBF0"/>
          </p15:clr>
        </p15:guide>
        <p15:guide id="2" pos="6192">
          <p15:clr>
            <a:srgbClr val="5ACBF0"/>
          </p15:clr>
        </p15:guide>
        <p15:guide id="3" pos="6312">
          <p15:clr>
            <a:srgbClr val="5ACBF0"/>
          </p15:clr>
        </p15:guide>
        <p15:guide id="4" orient="horz" pos="288">
          <p15:clr>
            <a:srgbClr val="5ACBF0"/>
          </p15:clr>
        </p15:guide>
        <p15:guide id="5" orient="horz" pos="40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lternate 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E8F61E-8F8D-404F-9D1D-7C47EA2E81A2}"/>
              </a:ext>
            </a:extLst>
          </p:cNvPr>
          <p:cNvPicPr>
            <a:picLocks noChangeAspect="1"/>
          </p:cNvPicPr>
          <p:nvPr>
            <p:custDataLst>
              <p:tags r:id="rId1"/>
            </p:custDataLst>
          </p:nvPr>
        </p:nvPicPr>
        <p:blipFill>
          <a:blip r:embed="rId8"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 Placeholder 15"/>
          <p:cNvSpPr>
            <a:spLocks noGrp="1"/>
          </p:cNvSpPr>
          <p:nvPr>
            <p:ph type="body" sz="quarter" idx="10" hasCustomPrompt="1"/>
            <p:custDataLst>
              <p:tags r:id="rId2"/>
            </p:custDataLst>
          </p:nvPr>
        </p:nvSpPr>
        <p:spPr>
          <a:xfrm>
            <a:off x="456698" y="3970142"/>
            <a:ext cx="5524972" cy="731520"/>
          </a:xfrm>
        </p:spPr>
        <p:txBody>
          <a:bodyPr anchor="b">
            <a:normAutofit/>
          </a:bodyPr>
          <a:lstStyle>
            <a:lvl1pPr marL="0" indent="0" algn="l">
              <a:buNone/>
              <a:defRPr sz="24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t>Click to Add Name and Title</a:t>
            </a:r>
          </a:p>
        </p:txBody>
      </p:sp>
      <p:sp>
        <p:nvSpPr>
          <p:cNvPr id="9" name="Text Placeholder 18"/>
          <p:cNvSpPr>
            <a:spLocks noGrp="1"/>
          </p:cNvSpPr>
          <p:nvPr>
            <p:ph type="body" sz="quarter" idx="11" hasCustomPrompt="1"/>
            <p:custDataLst>
              <p:tags r:id="rId3"/>
            </p:custDataLst>
          </p:nvPr>
        </p:nvSpPr>
        <p:spPr>
          <a:xfrm>
            <a:off x="456555" y="4701662"/>
            <a:ext cx="5525117" cy="396815"/>
          </a:xfrm>
        </p:spPr>
        <p:txBody>
          <a:bodyPr anchor="b">
            <a:normAutofit/>
          </a:bodyPr>
          <a:lstStyle>
            <a:lvl1pPr algn="l">
              <a:buNone/>
              <a:defRPr sz="2000">
                <a:solidFill>
                  <a:schemeClr val="tx1"/>
                </a:solidFill>
                <a:effectLst/>
              </a:defRPr>
            </a:lvl1pPr>
          </a:lstStyle>
          <a:p>
            <a:pPr lvl="0"/>
            <a:r>
              <a:t>Click to Add Date</a:t>
            </a:r>
          </a:p>
        </p:txBody>
      </p:sp>
      <p:sp>
        <p:nvSpPr>
          <p:cNvPr id="21" name="Subtitle 2"/>
          <p:cNvSpPr>
            <a:spLocks noGrp="1"/>
          </p:cNvSpPr>
          <p:nvPr>
            <p:ph type="subTitle" idx="1" hasCustomPrompt="1"/>
            <p:custDataLst>
              <p:tags r:id="rId4"/>
            </p:custDataLst>
          </p:nvPr>
        </p:nvSpPr>
        <p:spPr>
          <a:xfrm>
            <a:off x="456556" y="2982484"/>
            <a:ext cx="11278565" cy="990600"/>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 Subtitle</a:t>
            </a:r>
          </a:p>
        </p:txBody>
      </p:sp>
      <p:sp>
        <p:nvSpPr>
          <p:cNvPr id="22" name="Title 1"/>
          <p:cNvSpPr>
            <a:spLocks noGrp="1"/>
          </p:cNvSpPr>
          <p:nvPr>
            <p:ph type="ctrTitle" hasCustomPrompt="1"/>
            <p:custDataLst>
              <p:tags r:id="rId5"/>
            </p:custDataLst>
          </p:nvPr>
        </p:nvSpPr>
        <p:spPr>
          <a:xfrm>
            <a:off x="456555" y="1147394"/>
            <a:ext cx="11278567" cy="1828800"/>
          </a:xfrm>
        </p:spPr>
        <p:txBody>
          <a:bodyPr anchor="b">
            <a:noAutofit/>
          </a:bodyPr>
          <a:lstStyle>
            <a:lvl1pPr algn="l">
              <a:defRPr sz="3600">
                <a:solidFill>
                  <a:schemeClr val="accent1"/>
                </a:solidFill>
                <a:effectLst/>
              </a:defRPr>
            </a:lvl1pPr>
          </a:lstStyle>
          <a:p>
            <a:r>
              <a:t>Click to Add a Title</a:t>
            </a: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45942614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86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0351105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167835666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3972575490"/>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127993053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1261447088"/>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1674606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75187"/>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384A1CC3-95D3-4FEB-A962-6508F5208D7C}"/>
              </a:ext>
            </a:extLst>
          </p:cNvPr>
          <p:cNvSpPr>
            <a:spLocks noChangeArrowheads="1"/>
          </p:cNvSpPr>
          <p:nvPr userDrawn="1"/>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rgbClr val="000099"/>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5" name="Line 8">
            <a:extLst>
              <a:ext uri="{FF2B5EF4-FFF2-40B4-BE49-F238E27FC236}">
                <a16:creationId xmlns:a16="http://schemas.microsoft.com/office/drawing/2014/main" id="{FAA244FE-70F8-4576-B76F-50AA3D69912D}"/>
              </a:ext>
            </a:extLst>
          </p:cNvPr>
          <p:cNvSpPr>
            <a:spLocks noChangeShapeType="1"/>
          </p:cNvSpPr>
          <p:nvPr userDrawn="1"/>
        </p:nvSpPr>
        <p:spPr bwMode="auto">
          <a:xfrm>
            <a:off x="2641601" y="3962400"/>
            <a:ext cx="868256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 name="TextBox 5">
            <a:extLst>
              <a:ext uri="{FF2B5EF4-FFF2-40B4-BE49-F238E27FC236}">
                <a16:creationId xmlns:a16="http://schemas.microsoft.com/office/drawing/2014/main" id="{EE7587D9-0DE4-4C69-A80A-301C646195FC}"/>
              </a:ext>
            </a:extLst>
          </p:cNvPr>
          <p:cNvSpPr txBox="1">
            <a:spLocks noChangeArrowheads="1"/>
          </p:cNvSpPr>
          <p:nvPr userDrawn="1"/>
        </p:nvSpPr>
        <p:spPr bwMode="auto">
          <a:xfrm>
            <a:off x="3048000" y="6521451"/>
            <a:ext cx="508000" cy="244475"/>
          </a:xfrm>
          <a:prstGeom prst="rect">
            <a:avLst/>
          </a:prstGeom>
          <a:noFill/>
          <a:ln>
            <a:noFill/>
          </a:ln>
        </p:spPr>
        <p:txBody>
          <a:bodyPr>
            <a:spAutoFit/>
          </a:bodyPr>
          <a:lstStyle>
            <a:lvl1pPr>
              <a:defRPr sz="1400">
                <a:solidFill>
                  <a:schemeClr val="tx1"/>
                </a:solidFill>
                <a:latin typeface="Times New Roman" panose="02020603050405020304" pitchFamily="18" charset="0"/>
                <a:cs typeface="Arial" panose="020B0604020202020204" pitchFamily="34" charset="0"/>
              </a:defRPr>
            </a:lvl1pPr>
            <a:lvl2pPr marL="742950" indent="-285750">
              <a:defRPr sz="1400">
                <a:solidFill>
                  <a:schemeClr val="tx1"/>
                </a:solidFill>
                <a:latin typeface="Times New Roman" panose="02020603050405020304" pitchFamily="18" charset="0"/>
                <a:cs typeface="Arial" panose="020B0604020202020204" pitchFamily="34" charset="0"/>
              </a:defRPr>
            </a:lvl2pPr>
            <a:lvl3pPr marL="1143000" indent="-228600">
              <a:defRPr sz="1400">
                <a:solidFill>
                  <a:schemeClr val="tx1"/>
                </a:solidFill>
                <a:latin typeface="Times New Roman" panose="02020603050405020304" pitchFamily="18" charset="0"/>
                <a:cs typeface="Arial" panose="020B0604020202020204" pitchFamily="34" charset="0"/>
              </a:defRPr>
            </a:lvl3pPr>
            <a:lvl4pPr marL="1600200" indent="-228600">
              <a:defRPr sz="1400">
                <a:solidFill>
                  <a:schemeClr val="tx1"/>
                </a:solidFill>
                <a:latin typeface="Times New Roman" panose="02020603050405020304" pitchFamily="18" charset="0"/>
                <a:cs typeface="Arial" panose="020B0604020202020204" pitchFamily="34" charset="0"/>
              </a:defRPr>
            </a:lvl4pPr>
            <a:lvl5pPr marL="2057400" indent="-228600">
              <a:defRPr sz="1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9pPr>
          </a:lstStyle>
          <a:p>
            <a:pPr algn="ctr" eaLnBrk="1" hangingPunct="1"/>
            <a:fld id="{1FC11AB6-A325-4092-8B78-EFDCDE2E0C77}" type="slidenum">
              <a:rPr lang="en-US" altLang="en-US" sz="1000">
                <a:solidFill>
                  <a:srgbClr val="595959"/>
                </a:solidFill>
                <a:latin typeface="Arial" panose="020B0604020202020204" pitchFamily="34" charset="0"/>
              </a:rPr>
              <a:pPr algn="ctr" eaLnBrk="1" hangingPunct="1"/>
              <a:t>‹#›</a:t>
            </a:fld>
            <a:endParaRPr lang="en-US" altLang="en-US" sz="1000">
              <a:solidFill>
                <a:srgbClr val="595959"/>
              </a:solidFill>
              <a:latin typeface="Arial" panose="020B0604020202020204" pitchFamily="34" charset="0"/>
            </a:endParaRPr>
          </a:p>
        </p:txBody>
      </p:sp>
      <p:sp>
        <p:nvSpPr>
          <p:cNvPr id="7" name="Rectangle 6">
            <a:extLst>
              <a:ext uri="{FF2B5EF4-FFF2-40B4-BE49-F238E27FC236}">
                <a16:creationId xmlns:a16="http://schemas.microsoft.com/office/drawing/2014/main" id="{E68267EF-0567-454E-8850-53A7734CC145}"/>
              </a:ext>
            </a:extLst>
          </p:cNvPr>
          <p:cNvSpPr>
            <a:spLocks noChangeArrowheads="1"/>
          </p:cNvSpPr>
          <p:nvPr userDrawn="1"/>
        </p:nvSpPr>
        <p:spPr bwMode="auto">
          <a:xfrm>
            <a:off x="3009900" y="5897564"/>
            <a:ext cx="6096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400">
                <a:solidFill>
                  <a:schemeClr val="tx1"/>
                </a:solidFill>
                <a:latin typeface="Times New Roman" panose="02020603050405020304" pitchFamily="18" charset="0"/>
                <a:cs typeface="Arial" panose="020B0604020202020204" pitchFamily="34" charset="0"/>
              </a:defRPr>
            </a:lvl1pPr>
            <a:lvl2pPr marL="742950" indent="-285750" eaLnBrk="0" hangingPunct="0">
              <a:defRPr sz="1400">
                <a:solidFill>
                  <a:schemeClr val="tx1"/>
                </a:solidFill>
                <a:latin typeface="Times New Roman" panose="02020603050405020304" pitchFamily="18" charset="0"/>
                <a:cs typeface="Arial" panose="020B0604020202020204" pitchFamily="34" charset="0"/>
              </a:defRPr>
            </a:lvl2pPr>
            <a:lvl3pPr marL="1143000" indent="-228600" eaLnBrk="0" hangingPunct="0">
              <a:defRPr sz="1400">
                <a:solidFill>
                  <a:schemeClr val="tx1"/>
                </a:solidFill>
                <a:latin typeface="Times New Roman" panose="02020603050405020304" pitchFamily="18" charset="0"/>
                <a:cs typeface="Arial" panose="020B0604020202020204" pitchFamily="34" charset="0"/>
              </a:defRPr>
            </a:lvl3pPr>
            <a:lvl4pPr marL="1600200" indent="-228600" eaLnBrk="0" hangingPunct="0">
              <a:defRPr sz="1400">
                <a:solidFill>
                  <a:schemeClr val="tx1"/>
                </a:solidFill>
                <a:latin typeface="Times New Roman" panose="02020603050405020304" pitchFamily="18" charset="0"/>
                <a:cs typeface="Arial" panose="020B0604020202020204" pitchFamily="34" charset="0"/>
              </a:defRPr>
            </a:lvl4pPr>
            <a:lvl5pPr marL="2057400" indent="-228600" eaLnBrk="0" hangingPunct="0">
              <a:defRPr sz="1400">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9pPr>
          </a:lstStyle>
          <a:p>
            <a:pPr algn="ctr" eaLnBrk="1" hangingPunct="1">
              <a:defRPr/>
            </a:pPr>
            <a:r>
              <a:rPr lang="en-US" altLang="en-US" sz="900" dirty="0">
                <a:latin typeface="Arial" panose="020B0604020202020204" pitchFamily="34" charset="0"/>
              </a:rPr>
              <a:t>Synopsys University Courseware </a:t>
            </a:r>
          </a:p>
          <a:p>
            <a:pPr algn="ctr" eaLnBrk="1" hangingPunct="1">
              <a:defRPr/>
            </a:pPr>
            <a:r>
              <a:rPr lang="en-US" altLang="en-US" sz="900" dirty="0">
                <a:latin typeface="Arial" panose="020B0604020202020204" pitchFamily="34" charset="0"/>
              </a:rPr>
              <a:t>Copyright © 2017 Synopsys, Inc. All rights reserved.</a:t>
            </a:r>
          </a:p>
          <a:p>
            <a:pPr algn="ctr" eaLnBrk="1" hangingPunct="1">
              <a:defRPr/>
            </a:pPr>
            <a:r>
              <a:rPr lang="en-US" altLang="en-US" sz="900" dirty="0">
                <a:latin typeface="Arial" panose="020B0604020202020204" pitchFamily="34" charset="0"/>
              </a:rPr>
              <a:t>Object-Oriented Programming</a:t>
            </a:r>
          </a:p>
          <a:p>
            <a:pPr algn="ctr" eaLnBrk="1" hangingPunct="1">
              <a:defRPr/>
            </a:pPr>
            <a:r>
              <a:rPr lang="en-US" altLang="en-US" sz="900" dirty="0">
                <a:latin typeface="Arial" panose="020B0604020202020204" pitchFamily="34" charset="0"/>
              </a:rPr>
              <a:t>Lecture - 1</a:t>
            </a:r>
          </a:p>
          <a:p>
            <a:pPr algn="ctr" eaLnBrk="1" hangingPunct="1">
              <a:defRPr/>
            </a:pPr>
            <a:r>
              <a:rPr lang="en-US" altLang="en-US" sz="900" dirty="0">
                <a:latin typeface="Arial" panose="020B0604020202020204" pitchFamily="34" charset="0"/>
              </a:rPr>
              <a:t>Developed By: Vazgen Melikyan</a:t>
            </a:r>
          </a:p>
        </p:txBody>
      </p:sp>
      <p:pic>
        <p:nvPicPr>
          <p:cNvPr id="8" name="Picture 11" descr="Synopsys_color">
            <a:extLst>
              <a:ext uri="{FF2B5EF4-FFF2-40B4-BE49-F238E27FC236}">
                <a16:creationId xmlns:a16="http://schemas.microsoft.com/office/drawing/2014/main" id="{FA7C1882-0B01-4AFB-B264-DE81F0D4763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67267" y="5932489"/>
            <a:ext cx="1856317"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6" descr="D:\Users\User\Desktop\My Documents\AcCouncil\Logo_NPUA\LogoPolytech_1.png">
            <a:extLst>
              <a:ext uri="{FF2B5EF4-FFF2-40B4-BE49-F238E27FC236}">
                <a16:creationId xmlns:a16="http://schemas.microsoft.com/office/drawing/2014/main" id="{4F0C6F6B-E20A-4231-B9BD-BA525FE1B17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98001" y="5932488"/>
            <a:ext cx="220556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890" name="Rectangle 2"/>
          <p:cNvSpPr>
            <a:spLocks noGrp="1" noChangeArrowheads="1"/>
          </p:cNvSpPr>
          <p:nvPr>
            <p:ph type="ctrTitle"/>
          </p:nvPr>
        </p:nvSpPr>
        <p:spPr>
          <a:xfrm>
            <a:off x="1219201" y="1524000"/>
            <a:ext cx="10164233" cy="1752600"/>
          </a:xfrm>
        </p:spPr>
        <p:txBody>
          <a:bodyPr/>
          <a:lstStyle>
            <a:lvl1pPr>
              <a:defRPr sz="4000"/>
            </a:lvl1pPr>
          </a:lstStyle>
          <a:p>
            <a:endParaRPr lang="en-US" altLang="en-US"/>
          </a:p>
        </p:txBody>
      </p:sp>
      <p:sp>
        <p:nvSpPr>
          <p:cNvPr id="2469891"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endParaRPr lang="en-US" altLang="en-US"/>
          </a:p>
        </p:txBody>
      </p:sp>
    </p:spTree>
    <p:extLst>
      <p:ext uri="{BB962C8B-B14F-4D97-AF65-F5344CB8AC3E}">
        <p14:creationId xmlns:p14="http://schemas.microsoft.com/office/powerpoint/2010/main" val="886474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211638"/>
          </a:xfrm>
        </p:spPr>
        <p:txBody>
          <a:bodyPr/>
          <a:lstStyle/>
          <a:p>
            <a:pPr lvl="0"/>
            <a:endParaRPr lang="en-US" noProof="0"/>
          </a:p>
        </p:txBody>
      </p:sp>
    </p:spTree>
    <p:extLst>
      <p:ext uri="{BB962C8B-B14F-4D97-AF65-F5344CB8AC3E}">
        <p14:creationId xmlns:p14="http://schemas.microsoft.com/office/powerpoint/2010/main" val="30683219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6012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ags" Target="../tags/tag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36"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3.xml"/><Relationship Id="rId3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29"/>
            </p:custDataLst>
          </p:nvPr>
        </p:nvSpPr>
        <p:spPr>
          <a:xfrm>
            <a:off x="457200" y="0"/>
            <a:ext cx="11277922" cy="100584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custDataLst>
              <p:tags r:id="rId30"/>
            </p:custDataLst>
          </p:nvPr>
        </p:nvSpPr>
        <p:spPr>
          <a:xfrm>
            <a:off x="456555" y="1554480"/>
            <a:ext cx="11278244" cy="4846320"/>
          </a:xfrm>
          <a:prstGeom prst="rect">
            <a:avLst/>
          </a:prstGeom>
        </p:spPr>
        <p:txBody>
          <a:bodyPr vert="horz" lIns="91440" tIns="45720" rIns="91440" bIns="45720" rtlCol="0">
            <a:noAutofit/>
          </a:bodyPr>
          <a:lstStyle/>
          <a:p>
            <a:pPr marL="288925" lvl="0" indent="-288925">
              <a:spcBef>
                <a:spcPts val="0"/>
              </a:spcBef>
              <a:spcAft>
                <a:spcPts val="600"/>
              </a:spcAft>
              <a:tabLst/>
            </a:pPr>
            <a:r>
              <a:rPr dirty="0"/>
              <a:t>Edit Master text styles</a:t>
            </a:r>
            <a:endParaRPr lang="en-US" dirty="0"/>
          </a:p>
          <a:p>
            <a:pPr marL="690563" lvl="1" indent="-327025">
              <a:tabLst/>
            </a:pPr>
            <a:r>
              <a:rPr lang="en-US" dirty="0"/>
              <a:t>Second level</a:t>
            </a:r>
          </a:p>
          <a:p>
            <a:pPr marL="914400" lvl="2" indent="-223838">
              <a:tabLst>
                <a:tab pos="736600" algn="l"/>
              </a:tabLst>
            </a:pPr>
            <a:r>
              <a:rPr dirty="0"/>
              <a:t>Third level</a:t>
            </a:r>
          </a:p>
          <a:p>
            <a:pPr lvl="3"/>
            <a:r>
              <a:rPr dirty="0"/>
              <a:t>Fourth level</a:t>
            </a:r>
          </a:p>
        </p:txBody>
      </p:sp>
      <p:sp>
        <p:nvSpPr>
          <p:cNvPr id="26" name="TaggedShape" hidden="1"/>
          <p:cNvSpPr/>
          <p:nvPr>
            <p:custDataLst>
              <p:tags r:id="rId31"/>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4" name="Freeform: Shape 23">
            <a:extLst>
              <a:ext uri="{FF2B5EF4-FFF2-40B4-BE49-F238E27FC236}">
                <a16:creationId xmlns:a16="http://schemas.microsoft.com/office/drawing/2014/main" id="{82E1CD3D-0785-471B-BAE5-08555AEDFFE1}"/>
              </a:ext>
            </a:extLst>
          </p:cNvPr>
          <p:cNvSpPr/>
          <p:nvPr>
            <p:custDataLst>
              <p:tags r:id="rId32"/>
            </p:custDataLst>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5" name="TextBox 24">
            <a:extLst>
              <a:ext uri="{FF2B5EF4-FFF2-40B4-BE49-F238E27FC236}">
                <a16:creationId xmlns:a16="http://schemas.microsoft.com/office/drawing/2014/main" id="{B3A2F83E-0A95-4F8C-83F7-96DB28AE052D}"/>
              </a:ext>
            </a:extLst>
          </p:cNvPr>
          <p:cNvSpPr txBox="1"/>
          <p:nvPr userDrawn="1"/>
        </p:nvSpPr>
        <p:spPr>
          <a:xfrm>
            <a:off x="11734800" y="6546025"/>
            <a:ext cx="414739" cy="252862"/>
          </a:xfrm>
          <a:prstGeom prst="rect">
            <a:avLst/>
          </a:prstGeom>
          <a:noFill/>
        </p:spPr>
        <p:txBody>
          <a:bodyPr wrap="square" lIns="0" bIns="0" rtlCol="0" anchor="b"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fld id="{E25CA445-514E-4DFF-A2F5-DA1F4FE7C8A4}" type="slidenum">
              <a:rPr kumimoji="0" lang="en-US" sz="1600" b="1" i="0" u="none" strike="noStrike" kern="0" cap="none" spc="0" normalizeH="0" baseline="0" noProof="0" smtClean="0">
                <a:ln>
                  <a:noFill/>
                </a:ln>
                <a:solidFill>
                  <a:schemeClr val="tx1">
                    <a:lumMod val="50000"/>
                    <a:lumOff val="50000"/>
                  </a:schemeClr>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600" b="1" i="0" u="none" strike="noStrike" kern="0" cap="none" spc="0" normalizeH="0" baseline="0" noProof="0">
              <a:ln>
                <a:noFill/>
              </a:ln>
              <a:solidFill>
                <a:schemeClr val="tx1">
                  <a:lumMod val="50000"/>
                  <a:lumOff val="50000"/>
                </a:schemeClr>
              </a:solidFill>
              <a:effectLst/>
              <a:uLnTx/>
              <a:uFillTx/>
            </a:endParaRPr>
          </a:p>
        </p:txBody>
      </p:sp>
      <p:sp>
        <p:nvSpPr>
          <p:cNvPr id="27" name="unit_number">
            <a:extLst>
              <a:ext uri="{FF2B5EF4-FFF2-40B4-BE49-F238E27FC236}">
                <a16:creationId xmlns:a16="http://schemas.microsoft.com/office/drawing/2014/main" id="{8B6FE5BD-1FF4-4341-83E6-71D5015C748C}"/>
              </a:ext>
            </a:extLst>
          </p:cNvPr>
          <p:cNvSpPr txBox="1"/>
          <p:nvPr userDrawn="1"/>
        </p:nvSpPr>
        <p:spPr>
          <a:xfrm>
            <a:off x="11320060" y="6546025"/>
            <a:ext cx="414739" cy="252862"/>
          </a:xfrm>
          <a:prstGeom prst="rect">
            <a:avLst/>
          </a:prstGeom>
          <a:noFill/>
        </p:spPr>
        <p:txBody>
          <a:bodyPr wrap="square" rIns="45720" bIns="0" rtlCol="0" anchor="b" anchorCtr="0">
            <a:no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tx1">
                    <a:lumMod val="50000"/>
                    <a:lumOff val="50000"/>
                  </a:schemeClr>
                </a:solidFill>
                <a:effectLst/>
                <a:uLnTx/>
                <a:uFillTx/>
              </a:rPr>
              <a:t>1-</a:t>
            </a:r>
          </a:p>
        </p:txBody>
      </p:sp>
      <p:pic>
        <p:nvPicPr>
          <p:cNvPr id="5" name="Picture 4">
            <a:extLst>
              <a:ext uri="{FF2B5EF4-FFF2-40B4-BE49-F238E27FC236}">
                <a16:creationId xmlns:a16="http://schemas.microsoft.com/office/drawing/2014/main" id="{0E06A84C-8E1E-43BB-9946-7D7858A92078}"/>
              </a:ext>
            </a:extLst>
          </p:cNvPr>
          <p:cNvPicPr>
            <a:picLocks noChangeAspect="1"/>
          </p:cNvPicPr>
          <p:nvPr userDrawn="1"/>
        </p:nvPicPr>
        <p:blipFill>
          <a:blip r:embed="rId35"/>
          <a:stretch>
            <a:fillRect/>
          </a:stretch>
        </p:blipFill>
        <p:spPr>
          <a:xfrm>
            <a:off x="521037" y="6689589"/>
            <a:ext cx="634039" cy="134124"/>
          </a:xfrm>
          <a:prstGeom prst="rect">
            <a:avLst/>
          </a:prstGeom>
        </p:spPr>
      </p:pic>
      <p:sp>
        <p:nvSpPr>
          <p:cNvPr id="9" name="ConStatement">
            <a:extLst>
              <a:ext uri="{FF2B5EF4-FFF2-40B4-BE49-F238E27FC236}">
                <a16:creationId xmlns:a16="http://schemas.microsoft.com/office/drawing/2014/main" id="{B9E42BCE-96A2-4259-9F28-FB818DA0D285}"/>
              </a:ext>
            </a:extLst>
          </p:cNvPr>
          <p:cNvSpPr txBox="1"/>
          <p:nvPr userDrawn="1">
            <p:custDataLst>
              <p:tags r:id="rId33"/>
            </p:custDataLst>
          </p:nvPr>
        </p:nvSpPr>
        <p:spPr>
          <a:xfrm>
            <a:off x="5086350" y="6605464"/>
            <a:ext cx="2019300" cy="245794"/>
          </a:xfrm>
          <a:prstGeom prst="rect">
            <a:avLst/>
          </a:prstGeom>
          <a:noFill/>
        </p:spPr>
        <p:txBody>
          <a:bodyPr vert="horz" wrap="none" lIns="91440" tIns="45720" rIns="91440" bIns="45720" rtlCol="0" anchor="ctr">
            <a:noAutofit/>
          </a:bodyPr>
          <a:lstStyle/>
          <a:p>
            <a:pPr algn="ctr"/>
            <a:r>
              <a:rPr sz="800" dirty="0">
                <a:solidFill>
                  <a:schemeClr val="bg1">
                    <a:lumMod val="65000"/>
                  </a:schemeClr>
                </a:solidFill>
                <a:latin typeface="Arial"/>
              </a:rPr>
              <a:t>Synopsys </a:t>
            </a:r>
            <a:r>
              <a:rPr lang="en-US" sz="800" dirty="0">
                <a:solidFill>
                  <a:schemeClr val="bg1">
                    <a:lumMod val="65000"/>
                  </a:schemeClr>
                </a:solidFill>
                <a:latin typeface="Arial"/>
              </a:rPr>
              <a:t>University Courseware</a:t>
            </a:r>
            <a:br>
              <a:rPr lang="en-US" sz="800" dirty="0">
                <a:solidFill>
                  <a:schemeClr val="bg1">
                    <a:lumMod val="65000"/>
                  </a:schemeClr>
                </a:solidFill>
                <a:latin typeface="Arial"/>
              </a:rPr>
            </a:br>
            <a:r>
              <a:rPr lang="en-US" sz="800" dirty="0">
                <a:solidFill>
                  <a:schemeClr val="bg1">
                    <a:lumMod val="65000"/>
                  </a:schemeClr>
                </a:solidFill>
                <a:latin typeface="Arial"/>
              </a:rPr>
              <a:t>Developed by: </a:t>
            </a:r>
            <a:r>
              <a:rPr lang="en-US" sz="800" dirty="0" err="1">
                <a:solidFill>
                  <a:schemeClr val="bg1">
                    <a:lumMod val="65000"/>
                  </a:schemeClr>
                </a:solidFill>
                <a:latin typeface="Arial"/>
              </a:rPr>
              <a:t>Vazgen</a:t>
            </a:r>
            <a:r>
              <a:rPr lang="en-US" sz="800" dirty="0">
                <a:solidFill>
                  <a:schemeClr val="bg1">
                    <a:lumMod val="65000"/>
                  </a:schemeClr>
                </a:solidFill>
                <a:latin typeface="Arial"/>
              </a:rPr>
              <a:t> </a:t>
            </a:r>
            <a:r>
              <a:rPr lang="en-US" sz="800" dirty="0" err="1">
                <a:solidFill>
                  <a:schemeClr val="bg1">
                    <a:lumMod val="65000"/>
                  </a:schemeClr>
                </a:solidFill>
                <a:latin typeface="Arial"/>
              </a:rPr>
              <a:t>Melikyan</a:t>
            </a:r>
            <a:endParaRPr sz="800" dirty="0">
              <a:solidFill>
                <a:schemeClr val="bg1">
                  <a:lumMod val="65000"/>
                </a:schemeClr>
              </a:solidFill>
              <a:latin typeface="Arial"/>
            </a:endParaRPr>
          </a:p>
        </p:txBody>
      </p:sp>
      <p:sp>
        <p:nvSpPr>
          <p:cNvPr id="10" name="ConStatement">
            <a:extLst>
              <a:ext uri="{FF2B5EF4-FFF2-40B4-BE49-F238E27FC236}">
                <a16:creationId xmlns:a16="http://schemas.microsoft.com/office/drawing/2014/main" id="{0E3FE523-B587-4715-8B86-1BEC0FA2C878}"/>
              </a:ext>
            </a:extLst>
          </p:cNvPr>
          <p:cNvSpPr txBox="1"/>
          <p:nvPr userDrawn="1">
            <p:custDataLst>
              <p:tags r:id="rId34"/>
            </p:custDataLst>
          </p:nvPr>
        </p:nvSpPr>
        <p:spPr>
          <a:xfrm>
            <a:off x="9852658" y="6605463"/>
            <a:ext cx="1386842" cy="245794"/>
          </a:xfrm>
          <a:prstGeom prst="rect">
            <a:avLst/>
          </a:prstGeom>
          <a:noFill/>
        </p:spPr>
        <p:txBody>
          <a:bodyPr vert="horz" wrap="none" lIns="91440" tIns="45720" rIns="91440" bIns="45720" rtlCol="0" anchor="ctr">
            <a:noAutofit/>
          </a:bodyPr>
          <a:lstStyle/>
          <a:p>
            <a:pPr algn="ctr"/>
            <a:r>
              <a:rPr lang="en-US" sz="800" dirty="0">
                <a:solidFill>
                  <a:schemeClr val="bg1">
                    <a:lumMod val="65000"/>
                  </a:schemeClr>
                </a:solidFill>
              </a:rPr>
              <a:t>© 2025 All rights reserved..</a:t>
            </a:r>
          </a:p>
        </p:txBody>
      </p:sp>
      <p:pic>
        <p:nvPicPr>
          <p:cNvPr id="11" name="Picture 10">
            <a:extLst>
              <a:ext uri="{FF2B5EF4-FFF2-40B4-BE49-F238E27FC236}">
                <a16:creationId xmlns:a16="http://schemas.microsoft.com/office/drawing/2014/main" id="{AB9DE700-3DB5-446B-B590-7D6007F7DD5B}"/>
              </a:ext>
            </a:extLst>
          </p:cNvPr>
          <p:cNvPicPr/>
          <p:nvPr userDrawn="1"/>
        </p:nvPicPr>
        <p:blipFill>
          <a:blip r:embed="rId36">
            <a:extLst>
              <a:ext uri="{28A0092B-C50C-407E-A947-70E740481C1C}">
                <a14:useLocalDpi xmlns:a14="http://schemas.microsoft.com/office/drawing/2010/main" val="0"/>
              </a:ext>
            </a:extLst>
          </a:blip>
          <a:srcRect/>
          <a:stretch>
            <a:fillRect/>
          </a:stretch>
        </p:blipFill>
        <p:spPr bwMode="auto">
          <a:xfrm>
            <a:off x="1322704" y="6605463"/>
            <a:ext cx="508000" cy="197485"/>
          </a:xfrm>
          <a:prstGeom prst="rect">
            <a:avLst/>
          </a:prstGeom>
          <a:noFill/>
          <a:ln>
            <a:noFill/>
          </a:ln>
        </p:spPr>
      </p:pic>
      <p:cxnSp>
        <p:nvCxnSpPr>
          <p:cNvPr id="6" name="Straight Connector 5">
            <a:extLst>
              <a:ext uri="{FF2B5EF4-FFF2-40B4-BE49-F238E27FC236}">
                <a16:creationId xmlns:a16="http://schemas.microsoft.com/office/drawing/2014/main" id="{FFD62681-087E-4747-9D5B-1C2EE9038396}"/>
              </a:ext>
            </a:extLst>
          </p:cNvPr>
          <p:cNvCxnSpPr>
            <a:cxnSpLocks/>
          </p:cNvCxnSpPr>
          <p:nvPr userDrawn="1"/>
        </p:nvCxnSpPr>
        <p:spPr>
          <a:xfrm>
            <a:off x="1245327" y="6546025"/>
            <a:ext cx="0" cy="252862"/>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93698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3" r:id="rId25"/>
    <p:sldLayoutId id="2147483754" r:id="rId26"/>
    <p:sldLayoutId id="2147483755" r:id="rId27"/>
  </p:sldLayoutIdLst>
  <p:txStyles>
    <p:titleStyle>
      <a:lvl1pPr algn="l" defTabSz="914400" rtl="0" eaLnBrk="1" latinLnBrk="0" hangingPunct="1">
        <a:lnSpc>
          <a:spcPct val="100000"/>
        </a:lnSpc>
        <a:spcBef>
          <a:spcPct val="0"/>
        </a:spcBef>
        <a:buNone/>
        <a:defRPr sz="3200" b="0" kern="1200">
          <a:solidFill>
            <a:schemeClr val="tx1"/>
          </a:solidFill>
          <a:latin typeface="+mj-lt"/>
          <a:ea typeface="+mj-ea"/>
          <a:cs typeface="+mj-cs"/>
        </a:defRPr>
      </a:lvl1pPr>
    </p:titleStyle>
    <p:body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57029A5-06D2-3C49-B4AC-21E19BD240D1}"/>
              </a:ext>
            </a:extLst>
          </p:cNvPr>
          <p:cNvSpPr>
            <a:spLocks noGrp="1"/>
          </p:cNvSpPr>
          <p:nvPr>
            <p:ph type="body" sz="quarter" idx="10"/>
          </p:nvPr>
        </p:nvSpPr>
        <p:spPr>
          <a:xfrm>
            <a:off x="456698" y="4526198"/>
            <a:ext cx="8141202" cy="731520"/>
          </a:xfrm>
        </p:spPr>
        <p:txBody>
          <a:bodyPr>
            <a:normAutofit/>
          </a:bodyPr>
          <a:lstStyle/>
          <a:p>
            <a:r>
              <a:rPr lang="en-US"/>
              <a:t>Synopsys Armenia Educational Department</a:t>
            </a:r>
          </a:p>
        </p:txBody>
      </p:sp>
      <p:sp>
        <p:nvSpPr>
          <p:cNvPr id="5" name="Subtitle 4">
            <a:extLst>
              <a:ext uri="{FF2B5EF4-FFF2-40B4-BE49-F238E27FC236}">
                <a16:creationId xmlns:a16="http://schemas.microsoft.com/office/drawing/2014/main" id="{488BA55B-F5DA-D946-B7EA-D63B6269A4F9}"/>
              </a:ext>
            </a:extLst>
          </p:cNvPr>
          <p:cNvSpPr>
            <a:spLocks noGrp="1"/>
          </p:cNvSpPr>
          <p:nvPr>
            <p:ph type="subTitle" idx="1"/>
          </p:nvPr>
        </p:nvSpPr>
        <p:spPr>
          <a:xfrm>
            <a:off x="456557" y="3522681"/>
            <a:ext cx="10417770" cy="990600"/>
          </a:xfrm>
        </p:spPr>
        <p:txBody>
          <a:bodyPr>
            <a:normAutofit/>
          </a:bodyPr>
          <a:lstStyle/>
          <a:p>
            <a:r>
              <a:rPr lang="en-US" altLang="en-US" err="1"/>
              <a:t>Sci.D.Professor</a:t>
            </a:r>
            <a:r>
              <a:rPr lang="en-US" altLang="en-US"/>
              <a:t> Vazgen Melikyan</a:t>
            </a:r>
            <a:endParaRPr lang="ru-RU" altLang="en-US"/>
          </a:p>
        </p:txBody>
      </p:sp>
      <p:sp>
        <p:nvSpPr>
          <p:cNvPr id="4" name="Title 3">
            <a:extLst>
              <a:ext uri="{FF2B5EF4-FFF2-40B4-BE49-F238E27FC236}">
                <a16:creationId xmlns:a16="http://schemas.microsoft.com/office/drawing/2014/main" id="{E4708717-478B-BB4E-8370-FD75D01999A2}"/>
              </a:ext>
            </a:extLst>
          </p:cNvPr>
          <p:cNvSpPr>
            <a:spLocks noGrp="1"/>
          </p:cNvSpPr>
          <p:nvPr>
            <p:ph type="ctrTitle"/>
          </p:nvPr>
        </p:nvSpPr>
        <p:spPr>
          <a:xfrm>
            <a:off x="456555" y="1687591"/>
            <a:ext cx="10763895" cy="1828800"/>
          </a:xfrm>
        </p:spPr>
        <p:txBody>
          <a:bodyPr/>
          <a:lstStyle/>
          <a:p>
            <a:r>
              <a:rPr lang="en-US" altLang="en-US" dirty="0"/>
              <a:t>Static Timing Analysis</a:t>
            </a:r>
            <a:endParaRPr lang="en-US" dirty="0"/>
          </a:p>
        </p:txBody>
      </p:sp>
    </p:spTree>
    <p:extLst>
      <p:ext uri="{BB962C8B-B14F-4D97-AF65-F5344CB8AC3E}">
        <p14:creationId xmlns:p14="http://schemas.microsoft.com/office/powerpoint/2010/main" val="414530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81221D-E48E-4913-A5BD-72DF685EE9EA}"/>
              </a:ext>
            </a:extLst>
          </p:cNvPr>
          <p:cNvSpPr>
            <a:spLocks noGrp="1"/>
          </p:cNvSpPr>
          <p:nvPr>
            <p:ph sz="quarter" idx="4294967295"/>
          </p:nvPr>
        </p:nvSpPr>
        <p:spPr>
          <a:xfrm>
            <a:off x="660400" y="661988"/>
            <a:ext cx="11531600" cy="5534025"/>
          </a:xfrm>
        </p:spPr>
        <p:txBody>
          <a:bodyPr/>
          <a:lstStyle/>
          <a:p>
            <a:pPr marL="0" indent="0">
              <a:spcAft>
                <a:spcPts val="0"/>
              </a:spcAft>
              <a:buNone/>
            </a:pPr>
            <a:r>
              <a:rPr lang="en-US" sz="3200" b="1"/>
              <a:t>CONFIDENTIAL INFORMATION</a:t>
            </a:r>
          </a:p>
          <a:p>
            <a:pPr marL="0" indent="0">
              <a:buNone/>
            </a:pPr>
            <a:r>
              <a:rPr lang="en-US"/>
              <a:t>The information contained in this presentation is the confidential and proprietary information of Synopsys. You are not permitted to disseminate or use any of </a:t>
            </a:r>
            <a:br>
              <a:rPr lang="en-US"/>
            </a:br>
            <a:r>
              <a:rPr lang="en-US"/>
              <a:t>the information provided to you in this presentation outside of Synopsys without prior written authorization. </a:t>
            </a:r>
          </a:p>
          <a:p>
            <a:pPr marL="0" indent="0">
              <a:spcAft>
                <a:spcPts val="600"/>
              </a:spcAft>
              <a:buNone/>
            </a:pPr>
            <a:endParaRPr lang="en-US" sz="100"/>
          </a:p>
          <a:p>
            <a:pPr marL="0" indent="0">
              <a:spcAft>
                <a:spcPts val="0"/>
              </a:spcAft>
              <a:buNone/>
            </a:pPr>
            <a:r>
              <a:rPr lang="en-US" sz="3200" b="1"/>
              <a:t>IMPORTANT NOTICE</a:t>
            </a:r>
          </a:p>
          <a:p>
            <a:pPr marL="0" indent="0">
              <a:buNone/>
            </a:pPr>
            <a:r>
              <a:rPr lang="en-US"/>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1086052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71F0BA8C-4402-416C-84B4-15140E77CDEF}"/>
              </a:ext>
            </a:extLst>
          </p:cNvPr>
          <p:cNvSpPr>
            <a:spLocks noGrp="1"/>
          </p:cNvSpPr>
          <p:nvPr>
            <p:ph type="title"/>
          </p:nvPr>
        </p:nvSpPr>
        <p:spPr/>
        <p:txBody>
          <a:bodyPr/>
          <a:lstStyle/>
          <a:p>
            <a:r>
              <a:rPr lang="en-US" altLang="en-US"/>
              <a:t>Course Overview</a:t>
            </a:r>
          </a:p>
        </p:txBody>
      </p:sp>
      <p:sp>
        <p:nvSpPr>
          <p:cNvPr id="8195" name="Content Placeholder 2">
            <a:extLst>
              <a:ext uri="{FF2B5EF4-FFF2-40B4-BE49-F238E27FC236}">
                <a16:creationId xmlns:a16="http://schemas.microsoft.com/office/drawing/2014/main" id="{19E952F9-7135-407E-8067-BADD71777CA2}"/>
              </a:ext>
            </a:extLst>
          </p:cNvPr>
          <p:cNvSpPr>
            <a:spLocks noGrp="1"/>
          </p:cNvSpPr>
          <p:nvPr>
            <p:ph type="body" sz="quarter" idx="10"/>
          </p:nvPr>
        </p:nvSpPr>
        <p:spPr/>
        <p:txBody>
          <a:bodyPr/>
          <a:lstStyle/>
          <a:p>
            <a:r>
              <a:rPr lang="en-US" altLang="en-US" sz="1600" dirty="0">
                <a:solidFill>
                  <a:srgbClr val="0000FF"/>
                </a:solidFill>
              </a:rPr>
              <a:t>STA Concepts </a:t>
            </a:r>
          </a:p>
          <a:p>
            <a:pPr lvl="1"/>
            <a:r>
              <a:rPr lang="en-US" altLang="en-US" sz="1200" dirty="0">
                <a:solidFill>
                  <a:srgbClr val="0000FF"/>
                </a:solidFill>
              </a:rPr>
              <a:t>1 lecture</a:t>
            </a:r>
          </a:p>
          <a:p>
            <a:r>
              <a:rPr lang="en-US" altLang="en-US" sz="1600" dirty="0"/>
              <a:t>Delay Modeling</a:t>
            </a:r>
          </a:p>
          <a:p>
            <a:pPr lvl="1"/>
            <a:r>
              <a:rPr lang="en-US" altLang="en-US" sz="1200" dirty="0"/>
              <a:t>1 lecture</a:t>
            </a:r>
          </a:p>
          <a:p>
            <a:r>
              <a:rPr lang="en-US" altLang="en-US" sz="1600" dirty="0"/>
              <a:t>Interconnect </a:t>
            </a:r>
            <a:r>
              <a:rPr lang="en-US" altLang="en-US" sz="1600" dirty="0" err="1"/>
              <a:t>Parasitics</a:t>
            </a:r>
            <a:endParaRPr lang="en-US" altLang="en-US" sz="1600" dirty="0"/>
          </a:p>
          <a:p>
            <a:pPr lvl="1"/>
            <a:r>
              <a:rPr lang="en-US" altLang="en-US" sz="1200" dirty="0"/>
              <a:t>1 lecture</a:t>
            </a:r>
          </a:p>
          <a:p>
            <a:r>
              <a:rPr lang="en-US" altLang="en-US" sz="1600" dirty="0"/>
              <a:t>Delay Calculation</a:t>
            </a:r>
          </a:p>
          <a:p>
            <a:pPr lvl="1"/>
            <a:r>
              <a:rPr lang="en-US" altLang="en-US" sz="1200" dirty="0"/>
              <a:t>1 lecture</a:t>
            </a:r>
          </a:p>
          <a:p>
            <a:r>
              <a:rPr lang="en-US" altLang="en-US" sz="1600" dirty="0"/>
              <a:t>Configuring the STA Environment</a:t>
            </a:r>
          </a:p>
          <a:p>
            <a:pPr lvl="1"/>
            <a:r>
              <a:rPr lang="en-US" altLang="en-US" sz="1200" dirty="0"/>
              <a:t>1 lecture</a:t>
            </a:r>
          </a:p>
          <a:p>
            <a:r>
              <a:rPr lang="en-US" altLang="en-US" sz="1600" dirty="0"/>
              <a:t>Timing Checks</a:t>
            </a:r>
          </a:p>
          <a:p>
            <a:pPr lvl="1"/>
            <a:r>
              <a:rPr lang="en-US" altLang="en-US" sz="1200" dirty="0"/>
              <a:t>1 lecture</a:t>
            </a:r>
          </a:p>
          <a:p>
            <a:r>
              <a:rPr lang="en-US" altLang="en-US" sz="1600" dirty="0"/>
              <a:t>Crosstalk and Noise</a:t>
            </a:r>
          </a:p>
          <a:p>
            <a:pPr lvl="1"/>
            <a:r>
              <a:rPr lang="en-US" altLang="en-US" sz="1200" dirty="0"/>
              <a:t>1 lecture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11EBFA-0060-4527-B361-5C74FFAF647E}"/>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E6B36406-D8B1-400B-8449-28BD5616168F}"/>
              </a:ext>
            </a:extLst>
          </p:cNvPr>
          <p:cNvSpPr>
            <a:spLocks noGrp="1"/>
          </p:cNvSpPr>
          <p:nvPr>
            <p:ph type="body" sz="quarter" idx="10"/>
          </p:nvPr>
        </p:nvSpPr>
        <p:spPr/>
        <p:txBody>
          <a:bodyPr/>
          <a:lstStyle/>
          <a:p>
            <a:r>
              <a:rPr lang="en-US" altLang="en-US" dirty="0"/>
              <a:t>STA Concepts</a:t>
            </a:r>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74A3270A-32C7-4112-9CA7-2BF90211CAA3}"/>
              </a:ext>
            </a:extLst>
          </p:cNvPr>
          <p:cNvSpPr>
            <a:spLocks noGrp="1"/>
          </p:cNvSpPr>
          <p:nvPr>
            <p:ph type="title"/>
          </p:nvPr>
        </p:nvSpPr>
        <p:spPr/>
        <p:txBody>
          <a:bodyPr/>
          <a:lstStyle/>
          <a:p>
            <a:r>
              <a:rPr lang="en-US" altLang="en-US"/>
              <a:t>Static Timing Analysis (STA)</a:t>
            </a:r>
          </a:p>
        </p:txBody>
      </p:sp>
      <p:sp>
        <p:nvSpPr>
          <p:cNvPr id="11267" name="Content Placeholder 2">
            <a:extLst>
              <a:ext uri="{FF2B5EF4-FFF2-40B4-BE49-F238E27FC236}">
                <a16:creationId xmlns:a16="http://schemas.microsoft.com/office/drawing/2014/main" id="{DF318F5A-9ABE-4834-9FD7-CE8601C26D83}"/>
              </a:ext>
            </a:extLst>
          </p:cNvPr>
          <p:cNvSpPr>
            <a:spLocks noGrp="1"/>
          </p:cNvSpPr>
          <p:nvPr>
            <p:ph type="body" sz="quarter" idx="10"/>
          </p:nvPr>
        </p:nvSpPr>
        <p:spPr/>
        <p:txBody>
          <a:bodyPr/>
          <a:lstStyle/>
          <a:p>
            <a:r>
              <a:rPr lang="en-US" altLang="en-US">
                <a:solidFill>
                  <a:srgbClr val="0000FF"/>
                </a:solidFill>
              </a:rPr>
              <a:t>STA</a:t>
            </a:r>
            <a:r>
              <a:rPr lang="en-US" altLang="en-US"/>
              <a:t> is a technique for digital design verification. It:</a:t>
            </a:r>
          </a:p>
          <a:p>
            <a:pPr lvl="1"/>
            <a:r>
              <a:rPr lang="en-US" altLang="en-US"/>
              <a:t>Validates if the design can operate at the set timing constraints</a:t>
            </a:r>
          </a:p>
          <a:p>
            <a:pPr lvl="1"/>
            <a:r>
              <a:rPr lang="en-US" altLang="en-US"/>
              <a:t>Is a complete and exhaustive verification of all timing checks of a design</a:t>
            </a:r>
          </a:p>
          <a:p>
            <a:pPr lvl="1"/>
            <a:r>
              <a:rPr lang="en-US" altLang="en-US"/>
              <a:t>Is used instead of simulation</a:t>
            </a:r>
          </a:p>
          <a:p>
            <a:endParaRPr lang="en-US" altLang="en-US"/>
          </a:p>
          <a:p>
            <a:endParaRPr lang="ru-RU" altLang="en-US"/>
          </a:p>
          <a:p>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2CEC9D94-2229-458B-A9F3-E19FF3C3DFBA}"/>
              </a:ext>
            </a:extLst>
          </p:cNvPr>
          <p:cNvSpPr>
            <a:spLocks noGrp="1"/>
          </p:cNvSpPr>
          <p:nvPr>
            <p:ph type="title"/>
          </p:nvPr>
        </p:nvSpPr>
        <p:spPr/>
        <p:txBody>
          <a:bodyPr/>
          <a:lstStyle/>
          <a:p>
            <a:r>
              <a:rPr lang="en-US" altLang="en-US"/>
              <a:t>Simulation</a:t>
            </a:r>
          </a:p>
        </p:txBody>
      </p:sp>
      <p:sp>
        <p:nvSpPr>
          <p:cNvPr id="12291" name="Content Placeholder 3">
            <a:extLst>
              <a:ext uri="{FF2B5EF4-FFF2-40B4-BE49-F238E27FC236}">
                <a16:creationId xmlns:a16="http://schemas.microsoft.com/office/drawing/2014/main" id="{849B780E-C51C-4D25-921F-9E95D5D26272}"/>
              </a:ext>
            </a:extLst>
          </p:cNvPr>
          <p:cNvSpPr>
            <a:spLocks noGrp="1"/>
          </p:cNvSpPr>
          <p:nvPr>
            <p:ph type="body" sz="quarter" idx="10"/>
          </p:nvPr>
        </p:nvSpPr>
        <p:spPr/>
        <p:txBody>
          <a:bodyPr/>
          <a:lstStyle/>
          <a:p>
            <a:r>
              <a:rPr lang="en-US" altLang="en-US"/>
              <a:t>Simulating (dynamically) circuit response for a specified set of input patterns</a:t>
            </a:r>
          </a:p>
          <a:p>
            <a:pPr lvl="1"/>
            <a:r>
              <a:rPr lang="en-US" altLang="en-US"/>
              <a:t>Circuit modeled as network of capacitors, resistors and voltage/current sources</a:t>
            </a:r>
          </a:p>
          <a:p>
            <a:endParaRPr lang="en-US" altLang="en-US"/>
          </a:p>
        </p:txBody>
      </p:sp>
      <p:sp>
        <p:nvSpPr>
          <p:cNvPr id="12292" name="Content Placeholder 2">
            <a:extLst>
              <a:ext uri="{FF2B5EF4-FFF2-40B4-BE49-F238E27FC236}">
                <a16:creationId xmlns:a16="http://schemas.microsoft.com/office/drawing/2014/main" id="{35DFDAF2-6C12-4C29-B678-88320D749447}"/>
              </a:ext>
            </a:extLst>
          </p:cNvPr>
          <p:cNvSpPr>
            <a:spLocks/>
          </p:cNvSpPr>
          <p:nvPr/>
        </p:nvSpPr>
        <p:spPr bwMode="auto">
          <a:xfrm>
            <a:off x="1981200" y="1198564"/>
            <a:ext cx="8229600" cy="121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228600" algn="l"/>
              </a:tabLst>
              <a:defRPr sz="900">
                <a:solidFill>
                  <a:schemeClr val="tx1"/>
                </a:solidFill>
                <a:latin typeface="Arial" panose="020B0604020202020204" pitchFamily="34" charset="0"/>
                <a:cs typeface="Arial" panose="020B0604020202020204" pitchFamily="34" charset="0"/>
              </a:defRPr>
            </a:lvl1pPr>
            <a:lvl2pPr marL="742950" indent="-285750">
              <a:tabLst>
                <a:tab pos="228600" algn="l"/>
              </a:tabLst>
              <a:defRPr sz="900">
                <a:solidFill>
                  <a:schemeClr val="tx1"/>
                </a:solidFill>
                <a:latin typeface="Arial" panose="020B0604020202020204" pitchFamily="34" charset="0"/>
                <a:cs typeface="Arial" panose="020B0604020202020204" pitchFamily="34" charset="0"/>
              </a:defRPr>
            </a:lvl2pPr>
            <a:lvl3pPr marL="1143000" indent="-228600">
              <a:tabLst>
                <a:tab pos="228600" algn="l"/>
              </a:tabLst>
              <a:defRPr sz="900">
                <a:solidFill>
                  <a:schemeClr val="tx1"/>
                </a:solidFill>
                <a:latin typeface="Arial" panose="020B0604020202020204" pitchFamily="34" charset="0"/>
                <a:cs typeface="Arial" panose="020B0604020202020204" pitchFamily="34" charset="0"/>
              </a:defRPr>
            </a:lvl3pPr>
            <a:lvl4pPr marL="1600200" indent="-228600">
              <a:tabLst>
                <a:tab pos="228600" algn="l"/>
              </a:tabLst>
              <a:defRPr sz="900">
                <a:solidFill>
                  <a:schemeClr val="tx1"/>
                </a:solidFill>
                <a:latin typeface="Arial" panose="020B0604020202020204" pitchFamily="34" charset="0"/>
                <a:cs typeface="Arial" panose="020B0604020202020204" pitchFamily="34" charset="0"/>
              </a:defRPr>
            </a:lvl4pPr>
            <a:lvl5pPr marL="2057400" indent="-228600">
              <a:tabLst>
                <a:tab pos="228600" algn="l"/>
              </a:tabLst>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228600" algn="l"/>
              </a:tabLs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228600" algn="l"/>
              </a:tabLs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228600" algn="l"/>
              </a:tabLs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228600" algn="l"/>
              </a:tabLst>
              <a:defRPr sz="900">
                <a:solidFill>
                  <a:schemeClr val="tx1"/>
                </a:solidFill>
                <a:latin typeface="Arial" panose="020B0604020202020204" pitchFamily="34" charset="0"/>
                <a:cs typeface="Arial" panose="020B0604020202020204" pitchFamily="34" charset="0"/>
              </a:defRPr>
            </a:lvl9pPr>
          </a:lstStyle>
          <a:p>
            <a:pPr>
              <a:spcBef>
                <a:spcPct val="20000"/>
              </a:spcBef>
              <a:buFont typeface="Arial" panose="020B0604020202020204" pitchFamily="34" charset="0"/>
              <a:buNone/>
            </a:pPr>
            <a:endParaRPr lang="en-US" altLang="en-US" sz="2000"/>
          </a:p>
        </p:txBody>
      </p:sp>
      <p:sp>
        <p:nvSpPr>
          <p:cNvPr id="89" name="Line 31">
            <a:extLst>
              <a:ext uri="{FF2B5EF4-FFF2-40B4-BE49-F238E27FC236}">
                <a16:creationId xmlns:a16="http://schemas.microsoft.com/office/drawing/2014/main" id="{DBF21AF0-9171-41D5-889F-1EE9AF297A58}"/>
              </a:ext>
            </a:extLst>
          </p:cNvPr>
          <p:cNvSpPr>
            <a:spLocks noChangeShapeType="1"/>
          </p:cNvSpPr>
          <p:nvPr/>
        </p:nvSpPr>
        <p:spPr bwMode="auto">
          <a:xfrm>
            <a:off x="8697913" y="4416426"/>
            <a:ext cx="0" cy="246063"/>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nchor="ctr"/>
          <a:lstStyle/>
          <a:p>
            <a:pPr eaLnBrk="1" hangingPunct="1">
              <a:defRPr/>
            </a:pPr>
            <a:endParaRPr lang="en-US"/>
          </a:p>
        </p:txBody>
      </p:sp>
      <p:sp>
        <p:nvSpPr>
          <p:cNvPr id="90" name="Line 32">
            <a:extLst>
              <a:ext uri="{FF2B5EF4-FFF2-40B4-BE49-F238E27FC236}">
                <a16:creationId xmlns:a16="http://schemas.microsoft.com/office/drawing/2014/main" id="{D8871439-CC41-4BE2-AD7B-2C03CE03E90E}"/>
              </a:ext>
            </a:extLst>
          </p:cNvPr>
          <p:cNvSpPr>
            <a:spLocks noChangeShapeType="1"/>
          </p:cNvSpPr>
          <p:nvPr/>
        </p:nvSpPr>
        <p:spPr bwMode="auto">
          <a:xfrm flipV="1">
            <a:off x="8699501" y="4651375"/>
            <a:ext cx="123825"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nchor="ctr"/>
          <a:lstStyle/>
          <a:p>
            <a:pPr eaLnBrk="1" hangingPunct="1">
              <a:defRPr/>
            </a:pPr>
            <a:endParaRPr lang="en-US"/>
          </a:p>
        </p:txBody>
      </p:sp>
      <p:sp>
        <p:nvSpPr>
          <p:cNvPr id="12295" name="TextBox 90">
            <a:extLst>
              <a:ext uri="{FF2B5EF4-FFF2-40B4-BE49-F238E27FC236}">
                <a16:creationId xmlns:a16="http://schemas.microsoft.com/office/drawing/2014/main" id="{74B1DA24-9623-43C2-975D-86A5177A6530}"/>
              </a:ext>
            </a:extLst>
          </p:cNvPr>
          <p:cNvSpPr txBox="1">
            <a:spLocks noChangeArrowheads="1"/>
          </p:cNvSpPr>
          <p:nvPr/>
        </p:nvSpPr>
        <p:spPr bwMode="auto">
          <a:xfrm>
            <a:off x="2119313" y="4230689"/>
            <a:ext cx="64135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600"/>
              <a:t>0 1 0</a:t>
            </a:r>
          </a:p>
          <a:p>
            <a:pPr eaLnBrk="1" hangingPunct="1"/>
            <a:r>
              <a:rPr lang="en-US" altLang="en-US" sz="1600"/>
              <a:t>0 1 1</a:t>
            </a:r>
          </a:p>
        </p:txBody>
      </p:sp>
      <p:sp>
        <p:nvSpPr>
          <p:cNvPr id="92" name="Line 32">
            <a:extLst>
              <a:ext uri="{FF2B5EF4-FFF2-40B4-BE49-F238E27FC236}">
                <a16:creationId xmlns:a16="http://schemas.microsoft.com/office/drawing/2014/main" id="{05F383A1-94A4-4B4B-9C75-174BBC7B0B9E}"/>
              </a:ext>
            </a:extLst>
          </p:cNvPr>
          <p:cNvSpPr>
            <a:spLocks noChangeShapeType="1"/>
          </p:cNvSpPr>
          <p:nvPr/>
        </p:nvSpPr>
        <p:spPr bwMode="auto">
          <a:xfrm flipV="1">
            <a:off x="8574088" y="4427538"/>
            <a:ext cx="125412"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nchor="ctr"/>
          <a:lstStyle/>
          <a:p>
            <a:pPr eaLnBrk="1" hangingPunct="1">
              <a:defRPr/>
            </a:pPr>
            <a:endParaRPr lang="en-US"/>
          </a:p>
        </p:txBody>
      </p:sp>
      <p:sp>
        <p:nvSpPr>
          <p:cNvPr id="93" name="Line 31">
            <a:extLst>
              <a:ext uri="{FF2B5EF4-FFF2-40B4-BE49-F238E27FC236}">
                <a16:creationId xmlns:a16="http://schemas.microsoft.com/office/drawing/2014/main" id="{C871461F-4323-4B03-B4E8-DB01E90C8503}"/>
              </a:ext>
            </a:extLst>
          </p:cNvPr>
          <p:cNvSpPr>
            <a:spLocks noChangeShapeType="1"/>
          </p:cNvSpPr>
          <p:nvPr/>
        </p:nvSpPr>
        <p:spPr bwMode="auto">
          <a:xfrm>
            <a:off x="8943975" y="4416426"/>
            <a:ext cx="0" cy="2444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nchor="ctr"/>
          <a:lstStyle/>
          <a:p>
            <a:pPr eaLnBrk="1" hangingPunct="1">
              <a:defRPr/>
            </a:pPr>
            <a:endParaRPr lang="en-US"/>
          </a:p>
        </p:txBody>
      </p:sp>
      <p:sp>
        <p:nvSpPr>
          <p:cNvPr id="94" name="Line 32">
            <a:extLst>
              <a:ext uri="{FF2B5EF4-FFF2-40B4-BE49-F238E27FC236}">
                <a16:creationId xmlns:a16="http://schemas.microsoft.com/office/drawing/2014/main" id="{23A29A91-1944-446A-BC41-778915E6B895}"/>
              </a:ext>
            </a:extLst>
          </p:cNvPr>
          <p:cNvSpPr>
            <a:spLocks noChangeShapeType="1"/>
          </p:cNvSpPr>
          <p:nvPr/>
        </p:nvSpPr>
        <p:spPr bwMode="auto">
          <a:xfrm flipV="1">
            <a:off x="8945563" y="4649788"/>
            <a:ext cx="125412"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nchor="ctr"/>
          <a:lstStyle/>
          <a:p>
            <a:pPr eaLnBrk="1" hangingPunct="1">
              <a:defRPr/>
            </a:pPr>
            <a:endParaRPr lang="en-US"/>
          </a:p>
        </p:txBody>
      </p:sp>
      <p:sp>
        <p:nvSpPr>
          <p:cNvPr id="95" name="Line 32">
            <a:extLst>
              <a:ext uri="{FF2B5EF4-FFF2-40B4-BE49-F238E27FC236}">
                <a16:creationId xmlns:a16="http://schemas.microsoft.com/office/drawing/2014/main" id="{DD8681D2-728D-40B4-BF32-96E9BBACC492}"/>
              </a:ext>
            </a:extLst>
          </p:cNvPr>
          <p:cNvSpPr>
            <a:spLocks noChangeShapeType="1"/>
          </p:cNvSpPr>
          <p:nvPr/>
        </p:nvSpPr>
        <p:spPr bwMode="auto">
          <a:xfrm flipV="1">
            <a:off x="8821739" y="4427538"/>
            <a:ext cx="123825"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nchor="ctr"/>
          <a:lstStyle/>
          <a:p>
            <a:pPr eaLnBrk="1" hangingPunct="1">
              <a:defRPr/>
            </a:pPr>
            <a:endParaRPr lang="en-US"/>
          </a:p>
        </p:txBody>
      </p:sp>
      <p:sp>
        <p:nvSpPr>
          <p:cNvPr id="96" name="Line 31">
            <a:extLst>
              <a:ext uri="{FF2B5EF4-FFF2-40B4-BE49-F238E27FC236}">
                <a16:creationId xmlns:a16="http://schemas.microsoft.com/office/drawing/2014/main" id="{EDA66996-4F72-417A-BDB5-74B3B1588F9E}"/>
              </a:ext>
            </a:extLst>
          </p:cNvPr>
          <p:cNvSpPr>
            <a:spLocks noChangeShapeType="1"/>
          </p:cNvSpPr>
          <p:nvPr/>
        </p:nvSpPr>
        <p:spPr bwMode="auto">
          <a:xfrm>
            <a:off x="8820150" y="4416426"/>
            <a:ext cx="0" cy="2444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nchor="ctr"/>
          <a:lstStyle/>
          <a:p>
            <a:pPr eaLnBrk="1" hangingPunct="1">
              <a:defRPr/>
            </a:pPr>
            <a:endParaRPr lang="en-US"/>
          </a:p>
        </p:txBody>
      </p:sp>
      <p:sp>
        <p:nvSpPr>
          <p:cNvPr id="97" name="Line 31">
            <a:extLst>
              <a:ext uri="{FF2B5EF4-FFF2-40B4-BE49-F238E27FC236}">
                <a16:creationId xmlns:a16="http://schemas.microsoft.com/office/drawing/2014/main" id="{C9E14E9C-9648-4D0A-AA71-7EFF6760E619}"/>
              </a:ext>
            </a:extLst>
          </p:cNvPr>
          <p:cNvSpPr>
            <a:spLocks noChangeShapeType="1"/>
          </p:cNvSpPr>
          <p:nvPr/>
        </p:nvSpPr>
        <p:spPr bwMode="auto">
          <a:xfrm>
            <a:off x="9193213" y="4414839"/>
            <a:ext cx="0" cy="2444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nchor="ctr"/>
          <a:lstStyle/>
          <a:p>
            <a:pPr eaLnBrk="1" hangingPunct="1">
              <a:defRPr/>
            </a:pPr>
            <a:endParaRPr lang="en-US"/>
          </a:p>
        </p:txBody>
      </p:sp>
      <p:sp>
        <p:nvSpPr>
          <p:cNvPr id="98" name="Line 32">
            <a:extLst>
              <a:ext uri="{FF2B5EF4-FFF2-40B4-BE49-F238E27FC236}">
                <a16:creationId xmlns:a16="http://schemas.microsoft.com/office/drawing/2014/main" id="{3AEE60FD-3F19-4628-BD14-2AD0C2DE8078}"/>
              </a:ext>
            </a:extLst>
          </p:cNvPr>
          <p:cNvSpPr>
            <a:spLocks noChangeShapeType="1"/>
          </p:cNvSpPr>
          <p:nvPr/>
        </p:nvSpPr>
        <p:spPr bwMode="auto">
          <a:xfrm flipV="1">
            <a:off x="9194801" y="4648200"/>
            <a:ext cx="123825"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nchor="ctr"/>
          <a:lstStyle/>
          <a:p>
            <a:pPr eaLnBrk="1" hangingPunct="1">
              <a:defRPr/>
            </a:pPr>
            <a:endParaRPr lang="en-US"/>
          </a:p>
        </p:txBody>
      </p:sp>
      <p:sp>
        <p:nvSpPr>
          <p:cNvPr id="99" name="Line 32">
            <a:extLst>
              <a:ext uri="{FF2B5EF4-FFF2-40B4-BE49-F238E27FC236}">
                <a16:creationId xmlns:a16="http://schemas.microsoft.com/office/drawing/2014/main" id="{2ED6998C-E03C-45B5-9C67-E2E682D0FEAB}"/>
              </a:ext>
            </a:extLst>
          </p:cNvPr>
          <p:cNvSpPr>
            <a:spLocks noChangeShapeType="1"/>
          </p:cNvSpPr>
          <p:nvPr/>
        </p:nvSpPr>
        <p:spPr bwMode="auto">
          <a:xfrm flipV="1">
            <a:off x="9069388" y="4425950"/>
            <a:ext cx="125412"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nchor="ctr"/>
          <a:lstStyle/>
          <a:p>
            <a:pPr eaLnBrk="1" hangingPunct="1">
              <a:defRPr/>
            </a:pPr>
            <a:endParaRPr lang="en-US"/>
          </a:p>
        </p:txBody>
      </p:sp>
      <p:sp>
        <p:nvSpPr>
          <p:cNvPr id="100" name="Line 31">
            <a:extLst>
              <a:ext uri="{FF2B5EF4-FFF2-40B4-BE49-F238E27FC236}">
                <a16:creationId xmlns:a16="http://schemas.microsoft.com/office/drawing/2014/main" id="{3026C341-D7AE-4C49-8870-F779C4C5AD80}"/>
              </a:ext>
            </a:extLst>
          </p:cNvPr>
          <p:cNvSpPr>
            <a:spLocks noChangeShapeType="1"/>
          </p:cNvSpPr>
          <p:nvPr/>
        </p:nvSpPr>
        <p:spPr bwMode="auto">
          <a:xfrm>
            <a:off x="9439275" y="4413251"/>
            <a:ext cx="0" cy="246063"/>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nchor="ctr"/>
          <a:lstStyle/>
          <a:p>
            <a:pPr eaLnBrk="1" hangingPunct="1">
              <a:defRPr/>
            </a:pPr>
            <a:endParaRPr lang="en-US"/>
          </a:p>
        </p:txBody>
      </p:sp>
      <p:sp>
        <p:nvSpPr>
          <p:cNvPr id="101" name="Line 32">
            <a:extLst>
              <a:ext uri="{FF2B5EF4-FFF2-40B4-BE49-F238E27FC236}">
                <a16:creationId xmlns:a16="http://schemas.microsoft.com/office/drawing/2014/main" id="{A676E379-1F9B-450F-8971-DCEE578812C4}"/>
              </a:ext>
            </a:extLst>
          </p:cNvPr>
          <p:cNvSpPr>
            <a:spLocks noChangeShapeType="1"/>
          </p:cNvSpPr>
          <p:nvPr/>
        </p:nvSpPr>
        <p:spPr bwMode="auto">
          <a:xfrm flipV="1">
            <a:off x="9440863" y="4648200"/>
            <a:ext cx="125412"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nchor="ctr"/>
          <a:lstStyle/>
          <a:p>
            <a:pPr eaLnBrk="1" hangingPunct="1">
              <a:defRPr/>
            </a:pPr>
            <a:endParaRPr lang="en-US"/>
          </a:p>
        </p:txBody>
      </p:sp>
      <p:sp>
        <p:nvSpPr>
          <p:cNvPr id="102" name="Line 32">
            <a:extLst>
              <a:ext uri="{FF2B5EF4-FFF2-40B4-BE49-F238E27FC236}">
                <a16:creationId xmlns:a16="http://schemas.microsoft.com/office/drawing/2014/main" id="{3E51A39E-388F-46E9-91DF-40215C0C5829}"/>
              </a:ext>
            </a:extLst>
          </p:cNvPr>
          <p:cNvSpPr>
            <a:spLocks noChangeShapeType="1"/>
          </p:cNvSpPr>
          <p:nvPr/>
        </p:nvSpPr>
        <p:spPr bwMode="auto">
          <a:xfrm flipV="1">
            <a:off x="9317039" y="4424363"/>
            <a:ext cx="123825"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nchor="ctr"/>
          <a:lstStyle/>
          <a:p>
            <a:pPr eaLnBrk="1" hangingPunct="1">
              <a:defRPr/>
            </a:pPr>
            <a:endParaRPr lang="en-US"/>
          </a:p>
        </p:txBody>
      </p:sp>
      <p:sp>
        <p:nvSpPr>
          <p:cNvPr id="103" name="Line 31">
            <a:extLst>
              <a:ext uri="{FF2B5EF4-FFF2-40B4-BE49-F238E27FC236}">
                <a16:creationId xmlns:a16="http://schemas.microsoft.com/office/drawing/2014/main" id="{2484DA11-7898-4EC9-8A29-CFDB3B7BAB2C}"/>
              </a:ext>
            </a:extLst>
          </p:cNvPr>
          <p:cNvSpPr>
            <a:spLocks noChangeShapeType="1"/>
          </p:cNvSpPr>
          <p:nvPr/>
        </p:nvSpPr>
        <p:spPr bwMode="auto">
          <a:xfrm>
            <a:off x="9315450" y="4413251"/>
            <a:ext cx="0" cy="246063"/>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nchor="ctr"/>
          <a:lstStyle/>
          <a:p>
            <a:pPr eaLnBrk="1" hangingPunct="1">
              <a:defRPr/>
            </a:pPr>
            <a:endParaRPr lang="en-US"/>
          </a:p>
        </p:txBody>
      </p:sp>
      <p:sp>
        <p:nvSpPr>
          <p:cNvPr id="104" name="Line 31">
            <a:extLst>
              <a:ext uri="{FF2B5EF4-FFF2-40B4-BE49-F238E27FC236}">
                <a16:creationId xmlns:a16="http://schemas.microsoft.com/office/drawing/2014/main" id="{0273AFDF-3977-4CD7-ABB9-8B5FA84974B4}"/>
              </a:ext>
            </a:extLst>
          </p:cNvPr>
          <p:cNvSpPr>
            <a:spLocks noChangeShapeType="1"/>
          </p:cNvSpPr>
          <p:nvPr/>
        </p:nvSpPr>
        <p:spPr bwMode="auto">
          <a:xfrm>
            <a:off x="9066213" y="4413251"/>
            <a:ext cx="0" cy="246063"/>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nchor="ctr"/>
          <a:lstStyle/>
          <a:p>
            <a:pPr eaLnBrk="1" hangingPunct="1">
              <a:defRPr/>
            </a:pPr>
            <a:endParaRPr lang="en-US"/>
          </a:p>
        </p:txBody>
      </p:sp>
      <p:sp>
        <p:nvSpPr>
          <p:cNvPr id="105" name="Line 31">
            <a:extLst>
              <a:ext uri="{FF2B5EF4-FFF2-40B4-BE49-F238E27FC236}">
                <a16:creationId xmlns:a16="http://schemas.microsoft.com/office/drawing/2014/main" id="{AD03DA73-7470-4FF3-8519-90CC19CF5BC9}"/>
              </a:ext>
            </a:extLst>
          </p:cNvPr>
          <p:cNvSpPr>
            <a:spLocks noChangeShapeType="1"/>
          </p:cNvSpPr>
          <p:nvPr/>
        </p:nvSpPr>
        <p:spPr bwMode="auto">
          <a:xfrm>
            <a:off x="9561513" y="4408488"/>
            <a:ext cx="0" cy="246062"/>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nchor="ctr"/>
          <a:lstStyle/>
          <a:p>
            <a:pPr eaLnBrk="1" hangingPunct="1">
              <a:defRPr/>
            </a:pPr>
            <a:endParaRPr lang="en-US"/>
          </a:p>
        </p:txBody>
      </p:sp>
      <p:sp>
        <p:nvSpPr>
          <p:cNvPr id="12310" name="Line 14">
            <a:extLst>
              <a:ext uri="{FF2B5EF4-FFF2-40B4-BE49-F238E27FC236}">
                <a16:creationId xmlns:a16="http://schemas.microsoft.com/office/drawing/2014/main" id="{95AEEF23-1849-4BF5-A79B-95E010C7B96C}"/>
              </a:ext>
            </a:extLst>
          </p:cNvPr>
          <p:cNvSpPr>
            <a:spLocks noChangeShapeType="1"/>
          </p:cNvSpPr>
          <p:nvPr/>
        </p:nvSpPr>
        <p:spPr bwMode="auto">
          <a:xfrm flipH="1">
            <a:off x="4540250" y="4056064"/>
            <a:ext cx="0" cy="9937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11" name="Line 15">
            <a:extLst>
              <a:ext uri="{FF2B5EF4-FFF2-40B4-BE49-F238E27FC236}">
                <a16:creationId xmlns:a16="http://schemas.microsoft.com/office/drawing/2014/main" id="{806535F9-2214-4031-BC77-6F0E41E9B77A}"/>
              </a:ext>
            </a:extLst>
          </p:cNvPr>
          <p:cNvSpPr>
            <a:spLocks noChangeShapeType="1"/>
          </p:cNvSpPr>
          <p:nvPr/>
        </p:nvSpPr>
        <p:spPr bwMode="auto">
          <a:xfrm>
            <a:off x="2743200" y="4322763"/>
            <a:ext cx="4000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12" name="Line 16">
            <a:extLst>
              <a:ext uri="{FF2B5EF4-FFF2-40B4-BE49-F238E27FC236}">
                <a16:creationId xmlns:a16="http://schemas.microsoft.com/office/drawing/2014/main" id="{0A381CC4-899A-4262-9C26-FFC8A739794B}"/>
              </a:ext>
            </a:extLst>
          </p:cNvPr>
          <p:cNvSpPr>
            <a:spLocks noChangeShapeType="1"/>
          </p:cNvSpPr>
          <p:nvPr/>
        </p:nvSpPr>
        <p:spPr bwMode="auto">
          <a:xfrm>
            <a:off x="3932238" y="4500563"/>
            <a:ext cx="6080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13" name="Line 17">
            <a:extLst>
              <a:ext uri="{FF2B5EF4-FFF2-40B4-BE49-F238E27FC236}">
                <a16:creationId xmlns:a16="http://schemas.microsoft.com/office/drawing/2014/main" id="{7C513801-8F29-4764-9724-656BF4A005DE}"/>
              </a:ext>
            </a:extLst>
          </p:cNvPr>
          <p:cNvSpPr>
            <a:spLocks noChangeShapeType="1"/>
          </p:cNvSpPr>
          <p:nvPr/>
        </p:nvSpPr>
        <p:spPr bwMode="auto">
          <a:xfrm flipV="1">
            <a:off x="4540251" y="4056063"/>
            <a:ext cx="62547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 name="Oval 18">
            <a:extLst>
              <a:ext uri="{FF2B5EF4-FFF2-40B4-BE49-F238E27FC236}">
                <a16:creationId xmlns:a16="http://schemas.microsoft.com/office/drawing/2014/main" id="{965C4610-B68D-42C9-A79A-993481606CC8}"/>
              </a:ext>
            </a:extLst>
          </p:cNvPr>
          <p:cNvSpPr>
            <a:spLocks noChangeArrowheads="1"/>
          </p:cNvSpPr>
          <p:nvPr/>
        </p:nvSpPr>
        <p:spPr bwMode="auto">
          <a:xfrm>
            <a:off x="3814764" y="4449763"/>
            <a:ext cx="104775" cy="101600"/>
          </a:xfrm>
          <a:prstGeom prst="ellipse">
            <a:avLst/>
          </a:prstGeom>
          <a:solidFill>
            <a:schemeClr val="accent1">
              <a:lumMod val="50000"/>
            </a:schemeClr>
          </a:solidFill>
          <a:ln w="12700">
            <a:solidFill>
              <a:schemeClr val="tx1"/>
            </a:solidFill>
            <a:round/>
            <a:headEnd/>
            <a:tailEnd/>
          </a:ln>
        </p:spPr>
        <p:txBody>
          <a:bodyPr wrap="none" anchor="ctr"/>
          <a:lstStyle/>
          <a:p>
            <a:pPr eaLnBrk="1" hangingPunct="1">
              <a:defRPr/>
            </a:pPr>
            <a:endParaRPr lang="ru-RU">
              <a:latin typeface="Arial" charset="0"/>
              <a:cs typeface="Arial" charset="0"/>
            </a:endParaRPr>
          </a:p>
        </p:txBody>
      </p:sp>
      <p:sp>
        <p:nvSpPr>
          <p:cNvPr id="12315" name="Line 19">
            <a:extLst>
              <a:ext uri="{FF2B5EF4-FFF2-40B4-BE49-F238E27FC236}">
                <a16:creationId xmlns:a16="http://schemas.microsoft.com/office/drawing/2014/main" id="{2F27689B-01FE-4F13-AFF0-05001021026A}"/>
              </a:ext>
            </a:extLst>
          </p:cNvPr>
          <p:cNvSpPr>
            <a:spLocks noChangeShapeType="1"/>
          </p:cNvSpPr>
          <p:nvPr/>
        </p:nvSpPr>
        <p:spPr bwMode="auto">
          <a:xfrm flipV="1">
            <a:off x="4540251" y="5046663"/>
            <a:ext cx="62547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 name="AutoShape 20">
            <a:extLst>
              <a:ext uri="{FF2B5EF4-FFF2-40B4-BE49-F238E27FC236}">
                <a16:creationId xmlns:a16="http://schemas.microsoft.com/office/drawing/2014/main" id="{1332044E-F6F5-46A4-96B3-DF1DC83F1485}"/>
              </a:ext>
            </a:extLst>
          </p:cNvPr>
          <p:cNvSpPr>
            <a:spLocks noChangeArrowheads="1"/>
          </p:cNvSpPr>
          <p:nvPr/>
        </p:nvSpPr>
        <p:spPr bwMode="auto">
          <a:xfrm rot="5400000">
            <a:off x="5159376" y="4668839"/>
            <a:ext cx="777875" cy="765175"/>
          </a:xfrm>
          <a:prstGeom prst="triangle">
            <a:avLst>
              <a:gd name="adj" fmla="val 50000"/>
            </a:avLst>
          </a:prstGeom>
          <a:solidFill>
            <a:schemeClr val="accent1">
              <a:lumMod val="75000"/>
            </a:schemeClr>
          </a:solidFill>
          <a:ln w="12700">
            <a:solidFill>
              <a:schemeClr val="tx1"/>
            </a:solidFill>
            <a:miter lim="800000"/>
            <a:headEnd/>
            <a:tailEnd/>
          </a:ln>
        </p:spPr>
        <p:txBody>
          <a:bodyPr rot="10800000" vert="eaVert" wrap="none" anchor="ctr"/>
          <a:lstStyle/>
          <a:p>
            <a:pPr eaLnBrk="1" hangingPunct="1">
              <a:defRPr/>
            </a:pPr>
            <a:endParaRPr lang="ru-RU">
              <a:latin typeface="Arial" charset="0"/>
              <a:cs typeface="Arial" charset="0"/>
            </a:endParaRPr>
          </a:p>
        </p:txBody>
      </p:sp>
      <p:sp>
        <p:nvSpPr>
          <p:cNvPr id="12317" name="Line 21">
            <a:extLst>
              <a:ext uri="{FF2B5EF4-FFF2-40B4-BE49-F238E27FC236}">
                <a16:creationId xmlns:a16="http://schemas.microsoft.com/office/drawing/2014/main" id="{34DC7565-1892-4BB9-93A8-DAF3415002F1}"/>
              </a:ext>
            </a:extLst>
          </p:cNvPr>
          <p:cNvSpPr>
            <a:spLocks noChangeShapeType="1"/>
          </p:cNvSpPr>
          <p:nvPr/>
        </p:nvSpPr>
        <p:spPr bwMode="auto">
          <a:xfrm flipV="1">
            <a:off x="5915026" y="5046663"/>
            <a:ext cx="46672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18" name="Line 22">
            <a:extLst>
              <a:ext uri="{FF2B5EF4-FFF2-40B4-BE49-F238E27FC236}">
                <a16:creationId xmlns:a16="http://schemas.microsoft.com/office/drawing/2014/main" id="{42F401BA-15A8-47A5-8282-B0EF0736CE61}"/>
              </a:ext>
            </a:extLst>
          </p:cNvPr>
          <p:cNvSpPr>
            <a:spLocks noChangeShapeType="1"/>
          </p:cNvSpPr>
          <p:nvPr/>
        </p:nvSpPr>
        <p:spPr bwMode="auto">
          <a:xfrm>
            <a:off x="6381750" y="4779963"/>
            <a:ext cx="0" cy="266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19" name="Line 23">
            <a:extLst>
              <a:ext uri="{FF2B5EF4-FFF2-40B4-BE49-F238E27FC236}">
                <a16:creationId xmlns:a16="http://schemas.microsoft.com/office/drawing/2014/main" id="{64BDF8A8-D630-4A30-A16E-BF489CF8855A}"/>
              </a:ext>
            </a:extLst>
          </p:cNvPr>
          <p:cNvSpPr>
            <a:spLocks noChangeShapeType="1"/>
          </p:cNvSpPr>
          <p:nvPr/>
        </p:nvSpPr>
        <p:spPr bwMode="auto">
          <a:xfrm flipV="1">
            <a:off x="6000751" y="4065588"/>
            <a:ext cx="39687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20" name="Line 24">
            <a:extLst>
              <a:ext uri="{FF2B5EF4-FFF2-40B4-BE49-F238E27FC236}">
                <a16:creationId xmlns:a16="http://schemas.microsoft.com/office/drawing/2014/main" id="{D4A3192E-4D05-498E-97ED-13AC804D6C07}"/>
              </a:ext>
            </a:extLst>
          </p:cNvPr>
          <p:cNvSpPr>
            <a:spLocks noChangeShapeType="1"/>
          </p:cNvSpPr>
          <p:nvPr/>
        </p:nvSpPr>
        <p:spPr bwMode="auto">
          <a:xfrm>
            <a:off x="6394450" y="4068763"/>
            <a:ext cx="0" cy="266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21" name="Line 25">
            <a:extLst>
              <a:ext uri="{FF2B5EF4-FFF2-40B4-BE49-F238E27FC236}">
                <a16:creationId xmlns:a16="http://schemas.microsoft.com/office/drawing/2014/main" id="{160575FC-1B86-427A-9621-2201A99F5808}"/>
              </a:ext>
            </a:extLst>
          </p:cNvPr>
          <p:cNvSpPr>
            <a:spLocks noChangeShapeType="1"/>
          </p:cNvSpPr>
          <p:nvPr/>
        </p:nvSpPr>
        <p:spPr bwMode="auto">
          <a:xfrm>
            <a:off x="6389688" y="4335463"/>
            <a:ext cx="6524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22" name="Line 26">
            <a:extLst>
              <a:ext uri="{FF2B5EF4-FFF2-40B4-BE49-F238E27FC236}">
                <a16:creationId xmlns:a16="http://schemas.microsoft.com/office/drawing/2014/main" id="{E23FE94B-7C43-4FC3-9BD9-9CDCF4623C07}"/>
              </a:ext>
            </a:extLst>
          </p:cNvPr>
          <p:cNvSpPr>
            <a:spLocks noChangeShapeType="1"/>
          </p:cNvSpPr>
          <p:nvPr/>
        </p:nvSpPr>
        <p:spPr bwMode="auto">
          <a:xfrm>
            <a:off x="6378576" y="4779963"/>
            <a:ext cx="6524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 name="AutoShape 27">
            <a:extLst>
              <a:ext uri="{FF2B5EF4-FFF2-40B4-BE49-F238E27FC236}">
                <a16:creationId xmlns:a16="http://schemas.microsoft.com/office/drawing/2014/main" id="{CA34F91E-EFF4-4CFA-94E1-DF54C5BCF1E2}"/>
              </a:ext>
            </a:extLst>
          </p:cNvPr>
          <p:cNvSpPr>
            <a:spLocks noChangeArrowheads="1"/>
          </p:cNvSpPr>
          <p:nvPr/>
        </p:nvSpPr>
        <p:spPr bwMode="auto">
          <a:xfrm>
            <a:off x="7126288" y="4144963"/>
            <a:ext cx="793750" cy="762000"/>
          </a:xfrm>
          <a:prstGeom prst="flowChartDelay">
            <a:avLst/>
          </a:prstGeom>
          <a:solidFill>
            <a:schemeClr val="accent1">
              <a:lumMod val="20000"/>
              <a:lumOff val="80000"/>
            </a:schemeClr>
          </a:solidFill>
          <a:ln w="12700">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12324" name="Line 28">
            <a:extLst>
              <a:ext uri="{FF2B5EF4-FFF2-40B4-BE49-F238E27FC236}">
                <a16:creationId xmlns:a16="http://schemas.microsoft.com/office/drawing/2014/main" id="{40E9158C-49C2-412C-8B93-FBED0E081F7D}"/>
              </a:ext>
            </a:extLst>
          </p:cNvPr>
          <p:cNvSpPr>
            <a:spLocks noChangeShapeType="1"/>
          </p:cNvSpPr>
          <p:nvPr/>
        </p:nvSpPr>
        <p:spPr bwMode="auto">
          <a:xfrm>
            <a:off x="7926389" y="4525963"/>
            <a:ext cx="32067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9" name="Oval 29">
            <a:extLst>
              <a:ext uri="{FF2B5EF4-FFF2-40B4-BE49-F238E27FC236}">
                <a16:creationId xmlns:a16="http://schemas.microsoft.com/office/drawing/2014/main" id="{A41A0456-9A81-4E78-9CDE-ABA6D8131BB0}"/>
              </a:ext>
            </a:extLst>
          </p:cNvPr>
          <p:cNvSpPr>
            <a:spLocks noChangeArrowheads="1"/>
          </p:cNvSpPr>
          <p:nvPr/>
        </p:nvSpPr>
        <p:spPr bwMode="auto">
          <a:xfrm>
            <a:off x="7026275" y="4271963"/>
            <a:ext cx="107950" cy="101600"/>
          </a:xfrm>
          <a:prstGeom prst="ellipse">
            <a:avLst/>
          </a:prstGeom>
          <a:solidFill>
            <a:schemeClr val="accent1">
              <a:lumMod val="20000"/>
              <a:lumOff val="80000"/>
            </a:schemeClr>
          </a:solidFill>
          <a:ln w="12700">
            <a:solidFill>
              <a:schemeClr val="tx1"/>
            </a:solidFill>
            <a:round/>
            <a:headEnd/>
            <a:tailEnd/>
          </a:ln>
        </p:spPr>
        <p:txBody>
          <a:bodyPr wrap="none" anchor="ctr"/>
          <a:lstStyle/>
          <a:p>
            <a:pPr eaLnBrk="1" hangingPunct="1">
              <a:defRPr/>
            </a:pPr>
            <a:endParaRPr lang="ru-RU">
              <a:latin typeface="Arial" charset="0"/>
              <a:cs typeface="Arial" charset="0"/>
            </a:endParaRPr>
          </a:p>
        </p:txBody>
      </p:sp>
      <p:sp>
        <p:nvSpPr>
          <p:cNvPr id="140" name="Oval 30">
            <a:extLst>
              <a:ext uri="{FF2B5EF4-FFF2-40B4-BE49-F238E27FC236}">
                <a16:creationId xmlns:a16="http://schemas.microsoft.com/office/drawing/2014/main" id="{376898BF-8F3D-487B-83B7-7B4A2B077B37}"/>
              </a:ext>
            </a:extLst>
          </p:cNvPr>
          <p:cNvSpPr>
            <a:spLocks noChangeArrowheads="1"/>
          </p:cNvSpPr>
          <p:nvPr/>
        </p:nvSpPr>
        <p:spPr bwMode="auto">
          <a:xfrm>
            <a:off x="7026275" y="4716463"/>
            <a:ext cx="107950" cy="101600"/>
          </a:xfrm>
          <a:prstGeom prst="ellipse">
            <a:avLst/>
          </a:prstGeom>
          <a:solidFill>
            <a:schemeClr val="accent1">
              <a:lumMod val="20000"/>
              <a:lumOff val="80000"/>
            </a:schemeClr>
          </a:solidFill>
          <a:ln w="12700">
            <a:solidFill>
              <a:schemeClr val="tx1"/>
            </a:solidFill>
            <a:round/>
            <a:headEnd/>
            <a:tailEnd/>
          </a:ln>
        </p:spPr>
        <p:txBody>
          <a:bodyPr wrap="none" anchor="ctr"/>
          <a:lstStyle/>
          <a:p>
            <a:pPr eaLnBrk="1" hangingPunct="1">
              <a:defRPr/>
            </a:pPr>
            <a:endParaRPr lang="ru-RU">
              <a:latin typeface="Arial" charset="0"/>
              <a:cs typeface="Arial" charset="0"/>
            </a:endParaRPr>
          </a:p>
        </p:txBody>
      </p:sp>
      <p:sp>
        <p:nvSpPr>
          <p:cNvPr id="141" name="Oval 34">
            <a:extLst>
              <a:ext uri="{FF2B5EF4-FFF2-40B4-BE49-F238E27FC236}">
                <a16:creationId xmlns:a16="http://schemas.microsoft.com/office/drawing/2014/main" id="{5BF87750-1A30-469E-AED3-628FFF29706D}"/>
              </a:ext>
            </a:extLst>
          </p:cNvPr>
          <p:cNvSpPr>
            <a:spLocks noChangeArrowheads="1"/>
          </p:cNvSpPr>
          <p:nvPr/>
        </p:nvSpPr>
        <p:spPr bwMode="auto">
          <a:xfrm>
            <a:off x="5934076" y="5000625"/>
            <a:ext cx="106363" cy="101600"/>
          </a:xfrm>
          <a:prstGeom prst="ellipse">
            <a:avLst/>
          </a:prstGeom>
          <a:solidFill>
            <a:schemeClr val="accent1">
              <a:lumMod val="75000"/>
            </a:schemeClr>
          </a:solidFill>
          <a:ln w="12700">
            <a:solidFill>
              <a:schemeClr val="tx1"/>
            </a:solidFill>
            <a:round/>
            <a:headEnd/>
            <a:tailEnd/>
          </a:ln>
        </p:spPr>
        <p:txBody>
          <a:bodyPr wrap="none" anchor="ctr"/>
          <a:lstStyle/>
          <a:p>
            <a:pPr eaLnBrk="1" hangingPunct="1">
              <a:defRPr/>
            </a:pPr>
            <a:endParaRPr lang="ru-RU">
              <a:latin typeface="Arial" charset="0"/>
              <a:cs typeface="Arial" charset="0"/>
            </a:endParaRPr>
          </a:p>
        </p:txBody>
      </p:sp>
      <p:sp>
        <p:nvSpPr>
          <p:cNvPr id="12328" name="Oval 35">
            <a:extLst>
              <a:ext uri="{FF2B5EF4-FFF2-40B4-BE49-F238E27FC236}">
                <a16:creationId xmlns:a16="http://schemas.microsoft.com/office/drawing/2014/main" id="{1531000F-F123-48A4-B4DE-2145BD26CD5D}"/>
              </a:ext>
            </a:extLst>
          </p:cNvPr>
          <p:cNvSpPr>
            <a:spLocks noChangeArrowheads="1"/>
          </p:cNvSpPr>
          <p:nvPr/>
        </p:nvSpPr>
        <p:spPr bwMode="auto">
          <a:xfrm>
            <a:off x="5932488" y="4008438"/>
            <a:ext cx="106362" cy="101600"/>
          </a:xfrm>
          <a:prstGeom prst="ellipse">
            <a:avLst/>
          </a:prstGeom>
          <a:solidFill>
            <a:schemeClr val="accent1"/>
          </a:solidFill>
          <a:ln w="12700">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43" name="AutoShape 36">
            <a:extLst>
              <a:ext uri="{FF2B5EF4-FFF2-40B4-BE49-F238E27FC236}">
                <a16:creationId xmlns:a16="http://schemas.microsoft.com/office/drawing/2014/main" id="{D3004A30-08A6-46F3-8B1B-F8A18F990350}"/>
              </a:ext>
            </a:extLst>
          </p:cNvPr>
          <p:cNvSpPr>
            <a:spLocks noChangeArrowheads="1"/>
          </p:cNvSpPr>
          <p:nvPr/>
        </p:nvSpPr>
        <p:spPr bwMode="auto">
          <a:xfrm>
            <a:off x="3148013" y="4125913"/>
            <a:ext cx="666750" cy="762000"/>
          </a:xfrm>
          <a:prstGeom prst="flowChartDelay">
            <a:avLst/>
          </a:prstGeom>
          <a:solidFill>
            <a:schemeClr val="accent1">
              <a:lumMod val="50000"/>
            </a:schemeClr>
          </a:solidFill>
          <a:ln w="12700">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12330" name="Line 37">
            <a:extLst>
              <a:ext uri="{FF2B5EF4-FFF2-40B4-BE49-F238E27FC236}">
                <a16:creationId xmlns:a16="http://schemas.microsoft.com/office/drawing/2014/main" id="{A41F1BA6-B1D4-48E9-ADD5-30B41CD128F0}"/>
              </a:ext>
            </a:extLst>
          </p:cNvPr>
          <p:cNvSpPr>
            <a:spLocks noChangeShapeType="1"/>
          </p:cNvSpPr>
          <p:nvPr/>
        </p:nvSpPr>
        <p:spPr bwMode="auto">
          <a:xfrm>
            <a:off x="2744789" y="4751388"/>
            <a:ext cx="39687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31" name="AutoShape 63">
            <a:extLst>
              <a:ext uri="{FF2B5EF4-FFF2-40B4-BE49-F238E27FC236}">
                <a16:creationId xmlns:a16="http://schemas.microsoft.com/office/drawing/2014/main" id="{12CC3228-EDA6-4792-B326-FCA9591B408B}"/>
              </a:ext>
            </a:extLst>
          </p:cNvPr>
          <p:cNvSpPr>
            <a:spLocks noChangeArrowheads="1"/>
          </p:cNvSpPr>
          <p:nvPr/>
        </p:nvSpPr>
        <p:spPr bwMode="auto">
          <a:xfrm rot="5400000">
            <a:off x="5155407" y="3677444"/>
            <a:ext cx="777875" cy="763588"/>
          </a:xfrm>
          <a:prstGeom prst="triangle">
            <a:avLst>
              <a:gd name="adj" fmla="val 50000"/>
            </a:avLst>
          </a:prstGeom>
          <a:solidFill>
            <a:schemeClr val="accent1"/>
          </a:solidFill>
          <a:ln w="12700">
            <a:solidFill>
              <a:schemeClr val="tx1"/>
            </a:solidFill>
            <a:miter lim="800000"/>
            <a:headEnd/>
            <a:tailEnd/>
          </a:ln>
        </p:spPr>
        <p:txBody>
          <a:bodyPr rot="10800000" vert="eaVert"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07DF1760-0A3B-4A1C-8D7C-83FB52285FB6}"/>
              </a:ext>
            </a:extLst>
          </p:cNvPr>
          <p:cNvSpPr>
            <a:spLocks noGrp="1"/>
          </p:cNvSpPr>
          <p:nvPr>
            <p:ph type="title"/>
          </p:nvPr>
        </p:nvSpPr>
        <p:spPr/>
        <p:txBody>
          <a:bodyPr/>
          <a:lstStyle/>
          <a:p>
            <a:r>
              <a:rPr lang="en-US" altLang="en-US" dirty="0"/>
              <a:t>STA (2)</a:t>
            </a:r>
          </a:p>
        </p:txBody>
      </p:sp>
      <p:sp>
        <p:nvSpPr>
          <p:cNvPr id="14339" name="Content Placeholder 2">
            <a:extLst>
              <a:ext uri="{FF2B5EF4-FFF2-40B4-BE49-F238E27FC236}">
                <a16:creationId xmlns:a16="http://schemas.microsoft.com/office/drawing/2014/main" id="{6001F095-EB8D-4928-A16B-459648250880}"/>
              </a:ext>
            </a:extLst>
          </p:cNvPr>
          <p:cNvSpPr>
            <a:spLocks noGrp="1"/>
          </p:cNvSpPr>
          <p:nvPr>
            <p:ph type="body" sz="quarter" idx="10"/>
          </p:nvPr>
        </p:nvSpPr>
        <p:spPr/>
        <p:txBody>
          <a:bodyPr/>
          <a:lstStyle/>
          <a:p>
            <a:r>
              <a:rPr lang="en-US" altLang="en-US"/>
              <a:t>Vector-less topological analysis of a circuit.</a:t>
            </a:r>
            <a:endParaRPr lang="ru-RU" altLang="en-US"/>
          </a:p>
          <a:p>
            <a:pPr lvl="1"/>
            <a:r>
              <a:rPr lang="en-US" altLang="en-US" sz="1800"/>
              <a:t>The signal at the input is propagated through the gates at each level till it reaches the output</a:t>
            </a:r>
          </a:p>
        </p:txBody>
      </p:sp>
      <p:grpSp>
        <p:nvGrpSpPr>
          <p:cNvPr id="14340" name="Group 13">
            <a:extLst>
              <a:ext uri="{FF2B5EF4-FFF2-40B4-BE49-F238E27FC236}">
                <a16:creationId xmlns:a16="http://schemas.microsoft.com/office/drawing/2014/main" id="{F1F10053-2278-4581-A28F-7B837EBDE7DD}"/>
              </a:ext>
            </a:extLst>
          </p:cNvPr>
          <p:cNvGrpSpPr>
            <a:grpSpLocks/>
          </p:cNvGrpSpPr>
          <p:nvPr/>
        </p:nvGrpSpPr>
        <p:grpSpPr bwMode="auto">
          <a:xfrm>
            <a:off x="2921000" y="2667000"/>
            <a:ext cx="5842000" cy="3043238"/>
            <a:chOff x="1249363" y="2501900"/>
            <a:chExt cx="5842000" cy="3226608"/>
          </a:xfrm>
        </p:grpSpPr>
        <p:sp>
          <p:nvSpPr>
            <p:cNvPr id="14341" name="Line 42">
              <a:extLst>
                <a:ext uri="{FF2B5EF4-FFF2-40B4-BE49-F238E27FC236}">
                  <a16:creationId xmlns:a16="http://schemas.microsoft.com/office/drawing/2014/main" id="{5A333489-7CA9-49D2-BC8F-02D471415658}"/>
                </a:ext>
              </a:extLst>
            </p:cNvPr>
            <p:cNvSpPr>
              <a:spLocks noChangeShapeType="1"/>
            </p:cNvSpPr>
            <p:nvPr/>
          </p:nvSpPr>
          <p:spPr bwMode="auto">
            <a:xfrm flipV="1">
              <a:off x="1324729" y="3635375"/>
              <a:ext cx="5766634" cy="317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42" name="Line 43">
              <a:extLst>
                <a:ext uri="{FF2B5EF4-FFF2-40B4-BE49-F238E27FC236}">
                  <a16:creationId xmlns:a16="http://schemas.microsoft.com/office/drawing/2014/main" id="{C81DD1D2-6581-47C3-AB6D-DF18AEF93575}"/>
                </a:ext>
              </a:extLst>
            </p:cNvPr>
            <p:cNvSpPr>
              <a:spLocks noChangeShapeType="1"/>
            </p:cNvSpPr>
            <p:nvPr/>
          </p:nvSpPr>
          <p:spPr bwMode="auto">
            <a:xfrm>
              <a:off x="1639895" y="3562350"/>
              <a:ext cx="0" cy="177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3" name="Line 44">
              <a:extLst>
                <a:ext uri="{FF2B5EF4-FFF2-40B4-BE49-F238E27FC236}">
                  <a16:creationId xmlns:a16="http://schemas.microsoft.com/office/drawing/2014/main" id="{0CA646F7-4C02-4580-8CC4-961AC185C0B3}"/>
                </a:ext>
              </a:extLst>
            </p:cNvPr>
            <p:cNvSpPr>
              <a:spLocks noChangeShapeType="1"/>
            </p:cNvSpPr>
            <p:nvPr/>
          </p:nvSpPr>
          <p:spPr bwMode="auto">
            <a:xfrm>
              <a:off x="3263688" y="3562350"/>
              <a:ext cx="0" cy="177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4" name="Line 45">
              <a:extLst>
                <a:ext uri="{FF2B5EF4-FFF2-40B4-BE49-F238E27FC236}">
                  <a16:creationId xmlns:a16="http://schemas.microsoft.com/office/drawing/2014/main" id="{3337183A-6BA8-4E5A-9FE6-BEED3EB4B206}"/>
                </a:ext>
              </a:extLst>
            </p:cNvPr>
            <p:cNvSpPr>
              <a:spLocks noChangeShapeType="1"/>
            </p:cNvSpPr>
            <p:nvPr/>
          </p:nvSpPr>
          <p:spPr bwMode="auto">
            <a:xfrm>
              <a:off x="4885197" y="3562350"/>
              <a:ext cx="0" cy="177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5" name="Line 46">
              <a:extLst>
                <a:ext uri="{FF2B5EF4-FFF2-40B4-BE49-F238E27FC236}">
                  <a16:creationId xmlns:a16="http://schemas.microsoft.com/office/drawing/2014/main" id="{68426496-0864-49E9-8949-1FA0E3269418}"/>
                </a:ext>
              </a:extLst>
            </p:cNvPr>
            <p:cNvSpPr>
              <a:spLocks noChangeShapeType="1"/>
            </p:cNvSpPr>
            <p:nvPr/>
          </p:nvSpPr>
          <p:spPr bwMode="auto">
            <a:xfrm>
              <a:off x="6508990" y="3562350"/>
              <a:ext cx="0" cy="177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6" name="Text Box 47">
              <a:extLst>
                <a:ext uri="{FF2B5EF4-FFF2-40B4-BE49-F238E27FC236}">
                  <a16:creationId xmlns:a16="http://schemas.microsoft.com/office/drawing/2014/main" id="{46E2BAF0-5423-4624-B00A-36C162F87CB9}"/>
                </a:ext>
              </a:extLst>
            </p:cNvPr>
            <p:cNvSpPr txBox="1">
              <a:spLocks noChangeArrowheads="1"/>
            </p:cNvSpPr>
            <p:nvPr/>
          </p:nvSpPr>
          <p:spPr bwMode="auto">
            <a:xfrm>
              <a:off x="1249363" y="3671888"/>
              <a:ext cx="248786" cy="244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900"/>
                <a:t>0</a:t>
              </a:r>
            </a:p>
          </p:txBody>
        </p:sp>
        <p:sp>
          <p:nvSpPr>
            <p:cNvPr id="14347" name="Text Box 48">
              <a:extLst>
                <a:ext uri="{FF2B5EF4-FFF2-40B4-BE49-F238E27FC236}">
                  <a16:creationId xmlns:a16="http://schemas.microsoft.com/office/drawing/2014/main" id="{5457A204-488D-4394-9A60-250C34F27664}"/>
                </a:ext>
              </a:extLst>
            </p:cNvPr>
            <p:cNvSpPr txBox="1">
              <a:spLocks noChangeArrowheads="1"/>
            </p:cNvSpPr>
            <p:nvPr/>
          </p:nvSpPr>
          <p:spPr bwMode="auto">
            <a:xfrm>
              <a:off x="2905129" y="3671888"/>
              <a:ext cx="248786" cy="244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900"/>
                <a:t>2</a:t>
              </a:r>
            </a:p>
          </p:txBody>
        </p:sp>
        <p:sp>
          <p:nvSpPr>
            <p:cNvPr id="14348" name="Text Box 49">
              <a:extLst>
                <a:ext uri="{FF2B5EF4-FFF2-40B4-BE49-F238E27FC236}">
                  <a16:creationId xmlns:a16="http://schemas.microsoft.com/office/drawing/2014/main" id="{E6C4B27E-8F4D-4346-A9E2-59494B30E2F8}"/>
                </a:ext>
              </a:extLst>
            </p:cNvPr>
            <p:cNvSpPr txBox="1">
              <a:spLocks noChangeArrowheads="1"/>
            </p:cNvSpPr>
            <p:nvPr/>
          </p:nvSpPr>
          <p:spPr bwMode="auto">
            <a:xfrm>
              <a:off x="4538057" y="3671888"/>
              <a:ext cx="248786" cy="244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900"/>
                <a:t>4</a:t>
              </a:r>
            </a:p>
          </p:txBody>
        </p:sp>
        <p:sp>
          <p:nvSpPr>
            <p:cNvPr id="14349" name="Text Box 50">
              <a:extLst>
                <a:ext uri="{FF2B5EF4-FFF2-40B4-BE49-F238E27FC236}">
                  <a16:creationId xmlns:a16="http://schemas.microsoft.com/office/drawing/2014/main" id="{4017E41C-33B0-441A-B60D-5CC352D266AB}"/>
                </a:ext>
              </a:extLst>
            </p:cNvPr>
            <p:cNvSpPr txBox="1">
              <a:spLocks noChangeArrowheads="1"/>
            </p:cNvSpPr>
            <p:nvPr/>
          </p:nvSpPr>
          <p:spPr bwMode="auto">
            <a:xfrm>
              <a:off x="6168702" y="3671888"/>
              <a:ext cx="248786" cy="244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900"/>
                <a:t>6</a:t>
              </a:r>
            </a:p>
          </p:txBody>
        </p:sp>
        <p:grpSp>
          <p:nvGrpSpPr>
            <p:cNvPr id="14350" name="Group 51">
              <a:extLst>
                <a:ext uri="{FF2B5EF4-FFF2-40B4-BE49-F238E27FC236}">
                  <a16:creationId xmlns:a16="http://schemas.microsoft.com/office/drawing/2014/main" id="{52A52072-3EEA-403E-87B6-69919B5BAE77}"/>
                </a:ext>
              </a:extLst>
            </p:cNvPr>
            <p:cNvGrpSpPr>
              <a:grpSpLocks/>
            </p:cNvGrpSpPr>
            <p:nvPr/>
          </p:nvGrpSpPr>
          <p:grpSpPr bwMode="auto">
            <a:xfrm>
              <a:off x="1639895" y="2501900"/>
              <a:ext cx="4869095" cy="946150"/>
              <a:chOff x="576" y="2736"/>
              <a:chExt cx="1728" cy="112"/>
            </a:xfrm>
          </p:grpSpPr>
          <p:sp>
            <p:nvSpPr>
              <p:cNvPr id="14387" name="Line 52">
                <a:extLst>
                  <a:ext uri="{FF2B5EF4-FFF2-40B4-BE49-F238E27FC236}">
                    <a16:creationId xmlns:a16="http://schemas.microsoft.com/office/drawing/2014/main" id="{850526BC-8464-4779-828A-1BE27B2F323F}"/>
                  </a:ext>
                </a:extLst>
              </p:cNvPr>
              <p:cNvSpPr>
                <a:spLocks noChangeShapeType="1"/>
              </p:cNvSpPr>
              <p:nvPr/>
            </p:nvSpPr>
            <p:spPr bwMode="auto">
              <a:xfrm>
                <a:off x="576" y="2736"/>
                <a:ext cx="0" cy="112"/>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388" name="Line 53">
                <a:extLst>
                  <a:ext uri="{FF2B5EF4-FFF2-40B4-BE49-F238E27FC236}">
                    <a16:creationId xmlns:a16="http://schemas.microsoft.com/office/drawing/2014/main" id="{8DD5B38F-4A18-49A0-A5AA-594549F36B5C}"/>
                  </a:ext>
                </a:extLst>
              </p:cNvPr>
              <p:cNvSpPr>
                <a:spLocks noChangeShapeType="1"/>
              </p:cNvSpPr>
              <p:nvPr/>
            </p:nvSpPr>
            <p:spPr bwMode="auto">
              <a:xfrm>
                <a:off x="1152" y="2736"/>
                <a:ext cx="0" cy="112"/>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389" name="Line 54">
                <a:extLst>
                  <a:ext uri="{FF2B5EF4-FFF2-40B4-BE49-F238E27FC236}">
                    <a16:creationId xmlns:a16="http://schemas.microsoft.com/office/drawing/2014/main" id="{A3D10E32-9106-4CC2-AEA7-8321F6728466}"/>
                  </a:ext>
                </a:extLst>
              </p:cNvPr>
              <p:cNvSpPr>
                <a:spLocks noChangeShapeType="1"/>
              </p:cNvSpPr>
              <p:nvPr/>
            </p:nvSpPr>
            <p:spPr bwMode="auto">
              <a:xfrm>
                <a:off x="1728" y="2736"/>
                <a:ext cx="0" cy="112"/>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390" name="Line 55">
                <a:extLst>
                  <a:ext uri="{FF2B5EF4-FFF2-40B4-BE49-F238E27FC236}">
                    <a16:creationId xmlns:a16="http://schemas.microsoft.com/office/drawing/2014/main" id="{42C931D1-7A6B-4860-B5EA-38EFBD32E07A}"/>
                  </a:ext>
                </a:extLst>
              </p:cNvPr>
              <p:cNvSpPr>
                <a:spLocks noChangeShapeType="1"/>
              </p:cNvSpPr>
              <p:nvPr/>
            </p:nvSpPr>
            <p:spPr bwMode="auto">
              <a:xfrm>
                <a:off x="2304" y="2736"/>
                <a:ext cx="0" cy="112"/>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8482" name="AutoShape 56">
              <a:extLst>
                <a:ext uri="{FF2B5EF4-FFF2-40B4-BE49-F238E27FC236}">
                  <a16:creationId xmlns:a16="http://schemas.microsoft.com/office/drawing/2014/main" id="{3E121F32-DEC9-4C52-B40C-3CF00727C56F}"/>
                </a:ext>
              </a:extLst>
            </p:cNvPr>
            <p:cNvSpPr>
              <a:spLocks noChangeArrowheads="1"/>
            </p:cNvSpPr>
            <p:nvPr/>
          </p:nvSpPr>
          <p:spPr bwMode="auto">
            <a:xfrm>
              <a:off x="1639888" y="2648335"/>
              <a:ext cx="1624013" cy="146434"/>
            </a:xfrm>
            <a:prstGeom prst="rightArrow">
              <a:avLst>
                <a:gd name="adj1" fmla="val 50000"/>
                <a:gd name="adj2" fmla="val 193207"/>
              </a:avLst>
            </a:prstGeom>
            <a:solidFill>
              <a:schemeClr val="accent1">
                <a:lumMod val="50000"/>
              </a:schemeClr>
            </a:solidFill>
            <a:ln w="952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18483" name="AutoShape 57">
              <a:extLst>
                <a:ext uri="{FF2B5EF4-FFF2-40B4-BE49-F238E27FC236}">
                  <a16:creationId xmlns:a16="http://schemas.microsoft.com/office/drawing/2014/main" id="{1E0A0FB7-D26A-4648-B318-4CFF98B26A47}"/>
                </a:ext>
              </a:extLst>
            </p:cNvPr>
            <p:cNvSpPr>
              <a:spLocks noChangeArrowheads="1"/>
            </p:cNvSpPr>
            <p:nvPr/>
          </p:nvSpPr>
          <p:spPr bwMode="auto">
            <a:xfrm>
              <a:off x="3263901" y="3160014"/>
              <a:ext cx="1620837" cy="146434"/>
            </a:xfrm>
            <a:prstGeom prst="rightArrow">
              <a:avLst>
                <a:gd name="adj1" fmla="val 50000"/>
                <a:gd name="adj2" fmla="val 192935"/>
              </a:avLst>
            </a:prstGeom>
            <a:solidFill>
              <a:schemeClr val="accent1">
                <a:lumMod val="75000"/>
              </a:schemeClr>
            </a:solidFill>
            <a:ln w="952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18484" name="AutoShape 58">
              <a:extLst>
                <a:ext uri="{FF2B5EF4-FFF2-40B4-BE49-F238E27FC236}">
                  <a16:creationId xmlns:a16="http://schemas.microsoft.com/office/drawing/2014/main" id="{8757A89A-FCB2-41CC-A013-F418115A2FBB}"/>
                </a:ext>
              </a:extLst>
            </p:cNvPr>
            <p:cNvSpPr>
              <a:spLocks noChangeArrowheads="1"/>
            </p:cNvSpPr>
            <p:nvPr/>
          </p:nvSpPr>
          <p:spPr bwMode="auto">
            <a:xfrm>
              <a:off x="4884738" y="2868828"/>
              <a:ext cx="1624013" cy="146435"/>
            </a:xfrm>
            <a:prstGeom prst="rightArrow">
              <a:avLst>
                <a:gd name="adj1" fmla="val 50000"/>
                <a:gd name="adj2" fmla="val 193207"/>
              </a:avLst>
            </a:prstGeom>
            <a:solidFill>
              <a:schemeClr val="accent1">
                <a:lumMod val="20000"/>
                <a:lumOff val="80000"/>
              </a:schemeClr>
            </a:solidFill>
            <a:ln w="952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14354" name="AutoShape 59">
              <a:extLst>
                <a:ext uri="{FF2B5EF4-FFF2-40B4-BE49-F238E27FC236}">
                  <a16:creationId xmlns:a16="http://schemas.microsoft.com/office/drawing/2014/main" id="{DF410D4D-6363-4BD4-9277-A74E9FB2F381}"/>
                </a:ext>
              </a:extLst>
            </p:cNvPr>
            <p:cNvSpPr>
              <a:spLocks noChangeArrowheads="1"/>
            </p:cNvSpPr>
            <p:nvPr/>
          </p:nvSpPr>
          <p:spPr bwMode="auto">
            <a:xfrm>
              <a:off x="3263688" y="2647950"/>
              <a:ext cx="1169314" cy="146050"/>
            </a:xfrm>
            <a:prstGeom prst="rightArrow">
              <a:avLst>
                <a:gd name="adj1" fmla="val 50000"/>
                <a:gd name="adj2" fmla="val 139146"/>
              </a:avLst>
            </a:prstGeom>
            <a:solidFill>
              <a:schemeClr val="accent1"/>
            </a:solidFill>
            <a:ln w="9525">
              <a:solidFill>
                <a:schemeClr val="tx1"/>
              </a:solidFill>
              <a:miter lim="800000"/>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8486" name="AutoShape 60">
              <a:extLst>
                <a:ext uri="{FF2B5EF4-FFF2-40B4-BE49-F238E27FC236}">
                  <a16:creationId xmlns:a16="http://schemas.microsoft.com/office/drawing/2014/main" id="{EC6B1CA1-6F2F-4A06-9780-6A66EA079526}"/>
                </a:ext>
              </a:extLst>
            </p:cNvPr>
            <p:cNvSpPr>
              <a:spLocks noChangeArrowheads="1"/>
            </p:cNvSpPr>
            <p:nvPr/>
          </p:nvSpPr>
          <p:spPr bwMode="auto">
            <a:xfrm>
              <a:off x="1639888" y="3160014"/>
              <a:ext cx="1169988" cy="146434"/>
            </a:xfrm>
            <a:prstGeom prst="rightArrow">
              <a:avLst>
                <a:gd name="adj1" fmla="val 50000"/>
                <a:gd name="adj2" fmla="val 139130"/>
              </a:avLst>
            </a:prstGeom>
            <a:solidFill>
              <a:schemeClr val="accent1">
                <a:lumMod val="20000"/>
                <a:lumOff val="80000"/>
              </a:schemeClr>
            </a:solidFill>
            <a:ln w="952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14356" name="Line 61">
              <a:extLst>
                <a:ext uri="{FF2B5EF4-FFF2-40B4-BE49-F238E27FC236}">
                  <a16:creationId xmlns:a16="http://schemas.microsoft.com/office/drawing/2014/main" id="{B249D08C-CEB6-4577-BA05-C27155892FC9}"/>
                </a:ext>
              </a:extLst>
            </p:cNvPr>
            <p:cNvSpPr>
              <a:spLocks noChangeShapeType="1"/>
            </p:cNvSpPr>
            <p:nvPr/>
          </p:nvSpPr>
          <p:spPr bwMode="auto">
            <a:xfrm>
              <a:off x="2809209" y="3233738"/>
              <a:ext cx="454479"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357" name="Line 62">
              <a:extLst>
                <a:ext uri="{FF2B5EF4-FFF2-40B4-BE49-F238E27FC236}">
                  <a16:creationId xmlns:a16="http://schemas.microsoft.com/office/drawing/2014/main" id="{031448AE-08FC-42B5-8852-1BA3D4289FF8}"/>
                </a:ext>
              </a:extLst>
            </p:cNvPr>
            <p:cNvSpPr>
              <a:spLocks noChangeShapeType="1"/>
            </p:cNvSpPr>
            <p:nvPr/>
          </p:nvSpPr>
          <p:spPr bwMode="auto">
            <a:xfrm>
              <a:off x="4433002" y="2720975"/>
              <a:ext cx="452195"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358" name="Line 14">
              <a:extLst>
                <a:ext uri="{FF2B5EF4-FFF2-40B4-BE49-F238E27FC236}">
                  <a16:creationId xmlns:a16="http://schemas.microsoft.com/office/drawing/2014/main" id="{87A72D7F-70BA-4A7E-B6F2-F7B2022AFC6D}"/>
                </a:ext>
              </a:extLst>
            </p:cNvPr>
            <p:cNvSpPr>
              <a:spLocks noChangeShapeType="1"/>
            </p:cNvSpPr>
            <p:nvPr/>
          </p:nvSpPr>
          <p:spPr bwMode="auto">
            <a:xfrm flipH="1">
              <a:off x="3139404" y="4160578"/>
              <a:ext cx="1" cy="9937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59" name="Line 15">
              <a:extLst>
                <a:ext uri="{FF2B5EF4-FFF2-40B4-BE49-F238E27FC236}">
                  <a16:creationId xmlns:a16="http://schemas.microsoft.com/office/drawing/2014/main" id="{EFADDC4E-A361-4FB8-94C5-932039A76714}"/>
                </a:ext>
              </a:extLst>
            </p:cNvPr>
            <p:cNvSpPr>
              <a:spLocks noChangeShapeType="1"/>
            </p:cNvSpPr>
            <p:nvPr/>
          </p:nvSpPr>
          <p:spPr bwMode="auto">
            <a:xfrm>
              <a:off x="1343209" y="4427278"/>
              <a:ext cx="4000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60" name="Line 16">
              <a:extLst>
                <a:ext uri="{FF2B5EF4-FFF2-40B4-BE49-F238E27FC236}">
                  <a16:creationId xmlns:a16="http://schemas.microsoft.com/office/drawing/2014/main" id="{EA99429E-E795-453C-9F8E-49186BC36380}"/>
                </a:ext>
              </a:extLst>
            </p:cNvPr>
            <p:cNvSpPr>
              <a:spLocks noChangeShapeType="1"/>
            </p:cNvSpPr>
            <p:nvPr/>
          </p:nvSpPr>
          <p:spPr bwMode="auto">
            <a:xfrm>
              <a:off x="2531392" y="4605078"/>
              <a:ext cx="60801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61" name="Line 17">
              <a:extLst>
                <a:ext uri="{FF2B5EF4-FFF2-40B4-BE49-F238E27FC236}">
                  <a16:creationId xmlns:a16="http://schemas.microsoft.com/office/drawing/2014/main" id="{9F1BAE02-54C7-4905-B78D-1DE4A00B8457}"/>
                </a:ext>
              </a:extLst>
            </p:cNvPr>
            <p:cNvSpPr>
              <a:spLocks noChangeShapeType="1"/>
            </p:cNvSpPr>
            <p:nvPr/>
          </p:nvSpPr>
          <p:spPr bwMode="auto">
            <a:xfrm flipV="1">
              <a:off x="3139405" y="4160578"/>
              <a:ext cx="62547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Oval 18">
              <a:extLst>
                <a:ext uri="{FF2B5EF4-FFF2-40B4-BE49-F238E27FC236}">
                  <a16:creationId xmlns:a16="http://schemas.microsoft.com/office/drawing/2014/main" id="{50298911-DFD3-4DB2-B8A5-C20755E1D854}"/>
                </a:ext>
              </a:extLst>
            </p:cNvPr>
            <p:cNvSpPr>
              <a:spLocks noChangeArrowheads="1"/>
            </p:cNvSpPr>
            <p:nvPr/>
          </p:nvSpPr>
          <p:spPr bwMode="auto">
            <a:xfrm>
              <a:off x="2414588" y="4553666"/>
              <a:ext cx="104775" cy="102672"/>
            </a:xfrm>
            <a:prstGeom prst="ellipse">
              <a:avLst/>
            </a:prstGeom>
            <a:solidFill>
              <a:schemeClr val="accent1">
                <a:lumMod val="50000"/>
              </a:schemeClr>
            </a:solidFill>
            <a:ln w="12700">
              <a:solidFill>
                <a:schemeClr val="tx1"/>
              </a:solidFill>
              <a:round/>
              <a:headEnd/>
              <a:tailEnd/>
            </a:ln>
          </p:spPr>
          <p:txBody>
            <a:bodyPr wrap="none" anchor="ctr"/>
            <a:lstStyle/>
            <a:p>
              <a:pPr eaLnBrk="1" hangingPunct="1">
                <a:defRPr/>
              </a:pPr>
              <a:endParaRPr lang="ru-RU">
                <a:latin typeface="Arial" charset="0"/>
                <a:cs typeface="Arial" charset="0"/>
              </a:endParaRPr>
            </a:p>
          </p:txBody>
        </p:sp>
        <p:sp>
          <p:nvSpPr>
            <p:cNvPr id="14363" name="Line 19">
              <a:extLst>
                <a:ext uri="{FF2B5EF4-FFF2-40B4-BE49-F238E27FC236}">
                  <a16:creationId xmlns:a16="http://schemas.microsoft.com/office/drawing/2014/main" id="{087A6DFF-25B6-46A4-B368-4EBC0DED7290}"/>
                </a:ext>
              </a:extLst>
            </p:cNvPr>
            <p:cNvSpPr>
              <a:spLocks noChangeShapeType="1"/>
            </p:cNvSpPr>
            <p:nvPr/>
          </p:nvSpPr>
          <p:spPr bwMode="auto">
            <a:xfrm flipV="1">
              <a:off x="3139405" y="5151178"/>
              <a:ext cx="62547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AutoShape 20">
              <a:extLst>
                <a:ext uri="{FF2B5EF4-FFF2-40B4-BE49-F238E27FC236}">
                  <a16:creationId xmlns:a16="http://schemas.microsoft.com/office/drawing/2014/main" id="{091AB480-0FCB-45F4-8DBD-F3ABC7645740}"/>
                </a:ext>
              </a:extLst>
            </p:cNvPr>
            <p:cNvSpPr>
              <a:spLocks noChangeArrowheads="1"/>
            </p:cNvSpPr>
            <p:nvPr/>
          </p:nvSpPr>
          <p:spPr bwMode="auto">
            <a:xfrm rot="5400000">
              <a:off x="3759330" y="4773647"/>
              <a:ext cx="777617" cy="765175"/>
            </a:xfrm>
            <a:prstGeom prst="triangle">
              <a:avLst>
                <a:gd name="adj" fmla="val 50000"/>
              </a:avLst>
            </a:prstGeom>
            <a:solidFill>
              <a:schemeClr val="accent1">
                <a:lumMod val="75000"/>
              </a:schemeClr>
            </a:solidFill>
            <a:ln w="12700">
              <a:solidFill>
                <a:schemeClr val="tx1"/>
              </a:solidFill>
              <a:miter lim="800000"/>
              <a:headEnd/>
              <a:tailEnd/>
            </a:ln>
          </p:spPr>
          <p:txBody>
            <a:bodyPr rot="10800000" vert="eaVert" wrap="none" anchor="ctr"/>
            <a:lstStyle/>
            <a:p>
              <a:pPr eaLnBrk="1" hangingPunct="1">
                <a:defRPr/>
              </a:pPr>
              <a:endParaRPr lang="ru-RU">
                <a:latin typeface="Arial" charset="0"/>
                <a:cs typeface="Arial" charset="0"/>
              </a:endParaRPr>
            </a:p>
          </p:txBody>
        </p:sp>
        <p:sp>
          <p:nvSpPr>
            <p:cNvPr id="14365" name="Line 21">
              <a:extLst>
                <a:ext uri="{FF2B5EF4-FFF2-40B4-BE49-F238E27FC236}">
                  <a16:creationId xmlns:a16="http://schemas.microsoft.com/office/drawing/2014/main" id="{D60FBCD5-EA1C-484E-9CE5-1FBA216185EE}"/>
                </a:ext>
              </a:extLst>
            </p:cNvPr>
            <p:cNvSpPr>
              <a:spLocks noChangeShapeType="1"/>
            </p:cNvSpPr>
            <p:nvPr/>
          </p:nvSpPr>
          <p:spPr bwMode="auto">
            <a:xfrm flipV="1">
              <a:off x="4514179" y="5151178"/>
              <a:ext cx="46672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66" name="Line 22">
              <a:extLst>
                <a:ext uri="{FF2B5EF4-FFF2-40B4-BE49-F238E27FC236}">
                  <a16:creationId xmlns:a16="http://schemas.microsoft.com/office/drawing/2014/main" id="{32B8AE9E-281C-4494-BA17-BB3AC3FDF998}"/>
                </a:ext>
              </a:extLst>
            </p:cNvPr>
            <p:cNvSpPr>
              <a:spLocks noChangeShapeType="1"/>
            </p:cNvSpPr>
            <p:nvPr/>
          </p:nvSpPr>
          <p:spPr bwMode="auto">
            <a:xfrm>
              <a:off x="4980905" y="4884478"/>
              <a:ext cx="0" cy="266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67" name="Line 23">
              <a:extLst>
                <a:ext uri="{FF2B5EF4-FFF2-40B4-BE49-F238E27FC236}">
                  <a16:creationId xmlns:a16="http://schemas.microsoft.com/office/drawing/2014/main" id="{E4CBD89F-14B1-463D-B6FE-E8E8806A0B4D}"/>
                </a:ext>
              </a:extLst>
            </p:cNvPr>
            <p:cNvSpPr>
              <a:spLocks noChangeShapeType="1"/>
            </p:cNvSpPr>
            <p:nvPr/>
          </p:nvSpPr>
          <p:spPr bwMode="auto">
            <a:xfrm flipV="1">
              <a:off x="4599900" y="4170103"/>
              <a:ext cx="39687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68" name="Line 24">
              <a:extLst>
                <a:ext uri="{FF2B5EF4-FFF2-40B4-BE49-F238E27FC236}">
                  <a16:creationId xmlns:a16="http://schemas.microsoft.com/office/drawing/2014/main" id="{D4A48889-1EC1-474B-956F-FE2D17B8EAD3}"/>
                </a:ext>
              </a:extLst>
            </p:cNvPr>
            <p:cNvSpPr>
              <a:spLocks noChangeShapeType="1"/>
            </p:cNvSpPr>
            <p:nvPr/>
          </p:nvSpPr>
          <p:spPr bwMode="auto">
            <a:xfrm>
              <a:off x="4993605" y="4173278"/>
              <a:ext cx="0" cy="266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69" name="Line 25">
              <a:extLst>
                <a:ext uri="{FF2B5EF4-FFF2-40B4-BE49-F238E27FC236}">
                  <a16:creationId xmlns:a16="http://schemas.microsoft.com/office/drawing/2014/main" id="{59A4C15C-B266-4BBC-AE7E-3AC02078A1B0}"/>
                </a:ext>
              </a:extLst>
            </p:cNvPr>
            <p:cNvSpPr>
              <a:spLocks noChangeShapeType="1"/>
            </p:cNvSpPr>
            <p:nvPr/>
          </p:nvSpPr>
          <p:spPr bwMode="auto">
            <a:xfrm>
              <a:off x="4988843" y="4439978"/>
              <a:ext cx="6524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70" name="Line 26">
              <a:extLst>
                <a:ext uri="{FF2B5EF4-FFF2-40B4-BE49-F238E27FC236}">
                  <a16:creationId xmlns:a16="http://schemas.microsoft.com/office/drawing/2014/main" id="{DB86BAC1-DC6E-41C9-8B26-D061F010EA43}"/>
                </a:ext>
              </a:extLst>
            </p:cNvPr>
            <p:cNvSpPr>
              <a:spLocks noChangeShapeType="1"/>
            </p:cNvSpPr>
            <p:nvPr/>
          </p:nvSpPr>
          <p:spPr bwMode="auto">
            <a:xfrm>
              <a:off x="4978523" y="4884478"/>
              <a:ext cx="6524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 name="AutoShape 27">
              <a:extLst>
                <a:ext uri="{FF2B5EF4-FFF2-40B4-BE49-F238E27FC236}">
                  <a16:creationId xmlns:a16="http://schemas.microsoft.com/office/drawing/2014/main" id="{D4CC0873-9362-48C4-AF02-6202F0D2B627}"/>
                </a:ext>
              </a:extLst>
            </p:cNvPr>
            <p:cNvSpPr>
              <a:spLocks noChangeArrowheads="1"/>
            </p:cNvSpPr>
            <p:nvPr/>
          </p:nvSpPr>
          <p:spPr bwMode="auto">
            <a:xfrm>
              <a:off x="5726113" y="4249015"/>
              <a:ext cx="793750" cy="762470"/>
            </a:xfrm>
            <a:prstGeom prst="flowChartDelay">
              <a:avLst/>
            </a:prstGeom>
            <a:solidFill>
              <a:schemeClr val="accent1">
                <a:lumMod val="20000"/>
                <a:lumOff val="80000"/>
              </a:schemeClr>
            </a:solidFill>
            <a:ln w="12700">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14372" name="Line 28">
              <a:extLst>
                <a:ext uri="{FF2B5EF4-FFF2-40B4-BE49-F238E27FC236}">
                  <a16:creationId xmlns:a16="http://schemas.microsoft.com/office/drawing/2014/main" id="{4BCEA164-9E25-446E-A2C7-5E4DCC43B822}"/>
                </a:ext>
              </a:extLst>
            </p:cNvPr>
            <p:cNvSpPr>
              <a:spLocks noChangeShapeType="1"/>
            </p:cNvSpPr>
            <p:nvPr/>
          </p:nvSpPr>
          <p:spPr bwMode="auto">
            <a:xfrm>
              <a:off x="6525542" y="4630478"/>
              <a:ext cx="32067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 name="Oval 29">
              <a:extLst>
                <a:ext uri="{FF2B5EF4-FFF2-40B4-BE49-F238E27FC236}">
                  <a16:creationId xmlns:a16="http://schemas.microsoft.com/office/drawing/2014/main" id="{C2A68540-0A68-4A80-BA6B-8515CE214BFB}"/>
                </a:ext>
              </a:extLst>
            </p:cNvPr>
            <p:cNvSpPr>
              <a:spLocks noChangeArrowheads="1"/>
            </p:cNvSpPr>
            <p:nvPr/>
          </p:nvSpPr>
          <p:spPr bwMode="auto">
            <a:xfrm>
              <a:off x="5626101" y="4376934"/>
              <a:ext cx="107950" cy="100989"/>
            </a:xfrm>
            <a:prstGeom prst="ellipse">
              <a:avLst/>
            </a:prstGeom>
            <a:solidFill>
              <a:schemeClr val="accent1">
                <a:lumMod val="20000"/>
                <a:lumOff val="80000"/>
              </a:schemeClr>
            </a:solidFill>
            <a:ln w="12700">
              <a:solidFill>
                <a:schemeClr val="tx1"/>
              </a:solidFill>
              <a:round/>
              <a:headEnd/>
              <a:tailEnd/>
            </a:ln>
          </p:spPr>
          <p:txBody>
            <a:bodyPr wrap="none" anchor="ctr"/>
            <a:lstStyle/>
            <a:p>
              <a:pPr eaLnBrk="1" hangingPunct="1">
                <a:defRPr/>
              </a:pPr>
              <a:endParaRPr lang="ru-RU">
                <a:latin typeface="Arial" charset="0"/>
                <a:cs typeface="Arial" charset="0"/>
              </a:endParaRPr>
            </a:p>
          </p:txBody>
        </p:sp>
        <p:sp>
          <p:nvSpPr>
            <p:cNvPr id="76" name="Oval 30">
              <a:extLst>
                <a:ext uri="{FF2B5EF4-FFF2-40B4-BE49-F238E27FC236}">
                  <a16:creationId xmlns:a16="http://schemas.microsoft.com/office/drawing/2014/main" id="{CA32D22D-D1EE-419F-A6BD-E8F2D5DE233D}"/>
                </a:ext>
              </a:extLst>
            </p:cNvPr>
            <p:cNvSpPr>
              <a:spLocks noChangeArrowheads="1"/>
            </p:cNvSpPr>
            <p:nvPr/>
          </p:nvSpPr>
          <p:spPr bwMode="auto">
            <a:xfrm>
              <a:off x="5626101" y="4821287"/>
              <a:ext cx="107950" cy="100989"/>
            </a:xfrm>
            <a:prstGeom prst="ellipse">
              <a:avLst/>
            </a:prstGeom>
            <a:solidFill>
              <a:schemeClr val="accent1">
                <a:lumMod val="20000"/>
                <a:lumOff val="80000"/>
              </a:schemeClr>
            </a:solidFill>
            <a:ln w="12700">
              <a:solidFill>
                <a:schemeClr val="tx1"/>
              </a:solidFill>
              <a:round/>
              <a:headEnd/>
              <a:tailEnd/>
            </a:ln>
          </p:spPr>
          <p:txBody>
            <a:bodyPr wrap="none" anchor="ctr"/>
            <a:lstStyle/>
            <a:p>
              <a:pPr eaLnBrk="1" hangingPunct="1">
                <a:defRPr/>
              </a:pPr>
              <a:endParaRPr lang="ru-RU">
                <a:latin typeface="Arial" charset="0"/>
                <a:cs typeface="Arial" charset="0"/>
              </a:endParaRPr>
            </a:p>
          </p:txBody>
        </p:sp>
        <p:sp>
          <p:nvSpPr>
            <p:cNvPr id="77" name="Oval 34">
              <a:extLst>
                <a:ext uri="{FF2B5EF4-FFF2-40B4-BE49-F238E27FC236}">
                  <a16:creationId xmlns:a16="http://schemas.microsoft.com/office/drawing/2014/main" id="{A690D391-A56C-4A24-95C9-1DA6BE746AD0}"/>
                </a:ext>
              </a:extLst>
            </p:cNvPr>
            <p:cNvSpPr>
              <a:spLocks noChangeArrowheads="1"/>
            </p:cNvSpPr>
            <p:nvPr/>
          </p:nvSpPr>
          <p:spPr bwMode="auto">
            <a:xfrm>
              <a:off x="4533901" y="5105741"/>
              <a:ext cx="106362" cy="100989"/>
            </a:xfrm>
            <a:prstGeom prst="ellipse">
              <a:avLst/>
            </a:prstGeom>
            <a:solidFill>
              <a:schemeClr val="accent1">
                <a:lumMod val="75000"/>
              </a:schemeClr>
            </a:solidFill>
            <a:ln w="12700">
              <a:solidFill>
                <a:schemeClr val="tx1"/>
              </a:solidFill>
              <a:round/>
              <a:headEnd/>
              <a:tailEnd/>
            </a:ln>
          </p:spPr>
          <p:txBody>
            <a:bodyPr wrap="none" anchor="ctr"/>
            <a:lstStyle/>
            <a:p>
              <a:pPr eaLnBrk="1" hangingPunct="1">
                <a:defRPr/>
              </a:pPr>
              <a:endParaRPr lang="ru-RU">
                <a:latin typeface="Arial" charset="0"/>
                <a:cs typeface="Arial" charset="0"/>
              </a:endParaRPr>
            </a:p>
          </p:txBody>
        </p:sp>
        <p:sp>
          <p:nvSpPr>
            <p:cNvPr id="14376" name="Oval 35">
              <a:extLst>
                <a:ext uri="{FF2B5EF4-FFF2-40B4-BE49-F238E27FC236}">
                  <a16:creationId xmlns:a16="http://schemas.microsoft.com/office/drawing/2014/main" id="{77ECC236-1401-403F-A7C3-7E580D72EDFE}"/>
                </a:ext>
              </a:extLst>
            </p:cNvPr>
            <p:cNvSpPr>
              <a:spLocks noChangeArrowheads="1"/>
            </p:cNvSpPr>
            <p:nvPr/>
          </p:nvSpPr>
          <p:spPr bwMode="auto">
            <a:xfrm>
              <a:off x="4531642" y="4112952"/>
              <a:ext cx="106362" cy="101600"/>
            </a:xfrm>
            <a:prstGeom prst="ellipse">
              <a:avLst/>
            </a:prstGeom>
            <a:solidFill>
              <a:schemeClr val="accent1"/>
            </a:solidFill>
            <a:ln w="12700">
              <a:solidFill>
                <a:schemeClr val="tx1"/>
              </a:solidFill>
              <a:round/>
              <a:headEnd/>
              <a:tailEnd/>
            </a:ln>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9" name="AutoShape 36">
              <a:extLst>
                <a:ext uri="{FF2B5EF4-FFF2-40B4-BE49-F238E27FC236}">
                  <a16:creationId xmlns:a16="http://schemas.microsoft.com/office/drawing/2014/main" id="{2EAB6346-9A82-4EAE-BAB7-21253BA9BF15}"/>
                </a:ext>
              </a:extLst>
            </p:cNvPr>
            <p:cNvSpPr>
              <a:spLocks noChangeArrowheads="1"/>
            </p:cNvSpPr>
            <p:nvPr/>
          </p:nvSpPr>
          <p:spPr bwMode="auto">
            <a:xfrm>
              <a:off x="1747838" y="4230500"/>
              <a:ext cx="666750" cy="762469"/>
            </a:xfrm>
            <a:prstGeom prst="flowChartDelay">
              <a:avLst/>
            </a:prstGeom>
            <a:solidFill>
              <a:schemeClr val="accent1">
                <a:lumMod val="50000"/>
              </a:schemeClr>
            </a:solidFill>
            <a:ln w="12700">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14378" name="Line 37">
              <a:extLst>
                <a:ext uri="{FF2B5EF4-FFF2-40B4-BE49-F238E27FC236}">
                  <a16:creationId xmlns:a16="http://schemas.microsoft.com/office/drawing/2014/main" id="{2DD87028-8815-479F-A4FA-DD3330D0149D}"/>
                </a:ext>
              </a:extLst>
            </p:cNvPr>
            <p:cNvSpPr>
              <a:spLocks noChangeShapeType="1"/>
            </p:cNvSpPr>
            <p:nvPr/>
          </p:nvSpPr>
          <p:spPr bwMode="auto">
            <a:xfrm>
              <a:off x="1344797" y="4855903"/>
              <a:ext cx="39687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79" name="AutoShape 63">
              <a:extLst>
                <a:ext uri="{FF2B5EF4-FFF2-40B4-BE49-F238E27FC236}">
                  <a16:creationId xmlns:a16="http://schemas.microsoft.com/office/drawing/2014/main" id="{D04FA4E2-67B4-4B25-B153-2A11AFEFA635}"/>
                </a:ext>
              </a:extLst>
            </p:cNvPr>
            <p:cNvSpPr>
              <a:spLocks noChangeArrowheads="1"/>
            </p:cNvSpPr>
            <p:nvPr/>
          </p:nvSpPr>
          <p:spPr bwMode="auto">
            <a:xfrm rot="5400000">
              <a:off x="3754561" y="3781959"/>
              <a:ext cx="777875" cy="763587"/>
            </a:xfrm>
            <a:prstGeom prst="triangle">
              <a:avLst>
                <a:gd name="adj" fmla="val 50000"/>
              </a:avLst>
            </a:prstGeom>
            <a:solidFill>
              <a:schemeClr val="accent1"/>
            </a:solidFill>
            <a:ln w="12700">
              <a:solidFill>
                <a:schemeClr val="tx1"/>
              </a:solidFill>
              <a:miter lim="800000"/>
              <a:headEnd/>
              <a:tailEnd/>
            </a:ln>
          </p:spPr>
          <p:txBody>
            <a:bodyPr rot="10800000" vert="eaVert"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cxnSp>
          <p:nvCxnSpPr>
            <p:cNvPr id="14380" name="Straight Arrow Connector 3">
              <a:extLst>
                <a:ext uri="{FF2B5EF4-FFF2-40B4-BE49-F238E27FC236}">
                  <a16:creationId xmlns:a16="http://schemas.microsoft.com/office/drawing/2014/main" id="{E758DC89-98C6-474E-A633-B5D9D66E7012}"/>
                </a:ext>
              </a:extLst>
            </p:cNvPr>
            <p:cNvCxnSpPr>
              <a:cxnSpLocks noChangeShapeType="1"/>
              <a:stCxn id="66" idx="3"/>
            </p:cNvCxnSpPr>
            <p:nvPr/>
          </p:nvCxnSpPr>
          <p:spPr bwMode="auto">
            <a:xfrm flipV="1">
              <a:off x="3764880" y="5155940"/>
              <a:ext cx="668122" cy="1"/>
            </a:xfrm>
            <a:prstGeom prst="straightConnector1">
              <a:avLst/>
            </a:prstGeom>
            <a:noFill/>
            <a:ln w="9525" algn="ctr">
              <a:solidFill>
                <a:schemeClr val="tx1"/>
              </a:solidFill>
              <a:prstDash val="dash"/>
              <a:round/>
              <a:headEnd/>
              <a:tailEnd type="triangle" w="med" len="med"/>
            </a:ln>
          </p:spPr>
        </p:cxnSp>
        <p:cxnSp>
          <p:nvCxnSpPr>
            <p:cNvPr id="14381" name="Straight Arrow Connector 5">
              <a:extLst>
                <a:ext uri="{FF2B5EF4-FFF2-40B4-BE49-F238E27FC236}">
                  <a16:creationId xmlns:a16="http://schemas.microsoft.com/office/drawing/2014/main" id="{44EAA3FF-7951-4A65-A43F-5160B12DAD58}"/>
                </a:ext>
              </a:extLst>
            </p:cNvPr>
            <p:cNvCxnSpPr>
              <a:cxnSpLocks noChangeShapeType="1"/>
              <a:stCxn id="75" idx="6"/>
              <a:endCxn id="73" idx="3"/>
            </p:cNvCxnSpPr>
            <p:nvPr/>
          </p:nvCxnSpPr>
          <p:spPr bwMode="auto">
            <a:xfrm>
              <a:off x="5733380" y="4427278"/>
              <a:ext cx="785812" cy="203200"/>
            </a:xfrm>
            <a:prstGeom prst="straightConnector1">
              <a:avLst/>
            </a:prstGeom>
            <a:noFill/>
            <a:ln w="9525" algn="ctr">
              <a:solidFill>
                <a:schemeClr val="tx1"/>
              </a:solidFill>
              <a:prstDash val="dash"/>
              <a:round/>
              <a:headEnd/>
              <a:tailEnd type="triangle" w="med" len="med"/>
            </a:ln>
          </p:spPr>
        </p:cxnSp>
        <p:cxnSp>
          <p:nvCxnSpPr>
            <p:cNvPr id="14382" name="Straight Arrow Connector 7">
              <a:extLst>
                <a:ext uri="{FF2B5EF4-FFF2-40B4-BE49-F238E27FC236}">
                  <a16:creationId xmlns:a16="http://schemas.microsoft.com/office/drawing/2014/main" id="{2FD8A5FC-CB64-4558-9B1E-BF6B4CEAEF4F}"/>
                </a:ext>
              </a:extLst>
            </p:cNvPr>
            <p:cNvCxnSpPr>
              <a:cxnSpLocks noChangeShapeType="1"/>
              <a:endCxn id="73" idx="3"/>
            </p:cNvCxnSpPr>
            <p:nvPr/>
          </p:nvCxnSpPr>
          <p:spPr bwMode="auto">
            <a:xfrm flipV="1">
              <a:off x="5733380" y="4630478"/>
              <a:ext cx="785812" cy="254000"/>
            </a:xfrm>
            <a:prstGeom prst="straightConnector1">
              <a:avLst/>
            </a:prstGeom>
            <a:noFill/>
            <a:ln w="9525" algn="ctr">
              <a:solidFill>
                <a:schemeClr val="tx1"/>
              </a:solidFill>
              <a:prstDash val="dash"/>
              <a:round/>
              <a:headEnd/>
              <a:tailEnd type="triangle" w="med" len="med"/>
            </a:ln>
          </p:spPr>
        </p:cxnSp>
        <p:sp>
          <p:nvSpPr>
            <p:cNvPr id="11" name="Arc 10">
              <a:extLst>
                <a:ext uri="{FF2B5EF4-FFF2-40B4-BE49-F238E27FC236}">
                  <a16:creationId xmlns:a16="http://schemas.microsoft.com/office/drawing/2014/main" id="{A73CC9E7-C54D-49AE-AAF5-4021281BBF71}"/>
                </a:ext>
              </a:extLst>
            </p:cNvPr>
            <p:cNvSpPr/>
            <p:nvPr/>
          </p:nvSpPr>
          <p:spPr bwMode="auto">
            <a:xfrm flipV="1">
              <a:off x="3187701" y="5104057"/>
              <a:ext cx="1681162" cy="624451"/>
            </a:xfrm>
            <a:prstGeom prst="arc">
              <a:avLst>
                <a:gd name="adj1" fmla="val 10825126"/>
                <a:gd name="adj2" fmla="val 0"/>
              </a:avLst>
            </a:prstGeom>
            <a:noFill/>
            <a:ln w="9525" cap="flat" cmpd="sng" algn="ctr">
              <a:solidFill>
                <a:schemeClr val="tx1"/>
              </a:solidFill>
              <a:prstDash val="dash"/>
              <a:round/>
              <a:headEnd type="none" w="med" len="med"/>
              <a:tailEnd type="triangle" w="med" len="med"/>
            </a:ln>
            <a:effectLst/>
          </p:spPr>
          <p:txBody>
            <a:bodyPr anchor="ctr"/>
            <a:lstStyle/>
            <a:p>
              <a:pPr algn="ctr" eaLnBrk="1" hangingPunct="1">
                <a:defRPr/>
              </a:pPr>
              <a:endParaRPr lang="en-US">
                <a:latin typeface="Arial" charset="0"/>
                <a:cs typeface="Arial" charset="0"/>
              </a:endParaRPr>
            </a:p>
          </p:txBody>
        </p:sp>
        <p:sp>
          <p:nvSpPr>
            <p:cNvPr id="14384" name="TextBox 11">
              <a:extLst>
                <a:ext uri="{FF2B5EF4-FFF2-40B4-BE49-F238E27FC236}">
                  <a16:creationId xmlns:a16="http://schemas.microsoft.com/office/drawing/2014/main" id="{0A68A9EC-02FF-4EF6-BC39-D08D74F764A7}"/>
                </a:ext>
              </a:extLst>
            </p:cNvPr>
            <p:cNvSpPr txBox="1">
              <a:spLocks noChangeArrowheads="1"/>
            </p:cNvSpPr>
            <p:nvPr/>
          </p:nvSpPr>
          <p:spPr bwMode="auto">
            <a:xfrm>
              <a:off x="3312520" y="4894331"/>
              <a:ext cx="279244" cy="277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A</a:t>
              </a:r>
            </a:p>
          </p:txBody>
        </p:sp>
        <p:sp>
          <p:nvSpPr>
            <p:cNvPr id="14385" name="TextBox 108">
              <a:extLst>
                <a:ext uri="{FF2B5EF4-FFF2-40B4-BE49-F238E27FC236}">
                  <a16:creationId xmlns:a16="http://schemas.microsoft.com/office/drawing/2014/main" id="{4709C7B6-C05D-4B22-BFAC-1CF1CD90055E}"/>
                </a:ext>
              </a:extLst>
            </p:cNvPr>
            <p:cNvSpPr txBox="1">
              <a:spLocks noChangeArrowheads="1"/>
            </p:cNvSpPr>
            <p:nvPr/>
          </p:nvSpPr>
          <p:spPr bwMode="auto">
            <a:xfrm>
              <a:off x="4694498" y="3902142"/>
              <a:ext cx="287258" cy="277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a:t>
              </a:r>
            </a:p>
          </p:txBody>
        </p:sp>
        <p:sp>
          <p:nvSpPr>
            <p:cNvPr id="14386" name="TextBox 109">
              <a:extLst>
                <a:ext uri="{FF2B5EF4-FFF2-40B4-BE49-F238E27FC236}">
                  <a16:creationId xmlns:a16="http://schemas.microsoft.com/office/drawing/2014/main" id="{63B57877-1B23-4213-A1C5-B5D9A5B68322}"/>
                </a:ext>
              </a:extLst>
            </p:cNvPr>
            <p:cNvSpPr txBox="1">
              <a:spLocks noChangeArrowheads="1"/>
            </p:cNvSpPr>
            <p:nvPr/>
          </p:nvSpPr>
          <p:spPr bwMode="auto">
            <a:xfrm>
              <a:off x="6706595" y="4376478"/>
              <a:ext cx="293670" cy="277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O</a:t>
              </a:r>
            </a:p>
          </p:txBody>
        </p:sp>
      </p:gr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6B4A80FE-6776-4CDE-90E1-3BA0015F990B}"/>
              </a:ext>
            </a:extLst>
          </p:cNvPr>
          <p:cNvSpPr>
            <a:spLocks noGrp="1"/>
          </p:cNvSpPr>
          <p:nvPr>
            <p:ph type="title"/>
          </p:nvPr>
        </p:nvSpPr>
        <p:spPr/>
        <p:txBody>
          <a:bodyPr/>
          <a:lstStyle/>
          <a:p>
            <a:r>
              <a:rPr lang="en-US" altLang="en-US"/>
              <a:t>STA  vs. Simulation</a:t>
            </a:r>
          </a:p>
        </p:txBody>
      </p:sp>
      <p:sp>
        <p:nvSpPr>
          <p:cNvPr id="16387" name="Content Placeholder 2">
            <a:extLst>
              <a:ext uri="{FF2B5EF4-FFF2-40B4-BE49-F238E27FC236}">
                <a16:creationId xmlns:a16="http://schemas.microsoft.com/office/drawing/2014/main" id="{FC3AF172-8196-402D-8D39-639BC26CE551}"/>
              </a:ext>
            </a:extLst>
          </p:cNvPr>
          <p:cNvSpPr>
            <a:spLocks noGrp="1"/>
          </p:cNvSpPr>
          <p:nvPr>
            <p:ph type="body" sz="quarter" idx="10"/>
          </p:nvPr>
        </p:nvSpPr>
        <p:spPr/>
        <p:txBody>
          <a:bodyPr/>
          <a:lstStyle/>
          <a:p>
            <a:r>
              <a:rPr lang="en-US" altLang="en-US" sz="2000">
                <a:solidFill>
                  <a:srgbClr val="0000FF"/>
                </a:solidFill>
              </a:rPr>
              <a:t>Simulation</a:t>
            </a:r>
          </a:p>
          <a:p>
            <a:r>
              <a:rPr lang="en-US" altLang="en-US" sz="2000"/>
              <a:t>Advantages</a:t>
            </a:r>
          </a:p>
          <a:p>
            <a:pPr lvl="1"/>
            <a:r>
              <a:rPr lang="en-US" altLang="en-US" sz="1800"/>
              <a:t>Can be very accurate</a:t>
            </a:r>
            <a:br>
              <a:rPr lang="ru-RU" altLang="en-US" sz="1800"/>
            </a:br>
            <a:r>
              <a:rPr lang="en-US" altLang="en-US" sz="1800"/>
              <a:t>(Spice-level)</a:t>
            </a:r>
          </a:p>
          <a:p>
            <a:r>
              <a:rPr lang="en-US" altLang="en-US" sz="2000"/>
              <a:t>Disadvantages</a:t>
            </a:r>
          </a:p>
          <a:p>
            <a:pPr lvl="1"/>
            <a:r>
              <a:rPr lang="en-US" altLang="en-US" sz="1800"/>
              <a:t>Analysis quality depends on stimulus vectors</a:t>
            </a:r>
          </a:p>
          <a:p>
            <a:pPr lvl="1"/>
            <a:r>
              <a:rPr lang="en-US" altLang="en-US" sz="1800"/>
              <a:t>Non-exhaustive, slow</a:t>
            </a:r>
          </a:p>
          <a:p>
            <a:pPr lvl="1"/>
            <a:endParaRPr lang="en-US" altLang="en-US" sz="1800"/>
          </a:p>
          <a:p>
            <a:pPr lvl="1"/>
            <a:endParaRPr lang="en-US" altLang="en-US" sz="1800"/>
          </a:p>
          <a:p>
            <a:pPr lvl="1"/>
            <a:endParaRPr lang="en-US" altLang="en-US" sz="1800"/>
          </a:p>
          <a:p>
            <a:pPr lvl="1"/>
            <a:endParaRPr lang="en-US" altLang="en-US" sz="1800"/>
          </a:p>
          <a:p>
            <a:endParaRPr lang="en-US" altLang="en-US" sz="2000"/>
          </a:p>
        </p:txBody>
      </p:sp>
      <p:sp>
        <p:nvSpPr>
          <p:cNvPr id="16388" name="Content Placeholder 16">
            <a:extLst>
              <a:ext uri="{FF2B5EF4-FFF2-40B4-BE49-F238E27FC236}">
                <a16:creationId xmlns:a16="http://schemas.microsoft.com/office/drawing/2014/main" id="{4E9289B9-103A-4AF6-A60C-156CA7C08243}"/>
              </a:ext>
            </a:extLst>
          </p:cNvPr>
          <p:cNvSpPr>
            <a:spLocks noGrp="1"/>
          </p:cNvSpPr>
          <p:nvPr>
            <p:ph sz="half" idx="4294967295"/>
          </p:nvPr>
        </p:nvSpPr>
        <p:spPr>
          <a:xfrm>
            <a:off x="6350000" y="1188720"/>
            <a:ext cx="5384800" cy="4211638"/>
          </a:xfrm>
        </p:spPr>
        <p:txBody>
          <a:bodyPr/>
          <a:lstStyle/>
          <a:p>
            <a:r>
              <a:rPr lang="en-US" altLang="en-US" sz="2000" dirty="0">
                <a:solidFill>
                  <a:srgbClr val="0000FF"/>
                </a:solidFill>
              </a:rPr>
              <a:t>Static Timing Analysis (STA)</a:t>
            </a:r>
          </a:p>
          <a:p>
            <a:r>
              <a:rPr lang="en-US" altLang="en-US" sz="2000" dirty="0"/>
              <a:t>Advantages</a:t>
            </a:r>
          </a:p>
          <a:p>
            <a:pPr lvl="1"/>
            <a:r>
              <a:rPr lang="en-US" altLang="en-US" sz="1800" dirty="0"/>
              <a:t>Exhaustive timing coverage</a:t>
            </a:r>
          </a:p>
          <a:p>
            <a:pPr lvl="1"/>
            <a:r>
              <a:rPr lang="en-US" altLang="en-US" sz="1800" dirty="0"/>
              <a:t>Does not require input vectors</a:t>
            </a:r>
          </a:p>
          <a:p>
            <a:pPr lvl="1"/>
            <a:r>
              <a:rPr lang="en-US" altLang="en-US" sz="1800" dirty="0"/>
              <a:t>Faster operation</a:t>
            </a:r>
            <a:endParaRPr lang="ru-RU" altLang="en-US" sz="1800" dirty="0"/>
          </a:p>
          <a:p>
            <a:r>
              <a:rPr lang="en-US" altLang="en-US" sz="2000" dirty="0"/>
              <a:t> Disadvantages</a:t>
            </a:r>
          </a:p>
          <a:p>
            <a:pPr lvl="1"/>
            <a:r>
              <a:rPr lang="en-US" altLang="en-US" sz="1800" dirty="0"/>
              <a:t>Less accurate</a:t>
            </a:r>
          </a:p>
          <a:p>
            <a:pPr lvl="1"/>
            <a:r>
              <a:rPr lang="en-US" altLang="en-US" sz="1800" dirty="0"/>
              <a:t>Must define timing requirements/exceptions</a:t>
            </a:r>
          </a:p>
          <a:p>
            <a:pPr lvl="1"/>
            <a:r>
              <a:rPr lang="en-US" altLang="en-US" sz="1800" dirty="0"/>
              <a:t>Difficulty in handling asynchronous designs, false paths</a:t>
            </a:r>
          </a:p>
          <a:p>
            <a:endParaRPr lang="en-US" altLang="en-US" sz="2000" dirty="0"/>
          </a:p>
          <a:p>
            <a:pPr lvl="1"/>
            <a:endParaRPr lang="en-US" altLang="en-US" sz="1800" dirty="0"/>
          </a:p>
          <a:p>
            <a:endParaRPr lang="en-US" altLang="en-US" sz="2000" dirty="0"/>
          </a:p>
          <a:p>
            <a:endParaRPr lang="en-US" altLang="en-US" sz="2000" dirty="0"/>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6">
            <a:extLst>
              <a:ext uri="{FF2B5EF4-FFF2-40B4-BE49-F238E27FC236}">
                <a16:creationId xmlns:a16="http://schemas.microsoft.com/office/drawing/2014/main" id="{ACCCAA74-9C36-48FF-937E-6B6236A861C2}"/>
              </a:ext>
            </a:extLst>
          </p:cNvPr>
          <p:cNvSpPr>
            <a:spLocks noGrp="1"/>
          </p:cNvSpPr>
          <p:nvPr>
            <p:ph type="title"/>
          </p:nvPr>
        </p:nvSpPr>
        <p:spPr/>
        <p:txBody>
          <a:bodyPr/>
          <a:lstStyle/>
          <a:p>
            <a:r>
              <a:rPr lang="en-US" altLang="en-US"/>
              <a:t>Digital Circuits Timing Goals</a:t>
            </a:r>
          </a:p>
        </p:txBody>
      </p:sp>
      <p:sp>
        <p:nvSpPr>
          <p:cNvPr id="18435" name="Content Placeholder 9">
            <a:extLst>
              <a:ext uri="{FF2B5EF4-FFF2-40B4-BE49-F238E27FC236}">
                <a16:creationId xmlns:a16="http://schemas.microsoft.com/office/drawing/2014/main" id="{99475952-ACF0-443B-A314-C09209A41A1C}"/>
              </a:ext>
            </a:extLst>
          </p:cNvPr>
          <p:cNvSpPr>
            <a:spLocks noGrp="1"/>
          </p:cNvSpPr>
          <p:nvPr>
            <p:ph type="body" sz="quarter" idx="10"/>
          </p:nvPr>
        </p:nvSpPr>
        <p:spPr/>
        <p:txBody>
          <a:bodyPr/>
          <a:lstStyle/>
          <a:p>
            <a:r>
              <a:rPr lang="en-US" altLang="en-US"/>
              <a:t>Achievement of required frequency</a:t>
            </a:r>
          </a:p>
          <a:p>
            <a:pPr lvl="1"/>
            <a:r>
              <a:rPr lang="en-US" altLang="en-US"/>
              <a:t>Digital circuits are constrained to work under specific frequencies</a:t>
            </a:r>
          </a:p>
          <a:p>
            <a:pPr lvl="1"/>
            <a:r>
              <a:rPr lang="en-US" altLang="en-US"/>
              <a:t>All separate parts of circuit are constrained to have delay smaller than clock period</a:t>
            </a:r>
          </a:p>
          <a:p>
            <a:r>
              <a:rPr lang="en-US" altLang="en-US"/>
              <a:t>Meeting timing constraints </a:t>
            </a:r>
          </a:p>
          <a:p>
            <a:pPr lvl="1"/>
            <a:r>
              <a:rPr lang="en-US" altLang="en-US"/>
              <a:t>Avoiding collision of signals</a:t>
            </a:r>
          </a:p>
          <a:p>
            <a:pPr lvl="1"/>
            <a:r>
              <a:rPr lang="en-US" altLang="en-US"/>
              <a:t>Avoiding failure</a:t>
            </a:r>
          </a:p>
          <a:p>
            <a:r>
              <a:rPr lang="en-US" altLang="en-US"/>
              <a:t>STA verifies these</a:t>
            </a:r>
          </a:p>
          <a:p>
            <a:pPr lvl="1"/>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09F7C458-C21A-414D-875F-04D737B05F71}"/>
              </a:ext>
            </a:extLst>
          </p:cNvPr>
          <p:cNvSpPr>
            <a:spLocks noGrp="1"/>
          </p:cNvSpPr>
          <p:nvPr>
            <p:ph type="title"/>
          </p:nvPr>
        </p:nvSpPr>
        <p:spPr/>
        <p:txBody>
          <a:bodyPr/>
          <a:lstStyle/>
          <a:p>
            <a:r>
              <a:rPr lang="en-US" altLang="en-US"/>
              <a:t>Problem Variability</a:t>
            </a:r>
          </a:p>
        </p:txBody>
      </p:sp>
      <p:sp>
        <p:nvSpPr>
          <p:cNvPr id="19459" name="Content Placeholder 2">
            <a:extLst>
              <a:ext uri="{FF2B5EF4-FFF2-40B4-BE49-F238E27FC236}">
                <a16:creationId xmlns:a16="http://schemas.microsoft.com/office/drawing/2014/main" id="{6B2CF2D3-166E-431B-9BB7-79E90A11C69A}"/>
              </a:ext>
            </a:extLst>
          </p:cNvPr>
          <p:cNvSpPr>
            <a:spLocks noGrp="1"/>
          </p:cNvSpPr>
          <p:nvPr>
            <p:ph type="body" sz="quarter" idx="10"/>
          </p:nvPr>
        </p:nvSpPr>
        <p:spPr/>
        <p:txBody>
          <a:bodyPr/>
          <a:lstStyle/>
          <a:p>
            <a:r>
              <a:rPr lang="en-US" altLang="en-US"/>
              <a:t>Other variables affect circuit timing, thus need to be considered during design</a:t>
            </a:r>
          </a:p>
          <a:p>
            <a:pPr lvl="1"/>
            <a:r>
              <a:rPr lang="en-US" altLang="en-US"/>
              <a:t>Operating Conditions</a:t>
            </a:r>
          </a:p>
          <a:p>
            <a:pPr lvl="2"/>
            <a:r>
              <a:rPr lang="en-US" altLang="en-US"/>
              <a:t>Process, Voltage, Temperature variations</a:t>
            </a:r>
          </a:p>
          <a:p>
            <a:pPr lvl="1"/>
            <a:r>
              <a:rPr lang="en-US" altLang="en-US"/>
              <a:t>Unstable clock frequency (jitter, skew)</a:t>
            </a:r>
          </a:p>
          <a:p>
            <a:pPr lvl="2"/>
            <a:r>
              <a:rPr lang="en-US" altLang="en-US"/>
              <a:t>Instability of clock frequency requires design margin</a:t>
            </a:r>
          </a:p>
          <a:p>
            <a:pPr lvl="1"/>
            <a:r>
              <a:rPr lang="en-US" altLang="en-US"/>
              <a:t>On-chip variation (OCV)</a:t>
            </a:r>
          </a:p>
          <a:p>
            <a:pPr lvl="2"/>
            <a:r>
              <a:rPr lang="en-US" altLang="en-US"/>
              <a:t>Device/Interconnect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D6BC9281-CE00-4BC4-934A-2E830391E814}"/>
              </a:ext>
            </a:extLst>
          </p:cNvPr>
          <p:cNvSpPr>
            <a:spLocks noGrp="1"/>
          </p:cNvSpPr>
          <p:nvPr>
            <p:ph type="title"/>
          </p:nvPr>
        </p:nvSpPr>
        <p:spPr/>
        <p:txBody>
          <a:bodyPr/>
          <a:lstStyle/>
          <a:p>
            <a:r>
              <a:rPr lang="en-US" altLang="en-US"/>
              <a:t>Components of Circuit Timing</a:t>
            </a:r>
          </a:p>
        </p:txBody>
      </p:sp>
      <p:sp>
        <p:nvSpPr>
          <p:cNvPr id="20483" name="Content Placeholder 2">
            <a:extLst>
              <a:ext uri="{FF2B5EF4-FFF2-40B4-BE49-F238E27FC236}">
                <a16:creationId xmlns:a16="http://schemas.microsoft.com/office/drawing/2014/main" id="{EC19ECE1-C63B-4139-BCDD-CA88FF7C5418}"/>
              </a:ext>
            </a:extLst>
          </p:cNvPr>
          <p:cNvSpPr>
            <a:spLocks noGrp="1"/>
          </p:cNvSpPr>
          <p:nvPr>
            <p:ph type="body" sz="quarter" idx="10"/>
          </p:nvPr>
        </p:nvSpPr>
        <p:spPr/>
        <p:txBody>
          <a:bodyPr/>
          <a:lstStyle/>
          <a:p>
            <a:r>
              <a:rPr lang="en-US" altLang="en-US"/>
              <a:t>Delay components</a:t>
            </a:r>
          </a:p>
          <a:p>
            <a:pPr lvl="1"/>
            <a:r>
              <a:rPr lang="en-US" altLang="en-US"/>
              <a:t>Cells, Interconnects</a:t>
            </a:r>
          </a:p>
          <a:p>
            <a:r>
              <a:rPr lang="en-US" altLang="en-US"/>
              <a:t>Constrained components</a:t>
            </a:r>
          </a:p>
          <a:p>
            <a:pPr lvl="1"/>
            <a:r>
              <a:rPr lang="en-US" altLang="en-US"/>
              <a:t>Clocked registers require setup/hold, recovery/removal constraints</a:t>
            </a:r>
          </a:p>
        </p:txBody>
      </p:sp>
      <p:sp>
        <p:nvSpPr>
          <p:cNvPr id="4" name="TextBox 3">
            <a:extLst>
              <a:ext uri="{FF2B5EF4-FFF2-40B4-BE49-F238E27FC236}">
                <a16:creationId xmlns:a16="http://schemas.microsoft.com/office/drawing/2014/main" id="{4D0DEFC7-7436-4058-849E-572A14ADE6E5}"/>
              </a:ext>
            </a:extLst>
          </p:cNvPr>
          <p:cNvSpPr txBox="1">
            <a:spLocks noChangeAspect="1"/>
          </p:cNvSpPr>
          <p:nvPr/>
        </p:nvSpPr>
        <p:spPr>
          <a:xfrm>
            <a:off x="9151324" y="2740299"/>
            <a:ext cx="2049104" cy="357534"/>
          </a:xfrm>
          <a:prstGeom prst="rect">
            <a:avLst/>
          </a:prstGeom>
          <a:blipFill rotWithShape="0">
            <a:blip r:embed="rId2"/>
            <a:stretch>
              <a:fillRect t="-5085" b="-15254"/>
            </a:stretch>
          </a:blipFill>
        </p:spPr>
        <p:txBody>
          <a:bodyPr/>
          <a:lstStyle/>
          <a:p>
            <a:r>
              <a:rPr lang="en-US">
                <a:noFill/>
              </a:rPr>
              <a:t> </a:t>
            </a:r>
          </a:p>
        </p:txBody>
      </p:sp>
      <p:sp>
        <p:nvSpPr>
          <p:cNvPr id="6" name="Moon 5">
            <a:extLst>
              <a:ext uri="{FF2B5EF4-FFF2-40B4-BE49-F238E27FC236}">
                <a16:creationId xmlns:a16="http://schemas.microsoft.com/office/drawing/2014/main" id="{FA639B1C-8F77-4D23-A31C-011132D88EB0}"/>
              </a:ext>
            </a:extLst>
          </p:cNvPr>
          <p:cNvSpPr/>
          <p:nvPr/>
        </p:nvSpPr>
        <p:spPr bwMode="auto">
          <a:xfrm rot="10800000">
            <a:off x="9350375" y="1868488"/>
            <a:ext cx="501650" cy="417512"/>
          </a:xfrm>
          <a:prstGeom prst="moon">
            <a:avLst>
              <a:gd name="adj" fmla="val 87500"/>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dirty="0">
              <a:latin typeface="+mj-lt"/>
              <a:cs typeface="Arial" charset="0"/>
            </a:endParaRPr>
          </a:p>
        </p:txBody>
      </p:sp>
      <p:sp>
        <p:nvSpPr>
          <p:cNvPr id="7" name="Oval 6">
            <a:extLst>
              <a:ext uri="{FF2B5EF4-FFF2-40B4-BE49-F238E27FC236}">
                <a16:creationId xmlns:a16="http://schemas.microsoft.com/office/drawing/2014/main" id="{45779B45-3597-4398-9A00-D24F2DB80D45}"/>
              </a:ext>
            </a:extLst>
          </p:cNvPr>
          <p:cNvSpPr/>
          <p:nvPr/>
        </p:nvSpPr>
        <p:spPr bwMode="auto">
          <a:xfrm>
            <a:off x="9852025" y="2028826"/>
            <a:ext cx="101600" cy="104775"/>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a:latin typeface="+mj-lt"/>
              <a:cs typeface="Arial" charset="0"/>
            </a:endParaRPr>
          </a:p>
        </p:txBody>
      </p:sp>
      <p:cxnSp>
        <p:nvCxnSpPr>
          <p:cNvPr id="20487" name="Straight Connector 7">
            <a:extLst>
              <a:ext uri="{FF2B5EF4-FFF2-40B4-BE49-F238E27FC236}">
                <a16:creationId xmlns:a16="http://schemas.microsoft.com/office/drawing/2014/main" id="{E7FFD6B3-0637-4438-8040-F501BB226DC0}"/>
              </a:ext>
            </a:extLst>
          </p:cNvPr>
          <p:cNvCxnSpPr>
            <a:cxnSpLocks noChangeShapeType="1"/>
          </p:cNvCxnSpPr>
          <p:nvPr/>
        </p:nvCxnSpPr>
        <p:spPr bwMode="auto">
          <a:xfrm>
            <a:off x="8783639" y="1981200"/>
            <a:ext cx="611187" cy="0"/>
          </a:xfrm>
          <a:prstGeom prst="line">
            <a:avLst/>
          </a:prstGeom>
          <a:noFill/>
          <a:ln w="9525" algn="ctr">
            <a:solidFill>
              <a:schemeClr val="tx1"/>
            </a:solidFill>
            <a:round/>
            <a:headEnd/>
            <a:tailEnd/>
          </a:ln>
        </p:spPr>
      </p:cxnSp>
      <p:cxnSp>
        <p:nvCxnSpPr>
          <p:cNvPr id="20488" name="Straight Connector 8">
            <a:extLst>
              <a:ext uri="{FF2B5EF4-FFF2-40B4-BE49-F238E27FC236}">
                <a16:creationId xmlns:a16="http://schemas.microsoft.com/office/drawing/2014/main" id="{092C2B7A-A38D-4979-8863-B807C74935DF}"/>
              </a:ext>
            </a:extLst>
          </p:cNvPr>
          <p:cNvCxnSpPr>
            <a:cxnSpLocks noChangeShapeType="1"/>
          </p:cNvCxnSpPr>
          <p:nvPr/>
        </p:nvCxnSpPr>
        <p:spPr bwMode="auto">
          <a:xfrm>
            <a:off x="9240839" y="2179638"/>
            <a:ext cx="153987" cy="0"/>
          </a:xfrm>
          <a:prstGeom prst="line">
            <a:avLst/>
          </a:prstGeom>
          <a:noFill/>
          <a:ln w="9525" algn="ctr">
            <a:solidFill>
              <a:schemeClr val="tx1"/>
            </a:solidFill>
            <a:round/>
            <a:headEnd/>
            <a:tailEnd/>
          </a:ln>
        </p:spPr>
      </p:cxnSp>
      <p:cxnSp>
        <p:nvCxnSpPr>
          <p:cNvPr id="20489" name="Straight Connector 9">
            <a:extLst>
              <a:ext uri="{FF2B5EF4-FFF2-40B4-BE49-F238E27FC236}">
                <a16:creationId xmlns:a16="http://schemas.microsoft.com/office/drawing/2014/main" id="{23B3AE6D-2DD0-4F28-8735-2F36D3EE16EC}"/>
              </a:ext>
            </a:extLst>
          </p:cNvPr>
          <p:cNvCxnSpPr>
            <a:cxnSpLocks noChangeShapeType="1"/>
          </p:cNvCxnSpPr>
          <p:nvPr/>
        </p:nvCxnSpPr>
        <p:spPr bwMode="auto">
          <a:xfrm>
            <a:off x="9952039" y="2081213"/>
            <a:ext cx="382587" cy="0"/>
          </a:xfrm>
          <a:prstGeom prst="line">
            <a:avLst/>
          </a:prstGeom>
          <a:noFill/>
          <a:ln w="12700" algn="ctr">
            <a:solidFill>
              <a:schemeClr val="tx1"/>
            </a:solidFill>
            <a:round/>
            <a:headEnd/>
            <a:tailEnd/>
          </a:ln>
        </p:spPr>
      </p:cxnSp>
      <p:cxnSp>
        <p:nvCxnSpPr>
          <p:cNvPr id="20490" name="Straight Arrow Connector 10">
            <a:extLst>
              <a:ext uri="{FF2B5EF4-FFF2-40B4-BE49-F238E27FC236}">
                <a16:creationId xmlns:a16="http://schemas.microsoft.com/office/drawing/2014/main" id="{551E7456-FF16-4703-AA78-6F3152856D94}"/>
              </a:ext>
            </a:extLst>
          </p:cNvPr>
          <p:cNvCxnSpPr>
            <a:cxnSpLocks noChangeShapeType="1"/>
          </p:cNvCxnSpPr>
          <p:nvPr/>
        </p:nvCxnSpPr>
        <p:spPr bwMode="auto">
          <a:xfrm>
            <a:off x="9344025" y="1511300"/>
            <a:ext cx="508000" cy="0"/>
          </a:xfrm>
          <a:prstGeom prst="straightConnector1">
            <a:avLst/>
          </a:prstGeom>
          <a:noFill/>
          <a:ln w="9525" algn="ctr">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20491" name="Straight Arrow Connector 11">
            <a:extLst>
              <a:ext uri="{FF2B5EF4-FFF2-40B4-BE49-F238E27FC236}">
                <a16:creationId xmlns:a16="http://schemas.microsoft.com/office/drawing/2014/main" id="{5AE63627-A023-4F6E-901C-C42070A7C0A6}"/>
              </a:ext>
            </a:extLst>
          </p:cNvPr>
          <p:cNvCxnSpPr>
            <a:cxnSpLocks noChangeShapeType="1"/>
          </p:cNvCxnSpPr>
          <p:nvPr/>
        </p:nvCxnSpPr>
        <p:spPr bwMode="auto">
          <a:xfrm>
            <a:off x="9867901" y="1511300"/>
            <a:ext cx="441325" cy="0"/>
          </a:xfrm>
          <a:prstGeom prst="straightConnector1">
            <a:avLst/>
          </a:prstGeom>
          <a:noFill/>
          <a:ln w="9525" algn="ctr">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13" name="TextBox 12">
            <a:extLst>
              <a:ext uri="{FF2B5EF4-FFF2-40B4-BE49-F238E27FC236}">
                <a16:creationId xmlns:a16="http://schemas.microsoft.com/office/drawing/2014/main" id="{97376287-5628-41FF-BB28-18A856A23205}"/>
              </a:ext>
            </a:extLst>
          </p:cNvPr>
          <p:cNvSpPr txBox="1">
            <a:spLocks noRot="1" noChangeAspect="1" noMove="1" noResize="1" noEditPoints="1" noAdjustHandles="1" noChangeArrowheads="1" noChangeShapeType="1" noTextEdit="1"/>
          </p:cNvSpPr>
          <p:nvPr/>
        </p:nvSpPr>
        <p:spPr>
          <a:xfrm>
            <a:off x="8211934" y="1397053"/>
            <a:ext cx="490839" cy="276999"/>
          </a:xfrm>
          <a:prstGeom prst="rect">
            <a:avLst/>
          </a:prstGeom>
          <a:blipFill rotWithShape="0">
            <a:blip r:embed="rId3"/>
            <a:stretch>
              <a:fillRect/>
            </a:stretch>
          </a:blipFill>
        </p:spPr>
        <p:txBody>
          <a:bodyPr/>
          <a:lstStyle/>
          <a:p>
            <a:r>
              <a:rPr lang="en-US">
                <a:noFill/>
              </a:rPr>
              <a:t> </a:t>
            </a:r>
          </a:p>
        </p:txBody>
      </p:sp>
      <p:sp>
        <p:nvSpPr>
          <p:cNvPr id="14" name="TextBox 13">
            <a:extLst>
              <a:ext uri="{FF2B5EF4-FFF2-40B4-BE49-F238E27FC236}">
                <a16:creationId xmlns:a16="http://schemas.microsoft.com/office/drawing/2014/main" id="{309F89BD-B4BF-4441-9307-0AA7702AD0A9}"/>
              </a:ext>
            </a:extLst>
          </p:cNvPr>
          <p:cNvSpPr txBox="1">
            <a:spLocks noRot="1" noChangeAspect="1" noMove="1" noResize="1" noEditPoints="1" noAdjustHandles="1" noChangeArrowheads="1" noChangeShapeType="1" noTextEdit="1"/>
          </p:cNvSpPr>
          <p:nvPr/>
        </p:nvSpPr>
        <p:spPr>
          <a:xfrm>
            <a:off x="8700662" y="1399399"/>
            <a:ext cx="481221" cy="276999"/>
          </a:xfrm>
          <a:prstGeom prst="rect">
            <a:avLst/>
          </a:prstGeom>
          <a:blipFill rotWithShape="0">
            <a:blip r:embed="rId4"/>
            <a:stretch>
              <a:fillRect/>
            </a:stretch>
          </a:blipFill>
        </p:spPr>
        <p:txBody>
          <a:bodyPr/>
          <a:lstStyle/>
          <a:p>
            <a:r>
              <a:rPr lang="en-US">
                <a:noFill/>
              </a:rPr>
              <a:t> </a:t>
            </a:r>
          </a:p>
        </p:txBody>
      </p:sp>
      <p:cxnSp>
        <p:nvCxnSpPr>
          <p:cNvPr id="20494" name="Straight Connector 14">
            <a:extLst>
              <a:ext uri="{FF2B5EF4-FFF2-40B4-BE49-F238E27FC236}">
                <a16:creationId xmlns:a16="http://schemas.microsoft.com/office/drawing/2014/main" id="{BD889A79-205E-4E6D-A88E-A9EFE4FD4F4B}"/>
              </a:ext>
            </a:extLst>
          </p:cNvPr>
          <p:cNvCxnSpPr>
            <a:cxnSpLocks noChangeShapeType="1"/>
          </p:cNvCxnSpPr>
          <p:nvPr/>
        </p:nvCxnSpPr>
        <p:spPr bwMode="auto">
          <a:xfrm>
            <a:off x="9348788" y="1322389"/>
            <a:ext cx="0" cy="382587"/>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0495" name="Straight Connector 15">
            <a:extLst>
              <a:ext uri="{FF2B5EF4-FFF2-40B4-BE49-F238E27FC236}">
                <a16:creationId xmlns:a16="http://schemas.microsoft.com/office/drawing/2014/main" id="{8282B667-70AF-4447-8F1C-B3A32441FAAB}"/>
              </a:ext>
            </a:extLst>
          </p:cNvPr>
          <p:cNvCxnSpPr>
            <a:cxnSpLocks noChangeShapeType="1"/>
          </p:cNvCxnSpPr>
          <p:nvPr/>
        </p:nvCxnSpPr>
        <p:spPr bwMode="auto">
          <a:xfrm>
            <a:off x="9859963" y="1317625"/>
            <a:ext cx="0" cy="382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sp>
        <p:nvSpPr>
          <p:cNvPr id="20496" name="Isosceles Triangle 16">
            <a:extLst>
              <a:ext uri="{FF2B5EF4-FFF2-40B4-BE49-F238E27FC236}">
                <a16:creationId xmlns:a16="http://schemas.microsoft.com/office/drawing/2014/main" id="{62C6A97C-F309-43CA-850E-EC572D29FAE2}"/>
              </a:ext>
            </a:extLst>
          </p:cNvPr>
          <p:cNvSpPr>
            <a:spLocks noChangeArrowheads="1"/>
          </p:cNvSpPr>
          <p:nvPr/>
        </p:nvSpPr>
        <p:spPr bwMode="auto">
          <a:xfrm rot="10800000">
            <a:off x="10110789" y="2351089"/>
            <a:ext cx="65087" cy="66675"/>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cxnSp>
        <p:nvCxnSpPr>
          <p:cNvPr id="20497" name="Straight Connector 17">
            <a:extLst>
              <a:ext uri="{FF2B5EF4-FFF2-40B4-BE49-F238E27FC236}">
                <a16:creationId xmlns:a16="http://schemas.microsoft.com/office/drawing/2014/main" id="{2F0C4181-BF81-460A-9FC6-49B8696452F3}"/>
              </a:ext>
            </a:extLst>
          </p:cNvPr>
          <p:cNvCxnSpPr>
            <a:cxnSpLocks noChangeShapeType="1"/>
          </p:cNvCxnSpPr>
          <p:nvPr/>
        </p:nvCxnSpPr>
        <p:spPr bwMode="auto">
          <a:xfrm>
            <a:off x="10083801" y="2222500"/>
            <a:ext cx="130175" cy="1588"/>
          </a:xfrm>
          <a:prstGeom prst="line">
            <a:avLst/>
          </a:prstGeom>
          <a:noFill/>
          <a:ln w="9525" algn="ctr">
            <a:solidFill>
              <a:schemeClr val="tx1"/>
            </a:solidFill>
            <a:round/>
            <a:headEnd/>
            <a:tailEnd/>
          </a:ln>
        </p:spPr>
      </p:cxnSp>
      <p:cxnSp>
        <p:nvCxnSpPr>
          <p:cNvPr id="20498" name="Straight Connector 18">
            <a:extLst>
              <a:ext uri="{FF2B5EF4-FFF2-40B4-BE49-F238E27FC236}">
                <a16:creationId xmlns:a16="http://schemas.microsoft.com/office/drawing/2014/main" id="{E2CC542C-9541-4EB9-BDD7-84B6CAFE9951}"/>
              </a:ext>
            </a:extLst>
          </p:cNvPr>
          <p:cNvCxnSpPr>
            <a:cxnSpLocks noChangeShapeType="1"/>
          </p:cNvCxnSpPr>
          <p:nvPr/>
        </p:nvCxnSpPr>
        <p:spPr bwMode="auto">
          <a:xfrm rot="5400000">
            <a:off x="10083801" y="2286001"/>
            <a:ext cx="130175" cy="0"/>
          </a:xfrm>
          <a:prstGeom prst="line">
            <a:avLst/>
          </a:prstGeom>
          <a:noFill/>
          <a:ln w="9525" algn="ctr">
            <a:solidFill>
              <a:schemeClr val="tx1"/>
            </a:solidFill>
            <a:round/>
            <a:headEnd/>
            <a:tailEnd/>
          </a:ln>
        </p:spPr>
      </p:cxnSp>
      <p:cxnSp>
        <p:nvCxnSpPr>
          <p:cNvPr id="20499" name="Straight Connector 19">
            <a:extLst>
              <a:ext uri="{FF2B5EF4-FFF2-40B4-BE49-F238E27FC236}">
                <a16:creationId xmlns:a16="http://schemas.microsoft.com/office/drawing/2014/main" id="{7B188636-A1C5-44EC-B3AA-54ADFC5AF41F}"/>
              </a:ext>
            </a:extLst>
          </p:cNvPr>
          <p:cNvCxnSpPr>
            <a:cxnSpLocks noChangeShapeType="1"/>
          </p:cNvCxnSpPr>
          <p:nvPr/>
        </p:nvCxnSpPr>
        <p:spPr bwMode="auto">
          <a:xfrm rot="5400000">
            <a:off x="10096501" y="2139951"/>
            <a:ext cx="106362" cy="1587"/>
          </a:xfrm>
          <a:prstGeom prst="line">
            <a:avLst/>
          </a:prstGeom>
          <a:noFill/>
          <a:ln w="9525" algn="ctr">
            <a:solidFill>
              <a:schemeClr val="tx1"/>
            </a:solidFill>
            <a:round/>
            <a:headEnd/>
            <a:tailEnd/>
          </a:ln>
        </p:spPr>
      </p:cxnSp>
      <p:cxnSp>
        <p:nvCxnSpPr>
          <p:cNvPr id="20500" name="Straight Connector 20">
            <a:extLst>
              <a:ext uri="{FF2B5EF4-FFF2-40B4-BE49-F238E27FC236}">
                <a16:creationId xmlns:a16="http://schemas.microsoft.com/office/drawing/2014/main" id="{16F71FB3-8467-48D8-87D4-A5EE05F2F5D5}"/>
              </a:ext>
            </a:extLst>
          </p:cNvPr>
          <p:cNvCxnSpPr>
            <a:cxnSpLocks noChangeShapeType="1"/>
          </p:cNvCxnSpPr>
          <p:nvPr/>
        </p:nvCxnSpPr>
        <p:spPr bwMode="auto">
          <a:xfrm>
            <a:off x="10083801" y="2192338"/>
            <a:ext cx="130175" cy="0"/>
          </a:xfrm>
          <a:prstGeom prst="line">
            <a:avLst/>
          </a:prstGeom>
          <a:noFill/>
          <a:ln w="9525" algn="ctr">
            <a:solidFill>
              <a:schemeClr val="tx1"/>
            </a:solidFill>
            <a:round/>
            <a:headEnd/>
            <a:tailEnd/>
          </a:ln>
        </p:spPr>
      </p:cxnSp>
      <p:cxnSp>
        <p:nvCxnSpPr>
          <p:cNvPr id="20501" name="Straight Connector 21">
            <a:extLst>
              <a:ext uri="{FF2B5EF4-FFF2-40B4-BE49-F238E27FC236}">
                <a16:creationId xmlns:a16="http://schemas.microsoft.com/office/drawing/2014/main" id="{AB2666C4-404B-4636-98CD-38DC3C4C3C7F}"/>
              </a:ext>
            </a:extLst>
          </p:cNvPr>
          <p:cNvCxnSpPr>
            <a:cxnSpLocks noChangeShapeType="1"/>
          </p:cNvCxnSpPr>
          <p:nvPr/>
        </p:nvCxnSpPr>
        <p:spPr bwMode="auto">
          <a:xfrm>
            <a:off x="10317163" y="1317625"/>
            <a:ext cx="0" cy="382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sp>
        <p:nvSpPr>
          <p:cNvPr id="23" name="Rectangle 22">
            <a:extLst>
              <a:ext uri="{FF2B5EF4-FFF2-40B4-BE49-F238E27FC236}">
                <a16:creationId xmlns:a16="http://schemas.microsoft.com/office/drawing/2014/main" id="{85B639F2-37D1-4C5C-A85D-93852D0020C5}"/>
              </a:ext>
            </a:extLst>
          </p:cNvPr>
          <p:cNvSpPr/>
          <p:nvPr/>
        </p:nvSpPr>
        <p:spPr bwMode="auto">
          <a:xfrm>
            <a:off x="2514600" y="4572000"/>
            <a:ext cx="7086600" cy="91440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anchor="ctr"/>
          <a:lstStyle/>
          <a:p>
            <a:pPr eaLnBrk="1" hangingPunct="1">
              <a:defRPr/>
            </a:pPr>
            <a:r>
              <a:rPr lang="en-US" dirty="0">
                <a:latin typeface="Arial" charset="0"/>
                <a:cs typeface="Arial" charset="0"/>
              </a:rPr>
              <a:t>For circuit to operate without failure it is </a:t>
            </a:r>
            <a:r>
              <a:rPr lang="en-US" dirty="0">
                <a:solidFill>
                  <a:srgbClr val="0000FF"/>
                </a:solidFill>
                <a:latin typeface="Arial" charset="0"/>
                <a:cs typeface="Arial" charset="0"/>
              </a:rPr>
              <a:t>required</a:t>
            </a:r>
            <a:r>
              <a:rPr lang="en-US" dirty="0">
                <a:latin typeface="Arial" charset="0"/>
                <a:cs typeface="Arial" charset="0"/>
              </a:rPr>
              <a:t> that delay components at no point violate constraints of other components.</a:t>
            </a:r>
          </a:p>
        </p:txBody>
      </p:sp>
      <p:sp>
        <p:nvSpPr>
          <p:cNvPr id="20503" name="Rectangle 23">
            <a:extLst>
              <a:ext uri="{FF2B5EF4-FFF2-40B4-BE49-F238E27FC236}">
                <a16:creationId xmlns:a16="http://schemas.microsoft.com/office/drawing/2014/main" id="{1051CB1B-903C-48FD-8B6C-DA1FD178F29E}"/>
              </a:ext>
            </a:extLst>
          </p:cNvPr>
          <p:cNvSpPr>
            <a:spLocks noChangeArrowheads="1"/>
          </p:cNvSpPr>
          <p:nvPr/>
        </p:nvSpPr>
        <p:spPr bwMode="auto">
          <a:xfrm>
            <a:off x="10317163" y="1671639"/>
            <a:ext cx="533400" cy="923925"/>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dirty="0">
                <a:solidFill>
                  <a:schemeClr val="bg1"/>
                </a:solidFill>
              </a:rPr>
              <a:t>FF</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9473740E-A892-4B5C-B1CB-2AE8BB77059A}"/>
              </a:ext>
            </a:extLst>
          </p:cNvPr>
          <p:cNvSpPr>
            <a:spLocks noGrp="1"/>
          </p:cNvSpPr>
          <p:nvPr>
            <p:ph type="title"/>
          </p:nvPr>
        </p:nvSpPr>
        <p:spPr/>
        <p:txBody>
          <a:bodyPr/>
          <a:lstStyle/>
          <a:p>
            <a:r>
              <a:rPr lang="en-US" altLang="en-US">
                <a:ea typeface="MS PGothic" panose="020B0600070205080204" pitchFamily="34" charset="-128"/>
              </a:rPr>
              <a:t>Cell Timing Parameters</a:t>
            </a:r>
            <a:endParaRPr lang="en-US" altLang="en-US"/>
          </a:p>
        </p:txBody>
      </p:sp>
      <p:sp>
        <p:nvSpPr>
          <p:cNvPr id="21507" name="Rectangle 2">
            <a:extLst>
              <a:ext uri="{FF2B5EF4-FFF2-40B4-BE49-F238E27FC236}">
                <a16:creationId xmlns:a16="http://schemas.microsoft.com/office/drawing/2014/main" id="{348098AD-0A99-4A84-9A57-698B2DA13CA5}"/>
              </a:ext>
            </a:extLst>
          </p:cNvPr>
          <p:cNvSpPr>
            <a:spLocks noChangeArrowheads="1"/>
          </p:cNvSpPr>
          <p:nvPr/>
        </p:nvSpPr>
        <p:spPr bwMode="auto">
          <a:xfrm>
            <a:off x="1524001" y="-115416"/>
            <a:ext cx="18473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1508" name="Rectangle 4">
            <a:extLst>
              <a:ext uri="{FF2B5EF4-FFF2-40B4-BE49-F238E27FC236}">
                <a16:creationId xmlns:a16="http://schemas.microsoft.com/office/drawing/2014/main" id="{6E254977-CE09-4D63-8D1B-6DB57A7FE1BA}"/>
              </a:ext>
            </a:extLst>
          </p:cNvPr>
          <p:cNvSpPr>
            <a:spLocks noChangeArrowheads="1"/>
          </p:cNvSpPr>
          <p:nvPr/>
        </p:nvSpPr>
        <p:spPr bwMode="auto">
          <a:xfrm>
            <a:off x="1524001" y="-115416"/>
            <a:ext cx="18473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aphicFrame>
        <p:nvGraphicFramePr>
          <p:cNvPr id="8" name="Table 7">
            <a:extLst>
              <a:ext uri="{FF2B5EF4-FFF2-40B4-BE49-F238E27FC236}">
                <a16:creationId xmlns:a16="http://schemas.microsoft.com/office/drawing/2014/main" id="{7488D5D0-6023-4C08-A94C-28D9404F69FC}"/>
              </a:ext>
            </a:extLst>
          </p:cNvPr>
          <p:cNvGraphicFramePr>
            <a:graphicFrameLocks noGrp="1"/>
          </p:cNvGraphicFramePr>
          <p:nvPr>
            <p:extLst>
              <p:ext uri="{D42A27DB-BD31-4B8C-83A1-F6EECF244321}">
                <p14:modId xmlns:p14="http://schemas.microsoft.com/office/powerpoint/2010/main" val="2778139992"/>
              </p:ext>
            </p:extLst>
          </p:nvPr>
        </p:nvGraphicFramePr>
        <p:xfrm>
          <a:off x="2065337" y="1481325"/>
          <a:ext cx="8061326" cy="4570413"/>
        </p:xfrm>
        <a:graphic>
          <a:graphicData uri="http://schemas.openxmlformats.org/drawingml/2006/table">
            <a:tbl>
              <a:tblPr firstRow="1" bandRow="1">
                <a:tableStyleId>{69012ECD-51FC-41F1-AA8D-1B2483CD663E}</a:tableStyleId>
              </a:tblPr>
              <a:tblGrid>
                <a:gridCol w="383470">
                  <a:extLst>
                    <a:ext uri="{9D8B030D-6E8A-4147-A177-3AD203B41FA5}">
                      <a16:colId xmlns:a16="http://schemas.microsoft.com/office/drawing/2014/main" val="20000"/>
                    </a:ext>
                  </a:extLst>
                </a:gridCol>
                <a:gridCol w="1497795">
                  <a:extLst>
                    <a:ext uri="{9D8B030D-6E8A-4147-A177-3AD203B41FA5}">
                      <a16:colId xmlns:a16="http://schemas.microsoft.com/office/drawing/2014/main" val="20001"/>
                    </a:ext>
                  </a:extLst>
                </a:gridCol>
                <a:gridCol w="588885">
                  <a:extLst>
                    <a:ext uri="{9D8B030D-6E8A-4147-A177-3AD203B41FA5}">
                      <a16:colId xmlns:a16="http://schemas.microsoft.com/office/drawing/2014/main" val="20002"/>
                    </a:ext>
                  </a:extLst>
                </a:gridCol>
                <a:gridCol w="1177745">
                  <a:extLst>
                    <a:ext uri="{9D8B030D-6E8A-4147-A177-3AD203B41FA5}">
                      <a16:colId xmlns:a16="http://schemas.microsoft.com/office/drawing/2014/main" val="20003"/>
                    </a:ext>
                  </a:extLst>
                </a:gridCol>
                <a:gridCol w="1843440">
                  <a:extLst>
                    <a:ext uri="{9D8B030D-6E8A-4147-A177-3AD203B41FA5}">
                      <a16:colId xmlns:a16="http://schemas.microsoft.com/office/drawing/2014/main" val="20004"/>
                    </a:ext>
                  </a:extLst>
                </a:gridCol>
                <a:gridCol w="2569991">
                  <a:extLst>
                    <a:ext uri="{9D8B030D-6E8A-4147-A177-3AD203B41FA5}">
                      <a16:colId xmlns:a16="http://schemas.microsoft.com/office/drawing/2014/main" val="20005"/>
                    </a:ext>
                  </a:extLst>
                </a:gridCol>
              </a:tblGrid>
              <a:tr h="302589">
                <a:tc>
                  <a:txBody>
                    <a:bodyPr/>
                    <a:lstStyle/>
                    <a:p>
                      <a:pPr algn="ctr"/>
                      <a:r>
                        <a:rPr lang="en-US" sz="1200" b="0" kern="1200" dirty="0">
                          <a:solidFill>
                            <a:schemeClr val="bg2"/>
                          </a:solidFill>
                          <a:latin typeface="+mn-lt"/>
                          <a:ea typeface="+mn-ea"/>
                          <a:cs typeface="+mn-cs"/>
                        </a:rPr>
                        <a:t>N</a:t>
                      </a:r>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sz="1200" b="0" dirty="0">
                          <a:solidFill>
                            <a:schemeClr val="bg2"/>
                          </a:solidFill>
                        </a:rPr>
                        <a:t>Parameter</a:t>
                      </a:r>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sz="1200" b="0" dirty="0">
                          <a:solidFill>
                            <a:schemeClr val="bg2"/>
                          </a:solidFill>
                        </a:rPr>
                        <a:t>Unit</a:t>
                      </a:r>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sz="1200" b="0" dirty="0">
                          <a:solidFill>
                            <a:schemeClr val="bg2"/>
                          </a:solidFill>
                        </a:rPr>
                        <a:t>Symbol</a:t>
                      </a:r>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sz="1200" b="0" dirty="0">
                          <a:solidFill>
                            <a:schemeClr val="bg2"/>
                          </a:solidFill>
                        </a:rPr>
                        <a:t>Figure</a:t>
                      </a:r>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sz="1200" b="0" dirty="0">
                          <a:solidFill>
                            <a:schemeClr val="bg2"/>
                          </a:solidFill>
                        </a:rPr>
                        <a:t>Definition</a:t>
                      </a:r>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964820">
                <a:tc>
                  <a:txBody>
                    <a:bodyPr/>
                    <a:lstStyle/>
                    <a:p>
                      <a:pPr marL="342900" indent="-342900">
                        <a:buFont typeface="+mj-lt"/>
                        <a:buAutoNum type="arabicPeriod"/>
                      </a:pPr>
                      <a:r>
                        <a:rPr lang="en-US" sz="1200" dirty="0"/>
                        <a:t> </a:t>
                      </a:r>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r>
                        <a:rPr lang="en-US" sz="1200" kern="1200" dirty="0">
                          <a:solidFill>
                            <a:schemeClr val="tx1"/>
                          </a:solidFill>
                          <a:latin typeface="+mn-lt"/>
                          <a:ea typeface="+mn-ea"/>
                          <a:cs typeface="+mn-cs"/>
                        </a:rPr>
                        <a:t>Rise transition time</a:t>
                      </a:r>
                    </a:p>
                    <a:p>
                      <a:endParaRPr lang="en-US" sz="1200" kern="120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rgbClr val="0000FF"/>
                        </a:solidFill>
                      </a:endParaRPr>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pPr algn="ctr"/>
                      <a:r>
                        <a:rPr lang="en-US" sz="1200" kern="1200" dirty="0">
                          <a:solidFill>
                            <a:schemeClr val="tx1"/>
                          </a:solidFill>
                          <a:latin typeface="+mn-lt"/>
                          <a:ea typeface="+mn-ea"/>
                          <a:cs typeface="+mn-cs"/>
                        </a:rPr>
                        <a:t>ns</a:t>
                      </a:r>
                      <a:endParaRPr lang="en-US" sz="1200" dirty="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pPr algn="ctr"/>
                      <a:r>
                        <a:rPr lang="en-US" sz="1200" kern="1200" dirty="0" err="1">
                          <a:solidFill>
                            <a:schemeClr val="tx1"/>
                          </a:solidFill>
                          <a:latin typeface="+mn-lt"/>
                          <a:ea typeface="+mn-ea"/>
                          <a:cs typeface="+mn-cs"/>
                        </a:rPr>
                        <a:t>t</a:t>
                      </a:r>
                      <a:r>
                        <a:rPr lang="en-US" sz="1200" kern="1200" baseline="-25000" dirty="0" err="1">
                          <a:solidFill>
                            <a:schemeClr val="tx1"/>
                          </a:solidFill>
                          <a:latin typeface="+mn-lt"/>
                          <a:ea typeface="+mn-ea"/>
                          <a:cs typeface="+mn-cs"/>
                        </a:rPr>
                        <a:t>R</a:t>
                      </a:r>
                      <a:endParaRPr lang="en-US" sz="1200" dirty="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endParaRPr lang="en-US" sz="1800" dirty="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pPr algn="l">
                        <a:spcAft>
                          <a:spcPts val="0"/>
                        </a:spcAft>
                        <a:tabLst>
                          <a:tab pos="971550" algn="l"/>
                        </a:tabLst>
                      </a:pPr>
                      <a:r>
                        <a:rPr lang="en-US" sz="1200" dirty="0">
                          <a:latin typeface="Arial"/>
                          <a:ea typeface="MS Mincho"/>
                          <a:cs typeface="Times New Roman"/>
                        </a:rPr>
                        <a:t>The time it takes a driving pin to make a transition from </a:t>
                      </a:r>
                      <a:r>
                        <a:rPr lang="en-US" sz="1200" dirty="0" err="1">
                          <a:latin typeface="Arial"/>
                          <a:ea typeface="MS Mincho"/>
                          <a:cs typeface="Times New Roman"/>
                        </a:rPr>
                        <a:t>kV</a:t>
                      </a:r>
                      <a:r>
                        <a:rPr lang="en-US" sz="1200" baseline="-25000" dirty="0" err="1">
                          <a:latin typeface="Arial"/>
                          <a:ea typeface="MS Mincho"/>
                          <a:cs typeface="Times New Roman"/>
                        </a:rPr>
                        <a:t>DD</a:t>
                      </a:r>
                      <a:r>
                        <a:rPr lang="en-US" sz="1200" dirty="0">
                          <a:latin typeface="Arial"/>
                          <a:ea typeface="MS Mincho"/>
                          <a:cs typeface="Times New Roman"/>
                        </a:rPr>
                        <a:t> to (1-k)V</a:t>
                      </a:r>
                      <a:r>
                        <a:rPr lang="en-US" sz="1200" baseline="-25000" dirty="0">
                          <a:latin typeface="Arial"/>
                          <a:ea typeface="MS Mincho"/>
                          <a:cs typeface="Times New Roman"/>
                        </a:rPr>
                        <a:t>DD</a:t>
                      </a:r>
                      <a:r>
                        <a:rPr lang="en-US" sz="1200" dirty="0">
                          <a:latin typeface="Arial"/>
                          <a:ea typeface="MS Mincho"/>
                          <a:cs typeface="Times New Roman"/>
                        </a:rPr>
                        <a:t> value. Usually k=0.1 (also possible k=0.2, 0.3, etc)</a:t>
                      </a:r>
                      <a:endParaRPr lang="en-US" sz="1200" dirty="0">
                        <a:latin typeface="Times New Roman"/>
                        <a:ea typeface="MS Mincho"/>
                        <a:cs typeface="Times New Roman"/>
                      </a:endParaRPr>
                    </a:p>
                  </a:txBody>
                  <a:tcPr marL="68577" marR="68577"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0001"/>
                  </a:ext>
                </a:extLst>
              </a:tr>
              <a:tr h="1139156">
                <a:tc>
                  <a:txBody>
                    <a:bodyPr/>
                    <a:lstStyle/>
                    <a:p>
                      <a:pPr marL="342900" indent="-342900">
                        <a:buFont typeface="+mj-lt"/>
                        <a:buAutoNum type="arabicPeriod" startAt="2"/>
                      </a:pPr>
                      <a:r>
                        <a:rPr lang="en-US" sz="1200" dirty="0"/>
                        <a:t> </a:t>
                      </a:r>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r>
                        <a:rPr lang="en-US" sz="1200" kern="1200" dirty="0">
                          <a:solidFill>
                            <a:schemeClr val="tx1"/>
                          </a:solidFill>
                          <a:latin typeface="+mn-lt"/>
                          <a:ea typeface="+mn-ea"/>
                          <a:cs typeface="+mn-cs"/>
                        </a:rPr>
                        <a:t>Fall transition time</a:t>
                      </a:r>
                    </a:p>
                    <a:p>
                      <a:endParaRPr lang="en-US" sz="1200" kern="1200" dirty="0">
                        <a:solidFill>
                          <a:schemeClr val="tx1"/>
                        </a:solidFill>
                        <a:latin typeface="+mn-lt"/>
                        <a:ea typeface="+mn-ea"/>
                        <a:cs typeface="+mn-cs"/>
                      </a:endParaRPr>
                    </a:p>
                    <a:p>
                      <a:endParaRPr lang="en-US" sz="1200" dirty="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algn="ctr"/>
                      <a:r>
                        <a:rPr lang="en-US" sz="1200" kern="1200" dirty="0">
                          <a:solidFill>
                            <a:schemeClr val="tx1"/>
                          </a:solidFill>
                          <a:latin typeface="+mn-lt"/>
                          <a:ea typeface="+mn-ea"/>
                          <a:cs typeface="+mn-cs"/>
                        </a:rPr>
                        <a:t>ns</a:t>
                      </a:r>
                      <a:endParaRPr lang="en-US" sz="1200" dirty="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algn="ctr"/>
                      <a:r>
                        <a:rPr lang="en-US" sz="1200" kern="1200" dirty="0" err="1">
                          <a:solidFill>
                            <a:schemeClr val="tx1"/>
                          </a:solidFill>
                          <a:latin typeface="+mn-lt"/>
                          <a:ea typeface="+mn-ea"/>
                          <a:cs typeface="+mn-cs"/>
                        </a:rPr>
                        <a:t>t</a:t>
                      </a:r>
                      <a:r>
                        <a:rPr lang="en-US" sz="1200" kern="1200" baseline="-25000" dirty="0" err="1">
                          <a:solidFill>
                            <a:schemeClr val="tx1"/>
                          </a:solidFill>
                          <a:latin typeface="+mn-lt"/>
                          <a:ea typeface="+mn-ea"/>
                          <a:cs typeface="+mn-cs"/>
                        </a:rPr>
                        <a:t>F</a:t>
                      </a:r>
                      <a:endParaRPr lang="en-US" sz="1200" dirty="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endParaRPr lang="en-US" sz="180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algn="l">
                        <a:spcAft>
                          <a:spcPts val="0"/>
                        </a:spcAft>
                      </a:pPr>
                      <a:r>
                        <a:rPr lang="en-US" sz="1200" dirty="0">
                          <a:latin typeface="Arial"/>
                          <a:ea typeface="MS Mincho"/>
                          <a:cs typeface="Times New Roman"/>
                        </a:rPr>
                        <a:t>The time it takes a driving pin to make a transition from (1‑k)V</a:t>
                      </a:r>
                      <a:r>
                        <a:rPr lang="en-US" sz="1200" baseline="-25000" dirty="0">
                          <a:latin typeface="Arial"/>
                          <a:ea typeface="MS Mincho"/>
                          <a:cs typeface="Times New Roman"/>
                        </a:rPr>
                        <a:t>DD</a:t>
                      </a:r>
                      <a:r>
                        <a:rPr lang="en-US" sz="1200" dirty="0">
                          <a:latin typeface="Arial"/>
                          <a:ea typeface="MS Mincho"/>
                          <a:cs typeface="Times New Roman"/>
                        </a:rPr>
                        <a:t> to </a:t>
                      </a:r>
                      <a:r>
                        <a:rPr lang="en-US" sz="1200" dirty="0" err="1">
                          <a:latin typeface="Arial"/>
                          <a:ea typeface="MS Mincho"/>
                          <a:cs typeface="Times New Roman"/>
                        </a:rPr>
                        <a:t>kV</a:t>
                      </a:r>
                      <a:r>
                        <a:rPr lang="en-US" sz="1200" baseline="-25000" dirty="0" err="1">
                          <a:latin typeface="Arial"/>
                          <a:ea typeface="MS Mincho"/>
                          <a:cs typeface="Times New Roman"/>
                        </a:rPr>
                        <a:t>DD</a:t>
                      </a:r>
                      <a:r>
                        <a:rPr lang="en-US" sz="1200" dirty="0">
                          <a:latin typeface="Arial"/>
                          <a:ea typeface="MS Mincho"/>
                          <a:cs typeface="Times New Roman"/>
                        </a:rPr>
                        <a:t> value. Usually k=0.1 (also possible k=0.2, 0.3, etc)</a:t>
                      </a:r>
                      <a:endParaRPr lang="en-US" sz="1200" dirty="0">
                        <a:latin typeface="Times New Roman"/>
                        <a:ea typeface="MS Mincho"/>
                        <a:cs typeface="Times New Roman"/>
                      </a:endParaRPr>
                    </a:p>
                  </a:txBody>
                  <a:tcPr marL="68577" marR="68577"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2"/>
                  </a:ext>
                </a:extLst>
              </a:tr>
              <a:tr h="1081924">
                <a:tc>
                  <a:txBody>
                    <a:bodyPr/>
                    <a:lstStyle/>
                    <a:p>
                      <a:pPr marL="342900" indent="-342900">
                        <a:buFont typeface="+mj-lt"/>
                        <a:buAutoNum type="arabicPeriod" startAt="3"/>
                      </a:pPr>
                      <a:r>
                        <a:rPr lang="en-US" sz="1200" dirty="0"/>
                        <a:t> </a:t>
                      </a:r>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r>
                        <a:rPr lang="en-US" sz="1200" kern="1200" dirty="0">
                          <a:solidFill>
                            <a:schemeClr val="tx1"/>
                          </a:solidFill>
                          <a:latin typeface="+mn-lt"/>
                          <a:ea typeface="+mn-ea"/>
                          <a:cs typeface="+mn-cs"/>
                        </a:rPr>
                        <a:t>Propagation delay</a:t>
                      </a:r>
                    </a:p>
                    <a:p>
                      <a:r>
                        <a:rPr lang="en-US" sz="1200" kern="1200" dirty="0">
                          <a:solidFill>
                            <a:schemeClr val="tx1"/>
                          </a:solidFill>
                          <a:latin typeface="+mn-lt"/>
                          <a:ea typeface="+mn-ea"/>
                          <a:cs typeface="+mn-cs"/>
                        </a:rPr>
                        <a:t>low-to-high</a:t>
                      </a:r>
                      <a:r>
                        <a:rPr lang="en-US" sz="1200" kern="1200" baseline="0" dirty="0">
                          <a:solidFill>
                            <a:schemeClr val="tx1"/>
                          </a:solidFill>
                          <a:latin typeface="+mn-lt"/>
                          <a:ea typeface="+mn-ea"/>
                          <a:cs typeface="+mn-cs"/>
                        </a:rPr>
                        <a:t> </a:t>
                      </a:r>
                      <a:r>
                        <a:rPr lang="en-US" sz="1200" kern="1200" dirty="0">
                          <a:solidFill>
                            <a:schemeClr val="tx1"/>
                          </a:solidFill>
                          <a:latin typeface="+mn-lt"/>
                          <a:ea typeface="+mn-ea"/>
                          <a:cs typeface="+mn-cs"/>
                        </a:rPr>
                        <a:t>(rise)</a:t>
                      </a:r>
                    </a:p>
                    <a:p>
                      <a:endParaRPr lang="en-US" sz="1200" kern="1200" dirty="0">
                        <a:solidFill>
                          <a:schemeClr val="tx1"/>
                        </a:solidFill>
                        <a:latin typeface="+mn-lt"/>
                        <a:ea typeface="+mn-ea"/>
                        <a:cs typeface="+mn-cs"/>
                      </a:endParaRPr>
                    </a:p>
                    <a:p>
                      <a:endParaRPr lang="en-US" sz="1200" dirty="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pPr algn="ctr"/>
                      <a:r>
                        <a:rPr lang="en-US" sz="1200" kern="1200" dirty="0">
                          <a:solidFill>
                            <a:schemeClr val="tx1"/>
                          </a:solidFill>
                          <a:latin typeface="+mn-lt"/>
                          <a:ea typeface="+mn-ea"/>
                          <a:cs typeface="+mn-cs"/>
                        </a:rPr>
                        <a:t>ns</a:t>
                      </a:r>
                      <a:endParaRPr lang="en-US" sz="1200" dirty="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pPr algn="ctr"/>
                      <a:r>
                        <a:rPr lang="en-US" sz="1200" kern="1200" dirty="0" err="1">
                          <a:solidFill>
                            <a:schemeClr val="tx1"/>
                          </a:solidFill>
                          <a:latin typeface="+mn-lt"/>
                          <a:ea typeface="+mn-ea"/>
                          <a:cs typeface="+mn-cs"/>
                        </a:rPr>
                        <a:t>t</a:t>
                      </a:r>
                      <a:r>
                        <a:rPr lang="en-US" sz="1200" kern="1200" baseline="-25000" dirty="0" err="1">
                          <a:solidFill>
                            <a:schemeClr val="tx1"/>
                          </a:solidFill>
                          <a:latin typeface="+mn-lt"/>
                          <a:ea typeface="+mn-ea"/>
                          <a:cs typeface="+mn-cs"/>
                        </a:rPr>
                        <a:t>PLH</a:t>
                      </a:r>
                      <a:endParaRPr lang="en-US" sz="1200" kern="1200" dirty="0">
                        <a:solidFill>
                          <a:schemeClr val="tx1"/>
                        </a:solidFill>
                        <a:latin typeface="+mn-lt"/>
                        <a:ea typeface="+mn-ea"/>
                        <a:cs typeface="+mn-cs"/>
                      </a:endParaRPr>
                    </a:p>
                    <a:p>
                      <a:pPr algn="ct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t</a:t>
                      </a:r>
                      <a:r>
                        <a:rPr lang="en-US" sz="1200" kern="1200" baseline="-25000" dirty="0" err="1">
                          <a:solidFill>
                            <a:schemeClr val="tx1"/>
                          </a:solidFill>
                          <a:latin typeface="+mn-lt"/>
                          <a:ea typeface="+mn-ea"/>
                          <a:cs typeface="+mn-cs"/>
                        </a:rPr>
                        <a:t>PR</a:t>
                      </a:r>
                      <a:r>
                        <a:rPr lang="en-US" sz="1200" kern="1200" dirty="0">
                          <a:solidFill>
                            <a:schemeClr val="tx1"/>
                          </a:solidFill>
                          <a:latin typeface="+mn-lt"/>
                          <a:ea typeface="+mn-ea"/>
                          <a:cs typeface="+mn-cs"/>
                        </a:rPr>
                        <a:t>)</a:t>
                      </a:r>
                      <a:endParaRPr lang="en-US" sz="1200" dirty="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endParaRPr lang="en-US" sz="1800" dirty="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pPr algn="l">
                        <a:spcAft>
                          <a:spcPts val="0"/>
                        </a:spcAft>
                      </a:pPr>
                      <a:r>
                        <a:rPr lang="en-US" sz="1200" dirty="0">
                          <a:latin typeface="Arial"/>
                          <a:ea typeface="MS Mincho"/>
                          <a:cs typeface="Times New Roman"/>
                        </a:rPr>
                        <a:t>Time difference between the input signal crossing a 0.5V</a:t>
                      </a:r>
                      <a:r>
                        <a:rPr lang="en-US" sz="1200" baseline="-25000" dirty="0">
                          <a:latin typeface="Arial"/>
                          <a:ea typeface="MS Mincho"/>
                          <a:cs typeface="Times New Roman"/>
                        </a:rPr>
                        <a:t>DD</a:t>
                      </a:r>
                      <a:r>
                        <a:rPr lang="en-US" sz="1200" dirty="0">
                          <a:latin typeface="Arial"/>
                          <a:ea typeface="MS Mincho"/>
                          <a:cs typeface="Times New Roman"/>
                        </a:rPr>
                        <a:t> and the output signal crossing its 0.5V</a:t>
                      </a:r>
                      <a:r>
                        <a:rPr lang="en-US" sz="1200" baseline="-25000" dirty="0">
                          <a:latin typeface="Arial"/>
                          <a:ea typeface="MS Mincho"/>
                          <a:cs typeface="Times New Roman"/>
                        </a:rPr>
                        <a:t>DD</a:t>
                      </a:r>
                      <a:r>
                        <a:rPr lang="en-US" sz="1200" dirty="0">
                          <a:latin typeface="Arial"/>
                          <a:ea typeface="MS Mincho"/>
                          <a:cs typeface="Times New Roman"/>
                        </a:rPr>
                        <a:t> when the output signal is changing from low to high</a:t>
                      </a:r>
                      <a:endParaRPr lang="en-US" sz="1200" dirty="0">
                        <a:latin typeface="Times New Roman"/>
                        <a:ea typeface="MS Mincho"/>
                        <a:cs typeface="Times New Roman"/>
                      </a:endParaRPr>
                    </a:p>
                  </a:txBody>
                  <a:tcPr marL="68577" marR="68577"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0003"/>
                  </a:ext>
                </a:extLst>
              </a:tr>
              <a:tr h="1081924">
                <a:tc>
                  <a:txBody>
                    <a:bodyPr/>
                    <a:lstStyle/>
                    <a:p>
                      <a:pPr marL="0" indent="0">
                        <a:buFont typeface="+mj-lt"/>
                        <a:buNone/>
                      </a:pPr>
                      <a:r>
                        <a:rPr lang="en-US" sz="1200" dirty="0"/>
                        <a:t>4.</a:t>
                      </a:r>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r>
                        <a:rPr lang="en-US" sz="1200" kern="1200" dirty="0">
                          <a:solidFill>
                            <a:schemeClr val="tx1"/>
                          </a:solidFill>
                          <a:latin typeface="+mn-lt"/>
                          <a:ea typeface="+mn-ea"/>
                          <a:cs typeface="+mn-cs"/>
                        </a:rPr>
                        <a:t>Propagation delay</a:t>
                      </a:r>
                    </a:p>
                    <a:p>
                      <a:r>
                        <a:rPr lang="en-US" sz="1200" kern="1200" dirty="0">
                          <a:solidFill>
                            <a:schemeClr val="tx1"/>
                          </a:solidFill>
                          <a:latin typeface="+mn-lt"/>
                          <a:ea typeface="+mn-ea"/>
                          <a:cs typeface="+mn-cs"/>
                        </a:rPr>
                        <a:t>high-to-low (Fall)</a:t>
                      </a:r>
                    </a:p>
                    <a:p>
                      <a:endParaRPr lang="en-US" sz="1200" kern="1200" dirty="0">
                        <a:solidFill>
                          <a:schemeClr val="tx1"/>
                        </a:solidFill>
                        <a:latin typeface="+mn-lt"/>
                        <a:ea typeface="+mn-ea"/>
                        <a:cs typeface="+mn-cs"/>
                      </a:endParaRPr>
                    </a:p>
                    <a:p>
                      <a:endParaRPr lang="en-US" sz="1200" dirty="0"/>
                    </a:p>
                  </a:txBody>
                  <a:tcPr marL="91437" marR="91437" marT="45726" marB="4572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algn="ctr"/>
                      <a:r>
                        <a:rPr lang="en-US" sz="1200" kern="1200" dirty="0">
                          <a:solidFill>
                            <a:schemeClr val="tx1"/>
                          </a:solidFill>
                          <a:latin typeface="+mn-lt"/>
                          <a:ea typeface="+mn-ea"/>
                          <a:cs typeface="+mn-cs"/>
                        </a:rPr>
                        <a:t>ns</a:t>
                      </a:r>
                      <a:endParaRPr lang="en-US" sz="1200" dirty="0"/>
                    </a:p>
                  </a:txBody>
                  <a:tcPr marL="91437" marR="91437" marT="45726" marB="4572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algn="ctr"/>
                      <a:r>
                        <a:rPr lang="en-US" sz="1200" kern="1200" dirty="0" err="1">
                          <a:solidFill>
                            <a:schemeClr val="tx1"/>
                          </a:solidFill>
                          <a:latin typeface="+mn-lt"/>
                          <a:ea typeface="+mn-ea"/>
                          <a:cs typeface="+mn-cs"/>
                        </a:rPr>
                        <a:t>t</a:t>
                      </a:r>
                      <a:r>
                        <a:rPr lang="en-US" sz="1200" kern="1200" baseline="-25000" dirty="0" err="1">
                          <a:solidFill>
                            <a:schemeClr val="tx1"/>
                          </a:solidFill>
                          <a:latin typeface="+mn-lt"/>
                          <a:ea typeface="+mn-ea"/>
                          <a:cs typeface="+mn-cs"/>
                        </a:rPr>
                        <a:t>PHL</a:t>
                      </a:r>
                      <a:endParaRPr lang="en-US" sz="1200" kern="1200" dirty="0">
                        <a:solidFill>
                          <a:schemeClr val="tx1"/>
                        </a:solidFill>
                        <a:latin typeface="+mn-lt"/>
                        <a:ea typeface="+mn-ea"/>
                        <a:cs typeface="+mn-cs"/>
                      </a:endParaRPr>
                    </a:p>
                    <a:p>
                      <a:pPr algn="ct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t</a:t>
                      </a:r>
                      <a:r>
                        <a:rPr lang="en-US" sz="1200" kern="1200" baseline="-25000" dirty="0" err="1">
                          <a:solidFill>
                            <a:schemeClr val="tx1"/>
                          </a:solidFill>
                          <a:latin typeface="+mn-lt"/>
                          <a:ea typeface="+mn-ea"/>
                          <a:cs typeface="+mn-cs"/>
                        </a:rPr>
                        <a:t>PF</a:t>
                      </a:r>
                      <a:r>
                        <a:rPr lang="en-US" sz="1200" kern="1200" dirty="0">
                          <a:solidFill>
                            <a:schemeClr val="tx1"/>
                          </a:solidFill>
                          <a:latin typeface="+mn-lt"/>
                          <a:ea typeface="+mn-ea"/>
                          <a:cs typeface="+mn-cs"/>
                        </a:rPr>
                        <a:t>)</a:t>
                      </a:r>
                      <a:endParaRPr lang="en-US" sz="1200" dirty="0"/>
                    </a:p>
                  </a:txBody>
                  <a:tcPr marL="91437" marR="91437" marT="45726" marB="4572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endParaRPr lang="en-US" sz="1800" dirty="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Time difference between the input signal crossing a 0.5V</a:t>
                      </a:r>
                      <a:r>
                        <a:rPr lang="en-US" sz="1200" kern="1200" baseline="-25000" dirty="0">
                          <a:solidFill>
                            <a:schemeClr val="tx1"/>
                          </a:solidFill>
                          <a:latin typeface="+mn-lt"/>
                          <a:ea typeface="+mn-ea"/>
                          <a:cs typeface="+mn-cs"/>
                        </a:rPr>
                        <a:t>DD</a:t>
                      </a:r>
                      <a:r>
                        <a:rPr lang="en-US" sz="1200" kern="1200" dirty="0">
                          <a:solidFill>
                            <a:schemeClr val="tx1"/>
                          </a:solidFill>
                          <a:latin typeface="+mn-lt"/>
                          <a:ea typeface="+mn-ea"/>
                          <a:cs typeface="+mn-cs"/>
                        </a:rPr>
                        <a:t> and the output signal crossing its 0.5V</a:t>
                      </a:r>
                      <a:r>
                        <a:rPr lang="en-US" sz="1200" kern="1200" baseline="-25000" dirty="0">
                          <a:solidFill>
                            <a:schemeClr val="tx1"/>
                          </a:solidFill>
                          <a:latin typeface="+mn-lt"/>
                          <a:ea typeface="+mn-ea"/>
                          <a:cs typeface="+mn-cs"/>
                        </a:rPr>
                        <a:t>DD</a:t>
                      </a:r>
                      <a:r>
                        <a:rPr lang="en-US" sz="1200" kern="1200" dirty="0">
                          <a:solidFill>
                            <a:schemeClr val="tx1"/>
                          </a:solidFill>
                          <a:latin typeface="+mn-lt"/>
                          <a:ea typeface="+mn-ea"/>
                          <a:cs typeface="+mn-cs"/>
                        </a:rPr>
                        <a:t> when the output signal is changing from high to low</a:t>
                      </a:r>
                      <a:endParaRPr lang="en-US" sz="1200" dirty="0">
                        <a:latin typeface="Times New Roman"/>
                        <a:ea typeface="MS Mincho"/>
                        <a:cs typeface="Times New Roman"/>
                      </a:endParaRPr>
                    </a:p>
                  </a:txBody>
                  <a:tcPr marL="68577" marR="68577"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4"/>
                  </a:ext>
                </a:extLst>
              </a:tr>
            </a:tbl>
          </a:graphicData>
        </a:graphic>
      </p:graphicFrame>
      <p:grpSp>
        <p:nvGrpSpPr>
          <p:cNvPr id="21553" name="Group 187">
            <a:extLst>
              <a:ext uri="{FF2B5EF4-FFF2-40B4-BE49-F238E27FC236}">
                <a16:creationId xmlns:a16="http://schemas.microsoft.com/office/drawing/2014/main" id="{4B223965-5967-449A-844C-987019444151}"/>
              </a:ext>
            </a:extLst>
          </p:cNvPr>
          <p:cNvGrpSpPr>
            <a:grpSpLocks/>
          </p:cNvGrpSpPr>
          <p:nvPr/>
        </p:nvGrpSpPr>
        <p:grpSpPr bwMode="auto">
          <a:xfrm>
            <a:off x="5851524" y="1763900"/>
            <a:ext cx="1531683" cy="4222750"/>
            <a:chOff x="3743326" y="1398588"/>
            <a:chExt cx="1531683" cy="4221948"/>
          </a:xfrm>
        </p:grpSpPr>
        <p:sp>
          <p:nvSpPr>
            <p:cNvPr id="189" name="Freeform 116">
              <a:extLst>
                <a:ext uri="{FF2B5EF4-FFF2-40B4-BE49-F238E27FC236}">
                  <a16:creationId xmlns:a16="http://schemas.microsoft.com/office/drawing/2014/main" id="{E0C151D1-A03B-4564-B5C0-F6FC5118D971}"/>
                </a:ext>
              </a:extLst>
            </p:cNvPr>
            <p:cNvSpPr>
              <a:spLocks/>
            </p:cNvSpPr>
            <p:nvPr/>
          </p:nvSpPr>
          <p:spPr bwMode="auto">
            <a:xfrm>
              <a:off x="4244976" y="4030163"/>
              <a:ext cx="236538" cy="395212"/>
            </a:xfrm>
            <a:custGeom>
              <a:avLst/>
              <a:gdLst>
                <a:gd name="T0" fmla="*/ 0 w 149"/>
                <a:gd name="T1" fmla="*/ 246 h 249"/>
                <a:gd name="T2" fmla="*/ 12 w 149"/>
                <a:gd name="T3" fmla="*/ 249 h 249"/>
                <a:gd name="T4" fmla="*/ 149 w 149"/>
                <a:gd name="T5" fmla="*/ 3 h 249"/>
                <a:gd name="T6" fmla="*/ 137 w 149"/>
                <a:gd name="T7" fmla="*/ 0 h 249"/>
                <a:gd name="T8" fmla="*/ 0 w 149"/>
                <a:gd name="T9" fmla="*/ 246 h 249"/>
              </a:gdLst>
              <a:ahLst/>
              <a:cxnLst>
                <a:cxn ang="0">
                  <a:pos x="T0" y="T1"/>
                </a:cxn>
                <a:cxn ang="0">
                  <a:pos x="T2" y="T3"/>
                </a:cxn>
                <a:cxn ang="0">
                  <a:pos x="T4" y="T5"/>
                </a:cxn>
                <a:cxn ang="0">
                  <a:pos x="T6" y="T7"/>
                </a:cxn>
                <a:cxn ang="0">
                  <a:pos x="T8" y="T9"/>
                </a:cxn>
              </a:cxnLst>
              <a:rect l="0" t="0" r="r" b="b"/>
              <a:pathLst>
                <a:path w="149" h="249">
                  <a:moveTo>
                    <a:pt x="0" y="246"/>
                  </a:moveTo>
                  <a:lnTo>
                    <a:pt x="12" y="249"/>
                  </a:lnTo>
                  <a:lnTo>
                    <a:pt x="149" y="3"/>
                  </a:lnTo>
                  <a:lnTo>
                    <a:pt x="137" y="0"/>
                  </a:lnTo>
                  <a:lnTo>
                    <a:pt x="0" y="246"/>
                  </a:lnTo>
                  <a:close/>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21555" name="Rectangle 10">
              <a:extLst>
                <a:ext uri="{FF2B5EF4-FFF2-40B4-BE49-F238E27FC236}">
                  <a16:creationId xmlns:a16="http://schemas.microsoft.com/office/drawing/2014/main" id="{158E458E-FBD5-43F2-9A41-1D3D1B988169}"/>
                </a:ext>
              </a:extLst>
            </p:cNvPr>
            <p:cNvSpPr>
              <a:spLocks noChangeArrowheads="1"/>
            </p:cNvSpPr>
            <p:nvPr/>
          </p:nvSpPr>
          <p:spPr bwMode="auto">
            <a:xfrm>
              <a:off x="5060951" y="3148013"/>
              <a:ext cx="102592" cy="184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000000"/>
                  </a:solidFill>
                  <a:latin typeface="Arial Armenian"/>
                </a:rPr>
                <a:t>V</a:t>
              </a:r>
              <a:endParaRPr lang="en-US" altLang="en-US" sz="1800"/>
            </a:p>
          </p:txBody>
        </p:sp>
        <p:sp>
          <p:nvSpPr>
            <p:cNvPr id="21556" name="Rectangle 11">
              <a:extLst>
                <a:ext uri="{FF2B5EF4-FFF2-40B4-BE49-F238E27FC236}">
                  <a16:creationId xmlns:a16="http://schemas.microsoft.com/office/drawing/2014/main" id="{D136518D-FDE2-426D-ADAD-BAC51858A23D}"/>
                </a:ext>
              </a:extLst>
            </p:cNvPr>
            <p:cNvSpPr>
              <a:spLocks noChangeArrowheads="1"/>
            </p:cNvSpPr>
            <p:nvPr/>
          </p:nvSpPr>
          <p:spPr bwMode="auto">
            <a:xfrm>
              <a:off x="5137151" y="3219451"/>
              <a:ext cx="137858" cy="12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a:solidFill>
                    <a:srgbClr val="000000"/>
                  </a:solidFill>
                  <a:latin typeface="Arial Armenian"/>
                </a:rPr>
                <a:t>SS</a:t>
              </a:r>
              <a:endParaRPr lang="en-US" altLang="en-US" sz="1800"/>
            </a:p>
          </p:txBody>
        </p:sp>
        <p:sp>
          <p:nvSpPr>
            <p:cNvPr id="192" name="Rectangle 12">
              <a:extLst>
                <a:ext uri="{FF2B5EF4-FFF2-40B4-BE49-F238E27FC236}">
                  <a16:creationId xmlns:a16="http://schemas.microsoft.com/office/drawing/2014/main" id="{55783577-EF0B-42F3-84D8-1EF526A78BE4}"/>
                </a:ext>
              </a:extLst>
            </p:cNvPr>
            <p:cNvSpPr>
              <a:spLocks noChangeArrowheads="1"/>
            </p:cNvSpPr>
            <p:nvPr/>
          </p:nvSpPr>
          <p:spPr bwMode="auto">
            <a:xfrm>
              <a:off x="4579939" y="3133395"/>
              <a:ext cx="469900" cy="17460"/>
            </a:xfrm>
            <a:prstGeom prst="rect">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193" name="Freeform 13">
              <a:extLst>
                <a:ext uri="{FF2B5EF4-FFF2-40B4-BE49-F238E27FC236}">
                  <a16:creationId xmlns:a16="http://schemas.microsoft.com/office/drawing/2014/main" id="{7180D0FD-C099-4356-892B-F3C8B401B583}"/>
                </a:ext>
              </a:extLst>
            </p:cNvPr>
            <p:cNvSpPr>
              <a:spLocks/>
            </p:cNvSpPr>
            <p:nvPr/>
          </p:nvSpPr>
          <p:spPr bwMode="auto">
            <a:xfrm>
              <a:off x="4338639" y="2585812"/>
              <a:ext cx="250825" cy="560281"/>
            </a:xfrm>
            <a:custGeom>
              <a:avLst/>
              <a:gdLst>
                <a:gd name="T0" fmla="*/ 147 w 158"/>
                <a:gd name="T1" fmla="*/ 353 h 353"/>
                <a:gd name="T2" fmla="*/ 158 w 158"/>
                <a:gd name="T3" fmla="*/ 349 h 353"/>
                <a:gd name="T4" fmla="*/ 11 w 158"/>
                <a:gd name="T5" fmla="*/ 0 h 353"/>
                <a:gd name="T6" fmla="*/ 0 w 158"/>
                <a:gd name="T7" fmla="*/ 4 h 353"/>
                <a:gd name="T8" fmla="*/ 147 w 158"/>
                <a:gd name="T9" fmla="*/ 353 h 353"/>
              </a:gdLst>
              <a:ahLst/>
              <a:cxnLst>
                <a:cxn ang="0">
                  <a:pos x="T0" y="T1"/>
                </a:cxn>
                <a:cxn ang="0">
                  <a:pos x="T2" y="T3"/>
                </a:cxn>
                <a:cxn ang="0">
                  <a:pos x="T4" y="T5"/>
                </a:cxn>
                <a:cxn ang="0">
                  <a:pos x="T6" y="T7"/>
                </a:cxn>
                <a:cxn ang="0">
                  <a:pos x="T8" y="T9"/>
                </a:cxn>
              </a:cxnLst>
              <a:rect l="0" t="0" r="r" b="b"/>
              <a:pathLst>
                <a:path w="158" h="353">
                  <a:moveTo>
                    <a:pt x="147" y="353"/>
                  </a:moveTo>
                  <a:lnTo>
                    <a:pt x="158" y="349"/>
                  </a:lnTo>
                  <a:lnTo>
                    <a:pt x="11" y="0"/>
                  </a:lnTo>
                  <a:lnTo>
                    <a:pt x="0" y="4"/>
                  </a:lnTo>
                  <a:lnTo>
                    <a:pt x="147" y="353"/>
                  </a:lnTo>
                  <a:close/>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194" name="Rectangle 14">
              <a:extLst>
                <a:ext uri="{FF2B5EF4-FFF2-40B4-BE49-F238E27FC236}">
                  <a16:creationId xmlns:a16="http://schemas.microsoft.com/office/drawing/2014/main" id="{ADBC4788-D4E0-42A4-8F56-F8C0B72F4B3D}"/>
                </a:ext>
              </a:extLst>
            </p:cNvPr>
            <p:cNvSpPr>
              <a:spLocks noChangeArrowheads="1"/>
            </p:cNvSpPr>
            <p:nvPr/>
          </p:nvSpPr>
          <p:spPr bwMode="auto">
            <a:xfrm>
              <a:off x="3763964" y="2579464"/>
              <a:ext cx="582612" cy="19046"/>
            </a:xfrm>
            <a:prstGeom prst="rect">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21560" name="Line 15">
              <a:extLst>
                <a:ext uri="{FF2B5EF4-FFF2-40B4-BE49-F238E27FC236}">
                  <a16:creationId xmlns:a16="http://schemas.microsoft.com/office/drawing/2014/main" id="{3DC8523E-1DDA-48FB-B940-1703D419EC58}"/>
                </a:ext>
              </a:extLst>
            </p:cNvPr>
            <p:cNvSpPr>
              <a:spLocks noChangeShapeType="1"/>
            </p:cNvSpPr>
            <p:nvPr/>
          </p:nvSpPr>
          <p:spPr bwMode="auto">
            <a:xfrm flipH="1">
              <a:off x="4492626" y="3078163"/>
              <a:ext cx="117475" cy="0"/>
            </a:xfrm>
            <a:prstGeom prst="line">
              <a:avLst/>
            </a:prstGeom>
            <a:noFill/>
            <a:ln w="6">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61" name="Line 16">
              <a:extLst>
                <a:ext uri="{FF2B5EF4-FFF2-40B4-BE49-F238E27FC236}">
                  <a16:creationId xmlns:a16="http://schemas.microsoft.com/office/drawing/2014/main" id="{0865381C-7AC9-4CEE-997E-BAF464E49616}"/>
                </a:ext>
              </a:extLst>
            </p:cNvPr>
            <p:cNvSpPr>
              <a:spLocks noChangeShapeType="1"/>
            </p:cNvSpPr>
            <p:nvPr/>
          </p:nvSpPr>
          <p:spPr bwMode="auto">
            <a:xfrm flipH="1">
              <a:off x="4308476" y="2643188"/>
              <a:ext cx="117475" cy="0"/>
            </a:xfrm>
            <a:prstGeom prst="line">
              <a:avLst/>
            </a:prstGeom>
            <a:noFill/>
            <a:ln w="6">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62" name="Rectangle 17">
              <a:extLst>
                <a:ext uri="{FF2B5EF4-FFF2-40B4-BE49-F238E27FC236}">
                  <a16:creationId xmlns:a16="http://schemas.microsoft.com/office/drawing/2014/main" id="{D2C52A61-8C62-4CDE-94EF-A36CEA14CB93}"/>
                </a:ext>
              </a:extLst>
            </p:cNvPr>
            <p:cNvSpPr>
              <a:spLocks noChangeArrowheads="1"/>
            </p:cNvSpPr>
            <p:nvPr/>
          </p:nvSpPr>
          <p:spPr bwMode="auto">
            <a:xfrm>
              <a:off x="4656138" y="2989263"/>
              <a:ext cx="237244" cy="138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00"/>
                  </a:solidFill>
                  <a:latin typeface="Arial Armenian"/>
                </a:rPr>
                <a:t>0.1V</a:t>
              </a:r>
              <a:endParaRPr lang="en-US" altLang="en-US" sz="1800"/>
            </a:p>
          </p:txBody>
        </p:sp>
        <p:sp>
          <p:nvSpPr>
            <p:cNvPr id="21563" name="Rectangle 18">
              <a:extLst>
                <a:ext uri="{FF2B5EF4-FFF2-40B4-BE49-F238E27FC236}">
                  <a16:creationId xmlns:a16="http://schemas.microsoft.com/office/drawing/2014/main" id="{8C431337-74B1-4AAC-AC09-279C1DBBE36D}"/>
                </a:ext>
              </a:extLst>
            </p:cNvPr>
            <p:cNvSpPr>
              <a:spLocks noChangeArrowheads="1"/>
            </p:cNvSpPr>
            <p:nvPr/>
          </p:nvSpPr>
          <p:spPr bwMode="auto">
            <a:xfrm>
              <a:off x="4889501" y="3051176"/>
              <a:ext cx="112210" cy="92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600">
                  <a:solidFill>
                    <a:srgbClr val="000000"/>
                  </a:solidFill>
                  <a:latin typeface="Arial Armenian"/>
                </a:rPr>
                <a:t>DD</a:t>
              </a:r>
              <a:endParaRPr lang="en-US" altLang="en-US" sz="1800"/>
            </a:p>
          </p:txBody>
        </p:sp>
        <p:sp>
          <p:nvSpPr>
            <p:cNvPr id="21564" name="Rectangle 19">
              <a:extLst>
                <a:ext uri="{FF2B5EF4-FFF2-40B4-BE49-F238E27FC236}">
                  <a16:creationId xmlns:a16="http://schemas.microsoft.com/office/drawing/2014/main" id="{5AA3E111-E01F-41EA-B00B-BC663FB76218}"/>
                </a:ext>
              </a:extLst>
            </p:cNvPr>
            <p:cNvSpPr>
              <a:spLocks noChangeArrowheads="1"/>
            </p:cNvSpPr>
            <p:nvPr/>
          </p:nvSpPr>
          <p:spPr bwMode="auto">
            <a:xfrm>
              <a:off x="4452938" y="2563813"/>
              <a:ext cx="237244" cy="138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00"/>
                  </a:solidFill>
                  <a:latin typeface="Arial Armenian"/>
                </a:rPr>
                <a:t>0.9V</a:t>
              </a:r>
              <a:endParaRPr lang="en-US" altLang="en-US" sz="1800"/>
            </a:p>
          </p:txBody>
        </p:sp>
        <p:sp>
          <p:nvSpPr>
            <p:cNvPr id="21565" name="Rectangle 20">
              <a:extLst>
                <a:ext uri="{FF2B5EF4-FFF2-40B4-BE49-F238E27FC236}">
                  <a16:creationId xmlns:a16="http://schemas.microsoft.com/office/drawing/2014/main" id="{9938F9B8-9ED3-4F4F-A086-C73281D0F9CC}"/>
                </a:ext>
              </a:extLst>
            </p:cNvPr>
            <p:cNvSpPr>
              <a:spLocks noChangeArrowheads="1"/>
            </p:cNvSpPr>
            <p:nvPr/>
          </p:nvSpPr>
          <p:spPr bwMode="auto">
            <a:xfrm>
              <a:off x="4689476" y="2613026"/>
              <a:ext cx="112210" cy="92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600">
                  <a:solidFill>
                    <a:srgbClr val="000000"/>
                  </a:solidFill>
                  <a:latin typeface="Arial Armenian"/>
                </a:rPr>
                <a:t>DD</a:t>
              </a:r>
              <a:endParaRPr lang="en-US" altLang="en-US" sz="1800"/>
            </a:p>
          </p:txBody>
        </p:sp>
        <p:sp>
          <p:nvSpPr>
            <p:cNvPr id="21566" name="Freeform 21">
              <a:extLst>
                <a:ext uri="{FF2B5EF4-FFF2-40B4-BE49-F238E27FC236}">
                  <a16:creationId xmlns:a16="http://schemas.microsoft.com/office/drawing/2014/main" id="{F2526AC1-3917-49BA-9169-610400555A11}"/>
                </a:ext>
              </a:extLst>
            </p:cNvPr>
            <p:cNvSpPr>
              <a:spLocks/>
            </p:cNvSpPr>
            <p:nvPr/>
          </p:nvSpPr>
          <p:spPr bwMode="auto">
            <a:xfrm>
              <a:off x="4549776" y="3065463"/>
              <a:ext cx="9525" cy="42863"/>
            </a:xfrm>
            <a:custGeom>
              <a:avLst/>
              <a:gdLst>
                <a:gd name="T0" fmla="*/ 9525 w 6"/>
                <a:gd name="T1" fmla="*/ 6350 h 27"/>
                <a:gd name="T2" fmla="*/ 3175 w 6"/>
                <a:gd name="T3" fmla="*/ 0 h 27"/>
                <a:gd name="T4" fmla="*/ 0 w 6"/>
                <a:gd name="T5" fmla="*/ 3175 h 27"/>
                <a:gd name="T6" fmla="*/ 0 w 6"/>
                <a:gd name="T7" fmla="*/ 41275 h 27"/>
                <a:gd name="T8" fmla="*/ 3175 w 6"/>
                <a:gd name="T9" fmla="*/ 42863 h 27"/>
                <a:gd name="T10" fmla="*/ 6350 w 6"/>
                <a:gd name="T11" fmla="*/ 42863 h 27"/>
                <a:gd name="T12" fmla="*/ 9525 w 6"/>
                <a:gd name="T13" fmla="*/ 41275 h 27"/>
                <a:gd name="T14" fmla="*/ 9525 w 6"/>
                <a:gd name="T15" fmla="*/ 6350 h 2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 h="27">
                  <a:moveTo>
                    <a:pt x="6" y="4"/>
                  </a:moveTo>
                  <a:lnTo>
                    <a:pt x="2" y="0"/>
                  </a:lnTo>
                  <a:lnTo>
                    <a:pt x="0" y="2"/>
                  </a:lnTo>
                  <a:lnTo>
                    <a:pt x="0" y="26"/>
                  </a:lnTo>
                  <a:lnTo>
                    <a:pt x="2" y="27"/>
                  </a:lnTo>
                  <a:lnTo>
                    <a:pt x="4" y="27"/>
                  </a:lnTo>
                  <a:lnTo>
                    <a:pt x="6" y="26"/>
                  </a:lnTo>
                  <a:lnTo>
                    <a:pt x="6"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67" name="Freeform 28">
              <a:extLst>
                <a:ext uri="{FF2B5EF4-FFF2-40B4-BE49-F238E27FC236}">
                  <a16:creationId xmlns:a16="http://schemas.microsoft.com/office/drawing/2014/main" id="{09A8E762-ED5F-4413-B749-40814E6FEBE2}"/>
                </a:ext>
              </a:extLst>
            </p:cNvPr>
            <p:cNvSpPr>
              <a:spLocks/>
            </p:cNvSpPr>
            <p:nvPr/>
          </p:nvSpPr>
          <p:spPr bwMode="auto">
            <a:xfrm>
              <a:off x="4375151" y="2632076"/>
              <a:ext cx="7938" cy="42863"/>
            </a:xfrm>
            <a:custGeom>
              <a:avLst/>
              <a:gdLst>
                <a:gd name="T0" fmla="*/ 7938 w 5"/>
                <a:gd name="T1" fmla="*/ 6350 h 27"/>
                <a:gd name="T2" fmla="*/ 3175 w 5"/>
                <a:gd name="T3" fmla="*/ 0 h 27"/>
                <a:gd name="T4" fmla="*/ 0 w 5"/>
                <a:gd name="T5" fmla="*/ 3175 h 27"/>
                <a:gd name="T6" fmla="*/ 0 w 5"/>
                <a:gd name="T7" fmla="*/ 39688 h 27"/>
                <a:gd name="T8" fmla="*/ 3175 w 5"/>
                <a:gd name="T9" fmla="*/ 42863 h 27"/>
                <a:gd name="T10" fmla="*/ 4763 w 5"/>
                <a:gd name="T11" fmla="*/ 42863 h 27"/>
                <a:gd name="T12" fmla="*/ 7938 w 5"/>
                <a:gd name="T13" fmla="*/ 39688 h 27"/>
                <a:gd name="T14" fmla="*/ 7938 w 5"/>
                <a:gd name="T15" fmla="*/ 6350 h 2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 h="27">
                  <a:moveTo>
                    <a:pt x="5" y="4"/>
                  </a:moveTo>
                  <a:lnTo>
                    <a:pt x="2" y="0"/>
                  </a:lnTo>
                  <a:lnTo>
                    <a:pt x="0" y="2"/>
                  </a:lnTo>
                  <a:lnTo>
                    <a:pt x="0" y="25"/>
                  </a:lnTo>
                  <a:lnTo>
                    <a:pt x="2" y="27"/>
                  </a:lnTo>
                  <a:lnTo>
                    <a:pt x="3" y="27"/>
                  </a:lnTo>
                  <a:lnTo>
                    <a:pt x="5" y="25"/>
                  </a:lnTo>
                  <a:lnTo>
                    <a:pt x="5"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68" name="Freeform 42">
              <a:extLst>
                <a:ext uri="{FF2B5EF4-FFF2-40B4-BE49-F238E27FC236}">
                  <a16:creationId xmlns:a16="http://schemas.microsoft.com/office/drawing/2014/main" id="{B609DE6C-8BE5-4243-BFA8-152EEC1C90A8}"/>
                </a:ext>
              </a:extLst>
            </p:cNvPr>
            <p:cNvSpPr>
              <a:spLocks/>
            </p:cNvSpPr>
            <p:nvPr/>
          </p:nvSpPr>
          <p:spPr bwMode="auto">
            <a:xfrm>
              <a:off x="4375151" y="3338513"/>
              <a:ext cx="65" cy="276946"/>
            </a:xfrm>
            <a:custGeom>
              <a:avLst/>
              <a:gdLst>
                <a:gd name="T0" fmla="*/ 65 w 5"/>
                <a:gd name="T1" fmla="*/ 16981 h 29"/>
                <a:gd name="T2" fmla="*/ 65 w 5"/>
                <a:gd name="T3" fmla="*/ 8490 h 29"/>
                <a:gd name="T4" fmla="*/ 39 w 5"/>
                <a:gd name="T5" fmla="*/ 0 h 29"/>
                <a:gd name="T6" fmla="*/ 26 w 5"/>
                <a:gd name="T7" fmla="*/ 0 h 29"/>
                <a:gd name="T8" fmla="*/ 0 w 5"/>
                <a:gd name="T9" fmla="*/ 8490 h 29"/>
                <a:gd name="T10" fmla="*/ 0 w 5"/>
                <a:gd name="T11" fmla="*/ 114621 h 29"/>
                <a:gd name="T12" fmla="*/ 26 w 5"/>
                <a:gd name="T13" fmla="*/ 123111 h 29"/>
                <a:gd name="T14" fmla="*/ 39 w 5"/>
                <a:gd name="T15" fmla="*/ 123111 h 29"/>
                <a:gd name="T16" fmla="*/ 65 w 5"/>
                <a:gd name="T17" fmla="*/ 114621 h 29"/>
                <a:gd name="T18" fmla="*/ 65 w 5"/>
                <a:gd name="T19" fmla="*/ 16981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 h="29">
                  <a:moveTo>
                    <a:pt x="5" y="4"/>
                  </a:moveTo>
                  <a:lnTo>
                    <a:pt x="5" y="2"/>
                  </a:lnTo>
                  <a:lnTo>
                    <a:pt x="3" y="0"/>
                  </a:lnTo>
                  <a:lnTo>
                    <a:pt x="2" y="0"/>
                  </a:lnTo>
                  <a:lnTo>
                    <a:pt x="0" y="2"/>
                  </a:lnTo>
                  <a:lnTo>
                    <a:pt x="0" y="27"/>
                  </a:lnTo>
                  <a:lnTo>
                    <a:pt x="2" y="29"/>
                  </a:lnTo>
                  <a:lnTo>
                    <a:pt x="3" y="29"/>
                  </a:lnTo>
                  <a:lnTo>
                    <a:pt x="5" y="27"/>
                  </a:lnTo>
                  <a:lnTo>
                    <a:pt x="5" y="4"/>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a:p>
          </p:txBody>
        </p:sp>
        <p:sp>
          <p:nvSpPr>
            <p:cNvPr id="21569" name="Line 43">
              <a:extLst>
                <a:ext uri="{FF2B5EF4-FFF2-40B4-BE49-F238E27FC236}">
                  <a16:creationId xmlns:a16="http://schemas.microsoft.com/office/drawing/2014/main" id="{6C6946BB-611A-4C3E-83AA-34D7CE428B5D}"/>
                </a:ext>
              </a:extLst>
            </p:cNvPr>
            <p:cNvSpPr>
              <a:spLocks noChangeShapeType="1"/>
            </p:cNvSpPr>
            <p:nvPr/>
          </p:nvSpPr>
          <p:spPr bwMode="auto">
            <a:xfrm flipH="1">
              <a:off x="4610101" y="3295651"/>
              <a:ext cx="176213" cy="0"/>
            </a:xfrm>
            <a:prstGeom prst="line">
              <a:avLst/>
            </a:prstGeom>
            <a:noFill/>
            <a:ln w="6">
              <a:solidFill>
                <a:srgbClr val="0000FF"/>
              </a:solidFill>
              <a:round/>
              <a:headEnd/>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21570" name="Line 45">
              <a:extLst>
                <a:ext uri="{FF2B5EF4-FFF2-40B4-BE49-F238E27FC236}">
                  <a16:creationId xmlns:a16="http://schemas.microsoft.com/office/drawing/2014/main" id="{8326B66F-244A-4A90-92B2-C13B2D5B0317}"/>
                </a:ext>
              </a:extLst>
            </p:cNvPr>
            <p:cNvSpPr>
              <a:spLocks noChangeShapeType="1"/>
            </p:cNvSpPr>
            <p:nvPr/>
          </p:nvSpPr>
          <p:spPr bwMode="auto">
            <a:xfrm>
              <a:off x="4148138" y="3292476"/>
              <a:ext cx="174625" cy="0"/>
            </a:xfrm>
            <a:prstGeom prst="line">
              <a:avLst/>
            </a:prstGeom>
            <a:noFill/>
            <a:ln w="6">
              <a:solidFill>
                <a:srgbClr val="0000FF"/>
              </a:solidFill>
              <a:round/>
              <a:headEnd/>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21571" name="Rectangle 47">
              <a:extLst>
                <a:ext uri="{FF2B5EF4-FFF2-40B4-BE49-F238E27FC236}">
                  <a16:creationId xmlns:a16="http://schemas.microsoft.com/office/drawing/2014/main" id="{AE63CA72-C68A-438D-B249-84ADEDF90E53}"/>
                </a:ext>
              </a:extLst>
            </p:cNvPr>
            <p:cNvSpPr>
              <a:spLocks noChangeArrowheads="1"/>
            </p:cNvSpPr>
            <p:nvPr/>
          </p:nvSpPr>
          <p:spPr bwMode="auto">
            <a:xfrm>
              <a:off x="4408488" y="3167063"/>
              <a:ext cx="51296" cy="184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b="1">
                  <a:solidFill>
                    <a:srgbClr val="3333CC"/>
                  </a:solidFill>
                  <a:latin typeface="Arial Armenian"/>
                </a:rPr>
                <a:t>t</a:t>
              </a:r>
              <a:endParaRPr lang="en-US" altLang="en-US" sz="1800"/>
            </a:p>
          </p:txBody>
        </p:sp>
        <p:sp>
          <p:nvSpPr>
            <p:cNvPr id="21572" name="Rectangle 48">
              <a:extLst>
                <a:ext uri="{FF2B5EF4-FFF2-40B4-BE49-F238E27FC236}">
                  <a16:creationId xmlns:a16="http://schemas.microsoft.com/office/drawing/2014/main" id="{6D765B97-0028-447C-98EB-07B13B15DC4D}"/>
                </a:ext>
              </a:extLst>
            </p:cNvPr>
            <p:cNvSpPr>
              <a:spLocks noChangeArrowheads="1"/>
            </p:cNvSpPr>
            <p:nvPr/>
          </p:nvSpPr>
          <p:spPr bwMode="auto">
            <a:xfrm>
              <a:off x="4452938" y="3233738"/>
              <a:ext cx="62518" cy="12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b="1">
                  <a:solidFill>
                    <a:srgbClr val="3333CC"/>
                  </a:solidFill>
                  <a:latin typeface="Arial Armenian"/>
                </a:rPr>
                <a:t>F</a:t>
              </a:r>
              <a:endParaRPr lang="en-US" altLang="en-US" sz="1800"/>
            </a:p>
          </p:txBody>
        </p:sp>
        <p:sp>
          <p:nvSpPr>
            <p:cNvPr id="21573" name="Rectangle 49">
              <a:extLst>
                <a:ext uri="{FF2B5EF4-FFF2-40B4-BE49-F238E27FC236}">
                  <a16:creationId xmlns:a16="http://schemas.microsoft.com/office/drawing/2014/main" id="{994BAC2B-DDB8-46C0-B014-701B00BFB015}"/>
                </a:ext>
              </a:extLst>
            </p:cNvPr>
            <p:cNvSpPr>
              <a:spLocks noChangeArrowheads="1"/>
            </p:cNvSpPr>
            <p:nvPr/>
          </p:nvSpPr>
          <p:spPr bwMode="auto">
            <a:xfrm>
              <a:off x="3817938" y="2386013"/>
              <a:ext cx="102592" cy="184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000000"/>
                  </a:solidFill>
                  <a:latin typeface="Arial Armenian"/>
                </a:rPr>
                <a:t>V</a:t>
              </a:r>
              <a:endParaRPr lang="en-US" altLang="en-US" sz="1800"/>
            </a:p>
          </p:txBody>
        </p:sp>
        <p:sp>
          <p:nvSpPr>
            <p:cNvPr id="21574" name="Rectangle 50">
              <a:extLst>
                <a:ext uri="{FF2B5EF4-FFF2-40B4-BE49-F238E27FC236}">
                  <a16:creationId xmlns:a16="http://schemas.microsoft.com/office/drawing/2014/main" id="{8A55B037-829E-4FA5-9CA3-64A8293E2C15}"/>
                </a:ext>
              </a:extLst>
            </p:cNvPr>
            <p:cNvSpPr>
              <a:spLocks noChangeArrowheads="1"/>
            </p:cNvSpPr>
            <p:nvPr/>
          </p:nvSpPr>
          <p:spPr bwMode="auto">
            <a:xfrm>
              <a:off x="3921126" y="2454276"/>
              <a:ext cx="147476" cy="12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a:solidFill>
                    <a:srgbClr val="000000"/>
                  </a:solidFill>
                  <a:latin typeface="Arial Armenian"/>
                </a:rPr>
                <a:t>DD</a:t>
              </a:r>
              <a:endParaRPr lang="en-US" altLang="en-US" sz="1800"/>
            </a:p>
          </p:txBody>
        </p:sp>
        <p:sp>
          <p:nvSpPr>
            <p:cNvPr id="21575" name="Rectangle 52">
              <a:extLst>
                <a:ext uri="{FF2B5EF4-FFF2-40B4-BE49-F238E27FC236}">
                  <a16:creationId xmlns:a16="http://schemas.microsoft.com/office/drawing/2014/main" id="{3BB0855D-53AA-479F-B57D-727D74259EFF}"/>
                </a:ext>
              </a:extLst>
            </p:cNvPr>
            <p:cNvSpPr>
              <a:spLocks noChangeArrowheads="1"/>
            </p:cNvSpPr>
            <p:nvPr/>
          </p:nvSpPr>
          <p:spPr bwMode="auto">
            <a:xfrm>
              <a:off x="3743326" y="2111376"/>
              <a:ext cx="102592" cy="184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000000"/>
                  </a:solidFill>
                  <a:latin typeface="Arial Armenian"/>
                </a:rPr>
                <a:t>V</a:t>
              </a:r>
              <a:endParaRPr lang="en-US" altLang="en-US" sz="1800"/>
            </a:p>
          </p:txBody>
        </p:sp>
        <p:sp>
          <p:nvSpPr>
            <p:cNvPr id="21576" name="Rectangle 53">
              <a:extLst>
                <a:ext uri="{FF2B5EF4-FFF2-40B4-BE49-F238E27FC236}">
                  <a16:creationId xmlns:a16="http://schemas.microsoft.com/office/drawing/2014/main" id="{EE964BB5-128C-41D5-BB27-C408C27B02D9}"/>
                </a:ext>
              </a:extLst>
            </p:cNvPr>
            <p:cNvSpPr>
              <a:spLocks noChangeArrowheads="1"/>
            </p:cNvSpPr>
            <p:nvPr/>
          </p:nvSpPr>
          <p:spPr bwMode="auto">
            <a:xfrm>
              <a:off x="3851276" y="2178051"/>
              <a:ext cx="137858" cy="12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a:solidFill>
                    <a:srgbClr val="000000"/>
                  </a:solidFill>
                  <a:latin typeface="Arial Armenian"/>
                </a:rPr>
                <a:t>SS</a:t>
              </a:r>
              <a:endParaRPr lang="en-US" altLang="en-US" sz="1800"/>
            </a:p>
          </p:txBody>
        </p:sp>
        <p:sp>
          <p:nvSpPr>
            <p:cNvPr id="212" name="Rectangle 54">
              <a:extLst>
                <a:ext uri="{FF2B5EF4-FFF2-40B4-BE49-F238E27FC236}">
                  <a16:creationId xmlns:a16="http://schemas.microsoft.com/office/drawing/2014/main" id="{A014FF4E-1F0E-415B-B15A-1318754420E2}"/>
                </a:ext>
              </a:extLst>
            </p:cNvPr>
            <p:cNvSpPr>
              <a:spLocks noChangeArrowheads="1"/>
            </p:cNvSpPr>
            <p:nvPr/>
          </p:nvSpPr>
          <p:spPr bwMode="auto">
            <a:xfrm>
              <a:off x="3884614" y="2093781"/>
              <a:ext cx="457200" cy="17459"/>
            </a:xfrm>
            <a:prstGeom prst="rect">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213" name="Freeform 55">
              <a:extLst>
                <a:ext uri="{FF2B5EF4-FFF2-40B4-BE49-F238E27FC236}">
                  <a16:creationId xmlns:a16="http://schemas.microsoft.com/office/drawing/2014/main" id="{7BCC197F-9A18-4196-8457-B3904C41D4F2}"/>
                </a:ext>
              </a:extLst>
            </p:cNvPr>
            <p:cNvSpPr>
              <a:spLocks/>
            </p:cNvSpPr>
            <p:nvPr/>
          </p:nvSpPr>
          <p:spPr bwMode="auto">
            <a:xfrm>
              <a:off x="4332289" y="1566831"/>
              <a:ext cx="247650" cy="538060"/>
            </a:xfrm>
            <a:custGeom>
              <a:avLst/>
              <a:gdLst>
                <a:gd name="T0" fmla="*/ 0 w 156"/>
                <a:gd name="T1" fmla="*/ 336 h 339"/>
                <a:gd name="T2" fmla="*/ 12 w 156"/>
                <a:gd name="T3" fmla="*/ 339 h 339"/>
                <a:gd name="T4" fmla="*/ 156 w 156"/>
                <a:gd name="T5" fmla="*/ 4 h 339"/>
                <a:gd name="T6" fmla="*/ 144 w 156"/>
                <a:gd name="T7" fmla="*/ 0 h 339"/>
                <a:gd name="T8" fmla="*/ 0 w 156"/>
                <a:gd name="T9" fmla="*/ 336 h 339"/>
              </a:gdLst>
              <a:ahLst/>
              <a:cxnLst>
                <a:cxn ang="0">
                  <a:pos x="T0" y="T1"/>
                </a:cxn>
                <a:cxn ang="0">
                  <a:pos x="T2" y="T3"/>
                </a:cxn>
                <a:cxn ang="0">
                  <a:pos x="T4" y="T5"/>
                </a:cxn>
                <a:cxn ang="0">
                  <a:pos x="T6" y="T7"/>
                </a:cxn>
                <a:cxn ang="0">
                  <a:pos x="T8" y="T9"/>
                </a:cxn>
              </a:cxnLst>
              <a:rect l="0" t="0" r="r" b="b"/>
              <a:pathLst>
                <a:path w="156" h="339">
                  <a:moveTo>
                    <a:pt x="0" y="336"/>
                  </a:moveTo>
                  <a:lnTo>
                    <a:pt x="12" y="339"/>
                  </a:lnTo>
                  <a:lnTo>
                    <a:pt x="156" y="4"/>
                  </a:lnTo>
                  <a:lnTo>
                    <a:pt x="144" y="0"/>
                  </a:lnTo>
                  <a:lnTo>
                    <a:pt x="0" y="336"/>
                  </a:lnTo>
                  <a:close/>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214" name="Rectangle 56">
              <a:extLst>
                <a:ext uri="{FF2B5EF4-FFF2-40B4-BE49-F238E27FC236}">
                  <a16:creationId xmlns:a16="http://schemas.microsoft.com/office/drawing/2014/main" id="{D959AC27-0F5D-498C-B736-090DFEFE2CD1}"/>
                </a:ext>
              </a:extLst>
            </p:cNvPr>
            <p:cNvSpPr>
              <a:spLocks noChangeArrowheads="1"/>
            </p:cNvSpPr>
            <p:nvPr/>
          </p:nvSpPr>
          <p:spPr bwMode="auto">
            <a:xfrm>
              <a:off x="4570414" y="1562069"/>
              <a:ext cx="573087" cy="17460"/>
            </a:xfrm>
            <a:prstGeom prst="rect">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21580" name="Line 57">
              <a:extLst>
                <a:ext uri="{FF2B5EF4-FFF2-40B4-BE49-F238E27FC236}">
                  <a16:creationId xmlns:a16="http://schemas.microsoft.com/office/drawing/2014/main" id="{E7F48955-AEA3-4112-B52E-11AD970C4CBF}"/>
                </a:ext>
              </a:extLst>
            </p:cNvPr>
            <p:cNvSpPr>
              <a:spLocks noChangeShapeType="1"/>
            </p:cNvSpPr>
            <p:nvPr/>
          </p:nvSpPr>
          <p:spPr bwMode="auto">
            <a:xfrm>
              <a:off x="4311651" y="2041526"/>
              <a:ext cx="115888" cy="0"/>
            </a:xfrm>
            <a:prstGeom prst="line">
              <a:avLst/>
            </a:prstGeom>
            <a:noFill/>
            <a:ln w="6">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81" name="Line 58">
              <a:extLst>
                <a:ext uri="{FF2B5EF4-FFF2-40B4-BE49-F238E27FC236}">
                  <a16:creationId xmlns:a16="http://schemas.microsoft.com/office/drawing/2014/main" id="{D1B6701B-FC26-4618-B681-6B3C08DD52F7}"/>
                </a:ext>
              </a:extLst>
            </p:cNvPr>
            <p:cNvSpPr>
              <a:spLocks noChangeShapeType="1"/>
            </p:cNvSpPr>
            <p:nvPr/>
          </p:nvSpPr>
          <p:spPr bwMode="auto">
            <a:xfrm>
              <a:off x="4494214" y="1622426"/>
              <a:ext cx="115888" cy="0"/>
            </a:xfrm>
            <a:prstGeom prst="line">
              <a:avLst/>
            </a:prstGeom>
            <a:noFill/>
            <a:ln w="6">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82" name="Rectangle 59">
              <a:extLst>
                <a:ext uri="{FF2B5EF4-FFF2-40B4-BE49-F238E27FC236}">
                  <a16:creationId xmlns:a16="http://schemas.microsoft.com/office/drawing/2014/main" id="{4ACBF180-DF85-44A4-A3DF-F0954168CA37}"/>
                </a:ext>
              </a:extLst>
            </p:cNvPr>
            <p:cNvSpPr>
              <a:spLocks noChangeArrowheads="1"/>
            </p:cNvSpPr>
            <p:nvPr/>
          </p:nvSpPr>
          <p:spPr bwMode="auto">
            <a:xfrm>
              <a:off x="3948114" y="1933576"/>
              <a:ext cx="237244" cy="138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00"/>
                  </a:solidFill>
                  <a:latin typeface="Arial Armenian"/>
                </a:rPr>
                <a:t>0.1V</a:t>
              </a:r>
              <a:endParaRPr lang="en-US" altLang="en-US" sz="1800"/>
            </a:p>
          </p:txBody>
        </p:sp>
        <p:sp>
          <p:nvSpPr>
            <p:cNvPr id="21583" name="Rectangle 60">
              <a:extLst>
                <a:ext uri="{FF2B5EF4-FFF2-40B4-BE49-F238E27FC236}">
                  <a16:creationId xmlns:a16="http://schemas.microsoft.com/office/drawing/2014/main" id="{6CAE0473-6932-4F95-B8C9-9BBB7A6E202A}"/>
                </a:ext>
              </a:extLst>
            </p:cNvPr>
            <p:cNvSpPr>
              <a:spLocks noChangeArrowheads="1"/>
            </p:cNvSpPr>
            <p:nvPr/>
          </p:nvSpPr>
          <p:spPr bwMode="auto">
            <a:xfrm>
              <a:off x="4176714" y="1987551"/>
              <a:ext cx="112210" cy="92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600">
                  <a:solidFill>
                    <a:srgbClr val="000000"/>
                  </a:solidFill>
                  <a:latin typeface="Arial Armenian"/>
                </a:rPr>
                <a:t>DD</a:t>
              </a:r>
              <a:endParaRPr lang="en-US" altLang="en-US" sz="1800"/>
            </a:p>
          </p:txBody>
        </p:sp>
        <p:sp>
          <p:nvSpPr>
            <p:cNvPr id="21584" name="Rectangle 61">
              <a:extLst>
                <a:ext uri="{FF2B5EF4-FFF2-40B4-BE49-F238E27FC236}">
                  <a16:creationId xmlns:a16="http://schemas.microsoft.com/office/drawing/2014/main" id="{3CA3756E-79F5-4B3A-B793-BA45E2BDDF89}"/>
                </a:ext>
              </a:extLst>
            </p:cNvPr>
            <p:cNvSpPr>
              <a:spLocks noChangeArrowheads="1"/>
            </p:cNvSpPr>
            <p:nvPr/>
          </p:nvSpPr>
          <p:spPr bwMode="auto">
            <a:xfrm>
              <a:off x="4130676" y="1524001"/>
              <a:ext cx="237244" cy="138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00"/>
                  </a:solidFill>
                  <a:latin typeface="Arial Armenian"/>
                </a:rPr>
                <a:t>0.9V</a:t>
              </a:r>
              <a:endParaRPr lang="en-US" altLang="en-US" sz="1800"/>
            </a:p>
          </p:txBody>
        </p:sp>
        <p:sp>
          <p:nvSpPr>
            <p:cNvPr id="21585" name="Rectangle 62">
              <a:extLst>
                <a:ext uri="{FF2B5EF4-FFF2-40B4-BE49-F238E27FC236}">
                  <a16:creationId xmlns:a16="http://schemas.microsoft.com/office/drawing/2014/main" id="{3B2C1521-A779-45B8-917B-4770E1953277}"/>
                </a:ext>
              </a:extLst>
            </p:cNvPr>
            <p:cNvSpPr>
              <a:spLocks noChangeArrowheads="1"/>
            </p:cNvSpPr>
            <p:nvPr/>
          </p:nvSpPr>
          <p:spPr bwMode="auto">
            <a:xfrm>
              <a:off x="4356101" y="1574801"/>
              <a:ext cx="112210" cy="92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600">
                  <a:solidFill>
                    <a:srgbClr val="000000"/>
                  </a:solidFill>
                  <a:latin typeface="Arial Armenian"/>
                </a:rPr>
                <a:t>DD</a:t>
              </a:r>
              <a:endParaRPr lang="en-US" altLang="en-US" sz="1800"/>
            </a:p>
          </p:txBody>
        </p:sp>
        <p:sp>
          <p:nvSpPr>
            <p:cNvPr id="21586" name="Freeform 63">
              <a:extLst>
                <a:ext uri="{FF2B5EF4-FFF2-40B4-BE49-F238E27FC236}">
                  <a16:creationId xmlns:a16="http://schemas.microsoft.com/office/drawing/2014/main" id="{8095C018-AE8A-47F3-8E7C-68DAC08B0ACB}"/>
                </a:ext>
              </a:extLst>
            </p:cNvPr>
            <p:cNvSpPr>
              <a:spLocks/>
            </p:cNvSpPr>
            <p:nvPr/>
          </p:nvSpPr>
          <p:spPr bwMode="auto">
            <a:xfrm>
              <a:off x="4365626" y="2028826"/>
              <a:ext cx="9525" cy="42863"/>
            </a:xfrm>
            <a:custGeom>
              <a:avLst/>
              <a:gdLst>
                <a:gd name="T0" fmla="*/ 9525 w 6"/>
                <a:gd name="T1" fmla="*/ 6350 h 27"/>
                <a:gd name="T2" fmla="*/ 3175 w 6"/>
                <a:gd name="T3" fmla="*/ 0 h 27"/>
                <a:gd name="T4" fmla="*/ 0 w 6"/>
                <a:gd name="T5" fmla="*/ 3175 h 27"/>
                <a:gd name="T6" fmla="*/ 0 w 6"/>
                <a:gd name="T7" fmla="*/ 39688 h 27"/>
                <a:gd name="T8" fmla="*/ 3175 w 6"/>
                <a:gd name="T9" fmla="*/ 42863 h 27"/>
                <a:gd name="T10" fmla="*/ 6350 w 6"/>
                <a:gd name="T11" fmla="*/ 42863 h 27"/>
                <a:gd name="T12" fmla="*/ 9525 w 6"/>
                <a:gd name="T13" fmla="*/ 39688 h 27"/>
                <a:gd name="T14" fmla="*/ 9525 w 6"/>
                <a:gd name="T15" fmla="*/ 6350 h 2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 h="27">
                  <a:moveTo>
                    <a:pt x="6" y="4"/>
                  </a:moveTo>
                  <a:lnTo>
                    <a:pt x="2" y="0"/>
                  </a:lnTo>
                  <a:lnTo>
                    <a:pt x="0" y="2"/>
                  </a:lnTo>
                  <a:lnTo>
                    <a:pt x="0" y="25"/>
                  </a:lnTo>
                  <a:lnTo>
                    <a:pt x="2" y="27"/>
                  </a:lnTo>
                  <a:lnTo>
                    <a:pt x="4" y="27"/>
                  </a:lnTo>
                  <a:lnTo>
                    <a:pt x="6" y="25"/>
                  </a:lnTo>
                  <a:lnTo>
                    <a:pt x="6"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87" name="Freeform 68">
              <a:extLst>
                <a:ext uri="{FF2B5EF4-FFF2-40B4-BE49-F238E27FC236}">
                  <a16:creationId xmlns:a16="http://schemas.microsoft.com/office/drawing/2014/main" id="{56563356-1216-453B-A38A-6A270596DD2A}"/>
                </a:ext>
              </a:extLst>
            </p:cNvPr>
            <p:cNvSpPr>
              <a:spLocks/>
            </p:cNvSpPr>
            <p:nvPr/>
          </p:nvSpPr>
          <p:spPr bwMode="auto">
            <a:xfrm>
              <a:off x="4537076" y="1612901"/>
              <a:ext cx="9525" cy="42863"/>
            </a:xfrm>
            <a:custGeom>
              <a:avLst/>
              <a:gdLst>
                <a:gd name="T0" fmla="*/ 9525 w 6"/>
                <a:gd name="T1" fmla="*/ 6350 h 27"/>
                <a:gd name="T2" fmla="*/ 3175 w 6"/>
                <a:gd name="T3" fmla="*/ 0 h 27"/>
                <a:gd name="T4" fmla="*/ 0 w 6"/>
                <a:gd name="T5" fmla="*/ 3175 h 27"/>
                <a:gd name="T6" fmla="*/ 0 w 6"/>
                <a:gd name="T7" fmla="*/ 39688 h 27"/>
                <a:gd name="T8" fmla="*/ 3175 w 6"/>
                <a:gd name="T9" fmla="*/ 42863 h 27"/>
                <a:gd name="T10" fmla="*/ 6350 w 6"/>
                <a:gd name="T11" fmla="*/ 42863 h 27"/>
                <a:gd name="T12" fmla="*/ 9525 w 6"/>
                <a:gd name="T13" fmla="*/ 39688 h 27"/>
                <a:gd name="T14" fmla="*/ 9525 w 6"/>
                <a:gd name="T15" fmla="*/ 6350 h 2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 h="27">
                  <a:moveTo>
                    <a:pt x="6" y="4"/>
                  </a:moveTo>
                  <a:lnTo>
                    <a:pt x="2" y="0"/>
                  </a:lnTo>
                  <a:lnTo>
                    <a:pt x="0" y="2"/>
                  </a:lnTo>
                  <a:lnTo>
                    <a:pt x="0" y="25"/>
                  </a:lnTo>
                  <a:lnTo>
                    <a:pt x="2" y="27"/>
                  </a:lnTo>
                  <a:lnTo>
                    <a:pt x="4" y="27"/>
                  </a:lnTo>
                  <a:lnTo>
                    <a:pt x="6" y="25"/>
                  </a:lnTo>
                  <a:lnTo>
                    <a:pt x="6"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88" name="Line 81">
              <a:extLst>
                <a:ext uri="{FF2B5EF4-FFF2-40B4-BE49-F238E27FC236}">
                  <a16:creationId xmlns:a16="http://schemas.microsoft.com/office/drawing/2014/main" id="{7F603B01-7C19-46EE-98E0-B702768D2CB3}"/>
                </a:ext>
              </a:extLst>
            </p:cNvPr>
            <p:cNvSpPr>
              <a:spLocks noChangeShapeType="1"/>
            </p:cNvSpPr>
            <p:nvPr/>
          </p:nvSpPr>
          <p:spPr bwMode="auto">
            <a:xfrm>
              <a:off x="4130676" y="2216151"/>
              <a:ext cx="171450" cy="0"/>
            </a:xfrm>
            <a:prstGeom prst="line">
              <a:avLst/>
            </a:prstGeom>
            <a:noFill/>
            <a:ln w="6">
              <a:solidFill>
                <a:srgbClr val="0000FF"/>
              </a:solidFill>
              <a:round/>
              <a:headEnd/>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21589" name="Line 83">
              <a:extLst>
                <a:ext uri="{FF2B5EF4-FFF2-40B4-BE49-F238E27FC236}">
                  <a16:creationId xmlns:a16="http://schemas.microsoft.com/office/drawing/2014/main" id="{3828188F-D807-482A-8828-11256934E89A}"/>
                </a:ext>
              </a:extLst>
            </p:cNvPr>
            <p:cNvSpPr>
              <a:spLocks noChangeShapeType="1"/>
            </p:cNvSpPr>
            <p:nvPr/>
          </p:nvSpPr>
          <p:spPr bwMode="auto">
            <a:xfrm flipH="1">
              <a:off x="4603751" y="2219326"/>
              <a:ext cx="171450" cy="0"/>
            </a:xfrm>
            <a:prstGeom prst="line">
              <a:avLst/>
            </a:prstGeom>
            <a:noFill/>
            <a:ln w="6">
              <a:solidFill>
                <a:srgbClr val="0000FF"/>
              </a:solidFill>
              <a:round/>
              <a:headEnd/>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21590" name="Rectangle 85">
              <a:extLst>
                <a:ext uri="{FF2B5EF4-FFF2-40B4-BE49-F238E27FC236}">
                  <a16:creationId xmlns:a16="http://schemas.microsoft.com/office/drawing/2014/main" id="{9EA84A44-48D7-4976-9280-520550C39FD7}"/>
                </a:ext>
              </a:extLst>
            </p:cNvPr>
            <p:cNvSpPr>
              <a:spLocks noChangeArrowheads="1"/>
            </p:cNvSpPr>
            <p:nvPr/>
          </p:nvSpPr>
          <p:spPr bwMode="auto">
            <a:xfrm>
              <a:off x="4398964" y="2092326"/>
              <a:ext cx="51296" cy="184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b="1">
                  <a:solidFill>
                    <a:srgbClr val="3333CC"/>
                  </a:solidFill>
                  <a:latin typeface="Arial Armenian"/>
                </a:rPr>
                <a:t>t</a:t>
              </a:r>
              <a:endParaRPr lang="en-US" altLang="en-US" sz="1800"/>
            </a:p>
          </p:txBody>
        </p:sp>
        <p:sp>
          <p:nvSpPr>
            <p:cNvPr id="21591" name="Rectangle 86">
              <a:extLst>
                <a:ext uri="{FF2B5EF4-FFF2-40B4-BE49-F238E27FC236}">
                  <a16:creationId xmlns:a16="http://schemas.microsoft.com/office/drawing/2014/main" id="{B1E9DB3B-DE15-4BF2-BDD0-B84C15D97377}"/>
                </a:ext>
              </a:extLst>
            </p:cNvPr>
            <p:cNvSpPr>
              <a:spLocks noChangeArrowheads="1"/>
            </p:cNvSpPr>
            <p:nvPr/>
          </p:nvSpPr>
          <p:spPr bwMode="auto">
            <a:xfrm>
              <a:off x="4448176" y="2160588"/>
              <a:ext cx="73738" cy="12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b="1">
                  <a:solidFill>
                    <a:srgbClr val="3333CC"/>
                  </a:solidFill>
                  <a:latin typeface="Arial Armenian"/>
                </a:rPr>
                <a:t>R</a:t>
              </a:r>
              <a:endParaRPr lang="en-US" altLang="en-US" sz="1800"/>
            </a:p>
          </p:txBody>
        </p:sp>
        <p:sp>
          <p:nvSpPr>
            <p:cNvPr id="21592" name="Rectangle 87">
              <a:extLst>
                <a:ext uri="{FF2B5EF4-FFF2-40B4-BE49-F238E27FC236}">
                  <a16:creationId xmlns:a16="http://schemas.microsoft.com/office/drawing/2014/main" id="{0364F736-FF63-4CE8-A5D2-AC191406FD3D}"/>
                </a:ext>
              </a:extLst>
            </p:cNvPr>
            <p:cNvSpPr>
              <a:spLocks noChangeArrowheads="1"/>
            </p:cNvSpPr>
            <p:nvPr/>
          </p:nvSpPr>
          <p:spPr bwMode="auto">
            <a:xfrm>
              <a:off x="4668839" y="1398588"/>
              <a:ext cx="102592" cy="184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000000"/>
                  </a:solidFill>
                  <a:latin typeface="Arial Armenian"/>
                </a:rPr>
                <a:t>V</a:t>
              </a:r>
              <a:endParaRPr lang="en-US" altLang="en-US" sz="1800"/>
            </a:p>
          </p:txBody>
        </p:sp>
        <p:sp>
          <p:nvSpPr>
            <p:cNvPr id="21593" name="Rectangle 88">
              <a:extLst>
                <a:ext uri="{FF2B5EF4-FFF2-40B4-BE49-F238E27FC236}">
                  <a16:creationId xmlns:a16="http://schemas.microsoft.com/office/drawing/2014/main" id="{E0A4323F-08AA-447A-A9CE-2B419605E13B}"/>
                </a:ext>
              </a:extLst>
            </p:cNvPr>
            <p:cNvSpPr>
              <a:spLocks noChangeArrowheads="1"/>
            </p:cNvSpPr>
            <p:nvPr/>
          </p:nvSpPr>
          <p:spPr bwMode="auto">
            <a:xfrm>
              <a:off x="4775201" y="1457326"/>
              <a:ext cx="147476" cy="12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a:solidFill>
                    <a:srgbClr val="000000"/>
                  </a:solidFill>
                  <a:latin typeface="Arial Armenian"/>
                </a:rPr>
                <a:t>DD</a:t>
              </a:r>
              <a:endParaRPr lang="en-US" altLang="en-US" sz="1800"/>
            </a:p>
          </p:txBody>
        </p:sp>
        <p:sp>
          <p:nvSpPr>
            <p:cNvPr id="229" name="Rectangle 90">
              <a:extLst>
                <a:ext uri="{FF2B5EF4-FFF2-40B4-BE49-F238E27FC236}">
                  <a16:creationId xmlns:a16="http://schemas.microsoft.com/office/drawing/2014/main" id="{75DD3859-A315-4521-97C4-CBE52673D0FB}"/>
                </a:ext>
              </a:extLst>
            </p:cNvPr>
            <p:cNvSpPr>
              <a:spLocks noChangeArrowheads="1"/>
            </p:cNvSpPr>
            <p:nvPr/>
          </p:nvSpPr>
          <p:spPr bwMode="auto">
            <a:xfrm>
              <a:off x="3851276" y="4011117"/>
              <a:ext cx="436563" cy="15872"/>
            </a:xfrm>
            <a:prstGeom prst="rect">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230" name="Freeform 91">
              <a:extLst>
                <a:ext uri="{FF2B5EF4-FFF2-40B4-BE49-F238E27FC236}">
                  <a16:creationId xmlns:a16="http://schemas.microsoft.com/office/drawing/2014/main" id="{C3A14F0F-9602-4122-BB58-DC681F93B194}"/>
                </a:ext>
              </a:extLst>
            </p:cNvPr>
            <p:cNvSpPr>
              <a:spLocks/>
            </p:cNvSpPr>
            <p:nvPr/>
          </p:nvSpPr>
          <p:spPr bwMode="auto">
            <a:xfrm>
              <a:off x="4281489" y="3623840"/>
              <a:ext cx="236537" cy="398386"/>
            </a:xfrm>
            <a:custGeom>
              <a:avLst/>
              <a:gdLst>
                <a:gd name="T0" fmla="*/ 0 w 149"/>
                <a:gd name="T1" fmla="*/ 248 h 251"/>
                <a:gd name="T2" fmla="*/ 10 w 149"/>
                <a:gd name="T3" fmla="*/ 251 h 251"/>
                <a:gd name="T4" fmla="*/ 149 w 149"/>
                <a:gd name="T5" fmla="*/ 4 h 251"/>
                <a:gd name="T6" fmla="*/ 139 w 149"/>
                <a:gd name="T7" fmla="*/ 0 h 251"/>
                <a:gd name="T8" fmla="*/ 0 w 149"/>
                <a:gd name="T9" fmla="*/ 248 h 251"/>
              </a:gdLst>
              <a:ahLst/>
              <a:cxnLst>
                <a:cxn ang="0">
                  <a:pos x="T0" y="T1"/>
                </a:cxn>
                <a:cxn ang="0">
                  <a:pos x="T2" y="T3"/>
                </a:cxn>
                <a:cxn ang="0">
                  <a:pos x="T4" y="T5"/>
                </a:cxn>
                <a:cxn ang="0">
                  <a:pos x="T6" y="T7"/>
                </a:cxn>
                <a:cxn ang="0">
                  <a:pos x="T8" y="T9"/>
                </a:cxn>
              </a:cxnLst>
              <a:rect l="0" t="0" r="r" b="b"/>
              <a:pathLst>
                <a:path w="149" h="251">
                  <a:moveTo>
                    <a:pt x="0" y="248"/>
                  </a:moveTo>
                  <a:lnTo>
                    <a:pt x="10" y="251"/>
                  </a:lnTo>
                  <a:lnTo>
                    <a:pt x="149" y="4"/>
                  </a:lnTo>
                  <a:lnTo>
                    <a:pt x="139" y="0"/>
                  </a:lnTo>
                  <a:lnTo>
                    <a:pt x="0" y="248"/>
                  </a:lnTo>
                  <a:close/>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231" name="Rectangle 92">
              <a:extLst>
                <a:ext uri="{FF2B5EF4-FFF2-40B4-BE49-F238E27FC236}">
                  <a16:creationId xmlns:a16="http://schemas.microsoft.com/office/drawing/2014/main" id="{DA3ACDC5-3218-4AEE-8AC9-4A9D78ABFBC4}"/>
                </a:ext>
              </a:extLst>
            </p:cNvPr>
            <p:cNvSpPr>
              <a:spLocks noChangeArrowheads="1"/>
            </p:cNvSpPr>
            <p:nvPr/>
          </p:nvSpPr>
          <p:spPr bwMode="auto">
            <a:xfrm>
              <a:off x="4508501" y="3619078"/>
              <a:ext cx="547688" cy="15872"/>
            </a:xfrm>
            <a:prstGeom prst="rect">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21597" name="Line 93">
              <a:extLst>
                <a:ext uri="{FF2B5EF4-FFF2-40B4-BE49-F238E27FC236}">
                  <a16:creationId xmlns:a16="http://schemas.microsoft.com/office/drawing/2014/main" id="{B844B690-5334-41DB-B0B2-9B961CBE385F}"/>
                </a:ext>
              </a:extLst>
            </p:cNvPr>
            <p:cNvSpPr>
              <a:spLocks noChangeShapeType="1"/>
            </p:cNvSpPr>
            <p:nvPr/>
          </p:nvSpPr>
          <p:spPr bwMode="auto">
            <a:xfrm>
              <a:off x="4362451" y="3784601"/>
              <a:ext cx="109538" cy="0"/>
            </a:xfrm>
            <a:prstGeom prst="line">
              <a:avLst/>
            </a:prstGeom>
            <a:noFill/>
            <a:ln w="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98" name="Freeform 94">
              <a:extLst>
                <a:ext uri="{FF2B5EF4-FFF2-40B4-BE49-F238E27FC236}">
                  <a16:creationId xmlns:a16="http://schemas.microsoft.com/office/drawing/2014/main" id="{4087CFCC-CED8-4343-B2FE-6013A59D6B36}"/>
                </a:ext>
              </a:extLst>
            </p:cNvPr>
            <p:cNvSpPr>
              <a:spLocks/>
            </p:cNvSpPr>
            <p:nvPr/>
          </p:nvSpPr>
          <p:spPr bwMode="auto">
            <a:xfrm>
              <a:off x="4413251" y="3781426"/>
              <a:ext cx="9525" cy="36513"/>
            </a:xfrm>
            <a:custGeom>
              <a:avLst/>
              <a:gdLst>
                <a:gd name="T0" fmla="*/ 9525 w 6"/>
                <a:gd name="T1" fmla="*/ 4763 h 23"/>
                <a:gd name="T2" fmla="*/ 3175 w 6"/>
                <a:gd name="T3" fmla="*/ 0 h 23"/>
                <a:gd name="T4" fmla="*/ 0 w 6"/>
                <a:gd name="T5" fmla="*/ 3175 h 23"/>
                <a:gd name="T6" fmla="*/ 0 w 6"/>
                <a:gd name="T7" fmla="*/ 33338 h 23"/>
                <a:gd name="T8" fmla="*/ 3175 w 6"/>
                <a:gd name="T9" fmla="*/ 36513 h 23"/>
                <a:gd name="T10" fmla="*/ 6350 w 6"/>
                <a:gd name="T11" fmla="*/ 36513 h 23"/>
                <a:gd name="T12" fmla="*/ 9525 w 6"/>
                <a:gd name="T13" fmla="*/ 33338 h 23"/>
                <a:gd name="T14" fmla="*/ 9525 w 6"/>
                <a:gd name="T15" fmla="*/ 4763 h 2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 h="23">
                  <a:moveTo>
                    <a:pt x="6" y="3"/>
                  </a:moveTo>
                  <a:lnTo>
                    <a:pt x="2" y="0"/>
                  </a:lnTo>
                  <a:lnTo>
                    <a:pt x="0" y="2"/>
                  </a:lnTo>
                  <a:lnTo>
                    <a:pt x="0" y="21"/>
                  </a:lnTo>
                  <a:lnTo>
                    <a:pt x="2" y="23"/>
                  </a:lnTo>
                  <a:lnTo>
                    <a:pt x="4" y="23"/>
                  </a:lnTo>
                  <a:lnTo>
                    <a:pt x="6" y="21"/>
                  </a:lnTo>
                  <a:lnTo>
                    <a:pt x="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99" name="Line 109">
              <a:extLst>
                <a:ext uri="{FF2B5EF4-FFF2-40B4-BE49-F238E27FC236}">
                  <a16:creationId xmlns:a16="http://schemas.microsoft.com/office/drawing/2014/main" id="{6F1392C7-E0AE-44B4-8BC2-4A443B5D3D73}"/>
                </a:ext>
              </a:extLst>
            </p:cNvPr>
            <p:cNvSpPr>
              <a:spLocks noChangeShapeType="1"/>
            </p:cNvSpPr>
            <p:nvPr/>
          </p:nvSpPr>
          <p:spPr bwMode="auto">
            <a:xfrm>
              <a:off x="4162426" y="4332288"/>
              <a:ext cx="160338" cy="0"/>
            </a:xfrm>
            <a:prstGeom prst="line">
              <a:avLst/>
            </a:prstGeom>
            <a:noFill/>
            <a:ln w="5">
              <a:solidFill>
                <a:srgbClr val="0000FF"/>
              </a:solidFill>
              <a:round/>
              <a:headEnd/>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21600" name="Line 111">
              <a:extLst>
                <a:ext uri="{FF2B5EF4-FFF2-40B4-BE49-F238E27FC236}">
                  <a16:creationId xmlns:a16="http://schemas.microsoft.com/office/drawing/2014/main" id="{F0D1427E-5F35-4D8D-848B-115810372558}"/>
                </a:ext>
              </a:extLst>
            </p:cNvPr>
            <p:cNvSpPr>
              <a:spLocks noChangeShapeType="1"/>
            </p:cNvSpPr>
            <p:nvPr/>
          </p:nvSpPr>
          <p:spPr bwMode="auto">
            <a:xfrm flipH="1">
              <a:off x="4465638" y="4332288"/>
              <a:ext cx="161925" cy="0"/>
            </a:xfrm>
            <a:prstGeom prst="line">
              <a:avLst/>
            </a:prstGeom>
            <a:noFill/>
            <a:ln w="5">
              <a:solidFill>
                <a:srgbClr val="0000FF"/>
              </a:solidFill>
              <a:round/>
              <a:headEnd/>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21601" name="Rectangle 113">
              <a:extLst>
                <a:ext uri="{FF2B5EF4-FFF2-40B4-BE49-F238E27FC236}">
                  <a16:creationId xmlns:a16="http://schemas.microsoft.com/office/drawing/2014/main" id="{E1BF6EC5-BA2D-4C0E-B1D1-D7F6295F0D99}"/>
                </a:ext>
              </a:extLst>
            </p:cNvPr>
            <p:cNvSpPr>
              <a:spLocks noChangeArrowheads="1"/>
            </p:cNvSpPr>
            <p:nvPr/>
          </p:nvSpPr>
          <p:spPr bwMode="auto">
            <a:xfrm>
              <a:off x="4481513" y="4192588"/>
              <a:ext cx="43282" cy="153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000" b="1">
                  <a:solidFill>
                    <a:srgbClr val="3333CC"/>
                  </a:solidFill>
                  <a:latin typeface="Arial Armenian"/>
                </a:rPr>
                <a:t>t</a:t>
              </a:r>
              <a:endParaRPr lang="en-US" altLang="en-US" sz="1800"/>
            </a:p>
          </p:txBody>
        </p:sp>
        <p:sp>
          <p:nvSpPr>
            <p:cNvPr id="21602" name="Rectangle 114">
              <a:extLst>
                <a:ext uri="{FF2B5EF4-FFF2-40B4-BE49-F238E27FC236}">
                  <a16:creationId xmlns:a16="http://schemas.microsoft.com/office/drawing/2014/main" id="{1C0DCF4D-23C3-4A10-926F-79B6B28F5F7D}"/>
                </a:ext>
              </a:extLst>
            </p:cNvPr>
            <p:cNvSpPr>
              <a:spLocks noChangeArrowheads="1"/>
            </p:cNvSpPr>
            <p:nvPr/>
          </p:nvSpPr>
          <p:spPr bwMode="auto">
            <a:xfrm>
              <a:off x="4530726" y="4246563"/>
              <a:ext cx="177934" cy="107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700" b="1">
                  <a:solidFill>
                    <a:srgbClr val="3333CC"/>
                  </a:solidFill>
                  <a:latin typeface="Arial Armenian"/>
                </a:rPr>
                <a:t>PLH</a:t>
              </a:r>
              <a:endParaRPr lang="en-US" altLang="en-US" sz="1800"/>
            </a:p>
          </p:txBody>
        </p:sp>
        <p:sp>
          <p:nvSpPr>
            <p:cNvPr id="238" name="Rectangle 115">
              <a:extLst>
                <a:ext uri="{FF2B5EF4-FFF2-40B4-BE49-F238E27FC236}">
                  <a16:creationId xmlns:a16="http://schemas.microsoft.com/office/drawing/2014/main" id="{A4547D74-FB7F-428A-B583-C3962835BD51}"/>
                </a:ext>
              </a:extLst>
            </p:cNvPr>
            <p:cNvSpPr>
              <a:spLocks noChangeArrowheads="1"/>
            </p:cNvSpPr>
            <p:nvPr/>
          </p:nvSpPr>
          <p:spPr bwMode="auto">
            <a:xfrm>
              <a:off x="3814764" y="4414265"/>
              <a:ext cx="439737" cy="15872"/>
            </a:xfrm>
            <a:prstGeom prst="rect">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239" name="Rectangle 117">
              <a:extLst>
                <a:ext uri="{FF2B5EF4-FFF2-40B4-BE49-F238E27FC236}">
                  <a16:creationId xmlns:a16="http://schemas.microsoft.com/office/drawing/2014/main" id="{22556BEB-57EC-4107-9D87-C045936F5881}"/>
                </a:ext>
              </a:extLst>
            </p:cNvPr>
            <p:cNvSpPr>
              <a:spLocks noChangeArrowheads="1"/>
            </p:cNvSpPr>
            <p:nvPr/>
          </p:nvSpPr>
          <p:spPr bwMode="auto">
            <a:xfrm>
              <a:off x="4471989" y="4025401"/>
              <a:ext cx="547687" cy="15872"/>
            </a:xfrm>
            <a:prstGeom prst="rect">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21605" name="Line 118">
              <a:extLst>
                <a:ext uri="{FF2B5EF4-FFF2-40B4-BE49-F238E27FC236}">
                  <a16:creationId xmlns:a16="http://schemas.microsoft.com/office/drawing/2014/main" id="{422D1AD7-5C3B-4ABF-97AA-40A11CF18397}"/>
                </a:ext>
              </a:extLst>
            </p:cNvPr>
            <p:cNvSpPr>
              <a:spLocks noChangeShapeType="1"/>
            </p:cNvSpPr>
            <p:nvPr/>
          </p:nvSpPr>
          <p:spPr bwMode="auto">
            <a:xfrm>
              <a:off x="4291013" y="4191000"/>
              <a:ext cx="107950" cy="0"/>
            </a:xfrm>
            <a:prstGeom prst="line">
              <a:avLst/>
            </a:prstGeom>
            <a:noFill/>
            <a:ln w="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06" name="Rectangle 126">
              <a:extLst>
                <a:ext uri="{FF2B5EF4-FFF2-40B4-BE49-F238E27FC236}">
                  <a16:creationId xmlns:a16="http://schemas.microsoft.com/office/drawing/2014/main" id="{3780B33A-78DC-42CC-9A58-D7FBC1F1C500}"/>
                </a:ext>
              </a:extLst>
            </p:cNvPr>
            <p:cNvSpPr>
              <a:spLocks noChangeArrowheads="1"/>
            </p:cNvSpPr>
            <p:nvPr/>
          </p:nvSpPr>
          <p:spPr bwMode="auto">
            <a:xfrm>
              <a:off x="4033838" y="3713163"/>
              <a:ext cx="213200" cy="12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a:solidFill>
                    <a:srgbClr val="000000"/>
                  </a:solidFill>
                  <a:latin typeface="Arial Armenian"/>
                </a:rPr>
                <a:t>0.5V</a:t>
              </a:r>
              <a:endParaRPr lang="en-US" altLang="en-US" sz="1800"/>
            </a:p>
          </p:txBody>
        </p:sp>
        <p:sp>
          <p:nvSpPr>
            <p:cNvPr id="21607" name="Rectangle 127">
              <a:extLst>
                <a:ext uri="{FF2B5EF4-FFF2-40B4-BE49-F238E27FC236}">
                  <a16:creationId xmlns:a16="http://schemas.microsoft.com/office/drawing/2014/main" id="{35D54EB6-AAE9-48EA-86D3-525009BD4D1B}"/>
                </a:ext>
              </a:extLst>
            </p:cNvPr>
            <p:cNvSpPr>
              <a:spLocks noChangeArrowheads="1"/>
            </p:cNvSpPr>
            <p:nvPr/>
          </p:nvSpPr>
          <p:spPr bwMode="auto">
            <a:xfrm>
              <a:off x="4260851" y="3759201"/>
              <a:ext cx="92974" cy="76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500">
                  <a:solidFill>
                    <a:srgbClr val="000000"/>
                  </a:solidFill>
                  <a:latin typeface="Arial Armenian"/>
                </a:rPr>
                <a:t>DD</a:t>
              </a:r>
              <a:endParaRPr lang="en-US" altLang="en-US" sz="1800"/>
            </a:p>
          </p:txBody>
        </p:sp>
        <p:sp>
          <p:nvSpPr>
            <p:cNvPr id="21608" name="Rectangle 128">
              <a:extLst>
                <a:ext uri="{FF2B5EF4-FFF2-40B4-BE49-F238E27FC236}">
                  <a16:creationId xmlns:a16="http://schemas.microsoft.com/office/drawing/2014/main" id="{B2CA1712-5CCB-4AEF-8C6F-740794B67AB8}"/>
                </a:ext>
              </a:extLst>
            </p:cNvPr>
            <p:cNvSpPr>
              <a:spLocks noChangeArrowheads="1"/>
            </p:cNvSpPr>
            <p:nvPr/>
          </p:nvSpPr>
          <p:spPr bwMode="auto">
            <a:xfrm>
              <a:off x="3930651" y="4043363"/>
              <a:ext cx="213200" cy="12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a:solidFill>
                    <a:srgbClr val="000000"/>
                  </a:solidFill>
                  <a:latin typeface="Arial Armenian"/>
                </a:rPr>
                <a:t>0.5V</a:t>
              </a:r>
              <a:endParaRPr lang="en-US" altLang="en-US" sz="1800"/>
            </a:p>
          </p:txBody>
        </p:sp>
        <p:sp>
          <p:nvSpPr>
            <p:cNvPr id="21609" name="Rectangle 129">
              <a:extLst>
                <a:ext uri="{FF2B5EF4-FFF2-40B4-BE49-F238E27FC236}">
                  <a16:creationId xmlns:a16="http://schemas.microsoft.com/office/drawing/2014/main" id="{B581506E-60A8-491C-B2A2-93636BF88C77}"/>
                </a:ext>
              </a:extLst>
            </p:cNvPr>
            <p:cNvSpPr>
              <a:spLocks noChangeArrowheads="1"/>
            </p:cNvSpPr>
            <p:nvPr/>
          </p:nvSpPr>
          <p:spPr bwMode="auto">
            <a:xfrm>
              <a:off x="4165601" y="4097338"/>
              <a:ext cx="92974" cy="76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500">
                  <a:solidFill>
                    <a:srgbClr val="000000"/>
                  </a:solidFill>
                  <a:latin typeface="Arial Armenian"/>
                </a:rPr>
                <a:t>DD</a:t>
              </a:r>
              <a:endParaRPr lang="en-US" altLang="en-US" sz="1800"/>
            </a:p>
          </p:txBody>
        </p:sp>
        <p:sp>
          <p:nvSpPr>
            <p:cNvPr id="21610" name="Rectangle 130">
              <a:extLst>
                <a:ext uri="{FF2B5EF4-FFF2-40B4-BE49-F238E27FC236}">
                  <a16:creationId xmlns:a16="http://schemas.microsoft.com/office/drawing/2014/main" id="{8E9B5745-399C-4537-AECF-1441978F4CBE}"/>
                </a:ext>
              </a:extLst>
            </p:cNvPr>
            <p:cNvSpPr>
              <a:spLocks noChangeArrowheads="1"/>
            </p:cNvSpPr>
            <p:nvPr/>
          </p:nvSpPr>
          <p:spPr bwMode="auto">
            <a:xfrm>
              <a:off x="4646613" y="3481388"/>
              <a:ext cx="102592" cy="12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a:solidFill>
                    <a:srgbClr val="000000"/>
                  </a:solidFill>
                  <a:latin typeface="Arial Armenian"/>
                </a:rPr>
                <a:t>IN</a:t>
              </a:r>
              <a:endParaRPr lang="en-US" altLang="en-US" sz="1800"/>
            </a:p>
          </p:txBody>
        </p:sp>
        <p:sp>
          <p:nvSpPr>
            <p:cNvPr id="21611" name="Rectangle 131">
              <a:extLst>
                <a:ext uri="{FF2B5EF4-FFF2-40B4-BE49-F238E27FC236}">
                  <a16:creationId xmlns:a16="http://schemas.microsoft.com/office/drawing/2014/main" id="{DA634B05-5A67-4D55-B816-E71DE696F145}"/>
                </a:ext>
              </a:extLst>
            </p:cNvPr>
            <p:cNvSpPr>
              <a:spLocks noChangeArrowheads="1"/>
            </p:cNvSpPr>
            <p:nvPr/>
          </p:nvSpPr>
          <p:spPr bwMode="auto">
            <a:xfrm>
              <a:off x="4600576" y="3779838"/>
              <a:ext cx="80150" cy="12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a:solidFill>
                    <a:srgbClr val="000000"/>
                  </a:solidFill>
                  <a:latin typeface="Arial Armenian"/>
                </a:rPr>
                <a:t>O</a:t>
              </a:r>
              <a:endParaRPr lang="en-US" altLang="en-US" sz="1800"/>
            </a:p>
          </p:txBody>
        </p:sp>
        <p:sp>
          <p:nvSpPr>
            <p:cNvPr id="21612" name="Rectangle 132">
              <a:extLst>
                <a:ext uri="{FF2B5EF4-FFF2-40B4-BE49-F238E27FC236}">
                  <a16:creationId xmlns:a16="http://schemas.microsoft.com/office/drawing/2014/main" id="{E4C797D8-1E95-4431-8807-5FD8BFD18BDF}"/>
                </a:ext>
              </a:extLst>
            </p:cNvPr>
            <p:cNvSpPr>
              <a:spLocks noChangeArrowheads="1"/>
            </p:cNvSpPr>
            <p:nvPr/>
          </p:nvSpPr>
          <p:spPr bwMode="auto">
            <a:xfrm>
              <a:off x="4683126" y="3779838"/>
              <a:ext cx="136256" cy="12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a:solidFill>
                    <a:srgbClr val="000000"/>
                  </a:solidFill>
                  <a:latin typeface="Arial Armenian"/>
                </a:rPr>
                <a:t>UT</a:t>
              </a:r>
              <a:endParaRPr lang="en-US" altLang="en-US" sz="1800"/>
            </a:p>
          </p:txBody>
        </p:sp>
        <p:sp>
          <p:nvSpPr>
            <p:cNvPr id="248" name="Rectangle 134">
              <a:extLst>
                <a:ext uri="{FF2B5EF4-FFF2-40B4-BE49-F238E27FC236}">
                  <a16:creationId xmlns:a16="http://schemas.microsoft.com/office/drawing/2014/main" id="{627A062D-7DDE-4690-B5FF-7C3C6ECC2044}"/>
                </a:ext>
              </a:extLst>
            </p:cNvPr>
            <p:cNvSpPr>
              <a:spLocks noChangeArrowheads="1"/>
            </p:cNvSpPr>
            <p:nvPr/>
          </p:nvSpPr>
          <p:spPr bwMode="auto">
            <a:xfrm>
              <a:off x="4738689" y="5109458"/>
              <a:ext cx="398462" cy="14284"/>
            </a:xfrm>
            <a:prstGeom prst="rect">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249" name="Freeform 135">
              <a:extLst>
                <a:ext uri="{FF2B5EF4-FFF2-40B4-BE49-F238E27FC236}">
                  <a16:creationId xmlns:a16="http://schemas.microsoft.com/office/drawing/2014/main" id="{2CE72F70-22F6-4F93-B9CC-19B89C8C4B8B}"/>
                </a:ext>
              </a:extLst>
            </p:cNvPr>
            <p:cNvSpPr>
              <a:spLocks/>
            </p:cNvSpPr>
            <p:nvPr/>
          </p:nvSpPr>
          <p:spPr bwMode="auto">
            <a:xfrm>
              <a:off x="4537076" y="4753926"/>
              <a:ext cx="209550" cy="365056"/>
            </a:xfrm>
            <a:custGeom>
              <a:avLst/>
              <a:gdLst>
                <a:gd name="T0" fmla="*/ 125 w 132"/>
                <a:gd name="T1" fmla="*/ 230 h 230"/>
                <a:gd name="T2" fmla="*/ 132 w 132"/>
                <a:gd name="T3" fmla="*/ 227 h 230"/>
                <a:gd name="T4" fmla="*/ 7 w 132"/>
                <a:gd name="T5" fmla="*/ 0 h 230"/>
                <a:gd name="T6" fmla="*/ 0 w 132"/>
                <a:gd name="T7" fmla="*/ 3 h 230"/>
                <a:gd name="T8" fmla="*/ 125 w 132"/>
                <a:gd name="T9" fmla="*/ 230 h 230"/>
              </a:gdLst>
              <a:ahLst/>
              <a:cxnLst>
                <a:cxn ang="0">
                  <a:pos x="T0" y="T1"/>
                </a:cxn>
                <a:cxn ang="0">
                  <a:pos x="T2" y="T3"/>
                </a:cxn>
                <a:cxn ang="0">
                  <a:pos x="T4" y="T5"/>
                </a:cxn>
                <a:cxn ang="0">
                  <a:pos x="T6" y="T7"/>
                </a:cxn>
                <a:cxn ang="0">
                  <a:pos x="T8" y="T9"/>
                </a:cxn>
              </a:cxnLst>
              <a:rect l="0" t="0" r="r" b="b"/>
              <a:pathLst>
                <a:path w="132" h="230">
                  <a:moveTo>
                    <a:pt x="125" y="230"/>
                  </a:moveTo>
                  <a:lnTo>
                    <a:pt x="132" y="227"/>
                  </a:lnTo>
                  <a:lnTo>
                    <a:pt x="7" y="0"/>
                  </a:lnTo>
                  <a:lnTo>
                    <a:pt x="0" y="3"/>
                  </a:lnTo>
                  <a:lnTo>
                    <a:pt x="125" y="230"/>
                  </a:lnTo>
                  <a:close/>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250" name="Rectangle 136">
              <a:extLst>
                <a:ext uri="{FF2B5EF4-FFF2-40B4-BE49-F238E27FC236}">
                  <a16:creationId xmlns:a16="http://schemas.microsoft.com/office/drawing/2014/main" id="{1D72B0EA-0F14-4523-A4C6-73F8A83115DB}"/>
                </a:ext>
              </a:extLst>
            </p:cNvPr>
            <p:cNvSpPr>
              <a:spLocks noChangeArrowheads="1"/>
            </p:cNvSpPr>
            <p:nvPr/>
          </p:nvSpPr>
          <p:spPr bwMode="auto">
            <a:xfrm>
              <a:off x="4044951" y="4749164"/>
              <a:ext cx="496888" cy="14285"/>
            </a:xfrm>
            <a:prstGeom prst="rect">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21616" name="Line 137">
              <a:extLst>
                <a:ext uri="{FF2B5EF4-FFF2-40B4-BE49-F238E27FC236}">
                  <a16:creationId xmlns:a16="http://schemas.microsoft.com/office/drawing/2014/main" id="{221A385E-A93F-433E-927E-5AAD98CC3AF2}"/>
                </a:ext>
              </a:extLst>
            </p:cNvPr>
            <p:cNvSpPr>
              <a:spLocks noChangeShapeType="1"/>
            </p:cNvSpPr>
            <p:nvPr/>
          </p:nvSpPr>
          <p:spPr bwMode="auto">
            <a:xfrm flipH="1">
              <a:off x="4575176" y="4900613"/>
              <a:ext cx="98425" cy="0"/>
            </a:xfrm>
            <a:prstGeom prst="line">
              <a:avLst/>
            </a:prstGeom>
            <a:noFill/>
            <a:ln w="4">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17" name="Freeform 138">
              <a:extLst>
                <a:ext uri="{FF2B5EF4-FFF2-40B4-BE49-F238E27FC236}">
                  <a16:creationId xmlns:a16="http://schemas.microsoft.com/office/drawing/2014/main" id="{A79D7B18-2707-41E9-B584-02ED2D48AB20}"/>
                </a:ext>
              </a:extLst>
            </p:cNvPr>
            <p:cNvSpPr>
              <a:spLocks/>
            </p:cNvSpPr>
            <p:nvPr/>
          </p:nvSpPr>
          <p:spPr bwMode="auto">
            <a:xfrm>
              <a:off x="4621213" y="4899026"/>
              <a:ext cx="7938" cy="31750"/>
            </a:xfrm>
            <a:custGeom>
              <a:avLst/>
              <a:gdLst>
                <a:gd name="T0" fmla="*/ 7938 w 5"/>
                <a:gd name="T1" fmla="*/ 4763 h 20"/>
                <a:gd name="T2" fmla="*/ 3175 w 5"/>
                <a:gd name="T3" fmla="*/ 0 h 20"/>
                <a:gd name="T4" fmla="*/ 0 w 5"/>
                <a:gd name="T5" fmla="*/ 1588 h 20"/>
                <a:gd name="T6" fmla="*/ 0 w 5"/>
                <a:gd name="T7" fmla="*/ 30163 h 20"/>
                <a:gd name="T8" fmla="*/ 3175 w 5"/>
                <a:gd name="T9" fmla="*/ 31750 h 20"/>
                <a:gd name="T10" fmla="*/ 4763 w 5"/>
                <a:gd name="T11" fmla="*/ 31750 h 20"/>
                <a:gd name="T12" fmla="*/ 7938 w 5"/>
                <a:gd name="T13" fmla="*/ 30163 h 20"/>
                <a:gd name="T14" fmla="*/ 7938 w 5"/>
                <a:gd name="T15" fmla="*/ 4763 h 2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 h="20">
                  <a:moveTo>
                    <a:pt x="5" y="3"/>
                  </a:moveTo>
                  <a:lnTo>
                    <a:pt x="2" y="0"/>
                  </a:lnTo>
                  <a:lnTo>
                    <a:pt x="0" y="1"/>
                  </a:lnTo>
                  <a:lnTo>
                    <a:pt x="0" y="19"/>
                  </a:lnTo>
                  <a:lnTo>
                    <a:pt x="2" y="20"/>
                  </a:lnTo>
                  <a:lnTo>
                    <a:pt x="3" y="20"/>
                  </a:lnTo>
                  <a:lnTo>
                    <a:pt x="5" y="19"/>
                  </a:lnTo>
                  <a:lnTo>
                    <a:pt x="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618" name="Line 153">
              <a:extLst>
                <a:ext uri="{FF2B5EF4-FFF2-40B4-BE49-F238E27FC236}">
                  <a16:creationId xmlns:a16="http://schemas.microsoft.com/office/drawing/2014/main" id="{763B874B-D0EF-407D-86E0-AFB398EB96A3}"/>
                </a:ext>
              </a:extLst>
            </p:cNvPr>
            <p:cNvSpPr>
              <a:spLocks noChangeShapeType="1"/>
            </p:cNvSpPr>
            <p:nvPr/>
          </p:nvSpPr>
          <p:spPr bwMode="auto">
            <a:xfrm flipH="1">
              <a:off x="4702176" y="5405438"/>
              <a:ext cx="152400" cy="0"/>
            </a:xfrm>
            <a:prstGeom prst="line">
              <a:avLst/>
            </a:prstGeom>
            <a:noFill/>
            <a:ln w="4">
              <a:solidFill>
                <a:srgbClr val="0000FF"/>
              </a:solidFill>
              <a:round/>
              <a:headEnd/>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21619" name="Line 155">
              <a:extLst>
                <a:ext uri="{FF2B5EF4-FFF2-40B4-BE49-F238E27FC236}">
                  <a16:creationId xmlns:a16="http://schemas.microsoft.com/office/drawing/2014/main" id="{FCB66EE9-6C42-436B-9BA7-D1C7078927CA}"/>
                </a:ext>
              </a:extLst>
            </p:cNvPr>
            <p:cNvSpPr>
              <a:spLocks noChangeShapeType="1"/>
            </p:cNvSpPr>
            <p:nvPr/>
          </p:nvSpPr>
          <p:spPr bwMode="auto">
            <a:xfrm>
              <a:off x="4433888" y="5405438"/>
              <a:ext cx="152400" cy="0"/>
            </a:xfrm>
            <a:prstGeom prst="line">
              <a:avLst/>
            </a:prstGeom>
            <a:noFill/>
            <a:ln w="4">
              <a:solidFill>
                <a:srgbClr val="0000FF"/>
              </a:solidFill>
              <a:round/>
              <a:headEnd/>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21620" name="Rectangle 157">
              <a:extLst>
                <a:ext uri="{FF2B5EF4-FFF2-40B4-BE49-F238E27FC236}">
                  <a16:creationId xmlns:a16="http://schemas.microsoft.com/office/drawing/2014/main" id="{1F90D7ED-B116-4767-B5D5-EC0071064299}"/>
                </a:ext>
              </a:extLst>
            </p:cNvPr>
            <p:cNvSpPr>
              <a:spLocks noChangeArrowheads="1"/>
            </p:cNvSpPr>
            <p:nvPr/>
          </p:nvSpPr>
          <p:spPr bwMode="auto">
            <a:xfrm>
              <a:off x="4419601" y="5251451"/>
              <a:ext cx="38472" cy="138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b="1">
                  <a:solidFill>
                    <a:srgbClr val="3333CC"/>
                  </a:solidFill>
                  <a:latin typeface="Arial Armenian"/>
                </a:rPr>
                <a:t>t</a:t>
              </a:r>
              <a:endParaRPr lang="en-US" altLang="en-US" sz="1800"/>
            </a:p>
          </p:txBody>
        </p:sp>
        <p:sp>
          <p:nvSpPr>
            <p:cNvPr id="21621" name="Rectangle 158">
              <a:extLst>
                <a:ext uri="{FF2B5EF4-FFF2-40B4-BE49-F238E27FC236}">
                  <a16:creationId xmlns:a16="http://schemas.microsoft.com/office/drawing/2014/main" id="{F0325C35-3E89-479E-ABAE-90DF62AC53F7}"/>
                </a:ext>
              </a:extLst>
            </p:cNvPr>
            <p:cNvSpPr>
              <a:spLocks noChangeArrowheads="1"/>
            </p:cNvSpPr>
            <p:nvPr/>
          </p:nvSpPr>
          <p:spPr bwMode="auto">
            <a:xfrm>
              <a:off x="4462463" y="5305426"/>
              <a:ext cx="153888" cy="92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600" b="1">
                  <a:solidFill>
                    <a:srgbClr val="3333CC"/>
                  </a:solidFill>
                  <a:latin typeface="Arial Armenian"/>
                </a:rPr>
                <a:t>PHL</a:t>
              </a:r>
              <a:endParaRPr lang="en-US" altLang="en-US" sz="1800"/>
            </a:p>
          </p:txBody>
        </p:sp>
        <p:sp>
          <p:nvSpPr>
            <p:cNvPr id="257" name="Rectangle 159">
              <a:extLst>
                <a:ext uri="{FF2B5EF4-FFF2-40B4-BE49-F238E27FC236}">
                  <a16:creationId xmlns:a16="http://schemas.microsoft.com/office/drawing/2014/main" id="{9B42146D-4BEC-455A-ABC6-330076616056}"/>
                </a:ext>
              </a:extLst>
            </p:cNvPr>
            <p:cNvSpPr>
              <a:spLocks noChangeArrowheads="1"/>
            </p:cNvSpPr>
            <p:nvPr/>
          </p:nvSpPr>
          <p:spPr bwMode="auto">
            <a:xfrm>
              <a:off x="4772026" y="5547525"/>
              <a:ext cx="395288" cy="14284"/>
            </a:xfrm>
            <a:prstGeom prst="rect">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258" name="Freeform 160">
              <a:extLst>
                <a:ext uri="{FF2B5EF4-FFF2-40B4-BE49-F238E27FC236}">
                  <a16:creationId xmlns:a16="http://schemas.microsoft.com/office/drawing/2014/main" id="{C87C3724-2ED7-45F7-BFD3-41A7A259D303}"/>
                </a:ext>
              </a:extLst>
            </p:cNvPr>
            <p:cNvSpPr>
              <a:spLocks/>
            </p:cNvSpPr>
            <p:nvPr/>
          </p:nvSpPr>
          <p:spPr bwMode="auto">
            <a:xfrm>
              <a:off x="4570414" y="5196754"/>
              <a:ext cx="209550" cy="365056"/>
            </a:xfrm>
            <a:custGeom>
              <a:avLst/>
              <a:gdLst>
                <a:gd name="T0" fmla="*/ 124 w 132"/>
                <a:gd name="T1" fmla="*/ 230 h 230"/>
                <a:gd name="T2" fmla="*/ 132 w 132"/>
                <a:gd name="T3" fmla="*/ 227 h 230"/>
                <a:gd name="T4" fmla="*/ 7 w 132"/>
                <a:gd name="T5" fmla="*/ 0 h 230"/>
                <a:gd name="T6" fmla="*/ 0 w 132"/>
                <a:gd name="T7" fmla="*/ 3 h 230"/>
                <a:gd name="T8" fmla="*/ 124 w 132"/>
                <a:gd name="T9" fmla="*/ 230 h 230"/>
              </a:gdLst>
              <a:ahLst/>
              <a:cxnLst>
                <a:cxn ang="0">
                  <a:pos x="T0" y="T1"/>
                </a:cxn>
                <a:cxn ang="0">
                  <a:pos x="T2" y="T3"/>
                </a:cxn>
                <a:cxn ang="0">
                  <a:pos x="T4" y="T5"/>
                </a:cxn>
                <a:cxn ang="0">
                  <a:pos x="T6" y="T7"/>
                </a:cxn>
                <a:cxn ang="0">
                  <a:pos x="T8" y="T9"/>
                </a:cxn>
              </a:cxnLst>
              <a:rect l="0" t="0" r="r" b="b"/>
              <a:pathLst>
                <a:path w="132" h="230">
                  <a:moveTo>
                    <a:pt x="124" y="230"/>
                  </a:moveTo>
                  <a:lnTo>
                    <a:pt x="132" y="227"/>
                  </a:lnTo>
                  <a:lnTo>
                    <a:pt x="7" y="0"/>
                  </a:lnTo>
                  <a:lnTo>
                    <a:pt x="0" y="3"/>
                  </a:lnTo>
                  <a:lnTo>
                    <a:pt x="124" y="230"/>
                  </a:lnTo>
                  <a:close/>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259" name="Rectangle 161">
              <a:extLst>
                <a:ext uri="{FF2B5EF4-FFF2-40B4-BE49-F238E27FC236}">
                  <a16:creationId xmlns:a16="http://schemas.microsoft.com/office/drawing/2014/main" id="{825D3074-0D5C-431D-93D6-41980ADA1B6B}"/>
                </a:ext>
              </a:extLst>
            </p:cNvPr>
            <p:cNvSpPr>
              <a:spLocks noChangeArrowheads="1"/>
            </p:cNvSpPr>
            <p:nvPr/>
          </p:nvSpPr>
          <p:spPr bwMode="auto">
            <a:xfrm>
              <a:off x="4078289" y="5187230"/>
              <a:ext cx="496887" cy="14285"/>
            </a:xfrm>
            <a:prstGeom prst="rect">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21625" name="Line 162">
              <a:extLst>
                <a:ext uri="{FF2B5EF4-FFF2-40B4-BE49-F238E27FC236}">
                  <a16:creationId xmlns:a16="http://schemas.microsoft.com/office/drawing/2014/main" id="{3E12B288-92BB-4536-819F-1DDC97F7B83F}"/>
                </a:ext>
              </a:extLst>
            </p:cNvPr>
            <p:cNvSpPr>
              <a:spLocks noChangeShapeType="1"/>
            </p:cNvSpPr>
            <p:nvPr/>
          </p:nvSpPr>
          <p:spPr bwMode="auto">
            <a:xfrm flipH="1">
              <a:off x="4640263" y="5334000"/>
              <a:ext cx="98425" cy="0"/>
            </a:xfrm>
            <a:prstGeom prst="line">
              <a:avLst/>
            </a:prstGeom>
            <a:noFill/>
            <a:ln w="4">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26" name="Rectangle 170">
              <a:extLst>
                <a:ext uri="{FF2B5EF4-FFF2-40B4-BE49-F238E27FC236}">
                  <a16:creationId xmlns:a16="http://schemas.microsoft.com/office/drawing/2014/main" id="{A7071FEE-BE6E-425B-A586-E30479B2B8C3}"/>
                </a:ext>
              </a:extLst>
            </p:cNvPr>
            <p:cNvSpPr>
              <a:spLocks noChangeArrowheads="1"/>
            </p:cNvSpPr>
            <p:nvPr/>
          </p:nvSpPr>
          <p:spPr bwMode="auto">
            <a:xfrm>
              <a:off x="4684713" y="4843463"/>
              <a:ext cx="184346" cy="107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700">
                  <a:solidFill>
                    <a:srgbClr val="000000"/>
                  </a:solidFill>
                  <a:latin typeface="Arial Armenian"/>
                </a:rPr>
                <a:t>0.5V</a:t>
              </a:r>
              <a:endParaRPr lang="en-US" altLang="en-US" sz="1800"/>
            </a:p>
          </p:txBody>
        </p:sp>
        <p:sp>
          <p:nvSpPr>
            <p:cNvPr id="21627" name="Rectangle 171">
              <a:extLst>
                <a:ext uri="{FF2B5EF4-FFF2-40B4-BE49-F238E27FC236}">
                  <a16:creationId xmlns:a16="http://schemas.microsoft.com/office/drawing/2014/main" id="{8073771D-0F08-41E4-95EA-1AD1C7795457}"/>
                </a:ext>
              </a:extLst>
            </p:cNvPr>
            <p:cNvSpPr>
              <a:spLocks noChangeArrowheads="1"/>
            </p:cNvSpPr>
            <p:nvPr/>
          </p:nvSpPr>
          <p:spPr bwMode="auto">
            <a:xfrm>
              <a:off x="4867276" y="4879976"/>
              <a:ext cx="92974" cy="76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500">
                  <a:solidFill>
                    <a:srgbClr val="000000"/>
                  </a:solidFill>
                  <a:latin typeface="Arial Armenian"/>
                </a:rPr>
                <a:t>DD</a:t>
              </a:r>
              <a:endParaRPr lang="en-US" altLang="en-US" sz="1800"/>
            </a:p>
          </p:txBody>
        </p:sp>
        <p:sp>
          <p:nvSpPr>
            <p:cNvPr id="21628" name="Rectangle 172">
              <a:extLst>
                <a:ext uri="{FF2B5EF4-FFF2-40B4-BE49-F238E27FC236}">
                  <a16:creationId xmlns:a16="http://schemas.microsoft.com/office/drawing/2014/main" id="{9D8C477F-7656-477A-AB87-15B2EF4CD320}"/>
                </a:ext>
              </a:extLst>
            </p:cNvPr>
            <p:cNvSpPr>
              <a:spLocks noChangeArrowheads="1"/>
            </p:cNvSpPr>
            <p:nvPr/>
          </p:nvSpPr>
          <p:spPr bwMode="auto">
            <a:xfrm>
              <a:off x="4751388" y="5149851"/>
              <a:ext cx="184346" cy="107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700">
                  <a:solidFill>
                    <a:srgbClr val="000000"/>
                  </a:solidFill>
                  <a:latin typeface="Arial Armenian"/>
                </a:rPr>
                <a:t>0.5V</a:t>
              </a:r>
              <a:endParaRPr lang="en-US" altLang="en-US" sz="1800"/>
            </a:p>
          </p:txBody>
        </p:sp>
        <p:sp>
          <p:nvSpPr>
            <p:cNvPr id="21629" name="Rectangle 173">
              <a:extLst>
                <a:ext uri="{FF2B5EF4-FFF2-40B4-BE49-F238E27FC236}">
                  <a16:creationId xmlns:a16="http://schemas.microsoft.com/office/drawing/2014/main" id="{44A4ED1E-733E-44D2-A2D4-F6CAF531196B}"/>
                </a:ext>
              </a:extLst>
            </p:cNvPr>
            <p:cNvSpPr>
              <a:spLocks noChangeArrowheads="1"/>
            </p:cNvSpPr>
            <p:nvPr/>
          </p:nvSpPr>
          <p:spPr bwMode="auto">
            <a:xfrm>
              <a:off x="4930776" y="5191126"/>
              <a:ext cx="92974" cy="76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500">
                  <a:solidFill>
                    <a:srgbClr val="000000"/>
                  </a:solidFill>
                  <a:latin typeface="Arial Armenian"/>
                </a:rPr>
                <a:t>DD</a:t>
              </a:r>
              <a:endParaRPr lang="en-US" altLang="en-US" sz="1800"/>
            </a:p>
          </p:txBody>
        </p:sp>
        <p:sp>
          <p:nvSpPr>
            <p:cNvPr id="21630" name="Rectangle 174">
              <a:extLst>
                <a:ext uri="{FF2B5EF4-FFF2-40B4-BE49-F238E27FC236}">
                  <a16:creationId xmlns:a16="http://schemas.microsoft.com/office/drawing/2014/main" id="{80F2D2C8-E59E-4336-B3B0-50F6299022F1}"/>
                </a:ext>
              </a:extLst>
            </p:cNvPr>
            <p:cNvSpPr>
              <a:spLocks noChangeArrowheads="1"/>
            </p:cNvSpPr>
            <p:nvPr/>
          </p:nvSpPr>
          <p:spPr bwMode="auto">
            <a:xfrm>
              <a:off x="3922713" y="4675188"/>
              <a:ext cx="89768" cy="107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700">
                  <a:solidFill>
                    <a:srgbClr val="000000"/>
                  </a:solidFill>
                  <a:latin typeface="Arial Armenian"/>
                </a:rPr>
                <a:t>IN</a:t>
              </a:r>
              <a:endParaRPr lang="en-US" altLang="en-US" sz="1800"/>
            </a:p>
          </p:txBody>
        </p:sp>
        <p:sp>
          <p:nvSpPr>
            <p:cNvPr id="21631" name="Rectangle 175">
              <a:extLst>
                <a:ext uri="{FF2B5EF4-FFF2-40B4-BE49-F238E27FC236}">
                  <a16:creationId xmlns:a16="http://schemas.microsoft.com/office/drawing/2014/main" id="{1B161FD8-43DF-43A1-BC3B-875801340859}"/>
                </a:ext>
              </a:extLst>
            </p:cNvPr>
            <p:cNvSpPr>
              <a:spLocks noChangeArrowheads="1"/>
            </p:cNvSpPr>
            <p:nvPr/>
          </p:nvSpPr>
          <p:spPr bwMode="auto">
            <a:xfrm>
              <a:off x="3897313" y="4956176"/>
              <a:ext cx="189154" cy="107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700">
                  <a:solidFill>
                    <a:srgbClr val="000000"/>
                  </a:solidFill>
                  <a:latin typeface="Arial Armenian"/>
                </a:rPr>
                <a:t>OUT</a:t>
              </a:r>
              <a:endParaRPr lang="en-US" altLang="en-US" sz="1800"/>
            </a:p>
          </p:txBody>
        </p:sp>
        <p:cxnSp>
          <p:nvCxnSpPr>
            <p:cNvPr id="21632" name="Straight Connector 266">
              <a:extLst>
                <a:ext uri="{FF2B5EF4-FFF2-40B4-BE49-F238E27FC236}">
                  <a16:creationId xmlns:a16="http://schemas.microsoft.com/office/drawing/2014/main" id="{5FBDD86E-1F24-4F7B-B54E-55DEF79FBFCF}"/>
                </a:ext>
              </a:extLst>
            </p:cNvPr>
            <p:cNvCxnSpPr>
              <a:cxnSpLocks noChangeShapeType="1"/>
            </p:cNvCxnSpPr>
            <p:nvPr/>
          </p:nvCxnSpPr>
          <p:spPr bwMode="auto">
            <a:xfrm>
              <a:off x="4626952" y="4910932"/>
              <a:ext cx="13311" cy="57546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1633" name="Straight Connector 267">
              <a:extLst>
                <a:ext uri="{FF2B5EF4-FFF2-40B4-BE49-F238E27FC236}">
                  <a16:creationId xmlns:a16="http://schemas.microsoft.com/office/drawing/2014/main" id="{DD0C0ED0-7026-4359-BAB6-39E38B1056AF}"/>
                </a:ext>
              </a:extLst>
            </p:cNvPr>
            <p:cNvCxnSpPr>
              <a:cxnSpLocks noChangeShapeType="1"/>
            </p:cNvCxnSpPr>
            <p:nvPr/>
          </p:nvCxnSpPr>
          <p:spPr bwMode="auto">
            <a:xfrm>
              <a:off x="4681533" y="5348281"/>
              <a:ext cx="0" cy="272255"/>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1634" name="Straight Connector 268">
              <a:extLst>
                <a:ext uri="{FF2B5EF4-FFF2-40B4-BE49-F238E27FC236}">
                  <a16:creationId xmlns:a16="http://schemas.microsoft.com/office/drawing/2014/main" id="{ADADE050-B304-48DD-9B76-A26E6BF7EBD4}"/>
                </a:ext>
              </a:extLst>
            </p:cNvPr>
            <p:cNvCxnSpPr>
              <a:cxnSpLocks noChangeShapeType="1"/>
            </p:cNvCxnSpPr>
            <p:nvPr/>
          </p:nvCxnSpPr>
          <p:spPr bwMode="auto">
            <a:xfrm>
              <a:off x="4417220" y="3796508"/>
              <a:ext cx="13311" cy="57546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1635" name="Straight Connector 269">
              <a:extLst>
                <a:ext uri="{FF2B5EF4-FFF2-40B4-BE49-F238E27FC236}">
                  <a16:creationId xmlns:a16="http://schemas.microsoft.com/office/drawing/2014/main" id="{12552607-9120-4366-8A19-74A22B40A966}"/>
                </a:ext>
              </a:extLst>
            </p:cNvPr>
            <p:cNvCxnSpPr>
              <a:cxnSpLocks noChangeShapeType="1"/>
            </p:cNvCxnSpPr>
            <p:nvPr/>
          </p:nvCxnSpPr>
          <p:spPr bwMode="auto">
            <a:xfrm>
              <a:off x="4348169" y="4191000"/>
              <a:ext cx="0" cy="36576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1636" name="Straight Connector 270">
              <a:extLst>
                <a:ext uri="{FF2B5EF4-FFF2-40B4-BE49-F238E27FC236}">
                  <a16:creationId xmlns:a16="http://schemas.microsoft.com/office/drawing/2014/main" id="{FC24BDE4-6C9E-424C-A76A-F0BEBB61681D}"/>
                </a:ext>
              </a:extLst>
            </p:cNvPr>
            <p:cNvCxnSpPr>
              <a:cxnSpLocks noChangeShapeType="1"/>
            </p:cNvCxnSpPr>
            <p:nvPr/>
          </p:nvCxnSpPr>
          <p:spPr bwMode="auto">
            <a:xfrm>
              <a:off x="4377044" y="2632076"/>
              <a:ext cx="13311" cy="669131"/>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1637" name="Straight Connector 271">
              <a:extLst>
                <a:ext uri="{FF2B5EF4-FFF2-40B4-BE49-F238E27FC236}">
                  <a16:creationId xmlns:a16="http://schemas.microsoft.com/office/drawing/2014/main" id="{8C4CB7B9-5955-4921-9653-99E46DF35B34}"/>
                </a:ext>
              </a:extLst>
            </p:cNvPr>
            <p:cNvCxnSpPr>
              <a:cxnSpLocks noChangeShapeType="1"/>
              <a:endCxn id="21572" idx="3"/>
            </p:cNvCxnSpPr>
            <p:nvPr/>
          </p:nvCxnSpPr>
          <p:spPr bwMode="auto">
            <a:xfrm flipH="1">
              <a:off x="4515456" y="3080942"/>
              <a:ext cx="40853" cy="21434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1638" name="Straight Connector 272">
              <a:extLst>
                <a:ext uri="{FF2B5EF4-FFF2-40B4-BE49-F238E27FC236}">
                  <a16:creationId xmlns:a16="http://schemas.microsoft.com/office/drawing/2014/main" id="{2800041A-D261-410A-8B14-679907742BC3}"/>
                </a:ext>
              </a:extLst>
            </p:cNvPr>
            <p:cNvCxnSpPr>
              <a:cxnSpLocks noChangeShapeType="1"/>
            </p:cNvCxnSpPr>
            <p:nvPr/>
          </p:nvCxnSpPr>
          <p:spPr bwMode="auto">
            <a:xfrm>
              <a:off x="4544494" y="1622426"/>
              <a:ext cx="13311" cy="669131"/>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1639" name="Straight Connector 273">
              <a:extLst>
                <a:ext uri="{FF2B5EF4-FFF2-40B4-BE49-F238E27FC236}">
                  <a16:creationId xmlns:a16="http://schemas.microsoft.com/office/drawing/2014/main" id="{4CDE2B58-BE11-4A90-AF19-D2581B5ED366}"/>
                </a:ext>
              </a:extLst>
            </p:cNvPr>
            <p:cNvCxnSpPr>
              <a:cxnSpLocks noChangeShapeType="1"/>
            </p:cNvCxnSpPr>
            <p:nvPr/>
          </p:nvCxnSpPr>
          <p:spPr bwMode="auto">
            <a:xfrm flipH="1">
              <a:off x="4369595" y="2051447"/>
              <a:ext cx="793" cy="24011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472D9B8E-9422-4146-9E9E-703F72ADFD56}"/>
              </a:ext>
            </a:extLst>
          </p:cNvPr>
          <p:cNvSpPr>
            <a:spLocks noGrp="1"/>
          </p:cNvSpPr>
          <p:nvPr>
            <p:ph type="title"/>
          </p:nvPr>
        </p:nvSpPr>
        <p:spPr/>
        <p:txBody>
          <a:bodyPr/>
          <a:lstStyle/>
          <a:p>
            <a:r>
              <a:rPr lang="en-US" altLang="en-US"/>
              <a:t>Cell Timing Constraints</a:t>
            </a:r>
          </a:p>
        </p:txBody>
      </p:sp>
      <p:sp>
        <p:nvSpPr>
          <p:cNvPr id="22531" name="Content Placeholder 3">
            <a:extLst>
              <a:ext uri="{FF2B5EF4-FFF2-40B4-BE49-F238E27FC236}">
                <a16:creationId xmlns:a16="http://schemas.microsoft.com/office/drawing/2014/main" id="{ECE46ECB-D4B4-4DB2-A20A-8E5C89DF48DC}"/>
              </a:ext>
            </a:extLst>
          </p:cNvPr>
          <p:cNvSpPr>
            <a:spLocks noGrp="1"/>
          </p:cNvSpPr>
          <p:nvPr>
            <p:ph type="body" sz="quarter" idx="10"/>
          </p:nvPr>
        </p:nvSpPr>
        <p:spPr/>
        <p:txBody>
          <a:bodyPr/>
          <a:lstStyle/>
          <a:p>
            <a:r>
              <a:rPr lang="en-US" altLang="en-US" sz="2000" dirty="0"/>
              <a:t>Setup/Hold, Recovery/Removal Constraints</a:t>
            </a:r>
          </a:p>
          <a:p>
            <a:endParaRPr lang="en-US" altLang="en-US" sz="1600" dirty="0"/>
          </a:p>
        </p:txBody>
      </p:sp>
      <p:graphicFrame>
        <p:nvGraphicFramePr>
          <p:cNvPr id="7" name="Table 6">
            <a:extLst>
              <a:ext uri="{FF2B5EF4-FFF2-40B4-BE49-F238E27FC236}">
                <a16:creationId xmlns:a16="http://schemas.microsoft.com/office/drawing/2014/main" id="{D4A16A60-4F8A-4D0F-8425-1F0C30521A59}"/>
              </a:ext>
            </a:extLst>
          </p:cNvPr>
          <p:cNvGraphicFramePr>
            <a:graphicFrameLocks noGrp="1"/>
          </p:cNvGraphicFramePr>
          <p:nvPr>
            <p:extLst>
              <p:ext uri="{D42A27DB-BD31-4B8C-83A1-F6EECF244321}">
                <p14:modId xmlns:p14="http://schemas.microsoft.com/office/powerpoint/2010/main" val="2744150812"/>
              </p:ext>
            </p:extLst>
          </p:nvPr>
        </p:nvGraphicFramePr>
        <p:xfrm>
          <a:off x="2095500" y="1946276"/>
          <a:ext cx="8115300" cy="3844925"/>
        </p:xfrm>
        <a:graphic>
          <a:graphicData uri="http://schemas.openxmlformats.org/drawingml/2006/table">
            <a:tbl>
              <a:tblPr firstRow="1" bandRow="1">
                <a:tableStyleId>{69012ECD-51FC-41F1-AA8D-1B2483CD663E}</a:tableStyleId>
              </a:tblPr>
              <a:tblGrid>
                <a:gridCol w="307240">
                  <a:extLst>
                    <a:ext uri="{9D8B030D-6E8A-4147-A177-3AD203B41FA5}">
                      <a16:colId xmlns:a16="http://schemas.microsoft.com/office/drawing/2014/main" val="20000"/>
                    </a:ext>
                  </a:extLst>
                </a:gridCol>
                <a:gridCol w="2035557">
                  <a:extLst>
                    <a:ext uri="{9D8B030D-6E8A-4147-A177-3AD203B41FA5}">
                      <a16:colId xmlns:a16="http://schemas.microsoft.com/office/drawing/2014/main" val="20001"/>
                    </a:ext>
                  </a:extLst>
                </a:gridCol>
                <a:gridCol w="537670">
                  <a:extLst>
                    <a:ext uri="{9D8B030D-6E8A-4147-A177-3AD203B41FA5}">
                      <a16:colId xmlns:a16="http://schemas.microsoft.com/office/drawing/2014/main" val="20002"/>
                    </a:ext>
                  </a:extLst>
                </a:gridCol>
                <a:gridCol w="774375">
                  <a:extLst>
                    <a:ext uri="{9D8B030D-6E8A-4147-A177-3AD203B41FA5}">
                      <a16:colId xmlns:a16="http://schemas.microsoft.com/office/drawing/2014/main" val="20003"/>
                    </a:ext>
                  </a:extLst>
                </a:gridCol>
                <a:gridCol w="1744992">
                  <a:extLst>
                    <a:ext uri="{9D8B030D-6E8A-4147-A177-3AD203B41FA5}">
                      <a16:colId xmlns:a16="http://schemas.microsoft.com/office/drawing/2014/main" val="20004"/>
                    </a:ext>
                  </a:extLst>
                </a:gridCol>
                <a:gridCol w="2715466">
                  <a:extLst>
                    <a:ext uri="{9D8B030D-6E8A-4147-A177-3AD203B41FA5}">
                      <a16:colId xmlns:a16="http://schemas.microsoft.com/office/drawing/2014/main" val="20005"/>
                    </a:ext>
                  </a:extLst>
                </a:gridCol>
              </a:tblGrid>
              <a:tr h="372763">
                <a:tc>
                  <a:txBody>
                    <a:bodyPr/>
                    <a:lstStyle/>
                    <a:p>
                      <a:pPr algn="ctr"/>
                      <a:r>
                        <a:rPr lang="en-US" sz="1100" b="0" kern="1200" dirty="0">
                          <a:solidFill>
                            <a:schemeClr val="bg2"/>
                          </a:solidFill>
                          <a:latin typeface="+mn-lt"/>
                          <a:ea typeface="+mn-ea"/>
                          <a:cs typeface="+mn-cs"/>
                        </a:rPr>
                        <a:t>N</a:t>
                      </a:r>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100" b="0" dirty="0">
                          <a:solidFill>
                            <a:schemeClr val="bg2"/>
                          </a:solidFill>
                        </a:rPr>
                        <a:t>Parameter</a:t>
                      </a:r>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100" b="0" dirty="0">
                          <a:solidFill>
                            <a:schemeClr val="bg2"/>
                          </a:solidFill>
                        </a:rPr>
                        <a:t>Unit</a:t>
                      </a:r>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100" b="0" dirty="0">
                          <a:solidFill>
                            <a:schemeClr val="bg2"/>
                          </a:solidFill>
                        </a:rPr>
                        <a:t>Symbol</a:t>
                      </a:r>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100" b="0" dirty="0">
                          <a:solidFill>
                            <a:schemeClr val="bg2"/>
                          </a:solidFill>
                        </a:rPr>
                        <a:t>Figure</a:t>
                      </a:r>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100" b="0" dirty="0">
                          <a:solidFill>
                            <a:schemeClr val="bg2"/>
                          </a:solidFill>
                        </a:rPr>
                        <a:t>Definition</a:t>
                      </a:r>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861786">
                <a:tc>
                  <a:txBody>
                    <a:bodyPr/>
                    <a:lstStyle/>
                    <a:p>
                      <a:pPr marL="228600" indent="-228600">
                        <a:buFont typeface="+mj-lt"/>
                        <a:buNone/>
                      </a:pPr>
                      <a:r>
                        <a:rPr lang="en-US" sz="1100" dirty="0"/>
                        <a:t>1</a:t>
                      </a:r>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r>
                        <a:rPr lang="en-US" sz="1000" kern="1200" dirty="0">
                          <a:solidFill>
                            <a:schemeClr val="tx1"/>
                          </a:solidFill>
                          <a:latin typeface="+mn-lt"/>
                          <a:ea typeface="+mn-ea"/>
                          <a:cs typeface="+mn-cs"/>
                        </a:rPr>
                        <a:t>Setup time</a:t>
                      </a:r>
                    </a:p>
                    <a:p>
                      <a:r>
                        <a:rPr lang="en-US" sz="1000" kern="1200" dirty="0">
                          <a:solidFill>
                            <a:schemeClr val="tx1"/>
                          </a:solidFill>
                          <a:latin typeface="+mn-lt"/>
                          <a:ea typeface="+mn-ea"/>
                          <a:cs typeface="+mn-cs"/>
                        </a:rPr>
                        <a:t>(only for flip-flops or latches)</a:t>
                      </a:r>
                      <a:endParaRPr lang="en-US" sz="1000" dirty="0"/>
                    </a:p>
                  </a:txBody>
                  <a:tcPr marL="91437" marR="91437" marT="45713" marB="4571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r>
                        <a:rPr lang="en-US" sz="1000" kern="1200" dirty="0">
                          <a:solidFill>
                            <a:schemeClr val="tx1"/>
                          </a:solidFill>
                          <a:latin typeface="+mn-lt"/>
                          <a:ea typeface="+mn-ea"/>
                          <a:cs typeface="+mn-cs"/>
                        </a:rPr>
                        <a:t>ns</a:t>
                      </a:r>
                      <a:endParaRPr lang="en-US" sz="1000" dirty="0"/>
                    </a:p>
                  </a:txBody>
                  <a:tcPr marL="91437" marR="91437" marT="45713" marB="4571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r>
                        <a:rPr lang="en-US" sz="1000" kern="1200" dirty="0" err="1">
                          <a:solidFill>
                            <a:schemeClr val="tx1"/>
                          </a:solidFill>
                          <a:latin typeface="+mn-lt"/>
                          <a:ea typeface="+mn-ea"/>
                          <a:cs typeface="+mn-cs"/>
                        </a:rPr>
                        <a:t>t</a:t>
                      </a:r>
                      <a:r>
                        <a:rPr lang="en-US" sz="1000" kern="1200" baseline="-25000" dirty="0" err="1">
                          <a:solidFill>
                            <a:schemeClr val="tx1"/>
                          </a:solidFill>
                          <a:latin typeface="+mn-lt"/>
                          <a:ea typeface="+mn-ea"/>
                          <a:cs typeface="+mn-cs"/>
                        </a:rPr>
                        <a:t>SU</a:t>
                      </a:r>
                      <a:endParaRPr lang="en-US" sz="1000" dirty="0"/>
                    </a:p>
                  </a:txBody>
                  <a:tcPr marL="91437" marR="91437" marT="45713" marB="4571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0" dirty="0"/>
                    </a:p>
                  </a:txBody>
                  <a:tcPr marL="91437" marR="91437" marT="45713" marB="4571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r>
                        <a:rPr lang="en-US" sz="1000" kern="1200" dirty="0">
                          <a:solidFill>
                            <a:schemeClr val="tx1"/>
                          </a:solidFill>
                          <a:latin typeface="+mn-lt"/>
                          <a:ea typeface="+mn-ea"/>
                          <a:cs typeface="+mn-cs"/>
                        </a:rPr>
                        <a:t>The minimum period in which the input data to a flip-flop or a latch must be stable before the active edge of the clock occurs</a:t>
                      </a:r>
                      <a:endParaRPr lang="en-US" sz="1000" dirty="0"/>
                    </a:p>
                  </a:txBody>
                  <a:tcPr marL="91437" marR="91437" marT="45713" marB="4571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0001"/>
                  </a:ext>
                </a:extLst>
              </a:tr>
              <a:tr h="861786">
                <a:tc>
                  <a:txBody>
                    <a:bodyPr/>
                    <a:lstStyle/>
                    <a:p>
                      <a:pPr marL="228600" indent="-228600">
                        <a:buFont typeface="+mj-lt"/>
                        <a:buNone/>
                      </a:pPr>
                      <a:r>
                        <a:rPr lang="en-US" sz="1100" dirty="0"/>
                        <a:t>2..</a:t>
                      </a:r>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kern="1200" dirty="0">
                          <a:solidFill>
                            <a:schemeClr val="tx1"/>
                          </a:solidFill>
                          <a:latin typeface="+mn-lt"/>
                          <a:ea typeface="+mn-ea"/>
                          <a:cs typeface="+mn-cs"/>
                        </a:rPr>
                        <a:t>Hold time</a:t>
                      </a:r>
                    </a:p>
                    <a:p>
                      <a:r>
                        <a:rPr lang="en-US" sz="1000" kern="1200" dirty="0">
                          <a:solidFill>
                            <a:schemeClr val="tx1"/>
                          </a:solidFill>
                          <a:latin typeface="+mn-lt"/>
                          <a:ea typeface="+mn-ea"/>
                          <a:cs typeface="+mn-cs"/>
                        </a:rPr>
                        <a:t>(only for flip-flops or latches)</a:t>
                      </a:r>
                      <a:endParaRPr lang="en-US" sz="1000" dirty="0"/>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000" kern="1200" dirty="0">
                          <a:solidFill>
                            <a:schemeClr val="tx1"/>
                          </a:solidFill>
                          <a:latin typeface="+mn-lt"/>
                          <a:ea typeface="+mn-ea"/>
                          <a:cs typeface="+mn-cs"/>
                        </a:rPr>
                        <a:t>ns</a:t>
                      </a:r>
                      <a:endParaRPr lang="en-US" sz="1000" dirty="0"/>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000" kern="1200" dirty="0" err="1">
                          <a:solidFill>
                            <a:schemeClr val="tx1"/>
                          </a:solidFill>
                          <a:latin typeface="+mn-lt"/>
                          <a:ea typeface="+mn-ea"/>
                          <a:cs typeface="+mn-cs"/>
                        </a:rPr>
                        <a:t>t</a:t>
                      </a:r>
                      <a:r>
                        <a:rPr lang="en-US" sz="1000" kern="1200" baseline="-25000" dirty="0" err="1">
                          <a:solidFill>
                            <a:schemeClr val="tx1"/>
                          </a:solidFill>
                          <a:latin typeface="+mn-lt"/>
                          <a:ea typeface="+mn-ea"/>
                          <a:cs typeface="+mn-cs"/>
                        </a:rPr>
                        <a:t>H</a:t>
                      </a:r>
                      <a:endParaRPr lang="en-US" sz="1000" dirty="0"/>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endParaRPr lang="en-US" sz="1000" dirty="0"/>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000" kern="1200" dirty="0">
                          <a:solidFill>
                            <a:schemeClr val="tx1"/>
                          </a:solidFill>
                          <a:latin typeface="+mn-lt"/>
                          <a:ea typeface="+mn-ea"/>
                          <a:cs typeface="+mn-cs"/>
                        </a:rPr>
                        <a:t>The minimum period in which the input data to a flip-flop or a latch must remain stable after the active edge of the clock has occurred</a:t>
                      </a:r>
                      <a:endParaRPr lang="en-US" sz="1000" dirty="0"/>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02"/>
                  </a:ext>
                </a:extLst>
              </a:tr>
              <a:tr h="886804">
                <a:tc>
                  <a:txBody>
                    <a:bodyPr/>
                    <a:lstStyle/>
                    <a:p>
                      <a:pPr marL="342900" indent="-342900">
                        <a:buFont typeface="+mj-lt"/>
                        <a:buNone/>
                      </a:pPr>
                      <a:r>
                        <a:rPr lang="en-US" sz="1100" dirty="0"/>
                        <a:t>3</a:t>
                      </a:r>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r>
                        <a:rPr lang="en-US" sz="1000" kern="1200" dirty="0">
                          <a:solidFill>
                            <a:schemeClr val="tx1"/>
                          </a:solidFill>
                          <a:latin typeface="+mn-lt"/>
                          <a:ea typeface="+mn-ea"/>
                          <a:cs typeface="+mn-cs"/>
                        </a:rPr>
                        <a:t>Removal time</a:t>
                      </a:r>
                    </a:p>
                    <a:p>
                      <a:r>
                        <a:rPr lang="en-US" sz="1000" kern="1200" dirty="0">
                          <a:solidFill>
                            <a:schemeClr val="tx1"/>
                          </a:solidFill>
                          <a:latin typeface="+mn-lt"/>
                          <a:ea typeface="+mn-ea"/>
                          <a:cs typeface="+mn-cs"/>
                        </a:rPr>
                        <a:t>(only for asynchronous Set or Reset)</a:t>
                      </a:r>
                      <a:endParaRPr lang="en-US" sz="1000" dirty="0"/>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r>
                        <a:rPr lang="en-US" sz="1000" kern="1200" dirty="0">
                          <a:solidFill>
                            <a:schemeClr val="tx1"/>
                          </a:solidFill>
                          <a:latin typeface="+mn-lt"/>
                          <a:ea typeface="+mn-ea"/>
                          <a:cs typeface="+mn-cs"/>
                        </a:rPr>
                        <a:t>ns</a:t>
                      </a:r>
                      <a:endParaRPr lang="en-US" sz="1000" dirty="0"/>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r>
                        <a:rPr lang="en-US" sz="1000" kern="1200" dirty="0" err="1">
                          <a:solidFill>
                            <a:schemeClr val="tx1"/>
                          </a:solidFill>
                          <a:latin typeface="+mn-lt"/>
                          <a:ea typeface="+mn-ea"/>
                          <a:cs typeface="+mn-cs"/>
                        </a:rPr>
                        <a:t>t</a:t>
                      </a:r>
                      <a:r>
                        <a:rPr lang="en-US" sz="1000" kern="1200" baseline="-25000" dirty="0" err="1">
                          <a:solidFill>
                            <a:schemeClr val="tx1"/>
                          </a:solidFill>
                          <a:latin typeface="+mn-lt"/>
                          <a:ea typeface="+mn-ea"/>
                          <a:cs typeface="+mn-cs"/>
                        </a:rPr>
                        <a:t>REM</a:t>
                      </a:r>
                      <a:endParaRPr lang="en-US" sz="1000" dirty="0"/>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0" dirty="0"/>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r>
                        <a:rPr lang="en-US" sz="1000" kern="1200" dirty="0">
                          <a:solidFill>
                            <a:schemeClr val="tx1"/>
                          </a:solidFill>
                          <a:latin typeface="+mn-lt"/>
                          <a:ea typeface="+mn-ea"/>
                          <a:cs typeface="+mn-cs"/>
                        </a:rPr>
                        <a:t>The minimum time in which the asynchronous Set or Reset pin to a flip-flop or latch must remain enabled after the active edge of the clock has occurred</a:t>
                      </a:r>
                      <a:endParaRPr lang="en-US" sz="1000" dirty="0"/>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0003"/>
                  </a:ext>
                </a:extLst>
              </a:tr>
              <a:tr h="861786">
                <a:tc>
                  <a:txBody>
                    <a:bodyPr/>
                    <a:lstStyle/>
                    <a:p>
                      <a:pPr marL="342900" indent="-342900">
                        <a:buFont typeface="+mj-lt"/>
                        <a:buNone/>
                      </a:pPr>
                      <a:r>
                        <a:rPr lang="en-US" sz="1100" dirty="0"/>
                        <a:t>4</a:t>
                      </a:r>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spcAft>
                          <a:spcPts val="0"/>
                        </a:spcAft>
                        <a:tabLst>
                          <a:tab pos="971550" algn="l"/>
                        </a:tabLst>
                      </a:pPr>
                      <a:r>
                        <a:rPr lang="en-US" sz="1000" dirty="0">
                          <a:latin typeface="Arial"/>
                          <a:ea typeface="MS Mincho"/>
                          <a:cs typeface="Times New Roman"/>
                        </a:rPr>
                        <a:t>Recovery time</a:t>
                      </a:r>
                      <a:endParaRPr lang="en-US" sz="1000" dirty="0">
                        <a:latin typeface="Times New Roman"/>
                        <a:ea typeface="MS Mincho"/>
                        <a:cs typeface="Times New Roman"/>
                      </a:endParaRPr>
                    </a:p>
                    <a:p>
                      <a:pPr algn="l">
                        <a:spcAft>
                          <a:spcPts val="0"/>
                        </a:spcAft>
                        <a:tabLst>
                          <a:tab pos="971550" algn="l"/>
                        </a:tabLst>
                      </a:pPr>
                      <a:r>
                        <a:rPr lang="en-US" sz="1000" dirty="0">
                          <a:latin typeface="Arial"/>
                          <a:ea typeface="MS Mincho"/>
                          <a:cs typeface="Times New Roman"/>
                        </a:rPr>
                        <a:t>(only for asynchronous Set or Reset)</a:t>
                      </a:r>
                      <a:endParaRPr lang="en-US" sz="1000" dirty="0">
                        <a:latin typeface="Times New Roman"/>
                        <a:ea typeface="MS Mincho"/>
                        <a:cs typeface="Times New Roman"/>
                      </a:endParaRPr>
                    </a:p>
                  </a:txBody>
                  <a:tcPr marL="68583" marR="68583"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000" kern="1200" dirty="0">
                          <a:solidFill>
                            <a:schemeClr val="tx1"/>
                          </a:solidFill>
                          <a:latin typeface="+mn-lt"/>
                          <a:ea typeface="+mn-ea"/>
                          <a:cs typeface="+mn-cs"/>
                        </a:rPr>
                        <a:t>ns</a:t>
                      </a:r>
                      <a:endParaRPr lang="en-US" sz="1000" dirty="0"/>
                    </a:p>
                  </a:txBody>
                  <a:tcPr marL="91444" marR="91444" marT="45713" marB="4571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000" kern="1200" dirty="0" err="1">
                          <a:solidFill>
                            <a:schemeClr val="tx1"/>
                          </a:solidFill>
                          <a:latin typeface="+mn-lt"/>
                          <a:ea typeface="+mn-ea"/>
                          <a:cs typeface="+mn-cs"/>
                        </a:rPr>
                        <a:t>t</a:t>
                      </a:r>
                      <a:r>
                        <a:rPr lang="en-US" sz="1000" kern="1200" baseline="-25000" dirty="0" err="1">
                          <a:solidFill>
                            <a:schemeClr val="tx1"/>
                          </a:solidFill>
                          <a:latin typeface="+mn-lt"/>
                          <a:ea typeface="+mn-ea"/>
                          <a:cs typeface="+mn-cs"/>
                        </a:rPr>
                        <a:t>REC</a:t>
                      </a:r>
                      <a:endParaRPr lang="en-US" sz="1000" dirty="0"/>
                    </a:p>
                  </a:txBody>
                  <a:tcPr marL="91444" marR="91444" marT="45713" marB="4571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endParaRPr lang="en-US" sz="1000" dirty="0"/>
                    </a:p>
                  </a:txBody>
                  <a:tcPr marL="91444" marR="91444" marT="45713" marB="4571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000" kern="1200" dirty="0">
                          <a:solidFill>
                            <a:schemeClr val="tx1"/>
                          </a:solidFill>
                          <a:latin typeface="+mn-lt"/>
                          <a:ea typeface="+mn-ea"/>
                          <a:cs typeface="+mn-cs"/>
                        </a:rPr>
                        <a:t>The minimum time in which Set or Reset must be held stable after being </a:t>
                      </a:r>
                      <a:r>
                        <a:rPr lang="en-US" sz="1000" kern="1200" dirty="0" err="1">
                          <a:solidFill>
                            <a:schemeClr val="tx1"/>
                          </a:solidFill>
                          <a:latin typeface="+mn-lt"/>
                          <a:ea typeface="+mn-ea"/>
                          <a:cs typeface="+mn-cs"/>
                        </a:rPr>
                        <a:t>deasserted</a:t>
                      </a:r>
                      <a:r>
                        <a:rPr lang="en-US" sz="1000" kern="1200" dirty="0">
                          <a:solidFill>
                            <a:schemeClr val="tx1"/>
                          </a:solidFill>
                          <a:latin typeface="+mn-lt"/>
                          <a:ea typeface="+mn-ea"/>
                          <a:cs typeface="+mn-cs"/>
                        </a:rPr>
                        <a:t> before next active edge of the clock occurs</a:t>
                      </a:r>
                      <a:endParaRPr lang="en-US" sz="1000" dirty="0"/>
                    </a:p>
                  </a:txBody>
                  <a:tcPr marL="91444" marR="91444" marT="45713" marB="4571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04"/>
                  </a:ext>
                </a:extLst>
              </a:tr>
            </a:tbl>
          </a:graphicData>
        </a:graphic>
      </p:graphicFrame>
      <p:grpSp>
        <p:nvGrpSpPr>
          <p:cNvPr id="22576" name="Group 53">
            <a:extLst>
              <a:ext uri="{FF2B5EF4-FFF2-40B4-BE49-F238E27FC236}">
                <a16:creationId xmlns:a16="http://schemas.microsoft.com/office/drawing/2014/main" id="{8712ED99-C0AE-436A-B616-DD4BB4E72548}"/>
              </a:ext>
            </a:extLst>
          </p:cNvPr>
          <p:cNvGrpSpPr>
            <a:grpSpLocks/>
          </p:cNvGrpSpPr>
          <p:nvPr/>
        </p:nvGrpSpPr>
        <p:grpSpPr bwMode="auto">
          <a:xfrm>
            <a:off x="5867401" y="2325688"/>
            <a:ext cx="1635125" cy="3452812"/>
            <a:chOff x="3259138" y="1828800"/>
            <a:chExt cx="1635125" cy="3452809"/>
          </a:xfrm>
        </p:grpSpPr>
        <p:sp>
          <p:nvSpPr>
            <p:cNvPr id="55" name="Rectangle 10">
              <a:extLst>
                <a:ext uri="{FF2B5EF4-FFF2-40B4-BE49-F238E27FC236}">
                  <a16:creationId xmlns:a16="http://schemas.microsoft.com/office/drawing/2014/main" id="{960E4CF2-3369-4F35-A664-7FCE6832BF7D}"/>
                </a:ext>
              </a:extLst>
            </p:cNvPr>
            <p:cNvSpPr>
              <a:spLocks noChangeArrowheads="1"/>
            </p:cNvSpPr>
            <p:nvPr/>
          </p:nvSpPr>
          <p:spPr bwMode="auto">
            <a:xfrm>
              <a:off x="3571876" y="2139950"/>
              <a:ext cx="301625" cy="11112"/>
            </a:xfrm>
            <a:prstGeom prst="rect">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56" name="Freeform 11">
              <a:extLst>
                <a:ext uri="{FF2B5EF4-FFF2-40B4-BE49-F238E27FC236}">
                  <a16:creationId xmlns:a16="http://schemas.microsoft.com/office/drawing/2014/main" id="{40921F25-E7A3-487A-B29C-7AA1BD1CC4AB}"/>
                </a:ext>
              </a:extLst>
            </p:cNvPr>
            <p:cNvSpPr>
              <a:spLocks/>
            </p:cNvSpPr>
            <p:nvPr/>
          </p:nvSpPr>
          <p:spPr bwMode="auto">
            <a:xfrm>
              <a:off x="3868738" y="1868487"/>
              <a:ext cx="171450" cy="279400"/>
            </a:xfrm>
            <a:custGeom>
              <a:avLst/>
              <a:gdLst>
                <a:gd name="T0" fmla="*/ 0 w 108"/>
                <a:gd name="T1" fmla="*/ 173 h 176"/>
                <a:gd name="T2" fmla="*/ 6 w 108"/>
                <a:gd name="T3" fmla="*/ 176 h 176"/>
                <a:gd name="T4" fmla="*/ 108 w 108"/>
                <a:gd name="T5" fmla="*/ 2 h 176"/>
                <a:gd name="T6" fmla="*/ 102 w 108"/>
                <a:gd name="T7" fmla="*/ 0 h 176"/>
                <a:gd name="T8" fmla="*/ 0 w 108"/>
                <a:gd name="T9" fmla="*/ 173 h 176"/>
              </a:gdLst>
              <a:ahLst/>
              <a:cxnLst>
                <a:cxn ang="0">
                  <a:pos x="T0" y="T1"/>
                </a:cxn>
                <a:cxn ang="0">
                  <a:pos x="T2" y="T3"/>
                </a:cxn>
                <a:cxn ang="0">
                  <a:pos x="T4" y="T5"/>
                </a:cxn>
                <a:cxn ang="0">
                  <a:pos x="T6" y="T7"/>
                </a:cxn>
                <a:cxn ang="0">
                  <a:pos x="T8" y="T9"/>
                </a:cxn>
              </a:cxnLst>
              <a:rect l="0" t="0" r="r" b="b"/>
              <a:pathLst>
                <a:path w="108" h="176">
                  <a:moveTo>
                    <a:pt x="0" y="173"/>
                  </a:moveTo>
                  <a:lnTo>
                    <a:pt x="6" y="176"/>
                  </a:lnTo>
                  <a:lnTo>
                    <a:pt x="108" y="2"/>
                  </a:lnTo>
                  <a:lnTo>
                    <a:pt x="102" y="0"/>
                  </a:lnTo>
                  <a:lnTo>
                    <a:pt x="0" y="173"/>
                  </a:lnTo>
                  <a:close/>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57" name="Rectangle 12">
              <a:extLst>
                <a:ext uri="{FF2B5EF4-FFF2-40B4-BE49-F238E27FC236}">
                  <a16:creationId xmlns:a16="http://schemas.microsoft.com/office/drawing/2014/main" id="{5830038C-F90C-4AF1-B2BD-C9A19E43D4D3}"/>
                </a:ext>
              </a:extLst>
            </p:cNvPr>
            <p:cNvSpPr>
              <a:spLocks noChangeArrowheads="1"/>
            </p:cNvSpPr>
            <p:nvPr/>
          </p:nvSpPr>
          <p:spPr bwMode="auto">
            <a:xfrm>
              <a:off x="4035426" y="1863725"/>
              <a:ext cx="303212" cy="11112"/>
            </a:xfrm>
            <a:prstGeom prst="rect">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58" name="Rectangle 13">
              <a:extLst>
                <a:ext uri="{FF2B5EF4-FFF2-40B4-BE49-F238E27FC236}">
                  <a16:creationId xmlns:a16="http://schemas.microsoft.com/office/drawing/2014/main" id="{4C173C02-9F9D-4FA0-8F1F-FA1E651E49F9}"/>
                </a:ext>
              </a:extLst>
            </p:cNvPr>
            <p:cNvSpPr>
              <a:spLocks noChangeArrowheads="1"/>
            </p:cNvSpPr>
            <p:nvPr/>
          </p:nvSpPr>
          <p:spPr bwMode="auto">
            <a:xfrm>
              <a:off x="3571876" y="2455861"/>
              <a:ext cx="395287" cy="12700"/>
            </a:xfrm>
            <a:prstGeom prst="rect">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59" name="Freeform 14">
              <a:extLst>
                <a:ext uri="{FF2B5EF4-FFF2-40B4-BE49-F238E27FC236}">
                  <a16:creationId xmlns:a16="http://schemas.microsoft.com/office/drawing/2014/main" id="{1508FECF-0F84-4FF6-A28E-71F0DF00EC25}"/>
                </a:ext>
              </a:extLst>
            </p:cNvPr>
            <p:cNvSpPr>
              <a:spLocks/>
            </p:cNvSpPr>
            <p:nvPr/>
          </p:nvSpPr>
          <p:spPr bwMode="auto">
            <a:xfrm>
              <a:off x="3962401" y="2206625"/>
              <a:ext cx="163512" cy="257175"/>
            </a:xfrm>
            <a:custGeom>
              <a:avLst/>
              <a:gdLst>
                <a:gd name="T0" fmla="*/ 0 w 103"/>
                <a:gd name="T1" fmla="*/ 160 h 162"/>
                <a:gd name="T2" fmla="*/ 6 w 103"/>
                <a:gd name="T3" fmla="*/ 162 h 162"/>
                <a:gd name="T4" fmla="*/ 103 w 103"/>
                <a:gd name="T5" fmla="*/ 3 h 162"/>
                <a:gd name="T6" fmla="*/ 97 w 103"/>
                <a:gd name="T7" fmla="*/ 0 h 162"/>
                <a:gd name="T8" fmla="*/ 0 w 103"/>
                <a:gd name="T9" fmla="*/ 160 h 162"/>
              </a:gdLst>
              <a:ahLst/>
              <a:cxnLst>
                <a:cxn ang="0">
                  <a:pos x="T0" y="T1"/>
                </a:cxn>
                <a:cxn ang="0">
                  <a:pos x="T2" y="T3"/>
                </a:cxn>
                <a:cxn ang="0">
                  <a:pos x="T4" y="T5"/>
                </a:cxn>
                <a:cxn ang="0">
                  <a:pos x="T6" y="T7"/>
                </a:cxn>
                <a:cxn ang="0">
                  <a:pos x="T8" y="T9"/>
                </a:cxn>
              </a:cxnLst>
              <a:rect l="0" t="0" r="r" b="b"/>
              <a:pathLst>
                <a:path w="103" h="162">
                  <a:moveTo>
                    <a:pt x="0" y="160"/>
                  </a:moveTo>
                  <a:lnTo>
                    <a:pt x="6" y="162"/>
                  </a:lnTo>
                  <a:lnTo>
                    <a:pt x="103" y="3"/>
                  </a:lnTo>
                  <a:lnTo>
                    <a:pt x="97" y="0"/>
                  </a:lnTo>
                  <a:lnTo>
                    <a:pt x="0" y="160"/>
                  </a:lnTo>
                  <a:close/>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60" name="Rectangle 15">
              <a:extLst>
                <a:ext uri="{FF2B5EF4-FFF2-40B4-BE49-F238E27FC236}">
                  <a16:creationId xmlns:a16="http://schemas.microsoft.com/office/drawing/2014/main" id="{0F8D1305-AFD2-4D55-B918-ACB09A0A0D5D}"/>
                </a:ext>
              </a:extLst>
            </p:cNvPr>
            <p:cNvSpPr>
              <a:spLocks noChangeArrowheads="1"/>
            </p:cNvSpPr>
            <p:nvPr/>
          </p:nvSpPr>
          <p:spPr bwMode="auto">
            <a:xfrm>
              <a:off x="4119563" y="2203450"/>
              <a:ext cx="395288" cy="11112"/>
            </a:xfrm>
            <a:prstGeom prst="rect">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22583" name="Line 38">
              <a:extLst>
                <a:ext uri="{FF2B5EF4-FFF2-40B4-BE49-F238E27FC236}">
                  <a16:creationId xmlns:a16="http://schemas.microsoft.com/office/drawing/2014/main" id="{268D69A3-619D-47C1-9895-F0ABF30BE9CD}"/>
                </a:ext>
              </a:extLst>
            </p:cNvPr>
            <p:cNvSpPr>
              <a:spLocks noChangeShapeType="1"/>
            </p:cNvSpPr>
            <p:nvPr/>
          </p:nvSpPr>
          <p:spPr bwMode="auto">
            <a:xfrm>
              <a:off x="3921125" y="2011359"/>
              <a:ext cx="65088" cy="0"/>
            </a:xfrm>
            <a:prstGeom prst="line">
              <a:avLst/>
            </a:prstGeom>
            <a:noFill/>
            <a:ln w="4">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4" name="Line 39">
              <a:extLst>
                <a:ext uri="{FF2B5EF4-FFF2-40B4-BE49-F238E27FC236}">
                  <a16:creationId xmlns:a16="http://schemas.microsoft.com/office/drawing/2014/main" id="{18EE5131-011C-4DE2-AFFC-251AA8336C28}"/>
                </a:ext>
              </a:extLst>
            </p:cNvPr>
            <p:cNvSpPr>
              <a:spLocks noChangeShapeType="1"/>
            </p:cNvSpPr>
            <p:nvPr/>
          </p:nvSpPr>
          <p:spPr bwMode="auto">
            <a:xfrm>
              <a:off x="4010025" y="2339972"/>
              <a:ext cx="61913" cy="0"/>
            </a:xfrm>
            <a:prstGeom prst="line">
              <a:avLst/>
            </a:prstGeom>
            <a:noFill/>
            <a:ln w="4">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5" name="Rectangle 40">
              <a:extLst>
                <a:ext uri="{FF2B5EF4-FFF2-40B4-BE49-F238E27FC236}">
                  <a16:creationId xmlns:a16="http://schemas.microsoft.com/office/drawing/2014/main" id="{FF09A39D-9841-4F4F-A2A5-BA4E23AAA2CE}"/>
                </a:ext>
              </a:extLst>
            </p:cNvPr>
            <p:cNvSpPr>
              <a:spLocks noChangeArrowheads="1"/>
            </p:cNvSpPr>
            <p:nvPr/>
          </p:nvSpPr>
          <p:spPr bwMode="auto">
            <a:xfrm>
              <a:off x="3678238" y="1960559"/>
              <a:ext cx="15869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600">
                  <a:solidFill>
                    <a:srgbClr val="000000"/>
                  </a:solidFill>
                  <a:latin typeface="Arial Armenian"/>
                </a:rPr>
                <a:t>0.5V</a:t>
              </a:r>
              <a:endParaRPr lang="en-US" altLang="en-US" sz="1800"/>
            </a:p>
          </p:txBody>
        </p:sp>
        <p:sp>
          <p:nvSpPr>
            <p:cNvPr id="22586" name="Rectangle 41">
              <a:extLst>
                <a:ext uri="{FF2B5EF4-FFF2-40B4-BE49-F238E27FC236}">
                  <a16:creationId xmlns:a16="http://schemas.microsoft.com/office/drawing/2014/main" id="{0C86CBBB-31C5-40FC-929F-4AA488CE826E}"/>
                </a:ext>
              </a:extLst>
            </p:cNvPr>
            <p:cNvSpPr>
              <a:spLocks noChangeArrowheads="1"/>
            </p:cNvSpPr>
            <p:nvPr/>
          </p:nvSpPr>
          <p:spPr bwMode="auto">
            <a:xfrm>
              <a:off x="3830638" y="1985959"/>
              <a:ext cx="73738"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400">
                  <a:solidFill>
                    <a:srgbClr val="000000"/>
                  </a:solidFill>
                  <a:latin typeface="Arial Armenian"/>
                </a:rPr>
                <a:t>DD</a:t>
              </a:r>
              <a:endParaRPr lang="en-US" altLang="en-US" sz="1800"/>
            </a:p>
          </p:txBody>
        </p:sp>
        <p:sp>
          <p:nvSpPr>
            <p:cNvPr id="22587" name="Rectangle 42">
              <a:extLst>
                <a:ext uri="{FF2B5EF4-FFF2-40B4-BE49-F238E27FC236}">
                  <a16:creationId xmlns:a16="http://schemas.microsoft.com/office/drawing/2014/main" id="{F157DB76-BAB1-4E8F-8881-78D4FE75287E}"/>
                </a:ext>
              </a:extLst>
            </p:cNvPr>
            <p:cNvSpPr>
              <a:spLocks noChangeArrowheads="1"/>
            </p:cNvSpPr>
            <p:nvPr/>
          </p:nvSpPr>
          <p:spPr bwMode="auto">
            <a:xfrm>
              <a:off x="3765550" y="2300284"/>
              <a:ext cx="15869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600">
                  <a:solidFill>
                    <a:srgbClr val="000000"/>
                  </a:solidFill>
                  <a:latin typeface="Arial Armenian"/>
                </a:rPr>
                <a:t>0.5V</a:t>
              </a:r>
              <a:endParaRPr lang="en-US" altLang="en-US" sz="1800"/>
            </a:p>
          </p:txBody>
        </p:sp>
        <p:sp>
          <p:nvSpPr>
            <p:cNvPr id="22588" name="Rectangle 43">
              <a:extLst>
                <a:ext uri="{FF2B5EF4-FFF2-40B4-BE49-F238E27FC236}">
                  <a16:creationId xmlns:a16="http://schemas.microsoft.com/office/drawing/2014/main" id="{16457BA9-016F-485F-860D-9C91E1C3EB47}"/>
                </a:ext>
              </a:extLst>
            </p:cNvPr>
            <p:cNvSpPr>
              <a:spLocks noChangeArrowheads="1"/>
            </p:cNvSpPr>
            <p:nvPr/>
          </p:nvSpPr>
          <p:spPr bwMode="auto">
            <a:xfrm>
              <a:off x="3911600" y="2320922"/>
              <a:ext cx="73738"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400">
                  <a:solidFill>
                    <a:srgbClr val="000000"/>
                  </a:solidFill>
                  <a:latin typeface="Arial Armenian"/>
                </a:rPr>
                <a:t>DD</a:t>
              </a:r>
              <a:endParaRPr lang="en-US" altLang="en-US" sz="1800"/>
            </a:p>
          </p:txBody>
        </p:sp>
        <p:sp>
          <p:nvSpPr>
            <p:cNvPr id="22589" name="Rectangle 44">
              <a:extLst>
                <a:ext uri="{FF2B5EF4-FFF2-40B4-BE49-F238E27FC236}">
                  <a16:creationId xmlns:a16="http://schemas.microsoft.com/office/drawing/2014/main" id="{89D94BEA-F660-48A3-9C26-09C7D0341D31}"/>
                </a:ext>
              </a:extLst>
            </p:cNvPr>
            <p:cNvSpPr>
              <a:spLocks noChangeArrowheads="1"/>
            </p:cNvSpPr>
            <p:nvPr/>
          </p:nvSpPr>
          <p:spPr bwMode="auto">
            <a:xfrm>
              <a:off x="3524250" y="2065334"/>
              <a:ext cx="171522"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500">
                  <a:solidFill>
                    <a:srgbClr val="000000"/>
                  </a:solidFill>
                  <a:latin typeface="Arial Armenian"/>
                </a:rPr>
                <a:t>DATA</a:t>
              </a:r>
              <a:endParaRPr lang="en-US" altLang="en-US" sz="1800"/>
            </a:p>
          </p:txBody>
        </p:sp>
        <p:sp>
          <p:nvSpPr>
            <p:cNvPr id="22590" name="Rectangle 45">
              <a:extLst>
                <a:ext uri="{FF2B5EF4-FFF2-40B4-BE49-F238E27FC236}">
                  <a16:creationId xmlns:a16="http://schemas.microsoft.com/office/drawing/2014/main" id="{3B4E3A41-631D-4BCD-9B7B-11400F6C2CC1}"/>
                </a:ext>
              </a:extLst>
            </p:cNvPr>
            <p:cNvSpPr>
              <a:spLocks noChangeArrowheads="1"/>
            </p:cNvSpPr>
            <p:nvPr/>
          </p:nvSpPr>
          <p:spPr bwMode="auto">
            <a:xfrm>
              <a:off x="3505200" y="2384422"/>
              <a:ext cx="22121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500">
                  <a:solidFill>
                    <a:srgbClr val="000000"/>
                  </a:solidFill>
                  <a:latin typeface="Arial Armenian"/>
                </a:rPr>
                <a:t>CLOCK</a:t>
              </a:r>
              <a:endParaRPr lang="en-US" altLang="en-US" sz="1800"/>
            </a:p>
          </p:txBody>
        </p:sp>
        <p:sp>
          <p:nvSpPr>
            <p:cNvPr id="22591" name="Rectangle 46">
              <a:extLst>
                <a:ext uri="{FF2B5EF4-FFF2-40B4-BE49-F238E27FC236}">
                  <a16:creationId xmlns:a16="http://schemas.microsoft.com/office/drawing/2014/main" id="{B4485A15-1850-4F14-85EC-EA60165C6DDA}"/>
                </a:ext>
              </a:extLst>
            </p:cNvPr>
            <p:cNvSpPr>
              <a:spLocks noChangeArrowheads="1"/>
            </p:cNvSpPr>
            <p:nvPr/>
          </p:nvSpPr>
          <p:spPr bwMode="auto">
            <a:xfrm>
              <a:off x="4067175" y="2087559"/>
              <a:ext cx="3366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b="1">
                  <a:solidFill>
                    <a:srgbClr val="3333CC"/>
                  </a:solidFill>
                  <a:latin typeface="Arial Armenian"/>
                </a:rPr>
                <a:t>t</a:t>
              </a:r>
              <a:endParaRPr lang="en-US" altLang="en-US" sz="1800"/>
            </a:p>
          </p:txBody>
        </p:sp>
        <p:sp>
          <p:nvSpPr>
            <p:cNvPr id="22592" name="Rectangle 47">
              <a:extLst>
                <a:ext uri="{FF2B5EF4-FFF2-40B4-BE49-F238E27FC236}">
                  <a16:creationId xmlns:a16="http://schemas.microsoft.com/office/drawing/2014/main" id="{DFDF862E-CA0B-48D3-A5A0-CA3DA26D8699}"/>
                </a:ext>
              </a:extLst>
            </p:cNvPr>
            <p:cNvSpPr>
              <a:spLocks noChangeArrowheads="1"/>
            </p:cNvSpPr>
            <p:nvPr/>
          </p:nvSpPr>
          <p:spPr bwMode="auto">
            <a:xfrm>
              <a:off x="4106863" y="2132009"/>
              <a:ext cx="89768"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500" b="1">
                  <a:solidFill>
                    <a:srgbClr val="3333CC"/>
                  </a:solidFill>
                  <a:latin typeface="Arial Armenian"/>
                </a:rPr>
                <a:t>SU</a:t>
              </a:r>
              <a:endParaRPr lang="en-US" altLang="en-US" sz="1800"/>
            </a:p>
          </p:txBody>
        </p:sp>
        <p:sp>
          <p:nvSpPr>
            <p:cNvPr id="22593" name="Line 48">
              <a:extLst>
                <a:ext uri="{FF2B5EF4-FFF2-40B4-BE49-F238E27FC236}">
                  <a16:creationId xmlns:a16="http://schemas.microsoft.com/office/drawing/2014/main" id="{E591664F-DCD6-43C1-B640-9A4EFDEBA2AA}"/>
                </a:ext>
              </a:extLst>
            </p:cNvPr>
            <p:cNvSpPr>
              <a:spLocks noChangeShapeType="1"/>
            </p:cNvSpPr>
            <p:nvPr/>
          </p:nvSpPr>
          <p:spPr bwMode="auto">
            <a:xfrm flipV="1">
              <a:off x="3789364" y="2214559"/>
              <a:ext cx="169860" cy="1586"/>
            </a:xfrm>
            <a:prstGeom prst="line">
              <a:avLst/>
            </a:prstGeom>
            <a:noFill/>
            <a:ln w="1">
              <a:solidFill>
                <a:srgbClr val="0000FF"/>
              </a:solidFill>
              <a:round/>
              <a:headEnd/>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22594" name="Line 50">
              <a:extLst>
                <a:ext uri="{FF2B5EF4-FFF2-40B4-BE49-F238E27FC236}">
                  <a16:creationId xmlns:a16="http://schemas.microsoft.com/office/drawing/2014/main" id="{B1F8C247-1C94-49E4-B0D5-396432E9C631}"/>
                </a:ext>
              </a:extLst>
            </p:cNvPr>
            <p:cNvSpPr>
              <a:spLocks noChangeShapeType="1"/>
            </p:cNvSpPr>
            <p:nvPr/>
          </p:nvSpPr>
          <p:spPr bwMode="auto">
            <a:xfrm flipH="1" flipV="1">
              <a:off x="4051301" y="2201065"/>
              <a:ext cx="166686" cy="0"/>
            </a:xfrm>
            <a:prstGeom prst="line">
              <a:avLst/>
            </a:prstGeom>
            <a:noFill/>
            <a:ln w="1">
              <a:solidFill>
                <a:srgbClr val="0000FF"/>
              </a:solidFill>
              <a:round/>
              <a:headEnd/>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73" name="Rectangle 53">
              <a:extLst>
                <a:ext uri="{FF2B5EF4-FFF2-40B4-BE49-F238E27FC236}">
                  <a16:creationId xmlns:a16="http://schemas.microsoft.com/office/drawing/2014/main" id="{AFB501A2-6240-439B-B4CC-BCD81B0A133B}"/>
                </a:ext>
              </a:extLst>
            </p:cNvPr>
            <p:cNvSpPr>
              <a:spLocks noChangeArrowheads="1"/>
            </p:cNvSpPr>
            <p:nvPr/>
          </p:nvSpPr>
          <p:spPr bwMode="auto">
            <a:xfrm>
              <a:off x="3397251" y="3314699"/>
              <a:ext cx="422275" cy="12700"/>
            </a:xfrm>
            <a:prstGeom prst="rect">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74" name="Freeform 54">
              <a:extLst>
                <a:ext uri="{FF2B5EF4-FFF2-40B4-BE49-F238E27FC236}">
                  <a16:creationId xmlns:a16="http://schemas.microsoft.com/office/drawing/2014/main" id="{8E9A6982-2E3E-4CC4-8FF9-F9D93582DC5B}"/>
                </a:ext>
              </a:extLst>
            </p:cNvPr>
            <p:cNvSpPr>
              <a:spLocks/>
            </p:cNvSpPr>
            <p:nvPr/>
          </p:nvSpPr>
          <p:spPr bwMode="auto">
            <a:xfrm>
              <a:off x="3816351" y="3062286"/>
              <a:ext cx="176212" cy="263525"/>
            </a:xfrm>
            <a:custGeom>
              <a:avLst/>
              <a:gdLst>
                <a:gd name="T0" fmla="*/ 0 w 111"/>
                <a:gd name="T1" fmla="*/ 162 h 166"/>
                <a:gd name="T2" fmla="*/ 7 w 111"/>
                <a:gd name="T3" fmla="*/ 166 h 166"/>
                <a:gd name="T4" fmla="*/ 111 w 111"/>
                <a:gd name="T5" fmla="*/ 4 h 166"/>
                <a:gd name="T6" fmla="*/ 104 w 111"/>
                <a:gd name="T7" fmla="*/ 0 h 166"/>
                <a:gd name="T8" fmla="*/ 0 w 111"/>
                <a:gd name="T9" fmla="*/ 162 h 166"/>
              </a:gdLst>
              <a:ahLst/>
              <a:cxnLst>
                <a:cxn ang="0">
                  <a:pos x="T0" y="T1"/>
                </a:cxn>
                <a:cxn ang="0">
                  <a:pos x="T2" y="T3"/>
                </a:cxn>
                <a:cxn ang="0">
                  <a:pos x="T4" y="T5"/>
                </a:cxn>
                <a:cxn ang="0">
                  <a:pos x="T6" y="T7"/>
                </a:cxn>
                <a:cxn ang="0">
                  <a:pos x="T8" y="T9"/>
                </a:cxn>
              </a:cxnLst>
              <a:rect l="0" t="0" r="r" b="b"/>
              <a:pathLst>
                <a:path w="111" h="166">
                  <a:moveTo>
                    <a:pt x="0" y="162"/>
                  </a:moveTo>
                  <a:lnTo>
                    <a:pt x="7" y="166"/>
                  </a:lnTo>
                  <a:lnTo>
                    <a:pt x="111" y="4"/>
                  </a:lnTo>
                  <a:lnTo>
                    <a:pt x="104" y="0"/>
                  </a:lnTo>
                  <a:lnTo>
                    <a:pt x="0" y="162"/>
                  </a:lnTo>
                  <a:close/>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75" name="Rectangle 55">
              <a:extLst>
                <a:ext uri="{FF2B5EF4-FFF2-40B4-BE49-F238E27FC236}">
                  <a16:creationId xmlns:a16="http://schemas.microsoft.com/office/drawing/2014/main" id="{32119A73-CBA5-435C-A565-C7B6A11FF961}"/>
                </a:ext>
              </a:extLst>
            </p:cNvPr>
            <p:cNvSpPr>
              <a:spLocks noChangeArrowheads="1"/>
            </p:cNvSpPr>
            <p:nvPr/>
          </p:nvSpPr>
          <p:spPr bwMode="auto">
            <a:xfrm>
              <a:off x="3986213" y="3057524"/>
              <a:ext cx="419100" cy="12700"/>
            </a:xfrm>
            <a:prstGeom prst="rect">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76" name="Rectangle 56">
              <a:extLst>
                <a:ext uri="{FF2B5EF4-FFF2-40B4-BE49-F238E27FC236}">
                  <a16:creationId xmlns:a16="http://schemas.microsoft.com/office/drawing/2014/main" id="{77F3417F-82F0-4AA4-800F-3E9EAFB95B49}"/>
                </a:ext>
              </a:extLst>
            </p:cNvPr>
            <p:cNvSpPr>
              <a:spLocks noChangeArrowheads="1"/>
            </p:cNvSpPr>
            <p:nvPr/>
          </p:nvSpPr>
          <p:spPr bwMode="auto">
            <a:xfrm>
              <a:off x="3894138" y="2716211"/>
              <a:ext cx="323850" cy="12700"/>
            </a:xfrm>
            <a:prstGeom prst="rect">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77" name="Freeform 57">
              <a:extLst>
                <a:ext uri="{FF2B5EF4-FFF2-40B4-BE49-F238E27FC236}">
                  <a16:creationId xmlns:a16="http://schemas.microsoft.com/office/drawing/2014/main" id="{7EA0DF23-9542-475E-9E06-F45B2B83F66F}"/>
                </a:ext>
              </a:extLst>
            </p:cNvPr>
            <p:cNvSpPr>
              <a:spLocks/>
            </p:cNvSpPr>
            <p:nvPr/>
          </p:nvSpPr>
          <p:spPr bwMode="auto">
            <a:xfrm>
              <a:off x="4213226" y="2720974"/>
              <a:ext cx="203200" cy="287337"/>
            </a:xfrm>
            <a:custGeom>
              <a:avLst/>
              <a:gdLst>
                <a:gd name="T0" fmla="*/ 7 w 128"/>
                <a:gd name="T1" fmla="*/ 0 h 181"/>
                <a:gd name="T2" fmla="*/ 0 w 128"/>
                <a:gd name="T3" fmla="*/ 4 h 181"/>
                <a:gd name="T4" fmla="*/ 121 w 128"/>
                <a:gd name="T5" fmla="*/ 181 h 181"/>
                <a:gd name="T6" fmla="*/ 128 w 128"/>
                <a:gd name="T7" fmla="*/ 177 h 181"/>
                <a:gd name="T8" fmla="*/ 7 w 128"/>
                <a:gd name="T9" fmla="*/ 0 h 181"/>
              </a:gdLst>
              <a:ahLst/>
              <a:cxnLst>
                <a:cxn ang="0">
                  <a:pos x="T0" y="T1"/>
                </a:cxn>
                <a:cxn ang="0">
                  <a:pos x="T2" y="T3"/>
                </a:cxn>
                <a:cxn ang="0">
                  <a:pos x="T4" y="T5"/>
                </a:cxn>
                <a:cxn ang="0">
                  <a:pos x="T6" y="T7"/>
                </a:cxn>
                <a:cxn ang="0">
                  <a:pos x="T8" y="T9"/>
                </a:cxn>
              </a:cxnLst>
              <a:rect l="0" t="0" r="r" b="b"/>
              <a:pathLst>
                <a:path w="128" h="181">
                  <a:moveTo>
                    <a:pt x="7" y="0"/>
                  </a:moveTo>
                  <a:lnTo>
                    <a:pt x="0" y="4"/>
                  </a:lnTo>
                  <a:lnTo>
                    <a:pt x="121" y="181"/>
                  </a:lnTo>
                  <a:lnTo>
                    <a:pt x="128" y="177"/>
                  </a:lnTo>
                  <a:lnTo>
                    <a:pt x="7" y="0"/>
                  </a:lnTo>
                  <a:close/>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78" name="Rectangle 58">
              <a:extLst>
                <a:ext uri="{FF2B5EF4-FFF2-40B4-BE49-F238E27FC236}">
                  <a16:creationId xmlns:a16="http://schemas.microsoft.com/office/drawing/2014/main" id="{A9539D36-32C5-4D3D-83AB-420F81B484A8}"/>
                </a:ext>
              </a:extLst>
            </p:cNvPr>
            <p:cNvSpPr>
              <a:spLocks noChangeArrowheads="1"/>
            </p:cNvSpPr>
            <p:nvPr/>
          </p:nvSpPr>
          <p:spPr bwMode="auto">
            <a:xfrm>
              <a:off x="4410076" y="2995611"/>
              <a:ext cx="322262" cy="12700"/>
            </a:xfrm>
            <a:prstGeom prst="rect">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22601" name="Line 85">
              <a:extLst>
                <a:ext uri="{FF2B5EF4-FFF2-40B4-BE49-F238E27FC236}">
                  <a16:creationId xmlns:a16="http://schemas.microsoft.com/office/drawing/2014/main" id="{4056D3B0-56DA-4EC4-A929-C0CAFFB93DDB}"/>
                </a:ext>
              </a:extLst>
            </p:cNvPr>
            <p:cNvSpPr>
              <a:spLocks noChangeShapeType="1"/>
            </p:cNvSpPr>
            <p:nvPr/>
          </p:nvSpPr>
          <p:spPr bwMode="auto">
            <a:xfrm>
              <a:off x="4273550" y="2857497"/>
              <a:ext cx="66675" cy="0"/>
            </a:xfrm>
            <a:prstGeom prst="line">
              <a:avLst/>
            </a:prstGeom>
            <a:noFill/>
            <a:ln w="4">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02" name="Line 86">
              <a:extLst>
                <a:ext uri="{FF2B5EF4-FFF2-40B4-BE49-F238E27FC236}">
                  <a16:creationId xmlns:a16="http://schemas.microsoft.com/office/drawing/2014/main" id="{42AF8BBD-193A-4DDD-A9F2-9B5D484FF83C}"/>
                </a:ext>
              </a:extLst>
            </p:cNvPr>
            <p:cNvSpPr>
              <a:spLocks noChangeShapeType="1"/>
            </p:cNvSpPr>
            <p:nvPr/>
          </p:nvSpPr>
          <p:spPr bwMode="auto">
            <a:xfrm>
              <a:off x="3867150" y="3201985"/>
              <a:ext cx="66675" cy="0"/>
            </a:xfrm>
            <a:prstGeom prst="line">
              <a:avLst/>
            </a:prstGeom>
            <a:noFill/>
            <a:ln w="4">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03" name="Rectangle 87">
              <a:extLst>
                <a:ext uri="{FF2B5EF4-FFF2-40B4-BE49-F238E27FC236}">
                  <a16:creationId xmlns:a16="http://schemas.microsoft.com/office/drawing/2014/main" id="{41B30CC9-1420-4AD5-BA38-16EA60BDFBA0}"/>
                </a:ext>
              </a:extLst>
            </p:cNvPr>
            <p:cNvSpPr>
              <a:spLocks noChangeArrowheads="1"/>
            </p:cNvSpPr>
            <p:nvPr/>
          </p:nvSpPr>
          <p:spPr bwMode="auto">
            <a:xfrm>
              <a:off x="4003675" y="2816222"/>
              <a:ext cx="184346"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700">
                  <a:solidFill>
                    <a:srgbClr val="000000"/>
                  </a:solidFill>
                  <a:latin typeface="Arial Armenian"/>
                </a:rPr>
                <a:t>0.5V</a:t>
              </a:r>
              <a:endParaRPr lang="en-US" altLang="en-US" sz="1800"/>
            </a:p>
          </p:txBody>
        </p:sp>
        <p:sp>
          <p:nvSpPr>
            <p:cNvPr id="22604" name="Rectangle 88">
              <a:extLst>
                <a:ext uri="{FF2B5EF4-FFF2-40B4-BE49-F238E27FC236}">
                  <a16:creationId xmlns:a16="http://schemas.microsoft.com/office/drawing/2014/main" id="{104AC329-E635-4F35-9103-D54DAB081B95}"/>
                </a:ext>
              </a:extLst>
            </p:cNvPr>
            <p:cNvSpPr>
              <a:spLocks noChangeArrowheads="1"/>
            </p:cNvSpPr>
            <p:nvPr/>
          </p:nvSpPr>
          <p:spPr bwMode="auto">
            <a:xfrm>
              <a:off x="4170363" y="2838447"/>
              <a:ext cx="73738"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400">
                  <a:solidFill>
                    <a:srgbClr val="000000"/>
                  </a:solidFill>
                  <a:latin typeface="Arial Armenian"/>
                </a:rPr>
                <a:t>DD</a:t>
              </a:r>
              <a:endParaRPr lang="en-US" altLang="en-US" sz="1800"/>
            </a:p>
          </p:txBody>
        </p:sp>
        <p:sp>
          <p:nvSpPr>
            <p:cNvPr id="22605" name="Rectangle 89">
              <a:extLst>
                <a:ext uri="{FF2B5EF4-FFF2-40B4-BE49-F238E27FC236}">
                  <a16:creationId xmlns:a16="http://schemas.microsoft.com/office/drawing/2014/main" id="{CCF3EB22-F106-415C-A122-DDF6BE13AE50}"/>
                </a:ext>
              </a:extLst>
            </p:cNvPr>
            <p:cNvSpPr>
              <a:spLocks noChangeArrowheads="1"/>
            </p:cNvSpPr>
            <p:nvPr/>
          </p:nvSpPr>
          <p:spPr bwMode="auto">
            <a:xfrm>
              <a:off x="3578225" y="3140072"/>
              <a:ext cx="184346"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700">
                  <a:solidFill>
                    <a:srgbClr val="000000"/>
                  </a:solidFill>
                  <a:latin typeface="Arial Armenian"/>
                </a:rPr>
                <a:t>0.5V</a:t>
              </a:r>
              <a:endParaRPr lang="en-US" altLang="en-US" sz="1800"/>
            </a:p>
          </p:txBody>
        </p:sp>
        <p:sp>
          <p:nvSpPr>
            <p:cNvPr id="22606" name="Rectangle 90">
              <a:extLst>
                <a:ext uri="{FF2B5EF4-FFF2-40B4-BE49-F238E27FC236}">
                  <a16:creationId xmlns:a16="http://schemas.microsoft.com/office/drawing/2014/main" id="{9C0B4157-2A2E-4E15-8BAF-B2D8E69B6B53}"/>
                </a:ext>
              </a:extLst>
            </p:cNvPr>
            <p:cNvSpPr>
              <a:spLocks noChangeArrowheads="1"/>
            </p:cNvSpPr>
            <p:nvPr/>
          </p:nvSpPr>
          <p:spPr bwMode="auto">
            <a:xfrm>
              <a:off x="3752850" y="3168647"/>
              <a:ext cx="73738"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400">
                  <a:solidFill>
                    <a:srgbClr val="000000"/>
                  </a:solidFill>
                  <a:latin typeface="Arial Armenian"/>
                </a:rPr>
                <a:t>DD</a:t>
              </a:r>
              <a:endParaRPr lang="en-US" altLang="en-US" sz="1800"/>
            </a:p>
          </p:txBody>
        </p:sp>
        <p:sp>
          <p:nvSpPr>
            <p:cNvPr id="22607" name="Rectangle 91">
              <a:extLst>
                <a:ext uri="{FF2B5EF4-FFF2-40B4-BE49-F238E27FC236}">
                  <a16:creationId xmlns:a16="http://schemas.microsoft.com/office/drawing/2014/main" id="{3B782651-1DA1-40F2-BB19-33D659BD92E4}"/>
                </a:ext>
              </a:extLst>
            </p:cNvPr>
            <p:cNvSpPr>
              <a:spLocks noChangeArrowheads="1"/>
            </p:cNvSpPr>
            <p:nvPr/>
          </p:nvSpPr>
          <p:spPr bwMode="auto">
            <a:xfrm>
              <a:off x="3894138" y="2643185"/>
              <a:ext cx="205184"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600">
                  <a:solidFill>
                    <a:srgbClr val="000000"/>
                  </a:solidFill>
                  <a:latin typeface="Arial Armenian"/>
                </a:rPr>
                <a:t>DATA</a:t>
              </a:r>
              <a:endParaRPr lang="en-US" altLang="en-US" sz="1800"/>
            </a:p>
          </p:txBody>
        </p:sp>
        <p:sp>
          <p:nvSpPr>
            <p:cNvPr id="22608" name="Rectangle 92">
              <a:extLst>
                <a:ext uri="{FF2B5EF4-FFF2-40B4-BE49-F238E27FC236}">
                  <a16:creationId xmlns:a16="http://schemas.microsoft.com/office/drawing/2014/main" id="{187AB7DC-36AE-4EB9-BFA3-CC773B83BE23}"/>
                </a:ext>
              </a:extLst>
            </p:cNvPr>
            <p:cNvSpPr>
              <a:spLocks noChangeArrowheads="1"/>
            </p:cNvSpPr>
            <p:nvPr/>
          </p:nvSpPr>
          <p:spPr bwMode="auto">
            <a:xfrm>
              <a:off x="3330575" y="3214685"/>
              <a:ext cx="26609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600">
                  <a:solidFill>
                    <a:srgbClr val="000000"/>
                  </a:solidFill>
                  <a:latin typeface="Arial Armenian"/>
                </a:rPr>
                <a:t>CLOCK</a:t>
              </a:r>
              <a:endParaRPr lang="en-US" altLang="en-US" sz="1800"/>
            </a:p>
          </p:txBody>
        </p:sp>
        <p:sp>
          <p:nvSpPr>
            <p:cNvPr id="22609" name="Rectangle 93">
              <a:extLst>
                <a:ext uri="{FF2B5EF4-FFF2-40B4-BE49-F238E27FC236}">
                  <a16:creationId xmlns:a16="http://schemas.microsoft.com/office/drawing/2014/main" id="{14C1389C-5386-4BA4-9593-16CB2D72D89E}"/>
                </a:ext>
              </a:extLst>
            </p:cNvPr>
            <p:cNvSpPr>
              <a:spLocks noChangeArrowheads="1"/>
            </p:cNvSpPr>
            <p:nvPr/>
          </p:nvSpPr>
          <p:spPr bwMode="auto">
            <a:xfrm>
              <a:off x="4035425" y="3208335"/>
              <a:ext cx="3847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b="1">
                  <a:solidFill>
                    <a:srgbClr val="3333CC"/>
                  </a:solidFill>
                  <a:latin typeface="Arial Armenian"/>
                </a:rPr>
                <a:t>t</a:t>
              </a:r>
              <a:endParaRPr lang="en-US" altLang="en-US" sz="1800"/>
            </a:p>
          </p:txBody>
        </p:sp>
        <p:sp>
          <p:nvSpPr>
            <p:cNvPr id="22610" name="Rectangle 94">
              <a:extLst>
                <a:ext uri="{FF2B5EF4-FFF2-40B4-BE49-F238E27FC236}">
                  <a16:creationId xmlns:a16="http://schemas.microsoft.com/office/drawing/2014/main" id="{066EC63E-0E6E-4004-A0AB-4D8AF2148019}"/>
                </a:ext>
              </a:extLst>
            </p:cNvPr>
            <p:cNvSpPr>
              <a:spLocks noChangeArrowheads="1"/>
            </p:cNvSpPr>
            <p:nvPr/>
          </p:nvSpPr>
          <p:spPr bwMode="auto">
            <a:xfrm>
              <a:off x="4070350" y="3254372"/>
              <a:ext cx="56106"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600" b="1">
                  <a:solidFill>
                    <a:srgbClr val="3333CC"/>
                  </a:solidFill>
                  <a:latin typeface="Arial Armenian"/>
                </a:rPr>
                <a:t>H</a:t>
              </a:r>
              <a:endParaRPr lang="en-US" altLang="en-US" sz="1800"/>
            </a:p>
          </p:txBody>
        </p:sp>
        <p:sp>
          <p:nvSpPr>
            <p:cNvPr id="22611" name="Line 95">
              <a:extLst>
                <a:ext uri="{FF2B5EF4-FFF2-40B4-BE49-F238E27FC236}">
                  <a16:creationId xmlns:a16="http://schemas.microsoft.com/office/drawing/2014/main" id="{30CF1F57-00A8-4E5B-9484-913CD5639436}"/>
                </a:ext>
              </a:extLst>
            </p:cNvPr>
            <p:cNvSpPr>
              <a:spLocks noChangeShapeType="1"/>
            </p:cNvSpPr>
            <p:nvPr/>
          </p:nvSpPr>
          <p:spPr bwMode="auto">
            <a:xfrm>
              <a:off x="3965575" y="3348035"/>
              <a:ext cx="284163" cy="0"/>
            </a:xfrm>
            <a:prstGeom prst="line">
              <a:avLst/>
            </a:prstGeom>
            <a:noFill/>
            <a:ln w="4">
              <a:solidFill>
                <a:srgbClr val="0000FF"/>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90" name="Line 99">
              <a:extLst>
                <a:ext uri="{FF2B5EF4-FFF2-40B4-BE49-F238E27FC236}">
                  <a16:creationId xmlns:a16="http://schemas.microsoft.com/office/drawing/2014/main" id="{EC31AD0C-6B37-451C-951D-71AD25B89FA6}"/>
                </a:ext>
              </a:extLst>
            </p:cNvPr>
            <p:cNvSpPr>
              <a:spLocks noChangeShapeType="1"/>
            </p:cNvSpPr>
            <p:nvPr/>
          </p:nvSpPr>
          <p:spPr bwMode="auto">
            <a:xfrm>
              <a:off x="3770313" y="3881435"/>
              <a:ext cx="471488"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91" name="Line 100">
              <a:extLst>
                <a:ext uri="{FF2B5EF4-FFF2-40B4-BE49-F238E27FC236}">
                  <a16:creationId xmlns:a16="http://schemas.microsoft.com/office/drawing/2014/main" id="{F38F33B7-1BFE-44E9-8A20-41E09F176506}"/>
                </a:ext>
              </a:extLst>
            </p:cNvPr>
            <p:cNvSpPr>
              <a:spLocks noChangeShapeType="1"/>
            </p:cNvSpPr>
            <p:nvPr/>
          </p:nvSpPr>
          <p:spPr bwMode="auto">
            <a:xfrm flipV="1">
              <a:off x="4241801" y="3657598"/>
              <a:ext cx="182562" cy="22383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92" name="Line 101">
              <a:extLst>
                <a:ext uri="{FF2B5EF4-FFF2-40B4-BE49-F238E27FC236}">
                  <a16:creationId xmlns:a16="http://schemas.microsoft.com/office/drawing/2014/main" id="{B80DE234-7D0F-45CE-A245-0530EA6C39D9}"/>
                </a:ext>
              </a:extLst>
            </p:cNvPr>
            <p:cNvSpPr>
              <a:spLocks noChangeShapeType="1"/>
            </p:cNvSpPr>
            <p:nvPr/>
          </p:nvSpPr>
          <p:spPr bwMode="auto">
            <a:xfrm>
              <a:off x="4424363" y="3657598"/>
              <a:ext cx="469900"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22615" name="Rectangle 102">
              <a:extLst>
                <a:ext uri="{FF2B5EF4-FFF2-40B4-BE49-F238E27FC236}">
                  <a16:creationId xmlns:a16="http://schemas.microsoft.com/office/drawing/2014/main" id="{995A0AA1-5115-418C-A757-A643856D313C}"/>
                </a:ext>
              </a:extLst>
            </p:cNvPr>
            <p:cNvSpPr>
              <a:spLocks noChangeArrowheads="1"/>
            </p:cNvSpPr>
            <p:nvPr/>
          </p:nvSpPr>
          <p:spPr bwMode="auto">
            <a:xfrm>
              <a:off x="3267076" y="3765547"/>
              <a:ext cx="639599"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a:solidFill>
                    <a:srgbClr val="000000"/>
                  </a:solidFill>
                  <a:latin typeface="Arial Armenian"/>
                </a:rPr>
                <a:t>SET (RESET)</a:t>
              </a:r>
              <a:endParaRPr lang="en-US" altLang="en-US" sz="1800"/>
            </a:p>
          </p:txBody>
        </p:sp>
        <p:sp>
          <p:nvSpPr>
            <p:cNvPr id="94" name="Line 103">
              <a:extLst>
                <a:ext uri="{FF2B5EF4-FFF2-40B4-BE49-F238E27FC236}">
                  <a16:creationId xmlns:a16="http://schemas.microsoft.com/office/drawing/2014/main" id="{0B6706A1-743C-47CA-9902-2FC90B55201E}"/>
                </a:ext>
              </a:extLst>
            </p:cNvPr>
            <p:cNvSpPr>
              <a:spLocks noChangeShapeType="1"/>
            </p:cNvSpPr>
            <p:nvPr/>
          </p:nvSpPr>
          <p:spPr bwMode="auto">
            <a:xfrm>
              <a:off x="3321051" y="4205285"/>
              <a:ext cx="533400"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95" name="Line 104">
              <a:extLst>
                <a:ext uri="{FF2B5EF4-FFF2-40B4-BE49-F238E27FC236}">
                  <a16:creationId xmlns:a16="http://schemas.microsoft.com/office/drawing/2014/main" id="{24825851-8D33-4DE9-8A78-F2955B99072A}"/>
                </a:ext>
              </a:extLst>
            </p:cNvPr>
            <p:cNvSpPr>
              <a:spLocks noChangeShapeType="1"/>
            </p:cNvSpPr>
            <p:nvPr/>
          </p:nvSpPr>
          <p:spPr bwMode="auto">
            <a:xfrm flipV="1">
              <a:off x="3854451" y="3975098"/>
              <a:ext cx="207962" cy="2301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96" name="Line 105">
              <a:extLst>
                <a:ext uri="{FF2B5EF4-FFF2-40B4-BE49-F238E27FC236}">
                  <a16:creationId xmlns:a16="http://schemas.microsoft.com/office/drawing/2014/main" id="{20DF99CC-D690-4C57-90D3-F416B8B0D20F}"/>
                </a:ext>
              </a:extLst>
            </p:cNvPr>
            <p:cNvSpPr>
              <a:spLocks noChangeShapeType="1"/>
            </p:cNvSpPr>
            <p:nvPr/>
          </p:nvSpPr>
          <p:spPr bwMode="auto">
            <a:xfrm>
              <a:off x="4062413" y="3975098"/>
              <a:ext cx="538163"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22619" name="Rectangle 106">
              <a:extLst>
                <a:ext uri="{FF2B5EF4-FFF2-40B4-BE49-F238E27FC236}">
                  <a16:creationId xmlns:a16="http://schemas.microsoft.com/office/drawing/2014/main" id="{23520A37-BC09-4393-84B0-44B8EC680ABE}"/>
                </a:ext>
              </a:extLst>
            </p:cNvPr>
            <p:cNvSpPr>
              <a:spLocks noChangeArrowheads="1"/>
            </p:cNvSpPr>
            <p:nvPr/>
          </p:nvSpPr>
          <p:spPr bwMode="auto">
            <a:xfrm>
              <a:off x="3259138" y="4095747"/>
              <a:ext cx="35426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a:solidFill>
                    <a:srgbClr val="000000"/>
                  </a:solidFill>
                  <a:latin typeface="Arial Armenian"/>
                </a:rPr>
                <a:t>CLOCK</a:t>
              </a:r>
              <a:endParaRPr lang="en-US" altLang="en-US" sz="1800"/>
            </a:p>
          </p:txBody>
        </p:sp>
        <p:sp>
          <p:nvSpPr>
            <p:cNvPr id="22620" name="Freeform 109">
              <a:extLst>
                <a:ext uri="{FF2B5EF4-FFF2-40B4-BE49-F238E27FC236}">
                  <a16:creationId xmlns:a16="http://schemas.microsoft.com/office/drawing/2014/main" id="{2F5FC588-B814-4457-AA6C-5475DD03804C}"/>
                </a:ext>
              </a:extLst>
            </p:cNvPr>
            <p:cNvSpPr>
              <a:spLocks noEditPoints="1"/>
            </p:cNvSpPr>
            <p:nvPr/>
          </p:nvSpPr>
          <p:spPr bwMode="auto">
            <a:xfrm>
              <a:off x="3946526" y="4304504"/>
              <a:ext cx="396875" cy="49212"/>
            </a:xfrm>
            <a:custGeom>
              <a:avLst/>
              <a:gdLst>
                <a:gd name="T0" fmla="*/ 38100 w 250"/>
                <a:gd name="T1" fmla="*/ 20637 h 31"/>
                <a:gd name="T2" fmla="*/ 363538 w 250"/>
                <a:gd name="T3" fmla="*/ 20637 h 31"/>
                <a:gd name="T4" fmla="*/ 363538 w 250"/>
                <a:gd name="T5" fmla="*/ 28575 h 31"/>
                <a:gd name="T6" fmla="*/ 34925 w 250"/>
                <a:gd name="T7" fmla="*/ 28575 h 31"/>
                <a:gd name="T8" fmla="*/ 34925 w 250"/>
                <a:gd name="T9" fmla="*/ 25400 h 31"/>
                <a:gd name="T10" fmla="*/ 31750 w 250"/>
                <a:gd name="T11" fmla="*/ 22225 h 31"/>
                <a:gd name="T12" fmla="*/ 34925 w 250"/>
                <a:gd name="T13" fmla="*/ 20637 h 31"/>
                <a:gd name="T14" fmla="*/ 38100 w 250"/>
                <a:gd name="T15" fmla="*/ 20637 h 31"/>
                <a:gd name="T16" fmla="*/ 49213 w 250"/>
                <a:gd name="T17" fmla="*/ 49212 h 31"/>
                <a:gd name="T18" fmla="*/ 0 w 250"/>
                <a:gd name="T19" fmla="*/ 22225 h 31"/>
                <a:gd name="T20" fmla="*/ 49213 w 250"/>
                <a:gd name="T21" fmla="*/ 0 h 31"/>
                <a:gd name="T22" fmla="*/ 49213 w 250"/>
                <a:gd name="T23" fmla="*/ 49212 h 31"/>
                <a:gd name="T24" fmla="*/ 349250 w 250"/>
                <a:gd name="T25" fmla="*/ 0 h 31"/>
                <a:gd name="T26" fmla="*/ 396875 w 250"/>
                <a:gd name="T27" fmla="*/ 22225 h 31"/>
                <a:gd name="T28" fmla="*/ 349250 w 250"/>
                <a:gd name="T29" fmla="*/ 49212 h 31"/>
                <a:gd name="T30" fmla="*/ 349250 w 250"/>
                <a:gd name="T31" fmla="*/ 0 h 3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0" h="31">
                  <a:moveTo>
                    <a:pt x="24" y="13"/>
                  </a:moveTo>
                  <a:lnTo>
                    <a:pt x="229" y="13"/>
                  </a:lnTo>
                  <a:lnTo>
                    <a:pt x="229" y="18"/>
                  </a:lnTo>
                  <a:lnTo>
                    <a:pt x="22" y="18"/>
                  </a:lnTo>
                  <a:lnTo>
                    <a:pt x="22" y="16"/>
                  </a:lnTo>
                  <a:lnTo>
                    <a:pt x="20" y="14"/>
                  </a:lnTo>
                  <a:lnTo>
                    <a:pt x="22" y="13"/>
                  </a:lnTo>
                  <a:lnTo>
                    <a:pt x="24" y="13"/>
                  </a:lnTo>
                  <a:close/>
                  <a:moveTo>
                    <a:pt x="31" y="31"/>
                  </a:moveTo>
                  <a:lnTo>
                    <a:pt x="0" y="14"/>
                  </a:lnTo>
                  <a:lnTo>
                    <a:pt x="31" y="0"/>
                  </a:lnTo>
                  <a:lnTo>
                    <a:pt x="31" y="31"/>
                  </a:lnTo>
                  <a:close/>
                  <a:moveTo>
                    <a:pt x="220" y="0"/>
                  </a:moveTo>
                  <a:lnTo>
                    <a:pt x="250" y="14"/>
                  </a:lnTo>
                  <a:lnTo>
                    <a:pt x="220" y="31"/>
                  </a:lnTo>
                  <a:lnTo>
                    <a:pt x="220" y="0"/>
                  </a:lnTo>
                  <a:close/>
                </a:path>
              </a:pathLst>
            </a:custGeom>
            <a:solidFill>
              <a:srgbClr val="000000"/>
            </a:solidFill>
            <a:ln w="2">
              <a:solidFill>
                <a:srgbClr val="0000FF"/>
              </a:solidFill>
              <a:prstDash val="solid"/>
              <a:round/>
              <a:headEnd/>
              <a:tailEnd/>
            </a:ln>
          </p:spPr>
          <p:txBody>
            <a:bodyPr/>
            <a:lstStyle/>
            <a:p>
              <a:endParaRPr lang="en-US"/>
            </a:p>
          </p:txBody>
        </p:sp>
        <p:sp>
          <p:nvSpPr>
            <p:cNvPr id="22621" name="Rectangle 110">
              <a:extLst>
                <a:ext uri="{FF2B5EF4-FFF2-40B4-BE49-F238E27FC236}">
                  <a16:creationId xmlns:a16="http://schemas.microsoft.com/office/drawing/2014/main" id="{8667ACA2-ECB9-4D76-A376-317C205A1727}"/>
                </a:ext>
              </a:extLst>
            </p:cNvPr>
            <p:cNvSpPr>
              <a:spLocks noChangeArrowheads="1"/>
            </p:cNvSpPr>
            <p:nvPr/>
          </p:nvSpPr>
          <p:spPr bwMode="auto">
            <a:xfrm>
              <a:off x="4013201" y="4125910"/>
              <a:ext cx="5129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b="1">
                  <a:solidFill>
                    <a:srgbClr val="3333CC"/>
                  </a:solidFill>
                  <a:latin typeface="Arial Armenian"/>
                </a:rPr>
                <a:t>t</a:t>
              </a:r>
              <a:endParaRPr lang="en-US" altLang="en-US" sz="1800"/>
            </a:p>
          </p:txBody>
        </p:sp>
        <p:sp>
          <p:nvSpPr>
            <p:cNvPr id="22622" name="Rectangle 111">
              <a:extLst>
                <a:ext uri="{FF2B5EF4-FFF2-40B4-BE49-F238E27FC236}">
                  <a16:creationId xmlns:a16="http://schemas.microsoft.com/office/drawing/2014/main" id="{EF6FE677-2318-496B-B312-A8FE1A2A4C04}"/>
                </a:ext>
              </a:extLst>
            </p:cNvPr>
            <p:cNvSpPr>
              <a:spLocks noChangeArrowheads="1"/>
            </p:cNvSpPr>
            <p:nvPr/>
          </p:nvSpPr>
          <p:spPr bwMode="auto">
            <a:xfrm>
              <a:off x="4062413" y="4187822"/>
              <a:ext cx="22762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b="1">
                  <a:solidFill>
                    <a:srgbClr val="3333CC"/>
                  </a:solidFill>
                  <a:latin typeface="Arial Armenian"/>
                </a:rPr>
                <a:t>REM</a:t>
              </a:r>
              <a:endParaRPr lang="en-US" altLang="en-US" sz="1800"/>
            </a:p>
          </p:txBody>
        </p:sp>
        <p:sp>
          <p:nvSpPr>
            <p:cNvPr id="22623" name="Rectangle 112">
              <a:extLst>
                <a:ext uri="{FF2B5EF4-FFF2-40B4-BE49-F238E27FC236}">
                  <a16:creationId xmlns:a16="http://schemas.microsoft.com/office/drawing/2014/main" id="{7A1458F6-8061-4AEB-8AF1-48774DCB75A4}"/>
                </a:ext>
              </a:extLst>
            </p:cNvPr>
            <p:cNvSpPr>
              <a:spLocks noChangeArrowheads="1"/>
            </p:cNvSpPr>
            <p:nvPr/>
          </p:nvSpPr>
          <p:spPr bwMode="auto">
            <a:xfrm>
              <a:off x="3922713" y="3656010"/>
              <a:ext cx="237244"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00"/>
                  </a:solidFill>
                  <a:latin typeface="Arial Armenian"/>
                </a:rPr>
                <a:t>0.5V</a:t>
              </a:r>
              <a:endParaRPr lang="en-US" altLang="en-US" sz="1800"/>
            </a:p>
          </p:txBody>
        </p:sp>
        <p:sp>
          <p:nvSpPr>
            <p:cNvPr id="22624" name="Rectangle 113">
              <a:extLst>
                <a:ext uri="{FF2B5EF4-FFF2-40B4-BE49-F238E27FC236}">
                  <a16:creationId xmlns:a16="http://schemas.microsoft.com/office/drawing/2014/main" id="{53F1FE46-9023-44B8-957A-D73C587F7102}"/>
                </a:ext>
              </a:extLst>
            </p:cNvPr>
            <p:cNvSpPr>
              <a:spLocks noChangeArrowheads="1"/>
            </p:cNvSpPr>
            <p:nvPr/>
          </p:nvSpPr>
          <p:spPr bwMode="auto">
            <a:xfrm>
              <a:off x="4141788" y="3697285"/>
              <a:ext cx="112210"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600">
                  <a:solidFill>
                    <a:srgbClr val="000000"/>
                  </a:solidFill>
                  <a:latin typeface="Arial Armenian"/>
                </a:rPr>
                <a:t>DD</a:t>
              </a:r>
              <a:endParaRPr lang="en-US" altLang="en-US" sz="1800"/>
            </a:p>
          </p:txBody>
        </p:sp>
        <p:sp>
          <p:nvSpPr>
            <p:cNvPr id="22625" name="Line 114">
              <a:extLst>
                <a:ext uri="{FF2B5EF4-FFF2-40B4-BE49-F238E27FC236}">
                  <a16:creationId xmlns:a16="http://schemas.microsoft.com/office/drawing/2014/main" id="{92983144-05B7-480A-892D-6AE2BE51B55D}"/>
                </a:ext>
              </a:extLst>
            </p:cNvPr>
            <p:cNvSpPr>
              <a:spLocks noChangeShapeType="1"/>
            </p:cNvSpPr>
            <p:nvPr/>
          </p:nvSpPr>
          <p:spPr bwMode="auto">
            <a:xfrm>
              <a:off x="4289426" y="3778247"/>
              <a:ext cx="87313" cy="0"/>
            </a:xfrm>
            <a:prstGeom prst="line">
              <a:avLst/>
            </a:prstGeom>
            <a:noFill/>
            <a:ln w="6">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26" name="Line 115">
              <a:extLst>
                <a:ext uri="{FF2B5EF4-FFF2-40B4-BE49-F238E27FC236}">
                  <a16:creationId xmlns:a16="http://schemas.microsoft.com/office/drawing/2014/main" id="{D401D17F-EB3E-4279-8C9F-C06B9FCC9968}"/>
                </a:ext>
              </a:extLst>
            </p:cNvPr>
            <p:cNvSpPr>
              <a:spLocks noChangeShapeType="1"/>
            </p:cNvSpPr>
            <p:nvPr/>
          </p:nvSpPr>
          <p:spPr bwMode="auto">
            <a:xfrm>
              <a:off x="3913188" y="4095747"/>
              <a:ext cx="88900" cy="0"/>
            </a:xfrm>
            <a:prstGeom prst="line">
              <a:avLst/>
            </a:prstGeom>
            <a:noFill/>
            <a:ln w="6">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27" name="Rectangle 116">
              <a:extLst>
                <a:ext uri="{FF2B5EF4-FFF2-40B4-BE49-F238E27FC236}">
                  <a16:creationId xmlns:a16="http://schemas.microsoft.com/office/drawing/2014/main" id="{D7C62756-ED44-4310-8CC9-42363C2B4C75}"/>
                </a:ext>
              </a:extLst>
            </p:cNvPr>
            <p:cNvSpPr>
              <a:spLocks noChangeArrowheads="1"/>
            </p:cNvSpPr>
            <p:nvPr/>
          </p:nvSpPr>
          <p:spPr bwMode="auto">
            <a:xfrm>
              <a:off x="3595688" y="3965572"/>
              <a:ext cx="237244"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00"/>
                  </a:solidFill>
                  <a:latin typeface="Arial Armenian"/>
                </a:rPr>
                <a:t>0.5V</a:t>
              </a:r>
              <a:endParaRPr lang="en-US" altLang="en-US" sz="1800"/>
            </a:p>
          </p:txBody>
        </p:sp>
        <p:sp>
          <p:nvSpPr>
            <p:cNvPr id="22628" name="Rectangle 117">
              <a:extLst>
                <a:ext uri="{FF2B5EF4-FFF2-40B4-BE49-F238E27FC236}">
                  <a16:creationId xmlns:a16="http://schemas.microsoft.com/office/drawing/2014/main" id="{2179D55A-7DDF-4C7D-974D-3A67DDE47C65}"/>
                </a:ext>
              </a:extLst>
            </p:cNvPr>
            <p:cNvSpPr>
              <a:spLocks noChangeArrowheads="1"/>
            </p:cNvSpPr>
            <p:nvPr/>
          </p:nvSpPr>
          <p:spPr bwMode="auto">
            <a:xfrm>
              <a:off x="3819526" y="4006847"/>
              <a:ext cx="112210"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600">
                  <a:solidFill>
                    <a:srgbClr val="000000"/>
                  </a:solidFill>
                  <a:latin typeface="Arial Armenian"/>
                </a:rPr>
                <a:t>DD</a:t>
              </a:r>
              <a:endParaRPr lang="en-US" altLang="en-US" sz="1800"/>
            </a:p>
          </p:txBody>
        </p:sp>
        <p:sp>
          <p:nvSpPr>
            <p:cNvPr id="22629" name="Line 118">
              <a:extLst>
                <a:ext uri="{FF2B5EF4-FFF2-40B4-BE49-F238E27FC236}">
                  <a16:creationId xmlns:a16="http://schemas.microsoft.com/office/drawing/2014/main" id="{C2E64698-5CD0-407E-9723-ED486F1B1A5F}"/>
                </a:ext>
              </a:extLst>
            </p:cNvPr>
            <p:cNvSpPr>
              <a:spLocks noChangeShapeType="1"/>
            </p:cNvSpPr>
            <p:nvPr/>
          </p:nvSpPr>
          <p:spPr bwMode="auto">
            <a:xfrm>
              <a:off x="4314826" y="3778247"/>
              <a:ext cx="88900" cy="0"/>
            </a:xfrm>
            <a:prstGeom prst="line">
              <a:avLst/>
            </a:prstGeom>
            <a:noFill/>
            <a:ln w="6">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30" name="Rectangle 120">
              <a:extLst>
                <a:ext uri="{FF2B5EF4-FFF2-40B4-BE49-F238E27FC236}">
                  <a16:creationId xmlns:a16="http://schemas.microsoft.com/office/drawing/2014/main" id="{6F58EBE4-B65F-47A0-971D-D52D0FAC8D43}"/>
                </a:ext>
              </a:extLst>
            </p:cNvPr>
            <p:cNvSpPr>
              <a:spLocks noChangeArrowheads="1"/>
            </p:cNvSpPr>
            <p:nvPr/>
          </p:nvSpPr>
          <p:spPr bwMode="auto">
            <a:xfrm>
              <a:off x="4327526" y="4948234"/>
              <a:ext cx="21320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a:solidFill>
                    <a:srgbClr val="000000"/>
                  </a:solidFill>
                  <a:latin typeface="Arial Armenian"/>
                </a:rPr>
                <a:t>0.5V</a:t>
              </a:r>
              <a:endParaRPr lang="en-US" altLang="en-US" sz="1800"/>
            </a:p>
          </p:txBody>
        </p:sp>
        <p:sp>
          <p:nvSpPr>
            <p:cNvPr id="22631" name="Rectangle 121">
              <a:extLst>
                <a:ext uri="{FF2B5EF4-FFF2-40B4-BE49-F238E27FC236}">
                  <a16:creationId xmlns:a16="http://schemas.microsoft.com/office/drawing/2014/main" id="{01539CD7-8B46-40EB-8542-DF277E6B9EBB}"/>
                </a:ext>
              </a:extLst>
            </p:cNvPr>
            <p:cNvSpPr>
              <a:spLocks noChangeArrowheads="1"/>
            </p:cNvSpPr>
            <p:nvPr/>
          </p:nvSpPr>
          <p:spPr bwMode="auto">
            <a:xfrm>
              <a:off x="4524376" y="4989509"/>
              <a:ext cx="9297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500">
                  <a:solidFill>
                    <a:srgbClr val="000000"/>
                  </a:solidFill>
                  <a:latin typeface="Arial Armenian"/>
                </a:rPr>
                <a:t>DD</a:t>
              </a:r>
              <a:endParaRPr lang="en-US" altLang="en-US" sz="1800"/>
            </a:p>
          </p:txBody>
        </p:sp>
        <p:sp>
          <p:nvSpPr>
            <p:cNvPr id="110" name="Line 122">
              <a:extLst>
                <a:ext uri="{FF2B5EF4-FFF2-40B4-BE49-F238E27FC236}">
                  <a16:creationId xmlns:a16="http://schemas.microsoft.com/office/drawing/2014/main" id="{25B17FF3-712B-4A26-8D5C-FFE0D538E874}"/>
                </a:ext>
              </a:extLst>
            </p:cNvPr>
            <p:cNvSpPr>
              <a:spLocks noChangeShapeType="1"/>
            </p:cNvSpPr>
            <p:nvPr/>
          </p:nvSpPr>
          <p:spPr bwMode="auto">
            <a:xfrm>
              <a:off x="3578226" y="4899022"/>
              <a:ext cx="422275"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111" name="Line 123">
              <a:extLst>
                <a:ext uri="{FF2B5EF4-FFF2-40B4-BE49-F238E27FC236}">
                  <a16:creationId xmlns:a16="http://schemas.microsoft.com/office/drawing/2014/main" id="{905D1A31-55C5-4B4F-8F03-18AE51D86DC9}"/>
                </a:ext>
              </a:extLst>
            </p:cNvPr>
            <p:cNvSpPr>
              <a:spLocks noChangeShapeType="1"/>
            </p:cNvSpPr>
            <p:nvPr/>
          </p:nvSpPr>
          <p:spPr bwMode="auto">
            <a:xfrm flipV="1">
              <a:off x="4000501" y="4729159"/>
              <a:ext cx="160337" cy="169863"/>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112" name="Line 124">
              <a:extLst>
                <a:ext uri="{FF2B5EF4-FFF2-40B4-BE49-F238E27FC236}">
                  <a16:creationId xmlns:a16="http://schemas.microsoft.com/office/drawing/2014/main" id="{E670B8CD-3DA3-4696-BC3E-856F8F53A506}"/>
                </a:ext>
              </a:extLst>
            </p:cNvPr>
            <p:cNvSpPr>
              <a:spLocks noChangeShapeType="1"/>
            </p:cNvSpPr>
            <p:nvPr/>
          </p:nvSpPr>
          <p:spPr bwMode="auto">
            <a:xfrm>
              <a:off x="4160838" y="4729159"/>
              <a:ext cx="420688"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22635" name="Rectangle 125">
              <a:extLst>
                <a:ext uri="{FF2B5EF4-FFF2-40B4-BE49-F238E27FC236}">
                  <a16:creationId xmlns:a16="http://schemas.microsoft.com/office/drawing/2014/main" id="{E3298CE2-8E4E-44A2-821B-065CEDCFEE47}"/>
                </a:ext>
              </a:extLst>
            </p:cNvPr>
            <p:cNvSpPr>
              <a:spLocks noChangeArrowheads="1"/>
            </p:cNvSpPr>
            <p:nvPr/>
          </p:nvSpPr>
          <p:spPr bwMode="auto">
            <a:xfrm>
              <a:off x="3325813" y="4800597"/>
              <a:ext cx="556243"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700">
                  <a:solidFill>
                    <a:srgbClr val="000000"/>
                  </a:solidFill>
                  <a:latin typeface="Arial Armenian"/>
                </a:rPr>
                <a:t>SET (RESET)</a:t>
              </a:r>
              <a:endParaRPr lang="en-US" altLang="en-US" sz="1800"/>
            </a:p>
          </p:txBody>
        </p:sp>
        <p:sp>
          <p:nvSpPr>
            <p:cNvPr id="114" name="Line 126">
              <a:extLst>
                <a:ext uri="{FF2B5EF4-FFF2-40B4-BE49-F238E27FC236}">
                  <a16:creationId xmlns:a16="http://schemas.microsoft.com/office/drawing/2014/main" id="{FAA1A3DC-CD22-4387-95F5-82B6124F6291}"/>
                </a:ext>
              </a:extLst>
            </p:cNvPr>
            <p:cNvSpPr>
              <a:spLocks noChangeShapeType="1"/>
            </p:cNvSpPr>
            <p:nvPr/>
          </p:nvSpPr>
          <p:spPr bwMode="auto">
            <a:xfrm>
              <a:off x="3665538" y="5106984"/>
              <a:ext cx="474663"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115" name="Line 127">
              <a:extLst>
                <a:ext uri="{FF2B5EF4-FFF2-40B4-BE49-F238E27FC236}">
                  <a16:creationId xmlns:a16="http://schemas.microsoft.com/office/drawing/2014/main" id="{9721F2D9-833F-4F38-9826-51792B49A80C}"/>
                </a:ext>
              </a:extLst>
            </p:cNvPr>
            <p:cNvSpPr>
              <a:spLocks noChangeShapeType="1"/>
            </p:cNvSpPr>
            <p:nvPr/>
          </p:nvSpPr>
          <p:spPr bwMode="auto">
            <a:xfrm flipV="1">
              <a:off x="4140201" y="4935534"/>
              <a:ext cx="188912" cy="17145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116" name="Line 128">
              <a:extLst>
                <a:ext uri="{FF2B5EF4-FFF2-40B4-BE49-F238E27FC236}">
                  <a16:creationId xmlns:a16="http://schemas.microsoft.com/office/drawing/2014/main" id="{7322741A-3491-49E1-8C55-F9180FA2D4D1}"/>
                </a:ext>
              </a:extLst>
            </p:cNvPr>
            <p:cNvSpPr>
              <a:spLocks noChangeShapeType="1"/>
            </p:cNvSpPr>
            <p:nvPr/>
          </p:nvSpPr>
          <p:spPr bwMode="auto">
            <a:xfrm>
              <a:off x="4329113" y="4935534"/>
              <a:ext cx="477838"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lstStyle/>
            <a:p>
              <a:pPr eaLnBrk="1" hangingPunct="1">
                <a:defRPr/>
              </a:pPr>
              <a:endParaRPr lang="en-US"/>
            </a:p>
          </p:txBody>
        </p:sp>
        <p:sp>
          <p:nvSpPr>
            <p:cNvPr id="22639" name="Rectangle 129">
              <a:extLst>
                <a:ext uri="{FF2B5EF4-FFF2-40B4-BE49-F238E27FC236}">
                  <a16:creationId xmlns:a16="http://schemas.microsoft.com/office/drawing/2014/main" id="{73434120-D2B4-4EC3-9A7B-86CF819BAAA6}"/>
                </a:ext>
              </a:extLst>
            </p:cNvPr>
            <p:cNvSpPr>
              <a:spLocks noChangeArrowheads="1"/>
            </p:cNvSpPr>
            <p:nvPr/>
          </p:nvSpPr>
          <p:spPr bwMode="auto">
            <a:xfrm>
              <a:off x="3333751" y="5016497"/>
              <a:ext cx="307777"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700">
                  <a:solidFill>
                    <a:srgbClr val="000000"/>
                  </a:solidFill>
                  <a:latin typeface="Arial Armenian"/>
                </a:rPr>
                <a:t>CLOCK</a:t>
              </a:r>
              <a:endParaRPr lang="en-US" altLang="en-US" sz="1800"/>
            </a:p>
          </p:txBody>
        </p:sp>
        <p:sp>
          <p:nvSpPr>
            <p:cNvPr id="22640" name="Rectangle 131">
              <a:extLst>
                <a:ext uri="{FF2B5EF4-FFF2-40B4-BE49-F238E27FC236}">
                  <a16:creationId xmlns:a16="http://schemas.microsoft.com/office/drawing/2014/main" id="{CF9E0803-4F95-4F4B-85AD-A300C74A2173}"/>
                </a:ext>
              </a:extLst>
            </p:cNvPr>
            <p:cNvSpPr>
              <a:spLocks noChangeArrowheads="1"/>
            </p:cNvSpPr>
            <p:nvPr/>
          </p:nvSpPr>
          <p:spPr bwMode="auto">
            <a:xfrm>
              <a:off x="4316413" y="5106984"/>
              <a:ext cx="46488"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b="1">
                  <a:solidFill>
                    <a:srgbClr val="3333CC"/>
                  </a:solidFill>
                  <a:latin typeface="Arial Armenian"/>
                </a:rPr>
                <a:t>t</a:t>
              </a:r>
              <a:endParaRPr lang="en-US" altLang="en-US" sz="1800"/>
            </a:p>
          </p:txBody>
        </p:sp>
        <p:sp>
          <p:nvSpPr>
            <p:cNvPr id="22641" name="Rectangle 132">
              <a:extLst>
                <a:ext uri="{FF2B5EF4-FFF2-40B4-BE49-F238E27FC236}">
                  <a16:creationId xmlns:a16="http://schemas.microsoft.com/office/drawing/2014/main" id="{C58866BB-0D8E-4E6A-9C72-B185F5133978}"/>
                </a:ext>
              </a:extLst>
            </p:cNvPr>
            <p:cNvSpPr>
              <a:spLocks noChangeArrowheads="1"/>
            </p:cNvSpPr>
            <p:nvPr/>
          </p:nvSpPr>
          <p:spPr bwMode="auto">
            <a:xfrm>
              <a:off x="4373563" y="5162547"/>
              <a:ext cx="187552"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700" b="1">
                  <a:solidFill>
                    <a:srgbClr val="3333CC"/>
                  </a:solidFill>
                  <a:latin typeface="Arial Armenian"/>
                </a:rPr>
                <a:t>REC</a:t>
              </a:r>
              <a:endParaRPr lang="en-US" altLang="en-US" sz="1800"/>
            </a:p>
          </p:txBody>
        </p:sp>
        <p:sp>
          <p:nvSpPr>
            <p:cNvPr id="22642" name="Rectangle 133">
              <a:extLst>
                <a:ext uri="{FF2B5EF4-FFF2-40B4-BE49-F238E27FC236}">
                  <a16:creationId xmlns:a16="http://schemas.microsoft.com/office/drawing/2014/main" id="{AEF1E6EC-E1C1-45A6-9D5D-3F89708DFF79}"/>
                </a:ext>
              </a:extLst>
            </p:cNvPr>
            <p:cNvSpPr>
              <a:spLocks noChangeArrowheads="1"/>
            </p:cNvSpPr>
            <p:nvPr/>
          </p:nvSpPr>
          <p:spPr bwMode="auto">
            <a:xfrm>
              <a:off x="3771901" y="4686297"/>
              <a:ext cx="21320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a:solidFill>
                    <a:srgbClr val="000000"/>
                  </a:solidFill>
                  <a:latin typeface="Arial Armenian"/>
                </a:rPr>
                <a:t>0.5V</a:t>
              </a:r>
              <a:endParaRPr lang="en-US" altLang="en-US" sz="1800"/>
            </a:p>
          </p:txBody>
        </p:sp>
        <p:sp>
          <p:nvSpPr>
            <p:cNvPr id="22643" name="Rectangle 134">
              <a:extLst>
                <a:ext uri="{FF2B5EF4-FFF2-40B4-BE49-F238E27FC236}">
                  <a16:creationId xmlns:a16="http://schemas.microsoft.com/office/drawing/2014/main" id="{34656BC4-7476-435F-B9C4-59EC9E033869}"/>
                </a:ext>
              </a:extLst>
            </p:cNvPr>
            <p:cNvSpPr>
              <a:spLocks noChangeArrowheads="1"/>
            </p:cNvSpPr>
            <p:nvPr/>
          </p:nvSpPr>
          <p:spPr bwMode="auto">
            <a:xfrm>
              <a:off x="3984626" y="4727572"/>
              <a:ext cx="9297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500">
                  <a:solidFill>
                    <a:srgbClr val="000000"/>
                  </a:solidFill>
                  <a:latin typeface="Arial Armenian"/>
                </a:rPr>
                <a:t>DD</a:t>
              </a:r>
              <a:endParaRPr lang="en-US" altLang="en-US" sz="1800"/>
            </a:p>
          </p:txBody>
        </p:sp>
        <p:sp>
          <p:nvSpPr>
            <p:cNvPr id="22644" name="Freeform 136">
              <a:extLst>
                <a:ext uri="{FF2B5EF4-FFF2-40B4-BE49-F238E27FC236}">
                  <a16:creationId xmlns:a16="http://schemas.microsoft.com/office/drawing/2014/main" id="{45D7C66B-45F4-4595-8D5C-4F0D68F33237}"/>
                </a:ext>
              </a:extLst>
            </p:cNvPr>
            <p:cNvSpPr>
              <a:spLocks noEditPoints="1"/>
            </p:cNvSpPr>
            <p:nvPr/>
          </p:nvSpPr>
          <p:spPr bwMode="auto">
            <a:xfrm>
              <a:off x="4083051" y="5167309"/>
              <a:ext cx="193675" cy="38100"/>
            </a:xfrm>
            <a:custGeom>
              <a:avLst/>
              <a:gdLst>
                <a:gd name="T0" fmla="*/ 28575 w 122"/>
                <a:gd name="T1" fmla="*/ 14288 h 24"/>
                <a:gd name="T2" fmla="*/ 161925 w 122"/>
                <a:gd name="T3" fmla="*/ 14288 h 24"/>
                <a:gd name="T4" fmla="*/ 161925 w 122"/>
                <a:gd name="T5" fmla="*/ 15875 h 24"/>
                <a:gd name="T6" fmla="*/ 165100 w 122"/>
                <a:gd name="T7" fmla="*/ 19050 h 24"/>
                <a:gd name="T8" fmla="*/ 161925 w 122"/>
                <a:gd name="T9" fmla="*/ 19050 h 24"/>
                <a:gd name="T10" fmla="*/ 161925 w 122"/>
                <a:gd name="T11" fmla="*/ 22225 h 24"/>
                <a:gd name="T12" fmla="*/ 28575 w 122"/>
                <a:gd name="T13" fmla="*/ 22225 h 24"/>
                <a:gd name="T14" fmla="*/ 28575 w 122"/>
                <a:gd name="T15" fmla="*/ 19050 h 24"/>
                <a:gd name="T16" fmla="*/ 25400 w 122"/>
                <a:gd name="T17" fmla="*/ 19050 h 24"/>
                <a:gd name="T18" fmla="*/ 28575 w 122"/>
                <a:gd name="T19" fmla="*/ 15875 h 24"/>
                <a:gd name="T20" fmla="*/ 28575 w 122"/>
                <a:gd name="T21" fmla="*/ 14288 h 24"/>
                <a:gd name="T22" fmla="*/ 38100 w 122"/>
                <a:gd name="T23" fmla="*/ 38100 h 24"/>
                <a:gd name="T24" fmla="*/ 0 w 122"/>
                <a:gd name="T25" fmla="*/ 19050 h 24"/>
                <a:gd name="T26" fmla="*/ 38100 w 122"/>
                <a:gd name="T27" fmla="*/ 0 h 24"/>
                <a:gd name="T28" fmla="*/ 38100 w 122"/>
                <a:gd name="T29" fmla="*/ 38100 h 24"/>
                <a:gd name="T30" fmla="*/ 149225 w 122"/>
                <a:gd name="T31" fmla="*/ 0 h 24"/>
                <a:gd name="T32" fmla="*/ 193675 w 122"/>
                <a:gd name="T33" fmla="*/ 19050 h 24"/>
                <a:gd name="T34" fmla="*/ 149225 w 122"/>
                <a:gd name="T35" fmla="*/ 38100 h 24"/>
                <a:gd name="T36" fmla="*/ 149225 w 122"/>
                <a:gd name="T37" fmla="*/ 0 h 2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2" h="24">
                  <a:moveTo>
                    <a:pt x="18" y="9"/>
                  </a:moveTo>
                  <a:lnTo>
                    <a:pt x="102" y="9"/>
                  </a:lnTo>
                  <a:lnTo>
                    <a:pt x="102" y="10"/>
                  </a:lnTo>
                  <a:lnTo>
                    <a:pt x="104" y="12"/>
                  </a:lnTo>
                  <a:lnTo>
                    <a:pt x="102" y="12"/>
                  </a:lnTo>
                  <a:lnTo>
                    <a:pt x="102" y="14"/>
                  </a:lnTo>
                  <a:lnTo>
                    <a:pt x="18" y="14"/>
                  </a:lnTo>
                  <a:lnTo>
                    <a:pt x="18" y="12"/>
                  </a:lnTo>
                  <a:lnTo>
                    <a:pt x="16" y="12"/>
                  </a:lnTo>
                  <a:lnTo>
                    <a:pt x="18" y="10"/>
                  </a:lnTo>
                  <a:lnTo>
                    <a:pt x="18" y="9"/>
                  </a:lnTo>
                  <a:close/>
                  <a:moveTo>
                    <a:pt x="24" y="24"/>
                  </a:moveTo>
                  <a:lnTo>
                    <a:pt x="0" y="12"/>
                  </a:lnTo>
                  <a:lnTo>
                    <a:pt x="24" y="0"/>
                  </a:lnTo>
                  <a:lnTo>
                    <a:pt x="24" y="24"/>
                  </a:lnTo>
                  <a:close/>
                  <a:moveTo>
                    <a:pt x="94" y="0"/>
                  </a:moveTo>
                  <a:lnTo>
                    <a:pt x="122" y="12"/>
                  </a:lnTo>
                  <a:lnTo>
                    <a:pt x="94" y="24"/>
                  </a:lnTo>
                  <a:lnTo>
                    <a:pt x="94" y="0"/>
                  </a:lnTo>
                  <a:close/>
                </a:path>
              </a:pathLst>
            </a:custGeom>
            <a:solidFill>
              <a:srgbClr val="000000"/>
            </a:solidFill>
            <a:ln w="2">
              <a:solidFill>
                <a:srgbClr val="0000FF"/>
              </a:solidFill>
              <a:prstDash val="solid"/>
              <a:round/>
              <a:headEnd/>
              <a:tailEnd/>
            </a:ln>
          </p:spPr>
          <p:txBody>
            <a:bodyPr/>
            <a:lstStyle/>
            <a:p>
              <a:endParaRPr lang="en-US"/>
            </a:p>
          </p:txBody>
        </p:sp>
        <p:sp>
          <p:nvSpPr>
            <p:cNvPr id="22645" name="Line 137">
              <a:extLst>
                <a:ext uri="{FF2B5EF4-FFF2-40B4-BE49-F238E27FC236}">
                  <a16:creationId xmlns:a16="http://schemas.microsoft.com/office/drawing/2014/main" id="{CB665A36-0EC6-4B7C-ADBA-6E38879102A4}"/>
                </a:ext>
              </a:extLst>
            </p:cNvPr>
            <p:cNvSpPr>
              <a:spLocks noChangeShapeType="1"/>
            </p:cNvSpPr>
            <p:nvPr/>
          </p:nvSpPr>
          <p:spPr bwMode="auto">
            <a:xfrm>
              <a:off x="4032251" y="4813297"/>
              <a:ext cx="79375" cy="0"/>
            </a:xfrm>
            <a:prstGeom prst="line">
              <a:avLst/>
            </a:prstGeom>
            <a:noFill/>
            <a:ln w="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46" name="Line 138">
              <a:extLst>
                <a:ext uri="{FF2B5EF4-FFF2-40B4-BE49-F238E27FC236}">
                  <a16:creationId xmlns:a16="http://schemas.microsoft.com/office/drawing/2014/main" id="{DB22F08B-0627-4D50-A4DF-4F94AA691FAF}"/>
                </a:ext>
              </a:extLst>
            </p:cNvPr>
            <p:cNvSpPr>
              <a:spLocks noChangeShapeType="1"/>
            </p:cNvSpPr>
            <p:nvPr/>
          </p:nvSpPr>
          <p:spPr bwMode="auto">
            <a:xfrm>
              <a:off x="4227513" y="5006972"/>
              <a:ext cx="77788" cy="0"/>
            </a:xfrm>
            <a:prstGeom prst="line">
              <a:avLst/>
            </a:prstGeom>
            <a:noFill/>
            <a:ln w="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22647" name="Straight Connector 124">
              <a:extLst>
                <a:ext uri="{FF2B5EF4-FFF2-40B4-BE49-F238E27FC236}">
                  <a16:creationId xmlns:a16="http://schemas.microsoft.com/office/drawing/2014/main" id="{D66AC2FA-B182-4CEC-B7A9-70A628ED5AA0}"/>
                </a:ext>
              </a:extLst>
            </p:cNvPr>
            <p:cNvCxnSpPr>
              <a:cxnSpLocks noChangeShapeType="1"/>
            </p:cNvCxnSpPr>
            <p:nvPr/>
          </p:nvCxnSpPr>
          <p:spPr bwMode="auto">
            <a:xfrm>
              <a:off x="4264820" y="5009354"/>
              <a:ext cx="0" cy="272255"/>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2648" name="Straight Connector 125">
              <a:extLst>
                <a:ext uri="{FF2B5EF4-FFF2-40B4-BE49-F238E27FC236}">
                  <a16:creationId xmlns:a16="http://schemas.microsoft.com/office/drawing/2014/main" id="{A57A1F49-7172-4D3C-B00D-5D1A3896144C}"/>
                </a:ext>
              </a:extLst>
            </p:cNvPr>
            <p:cNvCxnSpPr>
              <a:cxnSpLocks noChangeShapeType="1"/>
            </p:cNvCxnSpPr>
            <p:nvPr/>
          </p:nvCxnSpPr>
          <p:spPr bwMode="auto">
            <a:xfrm>
              <a:off x="4062413" y="4827584"/>
              <a:ext cx="4762" cy="377825"/>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2649" name="Straight Connector 126">
              <a:extLst>
                <a:ext uri="{FF2B5EF4-FFF2-40B4-BE49-F238E27FC236}">
                  <a16:creationId xmlns:a16="http://schemas.microsoft.com/office/drawing/2014/main" id="{D9DD1434-A1BF-406D-A2D7-BAA4D399F3E2}"/>
                </a:ext>
              </a:extLst>
            </p:cNvPr>
            <p:cNvCxnSpPr>
              <a:cxnSpLocks noChangeShapeType="1"/>
            </p:cNvCxnSpPr>
            <p:nvPr/>
          </p:nvCxnSpPr>
          <p:spPr bwMode="auto">
            <a:xfrm>
              <a:off x="3941764" y="4090190"/>
              <a:ext cx="0" cy="272255"/>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2650" name="Straight Connector 127">
              <a:extLst>
                <a:ext uri="{FF2B5EF4-FFF2-40B4-BE49-F238E27FC236}">
                  <a16:creationId xmlns:a16="http://schemas.microsoft.com/office/drawing/2014/main" id="{3BE3A94F-CF68-4E90-91AB-4976DDAF153E}"/>
                </a:ext>
              </a:extLst>
            </p:cNvPr>
            <p:cNvCxnSpPr>
              <a:cxnSpLocks noChangeShapeType="1"/>
            </p:cNvCxnSpPr>
            <p:nvPr/>
          </p:nvCxnSpPr>
          <p:spPr bwMode="auto">
            <a:xfrm>
              <a:off x="4344989" y="3778247"/>
              <a:ext cx="0" cy="272255"/>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2651" name="Straight Connector 128">
              <a:extLst>
                <a:ext uri="{FF2B5EF4-FFF2-40B4-BE49-F238E27FC236}">
                  <a16:creationId xmlns:a16="http://schemas.microsoft.com/office/drawing/2014/main" id="{B867D267-9528-4CFD-A8F7-45167EBE6469}"/>
                </a:ext>
              </a:extLst>
            </p:cNvPr>
            <p:cNvCxnSpPr>
              <a:cxnSpLocks noChangeShapeType="1"/>
            </p:cNvCxnSpPr>
            <p:nvPr/>
          </p:nvCxnSpPr>
          <p:spPr bwMode="auto">
            <a:xfrm>
              <a:off x="4342608" y="3778246"/>
              <a:ext cx="2381" cy="57547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2652" name="Straight Connector 129">
              <a:extLst>
                <a:ext uri="{FF2B5EF4-FFF2-40B4-BE49-F238E27FC236}">
                  <a16:creationId xmlns:a16="http://schemas.microsoft.com/office/drawing/2014/main" id="{901E0243-F76F-4B5B-8D61-A9253BC85F42}"/>
                </a:ext>
              </a:extLst>
            </p:cNvPr>
            <p:cNvCxnSpPr>
              <a:cxnSpLocks noChangeShapeType="1"/>
            </p:cNvCxnSpPr>
            <p:nvPr/>
          </p:nvCxnSpPr>
          <p:spPr bwMode="auto">
            <a:xfrm>
              <a:off x="3891757" y="3057522"/>
              <a:ext cx="0" cy="332977"/>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2653" name="Straight Connector 130">
              <a:extLst>
                <a:ext uri="{FF2B5EF4-FFF2-40B4-BE49-F238E27FC236}">
                  <a16:creationId xmlns:a16="http://schemas.microsoft.com/office/drawing/2014/main" id="{2BEF2F4C-A711-40F1-9329-ABAC4C3AEF1F}"/>
                </a:ext>
              </a:extLst>
            </p:cNvPr>
            <p:cNvCxnSpPr>
              <a:cxnSpLocks noChangeShapeType="1"/>
            </p:cNvCxnSpPr>
            <p:nvPr/>
          </p:nvCxnSpPr>
          <p:spPr bwMode="auto">
            <a:xfrm>
              <a:off x="4305301" y="2743197"/>
              <a:ext cx="11113" cy="61753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2654" name="Straight Connector 131">
              <a:extLst>
                <a:ext uri="{FF2B5EF4-FFF2-40B4-BE49-F238E27FC236}">
                  <a16:creationId xmlns:a16="http://schemas.microsoft.com/office/drawing/2014/main" id="{AD8A4144-4640-48B1-95C5-C9B47B89F3DB}"/>
                </a:ext>
              </a:extLst>
            </p:cNvPr>
            <p:cNvCxnSpPr>
              <a:cxnSpLocks noChangeShapeType="1"/>
            </p:cNvCxnSpPr>
            <p:nvPr/>
          </p:nvCxnSpPr>
          <p:spPr bwMode="auto">
            <a:xfrm>
              <a:off x="4044950" y="2203447"/>
              <a:ext cx="0" cy="332977"/>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2655" name="Straight Connector 132">
              <a:extLst>
                <a:ext uri="{FF2B5EF4-FFF2-40B4-BE49-F238E27FC236}">
                  <a16:creationId xmlns:a16="http://schemas.microsoft.com/office/drawing/2014/main" id="{0807CD9E-15A3-4F1F-9788-1C45BCB4439C}"/>
                </a:ext>
              </a:extLst>
            </p:cNvPr>
            <p:cNvCxnSpPr>
              <a:cxnSpLocks noChangeShapeType="1"/>
            </p:cNvCxnSpPr>
            <p:nvPr/>
          </p:nvCxnSpPr>
          <p:spPr bwMode="auto">
            <a:xfrm>
              <a:off x="3953669" y="1828800"/>
              <a:ext cx="5556" cy="41710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C46F438E-6379-43FF-B9E5-5B4E5783609F}"/>
              </a:ext>
            </a:extLst>
          </p:cNvPr>
          <p:cNvSpPr>
            <a:spLocks noGrp="1" noChangeArrowheads="1"/>
          </p:cNvSpPr>
          <p:nvPr>
            <p:ph type="title"/>
          </p:nvPr>
        </p:nvSpPr>
        <p:spPr/>
        <p:txBody>
          <a:bodyPr/>
          <a:lstStyle/>
          <a:p>
            <a:r>
              <a:rPr lang="en-US" altLang="en-US"/>
              <a:t>Timing Closure Problem</a:t>
            </a:r>
          </a:p>
        </p:txBody>
      </p:sp>
      <p:sp>
        <p:nvSpPr>
          <p:cNvPr id="23555" name="Rectangle 3">
            <a:extLst>
              <a:ext uri="{FF2B5EF4-FFF2-40B4-BE49-F238E27FC236}">
                <a16:creationId xmlns:a16="http://schemas.microsoft.com/office/drawing/2014/main" id="{77E61804-C5B2-4341-998A-0C4469F9C274}"/>
              </a:ext>
            </a:extLst>
          </p:cNvPr>
          <p:cNvSpPr>
            <a:spLocks noGrp="1" noChangeArrowheads="1"/>
          </p:cNvSpPr>
          <p:nvPr>
            <p:ph type="body" sz="quarter" idx="10"/>
          </p:nvPr>
        </p:nvSpPr>
        <p:spPr/>
        <p:txBody>
          <a:bodyPr/>
          <a:lstStyle/>
          <a:p>
            <a:r>
              <a:rPr lang="en-US" altLang="en-US" dirty="0"/>
              <a:t>Problem</a:t>
            </a:r>
          </a:p>
          <a:p>
            <a:pPr lvl="1"/>
            <a:r>
              <a:rPr lang="en-US" altLang="en-US" sz="1800" dirty="0"/>
              <a:t>In clocked environment signals on the register inputs must arrive before next reading sequence</a:t>
            </a:r>
          </a:p>
        </p:txBody>
      </p:sp>
      <p:sp>
        <p:nvSpPr>
          <p:cNvPr id="86" name="TextBox 85">
            <a:extLst>
              <a:ext uri="{FF2B5EF4-FFF2-40B4-BE49-F238E27FC236}">
                <a16:creationId xmlns:a16="http://schemas.microsoft.com/office/drawing/2014/main" id="{713E445C-0F5C-4C47-8AA8-7B4B3B1A01E3}"/>
              </a:ext>
            </a:extLst>
          </p:cNvPr>
          <p:cNvSpPr txBox="1"/>
          <p:nvPr/>
        </p:nvSpPr>
        <p:spPr>
          <a:xfrm>
            <a:off x="7064376" y="5140326"/>
            <a:ext cx="3082925" cy="460375"/>
          </a:xfrm>
          <a:prstGeom prst="rect">
            <a:avLst/>
          </a:prstGeom>
          <a:ln>
            <a:noFill/>
          </a:ln>
        </p:spPr>
        <p:style>
          <a:lnRef idx="2">
            <a:schemeClr val="dk1"/>
          </a:lnRef>
          <a:fillRef idx="1">
            <a:schemeClr val="lt1"/>
          </a:fillRef>
          <a:effectRef idx="0">
            <a:schemeClr val="dk1"/>
          </a:effectRef>
          <a:fontRef idx="minor">
            <a:schemeClr val="dk1"/>
          </a:fontRef>
        </p:style>
        <p:txBody>
          <a:bodyPr>
            <a:spAutoFit/>
          </a:bodyPr>
          <a:lstStyle/>
          <a:p>
            <a:pPr eaLnBrk="1" hangingPunct="1">
              <a:defRPr/>
            </a:pPr>
            <a:r>
              <a:rPr lang="en-US" sz="2400" dirty="0">
                <a:latin typeface="+mj-lt"/>
              </a:rPr>
              <a:t>Delay + </a:t>
            </a:r>
            <a:r>
              <a:rPr lang="en-US" sz="2400" dirty="0" err="1">
                <a:latin typeface="+mj-lt"/>
              </a:rPr>
              <a:t>t</a:t>
            </a:r>
            <a:r>
              <a:rPr lang="en-US" sz="2400" baseline="-25000" dirty="0" err="1">
                <a:latin typeface="+mj-lt"/>
              </a:rPr>
              <a:t>setup</a:t>
            </a:r>
            <a:r>
              <a:rPr lang="en-US" sz="2400" dirty="0">
                <a:latin typeface="+mj-lt"/>
              </a:rPr>
              <a:t> &lt; </a:t>
            </a:r>
            <a:r>
              <a:rPr lang="en-US" sz="2400" dirty="0" err="1">
                <a:latin typeface="+mj-lt"/>
              </a:rPr>
              <a:t>T</a:t>
            </a:r>
            <a:r>
              <a:rPr lang="en-US" sz="2400" baseline="-25000" dirty="0" err="1">
                <a:latin typeface="+mj-lt"/>
              </a:rPr>
              <a:t>clock</a:t>
            </a:r>
            <a:endParaRPr lang="en-US" sz="2400" baseline="-25000" dirty="0"/>
          </a:p>
        </p:txBody>
      </p:sp>
      <p:grpSp>
        <p:nvGrpSpPr>
          <p:cNvPr id="23557" name="Group 99">
            <a:extLst>
              <a:ext uri="{FF2B5EF4-FFF2-40B4-BE49-F238E27FC236}">
                <a16:creationId xmlns:a16="http://schemas.microsoft.com/office/drawing/2014/main" id="{1160D481-1B74-43DE-A89F-C3DFA862D31B}"/>
              </a:ext>
            </a:extLst>
          </p:cNvPr>
          <p:cNvGrpSpPr>
            <a:grpSpLocks/>
          </p:cNvGrpSpPr>
          <p:nvPr/>
        </p:nvGrpSpPr>
        <p:grpSpPr bwMode="auto">
          <a:xfrm>
            <a:off x="1981200" y="2614613"/>
            <a:ext cx="6858000" cy="2072370"/>
            <a:chOff x="457200" y="2754868"/>
            <a:chExt cx="6858000" cy="2273402"/>
          </a:xfrm>
        </p:grpSpPr>
        <p:grpSp>
          <p:nvGrpSpPr>
            <p:cNvPr id="23580" name="Group 50">
              <a:extLst>
                <a:ext uri="{FF2B5EF4-FFF2-40B4-BE49-F238E27FC236}">
                  <a16:creationId xmlns:a16="http://schemas.microsoft.com/office/drawing/2014/main" id="{928EF06E-D953-4626-A167-8A31491EED43}"/>
                </a:ext>
              </a:extLst>
            </p:cNvPr>
            <p:cNvGrpSpPr>
              <a:grpSpLocks/>
            </p:cNvGrpSpPr>
            <p:nvPr/>
          </p:nvGrpSpPr>
          <p:grpSpPr bwMode="auto">
            <a:xfrm>
              <a:off x="6172200" y="3429621"/>
              <a:ext cx="914400" cy="1295526"/>
              <a:chOff x="3352800" y="3429621"/>
              <a:chExt cx="914400" cy="1295526"/>
            </a:xfrm>
          </p:grpSpPr>
          <p:sp>
            <p:nvSpPr>
              <p:cNvPr id="23601" name="Rectangle 51">
                <a:extLst>
                  <a:ext uri="{FF2B5EF4-FFF2-40B4-BE49-F238E27FC236}">
                    <a16:creationId xmlns:a16="http://schemas.microsoft.com/office/drawing/2014/main" id="{2641FEBE-14EF-46F2-9B7A-8DDB63D1B96D}"/>
                  </a:ext>
                </a:extLst>
              </p:cNvPr>
              <p:cNvSpPr>
                <a:spLocks noChangeArrowheads="1"/>
              </p:cNvSpPr>
              <p:nvPr/>
            </p:nvSpPr>
            <p:spPr bwMode="auto">
              <a:xfrm>
                <a:off x="3352800" y="3429621"/>
                <a:ext cx="914400" cy="129552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3602" name="Isosceles Triangle 52">
                <a:extLst>
                  <a:ext uri="{FF2B5EF4-FFF2-40B4-BE49-F238E27FC236}">
                    <a16:creationId xmlns:a16="http://schemas.microsoft.com/office/drawing/2014/main" id="{54BF0784-BD14-43EC-8DE1-76F56CFF089A}"/>
                  </a:ext>
                </a:extLst>
              </p:cNvPr>
              <p:cNvSpPr>
                <a:spLocks noChangeArrowheads="1"/>
              </p:cNvSpPr>
              <p:nvPr/>
            </p:nvSpPr>
            <p:spPr bwMode="auto">
              <a:xfrm rot="5400000">
                <a:off x="3390900" y="4381500"/>
                <a:ext cx="152400" cy="228600"/>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3603" name="TextBox 55">
                <a:extLst>
                  <a:ext uri="{FF2B5EF4-FFF2-40B4-BE49-F238E27FC236}">
                    <a16:creationId xmlns:a16="http://schemas.microsoft.com/office/drawing/2014/main" id="{9FC914FF-59A3-4D0B-8A1D-3223B70F86C2}"/>
                  </a:ext>
                </a:extLst>
              </p:cNvPr>
              <p:cNvSpPr txBox="1">
                <a:spLocks noChangeArrowheads="1"/>
              </p:cNvSpPr>
              <p:nvPr/>
            </p:nvSpPr>
            <p:spPr bwMode="auto">
              <a:xfrm>
                <a:off x="3352800" y="4218801"/>
                <a:ext cx="762000" cy="303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200" dirty="0">
                    <a:solidFill>
                      <a:schemeClr val="bg1"/>
                    </a:solidFill>
                  </a:rPr>
                  <a:t>CLK</a:t>
                </a:r>
              </a:p>
            </p:txBody>
          </p:sp>
        </p:grpSp>
        <p:sp>
          <p:nvSpPr>
            <p:cNvPr id="61" name="Cloud 60">
              <a:extLst>
                <a:ext uri="{FF2B5EF4-FFF2-40B4-BE49-F238E27FC236}">
                  <a16:creationId xmlns:a16="http://schemas.microsoft.com/office/drawing/2014/main" id="{FB13051C-13B3-4586-8EEE-3C78A9FBA5BA}"/>
                </a:ext>
              </a:extLst>
            </p:cNvPr>
            <p:cNvSpPr/>
            <p:nvPr/>
          </p:nvSpPr>
          <p:spPr bwMode="auto">
            <a:xfrm>
              <a:off x="3581400" y="3374841"/>
              <a:ext cx="1752600" cy="686150"/>
            </a:xfrm>
            <a:prstGeom prst="cloud">
              <a:avLst/>
            </a:prstGeom>
            <a:solidFill>
              <a:schemeClr val="accent1"/>
            </a:solidFill>
            <a:ln>
              <a:solidFill>
                <a:schemeClr val="tx1"/>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sz="1400" dirty="0">
                  <a:solidFill>
                    <a:schemeClr val="bg1"/>
                  </a:solidFill>
                </a:rPr>
                <a:t>Some operations</a:t>
              </a:r>
              <a:endParaRPr lang="en-US" sz="1100" dirty="0">
                <a:solidFill>
                  <a:schemeClr val="bg1"/>
                </a:solidFill>
              </a:endParaRPr>
            </a:p>
          </p:txBody>
        </p:sp>
        <p:cxnSp>
          <p:nvCxnSpPr>
            <p:cNvPr id="63" name="Straight Connector 62">
              <a:extLst>
                <a:ext uri="{FF2B5EF4-FFF2-40B4-BE49-F238E27FC236}">
                  <a16:creationId xmlns:a16="http://schemas.microsoft.com/office/drawing/2014/main" id="{9AE8F401-61FE-46BE-AF21-597C369B4FB0}"/>
                </a:ext>
              </a:extLst>
            </p:cNvPr>
            <p:cNvCxnSpPr>
              <a:endCxn id="61" idx="2"/>
            </p:cNvCxnSpPr>
            <p:nvPr/>
          </p:nvCxnSpPr>
          <p:spPr bwMode="auto">
            <a:xfrm flipV="1">
              <a:off x="2895600" y="3717915"/>
              <a:ext cx="690563" cy="0"/>
            </a:xfrm>
            <a:prstGeom prst="line">
              <a:avLst/>
            </a:prstGeom>
            <a:ln w="127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FF2B5EF4-FFF2-40B4-BE49-F238E27FC236}">
                  <a16:creationId xmlns:a16="http://schemas.microsoft.com/office/drawing/2014/main" id="{00C87BF6-4948-47AC-9F0D-5AD1FBB30E9D}"/>
                </a:ext>
              </a:extLst>
            </p:cNvPr>
            <p:cNvCxnSpPr>
              <a:stCxn id="61" idx="0"/>
            </p:cNvCxnSpPr>
            <p:nvPr/>
          </p:nvCxnSpPr>
          <p:spPr bwMode="auto">
            <a:xfrm>
              <a:off x="5332413" y="3717915"/>
              <a:ext cx="839787" cy="0"/>
            </a:xfrm>
            <a:prstGeom prst="line">
              <a:avLst/>
            </a:prstGeom>
            <a:ln w="127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hape 68">
              <a:extLst>
                <a:ext uri="{FF2B5EF4-FFF2-40B4-BE49-F238E27FC236}">
                  <a16:creationId xmlns:a16="http://schemas.microsoft.com/office/drawing/2014/main" id="{5C782192-5DE4-4FE7-A415-853E4D8F030B}"/>
                </a:ext>
              </a:extLst>
            </p:cNvPr>
            <p:cNvCxnSpPr>
              <a:stCxn id="23586" idx="3"/>
              <a:endCxn id="23596" idx="3"/>
            </p:cNvCxnSpPr>
            <p:nvPr/>
          </p:nvCxnSpPr>
          <p:spPr bwMode="auto">
            <a:xfrm flipV="1">
              <a:off x="1219200" y="4495800"/>
              <a:ext cx="762000" cy="380536"/>
            </a:xfrm>
            <a:prstGeom prst="bentConnector3">
              <a:avLst>
                <a:gd name="adj1" fmla="val 50000"/>
              </a:avLst>
            </a:prstGeom>
            <a:ln w="1270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71" name="Elbow Connector 70">
              <a:extLst>
                <a:ext uri="{FF2B5EF4-FFF2-40B4-BE49-F238E27FC236}">
                  <a16:creationId xmlns:a16="http://schemas.microsoft.com/office/drawing/2014/main" id="{5A35748C-DBCC-420D-A8BD-47B0ECE8CE02}"/>
                </a:ext>
              </a:extLst>
            </p:cNvPr>
            <p:cNvCxnSpPr>
              <a:stCxn id="23586" idx="3"/>
              <a:endCxn id="23602" idx="3"/>
            </p:cNvCxnSpPr>
            <p:nvPr/>
          </p:nvCxnSpPr>
          <p:spPr bwMode="auto">
            <a:xfrm flipV="1">
              <a:off x="1219200" y="4495800"/>
              <a:ext cx="4953000" cy="380536"/>
            </a:xfrm>
            <a:prstGeom prst="bentConnector3">
              <a:avLst>
                <a:gd name="adj1" fmla="val 50000"/>
              </a:avLst>
            </a:prstGeom>
            <a:ln w="127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23586" name="TextBox 75">
              <a:extLst>
                <a:ext uri="{FF2B5EF4-FFF2-40B4-BE49-F238E27FC236}">
                  <a16:creationId xmlns:a16="http://schemas.microsoft.com/office/drawing/2014/main" id="{06C14577-C799-4B3E-A703-9BE7B5D6C2A5}"/>
                </a:ext>
              </a:extLst>
            </p:cNvPr>
            <p:cNvSpPr txBox="1">
              <a:spLocks noChangeArrowheads="1"/>
            </p:cNvSpPr>
            <p:nvPr/>
          </p:nvSpPr>
          <p:spPr bwMode="auto">
            <a:xfrm>
              <a:off x="457200" y="4724400"/>
              <a:ext cx="762000" cy="303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200"/>
                <a:t>Clock</a:t>
              </a:r>
            </a:p>
          </p:txBody>
        </p:sp>
        <p:cxnSp>
          <p:nvCxnSpPr>
            <p:cNvPr id="23587" name="Straight Connector 77">
              <a:extLst>
                <a:ext uri="{FF2B5EF4-FFF2-40B4-BE49-F238E27FC236}">
                  <a16:creationId xmlns:a16="http://schemas.microsoft.com/office/drawing/2014/main" id="{B6472B19-8086-4389-BBFD-FCE319D7AB79}"/>
                </a:ext>
              </a:extLst>
            </p:cNvPr>
            <p:cNvCxnSpPr>
              <a:cxnSpLocks noChangeShapeType="1"/>
            </p:cNvCxnSpPr>
            <p:nvPr/>
          </p:nvCxnSpPr>
          <p:spPr bwMode="auto">
            <a:xfrm rot="5400000">
              <a:off x="3009899" y="3239294"/>
              <a:ext cx="685800"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3588" name="Straight Connector 79">
              <a:extLst>
                <a:ext uri="{FF2B5EF4-FFF2-40B4-BE49-F238E27FC236}">
                  <a16:creationId xmlns:a16="http://schemas.microsoft.com/office/drawing/2014/main" id="{71D3E898-5B55-4287-ADC2-E7521CFC2673}"/>
                </a:ext>
              </a:extLst>
            </p:cNvPr>
            <p:cNvCxnSpPr>
              <a:cxnSpLocks noChangeShapeType="1"/>
            </p:cNvCxnSpPr>
            <p:nvPr/>
          </p:nvCxnSpPr>
          <p:spPr bwMode="auto">
            <a:xfrm rot="5400000">
              <a:off x="5221288" y="3239294"/>
              <a:ext cx="685800"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3589" name="Straight Arrow Connector 81">
              <a:extLst>
                <a:ext uri="{FF2B5EF4-FFF2-40B4-BE49-F238E27FC236}">
                  <a16:creationId xmlns:a16="http://schemas.microsoft.com/office/drawing/2014/main" id="{1E68E071-E813-4584-BC46-5089DEA4FF2F}"/>
                </a:ext>
              </a:extLst>
            </p:cNvPr>
            <p:cNvCxnSpPr>
              <a:cxnSpLocks noChangeShapeType="1"/>
            </p:cNvCxnSpPr>
            <p:nvPr/>
          </p:nvCxnSpPr>
          <p:spPr bwMode="auto">
            <a:xfrm>
              <a:off x="3352800" y="3124200"/>
              <a:ext cx="2209800" cy="0"/>
            </a:xfrm>
            <a:prstGeom prst="straightConnector1">
              <a:avLst/>
            </a:prstGeom>
            <a:noFill/>
            <a:ln w="9525" algn="ctr">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23590" name="TextBox 84">
              <a:extLst>
                <a:ext uri="{FF2B5EF4-FFF2-40B4-BE49-F238E27FC236}">
                  <a16:creationId xmlns:a16="http://schemas.microsoft.com/office/drawing/2014/main" id="{13BF77FF-B205-4291-8DC2-D072E09EF8E4}"/>
                </a:ext>
              </a:extLst>
            </p:cNvPr>
            <p:cNvSpPr txBox="1">
              <a:spLocks noChangeArrowheads="1"/>
            </p:cNvSpPr>
            <p:nvPr/>
          </p:nvSpPr>
          <p:spPr bwMode="auto">
            <a:xfrm>
              <a:off x="3985260" y="2754868"/>
              <a:ext cx="1066800" cy="371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600"/>
                <a:t>Delay</a:t>
              </a:r>
            </a:p>
          </p:txBody>
        </p:sp>
        <p:sp>
          <p:nvSpPr>
            <p:cNvPr id="33810" name="Rectangle 92">
              <a:extLst>
                <a:ext uri="{FF2B5EF4-FFF2-40B4-BE49-F238E27FC236}">
                  <a16:creationId xmlns:a16="http://schemas.microsoft.com/office/drawing/2014/main" id="{D8169936-2AAE-490A-8478-CAE6AA931BB5}"/>
                </a:ext>
              </a:extLst>
            </p:cNvPr>
            <p:cNvSpPr>
              <a:spLocks noChangeArrowheads="1"/>
            </p:cNvSpPr>
            <p:nvPr/>
          </p:nvSpPr>
          <p:spPr bwMode="auto">
            <a:xfrm>
              <a:off x="2953784" y="3735330"/>
              <a:ext cx="574195" cy="455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defRPr/>
              </a:pPr>
              <a:r>
                <a:rPr lang="en-US" sz="1050" dirty="0">
                  <a:latin typeface="Arial" charset="0"/>
                  <a:cs typeface="Arial" charset="0"/>
                </a:rPr>
                <a:t>Some </a:t>
              </a:r>
              <a:br>
                <a:rPr lang="en-US" sz="1050" dirty="0">
                  <a:latin typeface="Arial" charset="0"/>
                  <a:cs typeface="Arial" charset="0"/>
                </a:rPr>
              </a:br>
              <a:r>
                <a:rPr lang="en-US" sz="1050" dirty="0">
                  <a:latin typeface="Arial" charset="0"/>
                  <a:cs typeface="Arial" charset="0"/>
                </a:rPr>
                <a:t>data</a:t>
              </a:r>
            </a:p>
          </p:txBody>
        </p:sp>
        <p:cxnSp>
          <p:nvCxnSpPr>
            <p:cNvPr id="97" name="Straight Connector 96">
              <a:extLst>
                <a:ext uri="{FF2B5EF4-FFF2-40B4-BE49-F238E27FC236}">
                  <a16:creationId xmlns:a16="http://schemas.microsoft.com/office/drawing/2014/main" id="{64C528B6-7BA3-4D67-B982-3F6EA7C52ED5}"/>
                </a:ext>
              </a:extLst>
            </p:cNvPr>
            <p:cNvCxnSpPr/>
            <p:nvPr/>
          </p:nvCxnSpPr>
          <p:spPr bwMode="auto">
            <a:xfrm>
              <a:off x="1752600" y="3733589"/>
              <a:ext cx="233363" cy="0"/>
            </a:xfrm>
            <a:prstGeom prst="line">
              <a:avLst/>
            </a:prstGeom>
            <a:ln w="127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FF2B5EF4-FFF2-40B4-BE49-F238E27FC236}">
                  <a16:creationId xmlns:a16="http://schemas.microsoft.com/office/drawing/2014/main" id="{FC3CC53E-2829-4BE1-9F91-02CF86736842}"/>
                </a:ext>
              </a:extLst>
            </p:cNvPr>
            <p:cNvCxnSpPr/>
            <p:nvPr/>
          </p:nvCxnSpPr>
          <p:spPr bwMode="auto">
            <a:xfrm>
              <a:off x="7081838" y="3733589"/>
              <a:ext cx="233362" cy="0"/>
            </a:xfrm>
            <a:prstGeom prst="line">
              <a:avLst/>
            </a:prstGeom>
            <a:ln w="12700">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23594" name="Group 42">
              <a:extLst>
                <a:ext uri="{FF2B5EF4-FFF2-40B4-BE49-F238E27FC236}">
                  <a16:creationId xmlns:a16="http://schemas.microsoft.com/office/drawing/2014/main" id="{3C0D9042-245E-440E-AF54-BB30E6280594}"/>
                </a:ext>
              </a:extLst>
            </p:cNvPr>
            <p:cNvGrpSpPr>
              <a:grpSpLocks/>
            </p:cNvGrpSpPr>
            <p:nvPr/>
          </p:nvGrpSpPr>
          <p:grpSpPr bwMode="auto">
            <a:xfrm>
              <a:off x="1864360" y="3429621"/>
              <a:ext cx="1203960" cy="1295526"/>
              <a:chOff x="3235960" y="3429621"/>
              <a:chExt cx="1203960" cy="1295526"/>
            </a:xfrm>
          </p:grpSpPr>
          <p:sp>
            <p:nvSpPr>
              <p:cNvPr id="23595" name="Rectangle 36">
                <a:extLst>
                  <a:ext uri="{FF2B5EF4-FFF2-40B4-BE49-F238E27FC236}">
                    <a16:creationId xmlns:a16="http://schemas.microsoft.com/office/drawing/2014/main" id="{AF5335C4-2AE0-4353-8CEE-337A0689EBB9}"/>
                  </a:ext>
                </a:extLst>
              </p:cNvPr>
              <p:cNvSpPr>
                <a:spLocks noChangeArrowheads="1"/>
              </p:cNvSpPr>
              <p:nvPr/>
            </p:nvSpPr>
            <p:spPr bwMode="auto">
              <a:xfrm>
                <a:off x="3352800" y="3429621"/>
                <a:ext cx="914400" cy="129552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solidFill>
                    <a:schemeClr val="bg1"/>
                  </a:solidFill>
                </a:endParaRPr>
              </a:p>
            </p:txBody>
          </p:sp>
          <p:sp>
            <p:nvSpPr>
              <p:cNvPr id="23596" name="Isosceles Triangle 37">
                <a:extLst>
                  <a:ext uri="{FF2B5EF4-FFF2-40B4-BE49-F238E27FC236}">
                    <a16:creationId xmlns:a16="http://schemas.microsoft.com/office/drawing/2014/main" id="{C9B7F716-19FB-4CC5-A452-BD5A608F0EF4}"/>
                  </a:ext>
                </a:extLst>
              </p:cNvPr>
              <p:cNvSpPr>
                <a:spLocks noChangeArrowheads="1"/>
              </p:cNvSpPr>
              <p:nvPr/>
            </p:nvSpPr>
            <p:spPr bwMode="auto">
              <a:xfrm rot="5400000">
                <a:off x="3390900" y="4381500"/>
                <a:ext cx="152400" cy="228600"/>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3597" name="TextBox 38">
                <a:extLst>
                  <a:ext uri="{FF2B5EF4-FFF2-40B4-BE49-F238E27FC236}">
                    <a16:creationId xmlns:a16="http://schemas.microsoft.com/office/drawing/2014/main" id="{34954485-5533-472E-9DB6-5477275A9D47}"/>
                  </a:ext>
                </a:extLst>
              </p:cNvPr>
              <p:cNvSpPr txBox="1">
                <a:spLocks noChangeArrowheads="1"/>
              </p:cNvSpPr>
              <p:nvPr/>
            </p:nvSpPr>
            <p:spPr bwMode="auto">
              <a:xfrm>
                <a:off x="3352800" y="3581399"/>
                <a:ext cx="485140" cy="303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200" dirty="0">
                    <a:solidFill>
                      <a:schemeClr val="bg1"/>
                    </a:solidFill>
                  </a:rPr>
                  <a:t>IN</a:t>
                </a:r>
              </a:p>
            </p:txBody>
          </p:sp>
          <p:sp>
            <p:nvSpPr>
              <p:cNvPr id="23598" name="TextBox 39">
                <a:extLst>
                  <a:ext uri="{FF2B5EF4-FFF2-40B4-BE49-F238E27FC236}">
                    <a16:creationId xmlns:a16="http://schemas.microsoft.com/office/drawing/2014/main" id="{10245D99-92F3-4D20-B250-05769DA650F3}"/>
                  </a:ext>
                </a:extLst>
              </p:cNvPr>
              <p:cNvSpPr txBox="1">
                <a:spLocks noChangeArrowheads="1"/>
              </p:cNvSpPr>
              <p:nvPr/>
            </p:nvSpPr>
            <p:spPr bwMode="auto">
              <a:xfrm>
                <a:off x="3787141" y="3581399"/>
                <a:ext cx="533400" cy="303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200">
                    <a:solidFill>
                      <a:schemeClr val="bg1"/>
                    </a:solidFill>
                  </a:rPr>
                  <a:t>OUT</a:t>
                </a:r>
              </a:p>
            </p:txBody>
          </p:sp>
          <p:sp>
            <p:nvSpPr>
              <p:cNvPr id="23599" name="TextBox 40">
                <a:extLst>
                  <a:ext uri="{FF2B5EF4-FFF2-40B4-BE49-F238E27FC236}">
                    <a16:creationId xmlns:a16="http://schemas.microsoft.com/office/drawing/2014/main" id="{55F36880-3F9E-4664-AD59-F3A04470A5E3}"/>
                  </a:ext>
                </a:extLst>
              </p:cNvPr>
              <p:cNvSpPr txBox="1">
                <a:spLocks noChangeArrowheads="1"/>
              </p:cNvSpPr>
              <p:nvPr/>
            </p:nvSpPr>
            <p:spPr bwMode="auto">
              <a:xfrm>
                <a:off x="3357563" y="4223594"/>
                <a:ext cx="762000" cy="303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200" dirty="0">
                    <a:solidFill>
                      <a:schemeClr val="bg1"/>
                    </a:solidFill>
                  </a:rPr>
                  <a:t>CLK</a:t>
                </a:r>
              </a:p>
            </p:txBody>
          </p:sp>
          <p:sp>
            <p:nvSpPr>
              <p:cNvPr id="23600" name="TextBox 41">
                <a:extLst>
                  <a:ext uri="{FF2B5EF4-FFF2-40B4-BE49-F238E27FC236}">
                    <a16:creationId xmlns:a16="http://schemas.microsoft.com/office/drawing/2014/main" id="{71D6740E-EF37-41CB-8CAE-3D454406D639}"/>
                  </a:ext>
                </a:extLst>
              </p:cNvPr>
              <p:cNvSpPr txBox="1">
                <a:spLocks noChangeArrowheads="1"/>
              </p:cNvSpPr>
              <p:nvPr/>
            </p:nvSpPr>
            <p:spPr bwMode="auto">
              <a:xfrm>
                <a:off x="3235960" y="3867983"/>
                <a:ext cx="1203960" cy="337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400" dirty="0">
                    <a:solidFill>
                      <a:schemeClr val="bg1"/>
                    </a:solidFill>
                  </a:rPr>
                  <a:t>Register</a:t>
                </a:r>
              </a:p>
            </p:txBody>
          </p:sp>
        </p:grpSp>
      </p:grpSp>
      <p:sp>
        <p:nvSpPr>
          <p:cNvPr id="23558" name="TextBox 41">
            <a:extLst>
              <a:ext uri="{FF2B5EF4-FFF2-40B4-BE49-F238E27FC236}">
                <a16:creationId xmlns:a16="http://schemas.microsoft.com/office/drawing/2014/main" id="{395BFE7E-35F7-46CA-81B1-F22841C604BA}"/>
              </a:ext>
            </a:extLst>
          </p:cNvPr>
          <p:cNvSpPr txBox="1">
            <a:spLocks noChangeArrowheads="1"/>
          </p:cNvSpPr>
          <p:nvPr/>
        </p:nvSpPr>
        <p:spPr bwMode="auto">
          <a:xfrm>
            <a:off x="7559676" y="3489326"/>
            <a:ext cx="12033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400" dirty="0">
                <a:solidFill>
                  <a:schemeClr val="bg1"/>
                </a:solidFill>
              </a:rPr>
              <a:t>Register</a:t>
            </a:r>
          </a:p>
        </p:txBody>
      </p:sp>
      <p:sp>
        <p:nvSpPr>
          <p:cNvPr id="23559" name="Line 30">
            <a:extLst>
              <a:ext uri="{FF2B5EF4-FFF2-40B4-BE49-F238E27FC236}">
                <a16:creationId xmlns:a16="http://schemas.microsoft.com/office/drawing/2014/main" id="{0462C14E-F293-4381-ACD6-ED3888A671DA}"/>
              </a:ext>
            </a:extLst>
          </p:cNvPr>
          <p:cNvSpPr>
            <a:spLocks noChangeShapeType="1"/>
          </p:cNvSpPr>
          <p:nvPr/>
        </p:nvSpPr>
        <p:spPr bwMode="auto">
          <a:xfrm>
            <a:off x="2252663" y="4930775"/>
            <a:ext cx="290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Line 31">
            <a:extLst>
              <a:ext uri="{FF2B5EF4-FFF2-40B4-BE49-F238E27FC236}">
                <a16:creationId xmlns:a16="http://schemas.microsoft.com/office/drawing/2014/main" id="{FBDD48F6-017D-421F-AA29-7759A5D5405C}"/>
              </a:ext>
            </a:extLst>
          </p:cNvPr>
          <p:cNvSpPr>
            <a:spLocks noChangeShapeType="1"/>
          </p:cNvSpPr>
          <p:nvPr/>
        </p:nvSpPr>
        <p:spPr bwMode="auto">
          <a:xfrm flipV="1">
            <a:off x="2549525" y="4697413"/>
            <a:ext cx="0" cy="239712"/>
          </a:xfrm>
          <a:prstGeom prst="line">
            <a:avLst/>
          </a:prstGeom>
          <a:ln>
            <a:headEnd/>
            <a:tailEnd/>
          </a:ln>
          <a:effectLst/>
        </p:spPr>
        <p:style>
          <a:lnRef idx="3">
            <a:schemeClr val="accent1"/>
          </a:lnRef>
          <a:fillRef idx="0">
            <a:schemeClr val="accent1"/>
          </a:fillRef>
          <a:effectRef idx="2">
            <a:schemeClr val="accent1"/>
          </a:effectRef>
          <a:fontRef idx="minor">
            <a:schemeClr val="tx1"/>
          </a:fontRef>
        </p:style>
        <p:txBody>
          <a:bodyPr wrap="none" anchor="ctr"/>
          <a:lstStyle/>
          <a:p>
            <a:pPr eaLnBrk="1" hangingPunct="1">
              <a:defRPr/>
            </a:pPr>
            <a:endParaRPr lang="en-US"/>
          </a:p>
        </p:txBody>
      </p:sp>
      <p:sp>
        <p:nvSpPr>
          <p:cNvPr id="23561" name="Line 32">
            <a:extLst>
              <a:ext uri="{FF2B5EF4-FFF2-40B4-BE49-F238E27FC236}">
                <a16:creationId xmlns:a16="http://schemas.microsoft.com/office/drawing/2014/main" id="{80B69B69-0B26-482E-BFA6-3D61974E366D}"/>
              </a:ext>
            </a:extLst>
          </p:cNvPr>
          <p:cNvSpPr>
            <a:spLocks noChangeShapeType="1"/>
          </p:cNvSpPr>
          <p:nvPr/>
        </p:nvSpPr>
        <p:spPr bwMode="auto">
          <a:xfrm>
            <a:off x="2555875" y="4703763"/>
            <a:ext cx="5207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62" name="Line 33">
            <a:extLst>
              <a:ext uri="{FF2B5EF4-FFF2-40B4-BE49-F238E27FC236}">
                <a16:creationId xmlns:a16="http://schemas.microsoft.com/office/drawing/2014/main" id="{1E1DEC08-79AA-47B2-82F1-5446867221CF}"/>
              </a:ext>
            </a:extLst>
          </p:cNvPr>
          <p:cNvSpPr>
            <a:spLocks noChangeShapeType="1"/>
          </p:cNvSpPr>
          <p:nvPr/>
        </p:nvSpPr>
        <p:spPr bwMode="auto">
          <a:xfrm>
            <a:off x="3082925" y="4710113"/>
            <a:ext cx="0" cy="2143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 name="Line 59">
            <a:extLst>
              <a:ext uri="{FF2B5EF4-FFF2-40B4-BE49-F238E27FC236}">
                <a16:creationId xmlns:a16="http://schemas.microsoft.com/office/drawing/2014/main" id="{813571DF-5E28-43C4-8DCD-9D06AAEDD7F7}"/>
              </a:ext>
            </a:extLst>
          </p:cNvPr>
          <p:cNvSpPr>
            <a:spLocks noChangeShapeType="1"/>
          </p:cNvSpPr>
          <p:nvPr/>
        </p:nvSpPr>
        <p:spPr bwMode="auto">
          <a:xfrm flipV="1">
            <a:off x="3690938" y="4697413"/>
            <a:ext cx="0" cy="239712"/>
          </a:xfrm>
          <a:prstGeom prst="line">
            <a:avLst/>
          </a:prstGeom>
          <a:ln>
            <a:headEnd/>
            <a:tailEnd/>
          </a:ln>
          <a:effectLst/>
        </p:spPr>
        <p:style>
          <a:lnRef idx="3">
            <a:schemeClr val="accent1"/>
          </a:lnRef>
          <a:fillRef idx="0">
            <a:schemeClr val="accent1"/>
          </a:fillRef>
          <a:effectRef idx="2">
            <a:schemeClr val="accent1"/>
          </a:effectRef>
          <a:fontRef idx="minor">
            <a:schemeClr val="tx1"/>
          </a:fontRef>
        </p:style>
        <p:txBody>
          <a:bodyPr wrap="none" anchor="ctr"/>
          <a:lstStyle/>
          <a:p>
            <a:pPr eaLnBrk="1" hangingPunct="1">
              <a:defRPr/>
            </a:pPr>
            <a:endParaRPr lang="en-US"/>
          </a:p>
        </p:txBody>
      </p:sp>
      <p:sp>
        <p:nvSpPr>
          <p:cNvPr id="23564" name="Line 60">
            <a:extLst>
              <a:ext uri="{FF2B5EF4-FFF2-40B4-BE49-F238E27FC236}">
                <a16:creationId xmlns:a16="http://schemas.microsoft.com/office/drawing/2014/main" id="{B8550E29-D8EE-4198-BF93-8A42B5A2306E}"/>
              </a:ext>
            </a:extLst>
          </p:cNvPr>
          <p:cNvSpPr>
            <a:spLocks noChangeShapeType="1"/>
          </p:cNvSpPr>
          <p:nvPr/>
        </p:nvSpPr>
        <p:spPr bwMode="auto">
          <a:xfrm>
            <a:off x="3697288" y="4703763"/>
            <a:ext cx="5207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65" name="Line 61">
            <a:extLst>
              <a:ext uri="{FF2B5EF4-FFF2-40B4-BE49-F238E27FC236}">
                <a16:creationId xmlns:a16="http://schemas.microsoft.com/office/drawing/2014/main" id="{9107F1BD-B915-44B9-9C26-90DBB0EC88DE}"/>
              </a:ext>
            </a:extLst>
          </p:cNvPr>
          <p:cNvSpPr>
            <a:spLocks noChangeShapeType="1"/>
          </p:cNvSpPr>
          <p:nvPr/>
        </p:nvSpPr>
        <p:spPr bwMode="auto">
          <a:xfrm>
            <a:off x="4224338" y="4710113"/>
            <a:ext cx="0" cy="2143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66" name="Line 62">
            <a:extLst>
              <a:ext uri="{FF2B5EF4-FFF2-40B4-BE49-F238E27FC236}">
                <a16:creationId xmlns:a16="http://schemas.microsoft.com/office/drawing/2014/main" id="{4D2D7EAF-74E7-42CC-9C12-E66DF13B426C}"/>
              </a:ext>
            </a:extLst>
          </p:cNvPr>
          <p:cNvSpPr>
            <a:spLocks noChangeShapeType="1"/>
          </p:cNvSpPr>
          <p:nvPr/>
        </p:nvSpPr>
        <p:spPr bwMode="auto">
          <a:xfrm>
            <a:off x="3089276" y="4930775"/>
            <a:ext cx="59531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67" name="Line 30">
            <a:extLst>
              <a:ext uri="{FF2B5EF4-FFF2-40B4-BE49-F238E27FC236}">
                <a16:creationId xmlns:a16="http://schemas.microsoft.com/office/drawing/2014/main" id="{A66A1DF6-C84E-48BC-BF62-C084A47844A9}"/>
              </a:ext>
            </a:extLst>
          </p:cNvPr>
          <p:cNvSpPr>
            <a:spLocks noChangeShapeType="1"/>
          </p:cNvSpPr>
          <p:nvPr/>
        </p:nvSpPr>
        <p:spPr bwMode="auto">
          <a:xfrm>
            <a:off x="4233864" y="4926013"/>
            <a:ext cx="5667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 name="Line 31">
            <a:extLst>
              <a:ext uri="{FF2B5EF4-FFF2-40B4-BE49-F238E27FC236}">
                <a16:creationId xmlns:a16="http://schemas.microsoft.com/office/drawing/2014/main" id="{2B4E42CD-075C-454F-B3FE-B2B2FD2338AE}"/>
              </a:ext>
            </a:extLst>
          </p:cNvPr>
          <p:cNvSpPr>
            <a:spLocks noChangeShapeType="1"/>
          </p:cNvSpPr>
          <p:nvPr/>
        </p:nvSpPr>
        <p:spPr bwMode="auto">
          <a:xfrm flipV="1">
            <a:off x="4797425" y="4684713"/>
            <a:ext cx="0" cy="239712"/>
          </a:xfrm>
          <a:prstGeom prst="line">
            <a:avLst/>
          </a:prstGeom>
          <a:ln>
            <a:headEnd/>
            <a:tailEnd/>
          </a:ln>
          <a:effectLst/>
        </p:spPr>
        <p:style>
          <a:lnRef idx="3">
            <a:schemeClr val="accent1"/>
          </a:lnRef>
          <a:fillRef idx="0">
            <a:schemeClr val="accent1"/>
          </a:fillRef>
          <a:effectRef idx="2">
            <a:schemeClr val="accent1"/>
          </a:effectRef>
          <a:fontRef idx="minor">
            <a:schemeClr val="tx1"/>
          </a:fontRef>
        </p:style>
        <p:txBody>
          <a:bodyPr wrap="none" anchor="ctr"/>
          <a:lstStyle/>
          <a:p>
            <a:pPr eaLnBrk="1" hangingPunct="1">
              <a:defRPr/>
            </a:pPr>
            <a:endParaRPr lang="en-US"/>
          </a:p>
        </p:txBody>
      </p:sp>
      <p:sp>
        <p:nvSpPr>
          <p:cNvPr id="23569" name="Line 32">
            <a:extLst>
              <a:ext uri="{FF2B5EF4-FFF2-40B4-BE49-F238E27FC236}">
                <a16:creationId xmlns:a16="http://schemas.microsoft.com/office/drawing/2014/main" id="{F2800F41-4E54-41A7-97A7-40290CFB06F0}"/>
              </a:ext>
            </a:extLst>
          </p:cNvPr>
          <p:cNvSpPr>
            <a:spLocks noChangeShapeType="1"/>
          </p:cNvSpPr>
          <p:nvPr/>
        </p:nvSpPr>
        <p:spPr bwMode="auto">
          <a:xfrm>
            <a:off x="4803775" y="4691063"/>
            <a:ext cx="5207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70" name="Line 33">
            <a:extLst>
              <a:ext uri="{FF2B5EF4-FFF2-40B4-BE49-F238E27FC236}">
                <a16:creationId xmlns:a16="http://schemas.microsoft.com/office/drawing/2014/main" id="{47A8A9D1-56AB-4E9E-8B3F-CA2953F53ED6}"/>
              </a:ext>
            </a:extLst>
          </p:cNvPr>
          <p:cNvSpPr>
            <a:spLocks noChangeShapeType="1"/>
          </p:cNvSpPr>
          <p:nvPr/>
        </p:nvSpPr>
        <p:spPr bwMode="auto">
          <a:xfrm>
            <a:off x="5330825" y="4697413"/>
            <a:ext cx="0" cy="2143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Line 59">
            <a:extLst>
              <a:ext uri="{FF2B5EF4-FFF2-40B4-BE49-F238E27FC236}">
                <a16:creationId xmlns:a16="http://schemas.microsoft.com/office/drawing/2014/main" id="{F04BAD0A-1E14-46D7-9258-973C410FA056}"/>
              </a:ext>
            </a:extLst>
          </p:cNvPr>
          <p:cNvSpPr>
            <a:spLocks noChangeShapeType="1"/>
          </p:cNvSpPr>
          <p:nvPr/>
        </p:nvSpPr>
        <p:spPr bwMode="auto">
          <a:xfrm flipV="1">
            <a:off x="5938838" y="4684713"/>
            <a:ext cx="0" cy="239712"/>
          </a:xfrm>
          <a:prstGeom prst="line">
            <a:avLst/>
          </a:prstGeom>
          <a:ln>
            <a:headEnd/>
            <a:tailEnd/>
          </a:ln>
          <a:effectLst/>
        </p:spPr>
        <p:style>
          <a:lnRef idx="3">
            <a:schemeClr val="accent1"/>
          </a:lnRef>
          <a:fillRef idx="0">
            <a:schemeClr val="accent1"/>
          </a:fillRef>
          <a:effectRef idx="2">
            <a:schemeClr val="accent1"/>
          </a:effectRef>
          <a:fontRef idx="minor">
            <a:schemeClr val="tx1"/>
          </a:fontRef>
        </p:style>
        <p:txBody>
          <a:bodyPr wrap="none" anchor="ctr"/>
          <a:lstStyle/>
          <a:p>
            <a:pPr eaLnBrk="1" hangingPunct="1">
              <a:defRPr/>
            </a:pPr>
            <a:endParaRPr lang="en-US"/>
          </a:p>
        </p:txBody>
      </p:sp>
      <p:sp>
        <p:nvSpPr>
          <p:cNvPr id="23572" name="Line 60">
            <a:extLst>
              <a:ext uri="{FF2B5EF4-FFF2-40B4-BE49-F238E27FC236}">
                <a16:creationId xmlns:a16="http://schemas.microsoft.com/office/drawing/2014/main" id="{4FCBE184-DEF4-453E-A622-A216599B3698}"/>
              </a:ext>
            </a:extLst>
          </p:cNvPr>
          <p:cNvSpPr>
            <a:spLocks noChangeShapeType="1"/>
          </p:cNvSpPr>
          <p:nvPr/>
        </p:nvSpPr>
        <p:spPr bwMode="auto">
          <a:xfrm>
            <a:off x="5945188" y="4691063"/>
            <a:ext cx="5207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73" name="Line 61">
            <a:extLst>
              <a:ext uri="{FF2B5EF4-FFF2-40B4-BE49-F238E27FC236}">
                <a16:creationId xmlns:a16="http://schemas.microsoft.com/office/drawing/2014/main" id="{6F0220C9-5A87-47F8-B47E-2C71B16719F9}"/>
              </a:ext>
            </a:extLst>
          </p:cNvPr>
          <p:cNvSpPr>
            <a:spLocks noChangeShapeType="1"/>
          </p:cNvSpPr>
          <p:nvPr/>
        </p:nvSpPr>
        <p:spPr bwMode="auto">
          <a:xfrm>
            <a:off x="6472238" y="4697413"/>
            <a:ext cx="0" cy="2143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74" name="Line 62">
            <a:extLst>
              <a:ext uri="{FF2B5EF4-FFF2-40B4-BE49-F238E27FC236}">
                <a16:creationId xmlns:a16="http://schemas.microsoft.com/office/drawing/2014/main" id="{3768FA23-0380-42B4-85B0-9EFEAEEACDC2}"/>
              </a:ext>
            </a:extLst>
          </p:cNvPr>
          <p:cNvSpPr>
            <a:spLocks noChangeShapeType="1"/>
          </p:cNvSpPr>
          <p:nvPr/>
        </p:nvSpPr>
        <p:spPr bwMode="auto">
          <a:xfrm>
            <a:off x="5337176" y="4918075"/>
            <a:ext cx="59531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 name="TextBox 1">
            <a:extLst>
              <a:ext uri="{FF2B5EF4-FFF2-40B4-BE49-F238E27FC236}">
                <a16:creationId xmlns:a16="http://schemas.microsoft.com/office/drawing/2014/main" id="{CAA75C4F-F74A-42BF-AD3C-ED64C4C2C868}"/>
              </a:ext>
            </a:extLst>
          </p:cNvPr>
          <p:cNvSpPr txBox="1"/>
          <p:nvPr/>
        </p:nvSpPr>
        <p:spPr>
          <a:xfrm>
            <a:off x="1981200" y="5124450"/>
            <a:ext cx="4491038" cy="522288"/>
          </a:xfrm>
          <a:prstGeom prst="rect">
            <a:avLst/>
          </a:prstGeom>
          <a:solidFill>
            <a:schemeClr val="accent1"/>
          </a:solidFill>
          <a:ln>
            <a:solidFill>
              <a:schemeClr val="tx1"/>
            </a:solidFill>
          </a:ln>
          <a:effectLst/>
        </p:spPr>
        <p:style>
          <a:lnRef idx="1">
            <a:schemeClr val="accent2"/>
          </a:lnRef>
          <a:fillRef idx="2">
            <a:schemeClr val="accent2"/>
          </a:fillRef>
          <a:effectRef idx="1">
            <a:schemeClr val="accent2"/>
          </a:effectRef>
          <a:fontRef idx="minor">
            <a:schemeClr val="dk1"/>
          </a:fontRef>
        </p:style>
        <p:txBody>
          <a:bodyPr>
            <a:spAutoFit/>
          </a:bodyPr>
          <a:lstStyle/>
          <a:p>
            <a:pPr eaLnBrk="1" hangingPunct="1">
              <a:defRPr/>
            </a:pPr>
            <a:r>
              <a:rPr lang="en-US" sz="1400" dirty="0">
                <a:solidFill>
                  <a:schemeClr val="bg1"/>
                </a:solidFill>
              </a:rPr>
              <a:t>Clock: Both registers store new value at specific points of time (with some frequency, like 1GHz)</a:t>
            </a:r>
          </a:p>
        </p:txBody>
      </p:sp>
      <p:sp>
        <p:nvSpPr>
          <p:cNvPr id="53" name="Rectangle 92">
            <a:extLst>
              <a:ext uri="{FF2B5EF4-FFF2-40B4-BE49-F238E27FC236}">
                <a16:creationId xmlns:a16="http://schemas.microsoft.com/office/drawing/2014/main" id="{2CB0283B-4024-4819-A2A4-37FC68AFC3F3}"/>
              </a:ext>
            </a:extLst>
          </p:cNvPr>
          <p:cNvSpPr>
            <a:spLocks noChangeArrowheads="1"/>
          </p:cNvSpPr>
          <p:nvPr/>
        </p:nvSpPr>
        <p:spPr bwMode="auto">
          <a:xfrm>
            <a:off x="6865938" y="3538538"/>
            <a:ext cx="63341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defRPr/>
            </a:pPr>
            <a:r>
              <a:rPr lang="en-US" sz="1050" dirty="0">
                <a:latin typeface="Arial" charset="0"/>
                <a:cs typeface="Arial" charset="0"/>
              </a:rPr>
              <a:t>New</a:t>
            </a:r>
            <a:br>
              <a:rPr lang="en-US" sz="1050" dirty="0">
                <a:latin typeface="Arial" charset="0"/>
                <a:cs typeface="Arial" charset="0"/>
              </a:rPr>
            </a:br>
            <a:r>
              <a:rPr lang="en-US" sz="1050" dirty="0">
                <a:latin typeface="Arial" charset="0"/>
                <a:cs typeface="Arial" charset="0"/>
              </a:rPr>
              <a:t>data</a:t>
            </a:r>
          </a:p>
          <a:p>
            <a:pPr algn="ctr" eaLnBrk="1" hangingPunct="1">
              <a:defRPr/>
            </a:pPr>
            <a:r>
              <a:rPr lang="en-US" sz="1050" dirty="0">
                <a:latin typeface="Arial" charset="0"/>
                <a:cs typeface="Arial" charset="0"/>
              </a:rPr>
              <a:t>to store</a:t>
            </a:r>
          </a:p>
        </p:txBody>
      </p:sp>
      <p:sp>
        <p:nvSpPr>
          <p:cNvPr id="23577" name="TextBox 38">
            <a:extLst>
              <a:ext uri="{FF2B5EF4-FFF2-40B4-BE49-F238E27FC236}">
                <a16:creationId xmlns:a16="http://schemas.microsoft.com/office/drawing/2014/main" id="{71942704-CD7A-447A-8F2C-79EE13DFB24E}"/>
              </a:ext>
            </a:extLst>
          </p:cNvPr>
          <p:cNvSpPr txBox="1">
            <a:spLocks noChangeArrowheads="1"/>
          </p:cNvSpPr>
          <p:nvPr/>
        </p:nvSpPr>
        <p:spPr bwMode="auto">
          <a:xfrm>
            <a:off x="7666039" y="3251201"/>
            <a:ext cx="4841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200" dirty="0">
                <a:solidFill>
                  <a:schemeClr val="bg1"/>
                </a:solidFill>
              </a:rPr>
              <a:t>IN</a:t>
            </a:r>
          </a:p>
        </p:txBody>
      </p:sp>
      <p:sp>
        <p:nvSpPr>
          <p:cNvPr id="23578" name="TextBox 39">
            <a:extLst>
              <a:ext uri="{FF2B5EF4-FFF2-40B4-BE49-F238E27FC236}">
                <a16:creationId xmlns:a16="http://schemas.microsoft.com/office/drawing/2014/main" id="{AB65BE9C-B933-4181-8135-E0962BC70348}"/>
              </a:ext>
            </a:extLst>
          </p:cNvPr>
          <p:cNvSpPr txBox="1">
            <a:spLocks noChangeArrowheads="1"/>
          </p:cNvSpPr>
          <p:nvPr/>
        </p:nvSpPr>
        <p:spPr bwMode="auto">
          <a:xfrm>
            <a:off x="8099425" y="3251201"/>
            <a:ext cx="533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200" dirty="0">
                <a:solidFill>
                  <a:schemeClr val="bg1"/>
                </a:solidFill>
              </a:rPr>
              <a:t>OUT</a:t>
            </a:r>
          </a:p>
        </p:txBody>
      </p:sp>
      <p:sp>
        <p:nvSpPr>
          <p:cNvPr id="23579" name="Rectangle 2">
            <a:extLst>
              <a:ext uri="{FF2B5EF4-FFF2-40B4-BE49-F238E27FC236}">
                <a16:creationId xmlns:a16="http://schemas.microsoft.com/office/drawing/2014/main" id="{C94953AC-318F-4846-9352-0AC83D71360B}"/>
              </a:ext>
            </a:extLst>
          </p:cNvPr>
          <p:cNvSpPr>
            <a:spLocks noChangeArrowheads="1"/>
          </p:cNvSpPr>
          <p:nvPr/>
        </p:nvSpPr>
        <p:spPr bwMode="auto">
          <a:xfrm>
            <a:off x="7694613" y="2579688"/>
            <a:ext cx="6715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000"/>
              <a:t>t</a:t>
            </a:r>
            <a:r>
              <a:rPr lang="en-US" altLang="en-US" sz="2000" baseline="-25000"/>
              <a:t>setup</a:t>
            </a:r>
            <a:endParaRPr lang="en-US" altLang="en-US" sz="200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4412F9B8-AE0B-4001-87E0-F88784DE64AE}"/>
              </a:ext>
            </a:extLst>
          </p:cNvPr>
          <p:cNvSpPr>
            <a:spLocks noGrp="1"/>
          </p:cNvSpPr>
          <p:nvPr>
            <p:ph type="title"/>
          </p:nvPr>
        </p:nvSpPr>
        <p:spPr/>
        <p:txBody>
          <a:bodyPr/>
          <a:lstStyle/>
          <a:p>
            <a:r>
              <a:rPr lang="en-US" altLang="en-US"/>
              <a:t>Static Timing Analysis Steps</a:t>
            </a:r>
          </a:p>
        </p:txBody>
      </p:sp>
      <p:grpSp>
        <p:nvGrpSpPr>
          <p:cNvPr id="25603" name="Group 36">
            <a:extLst>
              <a:ext uri="{FF2B5EF4-FFF2-40B4-BE49-F238E27FC236}">
                <a16:creationId xmlns:a16="http://schemas.microsoft.com/office/drawing/2014/main" id="{0C9BE567-12D2-4B36-ABBC-43A48BBCAE69}"/>
              </a:ext>
            </a:extLst>
          </p:cNvPr>
          <p:cNvGrpSpPr>
            <a:grpSpLocks/>
          </p:cNvGrpSpPr>
          <p:nvPr/>
        </p:nvGrpSpPr>
        <p:grpSpPr bwMode="auto">
          <a:xfrm>
            <a:off x="2133600" y="1654175"/>
            <a:ext cx="2368550" cy="952500"/>
            <a:chOff x="872728" y="0"/>
            <a:chExt cx="2369343" cy="952500"/>
          </a:xfrm>
        </p:grpSpPr>
        <p:sp>
          <p:nvSpPr>
            <p:cNvPr id="51" name="Rounded Rectangle 50">
              <a:extLst>
                <a:ext uri="{FF2B5EF4-FFF2-40B4-BE49-F238E27FC236}">
                  <a16:creationId xmlns:a16="http://schemas.microsoft.com/office/drawing/2014/main" id="{197D066B-BA6C-4526-AC6E-C2ADB090B571}"/>
                </a:ext>
              </a:extLst>
            </p:cNvPr>
            <p:cNvSpPr/>
            <p:nvPr/>
          </p:nvSpPr>
          <p:spPr>
            <a:xfrm>
              <a:off x="872728" y="0"/>
              <a:ext cx="2369343" cy="952500"/>
            </a:xfrm>
            <a:prstGeom prst="roundRect">
              <a:avLst>
                <a:gd name="adj" fmla="val 10000"/>
              </a:avLst>
            </a:prstGeom>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52" name="Rounded Rectangle 4">
              <a:extLst>
                <a:ext uri="{FF2B5EF4-FFF2-40B4-BE49-F238E27FC236}">
                  <a16:creationId xmlns:a16="http://schemas.microsoft.com/office/drawing/2014/main" id="{304FBFE9-673E-4F6E-BF42-8844AB19D6DA}"/>
                </a:ext>
              </a:extLst>
            </p:cNvPr>
            <p:cNvSpPr/>
            <p:nvPr/>
          </p:nvSpPr>
          <p:spPr>
            <a:xfrm>
              <a:off x="921957" y="28575"/>
              <a:ext cx="2313761" cy="895350"/>
            </a:xfrm>
            <a:prstGeom prst="rect">
              <a:avLst/>
            </a:prstGeom>
          </p:spPr>
          <p:style>
            <a:lnRef idx="0">
              <a:scrgbClr r="0" g="0" b="0"/>
            </a:lnRef>
            <a:fillRef idx="0">
              <a:scrgbClr r="0" g="0" b="0"/>
            </a:fillRef>
            <a:effectRef idx="0">
              <a:scrgbClr r="0" g="0" b="0"/>
            </a:effectRef>
            <a:fontRef idx="minor">
              <a:schemeClr val="lt1"/>
            </a:fontRef>
          </p:style>
          <p:txBody>
            <a:bodyPr lIns="68580" tIns="68580" rIns="68580" bIns="68580" spcCol="1270" anchor="ctr"/>
            <a:lstStyle/>
            <a:p>
              <a:pPr algn="ctr" defTabSz="800100">
                <a:lnSpc>
                  <a:spcPct val="90000"/>
                </a:lnSpc>
                <a:spcAft>
                  <a:spcPct val="35000"/>
                </a:spcAft>
                <a:defRPr/>
              </a:pPr>
              <a:r>
                <a:rPr lang="en-US" dirty="0">
                  <a:solidFill>
                    <a:schemeClr val="bg1"/>
                  </a:solidFill>
                </a:rPr>
                <a:t>Circuit is broken into timing paths</a:t>
              </a:r>
            </a:p>
          </p:txBody>
        </p:sp>
      </p:grpSp>
      <p:grpSp>
        <p:nvGrpSpPr>
          <p:cNvPr id="25604" name="Group 37">
            <a:extLst>
              <a:ext uri="{FF2B5EF4-FFF2-40B4-BE49-F238E27FC236}">
                <a16:creationId xmlns:a16="http://schemas.microsoft.com/office/drawing/2014/main" id="{41662855-B71C-4E05-8478-1605D34CF319}"/>
              </a:ext>
            </a:extLst>
          </p:cNvPr>
          <p:cNvGrpSpPr>
            <a:grpSpLocks/>
          </p:cNvGrpSpPr>
          <p:nvPr/>
        </p:nvGrpSpPr>
        <p:grpSpPr bwMode="auto">
          <a:xfrm>
            <a:off x="3103564" y="2665414"/>
            <a:ext cx="428625" cy="357187"/>
            <a:chOff x="1843087" y="1012031"/>
            <a:chExt cx="428625" cy="357187"/>
          </a:xfrm>
        </p:grpSpPr>
        <p:sp>
          <p:nvSpPr>
            <p:cNvPr id="49" name="Right Arrow 48">
              <a:extLst>
                <a:ext uri="{FF2B5EF4-FFF2-40B4-BE49-F238E27FC236}">
                  <a16:creationId xmlns:a16="http://schemas.microsoft.com/office/drawing/2014/main" id="{DEF34EA8-A1CE-4E9F-A0AC-BE6F96A71D75}"/>
                </a:ext>
              </a:extLst>
            </p:cNvPr>
            <p:cNvSpPr/>
            <p:nvPr/>
          </p:nvSpPr>
          <p:spPr>
            <a:xfrm rot="5400000">
              <a:off x="1878806" y="976312"/>
              <a:ext cx="357187" cy="428625"/>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50" name="Right Arrow 6">
              <a:extLst>
                <a:ext uri="{FF2B5EF4-FFF2-40B4-BE49-F238E27FC236}">
                  <a16:creationId xmlns:a16="http://schemas.microsoft.com/office/drawing/2014/main" id="{85B72B2A-89AC-448C-A765-4FAD804C97E7}"/>
                </a:ext>
              </a:extLst>
            </p:cNvPr>
            <p:cNvSpPr/>
            <p:nvPr/>
          </p:nvSpPr>
          <p:spPr>
            <a:xfrm>
              <a:off x="1928812" y="1012031"/>
              <a:ext cx="257175" cy="250825"/>
            </a:xfrm>
            <a:prstGeom prst="rect">
              <a:avLst/>
            </a:prstGeom>
          </p:spPr>
          <p:style>
            <a:lnRef idx="0">
              <a:scrgbClr r="0" g="0" b="0"/>
            </a:lnRef>
            <a:fillRef idx="0">
              <a:scrgbClr r="0" g="0" b="0"/>
            </a:fillRef>
            <a:effectRef idx="0">
              <a:scrgbClr r="0" g="0" b="0"/>
            </a:effectRef>
            <a:fontRef idx="minor">
              <a:schemeClr val="lt1"/>
            </a:fontRef>
          </p:style>
          <p:txBody>
            <a:bodyPr lIns="0" tIns="0" rIns="0" bIns="0" spcCol="1270" anchor="ctr"/>
            <a:lstStyle/>
            <a:p>
              <a:pPr algn="ctr" defTabSz="844550">
                <a:lnSpc>
                  <a:spcPct val="90000"/>
                </a:lnSpc>
                <a:spcAft>
                  <a:spcPct val="35000"/>
                </a:spcAft>
                <a:defRPr/>
              </a:pPr>
              <a:endParaRPr lang="en-US" sz="1900">
                <a:solidFill>
                  <a:schemeClr val="tx1"/>
                </a:solidFill>
              </a:endParaRPr>
            </a:p>
          </p:txBody>
        </p:sp>
      </p:grpSp>
      <p:grpSp>
        <p:nvGrpSpPr>
          <p:cNvPr id="25605" name="Group 38">
            <a:extLst>
              <a:ext uri="{FF2B5EF4-FFF2-40B4-BE49-F238E27FC236}">
                <a16:creationId xmlns:a16="http://schemas.microsoft.com/office/drawing/2014/main" id="{82FD0720-13D1-41EF-903E-0E37E095D30B}"/>
              </a:ext>
            </a:extLst>
          </p:cNvPr>
          <p:cNvGrpSpPr>
            <a:grpSpLocks/>
          </p:cNvGrpSpPr>
          <p:nvPr/>
        </p:nvGrpSpPr>
        <p:grpSpPr bwMode="auto">
          <a:xfrm>
            <a:off x="2133600" y="3082925"/>
            <a:ext cx="2368550" cy="952500"/>
            <a:chOff x="872728" y="1428749"/>
            <a:chExt cx="2369343" cy="952500"/>
          </a:xfrm>
        </p:grpSpPr>
        <p:sp>
          <p:nvSpPr>
            <p:cNvPr id="47" name="Rounded Rectangle 46">
              <a:extLst>
                <a:ext uri="{FF2B5EF4-FFF2-40B4-BE49-F238E27FC236}">
                  <a16:creationId xmlns:a16="http://schemas.microsoft.com/office/drawing/2014/main" id="{45DEBA0F-28AD-4FE4-97A5-F4259A656DB5}"/>
                </a:ext>
              </a:extLst>
            </p:cNvPr>
            <p:cNvSpPr/>
            <p:nvPr/>
          </p:nvSpPr>
          <p:spPr>
            <a:xfrm>
              <a:off x="872728" y="1428749"/>
              <a:ext cx="2369343" cy="952500"/>
            </a:xfrm>
            <a:prstGeom prst="roundRect">
              <a:avLst>
                <a:gd name="adj" fmla="val 10000"/>
              </a:avLst>
            </a:prstGeom>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48" name="Rounded Rectangle 8">
              <a:extLst>
                <a:ext uri="{FF2B5EF4-FFF2-40B4-BE49-F238E27FC236}">
                  <a16:creationId xmlns:a16="http://schemas.microsoft.com/office/drawing/2014/main" id="{80ED7E67-469B-419B-9567-CDEB9CD2F8DE}"/>
                </a:ext>
              </a:extLst>
            </p:cNvPr>
            <p:cNvSpPr/>
            <p:nvPr/>
          </p:nvSpPr>
          <p:spPr>
            <a:xfrm>
              <a:off x="921957" y="1457324"/>
              <a:ext cx="2313761" cy="895350"/>
            </a:xfrm>
            <a:prstGeom prst="rect">
              <a:avLst/>
            </a:prstGeom>
          </p:spPr>
          <p:style>
            <a:lnRef idx="0">
              <a:scrgbClr r="0" g="0" b="0"/>
            </a:lnRef>
            <a:fillRef idx="0">
              <a:scrgbClr r="0" g="0" b="0"/>
            </a:fillRef>
            <a:effectRef idx="0">
              <a:scrgbClr r="0" g="0" b="0"/>
            </a:effectRef>
            <a:fontRef idx="minor">
              <a:schemeClr val="lt1"/>
            </a:fontRef>
          </p:style>
          <p:txBody>
            <a:bodyPr lIns="68580" tIns="68580" rIns="68580" bIns="68580" spcCol="1270" anchor="ctr"/>
            <a:lstStyle/>
            <a:p>
              <a:pPr algn="ctr" defTabSz="800100">
                <a:lnSpc>
                  <a:spcPct val="90000"/>
                </a:lnSpc>
                <a:spcAft>
                  <a:spcPct val="35000"/>
                </a:spcAft>
                <a:defRPr/>
              </a:pPr>
              <a:r>
                <a:rPr lang="en-US" dirty="0">
                  <a:solidFill>
                    <a:schemeClr val="bg1"/>
                  </a:solidFill>
                </a:rPr>
                <a:t>Delay of each path is calculated</a:t>
              </a:r>
            </a:p>
          </p:txBody>
        </p:sp>
      </p:grpSp>
      <p:grpSp>
        <p:nvGrpSpPr>
          <p:cNvPr id="25606" name="Group 40">
            <a:extLst>
              <a:ext uri="{FF2B5EF4-FFF2-40B4-BE49-F238E27FC236}">
                <a16:creationId xmlns:a16="http://schemas.microsoft.com/office/drawing/2014/main" id="{6D3B07B7-C3A3-4D41-A2FA-EE1BE09EE81E}"/>
              </a:ext>
            </a:extLst>
          </p:cNvPr>
          <p:cNvGrpSpPr>
            <a:grpSpLocks/>
          </p:cNvGrpSpPr>
          <p:nvPr/>
        </p:nvGrpSpPr>
        <p:grpSpPr bwMode="auto">
          <a:xfrm>
            <a:off x="3103564" y="4094164"/>
            <a:ext cx="428625" cy="357187"/>
            <a:chOff x="1843087" y="2440781"/>
            <a:chExt cx="428625" cy="357187"/>
          </a:xfrm>
        </p:grpSpPr>
        <p:sp>
          <p:nvSpPr>
            <p:cNvPr id="45" name="Right Arrow 44">
              <a:extLst>
                <a:ext uri="{FF2B5EF4-FFF2-40B4-BE49-F238E27FC236}">
                  <a16:creationId xmlns:a16="http://schemas.microsoft.com/office/drawing/2014/main" id="{0795A663-5397-44D3-A251-D14772B85D74}"/>
                </a:ext>
              </a:extLst>
            </p:cNvPr>
            <p:cNvSpPr/>
            <p:nvPr/>
          </p:nvSpPr>
          <p:spPr>
            <a:xfrm rot="5400000">
              <a:off x="1878806" y="2405062"/>
              <a:ext cx="357187" cy="428625"/>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46" name="Right Arrow 10">
              <a:extLst>
                <a:ext uri="{FF2B5EF4-FFF2-40B4-BE49-F238E27FC236}">
                  <a16:creationId xmlns:a16="http://schemas.microsoft.com/office/drawing/2014/main" id="{1370009C-F363-4D7D-ACC2-6A6EB0113061}"/>
                </a:ext>
              </a:extLst>
            </p:cNvPr>
            <p:cNvSpPr/>
            <p:nvPr/>
          </p:nvSpPr>
          <p:spPr>
            <a:xfrm>
              <a:off x="1928812" y="2440781"/>
              <a:ext cx="257175" cy="250825"/>
            </a:xfrm>
            <a:prstGeom prst="rect">
              <a:avLst/>
            </a:prstGeom>
          </p:spPr>
          <p:style>
            <a:lnRef idx="0">
              <a:scrgbClr r="0" g="0" b="0"/>
            </a:lnRef>
            <a:fillRef idx="0">
              <a:scrgbClr r="0" g="0" b="0"/>
            </a:fillRef>
            <a:effectRef idx="0">
              <a:scrgbClr r="0" g="0" b="0"/>
            </a:effectRef>
            <a:fontRef idx="minor">
              <a:schemeClr val="lt1"/>
            </a:fontRef>
          </p:style>
          <p:txBody>
            <a:bodyPr lIns="0" tIns="0" rIns="0" bIns="0" spcCol="1270" anchor="ctr"/>
            <a:lstStyle/>
            <a:p>
              <a:pPr algn="ctr" defTabSz="844550">
                <a:lnSpc>
                  <a:spcPct val="90000"/>
                </a:lnSpc>
                <a:spcAft>
                  <a:spcPct val="35000"/>
                </a:spcAft>
                <a:defRPr/>
              </a:pPr>
              <a:endParaRPr lang="en-US" sz="1900">
                <a:solidFill>
                  <a:schemeClr val="tx1"/>
                </a:solidFill>
              </a:endParaRPr>
            </a:p>
          </p:txBody>
        </p:sp>
      </p:grpSp>
      <p:grpSp>
        <p:nvGrpSpPr>
          <p:cNvPr id="25607" name="Group 41">
            <a:extLst>
              <a:ext uri="{FF2B5EF4-FFF2-40B4-BE49-F238E27FC236}">
                <a16:creationId xmlns:a16="http://schemas.microsoft.com/office/drawing/2014/main" id="{AFE31ED1-6A2C-4B3E-99D9-1666D252CE9B}"/>
              </a:ext>
            </a:extLst>
          </p:cNvPr>
          <p:cNvGrpSpPr>
            <a:grpSpLocks/>
          </p:cNvGrpSpPr>
          <p:nvPr/>
        </p:nvGrpSpPr>
        <p:grpSpPr bwMode="auto">
          <a:xfrm>
            <a:off x="2133600" y="4511675"/>
            <a:ext cx="2368550" cy="952500"/>
            <a:chOff x="872728" y="2857500"/>
            <a:chExt cx="2369343" cy="952500"/>
          </a:xfrm>
        </p:grpSpPr>
        <p:sp>
          <p:nvSpPr>
            <p:cNvPr id="43" name="Rounded Rectangle 42">
              <a:extLst>
                <a:ext uri="{FF2B5EF4-FFF2-40B4-BE49-F238E27FC236}">
                  <a16:creationId xmlns:a16="http://schemas.microsoft.com/office/drawing/2014/main" id="{2DB79D1E-D640-4157-959F-E0AEE1107AAD}"/>
                </a:ext>
              </a:extLst>
            </p:cNvPr>
            <p:cNvSpPr/>
            <p:nvPr/>
          </p:nvSpPr>
          <p:spPr>
            <a:xfrm>
              <a:off x="872728" y="2857500"/>
              <a:ext cx="2369343" cy="952500"/>
            </a:xfrm>
            <a:prstGeom prst="roundRect">
              <a:avLst>
                <a:gd name="adj" fmla="val 10000"/>
              </a:avLst>
            </a:prstGeom>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44" name="Rounded Rectangle 12">
              <a:extLst>
                <a:ext uri="{FF2B5EF4-FFF2-40B4-BE49-F238E27FC236}">
                  <a16:creationId xmlns:a16="http://schemas.microsoft.com/office/drawing/2014/main" id="{E3036752-4C0A-47B3-B360-4B478E9ABC61}"/>
                </a:ext>
              </a:extLst>
            </p:cNvPr>
            <p:cNvSpPr/>
            <p:nvPr/>
          </p:nvSpPr>
          <p:spPr>
            <a:xfrm>
              <a:off x="921957" y="2886075"/>
              <a:ext cx="2313761" cy="895350"/>
            </a:xfrm>
            <a:prstGeom prst="rect">
              <a:avLst/>
            </a:prstGeom>
          </p:spPr>
          <p:style>
            <a:lnRef idx="0">
              <a:scrgbClr r="0" g="0" b="0"/>
            </a:lnRef>
            <a:fillRef idx="0">
              <a:scrgbClr r="0" g="0" b="0"/>
            </a:fillRef>
            <a:effectRef idx="0">
              <a:scrgbClr r="0" g="0" b="0"/>
            </a:effectRef>
            <a:fontRef idx="minor">
              <a:schemeClr val="lt1"/>
            </a:fontRef>
          </p:style>
          <p:txBody>
            <a:bodyPr lIns="68580" tIns="68580" rIns="68580" bIns="68580" spcCol="1270" anchor="ctr"/>
            <a:lstStyle/>
            <a:p>
              <a:pPr algn="ctr" defTabSz="800100">
                <a:lnSpc>
                  <a:spcPct val="90000"/>
                </a:lnSpc>
                <a:spcAft>
                  <a:spcPct val="35000"/>
                </a:spcAft>
                <a:defRPr/>
              </a:pPr>
              <a:r>
                <a:rPr lang="en-US" dirty="0">
                  <a:solidFill>
                    <a:schemeClr val="bg1"/>
                  </a:solidFill>
                </a:rPr>
                <a:t>For each path delays are checked against timing constraints </a:t>
              </a:r>
            </a:p>
          </p:txBody>
        </p:sp>
      </p:grpSp>
      <p:graphicFrame>
        <p:nvGraphicFramePr>
          <p:cNvPr id="3" name="Table 2">
            <a:extLst>
              <a:ext uri="{FF2B5EF4-FFF2-40B4-BE49-F238E27FC236}">
                <a16:creationId xmlns:a16="http://schemas.microsoft.com/office/drawing/2014/main" id="{E85C4C1D-37C1-45C0-BE50-BBECFC00074C}"/>
              </a:ext>
            </a:extLst>
          </p:cNvPr>
          <p:cNvGraphicFramePr>
            <a:graphicFrameLocks noGrp="1"/>
          </p:cNvGraphicFramePr>
          <p:nvPr>
            <p:extLst>
              <p:ext uri="{D42A27DB-BD31-4B8C-83A1-F6EECF244321}">
                <p14:modId xmlns:p14="http://schemas.microsoft.com/office/powerpoint/2010/main" val="19884054"/>
              </p:ext>
            </p:extLst>
          </p:nvPr>
        </p:nvGraphicFramePr>
        <p:xfrm>
          <a:off x="5486400" y="3568700"/>
          <a:ext cx="4419600" cy="1828800"/>
        </p:xfrm>
        <a:graphic>
          <a:graphicData uri="http://schemas.openxmlformats.org/drawingml/2006/table">
            <a:tbl>
              <a:tblPr firstRow="1" bandRow="1">
                <a:tableStyleId>{5C22544A-7EE6-4342-B048-85BDC9FD1C3A}</a:tableStyleId>
              </a:tblPr>
              <a:tblGrid>
                <a:gridCol w="1473200">
                  <a:extLst>
                    <a:ext uri="{9D8B030D-6E8A-4147-A177-3AD203B41FA5}">
                      <a16:colId xmlns:a16="http://schemas.microsoft.com/office/drawing/2014/main" val="20000"/>
                    </a:ext>
                  </a:extLst>
                </a:gridCol>
                <a:gridCol w="1473200">
                  <a:extLst>
                    <a:ext uri="{9D8B030D-6E8A-4147-A177-3AD203B41FA5}">
                      <a16:colId xmlns:a16="http://schemas.microsoft.com/office/drawing/2014/main" val="20001"/>
                    </a:ext>
                  </a:extLst>
                </a:gridCol>
                <a:gridCol w="1473200">
                  <a:extLst>
                    <a:ext uri="{9D8B030D-6E8A-4147-A177-3AD203B41FA5}">
                      <a16:colId xmlns:a16="http://schemas.microsoft.com/office/drawing/2014/main" val="20002"/>
                    </a:ext>
                  </a:extLst>
                </a:gridCol>
              </a:tblGrid>
              <a:tr h="365760">
                <a:tc>
                  <a:txBody>
                    <a:bodyPr/>
                    <a:lstStyle/>
                    <a:p>
                      <a:r>
                        <a:rPr lang="en-US" b="1" i="0" dirty="0">
                          <a:solidFill>
                            <a:schemeClr val="bg1"/>
                          </a:solidFill>
                        </a:rPr>
                        <a:t>Path</a:t>
                      </a:r>
                    </a:p>
                  </a:txBody>
                  <a:tcPr/>
                </a:tc>
                <a:tc>
                  <a:txBody>
                    <a:bodyPr/>
                    <a:lstStyle/>
                    <a:p>
                      <a:r>
                        <a:rPr lang="en-US" b="1" i="0" dirty="0">
                          <a:solidFill>
                            <a:schemeClr val="bg1"/>
                          </a:solidFill>
                        </a:rPr>
                        <a:t>Delay</a:t>
                      </a:r>
                    </a:p>
                  </a:txBody>
                  <a:tcPr/>
                </a:tc>
                <a:tc>
                  <a:txBody>
                    <a:bodyPr/>
                    <a:lstStyle/>
                    <a:p>
                      <a:r>
                        <a:rPr lang="en-US" b="1" i="0" dirty="0">
                          <a:solidFill>
                            <a:schemeClr val="bg1"/>
                          </a:solidFill>
                        </a:rPr>
                        <a:t>Constraint</a:t>
                      </a:r>
                    </a:p>
                  </a:txBody>
                  <a:tcPr/>
                </a:tc>
                <a:extLst>
                  <a:ext uri="{0D108BD9-81ED-4DB2-BD59-A6C34878D82A}">
                    <a16:rowId xmlns:a16="http://schemas.microsoft.com/office/drawing/2014/main" val="10000"/>
                  </a:ext>
                </a:extLst>
              </a:tr>
              <a:tr h="365760">
                <a:tc>
                  <a:txBody>
                    <a:bodyPr/>
                    <a:lstStyle/>
                    <a:p>
                      <a:endParaRPr lang="en-US" dirty="0"/>
                    </a:p>
                  </a:txBody>
                  <a:tcPr>
                    <a:blipFill rotWithShape="0">
                      <a:blip r:embed="rId2"/>
                      <a:stretch>
                        <a:fillRect l="-826" t="-108333" r="-201653" b="-326667"/>
                      </a:stretch>
                    </a:blipFill>
                  </a:tcPr>
                </a:tc>
                <a:tc>
                  <a:txBody>
                    <a:bodyPr/>
                    <a:lstStyle/>
                    <a:p>
                      <a:pPr algn="ctr"/>
                      <a:r>
                        <a:rPr lang="en-US" i="0" dirty="0"/>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0" dirty="0"/>
                        <a:t>?</a:t>
                      </a:r>
                    </a:p>
                  </a:txBody>
                  <a:tcPr/>
                </a:tc>
                <a:extLst>
                  <a:ext uri="{0D108BD9-81ED-4DB2-BD59-A6C34878D82A}">
                    <a16:rowId xmlns:a16="http://schemas.microsoft.com/office/drawing/2014/main" val="10001"/>
                  </a:ext>
                </a:extLst>
              </a:tr>
              <a:tr h="365760">
                <a:tc>
                  <a:txBody>
                    <a:bodyPr/>
                    <a:lstStyle/>
                    <a:p>
                      <a:endParaRPr lang="en-US" dirty="0"/>
                    </a:p>
                  </a:txBody>
                  <a:tcPr>
                    <a:blipFill rotWithShape="0">
                      <a:blip r:embed="rId2"/>
                      <a:stretch>
                        <a:fillRect l="-826" t="-204918" r="-201653" b="-221311"/>
                      </a:stretch>
                    </a:blipFill>
                  </a:tcPr>
                </a:tc>
                <a:tc>
                  <a:txBody>
                    <a:bodyPr/>
                    <a:lstStyle/>
                    <a:p>
                      <a:pPr algn="ctr"/>
                      <a:r>
                        <a:rPr lang="en-US" i="0"/>
                        <a:t>?</a:t>
                      </a:r>
                      <a:endParaRPr lang="en-US" i="0" dirty="0"/>
                    </a:p>
                  </a:txBody>
                  <a:tcPr/>
                </a:tc>
                <a:tc>
                  <a:txBody>
                    <a:bodyPr/>
                    <a:lstStyle/>
                    <a:p>
                      <a:pPr algn="ctr"/>
                      <a:r>
                        <a:rPr lang="en-US" i="0"/>
                        <a:t>?</a:t>
                      </a:r>
                      <a:endParaRPr lang="en-US" i="0" dirty="0"/>
                    </a:p>
                  </a:txBody>
                  <a:tcPr/>
                </a:tc>
                <a:extLst>
                  <a:ext uri="{0D108BD9-81ED-4DB2-BD59-A6C34878D82A}">
                    <a16:rowId xmlns:a16="http://schemas.microsoft.com/office/drawing/2014/main" val="10002"/>
                  </a:ext>
                </a:extLst>
              </a:tr>
              <a:tr h="365760">
                <a:tc>
                  <a:txBody>
                    <a:bodyPr/>
                    <a:lstStyle/>
                    <a:p>
                      <a:endParaRPr lang="en-US" dirty="0"/>
                    </a:p>
                  </a:txBody>
                  <a:tcPr>
                    <a:blipFill rotWithShape="0">
                      <a:blip r:embed="rId2"/>
                      <a:stretch>
                        <a:fillRect l="-826" t="-310000" r="-201653" b="-125000"/>
                      </a:stretch>
                    </a:blipFill>
                  </a:tcPr>
                </a:tc>
                <a:tc>
                  <a:txBody>
                    <a:bodyPr/>
                    <a:lstStyle/>
                    <a:p>
                      <a:pPr algn="ctr"/>
                      <a:r>
                        <a:rPr lang="en-US" i="0"/>
                        <a:t>?</a:t>
                      </a:r>
                      <a:endParaRPr lang="en-US" i="0" dirty="0"/>
                    </a:p>
                  </a:txBody>
                  <a:tcPr/>
                </a:tc>
                <a:tc>
                  <a:txBody>
                    <a:bodyPr/>
                    <a:lstStyle/>
                    <a:p>
                      <a:pPr algn="ctr"/>
                      <a:r>
                        <a:rPr lang="en-US" i="0"/>
                        <a:t>?</a:t>
                      </a:r>
                      <a:endParaRPr lang="en-US" i="0" dirty="0"/>
                    </a:p>
                  </a:txBody>
                  <a:tcPr/>
                </a:tc>
                <a:extLst>
                  <a:ext uri="{0D108BD9-81ED-4DB2-BD59-A6C34878D82A}">
                    <a16:rowId xmlns:a16="http://schemas.microsoft.com/office/drawing/2014/main" val="10003"/>
                  </a:ext>
                </a:extLst>
              </a:tr>
              <a:tr h="365760">
                <a:tc>
                  <a:txBody>
                    <a:bodyPr/>
                    <a:lstStyle/>
                    <a:p>
                      <a:endParaRPr lang="en-US" dirty="0"/>
                    </a:p>
                  </a:txBody>
                  <a:tcPr>
                    <a:blipFill rotWithShape="0">
                      <a:blip r:embed="rId2"/>
                      <a:stretch>
                        <a:fillRect l="-826" t="-410000" r="-201653" b="-25000"/>
                      </a:stretch>
                    </a:blipFill>
                  </a:tcPr>
                </a:tc>
                <a:tc>
                  <a:txBody>
                    <a:bodyPr/>
                    <a:lstStyle/>
                    <a:p>
                      <a:pPr algn="ctr"/>
                      <a:r>
                        <a:rPr lang="en-US" i="0"/>
                        <a:t>?</a:t>
                      </a:r>
                      <a:endParaRPr lang="en-US" i="0" dirty="0"/>
                    </a:p>
                  </a:txBody>
                  <a:tcPr/>
                </a:tc>
                <a:tc>
                  <a:txBody>
                    <a:bodyPr/>
                    <a:lstStyle/>
                    <a:p>
                      <a:pPr algn="ctr"/>
                      <a:r>
                        <a:rPr lang="en-US" i="0" dirty="0"/>
                        <a:t>?</a:t>
                      </a:r>
                    </a:p>
                  </a:txBody>
                  <a:tcPr/>
                </a:tc>
                <a:extLst>
                  <a:ext uri="{0D108BD9-81ED-4DB2-BD59-A6C34878D82A}">
                    <a16:rowId xmlns:a16="http://schemas.microsoft.com/office/drawing/2014/main" val="10004"/>
                  </a:ext>
                </a:extLst>
              </a:tr>
            </a:tbl>
          </a:graphicData>
        </a:graphic>
      </p:graphicFrame>
      <p:grpSp>
        <p:nvGrpSpPr>
          <p:cNvPr id="25609" name="Group 52">
            <a:extLst>
              <a:ext uri="{FF2B5EF4-FFF2-40B4-BE49-F238E27FC236}">
                <a16:creationId xmlns:a16="http://schemas.microsoft.com/office/drawing/2014/main" id="{56D2CC1E-F4C0-42AC-8A47-3E9E01DA2D92}"/>
              </a:ext>
            </a:extLst>
          </p:cNvPr>
          <p:cNvGrpSpPr>
            <a:grpSpLocks/>
          </p:cNvGrpSpPr>
          <p:nvPr/>
        </p:nvGrpSpPr>
        <p:grpSpPr bwMode="auto">
          <a:xfrm>
            <a:off x="4822825" y="1676400"/>
            <a:ext cx="5365750" cy="1447800"/>
            <a:chOff x="730322" y="2362200"/>
            <a:chExt cx="5365677" cy="1448570"/>
          </a:xfrm>
        </p:grpSpPr>
        <p:cxnSp>
          <p:nvCxnSpPr>
            <p:cNvPr id="25611" name="Straight Connector 53">
              <a:extLst>
                <a:ext uri="{FF2B5EF4-FFF2-40B4-BE49-F238E27FC236}">
                  <a16:creationId xmlns:a16="http://schemas.microsoft.com/office/drawing/2014/main" id="{EBD0D866-0FD9-40FC-8B7E-7776313AE1B9}"/>
                </a:ext>
              </a:extLst>
            </p:cNvPr>
            <p:cNvCxnSpPr>
              <a:cxnSpLocks noChangeShapeType="1"/>
            </p:cNvCxnSpPr>
            <p:nvPr/>
          </p:nvCxnSpPr>
          <p:spPr bwMode="auto">
            <a:xfrm flipV="1">
              <a:off x="3774315" y="2730741"/>
              <a:ext cx="464603" cy="1"/>
            </a:xfrm>
            <a:prstGeom prst="line">
              <a:avLst/>
            </a:prstGeom>
            <a:noFill/>
            <a:ln w="9525" algn="ctr">
              <a:solidFill>
                <a:schemeClr val="tx1"/>
              </a:solidFill>
              <a:round/>
              <a:headEnd/>
              <a:tailEnd/>
            </a:ln>
          </p:spPr>
        </p:cxnSp>
        <p:sp>
          <p:nvSpPr>
            <p:cNvPr id="55" name="Rectangle 54">
              <a:extLst>
                <a:ext uri="{FF2B5EF4-FFF2-40B4-BE49-F238E27FC236}">
                  <a16:creationId xmlns:a16="http://schemas.microsoft.com/office/drawing/2014/main" id="{4BE16156-1400-42DC-A277-AA86DBE5471B}"/>
                </a:ext>
              </a:extLst>
            </p:cNvPr>
            <p:cNvSpPr/>
            <p:nvPr/>
          </p:nvSpPr>
          <p:spPr bwMode="auto">
            <a:xfrm>
              <a:off x="4238649" y="2573450"/>
              <a:ext cx="457194" cy="7624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56" name="Isosceles Triangle 55">
              <a:extLst>
                <a:ext uri="{FF2B5EF4-FFF2-40B4-BE49-F238E27FC236}">
                  <a16:creationId xmlns:a16="http://schemas.microsoft.com/office/drawing/2014/main" id="{1567DD4B-ACF7-4A1F-AB13-E25CDAA697F2}"/>
                </a:ext>
              </a:extLst>
            </p:cNvPr>
            <p:cNvSpPr/>
            <p:nvPr/>
          </p:nvSpPr>
          <p:spPr bwMode="auto">
            <a:xfrm rot="5400000">
              <a:off x="4200508" y="3145275"/>
              <a:ext cx="152481" cy="76199"/>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57" name="TextBox 56">
              <a:extLst>
                <a:ext uri="{FF2B5EF4-FFF2-40B4-BE49-F238E27FC236}">
                  <a16:creationId xmlns:a16="http://schemas.microsoft.com/office/drawing/2014/main" id="{C4A7D15B-5D73-4862-B82E-4A1E65133520}"/>
                </a:ext>
              </a:extLst>
            </p:cNvPr>
            <p:cNvSpPr txBox="1"/>
            <p:nvPr/>
          </p:nvSpPr>
          <p:spPr>
            <a:xfrm>
              <a:off x="4295798" y="2640161"/>
              <a:ext cx="341308" cy="246193"/>
            </a:xfrm>
            <a:prstGeom prst="rect">
              <a:avLst/>
            </a:prstGeom>
            <a:noFill/>
            <a:ln w="9525">
              <a:noFill/>
            </a:ln>
          </p:spPr>
          <p:txBody>
            <a:bodyPr wrap="none">
              <a:spAutoFit/>
            </a:bodyPr>
            <a:lstStyle/>
            <a:p>
              <a:pPr eaLnBrk="1" hangingPunct="1">
                <a:defRPr/>
              </a:pPr>
              <a:r>
                <a:rPr lang="en-US" sz="1000" dirty="0">
                  <a:solidFill>
                    <a:schemeClr val="bg1"/>
                  </a:solidFill>
                  <a:latin typeface="+mj-lt"/>
                  <a:cs typeface="Arial" charset="0"/>
                </a:rPr>
                <a:t>FF</a:t>
              </a:r>
            </a:p>
          </p:txBody>
        </p:sp>
        <p:cxnSp>
          <p:nvCxnSpPr>
            <p:cNvPr id="25615" name="Straight Connector 57">
              <a:extLst>
                <a:ext uri="{FF2B5EF4-FFF2-40B4-BE49-F238E27FC236}">
                  <a16:creationId xmlns:a16="http://schemas.microsoft.com/office/drawing/2014/main" id="{2B1144AB-FB20-4B8D-9C80-B2F27F0CAD7D}"/>
                </a:ext>
              </a:extLst>
            </p:cNvPr>
            <p:cNvCxnSpPr>
              <a:cxnSpLocks noChangeShapeType="1"/>
            </p:cNvCxnSpPr>
            <p:nvPr/>
          </p:nvCxnSpPr>
          <p:spPr bwMode="auto">
            <a:xfrm flipV="1">
              <a:off x="3775969" y="3183097"/>
              <a:ext cx="462949" cy="743"/>
            </a:xfrm>
            <a:prstGeom prst="line">
              <a:avLst/>
            </a:prstGeom>
            <a:noFill/>
            <a:ln w="9525" algn="ctr">
              <a:solidFill>
                <a:schemeClr val="tx1"/>
              </a:solidFill>
              <a:round/>
              <a:headEnd/>
              <a:tailEnd/>
            </a:ln>
          </p:spPr>
        </p:cxnSp>
        <p:cxnSp>
          <p:nvCxnSpPr>
            <p:cNvPr id="25616" name="Straight Connector 58">
              <a:extLst>
                <a:ext uri="{FF2B5EF4-FFF2-40B4-BE49-F238E27FC236}">
                  <a16:creationId xmlns:a16="http://schemas.microsoft.com/office/drawing/2014/main" id="{DC25DF1F-E4CE-4007-B679-BAC2B99C9309}"/>
                </a:ext>
              </a:extLst>
            </p:cNvPr>
            <p:cNvCxnSpPr>
              <a:cxnSpLocks noChangeShapeType="1"/>
            </p:cNvCxnSpPr>
            <p:nvPr/>
          </p:nvCxnSpPr>
          <p:spPr bwMode="auto">
            <a:xfrm>
              <a:off x="1908222" y="2819659"/>
              <a:ext cx="538812" cy="0"/>
            </a:xfrm>
            <a:prstGeom prst="line">
              <a:avLst/>
            </a:prstGeom>
            <a:noFill/>
            <a:ln w="9525" algn="ctr">
              <a:solidFill>
                <a:schemeClr val="tx1"/>
              </a:solidFill>
              <a:round/>
              <a:headEnd/>
              <a:tailEnd/>
            </a:ln>
          </p:spPr>
        </p:cxnSp>
        <p:sp>
          <p:nvSpPr>
            <p:cNvPr id="60" name="Rectangle 59">
              <a:extLst>
                <a:ext uri="{FF2B5EF4-FFF2-40B4-BE49-F238E27FC236}">
                  <a16:creationId xmlns:a16="http://schemas.microsoft.com/office/drawing/2014/main" id="{939A226F-F00B-4C4A-970C-C1CE444274BD}"/>
                </a:ext>
              </a:extLst>
            </p:cNvPr>
            <p:cNvSpPr/>
            <p:nvPr/>
          </p:nvSpPr>
          <p:spPr bwMode="auto">
            <a:xfrm>
              <a:off x="2446387" y="2643337"/>
              <a:ext cx="457194" cy="7624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61" name="Isosceles Triangle 60">
              <a:extLst>
                <a:ext uri="{FF2B5EF4-FFF2-40B4-BE49-F238E27FC236}">
                  <a16:creationId xmlns:a16="http://schemas.microsoft.com/office/drawing/2014/main" id="{617EA8C0-7642-4A86-A2C9-691453B55C98}"/>
                </a:ext>
              </a:extLst>
            </p:cNvPr>
            <p:cNvSpPr/>
            <p:nvPr/>
          </p:nvSpPr>
          <p:spPr bwMode="auto">
            <a:xfrm rot="5400000">
              <a:off x="2408246" y="3215162"/>
              <a:ext cx="152481" cy="76199"/>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62" name="TextBox 61">
              <a:extLst>
                <a:ext uri="{FF2B5EF4-FFF2-40B4-BE49-F238E27FC236}">
                  <a16:creationId xmlns:a16="http://schemas.microsoft.com/office/drawing/2014/main" id="{AFF66567-4AAE-46E3-8A87-D9B9B84BD1F2}"/>
                </a:ext>
              </a:extLst>
            </p:cNvPr>
            <p:cNvSpPr txBox="1"/>
            <p:nvPr/>
          </p:nvSpPr>
          <p:spPr>
            <a:xfrm>
              <a:off x="2503536" y="2710048"/>
              <a:ext cx="341307" cy="246193"/>
            </a:xfrm>
            <a:prstGeom prst="rect">
              <a:avLst/>
            </a:prstGeom>
            <a:noFill/>
            <a:ln w="9525">
              <a:noFill/>
            </a:ln>
          </p:spPr>
          <p:txBody>
            <a:bodyPr wrap="none">
              <a:spAutoFit/>
            </a:bodyPr>
            <a:lstStyle/>
            <a:p>
              <a:pPr eaLnBrk="1" hangingPunct="1">
                <a:defRPr/>
              </a:pPr>
              <a:r>
                <a:rPr lang="en-US" sz="1000" dirty="0">
                  <a:solidFill>
                    <a:schemeClr val="bg1"/>
                  </a:solidFill>
                  <a:latin typeface="+mj-lt"/>
                  <a:cs typeface="Arial" charset="0"/>
                </a:rPr>
                <a:t>FF</a:t>
              </a:r>
            </a:p>
          </p:txBody>
        </p:sp>
        <p:cxnSp>
          <p:nvCxnSpPr>
            <p:cNvPr id="25620" name="Straight Connector 62">
              <a:extLst>
                <a:ext uri="{FF2B5EF4-FFF2-40B4-BE49-F238E27FC236}">
                  <a16:creationId xmlns:a16="http://schemas.microsoft.com/office/drawing/2014/main" id="{70C72029-3284-43E8-A072-6D068895C6DB}"/>
                </a:ext>
              </a:extLst>
            </p:cNvPr>
            <p:cNvCxnSpPr>
              <a:cxnSpLocks noChangeShapeType="1"/>
            </p:cNvCxnSpPr>
            <p:nvPr/>
          </p:nvCxnSpPr>
          <p:spPr bwMode="auto">
            <a:xfrm rot="180000" flipV="1">
              <a:off x="1981498" y="3240219"/>
              <a:ext cx="465240" cy="23529"/>
            </a:xfrm>
            <a:prstGeom prst="line">
              <a:avLst/>
            </a:prstGeom>
            <a:noFill/>
            <a:ln w="9525" algn="ctr">
              <a:solidFill>
                <a:schemeClr val="tx1"/>
              </a:solidFill>
              <a:round/>
              <a:headEnd/>
              <a:tailEnd/>
            </a:ln>
          </p:spPr>
        </p:cxnSp>
        <p:sp>
          <p:nvSpPr>
            <p:cNvPr id="64" name="Flowchart: Delay 53">
              <a:extLst>
                <a:ext uri="{FF2B5EF4-FFF2-40B4-BE49-F238E27FC236}">
                  <a16:creationId xmlns:a16="http://schemas.microsoft.com/office/drawing/2014/main" id="{9291249E-BF5E-4587-B6F0-047DDBAF89FB}"/>
                </a:ext>
              </a:extLst>
            </p:cNvPr>
            <p:cNvSpPr/>
            <p:nvPr/>
          </p:nvSpPr>
          <p:spPr bwMode="auto">
            <a:xfrm>
              <a:off x="1578035" y="2671928"/>
              <a:ext cx="330196" cy="295432"/>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baseline="-25000" dirty="0">
                <a:latin typeface="+mj-lt"/>
                <a:cs typeface="Arial" charset="0"/>
              </a:endParaRPr>
            </a:p>
          </p:txBody>
        </p:sp>
        <p:cxnSp>
          <p:nvCxnSpPr>
            <p:cNvPr id="25622" name="Прямая соединительная линия 18">
              <a:extLst>
                <a:ext uri="{FF2B5EF4-FFF2-40B4-BE49-F238E27FC236}">
                  <a16:creationId xmlns:a16="http://schemas.microsoft.com/office/drawing/2014/main" id="{A4DD6F37-D2BE-4EC1-88FA-026EE4F99086}"/>
                </a:ext>
              </a:extLst>
            </p:cNvPr>
            <p:cNvCxnSpPr>
              <a:cxnSpLocks noChangeShapeType="1"/>
            </p:cNvCxnSpPr>
            <p:nvPr/>
          </p:nvCxnSpPr>
          <p:spPr bwMode="auto">
            <a:xfrm>
              <a:off x="1171369" y="2760461"/>
              <a:ext cx="407476" cy="0"/>
            </a:xfrm>
            <a:prstGeom prst="line">
              <a:avLst/>
            </a:prstGeom>
            <a:noFill/>
            <a:ln w="9525" algn="ctr">
              <a:solidFill>
                <a:schemeClr val="tx1"/>
              </a:solidFill>
              <a:round/>
              <a:headEnd/>
              <a:tailEnd/>
            </a:ln>
          </p:spPr>
        </p:cxnSp>
        <p:cxnSp>
          <p:nvCxnSpPr>
            <p:cNvPr id="25623" name="Прямая соединительная линия 19">
              <a:extLst>
                <a:ext uri="{FF2B5EF4-FFF2-40B4-BE49-F238E27FC236}">
                  <a16:creationId xmlns:a16="http://schemas.microsoft.com/office/drawing/2014/main" id="{6B9FD49F-8D36-4576-9482-E6CB44FC4878}"/>
                </a:ext>
              </a:extLst>
            </p:cNvPr>
            <p:cNvCxnSpPr>
              <a:cxnSpLocks noChangeShapeType="1"/>
            </p:cNvCxnSpPr>
            <p:nvPr/>
          </p:nvCxnSpPr>
          <p:spPr bwMode="auto">
            <a:xfrm>
              <a:off x="1172807" y="2915490"/>
              <a:ext cx="407476" cy="0"/>
            </a:xfrm>
            <a:prstGeom prst="line">
              <a:avLst/>
            </a:prstGeom>
            <a:noFill/>
            <a:ln w="9525" algn="ctr">
              <a:solidFill>
                <a:schemeClr val="tx1"/>
              </a:solidFill>
              <a:round/>
              <a:headEnd/>
              <a:tailEnd/>
            </a:ln>
          </p:spPr>
        </p:cxnSp>
        <p:cxnSp>
          <p:nvCxnSpPr>
            <p:cNvPr id="25624" name="Straight Connector 66">
              <a:extLst>
                <a:ext uri="{FF2B5EF4-FFF2-40B4-BE49-F238E27FC236}">
                  <a16:creationId xmlns:a16="http://schemas.microsoft.com/office/drawing/2014/main" id="{004DFF93-25FE-4AD6-9AB9-CDE96F85EC80}"/>
                </a:ext>
              </a:extLst>
            </p:cNvPr>
            <p:cNvCxnSpPr>
              <a:cxnSpLocks noChangeShapeType="1"/>
            </p:cNvCxnSpPr>
            <p:nvPr/>
          </p:nvCxnSpPr>
          <p:spPr bwMode="auto">
            <a:xfrm>
              <a:off x="2907772" y="2823790"/>
              <a:ext cx="538812" cy="0"/>
            </a:xfrm>
            <a:prstGeom prst="line">
              <a:avLst/>
            </a:prstGeom>
            <a:noFill/>
            <a:ln w="9525" algn="ctr">
              <a:solidFill>
                <a:schemeClr val="tx1"/>
              </a:solidFill>
              <a:round/>
              <a:headEnd/>
              <a:tailEnd/>
            </a:ln>
          </p:spPr>
        </p:cxnSp>
        <p:sp>
          <p:nvSpPr>
            <p:cNvPr id="68" name="Moon 67">
              <a:extLst>
                <a:ext uri="{FF2B5EF4-FFF2-40B4-BE49-F238E27FC236}">
                  <a16:creationId xmlns:a16="http://schemas.microsoft.com/office/drawing/2014/main" id="{A972C00F-FC93-4696-A5AB-EA490C9C2EAC}"/>
                </a:ext>
              </a:extLst>
            </p:cNvPr>
            <p:cNvSpPr/>
            <p:nvPr/>
          </p:nvSpPr>
          <p:spPr bwMode="auto">
            <a:xfrm rot="10800000">
              <a:off x="3417923" y="2605217"/>
              <a:ext cx="358770" cy="298609"/>
            </a:xfrm>
            <a:prstGeom prst="moon">
              <a:avLst>
                <a:gd name="adj" fmla="val 87500"/>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cxnSp>
          <p:nvCxnSpPr>
            <p:cNvPr id="25626" name="Straight Connector 68">
              <a:extLst>
                <a:ext uri="{FF2B5EF4-FFF2-40B4-BE49-F238E27FC236}">
                  <a16:creationId xmlns:a16="http://schemas.microsoft.com/office/drawing/2014/main" id="{8BE03728-FC8C-443E-A75F-ECF1EA44EFD7}"/>
                </a:ext>
              </a:extLst>
            </p:cNvPr>
            <p:cNvCxnSpPr>
              <a:cxnSpLocks noChangeShapeType="1"/>
            </p:cNvCxnSpPr>
            <p:nvPr/>
          </p:nvCxnSpPr>
          <p:spPr bwMode="auto">
            <a:xfrm>
              <a:off x="3345131" y="2681859"/>
              <a:ext cx="108931" cy="1135"/>
            </a:xfrm>
            <a:prstGeom prst="line">
              <a:avLst/>
            </a:prstGeom>
            <a:noFill/>
            <a:ln w="9525" algn="ctr">
              <a:solidFill>
                <a:schemeClr val="tx1"/>
              </a:solidFill>
              <a:round/>
              <a:headEnd/>
              <a:tailEnd/>
            </a:ln>
          </p:spPr>
        </p:cxnSp>
        <p:cxnSp>
          <p:nvCxnSpPr>
            <p:cNvPr id="25627" name="Straight Connector 69">
              <a:extLst>
                <a:ext uri="{FF2B5EF4-FFF2-40B4-BE49-F238E27FC236}">
                  <a16:creationId xmlns:a16="http://schemas.microsoft.com/office/drawing/2014/main" id="{1C5F6C8B-DAEA-42DE-A036-7534952F3767}"/>
                </a:ext>
              </a:extLst>
            </p:cNvPr>
            <p:cNvCxnSpPr>
              <a:cxnSpLocks noChangeShapeType="1"/>
            </p:cNvCxnSpPr>
            <p:nvPr/>
          </p:nvCxnSpPr>
          <p:spPr bwMode="auto">
            <a:xfrm flipV="1">
              <a:off x="3345131" y="2362200"/>
              <a:ext cx="0" cy="310184"/>
            </a:xfrm>
            <a:prstGeom prst="line">
              <a:avLst/>
            </a:prstGeom>
            <a:noFill/>
            <a:ln w="9525" algn="ctr">
              <a:solidFill>
                <a:schemeClr val="tx1"/>
              </a:solidFill>
              <a:round/>
              <a:headEnd/>
              <a:tailEnd/>
            </a:ln>
          </p:spPr>
        </p:cxnSp>
        <p:cxnSp>
          <p:nvCxnSpPr>
            <p:cNvPr id="25628" name="Straight Connector 70">
              <a:extLst>
                <a:ext uri="{FF2B5EF4-FFF2-40B4-BE49-F238E27FC236}">
                  <a16:creationId xmlns:a16="http://schemas.microsoft.com/office/drawing/2014/main" id="{9652BAFE-592F-4CC0-BEBB-DC322BC25887}"/>
                </a:ext>
              </a:extLst>
            </p:cNvPr>
            <p:cNvCxnSpPr>
              <a:cxnSpLocks noChangeShapeType="1"/>
            </p:cNvCxnSpPr>
            <p:nvPr/>
          </p:nvCxnSpPr>
          <p:spPr bwMode="auto">
            <a:xfrm>
              <a:off x="1172807" y="3733800"/>
              <a:ext cx="2600276" cy="0"/>
            </a:xfrm>
            <a:prstGeom prst="line">
              <a:avLst/>
            </a:prstGeom>
            <a:noFill/>
            <a:ln w="9525" algn="ctr">
              <a:solidFill>
                <a:schemeClr val="tx1"/>
              </a:solidFill>
              <a:round/>
              <a:headEnd/>
              <a:tailEnd/>
            </a:ln>
          </p:spPr>
        </p:cxnSp>
        <p:cxnSp>
          <p:nvCxnSpPr>
            <p:cNvPr id="25629" name="Straight Connector 71">
              <a:extLst>
                <a:ext uri="{FF2B5EF4-FFF2-40B4-BE49-F238E27FC236}">
                  <a16:creationId xmlns:a16="http://schemas.microsoft.com/office/drawing/2014/main" id="{45937872-0CF1-4121-B044-D29DC3AEC15D}"/>
                </a:ext>
              </a:extLst>
            </p:cNvPr>
            <p:cNvCxnSpPr>
              <a:cxnSpLocks noChangeShapeType="1"/>
            </p:cNvCxnSpPr>
            <p:nvPr/>
          </p:nvCxnSpPr>
          <p:spPr bwMode="auto">
            <a:xfrm>
              <a:off x="3775969" y="3176952"/>
              <a:ext cx="0" cy="556848"/>
            </a:xfrm>
            <a:prstGeom prst="line">
              <a:avLst/>
            </a:prstGeom>
            <a:noFill/>
            <a:ln w="9525" algn="ctr">
              <a:solidFill>
                <a:schemeClr val="tx1"/>
              </a:solidFill>
              <a:round/>
              <a:headEnd/>
              <a:tailEnd/>
            </a:ln>
          </p:spPr>
        </p:cxnSp>
        <p:cxnSp>
          <p:nvCxnSpPr>
            <p:cNvPr id="25630" name="Straight Connector 72">
              <a:extLst>
                <a:ext uri="{FF2B5EF4-FFF2-40B4-BE49-F238E27FC236}">
                  <a16:creationId xmlns:a16="http://schemas.microsoft.com/office/drawing/2014/main" id="{C8A4435A-945E-441A-982A-EB7E973C8455}"/>
                </a:ext>
              </a:extLst>
            </p:cNvPr>
            <p:cNvCxnSpPr>
              <a:cxnSpLocks noChangeShapeType="1"/>
            </p:cNvCxnSpPr>
            <p:nvPr/>
          </p:nvCxnSpPr>
          <p:spPr bwMode="auto">
            <a:xfrm>
              <a:off x="1981201" y="3251983"/>
              <a:ext cx="0" cy="481817"/>
            </a:xfrm>
            <a:prstGeom prst="line">
              <a:avLst/>
            </a:prstGeom>
            <a:noFill/>
            <a:ln w="9525" algn="ctr">
              <a:solidFill>
                <a:schemeClr val="tx1"/>
              </a:solidFill>
              <a:round/>
              <a:headEnd/>
              <a:tailEnd/>
            </a:ln>
          </p:spPr>
        </p:cxnSp>
        <p:grpSp>
          <p:nvGrpSpPr>
            <p:cNvPr id="25631" name="Group 73">
              <a:extLst>
                <a:ext uri="{FF2B5EF4-FFF2-40B4-BE49-F238E27FC236}">
                  <a16:creationId xmlns:a16="http://schemas.microsoft.com/office/drawing/2014/main" id="{FA9B977C-6012-467C-982C-5196113F9C6B}"/>
                </a:ext>
              </a:extLst>
            </p:cNvPr>
            <p:cNvGrpSpPr>
              <a:grpSpLocks/>
            </p:cNvGrpSpPr>
            <p:nvPr/>
          </p:nvGrpSpPr>
          <p:grpSpPr bwMode="auto">
            <a:xfrm>
              <a:off x="4695104" y="2588662"/>
              <a:ext cx="1153764" cy="350072"/>
              <a:chOff x="5033958" y="2425701"/>
              <a:chExt cx="1443042" cy="437844"/>
            </a:xfrm>
          </p:grpSpPr>
          <p:cxnSp>
            <p:nvCxnSpPr>
              <p:cNvPr id="25642" name="Прямая соединительная линия 19">
                <a:extLst>
                  <a:ext uri="{FF2B5EF4-FFF2-40B4-BE49-F238E27FC236}">
                    <a16:creationId xmlns:a16="http://schemas.microsoft.com/office/drawing/2014/main" id="{76BF1BF7-114C-4F53-AF63-E18CB9BB8412}"/>
                  </a:ext>
                </a:extLst>
              </p:cNvPr>
              <p:cNvCxnSpPr>
                <a:cxnSpLocks noChangeShapeType="1"/>
              </p:cNvCxnSpPr>
              <p:nvPr/>
            </p:nvCxnSpPr>
            <p:spPr bwMode="auto">
              <a:xfrm>
                <a:off x="6127651" y="2643721"/>
                <a:ext cx="349349" cy="0"/>
              </a:xfrm>
              <a:prstGeom prst="line">
                <a:avLst/>
              </a:prstGeom>
              <a:noFill/>
              <a:ln w="9525" algn="ctr">
                <a:solidFill>
                  <a:schemeClr val="tx1"/>
                </a:solidFill>
                <a:round/>
                <a:headEnd/>
                <a:tailEnd/>
              </a:ln>
            </p:spPr>
          </p:cxnSp>
          <p:cxnSp>
            <p:nvCxnSpPr>
              <p:cNvPr id="25643" name="Прямая соединительная линия 25">
                <a:extLst>
                  <a:ext uri="{FF2B5EF4-FFF2-40B4-BE49-F238E27FC236}">
                    <a16:creationId xmlns:a16="http://schemas.microsoft.com/office/drawing/2014/main" id="{65A437DC-B70A-4148-8878-AE62F4EE05FF}"/>
                  </a:ext>
                </a:extLst>
              </p:cNvPr>
              <p:cNvCxnSpPr>
                <a:cxnSpLocks noChangeShapeType="1"/>
              </p:cNvCxnSpPr>
              <p:nvPr/>
            </p:nvCxnSpPr>
            <p:spPr bwMode="auto">
              <a:xfrm>
                <a:off x="5033958" y="2646107"/>
                <a:ext cx="533242" cy="0"/>
              </a:xfrm>
              <a:prstGeom prst="line">
                <a:avLst/>
              </a:prstGeom>
              <a:noFill/>
              <a:ln w="9525" algn="ctr">
                <a:solidFill>
                  <a:schemeClr val="tx1"/>
                </a:solidFill>
                <a:round/>
                <a:headEnd/>
                <a:tailEnd/>
              </a:ln>
            </p:spPr>
          </p:cxnSp>
          <p:sp>
            <p:nvSpPr>
              <p:cNvPr id="109" name="Isosceles Triangle 77">
                <a:extLst>
                  <a:ext uri="{FF2B5EF4-FFF2-40B4-BE49-F238E27FC236}">
                    <a16:creationId xmlns:a16="http://schemas.microsoft.com/office/drawing/2014/main" id="{D0CF808E-107F-41CD-8161-BC56403EB1C8}"/>
                  </a:ext>
                </a:extLst>
              </p:cNvPr>
              <p:cNvSpPr/>
              <p:nvPr/>
            </p:nvSpPr>
            <p:spPr bwMode="auto">
              <a:xfrm rot="5400000">
                <a:off x="5577798" y="2423681"/>
                <a:ext cx="437048" cy="442767"/>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25645" name="Oval 110">
                <a:extLst>
                  <a:ext uri="{FF2B5EF4-FFF2-40B4-BE49-F238E27FC236}">
                    <a16:creationId xmlns:a16="http://schemas.microsoft.com/office/drawing/2014/main" id="{B7E0665F-07EC-4383-875B-AC6AD7A56273}"/>
                  </a:ext>
                </a:extLst>
              </p:cNvPr>
              <p:cNvSpPr>
                <a:spLocks noChangeArrowheads="1"/>
              </p:cNvSpPr>
              <p:nvPr/>
            </p:nvSpPr>
            <p:spPr bwMode="auto">
              <a:xfrm>
                <a:off x="6021373" y="2590642"/>
                <a:ext cx="107960" cy="10796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sp>
          <p:nvSpPr>
            <p:cNvPr id="25632" name="TextBox 74">
              <a:extLst>
                <a:ext uri="{FF2B5EF4-FFF2-40B4-BE49-F238E27FC236}">
                  <a16:creationId xmlns:a16="http://schemas.microsoft.com/office/drawing/2014/main" id="{F6027026-5296-4922-81CD-05F611C1CBB7}"/>
                </a:ext>
              </a:extLst>
            </p:cNvPr>
            <p:cNvSpPr txBox="1">
              <a:spLocks noChangeArrowheads="1"/>
            </p:cNvSpPr>
            <p:nvPr/>
          </p:nvSpPr>
          <p:spPr bwMode="auto">
            <a:xfrm>
              <a:off x="935193" y="2573759"/>
              <a:ext cx="2632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a</a:t>
              </a:r>
            </a:p>
          </p:txBody>
        </p:sp>
        <p:sp>
          <p:nvSpPr>
            <p:cNvPr id="25633" name="TextBox 75">
              <a:extLst>
                <a:ext uri="{FF2B5EF4-FFF2-40B4-BE49-F238E27FC236}">
                  <a16:creationId xmlns:a16="http://schemas.microsoft.com/office/drawing/2014/main" id="{D57DB7CE-0C74-4C5C-8745-CF632C8C4DFE}"/>
                </a:ext>
              </a:extLst>
            </p:cNvPr>
            <p:cNvSpPr txBox="1">
              <a:spLocks noChangeArrowheads="1"/>
            </p:cNvSpPr>
            <p:nvPr/>
          </p:nvSpPr>
          <p:spPr bwMode="auto">
            <a:xfrm>
              <a:off x="940776" y="2740264"/>
              <a:ext cx="2632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b</a:t>
              </a:r>
            </a:p>
          </p:txBody>
        </p:sp>
        <p:sp>
          <p:nvSpPr>
            <p:cNvPr id="25634" name="TextBox 76">
              <a:extLst>
                <a:ext uri="{FF2B5EF4-FFF2-40B4-BE49-F238E27FC236}">
                  <a16:creationId xmlns:a16="http://schemas.microsoft.com/office/drawing/2014/main" id="{E0520066-4F3D-490F-AF52-ABF023D1E92E}"/>
                </a:ext>
              </a:extLst>
            </p:cNvPr>
            <p:cNvSpPr txBox="1">
              <a:spLocks noChangeArrowheads="1"/>
            </p:cNvSpPr>
            <p:nvPr/>
          </p:nvSpPr>
          <p:spPr bwMode="auto">
            <a:xfrm>
              <a:off x="730322" y="3549160"/>
              <a:ext cx="50687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clock</a:t>
              </a:r>
            </a:p>
          </p:txBody>
        </p:sp>
        <p:sp>
          <p:nvSpPr>
            <p:cNvPr id="25635" name="TextBox 77">
              <a:extLst>
                <a:ext uri="{FF2B5EF4-FFF2-40B4-BE49-F238E27FC236}">
                  <a16:creationId xmlns:a16="http://schemas.microsoft.com/office/drawing/2014/main" id="{B67CD974-1F0C-4973-BB5F-8601C6CC5750}"/>
                </a:ext>
              </a:extLst>
            </p:cNvPr>
            <p:cNvSpPr txBox="1">
              <a:spLocks noChangeArrowheads="1"/>
            </p:cNvSpPr>
            <p:nvPr/>
          </p:nvSpPr>
          <p:spPr bwMode="auto">
            <a:xfrm>
              <a:off x="1981201" y="2561796"/>
              <a:ext cx="2632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a:t>
              </a:r>
            </a:p>
          </p:txBody>
        </p:sp>
        <p:sp>
          <p:nvSpPr>
            <p:cNvPr id="25636" name="TextBox 78">
              <a:extLst>
                <a:ext uri="{FF2B5EF4-FFF2-40B4-BE49-F238E27FC236}">
                  <a16:creationId xmlns:a16="http://schemas.microsoft.com/office/drawing/2014/main" id="{AB93E1F9-570A-4E67-9ED1-86270B41F621}"/>
                </a:ext>
              </a:extLst>
            </p:cNvPr>
            <p:cNvSpPr txBox="1">
              <a:spLocks noChangeArrowheads="1"/>
            </p:cNvSpPr>
            <p:nvPr/>
          </p:nvSpPr>
          <p:spPr bwMode="auto">
            <a:xfrm>
              <a:off x="3851586" y="2488224"/>
              <a:ext cx="2632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d</a:t>
              </a:r>
            </a:p>
          </p:txBody>
        </p:sp>
        <p:sp>
          <p:nvSpPr>
            <p:cNvPr id="25637" name="TextBox 79">
              <a:extLst>
                <a:ext uri="{FF2B5EF4-FFF2-40B4-BE49-F238E27FC236}">
                  <a16:creationId xmlns:a16="http://schemas.microsoft.com/office/drawing/2014/main" id="{B63E3EEC-1FCB-4E9D-BD34-0D2D6194A85C}"/>
                </a:ext>
              </a:extLst>
            </p:cNvPr>
            <p:cNvSpPr txBox="1">
              <a:spLocks noChangeArrowheads="1"/>
            </p:cNvSpPr>
            <p:nvPr/>
          </p:nvSpPr>
          <p:spPr bwMode="auto">
            <a:xfrm>
              <a:off x="4795298" y="2497016"/>
              <a:ext cx="2632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e</a:t>
              </a:r>
            </a:p>
          </p:txBody>
        </p:sp>
        <p:sp>
          <p:nvSpPr>
            <p:cNvPr id="25638" name="TextBox 80">
              <a:extLst>
                <a:ext uri="{FF2B5EF4-FFF2-40B4-BE49-F238E27FC236}">
                  <a16:creationId xmlns:a16="http://schemas.microsoft.com/office/drawing/2014/main" id="{B78026CD-90A8-4016-B1ED-6848DA83AB6F}"/>
                </a:ext>
              </a:extLst>
            </p:cNvPr>
            <p:cNvSpPr txBox="1">
              <a:spLocks noChangeArrowheads="1"/>
            </p:cNvSpPr>
            <p:nvPr/>
          </p:nvSpPr>
          <p:spPr bwMode="auto">
            <a:xfrm>
              <a:off x="5604186" y="2497016"/>
              <a:ext cx="2632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y</a:t>
              </a:r>
            </a:p>
          </p:txBody>
        </p:sp>
        <p:cxnSp>
          <p:nvCxnSpPr>
            <p:cNvPr id="25639" name="Straight Arrow Connector 81">
              <a:extLst>
                <a:ext uri="{FF2B5EF4-FFF2-40B4-BE49-F238E27FC236}">
                  <a16:creationId xmlns:a16="http://schemas.microsoft.com/office/drawing/2014/main" id="{C1B29FB8-FE0A-4605-9500-957668B4D5D3}"/>
                </a:ext>
              </a:extLst>
            </p:cNvPr>
            <p:cNvCxnSpPr>
              <a:cxnSpLocks noChangeShapeType="1"/>
            </p:cNvCxnSpPr>
            <p:nvPr/>
          </p:nvCxnSpPr>
          <p:spPr bwMode="auto">
            <a:xfrm>
              <a:off x="1237192" y="2643552"/>
              <a:ext cx="1125008" cy="0"/>
            </a:xfrm>
            <a:prstGeom prst="straightConnector1">
              <a:avLst/>
            </a:prstGeom>
            <a:noFill/>
            <a:ln w="19050" algn="ctr">
              <a:solidFill>
                <a:srgbClr val="0000FF"/>
              </a:solidFill>
              <a:round/>
              <a:headEnd/>
              <a:tailEnd type="triangle" w="med" len="med"/>
            </a:ln>
          </p:spPr>
        </p:cxnSp>
        <p:cxnSp>
          <p:nvCxnSpPr>
            <p:cNvPr id="25640" name="Straight Arrow Connector 82">
              <a:extLst>
                <a:ext uri="{FF2B5EF4-FFF2-40B4-BE49-F238E27FC236}">
                  <a16:creationId xmlns:a16="http://schemas.microsoft.com/office/drawing/2014/main" id="{73A7EA57-8F79-4503-81A3-11911FA2DE9D}"/>
                </a:ext>
              </a:extLst>
            </p:cNvPr>
            <p:cNvCxnSpPr>
              <a:cxnSpLocks noChangeShapeType="1"/>
            </p:cNvCxnSpPr>
            <p:nvPr/>
          </p:nvCxnSpPr>
          <p:spPr bwMode="auto">
            <a:xfrm>
              <a:off x="1239720" y="3048000"/>
              <a:ext cx="1125008" cy="0"/>
            </a:xfrm>
            <a:prstGeom prst="straightConnector1">
              <a:avLst/>
            </a:prstGeom>
            <a:noFill/>
            <a:ln w="19050" algn="ctr">
              <a:solidFill>
                <a:srgbClr val="0000FF"/>
              </a:solidFill>
              <a:round/>
              <a:headEnd/>
              <a:tailEnd type="triangle" w="med" len="med"/>
            </a:ln>
          </p:spPr>
        </p:cxnSp>
        <p:sp>
          <p:nvSpPr>
            <p:cNvPr id="84" name="Arc 83">
              <a:extLst>
                <a:ext uri="{FF2B5EF4-FFF2-40B4-BE49-F238E27FC236}">
                  <a16:creationId xmlns:a16="http://schemas.microsoft.com/office/drawing/2014/main" id="{374430DA-C51A-4EFE-977E-FDAFE246CDCA}"/>
                </a:ext>
              </a:extLst>
            </p:cNvPr>
            <p:cNvSpPr/>
            <p:nvPr/>
          </p:nvSpPr>
          <p:spPr bwMode="auto">
            <a:xfrm flipH="1">
              <a:off x="2378125" y="2819643"/>
              <a:ext cx="3717874" cy="816409"/>
            </a:xfrm>
            <a:prstGeom prst="arc">
              <a:avLst/>
            </a:prstGeom>
            <a:noFill/>
            <a:ln w="19050" cap="flat" cmpd="sng" algn="ctr">
              <a:solidFill>
                <a:srgbClr val="0000FF"/>
              </a:solidFill>
              <a:prstDash val="solid"/>
              <a:round/>
              <a:headEnd type="triangle" w="med" len="med"/>
              <a:tailEnd type="none" w="med" len="med"/>
            </a:ln>
            <a:effectLst/>
          </p:spPr>
          <p:txBody>
            <a:bodyPr anchor="ctr"/>
            <a:lstStyle/>
            <a:p>
              <a:pPr algn="ctr" eaLnBrk="1" hangingPunct="1">
                <a:defRPr/>
              </a:pPr>
              <a:endParaRPr lang="en-US">
                <a:latin typeface="Arial" charset="0"/>
                <a:cs typeface="Arial" charset="0"/>
              </a:endParaRPr>
            </a:p>
          </p:txBody>
        </p:sp>
      </p:grpSp>
      <p:sp>
        <p:nvSpPr>
          <p:cNvPr id="112" name="Arc 111">
            <a:extLst>
              <a:ext uri="{FF2B5EF4-FFF2-40B4-BE49-F238E27FC236}">
                <a16:creationId xmlns:a16="http://schemas.microsoft.com/office/drawing/2014/main" id="{02E1144A-6FD9-4425-996A-7A46131F53D3}"/>
              </a:ext>
            </a:extLst>
          </p:cNvPr>
          <p:cNvSpPr/>
          <p:nvPr/>
        </p:nvSpPr>
        <p:spPr bwMode="auto">
          <a:xfrm flipH="1">
            <a:off x="8416926" y="2217738"/>
            <a:ext cx="2632075" cy="646112"/>
          </a:xfrm>
          <a:prstGeom prst="arc">
            <a:avLst/>
          </a:prstGeom>
          <a:noFill/>
          <a:ln w="19050" cap="flat" cmpd="sng" algn="ctr">
            <a:solidFill>
              <a:srgbClr val="0000FF"/>
            </a:solidFill>
            <a:prstDash val="solid"/>
            <a:round/>
            <a:headEnd type="triangle" w="med" len="med"/>
            <a:tailEnd type="none" w="med" len="med"/>
          </a:ln>
          <a:effectLst/>
        </p:spPr>
        <p:txBody>
          <a:bodyPr anchor="ctr"/>
          <a:lstStyle/>
          <a:p>
            <a:pPr algn="ctr" eaLnBrk="1" hangingPunct="1">
              <a:defRPr/>
            </a:pPr>
            <a:endParaRPr lang="en-US">
              <a:latin typeface="Arial" charset="0"/>
              <a:cs typeface="Arial"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3522F979-226C-472F-9546-50B7439FDCFD}"/>
              </a:ext>
            </a:extLst>
          </p:cNvPr>
          <p:cNvSpPr>
            <a:spLocks noGrp="1"/>
          </p:cNvSpPr>
          <p:nvPr>
            <p:ph type="title"/>
          </p:nvPr>
        </p:nvSpPr>
        <p:spPr/>
        <p:txBody>
          <a:bodyPr/>
          <a:lstStyle/>
          <a:p>
            <a:r>
              <a:rPr lang="en-US" altLang="en-US"/>
              <a:t>STA Concepts</a:t>
            </a:r>
          </a:p>
        </p:txBody>
      </p:sp>
      <p:sp>
        <p:nvSpPr>
          <p:cNvPr id="26627" name="Content Placeholder 2">
            <a:extLst>
              <a:ext uri="{FF2B5EF4-FFF2-40B4-BE49-F238E27FC236}">
                <a16:creationId xmlns:a16="http://schemas.microsoft.com/office/drawing/2014/main" id="{B905E589-4B40-4A5D-9458-A5C39CA27C45}"/>
              </a:ext>
            </a:extLst>
          </p:cNvPr>
          <p:cNvSpPr>
            <a:spLocks noGrp="1"/>
          </p:cNvSpPr>
          <p:nvPr>
            <p:ph type="body" sz="quarter" idx="10"/>
          </p:nvPr>
        </p:nvSpPr>
        <p:spPr/>
        <p:txBody>
          <a:bodyPr/>
          <a:lstStyle/>
          <a:p>
            <a:r>
              <a:rPr lang="en-US" altLang="en-US"/>
              <a:t>Timing Path</a:t>
            </a:r>
          </a:p>
          <a:p>
            <a:r>
              <a:rPr lang="en-US" altLang="en-US"/>
              <a:t>Required Time</a:t>
            </a:r>
          </a:p>
          <a:p>
            <a:r>
              <a:rPr lang="en-US" altLang="en-US"/>
              <a:t>Arrival Time</a:t>
            </a:r>
          </a:p>
          <a:p>
            <a:r>
              <a:rPr lang="en-US" altLang="en-US"/>
              <a:t>Slack</a:t>
            </a:r>
          </a:p>
          <a:p>
            <a:r>
              <a:rPr lang="en-US" altLang="en-US"/>
              <a:t>Critical Path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CB6BEFEE-5422-4780-8016-F4A71A43B717}"/>
              </a:ext>
            </a:extLst>
          </p:cNvPr>
          <p:cNvSpPr>
            <a:spLocks noGrp="1"/>
          </p:cNvSpPr>
          <p:nvPr>
            <p:ph type="title"/>
          </p:nvPr>
        </p:nvSpPr>
        <p:spPr/>
        <p:txBody>
          <a:bodyPr/>
          <a:lstStyle/>
          <a:p>
            <a:r>
              <a:rPr lang="en-US" altLang="en-US"/>
              <a:t>Timing Paths</a:t>
            </a:r>
          </a:p>
        </p:txBody>
      </p:sp>
      <p:sp>
        <p:nvSpPr>
          <p:cNvPr id="27651" name="Content Placeholder 2">
            <a:extLst>
              <a:ext uri="{FF2B5EF4-FFF2-40B4-BE49-F238E27FC236}">
                <a16:creationId xmlns:a16="http://schemas.microsoft.com/office/drawing/2014/main" id="{932369DC-9915-4E95-9858-9BB4CA7536C3}"/>
              </a:ext>
            </a:extLst>
          </p:cNvPr>
          <p:cNvSpPr>
            <a:spLocks noGrp="1"/>
          </p:cNvSpPr>
          <p:nvPr>
            <p:ph type="body" sz="quarter" idx="10"/>
          </p:nvPr>
        </p:nvSpPr>
        <p:spPr/>
        <p:txBody>
          <a:bodyPr/>
          <a:lstStyle/>
          <a:p>
            <a:r>
              <a:rPr lang="en-US" altLang="en-US" sz="1800"/>
              <a:t>Timing path has a start point and an endpoint.</a:t>
            </a:r>
          </a:p>
          <a:p>
            <a:r>
              <a:rPr lang="en-US" altLang="en-US" sz="1800"/>
              <a:t>Start point:</a:t>
            </a:r>
          </a:p>
          <a:p>
            <a:pPr lvl="1"/>
            <a:r>
              <a:rPr lang="en-US" altLang="en-US" sz="1400"/>
              <a:t>Input ports </a:t>
            </a:r>
          </a:p>
          <a:p>
            <a:pPr lvl="1"/>
            <a:r>
              <a:rPr lang="en-US" altLang="en-US" sz="1400"/>
              <a:t>Clock pins of flip-flops</a:t>
            </a:r>
          </a:p>
        </p:txBody>
      </p:sp>
      <p:sp>
        <p:nvSpPr>
          <p:cNvPr id="27652" name="Content Placeholder 2">
            <a:extLst>
              <a:ext uri="{FF2B5EF4-FFF2-40B4-BE49-F238E27FC236}">
                <a16:creationId xmlns:a16="http://schemas.microsoft.com/office/drawing/2014/main" id="{E45E70F5-0442-4D28-B7DE-569F066F328C}"/>
              </a:ext>
            </a:extLst>
          </p:cNvPr>
          <p:cNvSpPr txBox="1">
            <a:spLocks/>
          </p:cNvSpPr>
          <p:nvPr/>
        </p:nvSpPr>
        <p:spPr bwMode="auto">
          <a:xfrm>
            <a:off x="7143750" y="1828800"/>
            <a:ext cx="329565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669925" indent="-325438">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022350" indent="-350838">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339850" indent="-315913">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1681163" indent="-339725">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r>
              <a:rPr lang="en-US" altLang="en-US" sz="1800"/>
              <a:t>Endpoints:</a:t>
            </a:r>
          </a:p>
          <a:p>
            <a:pPr lvl="1"/>
            <a:r>
              <a:rPr lang="en-US" altLang="en-US" sz="1400"/>
              <a:t>Output ports </a:t>
            </a:r>
          </a:p>
          <a:p>
            <a:pPr lvl="1"/>
            <a:r>
              <a:rPr lang="en-US" altLang="en-US" sz="1400"/>
              <a:t>data input pins of flip-flops  </a:t>
            </a:r>
          </a:p>
          <a:p>
            <a:endParaRPr lang="en-US" altLang="en-US" sz="1800"/>
          </a:p>
          <a:p>
            <a:endParaRPr lang="en-US" altLang="en-US" sz="1800"/>
          </a:p>
        </p:txBody>
      </p:sp>
      <p:sp>
        <p:nvSpPr>
          <p:cNvPr id="27653" name="Right Arrow 41">
            <a:extLst>
              <a:ext uri="{FF2B5EF4-FFF2-40B4-BE49-F238E27FC236}">
                <a16:creationId xmlns:a16="http://schemas.microsoft.com/office/drawing/2014/main" id="{ED68E59F-F39F-44B8-9A6D-AC41FB7CC036}"/>
              </a:ext>
            </a:extLst>
          </p:cNvPr>
          <p:cNvSpPr>
            <a:spLocks noChangeArrowheads="1"/>
          </p:cNvSpPr>
          <p:nvPr/>
        </p:nvSpPr>
        <p:spPr bwMode="auto">
          <a:xfrm>
            <a:off x="5638800" y="2057400"/>
            <a:ext cx="609600" cy="457200"/>
          </a:xfrm>
          <a:prstGeom prst="rightArrow">
            <a:avLst>
              <a:gd name="adj1" fmla="val 50000"/>
              <a:gd name="adj2"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nvGrpSpPr>
          <p:cNvPr id="27654" name="Group 43">
            <a:extLst>
              <a:ext uri="{FF2B5EF4-FFF2-40B4-BE49-F238E27FC236}">
                <a16:creationId xmlns:a16="http://schemas.microsoft.com/office/drawing/2014/main" id="{3EAC7572-C7B6-43BD-B6B5-9BB86D4C6DB2}"/>
              </a:ext>
            </a:extLst>
          </p:cNvPr>
          <p:cNvGrpSpPr>
            <a:grpSpLocks/>
          </p:cNvGrpSpPr>
          <p:nvPr/>
        </p:nvGrpSpPr>
        <p:grpSpPr bwMode="auto">
          <a:xfrm>
            <a:off x="2827338" y="3505201"/>
            <a:ext cx="6494462" cy="1697693"/>
            <a:chOff x="730322" y="2362200"/>
            <a:chExt cx="5365677" cy="1403188"/>
          </a:xfrm>
        </p:grpSpPr>
        <p:cxnSp>
          <p:nvCxnSpPr>
            <p:cNvPr id="27656" name="Straight Connector 44">
              <a:extLst>
                <a:ext uri="{FF2B5EF4-FFF2-40B4-BE49-F238E27FC236}">
                  <a16:creationId xmlns:a16="http://schemas.microsoft.com/office/drawing/2014/main" id="{65CA1DAB-DB0B-4D69-8EF6-6F68B0486E40}"/>
                </a:ext>
              </a:extLst>
            </p:cNvPr>
            <p:cNvCxnSpPr>
              <a:cxnSpLocks noChangeShapeType="1"/>
            </p:cNvCxnSpPr>
            <p:nvPr/>
          </p:nvCxnSpPr>
          <p:spPr bwMode="auto">
            <a:xfrm rot="180000" flipV="1">
              <a:off x="3773380" y="2742899"/>
              <a:ext cx="465240" cy="23529"/>
            </a:xfrm>
            <a:prstGeom prst="line">
              <a:avLst/>
            </a:prstGeom>
            <a:noFill/>
            <a:ln w="9525" algn="ctr">
              <a:solidFill>
                <a:schemeClr val="tx1"/>
              </a:solidFill>
              <a:round/>
              <a:headEnd/>
              <a:tailEnd/>
            </a:ln>
          </p:spPr>
        </p:cxnSp>
        <p:sp>
          <p:nvSpPr>
            <p:cNvPr id="46" name="Rectangle 45">
              <a:extLst>
                <a:ext uri="{FF2B5EF4-FFF2-40B4-BE49-F238E27FC236}">
                  <a16:creationId xmlns:a16="http://schemas.microsoft.com/office/drawing/2014/main" id="{BD1B539C-7CD1-4958-9889-0533C92670D2}"/>
                </a:ext>
              </a:extLst>
            </p:cNvPr>
            <p:cNvSpPr/>
            <p:nvPr/>
          </p:nvSpPr>
          <p:spPr bwMode="auto">
            <a:xfrm>
              <a:off x="4237489" y="2574762"/>
              <a:ext cx="457741" cy="761024"/>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47" name="Isosceles Triangle 46">
              <a:extLst>
                <a:ext uri="{FF2B5EF4-FFF2-40B4-BE49-F238E27FC236}">
                  <a16:creationId xmlns:a16="http://schemas.microsoft.com/office/drawing/2014/main" id="{65323AF5-8669-45E7-8506-0C4EA1A5F007}"/>
                </a:ext>
              </a:extLst>
            </p:cNvPr>
            <p:cNvSpPr/>
            <p:nvPr/>
          </p:nvSpPr>
          <p:spPr bwMode="auto">
            <a:xfrm rot="5400000">
              <a:off x="4199423" y="3145545"/>
              <a:ext cx="152205" cy="76072"/>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48" name="TextBox 47">
              <a:extLst>
                <a:ext uri="{FF2B5EF4-FFF2-40B4-BE49-F238E27FC236}">
                  <a16:creationId xmlns:a16="http://schemas.microsoft.com/office/drawing/2014/main" id="{16B9A3DF-D63B-474B-A461-0ED2157C9BF4}"/>
                </a:ext>
              </a:extLst>
            </p:cNvPr>
            <p:cNvSpPr txBox="1"/>
            <p:nvPr/>
          </p:nvSpPr>
          <p:spPr>
            <a:xfrm>
              <a:off x="4295199" y="2640367"/>
              <a:ext cx="282360" cy="203508"/>
            </a:xfrm>
            <a:prstGeom prst="rect">
              <a:avLst/>
            </a:prstGeom>
            <a:noFill/>
            <a:ln w="9525">
              <a:noFill/>
            </a:ln>
          </p:spPr>
          <p:txBody>
            <a:bodyPr wrap="none">
              <a:spAutoFit/>
            </a:bodyPr>
            <a:lstStyle/>
            <a:p>
              <a:pPr eaLnBrk="1" hangingPunct="1">
                <a:defRPr/>
              </a:pPr>
              <a:r>
                <a:rPr lang="en-US" sz="1000" dirty="0">
                  <a:solidFill>
                    <a:schemeClr val="bg1"/>
                  </a:solidFill>
                  <a:latin typeface="+mj-lt"/>
                  <a:cs typeface="Arial" charset="0"/>
                </a:rPr>
                <a:t>FF</a:t>
              </a:r>
            </a:p>
          </p:txBody>
        </p:sp>
        <p:cxnSp>
          <p:nvCxnSpPr>
            <p:cNvPr id="27660" name="Straight Connector 48">
              <a:extLst>
                <a:ext uri="{FF2B5EF4-FFF2-40B4-BE49-F238E27FC236}">
                  <a16:creationId xmlns:a16="http://schemas.microsoft.com/office/drawing/2014/main" id="{299332EE-0E8C-4BD6-BD0E-40D8A149E170}"/>
                </a:ext>
              </a:extLst>
            </p:cNvPr>
            <p:cNvCxnSpPr>
              <a:cxnSpLocks noChangeShapeType="1"/>
            </p:cNvCxnSpPr>
            <p:nvPr/>
          </p:nvCxnSpPr>
          <p:spPr bwMode="auto">
            <a:xfrm rot="180000" flipV="1">
              <a:off x="3773381" y="3170907"/>
              <a:ext cx="465240" cy="23529"/>
            </a:xfrm>
            <a:prstGeom prst="line">
              <a:avLst/>
            </a:prstGeom>
            <a:noFill/>
            <a:ln w="9525" algn="ctr">
              <a:solidFill>
                <a:schemeClr val="tx1"/>
              </a:solidFill>
              <a:round/>
              <a:headEnd/>
              <a:tailEnd/>
            </a:ln>
          </p:spPr>
        </p:cxnSp>
        <p:cxnSp>
          <p:nvCxnSpPr>
            <p:cNvPr id="27661" name="Straight Connector 49">
              <a:extLst>
                <a:ext uri="{FF2B5EF4-FFF2-40B4-BE49-F238E27FC236}">
                  <a16:creationId xmlns:a16="http://schemas.microsoft.com/office/drawing/2014/main" id="{266AB37F-9C88-44DD-9A98-6B6DCCFA9C81}"/>
                </a:ext>
              </a:extLst>
            </p:cNvPr>
            <p:cNvCxnSpPr>
              <a:cxnSpLocks noChangeShapeType="1"/>
            </p:cNvCxnSpPr>
            <p:nvPr/>
          </p:nvCxnSpPr>
          <p:spPr bwMode="auto">
            <a:xfrm>
              <a:off x="1908222" y="2819659"/>
              <a:ext cx="538812" cy="0"/>
            </a:xfrm>
            <a:prstGeom prst="line">
              <a:avLst/>
            </a:prstGeom>
            <a:noFill/>
            <a:ln w="9525" algn="ctr">
              <a:solidFill>
                <a:schemeClr val="tx1"/>
              </a:solidFill>
              <a:round/>
              <a:headEnd/>
              <a:tailEnd/>
            </a:ln>
          </p:spPr>
        </p:cxnSp>
        <p:sp>
          <p:nvSpPr>
            <p:cNvPr id="51" name="Rectangle 50">
              <a:extLst>
                <a:ext uri="{FF2B5EF4-FFF2-40B4-BE49-F238E27FC236}">
                  <a16:creationId xmlns:a16="http://schemas.microsoft.com/office/drawing/2014/main" id="{F266517C-58EA-494D-9C8C-D5625F59BD6A}"/>
                </a:ext>
              </a:extLst>
            </p:cNvPr>
            <p:cNvSpPr/>
            <p:nvPr/>
          </p:nvSpPr>
          <p:spPr bwMode="auto">
            <a:xfrm>
              <a:off x="2445870" y="2642992"/>
              <a:ext cx="457741" cy="76233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52" name="Isosceles Triangle 51">
              <a:extLst>
                <a:ext uri="{FF2B5EF4-FFF2-40B4-BE49-F238E27FC236}">
                  <a16:creationId xmlns:a16="http://schemas.microsoft.com/office/drawing/2014/main" id="{54343685-7280-4410-9003-91E74D70BB86}"/>
                </a:ext>
              </a:extLst>
            </p:cNvPr>
            <p:cNvSpPr/>
            <p:nvPr/>
          </p:nvSpPr>
          <p:spPr bwMode="auto">
            <a:xfrm rot="5400000">
              <a:off x="2407804" y="3215087"/>
              <a:ext cx="152205" cy="76072"/>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53" name="TextBox 52">
              <a:extLst>
                <a:ext uri="{FF2B5EF4-FFF2-40B4-BE49-F238E27FC236}">
                  <a16:creationId xmlns:a16="http://schemas.microsoft.com/office/drawing/2014/main" id="{A4EDE587-C01C-4A41-9EEA-02416437892E}"/>
                </a:ext>
              </a:extLst>
            </p:cNvPr>
            <p:cNvSpPr txBox="1"/>
            <p:nvPr/>
          </p:nvSpPr>
          <p:spPr>
            <a:xfrm>
              <a:off x="2503579" y="2709910"/>
              <a:ext cx="282360" cy="203508"/>
            </a:xfrm>
            <a:prstGeom prst="rect">
              <a:avLst/>
            </a:prstGeom>
            <a:noFill/>
            <a:ln w="9525">
              <a:noFill/>
            </a:ln>
          </p:spPr>
          <p:txBody>
            <a:bodyPr wrap="none">
              <a:spAutoFit/>
            </a:bodyPr>
            <a:lstStyle/>
            <a:p>
              <a:pPr eaLnBrk="1" hangingPunct="1">
                <a:defRPr/>
              </a:pPr>
              <a:r>
                <a:rPr lang="en-US" sz="1000" dirty="0">
                  <a:solidFill>
                    <a:schemeClr val="bg1"/>
                  </a:solidFill>
                  <a:latin typeface="+mj-lt"/>
                  <a:cs typeface="Arial" charset="0"/>
                </a:rPr>
                <a:t>FF</a:t>
              </a:r>
            </a:p>
          </p:txBody>
        </p:sp>
        <p:cxnSp>
          <p:nvCxnSpPr>
            <p:cNvPr id="27665" name="Straight Connector 53">
              <a:extLst>
                <a:ext uri="{FF2B5EF4-FFF2-40B4-BE49-F238E27FC236}">
                  <a16:creationId xmlns:a16="http://schemas.microsoft.com/office/drawing/2014/main" id="{B5C657FC-DA4F-4B97-8825-77F538A55B9B}"/>
                </a:ext>
              </a:extLst>
            </p:cNvPr>
            <p:cNvCxnSpPr>
              <a:cxnSpLocks noChangeShapeType="1"/>
            </p:cNvCxnSpPr>
            <p:nvPr/>
          </p:nvCxnSpPr>
          <p:spPr bwMode="auto">
            <a:xfrm rot="180000" flipV="1">
              <a:off x="1981498" y="3240219"/>
              <a:ext cx="465240" cy="23529"/>
            </a:xfrm>
            <a:prstGeom prst="line">
              <a:avLst/>
            </a:prstGeom>
            <a:noFill/>
            <a:ln w="9525" algn="ctr">
              <a:solidFill>
                <a:schemeClr val="tx1"/>
              </a:solidFill>
              <a:round/>
              <a:headEnd/>
              <a:tailEnd/>
            </a:ln>
          </p:spPr>
        </p:cxnSp>
        <p:sp>
          <p:nvSpPr>
            <p:cNvPr id="55" name="Flowchart: Delay 53">
              <a:extLst>
                <a:ext uri="{FF2B5EF4-FFF2-40B4-BE49-F238E27FC236}">
                  <a16:creationId xmlns:a16="http://schemas.microsoft.com/office/drawing/2014/main" id="{1E84B506-860B-472F-9D4B-B6A8E570068F}"/>
                </a:ext>
              </a:extLst>
            </p:cNvPr>
            <p:cNvSpPr/>
            <p:nvPr/>
          </p:nvSpPr>
          <p:spPr bwMode="auto">
            <a:xfrm>
              <a:off x="1578914" y="2671858"/>
              <a:ext cx="329207" cy="29522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baseline="-25000" dirty="0">
                <a:latin typeface="+mj-lt"/>
                <a:cs typeface="Arial" charset="0"/>
              </a:endParaRPr>
            </a:p>
          </p:txBody>
        </p:sp>
        <p:cxnSp>
          <p:nvCxnSpPr>
            <p:cNvPr id="27667" name="Прямая соединительная линия 18">
              <a:extLst>
                <a:ext uri="{FF2B5EF4-FFF2-40B4-BE49-F238E27FC236}">
                  <a16:creationId xmlns:a16="http://schemas.microsoft.com/office/drawing/2014/main" id="{4E6EA920-241B-46B4-A106-7C171D60CB68}"/>
                </a:ext>
              </a:extLst>
            </p:cNvPr>
            <p:cNvCxnSpPr>
              <a:cxnSpLocks noChangeShapeType="1"/>
            </p:cNvCxnSpPr>
            <p:nvPr/>
          </p:nvCxnSpPr>
          <p:spPr bwMode="auto">
            <a:xfrm>
              <a:off x="1171369" y="2760461"/>
              <a:ext cx="407476" cy="0"/>
            </a:xfrm>
            <a:prstGeom prst="line">
              <a:avLst/>
            </a:prstGeom>
            <a:noFill/>
            <a:ln w="9525" algn="ctr">
              <a:solidFill>
                <a:schemeClr val="tx1"/>
              </a:solidFill>
              <a:round/>
              <a:headEnd/>
              <a:tailEnd/>
            </a:ln>
          </p:spPr>
        </p:cxnSp>
        <p:cxnSp>
          <p:nvCxnSpPr>
            <p:cNvPr id="27668" name="Прямая соединительная линия 19">
              <a:extLst>
                <a:ext uri="{FF2B5EF4-FFF2-40B4-BE49-F238E27FC236}">
                  <a16:creationId xmlns:a16="http://schemas.microsoft.com/office/drawing/2014/main" id="{FFE6BBC6-752A-4671-9E31-1EC84DE1620C}"/>
                </a:ext>
              </a:extLst>
            </p:cNvPr>
            <p:cNvCxnSpPr>
              <a:cxnSpLocks noChangeShapeType="1"/>
            </p:cNvCxnSpPr>
            <p:nvPr/>
          </p:nvCxnSpPr>
          <p:spPr bwMode="auto">
            <a:xfrm>
              <a:off x="1172807" y="2915490"/>
              <a:ext cx="407476" cy="0"/>
            </a:xfrm>
            <a:prstGeom prst="line">
              <a:avLst/>
            </a:prstGeom>
            <a:noFill/>
            <a:ln w="9525" algn="ctr">
              <a:solidFill>
                <a:schemeClr val="tx1"/>
              </a:solidFill>
              <a:round/>
              <a:headEnd/>
              <a:tailEnd/>
            </a:ln>
          </p:spPr>
        </p:cxnSp>
        <p:cxnSp>
          <p:nvCxnSpPr>
            <p:cNvPr id="27669" name="Straight Connector 57">
              <a:extLst>
                <a:ext uri="{FF2B5EF4-FFF2-40B4-BE49-F238E27FC236}">
                  <a16:creationId xmlns:a16="http://schemas.microsoft.com/office/drawing/2014/main" id="{9AA5D5EB-9F53-4DA5-A3F0-1B5B2E307615}"/>
                </a:ext>
              </a:extLst>
            </p:cNvPr>
            <p:cNvCxnSpPr>
              <a:cxnSpLocks noChangeShapeType="1"/>
            </p:cNvCxnSpPr>
            <p:nvPr/>
          </p:nvCxnSpPr>
          <p:spPr bwMode="auto">
            <a:xfrm>
              <a:off x="2907772" y="2823790"/>
              <a:ext cx="538812" cy="0"/>
            </a:xfrm>
            <a:prstGeom prst="line">
              <a:avLst/>
            </a:prstGeom>
            <a:noFill/>
            <a:ln w="9525" algn="ctr">
              <a:solidFill>
                <a:schemeClr val="tx1"/>
              </a:solidFill>
              <a:round/>
              <a:headEnd/>
              <a:tailEnd/>
            </a:ln>
          </p:spPr>
        </p:cxnSp>
        <p:sp>
          <p:nvSpPr>
            <p:cNvPr id="59" name="Moon 58">
              <a:extLst>
                <a:ext uri="{FF2B5EF4-FFF2-40B4-BE49-F238E27FC236}">
                  <a16:creationId xmlns:a16="http://schemas.microsoft.com/office/drawing/2014/main" id="{701D082D-9701-4A1D-AE29-895722205879}"/>
                </a:ext>
              </a:extLst>
            </p:cNvPr>
            <p:cNvSpPr/>
            <p:nvPr/>
          </p:nvSpPr>
          <p:spPr bwMode="auto">
            <a:xfrm rot="10800000">
              <a:off x="3417751" y="2606253"/>
              <a:ext cx="358062" cy="297849"/>
            </a:xfrm>
            <a:prstGeom prst="moon">
              <a:avLst>
                <a:gd name="adj" fmla="val 87500"/>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cxnSp>
          <p:nvCxnSpPr>
            <p:cNvPr id="27671" name="Straight Connector 59">
              <a:extLst>
                <a:ext uri="{FF2B5EF4-FFF2-40B4-BE49-F238E27FC236}">
                  <a16:creationId xmlns:a16="http://schemas.microsoft.com/office/drawing/2014/main" id="{CAD04A82-3BCA-4C40-8D47-BAFE46E8F2A1}"/>
                </a:ext>
              </a:extLst>
            </p:cNvPr>
            <p:cNvCxnSpPr>
              <a:cxnSpLocks noChangeShapeType="1"/>
            </p:cNvCxnSpPr>
            <p:nvPr/>
          </p:nvCxnSpPr>
          <p:spPr bwMode="auto">
            <a:xfrm>
              <a:off x="3345131" y="2681859"/>
              <a:ext cx="108931" cy="0"/>
            </a:xfrm>
            <a:prstGeom prst="line">
              <a:avLst/>
            </a:prstGeom>
            <a:noFill/>
            <a:ln w="9525" algn="ctr">
              <a:solidFill>
                <a:schemeClr val="tx1"/>
              </a:solidFill>
              <a:round/>
              <a:headEnd/>
              <a:tailEnd/>
            </a:ln>
          </p:spPr>
        </p:cxnSp>
        <p:cxnSp>
          <p:nvCxnSpPr>
            <p:cNvPr id="27672" name="Straight Connector 60">
              <a:extLst>
                <a:ext uri="{FF2B5EF4-FFF2-40B4-BE49-F238E27FC236}">
                  <a16:creationId xmlns:a16="http://schemas.microsoft.com/office/drawing/2014/main" id="{3936D0D4-F1D8-4B8E-99EE-53D7C10552C8}"/>
                </a:ext>
              </a:extLst>
            </p:cNvPr>
            <p:cNvCxnSpPr>
              <a:cxnSpLocks noChangeShapeType="1"/>
            </p:cNvCxnSpPr>
            <p:nvPr/>
          </p:nvCxnSpPr>
          <p:spPr bwMode="auto">
            <a:xfrm flipV="1">
              <a:off x="3345131" y="2362200"/>
              <a:ext cx="0" cy="310184"/>
            </a:xfrm>
            <a:prstGeom prst="line">
              <a:avLst/>
            </a:prstGeom>
            <a:noFill/>
            <a:ln w="9525" algn="ctr">
              <a:solidFill>
                <a:schemeClr val="tx1"/>
              </a:solidFill>
              <a:round/>
              <a:headEnd/>
              <a:tailEnd/>
            </a:ln>
          </p:spPr>
        </p:cxnSp>
        <p:cxnSp>
          <p:nvCxnSpPr>
            <p:cNvPr id="27673" name="Straight Connector 61">
              <a:extLst>
                <a:ext uri="{FF2B5EF4-FFF2-40B4-BE49-F238E27FC236}">
                  <a16:creationId xmlns:a16="http://schemas.microsoft.com/office/drawing/2014/main" id="{B1B0D6EC-4EED-4C73-9C0B-987AEFE8C343}"/>
                </a:ext>
              </a:extLst>
            </p:cNvPr>
            <p:cNvCxnSpPr>
              <a:cxnSpLocks noChangeShapeType="1"/>
            </p:cNvCxnSpPr>
            <p:nvPr/>
          </p:nvCxnSpPr>
          <p:spPr bwMode="auto">
            <a:xfrm>
              <a:off x="1172807" y="3733800"/>
              <a:ext cx="2600276" cy="0"/>
            </a:xfrm>
            <a:prstGeom prst="line">
              <a:avLst/>
            </a:prstGeom>
            <a:noFill/>
            <a:ln w="9525" algn="ctr">
              <a:solidFill>
                <a:schemeClr val="tx1"/>
              </a:solidFill>
              <a:round/>
              <a:headEnd/>
              <a:tailEnd/>
            </a:ln>
          </p:spPr>
        </p:cxnSp>
        <p:cxnSp>
          <p:nvCxnSpPr>
            <p:cNvPr id="27674" name="Straight Connector 62">
              <a:extLst>
                <a:ext uri="{FF2B5EF4-FFF2-40B4-BE49-F238E27FC236}">
                  <a16:creationId xmlns:a16="http://schemas.microsoft.com/office/drawing/2014/main" id="{E8EAE6D8-6711-4473-B3F5-8FF097317227}"/>
                </a:ext>
              </a:extLst>
            </p:cNvPr>
            <p:cNvCxnSpPr>
              <a:cxnSpLocks noChangeShapeType="1"/>
            </p:cNvCxnSpPr>
            <p:nvPr/>
          </p:nvCxnSpPr>
          <p:spPr bwMode="auto">
            <a:xfrm>
              <a:off x="3775969" y="3176952"/>
              <a:ext cx="0" cy="556848"/>
            </a:xfrm>
            <a:prstGeom prst="line">
              <a:avLst/>
            </a:prstGeom>
            <a:noFill/>
            <a:ln w="9525" algn="ctr">
              <a:solidFill>
                <a:schemeClr val="tx1"/>
              </a:solidFill>
              <a:round/>
              <a:headEnd/>
              <a:tailEnd/>
            </a:ln>
          </p:spPr>
        </p:cxnSp>
        <p:cxnSp>
          <p:nvCxnSpPr>
            <p:cNvPr id="27675" name="Straight Connector 63">
              <a:extLst>
                <a:ext uri="{FF2B5EF4-FFF2-40B4-BE49-F238E27FC236}">
                  <a16:creationId xmlns:a16="http://schemas.microsoft.com/office/drawing/2014/main" id="{EC284DDD-6EA4-47AE-AC51-D2F4785625BA}"/>
                </a:ext>
              </a:extLst>
            </p:cNvPr>
            <p:cNvCxnSpPr>
              <a:cxnSpLocks noChangeShapeType="1"/>
            </p:cNvCxnSpPr>
            <p:nvPr/>
          </p:nvCxnSpPr>
          <p:spPr bwMode="auto">
            <a:xfrm>
              <a:off x="1981201" y="3251983"/>
              <a:ext cx="0" cy="481817"/>
            </a:xfrm>
            <a:prstGeom prst="line">
              <a:avLst/>
            </a:prstGeom>
            <a:noFill/>
            <a:ln w="9525" algn="ctr">
              <a:solidFill>
                <a:schemeClr val="tx1"/>
              </a:solidFill>
              <a:round/>
              <a:headEnd/>
              <a:tailEnd/>
            </a:ln>
          </p:spPr>
        </p:cxnSp>
        <p:grpSp>
          <p:nvGrpSpPr>
            <p:cNvPr id="27676" name="Group 64">
              <a:extLst>
                <a:ext uri="{FF2B5EF4-FFF2-40B4-BE49-F238E27FC236}">
                  <a16:creationId xmlns:a16="http://schemas.microsoft.com/office/drawing/2014/main" id="{9638CB80-FB1A-4D6D-9315-6B5CBC7BB758}"/>
                </a:ext>
              </a:extLst>
            </p:cNvPr>
            <p:cNvGrpSpPr>
              <a:grpSpLocks/>
            </p:cNvGrpSpPr>
            <p:nvPr/>
          </p:nvGrpSpPr>
          <p:grpSpPr bwMode="auto">
            <a:xfrm>
              <a:off x="4695104" y="2588662"/>
              <a:ext cx="1153764" cy="350072"/>
              <a:chOff x="5033958" y="2425701"/>
              <a:chExt cx="1443042" cy="437844"/>
            </a:xfrm>
          </p:grpSpPr>
          <p:cxnSp>
            <p:nvCxnSpPr>
              <p:cNvPr id="27687" name="Прямая соединительная линия 19">
                <a:extLst>
                  <a:ext uri="{FF2B5EF4-FFF2-40B4-BE49-F238E27FC236}">
                    <a16:creationId xmlns:a16="http://schemas.microsoft.com/office/drawing/2014/main" id="{20AB2ABC-C7C9-4C56-8089-D4D6DECE709E}"/>
                  </a:ext>
                </a:extLst>
              </p:cNvPr>
              <p:cNvCxnSpPr>
                <a:cxnSpLocks noChangeShapeType="1"/>
              </p:cNvCxnSpPr>
              <p:nvPr/>
            </p:nvCxnSpPr>
            <p:spPr bwMode="auto">
              <a:xfrm>
                <a:off x="6127651" y="2643721"/>
                <a:ext cx="349349" cy="0"/>
              </a:xfrm>
              <a:prstGeom prst="line">
                <a:avLst/>
              </a:prstGeom>
              <a:noFill/>
              <a:ln w="9525" algn="ctr">
                <a:solidFill>
                  <a:schemeClr val="tx1"/>
                </a:solidFill>
                <a:round/>
                <a:headEnd/>
                <a:tailEnd/>
              </a:ln>
            </p:spPr>
          </p:cxnSp>
          <p:cxnSp>
            <p:nvCxnSpPr>
              <p:cNvPr id="27688" name="Прямая соединительная линия 25">
                <a:extLst>
                  <a:ext uri="{FF2B5EF4-FFF2-40B4-BE49-F238E27FC236}">
                    <a16:creationId xmlns:a16="http://schemas.microsoft.com/office/drawing/2014/main" id="{CDD90857-7702-4BA2-AFF9-E6D69719B2CA}"/>
                  </a:ext>
                </a:extLst>
              </p:cNvPr>
              <p:cNvCxnSpPr>
                <a:cxnSpLocks noChangeShapeType="1"/>
              </p:cNvCxnSpPr>
              <p:nvPr/>
            </p:nvCxnSpPr>
            <p:spPr bwMode="auto">
              <a:xfrm>
                <a:off x="5033958" y="2646107"/>
                <a:ext cx="533242" cy="0"/>
              </a:xfrm>
              <a:prstGeom prst="line">
                <a:avLst/>
              </a:prstGeom>
              <a:noFill/>
              <a:ln w="9525" algn="ctr">
                <a:solidFill>
                  <a:schemeClr val="tx1"/>
                </a:solidFill>
                <a:round/>
                <a:headEnd/>
                <a:tailEnd/>
              </a:ln>
            </p:spPr>
          </p:cxnSp>
          <p:sp>
            <p:nvSpPr>
              <p:cNvPr id="78" name="Isosceles Triangle 77">
                <a:extLst>
                  <a:ext uri="{FF2B5EF4-FFF2-40B4-BE49-F238E27FC236}">
                    <a16:creationId xmlns:a16="http://schemas.microsoft.com/office/drawing/2014/main" id="{1BEF1197-AB4D-4407-8CEC-A06A5A1E197C}"/>
                  </a:ext>
                </a:extLst>
              </p:cNvPr>
              <p:cNvSpPr/>
              <p:nvPr/>
            </p:nvSpPr>
            <p:spPr bwMode="auto">
              <a:xfrm rot="5400000">
                <a:off x="5578650" y="2423176"/>
                <a:ext cx="436530" cy="442915"/>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27690" name="Oval 78">
                <a:extLst>
                  <a:ext uri="{FF2B5EF4-FFF2-40B4-BE49-F238E27FC236}">
                    <a16:creationId xmlns:a16="http://schemas.microsoft.com/office/drawing/2014/main" id="{E1EA9344-1B23-43AD-92AF-5BF96D2F263D}"/>
                  </a:ext>
                </a:extLst>
              </p:cNvPr>
              <p:cNvSpPr>
                <a:spLocks noChangeArrowheads="1"/>
              </p:cNvSpPr>
              <p:nvPr/>
            </p:nvSpPr>
            <p:spPr bwMode="auto">
              <a:xfrm>
                <a:off x="6021373" y="2590642"/>
                <a:ext cx="107960" cy="10796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sp>
          <p:nvSpPr>
            <p:cNvPr id="27677" name="TextBox 65">
              <a:extLst>
                <a:ext uri="{FF2B5EF4-FFF2-40B4-BE49-F238E27FC236}">
                  <a16:creationId xmlns:a16="http://schemas.microsoft.com/office/drawing/2014/main" id="{517B8680-226B-46C4-B64D-343B2693970E}"/>
                </a:ext>
              </a:extLst>
            </p:cNvPr>
            <p:cNvSpPr txBox="1">
              <a:spLocks noChangeArrowheads="1"/>
            </p:cNvSpPr>
            <p:nvPr/>
          </p:nvSpPr>
          <p:spPr bwMode="auto">
            <a:xfrm>
              <a:off x="950933" y="2613106"/>
              <a:ext cx="217465" cy="216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a</a:t>
              </a:r>
            </a:p>
          </p:txBody>
        </p:sp>
        <p:sp>
          <p:nvSpPr>
            <p:cNvPr id="27678" name="TextBox 66">
              <a:extLst>
                <a:ext uri="{FF2B5EF4-FFF2-40B4-BE49-F238E27FC236}">
                  <a16:creationId xmlns:a16="http://schemas.microsoft.com/office/drawing/2014/main" id="{886B1E3B-71D3-44BF-B28A-0198B5470FFB}"/>
                </a:ext>
              </a:extLst>
            </p:cNvPr>
            <p:cNvSpPr txBox="1">
              <a:spLocks noChangeArrowheads="1"/>
            </p:cNvSpPr>
            <p:nvPr/>
          </p:nvSpPr>
          <p:spPr bwMode="auto">
            <a:xfrm>
              <a:off x="932907" y="2761602"/>
              <a:ext cx="217465" cy="216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b</a:t>
              </a:r>
            </a:p>
          </p:txBody>
        </p:sp>
        <p:sp>
          <p:nvSpPr>
            <p:cNvPr id="27679" name="TextBox 67">
              <a:extLst>
                <a:ext uri="{FF2B5EF4-FFF2-40B4-BE49-F238E27FC236}">
                  <a16:creationId xmlns:a16="http://schemas.microsoft.com/office/drawing/2014/main" id="{CAD2D85E-7600-44F4-AC45-BB11C8E816D1}"/>
                </a:ext>
              </a:extLst>
            </p:cNvPr>
            <p:cNvSpPr txBox="1">
              <a:spLocks noChangeArrowheads="1"/>
            </p:cNvSpPr>
            <p:nvPr/>
          </p:nvSpPr>
          <p:spPr bwMode="auto">
            <a:xfrm>
              <a:off x="730322" y="3549160"/>
              <a:ext cx="418772" cy="216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clock</a:t>
              </a:r>
            </a:p>
          </p:txBody>
        </p:sp>
        <p:sp>
          <p:nvSpPr>
            <p:cNvPr id="27680" name="TextBox 68">
              <a:extLst>
                <a:ext uri="{FF2B5EF4-FFF2-40B4-BE49-F238E27FC236}">
                  <a16:creationId xmlns:a16="http://schemas.microsoft.com/office/drawing/2014/main" id="{35A89CB6-D315-439F-A455-2C7CC76062C0}"/>
                </a:ext>
              </a:extLst>
            </p:cNvPr>
            <p:cNvSpPr txBox="1">
              <a:spLocks noChangeArrowheads="1"/>
            </p:cNvSpPr>
            <p:nvPr/>
          </p:nvSpPr>
          <p:spPr bwMode="auto">
            <a:xfrm>
              <a:off x="1989070" y="2593275"/>
              <a:ext cx="210843" cy="216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a:t>
              </a:r>
            </a:p>
          </p:txBody>
        </p:sp>
        <p:sp>
          <p:nvSpPr>
            <p:cNvPr id="27681" name="TextBox 69">
              <a:extLst>
                <a:ext uri="{FF2B5EF4-FFF2-40B4-BE49-F238E27FC236}">
                  <a16:creationId xmlns:a16="http://schemas.microsoft.com/office/drawing/2014/main" id="{8F7FAB6D-F456-4B21-8AAD-021EB807774E}"/>
                </a:ext>
              </a:extLst>
            </p:cNvPr>
            <p:cNvSpPr txBox="1">
              <a:spLocks noChangeArrowheads="1"/>
            </p:cNvSpPr>
            <p:nvPr/>
          </p:nvSpPr>
          <p:spPr bwMode="auto">
            <a:xfrm>
              <a:off x="3851586" y="2488224"/>
              <a:ext cx="217465" cy="216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d</a:t>
              </a:r>
            </a:p>
          </p:txBody>
        </p:sp>
        <p:sp>
          <p:nvSpPr>
            <p:cNvPr id="27682" name="TextBox 70">
              <a:extLst>
                <a:ext uri="{FF2B5EF4-FFF2-40B4-BE49-F238E27FC236}">
                  <a16:creationId xmlns:a16="http://schemas.microsoft.com/office/drawing/2014/main" id="{956969C2-BC41-4D2C-A361-49708C7BDC65}"/>
                </a:ext>
              </a:extLst>
            </p:cNvPr>
            <p:cNvSpPr txBox="1">
              <a:spLocks noChangeArrowheads="1"/>
            </p:cNvSpPr>
            <p:nvPr/>
          </p:nvSpPr>
          <p:spPr bwMode="auto">
            <a:xfrm>
              <a:off x="4795298" y="2497016"/>
              <a:ext cx="217465" cy="216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e</a:t>
              </a:r>
            </a:p>
          </p:txBody>
        </p:sp>
        <p:sp>
          <p:nvSpPr>
            <p:cNvPr id="27683" name="TextBox 71">
              <a:extLst>
                <a:ext uri="{FF2B5EF4-FFF2-40B4-BE49-F238E27FC236}">
                  <a16:creationId xmlns:a16="http://schemas.microsoft.com/office/drawing/2014/main" id="{B7DC24FE-3D7C-479B-BC31-4B61925E6E9F}"/>
                </a:ext>
              </a:extLst>
            </p:cNvPr>
            <p:cNvSpPr txBox="1">
              <a:spLocks noChangeArrowheads="1"/>
            </p:cNvSpPr>
            <p:nvPr/>
          </p:nvSpPr>
          <p:spPr bwMode="auto">
            <a:xfrm>
              <a:off x="5604186" y="2497016"/>
              <a:ext cx="210843" cy="216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y</a:t>
              </a:r>
            </a:p>
          </p:txBody>
        </p:sp>
        <p:cxnSp>
          <p:nvCxnSpPr>
            <p:cNvPr id="27684" name="Straight Arrow Connector 72">
              <a:extLst>
                <a:ext uri="{FF2B5EF4-FFF2-40B4-BE49-F238E27FC236}">
                  <a16:creationId xmlns:a16="http://schemas.microsoft.com/office/drawing/2014/main" id="{0A360BF7-0824-463A-9E69-D60FBFC3BDD8}"/>
                </a:ext>
              </a:extLst>
            </p:cNvPr>
            <p:cNvCxnSpPr>
              <a:cxnSpLocks noChangeShapeType="1"/>
            </p:cNvCxnSpPr>
            <p:nvPr/>
          </p:nvCxnSpPr>
          <p:spPr bwMode="auto">
            <a:xfrm>
              <a:off x="1237192" y="2643552"/>
              <a:ext cx="1125008" cy="0"/>
            </a:xfrm>
            <a:prstGeom prst="straightConnector1">
              <a:avLst/>
            </a:prstGeom>
            <a:noFill/>
            <a:ln w="19050" algn="ctr">
              <a:solidFill>
                <a:srgbClr val="0000FF"/>
              </a:solidFill>
              <a:round/>
              <a:headEnd/>
              <a:tailEnd type="triangle" w="med" len="med"/>
            </a:ln>
          </p:spPr>
        </p:cxnSp>
        <p:cxnSp>
          <p:nvCxnSpPr>
            <p:cNvPr id="27685" name="Straight Arrow Connector 73">
              <a:extLst>
                <a:ext uri="{FF2B5EF4-FFF2-40B4-BE49-F238E27FC236}">
                  <a16:creationId xmlns:a16="http://schemas.microsoft.com/office/drawing/2014/main" id="{D344D813-8EBB-4906-AC5B-6188042141B3}"/>
                </a:ext>
              </a:extLst>
            </p:cNvPr>
            <p:cNvCxnSpPr>
              <a:cxnSpLocks noChangeShapeType="1"/>
            </p:cNvCxnSpPr>
            <p:nvPr/>
          </p:nvCxnSpPr>
          <p:spPr bwMode="auto">
            <a:xfrm>
              <a:off x="1239720" y="3048000"/>
              <a:ext cx="1125008" cy="0"/>
            </a:xfrm>
            <a:prstGeom prst="straightConnector1">
              <a:avLst/>
            </a:prstGeom>
            <a:noFill/>
            <a:ln w="19050" algn="ctr">
              <a:solidFill>
                <a:srgbClr val="0000FF"/>
              </a:solidFill>
              <a:round/>
              <a:headEnd/>
              <a:tailEnd type="triangle" w="med" len="med"/>
            </a:ln>
          </p:spPr>
        </p:cxnSp>
        <p:sp>
          <p:nvSpPr>
            <p:cNvPr id="75" name="Arc 74">
              <a:extLst>
                <a:ext uri="{FF2B5EF4-FFF2-40B4-BE49-F238E27FC236}">
                  <a16:creationId xmlns:a16="http://schemas.microsoft.com/office/drawing/2014/main" id="{2C258022-320D-44AC-8295-BAA8A9C9A5F6}"/>
                </a:ext>
              </a:extLst>
            </p:cNvPr>
            <p:cNvSpPr/>
            <p:nvPr/>
          </p:nvSpPr>
          <p:spPr bwMode="auto">
            <a:xfrm flipH="1">
              <a:off x="2377668" y="2820127"/>
              <a:ext cx="3718331" cy="814820"/>
            </a:xfrm>
            <a:prstGeom prst="arc">
              <a:avLst/>
            </a:prstGeom>
            <a:noFill/>
            <a:ln w="19050" cap="flat" cmpd="sng" algn="ctr">
              <a:solidFill>
                <a:srgbClr val="0000FF"/>
              </a:solidFill>
              <a:prstDash val="solid"/>
              <a:round/>
              <a:headEnd type="triangle" w="med" len="med"/>
              <a:tailEnd type="none" w="med" len="med"/>
            </a:ln>
            <a:effectLst/>
          </p:spPr>
          <p:txBody>
            <a:bodyPr anchor="ctr"/>
            <a:lstStyle/>
            <a:p>
              <a:pPr algn="ctr" eaLnBrk="1" hangingPunct="1">
                <a:defRPr/>
              </a:pPr>
              <a:endParaRPr lang="en-US">
                <a:latin typeface="Arial" charset="0"/>
                <a:cs typeface="Arial" charset="0"/>
              </a:endParaRPr>
            </a:p>
          </p:txBody>
        </p:sp>
      </p:grpSp>
      <p:sp>
        <p:nvSpPr>
          <p:cNvPr id="80" name="Arc 79">
            <a:extLst>
              <a:ext uri="{FF2B5EF4-FFF2-40B4-BE49-F238E27FC236}">
                <a16:creationId xmlns:a16="http://schemas.microsoft.com/office/drawing/2014/main" id="{96864A39-A01C-47F0-9A0A-9B590D50C1BE}"/>
              </a:ext>
            </a:extLst>
          </p:cNvPr>
          <p:cNvSpPr/>
          <p:nvPr/>
        </p:nvSpPr>
        <p:spPr bwMode="auto">
          <a:xfrm flipH="1">
            <a:off x="7192964" y="4127501"/>
            <a:ext cx="3246437" cy="644525"/>
          </a:xfrm>
          <a:prstGeom prst="arc">
            <a:avLst/>
          </a:prstGeom>
          <a:noFill/>
          <a:ln w="19050" cap="flat" cmpd="sng" algn="ctr">
            <a:solidFill>
              <a:srgbClr val="0000FF"/>
            </a:solidFill>
            <a:prstDash val="solid"/>
            <a:round/>
            <a:headEnd type="triangle" w="med" len="med"/>
            <a:tailEnd type="none" w="med" len="med"/>
          </a:ln>
          <a:effectLst/>
        </p:spPr>
        <p:txBody>
          <a:bodyPr anchor="ctr"/>
          <a:lstStyle/>
          <a:p>
            <a:pPr algn="ctr" eaLnBrk="1" hangingPunct="1">
              <a:defRPr/>
            </a:pPr>
            <a:endParaRPr lang="en-US">
              <a:latin typeface="Arial" charset="0"/>
              <a:cs typeface="Arial"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4" name="Group 121">
            <a:extLst>
              <a:ext uri="{FF2B5EF4-FFF2-40B4-BE49-F238E27FC236}">
                <a16:creationId xmlns:a16="http://schemas.microsoft.com/office/drawing/2014/main" id="{F17A027B-04FD-460A-95F2-9FD0A27446B6}"/>
              </a:ext>
            </a:extLst>
          </p:cNvPr>
          <p:cNvGrpSpPr>
            <a:grpSpLocks/>
          </p:cNvGrpSpPr>
          <p:nvPr/>
        </p:nvGrpSpPr>
        <p:grpSpPr bwMode="auto">
          <a:xfrm>
            <a:off x="2024343" y="1769877"/>
            <a:ext cx="7689850" cy="2568575"/>
            <a:chOff x="428801" y="2173120"/>
            <a:chExt cx="7689423" cy="2568532"/>
          </a:xfrm>
        </p:grpSpPr>
        <p:sp>
          <p:nvSpPr>
            <p:cNvPr id="123" name="Прямоугольник 27">
              <a:extLst>
                <a:ext uri="{FF2B5EF4-FFF2-40B4-BE49-F238E27FC236}">
                  <a16:creationId xmlns:a16="http://schemas.microsoft.com/office/drawing/2014/main" id="{50C0B15D-3814-4DA8-A1B7-FEBB636378A2}"/>
                </a:ext>
              </a:extLst>
            </p:cNvPr>
            <p:cNvSpPr/>
            <p:nvPr/>
          </p:nvSpPr>
          <p:spPr bwMode="auto">
            <a:xfrm rot="5400000">
              <a:off x="5858506" y="2650175"/>
              <a:ext cx="1927193" cy="973083"/>
            </a:xfrm>
            <a:prstGeom prst="trapezoid">
              <a:avLst>
                <a:gd name="adj" fmla="val 60390"/>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latin typeface="+mj-lt"/>
                <a:cs typeface="Arial" charset="0"/>
              </a:endParaRPr>
            </a:p>
          </p:txBody>
        </p:sp>
        <p:sp>
          <p:nvSpPr>
            <p:cNvPr id="124" name="Прямоугольник 27">
              <a:extLst>
                <a:ext uri="{FF2B5EF4-FFF2-40B4-BE49-F238E27FC236}">
                  <a16:creationId xmlns:a16="http://schemas.microsoft.com/office/drawing/2014/main" id="{662297A3-4CFB-4F25-A447-CAEF7FDBD4C1}"/>
                </a:ext>
              </a:extLst>
            </p:cNvPr>
            <p:cNvSpPr/>
            <p:nvPr/>
          </p:nvSpPr>
          <p:spPr bwMode="auto">
            <a:xfrm rot="5400000">
              <a:off x="2560658" y="2655731"/>
              <a:ext cx="1925605" cy="973083"/>
            </a:xfrm>
            <a:prstGeom prst="trapezoid">
              <a:avLst>
                <a:gd name="adj" fmla="val 60390"/>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latin typeface="+mj-lt"/>
                <a:cs typeface="Arial" charset="0"/>
              </a:endParaRPr>
            </a:p>
          </p:txBody>
        </p:sp>
        <p:cxnSp>
          <p:nvCxnSpPr>
            <p:cNvPr id="28683" name="Прямая соединительная линия 19">
              <a:extLst>
                <a:ext uri="{FF2B5EF4-FFF2-40B4-BE49-F238E27FC236}">
                  <a16:creationId xmlns:a16="http://schemas.microsoft.com/office/drawing/2014/main" id="{291B7C31-0D78-4E16-870D-1631AE77D399}"/>
                </a:ext>
              </a:extLst>
            </p:cNvPr>
            <p:cNvCxnSpPr>
              <a:cxnSpLocks noChangeShapeType="1"/>
            </p:cNvCxnSpPr>
            <p:nvPr/>
          </p:nvCxnSpPr>
          <p:spPr bwMode="auto">
            <a:xfrm>
              <a:off x="2687735" y="2643721"/>
              <a:ext cx="349349" cy="0"/>
            </a:xfrm>
            <a:prstGeom prst="line">
              <a:avLst/>
            </a:prstGeom>
            <a:noFill/>
            <a:ln w="9525" algn="ctr">
              <a:solidFill>
                <a:schemeClr val="tx1"/>
              </a:solidFill>
              <a:round/>
              <a:headEnd/>
              <a:tailEnd/>
            </a:ln>
          </p:spPr>
        </p:cxnSp>
        <p:cxnSp>
          <p:nvCxnSpPr>
            <p:cNvPr id="28684" name="Прямая соединительная линия 47">
              <a:extLst>
                <a:ext uri="{FF2B5EF4-FFF2-40B4-BE49-F238E27FC236}">
                  <a16:creationId xmlns:a16="http://schemas.microsoft.com/office/drawing/2014/main" id="{A3618F7D-BC44-4B11-A777-4EC0D210D917}"/>
                </a:ext>
              </a:extLst>
            </p:cNvPr>
            <p:cNvCxnSpPr>
              <a:cxnSpLocks noChangeShapeType="1"/>
            </p:cNvCxnSpPr>
            <p:nvPr/>
          </p:nvCxnSpPr>
          <p:spPr bwMode="auto">
            <a:xfrm>
              <a:off x="7308923" y="3148633"/>
              <a:ext cx="324332" cy="0"/>
            </a:xfrm>
            <a:prstGeom prst="line">
              <a:avLst/>
            </a:prstGeom>
            <a:noFill/>
            <a:ln w="9525" algn="ctr">
              <a:solidFill>
                <a:schemeClr val="tx1"/>
              </a:solidFill>
              <a:round/>
              <a:headEnd/>
              <a:tailEnd/>
            </a:ln>
          </p:spPr>
        </p:cxnSp>
        <p:cxnSp>
          <p:nvCxnSpPr>
            <p:cNvPr id="28685" name="Прямая соединительная линия 55">
              <a:extLst>
                <a:ext uri="{FF2B5EF4-FFF2-40B4-BE49-F238E27FC236}">
                  <a16:creationId xmlns:a16="http://schemas.microsoft.com/office/drawing/2014/main" id="{15E153AC-59D4-405F-ADDD-9CC61A9C4B1F}"/>
                </a:ext>
              </a:extLst>
            </p:cNvPr>
            <p:cNvCxnSpPr>
              <a:cxnSpLocks noChangeShapeType="1"/>
            </p:cNvCxnSpPr>
            <p:nvPr/>
          </p:nvCxnSpPr>
          <p:spPr bwMode="auto">
            <a:xfrm flipV="1">
              <a:off x="709248" y="4526517"/>
              <a:ext cx="4266946" cy="1"/>
            </a:xfrm>
            <a:prstGeom prst="line">
              <a:avLst/>
            </a:prstGeom>
            <a:noFill/>
            <a:ln w="9525" algn="ctr">
              <a:solidFill>
                <a:schemeClr val="tx1"/>
              </a:solidFill>
              <a:round/>
              <a:headEnd/>
              <a:tailEnd/>
            </a:ln>
          </p:spPr>
        </p:cxnSp>
        <p:sp>
          <p:nvSpPr>
            <p:cNvPr id="128" name="TextBox 127">
              <a:extLst>
                <a:ext uri="{FF2B5EF4-FFF2-40B4-BE49-F238E27FC236}">
                  <a16:creationId xmlns:a16="http://schemas.microsoft.com/office/drawing/2014/main" id="{0F896841-C807-462A-97A4-C36F8AF01163}"/>
                </a:ext>
              </a:extLst>
            </p:cNvPr>
            <p:cNvSpPr txBox="1"/>
            <p:nvPr/>
          </p:nvSpPr>
          <p:spPr>
            <a:xfrm>
              <a:off x="428801" y="2469977"/>
              <a:ext cx="312721" cy="369882"/>
            </a:xfrm>
            <a:prstGeom prst="rect">
              <a:avLst/>
            </a:prstGeom>
            <a:noFill/>
          </p:spPr>
          <p:txBody>
            <a:bodyPr wrap="none">
              <a:spAutoFit/>
            </a:bodyPr>
            <a:lstStyle/>
            <a:p>
              <a:pPr eaLnBrk="1" hangingPunct="1">
                <a:defRPr/>
              </a:pPr>
              <a:r>
                <a:rPr lang="en-US" dirty="0">
                  <a:latin typeface="+mj-lt"/>
                  <a:cs typeface="Arial" charset="0"/>
                </a:rPr>
                <a:t>a</a:t>
              </a:r>
            </a:p>
          </p:txBody>
        </p:sp>
        <p:sp>
          <p:nvSpPr>
            <p:cNvPr id="129" name="TextBox 128">
              <a:extLst>
                <a:ext uri="{FF2B5EF4-FFF2-40B4-BE49-F238E27FC236}">
                  <a16:creationId xmlns:a16="http://schemas.microsoft.com/office/drawing/2014/main" id="{DBAD48EC-0E32-427B-A504-4C3F26A5CB8C}"/>
                </a:ext>
              </a:extLst>
            </p:cNvPr>
            <p:cNvSpPr txBox="1"/>
            <p:nvPr/>
          </p:nvSpPr>
          <p:spPr>
            <a:xfrm>
              <a:off x="438325" y="3458973"/>
              <a:ext cx="312721" cy="368294"/>
            </a:xfrm>
            <a:prstGeom prst="rect">
              <a:avLst/>
            </a:prstGeom>
            <a:noFill/>
          </p:spPr>
          <p:txBody>
            <a:bodyPr wrap="none">
              <a:spAutoFit/>
            </a:bodyPr>
            <a:lstStyle/>
            <a:p>
              <a:pPr eaLnBrk="1" hangingPunct="1">
                <a:defRPr/>
              </a:pPr>
              <a:r>
                <a:rPr lang="en-US" dirty="0">
                  <a:latin typeface="+mj-lt"/>
                  <a:cs typeface="Arial" charset="0"/>
                </a:rPr>
                <a:t>b</a:t>
              </a:r>
            </a:p>
          </p:txBody>
        </p:sp>
        <p:sp>
          <p:nvSpPr>
            <p:cNvPr id="130" name="TextBox 129">
              <a:extLst>
                <a:ext uri="{FF2B5EF4-FFF2-40B4-BE49-F238E27FC236}">
                  <a16:creationId xmlns:a16="http://schemas.microsoft.com/office/drawing/2014/main" id="{51C98F81-C462-4354-A4A3-B11570FCF29A}"/>
                </a:ext>
              </a:extLst>
            </p:cNvPr>
            <p:cNvSpPr txBox="1"/>
            <p:nvPr/>
          </p:nvSpPr>
          <p:spPr>
            <a:xfrm>
              <a:off x="452613" y="4338434"/>
              <a:ext cx="300020" cy="368294"/>
            </a:xfrm>
            <a:prstGeom prst="rect">
              <a:avLst/>
            </a:prstGeom>
            <a:noFill/>
          </p:spPr>
          <p:txBody>
            <a:bodyPr wrap="none">
              <a:spAutoFit/>
            </a:bodyPr>
            <a:lstStyle/>
            <a:p>
              <a:pPr eaLnBrk="1" hangingPunct="1">
                <a:defRPr/>
              </a:pPr>
              <a:r>
                <a:rPr lang="en-US" dirty="0">
                  <a:latin typeface="+mj-lt"/>
                  <a:cs typeface="Arial" charset="0"/>
                </a:rPr>
                <a:t>c</a:t>
              </a:r>
            </a:p>
          </p:txBody>
        </p:sp>
        <p:sp>
          <p:nvSpPr>
            <p:cNvPr id="131" name="TextBox 130">
              <a:extLst>
                <a:ext uri="{FF2B5EF4-FFF2-40B4-BE49-F238E27FC236}">
                  <a16:creationId xmlns:a16="http://schemas.microsoft.com/office/drawing/2014/main" id="{CEEC275C-8F9C-4742-8E71-514CAC0A9FDF}"/>
                </a:ext>
              </a:extLst>
            </p:cNvPr>
            <p:cNvSpPr txBox="1"/>
            <p:nvPr/>
          </p:nvSpPr>
          <p:spPr>
            <a:xfrm>
              <a:off x="3217884" y="2920819"/>
              <a:ext cx="682587" cy="307970"/>
            </a:xfrm>
            <a:prstGeom prst="rect">
              <a:avLst/>
            </a:prstGeom>
            <a:noFill/>
          </p:spPr>
          <p:txBody>
            <a:bodyPr wrap="none">
              <a:spAutoFit/>
            </a:bodyPr>
            <a:lstStyle/>
            <a:p>
              <a:pPr eaLnBrk="1" hangingPunct="1">
                <a:defRPr/>
              </a:pPr>
              <a:r>
                <a:rPr lang="en-US" sz="1400" dirty="0">
                  <a:solidFill>
                    <a:schemeClr val="bg1"/>
                  </a:solidFill>
                  <a:latin typeface="+mj-lt"/>
                  <a:cs typeface="Arial" charset="0"/>
                </a:rPr>
                <a:t>MUX1</a:t>
              </a:r>
            </a:p>
          </p:txBody>
        </p:sp>
        <p:sp>
          <p:nvSpPr>
            <p:cNvPr id="132" name="TextBox 131">
              <a:extLst>
                <a:ext uri="{FF2B5EF4-FFF2-40B4-BE49-F238E27FC236}">
                  <a16:creationId xmlns:a16="http://schemas.microsoft.com/office/drawing/2014/main" id="{357456F2-FB74-4ECC-A52E-736B45441C09}"/>
                </a:ext>
              </a:extLst>
            </p:cNvPr>
            <p:cNvSpPr txBox="1"/>
            <p:nvPr/>
          </p:nvSpPr>
          <p:spPr>
            <a:xfrm>
              <a:off x="3097241" y="3370075"/>
              <a:ext cx="298433" cy="338131"/>
            </a:xfrm>
            <a:prstGeom prst="rect">
              <a:avLst/>
            </a:prstGeom>
            <a:noFill/>
          </p:spPr>
          <p:txBody>
            <a:bodyPr wrap="none">
              <a:spAutoFit/>
            </a:bodyPr>
            <a:lstStyle/>
            <a:p>
              <a:pPr eaLnBrk="1" hangingPunct="1">
                <a:defRPr/>
              </a:pPr>
              <a:r>
                <a:rPr lang="en-US" sz="1600" dirty="0">
                  <a:solidFill>
                    <a:schemeClr val="bg1"/>
                  </a:solidFill>
                  <a:latin typeface="+mj-lt"/>
                  <a:cs typeface="Arial" charset="0"/>
                </a:rPr>
                <a:t>1</a:t>
              </a:r>
              <a:endParaRPr lang="en-US" dirty="0">
                <a:solidFill>
                  <a:schemeClr val="bg1"/>
                </a:solidFill>
                <a:latin typeface="+mj-lt"/>
                <a:cs typeface="Arial" charset="0"/>
              </a:endParaRPr>
            </a:p>
          </p:txBody>
        </p:sp>
        <p:sp>
          <p:nvSpPr>
            <p:cNvPr id="133" name="TextBox 132">
              <a:extLst>
                <a:ext uri="{FF2B5EF4-FFF2-40B4-BE49-F238E27FC236}">
                  <a16:creationId xmlns:a16="http://schemas.microsoft.com/office/drawing/2014/main" id="{90B54D8E-D643-47A3-8A61-3A204EE0AE62}"/>
                </a:ext>
              </a:extLst>
            </p:cNvPr>
            <p:cNvSpPr txBox="1"/>
            <p:nvPr/>
          </p:nvSpPr>
          <p:spPr>
            <a:xfrm>
              <a:off x="3097241" y="2471565"/>
              <a:ext cx="298433" cy="338131"/>
            </a:xfrm>
            <a:prstGeom prst="rect">
              <a:avLst/>
            </a:prstGeom>
            <a:noFill/>
          </p:spPr>
          <p:txBody>
            <a:bodyPr wrap="none">
              <a:spAutoFit/>
            </a:bodyPr>
            <a:lstStyle/>
            <a:p>
              <a:pPr eaLnBrk="1" hangingPunct="1">
                <a:defRPr/>
              </a:pPr>
              <a:r>
                <a:rPr lang="en-US" sz="1600" dirty="0">
                  <a:solidFill>
                    <a:schemeClr val="bg1"/>
                  </a:solidFill>
                  <a:latin typeface="+mj-lt"/>
                  <a:cs typeface="Arial" charset="0"/>
                </a:rPr>
                <a:t>0</a:t>
              </a:r>
              <a:endParaRPr lang="en-US" dirty="0">
                <a:solidFill>
                  <a:schemeClr val="bg1"/>
                </a:solidFill>
                <a:latin typeface="+mj-lt"/>
                <a:cs typeface="Arial" charset="0"/>
              </a:endParaRPr>
            </a:p>
          </p:txBody>
        </p:sp>
        <p:sp>
          <p:nvSpPr>
            <p:cNvPr id="134" name="TextBox 133">
              <a:extLst>
                <a:ext uri="{FF2B5EF4-FFF2-40B4-BE49-F238E27FC236}">
                  <a16:creationId xmlns:a16="http://schemas.microsoft.com/office/drawing/2014/main" id="{C489BD99-192B-4CDF-842E-A75F8360B1F3}"/>
                </a:ext>
              </a:extLst>
            </p:cNvPr>
            <p:cNvSpPr txBox="1"/>
            <p:nvPr/>
          </p:nvSpPr>
          <p:spPr>
            <a:xfrm>
              <a:off x="3297255" y="3428811"/>
              <a:ext cx="414314" cy="307970"/>
            </a:xfrm>
            <a:prstGeom prst="rect">
              <a:avLst/>
            </a:prstGeom>
            <a:noFill/>
          </p:spPr>
          <p:txBody>
            <a:bodyPr wrap="none">
              <a:spAutoFit/>
            </a:bodyPr>
            <a:lstStyle/>
            <a:p>
              <a:pPr eaLnBrk="1" hangingPunct="1">
                <a:defRPr/>
              </a:pPr>
              <a:r>
                <a:rPr lang="en-US" sz="1400" dirty="0" err="1">
                  <a:solidFill>
                    <a:schemeClr val="bg1"/>
                  </a:solidFill>
                  <a:latin typeface="+mj-lt"/>
                  <a:cs typeface="Arial" charset="0"/>
                </a:rPr>
                <a:t>sel</a:t>
              </a:r>
              <a:endParaRPr lang="en-US" sz="1400" dirty="0">
                <a:solidFill>
                  <a:schemeClr val="bg1"/>
                </a:solidFill>
                <a:latin typeface="+mj-lt"/>
                <a:cs typeface="Arial" charset="0"/>
              </a:endParaRPr>
            </a:p>
          </p:txBody>
        </p:sp>
        <p:sp>
          <p:nvSpPr>
            <p:cNvPr id="135" name="TextBox 134">
              <a:extLst>
                <a:ext uri="{FF2B5EF4-FFF2-40B4-BE49-F238E27FC236}">
                  <a16:creationId xmlns:a16="http://schemas.microsoft.com/office/drawing/2014/main" id="{A64781F4-119D-423C-AB75-9ECF68C410A8}"/>
                </a:ext>
              </a:extLst>
            </p:cNvPr>
            <p:cNvSpPr txBox="1"/>
            <p:nvPr/>
          </p:nvSpPr>
          <p:spPr>
            <a:xfrm>
              <a:off x="7684861" y="3008131"/>
              <a:ext cx="433363" cy="307970"/>
            </a:xfrm>
            <a:prstGeom prst="rect">
              <a:avLst/>
            </a:prstGeom>
            <a:noFill/>
          </p:spPr>
          <p:txBody>
            <a:bodyPr wrap="none">
              <a:spAutoFit/>
            </a:bodyPr>
            <a:lstStyle/>
            <a:p>
              <a:pPr eaLnBrk="1" hangingPunct="1">
                <a:defRPr/>
              </a:pPr>
              <a:r>
                <a:rPr lang="en-US" sz="1400" dirty="0">
                  <a:latin typeface="+mj-lt"/>
                  <a:cs typeface="Arial" charset="0"/>
                </a:rPr>
                <a:t>out</a:t>
              </a:r>
            </a:p>
          </p:txBody>
        </p:sp>
        <p:grpSp>
          <p:nvGrpSpPr>
            <p:cNvPr id="28694" name="Group 135">
              <a:extLst>
                <a:ext uri="{FF2B5EF4-FFF2-40B4-BE49-F238E27FC236}">
                  <a16:creationId xmlns:a16="http://schemas.microsoft.com/office/drawing/2014/main" id="{69D2E493-FC34-41D0-ABA7-9532FED8E309}"/>
                </a:ext>
              </a:extLst>
            </p:cNvPr>
            <p:cNvGrpSpPr>
              <a:grpSpLocks/>
            </p:cNvGrpSpPr>
            <p:nvPr/>
          </p:nvGrpSpPr>
          <p:grpSpPr bwMode="auto">
            <a:xfrm>
              <a:off x="715331" y="2427186"/>
              <a:ext cx="1411953" cy="437844"/>
              <a:chOff x="715331" y="2427186"/>
              <a:chExt cx="1411953" cy="437844"/>
            </a:xfrm>
          </p:grpSpPr>
          <p:sp>
            <p:nvSpPr>
              <p:cNvPr id="172" name="Isosceles Triangle 77">
                <a:extLst>
                  <a:ext uri="{FF2B5EF4-FFF2-40B4-BE49-F238E27FC236}">
                    <a16:creationId xmlns:a16="http://schemas.microsoft.com/office/drawing/2014/main" id="{A1C2D8CE-EAC8-48B3-820B-89C1F4C26298}"/>
                  </a:ext>
                </a:extLst>
              </p:cNvPr>
              <p:cNvSpPr/>
              <p:nvPr/>
            </p:nvSpPr>
            <p:spPr bwMode="auto">
              <a:xfrm rot="5400000">
                <a:off x="1042327" y="2424744"/>
                <a:ext cx="438143" cy="442888"/>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cxnSp>
            <p:nvCxnSpPr>
              <p:cNvPr id="28731" name="Прямая соединительная линия 18">
                <a:extLst>
                  <a:ext uri="{FF2B5EF4-FFF2-40B4-BE49-F238E27FC236}">
                    <a16:creationId xmlns:a16="http://schemas.microsoft.com/office/drawing/2014/main" id="{5BF38E10-471D-47E7-970A-0C4AC90C28F5}"/>
                  </a:ext>
                </a:extLst>
              </p:cNvPr>
              <p:cNvCxnSpPr>
                <a:cxnSpLocks noChangeShapeType="1"/>
              </p:cNvCxnSpPr>
              <p:nvPr/>
            </p:nvCxnSpPr>
            <p:spPr bwMode="auto">
              <a:xfrm>
                <a:off x="715331" y="2645206"/>
                <a:ext cx="324332" cy="0"/>
              </a:xfrm>
              <a:prstGeom prst="line">
                <a:avLst/>
              </a:prstGeom>
              <a:noFill/>
              <a:ln w="9525" algn="ctr">
                <a:solidFill>
                  <a:schemeClr val="tx1"/>
                </a:solidFill>
                <a:round/>
                <a:headEnd/>
                <a:tailEnd/>
              </a:ln>
            </p:spPr>
          </p:cxnSp>
          <p:cxnSp>
            <p:nvCxnSpPr>
              <p:cNvPr id="28732" name="Прямая соединительная линия 25">
                <a:extLst>
                  <a:ext uri="{FF2B5EF4-FFF2-40B4-BE49-F238E27FC236}">
                    <a16:creationId xmlns:a16="http://schemas.microsoft.com/office/drawing/2014/main" id="{8D74E1B3-30E6-4B21-AD2C-1373F551EF88}"/>
                  </a:ext>
                </a:extLst>
              </p:cNvPr>
              <p:cNvCxnSpPr>
                <a:cxnSpLocks noChangeShapeType="1"/>
                <a:stCxn id="28734" idx="6"/>
              </p:cNvCxnSpPr>
              <p:nvPr/>
            </p:nvCxnSpPr>
            <p:spPr bwMode="auto">
              <a:xfrm>
                <a:off x="1594042" y="2646107"/>
                <a:ext cx="533242" cy="0"/>
              </a:xfrm>
              <a:prstGeom prst="line">
                <a:avLst/>
              </a:prstGeom>
              <a:noFill/>
              <a:ln w="9525" algn="ctr">
                <a:solidFill>
                  <a:schemeClr val="tx1"/>
                </a:solidFill>
                <a:round/>
                <a:headEnd/>
                <a:tailEnd/>
              </a:ln>
            </p:spPr>
          </p:cxnSp>
          <p:sp>
            <p:nvSpPr>
              <p:cNvPr id="175" name="TextBox 174">
                <a:extLst>
                  <a:ext uri="{FF2B5EF4-FFF2-40B4-BE49-F238E27FC236}">
                    <a16:creationId xmlns:a16="http://schemas.microsoft.com/office/drawing/2014/main" id="{4C98E302-1B7D-44F0-B25F-A3B2707D228D}"/>
                  </a:ext>
                </a:extLst>
              </p:cNvPr>
              <p:cNvSpPr txBox="1"/>
              <p:nvPr/>
            </p:nvSpPr>
            <p:spPr>
              <a:xfrm>
                <a:off x="984395" y="2442991"/>
                <a:ext cx="312721" cy="369881"/>
              </a:xfrm>
              <a:prstGeom prst="rect">
                <a:avLst/>
              </a:prstGeom>
              <a:noFill/>
            </p:spPr>
            <p:txBody>
              <a:bodyPr wrap="none">
                <a:spAutoFit/>
              </a:bodyPr>
              <a:lstStyle/>
              <a:p>
                <a:pPr eaLnBrk="1" hangingPunct="1">
                  <a:defRPr/>
                </a:pPr>
                <a:r>
                  <a:rPr lang="en-US" dirty="0">
                    <a:solidFill>
                      <a:schemeClr val="bg1"/>
                    </a:solidFill>
                    <a:latin typeface="+mj-lt"/>
                    <a:cs typeface="Arial" charset="0"/>
                  </a:rPr>
                  <a:t>1</a:t>
                </a:r>
              </a:p>
            </p:txBody>
          </p:sp>
          <p:sp>
            <p:nvSpPr>
              <p:cNvPr id="28734" name="Oval 175">
                <a:extLst>
                  <a:ext uri="{FF2B5EF4-FFF2-40B4-BE49-F238E27FC236}">
                    <a16:creationId xmlns:a16="http://schemas.microsoft.com/office/drawing/2014/main" id="{4846D17E-6951-499C-B719-3BC31C2EA18C}"/>
                  </a:ext>
                </a:extLst>
              </p:cNvPr>
              <p:cNvSpPr>
                <a:spLocks noChangeArrowheads="1"/>
              </p:cNvSpPr>
              <p:nvPr/>
            </p:nvSpPr>
            <p:spPr bwMode="auto">
              <a:xfrm>
                <a:off x="1486082" y="2592127"/>
                <a:ext cx="107960" cy="10796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grpSp>
          <p:nvGrpSpPr>
            <p:cNvPr id="28695" name="Group 136">
              <a:extLst>
                <a:ext uri="{FF2B5EF4-FFF2-40B4-BE49-F238E27FC236}">
                  <a16:creationId xmlns:a16="http://schemas.microsoft.com/office/drawing/2014/main" id="{9315148B-15DA-450A-A0A9-3D8E6D484916}"/>
                </a:ext>
              </a:extLst>
            </p:cNvPr>
            <p:cNvGrpSpPr>
              <a:grpSpLocks/>
            </p:cNvGrpSpPr>
            <p:nvPr/>
          </p:nvGrpSpPr>
          <p:grpSpPr bwMode="auto">
            <a:xfrm>
              <a:off x="724239" y="3381967"/>
              <a:ext cx="2312845" cy="438143"/>
              <a:chOff x="186139" y="2396028"/>
              <a:chExt cx="2312845" cy="438143"/>
            </a:xfrm>
          </p:grpSpPr>
          <p:sp>
            <p:nvSpPr>
              <p:cNvPr id="167" name="Isosceles Triangle 77">
                <a:extLst>
                  <a:ext uri="{FF2B5EF4-FFF2-40B4-BE49-F238E27FC236}">
                    <a16:creationId xmlns:a16="http://schemas.microsoft.com/office/drawing/2014/main" id="{B977082F-91FE-4731-9537-7A2F91BE0047}"/>
                  </a:ext>
                </a:extLst>
              </p:cNvPr>
              <p:cNvSpPr/>
              <p:nvPr/>
            </p:nvSpPr>
            <p:spPr bwMode="auto">
              <a:xfrm rot="5400000">
                <a:off x="1041040" y="2393656"/>
                <a:ext cx="438143" cy="442888"/>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solidFill>
                    <a:schemeClr val="bg1"/>
                  </a:solidFill>
                  <a:latin typeface="+mj-lt"/>
                  <a:cs typeface="Arial" charset="0"/>
                </a:endParaRPr>
              </a:p>
            </p:txBody>
          </p:sp>
          <p:cxnSp>
            <p:nvCxnSpPr>
              <p:cNvPr id="28726" name="Прямая соединительная линия 18">
                <a:extLst>
                  <a:ext uri="{FF2B5EF4-FFF2-40B4-BE49-F238E27FC236}">
                    <a16:creationId xmlns:a16="http://schemas.microsoft.com/office/drawing/2014/main" id="{5AE5EB3D-4BAC-46EC-8A19-8E5B6114DC80}"/>
                  </a:ext>
                </a:extLst>
              </p:cNvPr>
              <p:cNvCxnSpPr>
                <a:cxnSpLocks noChangeShapeType="1"/>
              </p:cNvCxnSpPr>
              <p:nvPr/>
            </p:nvCxnSpPr>
            <p:spPr bwMode="auto">
              <a:xfrm>
                <a:off x="186139" y="2646107"/>
                <a:ext cx="853524" cy="0"/>
              </a:xfrm>
              <a:prstGeom prst="line">
                <a:avLst/>
              </a:prstGeom>
              <a:noFill/>
              <a:ln w="9525" algn="ctr">
                <a:solidFill>
                  <a:schemeClr val="tx1"/>
                </a:solidFill>
                <a:round/>
                <a:headEnd/>
                <a:tailEnd/>
              </a:ln>
            </p:spPr>
          </p:cxnSp>
          <p:cxnSp>
            <p:nvCxnSpPr>
              <p:cNvPr id="28727" name="Прямая соединительная линия 25">
                <a:extLst>
                  <a:ext uri="{FF2B5EF4-FFF2-40B4-BE49-F238E27FC236}">
                    <a16:creationId xmlns:a16="http://schemas.microsoft.com/office/drawing/2014/main" id="{4B6C525A-1BF2-4338-9A67-F0F54717D92D}"/>
                  </a:ext>
                </a:extLst>
              </p:cNvPr>
              <p:cNvCxnSpPr>
                <a:cxnSpLocks noChangeShapeType="1"/>
                <a:stCxn id="28729" idx="6"/>
              </p:cNvCxnSpPr>
              <p:nvPr/>
            </p:nvCxnSpPr>
            <p:spPr bwMode="auto">
              <a:xfrm>
                <a:off x="1594042" y="2646107"/>
                <a:ext cx="904942" cy="0"/>
              </a:xfrm>
              <a:prstGeom prst="line">
                <a:avLst/>
              </a:prstGeom>
              <a:noFill/>
              <a:ln w="9525" algn="ctr">
                <a:solidFill>
                  <a:schemeClr val="tx1"/>
                </a:solidFill>
                <a:round/>
                <a:headEnd/>
                <a:tailEnd/>
              </a:ln>
            </p:spPr>
          </p:cxnSp>
          <p:sp>
            <p:nvSpPr>
              <p:cNvPr id="170" name="TextBox 169">
                <a:extLst>
                  <a:ext uri="{FF2B5EF4-FFF2-40B4-BE49-F238E27FC236}">
                    <a16:creationId xmlns:a16="http://schemas.microsoft.com/office/drawing/2014/main" id="{5CB07667-05CB-4CD4-9499-86F17A64C65C}"/>
                  </a:ext>
                </a:extLst>
              </p:cNvPr>
              <p:cNvSpPr txBox="1"/>
              <p:nvPr/>
            </p:nvSpPr>
            <p:spPr>
              <a:xfrm>
                <a:off x="984429" y="2461921"/>
                <a:ext cx="312720" cy="368294"/>
              </a:xfrm>
              <a:prstGeom prst="rect">
                <a:avLst/>
              </a:prstGeom>
              <a:noFill/>
            </p:spPr>
            <p:txBody>
              <a:bodyPr wrap="none">
                <a:spAutoFit/>
              </a:bodyPr>
              <a:lstStyle/>
              <a:p>
                <a:pPr eaLnBrk="1" hangingPunct="1">
                  <a:defRPr/>
                </a:pPr>
                <a:r>
                  <a:rPr lang="en-US" dirty="0">
                    <a:solidFill>
                      <a:schemeClr val="bg1"/>
                    </a:solidFill>
                    <a:latin typeface="+mj-lt"/>
                    <a:cs typeface="Arial" charset="0"/>
                  </a:rPr>
                  <a:t>1</a:t>
                </a:r>
              </a:p>
            </p:txBody>
          </p:sp>
          <p:sp>
            <p:nvSpPr>
              <p:cNvPr id="28729" name="Oval 170">
                <a:extLst>
                  <a:ext uri="{FF2B5EF4-FFF2-40B4-BE49-F238E27FC236}">
                    <a16:creationId xmlns:a16="http://schemas.microsoft.com/office/drawing/2014/main" id="{5FFC482A-D470-4CCC-A759-D01C98E87AE3}"/>
                  </a:ext>
                </a:extLst>
              </p:cNvPr>
              <p:cNvSpPr>
                <a:spLocks noChangeArrowheads="1"/>
              </p:cNvSpPr>
              <p:nvPr/>
            </p:nvSpPr>
            <p:spPr bwMode="auto">
              <a:xfrm>
                <a:off x="1486082" y="2592127"/>
                <a:ext cx="107960" cy="10796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sp>
          <p:nvSpPr>
            <p:cNvPr id="138" name="Isosceles Triangle 77">
              <a:extLst>
                <a:ext uri="{FF2B5EF4-FFF2-40B4-BE49-F238E27FC236}">
                  <a16:creationId xmlns:a16="http://schemas.microsoft.com/office/drawing/2014/main" id="{10C00084-6F1B-490B-AD8B-78AE180FD365}"/>
                </a:ext>
              </a:extLst>
            </p:cNvPr>
            <p:cNvSpPr/>
            <p:nvPr/>
          </p:nvSpPr>
          <p:spPr bwMode="auto">
            <a:xfrm rot="5400000">
              <a:off x="2137642" y="2423155"/>
              <a:ext cx="438143" cy="442887"/>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139" name="TextBox 138">
              <a:extLst>
                <a:ext uri="{FF2B5EF4-FFF2-40B4-BE49-F238E27FC236}">
                  <a16:creationId xmlns:a16="http://schemas.microsoft.com/office/drawing/2014/main" id="{00E529A0-BDFF-4852-B023-A18CCD7121C2}"/>
                </a:ext>
              </a:extLst>
            </p:cNvPr>
            <p:cNvSpPr txBox="1"/>
            <p:nvPr/>
          </p:nvSpPr>
          <p:spPr>
            <a:xfrm>
              <a:off x="2079709" y="2441403"/>
              <a:ext cx="312721" cy="369882"/>
            </a:xfrm>
            <a:prstGeom prst="rect">
              <a:avLst/>
            </a:prstGeom>
            <a:noFill/>
          </p:spPr>
          <p:txBody>
            <a:bodyPr wrap="none">
              <a:spAutoFit/>
            </a:bodyPr>
            <a:lstStyle/>
            <a:p>
              <a:pPr eaLnBrk="1" hangingPunct="1">
                <a:defRPr/>
              </a:pPr>
              <a:r>
                <a:rPr lang="en-US" dirty="0">
                  <a:solidFill>
                    <a:schemeClr val="bg1"/>
                  </a:solidFill>
                  <a:latin typeface="+mj-lt"/>
                  <a:cs typeface="Arial" charset="0"/>
                </a:rPr>
                <a:t>1</a:t>
              </a:r>
            </a:p>
          </p:txBody>
        </p:sp>
        <p:sp>
          <p:nvSpPr>
            <p:cNvPr id="28698" name="Oval 139">
              <a:extLst>
                <a:ext uri="{FF2B5EF4-FFF2-40B4-BE49-F238E27FC236}">
                  <a16:creationId xmlns:a16="http://schemas.microsoft.com/office/drawing/2014/main" id="{C947321C-77F5-4E30-90C9-7DC722B56ABB}"/>
                </a:ext>
              </a:extLst>
            </p:cNvPr>
            <p:cNvSpPr>
              <a:spLocks noChangeArrowheads="1"/>
            </p:cNvSpPr>
            <p:nvPr/>
          </p:nvSpPr>
          <p:spPr bwMode="auto">
            <a:xfrm>
              <a:off x="2581457" y="2590642"/>
              <a:ext cx="107960" cy="10796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8699" name="Прямая соединительная линия 19">
              <a:extLst>
                <a:ext uri="{FF2B5EF4-FFF2-40B4-BE49-F238E27FC236}">
                  <a16:creationId xmlns:a16="http://schemas.microsoft.com/office/drawing/2014/main" id="{E988C14E-FC5E-4B83-A850-ACB4F4228002}"/>
                </a:ext>
              </a:extLst>
            </p:cNvPr>
            <p:cNvCxnSpPr>
              <a:cxnSpLocks noChangeShapeType="1"/>
            </p:cNvCxnSpPr>
            <p:nvPr/>
          </p:nvCxnSpPr>
          <p:spPr bwMode="auto">
            <a:xfrm>
              <a:off x="5985126" y="2645140"/>
              <a:ext cx="349349" cy="0"/>
            </a:xfrm>
            <a:prstGeom prst="line">
              <a:avLst/>
            </a:prstGeom>
            <a:noFill/>
            <a:ln w="9525" algn="ctr">
              <a:solidFill>
                <a:schemeClr val="tx1"/>
              </a:solidFill>
              <a:round/>
              <a:headEnd/>
              <a:tailEnd/>
            </a:ln>
          </p:spPr>
        </p:cxnSp>
        <p:sp>
          <p:nvSpPr>
            <p:cNvPr id="142" name="TextBox 141">
              <a:extLst>
                <a:ext uri="{FF2B5EF4-FFF2-40B4-BE49-F238E27FC236}">
                  <a16:creationId xmlns:a16="http://schemas.microsoft.com/office/drawing/2014/main" id="{A1B0C363-5A3B-4868-A2C5-0815A547B44C}"/>
                </a:ext>
              </a:extLst>
            </p:cNvPr>
            <p:cNvSpPr txBox="1"/>
            <p:nvPr/>
          </p:nvSpPr>
          <p:spPr>
            <a:xfrm>
              <a:off x="6514938" y="2922407"/>
              <a:ext cx="684175" cy="307970"/>
            </a:xfrm>
            <a:prstGeom prst="rect">
              <a:avLst/>
            </a:prstGeom>
            <a:noFill/>
          </p:spPr>
          <p:txBody>
            <a:bodyPr wrap="none">
              <a:spAutoFit/>
            </a:bodyPr>
            <a:lstStyle/>
            <a:p>
              <a:pPr eaLnBrk="1" hangingPunct="1">
                <a:defRPr/>
              </a:pPr>
              <a:r>
                <a:rPr lang="en-US" sz="1400" dirty="0">
                  <a:solidFill>
                    <a:schemeClr val="bg1"/>
                  </a:solidFill>
                  <a:latin typeface="+mj-lt"/>
                  <a:cs typeface="Arial" charset="0"/>
                </a:rPr>
                <a:t>MUX2</a:t>
              </a:r>
            </a:p>
          </p:txBody>
        </p:sp>
        <p:sp>
          <p:nvSpPr>
            <p:cNvPr id="143" name="TextBox 142">
              <a:extLst>
                <a:ext uri="{FF2B5EF4-FFF2-40B4-BE49-F238E27FC236}">
                  <a16:creationId xmlns:a16="http://schemas.microsoft.com/office/drawing/2014/main" id="{34C92690-5C2F-4B8F-9D95-16F682334569}"/>
                </a:ext>
              </a:extLst>
            </p:cNvPr>
            <p:cNvSpPr txBox="1"/>
            <p:nvPr/>
          </p:nvSpPr>
          <p:spPr>
            <a:xfrm>
              <a:off x="6394295" y="3371662"/>
              <a:ext cx="298433" cy="338132"/>
            </a:xfrm>
            <a:prstGeom prst="rect">
              <a:avLst/>
            </a:prstGeom>
            <a:noFill/>
          </p:spPr>
          <p:txBody>
            <a:bodyPr wrap="none">
              <a:spAutoFit/>
            </a:bodyPr>
            <a:lstStyle/>
            <a:p>
              <a:pPr eaLnBrk="1" hangingPunct="1">
                <a:defRPr/>
              </a:pPr>
              <a:r>
                <a:rPr lang="en-US" sz="1600" dirty="0">
                  <a:latin typeface="+mj-lt"/>
                  <a:cs typeface="Arial" charset="0"/>
                </a:rPr>
                <a:t>1</a:t>
              </a:r>
              <a:endParaRPr lang="en-US" dirty="0">
                <a:latin typeface="+mj-lt"/>
                <a:cs typeface="Arial" charset="0"/>
              </a:endParaRPr>
            </a:p>
          </p:txBody>
        </p:sp>
        <p:sp>
          <p:nvSpPr>
            <p:cNvPr id="144" name="TextBox 143">
              <a:extLst>
                <a:ext uri="{FF2B5EF4-FFF2-40B4-BE49-F238E27FC236}">
                  <a16:creationId xmlns:a16="http://schemas.microsoft.com/office/drawing/2014/main" id="{A7625A78-8E31-4781-A5B6-62362DAD4D22}"/>
                </a:ext>
              </a:extLst>
            </p:cNvPr>
            <p:cNvSpPr txBox="1"/>
            <p:nvPr/>
          </p:nvSpPr>
          <p:spPr>
            <a:xfrm>
              <a:off x="6394295" y="2473152"/>
              <a:ext cx="298433" cy="338132"/>
            </a:xfrm>
            <a:prstGeom prst="rect">
              <a:avLst/>
            </a:prstGeom>
            <a:noFill/>
          </p:spPr>
          <p:txBody>
            <a:bodyPr wrap="none">
              <a:spAutoFit/>
            </a:bodyPr>
            <a:lstStyle/>
            <a:p>
              <a:pPr eaLnBrk="1" hangingPunct="1">
                <a:defRPr/>
              </a:pPr>
              <a:r>
                <a:rPr lang="en-US" sz="1600" dirty="0">
                  <a:solidFill>
                    <a:schemeClr val="bg1"/>
                  </a:solidFill>
                  <a:latin typeface="+mj-lt"/>
                  <a:cs typeface="Arial" charset="0"/>
                </a:rPr>
                <a:t>0</a:t>
              </a:r>
              <a:endParaRPr lang="en-US" dirty="0">
                <a:solidFill>
                  <a:schemeClr val="bg1"/>
                </a:solidFill>
                <a:latin typeface="+mj-lt"/>
                <a:cs typeface="Arial" charset="0"/>
              </a:endParaRPr>
            </a:p>
          </p:txBody>
        </p:sp>
        <p:grpSp>
          <p:nvGrpSpPr>
            <p:cNvPr id="28703" name="Group 144">
              <a:extLst>
                <a:ext uri="{FF2B5EF4-FFF2-40B4-BE49-F238E27FC236}">
                  <a16:creationId xmlns:a16="http://schemas.microsoft.com/office/drawing/2014/main" id="{18451692-0957-4A31-B304-2012950130B7}"/>
                </a:ext>
              </a:extLst>
            </p:cNvPr>
            <p:cNvGrpSpPr>
              <a:grpSpLocks/>
            </p:cNvGrpSpPr>
            <p:nvPr/>
          </p:nvGrpSpPr>
          <p:grpSpPr bwMode="auto">
            <a:xfrm>
              <a:off x="3505200" y="3827722"/>
              <a:ext cx="3297391" cy="698796"/>
              <a:chOff x="3505200" y="4038600"/>
              <a:chExt cx="3297391" cy="487917"/>
            </a:xfrm>
          </p:grpSpPr>
          <p:cxnSp>
            <p:nvCxnSpPr>
              <p:cNvPr id="28723" name="Прямая соединительная линия 61">
                <a:extLst>
                  <a:ext uri="{FF2B5EF4-FFF2-40B4-BE49-F238E27FC236}">
                    <a16:creationId xmlns:a16="http://schemas.microsoft.com/office/drawing/2014/main" id="{FC2EF1E9-5B98-4EE2-ABB3-8C2277670283}"/>
                  </a:ext>
                </a:extLst>
              </p:cNvPr>
              <p:cNvCxnSpPr>
                <a:cxnSpLocks noChangeShapeType="1"/>
              </p:cNvCxnSpPr>
              <p:nvPr/>
            </p:nvCxnSpPr>
            <p:spPr bwMode="auto">
              <a:xfrm rot="5400000" flipH="1" flipV="1">
                <a:off x="3261951" y="4281849"/>
                <a:ext cx="486498" cy="0"/>
              </a:xfrm>
              <a:prstGeom prst="line">
                <a:avLst/>
              </a:prstGeom>
              <a:noFill/>
              <a:ln w="9525" algn="ctr">
                <a:solidFill>
                  <a:schemeClr val="tx1"/>
                </a:solidFill>
                <a:round/>
                <a:headEnd/>
                <a:tailEnd/>
              </a:ln>
            </p:spPr>
          </p:cxnSp>
          <p:cxnSp>
            <p:nvCxnSpPr>
              <p:cNvPr id="28724" name="Прямая соединительная линия 61">
                <a:extLst>
                  <a:ext uri="{FF2B5EF4-FFF2-40B4-BE49-F238E27FC236}">
                    <a16:creationId xmlns:a16="http://schemas.microsoft.com/office/drawing/2014/main" id="{00F2258F-2E5F-4C17-AE8B-B388831450E0}"/>
                  </a:ext>
                </a:extLst>
              </p:cNvPr>
              <p:cNvCxnSpPr>
                <a:cxnSpLocks noChangeShapeType="1"/>
              </p:cNvCxnSpPr>
              <p:nvPr/>
            </p:nvCxnSpPr>
            <p:spPr bwMode="auto">
              <a:xfrm rot="5400000" flipH="1" flipV="1">
                <a:off x="6559342" y="4283268"/>
                <a:ext cx="486498" cy="0"/>
              </a:xfrm>
              <a:prstGeom prst="line">
                <a:avLst/>
              </a:prstGeom>
              <a:noFill/>
              <a:ln w="9525" algn="ctr">
                <a:solidFill>
                  <a:schemeClr val="tx1"/>
                </a:solidFill>
                <a:round/>
                <a:headEnd/>
                <a:tailEnd/>
              </a:ln>
            </p:spPr>
          </p:cxnSp>
        </p:grpSp>
        <p:sp>
          <p:nvSpPr>
            <p:cNvPr id="146" name="TextBox 145">
              <a:extLst>
                <a:ext uri="{FF2B5EF4-FFF2-40B4-BE49-F238E27FC236}">
                  <a16:creationId xmlns:a16="http://schemas.microsoft.com/office/drawing/2014/main" id="{9E6199CD-5FBE-4D81-98B2-3E21AFE3D834}"/>
                </a:ext>
              </a:extLst>
            </p:cNvPr>
            <p:cNvSpPr txBox="1"/>
            <p:nvPr/>
          </p:nvSpPr>
          <p:spPr>
            <a:xfrm>
              <a:off x="6595897" y="3439924"/>
              <a:ext cx="412727" cy="306382"/>
            </a:xfrm>
            <a:prstGeom prst="rect">
              <a:avLst/>
            </a:prstGeom>
            <a:noFill/>
          </p:spPr>
          <p:txBody>
            <a:bodyPr wrap="none">
              <a:spAutoFit/>
            </a:bodyPr>
            <a:lstStyle/>
            <a:p>
              <a:pPr eaLnBrk="1" hangingPunct="1">
                <a:defRPr/>
              </a:pPr>
              <a:r>
                <a:rPr lang="en-US" sz="1400" dirty="0" err="1">
                  <a:solidFill>
                    <a:schemeClr val="bg1"/>
                  </a:solidFill>
                  <a:latin typeface="+mj-lt"/>
                  <a:cs typeface="Arial" charset="0"/>
                </a:rPr>
                <a:t>sel</a:t>
              </a:r>
              <a:endParaRPr lang="en-US" sz="1400" dirty="0">
                <a:solidFill>
                  <a:schemeClr val="bg1"/>
                </a:solidFill>
                <a:latin typeface="+mj-lt"/>
                <a:cs typeface="Arial" charset="0"/>
              </a:endParaRPr>
            </a:p>
          </p:txBody>
        </p:sp>
        <p:grpSp>
          <p:nvGrpSpPr>
            <p:cNvPr id="28705" name="Group 146">
              <a:extLst>
                <a:ext uri="{FF2B5EF4-FFF2-40B4-BE49-F238E27FC236}">
                  <a16:creationId xmlns:a16="http://schemas.microsoft.com/office/drawing/2014/main" id="{1E2FBDDC-C8BD-4A6C-9B0D-60499C9D7D82}"/>
                </a:ext>
              </a:extLst>
            </p:cNvPr>
            <p:cNvGrpSpPr>
              <a:grpSpLocks/>
            </p:cNvGrpSpPr>
            <p:nvPr/>
          </p:nvGrpSpPr>
          <p:grpSpPr bwMode="auto">
            <a:xfrm>
              <a:off x="4172247" y="2626834"/>
              <a:ext cx="1252428" cy="1006631"/>
              <a:chOff x="874856" y="2625415"/>
              <a:chExt cx="1252428" cy="1006631"/>
            </a:xfrm>
          </p:grpSpPr>
          <p:cxnSp>
            <p:nvCxnSpPr>
              <p:cNvPr id="28721" name="Прямая соединительная линия 18">
                <a:extLst>
                  <a:ext uri="{FF2B5EF4-FFF2-40B4-BE49-F238E27FC236}">
                    <a16:creationId xmlns:a16="http://schemas.microsoft.com/office/drawing/2014/main" id="{C9061484-A8B6-4952-B70D-947601EC18B1}"/>
                  </a:ext>
                </a:extLst>
              </p:cNvPr>
              <p:cNvCxnSpPr>
                <a:cxnSpLocks noChangeShapeType="1"/>
              </p:cNvCxnSpPr>
              <p:nvPr/>
            </p:nvCxnSpPr>
            <p:spPr bwMode="auto">
              <a:xfrm flipV="1">
                <a:off x="874856" y="2626900"/>
                <a:ext cx="0" cy="1005146"/>
              </a:xfrm>
              <a:prstGeom prst="line">
                <a:avLst/>
              </a:prstGeom>
              <a:noFill/>
              <a:ln w="9525" algn="ctr">
                <a:solidFill>
                  <a:schemeClr val="tx1"/>
                </a:solidFill>
                <a:round/>
                <a:headEnd/>
                <a:tailEnd/>
              </a:ln>
            </p:spPr>
          </p:cxnSp>
          <p:cxnSp>
            <p:nvCxnSpPr>
              <p:cNvPr id="28722" name="Прямая соединительная линия 25">
                <a:extLst>
                  <a:ext uri="{FF2B5EF4-FFF2-40B4-BE49-F238E27FC236}">
                    <a16:creationId xmlns:a16="http://schemas.microsoft.com/office/drawing/2014/main" id="{F96A93F9-3AA5-4B8F-A322-0DD096ED4318}"/>
                  </a:ext>
                </a:extLst>
              </p:cNvPr>
              <p:cNvCxnSpPr>
                <a:cxnSpLocks noChangeShapeType="1"/>
              </p:cNvCxnSpPr>
              <p:nvPr/>
            </p:nvCxnSpPr>
            <p:spPr bwMode="auto">
              <a:xfrm>
                <a:off x="874856" y="2625415"/>
                <a:ext cx="1252428" cy="0"/>
              </a:xfrm>
              <a:prstGeom prst="line">
                <a:avLst/>
              </a:prstGeom>
              <a:noFill/>
              <a:ln w="9525" algn="ctr">
                <a:solidFill>
                  <a:schemeClr val="tx1"/>
                </a:solidFill>
                <a:round/>
                <a:headEnd/>
                <a:tailEnd/>
              </a:ln>
            </p:spPr>
          </p:cxnSp>
        </p:grpSp>
        <p:grpSp>
          <p:nvGrpSpPr>
            <p:cNvPr id="28706" name="Group 147">
              <a:extLst>
                <a:ext uri="{FF2B5EF4-FFF2-40B4-BE49-F238E27FC236}">
                  <a16:creationId xmlns:a16="http://schemas.microsoft.com/office/drawing/2014/main" id="{C11EE726-266D-48A4-8BA9-B0DEDFB18329}"/>
                </a:ext>
              </a:extLst>
            </p:cNvPr>
            <p:cNvGrpSpPr>
              <a:grpSpLocks/>
            </p:cNvGrpSpPr>
            <p:nvPr/>
          </p:nvGrpSpPr>
          <p:grpSpPr bwMode="auto">
            <a:xfrm>
              <a:off x="4172247" y="3414544"/>
              <a:ext cx="2162228" cy="437844"/>
              <a:chOff x="336756" y="2427186"/>
              <a:chExt cx="2162228" cy="437844"/>
            </a:xfrm>
          </p:grpSpPr>
          <p:sp>
            <p:nvSpPr>
              <p:cNvPr id="158" name="Isosceles Triangle 77">
                <a:extLst>
                  <a:ext uri="{FF2B5EF4-FFF2-40B4-BE49-F238E27FC236}">
                    <a16:creationId xmlns:a16="http://schemas.microsoft.com/office/drawing/2014/main" id="{0A04485A-D90C-4DAE-8DFB-9C2655D5A147}"/>
                  </a:ext>
                </a:extLst>
              </p:cNvPr>
              <p:cNvSpPr/>
              <p:nvPr/>
            </p:nvSpPr>
            <p:spPr bwMode="auto">
              <a:xfrm rot="5400000">
                <a:off x="1042023" y="2424794"/>
                <a:ext cx="438143" cy="442887"/>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cxnSp>
            <p:nvCxnSpPr>
              <p:cNvPr id="28717" name="Прямая соединительная линия 18">
                <a:extLst>
                  <a:ext uri="{FF2B5EF4-FFF2-40B4-BE49-F238E27FC236}">
                    <a16:creationId xmlns:a16="http://schemas.microsoft.com/office/drawing/2014/main" id="{E42EC4E6-B98B-4EFF-8F76-D86A8A66DFBF}"/>
                  </a:ext>
                </a:extLst>
              </p:cNvPr>
              <p:cNvCxnSpPr>
                <a:cxnSpLocks noChangeShapeType="1"/>
              </p:cNvCxnSpPr>
              <p:nvPr/>
            </p:nvCxnSpPr>
            <p:spPr bwMode="auto">
              <a:xfrm>
                <a:off x="336756" y="2644688"/>
                <a:ext cx="702907" cy="0"/>
              </a:xfrm>
              <a:prstGeom prst="line">
                <a:avLst/>
              </a:prstGeom>
              <a:noFill/>
              <a:ln w="9525" algn="ctr">
                <a:solidFill>
                  <a:schemeClr val="tx1"/>
                </a:solidFill>
                <a:round/>
                <a:headEnd/>
                <a:tailEnd/>
              </a:ln>
            </p:spPr>
          </p:cxnSp>
          <p:cxnSp>
            <p:nvCxnSpPr>
              <p:cNvPr id="28718" name="Прямая соединительная линия 25">
                <a:extLst>
                  <a:ext uri="{FF2B5EF4-FFF2-40B4-BE49-F238E27FC236}">
                    <a16:creationId xmlns:a16="http://schemas.microsoft.com/office/drawing/2014/main" id="{CE43E916-7C35-44C9-9005-F11D19327844}"/>
                  </a:ext>
                </a:extLst>
              </p:cNvPr>
              <p:cNvCxnSpPr>
                <a:cxnSpLocks noChangeShapeType="1"/>
                <a:stCxn id="28720" idx="6"/>
              </p:cNvCxnSpPr>
              <p:nvPr/>
            </p:nvCxnSpPr>
            <p:spPr bwMode="auto">
              <a:xfrm>
                <a:off x="1594042" y="2646107"/>
                <a:ext cx="904942" cy="0"/>
              </a:xfrm>
              <a:prstGeom prst="line">
                <a:avLst/>
              </a:prstGeom>
              <a:noFill/>
              <a:ln w="9525" algn="ctr">
                <a:solidFill>
                  <a:schemeClr val="tx1"/>
                </a:solidFill>
                <a:round/>
                <a:headEnd/>
                <a:tailEnd/>
              </a:ln>
            </p:spPr>
          </p:cxnSp>
          <p:sp>
            <p:nvSpPr>
              <p:cNvPr id="161" name="TextBox 160">
                <a:extLst>
                  <a:ext uri="{FF2B5EF4-FFF2-40B4-BE49-F238E27FC236}">
                    <a16:creationId xmlns:a16="http://schemas.microsoft.com/office/drawing/2014/main" id="{8613D238-08C0-4AC3-AF86-DF9A5DFC272F}"/>
                  </a:ext>
                </a:extLst>
              </p:cNvPr>
              <p:cNvSpPr txBox="1"/>
              <p:nvPr/>
            </p:nvSpPr>
            <p:spPr>
              <a:xfrm>
                <a:off x="984091" y="2462090"/>
                <a:ext cx="312721" cy="368294"/>
              </a:xfrm>
              <a:prstGeom prst="rect">
                <a:avLst/>
              </a:prstGeom>
              <a:noFill/>
            </p:spPr>
            <p:txBody>
              <a:bodyPr wrap="none">
                <a:spAutoFit/>
              </a:bodyPr>
              <a:lstStyle/>
              <a:p>
                <a:pPr eaLnBrk="1" hangingPunct="1">
                  <a:defRPr/>
                </a:pPr>
                <a:r>
                  <a:rPr lang="en-US" dirty="0">
                    <a:solidFill>
                      <a:schemeClr val="bg1"/>
                    </a:solidFill>
                    <a:latin typeface="+mj-lt"/>
                    <a:cs typeface="Arial" charset="0"/>
                  </a:rPr>
                  <a:t>1</a:t>
                </a:r>
              </a:p>
            </p:txBody>
          </p:sp>
          <p:sp>
            <p:nvSpPr>
              <p:cNvPr id="28720" name="Oval 161">
                <a:extLst>
                  <a:ext uri="{FF2B5EF4-FFF2-40B4-BE49-F238E27FC236}">
                    <a16:creationId xmlns:a16="http://schemas.microsoft.com/office/drawing/2014/main" id="{763403DA-70B1-4E04-8CAC-F2380CB67645}"/>
                  </a:ext>
                </a:extLst>
              </p:cNvPr>
              <p:cNvSpPr>
                <a:spLocks noChangeArrowheads="1"/>
              </p:cNvSpPr>
              <p:nvPr/>
            </p:nvSpPr>
            <p:spPr bwMode="auto">
              <a:xfrm>
                <a:off x="1486082" y="2592127"/>
                <a:ext cx="107960" cy="10796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sp>
          <p:nvSpPr>
            <p:cNvPr id="149" name="Isosceles Triangle 77">
              <a:extLst>
                <a:ext uri="{FF2B5EF4-FFF2-40B4-BE49-F238E27FC236}">
                  <a16:creationId xmlns:a16="http://schemas.microsoft.com/office/drawing/2014/main" id="{2F3D610C-2F23-4A9C-9DB1-B959EB0295A3}"/>
                </a:ext>
              </a:extLst>
            </p:cNvPr>
            <p:cNvSpPr/>
            <p:nvPr/>
          </p:nvSpPr>
          <p:spPr bwMode="auto">
            <a:xfrm rot="5400000">
              <a:off x="5434697" y="2424742"/>
              <a:ext cx="438143" cy="442888"/>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150" name="TextBox 149">
              <a:extLst>
                <a:ext uri="{FF2B5EF4-FFF2-40B4-BE49-F238E27FC236}">
                  <a16:creationId xmlns:a16="http://schemas.microsoft.com/office/drawing/2014/main" id="{5B4CBE56-3742-4AC6-8A11-BDF85721A43D}"/>
                </a:ext>
              </a:extLst>
            </p:cNvPr>
            <p:cNvSpPr txBox="1"/>
            <p:nvPr/>
          </p:nvSpPr>
          <p:spPr>
            <a:xfrm>
              <a:off x="5376764" y="2442990"/>
              <a:ext cx="312720" cy="369881"/>
            </a:xfrm>
            <a:prstGeom prst="rect">
              <a:avLst/>
            </a:prstGeom>
            <a:noFill/>
          </p:spPr>
          <p:txBody>
            <a:bodyPr wrap="none">
              <a:spAutoFit/>
            </a:bodyPr>
            <a:lstStyle/>
            <a:p>
              <a:pPr eaLnBrk="1" hangingPunct="1">
                <a:defRPr/>
              </a:pPr>
              <a:r>
                <a:rPr lang="en-US" dirty="0">
                  <a:solidFill>
                    <a:schemeClr val="bg1"/>
                  </a:solidFill>
                  <a:latin typeface="+mj-lt"/>
                  <a:cs typeface="Arial" charset="0"/>
                </a:rPr>
                <a:t>1</a:t>
              </a:r>
            </a:p>
          </p:txBody>
        </p:sp>
        <p:sp>
          <p:nvSpPr>
            <p:cNvPr id="28709" name="Oval 150">
              <a:extLst>
                <a:ext uri="{FF2B5EF4-FFF2-40B4-BE49-F238E27FC236}">
                  <a16:creationId xmlns:a16="http://schemas.microsoft.com/office/drawing/2014/main" id="{3033DA7C-2E1E-429B-9753-3B6C5E558F7B}"/>
                </a:ext>
              </a:extLst>
            </p:cNvPr>
            <p:cNvSpPr>
              <a:spLocks noChangeArrowheads="1"/>
            </p:cNvSpPr>
            <p:nvPr/>
          </p:nvSpPr>
          <p:spPr bwMode="auto">
            <a:xfrm>
              <a:off x="5878848" y="2592061"/>
              <a:ext cx="107960" cy="10796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nvGrpSpPr>
            <p:cNvPr id="28710" name="Group 151">
              <a:extLst>
                <a:ext uri="{FF2B5EF4-FFF2-40B4-BE49-F238E27FC236}">
                  <a16:creationId xmlns:a16="http://schemas.microsoft.com/office/drawing/2014/main" id="{8CBAD05B-EDF3-4489-B01F-E105D0ED0CF0}"/>
                </a:ext>
              </a:extLst>
            </p:cNvPr>
            <p:cNvGrpSpPr>
              <a:grpSpLocks/>
            </p:cNvGrpSpPr>
            <p:nvPr/>
          </p:nvGrpSpPr>
          <p:grpSpPr bwMode="auto">
            <a:xfrm>
              <a:off x="4820893" y="4303808"/>
              <a:ext cx="1968806" cy="437844"/>
              <a:chOff x="984250" y="2427186"/>
              <a:chExt cx="1968806" cy="437844"/>
            </a:xfrm>
          </p:grpSpPr>
          <p:sp>
            <p:nvSpPr>
              <p:cNvPr id="154" name="Isosceles Triangle 77">
                <a:extLst>
                  <a:ext uri="{FF2B5EF4-FFF2-40B4-BE49-F238E27FC236}">
                    <a16:creationId xmlns:a16="http://schemas.microsoft.com/office/drawing/2014/main" id="{9620D260-0B1B-487D-9BF8-38F105FD2B1C}"/>
                  </a:ext>
                </a:extLst>
              </p:cNvPr>
              <p:cNvSpPr/>
              <p:nvPr/>
            </p:nvSpPr>
            <p:spPr bwMode="auto">
              <a:xfrm rot="5400000">
                <a:off x="1042459" y="2424514"/>
                <a:ext cx="438143" cy="442888"/>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cxnSp>
            <p:nvCxnSpPr>
              <p:cNvPr id="28713" name="Прямая соединительная линия 25">
                <a:extLst>
                  <a:ext uri="{FF2B5EF4-FFF2-40B4-BE49-F238E27FC236}">
                    <a16:creationId xmlns:a16="http://schemas.microsoft.com/office/drawing/2014/main" id="{2B24215B-3B38-4840-8AC6-CA6BDA02EAFD}"/>
                  </a:ext>
                </a:extLst>
              </p:cNvPr>
              <p:cNvCxnSpPr>
                <a:cxnSpLocks noChangeShapeType="1"/>
                <a:stCxn id="28715" idx="6"/>
              </p:cNvCxnSpPr>
              <p:nvPr/>
            </p:nvCxnSpPr>
            <p:spPr bwMode="auto">
              <a:xfrm flipV="1">
                <a:off x="1594042" y="2645697"/>
                <a:ext cx="1359014" cy="0"/>
              </a:xfrm>
              <a:prstGeom prst="line">
                <a:avLst/>
              </a:prstGeom>
              <a:noFill/>
              <a:ln w="9525" algn="ctr">
                <a:solidFill>
                  <a:schemeClr val="tx1"/>
                </a:solidFill>
                <a:round/>
                <a:headEnd/>
                <a:tailEnd/>
              </a:ln>
            </p:spPr>
          </p:cxnSp>
          <p:sp>
            <p:nvSpPr>
              <p:cNvPr id="156" name="TextBox 155">
                <a:extLst>
                  <a:ext uri="{FF2B5EF4-FFF2-40B4-BE49-F238E27FC236}">
                    <a16:creationId xmlns:a16="http://schemas.microsoft.com/office/drawing/2014/main" id="{201BAC4F-4772-4FA2-8FA2-49F2F12BB0A3}"/>
                  </a:ext>
                </a:extLst>
              </p:cNvPr>
              <p:cNvSpPr txBox="1"/>
              <p:nvPr/>
            </p:nvSpPr>
            <p:spPr>
              <a:xfrm>
                <a:off x="984527" y="2461811"/>
                <a:ext cx="312720" cy="368294"/>
              </a:xfrm>
              <a:prstGeom prst="rect">
                <a:avLst/>
              </a:prstGeom>
              <a:noFill/>
            </p:spPr>
            <p:txBody>
              <a:bodyPr wrap="none">
                <a:spAutoFit/>
              </a:bodyPr>
              <a:lstStyle/>
              <a:p>
                <a:pPr eaLnBrk="1" hangingPunct="1">
                  <a:defRPr/>
                </a:pPr>
                <a:r>
                  <a:rPr lang="en-US" dirty="0">
                    <a:solidFill>
                      <a:schemeClr val="bg1"/>
                    </a:solidFill>
                    <a:latin typeface="+mj-lt"/>
                    <a:cs typeface="Arial" charset="0"/>
                  </a:rPr>
                  <a:t>1</a:t>
                </a:r>
              </a:p>
            </p:txBody>
          </p:sp>
          <p:sp>
            <p:nvSpPr>
              <p:cNvPr id="28715" name="Oval 156">
                <a:extLst>
                  <a:ext uri="{FF2B5EF4-FFF2-40B4-BE49-F238E27FC236}">
                    <a16:creationId xmlns:a16="http://schemas.microsoft.com/office/drawing/2014/main" id="{77B7D8A5-4402-4317-8048-77E980F97BB7}"/>
                  </a:ext>
                </a:extLst>
              </p:cNvPr>
              <p:cNvSpPr>
                <a:spLocks noChangeArrowheads="1"/>
              </p:cNvSpPr>
              <p:nvPr/>
            </p:nvSpPr>
            <p:spPr bwMode="auto">
              <a:xfrm>
                <a:off x="1486082" y="2592127"/>
                <a:ext cx="107960" cy="10796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cxnSp>
          <p:nvCxnSpPr>
            <p:cNvPr id="28711" name="Прямая соединительная линия 47">
              <a:extLst>
                <a:ext uri="{FF2B5EF4-FFF2-40B4-BE49-F238E27FC236}">
                  <a16:creationId xmlns:a16="http://schemas.microsoft.com/office/drawing/2014/main" id="{5ACEFA38-6D51-4D8D-8A92-C26EB71BF00F}"/>
                </a:ext>
              </a:extLst>
            </p:cNvPr>
            <p:cNvCxnSpPr>
              <a:cxnSpLocks noChangeShapeType="1"/>
            </p:cNvCxnSpPr>
            <p:nvPr/>
          </p:nvCxnSpPr>
          <p:spPr bwMode="auto">
            <a:xfrm>
              <a:off x="4010081" y="3158727"/>
              <a:ext cx="162166" cy="2787"/>
            </a:xfrm>
            <a:prstGeom prst="line">
              <a:avLst/>
            </a:prstGeom>
            <a:noFill/>
            <a:ln w="9525" algn="ctr">
              <a:solidFill>
                <a:schemeClr val="tx1"/>
              </a:solidFill>
              <a:round/>
              <a:headEnd/>
              <a:tailEnd/>
            </a:ln>
          </p:spPr>
        </p:cxnSp>
      </p:grpSp>
      <p:sp>
        <p:nvSpPr>
          <p:cNvPr id="28675" name="Title 1">
            <a:extLst>
              <a:ext uri="{FF2B5EF4-FFF2-40B4-BE49-F238E27FC236}">
                <a16:creationId xmlns:a16="http://schemas.microsoft.com/office/drawing/2014/main" id="{0AB1650D-840C-4DCF-95EF-3ED10B85026A}"/>
              </a:ext>
            </a:extLst>
          </p:cNvPr>
          <p:cNvSpPr>
            <a:spLocks noGrp="1"/>
          </p:cNvSpPr>
          <p:nvPr>
            <p:ph type="title"/>
          </p:nvPr>
        </p:nvSpPr>
        <p:spPr/>
        <p:txBody>
          <a:bodyPr/>
          <a:lstStyle/>
          <a:p>
            <a:r>
              <a:rPr lang="en-US" altLang="en-US"/>
              <a:t>Possible Paths</a:t>
            </a:r>
          </a:p>
        </p:txBody>
      </p:sp>
      <p:graphicFrame>
        <p:nvGraphicFramePr>
          <p:cNvPr id="73" name="Table 72">
            <a:extLst>
              <a:ext uri="{FF2B5EF4-FFF2-40B4-BE49-F238E27FC236}">
                <a16:creationId xmlns:a16="http://schemas.microsoft.com/office/drawing/2014/main" id="{5B011783-F56D-44D5-857C-EAB38D596FE5}"/>
              </a:ext>
            </a:extLst>
          </p:cNvPr>
          <p:cNvGraphicFramePr>
            <a:graphicFrameLocks noGrp="1"/>
          </p:cNvGraphicFramePr>
          <p:nvPr>
            <p:extLst>
              <p:ext uri="{D42A27DB-BD31-4B8C-83A1-F6EECF244321}">
                <p14:modId xmlns:p14="http://schemas.microsoft.com/office/powerpoint/2010/main" val="3868078338"/>
              </p:ext>
            </p:extLst>
          </p:nvPr>
        </p:nvGraphicFramePr>
        <p:xfrm>
          <a:off x="8229276" y="3935227"/>
          <a:ext cx="2277684" cy="1887606"/>
        </p:xfrm>
        <a:graphic>
          <a:graphicData uri="http://schemas.openxmlformats.org/drawingml/2006/table">
            <a:tbl>
              <a:tblPr firstRow="1" bandRow="1">
                <a:tableStyleId>{5C22544A-7EE6-4342-B048-85BDC9FD1C3A}</a:tableStyleId>
              </a:tblPr>
              <a:tblGrid>
                <a:gridCol w="2277684">
                  <a:extLst>
                    <a:ext uri="{9D8B030D-6E8A-4147-A177-3AD203B41FA5}">
                      <a16:colId xmlns:a16="http://schemas.microsoft.com/office/drawing/2014/main" val="20000"/>
                    </a:ext>
                  </a:extLst>
                </a:gridCol>
              </a:tblGrid>
              <a:tr h="251195">
                <a:tc>
                  <a:txBody>
                    <a:bodyPr/>
                    <a:lstStyle/>
                    <a:p>
                      <a:pPr algn="ctr"/>
                      <a:r>
                        <a:rPr lang="en-US" sz="1800" b="1" i="0" dirty="0">
                          <a:solidFill>
                            <a:schemeClr val="bg1"/>
                          </a:solidFill>
                        </a:rPr>
                        <a:t>Paths </a:t>
                      </a:r>
                    </a:p>
                  </a:txBody>
                  <a:tcPr marT="33363" marB="33363"/>
                </a:tc>
                <a:extLst>
                  <a:ext uri="{0D108BD9-81ED-4DB2-BD59-A6C34878D82A}">
                    <a16:rowId xmlns:a16="http://schemas.microsoft.com/office/drawing/2014/main" val="10000"/>
                  </a:ext>
                </a:extLst>
              </a:tr>
              <a:tr h="386640">
                <a:tc>
                  <a:txBody>
                    <a:bodyPr/>
                    <a:lstStyle/>
                    <a:p>
                      <a:endParaRPr lang="en-US" sz="1300" dirty="0"/>
                    </a:p>
                  </a:txBody>
                  <a:tcPr marT="33363" marB="33363">
                    <a:blipFill rotWithShape="0">
                      <a:blip r:embed="rId2"/>
                      <a:stretch>
                        <a:fillRect l="-267" t="-95122" r="-1070" b="-309756"/>
                      </a:stretch>
                    </a:blipFill>
                  </a:tcPr>
                </a:tc>
                <a:extLst>
                  <a:ext uri="{0D108BD9-81ED-4DB2-BD59-A6C34878D82A}">
                    <a16:rowId xmlns:a16="http://schemas.microsoft.com/office/drawing/2014/main" val="10001"/>
                  </a:ext>
                </a:extLst>
              </a:tr>
              <a:tr h="386640">
                <a:tc>
                  <a:txBody>
                    <a:bodyPr/>
                    <a:lstStyle/>
                    <a:p>
                      <a:endParaRPr lang="en-US" sz="1300"/>
                    </a:p>
                  </a:txBody>
                  <a:tcPr marT="33363" marB="33363">
                    <a:blipFill rotWithShape="0">
                      <a:blip r:embed="rId2"/>
                      <a:stretch>
                        <a:fillRect l="-267" t="-195122" r="-1070" b="-209756"/>
                      </a:stretch>
                    </a:blipFill>
                  </a:tcPr>
                </a:tc>
                <a:extLst>
                  <a:ext uri="{0D108BD9-81ED-4DB2-BD59-A6C34878D82A}">
                    <a16:rowId xmlns:a16="http://schemas.microsoft.com/office/drawing/2014/main" val="10002"/>
                  </a:ext>
                </a:extLst>
              </a:tr>
              <a:tr h="386640">
                <a:tc>
                  <a:txBody>
                    <a:bodyPr/>
                    <a:lstStyle/>
                    <a:p>
                      <a:endParaRPr lang="en-US" sz="1300"/>
                    </a:p>
                  </a:txBody>
                  <a:tcPr marT="33363" marB="33363">
                    <a:blipFill rotWithShape="0">
                      <a:blip r:embed="rId2"/>
                      <a:stretch>
                        <a:fillRect l="-267" t="-288095" r="-1070" b="-104762"/>
                      </a:stretch>
                    </a:blipFill>
                  </a:tcPr>
                </a:tc>
                <a:extLst>
                  <a:ext uri="{0D108BD9-81ED-4DB2-BD59-A6C34878D82A}">
                    <a16:rowId xmlns:a16="http://schemas.microsoft.com/office/drawing/2014/main" val="10003"/>
                  </a:ext>
                </a:extLst>
              </a:tr>
              <a:tr h="386640">
                <a:tc>
                  <a:txBody>
                    <a:bodyPr/>
                    <a:lstStyle/>
                    <a:p>
                      <a:endParaRPr lang="en-US" sz="1300" dirty="0"/>
                    </a:p>
                  </a:txBody>
                  <a:tcPr marT="33363" marB="33363">
                    <a:blipFill rotWithShape="0">
                      <a:blip r:embed="rId2"/>
                      <a:stretch>
                        <a:fillRect l="-267" t="-397561" r="-1070" b="-7317"/>
                      </a:stretch>
                    </a:blipFill>
                  </a:tcPr>
                </a:tc>
                <a:extLst>
                  <a:ext uri="{0D108BD9-81ED-4DB2-BD59-A6C34878D82A}">
                    <a16:rowId xmlns:a16="http://schemas.microsoft.com/office/drawing/2014/main" val="10004"/>
                  </a:ext>
                </a:extLst>
              </a:tr>
            </a:tbl>
          </a:graphicData>
        </a:graphic>
      </p:graphicFrame>
      <p:sp>
        <p:nvSpPr>
          <p:cNvPr id="28677" name="Freeform 9">
            <a:extLst>
              <a:ext uri="{FF2B5EF4-FFF2-40B4-BE49-F238E27FC236}">
                <a16:creationId xmlns:a16="http://schemas.microsoft.com/office/drawing/2014/main" id="{04E0E1ED-AD60-4C37-ABCF-BD986BEB6BA7}"/>
              </a:ext>
            </a:extLst>
          </p:cNvPr>
          <p:cNvSpPr>
            <a:spLocks/>
          </p:cNvSpPr>
          <p:nvPr/>
        </p:nvSpPr>
        <p:spPr bwMode="auto">
          <a:xfrm>
            <a:off x="2319618" y="2415989"/>
            <a:ext cx="7048500" cy="708025"/>
          </a:xfrm>
          <a:custGeom>
            <a:avLst/>
            <a:gdLst>
              <a:gd name="T0" fmla="*/ 0 w 7048500"/>
              <a:gd name="T1" fmla="*/ 0 h 708660"/>
              <a:gd name="T2" fmla="*/ 373380 w 7048500"/>
              <a:gd name="T3" fmla="*/ 7620 h 708660"/>
              <a:gd name="T4" fmla="*/ 3048000 w 7048500"/>
              <a:gd name="T5" fmla="*/ 22860 h 708660"/>
              <a:gd name="T6" fmla="*/ 3101340 w 7048500"/>
              <a:gd name="T7" fmla="*/ 30480 h 708660"/>
              <a:gd name="T8" fmla="*/ 3177540 w 7048500"/>
              <a:gd name="T9" fmla="*/ 38100 h 708660"/>
              <a:gd name="T10" fmla="*/ 3238500 w 7048500"/>
              <a:gd name="T11" fmla="*/ 53340 h 708660"/>
              <a:gd name="T12" fmla="*/ 3337560 w 7048500"/>
              <a:gd name="T13" fmla="*/ 83820 h 708660"/>
              <a:gd name="T14" fmla="*/ 3383280 w 7048500"/>
              <a:gd name="T15" fmla="*/ 129540 h 708660"/>
              <a:gd name="T16" fmla="*/ 3406140 w 7048500"/>
              <a:gd name="T17" fmla="*/ 152400 h 708660"/>
              <a:gd name="T18" fmla="*/ 3429000 w 7048500"/>
              <a:gd name="T19" fmla="*/ 198120 h 708660"/>
              <a:gd name="T20" fmla="*/ 3474720 w 7048500"/>
              <a:gd name="T21" fmla="*/ 243840 h 708660"/>
              <a:gd name="T22" fmla="*/ 3505200 w 7048500"/>
              <a:gd name="T23" fmla="*/ 281940 h 708660"/>
              <a:gd name="T24" fmla="*/ 3535680 w 7048500"/>
              <a:gd name="T25" fmla="*/ 327660 h 708660"/>
              <a:gd name="T26" fmla="*/ 3558540 w 7048500"/>
              <a:gd name="T27" fmla="*/ 358140 h 708660"/>
              <a:gd name="T28" fmla="*/ 3573780 w 7048500"/>
              <a:gd name="T29" fmla="*/ 381000 h 708660"/>
              <a:gd name="T30" fmla="*/ 3596640 w 7048500"/>
              <a:gd name="T31" fmla="*/ 396240 h 708660"/>
              <a:gd name="T32" fmla="*/ 3627120 w 7048500"/>
              <a:gd name="T33" fmla="*/ 441960 h 708660"/>
              <a:gd name="T34" fmla="*/ 3665220 w 7048500"/>
              <a:gd name="T35" fmla="*/ 480060 h 708660"/>
              <a:gd name="T36" fmla="*/ 3688080 w 7048500"/>
              <a:gd name="T37" fmla="*/ 487680 h 708660"/>
              <a:gd name="T38" fmla="*/ 3710940 w 7048500"/>
              <a:gd name="T39" fmla="*/ 502920 h 708660"/>
              <a:gd name="T40" fmla="*/ 3741420 w 7048500"/>
              <a:gd name="T41" fmla="*/ 510540 h 708660"/>
              <a:gd name="T42" fmla="*/ 3817620 w 7048500"/>
              <a:gd name="T43" fmla="*/ 525780 h 708660"/>
              <a:gd name="T44" fmla="*/ 3962400 w 7048500"/>
              <a:gd name="T45" fmla="*/ 556260 h 708660"/>
              <a:gd name="T46" fmla="*/ 4091940 w 7048500"/>
              <a:gd name="T47" fmla="*/ 571500 h 708660"/>
              <a:gd name="T48" fmla="*/ 4122420 w 7048500"/>
              <a:gd name="T49" fmla="*/ 586740 h 708660"/>
              <a:gd name="T50" fmla="*/ 4145280 w 7048500"/>
              <a:gd name="T51" fmla="*/ 601980 h 708660"/>
              <a:gd name="T52" fmla="*/ 4335780 w 7048500"/>
              <a:gd name="T53" fmla="*/ 617220 h 708660"/>
              <a:gd name="T54" fmla="*/ 4381500 w 7048500"/>
              <a:gd name="T55" fmla="*/ 624840 h 708660"/>
              <a:gd name="T56" fmla="*/ 4434840 w 7048500"/>
              <a:gd name="T57" fmla="*/ 640080 h 708660"/>
              <a:gd name="T58" fmla="*/ 4503420 w 7048500"/>
              <a:gd name="T59" fmla="*/ 647700 h 708660"/>
              <a:gd name="T60" fmla="*/ 4549140 w 7048500"/>
              <a:gd name="T61" fmla="*/ 655320 h 708660"/>
              <a:gd name="T62" fmla="*/ 4572000 w 7048500"/>
              <a:gd name="T63" fmla="*/ 662940 h 708660"/>
              <a:gd name="T64" fmla="*/ 4663440 w 7048500"/>
              <a:gd name="T65" fmla="*/ 670560 h 708660"/>
              <a:gd name="T66" fmla="*/ 4709160 w 7048500"/>
              <a:gd name="T67" fmla="*/ 685800 h 708660"/>
              <a:gd name="T68" fmla="*/ 5013960 w 7048500"/>
              <a:gd name="T69" fmla="*/ 670560 h 708660"/>
              <a:gd name="T70" fmla="*/ 5836920 w 7048500"/>
              <a:gd name="T71" fmla="*/ 685800 h 708660"/>
              <a:gd name="T72" fmla="*/ 5974080 w 7048500"/>
              <a:gd name="T73" fmla="*/ 708660 h 708660"/>
              <a:gd name="T74" fmla="*/ 6233160 w 7048500"/>
              <a:gd name="T75" fmla="*/ 693420 h 708660"/>
              <a:gd name="T76" fmla="*/ 6271260 w 7048500"/>
              <a:gd name="T77" fmla="*/ 670560 h 708660"/>
              <a:gd name="T78" fmla="*/ 6294120 w 7048500"/>
              <a:gd name="T79" fmla="*/ 662940 h 708660"/>
              <a:gd name="T80" fmla="*/ 6324600 w 7048500"/>
              <a:gd name="T81" fmla="*/ 640080 h 708660"/>
              <a:gd name="T82" fmla="*/ 6370320 w 7048500"/>
              <a:gd name="T83" fmla="*/ 601980 h 708660"/>
              <a:gd name="T84" fmla="*/ 6423660 w 7048500"/>
              <a:gd name="T85" fmla="*/ 548640 h 708660"/>
              <a:gd name="T86" fmla="*/ 6438900 w 7048500"/>
              <a:gd name="T87" fmla="*/ 525780 h 708660"/>
              <a:gd name="T88" fmla="*/ 6461760 w 7048500"/>
              <a:gd name="T89" fmla="*/ 495300 h 708660"/>
              <a:gd name="T90" fmla="*/ 6484620 w 7048500"/>
              <a:gd name="T91" fmla="*/ 480060 h 708660"/>
              <a:gd name="T92" fmla="*/ 6530340 w 7048500"/>
              <a:gd name="T93" fmla="*/ 434340 h 708660"/>
              <a:gd name="T94" fmla="*/ 6576060 w 7048500"/>
              <a:gd name="T95" fmla="*/ 388620 h 708660"/>
              <a:gd name="T96" fmla="*/ 6598920 w 7048500"/>
              <a:gd name="T97" fmla="*/ 373380 h 708660"/>
              <a:gd name="T98" fmla="*/ 7048500 w 7048500"/>
              <a:gd name="T99" fmla="*/ 373380 h 70866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048500" h="708660">
                <a:moveTo>
                  <a:pt x="0" y="0"/>
                </a:moveTo>
                <a:lnTo>
                  <a:pt x="373380" y="7620"/>
                </a:lnTo>
                <a:lnTo>
                  <a:pt x="3048000" y="22860"/>
                </a:lnTo>
                <a:cubicBezTo>
                  <a:pt x="3065960" y="23011"/>
                  <a:pt x="3083503" y="28381"/>
                  <a:pt x="3101340" y="30480"/>
                </a:cubicBezTo>
                <a:cubicBezTo>
                  <a:pt x="3126692" y="33463"/>
                  <a:pt x="3152140" y="35560"/>
                  <a:pt x="3177540" y="38100"/>
                </a:cubicBezTo>
                <a:lnTo>
                  <a:pt x="3238500" y="53340"/>
                </a:lnTo>
                <a:cubicBezTo>
                  <a:pt x="3267868" y="60682"/>
                  <a:pt x="3309310" y="68125"/>
                  <a:pt x="3337560" y="83820"/>
                </a:cubicBezTo>
                <a:cubicBezTo>
                  <a:pt x="3378345" y="106479"/>
                  <a:pt x="3358847" y="100221"/>
                  <a:pt x="3383280" y="129540"/>
                </a:cubicBezTo>
                <a:cubicBezTo>
                  <a:pt x="3390179" y="137819"/>
                  <a:pt x="3398520" y="144780"/>
                  <a:pt x="3406140" y="152400"/>
                </a:cubicBezTo>
                <a:cubicBezTo>
                  <a:pt x="3413201" y="173584"/>
                  <a:pt x="3413244" y="180394"/>
                  <a:pt x="3429000" y="198120"/>
                </a:cubicBezTo>
                <a:cubicBezTo>
                  <a:pt x="3443319" y="214229"/>
                  <a:pt x="3474720" y="243840"/>
                  <a:pt x="3474720" y="243840"/>
                </a:cubicBezTo>
                <a:cubicBezTo>
                  <a:pt x="3491880" y="295320"/>
                  <a:pt x="3468082" y="239519"/>
                  <a:pt x="3505200" y="281940"/>
                </a:cubicBezTo>
                <a:cubicBezTo>
                  <a:pt x="3517261" y="295724"/>
                  <a:pt x="3524690" y="313007"/>
                  <a:pt x="3535680" y="327660"/>
                </a:cubicBezTo>
                <a:cubicBezTo>
                  <a:pt x="3543300" y="337820"/>
                  <a:pt x="3551158" y="347806"/>
                  <a:pt x="3558540" y="358140"/>
                </a:cubicBezTo>
                <a:cubicBezTo>
                  <a:pt x="3563863" y="365592"/>
                  <a:pt x="3567304" y="374524"/>
                  <a:pt x="3573780" y="381000"/>
                </a:cubicBezTo>
                <a:cubicBezTo>
                  <a:pt x="3580256" y="387476"/>
                  <a:pt x="3589020" y="391160"/>
                  <a:pt x="3596640" y="396240"/>
                </a:cubicBezTo>
                <a:cubicBezTo>
                  <a:pt x="3610031" y="436414"/>
                  <a:pt x="3595409" y="403907"/>
                  <a:pt x="3627120" y="441960"/>
                </a:cubicBezTo>
                <a:cubicBezTo>
                  <a:pt x="3648891" y="468086"/>
                  <a:pt x="3633289" y="464094"/>
                  <a:pt x="3665220" y="480060"/>
                </a:cubicBezTo>
                <a:cubicBezTo>
                  <a:pt x="3672404" y="483652"/>
                  <a:pt x="3680896" y="484088"/>
                  <a:pt x="3688080" y="487680"/>
                </a:cubicBezTo>
                <a:cubicBezTo>
                  <a:pt x="3696271" y="491776"/>
                  <a:pt x="3702522" y="499312"/>
                  <a:pt x="3710940" y="502920"/>
                </a:cubicBezTo>
                <a:cubicBezTo>
                  <a:pt x="3720566" y="507045"/>
                  <a:pt x="3731180" y="508346"/>
                  <a:pt x="3741420" y="510540"/>
                </a:cubicBezTo>
                <a:cubicBezTo>
                  <a:pt x="3766748" y="515967"/>
                  <a:pt x="3793570" y="516160"/>
                  <a:pt x="3817620" y="525780"/>
                </a:cubicBezTo>
                <a:cubicBezTo>
                  <a:pt x="3887944" y="553910"/>
                  <a:pt x="3845140" y="540270"/>
                  <a:pt x="3962400" y="556260"/>
                </a:cubicBezTo>
                <a:cubicBezTo>
                  <a:pt x="4008481" y="562544"/>
                  <a:pt x="4045354" y="566324"/>
                  <a:pt x="4091940" y="571500"/>
                </a:cubicBezTo>
                <a:cubicBezTo>
                  <a:pt x="4102100" y="576580"/>
                  <a:pt x="4112557" y="581104"/>
                  <a:pt x="4122420" y="586740"/>
                </a:cubicBezTo>
                <a:cubicBezTo>
                  <a:pt x="4130371" y="591284"/>
                  <a:pt x="4136214" y="600685"/>
                  <a:pt x="4145280" y="601980"/>
                </a:cubicBezTo>
                <a:cubicBezTo>
                  <a:pt x="4208343" y="610989"/>
                  <a:pt x="4272280" y="612140"/>
                  <a:pt x="4335780" y="617220"/>
                </a:cubicBezTo>
                <a:cubicBezTo>
                  <a:pt x="4351020" y="619760"/>
                  <a:pt x="4366445" y="621366"/>
                  <a:pt x="4381500" y="624840"/>
                </a:cubicBezTo>
                <a:cubicBezTo>
                  <a:pt x="4399518" y="628998"/>
                  <a:pt x="4416665" y="636672"/>
                  <a:pt x="4434840" y="640080"/>
                </a:cubicBezTo>
                <a:cubicBezTo>
                  <a:pt x="4457447" y="644319"/>
                  <a:pt x="4480621" y="644660"/>
                  <a:pt x="4503420" y="647700"/>
                </a:cubicBezTo>
                <a:cubicBezTo>
                  <a:pt x="4518735" y="649742"/>
                  <a:pt x="4534058" y="651968"/>
                  <a:pt x="4549140" y="655320"/>
                </a:cubicBezTo>
                <a:cubicBezTo>
                  <a:pt x="4556981" y="657062"/>
                  <a:pt x="4564038" y="661878"/>
                  <a:pt x="4572000" y="662940"/>
                </a:cubicBezTo>
                <a:cubicBezTo>
                  <a:pt x="4602317" y="666982"/>
                  <a:pt x="4632960" y="668020"/>
                  <a:pt x="4663440" y="670560"/>
                </a:cubicBezTo>
                <a:cubicBezTo>
                  <a:pt x="4678680" y="675640"/>
                  <a:pt x="4693100" y="685427"/>
                  <a:pt x="4709160" y="685800"/>
                </a:cubicBezTo>
                <a:cubicBezTo>
                  <a:pt x="4958241" y="691593"/>
                  <a:pt x="4905404" y="706745"/>
                  <a:pt x="5013960" y="670560"/>
                </a:cubicBezTo>
                <a:lnTo>
                  <a:pt x="5836920" y="685800"/>
                </a:lnTo>
                <a:cubicBezTo>
                  <a:pt x="5857298" y="686332"/>
                  <a:pt x="5969157" y="707765"/>
                  <a:pt x="5974080" y="708660"/>
                </a:cubicBezTo>
                <a:cubicBezTo>
                  <a:pt x="6060440" y="703580"/>
                  <a:pt x="6147353" y="704421"/>
                  <a:pt x="6233160" y="693420"/>
                </a:cubicBezTo>
                <a:cubicBezTo>
                  <a:pt x="6247850" y="691537"/>
                  <a:pt x="6258013" y="677184"/>
                  <a:pt x="6271260" y="670560"/>
                </a:cubicBezTo>
                <a:cubicBezTo>
                  <a:pt x="6278444" y="666968"/>
                  <a:pt x="6286500" y="665480"/>
                  <a:pt x="6294120" y="662940"/>
                </a:cubicBezTo>
                <a:cubicBezTo>
                  <a:pt x="6304280" y="655320"/>
                  <a:pt x="6315620" y="649060"/>
                  <a:pt x="6324600" y="640080"/>
                </a:cubicBezTo>
                <a:cubicBezTo>
                  <a:pt x="6366119" y="598561"/>
                  <a:pt x="6326659" y="616534"/>
                  <a:pt x="6370320" y="601980"/>
                </a:cubicBezTo>
                <a:cubicBezTo>
                  <a:pt x="6431280" y="520700"/>
                  <a:pt x="6352540" y="619760"/>
                  <a:pt x="6423660" y="548640"/>
                </a:cubicBezTo>
                <a:cubicBezTo>
                  <a:pt x="6430136" y="542164"/>
                  <a:pt x="6433577" y="533232"/>
                  <a:pt x="6438900" y="525780"/>
                </a:cubicBezTo>
                <a:cubicBezTo>
                  <a:pt x="6446282" y="515446"/>
                  <a:pt x="6452780" y="504280"/>
                  <a:pt x="6461760" y="495300"/>
                </a:cubicBezTo>
                <a:cubicBezTo>
                  <a:pt x="6468236" y="488824"/>
                  <a:pt x="6477000" y="485140"/>
                  <a:pt x="6484620" y="480060"/>
                </a:cubicBezTo>
                <a:cubicBezTo>
                  <a:pt x="6513720" y="436409"/>
                  <a:pt x="6483082" y="476872"/>
                  <a:pt x="6530340" y="434340"/>
                </a:cubicBezTo>
                <a:cubicBezTo>
                  <a:pt x="6546360" y="419922"/>
                  <a:pt x="6558127" y="400575"/>
                  <a:pt x="6576060" y="388620"/>
                </a:cubicBezTo>
                <a:cubicBezTo>
                  <a:pt x="6583680" y="383540"/>
                  <a:pt x="6589767" y="373675"/>
                  <a:pt x="6598920" y="373380"/>
                </a:cubicBezTo>
                <a:cubicBezTo>
                  <a:pt x="6748702" y="368548"/>
                  <a:pt x="6898640" y="373380"/>
                  <a:pt x="7048500" y="373380"/>
                </a:cubicBezTo>
              </a:path>
            </a:pathLst>
          </a:custGeom>
          <a:noFill/>
          <a:ln w="12700" cap="flat" cmpd="sng" algn="ctr">
            <a:solidFill>
              <a:srgbClr val="0000FF"/>
            </a:solidFill>
            <a:prstDash val="dash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8678" name="Freeform 119">
            <a:extLst>
              <a:ext uri="{FF2B5EF4-FFF2-40B4-BE49-F238E27FC236}">
                <a16:creationId xmlns:a16="http://schemas.microsoft.com/office/drawing/2014/main" id="{F1315180-F0B3-4B61-87C9-25D99FA68BCD}"/>
              </a:ext>
            </a:extLst>
          </p:cNvPr>
          <p:cNvSpPr>
            <a:spLocks/>
          </p:cNvSpPr>
          <p:nvPr/>
        </p:nvSpPr>
        <p:spPr bwMode="auto">
          <a:xfrm flipV="1">
            <a:off x="2297393" y="2317564"/>
            <a:ext cx="7048500" cy="708025"/>
          </a:xfrm>
          <a:custGeom>
            <a:avLst/>
            <a:gdLst>
              <a:gd name="T0" fmla="*/ 0 w 7048500"/>
              <a:gd name="T1" fmla="*/ 0 h 708660"/>
              <a:gd name="T2" fmla="*/ 373380 w 7048500"/>
              <a:gd name="T3" fmla="*/ 7620 h 708660"/>
              <a:gd name="T4" fmla="*/ 3048000 w 7048500"/>
              <a:gd name="T5" fmla="*/ 22860 h 708660"/>
              <a:gd name="T6" fmla="*/ 3101340 w 7048500"/>
              <a:gd name="T7" fmla="*/ 30480 h 708660"/>
              <a:gd name="T8" fmla="*/ 3177540 w 7048500"/>
              <a:gd name="T9" fmla="*/ 38100 h 708660"/>
              <a:gd name="T10" fmla="*/ 3238500 w 7048500"/>
              <a:gd name="T11" fmla="*/ 53340 h 708660"/>
              <a:gd name="T12" fmla="*/ 3337560 w 7048500"/>
              <a:gd name="T13" fmla="*/ 83820 h 708660"/>
              <a:gd name="T14" fmla="*/ 3383280 w 7048500"/>
              <a:gd name="T15" fmla="*/ 129540 h 708660"/>
              <a:gd name="T16" fmla="*/ 3406140 w 7048500"/>
              <a:gd name="T17" fmla="*/ 152400 h 708660"/>
              <a:gd name="T18" fmla="*/ 3429000 w 7048500"/>
              <a:gd name="T19" fmla="*/ 198120 h 708660"/>
              <a:gd name="T20" fmla="*/ 3474720 w 7048500"/>
              <a:gd name="T21" fmla="*/ 243840 h 708660"/>
              <a:gd name="T22" fmla="*/ 3505200 w 7048500"/>
              <a:gd name="T23" fmla="*/ 281940 h 708660"/>
              <a:gd name="T24" fmla="*/ 3535680 w 7048500"/>
              <a:gd name="T25" fmla="*/ 327660 h 708660"/>
              <a:gd name="T26" fmla="*/ 3558540 w 7048500"/>
              <a:gd name="T27" fmla="*/ 358140 h 708660"/>
              <a:gd name="T28" fmla="*/ 3573780 w 7048500"/>
              <a:gd name="T29" fmla="*/ 381000 h 708660"/>
              <a:gd name="T30" fmla="*/ 3596640 w 7048500"/>
              <a:gd name="T31" fmla="*/ 396240 h 708660"/>
              <a:gd name="T32" fmla="*/ 3627120 w 7048500"/>
              <a:gd name="T33" fmla="*/ 441960 h 708660"/>
              <a:gd name="T34" fmla="*/ 3665220 w 7048500"/>
              <a:gd name="T35" fmla="*/ 480060 h 708660"/>
              <a:gd name="T36" fmla="*/ 3688080 w 7048500"/>
              <a:gd name="T37" fmla="*/ 487680 h 708660"/>
              <a:gd name="T38" fmla="*/ 3710940 w 7048500"/>
              <a:gd name="T39" fmla="*/ 502920 h 708660"/>
              <a:gd name="T40" fmla="*/ 3741420 w 7048500"/>
              <a:gd name="T41" fmla="*/ 510540 h 708660"/>
              <a:gd name="T42" fmla="*/ 3817620 w 7048500"/>
              <a:gd name="T43" fmla="*/ 525780 h 708660"/>
              <a:gd name="T44" fmla="*/ 3962400 w 7048500"/>
              <a:gd name="T45" fmla="*/ 556260 h 708660"/>
              <a:gd name="T46" fmla="*/ 4091940 w 7048500"/>
              <a:gd name="T47" fmla="*/ 571500 h 708660"/>
              <a:gd name="T48" fmla="*/ 4122420 w 7048500"/>
              <a:gd name="T49" fmla="*/ 586740 h 708660"/>
              <a:gd name="T50" fmla="*/ 4145280 w 7048500"/>
              <a:gd name="T51" fmla="*/ 601980 h 708660"/>
              <a:gd name="T52" fmla="*/ 4335780 w 7048500"/>
              <a:gd name="T53" fmla="*/ 617220 h 708660"/>
              <a:gd name="T54" fmla="*/ 4381500 w 7048500"/>
              <a:gd name="T55" fmla="*/ 624840 h 708660"/>
              <a:gd name="T56" fmla="*/ 4434840 w 7048500"/>
              <a:gd name="T57" fmla="*/ 640080 h 708660"/>
              <a:gd name="T58" fmla="*/ 4503420 w 7048500"/>
              <a:gd name="T59" fmla="*/ 647700 h 708660"/>
              <a:gd name="T60" fmla="*/ 4549140 w 7048500"/>
              <a:gd name="T61" fmla="*/ 655320 h 708660"/>
              <a:gd name="T62" fmla="*/ 4572000 w 7048500"/>
              <a:gd name="T63" fmla="*/ 662940 h 708660"/>
              <a:gd name="T64" fmla="*/ 4663440 w 7048500"/>
              <a:gd name="T65" fmla="*/ 670560 h 708660"/>
              <a:gd name="T66" fmla="*/ 4709160 w 7048500"/>
              <a:gd name="T67" fmla="*/ 685800 h 708660"/>
              <a:gd name="T68" fmla="*/ 5013960 w 7048500"/>
              <a:gd name="T69" fmla="*/ 670560 h 708660"/>
              <a:gd name="T70" fmla="*/ 5836920 w 7048500"/>
              <a:gd name="T71" fmla="*/ 685800 h 708660"/>
              <a:gd name="T72" fmla="*/ 5974080 w 7048500"/>
              <a:gd name="T73" fmla="*/ 708660 h 708660"/>
              <a:gd name="T74" fmla="*/ 6233160 w 7048500"/>
              <a:gd name="T75" fmla="*/ 693420 h 708660"/>
              <a:gd name="T76" fmla="*/ 6271260 w 7048500"/>
              <a:gd name="T77" fmla="*/ 670560 h 708660"/>
              <a:gd name="T78" fmla="*/ 6294120 w 7048500"/>
              <a:gd name="T79" fmla="*/ 662940 h 708660"/>
              <a:gd name="T80" fmla="*/ 6324600 w 7048500"/>
              <a:gd name="T81" fmla="*/ 640080 h 708660"/>
              <a:gd name="T82" fmla="*/ 6370320 w 7048500"/>
              <a:gd name="T83" fmla="*/ 601980 h 708660"/>
              <a:gd name="T84" fmla="*/ 6423660 w 7048500"/>
              <a:gd name="T85" fmla="*/ 548640 h 708660"/>
              <a:gd name="T86" fmla="*/ 6438900 w 7048500"/>
              <a:gd name="T87" fmla="*/ 525780 h 708660"/>
              <a:gd name="T88" fmla="*/ 6461760 w 7048500"/>
              <a:gd name="T89" fmla="*/ 495300 h 708660"/>
              <a:gd name="T90" fmla="*/ 6484620 w 7048500"/>
              <a:gd name="T91" fmla="*/ 480060 h 708660"/>
              <a:gd name="T92" fmla="*/ 6530340 w 7048500"/>
              <a:gd name="T93" fmla="*/ 434340 h 708660"/>
              <a:gd name="T94" fmla="*/ 6576060 w 7048500"/>
              <a:gd name="T95" fmla="*/ 388620 h 708660"/>
              <a:gd name="T96" fmla="*/ 6598920 w 7048500"/>
              <a:gd name="T97" fmla="*/ 373380 h 708660"/>
              <a:gd name="T98" fmla="*/ 7048500 w 7048500"/>
              <a:gd name="T99" fmla="*/ 373380 h 70866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048500" h="708660">
                <a:moveTo>
                  <a:pt x="0" y="0"/>
                </a:moveTo>
                <a:lnTo>
                  <a:pt x="373380" y="7620"/>
                </a:lnTo>
                <a:lnTo>
                  <a:pt x="3048000" y="22860"/>
                </a:lnTo>
                <a:cubicBezTo>
                  <a:pt x="3065960" y="23011"/>
                  <a:pt x="3083503" y="28381"/>
                  <a:pt x="3101340" y="30480"/>
                </a:cubicBezTo>
                <a:cubicBezTo>
                  <a:pt x="3126692" y="33463"/>
                  <a:pt x="3152140" y="35560"/>
                  <a:pt x="3177540" y="38100"/>
                </a:cubicBezTo>
                <a:lnTo>
                  <a:pt x="3238500" y="53340"/>
                </a:lnTo>
                <a:cubicBezTo>
                  <a:pt x="3267868" y="60682"/>
                  <a:pt x="3309310" y="68125"/>
                  <a:pt x="3337560" y="83820"/>
                </a:cubicBezTo>
                <a:cubicBezTo>
                  <a:pt x="3378345" y="106479"/>
                  <a:pt x="3358847" y="100221"/>
                  <a:pt x="3383280" y="129540"/>
                </a:cubicBezTo>
                <a:cubicBezTo>
                  <a:pt x="3390179" y="137819"/>
                  <a:pt x="3398520" y="144780"/>
                  <a:pt x="3406140" y="152400"/>
                </a:cubicBezTo>
                <a:cubicBezTo>
                  <a:pt x="3413201" y="173584"/>
                  <a:pt x="3413244" y="180394"/>
                  <a:pt x="3429000" y="198120"/>
                </a:cubicBezTo>
                <a:cubicBezTo>
                  <a:pt x="3443319" y="214229"/>
                  <a:pt x="3474720" y="243840"/>
                  <a:pt x="3474720" y="243840"/>
                </a:cubicBezTo>
                <a:cubicBezTo>
                  <a:pt x="3491880" y="295320"/>
                  <a:pt x="3468082" y="239519"/>
                  <a:pt x="3505200" y="281940"/>
                </a:cubicBezTo>
                <a:cubicBezTo>
                  <a:pt x="3517261" y="295724"/>
                  <a:pt x="3524690" y="313007"/>
                  <a:pt x="3535680" y="327660"/>
                </a:cubicBezTo>
                <a:cubicBezTo>
                  <a:pt x="3543300" y="337820"/>
                  <a:pt x="3551158" y="347806"/>
                  <a:pt x="3558540" y="358140"/>
                </a:cubicBezTo>
                <a:cubicBezTo>
                  <a:pt x="3563863" y="365592"/>
                  <a:pt x="3567304" y="374524"/>
                  <a:pt x="3573780" y="381000"/>
                </a:cubicBezTo>
                <a:cubicBezTo>
                  <a:pt x="3580256" y="387476"/>
                  <a:pt x="3589020" y="391160"/>
                  <a:pt x="3596640" y="396240"/>
                </a:cubicBezTo>
                <a:cubicBezTo>
                  <a:pt x="3610031" y="436414"/>
                  <a:pt x="3595409" y="403907"/>
                  <a:pt x="3627120" y="441960"/>
                </a:cubicBezTo>
                <a:cubicBezTo>
                  <a:pt x="3648891" y="468086"/>
                  <a:pt x="3633289" y="464094"/>
                  <a:pt x="3665220" y="480060"/>
                </a:cubicBezTo>
                <a:cubicBezTo>
                  <a:pt x="3672404" y="483652"/>
                  <a:pt x="3680896" y="484088"/>
                  <a:pt x="3688080" y="487680"/>
                </a:cubicBezTo>
                <a:cubicBezTo>
                  <a:pt x="3696271" y="491776"/>
                  <a:pt x="3702522" y="499312"/>
                  <a:pt x="3710940" y="502920"/>
                </a:cubicBezTo>
                <a:cubicBezTo>
                  <a:pt x="3720566" y="507045"/>
                  <a:pt x="3731180" y="508346"/>
                  <a:pt x="3741420" y="510540"/>
                </a:cubicBezTo>
                <a:cubicBezTo>
                  <a:pt x="3766748" y="515967"/>
                  <a:pt x="3793570" y="516160"/>
                  <a:pt x="3817620" y="525780"/>
                </a:cubicBezTo>
                <a:cubicBezTo>
                  <a:pt x="3887944" y="553910"/>
                  <a:pt x="3845140" y="540270"/>
                  <a:pt x="3962400" y="556260"/>
                </a:cubicBezTo>
                <a:cubicBezTo>
                  <a:pt x="4008481" y="562544"/>
                  <a:pt x="4045354" y="566324"/>
                  <a:pt x="4091940" y="571500"/>
                </a:cubicBezTo>
                <a:cubicBezTo>
                  <a:pt x="4102100" y="576580"/>
                  <a:pt x="4112557" y="581104"/>
                  <a:pt x="4122420" y="586740"/>
                </a:cubicBezTo>
                <a:cubicBezTo>
                  <a:pt x="4130371" y="591284"/>
                  <a:pt x="4136214" y="600685"/>
                  <a:pt x="4145280" y="601980"/>
                </a:cubicBezTo>
                <a:cubicBezTo>
                  <a:pt x="4208343" y="610989"/>
                  <a:pt x="4272280" y="612140"/>
                  <a:pt x="4335780" y="617220"/>
                </a:cubicBezTo>
                <a:cubicBezTo>
                  <a:pt x="4351020" y="619760"/>
                  <a:pt x="4366445" y="621366"/>
                  <a:pt x="4381500" y="624840"/>
                </a:cubicBezTo>
                <a:cubicBezTo>
                  <a:pt x="4399518" y="628998"/>
                  <a:pt x="4416665" y="636672"/>
                  <a:pt x="4434840" y="640080"/>
                </a:cubicBezTo>
                <a:cubicBezTo>
                  <a:pt x="4457447" y="644319"/>
                  <a:pt x="4480621" y="644660"/>
                  <a:pt x="4503420" y="647700"/>
                </a:cubicBezTo>
                <a:cubicBezTo>
                  <a:pt x="4518735" y="649742"/>
                  <a:pt x="4534058" y="651968"/>
                  <a:pt x="4549140" y="655320"/>
                </a:cubicBezTo>
                <a:cubicBezTo>
                  <a:pt x="4556981" y="657062"/>
                  <a:pt x="4564038" y="661878"/>
                  <a:pt x="4572000" y="662940"/>
                </a:cubicBezTo>
                <a:cubicBezTo>
                  <a:pt x="4602317" y="666982"/>
                  <a:pt x="4632960" y="668020"/>
                  <a:pt x="4663440" y="670560"/>
                </a:cubicBezTo>
                <a:cubicBezTo>
                  <a:pt x="4678680" y="675640"/>
                  <a:pt x="4693100" y="685427"/>
                  <a:pt x="4709160" y="685800"/>
                </a:cubicBezTo>
                <a:cubicBezTo>
                  <a:pt x="4958241" y="691593"/>
                  <a:pt x="4905404" y="706745"/>
                  <a:pt x="5013960" y="670560"/>
                </a:cubicBezTo>
                <a:lnTo>
                  <a:pt x="5836920" y="685800"/>
                </a:lnTo>
                <a:cubicBezTo>
                  <a:pt x="5857298" y="686332"/>
                  <a:pt x="5969157" y="707765"/>
                  <a:pt x="5974080" y="708660"/>
                </a:cubicBezTo>
                <a:cubicBezTo>
                  <a:pt x="6060440" y="703580"/>
                  <a:pt x="6147353" y="704421"/>
                  <a:pt x="6233160" y="693420"/>
                </a:cubicBezTo>
                <a:cubicBezTo>
                  <a:pt x="6247850" y="691537"/>
                  <a:pt x="6258013" y="677184"/>
                  <a:pt x="6271260" y="670560"/>
                </a:cubicBezTo>
                <a:cubicBezTo>
                  <a:pt x="6278444" y="666968"/>
                  <a:pt x="6286500" y="665480"/>
                  <a:pt x="6294120" y="662940"/>
                </a:cubicBezTo>
                <a:cubicBezTo>
                  <a:pt x="6304280" y="655320"/>
                  <a:pt x="6315620" y="649060"/>
                  <a:pt x="6324600" y="640080"/>
                </a:cubicBezTo>
                <a:cubicBezTo>
                  <a:pt x="6366119" y="598561"/>
                  <a:pt x="6326659" y="616534"/>
                  <a:pt x="6370320" y="601980"/>
                </a:cubicBezTo>
                <a:cubicBezTo>
                  <a:pt x="6431280" y="520700"/>
                  <a:pt x="6352540" y="619760"/>
                  <a:pt x="6423660" y="548640"/>
                </a:cubicBezTo>
                <a:cubicBezTo>
                  <a:pt x="6430136" y="542164"/>
                  <a:pt x="6433577" y="533232"/>
                  <a:pt x="6438900" y="525780"/>
                </a:cubicBezTo>
                <a:cubicBezTo>
                  <a:pt x="6446282" y="515446"/>
                  <a:pt x="6452780" y="504280"/>
                  <a:pt x="6461760" y="495300"/>
                </a:cubicBezTo>
                <a:cubicBezTo>
                  <a:pt x="6468236" y="488824"/>
                  <a:pt x="6477000" y="485140"/>
                  <a:pt x="6484620" y="480060"/>
                </a:cubicBezTo>
                <a:cubicBezTo>
                  <a:pt x="6513720" y="436409"/>
                  <a:pt x="6483082" y="476872"/>
                  <a:pt x="6530340" y="434340"/>
                </a:cubicBezTo>
                <a:cubicBezTo>
                  <a:pt x="6546360" y="419922"/>
                  <a:pt x="6558127" y="400575"/>
                  <a:pt x="6576060" y="388620"/>
                </a:cubicBezTo>
                <a:cubicBezTo>
                  <a:pt x="6583680" y="383540"/>
                  <a:pt x="6589767" y="373675"/>
                  <a:pt x="6598920" y="373380"/>
                </a:cubicBezTo>
                <a:cubicBezTo>
                  <a:pt x="6748702" y="368548"/>
                  <a:pt x="6898640" y="373380"/>
                  <a:pt x="7048500" y="373380"/>
                </a:cubicBezTo>
              </a:path>
            </a:pathLst>
          </a:custGeom>
          <a:noFill/>
          <a:ln w="12700" cap="flat" cmpd="sng" algn="ctr">
            <a:solidFill>
              <a:srgbClr val="0000FF"/>
            </a:solidFill>
            <a:prstDash val="dash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8679" name="Freeform 176">
            <a:extLst>
              <a:ext uri="{FF2B5EF4-FFF2-40B4-BE49-F238E27FC236}">
                <a16:creationId xmlns:a16="http://schemas.microsoft.com/office/drawing/2014/main" id="{E8A6B861-1221-4FB3-823B-DF5FA4F184D9}"/>
              </a:ext>
            </a:extLst>
          </p:cNvPr>
          <p:cNvSpPr>
            <a:spLocks/>
          </p:cNvSpPr>
          <p:nvPr/>
        </p:nvSpPr>
        <p:spPr bwMode="auto">
          <a:xfrm>
            <a:off x="2349782" y="2917638"/>
            <a:ext cx="7064375" cy="565150"/>
          </a:xfrm>
          <a:custGeom>
            <a:avLst/>
            <a:gdLst/>
            <a:ahLst/>
            <a:cxnLst/>
            <a:rect l="0" t="0" r="r" b="b"/>
            <a:pathLst>
              <a:path w="7063740" h="564442">
                <a:moveTo>
                  <a:pt x="0" y="564442"/>
                </a:moveTo>
                <a:lnTo>
                  <a:pt x="2080260" y="556822"/>
                </a:lnTo>
                <a:cubicBezTo>
                  <a:pt x="2151558" y="556111"/>
                  <a:pt x="2222470" y="546222"/>
                  <a:pt x="2293620" y="541582"/>
                </a:cubicBezTo>
                <a:lnTo>
                  <a:pt x="2430780" y="533962"/>
                </a:lnTo>
                <a:cubicBezTo>
                  <a:pt x="2519753" y="527247"/>
                  <a:pt x="2697480" y="511102"/>
                  <a:pt x="2697480" y="511102"/>
                </a:cubicBezTo>
                <a:cubicBezTo>
                  <a:pt x="2712720" y="506022"/>
                  <a:pt x="2727411" y="498822"/>
                  <a:pt x="2743200" y="495862"/>
                </a:cubicBezTo>
                <a:cubicBezTo>
                  <a:pt x="2877908" y="470604"/>
                  <a:pt x="2779288" y="501613"/>
                  <a:pt x="2842260" y="480622"/>
                </a:cubicBezTo>
                <a:cubicBezTo>
                  <a:pt x="2849880" y="473002"/>
                  <a:pt x="2855764" y="463109"/>
                  <a:pt x="2865120" y="457762"/>
                </a:cubicBezTo>
                <a:cubicBezTo>
                  <a:pt x="2874213" y="452566"/>
                  <a:pt x="2887555" y="456846"/>
                  <a:pt x="2895600" y="450142"/>
                </a:cubicBezTo>
                <a:cubicBezTo>
                  <a:pt x="2958374" y="397831"/>
                  <a:pt x="2868992" y="433611"/>
                  <a:pt x="2933700" y="412042"/>
                </a:cubicBezTo>
                <a:cubicBezTo>
                  <a:pt x="2941320" y="404422"/>
                  <a:pt x="2949547" y="397364"/>
                  <a:pt x="2956560" y="389182"/>
                </a:cubicBezTo>
                <a:cubicBezTo>
                  <a:pt x="2964825" y="379539"/>
                  <a:pt x="2969664" y="366832"/>
                  <a:pt x="2979420" y="358702"/>
                </a:cubicBezTo>
                <a:cubicBezTo>
                  <a:pt x="2985590" y="353560"/>
                  <a:pt x="2994660" y="353622"/>
                  <a:pt x="3002280" y="351082"/>
                </a:cubicBezTo>
                <a:cubicBezTo>
                  <a:pt x="3007360" y="343462"/>
                  <a:pt x="3011044" y="334698"/>
                  <a:pt x="3017520" y="328222"/>
                </a:cubicBezTo>
                <a:cubicBezTo>
                  <a:pt x="3045155" y="300587"/>
                  <a:pt x="3037989" y="324636"/>
                  <a:pt x="3070860" y="297742"/>
                </a:cubicBezTo>
                <a:cubicBezTo>
                  <a:pt x="3090321" y="281819"/>
                  <a:pt x="3101710" y="255647"/>
                  <a:pt x="3124200" y="244402"/>
                </a:cubicBezTo>
                <a:cubicBezTo>
                  <a:pt x="3134360" y="239322"/>
                  <a:pt x="3145437" y="235764"/>
                  <a:pt x="3154680" y="229162"/>
                </a:cubicBezTo>
                <a:cubicBezTo>
                  <a:pt x="3163449" y="222898"/>
                  <a:pt x="3170641" y="214581"/>
                  <a:pt x="3177540" y="206302"/>
                </a:cubicBezTo>
                <a:cubicBezTo>
                  <a:pt x="3183403" y="199267"/>
                  <a:pt x="3185629" y="189163"/>
                  <a:pt x="3192780" y="183442"/>
                </a:cubicBezTo>
                <a:cubicBezTo>
                  <a:pt x="3199052" y="178424"/>
                  <a:pt x="3208020" y="178362"/>
                  <a:pt x="3215640" y="175822"/>
                </a:cubicBezTo>
                <a:cubicBezTo>
                  <a:pt x="3226885" y="158954"/>
                  <a:pt x="3236139" y="141836"/>
                  <a:pt x="3253740" y="130102"/>
                </a:cubicBezTo>
                <a:cubicBezTo>
                  <a:pt x="3260423" y="125647"/>
                  <a:pt x="3269217" y="125646"/>
                  <a:pt x="3276600" y="122482"/>
                </a:cubicBezTo>
                <a:cubicBezTo>
                  <a:pt x="3287041" y="118007"/>
                  <a:pt x="3297447" y="113262"/>
                  <a:pt x="3307080" y="107242"/>
                </a:cubicBezTo>
                <a:cubicBezTo>
                  <a:pt x="3317850" y="100511"/>
                  <a:pt x="3327156" y="91665"/>
                  <a:pt x="3337560" y="84382"/>
                </a:cubicBezTo>
                <a:cubicBezTo>
                  <a:pt x="3352565" y="73878"/>
                  <a:pt x="3370328" y="66854"/>
                  <a:pt x="3383280" y="53902"/>
                </a:cubicBezTo>
                <a:cubicBezTo>
                  <a:pt x="3390900" y="46282"/>
                  <a:pt x="3396292" y="35419"/>
                  <a:pt x="3406140" y="31042"/>
                </a:cubicBezTo>
                <a:cubicBezTo>
                  <a:pt x="3420259" y="24767"/>
                  <a:pt x="3436620" y="25962"/>
                  <a:pt x="3451860" y="23422"/>
                </a:cubicBezTo>
                <a:cubicBezTo>
                  <a:pt x="3462020" y="15802"/>
                  <a:pt x="3469887" y="3053"/>
                  <a:pt x="3482340" y="562"/>
                </a:cubicBezTo>
                <a:cubicBezTo>
                  <a:pt x="3499103" y="-2791"/>
                  <a:pt x="3532575" y="9687"/>
                  <a:pt x="3550920" y="15802"/>
                </a:cubicBezTo>
                <a:cubicBezTo>
                  <a:pt x="3558540" y="25962"/>
                  <a:pt x="3565515" y="36639"/>
                  <a:pt x="3573780" y="46282"/>
                </a:cubicBezTo>
                <a:cubicBezTo>
                  <a:pt x="3580793" y="54464"/>
                  <a:pt x="3590662" y="60176"/>
                  <a:pt x="3596640" y="69142"/>
                </a:cubicBezTo>
                <a:cubicBezTo>
                  <a:pt x="3631946" y="122101"/>
                  <a:pt x="3571539" y="60906"/>
                  <a:pt x="3619500" y="114862"/>
                </a:cubicBezTo>
                <a:cubicBezTo>
                  <a:pt x="3633819" y="130971"/>
                  <a:pt x="3649980" y="145342"/>
                  <a:pt x="3665220" y="160582"/>
                </a:cubicBezTo>
                <a:lnTo>
                  <a:pt x="3688080" y="183442"/>
                </a:lnTo>
                <a:cubicBezTo>
                  <a:pt x="3707804" y="203166"/>
                  <a:pt x="3729317" y="227668"/>
                  <a:pt x="3756660" y="236782"/>
                </a:cubicBezTo>
                <a:lnTo>
                  <a:pt x="3779520" y="244402"/>
                </a:lnTo>
                <a:cubicBezTo>
                  <a:pt x="3789680" y="252022"/>
                  <a:pt x="3798438" y="262007"/>
                  <a:pt x="3810000" y="267262"/>
                </a:cubicBezTo>
                <a:cubicBezTo>
                  <a:pt x="3826834" y="274914"/>
                  <a:pt x="3845628" y="277189"/>
                  <a:pt x="3863340" y="282502"/>
                </a:cubicBezTo>
                <a:cubicBezTo>
                  <a:pt x="3936856" y="304557"/>
                  <a:pt x="3809032" y="270434"/>
                  <a:pt x="3931920" y="297742"/>
                </a:cubicBezTo>
                <a:cubicBezTo>
                  <a:pt x="4083068" y="331330"/>
                  <a:pt x="3728284" y="263488"/>
                  <a:pt x="4000500" y="312982"/>
                </a:cubicBezTo>
                <a:cubicBezTo>
                  <a:pt x="4013243" y="315299"/>
                  <a:pt x="4025665" y="319955"/>
                  <a:pt x="4038600" y="320602"/>
                </a:cubicBezTo>
                <a:cubicBezTo>
                  <a:pt x="4127425" y="325043"/>
                  <a:pt x="4216374" y="326864"/>
                  <a:pt x="4305300" y="328222"/>
                </a:cubicBezTo>
                <a:lnTo>
                  <a:pt x="5036820" y="335842"/>
                </a:lnTo>
                <a:cubicBezTo>
                  <a:pt x="5074124" y="339233"/>
                  <a:pt x="5141641" y="344422"/>
                  <a:pt x="5181600" y="351082"/>
                </a:cubicBezTo>
                <a:cubicBezTo>
                  <a:pt x="5191930" y="352804"/>
                  <a:pt x="5202010" y="355825"/>
                  <a:pt x="5212080" y="358702"/>
                </a:cubicBezTo>
                <a:cubicBezTo>
                  <a:pt x="5219803" y="360909"/>
                  <a:pt x="5226989" y="365186"/>
                  <a:pt x="5234940" y="366322"/>
                </a:cubicBezTo>
                <a:cubicBezTo>
                  <a:pt x="5273710" y="371861"/>
                  <a:pt x="5403840" y="379614"/>
                  <a:pt x="5433060" y="381562"/>
                </a:cubicBezTo>
                <a:cubicBezTo>
                  <a:pt x="5580380" y="379022"/>
                  <a:pt x="5727850" y="381063"/>
                  <a:pt x="5875020" y="373942"/>
                </a:cubicBezTo>
                <a:cubicBezTo>
                  <a:pt x="5886366" y="373393"/>
                  <a:pt x="5895059" y="363177"/>
                  <a:pt x="5905500" y="358702"/>
                </a:cubicBezTo>
                <a:cubicBezTo>
                  <a:pt x="5932099" y="347302"/>
                  <a:pt x="5950147" y="347970"/>
                  <a:pt x="5981700" y="343462"/>
                </a:cubicBezTo>
                <a:cubicBezTo>
                  <a:pt x="6025031" y="310963"/>
                  <a:pt x="6000132" y="324618"/>
                  <a:pt x="6057900" y="305362"/>
                </a:cubicBezTo>
                <a:lnTo>
                  <a:pt x="6080760" y="297742"/>
                </a:lnTo>
                <a:cubicBezTo>
                  <a:pt x="6090920" y="290122"/>
                  <a:pt x="6100906" y="282264"/>
                  <a:pt x="6111240" y="274882"/>
                </a:cubicBezTo>
                <a:cubicBezTo>
                  <a:pt x="6118692" y="269559"/>
                  <a:pt x="6127624" y="266118"/>
                  <a:pt x="6134100" y="259642"/>
                </a:cubicBezTo>
                <a:cubicBezTo>
                  <a:pt x="6168567" y="225175"/>
                  <a:pt x="6127696" y="243997"/>
                  <a:pt x="6172200" y="229162"/>
                </a:cubicBezTo>
                <a:cubicBezTo>
                  <a:pt x="6206284" y="178037"/>
                  <a:pt x="6166133" y="228127"/>
                  <a:pt x="6210300" y="198682"/>
                </a:cubicBezTo>
                <a:cubicBezTo>
                  <a:pt x="6219266" y="192704"/>
                  <a:pt x="6224978" y="182835"/>
                  <a:pt x="6233160" y="175822"/>
                </a:cubicBezTo>
                <a:cubicBezTo>
                  <a:pt x="6242803" y="167557"/>
                  <a:pt x="6254082" y="161325"/>
                  <a:pt x="6263640" y="152962"/>
                </a:cubicBezTo>
                <a:cubicBezTo>
                  <a:pt x="6343492" y="83092"/>
                  <a:pt x="6224907" y="168624"/>
                  <a:pt x="6362700" y="76762"/>
                </a:cubicBezTo>
                <a:cubicBezTo>
                  <a:pt x="6370320" y="71682"/>
                  <a:pt x="6376872" y="64418"/>
                  <a:pt x="6385560" y="61522"/>
                </a:cubicBezTo>
                <a:cubicBezTo>
                  <a:pt x="6393180" y="58982"/>
                  <a:pt x="6401399" y="57803"/>
                  <a:pt x="6408420" y="53902"/>
                </a:cubicBezTo>
                <a:cubicBezTo>
                  <a:pt x="6424431" y="45007"/>
                  <a:pt x="6436371" y="27864"/>
                  <a:pt x="6454140" y="23422"/>
                </a:cubicBezTo>
                <a:cubicBezTo>
                  <a:pt x="6464300" y="20882"/>
                  <a:pt x="6474550" y="18679"/>
                  <a:pt x="6484620" y="15802"/>
                </a:cubicBezTo>
                <a:cubicBezTo>
                  <a:pt x="6492343" y="13595"/>
                  <a:pt x="6499604" y="9757"/>
                  <a:pt x="6507480" y="8182"/>
                </a:cubicBezTo>
                <a:cubicBezTo>
                  <a:pt x="6525092" y="4660"/>
                  <a:pt x="6543040" y="3102"/>
                  <a:pt x="6560820" y="562"/>
                </a:cubicBezTo>
                <a:lnTo>
                  <a:pt x="6774180" y="15802"/>
                </a:lnTo>
                <a:cubicBezTo>
                  <a:pt x="6789570" y="17160"/>
                  <a:pt x="6804793" y="20185"/>
                  <a:pt x="6819900" y="23422"/>
                </a:cubicBezTo>
                <a:cubicBezTo>
                  <a:pt x="6840380" y="27811"/>
                  <a:pt x="6859955" y="37355"/>
                  <a:pt x="6880860" y="38662"/>
                </a:cubicBezTo>
                <a:cubicBezTo>
                  <a:pt x="6941701" y="42465"/>
                  <a:pt x="7002780" y="38662"/>
                  <a:pt x="7063740" y="38662"/>
                </a:cubicBezTo>
              </a:path>
            </a:pathLst>
          </a:custGeom>
          <a:noFill/>
          <a:ln w="12700" cap="flat" cmpd="sng" algn="ctr">
            <a:solidFill>
              <a:srgbClr val="0000FF"/>
            </a:solidFill>
            <a:prstDash val="dash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solidFill>
                <a:schemeClr val="bg1"/>
              </a:solidFill>
            </a:endParaRPr>
          </a:p>
        </p:txBody>
      </p:sp>
      <p:sp>
        <p:nvSpPr>
          <p:cNvPr id="28680" name="Freeform 177">
            <a:extLst>
              <a:ext uri="{FF2B5EF4-FFF2-40B4-BE49-F238E27FC236}">
                <a16:creationId xmlns:a16="http://schemas.microsoft.com/office/drawing/2014/main" id="{504DAD6A-8B02-44F8-AF59-EC61D0C3136B}"/>
              </a:ext>
            </a:extLst>
          </p:cNvPr>
          <p:cNvSpPr>
            <a:spLocks/>
          </p:cNvSpPr>
          <p:nvPr/>
        </p:nvSpPr>
        <p:spPr bwMode="auto">
          <a:xfrm flipV="1">
            <a:off x="2324382" y="1968313"/>
            <a:ext cx="7064375" cy="565150"/>
          </a:xfrm>
          <a:custGeom>
            <a:avLst/>
            <a:gdLst/>
            <a:ahLst/>
            <a:cxnLst/>
            <a:rect l="0" t="0" r="r" b="b"/>
            <a:pathLst>
              <a:path w="7063740" h="564442">
                <a:moveTo>
                  <a:pt x="0" y="564442"/>
                </a:moveTo>
                <a:lnTo>
                  <a:pt x="2080260" y="556822"/>
                </a:lnTo>
                <a:cubicBezTo>
                  <a:pt x="2151558" y="556111"/>
                  <a:pt x="2222470" y="546222"/>
                  <a:pt x="2293620" y="541582"/>
                </a:cubicBezTo>
                <a:lnTo>
                  <a:pt x="2430780" y="533962"/>
                </a:lnTo>
                <a:cubicBezTo>
                  <a:pt x="2519753" y="527247"/>
                  <a:pt x="2697480" y="511102"/>
                  <a:pt x="2697480" y="511102"/>
                </a:cubicBezTo>
                <a:cubicBezTo>
                  <a:pt x="2712720" y="506022"/>
                  <a:pt x="2727411" y="498822"/>
                  <a:pt x="2743200" y="495862"/>
                </a:cubicBezTo>
                <a:cubicBezTo>
                  <a:pt x="2877908" y="470604"/>
                  <a:pt x="2779288" y="501613"/>
                  <a:pt x="2842260" y="480622"/>
                </a:cubicBezTo>
                <a:cubicBezTo>
                  <a:pt x="2849880" y="473002"/>
                  <a:pt x="2855764" y="463109"/>
                  <a:pt x="2865120" y="457762"/>
                </a:cubicBezTo>
                <a:cubicBezTo>
                  <a:pt x="2874213" y="452566"/>
                  <a:pt x="2887555" y="456846"/>
                  <a:pt x="2895600" y="450142"/>
                </a:cubicBezTo>
                <a:cubicBezTo>
                  <a:pt x="2958374" y="397831"/>
                  <a:pt x="2868992" y="433611"/>
                  <a:pt x="2933700" y="412042"/>
                </a:cubicBezTo>
                <a:cubicBezTo>
                  <a:pt x="2941320" y="404422"/>
                  <a:pt x="2949547" y="397364"/>
                  <a:pt x="2956560" y="389182"/>
                </a:cubicBezTo>
                <a:cubicBezTo>
                  <a:pt x="2964825" y="379539"/>
                  <a:pt x="2969664" y="366832"/>
                  <a:pt x="2979420" y="358702"/>
                </a:cubicBezTo>
                <a:cubicBezTo>
                  <a:pt x="2985590" y="353560"/>
                  <a:pt x="2994660" y="353622"/>
                  <a:pt x="3002280" y="351082"/>
                </a:cubicBezTo>
                <a:cubicBezTo>
                  <a:pt x="3007360" y="343462"/>
                  <a:pt x="3011044" y="334698"/>
                  <a:pt x="3017520" y="328222"/>
                </a:cubicBezTo>
                <a:cubicBezTo>
                  <a:pt x="3045155" y="300587"/>
                  <a:pt x="3037989" y="324636"/>
                  <a:pt x="3070860" y="297742"/>
                </a:cubicBezTo>
                <a:cubicBezTo>
                  <a:pt x="3090321" y="281819"/>
                  <a:pt x="3101710" y="255647"/>
                  <a:pt x="3124200" y="244402"/>
                </a:cubicBezTo>
                <a:cubicBezTo>
                  <a:pt x="3134360" y="239322"/>
                  <a:pt x="3145437" y="235764"/>
                  <a:pt x="3154680" y="229162"/>
                </a:cubicBezTo>
                <a:cubicBezTo>
                  <a:pt x="3163449" y="222898"/>
                  <a:pt x="3170641" y="214581"/>
                  <a:pt x="3177540" y="206302"/>
                </a:cubicBezTo>
                <a:cubicBezTo>
                  <a:pt x="3183403" y="199267"/>
                  <a:pt x="3185629" y="189163"/>
                  <a:pt x="3192780" y="183442"/>
                </a:cubicBezTo>
                <a:cubicBezTo>
                  <a:pt x="3199052" y="178424"/>
                  <a:pt x="3208020" y="178362"/>
                  <a:pt x="3215640" y="175822"/>
                </a:cubicBezTo>
                <a:cubicBezTo>
                  <a:pt x="3226885" y="158954"/>
                  <a:pt x="3236139" y="141836"/>
                  <a:pt x="3253740" y="130102"/>
                </a:cubicBezTo>
                <a:cubicBezTo>
                  <a:pt x="3260423" y="125647"/>
                  <a:pt x="3269217" y="125646"/>
                  <a:pt x="3276600" y="122482"/>
                </a:cubicBezTo>
                <a:cubicBezTo>
                  <a:pt x="3287041" y="118007"/>
                  <a:pt x="3297447" y="113262"/>
                  <a:pt x="3307080" y="107242"/>
                </a:cubicBezTo>
                <a:cubicBezTo>
                  <a:pt x="3317850" y="100511"/>
                  <a:pt x="3327156" y="91665"/>
                  <a:pt x="3337560" y="84382"/>
                </a:cubicBezTo>
                <a:cubicBezTo>
                  <a:pt x="3352565" y="73878"/>
                  <a:pt x="3370328" y="66854"/>
                  <a:pt x="3383280" y="53902"/>
                </a:cubicBezTo>
                <a:cubicBezTo>
                  <a:pt x="3390900" y="46282"/>
                  <a:pt x="3396292" y="35419"/>
                  <a:pt x="3406140" y="31042"/>
                </a:cubicBezTo>
                <a:cubicBezTo>
                  <a:pt x="3420259" y="24767"/>
                  <a:pt x="3436620" y="25962"/>
                  <a:pt x="3451860" y="23422"/>
                </a:cubicBezTo>
                <a:cubicBezTo>
                  <a:pt x="3462020" y="15802"/>
                  <a:pt x="3469887" y="3053"/>
                  <a:pt x="3482340" y="562"/>
                </a:cubicBezTo>
                <a:cubicBezTo>
                  <a:pt x="3499103" y="-2791"/>
                  <a:pt x="3532575" y="9687"/>
                  <a:pt x="3550920" y="15802"/>
                </a:cubicBezTo>
                <a:cubicBezTo>
                  <a:pt x="3558540" y="25962"/>
                  <a:pt x="3565515" y="36639"/>
                  <a:pt x="3573780" y="46282"/>
                </a:cubicBezTo>
                <a:cubicBezTo>
                  <a:pt x="3580793" y="54464"/>
                  <a:pt x="3590662" y="60176"/>
                  <a:pt x="3596640" y="69142"/>
                </a:cubicBezTo>
                <a:cubicBezTo>
                  <a:pt x="3631946" y="122101"/>
                  <a:pt x="3571539" y="60906"/>
                  <a:pt x="3619500" y="114862"/>
                </a:cubicBezTo>
                <a:cubicBezTo>
                  <a:pt x="3633819" y="130971"/>
                  <a:pt x="3649980" y="145342"/>
                  <a:pt x="3665220" y="160582"/>
                </a:cubicBezTo>
                <a:lnTo>
                  <a:pt x="3688080" y="183442"/>
                </a:lnTo>
                <a:cubicBezTo>
                  <a:pt x="3707804" y="203166"/>
                  <a:pt x="3729317" y="227668"/>
                  <a:pt x="3756660" y="236782"/>
                </a:cubicBezTo>
                <a:lnTo>
                  <a:pt x="3779520" y="244402"/>
                </a:lnTo>
                <a:cubicBezTo>
                  <a:pt x="3789680" y="252022"/>
                  <a:pt x="3798438" y="262007"/>
                  <a:pt x="3810000" y="267262"/>
                </a:cubicBezTo>
                <a:cubicBezTo>
                  <a:pt x="3826834" y="274914"/>
                  <a:pt x="3845628" y="277189"/>
                  <a:pt x="3863340" y="282502"/>
                </a:cubicBezTo>
                <a:cubicBezTo>
                  <a:pt x="3936856" y="304557"/>
                  <a:pt x="3809032" y="270434"/>
                  <a:pt x="3931920" y="297742"/>
                </a:cubicBezTo>
                <a:cubicBezTo>
                  <a:pt x="4083068" y="331330"/>
                  <a:pt x="3728284" y="263488"/>
                  <a:pt x="4000500" y="312982"/>
                </a:cubicBezTo>
                <a:cubicBezTo>
                  <a:pt x="4013243" y="315299"/>
                  <a:pt x="4025665" y="319955"/>
                  <a:pt x="4038600" y="320602"/>
                </a:cubicBezTo>
                <a:cubicBezTo>
                  <a:pt x="4127425" y="325043"/>
                  <a:pt x="4216374" y="326864"/>
                  <a:pt x="4305300" y="328222"/>
                </a:cubicBezTo>
                <a:lnTo>
                  <a:pt x="5036820" y="335842"/>
                </a:lnTo>
                <a:cubicBezTo>
                  <a:pt x="5074124" y="339233"/>
                  <a:pt x="5141641" y="344422"/>
                  <a:pt x="5181600" y="351082"/>
                </a:cubicBezTo>
                <a:cubicBezTo>
                  <a:pt x="5191930" y="352804"/>
                  <a:pt x="5202010" y="355825"/>
                  <a:pt x="5212080" y="358702"/>
                </a:cubicBezTo>
                <a:cubicBezTo>
                  <a:pt x="5219803" y="360909"/>
                  <a:pt x="5226989" y="365186"/>
                  <a:pt x="5234940" y="366322"/>
                </a:cubicBezTo>
                <a:cubicBezTo>
                  <a:pt x="5273710" y="371861"/>
                  <a:pt x="5403840" y="379614"/>
                  <a:pt x="5433060" y="381562"/>
                </a:cubicBezTo>
                <a:cubicBezTo>
                  <a:pt x="5580380" y="379022"/>
                  <a:pt x="5727850" y="381063"/>
                  <a:pt x="5875020" y="373942"/>
                </a:cubicBezTo>
                <a:cubicBezTo>
                  <a:pt x="5886366" y="373393"/>
                  <a:pt x="5895059" y="363177"/>
                  <a:pt x="5905500" y="358702"/>
                </a:cubicBezTo>
                <a:cubicBezTo>
                  <a:pt x="5932099" y="347302"/>
                  <a:pt x="5950147" y="347970"/>
                  <a:pt x="5981700" y="343462"/>
                </a:cubicBezTo>
                <a:cubicBezTo>
                  <a:pt x="6025031" y="310963"/>
                  <a:pt x="6000132" y="324618"/>
                  <a:pt x="6057900" y="305362"/>
                </a:cubicBezTo>
                <a:lnTo>
                  <a:pt x="6080760" y="297742"/>
                </a:lnTo>
                <a:cubicBezTo>
                  <a:pt x="6090920" y="290122"/>
                  <a:pt x="6100906" y="282264"/>
                  <a:pt x="6111240" y="274882"/>
                </a:cubicBezTo>
                <a:cubicBezTo>
                  <a:pt x="6118692" y="269559"/>
                  <a:pt x="6127624" y="266118"/>
                  <a:pt x="6134100" y="259642"/>
                </a:cubicBezTo>
                <a:cubicBezTo>
                  <a:pt x="6168567" y="225175"/>
                  <a:pt x="6127696" y="243997"/>
                  <a:pt x="6172200" y="229162"/>
                </a:cubicBezTo>
                <a:cubicBezTo>
                  <a:pt x="6206284" y="178037"/>
                  <a:pt x="6166133" y="228127"/>
                  <a:pt x="6210300" y="198682"/>
                </a:cubicBezTo>
                <a:cubicBezTo>
                  <a:pt x="6219266" y="192704"/>
                  <a:pt x="6224978" y="182835"/>
                  <a:pt x="6233160" y="175822"/>
                </a:cubicBezTo>
                <a:cubicBezTo>
                  <a:pt x="6242803" y="167557"/>
                  <a:pt x="6254082" y="161325"/>
                  <a:pt x="6263640" y="152962"/>
                </a:cubicBezTo>
                <a:cubicBezTo>
                  <a:pt x="6343492" y="83092"/>
                  <a:pt x="6224907" y="168624"/>
                  <a:pt x="6362700" y="76762"/>
                </a:cubicBezTo>
                <a:cubicBezTo>
                  <a:pt x="6370320" y="71682"/>
                  <a:pt x="6376872" y="64418"/>
                  <a:pt x="6385560" y="61522"/>
                </a:cubicBezTo>
                <a:cubicBezTo>
                  <a:pt x="6393180" y="58982"/>
                  <a:pt x="6401399" y="57803"/>
                  <a:pt x="6408420" y="53902"/>
                </a:cubicBezTo>
                <a:cubicBezTo>
                  <a:pt x="6424431" y="45007"/>
                  <a:pt x="6436371" y="27864"/>
                  <a:pt x="6454140" y="23422"/>
                </a:cubicBezTo>
                <a:cubicBezTo>
                  <a:pt x="6464300" y="20882"/>
                  <a:pt x="6474550" y="18679"/>
                  <a:pt x="6484620" y="15802"/>
                </a:cubicBezTo>
                <a:cubicBezTo>
                  <a:pt x="6492343" y="13595"/>
                  <a:pt x="6499604" y="9757"/>
                  <a:pt x="6507480" y="8182"/>
                </a:cubicBezTo>
                <a:cubicBezTo>
                  <a:pt x="6525092" y="4660"/>
                  <a:pt x="6543040" y="3102"/>
                  <a:pt x="6560820" y="562"/>
                </a:cubicBezTo>
                <a:lnTo>
                  <a:pt x="6774180" y="15802"/>
                </a:lnTo>
                <a:cubicBezTo>
                  <a:pt x="6789570" y="17160"/>
                  <a:pt x="6804793" y="20185"/>
                  <a:pt x="6819900" y="23422"/>
                </a:cubicBezTo>
                <a:cubicBezTo>
                  <a:pt x="6840380" y="27811"/>
                  <a:pt x="6859955" y="37355"/>
                  <a:pt x="6880860" y="38662"/>
                </a:cubicBezTo>
                <a:cubicBezTo>
                  <a:pt x="6941701" y="42465"/>
                  <a:pt x="7002780" y="38662"/>
                  <a:pt x="7063740" y="38662"/>
                </a:cubicBezTo>
              </a:path>
            </a:pathLst>
          </a:custGeom>
          <a:noFill/>
          <a:ln w="12700" cap="flat" cmpd="sng" algn="ctr">
            <a:solidFill>
              <a:srgbClr val="0000FF"/>
            </a:solidFill>
            <a:prstDash val="dash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11">
            <a:extLst>
              <a:ext uri="{FF2B5EF4-FFF2-40B4-BE49-F238E27FC236}">
                <a16:creationId xmlns:a16="http://schemas.microsoft.com/office/drawing/2014/main" id="{D0A166FA-B9EB-471E-8FD0-ACB38F3FD267}"/>
              </a:ext>
            </a:extLst>
          </p:cNvPr>
          <p:cNvSpPr>
            <a:spLocks noGrp="1"/>
          </p:cNvSpPr>
          <p:nvPr>
            <p:ph type="title"/>
          </p:nvPr>
        </p:nvSpPr>
        <p:spPr/>
        <p:txBody>
          <a:bodyPr/>
          <a:lstStyle/>
          <a:p>
            <a:r>
              <a:rPr lang="en-US" altLang="en-US"/>
              <a:t>False Paths</a:t>
            </a:r>
          </a:p>
        </p:txBody>
      </p:sp>
      <p:sp>
        <p:nvSpPr>
          <p:cNvPr id="29699" name="Content Placeholder 4">
            <a:extLst>
              <a:ext uri="{FF2B5EF4-FFF2-40B4-BE49-F238E27FC236}">
                <a16:creationId xmlns:a16="http://schemas.microsoft.com/office/drawing/2014/main" id="{11B0AAE5-5BA7-4067-BE54-1B3EE583E080}"/>
              </a:ext>
            </a:extLst>
          </p:cNvPr>
          <p:cNvSpPr>
            <a:spLocks noGrp="1"/>
          </p:cNvSpPr>
          <p:nvPr>
            <p:ph type="body" sz="quarter" idx="10"/>
          </p:nvPr>
        </p:nvSpPr>
        <p:spPr/>
        <p:txBody>
          <a:bodyPr/>
          <a:lstStyle/>
          <a:p>
            <a:r>
              <a:rPr lang="en-US" altLang="en-US" sz="1800" dirty="0"/>
              <a:t>Paths which physically exist in a design but are not logic paths. These paths never get sensitized under any input condition  </a:t>
            </a:r>
          </a:p>
          <a:p>
            <a:endParaRPr lang="en-US" altLang="en-US" sz="1800" dirty="0"/>
          </a:p>
        </p:txBody>
      </p:sp>
      <p:grpSp>
        <p:nvGrpSpPr>
          <p:cNvPr id="29700" name="Group 104">
            <a:extLst>
              <a:ext uri="{FF2B5EF4-FFF2-40B4-BE49-F238E27FC236}">
                <a16:creationId xmlns:a16="http://schemas.microsoft.com/office/drawing/2014/main" id="{4068DEE7-845E-4BBD-B113-24BAC06F6FF9}"/>
              </a:ext>
            </a:extLst>
          </p:cNvPr>
          <p:cNvGrpSpPr>
            <a:grpSpLocks/>
          </p:cNvGrpSpPr>
          <p:nvPr/>
        </p:nvGrpSpPr>
        <p:grpSpPr bwMode="auto">
          <a:xfrm>
            <a:off x="1952626" y="2286001"/>
            <a:ext cx="7689595" cy="2403475"/>
            <a:chOff x="428801" y="2173120"/>
            <a:chExt cx="7689168" cy="2568532"/>
          </a:xfrm>
        </p:grpSpPr>
        <p:sp>
          <p:nvSpPr>
            <p:cNvPr id="106" name="Прямоугольник 27">
              <a:extLst>
                <a:ext uri="{FF2B5EF4-FFF2-40B4-BE49-F238E27FC236}">
                  <a16:creationId xmlns:a16="http://schemas.microsoft.com/office/drawing/2014/main" id="{67DA27C2-D5EA-4595-A57B-ECD3380D94F2}"/>
                </a:ext>
              </a:extLst>
            </p:cNvPr>
            <p:cNvSpPr/>
            <p:nvPr/>
          </p:nvSpPr>
          <p:spPr bwMode="auto">
            <a:xfrm rot="5400000">
              <a:off x="5858479" y="2650202"/>
              <a:ext cx="1927247" cy="973083"/>
            </a:xfrm>
            <a:prstGeom prst="trapezoid">
              <a:avLst>
                <a:gd name="adj" fmla="val 60390"/>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solidFill>
                  <a:schemeClr val="bg1"/>
                </a:solidFill>
                <a:latin typeface="+mj-lt"/>
                <a:cs typeface="Arial" charset="0"/>
              </a:endParaRPr>
            </a:p>
          </p:txBody>
        </p:sp>
        <p:sp>
          <p:nvSpPr>
            <p:cNvPr id="107" name="Прямоугольник 27">
              <a:extLst>
                <a:ext uri="{FF2B5EF4-FFF2-40B4-BE49-F238E27FC236}">
                  <a16:creationId xmlns:a16="http://schemas.microsoft.com/office/drawing/2014/main" id="{EC18FABA-4285-47F6-9DDE-7CB04BFFEAD3}"/>
                </a:ext>
              </a:extLst>
            </p:cNvPr>
            <p:cNvSpPr/>
            <p:nvPr/>
          </p:nvSpPr>
          <p:spPr bwMode="auto">
            <a:xfrm rot="5400000">
              <a:off x="2560685" y="2656140"/>
              <a:ext cx="1925551" cy="973083"/>
            </a:xfrm>
            <a:prstGeom prst="trapezoid">
              <a:avLst>
                <a:gd name="adj" fmla="val 60390"/>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solidFill>
                  <a:schemeClr val="bg1"/>
                </a:solidFill>
                <a:latin typeface="+mj-lt"/>
                <a:cs typeface="Arial" charset="0"/>
              </a:endParaRPr>
            </a:p>
          </p:txBody>
        </p:sp>
        <p:cxnSp>
          <p:nvCxnSpPr>
            <p:cNvPr id="29708" name="Прямая соединительная линия 19">
              <a:extLst>
                <a:ext uri="{FF2B5EF4-FFF2-40B4-BE49-F238E27FC236}">
                  <a16:creationId xmlns:a16="http://schemas.microsoft.com/office/drawing/2014/main" id="{06A745CB-6990-445C-9D7A-1595DA6DEFAE}"/>
                </a:ext>
              </a:extLst>
            </p:cNvPr>
            <p:cNvCxnSpPr>
              <a:cxnSpLocks noChangeShapeType="1"/>
            </p:cNvCxnSpPr>
            <p:nvPr/>
          </p:nvCxnSpPr>
          <p:spPr bwMode="auto">
            <a:xfrm>
              <a:off x="2687735" y="2643721"/>
              <a:ext cx="349349" cy="901"/>
            </a:xfrm>
            <a:prstGeom prst="line">
              <a:avLst/>
            </a:prstGeom>
            <a:noFill/>
            <a:ln w="9525" algn="ctr">
              <a:solidFill>
                <a:schemeClr val="tx1"/>
              </a:solidFill>
              <a:round/>
              <a:headEnd/>
              <a:tailEnd/>
            </a:ln>
          </p:spPr>
        </p:cxnSp>
        <p:cxnSp>
          <p:nvCxnSpPr>
            <p:cNvPr id="29709" name="Прямая соединительная линия 47">
              <a:extLst>
                <a:ext uri="{FF2B5EF4-FFF2-40B4-BE49-F238E27FC236}">
                  <a16:creationId xmlns:a16="http://schemas.microsoft.com/office/drawing/2014/main" id="{966D0749-5A8F-4E5D-8FDC-9C71BB72C1D4}"/>
                </a:ext>
              </a:extLst>
            </p:cNvPr>
            <p:cNvCxnSpPr>
              <a:cxnSpLocks noChangeShapeType="1"/>
            </p:cNvCxnSpPr>
            <p:nvPr/>
          </p:nvCxnSpPr>
          <p:spPr bwMode="auto">
            <a:xfrm>
              <a:off x="7308923" y="3148633"/>
              <a:ext cx="324332" cy="0"/>
            </a:xfrm>
            <a:prstGeom prst="line">
              <a:avLst/>
            </a:prstGeom>
            <a:noFill/>
            <a:ln w="9525" algn="ctr">
              <a:solidFill>
                <a:schemeClr val="tx1"/>
              </a:solidFill>
              <a:round/>
              <a:headEnd/>
              <a:tailEnd/>
            </a:ln>
          </p:spPr>
        </p:cxnSp>
        <p:cxnSp>
          <p:nvCxnSpPr>
            <p:cNvPr id="29710" name="Прямая соединительная линия 55">
              <a:extLst>
                <a:ext uri="{FF2B5EF4-FFF2-40B4-BE49-F238E27FC236}">
                  <a16:creationId xmlns:a16="http://schemas.microsoft.com/office/drawing/2014/main" id="{C6190EC2-FFD5-4253-BC3D-D636EF9915A2}"/>
                </a:ext>
              </a:extLst>
            </p:cNvPr>
            <p:cNvCxnSpPr>
              <a:cxnSpLocks noChangeShapeType="1"/>
            </p:cNvCxnSpPr>
            <p:nvPr/>
          </p:nvCxnSpPr>
          <p:spPr bwMode="auto">
            <a:xfrm flipV="1">
              <a:off x="709248" y="4526517"/>
              <a:ext cx="4266946" cy="1"/>
            </a:xfrm>
            <a:prstGeom prst="line">
              <a:avLst/>
            </a:prstGeom>
            <a:noFill/>
            <a:ln w="9525" algn="ctr">
              <a:solidFill>
                <a:schemeClr val="tx1"/>
              </a:solidFill>
              <a:round/>
              <a:headEnd/>
              <a:tailEnd/>
            </a:ln>
          </p:spPr>
        </p:cxnSp>
        <p:sp>
          <p:nvSpPr>
            <p:cNvPr id="113" name="TextBox 112">
              <a:extLst>
                <a:ext uri="{FF2B5EF4-FFF2-40B4-BE49-F238E27FC236}">
                  <a16:creationId xmlns:a16="http://schemas.microsoft.com/office/drawing/2014/main" id="{861F70C2-E9EB-426A-99BA-74BE71E54F58}"/>
                </a:ext>
              </a:extLst>
            </p:cNvPr>
            <p:cNvSpPr txBox="1"/>
            <p:nvPr/>
          </p:nvSpPr>
          <p:spPr>
            <a:xfrm>
              <a:off x="428801" y="2470012"/>
              <a:ext cx="312889" cy="394696"/>
            </a:xfrm>
            <a:prstGeom prst="rect">
              <a:avLst/>
            </a:prstGeom>
            <a:noFill/>
          </p:spPr>
          <p:txBody>
            <a:bodyPr wrap="none">
              <a:spAutoFit/>
            </a:bodyPr>
            <a:lstStyle/>
            <a:p>
              <a:pPr eaLnBrk="1" hangingPunct="1">
                <a:defRPr/>
              </a:pPr>
              <a:r>
                <a:rPr lang="en-US" dirty="0">
                  <a:latin typeface="+mj-lt"/>
                  <a:cs typeface="Arial" charset="0"/>
                </a:rPr>
                <a:t>a</a:t>
              </a:r>
            </a:p>
          </p:txBody>
        </p:sp>
        <p:sp>
          <p:nvSpPr>
            <p:cNvPr id="114" name="TextBox 113">
              <a:extLst>
                <a:ext uri="{FF2B5EF4-FFF2-40B4-BE49-F238E27FC236}">
                  <a16:creationId xmlns:a16="http://schemas.microsoft.com/office/drawing/2014/main" id="{9C5898F0-6E34-4ABA-8530-966ECFB5825C}"/>
                </a:ext>
              </a:extLst>
            </p:cNvPr>
            <p:cNvSpPr txBox="1"/>
            <p:nvPr/>
          </p:nvSpPr>
          <p:spPr>
            <a:xfrm>
              <a:off x="438325" y="3459083"/>
              <a:ext cx="312889" cy="394696"/>
            </a:xfrm>
            <a:prstGeom prst="rect">
              <a:avLst/>
            </a:prstGeom>
            <a:noFill/>
          </p:spPr>
          <p:txBody>
            <a:bodyPr wrap="none">
              <a:spAutoFit/>
            </a:bodyPr>
            <a:lstStyle/>
            <a:p>
              <a:pPr eaLnBrk="1" hangingPunct="1">
                <a:defRPr/>
              </a:pPr>
              <a:r>
                <a:rPr lang="en-US" dirty="0">
                  <a:latin typeface="+mj-lt"/>
                  <a:cs typeface="Arial" charset="0"/>
                </a:rPr>
                <a:t>b</a:t>
              </a:r>
            </a:p>
          </p:txBody>
        </p:sp>
        <p:sp>
          <p:nvSpPr>
            <p:cNvPr id="115" name="TextBox 114">
              <a:extLst>
                <a:ext uri="{FF2B5EF4-FFF2-40B4-BE49-F238E27FC236}">
                  <a16:creationId xmlns:a16="http://schemas.microsoft.com/office/drawing/2014/main" id="{2279AD44-78DC-48C0-9E6D-C46A8E9D6E3B}"/>
                </a:ext>
              </a:extLst>
            </p:cNvPr>
            <p:cNvSpPr txBox="1"/>
            <p:nvPr/>
          </p:nvSpPr>
          <p:spPr>
            <a:xfrm>
              <a:off x="452613" y="4337880"/>
              <a:ext cx="300065" cy="394696"/>
            </a:xfrm>
            <a:prstGeom prst="rect">
              <a:avLst/>
            </a:prstGeom>
            <a:noFill/>
          </p:spPr>
          <p:txBody>
            <a:bodyPr wrap="none">
              <a:spAutoFit/>
            </a:bodyPr>
            <a:lstStyle/>
            <a:p>
              <a:pPr eaLnBrk="1" hangingPunct="1">
                <a:defRPr/>
              </a:pPr>
              <a:r>
                <a:rPr lang="en-US" dirty="0">
                  <a:solidFill>
                    <a:schemeClr val="bg1"/>
                  </a:solidFill>
                  <a:latin typeface="+mj-lt"/>
                  <a:cs typeface="Arial" charset="0"/>
                </a:rPr>
                <a:t>c</a:t>
              </a:r>
            </a:p>
          </p:txBody>
        </p:sp>
        <p:sp>
          <p:nvSpPr>
            <p:cNvPr id="116" name="TextBox 115">
              <a:extLst>
                <a:ext uri="{FF2B5EF4-FFF2-40B4-BE49-F238E27FC236}">
                  <a16:creationId xmlns:a16="http://schemas.microsoft.com/office/drawing/2014/main" id="{0C419621-27F7-48A1-8148-B400C7D14C5A}"/>
                </a:ext>
              </a:extLst>
            </p:cNvPr>
            <p:cNvSpPr txBox="1"/>
            <p:nvPr/>
          </p:nvSpPr>
          <p:spPr>
            <a:xfrm>
              <a:off x="3217884" y="2921286"/>
              <a:ext cx="683162" cy="328913"/>
            </a:xfrm>
            <a:prstGeom prst="rect">
              <a:avLst/>
            </a:prstGeom>
            <a:noFill/>
          </p:spPr>
          <p:txBody>
            <a:bodyPr wrap="none">
              <a:spAutoFit/>
            </a:bodyPr>
            <a:lstStyle/>
            <a:p>
              <a:pPr eaLnBrk="1" hangingPunct="1">
                <a:defRPr/>
              </a:pPr>
              <a:r>
                <a:rPr lang="en-US" sz="1400" b="1" dirty="0">
                  <a:solidFill>
                    <a:schemeClr val="bg1"/>
                  </a:solidFill>
                  <a:latin typeface="+mj-lt"/>
                  <a:cs typeface="Arial" charset="0"/>
                </a:rPr>
                <a:t>MUX1</a:t>
              </a:r>
            </a:p>
          </p:txBody>
        </p:sp>
        <p:sp>
          <p:nvSpPr>
            <p:cNvPr id="117" name="TextBox 116">
              <a:extLst>
                <a:ext uri="{FF2B5EF4-FFF2-40B4-BE49-F238E27FC236}">
                  <a16:creationId xmlns:a16="http://schemas.microsoft.com/office/drawing/2014/main" id="{6B8FDD06-7C29-482B-B0BA-197A87BC8FDC}"/>
                </a:ext>
              </a:extLst>
            </p:cNvPr>
            <p:cNvSpPr txBox="1"/>
            <p:nvPr/>
          </p:nvSpPr>
          <p:spPr>
            <a:xfrm>
              <a:off x="3097241" y="3370863"/>
              <a:ext cx="298463" cy="361804"/>
            </a:xfrm>
            <a:prstGeom prst="rect">
              <a:avLst/>
            </a:prstGeom>
            <a:noFill/>
          </p:spPr>
          <p:txBody>
            <a:bodyPr wrap="none">
              <a:spAutoFit/>
            </a:bodyPr>
            <a:lstStyle/>
            <a:p>
              <a:pPr eaLnBrk="1" hangingPunct="1">
                <a:defRPr/>
              </a:pPr>
              <a:r>
                <a:rPr lang="en-US" sz="1600" dirty="0">
                  <a:solidFill>
                    <a:schemeClr val="bg1"/>
                  </a:solidFill>
                  <a:latin typeface="+mj-lt"/>
                  <a:cs typeface="Arial" charset="0"/>
                </a:rPr>
                <a:t>1</a:t>
              </a:r>
              <a:endParaRPr lang="en-US" dirty="0">
                <a:solidFill>
                  <a:schemeClr val="bg1"/>
                </a:solidFill>
                <a:latin typeface="+mj-lt"/>
                <a:cs typeface="Arial" charset="0"/>
              </a:endParaRPr>
            </a:p>
          </p:txBody>
        </p:sp>
        <p:sp>
          <p:nvSpPr>
            <p:cNvPr id="118" name="TextBox 117">
              <a:extLst>
                <a:ext uri="{FF2B5EF4-FFF2-40B4-BE49-F238E27FC236}">
                  <a16:creationId xmlns:a16="http://schemas.microsoft.com/office/drawing/2014/main" id="{DD1A45DC-3DEB-4DD8-93F0-F4D4BBF45018}"/>
                </a:ext>
              </a:extLst>
            </p:cNvPr>
            <p:cNvSpPr txBox="1"/>
            <p:nvPr/>
          </p:nvSpPr>
          <p:spPr>
            <a:xfrm>
              <a:off x="3097241" y="2471708"/>
              <a:ext cx="298463" cy="361804"/>
            </a:xfrm>
            <a:prstGeom prst="rect">
              <a:avLst/>
            </a:prstGeom>
            <a:noFill/>
          </p:spPr>
          <p:txBody>
            <a:bodyPr wrap="none">
              <a:spAutoFit/>
            </a:bodyPr>
            <a:lstStyle/>
            <a:p>
              <a:pPr eaLnBrk="1" hangingPunct="1">
                <a:defRPr/>
              </a:pPr>
              <a:r>
                <a:rPr lang="en-US" sz="1600" dirty="0">
                  <a:solidFill>
                    <a:schemeClr val="bg1"/>
                  </a:solidFill>
                  <a:latin typeface="+mj-lt"/>
                  <a:cs typeface="Arial" charset="0"/>
                </a:rPr>
                <a:t>0</a:t>
              </a:r>
              <a:endParaRPr lang="en-US" dirty="0">
                <a:solidFill>
                  <a:schemeClr val="bg1"/>
                </a:solidFill>
                <a:latin typeface="+mj-lt"/>
                <a:cs typeface="Arial" charset="0"/>
              </a:endParaRPr>
            </a:p>
          </p:txBody>
        </p:sp>
        <p:sp>
          <p:nvSpPr>
            <p:cNvPr id="119" name="TextBox 118">
              <a:extLst>
                <a:ext uri="{FF2B5EF4-FFF2-40B4-BE49-F238E27FC236}">
                  <a16:creationId xmlns:a16="http://schemas.microsoft.com/office/drawing/2014/main" id="{78521A8A-C7F6-4F55-95F9-34D4813A9602}"/>
                </a:ext>
              </a:extLst>
            </p:cNvPr>
            <p:cNvSpPr txBox="1"/>
            <p:nvPr/>
          </p:nvSpPr>
          <p:spPr>
            <a:xfrm>
              <a:off x="3297255" y="3428545"/>
              <a:ext cx="413873" cy="328913"/>
            </a:xfrm>
            <a:prstGeom prst="rect">
              <a:avLst/>
            </a:prstGeom>
            <a:noFill/>
          </p:spPr>
          <p:txBody>
            <a:bodyPr wrap="none">
              <a:spAutoFit/>
            </a:bodyPr>
            <a:lstStyle/>
            <a:p>
              <a:pPr eaLnBrk="1" hangingPunct="1">
                <a:defRPr/>
              </a:pPr>
              <a:r>
                <a:rPr lang="en-US" sz="1400" dirty="0" err="1">
                  <a:solidFill>
                    <a:schemeClr val="bg1"/>
                  </a:solidFill>
                  <a:latin typeface="+mj-lt"/>
                  <a:cs typeface="Arial" charset="0"/>
                </a:rPr>
                <a:t>sel</a:t>
              </a:r>
              <a:endParaRPr lang="en-US" sz="1400" dirty="0">
                <a:solidFill>
                  <a:schemeClr val="bg1"/>
                </a:solidFill>
                <a:latin typeface="+mj-lt"/>
                <a:cs typeface="Arial" charset="0"/>
              </a:endParaRPr>
            </a:p>
          </p:txBody>
        </p:sp>
        <p:sp>
          <p:nvSpPr>
            <p:cNvPr id="120" name="TextBox 119">
              <a:extLst>
                <a:ext uri="{FF2B5EF4-FFF2-40B4-BE49-F238E27FC236}">
                  <a16:creationId xmlns:a16="http://schemas.microsoft.com/office/drawing/2014/main" id="{7FD92EEE-465D-4CE8-9C9F-0BF59616AF8A}"/>
                </a:ext>
              </a:extLst>
            </p:cNvPr>
            <p:cNvSpPr txBox="1"/>
            <p:nvPr/>
          </p:nvSpPr>
          <p:spPr>
            <a:xfrm>
              <a:off x="7684861" y="3007808"/>
              <a:ext cx="433108" cy="328913"/>
            </a:xfrm>
            <a:prstGeom prst="rect">
              <a:avLst/>
            </a:prstGeom>
            <a:noFill/>
          </p:spPr>
          <p:txBody>
            <a:bodyPr wrap="none">
              <a:spAutoFit/>
            </a:bodyPr>
            <a:lstStyle/>
            <a:p>
              <a:pPr eaLnBrk="1" hangingPunct="1">
                <a:defRPr/>
              </a:pPr>
              <a:r>
                <a:rPr lang="en-US" sz="1400" dirty="0">
                  <a:latin typeface="+mj-lt"/>
                  <a:cs typeface="Arial" charset="0"/>
                </a:rPr>
                <a:t>out</a:t>
              </a:r>
            </a:p>
          </p:txBody>
        </p:sp>
        <p:grpSp>
          <p:nvGrpSpPr>
            <p:cNvPr id="29719" name="Group 120">
              <a:extLst>
                <a:ext uri="{FF2B5EF4-FFF2-40B4-BE49-F238E27FC236}">
                  <a16:creationId xmlns:a16="http://schemas.microsoft.com/office/drawing/2014/main" id="{9FE74877-2359-4058-8908-14B52DDAF2EE}"/>
                </a:ext>
              </a:extLst>
            </p:cNvPr>
            <p:cNvGrpSpPr>
              <a:grpSpLocks/>
            </p:cNvGrpSpPr>
            <p:nvPr/>
          </p:nvGrpSpPr>
          <p:grpSpPr bwMode="auto">
            <a:xfrm>
              <a:off x="715331" y="2427599"/>
              <a:ext cx="1411953" cy="437702"/>
              <a:chOff x="715331" y="2427599"/>
              <a:chExt cx="1411953" cy="437702"/>
            </a:xfrm>
          </p:grpSpPr>
          <p:sp>
            <p:nvSpPr>
              <p:cNvPr id="157" name="Isosceles Triangle 77">
                <a:extLst>
                  <a:ext uri="{FF2B5EF4-FFF2-40B4-BE49-F238E27FC236}">
                    <a16:creationId xmlns:a16="http://schemas.microsoft.com/office/drawing/2014/main" id="{84D1628B-F7A6-4C6B-9186-E1A2CF1DC706}"/>
                  </a:ext>
                </a:extLst>
              </p:cNvPr>
              <p:cNvSpPr/>
              <p:nvPr/>
            </p:nvSpPr>
            <p:spPr bwMode="auto">
              <a:xfrm rot="5400000">
                <a:off x="1042547" y="2425006"/>
                <a:ext cx="437702" cy="442888"/>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solidFill>
                    <a:schemeClr val="bg1"/>
                  </a:solidFill>
                  <a:latin typeface="+mj-lt"/>
                  <a:cs typeface="Arial" charset="0"/>
                </a:endParaRPr>
              </a:p>
            </p:txBody>
          </p:sp>
          <p:cxnSp>
            <p:nvCxnSpPr>
              <p:cNvPr id="29756" name="Прямая соединительная линия 18">
                <a:extLst>
                  <a:ext uri="{FF2B5EF4-FFF2-40B4-BE49-F238E27FC236}">
                    <a16:creationId xmlns:a16="http://schemas.microsoft.com/office/drawing/2014/main" id="{21B95DC2-AC88-4DC3-BC79-B80BB8A40907}"/>
                  </a:ext>
                </a:extLst>
              </p:cNvPr>
              <p:cNvCxnSpPr>
                <a:cxnSpLocks noChangeShapeType="1"/>
              </p:cNvCxnSpPr>
              <p:nvPr/>
            </p:nvCxnSpPr>
            <p:spPr bwMode="auto">
              <a:xfrm>
                <a:off x="715331" y="2645206"/>
                <a:ext cx="324332" cy="0"/>
              </a:xfrm>
              <a:prstGeom prst="line">
                <a:avLst/>
              </a:prstGeom>
              <a:noFill/>
              <a:ln w="9525" algn="ctr">
                <a:solidFill>
                  <a:schemeClr val="tx1"/>
                </a:solidFill>
                <a:round/>
                <a:headEnd/>
                <a:tailEnd/>
              </a:ln>
            </p:spPr>
          </p:cxnSp>
          <p:cxnSp>
            <p:nvCxnSpPr>
              <p:cNvPr id="29757" name="Прямая соединительная линия 25">
                <a:extLst>
                  <a:ext uri="{FF2B5EF4-FFF2-40B4-BE49-F238E27FC236}">
                    <a16:creationId xmlns:a16="http://schemas.microsoft.com/office/drawing/2014/main" id="{86F93BB4-4552-49BE-97BE-E001F6BDA822}"/>
                  </a:ext>
                </a:extLst>
              </p:cNvPr>
              <p:cNvCxnSpPr>
                <a:cxnSpLocks noChangeShapeType="1"/>
                <a:stCxn id="29759" idx="6"/>
              </p:cNvCxnSpPr>
              <p:nvPr/>
            </p:nvCxnSpPr>
            <p:spPr bwMode="auto">
              <a:xfrm>
                <a:off x="1594042" y="2646107"/>
                <a:ext cx="533242" cy="0"/>
              </a:xfrm>
              <a:prstGeom prst="line">
                <a:avLst/>
              </a:prstGeom>
              <a:noFill/>
              <a:ln w="9525" algn="ctr">
                <a:solidFill>
                  <a:schemeClr val="tx1"/>
                </a:solidFill>
                <a:round/>
                <a:headEnd/>
                <a:tailEnd/>
              </a:ln>
            </p:spPr>
          </p:cxnSp>
          <p:sp>
            <p:nvSpPr>
              <p:cNvPr id="160" name="TextBox 159">
                <a:extLst>
                  <a:ext uri="{FF2B5EF4-FFF2-40B4-BE49-F238E27FC236}">
                    <a16:creationId xmlns:a16="http://schemas.microsoft.com/office/drawing/2014/main" id="{0239AC97-9203-4AC5-8C11-2571D5544C11}"/>
                  </a:ext>
                </a:extLst>
              </p:cNvPr>
              <p:cNvSpPr txBox="1"/>
              <p:nvPr/>
            </p:nvSpPr>
            <p:spPr>
              <a:xfrm>
                <a:off x="984395" y="2444564"/>
                <a:ext cx="312889" cy="394695"/>
              </a:xfrm>
              <a:prstGeom prst="rect">
                <a:avLst/>
              </a:prstGeom>
              <a:noFill/>
            </p:spPr>
            <p:txBody>
              <a:bodyPr wrap="none">
                <a:spAutoFit/>
              </a:bodyPr>
              <a:lstStyle/>
              <a:p>
                <a:pPr eaLnBrk="1" hangingPunct="1">
                  <a:defRPr/>
                </a:pPr>
                <a:r>
                  <a:rPr lang="en-US" dirty="0">
                    <a:solidFill>
                      <a:schemeClr val="bg1"/>
                    </a:solidFill>
                    <a:latin typeface="+mj-lt"/>
                    <a:cs typeface="Arial" charset="0"/>
                  </a:rPr>
                  <a:t>1</a:t>
                </a:r>
              </a:p>
            </p:txBody>
          </p:sp>
          <p:sp>
            <p:nvSpPr>
              <p:cNvPr id="29759" name="Oval 160">
                <a:extLst>
                  <a:ext uri="{FF2B5EF4-FFF2-40B4-BE49-F238E27FC236}">
                    <a16:creationId xmlns:a16="http://schemas.microsoft.com/office/drawing/2014/main" id="{F3940AAD-D79B-4CE4-BD28-6466CE152785}"/>
                  </a:ext>
                </a:extLst>
              </p:cNvPr>
              <p:cNvSpPr>
                <a:spLocks noChangeArrowheads="1"/>
              </p:cNvSpPr>
              <p:nvPr/>
            </p:nvSpPr>
            <p:spPr bwMode="auto">
              <a:xfrm>
                <a:off x="1486082" y="2592127"/>
                <a:ext cx="107960" cy="10796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chemeClr val="bg1"/>
                  </a:solidFill>
                </a:endParaRPr>
              </a:p>
            </p:txBody>
          </p:sp>
        </p:grpSp>
        <p:grpSp>
          <p:nvGrpSpPr>
            <p:cNvPr id="29720" name="Group 121">
              <a:extLst>
                <a:ext uri="{FF2B5EF4-FFF2-40B4-BE49-F238E27FC236}">
                  <a16:creationId xmlns:a16="http://schemas.microsoft.com/office/drawing/2014/main" id="{B3A46EDB-208C-43CE-ABA5-7A2D4B030DB0}"/>
                </a:ext>
              </a:extLst>
            </p:cNvPr>
            <p:cNvGrpSpPr>
              <a:grpSpLocks/>
            </p:cNvGrpSpPr>
            <p:nvPr/>
          </p:nvGrpSpPr>
          <p:grpSpPr bwMode="auto">
            <a:xfrm>
              <a:off x="724239" y="3413276"/>
              <a:ext cx="2312845" cy="437702"/>
              <a:chOff x="186139" y="2427337"/>
              <a:chExt cx="2312845" cy="437702"/>
            </a:xfrm>
          </p:grpSpPr>
          <p:sp>
            <p:nvSpPr>
              <p:cNvPr id="152" name="Isosceles Triangle 77">
                <a:extLst>
                  <a:ext uri="{FF2B5EF4-FFF2-40B4-BE49-F238E27FC236}">
                    <a16:creationId xmlns:a16="http://schemas.microsoft.com/office/drawing/2014/main" id="{DB4AAD33-CF30-47A3-9E80-46806E47BD2A}"/>
                  </a:ext>
                </a:extLst>
              </p:cNvPr>
              <p:cNvSpPr/>
              <p:nvPr/>
            </p:nvSpPr>
            <p:spPr bwMode="auto">
              <a:xfrm rot="5400000">
                <a:off x="1042581" y="2424744"/>
                <a:ext cx="437702" cy="442888"/>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solidFill>
                    <a:schemeClr val="bg1"/>
                  </a:solidFill>
                  <a:latin typeface="+mj-lt"/>
                  <a:cs typeface="Arial" charset="0"/>
                </a:endParaRPr>
              </a:p>
            </p:txBody>
          </p:sp>
          <p:cxnSp>
            <p:nvCxnSpPr>
              <p:cNvPr id="29751" name="Прямая соединительная линия 18">
                <a:extLst>
                  <a:ext uri="{FF2B5EF4-FFF2-40B4-BE49-F238E27FC236}">
                    <a16:creationId xmlns:a16="http://schemas.microsoft.com/office/drawing/2014/main" id="{EB8D5170-0253-42D6-B97C-DC345EEC34C6}"/>
                  </a:ext>
                </a:extLst>
              </p:cNvPr>
              <p:cNvCxnSpPr>
                <a:cxnSpLocks noChangeShapeType="1"/>
              </p:cNvCxnSpPr>
              <p:nvPr/>
            </p:nvCxnSpPr>
            <p:spPr bwMode="auto">
              <a:xfrm>
                <a:off x="186139" y="2646107"/>
                <a:ext cx="853524" cy="0"/>
              </a:xfrm>
              <a:prstGeom prst="line">
                <a:avLst/>
              </a:prstGeom>
              <a:noFill/>
              <a:ln w="9525" algn="ctr">
                <a:solidFill>
                  <a:schemeClr val="tx1"/>
                </a:solidFill>
                <a:round/>
                <a:headEnd/>
                <a:tailEnd/>
              </a:ln>
            </p:spPr>
          </p:cxnSp>
          <p:cxnSp>
            <p:nvCxnSpPr>
              <p:cNvPr id="29752" name="Прямая соединительная линия 25">
                <a:extLst>
                  <a:ext uri="{FF2B5EF4-FFF2-40B4-BE49-F238E27FC236}">
                    <a16:creationId xmlns:a16="http://schemas.microsoft.com/office/drawing/2014/main" id="{4CFF25BE-30C1-43F8-B04D-108DD173A05B}"/>
                  </a:ext>
                </a:extLst>
              </p:cNvPr>
              <p:cNvCxnSpPr>
                <a:cxnSpLocks noChangeShapeType="1"/>
                <a:stCxn id="29754" idx="6"/>
              </p:cNvCxnSpPr>
              <p:nvPr/>
            </p:nvCxnSpPr>
            <p:spPr bwMode="auto">
              <a:xfrm>
                <a:off x="1594042" y="2646107"/>
                <a:ext cx="904942" cy="0"/>
              </a:xfrm>
              <a:prstGeom prst="line">
                <a:avLst/>
              </a:prstGeom>
              <a:noFill/>
              <a:ln w="9525" algn="ctr">
                <a:solidFill>
                  <a:schemeClr val="tx1"/>
                </a:solidFill>
                <a:round/>
                <a:headEnd/>
                <a:tailEnd/>
              </a:ln>
            </p:spPr>
          </p:cxnSp>
          <p:sp>
            <p:nvSpPr>
              <p:cNvPr id="155" name="TextBox 154">
                <a:extLst>
                  <a:ext uri="{FF2B5EF4-FFF2-40B4-BE49-F238E27FC236}">
                    <a16:creationId xmlns:a16="http://schemas.microsoft.com/office/drawing/2014/main" id="{7FD035B7-5FAE-46A3-A492-7119DC618811}"/>
                  </a:ext>
                </a:extLst>
              </p:cNvPr>
              <p:cNvSpPr txBox="1"/>
              <p:nvPr/>
            </p:nvSpPr>
            <p:spPr>
              <a:xfrm>
                <a:off x="984429" y="2461268"/>
                <a:ext cx="312889" cy="394695"/>
              </a:xfrm>
              <a:prstGeom prst="rect">
                <a:avLst/>
              </a:prstGeom>
              <a:noFill/>
            </p:spPr>
            <p:txBody>
              <a:bodyPr wrap="none">
                <a:spAutoFit/>
              </a:bodyPr>
              <a:lstStyle/>
              <a:p>
                <a:pPr eaLnBrk="1" hangingPunct="1">
                  <a:defRPr/>
                </a:pPr>
                <a:r>
                  <a:rPr lang="en-US" dirty="0">
                    <a:solidFill>
                      <a:schemeClr val="bg1"/>
                    </a:solidFill>
                    <a:latin typeface="+mj-lt"/>
                    <a:cs typeface="Arial" charset="0"/>
                  </a:rPr>
                  <a:t>1</a:t>
                </a:r>
              </a:p>
            </p:txBody>
          </p:sp>
          <p:sp>
            <p:nvSpPr>
              <p:cNvPr id="29754" name="Oval 155">
                <a:extLst>
                  <a:ext uri="{FF2B5EF4-FFF2-40B4-BE49-F238E27FC236}">
                    <a16:creationId xmlns:a16="http://schemas.microsoft.com/office/drawing/2014/main" id="{0FF2915B-0B5E-4288-93AA-4CE4658FBB9C}"/>
                  </a:ext>
                </a:extLst>
              </p:cNvPr>
              <p:cNvSpPr>
                <a:spLocks noChangeArrowheads="1"/>
              </p:cNvSpPr>
              <p:nvPr/>
            </p:nvSpPr>
            <p:spPr bwMode="auto">
              <a:xfrm>
                <a:off x="1486082" y="2592127"/>
                <a:ext cx="107960" cy="10796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chemeClr val="bg1"/>
                  </a:solidFill>
                </a:endParaRPr>
              </a:p>
            </p:txBody>
          </p:sp>
        </p:grpSp>
        <p:sp>
          <p:nvSpPr>
            <p:cNvPr id="123" name="Isosceles Triangle 77">
              <a:extLst>
                <a:ext uri="{FF2B5EF4-FFF2-40B4-BE49-F238E27FC236}">
                  <a16:creationId xmlns:a16="http://schemas.microsoft.com/office/drawing/2014/main" id="{344F1BD2-A24C-4258-A70A-CED0D6D40E5D}"/>
                </a:ext>
              </a:extLst>
            </p:cNvPr>
            <p:cNvSpPr/>
            <p:nvPr/>
          </p:nvSpPr>
          <p:spPr bwMode="auto">
            <a:xfrm rot="5400000">
              <a:off x="2137861" y="2423310"/>
              <a:ext cx="437702" cy="442887"/>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solidFill>
                  <a:schemeClr val="bg1"/>
                </a:solidFill>
                <a:latin typeface="+mj-lt"/>
                <a:cs typeface="Arial" charset="0"/>
              </a:endParaRPr>
            </a:p>
          </p:txBody>
        </p:sp>
        <p:sp>
          <p:nvSpPr>
            <p:cNvPr id="124" name="TextBox 123">
              <a:extLst>
                <a:ext uri="{FF2B5EF4-FFF2-40B4-BE49-F238E27FC236}">
                  <a16:creationId xmlns:a16="http://schemas.microsoft.com/office/drawing/2014/main" id="{69E1D418-FD7A-40EE-A35F-4B16BC83BF95}"/>
                </a:ext>
              </a:extLst>
            </p:cNvPr>
            <p:cNvSpPr txBox="1"/>
            <p:nvPr/>
          </p:nvSpPr>
          <p:spPr>
            <a:xfrm>
              <a:off x="2079709" y="2442867"/>
              <a:ext cx="312889" cy="394696"/>
            </a:xfrm>
            <a:prstGeom prst="rect">
              <a:avLst/>
            </a:prstGeom>
            <a:noFill/>
          </p:spPr>
          <p:txBody>
            <a:bodyPr wrap="none">
              <a:spAutoFit/>
            </a:bodyPr>
            <a:lstStyle/>
            <a:p>
              <a:pPr eaLnBrk="1" hangingPunct="1">
                <a:defRPr/>
              </a:pPr>
              <a:r>
                <a:rPr lang="en-US" dirty="0">
                  <a:solidFill>
                    <a:schemeClr val="bg1"/>
                  </a:solidFill>
                  <a:latin typeface="+mj-lt"/>
                  <a:cs typeface="Arial" charset="0"/>
                </a:rPr>
                <a:t>1</a:t>
              </a:r>
            </a:p>
          </p:txBody>
        </p:sp>
        <p:sp>
          <p:nvSpPr>
            <p:cNvPr id="29723" name="Oval 124">
              <a:extLst>
                <a:ext uri="{FF2B5EF4-FFF2-40B4-BE49-F238E27FC236}">
                  <a16:creationId xmlns:a16="http://schemas.microsoft.com/office/drawing/2014/main" id="{F56BB976-9B96-4B9D-9CEE-94D08CA477D8}"/>
                </a:ext>
              </a:extLst>
            </p:cNvPr>
            <p:cNvSpPr>
              <a:spLocks noChangeArrowheads="1"/>
            </p:cNvSpPr>
            <p:nvPr/>
          </p:nvSpPr>
          <p:spPr bwMode="auto">
            <a:xfrm>
              <a:off x="2581457" y="2590642"/>
              <a:ext cx="107960" cy="10796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chemeClr val="bg1"/>
                </a:solidFill>
              </a:endParaRPr>
            </a:p>
          </p:txBody>
        </p:sp>
        <p:cxnSp>
          <p:nvCxnSpPr>
            <p:cNvPr id="29724" name="Прямая соединительная линия 19">
              <a:extLst>
                <a:ext uri="{FF2B5EF4-FFF2-40B4-BE49-F238E27FC236}">
                  <a16:creationId xmlns:a16="http://schemas.microsoft.com/office/drawing/2014/main" id="{0E954900-30FF-427C-8822-AA43FF8A0559}"/>
                </a:ext>
              </a:extLst>
            </p:cNvPr>
            <p:cNvCxnSpPr>
              <a:cxnSpLocks noChangeShapeType="1"/>
            </p:cNvCxnSpPr>
            <p:nvPr/>
          </p:nvCxnSpPr>
          <p:spPr bwMode="auto">
            <a:xfrm>
              <a:off x="5985126" y="2645140"/>
              <a:ext cx="349349" cy="901"/>
            </a:xfrm>
            <a:prstGeom prst="line">
              <a:avLst/>
            </a:prstGeom>
            <a:noFill/>
            <a:ln w="9525" algn="ctr">
              <a:solidFill>
                <a:schemeClr val="tx1"/>
              </a:solidFill>
              <a:round/>
              <a:headEnd/>
              <a:tailEnd/>
            </a:ln>
          </p:spPr>
        </p:cxnSp>
        <p:sp>
          <p:nvSpPr>
            <p:cNvPr id="127" name="TextBox 126">
              <a:extLst>
                <a:ext uri="{FF2B5EF4-FFF2-40B4-BE49-F238E27FC236}">
                  <a16:creationId xmlns:a16="http://schemas.microsoft.com/office/drawing/2014/main" id="{E9E2BF1B-042A-44AC-B4FD-589E8C9B45D2}"/>
                </a:ext>
              </a:extLst>
            </p:cNvPr>
            <p:cNvSpPr txBox="1"/>
            <p:nvPr/>
          </p:nvSpPr>
          <p:spPr>
            <a:xfrm>
              <a:off x="6514938" y="2922982"/>
              <a:ext cx="683162" cy="328913"/>
            </a:xfrm>
            <a:prstGeom prst="rect">
              <a:avLst/>
            </a:prstGeom>
            <a:noFill/>
          </p:spPr>
          <p:txBody>
            <a:bodyPr wrap="none">
              <a:spAutoFit/>
            </a:bodyPr>
            <a:lstStyle/>
            <a:p>
              <a:pPr eaLnBrk="1" hangingPunct="1">
                <a:defRPr/>
              </a:pPr>
              <a:r>
                <a:rPr lang="en-US" sz="1400" b="1" dirty="0">
                  <a:solidFill>
                    <a:schemeClr val="bg1"/>
                  </a:solidFill>
                  <a:latin typeface="+mj-lt"/>
                  <a:cs typeface="Arial" charset="0"/>
                </a:rPr>
                <a:t>MUX2</a:t>
              </a:r>
            </a:p>
          </p:txBody>
        </p:sp>
        <p:sp>
          <p:nvSpPr>
            <p:cNvPr id="128" name="TextBox 127">
              <a:extLst>
                <a:ext uri="{FF2B5EF4-FFF2-40B4-BE49-F238E27FC236}">
                  <a16:creationId xmlns:a16="http://schemas.microsoft.com/office/drawing/2014/main" id="{2580DE34-9215-4038-9A97-882412110181}"/>
                </a:ext>
              </a:extLst>
            </p:cNvPr>
            <p:cNvSpPr txBox="1"/>
            <p:nvPr/>
          </p:nvSpPr>
          <p:spPr>
            <a:xfrm>
              <a:off x="6394295" y="3370863"/>
              <a:ext cx="298463" cy="361804"/>
            </a:xfrm>
            <a:prstGeom prst="rect">
              <a:avLst/>
            </a:prstGeom>
            <a:noFill/>
          </p:spPr>
          <p:txBody>
            <a:bodyPr wrap="none">
              <a:spAutoFit/>
            </a:bodyPr>
            <a:lstStyle/>
            <a:p>
              <a:pPr eaLnBrk="1" hangingPunct="1">
                <a:defRPr/>
              </a:pPr>
              <a:r>
                <a:rPr lang="en-US" sz="1600" dirty="0">
                  <a:solidFill>
                    <a:schemeClr val="bg1"/>
                  </a:solidFill>
                  <a:latin typeface="+mj-lt"/>
                  <a:cs typeface="Arial" charset="0"/>
                </a:rPr>
                <a:t>1</a:t>
              </a:r>
              <a:endParaRPr lang="en-US" dirty="0">
                <a:solidFill>
                  <a:schemeClr val="bg1"/>
                </a:solidFill>
                <a:latin typeface="+mj-lt"/>
                <a:cs typeface="Arial" charset="0"/>
              </a:endParaRPr>
            </a:p>
          </p:txBody>
        </p:sp>
        <p:sp>
          <p:nvSpPr>
            <p:cNvPr id="129" name="TextBox 128">
              <a:extLst>
                <a:ext uri="{FF2B5EF4-FFF2-40B4-BE49-F238E27FC236}">
                  <a16:creationId xmlns:a16="http://schemas.microsoft.com/office/drawing/2014/main" id="{D7290A45-AB3C-499C-A6C5-153269920050}"/>
                </a:ext>
              </a:extLst>
            </p:cNvPr>
            <p:cNvSpPr txBox="1"/>
            <p:nvPr/>
          </p:nvSpPr>
          <p:spPr>
            <a:xfrm>
              <a:off x="6394295" y="2471708"/>
              <a:ext cx="298463" cy="361804"/>
            </a:xfrm>
            <a:prstGeom prst="rect">
              <a:avLst/>
            </a:prstGeom>
            <a:noFill/>
          </p:spPr>
          <p:txBody>
            <a:bodyPr wrap="none">
              <a:spAutoFit/>
            </a:bodyPr>
            <a:lstStyle/>
            <a:p>
              <a:pPr eaLnBrk="1" hangingPunct="1">
                <a:defRPr/>
              </a:pPr>
              <a:r>
                <a:rPr lang="en-US" sz="1600" dirty="0">
                  <a:solidFill>
                    <a:schemeClr val="bg1"/>
                  </a:solidFill>
                  <a:latin typeface="+mj-lt"/>
                  <a:cs typeface="Arial" charset="0"/>
                </a:rPr>
                <a:t>0</a:t>
              </a:r>
              <a:endParaRPr lang="en-US" dirty="0">
                <a:solidFill>
                  <a:schemeClr val="bg1"/>
                </a:solidFill>
                <a:latin typeface="+mj-lt"/>
                <a:cs typeface="Arial" charset="0"/>
              </a:endParaRPr>
            </a:p>
          </p:txBody>
        </p:sp>
        <p:grpSp>
          <p:nvGrpSpPr>
            <p:cNvPr id="29728" name="Group 129">
              <a:extLst>
                <a:ext uri="{FF2B5EF4-FFF2-40B4-BE49-F238E27FC236}">
                  <a16:creationId xmlns:a16="http://schemas.microsoft.com/office/drawing/2014/main" id="{DAD5D9E1-1409-4A99-BB0E-0236357E9BBB}"/>
                </a:ext>
              </a:extLst>
            </p:cNvPr>
            <p:cNvGrpSpPr>
              <a:grpSpLocks/>
            </p:cNvGrpSpPr>
            <p:nvPr/>
          </p:nvGrpSpPr>
          <p:grpSpPr bwMode="auto">
            <a:xfrm>
              <a:off x="3505200" y="3827722"/>
              <a:ext cx="3297391" cy="698796"/>
              <a:chOff x="3505200" y="4038600"/>
              <a:chExt cx="3297391" cy="487917"/>
            </a:xfrm>
          </p:grpSpPr>
          <p:cxnSp>
            <p:nvCxnSpPr>
              <p:cNvPr id="29748" name="Прямая соединительная линия 61">
                <a:extLst>
                  <a:ext uri="{FF2B5EF4-FFF2-40B4-BE49-F238E27FC236}">
                    <a16:creationId xmlns:a16="http://schemas.microsoft.com/office/drawing/2014/main" id="{636170EA-EE0F-4E09-ADB8-57A1692F7EF3}"/>
                  </a:ext>
                </a:extLst>
              </p:cNvPr>
              <p:cNvCxnSpPr>
                <a:cxnSpLocks noChangeShapeType="1"/>
              </p:cNvCxnSpPr>
              <p:nvPr/>
            </p:nvCxnSpPr>
            <p:spPr bwMode="auto">
              <a:xfrm rot="5400000" flipH="1" flipV="1">
                <a:off x="3261951" y="4281849"/>
                <a:ext cx="486498" cy="0"/>
              </a:xfrm>
              <a:prstGeom prst="line">
                <a:avLst/>
              </a:prstGeom>
              <a:noFill/>
              <a:ln w="9525" algn="ctr">
                <a:solidFill>
                  <a:schemeClr val="tx1"/>
                </a:solidFill>
                <a:round/>
                <a:headEnd/>
                <a:tailEnd/>
              </a:ln>
            </p:spPr>
          </p:cxnSp>
          <p:cxnSp>
            <p:nvCxnSpPr>
              <p:cNvPr id="29749" name="Прямая соединительная линия 61">
                <a:extLst>
                  <a:ext uri="{FF2B5EF4-FFF2-40B4-BE49-F238E27FC236}">
                    <a16:creationId xmlns:a16="http://schemas.microsoft.com/office/drawing/2014/main" id="{B08FB226-1837-4C2E-B972-383C5C41B06B}"/>
                  </a:ext>
                </a:extLst>
              </p:cNvPr>
              <p:cNvCxnSpPr>
                <a:cxnSpLocks noChangeShapeType="1"/>
              </p:cNvCxnSpPr>
              <p:nvPr/>
            </p:nvCxnSpPr>
            <p:spPr bwMode="auto">
              <a:xfrm rot="5400000" flipH="1" flipV="1">
                <a:off x="6558441" y="4282367"/>
                <a:ext cx="486498" cy="1802"/>
              </a:xfrm>
              <a:prstGeom prst="line">
                <a:avLst/>
              </a:prstGeom>
              <a:noFill/>
              <a:ln w="9525" algn="ctr">
                <a:solidFill>
                  <a:schemeClr val="tx1"/>
                </a:solidFill>
                <a:round/>
                <a:headEnd/>
                <a:tailEnd/>
              </a:ln>
            </p:spPr>
          </p:cxnSp>
        </p:grpSp>
        <p:sp>
          <p:nvSpPr>
            <p:cNvPr id="131" name="TextBox 130">
              <a:extLst>
                <a:ext uri="{FF2B5EF4-FFF2-40B4-BE49-F238E27FC236}">
                  <a16:creationId xmlns:a16="http://schemas.microsoft.com/office/drawing/2014/main" id="{0A56895A-B570-4C63-9846-4C9BD60C66EF}"/>
                </a:ext>
              </a:extLst>
            </p:cNvPr>
            <p:cNvSpPr txBox="1"/>
            <p:nvPr/>
          </p:nvSpPr>
          <p:spPr>
            <a:xfrm>
              <a:off x="6595897" y="3438724"/>
              <a:ext cx="413873" cy="328913"/>
            </a:xfrm>
            <a:prstGeom prst="rect">
              <a:avLst/>
            </a:prstGeom>
            <a:noFill/>
          </p:spPr>
          <p:txBody>
            <a:bodyPr wrap="none">
              <a:spAutoFit/>
            </a:bodyPr>
            <a:lstStyle/>
            <a:p>
              <a:pPr eaLnBrk="1" hangingPunct="1">
                <a:defRPr/>
              </a:pPr>
              <a:r>
                <a:rPr lang="en-US" sz="1400" dirty="0" err="1">
                  <a:solidFill>
                    <a:schemeClr val="bg1"/>
                  </a:solidFill>
                  <a:latin typeface="+mj-lt"/>
                  <a:cs typeface="Arial" charset="0"/>
                </a:rPr>
                <a:t>sel</a:t>
              </a:r>
              <a:endParaRPr lang="en-US" sz="1400" dirty="0">
                <a:solidFill>
                  <a:schemeClr val="bg1"/>
                </a:solidFill>
                <a:latin typeface="+mj-lt"/>
                <a:cs typeface="Arial" charset="0"/>
              </a:endParaRPr>
            </a:p>
          </p:txBody>
        </p:sp>
        <p:grpSp>
          <p:nvGrpSpPr>
            <p:cNvPr id="29730" name="Group 131">
              <a:extLst>
                <a:ext uri="{FF2B5EF4-FFF2-40B4-BE49-F238E27FC236}">
                  <a16:creationId xmlns:a16="http://schemas.microsoft.com/office/drawing/2014/main" id="{9F5E6D30-1AB3-452B-837E-B8CA9B6A35BC}"/>
                </a:ext>
              </a:extLst>
            </p:cNvPr>
            <p:cNvGrpSpPr>
              <a:grpSpLocks/>
            </p:cNvGrpSpPr>
            <p:nvPr/>
          </p:nvGrpSpPr>
          <p:grpSpPr bwMode="auto">
            <a:xfrm>
              <a:off x="4172247" y="2592127"/>
              <a:ext cx="1252428" cy="1041338"/>
              <a:chOff x="874856" y="2590708"/>
              <a:chExt cx="1252428" cy="1041338"/>
            </a:xfrm>
          </p:grpSpPr>
          <p:cxnSp>
            <p:nvCxnSpPr>
              <p:cNvPr id="29746" name="Прямая соединительная линия 18">
                <a:extLst>
                  <a:ext uri="{FF2B5EF4-FFF2-40B4-BE49-F238E27FC236}">
                    <a16:creationId xmlns:a16="http://schemas.microsoft.com/office/drawing/2014/main" id="{089E1702-9577-4237-85E7-390ED578F487}"/>
                  </a:ext>
                </a:extLst>
              </p:cNvPr>
              <p:cNvCxnSpPr>
                <a:cxnSpLocks noChangeShapeType="1"/>
              </p:cNvCxnSpPr>
              <p:nvPr/>
            </p:nvCxnSpPr>
            <p:spPr bwMode="auto">
              <a:xfrm flipV="1">
                <a:off x="874856" y="2590708"/>
                <a:ext cx="0" cy="1041338"/>
              </a:xfrm>
              <a:prstGeom prst="line">
                <a:avLst/>
              </a:prstGeom>
              <a:noFill/>
              <a:ln w="9525" algn="ctr">
                <a:solidFill>
                  <a:schemeClr val="tx1"/>
                </a:solidFill>
                <a:round/>
                <a:headEnd/>
                <a:tailEnd/>
              </a:ln>
            </p:spPr>
          </p:cxnSp>
          <p:cxnSp>
            <p:nvCxnSpPr>
              <p:cNvPr id="29747" name="Прямая соединительная линия 25">
                <a:extLst>
                  <a:ext uri="{FF2B5EF4-FFF2-40B4-BE49-F238E27FC236}">
                    <a16:creationId xmlns:a16="http://schemas.microsoft.com/office/drawing/2014/main" id="{449DC609-D22A-4CB5-91E6-283F1A7CAAA3}"/>
                  </a:ext>
                </a:extLst>
              </p:cNvPr>
              <p:cNvCxnSpPr>
                <a:cxnSpLocks noChangeShapeType="1"/>
              </p:cNvCxnSpPr>
              <p:nvPr/>
            </p:nvCxnSpPr>
            <p:spPr bwMode="auto">
              <a:xfrm>
                <a:off x="874856" y="2625415"/>
                <a:ext cx="1252428" cy="0"/>
              </a:xfrm>
              <a:prstGeom prst="line">
                <a:avLst/>
              </a:prstGeom>
              <a:noFill/>
              <a:ln w="9525" algn="ctr">
                <a:solidFill>
                  <a:schemeClr val="tx1"/>
                </a:solidFill>
                <a:round/>
                <a:headEnd/>
                <a:tailEnd/>
              </a:ln>
            </p:spPr>
          </p:cxnSp>
        </p:grpSp>
        <p:grpSp>
          <p:nvGrpSpPr>
            <p:cNvPr id="29731" name="Group 132">
              <a:extLst>
                <a:ext uri="{FF2B5EF4-FFF2-40B4-BE49-F238E27FC236}">
                  <a16:creationId xmlns:a16="http://schemas.microsoft.com/office/drawing/2014/main" id="{50AA663F-F155-46ED-9584-52EE72AB093D}"/>
                </a:ext>
              </a:extLst>
            </p:cNvPr>
            <p:cNvGrpSpPr>
              <a:grpSpLocks/>
            </p:cNvGrpSpPr>
            <p:nvPr/>
          </p:nvGrpSpPr>
          <p:grpSpPr bwMode="auto">
            <a:xfrm>
              <a:off x="4172247" y="3414973"/>
              <a:ext cx="2162228" cy="437702"/>
              <a:chOff x="336756" y="2427615"/>
              <a:chExt cx="2162228" cy="437702"/>
            </a:xfrm>
          </p:grpSpPr>
          <p:sp>
            <p:nvSpPr>
              <p:cNvPr id="143" name="Isosceles Triangle 77">
                <a:extLst>
                  <a:ext uri="{FF2B5EF4-FFF2-40B4-BE49-F238E27FC236}">
                    <a16:creationId xmlns:a16="http://schemas.microsoft.com/office/drawing/2014/main" id="{5DE3BF96-A157-4067-AFE2-A10EF67EC168}"/>
                  </a:ext>
                </a:extLst>
              </p:cNvPr>
              <p:cNvSpPr/>
              <p:nvPr/>
            </p:nvSpPr>
            <p:spPr bwMode="auto">
              <a:xfrm rot="5400000">
                <a:off x="1042243" y="2425022"/>
                <a:ext cx="437702" cy="442887"/>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solidFill>
                    <a:schemeClr val="bg1"/>
                  </a:solidFill>
                  <a:latin typeface="+mj-lt"/>
                  <a:cs typeface="Arial" charset="0"/>
                </a:endParaRPr>
              </a:p>
            </p:txBody>
          </p:sp>
          <p:cxnSp>
            <p:nvCxnSpPr>
              <p:cNvPr id="29742" name="Прямая соединительная линия 18">
                <a:extLst>
                  <a:ext uri="{FF2B5EF4-FFF2-40B4-BE49-F238E27FC236}">
                    <a16:creationId xmlns:a16="http://schemas.microsoft.com/office/drawing/2014/main" id="{B0870F90-6349-4AA0-8FA7-4C205D3F041C}"/>
                  </a:ext>
                </a:extLst>
              </p:cNvPr>
              <p:cNvCxnSpPr>
                <a:cxnSpLocks noChangeShapeType="1"/>
              </p:cNvCxnSpPr>
              <p:nvPr/>
            </p:nvCxnSpPr>
            <p:spPr bwMode="auto">
              <a:xfrm>
                <a:off x="336756" y="2644688"/>
                <a:ext cx="702907" cy="0"/>
              </a:xfrm>
              <a:prstGeom prst="line">
                <a:avLst/>
              </a:prstGeom>
              <a:noFill/>
              <a:ln w="9525" algn="ctr">
                <a:solidFill>
                  <a:schemeClr val="tx1"/>
                </a:solidFill>
                <a:round/>
                <a:headEnd/>
                <a:tailEnd/>
              </a:ln>
            </p:spPr>
          </p:cxnSp>
          <p:cxnSp>
            <p:nvCxnSpPr>
              <p:cNvPr id="29743" name="Прямая соединительная линия 25">
                <a:extLst>
                  <a:ext uri="{FF2B5EF4-FFF2-40B4-BE49-F238E27FC236}">
                    <a16:creationId xmlns:a16="http://schemas.microsoft.com/office/drawing/2014/main" id="{D2779D51-329E-401F-977A-4F0904B694D0}"/>
                  </a:ext>
                </a:extLst>
              </p:cNvPr>
              <p:cNvCxnSpPr>
                <a:cxnSpLocks noChangeShapeType="1"/>
                <a:stCxn id="29745" idx="6"/>
              </p:cNvCxnSpPr>
              <p:nvPr/>
            </p:nvCxnSpPr>
            <p:spPr bwMode="auto">
              <a:xfrm>
                <a:off x="1594042" y="2646107"/>
                <a:ext cx="904942" cy="0"/>
              </a:xfrm>
              <a:prstGeom prst="line">
                <a:avLst/>
              </a:prstGeom>
              <a:noFill/>
              <a:ln w="9525" algn="ctr">
                <a:solidFill>
                  <a:schemeClr val="tx1"/>
                </a:solidFill>
                <a:round/>
                <a:headEnd/>
                <a:tailEnd/>
              </a:ln>
            </p:spPr>
          </p:cxnSp>
          <p:sp>
            <p:nvSpPr>
              <p:cNvPr id="146" name="TextBox 145">
                <a:extLst>
                  <a:ext uri="{FF2B5EF4-FFF2-40B4-BE49-F238E27FC236}">
                    <a16:creationId xmlns:a16="http://schemas.microsoft.com/office/drawing/2014/main" id="{A88217FC-96B1-49DF-AD64-31CC358B40C1}"/>
                  </a:ext>
                </a:extLst>
              </p:cNvPr>
              <p:cNvSpPr txBox="1"/>
              <p:nvPr/>
            </p:nvSpPr>
            <p:spPr>
              <a:xfrm>
                <a:off x="984091" y="2461545"/>
                <a:ext cx="312889" cy="394695"/>
              </a:xfrm>
              <a:prstGeom prst="rect">
                <a:avLst/>
              </a:prstGeom>
              <a:noFill/>
            </p:spPr>
            <p:txBody>
              <a:bodyPr wrap="none">
                <a:spAutoFit/>
              </a:bodyPr>
              <a:lstStyle/>
              <a:p>
                <a:pPr eaLnBrk="1" hangingPunct="1">
                  <a:defRPr/>
                </a:pPr>
                <a:r>
                  <a:rPr lang="en-US" dirty="0">
                    <a:solidFill>
                      <a:schemeClr val="bg1"/>
                    </a:solidFill>
                    <a:latin typeface="+mj-lt"/>
                    <a:cs typeface="Arial" charset="0"/>
                  </a:rPr>
                  <a:t>1</a:t>
                </a:r>
              </a:p>
            </p:txBody>
          </p:sp>
          <p:sp>
            <p:nvSpPr>
              <p:cNvPr id="29745" name="Oval 146">
                <a:extLst>
                  <a:ext uri="{FF2B5EF4-FFF2-40B4-BE49-F238E27FC236}">
                    <a16:creationId xmlns:a16="http://schemas.microsoft.com/office/drawing/2014/main" id="{FCFCB702-B4AE-4FC2-AD8E-6C9E4165F2BB}"/>
                  </a:ext>
                </a:extLst>
              </p:cNvPr>
              <p:cNvSpPr>
                <a:spLocks noChangeArrowheads="1"/>
              </p:cNvSpPr>
              <p:nvPr/>
            </p:nvSpPr>
            <p:spPr bwMode="auto">
              <a:xfrm>
                <a:off x="1486082" y="2592127"/>
                <a:ext cx="107960" cy="10796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chemeClr val="bg1"/>
                  </a:solidFill>
                </a:endParaRPr>
              </a:p>
            </p:txBody>
          </p:sp>
        </p:grpSp>
        <p:sp>
          <p:nvSpPr>
            <p:cNvPr id="134" name="Isosceles Triangle 77">
              <a:extLst>
                <a:ext uri="{FF2B5EF4-FFF2-40B4-BE49-F238E27FC236}">
                  <a16:creationId xmlns:a16="http://schemas.microsoft.com/office/drawing/2014/main" id="{5135407C-A26F-4D89-A8A2-F1925481A9B0}"/>
                </a:ext>
              </a:extLst>
            </p:cNvPr>
            <p:cNvSpPr/>
            <p:nvPr/>
          </p:nvSpPr>
          <p:spPr bwMode="auto">
            <a:xfrm rot="5400000">
              <a:off x="5434916" y="2425005"/>
              <a:ext cx="437702" cy="442888"/>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solidFill>
                  <a:schemeClr val="bg1"/>
                </a:solidFill>
                <a:latin typeface="+mj-lt"/>
                <a:cs typeface="Arial" charset="0"/>
              </a:endParaRPr>
            </a:p>
          </p:txBody>
        </p:sp>
        <p:sp>
          <p:nvSpPr>
            <p:cNvPr id="135" name="TextBox 134">
              <a:extLst>
                <a:ext uri="{FF2B5EF4-FFF2-40B4-BE49-F238E27FC236}">
                  <a16:creationId xmlns:a16="http://schemas.microsoft.com/office/drawing/2014/main" id="{D7F822D7-D926-4DCA-B4E2-D37194B3F91B}"/>
                </a:ext>
              </a:extLst>
            </p:cNvPr>
            <p:cNvSpPr txBox="1"/>
            <p:nvPr/>
          </p:nvSpPr>
          <p:spPr>
            <a:xfrm>
              <a:off x="5376764" y="2442867"/>
              <a:ext cx="312889" cy="394696"/>
            </a:xfrm>
            <a:prstGeom prst="rect">
              <a:avLst/>
            </a:prstGeom>
            <a:noFill/>
          </p:spPr>
          <p:txBody>
            <a:bodyPr wrap="none">
              <a:spAutoFit/>
            </a:bodyPr>
            <a:lstStyle/>
            <a:p>
              <a:pPr eaLnBrk="1" hangingPunct="1">
                <a:defRPr/>
              </a:pPr>
              <a:r>
                <a:rPr lang="en-US" dirty="0">
                  <a:solidFill>
                    <a:schemeClr val="bg1"/>
                  </a:solidFill>
                  <a:latin typeface="+mj-lt"/>
                  <a:cs typeface="Arial" charset="0"/>
                </a:rPr>
                <a:t>1</a:t>
              </a:r>
            </a:p>
          </p:txBody>
        </p:sp>
        <p:sp>
          <p:nvSpPr>
            <p:cNvPr id="29734" name="Oval 135">
              <a:extLst>
                <a:ext uri="{FF2B5EF4-FFF2-40B4-BE49-F238E27FC236}">
                  <a16:creationId xmlns:a16="http://schemas.microsoft.com/office/drawing/2014/main" id="{22C14832-0AD3-4058-86D0-34AA2C5E2F11}"/>
                </a:ext>
              </a:extLst>
            </p:cNvPr>
            <p:cNvSpPr>
              <a:spLocks noChangeArrowheads="1"/>
            </p:cNvSpPr>
            <p:nvPr/>
          </p:nvSpPr>
          <p:spPr bwMode="auto">
            <a:xfrm>
              <a:off x="5878848" y="2592061"/>
              <a:ext cx="107960" cy="10796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chemeClr val="bg1"/>
                </a:solidFill>
              </a:endParaRPr>
            </a:p>
          </p:txBody>
        </p:sp>
        <p:grpSp>
          <p:nvGrpSpPr>
            <p:cNvPr id="29735" name="Group 136">
              <a:extLst>
                <a:ext uri="{FF2B5EF4-FFF2-40B4-BE49-F238E27FC236}">
                  <a16:creationId xmlns:a16="http://schemas.microsoft.com/office/drawing/2014/main" id="{4FB745BF-A8B7-4C85-838F-ECA339B4CF43}"/>
                </a:ext>
              </a:extLst>
            </p:cNvPr>
            <p:cNvGrpSpPr>
              <a:grpSpLocks/>
            </p:cNvGrpSpPr>
            <p:nvPr/>
          </p:nvGrpSpPr>
          <p:grpSpPr bwMode="auto">
            <a:xfrm>
              <a:off x="4821170" y="4303950"/>
              <a:ext cx="1968529" cy="437702"/>
              <a:chOff x="984527" y="2427328"/>
              <a:chExt cx="1968529" cy="437702"/>
            </a:xfrm>
          </p:grpSpPr>
          <p:sp>
            <p:nvSpPr>
              <p:cNvPr id="139" name="Isosceles Triangle 77">
                <a:extLst>
                  <a:ext uri="{FF2B5EF4-FFF2-40B4-BE49-F238E27FC236}">
                    <a16:creationId xmlns:a16="http://schemas.microsoft.com/office/drawing/2014/main" id="{53702D4C-030F-41E9-A035-270D3214D1B3}"/>
                  </a:ext>
                </a:extLst>
              </p:cNvPr>
              <p:cNvSpPr/>
              <p:nvPr/>
            </p:nvSpPr>
            <p:spPr bwMode="auto">
              <a:xfrm rot="5400000">
                <a:off x="1042679" y="2424735"/>
                <a:ext cx="437702" cy="442888"/>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solidFill>
                    <a:schemeClr val="bg1"/>
                  </a:solidFill>
                  <a:latin typeface="+mj-lt"/>
                  <a:cs typeface="Arial" charset="0"/>
                </a:endParaRPr>
              </a:p>
            </p:txBody>
          </p:sp>
          <p:cxnSp>
            <p:nvCxnSpPr>
              <p:cNvPr id="29738" name="Прямая соединительная линия 25">
                <a:extLst>
                  <a:ext uri="{FF2B5EF4-FFF2-40B4-BE49-F238E27FC236}">
                    <a16:creationId xmlns:a16="http://schemas.microsoft.com/office/drawing/2014/main" id="{05FDB81F-AA9E-4056-B83D-9A084E249347}"/>
                  </a:ext>
                </a:extLst>
              </p:cNvPr>
              <p:cNvCxnSpPr>
                <a:cxnSpLocks noChangeShapeType="1"/>
                <a:stCxn id="29740" idx="6"/>
              </p:cNvCxnSpPr>
              <p:nvPr/>
            </p:nvCxnSpPr>
            <p:spPr bwMode="auto">
              <a:xfrm flipV="1">
                <a:off x="1594042" y="2645697"/>
                <a:ext cx="1359014" cy="0"/>
              </a:xfrm>
              <a:prstGeom prst="line">
                <a:avLst/>
              </a:prstGeom>
              <a:noFill/>
              <a:ln w="9525" algn="ctr">
                <a:solidFill>
                  <a:schemeClr val="tx1"/>
                </a:solidFill>
                <a:round/>
                <a:headEnd/>
                <a:tailEnd/>
              </a:ln>
            </p:spPr>
          </p:cxnSp>
          <p:sp>
            <p:nvSpPr>
              <p:cNvPr id="141" name="TextBox 140">
                <a:extLst>
                  <a:ext uri="{FF2B5EF4-FFF2-40B4-BE49-F238E27FC236}">
                    <a16:creationId xmlns:a16="http://schemas.microsoft.com/office/drawing/2014/main" id="{38D5EACF-6CD2-4516-93D3-48DBC1ABB063}"/>
                  </a:ext>
                </a:extLst>
              </p:cNvPr>
              <p:cNvSpPr txBox="1"/>
              <p:nvPr/>
            </p:nvSpPr>
            <p:spPr>
              <a:xfrm>
                <a:off x="984527" y="2461259"/>
                <a:ext cx="312889" cy="394695"/>
              </a:xfrm>
              <a:prstGeom prst="rect">
                <a:avLst/>
              </a:prstGeom>
              <a:noFill/>
            </p:spPr>
            <p:txBody>
              <a:bodyPr wrap="none">
                <a:spAutoFit/>
              </a:bodyPr>
              <a:lstStyle/>
              <a:p>
                <a:pPr eaLnBrk="1" hangingPunct="1">
                  <a:defRPr/>
                </a:pPr>
                <a:r>
                  <a:rPr lang="en-US" dirty="0">
                    <a:solidFill>
                      <a:schemeClr val="bg1"/>
                    </a:solidFill>
                    <a:latin typeface="+mj-lt"/>
                    <a:cs typeface="Arial" charset="0"/>
                  </a:rPr>
                  <a:t>1</a:t>
                </a:r>
              </a:p>
            </p:txBody>
          </p:sp>
          <p:sp>
            <p:nvSpPr>
              <p:cNvPr id="29740" name="Oval 141">
                <a:extLst>
                  <a:ext uri="{FF2B5EF4-FFF2-40B4-BE49-F238E27FC236}">
                    <a16:creationId xmlns:a16="http://schemas.microsoft.com/office/drawing/2014/main" id="{43F9735F-8E2A-48AE-87BA-9F466CC2AF05}"/>
                  </a:ext>
                </a:extLst>
              </p:cNvPr>
              <p:cNvSpPr>
                <a:spLocks noChangeArrowheads="1"/>
              </p:cNvSpPr>
              <p:nvPr/>
            </p:nvSpPr>
            <p:spPr bwMode="auto">
              <a:xfrm>
                <a:off x="1486082" y="2592127"/>
                <a:ext cx="107960" cy="10796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chemeClr val="bg1"/>
                  </a:solidFill>
                </a:endParaRPr>
              </a:p>
            </p:txBody>
          </p:sp>
        </p:grpSp>
        <p:cxnSp>
          <p:nvCxnSpPr>
            <p:cNvPr id="29736" name="Прямая соединительная линия 47">
              <a:extLst>
                <a:ext uri="{FF2B5EF4-FFF2-40B4-BE49-F238E27FC236}">
                  <a16:creationId xmlns:a16="http://schemas.microsoft.com/office/drawing/2014/main" id="{FAF6C316-0295-4DFA-8115-352E18653117}"/>
                </a:ext>
              </a:extLst>
            </p:cNvPr>
            <p:cNvCxnSpPr>
              <a:cxnSpLocks noChangeShapeType="1"/>
            </p:cNvCxnSpPr>
            <p:nvPr/>
          </p:nvCxnSpPr>
          <p:spPr bwMode="auto">
            <a:xfrm>
              <a:off x="4010081" y="3158727"/>
              <a:ext cx="162166" cy="2787"/>
            </a:xfrm>
            <a:prstGeom prst="line">
              <a:avLst/>
            </a:prstGeom>
            <a:noFill/>
            <a:ln w="9525" algn="ctr">
              <a:solidFill>
                <a:schemeClr val="tx1"/>
              </a:solidFill>
              <a:round/>
              <a:headEnd/>
              <a:tailEnd/>
            </a:ln>
          </p:spPr>
        </p:cxnSp>
      </p:grpSp>
      <p:graphicFrame>
        <p:nvGraphicFramePr>
          <p:cNvPr id="162" name="Table 161">
            <a:extLst>
              <a:ext uri="{FF2B5EF4-FFF2-40B4-BE49-F238E27FC236}">
                <a16:creationId xmlns:a16="http://schemas.microsoft.com/office/drawing/2014/main" id="{F59CE9C3-93B5-409F-993E-CEE0F2DC5FA3}"/>
              </a:ext>
            </a:extLst>
          </p:cNvPr>
          <p:cNvGraphicFramePr>
            <a:graphicFrameLocks noGrp="1"/>
          </p:cNvGraphicFramePr>
          <p:nvPr/>
        </p:nvGraphicFramePr>
        <p:xfrm>
          <a:off x="8157558" y="4556760"/>
          <a:ext cx="2277684" cy="1241030"/>
        </p:xfrm>
        <a:graphic>
          <a:graphicData uri="http://schemas.openxmlformats.org/drawingml/2006/table">
            <a:tbl>
              <a:tblPr firstRow="1" bandRow="1">
                <a:tableStyleId>{5C22544A-7EE6-4342-B048-85BDC9FD1C3A}</a:tableStyleId>
              </a:tblPr>
              <a:tblGrid>
                <a:gridCol w="2277684">
                  <a:extLst>
                    <a:ext uri="{9D8B030D-6E8A-4147-A177-3AD203B41FA5}">
                      <a16:colId xmlns:a16="http://schemas.microsoft.com/office/drawing/2014/main" val="20000"/>
                    </a:ext>
                  </a:extLst>
                </a:gridCol>
              </a:tblGrid>
              <a:tr h="166816">
                <a:tc>
                  <a:txBody>
                    <a:bodyPr/>
                    <a:lstStyle/>
                    <a:p>
                      <a:pPr algn="ctr"/>
                      <a:r>
                        <a:rPr lang="en-US" sz="700" i="0" dirty="0">
                          <a:solidFill>
                            <a:schemeClr val="tx1"/>
                          </a:solidFill>
                        </a:rPr>
                        <a:t>Paths </a:t>
                      </a:r>
                    </a:p>
                  </a:txBody>
                  <a:tcPr marT="33363" marB="33363"/>
                </a:tc>
                <a:extLst>
                  <a:ext uri="{0D108BD9-81ED-4DB2-BD59-A6C34878D82A}">
                    <a16:rowId xmlns:a16="http://schemas.microsoft.com/office/drawing/2014/main" val="10000"/>
                  </a:ext>
                </a:extLst>
              </a:tr>
              <a:tr h="266906">
                <a:tc>
                  <a:txBody>
                    <a:bodyPr/>
                    <a:lstStyle/>
                    <a:p>
                      <a:endParaRPr lang="en-US" sz="1300"/>
                    </a:p>
                  </a:txBody>
                  <a:tcPr marT="33363" marB="33363">
                    <a:blipFill rotWithShape="0">
                      <a:blip r:embed="rId2"/>
                      <a:stretch>
                        <a:fillRect l="-267" t="-95122" r="-1070" b="-309756"/>
                      </a:stretch>
                    </a:blipFill>
                  </a:tcPr>
                </a:tc>
                <a:extLst>
                  <a:ext uri="{0D108BD9-81ED-4DB2-BD59-A6C34878D82A}">
                    <a16:rowId xmlns:a16="http://schemas.microsoft.com/office/drawing/2014/main" val="10001"/>
                  </a:ext>
                </a:extLst>
              </a:tr>
              <a:tr h="266906">
                <a:tc>
                  <a:txBody>
                    <a:bodyPr/>
                    <a:lstStyle/>
                    <a:p>
                      <a:endParaRPr lang="en-US" sz="1300"/>
                    </a:p>
                  </a:txBody>
                  <a:tcPr marT="33363" marB="33363">
                    <a:blipFill rotWithShape="0">
                      <a:blip r:embed="rId2"/>
                      <a:stretch>
                        <a:fillRect l="-267" t="-195122" r="-1070" b="-209756"/>
                      </a:stretch>
                    </a:blipFill>
                  </a:tcPr>
                </a:tc>
                <a:extLst>
                  <a:ext uri="{0D108BD9-81ED-4DB2-BD59-A6C34878D82A}">
                    <a16:rowId xmlns:a16="http://schemas.microsoft.com/office/drawing/2014/main" val="10002"/>
                  </a:ext>
                </a:extLst>
              </a:tr>
              <a:tr h="266906">
                <a:tc>
                  <a:txBody>
                    <a:bodyPr/>
                    <a:lstStyle/>
                    <a:p>
                      <a:endParaRPr lang="en-US" sz="1300"/>
                    </a:p>
                  </a:txBody>
                  <a:tcPr marT="33363" marB="33363">
                    <a:blipFill rotWithShape="0">
                      <a:blip r:embed="rId2"/>
                      <a:stretch>
                        <a:fillRect l="-267" t="-288095" r="-1070" b="-104762"/>
                      </a:stretch>
                    </a:blipFill>
                  </a:tcPr>
                </a:tc>
                <a:extLst>
                  <a:ext uri="{0D108BD9-81ED-4DB2-BD59-A6C34878D82A}">
                    <a16:rowId xmlns:a16="http://schemas.microsoft.com/office/drawing/2014/main" val="10003"/>
                  </a:ext>
                </a:extLst>
              </a:tr>
              <a:tr h="266906">
                <a:tc>
                  <a:txBody>
                    <a:bodyPr/>
                    <a:lstStyle/>
                    <a:p>
                      <a:endParaRPr lang="en-US" sz="1300"/>
                    </a:p>
                  </a:txBody>
                  <a:tcPr marT="33363" marB="33363">
                    <a:blipFill rotWithShape="0">
                      <a:blip r:embed="rId2"/>
                      <a:stretch>
                        <a:fillRect l="-267" t="-397561" r="-1070" b="-7317"/>
                      </a:stretch>
                    </a:blipFill>
                  </a:tcPr>
                </a:tc>
                <a:extLst>
                  <a:ext uri="{0D108BD9-81ED-4DB2-BD59-A6C34878D82A}">
                    <a16:rowId xmlns:a16="http://schemas.microsoft.com/office/drawing/2014/main" val="10004"/>
                  </a:ext>
                </a:extLst>
              </a:tr>
            </a:tbl>
          </a:graphicData>
        </a:graphic>
      </p:graphicFrame>
      <p:sp>
        <p:nvSpPr>
          <p:cNvPr id="29702" name="Freeform 162">
            <a:extLst>
              <a:ext uri="{FF2B5EF4-FFF2-40B4-BE49-F238E27FC236}">
                <a16:creationId xmlns:a16="http://schemas.microsoft.com/office/drawing/2014/main" id="{A1FB9EB9-E13B-4A7B-B90E-AA67FB49E179}"/>
              </a:ext>
            </a:extLst>
          </p:cNvPr>
          <p:cNvSpPr>
            <a:spLocks/>
          </p:cNvSpPr>
          <p:nvPr/>
        </p:nvSpPr>
        <p:spPr bwMode="auto">
          <a:xfrm>
            <a:off x="2247900" y="2819401"/>
            <a:ext cx="7048500" cy="708025"/>
          </a:xfrm>
          <a:custGeom>
            <a:avLst/>
            <a:gdLst>
              <a:gd name="T0" fmla="*/ 0 w 7048500"/>
              <a:gd name="T1" fmla="*/ 0 h 708660"/>
              <a:gd name="T2" fmla="*/ 373380 w 7048500"/>
              <a:gd name="T3" fmla="*/ 7620 h 708660"/>
              <a:gd name="T4" fmla="*/ 3048000 w 7048500"/>
              <a:gd name="T5" fmla="*/ 22860 h 708660"/>
              <a:gd name="T6" fmla="*/ 3101340 w 7048500"/>
              <a:gd name="T7" fmla="*/ 30480 h 708660"/>
              <a:gd name="T8" fmla="*/ 3177540 w 7048500"/>
              <a:gd name="T9" fmla="*/ 38100 h 708660"/>
              <a:gd name="T10" fmla="*/ 3238500 w 7048500"/>
              <a:gd name="T11" fmla="*/ 53340 h 708660"/>
              <a:gd name="T12" fmla="*/ 3337560 w 7048500"/>
              <a:gd name="T13" fmla="*/ 83820 h 708660"/>
              <a:gd name="T14" fmla="*/ 3383280 w 7048500"/>
              <a:gd name="T15" fmla="*/ 129540 h 708660"/>
              <a:gd name="T16" fmla="*/ 3406140 w 7048500"/>
              <a:gd name="T17" fmla="*/ 152400 h 708660"/>
              <a:gd name="T18" fmla="*/ 3429000 w 7048500"/>
              <a:gd name="T19" fmla="*/ 198120 h 708660"/>
              <a:gd name="T20" fmla="*/ 3474720 w 7048500"/>
              <a:gd name="T21" fmla="*/ 243840 h 708660"/>
              <a:gd name="T22" fmla="*/ 3505200 w 7048500"/>
              <a:gd name="T23" fmla="*/ 281940 h 708660"/>
              <a:gd name="T24" fmla="*/ 3535680 w 7048500"/>
              <a:gd name="T25" fmla="*/ 327660 h 708660"/>
              <a:gd name="T26" fmla="*/ 3558540 w 7048500"/>
              <a:gd name="T27" fmla="*/ 358140 h 708660"/>
              <a:gd name="T28" fmla="*/ 3573780 w 7048500"/>
              <a:gd name="T29" fmla="*/ 381000 h 708660"/>
              <a:gd name="T30" fmla="*/ 3596640 w 7048500"/>
              <a:gd name="T31" fmla="*/ 396240 h 708660"/>
              <a:gd name="T32" fmla="*/ 3627120 w 7048500"/>
              <a:gd name="T33" fmla="*/ 441960 h 708660"/>
              <a:gd name="T34" fmla="*/ 3665220 w 7048500"/>
              <a:gd name="T35" fmla="*/ 480060 h 708660"/>
              <a:gd name="T36" fmla="*/ 3688080 w 7048500"/>
              <a:gd name="T37" fmla="*/ 487680 h 708660"/>
              <a:gd name="T38" fmla="*/ 3710940 w 7048500"/>
              <a:gd name="T39" fmla="*/ 502920 h 708660"/>
              <a:gd name="T40" fmla="*/ 3741420 w 7048500"/>
              <a:gd name="T41" fmla="*/ 510540 h 708660"/>
              <a:gd name="T42" fmla="*/ 3817620 w 7048500"/>
              <a:gd name="T43" fmla="*/ 525780 h 708660"/>
              <a:gd name="T44" fmla="*/ 3962400 w 7048500"/>
              <a:gd name="T45" fmla="*/ 556260 h 708660"/>
              <a:gd name="T46" fmla="*/ 4091940 w 7048500"/>
              <a:gd name="T47" fmla="*/ 571500 h 708660"/>
              <a:gd name="T48" fmla="*/ 4122420 w 7048500"/>
              <a:gd name="T49" fmla="*/ 586740 h 708660"/>
              <a:gd name="T50" fmla="*/ 4145280 w 7048500"/>
              <a:gd name="T51" fmla="*/ 601980 h 708660"/>
              <a:gd name="T52" fmla="*/ 4335780 w 7048500"/>
              <a:gd name="T53" fmla="*/ 617220 h 708660"/>
              <a:gd name="T54" fmla="*/ 4381500 w 7048500"/>
              <a:gd name="T55" fmla="*/ 624840 h 708660"/>
              <a:gd name="T56" fmla="*/ 4434840 w 7048500"/>
              <a:gd name="T57" fmla="*/ 640080 h 708660"/>
              <a:gd name="T58" fmla="*/ 4503420 w 7048500"/>
              <a:gd name="T59" fmla="*/ 647700 h 708660"/>
              <a:gd name="T60" fmla="*/ 4549140 w 7048500"/>
              <a:gd name="T61" fmla="*/ 655320 h 708660"/>
              <a:gd name="T62" fmla="*/ 4572000 w 7048500"/>
              <a:gd name="T63" fmla="*/ 662940 h 708660"/>
              <a:gd name="T64" fmla="*/ 4663440 w 7048500"/>
              <a:gd name="T65" fmla="*/ 670560 h 708660"/>
              <a:gd name="T66" fmla="*/ 4709160 w 7048500"/>
              <a:gd name="T67" fmla="*/ 685800 h 708660"/>
              <a:gd name="T68" fmla="*/ 5013960 w 7048500"/>
              <a:gd name="T69" fmla="*/ 670560 h 708660"/>
              <a:gd name="T70" fmla="*/ 5836920 w 7048500"/>
              <a:gd name="T71" fmla="*/ 685800 h 708660"/>
              <a:gd name="T72" fmla="*/ 5974080 w 7048500"/>
              <a:gd name="T73" fmla="*/ 708660 h 708660"/>
              <a:gd name="T74" fmla="*/ 6233160 w 7048500"/>
              <a:gd name="T75" fmla="*/ 693420 h 708660"/>
              <a:gd name="T76" fmla="*/ 6271260 w 7048500"/>
              <a:gd name="T77" fmla="*/ 670560 h 708660"/>
              <a:gd name="T78" fmla="*/ 6294120 w 7048500"/>
              <a:gd name="T79" fmla="*/ 662940 h 708660"/>
              <a:gd name="T80" fmla="*/ 6324600 w 7048500"/>
              <a:gd name="T81" fmla="*/ 640080 h 708660"/>
              <a:gd name="T82" fmla="*/ 6370320 w 7048500"/>
              <a:gd name="T83" fmla="*/ 601980 h 708660"/>
              <a:gd name="T84" fmla="*/ 6423660 w 7048500"/>
              <a:gd name="T85" fmla="*/ 548640 h 708660"/>
              <a:gd name="T86" fmla="*/ 6438900 w 7048500"/>
              <a:gd name="T87" fmla="*/ 525780 h 708660"/>
              <a:gd name="T88" fmla="*/ 6461760 w 7048500"/>
              <a:gd name="T89" fmla="*/ 495300 h 708660"/>
              <a:gd name="T90" fmla="*/ 6484620 w 7048500"/>
              <a:gd name="T91" fmla="*/ 480060 h 708660"/>
              <a:gd name="T92" fmla="*/ 6530340 w 7048500"/>
              <a:gd name="T93" fmla="*/ 434340 h 708660"/>
              <a:gd name="T94" fmla="*/ 6576060 w 7048500"/>
              <a:gd name="T95" fmla="*/ 388620 h 708660"/>
              <a:gd name="T96" fmla="*/ 6598920 w 7048500"/>
              <a:gd name="T97" fmla="*/ 373380 h 708660"/>
              <a:gd name="T98" fmla="*/ 7048500 w 7048500"/>
              <a:gd name="T99" fmla="*/ 373380 h 70866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048500" h="708660">
                <a:moveTo>
                  <a:pt x="0" y="0"/>
                </a:moveTo>
                <a:lnTo>
                  <a:pt x="373380" y="7620"/>
                </a:lnTo>
                <a:lnTo>
                  <a:pt x="3048000" y="22860"/>
                </a:lnTo>
                <a:cubicBezTo>
                  <a:pt x="3065960" y="23011"/>
                  <a:pt x="3083503" y="28381"/>
                  <a:pt x="3101340" y="30480"/>
                </a:cubicBezTo>
                <a:cubicBezTo>
                  <a:pt x="3126692" y="33463"/>
                  <a:pt x="3152140" y="35560"/>
                  <a:pt x="3177540" y="38100"/>
                </a:cubicBezTo>
                <a:lnTo>
                  <a:pt x="3238500" y="53340"/>
                </a:lnTo>
                <a:cubicBezTo>
                  <a:pt x="3267868" y="60682"/>
                  <a:pt x="3309310" y="68125"/>
                  <a:pt x="3337560" y="83820"/>
                </a:cubicBezTo>
                <a:cubicBezTo>
                  <a:pt x="3378345" y="106479"/>
                  <a:pt x="3358847" y="100221"/>
                  <a:pt x="3383280" y="129540"/>
                </a:cubicBezTo>
                <a:cubicBezTo>
                  <a:pt x="3390179" y="137819"/>
                  <a:pt x="3398520" y="144780"/>
                  <a:pt x="3406140" y="152400"/>
                </a:cubicBezTo>
                <a:cubicBezTo>
                  <a:pt x="3413201" y="173584"/>
                  <a:pt x="3413244" y="180394"/>
                  <a:pt x="3429000" y="198120"/>
                </a:cubicBezTo>
                <a:cubicBezTo>
                  <a:pt x="3443319" y="214229"/>
                  <a:pt x="3474720" y="243840"/>
                  <a:pt x="3474720" y="243840"/>
                </a:cubicBezTo>
                <a:cubicBezTo>
                  <a:pt x="3491880" y="295320"/>
                  <a:pt x="3468082" y="239519"/>
                  <a:pt x="3505200" y="281940"/>
                </a:cubicBezTo>
                <a:cubicBezTo>
                  <a:pt x="3517261" y="295724"/>
                  <a:pt x="3524690" y="313007"/>
                  <a:pt x="3535680" y="327660"/>
                </a:cubicBezTo>
                <a:cubicBezTo>
                  <a:pt x="3543300" y="337820"/>
                  <a:pt x="3551158" y="347806"/>
                  <a:pt x="3558540" y="358140"/>
                </a:cubicBezTo>
                <a:cubicBezTo>
                  <a:pt x="3563863" y="365592"/>
                  <a:pt x="3567304" y="374524"/>
                  <a:pt x="3573780" y="381000"/>
                </a:cubicBezTo>
                <a:cubicBezTo>
                  <a:pt x="3580256" y="387476"/>
                  <a:pt x="3589020" y="391160"/>
                  <a:pt x="3596640" y="396240"/>
                </a:cubicBezTo>
                <a:cubicBezTo>
                  <a:pt x="3610031" y="436414"/>
                  <a:pt x="3595409" y="403907"/>
                  <a:pt x="3627120" y="441960"/>
                </a:cubicBezTo>
                <a:cubicBezTo>
                  <a:pt x="3648891" y="468086"/>
                  <a:pt x="3633289" y="464094"/>
                  <a:pt x="3665220" y="480060"/>
                </a:cubicBezTo>
                <a:cubicBezTo>
                  <a:pt x="3672404" y="483652"/>
                  <a:pt x="3680896" y="484088"/>
                  <a:pt x="3688080" y="487680"/>
                </a:cubicBezTo>
                <a:cubicBezTo>
                  <a:pt x="3696271" y="491776"/>
                  <a:pt x="3702522" y="499312"/>
                  <a:pt x="3710940" y="502920"/>
                </a:cubicBezTo>
                <a:cubicBezTo>
                  <a:pt x="3720566" y="507045"/>
                  <a:pt x="3731180" y="508346"/>
                  <a:pt x="3741420" y="510540"/>
                </a:cubicBezTo>
                <a:cubicBezTo>
                  <a:pt x="3766748" y="515967"/>
                  <a:pt x="3793570" y="516160"/>
                  <a:pt x="3817620" y="525780"/>
                </a:cubicBezTo>
                <a:cubicBezTo>
                  <a:pt x="3887944" y="553910"/>
                  <a:pt x="3845140" y="540270"/>
                  <a:pt x="3962400" y="556260"/>
                </a:cubicBezTo>
                <a:cubicBezTo>
                  <a:pt x="4008481" y="562544"/>
                  <a:pt x="4045354" y="566324"/>
                  <a:pt x="4091940" y="571500"/>
                </a:cubicBezTo>
                <a:cubicBezTo>
                  <a:pt x="4102100" y="576580"/>
                  <a:pt x="4112557" y="581104"/>
                  <a:pt x="4122420" y="586740"/>
                </a:cubicBezTo>
                <a:cubicBezTo>
                  <a:pt x="4130371" y="591284"/>
                  <a:pt x="4136214" y="600685"/>
                  <a:pt x="4145280" y="601980"/>
                </a:cubicBezTo>
                <a:cubicBezTo>
                  <a:pt x="4208343" y="610989"/>
                  <a:pt x="4272280" y="612140"/>
                  <a:pt x="4335780" y="617220"/>
                </a:cubicBezTo>
                <a:cubicBezTo>
                  <a:pt x="4351020" y="619760"/>
                  <a:pt x="4366445" y="621366"/>
                  <a:pt x="4381500" y="624840"/>
                </a:cubicBezTo>
                <a:cubicBezTo>
                  <a:pt x="4399518" y="628998"/>
                  <a:pt x="4416665" y="636672"/>
                  <a:pt x="4434840" y="640080"/>
                </a:cubicBezTo>
                <a:cubicBezTo>
                  <a:pt x="4457447" y="644319"/>
                  <a:pt x="4480621" y="644660"/>
                  <a:pt x="4503420" y="647700"/>
                </a:cubicBezTo>
                <a:cubicBezTo>
                  <a:pt x="4518735" y="649742"/>
                  <a:pt x="4534058" y="651968"/>
                  <a:pt x="4549140" y="655320"/>
                </a:cubicBezTo>
                <a:cubicBezTo>
                  <a:pt x="4556981" y="657062"/>
                  <a:pt x="4564038" y="661878"/>
                  <a:pt x="4572000" y="662940"/>
                </a:cubicBezTo>
                <a:cubicBezTo>
                  <a:pt x="4602317" y="666982"/>
                  <a:pt x="4632960" y="668020"/>
                  <a:pt x="4663440" y="670560"/>
                </a:cubicBezTo>
                <a:cubicBezTo>
                  <a:pt x="4678680" y="675640"/>
                  <a:pt x="4693100" y="685427"/>
                  <a:pt x="4709160" y="685800"/>
                </a:cubicBezTo>
                <a:cubicBezTo>
                  <a:pt x="4958241" y="691593"/>
                  <a:pt x="4905404" y="706745"/>
                  <a:pt x="5013960" y="670560"/>
                </a:cubicBezTo>
                <a:lnTo>
                  <a:pt x="5836920" y="685800"/>
                </a:lnTo>
                <a:cubicBezTo>
                  <a:pt x="5857298" y="686332"/>
                  <a:pt x="5969157" y="707765"/>
                  <a:pt x="5974080" y="708660"/>
                </a:cubicBezTo>
                <a:cubicBezTo>
                  <a:pt x="6060440" y="703580"/>
                  <a:pt x="6147353" y="704421"/>
                  <a:pt x="6233160" y="693420"/>
                </a:cubicBezTo>
                <a:cubicBezTo>
                  <a:pt x="6247850" y="691537"/>
                  <a:pt x="6258013" y="677184"/>
                  <a:pt x="6271260" y="670560"/>
                </a:cubicBezTo>
                <a:cubicBezTo>
                  <a:pt x="6278444" y="666968"/>
                  <a:pt x="6286500" y="665480"/>
                  <a:pt x="6294120" y="662940"/>
                </a:cubicBezTo>
                <a:cubicBezTo>
                  <a:pt x="6304280" y="655320"/>
                  <a:pt x="6315620" y="649060"/>
                  <a:pt x="6324600" y="640080"/>
                </a:cubicBezTo>
                <a:cubicBezTo>
                  <a:pt x="6366119" y="598561"/>
                  <a:pt x="6326659" y="616534"/>
                  <a:pt x="6370320" y="601980"/>
                </a:cubicBezTo>
                <a:cubicBezTo>
                  <a:pt x="6431280" y="520700"/>
                  <a:pt x="6352540" y="619760"/>
                  <a:pt x="6423660" y="548640"/>
                </a:cubicBezTo>
                <a:cubicBezTo>
                  <a:pt x="6430136" y="542164"/>
                  <a:pt x="6433577" y="533232"/>
                  <a:pt x="6438900" y="525780"/>
                </a:cubicBezTo>
                <a:cubicBezTo>
                  <a:pt x="6446282" y="515446"/>
                  <a:pt x="6452780" y="504280"/>
                  <a:pt x="6461760" y="495300"/>
                </a:cubicBezTo>
                <a:cubicBezTo>
                  <a:pt x="6468236" y="488824"/>
                  <a:pt x="6477000" y="485140"/>
                  <a:pt x="6484620" y="480060"/>
                </a:cubicBezTo>
                <a:cubicBezTo>
                  <a:pt x="6513720" y="436409"/>
                  <a:pt x="6483082" y="476872"/>
                  <a:pt x="6530340" y="434340"/>
                </a:cubicBezTo>
                <a:cubicBezTo>
                  <a:pt x="6546360" y="419922"/>
                  <a:pt x="6558127" y="400575"/>
                  <a:pt x="6576060" y="388620"/>
                </a:cubicBezTo>
                <a:cubicBezTo>
                  <a:pt x="6583680" y="383540"/>
                  <a:pt x="6589767" y="373675"/>
                  <a:pt x="6598920" y="373380"/>
                </a:cubicBezTo>
                <a:cubicBezTo>
                  <a:pt x="6748702" y="368548"/>
                  <a:pt x="6898640" y="373380"/>
                  <a:pt x="7048500" y="373380"/>
                </a:cubicBezTo>
              </a:path>
            </a:pathLst>
          </a:custGeom>
          <a:noFill/>
          <a:ln w="12700"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9703" name="Freeform 163">
            <a:extLst>
              <a:ext uri="{FF2B5EF4-FFF2-40B4-BE49-F238E27FC236}">
                <a16:creationId xmlns:a16="http://schemas.microsoft.com/office/drawing/2014/main" id="{4449C2F7-B12A-4D23-B218-64A1386854E0}"/>
              </a:ext>
            </a:extLst>
          </p:cNvPr>
          <p:cNvSpPr>
            <a:spLocks/>
          </p:cNvSpPr>
          <p:nvPr/>
        </p:nvSpPr>
        <p:spPr bwMode="auto">
          <a:xfrm flipV="1">
            <a:off x="2225675" y="2720976"/>
            <a:ext cx="7048500" cy="708025"/>
          </a:xfrm>
          <a:custGeom>
            <a:avLst/>
            <a:gdLst>
              <a:gd name="T0" fmla="*/ 0 w 7048500"/>
              <a:gd name="T1" fmla="*/ 0 h 708660"/>
              <a:gd name="T2" fmla="*/ 373380 w 7048500"/>
              <a:gd name="T3" fmla="*/ 7620 h 708660"/>
              <a:gd name="T4" fmla="*/ 3048000 w 7048500"/>
              <a:gd name="T5" fmla="*/ 22860 h 708660"/>
              <a:gd name="T6" fmla="*/ 3101340 w 7048500"/>
              <a:gd name="T7" fmla="*/ 30480 h 708660"/>
              <a:gd name="T8" fmla="*/ 3177540 w 7048500"/>
              <a:gd name="T9" fmla="*/ 38100 h 708660"/>
              <a:gd name="T10" fmla="*/ 3238500 w 7048500"/>
              <a:gd name="T11" fmla="*/ 53340 h 708660"/>
              <a:gd name="T12" fmla="*/ 3337560 w 7048500"/>
              <a:gd name="T13" fmla="*/ 83820 h 708660"/>
              <a:gd name="T14" fmla="*/ 3383280 w 7048500"/>
              <a:gd name="T15" fmla="*/ 129540 h 708660"/>
              <a:gd name="T16" fmla="*/ 3406140 w 7048500"/>
              <a:gd name="T17" fmla="*/ 152400 h 708660"/>
              <a:gd name="T18" fmla="*/ 3429000 w 7048500"/>
              <a:gd name="T19" fmla="*/ 198120 h 708660"/>
              <a:gd name="T20" fmla="*/ 3474720 w 7048500"/>
              <a:gd name="T21" fmla="*/ 243840 h 708660"/>
              <a:gd name="T22" fmla="*/ 3505200 w 7048500"/>
              <a:gd name="T23" fmla="*/ 281940 h 708660"/>
              <a:gd name="T24" fmla="*/ 3535680 w 7048500"/>
              <a:gd name="T25" fmla="*/ 327660 h 708660"/>
              <a:gd name="T26" fmla="*/ 3558540 w 7048500"/>
              <a:gd name="T27" fmla="*/ 358140 h 708660"/>
              <a:gd name="T28" fmla="*/ 3573780 w 7048500"/>
              <a:gd name="T29" fmla="*/ 381000 h 708660"/>
              <a:gd name="T30" fmla="*/ 3596640 w 7048500"/>
              <a:gd name="T31" fmla="*/ 396240 h 708660"/>
              <a:gd name="T32" fmla="*/ 3627120 w 7048500"/>
              <a:gd name="T33" fmla="*/ 441960 h 708660"/>
              <a:gd name="T34" fmla="*/ 3665220 w 7048500"/>
              <a:gd name="T35" fmla="*/ 480060 h 708660"/>
              <a:gd name="T36" fmla="*/ 3688080 w 7048500"/>
              <a:gd name="T37" fmla="*/ 487680 h 708660"/>
              <a:gd name="T38" fmla="*/ 3710940 w 7048500"/>
              <a:gd name="T39" fmla="*/ 502920 h 708660"/>
              <a:gd name="T40" fmla="*/ 3741420 w 7048500"/>
              <a:gd name="T41" fmla="*/ 510540 h 708660"/>
              <a:gd name="T42" fmla="*/ 3817620 w 7048500"/>
              <a:gd name="T43" fmla="*/ 525780 h 708660"/>
              <a:gd name="T44" fmla="*/ 3962400 w 7048500"/>
              <a:gd name="T45" fmla="*/ 556260 h 708660"/>
              <a:gd name="T46" fmla="*/ 4091940 w 7048500"/>
              <a:gd name="T47" fmla="*/ 571500 h 708660"/>
              <a:gd name="T48" fmla="*/ 4122420 w 7048500"/>
              <a:gd name="T49" fmla="*/ 586740 h 708660"/>
              <a:gd name="T50" fmla="*/ 4145280 w 7048500"/>
              <a:gd name="T51" fmla="*/ 601980 h 708660"/>
              <a:gd name="T52" fmla="*/ 4335780 w 7048500"/>
              <a:gd name="T53" fmla="*/ 617220 h 708660"/>
              <a:gd name="T54" fmla="*/ 4381500 w 7048500"/>
              <a:gd name="T55" fmla="*/ 624840 h 708660"/>
              <a:gd name="T56" fmla="*/ 4434840 w 7048500"/>
              <a:gd name="T57" fmla="*/ 640080 h 708660"/>
              <a:gd name="T58" fmla="*/ 4503420 w 7048500"/>
              <a:gd name="T59" fmla="*/ 647700 h 708660"/>
              <a:gd name="T60" fmla="*/ 4549140 w 7048500"/>
              <a:gd name="T61" fmla="*/ 655320 h 708660"/>
              <a:gd name="T62" fmla="*/ 4572000 w 7048500"/>
              <a:gd name="T63" fmla="*/ 662940 h 708660"/>
              <a:gd name="T64" fmla="*/ 4663440 w 7048500"/>
              <a:gd name="T65" fmla="*/ 670560 h 708660"/>
              <a:gd name="T66" fmla="*/ 4709160 w 7048500"/>
              <a:gd name="T67" fmla="*/ 685800 h 708660"/>
              <a:gd name="T68" fmla="*/ 5013960 w 7048500"/>
              <a:gd name="T69" fmla="*/ 670560 h 708660"/>
              <a:gd name="T70" fmla="*/ 5836920 w 7048500"/>
              <a:gd name="T71" fmla="*/ 685800 h 708660"/>
              <a:gd name="T72" fmla="*/ 5974080 w 7048500"/>
              <a:gd name="T73" fmla="*/ 708660 h 708660"/>
              <a:gd name="T74" fmla="*/ 6233160 w 7048500"/>
              <a:gd name="T75" fmla="*/ 693420 h 708660"/>
              <a:gd name="T76" fmla="*/ 6271260 w 7048500"/>
              <a:gd name="T77" fmla="*/ 670560 h 708660"/>
              <a:gd name="T78" fmla="*/ 6294120 w 7048500"/>
              <a:gd name="T79" fmla="*/ 662940 h 708660"/>
              <a:gd name="T80" fmla="*/ 6324600 w 7048500"/>
              <a:gd name="T81" fmla="*/ 640080 h 708660"/>
              <a:gd name="T82" fmla="*/ 6370320 w 7048500"/>
              <a:gd name="T83" fmla="*/ 601980 h 708660"/>
              <a:gd name="T84" fmla="*/ 6423660 w 7048500"/>
              <a:gd name="T85" fmla="*/ 548640 h 708660"/>
              <a:gd name="T86" fmla="*/ 6438900 w 7048500"/>
              <a:gd name="T87" fmla="*/ 525780 h 708660"/>
              <a:gd name="T88" fmla="*/ 6461760 w 7048500"/>
              <a:gd name="T89" fmla="*/ 495300 h 708660"/>
              <a:gd name="T90" fmla="*/ 6484620 w 7048500"/>
              <a:gd name="T91" fmla="*/ 480060 h 708660"/>
              <a:gd name="T92" fmla="*/ 6530340 w 7048500"/>
              <a:gd name="T93" fmla="*/ 434340 h 708660"/>
              <a:gd name="T94" fmla="*/ 6576060 w 7048500"/>
              <a:gd name="T95" fmla="*/ 388620 h 708660"/>
              <a:gd name="T96" fmla="*/ 6598920 w 7048500"/>
              <a:gd name="T97" fmla="*/ 373380 h 708660"/>
              <a:gd name="T98" fmla="*/ 7048500 w 7048500"/>
              <a:gd name="T99" fmla="*/ 373380 h 70866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048500" h="708660">
                <a:moveTo>
                  <a:pt x="0" y="0"/>
                </a:moveTo>
                <a:lnTo>
                  <a:pt x="373380" y="7620"/>
                </a:lnTo>
                <a:lnTo>
                  <a:pt x="3048000" y="22860"/>
                </a:lnTo>
                <a:cubicBezTo>
                  <a:pt x="3065960" y="23011"/>
                  <a:pt x="3083503" y="28381"/>
                  <a:pt x="3101340" y="30480"/>
                </a:cubicBezTo>
                <a:cubicBezTo>
                  <a:pt x="3126692" y="33463"/>
                  <a:pt x="3152140" y="35560"/>
                  <a:pt x="3177540" y="38100"/>
                </a:cubicBezTo>
                <a:lnTo>
                  <a:pt x="3238500" y="53340"/>
                </a:lnTo>
                <a:cubicBezTo>
                  <a:pt x="3267868" y="60682"/>
                  <a:pt x="3309310" y="68125"/>
                  <a:pt x="3337560" y="83820"/>
                </a:cubicBezTo>
                <a:cubicBezTo>
                  <a:pt x="3378345" y="106479"/>
                  <a:pt x="3358847" y="100221"/>
                  <a:pt x="3383280" y="129540"/>
                </a:cubicBezTo>
                <a:cubicBezTo>
                  <a:pt x="3390179" y="137819"/>
                  <a:pt x="3398520" y="144780"/>
                  <a:pt x="3406140" y="152400"/>
                </a:cubicBezTo>
                <a:cubicBezTo>
                  <a:pt x="3413201" y="173584"/>
                  <a:pt x="3413244" y="180394"/>
                  <a:pt x="3429000" y="198120"/>
                </a:cubicBezTo>
                <a:cubicBezTo>
                  <a:pt x="3443319" y="214229"/>
                  <a:pt x="3474720" y="243840"/>
                  <a:pt x="3474720" y="243840"/>
                </a:cubicBezTo>
                <a:cubicBezTo>
                  <a:pt x="3491880" y="295320"/>
                  <a:pt x="3468082" y="239519"/>
                  <a:pt x="3505200" y="281940"/>
                </a:cubicBezTo>
                <a:cubicBezTo>
                  <a:pt x="3517261" y="295724"/>
                  <a:pt x="3524690" y="313007"/>
                  <a:pt x="3535680" y="327660"/>
                </a:cubicBezTo>
                <a:cubicBezTo>
                  <a:pt x="3543300" y="337820"/>
                  <a:pt x="3551158" y="347806"/>
                  <a:pt x="3558540" y="358140"/>
                </a:cubicBezTo>
                <a:cubicBezTo>
                  <a:pt x="3563863" y="365592"/>
                  <a:pt x="3567304" y="374524"/>
                  <a:pt x="3573780" y="381000"/>
                </a:cubicBezTo>
                <a:cubicBezTo>
                  <a:pt x="3580256" y="387476"/>
                  <a:pt x="3589020" y="391160"/>
                  <a:pt x="3596640" y="396240"/>
                </a:cubicBezTo>
                <a:cubicBezTo>
                  <a:pt x="3610031" y="436414"/>
                  <a:pt x="3595409" y="403907"/>
                  <a:pt x="3627120" y="441960"/>
                </a:cubicBezTo>
                <a:cubicBezTo>
                  <a:pt x="3648891" y="468086"/>
                  <a:pt x="3633289" y="464094"/>
                  <a:pt x="3665220" y="480060"/>
                </a:cubicBezTo>
                <a:cubicBezTo>
                  <a:pt x="3672404" y="483652"/>
                  <a:pt x="3680896" y="484088"/>
                  <a:pt x="3688080" y="487680"/>
                </a:cubicBezTo>
                <a:cubicBezTo>
                  <a:pt x="3696271" y="491776"/>
                  <a:pt x="3702522" y="499312"/>
                  <a:pt x="3710940" y="502920"/>
                </a:cubicBezTo>
                <a:cubicBezTo>
                  <a:pt x="3720566" y="507045"/>
                  <a:pt x="3731180" y="508346"/>
                  <a:pt x="3741420" y="510540"/>
                </a:cubicBezTo>
                <a:cubicBezTo>
                  <a:pt x="3766748" y="515967"/>
                  <a:pt x="3793570" y="516160"/>
                  <a:pt x="3817620" y="525780"/>
                </a:cubicBezTo>
                <a:cubicBezTo>
                  <a:pt x="3887944" y="553910"/>
                  <a:pt x="3845140" y="540270"/>
                  <a:pt x="3962400" y="556260"/>
                </a:cubicBezTo>
                <a:cubicBezTo>
                  <a:pt x="4008481" y="562544"/>
                  <a:pt x="4045354" y="566324"/>
                  <a:pt x="4091940" y="571500"/>
                </a:cubicBezTo>
                <a:cubicBezTo>
                  <a:pt x="4102100" y="576580"/>
                  <a:pt x="4112557" y="581104"/>
                  <a:pt x="4122420" y="586740"/>
                </a:cubicBezTo>
                <a:cubicBezTo>
                  <a:pt x="4130371" y="591284"/>
                  <a:pt x="4136214" y="600685"/>
                  <a:pt x="4145280" y="601980"/>
                </a:cubicBezTo>
                <a:cubicBezTo>
                  <a:pt x="4208343" y="610989"/>
                  <a:pt x="4272280" y="612140"/>
                  <a:pt x="4335780" y="617220"/>
                </a:cubicBezTo>
                <a:cubicBezTo>
                  <a:pt x="4351020" y="619760"/>
                  <a:pt x="4366445" y="621366"/>
                  <a:pt x="4381500" y="624840"/>
                </a:cubicBezTo>
                <a:cubicBezTo>
                  <a:pt x="4399518" y="628998"/>
                  <a:pt x="4416665" y="636672"/>
                  <a:pt x="4434840" y="640080"/>
                </a:cubicBezTo>
                <a:cubicBezTo>
                  <a:pt x="4457447" y="644319"/>
                  <a:pt x="4480621" y="644660"/>
                  <a:pt x="4503420" y="647700"/>
                </a:cubicBezTo>
                <a:cubicBezTo>
                  <a:pt x="4518735" y="649742"/>
                  <a:pt x="4534058" y="651968"/>
                  <a:pt x="4549140" y="655320"/>
                </a:cubicBezTo>
                <a:cubicBezTo>
                  <a:pt x="4556981" y="657062"/>
                  <a:pt x="4564038" y="661878"/>
                  <a:pt x="4572000" y="662940"/>
                </a:cubicBezTo>
                <a:cubicBezTo>
                  <a:pt x="4602317" y="666982"/>
                  <a:pt x="4632960" y="668020"/>
                  <a:pt x="4663440" y="670560"/>
                </a:cubicBezTo>
                <a:cubicBezTo>
                  <a:pt x="4678680" y="675640"/>
                  <a:pt x="4693100" y="685427"/>
                  <a:pt x="4709160" y="685800"/>
                </a:cubicBezTo>
                <a:cubicBezTo>
                  <a:pt x="4958241" y="691593"/>
                  <a:pt x="4905404" y="706745"/>
                  <a:pt x="5013960" y="670560"/>
                </a:cubicBezTo>
                <a:lnTo>
                  <a:pt x="5836920" y="685800"/>
                </a:lnTo>
                <a:cubicBezTo>
                  <a:pt x="5857298" y="686332"/>
                  <a:pt x="5969157" y="707765"/>
                  <a:pt x="5974080" y="708660"/>
                </a:cubicBezTo>
                <a:cubicBezTo>
                  <a:pt x="6060440" y="703580"/>
                  <a:pt x="6147353" y="704421"/>
                  <a:pt x="6233160" y="693420"/>
                </a:cubicBezTo>
                <a:cubicBezTo>
                  <a:pt x="6247850" y="691537"/>
                  <a:pt x="6258013" y="677184"/>
                  <a:pt x="6271260" y="670560"/>
                </a:cubicBezTo>
                <a:cubicBezTo>
                  <a:pt x="6278444" y="666968"/>
                  <a:pt x="6286500" y="665480"/>
                  <a:pt x="6294120" y="662940"/>
                </a:cubicBezTo>
                <a:cubicBezTo>
                  <a:pt x="6304280" y="655320"/>
                  <a:pt x="6315620" y="649060"/>
                  <a:pt x="6324600" y="640080"/>
                </a:cubicBezTo>
                <a:cubicBezTo>
                  <a:pt x="6366119" y="598561"/>
                  <a:pt x="6326659" y="616534"/>
                  <a:pt x="6370320" y="601980"/>
                </a:cubicBezTo>
                <a:cubicBezTo>
                  <a:pt x="6431280" y="520700"/>
                  <a:pt x="6352540" y="619760"/>
                  <a:pt x="6423660" y="548640"/>
                </a:cubicBezTo>
                <a:cubicBezTo>
                  <a:pt x="6430136" y="542164"/>
                  <a:pt x="6433577" y="533232"/>
                  <a:pt x="6438900" y="525780"/>
                </a:cubicBezTo>
                <a:cubicBezTo>
                  <a:pt x="6446282" y="515446"/>
                  <a:pt x="6452780" y="504280"/>
                  <a:pt x="6461760" y="495300"/>
                </a:cubicBezTo>
                <a:cubicBezTo>
                  <a:pt x="6468236" y="488824"/>
                  <a:pt x="6477000" y="485140"/>
                  <a:pt x="6484620" y="480060"/>
                </a:cubicBezTo>
                <a:cubicBezTo>
                  <a:pt x="6513720" y="436409"/>
                  <a:pt x="6483082" y="476872"/>
                  <a:pt x="6530340" y="434340"/>
                </a:cubicBezTo>
                <a:cubicBezTo>
                  <a:pt x="6546360" y="419922"/>
                  <a:pt x="6558127" y="400575"/>
                  <a:pt x="6576060" y="388620"/>
                </a:cubicBezTo>
                <a:cubicBezTo>
                  <a:pt x="6583680" y="383540"/>
                  <a:pt x="6589767" y="373675"/>
                  <a:pt x="6598920" y="373380"/>
                </a:cubicBezTo>
                <a:cubicBezTo>
                  <a:pt x="6748702" y="368548"/>
                  <a:pt x="6898640" y="373380"/>
                  <a:pt x="7048500" y="373380"/>
                </a:cubicBezTo>
              </a:path>
            </a:pathLst>
          </a:custGeom>
          <a:noFill/>
          <a:ln w="12700" cap="flat" cmpd="sng" algn="ctr">
            <a:solidFill>
              <a:schemeClr val="tx2"/>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9704" name="Freeform 164">
            <a:extLst>
              <a:ext uri="{FF2B5EF4-FFF2-40B4-BE49-F238E27FC236}">
                <a16:creationId xmlns:a16="http://schemas.microsoft.com/office/drawing/2014/main" id="{EF37DCE8-EC95-4A19-A639-9E598A740D91}"/>
              </a:ext>
            </a:extLst>
          </p:cNvPr>
          <p:cNvSpPr>
            <a:spLocks/>
          </p:cNvSpPr>
          <p:nvPr/>
        </p:nvSpPr>
        <p:spPr bwMode="auto">
          <a:xfrm>
            <a:off x="2278064" y="3321050"/>
            <a:ext cx="7064375" cy="565150"/>
          </a:xfrm>
          <a:custGeom>
            <a:avLst/>
            <a:gdLst/>
            <a:ahLst/>
            <a:cxnLst/>
            <a:rect l="0" t="0" r="r" b="b"/>
            <a:pathLst>
              <a:path w="7063740" h="564442">
                <a:moveTo>
                  <a:pt x="0" y="564442"/>
                </a:moveTo>
                <a:lnTo>
                  <a:pt x="2080260" y="556822"/>
                </a:lnTo>
                <a:cubicBezTo>
                  <a:pt x="2151558" y="556111"/>
                  <a:pt x="2222470" y="546222"/>
                  <a:pt x="2293620" y="541582"/>
                </a:cubicBezTo>
                <a:lnTo>
                  <a:pt x="2430780" y="533962"/>
                </a:lnTo>
                <a:cubicBezTo>
                  <a:pt x="2519753" y="527247"/>
                  <a:pt x="2697480" y="511102"/>
                  <a:pt x="2697480" y="511102"/>
                </a:cubicBezTo>
                <a:cubicBezTo>
                  <a:pt x="2712720" y="506022"/>
                  <a:pt x="2727411" y="498822"/>
                  <a:pt x="2743200" y="495862"/>
                </a:cubicBezTo>
                <a:cubicBezTo>
                  <a:pt x="2877908" y="470604"/>
                  <a:pt x="2779288" y="501613"/>
                  <a:pt x="2842260" y="480622"/>
                </a:cubicBezTo>
                <a:cubicBezTo>
                  <a:pt x="2849880" y="473002"/>
                  <a:pt x="2855764" y="463109"/>
                  <a:pt x="2865120" y="457762"/>
                </a:cubicBezTo>
                <a:cubicBezTo>
                  <a:pt x="2874213" y="452566"/>
                  <a:pt x="2887555" y="456846"/>
                  <a:pt x="2895600" y="450142"/>
                </a:cubicBezTo>
                <a:cubicBezTo>
                  <a:pt x="2958374" y="397831"/>
                  <a:pt x="2868992" y="433611"/>
                  <a:pt x="2933700" y="412042"/>
                </a:cubicBezTo>
                <a:cubicBezTo>
                  <a:pt x="2941320" y="404422"/>
                  <a:pt x="2949547" y="397364"/>
                  <a:pt x="2956560" y="389182"/>
                </a:cubicBezTo>
                <a:cubicBezTo>
                  <a:pt x="2964825" y="379539"/>
                  <a:pt x="2969664" y="366832"/>
                  <a:pt x="2979420" y="358702"/>
                </a:cubicBezTo>
                <a:cubicBezTo>
                  <a:pt x="2985590" y="353560"/>
                  <a:pt x="2994660" y="353622"/>
                  <a:pt x="3002280" y="351082"/>
                </a:cubicBezTo>
                <a:cubicBezTo>
                  <a:pt x="3007360" y="343462"/>
                  <a:pt x="3011044" y="334698"/>
                  <a:pt x="3017520" y="328222"/>
                </a:cubicBezTo>
                <a:cubicBezTo>
                  <a:pt x="3045155" y="300587"/>
                  <a:pt x="3037989" y="324636"/>
                  <a:pt x="3070860" y="297742"/>
                </a:cubicBezTo>
                <a:cubicBezTo>
                  <a:pt x="3090321" y="281819"/>
                  <a:pt x="3101710" y="255647"/>
                  <a:pt x="3124200" y="244402"/>
                </a:cubicBezTo>
                <a:cubicBezTo>
                  <a:pt x="3134360" y="239322"/>
                  <a:pt x="3145437" y="235764"/>
                  <a:pt x="3154680" y="229162"/>
                </a:cubicBezTo>
                <a:cubicBezTo>
                  <a:pt x="3163449" y="222898"/>
                  <a:pt x="3170641" y="214581"/>
                  <a:pt x="3177540" y="206302"/>
                </a:cubicBezTo>
                <a:cubicBezTo>
                  <a:pt x="3183403" y="199267"/>
                  <a:pt x="3185629" y="189163"/>
                  <a:pt x="3192780" y="183442"/>
                </a:cubicBezTo>
                <a:cubicBezTo>
                  <a:pt x="3199052" y="178424"/>
                  <a:pt x="3208020" y="178362"/>
                  <a:pt x="3215640" y="175822"/>
                </a:cubicBezTo>
                <a:cubicBezTo>
                  <a:pt x="3226885" y="158954"/>
                  <a:pt x="3236139" y="141836"/>
                  <a:pt x="3253740" y="130102"/>
                </a:cubicBezTo>
                <a:cubicBezTo>
                  <a:pt x="3260423" y="125647"/>
                  <a:pt x="3269217" y="125646"/>
                  <a:pt x="3276600" y="122482"/>
                </a:cubicBezTo>
                <a:cubicBezTo>
                  <a:pt x="3287041" y="118007"/>
                  <a:pt x="3297447" y="113262"/>
                  <a:pt x="3307080" y="107242"/>
                </a:cubicBezTo>
                <a:cubicBezTo>
                  <a:pt x="3317850" y="100511"/>
                  <a:pt x="3327156" y="91665"/>
                  <a:pt x="3337560" y="84382"/>
                </a:cubicBezTo>
                <a:cubicBezTo>
                  <a:pt x="3352565" y="73878"/>
                  <a:pt x="3370328" y="66854"/>
                  <a:pt x="3383280" y="53902"/>
                </a:cubicBezTo>
                <a:cubicBezTo>
                  <a:pt x="3390900" y="46282"/>
                  <a:pt x="3396292" y="35419"/>
                  <a:pt x="3406140" y="31042"/>
                </a:cubicBezTo>
                <a:cubicBezTo>
                  <a:pt x="3420259" y="24767"/>
                  <a:pt x="3436620" y="25962"/>
                  <a:pt x="3451860" y="23422"/>
                </a:cubicBezTo>
                <a:cubicBezTo>
                  <a:pt x="3462020" y="15802"/>
                  <a:pt x="3469887" y="3053"/>
                  <a:pt x="3482340" y="562"/>
                </a:cubicBezTo>
                <a:cubicBezTo>
                  <a:pt x="3499103" y="-2791"/>
                  <a:pt x="3532575" y="9687"/>
                  <a:pt x="3550920" y="15802"/>
                </a:cubicBezTo>
                <a:cubicBezTo>
                  <a:pt x="3558540" y="25962"/>
                  <a:pt x="3565515" y="36639"/>
                  <a:pt x="3573780" y="46282"/>
                </a:cubicBezTo>
                <a:cubicBezTo>
                  <a:pt x="3580793" y="54464"/>
                  <a:pt x="3590662" y="60176"/>
                  <a:pt x="3596640" y="69142"/>
                </a:cubicBezTo>
                <a:cubicBezTo>
                  <a:pt x="3631946" y="122101"/>
                  <a:pt x="3571539" y="60906"/>
                  <a:pt x="3619500" y="114862"/>
                </a:cubicBezTo>
                <a:cubicBezTo>
                  <a:pt x="3633819" y="130971"/>
                  <a:pt x="3649980" y="145342"/>
                  <a:pt x="3665220" y="160582"/>
                </a:cubicBezTo>
                <a:lnTo>
                  <a:pt x="3688080" y="183442"/>
                </a:lnTo>
                <a:cubicBezTo>
                  <a:pt x="3707804" y="203166"/>
                  <a:pt x="3729317" y="227668"/>
                  <a:pt x="3756660" y="236782"/>
                </a:cubicBezTo>
                <a:lnTo>
                  <a:pt x="3779520" y="244402"/>
                </a:lnTo>
                <a:cubicBezTo>
                  <a:pt x="3789680" y="252022"/>
                  <a:pt x="3798438" y="262007"/>
                  <a:pt x="3810000" y="267262"/>
                </a:cubicBezTo>
                <a:cubicBezTo>
                  <a:pt x="3826834" y="274914"/>
                  <a:pt x="3845628" y="277189"/>
                  <a:pt x="3863340" y="282502"/>
                </a:cubicBezTo>
                <a:cubicBezTo>
                  <a:pt x="3936856" y="304557"/>
                  <a:pt x="3809032" y="270434"/>
                  <a:pt x="3931920" y="297742"/>
                </a:cubicBezTo>
                <a:cubicBezTo>
                  <a:pt x="4083068" y="331330"/>
                  <a:pt x="3728284" y="263488"/>
                  <a:pt x="4000500" y="312982"/>
                </a:cubicBezTo>
                <a:cubicBezTo>
                  <a:pt x="4013243" y="315299"/>
                  <a:pt x="4025665" y="319955"/>
                  <a:pt x="4038600" y="320602"/>
                </a:cubicBezTo>
                <a:cubicBezTo>
                  <a:pt x="4127425" y="325043"/>
                  <a:pt x="4216374" y="326864"/>
                  <a:pt x="4305300" y="328222"/>
                </a:cubicBezTo>
                <a:lnTo>
                  <a:pt x="5036820" y="335842"/>
                </a:lnTo>
                <a:cubicBezTo>
                  <a:pt x="5074124" y="339233"/>
                  <a:pt x="5141641" y="344422"/>
                  <a:pt x="5181600" y="351082"/>
                </a:cubicBezTo>
                <a:cubicBezTo>
                  <a:pt x="5191930" y="352804"/>
                  <a:pt x="5202010" y="355825"/>
                  <a:pt x="5212080" y="358702"/>
                </a:cubicBezTo>
                <a:cubicBezTo>
                  <a:pt x="5219803" y="360909"/>
                  <a:pt x="5226989" y="365186"/>
                  <a:pt x="5234940" y="366322"/>
                </a:cubicBezTo>
                <a:cubicBezTo>
                  <a:pt x="5273710" y="371861"/>
                  <a:pt x="5403840" y="379614"/>
                  <a:pt x="5433060" y="381562"/>
                </a:cubicBezTo>
                <a:cubicBezTo>
                  <a:pt x="5580380" y="379022"/>
                  <a:pt x="5727850" y="381063"/>
                  <a:pt x="5875020" y="373942"/>
                </a:cubicBezTo>
                <a:cubicBezTo>
                  <a:pt x="5886366" y="373393"/>
                  <a:pt x="5895059" y="363177"/>
                  <a:pt x="5905500" y="358702"/>
                </a:cubicBezTo>
                <a:cubicBezTo>
                  <a:pt x="5932099" y="347302"/>
                  <a:pt x="5950147" y="347970"/>
                  <a:pt x="5981700" y="343462"/>
                </a:cubicBezTo>
                <a:cubicBezTo>
                  <a:pt x="6025031" y="310963"/>
                  <a:pt x="6000132" y="324618"/>
                  <a:pt x="6057900" y="305362"/>
                </a:cubicBezTo>
                <a:lnTo>
                  <a:pt x="6080760" y="297742"/>
                </a:lnTo>
                <a:cubicBezTo>
                  <a:pt x="6090920" y="290122"/>
                  <a:pt x="6100906" y="282264"/>
                  <a:pt x="6111240" y="274882"/>
                </a:cubicBezTo>
                <a:cubicBezTo>
                  <a:pt x="6118692" y="269559"/>
                  <a:pt x="6127624" y="266118"/>
                  <a:pt x="6134100" y="259642"/>
                </a:cubicBezTo>
                <a:cubicBezTo>
                  <a:pt x="6168567" y="225175"/>
                  <a:pt x="6127696" y="243997"/>
                  <a:pt x="6172200" y="229162"/>
                </a:cubicBezTo>
                <a:cubicBezTo>
                  <a:pt x="6206284" y="178037"/>
                  <a:pt x="6166133" y="228127"/>
                  <a:pt x="6210300" y="198682"/>
                </a:cubicBezTo>
                <a:cubicBezTo>
                  <a:pt x="6219266" y="192704"/>
                  <a:pt x="6224978" y="182835"/>
                  <a:pt x="6233160" y="175822"/>
                </a:cubicBezTo>
                <a:cubicBezTo>
                  <a:pt x="6242803" y="167557"/>
                  <a:pt x="6254082" y="161325"/>
                  <a:pt x="6263640" y="152962"/>
                </a:cubicBezTo>
                <a:cubicBezTo>
                  <a:pt x="6343492" y="83092"/>
                  <a:pt x="6224907" y="168624"/>
                  <a:pt x="6362700" y="76762"/>
                </a:cubicBezTo>
                <a:cubicBezTo>
                  <a:pt x="6370320" y="71682"/>
                  <a:pt x="6376872" y="64418"/>
                  <a:pt x="6385560" y="61522"/>
                </a:cubicBezTo>
                <a:cubicBezTo>
                  <a:pt x="6393180" y="58982"/>
                  <a:pt x="6401399" y="57803"/>
                  <a:pt x="6408420" y="53902"/>
                </a:cubicBezTo>
                <a:cubicBezTo>
                  <a:pt x="6424431" y="45007"/>
                  <a:pt x="6436371" y="27864"/>
                  <a:pt x="6454140" y="23422"/>
                </a:cubicBezTo>
                <a:cubicBezTo>
                  <a:pt x="6464300" y="20882"/>
                  <a:pt x="6474550" y="18679"/>
                  <a:pt x="6484620" y="15802"/>
                </a:cubicBezTo>
                <a:cubicBezTo>
                  <a:pt x="6492343" y="13595"/>
                  <a:pt x="6499604" y="9757"/>
                  <a:pt x="6507480" y="8182"/>
                </a:cubicBezTo>
                <a:cubicBezTo>
                  <a:pt x="6525092" y="4660"/>
                  <a:pt x="6543040" y="3102"/>
                  <a:pt x="6560820" y="562"/>
                </a:cubicBezTo>
                <a:lnTo>
                  <a:pt x="6774180" y="15802"/>
                </a:lnTo>
                <a:cubicBezTo>
                  <a:pt x="6789570" y="17160"/>
                  <a:pt x="6804793" y="20185"/>
                  <a:pt x="6819900" y="23422"/>
                </a:cubicBezTo>
                <a:cubicBezTo>
                  <a:pt x="6840380" y="27811"/>
                  <a:pt x="6859955" y="37355"/>
                  <a:pt x="6880860" y="38662"/>
                </a:cubicBezTo>
                <a:cubicBezTo>
                  <a:pt x="6941701" y="42465"/>
                  <a:pt x="7002780" y="38662"/>
                  <a:pt x="7063740" y="38662"/>
                </a:cubicBezTo>
              </a:path>
            </a:pathLst>
          </a:custGeom>
          <a:noFill/>
          <a:ln w="12700" cap="flat" cmpd="sng" algn="ctr">
            <a:solidFill>
              <a:srgbClr val="FF0000"/>
            </a:solidFill>
            <a:prstDash val="dash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9705" name="Freeform 165">
            <a:extLst>
              <a:ext uri="{FF2B5EF4-FFF2-40B4-BE49-F238E27FC236}">
                <a16:creationId xmlns:a16="http://schemas.microsoft.com/office/drawing/2014/main" id="{E325C15A-CC06-4366-9842-2330A89A9476}"/>
              </a:ext>
            </a:extLst>
          </p:cNvPr>
          <p:cNvSpPr>
            <a:spLocks/>
          </p:cNvSpPr>
          <p:nvPr/>
        </p:nvSpPr>
        <p:spPr bwMode="auto">
          <a:xfrm flipV="1">
            <a:off x="2252664" y="2371725"/>
            <a:ext cx="7064375" cy="565150"/>
          </a:xfrm>
          <a:custGeom>
            <a:avLst/>
            <a:gdLst/>
            <a:ahLst/>
            <a:cxnLst/>
            <a:rect l="0" t="0" r="r" b="b"/>
            <a:pathLst>
              <a:path w="7063740" h="564442">
                <a:moveTo>
                  <a:pt x="0" y="564442"/>
                </a:moveTo>
                <a:lnTo>
                  <a:pt x="2080260" y="556822"/>
                </a:lnTo>
                <a:cubicBezTo>
                  <a:pt x="2151558" y="556111"/>
                  <a:pt x="2222470" y="546222"/>
                  <a:pt x="2293620" y="541582"/>
                </a:cubicBezTo>
                <a:lnTo>
                  <a:pt x="2430780" y="533962"/>
                </a:lnTo>
                <a:cubicBezTo>
                  <a:pt x="2519753" y="527247"/>
                  <a:pt x="2697480" y="511102"/>
                  <a:pt x="2697480" y="511102"/>
                </a:cubicBezTo>
                <a:cubicBezTo>
                  <a:pt x="2712720" y="506022"/>
                  <a:pt x="2727411" y="498822"/>
                  <a:pt x="2743200" y="495862"/>
                </a:cubicBezTo>
                <a:cubicBezTo>
                  <a:pt x="2877908" y="470604"/>
                  <a:pt x="2779288" y="501613"/>
                  <a:pt x="2842260" y="480622"/>
                </a:cubicBezTo>
                <a:cubicBezTo>
                  <a:pt x="2849880" y="473002"/>
                  <a:pt x="2855764" y="463109"/>
                  <a:pt x="2865120" y="457762"/>
                </a:cubicBezTo>
                <a:cubicBezTo>
                  <a:pt x="2874213" y="452566"/>
                  <a:pt x="2887555" y="456846"/>
                  <a:pt x="2895600" y="450142"/>
                </a:cubicBezTo>
                <a:cubicBezTo>
                  <a:pt x="2958374" y="397831"/>
                  <a:pt x="2868992" y="433611"/>
                  <a:pt x="2933700" y="412042"/>
                </a:cubicBezTo>
                <a:cubicBezTo>
                  <a:pt x="2941320" y="404422"/>
                  <a:pt x="2949547" y="397364"/>
                  <a:pt x="2956560" y="389182"/>
                </a:cubicBezTo>
                <a:cubicBezTo>
                  <a:pt x="2964825" y="379539"/>
                  <a:pt x="2969664" y="366832"/>
                  <a:pt x="2979420" y="358702"/>
                </a:cubicBezTo>
                <a:cubicBezTo>
                  <a:pt x="2985590" y="353560"/>
                  <a:pt x="2994660" y="353622"/>
                  <a:pt x="3002280" y="351082"/>
                </a:cubicBezTo>
                <a:cubicBezTo>
                  <a:pt x="3007360" y="343462"/>
                  <a:pt x="3011044" y="334698"/>
                  <a:pt x="3017520" y="328222"/>
                </a:cubicBezTo>
                <a:cubicBezTo>
                  <a:pt x="3045155" y="300587"/>
                  <a:pt x="3037989" y="324636"/>
                  <a:pt x="3070860" y="297742"/>
                </a:cubicBezTo>
                <a:cubicBezTo>
                  <a:pt x="3090321" y="281819"/>
                  <a:pt x="3101710" y="255647"/>
                  <a:pt x="3124200" y="244402"/>
                </a:cubicBezTo>
                <a:cubicBezTo>
                  <a:pt x="3134360" y="239322"/>
                  <a:pt x="3145437" y="235764"/>
                  <a:pt x="3154680" y="229162"/>
                </a:cubicBezTo>
                <a:cubicBezTo>
                  <a:pt x="3163449" y="222898"/>
                  <a:pt x="3170641" y="214581"/>
                  <a:pt x="3177540" y="206302"/>
                </a:cubicBezTo>
                <a:cubicBezTo>
                  <a:pt x="3183403" y="199267"/>
                  <a:pt x="3185629" y="189163"/>
                  <a:pt x="3192780" y="183442"/>
                </a:cubicBezTo>
                <a:cubicBezTo>
                  <a:pt x="3199052" y="178424"/>
                  <a:pt x="3208020" y="178362"/>
                  <a:pt x="3215640" y="175822"/>
                </a:cubicBezTo>
                <a:cubicBezTo>
                  <a:pt x="3226885" y="158954"/>
                  <a:pt x="3236139" y="141836"/>
                  <a:pt x="3253740" y="130102"/>
                </a:cubicBezTo>
                <a:cubicBezTo>
                  <a:pt x="3260423" y="125647"/>
                  <a:pt x="3269217" y="125646"/>
                  <a:pt x="3276600" y="122482"/>
                </a:cubicBezTo>
                <a:cubicBezTo>
                  <a:pt x="3287041" y="118007"/>
                  <a:pt x="3297447" y="113262"/>
                  <a:pt x="3307080" y="107242"/>
                </a:cubicBezTo>
                <a:cubicBezTo>
                  <a:pt x="3317850" y="100511"/>
                  <a:pt x="3327156" y="91665"/>
                  <a:pt x="3337560" y="84382"/>
                </a:cubicBezTo>
                <a:cubicBezTo>
                  <a:pt x="3352565" y="73878"/>
                  <a:pt x="3370328" y="66854"/>
                  <a:pt x="3383280" y="53902"/>
                </a:cubicBezTo>
                <a:cubicBezTo>
                  <a:pt x="3390900" y="46282"/>
                  <a:pt x="3396292" y="35419"/>
                  <a:pt x="3406140" y="31042"/>
                </a:cubicBezTo>
                <a:cubicBezTo>
                  <a:pt x="3420259" y="24767"/>
                  <a:pt x="3436620" y="25962"/>
                  <a:pt x="3451860" y="23422"/>
                </a:cubicBezTo>
                <a:cubicBezTo>
                  <a:pt x="3462020" y="15802"/>
                  <a:pt x="3469887" y="3053"/>
                  <a:pt x="3482340" y="562"/>
                </a:cubicBezTo>
                <a:cubicBezTo>
                  <a:pt x="3499103" y="-2791"/>
                  <a:pt x="3532575" y="9687"/>
                  <a:pt x="3550920" y="15802"/>
                </a:cubicBezTo>
                <a:cubicBezTo>
                  <a:pt x="3558540" y="25962"/>
                  <a:pt x="3565515" y="36639"/>
                  <a:pt x="3573780" y="46282"/>
                </a:cubicBezTo>
                <a:cubicBezTo>
                  <a:pt x="3580793" y="54464"/>
                  <a:pt x="3590662" y="60176"/>
                  <a:pt x="3596640" y="69142"/>
                </a:cubicBezTo>
                <a:cubicBezTo>
                  <a:pt x="3631946" y="122101"/>
                  <a:pt x="3571539" y="60906"/>
                  <a:pt x="3619500" y="114862"/>
                </a:cubicBezTo>
                <a:cubicBezTo>
                  <a:pt x="3633819" y="130971"/>
                  <a:pt x="3649980" y="145342"/>
                  <a:pt x="3665220" y="160582"/>
                </a:cubicBezTo>
                <a:lnTo>
                  <a:pt x="3688080" y="183442"/>
                </a:lnTo>
                <a:cubicBezTo>
                  <a:pt x="3707804" y="203166"/>
                  <a:pt x="3729317" y="227668"/>
                  <a:pt x="3756660" y="236782"/>
                </a:cubicBezTo>
                <a:lnTo>
                  <a:pt x="3779520" y="244402"/>
                </a:lnTo>
                <a:cubicBezTo>
                  <a:pt x="3789680" y="252022"/>
                  <a:pt x="3798438" y="262007"/>
                  <a:pt x="3810000" y="267262"/>
                </a:cubicBezTo>
                <a:cubicBezTo>
                  <a:pt x="3826834" y="274914"/>
                  <a:pt x="3845628" y="277189"/>
                  <a:pt x="3863340" y="282502"/>
                </a:cubicBezTo>
                <a:cubicBezTo>
                  <a:pt x="3936856" y="304557"/>
                  <a:pt x="3809032" y="270434"/>
                  <a:pt x="3931920" y="297742"/>
                </a:cubicBezTo>
                <a:cubicBezTo>
                  <a:pt x="4083068" y="331330"/>
                  <a:pt x="3728284" y="263488"/>
                  <a:pt x="4000500" y="312982"/>
                </a:cubicBezTo>
                <a:cubicBezTo>
                  <a:pt x="4013243" y="315299"/>
                  <a:pt x="4025665" y="319955"/>
                  <a:pt x="4038600" y="320602"/>
                </a:cubicBezTo>
                <a:cubicBezTo>
                  <a:pt x="4127425" y="325043"/>
                  <a:pt x="4216374" y="326864"/>
                  <a:pt x="4305300" y="328222"/>
                </a:cubicBezTo>
                <a:lnTo>
                  <a:pt x="5036820" y="335842"/>
                </a:lnTo>
                <a:cubicBezTo>
                  <a:pt x="5074124" y="339233"/>
                  <a:pt x="5141641" y="344422"/>
                  <a:pt x="5181600" y="351082"/>
                </a:cubicBezTo>
                <a:cubicBezTo>
                  <a:pt x="5191930" y="352804"/>
                  <a:pt x="5202010" y="355825"/>
                  <a:pt x="5212080" y="358702"/>
                </a:cubicBezTo>
                <a:cubicBezTo>
                  <a:pt x="5219803" y="360909"/>
                  <a:pt x="5226989" y="365186"/>
                  <a:pt x="5234940" y="366322"/>
                </a:cubicBezTo>
                <a:cubicBezTo>
                  <a:pt x="5273710" y="371861"/>
                  <a:pt x="5403840" y="379614"/>
                  <a:pt x="5433060" y="381562"/>
                </a:cubicBezTo>
                <a:cubicBezTo>
                  <a:pt x="5580380" y="379022"/>
                  <a:pt x="5727850" y="381063"/>
                  <a:pt x="5875020" y="373942"/>
                </a:cubicBezTo>
                <a:cubicBezTo>
                  <a:pt x="5886366" y="373393"/>
                  <a:pt x="5895059" y="363177"/>
                  <a:pt x="5905500" y="358702"/>
                </a:cubicBezTo>
                <a:cubicBezTo>
                  <a:pt x="5932099" y="347302"/>
                  <a:pt x="5950147" y="347970"/>
                  <a:pt x="5981700" y="343462"/>
                </a:cubicBezTo>
                <a:cubicBezTo>
                  <a:pt x="6025031" y="310963"/>
                  <a:pt x="6000132" y="324618"/>
                  <a:pt x="6057900" y="305362"/>
                </a:cubicBezTo>
                <a:lnTo>
                  <a:pt x="6080760" y="297742"/>
                </a:lnTo>
                <a:cubicBezTo>
                  <a:pt x="6090920" y="290122"/>
                  <a:pt x="6100906" y="282264"/>
                  <a:pt x="6111240" y="274882"/>
                </a:cubicBezTo>
                <a:cubicBezTo>
                  <a:pt x="6118692" y="269559"/>
                  <a:pt x="6127624" y="266118"/>
                  <a:pt x="6134100" y="259642"/>
                </a:cubicBezTo>
                <a:cubicBezTo>
                  <a:pt x="6168567" y="225175"/>
                  <a:pt x="6127696" y="243997"/>
                  <a:pt x="6172200" y="229162"/>
                </a:cubicBezTo>
                <a:cubicBezTo>
                  <a:pt x="6206284" y="178037"/>
                  <a:pt x="6166133" y="228127"/>
                  <a:pt x="6210300" y="198682"/>
                </a:cubicBezTo>
                <a:cubicBezTo>
                  <a:pt x="6219266" y="192704"/>
                  <a:pt x="6224978" y="182835"/>
                  <a:pt x="6233160" y="175822"/>
                </a:cubicBezTo>
                <a:cubicBezTo>
                  <a:pt x="6242803" y="167557"/>
                  <a:pt x="6254082" y="161325"/>
                  <a:pt x="6263640" y="152962"/>
                </a:cubicBezTo>
                <a:cubicBezTo>
                  <a:pt x="6343492" y="83092"/>
                  <a:pt x="6224907" y="168624"/>
                  <a:pt x="6362700" y="76762"/>
                </a:cubicBezTo>
                <a:cubicBezTo>
                  <a:pt x="6370320" y="71682"/>
                  <a:pt x="6376872" y="64418"/>
                  <a:pt x="6385560" y="61522"/>
                </a:cubicBezTo>
                <a:cubicBezTo>
                  <a:pt x="6393180" y="58982"/>
                  <a:pt x="6401399" y="57803"/>
                  <a:pt x="6408420" y="53902"/>
                </a:cubicBezTo>
                <a:cubicBezTo>
                  <a:pt x="6424431" y="45007"/>
                  <a:pt x="6436371" y="27864"/>
                  <a:pt x="6454140" y="23422"/>
                </a:cubicBezTo>
                <a:cubicBezTo>
                  <a:pt x="6464300" y="20882"/>
                  <a:pt x="6474550" y="18679"/>
                  <a:pt x="6484620" y="15802"/>
                </a:cubicBezTo>
                <a:cubicBezTo>
                  <a:pt x="6492343" y="13595"/>
                  <a:pt x="6499604" y="9757"/>
                  <a:pt x="6507480" y="8182"/>
                </a:cubicBezTo>
                <a:cubicBezTo>
                  <a:pt x="6525092" y="4660"/>
                  <a:pt x="6543040" y="3102"/>
                  <a:pt x="6560820" y="562"/>
                </a:cubicBezTo>
                <a:lnTo>
                  <a:pt x="6774180" y="15802"/>
                </a:lnTo>
                <a:cubicBezTo>
                  <a:pt x="6789570" y="17160"/>
                  <a:pt x="6804793" y="20185"/>
                  <a:pt x="6819900" y="23422"/>
                </a:cubicBezTo>
                <a:cubicBezTo>
                  <a:pt x="6840380" y="27811"/>
                  <a:pt x="6859955" y="37355"/>
                  <a:pt x="6880860" y="38662"/>
                </a:cubicBezTo>
                <a:cubicBezTo>
                  <a:pt x="6941701" y="42465"/>
                  <a:pt x="7002780" y="38662"/>
                  <a:pt x="7063740" y="38662"/>
                </a:cubicBezTo>
              </a:path>
            </a:pathLst>
          </a:custGeom>
          <a:noFill/>
          <a:ln w="12700" cap="flat" cmpd="sng" algn="ctr">
            <a:solidFill>
              <a:srgbClr val="FF0000"/>
            </a:solidFill>
            <a:prstDash val="dash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446AC1D5-328E-48AA-B009-FF9F878E1E66}"/>
              </a:ext>
            </a:extLst>
          </p:cNvPr>
          <p:cNvSpPr>
            <a:spLocks noGrp="1"/>
          </p:cNvSpPr>
          <p:nvPr>
            <p:ph type="title"/>
          </p:nvPr>
        </p:nvSpPr>
        <p:spPr/>
        <p:txBody>
          <a:bodyPr/>
          <a:lstStyle/>
          <a:p>
            <a:r>
              <a:rPr lang="en-US" altLang="en-US"/>
              <a:t>Multi-cycle Paths</a:t>
            </a:r>
          </a:p>
        </p:txBody>
      </p:sp>
      <p:sp>
        <p:nvSpPr>
          <p:cNvPr id="3" name="Content Placeholder 2">
            <a:extLst>
              <a:ext uri="{FF2B5EF4-FFF2-40B4-BE49-F238E27FC236}">
                <a16:creationId xmlns:a16="http://schemas.microsoft.com/office/drawing/2014/main" id="{FF961891-9325-4DC1-A3D9-489139D4DC68}"/>
              </a:ext>
            </a:extLst>
          </p:cNvPr>
          <p:cNvSpPr>
            <a:spLocks noGrp="1"/>
          </p:cNvSpPr>
          <p:nvPr>
            <p:ph type="body" sz="quarter" idx="10"/>
          </p:nvPr>
        </p:nvSpPr>
        <p:spPr/>
        <p:txBody>
          <a:bodyPr/>
          <a:lstStyle/>
          <a:p>
            <a:pPr>
              <a:defRPr/>
            </a:pPr>
            <a:r>
              <a:rPr lang="en-US" dirty="0"/>
              <a:t>There are data paths that require more than one clock period for execution.</a:t>
            </a:r>
          </a:p>
          <a:p>
            <a:pPr marL="0" indent="0">
              <a:buNone/>
              <a:defRPr/>
            </a:pPr>
            <a:r>
              <a:rPr lang="en-US" dirty="0"/>
              <a:t> </a:t>
            </a:r>
          </a:p>
        </p:txBody>
      </p:sp>
      <p:grpSp>
        <p:nvGrpSpPr>
          <p:cNvPr id="30724" name="Group 40">
            <a:extLst>
              <a:ext uri="{FF2B5EF4-FFF2-40B4-BE49-F238E27FC236}">
                <a16:creationId xmlns:a16="http://schemas.microsoft.com/office/drawing/2014/main" id="{BE68BDE1-7FBA-4381-90EB-FD99A5329017}"/>
              </a:ext>
            </a:extLst>
          </p:cNvPr>
          <p:cNvGrpSpPr>
            <a:grpSpLocks/>
          </p:cNvGrpSpPr>
          <p:nvPr/>
        </p:nvGrpSpPr>
        <p:grpSpPr bwMode="auto">
          <a:xfrm>
            <a:off x="3124201" y="3025776"/>
            <a:ext cx="5445125" cy="1770063"/>
            <a:chOff x="1599720" y="3026474"/>
            <a:chExt cx="5445061" cy="1768587"/>
          </a:xfrm>
        </p:grpSpPr>
        <p:grpSp>
          <p:nvGrpSpPr>
            <p:cNvPr id="30725" name="Group 3">
              <a:extLst>
                <a:ext uri="{FF2B5EF4-FFF2-40B4-BE49-F238E27FC236}">
                  <a16:creationId xmlns:a16="http://schemas.microsoft.com/office/drawing/2014/main" id="{91E83177-C450-4E13-B8E4-F39D4D71CBD0}"/>
                </a:ext>
              </a:extLst>
            </p:cNvPr>
            <p:cNvGrpSpPr>
              <a:grpSpLocks/>
            </p:cNvGrpSpPr>
            <p:nvPr/>
          </p:nvGrpSpPr>
          <p:grpSpPr bwMode="auto">
            <a:xfrm>
              <a:off x="1599720" y="3262856"/>
              <a:ext cx="5445061" cy="1532205"/>
              <a:chOff x="5346508" y="3156433"/>
              <a:chExt cx="2885276" cy="811898"/>
            </a:xfrm>
          </p:grpSpPr>
          <p:cxnSp>
            <p:nvCxnSpPr>
              <p:cNvPr id="30729" name="Straight Connector 23">
                <a:extLst>
                  <a:ext uri="{FF2B5EF4-FFF2-40B4-BE49-F238E27FC236}">
                    <a16:creationId xmlns:a16="http://schemas.microsoft.com/office/drawing/2014/main" id="{4494C907-0668-4134-9B8E-D202FFFC800C}"/>
                  </a:ext>
                </a:extLst>
              </p:cNvPr>
              <p:cNvCxnSpPr>
                <a:cxnSpLocks noChangeShapeType="1"/>
              </p:cNvCxnSpPr>
              <p:nvPr/>
            </p:nvCxnSpPr>
            <p:spPr bwMode="auto">
              <a:xfrm rot="180000" flipV="1">
                <a:off x="5346508" y="3370888"/>
                <a:ext cx="465240" cy="23529"/>
              </a:xfrm>
              <a:prstGeom prst="line">
                <a:avLst/>
              </a:prstGeom>
              <a:noFill/>
              <a:ln w="9525" algn="ctr">
                <a:solidFill>
                  <a:schemeClr val="tx1"/>
                </a:solidFill>
                <a:round/>
                <a:headEnd/>
                <a:tailEnd/>
              </a:ln>
            </p:spPr>
          </p:cxnSp>
          <p:sp>
            <p:nvSpPr>
              <p:cNvPr id="25" name="Rectangle 24">
                <a:extLst>
                  <a:ext uri="{FF2B5EF4-FFF2-40B4-BE49-F238E27FC236}">
                    <a16:creationId xmlns:a16="http://schemas.microsoft.com/office/drawing/2014/main" id="{51907D30-B9B1-47CC-8620-F3DC25DF2497}"/>
                  </a:ext>
                </a:extLst>
              </p:cNvPr>
              <p:cNvSpPr/>
              <p:nvPr/>
            </p:nvSpPr>
            <p:spPr bwMode="auto">
              <a:xfrm>
                <a:off x="5810844" y="3206000"/>
                <a:ext cx="457606" cy="762331"/>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26" name="Isosceles Triangle 25">
                <a:extLst>
                  <a:ext uri="{FF2B5EF4-FFF2-40B4-BE49-F238E27FC236}">
                    <a16:creationId xmlns:a16="http://schemas.microsoft.com/office/drawing/2014/main" id="{81B8722D-0421-4C5E-85A0-CDF9D12F4FE6}"/>
                  </a:ext>
                </a:extLst>
              </p:cNvPr>
              <p:cNvSpPr/>
              <p:nvPr/>
            </p:nvSpPr>
            <p:spPr bwMode="auto">
              <a:xfrm rot="5400000">
                <a:off x="5773053" y="3777507"/>
                <a:ext cx="152130" cy="76548"/>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cxnSp>
            <p:nvCxnSpPr>
              <p:cNvPr id="30732" name="Straight Connector 28">
                <a:extLst>
                  <a:ext uri="{FF2B5EF4-FFF2-40B4-BE49-F238E27FC236}">
                    <a16:creationId xmlns:a16="http://schemas.microsoft.com/office/drawing/2014/main" id="{0868B7EB-B6B4-419F-A05D-C3745A4E627E}"/>
                  </a:ext>
                </a:extLst>
              </p:cNvPr>
              <p:cNvCxnSpPr>
                <a:cxnSpLocks noChangeShapeType="1"/>
              </p:cNvCxnSpPr>
              <p:nvPr/>
            </p:nvCxnSpPr>
            <p:spPr bwMode="auto">
              <a:xfrm rot="180000" flipV="1">
                <a:off x="5346509" y="3814446"/>
                <a:ext cx="465240" cy="23529"/>
              </a:xfrm>
              <a:prstGeom prst="line">
                <a:avLst/>
              </a:prstGeom>
              <a:noFill/>
              <a:ln w="9525" algn="ctr">
                <a:solidFill>
                  <a:schemeClr val="tx1"/>
                </a:solidFill>
                <a:round/>
                <a:headEnd/>
                <a:tailEnd/>
              </a:ln>
            </p:spPr>
          </p:cxnSp>
          <p:cxnSp>
            <p:nvCxnSpPr>
              <p:cNvPr id="30733" name="Straight Connector 29">
                <a:extLst>
                  <a:ext uri="{FF2B5EF4-FFF2-40B4-BE49-F238E27FC236}">
                    <a16:creationId xmlns:a16="http://schemas.microsoft.com/office/drawing/2014/main" id="{11DE0AA3-DF4D-4683-87D3-AD00F84799E7}"/>
                  </a:ext>
                </a:extLst>
              </p:cNvPr>
              <p:cNvCxnSpPr>
                <a:cxnSpLocks noChangeShapeType="1"/>
                <a:endCxn id="31" idx="2"/>
              </p:cNvCxnSpPr>
              <p:nvPr/>
            </p:nvCxnSpPr>
            <p:spPr bwMode="auto">
              <a:xfrm>
                <a:off x="6281364" y="3382652"/>
                <a:ext cx="350635" cy="0"/>
              </a:xfrm>
              <a:prstGeom prst="line">
                <a:avLst/>
              </a:prstGeom>
              <a:noFill/>
              <a:ln w="9525" algn="ctr">
                <a:solidFill>
                  <a:schemeClr val="tx1"/>
                </a:solidFill>
                <a:round/>
                <a:headEnd/>
                <a:tailEnd/>
              </a:ln>
            </p:spPr>
          </p:cxnSp>
          <p:sp>
            <p:nvSpPr>
              <p:cNvPr id="31" name="Cloud 30">
                <a:extLst>
                  <a:ext uri="{FF2B5EF4-FFF2-40B4-BE49-F238E27FC236}">
                    <a16:creationId xmlns:a16="http://schemas.microsoft.com/office/drawing/2014/main" id="{95DF6B6A-6675-42D4-AAF5-F0FA9EFD1E73}"/>
                  </a:ext>
                </a:extLst>
              </p:cNvPr>
              <p:cNvSpPr/>
              <p:nvPr/>
            </p:nvSpPr>
            <p:spPr bwMode="auto">
              <a:xfrm>
                <a:off x="6630161" y="3156411"/>
                <a:ext cx="668745" cy="452187"/>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p:txBody>
          </p:sp>
          <p:cxnSp>
            <p:nvCxnSpPr>
              <p:cNvPr id="30735" name="Straight Connector 31">
                <a:extLst>
                  <a:ext uri="{FF2B5EF4-FFF2-40B4-BE49-F238E27FC236}">
                    <a16:creationId xmlns:a16="http://schemas.microsoft.com/office/drawing/2014/main" id="{80DB2F42-D79A-40CA-AA74-B8C9DC8B1ED0}"/>
                  </a:ext>
                </a:extLst>
              </p:cNvPr>
              <p:cNvCxnSpPr>
                <a:cxnSpLocks noChangeShapeType="1"/>
                <a:stCxn id="31" idx="0"/>
              </p:cNvCxnSpPr>
              <p:nvPr/>
            </p:nvCxnSpPr>
            <p:spPr bwMode="auto">
              <a:xfrm flipV="1">
                <a:off x="7297955" y="3350846"/>
                <a:ext cx="477642" cy="0"/>
              </a:xfrm>
              <a:prstGeom prst="line">
                <a:avLst/>
              </a:prstGeom>
              <a:noFill/>
              <a:ln w="9525" algn="ctr">
                <a:solidFill>
                  <a:schemeClr val="tx1"/>
                </a:solidFill>
                <a:round/>
                <a:headEnd/>
                <a:tailEnd/>
              </a:ln>
            </p:spPr>
          </p:cxnSp>
          <p:sp>
            <p:nvSpPr>
              <p:cNvPr id="33" name="Rectangle 32">
                <a:extLst>
                  <a:ext uri="{FF2B5EF4-FFF2-40B4-BE49-F238E27FC236}">
                    <a16:creationId xmlns:a16="http://schemas.microsoft.com/office/drawing/2014/main" id="{5F004648-6554-41B3-9A62-C2907E24A6F4}"/>
                  </a:ext>
                </a:extLst>
              </p:cNvPr>
              <p:cNvSpPr/>
              <p:nvPr/>
            </p:nvSpPr>
            <p:spPr bwMode="auto">
              <a:xfrm>
                <a:off x="7774178" y="3174061"/>
                <a:ext cx="457606" cy="762331"/>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34" name="Isosceles Triangle 33">
                <a:extLst>
                  <a:ext uri="{FF2B5EF4-FFF2-40B4-BE49-F238E27FC236}">
                    <a16:creationId xmlns:a16="http://schemas.microsoft.com/office/drawing/2014/main" id="{47F5235E-6ACC-427F-866C-84D2B71D51D0}"/>
                  </a:ext>
                </a:extLst>
              </p:cNvPr>
              <p:cNvSpPr/>
              <p:nvPr/>
            </p:nvSpPr>
            <p:spPr bwMode="auto">
              <a:xfrm rot="5400000">
                <a:off x="7736387" y="3745568"/>
                <a:ext cx="152130" cy="76548"/>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cxnSp>
            <p:nvCxnSpPr>
              <p:cNvPr id="30738" name="Straight Connector 36">
                <a:extLst>
                  <a:ext uri="{FF2B5EF4-FFF2-40B4-BE49-F238E27FC236}">
                    <a16:creationId xmlns:a16="http://schemas.microsoft.com/office/drawing/2014/main" id="{1190BEA0-2830-43A1-9DAF-3A4DB7D168BD}"/>
                  </a:ext>
                </a:extLst>
              </p:cNvPr>
              <p:cNvCxnSpPr>
                <a:cxnSpLocks noChangeShapeType="1"/>
              </p:cNvCxnSpPr>
              <p:nvPr/>
            </p:nvCxnSpPr>
            <p:spPr bwMode="auto">
              <a:xfrm flipV="1">
                <a:off x="7309764" y="3782956"/>
                <a:ext cx="465834" cy="743"/>
              </a:xfrm>
              <a:prstGeom prst="line">
                <a:avLst/>
              </a:prstGeom>
              <a:noFill/>
              <a:ln w="9525" algn="ctr">
                <a:solidFill>
                  <a:schemeClr val="tx1"/>
                </a:solidFill>
                <a:round/>
                <a:headEnd/>
                <a:tailEnd/>
              </a:ln>
            </p:spPr>
          </p:cxnSp>
        </p:grpSp>
        <p:sp>
          <p:nvSpPr>
            <p:cNvPr id="30726" name="Line 20">
              <a:extLst>
                <a:ext uri="{FF2B5EF4-FFF2-40B4-BE49-F238E27FC236}">
                  <a16:creationId xmlns:a16="http://schemas.microsoft.com/office/drawing/2014/main" id="{B13EB650-BBA7-4066-A460-33EF9B91C3D8}"/>
                </a:ext>
              </a:extLst>
            </p:cNvPr>
            <p:cNvSpPr>
              <a:spLocks noChangeShapeType="1"/>
            </p:cNvSpPr>
            <p:nvPr/>
          </p:nvSpPr>
          <p:spPr bwMode="auto">
            <a:xfrm>
              <a:off x="5282469" y="3158082"/>
              <a:ext cx="89948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27" name="Line 21">
              <a:extLst>
                <a:ext uri="{FF2B5EF4-FFF2-40B4-BE49-F238E27FC236}">
                  <a16:creationId xmlns:a16="http://schemas.microsoft.com/office/drawing/2014/main" id="{FBE58F68-03D7-4E50-A042-AC5DC28D20C5}"/>
                </a:ext>
              </a:extLst>
            </p:cNvPr>
            <p:cNvSpPr>
              <a:spLocks noChangeShapeType="1"/>
            </p:cNvSpPr>
            <p:nvPr/>
          </p:nvSpPr>
          <p:spPr bwMode="auto">
            <a:xfrm flipH="1">
              <a:off x="3339188" y="3158082"/>
              <a:ext cx="68649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 name="Text Box 22">
              <a:extLst>
                <a:ext uri="{FF2B5EF4-FFF2-40B4-BE49-F238E27FC236}">
                  <a16:creationId xmlns:a16="http://schemas.microsoft.com/office/drawing/2014/main" id="{C47D3AAC-1E9B-4BDF-94BE-5EC5FC7303AB}"/>
                </a:ext>
              </a:extLst>
            </p:cNvPr>
            <p:cNvSpPr txBox="1">
              <a:spLocks noChangeArrowheads="1"/>
            </p:cNvSpPr>
            <p:nvPr/>
          </p:nvSpPr>
          <p:spPr bwMode="auto">
            <a:xfrm>
              <a:off x="3961892" y="3026474"/>
              <a:ext cx="1431908" cy="26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Times New Roman" pitchFamily="16" charset="0"/>
                </a:defRPr>
              </a:lvl1pPr>
              <a:lvl2pPr marL="742950" indent="-285750" eaLnBrk="0" hangingPunct="0">
                <a:defRPr b="1">
                  <a:solidFill>
                    <a:schemeClr val="tx1"/>
                  </a:solidFill>
                  <a:latin typeface="Times New Roman" pitchFamily="16" charset="0"/>
                </a:defRPr>
              </a:lvl2pPr>
              <a:lvl3pPr marL="1143000" indent="-228600" eaLnBrk="0" hangingPunct="0">
                <a:defRPr b="1">
                  <a:solidFill>
                    <a:schemeClr val="tx1"/>
                  </a:solidFill>
                  <a:latin typeface="Times New Roman" pitchFamily="16" charset="0"/>
                </a:defRPr>
              </a:lvl3pPr>
              <a:lvl4pPr marL="1600200" indent="-228600" eaLnBrk="0" hangingPunct="0">
                <a:defRPr b="1">
                  <a:solidFill>
                    <a:schemeClr val="tx1"/>
                  </a:solidFill>
                  <a:latin typeface="Times New Roman" pitchFamily="16" charset="0"/>
                </a:defRPr>
              </a:lvl4pPr>
              <a:lvl5pPr marL="2057400" indent="-228600" eaLnBrk="0" hangingPunct="0">
                <a:defRPr b="1">
                  <a:solidFill>
                    <a:schemeClr val="tx1"/>
                  </a:solidFill>
                  <a:latin typeface="Times New Roman" pitchFamily="16" charset="0"/>
                </a:defRPr>
              </a:lvl5pPr>
              <a:lvl6pPr marL="2514600" indent="-228600" eaLnBrk="0" fontAlgn="base" hangingPunct="0">
                <a:spcBef>
                  <a:spcPct val="0"/>
                </a:spcBef>
                <a:spcAft>
                  <a:spcPct val="0"/>
                </a:spcAft>
                <a:defRPr b="1">
                  <a:solidFill>
                    <a:schemeClr val="tx1"/>
                  </a:solidFill>
                  <a:latin typeface="Times New Roman" pitchFamily="16" charset="0"/>
                </a:defRPr>
              </a:lvl6pPr>
              <a:lvl7pPr marL="2971800" indent="-228600" eaLnBrk="0" fontAlgn="base" hangingPunct="0">
                <a:spcBef>
                  <a:spcPct val="0"/>
                </a:spcBef>
                <a:spcAft>
                  <a:spcPct val="0"/>
                </a:spcAft>
                <a:defRPr b="1">
                  <a:solidFill>
                    <a:schemeClr val="tx1"/>
                  </a:solidFill>
                  <a:latin typeface="Times New Roman" pitchFamily="16" charset="0"/>
                </a:defRPr>
              </a:lvl7pPr>
              <a:lvl8pPr marL="3429000" indent="-228600" eaLnBrk="0" fontAlgn="base" hangingPunct="0">
                <a:spcBef>
                  <a:spcPct val="0"/>
                </a:spcBef>
                <a:spcAft>
                  <a:spcPct val="0"/>
                </a:spcAft>
                <a:defRPr b="1">
                  <a:solidFill>
                    <a:schemeClr val="tx1"/>
                  </a:solidFill>
                  <a:latin typeface="Times New Roman" pitchFamily="16" charset="0"/>
                </a:defRPr>
              </a:lvl8pPr>
              <a:lvl9pPr marL="3886200" indent="-228600" eaLnBrk="0" fontAlgn="base" hangingPunct="0">
                <a:spcBef>
                  <a:spcPct val="0"/>
                </a:spcBef>
                <a:spcAft>
                  <a:spcPct val="0"/>
                </a:spcAft>
                <a:defRPr b="1">
                  <a:solidFill>
                    <a:schemeClr val="tx1"/>
                  </a:solidFill>
                  <a:latin typeface="Times New Roman" pitchFamily="16" charset="0"/>
                </a:defRPr>
              </a:lvl9pPr>
            </a:lstStyle>
            <a:p>
              <a:pPr eaLnBrk="1" hangingPunct="1">
                <a:defRPr/>
              </a:pPr>
              <a:r>
                <a:rPr lang="en-US" sz="1100" b="0" dirty="0">
                  <a:latin typeface="+mj-lt"/>
                  <a:cs typeface="Arial" charset="0"/>
                </a:rPr>
                <a:t>2 clock period delay</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EA126835-E40A-42BA-8480-4EBA9F9B21A9}"/>
              </a:ext>
            </a:extLst>
          </p:cNvPr>
          <p:cNvSpPr>
            <a:spLocks noGrp="1"/>
          </p:cNvSpPr>
          <p:nvPr>
            <p:ph type="title"/>
          </p:nvPr>
        </p:nvSpPr>
        <p:spPr/>
        <p:txBody>
          <a:bodyPr/>
          <a:lstStyle/>
          <a:p>
            <a:r>
              <a:rPr lang="en-US" altLang="en-US"/>
              <a:t>Required Time</a:t>
            </a:r>
          </a:p>
        </p:txBody>
      </p:sp>
      <p:sp>
        <p:nvSpPr>
          <p:cNvPr id="31747" name="Content Placeholder 2">
            <a:extLst>
              <a:ext uri="{FF2B5EF4-FFF2-40B4-BE49-F238E27FC236}">
                <a16:creationId xmlns:a16="http://schemas.microsoft.com/office/drawing/2014/main" id="{5C27F174-457C-457D-8BDF-BFC746D4B740}"/>
              </a:ext>
            </a:extLst>
          </p:cNvPr>
          <p:cNvSpPr>
            <a:spLocks noGrp="1"/>
          </p:cNvSpPr>
          <p:nvPr>
            <p:ph type="body" sz="quarter" idx="10"/>
          </p:nvPr>
        </p:nvSpPr>
        <p:spPr/>
        <p:txBody>
          <a:bodyPr/>
          <a:lstStyle/>
          <a:p>
            <a:r>
              <a:rPr lang="en-US" altLang="en-US" sz="1800">
                <a:solidFill>
                  <a:srgbClr val="0000FF"/>
                </a:solidFill>
              </a:rPr>
              <a:t>Required time </a:t>
            </a:r>
            <a:r>
              <a:rPr lang="en-US" altLang="en-US" sz="1800"/>
              <a:t>specifies the time point (interval) at which data is required to arrive at end point (data is required to be stable after arrival).</a:t>
            </a:r>
          </a:p>
          <a:p>
            <a:pPr lvl="1"/>
            <a:r>
              <a:rPr lang="en-US" altLang="en-US" sz="1400"/>
              <a:t>Time point after which data can become unstable (change) is called earliest required time</a:t>
            </a:r>
          </a:p>
          <a:p>
            <a:pPr lvl="1"/>
            <a:r>
              <a:rPr lang="en-US" altLang="en-US" sz="1400"/>
              <a:t>Time point after which data cannot become unstable (change) is called latest required time</a:t>
            </a:r>
          </a:p>
          <a:p>
            <a:r>
              <a:rPr lang="en-US" altLang="en-US" sz="1800"/>
              <a:t>The requirement is set by timing constraints like setup/hold, removal/recovery, etc.</a:t>
            </a:r>
          </a:p>
        </p:txBody>
      </p:sp>
      <p:sp>
        <p:nvSpPr>
          <p:cNvPr id="31748" name="Rectangle 22">
            <a:extLst>
              <a:ext uri="{FF2B5EF4-FFF2-40B4-BE49-F238E27FC236}">
                <a16:creationId xmlns:a16="http://schemas.microsoft.com/office/drawing/2014/main" id="{BDA84B0E-65C5-48FA-B607-5CA585CA8E6E}"/>
              </a:ext>
            </a:extLst>
          </p:cNvPr>
          <p:cNvSpPr>
            <a:spLocks noChangeArrowheads="1"/>
          </p:cNvSpPr>
          <p:nvPr/>
        </p:nvSpPr>
        <p:spPr bwMode="auto">
          <a:xfrm>
            <a:off x="7304088" y="3925889"/>
            <a:ext cx="412750" cy="1089025"/>
          </a:xfrm>
          <a:prstGeom prst="rect">
            <a:avLst/>
          </a:prstGeom>
          <a:pattFill prst="ltDnDiag">
            <a:fgClr>
              <a:srgbClr val="FF0000"/>
            </a:fgClr>
            <a:bgClr>
              <a:schemeClr val="bg1"/>
            </a:bgClr>
          </a:patt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1749" name="Rectangle 23">
            <a:extLst>
              <a:ext uri="{FF2B5EF4-FFF2-40B4-BE49-F238E27FC236}">
                <a16:creationId xmlns:a16="http://schemas.microsoft.com/office/drawing/2014/main" id="{EC419AC5-B170-4108-A320-C358D6ABDB4D}"/>
              </a:ext>
            </a:extLst>
          </p:cNvPr>
          <p:cNvSpPr>
            <a:spLocks noChangeArrowheads="1"/>
          </p:cNvSpPr>
          <p:nvPr/>
        </p:nvSpPr>
        <p:spPr bwMode="auto">
          <a:xfrm>
            <a:off x="5207000" y="3925889"/>
            <a:ext cx="412750" cy="1089025"/>
          </a:xfrm>
          <a:prstGeom prst="rect">
            <a:avLst/>
          </a:prstGeom>
          <a:pattFill prst="ltDnDiag">
            <a:fgClr>
              <a:srgbClr val="FF0000"/>
            </a:fgClr>
            <a:bgClr>
              <a:schemeClr val="bg1"/>
            </a:bgClr>
          </a:patt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25" name="Rectangle 24">
            <a:extLst>
              <a:ext uri="{FF2B5EF4-FFF2-40B4-BE49-F238E27FC236}">
                <a16:creationId xmlns:a16="http://schemas.microsoft.com/office/drawing/2014/main" id="{CF77EB2D-2611-49DA-BD12-63EAD0F89ACB}"/>
              </a:ext>
            </a:extLst>
          </p:cNvPr>
          <p:cNvSpPr/>
          <p:nvPr/>
        </p:nvSpPr>
        <p:spPr bwMode="auto">
          <a:xfrm>
            <a:off x="5630863" y="3925889"/>
            <a:ext cx="450850" cy="1089025"/>
          </a:xfrm>
          <a:prstGeom prst="rect">
            <a:avLst/>
          </a:prstGeom>
          <a:pattFill prst="ltUpDiag">
            <a:fgClr>
              <a:schemeClr val="accent6">
                <a:lumMod val="75000"/>
              </a:schemeClr>
            </a:fgClr>
            <a:bgClr>
              <a:schemeClr val="bg1"/>
            </a:bgClr>
          </a:pattFill>
          <a:ln w="9525" cap="flat" cmpd="sng" algn="ctr">
            <a:no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sp>
        <p:nvSpPr>
          <p:cNvPr id="26" name="Rectangle 25">
            <a:extLst>
              <a:ext uri="{FF2B5EF4-FFF2-40B4-BE49-F238E27FC236}">
                <a16:creationId xmlns:a16="http://schemas.microsoft.com/office/drawing/2014/main" id="{52B4E9F3-2749-47E3-8823-ECC55A936157}"/>
              </a:ext>
            </a:extLst>
          </p:cNvPr>
          <p:cNvSpPr/>
          <p:nvPr/>
        </p:nvSpPr>
        <p:spPr bwMode="auto">
          <a:xfrm>
            <a:off x="3586164" y="3925889"/>
            <a:ext cx="452437" cy="1089025"/>
          </a:xfrm>
          <a:prstGeom prst="rect">
            <a:avLst/>
          </a:prstGeom>
          <a:pattFill prst="ltUpDiag">
            <a:fgClr>
              <a:schemeClr val="accent6">
                <a:lumMod val="75000"/>
              </a:schemeClr>
            </a:fgClr>
            <a:bgClr>
              <a:schemeClr val="bg1"/>
            </a:bgClr>
          </a:pattFill>
          <a:ln w="9525" cap="flat" cmpd="sng" algn="ctr">
            <a:no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cxnSp>
        <p:nvCxnSpPr>
          <p:cNvPr id="27" name="Elbow Connector 26">
            <a:extLst>
              <a:ext uri="{FF2B5EF4-FFF2-40B4-BE49-F238E27FC236}">
                <a16:creationId xmlns:a16="http://schemas.microsoft.com/office/drawing/2014/main" id="{DC1245D4-59D4-465B-AC8D-6C919CC426E3}"/>
              </a:ext>
            </a:extLst>
          </p:cNvPr>
          <p:cNvCxnSpPr/>
          <p:nvPr/>
        </p:nvCxnSpPr>
        <p:spPr bwMode="auto">
          <a:xfrm>
            <a:off x="3598864" y="4184650"/>
            <a:ext cx="2033587" cy="228600"/>
          </a:xfrm>
          <a:prstGeom prst="bentConnector3">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8" name="Elbow Connector 27">
            <a:extLst>
              <a:ext uri="{FF2B5EF4-FFF2-40B4-BE49-F238E27FC236}">
                <a16:creationId xmlns:a16="http://schemas.microsoft.com/office/drawing/2014/main" id="{07D352DB-39DD-4C81-9AA7-54AE22825C76}"/>
              </a:ext>
            </a:extLst>
          </p:cNvPr>
          <p:cNvCxnSpPr/>
          <p:nvPr/>
        </p:nvCxnSpPr>
        <p:spPr bwMode="auto">
          <a:xfrm flipV="1">
            <a:off x="2582863" y="4184650"/>
            <a:ext cx="2032000" cy="228600"/>
          </a:xfrm>
          <a:prstGeom prst="bentConnector3">
            <a:avLst>
              <a:gd name="adj1" fmla="val 4943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9" name="Elbow Connector 28">
            <a:extLst>
              <a:ext uri="{FF2B5EF4-FFF2-40B4-BE49-F238E27FC236}">
                <a16:creationId xmlns:a16="http://schemas.microsoft.com/office/drawing/2014/main" id="{02CF253D-284E-46AE-9AC2-09697849C31E}"/>
              </a:ext>
            </a:extLst>
          </p:cNvPr>
          <p:cNvCxnSpPr/>
          <p:nvPr/>
        </p:nvCxnSpPr>
        <p:spPr bwMode="auto">
          <a:xfrm flipV="1">
            <a:off x="4627563" y="4184650"/>
            <a:ext cx="2032000" cy="228600"/>
          </a:xfrm>
          <a:prstGeom prst="bentConnector3">
            <a:avLst>
              <a:gd name="adj1" fmla="val 4943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0" name="Elbow Connector 29">
            <a:extLst>
              <a:ext uri="{FF2B5EF4-FFF2-40B4-BE49-F238E27FC236}">
                <a16:creationId xmlns:a16="http://schemas.microsoft.com/office/drawing/2014/main" id="{4B2C82C6-6B4E-4F12-BBF8-4A8A9B88D2D1}"/>
              </a:ext>
            </a:extLst>
          </p:cNvPr>
          <p:cNvCxnSpPr/>
          <p:nvPr/>
        </p:nvCxnSpPr>
        <p:spPr bwMode="auto">
          <a:xfrm flipV="1">
            <a:off x="6724650" y="4184650"/>
            <a:ext cx="2032000" cy="228600"/>
          </a:xfrm>
          <a:prstGeom prst="bentConnector3">
            <a:avLst>
              <a:gd name="adj1" fmla="val 4943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 name="Elbow Connector 30">
            <a:extLst>
              <a:ext uri="{FF2B5EF4-FFF2-40B4-BE49-F238E27FC236}">
                <a16:creationId xmlns:a16="http://schemas.microsoft.com/office/drawing/2014/main" id="{FA82ACEA-EC01-4EFE-8C13-028116B8B014}"/>
              </a:ext>
            </a:extLst>
          </p:cNvPr>
          <p:cNvCxnSpPr/>
          <p:nvPr/>
        </p:nvCxnSpPr>
        <p:spPr bwMode="auto">
          <a:xfrm>
            <a:off x="5700714" y="4181475"/>
            <a:ext cx="2033587" cy="230188"/>
          </a:xfrm>
          <a:prstGeom prst="bentConnector3">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757" name="Straight Connector 32">
            <a:extLst>
              <a:ext uri="{FF2B5EF4-FFF2-40B4-BE49-F238E27FC236}">
                <a16:creationId xmlns:a16="http://schemas.microsoft.com/office/drawing/2014/main" id="{853956BA-B9E4-4F29-B7CD-411E614D05D8}"/>
              </a:ext>
            </a:extLst>
          </p:cNvPr>
          <p:cNvCxnSpPr>
            <a:cxnSpLocks noChangeShapeType="1"/>
          </p:cNvCxnSpPr>
          <p:nvPr/>
        </p:nvCxnSpPr>
        <p:spPr bwMode="auto">
          <a:xfrm flipH="1">
            <a:off x="4038600" y="3925889"/>
            <a:ext cx="0" cy="1311275"/>
          </a:xfrm>
          <a:prstGeom prst="line">
            <a:avLst/>
          </a:prstGeom>
          <a:noFill/>
          <a:ln w="12700"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1758" name="Straight Connector 33">
            <a:extLst>
              <a:ext uri="{FF2B5EF4-FFF2-40B4-BE49-F238E27FC236}">
                <a16:creationId xmlns:a16="http://schemas.microsoft.com/office/drawing/2014/main" id="{94B8B779-7D10-4572-BE19-AB6E9E9F9D7D}"/>
              </a:ext>
            </a:extLst>
          </p:cNvPr>
          <p:cNvCxnSpPr>
            <a:cxnSpLocks noChangeShapeType="1"/>
          </p:cNvCxnSpPr>
          <p:nvPr/>
        </p:nvCxnSpPr>
        <p:spPr bwMode="auto">
          <a:xfrm>
            <a:off x="5200650" y="3925888"/>
            <a:ext cx="6350" cy="1344612"/>
          </a:xfrm>
          <a:prstGeom prst="line">
            <a:avLst/>
          </a:prstGeom>
          <a:noFill/>
          <a:ln w="12700"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1759" name="Straight Connector 35">
            <a:extLst>
              <a:ext uri="{FF2B5EF4-FFF2-40B4-BE49-F238E27FC236}">
                <a16:creationId xmlns:a16="http://schemas.microsoft.com/office/drawing/2014/main" id="{A05A2A89-9B1A-4630-ACEC-E415D03798DC}"/>
              </a:ext>
            </a:extLst>
          </p:cNvPr>
          <p:cNvCxnSpPr>
            <a:cxnSpLocks noChangeShapeType="1"/>
          </p:cNvCxnSpPr>
          <p:nvPr/>
        </p:nvCxnSpPr>
        <p:spPr bwMode="auto">
          <a:xfrm>
            <a:off x="6083300" y="3925889"/>
            <a:ext cx="0" cy="1082675"/>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1760" name="Straight Connector 36">
            <a:extLst>
              <a:ext uri="{FF2B5EF4-FFF2-40B4-BE49-F238E27FC236}">
                <a16:creationId xmlns:a16="http://schemas.microsoft.com/office/drawing/2014/main" id="{BA96B94A-F444-41B4-9A38-C750A667A79B}"/>
              </a:ext>
            </a:extLst>
          </p:cNvPr>
          <p:cNvCxnSpPr>
            <a:cxnSpLocks noChangeShapeType="1"/>
          </p:cNvCxnSpPr>
          <p:nvPr/>
        </p:nvCxnSpPr>
        <p:spPr bwMode="auto">
          <a:xfrm>
            <a:off x="7283450" y="3925889"/>
            <a:ext cx="0" cy="1082675"/>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grpSp>
        <p:nvGrpSpPr>
          <p:cNvPr id="31761" name="Group 20">
            <a:extLst>
              <a:ext uri="{FF2B5EF4-FFF2-40B4-BE49-F238E27FC236}">
                <a16:creationId xmlns:a16="http://schemas.microsoft.com/office/drawing/2014/main" id="{2F72A781-AD99-4324-8779-987AF949C20E}"/>
              </a:ext>
            </a:extLst>
          </p:cNvPr>
          <p:cNvGrpSpPr>
            <a:grpSpLocks/>
          </p:cNvGrpSpPr>
          <p:nvPr/>
        </p:nvGrpSpPr>
        <p:grpSpPr bwMode="auto">
          <a:xfrm>
            <a:off x="3586163" y="3733801"/>
            <a:ext cx="4138612" cy="1298575"/>
            <a:chOff x="2062509" y="3926503"/>
            <a:chExt cx="4138502" cy="1105673"/>
          </a:xfrm>
        </p:grpSpPr>
        <p:cxnSp>
          <p:nvCxnSpPr>
            <p:cNvPr id="31773" name="Straight Connector 31">
              <a:extLst>
                <a:ext uri="{FF2B5EF4-FFF2-40B4-BE49-F238E27FC236}">
                  <a16:creationId xmlns:a16="http://schemas.microsoft.com/office/drawing/2014/main" id="{C4368772-CE26-437D-911C-6FDF81EFA3D8}"/>
                </a:ext>
              </a:extLst>
            </p:cNvPr>
            <p:cNvCxnSpPr>
              <a:cxnSpLocks noChangeShapeType="1"/>
            </p:cNvCxnSpPr>
            <p:nvPr/>
          </p:nvCxnSpPr>
          <p:spPr bwMode="auto">
            <a:xfrm>
              <a:off x="2062509" y="3926503"/>
              <a:ext cx="481" cy="1081444"/>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1774" name="Straight Connector 34">
              <a:extLst>
                <a:ext uri="{FF2B5EF4-FFF2-40B4-BE49-F238E27FC236}">
                  <a16:creationId xmlns:a16="http://schemas.microsoft.com/office/drawing/2014/main" id="{38B7BF53-E40A-4805-B53A-0E4A1DAFD015}"/>
                </a:ext>
              </a:extLst>
            </p:cNvPr>
            <p:cNvCxnSpPr>
              <a:cxnSpLocks noChangeShapeType="1"/>
            </p:cNvCxnSpPr>
            <p:nvPr/>
          </p:nvCxnSpPr>
          <p:spPr bwMode="auto">
            <a:xfrm flipH="1">
              <a:off x="4107731" y="3926503"/>
              <a:ext cx="1334" cy="1105673"/>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1775" name="Straight Connector 37">
              <a:extLst>
                <a:ext uri="{FF2B5EF4-FFF2-40B4-BE49-F238E27FC236}">
                  <a16:creationId xmlns:a16="http://schemas.microsoft.com/office/drawing/2014/main" id="{F1AE22A2-5BD8-446C-902C-137A8CD0B056}"/>
                </a:ext>
              </a:extLst>
            </p:cNvPr>
            <p:cNvCxnSpPr>
              <a:cxnSpLocks noChangeShapeType="1"/>
            </p:cNvCxnSpPr>
            <p:nvPr/>
          </p:nvCxnSpPr>
          <p:spPr bwMode="auto">
            <a:xfrm>
              <a:off x="6201011" y="3926503"/>
              <a:ext cx="0" cy="1105673"/>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grpSp>
      <p:sp>
        <p:nvSpPr>
          <p:cNvPr id="31762" name="Left Brace 38">
            <a:extLst>
              <a:ext uri="{FF2B5EF4-FFF2-40B4-BE49-F238E27FC236}">
                <a16:creationId xmlns:a16="http://schemas.microsoft.com/office/drawing/2014/main" id="{FA36C297-0CD4-4654-965F-9FBA3CDFE203}"/>
              </a:ext>
            </a:extLst>
          </p:cNvPr>
          <p:cNvSpPr>
            <a:spLocks/>
          </p:cNvSpPr>
          <p:nvPr/>
        </p:nvSpPr>
        <p:spPr bwMode="auto">
          <a:xfrm rot="5400000">
            <a:off x="4566444" y="2604294"/>
            <a:ext cx="74612" cy="2032000"/>
          </a:xfrm>
          <a:prstGeom prst="leftBrace">
            <a:avLst>
              <a:gd name="adj1" fmla="val 49173"/>
              <a:gd name="adj2" fmla="val 50000"/>
            </a:avLst>
          </a:prstGeom>
          <a:noFill/>
          <a:ln w="9525"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a:p>
        </p:txBody>
      </p:sp>
      <p:sp>
        <p:nvSpPr>
          <p:cNvPr id="31763" name="Left Brace 39">
            <a:extLst>
              <a:ext uri="{FF2B5EF4-FFF2-40B4-BE49-F238E27FC236}">
                <a16:creationId xmlns:a16="http://schemas.microsoft.com/office/drawing/2014/main" id="{4D485209-2DDA-4985-9EEE-AC15F99C04A1}"/>
              </a:ext>
            </a:extLst>
          </p:cNvPr>
          <p:cNvSpPr>
            <a:spLocks/>
          </p:cNvSpPr>
          <p:nvPr/>
        </p:nvSpPr>
        <p:spPr bwMode="auto">
          <a:xfrm rot="5400000">
            <a:off x="6627813" y="2603500"/>
            <a:ext cx="74612" cy="2033588"/>
          </a:xfrm>
          <a:prstGeom prst="leftBrace">
            <a:avLst>
              <a:gd name="adj1" fmla="val 49211"/>
              <a:gd name="adj2" fmla="val 50000"/>
            </a:avLst>
          </a:prstGeom>
          <a:noFill/>
          <a:ln w="9525"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a:p>
        </p:txBody>
      </p:sp>
      <p:sp>
        <p:nvSpPr>
          <p:cNvPr id="31764" name="TextBox 40">
            <a:extLst>
              <a:ext uri="{FF2B5EF4-FFF2-40B4-BE49-F238E27FC236}">
                <a16:creationId xmlns:a16="http://schemas.microsoft.com/office/drawing/2014/main" id="{84D25767-F53D-4A50-A44B-EEBB88F3283E}"/>
              </a:ext>
            </a:extLst>
          </p:cNvPr>
          <p:cNvSpPr txBox="1">
            <a:spLocks noChangeArrowheads="1"/>
          </p:cNvSpPr>
          <p:nvPr/>
        </p:nvSpPr>
        <p:spPr bwMode="auto">
          <a:xfrm>
            <a:off x="2574925" y="4095751"/>
            <a:ext cx="5921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clock</a:t>
            </a:r>
            <a:endParaRPr lang="en-US" altLang="en-US" sz="1200"/>
          </a:p>
        </p:txBody>
      </p:sp>
      <p:sp>
        <p:nvSpPr>
          <p:cNvPr id="31765" name="TextBox 41">
            <a:extLst>
              <a:ext uri="{FF2B5EF4-FFF2-40B4-BE49-F238E27FC236}">
                <a16:creationId xmlns:a16="http://schemas.microsoft.com/office/drawing/2014/main" id="{FA41EEA9-758E-4608-BC9D-827C32CE4767}"/>
              </a:ext>
            </a:extLst>
          </p:cNvPr>
          <p:cNvSpPr txBox="1">
            <a:spLocks noChangeArrowheads="1"/>
          </p:cNvSpPr>
          <p:nvPr/>
        </p:nvSpPr>
        <p:spPr bwMode="auto">
          <a:xfrm>
            <a:off x="4224338" y="3349626"/>
            <a:ext cx="742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cycle 1</a:t>
            </a:r>
          </a:p>
        </p:txBody>
      </p:sp>
      <p:sp>
        <p:nvSpPr>
          <p:cNvPr id="31766" name="TextBox 42">
            <a:extLst>
              <a:ext uri="{FF2B5EF4-FFF2-40B4-BE49-F238E27FC236}">
                <a16:creationId xmlns:a16="http://schemas.microsoft.com/office/drawing/2014/main" id="{B80F5B3E-C1C8-4DB8-80C5-2EE697F6B47C}"/>
              </a:ext>
            </a:extLst>
          </p:cNvPr>
          <p:cNvSpPr txBox="1">
            <a:spLocks noChangeArrowheads="1"/>
          </p:cNvSpPr>
          <p:nvPr/>
        </p:nvSpPr>
        <p:spPr bwMode="auto">
          <a:xfrm>
            <a:off x="6267450" y="3349626"/>
            <a:ext cx="742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cycle 2</a:t>
            </a:r>
          </a:p>
        </p:txBody>
      </p:sp>
      <p:sp>
        <p:nvSpPr>
          <p:cNvPr id="31767" name="TextBox 3">
            <a:extLst>
              <a:ext uri="{FF2B5EF4-FFF2-40B4-BE49-F238E27FC236}">
                <a16:creationId xmlns:a16="http://schemas.microsoft.com/office/drawing/2014/main" id="{D69AC460-6FAE-48D0-8C36-82764992D65F}"/>
              </a:ext>
            </a:extLst>
          </p:cNvPr>
          <p:cNvSpPr txBox="1">
            <a:spLocks noChangeArrowheads="1"/>
          </p:cNvSpPr>
          <p:nvPr/>
        </p:nvSpPr>
        <p:spPr bwMode="auto">
          <a:xfrm>
            <a:off x="2200275" y="4654550"/>
            <a:ext cx="13414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Hold  violation will occur here </a:t>
            </a:r>
          </a:p>
        </p:txBody>
      </p:sp>
      <p:sp>
        <p:nvSpPr>
          <p:cNvPr id="31768" name="TextBox 43">
            <a:extLst>
              <a:ext uri="{FF2B5EF4-FFF2-40B4-BE49-F238E27FC236}">
                <a16:creationId xmlns:a16="http://schemas.microsoft.com/office/drawing/2014/main" id="{007D6ED6-832D-4853-B14C-8020B0F721F5}"/>
              </a:ext>
            </a:extLst>
          </p:cNvPr>
          <p:cNvSpPr txBox="1">
            <a:spLocks noChangeArrowheads="1"/>
          </p:cNvSpPr>
          <p:nvPr/>
        </p:nvSpPr>
        <p:spPr bwMode="auto">
          <a:xfrm>
            <a:off x="5848350" y="4991101"/>
            <a:ext cx="133985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Setup  violation will occur here</a:t>
            </a:r>
          </a:p>
        </p:txBody>
      </p:sp>
      <p:cxnSp>
        <p:nvCxnSpPr>
          <p:cNvPr id="45" name="Straight Connector 44">
            <a:extLst>
              <a:ext uri="{FF2B5EF4-FFF2-40B4-BE49-F238E27FC236}">
                <a16:creationId xmlns:a16="http://schemas.microsoft.com/office/drawing/2014/main" id="{FBBC56BF-A351-4EE2-AF40-435C79A24A75}"/>
              </a:ext>
            </a:extLst>
          </p:cNvPr>
          <p:cNvCxnSpPr>
            <a:stCxn id="31767" idx="3"/>
          </p:cNvCxnSpPr>
          <p:nvPr/>
        </p:nvCxnSpPr>
        <p:spPr bwMode="auto">
          <a:xfrm flipV="1">
            <a:off x="3541714" y="4654550"/>
            <a:ext cx="174625" cy="215900"/>
          </a:xfrm>
          <a:prstGeom prst="line">
            <a:avLst/>
          </a:prstGeom>
          <a:solidFill>
            <a:schemeClr val="accent1"/>
          </a:solidFill>
          <a:ln w="15875" cap="flat" cmpd="sng" algn="ctr">
            <a:solidFill>
              <a:schemeClr val="accent6">
                <a:lumMod val="75000"/>
              </a:schemeClr>
            </a:solidFill>
            <a:prstDash val="solid"/>
            <a:round/>
            <a:headEnd type="none" w="med" len="med"/>
            <a:tailEnd type="oval" w="med" len="med"/>
          </a:ln>
          <a:effectLst/>
        </p:spPr>
      </p:cxnSp>
      <p:cxnSp>
        <p:nvCxnSpPr>
          <p:cNvPr id="31770" name="Straight Connector 47">
            <a:extLst>
              <a:ext uri="{FF2B5EF4-FFF2-40B4-BE49-F238E27FC236}">
                <a16:creationId xmlns:a16="http://schemas.microsoft.com/office/drawing/2014/main" id="{FEF4ECFA-0488-4F4D-99DE-63A2880E3560}"/>
              </a:ext>
            </a:extLst>
          </p:cNvPr>
          <p:cNvCxnSpPr>
            <a:cxnSpLocks noChangeShapeType="1"/>
            <a:stCxn id="31768" idx="1"/>
          </p:cNvCxnSpPr>
          <p:nvPr/>
        </p:nvCxnSpPr>
        <p:spPr bwMode="auto">
          <a:xfrm flipH="1" flipV="1">
            <a:off x="5413376" y="4687888"/>
            <a:ext cx="434975" cy="519112"/>
          </a:xfrm>
          <a:prstGeom prst="line">
            <a:avLst/>
          </a:prstGeom>
          <a:noFill/>
          <a:ln w="15875" algn="ctr">
            <a:solidFill>
              <a:srgbClr val="C00000"/>
            </a:solidFill>
            <a:round/>
            <a:headEnd/>
            <a:tailEnd type="oval" w="med" len="med"/>
          </a:ln>
        </p:spPr>
      </p:cxnSp>
      <p:sp>
        <p:nvSpPr>
          <p:cNvPr id="31771" name="Rectangle 6">
            <a:extLst>
              <a:ext uri="{FF2B5EF4-FFF2-40B4-BE49-F238E27FC236}">
                <a16:creationId xmlns:a16="http://schemas.microsoft.com/office/drawing/2014/main" id="{DFB8CB4B-8496-4841-9190-4335E961D741}"/>
              </a:ext>
            </a:extLst>
          </p:cNvPr>
          <p:cNvSpPr>
            <a:spLocks noChangeArrowheads="1"/>
          </p:cNvSpPr>
          <p:nvPr/>
        </p:nvSpPr>
        <p:spPr bwMode="auto">
          <a:xfrm>
            <a:off x="3573463" y="5270500"/>
            <a:ext cx="8572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earliest </a:t>
            </a:r>
          </a:p>
          <a:p>
            <a:pPr eaLnBrk="1" hangingPunct="1"/>
            <a:r>
              <a:rPr lang="en-US" altLang="en-US"/>
              <a:t>required time</a:t>
            </a:r>
          </a:p>
        </p:txBody>
      </p:sp>
      <p:sp>
        <p:nvSpPr>
          <p:cNvPr id="31772" name="Rectangle 7">
            <a:extLst>
              <a:ext uri="{FF2B5EF4-FFF2-40B4-BE49-F238E27FC236}">
                <a16:creationId xmlns:a16="http://schemas.microsoft.com/office/drawing/2014/main" id="{17D28405-D751-4B62-84F0-7261DB8358E0}"/>
              </a:ext>
            </a:extLst>
          </p:cNvPr>
          <p:cNvSpPr>
            <a:spLocks noChangeArrowheads="1"/>
          </p:cNvSpPr>
          <p:nvPr/>
        </p:nvSpPr>
        <p:spPr bwMode="auto">
          <a:xfrm>
            <a:off x="4708525" y="5237164"/>
            <a:ext cx="8588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latest </a:t>
            </a:r>
          </a:p>
          <a:p>
            <a:pPr eaLnBrk="1" hangingPunct="1"/>
            <a:r>
              <a:rPr lang="en-US" altLang="en-US"/>
              <a:t>required time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DA1B0255-4030-47E4-8E4E-5850779AE39F}"/>
              </a:ext>
            </a:extLst>
          </p:cNvPr>
          <p:cNvSpPr>
            <a:spLocks noGrp="1"/>
          </p:cNvSpPr>
          <p:nvPr>
            <p:ph type="title"/>
          </p:nvPr>
        </p:nvSpPr>
        <p:spPr/>
        <p:txBody>
          <a:bodyPr/>
          <a:lstStyle/>
          <a:p>
            <a:r>
              <a:rPr lang="en-US" altLang="en-US"/>
              <a:t>Arrival Time</a:t>
            </a:r>
          </a:p>
        </p:txBody>
      </p:sp>
      <p:sp>
        <p:nvSpPr>
          <p:cNvPr id="32771" name="Content Placeholder 2">
            <a:extLst>
              <a:ext uri="{FF2B5EF4-FFF2-40B4-BE49-F238E27FC236}">
                <a16:creationId xmlns:a16="http://schemas.microsoft.com/office/drawing/2014/main" id="{3336210E-7CE5-48D3-BD1C-123243DFF625}"/>
              </a:ext>
            </a:extLst>
          </p:cNvPr>
          <p:cNvSpPr>
            <a:spLocks noGrp="1"/>
          </p:cNvSpPr>
          <p:nvPr>
            <p:ph type="body" sz="quarter" idx="10"/>
          </p:nvPr>
        </p:nvSpPr>
        <p:spPr/>
        <p:txBody>
          <a:bodyPr/>
          <a:lstStyle/>
          <a:p>
            <a:r>
              <a:rPr lang="en-US" altLang="en-US" sz="1800" dirty="0"/>
              <a:t>Arrival time defines the time interval during which a data signal will arrive at a path endpoint (after arrival time signal will be stable).</a:t>
            </a:r>
          </a:p>
          <a:p>
            <a:r>
              <a:rPr lang="en-US" altLang="en-US" sz="1800" dirty="0"/>
              <a:t>Data is normally triggered by clock edge</a:t>
            </a:r>
          </a:p>
          <a:p>
            <a:r>
              <a:rPr lang="en-US" altLang="en-US" sz="1800" dirty="0"/>
              <a:t>Data arrival depend on circuit delay, which vary (depend on temperature, supply voltage, etc.) </a:t>
            </a:r>
          </a:p>
          <a:p>
            <a:r>
              <a:rPr lang="en-US" altLang="en-US" sz="1800" dirty="0"/>
              <a:t>Minimum delay, early arrival </a:t>
            </a:r>
          </a:p>
          <a:p>
            <a:r>
              <a:rPr lang="en-US" altLang="en-US" sz="1800" dirty="0"/>
              <a:t>Maximum delay, late arrival </a:t>
            </a:r>
          </a:p>
        </p:txBody>
      </p:sp>
      <p:grpSp>
        <p:nvGrpSpPr>
          <p:cNvPr id="32772" name="Group 3">
            <a:extLst>
              <a:ext uri="{FF2B5EF4-FFF2-40B4-BE49-F238E27FC236}">
                <a16:creationId xmlns:a16="http://schemas.microsoft.com/office/drawing/2014/main" id="{FB6F3FC9-E350-43BB-80D3-926FA4BA1CBE}"/>
              </a:ext>
            </a:extLst>
          </p:cNvPr>
          <p:cNvGrpSpPr>
            <a:grpSpLocks/>
          </p:cNvGrpSpPr>
          <p:nvPr/>
        </p:nvGrpSpPr>
        <p:grpSpPr bwMode="auto">
          <a:xfrm>
            <a:off x="3824288" y="4173538"/>
            <a:ext cx="4557712" cy="1465262"/>
            <a:chOff x="997914" y="2980203"/>
            <a:chExt cx="4557949" cy="1465421"/>
          </a:xfrm>
        </p:grpSpPr>
        <p:sp>
          <p:nvSpPr>
            <p:cNvPr id="49" name="Rectangle 48">
              <a:extLst>
                <a:ext uri="{FF2B5EF4-FFF2-40B4-BE49-F238E27FC236}">
                  <a16:creationId xmlns:a16="http://schemas.microsoft.com/office/drawing/2014/main" id="{D821C51C-6900-4776-8E65-632F9A3526C0}"/>
                </a:ext>
              </a:extLst>
            </p:cNvPr>
            <p:cNvSpPr/>
            <p:nvPr/>
          </p:nvSpPr>
          <p:spPr bwMode="auto">
            <a:xfrm>
              <a:off x="3031607" y="3591456"/>
              <a:ext cx="838244" cy="293720"/>
            </a:xfrm>
            <a:prstGeom prst="rect">
              <a:avLst/>
            </a:prstGeom>
            <a:pattFill prst="dkUpDiag">
              <a:fgClr>
                <a:schemeClr val="tx2">
                  <a:lumMod val="75000"/>
                </a:schemeClr>
              </a:fgClr>
              <a:bgClr>
                <a:schemeClr val="bg1"/>
              </a:bgClr>
            </a:pattFill>
            <a:ln w="9525" cap="flat" cmpd="sng" algn="ctr">
              <a:no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cxnSp>
          <p:nvCxnSpPr>
            <p:cNvPr id="6" name="Straight Connector 5">
              <a:extLst>
                <a:ext uri="{FF2B5EF4-FFF2-40B4-BE49-F238E27FC236}">
                  <a16:creationId xmlns:a16="http://schemas.microsoft.com/office/drawing/2014/main" id="{7A25A47C-0DF9-4FCD-BD48-D9F4E66F3F47}"/>
                </a:ext>
              </a:extLst>
            </p:cNvPr>
            <p:cNvCxnSpPr/>
            <p:nvPr/>
          </p:nvCxnSpPr>
          <p:spPr bwMode="auto">
            <a:xfrm rot="5400000">
              <a:off x="2128263" y="3132620"/>
              <a:ext cx="303246"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D924813E-18AE-4751-8F5D-F31436ABAE55}"/>
                </a:ext>
              </a:extLst>
            </p:cNvPr>
            <p:cNvCxnSpPr/>
            <p:nvPr/>
          </p:nvCxnSpPr>
          <p:spPr bwMode="auto">
            <a:xfrm rot="10800000">
              <a:off x="1059829" y="3285036"/>
              <a:ext cx="1219263"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BDC8654E-EB70-4353-962B-E006E38193EF}"/>
                </a:ext>
              </a:extLst>
            </p:cNvPr>
            <p:cNvCxnSpPr/>
            <p:nvPr/>
          </p:nvCxnSpPr>
          <p:spPr bwMode="auto">
            <a:xfrm>
              <a:off x="2279093" y="2980203"/>
              <a:ext cx="2667139"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1DBB483-E9EE-48D7-8E82-1D7270AFD5EE}"/>
                </a:ext>
              </a:extLst>
            </p:cNvPr>
            <p:cNvCxnSpPr/>
            <p:nvPr/>
          </p:nvCxnSpPr>
          <p:spPr bwMode="auto">
            <a:xfrm rot="5400000">
              <a:off x="4795403" y="3131031"/>
              <a:ext cx="303245"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52391DF-7268-48B6-9B06-BD0DF4DB1EF9}"/>
                </a:ext>
              </a:extLst>
            </p:cNvPr>
            <p:cNvCxnSpPr/>
            <p:nvPr/>
          </p:nvCxnSpPr>
          <p:spPr bwMode="auto">
            <a:xfrm>
              <a:off x="4946231" y="3285036"/>
              <a:ext cx="609632"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50A5377-9F48-4926-9A95-32278A105C1B}"/>
                </a:ext>
              </a:extLst>
            </p:cNvPr>
            <p:cNvCxnSpPr/>
            <p:nvPr/>
          </p:nvCxnSpPr>
          <p:spPr bwMode="auto">
            <a:xfrm>
              <a:off x="1059829" y="3894702"/>
              <a:ext cx="1981303"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558EC53-F60D-4A9D-B07A-B8D44D2CC22E}"/>
                </a:ext>
              </a:extLst>
            </p:cNvPr>
            <p:cNvCxnSpPr/>
            <p:nvPr/>
          </p:nvCxnSpPr>
          <p:spPr bwMode="auto">
            <a:xfrm>
              <a:off x="3879376" y="3589869"/>
              <a:ext cx="1676487"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783" name="Straight Connector 14">
              <a:extLst>
                <a:ext uri="{FF2B5EF4-FFF2-40B4-BE49-F238E27FC236}">
                  <a16:creationId xmlns:a16="http://schemas.microsoft.com/office/drawing/2014/main" id="{EB0CF088-ED61-491B-94E9-2092D553547B}"/>
                </a:ext>
              </a:extLst>
            </p:cNvPr>
            <p:cNvCxnSpPr>
              <a:cxnSpLocks noChangeShapeType="1"/>
            </p:cNvCxnSpPr>
            <p:nvPr/>
          </p:nvCxnSpPr>
          <p:spPr bwMode="auto">
            <a:xfrm rot="5400000">
              <a:off x="3689757" y="4085103"/>
              <a:ext cx="380206" cy="794"/>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2784" name="Straight Connector 15">
              <a:extLst>
                <a:ext uri="{FF2B5EF4-FFF2-40B4-BE49-F238E27FC236}">
                  <a16:creationId xmlns:a16="http://schemas.microsoft.com/office/drawing/2014/main" id="{748840F5-0E83-4D90-864B-F6B20906DB8F}"/>
                </a:ext>
              </a:extLst>
            </p:cNvPr>
            <p:cNvCxnSpPr>
              <a:cxnSpLocks noChangeShapeType="1"/>
            </p:cNvCxnSpPr>
            <p:nvPr/>
          </p:nvCxnSpPr>
          <p:spPr bwMode="auto">
            <a:xfrm rot="5400000">
              <a:off x="2927757" y="4008109"/>
              <a:ext cx="228600"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2785" name="Straight Connector 16">
              <a:extLst>
                <a:ext uri="{FF2B5EF4-FFF2-40B4-BE49-F238E27FC236}">
                  <a16:creationId xmlns:a16="http://schemas.microsoft.com/office/drawing/2014/main" id="{F89431EF-20A6-4E82-801C-D903B059D3CC}"/>
                </a:ext>
              </a:extLst>
            </p:cNvPr>
            <p:cNvCxnSpPr>
              <a:cxnSpLocks noChangeShapeType="1"/>
            </p:cNvCxnSpPr>
            <p:nvPr/>
          </p:nvCxnSpPr>
          <p:spPr bwMode="auto">
            <a:xfrm>
              <a:off x="2280057" y="3285797"/>
              <a:ext cx="0" cy="1159827"/>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2786" name="Straight Arrow Connector 17">
              <a:extLst>
                <a:ext uri="{FF2B5EF4-FFF2-40B4-BE49-F238E27FC236}">
                  <a16:creationId xmlns:a16="http://schemas.microsoft.com/office/drawing/2014/main" id="{5A7428E9-E2A3-41AC-9C6A-66BF0A14D77F}"/>
                </a:ext>
              </a:extLst>
            </p:cNvPr>
            <p:cNvCxnSpPr>
              <a:cxnSpLocks noChangeShapeType="1"/>
            </p:cNvCxnSpPr>
            <p:nvPr/>
          </p:nvCxnSpPr>
          <p:spPr bwMode="auto">
            <a:xfrm>
              <a:off x="2279263" y="3970803"/>
              <a:ext cx="762000" cy="0"/>
            </a:xfrm>
            <a:prstGeom prst="straightConnector1">
              <a:avLst/>
            </a:prstGeom>
            <a:noFill/>
            <a:ln w="9525" algn="ctr">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32787" name="Straight Arrow Connector 18">
              <a:extLst>
                <a:ext uri="{FF2B5EF4-FFF2-40B4-BE49-F238E27FC236}">
                  <a16:creationId xmlns:a16="http://schemas.microsoft.com/office/drawing/2014/main" id="{2B13C7FF-8395-4395-B3F2-F3E312B8EC33}"/>
                </a:ext>
              </a:extLst>
            </p:cNvPr>
            <p:cNvCxnSpPr>
              <a:cxnSpLocks noChangeShapeType="1"/>
            </p:cNvCxnSpPr>
            <p:nvPr/>
          </p:nvCxnSpPr>
          <p:spPr bwMode="auto">
            <a:xfrm rot="10800000">
              <a:off x="2279263" y="4200991"/>
              <a:ext cx="1600200" cy="0"/>
            </a:xfrm>
            <a:prstGeom prst="straightConnector1">
              <a:avLst/>
            </a:prstGeom>
            <a:noFill/>
            <a:ln w="9525" algn="ctr">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32788" name="TextBox 27">
              <a:extLst>
                <a:ext uri="{FF2B5EF4-FFF2-40B4-BE49-F238E27FC236}">
                  <a16:creationId xmlns:a16="http://schemas.microsoft.com/office/drawing/2014/main" id="{7B6B0C4E-DFCF-40C1-BBC4-C687348FDEC7}"/>
                </a:ext>
              </a:extLst>
            </p:cNvPr>
            <p:cNvSpPr txBox="1">
              <a:spLocks noChangeArrowheads="1"/>
            </p:cNvSpPr>
            <p:nvPr/>
          </p:nvSpPr>
          <p:spPr bwMode="auto">
            <a:xfrm>
              <a:off x="997914" y="2997824"/>
              <a:ext cx="71365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CLOCK</a:t>
              </a:r>
            </a:p>
          </p:txBody>
        </p:sp>
        <p:sp>
          <p:nvSpPr>
            <p:cNvPr id="32789" name="TextBox 30">
              <a:extLst>
                <a:ext uri="{FF2B5EF4-FFF2-40B4-BE49-F238E27FC236}">
                  <a16:creationId xmlns:a16="http://schemas.microsoft.com/office/drawing/2014/main" id="{EDC0C159-9DAC-4B88-A65F-6978DC304F03}"/>
                </a:ext>
              </a:extLst>
            </p:cNvPr>
            <p:cNvSpPr txBox="1">
              <a:spLocks noChangeArrowheads="1"/>
            </p:cNvSpPr>
            <p:nvPr/>
          </p:nvSpPr>
          <p:spPr bwMode="auto">
            <a:xfrm>
              <a:off x="997914" y="3970803"/>
              <a:ext cx="9765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Data Signal</a:t>
              </a:r>
            </a:p>
          </p:txBody>
        </p:sp>
        <p:sp>
          <p:nvSpPr>
            <p:cNvPr id="32790" name="TextBox 33">
              <a:extLst>
                <a:ext uri="{FF2B5EF4-FFF2-40B4-BE49-F238E27FC236}">
                  <a16:creationId xmlns:a16="http://schemas.microsoft.com/office/drawing/2014/main" id="{D260523E-ED20-43AD-8F76-FB1CC35FE479}"/>
                </a:ext>
              </a:extLst>
            </p:cNvPr>
            <p:cNvSpPr txBox="1">
              <a:spLocks noChangeArrowheads="1"/>
            </p:cNvSpPr>
            <p:nvPr/>
          </p:nvSpPr>
          <p:spPr bwMode="auto">
            <a:xfrm>
              <a:off x="2431663" y="3970803"/>
              <a:ext cx="39145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000"/>
                <a:t>min</a:t>
              </a:r>
            </a:p>
          </p:txBody>
        </p:sp>
        <p:sp>
          <p:nvSpPr>
            <p:cNvPr id="32791" name="TextBox 35">
              <a:extLst>
                <a:ext uri="{FF2B5EF4-FFF2-40B4-BE49-F238E27FC236}">
                  <a16:creationId xmlns:a16="http://schemas.microsoft.com/office/drawing/2014/main" id="{19E3F03C-07EA-4887-B891-CAB44DDD6914}"/>
                </a:ext>
              </a:extLst>
            </p:cNvPr>
            <p:cNvSpPr txBox="1">
              <a:spLocks noChangeArrowheads="1"/>
            </p:cNvSpPr>
            <p:nvPr/>
          </p:nvSpPr>
          <p:spPr bwMode="auto">
            <a:xfrm>
              <a:off x="2812663" y="4199403"/>
              <a:ext cx="43954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000"/>
                <a:t>max</a:t>
              </a:r>
            </a:p>
          </p:txBody>
        </p:sp>
        <p:cxnSp>
          <p:nvCxnSpPr>
            <p:cNvPr id="41" name="Straight Connector 40">
              <a:extLst>
                <a:ext uri="{FF2B5EF4-FFF2-40B4-BE49-F238E27FC236}">
                  <a16:creationId xmlns:a16="http://schemas.microsoft.com/office/drawing/2014/main" id="{D5CFA4BE-BDC4-4D18-B197-04504B39038C}"/>
                </a:ext>
              </a:extLst>
            </p:cNvPr>
            <p:cNvCxnSpPr/>
            <p:nvPr/>
          </p:nvCxnSpPr>
          <p:spPr bwMode="auto">
            <a:xfrm>
              <a:off x="3101460" y="3589869"/>
              <a:ext cx="838244"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355C5BEA-185E-4B40-B177-91653B670BB0}"/>
                </a:ext>
              </a:extLst>
            </p:cNvPr>
            <p:cNvCxnSpPr/>
            <p:nvPr/>
          </p:nvCxnSpPr>
          <p:spPr bwMode="auto">
            <a:xfrm rot="5400000">
              <a:off x="3727753" y="3741492"/>
              <a:ext cx="304833"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4" name="Elbow Connector 43">
              <a:extLst>
                <a:ext uri="{FF2B5EF4-FFF2-40B4-BE49-F238E27FC236}">
                  <a16:creationId xmlns:a16="http://schemas.microsoft.com/office/drawing/2014/main" id="{D68AE509-4BDF-414D-9F57-150B0C1ECBF2}"/>
                </a:ext>
              </a:extLst>
            </p:cNvPr>
            <p:cNvCxnSpPr/>
            <p:nvPr/>
          </p:nvCxnSpPr>
          <p:spPr bwMode="auto">
            <a:xfrm rot="10800000" flipV="1">
              <a:off x="3041132" y="3589869"/>
              <a:ext cx="838244" cy="304833"/>
            </a:xfrm>
            <a:prstGeom prst="bentConnector3">
              <a:avLst>
                <a:gd name="adj1" fmla="val 101136"/>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9FB288C8-B47A-4018-A934-43359145CEBB}"/>
                </a:ext>
              </a:extLst>
            </p:cNvPr>
            <p:cNvCxnSpPr/>
            <p:nvPr/>
          </p:nvCxnSpPr>
          <p:spPr bwMode="auto">
            <a:xfrm>
              <a:off x="3050658" y="3885176"/>
              <a:ext cx="819193"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32773" name="Rectangle 31">
            <a:extLst>
              <a:ext uri="{FF2B5EF4-FFF2-40B4-BE49-F238E27FC236}">
                <a16:creationId xmlns:a16="http://schemas.microsoft.com/office/drawing/2014/main" id="{733B3EB2-F685-4D2C-BE18-B9D9FD0BBB55}"/>
              </a:ext>
            </a:extLst>
          </p:cNvPr>
          <p:cNvSpPr>
            <a:spLocks noChangeArrowheads="1"/>
          </p:cNvSpPr>
          <p:nvPr/>
        </p:nvSpPr>
        <p:spPr bwMode="auto">
          <a:xfrm>
            <a:off x="5492751" y="4327525"/>
            <a:ext cx="7477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earliest </a:t>
            </a:r>
          </a:p>
          <a:p>
            <a:pPr eaLnBrk="1" hangingPunct="1"/>
            <a:r>
              <a:rPr lang="en-US" altLang="en-US"/>
              <a:t>arrival time</a:t>
            </a:r>
          </a:p>
        </p:txBody>
      </p:sp>
      <p:sp>
        <p:nvSpPr>
          <p:cNvPr id="32774" name="Rectangle 32">
            <a:extLst>
              <a:ext uri="{FF2B5EF4-FFF2-40B4-BE49-F238E27FC236}">
                <a16:creationId xmlns:a16="http://schemas.microsoft.com/office/drawing/2014/main" id="{75F7C84B-EEA1-4E9B-9D41-8C9F35E2643F}"/>
              </a:ext>
            </a:extLst>
          </p:cNvPr>
          <p:cNvSpPr>
            <a:spLocks noChangeArrowheads="1"/>
          </p:cNvSpPr>
          <p:nvPr/>
        </p:nvSpPr>
        <p:spPr bwMode="auto">
          <a:xfrm>
            <a:off x="6765926" y="4930775"/>
            <a:ext cx="7477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latest </a:t>
            </a:r>
          </a:p>
          <a:p>
            <a:pPr eaLnBrk="1" hangingPunct="1"/>
            <a:r>
              <a:rPr lang="en-US" altLang="en-US"/>
              <a:t>arrival time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4">
            <a:extLst>
              <a:ext uri="{FF2B5EF4-FFF2-40B4-BE49-F238E27FC236}">
                <a16:creationId xmlns:a16="http://schemas.microsoft.com/office/drawing/2014/main" id="{28716C2F-5365-4AA4-B47B-8E13E0F927CB}"/>
              </a:ext>
            </a:extLst>
          </p:cNvPr>
          <p:cNvSpPr>
            <a:spLocks noChangeArrowheads="1"/>
          </p:cNvSpPr>
          <p:nvPr/>
        </p:nvSpPr>
        <p:spPr bwMode="auto">
          <a:xfrm>
            <a:off x="8391526" y="3962401"/>
            <a:ext cx="390525" cy="1266825"/>
          </a:xfrm>
          <a:prstGeom prst="rect">
            <a:avLst/>
          </a:prstGeom>
          <a:pattFill prst="ltDnDiag">
            <a:fgClr>
              <a:schemeClr val="accent1"/>
            </a:fgClr>
            <a:bgClr>
              <a:schemeClr val="bg1"/>
            </a:bgClr>
          </a:patt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3795" name="Rectangle 78">
            <a:extLst>
              <a:ext uri="{FF2B5EF4-FFF2-40B4-BE49-F238E27FC236}">
                <a16:creationId xmlns:a16="http://schemas.microsoft.com/office/drawing/2014/main" id="{BE9282E9-84BC-440B-B8FA-06EC3EDA5686}"/>
              </a:ext>
            </a:extLst>
          </p:cNvPr>
          <p:cNvSpPr>
            <a:spLocks noChangeArrowheads="1"/>
          </p:cNvSpPr>
          <p:nvPr/>
        </p:nvSpPr>
        <p:spPr bwMode="auto">
          <a:xfrm rot="16200000">
            <a:off x="8360569" y="4712494"/>
            <a:ext cx="304800" cy="252412"/>
          </a:xfrm>
          <a:prstGeom prst="rect">
            <a:avLst/>
          </a:prstGeom>
          <a:pattFill prst="pct50">
            <a:fgClr>
              <a:srgbClr val="C00000"/>
            </a:fgClr>
            <a:bgClr>
              <a:schemeClr val="bg1"/>
            </a:bgClr>
          </a:patt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rgbClr val="FF0000"/>
              </a:solidFill>
            </a:endParaRPr>
          </a:p>
        </p:txBody>
      </p:sp>
      <p:sp>
        <p:nvSpPr>
          <p:cNvPr id="33796" name="Rectangle 77">
            <a:extLst>
              <a:ext uri="{FF2B5EF4-FFF2-40B4-BE49-F238E27FC236}">
                <a16:creationId xmlns:a16="http://schemas.microsoft.com/office/drawing/2014/main" id="{9D2434F5-D59D-4D16-9D40-AB5A681290DD}"/>
              </a:ext>
            </a:extLst>
          </p:cNvPr>
          <p:cNvSpPr>
            <a:spLocks noChangeArrowheads="1"/>
          </p:cNvSpPr>
          <p:nvPr/>
        </p:nvSpPr>
        <p:spPr bwMode="auto">
          <a:xfrm rot="16200000">
            <a:off x="3938588" y="4510088"/>
            <a:ext cx="304800" cy="657225"/>
          </a:xfrm>
          <a:prstGeom prst="rect">
            <a:avLst/>
          </a:prstGeom>
          <a:pattFill prst="ltDnDiag">
            <a:fgClr>
              <a:schemeClr val="accent2"/>
            </a:fgClr>
            <a:bgClr>
              <a:schemeClr val="bg1"/>
            </a:bgClr>
          </a:patt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rgbClr val="FF0000"/>
              </a:solidFill>
            </a:endParaRPr>
          </a:p>
        </p:txBody>
      </p:sp>
      <p:sp>
        <p:nvSpPr>
          <p:cNvPr id="33797" name="Rectangle 73">
            <a:extLst>
              <a:ext uri="{FF2B5EF4-FFF2-40B4-BE49-F238E27FC236}">
                <a16:creationId xmlns:a16="http://schemas.microsoft.com/office/drawing/2014/main" id="{60CC813D-2B64-424F-AF27-0B2A08F751C5}"/>
              </a:ext>
            </a:extLst>
          </p:cNvPr>
          <p:cNvSpPr>
            <a:spLocks noChangeArrowheads="1"/>
          </p:cNvSpPr>
          <p:nvPr/>
        </p:nvSpPr>
        <p:spPr bwMode="auto">
          <a:xfrm>
            <a:off x="4419600" y="3962400"/>
            <a:ext cx="476250" cy="1143000"/>
          </a:xfrm>
          <a:prstGeom prst="rect">
            <a:avLst/>
          </a:prstGeom>
          <a:pattFill prst="ltDnDiag">
            <a:fgClr>
              <a:schemeClr val="accent1"/>
            </a:fgClr>
            <a:bgClr>
              <a:schemeClr val="bg1"/>
            </a:bgClr>
          </a:patt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3798" name="Title 1">
            <a:extLst>
              <a:ext uri="{FF2B5EF4-FFF2-40B4-BE49-F238E27FC236}">
                <a16:creationId xmlns:a16="http://schemas.microsoft.com/office/drawing/2014/main" id="{76388FEA-4020-45FE-85AB-56D28D405903}"/>
              </a:ext>
            </a:extLst>
          </p:cNvPr>
          <p:cNvSpPr>
            <a:spLocks noGrp="1"/>
          </p:cNvSpPr>
          <p:nvPr>
            <p:ph type="title"/>
          </p:nvPr>
        </p:nvSpPr>
        <p:spPr/>
        <p:txBody>
          <a:bodyPr/>
          <a:lstStyle/>
          <a:p>
            <a:r>
              <a:rPr lang="en-US" altLang="en-US"/>
              <a:t>Slack and Critical Path</a:t>
            </a:r>
          </a:p>
        </p:txBody>
      </p:sp>
      <p:sp>
        <p:nvSpPr>
          <p:cNvPr id="3" name="Content Placeholder 2">
            <a:extLst>
              <a:ext uri="{FF2B5EF4-FFF2-40B4-BE49-F238E27FC236}">
                <a16:creationId xmlns:a16="http://schemas.microsoft.com/office/drawing/2014/main" id="{5B511735-CCF6-4E03-B728-5224E790F950}"/>
              </a:ext>
            </a:extLst>
          </p:cNvPr>
          <p:cNvSpPr>
            <a:spLocks noChangeAspect="1"/>
          </p:cNvSpPr>
          <p:nvPr>
            <p:ph type="body" sz="quarter" idx="10"/>
          </p:nvPr>
        </p:nvSpPr>
        <p:spPr>
          <a:blipFill rotWithShape="0">
            <a:blip r:embed="rId2"/>
            <a:stretch>
              <a:fillRect l="-296" t="-1014" r="-2000"/>
            </a:stretch>
          </a:blipFill>
          <a:ln>
            <a:miter lim="800000"/>
            <a:headEnd/>
            <a:tailEnd/>
          </a:ln>
        </p:spPr>
        <p:txBody>
          <a:bodyPr/>
          <a:lstStyle/>
          <a:p>
            <a:pPr marL="0" indent="0">
              <a:buNone/>
            </a:pPr>
            <a:r>
              <a:rPr lang="en-US" dirty="0">
                <a:noFill/>
              </a:rPr>
              <a:t> </a:t>
            </a:r>
          </a:p>
        </p:txBody>
      </p:sp>
      <p:grpSp>
        <p:nvGrpSpPr>
          <p:cNvPr id="33800" name="Group 37">
            <a:extLst>
              <a:ext uri="{FF2B5EF4-FFF2-40B4-BE49-F238E27FC236}">
                <a16:creationId xmlns:a16="http://schemas.microsoft.com/office/drawing/2014/main" id="{901FC6AD-17A0-41C0-886F-2091BC658282}"/>
              </a:ext>
            </a:extLst>
          </p:cNvPr>
          <p:cNvGrpSpPr>
            <a:grpSpLocks/>
          </p:cNvGrpSpPr>
          <p:nvPr/>
        </p:nvGrpSpPr>
        <p:grpSpPr bwMode="auto">
          <a:xfrm>
            <a:off x="2381250" y="4152900"/>
            <a:ext cx="7239000" cy="838200"/>
            <a:chOff x="1295400" y="4038600"/>
            <a:chExt cx="7239000" cy="838200"/>
          </a:xfrm>
        </p:grpSpPr>
        <p:cxnSp>
          <p:nvCxnSpPr>
            <p:cNvPr id="5" name="Elbow Connector 4">
              <a:extLst>
                <a:ext uri="{FF2B5EF4-FFF2-40B4-BE49-F238E27FC236}">
                  <a16:creationId xmlns:a16="http://schemas.microsoft.com/office/drawing/2014/main" id="{2F001FE3-E9A9-4CD5-BCDA-27312041A64B}"/>
                </a:ext>
              </a:extLst>
            </p:cNvPr>
            <p:cNvCxnSpPr/>
            <p:nvPr/>
          </p:nvCxnSpPr>
          <p:spPr bwMode="auto">
            <a:xfrm>
              <a:off x="2133600" y="4038600"/>
              <a:ext cx="1676400" cy="304800"/>
            </a:xfrm>
            <a:prstGeom prst="bentConnector3">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 name="Elbow Connector 5">
              <a:extLst>
                <a:ext uri="{FF2B5EF4-FFF2-40B4-BE49-F238E27FC236}">
                  <a16:creationId xmlns:a16="http://schemas.microsoft.com/office/drawing/2014/main" id="{780A668E-E699-453A-9606-4CA68C4EFB8F}"/>
                </a:ext>
              </a:extLst>
            </p:cNvPr>
            <p:cNvCxnSpPr/>
            <p:nvPr/>
          </p:nvCxnSpPr>
          <p:spPr bwMode="auto">
            <a:xfrm flipV="1">
              <a:off x="1295400" y="4038600"/>
              <a:ext cx="1676400" cy="304800"/>
            </a:xfrm>
            <a:prstGeom prst="bentConnector3">
              <a:avLst>
                <a:gd name="adj1" fmla="val 4943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 name="Elbow Connector 7">
              <a:extLst>
                <a:ext uri="{FF2B5EF4-FFF2-40B4-BE49-F238E27FC236}">
                  <a16:creationId xmlns:a16="http://schemas.microsoft.com/office/drawing/2014/main" id="{284229E2-FA70-4DB6-805A-F666A8B844F9}"/>
                </a:ext>
              </a:extLst>
            </p:cNvPr>
            <p:cNvCxnSpPr/>
            <p:nvPr/>
          </p:nvCxnSpPr>
          <p:spPr bwMode="auto">
            <a:xfrm flipV="1">
              <a:off x="2981325" y="4038600"/>
              <a:ext cx="1676400" cy="304800"/>
            </a:xfrm>
            <a:prstGeom prst="bentConnector3">
              <a:avLst>
                <a:gd name="adj1" fmla="val 4943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 name="Elbow Connector 8">
              <a:extLst>
                <a:ext uri="{FF2B5EF4-FFF2-40B4-BE49-F238E27FC236}">
                  <a16:creationId xmlns:a16="http://schemas.microsoft.com/office/drawing/2014/main" id="{61FE589E-E119-4F58-BA39-AD3881699C12}"/>
                </a:ext>
              </a:extLst>
            </p:cNvPr>
            <p:cNvCxnSpPr/>
            <p:nvPr/>
          </p:nvCxnSpPr>
          <p:spPr bwMode="auto">
            <a:xfrm flipV="1">
              <a:off x="1828800" y="4572000"/>
              <a:ext cx="1676400" cy="304800"/>
            </a:xfrm>
            <a:prstGeom prst="bentConnector3">
              <a:avLst>
                <a:gd name="adj1" fmla="val 50000"/>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B2A81D1A-F89C-4335-9F0A-880CB8AE6AE5}"/>
                </a:ext>
              </a:extLst>
            </p:cNvPr>
            <p:cNvCxnSpPr/>
            <p:nvPr/>
          </p:nvCxnSpPr>
          <p:spPr bwMode="auto">
            <a:xfrm>
              <a:off x="3505200" y="4572000"/>
              <a:ext cx="1152525"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02CCF2D2-94FB-429C-8DEE-E5C494C5BA12}"/>
                </a:ext>
              </a:extLst>
            </p:cNvPr>
            <p:cNvCxnSpPr/>
            <p:nvPr/>
          </p:nvCxnSpPr>
          <p:spPr bwMode="auto">
            <a:xfrm>
              <a:off x="1295400" y="4876800"/>
              <a:ext cx="1152525"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6" name="Elbow Connector 25">
              <a:extLst>
                <a:ext uri="{FF2B5EF4-FFF2-40B4-BE49-F238E27FC236}">
                  <a16:creationId xmlns:a16="http://schemas.microsoft.com/office/drawing/2014/main" id="{24C427B4-5266-43B7-ABC6-B2879E6183D4}"/>
                </a:ext>
              </a:extLst>
            </p:cNvPr>
            <p:cNvCxnSpPr/>
            <p:nvPr/>
          </p:nvCxnSpPr>
          <p:spPr bwMode="auto">
            <a:xfrm>
              <a:off x="6010275" y="4038600"/>
              <a:ext cx="1676400" cy="304800"/>
            </a:xfrm>
            <a:prstGeom prst="bentConnector3">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7" name="Elbow Connector 26">
              <a:extLst>
                <a:ext uri="{FF2B5EF4-FFF2-40B4-BE49-F238E27FC236}">
                  <a16:creationId xmlns:a16="http://schemas.microsoft.com/office/drawing/2014/main" id="{66F97649-4281-4DAB-8E52-C5CAF0A52A89}"/>
                </a:ext>
              </a:extLst>
            </p:cNvPr>
            <p:cNvCxnSpPr/>
            <p:nvPr/>
          </p:nvCxnSpPr>
          <p:spPr bwMode="auto">
            <a:xfrm flipV="1">
              <a:off x="5172075" y="4038600"/>
              <a:ext cx="1676400" cy="304800"/>
            </a:xfrm>
            <a:prstGeom prst="bentConnector3">
              <a:avLst>
                <a:gd name="adj1" fmla="val 4943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8" name="Elbow Connector 27">
              <a:extLst>
                <a:ext uri="{FF2B5EF4-FFF2-40B4-BE49-F238E27FC236}">
                  <a16:creationId xmlns:a16="http://schemas.microsoft.com/office/drawing/2014/main" id="{B9D8D1C4-E0E1-4A8E-AEAD-492CD8655280}"/>
                </a:ext>
              </a:extLst>
            </p:cNvPr>
            <p:cNvCxnSpPr/>
            <p:nvPr/>
          </p:nvCxnSpPr>
          <p:spPr bwMode="auto">
            <a:xfrm flipV="1">
              <a:off x="6858000" y="4038600"/>
              <a:ext cx="1676400" cy="304800"/>
            </a:xfrm>
            <a:prstGeom prst="bentConnector3">
              <a:avLst>
                <a:gd name="adj1" fmla="val 4943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9" name="Elbow Connector 28">
              <a:extLst>
                <a:ext uri="{FF2B5EF4-FFF2-40B4-BE49-F238E27FC236}">
                  <a16:creationId xmlns:a16="http://schemas.microsoft.com/office/drawing/2014/main" id="{6782D3B9-D781-4A94-85D8-9316B743BA17}"/>
                </a:ext>
              </a:extLst>
            </p:cNvPr>
            <p:cNvCxnSpPr/>
            <p:nvPr/>
          </p:nvCxnSpPr>
          <p:spPr bwMode="auto">
            <a:xfrm flipV="1">
              <a:off x="5924550" y="4572000"/>
              <a:ext cx="1676400" cy="304800"/>
            </a:xfrm>
            <a:prstGeom prst="bentConnector3">
              <a:avLst>
                <a:gd name="adj1" fmla="val 96023"/>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8079B634-FEFF-4DFE-9B03-96AB52646334}"/>
                </a:ext>
              </a:extLst>
            </p:cNvPr>
            <p:cNvCxnSpPr/>
            <p:nvPr/>
          </p:nvCxnSpPr>
          <p:spPr bwMode="auto">
            <a:xfrm>
              <a:off x="7600950" y="4572000"/>
              <a:ext cx="933450"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486C449-6966-4327-A972-6C1B9697D10B}"/>
                </a:ext>
              </a:extLst>
            </p:cNvPr>
            <p:cNvCxnSpPr/>
            <p:nvPr/>
          </p:nvCxnSpPr>
          <p:spPr bwMode="auto">
            <a:xfrm>
              <a:off x="5172075" y="4876800"/>
              <a:ext cx="1152525"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cxnSp>
        <p:nvCxnSpPr>
          <p:cNvPr id="33801" name="Straight Connector 64">
            <a:extLst>
              <a:ext uri="{FF2B5EF4-FFF2-40B4-BE49-F238E27FC236}">
                <a16:creationId xmlns:a16="http://schemas.microsoft.com/office/drawing/2014/main" id="{45DB01B9-69A3-4DF6-8B18-9EA2725A9EE7}"/>
              </a:ext>
            </a:extLst>
          </p:cNvPr>
          <p:cNvCxnSpPr>
            <a:cxnSpLocks noChangeShapeType="1"/>
          </p:cNvCxnSpPr>
          <p:nvPr/>
        </p:nvCxnSpPr>
        <p:spPr bwMode="auto">
          <a:xfrm flipH="1">
            <a:off x="4419600" y="3962400"/>
            <a:ext cx="0" cy="114300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3802" name="Straight Connector 72">
            <a:extLst>
              <a:ext uri="{FF2B5EF4-FFF2-40B4-BE49-F238E27FC236}">
                <a16:creationId xmlns:a16="http://schemas.microsoft.com/office/drawing/2014/main" id="{45870BEB-CC92-4FD0-970B-28B8218074A9}"/>
              </a:ext>
            </a:extLst>
          </p:cNvPr>
          <p:cNvCxnSpPr>
            <a:cxnSpLocks noChangeShapeType="1"/>
          </p:cNvCxnSpPr>
          <p:nvPr/>
        </p:nvCxnSpPr>
        <p:spPr bwMode="auto">
          <a:xfrm>
            <a:off x="8382000" y="3962400"/>
            <a:ext cx="0" cy="127635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sp>
        <p:nvSpPr>
          <p:cNvPr id="33803" name="TextBox 80">
            <a:extLst>
              <a:ext uri="{FF2B5EF4-FFF2-40B4-BE49-F238E27FC236}">
                <a16:creationId xmlns:a16="http://schemas.microsoft.com/office/drawing/2014/main" id="{52B609FE-EC80-44A5-A588-728BBFB7B52B}"/>
              </a:ext>
            </a:extLst>
          </p:cNvPr>
          <p:cNvSpPr txBox="1">
            <a:spLocks noChangeArrowheads="1"/>
          </p:cNvSpPr>
          <p:nvPr/>
        </p:nvSpPr>
        <p:spPr bwMode="auto">
          <a:xfrm>
            <a:off x="2127250" y="4195764"/>
            <a:ext cx="5080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clock</a:t>
            </a:r>
          </a:p>
        </p:txBody>
      </p:sp>
      <p:sp>
        <p:nvSpPr>
          <p:cNvPr id="33804" name="TextBox 81">
            <a:extLst>
              <a:ext uri="{FF2B5EF4-FFF2-40B4-BE49-F238E27FC236}">
                <a16:creationId xmlns:a16="http://schemas.microsoft.com/office/drawing/2014/main" id="{6B3FB6F6-0D60-49BB-AB65-4C64FD1CF7CC}"/>
              </a:ext>
            </a:extLst>
          </p:cNvPr>
          <p:cNvSpPr txBox="1">
            <a:spLocks noChangeArrowheads="1"/>
          </p:cNvSpPr>
          <p:nvPr/>
        </p:nvSpPr>
        <p:spPr bwMode="auto">
          <a:xfrm>
            <a:off x="2136775" y="4729164"/>
            <a:ext cx="458788"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data</a:t>
            </a:r>
          </a:p>
        </p:txBody>
      </p:sp>
      <p:sp>
        <p:nvSpPr>
          <p:cNvPr id="33805" name="TextBox 82">
            <a:extLst>
              <a:ext uri="{FF2B5EF4-FFF2-40B4-BE49-F238E27FC236}">
                <a16:creationId xmlns:a16="http://schemas.microsoft.com/office/drawing/2014/main" id="{84BF95EB-8897-4A20-BC7F-AEBD783534CF}"/>
              </a:ext>
            </a:extLst>
          </p:cNvPr>
          <p:cNvSpPr txBox="1">
            <a:spLocks noChangeArrowheads="1"/>
          </p:cNvSpPr>
          <p:nvPr/>
        </p:nvSpPr>
        <p:spPr bwMode="auto">
          <a:xfrm>
            <a:off x="6124576" y="4191000"/>
            <a:ext cx="5064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clock</a:t>
            </a:r>
          </a:p>
        </p:txBody>
      </p:sp>
      <p:sp>
        <p:nvSpPr>
          <p:cNvPr id="33806" name="TextBox 83">
            <a:extLst>
              <a:ext uri="{FF2B5EF4-FFF2-40B4-BE49-F238E27FC236}">
                <a16:creationId xmlns:a16="http://schemas.microsoft.com/office/drawing/2014/main" id="{F3450875-BE1C-4CD3-A2AE-494F88D3D08C}"/>
              </a:ext>
            </a:extLst>
          </p:cNvPr>
          <p:cNvSpPr txBox="1">
            <a:spLocks noChangeArrowheads="1"/>
          </p:cNvSpPr>
          <p:nvPr/>
        </p:nvSpPr>
        <p:spPr bwMode="auto">
          <a:xfrm>
            <a:off x="6134100" y="4724400"/>
            <a:ext cx="45878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data</a:t>
            </a:r>
          </a:p>
        </p:txBody>
      </p:sp>
      <p:cxnSp>
        <p:nvCxnSpPr>
          <p:cNvPr id="33807" name="Straight Arrow Connector 85">
            <a:extLst>
              <a:ext uri="{FF2B5EF4-FFF2-40B4-BE49-F238E27FC236}">
                <a16:creationId xmlns:a16="http://schemas.microsoft.com/office/drawing/2014/main" id="{88976393-5436-4CC5-896D-15A91944DA58}"/>
              </a:ext>
            </a:extLst>
          </p:cNvPr>
          <p:cNvCxnSpPr>
            <a:cxnSpLocks noChangeShapeType="1"/>
          </p:cNvCxnSpPr>
          <p:nvPr/>
        </p:nvCxnSpPr>
        <p:spPr bwMode="auto">
          <a:xfrm>
            <a:off x="3219450" y="5105400"/>
            <a:ext cx="533400" cy="0"/>
          </a:xfrm>
          <a:prstGeom prst="straightConnector1">
            <a:avLst/>
          </a:prstGeom>
          <a:noFill/>
          <a:ln w="9525" algn="ctr">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33808" name="TextBox 87">
            <a:extLst>
              <a:ext uri="{FF2B5EF4-FFF2-40B4-BE49-F238E27FC236}">
                <a16:creationId xmlns:a16="http://schemas.microsoft.com/office/drawing/2014/main" id="{088B0591-EB8A-4D60-9D95-3515350C43EA}"/>
              </a:ext>
            </a:extLst>
          </p:cNvPr>
          <p:cNvSpPr txBox="1">
            <a:spLocks noChangeArrowheads="1"/>
          </p:cNvSpPr>
          <p:nvPr/>
        </p:nvSpPr>
        <p:spPr bwMode="auto">
          <a:xfrm>
            <a:off x="4876800" y="3881439"/>
            <a:ext cx="528638"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setup</a:t>
            </a:r>
          </a:p>
        </p:txBody>
      </p:sp>
      <p:sp>
        <p:nvSpPr>
          <p:cNvPr id="33809" name="TextBox 88">
            <a:extLst>
              <a:ext uri="{FF2B5EF4-FFF2-40B4-BE49-F238E27FC236}">
                <a16:creationId xmlns:a16="http://schemas.microsoft.com/office/drawing/2014/main" id="{D37DE9FA-F289-49D6-BC9A-FEF56FDDAD73}"/>
              </a:ext>
            </a:extLst>
          </p:cNvPr>
          <p:cNvSpPr txBox="1">
            <a:spLocks noChangeArrowheads="1"/>
          </p:cNvSpPr>
          <p:nvPr/>
        </p:nvSpPr>
        <p:spPr bwMode="auto">
          <a:xfrm>
            <a:off x="8767764" y="3886200"/>
            <a:ext cx="528637"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setup</a:t>
            </a:r>
          </a:p>
        </p:txBody>
      </p:sp>
      <p:cxnSp>
        <p:nvCxnSpPr>
          <p:cNvPr id="33810" name="Straight Connector 90">
            <a:extLst>
              <a:ext uri="{FF2B5EF4-FFF2-40B4-BE49-F238E27FC236}">
                <a16:creationId xmlns:a16="http://schemas.microsoft.com/office/drawing/2014/main" id="{83591115-9B80-4D9E-A9E2-FB8E66556B3F}"/>
              </a:ext>
            </a:extLst>
          </p:cNvPr>
          <p:cNvCxnSpPr>
            <a:cxnSpLocks noChangeShapeType="1"/>
          </p:cNvCxnSpPr>
          <p:nvPr/>
        </p:nvCxnSpPr>
        <p:spPr bwMode="auto">
          <a:xfrm flipH="1">
            <a:off x="4772025" y="4000500"/>
            <a:ext cx="152400" cy="0"/>
          </a:xfrm>
          <a:prstGeom prst="line">
            <a:avLst/>
          </a:prstGeom>
          <a:noFill/>
          <a:ln w="9525" algn="ctr">
            <a:solidFill>
              <a:schemeClr val="tx1"/>
            </a:solidFill>
            <a:round/>
            <a:headEnd/>
            <a:tailEnd/>
          </a:ln>
        </p:spPr>
      </p:cxnSp>
      <p:cxnSp>
        <p:nvCxnSpPr>
          <p:cNvPr id="33811" name="Straight Connector 91">
            <a:extLst>
              <a:ext uri="{FF2B5EF4-FFF2-40B4-BE49-F238E27FC236}">
                <a16:creationId xmlns:a16="http://schemas.microsoft.com/office/drawing/2014/main" id="{B2083FF7-A48B-4959-90CF-B9B83C9859BE}"/>
              </a:ext>
            </a:extLst>
          </p:cNvPr>
          <p:cNvCxnSpPr>
            <a:cxnSpLocks noChangeShapeType="1"/>
          </p:cNvCxnSpPr>
          <p:nvPr/>
        </p:nvCxnSpPr>
        <p:spPr bwMode="auto">
          <a:xfrm flipH="1">
            <a:off x="4772025" y="4000501"/>
            <a:ext cx="0" cy="182563"/>
          </a:xfrm>
          <a:prstGeom prst="line">
            <a:avLst/>
          </a:prstGeom>
          <a:noFill/>
          <a:ln w="9525" algn="ctr">
            <a:solidFill>
              <a:schemeClr val="tx1"/>
            </a:solidFill>
            <a:round/>
            <a:headEnd/>
            <a:tailEnd/>
          </a:ln>
        </p:spPr>
      </p:cxnSp>
      <p:cxnSp>
        <p:nvCxnSpPr>
          <p:cNvPr id="33812" name="Straight Connector 92">
            <a:extLst>
              <a:ext uri="{FF2B5EF4-FFF2-40B4-BE49-F238E27FC236}">
                <a16:creationId xmlns:a16="http://schemas.microsoft.com/office/drawing/2014/main" id="{634F3291-E44E-4614-8D12-9794ED72558E}"/>
              </a:ext>
            </a:extLst>
          </p:cNvPr>
          <p:cNvCxnSpPr>
            <a:cxnSpLocks noChangeShapeType="1"/>
          </p:cNvCxnSpPr>
          <p:nvPr/>
        </p:nvCxnSpPr>
        <p:spPr bwMode="auto">
          <a:xfrm flipH="1">
            <a:off x="8648700" y="4027488"/>
            <a:ext cx="152400" cy="0"/>
          </a:xfrm>
          <a:prstGeom prst="line">
            <a:avLst/>
          </a:prstGeom>
          <a:noFill/>
          <a:ln w="9525" algn="ctr">
            <a:solidFill>
              <a:schemeClr val="tx1"/>
            </a:solidFill>
            <a:round/>
            <a:headEnd/>
            <a:tailEnd/>
          </a:ln>
        </p:spPr>
      </p:cxnSp>
      <p:cxnSp>
        <p:nvCxnSpPr>
          <p:cNvPr id="33813" name="Straight Connector 93">
            <a:extLst>
              <a:ext uri="{FF2B5EF4-FFF2-40B4-BE49-F238E27FC236}">
                <a16:creationId xmlns:a16="http://schemas.microsoft.com/office/drawing/2014/main" id="{55A10DDA-8D43-4BFF-857C-D108A92770F3}"/>
              </a:ext>
            </a:extLst>
          </p:cNvPr>
          <p:cNvCxnSpPr>
            <a:cxnSpLocks noChangeShapeType="1"/>
          </p:cNvCxnSpPr>
          <p:nvPr/>
        </p:nvCxnSpPr>
        <p:spPr bwMode="auto">
          <a:xfrm flipH="1">
            <a:off x="8648700" y="4027488"/>
            <a:ext cx="0" cy="182562"/>
          </a:xfrm>
          <a:prstGeom prst="line">
            <a:avLst/>
          </a:prstGeom>
          <a:noFill/>
          <a:ln w="9525" algn="ctr">
            <a:solidFill>
              <a:schemeClr val="tx1"/>
            </a:solidFill>
            <a:round/>
            <a:headEnd/>
            <a:tailEnd/>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4">
            <a:extLst>
              <a:ext uri="{FF2B5EF4-FFF2-40B4-BE49-F238E27FC236}">
                <a16:creationId xmlns:a16="http://schemas.microsoft.com/office/drawing/2014/main" id="{64424A4F-5598-48BA-914C-FF367565B3F8}"/>
              </a:ext>
            </a:extLst>
          </p:cNvPr>
          <p:cNvSpPr>
            <a:spLocks noChangeArrowheads="1"/>
          </p:cNvSpPr>
          <p:nvPr/>
        </p:nvSpPr>
        <p:spPr bwMode="auto">
          <a:xfrm>
            <a:off x="8391526" y="4210051"/>
            <a:ext cx="390525" cy="1266825"/>
          </a:xfrm>
          <a:prstGeom prst="rect">
            <a:avLst/>
          </a:prstGeom>
          <a:pattFill prst="ltDnDiag">
            <a:fgClr>
              <a:schemeClr val="accent1"/>
            </a:fgClr>
            <a:bgClr>
              <a:schemeClr val="bg1"/>
            </a:bgClr>
          </a:patt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4819" name="Rectangle 78">
            <a:extLst>
              <a:ext uri="{FF2B5EF4-FFF2-40B4-BE49-F238E27FC236}">
                <a16:creationId xmlns:a16="http://schemas.microsoft.com/office/drawing/2014/main" id="{6988C1D3-97DC-47F7-B433-36909DF8B5ED}"/>
              </a:ext>
            </a:extLst>
          </p:cNvPr>
          <p:cNvSpPr>
            <a:spLocks noChangeArrowheads="1"/>
          </p:cNvSpPr>
          <p:nvPr/>
        </p:nvSpPr>
        <p:spPr bwMode="auto">
          <a:xfrm rot="16200000">
            <a:off x="8360569" y="4960144"/>
            <a:ext cx="304800" cy="252412"/>
          </a:xfrm>
          <a:prstGeom prst="rect">
            <a:avLst/>
          </a:prstGeom>
          <a:pattFill prst="pct50">
            <a:fgClr>
              <a:srgbClr val="C00000"/>
            </a:fgClr>
            <a:bgClr>
              <a:schemeClr val="bg1"/>
            </a:bgClr>
          </a:patt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rgbClr val="FF0000"/>
              </a:solidFill>
            </a:endParaRPr>
          </a:p>
        </p:txBody>
      </p:sp>
      <p:sp>
        <p:nvSpPr>
          <p:cNvPr id="34820" name="Rectangle 77">
            <a:extLst>
              <a:ext uri="{FF2B5EF4-FFF2-40B4-BE49-F238E27FC236}">
                <a16:creationId xmlns:a16="http://schemas.microsoft.com/office/drawing/2014/main" id="{3D0809D8-E687-4019-8554-033658779C4D}"/>
              </a:ext>
            </a:extLst>
          </p:cNvPr>
          <p:cNvSpPr>
            <a:spLocks noChangeArrowheads="1"/>
          </p:cNvSpPr>
          <p:nvPr/>
        </p:nvSpPr>
        <p:spPr bwMode="auto">
          <a:xfrm rot="16200000">
            <a:off x="3938588" y="4757738"/>
            <a:ext cx="304800" cy="657225"/>
          </a:xfrm>
          <a:prstGeom prst="rect">
            <a:avLst/>
          </a:prstGeom>
          <a:pattFill prst="ltDnDiag">
            <a:fgClr>
              <a:schemeClr val="accent2"/>
            </a:fgClr>
            <a:bgClr>
              <a:schemeClr val="bg1"/>
            </a:bgClr>
          </a:patt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rgbClr val="FF0000"/>
              </a:solidFill>
            </a:endParaRPr>
          </a:p>
        </p:txBody>
      </p:sp>
      <p:sp>
        <p:nvSpPr>
          <p:cNvPr id="34821" name="Rectangle 73">
            <a:extLst>
              <a:ext uri="{FF2B5EF4-FFF2-40B4-BE49-F238E27FC236}">
                <a16:creationId xmlns:a16="http://schemas.microsoft.com/office/drawing/2014/main" id="{4F4BB875-338A-4143-A3F8-A7B3E9E1236A}"/>
              </a:ext>
            </a:extLst>
          </p:cNvPr>
          <p:cNvSpPr>
            <a:spLocks noChangeArrowheads="1"/>
          </p:cNvSpPr>
          <p:nvPr/>
        </p:nvSpPr>
        <p:spPr bwMode="auto">
          <a:xfrm>
            <a:off x="4419600" y="4210050"/>
            <a:ext cx="476250" cy="1143000"/>
          </a:xfrm>
          <a:prstGeom prst="rect">
            <a:avLst/>
          </a:prstGeom>
          <a:pattFill prst="ltDnDiag">
            <a:fgClr>
              <a:schemeClr val="accent1"/>
            </a:fgClr>
            <a:bgClr>
              <a:schemeClr val="bg1"/>
            </a:bgClr>
          </a:patt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4822" name="Title 1">
            <a:extLst>
              <a:ext uri="{FF2B5EF4-FFF2-40B4-BE49-F238E27FC236}">
                <a16:creationId xmlns:a16="http://schemas.microsoft.com/office/drawing/2014/main" id="{3075677B-F1B1-4380-B129-934BD84019B7}"/>
              </a:ext>
            </a:extLst>
          </p:cNvPr>
          <p:cNvSpPr>
            <a:spLocks noGrp="1"/>
          </p:cNvSpPr>
          <p:nvPr>
            <p:ph type="title"/>
          </p:nvPr>
        </p:nvSpPr>
        <p:spPr/>
        <p:txBody>
          <a:bodyPr/>
          <a:lstStyle/>
          <a:p>
            <a:r>
              <a:rPr lang="en-US" altLang="en-US"/>
              <a:t>Early and Latest Analysis</a:t>
            </a:r>
          </a:p>
        </p:txBody>
      </p:sp>
      <p:sp>
        <p:nvSpPr>
          <p:cNvPr id="34823" name="Content Placeholder 2">
            <a:extLst>
              <a:ext uri="{FF2B5EF4-FFF2-40B4-BE49-F238E27FC236}">
                <a16:creationId xmlns:a16="http://schemas.microsoft.com/office/drawing/2014/main" id="{53B949EC-A947-4D66-9991-89601945DA7B}"/>
              </a:ext>
            </a:extLst>
          </p:cNvPr>
          <p:cNvSpPr>
            <a:spLocks noGrp="1"/>
          </p:cNvSpPr>
          <p:nvPr>
            <p:ph type="body" sz="quarter" idx="10"/>
          </p:nvPr>
        </p:nvSpPr>
        <p:spPr/>
        <p:txBody>
          <a:bodyPr/>
          <a:lstStyle/>
          <a:p>
            <a:r>
              <a:rPr lang="en-US" altLang="en-US" sz="1800"/>
              <a:t>STA tool calculates the slack of each logic path, in order to find critical path. </a:t>
            </a:r>
          </a:p>
          <a:p>
            <a:r>
              <a:rPr lang="en-US" altLang="en-US" sz="1800"/>
              <a:t>Early and Latest analysis approaches:</a:t>
            </a:r>
          </a:p>
          <a:p>
            <a:pPr lvl="1"/>
            <a:r>
              <a:rPr lang="en-US" altLang="en-US" sz="1400"/>
              <a:t>Assumes circuits have minimum delay, compares arrival time to earliest required time (hold check)</a:t>
            </a:r>
          </a:p>
          <a:p>
            <a:pPr lvl="1"/>
            <a:r>
              <a:rPr lang="en-US" altLang="en-US" sz="1400"/>
              <a:t>Assumes circuits have maximum delay, compares arrival time to latest required time (setup check)</a:t>
            </a:r>
          </a:p>
          <a:p>
            <a:pPr lvl="1"/>
            <a:endParaRPr lang="en-US" altLang="en-US" sz="1200"/>
          </a:p>
        </p:txBody>
      </p:sp>
      <p:grpSp>
        <p:nvGrpSpPr>
          <p:cNvPr id="34824" name="Group 37">
            <a:extLst>
              <a:ext uri="{FF2B5EF4-FFF2-40B4-BE49-F238E27FC236}">
                <a16:creationId xmlns:a16="http://schemas.microsoft.com/office/drawing/2014/main" id="{7A90F83A-5927-48B3-B7B8-0D3A1E238626}"/>
              </a:ext>
            </a:extLst>
          </p:cNvPr>
          <p:cNvGrpSpPr>
            <a:grpSpLocks/>
          </p:cNvGrpSpPr>
          <p:nvPr/>
        </p:nvGrpSpPr>
        <p:grpSpPr bwMode="auto">
          <a:xfrm>
            <a:off x="2381250" y="4400550"/>
            <a:ext cx="7239000" cy="838200"/>
            <a:chOff x="1295400" y="4038600"/>
            <a:chExt cx="7239000" cy="838200"/>
          </a:xfrm>
        </p:grpSpPr>
        <p:cxnSp>
          <p:nvCxnSpPr>
            <p:cNvPr id="5" name="Elbow Connector 4">
              <a:extLst>
                <a:ext uri="{FF2B5EF4-FFF2-40B4-BE49-F238E27FC236}">
                  <a16:creationId xmlns:a16="http://schemas.microsoft.com/office/drawing/2014/main" id="{FA9B10FC-5CE9-4EF6-96EF-6BDA3C4A24B7}"/>
                </a:ext>
              </a:extLst>
            </p:cNvPr>
            <p:cNvCxnSpPr/>
            <p:nvPr/>
          </p:nvCxnSpPr>
          <p:spPr bwMode="auto">
            <a:xfrm>
              <a:off x="2133600" y="4038600"/>
              <a:ext cx="1676400" cy="304800"/>
            </a:xfrm>
            <a:prstGeom prst="bentConnector3">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 name="Elbow Connector 5">
              <a:extLst>
                <a:ext uri="{FF2B5EF4-FFF2-40B4-BE49-F238E27FC236}">
                  <a16:creationId xmlns:a16="http://schemas.microsoft.com/office/drawing/2014/main" id="{0665098B-C625-476D-9C07-3E25BF76583C}"/>
                </a:ext>
              </a:extLst>
            </p:cNvPr>
            <p:cNvCxnSpPr/>
            <p:nvPr/>
          </p:nvCxnSpPr>
          <p:spPr bwMode="auto">
            <a:xfrm flipV="1">
              <a:off x="1295400" y="4038600"/>
              <a:ext cx="1676400" cy="304800"/>
            </a:xfrm>
            <a:prstGeom prst="bentConnector3">
              <a:avLst>
                <a:gd name="adj1" fmla="val 4943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 name="Elbow Connector 7">
              <a:extLst>
                <a:ext uri="{FF2B5EF4-FFF2-40B4-BE49-F238E27FC236}">
                  <a16:creationId xmlns:a16="http://schemas.microsoft.com/office/drawing/2014/main" id="{14701C98-B559-47BC-9BCE-9D922F4C03AE}"/>
                </a:ext>
              </a:extLst>
            </p:cNvPr>
            <p:cNvCxnSpPr/>
            <p:nvPr/>
          </p:nvCxnSpPr>
          <p:spPr bwMode="auto">
            <a:xfrm flipV="1">
              <a:off x="2981325" y="4038600"/>
              <a:ext cx="1676400" cy="304800"/>
            </a:xfrm>
            <a:prstGeom prst="bentConnector3">
              <a:avLst>
                <a:gd name="adj1" fmla="val 4943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 name="Elbow Connector 8">
              <a:extLst>
                <a:ext uri="{FF2B5EF4-FFF2-40B4-BE49-F238E27FC236}">
                  <a16:creationId xmlns:a16="http://schemas.microsoft.com/office/drawing/2014/main" id="{D4C2EBA9-3FF9-4F8F-89DD-1F53F397E923}"/>
                </a:ext>
              </a:extLst>
            </p:cNvPr>
            <p:cNvCxnSpPr/>
            <p:nvPr/>
          </p:nvCxnSpPr>
          <p:spPr bwMode="auto">
            <a:xfrm flipV="1">
              <a:off x="1828800" y="4572000"/>
              <a:ext cx="1676400" cy="304800"/>
            </a:xfrm>
            <a:prstGeom prst="bentConnector3">
              <a:avLst>
                <a:gd name="adj1" fmla="val 50000"/>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ADEB173-5A6E-4B87-8058-4F399D7CAA53}"/>
                </a:ext>
              </a:extLst>
            </p:cNvPr>
            <p:cNvCxnSpPr/>
            <p:nvPr/>
          </p:nvCxnSpPr>
          <p:spPr bwMode="auto">
            <a:xfrm>
              <a:off x="3505200" y="4572000"/>
              <a:ext cx="1152525"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7DD53F1D-B744-4F69-A5EE-5D1528173B0F}"/>
                </a:ext>
              </a:extLst>
            </p:cNvPr>
            <p:cNvCxnSpPr/>
            <p:nvPr/>
          </p:nvCxnSpPr>
          <p:spPr bwMode="auto">
            <a:xfrm>
              <a:off x="1295400" y="4876800"/>
              <a:ext cx="1152525"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6" name="Elbow Connector 25">
              <a:extLst>
                <a:ext uri="{FF2B5EF4-FFF2-40B4-BE49-F238E27FC236}">
                  <a16:creationId xmlns:a16="http://schemas.microsoft.com/office/drawing/2014/main" id="{36DAAF57-EC28-4D8F-A49F-A3CCE018D5E9}"/>
                </a:ext>
              </a:extLst>
            </p:cNvPr>
            <p:cNvCxnSpPr/>
            <p:nvPr/>
          </p:nvCxnSpPr>
          <p:spPr bwMode="auto">
            <a:xfrm>
              <a:off x="6010275" y="4038600"/>
              <a:ext cx="1676400" cy="304800"/>
            </a:xfrm>
            <a:prstGeom prst="bentConnector3">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7" name="Elbow Connector 26">
              <a:extLst>
                <a:ext uri="{FF2B5EF4-FFF2-40B4-BE49-F238E27FC236}">
                  <a16:creationId xmlns:a16="http://schemas.microsoft.com/office/drawing/2014/main" id="{9649B1C4-0C5D-4BC7-807B-5C3FE5750ED6}"/>
                </a:ext>
              </a:extLst>
            </p:cNvPr>
            <p:cNvCxnSpPr/>
            <p:nvPr/>
          </p:nvCxnSpPr>
          <p:spPr bwMode="auto">
            <a:xfrm flipV="1">
              <a:off x="5172075" y="4038600"/>
              <a:ext cx="1676400" cy="304800"/>
            </a:xfrm>
            <a:prstGeom prst="bentConnector3">
              <a:avLst>
                <a:gd name="adj1" fmla="val 4943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8" name="Elbow Connector 27">
              <a:extLst>
                <a:ext uri="{FF2B5EF4-FFF2-40B4-BE49-F238E27FC236}">
                  <a16:creationId xmlns:a16="http://schemas.microsoft.com/office/drawing/2014/main" id="{1C3E4DE1-1F6E-4AA0-9AAE-B65A0C57BB45}"/>
                </a:ext>
              </a:extLst>
            </p:cNvPr>
            <p:cNvCxnSpPr/>
            <p:nvPr/>
          </p:nvCxnSpPr>
          <p:spPr bwMode="auto">
            <a:xfrm flipV="1">
              <a:off x="6858000" y="4038600"/>
              <a:ext cx="1676400" cy="304800"/>
            </a:xfrm>
            <a:prstGeom prst="bentConnector3">
              <a:avLst>
                <a:gd name="adj1" fmla="val 49432"/>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9" name="Elbow Connector 28">
              <a:extLst>
                <a:ext uri="{FF2B5EF4-FFF2-40B4-BE49-F238E27FC236}">
                  <a16:creationId xmlns:a16="http://schemas.microsoft.com/office/drawing/2014/main" id="{838CD286-1AE7-4B26-A881-EE86489FCBC6}"/>
                </a:ext>
              </a:extLst>
            </p:cNvPr>
            <p:cNvCxnSpPr/>
            <p:nvPr/>
          </p:nvCxnSpPr>
          <p:spPr bwMode="auto">
            <a:xfrm flipV="1">
              <a:off x="5924550" y="4572000"/>
              <a:ext cx="1676400" cy="304800"/>
            </a:xfrm>
            <a:prstGeom prst="bentConnector3">
              <a:avLst>
                <a:gd name="adj1" fmla="val 96023"/>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50C0B89D-398A-424A-A806-D10B88A4C0BE}"/>
                </a:ext>
              </a:extLst>
            </p:cNvPr>
            <p:cNvCxnSpPr/>
            <p:nvPr/>
          </p:nvCxnSpPr>
          <p:spPr bwMode="auto">
            <a:xfrm>
              <a:off x="7600950" y="4572000"/>
              <a:ext cx="933450"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2184E561-A530-4EDE-8055-71CB826713DE}"/>
                </a:ext>
              </a:extLst>
            </p:cNvPr>
            <p:cNvCxnSpPr/>
            <p:nvPr/>
          </p:nvCxnSpPr>
          <p:spPr bwMode="auto">
            <a:xfrm>
              <a:off x="5172075" y="4876800"/>
              <a:ext cx="1152525"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cxnSp>
        <p:nvCxnSpPr>
          <p:cNvPr id="34825" name="Straight Connector 64">
            <a:extLst>
              <a:ext uri="{FF2B5EF4-FFF2-40B4-BE49-F238E27FC236}">
                <a16:creationId xmlns:a16="http://schemas.microsoft.com/office/drawing/2014/main" id="{BD5235ED-034D-4956-A820-F7673BC17A40}"/>
              </a:ext>
            </a:extLst>
          </p:cNvPr>
          <p:cNvCxnSpPr>
            <a:cxnSpLocks noChangeShapeType="1"/>
          </p:cNvCxnSpPr>
          <p:nvPr/>
        </p:nvCxnSpPr>
        <p:spPr bwMode="auto">
          <a:xfrm flipH="1">
            <a:off x="4419600" y="4210050"/>
            <a:ext cx="0" cy="114300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4826" name="Straight Connector 72">
            <a:extLst>
              <a:ext uri="{FF2B5EF4-FFF2-40B4-BE49-F238E27FC236}">
                <a16:creationId xmlns:a16="http://schemas.microsoft.com/office/drawing/2014/main" id="{4E2023BC-62E7-4037-934E-EC1ABA218764}"/>
              </a:ext>
            </a:extLst>
          </p:cNvPr>
          <p:cNvCxnSpPr>
            <a:cxnSpLocks noChangeShapeType="1"/>
          </p:cNvCxnSpPr>
          <p:nvPr/>
        </p:nvCxnSpPr>
        <p:spPr bwMode="auto">
          <a:xfrm>
            <a:off x="8382000" y="4210050"/>
            <a:ext cx="0" cy="127635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sp>
        <p:nvSpPr>
          <p:cNvPr id="34827" name="TextBox 80">
            <a:extLst>
              <a:ext uri="{FF2B5EF4-FFF2-40B4-BE49-F238E27FC236}">
                <a16:creationId xmlns:a16="http://schemas.microsoft.com/office/drawing/2014/main" id="{1FF28292-0CDF-4616-A1C3-89080351A671}"/>
              </a:ext>
            </a:extLst>
          </p:cNvPr>
          <p:cNvSpPr txBox="1">
            <a:spLocks noChangeArrowheads="1"/>
          </p:cNvSpPr>
          <p:nvPr/>
        </p:nvSpPr>
        <p:spPr bwMode="auto">
          <a:xfrm>
            <a:off x="2127250" y="4443414"/>
            <a:ext cx="5080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clock</a:t>
            </a:r>
          </a:p>
        </p:txBody>
      </p:sp>
      <p:sp>
        <p:nvSpPr>
          <p:cNvPr id="34828" name="TextBox 81">
            <a:extLst>
              <a:ext uri="{FF2B5EF4-FFF2-40B4-BE49-F238E27FC236}">
                <a16:creationId xmlns:a16="http://schemas.microsoft.com/office/drawing/2014/main" id="{EE95E872-0342-459D-8838-8881EB2D64B1}"/>
              </a:ext>
            </a:extLst>
          </p:cNvPr>
          <p:cNvSpPr txBox="1">
            <a:spLocks noChangeArrowheads="1"/>
          </p:cNvSpPr>
          <p:nvPr/>
        </p:nvSpPr>
        <p:spPr bwMode="auto">
          <a:xfrm>
            <a:off x="2136775" y="4976814"/>
            <a:ext cx="458788"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data</a:t>
            </a:r>
          </a:p>
        </p:txBody>
      </p:sp>
      <p:sp>
        <p:nvSpPr>
          <p:cNvPr id="34829" name="TextBox 82">
            <a:extLst>
              <a:ext uri="{FF2B5EF4-FFF2-40B4-BE49-F238E27FC236}">
                <a16:creationId xmlns:a16="http://schemas.microsoft.com/office/drawing/2014/main" id="{868ACA32-924C-401C-AD97-D7692538EE65}"/>
              </a:ext>
            </a:extLst>
          </p:cNvPr>
          <p:cNvSpPr txBox="1">
            <a:spLocks noChangeArrowheads="1"/>
          </p:cNvSpPr>
          <p:nvPr/>
        </p:nvSpPr>
        <p:spPr bwMode="auto">
          <a:xfrm>
            <a:off x="6124576" y="4438650"/>
            <a:ext cx="5064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clock</a:t>
            </a:r>
          </a:p>
        </p:txBody>
      </p:sp>
      <p:sp>
        <p:nvSpPr>
          <p:cNvPr id="34830" name="TextBox 83">
            <a:extLst>
              <a:ext uri="{FF2B5EF4-FFF2-40B4-BE49-F238E27FC236}">
                <a16:creationId xmlns:a16="http://schemas.microsoft.com/office/drawing/2014/main" id="{3954372A-2BC6-49BA-BF63-566F22147897}"/>
              </a:ext>
            </a:extLst>
          </p:cNvPr>
          <p:cNvSpPr txBox="1">
            <a:spLocks noChangeArrowheads="1"/>
          </p:cNvSpPr>
          <p:nvPr/>
        </p:nvSpPr>
        <p:spPr bwMode="auto">
          <a:xfrm>
            <a:off x="6134100" y="4972050"/>
            <a:ext cx="45878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data</a:t>
            </a:r>
          </a:p>
        </p:txBody>
      </p:sp>
      <p:cxnSp>
        <p:nvCxnSpPr>
          <p:cNvPr id="34831" name="Straight Arrow Connector 85">
            <a:extLst>
              <a:ext uri="{FF2B5EF4-FFF2-40B4-BE49-F238E27FC236}">
                <a16:creationId xmlns:a16="http://schemas.microsoft.com/office/drawing/2014/main" id="{F2D52343-8604-4197-B32E-4E6CF45D5952}"/>
              </a:ext>
            </a:extLst>
          </p:cNvPr>
          <p:cNvCxnSpPr>
            <a:cxnSpLocks noChangeShapeType="1"/>
          </p:cNvCxnSpPr>
          <p:nvPr/>
        </p:nvCxnSpPr>
        <p:spPr bwMode="auto">
          <a:xfrm>
            <a:off x="3219450" y="5353050"/>
            <a:ext cx="533400" cy="0"/>
          </a:xfrm>
          <a:prstGeom prst="straightConnector1">
            <a:avLst/>
          </a:prstGeom>
          <a:noFill/>
          <a:ln w="9525" algn="ctr">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34832" name="TextBox 87">
            <a:extLst>
              <a:ext uri="{FF2B5EF4-FFF2-40B4-BE49-F238E27FC236}">
                <a16:creationId xmlns:a16="http://schemas.microsoft.com/office/drawing/2014/main" id="{3649E283-C20D-44FE-B341-2462E1E86CCE}"/>
              </a:ext>
            </a:extLst>
          </p:cNvPr>
          <p:cNvSpPr txBox="1">
            <a:spLocks noChangeArrowheads="1"/>
          </p:cNvSpPr>
          <p:nvPr/>
        </p:nvSpPr>
        <p:spPr bwMode="auto">
          <a:xfrm>
            <a:off x="4876800" y="4129089"/>
            <a:ext cx="528638"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setup</a:t>
            </a:r>
          </a:p>
        </p:txBody>
      </p:sp>
      <p:sp>
        <p:nvSpPr>
          <p:cNvPr id="34833" name="TextBox 88">
            <a:extLst>
              <a:ext uri="{FF2B5EF4-FFF2-40B4-BE49-F238E27FC236}">
                <a16:creationId xmlns:a16="http://schemas.microsoft.com/office/drawing/2014/main" id="{6355A7FD-1493-4AA3-9ABF-83D79797CE98}"/>
              </a:ext>
            </a:extLst>
          </p:cNvPr>
          <p:cNvSpPr txBox="1">
            <a:spLocks noChangeArrowheads="1"/>
          </p:cNvSpPr>
          <p:nvPr/>
        </p:nvSpPr>
        <p:spPr bwMode="auto">
          <a:xfrm>
            <a:off x="8767764" y="4133850"/>
            <a:ext cx="528637"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setup</a:t>
            </a:r>
          </a:p>
        </p:txBody>
      </p:sp>
      <p:cxnSp>
        <p:nvCxnSpPr>
          <p:cNvPr id="34834" name="Straight Connector 90">
            <a:extLst>
              <a:ext uri="{FF2B5EF4-FFF2-40B4-BE49-F238E27FC236}">
                <a16:creationId xmlns:a16="http://schemas.microsoft.com/office/drawing/2014/main" id="{A1E196DB-59AE-474C-AEB3-00DA38EE78FA}"/>
              </a:ext>
            </a:extLst>
          </p:cNvPr>
          <p:cNvCxnSpPr>
            <a:cxnSpLocks noChangeShapeType="1"/>
          </p:cNvCxnSpPr>
          <p:nvPr/>
        </p:nvCxnSpPr>
        <p:spPr bwMode="auto">
          <a:xfrm flipH="1">
            <a:off x="4772025" y="4248150"/>
            <a:ext cx="152400" cy="0"/>
          </a:xfrm>
          <a:prstGeom prst="line">
            <a:avLst/>
          </a:prstGeom>
          <a:noFill/>
          <a:ln w="9525" algn="ctr">
            <a:solidFill>
              <a:schemeClr val="tx1"/>
            </a:solidFill>
            <a:round/>
            <a:headEnd/>
            <a:tailEnd/>
          </a:ln>
        </p:spPr>
      </p:cxnSp>
      <p:cxnSp>
        <p:nvCxnSpPr>
          <p:cNvPr id="34835" name="Straight Connector 91">
            <a:extLst>
              <a:ext uri="{FF2B5EF4-FFF2-40B4-BE49-F238E27FC236}">
                <a16:creationId xmlns:a16="http://schemas.microsoft.com/office/drawing/2014/main" id="{9F2F74EF-9AF0-483D-A863-F77FB9931BEB}"/>
              </a:ext>
            </a:extLst>
          </p:cNvPr>
          <p:cNvCxnSpPr>
            <a:cxnSpLocks noChangeShapeType="1"/>
          </p:cNvCxnSpPr>
          <p:nvPr/>
        </p:nvCxnSpPr>
        <p:spPr bwMode="auto">
          <a:xfrm flipH="1">
            <a:off x="4772025" y="4248151"/>
            <a:ext cx="0" cy="182563"/>
          </a:xfrm>
          <a:prstGeom prst="line">
            <a:avLst/>
          </a:prstGeom>
          <a:noFill/>
          <a:ln w="9525" algn="ctr">
            <a:solidFill>
              <a:schemeClr val="tx1"/>
            </a:solidFill>
            <a:round/>
            <a:headEnd/>
            <a:tailEnd/>
          </a:ln>
        </p:spPr>
      </p:cxnSp>
      <p:cxnSp>
        <p:nvCxnSpPr>
          <p:cNvPr id="34836" name="Straight Connector 92">
            <a:extLst>
              <a:ext uri="{FF2B5EF4-FFF2-40B4-BE49-F238E27FC236}">
                <a16:creationId xmlns:a16="http://schemas.microsoft.com/office/drawing/2014/main" id="{F5BEECAF-3880-4DB3-ACB2-A307BBFFF580}"/>
              </a:ext>
            </a:extLst>
          </p:cNvPr>
          <p:cNvCxnSpPr>
            <a:cxnSpLocks noChangeShapeType="1"/>
          </p:cNvCxnSpPr>
          <p:nvPr/>
        </p:nvCxnSpPr>
        <p:spPr bwMode="auto">
          <a:xfrm flipH="1">
            <a:off x="8648700" y="4275138"/>
            <a:ext cx="152400" cy="0"/>
          </a:xfrm>
          <a:prstGeom prst="line">
            <a:avLst/>
          </a:prstGeom>
          <a:noFill/>
          <a:ln w="9525" algn="ctr">
            <a:solidFill>
              <a:schemeClr val="tx1"/>
            </a:solidFill>
            <a:round/>
            <a:headEnd/>
            <a:tailEnd/>
          </a:ln>
        </p:spPr>
      </p:cxnSp>
      <p:cxnSp>
        <p:nvCxnSpPr>
          <p:cNvPr id="34837" name="Straight Connector 93">
            <a:extLst>
              <a:ext uri="{FF2B5EF4-FFF2-40B4-BE49-F238E27FC236}">
                <a16:creationId xmlns:a16="http://schemas.microsoft.com/office/drawing/2014/main" id="{CB320DFF-1FEC-446C-97D9-3B2727A5DD63}"/>
              </a:ext>
            </a:extLst>
          </p:cNvPr>
          <p:cNvCxnSpPr>
            <a:cxnSpLocks noChangeShapeType="1"/>
          </p:cNvCxnSpPr>
          <p:nvPr/>
        </p:nvCxnSpPr>
        <p:spPr bwMode="auto">
          <a:xfrm flipH="1">
            <a:off x="8648700" y="4275138"/>
            <a:ext cx="0" cy="182562"/>
          </a:xfrm>
          <a:prstGeom prst="line">
            <a:avLst/>
          </a:prstGeom>
          <a:noFill/>
          <a:ln w="9525" algn="ctr">
            <a:solidFill>
              <a:schemeClr val="tx1"/>
            </a:solidFill>
            <a:round/>
            <a:headEnd/>
            <a:tailEnd/>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A8DF175B-C889-4A2B-854D-D9326722FC9F}"/>
              </a:ext>
            </a:extLst>
          </p:cNvPr>
          <p:cNvSpPr>
            <a:spLocks noGrp="1"/>
          </p:cNvSpPr>
          <p:nvPr>
            <p:ph type="title"/>
          </p:nvPr>
        </p:nvSpPr>
        <p:spPr/>
        <p:txBody>
          <a:bodyPr/>
          <a:lstStyle/>
          <a:p>
            <a:r>
              <a:rPr lang="en-US" altLang="en-US"/>
              <a:t>Path Groups</a:t>
            </a:r>
          </a:p>
        </p:txBody>
      </p:sp>
      <p:sp>
        <p:nvSpPr>
          <p:cNvPr id="35843" name="Content Placeholder 3">
            <a:extLst>
              <a:ext uri="{FF2B5EF4-FFF2-40B4-BE49-F238E27FC236}">
                <a16:creationId xmlns:a16="http://schemas.microsoft.com/office/drawing/2014/main" id="{33691EC0-FB36-486D-BCA8-8F95FBE22464}"/>
              </a:ext>
            </a:extLst>
          </p:cNvPr>
          <p:cNvSpPr>
            <a:spLocks noGrp="1"/>
          </p:cNvSpPr>
          <p:nvPr>
            <p:ph type="body" sz="quarter" idx="10"/>
          </p:nvPr>
        </p:nvSpPr>
        <p:spPr/>
        <p:txBody>
          <a:bodyPr/>
          <a:lstStyle/>
          <a:p>
            <a:r>
              <a:rPr lang="en-US" altLang="en-US" sz="2000"/>
              <a:t>Timing paths are grouped into path groups by the clocks controlling their endpoints</a:t>
            </a:r>
          </a:p>
          <a:p>
            <a:r>
              <a:rPr lang="en-US" altLang="en-US" sz="2000"/>
              <a:t>Slack is calculated in relation to each clock</a:t>
            </a:r>
          </a:p>
        </p:txBody>
      </p:sp>
      <p:grpSp>
        <p:nvGrpSpPr>
          <p:cNvPr id="35844" name="Group 171">
            <a:extLst>
              <a:ext uri="{FF2B5EF4-FFF2-40B4-BE49-F238E27FC236}">
                <a16:creationId xmlns:a16="http://schemas.microsoft.com/office/drawing/2014/main" id="{71B8C814-CD3A-492D-9F85-9E528FAD7758}"/>
              </a:ext>
            </a:extLst>
          </p:cNvPr>
          <p:cNvGrpSpPr>
            <a:grpSpLocks/>
          </p:cNvGrpSpPr>
          <p:nvPr/>
        </p:nvGrpSpPr>
        <p:grpSpPr bwMode="auto">
          <a:xfrm>
            <a:off x="8067676" y="3386139"/>
            <a:ext cx="1484313" cy="1785937"/>
            <a:chOff x="3733800" y="1447800"/>
            <a:chExt cx="1485275" cy="1785610"/>
          </a:xfrm>
        </p:grpSpPr>
        <p:sp>
          <p:nvSpPr>
            <p:cNvPr id="35885" name="Oval 172">
              <a:extLst>
                <a:ext uri="{FF2B5EF4-FFF2-40B4-BE49-F238E27FC236}">
                  <a16:creationId xmlns:a16="http://schemas.microsoft.com/office/drawing/2014/main" id="{1D91934B-F374-4D2A-8EA9-08295B578238}"/>
                </a:ext>
              </a:extLst>
            </p:cNvPr>
            <p:cNvSpPr>
              <a:spLocks noChangeArrowheads="1"/>
            </p:cNvSpPr>
            <p:nvPr/>
          </p:nvSpPr>
          <p:spPr bwMode="auto">
            <a:xfrm>
              <a:off x="4038600" y="1676400"/>
              <a:ext cx="685800" cy="45720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path1</a:t>
              </a:r>
            </a:p>
          </p:txBody>
        </p:sp>
        <p:sp>
          <p:nvSpPr>
            <p:cNvPr id="35886" name="Oval 173">
              <a:extLst>
                <a:ext uri="{FF2B5EF4-FFF2-40B4-BE49-F238E27FC236}">
                  <a16:creationId xmlns:a16="http://schemas.microsoft.com/office/drawing/2014/main" id="{D20D81D3-F2C0-45CA-83D2-78E022DD0AE1}"/>
                </a:ext>
              </a:extLst>
            </p:cNvPr>
            <p:cNvSpPr>
              <a:spLocks noChangeArrowheads="1"/>
            </p:cNvSpPr>
            <p:nvPr/>
          </p:nvSpPr>
          <p:spPr bwMode="auto">
            <a:xfrm>
              <a:off x="3733800" y="2286000"/>
              <a:ext cx="685800" cy="45720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solidFill>
                  <a:schemeClr val="bg1"/>
                </a:solidFill>
              </a:endParaRPr>
            </a:p>
          </p:txBody>
        </p:sp>
        <p:sp>
          <p:nvSpPr>
            <p:cNvPr id="35887" name="Oval 174">
              <a:extLst>
                <a:ext uri="{FF2B5EF4-FFF2-40B4-BE49-F238E27FC236}">
                  <a16:creationId xmlns:a16="http://schemas.microsoft.com/office/drawing/2014/main" id="{B3352889-5D3C-4D36-B018-5EAF3EE263C1}"/>
                </a:ext>
              </a:extLst>
            </p:cNvPr>
            <p:cNvSpPr>
              <a:spLocks noChangeArrowheads="1"/>
            </p:cNvSpPr>
            <p:nvPr/>
          </p:nvSpPr>
          <p:spPr bwMode="auto">
            <a:xfrm>
              <a:off x="4495800" y="2286000"/>
              <a:ext cx="685800" cy="45720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path3</a:t>
              </a:r>
            </a:p>
            <a:p>
              <a:pPr eaLnBrk="1" hangingPunct="1"/>
              <a:r>
                <a:rPr lang="en-US" altLang="en-US" dirty="0">
                  <a:solidFill>
                    <a:schemeClr val="bg1"/>
                  </a:solidFill>
                </a:rPr>
                <a:t>path4</a:t>
              </a:r>
            </a:p>
          </p:txBody>
        </p:sp>
        <p:sp>
          <p:nvSpPr>
            <p:cNvPr id="35888" name="TextBox 175">
              <a:extLst>
                <a:ext uri="{FF2B5EF4-FFF2-40B4-BE49-F238E27FC236}">
                  <a16:creationId xmlns:a16="http://schemas.microsoft.com/office/drawing/2014/main" id="{2D84A939-F34B-4B3A-9AB5-B627202F53E6}"/>
                </a:ext>
              </a:extLst>
            </p:cNvPr>
            <p:cNvSpPr txBox="1">
              <a:spLocks noChangeArrowheads="1"/>
            </p:cNvSpPr>
            <p:nvPr/>
          </p:nvSpPr>
          <p:spPr bwMode="auto">
            <a:xfrm>
              <a:off x="4191000" y="1447800"/>
              <a:ext cx="43633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clk1</a:t>
              </a:r>
            </a:p>
          </p:txBody>
        </p:sp>
        <p:sp>
          <p:nvSpPr>
            <p:cNvPr id="35889" name="TextBox 176">
              <a:extLst>
                <a:ext uri="{FF2B5EF4-FFF2-40B4-BE49-F238E27FC236}">
                  <a16:creationId xmlns:a16="http://schemas.microsoft.com/office/drawing/2014/main" id="{03D01ADE-0196-4751-8DF2-8C4BE4EE44B3}"/>
                </a:ext>
              </a:extLst>
            </p:cNvPr>
            <p:cNvSpPr txBox="1">
              <a:spLocks noChangeArrowheads="1"/>
            </p:cNvSpPr>
            <p:nvPr/>
          </p:nvSpPr>
          <p:spPr bwMode="auto">
            <a:xfrm>
              <a:off x="3810000" y="2057400"/>
              <a:ext cx="43633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clk2</a:t>
              </a:r>
            </a:p>
          </p:txBody>
        </p:sp>
        <p:sp>
          <p:nvSpPr>
            <p:cNvPr id="35890" name="TextBox 177">
              <a:extLst>
                <a:ext uri="{FF2B5EF4-FFF2-40B4-BE49-F238E27FC236}">
                  <a16:creationId xmlns:a16="http://schemas.microsoft.com/office/drawing/2014/main" id="{F212F49B-F718-459F-95A7-BA75A1F8EDD8}"/>
                </a:ext>
              </a:extLst>
            </p:cNvPr>
            <p:cNvSpPr txBox="1">
              <a:spLocks noChangeArrowheads="1"/>
            </p:cNvSpPr>
            <p:nvPr/>
          </p:nvSpPr>
          <p:spPr bwMode="auto">
            <a:xfrm>
              <a:off x="4495800" y="2057400"/>
              <a:ext cx="72327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DEFAULT</a:t>
              </a:r>
            </a:p>
          </p:txBody>
        </p:sp>
        <p:sp>
          <p:nvSpPr>
            <p:cNvPr id="35891" name="TextBox 178">
              <a:extLst>
                <a:ext uri="{FF2B5EF4-FFF2-40B4-BE49-F238E27FC236}">
                  <a16:creationId xmlns:a16="http://schemas.microsoft.com/office/drawing/2014/main" id="{89445E72-E06A-4E11-BA14-76C2FBEAD610}"/>
                </a:ext>
              </a:extLst>
            </p:cNvPr>
            <p:cNvSpPr txBox="1">
              <a:spLocks noChangeArrowheads="1"/>
            </p:cNvSpPr>
            <p:nvPr/>
          </p:nvSpPr>
          <p:spPr bwMode="auto">
            <a:xfrm>
              <a:off x="3810000" y="2362200"/>
              <a:ext cx="47320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path2</a:t>
              </a:r>
            </a:p>
          </p:txBody>
        </p:sp>
        <p:sp>
          <p:nvSpPr>
            <p:cNvPr id="35892" name="TextBox 179">
              <a:extLst>
                <a:ext uri="{FF2B5EF4-FFF2-40B4-BE49-F238E27FC236}">
                  <a16:creationId xmlns:a16="http://schemas.microsoft.com/office/drawing/2014/main" id="{46C4F848-8421-4702-A623-5C4FC05E46AD}"/>
                </a:ext>
              </a:extLst>
            </p:cNvPr>
            <p:cNvSpPr txBox="1">
              <a:spLocks noChangeArrowheads="1"/>
            </p:cNvSpPr>
            <p:nvPr/>
          </p:nvSpPr>
          <p:spPr bwMode="auto">
            <a:xfrm>
              <a:off x="3962400" y="2971800"/>
              <a:ext cx="97494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Path Groups</a:t>
              </a:r>
            </a:p>
          </p:txBody>
        </p:sp>
      </p:grpSp>
      <p:grpSp>
        <p:nvGrpSpPr>
          <p:cNvPr id="35845" name="Group 47">
            <a:extLst>
              <a:ext uri="{FF2B5EF4-FFF2-40B4-BE49-F238E27FC236}">
                <a16:creationId xmlns:a16="http://schemas.microsoft.com/office/drawing/2014/main" id="{4927EA53-6171-4ABC-B6E5-80EFA3BA473A}"/>
              </a:ext>
            </a:extLst>
          </p:cNvPr>
          <p:cNvGrpSpPr>
            <a:grpSpLocks/>
          </p:cNvGrpSpPr>
          <p:nvPr/>
        </p:nvGrpSpPr>
        <p:grpSpPr bwMode="auto">
          <a:xfrm>
            <a:off x="2219326" y="3751264"/>
            <a:ext cx="5470525" cy="1449387"/>
            <a:chOff x="625547" y="2362200"/>
            <a:chExt cx="5470452" cy="1448570"/>
          </a:xfrm>
        </p:grpSpPr>
        <p:cxnSp>
          <p:nvCxnSpPr>
            <p:cNvPr id="35850" name="Straight Connector 48">
              <a:extLst>
                <a:ext uri="{FF2B5EF4-FFF2-40B4-BE49-F238E27FC236}">
                  <a16:creationId xmlns:a16="http://schemas.microsoft.com/office/drawing/2014/main" id="{BDC43C1E-317B-4BE0-9A0C-3FBA01E801BA}"/>
                </a:ext>
              </a:extLst>
            </p:cNvPr>
            <p:cNvCxnSpPr>
              <a:cxnSpLocks noChangeShapeType="1"/>
              <a:stCxn id="63" idx="1"/>
            </p:cNvCxnSpPr>
            <p:nvPr/>
          </p:nvCxnSpPr>
          <p:spPr bwMode="auto">
            <a:xfrm>
              <a:off x="3775969" y="2754663"/>
              <a:ext cx="462948" cy="426"/>
            </a:xfrm>
            <a:prstGeom prst="line">
              <a:avLst/>
            </a:prstGeom>
            <a:noFill/>
            <a:ln w="9525" algn="ctr">
              <a:solidFill>
                <a:schemeClr val="tx1"/>
              </a:solidFill>
              <a:round/>
              <a:headEnd/>
              <a:tailEnd/>
            </a:ln>
          </p:spPr>
        </p:cxnSp>
        <p:sp>
          <p:nvSpPr>
            <p:cNvPr id="50" name="Rectangle 49">
              <a:extLst>
                <a:ext uri="{FF2B5EF4-FFF2-40B4-BE49-F238E27FC236}">
                  <a16:creationId xmlns:a16="http://schemas.microsoft.com/office/drawing/2014/main" id="{167B540A-5951-4D4D-A78C-C532F9A1EE87}"/>
                </a:ext>
              </a:extLst>
            </p:cNvPr>
            <p:cNvSpPr/>
            <p:nvPr/>
          </p:nvSpPr>
          <p:spPr bwMode="auto">
            <a:xfrm>
              <a:off x="4238649" y="2574805"/>
              <a:ext cx="457194" cy="76157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51" name="Isosceles Triangle 50">
              <a:extLst>
                <a:ext uri="{FF2B5EF4-FFF2-40B4-BE49-F238E27FC236}">
                  <a16:creationId xmlns:a16="http://schemas.microsoft.com/office/drawing/2014/main" id="{372C542D-968B-40CE-A9F6-5C6248776257}"/>
                </a:ext>
              </a:extLst>
            </p:cNvPr>
            <p:cNvSpPr/>
            <p:nvPr/>
          </p:nvSpPr>
          <p:spPr bwMode="auto">
            <a:xfrm rot="5400000">
              <a:off x="4200591" y="3145962"/>
              <a:ext cx="152314" cy="76199"/>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52" name="TextBox 51">
              <a:extLst>
                <a:ext uri="{FF2B5EF4-FFF2-40B4-BE49-F238E27FC236}">
                  <a16:creationId xmlns:a16="http://schemas.microsoft.com/office/drawing/2014/main" id="{96FAA1C7-36A9-4F16-BB0A-57232E8B974D}"/>
                </a:ext>
              </a:extLst>
            </p:cNvPr>
            <p:cNvSpPr txBox="1"/>
            <p:nvPr/>
          </p:nvSpPr>
          <p:spPr>
            <a:xfrm>
              <a:off x="4295798" y="2639855"/>
              <a:ext cx="341308" cy="247510"/>
            </a:xfrm>
            <a:prstGeom prst="rect">
              <a:avLst/>
            </a:prstGeom>
            <a:noFill/>
            <a:ln w="9525">
              <a:noFill/>
            </a:ln>
          </p:spPr>
          <p:txBody>
            <a:bodyPr wrap="none">
              <a:spAutoFit/>
            </a:bodyPr>
            <a:lstStyle/>
            <a:p>
              <a:pPr eaLnBrk="1" hangingPunct="1">
                <a:defRPr/>
              </a:pPr>
              <a:r>
                <a:rPr lang="en-US" sz="1000" dirty="0">
                  <a:solidFill>
                    <a:schemeClr val="bg1"/>
                  </a:solidFill>
                  <a:latin typeface="+mj-lt"/>
                  <a:cs typeface="Arial" charset="0"/>
                </a:rPr>
                <a:t>FF</a:t>
              </a:r>
            </a:p>
          </p:txBody>
        </p:sp>
        <p:cxnSp>
          <p:nvCxnSpPr>
            <p:cNvPr id="35854" name="Straight Connector 52">
              <a:extLst>
                <a:ext uri="{FF2B5EF4-FFF2-40B4-BE49-F238E27FC236}">
                  <a16:creationId xmlns:a16="http://schemas.microsoft.com/office/drawing/2014/main" id="{EB84881E-7FB1-42FD-B9DC-EBF53970203C}"/>
                </a:ext>
              </a:extLst>
            </p:cNvPr>
            <p:cNvCxnSpPr>
              <a:cxnSpLocks noChangeShapeType="1"/>
            </p:cNvCxnSpPr>
            <p:nvPr/>
          </p:nvCxnSpPr>
          <p:spPr bwMode="auto">
            <a:xfrm>
              <a:off x="3771645" y="3182671"/>
              <a:ext cx="467273" cy="428"/>
            </a:xfrm>
            <a:prstGeom prst="line">
              <a:avLst/>
            </a:prstGeom>
            <a:noFill/>
            <a:ln w="9525" algn="ctr">
              <a:solidFill>
                <a:schemeClr val="tx1"/>
              </a:solidFill>
              <a:round/>
              <a:headEnd/>
              <a:tailEnd/>
            </a:ln>
          </p:spPr>
        </p:cxnSp>
        <p:cxnSp>
          <p:nvCxnSpPr>
            <p:cNvPr id="35855" name="Straight Connector 53">
              <a:extLst>
                <a:ext uri="{FF2B5EF4-FFF2-40B4-BE49-F238E27FC236}">
                  <a16:creationId xmlns:a16="http://schemas.microsoft.com/office/drawing/2014/main" id="{96334AA4-FF76-412A-B1D4-4E42DAEE09F0}"/>
                </a:ext>
              </a:extLst>
            </p:cNvPr>
            <p:cNvCxnSpPr>
              <a:cxnSpLocks noChangeShapeType="1"/>
            </p:cNvCxnSpPr>
            <p:nvPr/>
          </p:nvCxnSpPr>
          <p:spPr bwMode="auto">
            <a:xfrm>
              <a:off x="1908222" y="2819659"/>
              <a:ext cx="538812" cy="0"/>
            </a:xfrm>
            <a:prstGeom prst="line">
              <a:avLst/>
            </a:prstGeom>
            <a:noFill/>
            <a:ln w="9525" algn="ctr">
              <a:solidFill>
                <a:schemeClr val="tx1"/>
              </a:solidFill>
              <a:round/>
              <a:headEnd/>
              <a:tailEnd/>
            </a:ln>
          </p:spPr>
        </p:cxnSp>
        <p:sp>
          <p:nvSpPr>
            <p:cNvPr id="55" name="Rectangle 54">
              <a:extLst>
                <a:ext uri="{FF2B5EF4-FFF2-40B4-BE49-F238E27FC236}">
                  <a16:creationId xmlns:a16="http://schemas.microsoft.com/office/drawing/2014/main" id="{30754C01-D76E-465E-8895-2837D4E09BF2}"/>
                </a:ext>
              </a:extLst>
            </p:cNvPr>
            <p:cNvSpPr/>
            <p:nvPr/>
          </p:nvSpPr>
          <p:spPr bwMode="auto">
            <a:xfrm>
              <a:off x="2446386" y="2643029"/>
              <a:ext cx="457194" cy="76315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56" name="Isosceles Triangle 55">
              <a:extLst>
                <a:ext uri="{FF2B5EF4-FFF2-40B4-BE49-F238E27FC236}">
                  <a16:creationId xmlns:a16="http://schemas.microsoft.com/office/drawing/2014/main" id="{CCD5E9E7-03B8-4656-BA30-8BCE3570E87A}"/>
                </a:ext>
              </a:extLst>
            </p:cNvPr>
            <p:cNvSpPr/>
            <p:nvPr/>
          </p:nvSpPr>
          <p:spPr bwMode="auto">
            <a:xfrm rot="5400000">
              <a:off x="2408328" y="3215773"/>
              <a:ext cx="152314" cy="76199"/>
            </a:xfrm>
            <a:prstGeom prst="triangle">
              <a:avLst/>
            </a:prstGeom>
            <a:solidFill>
              <a:schemeClr val="bg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57" name="TextBox 56">
              <a:extLst>
                <a:ext uri="{FF2B5EF4-FFF2-40B4-BE49-F238E27FC236}">
                  <a16:creationId xmlns:a16="http://schemas.microsoft.com/office/drawing/2014/main" id="{3063EC2B-450F-496D-8200-BAF1A34BC655}"/>
                </a:ext>
              </a:extLst>
            </p:cNvPr>
            <p:cNvSpPr txBox="1"/>
            <p:nvPr/>
          </p:nvSpPr>
          <p:spPr>
            <a:xfrm>
              <a:off x="2503535" y="2709666"/>
              <a:ext cx="341307" cy="245924"/>
            </a:xfrm>
            <a:prstGeom prst="rect">
              <a:avLst/>
            </a:prstGeom>
            <a:noFill/>
            <a:ln w="9525">
              <a:noFill/>
            </a:ln>
          </p:spPr>
          <p:txBody>
            <a:bodyPr wrap="none">
              <a:spAutoFit/>
            </a:bodyPr>
            <a:lstStyle/>
            <a:p>
              <a:pPr eaLnBrk="1" hangingPunct="1">
                <a:defRPr/>
              </a:pPr>
              <a:r>
                <a:rPr lang="en-US" sz="1000" dirty="0">
                  <a:solidFill>
                    <a:schemeClr val="bg1"/>
                  </a:solidFill>
                  <a:latin typeface="+mj-lt"/>
                  <a:cs typeface="Arial" charset="0"/>
                </a:rPr>
                <a:t>FF</a:t>
              </a:r>
            </a:p>
          </p:txBody>
        </p:sp>
        <p:cxnSp>
          <p:nvCxnSpPr>
            <p:cNvPr id="35859" name="Straight Connector 57">
              <a:extLst>
                <a:ext uri="{FF2B5EF4-FFF2-40B4-BE49-F238E27FC236}">
                  <a16:creationId xmlns:a16="http://schemas.microsoft.com/office/drawing/2014/main" id="{D1929637-D167-4F5B-A5B0-F41523CE2232}"/>
                </a:ext>
              </a:extLst>
            </p:cNvPr>
            <p:cNvCxnSpPr>
              <a:cxnSpLocks noChangeShapeType="1"/>
            </p:cNvCxnSpPr>
            <p:nvPr/>
          </p:nvCxnSpPr>
          <p:spPr bwMode="auto">
            <a:xfrm rot="180000" flipV="1">
              <a:off x="1981498" y="3240219"/>
              <a:ext cx="465240" cy="23529"/>
            </a:xfrm>
            <a:prstGeom prst="line">
              <a:avLst/>
            </a:prstGeom>
            <a:noFill/>
            <a:ln w="9525" algn="ctr">
              <a:solidFill>
                <a:schemeClr val="tx1"/>
              </a:solidFill>
              <a:round/>
              <a:headEnd/>
              <a:tailEnd/>
            </a:ln>
          </p:spPr>
        </p:cxnSp>
        <p:sp>
          <p:nvSpPr>
            <p:cNvPr id="59" name="Flowchart: Delay 53">
              <a:extLst>
                <a:ext uri="{FF2B5EF4-FFF2-40B4-BE49-F238E27FC236}">
                  <a16:creationId xmlns:a16="http://schemas.microsoft.com/office/drawing/2014/main" id="{61CCFD31-ABA6-4FDB-B094-0CA25DA231EA}"/>
                </a:ext>
              </a:extLst>
            </p:cNvPr>
            <p:cNvSpPr/>
            <p:nvPr/>
          </p:nvSpPr>
          <p:spPr bwMode="auto">
            <a:xfrm>
              <a:off x="1578034" y="2673175"/>
              <a:ext cx="330196" cy="293521"/>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baseline="-25000" dirty="0">
                <a:latin typeface="+mj-lt"/>
                <a:cs typeface="Arial" charset="0"/>
              </a:endParaRPr>
            </a:p>
          </p:txBody>
        </p:sp>
        <p:cxnSp>
          <p:nvCxnSpPr>
            <p:cNvPr id="35861" name="Прямая соединительная линия 18">
              <a:extLst>
                <a:ext uri="{FF2B5EF4-FFF2-40B4-BE49-F238E27FC236}">
                  <a16:creationId xmlns:a16="http://schemas.microsoft.com/office/drawing/2014/main" id="{061E0053-7E15-40AC-94AA-4609B0467D16}"/>
                </a:ext>
              </a:extLst>
            </p:cNvPr>
            <p:cNvCxnSpPr>
              <a:cxnSpLocks noChangeShapeType="1"/>
            </p:cNvCxnSpPr>
            <p:nvPr/>
          </p:nvCxnSpPr>
          <p:spPr bwMode="auto">
            <a:xfrm>
              <a:off x="1171369" y="2760461"/>
              <a:ext cx="407476" cy="0"/>
            </a:xfrm>
            <a:prstGeom prst="line">
              <a:avLst/>
            </a:prstGeom>
            <a:noFill/>
            <a:ln w="9525" algn="ctr">
              <a:solidFill>
                <a:schemeClr val="tx1"/>
              </a:solidFill>
              <a:round/>
              <a:headEnd/>
              <a:tailEnd/>
            </a:ln>
          </p:spPr>
        </p:cxnSp>
        <p:cxnSp>
          <p:nvCxnSpPr>
            <p:cNvPr id="35862" name="Прямая соединительная линия 19">
              <a:extLst>
                <a:ext uri="{FF2B5EF4-FFF2-40B4-BE49-F238E27FC236}">
                  <a16:creationId xmlns:a16="http://schemas.microsoft.com/office/drawing/2014/main" id="{D14D8113-3100-44B7-9655-6DF1D5CD8AAC}"/>
                </a:ext>
              </a:extLst>
            </p:cNvPr>
            <p:cNvCxnSpPr>
              <a:cxnSpLocks noChangeShapeType="1"/>
            </p:cNvCxnSpPr>
            <p:nvPr/>
          </p:nvCxnSpPr>
          <p:spPr bwMode="auto">
            <a:xfrm>
              <a:off x="1172807" y="2915490"/>
              <a:ext cx="407476" cy="0"/>
            </a:xfrm>
            <a:prstGeom prst="line">
              <a:avLst/>
            </a:prstGeom>
            <a:noFill/>
            <a:ln w="9525" algn="ctr">
              <a:solidFill>
                <a:schemeClr val="tx1"/>
              </a:solidFill>
              <a:round/>
              <a:headEnd/>
              <a:tailEnd/>
            </a:ln>
          </p:spPr>
        </p:cxnSp>
        <p:cxnSp>
          <p:nvCxnSpPr>
            <p:cNvPr id="35863" name="Straight Connector 61">
              <a:extLst>
                <a:ext uri="{FF2B5EF4-FFF2-40B4-BE49-F238E27FC236}">
                  <a16:creationId xmlns:a16="http://schemas.microsoft.com/office/drawing/2014/main" id="{96506A57-60E6-492A-A37F-2731337BACFE}"/>
                </a:ext>
              </a:extLst>
            </p:cNvPr>
            <p:cNvCxnSpPr>
              <a:cxnSpLocks noChangeShapeType="1"/>
            </p:cNvCxnSpPr>
            <p:nvPr/>
          </p:nvCxnSpPr>
          <p:spPr bwMode="auto">
            <a:xfrm>
              <a:off x="2907772" y="2823790"/>
              <a:ext cx="538812" cy="0"/>
            </a:xfrm>
            <a:prstGeom prst="line">
              <a:avLst/>
            </a:prstGeom>
            <a:noFill/>
            <a:ln w="9525" algn="ctr">
              <a:solidFill>
                <a:schemeClr val="tx1"/>
              </a:solidFill>
              <a:round/>
              <a:headEnd/>
              <a:tailEnd/>
            </a:ln>
          </p:spPr>
        </p:cxnSp>
        <p:sp>
          <p:nvSpPr>
            <p:cNvPr id="63" name="Moon 62">
              <a:extLst>
                <a:ext uri="{FF2B5EF4-FFF2-40B4-BE49-F238E27FC236}">
                  <a16:creationId xmlns:a16="http://schemas.microsoft.com/office/drawing/2014/main" id="{17488A45-5D2C-4222-9B41-C056C8070017}"/>
                </a:ext>
              </a:extLst>
            </p:cNvPr>
            <p:cNvSpPr/>
            <p:nvPr/>
          </p:nvSpPr>
          <p:spPr bwMode="auto">
            <a:xfrm rot="10800000">
              <a:off x="3417923" y="2606537"/>
              <a:ext cx="358770" cy="296695"/>
            </a:xfrm>
            <a:prstGeom prst="moon">
              <a:avLst>
                <a:gd name="adj" fmla="val 87500"/>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cxnSp>
          <p:nvCxnSpPr>
            <p:cNvPr id="35865" name="Straight Connector 63">
              <a:extLst>
                <a:ext uri="{FF2B5EF4-FFF2-40B4-BE49-F238E27FC236}">
                  <a16:creationId xmlns:a16="http://schemas.microsoft.com/office/drawing/2014/main" id="{A3F70378-9A99-4047-A840-3C6F4CE306B3}"/>
                </a:ext>
              </a:extLst>
            </p:cNvPr>
            <p:cNvCxnSpPr>
              <a:cxnSpLocks noChangeShapeType="1"/>
            </p:cNvCxnSpPr>
            <p:nvPr/>
          </p:nvCxnSpPr>
          <p:spPr bwMode="auto">
            <a:xfrm>
              <a:off x="3345131" y="2681859"/>
              <a:ext cx="108931" cy="1135"/>
            </a:xfrm>
            <a:prstGeom prst="line">
              <a:avLst/>
            </a:prstGeom>
            <a:noFill/>
            <a:ln w="9525" algn="ctr">
              <a:solidFill>
                <a:schemeClr val="tx1"/>
              </a:solidFill>
              <a:round/>
              <a:headEnd/>
              <a:tailEnd/>
            </a:ln>
          </p:spPr>
        </p:cxnSp>
        <p:cxnSp>
          <p:nvCxnSpPr>
            <p:cNvPr id="35866" name="Straight Connector 64">
              <a:extLst>
                <a:ext uri="{FF2B5EF4-FFF2-40B4-BE49-F238E27FC236}">
                  <a16:creationId xmlns:a16="http://schemas.microsoft.com/office/drawing/2014/main" id="{05D90E9A-3643-4381-BB6A-A024326B3659}"/>
                </a:ext>
              </a:extLst>
            </p:cNvPr>
            <p:cNvCxnSpPr>
              <a:cxnSpLocks noChangeShapeType="1"/>
            </p:cNvCxnSpPr>
            <p:nvPr/>
          </p:nvCxnSpPr>
          <p:spPr bwMode="auto">
            <a:xfrm flipV="1">
              <a:off x="3345131" y="2362200"/>
              <a:ext cx="0" cy="310184"/>
            </a:xfrm>
            <a:prstGeom prst="line">
              <a:avLst/>
            </a:prstGeom>
            <a:noFill/>
            <a:ln w="9525" algn="ctr">
              <a:solidFill>
                <a:schemeClr val="tx1"/>
              </a:solidFill>
              <a:round/>
              <a:headEnd/>
              <a:tailEnd/>
            </a:ln>
          </p:spPr>
        </p:cxnSp>
        <p:cxnSp>
          <p:nvCxnSpPr>
            <p:cNvPr id="35867" name="Straight Connector 65">
              <a:extLst>
                <a:ext uri="{FF2B5EF4-FFF2-40B4-BE49-F238E27FC236}">
                  <a16:creationId xmlns:a16="http://schemas.microsoft.com/office/drawing/2014/main" id="{A873C14B-7F3B-4492-890F-A2007E829887}"/>
                </a:ext>
              </a:extLst>
            </p:cNvPr>
            <p:cNvCxnSpPr>
              <a:cxnSpLocks noChangeShapeType="1"/>
            </p:cNvCxnSpPr>
            <p:nvPr/>
          </p:nvCxnSpPr>
          <p:spPr bwMode="auto">
            <a:xfrm>
              <a:off x="1172807" y="3505200"/>
              <a:ext cx="808394" cy="0"/>
            </a:xfrm>
            <a:prstGeom prst="line">
              <a:avLst/>
            </a:prstGeom>
            <a:noFill/>
            <a:ln w="9525" algn="ctr">
              <a:solidFill>
                <a:schemeClr val="tx1"/>
              </a:solidFill>
              <a:round/>
              <a:headEnd/>
              <a:tailEnd/>
            </a:ln>
          </p:spPr>
        </p:cxnSp>
        <p:cxnSp>
          <p:nvCxnSpPr>
            <p:cNvPr id="35868" name="Straight Connector 66">
              <a:extLst>
                <a:ext uri="{FF2B5EF4-FFF2-40B4-BE49-F238E27FC236}">
                  <a16:creationId xmlns:a16="http://schemas.microsoft.com/office/drawing/2014/main" id="{9A4508E8-B7A9-471C-AD1C-5C060BA0FF60}"/>
                </a:ext>
              </a:extLst>
            </p:cNvPr>
            <p:cNvCxnSpPr>
              <a:cxnSpLocks noChangeShapeType="1"/>
            </p:cNvCxnSpPr>
            <p:nvPr/>
          </p:nvCxnSpPr>
          <p:spPr bwMode="auto">
            <a:xfrm>
              <a:off x="3775969" y="3176952"/>
              <a:ext cx="0" cy="556848"/>
            </a:xfrm>
            <a:prstGeom prst="line">
              <a:avLst/>
            </a:prstGeom>
            <a:noFill/>
            <a:ln w="9525" algn="ctr">
              <a:solidFill>
                <a:schemeClr val="tx1"/>
              </a:solidFill>
              <a:round/>
              <a:headEnd/>
              <a:tailEnd/>
            </a:ln>
          </p:spPr>
        </p:cxnSp>
        <p:cxnSp>
          <p:nvCxnSpPr>
            <p:cNvPr id="35869" name="Straight Connector 67">
              <a:extLst>
                <a:ext uri="{FF2B5EF4-FFF2-40B4-BE49-F238E27FC236}">
                  <a16:creationId xmlns:a16="http://schemas.microsoft.com/office/drawing/2014/main" id="{06204C68-53E5-4347-83AD-E318F78C48B4}"/>
                </a:ext>
              </a:extLst>
            </p:cNvPr>
            <p:cNvCxnSpPr>
              <a:cxnSpLocks noChangeShapeType="1"/>
            </p:cNvCxnSpPr>
            <p:nvPr/>
          </p:nvCxnSpPr>
          <p:spPr bwMode="auto">
            <a:xfrm>
              <a:off x="1981201" y="3251983"/>
              <a:ext cx="0" cy="253217"/>
            </a:xfrm>
            <a:prstGeom prst="line">
              <a:avLst/>
            </a:prstGeom>
            <a:noFill/>
            <a:ln w="9525" algn="ctr">
              <a:solidFill>
                <a:schemeClr val="tx1"/>
              </a:solidFill>
              <a:round/>
              <a:headEnd/>
              <a:tailEnd/>
            </a:ln>
          </p:spPr>
        </p:cxnSp>
        <p:grpSp>
          <p:nvGrpSpPr>
            <p:cNvPr id="35870" name="Group 68">
              <a:extLst>
                <a:ext uri="{FF2B5EF4-FFF2-40B4-BE49-F238E27FC236}">
                  <a16:creationId xmlns:a16="http://schemas.microsoft.com/office/drawing/2014/main" id="{0BD75C27-BFCA-48DB-9DA9-6B094D255937}"/>
                </a:ext>
              </a:extLst>
            </p:cNvPr>
            <p:cNvGrpSpPr>
              <a:grpSpLocks/>
            </p:cNvGrpSpPr>
            <p:nvPr/>
          </p:nvGrpSpPr>
          <p:grpSpPr bwMode="auto">
            <a:xfrm>
              <a:off x="4695104" y="2588662"/>
              <a:ext cx="1153764" cy="350072"/>
              <a:chOff x="5033958" y="2425701"/>
              <a:chExt cx="1443042" cy="437844"/>
            </a:xfrm>
          </p:grpSpPr>
          <p:cxnSp>
            <p:nvCxnSpPr>
              <p:cNvPr id="35881" name="Прямая соединительная линия 19">
                <a:extLst>
                  <a:ext uri="{FF2B5EF4-FFF2-40B4-BE49-F238E27FC236}">
                    <a16:creationId xmlns:a16="http://schemas.microsoft.com/office/drawing/2014/main" id="{DA2F1D26-70EE-4871-9385-3D589D128003}"/>
                  </a:ext>
                </a:extLst>
              </p:cNvPr>
              <p:cNvCxnSpPr>
                <a:cxnSpLocks noChangeShapeType="1"/>
              </p:cNvCxnSpPr>
              <p:nvPr/>
            </p:nvCxnSpPr>
            <p:spPr bwMode="auto">
              <a:xfrm>
                <a:off x="6127651" y="2643721"/>
                <a:ext cx="349349" cy="901"/>
              </a:xfrm>
              <a:prstGeom prst="line">
                <a:avLst/>
              </a:prstGeom>
              <a:noFill/>
              <a:ln w="9525" algn="ctr">
                <a:solidFill>
                  <a:schemeClr val="tx1"/>
                </a:solidFill>
                <a:round/>
                <a:headEnd/>
                <a:tailEnd/>
              </a:ln>
            </p:spPr>
          </p:cxnSp>
          <p:cxnSp>
            <p:nvCxnSpPr>
              <p:cNvPr id="35882" name="Прямая соединительная линия 25">
                <a:extLst>
                  <a:ext uri="{FF2B5EF4-FFF2-40B4-BE49-F238E27FC236}">
                    <a16:creationId xmlns:a16="http://schemas.microsoft.com/office/drawing/2014/main" id="{BA292FA8-B1BD-498B-A254-25087C2C1525}"/>
                  </a:ext>
                </a:extLst>
              </p:cNvPr>
              <p:cNvCxnSpPr>
                <a:cxnSpLocks noChangeShapeType="1"/>
              </p:cNvCxnSpPr>
              <p:nvPr/>
            </p:nvCxnSpPr>
            <p:spPr bwMode="auto">
              <a:xfrm>
                <a:off x="5033958" y="2646107"/>
                <a:ext cx="533242" cy="0"/>
              </a:xfrm>
              <a:prstGeom prst="line">
                <a:avLst/>
              </a:prstGeom>
              <a:noFill/>
              <a:ln w="9525" algn="ctr">
                <a:solidFill>
                  <a:schemeClr val="tx1"/>
                </a:solidFill>
                <a:round/>
                <a:headEnd/>
                <a:tailEnd/>
              </a:ln>
            </p:spPr>
          </p:cxnSp>
          <p:sp>
            <p:nvSpPr>
              <p:cNvPr id="82" name="Isosceles Triangle 77">
                <a:extLst>
                  <a:ext uri="{FF2B5EF4-FFF2-40B4-BE49-F238E27FC236}">
                    <a16:creationId xmlns:a16="http://schemas.microsoft.com/office/drawing/2014/main" id="{8A73E5FB-368F-41D3-9ABD-84A1CD444221}"/>
                  </a:ext>
                </a:extLst>
              </p:cNvPr>
              <p:cNvSpPr/>
              <p:nvPr/>
            </p:nvSpPr>
            <p:spPr bwMode="auto">
              <a:xfrm rot="5400000">
                <a:off x="5578038" y="2423129"/>
                <a:ext cx="436570" cy="442767"/>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35884" name="Oval 82">
                <a:extLst>
                  <a:ext uri="{FF2B5EF4-FFF2-40B4-BE49-F238E27FC236}">
                    <a16:creationId xmlns:a16="http://schemas.microsoft.com/office/drawing/2014/main" id="{0C78DB3A-FC18-41FF-A236-C9399CF4B3C6}"/>
                  </a:ext>
                </a:extLst>
              </p:cNvPr>
              <p:cNvSpPr>
                <a:spLocks noChangeArrowheads="1"/>
              </p:cNvSpPr>
              <p:nvPr/>
            </p:nvSpPr>
            <p:spPr bwMode="auto">
              <a:xfrm>
                <a:off x="6021373" y="2590642"/>
                <a:ext cx="107960" cy="10796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sp>
          <p:nvSpPr>
            <p:cNvPr id="35871" name="TextBox 69">
              <a:extLst>
                <a:ext uri="{FF2B5EF4-FFF2-40B4-BE49-F238E27FC236}">
                  <a16:creationId xmlns:a16="http://schemas.microsoft.com/office/drawing/2014/main" id="{379120C3-523B-4D55-9DCF-70C812F5F0FD}"/>
                </a:ext>
              </a:extLst>
            </p:cNvPr>
            <p:cNvSpPr txBox="1">
              <a:spLocks noChangeArrowheads="1"/>
            </p:cNvSpPr>
            <p:nvPr/>
          </p:nvSpPr>
          <p:spPr bwMode="auto">
            <a:xfrm>
              <a:off x="935193" y="2573759"/>
              <a:ext cx="2632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a</a:t>
              </a:r>
            </a:p>
          </p:txBody>
        </p:sp>
        <p:sp>
          <p:nvSpPr>
            <p:cNvPr id="35872" name="TextBox 70">
              <a:extLst>
                <a:ext uri="{FF2B5EF4-FFF2-40B4-BE49-F238E27FC236}">
                  <a16:creationId xmlns:a16="http://schemas.microsoft.com/office/drawing/2014/main" id="{CAFDE7DC-5697-4981-B42C-5E07FB783C29}"/>
                </a:ext>
              </a:extLst>
            </p:cNvPr>
            <p:cNvSpPr txBox="1">
              <a:spLocks noChangeArrowheads="1"/>
            </p:cNvSpPr>
            <p:nvPr/>
          </p:nvSpPr>
          <p:spPr bwMode="auto">
            <a:xfrm>
              <a:off x="940776" y="2740264"/>
              <a:ext cx="2632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b</a:t>
              </a:r>
            </a:p>
          </p:txBody>
        </p:sp>
        <p:sp>
          <p:nvSpPr>
            <p:cNvPr id="35873" name="TextBox 71">
              <a:extLst>
                <a:ext uri="{FF2B5EF4-FFF2-40B4-BE49-F238E27FC236}">
                  <a16:creationId xmlns:a16="http://schemas.microsoft.com/office/drawing/2014/main" id="{5F2108CA-9485-4242-B64A-A5A61898B082}"/>
                </a:ext>
              </a:extLst>
            </p:cNvPr>
            <p:cNvSpPr txBox="1">
              <a:spLocks noChangeArrowheads="1"/>
            </p:cNvSpPr>
            <p:nvPr/>
          </p:nvSpPr>
          <p:spPr bwMode="auto">
            <a:xfrm>
              <a:off x="625547" y="3549160"/>
              <a:ext cx="62388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clock 2</a:t>
              </a:r>
            </a:p>
          </p:txBody>
        </p:sp>
        <p:sp>
          <p:nvSpPr>
            <p:cNvPr id="35874" name="TextBox 72">
              <a:extLst>
                <a:ext uri="{FF2B5EF4-FFF2-40B4-BE49-F238E27FC236}">
                  <a16:creationId xmlns:a16="http://schemas.microsoft.com/office/drawing/2014/main" id="{E96BDE62-2660-491D-AB66-2EC8A9A595B5}"/>
                </a:ext>
              </a:extLst>
            </p:cNvPr>
            <p:cNvSpPr txBox="1">
              <a:spLocks noChangeArrowheads="1"/>
            </p:cNvSpPr>
            <p:nvPr/>
          </p:nvSpPr>
          <p:spPr bwMode="auto">
            <a:xfrm>
              <a:off x="1981201" y="2561796"/>
              <a:ext cx="2632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a:t>
              </a:r>
            </a:p>
          </p:txBody>
        </p:sp>
        <p:sp>
          <p:nvSpPr>
            <p:cNvPr id="35875" name="TextBox 73">
              <a:extLst>
                <a:ext uri="{FF2B5EF4-FFF2-40B4-BE49-F238E27FC236}">
                  <a16:creationId xmlns:a16="http://schemas.microsoft.com/office/drawing/2014/main" id="{CDB24A10-6A8A-45A2-8360-35E4F86EB388}"/>
                </a:ext>
              </a:extLst>
            </p:cNvPr>
            <p:cNvSpPr txBox="1">
              <a:spLocks noChangeArrowheads="1"/>
            </p:cNvSpPr>
            <p:nvPr/>
          </p:nvSpPr>
          <p:spPr bwMode="auto">
            <a:xfrm>
              <a:off x="3851586" y="2488224"/>
              <a:ext cx="2632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d</a:t>
              </a:r>
            </a:p>
          </p:txBody>
        </p:sp>
        <p:sp>
          <p:nvSpPr>
            <p:cNvPr id="35876" name="TextBox 74">
              <a:extLst>
                <a:ext uri="{FF2B5EF4-FFF2-40B4-BE49-F238E27FC236}">
                  <a16:creationId xmlns:a16="http://schemas.microsoft.com/office/drawing/2014/main" id="{1B56626B-EA49-46E4-84FC-802899CBA104}"/>
                </a:ext>
              </a:extLst>
            </p:cNvPr>
            <p:cNvSpPr txBox="1">
              <a:spLocks noChangeArrowheads="1"/>
            </p:cNvSpPr>
            <p:nvPr/>
          </p:nvSpPr>
          <p:spPr bwMode="auto">
            <a:xfrm>
              <a:off x="4795298" y="2497016"/>
              <a:ext cx="2632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e</a:t>
              </a:r>
            </a:p>
          </p:txBody>
        </p:sp>
        <p:sp>
          <p:nvSpPr>
            <p:cNvPr id="35877" name="TextBox 75">
              <a:extLst>
                <a:ext uri="{FF2B5EF4-FFF2-40B4-BE49-F238E27FC236}">
                  <a16:creationId xmlns:a16="http://schemas.microsoft.com/office/drawing/2014/main" id="{FA4FB2AB-7FBF-47F7-A91A-2B8D29340FD7}"/>
                </a:ext>
              </a:extLst>
            </p:cNvPr>
            <p:cNvSpPr txBox="1">
              <a:spLocks noChangeArrowheads="1"/>
            </p:cNvSpPr>
            <p:nvPr/>
          </p:nvSpPr>
          <p:spPr bwMode="auto">
            <a:xfrm>
              <a:off x="5604186" y="2497016"/>
              <a:ext cx="2632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y</a:t>
              </a:r>
            </a:p>
          </p:txBody>
        </p:sp>
        <p:cxnSp>
          <p:nvCxnSpPr>
            <p:cNvPr id="35878" name="Straight Arrow Connector 76">
              <a:extLst>
                <a:ext uri="{FF2B5EF4-FFF2-40B4-BE49-F238E27FC236}">
                  <a16:creationId xmlns:a16="http://schemas.microsoft.com/office/drawing/2014/main" id="{F68D26E1-C5D8-4FB8-B357-2B545023631C}"/>
                </a:ext>
              </a:extLst>
            </p:cNvPr>
            <p:cNvCxnSpPr>
              <a:cxnSpLocks noChangeShapeType="1"/>
            </p:cNvCxnSpPr>
            <p:nvPr/>
          </p:nvCxnSpPr>
          <p:spPr bwMode="auto">
            <a:xfrm>
              <a:off x="1237192" y="2643552"/>
              <a:ext cx="1125008" cy="0"/>
            </a:xfrm>
            <a:prstGeom prst="straightConnector1">
              <a:avLst/>
            </a:prstGeom>
            <a:noFill/>
            <a:ln w="19050" algn="ctr">
              <a:solidFill>
                <a:srgbClr val="0000FF"/>
              </a:solidFill>
              <a:round/>
              <a:headEnd/>
              <a:tailEnd type="triangle" w="med" len="med"/>
            </a:ln>
          </p:spPr>
        </p:cxnSp>
        <p:cxnSp>
          <p:nvCxnSpPr>
            <p:cNvPr id="35879" name="Straight Arrow Connector 77">
              <a:extLst>
                <a:ext uri="{FF2B5EF4-FFF2-40B4-BE49-F238E27FC236}">
                  <a16:creationId xmlns:a16="http://schemas.microsoft.com/office/drawing/2014/main" id="{492A12D7-C611-4F9D-9C96-10151F516C05}"/>
                </a:ext>
              </a:extLst>
            </p:cNvPr>
            <p:cNvCxnSpPr>
              <a:cxnSpLocks noChangeShapeType="1"/>
            </p:cNvCxnSpPr>
            <p:nvPr/>
          </p:nvCxnSpPr>
          <p:spPr bwMode="auto">
            <a:xfrm>
              <a:off x="1239720" y="3048000"/>
              <a:ext cx="1125008" cy="0"/>
            </a:xfrm>
            <a:prstGeom prst="straightConnector1">
              <a:avLst/>
            </a:prstGeom>
            <a:noFill/>
            <a:ln w="19050" algn="ctr">
              <a:solidFill>
                <a:srgbClr val="0000FF"/>
              </a:solidFill>
              <a:round/>
              <a:headEnd/>
              <a:tailEnd type="triangle" w="med" len="med"/>
            </a:ln>
          </p:spPr>
        </p:cxnSp>
        <p:sp>
          <p:nvSpPr>
            <p:cNvPr id="79" name="Arc 78">
              <a:extLst>
                <a:ext uri="{FF2B5EF4-FFF2-40B4-BE49-F238E27FC236}">
                  <a16:creationId xmlns:a16="http://schemas.microsoft.com/office/drawing/2014/main" id="{17151181-B476-424B-B221-160699DA2424}"/>
                </a:ext>
              </a:extLst>
            </p:cNvPr>
            <p:cNvSpPr/>
            <p:nvPr/>
          </p:nvSpPr>
          <p:spPr bwMode="auto">
            <a:xfrm flipH="1">
              <a:off x="2378124" y="2819142"/>
              <a:ext cx="3717875" cy="815515"/>
            </a:xfrm>
            <a:prstGeom prst="arc">
              <a:avLst/>
            </a:prstGeom>
            <a:noFill/>
            <a:ln w="19050" cap="flat" cmpd="sng" algn="ctr">
              <a:solidFill>
                <a:srgbClr val="0000FF"/>
              </a:solidFill>
              <a:prstDash val="solid"/>
              <a:round/>
              <a:headEnd type="triangle" w="med" len="med"/>
              <a:tailEnd type="none" w="med" len="med"/>
            </a:ln>
            <a:effectLst/>
          </p:spPr>
          <p:txBody>
            <a:bodyPr anchor="ctr"/>
            <a:lstStyle/>
            <a:p>
              <a:pPr algn="ctr" eaLnBrk="1" hangingPunct="1">
                <a:defRPr/>
              </a:pPr>
              <a:endParaRPr lang="en-US">
                <a:latin typeface="Arial" charset="0"/>
                <a:cs typeface="Arial" charset="0"/>
              </a:endParaRPr>
            </a:p>
          </p:txBody>
        </p:sp>
      </p:grpSp>
      <p:cxnSp>
        <p:nvCxnSpPr>
          <p:cNvPr id="35846" name="Straight Connector 83">
            <a:extLst>
              <a:ext uri="{FF2B5EF4-FFF2-40B4-BE49-F238E27FC236}">
                <a16:creationId xmlns:a16="http://schemas.microsoft.com/office/drawing/2014/main" id="{6544F9EB-4B66-48F2-95CF-11D8A70E7D70}"/>
              </a:ext>
            </a:extLst>
          </p:cNvPr>
          <p:cNvCxnSpPr>
            <a:cxnSpLocks noChangeShapeType="1"/>
          </p:cNvCxnSpPr>
          <p:nvPr/>
        </p:nvCxnSpPr>
        <p:spPr bwMode="auto">
          <a:xfrm>
            <a:off x="2765426" y="5122863"/>
            <a:ext cx="2600325" cy="0"/>
          </a:xfrm>
          <a:prstGeom prst="line">
            <a:avLst/>
          </a:prstGeom>
          <a:noFill/>
          <a:ln w="9525" algn="ctr">
            <a:solidFill>
              <a:schemeClr val="tx1"/>
            </a:solidFill>
            <a:round/>
            <a:headEnd/>
            <a:tailEnd/>
          </a:ln>
        </p:spPr>
      </p:cxnSp>
      <p:sp>
        <p:nvSpPr>
          <p:cNvPr id="35847" name="TextBox 85">
            <a:extLst>
              <a:ext uri="{FF2B5EF4-FFF2-40B4-BE49-F238E27FC236}">
                <a16:creationId xmlns:a16="http://schemas.microsoft.com/office/drawing/2014/main" id="{999F209D-E647-4284-853D-0DE9BCB457DC}"/>
              </a:ext>
            </a:extLst>
          </p:cNvPr>
          <p:cNvSpPr txBox="1">
            <a:spLocks noChangeArrowheads="1"/>
          </p:cNvSpPr>
          <p:nvPr/>
        </p:nvSpPr>
        <p:spPr bwMode="auto">
          <a:xfrm>
            <a:off x="2209800" y="4705350"/>
            <a:ext cx="62388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clock 1</a:t>
            </a:r>
          </a:p>
        </p:txBody>
      </p:sp>
      <p:sp>
        <p:nvSpPr>
          <p:cNvPr id="87" name="Arc 86">
            <a:extLst>
              <a:ext uri="{FF2B5EF4-FFF2-40B4-BE49-F238E27FC236}">
                <a16:creationId xmlns:a16="http://schemas.microsoft.com/office/drawing/2014/main" id="{730A22A1-8642-4B27-A618-CBA33D8470BD}"/>
              </a:ext>
            </a:extLst>
          </p:cNvPr>
          <p:cNvSpPr/>
          <p:nvPr/>
        </p:nvSpPr>
        <p:spPr bwMode="auto">
          <a:xfrm flipH="1">
            <a:off x="5908675" y="4243388"/>
            <a:ext cx="3244850" cy="646112"/>
          </a:xfrm>
          <a:prstGeom prst="arc">
            <a:avLst/>
          </a:prstGeom>
          <a:noFill/>
          <a:ln w="19050" cap="flat" cmpd="sng" algn="ctr">
            <a:solidFill>
              <a:srgbClr val="0000FF"/>
            </a:solidFill>
            <a:prstDash val="solid"/>
            <a:round/>
            <a:headEnd type="triangle" w="med" len="med"/>
            <a:tailEnd type="none" w="med" len="med"/>
          </a:ln>
          <a:effectLst/>
        </p:spPr>
        <p:txBody>
          <a:bodyPr anchor="ctr"/>
          <a:lstStyle/>
          <a:p>
            <a:pPr algn="ctr" eaLnBrk="1" hangingPunct="1">
              <a:defRPr/>
            </a:pPr>
            <a:endParaRPr lang="en-US">
              <a:latin typeface="Arial" charset="0"/>
              <a:cs typeface="Arial" charset="0"/>
            </a:endParaRPr>
          </a:p>
        </p:txBody>
      </p:sp>
      <p:sp>
        <p:nvSpPr>
          <p:cNvPr id="35849" name="TextBox 5">
            <a:extLst>
              <a:ext uri="{FF2B5EF4-FFF2-40B4-BE49-F238E27FC236}">
                <a16:creationId xmlns:a16="http://schemas.microsoft.com/office/drawing/2014/main" id="{1C1FA7FB-EF7C-441F-9068-BF26B99E1107}"/>
              </a:ext>
            </a:extLst>
          </p:cNvPr>
          <p:cNvSpPr txBox="1">
            <a:spLocks noChangeArrowheads="1"/>
          </p:cNvSpPr>
          <p:nvPr/>
        </p:nvSpPr>
        <p:spPr bwMode="auto">
          <a:xfrm>
            <a:off x="9297988" y="3381376"/>
            <a:ext cx="3730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b="1">
                <a:solidFill>
                  <a:srgbClr val="FF0000"/>
                </a:solidFill>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28135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TMTNUMBER" val="1"/>
  <p:tag name="SYNOPSYS:CONSTMT" val="1"/>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TEMPLATE-001" val="9/10/2018 5:47:52 PM"/>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SHAPE" val="Y"/>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heme/theme1.xml><?xml version="1.0" encoding="utf-8"?>
<a:theme xmlns:a="http://schemas.openxmlformats.org/drawingml/2006/main" name="2_Synopsys_2019">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Presentation1" id="{46C17DE6-006F-4567-BE63-62228A6CCE2A}" vid="{73649181-4B6E-471C-A753-F50E138648EC}"/>
    </a:ext>
  </a:extLst>
</a:theme>
</file>

<file path=ppt/theme/theme2.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98D47170EF3FA4EB3A4AC90251FDBB6" ma:contentTypeVersion="14" ma:contentTypeDescription="Create a new document." ma:contentTypeScope="" ma:versionID="8420c87bf64ff4dfc04fd3ce2101f073">
  <xsd:schema xmlns:xsd="http://www.w3.org/2001/XMLSchema" xmlns:xs="http://www.w3.org/2001/XMLSchema" xmlns:p="http://schemas.microsoft.com/office/2006/metadata/properties" xmlns:ns3="c4e338ac-e2c9-4a09-90bc-aa78cddd6f1f" xmlns:ns4="9d6f540b-f5ab-4529-997d-b1c359473666" targetNamespace="http://schemas.microsoft.com/office/2006/metadata/properties" ma:root="true" ma:fieldsID="9fb6f1b73bc330e6855601ecd1a486a5" ns3:_="" ns4:_="">
    <xsd:import namespace="c4e338ac-e2c9-4a09-90bc-aa78cddd6f1f"/>
    <xsd:import namespace="9d6f540b-f5ab-4529-997d-b1c3594736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338ac-e2c9-4a09-90bc-aa78cddd6f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540b-f5ab-4529-997d-b1c359473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11BE162-346D-48E0-9B29-CB08309D4C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e338ac-e2c9-4a09-90bc-aa78cddd6f1f"/>
    <ds:schemaRef ds:uri="9d6f540b-f5ab-4529-997d-b1c35947366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B2DC2BB-B596-4C3A-A9DC-0B51540F8820}">
  <ds:schemaRefs>
    <ds:schemaRef ds:uri="http://schemas.microsoft.com/office/2006/metadata/properties"/>
    <ds:schemaRef ds:uri="c4e338ac-e2c9-4a09-90bc-aa78cddd6f1f"/>
    <ds:schemaRef ds:uri="http://purl.org/dc/terms/"/>
    <ds:schemaRef ds:uri="http://schemas.openxmlformats.org/package/2006/metadata/core-properties"/>
    <ds:schemaRef ds:uri="http://schemas.microsoft.com/office/infopath/2007/PartnerControls"/>
    <ds:schemaRef ds:uri="http://schemas.microsoft.com/office/2006/documentManagement/types"/>
    <ds:schemaRef ds:uri="http://purl.org/dc/elements/1.1/"/>
    <ds:schemaRef ds:uri="9d6f540b-f5ab-4529-997d-b1c359473666"/>
    <ds:schemaRef ds:uri="http://www.w3.org/XML/1998/namespace"/>
    <ds:schemaRef ds:uri="http://purl.org/dc/dcmitype/"/>
  </ds:schemaRefs>
</ds:datastoreItem>
</file>

<file path=customXml/itemProps3.xml><?xml version="1.0" encoding="utf-8"?>
<ds:datastoreItem xmlns:ds="http://schemas.openxmlformats.org/officeDocument/2006/customXml" ds:itemID="{6B5A6964-B842-4343-98F0-22A6DEF0941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3303</TotalTime>
  <Words>1757</Words>
  <Application>Microsoft Office PowerPoint</Application>
  <PresentationFormat>Widescreen</PresentationFormat>
  <Paragraphs>414</Paragraphs>
  <Slides>26</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MS PGothic</vt:lpstr>
      <vt:lpstr>.Lucida Grande UI Regular</vt:lpstr>
      <vt:lpstr>Arial</vt:lpstr>
      <vt:lpstr>Arial Armenian</vt:lpstr>
      <vt:lpstr>System Font Regular</vt:lpstr>
      <vt:lpstr>Times New Roman</vt:lpstr>
      <vt:lpstr>Wingdings</vt:lpstr>
      <vt:lpstr>2_Synopsys_2019</vt:lpstr>
      <vt:lpstr>Static Timing Analysis</vt:lpstr>
      <vt:lpstr>PowerPoint Presentation</vt:lpstr>
      <vt:lpstr>Course Overview</vt:lpstr>
      <vt:lpstr>PowerPoint Presentation</vt:lpstr>
      <vt:lpstr>Static Timing Analysis (STA)</vt:lpstr>
      <vt:lpstr>Simulation</vt:lpstr>
      <vt:lpstr>STA (2)</vt:lpstr>
      <vt:lpstr>STA  vs. Simulation</vt:lpstr>
      <vt:lpstr>Digital Circuits Timing Goals</vt:lpstr>
      <vt:lpstr>Problem Variability</vt:lpstr>
      <vt:lpstr>Components of Circuit Timing</vt:lpstr>
      <vt:lpstr>Cell Timing Parameters</vt:lpstr>
      <vt:lpstr>Cell Timing Constraints</vt:lpstr>
      <vt:lpstr>Timing Closure Problem</vt:lpstr>
      <vt:lpstr>Static Timing Analysis Steps</vt:lpstr>
      <vt:lpstr>STA Concepts</vt:lpstr>
      <vt:lpstr>Timing Paths</vt:lpstr>
      <vt:lpstr>Possible Paths</vt:lpstr>
      <vt:lpstr>False Paths</vt:lpstr>
      <vt:lpstr>Multi-cycle Paths</vt:lpstr>
      <vt:lpstr>Required Time</vt:lpstr>
      <vt:lpstr>Arrival Time</vt:lpstr>
      <vt:lpstr>Slack and Critical Path</vt:lpstr>
      <vt:lpstr>Early and Latest Analysis</vt:lpstr>
      <vt:lpstr>Path Groups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 Template Unit 1</dc:title>
  <dc:creator>abgaryan@synopsys.com</dc:creator>
  <cp:lastModifiedBy>Nane Lazaryan</cp:lastModifiedBy>
  <cp:revision>314</cp:revision>
  <dcterms:created xsi:type="dcterms:W3CDTF">2020-07-20T16:18:49Z</dcterms:created>
  <dcterms:modified xsi:type="dcterms:W3CDTF">2025-07-31T12:26:25Z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0x010100F98D47170EF3FA4EB3A4AC90251FDBB6</vt:lpwstr>
  </property>
</Properties>
</file>