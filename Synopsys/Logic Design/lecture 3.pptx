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152"/>
  </p:notesMasterIdLst>
  <p:handoutMasterIdLst>
    <p:handoutMasterId r:id="rId153"/>
  </p:handoutMasterIdLst>
  <p:sldIdLst>
    <p:sldId id="4743" r:id="rId6"/>
    <p:sldId id="537" r:id="rId7"/>
    <p:sldId id="536" r:id="rId8"/>
    <p:sldId id="336" r:id="rId9"/>
    <p:sldId id="337" r:id="rId10"/>
    <p:sldId id="338" r:id="rId11"/>
    <p:sldId id="339" r:id="rId12"/>
    <p:sldId id="340" r:id="rId13"/>
    <p:sldId id="341" r:id="rId14"/>
    <p:sldId id="342" r:id="rId15"/>
    <p:sldId id="343" r:id="rId16"/>
    <p:sldId id="488" r:id="rId17"/>
    <p:sldId id="487" r:id="rId18"/>
    <p:sldId id="344" r:id="rId19"/>
    <p:sldId id="490" r:id="rId20"/>
    <p:sldId id="345" r:id="rId21"/>
    <p:sldId id="346" r:id="rId22"/>
    <p:sldId id="509" r:id="rId23"/>
    <p:sldId id="508" r:id="rId24"/>
    <p:sldId id="347" r:id="rId25"/>
    <p:sldId id="348" r:id="rId26"/>
    <p:sldId id="349" r:id="rId27"/>
    <p:sldId id="491" r:id="rId28"/>
    <p:sldId id="498" r:id="rId29"/>
    <p:sldId id="350" r:id="rId30"/>
    <p:sldId id="351" r:id="rId31"/>
    <p:sldId id="477" r:id="rId32"/>
    <p:sldId id="478" r:id="rId33"/>
    <p:sldId id="433" r:id="rId34"/>
    <p:sldId id="434" r:id="rId35"/>
    <p:sldId id="354" r:id="rId36"/>
    <p:sldId id="355" r:id="rId37"/>
    <p:sldId id="432" r:id="rId38"/>
    <p:sldId id="356" r:id="rId39"/>
    <p:sldId id="357" r:id="rId40"/>
    <p:sldId id="358" r:id="rId41"/>
    <p:sldId id="429" r:id="rId42"/>
    <p:sldId id="430" r:id="rId43"/>
    <p:sldId id="431" r:id="rId44"/>
    <p:sldId id="359" r:id="rId45"/>
    <p:sldId id="360" r:id="rId46"/>
    <p:sldId id="361" r:id="rId47"/>
    <p:sldId id="363" r:id="rId48"/>
    <p:sldId id="364" r:id="rId49"/>
    <p:sldId id="502" r:id="rId50"/>
    <p:sldId id="504" r:id="rId51"/>
    <p:sldId id="503" r:id="rId52"/>
    <p:sldId id="500" r:id="rId53"/>
    <p:sldId id="365" r:id="rId54"/>
    <p:sldId id="492" r:id="rId55"/>
    <p:sldId id="494" r:id="rId56"/>
    <p:sldId id="495" r:id="rId57"/>
    <p:sldId id="496" r:id="rId58"/>
    <p:sldId id="497" r:id="rId59"/>
    <p:sldId id="366" r:id="rId60"/>
    <p:sldId id="479" r:id="rId61"/>
    <p:sldId id="368" r:id="rId62"/>
    <p:sldId id="480" r:id="rId63"/>
    <p:sldId id="481" r:id="rId64"/>
    <p:sldId id="371" r:id="rId65"/>
    <p:sldId id="372" r:id="rId66"/>
    <p:sldId id="373" r:id="rId67"/>
    <p:sldId id="374" r:id="rId68"/>
    <p:sldId id="376" r:id="rId69"/>
    <p:sldId id="377" r:id="rId70"/>
    <p:sldId id="482" r:id="rId71"/>
    <p:sldId id="378" r:id="rId72"/>
    <p:sldId id="379" r:id="rId73"/>
    <p:sldId id="380" r:id="rId74"/>
    <p:sldId id="381" r:id="rId75"/>
    <p:sldId id="382" r:id="rId76"/>
    <p:sldId id="383" r:id="rId77"/>
    <p:sldId id="384" r:id="rId78"/>
    <p:sldId id="437" r:id="rId79"/>
    <p:sldId id="439" r:id="rId80"/>
    <p:sldId id="440" r:id="rId81"/>
    <p:sldId id="388" r:id="rId82"/>
    <p:sldId id="389" r:id="rId83"/>
    <p:sldId id="510" r:id="rId84"/>
    <p:sldId id="442" r:id="rId85"/>
    <p:sldId id="392" r:id="rId86"/>
    <p:sldId id="443" r:id="rId87"/>
    <p:sldId id="399" r:id="rId88"/>
    <p:sldId id="471" r:id="rId89"/>
    <p:sldId id="472" r:id="rId90"/>
    <p:sldId id="511" r:id="rId91"/>
    <p:sldId id="444" r:id="rId92"/>
    <p:sldId id="445" r:id="rId93"/>
    <p:sldId id="400" r:id="rId94"/>
    <p:sldId id="401" r:id="rId95"/>
    <p:sldId id="402" r:id="rId96"/>
    <p:sldId id="403" r:id="rId97"/>
    <p:sldId id="404" r:id="rId98"/>
    <p:sldId id="405" r:id="rId99"/>
    <p:sldId id="406" r:id="rId100"/>
    <p:sldId id="407" r:id="rId101"/>
    <p:sldId id="408" r:id="rId102"/>
    <p:sldId id="409" r:id="rId103"/>
    <p:sldId id="410" r:id="rId104"/>
    <p:sldId id="483" r:id="rId105"/>
    <p:sldId id="412" r:id="rId106"/>
    <p:sldId id="413" r:id="rId107"/>
    <p:sldId id="414" r:id="rId108"/>
    <p:sldId id="534" r:id="rId109"/>
    <p:sldId id="484" r:id="rId110"/>
    <p:sldId id="451" r:id="rId111"/>
    <p:sldId id="450" r:id="rId112"/>
    <p:sldId id="452" r:id="rId113"/>
    <p:sldId id="453" r:id="rId114"/>
    <p:sldId id="485" r:id="rId115"/>
    <p:sldId id="455" r:id="rId116"/>
    <p:sldId id="456" r:id="rId117"/>
    <p:sldId id="457" r:id="rId118"/>
    <p:sldId id="459" r:id="rId119"/>
    <p:sldId id="458" r:id="rId120"/>
    <p:sldId id="460" r:id="rId121"/>
    <p:sldId id="461" r:id="rId122"/>
    <p:sldId id="463" r:id="rId123"/>
    <p:sldId id="465" r:id="rId124"/>
    <p:sldId id="464" r:id="rId125"/>
    <p:sldId id="466" r:id="rId126"/>
    <p:sldId id="486" r:id="rId127"/>
    <p:sldId id="468" r:id="rId128"/>
    <p:sldId id="469" r:id="rId129"/>
    <p:sldId id="470" r:id="rId130"/>
    <p:sldId id="512" r:id="rId131"/>
    <p:sldId id="513" r:id="rId132"/>
    <p:sldId id="514" r:id="rId133"/>
    <p:sldId id="515" r:id="rId134"/>
    <p:sldId id="516" r:id="rId135"/>
    <p:sldId id="517" r:id="rId136"/>
    <p:sldId id="518" r:id="rId137"/>
    <p:sldId id="519" r:id="rId138"/>
    <p:sldId id="520" r:id="rId139"/>
    <p:sldId id="521" r:id="rId140"/>
    <p:sldId id="522" r:id="rId141"/>
    <p:sldId id="523" r:id="rId142"/>
    <p:sldId id="524" r:id="rId143"/>
    <p:sldId id="525" r:id="rId144"/>
    <p:sldId id="526" r:id="rId145"/>
    <p:sldId id="527" r:id="rId146"/>
    <p:sldId id="528" r:id="rId147"/>
    <p:sldId id="529" r:id="rId148"/>
    <p:sldId id="530" r:id="rId149"/>
    <p:sldId id="531" r:id="rId150"/>
    <p:sldId id="4790" r:id="rId151"/>
  </p:sldIdLst>
  <p:sldSz cx="12192000" cy="6858000"/>
  <p:notesSz cx="7315200" cy="9601200"/>
  <p:custDataLst>
    <p:tags r:id="rId1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336"/>
            <p14:sldId id="337"/>
            <p14:sldId id="338"/>
            <p14:sldId id="339"/>
            <p14:sldId id="340"/>
            <p14:sldId id="341"/>
            <p14:sldId id="342"/>
            <p14:sldId id="343"/>
            <p14:sldId id="488"/>
            <p14:sldId id="487"/>
            <p14:sldId id="344"/>
            <p14:sldId id="490"/>
            <p14:sldId id="345"/>
            <p14:sldId id="346"/>
            <p14:sldId id="509"/>
            <p14:sldId id="508"/>
            <p14:sldId id="347"/>
            <p14:sldId id="348"/>
            <p14:sldId id="349"/>
            <p14:sldId id="491"/>
            <p14:sldId id="498"/>
            <p14:sldId id="350"/>
            <p14:sldId id="351"/>
            <p14:sldId id="477"/>
            <p14:sldId id="478"/>
            <p14:sldId id="433"/>
            <p14:sldId id="434"/>
            <p14:sldId id="354"/>
            <p14:sldId id="355"/>
            <p14:sldId id="432"/>
            <p14:sldId id="356"/>
            <p14:sldId id="357"/>
            <p14:sldId id="358"/>
            <p14:sldId id="429"/>
            <p14:sldId id="430"/>
            <p14:sldId id="431"/>
            <p14:sldId id="359"/>
            <p14:sldId id="360"/>
            <p14:sldId id="361"/>
            <p14:sldId id="363"/>
            <p14:sldId id="364"/>
            <p14:sldId id="502"/>
            <p14:sldId id="504"/>
            <p14:sldId id="503"/>
            <p14:sldId id="500"/>
            <p14:sldId id="365"/>
            <p14:sldId id="492"/>
            <p14:sldId id="494"/>
            <p14:sldId id="495"/>
            <p14:sldId id="496"/>
            <p14:sldId id="497"/>
            <p14:sldId id="366"/>
            <p14:sldId id="479"/>
            <p14:sldId id="368"/>
            <p14:sldId id="480"/>
            <p14:sldId id="481"/>
            <p14:sldId id="371"/>
            <p14:sldId id="372"/>
            <p14:sldId id="373"/>
            <p14:sldId id="374"/>
            <p14:sldId id="376"/>
            <p14:sldId id="377"/>
            <p14:sldId id="482"/>
            <p14:sldId id="378"/>
            <p14:sldId id="379"/>
            <p14:sldId id="380"/>
            <p14:sldId id="381"/>
            <p14:sldId id="382"/>
            <p14:sldId id="383"/>
            <p14:sldId id="384"/>
            <p14:sldId id="437"/>
            <p14:sldId id="439"/>
            <p14:sldId id="440"/>
            <p14:sldId id="388"/>
            <p14:sldId id="389"/>
            <p14:sldId id="510"/>
            <p14:sldId id="442"/>
            <p14:sldId id="392"/>
            <p14:sldId id="443"/>
            <p14:sldId id="399"/>
            <p14:sldId id="471"/>
            <p14:sldId id="472"/>
            <p14:sldId id="511"/>
            <p14:sldId id="444"/>
            <p14:sldId id="445"/>
            <p14:sldId id="400"/>
            <p14:sldId id="401"/>
            <p14:sldId id="402"/>
            <p14:sldId id="403"/>
            <p14:sldId id="404"/>
            <p14:sldId id="405"/>
            <p14:sldId id="406"/>
            <p14:sldId id="407"/>
            <p14:sldId id="408"/>
            <p14:sldId id="409"/>
            <p14:sldId id="410"/>
            <p14:sldId id="483"/>
            <p14:sldId id="412"/>
            <p14:sldId id="413"/>
            <p14:sldId id="414"/>
            <p14:sldId id="534"/>
            <p14:sldId id="484"/>
            <p14:sldId id="451"/>
            <p14:sldId id="450"/>
            <p14:sldId id="452"/>
            <p14:sldId id="453"/>
            <p14:sldId id="485"/>
            <p14:sldId id="455"/>
            <p14:sldId id="456"/>
            <p14:sldId id="457"/>
            <p14:sldId id="459"/>
            <p14:sldId id="458"/>
            <p14:sldId id="460"/>
            <p14:sldId id="461"/>
            <p14:sldId id="463"/>
            <p14:sldId id="465"/>
            <p14:sldId id="464"/>
            <p14:sldId id="466"/>
            <p14:sldId id="486"/>
            <p14:sldId id="468"/>
            <p14:sldId id="469"/>
            <p14:sldId id="470"/>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EE26F5-3A78-4463-8BC8-6C17834128DD}" v="1" dt="2023-12-27T09:11:45.1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38" Type="http://schemas.openxmlformats.org/officeDocument/2006/relationships/slide" Target="slides/slide133.xml"/><Relationship Id="rId154" Type="http://schemas.openxmlformats.org/officeDocument/2006/relationships/tags" Target="tags/tag1.xml"/><Relationship Id="rId159" Type="http://schemas.openxmlformats.org/officeDocument/2006/relationships/tableStyles" Target="tableStyles.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144" Type="http://schemas.openxmlformats.org/officeDocument/2006/relationships/slide" Target="slides/slide139.xml"/><Relationship Id="rId149" Type="http://schemas.openxmlformats.org/officeDocument/2006/relationships/slide" Target="slides/slide144.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160" Type="http://schemas.microsoft.com/office/2016/11/relationships/changesInfo" Target="changesInfos/changesInfo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slide" Target="slides/slide129.xml"/><Relationship Id="rId139" Type="http://schemas.openxmlformats.org/officeDocument/2006/relationships/slide" Target="slides/slide134.xml"/><Relationship Id="rId80" Type="http://schemas.openxmlformats.org/officeDocument/2006/relationships/slide" Target="slides/slide75.xml"/><Relationship Id="rId85" Type="http://schemas.openxmlformats.org/officeDocument/2006/relationships/slide" Target="slides/slide80.xml"/><Relationship Id="rId150" Type="http://schemas.openxmlformats.org/officeDocument/2006/relationships/slide" Target="slides/slide145.xml"/><Relationship Id="rId155" Type="http://schemas.openxmlformats.org/officeDocument/2006/relationships/commentAuthors" Target="commentAuthors.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slide" Target="slides/slide127.xml"/><Relationship Id="rId140" Type="http://schemas.openxmlformats.org/officeDocument/2006/relationships/slide" Target="slides/slide135.xml"/><Relationship Id="rId145" Type="http://schemas.openxmlformats.org/officeDocument/2006/relationships/slide" Target="slides/slide140.xml"/><Relationship Id="rId153" Type="http://schemas.openxmlformats.org/officeDocument/2006/relationships/handoutMaster" Target="handoutMasters/handoutMaster1.xml"/><Relationship Id="rId16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slide" Target="slides/slide125.xml"/><Relationship Id="rId135" Type="http://schemas.openxmlformats.org/officeDocument/2006/relationships/slide" Target="slides/slide130.xml"/><Relationship Id="rId143" Type="http://schemas.openxmlformats.org/officeDocument/2006/relationships/slide" Target="slides/slide138.xml"/><Relationship Id="rId148" Type="http://schemas.openxmlformats.org/officeDocument/2006/relationships/slide" Target="slides/slide143.xml"/><Relationship Id="rId151" Type="http://schemas.openxmlformats.org/officeDocument/2006/relationships/slide" Target="slides/slide146.xml"/><Relationship Id="rId15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slide" Target="slides/slide14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viewProps" Target="viewProps.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E3EE26F5-3A78-4463-8BC8-6C17834128DD}"/>
    <pc:docChg chg="undo custSel addSld delSld modSld modSection">
      <pc:chgData name="Margarit Meroyan" userId="630a6349-7c61-463e-804c-816773a1019c" providerId="ADAL" clId="{E3EE26F5-3A78-4463-8BC8-6C17834128DD}" dt="2023-12-27T09:21:50.823" v="75" actId="20577"/>
      <pc:docMkLst>
        <pc:docMk/>
      </pc:docMkLst>
      <pc:sldChg chg="modSp mod">
        <pc:chgData name="Margarit Meroyan" userId="630a6349-7c61-463e-804c-816773a1019c" providerId="ADAL" clId="{E3EE26F5-3A78-4463-8BC8-6C17834128DD}" dt="2023-12-27T09:21:14.548" v="48" actId="208"/>
        <pc:sldMkLst>
          <pc:docMk/>
          <pc:sldMk cId="0" sldId="379"/>
        </pc:sldMkLst>
        <pc:spChg chg="mod">
          <ac:chgData name="Margarit Meroyan" userId="630a6349-7c61-463e-804c-816773a1019c" providerId="ADAL" clId="{E3EE26F5-3A78-4463-8BC8-6C17834128DD}" dt="2023-12-27T09:21:14.548" v="48" actId="208"/>
          <ac:spMkLst>
            <pc:docMk/>
            <pc:sldMk cId="0" sldId="379"/>
            <ac:spMk id="4" creationId="{2EF61FA2-53F7-9E57-3C5D-8CCA4E7A8B80}"/>
          </ac:spMkLst>
        </pc:spChg>
      </pc:sldChg>
      <pc:sldChg chg="modSp mod">
        <pc:chgData name="Margarit Meroyan" userId="630a6349-7c61-463e-804c-816773a1019c" providerId="ADAL" clId="{E3EE26F5-3A78-4463-8BC8-6C17834128DD}" dt="2023-12-27T09:21:50.823" v="75" actId="20577"/>
        <pc:sldMkLst>
          <pc:docMk/>
          <pc:sldMk cId="0" sldId="399"/>
        </pc:sldMkLst>
        <pc:spChg chg="mod">
          <ac:chgData name="Margarit Meroyan" userId="630a6349-7c61-463e-804c-816773a1019c" providerId="ADAL" clId="{E3EE26F5-3A78-4463-8BC8-6C17834128DD}" dt="2023-12-27T09:21:50.823" v="75" actId="20577"/>
          <ac:spMkLst>
            <pc:docMk/>
            <pc:sldMk cId="0" sldId="399"/>
            <ac:spMk id="94211" creationId="{2CB09064-7943-4E6C-0030-E2C6FC51F110}"/>
          </ac:spMkLst>
        </pc:spChg>
      </pc:sldChg>
      <pc:sldChg chg="modSp mod">
        <pc:chgData name="Margarit Meroyan" userId="630a6349-7c61-463e-804c-816773a1019c" providerId="ADAL" clId="{E3EE26F5-3A78-4463-8BC8-6C17834128DD}" dt="2023-12-27T09:17:45.687" v="41" actId="20577"/>
        <pc:sldMkLst>
          <pc:docMk/>
          <pc:sldMk cId="0" sldId="490"/>
        </pc:sldMkLst>
        <pc:spChg chg="mod">
          <ac:chgData name="Margarit Meroyan" userId="630a6349-7c61-463e-804c-816773a1019c" providerId="ADAL" clId="{E3EE26F5-3A78-4463-8BC8-6C17834128DD}" dt="2023-12-27T09:17:45.687" v="41" actId="20577"/>
          <ac:spMkLst>
            <pc:docMk/>
            <pc:sldMk cId="0" sldId="490"/>
            <ac:spMk id="23555" creationId="{51033468-22C5-14C6-059A-5F7EF5BAA87E}"/>
          </ac:spMkLst>
        </pc:spChg>
      </pc:sldChg>
      <pc:sldChg chg="delSp mod">
        <pc:chgData name="Margarit Meroyan" userId="630a6349-7c61-463e-804c-816773a1019c" providerId="ADAL" clId="{E3EE26F5-3A78-4463-8BC8-6C17834128DD}" dt="2023-12-27T09:17:13.489" v="2" actId="478"/>
        <pc:sldMkLst>
          <pc:docMk/>
          <pc:sldMk cId="0" sldId="536"/>
        </pc:sldMkLst>
        <pc:spChg chg="del">
          <ac:chgData name="Margarit Meroyan" userId="630a6349-7c61-463e-804c-816773a1019c" providerId="ADAL" clId="{E3EE26F5-3A78-4463-8BC8-6C17834128DD}" dt="2023-12-27T09:17:13.489" v="2" actId="478"/>
          <ac:spMkLst>
            <pc:docMk/>
            <pc:sldMk cId="0" sldId="536"/>
            <ac:spMk id="2" creationId="{C308CF19-6630-C492-B724-302243C015A0}"/>
          </ac:spMkLst>
        </pc:spChg>
      </pc:sldChg>
      <pc:sldChg chg="del">
        <pc:chgData name="Margarit Meroyan" userId="630a6349-7c61-463e-804c-816773a1019c" providerId="ADAL" clId="{E3EE26F5-3A78-4463-8BC8-6C17834128DD}" dt="2023-12-27T09:11:43.899" v="0" actId="47"/>
        <pc:sldMkLst>
          <pc:docMk/>
          <pc:sldMk cId="0" sldId="611"/>
        </pc:sldMkLst>
      </pc:sldChg>
      <pc:sldChg chg="add">
        <pc:chgData name="Margarit Meroyan" userId="630a6349-7c61-463e-804c-816773a1019c" providerId="ADAL" clId="{E3EE26F5-3A78-4463-8BC8-6C17834128DD}" dt="2023-12-27T09:11:45.117" v="1"/>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3B4F917E-EE27-C1B8-BDAC-94E9C9EA2B7A}"/>
              </a:ext>
            </a:extLst>
          </p:cNvPr>
          <p:cNvSpPr>
            <a:spLocks noGrp="1" noRot="1" noChangeAspect="1" noChangeArrowheads="1" noTextEdit="1"/>
          </p:cNvSpPr>
          <p:nvPr>
            <p:ph type="sldImg"/>
          </p:nvPr>
        </p:nvSpPr>
        <p:spPr>
          <a:xfrm>
            <a:off x="393700" y="692150"/>
            <a:ext cx="6070600" cy="3416300"/>
          </a:xfrm>
          <a:ln/>
        </p:spPr>
      </p:sp>
      <p:sp>
        <p:nvSpPr>
          <p:cNvPr id="61443" name="Notes Placeholder 2">
            <a:extLst>
              <a:ext uri="{FF2B5EF4-FFF2-40B4-BE49-F238E27FC236}">
                <a16:creationId xmlns:a16="http://schemas.microsoft.com/office/drawing/2014/main" id="{E59FF77C-89C7-F2BC-9BBE-B9492D3F70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B6D2CC4-60C3-4733-B477-E11CB50BBFBA}"/>
              </a:ext>
            </a:extLst>
          </p:cNvPr>
          <p:cNvSpPr>
            <a:spLocks noGrp="1"/>
          </p:cNvSpPr>
          <p:nvPr>
            <p:ph type="sldNum" sz="quarter" idx="5"/>
          </p:nvPr>
        </p:nvSpPr>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fld id="{FE49EC48-BFBE-4701-A667-D45C4A81CEFC}" type="slidenum">
              <a:rPr lang="en-GB" altLang="en-US" sz="1000">
                <a:latin typeface="Times New Roman" panose="02020603050405020304" pitchFamily="18" charset="0"/>
              </a:rPr>
              <a:pPr/>
              <a:t>51</a:t>
            </a:fld>
            <a:endParaRPr lang="en-GB" altLang="en-US" sz="10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solidFill>
                  <a:srgbClr val="0000FF"/>
                </a:solidFill>
              </a:rPr>
              <a:t>Introduction to Verilog</a:t>
            </a:r>
          </a:p>
          <a:p>
            <a:pPr lvl="1"/>
            <a:r>
              <a:rPr lang="en-US" altLang="en-US" sz="1130" dirty="0">
                <a:solidFill>
                  <a:srgbClr val="0000FF"/>
                </a:solidFill>
              </a:rPr>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Introduction to Verilog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A9468CAF-7115-B3C2-6AE5-BD73A569609B}"/>
              </a:ext>
            </a:extLst>
          </p:cNvPr>
          <p:cNvSpPr>
            <a:spLocks noGrp="1" noChangeArrowheads="1"/>
          </p:cNvSpPr>
          <p:nvPr>
            <p:ph type="title"/>
          </p:nvPr>
        </p:nvSpPr>
        <p:spPr/>
        <p:txBody>
          <a:bodyPr/>
          <a:lstStyle/>
          <a:p>
            <a:r>
              <a:rPr lang="en-US" altLang="en-US"/>
              <a:t>Program Structure</a:t>
            </a:r>
            <a:endParaRPr lang="ru-RU" altLang="en-US"/>
          </a:p>
        </p:txBody>
      </p:sp>
      <p:sp>
        <p:nvSpPr>
          <p:cNvPr id="12291" name="Content Placeholder 7">
            <a:extLst>
              <a:ext uri="{FF2B5EF4-FFF2-40B4-BE49-F238E27FC236}">
                <a16:creationId xmlns:a16="http://schemas.microsoft.com/office/drawing/2014/main" id="{44E865BB-9409-A3B1-CABA-1C89F76E8E58}"/>
              </a:ext>
            </a:extLst>
          </p:cNvPr>
          <p:cNvSpPr>
            <a:spLocks noGrp="1" noChangeArrowheads="1"/>
          </p:cNvSpPr>
          <p:nvPr>
            <p:ph type="body" sz="quarter" idx="10"/>
          </p:nvPr>
        </p:nvSpPr>
        <p:spPr/>
        <p:txBody>
          <a:bodyPr/>
          <a:lstStyle/>
          <a:p>
            <a:r>
              <a:rPr lang="en-US" altLang="en-US" dirty="0"/>
              <a:t>Module – the basis unit of design</a:t>
            </a:r>
            <a:endParaRPr lang="ru-RU"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Declarations describe the name and types of the module’s inputs and outputs, as well as local signals, variables, constant and functions that are used internally to the module and are not visible outside. </a:t>
            </a:r>
            <a:endParaRPr lang="ru-RU" altLang="en-US" dirty="0"/>
          </a:p>
          <a:p>
            <a:endParaRPr lang="ru-RU" altLang="en-US" dirty="0"/>
          </a:p>
        </p:txBody>
      </p:sp>
      <p:grpSp>
        <p:nvGrpSpPr>
          <p:cNvPr id="12292" name="Group 8">
            <a:extLst>
              <a:ext uri="{FF2B5EF4-FFF2-40B4-BE49-F238E27FC236}">
                <a16:creationId xmlns:a16="http://schemas.microsoft.com/office/drawing/2014/main" id="{F2831902-2985-878E-F4F6-3BA45CA0213F}"/>
              </a:ext>
            </a:extLst>
          </p:cNvPr>
          <p:cNvGrpSpPr>
            <a:grpSpLocks/>
          </p:cNvGrpSpPr>
          <p:nvPr/>
        </p:nvGrpSpPr>
        <p:grpSpPr bwMode="auto">
          <a:xfrm>
            <a:off x="3908426" y="2057401"/>
            <a:ext cx="4321175" cy="2087563"/>
            <a:chOff x="2384425" y="2260600"/>
            <a:chExt cx="4321175" cy="2087563"/>
          </a:xfrm>
        </p:grpSpPr>
        <p:sp>
          <p:nvSpPr>
            <p:cNvPr id="7173" name="Rectangle 6">
              <a:extLst>
                <a:ext uri="{FF2B5EF4-FFF2-40B4-BE49-F238E27FC236}">
                  <a16:creationId xmlns:a16="http://schemas.microsoft.com/office/drawing/2014/main" id="{7DAF2A51-AA39-44D6-B964-A83700B4CCC7}"/>
                </a:ext>
              </a:extLst>
            </p:cNvPr>
            <p:cNvSpPr>
              <a:spLocks noChangeArrowheads="1"/>
            </p:cNvSpPr>
            <p:nvPr/>
          </p:nvSpPr>
          <p:spPr bwMode="auto">
            <a:xfrm>
              <a:off x="2384425" y="2260600"/>
              <a:ext cx="4321175" cy="2087563"/>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8197" name="Rectangle 7">
              <a:extLst>
                <a:ext uri="{FF2B5EF4-FFF2-40B4-BE49-F238E27FC236}">
                  <a16:creationId xmlns:a16="http://schemas.microsoft.com/office/drawing/2014/main" id="{6F05009C-58F8-4E10-9E17-ABF3E8C2CD2D}"/>
                </a:ext>
              </a:extLst>
            </p:cNvPr>
            <p:cNvSpPr>
              <a:spLocks noChangeArrowheads="1"/>
            </p:cNvSpPr>
            <p:nvPr/>
          </p:nvSpPr>
          <p:spPr bwMode="auto">
            <a:xfrm>
              <a:off x="2889250" y="2573338"/>
              <a:ext cx="3240088" cy="576262"/>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a:t>declarations</a:t>
              </a:r>
              <a:endParaRPr lang="ru-RU"/>
            </a:p>
          </p:txBody>
        </p:sp>
        <p:sp>
          <p:nvSpPr>
            <p:cNvPr id="8198" name="Rectangle 8">
              <a:extLst>
                <a:ext uri="{FF2B5EF4-FFF2-40B4-BE49-F238E27FC236}">
                  <a16:creationId xmlns:a16="http://schemas.microsoft.com/office/drawing/2014/main" id="{84BE0161-7C14-4E03-A779-657CCEF93336}"/>
                </a:ext>
              </a:extLst>
            </p:cNvPr>
            <p:cNvSpPr>
              <a:spLocks noChangeArrowheads="1"/>
            </p:cNvSpPr>
            <p:nvPr/>
          </p:nvSpPr>
          <p:spPr bwMode="auto">
            <a:xfrm>
              <a:off x="2889250" y="3365500"/>
              <a:ext cx="3240088" cy="792163"/>
            </a:xfrm>
            <a:prstGeom prst="rect">
              <a:avLst/>
            </a:prstGeom>
            <a:solidFill>
              <a:schemeClr val="accent5"/>
            </a:solidFill>
            <a:ln w="9525">
              <a:solidFill>
                <a:schemeClr val="tx1"/>
              </a:solidFill>
              <a:miter lim="800000"/>
              <a:headEnd/>
              <a:tailEnd/>
            </a:ln>
          </p:spPr>
          <p:txBody>
            <a:bodyPr wrap="none" anchor="ctr"/>
            <a:lstStyle/>
            <a:p>
              <a:pPr algn="ctr" eaLnBrk="1" hangingPunct="1">
                <a:defRPr/>
              </a:pPr>
              <a:r>
                <a:rPr lang="en-US" dirty="0"/>
                <a:t>statements</a:t>
              </a:r>
              <a:endParaRPr lang="ru-RU"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4">
            <a:extLst>
              <a:ext uri="{FF2B5EF4-FFF2-40B4-BE49-F238E27FC236}">
                <a16:creationId xmlns:a16="http://schemas.microsoft.com/office/drawing/2014/main" id="{D639F085-07A7-6E50-6C52-2352576D993A}"/>
              </a:ext>
            </a:extLst>
          </p:cNvPr>
          <p:cNvSpPr>
            <a:spLocks noGrp="1" noChangeArrowheads="1"/>
          </p:cNvSpPr>
          <p:nvPr>
            <p:ph type="title"/>
          </p:nvPr>
        </p:nvSpPr>
        <p:spPr/>
        <p:txBody>
          <a:bodyPr>
            <a:normAutofit/>
          </a:bodyPr>
          <a:lstStyle/>
          <a:p>
            <a:r>
              <a:rPr lang="en-US" altLang="en-US" dirty="0"/>
              <a:t>Module</a:t>
            </a:r>
            <a:endParaRPr lang="ru-RU" altLang="en-US" dirty="0"/>
          </a:p>
        </p:txBody>
      </p:sp>
      <p:sp>
        <p:nvSpPr>
          <p:cNvPr id="13315" name="Content Placeholder 5">
            <a:extLst>
              <a:ext uri="{FF2B5EF4-FFF2-40B4-BE49-F238E27FC236}">
                <a16:creationId xmlns:a16="http://schemas.microsoft.com/office/drawing/2014/main" id="{88E60AA3-433F-BC97-2F64-FA7D91B2C553}"/>
              </a:ext>
            </a:extLst>
          </p:cNvPr>
          <p:cNvSpPr>
            <a:spLocks noGrp="1" noChangeArrowheads="1"/>
          </p:cNvSpPr>
          <p:nvPr>
            <p:ph type="body" sz="quarter" idx="10"/>
          </p:nvPr>
        </p:nvSpPr>
        <p:spPr/>
        <p:txBody>
          <a:bodyPr/>
          <a:lstStyle/>
          <a:p>
            <a:r>
              <a:rPr lang="en-US" altLang="en-US"/>
              <a:t>A module is the basic building block in Verilog</a:t>
            </a:r>
          </a:p>
          <a:p>
            <a:r>
              <a:rPr lang="en-US" altLang="en-US"/>
              <a:t>Can be an element or a collection of lower-level design blocks</a:t>
            </a:r>
          </a:p>
          <a:p>
            <a:r>
              <a:rPr lang="en-US" altLang="en-US"/>
              <a:t>Provides necessary functionality to the higher level block through its port interface (I/Os)</a:t>
            </a:r>
          </a:p>
          <a:p>
            <a:r>
              <a:rPr lang="en-US" altLang="en-US"/>
              <a:t>Hides the internal implementation</a:t>
            </a:r>
          </a:p>
          <a:p>
            <a:endParaRPr lang="en-US" altLang="en-US"/>
          </a:p>
          <a:p>
            <a:endParaRPr lang="en-US" altLang="en-US"/>
          </a:p>
          <a:p>
            <a:endParaRPr lang="ru-RU" altLang="en-US"/>
          </a:p>
          <a:p>
            <a:endParaRPr lang="ru-RU"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itle 37">
            <a:extLst>
              <a:ext uri="{FF2B5EF4-FFF2-40B4-BE49-F238E27FC236}">
                <a16:creationId xmlns:a16="http://schemas.microsoft.com/office/drawing/2014/main" id="{1E662944-7A10-7495-5404-FCBCBC51FFEF}"/>
              </a:ext>
            </a:extLst>
          </p:cNvPr>
          <p:cNvSpPr>
            <a:spLocks noGrp="1" noChangeArrowheads="1"/>
          </p:cNvSpPr>
          <p:nvPr>
            <p:ph type="title"/>
          </p:nvPr>
        </p:nvSpPr>
        <p:spPr/>
        <p:txBody>
          <a:bodyPr>
            <a:normAutofit/>
          </a:bodyPr>
          <a:lstStyle/>
          <a:p>
            <a:r>
              <a:rPr lang="en-US" altLang="en-US" dirty="0"/>
              <a:t>Hierarchy Structure of Modules</a:t>
            </a:r>
            <a:endParaRPr lang="ru-RU" altLang="en-US" dirty="0"/>
          </a:p>
        </p:txBody>
      </p:sp>
      <p:sp>
        <p:nvSpPr>
          <p:cNvPr id="14338" name="Content Placeholder 38">
            <a:extLst>
              <a:ext uri="{FF2B5EF4-FFF2-40B4-BE49-F238E27FC236}">
                <a16:creationId xmlns:a16="http://schemas.microsoft.com/office/drawing/2014/main" id="{B9579DA4-B3C7-B2D6-BD5B-D104D36846AA}"/>
              </a:ext>
            </a:extLst>
          </p:cNvPr>
          <p:cNvSpPr>
            <a:spLocks noGrp="1" noChangeArrowheads="1"/>
          </p:cNvSpPr>
          <p:nvPr>
            <p:ph type="body" sz="quarter" idx="10"/>
          </p:nvPr>
        </p:nvSpPr>
        <p:spPr/>
        <p:txBody>
          <a:bodyPr/>
          <a:lstStyle/>
          <a:p>
            <a:pPr marL="0" indent="0">
              <a:buNone/>
            </a:pPr>
            <a:r>
              <a:rPr lang="en-US" altLang="en-US" dirty="0"/>
              <a:t>                   module A </a:t>
            </a:r>
          </a:p>
          <a:p>
            <a:pPr marL="0" indent="0">
              <a:buNone/>
            </a:pPr>
            <a:endParaRPr lang="en-US" altLang="en-US" dirty="0"/>
          </a:p>
          <a:p>
            <a:pPr marL="0" indent="0">
              <a:buNone/>
            </a:pPr>
            <a:endParaRPr lang="en-US" altLang="en-US" dirty="0"/>
          </a:p>
          <a:p>
            <a:pPr marL="0" indent="0">
              <a:buNone/>
            </a:pPr>
            <a:r>
              <a:rPr lang="en-US" altLang="en-US" dirty="0"/>
              <a:t>       module B                                                                    module D</a:t>
            </a:r>
            <a:endParaRPr lang="ru-RU" altLang="en-US" dirty="0"/>
          </a:p>
          <a:p>
            <a:pPr marL="0" indent="0">
              <a:buNone/>
            </a:pPr>
            <a:endParaRPr lang="ru-RU" altLang="en-US" dirty="0"/>
          </a:p>
          <a:p>
            <a:pPr marL="0" indent="0">
              <a:buNone/>
            </a:pPr>
            <a:endParaRPr lang="ru-RU"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r>
              <a:rPr lang="en-US" altLang="en-US" dirty="0"/>
              <a:t>                   module G                                                                module E</a:t>
            </a:r>
            <a:endParaRPr lang="ru-RU" altLang="en-US" dirty="0"/>
          </a:p>
          <a:p>
            <a:endParaRPr lang="ru-RU" altLang="en-US" dirty="0"/>
          </a:p>
          <a:p>
            <a:endParaRPr lang="ru-RU" altLang="en-US" dirty="0"/>
          </a:p>
        </p:txBody>
      </p:sp>
      <p:grpSp>
        <p:nvGrpSpPr>
          <p:cNvPr id="14339" name="Group 34">
            <a:extLst>
              <a:ext uri="{FF2B5EF4-FFF2-40B4-BE49-F238E27FC236}">
                <a16:creationId xmlns:a16="http://schemas.microsoft.com/office/drawing/2014/main" id="{9EC11346-1783-867E-18CC-9664EDB915F8}"/>
              </a:ext>
            </a:extLst>
          </p:cNvPr>
          <p:cNvGrpSpPr>
            <a:grpSpLocks/>
          </p:cNvGrpSpPr>
          <p:nvPr/>
        </p:nvGrpSpPr>
        <p:grpSpPr bwMode="auto">
          <a:xfrm>
            <a:off x="2503488" y="1676401"/>
            <a:ext cx="6792912" cy="3929063"/>
            <a:chOff x="762000" y="1600200"/>
            <a:chExt cx="6963366" cy="4267200"/>
          </a:xfrm>
        </p:grpSpPr>
        <p:sp>
          <p:nvSpPr>
            <p:cNvPr id="14341" name="Rectangle 5">
              <a:extLst>
                <a:ext uri="{FF2B5EF4-FFF2-40B4-BE49-F238E27FC236}">
                  <a16:creationId xmlns:a16="http://schemas.microsoft.com/office/drawing/2014/main" id="{311DA667-A3BC-5B7F-569B-368AAD60AFD6}"/>
                </a:ext>
              </a:extLst>
            </p:cNvPr>
            <p:cNvSpPr>
              <a:spLocks noChangeArrowheads="1"/>
            </p:cNvSpPr>
            <p:nvPr/>
          </p:nvSpPr>
          <p:spPr bwMode="auto">
            <a:xfrm>
              <a:off x="2895005" y="1600200"/>
              <a:ext cx="2890024" cy="1285441"/>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4342" name="Rectangle 6">
              <a:extLst>
                <a:ext uri="{FF2B5EF4-FFF2-40B4-BE49-F238E27FC236}">
                  <a16:creationId xmlns:a16="http://schemas.microsoft.com/office/drawing/2014/main" id="{78BD0AFC-6BBB-6E53-D160-25F6B2BFBBD5}"/>
                </a:ext>
              </a:extLst>
            </p:cNvPr>
            <p:cNvSpPr>
              <a:spLocks noChangeArrowheads="1"/>
            </p:cNvSpPr>
            <p:nvPr/>
          </p:nvSpPr>
          <p:spPr bwMode="auto">
            <a:xfrm>
              <a:off x="762000" y="3178020"/>
              <a:ext cx="1788629" cy="1227481"/>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246" name="Rectangle 9">
              <a:extLst>
                <a:ext uri="{FF2B5EF4-FFF2-40B4-BE49-F238E27FC236}">
                  <a16:creationId xmlns:a16="http://schemas.microsoft.com/office/drawing/2014/main" id="{13E72DC8-F76F-49DF-9F56-531FF0C37189}"/>
                </a:ext>
              </a:extLst>
            </p:cNvPr>
            <p:cNvSpPr>
              <a:spLocks noChangeArrowheads="1"/>
            </p:cNvSpPr>
            <p:nvPr/>
          </p:nvSpPr>
          <p:spPr bwMode="auto">
            <a:xfrm>
              <a:off x="3307152" y="1717440"/>
              <a:ext cx="2135064" cy="291377"/>
            </a:xfrm>
            <a:prstGeom prst="rect">
              <a:avLst/>
            </a:prstGeom>
            <a:solidFill>
              <a:schemeClr val="accent1">
                <a:lumMod val="20000"/>
                <a:lumOff val="80000"/>
              </a:schemeClr>
            </a:solidFill>
            <a:ln w="9525">
              <a:noFill/>
              <a:miter lim="800000"/>
              <a:headEnd/>
              <a:tailEnd/>
            </a:ln>
          </p:spPr>
          <p:txBody>
            <a:bodyPr wrap="none" anchor="ctr"/>
            <a:lstStyle/>
            <a:p>
              <a:pPr algn="ctr" eaLnBrk="1" hangingPunct="1">
                <a:defRPr/>
              </a:pPr>
              <a:r>
                <a:rPr lang="en-US" dirty="0"/>
                <a:t>Declarations</a:t>
              </a:r>
              <a:endParaRPr lang="ru-RU" dirty="0"/>
            </a:p>
          </p:txBody>
        </p:sp>
        <p:sp>
          <p:nvSpPr>
            <p:cNvPr id="10247" name="Rectangle 11">
              <a:extLst>
                <a:ext uri="{FF2B5EF4-FFF2-40B4-BE49-F238E27FC236}">
                  <a16:creationId xmlns:a16="http://schemas.microsoft.com/office/drawing/2014/main" id="{BBE82D0B-25F0-4D9E-A08F-2AF675539E2A}"/>
                </a:ext>
              </a:extLst>
            </p:cNvPr>
            <p:cNvSpPr>
              <a:spLocks noChangeArrowheads="1"/>
            </p:cNvSpPr>
            <p:nvPr/>
          </p:nvSpPr>
          <p:spPr bwMode="auto">
            <a:xfrm>
              <a:off x="885677" y="3701904"/>
              <a:ext cx="1445073" cy="565512"/>
            </a:xfrm>
            <a:prstGeom prst="rect">
              <a:avLst/>
            </a:prstGeom>
            <a:solidFill>
              <a:schemeClr val="accent1">
                <a:lumMod val="60000"/>
                <a:lumOff val="40000"/>
              </a:schemeClr>
            </a:solidFill>
            <a:ln w="9525">
              <a:noFill/>
              <a:miter lim="800000"/>
              <a:headEnd/>
              <a:tailEnd/>
            </a:ln>
          </p:spPr>
          <p:txBody>
            <a:bodyPr wrap="none"/>
            <a:lstStyle/>
            <a:p>
              <a:pPr algn="ctr" eaLnBrk="1" hangingPunct="1">
                <a:defRPr/>
              </a:pPr>
              <a:r>
                <a:rPr lang="en-US" dirty="0"/>
                <a:t>Statements</a:t>
              </a:r>
            </a:p>
            <a:p>
              <a:pPr algn="ctr" eaLnBrk="1" hangingPunct="1">
                <a:defRPr/>
              </a:pPr>
              <a:r>
                <a:rPr lang="en-US" dirty="0">
                  <a:sym typeface="Symbol" pitchFamily="18" charset="2"/>
                </a:rPr>
                <a:t>     </a:t>
              </a:r>
            </a:p>
          </p:txBody>
        </p:sp>
        <p:sp>
          <p:nvSpPr>
            <p:cNvPr id="10248" name="Rectangle 13">
              <a:extLst>
                <a:ext uri="{FF2B5EF4-FFF2-40B4-BE49-F238E27FC236}">
                  <a16:creationId xmlns:a16="http://schemas.microsoft.com/office/drawing/2014/main" id="{9950E08E-5805-4946-9DA8-B1A62F2853EE}"/>
                </a:ext>
              </a:extLst>
            </p:cNvPr>
            <p:cNvSpPr>
              <a:spLocks noChangeArrowheads="1"/>
            </p:cNvSpPr>
            <p:nvPr/>
          </p:nvSpPr>
          <p:spPr bwMode="auto">
            <a:xfrm>
              <a:off x="954026" y="3282942"/>
              <a:ext cx="1376725" cy="291377"/>
            </a:xfrm>
            <a:prstGeom prst="rect">
              <a:avLst/>
            </a:prstGeom>
            <a:solidFill>
              <a:schemeClr val="accent1">
                <a:lumMod val="20000"/>
                <a:lumOff val="80000"/>
              </a:schemeClr>
            </a:solidFill>
            <a:ln w="9525">
              <a:noFill/>
              <a:miter lim="800000"/>
              <a:headEnd/>
              <a:tailEnd/>
            </a:ln>
          </p:spPr>
          <p:txBody>
            <a:bodyPr wrap="none" anchor="ctr"/>
            <a:lstStyle/>
            <a:p>
              <a:pPr algn="ctr" eaLnBrk="1" hangingPunct="1">
                <a:defRPr/>
              </a:pPr>
              <a:r>
                <a:rPr lang="en-US" dirty="0"/>
                <a:t>Declarations</a:t>
              </a:r>
              <a:endParaRPr lang="ru-RU" dirty="0"/>
            </a:p>
          </p:txBody>
        </p:sp>
        <p:sp>
          <p:nvSpPr>
            <p:cNvPr id="10249" name="Rectangle 21">
              <a:extLst>
                <a:ext uri="{FF2B5EF4-FFF2-40B4-BE49-F238E27FC236}">
                  <a16:creationId xmlns:a16="http://schemas.microsoft.com/office/drawing/2014/main" id="{7BE6B5E4-B640-414E-965A-613987D16C8D}"/>
                </a:ext>
              </a:extLst>
            </p:cNvPr>
            <p:cNvSpPr>
              <a:spLocks noChangeArrowheads="1"/>
            </p:cNvSpPr>
            <p:nvPr/>
          </p:nvSpPr>
          <p:spPr bwMode="auto">
            <a:xfrm>
              <a:off x="3238804" y="2126057"/>
              <a:ext cx="2135064" cy="584476"/>
            </a:xfrm>
            <a:prstGeom prst="rect">
              <a:avLst/>
            </a:prstGeom>
            <a:solidFill>
              <a:schemeClr val="accent1">
                <a:lumMod val="60000"/>
                <a:lumOff val="40000"/>
              </a:schemeClr>
            </a:solidFill>
            <a:ln w="9525">
              <a:noFill/>
              <a:miter lim="800000"/>
              <a:headEnd/>
              <a:tailEnd/>
            </a:ln>
          </p:spPr>
          <p:txBody>
            <a:bodyPr wrap="none"/>
            <a:lstStyle/>
            <a:p>
              <a:pPr eaLnBrk="1" hangingPunct="1">
                <a:defRPr/>
              </a:pPr>
              <a:r>
                <a:rPr lang="en-US"/>
                <a:t>Statements</a:t>
              </a:r>
            </a:p>
            <a:p>
              <a:pPr eaLnBrk="1" hangingPunct="1">
                <a:defRPr/>
              </a:pPr>
              <a:r>
                <a:rPr lang="en-US">
                  <a:sym typeface="Symbol" pitchFamily="18" charset="2"/>
                </a:rPr>
                <a:t>                 </a:t>
              </a:r>
            </a:p>
          </p:txBody>
        </p:sp>
        <p:sp>
          <p:nvSpPr>
            <p:cNvPr id="14347" name="Line 22">
              <a:extLst>
                <a:ext uri="{FF2B5EF4-FFF2-40B4-BE49-F238E27FC236}">
                  <a16:creationId xmlns:a16="http://schemas.microsoft.com/office/drawing/2014/main" id="{46A1982C-FE73-358E-CE5B-E90E96235FAE}"/>
                </a:ext>
              </a:extLst>
            </p:cNvPr>
            <p:cNvSpPr>
              <a:spLocks noChangeShapeType="1"/>
            </p:cNvSpPr>
            <p:nvPr/>
          </p:nvSpPr>
          <p:spPr bwMode="auto">
            <a:xfrm flipH="1">
              <a:off x="1863394" y="2666999"/>
              <a:ext cx="1946605" cy="5110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8" name="Line 23">
              <a:extLst>
                <a:ext uri="{FF2B5EF4-FFF2-40B4-BE49-F238E27FC236}">
                  <a16:creationId xmlns:a16="http://schemas.microsoft.com/office/drawing/2014/main" id="{08DDDF2B-7CE4-58E8-9494-B2705668AD45}"/>
                </a:ext>
              </a:extLst>
            </p:cNvPr>
            <p:cNvSpPr>
              <a:spLocks noChangeShapeType="1"/>
            </p:cNvSpPr>
            <p:nvPr/>
          </p:nvSpPr>
          <p:spPr bwMode="auto">
            <a:xfrm flipH="1">
              <a:off x="4064668" y="2666999"/>
              <a:ext cx="202532" cy="5110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9" name="Line 24">
              <a:extLst>
                <a:ext uri="{FF2B5EF4-FFF2-40B4-BE49-F238E27FC236}">
                  <a16:creationId xmlns:a16="http://schemas.microsoft.com/office/drawing/2014/main" id="{BE7209E9-1B1E-5BB7-7894-39526BE8BF6F}"/>
                </a:ext>
              </a:extLst>
            </p:cNvPr>
            <p:cNvSpPr>
              <a:spLocks noChangeShapeType="1"/>
            </p:cNvSpPr>
            <p:nvPr/>
          </p:nvSpPr>
          <p:spPr bwMode="auto">
            <a:xfrm>
              <a:off x="4800599" y="2666999"/>
              <a:ext cx="2116165" cy="5303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0" name="Rectangle 25">
              <a:extLst>
                <a:ext uri="{FF2B5EF4-FFF2-40B4-BE49-F238E27FC236}">
                  <a16:creationId xmlns:a16="http://schemas.microsoft.com/office/drawing/2014/main" id="{970AD273-21F9-416A-21E6-7A5E2F2ADB32}"/>
                </a:ext>
              </a:extLst>
            </p:cNvPr>
            <p:cNvSpPr>
              <a:spLocks noChangeArrowheads="1"/>
            </p:cNvSpPr>
            <p:nvPr/>
          </p:nvSpPr>
          <p:spPr bwMode="auto">
            <a:xfrm>
              <a:off x="3210556" y="3178020"/>
              <a:ext cx="1788629" cy="1227481"/>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254" name="Rectangle 26">
              <a:extLst>
                <a:ext uri="{FF2B5EF4-FFF2-40B4-BE49-F238E27FC236}">
                  <a16:creationId xmlns:a16="http://schemas.microsoft.com/office/drawing/2014/main" id="{4FAC0C77-6510-4038-B4A2-562403DF9671}"/>
                </a:ext>
              </a:extLst>
            </p:cNvPr>
            <p:cNvSpPr>
              <a:spLocks noChangeArrowheads="1"/>
            </p:cNvSpPr>
            <p:nvPr/>
          </p:nvSpPr>
          <p:spPr bwMode="auto">
            <a:xfrm>
              <a:off x="3334816" y="3701904"/>
              <a:ext cx="1445073" cy="565512"/>
            </a:xfrm>
            <a:prstGeom prst="rect">
              <a:avLst/>
            </a:prstGeom>
            <a:solidFill>
              <a:schemeClr val="accent1">
                <a:lumMod val="60000"/>
                <a:lumOff val="40000"/>
              </a:schemeClr>
            </a:solidFill>
            <a:ln w="9525">
              <a:noFill/>
              <a:miter lim="800000"/>
              <a:headEnd/>
              <a:tailEnd/>
            </a:ln>
          </p:spPr>
          <p:txBody>
            <a:bodyPr wrap="none"/>
            <a:lstStyle/>
            <a:p>
              <a:pPr algn="ctr" eaLnBrk="1" hangingPunct="1">
                <a:defRPr/>
              </a:pPr>
              <a:r>
                <a:rPr lang="en-US" dirty="0"/>
                <a:t>Statements</a:t>
              </a:r>
            </a:p>
            <a:p>
              <a:pPr algn="ctr" eaLnBrk="1" hangingPunct="1">
                <a:defRPr/>
              </a:pPr>
              <a:r>
                <a:rPr lang="en-US" dirty="0">
                  <a:sym typeface="Symbol" pitchFamily="18" charset="2"/>
                </a:rPr>
                <a:t>     </a:t>
              </a:r>
            </a:p>
          </p:txBody>
        </p:sp>
        <p:sp>
          <p:nvSpPr>
            <p:cNvPr id="10255" name="Rectangle 27">
              <a:extLst>
                <a:ext uri="{FF2B5EF4-FFF2-40B4-BE49-F238E27FC236}">
                  <a16:creationId xmlns:a16="http://schemas.microsoft.com/office/drawing/2014/main" id="{A92ED063-5C33-44F3-9A14-C4AA074115F4}"/>
                </a:ext>
              </a:extLst>
            </p:cNvPr>
            <p:cNvSpPr>
              <a:spLocks noChangeArrowheads="1"/>
            </p:cNvSpPr>
            <p:nvPr/>
          </p:nvSpPr>
          <p:spPr bwMode="auto">
            <a:xfrm>
              <a:off x="3403164" y="3282942"/>
              <a:ext cx="1376725" cy="291377"/>
            </a:xfrm>
            <a:prstGeom prst="rect">
              <a:avLst/>
            </a:prstGeom>
            <a:solidFill>
              <a:schemeClr val="accent1">
                <a:lumMod val="20000"/>
                <a:lumOff val="80000"/>
              </a:schemeClr>
            </a:solidFill>
            <a:ln w="9525">
              <a:noFill/>
              <a:miter lim="800000"/>
              <a:headEnd/>
              <a:tailEnd/>
            </a:ln>
          </p:spPr>
          <p:txBody>
            <a:bodyPr wrap="none" anchor="ctr"/>
            <a:lstStyle/>
            <a:p>
              <a:pPr algn="ctr" eaLnBrk="1" hangingPunct="1">
                <a:defRPr/>
              </a:pPr>
              <a:r>
                <a:rPr lang="en-US"/>
                <a:t>Declarations</a:t>
              </a:r>
              <a:endParaRPr lang="ru-RU"/>
            </a:p>
          </p:txBody>
        </p:sp>
        <p:sp>
          <p:nvSpPr>
            <p:cNvPr id="14353" name="Rectangle 28">
              <a:extLst>
                <a:ext uri="{FF2B5EF4-FFF2-40B4-BE49-F238E27FC236}">
                  <a16:creationId xmlns:a16="http://schemas.microsoft.com/office/drawing/2014/main" id="{C2D2971C-E1EF-055E-7039-B4CFAAD217D4}"/>
                </a:ext>
              </a:extLst>
            </p:cNvPr>
            <p:cNvSpPr>
              <a:spLocks noChangeArrowheads="1"/>
            </p:cNvSpPr>
            <p:nvPr/>
          </p:nvSpPr>
          <p:spPr bwMode="auto">
            <a:xfrm>
              <a:off x="5936736" y="3188325"/>
              <a:ext cx="1788630" cy="1227481"/>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257" name="Rectangle 29">
              <a:extLst>
                <a:ext uri="{FF2B5EF4-FFF2-40B4-BE49-F238E27FC236}">
                  <a16:creationId xmlns:a16="http://schemas.microsoft.com/office/drawing/2014/main" id="{D70BB65D-ACC8-4E78-8C4D-BA2ECBB09AD3}"/>
                </a:ext>
              </a:extLst>
            </p:cNvPr>
            <p:cNvSpPr>
              <a:spLocks noChangeArrowheads="1"/>
            </p:cNvSpPr>
            <p:nvPr/>
          </p:nvSpPr>
          <p:spPr bwMode="auto">
            <a:xfrm>
              <a:off x="6060603" y="3712249"/>
              <a:ext cx="1445073" cy="631028"/>
            </a:xfrm>
            <a:prstGeom prst="rect">
              <a:avLst/>
            </a:prstGeom>
            <a:solidFill>
              <a:schemeClr val="accent1">
                <a:lumMod val="60000"/>
                <a:lumOff val="40000"/>
              </a:schemeClr>
            </a:solidFill>
            <a:ln w="9525">
              <a:noFill/>
              <a:miter lim="800000"/>
              <a:headEnd/>
              <a:tailEnd/>
            </a:ln>
          </p:spPr>
          <p:txBody>
            <a:bodyPr wrap="none"/>
            <a:lstStyle/>
            <a:p>
              <a:pPr algn="ctr" eaLnBrk="1" hangingPunct="1">
                <a:defRPr/>
              </a:pPr>
              <a:r>
                <a:rPr lang="en-US" dirty="0"/>
                <a:t>Statements</a:t>
              </a:r>
            </a:p>
            <a:p>
              <a:pPr algn="ctr" eaLnBrk="1" hangingPunct="1">
                <a:defRPr/>
              </a:pPr>
              <a:r>
                <a:rPr lang="en-US" dirty="0">
                  <a:sym typeface="Symbol" pitchFamily="18" charset="2"/>
                </a:rPr>
                <a:t>     </a:t>
              </a:r>
            </a:p>
          </p:txBody>
        </p:sp>
        <p:sp>
          <p:nvSpPr>
            <p:cNvPr id="10258" name="Rectangle 30">
              <a:extLst>
                <a:ext uri="{FF2B5EF4-FFF2-40B4-BE49-F238E27FC236}">
                  <a16:creationId xmlns:a16="http://schemas.microsoft.com/office/drawing/2014/main" id="{2CCCCC69-F435-467E-B8C9-027E2F4308F6}"/>
                </a:ext>
              </a:extLst>
            </p:cNvPr>
            <p:cNvSpPr>
              <a:spLocks noChangeArrowheads="1"/>
            </p:cNvSpPr>
            <p:nvPr/>
          </p:nvSpPr>
          <p:spPr bwMode="auto">
            <a:xfrm>
              <a:off x="6128951" y="3293287"/>
              <a:ext cx="1376725" cy="291377"/>
            </a:xfrm>
            <a:prstGeom prst="rect">
              <a:avLst/>
            </a:prstGeom>
            <a:solidFill>
              <a:schemeClr val="accent1">
                <a:lumMod val="20000"/>
                <a:lumOff val="80000"/>
              </a:schemeClr>
            </a:solidFill>
            <a:ln w="9525">
              <a:noFill/>
              <a:miter lim="800000"/>
              <a:headEnd/>
              <a:tailEnd/>
            </a:ln>
          </p:spPr>
          <p:txBody>
            <a:bodyPr wrap="none" anchor="ctr"/>
            <a:lstStyle/>
            <a:p>
              <a:pPr algn="ctr" eaLnBrk="1" hangingPunct="1">
                <a:defRPr/>
              </a:pPr>
              <a:r>
                <a:rPr lang="en-US"/>
                <a:t>Declarations</a:t>
              </a:r>
              <a:endParaRPr lang="ru-RU"/>
            </a:p>
          </p:txBody>
        </p:sp>
        <p:sp>
          <p:nvSpPr>
            <p:cNvPr id="14356" name="Rectangle 31">
              <a:extLst>
                <a:ext uri="{FF2B5EF4-FFF2-40B4-BE49-F238E27FC236}">
                  <a16:creationId xmlns:a16="http://schemas.microsoft.com/office/drawing/2014/main" id="{599562F7-05A0-8F58-32C5-7A175B40F52F}"/>
                </a:ext>
              </a:extLst>
            </p:cNvPr>
            <p:cNvSpPr>
              <a:spLocks noChangeArrowheads="1"/>
            </p:cNvSpPr>
            <p:nvPr/>
          </p:nvSpPr>
          <p:spPr bwMode="auto">
            <a:xfrm>
              <a:off x="3114980" y="4616736"/>
              <a:ext cx="1788630" cy="1227480"/>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260" name="Rectangle 32">
              <a:extLst>
                <a:ext uri="{FF2B5EF4-FFF2-40B4-BE49-F238E27FC236}">
                  <a16:creationId xmlns:a16="http://schemas.microsoft.com/office/drawing/2014/main" id="{5EAE113F-2549-41DD-85EC-2D6D549FBD43}"/>
                </a:ext>
              </a:extLst>
            </p:cNvPr>
            <p:cNvSpPr>
              <a:spLocks noChangeArrowheads="1"/>
            </p:cNvSpPr>
            <p:nvPr/>
          </p:nvSpPr>
          <p:spPr bwMode="auto">
            <a:xfrm>
              <a:off x="3238804" y="5141545"/>
              <a:ext cx="1445073" cy="649994"/>
            </a:xfrm>
            <a:prstGeom prst="rect">
              <a:avLst/>
            </a:prstGeom>
            <a:solidFill>
              <a:schemeClr val="accent1">
                <a:lumMod val="60000"/>
                <a:lumOff val="40000"/>
              </a:schemeClr>
            </a:solidFill>
            <a:ln w="9525">
              <a:noFill/>
              <a:miter lim="800000"/>
              <a:headEnd/>
              <a:tailEnd/>
            </a:ln>
          </p:spPr>
          <p:txBody>
            <a:bodyPr wrap="none"/>
            <a:lstStyle/>
            <a:p>
              <a:pPr algn="ctr" eaLnBrk="1" hangingPunct="1">
                <a:defRPr/>
              </a:pPr>
              <a:r>
                <a:rPr lang="en-US" dirty="0"/>
                <a:t>Statements</a:t>
              </a:r>
            </a:p>
            <a:p>
              <a:pPr algn="ctr" eaLnBrk="1" hangingPunct="1">
                <a:defRPr/>
              </a:pPr>
              <a:r>
                <a:rPr lang="en-US" dirty="0">
                  <a:sym typeface="Symbol" pitchFamily="18" charset="2"/>
                </a:rPr>
                <a:t>     </a:t>
              </a:r>
            </a:p>
          </p:txBody>
        </p:sp>
        <p:sp>
          <p:nvSpPr>
            <p:cNvPr id="10261" name="Rectangle 33">
              <a:extLst>
                <a:ext uri="{FF2B5EF4-FFF2-40B4-BE49-F238E27FC236}">
                  <a16:creationId xmlns:a16="http://schemas.microsoft.com/office/drawing/2014/main" id="{47965770-C114-4EEC-9DAF-D1923E782ED1}"/>
                </a:ext>
              </a:extLst>
            </p:cNvPr>
            <p:cNvSpPr>
              <a:spLocks noChangeArrowheads="1"/>
            </p:cNvSpPr>
            <p:nvPr/>
          </p:nvSpPr>
          <p:spPr bwMode="auto">
            <a:xfrm>
              <a:off x="3307152" y="4722584"/>
              <a:ext cx="1376725" cy="291376"/>
            </a:xfrm>
            <a:prstGeom prst="rect">
              <a:avLst/>
            </a:prstGeom>
            <a:solidFill>
              <a:schemeClr val="accent1">
                <a:lumMod val="20000"/>
                <a:lumOff val="80000"/>
              </a:schemeClr>
            </a:solidFill>
            <a:ln w="9525">
              <a:noFill/>
              <a:miter lim="800000"/>
              <a:headEnd/>
              <a:tailEnd/>
            </a:ln>
          </p:spPr>
          <p:txBody>
            <a:bodyPr wrap="none" anchor="ctr"/>
            <a:lstStyle/>
            <a:p>
              <a:pPr algn="ctr" eaLnBrk="1" hangingPunct="1">
                <a:defRPr/>
              </a:pPr>
              <a:r>
                <a:rPr lang="en-US"/>
                <a:t>Declarations</a:t>
              </a:r>
              <a:endParaRPr lang="ru-RU"/>
            </a:p>
          </p:txBody>
        </p:sp>
        <p:sp>
          <p:nvSpPr>
            <p:cNvPr id="14359" name="Rectangle 34">
              <a:extLst>
                <a:ext uri="{FF2B5EF4-FFF2-40B4-BE49-F238E27FC236}">
                  <a16:creationId xmlns:a16="http://schemas.microsoft.com/office/drawing/2014/main" id="{463EB57B-5C76-796C-9544-E1504373A7A9}"/>
                </a:ext>
              </a:extLst>
            </p:cNvPr>
            <p:cNvSpPr>
              <a:spLocks noChangeArrowheads="1"/>
            </p:cNvSpPr>
            <p:nvPr/>
          </p:nvSpPr>
          <p:spPr bwMode="auto">
            <a:xfrm>
              <a:off x="5524092" y="4639920"/>
              <a:ext cx="1788630" cy="1227480"/>
            </a:xfrm>
            <a:prstGeom prst="rect">
              <a:avLst/>
            </a:prstGeom>
            <a:solidFill>
              <a:schemeClr val="accent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263" name="Rectangle 35">
              <a:extLst>
                <a:ext uri="{FF2B5EF4-FFF2-40B4-BE49-F238E27FC236}">
                  <a16:creationId xmlns:a16="http://schemas.microsoft.com/office/drawing/2014/main" id="{ADA6A783-30DA-472C-AFA8-3451EFBAA84E}"/>
                </a:ext>
              </a:extLst>
            </p:cNvPr>
            <p:cNvSpPr>
              <a:spLocks noChangeArrowheads="1"/>
            </p:cNvSpPr>
            <p:nvPr/>
          </p:nvSpPr>
          <p:spPr bwMode="auto">
            <a:xfrm>
              <a:off x="5648887" y="5163959"/>
              <a:ext cx="1443447" cy="627580"/>
            </a:xfrm>
            <a:prstGeom prst="rect">
              <a:avLst/>
            </a:prstGeom>
            <a:solidFill>
              <a:schemeClr val="accent1">
                <a:lumMod val="60000"/>
                <a:lumOff val="40000"/>
              </a:schemeClr>
            </a:solidFill>
            <a:ln w="9525">
              <a:noFill/>
              <a:miter lim="800000"/>
              <a:headEnd/>
              <a:tailEnd/>
            </a:ln>
          </p:spPr>
          <p:txBody>
            <a:bodyPr wrap="none"/>
            <a:lstStyle/>
            <a:p>
              <a:pPr algn="ctr" eaLnBrk="1" hangingPunct="1">
                <a:defRPr/>
              </a:pPr>
              <a:r>
                <a:rPr lang="en-US" dirty="0"/>
                <a:t>Statements</a:t>
              </a:r>
            </a:p>
            <a:p>
              <a:pPr algn="ctr" eaLnBrk="1" hangingPunct="1">
                <a:defRPr/>
              </a:pPr>
              <a:r>
                <a:rPr lang="en-US" dirty="0">
                  <a:sym typeface="Symbol" pitchFamily="18" charset="2"/>
                </a:rPr>
                <a:t>     </a:t>
              </a:r>
            </a:p>
          </p:txBody>
        </p:sp>
        <p:sp>
          <p:nvSpPr>
            <p:cNvPr id="10264" name="Rectangle 36">
              <a:extLst>
                <a:ext uri="{FF2B5EF4-FFF2-40B4-BE49-F238E27FC236}">
                  <a16:creationId xmlns:a16="http://schemas.microsoft.com/office/drawing/2014/main" id="{B8693FB1-DB9E-46F8-B4D2-141328D2E759}"/>
                </a:ext>
              </a:extLst>
            </p:cNvPr>
            <p:cNvSpPr>
              <a:spLocks noChangeArrowheads="1"/>
            </p:cNvSpPr>
            <p:nvPr/>
          </p:nvSpPr>
          <p:spPr bwMode="auto">
            <a:xfrm>
              <a:off x="5717235" y="4744997"/>
              <a:ext cx="1375099" cy="291377"/>
            </a:xfrm>
            <a:prstGeom prst="rect">
              <a:avLst/>
            </a:prstGeom>
            <a:solidFill>
              <a:schemeClr val="accent1">
                <a:lumMod val="20000"/>
                <a:lumOff val="80000"/>
              </a:schemeClr>
            </a:solidFill>
            <a:ln w="9525">
              <a:noFill/>
              <a:miter lim="800000"/>
              <a:headEnd/>
              <a:tailEnd/>
            </a:ln>
          </p:spPr>
          <p:txBody>
            <a:bodyPr wrap="none" anchor="ctr"/>
            <a:lstStyle/>
            <a:p>
              <a:pPr algn="ctr" eaLnBrk="1" hangingPunct="1">
                <a:defRPr/>
              </a:pPr>
              <a:r>
                <a:rPr lang="en-US"/>
                <a:t>Declarations</a:t>
              </a:r>
              <a:endParaRPr lang="ru-RU"/>
            </a:p>
          </p:txBody>
        </p:sp>
        <p:sp>
          <p:nvSpPr>
            <p:cNvPr id="14362" name="Line 37">
              <a:extLst>
                <a:ext uri="{FF2B5EF4-FFF2-40B4-BE49-F238E27FC236}">
                  <a16:creationId xmlns:a16="http://schemas.microsoft.com/office/drawing/2014/main" id="{2952B989-125F-DCC4-62B3-AF0B67513EF4}"/>
                </a:ext>
              </a:extLst>
            </p:cNvPr>
            <p:cNvSpPr>
              <a:spLocks noChangeShapeType="1"/>
            </p:cNvSpPr>
            <p:nvPr/>
          </p:nvSpPr>
          <p:spPr bwMode="auto">
            <a:xfrm flipH="1">
              <a:off x="3445702" y="4267199"/>
              <a:ext cx="288098" cy="371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3" name="Line 38">
              <a:extLst>
                <a:ext uri="{FF2B5EF4-FFF2-40B4-BE49-F238E27FC236}">
                  <a16:creationId xmlns:a16="http://schemas.microsoft.com/office/drawing/2014/main" id="{11F582A5-9160-793A-C295-38F942F59A8E}"/>
                </a:ext>
              </a:extLst>
            </p:cNvPr>
            <p:cNvSpPr>
              <a:spLocks noChangeShapeType="1"/>
            </p:cNvSpPr>
            <p:nvPr/>
          </p:nvSpPr>
          <p:spPr bwMode="auto">
            <a:xfrm>
              <a:off x="4343400" y="4191000"/>
              <a:ext cx="2130380" cy="447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4" name="Line 39">
              <a:extLst>
                <a:ext uri="{FF2B5EF4-FFF2-40B4-BE49-F238E27FC236}">
                  <a16:creationId xmlns:a16="http://schemas.microsoft.com/office/drawing/2014/main" id="{DC951E2D-082D-D612-3EB2-5CE0786D6FEA}"/>
                </a:ext>
              </a:extLst>
            </p:cNvPr>
            <p:cNvSpPr>
              <a:spLocks noChangeShapeType="1"/>
            </p:cNvSpPr>
            <p:nvPr/>
          </p:nvSpPr>
          <p:spPr bwMode="auto">
            <a:xfrm flipH="1">
              <a:off x="3920546" y="4267199"/>
              <a:ext cx="2556453" cy="3315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5" name="Line 40">
              <a:extLst>
                <a:ext uri="{FF2B5EF4-FFF2-40B4-BE49-F238E27FC236}">
                  <a16:creationId xmlns:a16="http://schemas.microsoft.com/office/drawing/2014/main" id="{9CA03F39-3DFC-1627-D3CC-31114C120DE1}"/>
                </a:ext>
              </a:extLst>
            </p:cNvPr>
            <p:cNvSpPr>
              <a:spLocks noChangeShapeType="1"/>
            </p:cNvSpPr>
            <p:nvPr/>
          </p:nvSpPr>
          <p:spPr bwMode="auto">
            <a:xfrm flipH="1">
              <a:off x="6748368" y="4191000"/>
              <a:ext cx="338231" cy="447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66" name="Text Box 43">
              <a:extLst>
                <a:ext uri="{FF2B5EF4-FFF2-40B4-BE49-F238E27FC236}">
                  <a16:creationId xmlns:a16="http://schemas.microsoft.com/office/drawing/2014/main" id="{53B08D12-66E9-B8D7-B806-4F120FD8BA9D}"/>
                </a:ext>
              </a:extLst>
            </p:cNvPr>
            <p:cNvSpPr txBox="1">
              <a:spLocks noChangeArrowheads="1"/>
            </p:cNvSpPr>
            <p:nvPr/>
          </p:nvSpPr>
          <p:spPr bwMode="auto">
            <a:xfrm>
              <a:off x="2958634" y="2841567"/>
              <a:ext cx="1720361" cy="40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module C</a:t>
              </a:r>
              <a:endParaRPr lang="ru-RU" altLang="en-US" sz="180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5">
            <a:extLst>
              <a:ext uri="{FF2B5EF4-FFF2-40B4-BE49-F238E27FC236}">
                <a16:creationId xmlns:a16="http://schemas.microsoft.com/office/drawing/2014/main" id="{8282BB62-DD66-D5F9-FF92-D3E74C939F15}"/>
              </a:ext>
            </a:extLst>
          </p:cNvPr>
          <p:cNvSpPr txBox="1">
            <a:spLocks noChangeArrowheads="1"/>
          </p:cNvSpPr>
          <p:nvPr/>
        </p:nvSpPr>
        <p:spPr bwMode="auto">
          <a:xfrm>
            <a:off x="2057400" y="1600200"/>
            <a:ext cx="8218488" cy="421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module</a:t>
            </a:r>
            <a:r>
              <a:rPr lang="en-US" altLang="en-US">
                <a:solidFill>
                  <a:srgbClr val="0066FF"/>
                </a:solidFill>
              </a:rPr>
              <a:t>  </a:t>
            </a:r>
            <a:r>
              <a:rPr lang="en-US" altLang="en-US"/>
              <a:t>module_name (port_name, port_name, …port_name);</a:t>
            </a:r>
          </a:p>
          <a:p>
            <a:pPr eaLnBrk="1" hangingPunct="1"/>
            <a:r>
              <a:rPr lang="en-US" altLang="en-US"/>
              <a:t>	input </a:t>
            </a:r>
            <a:r>
              <a:rPr lang="en-US" altLang="en-US">
                <a:solidFill>
                  <a:srgbClr val="0066FF"/>
                </a:solidFill>
              </a:rPr>
              <a:t> </a:t>
            </a:r>
            <a:r>
              <a:rPr lang="en-US" altLang="en-US"/>
              <a:t>declarations;</a:t>
            </a:r>
          </a:p>
          <a:p>
            <a:pPr eaLnBrk="1" hangingPunct="1"/>
            <a:r>
              <a:rPr lang="en-US" altLang="en-US"/>
              <a:t>	output declarations;</a:t>
            </a:r>
          </a:p>
          <a:p>
            <a:pPr eaLnBrk="1" hangingPunct="1"/>
            <a:r>
              <a:rPr lang="en-US" altLang="en-US"/>
              <a:t>	inout declarations;</a:t>
            </a:r>
          </a:p>
          <a:p>
            <a:pPr eaLnBrk="1" hangingPunct="1"/>
            <a:r>
              <a:rPr lang="en-US" altLang="en-US"/>
              <a:t>	net declarations;</a:t>
            </a:r>
          </a:p>
          <a:p>
            <a:pPr eaLnBrk="1" hangingPunct="1"/>
            <a:r>
              <a:rPr lang="en-US" altLang="en-US"/>
              <a:t>	variable declarations;</a:t>
            </a:r>
          </a:p>
          <a:p>
            <a:pPr eaLnBrk="1" hangingPunct="1"/>
            <a:r>
              <a:rPr lang="en-US" altLang="en-US"/>
              <a:t>	parameter declarations;</a:t>
            </a:r>
          </a:p>
          <a:p>
            <a:pPr eaLnBrk="1" hangingPunct="1"/>
            <a:r>
              <a:rPr lang="en-US" altLang="en-US"/>
              <a:t>	function declarations;</a:t>
            </a:r>
          </a:p>
          <a:p>
            <a:pPr eaLnBrk="1" hangingPunct="1"/>
            <a:r>
              <a:rPr lang="en-US" altLang="en-US"/>
              <a:t>	task declarations</a:t>
            </a:r>
          </a:p>
          <a:p>
            <a:pPr eaLnBrk="1" hangingPunct="1"/>
            <a:endParaRPr lang="en-US" altLang="en-US"/>
          </a:p>
          <a:p>
            <a:pPr eaLnBrk="1" hangingPunct="1"/>
            <a:r>
              <a:rPr lang="en-US" altLang="en-US"/>
              <a:t>	concurrent statements</a:t>
            </a:r>
          </a:p>
          <a:p>
            <a:pPr eaLnBrk="1" hangingPunct="1">
              <a:spcBef>
                <a:spcPct val="40000"/>
              </a:spcBef>
            </a:pPr>
            <a:r>
              <a:rPr lang="en-US" altLang="en-US">
                <a:solidFill>
                  <a:srgbClr val="0000FF"/>
                </a:solidFill>
              </a:rPr>
              <a:t>endmodule</a:t>
            </a:r>
            <a:r>
              <a:rPr lang="en-US" altLang="en-US"/>
              <a:t>	</a:t>
            </a:r>
          </a:p>
          <a:p>
            <a:pPr eaLnBrk="1" hangingPunct="1"/>
            <a:r>
              <a:rPr lang="en-US" altLang="en-US"/>
              <a:t>Keywords are labeled in blue color.</a:t>
            </a:r>
            <a:endParaRPr lang="ru-RU" altLang="en-US"/>
          </a:p>
        </p:txBody>
      </p:sp>
      <p:sp>
        <p:nvSpPr>
          <p:cNvPr id="3" name="Title 2">
            <a:extLst>
              <a:ext uri="{FF2B5EF4-FFF2-40B4-BE49-F238E27FC236}">
                <a16:creationId xmlns:a16="http://schemas.microsoft.com/office/drawing/2014/main" id="{4462493D-1223-B5F9-5A2E-AADE1D6DDABD}"/>
              </a:ext>
            </a:extLst>
          </p:cNvPr>
          <p:cNvSpPr>
            <a:spLocks noGrp="1"/>
          </p:cNvSpPr>
          <p:nvPr>
            <p:ph type="title"/>
          </p:nvPr>
        </p:nvSpPr>
        <p:spPr/>
        <p:txBody>
          <a:bodyPr>
            <a:normAutofit/>
          </a:bodyPr>
          <a:lstStyle/>
          <a:p>
            <a:r>
              <a:rPr lang="en-US" dirty="0"/>
              <a:t>Syntax of Module Declaration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4">
            <a:extLst>
              <a:ext uri="{FF2B5EF4-FFF2-40B4-BE49-F238E27FC236}">
                <a16:creationId xmlns:a16="http://schemas.microsoft.com/office/drawing/2014/main" id="{31D7E589-9676-97FC-4EA8-F6C6B8FBD228}"/>
              </a:ext>
            </a:extLst>
          </p:cNvPr>
          <p:cNvSpPr>
            <a:spLocks noGrp="1" noChangeArrowheads="1"/>
          </p:cNvSpPr>
          <p:nvPr>
            <p:ph type="title"/>
          </p:nvPr>
        </p:nvSpPr>
        <p:spPr/>
        <p:txBody>
          <a:bodyPr>
            <a:normAutofit/>
          </a:bodyPr>
          <a:lstStyle/>
          <a:p>
            <a:r>
              <a:rPr lang="en-US" altLang="en-US" dirty="0"/>
              <a:t>Input/Output Declaration</a:t>
            </a:r>
            <a:endParaRPr lang="ru-RU" altLang="en-US" dirty="0"/>
          </a:p>
        </p:txBody>
      </p:sp>
      <p:sp>
        <p:nvSpPr>
          <p:cNvPr id="16387" name="Content Placeholder 5">
            <a:extLst>
              <a:ext uri="{FF2B5EF4-FFF2-40B4-BE49-F238E27FC236}">
                <a16:creationId xmlns:a16="http://schemas.microsoft.com/office/drawing/2014/main" id="{99117711-3C33-9A6D-07A0-93C6A8C0E966}"/>
              </a:ext>
            </a:extLst>
          </p:cNvPr>
          <p:cNvSpPr>
            <a:spLocks noGrp="1" noChangeArrowheads="1"/>
          </p:cNvSpPr>
          <p:nvPr>
            <p:ph type="body" sz="quarter" idx="10"/>
          </p:nvPr>
        </p:nvSpPr>
        <p:spPr/>
        <p:txBody>
          <a:bodyPr/>
          <a:lstStyle/>
          <a:p>
            <a:pPr marL="0" indent="0">
              <a:buNone/>
            </a:pPr>
            <a:r>
              <a:rPr lang="en-US" altLang="en-US" sz="1800" dirty="0"/>
              <a:t>module  </a:t>
            </a:r>
            <a:r>
              <a:rPr lang="en-US" altLang="en-US" sz="1800" dirty="0" err="1"/>
              <a:t>module_name</a:t>
            </a:r>
            <a:r>
              <a:rPr lang="en-US" altLang="en-US" sz="1800" dirty="0"/>
              <a:t> (port_name1, port_name1, …</a:t>
            </a:r>
            <a:r>
              <a:rPr lang="en-US" altLang="en-US" sz="1800" dirty="0" err="1"/>
              <a:t>port_name</a:t>
            </a:r>
            <a:r>
              <a:rPr lang="en-US" altLang="en-US" sz="1800" dirty="0"/>
              <a:t> k);</a:t>
            </a:r>
          </a:p>
          <a:p>
            <a:pPr marL="0" indent="0">
              <a:buNone/>
            </a:pPr>
            <a:r>
              <a:rPr lang="en-US" altLang="en-US" sz="1800" dirty="0"/>
              <a:t>	input  port_name1;  // 1-bit signal is input of module</a:t>
            </a:r>
          </a:p>
          <a:p>
            <a:pPr marL="0" indent="0">
              <a:buNone/>
            </a:pPr>
            <a:r>
              <a:rPr lang="en-US" altLang="en-US" sz="1800" dirty="0"/>
              <a:t>	output port_name2; // 1-bit signal is output</a:t>
            </a:r>
          </a:p>
          <a:p>
            <a:pPr marL="0" indent="0">
              <a:buNone/>
            </a:pPr>
            <a:r>
              <a:rPr lang="en-US" altLang="en-US" sz="1800" dirty="0"/>
              <a:t>	</a:t>
            </a:r>
            <a:r>
              <a:rPr lang="en-US" altLang="en-US" sz="1800" dirty="0" err="1"/>
              <a:t>inout</a:t>
            </a:r>
            <a:r>
              <a:rPr lang="en-US" altLang="en-US" sz="1800" dirty="0"/>
              <a:t> </a:t>
            </a:r>
            <a:r>
              <a:rPr lang="en-US" altLang="en-US" sz="1800" dirty="0" err="1"/>
              <a:t>port_name</a:t>
            </a:r>
            <a:r>
              <a:rPr lang="en-US" altLang="en-US" sz="1800" dirty="0"/>
              <a:t> k; // 1-bit signal can be used as module 			                           // input or output</a:t>
            </a:r>
          </a:p>
          <a:p>
            <a:pPr marL="0" indent="0">
              <a:buNone/>
            </a:pPr>
            <a:r>
              <a:rPr lang="en-US" altLang="en-US" sz="1800" dirty="0"/>
              <a:t>	input [n-1:0]  </a:t>
            </a:r>
            <a:r>
              <a:rPr lang="en-US" altLang="en-US" sz="1800" dirty="0" err="1"/>
              <a:t>port_name</a:t>
            </a:r>
            <a:r>
              <a:rPr lang="en-US" altLang="en-US" sz="1800" dirty="0"/>
              <a:t>;  //n-bit input signal</a:t>
            </a:r>
          </a:p>
          <a:p>
            <a:pPr marL="0" indent="0">
              <a:buNone/>
            </a:pPr>
            <a:r>
              <a:rPr lang="en-US" altLang="en-US" sz="1800" dirty="0"/>
              <a:t>	output [n:1]  </a:t>
            </a:r>
            <a:r>
              <a:rPr lang="en-US" altLang="en-US" sz="1800" dirty="0" err="1"/>
              <a:t>port_name</a:t>
            </a:r>
            <a:r>
              <a:rPr lang="en-US" altLang="en-US" sz="1800" dirty="0"/>
              <a:t>;  // n-bit output signal</a:t>
            </a:r>
          </a:p>
          <a:p>
            <a:pPr marL="0" indent="0">
              <a:buNone/>
            </a:pPr>
            <a:r>
              <a:rPr lang="en-US" altLang="en-US" sz="1800" dirty="0"/>
              <a:t>	</a:t>
            </a:r>
            <a:r>
              <a:rPr lang="en-US" altLang="en-US" sz="1800" dirty="0" err="1"/>
              <a:t>inout</a:t>
            </a:r>
            <a:r>
              <a:rPr lang="en-US" altLang="en-US" sz="1800" dirty="0"/>
              <a:t> [m:2] </a:t>
            </a:r>
            <a:r>
              <a:rPr lang="en-US" altLang="en-US" sz="1800" dirty="0" err="1"/>
              <a:t>port_name</a:t>
            </a:r>
            <a:r>
              <a:rPr lang="en-US" altLang="en-US" sz="1800" dirty="0"/>
              <a:t>;  //(m-2-bit) signal </a:t>
            </a:r>
          </a:p>
          <a:p>
            <a:pPr marL="0" indent="0">
              <a:buNone/>
            </a:pPr>
            <a:endParaRPr lang="en-US" altLang="en-US" sz="1800" dirty="0"/>
          </a:p>
          <a:p>
            <a:pPr marL="0" indent="0">
              <a:buNone/>
            </a:pPr>
            <a:r>
              <a:rPr lang="en-US" altLang="en-US" sz="1800" dirty="0"/>
              <a:t>Ports provide the interface by which a module can communicate with its environment</a:t>
            </a:r>
          </a:p>
          <a:p>
            <a:pPr marL="0" indent="0">
              <a:buNone/>
            </a:pPr>
            <a:r>
              <a:rPr lang="en-US" altLang="en-US" sz="1800" dirty="0"/>
              <a:t>Types: input </a:t>
            </a:r>
            <a:r>
              <a:rPr lang="en-US" altLang="en-US" sz="1800" dirty="0">
                <a:sym typeface="Symbol" panose="05050102010706020507" pitchFamily="18" charset="2"/>
              </a:rPr>
              <a:t> input port; output  output port;</a:t>
            </a:r>
          </a:p>
          <a:p>
            <a:pPr marL="0" indent="0">
              <a:buNone/>
            </a:pPr>
            <a:r>
              <a:rPr lang="en-US" altLang="en-US" sz="1800" dirty="0" err="1">
                <a:sym typeface="Symbol" panose="05050102010706020507" pitchFamily="18" charset="2"/>
              </a:rPr>
              <a:t>inout</a:t>
            </a:r>
            <a:r>
              <a:rPr lang="en-US" altLang="en-US" sz="1800" dirty="0">
                <a:sym typeface="Symbol" panose="05050102010706020507" pitchFamily="18" charset="2"/>
              </a:rPr>
              <a:t>  bidirectional port.</a:t>
            </a:r>
            <a:endParaRPr lang="ru-RU" altLang="en-US" sz="1800" dirty="0"/>
          </a:p>
          <a:p>
            <a:pPr marL="0" indent="0">
              <a:buNone/>
            </a:pPr>
            <a:endParaRPr lang="ru-RU" alt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a:extLst>
              <a:ext uri="{FF2B5EF4-FFF2-40B4-BE49-F238E27FC236}">
                <a16:creationId xmlns:a16="http://schemas.microsoft.com/office/drawing/2014/main" id="{AA0D2937-4954-6581-AB9B-72B31668D507}"/>
              </a:ext>
            </a:extLst>
          </p:cNvPr>
          <p:cNvSpPr>
            <a:spLocks noGrp="1" noChangeArrowheads="1"/>
          </p:cNvSpPr>
          <p:nvPr>
            <p:ph type="title"/>
          </p:nvPr>
        </p:nvSpPr>
        <p:spPr/>
        <p:txBody>
          <a:bodyPr>
            <a:normAutofit/>
          </a:bodyPr>
          <a:lstStyle/>
          <a:p>
            <a:r>
              <a:rPr lang="en-US" altLang="en-US" dirty="0"/>
              <a:t>Data Types. Nets</a:t>
            </a:r>
            <a:endParaRPr lang="ru-RU" altLang="en-US" dirty="0"/>
          </a:p>
        </p:txBody>
      </p:sp>
      <p:sp>
        <p:nvSpPr>
          <p:cNvPr id="17411" name="Content Placeholder 5">
            <a:extLst>
              <a:ext uri="{FF2B5EF4-FFF2-40B4-BE49-F238E27FC236}">
                <a16:creationId xmlns:a16="http://schemas.microsoft.com/office/drawing/2014/main" id="{4C95CD1B-00B6-398A-1CA7-008B8CE7B98A}"/>
              </a:ext>
            </a:extLst>
          </p:cNvPr>
          <p:cNvSpPr>
            <a:spLocks noGrp="1" noChangeArrowheads="1"/>
          </p:cNvSpPr>
          <p:nvPr>
            <p:ph type="body" sz="quarter" idx="10"/>
          </p:nvPr>
        </p:nvSpPr>
        <p:spPr/>
        <p:txBody>
          <a:bodyPr/>
          <a:lstStyle/>
          <a:p>
            <a:r>
              <a:rPr lang="en-US" altLang="en-US" sz="1800" dirty="0"/>
              <a:t>Basic type: signals</a:t>
            </a:r>
          </a:p>
          <a:p>
            <a:r>
              <a:rPr lang="en-US" altLang="en-US" sz="1800" dirty="0"/>
              <a:t>Default </a:t>
            </a:r>
            <a:r>
              <a:rPr lang="hy-AM" altLang="en-US" sz="1800" dirty="0"/>
              <a:t> </a:t>
            </a:r>
            <a:r>
              <a:rPr lang="en-US" altLang="en-US" sz="1800" dirty="0"/>
              <a:t>value x(z?).  Default size: 1 bit</a:t>
            </a:r>
          </a:p>
          <a:p>
            <a:r>
              <a:rPr lang="en-US" altLang="en-US" sz="1800" dirty="0"/>
              <a:t>Alphabet  </a:t>
            </a:r>
            <a:r>
              <a:rPr lang="en-US" altLang="en-US" sz="1800" dirty="0">
                <a:sym typeface="Symbol" panose="05050102010706020507" pitchFamily="18" charset="2"/>
              </a:rPr>
              <a:t>  </a:t>
            </a:r>
            <a:r>
              <a:rPr lang="en-US" altLang="en-US" sz="1800" dirty="0"/>
              <a:t> 4-valued: {0,1,x,z}. </a:t>
            </a:r>
          </a:p>
          <a:p>
            <a:r>
              <a:rPr lang="en-GB" altLang="en-US" sz="1800" dirty="0"/>
              <a:t>x - unknown logic value; z – high  impedance</a:t>
            </a:r>
            <a:endParaRPr lang="en-US" altLang="en-US" sz="1800" dirty="0"/>
          </a:p>
          <a:p>
            <a:r>
              <a:rPr lang="en-US" altLang="en-US" sz="1800" dirty="0"/>
              <a:t>Verilog has two classes of signals:</a:t>
            </a:r>
          </a:p>
          <a:p>
            <a:pPr lvl="1"/>
            <a:r>
              <a:rPr lang="en-US" altLang="en-US" sz="1800" dirty="0"/>
              <a:t>Nets</a:t>
            </a:r>
          </a:p>
          <a:p>
            <a:pPr lvl="1"/>
            <a:r>
              <a:rPr lang="en-US" altLang="en-US" sz="1800" dirty="0"/>
              <a:t>Registers</a:t>
            </a:r>
          </a:p>
          <a:p>
            <a:r>
              <a:rPr lang="en-US" altLang="en-US" sz="1800" dirty="0"/>
              <a:t>Net corresponds to a wire in circuit, provides connectivity between modules.</a:t>
            </a:r>
          </a:p>
          <a:p>
            <a:r>
              <a:rPr lang="en-US" altLang="en-US" sz="1800" dirty="0"/>
              <a:t>Net types: wire, tri, </a:t>
            </a:r>
            <a:r>
              <a:rPr lang="en-US" altLang="en-US" sz="1800" dirty="0" err="1"/>
              <a:t>triand</a:t>
            </a:r>
            <a:r>
              <a:rPr lang="en-US" altLang="en-US" sz="1800" dirty="0"/>
              <a:t>, </a:t>
            </a:r>
            <a:r>
              <a:rPr lang="en-US" altLang="en-US" sz="1800" dirty="0" err="1"/>
              <a:t>trior</a:t>
            </a:r>
            <a:r>
              <a:rPr lang="en-US" altLang="en-US" sz="1800" dirty="0"/>
              <a:t>, tri0, tri1, supply0, supply1.</a:t>
            </a:r>
          </a:p>
          <a:p>
            <a:r>
              <a:rPr lang="en-US" altLang="en-US" sz="1800" dirty="0"/>
              <a:t>supply0 and supply1 are considered to be permanently wired to the power-supply (source “constant-0” or “constant-1”).</a:t>
            </a:r>
          </a:p>
          <a:p>
            <a:r>
              <a:rPr lang="en-US" altLang="en-US" sz="1800" dirty="0"/>
              <a:t>Net does not store its state.</a:t>
            </a:r>
          </a:p>
          <a:p>
            <a:r>
              <a:rPr lang="en-US" altLang="en-US" sz="1800" dirty="0"/>
              <a:t>input and </a:t>
            </a:r>
            <a:r>
              <a:rPr lang="en-US" altLang="en-US" sz="1800" dirty="0" err="1"/>
              <a:t>inout</a:t>
            </a:r>
            <a:r>
              <a:rPr lang="en-US" altLang="en-US" sz="1800" dirty="0"/>
              <a:t> </a:t>
            </a:r>
            <a:r>
              <a:rPr lang="ru-RU" altLang="en-US" sz="1800" dirty="0"/>
              <a:t>ports are normally declared as wires </a:t>
            </a:r>
            <a:r>
              <a:rPr lang="en-US" altLang="en-US" sz="1800" dirty="0"/>
              <a:t>(“wire”).</a:t>
            </a:r>
          </a:p>
          <a:p>
            <a:endParaRPr lang="ru-RU" alt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5">
            <a:extLst>
              <a:ext uri="{FF2B5EF4-FFF2-40B4-BE49-F238E27FC236}">
                <a16:creationId xmlns:a16="http://schemas.microsoft.com/office/drawing/2014/main" id="{89665674-38B4-BE7D-63B0-0FAD17BCFC54}"/>
              </a:ext>
            </a:extLst>
          </p:cNvPr>
          <p:cNvSpPr>
            <a:spLocks noGrp="1" noChangeArrowheads="1"/>
          </p:cNvSpPr>
          <p:nvPr>
            <p:ph type="title"/>
          </p:nvPr>
        </p:nvSpPr>
        <p:spPr/>
        <p:txBody>
          <a:bodyPr>
            <a:normAutofit/>
          </a:bodyPr>
          <a:lstStyle/>
          <a:p>
            <a:r>
              <a:rPr lang="en-US" altLang="en-US" dirty="0"/>
              <a:t>Registers</a:t>
            </a:r>
            <a:endParaRPr lang="ru-RU" altLang="en-US" dirty="0"/>
          </a:p>
        </p:txBody>
      </p:sp>
      <p:sp>
        <p:nvSpPr>
          <p:cNvPr id="18435" name="Content Placeholder 6">
            <a:extLst>
              <a:ext uri="{FF2B5EF4-FFF2-40B4-BE49-F238E27FC236}">
                <a16:creationId xmlns:a16="http://schemas.microsoft.com/office/drawing/2014/main" id="{4E8F04FE-0F82-B1F7-1F34-8BA7B5ADDF47}"/>
              </a:ext>
            </a:extLst>
          </p:cNvPr>
          <p:cNvSpPr>
            <a:spLocks noGrp="1" noChangeArrowheads="1"/>
          </p:cNvSpPr>
          <p:nvPr>
            <p:ph type="body" sz="quarter" idx="10"/>
          </p:nvPr>
        </p:nvSpPr>
        <p:spPr/>
        <p:txBody>
          <a:bodyPr/>
          <a:lstStyle/>
          <a:p>
            <a:r>
              <a:rPr lang="en-US" altLang="en-US" dirty="0"/>
              <a:t>Registers (keyword – reg) store values  during a Verilog program execution. Retain value until another value is placed onto them.</a:t>
            </a:r>
          </a:p>
          <a:p>
            <a:r>
              <a:rPr lang="en-US" altLang="en-US" dirty="0"/>
              <a:t>They are used only in “procedural code”.</a:t>
            </a:r>
          </a:p>
          <a:p>
            <a:r>
              <a:rPr lang="en-US" altLang="en-US" dirty="0"/>
              <a:t>A value of reg must be assigned obviously. </a:t>
            </a:r>
          </a:p>
          <a:p>
            <a:r>
              <a:rPr lang="en-US" altLang="en-US" dirty="0"/>
              <a:t>Integer variable (keyword integer) is typically used to control repetitive statement. Its value is 32 bit or large integer (depending on word length used  by simulator).</a:t>
            </a:r>
            <a:endParaRPr lang="ru-RU" altLang="en-US" dirty="0"/>
          </a:p>
          <a:p>
            <a:pPr lvl="1"/>
            <a:r>
              <a:rPr lang="en-US" altLang="en-US" dirty="0"/>
              <a:t>wire      identifier,…identifier;</a:t>
            </a:r>
          </a:p>
          <a:p>
            <a:pPr lvl="1"/>
            <a:r>
              <a:rPr lang="en-US" altLang="en-US" dirty="0"/>
              <a:t>wire  [</a:t>
            </a:r>
            <a:r>
              <a:rPr lang="en-US" altLang="en-US" dirty="0" err="1"/>
              <a:t>msb:lsb</a:t>
            </a:r>
            <a:r>
              <a:rPr lang="en-US" altLang="en-US" dirty="0"/>
              <a:t>] identifier, identifier;</a:t>
            </a:r>
          </a:p>
          <a:p>
            <a:pPr lvl="1"/>
            <a:r>
              <a:rPr lang="en-US" altLang="en-US" dirty="0"/>
              <a:t>reg   identifier,… identifier;</a:t>
            </a:r>
          </a:p>
          <a:p>
            <a:pPr lvl="1"/>
            <a:r>
              <a:rPr lang="en-US" altLang="en-US" dirty="0"/>
              <a:t>reg [</a:t>
            </a:r>
            <a:r>
              <a:rPr lang="en-US" altLang="en-US" dirty="0" err="1"/>
              <a:t>msb:lsb</a:t>
            </a:r>
            <a:r>
              <a:rPr lang="en-US" altLang="en-US" dirty="0"/>
              <a:t>] identifier, identifier;</a:t>
            </a:r>
          </a:p>
          <a:p>
            <a:pPr lvl="1"/>
            <a:r>
              <a:rPr lang="en-US" altLang="en-US" dirty="0"/>
              <a:t>integer  identifier,… identifier;</a:t>
            </a:r>
            <a:endParaRPr lang="ru-RU" altLang="en-US" dirty="0"/>
          </a:p>
          <a:p>
            <a:endParaRPr lang="ru-RU"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4">
            <a:extLst>
              <a:ext uri="{FF2B5EF4-FFF2-40B4-BE49-F238E27FC236}">
                <a16:creationId xmlns:a16="http://schemas.microsoft.com/office/drawing/2014/main" id="{CD504046-39F7-797F-33B1-3AD33F2C5E4A}"/>
              </a:ext>
            </a:extLst>
          </p:cNvPr>
          <p:cNvSpPr>
            <a:spLocks noGrp="1" noChangeArrowheads="1"/>
          </p:cNvSpPr>
          <p:nvPr>
            <p:ph type="title"/>
          </p:nvPr>
        </p:nvSpPr>
        <p:spPr/>
        <p:txBody>
          <a:bodyPr>
            <a:normAutofit/>
          </a:bodyPr>
          <a:lstStyle/>
          <a:p>
            <a:r>
              <a:rPr lang="en-US" altLang="en-US" dirty="0"/>
              <a:t>Examples</a:t>
            </a:r>
            <a:endParaRPr lang="ru-RU" altLang="en-US" dirty="0"/>
          </a:p>
        </p:txBody>
      </p:sp>
      <p:sp>
        <p:nvSpPr>
          <p:cNvPr id="19459" name="Content Placeholder 5">
            <a:extLst>
              <a:ext uri="{FF2B5EF4-FFF2-40B4-BE49-F238E27FC236}">
                <a16:creationId xmlns:a16="http://schemas.microsoft.com/office/drawing/2014/main" id="{17993DB9-4959-15D2-CC15-3909552B98E3}"/>
              </a:ext>
            </a:extLst>
          </p:cNvPr>
          <p:cNvSpPr>
            <a:spLocks noGrp="1" noChangeArrowheads="1"/>
          </p:cNvSpPr>
          <p:nvPr>
            <p:ph type="body" sz="quarter" idx="10"/>
          </p:nvPr>
        </p:nvSpPr>
        <p:spPr/>
        <p:txBody>
          <a:bodyPr/>
          <a:lstStyle/>
          <a:p>
            <a:r>
              <a:rPr lang="en-US" altLang="en-US" sz="1800" dirty="0"/>
              <a:t>reg</a:t>
            </a:r>
            <a:r>
              <a:rPr lang="ru-RU" altLang="en-US" sz="1800" dirty="0"/>
              <a:t> </a:t>
            </a:r>
            <a:r>
              <a:rPr lang="en-US" altLang="en-US" sz="1800" dirty="0"/>
              <a:t>a</a:t>
            </a:r>
            <a:r>
              <a:rPr lang="ru-RU" altLang="en-US" sz="1800" dirty="0"/>
              <a:t>;	// </a:t>
            </a:r>
            <a:r>
              <a:rPr lang="en-US" altLang="en-US" sz="1800" dirty="0"/>
              <a:t>scalar reg variable</a:t>
            </a:r>
          </a:p>
          <a:p>
            <a:r>
              <a:rPr lang="en-US" altLang="en-US" sz="1800" dirty="0"/>
              <a:t>wire</a:t>
            </a:r>
            <a:r>
              <a:rPr lang="ru-RU" altLang="en-US" sz="1800" dirty="0"/>
              <a:t> </a:t>
            </a:r>
            <a:r>
              <a:rPr lang="en-US" altLang="en-US" sz="1800" dirty="0"/>
              <a:t>w</a:t>
            </a:r>
            <a:r>
              <a:rPr lang="ru-RU" altLang="en-US" sz="1800" dirty="0"/>
              <a:t>1, </a:t>
            </a:r>
            <a:r>
              <a:rPr lang="en-US" altLang="en-US" sz="1800" dirty="0"/>
              <a:t>w</a:t>
            </a:r>
            <a:r>
              <a:rPr lang="ru-RU" altLang="en-US" sz="1800" dirty="0"/>
              <a:t>2;	// </a:t>
            </a:r>
            <a:r>
              <a:rPr lang="en-US" altLang="en-US" sz="1800" dirty="0"/>
              <a:t>two 1-bit nets declaration</a:t>
            </a:r>
          </a:p>
          <a:p>
            <a:r>
              <a:rPr lang="en-US" altLang="en-US" sz="1800" dirty="0"/>
              <a:t>reg</a:t>
            </a:r>
            <a:r>
              <a:rPr lang="ru-RU" altLang="en-US" sz="1800" dirty="0"/>
              <a:t> [3:0]  </a:t>
            </a:r>
            <a:r>
              <a:rPr lang="en-US" altLang="en-US" sz="1800" dirty="0"/>
              <a:t>v</a:t>
            </a:r>
            <a:r>
              <a:rPr lang="ru-RU" altLang="en-US" sz="1800" dirty="0"/>
              <a:t>; 	// 4-</a:t>
            </a:r>
            <a:r>
              <a:rPr lang="en-US" altLang="en-US" sz="1800" dirty="0"/>
              <a:t>bit register including  v</a:t>
            </a:r>
            <a:r>
              <a:rPr lang="ru-RU" altLang="en-US" sz="1800" dirty="0"/>
              <a:t>[3], </a:t>
            </a:r>
            <a:r>
              <a:rPr lang="en-US" altLang="en-US" sz="1800" dirty="0"/>
              <a:t>v</a:t>
            </a:r>
            <a:r>
              <a:rPr lang="ru-RU" altLang="en-US" sz="1800" dirty="0"/>
              <a:t>[2], </a:t>
            </a:r>
            <a:r>
              <a:rPr lang="en-US" altLang="en-US" sz="1800" dirty="0"/>
              <a:t>v</a:t>
            </a:r>
            <a:r>
              <a:rPr lang="ru-RU" altLang="en-US" sz="1800" dirty="0"/>
              <a:t>[1], </a:t>
            </a:r>
            <a:r>
              <a:rPr lang="en-US" altLang="en-US" sz="1800" dirty="0"/>
              <a:t>v</a:t>
            </a:r>
            <a:r>
              <a:rPr lang="ru-RU" altLang="en-US" sz="1800" dirty="0"/>
              <a:t>[0]</a:t>
            </a:r>
            <a:endParaRPr lang="en-US" altLang="en-US" sz="1800" dirty="0"/>
          </a:p>
          <a:p>
            <a:r>
              <a:rPr lang="en-US" altLang="en-US" sz="1800" dirty="0"/>
              <a:t>tri</a:t>
            </a:r>
            <a:r>
              <a:rPr lang="ru-RU" altLang="en-US" sz="1800" dirty="0"/>
              <a:t> [15:0] </a:t>
            </a:r>
            <a:r>
              <a:rPr lang="en-US" altLang="en-US" sz="1800" dirty="0" err="1"/>
              <a:t>busc</a:t>
            </a:r>
            <a:r>
              <a:rPr lang="en-US" altLang="en-US" sz="1800" dirty="0"/>
              <a:t>;</a:t>
            </a:r>
            <a:r>
              <a:rPr lang="ru-RU" altLang="en-US" sz="1800" dirty="0"/>
              <a:t>	//16-</a:t>
            </a:r>
            <a:r>
              <a:rPr lang="en-US" altLang="en-US" sz="1800" dirty="0"/>
              <a:t>bit three state bus</a:t>
            </a:r>
            <a:r>
              <a:rPr lang="ru-RU" altLang="en-US" sz="1800" dirty="0"/>
              <a:t> с </a:t>
            </a:r>
            <a:r>
              <a:rPr lang="en-US" altLang="en-US" sz="1800" dirty="0"/>
              <a:t> </a:t>
            </a:r>
          </a:p>
          <a:p>
            <a:r>
              <a:rPr lang="en-US" altLang="en-US" sz="1800" dirty="0"/>
              <a:t>reg</a:t>
            </a:r>
            <a:r>
              <a:rPr lang="ru-RU" altLang="en-US" sz="1800" dirty="0"/>
              <a:t> </a:t>
            </a:r>
            <a:r>
              <a:rPr lang="en-US" altLang="en-US" sz="1800" dirty="0"/>
              <a:t>signed</a:t>
            </a:r>
            <a:r>
              <a:rPr lang="ru-RU" altLang="en-US" sz="1800" dirty="0"/>
              <a:t> [0:3] </a:t>
            </a:r>
            <a:r>
              <a:rPr lang="en-US" altLang="en-US" sz="1800" dirty="0"/>
              <a:t>b; // b register;</a:t>
            </a:r>
            <a:r>
              <a:rPr lang="ru-RU" altLang="en-US" sz="1800" dirty="0"/>
              <a:t> </a:t>
            </a:r>
            <a:r>
              <a:rPr lang="en-US" altLang="en-US" sz="1800" dirty="0"/>
              <a:t>its content is mentioned as integer   // number in the range of [-8                  </a:t>
            </a:r>
          </a:p>
          <a:p>
            <a:r>
              <a:rPr lang="en-US" altLang="en-US" sz="1800" dirty="0"/>
              <a:t>Arrays</a:t>
            </a:r>
          </a:p>
          <a:p>
            <a:r>
              <a:rPr lang="en-US" altLang="en-US" sz="1800" dirty="0"/>
              <a:t>reg data [7:0]	; // 8 1-bit  elements</a:t>
            </a:r>
          </a:p>
          <a:p>
            <a:r>
              <a:rPr lang="en-US" altLang="en-US" sz="1800" dirty="0"/>
              <a:t>reg [3:0] out[31:0]; // 32 4-bit element</a:t>
            </a:r>
          </a:p>
          <a:p>
            <a:r>
              <a:rPr lang="en-US" altLang="en-US" sz="1800" dirty="0"/>
              <a:t>Memories</a:t>
            </a:r>
          </a:p>
          <a:p>
            <a:r>
              <a:rPr lang="en-US" altLang="en-US" sz="1800" dirty="0"/>
              <a:t>Memories are simply an array of registers</a:t>
            </a:r>
            <a:r>
              <a:rPr lang="ru-RU" altLang="en-US" sz="1800" dirty="0"/>
              <a:t> </a:t>
            </a:r>
            <a:endParaRPr lang="en-US" altLang="en-US" sz="1800" dirty="0"/>
          </a:p>
          <a:p>
            <a:r>
              <a:rPr lang="en-US" altLang="en-US" sz="1800" dirty="0"/>
              <a:t>reg [15:0] mem16_1024 [1023:0]; // memory mem16_1024 is 					  //1K of 16 bit elements   </a:t>
            </a:r>
          </a:p>
          <a:p>
            <a:r>
              <a:rPr lang="en-US" altLang="en-US" sz="1800" dirty="0"/>
              <a:t>  mem16_1024[300];      // referencing element 300 of mem16_1024</a:t>
            </a:r>
            <a:r>
              <a:rPr lang="ru-RU" altLang="en-US" sz="1800" dirty="0"/>
              <a:t> </a:t>
            </a:r>
          </a:p>
          <a:p>
            <a:endParaRPr lang="ru-RU" alt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1B20A1A8-9256-9751-BCC5-495FB65C21D1}"/>
              </a:ext>
            </a:extLst>
          </p:cNvPr>
          <p:cNvSpPr>
            <a:spLocks noGrp="1" noChangeArrowheads="1"/>
          </p:cNvSpPr>
          <p:nvPr>
            <p:ph type="title"/>
          </p:nvPr>
        </p:nvSpPr>
        <p:spPr/>
        <p:txBody>
          <a:bodyPr/>
          <a:lstStyle/>
          <a:p>
            <a:r>
              <a:rPr lang="en-US" altLang="en-US"/>
              <a:t>Memories</a:t>
            </a:r>
            <a:endParaRPr lang="en-GB" altLang="en-US"/>
          </a:p>
        </p:txBody>
      </p:sp>
      <p:sp>
        <p:nvSpPr>
          <p:cNvPr id="3" name="Text Placeholder 2">
            <a:extLst>
              <a:ext uri="{FF2B5EF4-FFF2-40B4-BE49-F238E27FC236}">
                <a16:creationId xmlns:a16="http://schemas.microsoft.com/office/drawing/2014/main" id="{004D4D8B-9890-349A-46C7-B5BC06382953}"/>
              </a:ext>
            </a:extLst>
          </p:cNvPr>
          <p:cNvSpPr>
            <a:spLocks noGrp="1"/>
          </p:cNvSpPr>
          <p:nvPr>
            <p:ph type="body" sz="quarter" idx="10"/>
          </p:nvPr>
        </p:nvSpPr>
        <p:spPr/>
        <p:txBody>
          <a:bodyPr/>
          <a:lstStyle/>
          <a:p>
            <a:r>
              <a:rPr lang="en-US" dirty="0"/>
              <a:t>Verilog allows arrays of reg and wire to be defined as in the</a:t>
            </a:r>
          </a:p>
          <a:p>
            <a:pPr marL="0" indent="0">
              <a:buNone/>
            </a:pPr>
            <a:r>
              <a:rPr lang="en-US" dirty="0"/>
              <a:t>    following two examples:</a:t>
            </a:r>
          </a:p>
          <a:p>
            <a:pPr marL="0" indent="0">
              <a:buNone/>
            </a:pPr>
            <a:r>
              <a:rPr lang="en-US" dirty="0"/>
              <a:t>    reg [3:0] </a:t>
            </a:r>
            <a:r>
              <a:rPr lang="en-US" dirty="0" err="1"/>
              <a:t>mem_array</a:t>
            </a:r>
            <a:r>
              <a:rPr lang="en-US" dirty="0"/>
              <a:t> [31:0];</a:t>
            </a:r>
          </a:p>
          <a:p>
            <a:r>
              <a:rPr lang="en-US" dirty="0"/>
              <a:t>The above describes an array of 32 elements each, 4 bits wide which</a:t>
            </a:r>
          </a:p>
          <a:p>
            <a:pPr marL="0" indent="0">
              <a:buNone/>
            </a:pPr>
            <a:r>
              <a:rPr lang="en-US" dirty="0"/>
              <a:t>    can be assigned via behavioral </a:t>
            </a:r>
            <a:r>
              <a:rPr lang="en-US" dirty="0" err="1"/>
              <a:t>verilog</a:t>
            </a:r>
            <a:r>
              <a:rPr lang="en-US" dirty="0"/>
              <a:t> code.</a:t>
            </a:r>
          </a:p>
          <a:p>
            <a:r>
              <a:rPr lang="en-US" dirty="0"/>
              <a:t>wire [7:0] </a:t>
            </a:r>
            <a:r>
              <a:rPr lang="en-US" dirty="0" err="1"/>
              <a:t>mem_array</a:t>
            </a:r>
            <a:r>
              <a:rPr lang="en-US" dirty="0"/>
              <a:t> [63:0];</a:t>
            </a:r>
          </a:p>
          <a:p>
            <a:pPr marL="0" indent="0">
              <a:buNone/>
            </a:pPr>
            <a:r>
              <a:rPr lang="en-US" dirty="0"/>
              <a:t>    The above describes an array of 64 elements each 8 bits wide which</a:t>
            </a:r>
          </a:p>
          <a:p>
            <a:pPr marL="0" indent="0">
              <a:buNone/>
            </a:pPr>
            <a:r>
              <a:rPr lang="en-US" dirty="0"/>
              <a:t>    can only be assigned via structural Verilog code.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9DDB93B-9517-5100-3B4F-B16B7D88CA48}"/>
              </a:ext>
            </a:extLst>
          </p:cNvPr>
          <p:cNvSpPr>
            <a:spLocks noGrp="1" noChangeArrowheads="1"/>
          </p:cNvSpPr>
          <p:nvPr>
            <p:ph type="title"/>
          </p:nvPr>
        </p:nvSpPr>
        <p:spPr/>
        <p:txBody>
          <a:bodyPr/>
          <a:lstStyle/>
          <a:p>
            <a:r>
              <a:rPr lang="en-US" altLang="en-US"/>
              <a:t>Multi-Dimensional Arrays</a:t>
            </a:r>
            <a:endParaRPr lang="en-GB" altLang="en-US"/>
          </a:p>
        </p:txBody>
      </p:sp>
      <p:sp>
        <p:nvSpPr>
          <p:cNvPr id="3" name="Text Placeholder 2">
            <a:extLst>
              <a:ext uri="{FF2B5EF4-FFF2-40B4-BE49-F238E27FC236}">
                <a16:creationId xmlns:a16="http://schemas.microsoft.com/office/drawing/2014/main" id="{496183F1-E0EB-35B8-A231-3075E6380A3D}"/>
              </a:ext>
            </a:extLst>
          </p:cNvPr>
          <p:cNvSpPr>
            <a:spLocks noGrp="1"/>
          </p:cNvSpPr>
          <p:nvPr>
            <p:ph type="body" sz="quarter" idx="10"/>
          </p:nvPr>
        </p:nvSpPr>
        <p:spPr/>
        <p:txBody>
          <a:bodyPr/>
          <a:lstStyle/>
          <a:p>
            <a:r>
              <a:rPr lang="en-US" dirty="0"/>
              <a:t>Multi-dimensional arrays can be wire or reg data type.</a:t>
            </a:r>
          </a:p>
          <a:p>
            <a:pPr lvl="1"/>
            <a:r>
              <a:rPr lang="en-US" dirty="0"/>
              <a:t> You can do assignments and arithmetic operations with arrays</a:t>
            </a:r>
          </a:p>
          <a:p>
            <a:pPr lvl="1"/>
            <a:r>
              <a:rPr lang="en-US" dirty="0"/>
              <a:t> You cannot select more than one element of an array at one time.</a:t>
            </a:r>
          </a:p>
          <a:p>
            <a:pPr lvl="1"/>
            <a:r>
              <a:rPr lang="en-US" dirty="0"/>
              <a:t> You cannot pass multi-dimensional arrays to system tasks or functions, or  regular tasks or functions.</a:t>
            </a:r>
          </a:p>
          <a:p>
            <a:r>
              <a:rPr lang="en-US" dirty="0"/>
              <a:t>Examples of a declaration:</a:t>
            </a:r>
          </a:p>
          <a:p>
            <a:r>
              <a:rPr lang="en-US" dirty="0"/>
              <a:t>wire [7:0] array2 [0:255][0:15];</a:t>
            </a:r>
          </a:p>
          <a:p>
            <a:pPr lvl="1"/>
            <a:r>
              <a:rPr lang="en-US" dirty="0"/>
              <a:t>This statement describes an array of 256 x 16 wire elements each 8 bits</a:t>
            </a:r>
          </a:p>
          <a:p>
            <a:pPr lvl="1"/>
            <a:r>
              <a:rPr lang="en-US" dirty="0"/>
              <a:t>wide, which can only be assigned via structural Verilog code.</a:t>
            </a:r>
          </a:p>
          <a:p>
            <a:r>
              <a:rPr lang="en-US" dirty="0"/>
              <a:t>reg [63:0] regarray2 [255:0][7:0];</a:t>
            </a:r>
          </a:p>
          <a:p>
            <a:pPr lvl="1"/>
            <a:r>
              <a:rPr lang="en-US" dirty="0"/>
              <a:t>This statement describes an array of 256 x 8 register elements, each 64 bits   wide, which can be assigned via behavioral </a:t>
            </a:r>
            <a:r>
              <a:rPr lang="en-US" dirty="0" err="1"/>
              <a:t>verilog</a:t>
            </a:r>
            <a:r>
              <a:rPr lang="en-US" dirty="0"/>
              <a:t> code.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6">
            <a:extLst>
              <a:ext uri="{FF2B5EF4-FFF2-40B4-BE49-F238E27FC236}">
                <a16:creationId xmlns:a16="http://schemas.microsoft.com/office/drawing/2014/main" id="{A4AF87F3-DCEF-4CB8-4464-AAE3CB12DB5B}"/>
              </a:ext>
            </a:extLst>
          </p:cNvPr>
          <p:cNvSpPr>
            <a:spLocks noGrp="1" noChangeArrowheads="1"/>
          </p:cNvSpPr>
          <p:nvPr>
            <p:ph type="title"/>
          </p:nvPr>
        </p:nvSpPr>
        <p:spPr/>
        <p:txBody>
          <a:bodyPr>
            <a:normAutofit/>
          </a:bodyPr>
          <a:lstStyle/>
          <a:p>
            <a:r>
              <a:rPr lang="en-US" altLang="en-US" dirty="0"/>
              <a:t>Numbers</a:t>
            </a:r>
            <a:endParaRPr lang="ru-RU" altLang="en-US" dirty="0"/>
          </a:p>
        </p:txBody>
      </p:sp>
      <p:sp>
        <p:nvSpPr>
          <p:cNvPr id="22531" name="Content Placeholder 7">
            <a:extLst>
              <a:ext uri="{FF2B5EF4-FFF2-40B4-BE49-F238E27FC236}">
                <a16:creationId xmlns:a16="http://schemas.microsoft.com/office/drawing/2014/main" id="{01BBB288-A896-15D2-1AE2-9713878955FA}"/>
              </a:ext>
            </a:extLst>
          </p:cNvPr>
          <p:cNvSpPr>
            <a:spLocks noGrp="1" noChangeArrowheads="1"/>
          </p:cNvSpPr>
          <p:nvPr>
            <p:ph type="body" sz="quarter" idx="10"/>
          </p:nvPr>
        </p:nvSpPr>
        <p:spPr/>
        <p:txBody>
          <a:bodyPr/>
          <a:lstStyle/>
          <a:p>
            <a:r>
              <a:rPr lang="en-US" altLang="en-US" sz="1900" dirty="0"/>
              <a:t>Numbers are specified by </a:t>
            </a:r>
            <a:br>
              <a:rPr lang="en-US" altLang="en-US" sz="1900" dirty="0"/>
            </a:br>
            <a:r>
              <a:rPr lang="en-US" altLang="en-US" sz="1900" dirty="0"/>
              <a:t> &lt;size&gt;'&lt;base&gt;&lt;number&gt; : for a full description </a:t>
            </a:r>
          </a:p>
          <a:p>
            <a:r>
              <a:rPr lang="en-US" altLang="en-US" sz="1900" dirty="0"/>
              <a:t>&lt;base&gt; - binary (b), decimal (d), hexadecimal (h), octal(o)</a:t>
            </a:r>
            <a:endParaRPr lang="ru-RU" altLang="en-US" sz="1900" dirty="0"/>
          </a:p>
          <a:p>
            <a:endParaRPr lang="en-US" altLang="en-US" sz="1900" dirty="0"/>
          </a:p>
          <a:p>
            <a:endParaRPr lang="en-US" altLang="en-US" sz="1900" dirty="0"/>
          </a:p>
          <a:p>
            <a:endParaRPr lang="en-US" altLang="en-US" sz="1900" dirty="0"/>
          </a:p>
          <a:p>
            <a:endParaRPr lang="en-US" altLang="en-US" sz="1900" dirty="0"/>
          </a:p>
          <a:p>
            <a:endParaRPr lang="en-US" altLang="en-US" sz="1900" dirty="0"/>
          </a:p>
          <a:p>
            <a:r>
              <a:rPr lang="en-US" altLang="en-US" sz="1900" dirty="0"/>
              <a:t>x represents an unknown, and z a high impedance value. </a:t>
            </a:r>
          </a:p>
          <a:p>
            <a:r>
              <a:rPr lang="en-US" altLang="en-US" sz="1900" dirty="0"/>
              <a:t>An x declares 4 unknown bits in hexadecimal, 3 in octal and 1 in binary.</a:t>
            </a:r>
            <a:br>
              <a:rPr lang="en-US" altLang="en-US" sz="1900" dirty="0"/>
            </a:br>
            <a:r>
              <a:rPr lang="en-US" altLang="en-US" sz="1900" dirty="0"/>
              <a:t> z declares high impedance values similarly. </a:t>
            </a:r>
          </a:p>
          <a:p>
            <a:r>
              <a:rPr lang="en-US" altLang="en-US" sz="1900" dirty="0"/>
              <a:t>Alternatively z, when used in numbers, can be written as ? </a:t>
            </a:r>
            <a:br>
              <a:rPr lang="en-US" altLang="en-US" sz="1900" dirty="0"/>
            </a:br>
            <a:r>
              <a:rPr lang="en-US" altLang="en-US" sz="1900" dirty="0"/>
              <a:t>This is advised in case expressions to enhance readability. </a:t>
            </a:r>
            <a:endParaRPr lang="ru-RU" altLang="en-US" sz="1900" dirty="0"/>
          </a:p>
          <a:p>
            <a:endParaRPr lang="ru-RU" altLang="en-US" sz="1900" dirty="0"/>
          </a:p>
        </p:txBody>
      </p:sp>
      <p:graphicFrame>
        <p:nvGraphicFramePr>
          <p:cNvPr id="9" name="Table 8">
            <a:extLst>
              <a:ext uri="{FF2B5EF4-FFF2-40B4-BE49-F238E27FC236}">
                <a16:creationId xmlns:a16="http://schemas.microsoft.com/office/drawing/2014/main" id="{29BA0FFC-E79A-4675-8582-7990A781C909}"/>
              </a:ext>
            </a:extLst>
          </p:cNvPr>
          <p:cNvGraphicFramePr>
            <a:graphicFrameLocks noGrp="1"/>
          </p:cNvGraphicFramePr>
          <p:nvPr/>
        </p:nvGraphicFramePr>
        <p:xfrm>
          <a:off x="2895600" y="2743200"/>
          <a:ext cx="6553200" cy="16002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tblGrid>
              <a:tr h="1600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 5’d3</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 16’h4xa</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 6’oz5</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-8’d7</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Equal  5’b00011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Equal 16’b0000 0100 </a:t>
                      </a:r>
                      <a:r>
                        <a:rPr kumimoji="0" lang="en-US" sz="2000" b="0" i="0" u="none" strike="noStrike" cap="none" normalizeH="0" baseline="0" dirty="0" err="1">
                          <a:ln>
                            <a:noFill/>
                          </a:ln>
                          <a:solidFill>
                            <a:schemeClr val="tx1"/>
                          </a:solidFill>
                          <a:effectLst/>
                          <a:latin typeface="Arial" pitchFamily="34" charset="0"/>
                          <a:cs typeface="Arial" pitchFamily="34" charset="0"/>
                        </a:rPr>
                        <a:t>xxxx</a:t>
                      </a:r>
                      <a:r>
                        <a:rPr kumimoji="0" lang="en-US" sz="2000" b="0" i="0" u="none" strike="noStrike" cap="none" normalizeH="0" baseline="0" dirty="0">
                          <a:ln>
                            <a:noFill/>
                          </a:ln>
                          <a:solidFill>
                            <a:schemeClr val="tx1"/>
                          </a:solidFill>
                          <a:effectLst/>
                          <a:latin typeface="Arial" pitchFamily="34" charset="0"/>
                          <a:cs typeface="Arial" pitchFamily="34" charset="0"/>
                        </a:rPr>
                        <a:t> 1010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Equal  6’bzzz101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2’s complement of 7, held in 8 bits</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1E9D578E-F82C-8326-C77A-1D4B4ADB8966}"/>
              </a:ext>
            </a:extLst>
          </p:cNvPr>
          <p:cNvSpPr>
            <a:spLocks noGrp="1" noChangeArrowheads="1"/>
          </p:cNvSpPr>
          <p:nvPr>
            <p:ph type="title"/>
          </p:nvPr>
        </p:nvSpPr>
        <p:spPr/>
        <p:txBody>
          <a:bodyPr/>
          <a:lstStyle/>
          <a:p>
            <a:r>
              <a:rPr lang="en-US" altLang="en-US"/>
              <a:t>Examples</a:t>
            </a:r>
            <a:endParaRPr lang="en-GB" altLang="en-US"/>
          </a:p>
        </p:txBody>
      </p:sp>
      <p:sp>
        <p:nvSpPr>
          <p:cNvPr id="23555" name="TextBox 2">
            <a:extLst>
              <a:ext uri="{FF2B5EF4-FFF2-40B4-BE49-F238E27FC236}">
                <a16:creationId xmlns:a16="http://schemas.microsoft.com/office/drawing/2014/main" id="{51033468-22C5-14C6-059A-5F7EF5BAA87E}"/>
              </a:ext>
            </a:extLst>
          </p:cNvPr>
          <p:cNvSpPr txBox="1">
            <a:spLocks noChangeArrowheads="1"/>
          </p:cNvSpPr>
          <p:nvPr/>
        </p:nvSpPr>
        <p:spPr bwMode="auto">
          <a:xfrm>
            <a:off x="1905000" y="1524000"/>
            <a:ext cx="79248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dirty="0"/>
              <a:t>0		</a:t>
            </a:r>
            <a:r>
              <a:rPr lang="en-US" altLang="en-US" dirty="0"/>
              <a:t>         </a:t>
            </a:r>
            <a:r>
              <a:rPr lang="ru-RU" altLang="en-US" dirty="0"/>
              <a:t>//</a:t>
            </a:r>
            <a:r>
              <a:rPr lang="en-US" altLang="en-US" dirty="0"/>
              <a:t> number</a:t>
            </a:r>
            <a:r>
              <a:rPr lang="ru-RU" altLang="en-US" dirty="0"/>
              <a:t> 0</a:t>
            </a:r>
            <a:endParaRPr lang="en-GB" altLang="en-US" dirty="0"/>
          </a:p>
          <a:p>
            <a:pPr eaLnBrk="1" hangingPunct="1"/>
            <a:r>
              <a:rPr lang="ru-RU" altLang="en-US" dirty="0"/>
              <a:t>1		</a:t>
            </a:r>
            <a:r>
              <a:rPr lang="en-US" altLang="en-US" dirty="0"/>
              <a:t>        </a:t>
            </a:r>
            <a:r>
              <a:rPr lang="ru-RU" altLang="en-US" dirty="0"/>
              <a:t>//</a:t>
            </a:r>
            <a:r>
              <a:rPr lang="en-US" altLang="en-US" dirty="0"/>
              <a:t> number</a:t>
            </a:r>
            <a:r>
              <a:rPr lang="ru-RU" altLang="en-US" dirty="0"/>
              <a:t> 1</a:t>
            </a:r>
            <a:endParaRPr lang="en-GB" altLang="en-US" dirty="0"/>
          </a:p>
          <a:p>
            <a:pPr eaLnBrk="1" hangingPunct="1"/>
            <a:r>
              <a:rPr lang="ru-RU" altLang="en-US" dirty="0"/>
              <a:t>10		</a:t>
            </a:r>
            <a:r>
              <a:rPr lang="en-US" altLang="en-US" dirty="0"/>
              <a:t>        </a:t>
            </a:r>
            <a:r>
              <a:rPr lang="ru-RU" altLang="en-US" dirty="0"/>
              <a:t>//</a:t>
            </a:r>
            <a:r>
              <a:rPr lang="en-US" altLang="en-US" dirty="0"/>
              <a:t> decimal number </a:t>
            </a:r>
            <a:r>
              <a:rPr lang="ru-RU" altLang="en-US" dirty="0"/>
              <a:t>10</a:t>
            </a:r>
            <a:endParaRPr lang="en-GB" altLang="en-US" dirty="0"/>
          </a:p>
          <a:p>
            <a:pPr eaLnBrk="1" hangingPunct="1"/>
            <a:r>
              <a:rPr lang="ru-RU" altLang="en-US" dirty="0"/>
              <a:t>'</a:t>
            </a:r>
            <a:r>
              <a:rPr lang="en-GB" altLang="en-US" dirty="0"/>
              <a:t>b</a:t>
            </a:r>
            <a:r>
              <a:rPr lang="ru-RU" altLang="en-US" dirty="0"/>
              <a:t>10		</a:t>
            </a:r>
            <a:r>
              <a:rPr lang="en-US" altLang="en-US" dirty="0"/>
              <a:t> </a:t>
            </a:r>
            <a:r>
              <a:rPr lang="ru-RU" altLang="en-US" dirty="0"/>
              <a:t>//</a:t>
            </a:r>
            <a:r>
              <a:rPr lang="en-US" altLang="en-US" dirty="0"/>
              <a:t>binary number </a:t>
            </a:r>
            <a:r>
              <a:rPr lang="ru-RU" altLang="en-US" dirty="0"/>
              <a:t>10=2</a:t>
            </a:r>
            <a:r>
              <a:rPr lang="ru-RU" altLang="en-US" baseline="-25000" dirty="0"/>
              <a:t>10</a:t>
            </a:r>
            <a:r>
              <a:rPr lang="ru-RU" altLang="en-US" dirty="0"/>
              <a:t> </a:t>
            </a:r>
            <a:endParaRPr lang="en-GB" altLang="en-US" dirty="0"/>
          </a:p>
          <a:p>
            <a:pPr eaLnBrk="1" hangingPunct="1"/>
            <a:r>
              <a:rPr lang="ru-RU" altLang="en-US" dirty="0"/>
              <a:t>4'</a:t>
            </a:r>
            <a:r>
              <a:rPr lang="en-GB" altLang="en-US" dirty="0"/>
              <a:t>b</a:t>
            </a:r>
            <a:r>
              <a:rPr lang="ru-RU" altLang="en-US" dirty="0"/>
              <a:t>100	</a:t>
            </a:r>
            <a:r>
              <a:rPr lang="en-US" altLang="en-US" dirty="0"/>
              <a:t>	 </a:t>
            </a:r>
            <a:r>
              <a:rPr lang="ru-RU" altLang="en-US" dirty="0"/>
              <a:t>//</a:t>
            </a:r>
            <a:r>
              <a:rPr lang="en-US" altLang="en-US" dirty="0"/>
              <a:t>binary number </a:t>
            </a:r>
            <a:r>
              <a:rPr lang="ru-RU" altLang="en-US" dirty="0"/>
              <a:t>0100</a:t>
            </a:r>
            <a:endParaRPr lang="en-GB" altLang="en-US" dirty="0"/>
          </a:p>
          <a:p>
            <a:pPr eaLnBrk="1" hangingPunct="1"/>
            <a:r>
              <a:rPr lang="ru-RU" altLang="en-US" dirty="0"/>
              <a:t>4'</a:t>
            </a:r>
            <a:r>
              <a:rPr lang="en-GB" altLang="en-US" dirty="0" err="1"/>
              <a:t>bx</a:t>
            </a:r>
            <a:r>
              <a:rPr lang="ru-RU" altLang="en-US" dirty="0"/>
              <a:t>		</a:t>
            </a:r>
            <a:r>
              <a:rPr lang="en-US" altLang="en-US" dirty="0"/>
              <a:t> </a:t>
            </a:r>
            <a:r>
              <a:rPr lang="ru-RU" altLang="en-US" dirty="0"/>
              <a:t>//</a:t>
            </a:r>
            <a:r>
              <a:rPr lang="en-US" altLang="en-US" dirty="0"/>
              <a:t>  </a:t>
            </a:r>
            <a:r>
              <a:rPr lang="en-GB" altLang="en-US" dirty="0" err="1"/>
              <a:t>xxxx</a:t>
            </a:r>
            <a:endParaRPr lang="en-GB" altLang="en-US" dirty="0"/>
          </a:p>
          <a:p>
            <a:pPr eaLnBrk="1" hangingPunct="1"/>
            <a:r>
              <a:rPr lang="ru-RU" altLang="en-US" dirty="0"/>
              <a:t>8'</a:t>
            </a:r>
            <a:r>
              <a:rPr lang="en-GB" altLang="en-US" dirty="0" err="1"/>
              <a:t>hfx</a:t>
            </a:r>
            <a:r>
              <a:rPr lang="ru-RU" altLang="en-US" dirty="0"/>
              <a:t>		</a:t>
            </a:r>
            <a:r>
              <a:rPr lang="en-US" altLang="en-US" dirty="0"/>
              <a:t> </a:t>
            </a:r>
            <a:r>
              <a:rPr lang="ru-RU" altLang="en-US" dirty="0"/>
              <a:t>//1111</a:t>
            </a:r>
            <a:r>
              <a:rPr lang="en-GB" altLang="en-US" dirty="0" err="1"/>
              <a:t>xxxx</a:t>
            </a:r>
            <a:endParaRPr lang="en-GB" altLang="en-US" dirty="0"/>
          </a:p>
          <a:p>
            <a:pPr eaLnBrk="1" hangingPunct="1"/>
            <a:r>
              <a:rPr lang="ru-RU" altLang="en-US" dirty="0"/>
              <a:t>16'h8xc</a:t>
            </a:r>
            <a:r>
              <a:rPr lang="en-US" altLang="en-US" dirty="0"/>
              <a:t>	</a:t>
            </a:r>
            <a:r>
              <a:rPr lang="ru-RU" altLang="en-US" dirty="0"/>
              <a:t>	</a:t>
            </a:r>
            <a:r>
              <a:rPr lang="en-US" altLang="en-US" dirty="0"/>
              <a:t> </a:t>
            </a:r>
            <a:r>
              <a:rPr lang="ru-RU" altLang="en-US" dirty="0"/>
              <a:t>//0000 1000 xxxx 1100</a:t>
            </a:r>
            <a:endParaRPr lang="en-GB" altLang="en-US" dirty="0"/>
          </a:p>
          <a:p>
            <a:pPr eaLnBrk="1" hangingPunct="1"/>
            <a:r>
              <a:rPr lang="ru-RU" altLang="en-US" dirty="0"/>
              <a:t>5'</a:t>
            </a:r>
            <a:r>
              <a:rPr lang="en-GB" altLang="en-US" dirty="0"/>
              <a:t>d</a:t>
            </a:r>
            <a:r>
              <a:rPr lang="ru-RU" altLang="en-US" dirty="0"/>
              <a:t>3		</a:t>
            </a:r>
            <a:r>
              <a:rPr lang="en-US" altLang="en-US" dirty="0"/>
              <a:t> </a:t>
            </a:r>
            <a:r>
              <a:rPr lang="ru-RU" altLang="en-US" dirty="0"/>
              <a:t>//00011</a:t>
            </a:r>
            <a:endParaRPr lang="en-GB" altLang="en-US" dirty="0"/>
          </a:p>
          <a:p>
            <a:pPr eaLnBrk="1" hangingPunct="1"/>
            <a:r>
              <a:rPr lang="ru-RU" altLang="en-US" dirty="0"/>
              <a:t>-8’</a:t>
            </a:r>
            <a:r>
              <a:rPr lang="en-GB" altLang="en-US" dirty="0"/>
              <a:t>d</a:t>
            </a:r>
            <a:r>
              <a:rPr lang="ru-RU" altLang="en-US" dirty="0"/>
              <a:t>3	</a:t>
            </a:r>
            <a:r>
              <a:rPr lang="en-US" altLang="en-US" dirty="0"/>
              <a:t>       </a:t>
            </a:r>
            <a:r>
              <a:rPr lang="ru-RU" altLang="en-US" dirty="0"/>
              <a:t>//1111 1101 (</a:t>
            </a:r>
            <a:r>
              <a:rPr lang="en-US" altLang="en-US" dirty="0"/>
              <a:t>two’s complement  </a:t>
            </a:r>
            <a:r>
              <a:rPr lang="ru-RU" altLang="en-US" dirty="0"/>
              <a:t>-3) </a:t>
            </a:r>
            <a:endParaRPr lang="en-GB"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a:extLst>
              <a:ext uri="{FF2B5EF4-FFF2-40B4-BE49-F238E27FC236}">
                <a16:creationId xmlns:a16="http://schemas.microsoft.com/office/drawing/2014/main" id="{D635CF55-148A-A899-05D5-D4DD52945F8B}"/>
              </a:ext>
            </a:extLst>
          </p:cNvPr>
          <p:cNvSpPr>
            <a:spLocks noGrp="1" noChangeArrowheads="1"/>
          </p:cNvSpPr>
          <p:nvPr>
            <p:ph type="title"/>
          </p:nvPr>
        </p:nvSpPr>
        <p:spPr/>
        <p:txBody>
          <a:bodyPr>
            <a:normAutofit/>
          </a:bodyPr>
          <a:lstStyle/>
          <a:p>
            <a:r>
              <a:rPr lang="en-US" altLang="en-US" dirty="0"/>
              <a:t>Numbers</a:t>
            </a:r>
            <a:endParaRPr lang="ru-RU" altLang="en-US" dirty="0"/>
          </a:p>
        </p:txBody>
      </p:sp>
      <p:sp>
        <p:nvSpPr>
          <p:cNvPr id="16387" name="Content Placeholder 5">
            <a:extLst>
              <a:ext uri="{FF2B5EF4-FFF2-40B4-BE49-F238E27FC236}">
                <a16:creationId xmlns:a16="http://schemas.microsoft.com/office/drawing/2014/main" id="{759B6278-7DE4-44B1-8B49-070CDB6F2B26}"/>
              </a:ext>
            </a:extLst>
          </p:cNvPr>
          <p:cNvSpPr>
            <a:spLocks noGrp="1"/>
          </p:cNvSpPr>
          <p:nvPr>
            <p:ph type="body" sz="quarter" idx="10"/>
          </p:nvPr>
        </p:nvSpPr>
        <p:spPr/>
        <p:txBody>
          <a:bodyPr/>
          <a:lstStyle/>
          <a:p>
            <a:r>
              <a:rPr lang="en-US" sz="2000" dirty="0"/>
              <a:t>Real numbers can be in either decimal or scientific format:</a:t>
            </a:r>
          </a:p>
          <a:p>
            <a:pPr lvl="1"/>
            <a:r>
              <a:rPr lang="en-US" sz="1800" dirty="0"/>
              <a:t>Decimal  numbers</a:t>
            </a:r>
          </a:p>
          <a:p>
            <a:r>
              <a:rPr lang="en-US" sz="2000" dirty="0" err="1"/>
              <a:t>Value_i.value_f</a:t>
            </a:r>
            <a:endParaRPr lang="en-US" sz="2000" dirty="0"/>
          </a:p>
          <a:p>
            <a:pPr lvl="1"/>
            <a:r>
              <a:rPr lang="en-US" sz="1800" dirty="0"/>
              <a:t>5.7;    72348.06543;</a:t>
            </a:r>
          </a:p>
          <a:p>
            <a:pPr lvl="1"/>
            <a:r>
              <a:rPr lang="en-US" sz="1800" dirty="0"/>
              <a:t>3.e4=3</a:t>
            </a:r>
            <a:r>
              <a:rPr lang="en-US" sz="1800" dirty="0">
                <a:sym typeface="Symbol"/>
              </a:rPr>
              <a:t>104</a:t>
            </a:r>
            <a:endParaRPr lang="en-US" sz="1800" dirty="0"/>
          </a:p>
          <a:p>
            <a:pPr lvl="1"/>
            <a:r>
              <a:rPr lang="en-US" sz="1800" dirty="0"/>
              <a:t>5.7e-9 = 5.7</a:t>
            </a:r>
            <a:r>
              <a:rPr lang="en-US" sz="1800" dirty="0">
                <a:sym typeface="Symbol"/>
              </a:rPr>
              <a:t>10-9= 0,0000000057;</a:t>
            </a:r>
            <a:endParaRPr lang="en-US" sz="1800" dirty="0"/>
          </a:p>
          <a:p>
            <a:pPr lvl="1"/>
            <a:r>
              <a:rPr lang="en-US" sz="1800" dirty="0"/>
              <a:t>4.5 E8</a:t>
            </a:r>
            <a:r>
              <a:rPr lang="ru-RU" sz="1800" dirty="0"/>
              <a:t> </a:t>
            </a:r>
            <a:r>
              <a:rPr lang="en-US" sz="1800" dirty="0"/>
              <a:t>= 4.5</a:t>
            </a:r>
            <a:r>
              <a:rPr lang="en-US" sz="1800" dirty="0">
                <a:sym typeface="Symbol"/>
              </a:rPr>
              <a:t> 108 =45000000000;</a:t>
            </a:r>
            <a:endParaRPr lang="ru-RU" sz="1800" dirty="0"/>
          </a:p>
          <a:p>
            <a:r>
              <a:rPr lang="en-US" sz="2000" dirty="0"/>
              <a:t>Strings</a:t>
            </a:r>
          </a:p>
          <a:p>
            <a:pPr lvl="1"/>
            <a:r>
              <a:rPr lang="en-US" sz="1800" dirty="0"/>
              <a:t>Strings are delimited by " ... ", and cannot be on multiple lines. </a:t>
            </a:r>
          </a:p>
          <a:p>
            <a:pPr lvl="1"/>
            <a:r>
              <a:rPr lang="en-US" sz="1800" dirty="0"/>
              <a:t>"hello world";   // legal string</a:t>
            </a:r>
            <a:r>
              <a:rPr lang="ru-RU" sz="1800" dirty="0"/>
              <a:t> </a:t>
            </a:r>
            <a:endParaRPr lang="en-US" sz="1800" dirty="0"/>
          </a:p>
          <a:p>
            <a:r>
              <a:rPr lang="en-US" sz="2000" dirty="0"/>
              <a:t>White space</a:t>
            </a:r>
          </a:p>
          <a:p>
            <a:pPr lvl="1"/>
            <a:r>
              <a:rPr lang="en-US" sz="1800" dirty="0"/>
              <a:t>The white space characters are space (\b), tabs (\t), newlines (\n). These are ignored except  in strings. </a:t>
            </a:r>
          </a:p>
          <a:p>
            <a:r>
              <a:rPr lang="en-US" sz="2000" dirty="0"/>
              <a:t>Comments: Two types of comments are supported, single line comments starting with // and multiple line comments delimited by /* ... */. Comments cannot  be nested. </a:t>
            </a:r>
            <a:endParaRPr lang="ru-RU" sz="2000" dirty="0"/>
          </a:p>
          <a:p>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4">
            <a:extLst>
              <a:ext uri="{FF2B5EF4-FFF2-40B4-BE49-F238E27FC236}">
                <a16:creationId xmlns:a16="http://schemas.microsoft.com/office/drawing/2014/main" id="{D8C61910-1148-DEF9-C5ED-6519D3D42CC2}"/>
              </a:ext>
            </a:extLst>
          </p:cNvPr>
          <p:cNvSpPr>
            <a:spLocks noGrp="1" noChangeArrowheads="1"/>
          </p:cNvSpPr>
          <p:nvPr>
            <p:ph type="title"/>
          </p:nvPr>
        </p:nvSpPr>
        <p:spPr/>
        <p:txBody>
          <a:bodyPr>
            <a:normAutofit/>
          </a:bodyPr>
          <a:lstStyle/>
          <a:p>
            <a:r>
              <a:rPr lang="en-US" altLang="en-US" dirty="0"/>
              <a:t>Time in Verilog</a:t>
            </a:r>
            <a:endParaRPr lang="ru-RU" altLang="en-US" dirty="0"/>
          </a:p>
        </p:txBody>
      </p:sp>
      <p:sp>
        <p:nvSpPr>
          <p:cNvPr id="25603" name="Content Placeholder 5">
            <a:extLst>
              <a:ext uri="{FF2B5EF4-FFF2-40B4-BE49-F238E27FC236}">
                <a16:creationId xmlns:a16="http://schemas.microsoft.com/office/drawing/2014/main" id="{642B2B42-36C5-C64E-BF33-4FCDE43841A7}"/>
              </a:ext>
            </a:extLst>
          </p:cNvPr>
          <p:cNvSpPr>
            <a:spLocks noGrp="1" noChangeArrowheads="1"/>
          </p:cNvSpPr>
          <p:nvPr>
            <p:ph type="body" sz="quarter" idx="10"/>
          </p:nvPr>
        </p:nvSpPr>
        <p:spPr/>
        <p:txBody>
          <a:bodyPr/>
          <a:lstStyle/>
          <a:p>
            <a:r>
              <a:rPr lang="en-US" altLang="en-US" dirty="0"/>
              <a:t>Time is specific integer information carrier.</a:t>
            </a:r>
          </a:p>
          <a:p>
            <a:r>
              <a:rPr lang="en-US" altLang="en-US" dirty="0"/>
              <a:t>Time keeping is stored in special register and its value can be assigned to variable of type time with the help of system function $time.</a:t>
            </a:r>
          </a:p>
          <a:p>
            <a:r>
              <a:rPr lang="en-US" altLang="en-US" dirty="0"/>
              <a:t>Example:</a:t>
            </a:r>
          </a:p>
          <a:p>
            <a:pPr lvl="1"/>
            <a:r>
              <a:rPr lang="en-US" altLang="en-US" dirty="0"/>
              <a:t>time current</a:t>
            </a:r>
            <a:r>
              <a:rPr lang="ru-RU" altLang="en-US" dirty="0"/>
              <a:t>_</a:t>
            </a:r>
            <a:r>
              <a:rPr lang="en-US" altLang="en-US" dirty="0"/>
              <a:t>time</a:t>
            </a:r>
            <a:r>
              <a:rPr lang="ru-RU" altLang="en-US" dirty="0"/>
              <a:t>_</a:t>
            </a:r>
            <a:r>
              <a:rPr lang="en-US" altLang="en-US" dirty="0"/>
              <a:t>mark</a:t>
            </a:r>
            <a:r>
              <a:rPr lang="ru-RU" altLang="en-US" dirty="0"/>
              <a:t>,</a:t>
            </a:r>
            <a:r>
              <a:rPr lang="en-US" altLang="en-US" dirty="0"/>
              <a:t> next</a:t>
            </a:r>
            <a:r>
              <a:rPr lang="ru-RU" altLang="en-US" dirty="0"/>
              <a:t>_</a:t>
            </a:r>
            <a:r>
              <a:rPr lang="en-US" altLang="en-US" dirty="0"/>
              <a:t>event</a:t>
            </a:r>
            <a:r>
              <a:rPr lang="ru-RU" altLang="en-US" dirty="0"/>
              <a:t>_</a:t>
            </a:r>
            <a:r>
              <a:rPr lang="en-US" altLang="en-US" dirty="0"/>
              <a:t>time</a:t>
            </a:r>
            <a:r>
              <a:rPr lang="ru-RU" altLang="en-US" dirty="0"/>
              <a:t>;</a:t>
            </a:r>
            <a:r>
              <a:rPr lang="en-US" altLang="en-US" dirty="0"/>
              <a:t> //declaration time variables</a:t>
            </a:r>
          </a:p>
          <a:p>
            <a:pPr lvl="1"/>
            <a:r>
              <a:rPr lang="en-US" altLang="en-US" dirty="0"/>
              <a:t>current</a:t>
            </a:r>
            <a:r>
              <a:rPr lang="ru-RU" altLang="en-US" dirty="0"/>
              <a:t>_</a:t>
            </a:r>
            <a:r>
              <a:rPr lang="en-US" altLang="en-US" dirty="0"/>
              <a:t>time</a:t>
            </a:r>
            <a:r>
              <a:rPr lang="ru-RU" altLang="en-US" dirty="0"/>
              <a:t>_</a:t>
            </a:r>
            <a:r>
              <a:rPr lang="en-US" altLang="en-US" dirty="0"/>
              <a:t>mark</a:t>
            </a:r>
            <a:r>
              <a:rPr lang="ru-RU" altLang="en-US" dirty="0"/>
              <a:t> = $</a:t>
            </a:r>
            <a:r>
              <a:rPr lang="en-US" altLang="en-US" dirty="0"/>
              <a:t>time;</a:t>
            </a:r>
            <a:r>
              <a:rPr lang="ru-RU" altLang="en-US" dirty="0"/>
              <a:t>	//</a:t>
            </a:r>
            <a:r>
              <a:rPr lang="en-US" altLang="en-US" dirty="0"/>
              <a:t>assignment  the variable current time </a:t>
            </a:r>
          </a:p>
          <a:p>
            <a:pPr lvl="1"/>
            <a:r>
              <a:rPr lang="en-US" altLang="en-US" dirty="0"/>
              <a:t>next</a:t>
            </a:r>
            <a:r>
              <a:rPr lang="ru-RU" altLang="en-US" dirty="0"/>
              <a:t>_</a:t>
            </a:r>
            <a:r>
              <a:rPr lang="en-US" altLang="en-US" dirty="0"/>
              <a:t>event</a:t>
            </a:r>
            <a:r>
              <a:rPr lang="ru-RU" altLang="en-US" dirty="0"/>
              <a:t>_</a:t>
            </a:r>
            <a:r>
              <a:rPr lang="en-US" altLang="en-US" dirty="0"/>
              <a:t>time</a:t>
            </a:r>
            <a:r>
              <a:rPr lang="ru-RU" altLang="en-US" dirty="0"/>
              <a:t>=</a:t>
            </a:r>
            <a:r>
              <a:rPr lang="en-US" altLang="en-US" dirty="0"/>
              <a:t>current</a:t>
            </a:r>
            <a:r>
              <a:rPr lang="ru-RU" altLang="en-US" dirty="0"/>
              <a:t>_</a:t>
            </a:r>
            <a:r>
              <a:rPr lang="en-US" altLang="en-US" dirty="0"/>
              <a:t>time</a:t>
            </a:r>
            <a:r>
              <a:rPr lang="ru-RU" altLang="en-US" dirty="0"/>
              <a:t>_</a:t>
            </a:r>
            <a:r>
              <a:rPr lang="en-US" altLang="en-US" dirty="0"/>
              <a:t>mark</a:t>
            </a:r>
            <a:r>
              <a:rPr lang="ru-RU" altLang="en-US" dirty="0"/>
              <a:t>+5</a:t>
            </a:r>
            <a:r>
              <a:rPr lang="en-US" altLang="en-US" dirty="0"/>
              <a:t>; </a:t>
            </a:r>
            <a:r>
              <a:rPr lang="ru-RU" altLang="en-US" dirty="0"/>
              <a:t>//</a:t>
            </a:r>
            <a:r>
              <a:rPr lang="en-US" altLang="en-US" dirty="0"/>
              <a:t>computation time of future event</a:t>
            </a:r>
          </a:p>
          <a:p>
            <a:pPr lvl="1"/>
            <a:r>
              <a:rPr lang="en-US" altLang="en-US" dirty="0"/>
              <a:t>Time - dimensionless quantity</a:t>
            </a:r>
          </a:p>
          <a:p>
            <a:pPr lvl="1"/>
            <a:r>
              <a:rPr lang="en-US" altLang="en-US" dirty="0"/>
              <a:t>Time scale is defined using `timescale compiler  directive</a:t>
            </a:r>
          </a:p>
          <a:p>
            <a:pPr lvl="1"/>
            <a:r>
              <a:rPr lang="en-US" altLang="en-US" dirty="0"/>
              <a:t>`timescale 1ns/10ps</a:t>
            </a:r>
          </a:p>
          <a:p>
            <a:endParaRPr lang="ru-RU"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11E2842-AFA7-3047-C9EE-5CC9FF08C510}"/>
              </a:ext>
            </a:extLst>
          </p:cNvPr>
          <p:cNvSpPr>
            <a:spLocks noGrp="1" noChangeArrowheads="1"/>
          </p:cNvSpPr>
          <p:nvPr>
            <p:ph type="title"/>
          </p:nvPr>
        </p:nvSpPr>
        <p:spPr/>
        <p:txBody>
          <a:bodyPr/>
          <a:lstStyle/>
          <a:p>
            <a:r>
              <a:rPr lang="en-US" altLang="en-US"/>
              <a:t>Data Types in SystemVerilog</a:t>
            </a:r>
            <a:endParaRPr lang="en-GB" altLang="en-US"/>
          </a:p>
        </p:txBody>
      </p:sp>
      <p:sp>
        <p:nvSpPr>
          <p:cNvPr id="3" name="Text Placeholder 2">
            <a:extLst>
              <a:ext uri="{FF2B5EF4-FFF2-40B4-BE49-F238E27FC236}">
                <a16:creationId xmlns:a16="http://schemas.microsoft.com/office/drawing/2014/main" id="{EC9C8357-3E82-5016-BC46-BA17DE75E514}"/>
              </a:ext>
            </a:extLst>
          </p:cNvPr>
          <p:cNvSpPr>
            <a:spLocks noGrp="1"/>
          </p:cNvSpPr>
          <p:nvPr>
            <p:ph type="body" sz="quarter" idx="10"/>
          </p:nvPr>
        </p:nvSpPr>
        <p:spPr/>
        <p:txBody>
          <a:bodyPr/>
          <a:lstStyle/>
          <a:p>
            <a:r>
              <a:rPr lang="en-US" sz="2200" dirty="0" err="1"/>
              <a:t>SystemVerilog</a:t>
            </a:r>
            <a:r>
              <a:rPr lang="en-US" sz="2200" dirty="0"/>
              <a:t> introduces the logic type (synonym  a reg ). </a:t>
            </a:r>
          </a:p>
          <a:p>
            <a:r>
              <a:rPr lang="en-US" sz="2200" dirty="0"/>
              <a:t>Advantages:  </a:t>
            </a:r>
          </a:p>
          <a:p>
            <a:r>
              <a:rPr lang="en-US" sz="2200" dirty="0"/>
              <a:t>Logic avoids misleading users about whether it is actually a flip-flop. </a:t>
            </a:r>
          </a:p>
          <a:p>
            <a:r>
              <a:rPr lang="en-US" sz="2200" dirty="0" err="1"/>
              <a:t>SystemVerilog</a:t>
            </a:r>
            <a:r>
              <a:rPr lang="en-US" sz="2200" dirty="0"/>
              <a:t> relaxes the rules on assign statements and hierarchical  port  instantiations so logic can be used outside always blocks where a wire traditionally would have been required. </a:t>
            </a:r>
          </a:p>
          <a:p>
            <a:r>
              <a:rPr lang="en-US" sz="2200" dirty="0"/>
              <a:t>Nearly all  </a:t>
            </a:r>
            <a:r>
              <a:rPr lang="en-US" sz="2200" dirty="0" err="1"/>
              <a:t>SystemVerilog</a:t>
            </a:r>
            <a:r>
              <a:rPr lang="en-US" sz="2200" dirty="0"/>
              <a:t> signals can be  logic.</a:t>
            </a:r>
          </a:p>
          <a:p>
            <a:pPr lvl="1"/>
            <a:r>
              <a:rPr lang="en-US" dirty="0"/>
              <a:t>Integer data types. </a:t>
            </a:r>
            <a:r>
              <a:rPr lang="en-US" dirty="0" err="1"/>
              <a:t>SystemVerilog</a:t>
            </a:r>
            <a:r>
              <a:rPr lang="en-US" dirty="0"/>
              <a:t> provides new data types:</a:t>
            </a:r>
          </a:p>
          <a:p>
            <a:pPr lvl="1"/>
            <a:r>
              <a:rPr lang="en-US" dirty="0"/>
              <a:t>bit</a:t>
            </a:r>
          </a:p>
          <a:p>
            <a:pPr lvl="1"/>
            <a:r>
              <a:rPr lang="en-US" dirty="0"/>
              <a:t>byte (8 bit)</a:t>
            </a:r>
          </a:p>
          <a:p>
            <a:pPr lvl="1"/>
            <a:r>
              <a:rPr lang="en-US" dirty="0" err="1"/>
              <a:t>shortint</a:t>
            </a:r>
            <a:r>
              <a:rPr lang="en-US" dirty="0"/>
              <a:t> (16 bit)</a:t>
            </a:r>
          </a:p>
          <a:p>
            <a:pPr lvl="1"/>
            <a:r>
              <a:rPr lang="en-US" dirty="0"/>
              <a:t>int (32 bit)</a:t>
            </a:r>
          </a:p>
          <a:p>
            <a:pPr lvl="1"/>
            <a:r>
              <a:rPr lang="en-US" dirty="0" err="1"/>
              <a:t>longint</a:t>
            </a:r>
            <a:r>
              <a:rPr lang="en-US" dirty="0"/>
              <a:t> (64bit)</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C1F0CA33-A8B6-C416-2F6F-10A6159DEE1B}"/>
              </a:ext>
            </a:extLst>
          </p:cNvPr>
          <p:cNvSpPr>
            <a:spLocks noGrp="1" noChangeArrowheads="1"/>
          </p:cNvSpPr>
          <p:nvPr>
            <p:ph type="title"/>
          </p:nvPr>
        </p:nvSpPr>
        <p:spPr/>
        <p:txBody>
          <a:bodyPr/>
          <a:lstStyle/>
          <a:p>
            <a:r>
              <a:rPr lang="en-GB" altLang="en-US" dirty="0"/>
              <a:t>Verilog and </a:t>
            </a:r>
            <a:r>
              <a:rPr lang="en-GB" altLang="en-US" dirty="0" err="1"/>
              <a:t>SystemVerilog</a:t>
            </a:r>
            <a:endParaRPr lang="en-GB" altLang="en-US" dirty="0"/>
          </a:p>
        </p:txBody>
      </p:sp>
      <p:graphicFrame>
        <p:nvGraphicFramePr>
          <p:cNvPr id="4" name="Table 3">
            <a:extLst>
              <a:ext uri="{FF2B5EF4-FFF2-40B4-BE49-F238E27FC236}">
                <a16:creationId xmlns:a16="http://schemas.microsoft.com/office/drawing/2014/main" id="{191A7BCB-03CA-49A3-AA5B-1BEC68108274}"/>
              </a:ext>
            </a:extLst>
          </p:cNvPr>
          <p:cNvGraphicFramePr>
            <a:graphicFrameLocks noGrp="1"/>
          </p:cNvGraphicFramePr>
          <p:nvPr/>
        </p:nvGraphicFramePr>
        <p:xfrm>
          <a:off x="2225676" y="1712914"/>
          <a:ext cx="8289925" cy="3483096"/>
        </p:xfrm>
        <a:graphic>
          <a:graphicData uri="http://schemas.openxmlformats.org/drawingml/2006/table">
            <a:tbl>
              <a:tblPr firstRow="1" bandRow="1">
                <a:tableStyleId>{5C22544A-7EE6-4342-B048-85BDC9FD1C3A}</a:tableStyleId>
              </a:tblPr>
              <a:tblGrid>
                <a:gridCol w="1431864">
                  <a:extLst>
                    <a:ext uri="{9D8B030D-6E8A-4147-A177-3AD203B41FA5}">
                      <a16:colId xmlns:a16="http://schemas.microsoft.com/office/drawing/2014/main" val="20000"/>
                    </a:ext>
                  </a:extLst>
                </a:gridCol>
                <a:gridCol w="2362221">
                  <a:extLst>
                    <a:ext uri="{9D8B030D-6E8A-4147-A177-3AD203B41FA5}">
                      <a16:colId xmlns:a16="http://schemas.microsoft.com/office/drawing/2014/main" val="20001"/>
                    </a:ext>
                  </a:extLst>
                </a:gridCol>
                <a:gridCol w="1676415">
                  <a:extLst>
                    <a:ext uri="{9D8B030D-6E8A-4147-A177-3AD203B41FA5}">
                      <a16:colId xmlns:a16="http://schemas.microsoft.com/office/drawing/2014/main" val="20002"/>
                    </a:ext>
                  </a:extLst>
                </a:gridCol>
                <a:gridCol w="2819425">
                  <a:extLst>
                    <a:ext uri="{9D8B030D-6E8A-4147-A177-3AD203B41FA5}">
                      <a16:colId xmlns:a16="http://schemas.microsoft.com/office/drawing/2014/main" val="20003"/>
                    </a:ext>
                  </a:extLst>
                </a:gridCol>
              </a:tblGrid>
              <a:tr h="640040">
                <a:tc>
                  <a:txBody>
                    <a:bodyPr/>
                    <a:lstStyle/>
                    <a:p>
                      <a:r>
                        <a:rPr lang="en-GB" sz="1800" dirty="0"/>
                        <a:t>Type of signal</a:t>
                      </a:r>
                    </a:p>
                  </a:txBody>
                  <a:tcPr marL="91441" marR="91441" marT="45712" marB="45712"/>
                </a:tc>
                <a:tc>
                  <a:txBody>
                    <a:bodyPr/>
                    <a:lstStyle/>
                    <a:p>
                      <a:r>
                        <a:rPr lang="en-GB" sz="1800" dirty="0"/>
                        <a:t> </a:t>
                      </a:r>
                      <a:r>
                        <a:rPr lang="en-GB" sz="1800" dirty="0" err="1"/>
                        <a:t>Verilog</a:t>
                      </a:r>
                      <a:endParaRPr lang="en-GB" sz="1800" dirty="0"/>
                    </a:p>
                  </a:txBody>
                  <a:tcPr marL="91441" marR="91441" marT="45712" marB="45712"/>
                </a:tc>
                <a:tc>
                  <a:txBody>
                    <a:bodyPr/>
                    <a:lstStyle/>
                    <a:p>
                      <a:r>
                        <a:rPr lang="en-GB" sz="1800" dirty="0"/>
                        <a:t>Type  of signal</a:t>
                      </a:r>
                    </a:p>
                  </a:txBody>
                  <a:tcPr marL="91441" marR="91441" marT="45712" marB="45712"/>
                </a:tc>
                <a:tc>
                  <a:txBody>
                    <a:bodyPr/>
                    <a:lstStyle/>
                    <a:p>
                      <a:r>
                        <a:rPr lang="en-GB" sz="1800" dirty="0" err="1"/>
                        <a:t>SystemVerilog</a:t>
                      </a:r>
                      <a:endParaRPr lang="en-GB" sz="1800" dirty="0"/>
                    </a:p>
                  </a:txBody>
                  <a:tcPr marL="91441" marR="91441" marT="45712" marB="45712"/>
                </a:tc>
                <a:extLst>
                  <a:ext uri="{0D108BD9-81ED-4DB2-BD59-A6C34878D82A}">
                    <a16:rowId xmlns:a16="http://schemas.microsoft.com/office/drawing/2014/main" val="10000"/>
                  </a:ext>
                </a:extLst>
              </a:tr>
              <a:tr h="914348">
                <a:tc>
                  <a:txBody>
                    <a:bodyPr/>
                    <a:lstStyle/>
                    <a:p>
                      <a:r>
                        <a:rPr lang="en-GB" sz="1800" dirty="0"/>
                        <a:t>wire</a:t>
                      </a:r>
                    </a:p>
                    <a:p>
                      <a:r>
                        <a:rPr lang="en-GB" sz="1800" dirty="0"/>
                        <a:t>{0,1,x,z}</a:t>
                      </a:r>
                    </a:p>
                  </a:txBody>
                  <a:tcPr marL="91441" marR="91441" marT="45712" marB="45712"/>
                </a:tc>
                <a:tc>
                  <a:txBody>
                    <a:bodyPr/>
                    <a:lstStyle/>
                    <a:p>
                      <a:r>
                        <a:rPr lang="en-GB" sz="1800" kern="1200" baseline="0" dirty="0">
                          <a:solidFill>
                            <a:schemeClr val="dk1"/>
                          </a:solidFill>
                          <a:latin typeface="+mn-lt"/>
                          <a:ea typeface="+mn-ea"/>
                          <a:cs typeface="+mn-cs"/>
                        </a:rPr>
                        <a:t>left hand </a:t>
                      </a:r>
                      <a:r>
                        <a:rPr lang="en-US" sz="1800" kern="1200" baseline="0" dirty="0">
                          <a:solidFill>
                            <a:schemeClr val="dk1"/>
                          </a:solidFill>
                          <a:latin typeface="+mn-lt"/>
                          <a:ea typeface="+mn-ea"/>
                          <a:cs typeface="+mn-cs"/>
                        </a:rPr>
                        <a:t>side </a:t>
                      </a:r>
                      <a:r>
                        <a:rPr lang="en-GB" sz="1800" kern="1200" baseline="0" dirty="0">
                          <a:solidFill>
                            <a:schemeClr val="dk1"/>
                          </a:solidFill>
                          <a:latin typeface="+mn-lt"/>
                          <a:ea typeface="+mn-ea"/>
                          <a:cs typeface="+mn-cs"/>
                        </a:rPr>
                        <a:t>of =</a:t>
                      </a:r>
                    </a:p>
                    <a:p>
                      <a:r>
                        <a:rPr lang="en-GB" sz="1800" kern="1200" baseline="0" dirty="0">
                          <a:solidFill>
                            <a:schemeClr val="dk1"/>
                          </a:solidFill>
                          <a:latin typeface="+mn-lt"/>
                          <a:ea typeface="+mn-ea"/>
                          <a:cs typeface="+mn-cs"/>
                        </a:rPr>
                        <a:t> in assign  statement.</a:t>
                      </a:r>
                    </a:p>
                    <a:p>
                      <a:r>
                        <a:rPr lang="en-GB" sz="1800" kern="1200" baseline="0" dirty="0">
                          <a:solidFill>
                            <a:schemeClr val="dk1"/>
                          </a:solidFill>
                          <a:latin typeface="+mn-lt"/>
                          <a:ea typeface="+mn-ea"/>
                          <a:cs typeface="+mn-cs"/>
                        </a:rPr>
                        <a:t>One  driver</a:t>
                      </a:r>
                      <a:endParaRPr lang="en-GB" sz="1800" dirty="0"/>
                    </a:p>
                  </a:txBody>
                  <a:tcPr marL="91441" marR="91441" marT="45712" marB="45712"/>
                </a:tc>
                <a:tc>
                  <a:txBody>
                    <a:bodyPr/>
                    <a:lstStyle/>
                    <a:p>
                      <a:r>
                        <a:rPr lang="en-GB" sz="1800" kern="1200" baseline="0" dirty="0">
                          <a:solidFill>
                            <a:schemeClr val="dk1"/>
                          </a:solidFill>
                          <a:latin typeface="+mn-lt"/>
                          <a:ea typeface="+mn-ea"/>
                          <a:cs typeface="+mn-cs"/>
                        </a:rPr>
                        <a:t>logic,</a:t>
                      </a:r>
                      <a:br>
                        <a:rPr lang="en-GB" sz="1800" kern="1200" baseline="0" dirty="0">
                          <a:solidFill>
                            <a:schemeClr val="dk1"/>
                          </a:solidFill>
                          <a:latin typeface="+mn-lt"/>
                          <a:ea typeface="+mn-ea"/>
                          <a:cs typeface="+mn-cs"/>
                        </a:rPr>
                      </a:br>
                      <a:r>
                        <a:rPr lang="en-GB" sz="1800" kern="1200" baseline="0" dirty="0">
                          <a:solidFill>
                            <a:schemeClr val="dk1"/>
                          </a:solidFill>
                          <a:latin typeface="+mn-lt"/>
                          <a:ea typeface="+mn-ea"/>
                          <a:cs typeface="+mn-cs"/>
                        </a:rPr>
                        <a:t>one driver</a:t>
                      </a:r>
                      <a:endParaRPr lang="en-GB" sz="1800" dirty="0"/>
                    </a:p>
                  </a:txBody>
                  <a:tcPr marL="91441" marR="91441" marT="45712" marB="45712"/>
                </a:tc>
                <a:tc>
                  <a:txBody>
                    <a:bodyPr/>
                    <a:lstStyle/>
                    <a:p>
                      <a:r>
                        <a:rPr lang="en-GB" sz="1800" b="0" dirty="0"/>
                        <a:t>nearly all </a:t>
                      </a:r>
                      <a:r>
                        <a:rPr lang="en-GB" sz="1800" b="0" dirty="0" err="1"/>
                        <a:t>SystemVerilog</a:t>
                      </a:r>
                      <a:r>
                        <a:rPr lang="en-GB" sz="1800" b="0" dirty="0"/>
                        <a:t>   signals</a:t>
                      </a:r>
                      <a:endParaRPr lang="en-GB" sz="1800" dirty="0"/>
                    </a:p>
                  </a:txBody>
                  <a:tcPr marL="91441" marR="91441" marT="45712" marB="45712"/>
                </a:tc>
                <a:extLst>
                  <a:ext uri="{0D108BD9-81ED-4DB2-BD59-A6C34878D82A}">
                    <a16:rowId xmlns:a16="http://schemas.microsoft.com/office/drawing/2014/main" val="10001"/>
                  </a:ext>
                </a:extLst>
              </a:tr>
              <a:tr h="914348">
                <a:tc>
                  <a:txBody>
                    <a:bodyPr/>
                    <a:lstStyle/>
                    <a:p>
                      <a:r>
                        <a:rPr lang="en-GB" sz="1800" dirty="0" err="1"/>
                        <a:t>reg</a:t>
                      </a:r>
                      <a:endParaRPr lang="en-GB" sz="1800" dirty="0"/>
                    </a:p>
                  </a:txBody>
                  <a:tcPr marL="91441" marR="91441" marT="45712" marB="45712"/>
                </a:tc>
                <a:tc>
                  <a:txBody>
                    <a:bodyPr/>
                    <a:lstStyle/>
                    <a:p>
                      <a:r>
                        <a:rPr lang="en-GB" sz="1800" kern="1200" baseline="0" dirty="0">
                          <a:solidFill>
                            <a:schemeClr val="dk1"/>
                          </a:solidFill>
                          <a:latin typeface="+mn-lt"/>
                          <a:ea typeface="+mn-ea"/>
                          <a:cs typeface="+mn-cs"/>
                        </a:rPr>
                        <a:t>left hand side of &lt;= or = in an always block</a:t>
                      </a:r>
                      <a:endParaRPr lang="en-GB" sz="1800" dirty="0"/>
                    </a:p>
                  </a:txBody>
                  <a:tcPr marL="91441" marR="91441" marT="45712" marB="45712"/>
                </a:tc>
                <a:tc>
                  <a:txBody>
                    <a:bodyPr/>
                    <a:lstStyle/>
                    <a:p>
                      <a:r>
                        <a:rPr lang="en-GB" sz="1800" dirty="0"/>
                        <a:t>Logic, one driver</a:t>
                      </a:r>
                    </a:p>
                  </a:txBody>
                  <a:tcPr marL="91441" marR="91441"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Synonym  a   </a:t>
                      </a:r>
                      <a:r>
                        <a:rPr lang="en-GB" sz="1800" dirty="0" err="1"/>
                        <a:t>reg</a:t>
                      </a:r>
                      <a:endParaRPr lang="en-GB" sz="1800" dirty="0"/>
                    </a:p>
                    <a:p>
                      <a:endParaRPr lang="en-GB" sz="1800" dirty="0"/>
                    </a:p>
                  </a:txBody>
                  <a:tcPr marL="91441" marR="91441" marT="45712" marB="45712"/>
                </a:tc>
                <a:extLst>
                  <a:ext uri="{0D108BD9-81ED-4DB2-BD59-A6C34878D82A}">
                    <a16:rowId xmlns:a16="http://schemas.microsoft.com/office/drawing/2014/main" val="10002"/>
                  </a:ext>
                </a:extLst>
              </a:tr>
              <a:tr h="374200">
                <a:tc>
                  <a:txBody>
                    <a:bodyPr/>
                    <a:lstStyle/>
                    <a:p>
                      <a:r>
                        <a:rPr lang="en-GB" sz="1800" dirty="0"/>
                        <a:t>tri</a:t>
                      </a:r>
                    </a:p>
                  </a:txBody>
                  <a:tcPr marL="91441" marR="91441" marT="45712" marB="45712"/>
                </a:tc>
                <a:tc>
                  <a:txBody>
                    <a:bodyPr/>
                    <a:lstStyle/>
                    <a:p>
                      <a:r>
                        <a:rPr lang="en-GB" sz="1800" dirty="0"/>
                        <a:t> wire</a:t>
                      </a:r>
                    </a:p>
                  </a:txBody>
                  <a:tcPr marL="91441" marR="91441" marT="45712" marB="45712"/>
                </a:tc>
                <a:tc>
                  <a:txBody>
                    <a:bodyPr/>
                    <a:lstStyle/>
                    <a:p>
                      <a:r>
                        <a:rPr lang="en-GB" sz="1800" dirty="0"/>
                        <a:t>tri  </a:t>
                      </a:r>
                    </a:p>
                  </a:txBody>
                  <a:tcPr marL="91441" marR="91441" marT="45712" marB="45712"/>
                </a:tc>
                <a:tc>
                  <a:txBody>
                    <a:bodyPr/>
                    <a:lstStyle/>
                    <a:p>
                      <a:r>
                        <a:rPr lang="en-GB" sz="1800" dirty="0"/>
                        <a:t>Multiple drivers </a:t>
                      </a:r>
                    </a:p>
                  </a:txBody>
                  <a:tcPr marL="91441" marR="91441" marT="45712" marB="45712"/>
                </a:tc>
                <a:extLst>
                  <a:ext uri="{0D108BD9-81ED-4DB2-BD59-A6C34878D82A}">
                    <a16:rowId xmlns:a16="http://schemas.microsoft.com/office/drawing/2014/main" val="10003"/>
                  </a:ext>
                </a:extLst>
              </a:tr>
              <a:tr h="640040">
                <a:tc>
                  <a:txBody>
                    <a:bodyPr/>
                    <a:lstStyle/>
                    <a:p>
                      <a:endParaRPr lang="en-GB" sz="1800" dirty="0"/>
                    </a:p>
                  </a:txBody>
                  <a:tcPr marL="91441" marR="91441" marT="45712" marB="45712"/>
                </a:tc>
                <a:tc>
                  <a:txBody>
                    <a:bodyPr/>
                    <a:lstStyle/>
                    <a:p>
                      <a:endParaRPr lang="en-GB" sz="1800" dirty="0"/>
                    </a:p>
                  </a:txBody>
                  <a:tcPr marL="91441" marR="91441"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bit </a:t>
                      </a:r>
                      <a:br>
                        <a:rPr lang="en-GB" sz="1800" dirty="0"/>
                      </a:br>
                      <a:r>
                        <a:rPr lang="en-GB" sz="1800" dirty="0"/>
                        <a:t>{0,1}, byte</a:t>
                      </a:r>
                    </a:p>
                  </a:txBody>
                  <a:tcPr marL="91441" marR="91441" marT="45712" marB="45712"/>
                </a:tc>
                <a:tc>
                  <a:txBody>
                    <a:bodyPr/>
                    <a:lstStyle/>
                    <a:p>
                      <a:endParaRPr lang="en-GB" sz="1800" dirty="0"/>
                    </a:p>
                  </a:txBody>
                  <a:tcPr marL="91441" marR="91441" marT="45712" marB="45712"/>
                </a:tc>
                <a:extLst>
                  <a:ext uri="{0D108BD9-81ED-4DB2-BD59-A6C34878D82A}">
                    <a16:rowId xmlns:a16="http://schemas.microsoft.com/office/drawing/2014/main" val="10004"/>
                  </a:ext>
                </a:extLst>
              </a:tr>
            </a:tbl>
          </a:graphicData>
        </a:graphic>
      </p:graphicFrame>
      <p:sp>
        <p:nvSpPr>
          <p:cNvPr id="27683" name="TextBox 4">
            <a:extLst>
              <a:ext uri="{FF2B5EF4-FFF2-40B4-BE49-F238E27FC236}">
                <a16:creationId xmlns:a16="http://schemas.microsoft.com/office/drawing/2014/main" id="{3B7725CE-11AD-29B6-D29F-D03A8CAD1724}"/>
              </a:ext>
            </a:extLst>
          </p:cNvPr>
          <p:cNvSpPr txBox="1">
            <a:spLocks noChangeArrowheads="1"/>
          </p:cNvSpPr>
          <p:nvPr/>
        </p:nvSpPr>
        <p:spPr bwMode="auto">
          <a:xfrm>
            <a:off x="1905001" y="5497514"/>
            <a:ext cx="8315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800"/>
              <a:t>Signals with multiple drivers (e.g.,a tristate bus) must be declared as a net.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399AFD2-363A-4D71-A25F-3E0DDE285B3F}"/>
              </a:ext>
            </a:extLst>
          </p:cNvPr>
          <p:cNvGraphicFramePr>
            <a:graphicFrameLocks noGrp="1"/>
          </p:cNvGraphicFramePr>
          <p:nvPr>
            <p:extLst>
              <p:ext uri="{D42A27DB-BD31-4B8C-83A1-F6EECF244321}">
                <p14:modId xmlns:p14="http://schemas.microsoft.com/office/powerpoint/2010/main" val="1327528213"/>
              </p:ext>
            </p:extLst>
          </p:nvPr>
        </p:nvGraphicFramePr>
        <p:xfrm>
          <a:off x="2274888" y="1214438"/>
          <a:ext cx="7402513" cy="4576921"/>
        </p:xfrm>
        <a:graphic>
          <a:graphicData uri="http://schemas.openxmlformats.org/drawingml/2006/table">
            <a:tbl>
              <a:tblPr firstRow="1" bandRow="1">
                <a:tableStyleId>{5C22544A-7EE6-4342-B048-85BDC9FD1C3A}</a:tableStyleId>
              </a:tblPr>
              <a:tblGrid>
                <a:gridCol w="2428772">
                  <a:extLst>
                    <a:ext uri="{9D8B030D-6E8A-4147-A177-3AD203B41FA5}">
                      <a16:colId xmlns:a16="http://schemas.microsoft.com/office/drawing/2014/main" val="20000"/>
                    </a:ext>
                  </a:extLst>
                </a:gridCol>
                <a:gridCol w="1087708">
                  <a:extLst>
                    <a:ext uri="{9D8B030D-6E8A-4147-A177-3AD203B41FA5}">
                      <a16:colId xmlns:a16="http://schemas.microsoft.com/office/drawing/2014/main" val="20001"/>
                    </a:ext>
                  </a:extLst>
                </a:gridCol>
                <a:gridCol w="2960242">
                  <a:extLst>
                    <a:ext uri="{9D8B030D-6E8A-4147-A177-3AD203B41FA5}">
                      <a16:colId xmlns:a16="http://schemas.microsoft.com/office/drawing/2014/main" val="20002"/>
                    </a:ext>
                  </a:extLst>
                </a:gridCol>
                <a:gridCol w="925791">
                  <a:extLst>
                    <a:ext uri="{9D8B030D-6E8A-4147-A177-3AD203B41FA5}">
                      <a16:colId xmlns:a16="http://schemas.microsoft.com/office/drawing/2014/main" val="20003"/>
                    </a:ext>
                  </a:extLst>
                </a:gridCol>
              </a:tblGrid>
              <a:tr h="37077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Operations</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Symbols</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Real?</a:t>
                      </a:r>
                    </a:p>
                  </a:txBody>
                  <a:tcPr marL="91436" marR="91436" marT="45712" marB="45712" horzOverflow="overflow"/>
                </a:tc>
                <a:extLst>
                  <a:ext uri="{0D108BD9-81ED-4DB2-BD59-A6C34878D82A}">
                    <a16:rowId xmlns:a16="http://schemas.microsoft.com/office/drawing/2014/main" val="10000"/>
                  </a:ext>
                </a:extLst>
              </a:tr>
              <a:tr h="82291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Concatenation</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600" b="0" i="0" u="none" strike="noStrike" cap="none" normalizeH="0" baseline="0" dirty="0">
                          <a:ln>
                            <a:noFill/>
                          </a:ln>
                          <a:solidFill>
                            <a:schemeClr val="tx1"/>
                          </a:solidFill>
                          <a:effectLst/>
                          <a:latin typeface="Arial" pitchFamily="34" charset="0"/>
                          <a:cs typeface="Arial" pitchFamily="34" charset="0"/>
                        </a:rPr>
                        <a:t>{ </a:t>
                      </a:r>
                      <a:r>
                        <a:rPr kumimoji="0" lang="en-US" sz="1600" b="0" i="0" u="none" strike="noStrike" cap="none" normalizeH="0" baseline="0" dirty="0">
                          <a:ln>
                            <a:noFill/>
                          </a:ln>
                          <a:solidFill>
                            <a:schemeClr val="tx1"/>
                          </a:solidFill>
                          <a:effectLst/>
                          <a:latin typeface="Arial" pitchFamily="34" charset="0"/>
                          <a:cs typeface="Arial" pitchFamily="34" charset="0"/>
                        </a:rPr>
                        <a:t>, , …,</a:t>
                      </a:r>
                      <a:r>
                        <a:rPr kumimoji="0" lang="ru-RU" sz="1600" b="0" i="0" u="none" strike="noStrike" cap="none" normalizeH="0" baseline="0" dirty="0">
                          <a:ln>
                            <a:noFill/>
                          </a:ln>
                          <a:solidFill>
                            <a:schemeClr val="tx1"/>
                          </a:solidFill>
                          <a:effectLst/>
                          <a:latin typeface="Arial" pitchFamily="34" charset="0"/>
                          <a:cs typeface="Arial" pitchFamily="34" charset="0"/>
                        </a:rPr>
                        <a:t> }</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Concatenate different </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operands into a single operand</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No</a:t>
                      </a:r>
                    </a:p>
                  </a:txBody>
                  <a:tcPr marL="91436" marR="91436" marT="45712" marB="45712" horzOverflow="overflow"/>
                </a:tc>
                <a:extLst>
                  <a:ext uri="{0D108BD9-81ED-4DB2-BD59-A6C34878D82A}">
                    <a16:rowId xmlns:a16="http://schemas.microsoft.com/office/drawing/2014/main" val="10001"/>
                  </a:ext>
                </a:extLst>
              </a:tr>
              <a:tr h="5790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Replication</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ru-RU" sz="1600" b="0" i="0" u="none" strike="noStrike" cap="none" normalizeH="0" baseline="0">
                          <a:ln>
                            <a:noFill/>
                          </a:ln>
                          <a:solidFill>
                            <a:schemeClr val="tx1"/>
                          </a:solidFill>
                          <a:effectLst/>
                          <a:latin typeface="Arial" pitchFamily="34" charset="0"/>
                          <a:cs typeface="Arial" pitchFamily="34" charset="0"/>
                        </a:rPr>
                        <a:t>{</a:t>
                      </a:r>
                      <a:r>
                        <a:rPr kumimoji="0" lang="en-US" sz="1600" b="0" i="0" u="none" strike="noStrike" cap="none" normalizeH="0" baseline="0">
                          <a:ln>
                            <a:noFill/>
                          </a:ln>
                          <a:solidFill>
                            <a:schemeClr val="tx1"/>
                          </a:solidFill>
                          <a:effectLst/>
                          <a:latin typeface="Arial" pitchFamily="34" charset="0"/>
                          <a:cs typeface="Arial" pitchFamily="34" charset="0"/>
                        </a:rPr>
                        <a:t>n{</a:t>
                      </a:r>
                      <a:r>
                        <a:rPr kumimoji="0" lang="ru-RU" sz="1600" b="0" i="0" u="none" strike="noStrike" cap="none" normalizeH="0" baseline="0">
                          <a:ln>
                            <a:noFill/>
                          </a:ln>
                          <a:solidFill>
                            <a:schemeClr val="tx1"/>
                          </a:solidFill>
                          <a:effectLst/>
                          <a:latin typeface="Arial" pitchFamily="34" charset="0"/>
                          <a:cs typeface="Arial" pitchFamily="34" charset="0"/>
                        </a:rPr>
                        <a:t> </a:t>
                      </a:r>
                      <a:r>
                        <a:rPr kumimoji="0" lang="en-US" sz="1600" b="0" i="0" u="none" strike="noStrike" cap="none" normalizeH="0" baseline="0">
                          <a:ln>
                            <a:noFill/>
                          </a:ln>
                          <a:solidFill>
                            <a:schemeClr val="tx1"/>
                          </a:solidFill>
                          <a:effectLst/>
                          <a:latin typeface="Arial" pitchFamily="34" charset="0"/>
                          <a:cs typeface="Arial" pitchFamily="34" charset="0"/>
                        </a:rPr>
                        <a:t>, , …,</a:t>
                      </a:r>
                      <a:r>
                        <a:rPr kumimoji="0" lang="ru-RU" sz="1600" b="0" i="0" u="none" strike="noStrike" cap="none" normalizeH="0" baseline="0">
                          <a:ln>
                            <a:noFill/>
                          </a:ln>
                          <a:solidFill>
                            <a:schemeClr val="tx1"/>
                          </a:solidFill>
                          <a:effectLst/>
                          <a:latin typeface="Arial" pitchFamily="34" charset="0"/>
                          <a:cs typeface="Arial" pitchFamily="34" charset="0"/>
                        </a:rPr>
                        <a:t> }</a:t>
                      </a:r>
                      <a:r>
                        <a:rPr kumimoji="0" lang="en-US" sz="1600" b="0" i="0" u="none" strike="noStrike" cap="none" normalizeH="0" baseline="0">
                          <a:ln>
                            <a:noFill/>
                          </a:ln>
                          <a:solidFill>
                            <a:schemeClr val="tx1"/>
                          </a:solidFill>
                          <a:effectLst/>
                          <a:latin typeface="Arial" pitchFamily="34" charset="0"/>
                          <a:cs typeface="Arial" pitchFamily="34" charset="0"/>
                        </a:rPr>
                        <a:t>}</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Repeat an operand in several times</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36" marR="91436" marT="45712" marB="45712" horzOverflow="overflow"/>
                </a:tc>
                <a:extLst>
                  <a:ext uri="{0D108BD9-81ED-4DB2-BD59-A6C34878D82A}">
                    <a16:rowId xmlns:a16="http://schemas.microsoft.com/office/drawing/2014/main" val="10002"/>
                  </a:ext>
                </a:extLst>
              </a:tr>
              <a:tr h="82291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Arithmetic</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operators</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 -, *, /</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Unary,</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Binary,</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module of number </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rPr>
                        <a:t>Yes</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err="1">
                          <a:ln>
                            <a:noFill/>
                          </a:ln>
                          <a:solidFill>
                            <a:schemeClr val="tx1"/>
                          </a:solidFill>
                          <a:effectLst/>
                          <a:latin typeface="Arial" pitchFamily="34" charset="0"/>
                          <a:cs typeface="Arial" pitchFamily="34" charset="0"/>
                        </a:rPr>
                        <a:t>Yes</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No</a:t>
                      </a:r>
                    </a:p>
                  </a:txBody>
                  <a:tcPr marL="91436" marR="91436" marT="45712" marB="45712" horzOverflow="overflow"/>
                </a:tc>
                <a:extLst>
                  <a:ext uri="{0D108BD9-81ED-4DB2-BD59-A6C34878D82A}">
                    <a16:rowId xmlns:a16="http://schemas.microsoft.com/office/drawing/2014/main" val="10003"/>
                  </a:ext>
                </a:extLst>
              </a:tr>
              <a:tr h="5790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Shift </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operators</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&gt;&gt;, &lt;&lt;</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Shift right,</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shift left</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No</a:t>
                      </a:r>
                    </a:p>
                  </a:txBody>
                  <a:tcPr marL="91436" marR="91436" marT="45712" marB="45712" horzOverflow="overflow"/>
                </a:tc>
                <a:extLst>
                  <a:ext uri="{0D108BD9-81ED-4DB2-BD59-A6C34878D82A}">
                    <a16:rowId xmlns:a16="http://schemas.microsoft.com/office/drawing/2014/main" val="10004"/>
                  </a:ext>
                </a:extLst>
              </a:tr>
              <a:tr h="5790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Relational</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operators</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&gt;, </a:t>
                      </a:r>
                      <a:r>
                        <a:rPr kumimoji="0" lang="en-US" sz="1600" b="0" i="0" u="none" strike="noStrike" cap="none" normalizeH="0" baseline="0">
                          <a:ln>
                            <a:noFill/>
                          </a:ln>
                          <a:solidFill>
                            <a:schemeClr val="tx1"/>
                          </a:solidFill>
                          <a:effectLst/>
                          <a:latin typeface="Arial" pitchFamily="34" charset="0"/>
                          <a:cs typeface="Arial" pitchFamily="34" charset="0"/>
                          <a:sym typeface="Symbol" pitchFamily="18" charset="2"/>
                        </a:rPr>
                        <a:t>&gt;=, </a:t>
                      </a:r>
                      <a:br>
                        <a:rPr kumimoji="0" lang="en-US" sz="1600" b="0" i="0" u="none" strike="noStrike" cap="none" normalizeH="0" baseline="0">
                          <a:ln>
                            <a:noFill/>
                          </a:ln>
                          <a:solidFill>
                            <a:schemeClr val="tx1"/>
                          </a:solidFill>
                          <a:effectLst/>
                          <a:latin typeface="Arial" pitchFamily="34" charset="0"/>
                          <a:cs typeface="Arial" pitchFamily="34" charset="0"/>
                          <a:sym typeface="Symbol" pitchFamily="18" charset="2"/>
                        </a:rPr>
                      </a:br>
                      <a:r>
                        <a:rPr kumimoji="0" lang="en-US" sz="1600" b="0" i="0" u="none" strike="noStrike" cap="none" normalizeH="0" baseline="0">
                          <a:ln>
                            <a:noFill/>
                          </a:ln>
                          <a:solidFill>
                            <a:schemeClr val="tx1"/>
                          </a:solidFill>
                          <a:effectLst/>
                          <a:latin typeface="Arial" pitchFamily="34" charset="0"/>
                          <a:cs typeface="Arial" pitchFamily="34" charset="0"/>
                          <a:sym typeface="Symbol" pitchFamily="18" charset="2"/>
                        </a:rPr>
                        <a:t>, &lt;=</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Yes</a:t>
                      </a:r>
                    </a:p>
                  </a:txBody>
                  <a:tcPr marL="91436" marR="91436" marT="45712" marB="45712" horzOverflow="overflow"/>
                </a:tc>
                <a:extLst>
                  <a:ext uri="{0D108BD9-81ED-4DB2-BD59-A6C34878D82A}">
                    <a16:rowId xmlns:a16="http://schemas.microsoft.com/office/drawing/2014/main" val="10005"/>
                  </a:ext>
                </a:extLst>
              </a:tr>
              <a:tr h="82291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Equality</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 =, ! =</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 = =, ! = =</a:t>
                      </a: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Equal – not equal</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ru-RU" sz="1600" b="0" i="0" u="none" strike="noStrike" cap="none" normalizeH="0" baseline="0">
                          <a:ln>
                            <a:noFill/>
                          </a:ln>
                          <a:solidFill>
                            <a:schemeClr val="tx1"/>
                          </a:solidFill>
                          <a:effectLst/>
                          <a:latin typeface="Arial" pitchFamily="34" charset="0"/>
                          <a:cs typeface="Arial" pitchFamily="34" charset="0"/>
                        </a:rPr>
                        <a:t>bits  x and z are involved in the operation </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Yes</a:t>
                      </a:r>
                    </a:p>
                  </a:txBody>
                  <a:tcPr marL="91436" marR="91436" marT="45712" marB="45712" horzOverflow="overflow"/>
                </a:tc>
                <a:extLst>
                  <a:ext uri="{0D108BD9-81ED-4DB2-BD59-A6C34878D82A}">
                    <a16:rowId xmlns:a16="http://schemas.microsoft.com/office/drawing/2014/main" val="10006"/>
                  </a:ext>
                </a:extLst>
              </a:tr>
            </a:tbl>
          </a:graphicData>
        </a:graphic>
      </p:graphicFrame>
      <p:sp>
        <p:nvSpPr>
          <p:cNvPr id="28716" name="Title 6">
            <a:extLst>
              <a:ext uri="{FF2B5EF4-FFF2-40B4-BE49-F238E27FC236}">
                <a16:creationId xmlns:a16="http://schemas.microsoft.com/office/drawing/2014/main" id="{886E718B-C2BE-8143-7C2A-0AB1B17A4FF1}"/>
              </a:ext>
            </a:extLst>
          </p:cNvPr>
          <p:cNvSpPr>
            <a:spLocks noGrp="1" noChangeArrowheads="1"/>
          </p:cNvSpPr>
          <p:nvPr>
            <p:ph type="title"/>
          </p:nvPr>
        </p:nvSpPr>
        <p:spPr/>
        <p:txBody>
          <a:bodyPr>
            <a:normAutofit/>
          </a:bodyPr>
          <a:lstStyle/>
          <a:p>
            <a:r>
              <a:rPr lang="en-US" altLang="en-US" dirty="0"/>
              <a:t>Table of Operations</a:t>
            </a:r>
            <a:endParaRPr lang="ru-RU"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6B87F378-E63E-2C6F-3890-3529BC9A3665}"/>
              </a:ext>
            </a:extLst>
          </p:cNvPr>
          <p:cNvSpPr>
            <a:spLocks noGrp="1" noChangeArrowheads="1"/>
          </p:cNvSpPr>
          <p:nvPr>
            <p:ph type="title"/>
          </p:nvPr>
        </p:nvSpPr>
        <p:spPr/>
        <p:txBody>
          <a:bodyPr/>
          <a:lstStyle/>
          <a:p>
            <a:r>
              <a:rPr lang="en-US" altLang="en-US"/>
              <a:t>Examples</a:t>
            </a:r>
            <a:endParaRPr lang="ru-RU" altLang="en-US"/>
          </a:p>
        </p:txBody>
      </p:sp>
      <p:sp>
        <p:nvSpPr>
          <p:cNvPr id="29699" name="Content Placeholder 3">
            <a:extLst>
              <a:ext uri="{FF2B5EF4-FFF2-40B4-BE49-F238E27FC236}">
                <a16:creationId xmlns:a16="http://schemas.microsoft.com/office/drawing/2014/main" id="{6994D8DD-7CDB-19FE-ED3F-DA05FD0B873C}"/>
              </a:ext>
            </a:extLst>
          </p:cNvPr>
          <p:cNvSpPr>
            <a:spLocks noGrp="1" noChangeArrowheads="1"/>
          </p:cNvSpPr>
          <p:nvPr>
            <p:ph type="body" sz="quarter" idx="10"/>
          </p:nvPr>
        </p:nvSpPr>
        <p:spPr/>
        <p:txBody>
          <a:bodyPr/>
          <a:lstStyle/>
          <a:p>
            <a:r>
              <a:rPr lang="en-US" altLang="en-US"/>
              <a:t>reg A;  reg[1:0] B,C; reg[2:0] D;</a:t>
            </a:r>
          </a:p>
          <a:p>
            <a:r>
              <a:rPr lang="en-US" altLang="en-US"/>
              <a:t>A=1’b1; B=2’b00; C=2’b10; D=3’b110;</a:t>
            </a:r>
          </a:p>
          <a:p>
            <a:r>
              <a:rPr lang="en-US" altLang="en-US"/>
              <a:t>Y={B,C}; //Y=4’b0010</a:t>
            </a:r>
          </a:p>
          <a:p>
            <a:r>
              <a:rPr lang="en-US" altLang="en-US"/>
              <a:t>Y={4{A}};  //Y=4’b1111</a:t>
            </a:r>
          </a:p>
          <a:p>
            <a:r>
              <a:rPr lang="en-US" altLang="en-US"/>
              <a:t>Y={4{A}, 2{B}, C,2{D}}; // Y=16’b11110000_10110110</a:t>
            </a:r>
          </a:p>
          <a:p>
            <a:endParaRPr lang="ru-RU" altLang="en-US"/>
          </a:p>
          <a:p>
            <a:endParaRPr lang="ru-RU"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11" name="Group 31">
            <a:extLst>
              <a:ext uri="{FF2B5EF4-FFF2-40B4-BE49-F238E27FC236}">
                <a16:creationId xmlns:a16="http://schemas.microsoft.com/office/drawing/2014/main" id="{EFBBD0B0-54E4-409D-AC24-D63870DA27F9}"/>
              </a:ext>
            </a:extLst>
          </p:cNvPr>
          <p:cNvGraphicFramePr>
            <a:graphicFrameLocks noGrp="1"/>
          </p:cNvGraphicFramePr>
          <p:nvPr>
            <p:extLst>
              <p:ext uri="{D42A27DB-BD31-4B8C-83A1-F6EECF244321}">
                <p14:modId xmlns:p14="http://schemas.microsoft.com/office/powerpoint/2010/main" val="2123356149"/>
              </p:ext>
            </p:extLst>
          </p:nvPr>
        </p:nvGraphicFramePr>
        <p:xfrm>
          <a:off x="2362200" y="1676400"/>
          <a:ext cx="7391400" cy="4121151"/>
        </p:xfrm>
        <a:graphic>
          <a:graphicData uri="http://schemas.openxmlformats.org/drawingml/2006/table">
            <a:tbl>
              <a:tblPr/>
              <a:tblGrid>
                <a:gridCol w="1847850">
                  <a:extLst>
                    <a:ext uri="{9D8B030D-6E8A-4147-A177-3AD203B41FA5}">
                      <a16:colId xmlns:a16="http://schemas.microsoft.com/office/drawing/2014/main" val="20000"/>
                    </a:ext>
                  </a:extLst>
                </a:gridCol>
                <a:gridCol w="1847850">
                  <a:extLst>
                    <a:ext uri="{9D8B030D-6E8A-4147-A177-3AD203B41FA5}">
                      <a16:colId xmlns:a16="http://schemas.microsoft.com/office/drawing/2014/main" val="20001"/>
                    </a:ext>
                  </a:extLst>
                </a:gridCol>
                <a:gridCol w="2955925">
                  <a:extLst>
                    <a:ext uri="{9D8B030D-6E8A-4147-A177-3AD203B41FA5}">
                      <a16:colId xmlns:a16="http://schemas.microsoft.com/office/drawing/2014/main" val="20002"/>
                    </a:ext>
                  </a:extLst>
                </a:gridCol>
                <a:gridCol w="739775">
                  <a:extLst>
                    <a:ext uri="{9D8B030D-6E8A-4147-A177-3AD203B41FA5}">
                      <a16:colId xmlns:a16="http://schemas.microsoft.com/office/drawing/2014/main" val="20003"/>
                    </a:ext>
                  </a:extLst>
                </a:gridCol>
              </a:tblGrid>
              <a:tr h="111563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Reduction</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operators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&amp;, ~&amp;</a:t>
                      </a:r>
                      <a:br>
                        <a:rPr kumimoji="0" lang="en-US" sz="1600" b="0" i="0" u="none" strike="noStrike" cap="none" normalizeH="0" baseline="0" dirty="0">
                          <a:ln>
                            <a:noFill/>
                          </a:ln>
                          <a:solidFill>
                            <a:schemeClr val="bg1"/>
                          </a:solidFill>
                          <a:effectLst/>
                          <a:latin typeface="Arial" pitchFamily="34" charset="0"/>
                          <a:cs typeface="Arial" pitchFamily="34" charset="0"/>
                        </a:rPr>
                      </a:br>
                      <a:r>
                        <a:rPr kumimoji="0" lang="en-US" sz="1600" b="0" i="0" u="none" strike="noStrike" cap="none" normalizeH="0" baseline="0" dirty="0">
                          <a:ln>
                            <a:noFill/>
                          </a:ln>
                          <a:solidFill>
                            <a:schemeClr val="bg1"/>
                          </a:solidFill>
                          <a:effectLst/>
                          <a:latin typeface="Arial" pitchFamily="34" charset="0"/>
                          <a:cs typeface="Arial" pitchFamily="34" charset="0"/>
                        </a:rPr>
                        <a:t>|, ~| </a:t>
                      </a:r>
                      <a:br>
                        <a:rPr kumimoji="0" lang="en-US" sz="1600" b="0" i="0" u="none" strike="noStrike" cap="none" normalizeH="0" baseline="0" dirty="0">
                          <a:ln>
                            <a:noFill/>
                          </a:ln>
                          <a:solidFill>
                            <a:schemeClr val="bg1"/>
                          </a:solidFill>
                          <a:effectLst/>
                          <a:latin typeface="Arial" pitchFamily="34" charset="0"/>
                          <a:cs typeface="Arial" pitchFamily="34" charset="0"/>
                        </a:rPr>
                      </a:br>
                      <a:r>
                        <a:rPr kumimoji="0" lang="en-US" sz="1600" b="0" i="0" u="none" strike="noStrike" cap="none" normalizeH="0" baseline="0" dirty="0">
                          <a:ln>
                            <a:noFill/>
                          </a:ln>
                          <a:solidFill>
                            <a:schemeClr val="bg1"/>
                          </a:solidFill>
                          <a:effectLst/>
                          <a:latin typeface="Arial" pitchFamily="34" charset="0"/>
                          <a:cs typeface="Arial" pitchFamily="34" charset="0"/>
                        </a:rPr>
                        <a:t>^</a:t>
                      </a:r>
                      <a:br>
                        <a:rPr kumimoji="0" lang="en-US" sz="1600" b="0" i="0" u="none" strike="noStrike" cap="none" normalizeH="0" baseline="0" dirty="0">
                          <a:ln>
                            <a:noFill/>
                          </a:ln>
                          <a:solidFill>
                            <a:schemeClr val="bg1"/>
                          </a:solidFill>
                          <a:effectLst/>
                          <a:latin typeface="Arial" pitchFamily="34" charset="0"/>
                          <a:cs typeface="Arial" pitchFamily="34" charset="0"/>
                        </a:rPr>
                      </a:br>
                      <a:r>
                        <a:rPr kumimoji="0" lang="en-US" sz="1600" b="0" i="0" u="none" strike="noStrike" cap="none" normalizeH="0" baseline="0" dirty="0">
                          <a:ln>
                            <a:noFill/>
                          </a:ln>
                          <a:solidFill>
                            <a:schemeClr val="bg1"/>
                          </a:solidFill>
                          <a:effectLst/>
                          <a:latin typeface="Arial" pitchFamily="34" charset="0"/>
                          <a:cs typeface="Arial" pitchFamily="34" charset="0"/>
                        </a:rPr>
                        <a:t>^~ or ~^</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AND , NAND</a:t>
                      </a:r>
                      <a:br>
                        <a:rPr kumimoji="0" lang="en-US" sz="1600" b="0" i="0" u="none" strike="noStrike" cap="none" normalizeH="0" baseline="0" dirty="0">
                          <a:ln>
                            <a:noFill/>
                          </a:ln>
                          <a:solidFill>
                            <a:schemeClr val="bg1"/>
                          </a:solidFill>
                          <a:effectLst/>
                          <a:latin typeface="Arial" pitchFamily="34" charset="0"/>
                          <a:cs typeface="Arial" pitchFamily="34" charset="0"/>
                        </a:rPr>
                      </a:br>
                      <a:r>
                        <a:rPr kumimoji="0" lang="en-US" sz="1600" b="0" i="0" u="none" strike="noStrike" cap="none" normalizeH="0" baseline="0" dirty="0">
                          <a:ln>
                            <a:noFill/>
                          </a:ln>
                          <a:solidFill>
                            <a:schemeClr val="bg1"/>
                          </a:solidFill>
                          <a:effectLst/>
                          <a:latin typeface="Arial" pitchFamily="34" charset="0"/>
                          <a:cs typeface="Arial" pitchFamily="34" charset="0"/>
                        </a:rPr>
                        <a:t>OR ,NOR</a:t>
                      </a:r>
                      <a:br>
                        <a:rPr kumimoji="0" lang="en-US" sz="1600" b="0" i="0" u="none" strike="noStrike" cap="none" normalizeH="0" baseline="0" dirty="0">
                          <a:ln>
                            <a:noFill/>
                          </a:ln>
                          <a:solidFill>
                            <a:schemeClr val="bg1"/>
                          </a:solidFill>
                          <a:effectLst/>
                          <a:latin typeface="Arial" pitchFamily="34" charset="0"/>
                          <a:cs typeface="Arial" pitchFamily="34" charset="0"/>
                        </a:rPr>
                      </a:br>
                      <a:r>
                        <a:rPr kumimoji="0" lang="en-US" sz="1600" b="0" i="0" u="none" strike="noStrike" cap="none" normalizeH="0" baseline="0" dirty="0">
                          <a:ln>
                            <a:noFill/>
                          </a:ln>
                          <a:solidFill>
                            <a:schemeClr val="bg1"/>
                          </a:solidFill>
                          <a:effectLst/>
                          <a:latin typeface="Arial" pitchFamily="34" charset="0"/>
                          <a:cs typeface="Arial" pitchFamily="34" charset="0"/>
                        </a:rPr>
                        <a:t>XOR</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XNOR</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No</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107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bitwise </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operators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&amp;, ~&amp;</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 ~|</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 or ~^</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Not</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AND, NAND</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OR, NOR</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XOR</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 XNOR</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No</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8230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Logic</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operators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&amp;&amp;</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 |</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Not</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AND</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OR</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Yes</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87178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Ternary</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operator</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(conditional)</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r = s ? t:u; </a:t>
                      </a:r>
                      <a:br>
                        <a:rPr kumimoji="0" lang="en-US" sz="1600" b="0" i="0" u="none" strike="noStrike" cap="none" normalizeH="0" baseline="0">
                          <a:ln>
                            <a:noFill/>
                          </a:ln>
                          <a:solidFill>
                            <a:schemeClr val="tx1"/>
                          </a:solidFill>
                          <a:effectLst/>
                          <a:latin typeface="Arial" pitchFamily="34" charset="0"/>
                          <a:cs typeface="Arial" pitchFamily="34" charset="0"/>
                        </a:rPr>
                      </a:br>
                      <a:r>
                        <a:rPr kumimoji="0" lang="en-US" sz="1600" b="0" i="0" u="none" strike="noStrike" cap="none" normalizeH="0" baseline="0">
                          <a:ln>
                            <a:noFill/>
                          </a:ln>
                          <a:solidFill>
                            <a:schemeClr val="tx1"/>
                          </a:solidFill>
                          <a:effectLst/>
                          <a:latin typeface="Arial" pitchFamily="34" charset="0"/>
                          <a:cs typeface="Arial" pitchFamily="34" charset="0"/>
                        </a:rPr>
                        <a:t>//r=(if s is true, then t else u)</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c=(a&gt;b)? 3’b100:3’b111;</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Use in C, Java</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30749" name="Title 6">
            <a:extLst>
              <a:ext uri="{FF2B5EF4-FFF2-40B4-BE49-F238E27FC236}">
                <a16:creationId xmlns:a16="http://schemas.microsoft.com/office/drawing/2014/main" id="{1C85D723-9EF7-9499-E25E-D294D7B5659A}"/>
              </a:ext>
            </a:extLst>
          </p:cNvPr>
          <p:cNvSpPr>
            <a:spLocks noGrp="1" noChangeArrowheads="1"/>
          </p:cNvSpPr>
          <p:nvPr>
            <p:ph type="title"/>
          </p:nvPr>
        </p:nvSpPr>
        <p:spPr/>
        <p:txBody>
          <a:bodyPr>
            <a:normAutofit/>
          </a:bodyPr>
          <a:lstStyle/>
          <a:p>
            <a:r>
              <a:rPr lang="en-US" altLang="en-US" dirty="0"/>
              <a:t>Table of Operations</a:t>
            </a:r>
            <a:endParaRPr lang="ru-RU"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19B75592-82F4-B1E0-6912-B99F5C2A8D4C}"/>
              </a:ext>
            </a:extLst>
          </p:cNvPr>
          <p:cNvSpPr>
            <a:spLocks noGrp="1" noChangeArrowheads="1"/>
          </p:cNvSpPr>
          <p:nvPr>
            <p:ph type="title"/>
          </p:nvPr>
        </p:nvSpPr>
        <p:spPr/>
        <p:txBody>
          <a:bodyPr/>
          <a:lstStyle/>
          <a:p>
            <a:r>
              <a:rPr lang="en-US" altLang="en-US"/>
              <a:t>Example (Verilog 2005)</a:t>
            </a:r>
            <a:endParaRPr lang="en-GB" altLang="en-US"/>
          </a:p>
        </p:txBody>
      </p:sp>
      <p:sp>
        <p:nvSpPr>
          <p:cNvPr id="3" name="Text Placeholder 2">
            <a:extLst>
              <a:ext uri="{FF2B5EF4-FFF2-40B4-BE49-F238E27FC236}">
                <a16:creationId xmlns:a16="http://schemas.microsoft.com/office/drawing/2014/main" id="{A30816AF-73F6-1A27-CEFB-A5EB2DF2A2D8}"/>
              </a:ext>
            </a:extLst>
          </p:cNvPr>
          <p:cNvSpPr>
            <a:spLocks noGrp="1"/>
          </p:cNvSpPr>
          <p:nvPr>
            <p:ph type="body" sz="quarter" idx="10"/>
          </p:nvPr>
        </p:nvSpPr>
        <p:spPr/>
        <p:txBody>
          <a:bodyPr/>
          <a:lstStyle/>
          <a:p>
            <a:r>
              <a:rPr lang="en-US" dirty="0"/>
              <a:t>module  gates (input [3:0] </a:t>
            </a:r>
            <a:r>
              <a:rPr lang="en-US" dirty="0" err="1"/>
              <a:t>a,b</a:t>
            </a:r>
            <a:r>
              <a:rPr lang="en-US" dirty="0"/>
              <a:t>, </a:t>
            </a:r>
            <a:br>
              <a:rPr lang="en-US" dirty="0"/>
            </a:br>
            <a:r>
              <a:rPr lang="en-US" dirty="0"/>
              <a:t>		output wire [3:0] y1,y2,y3,y4,y5,y6);</a:t>
            </a:r>
          </a:p>
          <a:p>
            <a:pPr lvl="1"/>
            <a:r>
              <a:rPr lang="en-US" dirty="0"/>
              <a:t>	/* Six two-input logic gates acting on 4 bit busses*/</a:t>
            </a:r>
          </a:p>
          <a:p>
            <a:endParaRPr lang="en-US" dirty="0"/>
          </a:p>
          <a:p>
            <a:r>
              <a:rPr lang="en-US" dirty="0"/>
              <a:t>assign  y1=</a:t>
            </a:r>
            <a:r>
              <a:rPr lang="en-US" dirty="0" err="1"/>
              <a:t>a&amp;b</a:t>
            </a:r>
            <a:r>
              <a:rPr lang="en-US" dirty="0"/>
              <a:t>;	     //AND				</a:t>
            </a:r>
          </a:p>
          <a:p>
            <a:r>
              <a:rPr lang="en-US" dirty="0"/>
              <a:t>assign  y2=</a:t>
            </a:r>
            <a:r>
              <a:rPr lang="en-US" dirty="0" err="1"/>
              <a:t>a|b</a:t>
            </a:r>
            <a:r>
              <a:rPr lang="en-US" dirty="0"/>
              <a:t>;       //OR</a:t>
            </a:r>
          </a:p>
          <a:p>
            <a:r>
              <a:rPr lang="en-US" dirty="0"/>
              <a:t>assign y3=</a:t>
            </a:r>
            <a:r>
              <a:rPr lang="en-US" dirty="0" err="1"/>
              <a:t>a^b</a:t>
            </a:r>
            <a:r>
              <a:rPr lang="en-US" dirty="0"/>
              <a:t>;        //XOR</a:t>
            </a:r>
          </a:p>
          <a:p>
            <a:r>
              <a:rPr lang="en-US" dirty="0"/>
              <a:t>assign y4=~(</a:t>
            </a:r>
            <a:r>
              <a:rPr lang="en-US" dirty="0" err="1"/>
              <a:t>a&amp;b</a:t>
            </a:r>
            <a:r>
              <a:rPr lang="en-US" dirty="0"/>
              <a:t>);   //NAND</a:t>
            </a:r>
          </a:p>
          <a:p>
            <a:r>
              <a:rPr lang="en-US" dirty="0"/>
              <a:t>assign y5=~(</a:t>
            </a:r>
            <a:r>
              <a:rPr lang="en-US" dirty="0" err="1"/>
              <a:t>a|b</a:t>
            </a:r>
            <a:r>
              <a:rPr lang="en-US" dirty="0"/>
              <a:t>);     //NOR</a:t>
            </a:r>
          </a:p>
          <a:p>
            <a:r>
              <a:rPr lang="en-US" dirty="0"/>
              <a:t>assign y6=a^~b;        //XNOR</a:t>
            </a:r>
          </a:p>
          <a:p>
            <a:r>
              <a:rPr lang="en-US" dirty="0" err="1"/>
              <a:t>endmodule</a:t>
            </a:r>
            <a:r>
              <a:rPr lang="en-US"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4967E6FC-0C2C-35CE-1787-D62A27E90F30}"/>
              </a:ext>
            </a:extLst>
          </p:cNvPr>
          <p:cNvSpPr>
            <a:spLocks noGrp="1" noChangeArrowheads="1"/>
          </p:cNvSpPr>
          <p:nvPr>
            <p:ph type="title"/>
          </p:nvPr>
        </p:nvSpPr>
        <p:spPr/>
        <p:txBody>
          <a:bodyPr/>
          <a:lstStyle/>
          <a:p>
            <a:r>
              <a:rPr lang="en-US" altLang="en-US"/>
              <a:t>System  Verilog:   Module   Gates</a:t>
            </a:r>
            <a:endParaRPr lang="en-GB" altLang="en-US"/>
          </a:p>
        </p:txBody>
      </p:sp>
      <p:sp>
        <p:nvSpPr>
          <p:cNvPr id="3" name="Text Placeholder 2">
            <a:extLst>
              <a:ext uri="{FF2B5EF4-FFF2-40B4-BE49-F238E27FC236}">
                <a16:creationId xmlns:a16="http://schemas.microsoft.com/office/drawing/2014/main" id="{44E43F77-45BF-43A3-A252-D863B82E493F}"/>
              </a:ext>
            </a:extLst>
          </p:cNvPr>
          <p:cNvSpPr>
            <a:spLocks noGrp="1"/>
          </p:cNvSpPr>
          <p:nvPr>
            <p:ph type="body" sz="quarter" idx="10"/>
          </p:nvPr>
        </p:nvSpPr>
        <p:spPr/>
        <p:txBody>
          <a:bodyPr/>
          <a:lstStyle/>
          <a:p>
            <a:r>
              <a:rPr lang="en-US" sz="2100" dirty="0"/>
              <a:t>module gates( input logic [3:0] a, b,</a:t>
            </a:r>
          </a:p>
          <a:p>
            <a:r>
              <a:rPr lang="en-US" sz="2100" dirty="0"/>
              <a:t>  	output  logic [3:0] y1, y2, y3, y4, y5,y6);</a:t>
            </a:r>
          </a:p>
          <a:p>
            <a:pPr lvl="1"/>
            <a:r>
              <a:rPr lang="en-US" dirty="0"/>
              <a:t>/*six  different two-input logic  gates acting on 4-bit busses */</a:t>
            </a:r>
          </a:p>
          <a:p>
            <a:r>
              <a:rPr lang="en-US" sz="2100" dirty="0"/>
              <a:t>assign y1 = a &amp; b; // AND</a:t>
            </a:r>
          </a:p>
          <a:p>
            <a:r>
              <a:rPr lang="en-US" sz="2100" dirty="0"/>
              <a:t>assign y2 = a |b; // OR</a:t>
            </a:r>
          </a:p>
          <a:p>
            <a:r>
              <a:rPr lang="en-US" sz="2100" dirty="0"/>
              <a:t>assign y3 = a ^ b; // XOR</a:t>
            </a:r>
          </a:p>
          <a:p>
            <a:r>
              <a:rPr lang="en-US" sz="2100" dirty="0"/>
              <a:t>assign y4 = ~(a &amp; b); // NAND</a:t>
            </a:r>
          </a:p>
          <a:p>
            <a:r>
              <a:rPr lang="en-US" sz="2100" dirty="0"/>
              <a:t>assign y5 = ~(a |b); // NOR</a:t>
            </a:r>
          </a:p>
          <a:p>
            <a:r>
              <a:rPr lang="en-US" sz="2100" dirty="0"/>
              <a:t>assign y6=a^~b;        //XNOR</a:t>
            </a:r>
          </a:p>
          <a:p>
            <a:r>
              <a:rPr lang="en-US" sz="2100" dirty="0" err="1"/>
              <a:t>endmodule</a:t>
            </a:r>
            <a:endParaRPr lang="en-US" sz="2100" dirty="0"/>
          </a:p>
          <a:p>
            <a:r>
              <a:rPr lang="en-US" sz="2100" dirty="0"/>
              <a:t>Verilog,   </a:t>
            </a:r>
            <a:r>
              <a:rPr lang="en-US" sz="2100" dirty="0" err="1"/>
              <a:t>SystemVerilog</a:t>
            </a:r>
            <a:r>
              <a:rPr lang="en-US" sz="2100" dirty="0"/>
              <a:t> are case-sensitive. y1 and Y1 are different signals. VHDL is not   case-sensitive.</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E21C4E39-B86B-4460-B2B4-3760BB6B217E}"/>
              </a:ext>
            </a:extLst>
          </p:cNvPr>
          <p:cNvGraphicFramePr>
            <a:graphicFrameLocks noGrp="1"/>
          </p:cNvGraphicFramePr>
          <p:nvPr/>
        </p:nvGraphicFramePr>
        <p:xfrm>
          <a:off x="3048001" y="2667001"/>
          <a:ext cx="4818063" cy="1298575"/>
        </p:xfrm>
        <a:graphic>
          <a:graphicData uri="http://schemas.openxmlformats.org/drawingml/2006/table">
            <a:tbl>
              <a:tblPr firstRow="1" bandRow="1">
                <a:tableStyleId>{5C22544A-7EE6-4342-B048-85BDC9FD1C3A}</a:tableStyleId>
              </a:tblPr>
              <a:tblGrid>
                <a:gridCol w="4818063">
                  <a:extLst>
                    <a:ext uri="{9D8B030D-6E8A-4147-A177-3AD203B41FA5}">
                      <a16:colId xmlns:a16="http://schemas.microsoft.com/office/drawing/2014/main" val="20000"/>
                    </a:ext>
                  </a:extLst>
                </a:gridCol>
              </a:tblGrid>
              <a:tr h="12985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parameter</a:t>
                      </a:r>
                      <a:r>
                        <a:rPr kumimoji="0" lang="en-US" sz="1800" b="0" i="0" u="none" strike="noStrike" cap="none" normalizeH="0" baseline="0" dirty="0">
                          <a:ln>
                            <a:noFill/>
                          </a:ln>
                          <a:solidFill>
                            <a:schemeClr val="tx1"/>
                          </a:solidFill>
                          <a:effectLst/>
                          <a:latin typeface="Arial" pitchFamily="34" charset="0"/>
                          <a:cs typeface="Arial" pitchFamily="34" charset="0"/>
                        </a:rPr>
                        <a:t>  identifier=value;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parameter</a:t>
                      </a:r>
                      <a:r>
                        <a:rPr kumimoji="0" lang="en-US" sz="1800" b="0" i="0" u="none" strike="noStrike" cap="none" normalizeH="0" baseline="0" dirty="0">
                          <a:ln>
                            <a:noFill/>
                          </a:ln>
                          <a:solidFill>
                            <a:srgbClr val="0066FF"/>
                          </a:solidFill>
                          <a:effectLst/>
                          <a:latin typeface="Arial" pitchFamily="34" charset="0"/>
                          <a:cs typeface="Arial" pitchFamily="34" charset="0"/>
                        </a:rPr>
                        <a:t> </a:t>
                      </a:r>
                      <a:r>
                        <a:rPr kumimoji="0" lang="en-US" sz="1800" b="0" i="0" u="none" strike="noStrike" cap="none" normalizeH="0" baseline="0" dirty="0">
                          <a:ln>
                            <a:noFill/>
                          </a:ln>
                          <a:solidFill>
                            <a:schemeClr val="tx1"/>
                          </a:solidFill>
                          <a:effectLst/>
                          <a:latin typeface="Arial" pitchFamily="34" charset="0"/>
                          <a:cs typeface="Arial" pitchFamily="34" charset="0"/>
                        </a:rPr>
                        <a:t> identifier =value,  identifier=value,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 identifier=value;</a:t>
                      </a:r>
                      <a:endParaRPr kumimoji="0" lang="ru-RU" sz="1800" b="0" i="0" u="none" strike="noStrike" cap="none" normalizeH="0" baseline="0" dirty="0">
                        <a:ln>
                          <a:noFill/>
                        </a:ln>
                        <a:solidFill>
                          <a:schemeClr val="tx1"/>
                        </a:solidFill>
                        <a:effectLst/>
                        <a:latin typeface="Arial" pitchFamily="34" charset="0"/>
                        <a:cs typeface="Arial" pitchFamily="34" charset="0"/>
                      </a:endParaRPr>
                    </a:p>
                    <a:p>
                      <a:endParaRPr lang="ru-RU" sz="1800" dirty="0"/>
                    </a:p>
                  </a:txBody>
                  <a:tcPr marL="91434" marR="91434" marT="45724" marB="45724">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33800" name="Title 9">
            <a:extLst>
              <a:ext uri="{FF2B5EF4-FFF2-40B4-BE49-F238E27FC236}">
                <a16:creationId xmlns:a16="http://schemas.microsoft.com/office/drawing/2014/main" id="{FF4D49B9-92CA-F550-A7F2-04F7B5F62441}"/>
              </a:ext>
            </a:extLst>
          </p:cNvPr>
          <p:cNvSpPr>
            <a:spLocks noGrp="1" noChangeArrowheads="1"/>
          </p:cNvSpPr>
          <p:nvPr>
            <p:ph type="title"/>
          </p:nvPr>
        </p:nvSpPr>
        <p:spPr/>
        <p:txBody>
          <a:bodyPr>
            <a:normAutofit/>
          </a:bodyPr>
          <a:lstStyle/>
          <a:p>
            <a:r>
              <a:rPr lang="en-US" altLang="en-US" dirty="0"/>
              <a:t>Parameter Declaration</a:t>
            </a:r>
            <a:endParaRPr lang="ru-RU" altLang="en-US" dirty="0"/>
          </a:p>
        </p:txBody>
      </p:sp>
      <p:sp>
        <p:nvSpPr>
          <p:cNvPr id="33801" name="Content Placeholder 10">
            <a:extLst>
              <a:ext uri="{FF2B5EF4-FFF2-40B4-BE49-F238E27FC236}">
                <a16:creationId xmlns:a16="http://schemas.microsoft.com/office/drawing/2014/main" id="{7BBD2E55-92EF-92BB-819F-28B91423EA56}"/>
              </a:ext>
            </a:extLst>
          </p:cNvPr>
          <p:cNvSpPr>
            <a:spLocks noGrp="1" noChangeArrowheads="1"/>
          </p:cNvSpPr>
          <p:nvPr>
            <p:ph type="body" sz="quarter" idx="10"/>
          </p:nvPr>
        </p:nvSpPr>
        <p:spPr/>
        <p:txBody>
          <a:bodyPr/>
          <a:lstStyle/>
          <a:p>
            <a:r>
              <a:rPr lang="en-US" altLang="en-US"/>
              <a:t>Verilog provides a facility for defining named constants within a module (to improve readability).</a:t>
            </a:r>
            <a:endParaRPr lang="ru-RU" altLang="en-US"/>
          </a:p>
          <a:p>
            <a:endParaRPr lang="en-US" altLang="en-US"/>
          </a:p>
          <a:p>
            <a:endParaRPr lang="en-US" altLang="en-US"/>
          </a:p>
          <a:p>
            <a:endParaRPr lang="en-US" altLang="en-US"/>
          </a:p>
          <a:p>
            <a:endParaRPr lang="en-US" altLang="en-US"/>
          </a:p>
          <a:p>
            <a:r>
              <a:rPr lang="en-US" altLang="en-US"/>
              <a:t>parameter  wide = 32;</a:t>
            </a:r>
          </a:p>
          <a:p>
            <a:r>
              <a:rPr lang="en-US" altLang="en-US"/>
              <a:t>wire [wide-1:0] bus;</a:t>
            </a:r>
          </a:p>
          <a:p>
            <a:r>
              <a:rPr lang="en-US" altLang="en-US"/>
              <a:t>parameter ESC=7’b0011011;</a:t>
            </a:r>
            <a:endParaRPr lang="ru-RU" altLang="en-US"/>
          </a:p>
          <a:p>
            <a:endParaRPr lang="ru-RU"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a:extLst>
              <a:ext uri="{FF2B5EF4-FFF2-40B4-BE49-F238E27FC236}">
                <a16:creationId xmlns:a16="http://schemas.microsoft.com/office/drawing/2014/main" id="{E00A9509-C80C-42AF-A99A-F310BAFF87CD}"/>
              </a:ext>
            </a:extLst>
          </p:cNvPr>
          <p:cNvSpPr>
            <a:spLocks noGrp="1" noChangeArrowheads="1"/>
          </p:cNvSpPr>
          <p:nvPr>
            <p:ph type="title"/>
          </p:nvPr>
        </p:nvSpPr>
        <p:spPr/>
        <p:txBody>
          <a:bodyPr/>
          <a:lstStyle/>
          <a:p>
            <a:r>
              <a:rPr lang="en-US" altLang="en-US"/>
              <a:t>Procedures and Assignments</a:t>
            </a:r>
            <a:endParaRPr lang="ru-RU" altLang="en-US"/>
          </a:p>
        </p:txBody>
      </p:sp>
      <p:sp>
        <p:nvSpPr>
          <p:cNvPr id="34819" name="Content Placeholder 3">
            <a:extLst>
              <a:ext uri="{FF2B5EF4-FFF2-40B4-BE49-F238E27FC236}">
                <a16:creationId xmlns:a16="http://schemas.microsoft.com/office/drawing/2014/main" id="{E8844497-EC25-9BC1-677E-AC338310CA5B}"/>
              </a:ext>
            </a:extLst>
          </p:cNvPr>
          <p:cNvSpPr>
            <a:spLocks noGrp="1" noChangeArrowheads="1"/>
          </p:cNvSpPr>
          <p:nvPr>
            <p:ph type="body" sz="quarter" idx="10"/>
          </p:nvPr>
        </p:nvSpPr>
        <p:spPr/>
        <p:txBody>
          <a:bodyPr/>
          <a:lstStyle/>
          <a:p>
            <a:r>
              <a:rPr lang="en-US" altLang="en-US"/>
              <a:t>There are two types of assignment in Verilog:</a:t>
            </a:r>
          </a:p>
          <a:p>
            <a:r>
              <a:rPr lang="en-US" altLang="en-US"/>
              <a:t>Continuous (parallel) and procedural (sequential).</a:t>
            </a:r>
          </a:p>
          <a:p>
            <a:r>
              <a:rPr lang="en-US" altLang="en-US"/>
              <a:t>Procedural statements are used within an always or initial blocks.</a:t>
            </a:r>
          </a:p>
          <a:p>
            <a:r>
              <a:rPr lang="en-US" altLang="en-US"/>
              <a:t>Procedure executes concurrently with other procedures. </a:t>
            </a:r>
          </a:p>
          <a:p>
            <a:r>
              <a:rPr lang="en-US" altLang="en-US"/>
              <a:t>Continuous assignments appear outside procedure.</a:t>
            </a:r>
          </a:p>
          <a:p>
            <a:r>
              <a:rPr lang="en-US" altLang="en-US"/>
              <a:t>Procedural assignments appear inside procedure.</a:t>
            </a:r>
          </a:p>
          <a:p>
            <a:r>
              <a:rPr lang="en-US" altLang="en-US"/>
              <a:t>Sequential block is a group of statements between a begin and end.</a:t>
            </a:r>
          </a:p>
          <a:p>
            <a:r>
              <a:rPr lang="en-US" altLang="en-US"/>
              <a:t>Continuous assignment statements allow Verilog to describe a combinational circuit in terms of the flow of  data and operations on the circuit: dataflow description.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3D99E21C-3C75-3E6F-E194-D828E69893F0}"/>
              </a:ext>
            </a:extLst>
          </p:cNvPr>
          <p:cNvSpPr>
            <a:spLocks noGrp="1" noChangeArrowheads="1"/>
          </p:cNvSpPr>
          <p:nvPr>
            <p:ph type="title"/>
          </p:nvPr>
        </p:nvSpPr>
        <p:spPr/>
        <p:txBody>
          <a:bodyPr/>
          <a:lstStyle/>
          <a:p>
            <a:r>
              <a:rPr lang="en-US" altLang="en-US"/>
              <a:t>Continuous Assignment</a:t>
            </a:r>
            <a:endParaRPr lang="ru-RU" altLang="en-US"/>
          </a:p>
        </p:txBody>
      </p:sp>
      <p:sp>
        <p:nvSpPr>
          <p:cNvPr id="3" name="Text Placeholder 2">
            <a:extLst>
              <a:ext uri="{FF2B5EF4-FFF2-40B4-BE49-F238E27FC236}">
                <a16:creationId xmlns:a16="http://schemas.microsoft.com/office/drawing/2014/main" id="{9FB1B19A-5D56-2E84-FA4B-800EFA8E1D01}"/>
              </a:ext>
            </a:extLst>
          </p:cNvPr>
          <p:cNvSpPr>
            <a:spLocks noGrp="1"/>
          </p:cNvSpPr>
          <p:nvPr>
            <p:ph type="body" sz="quarter" idx="10"/>
          </p:nvPr>
        </p:nvSpPr>
        <p:spPr/>
        <p:txBody>
          <a:bodyPr/>
          <a:lstStyle/>
          <a:p>
            <a:r>
              <a:rPr lang="en-US" dirty="0"/>
              <a:t>Continuous assignment statement are used to assign a wire like a real logic gate drives a real wire. Continuous  assignment is executed at any changing of signal on the right-hand side . </a:t>
            </a:r>
          </a:p>
          <a:p>
            <a:endParaRPr lang="en-US" dirty="0"/>
          </a:p>
          <a:p>
            <a:endParaRPr lang="en-US" dirty="0"/>
          </a:p>
          <a:p>
            <a:endParaRPr lang="en-US" dirty="0"/>
          </a:p>
          <a:p>
            <a:endParaRPr lang="en-US" dirty="0"/>
          </a:p>
          <a:p>
            <a:endParaRPr lang="en-US" dirty="0"/>
          </a:p>
          <a:p>
            <a:endParaRPr lang="en-US" dirty="0"/>
          </a:p>
          <a:p>
            <a:r>
              <a:rPr lang="en-US" dirty="0"/>
              <a:t>Continuous assignment statements  describe    combinational logic.</a:t>
            </a:r>
          </a:p>
          <a:p>
            <a:endParaRPr lang="en-US" dirty="0"/>
          </a:p>
          <a:p>
            <a:endParaRPr lang="en-US" dirty="0"/>
          </a:p>
        </p:txBody>
      </p:sp>
      <p:sp>
        <p:nvSpPr>
          <p:cNvPr id="35844" name="TextBox 5">
            <a:extLst>
              <a:ext uri="{FF2B5EF4-FFF2-40B4-BE49-F238E27FC236}">
                <a16:creationId xmlns:a16="http://schemas.microsoft.com/office/drawing/2014/main" id="{05F46061-5B7F-49DC-AE0D-5B3DBAA9C9C1}"/>
              </a:ext>
            </a:extLst>
          </p:cNvPr>
          <p:cNvSpPr txBox="1">
            <a:spLocks noChangeArrowheads="1"/>
          </p:cNvSpPr>
          <p:nvPr/>
        </p:nvSpPr>
        <p:spPr bwMode="auto">
          <a:xfrm>
            <a:off x="2209800" y="2667000"/>
            <a:ext cx="4953000" cy="1016000"/>
          </a:xfrm>
          <a:prstGeom prst="rect">
            <a:avLst/>
          </a:prstGeom>
          <a:solidFill>
            <a:schemeClr val="accent1">
              <a:lumMod val="20000"/>
              <a:lumOff val="80000"/>
            </a:schemeClr>
          </a:solidFill>
          <a:ln>
            <a:noFill/>
          </a:ln>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b="1" dirty="0"/>
              <a:t>assign</a:t>
            </a:r>
            <a:r>
              <a:rPr lang="en-US" altLang="en-US" dirty="0"/>
              <a:t> {c0, sum} = a + b;</a:t>
            </a:r>
          </a:p>
          <a:p>
            <a:pPr eaLnBrk="1" hangingPunct="1">
              <a:defRPr/>
            </a:pPr>
            <a:endParaRPr lang="en-US" altLang="en-US" dirty="0"/>
          </a:p>
          <a:p>
            <a:pPr eaLnBrk="1" hangingPunct="1">
              <a:defRPr/>
            </a:pPr>
            <a:r>
              <a:rPr lang="en-US" altLang="en-US" dirty="0"/>
              <a:t>Left-hand side     =  right-hand side</a:t>
            </a:r>
          </a:p>
        </p:txBody>
      </p:sp>
      <p:sp>
        <p:nvSpPr>
          <p:cNvPr id="7" name="TextBox 6">
            <a:extLst>
              <a:ext uri="{FF2B5EF4-FFF2-40B4-BE49-F238E27FC236}">
                <a16:creationId xmlns:a16="http://schemas.microsoft.com/office/drawing/2014/main" id="{B4EA5F62-09DF-4DE9-A539-4FE373CD682B}"/>
              </a:ext>
            </a:extLst>
          </p:cNvPr>
          <p:cNvSpPr txBox="1"/>
          <p:nvPr/>
        </p:nvSpPr>
        <p:spPr>
          <a:xfrm>
            <a:off x="2286000" y="4149725"/>
            <a:ext cx="1676400" cy="369332"/>
          </a:xfrm>
          <a:prstGeom prst="rect">
            <a:avLst/>
          </a:prstGeom>
          <a:solidFill>
            <a:schemeClr val="accent3">
              <a:lumMod val="75000"/>
            </a:schemeClr>
          </a:solidFill>
        </p:spPr>
        <p:txBody>
          <a:bodyPr>
            <a:spAutoFit/>
          </a:bodyPr>
          <a:lstStyle/>
          <a:p>
            <a:pPr eaLnBrk="1" hangingPunct="1">
              <a:defRPr/>
            </a:pPr>
            <a:r>
              <a:rPr lang="en-US" dirty="0"/>
              <a:t>nets (wire)</a:t>
            </a:r>
            <a:endParaRPr lang="en-GB" dirty="0"/>
          </a:p>
        </p:txBody>
      </p:sp>
      <p:sp>
        <p:nvSpPr>
          <p:cNvPr id="8" name="TextBox 7">
            <a:extLst>
              <a:ext uri="{FF2B5EF4-FFF2-40B4-BE49-F238E27FC236}">
                <a16:creationId xmlns:a16="http://schemas.microsoft.com/office/drawing/2014/main" id="{23B963D7-E774-436D-A31F-DC67C7F801DB}"/>
              </a:ext>
            </a:extLst>
          </p:cNvPr>
          <p:cNvSpPr txBox="1"/>
          <p:nvPr/>
        </p:nvSpPr>
        <p:spPr>
          <a:xfrm>
            <a:off x="4648200" y="3857626"/>
            <a:ext cx="1905000" cy="1200329"/>
          </a:xfrm>
          <a:prstGeom prst="rect">
            <a:avLst/>
          </a:prstGeom>
          <a:solidFill>
            <a:schemeClr val="accent3">
              <a:lumMod val="85000"/>
            </a:schemeClr>
          </a:solidFill>
        </p:spPr>
        <p:txBody>
          <a:bodyPr>
            <a:spAutoFit/>
          </a:bodyPr>
          <a:lstStyle/>
          <a:p>
            <a:pPr eaLnBrk="1" hangingPunct="1">
              <a:defRPr/>
            </a:pPr>
            <a:r>
              <a:rPr lang="en-US" dirty="0"/>
              <a:t>nets (wire)</a:t>
            </a:r>
          </a:p>
          <a:p>
            <a:pPr eaLnBrk="1" hangingPunct="1">
              <a:defRPr/>
            </a:pPr>
            <a:r>
              <a:rPr lang="en-US" dirty="0"/>
              <a:t>variable (</a:t>
            </a:r>
            <a:r>
              <a:rPr lang="en-US" dirty="0" err="1"/>
              <a:t>reg</a:t>
            </a:r>
            <a:r>
              <a:rPr lang="en-US" dirty="0"/>
              <a:t>)</a:t>
            </a:r>
          </a:p>
          <a:p>
            <a:pPr eaLnBrk="1" hangingPunct="1">
              <a:defRPr/>
            </a:pPr>
            <a:r>
              <a:rPr lang="en-US" dirty="0"/>
              <a:t>numbers</a:t>
            </a:r>
          </a:p>
          <a:p>
            <a:pPr eaLnBrk="1" hangingPunct="1">
              <a:defRPr/>
            </a:pPr>
            <a:r>
              <a:rPr lang="en-US" dirty="0"/>
              <a:t>function call</a:t>
            </a:r>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E590EC-29AD-49ED-9C03-1DCD460D68D5}"/>
              </a:ext>
            </a:extLst>
          </p:cNvPr>
          <p:cNvSpPr/>
          <p:nvPr/>
        </p:nvSpPr>
        <p:spPr>
          <a:xfrm>
            <a:off x="1905000" y="2057400"/>
            <a:ext cx="5029200" cy="17526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6867" name="Rectangle 4">
            <a:extLst>
              <a:ext uri="{FF2B5EF4-FFF2-40B4-BE49-F238E27FC236}">
                <a16:creationId xmlns:a16="http://schemas.microsoft.com/office/drawing/2014/main" id="{8557EDA6-45D3-7AD6-0B81-9DFCAEFBB112}"/>
              </a:ext>
            </a:extLst>
          </p:cNvPr>
          <p:cNvSpPr>
            <a:spLocks noGrp="1" noChangeArrowheads="1"/>
          </p:cNvSpPr>
          <p:nvPr>
            <p:ph type="title"/>
          </p:nvPr>
        </p:nvSpPr>
        <p:spPr/>
        <p:txBody>
          <a:bodyPr/>
          <a:lstStyle/>
          <a:p>
            <a:r>
              <a:rPr lang="en-US" altLang="en-US"/>
              <a:t>Continuous Assignment</a:t>
            </a:r>
            <a:endParaRPr lang="ru-RU" altLang="en-US"/>
          </a:p>
        </p:txBody>
      </p:sp>
      <p:sp>
        <p:nvSpPr>
          <p:cNvPr id="3" name="Text Placeholder 2">
            <a:extLst>
              <a:ext uri="{FF2B5EF4-FFF2-40B4-BE49-F238E27FC236}">
                <a16:creationId xmlns:a16="http://schemas.microsoft.com/office/drawing/2014/main" id="{C63418A8-B083-25B2-4C73-04C5ECB7EF0B}"/>
              </a:ext>
            </a:extLst>
          </p:cNvPr>
          <p:cNvSpPr>
            <a:spLocks noGrp="1"/>
          </p:cNvSpPr>
          <p:nvPr>
            <p:ph type="body" sz="quarter" idx="10"/>
          </p:nvPr>
        </p:nvSpPr>
        <p:spPr/>
        <p:txBody>
          <a:bodyPr/>
          <a:lstStyle/>
          <a:p>
            <a:r>
              <a:rPr lang="en-US" dirty="0"/>
              <a:t>Examples:</a:t>
            </a:r>
          </a:p>
          <a:p>
            <a:endParaRPr lang="en-US" dirty="0"/>
          </a:p>
          <a:p>
            <a:endParaRPr lang="en-US" dirty="0"/>
          </a:p>
          <a:p>
            <a:endParaRPr lang="en-US" dirty="0"/>
          </a:p>
          <a:p>
            <a:endParaRPr lang="en-US" dirty="0"/>
          </a:p>
          <a:p>
            <a:endParaRPr lang="en-US" dirty="0"/>
          </a:p>
          <a:p>
            <a:r>
              <a:rPr lang="en-US" dirty="0"/>
              <a:t>Explicit continuous assignment</a:t>
            </a:r>
          </a:p>
          <a:p>
            <a:pPr lvl="1"/>
            <a:r>
              <a:rPr lang="en-US" dirty="0"/>
              <a:t>wire [2:0]  w; </a:t>
            </a:r>
          </a:p>
          <a:p>
            <a:pPr lvl="1"/>
            <a:r>
              <a:rPr lang="en-US" dirty="0"/>
              <a:t>assign w=</a:t>
            </a:r>
            <a:r>
              <a:rPr lang="en-US" dirty="0" err="1"/>
              <a:t>a&amp;b</a:t>
            </a:r>
            <a:r>
              <a:rPr lang="en-US" dirty="0"/>
              <a:t>;</a:t>
            </a:r>
            <a:br>
              <a:rPr lang="en-US" dirty="0"/>
            </a:br>
            <a:r>
              <a:rPr lang="en-US" dirty="0"/>
              <a:t>Implicit continuous assignment</a:t>
            </a:r>
          </a:p>
          <a:p>
            <a:pPr lvl="1"/>
            <a:r>
              <a:rPr lang="en-US" dirty="0"/>
              <a:t>wire w1=~a[1];</a:t>
            </a:r>
          </a:p>
          <a:p>
            <a:endParaRPr lang="en-US" dirty="0"/>
          </a:p>
          <a:p>
            <a:pPr marL="0" indent="0">
              <a:buNone/>
            </a:pPr>
            <a:endParaRPr lang="en-US" dirty="0"/>
          </a:p>
          <a:p>
            <a:endParaRPr lang="en-US" dirty="0"/>
          </a:p>
        </p:txBody>
      </p:sp>
      <p:sp>
        <p:nvSpPr>
          <p:cNvPr id="36868" name="Text Box 5">
            <a:extLst>
              <a:ext uri="{FF2B5EF4-FFF2-40B4-BE49-F238E27FC236}">
                <a16:creationId xmlns:a16="http://schemas.microsoft.com/office/drawing/2014/main" id="{2201C0D2-0B48-F850-16CD-857451051C9C}"/>
              </a:ext>
            </a:extLst>
          </p:cNvPr>
          <p:cNvSpPr txBox="1">
            <a:spLocks noChangeArrowheads="1"/>
          </p:cNvSpPr>
          <p:nvPr/>
        </p:nvSpPr>
        <p:spPr bwMode="auto">
          <a:xfrm>
            <a:off x="2008188" y="1600201"/>
            <a:ext cx="523081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dirty="0"/>
          </a:p>
          <a:p>
            <a:pPr eaLnBrk="1" hangingPunct="1"/>
            <a:endParaRPr lang="en-US" altLang="en-US" dirty="0"/>
          </a:p>
          <a:p>
            <a:pPr eaLnBrk="1" hangingPunct="1"/>
            <a:r>
              <a:rPr lang="en-US" altLang="en-US" b="1" dirty="0"/>
              <a:t>assign </a:t>
            </a:r>
            <a:r>
              <a:rPr lang="en-US" altLang="en-US" dirty="0" err="1"/>
              <a:t>net_name</a:t>
            </a:r>
            <a:r>
              <a:rPr lang="en-US" altLang="en-US" dirty="0"/>
              <a:t>=expression;</a:t>
            </a:r>
          </a:p>
          <a:p>
            <a:pPr eaLnBrk="1" hangingPunct="1"/>
            <a:r>
              <a:rPr lang="en-US" altLang="en-US" b="1" dirty="0"/>
              <a:t>assign </a:t>
            </a:r>
            <a:r>
              <a:rPr lang="en-US" altLang="en-US" dirty="0" err="1"/>
              <a:t>net_name</a:t>
            </a:r>
            <a:r>
              <a:rPr lang="en-US" altLang="en-US" dirty="0"/>
              <a:t>[index] =expression;</a:t>
            </a:r>
          </a:p>
          <a:p>
            <a:pPr eaLnBrk="1" hangingPunct="1"/>
            <a:r>
              <a:rPr lang="en-US" altLang="en-US" b="1" dirty="0"/>
              <a:t>assign </a:t>
            </a:r>
            <a:r>
              <a:rPr lang="en-US" altLang="en-US" dirty="0" err="1"/>
              <a:t>net_name</a:t>
            </a:r>
            <a:r>
              <a:rPr lang="en-US" altLang="en-US" dirty="0"/>
              <a:t>[</a:t>
            </a:r>
            <a:r>
              <a:rPr lang="en-US" altLang="en-US" dirty="0" err="1"/>
              <a:t>msb:lsb</a:t>
            </a:r>
            <a:r>
              <a:rPr lang="en-US" altLang="en-US" dirty="0"/>
              <a:t>] =expression;</a:t>
            </a:r>
          </a:p>
          <a:p>
            <a:pPr eaLnBrk="1" hangingPunct="1"/>
            <a:r>
              <a:rPr lang="en-US" altLang="en-US" b="1" dirty="0"/>
              <a:t>assign </a:t>
            </a:r>
            <a:r>
              <a:rPr lang="en-US" altLang="en-US" dirty="0" err="1"/>
              <a:t>net_concatenation</a:t>
            </a:r>
            <a:r>
              <a:rPr lang="en-US" altLang="en-US" dirty="0"/>
              <a:t> =expression;</a:t>
            </a:r>
            <a:endParaRPr lang="ru-RU" altLang="en-US" dirty="0"/>
          </a:p>
          <a:p>
            <a:pPr eaLnBrk="1" hangingPunct="1"/>
            <a:endParaRPr lang="ru-RU" altLang="en-US" dirty="0"/>
          </a:p>
          <a:p>
            <a:pPr eaLnBrk="1" hangingPunct="1"/>
            <a:endParaRPr lang="ru-RU" altLang="en-US" dirty="0"/>
          </a:p>
          <a:p>
            <a:pPr eaLnBrk="1" hangingPunct="1"/>
            <a:endParaRPr lang="ru-RU"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4C21A8CC-A05B-CD4C-8B42-0DDCE35CC696}"/>
              </a:ext>
            </a:extLst>
          </p:cNvPr>
          <p:cNvSpPr>
            <a:spLocks noGrp="1" noChangeArrowheads="1"/>
          </p:cNvSpPr>
          <p:nvPr>
            <p:ph type="title"/>
          </p:nvPr>
        </p:nvSpPr>
        <p:spPr/>
        <p:txBody>
          <a:bodyPr/>
          <a:lstStyle/>
          <a:p>
            <a:r>
              <a:rPr lang="en-US" altLang="en-US"/>
              <a:t>Example 1</a:t>
            </a:r>
            <a:endParaRPr lang="ru-RU" altLang="en-US"/>
          </a:p>
        </p:txBody>
      </p:sp>
      <p:sp>
        <p:nvSpPr>
          <p:cNvPr id="37891" name="Content Placeholder 7">
            <a:extLst>
              <a:ext uri="{FF2B5EF4-FFF2-40B4-BE49-F238E27FC236}">
                <a16:creationId xmlns:a16="http://schemas.microsoft.com/office/drawing/2014/main" id="{7206F1C4-8A7D-EBAB-3E19-532EC1AFAF1C}"/>
              </a:ext>
            </a:extLst>
          </p:cNvPr>
          <p:cNvSpPr>
            <a:spLocks noGrp="1" noChangeArrowheads="1"/>
          </p:cNvSpPr>
          <p:nvPr>
            <p:ph type="body" sz="quarter" idx="10"/>
          </p:nvPr>
        </p:nvSpPr>
        <p:spPr/>
        <p:txBody>
          <a:bodyPr/>
          <a:lstStyle/>
          <a:p>
            <a:r>
              <a:rPr lang="en-US" altLang="en-US" sz="1700" dirty="0"/>
              <a:t>Verilog 95</a:t>
            </a:r>
            <a:endParaRPr lang="ru-RU" altLang="en-US" sz="1700" dirty="0"/>
          </a:p>
          <a:p>
            <a:r>
              <a:rPr lang="en-GB" altLang="en-US" sz="1700" dirty="0"/>
              <a:t>module </a:t>
            </a:r>
            <a:r>
              <a:rPr lang="en-GB" altLang="en-US" sz="1700" dirty="0" err="1"/>
              <a:t>full_adder</a:t>
            </a:r>
            <a:r>
              <a:rPr lang="en-GB" altLang="en-US" sz="1700" dirty="0"/>
              <a:t> (</a:t>
            </a:r>
            <a:r>
              <a:rPr lang="en-GB" altLang="en-US" sz="1700" dirty="0" err="1"/>
              <a:t>cin</a:t>
            </a:r>
            <a:r>
              <a:rPr lang="en-GB" altLang="en-US" sz="1700" dirty="0"/>
              <a:t>, </a:t>
            </a:r>
            <a:r>
              <a:rPr lang="en-GB" altLang="en-US" sz="1700" dirty="0" err="1"/>
              <a:t>a,b</a:t>
            </a:r>
            <a:r>
              <a:rPr lang="en-GB" altLang="en-US" sz="1700" dirty="0"/>
              <a:t>, </a:t>
            </a:r>
            <a:r>
              <a:rPr lang="en-GB" altLang="en-US" sz="1700" dirty="0" err="1"/>
              <a:t>s,cout</a:t>
            </a:r>
            <a:r>
              <a:rPr lang="en-GB" altLang="en-US" sz="1700" dirty="0"/>
              <a:t>);</a:t>
            </a:r>
          </a:p>
          <a:p>
            <a:pPr marL="0" indent="0">
              <a:buNone/>
            </a:pPr>
            <a:r>
              <a:rPr lang="en-GB" altLang="en-US" sz="1700" dirty="0"/>
              <a:t>	input </a:t>
            </a:r>
            <a:r>
              <a:rPr lang="en-GB" altLang="en-US" sz="1700" dirty="0" err="1"/>
              <a:t>cin</a:t>
            </a:r>
            <a:r>
              <a:rPr lang="en-GB" altLang="en-US" sz="1700" dirty="0"/>
              <a:t>, </a:t>
            </a:r>
            <a:r>
              <a:rPr lang="en-GB" altLang="en-US" sz="1700" dirty="0" err="1"/>
              <a:t>a,b</a:t>
            </a:r>
            <a:r>
              <a:rPr lang="en-GB" altLang="en-US" sz="1700" dirty="0"/>
              <a:t>;</a:t>
            </a:r>
          </a:p>
          <a:p>
            <a:pPr marL="0" indent="0">
              <a:buNone/>
            </a:pPr>
            <a:r>
              <a:rPr lang="en-GB" altLang="en-US" sz="1700" dirty="0"/>
              <a:t>	output </a:t>
            </a:r>
            <a:r>
              <a:rPr lang="en-GB" altLang="en-US" sz="1700" dirty="0" err="1"/>
              <a:t>s,cout</a:t>
            </a:r>
            <a:r>
              <a:rPr lang="en-GB" altLang="en-US" sz="1700" dirty="0"/>
              <a:t>;</a:t>
            </a:r>
          </a:p>
          <a:p>
            <a:pPr marL="0" indent="0">
              <a:buNone/>
            </a:pPr>
            <a:r>
              <a:rPr lang="en-GB" altLang="en-US" sz="1700" dirty="0"/>
              <a:t>	assign s=</a:t>
            </a:r>
            <a:r>
              <a:rPr lang="en-GB" altLang="en-US" sz="1700" dirty="0" err="1"/>
              <a:t>a^b^cin</a:t>
            </a:r>
            <a:r>
              <a:rPr lang="en-GB" altLang="en-US" sz="1700" dirty="0"/>
              <a:t>;</a:t>
            </a:r>
          </a:p>
          <a:p>
            <a:pPr marL="0" indent="0">
              <a:buNone/>
            </a:pPr>
            <a:r>
              <a:rPr lang="en-GB" altLang="en-US" sz="1700" dirty="0"/>
              <a:t>	</a:t>
            </a:r>
            <a:r>
              <a:rPr lang="en-US" altLang="en-US" sz="1700" dirty="0"/>
              <a:t>assign </a:t>
            </a:r>
            <a:r>
              <a:rPr lang="en-US" altLang="en-US" sz="1700" dirty="0" err="1"/>
              <a:t>cout</a:t>
            </a:r>
            <a:r>
              <a:rPr lang="en-US" altLang="en-US" sz="1700" dirty="0"/>
              <a:t>=</a:t>
            </a:r>
            <a:r>
              <a:rPr lang="en-GB" altLang="en-US" sz="1700" dirty="0"/>
              <a:t>(</a:t>
            </a:r>
            <a:r>
              <a:rPr lang="en-GB" altLang="en-US" sz="1700" dirty="0" err="1"/>
              <a:t>a&amp;b</a:t>
            </a:r>
            <a:r>
              <a:rPr lang="en-GB" altLang="en-US" sz="1700" dirty="0"/>
              <a:t>)|(</a:t>
            </a:r>
            <a:r>
              <a:rPr lang="en-GB" altLang="en-US" sz="1700" dirty="0" err="1"/>
              <a:t>a&amp;cin</a:t>
            </a:r>
            <a:r>
              <a:rPr lang="en-GB" altLang="en-US" sz="1700" dirty="0"/>
              <a:t>)|(</a:t>
            </a:r>
            <a:r>
              <a:rPr lang="en-GB" altLang="en-US" sz="1700" dirty="0" err="1"/>
              <a:t>b&amp;cin</a:t>
            </a:r>
            <a:r>
              <a:rPr lang="en-GB" altLang="en-US" sz="1700" dirty="0"/>
              <a:t>);</a:t>
            </a:r>
          </a:p>
          <a:p>
            <a:r>
              <a:rPr lang="en-GB" altLang="en-US" sz="1700" dirty="0" err="1"/>
              <a:t>endmodule</a:t>
            </a:r>
            <a:endParaRPr lang="ru-RU" altLang="en-US" sz="1700" dirty="0"/>
          </a:p>
          <a:p>
            <a:r>
              <a:rPr lang="en-US" altLang="en-US" sz="1700" dirty="0"/>
              <a:t>Verilog 2001</a:t>
            </a:r>
            <a:endParaRPr lang="ru-RU" altLang="en-US" sz="1700" dirty="0"/>
          </a:p>
          <a:p>
            <a:r>
              <a:rPr lang="en-GB" altLang="en-US" sz="1700" dirty="0"/>
              <a:t>module </a:t>
            </a:r>
            <a:r>
              <a:rPr lang="en-GB" altLang="en-US" sz="1700" dirty="0" err="1"/>
              <a:t>full_adder</a:t>
            </a:r>
            <a:r>
              <a:rPr lang="en-GB" altLang="en-US" sz="1700" dirty="0"/>
              <a:t> ( input </a:t>
            </a:r>
            <a:r>
              <a:rPr lang="en-GB" altLang="en-US" sz="1700" dirty="0" err="1"/>
              <a:t>cin</a:t>
            </a:r>
            <a:r>
              <a:rPr lang="en-GB" altLang="en-US" sz="1700" dirty="0"/>
              <a:t>, </a:t>
            </a:r>
            <a:r>
              <a:rPr lang="en-GB" altLang="en-US" sz="1700" dirty="0" err="1"/>
              <a:t>a,b</a:t>
            </a:r>
            <a:r>
              <a:rPr lang="en-GB" altLang="en-US" sz="1700" dirty="0"/>
              <a:t>, </a:t>
            </a:r>
          </a:p>
          <a:p>
            <a:pPr marL="0" indent="0">
              <a:buNone/>
            </a:pPr>
            <a:r>
              <a:rPr lang="en-GB" altLang="en-US" sz="1700" dirty="0"/>
              <a:t>		output </a:t>
            </a:r>
            <a:r>
              <a:rPr lang="en-GB" altLang="en-US" sz="1700" dirty="0" err="1"/>
              <a:t>s,cout</a:t>
            </a:r>
            <a:r>
              <a:rPr lang="en-GB" altLang="en-US" sz="1700" dirty="0"/>
              <a:t>);</a:t>
            </a:r>
          </a:p>
          <a:p>
            <a:pPr marL="0" indent="0">
              <a:buNone/>
            </a:pPr>
            <a:r>
              <a:rPr lang="en-GB" altLang="en-US" sz="1700" dirty="0"/>
              <a:t>	assign s=</a:t>
            </a:r>
            <a:r>
              <a:rPr lang="en-GB" altLang="en-US" sz="1700" dirty="0" err="1"/>
              <a:t>a^b^cin</a:t>
            </a:r>
            <a:r>
              <a:rPr lang="en-GB" altLang="en-US" sz="1700" dirty="0"/>
              <a:t>;</a:t>
            </a:r>
          </a:p>
          <a:p>
            <a:pPr marL="0" indent="0">
              <a:buNone/>
            </a:pPr>
            <a:r>
              <a:rPr lang="en-GB" altLang="en-US" sz="1700" dirty="0"/>
              <a:t>	</a:t>
            </a:r>
            <a:r>
              <a:rPr lang="en-US" altLang="en-US" sz="1700" dirty="0"/>
              <a:t>assign </a:t>
            </a:r>
            <a:r>
              <a:rPr lang="en-US" altLang="en-US" sz="1700" dirty="0" err="1"/>
              <a:t>cout</a:t>
            </a:r>
            <a:r>
              <a:rPr lang="en-US" altLang="en-US" sz="1700" dirty="0"/>
              <a:t>=</a:t>
            </a:r>
            <a:r>
              <a:rPr lang="en-GB" altLang="en-US" sz="1700" dirty="0"/>
              <a:t>(</a:t>
            </a:r>
            <a:r>
              <a:rPr lang="en-GB" altLang="en-US" sz="1700" dirty="0" err="1"/>
              <a:t>a&amp;b</a:t>
            </a:r>
            <a:r>
              <a:rPr lang="en-GB" altLang="en-US" sz="1700" dirty="0"/>
              <a:t>)|(</a:t>
            </a:r>
            <a:r>
              <a:rPr lang="en-GB" altLang="en-US" sz="1700" dirty="0" err="1"/>
              <a:t>a&amp;cin</a:t>
            </a:r>
            <a:r>
              <a:rPr lang="en-GB" altLang="en-US" sz="1700" dirty="0"/>
              <a:t>)|(</a:t>
            </a:r>
            <a:r>
              <a:rPr lang="en-GB" altLang="en-US" sz="1700" dirty="0" err="1"/>
              <a:t>b&amp;cin</a:t>
            </a:r>
            <a:r>
              <a:rPr lang="en-GB" altLang="en-US" sz="1700" dirty="0"/>
              <a:t>);</a:t>
            </a:r>
          </a:p>
          <a:p>
            <a:r>
              <a:rPr lang="en-GB" altLang="en-US" sz="1700" dirty="0" err="1"/>
              <a:t>endmodule</a:t>
            </a:r>
            <a:endParaRPr lang="ru-RU" altLang="en-US" sz="1700" dirty="0"/>
          </a:p>
          <a:p>
            <a:endParaRPr lang="ru-RU" altLang="en-US" sz="1700" dirty="0"/>
          </a:p>
        </p:txBody>
      </p:sp>
      <p:sp>
        <p:nvSpPr>
          <p:cNvPr id="37892" name="Text Box 8">
            <a:extLst>
              <a:ext uri="{FF2B5EF4-FFF2-40B4-BE49-F238E27FC236}">
                <a16:creationId xmlns:a16="http://schemas.microsoft.com/office/drawing/2014/main" id="{FC61FEF6-E223-1A42-AC0A-D47228A2EB8C}"/>
              </a:ext>
            </a:extLst>
          </p:cNvPr>
          <p:cNvSpPr txBox="1">
            <a:spLocks noChangeArrowheads="1"/>
          </p:cNvSpPr>
          <p:nvPr/>
        </p:nvSpPr>
        <p:spPr bwMode="auto">
          <a:xfrm>
            <a:off x="1828800" y="3657601"/>
            <a:ext cx="381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a:extLst>
              <a:ext uri="{FF2B5EF4-FFF2-40B4-BE49-F238E27FC236}">
                <a16:creationId xmlns:a16="http://schemas.microsoft.com/office/drawing/2014/main" id="{956BBB62-9076-7753-018B-C60D3152A623}"/>
              </a:ext>
            </a:extLst>
          </p:cNvPr>
          <p:cNvSpPr>
            <a:spLocks noGrp="1" noChangeArrowheads="1"/>
          </p:cNvSpPr>
          <p:nvPr>
            <p:ph type="title"/>
          </p:nvPr>
        </p:nvSpPr>
        <p:spPr/>
        <p:txBody>
          <a:bodyPr/>
          <a:lstStyle/>
          <a:p>
            <a:r>
              <a:rPr lang="en-US" altLang="en-US"/>
              <a:t>Example 2</a:t>
            </a:r>
            <a:endParaRPr lang="ru-RU" altLang="en-US"/>
          </a:p>
        </p:txBody>
      </p:sp>
      <p:sp>
        <p:nvSpPr>
          <p:cNvPr id="38915" name="Content Placeholder 4">
            <a:extLst>
              <a:ext uri="{FF2B5EF4-FFF2-40B4-BE49-F238E27FC236}">
                <a16:creationId xmlns:a16="http://schemas.microsoft.com/office/drawing/2014/main" id="{2D7D7681-F8B9-BFB9-29C3-AD057E71061D}"/>
              </a:ext>
            </a:extLst>
          </p:cNvPr>
          <p:cNvSpPr>
            <a:spLocks noGrp="1" noChangeArrowheads="1"/>
          </p:cNvSpPr>
          <p:nvPr>
            <p:ph type="body" sz="quarter" idx="10"/>
          </p:nvPr>
        </p:nvSpPr>
        <p:spPr/>
        <p:txBody>
          <a:bodyPr/>
          <a:lstStyle/>
          <a:p>
            <a:r>
              <a:rPr lang="pt-BR" altLang="en-US" sz="1800" dirty="0"/>
              <a:t>module adder_n(a,b,s1,s2);</a:t>
            </a:r>
          </a:p>
          <a:p>
            <a:pPr marL="0" indent="0">
              <a:buNone/>
            </a:pPr>
            <a:r>
              <a:rPr lang="pt-BR" altLang="en-US" sz="1800" dirty="0"/>
              <a:t>	parameter n=4;</a:t>
            </a:r>
          </a:p>
          <a:p>
            <a:pPr marL="0" indent="0">
              <a:buNone/>
            </a:pPr>
            <a:r>
              <a:rPr lang="pt-BR" altLang="en-US" sz="1800" dirty="0"/>
              <a:t>	input [n-1:0] a,b;</a:t>
            </a:r>
          </a:p>
          <a:p>
            <a:pPr marL="0" indent="0">
              <a:buNone/>
            </a:pPr>
            <a:r>
              <a:rPr lang="pt-BR" altLang="en-US" sz="1800" dirty="0"/>
              <a:t>	output [2*n-1:0] s1,s2;</a:t>
            </a:r>
          </a:p>
          <a:p>
            <a:pPr marL="0" indent="0">
              <a:buNone/>
            </a:pPr>
            <a:r>
              <a:rPr lang="pt-BR" altLang="en-US" sz="1800" dirty="0"/>
              <a:t>	assign s1=a+b,</a:t>
            </a:r>
          </a:p>
          <a:p>
            <a:pPr marL="0" indent="0">
              <a:buNone/>
            </a:pPr>
            <a:r>
              <a:rPr lang="pt-BR" altLang="en-US" sz="1800" dirty="0"/>
              <a:t>	s2={n{a[n-1]},a}+{n{b[n-1]},b};</a:t>
            </a:r>
          </a:p>
          <a:p>
            <a:r>
              <a:rPr lang="pt-BR" altLang="en-US" sz="1800" dirty="0"/>
              <a:t>endmodule</a:t>
            </a:r>
          </a:p>
          <a:p>
            <a:r>
              <a:rPr lang="ru-RU" altLang="en-US" sz="1800" dirty="0"/>
              <a:t>In this example, formed by two sums: s1 and s2. </a:t>
            </a:r>
            <a:endParaRPr lang="en-US" altLang="en-US" sz="1800" dirty="0"/>
          </a:p>
          <a:p>
            <a:r>
              <a:rPr lang="ru-RU" altLang="en-US" sz="1800" dirty="0"/>
              <a:t> s1: Verilog compiler adds two numbers with a sign, extending them to the four high</a:t>
            </a:r>
            <a:r>
              <a:rPr lang="en-US" altLang="en-US" sz="1800" dirty="0"/>
              <a:t> </a:t>
            </a:r>
            <a:r>
              <a:rPr lang="ru-RU" altLang="en-US" sz="1800" dirty="0"/>
              <a:t>bits with zeros. </a:t>
            </a:r>
            <a:endParaRPr lang="en-US" altLang="en-US" sz="1800" dirty="0"/>
          </a:p>
          <a:p>
            <a:r>
              <a:rPr lang="ru-RU" altLang="en-US" sz="1800" dirty="0"/>
              <a:t> s2: Verilog compiler expands each term of up to eight bits of the sign bits</a:t>
            </a:r>
            <a:r>
              <a:rPr lang="en-US" altLang="en-US" sz="1800" dirty="0"/>
              <a:t>. </a:t>
            </a:r>
          </a:p>
          <a:p>
            <a:r>
              <a:rPr lang="en-US" altLang="en-US" sz="1800" dirty="0"/>
              <a:t>Let</a:t>
            </a:r>
            <a:r>
              <a:rPr lang="ru-RU" altLang="en-US" sz="1800" dirty="0"/>
              <a:t> </a:t>
            </a:r>
            <a:r>
              <a:rPr lang="en-US" altLang="en-US" sz="1800" dirty="0"/>
              <a:t>  a</a:t>
            </a:r>
            <a:r>
              <a:rPr lang="ru-RU" altLang="en-US" sz="1800" dirty="0"/>
              <a:t> = 1011, </a:t>
            </a:r>
            <a:r>
              <a:rPr lang="en-US" altLang="en-US" sz="1800" dirty="0"/>
              <a:t>b</a:t>
            </a:r>
            <a:r>
              <a:rPr lang="ru-RU" altLang="en-US" sz="1800" dirty="0"/>
              <a:t>= 0 110;</a:t>
            </a:r>
          </a:p>
          <a:p>
            <a:pPr marL="0" indent="0">
              <a:buNone/>
            </a:pPr>
            <a:r>
              <a:rPr lang="ru-RU" altLang="en-US" sz="1800" dirty="0"/>
              <a:t>	</a:t>
            </a:r>
            <a:r>
              <a:rPr lang="en-US" altLang="en-US" sz="1800" dirty="0"/>
              <a:t>s</a:t>
            </a:r>
            <a:r>
              <a:rPr lang="ru-RU" altLang="en-US" sz="1800" dirty="0"/>
              <a:t>1=00010001; </a:t>
            </a:r>
            <a:r>
              <a:rPr lang="en-US" altLang="en-US" sz="1800" dirty="0"/>
              <a:t>s</a:t>
            </a:r>
            <a:r>
              <a:rPr lang="ru-RU" altLang="en-US" sz="1800" dirty="0"/>
              <a:t>2=00000001;</a:t>
            </a:r>
          </a:p>
          <a:p>
            <a:endParaRPr lang="pt-BR" altLang="en-US" sz="1800" dirty="0"/>
          </a:p>
          <a:p>
            <a:endParaRPr lang="ru-RU" altLang="en-US" sz="1800" dirty="0"/>
          </a:p>
          <a:p>
            <a:endParaRPr lang="ru-RU" alt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4">
            <a:extLst>
              <a:ext uri="{FF2B5EF4-FFF2-40B4-BE49-F238E27FC236}">
                <a16:creationId xmlns:a16="http://schemas.microsoft.com/office/drawing/2014/main" id="{D5730921-3E71-AA36-40B8-19D1A7E68A17}"/>
              </a:ext>
            </a:extLst>
          </p:cNvPr>
          <p:cNvSpPr>
            <a:spLocks noGrp="1" noChangeArrowheads="1"/>
          </p:cNvSpPr>
          <p:nvPr>
            <p:ph type="title"/>
          </p:nvPr>
        </p:nvSpPr>
        <p:spPr/>
        <p:txBody>
          <a:bodyPr>
            <a:normAutofit/>
          </a:bodyPr>
          <a:lstStyle/>
          <a:p>
            <a:r>
              <a:rPr lang="en-US" altLang="en-US" dirty="0"/>
              <a:t>Delays</a:t>
            </a:r>
            <a:endParaRPr lang="ru-RU" altLang="en-US" dirty="0"/>
          </a:p>
        </p:txBody>
      </p:sp>
      <p:sp>
        <p:nvSpPr>
          <p:cNvPr id="39939" name="Content Placeholder 5">
            <a:extLst>
              <a:ext uri="{FF2B5EF4-FFF2-40B4-BE49-F238E27FC236}">
                <a16:creationId xmlns:a16="http://schemas.microsoft.com/office/drawing/2014/main" id="{099C65BE-A2E5-C282-F300-9840D8D64E5C}"/>
              </a:ext>
            </a:extLst>
          </p:cNvPr>
          <p:cNvSpPr>
            <a:spLocks noGrp="1" noChangeArrowheads="1"/>
          </p:cNvSpPr>
          <p:nvPr>
            <p:ph type="body" sz="quarter" idx="10"/>
          </p:nvPr>
        </p:nvSpPr>
        <p:spPr/>
        <p:txBody>
          <a:bodyPr/>
          <a:lstStyle/>
          <a:p>
            <a:r>
              <a:rPr lang="en-US" altLang="en-US" dirty="0"/>
              <a:t>Continuous Assignment</a:t>
            </a:r>
          </a:p>
          <a:p>
            <a:r>
              <a:rPr lang="ru-RU" altLang="en-US" dirty="0"/>
              <a:t>Regular Assignment Delay </a:t>
            </a:r>
            <a:endParaRPr lang="en-US" altLang="en-US" dirty="0"/>
          </a:p>
          <a:p>
            <a:pPr lvl="1"/>
            <a:r>
              <a:rPr lang="ru-RU" altLang="en-US" dirty="0"/>
              <a:t>assign #10 out = in1 &amp; in2; </a:t>
            </a:r>
            <a:endParaRPr lang="en-US" altLang="en-US" dirty="0"/>
          </a:p>
          <a:p>
            <a:pPr lvl="1"/>
            <a:r>
              <a:rPr lang="en-US" altLang="en-US" dirty="0"/>
              <a:t>Inertial delay: a</a:t>
            </a:r>
            <a:r>
              <a:rPr lang="ru-RU" altLang="en-US" dirty="0"/>
              <a:t>n input pulse that is shorter than the delay of the assignment</a:t>
            </a:r>
            <a:r>
              <a:rPr lang="en-US" altLang="en-US" dirty="0"/>
              <a:t> </a:t>
            </a:r>
            <a:r>
              <a:rPr lang="ru-RU" altLang="en-US" dirty="0"/>
              <a:t>statement does not propagate to the output. </a:t>
            </a:r>
            <a:endParaRPr lang="en-US" altLang="en-US" dirty="0"/>
          </a:p>
          <a:p>
            <a:pPr lvl="1"/>
            <a:r>
              <a:rPr lang="ru-RU" altLang="en-US" dirty="0"/>
              <a:t>Implicit Continuous Assignment Delay </a:t>
            </a:r>
            <a:r>
              <a:rPr lang="en-US" altLang="en-US" dirty="0"/>
              <a:t> </a:t>
            </a:r>
          </a:p>
          <a:p>
            <a:pPr lvl="1"/>
            <a:r>
              <a:rPr lang="ru-RU" altLang="en-US" dirty="0"/>
              <a:t>wire #10 out = in1 &amp; in2; </a:t>
            </a:r>
            <a:endParaRPr lang="en-US" altLang="en-US" dirty="0"/>
          </a:p>
          <a:p>
            <a:pPr lvl="1"/>
            <a:r>
              <a:rPr lang="en-US" altLang="en-US" dirty="0"/>
              <a:t> </a:t>
            </a:r>
            <a:r>
              <a:rPr lang="ru-RU" altLang="en-US" dirty="0"/>
              <a:t>Net Declaration Delay </a:t>
            </a:r>
            <a:endParaRPr lang="en-US" altLang="en-US" dirty="0"/>
          </a:p>
          <a:p>
            <a:pPr lvl="1"/>
            <a:r>
              <a:rPr lang="ru-RU" altLang="en-US" dirty="0"/>
              <a:t>wire # 10 out;</a:t>
            </a:r>
            <a:endParaRPr lang="en-US" altLang="en-US" dirty="0"/>
          </a:p>
          <a:p>
            <a:pPr lvl="1"/>
            <a:r>
              <a:rPr lang="ru-RU" altLang="en-US" dirty="0"/>
              <a:t>assign out = in1 &amp; in2;</a:t>
            </a:r>
            <a:endParaRPr lang="en-US" altLang="en-US" dirty="0"/>
          </a:p>
          <a:p>
            <a:pPr lvl="1"/>
            <a:r>
              <a:rPr lang="ru-RU" altLang="en-US" dirty="0"/>
              <a:t>The above</a:t>
            </a:r>
            <a:r>
              <a:rPr lang="en-US" altLang="en-US" dirty="0"/>
              <a:t> two</a:t>
            </a:r>
            <a:r>
              <a:rPr lang="ru-RU" altLang="en-US" dirty="0"/>
              <a:t> statement</a:t>
            </a:r>
            <a:r>
              <a:rPr lang="en-US" altLang="en-US" dirty="0"/>
              <a:t>s</a:t>
            </a:r>
            <a:r>
              <a:rPr lang="ru-RU" altLang="en-US" dirty="0"/>
              <a:t> ha</a:t>
            </a:r>
            <a:r>
              <a:rPr lang="en-US" altLang="en-US" dirty="0" err="1"/>
              <a:t>ve</a:t>
            </a:r>
            <a:r>
              <a:rPr lang="ru-RU" altLang="en-US" dirty="0"/>
              <a:t> the same effect as the following.  </a:t>
            </a:r>
            <a:endParaRPr lang="en-US" altLang="en-US" dirty="0"/>
          </a:p>
          <a:p>
            <a:pPr lvl="1"/>
            <a:r>
              <a:rPr lang="ru-RU" altLang="en-US" dirty="0"/>
              <a:t>wire out;</a:t>
            </a:r>
            <a:endParaRPr lang="en-US" altLang="en-US" dirty="0"/>
          </a:p>
          <a:p>
            <a:pPr lvl="1"/>
            <a:r>
              <a:rPr lang="ru-RU" altLang="en-US" dirty="0"/>
              <a:t>assign #10 out = in1 &amp; in2; </a:t>
            </a:r>
          </a:p>
          <a:p>
            <a:pPr lvl="1"/>
            <a:endParaRPr lang="ru-RU" altLang="en-US" dirty="0"/>
          </a:p>
          <a:p>
            <a:endParaRPr lang="ru-RU"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4">
            <a:extLst>
              <a:ext uri="{FF2B5EF4-FFF2-40B4-BE49-F238E27FC236}">
                <a16:creationId xmlns:a16="http://schemas.microsoft.com/office/drawing/2014/main" id="{2F53FBD0-3DE0-8200-7CD3-646BB2AB3F05}"/>
              </a:ext>
            </a:extLst>
          </p:cNvPr>
          <p:cNvSpPr>
            <a:spLocks noGrp="1" noChangeArrowheads="1"/>
          </p:cNvSpPr>
          <p:nvPr>
            <p:ph type="title"/>
          </p:nvPr>
        </p:nvSpPr>
        <p:spPr>
          <a:xfrm>
            <a:off x="-1" y="183402"/>
            <a:ext cx="11612880" cy="704088"/>
          </a:xfrm>
        </p:spPr>
        <p:txBody>
          <a:bodyPr>
            <a:normAutofit/>
          </a:bodyPr>
          <a:lstStyle/>
          <a:p>
            <a:r>
              <a:rPr lang="en-US" altLang="en-US" dirty="0"/>
              <a:t>Gate Instantiation</a:t>
            </a:r>
            <a:endParaRPr lang="ru-RU" altLang="en-US" dirty="0"/>
          </a:p>
        </p:txBody>
      </p:sp>
      <p:sp>
        <p:nvSpPr>
          <p:cNvPr id="40963" name="Content Placeholder 5">
            <a:extLst>
              <a:ext uri="{FF2B5EF4-FFF2-40B4-BE49-F238E27FC236}">
                <a16:creationId xmlns:a16="http://schemas.microsoft.com/office/drawing/2014/main" id="{436DA087-528D-414A-DC19-7EA33021087B}"/>
              </a:ext>
            </a:extLst>
          </p:cNvPr>
          <p:cNvSpPr>
            <a:spLocks noGrp="1" noChangeArrowheads="1"/>
          </p:cNvSpPr>
          <p:nvPr>
            <p:ph type="body" sz="quarter" idx="10"/>
          </p:nvPr>
        </p:nvSpPr>
        <p:spPr>
          <a:xfrm>
            <a:off x="457200" y="1188720"/>
            <a:ext cx="11277922" cy="5185186"/>
          </a:xfrm>
        </p:spPr>
        <p:txBody>
          <a:bodyPr/>
          <a:lstStyle/>
          <a:p>
            <a:r>
              <a:rPr lang="ru-RU" altLang="en-US" dirty="0"/>
              <a:t>wire OUT, IN1, IN2;</a:t>
            </a:r>
            <a:r>
              <a:rPr lang="en-US" altLang="en-US" dirty="0"/>
              <a:t> </a:t>
            </a:r>
            <a:r>
              <a:rPr lang="ru-RU" altLang="en-US" dirty="0"/>
              <a:t>// basic gate instantiations.</a:t>
            </a:r>
            <a:endParaRPr lang="en-US" altLang="en-US" dirty="0"/>
          </a:p>
          <a:p>
            <a:r>
              <a:rPr lang="ru-RU" altLang="en-US" dirty="0"/>
              <a:t>and a1(OUT, IN1, IN2);</a:t>
            </a:r>
            <a:endParaRPr lang="en-US" altLang="en-US" dirty="0"/>
          </a:p>
          <a:p>
            <a:r>
              <a:rPr lang="ru-RU" altLang="en-US" dirty="0"/>
              <a:t>nand na1(OUT, IN1, IN2);</a:t>
            </a:r>
            <a:endParaRPr lang="en-US" altLang="en-US" dirty="0"/>
          </a:p>
          <a:p>
            <a:r>
              <a:rPr lang="ru-RU" altLang="en-US" dirty="0"/>
              <a:t>or or1(OUT, IN1, IN2);</a:t>
            </a:r>
            <a:endParaRPr lang="en-US" altLang="en-US" dirty="0"/>
          </a:p>
          <a:p>
            <a:r>
              <a:rPr lang="ru-RU" altLang="en-US" dirty="0"/>
              <a:t>nor nor1(OUT, IN1, IN2); </a:t>
            </a:r>
            <a:endParaRPr lang="en-US" altLang="en-US" dirty="0"/>
          </a:p>
          <a:p>
            <a:r>
              <a:rPr lang="ru-RU" altLang="en-US" dirty="0"/>
              <a:t>xor x1(OUT, IN1, IN2); </a:t>
            </a:r>
            <a:endParaRPr lang="en-US" altLang="en-US" dirty="0"/>
          </a:p>
          <a:p>
            <a:r>
              <a:rPr lang="ru-RU" altLang="en-US" dirty="0"/>
              <a:t>xnor nx1(OUT, IN1, IN2);</a:t>
            </a:r>
            <a:r>
              <a:rPr lang="en-US" altLang="en-US" dirty="0"/>
              <a:t> </a:t>
            </a:r>
            <a:r>
              <a:rPr lang="ru-RU" altLang="en-US" dirty="0"/>
              <a:t>// More than two inputs; 3 input nand gate</a:t>
            </a:r>
            <a:endParaRPr lang="en-US" altLang="en-US" dirty="0"/>
          </a:p>
          <a:p>
            <a:r>
              <a:rPr lang="ru-RU" altLang="en-US" dirty="0"/>
              <a:t>nand na1_3inp(OUT, IN1, IN2, IN3); // gate instantiation without instance name</a:t>
            </a:r>
            <a:endParaRPr lang="en-US" altLang="en-US" dirty="0"/>
          </a:p>
          <a:p>
            <a:r>
              <a:rPr lang="ru-RU" altLang="en-US" dirty="0"/>
              <a:t>and (OUT, IN1, IN2); // legal gate instantiation </a:t>
            </a:r>
          </a:p>
          <a:p>
            <a:endParaRPr lang="ru-RU"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a:extLst>
              <a:ext uri="{FF2B5EF4-FFF2-40B4-BE49-F238E27FC236}">
                <a16:creationId xmlns:a16="http://schemas.microsoft.com/office/drawing/2014/main" id="{55B8F3AA-56F9-12F9-C841-9A63F4B00400}"/>
              </a:ext>
            </a:extLst>
          </p:cNvPr>
          <p:cNvSpPr>
            <a:spLocks noGrp="1" noChangeArrowheads="1"/>
          </p:cNvSpPr>
          <p:nvPr>
            <p:ph type="title"/>
          </p:nvPr>
        </p:nvSpPr>
        <p:spPr/>
        <p:txBody>
          <a:bodyPr/>
          <a:lstStyle/>
          <a:p>
            <a:r>
              <a:rPr lang="en-US" altLang="en-US"/>
              <a:t>Verilog Gates</a:t>
            </a:r>
            <a:r>
              <a:rPr lang="ru-RU" altLang="en-US"/>
              <a:t> </a:t>
            </a:r>
            <a:r>
              <a:rPr lang="en-US" altLang="en-US"/>
              <a:t>Table</a:t>
            </a:r>
            <a:endParaRPr lang="ru-RU" altLang="en-US"/>
          </a:p>
        </p:txBody>
      </p:sp>
      <p:sp>
        <p:nvSpPr>
          <p:cNvPr id="41987" name="Line 5">
            <a:extLst>
              <a:ext uri="{FF2B5EF4-FFF2-40B4-BE49-F238E27FC236}">
                <a16:creationId xmlns:a16="http://schemas.microsoft.com/office/drawing/2014/main" id="{47D4CB69-7D77-5F85-6677-89FE2F5F8213}"/>
              </a:ext>
            </a:extLst>
          </p:cNvPr>
          <p:cNvSpPr>
            <a:spLocks noChangeShapeType="1"/>
          </p:cNvSpPr>
          <p:nvPr/>
        </p:nvSpPr>
        <p:spPr bwMode="auto">
          <a:xfrm>
            <a:off x="4953001" y="2667000"/>
            <a:ext cx="773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88" name="Rectangle 14">
            <a:extLst>
              <a:ext uri="{FF2B5EF4-FFF2-40B4-BE49-F238E27FC236}">
                <a16:creationId xmlns:a16="http://schemas.microsoft.com/office/drawing/2014/main" id="{E15BD3C4-3D2F-C917-749A-217BAFBFF00E}"/>
              </a:ext>
            </a:extLst>
          </p:cNvPr>
          <p:cNvSpPr>
            <a:spLocks noChangeArrowheads="1"/>
          </p:cNvSpPr>
          <p:nvPr/>
        </p:nvSpPr>
        <p:spPr bwMode="auto">
          <a:xfrm>
            <a:off x="1524001" y="73977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1989" name="Rectangle 271">
            <a:extLst>
              <a:ext uri="{FF2B5EF4-FFF2-40B4-BE49-F238E27FC236}">
                <a16:creationId xmlns:a16="http://schemas.microsoft.com/office/drawing/2014/main" id="{E5117F36-B837-55B4-9E6A-F2CCCC557EB8}"/>
              </a:ext>
            </a:extLst>
          </p:cNvPr>
          <p:cNvSpPr>
            <a:spLocks noChangeArrowheads="1"/>
          </p:cNvSpPr>
          <p:nvPr/>
        </p:nvSpPr>
        <p:spPr bwMode="auto">
          <a:xfrm>
            <a:off x="-1066800" y="914400"/>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1990" name="Rectangle 278">
            <a:extLst>
              <a:ext uri="{FF2B5EF4-FFF2-40B4-BE49-F238E27FC236}">
                <a16:creationId xmlns:a16="http://schemas.microsoft.com/office/drawing/2014/main" id="{7EC7081C-E143-4981-3255-D46F83C2C992}"/>
              </a:ext>
            </a:extLst>
          </p:cNvPr>
          <p:cNvSpPr>
            <a:spLocks noChangeArrowheads="1"/>
          </p:cNvSpPr>
          <p:nvPr/>
        </p:nvSpPr>
        <p:spPr bwMode="auto">
          <a:xfrm>
            <a:off x="-4953000" y="2057400"/>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aphicFrame>
        <p:nvGraphicFramePr>
          <p:cNvPr id="66" name="Table 65">
            <a:extLst>
              <a:ext uri="{FF2B5EF4-FFF2-40B4-BE49-F238E27FC236}">
                <a16:creationId xmlns:a16="http://schemas.microsoft.com/office/drawing/2014/main" id="{50237E03-7498-4FEA-8549-026F1EACD895}"/>
              </a:ext>
            </a:extLst>
          </p:cNvPr>
          <p:cNvGraphicFramePr>
            <a:graphicFrameLocks noGrp="1"/>
          </p:cNvGraphicFramePr>
          <p:nvPr>
            <p:extLst>
              <p:ext uri="{D42A27DB-BD31-4B8C-83A1-F6EECF244321}">
                <p14:modId xmlns:p14="http://schemas.microsoft.com/office/powerpoint/2010/main" val="2904984090"/>
              </p:ext>
            </p:extLst>
          </p:nvPr>
        </p:nvGraphicFramePr>
        <p:xfrm>
          <a:off x="1524001" y="1431925"/>
          <a:ext cx="8367131" cy="4686305"/>
        </p:xfrm>
        <a:graphic>
          <a:graphicData uri="http://schemas.openxmlformats.org/drawingml/2006/table">
            <a:tbl>
              <a:tblPr firstRow="1" bandRow="1">
                <a:tableStyleId>{5C22544A-7EE6-4342-B048-85BDC9FD1C3A}</a:tableStyleId>
              </a:tblPr>
              <a:tblGrid>
                <a:gridCol w="1673426">
                  <a:extLst>
                    <a:ext uri="{9D8B030D-6E8A-4147-A177-3AD203B41FA5}">
                      <a16:colId xmlns:a16="http://schemas.microsoft.com/office/drawing/2014/main" val="20000"/>
                    </a:ext>
                  </a:extLst>
                </a:gridCol>
                <a:gridCol w="2899308">
                  <a:extLst>
                    <a:ext uri="{9D8B030D-6E8A-4147-A177-3AD203B41FA5}">
                      <a16:colId xmlns:a16="http://schemas.microsoft.com/office/drawing/2014/main" val="20001"/>
                    </a:ext>
                  </a:extLst>
                </a:gridCol>
                <a:gridCol w="3794397">
                  <a:extLst>
                    <a:ext uri="{9D8B030D-6E8A-4147-A177-3AD203B41FA5}">
                      <a16:colId xmlns:a16="http://schemas.microsoft.com/office/drawing/2014/main" val="20002"/>
                    </a:ext>
                  </a:extLst>
                </a:gridCol>
              </a:tblGrid>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chemeClr val="bg2"/>
                          </a:solidFill>
                          <a:effectLst/>
                          <a:latin typeface="Arial" pitchFamily="34" charset="0"/>
                          <a:cs typeface="Arial" pitchFamily="34" charset="0"/>
                        </a:rPr>
                        <a:t>Name</a:t>
                      </a: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chemeClr val="bg2"/>
                          </a:solidFill>
                          <a:effectLst/>
                          <a:latin typeface="Arial" pitchFamily="34" charset="0"/>
                          <a:cs typeface="Arial" pitchFamily="34" charset="0"/>
                        </a:rPr>
                        <a:t>Expression</a:t>
                      </a: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err="1">
                          <a:ln>
                            <a:noFill/>
                          </a:ln>
                          <a:solidFill>
                            <a:schemeClr val="bg2"/>
                          </a:solidFill>
                          <a:effectLst/>
                          <a:latin typeface="Arial" pitchFamily="34" charset="0"/>
                          <a:cs typeface="Arial" pitchFamily="34" charset="0"/>
                        </a:rPr>
                        <a:t>Verilog</a:t>
                      </a:r>
                      <a:r>
                        <a:rPr kumimoji="0" lang="en-US" sz="1600" b="0" i="0" u="none" strike="noStrike" cap="none" normalizeH="0" baseline="0" dirty="0">
                          <a:ln>
                            <a:noFill/>
                          </a:ln>
                          <a:solidFill>
                            <a:schemeClr val="bg2"/>
                          </a:solidFill>
                          <a:effectLst/>
                          <a:latin typeface="Arial" pitchFamily="34" charset="0"/>
                          <a:cs typeface="Arial" pitchFamily="34" charset="0"/>
                        </a:rPr>
                        <a:t>  gate instantiation</a:t>
                      </a:r>
                    </a:p>
                  </a:txBody>
                  <a:tcPr marT="45723" marB="45723" horzOverflow="overflow"/>
                </a:tc>
                <a:extLst>
                  <a:ext uri="{0D108BD9-81ED-4DB2-BD59-A6C34878D82A}">
                    <a16:rowId xmlns:a16="http://schemas.microsoft.com/office/drawing/2014/main" val="10000"/>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and</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y =(</a:t>
                      </a:r>
                      <a:r>
                        <a:rPr kumimoji="0" lang="en-US" sz="1600" b="0" i="0" u="none" strike="noStrike" cap="none" normalizeH="0" baseline="0" dirty="0" err="1">
                          <a:ln>
                            <a:noFill/>
                          </a:ln>
                          <a:solidFill>
                            <a:srgbClr val="000000"/>
                          </a:solidFill>
                          <a:effectLst/>
                          <a:latin typeface="Arial" pitchFamily="34" charset="0"/>
                          <a:cs typeface="Arial" pitchFamily="34" charset="0"/>
                        </a:rPr>
                        <a:t>a</a:t>
                      </a:r>
                      <a:r>
                        <a:rPr kumimoji="0" lang="en-US" sz="1600" b="0" i="0" u="none" strike="noStrike" cap="none" normalizeH="0" baseline="0" dirty="0" err="1">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dirty="0" err="1">
                          <a:ln>
                            <a:noFill/>
                          </a:ln>
                          <a:solidFill>
                            <a:srgbClr val="000000"/>
                          </a:solidFill>
                          <a:effectLst/>
                          <a:latin typeface="Arial" pitchFamily="34" charset="0"/>
                          <a:cs typeface="Arial" pitchFamily="34" charset="0"/>
                        </a:rPr>
                        <a:t>b</a:t>
                      </a:r>
                      <a:r>
                        <a:rPr kumimoji="0" lang="en-US" sz="1600" b="0" i="0" u="none" strike="noStrike" cap="none" normalizeH="0" baseline="0" dirty="0">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dirty="0">
                          <a:ln>
                            <a:noFill/>
                          </a:ln>
                          <a:solidFill>
                            <a:srgbClr val="000000"/>
                          </a:solidFill>
                          <a:effectLst/>
                          <a:latin typeface="Arial" pitchFamily="34" charset="0"/>
                          <a:cs typeface="Arial" pitchFamily="34" charset="0"/>
                        </a:rPr>
                        <a:t> .</a:t>
                      </a:r>
                      <a:r>
                        <a:rPr kumimoji="0" lang="en-US" sz="1600" b="0" i="0" u="none" strike="noStrike" cap="none" normalizeH="0" baseline="0" dirty="0">
                          <a:ln>
                            <a:noFill/>
                          </a:ln>
                          <a:solidFill>
                            <a:srgbClr val="000000"/>
                          </a:solidFill>
                          <a:effectLst/>
                          <a:latin typeface="Arial" pitchFamily="34" charset="0"/>
                          <a:cs typeface="Arial" pitchFamily="34" charset="0"/>
                          <a:sym typeface="Symbol" pitchFamily="18" charset="2"/>
                        </a:rPr>
                        <a:t>  .  .)</a:t>
                      </a: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and (</a:t>
                      </a:r>
                      <a:r>
                        <a:rPr kumimoji="0" lang="en-US" sz="1600" b="0" i="0" u="none" strike="noStrike" cap="none" normalizeH="0" baseline="0" dirty="0" err="1">
                          <a:ln>
                            <a:noFill/>
                          </a:ln>
                          <a:solidFill>
                            <a:srgbClr val="000000"/>
                          </a:solidFill>
                          <a:effectLst/>
                          <a:latin typeface="Arial" pitchFamily="34" charset="0"/>
                          <a:cs typeface="Arial" pitchFamily="34" charset="0"/>
                        </a:rPr>
                        <a:t>y,a,b</a:t>
                      </a:r>
                      <a:r>
                        <a:rPr kumimoji="0" lang="en-US" sz="1600" b="0" i="0" u="none" strike="noStrike" cap="none" normalizeH="0" baseline="0" dirty="0">
                          <a:ln>
                            <a:noFill/>
                          </a:ln>
                          <a:solidFill>
                            <a:srgbClr val="000000"/>
                          </a:solidFill>
                          <a:effectLst/>
                          <a:latin typeface="Arial" pitchFamily="34" charset="0"/>
                          <a:cs typeface="Arial" pitchFamily="34" charset="0"/>
                        </a:rPr>
                        <a:t>, . . .)</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1"/>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nand</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y =(</a:t>
                      </a:r>
                      <a:r>
                        <a:rPr kumimoji="0" lang="en-US" sz="1600" b="0" i="0" u="none" strike="noStrike" cap="none" normalizeH="0" baseline="0" dirty="0" err="1">
                          <a:ln>
                            <a:noFill/>
                          </a:ln>
                          <a:solidFill>
                            <a:srgbClr val="000000"/>
                          </a:solidFill>
                          <a:effectLst/>
                          <a:latin typeface="Arial" pitchFamily="34" charset="0"/>
                          <a:cs typeface="Arial" pitchFamily="34" charset="0"/>
                        </a:rPr>
                        <a:t>a</a:t>
                      </a:r>
                      <a:r>
                        <a:rPr kumimoji="0" lang="en-US" sz="1600" b="0" i="0" u="none" strike="noStrike" cap="none" normalizeH="0" baseline="0" dirty="0" err="1">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dirty="0" err="1">
                          <a:ln>
                            <a:noFill/>
                          </a:ln>
                          <a:solidFill>
                            <a:srgbClr val="000000"/>
                          </a:solidFill>
                          <a:effectLst/>
                          <a:latin typeface="Arial" pitchFamily="34" charset="0"/>
                          <a:cs typeface="Arial" pitchFamily="34" charset="0"/>
                        </a:rPr>
                        <a:t>b</a:t>
                      </a:r>
                      <a:r>
                        <a:rPr kumimoji="0" lang="en-US" sz="1600" b="0" i="0" u="none" strike="noStrike" cap="none" normalizeH="0" baseline="0" dirty="0">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dirty="0">
                          <a:ln>
                            <a:noFill/>
                          </a:ln>
                          <a:solidFill>
                            <a:srgbClr val="000000"/>
                          </a:solidFill>
                          <a:effectLst/>
                          <a:latin typeface="Arial" pitchFamily="34" charset="0"/>
                          <a:cs typeface="Arial" pitchFamily="34" charset="0"/>
                        </a:rPr>
                        <a:t> .</a:t>
                      </a:r>
                      <a:r>
                        <a:rPr kumimoji="0" lang="en-US" sz="1600" b="0" i="0" u="none" strike="noStrike" cap="none" normalizeH="0" baseline="0" dirty="0">
                          <a:ln>
                            <a:noFill/>
                          </a:ln>
                          <a:solidFill>
                            <a:srgbClr val="000000"/>
                          </a:solidFill>
                          <a:effectLst/>
                          <a:latin typeface="Arial" pitchFamily="34" charset="0"/>
                          <a:cs typeface="Arial" pitchFamily="34" charset="0"/>
                          <a:sym typeface="Symbol" pitchFamily="18" charset="2"/>
                        </a:rPr>
                        <a:t>  .  .)</a:t>
                      </a: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err="1">
                          <a:ln>
                            <a:noFill/>
                          </a:ln>
                          <a:solidFill>
                            <a:srgbClr val="000000"/>
                          </a:solidFill>
                          <a:effectLst/>
                          <a:latin typeface="Arial" pitchFamily="34" charset="0"/>
                          <a:cs typeface="Arial" pitchFamily="34" charset="0"/>
                        </a:rPr>
                        <a:t>nand</a:t>
                      </a:r>
                      <a:r>
                        <a:rPr kumimoji="0" lang="en-US" sz="1600" b="0" i="0" u="none" strike="noStrike" cap="none" normalizeH="0" baseline="0" dirty="0">
                          <a:ln>
                            <a:noFill/>
                          </a:ln>
                          <a:solidFill>
                            <a:srgbClr val="000000"/>
                          </a:solidFill>
                          <a:effectLst/>
                          <a:latin typeface="Arial" pitchFamily="34" charset="0"/>
                          <a:cs typeface="Arial" pitchFamily="34" charset="0"/>
                        </a:rPr>
                        <a:t> (</a:t>
                      </a:r>
                      <a:r>
                        <a:rPr kumimoji="0" lang="en-US" sz="1600" b="0" i="0" u="none" strike="noStrike" cap="none" normalizeH="0" baseline="0" dirty="0" err="1">
                          <a:ln>
                            <a:noFill/>
                          </a:ln>
                          <a:solidFill>
                            <a:srgbClr val="000000"/>
                          </a:solidFill>
                          <a:effectLst/>
                          <a:latin typeface="Arial" pitchFamily="34" charset="0"/>
                          <a:cs typeface="Arial" pitchFamily="34" charset="0"/>
                        </a:rPr>
                        <a:t>y,a,b</a:t>
                      </a:r>
                      <a:r>
                        <a:rPr kumimoji="0" lang="en-US" sz="1600" b="0" i="0" u="none" strike="noStrike" cap="none" normalizeH="0" baseline="0" dirty="0">
                          <a:ln>
                            <a:noFill/>
                          </a:ln>
                          <a:solidFill>
                            <a:srgbClr val="000000"/>
                          </a:solidFill>
                          <a:effectLst/>
                          <a:latin typeface="Arial" pitchFamily="34" charset="0"/>
                          <a:cs typeface="Arial" pitchFamily="34" charset="0"/>
                        </a:rPr>
                        <a:t>, . . .)</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2"/>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or</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y =(a+b+ .  .  .)</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or (</a:t>
                      </a:r>
                      <a:r>
                        <a:rPr kumimoji="0" lang="en-US" sz="1600" b="0" i="0" u="none" strike="noStrike" cap="none" normalizeH="0" baseline="0" dirty="0" err="1">
                          <a:ln>
                            <a:noFill/>
                          </a:ln>
                          <a:solidFill>
                            <a:srgbClr val="000000"/>
                          </a:solidFill>
                          <a:effectLst/>
                          <a:latin typeface="Arial" pitchFamily="34" charset="0"/>
                          <a:cs typeface="Arial" pitchFamily="34" charset="0"/>
                        </a:rPr>
                        <a:t>y,a,b</a:t>
                      </a:r>
                      <a:r>
                        <a:rPr kumimoji="0" lang="en-US" sz="1600" b="0" i="0" u="none" strike="noStrike" cap="none" normalizeH="0" baseline="0" dirty="0">
                          <a:ln>
                            <a:noFill/>
                          </a:ln>
                          <a:solidFill>
                            <a:srgbClr val="000000"/>
                          </a:solidFill>
                          <a:effectLst/>
                          <a:latin typeface="Arial" pitchFamily="34" charset="0"/>
                          <a:cs typeface="Arial" pitchFamily="34" charset="0"/>
                        </a:rPr>
                        <a:t>, . . .)</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3"/>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nor</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y =(a+b+ .  .  .)</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nor (</a:t>
                      </a:r>
                      <a:r>
                        <a:rPr kumimoji="0" lang="en-US" sz="1600" b="0" i="0" u="none" strike="noStrike" cap="none" normalizeH="0" baseline="0" dirty="0" err="1">
                          <a:ln>
                            <a:noFill/>
                          </a:ln>
                          <a:solidFill>
                            <a:srgbClr val="000000"/>
                          </a:solidFill>
                          <a:effectLst/>
                          <a:latin typeface="Arial" pitchFamily="34" charset="0"/>
                          <a:cs typeface="Arial" pitchFamily="34" charset="0"/>
                        </a:rPr>
                        <a:t>y,a,b</a:t>
                      </a:r>
                      <a:r>
                        <a:rPr kumimoji="0" lang="en-US" sz="1600" b="0" i="0" u="none" strike="noStrike" cap="none" normalizeH="0" baseline="0" dirty="0">
                          <a:ln>
                            <a:noFill/>
                          </a:ln>
                          <a:solidFill>
                            <a:srgbClr val="000000"/>
                          </a:solidFill>
                          <a:effectLst/>
                          <a:latin typeface="Arial" pitchFamily="34" charset="0"/>
                          <a:cs typeface="Arial" pitchFamily="34" charset="0"/>
                        </a:rPr>
                        <a:t>, . . .)</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4"/>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xor</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y =(a</a:t>
                      </a:r>
                      <a:r>
                        <a:rPr kumimoji="0" lang="en-US" sz="1600" b="0" i="0" u="none" strike="noStrike" cap="none" normalizeH="0" baseline="0">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a:ln>
                            <a:noFill/>
                          </a:ln>
                          <a:solidFill>
                            <a:srgbClr val="000000"/>
                          </a:solidFill>
                          <a:effectLst/>
                          <a:latin typeface="Arial" pitchFamily="34" charset="0"/>
                          <a:cs typeface="Arial" pitchFamily="34" charset="0"/>
                        </a:rPr>
                        <a:t>b</a:t>
                      </a:r>
                      <a:r>
                        <a:rPr kumimoji="0" lang="en-US" sz="1600" b="0" i="0" u="none" strike="noStrike" cap="none" normalizeH="0" baseline="0">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a:ln>
                            <a:noFill/>
                          </a:ln>
                          <a:solidFill>
                            <a:srgbClr val="000000"/>
                          </a:solidFill>
                          <a:effectLst/>
                          <a:latin typeface="Arial" pitchFamily="34" charset="0"/>
                          <a:cs typeface="Arial" pitchFamily="34" charset="0"/>
                        </a:rPr>
                        <a:t> .</a:t>
                      </a:r>
                      <a:r>
                        <a:rPr kumimoji="0" lang="en-US" sz="1600" b="0" i="0" u="none" strike="noStrike" cap="none" normalizeH="0" baseline="0">
                          <a:ln>
                            <a:noFill/>
                          </a:ln>
                          <a:solidFill>
                            <a:srgbClr val="000000"/>
                          </a:solidFill>
                          <a:effectLst/>
                          <a:latin typeface="Arial" pitchFamily="34" charset="0"/>
                          <a:cs typeface="Arial" pitchFamily="34" charset="0"/>
                          <a:sym typeface="Symbol" pitchFamily="18" charset="2"/>
                        </a:rPr>
                        <a:t>  .  .)</a:t>
                      </a: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err="1">
                          <a:ln>
                            <a:noFill/>
                          </a:ln>
                          <a:solidFill>
                            <a:srgbClr val="000000"/>
                          </a:solidFill>
                          <a:effectLst/>
                          <a:latin typeface="Arial" pitchFamily="34" charset="0"/>
                          <a:cs typeface="Arial" pitchFamily="34" charset="0"/>
                        </a:rPr>
                        <a:t>xor</a:t>
                      </a:r>
                      <a:r>
                        <a:rPr kumimoji="0" lang="en-US" sz="1600" b="0" i="0" u="none" strike="noStrike" cap="none" normalizeH="0" baseline="0" dirty="0">
                          <a:ln>
                            <a:noFill/>
                          </a:ln>
                          <a:solidFill>
                            <a:srgbClr val="000000"/>
                          </a:solidFill>
                          <a:effectLst/>
                          <a:latin typeface="Arial" pitchFamily="34" charset="0"/>
                          <a:cs typeface="Arial" pitchFamily="34" charset="0"/>
                        </a:rPr>
                        <a:t> (</a:t>
                      </a:r>
                      <a:r>
                        <a:rPr kumimoji="0" lang="en-US" sz="1600" b="0" i="0" u="none" strike="noStrike" cap="none" normalizeH="0" baseline="0" dirty="0" err="1">
                          <a:ln>
                            <a:noFill/>
                          </a:ln>
                          <a:solidFill>
                            <a:srgbClr val="000000"/>
                          </a:solidFill>
                          <a:effectLst/>
                          <a:latin typeface="Arial" pitchFamily="34" charset="0"/>
                          <a:cs typeface="Arial" pitchFamily="34" charset="0"/>
                        </a:rPr>
                        <a:t>y,a,b</a:t>
                      </a:r>
                      <a:r>
                        <a:rPr kumimoji="0" lang="en-US" sz="1600" b="0" i="0" u="none" strike="noStrike" cap="none" normalizeH="0" baseline="0" dirty="0">
                          <a:ln>
                            <a:noFill/>
                          </a:ln>
                          <a:solidFill>
                            <a:srgbClr val="000000"/>
                          </a:solidFill>
                          <a:effectLst/>
                          <a:latin typeface="Arial" pitchFamily="34" charset="0"/>
                          <a:cs typeface="Arial" pitchFamily="34" charset="0"/>
                        </a:rPr>
                        <a:t>, . . .)</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5"/>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xnor</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y =(1</a:t>
                      </a:r>
                      <a:r>
                        <a:rPr kumimoji="0" lang="en-US" sz="1600" b="0" i="0" u="none" strike="noStrike" cap="none" normalizeH="0" baseline="0">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a:ln>
                            <a:noFill/>
                          </a:ln>
                          <a:solidFill>
                            <a:srgbClr val="000000"/>
                          </a:solidFill>
                          <a:effectLst/>
                          <a:latin typeface="Arial" pitchFamily="34" charset="0"/>
                          <a:cs typeface="Arial" pitchFamily="34" charset="0"/>
                        </a:rPr>
                        <a:t>a</a:t>
                      </a:r>
                      <a:r>
                        <a:rPr kumimoji="0" lang="en-US" sz="1600" b="0" i="0" u="none" strike="noStrike" cap="none" normalizeH="0" baseline="0">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a:ln>
                            <a:noFill/>
                          </a:ln>
                          <a:solidFill>
                            <a:srgbClr val="000000"/>
                          </a:solidFill>
                          <a:effectLst/>
                          <a:latin typeface="Arial" pitchFamily="34" charset="0"/>
                          <a:cs typeface="Arial" pitchFamily="34" charset="0"/>
                        </a:rPr>
                        <a:t>b</a:t>
                      </a:r>
                      <a:r>
                        <a:rPr kumimoji="0" lang="en-US" sz="1600" b="0" i="0" u="none" strike="noStrike" cap="none" normalizeH="0" baseline="0">
                          <a:ln>
                            <a:noFill/>
                          </a:ln>
                          <a:solidFill>
                            <a:srgbClr val="000000"/>
                          </a:solidFill>
                          <a:effectLst/>
                          <a:latin typeface="Arial" pitchFamily="34" charset="0"/>
                          <a:cs typeface="Arial" pitchFamily="34" charset="0"/>
                          <a:sym typeface="Symbol" pitchFamily="18" charset="2"/>
                        </a:rPr>
                        <a:t></a:t>
                      </a:r>
                      <a:r>
                        <a:rPr kumimoji="0" lang="en-US" sz="1600" b="0" i="0" u="none" strike="noStrike" cap="none" normalizeH="0" baseline="0">
                          <a:ln>
                            <a:noFill/>
                          </a:ln>
                          <a:solidFill>
                            <a:srgbClr val="000000"/>
                          </a:solidFill>
                          <a:effectLst/>
                          <a:latin typeface="Arial" pitchFamily="34" charset="0"/>
                          <a:cs typeface="Arial" pitchFamily="34" charset="0"/>
                        </a:rPr>
                        <a:t> .</a:t>
                      </a:r>
                      <a:r>
                        <a:rPr kumimoji="0" lang="en-US" sz="1600" b="0" i="0" u="none" strike="noStrike" cap="none" normalizeH="0" baseline="0">
                          <a:ln>
                            <a:noFill/>
                          </a:ln>
                          <a:solidFill>
                            <a:srgbClr val="000000"/>
                          </a:solidFill>
                          <a:effectLst/>
                          <a:latin typeface="Arial" pitchFamily="34" charset="0"/>
                          <a:cs typeface="Arial" pitchFamily="34" charset="0"/>
                          <a:sym typeface="Symbol" pitchFamily="18" charset="2"/>
                        </a:rPr>
                        <a:t>  .  .)</a:t>
                      </a: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err="1">
                          <a:ln>
                            <a:noFill/>
                          </a:ln>
                          <a:solidFill>
                            <a:srgbClr val="000000"/>
                          </a:solidFill>
                          <a:effectLst/>
                          <a:latin typeface="Arial" pitchFamily="34" charset="0"/>
                          <a:cs typeface="Arial" pitchFamily="34" charset="0"/>
                        </a:rPr>
                        <a:t>xnor</a:t>
                      </a:r>
                      <a:r>
                        <a:rPr kumimoji="0" lang="en-US" sz="1600" b="0" i="0" u="none" strike="noStrike" cap="none" normalizeH="0" baseline="0" dirty="0">
                          <a:ln>
                            <a:noFill/>
                          </a:ln>
                          <a:solidFill>
                            <a:srgbClr val="000000"/>
                          </a:solidFill>
                          <a:effectLst/>
                          <a:latin typeface="Arial" pitchFamily="34" charset="0"/>
                          <a:cs typeface="Arial" pitchFamily="34" charset="0"/>
                        </a:rPr>
                        <a:t> (</a:t>
                      </a:r>
                      <a:r>
                        <a:rPr kumimoji="0" lang="en-US" sz="1600" b="0" i="0" u="none" strike="noStrike" cap="none" normalizeH="0" baseline="0" dirty="0" err="1">
                          <a:ln>
                            <a:noFill/>
                          </a:ln>
                          <a:solidFill>
                            <a:srgbClr val="000000"/>
                          </a:solidFill>
                          <a:effectLst/>
                          <a:latin typeface="Arial" pitchFamily="34" charset="0"/>
                          <a:cs typeface="Arial" pitchFamily="34" charset="0"/>
                        </a:rPr>
                        <a:t>y,a,b</a:t>
                      </a:r>
                      <a:r>
                        <a:rPr kumimoji="0" lang="en-US" sz="1600" b="0" i="0" u="none" strike="noStrike" cap="none" normalizeH="0" baseline="0" dirty="0">
                          <a:ln>
                            <a:noFill/>
                          </a:ln>
                          <a:solidFill>
                            <a:srgbClr val="000000"/>
                          </a:solidFill>
                          <a:effectLst/>
                          <a:latin typeface="Arial" pitchFamily="34" charset="0"/>
                          <a:cs typeface="Arial" pitchFamily="34" charset="0"/>
                        </a:rPr>
                        <a:t>, . . .)</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6"/>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not</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y =~a</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not (</a:t>
                      </a:r>
                      <a:r>
                        <a:rPr kumimoji="0" lang="en-US" sz="1600" b="0" i="0" u="none" strike="noStrike" cap="none" normalizeH="0" baseline="0" dirty="0" err="1">
                          <a:ln>
                            <a:noFill/>
                          </a:ln>
                          <a:solidFill>
                            <a:srgbClr val="000000"/>
                          </a:solidFill>
                          <a:effectLst/>
                          <a:latin typeface="Arial" pitchFamily="34" charset="0"/>
                          <a:cs typeface="Arial" pitchFamily="34" charset="0"/>
                        </a:rPr>
                        <a:t>y,a</a:t>
                      </a:r>
                      <a:r>
                        <a:rPr kumimoji="0" lang="en-US" sz="1600" b="0" i="0" u="none" strike="noStrike" cap="none" normalizeH="0" baseline="0" dirty="0">
                          <a:ln>
                            <a:noFill/>
                          </a:ln>
                          <a:solidFill>
                            <a:srgbClr val="000000"/>
                          </a:solidFill>
                          <a:effectLst/>
                          <a:latin typeface="Arial" pitchFamily="34" charset="0"/>
                          <a:cs typeface="Arial" pitchFamily="34" charset="0"/>
                        </a:rPr>
                        <a:t>)</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7"/>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err="1">
                          <a:ln>
                            <a:noFill/>
                          </a:ln>
                          <a:solidFill>
                            <a:srgbClr val="000000"/>
                          </a:solidFill>
                          <a:effectLst/>
                          <a:latin typeface="Arial" pitchFamily="34" charset="0"/>
                          <a:cs typeface="Arial" pitchFamily="34" charset="0"/>
                        </a:rPr>
                        <a:t>buf</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y=a</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err="1">
                          <a:ln>
                            <a:noFill/>
                          </a:ln>
                          <a:solidFill>
                            <a:srgbClr val="000000"/>
                          </a:solidFill>
                          <a:effectLst/>
                          <a:latin typeface="Arial" pitchFamily="34" charset="0"/>
                          <a:cs typeface="Arial" pitchFamily="34" charset="0"/>
                        </a:rPr>
                        <a:t>buf</a:t>
                      </a:r>
                      <a:r>
                        <a:rPr kumimoji="0" lang="en-US" sz="1600" b="0" i="0" u="none" strike="noStrike" cap="none" normalizeH="0" baseline="0" dirty="0">
                          <a:ln>
                            <a:noFill/>
                          </a:ln>
                          <a:solidFill>
                            <a:srgbClr val="000000"/>
                          </a:solidFill>
                          <a:effectLst/>
                          <a:latin typeface="Arial" pitchFamily="34" charset="0"/>
                          <a:cs typeface="Arial" pitchFamily="34" charset="0"/>
                        </a:rPr>
                        <a:t> (</a:t>
                      </a:r>
                      <a:r>
                        <a:rPr kumimoji="0" lang="en-US" sz="1600" b="0" i="0" u="none" strike="noStrike" cap="none" normalizeH="0" baseline="0" dirty="0" err="1">
                          <a:ln>
                            <a:noFill/>
                          </a:ln>
                          <a:solidFill>
                            <a:srgbClr val="000000"/>
                          </a:solidFill>
                          <a:effectLst/>
                          <a:latin typeface="Arial" pitchFamily="34" charset="0"/>
                          <a:cs typeface="Arial" pitchFamily="34" charset="0"/>
                        </a:rPr>
                        <a:t>y,a</a:t>
                      </a:r>
                      <a:r>
                        <a:rPr kumimoji="0" lang="en-US" sz="1600" b="0" i="0" u="none" strike="noStrike" cap="none" normalizeH="0" baseline="0" dirty="0">
                          <a:ln>
                            <a:noFill/>
                          </a:ln>
                          <a:solidFill>
                            <a:srgbClr val="000000"/>
                          </a:solidFill>
                          <a:effectLst/>
                          <a:latin typeface="Arial" pitchFamily="34" charset="0"/>
                          <a:cs typeface="Arial" pitchFamily="34" charset="0"/>
                        </a:rPr>
                        <a:t>)</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8"/>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notif0</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y= (!e?~a:’</a:t>
                      </a:r>
                      <a:r>
                        <a:rPr kumimoji="0" lang="en-US" sz="1600" b="0" i="0" u="none" strike="noStrike" cap="none" normalizeH="0" baseline="0" dirty="0" err="1">
                          <a:ln>
                            <a:noFill/>
                          </a:ln>
                          <a:solidFill>
                            <a:srgbClr val="000000"/>
                          </a:solidFill>
                          <a:effectLst/>
                          <a:latin typeface="Arial" pitchFamily="34" charset="0"/>
                          <a:cs typeface="Arial" pitchFamily="34" charset="0"/>
                        </a:rPr>
                        <a:t>bz</a:t>
                      </a:r>
                      <a:r>
                        <a:rPr kumimoji="0" lang="en-US" sz="1600" b="0" i="0" u="none" strike="noStrike" cap="none" normalizeH="0" baseline="0" dirty="0">
                          <a:ln>
                            <a:noFill/>
                          </a:ln>
                          <a:solidFill>
                            <a:srgbClr val="000000"/>
                          </a:solidFill>
                          <a:effectLst/>
                          <a:latin typeface="Arial" pitchFamily="34" charset="0"/>
                          <a:cs typeface="Arial" pitchFamily="34" charset="0"/>
                        </a:rPr>
                        <a:t>)</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notif0 (</a:t>
                      </a:r>
                      <a:r>
                        <a:rPr kumimoji="0" lang="en-US" sz="1600" b="0" i="0" u="none" strike="noStrike" cap="none" normalizeH="0" baseline="0" dirty="0" err="1">
                          <a:ln>
                            <a:noFill/>
                          </a:ln>
                          <a:solidFill>
                            <a:srgbClr val="000000"/>
                          </a:solidFill>
                          <a:effectLst/>
                          <a:latin typeface="Arial" pitchFamily="34" charset="0"/>
                          <a:cs typeface="Arial" pitchFamily="34" charset="0"/>
                        </a:rPr>
                        <a:t>y,a,e</a:t>
                      </a:r>
                      <a:r>
                        <a:rPr kumimoji="0" lang="en-US" sz="1600" b="0" i="0" u="none" strike="noStrike" cap="none" normalizeH="0" baseline="0" dirty="0">
                          <a:ln>
                            <a:noFill/>
                          </a:ln>
                          <a:solidFill>
                            <a:srgbClr val="000000"/>
                          </a:solidFill>
                          <a:effectLst/>
                          <a:latin typeface="Arial" pitchFamily="34" charset="0"/>
                          <a:cs typeface="Arial" pitchFamily="34" charset="0"/>
                        </a:rPr>
                        <a:t>)</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9"/>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notif1</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y= (e?~a:’bz)</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notif1 (</a:t>
                      </a:r>
                      <a:r>
                        <a:rPr kumimoji="0" lang="en-US" sz="1600" b="0" i="0" u="none" strike="noStrike" cap="none" normalizeH="0" baseline="0" dirty="0" err="1">
                          <a:ln>
                            <a:noFill/>
                          </a:ln>
                          <a:solidFill>
                            <a:srgbClr val="000000"/>
                          </a:solidFill>
                          <a:effectLst/>
                          <a:latin typeface="Arial" pitchFamily="34" charset="0"/>
                          <a:cs typeface="Arial" pitchFamily="34" charset="0"/>
                        </a:rPr>
                        <a:t>y,a,e</a:t>
                      </a:r>
                      <a:r>
                        <a:rPr kumimoji="0" lang="en-US" sz="1600" b="0" i="0" u="none" strike="noStrike" cap="none" normalizeH="0" baseline="0" dirty="0">
                          <a:ln>
                            <a:noFill/>
                          </a:ln>
                          <a:solidFill>
                            <a:srgbClr val="000000"/>
                          </a:solidFill>
                          <a:effectLst/>
                          <a:latin typeface="Arial" pitchFamily="34" charset="0"/>
                          <a:cs typeface="Arial" pitchFamily="34" charset="0"/>
                        </a:rPr>
                        <a:t>)</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10"/>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bufif0</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y= (!e?a:’bz)</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bufif0 (</a:t>
                      </a:r>
                      <a:r>
                        <a:rPr kumimoji="0" lang="en-US" sz="1600" b="0" i="0" u="none" strike="noStrike" cap="none" normalizeH="0" baseline="0" dirty="0" err="1">
                          <a:ln>
                            <a:noFill/>
                          </a:ln>
                          <a:solidFill>
                            <a:srgbClr val="000000"/>
                          </a:solidFill>
                          <a:effectLst/>
                          <a:latin typeface="Arial" pitchFamily="34" charset="0"/>
                          <a:cs typeface="Arial" pitchFamily="34" charset="0"/>
                        </a:rPr>
                        <a:t>y,a,e</a:t>
                      </a:r>
                      <a:r>
                        <a:rPr kumimoji="0" lang="en-US" sz="1600" b="0" i="0" u="none" strike="noStrike" cap="none" normalizeH="0" baseline="0" dirty="0">
                          <a:ln>
                            <a:noFill/>
                          </a:ln>
                          <a:solidFill>
                            <a:srgbClr val="000000"/>
                          </a:solidFill>
                          <a:effectLst/>
                          <a:latin typeface="Arial" pitchFamily="34" charset="0"/>
                          <a:cs typeface="Arial" pitchFamily="34" charset="0"/>
                        </a:rPr>
                        <a:t>)</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11"/>
                  </a:ext>
                </a:extLst>
              </a:tr>
              <a:tr h="360485">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bufif1</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a:ln>
                            <a:noFill/>
                          </a:ln>
                          <a:solidFill>
                            <a:srgbClr val="000000"/>
                          </a:solidFill>
                          <a:effectLst/>
                          <a:latin typeface="Arial" pitchFamily="34" charset="0"/>
                          <a:cs typeface="Arial" pitchFamily="34" charset="0"/>
                        </a:rPr>
                        <a:t>y= (e?a:’bz)</a:t>
                      </a:r>
                      <a:endParaRPr kumimoji="0" lang="en-US" sz="16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1600" b="0" i="0" u="none" strike="noStrike" cap="none" normalizeH="0" baseline="0" dirty="0">
                          <a:ln>
                            <a:noFill/>
                          </a:ln>
                          <a:solidFill>
                            <a:srgbClr val="000000"/>
                          </a:solidFill>
                          <a:effectLst/>
                          <a:latin typeface="Arial" pitchFamily="34" charset="0"/>
                          <a:cs typeface="Arial" pitchFamily="34" charset="0"/>
                        </a:rPr>
                        <a:t>bufif1 (</a:t>
                      </a:r>
                      <a:r>
                        <a:rPr kumimoji="0" lang="en-US" sz="1600" b="0" i="0" u="none" strike="noStrike" cap="none" normalizeH="0" baseline="0" dirty="0" err="1">
                          <a:ln>
                            <a:noFill/>
                          </a:ln>
                          <a:solidFill>
                            <a:srgbClr val="000000"/>
                          </a:solidFill>
                          <a:effectLst/>
                          <a:latin typeface="Arial" pitchFamily="34" charset="0"/>
                          <a:cs typeface="Arial" pitchFamily="34" charset="0"/>
                        </a:rPr>
                        <a:t>y,a,e</a:t>
                      </a:r>
                      <a:r>
                        <a:rPr kumimoji="0" lang="en-US" sz="1600" b="0" i="0" u="none" strike="noStrike" cap="none" normalizeH="0" baseline="0" dirty="0">
                          <a:ln>
                            <a:noFill/>
                          </a:ln>
                          <a:solidFill>
                            <a:srgbClr val="000000"/>
                          </a:solidFill>
                          <a:effectLst/>
                          <a:latin typeface="Arial" pitchFamily="34" charset="0"/>
                          <a:cs typeface="Arial" pitchFamily="34" charset="0"/>
                        </a:rPr>
                        <a:t>)</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1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Content Placeholder 76">
            <a:extLst>
              <a:ext uri="{FF2B5EF4-FFF2-40B4-BE49-F238E27FC236}">
                <a16:creationId xmlns:a16="http://schemas.microsoft.com/office/drawing/2014/main" id="{330DCF15-6565-9CC2-B2C1-8F924A6FF3EA}"/>
              </a:ext>
            </a:extLst>
          </p:cNvPr>
          <p:cNvSpPr>
            <a:spLocks noGrp="1" noChangeArrowheads="1"/>
          </p:cNvSpPr>
          <p:nvPr>
            <p:ph type="body" sz="quarter" idx="10"/>
          </p:nvPr>
        </p:nvSpPr>
        <p:spPr/>
        <p:txBody>
          <a:bodyPr/>
          <a:lstStyle/>
          <a:p>
            <a:pPr marL="0" indent="0">
              <a:buNone/>
            </a:pPr>
            <a:r>
              <a:rPr lang="en-US" altLang="en-US" dirty="0"/>
              <a:t>               </a:t>
            </a:r>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r>
              <a:rPr lang="en-US" altLang="en-US" dirty="0"/>
              <a:t>            </a:t>
            </a:r>
          </a:p>
          <a:p>
            <a:pPr marL="0" indent="0">
              <a:buNone/>
            </a:pPr>
            <a:r>
              <a:rPr lang="en-US" altLang="en-US" dirty="0"/>
              <a:t>                   AND                                 	NAND</a:t>
            </a:r>
            <a:endParaRPr lang="ru-RU" altLang="en-US" dirty="0"/>
          </a:p>
          <a:p>
            <a:endParaRPr lang="ru-RU" altLang="en-US" dirty="0"/>
          </a:p>
          <a:p>
            <a:endParaRPr lang="ru-RU" altLang="en-US" dirty="0"/>
          </a:p>
        </p:txBody>
      </p:sp>
      <p:grpSp>
        <p:nvGrpSpPr>
          <p:cNvPr id="43010" name="Group 73">
            <a:extLst>
              <a:ext uri="{FF2B5EF4-FFF2-40B4-BE49-F238E27FC236}">
                <a16:creationId xmlns:a16="http://schemas.microsoft.com/office/drawing/2014/main" id="{57E9816F-529F-B7C0-FEB6-4A48F02B2526}"/>
              </a:ext>
            </a:extLst>
          </p:cNvPr>
          <p:cNvGrpSpPr>
            <a:grpSpLocks/>
          </p:cNvGrpSpPr>
          <p:nvPr/>
        </p:nvGrpSpPr>
        <p:grpSpPr bwMode="auto">
          <a:xfrm>
            <a:off x="2763838" y="1827214"/>
            <a:ext cx="6761162" cy="2668587"/>
            <a:chOff x="1239838" y="1827213"/>
            <a:chExt cx="6688137" cy="2624137"/>
          </a:xfrm>
        </p:grpSpPr>
        <p:sp>
          <p:nvSpPr>
            <p:cNvPr id="43013" name="Rectangle 6">
              <a:extLst>
                <a:ext uri="{FF2B5EF4-FFF2-40B4-BE49-F238E27FC236}">
                  <a16:creationId xmlns:a16="http://schemas.microsoft.com/office/drawing/2014/main" id="{78183B69-B007-E9A9-42E6-BFA1B57F211E}"/>
                </a:ext>
              </a:extLst>
            </p:cNvPr>
            <p:cNvSpPr>
              <a:spLocks noChangeArrowheads="1"/>
            </p:cNvSpPr>
            <p:nvPr/>
          </p:nvSpPr>
          <p:spPr bwMode="auto">
            <a:xfrm>
              <a:off x="1708150" y="2290763"/>
              <a:ext cx="2159000" cy="21590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solidFill>
                  <a:schemeClr val="bg2"/>
                </a:solidFill>
              </a:endParaRPr>
            </a:p>
          </p:txBody>
        </p:sp>
        <p:sp>
          <p:nvSpPr>
            <p:cNvPr id="43014" name="Line 7">
              <a:extLst>
                <a:ext uri="{FF2B5EF4-FFF2-40B4-BE49-F238E27FC236}">
                  <a16:creationId xmlns:a16="http://schemas.microsoft.com/office/drawing/2014/main" id="{F8AF01EF-14AA-9A96-8692-002608A4FD3A}"/>
                </a:ext>
              </a:extLst>
            </p:cNvPr>
            <p:cNvSpPr>
              <a:spLocks noChangeShapeType="1"/>
            </p:cNvSpPr>
            <p:nvPr/>
          </p:nvSpPr>
          <p:spPr bwMode="auto">
            <a:xfrm>
              <a:off x="2787650" y="2290763"/>
              <a:ext cx="0" cy="215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5" name="Line 8">
              <a:extLst>
                <a:ext uri="{FF2B5EF4-FFF2-40B4-BE49-F238E27FC236}">
                  <a16:creationId xmlns:a16="http://schemas.microsoft.com/office/drawing/2014/main" id="{43707628-5D8A-0153-3650-7998F6F9943D}"/>
                </a:ext>
              </a:extLst>
            </p:cNvPr>
            <p:cNvSpPr>
              <a:spLocks noChangeShapeType="1"/>
            </p:cNvSpPr>
            <p:nvPr/>
          </p:nvSpPr>
          <p:spPr bwMode="auto">
            <a:xfrm>
              <a:off x="2236788" y="2290763"/>
              <a:ext cx="0" cy="215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6" name="Line 9">
              <a:extLst>
                <a:ext uri="{FF2B5EF4-FFF2-40B4-BE49-F238E27FC236}">
                  <a16:creationId xmlns:a16="http://schemas.microsoft.com/office/drawing/2014/main" id="{C79F4DBD-D3CC-3AA3-4BA5-7432A8C3B6F6}"/>
                </a:ext>
              </a:extLst>
            </p:cNvPr>
            <p:cNvSpPr>
              <a:spLocks noChangeShapeType="1"/>
            </p:cNvSpPr>
            <p:nvPr/>
          </p:nvSpPr>
          <p:spPr bwMode="auto">
            <a:xfrm>
              <a:off x="3340100" y="2276475"/>
              <a:ext cx="0" cy="215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7" name="Line 10">
              <a:extLst>
                <a:ext uri="{FF2B5EF4-FFF2-40B4-BE49-F238E27FC236}">
                  <a16:creationId xmlns:a16="http://schemas.microsoft.com/office/drawing/2014/main" id="{7BAD9E74-68FF-EB3C-68B1-85D4A47B3E44}"/>
                </a:ext>
              </a:extLst>
            </p:cNvPr>
            <p:cNvSpPr>
              <a:spLocks noChangeShapeType="1"/>
            </p:cNvSpPr>
            <p:nvPr/>
          </p:nvSpPr>
          <p:spPr bwMode="auto">
            <a:xfrm>
              <a:off x="1708150" y="3341688"/>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8" name="Line 11">
              <a:extLst>
                <a:ext uri="{FF2B5EF4-FFF2-40B4-BE49-F238E27FC236}">
                  <a16:creationId xmlns:a16="http://schemas.microsoft.com/office/drawing/2014/main" id="{5463A33C-7CD2-A151-57BA-1F2173BD39DF}"/>
                </a:ext>
              </a:extLst>
            </p:cNvPr>
            <p:cNvSpPr>
              <a:spLocks noChangeShapeType="1"/>
            </p:cNvSpPr>
            <p:nvPr/>
          </p:nvSpPr>
          <p:spPr bwMode="auto">
            <a:xfrm>
              <a:off x="1708150" y="2803525"/>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9" name="Line 12">
              <a:extLst>
                <a:ext uri="{FF2B5EF4-FFF2-40B4-BE49-F238E27FC236}">
                  <a16:creationId xmlns:a16="http://schemas.microsoft.com/office/drawing/2014/main" id="{13CC9815-C58C-3037-1845-D56016B72E31}"/>
                </a:ext>
              </a:extLst>
            </p:cNvPr>
            <p:cNvSpPr>
              <a:spLocks noChangeShapeType="1"/>
            </p:cNvSpPr>
            <p:nvPr/>
          </p:nvSpPr>
          <p:spPr bwMode="auto">
            <a:xfrm>
              <a:off x="1708150" y="3875088"/>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0" name="Line 13">
              <a:extLst>
                <a:ext uri="{FF2B5EF4-FFF2-40B4-BE49-F238E27FC236}">
                  <a16:creationId xmlns:a16="http://schemas.microsoft.com/office/drawing/2014/main" id="{6A337E67-ACCF-6B7E-4E03-6EA1AC38B6D8}"/>
                </a:ext>
              </a:extLst>
            </p:cNvPr>
            <p:cNvSpPr>
              <a:spLocks noChangeShapeType="1"/>
            </p:cNvSpPr>
            <p:nvPr/>
          </p:nvSpPr>
          <p:spPr bwMode="auto">
            <a:xfrm flipH="1" flipV="1">
              <a:off x="1419225" y="2001838"/>
              <a:ext cx="2889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1" name="Text Box 14">
              <a:extLst>
                <a:ext uri="{FF2B5EF4-FFF2-40B4-BE49-F238E27FC236}">
                  <a16:creationId xmlns:a16="http://schemas.microsoft.com/office/drawing/2014/main" id="{1D44195F-8D0B-2D64-1612-E23C2A61EC31}"/>
                </a:ext>
              </a:extLst>
            </p:cNvPr>
            <p:cNvSpPr txBox="1">
              <a:spLocks noChangeArrowheads="1"/>
            </p:cNvSpPr>
            <p:nvPr/>
          </p:nvSpPr>
          <p:spPr bwMode="auto">
            <a:xfrm>
              <a:off x="1239838" y="2146300"/>
              <a:ext cx="598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in1</a:t>
              </a:r>
              <a:endParaRPr lang="ru-RU" altLang="en-US" sz="1800"/>
            </a:p>
          </p:txBody>
        </p:sp>
        <p:sp>
          <p:nvSpPr>
            <p:cNvPr id="43022" name="Text Box 15">
              <a:extLst>
                <a:ext uri="{FF2B5EF4-FFF2-40B4-BE49-F238E27FC236}">
                  <a16:creationId xmlns:a16="http://schemas.microsoft.com/office/drawing/2014/main" id="{2C63D5E2-75AF-C034-6DC8-39F0C2B1DC82}"/>
                </a:ext>
              </a:extLst>
            </p:cNvPr>
            <p:cNvSpPr txBox="1">
              <a:spLocks noChangeArrowheads="1"/>
            </p:cNvSpPr>
            <p:nvPr/>
          </p:nvSpPr>
          <p:spPr bwMode="auto">
            <a:xfrm>
              <a:off x="1458913" y="1827213"/>
              <a:ext cx="755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in2</a:t>
              </a:r>
              <a:endParaRPr lang="ru-RU" altLang="en-US" sz="1800"/>
            </a:p>
          </p:txBody>
        </p:sp>
        <p:sp>
          <p:nvSpPr>
            <p:cNvPr id="43023" name="Text Box 16">
              <a:extLst>
                <a:ext uri="{FF2B5EF4-FFF2-40B4-BE49-F238E27FC236}">
                  <a16:creationId xmlns:a16="http://schemas.microsoft.com/office/drawing/2014/main" id="{B0660CD7-5695-EF65-243E-AFF625354D82}"/>
                </a:ext>
              </a:extLst>
            </p:cNvPr>
            <p:cNvSpPr txBox="1">
              <a:spLocks noChangeArrowheads="1"/>
            </p:cNvSpPr>
            <p:nvPr/>
          </p:nvSpPr>
          <p:spPr bwMode="auto">
            <a:xfrm>
              <a:off x="1792288" y="192881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24" name="Text Box 17">
              <a:extLst>
                <a:ext uri="{FF2B5EF4-FFF2-40B4-BE49-F238E27FC236}">
                  <a16:creationId xmlns:a16="http://schemas.microsoft.com/office/drawing/2014/main" id="{E4546B07-D07A-5618-E8D5-2DF438754F65}"/>
                </a:ext>
              </a:extLst>
            </p:cNvPr>
            <p:cNvSpPr txBox="1">
              <a:spLocks noChangeArrowheads="1"/>
            </p:cNvSpPr>
            <p:nvPr/>
          </p:nvSpPr>
          <p:spPr bwMode="auto">
            <a:xfrm>
              <a:off x="2282825" y="1930400"/>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25" name="Text Box 18">
              <a:extLst>
                <a:ext uri="{FF2B5EF4-FFF2-40B4-BE49-F238E27FC236}">
                  <a16:creationId xmlns:a16="http://schemas.microsoft.com/office/drawing/2014/main" id="{0E680852-1333-FC15-A483-CB59A292D900}"/>
                </a:ext>
              </a:extLst>
            </p:cNvPr>
            <p:cNvSpPr txBox="1">
              <a:spLocks noChangeArrowheads="1"/>
            </p:cNvSpPr>
            <p:nvPr/>
          </p:nvSpPr>
          <p:spPr bwMode="auto">
            <a:xfrm>
              <a:off x="2895600" y="190182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26" name="Text Box 19">
              <a:extLst>
                <a:ext uri="{FF2B5EF4-FFF2-40B4-BE49-F238E27FC236}">
                  <a16:creationId xmlns:a16="http://schemas.microsoft.com/office/drawing/2014/main" id="{8A2D3995-4E3D-A53D-8F0C-108641692E31}"/>
                </a:ext>
              </a:extLst>
            </p:cNvPr>
            <p:cNvSpPr txBox="1">
              <a:spLocks noChangeArrowheads="1"/>
            </p:cNvSpPr>
            <p:nvPr/>
          </p:nvSpPr>
          <p:spPr bwMode="auto">
            <a:xfrm>
              <a:off x="3398838" y="19002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3027" name="Text Box 20">
              <a:extLst>
                <a:ext uri="{FF2B5EF4-FFF2-40B4-BE49-F238E27FC236}">
                  <a16:creationId xmlns:a16="http://schemas.microsoft.com/office/drawing/2014/main" id="{94386E00-4CDF-09FC-6BFA-3961A96A3B8C}"/>
                </a:ext>
              </a:extLst>
            </p:cNvPr>
            <p:cNvSpPr txBox="1">
              <a:spLocks noChangeArrowheads="1"/>
            </p:cNvSpPr>
            <p:nvPr/>
          </p:nvSpPr>
          <p:spPr bwMode="auto">
            <a:xfrm>
              <a:off x="1298575" y="24082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28" name="Text Box 21">
              <a:extLst>
                <a:ext uri="{FF2B5EF4-FFF2-40B4-BE49-F238E27FC236}">
                  <a16:creationId xmlns:a16="http://schemas.microsoft.com/office/drawing/2014/main" id="{297C5AAA-7B31-E5CE-80D0-2E5F15AF73F2}"/>
                </a:ext>
              </a:extLst>
            </p:cNvPr>
            <p:cNvSpPr txBox="1">
              <a:spLocks noChangeArrowheads="1"/>
            </p:cNvSpPr>
            <p:nvPr/>
          </p:nvSpPr>
          <p:spPr bwMode="auto">
            <a:xfrm>
              <a:off x="1309688" y="28733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29" name="Text Box 22">
              <a:extLst>
                <a:ext uri="{FF2B5EF4-FFF2-40B4-BE49-F238E27FC236}">
                  <a16:creationId xmlns:a16="http://schemas.microsoft.com/office/drawing/2014/main" id="{F247C45C-C10D-A8F1-EB0A-0C1295834BC4}"/>
                </a:ext>
              </a:extLst>
            </p:cNvPr>
            <p:cNvSpPr txBox="1">
              <a:spLocks noChangeArrowheads="1"/>
            </p:cNvSpPr>
            <p:nvPr/>
          </p:nvSpPr>
          <p:spPr bwMode="auto">
            <a:xfrm>
              <a:off x="1295400" y="33813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30" name="Text Box 23">
              <a:extLst>
                <a:ext uri="{FF2B5EF4-FFF2-40B4-BE49-F238E27FC236}">
                  <a16:creationId xmlns:a16="http://schemas.microsoft.com/office/drawing/2014/main" id="{91771C29-E95E-DE4A-7B01-4944846D0AB7}"/>
                </a:ext>
              </a:extLst>
            </p:cNvPr>
            <p:cNvSpPr txBox="1">
              <a:spLocks noChangeArrowheads="1"/>
            </p:cNvSpPr>
            <p:nvPr/>
          </p:nvSpPr>
          <p:spPr bwMode="auto">
            <a:xfrm>
              <a:off x="1274763" y="394652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3031" name="Text Box 24">
              <a:extLst>
                <a:ext uri="{FF2B5EF4-FFF2-40B4-BE49-F238E27FC236}">
                  <a16:creationId xmlns:a16="http://schemas.microsoft.com/office/drawing/2014/main" id="{3F039A87-9D4E-C160-752C-7E3EBF3D72D8}"/>
                </a:ext>
              </a:extLst>
            </p:cNvPr>
            <p:cNvSpPr txBox="1">
              <a:spLocks noChangeArrowheads="1"/>
            </p:cNvSpPr>
            <p:nvPr/>
          </p:nvSpPr>
          <p:spPr bwMode="auto">
            <a:xfrm>
              <a:off x="1778000" y="23653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dirty="0"/>
                <a:t>0</a:t>
              </a:r>
              <a:endParaRPr lang="ru-RU" altLang="en-US" dirty="0"/>
            </a:p>
          </p:txBody>
        </p:sp>
        <p:sp>
          <p:nvSpPr>
            <p:cNvPr id="43032" name="Text Box 25">
              <a:extLst>
                <a:ext uri="{FF2B5EF4-FFF2-40B4-BE49-F238E27FC236}">
                  <a16:creationId xmlns:a16="http://schemas.microsoft.com/office/drawing/2014/main" id="{04ECD70C-F77A-7848-75C7-0F5976E9474A}"/>
                </a:ext>
              </a:extLst>
            </p:cNvPr>
            <p:cNvSpPr txBox="1">
              <a:spLocks noChangeArrowheads="1"/>
            </p:cNvSpPr>
            <p:nvPr/>
          </p:nvSpPr>
          <p:spPr bwMode="auto">
            <a:xfrm>
              <a:off x="2357438" y="23653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33" name="Text Box 26">
              <a:extLst>
                <a:ext uri="{FF2B5EF4-FFF2-40B4-BE49-F238E27FC236}">
                  <a16:creationId xmlns:a16="http://schemas.microsoft.com/office/drawing/2014/main" id="{9CD21473-3FAB-7666-5071-D816B07C99D1}"/>
                </a:ext>
              </a:extLst>
            </p:cNvPr>
            <p:cNvSpPr txBox="1">
              <a:spLocks noChangeArrowheads="1"/>
            </p:cNvSpPr>
            <p:nvPr/>
          </p:nvSpPr>
          <p:spPr bwMode="auto">
            <a:xfrm>
              <a:off x="2895600" y="23653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34" name="Text Box 27">
              <a:extLst>
                <a:ext uri="{FF2B5EF4-FFF2-40B4-BE49-F238E27FC236}">
                  <a16:creationId xmlns:a16="http://schemas.microsoft.com/office/drawing/2014/main" id="{49AF64BA-63F1-123C-C467-86F2B089295F}"/>
                </a:ext>
              </a:extLst>
            </p:cNvPr>
            <p:cNvSpPr txBox="1">
              <a:spLocks noChangeArrowheads="1"/>
            </p:cNvSpPr>
            <p:nvPr/>
          </p:nvSpPr>
          <p:spPr bwMode="auto">
            <a:xfrm>
              <a:off x="3398838" y="23653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35" name="Text Box 28">
              <a:extLst>
                <a:ext uri="{FF2B5EF4-FFF2-40B4-BE49-F238E27FC236}">
                  <a16:creationId xmlns:a16="http://schemas.microsoft.com/office/drawing/2014/main" id="{72E19494-C7E4-64CE-72EA-849911DF47CB}"/>
                </a:ext>
              </a:extLst>
            </p:cNvPr>
            <p:cNvSpPr txBox="1">
              <a:spLocks noChangeArrowheads="1"/>
            </p:cNvSpPr>
            <p:nvPr/>
          </p:nvSpPr>
          <p:spPr bwMode="auto">
            <a:xfrm>
              <a:off x="1763713" y="28876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36" name="Text Box 29">
              <a:extLst>
                <a:ext uri="{FF2B5EF4-FFF2-40B4-BE49-F238E27FC236}">
                  <a16:creationId xmlns:a16="http://schemas.microsoft.com/office/drawing/2014/main" id="{4E1B503D-87A5-91B0-0081-D2F1C00110EB}"/>
                </a:ext>
              </a:extLst>
            </p:cNvPr>
            <p:cNvSpPr txBox="1">
              <a:spLocks noChangeArrowheads="1"/>
            </p:cNvSpPr>
            <p:nvPr/>
          </p:nvSpPr>
          <p:spPr bwMode="auto">
            <a:xfrm>
              <a:off x="2325688" y="28733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37" name="Text Box 30">
              <a:extLst>
                <a:ext uri="{FF2B5EF4-FFF2-40B4-BE49-F238E27FC236}">
                  <a16:creationId xmlns:a16="http://schemas.microsoft.com/office/drawing/2014/main" id="{9E2E1368-50B1-CBAF-BDBC-BD5C93DA1906}"/>
                </a:ext>
              </a:extLst>
            </p:cNvPr>
            <p:cNvSpPr txBox="1">
              <a:spLocks noChangeArrowheads="1"/>
            </p:cNvSpPr>
            <p:nvPr/>
          </p:nvSpPr>
          <p:spPr bwMode="auto">
            <a:xfrm>
              <a:off x="2895600" y="286702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38" name="Text Box 31">
              <a:extLst>
                <a:ext uri="{FF2B5EF4-FFF2-40B4-BE49-F238E27FC236}">
                  <a16:creationId xmlns:a16="http://schemas.microsoft.com/office/drawing/2014/main" id="{C51E3148-E270-1799-D2F8-F95AB70BCEC8}"/>
                </a:ext>
              </a:extLst>
            </p:cNvPr>
            <p:cNvSpPr txBox="1">
              <a:spLocks noChangeArrowheads="1"/>
            </p:cNvSpPr>
            <p:nvPr/>
          </p:nvSpPr>
          <p:spPr bwMode="auto">
            <a:xfrm>
              <a:off x="3359150" y="286702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39" name="Text Box 32">
              <a:extLst>
                <a:ext uri="{FF2B5EF4-FFF2-40B4-BE49-F238E27FC236}">
                  <a16:creationId xmlns:a16="http://schemas.microsoft.com/office/drawing/2014/main" id="{66BC66F2-1CAF-DD62-C846-A26B71AACE20}"/>
                </a:ext>
              </a:extLst>
            </p:cNvPr>
            <p:cNvSpPr txBox="1">
              <a:spLocks noChangeArrowheads="1"/>
            </p:cNvSpPr>
            <p:nvPr/>
          </p:nvSpPr>
          <p:spPr bwMode="auto">
            <a:xfrm>
              <a:off x="1762125" y="3390900"/>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40" name="Text Box 33">
              <a:extLst>
                <a:ext uri="{FF2B5EF4-FFF2-40B4-BE49-F238E27FC236}">
                  <a16:creationId xmlns:a16="http://schemas.microsoft.com/office/drawing/2014/main" id="{8AB3E2DD-7A13-4D62-8114-A1D92BB6A6C5}"/>
                </a:ext>
              </a:extLst>
            </p:cNvPr>
            <p:cNvSpPr txBox="1">
              <a:spLocks noChangeArrowheads="1"/>
            </p:cNvSpPr>
            <p:nvPr/>
          </p:nvSpPr>
          <p:spPr bwMode="auto">
            <a:xfrm>
              <a:off x="2355850" y="340518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41" name="Text Box 34">
              <a:extLst>
                <a:ext uri="{FF2B5EF4-FFF2-40B4-BE49-F238E27FC236}">
                  <a16:creationId xmlns:a16="http://schemas.microsoft.com/office/drawing/2014/main" id="{A90A34F6-CB8B-7B0E-081C-5DCBCC5C69B3}"/>
                </a:ext>
              </a:extLst>
            </p:cNvPr>
            <p:cNvSpPr txBox="1">
              <a:spLocks noChangeArrowheads="1"/>
            </p:cNvSpPr>
            <p:nvPr/>
          </p:nvSpPr>
          <p:spPr bwMode="auto">
            <a:xfrm>
              <a:off x="2892425" y="340518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42" name="Text Box 35">
              <a:extLst>
                <a:ext uri="{FF2B5EF4-FFF2-40B4-BE49-F238E27FC236}">
                  <a16:creationId xmlns:a16="http://schemas.microsoft.com/office/drawing/2014/main" id="{82729847-8833-377F-9DDF-DEA9CE2560AA}"/>
                </a:ext>
              </a:extLst>
            </p:cNvPr>
            <p:cNvSpPr txBox="1">
              <a:spLocks noChangeArrowheads="1"/>
            </p:cNvSpPr>
            <p:nvPr/>
          </p:nvSpPr>
          <p:spPr bwMode="auto">
            <a:xfrm>
              <a:off x="3398838" y="340518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43" name="Text Box 36">
              <a:extLst>
                <a:ext uri="{FF2B5EF4-FFF2-40B4-BE49-F238E27FC236}">
                  <a16:creationId xmlns:a16="http://schemas.microsoft.com/office/drawing/2014/main" id="{8DA606C2-07C0-3297-23FD-D26D13BC7361}"/>
                </a:ext>
              </a:extLst>
            </p:cNvPr>
            <p:cNvSpPr txBox="1">
              <a:spLocks noChangeArrowheads="1"/>
            </p:cNvSpPr>
            <p:nvPr/>
          </p:nvSpPr>
          <p:spPr bwMode="auto">
            <a:xfrm>
              <a:off x="2341563" y="39290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44" name="Text Box 37">
              <a:extLst>
                <a:ext uri="{FF2B5EF4-FFF2-40B4-BE49-F238E27FC236}">
                  <a16:creationId xmlns:a16="http://schemas.microsoft.com/office/drawing/2014/main" id="{8D375B85-C86F-572F-7575-37A09FDBE2B3}"/>
                </a:ext>
              </a:extLst>
            </p:cNvPr>
            <p:cNvSpPr txBox="1">
              <a:spLocks noChangeArrowheads="1"/>
            </p:cNvSpPr>
            <p:nvPr/>
          </p:nvSpPr>
          <p:spPr bwMode="auto">
            <a:xfrm>
              <a:off x="2862263" y="39290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45" name="Text Box 38">
              <a:extLst>
                <a:ext uri="{FF2B5EF4-FFF2-40B4-BE49-F238E27FC236}">
                  <a16:creationId xmlns:a16="http://schemas.microsoft.com/office/drawing/2014/main" id="{12B171A8-DC65-6FEF-9EA8-A7056C5AFA34}"/>
                </a:ext>
              </a:extLst>
            </p:cNvPr>
            <p:cNvSpPr txBox="1">
              <a:spLocks noChangeArrowheads="1"/>
            </p:cNvSpPr>
            <p:nvPr/>
          </p:nvSpPr>
          <p:spPr bwMode="auto">
            <a:xfrm>
              <a:off x="3441700" y="39290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dirty="0"/>
                <a:t>x</a:t>
              </a:r>
              <a:endParaRPr lang="ru-RU" altLang="en-US" dirty="0"/>
            </a:p>
          </p:txBody>
        </p:sp>
        <p:sp>
          <p:nvSpPr>
            <p:cNvPr id="43046" name="Text Box 39">
              <a:extLst>
                <a:ext uri="{FF2B5EF4-FFF2-40B4-BE49-F238E27FC236}">
                  <a16:creationId xmlns:a16="http://schemas.microsoft.com/office/drawing/2014/main" id="{6B7A527E-BC65-8EFE-0A8B-75DC9E3B765A}"/>
                </a:ext>
              </a:extLst>
            </p:cNvPr>
            <p:cNvSpPr txBox="1">
              <a:spLocks noChangeArrowheads="1"/>
            </p:cNvSpPr>
            <p:nvPr/>
          </p:nvSpPr>
          <p:spPr bwMode="auto">
            <a:xfrm>
              <a:off x="1792288" y="397668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47" name="Rectangle 42">
              <a:extLst>
                <a:ext uri="{FF2B5EF4-FFF2-40B4-BE49-F238E27FC236}">
                  <a16:creationId xmlns:a16="http://schemas.microsoft.com/office/drawing/2014/main" id="{CE2C5356-400F-E627-AF01-A716CEE6C6D2}"/>
                </a:ext>
              </a:extLst>
            </p:cNvPr>
            <p:cNvSpPr>
              <a:spLocks noChangeArrowheads="1"/>
            </p:cNvSpPr>
            <p:nvPr/>
          </p:nvSpPr>
          <p:spPr bwMode="auto">
            <a:xfrm>
              <a:off x="5726113" y="2292350"/>
              <a:ext cx="2159000" cy="215900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3048" name="Line 43">
              <a:extLst>
                <a:ext uri="{FF2B5EF4-FFF2-40B4-BE49-F238E27FC236}">
                  <a16:creationId xmlns:a16="http://schemas.microsoft.com/office/drawing/2014/main" id="{F80B848B-787A-9867-260B-F1AAFDFBCDD1}"/>
                </a:ext>
              </a:extLst>
            </p:cNvPr>
            <p:cNvSpPr>
              <a:spLocks noChangeShapeType="1"/>
            </p:cNvSpPr>
            <p:nvPr/>
          </p:nvSpPr>
          <p:spPr bwMode="auto">
            <a:xfrm>
              <a:off x="6805613" y="2292350"/>
              <a:ext cx="0" cy="215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9" name="Line 44">
              <a:extLst>
                <a:ext uri="{FF2B5EF4-FFF2-40B4-BE49-F238E27FC236}">
                  <a16:creationId xmlns:a16="http://schemas.microsoft.com/office/drawing/2014/main" id="{40123AE4-D31C-1C7D-8355-742BAFA9CF8B}"/>
                </a:ext>
              </a:extLst>
            </p:cNvPr>
            <p:cNvSpPr>
              <a:spLocks noChangeShapeType="1"/>
            </p:cNvSpPr>
            <p:nvPr/>
          </p:nvSpPr>
          <p:spPr bwMode="auto">
            <a:xfrm>
              <a:off x="6254750" y="2292350"/>
              <a:ext cx="0" cy="215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0" name="Line 45">
              <a:extLst>
                <a:ext uri="{FF2B5EF4-FFF2-40B4-BE49-F238E27FC236}">
                  <a16:creationId xmlns:a16="http://schemas.microsoft.com/office/drawing/2014/main" id="{A193B4B2-6297-10F3-0DC8-6AB922F7905A}"/>
                </a:ext>
              </a:extLst>
            </p:cNvPr>
            <p:cNvSpPr>
              <a:spLocks noChangeShapeType="1"/>
            </p:cNvSpPr>
            <p:nvPr/>
          </p:nvSpPr>
          <p:spPr bwMode="auto">
            <a:xfrm>
              <a:off x="7358063" y="2278063"/>
              <a:ext cx="0" cy="215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1" name="Line 46">
              <a:extLst>
                <a:ext uri="{FF2B5EF4-FFF2-40B4-BE49-F238E27FC236}">
                  <a16:creationId xmlns:a16="http://schemas.microsoft.com/office/drawing/2014/main" id="{0C2F452F-D76C-332E-D371-98CEFB846A11}"/>
                </a:ext>
              </a:extLst>
            </p:cNvPr>
            <p:cNvSpPr>
              <a:spLocks noChangeShapeType="1"/>
            </p:cNvSpPr>
            <p:nvPr/>
          </p:nvSpPr>
          <p:spPr bwMode="auto">
            <a:xfrm>
              <a:off x="5726113" y="3343275"/>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2" name="Line 47">
              <a:extLst>
                <a:ext uri="{FF2B5EF4-FFF2-40B4-BE49-F238E27FC236}">
                  <a16:creationId xmlns:a16="http://schemas.microsoft.com/office/drawing/2014/main" id="{E1687184-BE7F-7AFF-6045-AC2C108D8AA0}"/>
                </a:ext>
              </a:extLst>
            </p:cNvPr>
            <p:cNvSpPr>
              <a:spLocks noChangeShapeType="1"/>
            </p:cNvSpPr>
            <p:nvPr/>
          </p:nvSpPr>
          <p:spPr bwMode="auto">
            <a:xfrm>
              <a:off x="5726113" y="2805113"/>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3" name="Line 48">
              <a:extLst>
                <a:ext uri="{FF2B5EF4-FFF2-40B4-BE49-F238E27FC236}">
                  <a16:creationId xmlns:a16="http://schemas.microsoft.com/office/drawing/2014/main" id="{5D4006BD-A453-61A4-46B4-C025E3ACBBEF}"/>
                </a:ext>
              </a:extLst>
            </p:cNvPr>
            <p:cNvSpPr>
              <a:spLocks noChangeShapeType="1"/>
            </p:cNvSpPr>
            <p:nvPr/>
          </p:nvSpPr>
          <p:spPr bwMode="auto">
            <a:xfrm>
              <a:off x="5726113" y="3876675"/>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4" name="Line 49">
              <a:extLst>
                <a:ext uri="{FF2B5EF4-FFF2-40B4-BE49-F238E27FC236}">
                  <a16:creationId xmlns:a16="http://schemas.microsoft.com/office/drawing/2014/main" id="{0DA9878F-3EF9-1D39-88AF-6F1E2C594EED}"/>
                </a:ext>
              </a:extLst>
            </p:cNvPr>
            <p:cNvSpPr>
              <a:spLocks noChangeShapeType="1"/>
            </p:cNvSpPr>
            <p:nvPr/>
          </p:nvSpPr>
          <p:spPr bwMode="auto">
            <a:xfrm flipH="1" flipV="1">
              <a:off x="5437188" y="2003425"/>
              <a:ext cx="2889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5" name="Text Box 50">
              <a:extLst>
                <a:ext uri="{FF2B5EF4-FFF2-40B4-BE49-F238E27FC236}">
                  <a16:creationId xmlns:a16="http://schemas.microsoft.com/office/drawing/2014/main" id="{39991B9B-DC49-D9C3-1D54-CE79C9040BC2}"/>
                </a:ext>
              </a:extLst>
            </p:cNvPr>
            <p:cNvSpPr txBox="1">
              <a:spLocks noChangeArrowheads="1"/>
            </p:cNvSpPr>
            <p:nvPr/>
          </p:nvSpPr>
          <p:spPr bwMode="auto">
            <a:xfrm>
              <a:off x="5257800" y="2147888"/>
              <a:ext cx="590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in1</a:t>
              </a:r>
              <a:endParaRPr lang="ru-RU" altLang="en-US" sz="1800"/>
            </a:p>
          </p:txBody>
        </p:sp>
        <p:sp>
          <p:nvSpPr>
            <p:cNvPr id="43056" name="Text Box 51">
              <a:extLst>
                <a:ext uri="{FF2B5EF4-FFF2-40B4-BE49-F238E27FC236}">
                  <a16:creationId xmlns:a16="http://schemas.microsoft.com/office/drawing/2014/main" id="{7D6B139D-B592-51B0-6AF6-70605D1275B9}"/>
                </a:ext>
              </a:extLst>
            </p:cNvPr>
            <p:cNvSpPr txBox="1">
              <a:spLocks noChangeArrowheads="1"/>
            </p:cNvSpPr>
            <p:nvPr/>
          </p:nvSpPr>
          <p:spPr bwMode="auto">
            <a:xfrm>
              <a:off x="5491163" y="1828800"/>
              <a:ext cx="8175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in2</a:t>
              </a:r>
              <a:endParaRPr lang="ru-RU" altLang="en-US" sz="1800"/>
            </a:p>
          </p:txBody>
        </p:sp>
        <p:sp>
          <p:nvSpPr>
            <p:cNvPr id="43057" name="Text Box 52">
              <a:extLst>
                <a:ext uri="{FF2B5EF4-FFF2-40B4-BE49-F238E27FC236}">
                  <a16:creationId xmlns:a16="http://schemas.microsoft.com/office/drawing/2014/main" id="{7D14DA03-578A-5615-E2F4-70BF91F79EEA}"/>
                </a:ext>
              </a:extLst>
            </p:cNvPr>
            <p:cNvSpPr txBox="1">
              <a:spLocks noChangeArrowheads="1"/>
            </p:cNvSpPr>
            <p:nvPr/>
          </p:nvSpPr>
          <p:spPr bwMode="auto">
            <a:xfrm>
              <a:off x="5810250" y="1930400"/>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58" name="Text Box 53">
              <a:extLst>
                <a:ext uri="{FF2B5EF4-FFF2-40B4-BE49-F238E27FC236}">
                  <a16:creationId xmlns:a16="http://schemas.microsoft.com/office/drawing/2014/main" id="{D71328E2-92A2-A345-8783-3B0BA6A56531}"/>
                </a:ext>
              </a:extLst>
            </p:cNvPr>
            <p:cNvSpPr txBox="1">
              <a:spLocks noChangeArrowheads="1"/>
            </p:cNvSpPr>
            <p:nvPr/>
          </p:nvSpPr>
          <p:spPr bwMode="auto">
            <a:xfrm>
              <a:off x="6300788" y="193198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59" name="Text Box 54">
              <a:extLst>
                <a:ext uri="{FF2B5EF4-FFF2-40B4-BE49-F238E27FC236}">
                  <a16:creationId xmlns:a16="http://schemas.microsoft.com/office/drawing/2014/main" id="{CB4650B8-92C3-F5B9-8070-29600CF30787}"/>
                </a:ext>
              </a:extLst>
            </p:cNvPr>
            <p:cNvSpPr txBox="1">
              <a:spLocks noChangeArrowheads="1"/>
            </p:cNvSpPr>
            <p:nvPr/>
          </p:nvSpPr>
          <p:spPr bwMode="auto">
            <a:xfrm>
              <a:off x="6913563" y="190341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60" name="Text Box 55">
              <a:extLst>
                <a:ext uri="{FF2B5EF4-FFF2-40B4-BE49-F238E27FC236}">
                  <a16:creationId xmlns:a16="http://schemas.microsoft.com/office/drawing/2014/main" id="{A4427C8E-C036-0653-9D2F-25DEFC892EBF}"/>
                </a:ext>
              </a:extLst>
            </p:cNvPr>
            <p:cNvSpPr txBox="1">
              <a:spLocks noChangeArrowheads="1"/>
            </p:cNvSpPr>
            <p:nvPr/>
          </p:nvSpPr>
          <p:spPr bwMode="auto">
            <a:xfrm>
              <a:off x="7416800" y="190182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3061" name="Text Box 56">
              <a:extLst>
                <a:ext uri="{FF2B5EF4-FFF2-40B4-BE49-F238E27FC236}">
                  <a16:creationId xmlns:a16="http://schemas.microsoft.com/office/drawing/2014/main" id="{6037FEBB-2AAE-BF70-866A-8CC7B16573B6}"/>
                </a:ext>
              </a:extLst>
            </p:cNvPr>
            <p:cNvSpPr txBox="1">
              <a:spLocks noChangeArrowheads="1"/>
            </p:cNvSpPr>
            <p:nvPr/>
          </p:nvSpPr>
          <p:spPr bwMode="auto">
            <a:xfrm>
              <a:off x="5316538" y="240982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62" name="Text Box 57">
              <a:extLst>
                <a:ext uri="{FF2B5EF4-FFF2-40B4-BE49-F238E27FC236}">
                  <a16:creationId xmlns:a16="http://schemas.microsoft.com/office/drawing/2014/main" id="{87EDF5A9-6ED8-6573-0FFA-175BC96FA371}"/>
                </a:ext>
              </a:extLst>
            </p:cNvPr>
            <p:cNvSpPr txBox="1">
              <a:spLocks noChangeArrowheads="1"/>
            </p:cNvSpPr>
            <p:nvPr/>
          </p:nvSpPr>
          <p:spPr bwMode="auto">
            <a:xfrm>
              <a:off x="5327650" y="28749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63" name="Text Box 58">
              <a:extLst>
                <a:ext uri="{FF2B5EF4-FFF2-40B4-BE49-F238E27FC236}">
                  <a16:creationId xmlns:a16="http://schemas.microsoft.com/office/drawing/2014/main" id="{FDE2440F-55AA-6B52-A1A3-57E9A7823A99}"/>
                </a:ext>
              </a:extLst>
            </p:cNvPr>
            <p:cNvSpPr txBox="1">
              <a:spLocks noChangeArrowheads="1"/>
            </p:cNvSpPr>
            <p:nvPr/>
          </p:nvSpPr>
          <p:spPr bwMode="auto">
            <a:xfrm>
              <a:off x="5313363" y="33829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64" name="Text Box 59">
              <a:extLst>
                <a:ext uri="{FF2B5EF4-FFF2-40B4-BE49-F238E27FC236}">
                  <a16:creationId xmlns:a16="http://schemas.microsoft.com/office/drawing/2014/main" id="{5564B260-8590-9794-14F0-F6F81596DA6A}"/>
                </a:ext>
              </a:extLst>
            </p:cNvPr>
            <p:cNvSpPr txBox="1">
              <a:spLocks noChangeArrowheads="1"/>
            </p:cNvSpPr>
            <p:nvPr/>
          </p:nvSpPr>
          <p:spPr bwMode="auto">
            <a:xfrm>
              <a:off x="5292725" y="394811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3065" name="Text Box 60">
              <a:extLst>
                <a:ext uri="{FF2B5EF4-FFF2-40B4-BE49-F238E27FC236}">
                  <a16:creationId xmlns:a16="http://schemas.microsoft.com/office/drawing/2014/main" id="{310E9464-F5B2-14C7-1D2C-17B2A116A8BC}"/>
                </a:ext>
              </a:extLst>
            </p:cNvPr>
            <p:cNvSpPr txBox="1">
              <a:spLocks noChangeArrowheads="1"/>
            </p:cNvSpPr>
            <p:nvPr/>
          </p:nvSpPr>
          <p:spPr bwMode="auto">
            <a:xfrm>
              <a:off x="5795963" y="23669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66" name="Text Box 61">
              <a:extLst>
                <a:ext uri="{FF2B5EF4-FFF2-40B4-BE49-F238E27FC236}">
                  <a16:creationId xmlns:a16="http://schemas.microsoft.com/office/drawing/2014/main" id="{BC15D3EE-7B76-89C7-7059-A5B52326119F}"/>
                </a:ext>
              </a:extLst>
            </p:cNvPr>
            <p:cNvSpPr txBox="1">
              <a:spLocks noChangeArrowheads="1"/>
            </p:cNvSpPr>
            <p:nvPr/>
          </p:nvSpPr>
          <p:spPr bwMode="auto">
            <a:xfrm>
              <a:off x="6375400" y="23669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67" name="Text Box 62">
              <a:extLst>
                <a:ext uri="{FF2B5EF4-FFF2-40B4-BE49-F238E27FC236}">
                  <a16:creationId xmlns:a16="http://schemas.microsoft.com/office/drawing/2014/main" id="{6F6A18D3-5F32-6323-18A3-7953961262C8}"/>
                </a:ext>
              </a:extLst>
            </p:cNvPr>
            <p:cNvSpPr txBox="1">
              <a:spLocks noChangeArrowheads="1"/>
            </p:cNvSpPr>
            <p:nvPr/>
          </p:nvSpPr>
          <p:spPr bwMode="auto">
            <a:xfrm>
              <a:off x="6913563" y="23669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68" name="Text Box 63">
              <a:extLst>
                <a:ext uri="{FF2B5EF4-FFF2-40B4-BE49-F238E27FC236}">
                  <a16:creationId xmlns:a16="http://schemas.microsoft.com/office/drawing/2014/main" id="{2D4FE1D4-1030-5B19-5C7E-C99C4EE5F61D}"/>
                </a:ext>
              </a:extLst>
            </p:cNvPr>
            <p:cNvSpPr txBox="1">
              <a:spLocks noChangeArrowheads="1"/>
            </p:cNvSpPr>
            <p:nvPr/>
          </p:nvSpPr>
          <p:spPr bwMode="auto">
            <a:xfrm>
              <a:off x="7416800" y="23669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69" name="Text Box 64">
              <a:extLst>
                <a:ext uri="{FF2B5EF4-FFF2-40B4-BE49-F238E27FC236}">
                  <a16:creationId xmlns:a16="http://schemas.microsoft.com/office/drawing/2014/main" id="{6242D323-69B9-57ED-0A08-E2A726E09962}"/>
                </a:ext>
              </a:extLst>
            </p:cNvPr>
            <p:cNvSpPr txBox="1">
              <a:spLocks noChangeArrowheads="1"/>
            </p:cNvSpPr>
            <p:nvPr/>
          </p:nvSpPr>
          <p:spPr bwMode="auto">
            <a:xfrm>
              <a:off x="5781675" y="2889250"/>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70" name="Text Box 65">
              <a:extLst>
                <a:ext uri="{FF2B5EF4-FFF2-40B4-BE49-F238E27FC236}">
                  <a16:creationId xmlns:a16="http://schemas.microsoft.com/office/drawing/2014/main" id="{69FCB068-029C-F06D-6C96-C8F267D1DB8E}"/>
                </a:ext>
              </a:extLst>
            </p:cNvPr>
            <p:cNvSpPr txBox="1">
              <a:spLocks noChangeArrowheads="1"/>
            </p:cNvSpPr>
            <p:nvPr/>
          </p:nvSpPr>
          <p:spPr bwMode="auto">
            <a:xfrm>
              <a:off x="6343650" y="28749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3071" name="Text Box 66">
              <a:extLst>
                <a:ext uri="{FF2B5EF4-FFF2-40B4-BE49-F238E27FC236}">
                  <a16:creationId xmlns:a16="http://schemas.microsoft.com/office/drawing/2014/main" id="{CB91E703-D33B-37AE-6C7C-16E25024DB5D}"/>
                </a:ext>
              </a:extLst>
            </p:cNvPr>
            <p:cNvSpPr txBox="1">
              <a:spLocks noChangeArrowheads="1"/>
            </p:cNvSpPr>
            <p:nvPr/>
          </p:nvSpPr>
          <p:spPr bwMode="auto">
            <a:xfrm>
              <a:off x="6913563" y="286861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72" name="Text Box 67">
              <a:extLst>
                <a:ext uri="{FF2B5EF4-FFF2-40B4-BE49-F238E27FC236}">
                  <a16:creationId xmlns:a16="http://schemas.microsoft.com/office/drawing/2014/main" id="{FF160EBC-EFB2-44AD-CA25-4CF58B913731}"/>
                </a:ext>
              </a:extLst>
            </p:cNvPr>
            <p:cNvSpPr txBox="1">
              <a:spLocks noChangeArrowheads="1"/>
            </p:cNvSpPr>
            <p:nvPr/>
          </p:nvSpPr>
          <p:spPr bwMode="auto">
            <a:xfrm>
              <a:off x="7377113" y="286861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73" name="Text Box 68">
              <a:extLst>
                <a:ext uri="{FF2B5EF4-FFF2-40B4-BE49-F238E27FC236}">
                  <a16:creationId xmlns:a16="http://schemas.microsoft.com/office/drawing/2014/main" id="{16FD0A5B-3CFA-B905-41C8-D45B2B678A07}"/>
                </a:ext>
              </a:extLst>
            </p:cNvPr>
            <p:cNvSpPr txBox="1">
              <a:spLocks noChangeArrowheads="1"/>
            </p:cNvSpPr>
            <p:nvPr/>
          </p:nvSpPr>
          <p:spPr bwMode="auto">
            <a:xfrm>
              <a:off x="5780088" y="339248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3074" name="Text Box 69">
              <a:extLst>
                <a:ext uri="{FF2B5EF4-FFF2-40B4-BE49-F238E27FC236}">
                  <a16:creationId xmlns:a16="http://schemas.microsoft.com/office/drawing/2014/main" id="{1F38D4F5-1283-EF28-DE07-7D37F0DD4899}"/>
                </a:ext>
              </a:extLst>
            </p:cNvPr>
            <p:cNvSpPr txBox="1">
              <a:spLocks noChangeArrowheads="1"/>
            </p:cNvSpPr>
            <p:nvPr/>
          </p:nvSpPr>
          <p:spPr bwMode="auto">
            <a:xfrm>
              <a:off x="6373813" y="34067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75" name="Text Box 70">
              <a:extLst>
                <a:ext uri="{FF2B5EF4-FFF2-40B4-BE49-F238E27FC236}">
                  <a16:creationId xmlns:a16="http://schemas.microsoft.com/office/drawing/2014/main" id="{6EF37E74-C47F-5B9B-6D46-CA13D8EB97D5}"/>
                </a:ext>
              </a:extLst>
            </p:cNvPr>
            <p:cNvSpPr txBox="1">
              <a:spLocks noChangeArrowheads="1"/>
            </p:cNvSpPr>
            <p:nvPr/>
          </p:nvSpPr>
          <p:spPr bwMode="auto">
            <a:xfrm>
              <a:off x="6910388" y="34067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76" name="Text Box 71">
              <a:extLst>
                <a:ext uri="{FF2B5EF4-FFF2-40B4-BE49-F238E27FC236}">
                  <a16:creationId xmlns:a16="http://schemas.microsoft.com/office/drawing/2014/main" id="{CF5A9315-A1C8-A5F3-96B9-3AE7D4123BC9}"/>
                </a:ext>
              </a:extLst>
            </p:cNvPr>
            <p:cNvSpPr txBox="1">
              <a:spLocks noChangeArrowheads="1"/>
            </p:cNvSpPr>
            <p:nvPr/>
          </p:nvSpPr>
          <p:spPr bwMode="auto">
            <a:xfrm>
              <a:off x="7416800" y="34067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77" name="Text Box 72">
              <a:extLst>
                <a:ext uri="{FF2B5EF4-FFF2-40B4-BE49-F238E27FC236}">
                  <a16:creationId xmlns:a16="http://schemas.microsoft.com/office/drawing/2014/main" id="{B365FCF3-C856-FD2F-6AD0-DF784DB6BECA}"/>
                </a:ext>
              </a:extLst>
            </p:cNvPr>
            <p:cNvSpPr txBox="1">
              <a:spLocks noChangeArrowheads="1"/>
            </p:cNvSpPr>
            <p:nvPr/>
          </p:nvSpPr>
          <p:spPr bwMode="auto">
            <a:xfrm>
              <a:off x="6359525" y="3930650"/>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78" name="Text Box 73">
              <a:extLst>
                <a:ext uri="{FF2B5EF4-FFF2-40B4-BE49-F238E27FC236}">
                  <a16:creationId xmlns:a16="http://schemas.microsoft.com/office/drawing/2014/main" id="{DCD4BBE5-CB1A-1CB8-3B8E-ABD1D10942E6}"/>
                </a:ext>
              </a:extLst>
            </p:cNvPr>
            <p:cNvSpPr txBox="1">
              <a:spLocks noChangeArrowheads="1"/>
            </p:cNvSpPr>
            <p:nvPr/>
          </p:nvSpPr>
          <p:spPr bwMode="auto">
            <a:xfrm>
              <a:off x="6880225" y="3930650"/>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79" name="Text Box 74">
              <a:extLst>
                <a:ext uri="{FF2B5EF4-FFF2-40B4-BE49-F238E27FC236}">
                  <a16:creationId xmlns:a16="http://schemas.microsoft.com/office/drawing/2014/main" id="{CD6CB0F9-60C3-1B4D-F4CB-53800A8DC23C}"/>
                </a:ext>
              </a:extLst>
            </p:cNvPr>
            <p:cNvSpPr txBox="1">
              <a:spLocks noChangeArrowheads="1"/>
            </p:cNvSpPr>
            <p:nvPr/>
          </p:nvSpPr>
          <p:spPr bwMode="auto">
            <a:xfrm>
              <a:off x="7459663" y="3930650"/>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3080" name="Text Box 75">
              <a:extLst>
                <a:ext uri="{FF2B5EF4-FFF2-40B4-BE49-F238E27FC236}">
                  <a16:creationId xmlns:a16="http://schemas.microsoft.com/office/drawing/2014/main" id="{341C8B43-906C-A541-109F-D296289ABF18}"/>
                </a:ext>
              </a:extLst>
            </p:cNvPr>
            <p:cNvSpPr txBox="1">
              <a:spLocks noChangeArrowheads="1"/>
            </p:cNvSpPr>
            <p:nvPr/>
          </p:nvSpPr>
          <p:spPr bwMode="auto">
            <a:xfrm>
              <a:off x="5810250" y="3978275"/>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grpSp>
      <p:sp>
        <p:nvSpPr>
          <p:cNvPr id="43011" name="Title 75">
            <a:extLst>
              <a:ext uri="{FF2B5EF4-FFF2-40B4-BE49-F238E27FC236}">
                <a16:creationId xmlns:a16="http://schemas.microsoft.com/office/drawing/2014/main" id="{3DFB74A5-C05B-0D21-1FEE-D951875A15BD}"/>
              </a:ext>
            </a:extLst>
          </p:cNvPr>
          <p:cNvSpPr>
            <a:spLocks noGrp="1" noChangeArrowheads="1"/>
          </p:cNvSpPr>
          <p:nvPr>
            <p:ph type="title"/>
          </p:nvPr>
        </p:nvSpPr>
        <p:spPr/>
        <p:txBody>
          <a:bodyPr>
            <a:normAutofit/>
          </a:bodyPr>
          <a:lstStyle/>
          <a:p>
            <a:r>
              <a:rPr lang="en-US" altLang="en-US" dirty="0"/>
              <a:t>Truth Tables for Gates</a:t>
            </a:r>
            <a:endParaRPr lang="ru-RU"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Content Placeholder 74">
            <a:extLst>
              <a:ext uri="{FF2B5EF4-FFF2-40B4-BE49-F238E27FC236}">
                <a16:creationId xmlns:a16="http://schemas.microsoft.com/office/drawing/2014/main" id="{9EAF7802-5C44-51AD-E7E9-EDA115BA567D}"/>
              </a:ext>
            </a:extLst>
          </p:cNvPr>
          <p:cNvSpPr>
            <a:spLocks noGrp="1" noChangeArrowheads="1"/>
          </p:cNvSpPr>
          <p:nvPr>
            <p:ph type="body" sz="quarter" idx="10"/>
          </p:nvPr>
        </p:nvSpPr>
        <p:spPr/>
        <p:txBody>
          <a:bodyPr/>
          <a:lstStyle/>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r>
              <a:rPr lang="en-US" altLang="en-US" dirty="0"/>
              <a:t>                 OR                                         NOR</a:t>
            </a:r>
            <a:endParaRPr lang="ru-RU" altLang="en-US" dirty="0"/>
          </a:p>
          <a:p>
            <a:endParaRPr lang="ru-RU" altLang="en-US" dirty="0"/>
          </a:p>
        </p:txBody>
      </p:sp>
      <p:grpSp>
        <p:nvGrpSpPr>
          <p:cNvPr id="44034" name="Group 76">
            <a:extLst>
              <a:ext uri="{FF2B5EF4-FFF2-40B4-BE49-F238E27FC236}">
                <a16:creationId xmlns:a16="http://schemas.microsoft.com/office/drawing/2014/main" id="{12914A29-E34D-7E0D-7242-184D2A455615}"/>
              </a:ext>
            </a:extLst>
          </p:cNvPr>
          <p:cNvGrpSpPr>
            <a:grpSpLocks/>
          </p:cNvGrpSpPr>
          <p:nvPr/>
        </p:nvGrpSpPr>
        <p:grpSpPr bwMode="auto">
          <a:xfrm>
            <a:off x="2590800" y="2057401"/>
            <a:ext cx="6904038" cy="2676525"/>
            <a:chOff x="691" y="1056"/>
            <a:chExt cx="4349" cy="1686"/>
          </a:xfrm>
        </p:grpSpPr>
        <p:sp>
          <p:nvSpPr>
            <p:cNvPr id="44037" name="Rectangle 6">
              <a:extLst>
                <a:ext uri="{FF2B5EF4-FFF2-40B4-BE49-F238E27FC236}">
                  <a16:creationId xmlns:a16="http://schemas.microsoft.com/office/drawing/2014/main" id="{DA83804A-1024-0BB0-14FF-C2D6AE7EDAB0}"/>
                </a:ext>
              </a:extLst>
            </p:cNvPr>
            <p:cNvSpPr>
              <a:spLocks noChangeArrowheads="1"/>
            </p:cNvSpPr>
            <p:nvPr/>
          </p:nvSpPr>
          <p:spPr bwMode="auto">
            <a:xfrm>
              <a:off x="986" y="1382"/>
              <a:ext cx="1360" cy="136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4038" name="Line 7">
              <a:extLst>
                <a:ext uri="{FF2B5EF4-FFF2-40B4-BE49-F238E27FC236}">
                  <a16:creationId xmlns:a16="http://schemas.microsoft.com/office/drawing/2014/main" id="{E467681F-0495-9A0C-1C8D-46BB8AD5C497}"/>
                </a:ext>
              </a:extLst>
            </p:cNvPr>
            <p:cNvSpPr>
              <a:spLocks noChangeShapeType="1"/>
            </p:cNvSpPr>
            <p:nvPr/>
          </p:nvSpPr>
          <p:spPr bwMode="auto">
            <a:xfrm>
              <a:off x="1666" y="1382"/>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39" name="Line 8">
              <a:extLst>
                <a:ext uri="{FF2B5EF4-FFF2-40B4-BE49-F238E27FC236}">
                  <a16:creationId xmlns:a16="http://schemas.microsoft.com/office/drawing/2014/main" id="{C2A7B753-0363-D5E5-0247-5922270788F8}"/>
                </a:ext>
              </a:extLst>
            </p:cNvPr>
            <p:cNvSpPr>
              <a:spLocks noChangeShapeType="1"/>
            </p:cNvSpPr>
            <p:nvPr/>
          </p:nvSpPr>
          <p:spPr bwMode="auto">
            <a:xfrm>
              <a:off x="1319" y="1382"/>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0" name="Line 9">
              <a:extLst>
                <a:ext uri="{FF2B5EF4-FFF2-40B4-BE49-F238E27FC236}">
                  <a16:creationId xmlns:a16="http://schemas.microsoft.com/office/drawing/2014/main" id="{8E854A38-FB61-3C7B-9B6E-33F587E5D905}"/>
                </a:ext>
              </a:extLst>
            </p:cNvPr>
            <p:cNvSpPr>
              <a:spLocks noChangeShapeType="1"/>
            </p:cNvSpPr>
            <p:nvPr/>
          </p:nvSpPr>
          <p:spPr bwMode="auto">
            <a:xfrm>
              <a:off x="2014" y="1373"/>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1" name="Line 10">
              <a:extLst>
                <a:ext uri="{FF2B5EF4-FFF2-40B4-BE49-F238E27FC236}">
                  <a16:creationId xmlns:a16="http://schemas.microsoft.com/office/drawing/2014/main" id="{627B8D41-B4B9-1A6F-3083-45511BDF604D}"/>
                </a:ext>
              </a:extLst>
            </p:cNvPr>
            <p:cNvSpPr>
              <a:spLocks noChangeShapeType="1"/>
            </p:cNvSpPr>
            <p:nvPr/>
          </p:nvSpPr>
          <p:spPr bwMode="auto">
            <a:xfrm>
              <a:off x="986" y="2044"/>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2" name="Line 11">
              <a:extLst>
                <a:ext uri="{FF2B5EF4-FFF2-40B4-BE49-F238E27FC236}">
                  <a16:creationId xmlns:a16="http://schemas.microsoft.com/office/drawing/2014/main" id="{6AD59D4B-173B-9F04-D381-15A69A50ABBB}"/>
                </a:ext>
              </a:extLst>
            </p:cNvPr>
            <p:cNvSpPr>
              <a:spLocks noChangeShapeType="1"/>
            </p:cNvSpPr>
            <p:nvPr/>
          </p:nvSpPr>
          <p:spPr bwMode="auto">
            <a:xfrm>
              <a:off x="986" y="1705"/>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3" name="Line 12">
              <a:extLst>
                <a:ext uri="{FF2B5EF4-FFF2-40B4-BE49-F238E27FC236}">
                  <a16:creationId xmlns:a16="http://schemas.microsoft.com/office/drawing/2014/main" id="{3194DBDE-B065-7DB0-DE15-468638D53611}"/>
                </a:ext>
              </a:extLst>
            </p:cNvPr>
            <p:cNvSpPr>
              <a:spLocks noChangeShapeType="1"/>
            </p:cNvSpPr>
            <p:nvPr/>
          </p:nvSpPr>
          <p:spPr bwMode="auto">
            <a:xfrm>
              <a:off x="986" y="2380"/>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4" name="Line 13">
              <a:extLst>
                <a:ext uri="{FF2B5EF4-FFF2-40B4-BE49-F238E27FC236}">
                  <a16:creationId xmlns:a16="http://schemas.microsoft.com/office/drawing/2014/main" id="{A19214B4-BF71-4D9B-3AA3-C3A5AC112920}"/>
                </a:ext>
              </a:extLst>
            </p:cNvPr>
            <p:cNvSpPr>
              <a:spLocks noChangeShapeType="1"/>
            </p:cNvSpPr>
            <p:nvPr/>
          </p:nvSpPr>
          <p:spPr bwMode="auto">
            <a:xfrm flipH="1" flipV="1">
              <a:off x="804" y="1200"/>
              <a:ext cx="182"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5" name="Text Box 14">
              <a:extLst>
                <a:ext uri="{FF2B5EF4-FFF2-40B4-BE49-F238E27FC236}">
                  <a16:creationId xmlns:a16="http://schemas.microsoft.com/office/drawing/2014/main" id="{542764B9-6840-2D60-BB03-24D24D9FB9DF}"/>
                </a:ext>
              </a:extLst>
            </p:cNvPr>
            <p:cNvSpPr txBox="1">
              <a:spLocks noChangeArrowheads="1"/>
            </p:cNvSpPr>
            <p:nvPr/>
          </p:nvSpPr>
          <p:spPr bwMode="auto">
            <a:xfrm>
              <a:off x="691" y="1291"/>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in1</a:t>
              </a:r>
              <a:endParaRPr lang="ru-RU" altLang="en-US" sz="1800"/>
            </a:p>
          </p:txBody>
        </p:sp>
        <p:sp>
          <p:nvSpPr>
            <p:cNvPr id="44046" name="Text Box 15">
              <a:extLst>
                <a:ext uri="{FF2B5EF4-FFF2-40B4-BE49-F238E27FC236}">
                  <a16:creationId xmlns:a16="http://schemas.microsoft.com/office/drawing/2014/main" id="{3F28C58B-5997-BAF2-413F-C168B60D07C5}"/>
                </a:ext>
              </a:extLst>
            </p:cNvPr>
            <p:cNvSpPr txBox="1">
              <a:spLocks noChangeArrowheads="1"/>
            </p:cNvSpPr>
            <p:nvPr/>
          </p:nvSpPr>
          <p:spPr bwMode="auto">
            <a:xfrm>
              <a:off x="811" y="1090"/>
              <a:ext cx="37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in2</a:t>
              </a:r>
              <a:endParaRPr lang="ru-RU" altLang="en-US" sz="1800"/>
            </a:p>
          </p:txBody>
        </p:sp>
        <p:sp>
          <p:nvSpPr>
            <p:cNvPr id="44047" name="Text Box 16">
              <a:extLst>
                <a:ext uri="{FF2B5EF4-FFF2-40B4-BE49-F238E27FC236}">
                  <a16:creationId xmlns:a16="http://schemas.microsoft.com/office/drawing/2014/main" id="{45D9BE08-665D-7FDC-CEBE-AE64A3D64B67}"/>
                </a:ext>
              </a:extLst>
            </p:cNvPr>
            <p:cNvSpPr txBox="1">
              <a:spLocks noChangeArrowheads="1"/>
            </p:cNvSpPr>
            <p:nvPr/>
          </p:nvSpPr>
          <p:spPr bwMode="auto">
            <a:xfrm>
              <a:off x="1039" y="115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48" name="Text Box 17">
              <a:extLst>
                <a:ext uri="{FF2B5EF4-FFF2-40B4-BE49-F238E27FC236}">
                  <a16:creationId xmlns:a16="http://schemas.microsoft.com/office/drawing/2014/main" id="{5ACF2A9B-2FF0-CB14-4211-596CB156DFC6}"/>
                </a:ext>
              </a:extLst>
            </p:cNvPr>
            <p:cNvSpPr txBox="1">
              <a:spLocks noChangeArrowheads="1"/>
            </p:cNvSpPr>
            <p:nvPr/>
          </p:nvSpPr>
          <p:spPr bwMode="auto">
            <a:xfrm>
              <a:off x="1348" y="115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49" name="Text Box 18">
              <a:extLst>
                <a:ext uri="{FF2B5EF4-FFF2-40B4-BE49-F238E27FC236}">
                  <a16:creationId xmlns:a16="http://schemas.microsoft.com/office/drawing/2014/main" id="{14C458BA-83B1-0BB4-E3A6-0E99DB570CF8}"/>
                </a:ext>
              </a:extLst>
            </p:cNvPr>
            <p:cNvSpPr txBox="1">
              <a:spLocks noChangeArrowheads="1"/>
            </p:cNvSpPr>
            <p:nvPr/>
          </p:nvSpPr>
          <p:spPr bwMode="auto">
            <a:xfrm>
              <a:off x="1734" y="1137"/>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50" name="Text Box 19">
              <a:extLst>
                <a:ext uri="{FF2B5EF4-FFF2-40B4-BE49-F238E27FC236}">
                  <a16:creationId xmlns:a16="http://schemas.microsoft.com/office/drawing/2014/main" id="{71C8DC7F-2BD3-D4E6-B774-2B60DFC01F3C}"/>
                </a:ext>
              </a:extLst>
            </p:cNvPr>
            <p:cNvSpPr txBox="1">
              <a:spLocks noChangeArrowheads="1"/>
            </p:cNvSpPr>
            <p:nvPr/>
          </p:nvSpPr>
          <p:spPr bwMode="auto">
            <a:xfrm>
              <a:off x="2051" y="113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4051" name="Text Box 20">
              <a:extLst>
                <a:ext uri="{FF2B5EF4-FFF2-40B4-BE49-F238E27FC236}">
                  <a16:creationId xmlns:a16="http://schemas.microsoft.com/office/drawing/2014/main" id="{AC396EF6-DE03-53BB-6B36-4555036BBE56}"/>
                </a:ext>
              </a:extLst>
            </p:cNvPr>
            <p:cNvSpPr txBox="1">
              <a:spLocks noChangeArrowheads="1"/>
            </p:cNvSpPr>
            <p:nvPr/>
          </p:nvSpPr>
          <p:spPr bwMode="auto">
            <a:xfrm>
              <a:off x="728" y="145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52" name="Text Box 21">
              <a:extLst>
                <a:ext uri="{FF2B5EF4-FFF2-40B4-BE49-F238E27FC236}">
                  <a16:creationId xmlns:a16="http://schemas.microsoft.com/office/drawing/2014/main" id="{A9246A49-A731-5CF6-76B3-6F68A80A8993}"/>
                </a:ext>
              </a:extLst>
            </p:cNvPr>
            <p:cNvSpPr txBox="1">
              <a:spLocks noChangeArrowheads="1"/>
            </p:cNvSpPr>
            <p:nvPr/>
          </p:nvSpPr>
          <p:spPr bwMode="auto">
            <a:xfrm>
              <a:off x="735" y="174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53" name="Text Box 22">
              <a:extLst>
                <a:ext uri="{FF2B5EF4-FFF2-40B4-BE49-F238E27FC236}">
                  <a16:creationId xmlns:a16="http://schemas.microsoft.com/office/drawing/2014/main" id="{A26C2EB5-5203-57F2-62D4-E7204C0BEC85}"/>
                </a:ext>
              </a:extLst>
            </p:cNvPr>
            <p:cNvSpPr txBox="1">
              <a:spLocks noChangeArrowheads="1"/>
            </p:cNvSpPr>
            <p:nvPr/>
          </p:nvSpPr>
          <p:spPr bwMode="auto">
            <a:xfrm>
              <a:off x="726" y="206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54" name="Text Box 23">
              <a:extLst>
                <a:ext uri="{FF2B5EF4-FFF2-40B4-BE49-F238E27FC236}">
                  <a16:creationId xmlns:a16="http://schemas.microsoft.com/office/drawing/2014/main" id="{8C95F699-8E85-D227-8BA4-506ABF723201}"/>
                </a:ext>
              </a:extLst>
            </p:cNvPr>
            <p:cNvSpPr txBox="1">
              <a:spLocks noChangeArrowheads="1"/>
            </p:cNvSpPr>
            <p:nvPr/>
          </p:nvSpPr>
          <p:spPr bwMode="auto">
            <a:xfrm>
              <a:off x="713" y="242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4055" name="Text Box 24">
              <a:extLst>
                <a:ext uri="{FF2B5EF4-FFF2-40B4-BE49-F238E27FC236}">
                  <a16:creationId xmlns:a16="http://schemas.microsoft.com/office/drawing/2014/main" id="{E7BB2F8C-FB66-3C81-D5F6-2BE505143819}"/>
                </a:ext>
              </a:extLst>
            </p:cNvPr>
            <p:cNvSpPr txBox="1">
              <a:spLocks noChangeArrowheads="1"/>
            </p:cNvSpPr>
            <p:nvPr/>
          </p:nvSpPr>
          <p:spPr bwMode="auto">
            <a:xfrm>
              <a:off x="1030" y="142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56" name="Text Box 25">
              <a:extLst>
                <a:ext uri="{FF2B5EF4-FFF2-40B4-BE49-F238E27FC236}">
                  <a16:creationId xmlns:a16="http://schemas.microsoft.com/office/drawing/2014/main" id="{174564D0-1E31-1080-C8A8-14E16365034E}"/>
                </a:ext>
              </a:extLst>
            </p:cNvPr>
            <p:cNvSpPr txBox="1">
              <a:spLocks noChangeArrowheads="1"/>
            </p:cNvSpPr>
            <p:nvPr/>
          </p:nvSpPr>
          <p:spPr bwMode="auto">
            <a:xfrm>
              <a:off x="1395" y="142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57" name="Text Box 26">
              <a:extLst>
                <a:ext uri="{FF2B5EF4-FFF2-40B4-BE49-F238E27FC236}">
                  <a16:creationId xmlns:a16="http://schemas.microsoft.com/office/drawing/2014/main" id="{D50E4F36-8933-824A-0649-9E79ABFE8AAA}"/>
                </a:ext>
              </a:extLst>
            </p:cNvPr>
            <p:cNvSpPr txBox="1">
              <a:spLocks noChangeArrowheads="1"/>
            </p:cNvSpPr>
            <p:nvPr/>
          </p:nvSpPr>
          <p:spPr bwMode="auto">
            <a:xfrm>
              <a:off x="1734" y="142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58" name="Text Box 27">
              <a:extLst>
                <a:ext uri="{FF2B5EF4-FFF2-40B4-BE49-F238E27FC236}">
                  <a16:creationId xmlns:a16="http://schemas.microsoft.com/office/drawing/2014/main" id="{07E14DA9-F8CD-A344-11EB-9EC158C1E02F}"/>
                </a:ext>
              </a:extLst>
            </p:cNvPr>
            <p:cNvSpPr txBox="1">
              <a:spLocks noChangeArrowheads="1"/>
            </p:cNvSpPr>
            <p:nvPr/>
          </p:nvSpPr>
          <p:spPr bwMode="auto">
            <a:xfrm>
              <a:off x="2051" y="142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59" name="Text Box 28">
              <a:extLst>
                <a:ext uri="{FF2B5EF4-FFF2-40B4-BE49-F238E27FC236}">
                  <a16:creationId xmlns:a16="http://schemas.microsoft.com/office/drawing/2014/main" id="{E5BF4806-E898-3446-7B8F-75F99A9CDF5C}"/>
                </a:ext>
              </a:extLst>
            </p:cNvPr>
            <p:cNvSpPr txBox="1">
              <a:spLocks noChangeArrowheads="1"/>
            </p:cNvSpPr>
            <p:nvPr/>
          </p:nvSpPr>
          <p:spPr bwMode="auto">
            <a:xfrm>
              <a:off x="1021" y="1758"/>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60" name="Text Box 29">
              <a:extLst>
                <a:ext uri="{FF2B5EF4-FFF2-40B4-BE49-F238E27FC236}">
                  <a16:creationId xmlns:a16="http://schemas.microsoft.com/office/drawing/2014/main" id="{35E3F85A-C10C-74AA-2064-B9948151236A}"/>
                </a:ext>
              </a:extLst>
            </p:cNvPr>
            <p:cNvSpPr txBox="1">
              <a:spLocks noChangeArrowheads="1"/>
            </p:cNvSpPr>
            <p:nvPr/>
          </p:nvSpPr>
          <p:spPr bwMode="auto">
            <a:xfrm>
              <a:off x="1375" y="174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61" name="Text Box 30">
              <a:extLst>
                <a:ext uri="{FF2B5EF4-FFF2-40B4-BE49-F238E27FC236}">
                  <a16:creationId xmlns:a16="http://schemas.microsoft.com/office/drawing/2014/main" id="{70CFA315-0A1E-4FA9-0C52-3FF03418DEC7}"/>
                </a:ext>
              </a:extLst>
            </p:cNvPr>
            <p:cNvSpPr txBox="1">
              <a:spLocks noChangeArrowheads="1"/>
            </p:cNvSpPr>
            <p:nvPr/>
          </p:nvSpPr>
          <p:spPr bwMode="auto">
            <a:xfrm>
              <a:off x="1734" y="174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62" name="Text Box 31">
              <a:extLst>
                <a:ext uri="{FF2B5EF4-FFF2-40B4-BE49-F238E27FC236}">
                  <a16:creationId xmlns:a16="http://schemas.microsoft.com/office/drawing/2014/main" id="{35BC08C8-8C98-2F86-BEC6-A511E2C218BC}"/>
                </a:ext>
              </a:extLst>
            </p:cNvPr>
            <p:cNvSpPr txBox="1">
              <a:spLocks noChangeArrowheads="1"/>
            </p:cNvSpPr>
            <p:nvPr/>
          </p:nvSpPr>
          <p:spPr bwMode="auto">
            <a:xfrm>
              <a:off x="2026" y="174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63" name="Text Box 32">
              <a:extLst>
                <a:ext uri="{FF2B5EF4-FFF2-40B4-BE49-F238E27FC236}">
                  <a16:creationId xmlns:a16="http://schemas.microsoft.com/office/drawing/2014/main" id="{07980A7B-2BCE-BBB7-717E-541E05D89DF7}"/>
                </a:ext>
              </a:extLst>
            </p:cNvPr>
            <p:cNvSpPr txBox="1">
              <a:spLocks noChangeArrowheads="1"/>
            </p:cNvSpPr>
            <p:nvPr/>
          </p:nvSpPr>
          <p:spPr bwMode="auto">
            <a:xfrm>
              <a:off x="1020" y="207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64" name="Text Box 33">
              <a:extLst>
                <a:ext uri="{FF2B5EF4-FFF2-40B4-BE49-F238E27FC236}">
                  <a16:creationId xmlns:a16="http://schemas.microsoft.com/office/drawing/2014/main" id="{4BE7C051-B332-EA17-1E0C-B6C1D760FCEA}"/>
                </a:ext>
              </a:extLst>
            </p:cNvPr>
            <p:cNvSpPr txBox="1">
              <a:spLocks noChangeArrowheads="1"/>
            </p:cNvSpPr>
            <p:nvPr/>
          </p:nvSpPr>
          <p:spPr bwMode="auto">
            <a:xfrm>
              <a:off x="1394" y="208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65" name="Text Box 34">
              <a:extLst>
                <a:ext uri="{FF2B5EF4-FFF2-40B4-BE49-F238E27FC236}">
                  <a16:creationId xmlns:a16="http://schemas.microsoft.com/office/drawing/2014/main" id="{18961FC5-31DD-4E2F-C41F-36C19E6F9E86}"/>
                </a:ext>
              </a:extLst>
            </p:cNvPr>
            <p:cNvSpPr txBox="1">
              <a:spLocks noChangeArrowheads="1"/>
            </p:cNvSpPr>
            <p:nvPr/>
          </p:nvSpPr>
          <p:spPr bwMode="auto">
            <a:xfrm>
              <a:off x="1732" y="208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66" name="Text Box 35">
              <a:extLst>
                <a:ext uri="{FF2B5EF4-FFF2-40B4-BE49-F238E27FC236}">
                  <a16:creationId xmlns:a16="http://schemas.microsoft.com/office/drawing/2014/main" id="{4236FA0F-A874-19FA-91F2-8AA47C12718A}"/>
                </a:ext>
              </a:extLst>
            </p:cNvPr>
            <p:cNvSpPr txBox="1">
              <a:spLocks noChangeArrowheads="1"/>
            </p:cNvSpPr>
            <p:nvPr/>
          </p:nvSpPr>
          <p:spPr bwMode="auto">
            <a:xfrm>
              <a:off x="2051" y="208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67" name="Text Box 36">
              <a:extLst>
                <a:ext uri="{FF2B5EF4-FFF2-40B4-BE49-F238E27FC236}">
                  <a16:creationId xmlns:a16="http://schemas.microsoft.com/office/drawing/2014/main" id="{B94C66E0-2B20-3848-4456-6832F179B7F0}"/>
                </a:ext>
              </a:extLst>
            </p:cNvPr>
            <p:cNvSpPr txBox="1">
              <a:spLocks noChangeArrowheads="1"/>
            </p:cNvSpPr>
            <p:nvPr/>
          </p:nvSpPr>
          <p:spPr bwMode="auto">
            <a:xfrm>
              <a:off x="1385" y="241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68" name="Text Box 37">
              <a:extLst>
                <a:ext uri="{FF2B5EF4-FFF2-40B4-BE49-F238E27FC236}">
                  <a16:creationId xmlns:a16="http://schemas.microsoft.com/office/drawing/2014/main" id="{BFF433EF-2E48-8101-91F4-186082DB57D7}"/>
                </a:ext>
              </a:extLst>
            </p:cNvPr>
            <p:cNvSpPr txBox="1">
              <a:spLocks noChangeArrowheads="1"/>
            </p:cNvSpPr>
            <p:nvPr/>
          </p:nvSpPr>
          <p:spPr bwMode="auto">
            <a:xfrm>
              <a:off x="1713" y="241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69" name="Text Box 38">
              <a:extLst>
                <a:ext uri="{FF2B5EF4-FFF2-40B4-BE49-F238E27FC236}">
                  <a16:creationId xmlns:a16="http://schemas.microsoft.com/office/drawing/2014/main" id="{3ABCC8D7-577A-D7E6-F8DA-BDAAD6D79EEE}"/>
                </a:ext>
              </a:extLst>
            </p:cNvPr>
            <p:cNvSpPr txBox="1">
              <a:spLocks noChangeArrowheads="1"/>
            </p:cNvSpPr>
            <p:nvPr/>
          </p:nvSpPr>
          <p:spPr bwMode="auto">
            <a:xfrm>
              <a:off x="2078" y="241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70" name="Text Box 39">
              <a:extLst>
                <a:ext uri="{FF2B5EF4-FFF2-40B4-BE49-F238E27FC236}">
                  <a16:creationId xmlns:a16="http://schemas.microsoft.com/office/drawing/2014/main" id="{48C7638E-F6BF-18D3-2261-44079BD24936}"/>
                </a:ext>
              </a:extLst>
            </p:cNvPr>
            <p:cNvSpPr txBox="1">
              <a:spLocks noChangeArrowheads="1"/>
            </p:cNvSpPr>
            <p:nvPr/>
          </p:nvSpPr>
          <p:spPr bwMode="auto">
            <a:xfrm>
              <a:off x="1039" y="244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71" name="Rectangle 41">
              <a:extLst>
                <a:ext uri="{FF2B5EF4-FFF2-40B4-BE49-F238E27FC236}">
                  <a16:creationId xmlns:a16="http://schemas.microsoft.com/office/drawing/2014/main" id="{65EB0FA8-286B-89AE-4674-2753F8F6EFCD}"/>
                </a:ext>
              </a:extLst>
            </p:cNvPr>
            <p:cNvSpPr>
              <a:spLocks noChangeArrowheads="1"/>
            </p:cNvSpPr>
            <p:nvPr/>
          </p:nvSpPr>
          <p:spPr bwMode="auto">
            <a:xfrm>
              <a:off x="3653" y="1372"/>
              <a:ext cx="1360" cy="136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4072" name="Line 42">
              <a:extLst>
                <a:ext uri="{FF2B5EF4-FFF2-40B4-BE49-F238E27FC236}">
                  <a16:creationId xmlns:a16="http://schemas.microsoft.com/office/drawing/2014/main" id="{7BE96004-986B-B339-CF5C-88C02D698B02}"/>
                </a:ext>
              </a:extLst>
            </p:cNvPr>
            <p:cNvSpPr>
              <a:spLocks noChangeShapeType="1"/>
            </p:cNvSpPr>
            <p:nvPr/>
          </p:nvSpPr>
          <p:spPr bwMode="auto">
            <a:xfrm>
              <a:off x="4333" y="1372"/>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3" name="Line 43">
              <a:extLst>
                <a:ext uri="{FF2B5EF4-FFF2-40B4-BE49-F238E27FC236}">
                  <a16:creationId xmlns:a16="http://schemas.microsoft.com/office/drawing/2014/main" id="{839B6054-5665-9EF0-2AAF-927BD8FE1CF9}"/>
                </a:ext>
              </a:extLst>
            </p:cNvPr>
            <p:cNvSpPr>
              <a:spLocks noChangeShapeType="1"/>
            </p:cNvSpPr>
            <p:nvPr/>
          </p:nvSpPr>
          <p:spPr bwMode="auto">
            <a:xfrm>
              <a:off x="3986" y="1372"/>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4" name="Line 44">
              <a:extLst>
                <a:ext uri="{FF2B5EF4-FFF2-40B4-BE49-F238E27FC236}">
                  <a16:creationId xmlns:a16="http://schemas.microsoft.com/office/drawing/2014/main" id="{D8E1F524-13D5-8498-D979-F181109884C0}"/>
                </a:ext>
              </a:extLst>
            </p:cNvPr>
            <p:cNvSpPr>
              <a:spLocks noChangeShapeType="1"/>
            </p:cNvSpPr>
            <p:nvPr/>
          </p:nvSpPr>
          <p:spPr bwMode="auto">
            <a:xfrm>
              <a:off x="4681" y="1363"/>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5" name="Line 45">
              <a:extLst>
                <a:ext uri="{FF2B5EF4-FFF2-40B4-BE49-F238E27FC236}">
                  <a16:creationId xmlns:a16="http://schemas.microsoft.com/office/drawing/2014/main" id="{7C784B54-B4D6-732E-5AD7-7D0E5E7B6C46}"/>
                </a:ext>
              </a:extLst>
            </p:cNvPr>
            <p:cNvSpPr>
              <a:spLocks noChangeShapeType="1"/>
            </p:cNvSpPr>
            <p:nvPr/>
          </p:nvSpPr>
          <p:spPr bwMode="auto">
            <a:xfrm>
              <a:off x="3653" y="2034"/>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6" name="Line 46">
              <a:extLst>
                <a:ext uri="{FF2B5EF4-FFF2-40B4-BE49-F238E27FC236}">
                  <a16:creationId xmlns:a16="http://schemas.microsoft.com/office/drawing/2014/main" id="{A185C293-05E0-B535-A51F-06485547AA3D}"/>
                </a:ext>
              </a:extLst>
            </p:cNvPr>
            <p:cNvSpPr>
              <a:spLocks noChangeShapeType="1"/>
            </p:cNvSpPr>
            <p:nvPr/>
          </p:nvSpPr>
          <p:spPr bwMode="auto">
            <a:xfrm>
              <a:off x="3653" y="1695"/>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7" name="Line 47">
              <a:extLst>
                <a:ext uri="{FF2B5EF4-FFF2-40B4-BE49-F238E27FC236}">
                  <a16:creationId xmlns:a16="http://schemas.microsoft.com/office/drawing/2014/main" id="{423DABC6-9973-380D-401D-45E121935F2B}"/>
                </a:ext>
              </a:extLst>
            </p:cNvPr>
            <p:cNvSpPr>
              <a:spLocks noChangeShapeType="1"/>
            </p:cNvSpPr>
            <p:nvPr/>
          </p:nvSpPr>
          <p:spPr bwMode="auto">
            <a:xfrm>
              <a:off x="3653" y="2370"/>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8" name="Line 48">
              <a:extLst>
                <a:ext uri="{FF2B5EF4-FFF2-40B4-BE49-F238E27FC236}">
                  <a16:creationId xmlns:a16="http://schemas.microsoft.com/office/drawing/2014/main" id="{28478E6C-36BD-A2F6-72D4-4F602CA68D16}"/>
                </a:ext>
              </a:extLst>
            </p:cNvPr>
            <p:cNvSpPr>
              <a:spLocks noChangeShapeType="1"/>
            </p:cNvSpPr>
            <p:nvPr/>
          </p:nvSpPr>
          <p:spPr bwMode="auto">
            <a:xfrm flipH="1" flipV="1">
              <a:off x="3471" y="1190"/>
              <a:ext cx="182"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9" name="Text Box 49">
              <a:extLst>
                <a:ext uri="{FF2B5EF4-FFF2-40B4-BE49-F238E27FC236}">
                  <a16:creationId xmlns:a16="http://schemas.microsoft.com/office/drawing/2014/main" id="{EEB45F83-70D4-59A8-D0E1-2090585F0165}"/>
                </a:ext>
              </a:extLst>
            </p:cNvPr>
            <p:cNvSpPr txBox="1">
              <a:spLocks noChangeArrowheads="1"/>
            </p:cNvSpPr>
            <p:nvPr/>
          </p:nvSpPr>
          <p:spPr bwMode="auto">
            <a:xfrm>
              <a:off x="3358" y="1281"/>
              <a:ext cx="4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in1</a:t>
              </a:r>
              <a:endParaRPr lang="ru-RU" altLang="en-US" sz="1800"/>
            </a:p>
          </p:txBody>
        </p:sp>
        <p:sp>
          <p:nvSpPr>
            <p:cNvPr id="44080" name="Text Box 50">
              <a:extLst>
                <a:ext uri="{FF2B5EF4-FFF2-40B4-BE49-F238E27FC236}">
                  <a16:creationId xmlns:a16="http://schemas.microsoft.com/office/drawing/2014/main" id="{FCD0A93D-1B97-469C-987F-83A51CA94B9F}"/>
                </a:ext>
              </a:extLst>
            </p:cNvPr>
            <p:cNvSpPr txBox="1">
              <a:spLocks noChangeArrowheads="1"/>
            </p:cNvSpPr>
            <p:nvPr/>
          </p:nvSpPr>
          <p:spPr bwMode="auto">
            <a:xfrm>
              <a:off x="3499" y="1056"/>
              <a:ext cx="3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in2</a:t>
              </a:r>
              <a:endParaRPr lang="ru-RU" altLang="en-US" sz="1800"/>
            </a:p>
          </p:txBody>
        </p:sp>
        <p:sp>
          <p:nvSpPr>
            <p:cNvPr id="44081" name="Text Box 51">
              <a:extLst>
                <a:ext uri="{FF2B5EF4-FFF2-40B4-BE49-F238E27FC236}">
                  <a16:creationId xmlns:a16="http://schemas.microsoft.com/office/drawing/2014/main" id="{5BEFF510-589F-3EB7-5449-93E115F74599}"/>
                </a:ext>
              </a:extLst>
            </p:cNvPr>
            <p:cNvSpPr txBox="1">
              <a:spLocks noChangeArrowheads="1"/>
            </p:cNvSpPr>
            <p:nvPr/>
          </p:nvSpPr>
          <p:spPr bwMode="auto">
            <a:xfrm>
              <a:off x="3706" y="114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82" name="Text Box 52">
              <a:extLst>
                <a:ext uri="{FF2B5EF4-FFF2-40B4-BE49-F238E27FC236}">
                  <a16:creationId xmlns:a16="http://schemas.microsoft.com/office/drawing/2014/main" id="{DBE9A30D-D23E-617E-5C90-088ADC31347F}"/>
                </a:ext>
              </a:extLst>
            </p:cNvPr>
            <p:cNvSpPr txBox="1">
              <a:spLocks noChangeArrowheads="1"/>
            </p:cNvSpPr>
            <p:nvPr/>
          </p:nvSpPr>
          <p:spPr bwMode="auto">
            <a:xfrm>
              <a:off x="4015" y="114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83" name="Text Box 53">
              <a:extLst>
                <a:ext uri="{FF2B5EF4-FFF2-40B4-BE49-F238E27FC236}">
                  <a16:creationId xmlns:a16="http://schemas.microsoft.com/office/drawing/2014/main" id="{C1AB92E4-553C-F70D-CF40-8377D8C781F6}"/>
                </a:ext>
              </a:extLst>
            </p:cNvPr>
            <p:cNvSpPr txBox="1">
              <a:spLocks noChangeArrowheads="1"/>
            </p:cNvSpPr>
            <p:nvPr/>
          </p:nvSpPr>
          <p:spPr bwMode="auto">
            <a:xfrm>
              <a:off x="4401" y="1127"/>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84" name="Text Box 54">
              <a:extLst>
                <a:ext uri="{FF2B5EF4-FFF2-40B4-BE49-F238E27FC236}">
                  <a16:creationId xmlns:a16="http://schemas.microsoft.com/office/drawing/2014/main" id="{3567C2CF-D709-4C73-FA18-B300FC15190E}"/>
                </a:ext>
              </a:extLst>
            </p:cNvPr>
            <p:cNvSpPr txBox="1">
              <a:spLocks noChangeArrowheads="1"/>
            </p:cNvSpPr>
            <p:nvPr/>
          </p:nvSpPr>
          <p:spPr bwMode="auto">
            <a:xfrm>
              <a:off x="4718" y="112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4085" name="Text Box 55">
              <a:extLst>
                <a:ext uri="{FF2B5EF4-FFF2-40B4-BE49-F238E27FC236}">
                  <a16:creationId xmlns:a16="http://schemas.microsoft.com/office/drawing/2014/main" id="{4E4816D0-3BDF-91AF-C5FB-A03214129B12}"/>
                </a:ext>
              </a:extLst>
            </p:cNvPr>
            <p:cNvSpPr txBox="1">
              <a:spLocks noChangeArrowheads="1"/>
            </p:cNvSpPr>
            <p:nvPr/>
          </p:nvSpPr>
          <p:spPr bwMode="auto">
            <a:xfrm>
              <a:off x="3395" y="144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86" name="Text Box 56">
              <a:extLst>
                <a:ext uri="{FF2B5EF4-FFF2-40B4-BE49-F238E27FC236}">
                  <a16:creationId xmlns:a16="http://schemas.microsoft.com/office/drawing/2014/main" id="{3C2B05F8-A623-E241-07E6-D85064EEB61B}"/>
                </a:ext>
              </a:extLst>
            </p:cNvPr>
            <p:cNvSpPr txBox="1">
              <a:spLocks noChangeArrowheads="1"/>
            </p:cNvSpPr>
            <p:nvPr/>
          </p:nvSpPr>
          <p:spPr bwMode="auto">
            <a:xfrm>
              <a:off x="3402" y="173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87" name="Text Box 57">
              <a:extLst>
                <a:ext uri="{FF2B5EF4-FFF2-40B4-BE49-F238E27FC236}">
                  <a16:creationId xmlns:a16="http://schemas.microsoft.com/office/drawing/2014/main" id="{958F121A-6C27-83C9-0861-8495DE2855AA}"/>
                </a:ext>
              </a:extLst>
            </p:cNvPr>
            <p:cNvSpPr txBox="1">
              <a:spLocks noChangeArrowheads="1"/>
            </p:cNvSpPr>
            <p:nvPr/>
          </p:nvSpPr>
          <p:spPr bwMode="auto">
            <a:xfrm>
              <a:off x="3393" y="205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88" name="Text Box 58">
              <a:extLst>
                <a:ext uri="{FF2B5EF4-FFF2-40B4-BE49-F238E27FC236}">
                  <a16:creationId xmlns:a16="http://schemas.microsoft.com/office/drawing/2014/main" id="{66A16B73-9889-2F3D-BE65-AA8006C4FB31}"/>
                </a:ext>
              </a:extLst>
            </p:cNvPr>
            <p:cNvSpPr txBox="1">
              <a:spLocks noChangeArrowheads="1"/>
            </p:cNvSpPr>
            <p:nvPr/>
          </p:nvSpPr>
          <p:spPr bwMode="auto">
            <a:xfrm>
              <a:off x="3380" y="241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4089" name="Text Box 59">
              <a:extLst>
                <a:ext uri="{FF2B5EF4-FFF2-40B4-BE49-F238E27FC236}">
                  <a16:creationId xmlns:a16="http://schemas.microsoft.com/office/drawing/2014/main" id="{B176DF0B-7809-33B6-7670-51D191564EED}"/>
                </a:ext>
              </a:extLst>
            </p:cNvPr>
            <p:cNvSpPr txBox="1">
              <a:spLocks noChangeArrowheads="1"/>
            </p:cNvSpPr>
            <p:nvPr/>
          </p:nvSpPr>
          <p:spPr bwMode="auto">
            <a:xfrm>
              <a:off x="3697" y="141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4090" name="Text Box 60">
              <a:extLst>
                <a:ext uri="{FF2B5EF4-FFF2-40B4-BE49-F238E27FC236}">
                  <a16:creationId xmlns:a16="http://schemas.microsoft.com/office/drawing/2014/main" id="{4118F30C-A42D-AC05-8C5A-F460F6E064CA}"/>
                </a:ext>
              </a:extLst>
            </p:cNvPr>
            <p:cNvSpPr txBox="1">
              <a:spLocks noChangeArrowheads="1"/>
            </p:cNvSpPr>
            <p:nvPr/>
          </p:nvSpPr>
          <p:spPr bwMode="auto">
            <a:xfrm>
              <a:off x="4062" y="141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91" name="Text Box 61">
              <a:extLst>
                <a:ext uri="{FF2B5EF4-FFF2-40B4-BE49-F238E27FC236}">
                  <a16:creationId xmlns:a16="http://schemas.microsoft.com/office/drawing/2014/main" id="{3A7F3C80-EB0F-DE95-57A7-615056FAAC7A}"/>
                </a:ext>
              </a:extLst>
            </p:cNvPr>
            <p:cNvSpPr txBox="1">
              <a:spLocks noChangeArrowheads="1"/>
            </p:cNvSpPr>
            <p:nvPr/>
          </p:nvSpPr>
          <p:spPr bwMode="auto">
            <a:xfrm>
              <a:off x="4401" y="141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92" name="Text Box 62">
              <a:extLst>
                <a:ext uri="{FF2B5EF4-FFF2-40B4-BE49-F238E27FC236}">
                  <a16:creationId xmlns:a16="http://schemas.microsoft.com/office/drawing/2014/main" id="{816FD3DF-6DC9-2B99-D56F-F8188F47E7F6}"/>
                </a:ext>
              </a:extLst>
            </p:cNvPr>
            <p:cNvSpPr txBox="1">
              <a:spLocks noChangeArrowheads="1"/>
            </p:cNvSpPr>
            <p:nvPr/>
          </p:nvSpPr>
          <p:spPr bwMode="auto">
            <a:xfrm>
              <a:off x="4718" y="141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93" name="Text Box 63">
              <a:extLst>
                <a:ext uri="{FF2B5EF4-FFF2-40B4-BE49-F238E27FC236}">
                  <a16:creationId xmlns:a16="http://schemas.microsoft.com/office/drawing/2014/main" id="{3EF6D890-F1DD-9A99-6E7E-F9698B852B7B}"/>
                </a:ext>
              </a:extLst>
            </p:cNvPr>
            <p:cNvSpPr txBox="1">
              <a:spLocks noChangeArrowheads="1"/>
            </p:cNvSpPr>
            <p:nvPr/>
          </p:nvSpPr>
          <p:spPr bwMode="auto">
            <a:xfrm>
              <a:off x="3688" y="1748"/>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94" name="Text Box 64">
              <a:extLst>
                <a:ext uri="{FF2B5EF4-FFF2-40B4-BE49-F238E27FC236}">
                  <a16:creationId xmlns:a16="http://schemas.microsoft.com/office/drawing/2014/main" id="{5CD0DF81-F199-E019-3A0F-F3037D1455BA}"/>
                </a:ext>
              </a:extLst>
            </p:cNvPr>
            <p:cNvSpPr txBox="1">
              <a:spLocks noChangeArrowheads="1"/>
            </p:cNvSpPr>
            <p:nvPr/>
          </p:nvSpPr>
          <p:spPr bwMode="auto">
            <a:xfrm>
              <a:off x="4042" y="173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95" name="Text Box 65">
              <a:extLst>
                <a:ext uri="{FF2B5EF4-FFF2-40B4-BE49-F238E27FC236}">
                  <a16:creationId xmlns:a16="http://schemas.microsoft.com/office/drawing/2014/main" id="{6693FD86-AB2F-BFBF-71E8-26E9ECB227A5}"/>
                </a:ext>
              </a:extLst>
            </p:cNvPr>
            <p:cNvSpPr txBox="1">
              <a:spLocks noChangeArrowheads="1"/>
            </p:cNvSpPr>
            <p:nvPr/>
          </p:nvSpPr>
          <p:spPr bwMode="auto">
            <a:xfrm>
              <a:off x="4401" y="173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96" name="Text Box 66">
              <a:extLst>
                <a:ext uri="{FF2B5EF4-FFF2-40B4-BE49-F238E27FC236}">
                  <a16:creationId xmlns:a16="http://schemas.microsoft.com/office/drawing/2014/main" id="{5ACD0326-675F-543E-C0A7-39C378CD4D7C}"/>
                </a:ext>
              </a:extLst>
            </p:cNvPr>
            <p:cNvSpPr txBox="1">
              <a:spLocks noChangeArrowheads="1"/>
            </p:cNvSpPr>
            <p:nvPr/>
          </p:nvSpPr>
          <p:spPr bwMode="auto">
            <a:xfrm>
              <a:off x="4693" y="173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97" name="Text Box 67">
              <a:extLst>
                <a:ext uri="{FF2B5EF4-FFF2-40B4-BE49-F238E27FC236}">
                  <a16:creationId xmlns:a16="http://schemas.microsoft.com/office/drawing/2014/main" id="{4A34608C-DCC8-7604-B984-0C515B17002E}"/>
                </a:ext>
              </a:extLst>
            </p:cNvPr>
            <p:cNvSpPr txBox="1">
              <a:spLocks noChangeArrowheads="1"/>
            </p:cNvSpPr>
            <p:nvPr/>
          </p:nvSpPr>
          <p:spPr bwMode="auto">
            <a:xfrm>
              <a:off x="3687" y="206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098" name="Text Box 68">
              <a:extLst>
                <a:ext uri="{FF2B5EF4-FFF2-40B4-BE49-F238E27FC236}">
                  <a16:creationId xmlns:a16="http://schemas.microsoft.com/office/drawing/2014/main" id="{49D283A2-D583-9DC4-64DC-9DCFECE087D8}"/>
                </a:ext>
              </a:extLst>
            </p:cNvPr>
            <p:cNvSpPr txBox="1">
              <a:spLocks noChangeArrowheads="1"/>
            </p:cNvSpPr>
            <p:nvPr/>
          </p:nvSpPr>
          <p:spPr bwMode="auto">
            <a:xfrm>
              <a:off x="4061" y="207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099" name="Text Box 69">
              <a:extLst>
                <a:ext uri="{FF2B5EF4-FFF2-40B4-BE49-F238E27FC236}">
                  <a16:creationId xmlns:a16="http://schemas.microsoft.com/office/drawing/2014/main" id="{CA9BA81C-0D65-2752-3794-E52D4D5D1AC5}"/>
                </a:ext>
              </a:extLst>
            </p:cNvPr>
            <p:cNvSpPr txBox="1">
              <a:spLocks noChangeArrowheads="1"/>
            </p:cNvSpPr>
            <p:nvPr/>
          </p:nvSpPr>
          <p:spPr bwMode="auto">
            <a:xfrm>
              <a:off x="4399" y="207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100" name="Text Box 70">
              <a:extLst>
                <a:ext uri="{FF2B5EF4-FFF2-40B4-BE49-F238E27FC236}">
                  <a16:creationId xmlns:a16="http://schemas.microsoft.com/office/drawing/2014/main" id="{24F6D82A-F446-5BEA-618E-BAFC5BB2222D}"/>
                </a:ext>
              </a:extLst>
            </p:cNvPr>
            <p:cNvSpPr txBox="1">
              <a:spLocks noChangeArrowheads="1"/>
            </p:cNvSpPr>
            <p:nvPr/>
          </p:nvSpPr>
          <p:spPr bwMode="auto">
            <a:xfrm>
              <a:off x="4718" y="207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101" name="Text Box 71">
              <a:extLst>
                <a:ext uri="{FF2B5EF4-FFF2-40B4-BE49-F238E27FC236}">
                  <a16:creationId xmlns:a16="http://schemas.microsoft.com/office/drawing/2014/main" id="{8944B20F-CD27-0F94-C969-3693CE3783D8}"/>
                </a:ext>
              </a:extLst>
            </p:cNvPr>
            <p:cNvSpPr txBox="1">
              <a:spLocks noChangeArrowheads="1"/>
            </p:cNvSpPr>
            <p:nvPr/>
          </p:nvSpPr>
          <p:spPr bwMode="auto">
            <a:xfrm>
              <a:off x="4052" y="240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4102" name="Text Box 72">
              <a:extLst>
                <a:ext uri="{FF2B5EF4-FFF2-40B4-BE49-F238E27FC236}">
                  <a16:creationId xmlns:a16="http://schemas.microsoft.com/office/drawing/2014/main" id="{4E847AC6-6414-6B13-B782-4726D5A24F9E}"/>
                </a:ext>
              </a:extLst>
            </p:cNvPr>
            <p:cNvSpPr txBox="1">
              <a:spLocks noChangeArrowheads="1"/>
            </p:cNvSpPr>
            <p:nvPr/>
          </p:nvSpPr>
          <p:spPr bwMode="auto">
            <a:xfrm>
              <a:off x="4380" y="240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103" name="Text Box 73">
              <a:extLst>
                <a:ext uri="{FF2B5EF4-FFF2-40B4-BE49-F238E27FC236}">
                  <a16:creationId xmlns:a16="http://schemas.microsoft.com/office/drawing/2014/main" id="{1A34B791-7FB8-6F68-9FB3-98B43F2CCDE3}"/>
                </a:ext>
              </a:extLst>
            </p:cNvPr>
            <p:cNvSpPr txBox="1">
              <a:spLocks noChangeArrowheads="1"/>
            </p:cNvSpPr>
            <p:nvPr/>
          </p:nvSpPr>
          <p:spPr bwMode="auto">
            <a:xfrm>
              <a:off x="4745" y="240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4104" name="Text Box 74">
              <a:extLst>
                <a:ext uri="{FF2B5EF4-FFF2-40B4-BE49-F238E27FC236}">
                  <a16:creationId xmlns:a16="http://schemas.microsoft.com/office/drawing/2014/main" id="{B8911F2F-2934-93B9-AF86-D9187A90860E}"/>
                </a:ext>
              </a:extLst>
            </p:cNvPr>
            <p:cNvSpPr txBox="1">
              <a:spLocks noChangeArrowheads="1"/>
            </p:cNvSpPr>
            <p:nvPr/>
          </p:nvSpPr>
          <p:spPr bwMode="auto">
            <a:xfrm>
              <a:off x="3706" y="243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grpSp>
      <p:sp>
        <p:nvSpPr>
          <p:cNvPr id="44035" name="Title 73">
            <a:extLst>
              <a:ext uri="{FF2B5EF4-FFF2-40B4-BE49-F238E27FC236}">
                <a16:creationId xmlns:a16="http://schemas.microsoft.com/office/drawing/2014/main" id="{0E5AA7BD-2086-98C7-4E7B-2059C7F04F36}"/>
              </a:ext>
            </a:extLst>
          </p:cNvPr>
          <p:cNvSpPr>
            <a:spLocks noGrp="1" noChangeArrowheads="1"/>
          </p:cNvSpPr>
          <p:nvPr>
            <p:ph type="title"/>
          </p:nvPr>
        </p:nvSpPr>
        <p:spPr/>
        <p:txBody>
          <a:bodyPr>
            <a:normAutofit/>
          </a:bodyPr>
          <a:lstStyle/>
          <a:p>
            <a:r>
              <a:rPr lang="en-US" altLang="en-US" dirty="0"/>
              <a:t>Truth Tables for Gates (2)</a:t>
            </a:r>
            <a:endParaRPr lang="ru-RU"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Content Placeholder 73">
            <a:extLst>
              <a:ext uri="{FF2B5EF4-FFF2-40B4-BE49-F238E27FC236}">
                <a16:creationId xmlns:a16="http://schemas.microsoft.com/office/drawing/2014/main" id="{BE1897BE-773D-E246-0296-CD41A8E8C221}"/>
              </a:ext>
            </a:extLst>
          </p:cNvPr>
          <p:cNvSpPr>
            <a:spLocks noGrp="1" noChangeArrowheads="1"/>
          </p:cNvSpPr>
          <p:nvPr>
            <p:ph type="body" sz="quarter" idx="10"/>
          </p:nvPr>
        </p:nvSpPr>
        <p:spPr/>
        <p:txBody>
          <a:bodyPr/>
          <a:lstStyle/>
          <a:p>
            <a:endParaRPr lang="en-US" altLang="en-US" dirty="0"/>
          </a:p>
          <a:p>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r>
              <a:rPr lang="en-US" altLang="en-US" dirty="0"/>
              <a:t>               XOR                                     XNOR</a:t>
            </a:r>
            <a:endParaRPr lang="ru-RU" altLang="en-US" dirty="0"/>
          </a:p>
        </p:txBody>
      </p:sp>
      <p:sp>
        <p:nvSpPr>
          <p:cNvPr id="45058" name="Rectangle 4">
            <a:extLst>
              <a:ext uri="{FF2B5EF4-FFF2-40B4-BE49-F238E27FC236}">
                <a16:creationId xmlns:a16="http://schemas.microsoft.com/office/drawing/2014/main" id="{509690AB-68FF-3A97-A1E6-61871C3F2B64}"/>
              </a:ext>
            </a:extLst>
          </p:cNvPr>
          <p:cNvSpPr>
            <a:spLocks noGrp="1" noChangeArrowheads="1"/>
          </p:cNvSpPr>
          <p:nvPr>
            <p:ph type="title"/>
          </p:nvPr>
        </p:nvSpPr>
        <p:spPr/>
        <p:txBody>
          <a:bodyPr/>
          <a:lstStyle/>
          <a:p>
            <a:r>
              <a:rPr lang="en-US" altLang="en-US"/>
              <a:t>Truth Tables for Gates (3)</a:t>
            </a:r>
            <a:endParaRPr lang="ru-RU" altLang="en-US"/>
          </a:p>
        </p:txBody>
      </p:sp>
      <p:grpSp>
        <p:nvGrpSpPr>
          <p:cNvPr id="45060" name="Group 76">
            <a:extLst>
              <a:ext uri="{FF2B5EF4-FFF2-40B4-BE49-F238E27FC236}">
                <a16:creationId xmlns:a16="http://schemas.microsoft.com/office/drawing/2014/main" id="{7F2F2D05-155E-0E12-4E41-286A083E99B1}"/>
              </a:ext>
            </a:extLst>
          </p:cNvPr>
          <p:cNvGrpSpPr>
            <a:grpSpLocks/>
          </p:cNvGrpSpPr>
          <p:nvPr/>
        </p:nvGrpSpPr>
        <p:grpSpPr bwMode="auto">
          <a:xfrm>
            <a:off x="2514601" y="1905000"/>
            <a:ext cx="7089775" cy="2743200"/>
            <a:chOff x="624" y="1056"/>
            <a:chExt cx="4466" cy="1728"/>
          </a:xfrm>
        </p:grpSpPr>
        <p:sp>
          <p:nvSpPr>
            <p:cNvPr id="45061" name="Rectangle 6">
              <a:extLst>
                <a:ext uri="{FF2B5EF4-FFF2-40B4-BE49-F238E27FC236}">
                  <a16:creationId xmlns:a16="http://schemas.microsoft.com/office/drawing/2014/main" id="{8D5CD60E-9BDC-0963-EFCF-AC9DAA1D5FB2}"/>
                </a:ext>
              </a:extLst>
            </p:cNvPr>
            <p:cNvSpPr>
              <a:spLocks noChangeArrowheads="1"/>
            </p:cNvSpPr>
            <p:nvPr/>
          </p:nvSpPr>
          <p:spPr bwMode="auto">
            <a:xfrm>
              <a:off x="919" y="1384"/>
              <a:ext cx="1360" cy="1360"/>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5062" name="Line 7">
              <a:extLst>
                <a:ext uri="{FF2B5EF4-FFF2-40B4-BE49-F238E27FC236}">
                  <a16:creationId xmlns:a16="http://schemas.microsoft.com/office/drawing/2014/main" id="{60523504-9872-8A7E-37DC-9C01B5196EE4}"/>
                </a:ext>
              </a:extLst>
            </p:cNvPr>
            <p:cNvSpPr>
              <a:spLocks noChangeShapeType="1"/>
            </p:cNvSpPr>
            <p:nvPr/>
          </p:nvSpPr>
          <p:spPr bwMode="auto">
            <a:xfrm>
              <a:off x="1599" y="1384"/>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3" name="Line 8">
              <a:extLst>
                <a:ext uri="{FF2B5EF4-FFF2-40B4-BE49-F238E27FC236}">
                  <a16:creationId xmlns:a16="http://schemas.microsoft.com/office/drawing/2014/main" id="{B43C5B98-C334-AAE2-8CE8-88F80EEED747}"/>
                </a:ext>
              </a:extLst>
            </p:cNvPr>
            <p:cNvSpPr>
              <a:spLocks noChangeShapeType="1"/>
            </p:cNvSpPr>
            <p:nvPr/>
          </p:nvSpPr>
          <p:spPr bwMode="auto">
            <a:xfrm>
              <a:off x="1252" y="1384"/>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4" name="Line 9">
              <a:extLst>
                <a:ext uri="{FF2B5EF4-FFF2-40B4-BE49-F238E27FC236}">
                  <a16:creationId xmlns:a16="http://schemas.microsoft.com/office/drawing/2014/main" id="{519E58DF-A242-264D-249F-5932B4DA469F}"/>
                </a:ext>
              </a:extLst>
            </p:cNvPr>
            <p:cNvSpPr>
              <a:spLocks noChangeShapeType="1"/>
            </p:cNvSpPr>
            <p:nvPr/>
          </p:nvSpPr>
          <p:spPr bwMode="auto">
            <a:xfrm>
              <a:off x="1947" y="1375"/>
              <a:ext cx="0" cy="1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5" name="Line 10">
              <a:extLst>
                <a:ext uri="{FF2B5EF4-FFF2-40B4-BE49-F238E27FC236}">
                  <a16:creationId xmlns:a16="http://schemas.microsoft.com/office/drawing/2014/main" id="{BC052361-AF6A-25AA-CF98-E778201FAF77}"/>
                </a:ext>
              </a:extLst>
            </p:cNvPr>
            <p:cNvSpPr>
              <a:spLocks noChangeShapeType="1"/>
            </p:cNvSpPr>
            <p:nvPr/>
          </p:nvSpPr>
          <p:spPr bwMode="auto">
            <a:xfrm>
              <a:off x="919" y="2046"/>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6" name="Line 11">
              <a:extLst>
                <a:ext uri="{FF2B5EF4-FFF2-40B4-BE49-F238E27FC236}">
                  <a16:creationId xmlns:a16="http://schemas.microsoft.com/office/drawing/2014/main" id="{8CB671E4-0B8E-1249-556F-DD06F96E1563}"/>
                </a:ext>
              </a:extLst>
            </p:cNvPr>
            <p:cNvSpPr>
              <a:spLocks noChangeShapeType="1"/>
            </p:cNvSpPr>
            <p:nvPr/>
          </p:nvSpPr>
          <p:spPr bwMode="auto">
            <a:xfrm>
              <a:off x="919" y="1707"/>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7" name="Line 12">
              <a:extLst>
                <a:ext uri="{FF2B5EF4-FFF2-40B4-BE49-F238E27FC236}">
                  <a16:creationId xmlns:a16="http://schemas.microsoft.com/office/drawing/2014/main" id="{969395A9-4411-65A7-9A54-42FF038CD917}"/>
                </a:ext>
              </a:extLst>
            </p:cNvPr>
            <p:cNvSpPr>
              <a:spLocks noChangeShapeType="1"/>
            </p:cNvSpPr>
            <p:nvPr/>
          </p:nvSpPr>
          <p:spPr bwMode="auto">
            <a:xfrm>
              <a:off x="919" y="2382"/>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8" name="Line 13">
              <a:extLst>
                <a:ext uri="{FF2B5EF4-FFF2-40B4-BE49-F238E27FC236}">
                  <a16:creationId xmlns:a16="http://schemas.microsoft.com/office/drawing/2014/main" id="{F59112AA-0425-49F2-0402-FED810CA4A4D}"/>
                </a:ext>
              </a:extLst>
            </p:cNvPr>
            <p:cNvSpPr>
              <a:spLocks noChangeShapeType="1"/>
            </p:cNvSpPr>
            <p:nvPr/>
          </p:nvSpPr>
          <p:spPr bwMode="auto">
            <a:xfrm flipH="1" flipV="1">
              <a:off x="737" y="1202"/>
              <a:ext cx="182"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9" name="Text Box 14">
              <a:extLst>
                <a:ext uri="{FF2B5EF4-FFF2-40B4-BE49-F238E27FC236}">
                  <a16:creationId xmlns:a16="http://schemas.microsoft.com/office/drawing/2014/main" id="{F819345E-5F1E-4810-0B5D-76339382AD36}"/>
                </a:ext>
              </a:extLst>
            </p:cNvPr>
            <p:cNvSpPr txBox="1">
              <a:spLocks noChangeArrowheads="1"/>
            </p:cNvSpPr>
            <p:nvPr/>
          </p:nvSpPr>
          <p:spPr bwMode="auto">
            <a:xfrm>
              <a:off x="624" y="1293"/>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in1</a:t>
              </a:r>
              <a:endParaRPr lang="ru-RU" altLang="en-US" sz="1800"/>
            </a:p>
          </p:txBody>
        </p:sp>
        <p:sp>
          <p:nvSpPr>
            <p:cNvPr id="45070" name="Text Box 15">
              <a:extLst>
                <a:ext uri="{FF2B5EF4-FFF2-40B4-BE49-F238E27FC236}">
                  <a16:creationId xmlns:a16="http://schemas.microsoft.com/office/drawing/2014/main" id="{BEE9D56E-BE8C-6B29-12C6-3AE96AD959A0}"/>
                </a:ext>
              </a:extLst>
            </p:cNvPr>
            <p:cNvSpPr txBox="1">
              <a:spLocks noChangeArrowheads="1"/>
            </p:cNvSpPr>
            <p:nvPr/>
          </p:nvSpPr>
          <p:spPr bwMode="auto">
            <a:xfrm>
              <a:off x="771" y="1056"/>
              <a:ext cx="43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in2</a:t>
              </a:r>
              <a:endParaRPr lang="ru-RU" altLang="en-US" sz="1800"/>
            </a:p>
          </p:txBody>
        </p:sp>
        <p:sp>
          <p:nvSpPr>
            <p:cNvPr id="45071" name="Text Box 16">
              <a:extLst>
                <a:ext uri="{FF2B5EF4-FFF2-40B4-BE49-F238E27FC236}">
                  <a16:creationId xmlns:a16="http://schemas.microsoft.com/office/drawing/2014/main" id="{C4CD5A18-B4A6-DC4E-C09D-547D8F4350FE}"/>
                </a:ext>
              </a:extLst>
            </p:cNvPr>
            <p:cNvSpPr txBox="1">
              <a:spLocks noChangeArrowheads="1"/>
            </p:cNvSpPr>
            <p:nvPr/>
          </p:nvSpPr>
          <p:spPr bwMode="auto">
            <a:xfrm>
              <a:off x="972" y="115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5072" name="Text Box 17">
              <a:extLst>
                <a:ext uri="{FF2B5EF4-FFF2-40B4-BE49-F238E27FC236}">
                  <a16:creationId xmlns:a16="http://schemas.microsoft.com/office/drawing/2014/main" id="{9C18E96E-269C-78A1-2832-1EFAE778FADC}"/>
                </a:ext>
              </a:extLst>
            </p:cNvPr>
            <p:cNvSpPr txBox="1">
              <a:spLocks noChangeArrowheads="1"/>
            </p:cNvSpPr>
            <p:nvPr/>
          </p:nvSpPr>
          <p:spPr bwMode="auto">
            <a:xfrm>
              <a:off x="1281" y="1157"/>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5073" name="Text Box 18">
              <a:extLst>
                <a:ext uri="{FF2B5EF4-FFF2-40B4-BE49-F238E27FC236}">
                  <a16:creationId xmlns:a16="http://schemas.microsoft.com/office/drawing/2014/main" id="{E7ECC84A-4C5F-E461-EE00-C515677E48B2}"/>
                </a:ext>
              </a:extLst>
            </p:cNvPr>
            <p:cNvSpPr txBox="1">
              <a:spLocks noChangeArrowheads="1"/>
            </p:cNvSpPr>
            <p:nvPr/>
          </p:nvSpPr>
          <p:spPr bwMode="auto">
            <a:xfrm>
              <a:off x="1667" y="113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74" name="Text Box 19">
              <a:extLst>
                <a:ext uri="{FF2B5EF4-FFF2-40B4-BE49-F238E27FC236}">
                  <a16:creationId xmlns:a16="http://schemas.microsoft.com/office/drawing/2014/main" id="{0D1E50EC-DE28-2C2B-EAA5-966A294D2030}"/>
                </a:ext>
              </a:extLst>
            </p:cNvPr>
            <p:cNvSpPr txBox="1">
              <a:spLocks noChangeArrowheads="1"/>
            </p:cNvSpPr>
            <p:nvPr/>
          </p:nvSpPr>
          <p:spPr bwMode="auto">
            <a:xfrm>
              <a:off x="1984" y="1138"/>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5075" name="Text Box 20">
              <a:extLst>
                <a:ext uri="{FF2B5EF4-FFF2-40B4-BE49-F238E27FC236}">
                  <a16:creationId xmlns:a16="http://schemas.microsoft.com/office/drawing/2014/main" id="{B5701651-5CE4-6491-FC75-80C028CAE86A}"/>
                </a:ext>
              </a:extLst>
            </p:cNvPr>
            <p:cNvSpPr txBox="1">
              <a:spLocks noChangeArrowheads="1"/>
            </p:cNvSpPr>
            <p:nvPr/>
          </p:nvSpPr>
          <p:spPr bwMode="auto">
            <a:xfrm>
              <a:off x="661" y="1458"/>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5076" name="Text Box 21">
              <a:extLst>
                <a:ext uri="{FF2B5EF4-FFF2-40B4-BE49-F238E27FC236}">
                  <a16:creationId xmlns:a16="http://schemas.microsoft.com/office/drawing/2014/main" id="{E23DBCCC-FCBD-65A9-F5C5-0999E9277AC5}"/>
                </a:ext>
              </a:extLst>
            </p:cNvPr>
            <p:cNvSpPr txBox="1">
              <a:spLocks noChangeArrowheads="1"/>
            </p:cNvSpPr>
            <p:nvPr/>
          </p:nvSpPr>
          <p:spPr bwMode="auto">
            <a:xfrm>
              <a:off x="668" y="175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5077" name="Text Box 22">
              <a:extLst>
                <a:ext uri="{FF2B5EF4-FFF2-40B4-BE49-F238E27FC236}">
                  <a16:creationId xmlns:a16="http://schemas.microsoft.com/office/drawing/2014/main" id="{31A194C1-F674-8B66-050F-2AD859ED3DCB}"/>
                </a:ext>
              </a:extLst>
            </p:cNvPr>
            <p:cNvSpPr txBox="1">
              <a:spLocks noChangeArrowheads="1"/>
            </p:cNvSpPr>
            <p:nvPr/>
          </p:nvSpPr>
          <p:spPr bwMode="auto">
            <a:xfrm>
              <a:off x="659" y="207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78" name="Text Box 23">
              <a:extLst>
                <a:ext uri="{FF2B5EF4-FFF2-40B4-BE49-F238E27FC236}">
                  <a16:creationId xmlns:a16="http://schemas.microsoft.com/office/drawing/2014/main" id="{2D5E1821-AAA9-9C19-A0BD-C3CD935AB1BF}"/>
                </a:ext>
              </a:extLst>
            </p:cNvPr>
            <p:cNvSpPr txBox="1">
              <a:spLocks noChangeArrowheads="1"/>
            </p:cNvSpPr>
            <p:nvPr/>
          </p:nvSpPr>
          <p:spPr bwMode="auto">
            <a:xfrm>
              <a:off x="646" y="2427"/>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5079" name="Text Box 24">
              <a:extLst>
                <a:ext uri="{FF2B5EF4-FFF2-40B4-BE49-F238E27FC236}">
                  <a16:creationId xmlns:a16="http://schemas.microsoft.com/office/drawing/2014/main" id="{A7E8D520-FE7B-1B18-8C01-5AA4A1CE653A}"/>
                </a:ext>
              </a:extLst>
            </p:cNvPr>
            <p:cNvSpPr txBox="1">
              <a:spLocks noChangeArrowheads="1"/>
            </p:cNvSpPr>
            <p:nvPr/>
          </p:nvSpPr>
          <p:spPr bwMode="auto">
            <a:xfrm>
              <a:off x="963" y="143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5080" name="Text Box 25">
              <a:extLst>
                <a:ext uri="{FF2B5EF4-FFF2-40B4-BE49-F238E27FC236}">
                  <a16:creationId xmlns:a16="http://schemas.microsoft.com/office/drawing/2014/main" id="{6D4B6A9B-4B8F-53FC-F0FE-DE7F6395F407}"/>
                </a:ext>
              </a:extLst>
            </p:cNvPr>
            <p:cNvSpPr txBox="1">
              <a:spLocks noChangeArrowheads="1"/>
            </p:cNvSpPr>
            <p:nvPr/>
          </p:nvSpPr>
          <p:spPr bwMode="auto">
            <a:xfrm>
              <a:off x="1328" y="143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5081" name="Text Box 26">
              <a:extLst>
                <a:ext uri="{FF2B5EF4-FFF2-40B4-BE49-F238E27FC236}">
                  <a16:creationId xmlns:a16="http://schemas.microsoft.com/office/drawing/2014/main" id="{23D473F7-B786-1AD1-0785-6C649E91244A}"/>
                </a:ext>
              </a:extLst>
            </p:cNvPr>
            <p:cNvSpPr txBox="1">
              <a:spLocks noChangeArrowheads="1"/>
            </p:cNvSpPr>
            <p:nvPr/>
          </p:nvSpPr>
          <p:spPr bwMode="auto">
            <a:xfrm>
              <a:off x="1667" y="143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82" name="Text Box 27">
              <a:extLst>
                <a:ext uri="{FF2B5EF4-FFF2-40B4-BE49-F238E27FC236}">
                  <a16:creationId xmlns:a16="http://schemas.microsoft.com/office/drawing/2014/main" id="{831BC9E1-012C-612A-519A-119E4AE71CD9}"/>
                </a:ext>
              </a:extLst>
            </p:cNvPr>
            <p:cNvSpPr txBox="1">
              <a:spLocks noChangeArrowheads="1"/>
            </p:cNvSpPr>
            <p:nvPr/>
          </p:nvSpPr>
          <p:spPr bwMode="auto">
            <a:xfrm>
              <a:off x="1984" y="143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83" name="Text Box 28">
              <a:extLst>
                <a:ext uri="{FF2B5EF4-FFF2-40B4-BE49-F238E27FC236}">
                  <a16:creationId xmlns:a16="http://schemas.microsoft.com/office/drawing/2014/main" id="{065A3E63-85C0-CC78-AF40-004172C0FE45}"/>
                </a:ext>
              </a:extLst>
            </p:cNvPr>
            <p:cNvSpPr txBox="1">
              <a:spLocks noChangeArrowheads="1"/>
            </p:cNvSpPr>
            <p:nvPr/>
          </p:nvSpPr>
          <p:spPr bwMode="auto">
            <a:xfrm>
              <a:off x="954" y="1760"/>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5084" name="Text Box 29">
              <a:extLst>
                <a:ext uri="{FF2B5EF4-FFF2-40B4-BE49-F238E27FC236}">
                  <a16:creationId xmlns:a16="http://schemas.microsoft.com/office/drawing/2014/main" id="{4E02A3F6-91D5-6B59-ACD7-B096EB4BAED5}"/>
                </a:ext>
              </a:extLst>
            </p:cNvPr>
            <p:cNvSpPr txBox="1">
              <a:spLocks noChangeArrowheads="1"/>
            </p:cNvSpPr>
            <p:nvPr/>
          </p:nvSpPr>
          <p:spPr bwMode="auto">
            <a:xfrm>
              <a:off x="1308" y="175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5085" name="Text Box 30">
              <a:extLst>
                <a:ext uri="{FF2B5EF4-FFF2-40B4-BE49-F238E27FC236}">
                  <a16:creationId xmlns:a16="http://schemas.microsoft.com/office/drawing/2014/main" id="{B19F11DA-52E2-F496-FD18-D32A642E64B3}"/>
                </a:ext>
              </a:extLst>
            </p:cNvPr>
            <p:cNvSpPr txBox="1">
              <a:spLocks noChangeArrowheads="1"/>
            </p:cNvSpPr>
            <p:nvPr/>
          </p:nvSpPr>
          <p:spPr bwMode="auto">
            <a:xfrm>
              <a:off x="1667" y="1747"/>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86" name="Text Box 31">
              <a:extLst>
                <a:ext uri="{FF2B5EF4-FFF2-40B4-BE49-F238E27FC236}">
                  <a16:creationId xmlns:a16="http://schemas.microsoft.com/office/drawing/2014/main" id="{71E83DAD-2DC0-9955-08E0-5FB8FAEC6B07}"/>
                </a:ext>
              </a:extLst>
            </p:cNvPr>
            <p:cNvSpPr txBox="1">
              <a:spLocks noChangeArrowheads="1"/>
            </p:cNvSpPr>
            <p:nvPr/>
          </p:nvSpPr>
          <p:spPr bwMode="auto">
            <a:xfrm>
              <a:off x="1959" y="1747"/>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87" name="Text Box 32">
              <a:extLst>
                <a:ext uri="{FF2B5EF4-FFF2-40B4-BE49-F238E27FC236}">
                  <a16:creationId xmlns:a16="http://schemas.microsoft.com/office/drawing/2014/main" id="{04C53DAB-BB93-1B8D-45EB-A9DD66E3F496}"/>
                </a:ext>
              </a:extLst>
            </p:cNvPr>
            <p:cNvSpPr txBox="1">
              <a:spLocks noChangeArrowheads="1"/>
            </p:cNvSpPr>
            <p:nvPr/>
          </p:nvSpPr>
          <p:spPr bwMode="auto">
            <a:xfrm>
              <a:off x="953" y="2077"/>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88" name="Text Box 33">
              <a:extLst>
                <a:ext uri="{FF2B5EF4-FFF2-40B4-BE49-F238E27FC236}">
                  <a16:creationId xmlns:a16="http://schemas.microsoft.com/office/drawing/2014/main" id="{F63A615E-07C7-CFAF-B5EB-63671E5B6A59}"/>
                </a:ext>
              </a:extLst>
            </p:cNvPr>
            <p:cNvSpPr txBox="1">
              <a:spLocks noChangeArrowheads="1"/>
            </p:cNvSpPr>
            <p:nvPr/>
          </p:nvSpPr>
          <p:spPr bwMode="auto">
            <a:xfrm>
              <a:off x="1327" y="208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89" name="Text Box 34">
              <a:extLst>
                <a:ext uri="{FF2B5EF4-FFF2-40B4-BE49-F238E27FC236}">
                  <a16:creationId xmlns:a16="http://schemas.microsoft.com/office/drawing/2014/main" id="{A3439866-6D45-19EA-1005-5C4F0E4496E6}"/>
                </a:ext>
              </a:extLst>
            </p:cNvPr>
            <p:cNvSpPr txBox="1">
              <a:spLocks noChangeArrowheads="1"/>
            </p:cNvSpPr>
            <p:nvPr/>
          </p:nvSpPr>
          <p:spPr bwMode="auto">
            <a:xfrm>
              <a:off x="1665" y="208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90" name="Text Box 35">
              <a:extLst>
                <a:ext uri="{FF2B5EF4-FFF2-40B4-BE49-F238E27FC236}">
                  <a16:creationId xmlns:a16="http://schemas.microsoft.com/office/drawing/2014/main" id="{A2B9ED46-F12C-CD6F-D096-202B88AEE984}"/>
                </a:ext>
              </a:extLst>
            </p:cNvPr>
            <p:cNvSpPr txBox="1">
              <a:spLocks noChangeArrowheads="1"/>
            </p:cNvSpPr>
            <p:nvPr/>
          </p:nvSpPr>
          <p:spPr bwMode="auto">
            <a:xfrm>
              <a:off x="1984" y="208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91" name="Text Box 36">
              <a:extLst>
                <a:ext uri="{FF2B5EF4-FFF2-40B4-BE49-F238E27FC236}">
                  <a16:creationId xmlns:a16="http://schemas.microsoft.com/office/drawing/2014/main" id="{DE511A71-6B5A-5FF8-2E91-FA37386212E0}"/>
                </a:ext>
              </a:extLst>
            </p:cNvPr>
            <p:cNvSpPr txBox="1">
              <a:spLocks noChangeArrowheads="1"/>
            </p:cNvSpPr>
            <p:nvPr/>
          </p:nvSpPr>
          <p:spPr bwMode="auto">
            <a:xfrm>
              <a:off x="1318" y="241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92" name="Text Box 37">
              <a:extLst>
                <a:ext uri="{FF2B5EF4-FFF2-40B4-BE49-F238E27FC236}">
                  <a16:creationId xmlns:a16="http://schemas.microsoft.com/office/drawing/2014/main" id="{D0E001EC-CE8E-DC54-42F9-59DE26050E6A}"/>
                </a:ext>
              </a:extLst>
            </p:cNvPr>
            <p:cNvSpPr txBox="1">
              <a:spLocks noChangeArrowheads="1"/>
            </p:cNvSpPr>
            <p:nvPr/>
          </p:nvSpPr>
          <p:spPr bwMode="auto">
            <a:xfrm>
              <a:off x="1646" y="241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93" name="Text Box 38">
              <a:extLst>
                <a:ext uri="{FF2B5EF4-FFF2-40B4-BE49-F238E27FC236}">
                  <a16:creationId xmlns:a16="http://schemas.microsoft.com/office/drawing/2014/main" id="{CFD8377D-5BA5-5E8B-871F-0FB6E50AF9B2}"/>
                </a:ext>
              </a:extLst>
            </p:cNvPr>
            <p:cNvSpPr txBox="1">
              <a:spLocks noChangeArrowheads="1"/>
            </p:cNvSpPr>
            <p:nvPr/>
          </p:nvSpPr>
          <p:spPr bwMode="auto">
            <a:xfrm>
              <a:off x="2011" y="241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94" name="Text Box 39">
              <a:extLst>
                <a:ext uri="{FF2B5EF4-FFF2-40B4-BE49-F238E27FC236}">
                  <a16:creationId xmlns:a16="http://schemas.microsoft.com/office/drawing/2014/main" id="{41C359D9-20E1-8540-8B40-55A543E619AB}"/>
                </a:ext>
              </a:extLst>
            </p:cNvPr>
            <p:cNvSpPr txBox="1">
              <a:spLocks noChangeArrowheads="1"/>
            </p:cNvSpPr>
            <p:nvPr/>
          </p:nvSpPr>
          <p:spPr bwMode="auto">
            <a:xfrm>
              <a:off x="972" y="244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095" name="Rectangle 41">
              <a:extLst>
                <a:ext uri="{FF2B5EF4-FFF2-40B4-BE49-F238E27FC236}">
                  <a16:creationId xmlns:a16="http://schemas.microsoft.com/office/drawing/2014/main" id="{88B26002-F573-9651-7424-8891A9308A1C}"/>
                </a:ext>
              </a:extLst>
            </p:cNvPr>
            <p:cNvSpPr>
              <a:spLocks noChangeArrowheads="1"/>
            </p:cNvSpPr>
            <p:nvPr/>
          </p:nvSpPr>
          <p:spPr bwMode="auto">
            <a:xfrm>
              <a:off x="3703" y="1361"/>
              <a:ext cx="1360" cy="1423"/>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5096" name="Line 42">
              <a:extLst>
                <a:ext uri="{FF2B5EF4-FFF2-40B4-BE49-F238E27FC236}">
                  <a16:creationId xmlns:a16="http://schemas.microsoft.com/office/drawing/2014/main" id="{C1B94AF3-B3A5-82BB-DF25-410E44EAF788}"/>
                </a:ext>
              </a:extLst>
            </p:cNvPr>
            <p:cNvSpPr>
              <a:spLocks noChangeShapeType="1"/>
            </p:cNvSpPr>
            <p:nvPr/>
          </p:nvSpPr>
          <p:spPr bwMode="auto">
            <a:xfrm>
              <a:off x="4383" y="1361"/>
              <a:ext cx="0" cy="14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97" name="Line 43">
              <a:extLst>
                <a:ext uri="{FF2B5EF4-FFF2-40B4-BE49-F238E27FC236}">
                  <a16:creationId xmlns:a16="http://schemas.microsoft.com/office/drawing/2014/main" id="{A1F973C9-A534-151D-499B-1E59BE42A58B}"/>
                </a:ext>
              </a:extLst>
            </p:cNvPr>
            <p:cNvSpPr>
              <a:spLocks noChangeShapeType="1"/>
            </p:cNvSpPr>
            <p:nvPr/>
          </p:nvSpPr>
          <p:spPr bwMode="auto">
            <a:xfrm>
              <a:off x="4036" y="1361"/>
              <a:ext cx="0" cy="14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98" name="Line 44">
              <a:extLst>
                <a:ext uri="{FF2B5EF4-FFF2-40B4-BE49-F238E27FC236}">
                  <a16:creationId xmlns:a16="http://schemas.microsoft.com/office/drawing/2014/main" id="{662FF861-FAE9-5C0C-DB81-7740572A90E7}"/>
                </a:ext>
              </a:extLst>
            </p:cNvPr>
            <p:cNvSpPr>
              <a:spLocks noChangeShapeType="1"/>
            </p:cNvSpPr>
            <p:nvPr/>
          </p:nvSpPr>
          <p:spPr bwMode="auto">
            <a:xfrm>
              <a:off x="4731" y="1352"/>
              <a:ext cx="0" cy="14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99" name="Line 45">
              <a:extLst>
                <a:ext uri="{FF2B5EF4-FFF2-40B4-BE49-F238E27FC236}">
                  <a16:creationId xmlns:a16="http://schemas.microsoft.com/office/drawing/2014/main" id="{086E3B36-351D-0704-7A11-E5142436BA36}"/>
                </a:ext>
              </a:extLst>
            </p:cNvPr>
            <p:cNvSpPr>
              <a:spLocks noChangeShapeType="1"/>
            </p:cNvSpPr>
            <p:nvPr/>
          </p:nvSpPr>
          <p:spPr bwMode="auto">
            <a:xfrm>
              <a:off x="3703" y="2054"/>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0" name="Line 46">
              <a:extLst>
                <a:ext uri="{FF2B5EF4-FFF2-40B4-BE49-F238E27FC236}">
                  <a16:creationId xmlns:a16="http://schemas.microsoft.com/office/drawing/2014/main" id="{9399B36C-02F1-CF67-D464-E6675B4534FF}"/>
                </a:ext>
              </a:extLst>
            </p:cNvPr>
            <p:cNvSpPr>
              <a:spLocks noChangeShapeType="1"/>
            </p:cNvSpPr>
            <p:nvPr/>
          </p:nvSpPr>
          <p:spPr bwMode="auto">
            <a:xfrm>
              <a:off x="3703" y="1699"/>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1" name="Line 47">
              <a:extLst>
                <a:ext uri="{FF2B5EF4-FFF2-40B4-BE49-F238E27FC236}">
                  <a16:creationId xmlns:a16="http://schemas.microsoft.com/office/drawing/2014/main" id="{C1E35688-1787-6239-CF1A-F77A1766711B}"/>
                </a:ext>
              </a:extLst>
            </p:cNvPr>
            <p:cNvSpPr>
              <a:spLocks noChangeShapeType="1"/>
            </p:cNvSpPr>
            <p:nvPr/>
          </p:nvSpPr>
          <p:spPr bwMode="auto">
            <a:xfrm>
              <a:off x="3703" y="2405"/>
              <a:ext cx="13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2" name="Line 48">
              <a:extLst>
                <a:ext uri="{FF2B5EF4-FFF2-40B4-BE49-F238E27FC236}">
                  <a16:creationId xmlns:a16="http://schemas.microsoft.com/office/drawing/2014/main" id="{9D06219E-94E8-4E9C-FD36-98900D453415}"/>
                </a:ext>
              </a:extLst>
            </p:cNvPr>
            <p:cNvSpPr>
              <a:spLocks noChangeShapeType="1"/>
            </p:cNvSpPr>
            <p:nvPr/>
          </p:nvSpPr>
          <p:spPr bwMode="auto">
            <a:xfrm flipH="1" flipV="1">
              <a:off x="3521" y="1171"/>
              <a:ext cx="182" cy="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3" name="Text Box 49">
              <a:extLst>
                <a:ext uri="{FF2B5EF4-FFF2-40B4-BE49-F238E27FC236}">
                  <a16:creationId xmlns:a16="http://schemas.microsoft.com/office/drawing/2014/main" id="{32182221-4158-119C-18BE-5ED2D58CE557}"/>
                </a:ext>
              </a:extLst>
            </p:cNvPr>
            <p:cNvSpPr txBox="1">
              <a:spLocks noChangeArrowheads="1"/>
            </p:cNvSpPr>
            <p:nvPr/>
          </p:nvSpPr>
          <p:spPr bwMode="auto">
            <a:xfrm>
              <a:off x="3408" y="1266"/>
              <a:ext cx="6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in1</a:t>
              </a:r>
              <a:endParaRPr lang="ru-RU" altLang="en-US" sz="1800"/>
            </a:p>
          </p:txBody>
        </p:sp>
        <p:sp>
          <p:nvSpPr>
            <p:cNvPr id="45104" name="Text Box 50">
              <a:extLst>
                <a:ext uri="{FF2B5EF4-FFF2-40B4-BE49-F238E27FC236}">
                  <a16:creationId xmlns:a16="http://schemas.microsoft.com/office/drawing/2014/main" id="{91264A80-33E1-FA2D-FA62-7A33C34FC3C2}"/>
                </a:ext>
              </a:extLst>
            </p:cNvPr>
            <p:cNvSpPr txBox="1">
              <a:spLocks noChangeArrowheads="1"/>
            </p:cNvSpPr>
            <p:nvPr/>
          </p:nvSpPr>
          <p:spPr bwMode="auto">
            <a:xfrm>
              <a:off x="3544" y="1056"/>
              <a:ext cx="4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in2</a:t>
              </a:r>
              <a:endParaRPr lang="ru-RU" altLang="en-US" sz="1800"/>
            </a:p>
          </p:txBody>
        </p:sp>
        <p:sp>
          <p:nvSpPr>
            <p:cNvPr id="45105" name="Text Box 51">
              <a:extLst>
                <a:ext uri="{FF2B5EF4-FFF2-40B4-BE49-F238E27FC236}">
                  <a16:creationId xmlns:a16="http://schemas.microsoft.com/office/drawing/2014/main" id="{0F16DB29-1A0C-0C79-6232-65B11CDB3243}"/>
                </a:ext>
              </a:extLst>
            </p:cNvPr>
            <p:cNvSpPr txBox="1">
              <a:spLocks noChangeArrowheads="1"/>
            </p:cNvSpPr>
            <p:nvPr/>
          </p:nvSpPr>
          <p:spPr bwMode="auto">
            <a:xfrm>
              <a:off x="3756" y="1123"/>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5106" name="Text Box 52">
              <a:extLst>
                <a:ext uri="{FF2B5EF4-FFF2-40B4-BE49-F238E27FC236}">
                  <a16:creationId xmlns:a16="http://schemas.microsoft.com/office/drawing/2014/main" id="{14FB4135-003B-8C4C-6AC8-EE169CBC2FF7}"/>
                </a:ext>
              </a:extLst>
            </p:cNvPr>
            <p:cNvSpPr txBox="1">
              <a:spLocks noChangeArrowheads="1"/>
            </p:cNvSpPr>
            <p:nvPr/>
          </p:nvSpPr>
          <p:spPr bwMode="auto">
            <a:xfrm>
              <a:off x="4065" y="112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5107" name="Text Box 53">
              <a:extLst>
                <a:ext uri="{FF2B5EF4-FFF2-40B4-BE49-F238E27FC236}">
                  <a16:creationId xmlns:a16="http://schemas.microsoft.com/office/drawing/2014/main" id="{B7B48F45-37AD-8105-6199-7D8223CFEBCA}"/>
                </a:ext>
              </a:extLst>
            </p:cNvPr>
            <p:cNvSpPr txBox="1">
              <a:spLocks noChangeArrowheads="1"/>
            </p:cNvSpPr>
            <p:nvPr/>
          </p:nvSpPr>
          <p:spPr bwMode="auto">
            <a:xfrm>
              <a:off x="4451" y="110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08" name="Text Box 54">
              <a:extLst>
                <a:ext uri="{FF2B5EF4-FFF2-40B4-BE49-F238E27FC236}">
                  <a16:creationId xmlns:a16="http://schemas.microsoft.com/office/drawing/2014/main" id="{B252E253-469A-AFB9-E5CF-6FD787803007}"/>
                </a:ext>
              </a:extLst>
            </p:cNvPr>
            <p:cNvSpPr txBox="1">
              <a:spLocks noChangeArrowheads="1"/>
            </p:cNvSpPr>
            <p:nvPr/>
          </p:nvSpPr>
          <p:spPr bwMode="auto">
            <a:xfrm>
              <a:off x="4768" y="1104"/>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5109" name="Text Box 55">
              <a:extLst>
                <a:ext uri="{FF2B5EF4-FFF2-40B4-BE49-F238E27FC236}">
                  <a16:creationId xmlns:a16="http://schemas.microsoft.com/office/drawing/2014/main" id="{FFEF0233-7546-DFF1-232E-DF761229712C}"/>
                </a:ext>
              </a:extLst>
            </p:cNvPr>
            <p:cNvSpPr txBox="1">
              <a:spLocks noChangeArrowheads="1"/>
            </p:cNvSpPr>
            <p:nvPr/>
          </p:nvSpPr>
          <p:spPr bwMode="auto">
            <a:xfrm>
              <a:off x="3445" y="1439"/>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5110" name="Text Box 56">
              <a:extLst>
                <a:ext uri="{FF2B5EF4-FFF2-40B4-BE49-F238E27FC236}">
                  <a16:creationId xmlns:a16="http://schemas.microsoft.com/office/drawing/2014/main" id="{96F7520A-7DA3-BE44-854A-ECCBEBC0B734}"/>
                </a:ext>
              </a:extLst>
            </p:cNvPr>
            <p:cNvSpPr txBox="1">
              <a:spLocks noChangeArrowheads="1"/>
            </p:cNvSpPr>
            <p:nvPr/>
          </p:nvSpPr>
          <p:spPr bwMode="auto">
            <a:xfrm>
              <a:off x="3452" y="174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5111" name="Text Box 57">
              <a:extLst>
                <a:ext uri="{FF2B5EF4-FFF2-40B4-BE49-F238E27FC236}">
                  <a16:creationId xmlns:a16="http://schemas.microsoft.com/office/drawing/2014/main" id="{C6998A22-1C93-1436-2FF3-8CDA441FFD01}"/>
                </a:ext>
              </a:extLst>
            </p:cNvPr>
            <p:cNvSpPr txBox="1">
              <a:spLocks noChangeArrowheads="1"/>
            </p:cNvSpPr>
            <p:nvPr/>
          </p:nvSpPr>
          <p:spPr bwMode="auto">
            <a:xfrm>
              <a:off x="3443" y="2080"/>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12" name="Text Box 58">
              <a:extLst>
                <a:ext uri="{FF2B5EF4-FFF2-40B4-BE49-F238E27FC236}">
                  <a16:creationId xmlns:a16="http://schemas.microsoft.com/office/drawing/2014/main" id="{55414B29-AD1F-7105-A6D0-57733CDDE4E2}"/>
                </a:ext>
              </a:extLst>
            </p:cNvPr>
            <p:cNvSpPr txBox="1">
              <a:spLocks noChangeArrowheads="1"/>
            </p:cNvSpPr>
            <p:nvPr/>
          </p:nvSpPr>
          <p:spPr bwMode="auto">
            <a:xfrm>
              <a:off x="3430" y="2452"/>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z</a:t>
              </a:r>
              <a:endParaRPr lang="ru-RU" altLang="en-US"/>
            </a:p>
          </p:txBody>
        </p:sp>
        <p:sp>
          <p:nvSpPr>
            <p:cNvPr id="45113" name="Text Box 59">
              <a:extLst>
                <a:ext uri="{FF2B5EF4-FFF2-40B4-BE49-F238E27FC236}">
                  <a16:creationId xmlns:a16="http://schemas.microsoft.com/office/drawing/2014/main" id="{48F6E647-BD98-0BCB-301B-B4C6D92622BA}"/>
                </a:ext>
              </a:extLst>
            </p:cNvPr>
            <p:cNvSpPr txBox="1">
              <a:spLocks noChangeArrowheads="1"/>
            </p:cNvSpPr>
            <p:nvPr/>
          </p:nvSpPr>
          <p:spPr bwMode="auto">
            <a:xfrm>
              <a:off x="3747" y="141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5114" name="Text Box 60">
              <a:extLst>
                <a:ext uri="{FF2B5EF4-FFF2-40B4-BE49-F238E27FC236}">
                  <a16:creationId xmlns:a16="http://schemas.microsoft.com/office/drawing/2014/main" id="{C3C725B7-6BEA-4EEB-B398-39CEBDC8F141}"/>
                </a:ext>
              </a:extLst>
            </p:cNvPr>
            <p:cNvSpPr txBox="1">
              <a:spLocks noChangeArrowheads="1"/>
            </p:cNvSpPr>
            <p:nvPr/>
          </p:nvSpPr>
          <p:spPr bwMode="auto">
            <a:xfrm>
              <a:off x="4112" y="141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5115" name="Text Box 61">
              <a:extLst>
                <a:ext uri="{FF2B5EF4-FFF2-40B4-BE49-F238E27FC236}">
                  <a16:creationId xmlns:a16="http://schemas.microsoft.com/office/drawing/2014/main" id="{4D701097-5F07-9DEA-8B94-DFC16821B9EA}"/>
                </a:ext>
              </a:extLst>
            </p:cNvPr>
            <p:cNvSpPr txBox="1">
              <a:spLocks noChangeArrowheads="1"/>
            </p:cNvSpPr>
            <p:nvPr/>
          </p:nvSpPr>
          <p:spPr bwMode="auto">
            <a:xfrm>
              <a:off x="4451" y="141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16" name="Text Box 62">
              <a:extLst>
                <a:ext uri="{FF2B5EF4-FFF2-40B4-BE49-F238E27FC236}">
                  <a16:creationId xmlns:a16="http://schemas.microsoft.com/office/drawing/2014/main" id="{04E880E7-815F-426F-BCFB-CA070519D572}"/>
                </a:ext>
              </a:extLst>
            </p:cNvPr>
            <p:cNvSpPr txBox="1">
              <a:spLocks noChangeArrowheads="1"/>
            </p:cNvSpPr>
            <p:nvPr/>
          </p:nvSpPr>
          <p:spPr bwMode="auto">
            <a:xfrm>
              <a:off x="4768" y="141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17" name="Text Box 63">
              <a:extLst>
                <a:ext uri="{FF2B5EF4-FFF2-40B4-BE49-F238E27FC236}">
                  <a16:creationId xmlns:a16="http://schemas.microsoft.com/office/drawing/2014/main" id="{457E3177-2CE2-D40E-A7D7-CB6A7185B42C}"/>
                </a:ext>
              </a:extLst>
            </p:cNvPr>
            <p:cNvSpPr txBox="1">
              <a:spLocks noChangeArrowheads="1"/>
            </p:cNvSpPr>
            <p:nvPr/>
          </p:nvSpPr>
          <p:spPr bwMode="auto">
            <a:xfrm>
              <a:off x="3738" y="175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45118" name="Text Box 64">
              <a:extLst>
                <a:ext uri="{FF2B5EF4-FFF2-40B4-BE49-F238E27FC236}">
                  <a16:creationId xmlns:a16="http://schemas.microsoft.com/office/drawing/2014/main" id="{6F027A60-6BB1-66AC-5F44-8C6F01A229D7}"/>
                </a:ext>
              </a:extLst>
            </p:cNvPr>
            <p:cNvSpPr txBox="1">
              <a:spLocks noChangeArrowheads="1"/>
            </p:cNvSpPr>
            <p:nvPr/>
          </p:nvSpPr>
          <p:spPr bwMode="auto">
            <a:xfrm>
              <a:off x="4092" y="1745"/>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5119" name="Text Box 65">
              <a:extLst>
                <a:ext uri="{FF2B5EF4-FFF2-40B4-BE49-F238E27FC236}">
                  <a16:creationId xmlns:a16="http://schemas.microsoft.com/office/drawing/2014/main" id="{17C2A8EC-5F2F-A518-A74A-6676ADDE5CBE}"/>
                </a:ext>
              </a:extLst>
            </p:cNvPr>
            <p:cNvSpPr txBox="1">
              <a:spLocks noChangeArrowheads="1"/>
            </p:cNvSpPr>
            <p:nvPr/>
          </p:nvSpPr>
          <p:spPr bwMode="auto">
            <a:xfrm>
              <a:off x="4451" y="174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0" name="Text Box 66">
              <a:extLst>
                <a:ext uri="{FF2B5EF4-FFF2-40B4-BE49-F238E27FC236}">
                  <a16:creationId xmlns:a16="http://schemas.microsoft.com/office/drawing/2014/main" id="{E1D8196D-7A87-6BDD-A054-EE640C507C31}"/>
                </a:ext>
              </a:extLst>
            </p:cNvPr>
            <p:cNvSpPr txBox="1">
              <a:spLocks noChangeArrowheads="1"/>
            </p:cNvSpPr>
            <p:nvPr/>
          </p:nvSpPr>
          <p:spPr bwMode="auto">
            <a:xfrm>
              <a:off x="4743" y="174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1" name="Text Box 67">
              <a:extLst>
                <a:ext uri="{FF2B5EF4-FFF2-40B4-BE49-F238E27FC236}">
                  <a16:creationId xmlns:a16="http://schemas.microsoft.com/office/drawing/2014/main" id="{95B318FE-7C12-CCD4-E52A-70C9E4FFAEFB}"/>
                </a:ext>
              </a:extLst>
            </p:cNvPr>
            <p:cNvSpPr txBox="1">
              <a:spLocks noChangeArrowheads="1"/>
            </p:cNvSpPr>
            <p:nvPr/>
          </p:nvSpPr>
          <p:spPr bwMode="auto">
            <a:xfrm>
              <a:off x="3737" y="208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2" name="Text Box 68">
              <a:extLst>
                <a:ext uri="{FF2B5EF4-FFF2-40B4-BE49-F238E27FC236}">
                  <a16:creationId xmlns:a16="http://schemas.microsoft.com/office/drawing/2014/main" id="{2027CB77-BA8D-1049-B2F6-4EF7B9298F38}"/>
                </a:ext>
              </a:extLst>
            </p:cNvPr>
            <p:cNvSpPr txBox="1">
              <a:spLocks noChangeArrowheads="1"/>
            </p:cNvSpPr>
            <p:nvPr/>
          </p:nvSpPr>
          <p:spPr bwMode="auto">
            <a:xfrm>
              <a:off x="4111" y="209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3" name="Text Box 69">
              <a:extLst>
                <a:ext uri="{FF2B5EF4-FFF2-40B4-BE49-F238E27FC236}">
                  <a16:creationId xmlns:a16="http://schemas.microsoft.com/office/drawing/2014/main" id="{41002672-78F0-CA1A-7571-B86F6FAF9F2C}"/>
                </a:ext>
              </a:extLst>
            </p:cNvPr>
            <p:cNvSpPr txBox="1">
              <a:spLocks noChangeArrowheads="1"/>
            </p:cNvSpPr>
            <p:nvPr/>
          </p:nvSpPr>
          <p:spPr bwMode="auto">
            <a:xfrm>
              <a:off x="4449" y="209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4" name="Text Box 70">
              <a:extLst>
                <a:ext uri="{FF2B5EF4-FFF2-40B4-BE49-F238E27FC236}">
                  <a16:creationId xmlns:a16="http://schemas.microsoft.com/office/drawing/2014/main" id="{AB349926-E928-66E3-4DE2-904231A756F7}"/>
                </a:ext>
              </a:extLst>
            </p:cNvPr>
            <p:cNvSpPr txBox="1">
              <a:spLocks noChangeArrowheads="1"/>
            </p:cNvSpPr>
            <p:nvPr/>
          </p:nvSpPr>
          <p:spPr bwMode="auto">
            <a:xfrm>
              <a:off x="4768" y="2096"/>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5" name="Text Box 71">
              <a:extLst>
                <a:ext uri="{FF2B5EF4-FFF2-40B4-BE49-F238E27FC236}">
                  <a16:creationId xmlns:a16="http://schemas.microsoft.com/office/drawing/2014/main" id="{A56D34E3-4374-580D-64F5-B17603461B53}"/>
                </a:ext>
              </a:extLst>
            </p:cNvPr>
            <p:cNvSpPr txBox="1">
              <a:spLocks noChangeArrowheads="1"/>
            </p:cNvSpPr>
            <p:nvPr/>
          </p:nvSpPr>
          <p:spPr bwMode="auto">
            <a:xfrm>
              <a:off x="4102" y="244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6" name="Text Box 72">
              <a:extLst>
                <a:ext uri="{FF2B5EF4-FFF2-40B4-BE49-F238E27FC236}">
                  <a16:creationId xmlns:a16="http://schemas.microsoft.com/office/drawing/2014/main" id="{D90E1AE5-535D-B30A-3971-3F6FC7B10383}"/>
                </a:ext>
              </a:extLst>
            </p:cNvPr>
            <p:cNvSpPr txBox="1">
              <a:spLocks noChangeArrowheads="1"/>
            </p:cNvSpPr>
            <p:nvPr/>
          </p:nvSpPr>
          <p:spPr bwMode="auto">
            <a:xfrm>
              <a:off x="4430" y="244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7" name="Text Box 73">
              <a:extLst>
                <a:ext uri="{FF2B5EF4-FFF2-40B4-BE49-F238E27FC236}">
                  <a16:creationId xmlns:a16="http://schemas.microsoft.com/office/drawing/2014/main" id="{6031B358-986F-D49D-DDF4-BAAB308F97F5}"/>
                </a:ext>
              </a:extLst>
            </p:cNvPr>
            <p:cNvSpPr txBox="1">
              <a:spLocks noChangeArrowheads="1"/>
            </p:cNvSpPr>
            <p:nvPr/>
          </p:nvSpPr>
          <p:spPr bwMode="auto">
            <a:xfrm>
              <a:off x="4795" y="2441"/>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sp>
          <p:nvSpPr>
            <p:cNvPr id="45128" name="Text Box 74">
              <a:extLst>
                <a:ext uri="{FF2B5EF4-FFF2-40B4-BE49-F238E27FC236}">
                  <a16:creationId xmlns:a16="http://schemas.microsoft.com/office/drawing/2014/main" id="{724B96F7-B3DC-3F96-E7EA-735CD9BBD38D}"/>
                </a:ext>
              </a:extLst>
            </p:cNvPr>
            <p:cNvSpPr txBox="1">
              <a:spLocks noChangeArrowheads="1"/>
            </p:cNvSpPr>
            <p:nvPr/>
          </p:nvSpPr>
          <p:spPr bwMode="auto">
            <a:xfrm>
              <a:off x="3756" y="2472"/>
              <a:ext cx="2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x</a:t>
              </a:r>
              <a:endParaRPr lang="ru-RU" altLang="en-US"/>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58B06225-0B92-EE9E-D75A-BFF0F702991E}"/>
              </a:ext>
            </a:extLst>
          </p:cNvPr>
          <p:cNvSpPr>
            <a:spLocks noGrp="1" noChangeArrowheads="1"/>
          </p:cNvSpPr>
          <p:nvPr>
            <p:ph type="title"/>
          </p:nvPr>
        </p:nvSpPr>
        <p:spPr/>
        <p:txBody>
          <a:bodyPr/>
          <a:lstStyle/>
          <a:p>
            <a:r>
              <a:rPr lang="en-US" altLang="en-US"/>
              <a:t>Gate Level Description of Logic Circuits</a:t>
            </a:r>
            <a:endParaRPr lang="ru-RU" altLang="en-US"/>
          </a:p>
        </p:txBody>
      </p:sp>
      <p:sp>
        <p:nvSpPr>
          <p:cNvPr id="46083" name="Content Placeholder 10">
            <a:extLst>
              <a:ext uri="{FF2B5EF4-FFF2-40B4-BE49-F238E27FC236}">
                <a16:creationId xmlns:a16="http://schemas.microsoft.com/office/drawing/2014/main" id="{E47FF368-8498-2CD0-2E4E-4482DEB23908}"/>
              </a:ext>
            </a:extLst>
          </p:cNvPr>
          <p:cNvSpPr>
            <a:spLocks noGrp="1" noChangeArrowheads="1"/>
          </p:cNvSpPr>
          <p:nvPr>
            <p:ph type="body" sz="quarter" idx="10"/>
          </p:nvPr>
        </p:nvSpPr>
        <p:spPr/>
        <p:txBody>
          <a:bodyPr/>
          <a:lstStyle/>
          <a:p>
            <a:r>
              <a:rPr lang="en-US" altLang="en-US" dirty="0"/>
              <a:t>Verilog includes a set of gate level primitives.</a:t>
            </a:r>
          </a:p>
          <a:p>
            <a:pPr lvl="1"/>
            <a:r>
              <a:rPr lang="ru-RU" altLang="en-US" dirty="0"/>
              <a:t>These primitives are instantiated like modules except that they are predefined in Verilog and do not need a module definition. </a:t>
            </a:r>
            <a:endParaRPr lang="en-US" altLang="en-US" dirty="0"/>
          </a:p>
          <a:p>
            <a:r>
              <a:rPr lang="en-US" altLang="en-US" dirty="0"/>
              <a:t>Examples:</a:t>
            </a:r>
          </a:p>
          <a:p>
            <a:pPr lvl="1"/>
            <a:r>
              <a:rPr lang="en-US" altLang="en-US" dirty="0"/>
              <a:t>Two-input AND gate with inputs x1 and x2 and output y: and (y,x1,x2)</a:t>
            </a:r>
          </a:p>
          <a:p>
            <a:pPr lvl="1"/>
            <a:r>
              <a:rPr lang="en-US" altLang="en-US" dirty="0"/>
              <a:t>Four-input OR gate:      or (y,x1,x2,x3,x4)</a:t>
            </a:r>
          </a:p>
          <a:p>
            <a:pPr lvl="1"/>
            <a:r>
              <a:rPr lang="ru-RU" altLang="en-US" dirty="0"/>
              <a:t>And/or gates have one scalar output and multiple scalar inputs </a:t>
            </a:r>
            <a:endParaRPr lang="en-US" altLang="en-US" dirty="0"/>
          </a:p>
          <a:p>
            <a:r>
              <a:rPr lang="en-US" altLang="en-US" dirty="0"/>
              <a:t>The NOT gate:      not (</a:t>
            </a:r>
            <a:r>
              <a:rPr lang="en-US" altLang="en-US" dirty="0" err="1"/>
              <a:t>y,x</a:t>
            </a:r>
            <a:r>
              <a:rPr lang="en-US" altLang="en-US" dirty="0"/>
              <a:t>)</a:t>
            </a:r>
          </a:p>
          <a:p>
            <a:pPr lvl="1"/>
            <a:r>
              <a:rPr lang="en-US" altLang="en-US" dirty="0"/>
              <a:t>The keywords NAND and NOR are used to define NAND and NOR gates</a:t>
            </a:r>
          </a:p>
          <a:p>
            <a:pPr lvl="1"/>
            <a:r>
              <a:rPr lang="en-US" altLang="en-US" dirty="0"/>
              <a:t>The keywords XOR and XNOR are used to define XOR and XNOR gates</a:t>
            </a:r>
          </a:p>
          <a:p>
            <a:pPr lvl="1"/>
            <a:r>
              <a:rPr lang="en-US" altLang="en-US" dirty="0"/>
              <a:t>The keywords BUF </a:t>
            </a:r>
            <a:r>
              <a:rPr lang="en-US" altLang="en-US" dirty="0" err="1"/>
              <a:t>buf</a:t>
            </a:r>
            <a:r>
              <a:rPr lang="en-US" altLang="en-US" dirty="0"/>
              <a:t> (</a:t>
            </a:r>
            <a:r>
              <a:rPr lang="en-US" altLang="en-US" dirty="0" err="1"/>
              <a:t>out,in</a:t>
            </a:r>
            <a:r>
              <a:rPr lang="en-US" altLang="en-US" dirty="0"/>
              <a:t>)</a:t>
            </a:r>
            <a:endParaRPr lang="ru-RU" altLang="en-US" dirty="0"/>
          </a:p>
          <a:p>
            <a:endParaRPr lang="ru-RU" altLang="en-US" dirty="0"/>
          </a:p>
        </p:txBody>
      </p:sp>
      <p:grpSp>
        <p:nvGrpSpPr>
          <p:cNvPr id="46084" name="Group 10">
            <a:extLst>
              <a:ext uri="{FF2B5EF4-FFF2-40B4-BE49-F238E27FC236}">
                <a16:creationId xmlns:a16="http://schemas.microsoft.com/office/drawing/2014/main" id="{39141161-D424-8B8C-120F-4C98705E3B18}"/>
              </a:ext>
            </a:extLst>
          </p:cNvPr>
          <p:cNvGrpSpPr>
            <a:grpSpLocks/>
          </p:cNvGrpSpPr>
          <p:nvPr/>
        </p:nvGrpSpPr>
        <p:grpSpPr bwMode="auto">
          <a:xfrm>
            <a:off x="1410629" y="5948456"/>
            <a:ext cx="1943100" cy="425450"/>
            <a:chOff x="432" y="3296"/>
            <a:chExt cx="1416" cy="366"/>
          </a:xfrm>
        </p:grpSpPr>
        <p:sp>
          <p:nvSpPr>
            <p:cNvPr id="46085" name="AutoShape 8">
              <a:extLst>
                <a:ext uri="{FF2B5EF4-FFF2-40B4-BE49-F238E27FC236}">
                  <a16:creationId xmlns:a16="http://schemas.microsoft.com/office/drawing/2014/main" id="{FE36A093-D009-7284-CD43-4352E0F03D81}"/>
                </a:ext>
              </a:extLst>
            </p:cNvPr>
            <p:cNvSpPr>
              <a:spLocks noChangeArrowheads="1"/>
            </p:cNvSpPr>
            <p:nvPr/>
          </p:nvSpPr>
          <p:spPr bwMode="auto">
            <a:xfrm rot="5400000">
              <a:off x="867" y="3341"/>
              <a:ext cx="326" cy="236"/>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6086" name="Text Box 10">
              <a:extLst>
                <a:ext uri="{FF2B5EF4-FFF2-40B4-BE49-F238E27FC236}">
                  <a16:creationId xmlns:a16="http://schemas.microsoft.com/office/drawing/2014/main" id="{924EF148-CAE9-C26A-A6DC-6AEAB8BC3A54}"/>
                </a:ext>
              </a:extLst>
            </p:cNvPr>
            <p:cNvSpPr txBox="1">
              <a:spLocks noChangeArrowheads="1"/>
            </p:cNvSpPr>
            <p:nvPr/>
          </p:nvSpPr>
          <p:spPr bwMode="auto">
            <a:xfrm>
              <a:off x="432" y="3312"/>
              <a:ext cx="425"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in</a:t>
              </a:r>
              <a:endParaRPr lang="ru-RU" altLang="en-US"/>
            </a:p>
          </p:txBody>
        </p:sp>
        <p:sp>
          <p:nvSpPr>
            <p:cNvPr id="46087" name="Text Box 11">
              <a:extLst>
                <a:ext uri="{FF2B5EF4-FFF2-40B4-BE49-F238E27FC236}">
                  <a16:creationId xmlns:a16="http://schemas.microsoft.com/office/drawing/2014/main" id="{3ABEB1DF-6AA5-36DE-D1E7-A8F3E86E9B7A}"/>
                </a:ext>
              </a:extLst>
            </p:cNvPr>
            <p:cNvSpPr txBox="1">
              <a:spLocks noChangeArrowheads="1"/>
            </p:cNvSpPr>
            <p:nvPr/>
          </p:nvSpPr>
          <p:spPr bwMode="auto">
            <a:xfrm>
              <a:off x="1423" y="3321"/>
              <a:ext cx="425"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out</a:t>
              </a:r>
              <a:endParaRPr lang="ru-RU" altLang="en-US"/>
            </a:p>
          </p:txBody>
        </p:sp>
        <p:sp>
          <p:nvSpPr>
            <p:cNvPr id="46088" name="Line 9">
              <a:extLst>
                <a:ext uri="{FF2B5EF4-FFF2-40B4-BE49-F238E27FC236}">
                  <a16:creationId xmlns:a16="http://schemas.microsoft.com/office/drawing/2014/main" id="{F66E1B96-305E-0A5D-3933-50C813B62EF4}"/>
                </a:ext>
              </a:extLst>
            </p:cNvPr>
            <p:cNvSpPr>
              <a:spLocks noChangeShapeType="1"/>
            </p:cNvSpPr>
            <p:nvPr/>
          </p:nvSpPr>
          <p:spPr bwMode="auto">
            <a:xfrm>
              <a:off x="1152" y="3456"/>
              <a:ext cx="2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89" name="Line 9">
              <a:extLst>
                <a:ext uri="{FF2B5EF4-FFF2-40B4-BE49-F238E27FC236}">
                  <a16:creationId xmlns:a16="http://schemas.microsoft.com/office/drawing/2014/main" id="{FDDFC600-DF71-E79B-4628-8A1CFC3AAE1E}"/>
                </a:ext>
              </a:extLst>
            </p:cNvPr>
            <p:cNvSpPr>
              <a:spLocks noChangeShapeType="1"/>
            </p:cNvSpPr>
            <p:nvPr/>
          </p:nvSpPr>
          <p:spPr bwMode="auto">
            <a:xfrm>
              <a:off x="672" y="3456"/>
              <a:ext cx="2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a:extLst>
              <a:ext uri="{FF2B5EF4-FFF2-40B4-BE49-F238E27FC236}">
                <a16:creationId xmlns:a16="http://schemas.microsoft.com/office/drawing/2014/main" id="{0E9DA1E4-96DD-8490-53FB-C6C7FDAD3534}"/>
              </a:ext>
            </a:extLst>
          </p:cNvPr>
          <p:cNvSpPr>
            <a:spLocks noGrp="1" noChangeArrowheads="1"/>
          </p:cNvSpPr>
          <p:nvPr>
            <p:ph type="title"/>
          </p:nvPr>
        </p:nvSpPr>
        <p:spPr/>
        <p:txBody>
          <a:bodyPr/>
          <a:lstStyle/>
          <a:p>
            <a:r>
              <a:rPr lang="en-US" altLang="en-US"/>
              <a:t>Example</a:t>
            </a:r>
            <a:endParaRPr lang="ru-RU" altLang="en-US"/>
          </a:p>
        </p:txBody>
      </p:sp>
      <p:sp>
        <p:nvSpPr>
          <p:cNvPr id="47107" name="Content Placeholder 35">
            <a:extLst>
              <a:ext uri="{FF2B5EF4-FFF2-40B4-BE49-F238E27FC236}">
                <a16:creationId xmlns:a16="http://schemas.microsoft.com/office/drawing/2014/main" id="{3AA09859-2719-1E84-FD38-5998276ABCBF}"/>
              </a:ext>
            </a:extLst>
          </p:cNvPr>
          <p:cNvSpPr>
            <a:spLocks noGrp="1" noChangeArrowheads="1"/>
          </p:cNvSpPr>
          <p:nvPr>
            <p:ph type="body" sz="quarter" idx="10"/>
          </p:nvPr>
        </p:nvSpPr>
        <p:spPr/>
        <p:txBody>
          <a:bodyPr/>
          <a:lstStyle/>
          <a:p>
            <a:r>
              <a:rPr lang="en-US" altLang="en-US"/>
              <a:t>module example(a,b,c,d,y);</a:t>
            </a:r>
          </a:p>
          <a:p>
            <a:r>
              <a:rPr lang="en-US" altLang="en-US"/>
              <a:t>input  a,b,c,d;</a:t>
            </a:r>
          </a:p>
          <a:p>
            <a:r>
              <a:rPr lang="en-US" altLang="en-US"/>
              <a:t>output  y;</a:t>
            </a:r>
          </a:p>
          <a:p>
            <a:r>
              <a:rPr lang="en-US" altLang="en-US"/>
              <a:t>wire v,w,z;</a:t>
            </a:r>
          </a:p>
          <a:p>
            <a:r>
              <a:rPr lang="en-US" altLang="en-US"/>
              <a:t>and  (v,a,b);</a:t>
            </a:r>
          </a:p>
          <a:p>
            <a:r>
              <a:rPr lang="en-US" altLang="en-US"/>
              <a:t>not (z,d);</a:t>
            </a:r>
          </a:p>
          <a:p>
            <a:r>
              <a:rPr lang="en-US" altLang="en-US"/>
              <a:t>and  (w,c,z);</a:t>
            </a:r>
          </a:p>
          <a:p>
            <a:r>
              <a:rPr lang="en-US" altLang="en-US"/>
              <a:t>or (y,v,w);</a:t>
            </a:r>
          </a:p>
          <a:p>
            <a:r>
              <a:rPr lang="en-US" altLang="en-US"/>
              <a:t>endmodule</a:t>
            </a:r>
          </a:p>
          <a:p>
            <a:endParaRPr lang="ru-RU" altLang="en-US"/>
          </a:p>
          <a:p>
            <a:endParaRPr lang="ru-RU" altLang="en-US"/>
          </a:p>
        </p:txBody>
      </p:sp>
      <p:grpSp>
        <p:nvGrpSpPr>
          <p:cNvPr id="47108" name="Group 33">
            <a:extLst>
              <a:ext uri="{FF2B5EF4-FFF2-40B4-BE49-F238E27FC236}">
                <a16:creationId xmlns:a16="http://schemas.microsoft.com/office/drawing/2014/main" id="{FEE896C7-9618-EF74-352E-D6709AC65149}"/>
              </a:ext>
            </a:extLst>
          </p:cNvPr>
          <p:cNvGrpSpPr>
            <a:grpSpLocks/>
          </p:cNvGrpSpPr>
          <p:nvPr/>
        </p:nvGrpSpPr>
        <p:grpSpPr bwMode="auto">
          <a:xfrm>
            <a:off x="5993084" y="2194931"/>
            <a:ext cx="3816350" cy="2057400"/>
            <a:chOff x="384" y="1200"/>
            <a:chExt cx="2404" cy="1296"/>
          </a:xfrm>
        </p:grpSpPr>
        <p:sp>
          <p:nvSpPr>
            <p:cNvPr id="47109" name="AutoShape 10">
              <a:extLst>
                <a:ext uri="{FF2B5EF4-FFF2-40B4-BE49-F238E27FC236}">
                  <a16:creationId xmlns:a16="http://schemas.microsoft.com/office/drawing/2014/main" id="{00454137-C7C9-E77E-EA24-C17C61CBF064}"/>
                </a:ext>
              </a:extLst>
            </p:cNvPr>
            <p:cNvSpPr>
              <a:spLocks noChangeArrowheads="1"/>
            </p:cNvSpPr>
            <p:nvPr/>
          </p:nvSpPr>
          <p:spPr bwMode="auto">
            <a:xfrm flipH="1">
              <a:off x="1936" y="1630"/>
              <a:ext cx="317" cy="363"/>
            </a:xfrm>
            <a:prstGeom prst="moon">
              <a:avLst>
                <a:gd name="adj" fmla="val 84819"/>
              </a:avLst>
            </a:prstGeom>
            <a:solidFill>
              <a:schemeClr val="accent1"/>
            </a:solidFill>
            <a:ln w="25400">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a:p>
          </p:txBody>
        </p:sp>
        <p:sp>
          <p:nvSpPr>
            <p:cNvPr id="47110" name="Line 14">
              <a:extLst>
                <a:ext uri="{FF2B5EF4-FFF2-40B4-BE49-F238E27FC236}">
                  <a16:creationId xmlns:a16="http://schemas.microsoft.com/office/drawing/2014/main" id="{D1F5F91B-C25D-DDF7-3C5B-92C9F7336C6A}"/>
                </a:ext>
              </a:extLst>
            </p:cNvPr>
            <p:cNvSpPr>
              <a:spLocks noChangeShapeType="1"/>
            </p:cNvSpPr>
            <p:nvPr/>
          </p:nvSpPr>
          <p:spPr bwMode="auto">
            <a:xfrm>
              <a:off x="654" y="1366"/>
              <a:ext cx="5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1" name="Line 15">
              <a:extLst>
                <a:ext uri="{FF2B5EF4-FFF2-40B4-BE49-F238E27FC236}">
                  <a16:creationId xmlns:a16="http://schemas.microsoft.com/office/drawing/2014/main" id="{45D59298-E983-A0C4-B610-736D1C5D8587}"/>
                </a:ext>
              </a:extLst>
            </p:cNvPr>
            <p:cNvSpPr>
              <a:spLocks noChangeShapeType="1"/>
            </p:cNvSpPr>
            <p:nvPr/>
          </p:nvSpPr>
          <p:spPr bwMode="auto">
            <a:xfrm>
              <a:off x="666" y="1539"/>
              <a:ext cx="56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2" name="Line 16">
              <a:extLst>
                <a:ext uri="{FF2B5EF4-FFF2-40B4-BE49-F238E27FC236}">
                  <a16:creationId xmlns:a16="http://schemas.microsoft.com/office/drawing/2014/main" id="{1291CFF8-1161-9EB9-6EA4-CBA08F300593}"/>
                </a:ext>
              </a:extLst>
            </p:cNvPr>
            <p:cNvSpPr>
              <a:spLocks noChangeShapeType="1"/>
            </p:cNvSpPr>
            <p:nvPr/>
          </p:nvSpPr>
          <p:spPr bwMode="auto">
            <a:xfrm>
              <a:off x="1518" y="1466"/>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3" name="Line 17">
              <a:extLst>
                <a:ext uri="{FF2B5EF4-FFF2-40B4-BE49-F238E27FC236}">
                  <a16:creationId xmlns:a16="http://schemas.microsoft.com/office/drawing/2014/main" id="{52AFD3C0-93C2-BF3A-D9BD-04A7AB105B2D}"/>
                </a:ext>
              </a:extLst>
            </p:cNvPr>
            <p:cNvSpPr>
              <a:spLocks noChangeShapeType="1"/>
            </p:cNvSpPr>
            <p:nvPr/>
          </p:nvSpPr>
          <p:spPr bwMode="auto">
            <a:xfrm>
              <a:off x="1699" y="1467"/>
              <a:ext cx="0" cy="24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4" name="Line 18">
              <a:extLst>
                <a:ext uri="{FF2B5EF4-FFF2-40B4-BE49-F238E27FC236}">
                  <a16:creationId xmlns:a16="http://schemas.microsoft.com/office/drawing/2014/main" id="{4707DCAB-0A50-0C61-FDF4-C2435FE8C3DB}"/>
                </a:ext>
              </a:extLst>
            </p:cNvPr>
            <p:cNvSpPr>
              <a:spLocks noChangeShapeType="1"/>
            </p:cNvSpPr>
            <p:nvPr/>
          </p:nvSpPr>
          <p:spPr bwMode="auto">
            <a:xfrm>
              <a:off x="1699" y="1712"/>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5" name="Line 23">
              <a:extLst>
                <a:ext uri="{FF2B5EF4-FFF2-40B4-BE49-F238E27FC236}">
                  <a16:creationId xmlns:a16="http://schemas.microsoft.com/office/drawing/2014/main" id="{BF3F723D-4A56-E86D-975D-44E2E9B480A0}"/>
                </a:ext>
              </a:extLst>
            </p:cNvPr>
            <p:cNvSpPr>
              <a:spLocks noChangeShapeType="1"/>
            </p:cNvSpPr>
            <p:nvPr/>
          </p:nvSpPr>
          <p:spPr bwMode="auto">
            <a:xfrm>
              <a:off x="1527" y="2079"/>
              <a:ext cx="1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6" name="Line 24">
              <a:extLst>
                <a:ext uri="{FF2B5EF4-FFF2-40B4-BE49-F238E27FC236}">
                  <a16:creationId xmlns:a16="http://schemas.microsoft.com/office/drawing/2014/main" id="{F9351015-9FCB-946C-4CD6-4A9F4D3F8108}"/>
                </a:ext>
              </a:extLst>
            </p:cNvPr>
            <p:cNvSpPr>
              <a:spLocks noChangeShapeType="1"/>
            </p:cNvSpPr>
            <p:nvPr/>
          </p:nvSpPr>
          <p:spPr bwMode="auto">
            <a:xfrm>
              <a:off x="1681" y="1892"/>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7" name="Line 25">
              <a:extLst>
                <a:ext uri="{FF2B5EF4-FFF2-40B4-BE49-F238E27FC236}">
                  <a16:creationId xmlns:a16="http://schemas.microsoft.com/office/drawing/2014/main" id="{AA801C21-01E0-6AAF-6179-BF1ED2726501}"/>
                </a:ext>
              </a:extLst>
            </p:cNvPr>
            <p:cNvSpPr>
              <a:spLocks noChangeShapeType="1"/>
            </p:cNvSpPr>
            <p:nvPr/>
          </p:nvSpPr>
          <p:spPr bwMode="auto">
            <a:xfrm>
              <a:off x="1690" y="1902"/>
              <a:ext cx="2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8" name="Line 26">
              <a:extLst>
                <a:ext uri="{FF2B5EF4-FFF2-40B4-BE49-F238E27FC236}">
                  <a16:creationId xmlns:a16="http://schemas.microsoft.com/office/drawing/2014/main" id="{F31C9ED7-6AA8-61CC-D3BD-FD7C4F0141BD}"/>
                </a:ext>
              </a:extLst>
            </p:cNvPr>
            <p:cNvSpPr>
              <a:spLocks noChangeShapeType="1"/>
            </p:cNvSpPr>
            <p:nvPr/>
          </p:nvSpPr>
          <p:spPr bwMode="auto">
            <a:xfrm>
              <a:off x="2244" y="1820"/>
              <a:ext cx="26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9" name="Line 27">
              <a:extLst>
                <a:ext uri="{FF2B5EF4-FFF2-40B4-BE49-F238E27FC236}">
                  <a16:creationId xmlns:a16="http://schemas.microsoft.com/office/drawing/2014/main" id="{E874651D-67C9-246B-1ADA-0EEBCDDFC9FA}"/>
                </a:ext>
              </a:extLst>
            </p:cNvPr>
            <p:cNvSpPr>
              <a:spLocks noChangeShapeType="1"/>
            </p:cNvSpPr>
            <p:nvPr/>
          </p:nvSpPr>
          <p:spPr bwMode="auto">
            <a:xfrm>
              <a:off x="629" y="1966"/>
              <a:ext cx="6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0" name="Line 35">
              <a:extLst>
                <a:ext uri="{FF2B5EF4-FFF2-40B4-BE49-F238E27FC236}">
                  <a16:creationId xmlns:a16="http://schemas.microsoft.com/office/drawing/2014/main" id="{104731AF-13FE-B5EF-BC06-1ABFC65D4AD1}"/>
                </a:ext>
              </a:extLst>
            </p:cNvPr>
            <p:cNvSpPr>
              <a:spLocks noChangeShapeType="1"/>
            </p:cNvSpPr>
            <p:nvPr/>
          </p:nvSpPr>
          <p:spPr bwMode="auto">
            <a:xfrm>
              <a:off x="1055" y="2174"/>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1" name="Line 36">
              <a:extLst>
                <a:ext uri="{FF2B5EF4-FFF2-40B4-BE49-F238E27FC236}">
                  <a16:creationId xmlns:a16="http://schemas.microsoft.com/office/drawing/2014/main" id="{243D4F17-8631-3FF8-8F8B-448B9817686B}"/>
                </a:ext>
              </a:extLst>
            </p:cNvPr>
            <p:cNvSpPr>
              <a:spLocks noChangeShapeType="1"/>
            </p:cNvSpPr>
            <p:nvPr/>
          </p:nvSpPr>
          <p:spPr bwMode="auto">
            <a:xfrm>
              <a:off x="620" y="2174"/>
              <a:ext cx="2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2" name="Text Box 37">
              <a:extLst>
                <a:ext uri="{FF2B5EF4-FFF2-40B4-BE49-F238E27FC236}">
                  <a16:creationId xmlns:a16="http://schemas.microsoft.com/office/drawing/2014/main" id="{BA961D5C-4B9D-12F6-B3E4-B6C1A7B67B07}"/>
                </a:ext>
              </a:extLst>
            </p:cNvPr>
            <p:cNvSpPr txBox="1">
              <a:spLocks noChangeArrowheads="1"/>
            </p:cNvSpPr>
            <p:nvPr/>
          </p:nvSpPr>
          <p:spPr bwMode="auto">
            <a:xfrm>
              <a:off x="438" y="1203"/>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a</a:t>
              </a:r>
              <a:endParaRPr lang="ru-RU" altLang="en-US" sz="2400"/>
            </a:p>
          </p:txBody>
        </p:sp>
        <p:sp>
          <p:nvSpPr>
            <p:cNvPr id="47123" name="Text Box 38">
              <a:extLst>
                <a:ext uri="{FF2B5EF4-FFF2-40B4-BE49-F238E27FC236}">
                  <a16:creationId xmlns:a16="http://schemas.microsoft.com/office/drawing/2014/main" id="{2E34AC52-2845-C0B6-C62C-A5933326918C}"/>
                </a:ext>
              </a:extLst>
            </p:cNvPr>
            <p:cNvSpPr txBox="1">
              <a:spLocks noChangeArrowheads="1"/>
            </p:cNvSpPr>
            <p:nvPr/>
          </p:nvSpPr>
          <p:spPr bwMode="auto">
            <a:xfrm>
              <a:off x="456" y="1430"/>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b</a:t>
              </a:r>
              <a:endParaRPr lang="ru-RU" altLang="en-US" sz="2400"/>
            </a:p>
          </p:txBody>
        </p:sp>
        <p:sp>
          <p:nvSpPr>
            <p:cNvPr id="47124" name="Text Box 39">
              <a:extLst>
                <a:ext uri="{FF2B5EF4-FFF2-40B4-BE49-F238E27FC236}">
                  <a16:creationId xmlns:a16="http://schemas.microsoft.com/office/drawing/2014/main" id="{6A340D93-A2EA-CD8C-223F-D4C0F0CAF08C}"/>
                </a:ext>
              </a:extLst>
            </p:cNvPr>
            <p:cNvSpPr txBox="1">
              <a:spLocks noChangeArrowheads="1"/>
            </p:cNvSpPr>
            <p:nvPr/>
          </p:nvSpPr>
          <p:spPr bwMode="auto">
            <a:xfrm>
              <a:off x="384" y="1820"/>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c</a:t>
              </a:r>
              <a:endParaRPr lang="ru-RU" altLang="en-US" sz="2400"/>
            </a:p>
          </p:txBody>
        </p:sp>
        <p:sp>
          <p:nvSpPr>
            <p:cNvPr id="47125" name="Text Box 40">
              <a:extLst>
                <a:ext uri="{FF2B5EF4-FFF2-40B4-BE49-F238E27FC236}">
                  <a16:creationId xmlns:a16="http://schemas.microsoft.com/office/drawing/2014/main" id="{85FDF3A2-A4FA-A1B5-5041-8D7F1A0CCDD5}"/>
                </a:ext>
              </a:extLst>
            </p:cNvPr>
            <p:cNvSpPr txBox="1">
              <a:spLocks noChangeArrowheads="1"/>
            </p:cNvSpPr>
            <p:nvPr/>
          </p:nvSpPr>
          <p:spPr bwMode="auto">
            <a:xfrm>
              <a:off x="384" y="204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d</a:t>
              </a:r>
              <a:endParaRPr lang="ru-RU" altLang="en-US" sz="2400"/>
            </a:p>
          </p:txBody>
        </p:sp>
        <p:sp>
          <p:nvSpPr>
            <p:cNvPr id="47126" name="Text Box 41">
              <a:extLst>
                <a:ext uri="{FF2B5EF4-FFF2-40B4-BE49-F238E27FC236}">
                  <a16:creationId xmlns:a16="http://schemas.microsoft.com/office/drawing/2014/main" id="{47C065ED-53F5-D88C-E527-1B4709BBBC27}"/>
                </a:ext>
              </a:extLst>
            </p:cNvPr>
            <p:cNvSpPr txBox="1">
              <a:spLocks noChangeArrowheads="1"/>
            </p:cNvSpPr>
            <p:nvPr/>
          </p:nvSpPr>
          <p:spPr bwMode="auto">
            <a:xfrm>
              <a:off x="2516" y="1702"/>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y</a:t>
              </a:r>
              <a:endParaRPr lang="ru-RU" altLang="en-US" sz="2400"/>
            </a:p>
          </p:txBody>
        </p:sp>
        <p:sp>
          <p:nvSpPr>
            <p:cNvPr id="47127" name="Freeform 73">
              <a:extLst>
                <a:ext uri="{FF2B5EF4-FFF2-40B4-BE49-F238E27FC236}">
                  <a16:creationId xmlns:a16="http://schemas.microsoft.com/office/drawing/2014/main" id="{C6F51B85-3919-31F3-19C5-C645BBC46BC6}"/>
                </a:ext>
              </a:extLst>
            </p:cNvPr>
            <p:cNvSpPr>
              <a:spLocks/>
            </p:cNvSpPr>
            <p:nvPr/>
          </p:nvSpPr>
          <p:spPr bwMode="auto">
            <a:xfrm>
              <a:off x="1245" y="1284"/>
              <a:ext cx="273" cy="334"/>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47128" name="Freeform 74">
              <a:extLst>
                <a:ext uri="{FF2B5EF4-FFF2-40B4-BE49-F238E27FC236}">
                  <a16:creationId xmlns:a16="http://schemas.microsoft.com/office/drawing/2014/main" id="{C1B38777-69E5-C0CF-B17F-96AAB1473F6E}"/>
                </a:ext>
              </a:extLst>
            </p:cNvPr>
            <p:cNvSpPr>
              <a:spLocks/>
            </p:cNvSpPr>
            <p:nvPr/>
          </p:nvSpPr>
          <p:spPr bwMode="auto">
            <a:xfrm>
              <a:off x="1245" y="1910"/>
              <a:ext cx="273" cy="334"/>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grpSp>
          <p:nvGrpSpPr>
            <p:cNvPr id="47129" name="Group 54">
              <a:extLst>
                <a:ext uri="{FF2B5EF4-FFF2-40B4-BE49-F238E27FC236}">
                  <a16:creationId xmlns:a16="http://schemas.microsoft.com/office/drawing/2014/main" id="{1B66C5DE-2E69-17A6-A013-82DF175EEB1B}"/>
                </a:ext>
              </a:extLst>
            </p:cNvPr>
            <p:cNvGrpSpPr>
              <a:grpSpLocks/>
            </p:cNvGrpSpPr>
            <p:nvPr/>
          </p:nvGrpSpPr>
          <p:grpSpPr bwMode="auto">
            <a:xfrm>
              <a:off x="821" y="2044"/>
              <a:ext cx="245" cy="269"/>
              <a:chOff x="732" y="2820"/>
              <a:chExt cx="245" cy="269"/>
            </a:xfrm>
          </p:grpSpPr>
          <p:sp>
            <p:nvSpPr>
              <p:cNvPr id="47133" name="AutoShape 52">
                <a:extLst>
                  <a:ext uri="{FF2B5EF4-FFF2-40B4-BE49-F238E27FC236}">
                    <a16:creationId xmlns:a16="http://schemas.microsoft.com/office/drawing/2014/main" id="{12ECF773-82DC-6EE3-B040-ACFF3C284A20}"/>
                  </a:ext>
                </a:extLst>
              </p:cNvPr>
              <p:cNvSpPr>
                <a:spLocks noChangeArrowheads="1"/>
              </p:cNvSpPr>
              <p:nvPr/>
            </p:nvSpPr>
            <p:spPr bwMode="auto">
              <a:xfrm rot="5400000">
                <a:off x="695" y="2857"/>
                <a:ext cx="269" cy="195"/>
              </a:xfrm>
              <a:prstGeom prst="triangle">
                <a:avLst>
                  <a:gd name="adj" fmla="val 50000"/>
                </a:avLst>
              </a:prstGeom>
              <a:solidFill>
                <a:schemeClr val="accent1"/>
              </a:solidFill>
              <a:ln w="19050">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a:p>
            </p:txBody>
          </p:sp>
          <p:sp>
            <p:nvSpPr>
              <p:cNvPr id="47134" name="AutoShape 53">
                <a:extLst>
                  <a:ext uri="{FF2B5EF4-FFF2-40B4-BE49-F238E27FC236}">
                    <a16:creationId xmlns:a16="http://schemas.microsoft.com/office/drawing/2014/main" id="{C3311836-A9FD-9FBD-6927-F9716D9FD7BB}"/>
                  </a:ext>
                </a:extLst>
              </p:cNvPr>
              <p:cNvSpPr>
                <a:spLocks noChangeArrowheads="1"/>
              </p:cNvSpPr>
              <p:nvPr/>
            </p:nvSpPr>
            <p:spPr bwMode="auto">
              <a:xfrm>
                <a:off x="921" y="2929"/>
                <a:ext cx="56" cy="56"/>
              </a:xfrm>
              <a:prstGeom prst="flowChartConnector">
                <a:avLst/>
              </a:prstGeom>
              <a:solidFill>
                <a:schemeClr val="accent1"/>
              </a:solidFill>
              <a:ln w="9525">
                <a:solidFill>
                  <a:schemeClr val="tx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a:p>
            </p:txBody>
          </p:sp>
        </p:grpSp>
        <p:sp>
          <p:nvSpPr>
            <p:cNvPr id="47130" name="Text Box 30">
              <a:extLst>
                <a:ext uri="{FF2B5EF4-FFF2-40B4-BE49-F238E27FC236}">
                  <a16:creationId xmlns:a16="http://schemas.microsoft.com/office/drawing/2014/main" id="{5A0795B0-4440-304C-28C7-1CC07892A13C}"/>
                </a:ext>
              </a:extLst>
            </p:cNvPr>
            <p:cNvSpPr txBox="1">
              <a:spLocks noChangeArrowheads="1"/>
            </p:cNvSpPr>
            <p:nvPr/>
          </p:nvSpPr>
          <p:spPr bwMode="auto">
            <a:xfrm>
              <a:off x="1581" y="1200"/>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v</a:t>
              </a:r>
              <a:endParaRPr lang="ru-RU" altLang="en-US" sz="2400"/>
            </a:p>
          </p:txBody>
        </p:sp>
        <p:sp>
          <p:nvSpPr>
            <p:cNvPr id="47131" name="Text Box 31">
              <a:extLst>
                <a:ext uri="{FF2B5EF4-FFF2-40B4-BE49-F238E27FC236}">
                  <a16:creationId xmlns:a16="http://schemas.microsoft.com/office/drawing/2014/main" id="{0F699B31-9F82-157F-2DA3-0E1DB2FB7CD2}"/>
                </a:ext>
              </a:extLst>
            </p:cNvPr>
            <p:cNvSpPr txBox="1">
              <a:spLocks noChangeArrowheads="1"/>
            </p:cNvSpPr>
            <p:nvPr/>
          </p:nvSpPr>
          <p:spPr bwMode="auto">
            <a:xfrm>
              <a:off x="1541" y="205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w</a:t>
              </a:r>
              <a:endParaRPr lang="ru-RU" altLang="en-US" sz="2400"/>
            </a:p>
          </p:txBody>
        </p:sp>
        <p:sp>
          <p:nvSpPr>
            <p:cNvPr id="47132" name="Text Box 32">
              <a:extLst>
                <a:ext uri="{FF2B5EF4-FFF2-40B4-BE49-F238E27FC236}">
                  <a16:creationId xmlns:a16="http://schemas.microsoft.com/office/drawing/2014/main" id="{FC917816-3202-7CCB-3DE1-9F5702DFABBC}"/>
                </a:ext>
              </a:extLst>
            </p:cNvPr>
            <p:cNvSpPr txBox="1">
              <a:spLocks noChangeArrowheads="1"/>
            </p:cNvSpPr>
            <p:nvPr/>
          </p:nvSpPr>
          <p:spPr bwMode="auto">
            <a:xfrm>
              <a:off x="1008" y="220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z</a:t>
              </a:r>
              <a:endParaRPr lang="ru-RU" altLang="en-US" sz="240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ADDD592F-C3AF-BC5F-5EE7-56C4424BA765}"/>
              </a:ext>
            </a:extLst>
          </p:cNvPr>
          <p:cNvSpPr>
            <a:spLocks noGrp="1" noChangeArrowheads="1"/>
          </p:cNvSpPr>
          <p:nvPr>
            <p:ph type="title"/>
          </p:nvPr>
        </p:nvSpPr>
        <p:spPr/>
        <p:txBody>
          <a:bodyPr/>
          <a:lstStyle/>
          <a:p>
            <a:r>
              <a:rPr lang="en-US" altLang="en-US"/>
              <a:t>Behavioral Description of Logic Circuits</a:t>
            </a:r>
            <a:endParaRPr lang="ru-RU" altLang="en-US"/>
          </a:p>
        </p:txBody>
      </p:sp>
      <p:sp>
        <p:nvSpPr>
          <p:cNvPr id="48131" name="Content Placeholder 6">
            <a:extLst>
              <a:ext uri="{FF2B5EF4-FFF2-40B4-BE49-F238E27FC236}">
                <a16:creationId xmlns:a16="http://schemas.microsoft.com/office/drawing/2014/main" id="{8D3AA4AC-533B-4E86-B45F-5EDDBAA9FFC0}"/>
              </a:ext>
            </a:extLst>
          </p:cNvPr>
          <p:cNvSpPr>
            <a:spLocks noGrp="1" noChangeArrowheads="1"/>
          </p:cNvSpPr>
          <p:nvPr>
            <p:ph type="body" sz="quarter" idx="10"/>
          </p:nvPr>
        </p:nvSpPr>
        <p:spPr/>
        <p:txBody>
          <a:bodyPr/>
          <a:lstStyle/>
          <a:p>
            <a:r>
              <a:rPr lang="en-US" altLang="en-US" sz="1900" dirty="0"/>
              <a:t>module example(</a:t>
            </a:r>
            <a:r>
              <a:rPr lang="en-US" altLang="en-US" sz="1900" dirty="0" err="1"/>
              <a:t>a,b,c,d,y</a:t>
            </a:r>
            <a:r>
              <a:rPr lang="en-US" altLang="en-US" sz="1900" dirty="0"/>
              <a:t>);</a:t>
            </a:r>
          </a:p>
          <a:p>
            <a:r>
              <a:rPr lang="en-US" altLang="en-US" sz="1900" dirty="0"/>
              <a:t>input  </a:t>
            </a:r>
            <a:r>
              <a:rPr lang="en-US" altLang="en-US" sz="1900" dirty="0" err="1"/>
              <a:t>a,b,c,d</a:t>
            </a:r>
            <a:r>
              <a:rPr lang="en-US" altLang="en-US" sz="1900" dirty="0"/>
              <a:t>;                                                                          </a:t>
            </a:r>
          </a:p>
          <a:p>
            <a:pPr marL="0" indent="0">
              <a:buNone/>
            </a:pPr>
            <a:r>
              <a:rPr lang="en-US" altLang="en-US" sz="1900" dirty="0"/>
              <a:t>      output  reg y;</a:t>
            </a:r>
          </a:p>
          <a:p>
            <a:r>
              <a:rPr lang="en-US" altLang="en-US" sz="1900" dirty="0"/>
              <a:t>always @(a,b,c,d)    // sensitivity list </a:t>
            </a:r>
          </a:p>
          <a:p>
            <a:pPr marL="0" indent="0">
              <a:buNone/>
            </a:pPr>
            <a:r>
              <a:rPr lang="en-US" altLang="en-US" sz="1900" dirty="0"/>
              <a:t>	if (a==1)&amp;&amp;(b==1) y=1;</a:t>
            </a:r>
          </a:p>
          <a:p>
            <a:pPr marL="0" indent="0">
              <a:buNone/>
            </a:pPr>
            <a:r>
              <a:rPr lang="en-US" altLang="en-US" sz="1900" dirty="0"/>
              <a:t>	else if (d==0)  y=c;</a:t>
            </a:r>
          </a:p>
          <a:p>
            <a:pPr marL="0" indent="0">
              <a:buNone/>
            </a:pPr>
            <a:r>
              <a:rPr lang="en-US" altLang="en-US" sz="1900" dirty="0"/>
              <a:t>	else y=0;</a:t>
            </a:r>
          </a:p>
          <a:p>
            <a:r>
              <a:rPr lang="en-US" altLang="en-US" sz="1900" dirty="0" err="1"/>
              <a:t>endmodule</a:t>
            </a:r>
            <a:endParaRPr lang="ru-RU" altLang="en-US" sz="1900" dirty="0"/>
          </a:p>
          <a:p>
            <a:r>
              <a:rPr lang="en-US" altLang="en-US" sz="1900" dirty="0"/>
              <a:t>Instead of listing the relevant signals in the sensitivity list, it is possible to write simply </a:t>
            </a:r>
          </a:p>
          <a:p>
            <a:r>
              <a:rPr lang="en-US" altLang="en-US" sz="1900" dirty="0"/>
              <a:t>always @(*) or always @*</a:t>
            </a:r>
          </a:p>
          <a:p>
            <a:r>
              <a:rPr lang="en-US" altLang="en-US" sz="1900" dirty="0"/>
              <a:t>For example we can write </a:t>
            </a:r>
          </a:p>
          <a:p>
            <a:r>
              <a:rPr lang="en-US" altLang="en-US" sz="1900" dirty="0"/>
              <a:t>module example (input </a:t>
            </a:r>
            <a:r>
              <a:rPr lang="en-US" altLang="en-US" sz="1900" dirty="0" err="1"/>
              <a:t>a,b,c,d</a:t>
            </a:r>
            <a:r>
              <a:rPr lang="en-US" altLang="en-US" sz="1900" dirty="0"/>
              <a:t>, output reg y);</a:t>
            </a:r>
            <a:endParaRPr lang="ru-RU" altLang="en-US" sz="1900" dirty="0"/>
          </a:p>
          <a:p>
            <a:endParaRPr lang="ru-RU" alt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0" name="Title 9">
            <a:extLst>
              <a:ext uri="{FF2B5EF4-FFF2-40B4-BE49-F238E27FC236}">
                <a16:creationId xmlns:a16="http://schemas.microsoft.com/office/drawing/2014/main" id="{54823E96-153F-C1B8-4D17-5505D39DE033}"/>
              </a:ext>
            </a:extLst>
          </p:cNvPr>
          <p:cNvSpPr>
            <a:spLocks noGrp="1" noChangeArrowheads="1"/>
          </p:cNvSpPr>
          <p:nvPr>
            <p:ph type="title"/>
          </p:nvPr>
        </p:nvSpPr>
        <p:spPr/>
        <p:txBody>
          <a:bodyPr>
            <a:normAutofit/>
          </a:bodyPr>
          <a:lstStyle/>
          <a:p>
            <a:r>
              <a:rPr lang="en-US" altLang="en-US" dirty="0"/>
              <a:t>Procedural Assignment (Verilog) </a:t>
            </a:r>
            <a:endParaRPr lang="ru-RU" altLang="en-US" dirty="0"/>
          </a:p>
        </p:txBody>
      </p:sp>
      <p:sp>
        <p:nvSpPr>
          <p:cNvPr id="49154" name="Content Placeholder 10">
            <a:extLst>
              <a:ext uri="{FF2B5EF4-FFF2-40B4-BE49-F238E27FC236}">
                <a16:creationId xmlns:a16="http://schemas.microsoft.com/office/drawing/2014/main" id="{BFDB1B78-DBCD-40C3-C784-746480E963EF}"/>
              </a:ext>
            </a:extLst>
          </p:cNvPr>
          <p:cNvSpPr>
            <a:spLocks noGrp="1" noChangeArrowheads="1"/>
          </p:cNvSpPr>
          <p:nvPr>
            <p:ph type="body" sz="quarter" idx="10"/>
          </p:nvPr>
        </p:nvSpPr>
        <p:spPr/>
        <p:txBody>
          <a:bodyPr/>
          <a:lstStyle/>
          <a:p>
            <a:r>
              <a:rPr lang="en-US" altLang="en-US" dirty="0"/>
              <a:t>Always block:</a:t>
            </a:r>
            <a:endParaRPr lang="ru-RU"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ru-RU" altLang="en-US" dirty="0"/>
              <a:t>Starting with </a:t>
            </a:r>
            <a:r>
              <a:rPr lang="en-US" altLang="en-US" dirty="0"/>
              <a:t>Verilog 2001 – instead “or” can be used “,”.</a:t>
            </a:r>
          </a:p>
          <a:p>
            <a:r>
              <a:rPr lang="en-US" altLang="en-US" dirty="0" err="1"/>
              <a:t>Sensitivity_list</a:t>
            </a:r>
            <a:r>
              <a:rPr lang="en-US" altLang="en-US" dirty="0"/>
              <a:t> – a list of signals that directly affects the output results generated by the always block.</a:t>
            </a:r>
            <a:endParaRPr lang="ru-RU" altLang="en-US" dirty="0"/>
          </a:p>
          <a:p>
            <a:endParaRPr lang="ru-RU" altLang="en-US" dirty="0"/>
          </a:p>
        </p:txBody>
      </p:sp>
      <p:sp>
        <p:nvSpPr>
          <p:cNvPr id="36866" name="Rectangle 5">
            <a:extLst>
              <a:ext uri="{FF2B5EF4-FFF2-40B4-BE49-F238E27FC236}">
                <a16:creationId xmlns:a16="http://schemas.microsoft.com/office/drawing/2014/main" id="{360CDB42-DAAC-435B-B3BF-BC018AEAF97D}"/>
              </a:ext>
            </a:extLst>
          </p:cNvPr>
          <p:cNvSpPr>
            <a:spLocks noChangeArrowheads="1"/>
          </p:cNvSpPr>
          <p:nvPr/>
        </p:nvSpPr>
        <p:spPr bwMode="auto">
          <a:xfrm>
            <a:off x="2362200" y="1981200"/>
            <a:ext cx="7543800" cy="2590800"/>
          </a:xfrm>
          <a:prstGeom prst="rect">
            <a:avLst/>
          </a:prstGeom>
          <a:solidFill>
            <a:schemeClr val="accent1">
              <a:lumMod val="20000"/>
              <a:lumOff val="80000"/>
            </a:schemeClr>
          </a:solidFill>
          <a:ln w="9525">
            <a:noFill/>
            <a:miter lim="800000"/>
            <a:headEnd/>
            <a:tailEnd/>
          </a:ln>
        </p:spPr>
        <p:txBody>
          <a:bodyPr/>
          <a:lstStyle/>
          <a:p>
            <a:pPr eaLnBrk="1" hangingPunct="1">
              <a:defRPr/>
            </a:pPr>
            <a:r>
              <a:rPr lang="en-GB" b="1" dirty="0"/>
              <a:t>always</a:t>
            </a:r>
            <a:r>
              <a:rPr lang="en-GB" dirty="0"/>
              <a:t> @(</a:t>
            </a:r>
            <a:r>
              <a:rPr lang="en-GB" dirty="0" err="1"/>
              <a:t>sensitivity_list</a:t>
            </a:r>
            <a:r>
              <a:rPr lang="en-GB" dirty="0"/>
              <a:t>)        </a:t>
            </a:r>
          </a:p>
          <a:p>
            <a:pPr eaLnBrk="1" hangingPunct="1">
              <a:defRPr/>
            </a:pPr>
            <a:r>
              <a:rPr lang="en-GB" dirty="0"/>
              <a:t>	[</a:t>
            </a:r>
            <a:r>
              <a:rPr lang="en-GB" b="1" dirty="0"/>
              <a:t>begin</a:t>
            </a:r>
            <a:r>
              <a:rPr lang="en-GB" dirty="0"/>
              <a:t>]</a:t>
            </a:r>
          </a:p>
          <a:p>
            <a:pPr eaLnBrk="1" hangingPunct="1">
              <a:defRPr/>
            </a:pPr>
            <a:r>
              <a:rPr lang="en-GB" dirty="0"/>
              <a:t>		</a:t>
            </a:r>
            <a:r>
              <a:rPr lang="en-US" dirty="0"/>
              <a:t>[procedural assignment statement]</a:t>
            </a:r>
          </a:p>
          <a:p>
            <a:pPr eaLnBrk="1" hangingPunct="1">
              <a:defRPr/>
            </a:pPr>
            <a:r>
              <a:rPr lang="en-US" dirty="0"/>
              <a:t>		[if-else statement]</a:t>
            </a:r>
          </a:p>
          <a:p>
            <a:pPr eaLnBrk="1" hangingPunct="1">
              <a:defRPr/>
            </a:pPr>
            <a:r>
              <a:rPr lang="en-US" dirty="0"/>
              <a:t>		[case statement]</a:t>
            </a:r>
          </a:p>
          <a:p>
            <a:pPr eaLnBrk="1" hangingPunct="1">
              <a:defRPr/>
            </a:pPr>
            <a:r>
              <a:rPr lang="en-US" dirty="0"/>
              <a:t>		[while, repeat, and for loops]</a:t>
            </a:r>
          </a:p>
          <a:p>
            <a:pPr eaLnBrk="1" hangingPunct="1">
              <a:defRPr/>
            </a:pPr>
            <a:r>
              <a:rPr lang="en-US" dirty="0"/>
              <a:t>		[task and function calls]</a:t>
            </a:r>
          </a:p>
          <a:p>
            <a:pPr eaLnBrk="1" hangingPunct="1">
              <a:defRPr/>
            </a:pPr>
            <a:r>
              <a:rPr lang="en-US" dirty="0"/>
              <a:t>	[</a:t>
            </a:r>
            <a:r>
              <a:rPr lang="en-US" b="1" dirty="0"/>
              <a:t>end</a:t>
            </a:r>
            <a:r>
              <a:rPr lang="en-US" dirty="0"/>
              <a:t>]</a:t>
            </a:r>
            <a:endParaRPr lang="ru-RU" dirty="0"/>
          </a:p>
        </p:txBody>
      </p:sp>
      <p:sp>
        <p:nvSpPr>
          <p:cNvPr id="49156" name="Line 6">
            <a:extLst>
              <a:ext uri="{FF2B5EF4-FFF2-40B4-BE49-F238E27FC236}">
                <a16:creationId xmlns:a16="http://schemas.microsoft.com/office/drawing/2014/main" id="{F65F613B-5931-48C2-5C15-044575EAD125}"/>
              </a:ext>
            </a:extLst>
          </p:cNvPr>
          <p:cNvSpPr>
            <a:spLocks noChangeShapeType="1"/>
          </p:cNvSpPr>
          <p:nvPr/>
        </p:nvSpPr>
        <p:spPr bwMode="auto">
          <a:xfrm>
            <a:off x="2133600" y="2868614"/>
            <a:ext cx="0" cy="29416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lgn="ctr">
                <a:solidFill>
                  <a:srgbClr val="000000"/>
                </a:solidFill>
                <a:round/>
                <a:headEnd/>
                <a:tailEnd/>
              </a14:hiddenLine>
            </a:ext>
          </a:extLst>
        </p:spPr>
        <p:txBody>
          <a:bodyPr/>
          <a:lstStyle/>
          <a:p>
            <a:endParaRPr lang="en-US"/>
          </a:p>
        </p:txBody>
      </p:sp>
      <p:sp>
        <p:nvSpPr>
          <p:cNvPr id="49157" name="Line 7">
            <a:extLst>
              <a:ext uri="{FF2B5EF4-FFF2-40B4-BE49-F238E27FC236}">
                <a16:creationId xmlns:a16="http://schemas.microsoft.com/office/drawing/2014/main" id="{945EC81C-AE2C-3293-0132-88473B9DEE6C}"/>
              </a:ext>
            </a:extLst>
          </p:cNvPr>
          <p:cNvSpPr>
            <a:spLocks noChangeShapeType="1"/>
          </p:cNvSpPr>
          <p:nvPr/>
        </p:nvSpPr>
        <p:spPr bwMode="auto">
          <a:xfrm>
            <a:off x="10134600" y="3429000"/>
            <a:ext cx="0" cy="29416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lgn="ctr">
                <a:solidFill>
                  <a:srgbClr val="000000"/>
                </a:solidFill>
                <a:round/>
                <a:headEnd/>
                <a:tailEnd/>
              </a14:hiddenLine>
            </a:ext>
          </a:extLst>
        </p:spPr>
        <p:txBody>
          <a:bodyPr/>
          <a:lstStyle/>
          <a:p>
            <a:endParaRPr lang="en-US"/>
          </a:p>
        </p:txBody>
      </p:sp>
      <p:sp>
        <p:nvSpPr>
          <p:cNvPr id="49158" name="Line 9">
            <a:extLst>
              <a:ext uri="{FF2B5EF4-FFF2-40B4-BE49-F238E27FC236}">
                <a16:creationId xmlns:a16="http://schemas.microsoft.com/office/drawing/2014/main" id="{E1F3A628-0DCC-3A4C-0440-D8AB71B565E4}"/>
              </a:ext>
            </a:extLst>
          </p:cNvPr>
          <p:cNvSpPr>
            <a:spLocks noChangeShapeType="1"/>
          </p:cNvSpPr>
          <p:nvPr/>
        </p:nvSpPr>
        <p:spPr bwMode="auto">
          <a:xfrm>
            <a:off x="2133600" y="5810250"/>
            <a:ext cx="79248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lgn="ctr">
                <a:solidFill>
                  <a:srgbClr val="000000"/>
                </a:solidFill>
                <a:round/>
                <a:headEnd/>
                <a:tailEnd/>
              </a14:hiddenLine>
            </a:ext>
          </a:extLst>
        </p:spPr>
        <p:txBody>
          <a:bodyPr/>
          <a:lstStyle/>
          <a:p>
            <a:endParaRPr lang="en-US"/>
          </a:p>
        </p:txBody>
      </p:sp>
      <p:sp>
        <p:nvSpPr>
          <p:cNvPr id="49159" name="Line 15">
            <a:extLst>
              <a:ext uri="{FF2B5EF4-FFF2-40B4-BE49-F238E27FC236}">
                <a16:creationId xmlns:a16="http://schemas.microsoft.com/office/drawing/2014/main" id="{53D184A5-E78C-E7CD-09B9-FCE69B558195}"/>
              </a:ext>
            </a:extLst>
          </p:cNvPr>
          <p:cNvSpPr>
            <a:spLocks noChangeShapeType="1"/>
          </p:cNvSpPr>
          <p:nvPr/>
        </p:nvSpPr>
        <p:spPr bwMode="auto">
          <a:xfrm flipV="1">
            <a:off x="4683125" y="2352675"/>
            <a:ext cx="482600" cy="2809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type="triangle" w="med" len="med"/>
              </a14:hiddenLine>
            </a:ext>
          </a:extLst>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4">
            <a:extLst>
              <a:ext uri="{FF2B5EF4-FFF2-40B4-BE49-F238E27FC236}">
                <a16:creationId xmlns:a16="http://schemas.microsoft.com/office/drawing/2014/main" id="{6CCC367A-3D93-DFEB-423E-1789656C0FF0}"/>
              </a:ext>
            </a:extLst>
          </p:cNvPr>
          <p:cNvSpPr>
            <a:spLocks noGrp="1" noChangeArrowheads="1"/>
          </p:cNvSpPr>
          <p:nvPr>
            <p:ph type="title"/>
          </p:nvPr>
        </p:nvSpPr>
        <p:spPr/>
        <p:txBody>
          <a:bodyPr>
            <a:normAutofit/>
          </a:bodyPr>
          <a:lstStyle/>
          <a:p>
            <a:r>
              <a:rPr lang="en-US" altLang="en-US" dirty="0"/>
              <a:t>Always Block</a:t>
            </a:r>
            <a:endParaRPr lang="ru-RU" altLang="en-US" dirty="0"/>
          </a:p>
        </p:txBody>
      </p:sp>
      <p:sp>
        <p:nvSpPr>
          <p:cNvPr id="50179" name="Content Placeholder 5">
            <a:extLst>
              <a:ext uri="{FF2B5EF4-FFF2-40B4-BE49-F238E27FC236}">
                <a16:creationId xmlns:a16="http://schemas.microsoft.com/office/drawing/2014/main" id="{48834EA1-CE00-173E-A372-D820E6EF831B}"/>
              </a:ext>
            </a:extLst>
          </p:cNvPr>
          <p:cNvSpPr>
            <a:spLocks noGrp="1" noChangeArrowheads="1"/>
          </p:cNvSpPr>
          <p:nvPr>
            <p:ph type="body" sz="quarter" idx="10"/>
          </p:nvPr>
        </p:nvSpPr>
        <p:spPr/>
        <p:txBody>
          <a:bodyPr/>
          <a:lstStyle/>
          <a:p>
            <a:r>
              <a:rPr lang="en-US" altLang="en-US"/>
              <a:t>Always block resumes execution starting with its first procedural statement and continuing until the end.</a:t>
            </a:r>
          </a:p>
          <a:p>
            <a:r>
              <a:rPr lang="en-US" altLang="en-US"/>
              <a:t>Example:</a:t>
            </a:r>
          </a:p>
          <a:p>
            <a:r>
              <a:rPr lang="en-US" altLang="en-US"/>
              <a:t>аlways  a = ~a;</a:t>
            </a:r>
            <a:br>
              <a:rPr lang="en-US" altLang="en-US"/>
            </a:br>
            <a:r>
              <a:rPr lang="ru-RU" altLang="en-US"/>
              <a:t>will execute forever with zero delay</a:t>
            </a:r>
            <a:endParaRPr lang="en-US" altLang="en-US"/>
          </a:p>
          <a:p>
            <a:r>
              <a:rPr lang="en-US" altLang="en-US"/>
              <a:t>always  #delay  a = ~a;</a:t>
            </a:r>
            <a:br>
              <a:rPr lang="en-US" altLang="en-US"/>
            </a:br>
            <a:r>
              <a:rPr lang="ru-RU" altLang="en-US"/>
              <a:t>It is pulse generator </a:t>
            </a:r>
            <a:r>
              <a:rPr lang="en-US" altLang="en-US"/>
              <a:t>with clock period 2*delay.</a:t>
            </a:r>
            <a:br>
              <a:rPr lang="en-US" altLang="en-US"/>
            </a:br>
            <a:endParaRPr lang="en-US" altLang="en-US"/>
          </a:p>
          <a:p>
            <a:r>
              <a:rPr lang="en-US" altLang="en-US"/>
              <a:t>Any signal assigned a value in procedural block  has to be a variable  type reg or integer.</a:t>
            </a:r>
            <a:endParaRPr lang="ru-RU" altLang="en-US"/>
          </a:p>
          <a:p>
            <a:endParaRPr lang="ru-RU"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4">
            <a:extLst>
              <a:ext uri="{FF2B5EF4-FFF2-40B4-BE49-F238E27FC236}">
                <a16:creationId xmlns:a16="http://schemas.microsoft.com/office/drawing/2014/main" id="{FCF8FAEA-185F-D489-9DFC-5126EAF67BDE}"/>
              </a:ext>
            </a:extLst>
          </p:cNvPr>
          <p:cNvSpPr>
            <a:spLocks noGrp="1" noChangeArrowheads="1"/>
          </p:cNvSpPr>
          <p:nvPr>
            <p:ph type="title"/>
          </p:nvPr>
        </p:nvSpPr>
        <p:spPr/>
        <p:txBody>
          <a:bodyPr>
            <a:normAutofit/>
          </a:bodyPr>
          <a:lstStyle/>
          <a:p>
            <a:r>
              <a:rPr lang="en-US" altLang="en-US" dirty="0"/>
              <a:t>Example </a:t>
            </a:r>
            <a:endParaRPr lang="ru-RU" altLang="en-US" dirty="0"/>
          </a:p>
        </p:txBody>
      </p:sp>
      <p:sp>
        <p:nvSpPr>
          <p:cNvPr id="51203" name="Content Placeholder 5">
            <a:extLst>
              <a:ext uri="{FF2B5EF4-FFF2-40B4-BE49-F238E27FC236}">
                <a16:creationId xmlns:a16="http://schemas.microsoft.com/office/drawing/2014/main" id="{056CDD26-B6AF-C659-0231-8FAC6A95E0C4}"/>
              </a:ext>
            </a:extLst>
          </p:cNvPr>
          <p:cNvSpPr>
            <a:spLocks noGrp="1" noChangeArrowheads="1"/>
          </p:cNvSpPr>
          <p:nvPr>
            <p:ph type="body" sz="quarter" idx="10"/>
          </p:nvPr>
        </p:nvSpPr>
        <p:spPr/>
        <p:txBody>
          <a:bodyPr/>
          <a:lstStyle/>
          <a:p>
            <a:r>
              <a:rPr lang="ru-RU" altLang="en-US"/>
              <a:t>module clock_gen (clock);</a:t>
            </a:r>
            <a:endParaRPr lang="en-US" altLang="en-US"/>
          </a:p>
          <a:p>
            <a:r>
              <a:rPr lang="en-US" altLang="en-US"/>
              <a:t>output clock;</a:t>
            </a:r>
          </a:p>
          <a:p>
            <a:r>
              <a:rPr lang="en-US" altLang="en-US"/>
              <a:t>reg clock;</a:t>
            </a:r>
          </a:p>
          <a:p>
            <a:r>
              <a:rPr lang="ru-RU" altLang="en-US"/>
              <a:t> //Initialize clock at time zero</a:t>
            </a:r>
            <a:endParaRPr lang="en-US" altLang="en-US"/>
          </a:p>
          <a:p>
            <a:r>
              <a:rPr lang="ru-RU" altLang="en-US"/>
              <a:t> initial clock = 1'b0;</a:t>
            </a:r>
            <a:endParaRPr lang="en-US" altLang="en-US"/>
          </a:p>
          <a:p>
            <a:r>
              <a:rPr lang="ru-RU" altLang="en-US"/>
              <a:t> //Toggle clock every half-cycle (time period = 20) </a:t>
            </a:r>
            <a:endParaRPr lang="en-US" altLang="en-US"/>
          </a:p>
          <a:p>
            <a:r>
              <a:rPr lang="ru-RU" altLang="en-US"/>
              <a:t>always #10 clock = ~clock; </a:t>
            </a:r>
            <a:endParaRPr lang="en-US" altLang="en-US"/>
          </a:p>
          <a:p>
            <a:r>
              <a:rPr lang="ru-RU" altLang="en-US"/>
              <a:t>Initial</a:t>
            </a:r>
            <a:endParaRPr lang="en-US" altLang="en-US"/>
          </a:p>
          <a:p>
            <a:r>
              <a:rPr lang="ru-RU" altLang="en-US"/>
              <a:t> #1000 $finish; </a:t>
            </a:r>
            <a:endParaRPr lang="en-US" altLang="en-US"/>
          </a:p>
          <a:p>
            <a:r>
              <a:rPr lang="ru-RU" altLang="en-US"/>
              <a:t>endmodule </a:t>
            </a:r>
          </a:p>
          <a:p>
            <a:endParaRPr lang="ru-RU"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0BB3C6A-DCAB-4996-9B68-39AB1E7D3C39}"/>
              </a:ext>
            </a:extLst>
          </p:cNvPr>
          <p:cNvSpPr/>
          <p:nvPr/>
        </p:nvSpPr>
        <p:spPr bwMode="auto">
          <a:xfrm>
            <a:off x="456878" y="2117857"/>
            <a:ext cx="8229600" cy="2788679"/>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dirty="0">
              <a:latin typeface="Arial" charset="0"/>
              <a:cs typeface="Arial" charset="0"/>
            </a:endParaRPr>
          </a:p>
        </p:txBody>
      </p:sp>
      <p:sp>
        <p:nvSpPr>
          <p:cNvPr id="52228" name="Content Placeholder 5">
            <a:extLst>
              <a:ext uri="{FF2B5EF4-FFF2-40B4-BE49-F238E27FC236}">
                <a16:creationId xmlns:a16="http://schemas.microsoft.com/office/drawing/2014/main" id="{AE4BC179-44FA-25F3-CFFF-CADE81C44317}"/>
              </a:ext>
            </a:extLst>
          </p:cNvPr>
          <p:cNvSpPr>
            <a:spLocks noGrp="1" noChangeArrowheads="1"/>
          </p:cNvSpPr>
          <p:nvPr>
            <p:ph type="body" sz="quarter" idx="10"/>
          </p:nvPr>
        </p:nvSpPr>
        <p:spPr/>
        <p:txBody>
          <a:bodyPr/>
          <a:lstStyle/>
          <a:p>
            <a:r>
              <a:rPr lang="en-US" altLang="en-US" dirty="0"/>
              <a:t>// A level-sensitive latch with asynchronous reset</a:t>
            </a:r>
          </a:p>
          <a:p>
            <a:endParaRPr lang="en-US" altLang="en-US" dirty="0"/>
          </a:p>
          <a:p>
            <a:pPr marL="0" indent="0">
              <a:buNone/>
            </a:pPr>
            <a:r>
              <a:rPr lang="ru-RU" altLang="en-US" sz="2000" dirty="0"/>
              <a:t>always @( reset or clock or d)</a:t>
            </a:r>
            <a:r>
              <a:rPr lang="en-US" altLang="en-US" sz="2000" dirty="0"/>
              <a:t> </a:t>
            </a:r>
            <a:r>
              <a:rPr lang="ru-RU" altLang="en-US" sz="2000" dirty="0"/>
              <a:t>//</a:t>
            </a:r>
            <a:r>
              <a:rPr lang="en-US" altLang="en-US" sz="2000" dirty="0"/>
              <a:t> w</a:t>
            </a:r>
            <a:r>
              <a:rPr lang="ru-RU" altLang="en-US" sz="2000" dirty="0"/>
              <a:t>ait for reset or clock or d to change</a:t>
            </a:r>
            <a:endParaRPr lang="en-US" altLang="en-US" sz="2000" dirty="0"/>
          </a:p>
          <a:p>
            <a:pPr marL="0" indent="0">
              <a:buNone/>
            </a:pPr>
            <a:r>
              <a:rPr lang="ru-RU" altLang="en-US" sz="2000" dirty="0"/>
              <a:t> </a:t>
            </a:r>
            <a:r>
              <a:rPr lang="en-US" altLang="en-US" sz="2000" dirty="0"/>
              <a:t>	</a:t>
            </a:r>
            <a:r>
              <a:rPr lang="ru-RU" altLang="en-US" sz="2000" dirty="0"/>
              <a:t>begin if </a:t>
            </a:r>
            <a:r>
              <a:rPr lang="en-US" altLang="en-US" sz="2000" dirty="0"/>
              <a:t> </a:t>
            </a:r>
            <a:r>
              <a:rPr lang="ru-RU" altLang="en-US" sz="2000" dirty="0"/>
              <a:t>(reset) </a:t>
            </a:r>
            <a:r>
              <a:rPr lang="en-US" altLang="en-US" sz="2000" dirty="0"/>
              <a:t> 	         </a:t>
            </a:r>
            <a:r>
              <a:rPr lang="ru-RU" altLang="en-US" sz="2000" dirty="0"/>
              <a:t>//</a:t>
            </a:r>
            <a:r>
              <a:rPr lang="en-US" altLang="en-US" sz="2000" dirty="0"/>
              <a:t> </a:t>
            </a:r>
            <a:r>
              <a:rPr lang="ru-RU" altLang="en-US" sz="2000" dirty="0"/>
              <a:t>if reset signal is high, set q to 0. </a:t>
            </a:r>
            <a:endParaRPr lang="en-US" altLang="en-US" sz="2000" dirty="0"/>
          </a:p>
          <a:p>
            <a:pPr marL="0" indent="0">
              <a:buNone/>
            </a:pPr>
            <a:r>
              <a:rPr lang="en-US" altLang="en-US" sz="2000" dirty="0"/>
              <a:t>	 </a:t>
            </a:r>
            <a:r>
              <a:rPr lang="ru-RU" altLang="en-US" sz="2000" dirty="0"/>
              <a:t>q = 1'b0;</a:t>
            </a:r>
            <a:endParaRPr lang="en-US" altLang="en-US" sz="2000" dirty="0"/>
          </a:p>
          <a:p>
            <a:pPr marL="0" indent="0">
              <a:buNone/>
            </a:pPr>
            <a:r>
              <a:rPr lang="ru-RU" altLang="en-US" sz="2000" dirty="0"/>
              <a:t> </a:t>
            </a:r>
            <a:r>
              <a:rPr lang="en-US" altLang="en-US" sz="2000" dirty="0"/>
              <a:t>	</a:t>
            </a:r>
            <a:r>
              <a:rPr lang="ru-RU" altLang="en-US" sz="2000" dirty="0"/>
              <a:t>else if</a:t>
            </a:r>
            <a:r>
              <a:rPr lang="en-US" altLang="en-US" sz="2000" dirty="0"/>
              <a:t> </a:t>
            </a:r>
            <a:r>
              <a:rPr lang="ru-RU" altLang="en-US" sz="2000" dirty="0"/>
              <a:t>(clock) </a:t>
            </a:r>
            <a:r>
              <a:rPr lang="en-US" altLang="en-US" sz="2000" dirty="0"/>
              <a:t>                    </a:t>
            </a:r>
            <a:r>
              <a:rPr lang="ru-RU" altLang="en-US" sz="2000" dirty="0"/>
              <a:t>//</a:t>
            </a:r>
            <a:r>
              <a:rPr lang="en-US" altLang="en-US" sz="2000" dirty="0"/>
              <a:t> </a:t>
            </a:r>
            <a:r>
              <a:rPr lang="ru-RU" altLang="en-US" sz="2000" dirty="0"/>
              <a:t>if clock is high, latch input </a:t>
            </a:r>
            <a:endParaRPr lang="en-US" altLang="en-US" sz="2000" dirty="0"/>
          </a:p>
          <a:p>
            <a:pPr marL="0" indent="0">
              <a:buNone/>
            </a:pPr>
            <a:r>
              <a:rPr lang="en-US" altLang="en-US" sz="2000" dirty="0"/>
              <a:t> 	</a:t>
            </a:r>
            <a:r>
              <a:rPr lang="ru-RU" altLang="en-US" sz="2000" dirty="0"/>
              <a:t>q = d;</a:t>
            </a:r>
            <a:endParaRPr lang="en-US" altLang="en-US" sz="2000" dirty="0"/>
          </a:p>
          <a:p>
            <a:pPr marL="0" indent="0">
              <a:buNone/>
            </a:pPr>
            <a:r>
              <a:rPr lang="ru-RU" altLang="en-US" sz="2000" dirty="0"/>
              <a:t> </a:t>
            </a:r>
            <a:r>
              <a:rPr lang="en-US" altLang="en-US" sz="2000" dirty="0"/>
              <a:t>	</a:t>
            </a:r>
            <a:r>
              <a:rPr lang="ru-RU" altLang="en-US" sz="2000" dirty="0"/>
              <a:t>end </a:t>
            </a:r>
          </a:p>
          <a:p>
            <a:endParaRPr lang="ru-RU" altLang="en-US" dirty="0"/>
          </a:p>
        </p:txBody>
      </p:sp>
      <p:sp>
        <p:nvSpPr>
          <p:cNvPr id="52227" name="Title 3">
            <a:extLst>
              <a:ext uri="{FF2B5EF4-FFF2-40B4-BE49-F238E27FC236}">
                <a16:creationId xmlns:a16="http://schemas.microsoft.com/office/drawing/2014/main" id="{59358A7F-FC5B-247F-4FDE-5D4287E031FC}"/>
              </a:ext>
            </a:extLst>
          </p:cNvPr>
          <p:cNvSpPr>
            <a:spLocks noGrp="1" noChangeArrowheads="1"/>
          </p:cNvSpPr>
          <p:nvPr>
            <p:ph type="title"/>
          </p:nvPr>
        </p:nvSpPr>
        <p:spPr/>
        <p:txBody>
          <a:bodyPr>
            <a:normAutofit/>
          </a:bodyPr>
          <a:lstStyle/>
          <a:p>
            <a:r>
              <a:rPr lang="en-US" altLang="en-US" dirty="0"/>
              <a:t>Example (2)</a:t>
            </a:r>
            <a:endParaRPr lang="ru-RU" altLang="en-US" dirty="0"/>
          </a:p>
        </p:txBody>
      </p:sp>
      <p:sp>
        <p:nvSpPr>
          <p:cNvPr id="52229" name="TextBox 4">
            <a:extLst>
              <a:ext uri="{FF2B5EF4-FFF2-40B4-BE49-F238E27FC236}">
                <a16:creationId xmlns:a16="http://schemas.microsoft.com/office/drawing/2014/main" id="{BBFD93D6-3EE2-6DFA-F349-EA1135AF87AB}"/>
              </a:ext>
            </a:extLst>
          </p:cNvPr>
          <p:cNvSpPr txBox="1">
            <a:spLocks noChangeArrowheads="1"/>
          </p:cNvSpPr>
          <p:nvPr/>
        </p:nvSpPr>
        <p:spPr bwMode="auto">
          <a:xfrm>
            <a:off x="2209800" y="5006976"/>
            <a:ext cx="5791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Verilog 2001 (v2k): </a:t>
            </a:r>
            <a:r>
              <a:rPr lang="ru-RU" altLang="en-US">
                <a:solidFill>
                  <a:srgbClr val="0000FF"/>
                </a:solidFill>
              </a:rPr>
              <a:t>always</a:t>
            </a:r>
            <a:r>
              <a:rPr lang="ru-RU" altLang="en-US">
                <a:solidFill>
                  <a:srgbClr val="0066FF"/>
                </a:solidFill>
              </a:rPr>
              <a:t> </a:t>
            </a:r>
            <a:r>
              <a:rPr lang="ru-RU" altLang="en-US"/>
              <a:t>@( reset</a:t>
            </a:r>
            <a:r>
              <a:rPr lang="en-US" altLang="en-US"/>
              <a:t>,</a:t>
            </a:r>
            <a:r>
              <a:rPr lang="ru-RU" altLang="en-US"/>
              <a:t>clock</a:t>
            </a:r>
            <a:r>
              <a:rPr lang="en-US" altLang="en-US"/>
              <a:t>,</a:t>
            </a:r>
            <a:r>
              <a:rPr lang="ru-RU" altLang="en-US"/>
              <a:t>d)</a:t>
            </a:r>
            <a:r>
              <a:rPr lang="en-US" altLang="en-US"/>
              <a:t> </a:t>
            </a:r>
          </a:p>
          <a:p>
            <a:pPr eaLnBrk="1" hangingPunct="1"/>
            <a:endParaRPr lang="en-GB"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8F5A34A-9B06-4932-987F-4F01294D87DA}"/>
              </a:ext>
            </a:extLst>
          </p:cNvPr>
          <p:cNvSpPr/>
          <p:nvPr/>
        </p:nvSpPr>
        <p:spPr bwMode="auto">
          <a:xfrm>
            <a:off x="838199" y="1678258"/>
            <a:ext cx="6577361" cy="2035097"/>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53252" name="Content Placeholder 5">
            <a:extLst>
              <a:ext uri="{FF2B5EF4-FFF2-40B4-BE49-F238E27FC236}">
                <a16:creationId xmlns:a16="http://schemas.microsoft.com/office/drawing/2014/main" id="{7430CB88-DEC5-5CAF-6713-8A8367025899}"/>
              </a:ext>
            </a:extLst>
          </p:cNvPr>
          <p:cNvSpPr>
            <a:spLocks noGrp="1" noChangeArrowheads="1"/>
          </p:cNvSpPr>
          <p:nvPr>
            <p:ph type="body" sz="quarter" idx="10"/>
          </p:nvPr>
        </p:nvSpPr>
        <p:spPr>
          <a:xfrm>
            <a:off x="457200" y="1188720"/>
            <a:ext cx="11277922" cy="5185186"/>
          </a:xfrm>
        </p:spPr>
        <p:txBody>
          <a:bodyPr/>
          <a:lstStyle/>
          <a:p>
            <a:r>
              <a:rPr lang="ru-RU" altLang="en-US" dirty="0"/>
              <a:t>A positive edge triggered D flip</a:t>
            </a:r>
            <a:r>
              <a:rPr lang="en-US" altLang="en-US" dirty="0"/>
              <a:t>-</a:t>
            </a:r>
            <a:r>
              <a:rPr lang="ru-RU" altLang="en-US" dirty="0"/>
              <a:t>flop with asynchronous falling reset</a:t>
            </a:r>
            <a:r>
              <a:rPr lang="en-US" altLang="en-US" dirty="0"/>
              <a:t>:</a:t>
            </a:r>
          </a:p>
          <a:p>
            <a:pPr marL="0" indent="0">
              <a:buNone/>
            </a:pPr>
            <a:r>
              <a:rPr lang="en-US" altLang="en-US" dirty="0"/>
              <a:t> 	</a:t>
            </a:r>
            <a:r>
              <a:rPr lang="ru-RU" altLang="en-US" dirty="0"/>
              <a:t>always @(posedge clk</a:t>
            </a:r>
            <a:r>
              <a:rPr lang="en-US" altLang="en-US" dirty="0"/>
              <a:t> or</a:t>
            </a:r>
            <a:r>
              <a:rPr lang="ru-RU" altLang="en-US" dirty="0"/>
              <a:t> negedge reset)</a:t>
            </a:r>
            <a:endParaRPr lang="en-US" altLang="en-US" dirty="0"/>
          </a:p>
          <a:p>
            <a:pPr marL="0" indent="0">
              <a:buNone/>
            </a:pPr>
            <a:r>
              <a:rPr lang="ru-RU" altLang="en-US" dirty="0"/>
              <a:t> </a:t>
            </a:r>
            <a:r>
              <a:rPr lang="en-US" altLang="en-US" dirty="0"/>
              <a:t>	</a:t>
            </a:r>
            <a:r>
              <a:rPr lang="ru-RU" altLang="en-US" dirty="0"/>
              <a:t>if</a:t>
            </a:r>
            <a:r>
              <a:rPr lang="en-US" altLang="en-US" dirty="0"/>
              <a:t> </a:t>
            </a:r>
            <a:r>
              <a:rPr lang="ru-RU" altLang="en-US" dirty="0"/>
              <a:t>(!reset) q &lt;=0;</a:t>
            </a:r>
            <a:endParaRPr lang="en-US" altLang="en-US" dirty="0"/>
          </a:p>
          <a:p>
            <a:pPr marL="0" indent="0">
              <a:buNone/>
            </a:pPr>
            <a:r>
              <a:rPr lang="en-US" altLang="en-US" dirty="0"/>
              <a:t>	</a:t>
            </a:r>
            <a:r>
              <a:rPr lang="ru-RU" altLang="en-US" dirty="0"/>
              <a:t> else q &lt;=d; </a:t>
            </a:r>
            <a:endParaRPr lang="en-US" altLang="en-US" dirty="0"/>
          </a:p>
          <a:p>
            <a:pPr marL="0" indent="0">
              <a:buNone/>
            </a:pPr>
            <a:r>
              <a:rPr lang="en-US" altLang="en-US" dirty="0"/>
              <a:t>	 end</a:t>
            </a:r>
          </a:p>
          <a:p>
            <a:r>
              <a:rPr lang="en-US" altLang="en-US" dirty="0" err="1"/>
              <a:t>posedge</a:t>
            </a:r>
            <a:r>
              <a:rPr lang="en-US" altLang="en-US" dirty="0"/>
              <a:t>,  </a:t>
            </a:r>
            <a:r>
              <a:rPr lang="en-US" altLang="en-US" dirty="0" err="1"/>
              <a:t>negedge</a:t>
            </a:r>
            <a:r>
              <a:rPr lang="en-US" altLang="en-US" dirty="0"/>
              <a:t>  are events</a:t>
            </a:r>
          </a:p>
          <a:p>
            <a:r>
              <a:rPr lang="ru-RU" altLang="en-US" dirty="0"/>
              <a:t>When the number of input variables to a combination logic block </a:t>
            </a:r>
            <a:r>
              <a:rPr lang="en-US" altLang="en-US" dirty="0"/>
              <a:t>is </a:t>
            </a:r>
            <a:r>
              <a:rPr lang="ru-RU" altLang="en-US" dirty="0"/>
              <a:t>very large, sensitivity lists can become very </a:t>
            </a:r>
            <a:r>
              <a:rPr lang="en-US" altLang="en-US" dirty="0"/>
              <a:t>lengthy. To avoid that </a:t>
            </a:r>
            <a:r>
              <a:rPr lang="ru-RU" altLang="en-US" dirty="0"/>
              <a:t>Verilog HDL contains two special symbols: @* and @(*).  </a:t>
            </a:r>
          </a:p>
          <a:p>
            <a:endParaRPr lang="ru-RU" altLang="en-US" dirty="0"/>
          </a:p>
        </p:txBody>
      </p:sp>
      <p:sp>
        <p:nvSpPr>
          <p:cNvPr id="53251" name="Title 3">
            <a:extLst>
              <a:ext uri="{FF2B5EF4-FFF2-40B4-BE49-F238E27FC236}">
                <a16:creationId xmlns:a16="http://schemas.microsoft.com/office/drawing/2014/main" id="{24B3B5ED-1022-6B3B-E8D0-A2C1B757F153}"/>
              </a:ext>
            </a:extLst>
          </p:cNvPr>
          <p:cNvSpPr>
            <a:spLocks noGrp="1" noChangeArrowheads="1"/>
          </p:cNvSpPr>
          <p:nvPr>
            <p:ph type="title"/>
          </p:nvPr>
        </p:nvSpPr>
        <p:spPr>
          <a:xfrm>
            <a:off x="-1" y="183402"/>
            <a:ext cx="11612880" cy="704088"/>
          </a:xfrm>
        </p:spPr>
        <p:txBody>
          <a:bodyPr>
            <a:normAutofit/>
          </a:bodyPr>
          <a:lstStyle/>
          <a:p>
            <a:r>
              <a:rPr lang="en-US" altLang="en-US" dirty="0"/>
              <a:t>Example (3)</a:t>
            </a:r>
            <a:endParaRPr lang="ru-RU"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C28D534B-0759-298A-F6AC-DC4935C6F95E}"/>
              </a:ext>
            </a:extLst>
          </p:cNvPr>
          <p:cNvSpPr>
            <a:spLocks noGrp="1" noChangeArrowheads="1"/>
          </p:cNvSpPr>
          <p:nvPr>
            <p:ph type="title"/>
          </p:nvPr>
        </p:nvSpPr>
        <p:spPr/>
        <p:txBody>
          <a:bodyPr/>
          <a:lstStyle/>
          <a:p>
            <a:r>
              <a:rPr lang="en-US" altLang="en-US"/>
              <a:t>Always  Statements  in System Verilog</a:t>
            </a:r>
            <a:endParaRPr lang="en-GB" altLang="en-US"/>
          </a:p>
        </p:txBody>
      </p:sp>
      <p:sp>
        <p:nvSpPr>
          <p:cNvPr id="3" name="Text Placeholder 2">
            <a:extLst>
              <a:ext uri="{FF2B5EF4-FFF2-40B4-BE49-F238E27FC236}">
                <a16:creationId xmlns:a16="http://schemas.microsoft.com/office/drawing/2014/main" id="{D1F57EB8-997F-BAAF-1975-2B03EDB1B2D6}"/>
              </a:ext>
            </a:extLst>
          </p:cNvPr>
          <p:cNvSpPr>
            <a:spLocks noGrp="1"/>
          </p:cNvSpPr>
          <p:nvPr>
            <p:ph type="body" sz="quarter" idx="10"/>
          </p:nvPr>
        </p:nvSpPr>
        <p:spPr/>
        <p:txBody>
          <a:bodyPr/>
          <a:lstStyle/>
          <a:p>
            <a:r>
              <a:rPr lang="en-US" dirty="0"/>
              <a:t>In Verilog  always statements can be used to imply flip-flops, latches, or combinational logic, depending on the sensitivity list and statement. </a:t>
            </a:r>
          </a:p>
          <a:p>
            <a:r>
              <a:rPr lang="en-US" dirty="0"/>
              <a:t>Because  of this   flexibility, it is easy to produce the wrong hardware inadvertently.</a:t>
            </a:r>
          </a:p>
          <a:p>
            <a:r>
              <a:rPr lang="en-US" dirty="0" err="1"/>
              <a:t>SystemVerilog</a:t>
            </a:r>
            <a:r>
              <a:rPr lang="en-US" dirty="0"/>
              <a:t> introduces   </a:t>
            </a:r>
            <a:r>
              <a:rPr lang="en-US" dirty="0" err="1"/>
              <a:t>always_ff</a:t>
            </a:r>
            <a:r>
              <a:rPr lang="en-US" dirty="0"/>
              <a:t>, </a:t>
            </a:r>
            <a:r>
              <a:rPr lang="en-US" dirty="0" err="1"/>
              <a:t>always_latch</a:t>
            </a:r>
            <a:r>
              <a:rPr lang="en-US" dirty="0"/>
              <a:t>,  and </a:t>
            </a:r>
            <a:r>
              <a:rPr lang="en-US" dirty="0" err="1"/>
              <a:t>always_comb</a:t>
            </a:r>
            <a:r>
              <a:rPr lang="en-US" dirty="0"/>
              <a:t> to reduce the risk of common errors.</a:t>
            </a:r>
          </a:p>
          <a:p>
            <a:endParaRPr lang="en-US" dirty="0"/>
          </a:p>
          <a:p>
            <a:r>
              <a:rPr lang="en-US" dirty="0" err="1"/>
              <a:t>always_ff</a:t>
            </a:r>
            <a:r>
              <a:rPr lang="en-US" dirty="0"/>
              <a:t>  behaves like always but is used exclusively to imply</a:t>
            </a:r>
          </a:p>
          <a:p>
            <a:r>
              <a:rPr lang="en-US" dirty="0"/>
              <a:t>flip-flops and allows tools to produce a warning if anything else</a:t>
            </a:r>
          </a:p>
          <a:p>
            <a:r>
              <a:rPr lang="en-US" dirty="0"/>
              <a:t>is implied.</a:t>
            </a:r>
          </a:p>
          <a:p>
            <a:endParaRPr lang="en-US" dirty="0"/>
          </a:p>
          <a:p>
            <a:endParaRPr lang="en-US"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053BE2D8-445A-7E49-2C28-BD3BD6DFF3E3}"/>
              </a:ext>
            </a:extLst>
          </p:cNvPr>
          <p:cNvSpPr>
            <a:spLocks noGrp="1" noChangeArrowheads="1"/>
          </p:cNvSpPr>
          <p:nvPr>
            <p:ph type="title"/>
          </p:nvPr>
        </p:nvSpPr>
        <p:spPr/>
        <p:txBody>
          <a:bodyPr/>
          <a:lstStyle/>
          <a:p>
            <a:r>
              <a:rPr lang="en-GB" altLang="en-US"/>
              <a:t>always_ff </a:t>
            </a:r>
          </a:p>
        </p:txBody>
      </p:sp>
      <p:sp>
        <p:nvSpPr>
          <p:cNvPr id="55299" name="TextBox 3">
            <a:extLst>
              <a:ext uri="{FF2B5EF4-FFF2-40B4-BE49-F238E27FC236}">
                <a16:creationId xmlns:a16="http://schemas.microsoft.com/office/drawing/2014/main" id="{E4255EDA-27AD-9E76-E3FD-443C793B736B}"/>
              </a:ext>
            </a:extLst>
          </p:cNvPr>
          <p:cNvSpPr txBox="1">
            <a:spLocks noChangeArrowheads="1"/>
          </p:cNvSpPr>
          <p:nvPr/>
        </p:nvSpPr>
        <p:spPr bwMode="auto">
          <a:xfrm>
            <a:off x="5943600" y="1524000"/>
            <a:ext cx="41910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a:solidFill>
                  <a:srgbClr val="0000FF"/>
                </a:solidFill>
              </a:rPr>
              <a:t>module</a:t>
            </a:r>
            <a:r>
              <a:rPr lang="en-GB" altLang="en-US"/>
              <a:t> sync(input logic clk,</a:t>
            </a:r>
          </a:p>
          <a:p>
            <a:pPr eaLnBrk="1" hangingPunct="1"/>
            <a:r>
              <a:rPr lang="en-GB" altLang="en-US">
                <a:solidFill>
                  <a:srgbClr val="0000FF"/>
                </a:solidFill>
              </a:rPr>
              <a:t>input logic </a:t>
            </a:r>
            <a:r>
              <a:rPr lang="en-GB" altLang="en-US"/>
              <a:t>d,</a:t>
            </a:r>
          </a:p>
          <a:p>
            <a:pPr eaLnBrk="1" hangingPunct="1"/>
            <a:r>
              <a:rPr lang="en-GB" altLang="en-US">
                <a:solidFill>
                  <a:srgbClr val="0000FF"/>
                </a:solidFill>
              </a:rPr>
              <a:t>output logic </a:t>
            </a:r>
            <a:r>
              <a:rPr lang="en-GB" altLang="en-US"/>
              <a:t>q);</a:t>
            </a:r>
          </a:p>
          <a:p>
            <a:pPr eaLnBrk="1" hangingPunct="1"/>
            <a:r>
              <a:rPr lang="en-GB" altLang="en-US">
                <a:solidFill>
                  <a:srgbClr val="0000FF"/>
                </a:solidFill>
              </a:rPr>
              <a:t>logic</a:t>
            </a:r>
            <a:r>
              <a:rPr lang="en-GB" altLang="en-US"/>
              <a:t> synch;</a:t>
            </a:r>
          </a:p>
          <a:p>
            <a:pPr eaLnBrk="1" hangingPunct="1"/>
            <a:r>
              <a:rPr lang="en-GB" altLang="en-US">
                <a:solidFill>
                  <a:srgbClr val="0000FF"/>
                </a:solidFill>
              </a:rPr>
              <a:t>always_ff</a:t>
            </a:r>
            <a:r>
              <a:rPr lang="en-GB" altLang="en-US"/>
              <a:t> @(posedge clk)</a:t>
            </a:r>
          </a:p>
          <a:p>
            <a:pPr eaLnBrk="1" hangingPunct="1"/>
            <a:r>
              <a:rPr lang="en-GB" altLang="en-US">
                <a:solidFill>
                  <a:srgbClr val="0000FF"/>
                </a:solidFill>
              </a:rPr>
              <a:t>begin</a:t>
            </a:r>
          </a:p>
          <a:p>
            <a:pPr eaLnBrk="1" hangingPunct="1"/>
            <a:r>
              <a:rPr lang="en-GB" altLang="en-US"/>
              <a:t>synch &lt;= d; // nonblocking</a:t>
            </a:r>
          </a:p>
          <a:p>
            <a:pPr eaLnBrk="1" hangingPunct="1"/>
            <a:r>
              <a:rPr lang="en-GB" altLang="en-US"/>
              <a:t>q &lt;= synch; // nonblocking</a:t>
            </a:r>
          </a:p>
          <a:p>
            <a:pPr eaLnBrk="1" hangingPunct="1"/>
            <a:r>
              <a:rPr lang="en-GB" altLang="en-US">
                <a:solidFill>
                  <a:srgbClr val="0000FF"/>
                </a:solidFill>
              </a:rPr>
              <a:t>end</a:t>
            </a:r>
          </a:p>
          <a:p>
            <a:pPr eaLnBrk="1" hangingPunct="1"/>
            <a:r>
              <a:rPr lang="en-GB" altLang="en-US">
                <a:solidFill>
                  <a:srgbClr val="0000FF"/>
                </a:solidFill>
              </a:rPr>
              <a:t>endmodule</a:t>
            </a:r>
          </a:p>
          <a:p>
            <a:pPr eaLnBrk="1" hangingPunct="1"/>
            <a:endParaRPr lang="en-US" altLang="en-US"/>
          </a:p>
          <a:p>
            <a:pPr eaLnBrk="1" hangingPunct="1"/>
            <a:endParaRPr lang="en-GB" altLang="en-US"/>
          </a:p>
        </p:txBody>
      </p:sp>
      <p:grpSp>
        <p:nvGrpSpPr>
          <p:cNvPr id="55300" name="Group 60">
            <a:extLst>
              <a:ext uri="{FF2B5EF4-FFF2-40B4-BE49-F238E27FC236}">
                <a16:creationId xmlns:a16="http://schemas.microsoft.com/office/drawing/2014/main" id="{C60A3958-ABD1-0362-EAF7-D5C12F0C75A5}"/>
              </a:ext>
            </a:extLst>
          </p:cNvPr>
          <p:cNvGrpSpPr>
            <a:grpSpLocks/>
          </p:cNvGrpSpPr>
          <p:nvPr/>
        </p:nvGrpSpPr>
        <p:grpSpPr bwMode="auto">
          <a:xfrm>
            <a:off x="1981201" y="1828800"/>
            <a:ext cx="3590925" cy="1292914"/>
            <a:chOff x="4298950" y="2900361"/>
            <a:chExt cx="3784609" cy="1414460"/>
          </a:xfrm>
        </p:grpSpPr>
        <p:sp>
          <p:nvSpPr>
            <p:cNvPr id="55301" name="Text Box 58">
              <a:extLst>
                <a:ext uri="{FF2B5EF4-FFF2-40B4-BE49-F238E27FC236}">
                  <a16:creationId xmlns:a16="http://schemas.microsoft.com/office/drawing/2014/main" id="{A2EF08F3-9BE9-C699-A95A-5BB219E31B47}"/>
                </a:ext>
              </a:extLst>
            </p:cNvPr>
            <p:cNvSpPr txBox="1">
              <a:spLocks noChangeArrowheads="1"/>
            </p:cNvSpPr>
            <p:nvPr/>
          </p:nvSpPr>
          <p:spPr bwMode="auto">
            <a:xfrm>
              <a:off x="4298950" y="3924300"/>
              <a:ext cx="788988" cy="370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clock</a:t>
              </a:r>
              <a:endParaRPr lang="ru-RU" altLang="en-US" sz="1600" b="1"/>
            </a:p>
          </p:txBody>
        </p:sp>
        <p:grpSp>
          <p:nvGrpSpPr>
            <p:cNvPr id="55302" name="Group 59">
              <a:extLst>
                <a:ext uri="{FF2B5EF4-FFF2-40B4-BE49-F238E27FC236}">
                  <a16:creationId xmlns:a16="http://schemas.microsoft.com/office/drawing/2014/main" id="{C64BCA14-BF9E-BAA3-F96C-262FE66831A9}"/>
                </a:ext>
              </a:extLst>
            </p:cNvPr>
            <p:cNvGrpSpPr>
              <a:grpSpLocks/>
            </p:cNvGrpSpPr>
            <p:nvPr/>
          </p:nvGrpSpPr>
          <p:grpSpPr bwMode="auto">
            <a:xfrm>
              <a:off x="4694243" y="2900361"/>
              <a:ext cx="3389316" cy="1414460"/>
              <a:chOff x="2957" y="1827"/>
              <a:chExt cx="2135" cy="891"/>
            </a:xfrm>
          </p:grpSpPr>
          <p:grpSp>
            <p:nvGrpSpPr>
              <p:cNvPr id="55303" name="Group 38">
                <a:extLst>
                  <a:ext uri="{FF2B5EF4-FFF2-40B4-BE49-F238E27FC236}">
                    <a16:creationId xmlns:a16="http://schemas.microsoft.com/office/drawing/2014/main" id="{CA73F8DC-170C-1BCF-9700-165F561E9B85}"/>
                  </a:ext>
                </a:extLst>
              </p:cNvPr>
              <p:cNvGrpSpPr>
                <a:grpSpLocks/>
              </p:cNvGrpSpPr>
              <p:nvPr/>
            </p:nvGrpSpPr>
            <p:grpSpPr bwMode="auto">
              <a:xfrm>
                <a:off x="3346" y="2031"/>
                <a:ext cx="477" cy="566"/>
                <a:chOff x="1157" y="2031"/>
                <a:chExt cx="525" cy="759"/>
              </a:xfrm>
            </p:grpSpPr>
            <p:sp>
              <p:nvSpPr>
                <p:cNvPr id="55321" name="Rectangle 39">
                  <a:extLst>
                    <a:ext uri="{FF2B5EF4-FFF2-40B4-BE49-F238E27FC236}">
                      <a16:creationId xmlns:a16="http://schemas.microsoft.com/office/drawing/2014/main" id="{F4835AD4-DD87-294E-BB90-96BC96A137CA}"/>
                    </a:ext>
                  </a:extLst>
                </p:cNvPr>
                <p:cNvSpPr>
                  <a:spLocks noChangeArrowheads="1"/>
                </p:cNvSpPr>
                <p:nvPr/>
              </p:nvSpPr>
              <p:spPr bwMode="auto">
                <a:xfrm>
                  <a:off x="1190" y="2155"/>
                  <a:ext cx="95"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D</a:t>
                  </a:r>
                  <a:endParaRPr lang="en-US" altLang="en-US" sz="1600" b="1">
                    <a:latin typeface="Times New Roman" panose="02020603050405020304" pitchFamily="18" charset="0"/>
                  </a:endParaRPr>
                </a:p>
              </p:txBody>
            </p:sp>
            <p:sp>
              <p:nvSpPr>
                <p:cNvPr id="55322" name="Rectangle 40">
                  <a:extLst>
                    <a:ext uri="{FF2B5EF4-FFF2-40B4-BE49-F238E27FC236}">
                      <a16:creationId xmlns:a16="http://schemas.microsoft.com/office/drawing/2014/main" id="{7D713944-9C4A-F6B4-845A-603AD6A26583}"/>
                    </a:ext>
                  </a:extLst>
                </p:cNvPr>
                <p:cNvSpPr>
                  <a:spLocks noChangeArrowheads="1"/>
                </p:cNvSpPr>
                <p:nvPr/>
              </p:nvSpPr>
              <p:spPr bwMode="auto">
                <a:xfrm>
                  <a:off x="1502" y="2155"/>
                  <a:ext cx="10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Q</a:t>
                  </a:r>
                  <a:endParaRPr lang="en-US" altLang="en-US" sz="1600" b="1">
                    <a:latin typeface="Times New Roman" panose="02020603050405020304" pitchFamily="18" charset="0"/>
                  </a:endParaRPr>
                </a:p>
              </p:txBody>
            </p:sp>
            <p:sp>
              <p:nvSpPr>
                <p:cNvPr id="55323" name="Freeform 41">
                  <a:extLst>
                    <a:ext uri="{FF2B5EF4-FFF2-40B4-BE49-F238E27FC236}">
                      <a16:creationId xmlns:a16="http://schemas.microsoft.com/office/drawing/2014/main" id="{67483B2D-E802-B387-297B-4BE079FBA3DB}"/>
                    </a:ext>
                  </a:extLst>
                </p:cNvPr>
                <p:cNvSpPr>
                  <a:spLocks/>
                </p:cNvSpPr>
                <p:nvPr/>
              </p:nvSpPr>
              <p:spPr bwMode="auto">
                <a:xfrm>
                  <a:off x="1161" y="2536"/>
                  <a:ext cx="107" cy="111"/>
                </a:xfrm>
                <a:custGeom>
                  <a:avLst/>
                  <a:gdLst>
                    <a:gd name="T0" fmla="*/ 0 w 129"/>
                    <a:gd name="T1" fmla="*/ 3 h 133"/>
                    <a:gd name="T2" fmla="*/ 2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24" name="Rectangle 42">
                  <a:extLst>
                    <a:ext uri="{FF2B5EF4-FFF2-40B4-BE49-F238E27FC236}">
                      <a16:creationId xmlns:a16="http://schemas.microsoft.com/office/drawing/2014/main" id="{DE6C1E43-E1DE-B1C9-0053-0BA904F2F1E1}"/>
                    </a:ext>
                  </a:extLst>
                </p:cNvPr>
                <p:cNvSpPr>
                  <a:spLocks noChangeArrowheads="1"/>
                </p:cNvSpPr>
                <p:nvPr/>
              </p:nvSpPr>
              <p:spPr bwMode="auto">
                <a:xfrm>
                  <a:off x="1157" y="2031"/>
                  <a:ext cx="525" cy="759"/>
                </a:xfrm>
                <a:prstGeom prst="rect">
                  <a:avLst/>
                </a:prstGeom>
                <a:solidFill>
                  <a:schemeClr val="accent1">
                    <a:alpha val="61960"/>
                  </a:schemeClr>
                </a:solidFill>
                <a:ln w="25400">
                  <a:solidFill>
                    <a:schemeClr val="tx1"/>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55325" name="Text Box 43">
                  <a:extLst>
                    <a:ext uri="{FF2B5EF4-FFF2-40B4-BE49-F238E27FC236}">
                      <a16:creationId xmlns:a16="http://schemas.microsoft.com/office/drawing/2014/main" id="{9AEFEF54-1AA6-C1E0-8C86-E84BD2C3F42E}"/>
                    </a:ext>
                  </a:extLst>
                </p:cNvPr>
                <p:cNvSpPr txBox="1">
                  <a:spLocks noChangeArrowheads="1"/>
                </p:cNvSpPr>
                <p:nvPr/>
              </p:nvSpPr>
              <p:spPr bwMode="auto">
                <a:xfrm>
                  <a:off x="1337" y="2388"/>
                  <a:ext cx="227"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A</a:t>
                  </a:r>
                  <a:endParaRPr lang="ru-RU" altLang="en-US" sz="1600" b="1"/>
                </a:p>
              </p:txBody>
            </p:sp>
          </p:grpSp>
          <p:grpSp>
            <p:nvGrpSpPr>
              <p:cNvPr id="55304" name="Group 44">
                <a:extLst>
                  <a:ext uri="{FF2B5EF4-FFF2-40B4-BE49-F238E27FC236}">
                    <a16:creationId xmlns:a16="http://schemas.microsoft.com/office/drawing/2014/main" id="{0CBA9004-9776-2120-2A2C-15C1123D1435}"/>
                  </a:ext>
                </a:extLst>
              </p:cNvPr>
              <p:cNvGrpSpPr>
                <a:grpSpLocks/>
              </p:cNvGrpSpPr>
              <p:nvPr/>
            </p:nvGrpSpPr>
            <p:grpSpPr bwMode="auto">
              <a:xfrm>
                <a:off x="4268" y="2025"/>
                <a:ext cx="477" cy="566"/>
                <a:chOff x="1157" y="2031"/>
                <a:chExt cx="525" cy="759"/>
              </a:xfrm>
            </p:grpSpPr>
            <p:sp>
              <p:nvSpPr>
                <p:cNvPr id="55316" name="Rectangle 45">
                  <a:extLst>
                    <a:ext uri="{FF2B5EF4-FFF2-40B4-BE49-F238E27FC236}">
                      <a16:creationId xmlns:a16="http://schemas.microsoft.com/office/drawing/2014/main" id="{6A430148-AC9D-1746-9F4B-4CC2C09D4902}"/>
                    </a:ext>
                  </a:extLst>
                </p:cNvPr>
                <p:cNvSpPr>
                  <a:spLocks noChangeArrowheads="1"/>
                </p:cNvSpPr>
                <p:nvPr/>
              </p:nvSpPr>
              <p:spPr bwMode="auto">
                <a:xfrm>
                  <a:off x="1190" y="2155"/>
                  <a:ext cx="95"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D</a:t>
                  </a:r>
                  <a:endParaRPr lang="en-US" altLang="en-US" sz="1600" b="1">
                    <a:latin typeface="Times New Roman" panose="02020603050405020304" pitchFamily="18" charset="0"/>
                  </a:endParaRPr>
                </a:p>
              </p:txBody>
            </p:sp>
            <p:sp>
              <p:nvSpPr>
                <p:cNvPr id="55317" name="Rectangle 46">
                  <a:extLst>
                    <a:ext uri="{FF2B5EF4-FFF2-40B4-BE49-F238E27FC236}">
                      <a16:creationId xmlns:a16="http://schemas.microsoft.com/office/drawing/2014/main" id="{92AC160C-A11A-D9CC-82FB-AD4966EB53D7}"/>
                    </a:ext>
                  </a:extLst>
                </p:cNvPr>
                <p:cNvSpPr>
                  <a:spLocks noChangeArrowheads="1"/>
                </p:cNvSpPr>
                <p:nvPr/>
              </p:nvSpPr>
              <p:spPr bwMode="auto">
                <a:xfrm>
                  <a:off x="1501" y="2155"/>
                  <a:ext cx="10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Q</a:t>
                  </a:r>
                  <a:endParaRPr lang="en-US" altLang="en-US" sz="1600" b="1">
                    <a:latin typeface="Times New Roman" panose="02020603050405020304" pitchFamily="18" charset="0"/>
                  </a:endParaRPr>
                </a:p>
              </p:txBody>
            </p:sp>
            <p:sp>
              <p:nvSpPr>
                <p:cNvPr id="55318" name="Freeform 47">
                  <a:extLst>
                    <a:ext uri="{FF2B5EF4-FFF2-40B4-BE49-F238E27FC236}">
                      <a16:creationId xmlns:a16="http://schemas.microsoft.com/office/drawing/2014/main" id="{76AC0427-5121-99BA-5E64-DCC6B632C8E8}"/>
                    </a:ext>
                  </a:extLst>
                </p:cNvPr>
                <p:cNvSpPr>
                  <a:spLocks/>
                </p:cNvSpPr>
                <p:nvPr/>
              </p:nvSpPr>
              <p:spPr bwMode="auto">
                <a:xfrm>
                  <a:off x="1161" y="2536"/>
                  <a:ext cx="107" cy="111"/>
                </a:xfrm>
                <a:custGeom>
                  <a:avLst/>
                  <a:gdLst>
                    <a:gd name="T0" fmla="*/ 0 w 129"/>
                    <a:gd name="T1" fmla="*/ 3 h 133"/>
                    <a:gd name="T2" fmla="*/ 2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19" name="Rectangle 48">
                  <a:extLst>
                    <a:ext uri="{FF2B5EF4-FFF2-40B4-BE49-F238E27FC236}">
                      <a16:creationId xmlns:a16="http://schemas.microsoft.com/office/drawing/2014/main" id="{C564D844-8CCC-E3AE-2DB9-57C185823231}"/>
                    </a:ext>
                  </a:extLst>
                </p:cNvPr>
                <p:cNvSpPr>
                  <a:spLocks noChangeArrowheads="1"/>
                </p:cNvSpPr>
                <p:nvPr/>
              </p:nvSpPr>
              <p:spPr bwMode="auto">
                <a:xfrm>
                  <a:off x="1157" y="2031"/>
                  <a:ext cx="525" cy="759"/>
                </a:xfrm>
                <a:prstGeom prst="rect">
                  <a:avLst/>
                </a:prstGeom>
                <a:solidFill>
                  <a:schemeClr val="accent1">
                    <a:alpha val="61960"/>
                  </a:schemeClr>
                </a:solidFill>
                <a:ln w="25400">
                  <a:solidFill>
                    <a:schemeClr val="tx1"/>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55320" name="Text Box 49">
                  <a:extLst>
                    <a:ext uri="{FF2B5EF4-FFF2-40B4-BE49-F238E27FC236}">
                      <a16:creationId xmlns:a16="http://schemas.microsoft.com/office/drawing/2014/main" id="{F52F5D4F-1AB4-1FBF-C8C4-5FE602E8811C}"/>
                    </a:ext>
                  </a:extLst>
                </p:cNvPr>
                <p:cNvSpPr txBox="1">
                  <a:spLocks noChangeArrowheads="1"/>
                </p:cNvSpPr>
                <p:nvPr/>
              </p:nvSpPr>
              <p:spPr bwMode="auto">
                <a:xfrm>
                  <a:off x="1337" y="2388"/>
                  <a:ext cx="227"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B</a:t>
                  </a:r>
                  <a:endParaRPr lang="ru-RU" altLang="en-US" sz="1600" b="1"/>
                </a:p>
              </p:txBody>
            </p:sp>
          </p:grpSp>
          <p:sp>
            <p:nvSpPr>
              <p:cNvPr id="55305" name="Line 52">
                <a:extLst>
                  <a:ext uri="{FF2B5EF4-FFF2-40B4-BE49-F238E27FC236}">
                    <a16:creationId xmlns:a16="http://schemas.microsoft.com/office/drawing/2014/main" id="{E7703396-9C69-7080-DBF6-605C0AAFF823}"/>
                  </a:ext>
                </a:extLst>
              </p:cNvPr>
              <p:cNvSpPr>
                <a:spLocks noChangeShapeType="1"/>
              </p:cNvSpPr>
              <p:nvPr/>
            </p:nvSpPr>
            <p:spPr bwMode="auto">
              <a:xfrm>
                <a:off x="3827" y="2168"/>
                <a:ext cx="4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6" name="Line 53">
                <a:extLst>
                  <a:ext uri="{FF2B5EF4-FFF2-40B4-BE49-F238E27FC236}">
                    <a16:creationId xmlns:a16="http://schemas.microsoft.com/office/drawing/2014/main" id="{484EC0FE-CB64-F381-34FB-34095BE57EEE}"/>
                  </a:ext>
                </a:extLst>
              </p:cNvPr>
              <p:cNvSpPr>
                <a:spLocks noChangeShapeType="1"/>
              </p:cNvSpPr>
              <p:nvPr/>
            </p:nvSpPr>
            <p:spPr bwMode="auto">
              <a:xfrm>
                <a:off x="3006" y="2717"/>
                <a:ext cx="11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7" name="Line 54">
                <a:extLst>
                  <a:ext uri="{FF2B5EF4-FFF2-40B4-BE49-F238E27FC236}">
                    <a16:creationId xmlns:a16="http://schemas.microsoft.com/office/drawing/2014/main" id="{9911C70D-C127-9104-97AE-7AA894723277}"/>
                  </a:ext>
                </a:extLst>
              </p:cNvPr>
              <p:cNvSpPr>
                <a:spLocks noChangeShapeType="1"/>
              </p:cNvSpPr>
              <p:nvPr/>
            </p:nvSpPr>
            <p:spPr bwMode="auto">
              <a:xfrm>
                <a:off x="3189" y="2446"/>
                <a:ext cx="0" cy="272"/>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5308" name="Line 55">
                <a:extLst>
                  <a:ext uri="{FF2B5EF4-FFF2-40B4-BE49-F238E27FC236}">
                    <a16:creationId xmlns:a16="http://schemas.microsoft.com/office/drawing/2014/main" id="{4029A5D7-94E4-CDF6-7DD5-5AC216431CD0}"/>
                  </a:ext>
                </a:extLst>
              </p:cNvPr>
              <p:cNvSpPr>
                <a:spLocks noChangeShapeType="1"/>
              </p:cNvSpPr>
              <p:nvPr/>
            </p:nvSpPr>
            <p:spPr bwMode="auto">
              <a:xfrm>
                <a:off x="3180" y="2453"/>
                <a:ext cx="16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9" name="Line 56">
                <a:extLst>
                  <a:ext uri="{FF2B5EF4-FFF2-40B4-BE49-F238E27FC236}">
                    <a16:creationId xmlns:a16="http://schemas.microsoft.com/office/drawing/2014/main" id="{BEBF107C-DDC1-544A-E8BA-64961EC4058F}"/>
                  </a:ext>
                </a:extLst>
              </p:cNvPr>
              <p:cNvSpPr>
                <a:spLocks noChangeShapeType="1"/>
              </p:cNvSpPr>
              <p:nvPr/>
            </p:nvSpPr>
            <p:spPr bwMode="auto">
              <a:xfrm>
                <a:off x="4118" y="2440"/>
                <a:ext cx="0" cy="27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0" name="Line 57">
                <a:extLst>
                  <a:ext uri="{FF2B5EF4-FFF2-40B4-BE49-F238E27FC236}">
                    <a16:creationId xmlns:a16="http://schemas.microsoft.com/office/drawing/2014/main" id="{E253B1CD-EEC8-2C8B-D7EC-F48CFB9A7D8D}"/>
                  </a:ext>
                </a:extLst>
              </p:cNvPr>
              <p:cNvSpPr>
                <a:spLocks noChangeShapeType="1"/>
              </p:cNvSpPr>
              <p:nvPr/>
            </p:nvSpPr>
            <p:spPr bwMode="auto">
              <a:xfrm>
                <a:off x="4110" y="2446"/>
                <a:ext cx="1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1" name="Line 59">
                <a:extLst>
                  <a:ext uri="{FF2B5EF4-FFF2-40B4-BE49-F238E27FC236}">
                    <a16:creationId xmlns:a16="http://schemas.microsoft.com/office/drawing/2014/main" id="{FA7B775B-7B08-DA24-ECD1-EA28A7FB87BB}"/>
                  </a:ext>
                </a:extLst>
              </p:cNvPr>
              <p:cNvSpPr>
                <a:spLocks noChangeShapeType="1"/>
              </p:cNvSpPr>
              <p:nvPr/>
            </p:nvSpPr>
            <p:spPr bwMode="auto">
              <a:xfrm>
                <a:off x="3007" y="2168"/>
                <a:ext cx="3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2" name="Text Box 60">
                <a:extLst>
                  <a:ext uri="{FF2B5EF4-FFF2-40B4-BE49-F238E27FC236}">
                    <a16:creationId xmlns:a16="http://schemas.microsoft.com/office/drawing/2014/main" id="{D83F6E99-CB55-A706-3D8E-307487B8C07D}"/>
                  </a:ext>
                </a:extLst>
              </p:cNvPr>
              <p:cNvSpPr txBox="1">
                <a:spLocks noChangeArrowheads="1"/>
              </p:cNvSpPr>
              <p:nvPr/>
            </p:nvSpPr>
            <p:spPr bwMode="auto">
              <a:xfrm>
                <a:off x="3770" y="1827"/>
                <a:ext cx="708"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synch</a:t>
                </a:r>
                <a:endParaRPr lang="ru-RU" altLang="en-US" sz="1800" b="1"/>
              </a:p>
            </p:txBody>
          </p:sp>
          <p:sp>
            <p:nvSpPr>
              <p:cNvPr id="55313" name="Line 61">
                <a:extLst>
                  <a:ext uri="{FF2B5EF4-FFF2-40B4-BE49-F238E27FC236}">
                    <a16:creationId xmlns:a16="http://schemas.microsoft.com/office/drawing/2014/main" id="{52E96704-CACD-77E3-F231-6F1662CFE1FA}"/>
                  </a:ext>
                </a:extLst>
              </p:cNvPr>
              <p:cNvSpPr>
                <a:spLocks noChangeShapeType="1"/>
              </p:cNvSpPr>
              <p:nvPr/>
            </p:nvSpPr>
            <p:spPr bwMode="auto">
              <a:xfrm>
                <a:off x="4746" y="2168"/>
                <a:ext cx="3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4" name="Text Box 62">
                <a:extLst>
                  <a:ext uri="{FF2B5EF4-FFF2-40B4-BE49-F238E27FC236}">
                    <a16:creationId xmlns:a16="http://schemas.microsoft.com/office/drawing/2014/main" id="{9026EF02-2590-8E74-F889-81E6D51483CB}"/>
                  </a:ext>
                </a:extLst>
              </p:cNvPr>
              <p:cNvSpPr txBox="1">
                <a:spLocks noChangeArrowheads="1"/>
              </p:cNvSpPr>
              <p:nvPr/>
            </p:nvSpPr>
            <p:spPr bwMode="auto">
              <a:xfrm>
                <a:off x="4843" y="1900"/>
                <a:ext cx="24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q</a:t>
                </a:r>
                <a:endParaRPr lang="ru-RU" altLang="en-US" sz="1800" b="1"/>
              </a:p>
            </p:txBody>
          </p:sp>
          <p:sp>
            <p:nvSpPr>
              <p:cNvPr id="55315" name="Text Box 63">
                <a:extLst>
                  <a:ext uri="{FF2B5EF4-FFF2-40B4-BE49-F238E27FC236}">
                    <a16:creationId xmlns:a16="http://schemas.microsoft.com/office/drawing/2014/main" id="{78BA6396-E215-752E-7E6C-A5E3ABF66414}"/>
                  </a:ext>
                </a:extLst>
              </p:cNvPr>
              <p:cNvSpPr txBox="1">
                <a:spLocks noChangeArrowheads="1"/>
              </p:cNvSpPr>
              <p:nvPr/>
            </p:nvSpPr>
            <p:spPr bwMode="auto">
              <a:xfrm>
                <a:off x="2957" y="1900"/>
                <a:ext cx="24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d</a:t>
                </a:r>
                <a:endParaRPr lang="ru-RU" altLang="en-US" sz="1800" b="1"/>
              </a:p>
            </p:txBody>
          </p:sp>
        </p:gr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5F13AAFD-9B09-A9D7-79E0-73401BB00FE6}"/>
              </a:ext>
            </a:extLst>
          </p:cNvPr>
          <p:cNvSpPr>
            <a:spLocks noGrp="1" noChangeArrowheads="1"/>
          </p:cNvSpPr>
          <p:nvPr>
            <p:ph type="title"/>
          </p:nvPr>
        </p:nvSpPr>
        <p:spPr/>
        <p:txBody>
          <a:bodyPr/>
          <a:lstStyle/>
          <a:p>
            <a:r>
              <a:rPr lang="en-US" altLang="en-US"/>
              <a:t>always_latch  (D-Latch)</a:t>
            </a:r>
            <a:endParaRPr lang="en-GB" altLang="en-US"/>
          </a:p>
        </p:txBody>
      </p:sp>
      <p:sp>
        <p:nvSpPr>
          <p:cNvPr id="3" name="Text Placeholder 2">
            <a:extLst>
              <a:ext uri="{FF2B5EF4-FFF2-40B4-BE49-F238E27FC236}">
                <a16:creationId xmlns:a16="http://schemas.microsoft.com/office/drawing/2014/main" id="{2ADC9E09-D72D-DF26-7207-E7AEFCF0AD1B}"/>
              </a:ext>
            </a:extLst>
          </p:cNvPr>
          <p:cNvSpPr>
            <a:spLocks noGrp="1"/>
          </p:cNvSpPr>
          <p:nvPr>
            <p:ph type="body" sz="quarter" idx="10"/>
          </p:nvPr>
        </p:nvSpPr>
        <p:spPr/>
        <p:txBody>
          <a:bodyPr/>
          <a:lstStyle/>
          <a:p>
            <a:r>
              <a:rPr lang="en-US" dirty="0" err="1"/>
              <a:t>always_latch</a:t>
            </a:r>
            <a:r>
              <a:rPr lang="en-US" dirty="0"/>
              <a:t>   is equivalent to always @(clk, d)    and is the preferred  idiom for describing a latch in </a:t>
            </a:r>
            <a:r>
              <a:rPr lang="en-US" dirty="0" err="1"/>
              <a:t>SystemVerilog</a:t>
            </a:r>
            <a:r>
              <a:rPr lang="en-US" dirty="0"/>
              <a:t>.</a:t>
            </a:r>
          </a:p>
          <a:p>
            <a:endParaRPr lang="en-US" dirty="0"/>
          </a:p>
          <a:p>
            <a:r>
              <a:rPr lang="en-US" dirty="0" err="1"/>
              <a:t>SystemVerilog</a:t>
            </a:r>
            <a:endParaRPr lang="en-US" dirty="0"/>
          </a:p>
          <a:p>
            <a:r>
              <a:rPr lang="en-US" dirty="0"/>
              <a:t>module latch(input logic </a:t>
            </a:r>
            <a:r>
              <a:rPr lang="en-US" dirty="0" err="1"/>
              <a:t>clk</a:t>
            </a:r>
            <a:r>
              <a:rPr lang="en-US" dirty="0"/>
              <a:t>,</a:t>
            </a:r>
          </a:p>
          <a:p>
            <a:pPr lvl="1"/>
            <a:r>
              <a:rPr lang="en-US" dirty="0"/>
              <a:t>	input  logic [3:0] d,</a:t>
            </a:r>
          </a:p>
          <a:p>
            <a:pPr lvl="1"/>
            <a:r>
              <a:rPr lang="en-US" dirty="0"/>
              <a:t>	output logic [3:0] q);</a:t>
            </a:r>
          </a:p>
          <a:p>
            <a:pPr lvl="1"/>
            <a:r>
              <a:rPr lang="en-US" dirty="0"/>
              <a:t>	</a:t>
            </a:r>
            <a:r>
              <a:rPr lang="en-US" dirty="0" err="1"/>
              <a:t>always_latch</a:t>
            </a:r>
            <a:endParaRPr lang="en-US" dirty="0"/>
          </a:p>
          <a:p>
            <a:pPr lvl="1"/>
            <a:r>
              <a:rPr lang="en-US" dirty="0"/>
              <a:t>	if (</a:t>
            </a:r>
            <a:r>
              <a:rPr lang="en-US" dirty="0" err="1"/>
              <a:t>clk</a:t>
            </a:r>
            <a:r>
              <a:rPr lang="en-US" dirty="0"/>
              <a:t>) q &lt;= d;</a:t>
            </a:r>
          </a:p>
          <a:p>
            <a:pPr lvl="1"/>
            <a:r>
              <a:rPr lang="en-US" dirty="0"/>
              <a:t>	</a:t>
            </a:r>
            <a:r>
              <a:rPr lang="en-US" dirty="0" err="1"/>
              <a:t>endmodule</a:t>
            </a:r>
            <a:endParaRPr lang="en-US" dirty="0"/>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C84C8DC-7FD6-E332-943C-3D2FDBB98665}"/>
              </a:ext>
            </a:extLst>
          </p:cNvPr>
          <p:cNvSpPr>
            <a:spLocks noGrp="1" noChangeArrowheads="1"/>
          </p:cNvSpPr>
          <p:nvPr>
            <p:ph type="title"/>
          </p:nvPr>
        </p:nvSpPr>
        <p:spPr/>
        <p:txBody>
          <a:bodyPr/>
          <a:lstStyle/>
          <a:p>
            <a:r>
              <a:rPr lang="en-US" altLang="en-US"/>
              <a:t>always_comb (Full Adder)</a:t>
            </a:r>
            <a:endParaRPr lang="en-GB" altLang="en-US"/>
          </a:p>
        </p:txBody>
      </p:sp>
      <p:sp>
        <p:nvSpPr>
          <p:cNvPr id="57347" name="TextBox 2">
            <a:extLst>
              <a:ext uri="{FF2B5EF4-FFF2-40B4-BE49-F238E27FC236}">
                <a16:creationId xmlns:a16="http://schemas.microsoft.com/office/drawing/2014/main" id="{87D616CF-BA0A-A5B9-0858-BEBE535DA9BE}"/>
              </a:ext>
            </a:extLst>
          </p:cNvPr>
          <p:cNvSpPr txBox="1">
            <a:spLocks noChangeArrowheads="1"/>
          </p:cNvSpPr>
          <p:nvPr/>
        </p:nvSpPr>
        <p:spPr bwMode="auto">
          <a:xfrm>
            <a:off x="1981200" y="1600201"/>
            <a:ext cx="4038600"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a:solidFill>
                  <a:srgbClr val="0000FF"/>
                </a:solidFill>
              </a:rPr>
              <a:t>always_comb</a:t>
            </a:r>
            <a:r>
              <a:rPr lang="en-GB" altLang="en-US"/>
              <a:t>   reevaluates the statements inside the always</a:t>
            </a:r>
          </a:p>
          <a:p>
            <a:pPr eaLnBrk="1" hangingPunct="1"/>
            <a:r>
              <a:rPr lang="en-GB" altLang="en-US"/>
              <a:t>statement any time any of the signals on the right hand side</a:t>
            </a:r>
          </a:p>
          <a:p>
            <a:pPr eaLnBrk="1" hangingPunct="1"/>
            <a:r>
              <a:rPr lang="en-GB" altLang="en-US"/>
              <a:t>of &lt;= or = in the always statement change. </a:t>
            </a:r>
          </a:p>
          <a:p>
            <a:pPr eaLnBrk="1" hangingPunct="1"/>
            <a:r>
              <a:rPr lang="en-GB" altLang="en-US"/>
              <a:t>If the code inside the always block is not combinational logic,</a:t>
            </a:r>
          </a:p>
          <a:p>
            <a:pPr eaLnBrk="1" hangingPunct="1"/>
            <a:r>
              <a:rPr lang="en-GB" altLang="en-US"/>
              <a:t>SystemVerilog will report a warning.</a:t>
            </a:r>
            <a:endParaRPr lang="ru-RU" altLang="en-US"/>
          </a:p>
          <a:p>
            <a:pPr eaLnBrk="1" hangingPunct="1"/>
            <a:r>
              <a:rPr lang="en-GB" altLang="en-US"/>
              <a:t> always_comb is equivalent</a:t>
            </a:r>
            <a:r>
              <a:rPr lang="ru-RU" altLang="en-US"/>
              <a:t>   </a:t>
            </a:r>
            <a:r>
              <a:rPr lang="en-GB" altLang="en-US"/>
              <a:t>to always @(*), but is preferred in SystemVerilog.</a:t>
            </a:r>
          </a:p>
        </p:txBody>
      </p:sp>
      <p:sp>
        <p:nvSpPr>
          <p:cNvPr id="57348" name="TextBox 3">
            <a:extLst>
              <a:ext uri="{FF2B5EF4-FFF2-40B4-BE49-F238E27FC236}">
                <a16:creationId xmlns:a16="http://schemas.microsoft.com/office/drawing/2014/main" id="{3D7F51FD-9262-4F0C-AB46-32D1C5B8C2F4}"/>
              </a:ext>
            </a:extLst>
          </p:cNvPr>
          <p:cNvSpPr txBox="1">
            <a:spLocks noChangeArrowheads="1"/>
          </p:cNvSpPr>
          <p:nvPr/>
        </p:nvSpPr>
        <p:spPr bwMode="auto">
          <a:xfrm>
            <a:off x="6248400" y="1627188"/>
            <a:ext cx="4191000" cy="3478212"/>
          </a:xfrm>
          <a:prstGeom prst="rect">
            <a:avLst/>
          </a:prstGeom>
          <a:solidFill>
            <a:schemeClr val="accent1">
              <a:lumMod val="20000"/>
              <a:lumOff val="80000"/>
            </a:schemeClr>
          </a:solidFill>
          <a:ln>
            <a:noFill/>
          </a:ln>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dirty="0">
                <a:solidFill>
                  <a:srgbClr val="0000FF"/>
                </a:solidFill>
              </a:rPr>
              <a:t>module </a:t>
            </a:r>
            <a:r>
              <a:rPr lang="en-GB" altLang="en-US" dirty="0" err="1"/>
              <a:t>fulladder</a:t>
            </a:r>
            <a:r>
              <a:rPr lang="en-GB" altLang="en-US" dirty="0"/>
              <a:t>(</a:t>
            </a:r>
            <a:r>
              <a:rPr lang="en-GB" altLang="en-US" dirty="0">
                <a:solidFill>
                  <a:srgbClr val="0000FF"/>
                </a:solidFill>
              </a:rPr>
              <a:t>input</a:t>
            </a:r>
            <a:r>
              <a:rPr lang="en-GB" altLang="en-US" dirty="0"/>
              <a:t> </a:t>
            </a:r>
            <a:r>
              <a:rPr lang="en-GB" altLang="en-US" dirty="0">
                <a:solidFill>
                  <a:srgbClr val="0000FF"/>
                </a:solidFill>
              </a:rPr>
              <a:t>logic</a:t>
            </a:r>
            <a:r>
              <a:rPr lang="en-GB" altLang="en-US" dirty="0"/>
              <a:t> a, b, </a:t>
            </a:r>
            <a:r>
              <a:rPr lang="en-GB" altLang="en-US" dirty="0" err="1"/>
              <a:t>cin</a:t>
            </a:r>
            <a:r>
              <a:rPr lang="en-GB" altLang="en-US" dirty="0"/>
              <a:t>, </a:t>
            </a:r>
            <a:r>
              <a:rPr lang="en-GB" altLang="en-US" dirty="0">
                <a:solidFill>
                  <a:srgbClr val="0000FF"/>
                </a:solidFill>
              </a:rPr>
              <a:t>output logic </a:t>
            </a:r>
            <a:r>
              <a:rPr lang="en-GB" altLang="en-US" dirty="0"/>
              <a:t>s, </a:t>
            </a:r>
            <a:r>
              <a:rPr lang="en-GB" altLang="en-US" dirty="0" err="1"/>
              <a:t>cout</a:t>
            </a:r>
            <a:r>
              <a:rPr lang="en-GB" altLang="en-US" dirty="0"/>
              <a:t>);</a:t>
            </a:r>
          </a:p>
          <a:p>
            <a:pPr eaLnBrk="1" hangingPunct="1">
              <a:defRPr/>
            </a:pPr>
            <a:r>
              <a:rPr lang="en-GB" altLang="en-US" dirty="0">
                <a:solidFill>
                  <a:srgbClr val="0000FF"/>
                </a:solidFill>
              </a:rPr>
              <a:t>logic</a:t>
            </a:r>
            <a:r>
              <a:rPr lang="en-GB" altLang="en-US" dirty="0"/>
              <a:t> p, g;</a:t>
            </a:r>
          </a:p>
          <a:p>
            <a:pPr eaLnBrk="1" hangingPunct="1">
              <a:defRPr/>
            </a:pPr>
            <a:r>
              <a:rPr lang="en-GB" altLang="en-US" dirty="0" err="1">
                <a:solidFill>
                  <a:srgbClr val="0000FF"/>
                </a:solidFill>
              </a:rPr>
              <a:t>always_comb</a:t>
            </a:r>
            <a:endParaRPr lang="en-GB" altLang="en-US" dirty="0">
              <a:solidFill>
                <a:srgbClr val="0000FF"/>
              </a:solidFill>
            </a:endParaRPr>
          </a:p>
          <a:p>
            <a:pPr eaLnBrk="1" hangingPunct="1">
              <a:defRPr/>
            </a:pPr>
            <a:r>
              <a:rPr lang="en-GB" altLang="en-US" dirty="0">
                <a:solidFill>
                  <a:srgbClr val="0000FF"/>
                </a:solidFill>
              </a:rPr>
              <a:t>begin</a:t>
            </a:r>
          </a:p>
          <a:p>
            <a:pPr eaLnBrk="1" hangingPunct="1">
              <a:defRPr/>
            </a:pPr>
            <a:r>
              <a:rPr lang="en-GB" altLang="en-US" dirty="0"/>
              <a:t>p = a ^ b; // blocking</a:t>
            </a:r>
          </a:p>
          <a:p>
            <a:pPr eaLnBrk="1" hangingPunct="1">
              <a:defRPr/>
            </a:pPr>
            <a:r>
              <a:rPr lang="en-GB" altLang="en-US" dirty="0"/>
              <a:t>g = a &amp; b; // blocking</a:t>
            </a:r>
          </a:p>
          <a:p>
            <a:pPr eaLnBrk="1" hangingPunct="1">
              <a:defRPr/>
            </a:pPr>
            <a:r>
              <a:rPr lang="en-GB" altLang="en-US" dirty="0"/>
              <a:t>s = p ^ </a:t>
            </a:r>
            <a:r>
              <a:rPr lang="en-GB" altLang="en-US" dirty="0" err="1"/>
              <a:t>cin</a:t>
            </a:r>
            <a:r>
              <a:rPr lang="en-GB" altLang="en-US" dirty="0"/>
              <a:t>; // blocking</a:t>
            </a:r>
          </a:p>
          <a:p>
            <a:pPr eaLnBrk="1" hangingPunct="1">
              <a:defRPr/>
            </a:pPr>
            <a:r>
              <a:rPr lang="en-GB" altLang="en-US" dirty="0" err="1"/>
              <a:t>cout</a:t>
            </a:r>
            <a:r>
              <a:rPr lang="en-GB" altLang="en-US" dirty="0"/>
              <a:t> = g |(p &amp; </a:t>
            </a:r>
            <a:r>
              <a:rPr lang="en-GB" altLang="en-US" dirty="0" err="1"/>
              <a:t>cin</a:t>
            </a:r>
            <a:r>
              <a:rPr lang="en-GB" altLang="en-US" dirty="0"/>
              <a:t>); // blocking</a:t>
            </a:r>
          </a:p>
          <a:p>
            <a:pPr eaLnBrk="1" hangingPunct="1">
              <a:defRPr/>
            </a:pPr>
            <a:r>
              <a:rPr lang="en-GB" altLang="en-US" dirty="0">
                <a:solidFill>
                  <a:srgbClr val="0000FF"/>
                </a:solidFill>
              </a:rPr>
              <a:t>end</a:t>
            </a:r>
          </a:p>
          <a:p>
            <a:pPr eaLnBrk="1" hangingPunct="1">
              <a:defRPr/>
            </a:pPr>
            <a:r>
              <a:rPr lang="en-GB" altLang="en-US" dirty="0" err="1">
                <a:solidFill>
                  <a:srgbClr val="0000FF"/>
                </a:solidFill>
              </a:rPr>
              <a:t>endmodule</a:t>
            </a:r>
            <a:endParaRPr lang="en-GB" altLang="en-US" dirty="0">
              <a:solidFill>
                <a:srgbClr val="0000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DE010F6-DA75-4812-BD93-829143E48333}"/>
              </a:ext>
            </a:extLst>
          </p:cNvPr>
          <p:cNvSpPr/>
          <p:nvPr/>
        </p:nvSpPr>
        <p:spPr bwMode="auto">
          <a:xfrm>
            <a:off x="456878" y="2958790"/>
            <a:ext cx="5791200" cy="349776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58372" name="Content Placeholder 5">
            <a:extLst>
              <a:ext uri="{FF2B5EF4-FFF2-40B4-BE49-F238E27FC236}">
                <a16:creationId xmlns:a16="http://schemas.microsoft.com/office/drawing/2014/main" id="{C2D4F2EC-9007-AE60-F7B8-7B6056B00CDA}"/>
              </a:ext>
            </a:extLst>
          </p:cNvPr>
          <p:cNvSpPr>
            <a:spLocks noGrp="1" noChangeArrowheads="1"/>
          </p:cNvSpPr>
          <p:nvPr>
            <p:ph type="body" sz="quarter" idx="10"/>
          </p:nvPr>
        </p:nvSpPr>
        <p:spPr/>
        <p:txBody>
          <a:bodyPr/>
          <a:lstStyle/>
          <a:p>
            <a:r>
              <a:rPr lang="en-US" altLang="en-US" dirty="0"/>
              <a:t>Initial statement is </a:t>
            </a:r>
            <a:r>
              <a:rPr lang="ru-RU" altLang="en-US" dirty="0"/>
              <a:t>used either to set the initial states in the simulated device, or by writing simulation programs. </a:t>
            </a:r>
            <a:r>
              <a:rPr lang="en-US" altLang="en-US" dirty="0"/>
              <a:t>It executes only once at the beginning of a simulation. If there is more than one block, they execute concurrently. </a:t>
            </a:r>
          </a:p>
          <a:p>
            <a:r>
              <a:rPr lang="en-US" altLang="en-US" dirty="0"/>
              <a:t>Example:</a:t>
            </a:r>
          </a:p>
          <a:p>
            <a:pPr marL="0" indent="0">
              <a:buNone/>
            </a:pPr>
            <a:r>
              <a:rPr lang="en-US" altLang="en-US" sz="2000" dirty="0"/>
              <a:t>initial	c = 1’b1;</a:t>
            </a:r>
            <a:br>
              <a:rPr lang="en-US" altLang="en-US" sz="2000" dirty="0"/>
            </a:br>
            <a:r>
              <a:rPr lang="en-US" altLang="en-US" sz="2000" dirty="0"/>
              <a:t>initial  begin</a:t>
            </a:r>
            <a:br>
              <a:rPr lang="en-US" altLang="en-US" sz="2000" dirty="0"/>
            </a:br>
            <a:r>
              <a:rPr lang="en-US" altLang="en-US" sz="2000" dirty="0"/>
              <a:t>a = 3‘b000;</a:t>
            </a:r>
            <a:br>
              <a:rPr lang="en-US" altLang="en-US" sz="2000" dirty="0"/>
            </a:br>
            <a:r>
              <a:rPr lang="en-US" altLang="en-US" sz="2000" dirty="0"/>
              <a:t>#100  a=3’b110;</a:t>
            </a:r>
            <a:br>
              <a:rPr lang="en-US" altLang="en-US" sz="2000" dirty="0"/>
            </a:br>
            <a:r>
              <a:rPr lang="en-US" altLang="en-US" sz="2000" dirty="0"/>
              <a:t>#100  a=3’b111;</a:t>
            </a:r>
            <a:br>
              <a:rPr lang="en-US" altLang="en-US" sz="2000" dirty="0"/>
            </a:br>
            <a:r>
              <a:rPr lang="en-US" altLang="en-US" sz="2000" dirty="0"/>
              <a:t>#100  a=3’b110;</a:t>
            </a:r>
            <a:br>
              <a:rPr lang="en-US" altLang="en-US" sz="2000" dirty="0"/>
            </a:br>
            <a:r>
              <a:rPr lang="en-US" altLang="en-US" sz="2000" dirty="0"/>
              <a:t>end</a:t>
            </a:r>
            <a:br>
              <a:rPr lang="en-US" altLang="en-US" sz="2000" dirty="0"/>
            </a:br>
            <a:r>
              <a:rPr lang="en-US" altLang="en-US" sz="2000" dirty="0"/>
              <a:t>initial begin $monitor ($time, , “a=%b”, b=%b”, a, b);</a:t>
            </a:r>
            <a:br>
              <a:rPr lang="en-US" altLang="en-US" sz="2000" dirty="0"/>
            </a:br>
            <a:r>
              <a:rPr lang="en-US" altLang="en-US" sz="2000" dirty="0"/>
              <a:t>#1000 $finish;</a:t>
            </a:r>
            <a:br>
              <a:rPr lang="en-US" altLang="en-US" sz="2000" dirty="0"/>
            </a:br>
            <a:r>
              <a:rPr lang="en-US" altLang="en-US" sz="2000" dirty="0"/>
              <a:t>end</a:t>
            </a:r>
            <a:br>
              <a:rPr lang="en-US" altLang="en-US" sz="2000" dirty="0"/>
            </a:br>
            <a:r>
              <a:rPr lang="en-US" altLang="en-US" sz="2000" dirty="0" err="1"/>
              <a:t>endmodule</a:t>
            </a:r>
            <a:endParaRPr lang="en-US" altLang="en-US" sz="2000" dirty="0"/>
          </a:p>
        </p:txBody>
      </p:sp>
      <p:sp>
        <p:nvSpPr>
          <p:cNvPr id="58371" name="Title 4">
            <a:extLst>
              <a:ext uri="{FF2B5EF4-FFF2-40B4-BE49-F238E27FC236}">
                <a16:creationId xmlns:a16="http://schemas.microsoft.com/office/drawing/2014/main" id="{BA1C978A-1AA9-C014-BC37-28A3C997E0B3}"/>
              </a:ext>
            </a:extLst>
          </p:cNvPr>
          <p:cNvSpPr>
            <a:spLocks noGrp="1" noChangeArrowheads="1"/>
          </p:cNvSpPr>
          <p:nvPr>
            <p:ph type="title"/>
          </p:nvPr>
        </p:nvSpPr>
        <p:spPr/>
        <p:txBody>
          <a:bodyPr>
            <a:normAutofit/>
          </a:bodyPr>
          <a:lstStyle/>
          <a:p>
            <a:r>
              <a:rPr lang="en-US" altLang="en-US" dirty="0"/>
              <a:t>Initial Statement</a:t>
            </a:r>
            <a:endParaRPr lang="ru-RU"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AB6DA9E9-D440-E69B-C911-080A0A302C38}"/>
              </a:ext>
            </a:extLst>
          </p:cNvPr>
          <p:cNvSpPr>
            <a:spLocks noGrp="1" noChangeArrowheads="1"/>
          </p:cNvSpPr>
          <p:nvPr>
            <p:ph type="title"/>
          </p:nvPr>
        </p:nvSpPr>
        <p:spPr/>
        <p:txBody>
          <a:bodyPr/>
          <a:lstStyle/>
          <a:p>
            <a:r>
              <a:rPr lang="en-US" altLang="en-US"/>
              <a:t>Seven-Segment  Display  Decoder</a:t>
            </a:r>
            <a:endParaRPr lang="en-GB" altLang="en-US"/>
          </a:p>
        </p:txBody>
      </p:sp>
      <p:sp>
        <p:nvSpPr>
          <p:cNvPr id="59395" name="TextBox 87">
            <a:extLst>
              <a:ext uri="{FF2B5EF4-FFF2-40B4-BE49-F238E27FC236}">
                <a16:creationId xmlns:a16="http://schemas.microsoft.com/office/drawing/2014/main" id="{CE74E200-28B4-3099-30E1-84977CEF3734}"/>
              </a:ext>
            </a:extLst>
          </p:cNvPr>
          <p:cNvSpPr txBox="1">
            <a:spLocks noChangeArrowheads="1"/>
          </p:cNvSpPr>
          <p:nvPr/>
        </p:nvSpPr>
        <p:spPr bwMode="auto">
          <a:xfrm>
            <a:off x="2141538" y="4645025"/>
            <a:ext cx="7772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a:t>A seven-segment display decoder takes a 4-bit data input x[3:0] and produces seven  outputs to control light-emitting diodes to display a digit from 0 to 9 and  letters  a,b,c,d,e,f.</a:t>
            </a:r>
            <a:endParaRPr lang="en-US" altLang="en-US"/>
          </a:p>
        </p:txBody>
      </p:sp>
      <p:grpSp>
        <p:nvGrpSpPr>
          <p:cNvPr id="59396" name="Group 79">
            <a:extLst>
              <a:ext uri="{FF2B5EF4-FFF2-40B4-BE49-F238E27FC236}">
                <a16:creationId xmlns:a16="http://schemas.microsoft.com/office/drawing/2014/main" id="{058A1CAA-9F50-801B-CB97-B2A656DFDA04}"/>
              </a:ext>
            </a:extLst>
          </p:cNvPr>
          <p:cNvGrpSpPr>
            <a:grpSpLocks/>
          </p:cNvGrpSpPr>
          <p:nvPr/>
        </p:nvGrpSpPr>
        <p:grpSpPr bwMode="auto">
          <a:xfrm>
            <a:off x="2819400" y="1295400"/>
            <a:ext cx="6415088" cy="2971800"/>
            <a:chOff x="1264724" y="1447800"/>
            <a:chExt cx="6414651" cy="2971800"/>
          </a:xfrm>
        </p:grpSpPr>
        <p:sp>
          <p:nvSpPr>
            <p:cNvPr id="84" name="Rectangle 83">
              <a:extLst>
                <a:ext uri="{FF2B5EF4-FFF2-40B4-BE49-F238E27FC236}">
                  <a16:creationId xmlns:a16="http://schemas.microsoft.com/office/drawing/2014/main" id="{FD2F90A2-E2E5-4246-8435-105EEEF368E3}"/>
                </a:ext>
              </a:extLst>
            </p:cNvPr>
            <p:cNvSpPr/>
            <p:nvPr/>
          </p:nvSpPr>
          <p:spPr>
            <a:xfrm>
              <a:off x="2285417" y="1831975"/>
              <a:ext cx="1371507" cy="23780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latin typeface="+mj-lt"/>
                </a:rPr>
                <a:t>Seven-segment display decoder</a:t>
              </a:r>
              <a:endParaRPr lang="en-GB" dirty="0">
                <a:solidFill>
                  <a:schemeClr val="tx1"/>
                </a:solidFill>
                <a:latin typeface="+mj-lt"/>
              </a:endParaRPr>
            </a:p>
          </p:txBody>
        </p:sp>
        <p:cxnSp>
          <p:nvCxnSpPr>
            <p:cNvPr id="87" name="Straight Connector 86">
              <a:extLst>
                <a:ext uri="{FF2B5EF4-FFF2-40B4-BE49-F238E27FC236}">
                  <a16:creationId xmlns:a16="http://schemas.microsoft.com/office/drawing/2014/main" id="{3D7EFD41-8BE9-4532-91B2-B069081A744C}"/>
                </a:ext>
              </a:extLst>
            </p:cNvPr>
            <p:cNvCxnSpPr/>
            <p:nvPr/>
          </p:nvCxnSpPr>
          <p:spPr>
            <a:xfrm>
              <a:off x="3671210" y="2039938"/>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25B83DE-3850-4403-93FA-03BC3A7F6A46}"/>
                </a:ext>
              </a:extLst>
            </p:cNvPr>
            <p:cNvCxnSpPr/>
            <p:nvPr/>
          </p:nvCxnSpPr>
          <p:spPr>
            <a:xfrm>
              <a:off x="3671210" y="2327275"/>
              <a:ext cx="54923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2C21386-9561-4CBF-9191-B3834875B89D}"/>
                </a:ext>
              </a:extLst>
            </p:cNvPr>
            <p:cNvCxnSpPr/>
            <p:nvPr/>
          </p:nvCxnSpPr>
          <p:spPr>
            <a:xfrm>
              <a:off x="3671210" y="2601913"/>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8D96526-23BB-4AE6-913C-9FBA7FDE88C8}"/>
                </a:ext>
              </a:extLst>
            </p:cNvPr>
            <p:cNvCxnSpPr/>
            <p:nvPr/>
          </p:nvCxnSpPr>
          <p:spPr>
            <a:xfrm>
              <a:off x="3671210" y="2889250"/>
              <a:ext cx="54923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1AF60E1-45A0-4647-BC60-6E052F839495}"/>
                </a:ext>
              </a:extLst>
            </p:cNvPr>
            <p:cNvCxnSpPr/>
            <p:nvPr/>
          </p:nvCxnSpPr>
          <p:spPr>
            <a:xfrm>
              <a:off x="3671210" y="3163888"/>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8345147-1573-4184-9D8D-9192FBD1B456}"/>
                </a:ext>
              </a:extLst>
            </p:cNvPr>
            <p:cNvCxnSpPr/>
            <p:nvPr/>
          </p:nvCxnSpPr>
          <p:spPr>
            <a:xfrm>
              <a:off x="3671210" y="3468688"/>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5BAE3B8-0377-46C5-A7D2-5A6B85FBDCF9}"/>
                </a:ext>
              </a:extLst>
            </p:cNvPr>
            <p:cNvCxnSpPr/>
            <p:nvPr/>
          </p:nvCxnSpPr>
          <p:spPr>
            <a:xfrm>
              <a:off x="3671210" y="3738563"/>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92C11965-865C-40AD-8028-4004A355C1FA}"/>
                </a:ext>
              </a:extLst>
            </p:cNvPr>
            <p:cNvCxnSpPr/>
            <p:nvPr/>
          </p:nvCxnSpPr>
          <p:spPr>
            <a:xfrm>
              <a:off x="3671210" y="4025900"/>
              <a:ext cx="54923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A3324887-7741-4AB6-9425-8656D5D6F22E}"/>
                </a:ext>
              </a:extLst>
            </p:cNvPr>
            <p:cNvCxnSpPr/>
            <p:nvPr/>
          </p:nvCxnSpPr>
          <p:spPr>
            <a:xfrm>
              <a:off x="1740942" y="2387600"/>
              <a:ext cx="547651"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7A279B81-87CE-4564-8126-37AAF1BCEC3E}"/>
                </a:ext>
              </a:extLst>
            </p:cNvPr>
            <p:cNvCxnSpPr/>
            <p:nvPr/>
          </p:nvCxnSpPr>
          <p:spPr>
            <a:xfrm>
              <a:off x="1745704" y="2649538"/>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33FF5B1-4143-47AE-99AB-E24D71BE922F}"/>
                </a:ext>
              </a:extLst>
            </p:cNvPr>
            <p:cNvCxnSpPr/>
            <p:nvPr/>
          </p:nvCxnSpPr>
          <p:spPr>
            <a:xfrm>
              <a:off x="1747291" y="2898775"/>
              <a:ext cx="549238"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3549C6B-CBD3-47DE-801A-001369C505AF}"/>
                </a:ext>
              </a:extLst>
            </p:cNvPr>
            <p:cNvCxnSpPr/>
            <p:nvPr/>
          </p:nvCxnSpPr>
          <p:spPr>
            <a:xfrm>
              <a:off x="1740942" y="3149600"/>
              <a:ext cx="547651"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125AA978-544C-4D4C-9516-3843DD3827B3}"/>
                </a:ext>
              </a:extLst>
            </p:cNvPr>
            <p:cNvSpPr/>
            <p:nvPr/>
          </p:nvSpPr>
          <p:spPr>
            <a:xfrm>
              <a:off x="4214098" y="1978025"/>
              <a:ext cx="457169" cy="142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03" name="Rectangle 102">
              <a:extLst>
                <a:ext uri="{FF2B5EF4-FFF2-40B4-BE49-F238E27FC236}">
                  <a16:creationId xmlns:a16="http://schemas.microsoft.com/office/drawing/2014/main" id="{4284C854-BC5D-49B6-9163-9E384C53AECD}"/>
                </a:ext>
              </a:extLst>
            </p:cNvPr>
            <p:cNvSpPr/>
            <p:nvPr/>
          </p:nvSpPr>
          <p:spPr>
            <a:xfrm>
              <a:off x="4226797" y="2265363"/>
              <a:ext cx="457169" cy="142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04" name="Rectangle 103">
              <a:extLst>
                <a:ext uri="{FF2B5EF4-FFF2-40B4-BE49-F238E27FC236}">
                  <a16:creationId xmlns:a16="http://schemas.microsoft.com/office/drawing/2014/main" id="{1CAC2483-C024-4372-A976-E69C23C907F9}"/>
                </a:ext>
              </a:extLst>
            </p:cNvPr>
            <p:cNvSpPr/>
            <p:nvPr/>
          </p:nvSpPr>
          <p:spPr>
            <a:xfrm>
              <a:off x="4226797" y="2540000"/>
              <a:ext cx="457169" cy="142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05" name="Rectangle 104">
              <a:extLst>
                <a:ext uri="{FF2B5EF4-FFF2-40B4-BE49-F238E27FC236}">
                  <a16:creationId xmlns:a16="http://schemas.microsoft.com/office/drawing/2014/main" id="{9E56C3B4-0196-4890-8C0A-FC6263CAD27A}"/>
                </a:ext>
              </a:extLst>
            </p:cNvPr>
            <p:cNvSpPr/>
            <p:nvPr/>
          </p:nvSpPr>
          <p:spPr>
            <a:xfrm>
              <a:off x="4226797" y="2814638"/>
              <a:ext cx="457169" cy="142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06" name="Rectangle 105">
              <a:extLst>
                <a:ext uri="{FF2B5EF4-FFF2-40B4-BE49-F238E27FC236}">
                  <a16:creationId xmlns:a16="http://schemas.microsoft.com/office/drawing/2014/main" id="{FDB4B03C-0333-4A97-A351-4C9AB3BD4514}"/>
                </a:ext>
              </a:extLst>
            </p:cNvPr>
            <p:cNvSpPr/>
            <p:nvPr/>
          </p:nvSpPr>
          <p:spPr>
            <a:xfrm>
              <a:off x="4242671" y="3101975"/>
              <a:ext cx="458757" cy="142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07" name="Rectangle 106">
              <a:extLst>
                <a:ext uri="{FF2B5EF4-FFF2-40B4-BE49-F238E27FC236}">
                  <a16:creationId xmlns:a16="http://schemas.microsoft.com/office/drawing/2014/main" id="{1466D350-2E8A-4B42-B8B8-4611D29FE7E6}"/>
                </a:ext>
              </a:extLst>
            </p:cNvPr>
            <p:cNvSpPr/>
            <p:nvPr/>
          </p:nvSpPr>
          <p:spPr>
            <a:xfrm>
              <a:off x="4242671" y="3389313"/>
              <a:ext cx="458757" cy="142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08" name="Rectangle 107">
              <a:extLst>
                <a:ext uri="{FF2B5EF4-FFF2-40B4-BE49-F238E27FC236}">
                  <a16:creationId xmlns:a16="http://schemas.microsoft.com/office/drawing/2014/main" id="{DB2D7CD8-80AE-4655-919E-D3DBECBBD1CD}"/>
                </a:ext>
              </a:extLst>
            </p:cNvPr>
            <p:cNvSpPr/>
            <p:nvPr/>
          </p:nvSpPr>
          <p:spPr>
            <a:xfrm>
              <a:off x="4242671" y="3676650"/>
              <a:ext cx="458757" cy="142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09" name="Rectangle 108">
              <a:extLst>
                <a:ext uri="{FF2B5EF4-FFF2-40B4-BE49-F238E27FC236}">
                  <a16:creationId xmlns:a16="http://schemas.microsoft.com/office/drawing/2014/main" id="{68CA1321-458A-41C3-A587-60B561A3755D}"/>
                </a:ext>
              </a:extLst>
            </p:cNvPr>
            <p:cNvSpPr/>
            <p:nvPr/>
          </p:nvSpPr>
          <p:spPr>
            <a:xfrm>
              <a:off x="4242671" y="3951288"/>
              <a:ext cx="458757" cy="1428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cxnSp>
          <p:nvCxnSpPr>
            <p:cNvPr id="110" name="Straight Connector 109">
              <a:extLst>
                <a:ext uri="{FF2B5EF4-FFF2-40B4-BE49-F238E27FC236}">
                  <a16:creationId xmlns:a16="http://schemas.microsoft.com/office/drawing/2014/main" id="{A38C864F-1669-4B98-858E-EC404F23CBF9}"/>
                </a:ext>
              </a:extLst>
            </p:cNvPr>
            <p:cNvCxnSpPr/>
            <p:nvPr/>
          </p:nvCxnSpPr>
          <p:spPr>
            <a:xfrm>
              <a:off x="4671267" y="2044700"/>
              <a:ext cx="54923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B5F2922-3F52-4626-A3F8-A02BCD2790E7}"/>
                </a:ext>
              </a:extLst>
            </p:cNvPr>
            <p:cNvCxnSpPr/>
            <p:nvPr/>
          </p:nvCxnSpPr>
          <p:spPr>
            <a:xfrm>
              <a:off x="4683966" y="2332038"/>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6A63975-C44A-4306-BA0D-C1CC7ED81FA8}"/>
                </a:ext>
              </a:extLst>
            </p:cNvPr>
            <p:cNvCxnSpPr/>
            <p:nvPr/>
          </p:nvCxnSpPr>
          <p:spPr>
            <a:xfrm>
              <a:off x="4688729" y="2595563"/>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41448E2-06B6-4F4B-A444-14B0A76007BE}"/>
                </a:ext>
              </a:extLst>
            </p:cNvPr>
            <p:cNvCxnSpPr/>
            <p:nvPr/>
          </p:nvCxnSpPr>
          <p:spPr>
            <a:xfrm>
              <a:off x="4683966" y="2870200"/>
              <a:ext cx="54923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0609E21-93EE-401A-8E0F-AA5CC4089684}"/>
                </a:ext>
              </a:extLst>
            </p:cNvPr>
            <p:cNvCxnSpPr/>
            <p:nvPr/>
          </p:nvCxnSpPr>
          <p:spPr>
            <a:xfrm>
              <a:off x="4707777" y="3168650"/>
              <a:ext cx="54765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DEEB27B-C445-46A9-8149-EA7D9F0C6BCA}"/>
                </a:ext>
              </a:extLst>
            </p:cNvPr>
            <p:cNvCxnSpPr/>
            <p:nvPr/>
          </p:nvCxnSpPr>
          <p:spPr>
            <a:xfrm>
              <a:off x="4718889" y="3444875"/>
              <a:ext cx="54923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4CF85B59-EA71-4AB3-8480-4A11A15A5C99}"/>
                </a:ext>
              </a:extLst>
            </p:cNvPr>
            <p:cNvCxnSpPr/>
            <p:nvPr/>
          </p:nvCxnSpPr>
          <p:spPr>
            <a:xfrm>
              <a:off x="4712539" y="3743325"/>
              <a:ext cx="54923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BCCF34A5-5DF4-4F38-A2F6-1DCB89C7E1F3}"/>
                </a:ext>
              </a:extLst>
            </p:cNvPr>
            <p:cNvCxnSpPr/>
            <p:nvPr/>
          </p:nvCxnSpPr>
          <p:spPr>
            <a:xfrm>
              <a:off x="4707777" y="4017963"/>
              <a:ext cx="27461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98998621-F1E1-4A8D-BC5E-CDEF461262D9}"/>
                </a:ext>
              </a:extLst>
            </p:cNvPr>
            <p:cNvSpPr/>
            <p:nvPr/>
          </p:nvSpPr>
          <p:spPr>
            <a:xfrm>
              <a:off x="5245903" y="1831975"/>
              <a:ext cx="1736607" cy="23780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dirty="0">
                <a:solidFill>
                  <a:schemeClr val="tx1"/>
                </a:solidFill>
                <a:latin typeface="Sylfaen" pitchFamily="18" charset="0"/>
              </a:endParaRPr>
            </a:p>
          </p:txBody>
        </p:sp>
        <p:sp>
          <p:nvSpPr>
            <p:cNvPr id="59427" name="TextBox 118">
              <a:extLst>
                <a:ext uri="{FF2B5EF4-FFF2-40B4-BE49-F238E27FC236}">
                  <a16:creationId xmlns:a16="http://schemas.microsoft.com/office/drawing/2014/main" id="{1099C70B-1B83-F501-5FC1-3D1D93BB0AC7}"/>
                </a:ext>
              </a:extLst>
            </p:cNvPr>
            <p:cNvSpPr txBox="1">
              <a:spLocks noChangeArrowheads="1"/>
            </p:cNvSpPr>
            <p:nvPr/>
          </p:nvSpPr>
          <p:spPr bwMode="auto">
            <a:xfrm>
              <a:off x="5919850" y="3499696"/>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d</a:t>
              </a:r>
              <a:endParaRPr lang="en-GB" altLang="en-US" sz="1800">
                <a:latin typeface="Sylfaen" panose="010A0502050306030303" pitchFamily="18" charset="0"/>
              </a:endParaRPr>
            </a:p>
          </p:txBody>
        </p:sp>
        <p:sp>
          <p:nvSpPr>
            <p:cNvPr id="59428" name="TextBox 119">
              <a:extLst>
                <a:ext uri="{FF2B5EF4-FFF2-40B4-BE49-F238E27FC236}">
                  <a16:creationId xmlns:a16="http://schemas.microsoft.com/office/drawing/2014/main" id="{6C0C564D-DCCE-DA0D-8BFA-B50CD160F88B}"/>
                </a:ext>
              </a:extLst>
            </p:cNvPr>
            <p:cNvSpPr txBox="1">
              <a:spLocks noChangeArrowheads="1"/>
            </p:cNvSpPr>
            <p:nvPr/>
          </p:nvSpPr>
          <p:spPr bwMode="auto">
            <a:xfrm>
              <a:off x="5938650" y="1879354"/>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a</a:t>
              </a:r>
              <a:endParaRPr lang="en-GB" altLang="en-US" sz="1800">
                <a:latin typeface="Sylfaen" panose="010A0502050306030303" pitchFamily="18" charset="0"/>
              </a:endParaRPr>
            </a:p>
          </p:txBody>
        </p:sp>
        <p:grpSp>
          <p:nvGrpSpPr>
            <p:cNvPr id="59429" name="Group 20">
              <a:extLst>
                <a:ext uri="{FF2B5EF4-FFF2-40B4-BE49-F238E27FC236}">
                  <a16:creationId xmlns:a16="http://schemas.microsoft.com/office/drawing/2014/main" id="{A576FB11-4BA7-B7F6-B01F-7EB569ACBC68}"/>
                </a:ext>
              </a:extLst>
            </p:cNvPr>
            <p:cNvGrpSpPr>
              <a:grpSpLocks/>
            </p:cNvGrpSpPr>
            <p:nvPr/>
          </p:nvGrpSpPr>
          <p:grpSpPr bwMode="auto">
            <a:xfrm>
              <a:off x="4953000" y="2032734"/>
              <a:ext cx="2726375" cy="1845330"/>
              <a:chOff x="76200" y="2042550"/>
              <a:chExt cx="2726375" cy="1773936"/>
            </a:xfrm>
          </p:grpSpPr>
          <p:sp>
            <p:nvSpPr>
              <p:cNvPr id="143" name="Rounded Rectangle 142">
                <a:extLst>
                  <a:ext uri="{FF2B5EF4-FFF2-40B4-BE49-F238E27FC236}">
                    <a16:creationId xmlns:a16="http://schemas.microsoft.com/office/drawing/2014/main" id="{3A50ED9B-9CC0-4DB0-B738-BAA8937E1C2F}"/>
                  </a:ext>
                </a:extLst>
              </p:cNvPr>
              <p:cNvSpPr/>
              <p:nvPr/>
            </p:nvSpPr>
            <p:spPr>
              <a:xfrm>
                <a:off x="970725" y="2209713"/>
                <a:ext cx="457169" cy="9156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44" name="Rounded Rectangle 4">
                <a:extLst>
                  <a:ext uri="{FF2B5EF4-FFF2-40B4-BE49-F238E27FC236}">
                    <a16:creationId xmlns:a16="http://schemas.microsoft.com/office/drawing/2014/main" id="{996FAC4A-99FA-4069-9D0B-21D038A7383B}"/>
                  </a:ext>
                </a:extLst>
              </p:cNvPr>
              <p:cNvSpPr/>
              <p:nvPr/>
            </p:nvSpPr>
            <p:spPr>
              <a:xfrm rot="5400000">
                <a:off x="695779" y="2508573"/>
                <a:ext cx="457824" cy="9206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45" name="Rounded Rectangle 144">
                <a:extLst>
                  <a:ext uri="{FF2B5EF4-FFF2-40B4-BE49-F238E27FC236}">
                    <a16:creationId xmlns:a16="http://schemas.microsoft.com/office/drawing/2014/main" id="{86B7E73B-04DC-45DF-9F5E-730CB9EECD78}"/>
                  </a:ext>
                </a:extLst>
              </p:cNvPr>
              <p:cNvSpPr/>
              <p:nvPr/>
            </p:nvSpPr>
            <p:spPr>
              <a:xfrm rot="5400000">
                <a:off x="1244223" y="2509367"/>
                <a:ext cx="457824" cy="9048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46" name="Rounded Rectangle 145">
                <a:extLst>
                  <a:ext uri="{FF2B5EF4-FFF2-40B4-BE49-F238E27FC236}">
                    <a16:creationId xmlns:a16="http://schemas.microsoft.com/office/drawing/2014/main" id="{83F1C0AC-B1A9-4060-A248-DA4008A6B574}"/>
                  </a:ext>
                </a:extLst>
              </p:cNvPr>
              <p:cNvSpPr/>
              <p:nvPr/>
            </p:nvSpPr>
            <p:spPr>
              <a:xfrm>
                <a:off x="970725" y="2807937"/>
                <a:ext cx="457169" cy="9003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47" name="Rounded Rectangle 146">
                <a:extLst>
                  <a:ext uri="{FF2B5EF4-FFF2-40B4-BE49-F238E27FC236}">
                    <a16:creationId xmlns:a16="http://schemas.microsoft.com/office/drawing/2014/main" id="{0C6AF4CD-61DD-4AF7-A9F0-D703531C6026}"/>
                  </a:ext>
                </a:extLst>
              </p:cNvPr>
              <p:cNvSpPr/>
              <p:nvPr/>
            </p:nvSpPr>
            <p:spPr>
              <a:xfrm rot="5400000">
                <a:off x="695779" y="3119005"/>
                <a:ext cx="457824" cy="9206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48" name="Rounded Rectangle 147">
                <a:extLst>
                  <a:ext uri="{FF2B5EF4-FFF2-40B4-BE49-F238E27FC236}">
                    <a16:creationId xmlns:a16="http://schemas.microsoft.com/office/drawing/2014/main" id="{E2DB2FDF-C4CA-44AD-8201-A9AEA2746EDF}"/>
                  </a:ext>
                </a:extLst>
              </p:cNvPr>
              <p:cNvSpPr/>
              <p:nvPr/>
            </p:nvSpPr>
            <p:spPr>
              <a:xfrm rot="5400000">
                <a:off x="1244223" y="3119799"/>
                <a:ext cx="457824" cy="9048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149" name="Rounded Rectangle 148">
                <a:extLst>
                  <a:ext uri="{FF2B5EF4-FFF2-40B4-BE49-F238E27FC236}">
                    <a16:creationId xmlns:a16="http://schemas.microsoft.com/office/drawing/2014/main" id="{8C7EC46D-C991-4FA6-ADF1-BC66411DDE8C}"/>
                  </a:ext>
                </a:extLst>
              </p:cNvPr>
              <p:cNvSpPr/>
              <p:nvPr/>
            </p:nvSpPr>
            <p:spPr>
              <a:xfrm>
                <a:off x="970725" y="3429053"/>
                <a:ext cx="457169" cy="9156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59458" name="TextBox 149">
                <a:extLst>
                  <a:ext uri="{FF2B5EF4-FFF2-40B4-BE49-F238E27FC236}">
                    <a16:creationId xmlns:a16="http://schemas.microsoft.com/office/drawing/2014/main" id="{4B52610B-F9EC-C957-F370-5BC84FFDCE77}"/>
                  </a:ext>
                </a:extLst>
              </p:cNvPr>
              <p:cNvSpPr txBox="1">
                <a:spLocks noChangeArrowheads="1"/>
              </p:cNvSpPr>
              <p:nvPr/>
            </p:nvSpPr>
            <p:spPr bwMode="auto">
              <a:xfrm>
                <a:off x="1524000" y="2362200"/>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b</a:t>
                </a:r>
                <a:endParaRPr lang="en-GB" altLang="en-US" sz="1800">
                  <a:latin typeface="Sylfaen" panose="010A0502050306030303" pitchFamily="18" charset="0"/>
                </a:endParaRPr>
              </a:p>
            </p:txBody>
          </p:sp>
          <p:sp>
            <p:nvSpPr>
              <p:cNvPr id="59459" name="TextBox 150">
                <a:extLst>
                  <a:ext uri="{FF2B5EF4-FFF2-40B4-BE49-F238E27FC236}">
                    <a16:creationId xmlns:a16="http://schemas.microsoft.com/office/drawing/2014/main" id="{137C0A05-1663-3593-9EE2-6C42A6F7580D}"/>
                  </a:ext>
                </a:extLst>
              </p:cNvPr>
              <p:cNvSpPr txBox="1">
                <a:spLocks noChangeArrowheads="1"/>
              </p:cNvSpPr>
              <p:nvPr/>
            </p:nvSpPr>
            <p:spPr bwMode="auto">
              <a:xfrm>
                <a:off x="1524000" y="2971800"/>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c</a:t>
                </a:r>
                <a:endParaRPr lang="en-GB" altLang="en-US" sz="1800">
                  <a:latin typeface="Sylfaen" panose="010A0502050306030303" pitchFamily="18" charset="0"/>
                </a:endParaRPr>
              </a:p>
            </p:txBody>
          </p:sp>
          <p:sp>
            <p:nvSpPr>
              <p:cNvPr id="59460" name="TextBox 151">
                <a:extLst>
                  <a:ext uri="{FF2B5EF4-FFF2-40B4-BE49-F238E27FC236}">
                    <a16:creationId xmlns:a16="http://schemas.microsoft.com/office/drawing/2014/main" id="{FB1F9137-F6C0-F6DF-9F39-25C680AC31FA}"/>
                  </a:ext>
                </a:extLst>
              </p:cNvPr>
              <p:cNvSpPr txBox="1">
                <a:spLocks noChangeArrowheads="1"/>
              </p:cNvSpPr>
              <p:nvPr/>
            </p:nvSpPr>
            <p:spPr bwMode="auto">
              <a:xfrm>
                <a:off x="609600" y="2948050"/>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e</a:t>
                </a:r>
                <a:endParaRPr lang="en-GB" altLang="en-US" sz="1800">
                  <a:latin typeface="Sylfaen" panose="010A0502050306030303" pitchFamily="18" charset="0"/>
                </a:endParaRPr>
              </a:p>
            </p:txBody>
          </p:sp>
          <p:sp>
            <p:nvSpPr>
              <p:cNvPr id="59461" name="TextBox 152">
                <a:extLst>
                  <a:ext uri="{FF2B5EF4-FFF2-40B4-BE49-F238E27FC236}">
                    <a16:creationId xmlns:a16="http://schemas.microsoft.com/office/drawing/2014/main" id="{36439227-88BE-24BE-03F3-00A772C5C9E4}"/>
                  </a:ext>
                </a:extLst>
              </p:cNvPr>
              <p:cNvSpPr txBox="1">
                <a:spLocks noChangeArrowheads="1"/>
              </p:cNvSpPr>
              <p:nvPr/>
            </p:nvSpPr>
            <p:spPr bwMode="auto">
              <a:xfrm>
                <a:off x="1061850" y="2469075"/>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g</a:t>
                </a:r>
                <a:endParaRPr lang="en-GB" altLang="en-US" sz="1800">
                  <a:latin typeface="Sylfaen" panose="010A0502050306030303" pitchFamily="18" charset="0"/>
                </a:endParaRPr>
              </a:p>
            </p:txBody>
          </p:sp>
          <p:sp>
            <p:nvSpPr>
              <p:cNvPr id="59462" name="TextBox 153">
                <a:extLst>
                  <a:ext uri="{FF2B5EF4-FFF2-40B4-BE49-F238E27FC236}">
                    <a16:creationId xmlns:a16="http://schemas.microsoft.com/office/drawing/2014/main" id="{79C88498-80BC-0EEE-B50C-790F83B6B1B6}"/>
                  </a:ext>
                </a:extLst>
              </p:cNvPr>
              <p:cNvSpPr txBox="1">
                <a:spLocks noChangeArrowheads="1"/>
              </p:cNvSpPr>
              <p:nvPr/>
            </p:nvSpPr>
            <p:spPr bwMode="auto">
              <a:xfrm>
                <a:off x="609600" y="2369125"/>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f</a:t>
                </a:r>
                <a:endParaRPr lang="en-GB" altLang="en-US" sz="1800">
                  <a:latin typeface="Sylfaen" panose="010A0502050306030303" pitchFamily="18" charset="0"/>
                </a:endParaRPr>
              </a:p>
            </p:txBody>
          </p:sp>
          <p:sp>
            <p:nvSpPr>
              <p:cNvPr id="155" name="Oval 154">
                <a:extLst>
                  <a:ext uri="{FF2B5EF4-FFF2-40B4-BE49-F238E27FC236}">
                    <a16:creationId xmlns:a16="http://schemas.microsoft.com/office/drawing/2014/main" id="{B855DE38-6CFA-4998-9EA5-C822B52DF126}"/>
                  </a:ext>
                </a:extLst>
              </p:cNvPr>
              <p:cNvSpPr/>
              <p:nvPr/>
            </p:nvSpPr>
            <p:spPr>
              <a:xfrm>
                <a:off x="1827916" y="3352749"/>
                <a:ext cx="128578" cy="128191"/>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latin typeface="Sylfaen" pitchFamily="18" charset="0"/>
                </a:endParaRPr>
              </a:p>
            </p:txBody>
          </p:sp>
          <p:sp>
            <p:nvSpPr>
              <p:cNvPr id="59464" name="TextBox 155">
                <a:extLst>
                  <a:ext uri="{FF2B5EF4-FFF2-40B4-BE49-F238E27FC236}">
                    <a16:creationId xmlns:a16="http://schemas.microsoft.com/office/drawing/2014/main" id="{848BDEE7-9F3A-30A9-0EA7-BABECFFB1A00}"/>
                  </a:ext>
                </a:extLst>
              </p:cNvPr>
              <p:cNvSpPr txBox="1">
                <a:spLocks noChangeArrowheads="1"/>
              </p:cNvSpPr>
              <p:nvPr/>
            </p:nvSpPr>
            <p:spPr bwMode="auto">
              <a:xfrm>
                <a:off x="1676400" y="3461443"/>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dp</a:t>
                </a:r>
                <a:endParaRPr lang="en-GB" altLang="en-US" sz="1800">
                  <a:latin typeface="Sylfaen" panose="010A0502050306030303" pitchFamily="18" charset="0"/>
                </a:endParaRPr>
              </a:p>
            </p:txBody>
          </p:sp>
          <p:sp>
            <p:nvSpPr>
              <p:cNvPr id="59465" name="TextBox 156">
                <a:extLst>
                  <a:ext uri="{FF2B5EF4-FFF2-40B4-BE49-F238E27FC236}">
                    <a16:creationId xmlns:a16="http://schemas.microsoft.com/office/drawing/2014/main" id="{1D159010-FE9F-952A-8353-DC14428A0A39}"/>
                  </a:ext>
                </a:extLst>
              </p:cNvPr>
              <p:cNvSpPr txBox="1">
                <a:spLocks noChangeArrowheads="1"/>
              </p:cNvSpPr>
              <p:nvPr/>
            </p:nvSpPr>
            <p:spPr bwMode="auto">
              <a:xfrm>
                <a:off x="95000" y="2042550"/>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b</a:t>
                </a:r>
                <a:endParaRPr lang="en-GB" altLang="en-US" sz="1800">
                  <a:latin typeface="Sylfaen" panose="010A0502050306030303" pitchFamily="18" charset="0"/>
                </a:endParaRPr>
              </a:p>
            </p:txBody>
          </p:sp>
          <p:sp>
            <p:nvSpPr>
              <p:cNvPr id="59466" name="TextBox 157">
                <a:extLst>
                  <a:ext uri="{FF2B5EF4-FFF2-40B4-BE49-F238E27FC236}">
                    <a16:creationId xmlns:a16="http://schemas.microsoft.com/office/drawing/2014/main" id="{DFBA35F4-B4BA-717B-CEB5-243E5C4378CA}"/>
                  </a:ext>
                </a:extLst>
              </p:cNvPr>
              <p:cNvSpPr txBox="1">
                <a:spLocks noChangeArrowheads="1"/>
              </p:cNvSpPr>
              <p:nvPr/>
            </p:nvSpPr>
            <p:spPr bwMode="auto">
              <a:xfrm>
                <a:off x="76200" y="2306775"/>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c</a:t>
                </a:r>
                <a:endParaRPr lang="en-GB" altLang="en-US" sz="1800">
                  <a:latin typeface="Sylfaen" panose="010A0502050306030303" pitchFamily="18" charset="0"/>
                </a:endParaRPr>
              </a:p>
            </p:txBody>
          </p:sp>
          <p:sp>
            <p:nvSpPr>
              <p:cNvPr id="59467" name="TextBox 158">
                <a:extLst>
                  <a:ext uri="{FF2B5EF4-FFF2-40B4-BE49-F238E27FC236}">
                    <a16:creationId xmlns:a16="http://schemas.microsoft.com/office/drawing/2014/main" id="{5D478B04-886D-C3A9-DA41-55E03EBA4FF5}"/>
                  </a:ext>
                </a:extLst>
              </p:cNvPr>
              <p:cNvSpPr txBox="1">
                <a:spLocks noChangeArrowheads="1"/>
              </p:cNvSpPr>
              <p:nvPr/>
            </p:nvSpPr>
            <p:spPr bwMode="auto">
              <a:xfrm>
                <a:off x="88075" y="2564075"/>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d</a:t>
                </a:r>
                <a:endParaRPr lang="en-GB" altLang="en-US" sz="1800">
                  <a:latin typeface="Sylfaen" panose="010A0502050306030303" pitchFamily="18" charset="0"/>
                </a:endParaRPr>
              </a:p>
            </p:txBody>
          </p:sp>
          <p:sp>
            <p:nvSpPr>
              <p:cNvPr id="59468" name="TextBox 159">
                <a:extLst>
                  <a:ext uri="{FF2B5EF4-FFF2-40B4-BE49-F238E27FC236}">
                    <a16:creationId xmlns:a16="http://schemas.microsoft.com/office/drawing/2014/main" id="{EC094F48-D0EF-534E-BDD9-569C1A4032A5}"/>
                  </a:ext>
                </a:extLst>
              </p:cNvPr>
              <p:cNvSpPr txBox="1">
                <a:spLocks noChangeArrowheads="1"/>
              </p:cNvSpPr>
              <p:nvPr/>
            </p:nvSpPr>
            <p:spPr bwMode="auto">
              <a:xfrm>
                <a:off x="76200" y="2845125"/>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e</a:t>
                </a:r>
                <a:endParaRPr lang="en-GB" altLang="en-US" sz="1800">
                  <a:latin typeface="Sylfaen" panose="010A0502050306030303" pitchFamily="18" charset="0"/>
                </a:endParaRPr>
              </a:p>
            </p:txBody>
          </p:sp>
          <p:sp>
            <p:nvSpPr>
              <p:cNvPr id="59469" name="TextBox 160">
                <a:extLst>
                  <a:ext uri="{FF2B5EF4-FFF2-40B4-BE49-F238E27FC236}">
                    <a16:creationId xmlns:a16="http://schemas.microsoft.com/office/drawing/2014/main" id="{9D1D65C5-D7C8-F5AC-2AA1-0A49AE4F0B1D}"/>
                  </a:ext>
                </a:extLst>
              </p:cNvPr>
              <p:cNvSpPr txBox="1">
                <a:spLocks noChangeArrowheads="1"/>
              </p:cNvSpPr>
              <p:nvPr/>
            </p:nvSpPr>
            <p:spPr bwMode="auto">
              <a:xfrm>
                <a:off x="88075" y="3097475"/>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f</a:t>
                </a:r>
                <a:endParaRPr lang="en-GB" altLang="en-US" sz="1800">
                  <a:latin typeface="Sylfaen" panose="010A0502050306030303" pitchFamily="18" charset="0"/>
                </a:endParaRPr>
              </a:p>
            </p:txBody>
          </p:sp>
          <p:sp>
            <p:nvSpPr>
              <p:cNvPr id="59470" name="TextBox 161">
                <a:extLst>
                  <a:ext uri="{FF2B5EF4-FFF2-40B4-BE49-F238E27FC236}">
                    <a16:creationId xmlns:a16="http://schemas.microsoft.com/office/drawing/2014/main" id="{DA97CF13-2050-9131-8234-150C5ABE2BF8}"/>
                  </a:ext>
                </a:extLst>
              </p:cNvPr>
              <p:cNvSpPr txBox="1">
                <a:spLocks noChangeArrowheads="1"/>
              </p:cNvSpPr>
              <p:nvPr/>
            </p:nvSpPr>
            <p:spPr bwMode="auto">
              <a:xfrm>
                <a:off x="76200" y="3378525"/>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g</a:t>
                </a:r>
                <a:endParaRPr lang="en-GB" altLang="en-US" sz="1800">
                  <a:latin typeface="Sylfaen" panose="010A0502050306030303" pitchFamily="18" charset="0"/>
                </a:endParaRPr>
              </a:p>
            </p:txBody>
          </p:sp>
          <p:sp>
            <p:nvSpPr>
              <p:cNvPr id="59471" name="TextBox 162">
                <a:extLst>
                  <a:ext uri="{FF2B5EF4-FFF2-40B4-BE49-F238E27FC236}">
                    <a16:creationId xmlns:a16="http://schemas.microsoft.com/office/drawing/2014/main" id="{B6E660CD-8465-F8BF-01B7-D4D7A02DD81A}"/>
                  </a:ext>
                </a:extLst>
              </p:cNvPr>
              <p:cNvSpPr txBox="1">
                <a:spLocks noChangeArrowheads="1"/>
              </p:cNvSpPr>
              <p:nvPr/>
            </p:nvSpPr>
            <p:spPr bwMode="auto">
              <a:xfrm>
                <a:off x="2345375" y="3221175"/>
                <a:ext cx="457200" cy="3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dp</a:t>
                </a:r>
                <a:endParaRPr lang="en-GB" altLang="en-US" sz="1800">
                  <a:latin typeface="Sylfaen" panose="010A0502050306030303" pitchFamily="18" charset="0"/>
                </a:endParaRPr>
              </a:p>
            </p:txBody>
          </p:sp>
        </p:grpSp>
        <p:sp>
          <p:nvSpPr>
            <p:cNvPr id="59430" name="TextBox 121">
              <a:extLst>
                <a:ext uri="{FF2B5EF4-FFF2-40B4-BE49-F238E27FC236}">
                  <a16:creationId xmlns:a16="http://schemas.microsoft.com/office/drawing/2014/main" id="{FAE6EA9B-032F-6F79-CE5A-85916C2E114F}"/>
                </a:ext>
              </a:extLst>
            </p:cNvPr>
            <p:cNvSpPr txBox="1">
              <a:spLocks noChangeArrowheads="1"/>
            </p:cNvSpPr>
            <p:nvPr/>
          </p:nvSpPr>
          <p:spPr bwMode="auto">
            <a:xfrm>
              <a:off x="4954975" y="1745526"/>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a</a:t>
              </a:r>
              <a:endParaRPr lang="en-GB" altLang="en-US" sz="1800">
                <a:latin typeface="Sylfaen" panose="010A0502050306030303" pitchFamily="18" charset="0"/>
              </a:endParaRPr>
            </a:p>
          </p:txBody>
        </p:sp>
        <p:sp>
          <p:nvSpPr>
            <p:cNvPr id="59431" name="TextBox 122">
              <a:extLst>
                <a:ext uri="{FF2B5EF4-FFF2-40B4-BE49-F238E27FC236}">
                  <a16:creationId xmlns:a16="http://schemas.microsoft.com/office/drawing/2014/main" id="{F247F49B-B880-8700-D0D1-2EF9147F0A3A}"/>
                </a:ext>
              </a:extLst>
            </p:cNvPr>
            <p:cNvSpPr txBox="1">
              <a:spLocks noChangeArrowheads="1"/>
            </p:cNvSpPr>
            <p:nvPr/>
          </p:nvSpPr>
          <p:spPr bwMode="auto">
            <a:xfrm>
              <a:off x="5791200" y="144780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LED</a:t>
              </a:r>
              <a:endParaRPr lang="en-GB" altLang="en-US" sz="1800">
                <a:latin typeface="Sylfaen" panose="010A0502050306030303" pitchFamily="18" charset="0"/>
              </a:endParaRPr>
            </a:p>
          </p:txBody>
        </p:sp>
        <p:sp>
          <p:nvSpPr>
            <p:cNvPr id="59432" name="TextBox 123">
              <a:extLst>
                <a:ext uri="{FF2B5EF4-FFF2-40B4-BE49-F238E27FC236}">
                  <a16:creationId xmlns:a16="http://schemas.microsoft.com/office/drawing/2014/main" id="{4483B129-3E52-905F-8CF7-BC499E2A4665}"/>
                </a:ext>
              </a:extLst>
            </p:cNvPr>
            <p:cNvSpPr txBox="1">
              <a:spLocks noChangeArrowheads="1"/>
            </p:cNvSpPr>
            <p:nvPr/>
          </p:nvSpPr>
          <p:spPr bwMode="auto">
            <a:xfrm>
              <a:off x="4226625" y="1648757"/>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R</a:t>
              </a:r>
              <a:endParaRPr lang="en-GB" altLang="en-US" sz="1800">
                <a:latin typeface="Sylfaen" panose="010A0502050306030303" pitchFamily="18" charset="0"/>
              </a:endParaRPr>
            </a:p>
          </p:txBody>
        </p:sp>
        <p:sp>
          <p:nvSpPr>
            <p:cNvPr id="59433" name="TextBox 124">
              <a:extLst>
                <a:ext uri="{FF2B5EF4-FFF2-40B4-BE49-F238E27FC236}">
                  <a16:creationId xmlns:a16="http://schemas.microsoft.com/office/drawing/2014/main" id="{F2AE2A1D-97F9-BD98-5BEF-84647FD30633}"/>
                </a:ext>
              </a:extLst>
            </p:cNvPr>
            <p:cNvSpPr txBox="1">
              <a:spLocks noChangeArrowheads="1"/>
            </p:cNvSpPr>
            <p:nvPr/>
          </p:nvSpPr>
          <p:spPr bwMode="auto">
            <a:xfrm>
              <a:off x="1264724" y="2203625"/>
              <a:ext cx="6214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x[0]</a:t>
              </a:r>
              <a:endParaRPr lang="en-GB" altLang="en-US" sz="1800">
                <a:latin typeface="Sylfaen" panose="010A0502050306030303" pitchFamily="18" charset="0"/>
              </a:endParaRPr>
            </a:p>
          </p:txBody>
        </p:sp>
        <p:sp>
          <p:nvSpPr>
            <p:cNvPr id="59434" name="TextBox 125">
              <a:extLst>
                <a:ext uri="{FF2B5EF4-FFF2-40B4-BE49-F238E27FC236}">
                  <a16:creationId xmlns:a16="http://schemas.microsoft.com/office/drawing/2014/main" id="{FA953048-86A5-479C-215B-2A9B2C55A44E}"/>
                </a:ext>
              </a:extLst>
            </p:cNvPr>
            <p:cNvSpPr txBox="1">
              <a:spLocks noChangeArrowheads="1"/>
            </p:cNvSpPr>
            <p:nvPr/>
          </p:nvSpPr>
          <p:spPr bwMode="auto">
            <a:xfrm>
              <a:off x="1276600" y="2466132"/>
              <a:ext cx="704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x[1]</a:t>
              </a:r>
              <a:endParaRPr lang="en-GB" altLang="en-US" sz="1800">
                <a:latin typeface="Sylfaen" panose="010A0502050306030303" pitchFamily="18" charset="0"/>
              </a:endParaRPr>
            </a:p>
          </p:txBody>
        </p:sp>
        <p:sp>
          <p:nvSpPr>
            <p:cNvPr id="59435" name="TextBox 126">
              <a:extLst>
                <a:ext uri="{FF2B5EF4-FFF2-40B4-BE49-F238E27FC236}">
                  <a16:creationId xmlns:a16="http://schemas.microsoft.com/office/drawing/2014/main" id="{88287CFC-436F-77D6-400D-1BB5070CB14C}"/>
                </a:ext>
              </a:extLst>
            </p:cNvPr>
            <p:cNvSpPr txBox="1">
              <a:spLocks noChangeArrowheads="1"/>
            </p:cNvSpPr>
            <p:nvPr/>
          </p:nvSpPr>
          <p:spPr bwMode="auto">
            <a:xfrm>
              <a:off x="1288474" y="2716285"/>
              <a:ext cx="6927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x[2]</a:t>
              </a:r>
              <a:endParaRPr lang="en-GB" altLang="en-US" sz="1800">
                <a:latin typeface="Sylfaen" panose="010A0502050306030303" pitchFamily="18" charset="0"/>
              </a:endParaRPr>
            </a:p>
          </p:txBody>
        </p:sp>
        <p:sp>
          <p:nvSpPr>
            <p:cNvPr id="59436" name="TextBox 127">
              <a:extLst>
                <a:ext uri="{FF2B5EF4-FFF2-40B4-BE49-F238E27FC236}">
                  <a16:creationId xmlns:a16="http://schemas.microsoft.com/office/drawing/2014/main" id="{E8888F6B-E5B9-9E9D-D6AD-A7ED7606E077}"/>
                </a:ext>
              </a:extLst>
            </p:cNvPr>
            <p:cNvSpPr txBox="1">
              <a:spLocks noChangeArrowheads="1"/>
            </p:cNvSpPr>
            <p:nvPr/>
          </p:nvSpPr>
          <p:spPr bwMode="auto">
            <a:xfrm>
              <a:off x="1300350" y="2991145"/>
              <a:ext cx="585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x[3]</a:t>
              </a:r>
              <a:endParaRPr lang="en-GB" altLang="en-US" sz="1800">
                <a:latin typeface="Sylfaen" panose="010A0502050306030303" pitchFamily="18" charset="0"/>
              </a:endParaRPr>
            </a:p>
          </p:txBody>
        </p:sp>
        <p:sp>
          <p:nvSpPr>
            <p:cNvPr id="59437" name="TextBox 128">
              <a:extLst>
                <a:ext uri="{FF2B5EF4-FFF2-40B4-BE49-F238E27FC236}">
                  <a16:creationId xmlns:a16="http://schemas.microsoft.com/office/drawing/2014/main" id="{DA21B4CD-3104-58E9-192F-7DB7F3A890C4}"/>
                </a:ext>
              </a:extLst>
            </p:cNvPr>
            <p:cNvSpPr txBox="1">
              <a:spLocks noChangeArrowheads="1"/>
            </p:cNvSpPr>
            <p:nvPr/>
          </p:nvSpPr>
          <p:spPr bwMode="auto">
            <a:xfrm>
              <a:off x="3633849" y="1720820"/>
              <a:ext cx="6501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y[0]</a:t>
              </a:r>
              <a:endParaRPr lang="en-GB" altLang="en-US" sz="1800">
                <a:latin typeface="Sylfaen" panose="010A0502050306030303" pitchFamily="18" charset="0"/>
              </a:endParaRPr>
            </a:p>
          </p:txBody>
        </p:sp>
        <p:sp>
          <p:nvSpPr>
            <p:cNvPr id="59438" name="TextBox 129">
              <a:extLst>
                <a:ext uri="{FF2B5EF4-FFF2-40B4-BE49-F238E27FC236}">
                  <a16:creationId xmlns:a16="http://schemas.microsoft.com/office/drawing/2014/main" id="{71015E69-532C-E102-775A-25EDC658F1E0}"/>
                </a:ext>
              </a:extLst>
            </p:cNvPr>
            <p:cNvSpPr txBox="1">
              <a:spLocks noChangeArrowheads="1"/>
            </p:cNvSpPr>
            <p:nvPr/>
          </p:nvSpPr>
          <p:spPr bwMode="auto">
            <a:xfrm>
              <a:off x="3652649" y="2020386"/>
              <a:ext cx="555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y[1]</a:t>
              </a:r>
              <a:endParaRPr lang="en-GB" altLang="en-US" sz="1800">
                <a:latin typeface="Sylfaen" panose="010A0502050306030303" pitchFamily="18" charset="0"/>
              </a:endParaRPr>
            </a:p>
          </p:txBody>
        </p:sp>
        <p:sp>
          <p:nvSpPr>
            <p:cNvPr id="59439" name="TextBox 130">
              <a:extLst>
                <a:ext uri="{FF2B5EF4-FFF2-40B4-BE49-F238E27FC236}">
                  <a16:creationId xmlns:a16="http://schemas.microsoft.com/office/drawing/2014/main" id="{70425246-6BA6-293B-3F0E-EB3406702333}"/>
                </a:ext>
              </a:extLst>
            </p:cNvPr>
            <p:cNvSpPr txBox="1">
              <a:spLocks noChangeArrowheads="1"/>
            </p:cNvSpPr>
            <p:nvPr/>
          </p:nvSpPr>
          <p:spPr bwMode="auto">
            <a:xfrm>
              <a:off x="3650674" y="2250982"/>
              <a:ext cx="697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y[2]</a:t>
              </a:r>
              <a:endParaRPr lang="en-GB" altLang="en-US" sz="1800">
                <a:latin typeface="Sylfaen" panose="010A0502050306030303" pitchFamily="18" charset="0"/>
              </a:endParaRPr>
            </a:p>
          </p:txBody>
        </p:sp>
        <p:sp>
          <p:nvSpPr>
            <p:cNvPr id="59440" name="TextBox 131">
              <a:extLst>
                <a:ext uri="{FF2B5EF4-FFF2-40B4-BE49-F238E27FC236}">
                  <a16:creationId xmlns:a16="http://schemas.microsoft.com/office/drawing/2014/main" id="{16946D63-2492-3F89-D5DD-86644DC3FCF2}"/>
                </a:ext>
              </a:extLst>
            </p:cNvPr>
            <p:cNvSpPr txBox="1">
              <a:spLocks noChangeArrowheads="1"/>
            </p:cNvSpPr>
            <p:nvPr/>
          </p:nvSpPr>
          <p:spPr bwMode="auto">
            <a:xfrm>
              <a:off x="3662550" y="2545398"/>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y[3]</a:t>
              </a:r>
              <a:endParaRPr lang="en-GB" altLang="en-US" sz="1800">
                <a:latin typeface="Sylfaen" panose="010A0502050306030303" pitchFamily="18" charset="0"/>
              </a:endParaRPr>
            </a:p>
          </p:txBody>
        </p:sp>
        <p:sp>
          <p:nvSpPr>
            <p:cNvPr id="59441" name="TextBox 132">
              <a:extLst>
                <a:ext uri="{FF2B5EF4-FFF2-40B4-BE49-F238E27FC236}">
                  <a16:creationId xmlns:a16="http://schemas.microsoft.com/office/drawing/2014/main" id="{5416978C-66C1-8DDC-ED50-47CD7B150069}"/>
                </a:ext>
              </a:extLst>
            </p:cNvPr>
            <p:cNvSpPr txBox="1">
              <a:spLocks noChangeArrowheads="1"/>
            </p:cNvSpPr>
            <p:nvPr/>
          </p:nvSpPr>
          <p:spPr bwMode="auto">
            <a:xfrm>
              <a:off x="3657600" y="2862466"/>
              <a:ext cx="590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y[4]</a:t>
              </a:r>
              <a:endParaRPr lang="en-GB" altLang="en-US" sz="1800">
                <a:latin typeface="Sylfaen" panose="010A0502050306030303" pitchFamily="18" charset="0"/>
              </a:endParaRPr>
            </a:p>
          </p:txBody>
        </p:sp>
        <p:sp>
          <p:nvSpPr>
            <p:cNvPr id="59442" name="TextBox 133">
              <a:extLst>
                <a:ext uri="{FF2B5EF4-FFF2-40B4-BE49-F238E27FC236}">
                  <a16:creationId xmlns:a16="http://schemas.microsoft.com/office/drawing/2014/main" id="{82DBF2CF-DB38-1B25-6055-D189BDC3F01F}"/>
                </a:ext>
              </a:extLst>
            </p:cNvPr>
            <p:cNvSpPr txBox="1">
              <a:spLocks noChangeArrowheads="1"/>
            </p:cNvSpPr>
            <p:nvPr/>
          </p:nvSpPr>
          <p:spPr bwMode="auto">
            <a:xfrm>
              <a:off x="3657600" y="3154828"/>
              <a:ext cx="6501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y [5]</a:t>
              </a:r>
              <a:endParaRPr lang="en-GB" altLang="en-US" sz="1800">
                <a:latin typeface="Sylfaen" panose="010A0502050306030303" pitchFamily="18" charset="0"/>
              </a:endParaRPr>
            </a:p>
          </p:txBody>
        </p:sp>
        <p:cxnSp>
          <p:nvCxnSpPr>
            <p:cNvPr id="135" name="Straight Connector 134">
              <a:extLst>
                <a:ext uri="{FF2B5EF4-FFF2-40B4-BE49-F238E27FC236}">
                  <a16:creationId xmlns:a16="http://schemas.microsoft.com/office/drawing/2014/main" id="{9C7D70A5-F1C6-4AD7-A5F5-AB639459E449}"/>
                </a:ext>
              </a:extLst>
            </p:cNvPr>
            <p:cNvCxnSpPr/>
            <p:nvPr/>
          </p:nvCxnSpPr>
          <p:spPr>
            <a:xfrm rot="5400000">
              <a:off x="4787133" y="4211638"/>
              <a:ext cx="379413"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3C470C9-06F4-417A-9567-E7A42A351483}"/>
                </a:ext>
              </a:extLst>
            </p:cNvPr>
            <p:cNvCxnSpPr/>
            <p:nvPr/>
          </p:nvCxnSpPr>
          <p:spPr>
            <a:xfrm>
              <a:off x="6987272" y="3484563"/>
              <a:ext cx="24604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0E41570-CB2A-48A0-A94F-7D396E55E702}"/>
                </a:ext>
              </a:extLst>
            </p:cNvPr>
            <p:cNvCxnSpPr/>
            <p:nvPr/>
          </p:nvCxnSpPr>
          <p:spPr>
            <a:xfrm rot="10800000" flipH="1" flipV="1">
              <a:off x="7239667" y="3487738"/>
              <a:ext cx="0" cy="917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B54AFB3-0F56-4AD7-8212-1D312B7E0C19}"/>
                </a:ext>
              </a:extLst>
            </p:cNvPr>
            <p:cNvCxnSpPr/>
            <p:nvPr/>
          </p:nvCxnSpPr>
          <p:spPr>
            <a:xfrm>
              <a:off x="4964935" y="4418013"/>
              <a:ext cx="2285844"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447" name="TextBox 138">
              <a:extLst>
                <a:ext uri="{FF2B5EF4-FFF2-40B4-BE49-F238E27FC236}">
                  <a16:creationId xmlns:a16="http://schemas.microsoft.com/office/drawing/2014/main" id="{607D63A4-2F7A-B20A-D4CF-F8F50CBDD9FD}"/>
                </a:ext>
              </a:extLst>
            </p:cNvPr>
            <p:cNvSpPr txBox="1">
              <a:spLocks noChangeArrowheads="1"/>
            </p:cNvSpPr>
            <p:nvPr/>
          </p:nvSpPr>
          <p:spPr bwMode="auto">
            <a:xfrm>
              <a:off x="3681350" y="3434836"/>
              <a:ext cx="719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y [6]</a:t>
              </a:r>
              <a:endParaRPr lang="en-GB" altLang="en-US" sz="1800">
                <a:latin typeface="Sylfaen" panose="010A0502050306030303" pitchFamily="18" charset="0"/>
              </a:endParaRPr>
            </a:p>
          </p:txBody>
        </p:sp>
        <p:sp>
          <p:nvSpPr>
            <p:cNvPr id="59448" name="TextBox 139">
              <a:extLst>
                <a:ext uri="{FF2B5EF4-FFF2-40B4-BE49-F238E27FC236}">
                  <a16:creationId xmlns:a16="http://schemas.microsoft.com/office/drawing/2014/main" id="{B63577A1-E8E0-79D4-16B1-7FD63B09110B}"/>
                </a:ext>
              </a:extLst>
            </p:cNvPr>
            <p:cNvSpPr txBox="1">
              <a:spLocks noChangeArrowheads="1"/>
            </p:cNvSpPr>
            <p:nvPr/>
          </p:nvSpPr>
          <p:spPr bwMode="auto">
            <a:xfrm>
              <a:off x="3657600" y="3734401"/>
              <a:ext cx="719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y [</a:t>
              </a:r>
              <a:r>
                <a:rPr lang="ru-RU" altLang="en-US" sz="1800">
                  <a:latin typeface="Sylfaen" panose="010A0502050306030303" pitchFamily="18" charset="0"/>
                </a:rPr>
                <a:t>7</a:t>
              </a:r>
              <a:r>
                <a:rPr lang="en-US" altLang="en-US" sz="1800">
                  <a:latin typeface="Sylfaen" panose="010A0502050306030303" pitchFamily="18" charset="0"/>
                </a:rPr>
                <a:t>]</a:t>
              </a:r>
              <a:endParaRPr lang="en-GB" altLang="en-US" sz="1800">
                <a:latin typeface="Sylfaen" panose="010A0502050306030303" pitchFamily="18" charset="0"/>
              </a:endParaRPr>
            </a:p>
          </p:txBody>
        </p:sp>
        <p:cxnSp>
          <p:nvCxnSpPr>
            <p:cNvPr id="141" name="Straight Connector 140">
              <a:extLst>
                <a:ext uri="{FF2B5EF4-FFF2-40B4-BE49-F238E27FC236}">
                  <a16:creationId xmlns:a16="http://schemas.microsoft.com/office/drawing/2014/main" id="{1905AD9C-3237-4362-B603-4654D45DE917}"/>
                </a:ext>
              </a:extLst>
            </p:cNvPr>
            <p:cNvCxnSpPr/>
            <p:nvPr/>
          </p:nvCxnSpPr>
          <p:spPr>
            <a:xfrm>
              <a:off x="1752054" y="3497263"/>
              <a:ext cx="54923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450" name="TextBox 141">
              <a:extLst>
                <a:ext uri="{FF2B5EF4-FFF2-40B4-BE49-F238E27FC236}">
                  <a16:creationId xmlns:a16="http://schemas.microsoft.com/office/drawing/2014/main" id="{3B7E6B22-6C31-1E9B-0BD2-440D7F338D3F}"/>
                </a:ext>
              </a:extLst>
            </p:cNvPr>
            <p:cNvSpPr txBox="1">
              <a:spLocks noChangeArrowheads="1"/>
            </p:cNvSpPr>
            <p:nvPr/>
          </p:nvSpPr>
          <p:spPr bwMode="auto">
            <a:xfrm>
              <a:off x="1295400" y="3258800"/>
              <a:ext cx="585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Sylfaen" panose="010A0502050306030303" pitchFamily="18" charset="0"/>
                </a:rPr>
                <a:t>dp</a:t>
              </a:r>
              <a:endParaRPr lang="en-GB" altLang="en-US" sz="1800">
                <a:latin typeface="Sylfaen" panose="010A0502050306030303" pitchFamily="18" charset="0"/>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C45D86B4-943B-3DB5-7D4D-8DB09ADE0202}"/>
              </a:ext>
            </a:extLst>
          </p:cNvPr>
          <p:cNvSpPr>
            <a:spLocks noGrp="1" noChangeArrowheads="1"/>
          </p:cNvSpPr>
          <p:nvPr>
            <p:ph type="title"/>
          </p:nvPr>
        </p:nvSpPr>
        <p:spPr/>
        <p:txBody>
          <a:bodyPr/>
          <a:lstStyle/>
          <a:p>
            <a:r>
              <a:rPr lang="en-US" altLang="en-US"/>
              <a:t>Seven-Segment Display  Digits and Letters</a:t>
            </a:r>
            <a:endParaRPr lang="en-GB" altLang="en-US"/>
          </a:p>
        </p:txBody>
      </p:sp>
      <p:grpSp>
        <p:nvGrpSpPr>
          <p:cNvPr id="60419" name="Group 273">
            <a:extLst>
              <a:ext uri="{FF2B5EF4-FFF2-40B4-BE49-F238E27FC236}">
                <a16:creationId xmlns:a16="http://schemas.microsoft.com/office/drawing/2014/main" id="{52C3D555-52EB-7135-2C02-E64EF6C4431D}"/>
              </a:ext>
            </a:extLst>
          </p:cNvPr>
          <p:cNvGrpSpPr>
            <a:grpSpLocks/>
          </p:cNvGrpSpPr>
          <p:nvPr/>
        </p:nvGrpSpPr>
        <p:grpSpPr bwMode="auto">
          <a:xfrm>
            <a:off x="1619250" y="1524000"/>
            <a:ext cx="9048750" cy="4107542"/>
            <a:chOff x="96000" y="1524000"/>
            <a:chExt cx="9048000" cy="4108253"/>
          </a:xfrm>
        </p:grpSpPr>
        <p:sp>
          <p:nvSpPr>
            <p:cNvPr id="60420" name="TextBox 19">
              <a:extLst>
                <a:ext uri="{FF2B5EF4-FFF2-40B4-BE49-F238E27FC236}">
                  <a16:creationId xmlns:a16="http://schemas.microsoft.com/office/drawing/2014/main" id="{75FF1109-E2C1-D5EF-EEA2-9CDD77CE1B67}"/>
                </a:ext>
              </a:extLst>
            </p:cNvPr>
            <p:cNvSpPr txBox="1">
              <a:spLocks noChangeArrowheads="1"/>
            </p:cNvSpPr>
            <p:nvPr/>
          </p:nvSpPr>
          <p:spPr bwMode="auto">
            <a:xfrm>
              <a:off x="548250" y="16239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grpSp>
          <p:nvGrpSpPr>
            <p:cNvPr id="60421" name="Group 26">
              <a:extLst>
                <a:ext uri="{FF2B5EF4-FFF2-40B4-BE49-F238E27FC236}">
                  <a16:creationId xmlns:a16="http://schemas.microsoft.com/office/drawing/2014/main" id="{629226A8-CE21-873D-23A8-866145BD6358}"/>
                </a:ext>
              </a:extLst>
            </p:cNvPr>
            <p:cNvGrpSpPr>
              <a:grpSpLocks/>
            </p:cNvGrpSpPr>
            <p:nvPr/>
          </p:nvGrpSpPr>
          <p:grpSpPr bwMode="auto">
            <a:xfrm>
              <a:off x="96000" y="1946348"/>
              <a:ext cx="1371600" cy="1642356"/>
              <a:chOff x="381000" y="1981973"/>
              <a:chExt cx="1371600" cy="1642356"/>
            </a:xfrm>
          </p:grpSpPr>
          <p:sp>
            <p:nvSpPr>
              <p:cNvPr id="7" name="Rounded Rectangle 6">
                <a:extLst>
                  <a:ext uri="{FF2B5EF4-FFF2-40B4-BE49-F238E27FC236}">
                    <a16:creationId xmlns:a16="http://schemas.microsoft.com/office/drawing/2014/main" id="{BF905C56-6F8E-4AAD-BEC0-6401D0F01E53}"/>
                  </a:ext>
                </a:extLst>
              </p:cNvPr>
              <p:cNvSpPr/>
              <p:nvPr/>
            </p:nvSpPr>
            <p:spPr>
              <a:xfrm>
                <a:off x="742920" y="1981973"/>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 name="Rounded Rectangle 9">
                <a:extLst>
                  <a:ext uri="{FF2B5EF4-FFF2-40B4-BE49-F238E27FC236}">
                    <a16:creationId xmlns:a16="http://schemas.microsoft.com/office/drawing/2014/main" id="{1BDDD06E-1DC4-44DD-82A1-C8CF9B73817F}"/>
                  </a:ext>
                </a:extLst>
              </p:cNvPr>
              <p:cNvSpPr/>
              <p:nvPr/>
            </p:nvSpPr>
            <p:spPr>
              <a:xfrm rot="5400000">
                <a:off x="469040" y="2281281"/>
                <a:ext cx="455692"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1" name="Rounded Rectangle 10">
                <a:extLst>
                  <a:ext uri="{FF2B5EF4-FFF2-40B4-BE49-F238E27FC236}">
                    <a16:creationId xmlns:a16="http://schemas.microsoft.com/office/drawing/2014/main" id="{29AA2357-C3EC-4D6C-9D1F-8C9C24F8C5B1}"/>
                  </a:ext>
                </a:extLst>
              </p:cNvPr>
              <p:cNvSpPr/>
              <p:nvPr/>
            </p:nvSpPr>
            <p:spPr>
              <a:xfrm rot="5400000">
                <a:off x="1016683" y="2281281"/>
                <a:ext cx="455692"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5" name="Rounded Rectangle 14">
                <a:extLst>
                  <a:ext uri="{FF2B5EF4-FFF2-40B4-BE49-F238E27FC236}">
                    <a16:creationId xmlns:a16="http://schemas.microsoft.com/office/drawing/2014/main" id="{C7B02930-085A-422C-BC6C-6BF29ABF58D2}"/>
                  </a:ext>
                </a:extLst>
              </p:cNvPr>
              <p:cNvSpPr/>
              <p:nvPr/>
            </p:nvSpPr>
            <p:spPr>
              <a:xfrm>
                <a:off x="742920" y="2578976"/>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6" name="Rounded Rectangle 15">
                <a:extLst>
                  <a:ext uri="{FF2B5EF4-FFF2-40B4-BE49-F238E27FC236}">
                    <a16:creationId xmlns:a16="http://schemas.microsoft.com/office/drawing/2014/main" id="{8AADDB9F-117C-4584-9EFF-F097DF70F208}"/>
                  </a:ext>
                </a:extLst>
              </p:cNvPr>
              <p:cNvSpPr/>
              <p:nvPr/>
            </p:nvSpPr>
            <p:spPr>
              <a:xfrm rot="5400000">
                <a:off x="468247" y="2890192"/>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7" name="Rounded Rectangle 16">
                <a:extLst>
                  <a:ext uri="{FF2B5EF4-FFF2-40B4-BE49-F238E27FC236}">
                    <a16:creationId xmlns:a16="http://schemas.microsoft.com/office/drawing/2014/main" id="{1D7B834A-8AB5-48A4-8A63-A0D345101E4E}"/>
                  </a:ext>
                </a:extLst>
              </p:cNvPr>
              <p:cNvSpPr/>
              <p:nvPr/>
            </p:nvSpPr>
            <p:spPr>
              <a:xfrm rot="5400000">
                <a:off x="1015890" y="2890192"/>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8" name="Rounded Rectangle 17">
                <a:extLst>
                  <a:ext uri="{FF2B5EF4-FFF2-40B4-BE49-F238E27FC236}">
                    <a16:creationId xmlns:a16="http://schemas.microsoft.com/office/drawing/2014/main" id="{A495C474-3E88-4285-9B93-7CCA9C3E5EAA}"/>
                  </a:ext>
                </a:extLst>
              </p:cNvPr>
              <p:cNvSpPr/>
              <p:nvPr/>
            </p:nvSpPr>
            <p:spPr>
              <a:xfrm>
                <a:off x="742920" y="3201384"/>
                <a:ext cx="457162" cy="90504"/>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654" name="TextBox 20">
                <a:extLst>
                  <a:ext uri="{FF2B5EF4-FFF2-40B4-BE49-F238E27FC236}">
                    <a16:creationId xmlns:a16="http://schemas.microsoft.com/office/drawing/2014/main" id="{DFB306F5-7B8D-0A86-71CB-2459AC1AF1FE}"/>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655" name="TextBox 21">
                <a:extLst>
                  <a:ext uri="{FF2B5EF4-FFF2-40B4-BE49-F238E27FC236}">
                    <a16:creationId xmlns:a16="http://schemas.microsoft.com/office/drawing/2014/main" id="{C3B8D647-ADBD-DEE2-A9D3-CCB28CBBF16D}"/>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656" name="TextBox 22">
                <a:extLst>
                  <a:ext uri="{FF2B5EF4-FFF2-40B4-BE49-F238E27FC236}">
                    <a16:creationId xmlns:a16="http://schemas.microsoft.com/office/drawing/2014/main" id="{F817921D-4BE5-7712-85E7-3788BEC6EC7B}"/>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657" name="TextBox 23">
                <a:extLst>
                  <a:ext uri="{FF2B5EF4-FFF2-40B4-BE49-F238E27FC236}">
                    <a16:creationId xmlns:a16="http://schemas.microsoft.com/office/drawing/2014/main" id="{486646B9-3D37-79DE-0266-72FD4489FD64}"/>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658" name="TextBox 24">
                <a:extLst>
                  <a:ext uri="{FF2B5EF4-FFF2-40B4-BE49-F238E27FC236}">
                    <a16:creationId xmlns:a16="http://schemas.microsoft.com/office/drawing/2014/main" id="{E995BE2A-71A0-BB0B-BE6C-75004BEA75F6}"/>
                  </a:ext>
                </a:extLst>
              </p:cNvPr>
              <p:cNvSpPr txBox="1">
                <a:spLocks noChangeArrowheads="1"/>
              </p:cNvSpPr>
              <p:nvPr/>
            </p:nvSpPr>
            <p:spPr bwMode="auto">
              <a:xfrm>
                <a:off x="833250" y="22404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659" name="TextBox 25">
                <a:extLst>
                  <a:ext uri="{FF2B5EF4-FFF2-40B4-BE49-F238E27FC236}">
                    <a16:creationId xmlns:a16="http://schemas.microsoft.com/office/drawing/2014/main" id="{6427786F-5825-E08C-A266-741C9864A779}"/>
                  </a:ext>
                </a:extLst>
              </p:cNvPr>
              <p:cNvSpPr txBox="1">
                <a:spLocks noChangeArrowheads="1"/>
              </p:cNvSpPr>
              <p:nvPr/>
            </p:nvSpPr>
            <p:spPr bwMode="auto">
              <a:xfrm>
                <a:off x="416625" y="21454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22" name="Group 27">
              <a:extLst>
                <a:ext uri="{FF2B5EF4-FFF2-40B4-BE49-F238E27FC236}">
                  <a16:creationId xmlns:a16="http://schemas.microsoft.com/office/drawing/2014/main" id="{BAC6639D-7647-01E6-213F-B3D9D4979EE5}"/>
                </a:ext>
              </a:extLst>
            </p:cNvPr>
            <p:cNvGrpSpPr>
              <a:grpSpLocks/>
            </p:cNvGrpSpPr>
            <p:nvPr/>
          </p:nvGrpSpPr>
          <p:grpSpPr bwMode="auto">
            <a:xfrm>
              <a:off x="1194475" y="1928883"/>
              <a:ext cx="1371600" cy="1666746"/>
              <a:chOff x="381000" y="1981333"/>
              <a:chExt cx="1371600" cy="1666746"/>
            </a:xfrm>
          </p:grpSpPr>
          <p:sp>
            <p:nvSpPr>
              <p:cNvPr id="29" name="Rounded Rectangle 28">
                <a:extLst>
                  <a:ext uri="{FF2B5EF4-FFF2-40B4-BE49-F238E27FC236}">
                    <a16:creationId xmlns:a16="http://schemas.microsoft.com/office/drawing/2014/main" id="{12736947-17E6-4CEF-8F8D-763AFA517ABA}"/>
                  </a:ext>
                </a:extLst>
              </p:cNvPr>
              <p:cNvSpPr/>
              <p:nvPr/>
            </p:nvSpPr>
            <p:spPr>
              <a:xfrm>
                <a:off x="742904" y="1981333"/>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0" name="Rounded Rectangle 29">
                <a:extLst>
                  <a:ext uri="{FF2B5EF4-FFF2-40B4-BE49-F238E27FC236}">
                    <a16:creationId xmlns:a16="http://schemas.microsoft.com/office/drawing/2014/main" id="{C638C503-42AA-426D-AA21-6045102640BC}"/>
                  </a:ext>
                </a:extLst>
              </p:cNvPr>
              <p:cNvSpPr/>
              <p:nvPr/>
            </p:nvSpPr>
            <p:spPr>
              <a:xfrm rot="5400000">
                <a:off x="469025" y="2280640"/>
                <a:ext cx="455691"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1" name="Rounded Rectangle 30">
                <a:extLst>
                  <a:ext uri="{FF2B5EF4-FFF2-40B4-BE49-F238E27FC236}">
                    <a16:creationId xmlns:a16="http://schemas.microsoft.com/office/drawing/2014/main" id="{5A21AD88-0E77-44F3-B648-AE268101C1CA}"/>
                  </a:ext>
                </a:extLst>
              </p:cNvPr>
              <p:cNvSpPr/>
              <p:nvPr/>
            </p:nvSpPr>
            <p:spPr>
              <a:xfrm rot="5400000">
                <a:off x="1016668" y="2280640"/>
                <a:ext cx="455691"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2" name="Rounded Rectangle 31">
                <a:extLst>
                  <a:ext uri="{FF2B5EF4-FFF2-40B4-BE49-F238E27FC236}">
                    <a16:creationId xmlns:a16="http://schemas.microsoft.com/office/drawing/2014/main" id="{FF59B48E-33DE-4164-AC66-2722B0EB2238}"/>
                  </a:ext>
                </a:extLst>
              </p:cNvPr>
              <p:cNvSpPr/>
              <p:nvPr/>
            </p:nvSpPr>
            <p:spPr>
              <a:xfrm>
                <a:off x="742904" y="2578336"/>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3" name="Rounded Rectangle 32">
                <a:extLst>
                  <a:ext uri="{FF2B5EF4-FFF2-40B4-BE49-F238E27FC236}">
                    <a16:creationId xmlns:a16="http://schemas.microsoft.com/office/drawing/2014/main" id="{91C6B6A4-D1E3-45EF-A905-9BE8DF59446A}"/>
                  </a:ext>
                </a:extLst>
              </p:cNvPr>
              <p:cNvSpPr/>
              <p:nvPr/>
            </p:nvSpPr>
            <p:spPr>
              <a:xfrm rot="5400000">
                <a:off x="468231" y="2889551"/>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4" name="Rounded Rectangle 33">
                <a:extLst>
                  <a:ext uri="{FF2B5EF4-FFF2-40B4-BE49-F238E27FC236}">
                    <a16:creationId xmlns:a16="http://schemas.microsoft.com/office/drawing/2014/main" id="{4054A980-0513-48BE-A3B4-9B7B2F1B5604}"/>
                  </a:ext>
                </a:extLst>
              </p:cNvPr>
              <p:cNvSpPr/>
              <p:nvPr/>
            </p:nvSpPr>
            <p:spPr>
              <a:xfrm rot="5400000">
                <a:off x="1015874" y="2889551"/>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5" name="Rounded Rectangle 34">
                <a:extLst>
                  <a:ext uri="{FF2B5EF4-FFF2-40B4-BE49-F238E27FC236}">
                    <a16:creationId xmlns:a16="http://schemas.microsoft.com/office/drawing/2014/main" id="{65681DE7-32B6-4A17-9C7D-B1E0BC728B8A}"/>
                  </a:ext>
                </a:extLst>
              </p:cNvPr>
              <p:cNvSpPr/>
              <p:nvPr/>
            </p:nvSpPr>
            <p:spPr>
              <a:xfrm>
                <a:off x="742904" y="3200744"/>
                <a:ext cx="457162" cy="9050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641" name="TextBox 35">
                <a:extLst>
                  <a:ext uri="{FF2B5EF4-FFF2-40B4-BE49-F238E27FC236}">
                    <a16:creationId xmlns:a16="http://schemas.microsoft.com/office/drawing/2014/main" id="{5FE45554-BEF5-F042-0C10-69F23CF4C78C}"/>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642" name="TextBox 36">
                <a:extLst>
                  <a:ext uri="{FF2B5EF4-FFF2-40B4-BE49-F238E27FC236}">
                    <a16:creationId xmlns:a16="http://schemas.microsoft.com/office/drawing/2014/main" id="{C59A07AB-C812-6F84-7195-B95822979007}"/>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643" name="TextBox 37">
                <a:extLst>
                  <a:ext uri="{FF2B5EF4-FFF2-40B4-BE49-F238E27FC236}">
                    <a16:creationId xmlns:a16="http://schemas.microsoft.com/office/drawing/2014/main" id="{0EE5BB97-1A0C-C957-A7D4-33EF95A127AF}"/>
                  </a:ext>
                </a:extLst>
              </p:cNvPr>
              <p:cNvSpPr txBox="1">
                <a:spLocks noChangeArrowheads="1"/>
              </p:cNvSpPr>
              <p:nvPr/>
            </p:nvSpPr>
            <p:spPr bwMode="auto">
              <a:xfrm>
                <a:off x="785750" y="32479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644" name="TextBox 38">
                <a:extLst>
                  <a:ext uri="{FF2B5EF4-FFF2-40B4-BE49-F238E27FC236}">
                    <a16:creationId xmlns:a16="http://schemas.microsoft.com/office/drawing/2014/main" id="{E095E050-CA38-9C1B-BAF6-C806D685F752}"/>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645" name="TextBox 39">
                <a:extLst>
                  <a:ext uri="{FF2B5EF4-FFF2-40B4-BE49-F238E27FC236}">
                    <a16:creationId xmlns:a16="http://schemas.microsoft.com/office/drawing/2014/main" id="{2987023B-9C8C-19FA-607F-6025276CF763}"/>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646" name="TextBox 40">
                <a:extLst>
                  <a:ext uri="{FF2B5EF4-FFF2-40B4-BE49-F238E27FC236}">
                    <a16:creationId xmlns:a16="http://schemas.microsoft.com/office/drawing/2014/main" id="{C4EE7AA3-7215-EABA-C14D-45737A4FB2AE}"/>
                  </a:ext>
                </a:extLst>
              </p:cNvPr>
              <p:cNvSpPr txBox="1">
                <a:spLocks noChangeArrowheads="1"/>
              </p:cNvSpPr>
              <p:nvPr/>
            </p:nvSpPr>
            <p:spPr bwMode="auto">
              <a:xfrm>
                <a:off x="416625" y="22028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23" name="Group 43">
              <a:extLst>
                <a:ext uri="{FF2B5EF4-FFF2-40B4-BE49-F238E27FC236}">
                  <a16:creationId xmlns:a16="http://schemas.microsoft.com/office/drawing/2014/main" id="{43AAC3E3-5C16-4E56-2D0E-8F0C1FF9929A}"/>
                </a:ext>
              </a:extLst>
            </p:cNvPr>
            <p:cNvGrpSpPr>
              <a:grpSpLocks/>
            </p:cNvGrpSpPr>
            <p:nvPr/>
          </p:nvGrpSpPr>
          <p:grpSpPr bwMode="auto">
            <a:xfrm>
              <a:off x="2298875" y="1916181"/>
              <a:ext cx="1371600" cy="1643823"/>
              <a:chOff x="381000" y="1980506"/>
              <a:chExt cx="1371600" cy="1643823"/>
            </a:xfrm>
          </p:grpSpPr>
          <p:sp>
            <p:nvSpPr>
              <p:cNvPr id="45" name="Rounded Rectangle 44">
                <a:extLst>
                  <a:ext uri="{FF2B5EF4-FFF2-40B4-BE49-F238E27FC236}">
                    <a16:creationId xmlns:a16="http://schemas.microsoft.com/office/drawing/2014/main" id="{30FB0F50-9C2C-448E-B6FD-4687B9B938DC}"/>
                  </a:ext>
                </a:extLst>
              </p:cNvPr>
              <p:cNvSpPr/>
              <p:nvPr/>
            </p:nvSpPr>
            <p:spPr>
              <a:xfrm>
                <a:off x="743312" y="1980506"/>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46" name="Rounded Rectangle 45">
                <a:extLst>
                  <a:ext uri="{FF2B5EF4-FFF2-40B4-BE49-F238E27FC236}">
                    <a16:creationId xmlns:a16="http://schemas.microsoft.com/office/drawing/2014/main" id="{7303DBC0-2EFF-4FB0-992C-69E66AC254F9}"/>
                  </a:ext>
                </a:extLst>
              </p:cNvPr>
              <p:cNvSpPr/>
              <p:nvPr/>
            </p:nvSpPr>
            <p:spPr>
              <a:xfrm rot="5400000">
                <a:off x="468639" y="2280607"/>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47" name="Rounded Rectangle 46">
                <a:extLst>
                  <a:ext uri="{FF2B5EF4-FFF2-40B4-BE49-F238E27FC236}">
                    <a16:creationId xmlns:a16="http://schemas.microsoft.com/office/drawing/2014/main" id="{F17AFC9D-E8A5-49A9-974E-30D2114E679A}"/>
                  </a:ext>
                </a:extLst>
              </p:cNvPr>
              <p:cNvSpPr/>
              <p:nvPr/>
            </p:nvSpPr>
            <p:spPr>
              <a:xfrm rot="5400000">
                <a:off x="1016282" y="2280607"/>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48" name="Rounded Rectangle 47">
                <a:extLst>
                  <a:ext uri="{FF2B5EF4-FFF2-40B4-BE49-F238E27FC236}">
                    <a16:creationId xmlns:a16="http://schemas.microsoft.com/office/drawing/2014/main" id="{6A2205C0-3AA7-4DCF-96E5-C23D6CBBC05D}"/>
                  </a:ext>
                </a:extLst>
              </p:cNvPr>
              <p:cNvSpPr/>
              <p:nvPr/>
            </p:nvSpPr>
            <p:spPr>
              <a:xfrm>
                <a:off x="743312" y="2579096"/>
                <a:ext cx="457162" cy="90504"/>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49" name="Rounded Rectangle 48">
                <a:extLst>
                  <a:ext uri="{FF2B5EF4-FFF2-40B4-BE49-F238E27FC236}">
                    <a16:creationId xmlns:a16="http://schemas.microsoft.com/office/drawing/2014/main" id="{0D23CDC5-AD52-4678-BFDE-39A91F4A7042}"/>
                  </a:ext>
                </a:extLst>
              </p:cNvPr>
              <p:cNvSpPr/>
              <p:nvPr/>
            </p:nvSpPr>
            <p:spPr>
              <a:xfrm rot="5400000">
                <a:off x="468639" y="2890312"/>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50" name="Rounded Rectangle 49">
                <a:extLst>
                  <a:ext uri="{FF2B5EF4-FFF2-40B4-BE49-F238E27FC236}">
                    <a16:creationId xmlns:a16="http://schemas.microsoft.com/office/drawing/2014/main" id="{4545D36F-4675-496C-82F3-B000FF832A38}"/>
                  </a:ext>
                </a:extLst>
              </p:cNvPr>
              <p:cNvSpPr/>
              <p:nvPr/>
            </p:nvSpPr>
            <p:spPr>
              <a:xfrm rot="5400000">
                <a:off x="1016282" y="2890312"/>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51" name="Rounded Rectangle 50">
                <a:extLst>
                  <a:ext uri="{FF2B5EF4-FFF2-40B4-BE49-F238E27FC236}">
                    <a16:creationId xmlns:a16="http://schemas.microsoft.com/office/drawing/2014/main" id="{011E29D2-8E46-4447-BDA0-FC1DD4AA5854}"/>
                  </a:ext>
                </a:extLst>
              </p:cNvPr>
              <p:cNvSpPr/>
              <p:nvPr/>
            </p:nvSpPr>
            <p:spPr>
              <a:xfrm>
                <a:off x="743312" y="3199917"/>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628" name="TextBox 51">
                <a:extLst>
                  <a:ext uri="{FF2B5EF4-FFF2-40B4-BE49-F238E27FC236}">
                    <a16:creationId xmlns:a16="http://schemas.microsoft.com/office/drawing/2014/main" id="{CD8624AD-CBF1-0AFA-3250-6C8BA32C1EDB}"/>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629" name="TextBox 52">
                <a:extLst>
                  <a:ext uri="{FF2B5EF4-FFF2-40B4-BE49-F238E27FC236}">
                    <a16:creationId xmlns:a16="http://schemas.microsoft.com/office/drawing/2014/main" id="{58CD9BCB-6E10-761E-67CB-7A70367E1403}"/>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630" name="TextBox 53">
                <a:extLst>
                  <a:ext uri="{FF2B5EF4-FFF2-40B4-BE49-F238E27FC236}">
                    <a16:creationId xmlns:a16="http://schemas.microsoft.com/office/drawing/2014/main" id="{FD2BA80E-50F6-2F3E-AD87-5ED21258C0E0}"/>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631" name="TextBox 54">
                <a:extLst>
                  <a:ext uri="{FF2B5EF4-FFF2-40B4-BE49-F238E27FC236}">
                    <a16:creationId xmlns:a16="http://schemas.microsoft.com/office/drawing/2014/main" id="{F10C8006-2B87-5196-0750-02EF6A833D21}"/>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632" name="TextBox 55">
                <a:extLst>
                  <a:ext uri="{FF2B5EF4-FFF2-40B4-BE49-F238E27FC236}">
                    <a16:creationId xmlns:a16="http://schemas.microsoft.com/office/drawing/2014/main" id="{8EEFDACF-8A33-D4BE-31AA-720B6655B8BF}"/>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633" name="TextBox 56">
                <a:extLst>
                  <a:ext uri="{FF2B5EF4-FFF2-40B4-BE49-F238E27FC236}">
                    <a16:creationId xmlns:a16="http://schemas.microsoft.com/office/drawing/2014/main" id="{59DF7DDD-60F8-F00B-3904-DADF3FB3B044}"/>
                  </a:ext>
                </a:extLst>
              </p:cNvPr>
              <p:cNvSpPr txBox="1">
                <a:spLocks noChangeArrowheads="1"/>
              </p:cNvSpPr>
              <p:nvPr/>
            </p:nvSpPr>
            <p:spPr bwMode="auto">
              <a:xfrm>
                <a:off x="416625" y="2162299"/>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24" name="Group 57">
              <a:extLst>
                <a:ext uri="{FF2B5EF4-FFF2-40B4-BE49-F238E27FC236}">
                  <a16:creationId xmlns:a16="http://schemas.microsoft.com/office/drawing/2014/main" id="{32DEAE8A-42DE-6E73-743F-887549588E97}"/>
                </a:ext>
              </a:extLst>
            </p:cNvPr>
            <p:cNvGrpSpPr>
              <a:grpSpLocks/>
            </p:cNvGrpSpPr>
            <p:nvPr/>
          </p:nvGrpSpPr>
          <p:grpSpPr bwMode="auto">
            <a:xfrm>
              <a:off x="3375575" y="1900303"/>
              <a:ext cx="1371600" cy="1642876"/>
              <a:chOff x="381000" y="1981453"/>
              <a:chExt cx="1371600" cy="1642876"/>
            </a:xfrm>
          </p:grpSpPr>
          <p:sp>
            <p:nvSpPr>
              <p:cNvPr id="59" name="Rounded Rectangle 58">
                <a:extLst>
                  <a:ext uri="{FF2B5EF4-FFF2-40B4-BE49-F238E27FC236}">
                    <a16:creationId xmlns:a16="http://schemas.microsoft.com/office/drawing/2014/main" id="{1D77F1D0-B72E-40D9-BCBD-778DE4F6D3C1}"/>
                  </a:ext>
                </a:extLst>
              </p:cNvPr>
              <p:cNvSpPr/>
              <p:nvPr/>
            </p:nvSpPr>
            <p:spPr>
              <a:xfrm>
                <a:off x="742848" y="1981453"/>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 name="Rounded Rectangle 59">
                <a:extLst>
                  <a:ext uri="{FF2B5EF4-FFF2-40B4-BE49-F238E27FC236}">
                    <a16:creationId xmlns:a16="http://schemas.microsoft.com/office/drawing/2014/main" id="{1519ED06-8B1E-474A-A74F-96C7C926217B}"/>
                  </a:ext>
                </a:extLst>
              </p:cNvPr>
              <p:cNvSpPr/>
              <p:nvPr/>
            </p:nvSpPr>
            <p:spPr>
              <a:xfrm rot="5400000">
                <a:off x="468969" y="2280760"/>
                <a:ext cx="455691"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1" name="Rounded Rectangle 60">
                <a:extLst>
                  <a:ext uri="{FF2B5EF4-FFF2-40B4-BE49-F238E27FC236}">
                    <a16:creationId xmlns:a16="http://schemas.microsoft.com/office/drawing/2014/main" id="{CA1D9214-1283-43E5-9E27-94E15C1E59A5}"/>
                  </a:ext>
                </a:extLst>
              </p:cNvPr>
              <p:cNvSpPr/>
              <p:nvPr/>
            </p:nvSpPr>
            <p:spPr>
              <a:xfrm rot="5400000">
                <a:off x="1016612" y="2280760"/>
                <a:ext cx="455691"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2" name="Rounded Rectangle 61">
                <a:extLst>
                  <a:ext uri="{FF2B5EF4-FFF2-40B4-BE49-F238E27FC236}">
                    <a16:creationId xmlns:a16="http://schemas.microsoft.com/office/drawing/2014/main" id="{50B2921B-CD33-4DB4-8A94-1FA7471492CE}"/>
                  </a:ext>
                </a:extLst>
              </p:cNvPr>
              <p:cNvSpPr/>
              <p:nvPr/>
            </p:nvSpPr>
            <p:spPr>
              <a:xfrm>
                <a:off x="742848" y="2578456"/>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3" name="Rounded Rectangle 62">
                <a:extLst>
                  <a:ext uri="{FF2B5EF4-FFF2-40B4-BE49-F238E27FC236}">
                    <a16:creationId xmlns:a16="http://schemas.microsoft.com/office/drawing/2014/main" id="{A3EB8A53-41EC-4CB5-A3FF-156FBA6EEC09}"/>
                  </a:ext>
                </a:extLst>
              </p:cNvPr>
              <p:cNvSpPr/>
              <p:nvPr/>
            </p:nvSpPr>
            <p:spPr>
              <a:xfrm rot="5400000">
                <a:off x="468175" y="2889671"/>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4" name="Rounded Rectangle 63">
                <a:extLst>
                  <a:ext uri="{FF2B5EF4-FFF2-40B4-BE49-F238E27FC236}">
                    <a16:creationId xmlns:a16="http://schemas.microsoft.com/office/drawing/2014/main" id="{07D2CD0B-4154-4771-B8E8-E92F09616A3D}"/>
                  </a:ext>
                </a:extLst>
              </p:cNvPr>
              <p:cNvSpPr/>
              <p:nvPr/>
            </p:nvSpPr>
            <p:spPr>
              <a:xfrm rot="5400000">
                <a:off x="1015818" y="2889671"/>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5" name="Rounded Rectangle 64">
                <a:extLst>
                  <a:ext uri="{FF2B5EF4-FFF2-40B4-BE49-F238E27FC236}">
                    <a16:creationId xmlns:a16="http://schemas.microsoft.com/office/drawing/2014/main" id="{B53D0259-2B99-4E09-A915-01E9A0DA2A3A}"/>
                  </a:ext>
                </a:extLst>
              </p:cNvPr>
              <p:cNvSpPr/>
              <p:nvPr/>
            </p:nvSpPr>
            <p:spPr>
              <a:xfrm>
                <a:off x="742848" y="3200864"/>
                <a:ext cx="457162" cy="90503"/>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615" name="TextBox 65">
                <a:extLst>
                  <a:ext uri="{FF2B5EF4-FFF2-40B4-BE49-F238E27FC236}">
                    <a16:creationId xmlns:a16="http://schemas.microsoft.com/office/drawing/2014/main" id="{7177A8C2-D748-1FB3-D132-B8C829F1CBA2}"/>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616" name="TextBox 66">
                <a:extLst>
                  <a:ext uri="{FF2B5EF4-FFF2-40B4-BE49-F238E27FC236}">
                    <a16:creationId xmlns:a16="http://schemas.microsoft.com/office/drawing/2014/main" id="{E79A3729-0110-26BD-1E30-3A21BB51FEE6}"/>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617" name="TextBox 67">
                <a:extLst>
                  <a:ext uri="{FF2B5EF4-FFF2-40B4-BE49-F238E27FC236}">
                    <a16:creationId xmlns:a16="http://schemas.microsoft.com/office/drawing/2014/main" id="{C71D65A5-E208-D20E-CD4E-C5E4C6279EF1}"/>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618" name="TextBox 68">
                <a:extLst>
                  <a:ext uri="{FF2B5EF4-FFF2-40B4-BE49-F238E27FC236}">
                    <a16:creationId xmlns:a16="http://schemas.microsoft.com/office/drawing/2014/main" id="{E71A88DE-A00A-A641-D0FC-55046234BA47}"/>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619" name="TextBox 69">
                <a:extLst>
                  <a:ext uri="{FF2B5EF4-FFF2-40B4-BE49-F238E27FC236}">
                    <a16:creationId xmlns:a16="http://schemas.microsoft.com/office/drawing/2014/main" id="{1138B220-0030-D936-F37C-C8E1BECC56E8}"/>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620" name="TextBox 70">
                <a:extLst>
                  <a:ext uri="{FF2B5EF4-FFF2-40B4-BE49-F238E27FC236}">
                    <a16:creationId xmlns:a16="http://schemas.microsoft.com/office/drawing/2014/main" id="{7B4D1848-FA63-1492-A50A-326AD4035435}"/>
                  </a:ext>
                </a:extLst>
              </p:cNvPr>
              <p:cNvSpPr txBox="1">
                <a:spLocks noChangeArrowheads="1"/>
              </p:cNvSpPr>
              <p:nvPr/>
            </p:nvSpPr>
            <p:spPr bwMode="auto">
              <a:xfrm>
                <a:off x="416625" y="2162299"/>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25" name="Group 71">
              <a:extLst>
                <a:ext uri="{FF2B5EF4-FFF2-40B4-BE49-F238E27FC236}">
                  <a16:creationId xmlns:a16="http://schemas.microsoft.com/office/drawing/2014/main" id="{2E4A52CB-4F52-C177-57C2-7E9FADAA2C10}"/>
                </a:ext>
              </a:extLst>
            </p:cNvPr>
            <p:cNvGrpSpPr>
              <a:grpSpLocks/>
            </p:cNvGrpSpPr>
            <p:nvPr/>
          </p:nvGrpSpPr>
          <p:grpSpPr bwMode="auto">
            <a:xfrm>
              <a:off x="4423575" y="1911417"/>
              <a:ext cx="1371600" cy="1689161"/>
              <a:chOff x="381000" y="1980692"/>
              <a:chExt cx="1371600" cy="1689161"/>
            </a:xfrm>
          </p:grpSpPr>
          <p:sp>
            <p:nvSpPr>
              <p:cNvPr id="73" name="Rounded Rectangle 72">
                <a:extLst>
                  <a:ext uri="{FF2B5EF4-FFF2-40B4-BE49-F238E27FC236}">
                    <a16:creationId xmlns:a16="http://schemas.microsoft.com/office/drawing/2014/main" id="{5C90A110-2BD0-4E9F-A3E7-0D09BA408767}"/>
                  </a:ext>
                </a:extLst>
              </p:cNvPr>
              <p:cNvSpPr/>
              <p:nvPr/>
            </p:nvSpPr>
            <p:spPr>
              <a:xfrm>
                <a:off x="742511" y="1980692"/>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4" name="Rounded Rectangle 73">
                <a:extLst>
                  <a:ext uri="{FF2B5EF4-FFF2-40B4-BE49-F238E27FC236}">
                    <a16:creationId xmlns:a16="http://schemas.microsoft.com/office/drawing/2014/main" id="{26AC8CD2-C433-422F-8407-FDFB27698E13}"/>
                  </a:ext>
                </a:extLst>
              </p:cNvPr>
              <p:cNvSpPr/>
              <p:nvPr/>
            </p:nvSpPr>
            <p:spPr>
              <a:xfrm rot="5400000">
                <a:off x="468631" y="2280000"/>
                <a:ext cx="455692"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5" name="Rounded Rectangle 74">
                <a:extLst>
                  <a:ext uri="{FF2B5EF4-FFF2-40B4-BE49-F238E27FC236}">
                    <a16:creationId xmlns:a16="http://schemas.microsoft.com/office/drawing/2014/main" id="{457BC180-97C8-4B04-9973-1E8B07E00091}"/>
                  </a:ext>
                </a:extLst>
              </p:cNvPr>
              <p:cNvSpPr/>
              <p:nvPr/>
            </p:nvSpPr>
            <p:spPr>
              <a:xfrm rot="5400000">
                <a:off x="1016274" y="2280000"/>
                <a:ext cx="455692"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6" name="Rounded Rectangle 75">
                <a:extLst>
                  <a:ext uri="{FF2B5EF4-FFF2-40B4-BE49-F238E27FC236}">
                    <a16:creationId xmlns:a16="http://schemas.microsoft.com/office/drawing/2014/main" id="{E66924B1-8C96-473E-BBC4-C4673A2007F7}"/>
                  </a:ext>
                </a:extLst>
              </p:cNvPr>
              <p:cNvSpPr/>
              <p:nvPr/>
            </p:nvSpPr>
            <p:spPr>
              <a:xfrm>
                <a:off x="742511" y="2577695"/>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7" name="Rounded Rectangle 76">
                <a:extLst>
                  <a:ext uri="{FF2B5EF4-FFF2-40B4-BE49-F238E27FC236}">
                    <a16:creationId xmlns:a16="http://schemas.microsoft.com/office/drawing/2014/main" id="{3795232B-7471-4D59-9DC1-5B03955823A4}"/>
                  </a:ext>
                </a:extLst>
              </p:cNvPr>
              <p:cNvSpPr/>
              <p:nvPr/>
            </p:nvSpPr>
            <p:spPr>
              <a:xfrm rot="5400000">
                <a:off x="467838" y="2888911"/>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8" name="Rounded Rectangle 77">
                <a:extLst>
                  <a:ext uri="{FF2B5EF4-FFF2-40B4-BE49-F238E27FC236}">
                    <a16:creationId xmlns:a16="http://schemas.microsoft.com/office/drawing/2014/main" id="{B80A8EE8-762D-43C0-919C-ED503B93E321}"/>
                  </a:ext>
                </a:extLst>
              </p:cNvPr>
              <p:cNvSpPr/>
              <p:nvPr/>
            </p:nvSpPr>
            <p:spPr>
              <a:xfrm rot="5400000">
                <a:off x="1015481" y="2888911"/>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79" name="Rounded Rectangle 78">
                <a:extLst>
                  <a:ext uri="{FF2B5EF4-FFF2-40B4-BE49-F238E27FC236}">
                    <a16:creationId xmlns:a16="http://schemas.microsoft.com/office/drawing/2014/main" id="{4FE6AA10-1ADA-4D49-8630-E6F09E4D7077}"/>
                  </a:ext>
                </a:extLst>
              </p:cNvPr>
              <p:cNvSpPr/>
              <p:nvPr/>
            </p:nvSpPr>
            <p:spPr>
              <a:xfrm>
                <a:off x="742511" y="3200103"/>
                <a:ext cx="457162" cy="9050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602" name="TextBox 79">
                <a:extLst>
                  <a:ext uri="{FF2B5EF4-FFF2-40B4-BE49-F238E27FC236}">
                    <a16:creationId xmlns:a16="http://schemas.microsoft.com/office/drawing/2014/main" id="{D8DE75B9-7DBE-745B-19C0-E4BB940CE84C}"/>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603" name="TextBox 80">
                <a:extLst>
                  <a:ext uri="{FF2B5EF4-FFF2-40B4-BE49-F238E27FC236}">
                    <a16:creationId xmlns:a16="http://schemas.microsoft.com/office/drawing/2014/main" id="{C683688A-A20F-C1C3-CC57-98EEB8FC2950}"/>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604" name="TextBox 81">
                <a:extLst>
                  <a:ext uri="{FF2B5EF4-FFF2-40B4-BE49-F238E27FC236}">
                    <a16:creationId xmlns:a16="http://schemas.microsoft.com/office/drawing/2014/main" id="{EF1749B7-0FE9-30E0-4356-FDFF203FFE13}"/>
                  </a:ext>
                </a:extLst>
              </p:cNvPr>
              <p:cNvSpPr txBox="1">
                <a:spLocks noChangeArrowheads="1"/>
              </p:cNvSpPr>
              <p:nvPr/>
            </p:nvSpPr>
            <p:spPr bwMode="auto">
              <a:xfrm>
                <a:off x="785750" y="3269674"/>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605" name="TextBox 82">
                <a:extLst>
                  <a:ext uri="{FF2B5EF4-FFF2-40B4-BE49-F238E27FC236}">
                    <a16:creationId xmlns:a16="http://schemas.microsoft.com/office/drawing/2014/main" id="{91954EF0-2342-D56D-19ED-DCAEB51CDFBA}"/>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606" name="TextBox 83">
                <a:extLst>
                  <a:ext uri="{FF2B5EF4-FFF2-40B4-BE49-F238E27FC236}">
                    <a16:creationId xmlns:a16="http://schemas.microsoft.com/office/drawing/2014/main" id="{4191C382-FB34-362E-50CE-FB4B951D9C9A}"/>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607" name="TextBox 84">
                <a:extLst>
                  <a:ext uri="{FF2B5EF4-FFF2-40B4-BE49-F238E27FC236}">
                    <a16:creationId xmlns:a16="http://schemas.microsoft.com/office/drawing/2014/main" id="{AA759DCE-986E-E320-E741-FD4812080486}"/>
                  </a:ext>
                </a:extLst>
              </p:cNvPr>
              <p:cNvSpPr txBox="1">
                <a:spLocks noChangeArrowheads="1"/>
              </p:cNvSpPr>
              <p:nvPr/>
            </p:nvSpPr>
            <p:spPr bwMode="auto">
              <a:xfrm>
                <a:off x="416625" y="2162299"/>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26" name="Group 85">
              <a:extLst>
                <a:ext uri="{FF2B5EF4-FFF2-40B4-BE49-F238E27FC236}">
                  <a16:creationId xmlns:a16="http://schemas.microsoft.com/office/drawing/2014/main" id="{5643A3C7-69E3-30FE-DAF5-5843C61D538A}"/>
                </a:ext>
              </a:extLst>
            </p:cNvPr>
            <p:cNvGrpSpPr>
              <a:grpSpLocks/>
            </p:cNvGrpSpPr>
            <p:nvPr/>
          </p:nvGrpSpPr>
          <p:grpSpPr bwMode="auto">
            <a:xfrm>
              <a:off x="5567550" y="1911417"/>
              <a:ext cx="1371600" cy="1643637"/>
              <a:chOff x="381000" y="1980692"/>
              <a:chExt cx="1371600" cy="1643637"/>
            </a:xfrm>
          </p:grpSpPr>
          <p:sp>
            <p:nvSpPr>
              <p:cNvPr id="87" name="Rounded Rectangle 86">
                <a:extLst>
                  <a:ext uri="{FF2B5EF4-FFF2-40B4-BE49-F238E27FC236}">
                    <a16:creationId xmlns:a16="http://schemas.microsoft.com/office/drawing/2014/main" id="{C4D297E3-19AE-42C8-8C24-478E3E85BB5B}"/>
                  </a:ext>
                </a:extLst>
              </p:cNvPr>
              <p:cNvSpPr/>
              <p:nvPr/>
            </p:nvSpPr>
            <p:spPr>
              <a:xfrm>
                <a:off x="743029" y="1980692"/>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88" name="Rounded Rectangle 87">
                <a:extLst>
                  <a:ext uri="{FF2B5EF4-FFF2-40B4-BE49-F238E27FC236}">
                    <a16:creationId xmlns:a16="http://schemas.microsoft.com/office/drawing/2014/main" id="{F994EC9A-66C1-4FDB-B9E1-E957670683C5}"/>
                  </a:ext>
                </a:extLst>
              </p:cNvPr>
              <p:cNvSpPr/>
              <p:nvPr/>
            </p:nvSpPr>
            <p:spPr>
              <a:xfrm rot="5400000">
                <a:off x="468356" y="2280793"/>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89" name="Rounded Rectangle 88">
                <a:extLst>
                  <a:ext uri="{FF2B5EF4-FFF2-40B4-BE49-F238E27FC236}">
                    <a16:creationId xmlns:a16="http://schemas.microsoft.com/office/drawing/2014/main" id="{B7950AE3-5AAB-42B1-A4FF-FA225CBF6607}"/>
                  </a:ext>
                </a:extLst>
              </p:cNvPr>
              <p:cNvSpPr/>
              <p:nvPr/>
            </p:nvSpPr>
            <p:spPr>
              <a:xfrm rot="5400000">
                <a:off x="1015998" y="2280793"/>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90" name="Rounded Rectangle 89">
                <a:extLst>
                  <a:ext uri="{FF2B5EF4-FFF2-40B4-BE49-F238E27FC236}">
                    <a16:creationId xmlns:a16="http://schemas.microsoft.com/office/drawing/2014/main" id="{54D02F79-FE87-455B-B70C-FF5CBBC91FDD}"/>
                  </a:ext>
                </a:extLst>
              </p:cNvPr>
              <p:cNvSpPr/>
              <p:nvPr/>
            </p:nvSpPr>
            <p:spPr>
              <a:xfrm>
                <a:off x="743029" y="2579283"/>
                <a:ext cx="457162" cy="90503"/>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91" name="Rounded Rectangle 90">
                <a:extLst>
                  <a:ext uri="{FF2B5EF4-FFF2-40B4-BE49-F238E27FC236}">
                    <a16:creationId xmlns:a16="http://schemas.microsoft.com/office/drawing/2014/main" id="{BE86E15F-396D-49A2-9B63-DDB3AC56C877}"/>
                  </a:ext>
                </a:extLst>
              </p:cNvPr>
              <p:cNvSpPr/>
              <p:nvPr/>
            </p:nvSpPr>
            <p:spPr>
              <a:xfrm rot="5400000">
                <a:off x="468356" y="2890498"/>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92" name="Rounded Rectangle 91">
                <a:extLst>
                  <a:ext uri="{FF2B5EF4-FFF2-40B4-BE49-F238E27FC236}">
                    <a16:creationId xmlns:a16="http://schemas.microsoft.com/office/drawing/2014/main" id="{D552AECA-E2EF-400F-A0CC-87D64E2D20F2}"/>
                  </a:ext>
                </a:extLst>
              </p:cNvPr>
              <p:cNvSpPr/>
              <p:nvPr/>
            </p:nvSpPr>
            <p:spPr>
              <a:xfrm rot="5400000">
                <a:off x="1015998" y="2890498"/>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93" name="Rounded Rectangle 92">
                <a:extLst>
                  <a:ext uri="{FF2B5EF4-FFF2-40B4-BE49-F238E27FC236}">
                    <a16:creationId xmlns:a16="http://schemas.microsoft.com/office/drawing/2014/main" id="{B4F1788F-FAC1-496C-94AE-512132DDA416}"/>
                  </a:ext>
                </a:extLst>
              </p:cNvPr>
              <p:cNvSpPr/>
              <p:nvPr/>
            </p:nvSpPr>
            <p:spPr>
              <a:xfrm>
                <a:off x="743029" y="3200103"/>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589" name="TextBox 93">
                <a:extLst>
                  <a:ext uri="{FF2B5EF4-FFF2-40B4-BE49-F238E27FC236}">
                    <a16:creationId xmlns:a16="http://schemas.microsoft.com/office/drawing/2014/main" id="{86F04745-A85A-2E7E-7D3D-35161FF6728A}"/>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590" name="TextBox 94">
                <a:extLst>
                  <a:ext uri="{FF2B5EF4-FFF2-40B4-BE49-F238E27FC236}">
                    <a16:creationId xmlns:a16="http://schemas.microsoft.com/office/drawing/2014/main" id="{2B320970-F2B2-6D1C-69AE-095763F54487}"/>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591" name="TextBox 95">
                <a:extLst>
                  <a:ext uri="{FF2B5EF4-FFF2-40B4-BE49-F238E27FC236}">
                    <a16:creationId xmlns:a16="http://schemas.microsoft.com/office/drawing/2014/main" id="{DDC3A950-ABDD-B5EE-ADDE-3DBC34689B04}"/>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592" name="TextBox 96">
                <a:extLst>
                  <a:ext uri="{FF2B5EF4-FFF2-40B4-BE49-F238E27FC236}">
                    <a16:creationId xmlns:a16="http://schemas.microsoft.com/office/drawing/2014/main" id="{EA531749-4E93-17E6-7001-B9D087B25716}"/>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593" name="TextBox 97">
                <a:extLst>
                  <a:ext uri="{FF2B5EF4-FFF2-40B4-BE49-F238E27FC236}">
                    <a16:creationId xmlns:a16="http://schemas.microsoft.com/office/drawing/2014/main" id="{FB878825-4B09-722B-075A-45EA4374F8A4}"/>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594" name="TextBox 98">
                <a:extLst>
                  <a:ext uri="{FF2B5EF4-FFF2-40B4-BE49-F238E27FC236}">
                    <a16:creationId xmlns:a16="http://schemas.microsoft.com/office/drawing/2014/main" id="{A7BFD07A-1573-DEA6-B5D0-FA6DC49C9A0F}"/>
                  </a:ext>
                </a:extLst>
              </p:cNvPr>
              <p:cNvSpPr txBox="1">
                <a:spLocks noChangeArrowheads="1"/>
              </p:cNvSpPr>
              <p:nvPr/>
            </p:nvSpPr>
            <p:spPr bwMode="auto">
              <a:xfrm>
                <a:off x="416625" y="22028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27" name="Group 99">
              <a:extLst>
                <a:ext uri="{FF2B5EF4-FFF2-40B4-BE49-F238E27FC236}">
                  <a16:creationId xmlns:a16="http://schemas.microsoft.com/office/drawing/2014/main" id="{9FE7DF39-9342-4814-22B6-42E3D1C20D2B}"/>
                </a:ext>
              </a:extLst>
            </p:cNvPr>
            <p:cNvGrpSpPr>
              <a:grpSpLocks/>
            </p:cNvGrpSpPr>
            <p:nvPr/>
          </p:nvGrpSpPr>
          <p:grpSpPr bwMode="auto">
            <a:xfrm>
              <a:off x="6634350" y="1906654"/>
              <a:ext cx="1371600" cy="1643450"/>
              <a:chOff x="381000" y="1980879"/>
              <a:chExt cx="1371600" cy="1643450"/>
            </a:xfrm>
          </p:grpSpPr>
          <p:sp>
            <p:nvSpPr>
              <p:cNvPr id="101" name="Rounded Rectangle 100">
                <a:extLst>
                  <a:ext uri="{FF2B5EF4-FFF2-40B4-BE49-F238E27FC236}">
                    <a16:creationId xmlns:a16="http://schemas.microsoft.com/office/drawing/2014/main" id="{95EC8454-5690-4925-A65A-C80127CE72B1}"/>
                  </a:ext>
                </a:extLst>
              </p:cNvPr>
              <p:cNvSpPr/>
              <p:nvPr/>
            </p:nvSpPr>
            <p:spPr>
              <a:xfrm>
                <a:off x="742941" y="1980879"/>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2" name="Rounded Rectangle 101">
                <a:extLst>
                  <a:ext uri="{FF2B5EF4-FFF2-40B4-BE49-F238E27FC236}">
                    <a16:creationId xmlns:a16="http://schemas.microsoft.com/office/drawing/2014/main" id="{4C5B4EED-C773-4AB5-8460-12084315F246}"/>
                  </a:ext>
                </a:extLst>
              </p:cNvPr>
              <p:cNvSpPr/>
              <p:nvPr/>
            </p:nvSpPr>
            <p:spPr>
              <a:xfrm rot="5400000">
                <a:off x="468268" y="2280980"/>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3" name="Rounded Rectangle 102">
                <a:extLst>
                  <a:ext uri="{FF2B5EF4-FFF2-40B4-BE49-F238E27FC236}">
                    <a16:creationId xmlns:a16="http://schemas.microsoft.com/office/drawing/2014/main" id="{A18010F2-4433-4BA8-8553-430CC9073242}"/>
                  </a:ext>
                </a:extLst>
              </p:cNvPr>
              <p:cNvSpPr/>
              <p:nvPr/>
            </p:nvSpPr>
            <p:spPr>
              <a:xfrm rot="5400000">
                <a:off x="1015910" y="2280980"/>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4" name="Rounded Rectangle 103">
                <a:extLst>
                  <a:ext uri="{FF2B5EF4-FFF2-40B4-BE49-F238E27FC236}">
                    <a16:creationId xmlns:a16="http://schemas.microsoft.com/office/drawing/2014/main" id="{23AC3EA1-1B37-4C80-AB8F-3BFFD4D9E902}"/>
                  </a:ext>
                </a:extLst>
              </p:cNvPr>
              <p:cNvSpPr/>
              <p:nvPr/>
            </p:nvSpPr>
            <p:spPr>
              <a:xfrm>
                <a:off x="742941" y="2579470"/>
                <a:ext cx="457162" cy="90504"/>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5" name="Rounded Rectangle 104">
                <a:extLst>
                  <a:ext uri="{FF2B5EF4-FFF2-40B4-BE49-F238E27FC236}">
                    <a16:creationId xmlns:a16="http://schemas.microsoft.com/office/drawing/2014/main" id="{22E90B1E-C4D5-4CF3-86A5-2EDAA45AC428}"/>
                  </a:ext>
                </a:extLst>
              </p:cNvPr>
              <p:cNvSpPr/>
              <p:nvPr/>
            </p:nvSpPr>
            <p:spPr>
              <a:xfrm rot="5400000">
                <a:off x="468268" y="2890685"/>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6" name="Rounded Rectangle 105">
                <a:extLst>
                  <a:ext uri="{FF2B5EF4-FFF2-40B4-BE49-F238E27FC236}">
                    <a16:creationId xmlns:a16="http://schemas.microsoft.com/office/drawing/2014/main" id="{EC212BC0-C8EE-4712-81B9-BF57DC7AE75A}"/>
                  </a:ext>
                </a:extLst>
              </p:cNvPr>
              <p:cNvSpPr/>
              <p:nvPr/>
            </p:nvSpPr>
            <p:spPr>
              <a:xfrm rot="5400000">
                <a:off x="1015910" y="2890685"/>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07" name="Rounded Rectangle 106">
                <a:extLst>
                  <a:ext uri="{FF2B5EF4-FFF2-40B4-BE49-F238E27FC236}">
                    <a16:creationId xmlns:a16="http://schemas.microsoft.com/office/drawing/2014/main" id="{5428F8E9-F87C-48A3-87A7-5B81FA18656B}"/>
                  </a:ext>
                </a:extLst>
              </p:cNvPr>
              <p:cNvSpPr/>
              <p:nvPr/>
            </p:nvSpPr>
            <p:spPr>
              <a:xfrm>
                <a:off x="742941" y="3200290"/>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576" name="TextBox 107">
                <a:extLst>
                  <a:ext uri="{FF2B5EF4-FFF2-40B4-BE49-F238E27FC236}">
                    <a16:creationId xmlns:a16="http://schemas.microsoft.com/office/drawing/2014/main" id="{D477BCB8-3ED6-9A20-5EAC-0861F489191F}"/>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577" name="TextBox 108">
                <a:extLst>
                  <a:ext uri="{FF2B5EF4-FFF2-40B4-BE49-F238E27FC236}">
                    <a16:creationId xmlns:a16="http://schemas.microsoft.com/office/drawing/2014/main" id="{A5E236A9-011D-F684-7594-615F4A39FB71}"/>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578" name="TextBox 109">
                <a:extLst>
                  <a:ext uri="{FF2B5EF4-FFF2-40B4-BE49-F238E27FC236}">
                    <a16:creationId xmlns:a16="http://schemas.microsoft.com/office/drawing/2014/main" id="{BE553A19-A8EA-65C8-E088-DADE328F11BF}"/>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579" name="TextBox 110">
                <a:extLst>
                  <a:ext uri="{FF2B5EF4-FFF2-40B4-BE49-F238E27FC236}">
                    <a16:creationId xmlns:a16="http://schemas.microsoft.com/office/drawing/2014/main" id="{6F2CD256-D69A-8F15-5335-CDE6AF6CD989}"/>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580" name="TextBox 111">
                <a:extLst>
                  <a:ext uri="{FF2B5EF4-FFF2-40B4-BE49-F238E27FC236}">
                    <a16:creationId xmlns:a16="http://schemas.microsoft.com/office/drawing/2014/main" id="{F88498E3-ED60-0D6D-20E4-AAA51676E3B1}"/>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581" name="TextBox 112">
                <a:extLst>
                  <a:ext uri="{FF2B5EF4-FFF2-40B4-BE49-F238E27FC236}">
                    <a16:creationId xmlns:a16="http://schemas.microsoft.com/office/drawing/2014/main" id="{1CF013E0-4304-1C25-80A7-79ED1A2BDD27}"/>
                  </a:ext>
                </a:extLst>
              </p:cNvPr>
              <p:cNvSpPr txBox="1">
                <a:spLocks noChangeArrowheads="1"/>
              </p:cNvSpPr>
              <p:nvPr/>
            </p:nvSpPr>
            <p:spPr bwMode="auto">
              <a:xfrm>
                <a:off x="416625" y="21454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28" name="Group 113">
              <a:extLst>
                <a:ext uri="{FF2B5EF4-FFF2-40B4-BE49-F238E27FC236}">
                  <a16:creationId xmlns:a16="http://schemas.microsoft.com/office/drawing/2014/main" id="{756AAE72-D5CD-EADB-9AE4-77CE28E602D9}"/>
                </a:ext>
              </a:extLst>
            </p:cNvPr>
            <p:cNvGrpSpPr>
              <a:grpSpLocks/>
            </p:cNvGrpSpPr>
            <p:nvPr/>
          </p:nvGrpSpPr>
          <p:grpSpPr bwMode="auto">
            <a:xfrm>
              <a:off x="7701150" y="1854257"/>
              <a:ext cx="1371600" cy="1667147"/>
              <a:chOff x="381000" y="1980932"/>
              <a:chExt cx="1371600" cy="1667147"/>
            </a:xfrm>
          </p:grpSpPr>
          <p:sp>
            <p:nvSpPr>
              <p:cNvPr id="115" name="Rounded Rectangle 114">
                <a:extLst>
                  <a:ext uri="{FF2B5EF4-FFF2-40B4-BE49-F238E27FC236}">
                    <a16:creationId xmlns:a16="http://schemas.microsoft.com/office/drawing/2014/main" id="{BD6A151E-0A13-4FF1-B5AE-2B58EA579198}"/>
                  </a:ext>
                </a:extLst>
              </p:cNvPr>
              <p:cNvSpPr/>
              <p:nvPr/>
            </p:nvSpPr>
            <p:spPr>
              <a:xfrm>
                <a:off x="742853" y="1980932"/>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16" name="Rounded Rectangle 115">
                <a:extLst>
                  <a:ext uri="{FF2B5EF4-FFF2-40B4-BE49-F238E27FC236}">
                    <a16:creationId xmlns:a16="http://schemas.microsoft.com/office/drawing/2014/main" id="{C6506AD6-C4AA-45B7-8434-DC391FA786E9}"/>
                  </a:ext>
                </a:extLst>
              </p:cNvPr>
              <p:cNvSpPr/>
              <p:nvPr/>
            </p:nvSpPr>
            <p:spPr>
              <a:xfrm rot="5400000">
                <a:off x="468180" y="2281033"/>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17" name="Rounded Rectangle 116">
                <a:extLst>
                  <a:ext uri="{FF2B5EF4-FFF2-40B4-BE49-F238E27FC236}">
                    <a16:creationId xmlns:a16="http://schemas.microsoft.com/office/drawing/2014/main" id="{2A9C4ED0-5D8D-455C-9C14-D3D019BFE34E}"/>
                  </a:ext>
                </a:extLst>
              </p:cNvPr>
              <p:cNvSpPr/>
              <p:nvPr/>
            </p:nvSpPr>
            <p:spPr>
              <a:xfrm rot="5400000">
                <a:off x="1015822" y="2281033"/>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18" name="Rounded Rectangle 117">
                <a:extLst>
                  <a:ext uri="{FF2B5EF4-FFF2-40B4-BE49-F238E27FC236}">
                    <a16:creationId xmlns:a16="http://schemas.microsoft.com/office/drawing/2014/main" id="{9A3CEF78-FA5B-4B85-989E-1BE0F4804201}"/>
                  </a:ext>
                </a:extLst>
              </p:cNvPr>
              <p:cNvSpPr/>
              <p:nvPr/>
            </p:nvSpPr>
            <p:spPr>
              <a:xfrm>
                <a:off x="742853" y="2579523"/>
                <a:ext cx="457162" cy="9050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19" name="Rounded Rectangle 118">
                <a:extLst>
                  <a:ext uri="{FF2B5EF4-FFF2-40B4-BE49-F238E27FC236}">
                    <a16:creationId xmlns:a16="http://schemas.microsoft.com/office/drawing/2014/main" id="{33FA0CE9-F721-4C5A-B1DA-451ADF96605C}"/>
                  </a:ext>
                </a:extLst>
              </p:cNvPr>
              <p:cNvSpPr/>
              <p:nvPr/>
            </p:nvSpPr>
            <p:spPr>
              <a:xfrm rot="5400000">
                <a:off x="468180" y="2890738"/>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20" name="Rounded Rectangle 119">
                <a:extLst>
                  <a:ext uri="{FF2B5EF4-FFF2-40B4-BE49-F238E27FC236}">
                    <a16:creationId xmlns:a16="http://schemas.microsoft.com/office/drawing/2014/main" id="{0B1B7A73-0C9C-46DF-8881-45A009409FE8}"/>
                  </a:ext>
                </a:extLst>
              </p:cNvPr>
              <p:cNvSpPr/>
              <p:nvPr/>
            </p:nvSpPr>
            <p:spPr>
              <a:xfrm rot="5400000">
                <a:off x="1015822" y="2890738"/>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21" name="Rounded Rectangle 120">
                <a:extLst>
                  <a:ext uri="{FF2B5EF4-FFF2-40B4-BE49-F238E27FC236}">
                    <a16:creationId xmlns:a16="http://schemas.microsoft.com/office/drawing/2014/main" id="{B4766A6B-0EEB-43B3-B516-A84A24271947}"/>
                  </a:ext>
                </a:extLst>
              </p:cNvPr>
              <p:cNvSpPr/>
              <p:nvPr/>
            </p:nvSpPr>
            <p:spPr>
              <a:xfrm>
                <a:off x="742853" y="3200343"/>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563" name="TextBox 121">
                <a:extLst>
                  <a:ext uri="{FF2B5EF4-FFF2-40B4-BE49-F238E27FC236}">
                    <a16:creationId xmlns:a16="http://schemas.microsoft.com/office/drawing/2014/main" id="{5117B433-C424-F18F-D19B-DF01E529152E}"/>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564" name="TextBox 122">
                <a:extLst>
                  <a:ext uri="{FF2B5EF4-FFF2-40B4-BE49-F238E27FC236}">
                    <a16:creationId xmlns:a16="http://schemas.microsoft.com/office/drawing/2014/main" id="{7E496114-54F2-0CC9-C82F-D79C160676D8}"/>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565" name="TextBox 123">
                <a:extLst>
                  <a:ext uri="{FF2B5EF4-FFF2-40B4-BE49-F238E27FC236}">
                    <a16:creationId xmlns:a16="http://schemas.microsoft.com/office/drawing/2014/main" id="{344777CF-842E-5CF7-0BCE-41191AF6CF12}"/>
                  </a:ext>
                </a:extLst>
              </p:cNvPr>
              <p:cNvSpPr txBox="1">
                <a:spLocks noChangeArrowheads="1"/>
              </p:cNvSpPr>
              <p:nvPr/>
            </p:nvSpPr>
            <p:spPr bwMode="auto">
              <a:xfrm>
                <a:off x="785750" y="32479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566" name="TextBox 124">
                <a:extLst>
                  <a:ext uri="{FF2B5EF4-FFF2-40B4-BE49-F238E27FC236}">
                    <a16:creationId xmlns:a16="http://schemas.microsoft.com/office/drawing/2014/main" id="{1524AF4E-26FB-9DB6-8F30-B38D2DE82734}"/>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567" name="TextBox 125">
                <a:extLst>
                  <a:ext uri="{FF2B5EF4-FFF2-40B4-BE49-F238E27FC236}">
                    <a16:creationId xmlns:a16="http://schemas.microsoft.com/office/drawing/2014/main" id="{239DB03D-9AF6-4880-C5EC-75689402510F}"/>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568" name="TextBox 126">
                <a:extLst>
                  <a:ext uri="{FF2B5EF4-FFF2-40B4-BE49-F238E27FC236}">
                    <a16:creationId xmlns:a16="http://schemas.microsoft.com/office/drawing/2014/main" id="{64FC7813-FBFC-F497-8F2F-16A317F6FC3E}"/>
                  </a:ext>
                </a:extLst>
              </p:cNvPr>
              <p:cNvSpPr txBox="1">
                <a:spLocks noChangeArrowheads="1"/>
              </p:cNvSpPr>
              <p:nvPr/>
            </p:nvSpPr>
            <p:spPr bwMode="auto">
              <a:xfrm>
                <a:off x="416625" y="22028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sp>
          <p:nvSpPr>
            <p:cNvPr id="60429" name="TextBox 127">
              <a:extLst>
                <a:ext uri="{FF2B5EF4-FFF2-40B4-BE49-F238E27FC236}">
                  <a16:creationId xmlns:a16="http://schemas.microsoft.com/office/drawing/2014/main" id="{8A1151CD-7A5E-4627-9D50-C43DC968D64F}"/>
                </a:ext>
              </a:extLst>
            </p:cNvPr>
            <p:cNvSpPr txBox="1">
              <a:spLocks noChangeArrowheads="1"/>
            </p:cNvSpPr>
            <p:nvPr/>
          </p:nvSpPr>
          <p:spPr bwMode="auto">
            <a:xfrm>
              <a:off x="619500" y="36556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grpSp>
          <p:nvGrpSpPr>
            <p:cNvPr id="60430" name="Group 128">
              <a:extLst>
                <a:ext uri="{FF2B5EF4-FFF2-40B4-BE49-F238E27FC236}">
                  <a16:creationId xmlns:a16="http://schemas.microsoft.com/office/drawing/2014/main" id="{CCB8EE3B-7AD8-4FAB-9B33-E223D9F6BD37}"/>
                </a:ext>
              </a:extLst>
            </p:cNvPr>
            <p:cNvGrpSpPr>
              <a:grpSpLocks/>
            </p:cNvGrpSpPr>
            <p:nvPr/>
          </p:nvGrpSpPr>
          <p:grpSpPr bwMode="auto">
            <a:xfrm>
              <a:off x="167250" y="3977113"/>
              <a:ext cx="1371600" cy="1643266"/>
              <a:chOff x="381000" y="1981063"/>
              <a:chExt cx="1371600" cy="1643266"/>
            </a:xfrm>
          </p:grpSpPr>
          <p:sp>
            <p:nvSpPr>
              <p:cNvPr id="130" name="Rounded Rectangle 129">
                <a:extLst>
                  <a:ext uri="{FF2B5EF4-FFF2-40B4-BE49-F238E27FC236}">
                    <a16:creationId xmlns:a16="http://schemas.microsoft.com/office/drawing/2014/main" id="{5B88846D-74DA-4761-8780-12E6BDC654CC}"/>
                  </a:ext>
                </a:extLst>
              </p:cNvPr>
              <p:cNvSpPr/>
              <p:nvPr/>
            </p:nvSpPr>
            <p:spPr>
              <a:xfrm>
                <a:off x="743102" y="1981063"/>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1" name="Rounded Rectangle 130">
                <a:extLst>
                  <a:ext uri="{FF2B5EF4-FFF2-40B4-BE49-F238E27FC236}">
                    <a16:creationId xmlns:a16="http://schemas.microsoft.com/office/drawing/2014/main" id="{C1A37568-2A2C-4328-B9A8-398D5571278C}"/>
                  </a:ext>
                </a:extLst>
              </p:cNvPr>
              <p:cNvSpPr/>
              <p:nvPr/>
            </p:nvSpPr>
            <p:spPr>
              <a:xfrm rot="5400000">
                <a:off x="468429" y="2281164"/>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2" name="Rounded Rectangle 131">
                <a:extLst>
                  <a:ext uri="{FF2B5EF4-FFF2-40B4-BE49-F238E27FC236}">
                    <a16:creationId xmlns:a16="http://schemas.microsoft.com/office/drawing/2014/main" id="{E0F916C5-EF2B-42EC-8B38-56CBCA9D204F}"/>
                  </a:ext>
                </a:extLst>
              </p:cNvPr>
              <p:cNvSpPr/>
              <p:nvPr/>
            </p:nvSpPr>
            <p:spPr>
              <a:xfrm rot="5400000">
                <a:off x="1016071" y="2281164"/>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3" name="Rounded Rectangle 132">
                <a:extLst>
                  <a:ext uri="{FF2B5EF4-FFF2-40B4-BE49-F238E27FC236}">
                    <a16:creationId xmlns:a16="http://schemas.microsoft.com/office/drawing/2014/main" id="{41064566-AA1C-4A4F-9C21-FB330FF9F937}"/>
                  </a:ext>
                </a:extLst>
              </p:cNvPr>
              <p:cNvSpPr/>
              <p:nvPr/>
            </p:nvSpPr>
            <p:spPr>
              <a:xfrm>
                <a:off x="743102" y="2579654"/>
                <a:ext cx="457162" cy="90504"/>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4" name="Rounded Rectangle 133">
                <a:extLst>
                  <a:ext uri="{FF2B5EF4-FFF2-40B4-BE49-F238E27FC236}">
                    <a16:creationId xmlns:a16="http://schemas.microsoft.com/office/drawing/2014/main" id="{A676E4D2-D3FA-4B1D-81E9-EE905A2524DC}"/>
                  </a:ext>
                </a:extLst>
              </p:cNvPr>
              <p:cNvSpPr/>
              <p:nvPr/>
            </p:nvSpPr>
            <p:spPr>
              <a:xfrm rot="5400000">
                <a:off x="468429" y="2890869"/>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5" name="Rounded Rectangle 134">
                <a:extLst>
                  <a:ext uri="{FF2B5EF4-FFF2-40B4-BE49-F238E27FC236}">
                    <a16:creationId xmlns:a16="http://schemas.microsoft.com/office/drawing/2014/main" id="{EC640899-A3D9-4F8A-9EA1-1F6217EFAF6D}"/>
                  </a:ext>
                </a:extLst>
              </p:cNvPr>
              <p:cNvSpPr/>
              <p:nvPr/>
            </p:nvSpPr>
            <p:spPr>
              <a:xfrm rot="5400000">
                <a:off x="1016071" y="2890869"/>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36" name="Rounded Rectangle 135">
                <a:extLst>
                  <a:ext uri="{FF2B5EF4-FFF2-40B4-BE49-F238E27FC236}">
                    <a16:creationId xmlns:a16="http://schemas.microsoft.com/office/drawing/2014/main" id="{529A798A-EF51-4F74-9040-EB5E7E9C8AE5}"/>
                  </a:ext>
                </a:extLst>
              </p:cNvPr>
              <p:cNvSpPr/>
              <p:nvPr/>
            </p:nvSpPr>
            <p:spPr>
              <a:xfrm>
                <a:off x="743102" y="3200474"/>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550" name="TextBox 136">
                <a:extLst>
                  <a:ext uri="{FF2B5EF4-FFF2-40B4-BE49-F238E27FC236}">
                    <a16:creationId xmlns:a16="http://schemas.microsoft.com/office/drawing/2014/main" id="{EC6BDADC-2CDF-9E27-F5E8-8643590C9F42}"/>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551" name="TextBox 137">
                <a:extLst>
                  <a:ext uri="{FF2B5EF4-FFF2-40B4-BE49-F238E27FC236}">
                    <a16:creationId xmlns:a16="http://schemas.microsoft.com/office/drawing/2014/main" id="{5B4757F4-B4B5-36F7-4F09-FB4794D233CB}"/>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552" name="TextBox 138">
                <a:extLst>
                  <a:ext uri="{FF2B5EF4-FFF2-40B4-BE49-F238E27FC236}">
                    <a16:creationId xmlns:a16="http://schemas.microsoft.com/office/drawing/2014/main" id="{DFE70967-5747-2F1B-4721-D4362E228150}"/>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553" name="TextBox 139">
                <a:extLst>
                  <a:ext uri="{FF2B5EF4-FFF2-40B4-BE49-F238E27FC236}">
                    <a16:creationId xmlns:a16="http://schemas.microsoft.com/office/drawing/2014/main" id="{98F933C1-D02C-677B-8C6F-DDD6175EB370}"/>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554" name="TextBox 140">
                <a:extLst>
                  <a:ext uri="{FF2B5EF4-FFF2-40B4-BE49-F238E27FC236}">
                    <a16:creationId xmlns:a16="http://schemas.microsoft.com/office/drawing/2014/main" id="{0CF36E84-F6CD-792F-2147-170EFFDB2369}"/>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555" name="TextBox 141">
                <a:extLst>
                  <a:ext uri="{FF2B5EF4-FFF2-40B4-BE49-F238E27FC236}">
                    <a16:creationId xmlns:a16="http://schemas.microsoft.com/office/drawing/2014/main" id="{E0889AD7-119D-5B50-C604-C4AAA100BAD9}"/>
                  </a:ext>
                </a:extLst>
              </p:cNvPr>
              <p:cNvSpPr txBox="1">
                <a:spLocks noChangeArrowheads="1"/>
              </p:cNvSpPr>
              <p:nvPr/>
            </p:nvSpPr>
            <p:spPr bwMode="auto">
              <a:xfrm>
                <a:off x="416625" y="21454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31" name="Group 142">
              <a:extLst>
                <a:ext uri="{FF2B5EF4-FFF2-40B4-BE49-F238E27FC236}">
                  <a16:creationId xmlns:a16="http://schemas.microsoft.com/office/drawing/2014/main" id="{F431678A-EB8D-9724-19A7-72D042F7850F}"/>
                </a:ext>
              </a:extLst>
            </p:cNvPr>
            <p:cNvGrpSpPr>
              <a:grpSpLocks/>
            </p:cNvGrpSpPr>
            <p:nvPr/>
          </p:nvGrpSpPr>
          <p:grpSpPr bwMode="auto">
            <a:xfrm>
              <a:off x="1265725" y="3959647"/>
              <a:ext cx="1371600" cy="1667657"/>
              <a:chOff x="381000" y="1980422"/>
              <a:chExt cx="1371600" cy="1667657"/>
            </a:xfrm>
          </p:grpSpPr>
          <p:sp>
            <p:nvSpPr>
              <p:cNvPr id="144" name="Rounded Rectangle 143">
                <a:extLst>
                  <a:ext uri="{FF2B5EF4-FFF2-40B4-BE49-F238E27FC236}">
                    <a16:creationId xmlns:a16="http://schemas.microsoft.com/office/drawing/2014/main" id="{61828B65-C740-4471-88F8-F8F39FF8EA32}"/>
                  </a:ext>
                </a:extLst>
              </p:cNvPr>
              <p:cNvSpPr/>
              <p:nvPr/>
            </p:nvSpPr>
            <p:spPr>
              <a:xfrm>
                <a:off x="743086" y="1980422"/>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45" name="Rounded Rectangle 144">
                <a:extLst>
                  <a:ext uri="{FF2B5EF4-FFF2-40B4-BE49-F238E27FC236}">
                    <a16:creationId xmlns:a16="http://schemas.microsoft.com/office/drawing/2014/main" id="{316105DA-C079-4912-BC04-9F33FEF4D02B}"/>
                  </a:ext>
                </a:extLst>
              </p:cNvPr>
              <p:cNvSpPr/>
              <p:nvPr/>
            </p:nvSpPr>
            <p:spPr>
              <a:xfrm rot="5400000">
                <a:off x="468413" y="2280523"/>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46" name="Rounded Rectangle 145">
                <a:extLst>
                  <a:ext uri="{FF2B5EF4-FFF2-40B4-BE49-F238E27FC236}">
                    <a16:creationId xmlns:a16="http://schemas.microsoft.com/office/drawing/2014/main" id="{79E2F2F7-993E-4AAF-9758-A198816B9196}"/>
                  </a:ext>
                </a:extLst>
              </p:cNvPr>
              <p:cNvSpPr/>
              <p:nvPr/>
            </p:nvSpPr>
            <p:spPr>
              <a:xfrm rot="5400000">
                <a:off x="1016055" y="2280523"/>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47" name="Rounded Rectangle 146">
                <a:extLst>
                  <a:ext uri="{FF2B5EF4-FFF2-40B4-BE49-F238E27FC236}">
                    <a16:creationId xmlns:a16="http://schemas.microsoft.com/office/drawing/2014/main" id="{BFE631CF-DA27-4FB9-B786-9A7789790830}"/>
                  </a:ext>
                </a:extLst>
              </p:cNvPr>
              <p:cNvSpPr/>
              <p:nvPr/>
            </p:nvSpPr>
            <p:spPr>
              <a:xfrm>
                <a:off x="743086" y="2579013"/>
                <a:ext cx="457162" cy="90503"/>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48" name="Rounded Rectangle 147">
                <a:extLst>
                  <a:ext uri="{FF2B5EF4-FFF2-40B4-BE49-F238E27FC236}">
                    <a16:creationId xmlns:a16="http://schemas.microsoft.com/office/drawing/2014/main" id="{714AEA94-513A-4A03-B823-C3BF1674BB32}"/>
                  </a:ext>
                </a:extLst>
              </p:cNvPr>
              <p:cNvSpPr/>
              <p:nvPr/>
            </p:nvSpPr>
            <p:spPr>
              <a:xfrm rot="5400000">
                <a:off x="468413" y="2890228"/>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49" name="Rounded Rectangle 148">
                <a:extLst>
                  <a:ext uri="{FF2B5EF4-FFF2-40B4-BE49-F238E27FC236}">
                    <a16:creationId xmlns:a16="http://schemas.microsoft.com/office/drawing/2014/main" id="{E3F9C4D9-4185-424B-9404-5584406F52DF}"/>
                  </a:ext>
                </a:extLst>
              </p:cNvPr>
              <p:cNvSpPr/>
              <p:nvPr/>
            </p:nvSpPr>
            <p:spPr>
              <a:xfrm rot="5400000">
                <a:off x="1016055" y="2890228"/>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50" name="Rounded Rectangle 149">
                <a:extLst>
                  <a:ext uri="{FF2B5EF4-FFF2-40B4-BE49-F238E27FC236}">
                    <a16:creationId xmlns:a16="http://schemas.microsoft.com/office/drawing/2014/main" id="{ABEFC881-A9F7-474D-832D-AA67202C5313}"/>
                  </a:ext>
                </a:extLst>
              </p:cNvPr>
              <p:cNvSpPr/>
              <p:nvPr/>
            </p:nvSpPr>
            <p:spPr>
              <a:xfrm>
                <a:off x="743086" y="3199833"/>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537" name="TextBox 150">
                <a:extLst>
                  <a:ext uri="{FF2B5EF4-FFF2-40B4-BE49-F238E27FC236}">
                    <a16:creationId xmlns:a16="http://schemas.microsoft.com/office/drawing/2014/main" id="{345EBDB1-B039-4C42-20BD-FF7DB0C7140E}"/>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538" name="TextBox 151">
                <a:extLst>
                  <a:ext uri="{FF2B5EF4-FFF2-40B4-BE49-F238E27FC236}">
                    <a16:creationId xmlns:a16="http://schemas.microsoft.com/office/drawing/2014/main" id="{22B04660-1F51-D61A-64A6-883F360CC422}"/>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539" name="TextBox 152">
                <a:extLst>
                  <a:ext uri="{FF2B5EF4-FFF2-40B4-BE49-F238E27FC236}">
                    <a16:creationId xmlns:a16="http://schemas.microsoft.com/office/drawing/2014/main" id="{0923E7CD-EFBF-4196-CA27-4B8779F85807}"/>
                  </a:ext>
                </a:extLst>
              </p:cNvPr>
              <p:cNvSpPr txBox="1">
                <a:spLocks noChangeArrowheads="1"/>
              </p:cNvSpPr>
              <p:nvPr/>
            </p:nvSpPr>
            <p:spPr bwMode="auto">
              <a:xfrm>
                <a:off x="785750" y="32479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540" name="TextBox 153">
                <a:extLst>
                  <a:ext uri="{FF2B5EF4-FFF2-40B4-BE49-F238E27FC236}">
                    <a16:creationId xmlns:a16="http://schemas.microsoft.com/office/drawing/2014/main" id="{4C71AC7E-A879-5818-E0DD-7CEB4845F4A0}"/>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541" name="TextBox 154">
                <a:extLst>
                  <a:ext uri="{FF2B5EF4-FFF2-40B4-BE49-F238E27FC236}">
                    <a16:creationId xmlns:a16="http://schemas.microsoft.com/office/drawing/2014/main" id="{6536B5A8-2D9D-B2C1-1FFB-97548F636897}"/>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542" name="TextBox 155">
                <a:extLst>
                  <a:ext uri="{FF2B5EF4-FFF2-40B4-BE49-F238E27FC236}">
                    <a16:creationId xmlns:a16="http://schemas.microsoft.com/office/drawing/2014/main" id="{286B9381-AD97-7974-B44F-F518F779EC7F}"/>
                  </a:ext>
                </a:extLst>
              </p:cNvPr>
              <p:cNvSpPr txBox="1">
                <a:spLocks noChangeArrowheads="1"/>
              </p:cNvSpPr>
              <p:nvPr/>
            </p:nvSpPr>
            <p:spPr bwMode="auto">
              <a:xfrm>
                <a:off x="416625" y="22028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32" name="Group 156">
              <a:extLst>
                <a:ext uri="{FF2B5EF4-FFF2-40B4-BE49-F238E27FC236}">
                  <a16:creationId xmlns:a16="http://schemas.microsoft.com/office/drawing/2014/main" id="{EFB1E2F4-1589-FE7B-2F28-1407667386B1}"/>
                </a:ext>
              </a:extLst>
            </p:cNvPr>
            <p:cNvGrpSpPr>
              <a:grpSpLocks/>
            </p:cNvGrpSpPr>
            <p:nvPr/>
          </p:nvGrpSpPr>
          <p:grpSpPr bwMode="auto">
            <a:xfrm>
              <a:off x="2370125" y="3948533"/>
              <a:ext cx="1371600" cy="1643146"/>
              <a:chOff x="381000" y="1981183"/>
              <a:chExt cx="1371600" cy="1643146"/>
            </a:xfrm>
          </p:grpSpPr>
          <p:sp>
            <p:nvSpPr>
              <p:cNvPr id="158" name="Rounded Rectangle 157">
                <a:extLst>
                  <a:ext uri="{FF2B5EF4-FFF2-40B4-BE49-F238E27FC236}">
                    <a16:creationId xmlns:a16="http://schemas.microsoft.com/office/drawing/2014/main" id="{3C6A14DF-9C96-4E81-BFE6-13410C729698}"/>
                  </a:ext>
                </a:extLst>
              </p:cNvPr>
              <p:cNvSpPr/>
              <p:nvPr/>
            </p:nvSpPr>
            <p:spPr>
              <a:xfrm>
                <a:off x="743494" y="1981183"/>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59" name="Rounded Rectangle 158">
                <a:extLst>
                  <a:ext uri="{FF2B5EF4-FFF2-40B4-BE49-F238E27FC236}">
                    <a16:creationId xmlns:a16="http://schemas.microsoft.com/office/drawing/2014/main" id="{9064CE45-294A-45BE-9E83-253CCDF8D6F2}"/>
                  </a:ext>
                </a:extLst>
              </p:cNvPr>
              <p:cNvSpPr/>
              <p:nvPr/>
            </p:nvSpPr>
            <p:spPr>
              <a:xfrm rot="5400000">
                <a:off x="469615" y="2280490"/>
                <a:ext cx="455691"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60" name="Rounded Rectangle 159">
                <a:extLst>
                  <a:ext uri="{FF2B5EF4-FFF2-40B4-BE49-F238E27FC236}">
                    <a16:creationId xmlns:a16="http://schemas.microsoft.com/office/drawing/2014/main" id="{1782AEC1-4D32-49C6-B60C-D8A9C568D64D}"/>
                  </a:ext>
                </a:extLst>
              </p:cNvPr>
              <p:cNvSpPr/>
              <p:nvPr/>
            </p:nvSpPr>
            <p:spPr>
              <a:xfrm rot="5400000">
                <a:off x="1017257" y="2280490"/>
                <a:ext cx="455691"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61" name="Rounded Rectangle 160">
                <a:extLst>
                  <a:ext uri="{FF2B5EF4-FFF2-40B4-BE49-F238E27FC236}">
                    <a16:creationId xmlns:a16="http://schemas.microsoft.com/office/drawing/2014/main" id="{2EB8D376-D0EF-4C81-A746-3BC04F369E97}"/>
                  </a:ext>
                </a:extLst>
              </p:cNvPr>
              <p:cNvSpPr/>
              <p:nvPr/>
            </p:nvSpPr>
            <p:spPr>
              <a:xfrm>
                <a:off x="743494" y="2578186"/>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62" name="Rounded Rectangle 161">
                <a:extLst>
                  <a:ext uri="{FF2B5EF4-FFF2-40B4-BE49-F238E27FC236}">
                    <a16:creationId xmlns:a16="http://schemas.microsoft.com/office/drawing/2014/main" id="{042F3BD6-C54B-4B4A-B49D-A8DC74A50D43}"/>
                  </a:ext>
                </a:extLst>
              </p:cNvPr>
              <p:cNvSpPr/>
              <p:nvPr/>
            </p:nvSpPr>
            <p:spPr>
              <a:xfrm rot="5400000">
                <a:off x="468821" y="2889401"/>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63" name="Rounded Rectangle 162">
                <a:extLst>
                  <a:ext uri="{FF2B5EF4-FFF2-40B4-BE49-F238E27FC236}">
                    <a16:creationId xmlns:a16="http://schemas.microsoft.com/office/drawing/2014/main" id="{AE20A292-C64D-4FE6-A292-1DED85AF689D}"/>
                  </a:ext>
                </a:extLst>
              </p:cNvPr>
              <p:cNvSpPr/>
              <p:nvPr/>
            </p:nvSpPr>
            <p:spPr>
              <a:xfrm rot="5400000">
                <a:off x="1016463" y="2889401"/>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64" name="Rounded Rectangle 163">
                <a:extLst>
                  <a:ext uri="{FF2B5EF4-FFF2-40B4-BE49-F238E27FC236}">
                    <a16:creationId xmlns:a16="http://schemas.microsoft.com/office/drawing/2014/main" id="{A64318AF-6C95-4BFA-969C-944A9BBE3640}"/>
                  </a:ext>
                </a:extLst>
              </p:cNvPr>
              <p:cNvSpPr/>
              <p:nvPr/>
            </p:nvSpPr>
            <p:spPr>
              <a:xfrm>
                <a:off x="743494" y="3200594"/>
                <a:ext cx="457162" cy="90503"/>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524" name="TextBox 164">
                <a:extLst>
                  <a:ext uri="{FF2B5EF4-FFF2-40B4-BE49-F238E27FC236}">
                    <a16:creationId xmlns:a16="http://schemas.microsoft.com/office/drawing/2014/main" id="{10D76B64-AC01-419D-CF00-1BFCBD648FB9}"/>
                  </a:ext>
                </a:extLst>
              </p:cNvPr>
              <p:cNvSpPr txBox="1">
                <a:spLocks noChangeArrowheads="1"/>
              </p:cNvSpPr>
              <p:nvPr/>
            </p:nvSpPr>
            <p:spPr bwMode="auto">
              <a:xfrm>
                <a:off x="1295400" y="2133600"/>
                <a:ext cx="373075"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525" name="TextBox 165">
                <a:extLst>
                  <a:ext uri="{FF2B5EF4-FFF2-40B4-BE49-F238E27FC236}">
                    <a16:creationId xmlns:a16="http://schemas.microsoft.com/office/drawing/2014/main" id="{8EDF555B-C1F7-9F24-98DC-86964DF72BB0}"/>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526" name="TextBox 166">
                <a:extLst>
                  <a:ext uri="{FF2B5EF4-FFF2-40B4-BE49-F238E27FC236}">
                    <a16:creationId xmlns:a16="http://schemas.microsoft.com/office/drawing/2014/main" id="{D71A7DEA-6023-EE4C-766C-EEDFD661C486}"/>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527" name="TextBox 167">
                <a:extLst>
                  <a:ext uri="{FF2B5EF4-FFF2-40B4-BE49-F238E27FC236}">
                    <a16:creationId xmlns:a16="http://schemas.microsoft.com/office/drawing/2014/main" id="{BE4CA3A1-F29B-EA59-0A87-3196CE02DE13}"/>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528" name="TextBox 168">
                <a:extLst>
                  <a:ext uri="{FF2B5EF4-FFF2-40B4-BE49-F238E27FC236}">
                    <a16:creationId xmlns:a16="http://schemas.microsoft.com/office/drawing/2014/main" id="{E69D0F24-6186-F892-CEA6-DA6B364DDE75}"/>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529" name="TextBox 169">
                <a:extLst>
                  <a:ext uri="{FF2B5EF4-FFF2-40B4-BE49-F238E27FC236}">
                    <a16:creationId xmlns:a16="http://schemas.microsoft.com/office/drawing/2014/main" id="{D931DF0B-2B64-D581-29CB-93FD8D4F5099}"/>
                  </a:ext>
                </a:extLst>
              </p:cNvPr>
              <p:cNvSpPr txBox="1">
                <a:spLocks noChangeArrowheads="1"/>
              </p:cNvSpPr>
              <p:nvPr/>
            </p:nvSpPr>
            <p:spPr bwMode="auto">
              <a:xfrm>
                <a:off x="416625" y="2162299"/>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33" name="Group 170">
              <a:extLst>
                <a:ext uri="{FF2B5EF4-FFF2-40B4-BE49-F238E27FC236}">
                  <a16:creationId xmlns:a16="http://schemas.microsoft.com/office/drawing/2014/main" id="{AF2CD8C7-BB7F-5A46-1ACC-67B704A14796}"/>
                </a:ext>
              </a:extLst>
            </p:cNvPr>
            <p:cNvGrpSpPr>
              <a:grpSpLocks/>
            </p:cNvGrpSpPr>
            <p:nvPr/>
          </p:nvGrpSpPr>
          <p:grpSpPr bwMode="auto">
            <a:xfrm>
              <a:off x="3446825" y="3931067"/>
              <a:ext cx="1371600" cy="1643787"/>
              <a:chOff x="381000" y="1980542"/>
              <a:chExt cx="1371600" cy="1643787"/>
            </a:xfrm>
          </p:grpSpPr>
          <p:sp>
            <p:nvSpPr>
              <p:cNvPr id="172" name="Rounded Rectangle 171">
                <a:extLst>
                  <a:ext uri="{FF2B5EF4-FFF2-40B4-BE49-F238E27FC236}">
                    <a16:creationId xmlns:a16="http://schemas.microsoft.com/office/drawing/2014/main" id="{1ABE024F-1371-4BC1-AC63-549E8F741DD7}"/>
                  </a:ext>
                </a:extLst>
              </p:cNvPr>
              <p:cNvSpPr/>
              <p:nvPr/>
            </p:nvSpPr>
            <p:spPr>
              <a:xfrm>
                <a:off x="743030" y="1980542"/>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73" name="Rounded Rectangle 172">
                <a:extLst>
                  <a:ext uri="{FF2B5EF4-FFF2-40B4-BE49-F238E27FC236}">
                    <a16:creationId xmlns:a16="http://schemas.microsoft.com/office/drawing/2014/main" id="{DB1C015F-713E-43E6-B82B-0542F945A490}"/>
                  </a:ext>
                </a:extLst>
              </p:cNvPr>
              <p:cNvSpPr/>
              <p:nvPr/>
            </p:nvSpPr>
            <p:spPr>
              <a:xfrm rot="5400000">
                <a:off x="468357" y="2280643"/>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74" name="Rounded Rectangle 173">
                <a:extLst>
                  <a:ext uri="{FF2B5EF4-FFF2-40B4-BE49-F238E27FC236}">
                    <a16:creationId xmlns:a16="http://schemas.microsoft.com/office/drawing/2014/main" id="{91626169-FAD2-4AA9-BB1A-E12F0E88F789}"/>
                  </a:ext>
                </a:extLst>
              </p:cNvPr>
              <p:cNvSpPr/>
              <p:nvPr/>
            </p:nvSpPr>
            <p:spPr>
              <a:xfrm rot="5400000">
                <a:off x="1015999" y="2280643"/>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75" name="Rounded Rectangle 174">
                <a:extLst>
                  <a:ext uri="{FF2B5EF4-FFF2-40B4-BE49-F238E27FC236}">
                    <a16:creationId xmlns:a16="http://schemas.microsoft.com/office/drawing/2014/main" id="{87284844-F9AD-4EC8-9409-116691A057C0}"/>
                  </a:ext>
                </a:extLst>
              </p:cNvPr>
              <p:cNvSpPr/>
              <p:nvPr/>
            </p:nvSpPr>
            <p:spPr>
              <a:xfrm>
                <a:off x="743030" y="2579133"/>
                <a:ext cx="457162" cy="90503"/>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76" name="Rounded Rectangle 175">
                <a:extLst>
                  <a:ext uri="{FF2B5EF4-FFF2-40B4-BE49-F238E27FC236}">
                    <a16:creationId xmlns:a16="http://schemas.microsoft.com/office/drawing/2014/main" id="{60B62261-0EDB-4F63-B8FC-FB1734F5515F}"/>
                  </a:ext>
                </a:extLst>
              </p:cNvPr>
              <p:cNvSpPr/>
              <p:nvPr/>
            </p:nvSpPr>
            <p:spPr>
              <a:xfrm rot="5400000">
                <a:off x="468357" y="2890348"/>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77" name="Rounded Rectangle 176">
                <a:extLst>
                  <a:ext uri="{FF2B5EF4-FFF2-40B4-BE49-F238E27FC236}">
                    <a16:creationId xmlns:a16="http://schemas.microsoft.com/office/drawing/2014/main" id="{87CCE294-9F23-46DA-992A-AF111499DFA8}"/>
                  </a:ext>
                </a:extLst>
              </p:cNvPr>
              <p:cNvSpPr/>
              <p:nvPr/>
            </p:nvSpPr>
            <p:spPr>
              <a:xfrm rot="5400000">
                <a:off x="1015999" y="2890348"/>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78" name="Rounded Rectangle 177">
                <a:extLst>
                  <a:ext uri="{FF2B5EF4-FFF2-40B4-BE49-F238E27FC236}">
                    <a16:creationId xmlns:a16="http://schemas.microsoft.com/office/drawing/2014/main" id="{AE2BA131-3881-4AA8-918D-08BB164684F0}"/>
                  </a:ext>
                </a:extLst>
              </p:cNvPr>
              <p:cNvSpPr/>
              <p:nvPr/>
            </p:nvSpPr>
            <p:spPr>
              <a:xfrm>
                <a:off x="743030" y="3199953"/>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511" name="TextBox 178">
                <a:extLst>
                  <a:ext uri="{FF2B5EF4-FFF2-40B4-BE49-F238E27FC236}">
                    <a16:creationId xmlns:a16="http://schemas.microsoft.com/office/drawing/2014/main" id="{E00D9E38-38F1-42DD-546F-1964EDECC79B}"/>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512" name="TextBox 179">
                <a:extLst>
                  <a:ext uri="{FF2B5EF4-FFF2-40B4-BE49-F238E27FC236}">
                    <a16:creationId xmlns:a16="http://schemas.microsoft.com/office/drawing/2014/main" id="{FBAE73E5-C19E-3C58-7CA8-A2F3FDD72DC4}"/>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513" name="TextBox 180">
                <a:extLst>
                  <a:ext uri="{FF2B5EF4-FFF2-40B4-BE49-F238E27FC236}">
                    <a16:creationId xmlns:a16="http://schemas.microsoft.com/office/drawing/2014/main" id="{72432722-E9EE-4CD6-D061-8D1B1133E2E6}"/>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514" name="TextBox 181">
                <a:extLst>
                  <a:ext uri="{FF2B5EF4-FFF2-40B4-BE49-F238E27FC236}">
                    <a16:creationId xmlns:a16="http://schemas.microsoft.com/office/drawing/2014/main" id="{BBC64727-B490-4B0F-34CA-DEC95BBD7862}"/>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515" name="TextBox 182">
                <a:extLst>
                  <a:ext uri="{FF2B5EF4-FFF2-40B4-BE49-F238E27FC236}">
                    <a16:creationId xmlns:a16="http://schemas.microsoft.com/office/drawing/2014/main" id="{D798E3B6-E0DF-0256-444D-1D4E5D973C16}"/>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516" name="TextBox 183">
                <a:extLst>
                  <a:ext uri="{FF2B5EF4-FFF2-40B4-BE49-F238E27FC236}">
                    <a16:creationId xmlns:a16="http://schemas.microsoft.com/office/drawing/2014/main" id="{028AF6D8-0E4C-F05A-4F8F-FAF4240B19D8}"/>
                  </a:ext>
                </a:extLst>
              </p:cNvPr>
              <p:cNvSpPr txBox="1">
                <a:spLocks noChangeArrowheads="1"/>
              </p:cNvSpPr>
              <p:nvPr/>
            </p:nvSpPr>
            <p:spPr bwMode="auto">
              <a:xfrm>
                <a:off x="416625" y="22404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34" name="Group 184">
              <a:extLst>
                <a:ext uri="{FF2B5EF4-FFF2-40B4-BE49-F238E27FC236}">
                  <a16:creationId xmlns:a16="http://schemas.microsoft.com/office/drawing/2014/main" id="{DC45AA2E-EC27-C0F9-F74F-634DB28F2027}"/>
                </a:ext>
              </a:extLst>
            </p:cNvPr>
            <p:cNvGrpSpPr>
              <a:grpSpLocks/>
            </p:cNvGrpSpPr>
            <p:nvPr/>
          </p:nvGrpSpPr>
          <p:grpSpPr bwMode="auto">
            <a:xfrm>
              <a:off x="4494825" y="3943769"/>
              <a:ext cx="1371600" cy="1688484"/>
              <a:chOff x="381000" y="1981369"/>
              <a:chExt cx="1371600" cy="1688484"/>
            </a:xfrm>
          </p:grpSpPr>
          <p:sp>
            <p:nvSpPr>
              <p:cNvPr id="186" name="Rounded Rectangle 185">
                <a:extLst>
                  <a:ext uri="{FF2B5EF4-FFF2-40B4-BE49-F238E27FC236}">
                    <a16:creationId xmlns:a16="http://schemas.microsoft.com/office/drawing/2014/main" id="{D03A2CF9-51BA-4945-B41B-AFDDFDEE7DCD}"/>
                  </a:ext>
                </a:extLst>
              </p:cNvPr>
              <p:cNvSpPr/>
              <p:nvPr/>
            </p:nvSpPr>
            <p:spPr>
              <a:xfrm>
                <a:off x="742693" y="1981369"/>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87" name="Rounded Rectangle 186">
                <a:extLst>
                  <a:ext uri="{FF2B5EF4-FFF2-40B4-BE49-F238E27FC236}">
                    <a16:creationId xmlns:a16="http://schemas.microsoft.com/office/drawing/2014/main" id="{0775563E-C4BF-4431-B93E-77CB7EC14DC7}"/>
                  </a:ext>
                </a:extLst>
              </p:cNvPr>
              <p:cNvSpPr/>
              <p:nvPr/>
            </p:nvSpPr>
            <p:spPr>
              <a:xfrm rot="5400000">
                <a:off x="468813" y="2280677"/>
                <a:ext cx="455692"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88" name="Rounded Rectangle 187">
                <a:extLst>
                  <a:ext uri="{FF2B5EF4-FFF2-40B4-BE49-F238E27FC236}">
                    <a16:creationId xmlns:a16="http://schemas.microsoft.com/office/drawing/2014/main" id="{9F1658F2-AB65-426B-A019-2A3915048DE8}"/>
                  </a:ext>
                </a:extLst>
              </p:cNvPr>
              <p:cNvSpPr/>
              <p:nvPr/>
            </p:nvSpPr>
            <p:spPr>
              <a:xfrm rot="5400000">
                <a:off x="1016455" y="2280677"/>
                <a:ext cx="455692"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89" name="Rounded Rectangle 188">
                <a:extLst>
                  <a:ext uri="{FF2B5EF4-FFF2-40B4-BE49-F238E27FC236}">
                    <a16:creationId xmlns:a16="http://schemas.microsoft.com/office/drawing/2014/main" id="{4F68B47C-8CFA-41DB-9E44-D66477613601}"/>
                  </a:ext>
                </a:extLst>
              </p:cNvPr>
              <p:cNvSpPr/>
              <p:nvPr/>
            </p:nvSpPr>
            <p:spPr>
              <a:xfrm>
                <a:off x="742693" y="2578372"/>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90" name="Rounded Rectangle 189">
                <a:extLst>
                  <a:ext uri="{FF2B5EF4-FFF2-40B4-BE49-F238E27FC236}">
                    <a16:creationId xmlns:a16="http://schemas.microsoft.com/office/drawing/2014/main" id="{9C0D3F50-4466-418B-B193-17095047E69E}"/>
                  </a:ext>
                </a:extLst>
              </p:cNvPr>
              <p:cNvSpPr/>
              <p:nvPr/>
            </p:nvSpPr>
            <p:spPr>
              <a:xfrm rot="5400000">
                <a:off x="468020" y="2889588"/>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91" name="Rounded Rectangle 190">
                <a:extLst>
                  <a:ext uri="{FF2B5EF4-FFF2-40B4-BE49-F238E27FC236}">
                    <a16:creationId xmlns:a16="http://schemas.microsoft.com/office/drawing/2014/main" id="{9790B206-FF52-4979-8414-C964C299100F}"/>
                  </a:ext>
                </a:extLst>
              </p:cNvPr>
              <p:cNvSpPr/>
              <p:nvPr/>
            </p:nvSpPr>
            <p:spPr>
              <a:xfrm rot="5400000">
                <a:off x="1015662" y="2889588"/>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192" name="Rounded Rectangle 191">
                <a:extLst>
                  <a:ext uri="{FF2B5EF4-FFF2-40B4-BE49-F238E27FC236}">
                    <a16:creationId xmlns:a16="http://schemas.microsoft.com/office/drawing/2014/main" id="{7893C7EF-2255-47A6-BC85-76C791F945FE}"/>
                  </a:ext>
                </a:extLst>
              </p:cNvPr>
              <p:cNvSpPr/>
              <p:nvPr/>
            </p:nvSpPr>
            <p:spPr>
              <a:xfrm>
                <a:off x="742693" y="3200780"/>
                <a:ext cx="457162" cy="90504"/>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498" name="TextBox 192">
                <a:extLst>
                  <a:ext uri="{FF2B5EF4-FFF2-40B4-BE49-F238E27FC236}">
                    <a16:creationId xmlns:a16="http://schemas.microsoft.com/office/drawing/2014/main" id="{209B85C8-ABC6-9D28-C243-6268A698C3FD}"/>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499" name="TextBox 193">
                <a:extLst>
                  <a:ext uri="{FF2B5EF4-FFF2-40B4-BE49-F238E27FC236}">
                    <a16:creationId xmlns:a16="http://schemas.microsoft.com/office/drawing/2014/main" id="{951D444E-E6E9-9B66-F9B4-1A673A914CAA}"/>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500" name="TextBox 194">
                <a:extLst>
                  <a:ext uri="{FF2B5EF4-FFF2-40B4-BE49-F238E27FC236}">
                    <a16:creationId xmlns:a16="http://schemas.microsoft.com/office/drawing/2014/main" id="{478C6666-A5D8-3A90-A9D1-5A03963B85E3}"/>
                  </a:ext>
                </a:extLst>
              </p:cNvPr>
              <p:cNvSpPr txBox="1">
                <a:spLocks noChangeArrowheads="1"/>
              </p:cNvSpPr>
              <p:nvPr/>
            </p:nvSpPr>
            <p:spPr bwMode="auto">
              <a:xfrm>
                <a:off x="785750" y="3269674"/>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501" name="TextBox 195">
                <a:extLst>
                  <a:ext uri="{FF2B5EF4-FFF2-40B4-BE49-F238E27FC236}">
                    <a16:creationId xmlns:a16="http://schemas.microsoft.com/office/drawing/2014/main" id="{5525A332-FB6E-908F-383E-38378E18A4CA}"/>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502" name="TextBox 196">
                <a:extLst>
                  <a:ext uri="{FF2B5EF4-FFF2-40B4-BE49-F238E27FC236}">
                    <a16:creationId xmlns:a16="http://schemas.microsoft.com/office/drawing/2014/main" id="{D4A89267-5269-FB87-C68C-C1B945675E80}"/>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503" name="TextBox 197">
                <a:extLst>
                  <a:ext uri="{FF2B5EF4-FFF2-40B4-BE49-F238E27FC236}">
                    <a16:creationId xmlns:a16="http://schemas.microsoft.com/office/drawing/2014/main" id="{46A69A88-EE1F-34E1-D243-327170D16521}"/>
                  </a:ext>
                </a:extLst>
              </p:cNvPr>
              <p:cNvSpPr txBox="1">
                <a:spLocks noChangeArrowheads="1"/>
              </p:cNvSpPr>
              <p:nvPr/>
            </p:nvSpPr>
            <p:spPr bwMode="auto">
              <a:xfrm>
                <a:off x="416625" y="2162299"/>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35" name="Group 198">
              <a:extLst>
                <a:ext uri="{FF2B5EF4-FFF2-40B4-BE49-F238E27FC236}">
                  <a16:creationId xmlns:a16="http://schemas.microsoft.com/office/drawing/2014/main" id="{9FA804AE-B8DE-1A59-6157-46D12A08015A}"/>
                </a:ext>
              </a:extLst>
            </p:cNvPr>
            <p:cNvGrpSpPr>
              <a:grpSpLocks/>
            </p:cNvGrpSpPr>
            <p:nvPr/>
          </p:nvGrpSpPr>
          <p:grpSpPr bwMode="auto">
            <a:xfrm>
              <a:off x="5638800" y="3943769"/>
              <a:ext cx="1371600" cy="1642960"/>
              <a:chOff x="381000" y="1981369"/>
              <a:chExt cx="1371600" cy="1642960"/>
            </a:xfrm>
          </p:grpSpPr>
          <p:sp>
            <p:nvSpPr>
              <p:cNvPr id="200" name="Rounded Rectangle 199">
                <a:extLst>
                  <a:ext uri="{FF2B5EF4-FFF2-40B4-BE49-F238E27FC236}">
                    <a16:creationId xmlns:a16="http://schemas.microsoft.com/office/drawing/2014/main" id="{8D26075F-7527-471D-8CA5-FF952C84710B}"/>
                  </a:ext>
                </a:extLst>
              </p:cNvPr>
              <p:cNvSpPr/>
              <p:nvPr/>
            </p:nvSpPr>
            <p:spPr>
              <a:xfrm>
                <a:off x="743211" y="1981369"/>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01" name="Rounded Rectangle 200">
                <a:extLst>
                  <a:ext uri="{FF2B5EF4-FFF2-40B4-BE49-F238E27FC236}">
                    <a16:creationId xmlns:a16="http://schemas.microsoft.com/office/drawing/2014/main" id="{9BAC20C0-D263-405E-8372-D036CB35A666}"/>
                  </a:ext>
                </a:extLst>
              </p:cNvPr>
              <p:cNvSpPr/>
              <p:nvPr/>
            </p:nvSpPr>
            <p:spPr>
              <a:xfrm rot="5400000">
                <a:off x="469331" y="2280677"/>
                <a:ext cx="455692"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02" name="Rounded Rectangle 201">
                <a:extLst>
                  <a:ext uri="{FF2B5EF4-FFF2-40B4-BE49-F238E27FC236}">
                    <a16:creationId xmlns:a16="http://schemas.microsoft.com/office/drawing/2014/main" id="{8E4E1BFE-4A17-454A-AC07-6E49F2CF4555}"/>
                  </a:ext>
                </a:extLst>
              </p:cNvPr>
              <p:cNvSpPr/>
              <p:nvPr/>
            </p:nvSpPr>
            <p:spPr>
              <a:xfrm rot="5400000">
                <a:off x="1016974" y="2280677"/>
                <a:ext cx="455692"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03" name="Rounded Rectangle 202">
                <a:extLst>
                  <a:ext uri="{FF2B5EF4-FFF2-40B4-BE49-F238E27FC236}">
                    <a16:creationId xmlns:a16="http://schemas.microsoft.com/office/drawing/2014/main" id="{840B34C6-1D71-4A32-A3AE-53F2E2E89B9D}"/>
                  </a:ext>
                </a:extLst>
              </p:cNvPr>
              <p:cNvSpPr/>
              <p:nvPr/>
            </p:nvSpPr>
            <p:spPr>
              <a:xfrm>
                <a:off x="743211" y="2578372"/>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04" name="Rounded Rectangle 203">
                <a:extLst>
                  <a:ext uri="{FF2B5EF4-FFF2-40B4-BE49-F238E27FC236}">
                    <a16:creationId xmlns:a16="http://schemas.microsoft.com/office/drawing/2014/main" id="{A90C87B0-3A41-4D50-9BE3-EAD2949B492F}"/>
                  </a:ext>
                </a:extLst>
              </p:cNvPr>
              <p:cNvSpPr/>
              <p:nvPr/>
            </p:nvSpPr>
            <p:spPr>
              <a:xfrm rot="5400000">
                <a:off x="468538" y="2889588"/>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05" name="Rounded Rectangle 204">
                <a:extLst>
                  <a:ext uri="{FF2B5EF4-FFF2-40B4-BE49-F238E27FC236}">
                    <a16:creationId xmlns:a16="http://schemas.microsoft.com/office/drawing/2014/main" id="{2031E28F-682C-468F-BFE4-B2CC4899B771}"/>
                  </a:ext>
                </a:extLst>
              </p:cNvPr>
              <p:cNvSpPr/>
              <p:nvPr/>
            </p:nvSpPr>
            <p:spPr>
              <a:xfrm rot="5400000">
                <a:off x="1016181" y="2889588"/>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06" name="Rounded Rectangle 205">
                <a:extLst>
                  <a:ext uri="{FF2B5EF4-FFF2-40B4-BE49-F238E27FC236}">
                    <a16:creationId xmlns:a16="http://schemas.microsoft.com/office/drawing/2014/main" id="{634641EF-6F0E-4738-81C7-28FAB9DDB2EA}"/>
                  </a:ext>
                </a:extLst>
              </p:cNvPr>
              <p:cNvSpPr/>
              <p:nvPr/>
            </p:nvSpPr>
            <p:spPr>
              <a:xfrm>
                <a:off x="743211" y="3200780"/>
                <a:ext cx="457162" cy="90504"/>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485" name="TextBox 206">
                <a:extLst>
                  <a:ext uri="{FF2B5EF4-FFF2-40B4-BE49-F238E27FC236}">
                    <a16:creationId xmlns:a16="http://schemas.microsoft.com/office/drawing/2014/main" id="{CE75F09D-5881-204C-5E60-42501C2DAF61}"/>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486" name="TextBox 207">
                <a:extLst>
                  <a:ext uri="{FF2B5EF4-FFF2-40B4-BE49-F238E27FC236}">
                    <a16:creationId xmlns:a16="http://schemas.microsoft.com/office/drawing/2014/main" id="{BE78E843-95D2-835E-A0E9-9C69A79EDB9D}"/>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487" name="TextBox 208">
                <a:extLst>
                  <a:ext uri="{FF2B5EF4-FFF2-40B4-BE49-F238E27FC236}">
                    <a16:creationId xmlns:a16="http://schemas.microsoft.com/office/drawing/2014/main" id="{36828289-1319-8A3B-E5DB-172EFFF5BE71}"/>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488" name="TextBox 209">
                <a:extLst>
                  <a:ext uri="{FF2B5EF4-FFF2-40B4-BE49-F238E27FC236}">
                    <a16:creationId xmlns:a16="http://schemas.microsoft.com/office/drawing/2014/main" id="{52532D0B-3714-438E-B160-52524A6B3235}"/>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489" name="TextBox 210">
                <a:extLst>
                  <a:ext uri="{FF2B5EF4-FFF2-40B4-BE49-F238E27FC236}">
                    <a16:creationId xmlns:a16="http://schemas.microsoft.com/office/drawing/2014/main" id="{4E30183F-A4E4-7AE8-466A-F4F6E1C1B84C}"/>
                  </a:ext>
                </a:extLst>
              </p:cNvPr>
              <p:cNvSpPr txBox="1">
                <a:spLocks noChangeArrowheads="1"/>
              </p:cNvSpPr>
              <p:nvPr/>
            </p:nvSpPr>
            <p:spPr bwMode="auto">
              <a:xfrm>
                <a:off x="809500" y="2228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490" name="TextBox 211">
                <a:extLst>
                  <a:ext uri="{FF2B5EF4-FFF2-40B4-BE49-F238E27FC236}">
                    <a16:creationId xmlns:a16="http://schemas.microsoft.com/office/drawing/2014/main" id="{DB2F80FC-82ED-567E-A431-3FD18D2CA4D4}"/>
                  </a:ext>
                </a:extLst>
              </p:cNvPr>
              <p:cNvSpPr txBox="1">
                <a:spLocks noChangeArrowheads="1"/>
              </p:cNvSpPr>
              <p:nvPr/>
            </p:nvSpPr>
            <p:spPr bwMode="auto">
              <a:xfrm>
                <a:off x="416625" y="22028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36" name="Group 212">
              <a:extLst>
                <a:ext uri="{FF2B5EF4-FFF2-40B4-BE49-F238E27FC236}">
                  <a16:creationId xmlns:a16="http://schemas.microsoft.com/office/drawing/2014/main" id="{46A180EB-94EC-3851-9E15-ADFBFD66DEA8}"/>
                </a:ext>
              </a:extLst>
            </p:cNvPr>
            <p:cNvGrpSpPr>
              <a:grpSpLocks/>
            </p:cNvGrpSpPr>
            <p:nvPr/>
          </p:nvGrpSpPr>
          <p:grpSpPr bwMode="auto">
            <a:xfrm>
              <a:off x="6705600" y="3939006"/>
              <a:ext cx="1371600" cy="1642773"/>
              <a:chOff x="381000" y="1981556"/>
              <a:chExt cx="1371600" cy="1642773"/>
            </a:xfrm>
          </p:grpSpPr>
          <p:sp>
            <p:nvSpPr>
              <p:cNvPr id="214" name="Rounded Rectangle 213">
                <a:extLst>
                  <a:ext uri="{FF2B5EF4-FFF2-40B4-BE49-F238E27FC236}">
                    <a16:creationId xmlns:a16="http://schemas.microsoft.com/office/drawing/2014/main" id="{3C7ECAEA-6C3E-4104-8DA1-0E4D6BF2D63F}"/>
                  </a:ext>
                </a:extLst>
              </p:cNvPr>
              <p:cNvSpPr/>
              <p:nvPr/>
            </p:nvSpPr>
            <p:spPr>
              <a:xfrm>
                <a:off x="743122" y="1981556"/>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15" name="Rounded Rectangle 214">
                <a:extLst>
                  <a:ext uri="{FF2B5EF4-FFF2-40B4-BE49-F238E27FC236}">
                    <a16:creationId xmlns:a16="http://schemas.microsoft.com/office/drawing/2014/main" id="{2C06B777-6C55-48F7-989C-B5197E947293}"/>
                  </a:ext>
                </a:extLst>
              </p:cNvPr>
              <p:cNvSpPr/>
              <p:nvPr/>
            </p:nvSpPr>
            <p:spPr>
              <a:xfrm rot="5400000">
                <a:off x="469243" y="2280863"/>
                <a:ext cx="455691"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16" name="Rounded Rectangle 215">
                <a:extLst>
                  <a:ext uri="{FF2B5EF4-FFF2-40B4-BE49-F238E27FC236}">
                    <a16:creationId xmlns:a16="http://schemas.microsoft.com/office/drawing/2014/main" id="{CF9680F6-029B-473B-ABF7-5E0B7ED13CF2}"/>
                  </a:ext>
                </a:extLst>
              </p:cNvPr>
              <p:cNvSpPr/>
              <p:nvPr/>
            </p:nvSpPr>
            <p:spPr>
              <a:xfrm rot="5400000">
                <a:off x="1016886" y="2280863"/>
                <a:ext cx="455691"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17" name="Rounded Rectangle 216">
                <a:extLst>
                  <a:ext uri="{FF2B5EF4-FFF2-40B4-BE49-F238E27FC236}">
                    <a16:creationId xmlns:a16="http://schemas.microsoft.com/office/drawing/2014/main" id="{5947F1AD-ADD5-49D0-9E40-69BEA7F6F63E}"/>
                  </a:ext>
                </a:extLst>
              </p:cNvPr>
              <p:cNvSpPr/>
              <p:nvPr/>
            </p:nvSpPr>
            <p:spPr>
              <a:xfrm>
                <a:off x="743122" y="2578559"/>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18" name="Rounded Rectangle 217">
                <a:extLst>
                  <a:ext uri="{FF2B5EF4-FFF2-40B4-BE49-F238E27FC236}">
                    <a16:creationId xmlns:a16="http://schemas.microsoft.com/office/drawing/2014/main" id="{E829D305-99FA-4C71-86FF-BC4FCE0A8C67}"/>
                  </a:ext>
                </a:extLst>
              </p:cNvPr>
              <p:cNvSpPr/>
              <p:nvPr/>
            </p:nvSpPr>
            <p:spPr>
              <a:xfrm rot="5400000">
                <a:off x="468449" y="2889774"/>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19" name="Rounded Rectangle 218">
                <a:extLst>
                  <a:ext uri="{FF2B5EF4-FFF2-40B4-BE49-F238E27FC236}">
                    <a16:creationId xmlns:a16="http://schemas.microsoft.com/office/drawing/2014/main" id="{387F6AAF-7B3D-41E9-B7E3-F89E2E07FC37}"/>
                  </a:ext>
                </a:extLst>
              </p:cNvPr>
              <p:cNvSpPr/>
              <p:nvPr/>
            </p:nvSpPr>
            <p:spPr>
              <a:xfrm rot="5400000">
                <a:off x="1016092" y="2889774"/>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20" name="Rounded Rectangle 219">
                <a:extLst>
                  <a:ext uri="{FF2B5EF4-FFF2-40B4-BE49-F238E27FC236}">
                    <a16:creationId xmlns:a16="http://schemas.microsoft.com/office/drawing/2014/main" id="{978292A4-5384-4E6E-97BA-0673A2391C34}"/>
                  </a:ext>
                </a:extLst>
              </p:cNvPr>
              <p:cNvSpPr/>
              <p:nvPr/>
            </p:nvSpPr>
            <p:spPr>
              <a:xfrm>
                <a:off x="743122" y="3200967"/>
                <a:ext cx="457162" cy="90503"/>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472" name="TextBox 220">
                <a:extLst>
                  <a:ext uri="{FF2B5EF4-FFF2-40B4-BE49-F238E27FC236}">
                    <a16:creationId xmlns:a16="http://schemas.microsoft.com/office/drawing/2014/main" id="{7E6BBF55-9EBF-C586-0D29-9B06F850467F}"/>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473" name="TextBox 221">
                <a:extLst>
                  <a:ext uri="{FF2B5EF4-FFF2-40B4-BE49-F238E27FC236}">
                    <a16:creationId xmlns:a16="http://schemas.microsoft.com/office/drawing/2014/main" id="{66A33098-B4E0-EFE3-365E-C40A5FC5D79D}"/>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474" name="TextBox 222">
                <a:extLst>
                  <a:ext uri="{FF2B5EF4-FFF2-40B4-BE49-F238E27FC236}">
                    <a16:creationId xmlns:a16="http://schemas.microsoft.com/office/drawing/2014/main" id="{752D2DEA-9A34-C5D9-7B4B-0F48FCD08080}"/>
                  </a:ext>
                </a:extLst>
              </p:cNvPr>
              <p:cNvSpPr txBox="1">
                <a:spLocks noChangeArrowheads="1"/>
              </p:cNvSpPr>
              <p:nvPr/>
            </p:nvSpPr>
            <p:spPr bwMode="auto">
              <a:xfrm>
                <a:off x="785750" y="32241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475" name="TextBox 223">
                <a:extLst>
                  <a:ext uri="{FF2B5EF4-FFF2-40B4-BE49-F238E27FC236}">
                    <a16:creationId xmlns:a16="http://schemas.microsoft.com/office/drawing/2014/main" id="{D03FCCA9-6308-A13F-2A1C-C10E015522F6}"/>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476" name="TextBox 224">
                <a:extLst>
                  <a:ext uri="{FF2B5EF4-FFF2-40B4-BE49-F238E27FC236}">
                    <a16:creationId xmlns:a16="http://schemas.microsoft.com/office/drawing/2014/main" id="{5A6D2E22-E68E-B400-F781-7D18DF1E08E6}"/>
                  </a:ext>
                </a:extLst>
              </p:cNvPr>
              <p:cNvSpPr txBox="1">
                <a:spLocks noChangeArrowheads="1"/>
              </p:cNvSpPr>
              <p:nvPr/>
            </p:nvSpPr>
            <p:spPr bwMode="auto">
              <a:xfrm>
                <a:off x="809500" y="225532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477" name="TextBox 225">
                <a:extLst>
                  <a:ext uri="{FF2B5EF4-FFF2-40B4-BE49-F238E27FC236}">
                    <a16:creationId xmlns:a16="http://schemas.microsoft.com/office/drawing/2014/main" id="{F1E0E11D-004B-8E82-866E-B599AFC1F333}"/>
                  </a:ext>
                </a:extLst>
              </p:cNvPr>
              <p:cNvSpPr txBox="1">
                <a:spLocks noChangeArrowheads="1"/>
              </p:cNvSpPr>
              <p:nvPr/>
            </p:nvSpPr>
            <p:spPr bwMode="auto">
              <a:xfrm>
                <a:off x="381000" y="2245218"/>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grpSp>
          <p:nvGrpSpPr>
            <p:cNvPr id="60437" name="Group 226">
              <a:extLst>
                <a:ext uri="{FF2B5EF4-FFF2-40B4-BE49-F238E27FC236}">
                  <a16:creationId xmlns:a16="http://schemas.microsoft.com/office/drawing/2014/main" id="{D60869A8-3A53-98D3-2793-8A66895C7E35}"/>
                </a:ext>
              </a:extLst>
            </p:cNvPr>
            <p:cNvGrpSpPr>
              <a:grpSpLocks/>
            </p:cNvGrpSpPr>
            <p:nvPr/>
          </p:nvGrpSpPr>
          <p:grpSpPr bwMode="auto">
            <a:xfrm>
              <a:off x="7772400" y="3897724"/>
              <a:ext cx="1371600" cy="1679105"/>
              <a:chOff x="381000" y="1980849"/>
              <a:chExt cx="1371600" cy="1679105"/>
            </a:xfrm>
          </p:grpSpPr>
          <p:sp>
            <p:nvSpPr>
              <p:cNvPr id="228" name="Rounded Rectangle 227">
                <a:extLst>
                  <a:ext uri="{FF2B5EF4-FFF2-40B4-BE49-F238E27FC236}">
                    <a16:creationId xmlns:a16="http://schemas.microsoft.com/office/drawing/2014/main" id="{09CB78E6-10E6-4258-BF9B-B641B87378E2}"/>
                  </a:ext>
                </a:extLst>
              </p:cNvPr>
              <p:cNvSpPr/>
              <p:nvPr/>
            </p:nvSpPr>
            <p:spPr>
              <a:xfrm>
                <a:off x="743034" y="1980849"/>
                <a:ext cx="457162" cy="92091"/>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29" name="Rounded Rectangle 228">
                <a:extLst>
                  <a:ext uri="{FF2B5EF4-FFF2-40B4-BE49-F238E27FC236}">
                    <a16:creationId xmlns:a16="http://schemas.microsoft.com/office/drawing/2014/main" id="{4E603338-C7A3-42FC-9D46-0752A3D07FCF}"/>
                  </a:ext>
                </a:extLst>
              </p:cNvPr>
              <p:cNvSpPr/>
              <p:nvPr/>
            </p:nvSpPr>
            <p:spPr>
              <a:xfrm rot="5400000">
                <a:off x="468361" y="2280950"/>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30" name="Rounded Rectangle 229">
                <a:extLst>
                  <a:ext uri="{FF2B5EF4-FFF2-40B4-BE49-F238E27FC236}">
                    <a16:creationId xmlns:a16="http://schemas.microsoft.com/office/drawing/2014/main" id="{D32F4175-EF66-4F41-922B-BD4551EADAC7}"/>
                  </a:ext>
                </a:extLst>
              </p:cNvPr>
              <p:cNvSpPr/>
              <p:nvPr/>
            </p:nvSpPr>
            <p:spPr>
              <a:xfrm rot="5400000">
                <a:off x="1016004" y="2280950"/>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31" name="Rounded Rectangle 230">
                <a:extLst>
                  <a:ext uri="{FF2B5EF4-FFF2-40B4-BE49-F238E27FC236}">
                    <a16:creationId xmlns:a16="http://schemas.microsoft.com/office/drawing/2014/main" id="{310407F5-8FAF-41F6-BBCA-8FF829A1F960}"/>
                  </a:ext>
                </a:extLst>
              </p:cNvPr>
              <p:cNvSpPr/>
              <p:nvPr/>
            </p:nvSpPr>
            <p:spPr>
              <a:xfrm>
                <a:off x="743034" y="2579439"/>
                <a:ext cx="457162" cy="90504"/>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32" name="Rounded Rectangle 231">
                <a:extLst>
                  <a:ext uri="{FF2B5EF4-FFF2-40B4-BE49-F238E27FC236}">
                    <a16:creationId xmlns:a16="http://schemas.microsoft.com/office/drawing/2014/main" id="{A016D8D3-18CA-46F8-95E9-166262D269FA}"/>
                  </a:ext>
                </a:extLst>
              </p:cNvPr>
              <p:cNvSpPr/>
              <p:nvPr/>
            </p:nvSpPr>
            <p:spPr>
              <a:xfrm rot="5400000">
                <a:off x="468361" y="2890655"/>
                <a:ext cx="457279" cy="92067"/>
              </a:xfrm>
              <a:prstGeom prst="round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33" name="Rounded Rectangle 232">
                <a:extLst>
                  <a:ext uri="{FF2B5EF4-FFF2-40B4-BE49-F238E27FC236}">
                    <a16:creationId xmlns:a16="http://schemas.microsoft.com/office/drawing/2014/main" id="{FE689CDD-C1D7-43D0-B772-03DB9A1B58E2}"/>
                  </a:ext>
                </a:extLst>
              </p:cNvPr>
              <p:cNvSpPr/>
              <p:nvPr/>
            </p:nvSpPr>
            <p:spPr>
              <a:xfrm rot="5400000">
                <a:off x="1016004" y="2890655"/>
                <a:ext cx="457279" cy="920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234" name="Rounded Rectangle 233">
                <a:extLst>
                  <a:ext uri="{FF2B5EF4-FFF2-40B4-BE49-F238E27FC236}">
                    <a16:creationId xmlns:a16="http://schemas.microsoft.com/office/drawing/2014/main" id="{DC289DCD-71A1-4DA8-9453-C76F4F9796EF}"/>
                  </a:ext>
                </a:extLst>
              </p:cNvPr>
              <p:cNvSpPr/>
              <p:nvPr/>
            </p:nvSpPr>
            <p:spPr>
              <a:xfrm>
                <a:off x="743034" y="3200260"/>
                <a:ext cx="457162" cy="9209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0459" name="TextBox 234">
                <a:extLst>
                  <a:ext uri="{FF2B5EF4-FFF2-40B4-BE49-F238E27FC236}">
                    <a16:creationId xmlns:a16="http://schemas.microsoft.com/office/drawing/2014/main" id="{68583512-AEDA-5BCA-6435-FD3422648FE7}"/>
                  </a:ext>
                </a:extLst>
              </p:cNvPr>
              <p:cNvSpPr txBox="1">
                <a:spLocks noChangeArrowheads="1"/>
              </p:cNvSpPr>
              <p:nvPr/>
            </p:nvSpPr>
            <p:spPr bwMode="auto">
              <a:xfrm>
                <a:off x="1295400" y="2133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en-GB" altLang="en-US"/>
              </a:p>
            </p:txBody>
          </p:sp>
          <p:sp>
            <p:nvSpPr>
              <p:cNvPr id="60460" name="TextBox 235">
                <a:extLst>
                  <a:ext uri="{FF2B5EF4-FFF2-40B4-BE49-F238E27FC236}">
                    <a16:creationId xmlns:a16="http://schemas.microsoft.com/office/drawing/2014/main" id="{C16CA8FF-7FA7-DC92-A56C-E392E30389DB}"/>
                  </a:ext>
                </a:extLst>
              </p:cNvPr>
              <p:cNvSpPr txBox="1">
                <a:spLocks noChangeArrowheads="1"/>
              </p:cNvSpPr>
              <p:nvPr/>
            </p:nvSpPr>
            <p:spPr bwMode="auto">
              <a:xfrm>
                <a:off x="1295400" y="2743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a:t>
                </a:r>
                <a:endParaRPr lang="en-GB" altLang="en-US"/>
              </a:p>
            </p:txBody>
          </p:sp>
          <p:sp>
            <p:nvSpPr>
              <p:cNvPr id="60461" name="TextBox 236">
                <a:extLst>
                  <a:ext uri="{FF2B5EF4-FFF2-40B4-BE49-F238E27FC236}">
                    <a16:creationId xmlns:a16="http://schemas.microsoft.com/office/drawing/2014/main" id="{03430E13-3BE4-AC38-D744-628468DA90F2}"/>
                  </a:ext>
                </a:extLst>
              </p:cNvPr>
              <p:cNvSpPr txBox="1">
                <a:spLocks noChangeArrowheads="1"/>
              </p:cNvSpPr>
              <p:nvPr/>
            </p:nvSpPr>
            <p:spPr bwMode="auto">
              <a:xfrm>
                <a:off x="785750" y="32597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60462" name="TextBox 237">
                <a:extLst>
                  <a:ext uri="{FF2B5EF4-FFF2-40B4-BE49-F238E27FC236}">
                    <a16:creationId xmlns:a16="http://schemas.microsoft.com/office/drawing/2014/main" id="{DF2A8C5C-4D1F-CF9C-3676-66F1D2D6C4E9}"/>
                  </a:ext>
                </a:extLst>
              </p:cNvPr>
              <p:cNvSpPr txBox="1">
                <a:spLocks noChangeArrowheads="1"/>
              </p:cNvSpPr>
              <p:nvPr/>
            </p:nvSpPr>
            <p:spPr bwMode="auto">
              <a:xfrm>
                <a:off x="381000" y="27194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e</a:t>
                </a:r>
                <a:endParaRPr lang="en-GB" altLang="en-US"/>
              </a:p>
            </p:txBody>
          </p:sp>
          <p:sp>
            <p:nvSpPr>
              <p:cNvPr id="60463" name="TextBox 238">
                <a:extLst>
                  <a:ext uri="{FF2B5EF4-FFF2-40B4-BE49-F238E27FC236}">
                    <a16:creationId xmlns:a16="http://schemas.microsoft.com/office/drawing/2014/main" id="{8DD9F4E9-BE5A-4C8B-302C-389375BB03D7}"/>
                  </a:ext>
                </a:extLst>
              </p:cNvPr>
              <p:cNvSpPr txBox="1">
                <a:spLocks noChangeArrowheads="1"/>
              </p:cNvSpPr>
              <p:nvPr/>
            </p:nvSpPr>
            <p:spPr bwMode="auto">
              <a:xfrm>
                <a:off x="809500" y="22315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en-GB" altLang="en-US"/>
              </a:p>
            </p:txBody>
          </p:sp>
          <p:sp>
            <p:nvSpPr>
              <p:cNvPr id="60464" name="TextBox 239">
                <a:extLst>
                  <a:ext uri="{FF2B5EF4-FFF2-40B4-BE49-F238E27FC236}">
                    <a16:creationId xmlns:a16="http://schemas.microsoft.com/office/drawing/2014/main" id="{F88750F1-99AB-6C6B-4DF9-132896D0A0A6}"/>
                  </a:ext>
                </a:extLst>
              </p:cNvPr>
              <p:cNvSpPr txBox="1">
                <a:spLocks noChangeArrowheads="1"/>
              </p:cNvSpPr>
              <p:nvPr/>
            </p:nvSpPr>
            <p:spPr bwMode="auto">
              <a:xfrm>
                <a:off x="416625" y="22028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f</a:t>
                </a:r>
                <a:endParaRPr lang="en-GB" altLang="en-US"/>
              </a:p>
            </p:txBody>
          </p:sp>
        </p:grpSp>
        <p:sp>
          <p:nvSpPr>
            <p:cNvPr id="60438" name="TextBox 240">
              <a:extLst>
                <a:ext uri="{FF2B5EF4-FFF2-40B4-BE49-F238E27FC236}">
                  <a16:creationId xmlns:a16="http://schemas.microsoft.com/office/drawing/2014/main" id="{FC042446-8069-2DF1-AB00-19C3DB10F014}"/>
                </a:ext>
              </a:extLst>
            </p:cNvPr>
            <p:cNvSpPr txBox="1">
              <a:spLocks noChangeArrowheads="1"/>
            </p:cNvSpPr>
            <p:nvPr/>
          </p:nvSpPr>
          <p:spPr bwMode="auto">
            <a:xfrm>
              <a:off x="1676400" y="36576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39" name="TextBox 241">
              <a:extLst>
                <a:ext uri="{FF2B5EF4-FFF2-40B4-BE49-F238E27FC236}">
                  <a16:creationId xmlns:a16="http://schemas.microsoft.com/office/drawing/2014/main" id="{75A79358-9C56-B5AB-526C-484E26CF9AEA}"/>
                </a:ext>
              </a:extLst>
            </p:cNvPr>
            <p:cNvSpPr txBox="1">
              <a:spLocks noChangeArrowheads="1"/>
            </p:cNvSpPr>
            <p:nvPr/>
          </p:nvSpPr>
          <p:spPr bwMode="auto">
            <a:xfrm>
              <a:off x="2814450" y="365265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0" name="TextBox 242">
              <a:extLst>
                <a:ext uri="{FF2B5EF4-FFF2-40B4-BE49-F238E27FC236}">
                  <a16:creationId xmlns:a16="http://schemas.microsoft.com/office/drawing/2014/main" id="{D160EEAF-BDDC-42C9-AF46-DB94D9DD3551}"/>
                </a:ext>
              </a:extLst>
            </p:cNvPr>
            <p:cNvSpPr txBox="1">
              <a:spLocks noChangeArrowheads="1"/>
            </p:cNvSpPr>
            <p:nvPr/>
          </p:nvSpPr>
          <p:spPr bwMode="auto">
            <a:xfrm>
              <a:off x="3871350" y="35814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1" name="TextBox 243">
              <a:extLst>
                <a:ext uri="{FF2B5EF4-FFF2-40B4-BE49-F238E27FC236}">
                  <a16:creationId xmlns:a16="http://schemas.microsoft.com/office/drawing/2014/main" id="{4AAC300F-E4EA-EF52-1A81-B7054BBB9D6B}"/>
                </a:ext>
              </a:extLst>
            </p:cNvPr>
            <p:cNvSpPr txBox="1">
              <a:spLocks noChangeArrowheads="1"/>
            </p:cNvSpPr>
            <p:nvPr/>
          </p:nvSpPr>
          <p:spPr bwMode="auto">
            <a:xfrm>
              <a:off x="4953000" y="3640775"/>
              <a:ext cx="42355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2" name="TextBox 244">
              <a:extLst>
                <a:ext uri="{FF2B5EF4-FFF2-40B4-BE49-F238E27FC236}">
                  <a16:creationId xmlns:a16="http://schemas.microsoft.com/office/drawing/2014/main" id="{4731FD1A-E48B-3B56-09A8-FE9F63E419DE}"/>
                </a:ext>
              </a:extLst>
            </p:cNvPr>
            <p:cNvSpPr txBox="1">
              <a:spLocks noChangeArrowheads="1"/>
            </p:cNvSpPr>
            <p:nvPr/>
          </p:nvSpPr>
          <p:spPr bwMode="auto">
            <a:xfrm>
              <a:off x="6095999" y="3652650"/>
              <a:ext cx="440375"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3" name="TextBox 245">
              <a:extLst>
                <a:ext uri="{FF2B5EF4-FFF2-40B4-BE49-F238E27FC236}">
                  <a16:creationId xmlns:a16="http://schemas.microsoft.com/office/drawing/2014/main" id="{D8B869D8-5A71-A342-276B-83C63ED5F4A8}"/>
                </a:ext>
              </a:extLst>
            </p:cNvPr>
            <p:cNvSpPr txBox="1">
              <a:spLocks noChangeArrowheads="1"/>
            </p:cNvSpPr>
            <p:nvPr/>
          </p:nvSpPr>
          <p:spPr bwMode="auto">
            <a:xfrm>
              <a:off x="7152900" y="36289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4" name="TextBox 246">
              <a:extLst>
                <a:ext uri="{FF2B5EF4-FFF2-40B4-BE49-F238E27FC236}">
                  <a16:creationId xmlns:a16="http://schemas.microsoft.com/office/drawing/2014/main" id="{716D123C-C4A6-AB24-F73B-86616BF2D80A}"/>
                </a:ext>
              </a:extLst>
            </p:cNvPr>
            <p:cNvSpPr txBox="1">
              <a:spLocks noChangeArrowheads="1"/>
            </p:cNvSpPr>
            <p:nvPr/>
          </p:nvSpPr>
          <p:spPr bwMode="auto">
            <a:xfrm>
              <a:off x="8189025" y="3574475"/>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5" name="TextBox 266">
              <a:extLst>
                <a:ext uri="{FF2B5EF4-FFF2-40B4-BE49-F238E27FC236}">
                  <a16:creationId xmlns:a16="http://schemas.microsoft.com/office/drawing/2014/main" id="{F0B3901A-5923-8BA9-AE9A-22BE68B75343}"/>
                </a:ext>
              </a:extLst>
            </p:cNvPr>
            <p:cNvSpPr txBox="1">
              <a:spLocks noChangeArrowheads="1"/>
            </p:cNvSpPr>
            <p:nvPr/>
          </p:nvSpPr>
          <p:spPr bwMode="auto">
            <a:xfrm>
              <a:off x="1524000" y="1600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6" name="TextBox 267">
              <a:extLst>
                <a:ext uri="{FF2B5EF4-FFF2-40B4-BE49-F238E27FC236}">
                  <a16:creationId xmlns:a16="http://schemas.microsoft.com/office/drawing/2014/main" id="{C560692E-BFE6-AB60-FB98-74E723EC5D17}"/>
                </a:ext>
              </a:extLst>
            </p:cNvPr>
            <p:cNvSpPr txBox="1">
              <a:spLocks noChangeArrowheads="1"/>
            </p:cNvSpPr>
            <p:nvPr/>
          </p:nvSpPr>
          <p:spPr bwMode="auto">
            <a:xfrm>
              <a:off x="2667000" y="1600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7" name="TextBox 268">
              <a:extLst>
                <a:ext uri="{FF2B5EF4-FFF2-40B4-BE49-F238E27FC236}">
                  <a16:creationId xmlns:a16="http://schemas.microsoft.com/office/drawing/2014/main" id="{3A0FE43F-4FFD-7440-C146-474DBF1CE536}"/>
                </a:ext>
              </a:extLst>
            </p:cNvPr>
            <p:cNvSpPr txBox="1">
              <a:spLocks noChangeArrowheads="1"/>
            </p:cNvSpPr>
            <p:nvPr/>
          </p:nvSpPr>
          <p:spPr bwMode="auto">
            <a:xfrm>
              <a:off x="3733800" y="1600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8" name="TextBox 269">
              <a:extLst>
                <a:ext uri="{FF2B5EF4-FFF2-40B4-BE49-F238E27FC236}">
                  <a16:creationId xmlns:a16="http://schemas.microsoft.com/office/drawing/2014/main" id="{D69332F0-027A-89DA-00AB-0355DCE280A9}"/>
                </a:ext>
              </a:extLst>
            </p:cNvPr>
            <p:cNvSpPr txBox="1">
              <a:spLocks noChangeArrowheads="1"/>
            </p:cNvSpPr>
            <p:nvPr/>
          </p:nvSpPr>
          <p:spPr bwMode="auto">
            <a:xfrm>
              <a:off x="4800600" y="1600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49" name="TextBox 270">
              <a:extLst>
                <a:ext uri="{FF2B5EF4-FFF2-40B4-BE49-F238E27FC236}">
                  <a16:creationId xmlns:a16="http://schemas.microsoft.com/office/drawing/2014/main" id="{FC5B3926-A028-529D-8EE4-8D68FE5862AE}"/>
                </a:ext>
              </a:extLst>
            </p:cNvPr>
            <p:cNvSpPr txBox="1">
              <a:spLocks noChangeArrowheads="1"/>
            </p:cNvSpPr>
            <p:nvPr/>
          </p:nvSpPr>
          <p:spPr bwMode="auto">
            <a:xfrm>
              <a:off x="5943600" y="1600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50" name="TextBox 271">
              <a:extLst>
                <a:ext uri="{FF2B5EF4-FFF2-40B4-BE49-F238E27FC236}">
                  <a16:creationId xmlns:a16="http://schemas.microsoft.com/office/drawing/2014/main" id="{6E1E96B3-D716-3BAE-B5C1-BAE22EECB4ED}"/>
                </a:ext>
              </a:extLst>
            </p:cNvPr>
            <p:cNvSpPr txBox="1">
              <a:spLocks noChangeArrowheads="1"/>
            </p:cNvSpPr>
            <p:nvPr/>
          </p:nvSpPr>
          <p:spPr bwMode="auto">
            <a:xfrm>
              <a:off x="7010400" y="16002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sp>
          <p:nvSpPr>
            <p:cNvPr id="60451" name="TextBox 272">
              <a:extLst>
                <a:ext uri="{FF2B5EF4-FFF2-40B4-BE49-F238E27FC236}">
                  <a16:creationId xmlns:a16="http://schemas.microsoft.com/office/drawing/2014/main" id="{F73D1ECD-ACC3-4EDB-6A4F-39554BF21172}"/>
                </a:ext>
              </a:extLst>
            </p:cNvPr>
            <p:cNvSpPr txBox="1">
              <a:spLocks noChangeArrowheads="1"/>
            </p:cNvSpPr>
            <p:nvPr/>
          </p:nvSpPr>
          <p:spPr bwMode="auto">
            <a:xfrm>
              <a:off x="8077200" y="1524000"/>
              <a:ext cx="457200" cy="400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en-GB" altLang="en-US"/>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50C7129D-8A8E-C4D8-028D-76135D1253B1}"/>
              </a:ext>
            </a:extLst>
          </p:cNvPr>
          <p:cNvSpPr>
            <a:spLocks noGrp="1" noChangeArrowheads="1"/>
          </p:cNvSpPr>
          <p:nvPr>
            <p:ph type="title"/>
          </p:nvPr>
        </p:nvSpPr>
        <p:spPr/>
        <p:txBody>
          <a:bodyPr>
            <a:normAutofit/>
          </a:bodyPr>
          <a:lstStyle/>
          <a:p>
            <a:r>
              <a:rPr lang="en-US" altLang="en-US" dirty="0"/>
              <a:t>Table of Implementing Functions</a:t>
            </a:r>
            <a:endParaRPr lang="en-GB" altLang="en-US" dirty="0"/>
          </a:p>
        </p:txBody>
      </p:sp>
      <p:graphicFrame>
        <p:nvGraphicFramePr>
          <p:cNvPr id="3" name="Table 2">
            <a:extLst>
              <a:ext uri="{FF2B5EF4-FFF2-40B4-BE49-F238E27FC236}">
                <a16:creationId xmlns:a16="http://schemas.microsoft.com/office/drawing/2014/main" id="{F1CA6BEC-EEC9-402F-A6F9-57C68E64F4A2}"/>
              </a:ext>
            </a:extLst>
          </p:cNvPr>
          <p:cNvGraphicFramePr>
            <a:graphicFrameLocks noGrp="1"/>
          </p:cNvGraphicFramePr>
          <p:nvPr>
            <p:extLst>
              <p:ext uri="{D42A27DB-BD31-4B8C-83A1-F6EECF244321}">
                <p14:modId xmlns:p14="http://schemas.microsoft.com/office/powerpoint/2010/main" val="4009000518"/>
              </p:ext>
            </p:extLst>
          </p:nvPr>
        </p:nvGraphicFramePr>
        <p:xfrm>
          <a:off x="2040673" y="1081856"/>
          <a:ext cx="8140389" cy="5394960"/>
        </p:xfrm>
        <a:graphic>
          <a:graphicData uri="http://schemas.openxmlformats.org/drawingml/2006/table">
            <a:tbl>
              <a:tblPr firstRow="1" bandRow="1">
                <a:tableStyleId>{5C22544A-7EE6-4342-B048-85BDC9FD1C3A}</a:tableStyleId>
              </a:tblPr>
              <a:tblGrid>
                <a:gridCol w="1670922">
                  <a:extLst>
                    <a:ext uri="{9D8B030D-6E8A-4147-A177-3AD203B41FA5}">
                      <a16:colId xmlns:a16="http://schemas.microsoft.com/office/drawing/2014/main" val="20000"/>
                    </a:ext>
                  </a:extLst>
                </a:gridCol>
                <a:gridCol w="2185051">
                  <a:extLst>
                    <a:ext uri="{9D8B030D-6E8A-4147-A177-3AD203B41FA5}">
                      <a16:colId xmlns:a16="http://schemas.microsoft.com/office/drawing/2014/main" val="20001"/>
                    </a:ext>
                  </a:extLst>
                </a:gridCol>
                <a:gridCol w="4284416">
                  <a:extLst>
                    <a:ext uri="{9D8B030D-6E8A-4147-A177-3AD203B41FA5}">
                      <a16:colId xmlns:a16="http://schemas.microsoft.com/office/drawing/2014/main" val="20002"/>
                    </a:ext>
                  </a:extLst>
                </a:gridCol>
              </a:tblGrid>
              <a:tr h="416577">
                <a:tc>
                  <a:txBody>
                    <a:bodyPr/>
                    <a:lstStyle/>
                    <a:p>
                      <a:r>
                        <a:rPr lang="en-US" sz="1400" dirty="0"/>
                        <a:t>Symbol</a:t>
                      </a:r>
                      <a:endParaRPr lang="en-GB" sz="1400" dirty="0"/>
                    </a:p>
                  </a:txBody>
                  <a:tcPr/>
                </a:tc>
                <a:tc>
                  <a:txBody>
                    <a:bodyPr/>
                    <a:lstStyle/>
                    <a:p>
                      <a:r>
                        <a:rPr lang="en-US" sz="1400" dirty="0"/>
                        <a:t>X</a:t>
                      </a:r>
                      <a:br>
                        <a:rPr lang="en-US" sz="1400" dirty="0"/>
                      </a:br>
                      <a:r>
                        <a:rPr lang="en-US" sz="1400" dirty="0"/>
                        <a:t>x1 x2 x3 x4</a:t>
                      </a:r>
                      <a:endParaRPr lang="en-GB" sz="1400" dirty="0"/>
                    </a:p>
                  </a:txBody>
                  <a:tcPr/>
                </a:tc>
                <a:tc>
                  <a:txBody>
                    <a:bodyPr/>
                    <a:lstStyle/>
                    <a:p>
                      <a:r>
                        <a:rPr lang="en-US" sz="1400" dirty="0"/>
                        <a:t>Y</a:t>
                      </a:r>
                      <a:br>
                        <a:rPr lang="en-US" sz="1400" dirty="0"/>
                      </a:br>
                      <a:r>
                        <a:rPr lang="en-US" sz="1400" dirty="0"/>
                        <a:t>  a   b   c   d   e   f   g</a:t>
                      </a:r>
                      <a:endParaRPr lang="en-GB" sz="1400" dirty="0"/>
                    </a:p>
                  </a:txBody>
                  <a:tcPr/>
                </a:tc>
                <a:extLst>
                  <a:ext uri="{0D108BD9-81ED-4DB2-BD59-A6C34878D82A}">
                    <a16:rowId xmlns:a16="http://schemas.microsoft.com/office/drawing/2014/main" val="10000"/>
                  </a:ext>
                </a:extLst>
              </a:tr>
              <a:tr h="243839">
                <a:tc>
                  <a:txBody>
                    <a:bodyPr/>
                    <a:lstStyle/>
                    <a:p>
                      <a:r>
                        <a:rPr lang="en-US" sz="1400" dirty="0"/>
                        <a:t>0</a:t>
                      </a:r>
                      <a:endParaRPr lang="en-GB" sz="1400" dirty="0"/>
                    </a:p>
                  </a:txBody>
                  <a:tcPr/>
                </a:tc>
                <a:tc>
                  <a:txBody>
                    <a:bodyPr/>
                    <a:lstStyle/>
                    <a:p>
                      <a:r>
                        <a:rPr lang="en-US" sz="1400" dirty="0"/>
                        <a:t> 0  0  0  0</a:t>
                      </a:r>
                      <a:endParaRPr lang="en-GB" sz="1400" dirty="0"/>
                    </a:p>
                  </a:txBody>
                  <a:tcPr/>
                </a:tc>
                <a:tc>
                  <a:txBody>
                    <a:bodyPr/>
                    <a:lstStyle/>
                    <a:p>
                      <a:r>
                        <a:rPr lang="en-US" sz="1400" dirty="0"/>
                        <a:t>1   1   1   1   1  1  0</a:t>
                      </a:r>
                      <a:endParaRPr lang="en-GB" sz="1400" dirty="0"/>
                    </a:p>
                  </a:txBody>
                  <a:tcPr/>
                </a:tc>
                <a:extLst>
                  <a:ext uri="{0D108BD9-81ED-4DB2-BD59-A6C34878D82A}">
                    <a16:rowId xmlns:a16="http://schemas.microsoft.com/office/drawing/2014/main" val="10001"/>
                  </a:ext>
                </a:extLst>
              </a:tr>
              <a:tr h="243839">
                <a:tc>
                  <a:txBody>
                    <a:bodyPr/>
                    <a:lstStyle/>
                    <a:p>
                      <a:r>
                        <a:rPr lang="en-US" sz="1400" dirty="0"/>
                        <a:t>1</a:t>
                      </a:r>
                      <a:endParaRPr lang="en-GB" sz="1400" dirty="0"/>
                    </a:p>
                  </a:txBody>
                  <a:tcPr/>
                </a:tc>
                <a:tc>
                  <a:txBody>
                    <a:bodyPr/>
                    <a:lstStyle/>
                    <a:p>
                      <a:r>
                        <a:rPr lang="en-US" sz="1400" dirty="0"/>
                        <a:t> 0  0  0  1</a:t>
                      </a:r>
                      <a:endParaRPr lang="en-GB" sz="1400" dirty="0"/>
                    </a:p>
                  </a:txBody>
                  <a:tcPr/>
                </a:tc>
                <a:tc>
                  <a:txBody>
                    <a:bodyPr/>
                    <a:lstStyle/>
                    <a:p>
                      <a:r>
                        <a:rPr lang="en-US" sz="1400" dirty="0"/>
                        <a:t>0   1   1   0   0  0  0</a:t>
                      </a:r>
                      <a:endParaRPr lang="en-GB" sz="1400" dirty="0"/>
                    </a:p>
                  </a:txBody>
                  <a:tcPr/>
                </a:tc>
                <a:extLst>
                  <a:ext uri="{0D108BD9-81ED-4DB2-BD59-A6C34878D82A}">
                    <a16:rowId xmlns:a16="http://schemas.microsoft.com/office/drawing/2014/main" val="10002"/>
                  </a:ext>
                </a:extLst>
              </a:tr>
              <a:tr h="243839">
                <a:tc>
                  <a:txBody>
                    <a:bodyPr/>
                    <a:lstStyle/>
                    <a:p>
                      <a:r>
                        <a:rPr lang="en-US" sz="1400" dirty="0"/>
                        <a:t>2</a:t>
                      </a:r>
                      <a:endParaRPr lang="en-GB" sz="1400" dirty="0"/>
                    </a:p>
                  </a:txBody>
                  <a:tcPr/>
                </a:tc>
                <a:tc>
                  <a:txBody>
                    <a:bodyPr/>
                    <a:lstStyle/>
                    <a:p>
                      <a:r>
                        <a:rPr lang="en-US" sz="1400" dirty="0"/>
                        <a:t> 0  0  1  0</a:t>
                      </a:r>
                      <a:endParaRPr lang="en-GB" sz="1400" dirty="0"/>
                    </a:p>
                  </a:txBody>
                  <a:tcPr/>
                </a:tc>
                <a:tc>
                  <a:txBody>
                    <a:bodyPr/>
                    <a:lstStyle/>
                    <a:p>
                      <a:r>
                        <a:rPr lang="en-US" sz="1400" dirty="0"/>
                        <a:t>1   1   0   1   1  0  1</a:t>
                      </a:r>
                      <a:endParaRPr lang="en-GB" sz="1400" dirty="0"/>
                    </a:p>
                  </a:txBody>
                  <a:tcPr/>
                </a:tc>
                <a:extLst>
                  <a:ext uri="{0D108BD9-81ED-4DB2-BD59-A6C34878D82A}">
                    <a16:rowId xmlns:a16="http://schemas.microsoft.com/office/drawing/2014/main" val="10003"/>
                  </a:ext>
                </a:extLst>
              </a:tr>
              <a:tr h="243839">
                <a:tc>
                  <a:txBody>
                    <a:bodyPr/>
                    <a:lstStyle/>
                    <a:p>
                      <a:r>
                        <a:rPr lang="en-US" sz="1400" dirty="0"/>
                        <a:t>3</a:t>
                      </a:r>
                      <a:endParaRPr lang="en-GB" sz="1400" dirty="0"/>
                    </a:p>
                  </a:txBody>
                  <a:tcPr/>
                </a:tc>
                <a:tc>
                  <a:txBody>
                    <a:bodyPr/>
                    <a:lstStyle/>
                    <a:p>
                      <a:r>
                        <a:rPr lang="en-US" sz="1400" dirty="0"/>
                        <a:t> 0  0  1  1</a:t>
                      </a:r>
                      <a:endParaRPr lang="en-GB" sz="1400" dirty="0"/>
                    </a:p>
                  </a:txBody>
                  <a:tcPr/>
                </a:tc>
                <a:tc>
                  <a:txBody>
                    <a:bodyPr/>
                    <a:lstStyle/>
                    <a:p>
                      <a:r>
                        <a:rPr lang="en-US" sz="1400" dirty="0"/>
                        <a:t>1   1   1   1   0  0  1</a:t>
                      </a:r>
                      <a:endParaRPr lang="en-GB" sz="1400" dirty="0"/>
                    </a:p>
                  </a:txBody>
                  <a:tcPr/>
                </a:tc>
                <a:extLst>
                  <a:ext uri="{0D108BD9-81ED-4DB2-BD59-A6C34878D82A}">
                    <a16:rowId xmlns:a16="http://schemas.microsoft.com/office/drawing/2014/main" val="10004"/>
                  </a:ext>
                </a:extLst>
              </a:tr>
              <a:tr h="243839">
                <a:tc>
                  <a:txBody>
                    <a:bodyPr/>
                    <a:lstStyle/>
                    <a:p>
                      <a:r>
                        <a:rPr lang="en-US" sz="1400" dirty="0"/>
                        <a:t>4</a:t>
                      </a:r>
                      <a:endParaRPr lang="en-GB" sz="1400" dirty="0"/>
                    </a:p>
                  </a:txBody>
                  <a:tcPr/>
                </a:tc>
                <a:tc>
                  <a:txBody>
                    <a:bodyPr/>
                    <a:lstStyle/>
                    <a:p>
                      <a:r>
                        <a:rPr lang="en-US" sz="1400" dirty="0"/>
                        <a:t> 0  1  0  0</a:t>
                      </a:r>
                      <a:endParaRPr lang="en-GB" sz="1400" dirty="0"/>
                    </a:p>
                  </a:txBody>
                  <a:tcPr/>
                </a:tc>
                <a:tc>
                  <a:txBody>
                    <a:bodyPr/>
                    <a:lstStyle/>
                    <a:p>
                      <a:r>
                        <a:rPr lang="en-US" sz="1400" dirty="0"/>
                        <a:t>0   1   1   0   0  1  1</a:t>
                      </a:r>
                      <a:endParaRPr lang="en-GB" sz="1400" dirty="0"/>
                    </a:p>
                  </a:txBody>
                  <a:tcPr/>
                </a:tc>
                <a:extLst>
                  <a:ext uri="{0D108BD9-81ED-4DB2-BD59-A6C34878D82A}">
                    <a16:rowId xmlns:a16="http://schemas.microsoft.com/office/drawing/2014/main" val="10005"/>
                  </a:ext>
                </a:extLst>
              </a:tr>
              <a:tr h="243839">
                <a:tc>
                  <a:txBody>
                    <a:bodyPr/>
                    <a:lstStyle/>
                    <a:p>
                      <a:r>
                        <a:rPr lang="en-US" sz="1400" dirty="0"/>
                        <a:t>5</a:t>
                      </a:r>
                      <a:endParaRPr lang="en-GB" sz="1400" dirty="0"/>
                    </a:p>
                  </a:txBody>
                  <a:tcPr/>
                </a:tc>
                <a:tc>
                  <a:txBody>
                    <a:bodyPr/>
                    <a:lstStyle/>
                    <a:p>
                      <a:r>
                        <a:rPr lang="en-US" sz="1400" dirty="0"/>
                        <a:t> 0  1  0  1</a:t>
                      </a:r>
                      <a:endParaRPr lang="en-GB" sz="1400" dirty="0"/>
                    </a:p>
                  </a:txBody>
                  <a:tcPr/>
                </a:tc>
                <a:tc>
                  <a:txBody>
                    <a:bodyPr/>
                    <a:lstStyle/>
                    <a:p>
                      <a:r>
                        <a:rPr lang="en-US" sz="1400" dirty="0"/>
                        <a:t>1   0   1   1   0  1  1 </a:t>
                      </a:r>
                      <a:endParaRPr lang="en-GB" sz="1400" dirty="0"/>
                    </a:p>
                  </a:txBody>
                  <a:tcPr/>
                </a:tc>
                <a:extLst>
                  <a:ext uri="{0D108BD9-81ED-4DB2-BD59-A6C34878D82A}">
                    <a16:rowId xmlns:a16="http://schemas.microsoft.com/office/drawing/2014/main" val="10006"/>
                  </a:ext>
                </a:extLst>
              </a:tr>
              <a:tr h="243839">
                <a:tc>
                  <a:txBody>
                    <a:bodyPr/>
                    <a:lstStyle/>
                    <a:p>
                      <a:r>
                        <a:rPr lang="en-US" sz="1400" dirty="0"/>
                        <a:t>6</a:t>
                      </a:r>
                      <a:endParaRPr lang="en-GB" sz="1400" dirty="0"/>
                    </a:p>
                  </a:txBody>
                  <a:tcPr/>
                </a:tc>
                <a:tc>
                  <a:txBody>
                    <a:bodyPr/>
                    <a:lstStyle/>
                    <a:p>
                      <a:r>
                        <a:rPr lang="en-US" sz="1400" dirty="0"/>
                        <a:t> 0  1  1  0</a:t>
                      </a:r>
                      <a:endParaRPr lang="en-GB" sz="1400" dirty="0"/>
                    </a:p>
                  </a:txBody>
                  <a:tcPr/>
                </a:tc>
                <a:tc>
                  <a:txBody>
                    <a:bodyPr/>
                    <a:lstStyle/>
                    <a:p>
                      <a:r>
                        <a:rPr lang="en-US" sz="1400" dirty="0"/>
                        <a:t>1   0   1   1   1  1  1 </a:t>
                      </a:r>
                      <a:endParaRPr lang="en-GB" sz="1400" dirty="0"/>
                    </a:p>
                  </a:txBody>
                  <a:tcPr/>
                </a:tc>
                <a:extLst>
                  <a:ext uri="{0D108BD9-81ED-4DB2-BD59-A6C34878D82A}">
                    <a16:rowId xmlns:a16="http://schemas.microsoft.com/office/drawing/2014/main" val="10007"/>
                  </a:ext>
                </a:extLst>
              </a:tr>
              <a:tr h="243839">
                <a:tc>
                  <a:txBody>
                    <a:bodyPr/>
                    <a:lstStyle/>
                    <a:p>
                      <a:r>
                        <a:rPr lang="en-US" sz="1400" dirty="0"/>
                        <a:t>7</a:t>
                      </a:r>
                      <a:endParaRPr lang="en-GB" sz="1400" dirty="0"/>
                    </a:p>
                  </a:txBody>
                  <a:tcPr/>
                </a:tc>
                <a:tc>
                  <a:txBody>
                    <a:bodyPr/>
                    <a:lstStyle/>
                    <a:p>
                      <a:r>
                        <a:rPr lang="en-US" sz="1400" dirty="0"/>
                        <a:t> 0  1  1  1</a:t>
                      </a:r>
                      <a:endParaRPr lang="en-GB" sz="1400" dirty="0"/>
                    </a:p>
                  </a:txBody>
                  <a:tcPr/>
                </a:tc>
                <a:tc>
                  <a:txBody>
                    <a:bodyPr/>
                    <a:lstStyle/>
                    <a:p>
                      <a:r>
                        <a:rPr lang="en-US" sz="1400" dirty="0"/>
                        <a:t>1   1   1   0   0  0  0 </a:t>
                      </a:r>
                      <a:endParaRPr lang="en-GB" sz="1400" dirty="0"/>
                    </a:p>
                  </a:txBody>
                  <a:tcPr/>
                </a:tc>
                <a:extLst>
                  <a:ext uri="{0D108BD9-81ED-4DB2-BD59-A6C34878D82A}">
                    <a16:rowId xmlns:a16="http://schemas.microsoft.com/office/drawing/2014/main" val="10008"/>
                  </a:ext>
                </a:extLst>
              </a:tr>
              <a:tr h="243839">
                <a:tc>
                  <a:txBody>
                    <a:bodyPr/>
                    <a:lstStyle/>
                    <a:p>
                      <a:r>
                        <a:rPr lang="en-US" sz="1400" dirty="0"/>
                        <a:t>8</a:t>
                      </a:r>
                      <a:endParaRPr lang="en-GB" sz="1400" dirty="0"/>
                    </a:p>
                  </a:txBody>
                  <a:tcPr/>
                </a:tc>
                <a:tc>
                  <a:txBody>
                    <a:bodyPr/>
                    <a:lstStyle/>
                    <a:p>
                      <a:r>
                        <a:rPr lang="en-US" sz="1400" dirty="0"/>
                        <a:t> 1  0  0  0</a:t>
                      </a:r>
                      <a:endParaRPr lang="en-GB" sz="1400" dirty="0"/>
                    </a:p>
                  </a:txBody>
                  <a:tcPr/>
                </a:tc>
                <a:tc>
                  <a:txBody>
                    <a:bodyPr/>
                    <a:lstStyle/>
                    <a:p>
                      <a:r>
                        <a:rPr lang="en-US" sz="1400" dirty="0"/>
                        <a:t>1   1   1   1   1  1  1</a:t>
                      </a:r>
                      <a:endParaRPr lang="en-GB" sz="1400" dirty="0"/>
                    </a:p>
                  </a:txBody>
                  <a:tcPr/>
                </a:tc>
                <a:extLst>
                  <a:ext uri="{0D108BD9-81ED-4DB2-BD59-A6C34878D82A}">
                    <a16:rowId xmlns:a16="http://schemas.microsoft.com/office/drawing/2014/main" val="10009"/>
                  </a:ext>
                </a:extLst>
              </a:tr>
              <a:tr h="243839">
                <a:tc>
                  <a:txBody>
                    <a:bodyPr/>
                    <a:lstStyle/>
                    <a:p>
                      <a:r>
                        <a:rPr lang="en-US" sz="1400" dirty="0"/>
                        <a:t>9</a:t>
                      </a:r>
                      <a:endParaRPr lang="en-GB" sz="1400" dirty="0"/>
                    </a:p>
                  </a:txBody>
                  <a:tcPr/>
                </a:tc>
                <a:tc>
                  <a:txBody>
                    <a:bodyPr/>
                    <a:lstStyle/>
                    <a:p>
                      <a:r>
                        <a:rPr lang="en-US" sz="1400" dirty="0"/>
                        <a:t> 1  0  0  1</a:t>
                      </a:r>
                      <a:endParaRPr lang="en-GB"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1   1   1   1   0  1  1</a:t>
                      </a:r>
                      <a:endParaRPr lang="en-GB" sz="1400" dirty="0"/>
                    </a:p>
                  </a:txBody>
                  <a:tcPr/>
                </a:tc>
                <a:extLst>
                  <a:ext uri="{0D108BD9-81ED-4DB2-BD59-A6C34878D82A}">
                    <a16:rowId xmlns:a16="http://schemas.microsoft.com/office/drawing/2014/main" val="10010"/>
                  </a:ext>
                </a:extLst>
              </a:tr>
              <a:tr h="243839">
                <a:tc>
                  <a:txBody>
                    <a:bodyPr/>
                    <a:lstStyle/>
                    <a:p>
                      <a:r>
                        <a:rPr lang="en-US" sz="1400" dirty="0"/>
                        <a:t>A</a:t>
                      </a:r>
                      <a:endParaRPr lang="en-GB" sz="1400" dirty="0"/>
                    </a:p>
                  </a:txBody>
                  <a:tcPr/>
                </a:tc>
                <a:tc>
                  <a:txBody>
                    <a:bodyPr/>
                    <a:lstStyle/>
                    <a:p>
                      <a:r>
                        <a:rPr lang="en-US" sz="1400" dirty="0"/>
                        <a:t> 1  0  1  0</a:t>
                      </a:r>
                      <a:endParaRPr lang="en-GB"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1   1   1   1   1  0  1</a:t>
                      </a:r>
                      <a:endParaRPr lang="en-GB" sz="1400" dirty="0"/>
                    </a:p>
                  </a:txBody>
                  <a:tcPr/>
                </a:tc>
                <a:extLst>
                  <a:ext uri="{0D108BD9-81ED-4DB2-BD59-A6C34878D82A}">
                    <a16:rowId xmlns:a16="http://schemas.microsoft.com/office/drawing/2014/main" val="10011"/>
                  </a:ext>
                </a:extLst>
              </a:tr>
              <a:tr h="243839">
                <a:tc>
                  <a:txBody>
                    <a:bodyPr/>
                    <a:lstStyle/>
                    <a:p>
                      <a:r>
                        <a:rPr lang="en-US" sz="1400" dirty="0"/>
                        <a:t>B</a:t>
                      </a:r>
                      <a:endParaRPr lang="en-GB" sz="1400" dirty="0"/>
                    </a:p>
                  </a:txBody>
                  <a:tcPr/>
                </a:tc>
                <a:tc>
                  <a:txBody>
                    <a:bodyPr/>
                    <a:lstStyle/>
                    <a:p>
                      <a:r>
                        <a:rPr lang="en-US" sz="1400" dirty="0"/>
                        <a:t> 1  0  1  1</a:t>
                      </a:r>
                      <a:endParaRPr lang="en-GB"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1   1   1   1   1  1  0</a:t>
                      </a:r>
                      <a:endParaRPr lang="en-GB" sz="1400" dirty="0"/>
                    </a:p>
                  </a:txBody>
                  <a:tcPr/>
                </a:tc>
                <a:extLst>
                  <a:ext uri="{0D108BD9-81ED-4DB2-BD59-A6C34878D82A}">
                    <a16:rowId xmlns:a16="http://schemas.microsoft.com/office/drawing/2014/main" val="10012"/>
                  </a:ext>
                </a:extLst>
              </a:tr>
              <a:tr h="243839">
                <a:tc>
                  <a:txBody>
                    <a:bodyPr/>
                    <a:lstStyle/>
                    <a:p>
                      <a:r>
                        <a:rPr lang="en-US" sz="1400" dirty="0"/>
                        <a:t>C</a:t>
                      </a:r>
                      <a:endParaRPr lang="en-GB" sz="1400" dirty="0"/>
                    </a:p>
                  </a:txBody>
                  <a:tcPr/>
                </a:tc>
                <a:tc>
                  <a:txBody>
                    <a:bodyPr/>
                    <a:lstStyle/>
                    <a:p>
                      <a:r>
                        <a:rPr lang="en-US" sz="1400" dirty="0"/>
                        <a:t> 1  0  1  1</a:t>
                      </a:r>
                      <a:endParaRPr lang="en-GB"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1   0  0    1   1  1  0</a:t>
                      </a:r>
                      <a:endParaRPr lang="en-GB" sz="1400" dirty="0"/>
                    </a:p>
                  </a:txBody>
                  <a:tcPr/>
                </a:tc>
                <a:extLst>
                  <a:ext uri="{0D108BD9-81ED-4DB2-BD59-A6C34878D82A}">
                    <a16:rowId xmlns:a16="http://schemas.microsoft.com/office/drawing/2014/main" val="10013"/>
                  </a:ext>
                </a:extLst>
              </a:tr>
              <a:tr h="243839">
                <a:tc>
                  <a:txBody>
                    <a:bodyPr/>
                    <a:lstStyle/>
                    <a:p>
                      <a:r>
                        <a:rPr lang="en-US" sz="1400" dirty="0"/>
                        <a:t>D</a:t>
                      </a:r>
                      <a:endParaRPr lang="en-GB" sz="1400" dirty="0"/>
                    </a:p>
                  </a:txBody>
                  <a:tcPr/>
                </a:tc>
                <a:tc>
                  <a:txBody>
                    <a:bodyPr/>
                    <a:lstStyle/>
                    <a:p>
                      <a:r>
                        <a:rPr lang="en-US" sz="1400" dirty="0"/>
                        <a:t> 1  0  1  1</a:t>
                      </a:r>
                      <a:endParaRPr lang="en-GB"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400" dirty="0"/>
                        <a:t>0</a:t>
                      </a:r>
                      <a:r>
                        <a:rPr lang="en-US" sz="1400" dirty="0"/>
                        <a:t>   1   1   1   1  </a:t>
                      </a:r>
                      <a:r>
                        <a:rPr lang="ru-RU" sz="1400" dirty="0"/>
                        <a:t>0</a:t>
                      </a:r>
                      <a:r>
                        <a:rPr lang="en-US" sz="1400" dirty="0"/>
                        <a:t>  </a:t>
                      </a:r>
                      <a:r>
                        <a:rPr lang="ru-RU" sz="1400" dirty="0"/>
                        <a:t>1</a:t>
                      </a:r>
                      <a:endParaRPr lang="en-GB" sz="1400" dirty="0"/>
                    </a:p>
                  </a:txBody>
                  <a:tcPr/>
                </a:tc>
                <a:extLst>
                  <a:ext uri="{0D108BD9-81ED-4DB2-BD59-A6C34878D82A}">
                    <a16:rowId xmlns:a16="http://schemas.microsoft.com/office/drawing/2014/main" val="10014"/>
                  </a:ext>
                </a:extLst>
              </a:tr>
              <a:tr h="243839">
                <a:tc>
                  <a:txBody>
                    <a:bodyPr/>
                    <a:lstStyle/>
                    <a:p>
                      <a:r>
                        <a:rPr lang="en-US" sz="1400" dirty="0"/>
                        <a:t>E</a:t>
                      </a:r>
                      <a:endParaRPr lang="en-GB" sz="1400" dirty="0"/>
                    </a:p>
                  </a:txBody>
                  <a:tcPr/>
                </a:tc>
                <a:tc>
                  <a:txBody>
                    <a:bodyPr/>
                    <a:lstStyle/>
                    <a:p>
                      <a:r>
                        <a:rPr lang="en-US" sz="1400" dirty="0"/>
                        <a:t>  1  0  1  1</a:t>
                      </a:r>
                      <a:endParaRPr lang="en-GB"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0   1   0   0   1   1  1  1</a:t>
                      </a:r>
                      <a:endParaRPr lang="en-GB" sz="1400" dirty="0"/>
                    </a:p>
                  </a:txBody>
                  <a:tcPr/>
                </a:tc>
                <a:extLst>
                  <a:ext uri="{0D108BD9-81ED-4DB2-BD59-A6C34878D82A}">
                    <a16:rowId xmlns:a16="http://schemas.microsoft.com/office/drawing/2014/main" val="10015"/>
                  </a:ext>
                </a:extLst>
              </a:tr>
              <a:tr h="243839">
                <a:tc>
                  <a:txBody>
                    <a:bodyPr/>
                    <a:lstStyle/>
                    <a:p>
                      <a:r>
                        <a:rPr lang="en-US" sz="1400" dirty="0"/>
                        <a:t>F</a:t>
                      </a:r>
                      <a:endParaRPr lang="en-GB" sz="1400" dirty="0"/>
                    </a:p>
                  </a:txBody>
                  <a:tcPr/>
                </a:tc>
                <a:tc>
                  <a:txBody>
                    <a:bodyPr/>
                    <a:lstStyle/>
                    <a:p>
                      <a:r>
                        <a:rPr lang="en-US" sz="1400" dirty="0"/>
                        <a:t>  1  0 </a:t>
                      </a:r>
                      <a:r>
                        <a:rPr lang="en-US" sz="1400" baseline="0" dirty="0"/>
                        <a:t> </a:t>
                      </a:r>
                      <a:r>
                        <a:rPr lang="en-US" sz="1400" dirty="0"/>
                        <a:t>1  1</a:t>
                      </a:r>
                      <a:endParaRPr lang="en-GB"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0   1   0   0   0   1  1  1</a:t>
                      </a:r>
                      <a:endParaRPr lang="en-GB" sz="1400" dirty="0"/>
                    </a:p>
                  </a:txBody>
                  <a:tcPr/>
                </a:tc>
                <a:extLst>
                  <a:ext uri="{0D108BD9-81ED-4DB2-BD59-A6C34878D82A}">
                    <a16:rowId xmlns:a16="http://schemas.microsoft.com/office/drawing/2014/main" val="10016"/>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8B23EE24-91F4-DA8E-653A-7FA0D425F01E}"/>
              </a:ext>
            </a:extLst>
          </p:cNvPr>
          <p:cNvSpPr>
            <a:spLocks noGrp="1" noChangeArrowheads="1"/>
          </p:cNvSpPr>
          <p:nvPr>
            <p:ph type="title"/>
          </p:nvPr>
        </p:nvSpPr>
        <p:spPr/>
        <p:txBody>
          <a:bodyPr/>
          <a:lstStyle/>
          <a:p>
            <a:r>
              <a:rPr lang="en-US" altLang="en-US"/>
              <a:t>Verilog  Description</a:t>
            </a:r>
            <a:endParaRPr lang="en-GB" altLang="en-US"/>
          </a:p>
        </p:txBody>
      </p:sp>
      <p:sp>
        <p:nvSpPr>
          <p:cNvPr id="2" name="Text Placeholder 1">
            <a:extLst>
              <a:ext uri="{FF2B5EF4-FFF2-40B4-BE49-F238E27FC236}">
                <a16:creationId xmlns:a16="http://schemas.microsoft.com/office/drawing/2014/main" id="{FD28895A-5C9D-48C2-53E2-48260C82074B}"/>
              </a:ext>
            </a:extLst>
          </p:cNvPr>
          <p:cNvSpPr>
            <a:spLocks noGrp="1"/>
          </p:cNvSpPr>
          <p:nvPr>
            <p:ph type="body" sz="quarter" idx="13"/>
          </p:nvPr>
        </p:nvSpPr>
        <p:spPr>
          <a:xfrm>
            <a:off x="457200" y="1077208"/>
            <a:ext cx="5524500" cy="5238974"/>
          </a:xfrm>
        </p:spPr>
        <p:txBody>
          <a:bodyPr/>
          <a:lstStyle/>
          <a:p>
            <a:r>
              <a:rPr lang="en-US" sz="1600" dirty="0"/>
              <a:t>module </a:t>
            </a:r>
            <a:r>
              <a:rPr lang="en-US" sz="1600" dirty="0" err="1"/>
              <a:t>hex_to_sevenseg</a:t>
            </a:r>
            <a:r>
              <a:rPr lang="en-US" sz="1600" dirty="0"/>
              <a:t>(</a:t>
            </a:r>
          </a:p>
          <a:p>
            <a:r>
              <a:rPr lang="en-US" sz="1600" dirty="0"/>
              <a:t>input wire [3:0] x,</a:t>
            </a:r>
          </a:p>
          <a:p>
            <a:r>
              <a:rPr lang="en-US" sz="1600" dirty="0"/>
              <a:t> input wire </a:t>
            </a:r>
            <a:r>
              <a:rPr lang="en-US" sz="1600" dirty="0" err="1"/>
              <a:t>dp</a:t>
            </a:r>
            <a:r>
              <a:rPr lang="en-US" sz="1600" dirty="0"/>
              <a:t>, </a:t>
            </a:r>
          </a:p>
          <a:p>
            <a:r>
              <a:rPr lang="en-US" sz="1600" dirty="0"/>
              <a:t>output reg [7:0] y);</a:t>
            </a:r>
          </a:p>
          <a:p>
            <a:r>
              <a:rPr lang="en-US" sz="1600" dirty="0"/>
              <a:t>always  @*</a:t>
            </a:r>
          </a:p>
          <a:p>
            <a:r>
              <a:rPr lang="en-US" sz="1600" dirty="0"/>
              <a:t>begin</a:t>
            </a:r>
          </a:p>
          <a:p>
            <a:r>
              <a:rPr lang="en-US" sz="1600" dirty="0"/>
              <a:t>case  (x)</a:t>
            </a:r>
          </a:p>
          <a:p>
            <a:r>
              <a:rPr lang="en-US" sz="1600" dirty="0"/>
              <a:t>4’h0: y=7’b 1111110;</a:t>
            </a:r>
          </a:p>
          <a:p>
            <a:r>
              <a:rPr lang="en-US" sz="1600" dirty="0"/>
              <a:t>4’h1: y=7’b 0110000;</a:t>
            </a:r>
          </a:p>
          <a:p>
            <a:r>
              <a:rPr lang="en-US" sz="1600" dirty="0"/>
              <a:t>4’h2: y=7’b 1101101;</a:t>
            </a:r>
          </a:p>
          <a:p>
            <a:r>
              <a:rPr lang="en-US" sz="1600" dirty="0"/>
              <a:t>4’h3: y=7’b 1111001;</a:t>
            </a:r>
          </a:p>
          <a:p>
            <a:r>
              <a:rPr lang="en-US" sz="1600" dirty="0"/>
              <a:t>4’h4: y=7’b 0110011;</a:t>
            </a:r>
          </a:p>
          <a:p>
            <a:r>
              <a:rPr lang="en-US" sz="1600" dirty="0"/>
              <a:t>4’h5: y=7’b 1011011;</a:t>
            </a:r>
          </a:p>
          <a:p>
            <a:r>
              <a:rPr lang="en-US" sz="1600" dirty="0"/>
              <a:t>4’h6: y=7’b 1011111;</a:t>
            </a:r>
          </a:p>
          <a:p>
            <a:endParaRPr lang="en-US" sz="1600" dirty="0"/>
          </a:p>
        </p:txBody>
      </p:sp>
      <p:sp>
        <p:nvSpPr>
          <p:cNvPr id="4" name="Text Placeholder 3">
            <a:extLst>
              <a:ext uri="{FF2B5EF4-FFF2-40B4-BE49-F238E27FC236}">
                <a16:creationId xmlns:a16="http://schemas.microsoft.com/office/drawing/2014/main" id="{568BD80F-859F-BE85-5815-6176CAF9AF6C}"/>
              </a:ext>
            </a:extLst>
          </p:cNvPr>
          <p:cNvSpPr>
            <a:spLocks noGrp="1"/>
          </p:cNvSpPr>
          <p:nvPr>
            <p:ph type="body" sz="quarter" idx="14"/>
          </p:nvPr>
        </p:nvSpPr>
        <p:spPr>
          <a:xfrm>
            <a:off x="6210300" y="1077208"/>
            <a:ext cx="5524500" cy="5238974"/>
          </a:xfrm>
        </p:spPr>
        <p:txBody>
          <a:bodyPr/>
          <a:lstStyle/>
          <a:p>
            <a:r>
              <a:rPr lang="es-ES" sz="1600" dirty="0"/>
              <a:t>4’h7: y=7’b 1110000;</a:t>
            </a:r>
          </a:p>
          <a:p>
            <a:r>
              <a:rPr lang="es-ES" sz="1600" dirty="0"/>
              <a:t>4’h8: y=7’b 1111111;</a:t>
            </a:r>
          </a:p>
          <a:p>
            <a:r>
              <a:rPr lang="es-ES" sz="1600" dirty="0"/>
              <a:t>4’h9: y=7’b 1111011</a:t>
            </a:r>
          </a:p>
          <a:p>
            <a:r>
              <a:rPr lang="es-ES" sz="1600" dirty="0"/>
              <a:t>4’ha: y=7’b 1110111;</a:t>
            </a:r>
          </a:p>
          <a:p>
            <a:r>
              <a:rPr lang="es-ES" sz="1600" dirty="0"/>
              <a:t>4’hb: y=7’b 0011111;</a:t>
            </a:r>
          </a:p>
          <a:p>
            <a:r>
              <a:rPr lang="es-ES" sz="1600" dirty="0"/>
              <a:t>4’hc: y=7’b 1001110;</a:t>
            </a:r>
          </a:p>
          <a:p>
            <a:r>
              <a:rPr lang="es-ES" sz="1600" dirty="0"/>
              <a:t>4’hd: y=7’b 0111101;</a:t>
            </a:r>
          </a:p>
          <a:p>
            <a:r>
              <a:rPr lang="es-ES" sz="1600" dirty="0"/>
              <a:t>4’he: y=7’b 1001111;</a:t>
            </a:r>
          </a:p>
          <a:p>
            <a:r>
              <a:rPr lang="es-ES" sz="1600" dirty="0"/>
              <a:t>default: y=7’b1000111;</a:t>
            </a:r>
          </a:p>
          <a:p>
            <a:r>
              <a:rPr lang="es-ES" sz="1600" dirty="0" err="1"/>
              <a:t>endcase</a:t>
            </a:r>
            <a:endParaRPr lang="es-ES" sz="1600" dirty="0"/>
          </a:p>
          <a:p>
            <a:r>
              <a:rPr lang="es-ES" sz="1600" dirty="0"/>
              <a:t>y[7]=</a:t>
            </a:r>
            <a:r>
              <a:rPr lang="es-ES" sz="1600" dirty="0" err="1"/>
              <a:t>dp</a:t>
            </a:r>
            <a:r>
              <a:rPr lang="es-ES" sz="1600" dirty="0"/>
              <a:t>;</a:t>
            </a:r>
          </a:p>
          <a:p>
            <a:r>
              <a:rPr lang="es-ES" sz="1600" dirty="0" err="1"/>
              <a:t>end</a:t>
            </a:r>
            <a:endParaRPr lang="es-ES" sz="1600" dirty="0"/>
          </a:p>
          <a:p>
            <a:r>
              <a:rPr lang="es-ES" sz="1600" dirty="0" err="1"/>
              <a:t>endmodule</a:t>
            </a:r>
            <a:endParaRPr lang="es-ES" sz="1600" dirty="0"/>
          </a:p>
          <a:p>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744D43E8-CDA5-F400-E400-7C7C6657D47D}"/>
              </a:ext>
            </a:extLst>
          </p:cNvPr>
          <p:cNvSpPr>
            <a:spLocks noGrp="1" noChangeArrowheads="1"/>
          </p:cNvSpPr>
          <p:nvPr>
            <p:ph type="title"/>
          </p:nvPr>
        </p:nvSpPr>
        <p:spPr/>
        <p:txBody>
          <a:bodyPr/>
          <a:lstStyle/>
          <a:p>
            <a:r>
              <a:rPr lang="en-US" altLang="en-US"/>
              <a:t>Test-Bench</a:t>
            </a:r>
            <a:endParaRPr lang="en-GB" altLang="en-US"/>
          </a:p>
        </p:txBody>
      </p:sp>
      <p:sp>
        <p:nvSpPr>
          <p:cNvPr id="3" name="Text Placeholder 2">
            <a:extLst>
              <a:ext uri="{FF2B5EF4-FFF2-40B4-BE49-F238E27FC236}">
                <a16:creationId xmlns:a16="http://schemas.microsoft.com/office/drawing/2014/main" id="{27DA2906-47C5-7E34-9111-A57D8625818D}"/>
              </a:ext>
            </a:extLst>
          </p:cNvPr>
          <p:cNvSpPr>
            <a:spLocks noGrp="1"/>
          </p:cNvSpPr>
          <p:nvPr>
            <p:ph type="body" sz="quarter" idx="13"/>
          </p:nvPr>
        </p:nvSpPr>
        <p:spPr/>
        <p:txBody>
          <a:bodyPr/>
          <a:lstStyle/>
          <a:p>
            <a:r>
              <a:rPr lang="en-US" sz="2000" dirty="0"/>
              <a:t>module   </a:t>
            </a:r>
            <a:r>
              <a:rPr lang="en-US" sz="2000" dirty="0" err="1"/>
              <a:t>test_bench</a:t>
            </a:r>
            <a:r>
              <a:rPr lang="en-US" sz="2000" dirty="0"/>
              <a:t>;</a:t>
            </a:r>
          </a:p>
          <a:p>
            <a:r>
              <a:rPr lang="en-US" sz="2000" dirty="0"/>
              <a:t>reg [3:0] x,</a:t>
            </a:r>
          </a:p>
          <a:p>
            <a:r>
              <a:rPr lang="en-US" sz="2000" dirty="0"/>
              <a:t>reg </a:t>
            </a:r>
            <a:r>
              <a:rPr lang="en-US" sz="2000" dirty="0" err="1"/>
              <a:t>dp</a:t>
            </a:r>
            <a:r>
              <a:rPr lang="en-US" sz="2000" dirty="0"/>
              <a:t>, </a:t>
            </a:r>
          </a:p>
          <a:p>
            <a:r>
              <a:rPr lang="en-US" sz="2000" dirty="0"/>
              <a:t>wire [7:0] y);</a:t>
            </a:r>
          </a:p>
          <a:p>
            <a:r>
              <a:rPr lang="en-US" sz="2000" dirty="0"/>
              <a:t>integer   k;</a:t>
            </a:r>
          </a:p>
          <a:p>
            <a:r>
              <a:rPr lang="en-US" sz="2000" dirty="0" err="1"/>
              <a:t>hex_to_sevenseg</a:t>
            </a:r>
            <a:r>
              <a:rPr lang="en-US" sz="2000" dirty="0"/>
              <a:t> my_7_seg (</a:t>
            </a:r>
            <a:r>
              <a:rPr lang="en-US" sz="2000" dirty="0" err="1"/>
              <a:t>x,dp,y</a:t>
            </a:r>
            <a:r>
              <a:rPr lang="en-US" sz="2000" dirty="0"/>
              <a:t>);</a:t>
            </a:r>
          </a:p>
          <a:p>
            <a:r>
              <a:rPr lang="en-US" sz="2000" dirty="0"/>
              <a:t>initial begin</a:t>
            </a:r>
          </a:p>
          <a:p>
            <a:r>
              <a:rPr lang="en-US" sz="2000" dirty="0" err="1"/>
              <a:t>dp</a:t>
            </a:r>
            <a:r>
              <a:rPr lang="en-US" sz="2000" dirty="0"/>
              <a:t>=0;</a:t>
            </a:r>
          </a:p>
          <a:p>
            <a:r>
              <a:rPr lang="en-US" sz="2000" dirty="0"/>
              <a:t>for  (k=0;  k&lt;5; k=k+1)</a:t>
            </a:r>
          </a:p>
          <a:p>
            <a:r>
              <a:rPr lang="en-US" sz="2000" dirty="0"/>
              <a:t>x= #5 k;</a:t>
            </a:r>
          </a:p>
          <a:p>
            <a:r>
              <a:rPr lang="en-US" sz="2000" dirty="0"/>
              <a:t>#5 </a:t>
            </a:r>
            <a:r>
              <a:rPr lang="en-US" sz="2000" dirty="0" err="1"/>
              <a:t>dp</a:t>
            </a:r>
            <a:r>
              <a:rPr lang="en-US" sz="2000" dirty="0"/>
              <a:t>=1;</a:t>
            </a:r>
          </a:p>
          <a:p>
            <a:endParaRPr lang="en-US" sz="2000" dirty="0"/>
          </a:p>
        </p:txBody>
      </p:sp>
      <p:sp>
        <p:nvSpPr>
          <p:cNvPr id="2" name="Text Placeholder 1">
            <a:extLst>
              <a:ext uri="{FF2B5EF4-FFF2-40B4-BE49-F238E27FC236}">
                <a16:creationId xmlns:a16="http://schemas.microsoft.com/office/drawing/2014/main" id="{2B5FF5E2-D8FA-C7DD-F0F0-8DFE395E1A1F}"/>
              </a:ext>
            </a:extLst>
          </p:cNvPr>
          <p:cNvSpPr>
            <a:spLocks noGrp="1"/>
          </p:cNvSpPr>
          <p:nvPr>
            <p:ph type="body" sz="quarter" idx="14"/>
          </p:nvPr>
        </p:nvSpPr>
        <p:spPr/>
        <p:txBody>
          <a:bodyPr/>
          <a:lstStyle/>
          <a:p>
            <a:r>
              <a:rPr lang="en-US" dirty="0"/>
              <a:t>for  (k=5;  k&lt;10; k=k+1)</a:t>
            </a:r>
          </a:p>
          <a:p>
            <a:r>
              <a:rPr lang="en-US" dirty="0"/>
              <a:t>x= #5 k;</a:t>
            </a:r>
          </a:p>
          <a:p>
            <a:r>
              <a:rPr lang="en-US" dirty="0"/>
              <a:t>#5 </a:t>
            </a:r>
            <a:r>
              <a:rPr lang="en-US" dirty="0" err="1"/>
              <a:t>dp</a:t>
            </a:r>
            <a:r>
              <a:rPr lang="en-US" dirty="0"/>
              <a:t>=0;</a:t>
            </a:r>
          </a:p>
          <a:p>
            <a:r>
              <a:rPr lang="en-US" dirty="0"/>
              <a:t>for  (k=10;  k&lt;16; k=k+1)</a:t>
            </a:r>
          </a:p>
          <a:p>
            <a:r>
              <a:rPr lang="en-US" dirty="0"/>
              <a:t>x= #5 k;</a:t>
            </a:r>
          </a:p>
          <a:p>
            <a:r>
              <a:rPr lang="en-US" dirty="0"/>
              <a:t>end</a:t>
            </a:r>
            <a:br>
              <a:rPr lang="en-US" dirty="0"/>
            </a:br>
            <a:r>
              <a:rPr lang="en-US" dirty="0" err="1"/>
              <a:t>endmodule</a:t>
            </a:r>
            <a:r>
              <a:rPr lang="en-US" dirty="0"/>
              <a:t> </a:t>
            </a:r>
          </a:p>
        </p:txBody>
      </p:sp>
      <p:sp>
        <p:nvSpPr>
          <p:cNvPr id="64517" name="Freeform 4">
            <a:extLst>
              <a:ext uri="{FF2B5EF4-FFF2-40B4-BE49-F238E27FC236}">
                <a16:creationId xmlns:a16="http://schemas.microsoft.com/office/drawing/2014/main" id="{38ED3C3E-1FBF-1462-350C-61ABC102C159}"/>
              </a:ext>
            </a:extLst>
          </p:cNvPr>
          <p:cNvSpPr>
            <a:spLocks/>
          </p:cNvSpPr>
          <p:nvPr/>
        </p:nvSpPr>
        <p:spPr bwMode="auto">
          <a:xfrm>
            <a:off x="4259767" y="1639230"/>
            <a:ext cx="2107580" cy="4304370"/>
          </a:xfrm>
          <a:custGeom>
            <a:avLst/>
            <a:gdLst>
              <a:gd name="T0" fmla="*/ 0 w 2826327"/>
              <a:gd name="T1" fmla="*/ 3544868 h 2826327"/>
              <a:gd name="T2" fmla="*/ 2602742 w 2826327"/>
              <a:gd name="T3" fmla="*/ 0 h 2826327"/>
              <a:gd name="T4" fmla="*/ 2602742 w 2826327"/>
              <a:gd name="T5" fmla="*/ 0 h 2826327"/>
              <a:gd name="T6" fmla="*/ 2602742 w 2826327"/>
              <a:gd name="T7" fmla="*/ 0 h 2826327"/>
              <a:gd name="T8" fmla="*/ 2602742 w 2826327"/>
              <a:gd name="T9" fmla="*/ 0 h 2826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26327" h="2826327">
                <a:moveTo>
                  <a:pt x="0" y="2826327"/>
                </a:moveTo>
                <a:lnTo>
                  <a:pt x="2826327" y="0"/>
                </a:lnTo>
              </a:path>
            </a:pathLst>
          </a:custGeom>
          <a:solidFill>
            <a:schemeClr val="accent1"/>
          </a:solidFill>
          <a:ln w="9525" cap="flat" cmpd="sng" algn="ctr">
            <a:solidFill>
              <a:schemeClr val="tx1"/>
            </a:solidFill>
            <a:prstDash val="solid"/>
            <a:round/>
            <a:headEnd type="none" w="med" len="med"/>
            <a:tailEnd type="triangle" w="lg" len="lg"/>
          </a:ln>
        </p:spPr>
        <p:txBody>
          <a:bodyPr anchor="ct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4">
            <a:extLst>
              <a:ext uri="{FF2B5EF4-FFF2-40B4-BE49-F238E27FC236}">
                <a16:creationId xmlns:a16="http://schemas.microsoft.com/office/drawing/2014/main" id="{C47E6762-356C-0942-B254-7AA4728E7E4E}"/>
              </a:ext>
            </a:extLst>
          </p:cNvPr>
          <p:cNvSpPr>
            <a:spLocks noGrp="1" noChangeArrowheads="1"/>
          </p:cNvSpPr>
          <p:nvPr>
            <p:ph type="title"/>
          </p:nvPr>
        </p:nvSpPr>
        <p:spPr/>
        <p:txBody>
          <a:bodyPr>
            <a:normAutofit/>
          </a:bodyPr>
          <a:lstStyle/>
          <a:p>
            <a:r>
              <a:rPr lang="en-US" altLang="en-US" dirty="0"/>
              <a:t>Blocking and Nonblocking Assignment</a:t>
            </a:r>
            <a:endParaRPr lang="ru-RU" altLang="en-US" dirty="0"/>
          </a:p>
        </p:txBody>
      </p:sp>
      <p:sp>
        <p:nvSpPr>
          <p:cNvPr id="65539" name="Content Placeholder 5">
            <a:extLst>
              <a:ext uri="{FF2B5EF4-FFF2-40B4-BE49-F238E27FC236}">
                <a16:creationId xmlns:a16="http://schemas.microsoft.com/office/drawing/2014/main" id="{897A7656-EC9B-C7CF-8500-9156EE88A4E0}"/>
              </a:ext>
            </a:extLst>
          </p:cNvPr>
          <p:cNvSpPr>
            <a:spLocks noGrp="1" noChangeArrowheads="1"/>
          </p:cNvSpPr>
          <p:nvPr>
            <p:ph type="body" sz="quarter" idx="10"/>
          </p:nvPr>
        </p:nvSpPr>
        <p:spPr/>
        <p:txBody>
          <a:bodyPr/>
          <a:lstStyle/>
          <a:p>
            <a:r>
              <a:rPr lang="ru-RU" altLang="en-US" dirty="0"/>
              <a:t>Blocking assignment statements are executed in the order they are specified in a sequential block</a:t>
            </a:r>
            <a:r>
              <a:rPr lang="en-US" altLang="en-US" dirty="0"/>
              <a:t>.</a:t>
            </a:r>
          </a:p>
          <a:p>
            <a:r>
              <a:rPr lang="ru-RU" altLang="en-US" dirty="0"/>
              <a:t>The </a:t>
            </a:r>
            <a:r>
              <a:rPr lang="en-US" altLang="en-US" dirty="0"/>
              <a:t>“</a:t>
            </a:r>
            <a:r>
              <a:rPr lang="ru-RU" altLang="en-US" dirty="0"/>
              <a:t>=</a:t>
            </a:r>
            <a:r>
              <a:rPr lang="en-US" altLang="en-US" dirty="0"/>
              <a:t>“</a:t>
            </a:r>
            <a:r>
              <a:rPr lang="ru-RU" altLang="en-US" dirty="0"/>
              <a:t> operator is used to specify blocking assignments.</a:t>
            </a:r>
            <a:endParaRPr lang="en-US" altLang="en-US" dirty="0"/>
          </a:p>
          <a:p>
            <a:r>
              <a:rPr lang="en-US" altLang="en-US" dirty="0"/>
              <a:t>This</a:t>
            </a:r>
            <a:r>
              <a:rPr lang="ru-RU" altLang="en-US" dirty="0"/>
              <a:t> assignment will not block execution of statements that follow in a parallel block.  </a:t>
            </a:r>
            <a:endParaRPr lang="en-US" altLang="en-US" dirty="0"/>
          </a:p>
          <a:p>
            <a:r>
              <a:rPr lang="en-US" altLang="en-US" dirty="0"/>
              <a:t>Nonblocking assignments allow scheduling assignments without blocking execution of statements that follow in a sequential block.</a:t>
            </a:r>
            <a:endParaRPr lang="ru-RU" altLang="en-US" dirty="0"/>
          </a:p>
          <a:p>
            <a:r>
              <a:rPr lang="en-US" altLang="en-US" dirty="0"/>
              <a:t>The &lt;= operator is used to specify nonblocking assignments. </a:t>
            </a:r>
            <a:endParaRPr lang="ru-RU" altLang="en-US" dirty="0"/>
          </a:p>
          <a:p>
            <a:endParaRPr lang="ru-RU"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Group 12">
            <a:extLst>
              <a:ext uri="{FF2B5EF4-FFF2-40B4-BE49-F238E27FC236}">
                <a16:creationId xmlns:a16="http://schemas.microsoft.com/office/drawing/2014/main" id="{CEA95E4A-700E-8160-823E-68F7D0A77D5B}"/>
              </a:ext>
            </a:extLst>
          </p:cNvPr>
          <p:cNvGrpSpPr>
            <a:grpSpLocks/>
          </p:cNvGrpSpPr>
          <p:nvPr/>
        </p:nvGrpSpPr>
        <p:grpSpPr bwMode="auto">
          <a:xfrm>
            <a:off x="1981200" y="1422400"/>
            <a:ext cx="7931150" cy="4368800"/>
            <a:chOff x="533400" y="1600201"/>
            <a:chExt cx="7854950" cy="4308872"/>
          </a:xfrm>
        </p:grpSpPr>
        <p:sp>
          <p:nvSpPr>
            <p:cNvPr id="46082" name="AutoShape 13">
              <a:extLst>
                <a:ext uri="{FF2B5EF4-FFF2-40B4-BE49-F238E27FC236}">
                  <a16:creationId xmlns:a16="http://schemas.microsoft.com/office/drawing/2014/main" id="{215827C7-E98A-42CD-B72D-DFE92BAE1A28}"/>
                </a:ext>
              </a:extLst>
            </p:cNvPr>
            <p:cNvSpPr>
              <a:spLocks noChangeArrowheads="1"/>
            </p:cNvSpPr>
            <p:nvPr/>
          </p:nvSpPr>
          <p:spPr bwMode="auto">
            <a:xfrm>
              <a:off x="610441" y="4712860"/>
              <a:ext cx="3532840" cy="762508"/>
            </a:xfrm>
            <a:prstGeom prst="roundRect">
              <a:avLst>
                <a:gd name="adj" fmla="val 16667"/>
              </a:avLst>
            </a:prstGeom>
            <a:solidFill>
              <a:schemeClr val="accent1">
                <a:lumMod val="40000"/>
                <a:lumOff val="60000"/>
              </a:schemeClr>
            </a:solidFill>
            <a:ln w="9525">
              <a:noFill/>
              <a:round/>
              <a:headEnd/>
              <a:tailEnd/>
            </a:ln>
          </p:spPr>
          <p:txBody>
            <a:bodyPr wrap="none" anchor="ctr"/>
            <a:lstStyle/>
            <a:p>
              <a:pPr eaLnBrk="1" hangingPunct="1">
                <a:defRPr/>
              </a:pPr>
              <a:endParaRPr lang="ru-RU"/>
            </a:p>
          </p:txBody>
        </p:sp>
        <p:sp>
          <p:nvSpPr>
            <p:cNvPr id="46083" name="AutoShape 10">
              <a:extLst>
                <a:ext uri="{FF2B5EF4-FFF2-40B4-BE49-F238E27FC236}">
                  <a16:creationId xmlns:a16="http://schemas.microsoft.com/office/drawing/2014/main" id="{7560A78E-7762-4B49-B93E-1145EB13A728}"/>
                </a:ext>
              </a:extLst>
            </p:cNvPr>
            <p:cNvSpPr>
              <a:spLocks noChangeArrowheads="1"/>
            </p:cNvSpPr>
            <p:nvPr/>
          </p:nvSpPr>
          <p:spPr bwMode="auto">
            <a:xfrm>
              <a:off x="608868" y="4343349"/>
              <a:ext cx="3501396" cy="366379"/>
            </a:xfrm>
            <a:prstGeom prst="roundRect">
              <a:avLst>
                <a:gd name="adj" fmla="val 16667"/>
              </a:avLst>
            </a:prstGeom>
            <a:solidFill>
              <a:schemeClr val="accent1">
                <a:lumMod val="60000"/>
                <a:lumOff val="40000"/>
              </a:schemeClr>
            </a:solidFill>
            <a:ln w="9525">
              <a:noFill/>
              <a:round/>
              <a:headEnd/>
              <a:tailEnd/>
            </a:ln>
          </p:spPr>
          <p:txBody>
            <a:bodyPr wrap="none" anchor="ctr"/>
            <a:lstStyle/>
            <a:p>
              <a:pPr eaLnBrk="1" hangingPunct="1">
                <a:defRPr/>
              </a:pPr>
              <a:endParaRPr lang="ru-RU"/>
            </a:p>
          </p:txBody>
        </p:sp>
        <p:sp>
          <p:nvSpPr>
            <p:cNvPr id="46084" name="AutoShape 7">
              <a:extLst>
                <a:ext uri="{FF2B5EF4-FFF2-40B4-BE49-F238E27FC236}">
                  <a16:creationId xmlns:a16="http://schemas.microsoft.com/office/drawing/2014/main" id="{277A88D0-ED3B-49E7-91E0-61DCB0C6C1C1}"/>
                </a:ext>
              </a:extLst>
            </p:cNvPr>
            <p:cNvSpPr>
              <a:spLocks noChangeArrowheads="1"/>
            </p:cNvSpPr>
            <p:nvPr/>
          </p:nvSpPr>
          <p:spPr bwMode="auto">
            <a:xfrm>
              <a:off x="586856" y="3123651"/>
              <a:ext cx="3528124" cy="1219698"/>
            </a:xfrm>
            <a:prstGeom prst="roundRect">
              <a:avLst>
                <a:gd name="adj" fmla="val 16667"/>
              </a:avLst>
            </a:prstGeom>
            <a:solidFill>
              <a:schemeClr val="accent1">
                <a:lumMod val="40000"/>
                <a:lumOff val="60000"/>
              </a:schemeClr>
            </a:solidFill>
            <a:ln w="9525">
              <a:noFill/>
              <a:round/>
              <a:headEnd/>
              <a:tailEnd/>
            </a:ln>
          </p:spPr>
          <p:txBody>
            <a:bodyPr wrap="none" anchor="ctr"/>
            <a:lstStyle/>
            <a:p>
              <a:pPr eaLnBrk="1" hangingPunct="1">
                <a:defRPr/>
              </a:pPr>
              <a:endParaRPr lang="ru-RU"/>
            </a:p>
          </p:txBody>
        </p:sp>
        <p:sp>
          <p:nvSpPr>
            <p:cNvPr id="66567" name="Text Box 8">
              <a:extLst>
                <a:ext uri="{FF2B5EF4-FFF2-40B4-BE49-F238E27FC236}">
                  <a16:creationId xmlns:a16="http://schemas.microsoft.com/office/drawing/2014/main" id="{F4D83149-18E3-BA92-E800-AA78EF7B4198}"/>
                </a:ext>
              </a:extLst>
            </p:cNvPr>
            <p:cNvSpPr txBox="1">
              <a:spLocks noChangeArrowheads="1"/>
            </p:cNvSpPr>
            <p:nvPr/>
          </p:nvSpPr>
          <p:spPr bwMode="auto">
            <a:xfrm>
              <a:off x="5437188" y="3116263"/>
              <a:ext cx="2951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Executed at time=0</a:t>
              </a:r>
              <a:endParaRPr lang="ru-RU" altLang="en-US"/>
            </a:p>
          </p:txBody>
        </p:sp>
        <p:sp>
          <p:nvSpPr>
            <p:cNvPr id="66568" name="Line 9">
              <a:extLst>
                <a:ext uri="{FF2B5EF4-FFF2-40B4-BE49-F238E27FC236}">
                  <a16:creationId xmlns:a16="http://schemas.microsoft.com/office/drawing/2014/main" id="{687F6765-4118-5EB5-64E1-A70D4430E5D3}"/>
                </a:ext>
              </a:extLst>
            </p:cNvPr>
            <p:cNvSpPr>
              <a:spLocks noChangeShapeType="1"/>
            </p:cNvSpPr>
            <p:nvPr/>
          </p:nvSpPr>
          <p:spPr bwMode="auto">
            <a:xfrm flipV="1">
              <a:off x="4140200" y="3332163"/>
              <a:ext cx="1152525"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569" name="Text Box 11">
              <a:extLst>
                <a:ext uri="{FF2B5EF4-FFF2-40B4-BE49-F238E27FC236}">
                  <a16:creationId xmlns:a16="http://schemas.microsoft.com/office/drawing/2014/main" id="{3D9B28DA-5DD9-5C6C-EB6D-5868019B132C}"/>
                </a:ext>
              </a:extLst>
            </p:cNvPr>
            <p:cNvSpPr txBox="1">
              <a:spLocks noChangeArrowheads="1"/>
            </p:cNvSpPr>
            <p:nvPr/>
          </p:nvSpPr>
          <p:spPr bwMode="auto">
            <a:xfrm>
              <a:off x="5365750" y="4411663"/>
              <a:ext cx="2951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Executed at time=20</a:t>
              </a:r>
              <a:endParaRPr lang="ru-RU" altLang="en-US"/>
            </a:p>
          </p:txBody>
        </p:sp>
        <p:sp>
          <p:nvSpPr>
            <p:cNvPr id="66570" name="Line 12">
              <a:extLst>
                <a:ext uri="{FF2B5EF4-FFF2-40B4-BE49-F238E27FC236}">
                  <a16:creationId xmlns:a16="http://schemas.microsoft.com/office/drawing/2014/main" id="{A3D1AA94-8C2A-14EF-3111-18229B6267D8}"/>
                </a:ext>
              </a:extLst>
            </p:cNvPr>
            <p:cNvSpPr>
              <a:spLocks noChangeShapeType="1"/>
            </p:cNvSpPr>
            <p:nvPr/>
          </p:nvSpPr>
          <p:spPr bwMode="auto">
            <a:xfrm>
              <a:off x="4140200" y="4627563"/>
              <a:ext cx="11160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571" name="Line 14">
              <a:extLst>
                <a:ext uri="{FF2B5EF4-FFF2-40B4-BE49-F238E27FC236}">
                  <a16:creationId xmlns:a16="http://schemas.microsoft.com/office/drawing/2014/main" id="{75F1796B-7D58-F2FF-6A54-7D2845B73D80}"/>
                </a:ext>
              </a:extLst>
            </p:cNvPr>
            <p:cNvSpPr>
              <a:spLocks noChangeShapeType="1"/>
            </p:cNvSpPr>
            <p:nvPr/>
          </p:nvSpPr>
          <p:spPr bwMode="auto">
            <a:xfrm>
              <a:off x="4155859" y="5232730"/>
              <a:ext cx="1208303" cy="11555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572" name="Text Box 15">
              <a:extLst>
                <a:ext uri="{FF2B5EF4-FFF2-40B4-BE49-F238E27FC236}">
                  <a16:creationId xmlns:a16="http://schemas.microsoft.com/office/drawing/2014/main" id="{211423A1-5E55-2CDD-19C6-3790D4DEFD15}"/>
                </a:ext>
              </a:extLst>
            </p:cNvPr>
            <p:cNvSpPr txBox="1">
              <a:spLocks noChangeArrowheads="1"/>
            </p:cNvSpPr>
            <p:nvPr/>
          </p:nvSpPr>
          <p:spPr bwMode="auto">
            <a:xfrm>
              <a:off x="5364163" y="5132388"/>
              <a:ext cx="2951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Executed at time=35</a:t>
              </a:r>
              <a:endParaRPr lang="ru-RU" altLang="en-US"/>
            </a:p>
          </p:txBody>
        </p:sp>
        <p:sp>
          <p:nvSpPr>
            <p:cNvPr id="66573" name="Text Box 5">
              <a:extLst>
                <a:ext uri="{FF2B5EF4-FFF2-40B4-BE49-F238E27FC236}">
                  <a16:creationId xmlns:a16="http://schemas.microsoft.com/office/drawing/2014/main" id="{A20D6EF4-0927-90F0-504C-83F657F2177E}"/>
                </a:ext>
              </a:extLst>
            </p:cNvPr>
            <p:cNvSpPr txBox="1">
              <a:spLocks noChangeArrowheads="1"/>
            </p:cNvSpPr>
            <p:nvPr/>
          </p:nvSpPr>
          <p:spPr bwMode="auto">
            <a:xfrm>
              <a:off x="533400" y="1600201"/>
              <a:ext cx="4284663" cy="4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Aft>
                  <a:spcPct val="20000"/>
                </a:spcAft>
              </a:pPr>
              <a:r>
                <a:rPr lang="ru-RU" altLang="en-US">
                  <a:solidFill>
                    <a:srgbClr val="0000FF"/>
                  </a:solidFill>
                </a:rPr>
                <a:t>reg</a:t>
              </a:r>
              <a:r>
                <a:rPr lang="ru-RU" altLang="en-US">
                  <a:solidFill>
                    <a:srgbClr val="0066FF"/>
                  </a:solidFill>
                </a:rPr>
                <a:t> </a:t>
              </a:r>
              <a:r>
                <a:rPr lang="en-US" altLang="en-US"/>
                <a:t>a</a:t>
              </a:r>
              <a:r>
                <a:rPr lang="ru-RU" altLang="en-US"/>
                <a:t>, </a:t>
              </a:r>
              <a:r>
                <a:rPr lang="en-US" altLang="en-US"/>
                <a:t>b</a:t>
              </a:r>
              <a:r>
                <a:rPr lang="ru-RU" altLang="en-US"/>
                <a:t>, </a:t>
              </a:r>
              <a:r>
                <a:rPr lang="en-US" altLang="en-US"/>
                <a:t>c,d</a:t>
              </a:r>
              <a:r>
                <a:rPr lang="ru-RU" altLang="en-US"/>
                <a:t>;</a:t>
              </a:r>
              <a:endParaRPr lang="en-US" altLang="en-US"/>
            </a:p>
            <a:p>
              <a:pPr eaLnBrk="1" hangingPunct="1">
                <a:spcAft>
                  <a:spcPct val="20000"/>
                </a:spcAft>
              </a:pPr>
              <a:r>
                <a:rPr lang="ru-RU" altLang="en-US">
                  <a:solidFill>
                    <a:srgbClr val="0000FF"/>
                  </a:solidFill>
                </a:rPr>
                <a:t>reg</a:t>
              </a:r>
              <a:r>
                <a:rPr lang="ru-RU" altLang="en-US">
                  <a:solidFill>
                    <a:srgbClr val="0066FF"/>
                  </a:solidFill>
                </a:rPr>
                <a:t> </a:t>
              </a:r>
              <a:r>
                <a:rPr lang="ru-RU" altLang="en-US"/>
                <a:t>[15:0] reg_</a:t>
              </a:r>
              <a:r>
                <a:rPr lang="en-US" altLang="en-US"/>
                <a:t>1</a:t>
              </a:r>
              <a:r>
                <a:rPr lang="ru-RU" altLang="en-US"/>
                <a:t>, reg_</a:t>
              </a:r>
              <a:r>
                <a:rPr lang="en-US" altLang="en-US"/>
                <a:t>2</a:t>
              </a:r>
              <a:r>
                <a:rPr lang="ru-RU" altLang="en-US"/>
                <a:t>;</a:t>
              </a:r>
              <a:endParaRPr lang="en-US" altLang="en-US"/>
            </a:p>
            <a:p>
              <a:pPr eaLnBrk="1" hangingPunct="1">
                <a:spcAft>
                  <a:spcPct val="20000"/>
                </a:spcAft>
              </a:pPr>
              <a:r>
                <a:rPr lang="ru-RU" altLang="en-US">
                  <a:solidFill>
                    <a:srgbClr val="0000FF"/>
                  </a:solidFill>
                </a:rPr>
                <a:t>integer </a:t>
              </a:r>
              <a:r>
                <a:rPr lang="ru-RU" altLang="en-US"/>
                <a:t>count; </a:t>
              </a:r>
              <a:endParaRPr lang="en-US" altLang="en-US"/>
            </a:p>
            <a:p>
              <a:pPr eaLnBrk="1" hangingPunct="1">
                <a:spcAft>
                  <a:spcPct val="20000"/>
                </a:spcAft>
              </a:pPr>
              <a:r>
                <a:rPr lang="ru-RU" altLang="en-US">
                  <a:solidFill>
                    <a:srgbClr val="0000FF"/>
                  </a:solidFill>
                </a:rPr>
                <a:t>initial begin</a:t>
              </a:r>
              <a:endParaRPr lang="en-US" altLang="en-US">
                <a:solidFill>
                  <a:srgbClr val="0000FF"/>
                </a:solidFill>
              </a:endParaRPr>
            </a:p>
            <a:p>
              <a:pPr eaLnBrk="1" hangingPunct="1"/>
              <a:r>
                <a:rPr lang="en-US" altLang="en-US"/>
                <a:t>a</a:t>
              </a:r>
              <a:r>
                <a:rPr lang="ru-RU" altLang="en-US"/>
                <a:t> = 0; </a:t>
              </a:r>
              <a:r>
                <a:rPr lang="en-US" altLang="en-US"/>
                <a:t>b</a:t>
              </a:r>
              <a:r>
                <a:rPr lang="ru-RU" altLang="en-US"/>
                <a:t> = 1; </a:t>
              </a:r>
              <a:r>
                <a:rPr lang="en-US" altLang="en-US"/>
                <a:t>c</a:t>
              </a:r>
              <a:r>
                <a:rPr lang="ru-RU" altLang="en-US"/>
                <a:t> = 1; </a:t>
              </a:r>
              <a:r>
                <a:rPr lang="en-US" altLang="en-US"/>
                <a:t>d=0;</a:t>
              </a:r>
            </a:p>
            <a:p>
              <a:pPr eaLnBrk="1" hangingPunct="1"/>
              <a:r>
                <a:rPr lang="ru-RU" altLang="en-US"/>
                <a:t>count = 0; </a:t>
              </a:r>
              <a:r>
                <a:rPr lang="en-US" altLang="en-US"/>
                <a:t>    </a:t>
              </a:r>
            </a:p>
            <a:p>
              <a:pPr eaLnBrk="1" hangingPunct="1"/>
              <a:r>
                <a:rPr lang="ru-RU" altLang="en-US"/>
                <a:t>reg_</a:t>
              </a:r>
              <a:r>
                <a:rPr lang="en-US" altLang="en-US"/>
                <a:t>1</a:t>
              </a:r>
              <a:r>
                <a:rPr lang="ru-RU" altLang="en-US"/>
                <a:t> = 16'b0;</a:t>
              </a:r>
              <a:endParaRPr lang="en-US" altLang="en-US"/>
            </a:p>
            <a:p>
              <a:pPr eaLnBrk="1" hangingPunct="1"/>
              <a:r>
                <a:rPr lang="ru-RU" altLang="en-US"/>
                <a:t>reg_</a:t>
              </a:r>
              <a:r>
                <a:rPr lang="en-US" altLang="en-US"/>
                <a:t>2</a:t>
              </a:r>
              <a:r>
                <a:rPr lang="ru-RU" altLang="en-US"/>
                <a:t> = reg_</a:t>
              </a:r>
              <a:r>
                <a:rPr lang="en-US" altLang="en-US"/>
                <a:t>1</a:t>
              </a:r>
              <a:r>
                <a:rPr lang="ru-RU" altLang="en-US"/>
                <a:t>; </a:t>
              </a:r>
              <a:endParaRPr lang="en-US" altLang="en-US"/>
            </a:p>
            <a:p>
              <a:pPr eaLnBrk="1" hangingPunct="1">
                <a:spcBef>
                  <a:spcPct val="30000"/>
                </a:spcBef>
              </a:pPr>
              <a:r>
                <a:rPr lang="ru-RU" altLang="en-US"/>
                <a:t>#</a:t>
              </a:r>
              <a:r>
                <a:rPr lang="en-US" altLang="en-US"/>
                <a:t>20</a:t>
              </a:r>
              <a:r>
                <a:rPr lang="ru-RU" altLang="en-US"/>
                <a:t> reg_</a:t>
              </a:r>
              <a:r>
                <a:rPr lang="en-US" altLang="en-US"/>
                <a:t>1</a:t>
              </a:r>
              <a:r>
                <a:rPr lang="ru-RU" altLang="en-US"/>
                <a:t>[2] = 1'b1; </a:t>
              </a:r>
              <a:endParaRPr lang="en-US" altLang="en-US"/>
            </a:p>
            <a:p>
              <a:pPr eaLnBrk="1" hangingPunct="1">
                <a:spcBef>
                  <a:spcPct val="20000"/>
                </a:spcBef>
                <a:spcAft>
                  <a:spcPct val="20000"/>
                </a:spcAft>
              </a:pPr>
              <a:r>
                <a:rPr lang="ru-RU" altLang="en-US"/>
                <a:t>#1</a:t>
              </a:r>
              <a:r>
                <a:rPr lang="en-US" altLang="en-US"/>
                <a:t>5</a:t>
              </a:r>
              <a:r>
                <a:rPr lang="ru-RU" altLang="en-US"/>
                <a:t> reg_</a:t>
              </a:r>
              <a:r>
                <a:rPr lang="en-US" altLang="en-US"/>
                <a:t>2[</a:t>
              </a:r>
              <a:r>
                <a:rPr lang="ru-RU" altLang="en-US"/>
                <a:t>15:1</a:t>
              </a:r>
              <a:r>
                <a:rPr lang="en-US" altLang="en-US"/>
                <a:t>2</a:t>
              </a:r>
              <a:r>
                <a:rPr lang="ru-RU" altLang="en-US"/>
                <a:t>] = {</a:t>
              </a:r>
              <a:r>
                <a:rPr lang="en-US" altLang="en-US"/>
                <a:t>a</a:t>
              </a:r>
              <a:r>
                <a:rPr lang="ru-RU" altLang="en-US"/>
                <a:t>, </a:t>
              </a:r>
              <a:r>
                <a:rPr lang="en-US" altLang="en-US"/>
                <a:t>b</a:t>
              </a:r>
              <a:r>
                <a:rPr lang="ru-RU" altLang="en-US"/>
                <a:t>, </a:t>
              </a:r>
              <a:r>
                <a:rPr lang="en-US" altLang="en-US"/>
                <a:t>c,d</a:t>
              </a:r>
              <a:r>
                <a:rPr lang="ru-RU" altLang="en-US"/>
                <a:t>} </a:t>
              </a:r>
              <a:endParaRPr lang="en-US" altLang="en-US"/>
            </a:p>
            <a:p>
              <a:pPr eaLnBrk="1" hangingPunct="1">
                <a:spcAft>
                  <a:spcPct val="20000"/>
                </a:spcAft>
              </a:pPr>
              <a:r>
                <a:rPr lang="ru-RU" altLang="en-US"/>
                <a:t>count = count + 1; </a:t>
              </a:r>
              <a:endParaRPr lang="en-US" altLang="en-US"/>
            </a:p>
            <a:p>
              <a:pPr eaLnBrk="1" hangingPunct="1">
                <a:spcAft>
                  <a:spcPct val="20000"/>
                </a:spcAft>
              </a:pPr>
              <a:r>
                <a:rPr lang="ru-RU" altLang="en-US"/>
                <a:t> </a:t>
              </a:r>
              <a:r>
                <a:rPr lang="ru-RU" altLang="en-US">
                  <a:solidFill>
                    <a:srgbClr val="0000FF"/>
                  </a:solidFill>
                </a:rPr>
                <a:t>end </a:t>
              </a:r>
            </a:p>
          </p:txBody>
        </p:sp>
      </p:grpSp>
      <p:sp>
        <p:nvSpPr>
          <p:cNvPr id="3" name="Title 2">
            <a:extLst>
              <a:ext uri="{FF2B5EF4-FFF2-40B4-BE49-F238E27FC236}">
                <a16:creationId xmlns:a16="http://schemas.microsoft.com/office/drawing/2014/main" id="{82A54D36-2795-959B-8527-D81954462BA9}"/>
              </a:ext>
            </a:extLst>
          </p:cNvPr>
          <p:cNvSpPr>
            <a:spLocks noGrp="1"/>
          </p:cNvSpPr>
          <p:nvPr>
            <p:ph type="title"/>
          </p:nvPr>
        </p:nvSpPr>
        <p:spPr/>
        <p:txBody>
          <a:bodyPr>
            <a:normAutofit/>
          </a:bodyPr>
          <a:lstStyle/>
          <a:p>
            <a:r>
              <a:rPr lang="en-US" dirty="0"/>
              <a:t>Blocking Assignment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4">
            <a:extLst>
              <a:ext uri="{FF2B5EF4-FFF2-40B4-BE49-F238E27FC236}">
                <a16:creationId xmlns:a16="http://schemas.microsoft.com/office/drawing/2014/main" id="{7FE3B9A6-3C8F-75E5-A33B-2B2292B6618D}"/>
              </a:ext>
            </a:extLst>
          </p:cNvPr>
          <p:cNvSpPr>
            <a:spLocks noGrp="1" noChangeArrowheads="1"/>
          </p:cNvSpPr>
          <p:nvPr>
            <p:ph type="title"/>
          </p:nvPr>
        </p:nvSpPr>
        <p:spPr/>
        <p:txBody>
          <a:bodyPr>
            <a:normAutofit/>
          </a:bodyPr>
          <a:lstStyle/>
          <a:p>
            <a:r>
              <a:rPr lang="en-US" altLang="en-US" dirty="0"/>
              <a:t>Nonblocking Assignment</a:t>
            </a:r>
            <a:endParaRPr lang="ru-RU" altLang="en-US" dirty="0"/>
          </a:p>
        </p:txBody>
      </p:sp>
      <p:sp>
        <p:nvSpPr>
          <p:cNvPr id="67587" name="Content Placeholder 6">
            <a:extLst>
              <a:ext uri="{FF2B5EF4-FFF2-40B4-BE49-F238E27FC236}">
                <a16:creationId xmlns:a16="http://schemas.microsoft.com/office/drawing/2014/main" id="{17BEAC1D-223C-2B24-EA7B-CC04C5EC6085}"/>
              </a:ext>
            </a:extLst>
          </p:cNvPr>
          <p:cNvSpPr>
            <a:spLocks noGrp="1" noChangeArrowheads="1"/>
          </p:cNvSpPr>
          <p:nvPr>
            <p:ph type="body" sz="quarter" idx="10"/>
          </p:nvPr>
        </p:nvSpPr>
        <p:spPr/>
        <p:txBody>
          <a:bodyPr/>
          <a:lstStyle/>
          <a:p>
            <a:r>
              <a:rPr lang="ru-RU" altLang="en-US"/>
              <a:t>If blocking assignments are not properly ordered, a race condition can occur</a:t>
            </a:r>
            <a:r>
              <a:rPr lang="en-US" altLang="en-US"/>
              <a:t>:</a:t>
            </a:r>
          </a:p>
          <a:p>
            <a:r>
              <a:rPr lang="en-US" altLang="en-US"/>
              <a:t> W</a:t>
            </a:r>
            <a:r>
              <a:rPr lang="ru-RU" altLang="en-US"/>
              <a:t>hen the RHS</a:t>
            </a:r>
            <a:r>
              <a:rPr lang="en-US" altLang="en-US"/>
              <a:t> (right hand side)</a:t>
            </a:r>
            <a:r>
              <a:rPr lang="ru-RU" altLang="en-US"/>
              <a:t> variable of one assignment in one</a:t>
            </a:r>
            <a:r>
              <a:rPr lang="en-US" altLang="en-US"/>
              <a:t> </a:t>
            </a:r>
            <a:r>
              <a:rPr lang="ru-RU" altLang="en-US"/>
              <a:t>procedural block is also the LHS </a:t>
            </a:r>
            <a:r>
              <a:rPr lang="en-US" altLang="en-US"/>
              <a:t>(left hand side) </a:t>
            </a:r>
            <a:r>
              <a:rPr lang="ru-RU" altLang="en-US"/>
              <a:t>variable of another assignment in another procedural block and</a:t>
            </a:r>
            <a:r>
              <a:rPr lang="en-US" altLang="en-US"/>
              <a:t> </a:t>
            </a:r>
            <a:r>
              <a:rPr lang="ru-RU" altLang="en-US"/>
              <a:t>both equations are scheduled to execute in the same simulation time step</a:t>
            </a:r>
            <a:r>
              <a:rPr lang="en-US" altLang="en-US"/>
              <a:t> (e.g. the same clock edge). </a:t>
            </a:r>
          </a:p>
          <a:p>
            <a:r>
              <a:rPr lang="en-US" altLang="en-US"/>
              <a:t>Nonblocking assignment is not permitted in continuous assignment.</a:t>
            </a:r>
            <a:endParaRPr lang="ru-RU" altLang="en-US"/>
          </a:p>
          <a:p>
            <a:endParaRPr lang="ru-RU" altLang="en-US"/>
          </a:p>
          <a:p>
            <a:endParaRPr lang="ru-RU"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5">
            <a:extLst>
              <a:ext uri="{FF2B5EF4-FFF2-40B4-BE49-F238E27FC236}">
                <a16:creationId xmlns:a16="http://schemas.microsoft.com/office/drawing/2014/main" id="{80818863-92C9-46D0-EBDE-CA014D9FD6A8}"/>
              </a:ext>
            </a:extLst>
          </p:cNvPr>
          <p:cNvSpPr txBox="1">
            <a:spLocks noChangeArrowheads="1"/>
          </p:cNvSpPr>
          <p:nvPr/>
        </p:nvSpPr>
        <p:spPr bwMode="auto">
          <a:xfrm>
            <a:off x="1952626" y="1455739"/>
            <a:ext cx="8569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It is necessary to form input sequence for signal d</a:t>
            </a:r>
            <a:endParaRPr lang="ru-RU" altLang="en-US"/>
          </a:p>
        </p:txBody>
      </p:sp>
      <p:sp>
        <p:nvSpPr>
          <p:cNvPr id="68611" name="Text Box 28">
            <a:extLst>
              <a:ext uri="{FF2B5EF4-FFF2-40B4-BE49-F238E27FC236}">
                <a16:creationId xmlns:a16="http://schemas.microsoft.com/office/drawing/2014/main" id="{2F7CE0F2-169D-2EC5-0019-D7B4156DD29A}"/>
              </a:ext>
            </a:extLst>
          </p:cNvPr>
          <p:cNvSpPr txBox="1">
            <a:spLocks noChangeArrowheads="1"/>
          </p:cNvSpPr>
          <p:nvPr/>
        </p:nvSpPr>
        <p:spPr bwMode="auto">
          <a:xfrm>
            <a:off x="2085976" y="3327400"/>
            <a:ext cx="4968875"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 blocking assignment</a:t>
            </a:r>
          </a:p>
          <a:p>
            <a:pPr eaLnBrk="1" hangingPunct="1"/>
            <a:r>
              <a:rPr lang="en-US" altLang="en-US" sz="1800">
                <a:solidFill>
                  <a:srgbClr val="0000FF"/>
                </a:solidFill>
              </a:rPr>
              <a:t>initial</a:t>
            </a:r>
          </a:p>
          <a:p>
            <a:pPr eaLnBrk="1" hangingPunct="1"/>
            <a:r>
              <a:rPr lang="en-US" altLang="en-US" sz="1800">
                <a:solidFill>
                  <a:srgbClr val="0000FF"/>
                </a:solidFill>
              </a:rPr>
              <a:t>begin</a:t>
            </a:r>
          </a:p>
          <a:p>
            <a:pPr eaLnBrk="1" hangingPunct="1"/>
            <a:r>
              <a:rPr lang="en-US" altLang="en-US" sz="1800"/>
              <a:t>    d = 1’b0;</a:t>
            </a:r>
          </a:p>
          <a:p>
            <a:pPr eaLnBrk="1" hangingPunct="1"/>
            <a:r>
              <a:rPr lang="en-US" altLang="en-US" sz="1800"/>
              <a:t>    #5 d=1’b1;</a:t>
            </a:r>
          </a:p>
          <a:p>
            <a:pPr eaLnBrk="1" hangingPunct="1"/>
            <a:r>
              <a:rPr lang="en-US" altLang="en-US" sz="1800"/>
              <a:t>    #15 d=1’b0;</a:t>
            </a:r>
          </a:p>
          <a:p>
            <a:pPr eaLnBrk="1" hangingPunct="1"/>
            <a:r>
              <a:rPr lang="en-US" altLang="en-US" sz="1800"/>
              <a:t>    #20 d=1’b1;</a:t>
            </a:r>
          </a:p>
          <a:p>
            <a:pPr eaLnBrk="1" hangingPunct="1"/>
            <a:r>
              <a:rPr lang="en-US" altLang="en-US" sz="1800"/>
              <a:t>    #35 d=1’b0;</a:t>
            </a:r>
          </a:p>
          <a:p>
            <a:pPr eaLnBrk="1" hangingPunct="1"/>
            <a:r>
              <a:rPr lang="en-US" altLang="en-US" sz="1800">
                <a:solidFill>
                  <a:srgbClr val="0000FF"/>
                </a:solidFill>
              </a:rPr>
              <a:t>end</a:t>
            </a:r>
            <a:endParaRPr lang="ru-RU" altLang="en-US" sz="1800">
              <a:solidFill>
                <a:srgbClr val="0000FF"/>
              </a:solidFill>
            </a:endParaRPr>
          </a:p>
        </p:txBody>
      </p:sp>
      <p:grpSp>
        <p:nvGrpSpPr>
          <p:cNvPr id="68613" name="Group 24">
            <a:extLst>
              <a:ext uri="{FF2B5EF4-FFF2-40B4-BE49-F238E27FC236}">
                <a16:creationId xmlns:a16="http://schemas.microsoft.com/office/drawing/2014/main" id="{9F0BB852-9BA7-3F64-E160-78D2756FCB53}"/>
              </a:ext>
            </a:extLst>
          </p:cNvPr>
          <p:cNvGrpSpPr>
            <a:grpSpLocks/>
          </p:cNvGrpSpPr>
          <p:nvPr/>
        </p:nvGrpSpPr>
        <p:grpSpPr bwMode="auto">
          <a:xfrm>
            <a:off x="2201864" y="1828800"/>
            <a:ext cx="6308725" cy="1371600"/>
            <a:chOff x="677875" y="1828800"/>
            <a:chExt cx="7498080" cy="1371600"/>
          </a:xfrm>
        </p:grpSpPr>
        <p:sp>
          <p:nvSpPr>
            <p:cNvPr id="24" name="Rounded Rectangle 23">
              <a:extLst>
                <a:ext uri="{FF2B5EF4-FFF2-40B4-BE49-F238E27FC236}">
                  <a16:creationId xmlns:a16="http://schemas.microsoft.com/office/drawing/2014/main" id="{570F52F6-B9BC-45E3-8DAC-6DD38569981A}"/>
                </a:ext>
              </a:extLst>
            </p:cNvPr>
            <p:cNvSpPr/>
            <p:nvPr/>
          </p:nvSpPr>
          <p:spPr bwMode="auto">
            <a:xfrm>
              <a:off x="677875" y="1828800"/>
              <a:ext cx="7498080" cy="1371600"/>
            </a:xfrm>
            <a:prstGeom prst="round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grpSp>
          <p:nvGrpSpPr>
            <p:cNvPr id="68615" name="Group 21">
              <a:extLst>
                <a:ext uri="{FF2B5EF4-FFF2-40B4-BE49-F238E27FC236}">
                  <a16:creationId xmlns:a16="http://schemas.microsoft.com/office/drawing/2014/main" id="{00C8519A-3EF1-81F3-0BCF-1F29795DF980}"/>
                </a:ext>
              </a:extLst>
            </p:cNvPr>
            <p:cNvGrpSpPr>
              <a:grpSpLocks/>
            </p:cNvGrpSpPr>
            <p:nvPr/>
          </p:nvGrpSpPr>
          <p:grpSpPr bwMode="auto">
            <a:xfrm>
              <a:off x="735276" y="1985962"/>
              <a:ext cx="7391399" cy="1164073"/>
              <a:chOff x="400050" y="1985963"/>
              <a:chExt cx="7791450" cy="1386042"/>
            </a:xfrm>
          </p:grpSpPr>
          <p:sp>
            <p:nvSpPr>
              <p:cNvPr id="68616" name="Line 6">
                <a:extLst>
                  <a:ext uri="{FF2B5EF4-FFF2-40B4-BE49-F238E27FC236}">
                    <a16:creationId xmlns:a16="http://schemas.microsoft.com/office/drawing/2014/main" id="{6D49ABD4-47E8-B54C-DAE6-87334B1F5000}"/>
                  </a:ext>
                </a:extLst>
              </p:cNvPr>
              <p:cNvSpPr>
                <a:spLocks noChangeShapeType="1"/>
              </p:cNvSpPr>
              <p:nvPr/>
            </p:nvSpPr>
            <p:spPr bwMode="auto">
              <a:xfrm>
                <a:off x="752475" y="1985963"/>
                <a:ext cx="0" cy="790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7" name="Line 7">
                <a:extLst>
                  <a:ext uri="{FF2B5EF4-FFF2-40B4-BE49-F238E27FC236}">
                    <a16:creationId xmlns:a16="http://schemas.microsoft.com/office/drawing/2014/main" id="{46F3C5CD-3834-83A5-BCAF-3FC85366B55D}"/>
                  </a:ext>
                </a:extLst>
              </p:cNvPr>
              <p:cNvSpPr>
                <a:spLocks noChangeShapeType="1"/>
              </p:cNvSpPr>
              <p:nvPr/>
            </p:nvSpPr>
            <p:spPr bwMode="auto">
              <a:xfrm>
                <a:off x="752475" y="2776538"/>
                <a:ext cx="71294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8" name="Line 8">
                <a:extLst>
                  <a:ext uri="{FF2B5EF4-FFF2-40B4-BE49-F238E27FC236}">
                    <a16:creationId xmlns:a16="http://schemas.microsoft.com/office/drawing/2014/main" id="{029D71FB-35FC-C598-2292-2C1B18DA012B}"/>
                  </a:ext>
                </a:extLst>
              </p:cNvPr>
              <p:cNvSpPr>
                <a:spLocks noChangeShapeType="1"/>
              </p:cNvSpPr>
              <p:nvPr/>
            </p:nvSpPr>
            <p:spPr bwMode="auto">
              <a:xfrm>
                <a:off x="754063" y="2776538"/>
                <a:ext cx="503237" cy="0"/>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9" name="Line 9">
                <a:extLst>
                  <a:ext uri="{FF2B5EF4-FFF2-40B4-BE49-F238E27FC236}">
                    <a16:creationId xmlns:a16="http://schemas.microsoft.com/office/drawing/2014/main" id="{BC4D92F2-D6FA-9E3D-BD7B-E1418D2C87D2}"/>
                  </a:ext>
                </a:extLst>
              </p:cNvPr>
              <p:cNvSpPr>
                <a:spLocks noChangeShapeType="1"/>
              </p:cNvSpPr>
              <p:nvPr/>
            </p:nvSpPr>
            <p:spPr bwMode="auto">
              <a:xfrm flipV="1">
                <a:off x="1257300" y="2201863"/>
                <a:ext cx="0" cy="574675"/>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0" name="Line 10">
                <a:extLst>
                  <a:ext uri="{FF2B5EF4-FFF2-40B4-BE49-F238E27FC236}">
                    <a16:creationId xmlns:a16="http://schemas.microsoft.com/office/drawing/2014/main" id="{8E72EBEF-0747-4171-0B62-46ECA409EB86}"/>
                  </a:ext>
                </a:extLst>
              </p:cNvPr>
              <p:cNvSpPr>
                <a:spLocks noChangeShapeType="1"/>
              </p:cNvSpPr>
              <p:nvPr/>
            </p:nvSpPr>
            <p:spPr bwMode="auto">
              <a:xfrm>
                <a:off x="1243013" y="2201863"/>
                <a:ext cx="1871662"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1" name="Line 17">
                <a:extLst>
                  <a:ext uri="{FF2B5EF4-FFF2-40B4-BE49-F238E27FC236}">
                    <a16:creationId xmlns:a16="http://schemas.microsoft.com/office/drawing/2014/main" id="{D02ACF68-38E0-5C9A-DF29-0B3274605419}"/>
                  </a:ext>
                </a:extLst>
              </p:cNvPr>
              <p:cNvSpPr>
                <a:spLocks noChangeShapeType="1"/>
              </p:cNvSpPr>
              <p:nvPr/>
            </p:nvSpPr>
            <p:spPr bwMode="auto">
              <a:xfrm flipV="1">
                <a:off x="3111500" y="2201863"/>
                <a:ext cx="0" cy="5746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2" name="Line 18">
                <a:extLst>
                  <a:ext uri="{FF2B5EF4-FFF2-40B4-BE49-F238E27FC236}">
                    <a16:creationId xmlns:a16="http://schemas.microsoft.com/office/drawing/2014/main" id="{DEA4823A-5337-85B1-0F6B-4EA609174653}"/>
                  </a:ext>
                </a:extLst>
              </p:cNvPr>
              <p:cNvSpPr>
                <a:spLocks noChangeShapeType="1"/>
              </p:cNvSpPr>
              <p:nvPr/>
            </p:nvSpPr>
            <p:spPr bwMode="auto">
              <a:xfrm>
                <a:off x="3121025" y="2762250"/>
                <a:ext cx="2159001" cy="0"/>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3" name="Text Box 19">
                <a:extLst>
                  <a:ext uri="{FF2B5EF4-FFF2-40B4-BE49-F238E27FC236}">
                    <a16:creationId xmlns:a16="http://schemas.microsoft.com/office/drawing/2014/main" id="{0190BCB9-8EE2-6F48-2E37-3FDFD082BD7D}"/>
                  </a:ext>
                </a:extLst>
              </p:cNvPr>
              <p:cNvSpPr txBox="1">
                <a:spLocks noChangeArrowheads="1"/>
              </p:cNvSpPr>
              <p:nvPr/>
            </p:nvSpPr>
            <p:spPr bwMode="auto">
              <a:xfrm>
                <a:off x="608014" y="2878138"/>
                <a:ext cx="433387" cy="47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68624" name="Text Box 20">
                <a:extLst>
                  <a:ext uri="{FF2B5EF4-FFF2-40B4-BE49-F238E27FC236}">
                    <a16:creationId xmlns:a16="http://schemas.microsoft.com/office/drawing/2014/main" id="{00D066B2-52F3-C0E1-A96E-610283E895A5}"/>
                  </a:ext>
                </a:extLst>
              </p:cNvPr>
              <p:cNvSpPr txBox="1">
                <a:spLocks noChangeArrowheads="1"/>
              </p:cNvSpPr>
              <p:nvPr/>
            </p:nvSpPr>
            <p:spPr bwMode="auto">
              <a:xfrm>
                <a:off x="1184275" y="2892425"/>
                <a:ext cx="433388" cy="47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5</a:t>
                </a:r>
                <a:endParaRPr lang="ru-RU" altLang="en-US"/>
              </a:p>
            </p:txBody>
          </p:sp>
          <p:sp>
            <p:nvSpPr>
              <p:cNvPr id="68625" name="Text Box 21">
                <a:extLst>
                  <a:ext uri="{FF2B5EF4-FFF2-40B4-BE49-F238E27FC236}">
                    <a16:creationId xmlns:a16="http://schemas.microsoft.com/office/drawing/2014/main" id="{D5E52A86-7319-CE29-A311-A85A1B4966D0}"/>
                  </a:ext>
                </a:extLst>
              </p:cNvPr>
              <p:cNvSpPr txBox="1">
                <a:spLocks noChangeArrowheads="1"/>
              </p:cNvSpPr>
              <p:nvPr/>
            </p:nvSpPr>
            <p:spPr bwMode="auto">
              <a:xfrm>
                <a:off x="2913063" y="2892425"/>
                <a:ext cx="647700" cy="47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20</a:t>
                </a:r>
                <a:endParaRPr lang="ru-RU" altLang="en-US"/>
              </a:p>
            </p:txBody>
          </p:sp>
          <p:sp>
            <p:nvSpPr>
              <p:cNvPr id="68626" name="Text Box 22">
                <a:extLst>
                  <a:ext uri="{FF2B5EF4-FFF2-40B4-BE49-F238E27FC236}">
                    <a16:creationId xmlns:a16="http://schemas.microsoft.com/office/drawing/2014/main" id="{9BFB82F3-441E-A111-AAF1-61F22820EA15}"/>
                  </a:ext>
                </a:extLst>
              </p:cNvPr>
              <p:cNvSpPr txBox="1">
                <a:spLocks noChangeArrowheads="1"/>
              </p:cNvSpPr>
              <p:nvPr/>
            </p:nvSpPr>
            <p:spPr bwMode="auto">
              <a:xfrm>
                <a:off x="5029200" y="2876550"/>
                <a:ext cx="647700" cy="47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40</a:t>
                </a:r>
                <a:endParaRPr lang="ru-RU" altLang="en-US"/>
              </a:p>
            </p:txBody>
          </p:sp>
          <p:sp>
            <p:nvSpPr>
              <p:cNvPr id="68627" name="Line 23">
                <a:extLst>
                  <a:ext uri="{FF2B5EF4-FFF2-40B4-BE49-F238E27FC236}">
                    <a16:creationId xmlns:a16="http://schemas.microsoft.com/office/drawing/2014/main" id="{0DDE1EF5-4A14-6229-B598-B1B9A1E77889}"/>
                  </a:ext>
                </a:extLst>
              </p:cNvPr>
              <p:cNvSpPr>
                <a:spLocks noChangeShapeType="1"/>
              </p:cNvSpPr>
              <p:nvPr/>
            </p:nvSpPr>
            <p:spPr bwMode="auto">
              <a:xfrm flipV="1">
                <a:off x="5300663" y="2201863"/>
                <a:ext cx="0" cy="5746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8" name="Line 24">
                <a:extLst>
                  <a:ext uri="{FF2B5EF4-FFF2-40B4-BE49-F238E27FC236}">
                    <a16:creationId xmlns:a16="http://schemas.microsoft.com/office/drawing/2014/main" id="{CF83D901-18D0-22F4-E539-C459D4C9C8CF}"/>
                  </a:ext>
                </a:extLst>
              </p:cNvPr>
              <p:cNvSpPr>
                <a:spLocks noChangeShapeType="1"/>
              </p:cNvSpPr>
              <p:nvPr/>
            </p:nvSpPr>
            <p:spPr bwMode="auto">
              <a:xfrm>
                <a:off x="5305425" y="2203450"/>
                <a:ext cx="2374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9" name="Line 25">
                <a:extLst>
                  <a:ext uri="{FF2B5EF4-FFF2-40B4-BE49-F238E27FC236}">
                    <a16:creationId xmlns:a16="http://schemas.microsoft.com/office/drawing/2014/main" id="{DAF2B00A-9AC5-E4C7-33F7-98A56C3A0A9D}"/>
                  </a:ext>
                </a:extLst>
              </p:cNvPr>
              <p:cNvSpPr>
                <a:spLocks noChangeShapeType="1"/>
              </p:cNvSpPr>
              <p:nvPr/>
            </p:nvSpPr>
            <p:spPr bwMode="auto">
              <a:xfrm flipV="1">
                <a:off x="7696200" y="2197100"/>
                <a:ext cx="0" cy="59372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0" name="Text Box 26">
                <a:extLst>
                  <a:ext uri="{FF2B5EF4-FFF2-40B4-BE49-F238E27FC236}">
                    <a16:creationId xmlns:a16="http://schemas.microsoft.com/office/drawing/2014/main" id="{F668DEFE-5507-052F-E550-7D7508694073}"/>
                  </a:ext>
                </a:extLst>
              </p:cNvPr>
              <p:cNvSpPr txBox="1">
                <a:spLocks noChangeArrowheads="1"/>
              </p:cNvSpPr>
              <p:nvPr/>
            </p:nvSpPr>
            <p:spPr bwMode="auto">
              <a:xfrm>
                <a:off x="7543800" y="2895601"/>
                <a:ext cx="647700" cy="47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75</a:t>
                </a:r>
                <a:endParaRPr lang="ru-RU" altLang="en-US"/>
              </a:p>
            </p:txBody>
          </p:sp>
          <p:sp>
            <p:nvSpPr>
              <p:cNvPr id="68631" name="Text Box 27">
                <a:extLst>
                  <a:ext uri="{FF2B5EF4-FFF2-40B4-BE49-F238E27FC236}">
                    <a16:creationId xmlns:a16="http://schemas.microsoft.com/office/drawing/2014/main" id="{3A7DAE4D-B734-2888-7BFC-B438A61ED381}"/>
                  </a:ext>
                </a:extLst>
              </p:cNvPr>
              <p:cNvSpPr txBox="1">
                <a:spLocks noChangeArrowheads="1"/>
              </p:cNvSpPr>
              <p:nvPr/>
            </p:nvSpPr>
            <p:spPr bwMode="auto">
              <a:xfrm>
                <a:off x="400050" y="2057400"/>
                <a:ext cx="433388" cy="47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endParaRPr lang="ru-RU" altLang="en-US"/>
              </a:p>
            </p:txBody>
          </p:sp>
          <p:cxnSp>
            <p:nvCxnSpPr>
              <p:cNvPr id="23" name="Straight Connector 22">
                <a:extLst>
                  <a:ext uri="{FF2B5EF4-FFF2-40B4-BE49-F238E27FC236}">
                    <a16:creationId xmlns:a16="http://schemas.microsoft.com/office/drawing/2014/main" id="{6B68CC1B-1E0A-42AB-A46E-1EB8A56FCD8A}"/>
                  </a:ext>
                </a:extLst>
              </p:cNvPr>
              <p:cNvCxnSpPr/>
              <p:nvPr/>
            </p:nvCxnSpPr>
            <p:spPr>
              <a:xfrm>
                <a:off x="7696498" y="2781740"/>
                <a:ext cx="38187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grpSp>
      <p:sp>
        <p:nvSpPr>
          <p:cNvPr id="3" name="Title 2">
            <a:extLst>
              <a:ext uri="{FF2B5EF4-FFF2-40B4-BE49-F238E27FC236}">
                <a16:creationId xmlns:a16="http://schemas.microsoft.com/office/drawing/2014/main" id="{4A742EBF-6EE0-C440-377D-04BCF63178A8}"/>
              </a:ext>
            </a:extLst>
          </p:cNvPr>
          <p:cNvSpPr>
            <a:spLocks noGrp="1"/>
          </p:cNvSpPr>
          <p:nvPr>
            <p:ph type="title"/>
          </p:nvPr>
        </p:nvSpPr>
        <p:spPr/>
        <p:txBody>
          <a:bodyPr/>
          <a:lstStyle/>
          <a:p>
            <a:r>
              <a:rPr lang="en-US" dirty="0"/>
              <a:t>Example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5">
            <a:extLst>
              <a:ext uri="{FF2B5EF4-FFF2-40B4-BE49-F238E27FC236}">
                <a16:creationId xmlns:a16="http://schemas.microsoft.com/office/drawing/2014/main" id="{8AF51F8C-0E51-165A-A562-2ED7726668CE}"/>
              </a:ext>
            </a:extLst>
          </p:cNvPr>
          <p:cNvSpPr txBox="1">
            <a:spLocks noChangeArrowheads="1"/>
          </p:cNvSpPr>
          <p:nvPr/>
        </p:nvSpPr>
        <p:spPr bwMode="auto">
          <a:xfrm>
            <a:off x="2135188" y="1417639"/>
            <a:ext cx="4418012"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//nonblocking assignment</a:t>
            </a:r>
          </a:p>
          <a:p>
            <a:pPr eaLnBrk="1" hangingPunct="1">
              <a:spcBef>
                <a:spcPct val="50000"/>
              </a:spcBef>
            </a:pPr>
            <a:endParaRPr lang="ru-RU" altLang="en-US"/>
          </a:p>
        </p:txBody>
      </p:sp>
      <p:sp>
        <p:nvSpPr>
          <p:cNvPr id="69635" name="Rectangle 6">
            <a:extLst>
              <a:ext uri="{FF2B5EF4-FFF2-40B4-BE49-F238E27FC236}">
                <a16:creationId xmlns:a16="http://schemas.microsoft.com/office/drawing/2014/main" id="{27C0B4F3-C32C-1714-21DD-978F268698AE}"/>
              </a:ext>
            </a:extLst>
          </p:cNvPr>
          <p:cNvSpPr>
            <a:spLocks noChangeArrowheads="1"/>
          </p:cNvSpPr>
          <p:nvPr/>
        </p:nvSpPr>
        <p:spPr bwMode="auto">
          <a:xfrm>
            <a:off x="2208213" y="1882776"/>
            <a:ext cx="45720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initial</a:t>
            </a:r>
          </a:p>
          <a:p>
            <a:pPr eaLnBrk="1" hangingPunct="1"/>
            <a:r>
              <a:rPr lang="en-US" altLang="en-US">
                <a:solidFill>
                  <a:srgbClr val="0000FF"/>
                </a:solidFill>
              </a:rPr>
              <a:t>begin</a:t>
            </a:r>
          </a:p>
          <a:p>
            <a:pPr eaLnBrk="1" hangingPunct="1"/>
            <a:r>
              <a:rPr lang="en-US" altLang="en-US"/>
              <a:t>    d &lt;= 1’b0;</a:t>
            </a:r>
          </a:p>
          <a:p>
            <a:pPr eaLnBrk="1" hangingPunct="1"/>
            <a:r>
              <a:rPr lang="en-US" altLang="en-US"/>
              <a:t>    #5 d&lt;=1’b1;</a:t>
            </a:r>
          </a:p>
          <a:p>
            <a:pPr eaLnBrk="1" hangingPunct="1"/>
            <a:r>
              <a:rPr lang="en-US" altLang="en-US"/>
              <a:t>    #15 d&lt;=1’b0;</a:t>
            </a:r>
          </a:p>
          <a:p>
            <a:pPr eaLnBrk="1" hangingPunct="1"/>
            <a:r>
              <a:rPr lang="en-US" altLang="en-US"/>
              <a:t>    #20 d&lt;=1’b1;</a:t>
            </a:r>
          </a:p>
          <a:p>
            <a:pPr eaLnBrk="1" hangingPunct="1"/>
            <a:r>
              <a:rPr lang="en-US" altLang="en-US"/>
              <a:t>    #35 d&lt;=1’b0;</a:t>
            </a:r>
          </a:p>
          <a:p>
            <a:pPr eaLnBrk="1" hangingPunct="1"/>
            <a:r>
              <a:rPr lang="en-US" altLang="en-US">
                <a:solidFill>
                  <a:srgbClr val="0000FF"/>
                </a:solidFill>
              </a:rPr>
              <a:t>end</a:t>
            </a:r>
            <a:endParaRPr lang="ru-RU" altLang="en-US">
              <a:solidFill>
                <a:srgbClr val="0000FF"/>
              </a:solidFill>
            </a:endParaRPr>
          </a:p>
        </p:txBody>
      </p:sp>
      <p:sp>
        <p:nvSpPr>
          <p:cNvPr id="69637" name="Text Box 22">
            <a:extLst>
              <a:ext uri="{FF2B5EF4-FFF2-40B4-BE49-F238E27FC236}">
                <a16:creationId xmlns:a16="http://schemas.microsoft.com/office/drawing/2014/main" id="{DF5DFC81-0C52-919E-2D8B-11593159326A}"/>
              </a:ext>
            </a:extLst>
          </p:cNvPr>
          <p:cNvSpPr txBox="1">
            <a:spLocks noChangeArrowheads="1"/>
          </p:cNvSpPr>
          <p:nvPr/>
        </p:nvSpPr>
        <p:spPr bwMode="auto">
          <a:xfrm>
            <a:off x="8153400" y="3048001"/>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30</a:t>
            </a:r>
            <a:endParaRPr lang="ru-RU" altLang="en-US"/>
          </a:p>
        </p:txBody>
      </p:sp>
      <p:grpSp>
        <p:nvGrpSpPr>
          <p:cNvPr id="69638" name="Group 28">
            <a:extLst>
              <a:ext uri="{FF2B5EF4-FFF2-40B4-BE49-F238E27FC236}">
                <a16:creationId xmlns:a16="http://schemas.microsoft.com/office/drawing/2014/main" id="{12431C6B-854A-2B1B-9B2F-1629979ECE63}"/>
              </a:ext>
            </a:extLst>
          </p:cNvPr>
          <p:cNvGrpSpPr>
            <a:grpSpLocks/>
          </p:cNvGrpSpPr>
          <p:nvPr/>
        </p:nvGrpSpPr>
        <p:grpSpPr bwMode="auto">
          <a:xfrm>
            <a:off x="2286000" y="4419600"/>
            <a:ext cx="6172200" cy="1371600"/>
            <a:chOff x="381000" y="4419600"/>
            <a:chExt cx="6172200" cy="1371600"/>
          </a:xfrm>
        </p:grpSpPr>
        <p:sp>
          <p:nvSpPr>
            <p:cNvPr id="28" name="Rounded Rectangle 27">
              <a:extLst>
                <a:ext uri="{FF2B5EF4-FFF2-40B4-BE49-F238E27FC236}">
                  <a16:creationId xmlns:a16="http://schemas.microsoft.com/office/drawing/2014/main" id="{00DC0D05-1661-46C3-842D-707A7FEBF475}"/>
                </a:ext>
              </a:extLst>
            </p:cNvPr>
            <p:cNvSpPr/>
            <p:nvPr/>
          </p:nvSpPr>
          <p:spPr>
            <a:xfrm>
              <a:off x="381000" y="4419600"/>
              <a:ext cx="6172200" cy="13716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69640" name="Line 6">
              <a:extLst>
                <a:ext uri="{FF2B5EF4-FFF2-40B4-BE49-F238E27FC236}">
                  <a16:creationId xmlns:a16="http://schemas.microsoft.com/office/drawing/2014/main" id="{BEC92D3E-1B26-0733-0389-C43033DCBBBD}"/>
                </a:ext>
              </a:extLst>
            </p:cNvPr>
            <p:cNvSpPr>
              <a:spLocks noChangeShapeType="1"/>
            </p:cNvSpPr>
            <p:nvPr/>
          </p:nvSpPr>
          <p:spPr bwMode="auto">
            <a:xfrm>
              <a:off x="733425" y="4419600"/>
              <a:ext cx="0" cy="790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1" name="Line 7">
              <a:extLst>
                <a:ext uri="{FF2B5EF4-FFF2-40B4-BE49-F238E27FC236}">
                  <a16:creationId xmlns:a16="http://schemas.microsoft.com/office/drawing/2014/main" id="{0FDE54D1-3CA7-E074-6EB2-74F0BE7F6457}"/>
                </a:ext>
              </a:extLst>
            </p:cNvPr>
            <p:cNvSpPr>
              <a:spLocks noChangeShapeType="1"/>
            </p:cNvSpPr>
            <p:nvPr/>
          </p:nvSpPr>
          <p:spPr bwMode="auto">
            <a:xfrm flipV="1">
              <a:off x="733425" y="5202556"/>
              <a:ext cx="5387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2" name="Line 8">
              <a:extLst>
                <a:ext uri="{FF2B5EF4-FFF2-40B4-BE49-F238E27FC236}">
                  <a16:creationId xmlns:a16="http://schemas.microsoft.com/office/drawing/2014/main" id="{049F6DE4-7FBD-4B24-F9A5-56C9BF769058}"/>
                </a:ext>
              </a:extLst>
            </p:cNvPr>
            <p:cNvSpPr>
              <a:spLocks noChangeShapeType="1"/>
            </p:cNvSpPr>
            <p:nvPr/>
          </p:nvSpPr>
          <p:spPr bwMode="auto">
            <a:xfrm>
              <a:off x="735013" y="5210175"/>
              <a:ext cx="503237" cy="0"/>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3" name="Line 9">
              <a:extLst>
                <a:ext uri="{FF2B5EF4-FFF2-40B4-BE49-F238E27FC236}">
                  <a16:creationId xmlns:a16="http://schemas.microsoft.com/office/drawing/2014/main" id="{59DF343A-D71F-954B-CEFF-878C2E6950CE}"/>
                </a:ext>
              </a:extLst>
            </p:cNvPr>
            <p:cNvSpPr>
              <a:spLocks noChangeShapeType="1"/>
            </p:cNvSpPr>
            <p:nvPr/>
          </p:nvSpPr>
          <p:spPr bwMode="auto">
            <a:xfrm flipV="1">
              <a:off x="1238250" y="4635500"/>
              <a:ext cx="0" cy="574675"/>
            </a:xfrm>
            <a:prstGeom prst="line">
              <a:avLst/>
            </a:prstGeom>
            <a:noFill/>
            <a:ln w="38100">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4" name="Line 10">
              <a:extLst>
                <a:ext uri="{FF2B5EF4-FFF2-40B4-BE49-F238E27FC236}">
                  <a16:creationId xmlns:a16="http://schemas.microsoft.com/office/drawing/2014/main" id="{F899570E-8E64-C8FB-3A58-45B8E245A6F8}"/>
                </a:ext>
              </a:extLst>
            </p:cNvPr>
            <p:cNvSpPr>
              <a:spLocks noChangeShapeType="1"/>
            </p:cNvSpPr>
            <p:nvPr/>
          </p:nvSpPr>
          <p:spPr bwMode="auto">
            <a:xfrm>
              <a:off x="1233488" y="4648200"/>
              <a:ext cx="12954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5" name="Text Box 19">
              <a:extLst>
                <a:ext uri="{FF2B5EF4-FFF2-40B4-BE49-F238E27FC236}">
                  <a16:creationId xmlns:a16="http://schemas.microsoft.com/office/drawing/2014/main" id="{EAB84EE7-DC88-7F12-9D5A-933B2977BE8C}"/>
                </a:ext>
              </a:extLst>
            </p:cNvPr>
            <p:cNvSpPr txBox="1">
              <a:spLocks noChangeArrowheads="1"/>
            </p:cNvSpPr>
            <p:nvPr/>
          </p:nvSpPr>
          <p:spPr bwMode="auto">
            <a:xfrm>
              <a:off x="588963" y="5311775"/>
              <a:ext cx="433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69646" name="Text Box 20">
              <a:extLst>
                <a:ext uri="{FF2B5EF4-FFF2-40B4-BE49-F238E27FC236}">
                  <a16:creationId xmlns:a16="http://schemas.microsoft.com/office/drawing/2014/main" id="{6D2ABFB2-16ED-7BB7-66A7-A159EA37B30B}"/>
                </a:ext>
              </a:extLst>
            </p:cNvPr>
            <p:cNvSpPr txBox="1">
              <a:spLocks noChangeArrowheads="1"/>
            </p:cNvSpPr>
            <p:nvPr/>
          </p:nvSpPr>
          <p:spPr bwMode="auto">
            <a:xfrm>
              <a:off x="1165225" y="5326063"/>
              <a:ext cx="433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5</a:t>
              </a:r>
              <a:endParaRPr lang="ru-RU" altLang="en-US"/>
            </a:p>
          </p:txBody>
        </p:sp>
        <p:sp>
          <p:nvSpPr>
            <p:cNvPr id="69647" name="Text Box 21">
              <a:extLst>
                <a:ext uri="{FF2B5EF4-FFF2-40B4-BE49-F238E27FC236}">
                  <a16:creationId xmlns:a16="http://schemas.microsoft.com/office/drawing/2014/main" id="{43CBEA98-FCB3-26B4-5805-0629526D9AD6}"/>
                </a:ext>
              </a:extLst>
            </p:cNvPr>
            <p:cNvSpPr txBox="1">
              <a:spLocks noChangeArrowheads="1"/>
            </p:cNvSpPr>
            <p:nvPr/>
          </p:nvSpPr>
          <p:spPr bwMode="auto">
            <a:xfrm>
              <a:off x="1676400" y="5314950"/>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10</a:t>
              </a:r>
              <a:endParaRPr lang="ru-RU" altLang="en-US"/>
            </a:p>
          </p:txBody>
        </p:sp>
        <p:sp>
          <p:nvSpPr>
            <p:cNvPr id="69648" name="Text Box 22">
              <a:extLst>
                <a:ext uri="{FF2B5EF4-FFF2-40B4-BE49-F238E27FC236}">
                  <a16:creationId xmlns:a16="http://schemas.microsoft.com/office/drawing/2014/main" id="{AFB2930C-C598-548E-5F69-2196AB87DF78}"/>
                </a:ext>
              </a:extLst>
            </p:cNvPr>
            <p:cNvSpPr txBox="1">
              <a:spLocks noChangeArrowheads="1"/>
            </p:cNvSpPr>
            <p:nvPr/>
          </p:nvSpPr>
          <p:spPr bwMode="auto">
            <a:xfrm>
              <a:off x="4087813" y="5297488"/>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30</a:t>
              </a:r>
              <a:endParaRPr lang="ru-RU" altLang="en-US"/>
            </a:p>
          </p:txBody>
        </p:sp>
        <p:sp>
          <p:nvSpPr>
            <p:cNvPr id="69649" name="Line 23">
              <a:extLst>
                <a:ext uri="{FF2B5EF4-FFF2-40B4-BE49-F238E27FC236}">
                  <a16:creationId xmlns:a16="http://schemas.microsoft.com/office/drawing/2014/main" id="{BB018A3F-078F-298C-A234-A32175D364A7}"/>
                </a:ext>
              </a:extLst>
            </p:cNvPr>
            <p:cNvSpPr>
              <a:spLocks noChangeShapeType="1"/>
            </p:cNvSpPr>
            <p:nvPr/>
          </p:nvSpPr>
          <p:spPr bwMode="auto">
            <a:xfrm flipV="1">
              <a:off x="3090863" y="4629150"/>
              <a:ext cx="0" cy="5746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0" name="Line 24">
              <a:extLst>
                <a:ext uri="{FF2B5EF4-FFF2-40B4-BE49-F238E27FC236}">
                  <a16:creationId xmlns:a16="http://schemas.microsoft.com/office/drawing/2014/main" id="{2D14D50F-3430-1F31-8C9D-B64175C72630}"/>
                </a:ext>
              </a:extLst>
            </p:cNvPr>
            <p:cNvSpPr>
              <a:spLocks noChangeShapeType="1"/>
            </p:cNvSpPr>
            <p:nvPr/>
          </p:nvSpPr>
          <p:spPr bwMode="auto">
            <a:xfrm flipV="1">
              <a:off x="3086100" y="4648200"/>
              <a:ext cx="1789113" cy="158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1" name="Line 25">
              <a:extLst>
                <a:ext uri="{FF2B5EF4-FFF2-40B4-BE49-F238E27FC236}">
                  <a16:creationId xmlns:a16="http://schemas.microsoft.com/office/drawing/2014/main" id="{2B60C19A-C159-21CC-E18E-8E7ED52748B5}"/>
                </a:ext>
              </a:extLst>
            </p:cNvPr>
            <p:cNvSpPr>
              <a:spLocks noChangeShapeType="1"/>
            </p:cNvSpPr>
            <p:nvPr/>
          </p:nvSpPr>
          <p:spPr bwMode="auto">
            <a:xfrm flipV="1">
              <a:off x="4891088" y="4635500"/>
              <a:ext cx="0" cy="5746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2" name="Text Box 26">
              <a:extLst>
                <a:ext uri="{FF2B5EF4-FFF2-40B4-BE49-F238E27FC236}">
                  <a16:creationId xmlns:a16="http://schemas.microsoft.com/office/drawing/2014/main" id="{CCB5993F-FE05-DD85-8F99-F45712CEE6B8}"/>
                </a:ext>
              </a:extLst>
            </p:cNvPr>
            <p:cNvSpPr txBox="1">
              <a:spLocks noChangeArrowheads="1"/>
            </p:cNvSpPr>
            <p:nvPr/>
          </p:nvSpPr>
          <p:spPr bwMode="auto">
            <a:xfrm>
              <a:off x="4629150" y="5286375"/>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35</a:t>
              </a:r>
              <a:endParaRPr lang="ru-RU" altLang="en-US"/>
            </a:p>
          </p:txBody>
        </p:sp>
        <p:sp>
          <p:nvSpPr>
            <p:cNvPr id="69653" name="Text Box 27">
              <a:extLst>
                <a:ext uri="{FF2B5EF4-FFF2-40B4-BE49-F238E27FC236}">
                  <a16:creationId xmlns:a16="http://schemas.microsoft.com/office/drawing/2014/main" id="{2F2127B6-21FE-32F0-2645-5E3EC57DB0B4}"/>
                </a:ext>
              </a:extLst>
            </p:cNvPr>
            <p:cNvSpPr txBox="1">
              <a:spLocks noChangeArrowheads="1"/>
            </p:cNvSpPr>
            <p:nvPr/>
          </p:nvSpPr>
          <p:spPr bwMode="auto">
            <a:xfrm>
              <a:off x="381000" y="4491038"/>
              <a:ext cx="433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endParaRPr lang="ru-RU" altLang="en-US"/>
            </a:p>
          </p:txBody>
        </p:sp>
        <p:sp>
          <p:nvSpPr>
            <p:cNvPr id="69654" name="Line 17">
              <a:extLst>
                <a:ext uri="{FF2B5EF4-FFF2-40B4-BE49-F238E27FC236}">
                  <a16:creationId xmlns:a16="http://schemas.microsoft.com/office/drawing/2014/main" id="{01835EDA-B2B0-83F8-B879-9A93EB98B7B6}"/>
                </a:ext>
              </a:extLst>
            </p:cNvPr>
            <p:cNvSpPr>
              <a:spLocks noChangeShapeType="1"/>
            </p:cNvSpPr>
            <p:nvPr/>
          </p:nvSpPr>
          <p:spPr bwMode="auto">
            <a:xfrm flipV="1">
              <a:off x="2514600" y="4648200"/>
              <a:ext cx="0" cy="5746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5" name="Text Box 21">
              <a:extLst>
                <a:ext uri="{FF2B5EF4-FFF2-40B4-BE49-F238E27FC236}">
                  <a16:creationId xmlns:a16="http://schemas.microsoft.com/office/drawing/2014/main" id="{234E027E-411E-CE5C-0640-9D6C20A4C289}"/>
                </a:ext>
              </a:extLst>
            </p:cNvPr>
            <p:cNvSpPr txBox="1">
              <a:spLocks noChangeArrowheads="1"/>
            </p:cNvSpPr>
            <p:nvPr/>
          </p:nvSpPr>
          <p:spPr bwMode="auto">
            <a:xfrm>
              <a:off x="2209800" y="5319713"/>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15</a:t>
              </a:r>
              <a:endParaRPr lang="ru-RU" altLang="en-US"/>
            </a:p>
          </p:txBody>
        </p:sp>
        <p:sp>
          <p:nvSpPr>
            <p:cNvPr id="69656" name="Text Box 21">
              <a:extLst>
                <a:ext uri="{FF2B5EF4-FFF2-40B4-BE49-F238E27FC236}">
                  <a16:creationId xmlns:a16="http://schemas.microsoft.com/office/drawing/2014/main" id="{8AE5F871-1B9A-8F60-4CD5-9AF80979885E}"/>
                </a:ext>
              </a:extLst>
            </p:cNvPr>
            <p:cNvSpPr txBox="1">
              <a:spLocks noChangeArrowheads="1"/>
            </p:cNvSpPr>
            <p:nvPr/>
          </p:nvSpPr>
          <p:spPr bwMode="auto">
            <a:xfrm>
              <a:off x="2795588" y="5305425"/>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20</a:t>
              </a:r>
              <a:endParaRPr lang="ru-RU" altLang="en-US"/>
            </a:p>
          </p:txBody>
        </p:sp>
        <p:sp>
          <p:nvSpPr>
            <p:cNvPr id="69657" name="Line 45">
              <a:extLst>
                <a:ext uri="{FF2B5EF4-FFF2-40B4-BE49-F238E27FC236}">
                  <a16:creationId xmlns:a16="http://schemas.microsoft.com/office/drawing/2014/main" id="{7D50B325-E6DA-9B10-C584-3312A47B7E30}"/>
                </a:ext>
              </a:extLst>
            </p:cNvPr>
            <p:cNvSpPr>
              <a:spLocks noChangeShapeType="1"/>
            </p:cNvSpPr>
            <p:nvPr/>
          </p:nvSpPr>
          <p:spPr bwMode="auto">
            <a:xfrm>
              <a:off x="2500313" y="5210175"/>
              <a:ext cx="609600" cy="0"/>
            </a:xfrm>
            <a:prstGeom prst="line">
              <a:avLst/>
            </a:prstGeom>
            <a:noFill/>
            <a:ln w="38100">
              <a:solidFill>
                <a:srgbClr val="3333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8" name="Line 46">
              <a:extLst>
                <a:ext uri="{FF2B5EF4-FFF2-40B4-BE49-F238E27FC236}">
                  <a16:creationId xmlns:a16="http://schemas.microsoft.com/office/drawing/2014/main" id="{F43F052F-9E43-D9A7-DD5F-E86481FA45CB}"/>
                </a:ext>
              </a:extLst>
            </p:cNvPr>
            <p:cNvSpPr>
              <a:spLocks noChangeShapeType="1"/>
            </p:cNvSpPr>
            <p:nvPr/>
          </p:nvSpPr>
          <p:spPr bwMode="auto">
            <a:xfrm>
              <a:off x="4900613" y="5195888"/>
              <a:ext cx="609600" cy="0"/>
            </a:xfrm>
            <a:prstGeom prst="line">
              <a:avLst/>
            </a:prstGeom>
            <a:noFill/>
            <a:ln w="38100">
              <a:solidFill>
                <a:srgbClr val="3333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9" name="Line 47">
              <a:extLst>
                <a:ext uri="{FF2B5EF4-FFF2-40B4-BE49-F238E27FC236}">
                  <a16:creationId xmlns:a16="http://schemas.microsoft.com/office/drawing/2014/main" id="{4FB06E36-3F6B-7A93-B1BD-18E1491D927A}"/>
                </a:ext>
              </a:extLst>
            </p:cNvPr>
            <p:cNvSpPr>
              <a:spLocks noChangeShapeType="1"/>
            </p:cNvSpPr>
            <p:nvPr/>
          </p:nvSpPr>
          <p:spPr bwMode="auto">
            <a:xfrm>
              <a:off x="1905000" y="51816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0" name="Line 48">
              <a:extLst>
                <a:ext uri="{FF2B5EF4-FFF2-40B4-BE49-F238E27FC236}">
                  <a16:creationId xmlns:a16="http://schemas.microsoft.com/office/drawing/2014/main" id="{BB5DDA0D-4526-36B1-1178-3701324F8BB2}"/>
                </a:ext>
              </a:extLst>
            </p:cNvPr>
            <p:cNvSpPr>
              <a:spLocks noChangeShapeType="1"/>
            </p:cNvSpPr>
            <p:nvPr/>
          </p:nvSpPr>
          <p:spPr bwMode="auto">
            <a:xfrm>
              <a:off x="3676650" y="51816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1" name="Line 49">
              <a:extLst>
                <a:ext uri="{FF2B5EF4-FFF2-40B4-BE49-F238E27FC236}">
                  <a16:creationId xmlns:a16="http://schemas.microsoft.com/office/drawing/2014/main" id="{9D39F971-8F8A-C417-5DDC-FC65C764D9BD}"/>
                </a:ext>
              </a:extLst>
            </p:cNvPr>
            <p:cNvSpPr>
              <a:spLocks noChangeShapeType="1"/>
            </p:cNvSpPr>
            <p:nvPr/>
          </p:nvSpPr>
          <p:spPr bwMode="auto">
            <a:xfrm>
              <a:off x="4291013" y="51816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 name="Title 2">
            <a:extLst>
              <a:ext uri="{FF2B5EF4-FFF2-40B4-BE49-F238E27FC236}">
                <a16:creationId xmlns:a16="http://schemas.microsoft.com/office/drawing/2014/main" id="{5F73EE7B-5611-184B-0F0A-66220D3E5C5A}"/>
              </a:ext>
            </a:extLst>
          </p:cNvPr>
          <p:cNvSpPr>
            <a:spLocks noGrp="1"/>
          </p:cNvSpPr>
          <p:nvPr>
            <p:ph type="title"/>
          </p:nvPr>
        </p:nvSpPr>
        <p:spPr/>
        <p:txBody>
          <a:bodyPr>
            <a:normAutofit/>
          </a:bodyPr>
          <a:lstStyle/>
          <a:p>
            <a:r>
              <a:rPr lang="en-US" dirty="0"/>
              <a:t>Example (2)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86" name="Title 62">
            <a:extLst>
              <a:ext uri="{FF2B5EF4-FFF2-40B4-BE49-F238E27FC236}">
                <a16:creationId xmlns:a16="http://schemas.microsoft.com/office/drawing/2014/main" id="{327105FA-545B-0580-6C29-0238E7B8E114}"/>
              </a:ext>
            </a:extLst>
          </p:cNvPr>
          <p:cNvSpPr>
            <a:spLocks noGrp="1" noChangeArrowheads="1"/>
          </p:cNvSpPr>
          <p:nvPr>
            <p:ph type="title"/>
          </p:nvPr>
        </p:nvSpPr>
        <p:spPr/>
        <p:txBody>
          <a:bodyPr>
            <a:normAutofit/>
          </a:bodyPr>
          <a:lstStyle/>
          <a:p>
            <a:r>
              <a:rPr lang="en-US" altLang="en-US" dirty="0"/>
              <a:t>Example (Blocking and Nonblocking Assignment)</a:t>
            </a:r>
            <a:endParaRPr lang="ru-RU" altLang="en-US" dirty="0"/>
          </a:p>
        </p:txBody>
      </p:sp>
      <p:sp>
        <p:nvSpPr>
          <p:cNvPr id="70658" name="Content Placeholder 63">
            <a:extLst>
              <a:ext uri="{FF2B5EF4-FFF2-40B4-BE49-F238E27FC236}">
                <a16:creationId xmlns:a16="http://schemas.microsoft.com/office/drawing/2014/main" id="{DEC8E88F-C49D-D3C1-AA55-404B31D7C399}"/>
              </a:ext>
            </a:extLst>
          </p:cNvPr>
          <p:cNvSpPr>
            <a:spLocks noGrp="1" noChangeArrowheads="1"/>
          </p:cNvSpPr>
          <p:nvPr>
            <p:ph type="body" sz="quarter" idx="13"/>
          </p:nvPr>
        </p:nvSpPr>
        <p:spPr/>
        <p:txBody>
          <a:bodyPr/>
          <a:lstStyle/>
          <a:p>
            <a:r>
              <a:rPr lang="en-US" altLang="en-US"/>
              <a:t>always  @(posedge clock)</a:t>
            </a:r>
          </a:p>
          <a:p>
            <a:r>
              <a:rPr lang="en-US" altLang="en-US"/>
              <a:t>begin </a:t>
            </a:r>
          </a:p>
          <a:p>
            <a:r>
              <a:rPr lang="en-US" altLang="en-US"/>
              <a:t>A=C;</a:t>
            </a:r>
          </a:p>
          <a:p>
            <a:r>
              <a:rPr lang="en-US" altLang="en-US"/>
              <a:t>B=A;</a:t>
            </a:r>
          </a:p>
          <a:p>
            <a:r>
              <a:rPr lang="en-US" altLang="en-US"/>
              <a:t>end</a:t>
            </a:r>
            <a:endParaRPr lang="ru-RU" altLang="en-US"/>
          </a:p>
          <a:p>
            <a:endParaRPr lang="en-US" altLang="en-US"/>
          </a:p>
          <a:p>
            <a:endParaRPr lang="en-US" altLang="en-US"/>
          </a:p>
          <a:p>
            <a:endParaRPr lang="en-US" altLang="en-US"/>
          </a:p>
          <a:p>
            <a:endParaRPr lang="en-US" altLang="en-US"/>
          </a:p>
          <a:p>
            <a:endParaRPr lang="ru-RU" altLang="en-US"/>
          </a:p>
        </p:txBody>
      </p:sp>
      <p:sp>
        <p:nvSpPr>
          <p:cNvPr id="70659" name="Content Placeholder 64">
            <a:extLst>
              <a:ext uri="{FF2B5EF4-FFF2-40B4-BE49-F238E27FC236}">
                <a16:creationId xmlns:a16="http://schemas.microsoft.com/office/drawing/2014/main" id="{E8BDAA50-EFD2-A0B4-8A9A-7C7A09F1910C}"/>
              </a:ext>
            </a:extLst>
          </p:cNvPr>
          <p:cNvSpPr>
            <a:spLocks noGrp="1" noChangeArrowheads="1"/>
          </p:cNvSpPr>
          <p:nvPr>
            <p:ph type="body" sz="quarter" idx="14"/>
          </p:nvPr>
        </p:nvSpPr>
        <p:spPr/>
        <p:txBody>
          <a:bodyPr/>
          <a:lstStyle/>
          <a:p>
            <a:r>
              <a:rPr lang="en-US" altLang="en-US"/>
              <a:t>always  @(posedge clock)</a:t>
            </a:r>
          </a:p>
          <a:p>
            <a:r>
              <a:rPr lang="en-US" altLang="en-US"/>
              <a:t>begin </a:t>
            </a:r>
          </a:p>
          <a:p>
            <a:r>
              <a:rPr lang="en-US" altLang="en-US"/>
              <a:t>B=A;</a:t>
            </a:r>
          </a:p>
          <a:p>
            <a:r>
              <a:rPr lang="en-US" altLang="en-US"/>
              <a:t>A=C;</a:t>
            </a:r>
          </a:p>
          <a:p>
            <a:r>
              <a:rPr lang="en-US" altLang="en-US"/>
              <a:t>end</a:t>
            </a:r>
            <a:endParaRPr lang="ru-RU"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always  @(posedge clock)         </a:t>
            </a:r>
          </a:p>
          <a:p>
            <a:r>
              <a:rPr lang="en-US" altLang="en-US"/>
              <a:t>begin  B&lt;=A;      A&lt;=C;          </a:t>
            </a:r>
          </a:p>
          <a:p>
            <a:r>
              <a:rPr lang="en-US" altLang="en-US"/>
              <a:t>end</a:t>
            </a:r>
          </a:p>
          <a:p>
            <a:r>
              <a:rPr lang="en-US" altLang="en-US"/>
              <a:t>begin </a:t>
            </a:r>
          </a:p>
          <a:p>
            <a:r>
              <a:rPr lang="en-US" altLang="en-US"/>
              <a:t>B&lt;=A;     A&lt;=C;  end</a:t>
            </a:r>
            <a:endParaRPr lang="ru-RU" altLang="en-US"/>
          </a:p>
          <a:p>
            <a:endParaRPr lang="ru-RU" altLang="en-US"/>
          </a:p>
          <a:p>
            <a:endParaRPr lang="ru-RU" altLang="en-US"/>
          </a:p>
        </p:txBody>
      </p:sp>
      <p:grpSp>
        <p:nvGrpSpPr>
          <p:cNvPr id="70660" name="Group 60">
            <a:extLst>
              <a:ext uri="{FF2B5EF4-FFF2-40B4-BE49-F238E27FC236}">
                <a16:creationId xmlns:a16="http://schemas.microsoft.com/office/drawing/2014/main" id="{D3A72646-AD84-A181-DC61-93C41B747DDC}"/>
              </a:ext>
            </a:extLst>
          </p:cNvPr>
          <p:cNvGrpSpPr>
            <a:grpSpLocks/>
          </p:cNvGrpSpPr>
          <p:nvPr/>
        </p:nvGrpSpPr>
        <p:grpSpPr bwMode="auto">
          <a:xfrm>
            <a:off x="6138227" y="3790257"/>
            <a:ext cx="3590925" cy="1186557"/>
            <a:chOff x="4298950" y="3016249"/>
            <a:chExt cx="3784600" cy="1298574"/>
          </a:xfrm>
        </p:grpSpPr>
        <p:sp>
          <p:nvSpPr>
            <p:cNvPr id="70688" name="Text Box 58">
              <a:extLst>
                <a:ext uri="{FF2B5EF4-FFF2-40B4-BE49-F238E27FC236}">
                  <a16:creationId xmlns:a16="http://schemas.microsoft.com/office/drawing/2014/main" id="{A0BE1BD5-0CA7-63ED-C888-4E80B07FEC71}"/>
                </a:ext>
              </a:extLst>
            </p:cNvPr>
            <p:cNvSpPr txBox="1">
              <a:spLocks noChangeArrowheads="1"/>
            </p:cNvSpPr>
            <p:nvPr/>
          </p:nvSpPr>
          <p:spPr bwMode="auto">
            <a:xfrm>
              <a:off x="4298950" y="3924300"/>
              <a:ext cx="788988" cy="370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clock</a:t>
              </a:r>
              <a:endParaRPr lang="ru-RU" altLang="en-US" sz="1600" b="1"/>
            </a:p>
          </p:txBody>
        </p:sp>
        <p:grpSp>
          <p:nvGrpSpPr>
            <p:cNvPr id="70689" name="Group 59">
              <a:extLst>
                <a:ext uri="{FF2B5EF4-FFF2-40B4-BE49-F238E27FC236}">
                  <a16:creationId xmlns:a16="http://schemas.microsoft.com/office/drawing/2014/main" id="{3F8ABA64-5059-4977-EACC-E6DAE48E7626}"/>
                </a:ext>
              </a:extLst>
            </p:cNvPr>
            <p:cNvGrpSpPr>
              <a:grpSpLocks/>
            </p:cNvGrpSpPr>
            <p:nvPr/>
          </p:nvGrpSpPr>
          <p:grpSpPr bwMode="auto">
            <a:xfrm>
              <a:off x="4694238" y="3016249"/>
              <a:ext cx="3389312" cy="1298574"/>
              <a:chOff x="2957" y="1900"/>
              <a:chExt cx="2135" cy="818"/>
            </a:xfrm>
          </p:grpSpPr>
          <p:grpSp>
            <p:nvGrpSpPr>
              <p:cNvPr id="70690" name="Group 38">
                <a:extLst>
                  <a:ext uri="{FF2B5EF4-FFF2-40B4-BE49-F238E27FC236}">
                    <a16:creationId xmlns:a16="http://schemas.microsoft.com/office/drawing/2014/main" id="{01489D40-C915-23FC-15D1-549FB87E55E6}"/>
                  </a:ext>
                </a:extLst>
              </p:cNvPr>
              <p:cNvGrpSpPr>
                <a:grpSpLocks/>
              </p:cNvGrpSpPr>
              <p:nvPr/>
            </p:nvGrpSpPr>
            <p:grpSpPr bwMode="auto">
              <a:xfrm>
                <a:off x="3351" y="2034"/>
                <a:ext cx="480" cy="567"/>
                <a:chOff x="1157" y="2031"/>
                <a:chExt cx="525" cy="759"/>
              </a:xfrm>
            </p:grpSpPr>
            <p:sp>
              <p:nvSpPr>
                <p:cNvPr id="70708" name="Rectangle 39">
                  <a:extLst>
                    <a:ext uri="{FF2B5EF4-FFF2-40B4-BE49-F238E27FC236}">
                      <a16:creationId xmlns:a16="http://schemas.microsoft.com/office/drawing/2014/main" id="{C680D883-C7C0-F711-4177-3B80EE27D7EF}"/>
                    </a:ext>
                  </a:extLst>
                </p:cNvPr>
                <p:cNvSpPr>
                  <a:spLocks noChangeArrowheads="1"/>
                </p:cNvSpPr>
                <p:nvPr/>
              </p:nvSpPr>
              <p:spPr bwMode="auto">
                <a:xfrm>
                  <a:off x="1190" y="2155"/>
                  <a:ext cx="9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D</a:t>
                  </a:r>
                  <a:endParaRPr lang="en-US" altLang="en-US" sz="1600" b="1">
                    <a:latin typeface="Times New Roman" panose="02020603050405020304" pitchFamily="18" charset="0"/>
                  </a:endParaRPr>
                </a:p>
              </p:txBody>
            </p:sp>
            <p:sp>
              <p:nvSpPr>
                <p:cNvPr id="70709" name="Rectangle 40">
                  <a:extLst>
                    <a:ext uri="{FF2B5EF4-FFF2-40B4-BE49-F238E27FC236}">
                      <a16:creationId xmlns:a16="http://schemas.microsoft.com/office/drawing/2014/main" id="{473D778A-1603-D174-4C07-25F034A6C5CE}"/>
                    </a:ext>
                  </a:extLst>
                </p:cNvPr>
                <p:cNvSpPr>
                  <a:spLocks noChangeArrowheads="1"/>
                </p:cNvSpPr>
                <p:nvPr/>
              </p:nvSpPr>
              <p:spPr bwMode="auto">
                <a:xfrm>
                  <a:off x="1502" y="2155"/>
                  <a:ext cx="10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Q</a:t>
                  </a:r>
                  <a:endParaRPr lang="en-US" altLang="en-US" sz="1600" b="1">
                    <a:latin typeface="Times New Roman" panose="02020603050405020304" pitchFamily="18" charset="0"/>
                  </a:endParaRPr>
                </a:p>
              </p:txBody>
            </p:sp>
            <p:sp>
              <p:nvSpPr>
                <p:cNvPr id="70710" name="Freeform 41">
                  <a:extLst>
                    <a:ext uri="{FF2B5EF4-FFF2-40B4-BE49-F238E27FC236}">
                      <a16:creationId xmlns:a16="http://schemas.microsoft.com/office/drawing/2014/main" id="{67550DFE-01E9-82A2-14E3-6C9473B5CA42}"/>
                    </a:ext>
                  </a:extLst>
                </p:cNvPr>
                <p:cNvSpPr>
                  <a:spLocks/>
                </p:cNvSpPr>
                <p:nvPr/>
              </p:nvSpPr>
              <p:spPr bwMode="auto">
                <a:xfrm>
                  <a:off x="1161" y="2536"/>
                  <a:ext cx="107" cy="111"/>
                </a:xfrm>
                <a:custGeom>
                  <a:avLst/>
                  <a:gdLst>
                    <a:gd name="T0" fmla="*/ 0 w 129"/>
                    <a:gd name="T1" fmla="*/ 3 h 133"/>
                    <a:gd name="T2" fmla="*/ 2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711" name="Rectangle 42">
                  <a:extLst>
                    <a:ext uri="{FF2B5EF4-FFF2-40B4-BE49-F238E27FC236}">
                      <a16:creationId xmlns:a16="http://schemas.microsoft.com/office/drawing/2014/main" id="{3E7043E5-06B8-8DD1-ABB5-7692012718DC}"/>
                    </a:ext>
                  </a:extLst>
                </p:cNvPr>
                <p:cNvSpPr>
                  <a:spLocks noChangeArrowheads="1"/>
                </p:cNvSpPr>
                <p:nvPr/>
              </p:nvSpPr>
              <p:spPr bwMode="auto">
                <a:xfrm>
                  <a:off x="1157" y="2031"/>
                  <a:ext cx="525" cy="759"/>
                </a:xfrm>
                <a:prstGeom prst="rect">
                  <a:avLst/>
                </a:prstGeom>
                <a:solidFill>
                  <a:schemeClr val="accent1">
                    <a:alpha val="61960"/>
                  </a:schemeClr>
                </a:solidFill>
                <a:ln w="25400">
                  <a:solidFill>
                    <a:schemeClr val="tx1"/>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70712" name="Text Box 43">
                  <a:extLst>
                    <a:ext uri="{FF2B5EF4-FFF2-40B4-BE49-F238E27FC236}">
                      <a16:creationId xmlns:a16="http://schemas.microsoft.com/office/drawing/2014/main" id="{D433797D-139D-1130-9CDB-1F433B85736F}"/>
                    </a:ext>
                  </a:extLst>
                </p:cNvPr>
                <p:cNvSpPr txBox="1">
                  <a:spLocks noChangeArrowheads="1"/>
                </p:cNvSpPr>
                <p:nvPr/>
              </p:nvSpPr>
              <p:spPr bwMode="auto">
                <a:xfrm>
                  <a:off x="1337" y="2388"/>
                  <a:ext cx="22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A</a:t>
                  </a:r>
                  <a:endParaRPr lang="ru-RU" altLang="en-US" sz="1600" b="1"/>
                </a:p>
              </p:txBody>
            </p:sp>
          </p:grpSp>
          <p:grpSp>
            <p:nvGrpSpPr>
              <p:cNvPr id="70691" name="Group 44">
                <a:extLst>
                  <a:ext uri="{FF2B5EF4-FFF2-40B4-BE49-F238E27FC236}">
                    <a16:creationId xmlns:a16="http://schemas.microsoft.com/office/drawing/2014/main" id="{D96CF773-56C9-8959-CD20-588359DB0CB6}"/>
                  </a:ext>
                </a:extLst>
              </p:cNvPr>
              <p:cNvGrpSpPr>
                <a:grpSpLocks/>
              </p:cNvGrpSpPr>
              <p:nvPr/>
            </p:nvGrpSpPr>
            <p:grpSpPr bwMode="auto">
              <a:xfrm>
                <a:off x="4271" y="2028"/>
                <a:ext cx="479" cy="567"/>
                <a:chOff x="1157" y="2031"/>
                <a:chExt cx="525" cy="759"/>
              </a:xfrm>
            </p:grpSpPr>
            <p:sp>
              <p:nvSpPr>
                <p:cNvPr id="70703" name="Rectangle 45">
                  <a:extLst>
                    <a:ext uri="{FF2B5EF4-FFF2-40B4-BE49-F238E27FC236}">
                      <a16:creationId xmlns:a16="http://schemas.microsoft.com/office/drawing/2014/main" id="{61039039-3DF5-811B-6B9B-7502F5AF60FF}"/>
                    </a:ext>
                  </a:extLst>
                </p:cNvPr>
                <p:cNvSpPr>
                  <a:spLocks noChangeArrowheads="1"/>
                </p:cNvSpPr>
                <p:nvPr/>
              </p:nvSpPr>
              <p:spPr bwMode="auto">
                <a:xfrm>
                  <a:off x="1190" y="2155"/>
                  <a:ext cx="9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D</a:t>
                  </a:r>
                  <a:endParaRPr lang="en-US" altLang="en-US" sz="1600" b="1">
                    <a:latin typeface="Times New Roman" panose="02020603050405020304" pitchFamily="18" charset="0"/>
                  </a:endParaRPr>
                </a:p>
              </p:txBody>
            </p:sp>
            <p:sp>
              <p:nvSpPr>
                <p:cNvPr id="70704" name="Rectangle 46">
                  <a:extLst>
                    <a:ext uri="{FF2B5EF4-FFF2-40B4-BE49-F238E27FC236}">
                      <a16:creationId xmlns:a16="http://schemas.microsoft.com/office/drawing/2014/main" id="{0CF998D2-E899-E010-4EE3-2BA090CDF207}"/>
                    </a:ext>
                  </a:extLst>
                </p:cNvPr>
                <p:cNvSpPr>
                  <a:spLocks noChangeArrowheads="1"/>
                </p:cNvSpPr>
                <p:nvPr/>
              </p:nvSpPr>
              <p:spPr bwMode="auto">
                <a:xfrm>
                  <a:off x="1501" y="2155"/>
                  <a:ext cx="10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Q</a:t>
                  </a:r>
                  <a:endParaRPr lang="en-US" altLang="en-US" sz="1600" b="1">
                    <a:latin typeface="Times New Roman" panose="02020603050405020304" pitchFamily="18" charset="0"/>
                  </a:endParaRPr>
                </a:p>
              </p:txBody>
            </p:sp>
            <p:sp>
              <p:nvSpPr>
                <p:cNvPr id="70705" name="Freeform 47">
                  <a:extLst>
                    <a:ext uri="{FF2B5EF4-FFF2-40B4-BE49-F238E27FC236}">
                      <a16:creationId xmlns:a16="http://schemas.microsoft.com/office/drawing/2014/main" id="{962D70A9-0DE9-5D4D-04D3-F9F0CB87F927}"/>
                    </a:ext>
                  </a:extLst>
                </p:cNvPr>
                <p:cNvSpPr>
                  <a:spLocks/>
                </p:cNvSpPr>
                <p:nvPr/>
              </p:nvSpPr>
              <p:spPr bwMode="auto">
                <a:xfrm>
                  <a:off x="1161" y="2536"/>
                  <a:ext cx="107" cy="111"/>
                </a:xfrm>
                <a:custGeom>
                  <a:avLst/>
                  <a:gdLst>
                    <a:gd name="T0" fmla="*/ 0 w 129"/>
                    <a:gd name="T1" fmla="*/ 3 h 133"/>
                    <a:gd name="T2" fmla="*/ 2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706" name="Rectangle 48">
                  <a:extLst>
                    <a:ext uri="{FF2B5EF4-FFF2-40B4-BE49-F238E27FC236}">
                      <a16:creationId xmlns:a16="http://schemas.microsoft.com/office/drawing/2014/main" id="{94370E91-F2B6-8D40-299F-37D31AAAF6BE}"/>
                    </a:ext>
                  </a:extLst>
                </p:cNvPr>
                <p:cNvSpPr>
                  <a:spLocks noChangeArrowheads="1"/>
                </p:cNvSpPr>
                <p:nvPr/>
              </p:nvSpPr>
              <p:spPr bwMode="auto">
                <a:xfrm>
                  <a:off x="1157" y="2031"/>
                  <a:ext cx="525" cy="759"/>
                </a:xfrm>
                <a:prstGeom prst="rect">
                  <a:avLst/>
                </a:prstGeom>
                <a:solidFill>
                  <a:schemeClr val="accent1">
                    <a:alpha val="61960"/>
                  </a:schemeClr>
                </a:solidFill>
                <a:ln w="25400">
                  <a:solidFill>
                    <a:schemeClr val="tx1"/>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70707" name="Text Box 49">
                  <a:extLst>
                    <a:ext uri="{FF2B5EF4-FFF2-40B4-BE49-F238E27FC236}">
                      <a16:creationId xmlns:a16="http://schemas.microsoft.com/office/drawing/2014/main" id="{D07C5B71-02C2-F4A8-EB48-50C8DF4C4E2C}"/>
                    </a:ext>
                  </a:extLst>
                </p:cNvPr>
                <p:cNvSpPr txBox="1">
                  <a:spLocks noChangeArrowheads="1"/>
                </p:cNvSpPr>
                <p:nvPr/>
              </p:nvSpPr>
              <p:spPr bwMode="auto">
                <a:xfrm>
                  <a:off x="1337" y="2388"/>
                  <a:ext cx="22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B</a:t>
                  </a:r>
                  <a:endParaRPr lang="ru-RU" altLang="en-US" sz="1600" b="1"/>
                </a:p>
              </p:txBody>
            </p:sp>
          </p:grpSp>
          <p:sp>
            <p:nvSpPr>
              <p:cNvPr id="70692" name="Line 52">
                <a:extLst>
                  <a:ext uri="{FF2B5EF4-FFF2-40B4-BE49-F238E27FC236}">
                    <a16:creationId xmlns:a16="http://schemas.microsoft.com/office/drawing/2014/main" id="{9EA4B1F8-8B81-EEA5-CE2B-2C5679BE6F55}"/>
                  </a:ext>
                </a:extLst>
              </p:cNvPr>
              <p:cNvSpPr>
                <a:spLocks noChangeShapeType="1"/>
              </p:cNvSpPr>
              <p:nvPr/>
            </p:nvSpPr>
            <p:spPr bwMode="auto">
              <a:xfrm>
                <a:off x="3827" y="2168"/>
                <a:ext cx="4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3" name="Line 53">
                <a:extLst>
                  <a:ext uri="{FF2B5EF4-FFF2-40B4-BE49-F238E27FC236}">
                    <a16:creationId xmlns:a16="http://schemas.microsoft.com/office/drawing/2014/main" id="{0BE6D3C2-3BA2-C3E0-FDD4-1EEBD2DE2EBE}"/>
                  </a:ext>
                </a:extLst>
              </p:cNvPr>
              <p:cNvSpPr>
                <a:spLocks noChangeShapeType="1"/>
              </p:cNvSpPr>
              <p:nvPr/>
            </p:nvSpPr>
            <p:spPr bwMode="auto">
              <a:xfrm>
                <a:off x="3006" y="2717"/>
                <a:ext cx="11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4" name="Line 54">
                <a:extLst>
                  <a:ext uri="{FF2B5EF4-FFF2-40B4-BE49-F238E27FC236}">
                    <a16:creationId xmlns:a16="http://schemas.microsoft.com/office/drawing/2014/main" id="{BA48FBBA-34A3-22DF-C9F0-30FDAFBADDEB}"/>
                  </a:ext>
                </a:extLst>
              </p:cNvPr>
              <p:cNvSpPr>
                <a:spLocks noChangeShapeType="1"/>
              </p:cNvSpPr>
              <p:nvPr/>
            </p:nvSpPr>
            <p:spPr bwMode="auto">
              <a:xfrm>
                <a:off x="3189" y="2446"/>
                <a:ext cx="0" cy="272"/>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0695" name="Line 55">
                <a:extLst>
                  <a:ext uri="{FF2B5EF4-FFF2-40B4-BE49-F238E27FC236}">
                    <a16:creationId xmlns:a16="http://schemas.microsoft.com/office/drawing/2014/main" id="{EC222C7C-CCB1-82E3-5B1E-8557B849088A}"/>
                  </a:ext>
                </a:extLst>
              </p:cNvPr>
              <p:cNvSpPr>
                <a:spLocks noChangeShapeType="1"/>
              </p:cNvSpPr>
              <p:nvPr/>
            </p:nvSpPr>
            <p:spPr bwMode="auto">
              <a:xfrm>
                <a:off x="3180" y="2453"/>
                <a:ext cx="16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6" name="Line 56">
                <a:extLst>
                  <a:ext uri="{FF2B5EF4-FFF2-40B4-BE49-F238E27FC236}">
                    <a16:creationId xmlns:a16="http://schemas.microsoft.com/office/drawing/2014/main" id="{4940668D-1BD1-E563-928C-3F5022E360CB}"/>
                  </a:ext>
                </a:extLst>
              </p:cNvPr>
              <p:cNvSpPr>
                <a:spLocks noChangeShapeType="1"/>
              </p:cNvSpPr>
              <p:nvPr/>
            </p:nvSpPr>
            <p:spPr bwMode="auto">
              <a:xfrm>
                <a:off x="4118" y="2440"/>
                <a:ext cx="0" cy="27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7" name="Line 57">
                <a:extLst>
                  <a:ext uri="{FF2B5EF4-FFF2-40B4-BE49-F238E27FC236}">
                    <a16:creationId xmlns:a16="http://schemas.microsoft.com/office/drawing/2014/main" id="{A5768B6C-3D8C-5EAF-FE8A-FFD01A881C23}"/>
                  </a:ext>
                </a:extLst>
              </p:cNvPr>
              <p:cNvSpPr>
                <a:spLocks noChangeShapeType="1"/>
              </p:cNvSpPr>
              <p:nvPr/>
            </p:nvSpPr>
            <p:spPr bwMode="auto">
              <a:xfrm>
                <a:off x="4110" y="2446"/>
                <a:ext cx="1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8" name="Line 59">
                <a:extLst>
                  <a:ext uri="{FF2B5EF4-FFF2-40B4-BE49-F238E27FC236}">
                    <a16:creationId xmlns:a16="http://schemas.microsoft.com/office/drawing/2014/main" id="{5299B6E7-DDD5-320E-4F4E-1F2FAA82473A}"/>
                  </a:ext>
                </a:extLst>
              </p:cNvPr>
              <p:cNvSpPr>
                <a:spLocks noChangeShapeType="1"/>
              </p:cNvSpPr>
              <p:nvPr/>
            </p:nvSpPr>
            <p:spPr bwMode="auto">
              <a:xfrm>
                <a:off x="3007" y="2168"/>
                <a:ext cx="3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9" name="Text Box 60">
                <a:extLst>
                  <a:ext uri="{FF2B5EF4-FFF2-40B4-BE49-F238E27FC236}">
                    <a16:creationId xmlns:a16="http://schemas.microsoft.com/office/drawing/2014/main" id="{C9890E75-A1F9-995C-1A9D-19FD8F329960}"/>
                  </a:ext>
                </a:extLst>
              </p:cNvPr>
              <p:cNvSpPr txBox="1">
                <a:spLocks noChangeArrowheads="1"/>
              </p:cNvSpPr>
              <p:nvPr/>
            </p:nvSpPr>
            <p:spPr bwMode="auto">
              <a:xfrm>
                <a:off x="3911" y="1965"/>
                <a:ext cx="248"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A</a:t>
                </a:r>
                <a:endParaRPr lang="ru-RU" altLang="en-US" sz="1800" b="1"/>
              </a:p>
            </p:txBody>
          </p:sp>
          <p:sp>
            <p:nvSpPr>
              <p:cNvPr id="70700" name="Line 61">
                <a:extLst>
                  <a:ext uri="{FF2B5EF4-FFF2-40B4-BE49-F238E27FC236}">
                    <a16:creationId xmlns:a16="http://schemas.microsoft.com/office/drawing/2014/main" id="{DC985B2E-E88E-29E1-C4AD-7D06F2EBA4FC}"/>
                  </a:ext>
                </a:extLst>
              </p:cNvPr>
              <p:cNvSpPr>
                <a:spLocks noChangeShapeType="1"/>
              </p:cNvSpPr>
              <p:nvPr/>
            </p:nvSpPr>
            <p:spPr bwMode="auto">
              <a:xfrm>
                <a:off x="4746" y="2168"/>
                <a:ext cx="3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1" name="Text Box 62">
                <a:extLst>
                  <a:ext uri="{FF2B5EF4-FFF2-40B4-BE49-F238E27FC236}">
                    <a16:creationId xmlns:a16="http://schemas.microsoft.com/office/drawing/2014/main" id="{593527BF-8911-10A4-D3AF-16EC72243D34}"/>
                  </a:ext>
                </a:extLst>
              </p:cNvPr>
              <p:cNvSpPr txBox="1">
                <a:spLocks noChangeArrowheads="1"/>
              </p:cNvSpPr>
              <p:nvPr/>
            </p:nvSpPr>
            <p:spPr bwMode="auto">
              <a:xfrm>
                <a:off x="4843" y="1900"/>
                <a:ext cx="24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B</a:t>
                </a:r>
                <a:endParaRPr lang="ru-RU" altLang="en-US" sz="1800" b="1"/>
              </a:p>
            </p:txBody>
          </p:sp>
          <p:sp>
            <p:nvSpPr>
              <p:cNvPr id="70702" name="Text Box 63">
                <a:extLst>
                  <a:ext uri="{FF2B5EF4-FFF2-40B4-BE49-F238E27FC236}">
                    <a16:creationId xmlns:a16="http://schemas.microsoft.com/office/drawing/2014/main" id="{2EF1A274-508A-E6C7-7019-8998155D6230}"/>
                  </a:ext>
                </a:extLst>
              </p:cNvPr>
              <p:cNvSpPr txBox="1">
                <a:spLocks noChangeArrowheads="1"/>
              </p:cNvSpPr>
              <p:nvPr/>
            </p:nvSpPr>
            <p:spPr bwMode="auto">
              <a:xfrm>
                <a:off x="2957" y="1900"/>
                <a:ext cx="24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C</a:t>
                </a:r>
                <a:endParaRPr lang="ru-RU" altLang="en-US" sz="1800" b="1"/>
              </a:p>
            </p:txBody>
          </p:sp>
        </p:grpSp>
      </p:grpSp>
      <p:sp>
        <p:nvSpPr>
          <p:cNvPr id="70661" name="Line 20">
            <a:extLst>
              <a:ext uri="{FF2B5EF4-FFF2-40B4-BE49-F238E27FC236}">
                <a16:creationId xmlns:a16="http://schemas.microsoft.com/office/drawing/2014/main" id="{AAE2D062-A550-E894-4652-85C67DA4316D}"/>
              </a:ext>
            </a:extLst>
          </p:cNvPr>
          <p:cNvSpPr>
            <a:spLocks noChangeShapeType="1"/>
          </p:cNvSpPr>
          <p:nvPr/>
        </p:nvSpPr>
        <p:spPr bwMode="auto">
          <a:xfrm>
            <a:off x="2646363" y="4892675"/>
            <a:ext cx="5572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2" name="Line 21">
            <a:extLst>
              <a:ext uri="{FF2B5EF4-FFF2-40B4-BE49-F238E27FC236}">
                <a16:creationId xmlns:a16="http://schemas.microsoft.com/office/drawing/2014/main" id="{E880EE4C-337F-BA34-E054-82BFF5DEF33D}"/>
              </a:ext>
            </a:extLst>
          </p:cNvPr>
          <p:cNvSpPr>
            <a:spLocks noChangeShapeType="1"/>
          </p:cNvSpPr>
          <p:nvPr/>
        </p:nvSpPr>
        <p:spPr bwMode="auto">
          <a:xfrm>
            <a:off x="2989264" y="3706813"/>
            <a:ext cx="2301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3" name="Line 22">
            <a:extLst>
              <a:ext uri="{FF2B5EF4-FFF2-40B4-BE49-F238E27FC236}">
                <a16:creationId xmlns:a16="http://schemas.microsoft.com/office/drawing/2014/main" id="{BC65B9A5-60F6-028D-0A0C-4BED76ADDFAF}"/>
              </a:ext>
            </a:extLst>
          </p:cNvPr>
          <p:cNvSpPr>
            <a:spLocks noChangeShapeType="1"/>
          </p:cNvSpPr>
          <p:nvPr/>
        </p:nvSpPr>
        <p:spPr bwMode="auto">
          <a:xfrm>
            <a:off x="3001963" y="3706814"/>
            <a:ext cx="0" cy="118427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0664" name="Line 23">
            <a:extLst>
              <a:ext uri="{FF2B5EF4-FFF2-40B4-BE49-F238E27FC236}">
                <a16:creationId xmlns:a16="http://schemas.microsoft.com/office/drawing/2014/main" id="{C3F99281-983D-0A97-CA39-D72DF13F00EC}"/>
              </a:ext>
            </a:extLst>
          </p:cNvPr>
          <p:cNvSpPr>
            <a:spLocks noChangeShapeType="1"/>
          </p:cNvSpPr>
          <p:nvPr/>
        </p:nvSpPr>
        <p:spPr bwMode="auto">
          <a:xfrm>
            <a:off x="2582864" y="3286125"/>
            <a:ext cx="657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5" name="Line 24">
            <a:extLst>
              <a:ext uri="{FF2B5EF4-FFF2-40B4-BE49-F238E27FC236}">
                <a16:creationId xmlns:a16="http://schemas.microsoft.com/office/drawing/2014/main" id="{B614AF8B-8314-0808-A46F-92EE7E9DB0D4}"/>
              </a:ext>
            </a:extLst>
          </p:cNvPr>
          <p:cNvSpPr>
            <a:spLocks noChangeShapeType="1"/>
          </p:cNvSpPr>
          <p:nvPr/>
        </p:nvSpPr>
        <p:spPr bwMode="auto">
          <a:xfrm>
            <a:off x="2792414" y="4471988"/>
            <a:ext cx="4270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6" name="Line 25">
            <a:extLst>
              <a:ext uri="{FF2B5EF4-FFF2-40B4-BE49-F238E27FC236}">
                <a16:creationId xmlns:a16="http://schemas.microsoft.com/office/drawing/2014/main" id="{CB0E6EA5-4DF8-9337-6D17-291681D9D4B2}"/>
              </a:ext>
            </a:extLst>
          </p:cNvPr>
          <p:cNvSpPr>
            <a:spLocks noChangeShapeType="1"/>
          </p:cNvSpPr>
          <p:nvPr/>
        </p:nvSpPr>
        <p:spPr bwMode="auto">
          <a:xfrm flipV="1">
            <a:off x="2805113" y="3287714"/>
            <a:ext cx="0" cy="118427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0667" name="Text Box 26">
            <a:extLst>
              <a:ext uri="{FF2B5EF4-FFF2-40B4-BE49-F238E27FC236}">
                <a16:creationId xmlns:a16="http://schemas.microsoft.com/office/drawing/2014/main" id="{E1AB6098-D7A9-DF7A-996F-6BF81AE0B93C}"/>
              </a:ext>
            </a:extLst>
          </p:cNvPr>
          <p:cNvSpPr txBox="1">
            <a:spLocks noChangeArrowheads="1"/>
          </p:cNvSpPr>
          <p:nvPr/>
        </p:nvSpPr>
        <p:spPr bwMode="auto">
          <a:xfrm>
            <a:off x="2238375" y="3135314"/>
            <a:ext cx="393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C</a:t>
            </a:r>
            <a:endParaRPr lang="ru-RU" altLang="en-US" b="1"/>
          </a:p>
        </p:txBody>
      </p:sp>
      <p:sp>
        <p:nvSpPr>
          <p:cNvPr id="70668" name="Line 27">
            <a:extLst>
              <a:ext uri="{FF2B5EF4-FFF2-40B4-BE49-F238E27FC236}">
                <a16:creationId xmlns:a16="http://schemas.microsoft.com/office/drawing/2014/main" id="{0EDB5681-E406-813E-5AE5-9BE53A78245D}"/>
              </a:ext>
            </a:extLst>
          </p:cNvPr>
          <p:cNvSpPr>
            <a:spLocks noChangeShapeType="1"/>
          </p:cNvSpPr>
          <p:nvPr/>
        </p:nvSpPr>
        <p:spPr bwMode="auto">
          <a:xfrm>
            <a:off x="3978276" y="3308350"/>
            <a:ext cx="2968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9" name="Text Box 28">
            <a:extLst>
              <a:ext uri="{FF2B5EF4-FFF2-40B4-BE49-F238E27FC236}">
                <a16:creationId xmlns:a16="http://schemas.microsoft.com/office/drawing/2014/main" id="{33C795D5-0679-22D7-2996-2D1C58120431}"/>
              </a:ext>
            </a:extLst>
          </p:cNvPr>
          <p:cNvSpPr txBox="1">
            <a:spLocks noChangeArrowheads="1"/>
          </p:cNvSpPr>
          <p:nvPr/>
        </p:nvSpPr>
        <p:spPr bwMode="auto">
          <a:xfrm>
            <a:off x="4252913" y="3167064"/>
            <a:ext cx="393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A</a:t>
            </a:r>
            <a:endParaRPr lang="ru-RU" altLang="en-US" b="1"/>
          </a:p>
        </p:txBody>
      </p:sp>
      <p:sp>
        <p:nvSpPr>
          <p:cNvPr id="70670" name="Line 29">
            <a:extLst>
              <a:ext uri="{FF2B5EF4-FFF2-40B4-BE49-F238E27FC236}">
                <a16:creationId xmlns:a16="http://schemas.microsoft.com/office/drawing/2014/main" id="{5F6A6BA9-C7DD-A3B6-FFCF-C11514020097}"/>
              </a:ext>
            </a:extLst>
          </p:cNvPr>
          <p:cNvSpPr>
            <a:spLocks noChangeShapeType="1"/>
          </p:cNvSpPr>
          <p:nvPr/>
        </p:nvSpPr>
        <p:spPr bwMode="auto">
          <a:xfrm>
            <a:off x="3978276" y="4471988"/>
            <a:ext cx="2968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1" name="Text Box 30">
            <a:extLst>
              <a:ext uri="{FF2B5EF4-FFF2-40B4-BE49-F238E27FC236}">
                <a16:creationId xmlns:a16="http://schemas.microsoft.com/office/drawing/2014/main" id="{1A9EDE9D-74EF-ED52-4C7A-2BA7E7AE62CD}"/>
              </a:ext>
            </a:extLst>
          </p:cNvPr>
          <p:cNvSpPr txBox="1">
            <a:spLocks noChangeArrowheads="1"/>
          </p:cNvSpPr>
          <p:nvPr/>
        </p:nvSpPr>
        <p:spPr bwMode="auto">
          <a:xfrm>
            <a:off x="4243389" y="4332289"/>
            <a:ext cx="395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B</a:t>
            </a:r>
            <a:endParaRPr lang="ru-RU" altLang="en-US" b="1"/>
          </a:p>
        </p:txBody>
      </p:sp>
      <p:sp>
        <p:nvSpPr>
          <p:cNvPr id="70672" name="Rectangle 12">
            <a:extLst>
              <a:ext uri="{FF2B5EF4-FFF2-40B4-BE49-F238E27FC236}">
                <a16:creationId xmlns:a16="http://schemas.microsoft.com/office/drawing/2014/main" id="{51526134-9FB8-83BA-7162-0BF12698D6DD}"/>
              </a:ext>
            </a:extLst>
          </p:cNvPr>
          <p:cNvSpPr>
            <a:spLocks noChangeArrowheads="1"/>
          </p:cNvSpPr>
          <p:nvPr/>
        </p:nvSpPr>
        <p:spPr bwMode="auto">
          <a:xfrm>
            <a:off x="3228975" y="3048001"/>
            <a:ext cx="762000" cy="900113"/>
          </a:xfrm>
          <a:prstGeom prst="rect">
            <a:avLst/>
          </a:prstGeom>
          <a:solidFill>
            <a:schemeClr val="accent1">
              <a:lumMod val="60000"/>
              <a:lumOff val="40000"/>
            </a:schemeClr>
          </a:solidFill>
          <a:ln w="25400">
            <a:solidFill>
              <a:schemeClr val="tx1"/>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70673" name="Rectangle 9">
            <a:extLst>
              <a:ext uri="{FF2B5EF4-FFF2-40B4-BE49-F238E27FC236}">
                <a16:creationId xmlns:a16="http://schemas.microsoft.com/office/drawing/2014/main" id="{DFC4FE98-834A-0E33-C15A-05A882423DFE}"/>
              </a:ext>
            </a:extLst>
          </p:cNvPr>
          <p:cNvSpPr>
            <a:spLocks noChangeArrowheads="1"/>
          </p:cNvSpPr>
          <p:nvPr/>
        </p:nvSpPr>
        <p:spPr bwMode="auto">
          <a:xfrm>
            <a:off x="3276600" y="3194051"/>
            <a:ext cx="1458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rgbClr val="000000"/>
                </a:solidFill>
                <a:latin typeface="Myriad Roman"/>
              </a:rPr>
              <a:t>D</a:t>
            </a:r>
            <a:endParaRPr lang="en-US" altLang="en-US" sz="1800" b="1">
              <a:latin typeface="Times New Roman" panose="02020603050405020304" pitchFamily="18" charset="0"/>
            </a:endParaRPr>
          </a:p>
        </p:txBody>
      </p:sp>
      <p:sp>
        <p:nvSpPr>
          <p:cNvPr id="70674" name="Rectangle 10">
            <a:extLst>
              <a:ext uri="{FF2B5EF4-FFF2-40B4-BE49-F238E27FC236}">
                <a16:creationId xmlns:a16="http://schemas.microsoft.com/office/drawing/2014/main" id="{26414AF0-4787-ACE0-0A4B-D9675239A76B}"/>
              </a:ext>
            </a:extLst>
          </p:cNvPr>
          <p:cNvSpPr>
            <a:spLocks noChangeArrowheads="1"/>
          </p:cNvSpPr>
          <p:nvPr/>
        </p:nvSpPr>
        <p:spPr bwMode="auto">
          <a:xfrm>
            <a:off x="3727450" y="3194051"/>
            <a:ext cx="15869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rgbClr val="000000"/>
                </a:solidFill>
                <a:latin typeface="Myriad Roman"/>
              </a:rPr>
              <a:t>Q</a:t>
            </a:r>
            <a:endParaRPr lang="en-US" altLang="en-US" sz="1800" b="1">
              <a:latin typeface="Times New Roman" panose="02020603050405020304" pitchFamily="18" charset="0"/>
            </a:endParaRPr>
          </a:p>
        </p:txBody>
      </p:sp>
      <p:sp>
        <p:nvSpPr>
          <p:cNvPr id="70675" name="Freeform 11">
            <a:extLst>
              <a:ext uri="{FF2B5EF4-FFF2-40B4-BE49-F238E27FC236}">
                <a16:creationId xmlns:a16="http://schemas.microsoft.com/office/drawing/2014/main" id="{FA62A1E4-361C-37C3-1DB2-D5CABDA7540B}"/>
              </a:ext>
            </a:extLst>
          </p:cNvPr>
          <p:cNvSpPr>
            <a:spLocks/>
          </p:cNvSpPr>
          <p:nvPr/>
        </p:nvSpPr>
        <p:spPr bwMode="auto">
          <a:xfrm>
            <a:off x="3235325" y="3646488"/>
            <a:ext cx="153988" cy="13176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676" name="Text Box 31">
            <a:extLst>
              <a:ext uri="{FF2B5EF4-FFF2-40B4-BE49-F238E27FC236}">
                <a16:creationId xmlns:a16="http://schemas.microsoft.com/office/drawing/2014/main" id="{58C7E2AC-4BAF-49A9-9BE2-F02FB5E4DFD2}"/>
              </a:ext>
            </a:extLst>
          </p:cNvPr>
          <p:cNvSpPr txBox="1">
            <a:spLocks noChangeArrowheads="1"/>
          </p:cNvSpPr>
          <p:nvPr/>
        </p:nvSpPr>
        <p:spPr bwMode="auto">
          <a:xfrm>
            <a:off x="3489325" y="3471863"/>
            <a:ext cx="330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A</a:t>
            </a:r>
            <a:endParaRPr lang="ru-RU" altLang="en-US" sz="1800" b="1"/>
          </a:p>
        </p:txBody>
      </p:sp>
      <p:sp>
        <p:nvSpPr>
          <p:cNvPr id="70677" name="Rectangle 19">
            <a:extLst>
              <a:ext uri="{FF2B5EF4-FFF2-40B4-BE49-F238E27FC236}">
                <a16:creationId xmlns:a16="http://schemas.microsoft.com/office/drawing/2014/main" id="{FB372158-FDB5-06C9-5E70-5643FEF60522}"/>
              </a:ext>
            </a:extLst>
          </p:cNvPr>
          <p:cNvSpPr>
            <a:spLocks noChangeArrowheads="1"/>
          </p:cNvSpPr>
          <p:nvPr/>
        </p:nvSpPr>
        <p:spPr bwMode="auto">
          <a:xfrm>
            <a:off x="3216276" y="4232276"/>
            <a:ext cx="760413" cy="900113"/>
          </a:xfrm>
          <a:prstGeom prst="rect">
            <a:avLst/>
          </a:prstGeom>
          <a:solidFill>
            <a:schemeClr val="accent1">
              <a:lumMod val="60000"/>
              <a:lumOff val="40000"/>
            </a:schemeClr>
          </a:solidFill>
          <a:ln w="25400">
            <a:solidFill>
              <a:schemeClr val="tx1"/>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70678" name="Text Box 33">
            <a:extLst>
              <a:ext uri="{FF2B5EF4-FFF2-40B4-BE49-F238E27FC236}">
                <a16:creationId xmlns:a16="http://schemas.microsoft.com/office/drawing/2014/main" id="{957832CC-318C-03B1-E909-67E2031EDAEC}"/>
              </a:ext>
            </a:extLst>
          </p:cNvPr>
          <p:cNvSpPr txBox="1">
            <a:spLocks noChangeArrowheads="1"/>
          </p:cNvSpPr>
          <p:nvPr/>
        </p:nvSpPr>
        <p:spPr bwMode="auto">
          <a:xfrm>
            <a:off x="2133600" y="4579938"/>
            <a:ext cx="7889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clock</a:t>
            </a:r>
            <a:endParaRPr lang="ru-RU" altLang="en-US" sz="1800" b="1"/>
          </a:p>
        </p:txBody>
      </p:sp>
      <p:sp>
        <p:nvSpPr>
          <p:cNvPr id="70679" name="Line 72">
            <a:extLst>
              <a:ext uri="{FF2B5EF4-FFF2-40B4-BE49-F238E27FC236}">
                <a16:creationId xmlns:a16="http://schemas.microsoft.com/office/drawing/2014/main" id="{30FF859C-4C56-261F-FF2D-0DD659C29DB6}"/>
              </a:ext>
            </a:extLst>
          </p:cNvPr>
          <p:cNvSpPr>
            <a:spLocks noChangeShapeType="1"/>
          </p:cNvSpPr>
          <p:nvPr/>
        </p:nvSpPr>
        <p:spPr bwMode="auto">
          <a:xfrm>
            <a:off x="5857875" y="1828800"/>
            <a:ext cx="0" cy="1346200"/>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0" name="Line 73">
            <a:extLst>
              <a:ext uri="{FF2B5EF4-FFF2-40B4-BE49-F238E27FC236}">
                <a16:creationId xmlns:a16="http://schemas.microsoft.com/office/drawing/2014/main" id="{CDF6EDB8-67CD-A368-CFA5-B7E1D59AECA5}"/>
              </a:ext>
            </a:extLst>
          </p:cNvPr>
          <p:cNvSpPr>
            <a:spLocks noChangeShapeType="1"/>
          </p:cNvSpPr>
          <p:nvPr/>
        </p:nvSpPr>
        <p:spPr bwMode="auto">
          <a:xfrm flipH="1">
            <a:off x="4870451" y="3175000"/>
            <a:ext cx="987425" cy="806450"/>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1" name="Line 74">
            <a:extLst>
              <a:ext uri="{FF2B5EF4-FFF2-40B4-BE49-F238E27FC236}">
                <a16:creationId xmlns:a16="http://schemas.microsoft.com/office/drawing/2014/main" id="{2DFDBDBD-7C26-FF48-17BD-30F34172C7F7}"/>
              </a:ext>
            </a:extLst>
          </p:cNvPr>
          <p:cNvSpPr>
            <a:spLocks noChangeShapeType="1"/>
          </p:cNvSpPr>
          <p:nvPr/>
        </p:nvSpPr>
        <p:spPr bwMode="auto">
          <a:xfrm>
            <a:off x="4876800" y="3124201"/>
            <a:ext cx="0" cy="1776413"/>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2" name="Rectangle 16">
            <a:extLst>
              <a:ext uri="{FF2B5EF4-FFF2-40B4-BE49-F238E27FC236}">
                <a16:creationId xmlns:a16="http://schemas.microsoft.com/office/drawing/2014/main" id="{59669FD5-2A02-FA96-91D3-3AABABFB6425}"/>
              </a:ext>
            </a:extLst>
          </p:cNvPr>
          <p:cNvSpPr>
            <a:spLocks noChangeArrowheads="1"/>
          </p:cNvSpPr>
          <p:nvPr/>
        </p:nvSpPr>
        <p:spPr bwMode="auto">
          <a:xfrm>
            <a:off x="3263900" y="4379914"/>
            <a:ext cx="1458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rgbClr val="000000"/>
                </a:solidFill>
                <a:latin typeface="Myriad Roman"/>
              </a:rPr>
              <a:t>D</a:t>
            </a:r>
            <a:endParaRPr lang="en-US" altLang="en-US" sz="1800" b="1">
              <a:latin typeface="Times New Roman" panose="02020603050405020304" pitchFamily="18" charset="0"/>
            </a:endParaRPr>
          </a:p>
        </p:txBody>
      </p:sp>
      <p:sp>
        <p:nvSpPr>
          <p:cNvPr id="70683" name="Rectangle 17">
            <a:extLst>
              <a:ext uri="{FF2B5EF4-FFF2-40B4-BE49-F238E27FC236}">
                <a16:creationId xmlns:a16="http://schemas.microsoft.com/office/drawing/2014/main" id="{D220B0B6-131B-A412-48AF-E76048FEA06F}"/>
              </a:ext>
            </a:extLst>
          </p:cNvPr>
          <p:cNvSpPr>
            <a:spLocks noChangeArrowheads="1"/>
          </p:cNvSpPr>
          <p:nvPr/>
        </p:nvSpPr>
        <p:spPr bwMode="auto">
          <a:xfrm>
            <a:off x="3714750" y="4379914"/>
            <a:ext cx="15869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rgbClr val="000000"/>
                </a:solidFill>
                <a:latin typeface="Myriad Roman"/>
              </a:rPr>
              <a:t>Q</a:t>
            </a:r>
            <a:endParaRPr lang="en-US" altLang="en-US" sz="1800" b="1">
              <a:latin typeface="Times New Roman" panose="02020603050405020304" pitchFamily="18" charset="0"/>
            </a:endParaRPr>
          </a:p>
        </p:txBody>
      </p:sp>
      <p:sp>
        <p:nvSpPr>
          <p:cNvPr id="70684" name="Freeform 18">
            <a:extLst>
              <a:ext uri="{FF2B5EF4-FFF2-40B4-BE49-F238E27FC236}">
                <a16:creationId xmlns:a16="http://schemas.microsoft.com/office/drawing/2014/main" id="{BDC2884E-013D-2D65-91CF-7AABD99A0FDF}"/>
              </a:ext>
            </a:extLst>
          </p:cNvPr>
          <p:cNvSpPr>
            <a:spLocks/>
          </p:cNvSpPr>
          <p:nvPr/>
        </p:nvSpPr>
        <p:spPr bwMode="auto">
          <a:xfrm>
            <a:off x="3221039" y="4830763"/>
            <a:ext cx="155575" cy="13176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685" name="Text Box 32">
            <a:extLst>
              <a:ext uri="{FF2B5EF4-FFF2-40B4-BE49-F238E27FC236}">
                <a16:creationId xmlns:a16="http://schemas.microsoft.com/office/drawing/2014/main" id="{DCA7C982-456D-6383-1139-2D9FF01EE32A}"/>
              </a:ext>
            </a:extLst>
          </p:cNvPr>
          <p:cNvSpPr txBox="1">
            <a:spLocks noChangeArrowheads="1"/>
          </p:cNvSpPr>
          <p:nvPr/>
        </p:nvSpPr>
        <p:spPr bwMode="auto">
          <a:xfrm>
            <a:off x="3436938" y="4610101"/>
            <a:ext cx="33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a:t>B</a:t>
            </a:r>
            <a:endParaRPr lang="ru-RU" altLang="en-US" sz="1800" b="1"/>
          </a:p>
        </p:txBody>
      </p:sp>
      <p:sp>
        <p:nvSpPr>
          <p:cNvPr id="70687" name="TextBox 57">
            <a:extLst>
              <a:ext uri="{FF2B5EF4-FFF2-40B4-BE49-F238E27FC236}">
                <a16:creationId xmlns:a16="http://schemas.microsoft.com/office/drawing/2014/main" id="{18F6CC63-3171-62C3-610C-643C26BA2EE6}"/>
              </a:ext>
            </a:extLst>
          </p:cNvPr>
          <p:cNvSpPr txBox="1">
            <a:spLocks noChangeArrowheads="1"/>
          </p:cNvSpPr>
          <p:nvPr/>
        </p:nvSpPr>
        <p:spPr bwMode="auto">
          <a:xfrm>
            <a:off x="1752600" y="5257800"/>
            <a:ext cx="449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800"/>
              <a:t>After  optimization one flip-flop  may stay.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5">
            <a:extLst>
              <a:ext uri="{FF2B5EF4-FFF2-40B4-BE49-F238E27FC236}">
                <a16:creationId xmlns:a16="http://schemas.microsoft.com/office/drawing/2014/main" id="{20541365-7000-196B-A6D8-86B6B3B6C98E}"/>
              </a:ext>
            </a:extLst>
          </p:cNvPr>
          <p:cNvSpPr txBox="1">
            <a:spLocks noChangeArrowheads="1"/>
          </p:cNvSpPr>
          <p:nvPr/>
        </p:nvSpPr>
        <p:spPr bwMode="auto">
          <a:xfrm>
            <a:off x="1524000" y="134143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400"/>
          </a:p>
        </p:txBody>
      </p:sp>
      <p:sp>
        <p:nvSpPr>
          <p:cNvPr id="71683" name="Title 5">
            <a:extLst>
              <a:ext uri="{FF2B5EF4-FFF2-40B4-BE49-F238E27FC236}">
                <a16:creationId xmlns:a16="http://schemas.microsoft.com/office/drawing/2014/main" id="{E0BE2402-C665-9597-E674-6920AE33782A}"/>
              </a:ext>
            </a:extLst>
          </p:cNvPr>
          <p:cNvSpPr>
            <a:spLocks noGrp="1" noChangeArrowheads="1"/>
          </p:cNvSpPr>
          <p:nvPr>
            <p:ph type="title"/>
          </p:nvPr>
        </p:nvSpPr>
        <p:spPr/>
        <p:txBody>
          <a:bodyPr>
            <a:normAutofit/>
          </a:bodyPr>
          <a:lstStyle/>
          <a:p>
            <a:r>
              <a:rPr lang="en-US" altLang="en-US" dirty="0"/>
              <a:t>Rules (for  Verilog)</a:t>
            </a:r>
            <a:endParaRPr lang="ru-RU" altLang="en-US" dirty="0"/>
          </a:p>
        </p:txBody>
      </p:sp>
      <p:sp>
        <p:nvSpPr>
          <p:cNvPr id="7" name="Content Placeholder 6">
            <a:extLst>
              <a:ext uri="{FF2B5EF4-FFF2-40B4-BE49-F238E27FC236}">
                <a16:creationId xmlns:a16="http://schemas.microsoft.com/office/drawing/2014/main" id="{84D63109-95DC-4762-91BB-BF8F8C0F287E}"/>
              </a:ext>
            </a:extLst>
          </p:cNvPr>
          <p:cNvSpPr>
            <a:spLocks noGrp="1"/>
          </p:cNvSpPr>
          <p:nvPr>
            <p:ph type="body" sz="quarter" idx="10"/>
          </p:nvPr>
        </p:nvSpPr>
        <p:spPr/>
        <p:txBody>
          <a:bodyPr/>
          <a:lstStyle/>
          <a:p>
            <a:r>
              <a:rPr lang="en-US" dirty="0"/>
              <a:t>Always use blocking assignment in “always block” intended to create combinational logic</a:t>
            </a:r>
          </a:p>
          <a:p>
            <a:r>
              <a:rPr lang="en-US" dirty="0"/>
              <a:t>Always use </a:t>
            </a:r>
            <a:r>
              <a:rPr lang="en-US" dirty="0" err="1"/>
              <a:t>nonblocking</a:t>
            </a:r>
            <a:r>
              <a:rPr lang="en-US" dirty="0"/>
              <a:t> assignment in “always block” intended to create sequential logic</a:t>
            </a:r>
          </a:p>
          <a:p>
            <a:r>
              <a:rPr lang="en-US" dirty="0"/>
              <a:t>Do not mix blocking and </a:t>
            </a:r>
            <a:r>
              <a:rPr lang="en-US" dirty="0" err="1"/>
              <a:t>nonblocking</a:t>
            </a:r>
            <a:r>
              <a:rPr lang="en-US" dirty="0"/>
              <a:t> assignment in the same “always block”</a:t>
            </a:r>
          </a:p>
          <a:p>
            <a:r>
              <a:rPr lang="en-US" dirty="0"/>
              <a:t>Do not make assignments to the same variables in two different “always blocks”.</a:t>
            </a:r>
          </a:p>
          <a:p>
            <a:endParaRPr lang="ru-RU"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20" name="Title 11">
            <a:extLst>
              <a:ext uri="{FF2B5EF4-FFF2-40B4-BE49-F238E27FC236}">
                <a16:creationId xmlns:a16="http://schemas.microsoft.com/office/drawing/2014/main" id="{06984FCB-B677-8DF1-0E20-A6205668EDFE}"/>
              </a:ext>
            </a:extLst>
          </p:cNvPr>
          <p:cNvSpPr>
            <a:spLocks noGrp="1" noChangeArrowheads="1"/>
          </p:cNvSpPr>
          <p:nvPr>
            <p:ph type="title"/>
          </p:nvPr>
        </p:nvSpPr>
        <p:spPr/>
        <p:txBody>
          <a:bodyPr>
            <a:normAutofit/>
          </a:bodyPr>
          <a:lstStyle/>
          <a:p>
            <a:r>
              <a:rPr lang="en-US" altLang="en-US" dirty="0"/>
              <a:t>Concept of Block</a:t>
            </a:r>
            <a:endParaRPr lang="ru-RU" altLang="en-US" dirty="0"/>
          </a:p>
        </p:txBody>
      </p:sp>
      <p:sp>
        <p:nvSpPr>
          <p:cNvPr id="72707" name="Content Placeholder 12">
            <a:extLst>
              <a:ext uri="{FF2B5EF4-FFF2-40B4-BE49-F238E27FC236}">
                <a16:creationId xmlns:a16="http://schemas.microsoft.com/office/drawing/2014/main" id="{53065510-3104-7D77-1F39-C63D37FD262E}"/>
              </a:ext>
            </a:extLst>
          </p:cNvPr>
          <p:cNvSpPr>
            <a:spLocks noGrp="1" noChangeArrowheads="1"/>
          </p:cNvSpPr>
          <p:nvPr>
            <p:ph type="body" sz="quarter" idx="13"/>
          </p:nvPr>
        </p:nvSpPr>
        <p:spPr/>
        <p:txBody>
          <a:bodyPr/>
          <a:lstStyle/>
          <a:p>
            <a:r>
              <a:rPr lang="en-US" altLang="en-US"/>
              <a:t> Sequential Block		</a:t>
            </a:r>
            <a:endParaRPr lang="ru-RU" altLang="en-US"/>
          </a:p>
          <a:p>
            <a:endParaRPr lang="ru-RU" altLang="en-US"/>
          </a:p>
        </p:txBody>
      </p:sp>
      <p:sp>
        <p:nvSpPr>
          <p:cNvPr id="72706" name="Content Placeholder 13">
            <a:extLst>
              <a:ext uri="{FF2B5EF4-FFF2-40B4-BE49-F238E27FC236}">
                <a16:creationId xmlns:a16="http://schemas.microsoft.com/office/drawing/2014/main" id="{E3572D1D-6032-B254-51E3-D515E78884E0}"/>
              </a:ext>
            </a:extLst>
          </p:cNvPr>
          <p:cNvSpPr>
            <a:spLocks noGrp="1" noChangeArrowheads="1"/>
          </p:cNvSpPr>
          <p:nvPr>
            <p:ph type="body" sz="quarter" idx="14"/>
          </p:nvPr>
        </p:nvSpPr>
        <p:spPr/>
        <p:txBody>
          <a:bodyPr/>
          <a:lstStyle/>
          <a:p>
            <a:r>
              <a:rPr lang="en-US" altLang="en-US"/>
              <a:t>Named Sequential Block		</a:t>
            </a:r>
            <a:endParaRPr lang="ru-RU" altLang="en-US"/>
          </a:p>
          <a:p>
            <a:endParaRPr lang="ru-RU" altLang="en-US"/>
          </a:p>
        </p:txBody>
      </p:sp>
      <p:graphicFrame>
        <p:nvGraphicFramePr>
          <p:cNvPr id="8" name="Table 7">
            <a:extLst>
              <a:ext uri="{FF2B5EF4-FFF2-40B4-BE49-F238E27FC236}">
                <a16:creationId xmlns:a16="http://schemas.microsoft.com/office/drawing/2014/main" id="{F37E2821-F5FF-46D2-A876-E15EED13A0F5}"/>
              </a:ext>
            </a:extLst>
          </p:cNvPr>
          <p:cNvGraphicFramePr>
            <a:graphicFrameLocks noGrp="1"/>
          </p:cNvGraphicFramePr>
          <p:nvPr>
            <p:extLst>
              <p:ext uri="{D42A27DB-BD31-4B8C-83A1-F6EECF244321}">
                <p14:modId xmlns:p14="http://schemas.microsoft.com/office/powerpoint/2010/main" val="778169941"/>
              </p:ext>
            </p:extLst>
          </p:nvPr>
        </p:nvGraphicFramePr>
        <p:xfrm>
          <a:off x="942278" y="2017176"/>
          <a:ext cx="2743200" cy="195738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tblGrid>
              <a:tr h="1957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begin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procedural statement;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procedural statement;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end</a:t>
                      </a:r>
                      <a:endParaRPr kumimoji="0" lang="ru-RU" sz="1800" b="0" i="0" u="none" strike="noStrike" cap="none" normalizeH="0" baseline="0" dirty="0">
                        <a:ln>
                          <a:noFill/>
                        </a:ln>
                        <a:solidFill>
                          <a:srgbClr val="0000FF"/>
                        </a:solidFill>
                        <a:effectLst/>
                        <a:latin typeface="Arial" pitchFamily="34" charset="0"/>
                        <a:cs typeface="Arial" pitchFamily="34" charset="0"/>
                      </a:endParaRPr>
                    </a:p>
                    <a:p>
                      <a:endParaRPr lang="ru-RU" sz="1800" dirty="0"/>
                    </a:p>
                  </a:txBody>
                  <a:tcPr marT="45733" marB="45733">
                    <a:solidFill>
                      <a:schemeClr val="accent1">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C054B9ED-38E0-4FBD-B4A0-6E82C23003C8}"/>
              </a:ext>
            </a:extLst>
          </p:cNvPr>
          <p:cNvGraphicFramePr>
            <a:graphicFrameLocks noGrp="1"/>
          </p:cNvGraphicFramePr>
          <p:nvPr>
            <p:extLst>
              <p:ext uri="{D42A27DB-BD31-4B8C-83A1-F6EECF244321}">
                <p14:modId xmlns:p14="http://schemas.microsoft.com/office/powerpoint/2010/main" val="1342251492"/>
              </p:ext>
            </p:extLst>
          </p:nvPr>
        </p:nvGraphicFramePr>
        <p:xfrm>
          <a:off x="6603381" y="2017176"/>
          <a:ext cx="3048000" cy="261512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tblGrid>
              <a:tr h="2614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begin: </a:t>
                      </a:r>
                      <a:r>
                        <a:rPr kumimoji="0" lang="en-US" sz="1800" b="0" i="0" u="none" strike="noStrike" cap="none" normalizeH="0" baseline="0" dirty="0" err="1">
                          <a:ln>
                            <a:noFill/>
                          </a:ln>
                          <a:solidFill>
                            <a:schemeClr val="tx1"/>
                          </a:solidFill>
                          <a:effectLst/>
                          <a:latin typeface="Arial" pitchFamily="34" charset="0"/>
                          <a:cs typeface="Arial" pitchFamily="34" charset="0"/>
                        </a:rPr>
                        <a:t>block_name</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variable declaration;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parameter declaration;</a:t>
                      </a:r>
                      <a:endParaRPr kumimoji="0" lang="en-US" sz="1800" b="0" i="0" u="none" strike="noStrike" cap="none" normalizeH="0" baseline="0" dirty="0">
                        <a:ln>
                          <a:noFill/>
                        </a:ln>
                        <a:solidFill>
                          <a:srgbClr val="0066FF"/>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procedural statement;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procedural statement;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end</a:t>
                      </a:r>
                      <a:endParaRPr kumimoji="0" lang="ru-RU" sz="1800" b="0" i="0" u="none" strike="noStrike" cap="none" normalizeH="0" baseline="0" dirty="0">
                        <a:ln>
                          <a:noFill/>
                        </a:ln>
                        <a:solidFill>
                          <a:srgbClr val="0000FF"/>
                        </a:solidFill>
                        <a:effectLst/>
                        <a:latin typeface="Arial" pitchFamily="34" charset="0"/>
                        <a:cs typeface="Arial" pitchFamily="34" charset="0"/>
                      </a:endParaRPr>
                    </a:p>
                    <a:p>
                      <a:endParaRPr lang="ru-RU" sz="1800" dirty="0"/>
                    </a:p>
                  </a:txBody>
                  <a:tcPr marT="45691" marB="45691">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D4155D-4345-C4FA-41C0-161DA913D373}"/>
              </a:ext>
            </a:extLst>
          </p:cNvPr>
          <p:cNvSpPr>
            <a:spLocks noGrp="1"/>
          </p:cNvSpPr>
          <p:nvPr>
            <p:ph type="body" sz="quarter" idx="14"/>
          </p:nvPr>
        </p:nvSpPr>
        <p:spPr/>
        <p:txBody>
          <a:bodyPr/>
          <a:lstStyle/>
          <a:p>
            <a:r>
              <a:rPr lang="en-US" sz="1800" dirty="0"/>
              <a:t>always @(posedge a)</a:t>
            </a:r>
          </a:p>
          <a:p>
            <a:r>
              <a:rPr lang="en-US" sz="1800" dirty="0"/>
              <a:t>begin</a:t>
            </a:r>
          </a:p>
          <a:p>
            <a:r>
              <a:rPr lang="en-US" sz="1800" dirty="0"/>
              <a:t>fork</a:t>
            </a:r>
          </a:p>
          <a:p>
            <a:r>
              <a:rPr lang="en-US" sz="1800" dirty="0"/>
              <a:t>#20 b=0;// at time= 30,at time=120</a:t>
            </a:r>
          </a:p>
          <a:p>
            <a:r>
              <a:rPr lang="en-US" sz="1800" dirty="0"/>
              <a:t>#10 b=a;// at time=20, at time=110</a:t>
            </a:r>
          </a:p>
          <a:p>
            <a:r>
              <a:rPr lang="en-US" sz="1800" dirty="0"/>
              <a:t>#30 b=1’bz;// at time=40, at time=130</a:t>
            </a:r>
          </a:p>
          <a:p>
            <a:r>
              <a:rPr lang="en-US" sz="1800" dirty="0"/>
              <a:t>join </a:t>
            </a:r>
          </a:p>
          <a:p>
            <a:r>
              <a:rPr lang="en-US" sz="1800" dirty="0"/>
              <a:t>#5 b=1’bz;//at time=45,at time=135</a:t>
            </a:r>
          </a:p>
          <a:p>
            <a:r>
              <a:rPr lang="en-US" sz="1800" dirty="0"/>
              <a:t>end</a:t>
            </a:r>
          </a:p>
          <a:p>
            <a:r>
              <a:rPr lang="en-US" sz="1800" dirty="0" err="1"/>
              <a:t>endmodule</a:t>
            </a:r>
            <a:endParaRPr lang="en-US" sz="1800" dirty="0"/>
          </a:p>
          <a:p>
            <a:pPr marL="0" indent="0">
              <a:buNone/>
            </a:pPr>
            <a:endParaRPr lang="en-US" sz="1800" dirty="0"/>
          </a:p>
        </p:txBody>
      </p:sp>
      <p:sp>
        <p:nvSpPr>
          <p:cNvPr id="2" name="Text Placeholder 1">
            <a:extLst>
              <a:ext uri="{FF2B5EF4-FFF2-40B4-BE49-F238E27FC236}">
                <a16:creationId xmlns:a16="http://schemas.microsoft.com/office/drawing/2014/main" id="{DE25D559-2968-2956-8D52-C89AF387A868}"/>
              </a:ext>
            </a:extLst>
          </p:cNvPr>
          <p:cNvSpPr>
            <a:spLocks noGrp="1"/>
          </p:cNvSpPr>
          <p:nvPr>
            <p:ph type="body" sz="quarter" idx="13"/>
          </p:nvPr>
        </p:nvSpPr>
        <p:spPr/>
        <p:txBody>
          <a:bodyPr/>
          <a:lstStyle/>
          <a:p>
            <a:r>
              <a:rPr lang="en-US" sz="1800" dirty="0"/>
              <a:t>Parallel block is enclosed </a:t>
            </a:r>
          </a:p>
          <a:p>
            <a:r>
              <a:rPr lang="en-US" sz="1800" dirty="0"/>
              <a:t>between  keyword fork and join.</a:t>
            </a:r>
          </a:p>
          <a:p>
            <a:r>
              <a:rPr lang="en-US" sz="1800" dirty="0"/>
              <a:t> The order of operators does not</a:t>
            </a:r>
          </a:p>
          <a:p>
            <a:r>
              <a:rPr lang="en-US" sz="1800" dirty="0"/>
              <a:t> matter (operators are executed in parallel).</a:t>
            </a:r>
          </a:p>
          <a:p>
            <a:r>
              <a:rPr lang="en-US" sz="1800" dirty="0"/>
              <a:t>Example:</a:t>
            </a:r>
          </a:p>
          <a:p>
            <a:r>
              <a:rPr lang="en-US" sz="1800" dirty="0"/>
              <a:t>initial </a:t>
            </a:r>
          </a:p>
          <a:p>
            <a:r>
              <a:rPr lang="en-US" sz="1800" dirty="0"/>
              <a:t>begin a=0; //executed at time=0</a:t>
            </a:r>
          </a:p>
          <a:p>
            <a:r>
              <a:rPr lang="en-US" sz="1800" dirty="0"/>
              <a:t>#10 a=1;// executed at time=10	</a:t>
            </a:r>
          </a:p>
          <a:p>
            <a:r>
              <a:rPr lang="en-US" sz="1800" dirty="0"/>
              <a:t>#20 a=0;//executed at time=30</a:t>
            </a:r>
          </a:p>
          <a:p>
            <a:r>
              <a:rPr lang="en-US" sz="1800" dirty="0"/>
              <a:t>#70 a=1;//executed at time=100</a:t>
            </a:r>
          </a:p>
          <a:p>
            <a:r>
              <a:rPr lang="en-US" sz="1800" dirty="0"/>
              <a:t>#20 a=0;//executed at time=120</a:t>
            </a:r>
          </a:p>
          <a:p>
            <a:r>
              <a:rPr lang="en-US" sz="1800" dirty="0"/>
              <a:t>end</a:t>
            </a:r>
          </a:p>
          <a:p>
            <a:endParaRPr lang="en-US" sz="1600" dirty="0"/>
          </a:p>
        </p:txBody>
      </p:sp>
      <p:grpSp>
        <p:nvGrpSpPr>
          <p:cNvPr id="73730" name="Group 9">
            <a:extLst>
              <a:ext uri="{FF2B5EF4-FFF2-40B4-BE49-F238E27FC236}">
                <a16:creationId xmlns:a16="http://schemas.microsoft.com/office/drawing/2014/main" id="{5CCB166C-7594-4837-B573-810185F0E404}"/>
              </a:ext>
            </a:extLst>
          </p:cNvPr>
          <p:cNvGrpSpPr>
            <a:grpSpLocks/>
          </p:cNvGrpSpPr>
          <p:nvPr/>
        </p:nvGrpSpPr>
        <p:grpSpPr bwMode="auto">
          <a:xfrm>
            <a:off x="1696844" y="1373647"/>
            <a:ext cx="7924800" cy="4076011"/>
            <a:chOff x="152400" y="1108648"/>
            <a:chExt cx="8915400" cy="4544440"/>
          </a:xfrm>
          <a:noFill/>
        </p:grpSpPr>
        <p:sp>
          <p:nvSpPr>
            <p:cNvPr id="51208" name="Rectangle 7">
              <a:extLst>
                <a:ext uri="{FF2B5EF4-FFF2-40B4-BE49-F238E27FC236}">
                  <a16:creationId xmlns:a16="http://schemas.microsoft.com/office/drawing/2014/main" id="{4119B447-27FD-4455-B0B9-FFED69EE70B0}"/>
                </a:ext>
              </a:extLst>
            </p:cNvPr>
            <p:cNvSpPr>
              <a:spLocks noChangeArrowheads="1"/>
            </p:cNvSpPr>
            <p:nvPr/>
          </p:nvSpPr>
          <p:spPr bwMode="auto">
            <a:xfrm>
              <a:off x="152400" y="1371600"/>
              <a:ext cx="4191000" cy="4281488"/>
            </a:xfrm>
            <a:prstGeom prst="rect">
              <a:avLst/>
            </a:prstGeom>
            <a:grpFill/>
            <a:ln w="9525">
              <a:noFill/>
              <a:miter lim="800000"/>
              <a:headEnd/>
              <a:tailEnd/>
            </a:ln>
          </p:spPr>
          <p:txBody>
            <a:bodyPr wrap="none" anchor="ctr"/>
            <a:lstStyle/>
            <a:p>
              <a:pPr eaLnBrk="1" hangingPunct="1">
                <a:defRPr/>
              </a:pPr>
              <a:endParaRPr lang="ru-RU"/>
            </a:p>
          </p:txBody>
        </p:sp>
        <p:sp>
          <p:nvSpPr>
            <p:cNvPr id="51206" name="Rectangle 9">
              <a:extLst>
                <a:ext uri="{FF2B5EF4-FFF2-40B4-BE49-F238E27FC236}">
                  <a16:creationId xmlns:a16="http://schemas.microsoft.com/office/drawing/2014/main" id="{089FD14C-A5A1-4EE3-B417-AA8EAFD8C252}"/>
                </a:ext>
              </a:extLst>
            </p:cNvPr>
            <p:cNvSpPr>
              <a:spLocks noChangeArrowheads="1"/>
            </p:cNvSpPr>
            <p:nvPr/>
          </p:nvSpPr>
          <p:spPr bwMode="auto">
            <a:xfrm>
              <a:off x="4648200" y="2590800"/>
              <a:ext cx="4419600" cy="2955925"/>
            </a:xfrm>
            <a:prstGeom prst="rect">
              <a:avLst/>
            </a:prstGeom>
            <a:grpFill/>
            <a:ln w="9525">
              <a:noFill/>
              <a:miter lim="800000"/>
              <a:headEnd/>
              <a:tailEnd/>
            </a:ln>
          </p:spPr>
          <p:txBody>
            <a:bodyPr wrap="none" anchor="ctr"/>
            <a:lstStyle/>
            <a:p>
              <a:pPr eaLnBrk="1" hangingPunct="1">
                <a:defRPr/>
              </a:pPr>
              <a:endParaRPr lang="ru-RU"/>
            </a:p>
          </p:txBody>
        </p:sp>
        <p:sp>
          <p:nvSpPr>
            <p:cNvPr id="73734" name="Freeform 12">
              <a:extLst>
                <a:ext uri="{FF2B5EF4-FFF2-40B4-BE49-F238E27FC236}">
                  <a16:creationId xmlns:a16="http://schemas.microsoft.com/office/drawing/2014/main" id="{A324B316-E013-49D7-95E5-9CAD1FEBF009}"/>
                </a:ext>
              </a:extLst>
            </p:cNvPr>
            <p:cNvSpPr>
              <a:spLocks/>
            </p:cNvSpPr>
            <p:nvPr/>
          </p:nvSpPr>
          <p:spPr bwMode="auto">
            <a:xfrm rot="319979">
              <a:off x="4263309" y="1108648"/>
              <a:ext cx="626514" cy="4542013"/>
            </a:xfrm>
            <a:custGeom>
              <a:avLst/>
              <a:gdLst>
                <a:gd name="T0" fmla="*/ 0 w 264"/>
                <a:gd name="T1" fmla="*/ 2147483646 h 1872"/>
                <a:gd name="T2" fmla="*/ 2147483646 w 264"/>
                <a:gd name="T3" fmla="*/ 2147483646 h 1872"/>
                <a:gd name="T4" fmla="*/ 2147483646 w 264"/>
                <a:gd name="T5" fmla="*/ 2147483646 h 1872"/>
                <a:gd name="T6" fmla="*/ 2147483646 w 264"/>
                <a:gd name="T7" fmla="*/ 0 h 1872"/>
                <a:gd name="T8" fmla="*/ 0 60000 65536"/>
                <a:gd name="T9" fmla="*/ 0 60000 65536"/>
                <a:gd name="T10" fmla="*/ 0 60000 65536"/>
                <a:gd name="T11" fmla="*/ 0 60000 65536"/>
                <a:gd name="T12" fmla="*/ 0 w 264"/>
                <a:gd name="T13" fmla="*/ 0 h 1872"/>
                <a:gd name="T14" fmla="*/ 264 w 264"/>
                <a:gd name="T15" fmla="*/ 1872 h 1872"/>
              </a:gdLst>
              <a:ahLst/>
              <a:cxnLst>
                <a:cxn ang="T8">
                  <a:pos x="T0" y="T1"/>
                </a:cxn>
                <a:cxn ang="T9">
                  <a:pos x="T2" y="T3"/>
                </a:cxn>
                <a:cxn ang="T10">
                  <a:pos x="T4" y="T5"/>
                </a:cxn>
                <a:cxn ang="T11">
                  <a:pos x="T6" y="T7"/>
                </a:cxn>
              </a:cxnLst>
              <a:rect l="T12" t="T13" r="T14" b="T15"/>
              <a:pathLst>
                <a:path w="264" h="1872">
                  <a:moveTo>
                    <a:pt x="0" y="1872"/>
                  </a:moveTo>
                  <a:cubicBezTo>
                    <a:pt x="108" y="1740"/>
                    <a:pt x="216" y="1608"/>
                    <a:pt x="240" y="1344"/>
                  </a:cubicBezTo>
                  <a:cubicBezTo>
                    <a:pt x="264" y="1080"/>
                    <a:pt x="144" y="512"/>
                    <a:pt x="144" y="288"/>
                  </a:cubicBezTo>
                  <a:cubicBezTo>
                    <a:pt x="144" y="64"/>
                    <a:pt x="224" y="48"/>
                    <a:pt x="240" y="0"/>
                  </a:cubicBezTo>
                </a:path>
              </a:pathLst>
            </a:custGeom>
            <a:grpFill/>
            <a:ln w="9525">
              <a:solidFill>
                <a:schemeClr val="tx1"/>
              </a:solidFill>
              <a:round/>
              <a:headEnd/>
              <a:tailEnd type="triangle" w="lg" len="lg"/>
            </a:ln>
          </p:spPr>
          <p:txBody>
            <a:bodyPr/>
            <a:lstStyle/>
            <a:p>
              <a:pPr>
                <a:defRPr/>
              </a:pPr>
              <a:endParaRPr lang="en-US"/>
            </a:p>
          </p:txBody>
        </p:sp>
      </p:grpSp>
      <p:sp>
        <p:nvSpPr>
          <p:cNvPr id="73731" name="Title 10">
            <a:extLst>
              <a:ext uri="{FF2B5EF4-FFF2-40B4-BE49-F238E27FC236}">
                <a16:creationId xmlns:a16="http://schemas.microsoft.com/office/drawing/2014/main" id="{D4C2E169-2CB6-C425-06A8-247A50C8F061}"/>
              </a:ext>
            </a:extLst>
          </p:cNvPr>
          <p:cNvSpPr>
            <a:spLocks noGrp="1" noChangeArrowheads="1"/>
          </p:cNvSpPr>
          <p:nvPr>
            <p:ph type="title"/>
          </p:nvPr>
        </p:nvSpPr>
        <p:spPr/>
        <p:txBody>
          <a:bodyPr>
            <a:normAutofit/>
          </a:bodyPr>
          <a:lstStyle/>
          <a:p>
            <a:r>
              <a:rPr lang="en-US" altLang="en-US" dirty="0"/>
              <a:t>Parallel Block</a:t>
            </a:r>
            <a:endParaRPr lang="ru-RU"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itle 20">
            <a:extLst>
              <a:ext uri="{FF2B5EF4-FFF2-40B4-BE49-F238E27FC236}">
                <a16:creationId xmlns:a16="http://schemas.microsoft.com/office/drawing/2014/main" id="{8EC51FE5-41C8-3FCC-6BBB-DAED34E65364}"/>
              </a:ext>
            </a:extLst>
          </p:cNvPr>
          <p:cNvSpPr>
            <a:spLocks noGrp="1" noChangeArrowheads="1"/>
          </p:cNvSpPr>
          <p:nvPr>
            <p:ph type="title"/>
          </p:nvPr>
        </p:nvSpPr>
        <p:spPr/>
        <p:txBody>
          <a:bodyPr>
            <a:normAutofit/>
          </a:bodyPr>
          <a:lstStyle/>
          <a:p>
            <a:r>
              <a:rPr lang="en-US" altLang="en-US" dirty="0"/>
              <a:t>If Statement</a:t>
            </a:r>
            <a:endParaRPr lang="ru-RU" altLang="en-US" dirty="0"/>
          </a:p>
        </p:txBody>
      </p:sp>
      <p:sp>
        <p:nvSpPr>
          <p:cNvPr id="74754" name="Content Placeholder 21">
            <a:extLst>
              <a:ext uri="{FF2B5EF4-FFF2-40B4-BE49-F238E27FC236}">
                <a16:creationId xmlns:a16="http://schemas.microsoft.com/office/drawing/2014/main" id="{1417DB95-59A5-903F-AE86-3E8442A263BE}"/>
              </a:ext>
            </a:extLst>
          </p:cNvPr>
          <p:cNvSpPr>
            <a:spLocks noGrp="1" noChangeArrowheads="1"/>
          </p:cNvSpPr>
          <p:nvPr>
            <p:ph type="body" sz="quarter" idx="10"/>
          </p:nvPr>
        </p:nvSpPr>
        <p:spPr/>
        <p:txBody>
          <a:bodyPr/>
          <a:lstStyle/>
          <a:p>
            <a:r>
              <a:rPr lang="en-US" altLang="en-US"/>
              <a:t>Keyword: if-else</a:t>
            </a:r>
          </a:p>
          <a:p>
            <a:endParaRPr lang="ru-RU" altLang="en-US"/>
          </a:p>
        </p:txBody>
      </p:sp>
      <p:grpSp>
        <p:nvGrpSpPr>
          <p:cNvPr id="74755" name="Group 17">
            <a:extLst>
              <a:ext uri="{FF2B5EF4-FFF2-40B4-BE49-F238E27FC236}">
                <a16:creationId xmlns:a16="http://schemas.microsoft.com/office/drawing/2014/main" id="{F6EC4DF4-A959-4A5B-8FBE-D462D80DEC54}"/>
              </a:ext>
            </a:extLst>
          </p:cNvPr>
          <p:cNvGrpSpPr>
            <a:grpSpLocks/>
          </p:cNvGrpSpPr>
          <p:nvPr/>
        </p:nvGrpSpPr>
        <p:grpSpPr bwMode="auto">
          <a:xfrm>
            <a:off x="2781300" y="1981200"/>
            <a:ext cx="6223000" cy="3200400"/>
            <a:chOff x="533400" y="1676400"/>
            <a:chExt cx="6223000" cy="3505200"/>
          </a:xfrm>
          <a:noFill/>
        </p:grpSpPr>
        <p:grpSp>
          <p:nvGrpSpPr>
            <p:cNvPr id="3" name="Group 24">
              <a:extLst>
                <a:ext uri="{FF2B5EF4-FFF2-40B4-BE49-F238E27FC236}">
                  <a16:creationId xmlns:a16="http://schemas.microsoft.com/office/drawing/2014/main" id="{6DEBFEE2-B3A2-4C0B-A844-9FE7C19A6615}"/>
                </a:ext>
              </a:extLst>
            </p:cNvPr>
            <p:cNvGrpSpPr>
              <a:grpSpLocks/>
            </p:cNvGrpSpPr>
            <p:nvPr/>
          </p:nvGrpSpPr>
          <p:grpSpPr bwMode="auto">
            <a:xfrm>
              <a:off x="533400" y="4572000"/>
              <a:ext cx="5867400" cy="609600"/>
              <a:chOff x="336" y="2880"/>
              <a:chExt cx="3696" cy="384"/>
            </a:xfrm>
            <a:grpFill/>
          </p:grpSpPr>
          <p:sp>
            <p:nvSpPr>
              <p:cNvPr id="52238" name="Rectangle 23">
                <a:extLst>
                  <a:ext uri="{FF2B5EF4-FFF2-40B4-BE49-F238E27FC236}">
                    <a16:creationId xmlns:a16="http://schemas.microsoft.com/office/drawing/2014/main" id="{36B3341A-38D3-4A89-BB70-FACB6AD2F152}"/>
                  </a:ext>
                </a:extLst>
              </p:cNvPr>
              <p:cNvSpPr>
                <a:spLocks noChangeArrowheads="1"/>
              </p:cNvSpPr>
              <p:nvPr/>
            </p:nvSpPr>
            <p:spPr bwMode="auto">
              <a:xfrm>
                <a:off x="336" y="2880"/>
                <a:ext cx="3696" cy="384"/>
              </a:xfrm>
              <a:prstGeom prst="rect">
                <a:avLst/>
              </a:prstGeom>
              <a:grpFill/>
              <a:ln w="9525">
                <a:noFill/>
                <a:miter lim="800000"/>
                <a:headEnd/>
                <a:tailEnd/>
              </a:ln>
            </p:spPr>
            <p:txBody>
              <a:bodyPr wrap="none" anchor="ctr"/>
              <a:lstStyle/>
              <a:p>
                <a:pPr eaLnBrk="1" hangingPunct="1">
                  <a:defRPr/>
                </a:pPr>
                <a:endParaRPr lang="ru-RU"/>
              </a:p>
            </p:txBody>
          </p:sp>
          <p:grpSp>
            <p:nvGrpSpPr>
              <p:cNvPr id="4" name="Group 22">
                <a:extLst>
                  <a:ext uri="{FF2B5EF4-FFF2-40B4-BE49-F238E27FC236}">
                    <a16:creationId xmlns:a16="http://schemas.microsoft.com/office/drawing/2014/main" id="{E89BF92E-F3E1-448D-8714-C95C583AEB15}"/>
                  </a:ext>
                </a:extLst>
              </p:cNvPr>
              <p:cNvGrpSpPr>
                <a:grpSpLocks/>
              </p:cNvGrpSpPr>
              <p:nvPr/>
            </p:nvGrpSpPr>
            <p:grpSpPr bwMode="auto">
              <a:xfrm>
                <a:off x="336" y="2895"/>
                <a:ext cx="3651" cy="319"/>
                <a:chOff x="336" y="2895"/>
                <a:chExt cx="3651" cy="319"/>
              </a:xfrm>
              <a:grpFill/>
            </p:grpSpPr>
            <p:sp>
              <p:nvSpPr>
                <p:cNvPr id="52240" name="Text Box 13">
                  <a:extLst>
                    <a:ext uri="{FF2B5EF4-FFF2-40B4-BE49-F238E27FC236}">
                      <a16:creationId xmlns:a16="http://schemas.microsoft.com/office/drawing/2014/main" id="{FCB2A851-8A70-49BF-A1BE-DDE8E7109AEC}"/>
                    </a:ext>
                  </a:extLst>
                </p:cNvPr>
                <p:cNvSpPr txBox="1">
                  <a:spLocks noChangeArrowheads="1"/>
                </p:cNvSpPr>
                <p:nvPr/>
              </p:nvSpPr>
              <p:spPr bwMode="auto">
                <a:xfrm>
                  <a:off x="336" y="2895"/>
                  <a:ext cx="3651" cy="319"/>
                </a:xfrm>
                <a:prstGeom prst="rect">
                  <a:avLst/>
                </a:prstGeom>
                <a:grpFill/>
                <a:ln w="9525">
                  <a:noFill/>
                  <a:miter lim="800000"/>
                  <a:headEnd/>
                  <a:tailEnd/>
                </a:ln>
              </p:spPr>
              <p:txBody>
                <a:bodyPr>
                  <a:spAutoFit/>
                </a:bodyPr>
                <a:lstStyle/>
                <a:p>
                  <a:pPr eaLnBrk="1" hangingPunct="1">
                    <a:spcBef>
                      <a:spcPct val="50000"/>
                    </a:spcBef>
                    <a:defRPr/>
                  </a:pPr>
                  <a:r>
                    <a:rPr lang="en-US" sz="2400" dirty="0">
                      <a:solidFill>
                        <a:srgbClr val="0000FF"/>
                      </a:solidFill>
                    </a:rPr>
                    <a:t>if</a:t>
                  </a:r>
                  <a:r>
                    <a:rPr lang="en-US" sz="2400" dirty="0">
                      <a:solidFill>
                        <a:srgbClr val="0066FF"/>
                      </a:solidFill>
                    </a:rPr>
                    <a:t> </a:t>
                  </a:r>
                  <a:r>
                    <a:rPr lang="en-US" sz="2400" dirty="0"/>
                    <a:t>(expression)	</a:t>
                  </a:r>
                  <a:r>
                    <a:rPr lang="en-US" sz="2400" dirty="0">
                      <a:solidFill>
                        <a:srgbClr val="0000FF"/>
                      </a:solidFill>
                    </a:rPr>
                    <a:t>if</a:t>
                  </a:r>
                  <a:r>
                    <a:rPr lang="en-US" sz="2400" dirty="0"/>
                    <a:t>(expression!=0)</a:t>
                  </a:r>
                  <a:endParaRPr lang="ru-RU" sz="2400" dirty="0"/>
                </a:p>
              </p:txBody>
            </p:sp>
            <p:sp>
              <p:nvSpPr>
                <p:cNvPr id="52241" name="AutoShape 14">
                  <a:extLst>
                    <a:ext uri="{FF2B5EF4-FFF2-40B4-BE49-F238E27FC236}">
                      <a16:creationId xmlns:a16="http://schemas.microsoft.com/office/drawing/2014/main" id="{EB745CC9-5F9E-4EFB-A101-86165CFE8A57}"/>
                    </a:ext>
                  </a:extLst>
                </p:cNvPr>
                <p:cNvSpPr>
                  <a:spLocks noChangeArrowheads="1"/>
                </p:cNvSpPr>
                <p:nvPr/>
              </p:nvSpPr>
              <p:spPr bwMode="auto">
                <a:xfrm>
                  <a:off x="1728" y="3024"/>
                  <a:ext cx="318" cy="90"/>
                </a:xfrm>
                <a:prstGeom prst="leftRightArrow">
                  <a:avLst>
                    <a:gd name="adj1" fmla="val 50000"/>
                    <a:gd name="adj2" fmla="val 70667"/>
                  </a:avLst>
                </a:prstGeom>
                <a:grpFill/>
                <a:ln w="9525">
                  <a:solidFill>
                    <a:schemeClr val="tx1"/>
                  </a:solidFill>
                  <a:miter lim="800000"/>
                  <a:headEnd/>
                  <a:tailEnd/>
                </a:ln>
              </p:spPr>
              <p:txBody>
                <a:bodyPr wrap="none" anchor="ctr"/>
                <a:lstStyle/>
                <a:p>
                  <a:pPr eaLnBrk="1" hangingPunct="1">
                    <a:defRPr/>
                  </a:pPr>
                  <a:endParaRPr lang="ru-RU"/>
                </a:p>
              </p:txBody>
            </p:sp>
          </p:grpSp>
        </p:grpSp>
        <p:grpSp>
          <p:nvGrpSpPr>
            <p:cNvPr id="5" name="Group 21">
              <a:extLst>
                <a:ext uri="{FF2B5EF4-FFF2-40B4-BE49-F238E27FC236}">
                  <a16:creationId xmlns:a16="http://schemas.microsoft.com/office/drawing/2014/main" id="{BB83CF02-9737-450A-8531-454DEC88CFD3}"/>
                </a:ext>
              </a:extLst>
            </p:cNvPr>
            <p:cNvGrpSpPr>
              <a:grpSpLocks/>
            </p:cNvGrpSpPr>
            <p:nvPr/>
          </p:nvGrpSpPr>
          <p:grpSpPr bwMode="auto">
            <a:xfrm>
              <a:off x="914400" y="1676400"/>
              <a:ext cx="3886200" cy="533400"/>
              <a:chOff x="576" y="1056"/>
              <a:chExt cx="2448" cy="336"/>
            </a:xfrm>
            <a:grpFill/>
          </p:grpSpPr>
          <p:sp>
            <p:nvSpPr>
              <p:cNvPr id="52236" name="Rectangle 16">
                <a:extLst>
                  <a:ext uri="{FF2B5EF4-FFF2-40B4-BE49-F238E27FC236}">
                    <a16:creationId xmlns:a16="http://schemas.microsoft.com/office/drawing/2014/main" id="{E15D07CF-D331-4CCF-88D4-5E5DABAC5535}"/>
                  </a:ext>
                </a:extLst>
              </p:cNvPr>
              <p:cNvSpPr>
                <a:spLocks noChangeArrowheads="1"/>
              </p:cNvSpPr>
              <p:nvPr/>
            </p:nvSpPr>
            <p:spPr bwMode="auto">
              <a:xfrm>
                <a:off x="576" y="1056"/>
                <a:ext cx="2448" cy="336"/>
              </a:xfrm>
              <a:prstGeom prst="rect">
                <a:avLst/>
              </a:prstGeom>
              <a:grpFill/>
              <a:ln w="9525">
                <a:noFill/>
                <a:miter lim="800000"/>
                <a:headEnd/>
                <a:tailEnd/>
              </a:ln>
            </p:spPr>
            <p:txBody>
              <a:bodyPr wrap="none" anchor="ctr"/>
              <a:lstStyle/>
              <a:p>
                <a:pPr eaLnBrk="1" hangingPunct="1">
                  <a:defRPr/>
                </a:pPr>
                <a:endParaRPr lang="ru-RU"/>
              </a:p>
            </p:txBody>
          </p:sp>
          <p:sp>
            <p:nvSpPr>
              <p:cNvPr id="52237" name="Text Box 13">
                <a:extLst>
                  <a:ext uri="{FF2B5EF4-FFF2-40B4-BE49-F238E27FC236}">
                    <a16:creationId xmlns:a16="http://schemas.microsoft.com/office/drawing/2014/main" id="{9A7C7B13-1CE5-4ADF-BAAB-4BE446950820}"/>
                  </a:ext>
                </a:extLst>
              </p:cNvPr>
              <p:cNvSpPr txBox="1">
                <a:spLocks noChangeArrowheads="1"/>
              </p:cNvSpPr>
              <p:nvPr/>
            </p:nvSpPr>
            <p:spPr bwMode="auto">
              <a:xfrm>
                <a:off x="590" y="1099"/>
                <a:ext cx="2434" cy="255"/>
              </a:xfrm>
              <a:prstGeom prst="rect">
                <a:avLst/>
              </a:prstGeom>
              <a:grpFill/>
              <a:ln w="9525">
                <a:noFill/>
                <a:miter lim="800000"/>
                <a:headEnd/>
                <a:tailEnd/>
              </a:ln>
            </p:spPr>
            <p:txBody>
              <a:bodyPr>
                <a:spAutoFit/>
              </a:bodyPr>
              <a:lstStyle/>
              <a:p>
                <a:pPr eaLnBrk="1" hangingPunct="1">
                  <a:spcBef>
                    <a:spcPct val="50000"/>
                  </a:spcBef>
                  <a:defRPr/>
                </a:pPr>
                <a:r>
                  <a:rPr lang="en-US" dirty="0">
                    <a:solidFill>
                      <a:srgbClr val="0000FF"/>
                    </a:solidFill>
                  </a:rPr>
                  <a:t>if</a:t>
                </a:r>
                <a:r>
                  <a:rPr lang="en-US" dirty="0">
                    <a:solidFill>
                      <a:srgbClr val="3333FF"/>
                    </a:solidFill>
                  </a:rPr>
                  <a:t> </a:t>
                </a:r>
                <a:r>
                  <a:rPr lang="en-US" dirty="0"/>
                  <a:t>(&lt;expression) </a:t>
                </a:r>
                <a:r>
                  <a:rPr lang="en-US" dirty="0" err="1"/>
                  <a:t>true_statement</a:t>
                </a:r>
                <a:r>
                  <a:rPr lang="en-US" dirty="0"/>
                  <a:t>;</a:t>
                </a:r>
                <a:endParaRPr lang="ru-RU" dirty="0"/>
              </a:p>
            </p:txBody>
          </p:sp>
        </p:grpSp>
        <p:grpSp>
          <p:nvGrpSpPr>
            <p:cNvPr id="6" name="Group 20">
              <a:extLst>
                <a:ext uri="{FF2B5EF4-FFF2-40B4-BE49-F238E27FC236}">
                  <a16:creationId xmlns:a16="http://schemas.microsoft.com/office/drawing/2014/main" id="{4339BC1F-3671-496F-92C9-0644F805B229}"/>
                </a:ext>
              </a:extLst>
            </p:cNvPr>
            <p:cNvGrpSpPr>
              <a:grpSpLocks/>
            </p:cNvGrpSpPr>
            <p:nvPr/>
          </p:nvGrpSpPr>
          <p:grpSpPr bwMode="auto">
            <a:xfrm>
              <a:off x="1422400" y="2324100"/>
              <a:ext cx="4038600" cy="838200"/>
              <a:chOff x="864" y="1392"/>
              <a:chExt cx="2544" cy="528"/>
            </a:xfrm>
            <a:grpFill/>
          </p:grpSpPr>
          <p:sp>
            <p:nvSpPr>
              <p:cNvPr id="52234" name="Rectangle 17">
                <a:extLst>
                  <a:ext uri="{FF2B5EF4-FFF2-40B4-BE49-F238E27FC236}">
                    <a16:creationId xmlns:a16="http://schemas.microsoft.com/office/drawing/2014/main" id="{505539E0-E8B1-404E-BC41-D696FDE85B61}"/>
                  </a:ext>
                </a:extLst>
              </p:cNvPr>
              <p:cNvSpPr>
                <a:spLocks noChangeArrowheads="1"/>
              </p:cNvSpPr>
              <p:nvPr/>
            </p:nvSpPr>
            <p:spPr bwMode="auto">
              <a:xfrm>
                <a:off x="864" y="1392"/>
                <a:ext cx="2496" cy="528"/>
              </a:xfrm>
              <a:prstGeom prst="rect">
                <a:avLst/>
              </a:prstGeom>
              <a:grpFill/>
              <a:ln w="9525">
                <a:noFill/>
                <a:miter lim="800000"/>
                <a:headEnd/>
                <a:tailEnd/>
              </a:ln>
            </p:spPr>
            <p:txBody>
              <a:bodyPr wrap="none" anchor="ctr"/>
              <a:lstStyle/>
              <a:p>
                <a:pPr eaLnBrk="1" hangingPunct="1">
                  <a:defRPr/>
                </a:pPr>
                <a:endParaRPr lang="ru-RU"/>
              </a:p>
            </p:txBody>
          </p:sp>
          <p:sp>
            <p:nvSpPr>
              <p:cNvPr id="52235" name="Text Box 14">
                <a:extLst>
                  <a:ext uri="{FF2B5EF4-FFF2-40B4-BE49-F238E27FC236}">
                    <a16:creationId xmlns:a16="http://schemas.microsoft.com/office/drawing/2014/main" id="{76AD12AA-555F-4859-9587-FE6E86198BE0}"/>
                  </a:ext>
                </a:extLst>
              </p:cNvPr>
              <p:cNvSpPr txBox="1">
                <a:spLocks noChangeArrowheads="1"/>
              </p:cNvSpPr>
              <p:nvPr/>
            </p:nvSpPr>
            <p:spPr bwMode="auto">
              <a:xfrm>
                <a:off x="912" y="1440"/>
                <a:ext cx="2496" cy="446"/>
              </a:xfrm>
              <a:prstGeom prst="rect">
                <a:avLst/>
              </a:prstGeom>
              <a:grpFill/>
              <a:ln w="9525">
                <a:noFill/>
                <a:miter lim="800000"/>
                <a:headEnd/>
                <a:tailEnd/>
              </a:ln>
            </p:spPr>
            <p:txBody>
              <a:bodyPr>
                <a:spAutoFit/>
              </a:bodyPr>
              <a:lstStyle/>
              <a:p>
                <a:pPr eaLnBrk="1" hangingPunct="1">
                  <a:defRPr/>
                </a:pPr>
                <a:r>
                  <a:rPr lang="en-US" dirty="0">
                    <a:solidFill>
                      <a:srgbClr val="0000FF"/>
                    </a:solidFill>
                  </a:rPr>
                  <a:t>if</a:t>
                </a:r>
                <a:r>
                  <a:rPr lang="en-US" dirty="0">
                    <a:solidFill>
                      <a:srgbClr val="339966"/>
                    </a:solidFill>
                  </a:rPr>
                  <a:t> </a:t>
                </a:r>
                <a:r>
                  <a:rPr lang="en-US" dirty="0"/>
                  <a:t>(&lt;expression) </a:t>
                </a:r>
                <a:r>
                  <a:rPr lang="en-US" dirty="0" err="1"/>
                  <a:t>true_statement</a:t>
                </a:r>
                <a:r>
                  <a:rPr lang="en-US" dirty="0"/>
                  <a:t>;</a:t>
                </a:r>
              </a:p>
              <a:p>
                <a:pPr eaLnBrk="1" hangingPunct="1">
                  <a:defRPr/>
                </a:pPr>
                <a:r>
                  <a:rPr lang="en-US" dirty="0">
                    <a:solidFill>
                      <a:srgbClr val="0000FF"/>
                    </a:solidFill>
                  </a:rPr>
                  <a:t>else</a:t>
                </a:r>
                <a:r>
                  <a:rPr lang="en-US" dirty="0">
                    <a:solidFill>
                      <a:srgbClr val="3333FF"/>
                    </a:solidFill>
                  </a:rPr>
                  <a:t>		</a:t>
                </a:r>
                <a:r>
                  <a:rPr lang="en-US" dirty="0"/>
                  <a:t>false statement;</a:t>
                </a:r>
                <a:endParaRPr lang="ru-RU" dirty="0"/>
              </a:p>
            </p:txBody>
          </p:sp>
        </p:grpSp>
        <p:grpSp>
          <p:nvGrpSpPr>
            <p:cNvPr id="7" name="Group 19">
              <a:extLst>
                <a:ext uri="{FF2B5EF4-FFF2-40B4-BE49-F238E27FC236}">
                  <a16:creationId xmlns:a16="http://schemas.microsoft.com/office/drawing/2014/main" id="{3348FEF4-5742-4C4C-8F25-89AF9B529B3C}"/>
                </a:ext>
              </a:extLst>
            </p:cNvPr>
            <p:cNvGrpSpPr>
              <a:grpSpLocks/>
            </p:cNvGrpSpPr>
            <p:nvPr/>
          </p:nvGrpSpPr>
          <p:grpSpPr bwMode="auto">
            <a:xfrm>
              <a:off x="2032000" y="3290887"/>
              <a:ext cx="4724400" cy="1155700"/>
              <a:chOff x="1248" y="1961"/>
              <a:chExt cx="2976" cy="728"/>
            </a:xfrm>
            <a:grpFill/>
          </p:grpSpPr>
          <p:sp>
            <p:nvSpPr>
              <p:cNvPr id="52232" name="Rectangle 18">
                <a:extLst>
                  <a:ext uri="{FF2B5EF4-FFF2-40B4-BE49-F238E27FC236}">
                    <a16:creationId xmlns:a16="http://schemas.microsoft.com/office/drawing/2014/main" id="{3C5A9189-4A05-4DD5-B6A0-7EE1A11B7C02}"/>
                  </a:ext>
                </a:extLst>
              </p:cNvPr>
              <p:cNvSpPr>
                <a:spLocks noChangeArrowheads="1"/>
              </p:cNvSpPr>
              <p:nvPr/>
            </p:nvSpPr>
            <p:spPr bwMode="auto">
              <a:xfrm>
                <a:off x="1296" y="1969"/>
                <a:ext cx="2880" cy="720"/>
              </a:xfrm>
              <a:prstGeom prst="rect">
                <a:avLst/>
              </a:prstGeom>
              <a:grpFill/>
              <a:ln w="9525">
                <a:noFill/>
                <a:miter lim="800000"/>
                <a:headEnd/>
                <a:tailEnd/>
              </a:ln>
            </p:spPr>
            <p:txBody>
              <a:bodyPr wrap="none" anchor="ctr"/>
              <a:lstStyle/>
              <a:p>
                <a:pPr eaLnBrk="1" hangingPunct="1">
                  <a:defRPr/>
                </a:pPr>
                <a:endParaRPr lang="ru-RU"/>
              </a:p>
            </p:txBody>
          </p:sp>
          <p:sp>
            <p:nvSpPr>
              <p:cNvPr id="52233" name="Text Box 15">
                <a:extLst>
                  <a:ext uri="{FF2B5EF4-FFF2-40B4-BE49-F238E27FC236}">
                    <a16:creationId xmlns:a16="http://schemas.microsoft.com/office/drawing/2014/main" id="{C33CA459-239A-457F-8FE1-A5DD8EE92468}"/>
                  </a:ext>
                </a:extLst>
              </p:cNvPr>
              <p:cNvSpPr txBox="1">
                <a:spLocks noChangeArrowheads="1"/>
              </p:cNvSpPr>
              <p:nvPr/>
            </p:nvSpPr>
            <p:spPr bwMode="auto">
              <a:xfrm>
                <a:off x="1248" y="1961"/>
                <a:ext cx="2976" cy="637"/>
              </a:xfrm>
              <a:prstGeom prst="rect">
                <a:avLst/>
              </a:prstGeom>
              <a:grpFill/>
              <a:ln w="9525">
                <a:noFill/>
                <a:miter lim="800000"/>
                <a:headEnd/>
                <a:tailEnd/>
              </a:ln>
            </p:spPr>
            <p:txBody>
              <a:bodyPr>
                <a:spAutoFit/>
              </a:bodyPr>
              <a:lstStyle/>
              <a:p>
                <a:pPr eaLnBrk="1" hangingPunct="1">
                  <a:defRPr/>
                </a:pPr>
                <a:r>
                  <a:rPr lang="en-US" dirty="0">
                    <a:solidFill>
                      <a:srgbClr val="0000FF"/>
                    </a:solidFill>
                  </a:rPr>
                  <a:t>if</a:t>
                </a:r>
                <a:r>
                  <a:rPr lang="en-US" dirty="0">
                    <a:solidFill>
                      <a:srgbClr val="339966"/>
                    </a:solidFill>
                  </a:rPr>
                  <a:t> </a:t>
                </a:r>
                <a:r>
                  <a:rPr lang="en-US" dirty="0"/>
                  <a:t>(&lt;expression1&gt;) true_statement1;</a:t>
                </a:r>
              </a:p>
              <a:p>
                <a:pPr eaLnBrk="1" hangingPunct="1">
                  <a:defRPr/>
                </a:pPr>
                <a:r>
                  <a:rPr lang="en-US" dirty="0">
                    <a:solidFill>
                      <a:srgbClr val="0000FF"/>
                    </a:solidFill>
                  </a:rPr>
                  <a:t>else if</a:t>
                </a:r>
                <a:r>
                  <a:rPr lang="en-US" dirty="0">
                    <a:solidFill>
                      <a:srgbClr val="0070C0"/>
                    </a:solidFill>
                  </a:rPr>
                  <a:t> </a:t>
                </a:r>
                <a:r>
                  <a:rPr lang="en-US" dirty="0"/>
                  <a:t>(&lt;expression2&gt;) true_statement2;</a:t>
                </a:r>
              </a:p>
              <a:p>
                <a:pPr eaLnBrk="1" hangingPunct="1">
                  <a:defRPr/>
                </a:pPr>
                <a:r>
                  <a:rPr lang="en-US" dirty="0">
                    <a:solidFill>
                      <a:srgbClr val="0000FF"/>
                    </a:solidFill>
                  </a:rPr>
                  <a:t>else if</a:t>
                </a:r>
                <a:r>
                  <a:rPr lang="en-US" dirty="0">
                    <a:solidFill>
                      <a:srgbClr val="0070C0"/>
                    </a:solidFill>
                  </a:rPr>
                  <a:t> </a:t>
                </a:r>
                <a:r>
                  <a:rPr lang="en-US" dirty="0"/>
                  <a:t>(&lt;expression3&gt;) true_statement3;</a:t>
                </a:r>
                <a:endParaRPr lang="ru-RU" dirty="0"/>
              </a:p>
            </p:txBody>
          </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10">
            <a:extLst>
              <a:ext uri="{FF2B5EF4-FFF2-40B4-BE49-F238E27FC236}">
                <a16:creationId xmlns:a16="http://schemas.microsoft.com/office/drawing/2014/main" id="{A700CBA5-F19C-4A65-A4CE-529D4AA127E2}"/>
              </a:ext>
            </a:extLst>
          </p:cNvPr>
          <p:cNvSpPr>
            <a:spLocks noChangeArrowheads="1"/>
          </p:cNvSpPr>
          <p:nvPr/>
        </p:nvSpPr>
        <p:spPr bwMode="auto">
          <a:xfrm>
            <a:off x="495298" y="1188718"/>
            <a:ext cx="5191823" cy="4480561"/>
          </a:xfrm>
          <a:prstGeom prst="rect">
            <a:avLst/>
          </a:prstGeom>
          <a:solidFill>
            <a:schemeClr val="accent1">
              <a:lumMod val="20000"/>
              <a:lumOff val="80000"/>
            </a:schemeClr>
          </a:solidFill>
          <a:ln w="9525" algn="ctr">
            <a:solidFill>
              <a:schemeClr val="tx1"/>
            </a:solidFill>
            <a:round/>
            <a:headEnd/>
            <a:tailEnd/>
          </a:ln>
        </p:spPr>
        <p:txBody>
          <a:bodyPr anchor="ctr"/>
          <a:lstStyle/>
          <a:p>
            <a:pPr eaLnBrk="1" hangingPunct="1">
              <a:defRPr/>
            </a:pPr>
            <a:endParaRPr lang="ru-RU"/>
          </a:p>
        </p:txBody>
      </p:sp>
      <p:sp>
        <p:nvSpPr>
          <p:cNvPr id="75781" name="Content Placeholder 8">
            <a:extLst>
              <a:ext uri="{FF2B5EF4-FFF2-40B4-BE49-F238E27FC236}">
                <a16:creationId xmlns:a16="http://schemas.microsoft.com/office/drawing/2014/main" id="{5DB4ACFB-5336-0CC7-C08C-F28B7DFCF65B}"/>
              </a:ext>
            </a:extLst>
          </p:cNvPr>
          <p:cNvSpPr>
            <a:spLocks noGrp="1" noChangeArrowheads="1"/>
          </p:cNvSpPr>
          <p:nvPr>
            <p:ph type="body" sz="quarter" idx="13"/>
          </p:nvPr>
        </p:nvSpPr>
        <p:spPr/>
        <p:txBody>
          <a:bodyPr/>
          <a:lstStyle/>
          <a:p>
            <a:pPr marL="0" indent="0">
              <a:buNone/>
            </a:pPr>
            <a:r>
              <a:rPr lang="en-GB" altLang="en-US" dirty="0"/>
              <a:t>module mux</a:t>
            </a:r>
            <a:r>
              <a:rPr lang="ru-RU" altLang="en-US" dirty="0"/>
              <a:t>2_1(</a:t>
            </a:r>
            <a:r>
              <a:rPr lang="en-GB" altLang="en-US" dirty="0"/>
              <a:t>in</a:t>
            </a:r>
            <a:r>
              <a:rPr lang="ru-RU" altLang="en-US" dirty="0"/>
              <a:t>0, </a:t>
            </a:r>
            <a:r>
              <a:rPr lang="en-GB" altLang="en-US" dirty="0"/>
              <a:t>in</a:t>
            </a:r>
            <a:r>
              <a:rPr lang="ru-RU" altLang="en-US" dirty="0"/>
              <a:t>1,</a:t>
            </a:r>
            <a:r>
              <a:rPr lang="en-GB" altLang="en-US" dirty="0"/>
              <a:t>s</a:t>
            </a:r>
            <a:r>
              <a:rPr lang="ru-RU" altLang="en-US" dirty="0"/>
              <a:t>, </a:t>
            </a:r>
            <a:r>
              <a:rPr lang="en-GB" altLang="en-US" dirty="0"/>
              <a:t>y</a:t>
            </a:r>
            <a:r>
              <a:rPr lang="ru-RU" altLang="en-US" dirty="0"/>
              <a:t>);</a:t>
            </a:r>
            <a:endParaRPr lang="en-GB" altLang="en-US" dirty="0"/>
          </a:p>
          <a:p>
            <a:pPr marL="0" indent="0">
              <a:buNone/>
            </a:pPr>
            <a:r>
              <a:rPr lang="en-GB" altLang="en-US" dirty="0"/>
              <a:t>input in0,in1,s;</a:t>
            </a:r>
          </a:p>
          <a:p>
            <a:pPr marL="0" indent="0">
              <a:buNone/>
            </a:pPr>
            <a:r>
              <a:rPr lang="en-GB" altLang="en-US" dirty="0"/>
              <a:t>output y;</a:t>
            </a:r>
          </a:p>
          <a:p>
            <a:pPr marL="0" indent="0">
              <a:buNone/>
            </a:pPr>
            <a:r>
              <a:rPr lang="en-GB" altLang="en-US" dirty="0"/>
              <a:t>reg y;</a:t>
            </a:r>
          </a:p>
          <a:p>
            <a:pPr marL="0" indent="0">
              <a:buNone/>
            </a:pPr>
            <a:r>
              <a:rPr lang="en-GB" altLang="en-US" dirty="0"/>
              <a:t>always @(in0,in1,s,)</a:t>
            </a:r>
          </a:p>
          <a:p>
            <a:pPr marL="0" indent="0">
              <a:buNone/>
            </a:pPr>
            <a:r>
              <a:rPr lang="en-GB" altLang="en-US" dirty="0"/>
              <a:t>if (s==</a:t>
            </a:r>
            <a:r>
              <a:rPr lang="en-US" altLang="en-US" dirty="0"/>
              <a:t>1</a:t>
            </a:r>
            <a:r>
              <a:rPr lang="en-GB" altLang="en-US" dirty="0"/>
              <a:t>) y=in</a:t>
            </a:r>
            <a:r>
              <a:rPr lang="en-US" altLang="en-US" dirty="0"/>
              <a:t>1</a:t>
            </a:r>
            <a:r>
              <a:rPr lang="en-GB" altLang="en-US" dirty="0"/>
              <a:t>;</a:t>
            </a:r>
          </a:p>
          <a:p>
            <a:pPr marL="0" indent="0">
              <a:buNone/>
            </a:pPr>
            <a:r>
              <a:rPr lang="en-GB" altLang="en-US" dirty="0"/>
              <a:t>else y = in</a:t>
            </a:r>
            <a:r>
              <a:rPr lang="en-US" altLang="en-US" dirty="0"/>
              <a:t>0</a:t>
            </a:r>
            <a:r>
              <a:rPr lang="en-GB" altLang="en-US" dirty="0"/>
              <a:t>;</a:t>
            </a:r>
          </a:p>
          <a:p>
            <a:pPr marL="0" indent="0">
              <a:buNone/>
            </a:pPr>
            <a:r>
              <a:rPr lang="en-GB" altLang="en-US" dirty="0" err="1"/>
              <a:t>endmodule</a:t>
            </a:r>
            <a:endParaRPr lang="ru-RU" altLang="en-US" dirty="0"/>
          </a:p>
          <a:p>
            <a:endParaRPr lang="en-US" altLang="en-US" dirty="0"/>
          </a:p>
          <a:p>
            <a:r>
              <a:rPr lang="ru-RU" altLang="en-US" dirty="0"/>
              <a:t>Both descriptions correspond to 2:1 multiplexer.</a:t>
            </a:r>
            <a:endParaRPr lang="en-US" altLang="en-US" dirty="0"/>
          </a:p>
          <a:p>
            <a:endParaRPr lang="ru-RU" altLang="en-US" dirty="0"/>
          </a:p>
        </p:txBody>
      </p:sp>
      <p:sp>
        <p:nvSpPr>
          <p:cNvPr id="53250" name="Rectangle 11">
            <a:extLst>
              <a:ext uri="{FF2B5EF4-FFF2-40B4-BE49-F238E27FC236}">
                <a16:creationId xmlns:a16="http://schemas.microsoft.com/office/drawing/2014/main" id="{7ED712AF-0393-49B8-87CE-5CE3479C8B99}"/>
              </a:ext>
            </a:extLst>
          </p:cNvPr>
          <p:cNvSpPr>
            <a:spLocks noChangeArrowheads="1"/>
          </p:cNvSpPr>
          <p:nvPr/>
        </p:nvSpPr>
        <p:spPr bwMode="auto">
          <a:xfrm>
            <a:off x="6210299" y="1188719"/>
            <a:ext cx="4383359" cy="5145173"/>
          </a:xfrm>
          <a:prstGeom prst="rect">
            <a:avLst/>
          </a:prstGeom>
          <a:solidFill>
            <a:schemeClr val="accent1">
              <a:lumMod val="20000"/>
              <a:lumOff val="80000"/>
            </a:schemeClr>
          </a:solidFill>
          <a:ln w="9525" algn="ctr">
            <a:solidFill>
              <a:schemeClr val="tx1"/>
            </a:solidFill>
            <a:round/>
            <a:headEnd/>
            <a:tailEnd/>
          </a:ln>
        </p:spPr>
        <p:txBody>
          <a:bodyPr anchor="ctr"/>
          <a:lstStyle/>
          <a:p>
            <a:pPr eaLnBrk="1" hangingPunct="1">
              <a:defRPr/>
            </a:pPr>
            <a:endParaRPr lang="ru-RU"/>
          </a:p>
        </p:txBody>
      </p:sp>
      <p:sp>
        <p:nvSpPr>
          <p:cNvPr id="75780" name="Content Placeholder 9">
            <a:extLst>
              <a:ext uri="{FF2B5EF4-FFF2-40B4-BE49-F238E27FC236}">
                <a16:creationId xmlns:a16="http://schemas.microsoft.com/office/drawing/2014/main" id="{707EF6D0-A038-298B-482F-EA4C72AE66CA}"/>
              </a:ext>
            </a:extLst>
          </p:cNvPr>
          <p:cNvSpPr>
            <a:spLocks noGrp="1" noChangeArrowheads="1"/>
          </p:cNvSpPr>
          <p:nvPr>
            <p:ph type="body" sz="quarter" idx="14"/>
          </p:nvPr>
        </p:nvSpPr>
        <p:spPr/>
        <p:txBody>
          <a:bodyPr/>
          <a:lstStyle/>
          <a:p>
            <a:pPr marL="0" indent="0">
              <a:buNone/>
            </a:pPr>
            <a:r>
              <a:rPr lang="en-GB" altLang="en-US" dirty="0"/>
              <a:t>module mux</a:t>
            </a:r>
            <a:r>
              <a:rPr lang="ru-RU" altLang="en-US" dirty="0"/>
              <a:t>2_1(</a:t>
            </a:r>
            <a:r>
              <a:rPr lang="en-GB" altLang="en-US" dirty="0"/>
              <a:t>in</a:t>
            </a:r>
            <a:r>
              <a:rPr lang="ru-RU" altLang="en-US" dirty="0"/>
              <a:t>0, </a:t>
            </a:r>
            <a:r>
              <a:rPr lang="en-GB" altLang="en-US" dirty="0"/>
              <a:t>in</a:t>
            </a:r>
            <a:r>
              <a:rPr lang="ru-RU" altLang="en-US" dirty="0"/>
              <a:t>1,</a:t>
            </a:r>
            <a:r>
              <a:rPr lang="en-GB" altLang="en-US" dirty="0"/>
              <a:t>s</a:t>
            </a:r>
            <a:r>
              <a:rPr lang="ru-RU" altLang="en-US" dirty="0"/>
              <a:t>, </a:t>
            </a:r>
            <a:r>
              <a:rPr lang="en-GB" altLang="en-US" dirty="0"/>
              <a:t>y</a:t>
            </a:r>
            <a:r>
              <a:rPr lang="ru-RU" altLang="en-US" dirty="0"/>
              <a:t>);</a:t>
            </a:r>
            <a:endParaRPr lang="en-GB" altLang="en-US" dirty="0"/>
          </a:p>
          <a:p>
            <a:pPr marL="0" indent="0">
              <a:buNone/>
            </a:pPr>
            <a:r>
              <a:rPr lang="en-GB" altLang="en-US" dirty="0"/>
              <a:t>input in0,in1,s;</a:t>
            </a:r>
          </a:p>
          <a:p>
            <a:pPr marL="0" indent="0">
              <a:buNone/>
            </a:pPr>
            <a:r>
              <a:rPr lang="en-GB" altLang="en-US" dirty="0"/>
              <a:t>output y;</a:t>
            </a:r>
          </a:p>
          <a:p>
            <a:pPr marL="0" indent="0">
              <a:buNone/>
            </a:pPr>
            <a:r>
              <a:rPr lang="en-GB" altLang="en-US" dirty="0"/>
              <a:t>reg y;</a:t>
            </a:r>
          </a:p>
          <a:p>
            <a:pPr marL="0" indent="0">
              <a:buNone/>
            </a:pPr>
            <a:r>
              <a:rPr lang="en-GB" altLang="en-US" dirty="0"/>
              <a:t>always </a:t>
            </a:r>
            <a:r>
              <a:rPr lang="ru-RU" altLang="en-US" dirty="0"/>
              <a:t>@(</a:t>
            </a:r>
            <a:r>
              <a:rPr lang="en-GB" altLang="en-US" dirty="0"/>
              <a:t>in</a:t>
            </a:r>
            <a:r>
              <a:rPr lang="ru-RU" altLang="en-US" dirty="0"/>
              <a:t>0,</a:t>
            </a:r>
            <a:r>
              <a:rPr lang="en-GB" altLang="en-US" dirty="0"/>
              <a:t>in</a:t>
            </a:r>
            <a:r>
              <a:rPr lang="ru-RU" altLang="en-US" dirty="0"/>
              <a:t>1,</a:t>
            </a:r>
            <a:r>
              <a:rPr lang="en-GB" altLang="en-US" dirty="0"/>
              <a:t>s</a:t>
            </a:r>
            <a:r>
              <a:rPr lang="ru-RU" altLang="en-US" dirty="0"/>
              <a:t>,)</a:t>
            </a:r>
            <a:endParaRPr lang="en-GB" altLang="en-US" dirty="0"/>
          </a:p>
          <a:p>
            <a:pPr marL="0" indent="0">
              <a:buNone/>
            </a:pPr>
            <a:r>
              <a:rPr lang="en-GB" altLang="en-US" dirty="0"/>
              <a:t>begin</a:t>
            </a:r>
          </a:p>
          <a:p>
            <a:pPr marL="0" indent="0">
              <a:buNone/>
            </a:pPr>
            <a:r>
              <a:rPr lang="en-GB" altLang="en-US" dirty="0"/>
              <a:t>y=in0;</a:t>
            </a:r>
          </a:p>
          <a:p>
            <a:pPr marL="0" indent="0">
              <a:buNone/>
            </a:pPr>
            <a:r>
              <a:rPr lang="en-GB" altLang="en-US" dirty="0"/>
              <a:t>if (s==</a:t>
            </a:r>
            <a:r>
              <a:rPr lang="en-US" altLang="en-US" dirty="0"/>
              <a:t>1</a:t>
            </a:r>
            <a:r>
              <a:rPr lang="en-GB" altLang="en-US" dirty="0"/>
              <a:t> ) y=in</a:t>
            </a:r>
            <a:r>
              <a:rPr lang="en-US" altLang="en-US" dirty="0"/>
              <a:t>1</a:t>
            </a:r>
            <a:r>
              <a:rPr lang="en-GB" altLang="en-US" dirty="0"/>
              <a:t>;</a:t>
            </a:r>
          </a:p>
          <a:p>
            <a:pPr marL="0" indent="0">
              <a:buNone/>
            </a:pPr>
            <a:r>
              <a:rPr lang="en-GB" altLang="en-US" dirty="0"/>
              <a:t>end</a:t>
            </a:r>
          </a:p>
          <a:p>
            <a:pPr marL="0" indent="0">
              <a:buNone/>
            </a:pPr>
            <a:r>
              <a:rPr lang="en-GB" altLang="en-US" dirty="0" err="1"/>
              <a:t>endmodule</a:t>
            </a:r>
            <a:endParaRPr lang="ru-RU" altLang="en-US" dirty="0"/>
          </a:p>
          <a:p>
            <a:endParaRPr lang="ru-RU" altLang="en-US" dirty="0"/>
          </a:p>
          <a:p>
            <a:endParaRPr lang="ru-RU" altLang="en-US" dirty="0"/>
          </a:p>
        </p:txBody>
      </p:sp>
      <p:sp>
        <p:nvSpPr>
          <p:cNvPr id="75782" name="Title 7">
            <a:extLst>
              <a:ext uri="{FF2B5EF4-FFF2-40B4-BE49-F238E27FC236}">
                <a16:creationId xmlns:a16="http://schemas.microsoft.com/office/drawing/2014/main" id="{5278C521-299F-197F-F563-E997101D8A36}"/>
              </a:ext>
            </a:extLst>
          </p:cNvPr>
          <p:cNvSpPr>
            <a:spLocks noGrp="1" noChangeArrowheads="1"/>
          </p:cNvSpPr>
          <p:nvPr>
            <p:ph type="title"/>
          </p:nvPr>
        </p:nvSpPr>
        <p:spPr/>
        <p:txBody>
          <a:bodyPr>
            <a:normAutofit/>
          </a:bodyPr>
          <a:lstStyle/>
          <a:p>
            <a:r>
              <a:rPr lang="en-US" altLang="en-US" dirty="0"/>
              <a:t>If-else Statement, if Statement</a:t>
            </a:r>
            <a:endParaRPr lang="ru-RU"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a:extLst>
              <a:ext uri="{FF2B5EF4-FFF2-40B4-BE49-F238E27FC236}">
                <a16:creationId xmlns:a16="http://schemas.microsoft.com/office/drawing/2014/main" id="{BEE354D1-B15C-E74A-BF70-B63F42DF74CD}"/>
              </a:ext>
            </a:extLst>
          </p:cNvPr>
          <p:cNvSpPr>
            <a:spLocks noGrp="1" noChangeArrowheads="1"/>
          </p:cNvSpPr>
          <p:nvPr>
            <p:ph type="title"/>
          </p:nvPr>
        </p:nvSpPr>
        <p:spPr/>
        <p:txBody>
          <a:bodyPr/>
          <a:lstStyle/>
          <a:p>
            <a:r>
              <a:rPr lang="en-US" altLang="en-US"/>
              <a:t>If-else statement, If-statement</a:t>
            </a:r>
            <a:endParaRPr lang="ru-RU" altLang="en-US"/>
          </a:p>
        </p:txBody>
      </p:sp>
      <p:sp>
        <p:nvSpPr>
          <p:cNvPr id="3" name="Text Placeholder 2">
            <a:extLst>
              <a:ext uri="{FF2B5EF4-FFF2-40B4-BE49-F238E27FC236}">
                <a16:creationId xmlns:a16="http://schemas.microsoft.com/office/drawing/2014/main" id="{FC4DF348-6998-6AA1-D5ED-797C251BF9B0}"/>
              </a:ext>
            </a:extLst>
          </p:cNvPr>
          <p:cNvSpPr>
            <a:spLocks noGrp="1"/>
          </p:cNvSpPr>
          <p:nvPr>
            <p:ph type="body" sz="quarter" idx="10"/>
          </p:nvPr>
        </p:nvSpPr>
        <p:spPr/>
        <p:txBody>
          <a:bodyPr/>
          <a:lstStyle/>
          <a:p>
            <a:pPr eaLnBrk="1" hangingPunct="1"/>
            <a:r>
              <a:rPr lang="en-GB" altLang="en-US" sz="1600" b="1" dirty="0"/>
              <a:t>always </a:t>
            </a:r>
            <a:r>
              <a:rPr lang="ru-RU" altLang="en-US" sz="1600" dirty="0"/>
              <a:t>@(</a:t>
            </a:r>
            <a:r>
              <a:rPr lang="en-GB" altLang="en-US" sz="1600" dirty="0"/>
              <a:t>in</a:t>
            </a:r>
            <a:r>
              <a:rPr lang="ru-RU" altLang="en-US" sz="1600" dirty="0"/>
              <a:t>0,</a:t>
            </a:r>
            <a:r>
              <a:rPr lang="en-GB" altLang="en-US" sz="1600" dirty="0"/>
              <a:t>in</a:t>
            </a:r>
            <a:r>
              <a:rPr lang="ru-RU" altLang="en-US" sz="1600" dirty="0"/>
              <a:t>1,</a:t>
            </a:r>
            <a:r>
              <a:rPr lang="en-GB" altLang="en-US" sz="1600" dirty="0"/>
              <a:t>s</a:t>
            </a:r>
            <a:r>
              <a:rPr lang="ru-RU" altLang="en-US" sz="1600" dirty="0"/>
              <a:t>,)</a:t>
            </a:r>
            <a:endParaRPr lang="en-GB" altLang="en-US" sz="1600" b="1" dirty="0"/>
          </a:p>
          <a:p>
            <a:pPr eaLnBrk="1" hangingPunct="1"/>
            <a:r>
              <a:rPr lang="en-GB" altLang="en-US" sz="1600" b="1" dirty="0"/>
              <a:t>begin</a:t>
            </a:r>
          </a:p>
          <a:p>
            <a:pPr eaLnBrk="1" hangingPunct="1"/>
            <a:r>
              <a:rPr lang="en-GB" altLang="en-US" sz="1600" b="1" dirty="0"/>
              <a:t>if</a:t>
            </a:r>
            <a:r>
              <a:rPr lang="ru-RU" altLang="en-US" sz="1600" b="1" dirty="0"/>
              <a:t> (</a:t>
            </a:r>
            <a:r>
              <a:rPr lang="en-GB" altLang="en-US" sz="1600" dirty="0"/>
              <a:t>s</a:t>
            </a:r>
            <a:r>
              <a:rPr lang="ru-RU" altLang="en-US" sz="1600" dirty="0"/>
              <a:t>==1 ) </a:t>
            </a:r>
            <a:r>
              <a:rPr lang="en-GB" altLang="en-US" sz="1600" dirty="0"/>
              <a:t>y</a:t>
            </a:r>
            <a:r>
              <a:rPr lang="ru-RU" altLang="en-US" sz="1600" dirty="0"/>
              <a:t>=</a:t>
            </a:r>
            <a:r>
              <a:rPr lang="en-GB" altLang="en-US" sz="1600" dirty="0"/>
              <a:t>in</a:t>
            </a:r>
            <a:r>
              <a:rPr lang="ru-RU" altLang="en-US" sz="1600" dirty="0"/>
              <a:t>1;</a:t>
            </a:r>
            <a:endParaRPr lang="en-GB" altLang="en-US" sz="1600" dirty="0"/>
          </a:p>
          <a:p>
            <a:pPr eaLnBrk="1" hangingPunct="1"/>
            <a:r>
              <a:rPr lang="en-GB" altLang="en-US" sz="1600" dirty="0"/>
              <a:t>y</a:t>
            </a:r>
            <a:r>
              <a:rPr lang="ru-RU" altLang="en-US" sz="1600" dirty="0"/>
              <a:t>=</a:t>
            </a:r>
            <a:r>
              <a:rPr lang="en-GB" altLang="en-US" sz="1600" dirty="0"/>
              <a:t>in</a:t>
            </a:r>
            <a:r>
              <a:rPr lang="ru-RU" altLang="en-US" sz="1600" dirty="0"/>
              <a:t>0;</a:t>
            </a:r>
            <a:endParaRPr lang="en-GB" altLang="en-US" sz="1600" b="1" dirty="0"/>
          </a:p>
          <a:p>
            <a:pPr eaLnBrk="1" hangingPunct="1"/>
            <a:r>
              <a:rPr lang="en-GB" altLang="en-US" sz="1600" b="1" dirty="0"/>
              <a:t>end</a:t>
            </a:r>
          </a:p>
          <a:p>
            <a:pPr eaLnBrk="1" hangingPunct="1"/>
            <a:r>
              <a:rPr lang="en-US" altLang="en-US" sz="1600" dirty="0"/>
              <a:t>The result y will always be in0.</a:t>
            </a:r>
            <a:r>
              <a:rPr lang="ru-RU" altLang="en-US" sz="1600" dirty="0"/>
              <a:t> </a:t>
            </a:r>
          </a:p>
          <a:p>
            <a:pPr eaLnBrk="1" hangingPunct="1"/>
            <a:r>
              <a:rPr lang="en-GB" altLang="en-US" sz="1600" b="1" dirty="0"/>
              <a:t>always </a:t>
            </a:r>
            <a:r>
              <a:rPr lang="en-US" altLang="en-US" sz="1600" dirty="0"/>
              <a:t>@(</a:t>
            </a:r>
            <a:r>
              <a:rPr lang="en-GB" altLang="en-US" sz="1600" dirty="0"/>
              <a:t>in</a:t>
            </a:r>
            <a:r>
              <a:rPr lang="en-US" altLang="en-US" sz="1600" dirty="0"/>
              <a:t>0,</a:t>
            </a:r>
            <a:r>
              <a:rPr lang="en-GB" altLang="en-US" sz="1600" dirty="0"/>
              <a:t>in</a:t>
            </a:r>
            <a:r>
              <a:rPr lang="en-US" altLang="en-US" sz="1600" dirty="0"/>
              <a:t>1,</a:t>
            </a:r>
            <a:r>
              <a:rPr lang="en-GB" altLang="en-US" sz="1600" dirty="0"/>
              <a:t>s</a:t>
            </a:r>
            <a:r>
              <a:rPr lang="en-US" altLang="en-US" sz="1600" dirty="0"/>
              <a:t>,)</a:t>
            </a:r>
            <a:endParaRPr lang="en-GB" altLang="en-US" sz="1600" b="1" dirty="0"/>
          </a:p>
          <a:p>
            <a:pPr eaLnBrk="1" hangingPunct="1"/>
            <a:r>
              <a:rPr lang="en-GB" altLang="en-US" sz="1600" b="1" dirty="0"/>
              <a:t>begin</a:t>
            </a:r>
          </a:p>
          <a:p>
            <a:pPr eaLnBrk="1" hangingPunct="1"/>
            <a:r>
              <a:rPr lang="en-GB" altLang="en-US" sz="1600" b="1" dirty="0"/>
              <a:t>if</a:t>
            </a:r>
            <a:r>
              <a:rPr lang="en-US" altLang="en-US" sz="1600" b="1" dirty="0"/>
              <a:t> (</a:t>
            </a:r>
            <a:r>
              <a:rPr lang="en-GB" altLang="en-US" sz="1600" dirty="0"/>
              <a:t>s</a:t>
            </a:r>
            <a:r>
              <a:rPr lang="en-US" altLang="en-US" sz="1600" dirty="0"/>
              <a:t>==1 ) </a:t>
            </a:r>
            <a:r>
              <a:rPr lang="en-GB" altLang="en-US" sz="1600" dirty="0"/>
              <a:t>y</a:t>
            </a:r>
            <a:r>
              <a:rPr lang="en-US" altLang="en-US" sz="1600" dirty="0"/>
              <a:t>=</a:t>
            </a:r>
            <a:r>
              <a:rPr lang="en-GB" altLang="en-US" sz="1600" dirty="0"/>
              <a:t>in</a:t>
            </a:r>
            <a:r>
              <a:rPr lang="en-US" altLang="en-US" sz="1600" dirty="0"/>
              <a:t>1;</a:t>
            </a:r>
            <a:endParaRPr lang="en-GB" altLang="en-US" sz="1600" b="1" dirty="0"/>
          </a:p>
          <a:p>
            <a:pPr eaLnBrk="1" hangingPunct="1"/>
            <a:r>
              <a:rPr lang="en-GB" altLang="en-US" sz="1600" b="1" dirty="0"/>
              <a:t>end</a:t>
            </a:r>
          </a:p>
          <a:p>
            <a:pPr eaLnBrk="1" hangingPunct="1"/>
            <a:r>
              <a:rPr lang="en-US" altLang="en-US" sz="1600" dirty="0"/>
              <a:t>A synthesized circuit has to implement functionality</a:t>
            </a:r>
          </a:p>
          <a:p>
            <a:pPr eaLnBrk="1" hangingPunct="1"/>
            <a:r>
              <a:rPr lang="en-US" altLang="en-US" sz="1600" dirty="0"/>
              <a:t>y=s</a:t>
            </a:r>
            <a:r>
              <a:rPr lang="en-US" altLang="en-US" sz="1600" dirty="0">
                <a:sym typeface="Symbol" panose="05050102010706020507" pitchFamily="18" charset="2"/>
              </a:rPr>
              <a:t>in1 +s y </a:t>
            </a:r>
          </a:p>
          <a:p>
            <a:pPr eaLnBrk="1" hangingPunct="1"/>
            <a:r>
              <a:rPr lang="en-US" altLang="en-US" sz="1600" dirty="0">
                <a:sym typeface="Symbol" panose="05050102010706020507" pitchFamily="18" charset="2"/>
              </a:rPr>
              <a:t>This effect is called implied memory (latch)</a:t>
            </a:r>
          </a:p>
          <a:p>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E289C98-D72B-48EE-8D8A-302C186707C3}"/>
              </a:ext>
            </a:extLst>
          </p:cNvPr>
          <p:cNvGraphicFramePr>
            <a:graphicFrameLocks noGrp="1"/>
          </p:cNvGraphicFramePr>
          <p:nvPr>
            <p:extLst>
              <p:ext uri="{D42A27DB-BD31-4B8C-83A1-F6EECF244321}">
                <p14:modId xmlns:p14="http://schemas.microsoft.com/office/powerpoint/2010/main" val="2623138356"/>
              </p:ext>
            </p:extLst>
          </p:nvPr>
        </p:nvGraphicFramePr>
        <p:xfrm>
          <a:off x="2667000" y="1905001"/>
          <a:ext cx="6858000" cy="3749674"/>
        </p:xfrm>
        <a:graphic>
          <a:graphicData uri="http://schemas.openxmlformats.org/drawingml/2006/table">
            <a:tbl>
              <a:tblPr firstRow="1" bandRow="1">
                <a:tableStyleId>{5C22544A-7EE6-4342-B048-85BDC9FD1C3A}</a:tableStyleId>
              </a:tblPr>
              <a:tblGrid>
                <a:gridCol w="154305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640188">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bg2"/>
                          </a:solidFill>
                          <a:effectLst/>
                          <a:latin typeface="Arial" pitchFamily="34" charset="0"/>
                          <a:cs typeface="Arial" pitchFamily="34" charset="0"/>
                        </a:rPr>
                        <a:t>Expression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bg2"/>
                          </a:solidFill>
                          <a:effectLst/>
                          <a:latin typeface="Arial" pitchFamily="34" charset="0"/>
                          <a:cs typeface="Arial" pitchFamily="34" charset="0"/>
                        </a:rPr>
                        <a:t>Description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bg2"/>
                          </a:solidFill>
                          <a:effectLst/>
                          <a:latin typeface="Arial" pitchFamily="34" charset="0"/>
                          <a:cs typeface="Arial" pitchFamily="34" charset="0"/>
                        </a:rPr>
                        <a:t>Possible</a:t>
                      </a:r>
                      <a:br>
                        <a:rPr kumimoji="0" lang="en-US" sz="1800" b="0" i="0" u="none" strike="noStrike" cap="none" normalizeH="0" baseline="0" dirty="0">
                          <a:ln>
                            <a:noFill/>
                          </a:ln>
                          <a:solidFill>
                            <a:schemeClr val="bg2"/>
                          </a:solidFill>
                          <a:effectLst/>
                          <a:latin typeface="Arial" pitchFamily="34" charset="0"/>
                          <a:cs typeface="Arial" pitchFamily="34" charset="0"/>
                        </a:rPr>
                      </a:br>
                      <a:r>
                        <a:rPr kumimoji="0" lang="ru-RU" sz="1800" b="0" i="0" u="none" strike="noStrike" cap="none" normalizeH="0" baseline="0" dirty="0">
                          <a:ln>
                            <a:noFill/>
                          </a:ln>
                          <a:solidFill>
                            <a:schemeClr val="bg2"/>
                          </a:solidFill>
                          <a:effectLst/>
                          <a:latin typeface="Arial" pitchFamily="34" charset="0"/>
                          <a:cs typeface="Arial" pitchFamily="34" charset="0"/>
                        </a:rPr>
                        <a:t> Logical</a:t>
                      </a:r>
                      <a:r>
                        <a:rPr kumimoji="0" lang="en-US" sz="1800" b="0" i="0" u="none" strike="noStrike" cap="none" normalizeH="0" baseline="0" dirty="0">
                          <a:ln>
                            <a:noFill/>
                          </a:ln>
                          <a:solidFill>
                            <a:schemeClr val="bg2"/>
                          </a:solidFill>
                          <a:effectLst/>
                          <a:latin typeface="Arial" pitchFamily="34" charset="0"/>
                          <a:cs typeface="Arial" pitchFamily="34" charset="0"/>
                        </a:rPr>
                        <a:t> </a:t>
                      </a:r>
                      <a:r>
                        <a:rPr kumimoji="0" lang="ru-RU" sz="1800" b="0" i="0" u="none" strike="noStrike" cap="none" normalizeH="0" baseline="0" dirty="0">
                          <a:ln>
                            <a:noFill/>
                          </a:ln>
                          <a:solidFill>
                            <a:schemeClr val="bg2"/>
                          </a:solidFill>
                          <a:effectLst/>
                          <a:latin typeface="Arial" pitchFamily="34" charset="0"/>
                          <a:cs typeface="Arial" pitchFamily="34" charset="0"/>
                        </a:rPr>
                        <a:t>Value</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28" marB="45728" horzOverflow="overflow"/>
                </a:tc>
                <a:extLst>
                  <a:ext uri="{0D108BD9-81ED-4DB2-BD59-A6C34878D82A}">
                    <a16:rowId xmlns:a16="http://schemas.microsoft.com/office/drawing/2014/main" val="10000"/>
                  </a:ext>
                </a:extLst>
              </a:tr>
              <a:tr h="914555">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tx1"/>
                          </a:solidFill>
                          <a:effectLst/>
                          <a:latin typeface="Arial" pitchFamily="34" charset="0"/>
                          <a:cs typeface="Arial" pitchFamily="34" charset="0"/>
                        </a:rPr>
                        <a:t>a == b</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tx1"/>
                          </a:solidFill>
                          <a:effectLst/>
                          <a:latin typeface="Arial" pitchFamily="34" charset="0"/>
                          <a:cs typeface="Arial" pitchFamily="34" charset="0"/>
                        </a:rPr>
                        <a:t>a equal to b, result unknown if x or z in a or b</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0,1,x</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Supported</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by synthesis</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8" marB="45728" horzOverflow="overflow"/>
                </a:tc>
                <a:extLst>
                  <a:ext uri="{0D108BD9-81ED-4DB2-BD59-A6C34878D82A}">
                    <a16:rowId xmlns:a16="http://schemas.microsoft.com/office/drawing/2014/main" val="10001"/>
                  </a:ext>
                </a:extLst>
              </a:tr>
              <a:tr h="914555">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rPr>
                        <a:t>a != b</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rPr>
                        <a:t>a not equal to b, result unknown if x or z in a or b</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0,1,x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Supported</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by synthesis</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8" marB="45728" horzOverflow="overflow"/>
                </a:tc>
                <a:extLst>
                  <a:ext uri="{0D108BD9-81ED-4DB2-BD59-A6C34878D82A}">
                    <a16:rowId xmlns:a16="http://schemas.microsoft.com/office/drawing/2014/main" val="10002"/>
                  </a:ext>
                </a:extLst>
              </a:tr>
              <a:tr h="640188">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rPr>
                        <a:t>a === b</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rPr>
                        <a:t>a equal to b, including x and z</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Not supported</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by synthesis</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8" marB="45728" horzOverflow="overflow"/>
                </a:tc>
                <a:extLst>
                  <a:ext uri="{0D108BD9-81ED-4DB2-BD59-A6C34878D82A}">
                    <a16:rowId xmlns:a16="http://schemas.microsoft.com/office/drawing/2014/main" val="10003"/>
                  </a:ext>
                </a:extLst>
              </a:tr>
              <a:tr h="640188">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rPr>
                        <a:t>a !== b</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rPr>
                        <a:t>a </a:t>
                      </a:r>
                      <a:r>
                        <a:rPr kumimoji="0" lang="en-US" sz="1800" b="0" i="0" u="none" strike="noStrike" cap="none" normalizeH="0" baseline="0">
                          <a:ln>
                            <a:noFill/>
                          </a:ln>
                          <a:solidFill>
                            <a:schemeClr val="tx1"/>
                          </a:solidFill>
                          <a:effectLst/>
                          <a:latin typeface="Arial" pitchFamily="34" charset="0"/>
                          <a:cs typeface="Arial" pitchFamily="34" charset="0"/>
                        </a:rPr>
                        <a:t>not </a:t>
                      </a:r>
                      <a:r>
                        <a:rPr kumimoji="0" lang="ru-RU" sz="1800" b="0" i="0" u="none" strike="noStrike" cap="none" normalizeH="0" baseline="0">
                          <a:ln>
                            <a:noFill/>
                          </a:ln>
                          <a:solidFill>
                            <a:schemeClr val="tx1"/>
                          </a:solidFill>
                          <a:effectLst/>
                          <a:latin typeface="Arial" pitchFamily="34" charset="0"/>
                          <a:cs typeface="Arial" pitchFamily="34" charset="0"/>
                        </a:rPr>
                        <a:t>equal to b, including x and z</a:t>
                      </a: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8" marB="45728"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Not supported</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by synthesis</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8" marB="45728" horzOverflow="overflow"/>
                </a:tc>
                <a:extLst>
                  <a:ext uri="{0D108BD9-81ED-4DB2-BD59-A6C34878D82A}">
                    <a16:rowId xmlns:a16="http://schemas.microsoft.com/office/drawing/2014/main" val="10004"/>
                  </a:ext>
                </a:extLst>
              </a:tr>
            </a:tbl>
          </a:graphicData>
        </a:graphic>
      </p:graphicFrame>
      <p:sp>
        <p:nvSpPr>
          <p:cNvPr id="3" name="Title 2">
            <a:extLst>
              <a:ext uri="{FF2B5EF4-FFF2-40B4-BE49-F238E27FC236}">
                <a16:creationId xmlns:a16="http://schemas.microsoft.com/office/drawing/2014/main" id="{4D8FF92C-6F63-1BC8-CFB6-F9CB7E7F465D}"/>
              </a:ext>
            </a:extLst>
          </p:cNvPr>
          <p:cNvSpPr>
            <a:spLocks noGrp="1"/>
          </p:cNvSpPr>
          <p:nvPr>
            <p:ph type="title"/>
          </p:nvPr>
        </p:nvSpPr>
        <p:spPr/>
        <p:txBody>
          <a:bodyPr>
            <a:normAutofit/>
          </a:bodyPr>
          <a:lstStyle/>
          <a:p>
            <a:r>
              <a:rPr lang="en-US" dirty="0"/>
              <a:t>Equality Operators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3">
            <a:extLst>
              <a:ext uri="{FF2B5EF4-FFF2-40B4-BE49-F238E27FC236}">
                <a16:creationId xmlns:a16="http://schemas.microsoft.com/office/drawing/2014/main" id="{20BE560A-4B34-DE33-FF32-1F3239CF8761}"/>
              </a:ext>
            </a:extLst>
          </p:cNvPr>
          <p:cNvSpPr>
            <a:spLocks noGrp="1" noChangeArrowheads="1"/>
          </p:cNvSpPr>
          <p:nvPr>
            <p:ph type="title"/>
          </p:nvPr>
        </p:nvSpPr>
        <p:spPr/>
        <p:txBody>
          <a:bodyPr>
            <a:normAutofit/>
          </a:bodyPr>
          <a:lstStyle/>
          <a:p>
            <a:r>
              <a:rPr lang="en-US" altLang="en-US" dirty="0"/>
              <a:t>Examples </a:t>
            </a:r>
            <a:endParaRPr lang="ru-RU" altLang="en-US" dirty="0"/>
          </a:p>
        </p:txBody>
      </p:sp>
      <p:sp>
        <p:nvSpPr>
          <p:cNvPr id="4" name="Rectangle 3">
            <a:extLst>
              <a:ext uri="{FF2B5EF4-FFF2-40B4-BE49-F238E27FC236}">
                <a16:creationId xmlns:a16="http://schemas.microsoft.com/office/drawing/2014/main" id="{2EF61FA2-53F7-9E57-3C5D-8CCA4E7A8B80}"/>
              </a:ext>
            </a:extLst>
          </p:cNvPr>
          <p:cNvSpPr/>
          <p:nvPr/>
        </p:nvSpPr>
        <p:spPr>
          <a:xfrm>
            <a:off x="456878" y="1188720"/>
            <a:ext cx="7119579" cy="5016137"/>
          </a:xfrm>
          <a:prstGeom prst="rect">
            <a:avLst/>
          </a:prstGeom>
          <a:solidFill>
            <a:schemeClr val="accent1">
              <a:lumMod val="60000"/>
              <a:lumOff val="4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ct val="0"/>
              </a:spcBef>
              <a:buFont typeface="Wingdings" panose="05000000000000000000" pitchFamily="2" charset="2"/>
              <a:buNone/>
            </a:pPr>
            <a:r>
              <a:rPr lang="ru-RU" altLang="en-US" sz="1800" dirty="0">
                <a:solidFill>
                  <a:schemeClr val="tx1"/>
                </a:solidFill>
              </a:rPr>
              <a:t>//Type 1 statements</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rgbClr val="0000FF"/>
                </a:solidFill>
              </a:rPr>
              <a:t>if</a:t>
            </a:r>
            <a:r>
              <a:rPr lang="ru-RU" altLang="en-US" sz="1800" dirty="0">
                <a:solidFill>
                  <a:schemeClr val="tx1"/>
                </a:solidFill>
              </a:rPr>
              <a:t>(!lock) buffer = data; </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rgbClr val="0000FF"/>
                </a:solidFill>
              </a:rPr>
              <a:t>if</a:t>
            </a:r>
            <a:r>
              <a:rPr lang="ru-RU" altLang="en-US" sz="1800" dirty="0">
                <a:solidFill>
                  <a:schemeClr val="tx1"/>
                </a:solidFill>
              </a:rPr>
              <a:t>(enable) out = in; </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chemeClr val="tx1"/>
                </a:solidFill>
              </a:rPr>
              <a:t>//Type 2 statements </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rgbClr val="0000FF"/>
                </a:solidFill>
              </a:rPr>
              <a:t>if </a:t>
            </a:r>
            <a:r>
              <a:rPr lang="ru-RU" altLang="en-US" sz="1800" dirty="0">
                <a:solidFill>
                  <a:schemeClr val="tx1"/>
                </a:solidFill>
              </a:rPr>
              <a:t>(</a:t>
            </a:r>
            <a:r>
              <a:rPr lang="en-US" altLang="en-US" sz="1800" dirty="0">
                <a:solidFill>
                  <a:schemeClr val="tx1"/>
                </a:solidFill>
              </a:rPr>
              <a:t>counter</a:t>
            </a:r>
            <a:r>
              <a:rPr lang="ru-RU" altLang="en-US" sz="1800" dirty="0">
                <a:solidFill>
                  <a:schemeClr val="tx1"/>
                </a:solidFill>
              </a:rPr>
              <a:t>&lt; MAX_</a:t>
            </a:r>
            <a:r>
              <a:rPr lang="en-US" altLang="en-US" sz="1800" dirty="0">
                <a:solidFill>
                  <a:schemeClr val="tx1"/>
                </a:solidFill>
              </a:rPr>
              <a:t>number</a:t>
            </a:r>
            <a:r>
              <a:rPr lang="ru-RU" altLang="en-US" sz="1800" dirty="0">
                <a:solidFill>
                  <a:schemeClr val="tx1"/>
                </a:solidFill>
              </a:rPr>
              <a:t>)</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rgbClr val="0000FF"/>
                </a:solidFill>
              </a:rPr>
              <a:t>begin</a:t>
            </a:r>
            <a:r>
              <a:rPr lang="ru-RU" altLang="en-US" sz="1800" dirty="0"/>
              <a:t> </a:t>
            </a:r>
            <a:r>
              <a:rPr lang="en-US" altLang="en-US" sz="1800" dirty="0">
                <a:solidFill>
                  <a:schemeClr val="tx1"/>
                </a:solidFill>
              </a:rPr>
              <a:t>sum</a:t>
            </a:r>
            <a:r>
              <a:rPr lang="ru-RU" altLang="en-US" sz="1800" dirty="0">
                <a:solidFill>
                  <a:schemeClr val="tx1"/>
                </a:solidFill>
              </a:rPr>
              <a:t> = </a:t>
            </a:r>
            <a:r>
              <a:rPr lang="en-US" altLang="en-US" sz="1800" dirty="0">
                <a:solidFill>
                  <a:schemeClr val="tx1"/>
                </a:solidFill>
              </a:rPr>
              <a:t>sum+</a:t>
            </a:r>
            <a:r>
              <a:rPr lang="ru-RU" altLang="en-US" sz="1800" dirty="0">
                <a:solidFill>
                  <a:schemeClr val="tx1"/>
                </a:solidFill>
              </a:rPr>
              <a:t>data; </a:t>
            </a:r>
            <a:endParaRPr lang="en-US" altLang="en-US" sz="1800" dirty="0">
              <a:solidFill>
                <a:schemeClr val="tx1"/>
              </a:solidFill>
            </a:endParaRPr>
          </a:p>
          <a:p>
            <a:pPr>
              <a:spcBef>
                <a:spcPct val="0"/>
              </a:spcBef>
              <a:buFont typeface="Wingdings" panose="05000000000000000000" pitchFamily="2" charset="2"/>
              <a:buNone/>
            </a:pPr>
            <a:r>
              <a:rPr lang="en-US" altLang="en-US" sz="1800" dirty="0">
                <a:solidFill>
                  <a:schemeClr val="tx1"/>
                </a:solidFill>
              </a:rPr>
              <a:t>counter </a:t>
            </a:r>
            <a:r>
              <a:rPr lang="ru-RU" altLang="en-US" sz="1800" dirty="0">
                <a:solidFill>
                  <a:schemeClr val="tx1"/>
                </a:solidFill>
              </a:rPr>
              <a:t>= </a:t>
            </a:r>
            <a:r>
              <a:rPr lang="en-US" altLang="en-US" sz="1800" dirty="0">
                <a:solidFill>
                  <a:schemeClr val="tx1"/>
                </a:solidFill>
              </a:rPr>
              <a:t>counter</a:t>
            </a:r>
            <a:r>
              <a:rPr lang="ru-RU" altLang="en-US" sz="1800" dirty="0">
                <a:solidFill>
                  <a:schemeClr val="tx1"/>
                </a:solidFill>
              </a:rPr>
              <a:t> + 1; </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rgbClr val="0000FF"/>
                </a:solidFill>
              </a:rPr>
              <a:t>end else</a:t>
            </a:r>
            <a:endParaRPr lang="en-US" altLang="en-US" sz="1800" dirty="0">
              <a:solidFill>
                <a:srgbClr val="0000FF"/>
              </a:solidFill>
            </a:endParaRPr>
          </a:p>
          <a:p>
            <a:pPr>
              <a:spcBef>
                <a:spcPct val="0"/>
              </a:spcBef>
              <a:buFont typeface="Wingdings" panose="05000000000000000000" pitchFamily="2" charset="2"/>
              <a:buNone/>
            </a:pPr>
            <a:r>
              <a:rPr lang="ru-RU" altLang="en-US" sz="1800" dirty="0">
                <a:solidFill>
                  <a:srgbClr val="0000FF"/>
                </a:solidFill>
              </a:rPr>
              <a:t>$display</a:t>
            </a:r>
            <a:r>
              <a:rPr lang="ru-RU" altLang="en-US" sz="1800" dirty="0">
                <a:solidFill>
                  <a:schemeClr val="tx1"/>
                </a:solidFill>
              </a:rPr>
              <a:t>(“</a:t>
            </a:r>
            <a:r>
              <a:rPr lang="en-US" altLang="en-US" sz="1800" dirty="0">
                <a:solidFill>
                  <a:schemeClr val="tx1"/>
                </a:solidFill>
              </a:rPr>
              <a:t>End of operation</a:t>
            </a:r>
            <a:r>
              <a:rPr lang="ru-RU" altLang="en-US" sz="1800" dirty="0">
                <a:solidFill>
                  <a:schemeClr val="tx1"/>
                </a:solidFill>
              </a:rPr>
              <a:t> "); </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chemeClr val="tx1"/>
                </a:solidFill>
              </a:rPr>
              <a:t>//Type 3 statements</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chemeClr val="tx1"/>
                </a:solidFill>
              </a:rPr>
              <a:t>//Execute statements based on ALU control signal.</a:t>
            </a:r>
            <a:endParaRPr lang="en-US" altLang="en-US" sz="1800" dirty="0">
              <a:solidFill>
                <a:schemeClr val="tx1"/>
              </a:solidFill>
            </a:endParaRPr>
          </a:p>
          <a:p>
            <a:pPr>
              <a:spcBef>
                <a:spcPct val="0"/>
              </a:spcBef>
              <a:buFont typeface="Wingdings" panose="05000000000000000000" pitchFamily="2" charset="2"/>
              <a:buNone/>
            </a:pPr>
            <a:r>
              <a:rPr lang="en-US" altLang="en-US" sz="1800" dirty="0">
                <a:solidFill>
                  <a:srgbClr val="0000FF"/>
                </a:solidFill>
              </a:rPr>
              <a:t>reg</a:t>
            </a:r>
            <a:r>
              <a:rPr lang="en-US" altLang="en-US" sz="1800" dirty="0">
                <a:solidFill>
                  <a:schemeClr val="tx1"/>
                </a:solidFill>
              </a:rPr>
              <a:t>[1:0] </a:t>
            </a:r>
            <a:r>
              <a:rPr lang="en-US" altLang="en-US" sz="1800" dirty="0" err="1">
                <a:solidFill>
                  <a:schemeClr val="tx1"/>
                </a:solidFill>
              </a:rPr>
              <a:t>alu_control</a:t>
            </a:r>
            <a:r>
              <a:rPr lang="en-US" altLang="en-US" sz="1800" dirty="0">
                <a:solidFill>
                  <a:schemeClr val="tx1"/>
                </a:solidFill>
              </a:rPr>
              <a:t>;</a:t>
            </a:r>
          </a:p>
          <a:p>
            <a:pPr>
              <a:spcBef>
                <a:spcPct val="0"/>
              </a:spcBef>
              <a:buFont typeface="Wingdings" panose="05000000000000000000" pitchFamily="2" charset="2"/>
              <a:buNone/>
            </a:pPr>
            <a:r>
              <a:rPr lang="en-US" altLang="en-US" sz="1800" dirty="0">
                <a:solidFill>
                  <a:schemeClr val="tx1"/>
                </a:solidFill>
              </a:rPr>
              <a:t>…</a:t>
            </a:r>
          </a:p>
          <a:p>
            <a:pPr>
              <a:spcBef>
                <a:spcPct val="0"/>
              </a:spcBef>
              <a:buFont typeface="Wingdings" panose="05000000000000000000" pitchFamily="2" charset="2"/>
              <a:buNone/>
            </a:pPr>
            <a:r>
              <a:rPr lang="ru-RU" altLang="en-US" sz="1800" dirty="0">
                <a:solidFill>
                  <a:srgbClr val="0000FF"/>
                </a:solidFill>
              </a:rPr>
              <a:t>if</a:t>
            </a:r>
            <a:r>
              <a:rPr lang="ru-RU" altLang="en-US" sz="1800" dirty="0">
                <a:solidFill>
                  <a:srgbClr val="0066FF"/>
                </a:solidFill>
              </a:rPr>
              <a:t> </a:t>
            </a:r>
            <a:r>
              <a:rPr lang="ru-RU" altLang="en-US" sz="1800" dirty="0">
                <a:solidFill>
                  <a:schemeClr val="tx1"/>
                </a:solidFill>
              </a:rPr>
              <a:t>(alu_control == 0) y = x + z; </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rgbClr val="0000FF"/>
                </a:solidFill>
              </a:rPr>
              <a:t>else if</a:t>
            </a:r>
            <a:r>
              <a:rPr lang="en-US" altLang="en-US" sz="1800" dirty="0">
                <a:solidFill>
                  <a:srgbClr val="0000FF"/>
                </a:solidFill>
              </a:rPr>
              <a:t> </a:t>
            </a:r>
            <a:r>
              <a:rPr lang="ru-RU" altLang="en-US" sz="1800" dirty="0">
                <a:solidFill>
                  <a:schemeClr val="tx1"/>
                </a:solidFill>
              </a:rPr>
              <a:t>(alu_control == 1) y = x - z;</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rgbClr val="0000FF"/>
                </a:solidFill>
              </a:rPr>
              <a:t>else if</a:t>
            </a:r>
            <a:r>
              <a:rPr lang="en-US" altLang="en-US" sz="1800" dirty="0">
                <a:solidFill>
                  <a:srgbClr val="0000FF"/>
                </a:solidFill>
              </a:rPr>
              <a:t> </a:t>
            </a:r>
            <a:r>
              <a:rPr lang="ru-RU" altLang="en-US" sz="1800" dirty="0">
                <a:solidFill>
                  <a:schemeClr val="tx1"/>
                </a:solidFill>
              </a:rPr>
              <a:t>(alu_control == 2) y = x * z; </a:t>
            </a:r>
            <a:endParaRPr lang="en-US" altLang="en-US" sz="1800" dirty="0">
              <a:solidFill>
                <a:schemeClr val="tx1"/>
              </a:solidFill>
            </a:endParaRPr>
          </a:p>
          <a:p>
            <a:pPr>
              <a:spcBef>
                <a:spcPct val="0"/>
              </a:spcBef>
              <a:buFont typeface="Wingdings" panose="05000000000000000000" pitchFamily="2" charset="2"/>
              <a:buNone/>
            </a:pPr>
            <a:r>
              <a:rPr lang="ru-RU" altLang="en-US" sz="1800" dirty="0">
                <a:solidFill>
                  <a:srgbClr val="0000FF"/>
                </a:solidFill>
              </a:rPr>
              <a:t>else $display</a:t>
            </a:r>
            <a:r>
              <a:rPr lang="ru-RU" altLang="en-US" sz="1800" dirty="0">
                <a:solidFill>
                  <a:schemeClr val="tx1"/>
                </a:solidFill>
              </a:rPr>
              <a:t>("Invalid ALU control signal");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82" name="Title 8">
            <a:extLst>
              <a:ext uri="{FF2B5EF4-FFF2-40B4-BE49-F238E27FC236}">
                <a16:creationId xmlns:a16="http://schemas.microsoft.com/office/drawing/2014/main" id="{DE3B3C82-F471-1862-F0AD-24D2703AE500}"/>
              </a:ext>
            </a:extLst>
          </p:cNvPr>
          <p:cNvSpPr>
            <a:spLocks noGrp="1" noChangeArrowheads="1"/>
          </p:cNvSpPr>
          <p:nvPr>
            <p:ph type="title"/>
          </p:nvPr>
        </p:nvSpPr>
        <p:spPr/>
        <p:txBody>
          <a:bodyPr>
            <a:normAutofit/>
          </a:bodyPr>
          <a:lstStyle/>
          <a:p>
            <a:r>
              <a:rPr lang="en-US" altLang="en-US" dirty="0"/>
              <a:t>Case Statement</a:t>
            </a:r>
            <a:endParaRPr lang="ru-RU" altLang="en-US" dirty="0"/>
          </a:p>
        </p:txBody>
      </p:sp>
      <p:sp>
        <p:nvSpPr>
          <p:cNvPr id="79874" name="Content Placeholder 9">
            <a:extLst>
              <a:ext uri="{FF2B5EF4-FFF2-40B4-BE49-F238E27FC236}">
                <a16:creationId xmlns:a16="http://schemas.microsoft.com/office/drawing/2014/main" id="{5C649CC6-AEFD-F408-E0A3-3D2E1F019F1C}"/>
              </a:ext>
            </a:extLst>
          </p:cNvPr>
          <p:cNvSpPr>
            <a:spLocks noGrp="1" noChangeArrowheads="1"/>
          </p:cNvSpPr>
          <p:nvPr>
            <p:ph type="body" sz="quarter" idx="10"/>
          </p:nvPr>
        </p:nvSpPr>
        <p:spPr/>
        <p:txBody>
          <a:bodyPr/>
          <a:lstStyle/>
          <a:p>
            <a:r>
              <a:rPr lang="ru-RU" altLang="en-US" dirty="0"/>
              <a:t>The keywords case, endcase, and default are used in the case statement.</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dirty="0"/>
              <a:t>Case statement may yield a faster synthesized circuit, based on multiplexers, and is more readable.</a:t>
            </a:r>
            <a:endParaRPr lang="ru-RU" altLang="en-US" dirty="0"/>
          </a:p>
          <a:p>
            <a:endParaRPr lang="ru-RU" altLang="en-US" dirty="0"/>
          </a:p>
        </p:txBody>
      </p:sp>
      <p:sp>
        <p:nvSpPr>
          <p:cNvPr id="79875" name="Text Box 5">
            <a:extLst>
              <a:ext uri="{FF2B5EF4-FFF2-40B4-BE49-F238E27FC236}">
                <a16:creationId xmlns:a16="http://schemas.microsoft.com/office/drawing/2014/main" id="{8A9B338D-C1A5-6FEA-CD13-46AD71F7CA33}"/>
              </a:ext>
            </a:extLst>
          </p:cNvPr>
          <p:cNvSpPr txBox="1">
            <a:spLocks noChangeArrowheads="1"/>
          </p:cNvSpPr>
          <p:nvPr/>
        </p:nvSpPr>
        <p:spPr bwMode="auto">
          <a:xfrm>
            <a:off x="1774825" y="1700213"/>
            <a:ext cx="864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1800"/>
          </a:p>
        </p:txBody>
      </p:sp>
      <p:graphicFrame>
        <p:nvGraphicFramePr>
          <p:cNvPr id="8" name="Table 7">
            <a:extLst>
              <a:ext uri="{FF2B5EF4-FFF2-40B4-BE49-F238E27FC236}">
                <a16:creationId xmlns:a16="http://schemas.microsoft.com/office/drawing/2014/main" id="{58E472E9-A5BD-4C5A-8434-AA09A289526C}"/>
              </a:ext>
            </a:extLst>
          </p:cNvPr>
          <p:cNvGraphicFramePr>
            <a:graphicFrameLocks noGrp="1"/>
          </p:cNvGraphicFramePr>
          <p:nvPr/>
        </p:nvGraphicFramePr>
        <p:xfrm>
          <a:off x="3962400" y="2438401"/>
          <a:ext cx="4114800" cy="2615126"/>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2614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case</a:t>
                      </a:r>
                      <a:r>
                        <a:rPr kumimoji="0" lang="en-US" sz="1800" b="0" i="0" u="none" strike="noStrike" cap="none" normalizeH="0" baseline="0" dirty="0">
                          <a:ln>
                            <a:noFill/>
                          </a:ln>
                          <a:solidFill>
                            <a:schemeClr val="tx1"/>
                          </a:solidFill>
                          <a:effectLst/>
                          <a:latin typeface="Arial" pitchFamily="34" charset="0"/>
                          <a:cs typeface="Arial" pitchFamily="34" charset="0"/>
                        </a:rPr>
                        <a:t> (selection-expression)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alternative1: statement1;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alternative2: statement2;</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alternative3: statement3;</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default</a:t>
                      </a:r>
                      <a:r>
                        <a:rPr kumimoji="0" lang="en-US" sz="1800" b="0" i="0" u="none" strike="noStrike" cap="none" normalizeH="0" baseline="0" dirty="0">
                          <a:ln>
                            <a:noFill/>
                          </a:ln>
                          <a:solidFill>
                            <a:schemeClr val="tx1"/>
                          </a:solidFill>
                          <a:effectLst/>
                          <a:latin typeface="Arial" pitchFamily="34" charset="0"/>
                          <a:cs typeface="Arial" pitchFamily="34" charset="0"/>
                        </a:rPr>
                        <a:t>: </a:t>
                      </a:r>
                      <a:r>
                        <a:rPr kumimoji="0" lang="en-US" sz="1800" b="0" i="0" u="none" strike="noStrike" cap="none" normalizeH="0" baseline="0" dirty="0" err="1">
                          <a:ln>
                            <a:noFill/>
                          </a:ln>
                          <a:solidFill>
                            <a:schemeClr val="tx1"/>
                          </a:solidFill>
                          <a:effectLst/>
                          <a:latin typeface="Arial" pitchFamily="34" charset="0"/>
                          <a:cs typeface="Arial" pitchFamily="34" charset="0"/>
                        </a:rPr>
                        <a:t>default_statement</a:t>
                      </a:r>
                      <a:r>
                        <a:rPr kumimoji="0" lang="en-US" sz="18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rgbClr val="0000FF"/>
                          </a:solidFill>
                          <a:effectLst/>
                          <a:latin typeface="Arial" pitchFamily="34" charset="0"/>
                          <a:cs typeface="Arial" pitchFamily="34" charset="0"/>
                        </a:rPr>
                        <a:t>endcase</a:t>
                      </a:r>
                      <a:endParaRPr kumimoji="0" lang="ru-RU" sz="1800" b="0" i="0" u="none" strike="noStrike" cap="none" normalizeH="0" baseline="0" dirty="0">
                        <a:ln>
                          <a:noFill/>
                        </a:ln>
                        <a:solidFill>
                          <a:srgbClr val="0000FF"/>
                        </a:solidFill>
                        <a:effectLst/>
                        <a:latin typeface="Arial" pitchFamily="34" charset="0"/>
                        <a:cs typeface="Arial" pitchFamily="34" charset="0"/>
                      </a:endParaRPr>
                    </a:p>
                    <a:p>
                      <a:endParaRPr lang="ru-RU" sz="1800" dirty="0"/>
                    </a:p>
                  </a:txBody>
                  <a:tcPr marT="45691" marB="45691">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5">
            <a:extLst>
              <a:ext uri="{FF2B5EF4-FFF2-40B4-BE49-F238E27FC236}">
                <a16:creationId xmlns:a16="http://schemas.microsoft.com/office/drawing/2014/main" id="{674CA837-DD20-4EE6-8645-B7C01D4C7D0A}"/>
              </a:ext>
            </a:extLst>
          </p:cNvPr>
          <p:cNvSpPr>
            <a:spLocks noGrp="1" noChangeArrowheads="1"/>
          </p:cNvSpPr>
          <p:nvPr>
            <p:ph type="title"/>
          </p:nvPr>
        </p:nvSpPr>
        <p:spPr/>
        <p:txBody>
          <a:bodyPr>
            <a:normAutofit/>
          </a:bodyPr>
          <a:lstStyle/>
          <a:p>
            <a:r>
              <a:rPr lang="en-US" altLang="en-US" dirty="0"/>
              <a:t>Case Statement: Example</a:t>
            </a:r>
            <a:endParaRPr lang="ru-RU" altLang="en-US" dirty="0"/>
          </a:p>
        </p:txBody>
      </p:sp>
      <p:sp>
        <p:nvSpPr>
          <p:cNvPr id="80899" name="Content Placeholder 6">
            <a:extLst>
              <a:ext uri="{FF2B5EF4-FFF2-40B4-BE49-F238E27FC236}">
                <a16:creationId xmlns:a16="http://schemas.microsoft.com/office/drawing/2014/main" id="{7E608600-A6C4-A9D7-0BCC-42E2ABA0E3D6}"/>
              </a:ext>
            </a:extLst>
          </p:cNvPr>
          <p:cNvSpPr>
            <a:spLocks noGrp="1" noChangeArrowheads="1"/>
          </p:cNvSpPr>
          <p:nvPr>
            <p:ph type="body" sz="quarter" idx="10"/>
          </p:nvPr>
        </p:nvSpPr>
        <p:spPr/>
        <p:txBody>
          <a:bodyPr/>
          <a:lstStyle/>
          <a:p>
            <a:r>
              <a:rPr lang="en-US" altLang="en-US" sz="2000" dirty="0"/>
              <a:t>reg[1:0] </a:t>
            </a:r>
            <a:r>
              <a:rPr lang="en-US" altLang="en-US" sz="2000" dirty="0" err="1"/>
              <a:t>op_code</a:t>
            </a:r>
            <a:r>
              <a:rPr lang="en-US" altLang="en-US" sz="2000" dirty="0"/>
              <a:t>;</a:t>
            </a:r>
          </a:p>
          <a:p>
            <a:r>
              <a:rPr lang="en-US" altLang="en-US" sz="2000" dirty="0"/>
              <a:t>…</a:t>
            </a:r>
          </a:p>
          <a:p>
            <a:r>
              <a:rPr lang="en-US" altLang="en-US" sz="2000" dirty="0"/>
              <a:t>case </a:t>
            </a:r>
            <a:r>
              <a:rPr lang="ru-RU" altLang="en-US" sz="2000" dirty="0"/>
              <a:t>(</a:t>
            </a:r>
            <a:r>
              <a:rPr lang="en-US" altLang="en-US" sz="2000" dirty="0" err="1"/>
              <a:t>op_code</a:t>
            </a:r>
            <a:r>
              <a:rPr lang="en-US" altLang="en-US" sz="2000" dirty="0"/>
              <a:t>)</a:t>
            </a:r>
            <a:r>
              <a:rPr lang="ru-RU" altLang="en-US" sz="2000" dirty="0"/>
              <a:t> </a:t>
            </a:r>
            <a:endParaRPr lang="en-US" altLang="en-US" sz="2000" dirty="0"/>
          </a:p>
          <a:p>
            <a:r>
              <a:rPr lang="en-US" altLang="en-US" sz="2000" dirty="0"/>
              <a:t>2’b00: </a:t>
            </a:r>
            <a:r>
              <a:rPr lang="ru-RU" altLang="en-US" sz="2000" dirty="0"/>
              <a:t>y = x </a:t>
            </a:r>
            <a:r>
              <a:rPr lang="en-US" altLang="en-US" sz="2000" dirty="0"/>
              <a:t>+</a:t>
            </a:r>
            <a:r>
              <a:rPr lang="ru-RU" altLang="en-US" sz="2000" dirty="0"/>
              <a:t> z;</a:t>
            </a:r>
            <a:endParaRPr lang="en-US" altLang="en-US" sz="2000" dirty="0"/>
          </a:p>
          <a:p>
            <a:r>
              <a:rPr lang="en-US" altLang="en-US" sz="2000" dirty="0"/>
              <a:t>2’b01: y=x - z;</a:t>
            </a:r>
          </a:p>
          <a:p>
            <a:r>
              <a:rPr lang="en-US" altLang="en-US" sz="2000" dirty="0"/>
              <a:t>2’b10: y=x * z;</a:t>
            </a:r>
          </a:p>
          <a:p>
            <a:r>
              <a:rPr lang="en-US" altLang="en-US" sz="2000" dirty="0"/>
              <a:t>default:</a:t>
            </a:r>
            <a:r>
              <a:rPr lang="ru-RU" altLang="en-US" sz="2000" dirty="0"/>
              <a:t>$display("Invalid </a:t>
            </a:r>
            <a:r>
              <a:rPr lang="en-US" altLang="en-US" sz="2000" dirty="0" err="1"/>
              <a:t>op_code</a:t>
            </a:r>
            <a:r>
              <a:rPr lang="ru-RU" altLang="en-US" sz="2000" dirty="0"/>
              <a:t>"); </a:t>
            </a:r>
          </a:p>
          <a:p>
            <a:r>
              <a:rPr lang="en-US" altLang="en-US" sz="2000" dirty="0" err="1"/>
              <a:t>endcase</a:t>
            </a:r>
            <a:endParaRPr lang="en-US" altLang="en-US" sz="2000" dirty="0"/>
          </a:p>
          <a:p>
            <a:r>
              <a:rPr lang="en-US" altLang="en-US" sz="2000" dirty="0"/>
              <a:t>In a non full case the synthesizer will infer a latch to retain the previous outputs for any cases that are not covered.</a:t>
            </a:r>
          </a:p>
          <a:p>
            <a:r>
              <a:rPr lang="en-US" altLang="en-US" sz="2000" dirty="0"/>
              <a:t>The best coding practice is to use full case statements only.</a:t>
            </a:r>
          </a:p>
          <a:p>
            <a:r>
              <a:rPr lang="en-US" altLang="en-US" sz="2000" dirty="0"/>
              <a:t>The good coding practice is to use default statement except full case (especially for simulation).</a:t>
            </a:r>
            <a:endParaRPr lang="ru-RU" altLang="en-US" sz="2000" dirty="0"/>
          </a:p>
          <a:p>
            <a:endParaRPr lang="ru-RU" altLang="en-US" dirty="0"/>
          </a:p>
          <a:p>
            <a:endParaRPr lang="ru-RU"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4">
            <a:extLst>
              <a:ext uri="{FF2B5EF4-FFF2-40B4-BE49-F238E27FC236}">
                <a16:creationId xmlns:a16="http://schemas.microsoft.com/office/drawing/2014/main" id="{CAB8F2F1-3B25-3597-ECFA-8F0BF0896F9E}"/>
              </a:ext>
            </a:extLst>
          </p:cNvPr>
          <p:cNvSpPr>
            <a:spLocks noGrp="1" noChangeArrowheads="1"/>
          </p:cNvSpPr>
          <p:nvPr>
            <p:ph type="title"/>
          </p:nvPr>
        </p:nvSpPr>
        <p:spPr/>
        <p:txBody>
          <a:bodyPr>
            <a:normAutofit/>
          </a:bodyPr>
          <a:lstStyle/>
          <a:p>
            <a:r>
              <a:rPr lang="en-US" altLang="en-US" dirty="0" err="1"/>
              <a:t>Casex</a:t>
            </a:r>
            <a:r>
              <a:rPr lang="en-US" altLang="en-US" dirty="0"/>
              <a:t>, </a:t>
            </a:r>
            <a:r>
              <a:rPr lang="en-US" altLang="en-US" dirty="0" err="1"/>
              <a:t>Casez</a:t>
            </a:r>
            <a:endParaRPr lang="ru-RU" altLang="en-US" dirty="0"/>
          </a:p>
        </p:txBody>
      </p:sp>
      <p:sp>
        <p:nvSpPr>
          <p:cNvPr id="81923" name="Content Placeholder 5">
            <a:extLst>
              <a:ext uri="{FF2B5EF4-FFF2-40B4-BE49-F238E27FC236}">
                <a16:creationId xmlns:a16="http://schemas.microsoft.com/office/drawing/2014/main" id="{4BAFE6B8-579C-29F8-F623-868D552F0331}"/>
              </a:ext>
            </a:extLst>
          </p:cNvPr>
          <p:cNvSpPr>
            <a:spLocks noGrp="1" noChangeArrowheads="1"/>
          </p:cNvSpPr>
          <p:nvPr>
            <p:ph type="body" sz="quarter" idx="10"/>
          </p:nvPr>
        </p:nvSpPr>
        <p:spPr/>
        <p:txBody>
          <a:bodyPr/>
          <a:lstStyle/>
          <a:p>
            <a:r>
              <a:rPr lang="en-US" altLang="en-US" sz="1800" dirty="0"/>
              <a:t>c</a:t>
            </a:r>
            <a:r>
              <a:rPr lang="ru-RU" altLang="en-US" sz="1800" dirty="0"/>
              <a:t>asez treats all z values in the case alternatives or the case expression as don't cares. </a:t>
            </a:r>
            <a:r>
              <a:rPr lang="en-US" altLang="en-US" sz="1800" dirty="0"/>
              <a:t>Instead</a:t>
            </a:r>
            <a:r>
              <a:rPr lang="ru-RU" altLang="en-US" sz="1800" dirty="0"/>
              <a:t> z can also </a:t>
            </a:r>
            <a:r>
              <a:rPr lang="en-US" altLang="en-US" sz="1800" dirty="0"/>
              <a:t>be </a:t>
            </a:r>
            <a:r>
              <a:rPr lang="ru-RU" altLang="en-US" sz="1800" dirty="0"/>
              <a:t>represented by ? casex treats all x and z values in the case item or the case expression as don't cares.</a:t>
            </a:r>
            <a:endParaRPr lang="en-US" altLang="en-US" sz="1800" dirty="0"/>
          </a:p>
          <a:p>
            <a:r>
              <a:rPr lang="en-US" altLang="en-US" sz="1800" dirty="0"/>
              <a:t>Example</a:t>
            </a:r>
          </a:p>
          <a:p>
            <a:r>
              <a:rPr lang="ru-RU" altLang="en-US" sz="1800" dirty="0"/>
              <a:t>reg [3:0] encoding;</a:t>
            </a:r>
            <a:endParaRPr lang="en-US" altLang="en-US" sz="1800" dirty="0"/>
          </a:p>
          <a:p>
            <a:r>
              <a:rPr lang="ru-RU" altLang="en-US" sz="1800" dirty="0"/>
              <a:t>integer state; </a:t>
            </a:r>
            <a:endParaRPr lang="en-US" altLang="en-US" sz="1800" dirty="0"/>
          </a:p>
          <a:p>
            <a:r>
              <a:rPr lang="ru-RU" altLang="en-US" sz="1800" dirty="0"/>
              <a:t>casex (encoding) //logic value x represents a don't care bit. </a:t>
            </a:r>
            <a:endParaRPr lang="en-US" altLang="en-US" sz="1800" dirty="0"/>
          </a:p>
          <a:p>
            <a:r>
              <a:rPr lang="ru-RU" altLang="en-US" sz="1800" dirty="0"/>
              <a:t>4'b1xxx : next_state = 3;</a:t>
            </a:r>
            <a:endParaRPr lang="en-US" altLang="en-US" sz="1800" dirty="0"/>
          </a:p>
          <a:p>
            <a:r>
              <a:rPr lang="ru-RU" altLang="en-US" sz="1800" dirty="0"/>
              <a:t>4'bx1xx : next_state = 2; </a:t>
            </a:r>
            <a:endParaRPr lang="en-US" altLang="en-US" sz="1800" dirty="0"/>
          </a:p>
          <a:p>
            <a:r>
              <a:rPr lang="ru-RU" altLang="en-US" sz="1800" dirty="0"/>
              <a:t>4'bxx1x : next_state = 1;</a:t>
            </a:r>
            <a:endParaRPr lang="en-US" altLang="en-US" sz="1800" dirty="0"/>
          </a:p>
          <a:p>
            <a:r>
              <a:rPr lang="ru-RU" altLang="en-US" sz="1800" dirty="0"/>
              <a:t>4'bxxx1 : next_state = 0; </a:t>
            </a:r>
            <a:endParaRPr lang="en-US" altLang="en-US" sz="1800" dirty="0"/>
          </a:p>
          <a:p>
            <a:r>
              <a:rPr lang="en-US" altLang="en-US" sz="1800" dirty="0"/>
              <a:t>d</a:t>
            </a:r>
            <a:r>
              <a:rPr lang="ru-RU" altLang="en-US" sz="1800" dirty="0"/>
              <a:t>efault</a:t>
            </a:r>
            <a:r>
              <a:rPr lang="en-US" altLang="en-US" sz="1800" dirty="0"/>
              <a:t> </a:t>
            </a:r>
            <a:r>
              <a:rPr lang="ru-RU" altLang="en-US" sz="1800" dirty="0"/>
              <a:t> : next_state = 0; </a:t>
            </a:r>
            <a:endParaRPr lang="en-US" altLang="en-US" sz="1800" dirty="0"/>
          </a:p>
          <a:p>
            <a:r>
              <a:rPr lang="ru-RU" altLang="en-US" sz="1800" dirty="0"/>
              <a:t>endcase </a:t>
            </a:r>
            <a:endParaRPr lang="en-US" altLang="en-US" sz="1800" dirty="0"/>
          </a:p>
          <a:p>
            <a:r>
              <a:rPr lang="en-US" altLang="en-US" sz="1800" dirty="0"/>
              <a:t>I</a:t>
            </a:r>
            <a:r>
              <a:rPr lang="ru-RU" altLang="en-US" sz="1800" dirty="0"/>
              <a:t>nput encoding = 4'b</a:t>
            </a:r>
            <a:r>
              <a:rPr lang="en-US" altLang="en-US" sz="1800" dirty="0"/>
              <a:t>01</a:t>
            </a:r>
            <a:r>
              <a:rPr lang="ru-RU" altLang="en-US" sz="1800" dirty="0"/>
              <a:t>0z would cause next_state = </a:t>
            </a:r>
            <a:r>
              <a:rPr lang="en-US" altLang="en-US" sz="1800" dirty="0"/>
              <a:t>2 </a:t>
            </a:r>
            <a:r>
              <a:rPr lang="ru-RU" altLang="en-US" sz="1800" dirty="0"/>
              <a:t>to be executed.</a:t>
            </a:r>
          </a:p>
          <a:p>
            <a:endParaRPr lang="ru-RU" alt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4">
            <a:extLst>
              <a:ext uri="{FF2B5EF4-FFF2-40B4-BE49-F238E27FC236}">
                <a16:creationId xmlns:a16="http://schemas.microsoft.com/office/drawing/2014/main" id="{CE1C5C4E-1AFD-8B88-8EB6-8F9DB459CE0B}"/>
              </a:ext>
            </a:extLst>
          </p:cNvPr>
          <p:cNvSpPr>
            <a:spLocks noGrp="1" noChangeArrowheads="1"/>
          </p:cNvSpPr>
          <p:nvPr>
            <p:ph type="title"/>
          </p:nvPr>
        </p:nvSpPr>
        <p:spPr/>
        <p:txBody>
          <a:bodyPr>
            <a:normAutofit/>
          </a:bodyPr>
          <a:lstStyle/>
          <a:p>
            <a:r>
              <a:rPr lang="en-US" altLang="en-US" dirty="0"/>
              <a:t>Looping Statements (For Loop, Repeat Loop)</a:t>
            </a:r>
            <a:endParaRPr lang="ru-RU" altLang="en-US" dirty="0"/>
          </a:p>
        </p:txBody>
      </p:sp>
      <p:sp>
        <p:nvSpPr>
          <p:cNvPr id="82947" name="Content Placeholder 5">
            <a:extLst>
              <a:ext uri="{FF2B5EF4-FFF2-40B4-BE49-F238E27FC236}">
                <a16:creationId xmlns:a16="http://schemas.microsoft.com/office/drawing/2014/main" id="{18B50C9F-E61E-99DC-BD35-117F8FFDF38E}"/>
              </a:ext>
            </a:extLst>
          </p:cNvPr>
          <p:cNvSpPr>
            <a:spLocks noGrp="1" noChangeArrowheads="1"/>
          </p:cNvSpPr>
          <p:nvPr>
            <p:ph type="body" sz="quarter" idx="10"/>
          </p:nvPr>
        </p:nvSpPr>
        <p:spPr/>
        <p:txBody>
          <a:bodyPr/>
          <a:lstStyle/>
          <a:p>
            <a:r>
              <a:rPr lang="en-US" altLang="en-US" sz="2000" dirty="0"/>
              <a:t>L</a:t>
            </a:r>
            <a:r>
              <a:rPr lang="ru-RU" altLang="en-US" sz="2000" dirty="0"/>
              <a:t>ooping statements in Verilog: while, for, repeat and forever</a:t>
            </a:r>
            <a:r>
              <a:rPr lang="en-US" altLang="en-US" sz="2000" dirty="0"/>
              <a:t>.</a:t>
            </a:r>
            <a:br>
              <a:rPr lang="en-US" altLang="en-US" sz="2000" dirty="0"/>
            </a:br>
            <a:r>
              <a:rPr lang="ru-RU" altLang="en-US" sz="2000" dirty="0"/>
              <a:t>All looping statements can appear only inside an initial or always block. </a:t>
            </a:r>
            <a:endParaRPr lang="en-US" altLang="en-US" sz="2000" dirty="0"/>
          </a:p>
          <a:p>
            <a:r>
              <a:rPr lang="en-US" altLang="en-US" sz="2000" dirty="0"/>
              <a:t>Syntax of for statement:</a:t>
            </a:r>
          </a:p>
          <a:p>
            <a:r>
              <a:rPr lang="en-US" altLang="en-US" sz="2000" dirty="0"/>
              <a:t>for (index=</a:t>
            </a:r>
            <a:r>
              <a:rPr lang="en-US" altLang="en-US" sz="2000" dirty="0" err="1"/>
              <a:t>first_expr</a:t>
            </a:r>
            <a:r>
              <a:rPr lang="en-US" altLang="en-US" sz="2000" dirty="0"/>
              <a:t>; </a:t>
            </a:r>
            <a:r>
              <a:rPr lang="en-US" altLang="en-US" sz="2000" dirty="0" err="1"/>
              <a:t>logical_expression</a:t>
            </a:r>
            <a:r>
              <a:rPr lang="en-US" altLang="en-US" sz="2000" dirty="0"/>
              <a:t>; index=</a:t>
            </a:r>
            <a:r>
              <a:rPr lang="en-US" altLang="en-US" sz="2000" dirty="0" err="1"/>
              <a:t>second_expr</a:t>
            </a:r>
            <a:r>
              <a:rPr lang="en-US" altLang="en-US" sz="2000" dirty="0"/>
              <a:t>)</a:t>
            </a:r>
          </a:p>
          <a:p>
            <a:r>
              <a:rPr lang="en-US" altLang="en-US" sz="2000" dirty="0"/>
              <a:t> begin procedural-statements  end</a:t>
            </a:r>
          </a:p>
          <a:p>
            <a:r>
              <a:rPr lang="en-US" altLang="en-US" sz="2000" dirty="0"/>
              <a:t>At the beginning of each iteration it checks logical expression.</a:t>
            </a:r>
          </a:p>
          <a:p>
            <a:r>
              <a:rPr lang="en-US" altLang="en-US" sz="2000" dirty="0"/>
              <a:t>If the value is false, the for loop stops execution. </a:t>
            </a:r>
          </a:p>
          <a:p>
            <a:r>
              <a:rPr lang="en-US" altLang="en-US" sz="2000" dirty="0"/>
              <a:t>For synthesis, the </a:t>
            </a:r>
            <a:r>
              <a:rPr lang="en-US" altLang="en-US" sz="2000" dirty="0" err="1"/>
              <a:t>first_expr</a:t>
            </a:r>
            <a:r>
              <a:rPr lang="en-US" altLang="en-US" sz="2000" dirty="0"/>
              <a:t> must be constant, the </a:t>
            </a:r>
            <a:r>
              <a:rPr lang="en-US" altLang="en-US" sz="2000" dirty="0" err="1"/>
              <a:t>second_exp</a:t>
            </a:r>
            <a:r>
              <a:rPr lang="en-US" altLang="en-US" sz="2000" dirty="0"/>
              <a:t> – incrementing or  decrementing.</a:t>
            </a:r>
          </a:p>
          <a:p>
            <a:r>
              <a:rPr lang="en-US" altLang="en-US" sz="2000" dirty="0"/>
              <a:t>Syntax of repeat statement:</a:t>
            </a:r>
          </a:p>
          <a:p>
            <a:r>
              <a:rPr lang="en-US" altLang="en-US" sz="2000" dirty="0"/>
              <a:t>repeat (</a:t>
            </a:r>
            <a:r>
              <a:rPr lang="en-US" altLang="en-US" sz="2000" dirty="0" err="1"/>
              <a:t>integer_expression</a:t>
            </a:r>
            <a:r>
              <a:rPr lang="en-US" altLang="en-US" sz="2000" dirty="0"/>
              <a:t>) procedural statement</a:t>
            </a:r>
          </a:p>
          <a:p>
            <a:r>
              <a:rPr lang="ru-RU" altLang="en-US" sz="2000" dirty="0"/>
              <a:t>The repeat construct executes the loop a fixed number of times. </a:t>
            </a:r>
            <a:endParaRPr lang="en-US" altLang="en-US" sz="2000" dirty="0"/>
          </a:p>
          <a:p>
            <a:endParaRPr lang="en-US" altLang="en-US" sz="2000" dirty="0"/>
          </a:p>
          <a:p>
            <a:endParaRPr lang="ru-RU" altLang="en-US" sz="2000" dirty="0"/>
          </a:p>
          <a:p>
            <a:endParaRPr lang="ru-RU" alt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4">
            <a:extLst>
              <a:ext uri="{FF2B5EF4-FFF2-40B4-BE49-F238E27FC236}">
                <a16:creationId xmlns:a16="http://schemas.microsoft.com/office/drawing/2014/main" id="{02FAEBF8-7801-A9CD-831D-48493C4F7BCD}"/>
              </a:ext>
            </a:extLst>
          </p:cNvPr>
          <p:cNvSpPr>
            <a:spLocks noGrp="1" noChangeArrowheads="1"/>
          </p:cNvSpPr>
          <p:nvPr>
            <p:ph type="title"/>
          </p:nvPr>
        </p:nvSpPr>
        <p:spPr/>
        <p:txBody>
          <a:bodyPr/>
          <a:lstStyle/>
          <a:p>
            <a:r>
              <a:rPr lang="en-US" altLang="en-US"/>
              <a:t>Forever Loop,  While Loop</a:t>
            </a:r>
            <a:endParaRPr lang="ru-RU" altLang="en-US"/>
          </a:p>
        </p:txBody>
      </p:sp>
      <p:sp>
        <p:nvSpPr>
          <p:cNvPr id="83971" name="Content Placeholder 5">
            <a:extLst>
              <a:ext uri="{FF2B5EF4-FFF2-40B4-BE49-F238E27FC236}">
                <a16:creationId xmlns:a16="http://schemas.microsoft.com/office/drawing/2014/main" id="{612E04D7-F393-9E33-93C4-883BDE7414B3}"/>
              </a:ext>
            </a:extLst>
          </p:cNvPr>
          <p:cNvSpPr>
            <a:spLocks noGrp="1" noChangeArrowheads="1"/>
          </p:cNvSpPr>
          <p:nvPr>
            <p:ph type="body" sz="quarter" idx="10"/>
          </p:nvPr>
        </p:nvSpPr>
        <p:spPr/>
        <p:txBody>
          <a:bodyPr/>
          <a:lstStyle/>
          <a:p>
            <a:r>
              <a:rPr lang="en-US" altLang="en-US"/>
              <a:t>Syntax of forever statement:</a:t>
            </a:r>
          </a:p>
          <a:p>
            <a:r>
              <a:rPr lang="en-US" altLang="en-US"/>
              <a:t>forever procedural-statement</a:t>
            </a:r>
          </a:p>
          <a:p>
            <a:r>
              <a:rPr lang="ru-RU" altLang="en-US"/>
              <a:t>The loop does not contain any expression and executes forever until the $finish task is encountered. </a:t>
            </a:r>
            <a:endParaRPr lang="en-US" altLang="en-US"/>
          </a:p>
          <a:p>
            <a:endParaRPr lang="en-US" altLang="en-US"/>
          </a:p>
          <a:p>
            <a:r>
              <a:rPr lang="en-US" altLang="en-US"/>
              <a:t>Syntax of while statement:</a:t>
            </a:r>
          </a:p>
          <a:p>
            <a:r>
              <a:rPr lang="en-US" altLang="en-US"/>
              <a:t>while (logical_expression) procedural statement</a:t>
            </a:r>
          </a:p>
          <a:p>
            <a:r>
              <a:rPr lang="en-US" altLang="en-US"/>
              <a:t>The while loop executes until the logical expression is not true.</a:t>
            </a:r>
          </a:p>
          <a:p>
            <a:r>
              <a:rPr lang="ru-RU" altLang="en-US"/>
              <a:t>If the loop is entered when the </a:t>
            </a:r>
            <a:r>
              <a:rPr lang="en-US" altLang="en-US"/>
              <a:t>logical_</a:t>
            </a:r>
            <a:r>
              <a:rPr lang="ru-RU" altLang="en-US"/>
              <a:t>expression is not true, the loop is not executed at all. </a:t>
            </a:r>
            <a:endParaRPr lang="en-US" altLang="en-US"/>
          </a:p>
          <a:p>
            <a:endParaRPr lang="ru-RU"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a:extLst>
              <a:ext uri="{FF2B5EF4-FFF2-40B4-BE49-F238E27FC236}">
                <a16:creationId xmlns:a16="http://schemas.microsoft.com/office/drawing/2014/main" id="{4AE27CC8-7066-9347-DB43-A483AE06EB57}"/>
              </a:ext>
            </a:extLst>
          </p:cNvPr>
          <p:cNvSpPr>
            <a:spLocks noGrp="1" noChangeArrowheads="1"/>
          </p:cNvSpPr>
          <p:nvPr>
            <p:ph type="title"/>
          </p:nvPr>
        </p:nvSpPr>
        <p:spPr/>
        <p:txBody>
          <a:bodyPr/>
          <a:lstStyle/>
          <a:p>
            <a:r>
              <a:rPr lang="en-US" altLang="en-US"/>
              <a:t>Example 1. For Statement</a:t>
            </a:r>
            <a:endParaRPr lang="ru-RU" altLang="en-US"/>
          </a:p>
        </p:txBody>
      </p:sp>
      <p:sp>
        <p:nvSpPr>
          <p:cNvPr id="62467" name="Content Placeholder 3">
            <a:extLst>
              <a:ext uri="{FF2B5EF4-FFF2-40B4-BE49-F238E27FC236}">
                <a16:creationId xmlns:a16="http://schemas.microsoft.com/office/drawing/2014/main" id="{0530663B-E729-4D02-A584-E9E4DBDD7A3B}"/>
              </a:ext>
            </a:extLst>
          </p:cNvPr>
          <p:cNvSpPr>
            <a:spLocks noGrp="1"/>
          </p:cNvSpPr>
          <p:nvPr>
            <p:ph type="body" sz="quarter" idx="10"/>
          </p:nvPr>
        </p:nvSpPr>
        <p:spPr>
          <a:xfrm>
            <a:off x="457200" y="988695"/>
            <a:ext cx="11277922" cy="5499191"/>
          </a:xfrm>
          <a:solidFill>
            <a:schemeClr val="accent1">
              <a:lumMod val="20000"/>
              <a:lumOff val="80000"/>
            </a:schemeClr>
          </a:solidFill>
        </p:spPr>
        <p:txBody>
          <a:bodyPr/>
          <a:lstStyle/>
          <a:p>
            <a:pPr marL="0" indent="0">
              <a:buNone/>
            </a:pPr>
            <a:endParaRPr lang="en-US" sz="1800" dirty="0"/>
          </a:p>
          <a:p>
            <a:pPr marL="0" indent="0">
              <a:buNone/>
            </a:pPr>
            <a:r>
              <a:rPr lang="en-US" sz="1800" dirty="0"/>
              <a:t>module  </a:t>
            </a:r>
            <a:r>
              <a:rPr lang="en-US" sz="1800" dirty="0" err="1"/>
              <a:t>counter_one’s</a:t>
            </a:r>
            <a:r>
              <a:rPr lang="en-US" sz="1800" dirty="0"/>
              <a:t>(A, count);</a:t>
            </a:r>
          </a:p>
          <a:p>
            <a:pPr marL="0" indent="0">
              <a:buNone/>
            </a:pPr>
            <a:r>
              <a:rPr lang="en-US" sz="1800" dirty="0"/>
              <a:t>	</a:t>
            </a:r>
            <a:r>
              <a:rPr lang="pt-BR" sz="1800" dirty="0"/>
              <a:t>parameter n=32;</a:t>
            </a:r>
          </a:p>
          <a:p>
            <a:pPr marL="0" indent="0">
              <a:buNone/>
            </a:pPr>
            <a:r>
              <a:rPr lang="pt-BR" sz="1800" dirty="0"/>
              <a:t>	parameter logn=5;</a:t>
            </a:r>
          </a:p>
          <a:p>
            <a:pPr marL="0" indent="0">
              <a:buNone/>
            </a:pPr>
            <a:r>
              <a:rPr lang="pt-BR" sz="1800" dirty="0"/>
              <a:t>	input [n-1:0] A;</a:t>
            </a:r>
          </a:p>
          <a:p>
            <a:pPr marL="0" indent="0">
              <a:buNone/>
            </a:pPr>
            <a:r>
              <a:rPr lang="pt-BR" sz="1800" dirty="0"/>
              <a:t>	</a:t>
            </a:r>
            <a:r>
              <a:rPr lang="en-US" sz="1800" dirty="0"/>
              <a:t>output </a:t>
            </a:r>
            <a:r>
              <a:rPr lang="en-US" sz="1800" dirty="0" err="1"/>
              <a:t>reg</a:t>
            </a:r>
            <a:r>
              <a:rPr lang="en-US" sz="1800" dirty="0"/>
              <a:t> [logn:0] count;</a:t>
            </a:r>
          </a:p>
          <a:p>
            <a:pPr marL="0" indent="0">
              <a:buNone/>
            </a:pPr>
            <a:r>
              <a:rPr lang="en-US" sz="1800" dirty="0"/>
              <a:t>	integer </a:t>
            </a:r>
            <a:r>
              <a:rPr lang="en-US" sz="1800" dirty="0" err="1"/>
              <a:t>i</a:t>
            </a:r>
            <a:r>
              <a:rPr lang="en-US" sz="1800" dirty="0"/>
              <a:t>;</a:t>
            </a:r>
          </a:p>
          <a:p>
            <a:pPr marL="0" indent="0">
              <a:buNone/>
            </a:pPr>
            <a:r>
              <a:rPr lang="en-US" sz="1800" dirty="0"/>
              <a:t>always @(A)</a:t>
            </a:r>
          </a:p>
          <a:p>
            <a:pPr marL="0" indent="0">
              <a:buNone/>
            </a:pPr>
            <a:r>
              <a:rPr lang="en-US" sz="1800" dirty="0"/>
              <a:t>	begin  count=0;</a:t>
            </a:r>
          </a:p>
          <a:p>
            <a:pPr marL="0" indent="0">
              <a:buNone/>
            </a:pPr>
            <a:r>
              <a:rPr lang="en-US" sz="1800" dirty="0"/>
              <a:t>	for (</a:t>
            </a:r>
            <a:r>
              <a:rPr lang="en-US" sz="1800" dirty="0" err="1"/>
              <a:t>i</a:t>
            </a:r>
            <a:r>
              <a:rPr lang="en-US" sz="1800" dirty="0"/>
              <a:t>=0; </a:t>
            </a:r>
            <a:r>
              <a:rPr lang="en-US" sz="1800" dirty="0" err="1"/>
              <a:t>i</a:t>
            </a:r>
            <a:r>
              <a:rPr lang="en-US" sz="1800" dirty="0"/>
              <a:t>&lt;n; </a:t>
            </a:r>
            <a:r>
              <a:rPr lang="en-US" sz="1800" dirty="0" err="1"/>
              <a:t>i</a:t>
            </a:r>
            <a:r>
              <a:rPr lang="en-US" sz="1800" dirty="0"/>
              <a:t>=i+1)</a:t>
            </a:r>
          </a:p>
          <a:p>
            <a:pPr marL="0" indent="0">
              <a:buNone/>
            </a:pPr>
            <a:r>
              <a:rPr lang="en-US" sz="1800" dirty="0"/>
              <a:t>count=count + A[</a:t>
            </a:r>
            <a:r>
              <a:rPr lang="en-US" sz="1800" dirty="0" err="1"/>
              <a:t>i</a:t>
            </a:r>
            <a:r>
              <a:rPr lang="en-US" sz="1800" dirty="0"/>
              <a:t>];</a:t>
            </a:r>
          </a:p>
          <a:p>
            <a:pPr marL="0" indent="0">
              <a:buNone/>
            </a:pPr>
            <a:r>
              <a:rPr lang="en-US" sz="1800" dirty="0"/>
              <a:t>	end</a:t>
            </a:r>
          </a:p>
          <a:p>
            <a:pPr marL="0" indent="0">
              <a:buNone/>
            </a:pPr>
            <a:r>
              <a:rPr lang="en-US" sz="1800" dirty="0" err="1"/>
              <a:t>endmodule</a:t>
            </a:r>
            <a:endParaRPr lang="ru-RU" sz="1800" dirty="0"/>
          </a:p>
          <a:p>
            <a:endParaRPr lang="ru-RU" sz="1800" dirty="0"/>
          </a:p>
        </p:txBody>
      </p:sp>
      <p:sp>
        <p:nvSpPr>
          <p:cNvPr id="4" name="Content Placeholder 3">
            <a:extLst>
              <a:ext uri="{FF2B5EF4-FFF2-40B4-BE49-F238E27FC236}">
                <a16:creationId xmlns:a16="http://schemas.microsoft.com/office/drawing/2014/main" id="{624F7E65-14B7-4617-A86E-2319D01EBE90}"/>
              </a:ext>
            </a:extLst>
          </p:cNvPr>
          <p:cNvSpPr txBox="1">
            <a:spLocks/>
          </p:cNvSpPr>
          <p:nvPr/>
        </p:nvSpPr>
        <p:spPr bwMode="auto">
          <a:xfrm>
            <a:off x="6207125" y="1863725"/>
            <a:ext cx="3657600" cy="3657600"/>
          </a:xfrm>
          <a:prstGeom prst="rect">
            <a:avLst/>
          </a:prstGeom>
          <a:solidFill>
            <a:schemeClr val="accent1">
              <a:lumMod val="20000"/>
              <a:lumOff val="80000"/>
            </a:schemeClr>
          </a:solidFill>
          <a:ln w="9525">
            <a:noFill/>
            <a:miter lim="800000"/>
            <a:headEnd/>
            <a:tailEnd/>
          </a:ln>
        </p:spPr>
        <p:txBody>
          <a:bodyPr/>
          <a:lstStyle/>
          <a:p>
            <a:pPr marL="342900" indent="-342900">
              <a:buClr>
                <a:schemeClr val="accent1"/>
              </a:buClr>
              <a:buSzPct val="65000"/>
              <a:defRPr/>
            </a:pPr>
            <a:r>
              <a:rPr lang="en-US" kern="0" dirty="0">
                <a:solidFill>
                  <a:srgbClr val="0000FF"/>
                </a:solidFill>
              </a:rPr>
              <a:t> module</a:t>
            </a:r>
            <a:r>
              <a:rPr lang="en-US" kern="0" dirty="0"/>
              <a:t>  </a:t>
            </a:r>
            <a:r>
              <a:rPr lang="en-US" kern="0" dirty="0" err="1"/>
              <a:t>counter_one’s</a:t>
            </a:r>
            <a:r>
              <a:rPr lang="en-US" kern="0" dirty="0"/>
              <a:t>(A, count);</a:t>
            </a:r>
          </a:p>
          <a:p>
            <a:pPr marL="342900" indent="-342900">
              <a:buClr>
                <a:schemeClr val="accent1"/>
              </a:buClr>
              <a:buSzPct val="65000"/>
              <a:defRPr/>
            </a:pPr>
            <a:r>
              <a:rPr lang="en-US" kern="0" dirty="0">
                <a:solidFill>
                  <a:srgbClr val="0000FF"/>
                </a:solidFill>
              </a:rPr>
              <a:t>	</a:t>
            </a:r>
            <a:r>
              <a:rPr lang="pt-BR" kern="0" dirty="0">
                <a:solidFill>
                  <a:srgbClr val="0000FF"/>
                </a:solidFill>
              </a:rPr>
              <a:t>parameter</a:t>
            </a:r>
            <a:r>
              <a:rPr lang="pt-BR" kern="0" dirty="0"/>
              <a:t> n=32;</a:t>
            </a:r>
          </a:p>
          <a:p>
            <a:pPr marL="342900" indent="-342900">
              <a:buClr>
                <a:schemeClr val="accent1"/>
              </a:buClr>
              <a:buSzPct val="65000"/>
              <a:defRPr/>
            </a:pPr>
            <a:r>
              <a:rPr lang="pt-BR" kern="0" dirty="0"/>
              <a:t>	</a:t>
            </a:r>
            <a:r>
              <a:rPr lang="pt-BR" kern="0" dirty="0">
                <a:solidFill>
                  <a:srgbClr val="0000FF"/>
                </a:solidFill>
              </a:rPr>
              <a:t>parameter</a:t>
            </a:r>
            <a:r>
              <a:rPr lang="pt-BR" kern="0" dirty="0"/>
              <a:t> logn=5;</a:t>
            </a:r>
          </a:p>
          <a:p>
            <a:pPr marL="342900" indent="-342900">
              <a:buClr>
                <a:schemeClr val="accent1"/>
              </a:buClr>
              <a:buSzPct val="65000"/>
              <a:defRPr/>
            </a:pPr>
            <a:r>
              <a:rPr lang="pt-BR" kern="0" dirty="0">
                <a:solidFill>
                  <a:srgbClr val="0000FF"/>
                </a:solidFill>
              </a:rPr>
              <a:t>	input</a:t>
            </a:r>
            <a:r>
              <a:rPr lang="pt-BR" kern="0" dirty="0"/>
              <a:t> [n-1:0] A;</a:t>
            </a:r>
          </a:p>
          <a:p>
            <a:pPr marL="342900" indent="-342900">
              <a:buClr>
                <a:schemeClr val="accent1"/>
              </a:buClr>
              <a:buSzPct val="65000"/>
              <a:defRPr/>
            </a:pPr>
            <a:r>
              <a:rPr lang="pt-BR" kern="0" dirty="0"/>
              <a:t>	</a:t>
            </a:r>
            <a:r>
              <a:rPr lang="en-US" kern="0" dirty="0">
                <a:solidFill>
                  <a:srgbClr val="0000FF"/>
                </a:solidFill>
              </a:rPr>
              <a:t>output </a:t>
            </a:r>
            <a:r>
              <a:rPr lang="en-US" kern="0" dirty="0" err="1">
                <a:solidFill>
                  <a:srgbClr val="0000FF"/>
                </a:solidFill>
              </a:rPr>
              <a:t>reg</a:t>
            </a:r>
            <a:r>
              <a:rPr lang="en-US" kern="0" dirty="0"/>
              <a:t> [logn:0] count;</a:t>
            </a:r>
          </a:p>
          <a:p>
            <a:pPr marL="342900" indent="-342900">
              <a:buClr>
                <a:schemeClr val="accent1"/>
              </a:buClr>
              <a:buSzPct val="65000"/>
              <a:defRPr/>
            </a:pPr>
            <a:r>
              <a:rPr lang="en-US" kern="0" dirty="0"/>
              <a:t>	</a:t>
            </a:r>
            <a:r>
              <a:rPr lang="en-US" kern="0" dirty="0" err="1">
                <a:solidFill>
                  <a:srgbClr val="0000FF"/>
                </a:solidFill>
              </a:rPr>
              <a:t>reg</a:t>
            </a:r>
            <a:r>
              <a:rPr lang="en-US" kern="0" dirty="0">
                <a:solidFill>
                  <a:srgbClr val="0000FF"/>
                </a:solidFill>
              </a:rPr>
              <a:t> </a:t>
            </a:r>
            <a:r>
              <a:rPr lang="en-US" kern="0" dirty="0"/>
              <a:t>[n-1:0] </a:t>
            </a:r>
            <a:r>
              <a:rPr lang="en-US" kern="0" dirty="0" err="1"/>
              <a:t>ra</a:t>
            </a:r>
            <a:r>
              <a:rPr lang="en-US" kern="0" dirty="0"/>
              <a:t>;</a:t>
            </a:r>
          </a:p>
          <a:p>
            <a:pPr marL="342900" indent="-342900">
              <a:buClr>
                <a:schemeClr val="accent1"/>
              </a:buClr>
              <a:buSzPct val="65000"/>
              <a:defRPr/>
            </a:pPr>
            <a:r>
              <a:rPr lang="en-US" kern="0" dirty="0"/>
              <a:t>	</a:t>
            </a:r>
            <a:r>
              <a:rPr lang="en-US" kern="0" dirty="0">
                <a:solidFill>
                  <a:srgbClr val="0000FF"/>
                </a:solidFill>
              </a:rPr>
              <a:t>always</a:t>
            </a:r>
            <a:r>
              <a:rPr lang="en-US" kern="0" dirty="0"/>
              <a:t> @(A)</a:t>
            </a:r>
          </a:p>
          <a:p>
            <a:pPr marL="342900" indent="-342900">
              <a:buClr>
                <a:schemeClr val="accent1"/>
              </a:buClr>
              <a:buSzPct val="65000"/>
              <a:defRPr/>
            </a:pPr>
            <a:r>
              <a:rPr lang="en-US" kern="0" dirty="0">
                <a:solidFill>
                  <a:srgbClr val="0000FF"/>
                </a:solidFill>
              </a:rPr>
              <a:t>	begin</a:t>
            </a:r>
            <a:r>
              <a:rPr lang="en-US" kern="0" dirty="0"/>
              <a:t>  count=0;</a:t>
            </a:r>
          </a:p>
          <a:p>
            <a:pPr marL="342900" indent="-342900">
              <a:buClr>
                <a:schemeClr val="accent1"/>
              </a:buClr>
              <a:buSzPct val="65000"/>
              <a:defRPr/>
            </a:pPr>
            <a:r>
              <a:rPr lang="en-US" kern="0" dirty="0"/>
              <a:t>	</a:t>
            </a:r>
            <a:r>
              <a:rPr lang="en-US" kern="0" dirty="0">
                <a:solidFill>
                  <a:srgbClr val="0000FF"/>
                </a:solidFill>
              </a:rPr>
              <a:t>for</a:t>
            </a:r>
            <a:r>
              <a:rPr lang="en-US" kern="0" dirty="0"/>
              <a:t> (</a:t>
            </a:r>
            <a:r>
              <a:rPr lang="en-US" kern="0" dirty="0" err="1"/>
              <a:t>ra</a:t>
            </a:r>
            <a:r>
              <a:rPr lang="en-US" kern="0" dirty="0"/>
              <a:t>=A; </a:t>
            </a:r>
            <a:r>
              <a:rPr lang="en-US" kern="0" dirty="0" err="1"/>
              <a:t>ra</a:t>
            </a:r>
            <a:r>
              <a:rPr lang="en-US" kern="0" dirty="0"/>
              <a:t> !=0; </a:t>
            </a:r>
            <a:r>
              <a:rPr lang="en-US" kern="0" dirty="0" err="1"/>
              <a:t>ra</a:t>
            </a:r>
            <a:r>
              <a:rPr lang="en-US" kern="0" dirty="0"/>
              <a:t>=</a:t>
            </a:r>
            <a:r>
              <a:rPr lang="en-US" kern="0" dirty="0" err="1"/>
              <a:t>ra</a:t>
            </a:r>
            <a:r>
              <a:rPr lang="en-US" kern="0" dirty="0"/>
              <a:t>&gt;&gt;1)</a:t>
            </a:r>
          </a:p>
          <a:p>
            <a:pPr marL="342900" indent="-342900">
              <a:buClr>
                <a:schemeClr val="accent1"/>
              </a:buClr>
              <a:buSzPct val="65000"/>
              <a:defRPr/>
            </a:pPr>
            <a:r>
              <a:rPr lang="en-US" kern="0" dirty="0"/>
              <a:t>count=count + </a:t>
            </a:r>
            <a:r>
              <a:rPr lang="en-US" kern="0" dirty="0" err="1"/>
              <a:t>ra</a:t>
            </a:r>
            <a:r>
              <a:rPr lang="en-US" kern="0" dirty="0"/>
              <a:t>[0];</a:t>
            </a:r>
          </a:p>
          <a:p>
            <a:pPr marL="342900" indent="-342900">
              <a:buClr>
                <a:schemeClr val="accent1"/>
              </a:buClr>
              <a:buSzPct val="65000"/>
              <a:defRPr/>
            </a:pPr>
            <a:r>
              <a:rPr lang="en-US" kern="0" dirty="0"/>
              <a:t>	</a:t>
            </a:r>
            <a:r>
              <a:rPr lang="en-US" kern="0" dirty="0">
                <a:solidFill>
                  <a:srgbClr val="0000FF"/>
                </a:solidFill>
              </a:rPr>
              <a:t>end</a:t>
            </a:r>
          </a:p>
          <a:p>
            <a:pPr marL="342900" indent="-342900">
              <a:buClr>
                <a:schemeClr val="accent1"/>
              </a:buClr>
              <a:buSzPct val="65000"/>
              <a:defRPr/>
            </a:pPr>
            <a:r>
              <a:rPr lang="en-US" kern="0" dirty="0" err="1">
                <a:solidFill>
                  <a:srgbClr val="0000FF"/>
                </a:solidFill>
              </a:rPr>
              <a:t>endmodule</a:t>
            </a:r>
            <a:endParaRPr lang="ru-RU" kern="0" dirty="0">
              <a:solidFill>
                <a:srgbClr val="0000FF"/>
              </a:solidFill>
            </a:endParaRPr>
          </a:p>
          <a:p>
            <a:pPr marL="342900" indent="-342900">
              <a:buClr>
                <a:schemeClr val="accent1"/>
              </a:buClr>
              <a:buSzPct val="65000"/>
              <a:buFont typeface="Wingdings" pitchFamily="2" charset="2"/>
              <a:buChar char="n"/>
              <a:defRPr/>
            </a:pPr>
            <a:endParaRPr lang="ru-RU" kern="0" dirty="0"/>
          </a:p>
        </p:txBody>
      </p:sp>
      <p:sp>
        <p:nvSpPr>
          <p:cNvPr id="84997" name="TextBox 4">
            <a:extLst>
              <a:ext uri="{FF2B5EF4-FFF2-40B4-BE49-F238E27FC236}">
                <a16:creationId xmlns:a16="http://schemas.microsoft.com/office/drawing/2014/main" id="{24A306DA-30C9-C816-0534-9469D2197E15}"/>
              </a:ext>
            </a:extLst>
          </p:cNvPr>
          <p:cNvSpPr txBox="1">
            <a:spLocks noChangeArrowheads="1"/>
          </p:cNvSpPr>
          <p:nvPr/>
        </p:nvSpPr>
        <p:spPr bwMode="auto">
          <a:xfrm>
            <a:off x="979714" y="988695"/>
            <a:ext cx="228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dirty="0"/>
              <a:t>One’s  counter</a:t>
            </a:r>
            <a:endParaRPr lang="en-GB" altLang="en-US" dirty="0"/>
          </a:p>
        </p:txBody>
      </p:sp>
      <p:sp>
        <p:nvSpPr>
          <p:cNvPr id="84998" name="TextBox 5">
            <a:extLst>
              <a:ext uri="{FF2B5EF4-FFF2-40B4-BE49-F238E27FC236}">
                <a16:creationId xmlns:a16="http://schemas.microsoft.com/office/drawing/2014/main" id="{FBA12FC8-606E-08B6-DEF8-42F5439583DD}"/>
              </a:ext>
            </a:extLst>
          </p:cNvPr>
          <p:cNvSpPr txBox="1">
            <a:spLocks noChangeArrowheads="1"/>
          </p:cNvSpPr>
          <p:nvPr/>
        </p:nvSpPr>
        <p:spPr bwMode="auto">
          <a:xfrm>
            <a:off x="6892925" y="988695"/>
            <a:ext cx="228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dirty="0"/>
              <a:t>Another variant</a:t>
            </a:r>
            <a:endParaRPr lang="en-GB"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a:extLst>
              <a:ext uri="{FF2B5EF4-FFF2-40B4-BE49-F238E27FC236}">
                <a16:creationId xmlns:a16="http://schemas.microsoft.com/office/drawing/2014/main" id="{DBFC2EBD-68BB-4D2E-1D5F-2E2AE7357B59}"/>
              </a:ext>
            </a:extLst>
          </p:cNvPr>
          <p:cNvSpPr>
            <a:spLocks noGrp="1" noChangeArrowheads="1"/>
          </p:cNvSpPr>
          <p:nvPr>
            <p:ph type="title"/>
          </p:nvPr>
        </p:nvSpPr>
        <p:spPr/>
        <p:txBody>
          <a:bodyPr/>
          <a:lstStyle/>
          <a:p>
            <a:r>
              <a:rPr lang="en-US" altLang="en-US"/>
              <a:t>Example 3. Repeat Statement</a:t>
            </a:r>
            <a:endParaRPr lang="ru-RU" altLang="en-US"/>
          </a:p>
        </p:txBody>
      </p:sp>
      <p:sp>
        <p:nvSpPr>
          <p:cNvPr id="64515" name="Content Placeholder 3">
            <a:extLst>
              <a:ext uri="{FF2B5EF4-FFF2-40B4-BE49-F238E27FC236}">
                <a16:creationId xmlns:a16="http://schemas.microsoft.com/office/drawing/2014/main" id="{3E67F2A2-440C-4D5D-A11F-FDF27C9703D4}"/>
              </a:ext>
            </a:extLst>
          </p:cNvPr>
          <p:cNvSpPr>
            <a:spLocks noGrp="1"/>
          </p:cNvSpPr>
          <p:nvPr>
            <p:ph type="body" sz="quarter" idx="10"/>
          </p:nvPr>
        </p:nvSpPr>
        <p:spPr>
          <a:solidFill>
            <a:schemeClr val="accent1">
              <a:lumMod val="20000"/>
              <a:lumOff val="80000"/>
            </a:schemeClr>
          </a:solidFill>
        </p:spPr>
        <p:txBody>
          <a:bodyPr/>
          <a:lstStyle/>
          <a:p>
            <a:pPr marL="0" indent="0">
              <a:buNone/>
            </a:pPr>
            <a:r>
              <a:rPr lang="en-US" sz="1400" dirty="0"/>
              <a:t>module  </a:t>
            </a:r>
            <a:r>
              <a:rPr lang="en-US" sz="1400" dirty="0" err="1"/>
              <a:t>counter_one’s</a:t>
            </a:r>
            <a:r>
              <a:rPr lang="en-US" sz="1400" dirty="0"/>
              <a:t>(A, count);</a:t>
            </a:r>
          </a:p>
          <a:p>
            <a:pPr marL="0" indent="0">
              <a:buNone/>
            </a:pPr>
            <a:r>
              <a:rPr lang="en-US" sz="1400" dirty="0"/>
              <a:t>	</a:t>
            </a:r>
            <a:r>
              <a:rPr lang="pt-BR" sz="1400" dirty="0"/>
              <a:t>parameter n=32;</a:t>
            </a:r>
          </a:p>
          <a:p>
            <a:pPr marL="0" indent="0">
              <a:buNone/>
            </a:pPr>
            <a:r>
              <a:rPr lang="pt-BR" sz="1400" dirty="0"/>
              <a:t>	parameter logn=5;</a:t>
            </a:r>
          </a:p>
          <a:p>
            <a:pPr marL="0" indent="0">
              <a:buNone/>
            </a:pPr>
            <a:r>
              <a:rPr lang="pt-BR" sz="1400" dirty="0"/>
              <a:t>	input [n-1:0] A;</a:t>
            </a:r>
          </a:p>
          <a:p>
            <a:pPr marL="0" indent="0">
              <a:buNone/>
            </a:pPr>
            <a:r>
              <a:rPr lang="pt-BR" sz="1400" dirty="0"/>
              <a:t>	</a:t>
            </a:r>
            <a:r>
              <a:rPr lang="en-US" sz="1400" dirty="0"/>
              <a:t>output </a:t>
            </a:r>
            <a:r>
              <a:rPr lang="en-US" sz="1400" dirty="0" err="1"/>
              <a:t>reg</a:t>
            </a:r>
            <a:r>
              <a:rPr lang="en-US" sz="1400" dirty="0"/>
              <a:t> [logn:0] count;</a:t>
            </a:r>
          </a:p>
          <a:p>
            <a:pPr marL="0" indent="0">
              <a:buNone/>
            </a:pPr>
            <a:r>
              <a:rPr lang="en-US" sz="1400" dirty="0"/>
              <a:t>	</a:t>
            </a:r>
            <a:r>
              <a:rPr lang="en-US" sz="1400" dirty="0" err="1"/>
              <a:t>reg</a:t>
            </a:r>
            <a:r>
              <a:rPr lang="en-US" sz="1400" dirty="0"/>
              <a:t> [n-1:0] </a:t>
            </a:r>
            <a:r>
              <a:rPr lang="en-US" sz="1400" dirty="0" err="1"/>
              <a:t>ra</a:t>
            </a:r>
            <a:r>
              <a:rPr lang="en-US" sz="1400" dirty="0"/>
              <a:t>;</a:t>
            </a:r>
          </a:p>
          <a:p>
            <a:pPr marL="0" indent="0">
              <a:buNone/>
            </a:pPr>
            <a:r>
              <a:rPr lang="en-US" sz="1400" dirty="0"/>
              <a:t>	always @(A)</a:t>
            </a:r>
          </a:p>
          <a:p>
            <a:pPr marL="0" indent="0">
              <a:buNone/>
            </a:pPr>
            <a:r>
              <a:rPr lang="en-US" sz="1400" dirty="0"/>
              <a:t>	begin  count=0; </a:t>
            </a:r>
            <a:r>
              <a:rPr lang="en-US" sz="1400" dirty="0" err="1"/>
              <a:t>ra</a:t>
            </a:r>
            <a:r>
              <a:rPr lang="en-US" sz="1400" dirty="0"/>
              <a:t>=A;</a:t>
            </a:r>
          </a:p>
          <a:p>
            <a:pPr marL="0" indent="0">
              <a:buNone/>
            </a:pPr>
            <a:r>
              <a:rPr lang="en-US" sz="1400" dirty="0"/>
              <a:t>repeat (n)</a:t>
            </a:r>
          </a:p>
          <a:p>
            <a:pPr marL="0" indent="0">
              <a:buNone/>
            </a:pPr>
            <a:r>
              <a:rPr lang="en-US" sz="1400" dirty="0"/>
              <a:t>	begin</a:t>
            </a:r>
          </a:p>
          <a:p>
            <a:pPr marL="0" indent="0">
              <a:buNone/>
            </a:pPr>
            <a:r>
              <a:rPr lang="en-US" sz="1400" dirty="0"/>
              <a:t>	count = </a:t>
            </a:r>
            <a:r>
              <a:rPr lang="en-US" sz="1400" dirty="0" err="1"/>
              <a:t>count+ra</a:t>
            </a:r>
            <a:r>
              <a:rPr lang="en-US" sz="1400" dirty="0"/>
              <a:t>[0];</a:t>
            </a:r>
          </a:p>
          <a:p>
            <a:pPr marL="0" indent="0">
              <a:buNone/>
            </a:pPr>
            <a:r>
              <a:rPr lang="en-US" sz="1400" dirty="0" err="1"/>
              <a:t>ra</a:t>
            </a:r>
            <a:r>
              <a:rPr lang="ru-RU" sz="1400" dirty="0"/>
              <a:t>=</a:t>
            </a:r>
            <a:r>
              <a:rPr lang="en-US" sz="1400" dirty="0" err="1"/>
              <a:t>ra</a:t>
            </a:r>
            <a:r>
              <a:rPr lang="ru-RU" sz="1400" dirty="0"/>
              <a:t> &gt;&gt;1;</a:t>
            </a:r>
            <a:endParaRPr lang="en-US" sz="1400" dirty="0"/>
          </a:p>
          <a:p>
            <a:pPr marL="0" indent="0">
              <a:buNone/>
            </a:pPr>
            <a:r>
              <a:rPr lang="en-US" sz="1400" dirty="0"/>
              <a:t>end</a:t>
            </a:r>
          </a:p>
          <a:p>
            <a:pPr marL="0" indent="0">
              <a:buNone/>
            </a:pPr>
            <a:r>
              <a:rPr lang="en-US" sz="1400" dirty="0" err="1"/>
              <a:t>endmodule</a:t>
            </a:r>
            <a:endParaRPr lang="ru-RU" sz="1400" dirty="0"/>
          </a:p>
          <a:p>
            <a:pPr marL="0" indent="0">
              <a:buNone/>
            </a:pPr>
            <a:endParaRPr lang="ru-RU"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a:extLst>
              <a:ext uri="{FF2B5EF4-FFF2-40B4-BE49-F238E27FC236}">
                <a16:creationId xmlns:a16="http://schemas.microsoft.com/office/drawing/2014/main" id="{DE0FAD75-B910-5556-E39E-5701E8E6FCE8}"/>
              </a:ext>
            </a:extLst>
          </p:cNvPr>
          <p:cNvSpPr>
            <a:spLocks noGrp="1" noChangeArrowheads="1"/>
          </p:cNvSpPr>
          <p:nvPr>
            <p:ph type="title"/>
          </p:nvPr>
        </p:nvSpPr>
        <p:spPr/>
        <p:txBody>
          <a:bodyPr/>
          <a:lstStyle/>
          <a:p>
            <a:r>
              <a:rPr lang="en-US" altLang="en-US"/>
              <a:t>Example 4. While Statement</a:t>
            </a:r>
            <a:endParaRPr lang="ru-RU" altLang="en-US"/>
          </a:p>
        </p:txBody>
      </p:sp>
      <p:sp>
        <p:nvSpPr>
          <p:cNvPr id="65539" name="Content Placeholder 3">
            <a:extLst>
              <a:ext uri="{FF2B5EF4-FFF2-40B4-BE49-F238E27FC236}">
                <a16:creationId xmlns:a16="http://schemas.microsoft.com/office/drawing/2014/main" id="{45706517-00FD-4BFB-9BC3-20504BF6E7DD}"/>
              </a:ext>
            </a:extLst>
          </p:cNvPr>
          <p:cNvSpPr>
            <a:spLocks noGrp="1"/>
          </p:cNvSpPr>
          <p:nvPr>
            <p:ph type="body" sz="quarter" idx="10"/>
          </p:nvPr>
        </p:nvSpPr>
        <p:spPr>
          <a:solidFill>
            <a:schemeClr val="accent1">
              <a:lumMod val="20000"/>
              <a:lumOff val="80000"/>
            </a:schemeClr>
          </a:solidFill>
        </p:spPr>
        <p:txBody>
          <a:bodyPr/>
          <a:lstStyle/>
          <a:p>
            <a:pPr marL="0" indent="0">
              <a:buNone/>
            </a:pPr>
            <a:r>
              <a:rPr lang="en-US" sz="1400" dirty="0"/>
              <a:t>module  </a:t>
            </a:r>
            <a:r>
              <a:rPr lang="en-US" sz="1400" dirty="0" err="1"/>
              <a:t>counter_one’s</a:t>
            </a:r>
            <a:r>
              <a:rPr lang="en-US" sz="1400" dirty="0"/>
              <a:t>(A, count);</a:t>
            </a:r>
          </a:p>
          <a:p>
            <a:pPr marL="0" indent="0">
              <a:buNone/>
            </a:pPr>
            <a:r>
              <a:rPr lang="en-US" sz="1400" dirty="0"/>
              <a:t>	</a:t>
            </a:r>
            <a:r>
              <a:rPr lang="pt-BR" sz="1400" dirty="0"/>
              <a:t>parameter n=32;</a:t>
            </a:r>
          </a:p>
          <a:p>
            <a:pPr marL="0" indent="0">
              <a:buNone/>
            </a:pPr>
            <a:r>
              <a:rPr lang="pt-BR" sz="1400" dirty="0"/>
              <a:t>	parameter logn=5;</a:t>
            </a:r>
          </a:p>
          <a:p>
            <a:pPr marL="0" indent="0">
              <a:buNone/>
            </a:pPr>
            <a:r>
              <a:rPr lang="pt-BR" sz="1400" dirty="0"/>
              <a:t>	input [n-1:0] A;</a:t>
            </a:r>
          </a:p>
          <a:p>
            <a:pPr marL="0" indent="0">
              <a:buNone/>
            </a:pPr>
            <a:r>
              <a:rPr lang="pt-BR" sz="1400" dirty="0"/>
              <a:t>	</a:t>
            </a:r>
            <a:r>
              <a:rPr lang="en-US" sz="1400" dirty="0"/>
              <a:t>output </a:t>
            </a:r>
            <a:r>
              <a:rPr lang="en-US" sz="1400" dirty="0" err="1"/>
              <a:t>reg</a:t>
            </a:r>
            <a:r>
              <a:rPr lang="en-US" sz="1400" dirty="0"/>
              <a:t> [logn:0] count;</a:t>
            </a:r>
          </a:p>
          <a:p>
            <a:pPr marL="0" indent="0">
              <a:buNone/>
            </a:pPr>
            <a:r>
              <a:rPr lang="en-US" sz="1400" dirty="0"/>
              <a:t>	</a:t>
            </a:r>
            <a:r>
              <a:rPr lang="en-US" sz="1400" dirty="0" err="1"/>
              <a:t>reg</a:t>
            </a:r>
            <a:r>
              <a:rPr lang="en-US" sz="1400" dirty="0"/>
              <a:t> [n-1:0] </a:t>
            </a:r>
            <a:r>
              <a:rPr lang="en-US" sz="1400" dirty="0" err="1"/>
              <a:t>ra</a:t>
            </a:r>
            <a:r>
              <a:rPr lang="en-US" sz="1400" dirty="0"/>
              <a:t>;</a:t>
            </a:r>
          </a:p>
          <a:p>
            <a:pPr marL="0" indent="0">
              <a:buNone/>
            </a:pPr>
            <a:r>
              <a:rPr lang="en-US" sz="1400" dirty="0"/>
              <a:t>always @(A)</a:t>
            </a:r>
          </a:p>
          <a:p>
            <a:pPr marL="0" indent="0">
              <a:buNone/>
            </a:pPr>
            <a:r>
              <a:rPr lang="en-US" sz="1400" dirty="0"/>
              <a:t>	begin  count=0; </a:t>
            </a:r>
            <a:r>
              <a:rPr lang="en-US" sz="1400" dirty="0" err="1"/>
              <a:t>ra</a:t>
            </a:r>
            <a:r>
              <a:rPr lang="en-US" sz="1400" dirty="0"/>
              <a:t>=A;</a:t>
            </a:r>
          </a:p>
          <a:p>
            <a:pPr marL="0" indent="0">
              <a:buNone/>
            </a:pPr>
            <a:r>
              <a:rPr lang="en-US" sz="1400" dirty="0"/>
              <a:t>             while (</a:t>
            </a:r>
            <a:r>
              <a:rPr lang="en-US" sz="1400" dirty="0" err="1"/>
              <a:t>ra</a:t>
            </a:r>
            <a:r>
              <a:rPr lang="en-US" sz="1400" dirty="0"/>
              <a:t>)</a:t>
            </a:r>
          </a:p>
          <a:p>
            <a:pPr marL="0" indent="0">
              <a:buNone/>
            </a:pPr>
            <a:r>
              <a:rPr lang="en-US" sz="1400" dirty="0"/>
              <a:t>begin  if (</a:t>
            </a:r>
            <a:r>
              <a:rPr lang="en-US" sz="1400" dirty="0" err="1"/>
              <a:t>ra</a:t>
            </a:r>
            <a:r>
              <a:rPr lang="en-US" sz="1400" dirty="0"/>
              <a:t>[0] ==1) count=count+1; </a:t>
            </a:r>
          </a:p>
          <a:p>
            <a:pPr marL="0" indent="0">
              <a:buNone/>
            </a:pPr>
            <a:r>
              <a:rPr lang="en-US" sz="1400" dirty="0"/>
              <a:t>	else count=count;</a:t>
            </a:r>
          </a:p>
          <a:p>
            <a:pPr marL="0" indent="0">
              <a:buNone/>
            </a:pPr>
            <a:r>
              <a:rPr lang="en-US" sz="1400" dirty="0"/>
              <a:t>	</a:t>
            </a:r>
            <a:r>
              <a:rPr lang="en-US" sz="1400" dirty="0" err="1"/>
              <a:t>ra</a:t>
            </a:r>
            <a:r>
              <a:rPr lang="en-US" sz="1400" dirty="0"/>
              <a:t>=</a:t>
            </a:r>
            <a:r>
              <a:rPr lang="en-US" sz="1400" dirty="0" err="1"/>
              <a:t>ra</a:t>
            </a:r>
            <a:r>
              <a:rPr lang="en-US" sz="1400" dirty="0"/>
              <a:t>&gt;&gt;1;</a:t>
            </a:r>
          </a:p>
          <a:p>
            <a:pPr marL="0" indent="0">
              <a:buNone/>
            </a:pPr>
            <a:r>
              <a:rPr lang="en-US" sz="1400" dirty="0"/>
              <a:t>end</a:t>
            </a:r>
          </a:p>
          <a:p>
            <a:pPr marL="0" indent="0">
              <a:buNone/>
            </a:pPr>
            <a:r>
              <a:rPr lang="en-US" sz="1400" dirty="0" err="1"/>
              <a:t>endmodule</a:t>
            </a:r>
            <a:r>
              <a:rPr lang="ru-RU" sz="1400" dirty="0"/>
              <a:t>	</a:t>
            </a:r>
          </a:p>
          <a:p>
            <a:pPr marL="0" indent="0">
              <a:buNone/>
            </a:pPr>
            <a:endParaRPr lang="ru-RU"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3">
            <a:extLst>
              <a:ext uri="{FF2B5EF4-FFF2-40B4-BE49-F238E27FC236}">
                <a16:creationId xmlns:a16="http://schemas.microsoft.com/office/drawing/2014/main" id="{CC8AE811-03C9-944D-3D4A-C693E5A35EB0}"/>
              </a:ext>
            </a:extLst>
          </p:cNvPr>
          <p:cNvSpPr>
            <a:spLocks noGrp="1" noChangeArrowheads="1"/>
          </p:cNvSpPr>
          <p:nvPr>
            <p:ph type="title"/>
          </p:nvPr>
        </p:nvSpPr>
        <p:spPr/>
        <p:txBody>
          <a:bodyPr>
            <a:normAutofit/>
          </a:bodyPr>
          <a:lstStyle/>
          <a:p>
            <a:r>
              <a:rPr lang="en-US" altLang="en-US" dirty="0"/>
              <a:t>Example 6: Forever Statement</a:t>
            </a:r>
            <a:endParaRPr lang="ru-RU" altLang="en-US" dirty="0"/>
          </a:p>
        </p:txBody>
      </p:sp>
      <p:sp>
        <p:nvSpPr>
          <p:cNvPr id="66563" name="Content Placeholder 4">
            <a:extLst>
              <a:ext uri="{FF2B5EF4-FFF2-40B4-BE49-F238E27FC236}">
                <a16:creationId xmlns:a16="http://schemas.microsoft.com/office/drawing/2014/main" id="{474AD14B-4C5F-4E25-A38A-1F79A0386144}"/>
              </a:ext>
            </a:extLst>
          </p:cNvPr>
          <p:cNvSpPr>
            <a:spLocks noGrp="1"/>
          </p:cNvSpPr>
          <p:nvPr>
            <p:ph type="body" sz="quarter" idx="10"/>
          </p:nvPr>
        </p:nvSpPr>
        <p:spPr>
          <a:solidFill>
            <a:schemeClr val="accent1">
              <a:lumMod val="20000"/>
              <a:lumOff val="80000"/>
            </a:schemeClr>
          </a:solidFill>
        </p:spPr>
        <p:txBody>
          <a:bodyPr/>
          <a:lstStyle/>
          <a:p>
            <a:pPr marL="0" indent="0">
              <a:buNone/>
            </a:pPr>
            <a:r>
              <a:rPr lang="ru-RU" sz="1800" dirty="0"/>
              <a:t>Example 1: Clock generation </a:t>
            </a:r>
            <a:endParaRPr lang="en-US" sz="1800" dirty="0"/>
          </a:p>
          <a:p>
            <a:pPr marL="0" indent="0">
              <a:buNone/>
            </a:pPr>
            <a:r>
              <a:rPr lang="ru-RU" sz="1800" dirty="0"/>
              <a:t>//Use forever loop instead of always block</a:t>
            </a:r>
            <a:endParaRPr lang="en-US" sz="1800" dirty="0"/>
          </a:p>
          <a:p>
            <a:pPr marL="0" indent="0">
              <a:buNone/>
            </a:pPr>
            <a:r>
              <a:rPr lang="ru-RU" sz="1800" dirty="0"/>
              <a:t> reg clock;</a:t>
            </a:r>
            <a:endParaRPr lang="en-US" sz="1800" dirty="0"/>
          </a:p>
          <a:p>
            <a:pPr marL="0" indent="0">
              <a:buNone/>
            </a:pPr>
            <a:r>
              <a:rPr lang="ru-RU" sz="1800" dirty="0"/>
              <a:t> initial begin clock = 1'b0; </a:t>
            </a:r>
            <a:endParaRPr lang="en-US" sz="1800" dirty="0"/>
          </a:p>
          <a:p>
            <a:pPr marL="0" indent="0">
              <a:buNone/>
            </a:pPr>
            <a:r>
              <a:rPr lang="en-US" sz="1800" dirty="0"/>
              <a:t> </a:t>
            </a:r>
            <a:r>
              <a:rPr lang="ru-RU" sz="1800" dirty="0"/>
              <a:t>forever #10 clock = ~clock;</a:t>
            </a:r>
            <a:r>
              <a:rPr lang="en-US" sz="1800" dirty="0"/>
              <a:t>  </a:t>
            </a:r>
            <a:r>
              <a:rPr lang="ru-RU" sz="1800" dirty="0"/>
              <a:t>//Clock with period of 20 units</a:t>
            </a:r>
            <a:endParaRPr lang="en-US" sz="1800" dirty="0"/>
          </a:p>
          <a:p>
            <a:pPr marL="0" indent="0">
              <a:buNone/>
            </a:pPr>
            <a:r>
              <a:rPr lang="ru-RU" sz="1800" dirty="0"/>
              <a:t> end</a:t>
            </a:r>
            <a:endParaRPr lang="en-US" sz="1800" dirty="0"/>
          </a:p>
          <a:p>
            <a:pPr marL="0" indent="0">
              <a:buNone/>
            </a:pPr>
            <a:endParaRPr lang="en-US" sz="1800" dirty="0"/>
          </a:p>
          <a:p>
            <a:pPr marL="0" indent="0">
              <a:buNone/>
            </a:pPr>
            <a:r>
              <a:rPr lang="ru-RU" sz="1800" dirty="0"/>
              <a:t> //Example 2: Synchronize two register values at every positive edge of //clock</a:t>
            </a:r>
            <a:endParaRPr lang="en-US" sz="1800" dirty="0"/>
          </a:p>
          <a:p>
            <a:pPr marL="0" indent="0">
              <a:buNone/>
            </a:pPr>
            <a:r>
              <a:rPr lang="ru-RU" sz="1800" dirty="0"/>
              <a:t> reg clock;</a:t>
            </a:r>
            <a:endParaRPr lang="en-US" sz="1800" dirty="0"/>
          </a:p>
          <a:p>
            <a:pPr marL="0" indent="0">
              <a:buNone/>
            </a:pPr>
            <a:r>
              <a:rPr lang="ru-RU" sz="1800" dirty="0"/>
              <a:t> reg x, y; </a:t>
            </a:r>
            <a:endParaRPr lang="en-US" sz="1800" dirty="0"/>
          </a:p>
          <a:p>
            <a:pPr marL="0" indent="0">
              <a:buNone/>
            </a:pPr>
            <a:r>
              <a:rPr lang="en-US" sz="1800" dirty="0"/>
              <a:t> </a:t>
            </a:r>
            <a:r>
              <a:rPr lang="ru-RU" sz="1800" dirty="0"/>
              <a:t>initial </a:t>
            </a:r>
            <a:endParaRPr lang="en-US" sz="1800" dirty="0"/>
          </a:p>
          <a:p>
            <a:pPr marL="0" indent="0">
              <a:buNone/>
            </a:pPr>
            <a:r>
              <a:rPr lang="en-US" sz="1800" dirty="0"/>
              <a:t> </a:t>
            </a:r>
            <a:r>
              <a:rPr lang="ru-RU" sz="1800" dirty="0"/>
              <a:t>forever @(posedge clock) x = y; </a:t>
            </a:r>
          </a:p>
          <a:p>
            <a:pPr marL="0" indent="0">
              <a:buNone/>
            </a:pPr>
            <a:endParaRPr lang="ru-RU"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a:extLst>
              <a:ext uri="{FF2B5EF4-FFF2-40B4-BE49-F238E27FC236}">
                <a16:creationId xmlns:a16="http://schemas.microsoft.com/office/drawing/2014/main" id="{716254C8-04DA-389B-B3A3-36ECA0A7AC8A}"/>
              </a:ext>
            </a:extLst>
          </p:cNvPr>
          <p:cNvSpPr>
            <a:spLocks noGrp="1" noChangeArrowheads="1"/>
          </p:cNvSpPr>
          <p:nvPr>
            <p:ph type="title"/>
          </p:nvPr>
        </p:nvSpPr>
        <p:spPr/>
        <p:txBody>
          <a:bodyPr/>
          <a:lstStyle/>
          <a:p>
            <a:r>
              <a:rPr lang="en-US" altLang="en-US"/>
              <a:t>Disable Statement</a:t>
            </a:r>
            <a:endParaRPr lang="ru-RU" altLang="en-US"/>
          </a:p>
        </p:txBody>
      </p:sp>
      <p:sp>
        <p:nvSpPr>
          <p:cNvPr id="89091" name="Content Placeholder 4">
            <a:extLst>
              <a:ext uri="{FF2B5EF4-FFF2-40B4-BE49-F238E27FC236}">
                <a16:creationId xmlns:a16="http://schemas.microsoft.com/office/drawing/2014/main" id="{8362950D-112E-19C1-B26E-B0978FB5B214}"/>
              </a:ext>
            </a:extLst>
          </p:cNvPr>
          <p:cNvSpPr>
            <a:spLocks noGrp="1" noChangeArrowheads="1"/>
          </p:cNvSpPr>
          <p:nvPr>
            <p:ph type="body" sz="quarter" idx="10"/>
          </p:nvPr>
        </p:nvSpPr>
        <p:spPr/>
        <p:txBody>
          <a:bodyPr/>
          <a:lstStyle/>
          <a:p>
            <a:r>
              <a:rPr lang="en-US" altLang="en-US" sz="1900" dirty="0"/>
              <a:t>disable   &lt;name of the block&gt;;  </a:t>
            </a:r>
          </a:p>
          <a:p>
            <a:r>
              <a:rPr lang="en-US" altLang="en-US" sz="1900" dirty="0"/>
              <a:t>It immediately terminates execution of the named block; subsequent statements in the block are not executed.</a:t>
            </a:r>
          </a:p>
          <a:p>
            <a:r>
              <a:rPr lang="ru-RU" altLang="en-US" sz="1900" dirty="0"/>
              <a:t>It is a way to complet</a:t>
            </a:r>
            <a:r>
              <a:rPr lang="en-US" altLang="en-US" sz="1900" dirty="0"/>
              <a:t>e</a:t>
            </a:r>
            <a:r>
              <a:rPr lang="ru-RU" altLang="en-US" sz="1900" dirty="0"/>
              <a:t> the block. Not used in for loops, and repeat.</a:t>
            </a:r>
            <a:br>
              <a:rPr lang="ru-RU" altLang="en-US" sz="1900" dirty="0"/>
            </a:br>
            <a:r>
              <a:rPr lang="ru-RU" altLang="en-US" sz="1900" dirty="0"/>
              <a:t>It is used to exit the loop, out of any named block. </a:t>
            </a:r>
            <a:r>
              <a:rPr lang="en-US" altLang="en-US" sz="1900" dirty="0"/>
              <a:t>An e</a:t>
            </a:r>
            <a:r>
              <a:rPr lang="ru-RU" altLang="en-US" sz="1900" dirty="0"/>
              <a:t>xample of exit from forever loop</a:t>
            </a:r>
            <a:r>
              <a:rPr lang="en-US" altLang="en-US" sz="1900" dirty="0"/>
              <a:t>:</a:t>
            </a:r>
            <a:endParaRPr lang="ru-RU" altLang="en-US" sz="1900" dirty="0"/>
          </a:p>
          <a:p>
            <a:r>
              <a:rPr lang="en-US" altLang="en-US" sz="1900" dirty="0"/>
              <a:t>initial begin: block1</a:t>
            </a:r>
          </a:p>
          <a:p>
            <a:pPr marL="0" indent="0">
              <a:buNone/>
            </a:pPr>
            <a:r>
              <a:rPr lang="en-US" altLang="en-US" sz="1900" dirty="0"/>
              <a:t>		forever</a:t>
            </a:r>
          </a:p>
          <a:p>
            <a:pPr marL="0" indent="0">
              <a:buNone/>
            </a:pPr>
            <a:r>
              <a:rPr lang="en-US" altLang="en-US" sz="1900" dirty="0"/>
              <a:t>		begin</a:t>
            </a:r>
          </a:p>
          <a:p>
            <a:pPr marL="0" indent="0">
              <a:buNone/>
            </a:pPr>
            <a:r>
              <a:rPr lang="en-US" altLang="en-US" sz="1900" dirty="0"/>
              <a:t>		#10 a = a + 1;</a:t>
            </a:r>
          </a:p>
          <a:p>
            <a:pPr marL="0" indent="0">
              <a:buNone/>
            </a:pPr>
            <a:r>
              <a:rPr lang="en-US" altLang="en-US" sz="1900" dirty="0"/>
              <a:t>		if (a &gt; 30)</a:t>
            </a:r>
          </a:p>
          <a:p>
            <a:pPr marL="0" indent="0">
              <a:buNone/>
            </a:pPr>
            <a:r>
              <a:rPr lang="en-US" altLang="en-US" sz="1900" dirty="0"/>
              <a:t>		disable block1;</a:t>
            </a:r>
          </a:p>
          <a:p>
            <a:pPr marL="0" indent="0">
              <a:buNone/>
            </a:pPr>
            <a:r>
              <a:rPr lang="en-US" altLang="en-US" sz="1900" dirty="0"/>
              <a:t>		end</a:t>
            </a:r>
          </a:p>
          <a:p>
            <a:pPr marL="0" indent="0">
              <a:buNone/>
            </a:pPr>
            <a:r>
              <a:rPr lang="en-US" altLang="en-US" sz="1900" dirty="0"/>
              <a:t>	end</a:t>
            </a:r>
            <a:endParaRPr lang="ru-RU" altLang="en-US" sz="1900" dirty="0"/>
          </a:p>
          <a:p>
            <a:endParaRPr lang="ru-RU" altLang="en-US" sz="1900" dirty="0"/>
          </a:p>
          <a:p>
            <a:endParaRPr lang="ru-RU" altLang="en-US" sz="1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2B0938B8-0AE9-40D1-5F45-2374CC4CBF75}"/>
              </a:ext>
            </a:extLst>
          </p:cNvPr>
          <p:cNvSpPr>
            <a:spLocks noGrp="1" noChangeArrowheads="1"/>
          </p:cNvSpPr>
          <p:nvPr>
            <p:ph type="title"/>
          </p:nvPr>
        </p:nvSpPr>
        <p:spPr/>
        <p:txBody>
          <a:bodyPr/>
          <a:lstStyle/>
          <a:p>
            <a:r>
              <a:rPr lang="en-US" altLang="en-US"/>
              <a:t>Generate Operator</a:t>
            </a:r>
            <a:endParaRPr lang="en-GB" altLang="en-US"/>
          </a:p>
        </p:txBody>
      </p:sp>
      <p:sp>
        <p:nvSpPr>
          <p:cNvPr id="4" name="Text Placeholder 3">
            <a:extLst>
              <a:ext uri="{FF2B5EF4-FFF2-40B4-BE49-F238E27FC236}">
                <a16:creationId xmlns:a16="http://schemas.microsoft.com/office/drawing/2014/main" id="{9E175578-6215-349F-796F-C141B438C711}"/>
              </a:ext>
            </a:extLst>
          </p:cNvPr>
          <p:cNvSpPr>
            <a:spLocks noGrp="1"/>
          </p:cNvSpPr>
          <p:nvPr>
            <p:ph type="body" sz="quarter" idx="10"/>
          </p:nvPr>
        </p:nvSpPr>
        <p:spPr/>
        <p:txBody>
          <a:bodyPr/>
          <a:lstStyle/>
          <a:p>
            <a:r>
              <a:rPr lang="en-US" dirty="0"/>
              <a:t>Generate statement is a powerful construct for writing configurable, synthesizable RTL. It can be used to create multiple instantiations of modules and code, or conditionally instantiate blocks of code. </a:t>
            </a:r>
          </a:p>
          <a:p>
            <a:endParaRPr lang="en-US" dirty="0"/>
          </a:p>
        </p:txBody>
      </p:sp>
      <p:sp>
        <p:nvSpPr>
          <p:cNvPr id="3" name="TextBox 2">
            <a:extLst>
              <a:ext uri="{FF2B5EF4-FFF2-40B4-BE49-F238E27FC236}">
                <a16:creationId xmlns:a16="http://schemas.microsoft.com/office/drawing/2014/main" id="{4AFD9923-F693-496D-8524-DD722C7FE806}"/>
              </a:ext>
            </a:extLst>
          </p:cNvPr>
          <p:cNvSpPr txBox="1"/>
          <p:nvPr/>
        </p:nvSpPr>
        <p:spPr>
          <a:xfrm>
            <a:off x="1828800" y="2529959"/>
            <a:ext cx="4022725" cy="3139321"/>
          </a:xfrm>
          <a:prstGeom prst="rect">
            <a:avLst/>
          </a:prstGeom>
          <a:solidFill>
            <a:schemeClr val="accent1">
              <a:lumMod val="20000"/>
              <a:lumOff val="80000"/>
            </a:schemeClr>
          </a:solidFill>
        </p:spPr>
        <p:txBody>
          <a:bodyPr>
            <a:spAutoFit/>
          </a:bodyPr>
          <a:lstStyle/>
          <a:p>
            <a:pPr eaLnBrk="1" hangingPunct="1">
              <a:defRPr/>
            </a:pPr>
            <a:r>
              <a:rPr lang="en-GB" b="1" dirty="0"/>
              <a:t>module </a:t>
            </a:r>
            <a:r>
              <a:rPr lang="en-GB" dirty="0" err="1"/>
              <a:t>gray_to_bin</a:t>
            </a:r>
            <a:r>
              <a:rPr lang="en-GB" dirty="0"/>
              <a:t> (gray, bin);</a:t>
            </a:r>
          </a:p>
          <a:p>
            <a:pPr eaLnBrk="1" hangingPunct="1">
              <a:defRPr/>
            </a:pPr>
            <a:r>
              <a:rPr lang="en-GB" b="1" dirty="0"/>
              <a:t>parameter </a:t>
            </a:r>
            <a:r>
              <a:rPr lang="en-GB" dirty="0"/>
              <a:t>size = 8;</a:t>
            </a:r>
          </a:p>
          <a:p>
            <a:pPr eaLnBrk="1" hangingPunct="1">
              <a:defRPr/>
            </a:pPr>
            <a:r>
              <a:rPr lang="en-GB" b="1" dirty="0"/>
              <a:t>output </a:t>
            </a:r>
            <a:r>
              <a:rPr lang="en-GB" dirty="0"/>
              <a:t>[size-1:0] bin</a:t>
            </a:r>
            <a:r>
              <a:rPr lang="en-GB" b="1" dirty="0"/>
              <a:t>;</a:t>
            </a:r>
            <a:endParaRPr lang="en-GB" dirty="0"/>
          </a:p>
          <a:p>
            <a:pPr eaLnBrk="1" hangingPunct="1">
              <a:defRPr/>
            </a:pPr>
            <a:r>
              <a:rPr lang="en-GB" b="1" dirty="0"/>
              <a:t>input </a:t>
            </a:r>
            <a:r>
              <a:rPr lang="en-GB" dirty="0"/>
              <a:t>[size-1:0] gray;</a:t>
            </a:r>
          </a:p>
          <a:p>
            <a:pPr eaLnBrk="1" hangingPunct="1">
              <a:defRPr/>
            </a:pPr>
            <a:r>
              <a:rPr lang="en-GB" dirty="0" err="1"/>
              <a:t>genvar</a:t>
            </a:r>
            <a:r>
              <a:rPr lang="en-GB" dirty="0"/>
              <a:t> </a:t>
            </a:r>
            <a:r>
              <a:rPr lang="en-GB" dirty="0" err="1"/>
              <a:t>i</a:t>
            </a:r>
            <a:r>
              <a:rPr lang="en-GB" dirty="0"/>
              <a:t>;</a:t>
            </a:r>
          </a:p>
          <a:p>
            <a:pPr eaLnBrk="1" hangingPunct="1">
              <a:defRPr/>
            </a:pPr>
            <a:r>
              <a:rPr lang="en-GB" b="1" dirty="0"/>
              <a:t>generate for </a:t>
            </a:r>
            <a:r>
              <a:rPr lang="en-GB" dirty="0"/>
              <a:t>(</a:t>
            </a:r>
            <a:r>
              <a:rPr lang="en-GB" dirty="0" err="1"/>
              <a:t>i</a:t>
            </a:r>
            <a:r>
              <a:rPr lang="en-GB" dirty="0"/>
              <a:t>=0; </a:t>
            </a:r>
            <a:r>
              <a:rPr lang="en-GB" dirty="0" err="1"/>
              <a:t>i</a:t>
            </a:r>
            <a:r>
              <a:rPr lang="en-GB" dirty="0"/>
              <a:t>&lt;size; </a:t>
            </a:r>
            <a:r>
              <a:rPr lang="en-GB" dirty="0" err="1"/>
              <a:t>i</a:t>
            </a:r>
            <a:r>
              <a:rPr lang="en-GB" dirty="0"/>
              <a:t>=i+1</a:t>
            </a:r>
            <a:r>
              <a:rPr lang="en-GB" b="1" dirty="0"/>
              <a:t>) </a:t>
            </a:r>
            <a:endParaRPr lang="en-GB" dirty="0"/>
          </a:p>
          <a:p>
            <a:pPr eaLnBrk="1" hangingPunct="1">
              <a:defRPr/>
            </a:pPr>
            <a:r>
              <a:rPr lang="en-GB" b="1" dirty="0" err="1"/>
              <a:t>begin:</a:t>
            </a:r>
            <a:r>
              <a:rPr lang="en-GB" dirty="0" err="1"/>
              <a:t>bit</a:t>
            </a:r>
            <a:endParaRPr lang="en-GB" dirty="0"/>
          </a:p>
          <a:p>
            <a:pPr eaLnBrk="1" hangingPunct="1">
              <a:defRPr/>
            </a:pPr>
            <a:r>
              <a:rPr lang="en-GB" b="1" dirty="0"/>
              <a:t>assign </a:t>
            </a:r>
            <a:r>
              <a:rPr lang="en-GB" dirty="0"/>
              <a:t>bin[</a:t>
            </a:r>
            <a:r>
              <a:rPr lang="en-GB" dirty="0" err="1"/>
              <a:t>i</a:t>
            </a:r>
            <a:r>
              <a:rPr lang="en-GB" dirty="0"/>
              <a:t>] = ^gray[size-1:i];</a:t>
            </a:r>
          </a:p>
          <a:p>
            <a:pPr eaLnBrk="1" hangingPunct="1">
              <a:defRPr/>
            </a:pPr>
            <a:r>
              <a:rPr lang="en-GB" b="1" dirty="0"/>
              <a:t>end </a:t>
            </a:r>
          </a:p>
          <a:p>
            <a:pPr eaLnBrk="1" hangingPunct="1">
              <a:defRPr/>
            </a:pPr>
            <a:r>
              <a:rPr lang="en-GB" b="1" dirty="0" err="1"/>
              <a:t>endgenerate</a:t>
            </a:r>
            <a:endParaRPr lang="en-GB" dirty="0"/>
          </a:p>
          <a:p>
            <a:pPr eaLnBrk="1" hangingPunct="1">
              <a:defRPr/>
            </a:pPr>
            <a:r>
              <a:rPr lang="en-GB" b="1" dirty="0" err="1"/>
              <a:t>endmodule</a:t>
            </a:r>
            <a:endParaRPr lang="en-GB" dirty="0"/>
          </a:p>
        </p:txBody>
      </p:sp>
      <p:sp>
        <p:nvSpPr>
          <p:cNvPr id="90117" name="TextBox 4">
            <a:extLst>
              <a:ext uri="{FF2B5EF4-FFF2-40B4-BE49-F238E27FC236}">
                <a16:creationId xmlns:a16="http://schemas.microsoft.com/office/drawing/2014/main" id="{EEC015C6-608F-B19E-08CB-9296A4DDF960}"/>
              </a:ext>
            </a:extLst>
          </p:cNvPr>
          <p:cNvSpPr txBox="1">
            <a:spLocks noChangeArrowheads="1"/>
          </p:cNvSpPr>
          <p:nvPr/>
        </p:nvSpPr>
        <p:spPr bwMode="auto">
          <a:xfrm>
            <a:off x="6096000" y="2525487"/>
            <a:ext cx="42672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dirty="0"/>
              <a:t>There are two kinds of Verilog generate constructs. </a:t>
            </a:r>
          </a:p>
          <a:p>
            <a:pPr eaLnBrk="1" hangingPunct="1">
              <a:buFont typeface="Arial" panose="020B0604020202020204" pitchFamily="34" charset="0"/>
              <a:buChar char="•"/>
            </a:pPr>
            <a:r>
              <a:rPr lang="en-US" altLang="en-US" dirty="0"/>
              <a:t> </a:t>
            </a:r>
            <a:r>
              <a:rPr lang="en-GB" altLang="en-US" dirty="0"/>
              <a:t>Generate loop constructs allow a block of code to be instantiated multiple times, controlled by a variable index. Similar of a </a:t>
            </a:r>
            <a:r>
              <a:rPr lang="en-GB" altLang="en-US" i="1" dirty="0"/>
              <a:t>for loop</a:t>
            </a:r>
            <a:r>
              <a:rPr lang="en-GB" altLang="en-US" dirty="0"/>
              <a:t> statement. </a:t>
            </a:r>
          </a:p>
          <a:p>
            <a:pPr eaLnBrk="1" hangingPunct="1">
              <a:buFont typeface="Arial" panose="020B0604020202020204" pitchFamily="34" charset="0"/>
              <a:buChar char="•"/>
            </a:pPr>
            <a:r>
              <a:rPr lang="en-GB" altLang="en-US" dirty="0"/>
              <a:t> Conditional generate constructs: </a:t>
            </a:r>
            <a:br>
              <a:rPr lang="en-GB" altLang="en-US" dirty="0"/>
            </a:br>
            <a:r>
              <a:rPr lang="en-GB" altLang="en-US" dirty="0"/>
              <a:t>if-generate and case-generate. This constructs select at most one block of code between multiple blocks.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4">
            <a:extLst>
              <a:ext uri="{FF2B5EF4-FFF2-40B4-BE49-F238E27FC236}">
                <a16:creationId xmlns:a16="http://schemas.microsoft.com/office/drawing/2014/main" id="{DEED976B-651F-8C1B-B371-DBD3826BE4AE}"/>
              </a:ext>
            </a:extLst>
          </p:cNvPr>
          <p:cNvSpPr>
            <a:spLocks noGrp="1" noChangeArrowheads="1"/>
          </p:cNvSpPr>
          <p:nvPr>
            <p:ph type="title"/>
          </p:nvPr>
        </p:nvSpPr>
        <p:spPr/>
        <p:txBody>
          <a:bodyPr/>
          <a:lstStyle/>
          <a:p>
            <a:r>
              <a:rPr lang="en-US" altLang="en-US"/>
              <a:t>Port Connection Rules</a:t>
            </a:r>
            <a:endParaRPr lang="ru-RU" altLang="en-US"/>
          </a:p>
        </p:txBody>
      </p:sp>
      <p:sp>
        <p:nvSpPr>
          <p:cNvPr id="91138" name="Content Placeholder 17">
            <a:extLst>
              <a:ext uri="{FF2B5EF4-FFF2-40B4-BE49-F238E27FC236}">
                <a16:creationId xmlns:a16="http://schemas.microsoft.com/office/drawing/2014/main" id="{E55801F6-14EE-E003-B454-0232706C4A77}"/>
              </a:ext>
            </a:extLst>
          </p:cNvPr>
          <p:cNvSpPr>
            <a:spLocks noGrp="1" noChangeArrowheads="1"/>
          </p:cNvSpPr>
          <p:nvPr>
            <p:ph type="body" sz="quarter" idx="10"/>
          </p:nvPr>
        </p:nvSpPr>
        <p:spPr/>
        <p:txBody>
          <a:bodyPr/>
          <a:lstStyle/>
          <a:p>
            <a:r>
              <a:rPr lang="ru-RU" altLang="en-US" dirty="0"/>
              <a:t>Low level module inputs can be register variables and net. </a:t>
            </a:r>
          </a:p>
          <a:p>
            <a:r>
              <a:rPr lang="ru-RU" altLang="en-US" dirty="0"/>
              <a:t>In the low-module they are declared as net. Register and net outputs in the low-module are declared as a net  in the top-module.</a:t>
            </a:r>
          </a:p>
          <a:p>
            <a:r>
              <a:rPr lang="ru-RU" altLang="en-US" dirty="0"/>
              <a:t>Bidirectional variables are declared as net. </a:t>
            </a:r>
          </a:p>
          <a:p>
            <a:endParaRPr lang="ru-RU" altLang="en-US" dirty="0"/>
          </a:p>
        </p:txBody>
      </p:sp>
      <p:sp>
        <p:nvSpPr>
          <p:cNvPr id="91140" name="Rectangle 7">
            <a:extLst>
              <a:ext uri="{FF2B5EF4-FFF2-40B4-BE49-F238E27FC236}">
                <a16:creationId xmlns:a16="http://schemas.microsoft.com/office/drawing/2014/main" id="{73902360-A16F-20B1-0E16-F5F17585E68B}"/>
              </a:ext>
            </a:extLst>
          </p:cNvPr>
          <p:cNvSpPr>
            <a:spLocks noChangeArrowheads="1"/>
          </p:cNvSpPr>
          <p:nvPr/>
        </p:nvSpPr>
        <p:spPr bwMode="auto">
          <a:xfrm>
            <a:off x="4527551" y="3124200"/>
            <a:ext cx="2614613" cy="1809750"/>
          </a:xfrm>
          <a:prstGeom prst="rect">
            <a:avLst/>
          </a:prstGeom>
          <a:solidFill>
            <a:schemeClr val="accent1">
              <a:lumMod val="60000"/>
              <a:lumOff val="40000"/>
            </a:schemeClr>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ru-RU" altLang="en-US" sz="1800">
                <a:solidFill>
                  <a:srgbClr val="0000FF"/>
                </a:solidFill>
              </a:rPr>
              <a:t>Low level module</a:t>
            </a:r>
          </a:p>
        </p:txBody>
      </p:sp>
      <p:sp>
        <p:nvSpPr>
          <p:cNvPr id="91141" name="Line 8">
            <a:extLst>
              <a:ext uri="{FF2B5EF4-FFF2-40B4-BE49-F238E27FC236}">
                <a16:creationId xmlns:a16="http://schemas.microsoft.com/office/drawing/2014/main" id="{0A47706F-327D-C214-7D1B-4CA3057C74D8}"/>
              </a:ext>
            </a:extLst>
          </p:cNvPr>
          <p:cNvSpPr>
            <a:spLocks noChangeShapeType="1"/>
          </p:cNvSpPr>
          <p:nvPr/>
        </p:nvSpPr>
        <p:spPr bwMode="auto">
          <a:xfrm>
            <a:off x="7154863" y="4056063"/>
            <a:ext cx="13462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142" name="Text Box 9">
            <a:extLst>
              <a:ext uri="{FF2B5EF4-FFF2-40B4-BE49-F238E27FC236}">
                <a16:creationId xmlns:a16="http://schemas.microsoft.com/office/drawing/2014/main" id="{FB73065E-693E-D125-65DB-CF9FEFEAE2DF}"/>
              </a:ext>
            </a:extLst>
          </p:cNvPr>
          <p:cNvSpPr txBox="1">
            <a:spLocks noChangeArrowheads="1"/>
          </p:cNvSpPr>
          <p:nvPr/>
        </p:nvSpPr>
        <p:spPr bwMode="auto">
          <a:xfrm>
            <a:off x="7210426" y="3716339"/>
            <a:ext cx="912813"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net</a:t>
            </a:r>
          </a:p>
        </p:txBody>
      </p:sp>
      <p:sp>
        <p:nvSpPr>
          <p:cNvPr id="91143" name="Text Box 10">
            <a:extLst>
              <a:ext uri="{FF2B5EF4-FFF2-40B4-BE49-F238E27FC236}">
                <a16:creationId xmlns:a16="http://schemas.microsoft.com/office/drawing/2014/main" id="{6E11DDE9-8BB4-C24D-78C5-8AE496CB88AF}"/>
              </a:ext>
            </a:extLst>
          </p:cNvPr>
          <p:cNvSpPr txBox="1">
            <a:spLocks noChangeArrowheads="1"/>
          </p:cNvSpPr>
          <p:nvPr/>
        </p:nvSpPr>
        <p:spPr bwMode="auto">
          <a:xfrm>
            <a:off x="6134100" y="3438526"/>
            <a:ext cx="1111250"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Output</a:t>
            </a:r>
            <a:br>
              <a:rPr lang="ru-RU" altLang="en-US" sz="1800"/>
            </a:br>
            <a:r>
              <a:rPr lang="ru-RU" altLang="en-US" sz="1800"/>
              <a:t>reg/net</a:t>
            </a:r>
          </a:p>
        </p:txBody>
      </p:sp>
      <p:sp>
        <p:nvSpPr>
          <p:cNvPr id="91144" name="Text Box 11">
            <a:extLst>
              <a:ext uri="{FF2B5EF4-FFF2-40B4-BE49-F238E27FC236}">
                <a16:creationId xmlns:a16="http://schemas.microsoft.com/office/drawing/2014/main" id="{0011A0E6-5369-B60B-404F-BECBC214DD2F}"/>
              </a:ext>
            </a:extLst>
          </p:cNvPr>
          <p:cNvSpPr txBox="1">
            <a:spLocks noChangeArrowheads="1"/>
          </p:cNvSpPr>
          <p:nvPr/>
        </p:nvSpPr>
        <p:spPr bwMode="auto">
          <a:xfrm>
            <a:off x="4506914" y="3611564"/>
            <a:ext cx="144462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Input net</a:t>
            </a:r>
          </a:p>
        </p:txBody>
      </p:sp>
      <p:sp>
        <p:nvSpPr>
          <p:cNvPr id="91145" name="Line 12">
            <a:extLst>
              <a:ext uri="{FF2B5EF4-FFF2-40B4-BE49-F238E27FC236}">
                <a16:creationId xmlns:a16="http://schemas.microsoft.com/office/drawing/2014/main" id="{A302D553-7549-0278-F03B-C6E6017CA69D}"/>
              </a:ext>
            </a:extLst>
          </p:cNvPr>
          <p:cNvSpPr>
            <a:spLocks noChangeShapeType="1"/>
          </p:cNvSpPr>
          <p:nvPr/>
        </p:nvSpPr>
        <p:spPr bwMode="auto">
          <a:xfrm>
            <a:off x="3111500" y="4040188"/>
            <a:ext cx="13462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146" name="Text Box 13">
            <a:extLst>
              <a:ext uri="{FF2B5EF4-FFF2-40B4-BE49-F238E27FC236}">
                <a16:creationId xmlns:a16="http://schemas.microsoft.com/office/drawing/2014/main" id="{B65EA3EC-EEA7-369C-7C0C-582BF5D81DA8}"/>
              </a:ext>
            </a:extLst>
          </p:cNvPr>
          <p:cNvSpPr txBox="1">
            <a:spLocks noChangeArrowheads="1"/>
          </p:cNvSpPr>
          <p:nvPr/>
        </p:nvSpPr>
        <p:spPr bwMode="auto">
          <a:xfrm>
            <a:off x="3286125" y="3641726"/>
            <a:ext cx="1295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reg/net</a:t>
            </a:r>
          </a:p>
        </p:txBody>
      </p:sp>
      <p:sp>
        <p:nvSpPr>
          <p:cNvPr id="91147" name="Line 14">
            <a:extLst>
              <a:ext uri="{FF2B5EF4-FFF2-40B4-BE49-F238E27FC236}">
                <a16:creationId xmlns:a16="http://schemas.microsoft.com/office/drawing/2014/main" id="{2C2A8DA2-AA8A-A0C5-E4AB-FBEDA22B5461}"/>
              </a:ext>
            </a:extLst>
          </p:cNvPr>
          <p:cNvSpPr>
            <a:spLocks noChangeShapeType="1"/>
          </p:cNvSpPr>
          <p:nvPr/>
        </p:nvSpPr>
        <p:spPr bwMode="auto">
          <a:xfrm>
            <a:off x="5840413" y="4926014"/>
            <a:ext cx="0" cy="636587"/>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148" name="Text Box 15">
            <a:extLst>
              <a:ext uri="{FF2B5EF4-FFF2-40B4-BE49-F238E27FC236}">
                <a16:creationId xmlns:a16="http://schemas.microsoft.com/office/drawing/2014/main" id="{4F676EC7-B9BB-E7EF-A5A8-D4C980E697F9}"/>
              </a:ext>
            </a:extLst>
          </p:cNvPr>
          <p:cNvSpPr txBox="1">
            <a:spLocks noChangeArrowheads="1"/>
          </p:cNvSpPr>
          <p:nvPr/>
        </p:nvSpPr>
        <p:spPr bwMode="auto">
          <a:xfrm>
            <a:off x="4946650" y="4321176"/>
            <a:ext cx="102235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Inоut</a:t>
            </a:r>
          </a:p>
          <a:p>
            <a:pPr eaLnBrk="1" hangingPunct="1"/>
            <a:r>
              <a:rPr lang="ru-RU" altLang="en-US" sz="1800"/>
              <a:t>net</a:t>
            </a:r>
          </a:p>
        </p:txBody>
      </p:sp>
      <p:sp>
        <p:nvSpPr>
          <p:cNvPr id="91149" name="Line 16">
            <a:extLst>
              <a:ext uri="{FF2B5EF4-FFF2-40B4-BE49-F238E27FC236}">
                <a16:creationId xmlns:a16="http://schemas.microsoft.com/office/drawing/2014/main" id="{BD2A1695-CEF4-FF1D-15C5-3C8C37F6646D}"/>
              </a:ext>
            </a:extLst>
          </p:cNvPr>
          <p:cNvSpPr>
            <a:spLocks noChangeShapeType="1"/>
          </p:cNvSpPr>
          <p:nvPr/>
        </p:nvSpPr>
        <p:spPr bwMode="auto">
          <a:xfrm>
            <a:off x="4618038" y="4033838"/>
            <a:ext cx="32861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150" name="Line 17">
            <a:extLst>
              <a:ext uri="{FF2B5EF4-FFF2-40B4-BE49-F238E27FC236}">
                <a16:creationId xmlns:a16="http://schemas.microsoft.com/office/drawing/2014/main" id="{A13CF1FB-10DE-2EDC-EB96-43E2D04F0B0A}"/>
              </a:ext>
            </a:extLst>
          </p:cNvPr>
          <p:cNvSpPr>
            <a:spLocks noChangeShapeType="1"/>
          </p:cNvSpPr>
          <p:nvPr/>
        </p:nvSpPr>
        <p:spPr bwMode="auto">
          <a:xfrm>
            <a:off x="6699251" y="4075113"/>
            <a:ext cx="32861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151" name="Line 18">
            <a:extLst>
              <a:ext uri="{FF2B5EF4-FFF2-40B4-BE49-F238E27FC236}">
                <a16:creationId xmlns:a16="http://schemas.microsoft.com/office/drawing/2014/main" id="{EED819C2-9A8B-F89A-A39D-30D907B33221}"/>
              </a:ext>
            </a:extLst>
          </p:cNvPr>
          <p:cNvSpPr>
            <a:spLocks noChangeShapeType="1"/>
          </p:cNvSpPr>
          <p:nvPr/>
        </p:nvSpPr>
        <p:spPr bwMode="auto">
          <a:xfrm>
            <a:off x="5835650" y="4408488"/>
            <a:ext cx="0" cy="411162"/>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1152" name="Text Box 19">
            <a:extLst>
              <a:ext uri="{FF2B5EF4-FFF2-40B4-BE49-F238E27FC236}">
                <a16:creationId xmlns:a16="http://schemas.microsoft.com/office/drawing/2014/main" id="{6CDFF88A-D88F-C323-7EAA-1DCF09707D8C}"/>
              </a:ext>
            </a:extLst>
          </p:cNvPr>
          <p:cNvSpPr txBox="1">
            <a:spLocks noChangeArrowheads="1"/>
          </p:cNvSpPr>
          <p:nvPr/>
        </p:nvSpPr>
        <p:spPr bwMode="auto">
          <a:xfrm>
            <a:off x="6019800" y="4967289"/>
            <a:ext cx="914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net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4">
            <a:extLst>
              <a:ext uri="{FF2B5EF4-FFF2-40B4-BE49-F238E27FC236}">
                <a16:creationId xmlns:a16="http://schemas.microsoft.com/office/drawing/2014/main" id="{3E115115-186F-DF85-0B92-37D6069A06E7}"/>
              </a:ext>
            </a:extLst>
          </p:cNvPr>
          <p:cNvSpPr>
            <a:spLocks noGrp="1" noChangeArrowheads="1"/>
          </p:cNvSpPr>
          <p:nvPr>
            <p:ph type="title"/>
          </p:nvPr>
        </p:nvSpPr>
        <p:spPr/>
        <p:txBody>
          <a:bodyPr>
            <a:normAutofit/>
          </a:bodyPr>
          <a:lstStyle/>
          <a:p>
            <a:r>
              <a:rPr lang="en-US" altLang="en-US" dirty="0"/>
              <a:t>Port  Connection  Rules</a:t>
            </a:r>
            <a:endParaRPr lang="ru-RU" altLang="en-US" dirty="0"/>
          </a:p>
        </p:txBody>
      </p:sp>
      <p:sp>
        <p:nvSpPr>
          <p:cNvPr id="6" name="Content Placeholder 5">
            <a:extLst>
              <a:ext uri="{FF2B5EF4-FFF2-40B4-BE49-F238E27FC236}">
                <a16:creationId xmlns:a16="http://schemas.microsoft.com/office/drawing/2014/main" id="{8E503904-79A8-48B5-A997-7FA1DEF5015F}"/>
              </a:ext>
            </a:extLst>
          </p:cNvPr>
          <p:cNvSpPr>
            <a:spLocks noGrp="1"/>
          </p:cNvSpPr>
          <p:nvPr>
            <p:ph type="body" sz="quarter" idx="10"/>
          </p:nvPr>
        </p:nvSpPr>
        <p:spPr/>
        <p:txBody>
          <a:bodyPr/>
          <a:lstStyle/>
          <a:p>
            <a:r>
              <a:rPr lang="en-US" sz="2300" dirty="0"/>
              <a:t>Connection module port by order list</a:t>
            </a:r>
          </a:p>
          <a:p>
            <a:r>
              <a:rPr lang="en-US" sz="2300" dirty="0"/>
              <a:t>Connection module port by name -  .</a:t>
            </a:r>
            <a:r>
              <a:rPr lang="en-US" sz="2300" dirty="0" err="1"/>
              <a:t>PortName</a:t>
            </a:r>
            <a:r>
              <a:rPr lang="en-US" sz="2300" dirty="0"/>
              <a:t>( </a:t>
            </a:r>
            <a:r>
              <a:rPr lang="en-US" sz="2300" dirty="0" err="1"/>
              <a:t>NetName</a:t>
            </a:r>
            <a:r>
              <a:rPr lang="en-US" sz="2300" dirty="0"/>
              <a:t> )</a:t>
            </a:r>
            <a:endParaRPr lang="ru-RU" sz="2300" dirty="0"/>
          </a:p>
          <a:p>
            <a:r>
              <a:rPr lang="en-US" sz="2300" dirty="0"/>
              <a:t>module adder_2bit (</a:t>
            </a:r>
            <a:r>
              <a:rPr lang="en-US" sz="2300" dirty="0" err="1"/>
              <a:t>a,b,sum</a:t>
            </a:r>
            <a:r>
              <a:rPr lang="en-US" sz="2300" dirty="0"/>
              <a:t>);</a:t>
            </a:r>
          </a:p>
          <a:p>
            <a:r>
              <a:rPr lang="en-US" sz="2300" dirty="0"/>
              <a:t>input[1:0] </a:t>
            </a:r>
            <a:r>
              <a:rPr lang="en-US" sz="2300" dirty="0" err="1"/>
              <a:t>a,b</a:t>
            </a:r>
            <a:r>
              <a:rPr lang="en-US" sz="2300" dirty="0"/>
              <a:t>;</a:t>
            </a:r>
          </a:p>
          <a:p>
            <a:r>
              <a:rPr lang="en-US" sz="2300" dirty="0"/>
              <a:t>output [2:0] sum;</a:t>
            </a:r>
          </a:p>
          <a:p>
            <a:r>
              <a:rPr lang="en-US" sz="2300" dirty="0"/>
              <a:t>wire co_1;</a:t>
            </a:r>
          </a:p>
          <a:p>
            <a:r>
              <a:rPr lang="en-US" sz="2300" dirty="0" err="1"/>
              <a:t>half_adder</a:t>
            </a:r>
            <a:r>
              <a:rPr lang="en-US" sz="2300" dirty="0"/>
              <a:t>  m1(a[0], b[0], co_1, sum[0]);   //connection  by order list</a:t>
            </a:r>
          </a:p>
          <a:p>
            <a:r>
              <a:rPr lang="en-US" sz="2300" dirty="0" err="1"/>
              <a:t>full_adder</a:t>
            </a:r>
            <a:r>
              <a:rPr lang="en-US" sz="2300" dirty="0"/>
              <a:t>  m2(.</a:t>
            </a:r>
            <a:r>
              <a:rPr lang="en-US" sz="2300" dirty="0" err="1"/>
              <a:t>cin</a:t>
            </a:r>
            <a:r>
              <a:rPr lang="en-US" sz="2300" dirty="0"/>
              <a:t>(co_1), .a(a[1]),.b(b[1]), .sum(sum[1]),.</a:t>
            </a:r>
            <a:r>
              <a:rPr lang="en-US" sz="2300" dirty="0" err="1"/>
              <a:t>cout</a:t>
            </a:r>
            <a:r>
              <a:rPr lang="en-US" sz="2300" dirty="0"/>
              <a:t>(sum[2]));		                //connection by name</a:t>
            </a:r>
          </a:p>
          <a:p>
            <a:r>
              <a:rPr lang="en-US" sz="2300" dirty="0"/>
              <a:t>end</a:t>
            </a:r>
          </a:p>
          <a:p>
            <a:r>
              <a:rPr lang="en-US" sz="2300" dirty="0" err="1"/>
              <a:t>endmodule</a:t>
            </a:r>
            <a:endParaRPr lang="en-US" sz="2300" dirty="0"/>
          </a:p>
          <a:p>
            <a:endParaRPr lang="ru-RU" sz="2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10">
            <a:extLst>
              <a:ext uri="{FF2B5EF4-FFF2-40B4-BE49-F238E27FC236}">
                <a16:creationId xmlns:a16="http://schemas.microsoft.com/office/drawing/2014/main" id="{E40C8EFC-4CB1-4A4A-A954-F05EE8A55C32}"/>
              </a:ext>
            </a:extLst>
          </p:cNvPr>
          <p:cNvSpPr>
            <a:spLocks noChangeArrowheads="1"/>
          </p:cNvSpPr>
          <p:nvPr/>
        </p:nvSpPr>
        <p:spPr bwMode="auto">
          <a:xfrm>
            <a:off x="456878" y="4336484"/>
            <a:ext cx="4114800" cy="2129629"/>
          </a:xfrm>
          <a:prstGeom prst="rect">
            <a:avLst/>
          </a:prstGeom>
          <a:solidFill>
            <a:schemeClr val="accent1">
              <a:lumMod val="20000"/>
              <a:lumOff val="80000"/>
            </a:schemeClr>
          </a:solidFill>
          <a:ln w="9525" algn="ctr">
            <a:solidFill>
              <a:schemeClr val="tx1"/>
            </a:solidFill>
            <a:round/>
            <a:headEnd/>
            <a:tailEnd/>
          </a:ln>
        </p:spPr>
        <p:txBody>
          <a:bodyPr anchor="ctr"/>
          <a:lstStyle/>
          <a:p>
            <a:pPr eaLnBrk="1" hangingPunct="1">
              <a:defRPr/>
            </a:pPr>
            <a:endParaRPr lang="ru-RU"/>
          </a:p>
        </p:txBody>
      </p:sp>
      <p:sp>
        <p:nvSpPr>
          <p:cNvPr id="70658" name="Rectangle 9">
            <a:extLst>
              <a:ext uri="{FF2B5EF4-FFF2-40B4-BE49-F238E27FC236}">
                <a16:creationId xmlns:a16="http://schemas.microsoft.com/office/drawing/2014/main" id="{7BB38430-BF34-4D4E-A57B-444F8C32F563}"/>
              </a:ext>
            </a:extLst>
          </p:cNvPr>
          <p:cNvSpPr>
            <a:spLocks noChangeArrowheads="1"/>
          </p:cNvSpPr>
          <p:nvPr/>
        </p:nvSpPr>
        <p:spPr bwMode="auto">
          <a:xfrm>
            <a:off x="456878" y="1188720"/>
            <a:ext cx="3810000" cy="2545080"/>
          </a:xfrm>
          <a:prstGeom prst="rect">
            <a:avLst/>
          </a:prstGeom>
          <a:solidFill>
            <a:schemeClr val="accent1">
              <a:lumMod val="20000"/>
              <a:lumOff val="80000"/>
            </a:schemeClr>
          </a:solidFill>
          <a:ln w="9525" algn="ctr">
            <a:solidFill>
              <a:schemeClr val="tx1"/>
            </a:solidFill>
            <a:round/>
            <a:headEnd/>
            <a:tailEnd/>
          </a:ln>
        </p:spPr>
        <p:txBody>
          <a:bodyPr anchor="ctr"/>
          <a:lstStyle/>
          <a:p>
            <a:pPr eaLnBrk="1" hangingPunct="1">
              <a:defRPr/>
            </a:pPr>
            <a:endParaRPr lang="ru-RU"/>
          </a:p>
        </p:txBody>
      </p:sp>
      <p:sp>
        <p:nvSpPr>
          <p:cNvPr id="93189" name="Content Placeholder 8">
            <a:extLst>
              <a:ext uri="{FF2B5EF4-FFF2-40B4-BE49-F238E27FC236}">
                <a16:creationId xmlns:a16="http://schemas.microsoft.com/office/drawing/2014/main" id="{DD5161EC-CA1D-F7D0-8B7B-855E06770FFE}"/>
              </a:ext>
            </a:extLst>
          </p:cNvPr>
          <p:cNvSpPr>
            <a:spLocks noGrp="1" noChangeArrowheads="1"/>
          </p:cNvSpPr>
          <p:nvPr>
            <p:ph type="body" sz="quarter" idx="10"/>
          </p:nvPr>
        </p:nvSpPr>
        <p:spPr/>
        <p:txBody>
          <a:bodyPr/>
          <a:lstStyle/>
          <a:p>
            <a:pPr marL="0" indent="0">
              <a:buNone/>
            </a:pPr>
            <a:r>
              <a:rPr lang="en-US" altLang="en-US" sz="1800" dirty="0"/>
              <a:t>module </a:t>
            </a:r>
            <a:r>
              <a:rPr lang="en-US" altLang="en-US" sz="1800" dirty="0" err="1"/>
              <a:t>half_adder</a:t>
            </a:r>
            <a:r>
              <a:rPr lang="en-US" altLang="en-US" sz="1800" dirty="0"/>
              <a:t> (</a:t>
            </a:r>
            <a:r>
              <a:rPr lang="en-US" altLang="en-US" sz="1800" dirty="0" err="1"/>
              <a:t>a,b,cout,sum</a:t>
            </a:r>
            <a:r>
              <a:rPr lang="en-US" altLang="en-US" sz="1800" dirty="0"/>
              <a:t>);</a:t>
            </a:r>
          </a:p>
          <a:p>
            <a:pPr marL="0" indent="0">
              <a:buNone/>
            </a:pPr>
            <a:r>
              <a:rPr lang="en-US" altLang="en-US" sz="1800" dirty="0"/>
              <a:t>	input </a:t>
            </a:r>
            <a:r>
              <a:rPr lang="en-US" altLang="en-US" sz="1800" dirty="0" err="1"/>
              <a:t>a,b</a:t>
            </a:r>
            <a:r>
              <a:rPr lang="en-US" altLang="en-US" sz="1800" dirty="0"/>
              <a:t>;</a:t>
            </a:r>
          </a:p>
          <a:p>
            <a:pPr marL="0" indent="0">
              <a:buNone/>
            </a:pPr>
            <a:r>
              <a:rPr lang="en-US" altLang="en-US" sz="1800" dirty="0"/>
              <a:t>	output </a:t>
            </a:r>
            <a:r>
              <a:rPr lang="en-US" altLang="en-US" sz="1800" dirty="0" err="1"/>
              <a:t>sum,cout</a:t>
            </a:r>
            <a:r>
              <a:rPr lang="en-US" altLang="en-US" sz="1800" dirty="0"/>
              <a:t>;</a:t>
            </a:r>
          </a:p>
          <a:p>
            <a:pPr marL="0" indent="0">
              <a:buNone/>
            </a:pPr>
            <a:r>
              <a:rPr lang="en-US" altLang="en-US" sz="1800" dirty="0"/>
              <a:t>assign sum =</a:t>
            </a:r>
            <a:r>
              <a:rPr lang="en-US" altLang="en-US" sz="1800" dirty="0" err="1"/>
              <a:t>a^b</a:t>
            </a:r>
            <a:r>
              <a:rPr lang="en-US" altLang="en-US" sz="1800" dirty="0"/>
              <a:t>;</a:t>
            </a:r>
          </a:p>
          <a:p>
            <a:pPr marL="0" indent="0">
              <a:buNone/>
            </a:pPr>
            <a:r>
              <a:rPr lang="en-US" altLang="en-US" sz="1800" dirty="0"/>
              <a:t>assign </a:t>
            </a:r>
            <a:r>
              <a:rPr lang="en-US" altLang="en-US" sz="1800" dirty="0" err="1"/>
              <a:t>cout</a:t>
            </a:r>
            <a:r>
              <a:rPr lang="en-US" altLang="en-US" sz="1800" dirty="0"/>
              <a:t>=</a:t>
            </a:r>
            <a:r>
              <a:rPr lang="en-US" altLang="en-US" sz="1800" dirty="0" err="1"/>
              <a:t>a&amp;b</a:t>
            </a:r>
            <a:r>
              <a:rPr lang="en-US" altLang="en-US" sz="1800" dirty="0"/>
              <a:t>;</a:t>
            </a:r>
          </a:p>
          <a:p>
            <a:pPr marL="0" indent="0">
              <a:buNone/>
            </a:pPr>
            <a:r>
              <a:rPr lang="en-US" altLang="en-US" sz="1800" dirty="0" err="1"/>
              <a:t>endmodule</a:t>
            </a:r>
            <a:endParaRPr lang="ru-RU" altLang="en-US" sz="1800" dirty="0"/>
          </a:p>
          <a:p>
            <a:endParaRPr lang="en-US" altLang="en-US" dirty="0"/>
          </a:p>
          <a:p>
            <a:pPr marL="0" indent="0">
              <a:buNone/>
            </a:pPr>
            <a:r>
              <a:rPr lang="en-US" altLang="en-US" sz="1800" dirty="0"/>
              <a:t>module </a:t>
            </a:r>
            <a:r>
              <a:rPr lang="en-US" altLang="en-US" sz="1800" dirty="0" err="1"/>
              <a:t>full_adder</a:t>
            </a:r>
            <a:r>
              <a:rPr lang="en-US" altLang="en-US" sz="1800" dirty="0"/>
              <a:t>(</a:t>
            </a:r>
            <a:r>
              <a:rPr lang="en-US" altLang="en-US" sz="1800" dirty="0" err="1"/>
              <a:t>cin,a,b,sum,cout</a:t>
            </a:r>
            <a:r>
              <a:rPr lang="en-US" altLang="en-US" sz="1800" dirty="0"/>
              <a:t>);</a:t>
            </a:r>
          </a:p>
          <a:p>
            <a:pPr marL="0" indent="0">
              <a:buNone/>
            </a:pPr>
            <a:r>
              <a:rPr lang="en-US" altLang="en-US" sz="1800" dirty="0"/>
              <a:t>	input </a:t>
            </a:r>
            <a:r>
              <a:rPr lang="en-US" altLang="en-US" sz="1800" dirty="0" err="1"/>
              <a:t>cin,a,b</a:t>
            </a:r>
            <a:r>
              <a:rPr lang="en-US" altLang="en-US" sz="1800" dirty="0"/>
              <a:t>;</a:t>
            </a:r>
          </a:p>
          <a:p>
            <a:pPr marL="0" indent="0">
              <a:buNone/>
            </a:pPr>
            <a:r>
              <a:rPr lang="en-US" altLang="en-US" sz="1800" dirty="0"/>
              <a:t>	output </a:t>
            </a:r>
            <a:r>
              <a:rPr lang="en-US" altLang="en-US" sz="1800" dirty="0" err="1"/>
              <a:t>sum,cout</a:t>
            </a:r>
            <a:r>
              <a:rPr lang="en-US" altLang="en-US" sz="1800" dirty="0"/>
              <a:t>;</a:t>
            </a:r>
          </a:p>
          <a:p>
            <a:pPr marL="0" indent="0">
              <a:buNone/>
            </a:pPr>
            <a:r>
              <a:rPr lang="en-US" altLang="en-US" sz="1800" dirty="0"/>
              <a:t>	assign {</a:t>
            </a:r>
            <a:r>
              <a:rPr lang="en-US" altLang="en-US" sz="1800" dirty="0" err="1"/>
              <a:t>cout,sum</a:t>
            </a:r>
            <a:r>
              <a:rPr lang="en-US" altLang="en-US" sz="1800" dirty="0"/>
              <a:t>} =</a:t>
            </a:r>
            <a:r>
              <a:rPr lang="en-US" altLang="en-US" sz="1800" dirty="0" err="1"/>
              <a:t>a+b+cin</a:t>
            </a:r>
            <a:r>
              <a:rPr lang="en-US" altLang="en-US" sz="1800" dirty="0"/>
              <a:t>;</a:t>
            </a:r>
          </a:p>
          <a:p>
            <a:pPr marL="0" indent="0">
              <a:buNone/>
            </a:pPr>
            <a:r>
              <a:rPr lang="en-US" altLang="en-US" sz="1800" dirty="0" err="1"/>
              <a:t>endmodule</a:t>
            </a:r>
            <a:endParaRPr lang="ru-RU" altLang="en-US" sz="1800" dirty="0"/>
          </a:p>
          <a:p>
            <a:endParaRPr lang="ru-RU" altLang="en-US" dirty="0"/>
          </a:p>
        </p:txBody>
      </p:sp>
      <p:sp>
        <p:nvSpPr>
          <p:cNvPr id="93188" name="Rectangle 4">
            <a:extLst>
              <a:ext uri="{FF2B5EF4-FFF2-40B4-BE49-F238E27FC236}">
                <a16:creationId xmlns:a16="http://schemas.microsoft.com/office/drawing/2014/main" id="{7AB68338-2B1B-70C9-9551-888C0C455507}"/>
              </a:ext>
            </a:extLst>
          </p:cNvPr>
          <p:cNvSpPr>
            <a:spLocks noGrp="1" noChangeArrowheads="1"/>
          </p:cNvSpPr>
          <p:nvPr>
            <p:ph type="title"/>
          </p:nvPr>
        </p:nvSpPr>
        <p:spPr/>
        <p:txBody>
          <a:bodyPr/>
          <a:lstStyle/>
          <a:p>
            <a:r>
              <a:rPr lang="en-US" altLang="en-US"/>
              <a:t>Low-Level Modules</a:t>
            </a:r>
            <a:endParaRPr lang="ru-RU"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5">
            <a:extLst>
              <a:ext uri="{FF2B5EF4-FFF2-40B4-BE49-F238E27FC236}">
                <a16:creationId xmlns:a16="http://schemas.microsoft.com/office/drawing/2014/main" id="{2DA4C5EE-6ECB-1668-D74F-F6B0BE07DD4A}"/>
              </a:ext>
            </a:extLst>
          </p:cNvPr>
          <p:cNvSpPr>
            <a:spLocks noGrp="1" noChangeArrowheads="1"/>
          </p:cNvSpPr>
          <p:nvPr>
            <p:ph type="title"/>
          </p:nvPr>
        </p:nvSpPr>
        <p:spPr/>
        <p:txBody>
          <a:bodyPr>
            <a:normAutofit/>
          </a:bodyPr>
          <a:lstStyle/>
          <a:p>
            <a:r>
              <a:rPr lang="en-US" altLang="en-US" dirty="0"/>
              <a:t>Example</a:t>
            </a:r>
            <a:endParaRPr lang="ru-RU" altLang="en-US" dirty="0"/>
          </a:p>
        </p:txBody>
      </p:sp>
      <p:sp>
        <p:nvSpPr>
          <p:cNvPr id="94211" name="Content Placeholder 6">
            <a:extLst>
              <a:ext uri="{FF2B5EF4-FFF2-40B4-BE49-F238E27FC236}">
                <a16:creationId xmlns:a16="http://schemas.microsoft.com/office/drawing/2014/main" id="{2CB09064-7943-4E6C-0030-E2C6FC51F110}"/>
              </a:ext>
            </a:extLst>
          </p:cNvPr>
          <p:cNvSpPr>
            <a:spLocks noGrp="1" noChangeArrowheads="1"/>
          </p:cNvSpPr>
          <p:nvPr>
            <p:ph type="body" sz="quarter" idx="10"/>
          </p:nvPr>
        </p:nvSpPr>
        <p:spPr/>
        <p:txBody>
          <a:bodyPr/>
          <a:lstStyle/>
          <a:p>
            <a:r>
              <a:rPr lang="en-US" altLang="en-US" sz="1700" dirty="0"/>
              <a:t>module mux_2_1(</a:t>
            </a:r>
            <a:r>
              <a:rPr lang="en-US" altLang="en-US" sz="1700" dirty="0" err="1"/>
              <a:t>a,b,out,out_bar</a:t>
            </a:r>
            <a:r>
              <a:rPr lang="en-US" altLang="en-US" sz="1700" dirty="0"/>
              <a:t>, </a:t>
            </a:r>
            <a:r>
              <a:rPr lang="en-US" altLang="en-US" sz="1700" dirty="0" err="1"/>
              <a:t>sel</a:t>
            </a:r>
            <a:r>
              <a:rPr lang="en-US" altLang="en-US" sz="1700" dirty="0"/>
              <a:t>);</a:t>
            </a:r>
          </a:p>
          <a:p>
            <a:r>
              <a:rPr lang="en-US" altLang="en-US" sz="1700" dirty="0"/>
              <a:t>input </a:t>
            </a:r>
            <a:r>
              <a:rPr lang="en-US" altLang="en-US" sz="1700" dirty="0" err="1"/>
              <a:t>a,b,sel</a:t>
            </a:r>
            <a:r>
              <a:rPr lang="en-US" altLang="en-US" sz="1700" dirty="0"/>
              <a:t>;</a:t>
            </a:r>
          </a:p>
          <a:p>
            <a:r>
              <a:rPr lang="en-US" altLang="en-US" sz="1700" dirty="0"/>
              <a:t>output out, </a:t>
            </a:r>
            <a:r>
              <a:rPr lang="en-US" altLang="en-US" sz="1700" dirty="0" err="1"/>
              <a:t>out_bar</a:t>
            </a:r>
            <a:r>
              <a:rPr lang="en-US" altLang="en-US" sz="1700" dirty="0"/>
              <a:t>;</a:t>
            </a:r>
          </a:p>
          <a:p>
            <a:r>
              <a:rPr lang="en-US" altLang="en-US" sz="1700" dirty="0"/>
              <a:t>reg out;</a:t>
            </a:r>
          </a:p>
          <a:p>
            <a:r>
              <a:rPr lang="en-US" altLang="en-US" sz="1700" dirty="0"/>
              <a:t>always@(a or b or </a:t>
            </a:r>
            <a:r>
              <a:rPr lang="en-US" altLang="en-US" sz="1700" dirty="0" err="1"/>
              <a:t>sel</a:t>
            </a:r>
            <a:r>
              <a:rPr lang="en-US" altLang="en-US" sz="1700" dirty="0"/>
              <a:t>);</a:t>
            </a:r>
          </a:p>
          <a:p>
            <a:r>
              <a:rPr lang="en-US" altLang="en-US" sz="1700" dirty="0"/>
              <a:t>begin</a:t>
            </a:r>
          </a:p>
          <a:p>
            <a:r>
              <a:rPr lang="en-US" altLang="en-US" sz="1700" dirty="0"/>
              <a:t>if (</a:t>
            </a:r>
            <a:r>
              <a:rPr lang="en-US" altLang="en-US" sz="1700" dirty="0" err="1"/>
              <a:t>sel</a:t>
            </a:r>
            <a:r>
              <a:rPr lang="en-US" altLang="en-US" sz="1700" dirty="0"/>
              <a:t>) </a:t>
            </a:r>
          </a:p>
          <a:p>
            <a:r>
              <a:rPr lang="en-US" altLang="en-US" sz="1700" dirty="0"/>
              <a:t>out = a;	                   // procedural</a:t>
            </a:r>
          </a:p>
          <a:p>
            <a:r>
              <a:rPr lang="en-US" altLang="en-US" sz="1700" dirty="0"/>
              <a:t>else out =b;		   // assignment</a:t>
            </a:r>
          </a:p>
          <a:p>
            <a:r>
              <a:rPr lang="en-US" altLang="en-US" sz="1700" dirty="0"/>
              <a:t>end</a:t>
            </a:r>
          </a:p>
          <a:p>
            <a:r>
              <a:rPr lang="en-US" altLang="en-US" sz="1700" dirty="0"/>
              <a:t>assign </a:t>
            </a:r>
            <a:r>
              <a:rPr lang="en-US" altLang="en-US" sz="1700" dirty="0" err="1"/>
              <a:t>out_bar</a:t>
            </a:r>
            <a:r>
              <a:rPr lang="en-US" altLang="en-US" sz="1700" dirty="0"/>
              <a:t> =~out;	  //continuous assignment</a:t>
            </a:r>
          </a:p>
          <a:p>
            <a:r>
              <a:rPr lang="en-US" altLang="en-US" sz="1700" dirty="0" err="1"/>
              <a:t>endmodule</a:t>
            </a:r>
            <a:endParaRPr lang="en-US" altLang="en-US" sz="1700" dirty="0"/>
          </a:p>
          <a:p>
            <a:r>
              <a:rPr lang="en-US" altLang="en-US" sz="1700" dirty="0"/>
              <a:t>Procedural and continuous assignments can exist within a module.</a:t>
            </a:r>
            <a:endParaRPr lang="ru-RU" altLang="en-US" sz="1700" dirty="0"/>
          </a:p>
          <a:p>
            <a:endParaRPr lang="ru-RU" altLang="en-US" sz="17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14">
            <a:extLst>
              <a:ext uri="{FF2B5EF4-FFF2-40B4-BE49-F238E27FC236}">
                <a16:creationId xmlns:a16="http://schemas.microsoft.com/office/drawing/2014/main" id="{17E4AA0A-E2C8-4B9D-966E-0F486FD341C6}"/>
              </a:ext>
            </a:extLst>
          </p:cNvPr>
          <p:cNvSpPr>
            <a:spLocks noChangeArrowheads="1"/>
          </p:cNvSpPr>
          <p:nvPr/>
        </p:nvSpPr>
        <p:spPr bwMode="auto">
          <a:xfrm>
            <a:off x="457200" y="2242774"/>
            <a:ext cx="5524500" cy="4016512"/>
          </a:xfrm>
          <a:prstGeom prst="rect">
            <a:avLst/>
          </a:prstGeom>
          <a:solidFill>
            <a:schemeClr val="accent1">
              <a:lumMod val="20000"/>
              <a:lumOff val="80000"/>
            </a:schemeClr>
          </a:solidFill>
          <a:ln w="9525" algn="ctr">
            <a:solidFill>
              <a:schemeClr val="tx1"/>
            </a:solidFill>
            <a:round/>
            <a:headEnd/>
            <a:tailEnd/>
          </a:ln>
        </p:spPr>
        <p:txBody>
          <a:bodyPr anchor="ctr"/>
          <a:lstStyle/>
          <a:p>
            <a:pPr eaLnBrk="1" hangingPunct="1">
              <a:defRPr/>
            </a:pPr>
            <a:endParaRPr lang="ru-RU"/>
          </a:p>
        </p:txBody>
      </p:sp>
      <p:sp>
        <p:nvSpPr>
          <p:cNvPr id="95238" name="Content Placeholder 12">
            <a:extLst>
              <a:ext uri="{FF2B5EF4-FFF2-40B4-BE49-F238E27FC236}">
                <a16:creationId xmlns:a16="http://schemas.microsoft.com/office/drawing/2014/main" id="{8935E8C4-1E22-E73A-7187-3C416B45679B}"/>
              </a:ext>
            </a:extLst>
          </p:cNvPr>
          <p:cNvSpPr>
            <a:spLocks noGrp="1" noChangeArrowheads="1"/>
          </p:cNvSpPr>
          <p:nvPr>
            <p:ph type="body" sz="quarter" idx="13"/>
          </p:nvPr>
        </p:nvSpPr>
        <p:spPr/>
        <p:txBody>
          <a:bodyPr/>
          <a:lstStyle/>
          <a:p>
            <a:r>
              <a:rPr lang="en-US" altLang="en-US" dirty="0"/>
              <a:t>Implicit Overriding</a:t>
            </a:r>
            <a:endParaRPr lang="ru-RU" altLang="en-US" dirty="0"/>
          </a:p>
          <a:p>
            <a:r>
              <a:rPr lang="en-US" altLang="en-US" dirty="0"/>
              <a:t>Low-level module description</a:t>
            </a:r>
            <a:endParaRPr lang="ru-RU" altLang="en-US" dirty="0"/>
          </a:p>
          <a:p>
            <a:pPr marL="0" indent="0">
              <a:buNone/>
            </a:pPr>
            <a:r>
              <a:rPr lang="en-US" altLang="en-US" sz="1600" dirty="0"/>
              <a:t>module shift</a:t>
            </a:r>
            <a:r>
              <a:rPr lang="ru-RU" altLang="en-US" sz="1600" dirty="0"/>
              <a:t>_</a:t>
            </a:r>
            <a:r>
              <a:rPr lang="en-US" altLang="en-US" sz="1600" dirty="0"/>
              <a:t>reg</a:t>
            </a:r>
            <a:r>
              <a:rPr lang="ru-RU" altLang="en-US" sz="1600" dirty="0"/>
              <a:t>(</a:t>
            </a:r>
            <a:r>
              <a:rPr lang="en-US" altLang="en-US" sz="1600" dirty="0"/>
              <a:t>data</a:t>
            </a:r>
            <a:r>
              <a:rPr lang="ru-RU" altLang="en-US" sz="1600" dirty="0"/>
              <a:t>, </a:t>
            </a:r>
            <a:r>
              <a:rPr lang="en-US" altLang="en-US" sz="1600" dirty="0"/>
              <a:t>load</a:t>
            </a:r>
            <a:r>
              <a:rPr lang="ru-RU" altLang="en-US" sz="1600" dirty="0"/>
              <a:t>, </a:t>
            </a:r>
            <a:r>
              <a:rPr lang="en-US" altLang="en-US" sz="1600" dirty="0" err="1"/>
              <a:t>rin</a:t>
            </a:r>
            <a:r>
              <a:rPr lang="ru-RU" altLang="en-US" sz="1600" dirty="0"/>
              <a:t>,</a:t>
            </a:r>
            <a:r>
              <a:rPr lang="en-US" altLang="en-US" sz="1600" dirty="0" err="1"/>
              <a:t>clk</a:t>
            </a:r>
            <a:r>
              <a:rPr lang="ru-RU" altLang="en-US" sz="1600" dirty="0"/>
              <a:t>,</a:t>
            </a:r>
            <a:r>
              <a:rPr lang="en-US" altLang="en-US" sz="1600" dirty="0"/>
              <a:t>q</a:t>
            </a:r>
            <a:r>
              <a:rPr lang="ru-RU" altLang="en-US" sz="1600" dirty="0"/>
              <a:t>);	</a:t>
            </a:r>
            <a:r>
              <a:rPr lang="pt-BR" altLang="en-US" sz="1600" dirty="0"/>
              <a:t>parameter n=16;</a:t>
            </a:r>
          </a:p>
          <a:p>
            <a:pPr marL="0" indent="0">
              <a:buNone/>
            </a:pPr>
            <a:r>
              <a:rPr lang="pt-BR" altLang="en-US" sz="1600" dirty="0"/>
              <a:t>	input [n-1:0] data;</a:t>
            </a:r>
          </a:p>
          <a:p>
            <a:pPr marL="0" indent="0">
              <a:buNone/>
            </a:pPr>
            <a:r>
              <a:rPr lang="pt-BR" altLang="en-US" sz="1600" dirty="0"/>
              <a:t>	</a:t>
            </a:r>
            <a:r>
              <a:rPr lang="en-US" altLang="en-US" sz="1600" dirty="0"/>
              <a:t>input </a:t>
            </a:r>
            <a:r>
              <a:rPr lang="en-US" altLang="en-US" sz="1600" dirty="0" err="1"/>
              <a:t>clk</a:t>
            </a:r>
            <a:r>
              <a:rPr lang="en-US" altLang="en-US" sz="1600" dirty="0"/>
              <a:t>, load, </a:t>
            </a:r>
            <a:r>
              <a:rPr lang="en-US" altLang="en-US" sz="1600" dirty="0" err="1"/>
              <a:t>rin</a:t>
            </a:r>
            <a:r>
              <a:rPr lang="en-US" altLang="en-US" sz="1600" dirty="0"/>
              <a:t>;</a:t>
            </a:r>
          </a:p>
          <a:p>
            <a:pPr marL="0" indent="0">
              <a:buNone/>
            </a:pPr>
            <a:r>
              <a:rPr lang="en-US" altLang="en-US" sz="1600" dirty="0"/>
              <a:t>	output [n-1:0] q;</a:t>
            </a:r>
          </a:p>
          <a:p>
            <a:pPr marL="0" indent="0">
              <a:buNone/>
            </a:pPr>
            <a:r>
              <a:rPr lang="en-US" altLang="en-US" sz="1600" dirty="0"/>
              <a:t>	integer </a:t>
            </a:r>
            <a:r>
              <a:rPr lang="en-US" altLang="en-US" sz="1600" dirty="0" err="1"/>
              <a:t>i</a:t>
            </a:r>
            <a:r>
              <a:rPr lang="en-US" altLang="en-US" sz="1600" dirty="0"/>
              <a:t>;</a:t>
            </a:r>
          </a:p>
          <a:p>
            <a:pPr marL="0" indent="0">
              <a:buNone/>
            </a:pPr>
            <a:r>
              <a:rPr lang="en-US" altLang="en-US" sz="1600" dirty="0"/>
              <a:t>      always @(posedge </a:t>
            </a:r>
            <a:r>
              <a:rPr lang="en-US" altLang="en-US" sz="1600" dirty="0" err="1"/>
              <a:t>clk</a:t>
            </a:r>
            <a:r>
              <a:rPr lang="en-US" altLang="en-US" sz="1600" dirty="0"/>
              <a:t> )</a:t>
            </a:r>
          </a:p>
          <a:p>
            <a:pPr marL="0" indent="0">
              <a:buNone/>
            </a:pPr>
            <a:r>
              <a:rPr lang="en-US" altLang="en-US" sz="1600" dirty="0"/>
              <a:t>	if (load) q&lt;=data;</a:t>
            </a:r>
          </a:p>
          <a:p>
            <a:pPr marL="0" indent="0">
              <a:buNone/>
            </a:pPr>
            <a:r>
              <a:rPr lang="en-US" altLang="en-US" sz="1600" dirty="0"/>
              <a:t>	else begin</a:t>
            </a:r>
          </a:p>
          <a:p>
            <a:pPr marL="0" indent="0">
              <a:buNone/>
            </a:pPr>
            <a:r>
              <a:rPr lang="en-US" altLang="en-US" sz="1600" dirty="0"/>
              <a:t>	</a:t>
            </a:r>
            <a:r>
              <a:rPr lang="da-DK" altLang="en-US" sz="1600" dirty="0"/>
              <a:t>q&lt;={rin,q[n-1:1]};</a:t>
            </a:r>
          </a:p>
          <a:p>
            <a:pPr marL="0" indent="0">
              <a:buNone/>
            </a:pPr>
            <a:r>
              <a:rPr lang="da-DK" altLang="en-US" sz="1600" dirty="0"/>
              <a:t>endmodule</a:t>
            </a:r>
            <a:endParaRPr lang="ru-RU" altLang="en-US" sz="1600" dirty="0"/>
          </a:p>
          <a:p>
            <a:endParaRPr lang="ru-RU" altLang="en-US" dirty="0"/>
          </a:p>
        </p:txBody>
      </p:sp>
      <p:sp>
        <p:nvSpPr>
          <p:cNvPr id="72706" name="Rectangle 15">
            <a:extLst>
              <a:ext uri="{FF2B5EF4-FFF2-40B4-BE49-F238E27FC236}">
                <a16:creationId xmlns:a16="http://schemas.microsoft.com/office/drawing/2014/main" id="{DE5BA231-0808-4B18-AF02-EECDAA4DD805}"/>
              </a:ext>
            </a:extLst>
          </p:cNvPr>
          <p:cNvSpPr>
            <a:spLocks noChangeArrowheads="1"/>
          </p:cNvSpPr>
          <p:nvPr/>
        </p:nvSpPr>
        <p:spPr bwMode="auto">
          <a:xfrm>
            <a:off x="6662056" y="2095500"/>
            <a:ext cx="3429000" cy="2667000"/>
          </a:xfrm>
          <a:prstGeom prst="rect">
            <a:avLst/>
          </a:prstGeom>
          <a:solidFill>
            <a:schemeClr val="accent1">
              <a:lumMod val="20000"/>
              <a:lumOff val="80000"/>
            </a:schemeClr>
          </a:solidFill>
          <a:ln w="9525" algn="ctr">
            <a:solidFill>
              <a:schemeClr val="tx1"/>
            </a:solidFill>
            <a:round/>
            <a:headEnd/>
            <a:tailEnd/>
          </a:ln>
        </p:spPr>
        <p:txBody>
          <a:bodyPr anchor="ctr"/>
          <a:lstStyle/>
          <a:p>
            <a:pPr eaLnBrk="1" hangingPunct="1">
              <a:defRPr/>
            </a:pPr>
            <a:endParaRPr lang="ru-RU"/>
          </a:p>
        </p:txBody>
      </p:sp>
      <p:sp>
        <p:nvSpPr>
          <p:cNvPr id="95234" name="Rectangle 4">
            <a:extLst>
              <a:ext uri="{FF2B5EF4-FFF2-40B4-BE49-F238E27FC236}">
                <a16:creationId xmlns:a16="http://schemas.microsoft.com/office/drawing/2014/main" id="{B00FFD46-796D-6166-6732-BDEE654CAE40}"/>
              </a:ext>
            </a:extLst>
          </p:cNvPr>
          <p:cNvSpPr>
            <a:spLocks noGrp="1" noChangeArrowheads="1"/>
          </p:cNvSpPr>
          <p:nvPr>
            <p:ph type="title"/>
          </p:nvPr>
        </p:nvSpPr>
        <p:spPr/>
        <p:txBody>
          <a:bodyPr/>
          <a:lstStyle/>
          <a:p>
            <a:r>
              <a:rPr lang="en-US" altLang="en-US"/>
              <a:t>Overriding Module Parameters </a:t>
            </a:r>
            <a:endParaRPr lang="ru-RU" altLang="en-US"/>
          </a:p>
        </p:txBody>
      </p:sp>
      <p:sp>
        <p:nvSpPr>
          <p:cNvPr id="95236" name="Content Placeholder 13">
            <a:extLst>
              <a:ext uri="{FF2B5EF4-FFF2-40B4-BE49-F238E27FC236}">
                <a16:creationId xmlns:a16="http://schemas.microsoft.com/office/drawing/2014/main" id="{38613930-778F-68AD-DB04-D525D0E6FCA6}"/>
              </a:ext>
            </a:extLst>
          </p:cNvPr>
          <p:cNvSpPr>
            <a:spLocks noGrp="1" noChangeArrowheads="1"/>
          </p:cNvSpPr>
          <p:nvPr>
            <p:ph type="body" sz="quarter" idx="14"/>
          </p:nvPr>
        </p:nvSpPr>
        <p:spPr/>
        <p:txBody>
          <a:bodyPr/>
          <a:lstStyle/>
          <a:p>
            <a:r>
              <a:rPr lang="en-US" altLang="en-US" dirty="0"/>
              <a:t>Top-level module description</a:t>
            </a:r>
            <a:endParaRPr lang="ru-RU" altLang="en-US" dirty="0"/>
          </a:p>
          <a:p>
            <a:endParaRPr lang="en-US" altLang="en-US" dirty="0"/>
          </a:p>
          <a:p>
            <a:pPr marL="0" indent="0">
              <a:buNone/>
            </a:pPr>
            <a:r>
              <a:rPr lang="en-US" altLang="en-US" sz="1600" dirty="0"/>
              <a:t>	module top (. . .);</a:t>
            </a:r>
          </a:p>
          <a:p>
            <a:pPr marL="0" indent="0">
              <a:buNone/>
            </a:pPr>
            <a:r>
              <a:rPr lang="en-US" altLang="en-US" sz="1600" dirty="0"/>
              <a:t>	. . .</a:t>
            </a:r>
          </a:p>
          <a:p>
            <a:pPr marL="0" indent="0">
              <a:buNone/>
            </a:pPr>
            <a:r>
              <a:rPr lang="en-US" altLang="en-US" sz="1600" dirty="0"/>
              <a:t>	</a:t>
            </a:r>
            <a:r>
              <a:rPr lang="en-US" altLang="en-US" sz="1600" dirty="0" err="1"/>
              <a:t>shift_reg</a:t>
            </a:r>
            <a:r>
              <a:rPr lang="en-US" altLang="en-US" sz="1600" dirty="0"/>
              <a:t>  #(32) m1( </a:t>
            </a:r>
            <a:r>
              <a:rPr lang="en-US" altLang="en-US" sz="1600" dirty="0" err="1"/>
              <a:t>data,load</a:t>
            </a:r>
            <a:r>
              <a:rPr lang="en-US" altLang="en-US" sz="1600" dirty="0"/>
              <a:t>,</a:t>
            </a:r>
          </a:p>
          <a:p>
            <a:pPr marL="0" indent="0">
              <a:buNone/>
            </a:pPr>
            <a:r>
              <a:rPr lang="en-US" altLang="en-US" sz="1600" dirty="0"/>
              <a:t>	 </a:t>
            </a:r>
            <a:r>
              <a:rPr lang="en-US" altLang="en-US" sz="1600" dirty="0" err="1"/>
              <a:t>rin</a:t>
            </a:r>
            <a:r>
              <a:rPr lang="en-US" altLang="en-US" sz="1600" dirty="0"/>
              <a:t>, </a:t>
            </a:r>
            <a:r>
              <a:rPr lang="en-US" altLang="en-US" sz="1600" dirty="0" err="1"/>
              <a:t>clk,q</a:t>
            </a:r>
            <a:r>
              <a:rPr lang="en-US" altLang="en-US" sz="1600" dirty="0"/>
              <a:t>);</a:t>
            </a:r>
            <a:endParaRPr lang="ru-RU" altLang="en-US" sz="1600" dirty="0"/>
          </a:p>
          <a:p>
            <a:pPr marL="0" indent="0">
              <a:buNone/>
            </a:pPr>
            <a:r>
              <a:rPr lang="en-US" altLang="en-US" sz="1600" dirty="0"/>
              <a:t>	</a:t>
            </a:r>
            <a:r>
              <a:rPr lang="ru-RU" altLang="en-US" sz="1600" dirty="0"/>
              <a:t>. . .</a:t>
            </a:r>
            <a:endParaRPr lang="en-US" altLang="en-US" sz="1600" dirty="0"/>
          </a:p>
          <a:p>
            <a:pPr marL="0" indent="0">
              <a:buNone/>
            </a:pPr>
            <a:r>
              <a:rPr lang="en-US" altLang="en-US" sz="1600" dirty="0"/>
              <a:t>	</a:t>
            </a:r>
            <a:r>
              <a:rPr lang="en-US" altLang="en-US" sz="1600" dirty="0" err="1"/>
              <a:t>endmodule</a:t>
            </a:r>
            <a:endParaRPr lang="ru-RU" altLang="en-US" sz="1600" dirty="0"/>
          </a:p>
          <a:p>
            <a:endParaRPr lang="ru-RU"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a:extLst>
              <a:ext uri="{FF2B5EF4-FFF2-40B4-BE49-F238E27FC236}">
                <a16:creationId xmlns:a16="http://schemas.microsoft.com/office/drawing/2014/main" id="{C0833CAD-3358-39B5-036E-9CF4BA8A286B}"/>
              </a:ext>
            </a:extLst>
          </p:cNvPr>
          <p:cNvSpPr>
            <a:spLocks noGrp="1" noChangeArrowheads="1"/>
          </p:cNvSpPr>
          <p:nvPr>
            <p:ph type="title"/>
          </p:nvPr>
        </p:nvSpPr>
        <p:spPr/>
        <p:txBody>
          <a:bodyPr/>
          <a:lstStyle/>
          <a:p>
            <a:r>
              <a:rPr lang="en-US" altLang="en-US"/>
              <a:t>Overriding Module Parameters (2)</a:t>
            </a:r>
            <a:endParaRPr lang="ru-RU" altLang="en-US"/>
          </a:p>
        </p:txBody>
      </p:sp>
      <p:sp>
        <p:nvSpPr>
          <p:cNvPr id="96259" name="Content Placeholder 5">
            <a:extLst>
              <a:ext uri="{FF2B5EF4-FFF2-40B4-BE49-F238E27FC236}">
                <a16:creationId xmlns:a16="http://schemas.microsoft.com/office/drawing/2014/main" id="{D80DB0DD-CF38-F47F-079F-D4FDEC277C27}"/>
              </a:ext>
            </a:extLst>
          </p:cNvPr>
          <p:cNvSpPr>
            <a:spLocks noGrp="1" noChangeArrowheads="1"/>
          </p:cNvSpPr>
          <p:nvPr>
            <p:ph type="body" sz="quarter" idx="10"/>
          </p:nvPr>
        </p:nvSpPr>
        <p:spPr/>
        <p:txBody>
          <a:bodyPr/>
          <a:lstStyle/>
          <a:p>
            <a:r>
              <a:rPr lang="en-US" altLang="en-US"/>
              <a:t>Explicit Overriding</a:t>
            </a:r>
            <a:endParaRPr lang="ru-RU" altLang="en-US"/>
          </a:p>
          <a:p>
            <a:r>
              <a:rPr lang="en-US" altLang="en-US"/>
              <a:t>module top</a:t>
            </a:r>
            <a:r>
              <a:rPr lang="ru-RU" altLang="en-US"/>
              <a:t> (. . .);</a:t>
            </a:r>
            <a:endParaRPr lang="en-US" altLang="en-US"/>
          </a:p>
          <a:p>
            <a:r>
              <a:rPr lang="en-US" altLang="en-US"/>
              <a:t>. . .</a:t>
            </a:r>
          </a:p>
          <a:p>
            <a:r>
              <a:rPr lang="en-US" altLang="en-US"/>
              <a:t>shift_reg  m1( data,load, rin, clk,q);</a:t>
            </a:r>
          </a:p>
          <a:p>
            <a:r>
              <a:rPr lang="en-US" altLang="en-US"/>
              <a:t>defparam</a:t>
            </a:r>
            <a:r>
              <a:rPr lang="ru-RU" altLang="en-US"/>
              <a:t>  </a:t>
            </a:r>
            <a:r>
              <a:rPr lang="en-US" altLang="en-US"/>
              <a:t>n</a:t>
            </a:r>
            <a:r>
              <a:rPr lang="ru-RU" altLang="en-US"/>
              <a:t>=32;</a:t>
            </a:r>
          </a:p>
          <a:p>
            <a:r>
              <a:rPr lang="ru-RU" altLang="en-US"/>
              <a:t>. . .</a:t>
            </a:r>
            <a:endParaRPr lang="en-US" altLang="en-US"/>
          </a:p>
          <a:p>
            <a:r>
              <a:rPr lang="en-US" altLang="en-US"/>
              <a:t>endmodule</a:t>
            </a:r>
            <a:endParaRPr lang="ru-RU" altLang="en-US"/>
          </a:p>
          <a:p>
            <a:r>
              <a:rPr lang="ru-RU" altLang="en-US"/>
              <a:t>If the operator defparam is contained in a separate module, then the operator must be written as follows:</a:t>
            </a:r>
            <a:br>
              <a:rPr lang="ru-RU" altLang="en-US"/>
            </a:br>
            <a:r>
              <a:rPr lang="ru-RU" altLang="en-US"/>
              <a:t>defparam shift_reg.n = 32 </a:t>
            </a:r>
          </a:p>
          <a:p>
            <a:endParaRPr lang="ru-RU"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92B34CA8-93A7-6130-C2F4-E153900E4E62}"/>
              </a:ext>
            </a:extLst>
          </p:cNvPr>
          <p:cNvSpPr>
            <a:spLocks noGrp="1" noChangeArrowheads="1"/>
          </p:cNvSpPr>
          <p:nvPr>
            <p:ph type="title"/>
          </p:nvPr>
        </p:nvSpPr>
        <p:spPr/>
        <p:txBody>
          <a:bodyPr/>
          <a:lstStyle/>
          <a:p>
            <a:r>
              <a:rPr lang="en-US" altLang="en-US"/>
              <a:t>Simulation in Verilog</a:t>
            </a:r>
          </a:p>
        </p:txBody>
      </p:sp>
      <p:sp>
        <p:nvSpPr>
          <p:cNvPr id="3" name="Rectangle 2">
            <a:extLst>
              <a:ext uri="{FF2B5EF4-FFF2-40B4-BE49-F238E27FC236}">
                <a16:creationId xmlns:a16="http://schemas.microsoft.com/office/drawing/2014/main" id="{54363F55-91E0-437F-93EF-4EF4F785661B}"/>
              </a:ext>
            </a:extLst>
          </p:cNvPr>
          <p:cNvSpPr/>
          <p:nvPr/>
        </p:nvSpPr>
        <p:spPr bwMode="auto">
          <a:xfrm>
            <a:off x="3895725" y="1752600"/>
            <a:ext cx="2103438" cy="762000"/>
          </a:xfrm>
          <a:prstGeom prst="rect">
            <a:avLst/>
          </a:prstGeom>
          <a:solidFill>
            <a:schemeClr val="accent1">
              <a:lumMod val="20000"/>
              <a:lumOff val="80000"/>
            </a:schemeClr>
          </a:solidFill>
          <a:ln w="19050" cap="flat" cmpd="sng" algn="ctr">
            <a:solidFill>
              <a:schemeClr val="tx1"/>
            </a:solidFill>
            <a:prstDash val="dash"/>
            <a:round/>
            <a:headEnd type="none" w="med" len="med"/>
            <a:tailEnd type="none" w="med" len="med"/>
          </a:ln>
          <a:effectLst/>
        </p:spPr>
        <p:txBody>
          <a:bodyPr anchor="ctr"/>
          <a:lstStyle/>
          <a:p>
            <a:pPr algn="ctr" eaLnBrk="1" hangingPunct="1">
              <a:defRPr/>
            </a:pPr>
            <a:r>
              <a:rPr lang="en-US" dirty="0">
                <a:latin typeface="Arial" charset="0"/>
                <a:cs typeface="Arial" charset="0"/>
              </a:rPr>
              <a:t>Response </a:t>
            </a:r>
            <a:br>
              <a:rPr lang="en-US" dirty="0">
                <a:latin typeface="Arial" charset="0"/>
                <a:cs typeface="Arial" charset="0"/>
              </a:rPr>
            </a:br>
            <a:r>
              <a:rPr lang="en-US" dirty="0">
                <a:latin typeface="Arial" charset="0"/>
                <a:cs typeface="Arial" charset="0"/>
              </a:rPr>
              <a:t>Analysis/Display</a:t>
            </a:r>
          </a:p>
        </p:txBody>
      </p:sp>
      <p:sp>
        <p:nvSpPr>
          <p:cNvPr id="4" name="Rectangle 3">
            <a:extLst>
              <a:ext uri="{FF2B5EF4-FFF2-40B4-BE49-F238E27FC236}">
                <a16:creationId xmlns:a16="http://schemas.microsoft.com/office/drawing/2014/main" id="{045E5390-3D2B-421F-9641-778A4E6702B5}"/>
              </a:ext>
            </a:extLst>
          </p:cNvPr>
          <p:cNvSpPr/>
          <p:nvPr/>
        </p:nvSpPr>
        <p:spPr bwMode="auto">
          <a:xfrm>
            <a:off x="3886201" y="2971800"/>
            <a:ext cx="2193925" cy="17526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97285" name="TextBox 4">
            <a:extLst>
              <a:ext uri="{FF2B5EF4-FFF2-40B4-BE49-F238E27FC236}">
                <a16:creationId xmlns:a16="http://schemas.microsoft.com/office/drawing/2014/main" id="{CB533C1A-5205-0E57-3189-36177DC22FFF}"/>
              </a:ext>
            </a:extLst>
          </p:cNvPr>
          <p:cNvSpPr txBox="1">
            <a:spLocks noChangeArrowheads="1"/>
          </p:cNvSpPr>
          <p:nvPr/>
        </p:nvSpPr>
        <p:spPr bwMode="auto">
          <a:xfrm>
            <a:off x="4038600" y="3048001"/>
            <a:ext cx="1981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Circuit Under </a:t>
            </a:r>
          </a:p>
          <a:p>
            <a:pPr eaLnBrk="1" hangingPunct="1"/>
            <a:r>
              <a:rPr lang="en-US" altLang="en-US"/>
              <a:t>Test in Verilog</a:t>
            </a:r>
          </a:p>
        </p:txBody>
      </p:sp>
      <p:sp>
        <p:nvSpPr>
          <p:cNvPr id="97286" name="Rectangle 5">
            <a:extLst>
              <a:ext uri="{FF2B5EF4-FFF2-40B4-BE49-F238E27FC236}">
                <a16:creationId xmlns:a16="http://schemas.microsoft.com/office/drawing/2014/main" id="{3CD04479-720D-6CAC-67A5-1B418EC6E1F8}"/>
              </a:ext>
            </a:extLst>
          </p:cNvPr>
          <p:cNvSpPr>
            <a:spLocks noChangeArrowheads="1"/>
          </p:cNvSpPr>
          <p:nvPr/>
        </p:nvSpPr>
        <p:spPr bwMode="auto">
          <a:xfrm>
            <a:off x="4133850" y="3924300"/>
            <a:ext cx="1752600" cy="6096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t>Hardware Description</a:t>
            </a:r>
          </a:p>
        </p:txBody>
      </p:sp>
      <p:cxnSp>
        <p:nvCxnSpPr>
          <p:cNvPr id="97287" name="Straight Arrow Connector 7">
            <a:extLst>
              <a:ext uri="{FF2B5EF4-FFF2-40B4-BE49-F238E27FC236}">
                <a16:creationId xmlns:a16="http://schemas.microsoft.com/office/drawing/2014/main" id="{6FA5EF4F-2ABB-AD3F-D3F7-E98E1B60D0AB}"/>
              </a:ext>
            </a:extLst>
          </p:cNvPr>
          <p:cNvCxnSpPr>
            <a:cxnSpLocks noChangeShapeType="1"/>
          </p:cNvCxnSpPr>
          <p:nvPr/>
        </p:nvCxnSpPr>
        <p:spPr bwMode="auto">
          <a:xfrm flipV="1">
            <a:off x="4133850" y="2514600"/>
            <a:ext cx="0" cy="457200"/>
          </a:xfrm>
          <a:prstGeom prst="straightConnector1">
            <a:avLst/>
          </a:prstGeom>
          <a:noFill/>
          <a:ln w="222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7288" name="Straight Arrow Connector 8">
            <a:extLst>
              <a:ext uri="{FF2B5EF4-FFF2-40B4-BE49-F238E27FC236}">
                <a16:creationId xmlns:a16="http://schemas.microsoft.com/office/drawing/2014/main" id="{A7850888-62AB-89C9-ECEB-4056F2EC7EA5}"/>
              </a:ext>
            </a:extLst>
          </p:cNvPr>
          <p:cNvCxnSpPr>
            <a:cxnSpLocks noChangeShapeType="1"/>
          </p:cNvCxnSpPr>
          <p:nvPr/>
        </p:nvCxnSpPr>
        <p:spPr bwMode="auto">
          <a:xfrm flipV="1">
            <a:off x="4495800" y="2524125"/>
            <a:ext cx="0" cy="457200"/>
          </a:xfrm>
          <a:prstGeom prst="straightConnector1">
            <a:avLst/>
          </a:prstGeom>
          <a:noFill/>
          <a:ln w="222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7289" name="TextBox 9">
            <a:extLst>
              <a:ext uri="{FF2B5EF4-FFF2-40B4-BE49-F238E27FC236}">
                <a16:creationId xmlns:a16="http://schemas.microsoft.com/office/drawing/2014/main" id="{EB3B56D1-B07D-B707-2896-3B71C470E846}"/>
              </a:ext>
            </a:extLst>
          </p:cNvPr>
          <p:cNvSpPr txBox="1">
            <a:spLocks noChangeArrowheads="1"/>
          </p:cNvSpPr>
          <p:nvPr/>
        </p:nvSpPr>
        <p:spPr bwMode="auto">
          <a:xfrm>
            <a:off x="5086350" y="2486025"/>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b="1"/>
              <a:t>. . .</a:t>
            </a:r>
          </a:p>
        </p:txBody>
      </p:sp>
      <p:cxnSp>
        <p:nvCxnSpPr>
          <p:cNvPr id="97290" name="Straight Arrow Connector 10">
            <a:extLst>
              <a:ext uri="{FF2B5EF4-FFF2-40B4-BE49-F238E27FC236}">
                <a16:creationId xmlns:a16="http://schemas.microsoft.com/office/drawing/2014/main" id="{6EA15954-E599-09EF-CE9B-A38E44222828}"/>
              </a:ext>
            </a:extLst>
          </p:cNvPr>
          <p:cNvCxnSpPr>
            <a:cxnSpLocks noChangeShapeType="1"/>
          </p:cNvCxnSpPr>
          <p:nvPr/>
        </p:nvCxnSpPr>
        <p:spPr bwMode="auto">
          <a:xfrm flipV="1">
            <a:off x="4857750" y="2514600"/>
            <a:ext cx="0" cy="457200"/>
          </a:xfrm>
          <a:prstGeom prst="straightConnector1">
            <a:avLst/>
          </a:prstGeom>
          <a:noFill/>
          <a:ln w="222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7291" name="Straight Arrow Connector 11">
            <a:extLst>
              <a:ext uri="{FF2B5EF4-FFF2-40B4-BE49-F238E27FC236}">
                <a16:creationId xmlns:a16="http://schemas.microsoft.com/office/drawing/2014/main" id="{E5929F1B-6467-4D7D-5012-318DD1802FF8}"/>
              </a:ext>
            </a:extLst>
          </p:cNvPr>
          <p:cNvCxnSpPr>
            <a:cxnSpLocks noChangeShapeType="1"/>
          </p:cNvCxnSpPr>
          <p:nvPr/>
        </p:nvCxnSpPr>
        <p:spPr bwMode="auto">
          <a:xfrm flipV="1">
            <a:off x="5848350" y="2514600"/>
            <a:ext cx="0" cy="457200"/>
          </a:xfrm>
          <a:prstGeom prst="straightConnector1">
            <a:avLst/>
          </a:prstGeom>
          <a:noFill/>
          <a:ln w="222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 name="Rectangle 12">
            <a:extLst>
              <a:ext uri="{FF2B5EF4-FFF2-40B4-BE49-F238E27FC236}">
                <a16:creationId xmlns:a16="http://schemas.microsoft.com/office/drawing/2014/main" id="{2EF01CF1-FF57-4441-B12A-10B5D5618A1E}"/>
              </a:ext>
            </a:extLst>
          </p:cNvPr>
          <p:cNvSpPr/>
          <p:nvPr/>
        </p:nvSpPr>
        <p:spPr bwMode="auto">
          <a:xfrm>
            <a:off x="1981200" y="2990850"/>
            <a:ext cx="1295400" cy="1752600"/>
          </a:xfrm>
          <a:prstGeom prst="rect">
            <a:avLst/>
          </a:prstGeom>
          <a:solidFill>
            <a:schemeClr val="accent1">
              <a:lumMod val="20000"/>
              <a:lumOff val="80000"/>
            </a:schemeClr>
          </a:solidFill>
          <a:ln w="28575" cap="flat" cmpd="sng" algn="ctr">
            <a:solidFill>
              <a:schemeClr val="tx1"/>
            </a:solidFill>
            <a:prstDash val="dash"/>
            <a:round/>
            <a:headEnd type="none" w="med" len="med"/>
            <a:tailEnd type="none" w="med" len="med"/>
          </a:ln>
          <a:effectLst/>
        </p:spPr>
        <p:txBody>
          <a:bodyPr anchor="ctr"/>
          <a:lstStyle/>
          <a:p>
            <a:pPr algn="ctr" eaLnBrk="1" hangingPunct="1">
              <a:defRPr/>
            </a:pPr>
            <a:r>
              <a:rPr lang="en-US" dirty="0">
                <a:latin typeface="Arial" charset="0"/>
                <a:cs typeface="Arial" charset="0"/>
              </a:rPr>
              <a:t>Test</a:t>
            </a:r>
          </a:p>
          <a:p>
            <a:pPr algn="ctr" eaLnBrk="1" hangingPunct="1">
              <a:defRPr/>
            </a:pPr>
            <a:r>
              <a:rPr lang="en-US" dirty="0">
                <a:latin typeface="Arial" charset="0"/>
                <a:cs typeface="Arial" charset="0"/>
              </a:rPr>
              <a:t>data</a:t>
            </a:r>
          </a:p>
          <a:p>
            <a:pPr algn="ctr" eaLnBrk="1" hangingPunct="1">
              <a:defRPr/>
            </a:pPr>
            <a:r>
              <a:rPr lang="en-US" dirty="0">
                <a:latin typeface="Arial" charset="0"/>
                <a:cs typeface="Arial" charset="0"/>
              </a:rPr>
              <a:t>generation</a:t>
            </a:r>
          </a:p>
        </p:txBody>
      </p:sp>
      <p:cxnSp>
        <p:nvCxnSpPr>
          <p:cNvPr id="97293" name="Straight Arrow Connector 14">
            <a:extLst>
              <a:ext uri="{FF2B5EF4-FFF2-40B4-BE49-F238E27FC236}">
                <a16:creationId xmlns:a16="http://schemas.microsoft.com/office/drawing/2014/main" id="{7BEF9DC0-BE04-A7E0-DF1B-D2D73C9277D2}"/>
              </a:ext>
            </a:extLst>
          </p:cNvPr>
          <p:cNvCxnSpPr>
            <a:cxnSpLocks noChangeShapeType="1"/>
          </p:cNvCxnSpPr>
          <p:nvPr/>
        </p:nvCxnSpPr>
        <p:spPr bwMode="auto">
          <a:xfrm>
            <a:off x="3276600" y="3276600"/>
            <a:ext cx="609600" cy="0"/>
          </a:xfrm>
          <a:prstGeom prst="straightConnector1">
            <a:avLst/>
          </a:prstGeom>
          <a:noFill/>
          <a:ln w="222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7294" name="Straight Arrow Connector 15">
            <a:extLst>
              <a:ext uri="{FF2B5EF4-FFF2-40B4-BE49-F238E27FC236}">
                <a16:creationId xmlns:a16="http://schemas.microsoft.com/office/drawing/2014/main" id="{3E94A614-7559-0845-D403-1F390ECCB701}"/>
              </a:ext>
            </a:extLst>
          </p:cNvPr>
          <p:cNvCxnSpPr>
            <a:cxnSpLocks noChangeShapeType="1"/>
          </p:cNvCxnSpPr>
          <p:nvPr/>
        </p:nvCxnSpPr>
        <p:spPr bwMode="auto">
          <a:xfrm>
            <a:off x="3276600" y="3505200"/>
            <a:ext cx="609600" cy="0"/>
          </a:xfrm>
          <a:prstGeom prst="straightConnector1">
            <a:avLst/>
          </a:prstGeom>
          <a:noFill/>
          <a:ln w="222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7295" name="Straight Arrow Connector 16">
            <a:extLst>
              <a:ext uri="{FF2B5EF4-FFF2-40B4-BE49-F238E27FC236}">
                <a16:creationId xmlns:a16="http://schemas.microsoft.com/office/drawing/2014/main" id="{9E7B4610-F7AE-6D13-69BE-CFBDD2AE7F44}"/>
              </a:ext>
            </a:extLst>
          </p:cNvPr>
          <p:cNvCxnSpPr>
            <a:cxnSpLocks noChangeShapeType="1"/>
          </p:cNvCxnSpPr>
          <p:nvPr/>
        </p:nvCxnSpPr>
        <p:spPr bwMode="auto">
          <a:xfrm>
            <a:off x="3276600" y="4448175"/>
            <a:ext cx="609600" cy="0"/>
          </a:xfrm>
          <a:prstGeom prst="straightConnector1">
            <a:avLst/>
          </a:prstGeom>
          <a:noFill/>
          <a:ln w="222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7296" name="TextBox 17">
            <a:extLst>
              <a:ext uri="{FF2B5EF4-FFF2-40B4-BE49-F238E27FC236}">
                <a16:creationId xmlns:a16="http://schemas.microsoft.com/office/drawing/2014/main" id="{C677C032-651A-3573-DD31-DA3FC9DE7582}"/>
              </a:ext>
            </a:extLst>
          </p:cNvPr>
          <p:cNvSpPr txBox="1">
            <a:spLocks noChangeArrowheads="1"/>
          </p:cNvSpPr>
          <p:nvPr/>
        </p:nvSpPr>
        <p:spPr bwMode="auto">
          <a:xfrm>
            <a:off x="3429000" y="3581401"/>
            <a:ext cx="381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b="1"/>
              <a:t>.</a:t>
            </a:r>
          </a:p>
          <a:p>
            <a:pPr eaLnBrk="1" hangingPunct="1"/>
            <a:r>
              <a:rPr lang="en-US" altLang="en-US" b="1"/>
              <a:t>.</a:t>
            </a:r>
          </a:p>
        </p:txBody>
      </p:sp>
      <p:sp>
        <p:nvSpPr>
          <p:cNvPr id="97297" name="TextBox 18">
            <a:extLst>
              <a:ext uri="{FF2B5EF4-FFF2-40B4-BE49-F238E27FC236}">
                <a16:creationId xmlns:a16="http://schemas.microsoft.com/office/drawing/2014/main" id="{4EA8F2B0-8703-00ED-195E-C19D66A736C7}"/>
              </a:ext>
            </a:extLst>
          </p:cNvPr>
          <p:cNvSpPr txBox="1">
            <a:spLocks noChangeArrowheads="1"/>
          </p:cNvSpPr>
          <p:nvPr/>
        </p:nvSpPr>
        <p:spPr bwMode="auto">
          <a:xfrm>
            <a:off x="3429000" y="3430589"/>
            <a:ext cx="381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b="1"/>
              <a:t>.</a:t>
            </a:r>
          </a:p>
          <a:p>
            <a:pPr eaLnBrk="1" hangingPunct="1"/>
            <a:r>
              <a:rPr lang="en-US" altLang="en-US" b="1"/>
              <a:t>.</a:t>
            </a:r>
          </a:p>
        </p:txBody>
      </p:sp>
      <p:sp>
        <p:nvSpPr>
          <p:cNvPr id="97298" name="Right Arrow 19">
            <a:extLst>
              <a:ext uri="{FF2B5EF4-FFF2-40B4-BE49-F238E27FC236}">
                <a16:creationId xmlns:a16="http://schemas.microsoft.com/office/drawing/2014/main" id="{E82113CB-203C-A7C5-1E6B-F452E41E59E4}"/>
              </a:ext>
            </a:extLst>
          </p:cNvPr>
          <p:cNvSpPr>
            <a:spLocks noChangeArrowheads="1"/>
          </p:cNvSpPr>
          <p:nvPr/>
        </p:nvSpPr>
        <p:spPr bwMode="auto">
          <a:xfrm>
            <a:off x="6096001" y="3603626"/>
            <a:ext cx="639763" cy="282575"/>
          </a:xfrm>
          <a:prstGeom prst="rightArrow">
            <a:avLst>
              <a:gd name="adj1" fmla="val 50000"/>
              <a:gd name="adj2" fmla="val 49998"/>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1" name="Rectangle 20">
            <a:extLst>
              <a:ext uri="{FF2B5EF4-FFF2-40B4-BE49-F238E27FC236}">
                <a16:creationId xmlns:a16="http://schemas.microsoft.com/office/drawing/2014/main" id="{0B735BD5-358B-4A4C-A883-7EF29624062F}"/>
              </a:ext>
            </a:extLst>
          </p:cNvPr>
          <p:cNvSpPr/>
          <p:nvPr/>
        </p:nvSpPr>
        <p:spPr bwMode="auto">
          <a:xfrm>
            <a:off x="6743700" y="2943225"/>
            <a:ext cx="1371600" cy="177165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Verilog</a:t>
            </a:r>
          </a:p>
          <a:p>
            <a:pPr algn="ctr" eaLnBrk="1" hangingPunct="1">
              <a:defRPr/>
            </a:pPr>
            <a:r>
              <a:rPr lang="en-US" dirty="0">
                <a:latin typeface="Arial" charset="0"/>
                <a:cs typeface="Arial" charset="0"/>
              </a:rPr>
              <a:t>Simulator</a:t>
            </a:r>
          </a:p>
        </p:txBody>
      </p:sp>
      <p:sp>
        <p:nvSpPr>
          <p:cNvPr id="97300" name="Right Arrow 21">
            <a:extLst>
              <a:ext uri="{FF2B5EF4-FFF2-40B4-BE49-F238E27FC236}">
                <a16:creationId xmlns:a16="http://schemas.microsoft.com/office/drawing/2014/main" id="{915F8AD6-FC84-FD26-30F1-E08B01F02E66}"/>
              </a:ext>
            </a:extLst>
          </p:cNvPr>
          <p:cNvSpPr>
            <a:spLocks noChangeArrowheads="1"/>
          </p:cNvSpPr>
          <p:nvPr/>
        </p:nvSpPr>
        <p:spPr bwMode="auto">
          <a:xfrm>
            <a:off x="8124826" y="3589339"/>
            <a:ext cx="639763" cy="282575"/>
          </a:xfrm>
          <a:prstGeom prst="rightArrow">
            <a:avLst>
              <a:gd name="adj1" fmla="val 50000"/>
              <a:gd name="adj2" fmla="val 49998"/>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97301" name="Rectangle 22">
            <a:extLst>
              <a:ext uri="{FF2B5EF4-FFF2-40B4-BE49-F238E27FC236}">
                <a16:creationId xmlns:a16="http://schemas.microsoft.com/office/drawing/2014/main" id="{A870C230-C280-FC16-AE13-8D2914001273}"/>
              </a:ext>
            </a:extLst>
          </p:cNvPr>
          <p:cNvSpPr>
            <a:spLocks noChangeArrowheads="1"/>
          </p:cNvSpPr>
          <p:nvPr/>
        </p:nvSpPr>
        <p:spPr bwMode="auto">
          <a:xfrm>
            <a:off x="8820151" y="2876550"/>
            <a:ext cx="1554163" cy="1771650"/>
          </a:xfrm>
          <a:prstGeom prst="rect">
            <a:avLst/>
          </a:prstGeom>
          <a:noFill/>
          <a:ln w="28575" algn="ctr">
            <a:solidFill>
              <a:schemeClr val="tx1"/>
            </a:solidFill>
            <a:prstDash val="dashDot"/>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97302" name="Straight Connector 24">
            <a:extLst>
              <a:ext uri="{FF2B5EF4-FFF2-40B4-BE49-F238E27FC236}">
                <a16:creationId xmlns:a16="http://schemas.microsoft.com/office/drawing/2014/main" id="{23A85A9F-EE37-66E6-1B46-3DD9281B5630}"/>
              </a:ext>
            </a:extLst>
          </p:cNvPr>
          <p:cNvCxnSpPr>
            <a:cxnSpLocks noChangeShapeType="1"/>
          </p:cNvCxnSpPr>
          <p:nvPr/>
        </p:nvCxnSpPr>
        <p:spPr bwMode="auto">
          <a:xfrm>
            <a:off x="8905875" y="3276600"/>
            <a:ext cx="274638"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03" name="Straight Connector 26">
            <a:extLst>
              <a:ext uri="{FF2B5EF4-FFF2-40B4-BE49-F238E27FC236}">
                <a16:creationId xmlns:a16="http://schemas.microsoft.com/office/drawing/2014/main" id="{31C6D987-A08F-1B9F-F171-8B51E442A767}"/>
              </a:ext>
            </a:extLst>
          </p:cNvPr>
          <p:cNvCxnSpPr>
            <a:cxnSpLocks noChangeShapeType="1"/>
          </p:cNvCxnSpPr>
          <p:nvPr/>
        </p:nvCxnSpPr>
        <p:spPr bwMode="auto">
          <a:xfrm flipV="1">
            <a:off x="9172575" y="3048000"/>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04" name="Straight Connector 28">
            <a:extLst>
              <a:ext uri="{FF2B5EF4-FFF2-40B4-BE49-F238E27FC236}">
                <a16:creationId xmlns:a16="http://schemas.microsoft.com/office/drawing/2014/main" id="{F44CFFFD-320D-3B14-BF38-E7780B69EDAB}"/>
              </a:ext>
            </a:extLst>
          </p:cNvPr>
          <p:cNvCxnSpPr>
            <a:cxnSpLocks noChangeShapeType="1"/>
          </p:cNvCxnSpPr>
          <p:nvPr/>
        </p:nvCxnSpPr>
        <p:spPr bwMode="auto">
          <a:xfrm>
            <a:off x="9172575" y="3048000"/>
            <a:ext cx="3048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05" name="Straight Connector 29">
            <a:extLst>
              <a:ext uri="{FF2B5EF4-FFF2-40B4-BE49-F238E27FC236}">
                <a16:creationId xmlns:a16="http://schemas.microsoft.com/office/drawing/2014/main" id="{735F6D9A-22D9-ECAB-E17E-5CD63DF7DD1D}"/>
              </a:ext>
            </a:extLst>
          </p:cNvPr>
          <p:cNvCxnSpPr>
            <a:cxnSpLocks noChangeShapeType="1"/>
          </p:cNvCxnSpPr>
          <p:nvPr/>
        </p:nvCxnSpPr>
        <p:spPr bwMode="auto">
          <a:xfrm flipV="1">
            <a:off x="9477375" y="3048000"/>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06" name="Straight Connector 30">
            <a:extLst>
              <a:ext uri="{FF2B5EF4-FFF2-40B4-BE49-F238E27FC236}">
                <a16:creationId xmlns:a16="http://schemas.microsoft.com/office/drawing/2014/main" id="{1843AFB0-E068-4674-4834-28C5FEDF1EE3}"/>
              </a:ext>
            </a:extLst>
          </p:cNvPr>
          <p:cNvCxnSpPr>
            <a:cxnSpLocks noChangeShapeType="1"/>
          </p:cNvCxnSpPr>
          <p:nvPr/>
        </p:nvCxnSpPr>
        <p:spPr bwMode="auto">
          <a:xfrm>
            <a:off x="9477375" y="3276600"/>
            <a:ext cx="3048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07" name="Straight Connector 31">
            <a:extLst>
              <a:ext uri="{FF2B5EF4-FFF2-40B4-BE49-F238E27FC236}">
                <a16:creationId xmlns:a16="http://schemas.microsoft.com/office/drawing/2014/main" id="{9036FB15-2237-4D70-9F1F-0BAD48B2ADD3}"/>
              </a:ext>
            </a:extLst>
          </p:cNvPr>
          <p:cNvCxnSpPr>
            <a:cxnSpLocks noChangeShapeType="1"/>
          </p:cNvCxnSpPr>
          <p:nvPr/>
        </p:nvCxnSpPr>
        <p:spPr bwMode="auto">
          <a:xfrm flipV="1">
            <a:off x="9772650" y="3048000"/>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08" name="Straight Connector 32">
            <a:extLst>
              <a:ext uri="{FF2B5EF4-FFF2-40B4-BE49-F238E27FC236}">
                <a16:creationId xmlns:a16="http://schemas.microsoft.com/office/drawing/2014/main" id="{FFE71557-9439-E896-9552-9B139CFB45C2}"/>
              </a:ext>
            </a:extLst>
          </p:cNvPr>
          <p:cNvCxnSpPr>
            <a:cxnSpLocks noChangeShapeType="1"/>
          </p:cNvCxnSpPr>
          <p:nvPr/>
        </p:nvCxnSpPr>
        <p:spPr bwMode="auto">
          <a:xfrm>
            <a:off x="9772650" y="3048000"/>
            <a:ext cx="3048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09" name="Straight Connector 33">
            <a:extLst>
              <a:ext uri="{FF2B5EF4-FFF2-40B4-BE49-F238E27FC236}">
                <a16:creationId xmlns:a16="http://schemas.microsoft.com/office/drawing/2014/main" id="{9CF4B2C3-B940-9A8E-0BF0-022C4AACA15C}"/>
              </a:ext>
            </a:extLst>
          </p:cNvPr>
          <p:cNvCxnSpPr>
            <a:cxnSpLocks noChangeShapeType="1"/>
          </p:cNvCxnSpPr>
          <p:nvPr/>
        </p:nvCxnSpPr>
        <p:spPr bwMode="auto">
          <a:xfrm flipV="1">
            <a:off x="10077450" y="3048000"/>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0" name="Straight Connector 34">
            <a:extLst>
              <a:ext uri="{FF2B5EF4-FFF2-40B4-BE49-F238E27FC236}">
                <a16:creationId xmlns:a16="http://schemas.microsoft.com/office/drawing/2014/main" id="{433BBDDD-8AB1-F8D5-224F-C0F48B1D7841}"/>
              </a:ext>
            </a:extLst>
          </p:cNvPr>
          <p:cNvCxnSpPr>
            <a:cxnSpLocks noChangeShapeType="1"/>
          </p:cNvCxnSpPr>
          <p:nvPr/>
        </p:nvCxnSpPr>
        <p:spPr bwMode="auto">
          <a:xfrm>
            <a:off x="10077451" y="3276600"/>
            <a:ext cx="18256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1" name="Straight Connector 35">
            <a:extLst>
              <a:ext uri="{FF2B5EF4-FFF2-40B4-BE49-F238E27FC236}">
                <a16:creationId xmlns:a16="http://schemas.microsoft.com/office/drawing/2014/main" id="{C384EB0B-C5C0-0410-8432-23A532803F06}"/>
              </a:ext>
            </a:extLst>
          </p:cNvPr>
          <p:cNvCxnSpPr>
            <a:cxnSpLocks noChangeShapeType="1"/>
          </p:cNvCxnSpPr>
          <p:nvPr/>
        </p:nvCxnSpPr>
        <p:spPr bwMode="auto">
          <a:xfrm>
            <a:off x="8874125" y="3730625"/>
            <a:ext cx="27305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2" name="Straight Connector 36">
            <a:extLst>
              <a:ext uri="{FF2B5EF4-FFF2-40B4-BE49-F238E27FC236}">
                <a16:creationId xmlns:a16="http://schemas.microsoft.com/office/drawing/2014/main" id="{3CC0D789-5676-A80D-C256-7807C3A0C895}"/>
              </a:ext>
            </a:extLst>
          </p:cNvPr>
          <p:cNvCxnSpPr>
            <a:cxnSpLocks noChangeShapeType="1"/>
          </p:cNvCxnSpPr>
          <p:nvPr/>
        </p:nvCxnSpPr>
        <p:spPr bwMode="auto">
          <a:xfrm flipV="1">
            <a:off x="9140825" y="3502025"/>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3" name="Straight Connector 37">
            <a:extLst>
              <a:ext uri="{FF2B5EF4-FFF2-40B4-BE49-F238E27FC236}">
                <a16:creationId xmlns:a16="http://schemas.microsoft.com/office/drawing/2014/main" id="{638056CC-8FA3-C087-7750-92E61310252E}"/>
              </a:ext>
            </a:extLst>
          </p:cNvPr>
          <p:cNvCxnSpPr>
            <a:cxnSpLocks noChangeShapeType="1"/>
          </p:cNvCxnSpPr>
          <p:nvPr/>
        </p:nvCxnSpPr>
        <p:spPr bwMode="auto">
          <a:xfrm>
            <a:off x="9140825" y="3502025"/>
            <a:ext cx="4572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4" name="Straight Connector 38">
            <a:extLst>
              <a:ext uri="{FF2B5EF4-FFF2-40B4-BE49-F238E27FC236}">
                <a16:creationId xmlns:a16="http://schemas.microsoft.com/office/drawing/2014/main" id="{DAC446A4-5278-E0B8-6CE7-4E7BBF1FB9D3}"/>
              </a:ext>
            </a:extLst>
          </p:cNvPr>
          <p:cNvCxnSpPr>
            <a:cxnSpLocks noChangeShapeType="1"/>
          </p:cNvCxnSpPr>
          <p:nvPr/>
        </p:nvCxnSpPr>
        <p:spPr bwMode="auto">
          <a:xfrm flipV="1">
            <a:off x="9569450" y="3502025"/>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5" name="Straight Connector 39">
            <a:extLst>
              <a:ext uri="{FF2B5EF4-FFF2-40B4-BE49-F238E27FC236}">
                <a16:creationId xmlns:a16="http://schemas.microsoft.com/office/drawing/2014/main" id="{29B80469-5E4C-9720-9E29-64DCF5124B3C}"/>
              </a:ext>
            </a:extLst>
          </p:cNvPr>
          <p:cNvCxnSpPr>
            <a:cxnSpLocks noChangeShapeType="1"/>
          </p:cNvCxnSpPr>
          <p:nvPr/>
        </p:nvCxnSpPr>
        <p:spPr bwMode="auto">
          <a:xfrm>
            <a:off x="9569451" y="3730625"/>
            <a:ext cx="18256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6" name="Straight Connector 40">
            <a:extLst>
              <a:ext uri="{FF2B5EF4-FFF2-40B4-BE49-F238E27FC236}">
                <a16:creationId xmlns:a16="http://schemas.microsoft.com/office/drawing/2014/main" id="{3500230A-3EC4-C842-99D5-D230EDBFF4E9}"/>
              </a:ext>
            </a:extLst>
          </p:cNvPr>
          <p:cNvCxnSpPr>
            <a:cxnSpLocks noChangeShapeType="1"/>
          </p:cNvCxnSpPr>
          <p:nvPr/>
        </p:nvCxnSpPr>
        <p:spPr bwMode="auto">
          <a:xfrm flipV="1">
            <a:off x="9740900" y="3502025"/>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7" name="Straight Connector 41">
            <a:extLst>
              <a:ext uri="{FF2B5EF4-FFF2-40B4-BE49-F238E27FC236}">
                <a16:creationId xmlns:a16="http://schemas.microsoft.com/office/drawing/2014/main" id="{EB0A1F35-4978-CE9E-2E2F-66646E8DB686}"/>
              </a:ext>
            </a:extLst>
          </p:cNvPr>
          <p:cNvCxnSpPr>
            <a:cxnSpLocks noChangeShapeType="1"/>
          </p:cNvCxnSpPr>
          <p:nvPr/>
        </p:nvCxnSpPr>
        <p:spPr bwMode="auto">
          <a:xfrm>
            <a:off x="9740900" y="3502025"/>
            <a:ext cx="3048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8" name="Straight Connector 42">
            <a:extLst>
              <a:ext uri="{FF2B5EF4-FFF2-40B4-BE49-F238E27FC236}">
                <a16:creationId xmlns:a16="http://schemas.microsoft.com/office/drawing/2014/main" id="{2A71B9BF-B116-BD45-8E94-B6B465B341E2}"/>
              </a:ext>
            </a:extLst>
          </p:cNvPr>
          <p:cNvCxnSpPr>
            <a:cxnSpLocks noChangeShapeType="1"/>
          </p:cNvCxnSpPr>
          <p:nvPr/>
        </p:nvCxnSpPr>
        <p:spPr bwMode="auto">
          <a:xfrm flipV="1">
            <a:off x="10045700" y="3502025"/>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19" name="Straight Connector 43">
            <a:extLst>
              <a:ext uri="{FF2B5EF4-FFF2-40B4-BE49-F238E27FC236}">
                <a16:creationId xmlns:a16="http://schemas.microsoft.com/office/drawing/2014/main" id="{241B48E4-6635-D2B8-44DF-0A9113C6BAA3}"/>
              </a:ext>
            </a:extLst>
          </p:cNvPr>
          <p:cNvCxnSpPr>
            <a:cxnSpLocks noChangeShapeType="1"/>
          </p:cNvCxnSpPr>
          <p:nvPr/>
        </p:nvCxnSpPr>
        <p:spPr bwMode="auto">
          <a:xfrm>
            <a:off x="10045701" y="3730625"/>
            <a:ext cx="18256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0" name="Straight Connector 56">
            <a:extLst>
              <a:ext uri="{FF2B5EF4-FFF2-40B4-BE49-F238E27FC236}">
                <a16:creationId xmlns:a16="http://schemas.microsoft.com/office/drawing/2014/main" id="{11675DE7-8635-BF1C-5D51-2FC03DD93524}"/>
              </a:ext>
            </a:extLst>
          </p:cNvPr>
          <p:cNvCxnSpPr>
            <a:cxnSpLocks noChangeShapeType="1"/>
          </p:cNvCxnSpPr>
          <p:nvPr/>
        </p:nvCxnSpPr>
        <p:spPr bwMode="auto">
          <a:xfrm>
            <a:off x="8885239" y="4195763"/>
            <a:ext cx="274637"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1" name="Straight Connector 57">
            <a:extLst>
              <a:ext uri="{FF2B5EF4-FFF2-40B4-BE49-F238E27FC236}">
                <a16:creationId xmlns:a16="http://schemas.microsoft.com/office/drawing/2014/main" id="{3B8B5871-23D2-EDEE-7E80-CB2922EF56B4}"/>
              </a:ext>
            </a:extLst>
          </p:cNvPr>
          <p:cNvCxnSpPr>
            <a:cxnSpLocks noChangeShapeType="1"/>
          </p:cNvCxnSpPr>
          <p:nvPr/>
        </p:nvCxnSpPr>
        <p:spPr bwMode="auto">
          <a:xfrm flipV="1">
            <a:off x="9151938" y="3967163"/>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2" name="Straight Connector 58">
            <a:extLst>
              <a:ext uri="{FF2B5EF4-FFF2-40B4-BE49-F238E27FC236}">
                <a16:creationId xmlns:a16="http://schemas.microsoft.com/office/drawing/2014/main" id="{7B5D57AF-E524-ACD2-EFA1-1DB0D328ED32}"/>
              </a:ext>
            </a:extLst>
          </p:cNvPr>
          <p:cNvCxnSpPr>
            <a:cxnSpLocks noChangeShapeType="1"/>
          </p:cNvCxnSpPr>
          <p:nvPr/>
        </p:nvCxnSpPr>
        <p:spPr bwMode="auto">
          <a:xfrm>
            <a:off x="9151938" y="3967163"/>
            <a:ext cx="3048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3" name="Straight Connector 59">
            <a:extLst>
              <a:ext uri="{FF2B5EF4-FFF2-40B4-BE49-F238E27FC236}">
                <a16:creationId xmlns:a16="http://schemas.microsoft.com/office/drawing/2014/main" id="{E7EBE1D0-E74D-B6CB-5873-AAB83C959575}"/>
              </a:ext>
            </a:extLst>
          </p:cNvPr>
          <p:cNvCxnSpPr>
            <a:cxnSpLocks noChangeShapeType="1"/>
          </p:cNvCxnSpPr>
          <p:nvPr/>
        </p:nvCxnSpPr>
        <p:spPr bwMode="auto">
          <a:xfrm flipV="1">
            <a:off x="9456738" y="3967163"/>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4" name="Straight Connector 60">
            <a:extLst>
              <a:ext uri="{FF2B5EF4-FFF2-40B4-BE49-F238E27FC236}">
                <a16:creationId xmlns:a16="http://schemas.microsoft.com/office/drawing/2014/main" id="{7210EBE3-5C01-C8C7-A437-E51947F3A12F}"/>
              </a:ext>
            </a:extLst>
          </p:cNvPr>
          <p:cNvCxnSpPr>
            <a:cxnSpLocks noChangeShapeType="1"/>
          </p:cNvCxnSpPr>
          <p:nvPr/>
        </p:nvCxnSpPr>
        <p:spPr bwMode="auto">
          <a:xfrm>
            <a:off x="9456738" y="4195763"/>
            <a:ext cx="3048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5" name="Straight Connector 61">
            <a:extLst>
              <a:ext uri="{FF2B5EF4-FFF2-40B4-BE49-F238E27FC236}">
                <a16:creationId xmlns:a16="http://schemas.microsoft.com/office/drawing/2014/main" id="{CD29B232-66BA-6E64-C88C-2B34D62EF031}"/>
              </a:ext>
            </a:extLst>
          </p:cNvPr>
          <p:cNvCxnSpPr>
            <a:cxnSpLocks noChangeShapeType="1"/>
          </p:cNvCxnSpPr>
          <p:nvPr/>
        </p:nvCxnSpPr>
        <p:spPr bwMode="auto">
          <a:xfrm flipV="1">
            <a:off x="9752013" y="3967163"/>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6" name="Straight Connector 62">
            <a:extLst>
              <a:ext uri="{FF2B5EF4-FFF2-40B4-BE49-F238E27FC236}">
                <a16:creationId xmlns:a16="http://schemas.microsoft.com/office/drawing/2014/main" id="{6E0CF653-ACB2-2759-2701-392BB4AD8C31}"/>
              </a:ext>
            </a:extLst>
          </p:cNvPr>
          <p:cNvCxnSpPr>
            <a:cxnSpLocks noChangeShapeType="1"/>
          </p:cNvCxnSpPr>
          <p:nvPr/>
        </p:nvCxnSpPr>
        <p:spPr bwMode="auto">
          <a:xfrm>
            <a:off x="9752013" y="3967163"/>
            <a:ext cx="3048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7" name="Straight Connector 63">
            <a:extLst>
              <a:ext uri="{FF2B5EF4-FFF2-40B4-BE49-F238E27FC236}">
                <a16:creationId xmlns:a16="http://schemas.microsoft.com/office/drawing/2014/main" id="{CE8ECB24-8D21-5E10-A66F-2F7551221BD5}"/>
              </a:ext>
            </a:extLst>
          </p:cNvPr>
          <p:cNvCxnSpPr>
            <a:cxnSpLocks noChangeShapeType="1"/>
          </p:cNvCxnSpPr>
          <p:nvPr/>
        </p:nvCxnSpPr>
        <p:spPr bwMode="auto">
          <a:xfrm flipV="1">
            <a:off x="10056813" y="3967163"/>
            <a:ext cx="0" cy="2286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328" name="Straight Connector 64">
            <a:extLst>
              <a:ext uri="{FF2B5EF4-FFF2-40B4-BE49-F238E27FC236}">
                <a16:creationId xmlns:a16="http://schemas.microsoft.com/office/drawing/2014/main" id="{7F111834-B04B-37AC-8B85-B3FEBE45A5D4}"/>
              </a:ext>
            </a:extLst>
          </p:cNvPr>
          <p:cNvCxnSpPr>
            <a:cxnSpLocks noChangeShapeType="1"/>
          </p:cNvCxnSpPr>
          <p:nvPr/>
        </p:nvCxnSpPr>
        <p:spPr bwMode="auto">
          <a:xfrm>
            <a:off x="10056813" y="4195763"/>
            <a:ext cx="18256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97329" name="TextBox 65">
            <a:extLst>
              <a:ext uri="{FF2B5EF4-FFF2-40B4-BE49-F238E27FC236}">
                <a16:creationId xmlns:a16="http://schemas.microsoft.com/office/drawing/2014/main" id="{44F32FD4-CAA1-E0DC-F576-68A37EE7DCA7}"/>
              </a:ext>
            </a:extLst>
          </p:cNvPr>
          <p:cNvSpPr txBox="1">
            <a:spLocks noChangeArrowheads="1"/>
          </p:cNvSpPr>
          <p:nvPr/>
        </p:nvSpPr>
        <p:spPr bwMode="auto">
          <a:xfrm>
            <a:off x="2971800" y="1123950"/>
            <a:ext cx="381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Testbench Written in Verilog</a:t>
            </a:r>
          </a:p>
        </p:txBody>
      </p:sp>
      <p:sp>
        <p:nvSpPr>
          <p:cNvPr id="97330" name="TextBox 66">
            <a:extLst>
              <a:ext uri="{FF2B5EF4-FFF2-40B4-BE49-F238E27FC236}">
                <a16:creationId xmlns:a16="http://schemas.microsoft.com/office/drawing/2014/main" id="{D47BCB37-D138-2466-2CFA-DE2F61614B3F}"/>
              </a:ext>
            </a:extLst>
          </p:cNvPr>
          <p:cNvSpPr txBox="1">
            <a:spLocks noChangeArrowheads="1"/>
          </p:cNvSpPr>
          <p:nvPr/>
        </p:nvSpPr>
        <p:spPr bwMode="auto">
          <a:xfrm>
            <a:off x="1676400" y="4876800"/>
            <a:ext cx="8763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Simulation  outputs is  generated in the form of a waveform for visual inspection or data files for record or for machine readability.</a:t>
            </a:r>
          </a:p>
          <a:p>
            <a:pPr eaLnBrk="1" hangingPunct="1"/>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4">
            <a:extLst>
              <a:ext uri="{FF2B5EF4-FFF2-40B4-BE49-F238E27FC236}">
                <a16:creationId xmlns:a16="http://schemas.microsoft.com/office/drawing/2014/main" id="{59BEFD55-5B4B-2647-227E-2CED1D21F12B}"/>
              </a:ext>
            </a:extLst>
          </p:cNvPr>
          <p:cNvSpPr>
            <a:spLocks noGrp="1" noChangeArrowheads="1"/>
          </p:cNvSpPr>
          <p:nvPr>
            <p:ph type="title"/>
          </p:nvPr>
        </p:nvSpPr>
        <p:spPr/>
        <p:txBody>
          <a:bodyPr/>
          <a:lstStyle/>
          <a:p>
            <a:r>
              <a:rPr lang="en-US" altLang="en-US"/>
              <a:t>Test_Bench</a:t>
            </a:r>
            <a:endParaRPr lang="ru-RU" altLang="en-US"/>
          </a:p>
        </p:txBody>
      </p:sp>
      <p:grpSp>
        <p:nvGrpSpPr>
          <p:cNvPr id="98307" name="Group 15">
            <a:extLst>
              <a:ext uri="{FF2B5EF4-FFF2-40B4-BE49-F238E27FC236}">
                <a16:creationId xmlns:a16="http://schemas.microsoft.com/office/drawing/2014/main" id="{F98B48DF-47CA-7689-AE7D-6716FB495C4E}"/>
              </a:ext>
            </a:extLst>
          </p:cNvPr>
          <p:cNvGrpSpPr>
            <a:grpSpLocks/>
          </p:cNvGrpSpPr>
          <p:nvPr/>
        </p:nvGrpSpPr>
        <p:grpSpPr bwMode="auto">
          <a:xfrm>
            <a:off x="1866900" y="2112963"/>
            <a:ext cx="3276600" cy="1524000"/>
            <a:chOff x="384" y="1008"/>
            <a:chExt cx="2088" cy="960"/>
          </a:xfrm>
        </p:grpSpPr>
        <p:sp>
          <p:nvSpPr>
            <p:cNvPr id="74770" name="Rectangle 6">
              <a:extLst>
                <a:ext uri="{FF2B5EF4-FFF2-40B4-BE49-F238E27FC236}">
                  <a16:creationId xmlns:a16="http://schemas.microsoft.com/office/drawing/2014/main" id="{AFF0E800-4E23-4EB5-9267-094C422F5149}"/>
                </a:ext>
              </a:extLst>
            </p:cNvPr>
            <p:cNvSpPr>
              <a:spLocks noChangeArrowheads="1"/>
            </p:cNvSpPr>
            <p:nvPr/>
          </p:nvSpPr>
          <p:spPr bwMode="auto">
            <a:xfrm>
              <a:off x="1614" y="1098"/>
              <a:ext cx="858" cy="870"/>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endParaRPr lang="en-US" sz="1600"/>
            </a:p>
            <a:p>
              <a:pPr algn="ctr" eaLnBrk="1" hangingPunct="1">
                <a:defRPr/>
              </a:pPr>
              <a:r>
                <a:rPr lang="en-US" sz="1600"/>
                <a:t>Unit Description</a:t>
              </a:r>
              <a:endParaRPr lang="ru-RU" sz="1600"/>
            </a:p>
          </p:txBody>
        </p:sp>
        <p:sp>
          <p:nvSpPr>
            <p:cNvPr id="98323" name="Line 7">
              <a:extLst>
                <a:ext uri="{FF2B5EF4-FFF2-40B4-BE49-F238E27FC236}">
                  <a16:creationId xmlns:a16="http://schemas.microsoft.com/office/drawing/2014/main" id="{1F838323-0D1A-2BAB-36D5-9654F17C27E1}"/>
                </a:ext>
              </a:extLst>
            </p:cNvPr>
            <p:cNvSpPr>
              <a:spLocks noChangeShapeType="1"/>
            </p:cNvSpPr>
            <p:nvPr/>
          </p:nvSpPr>
          <p:spPr bwMode="auto">
            <a:xfrm flipV="1">
              <a:off x="1050" y="1249"/>
              <a:ext cx="56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8324" name="Line 8">
              <a:extLst>
                <a:ext uri="{FF2B5EF4-FFF2-40B4-BE49-F238E27FC236}">
                  <a16:creationId xmlns:a16="http://schemas.microsoft.com/office/drawing/2014/main" id="{58AE2F33-C2C1-D4E2-7001-98B698CCF7DD}"/>
                </a:ext>
              </a:extLst>
            </p:cNvPr>
            <p:cNvSpPr>
              <a:spLocks noChangeShapeType="1"/>
            </p:cNvSpPr>
            <p:nvPr/>
          </p:nvSpPr>
          <p:spPr bwMode="auto">
            <a:xfrm flipV="1">
              <a:off x="1057" y="1380"/>
              <a:ext cx="56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8325" name="Line 9">
              <a:extLst>
                <a:ext uri="{FF2B5EF4-FFF2-40B4-BE49-F238E27FC236}">
                  <a16:creationId xmlns:a16="http://schemas.microsoft.com/office/drawing/2014/main" id="{E743EA97-0B58-ABEE-FDD7-6E2A3BF4249D}"/>
                </a:ext>
              </a:extLst>
            </p:cNvPr>
            <p:cNvSpPr>
              <a:spLocks noChangeShapeType="1"/>
            </p:cNvSpPr>
            <p:nvPr/>
          </p:nvSpPr>
          <p:spPr bwMode="auto">
            <a:xfrm flipV="1">
              <a:off x="1050" y="1521"/>
              <a:ext cx="56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8326" name="Text Box 10">
              <a:extLst>
                <a:ext uri="{FF2B5EF4-FFF2-40B4-BE49-F238E27FC236}">
                  <a16:creationId xmlns:a16="http://schemas.microsoft.com/office/drawing/2014/main" id="{E8C8AD2D-B0AB-6210-8D8B-C6E05CF73847}"/>
                </a:ext>
              </a:extLst>
            </p:cNvPr>
            <p:cNvSpPr txBox="1">
              <a:spLocks noChangeArrowheads="1"/>
            </p:cNvSpPr>
            <p:nvPr/>
          </p:nvSpPr>
          <p:spPr bwMode="auto">
            <a:xfrm>
              <a:off x="1079" y="1008"/>
              <a:ext cx="553"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Inputs</a:t>
              </a:r>
            </a:p>
          </p:txBody>
        </p:sp>
        <p:sp>
          <p:nvSpPr>
            <p:cNvPr id="98327" name="Line 11">
              <a:extLst>
                <a:ext uri="{FF2B5EF4-FFF2-40B4-BE49-F238E27FC236}">
                  <a16:creationId xmlns:a16="http://schemas.microsoft.com/office/drawing/2014/main" id="{775B0C64-DC2A-4B5D-761F-9980583FC8FC}"/>
                </a:ext>
              </a:extLst>
            </p:cNvPr>
            <p:cNvSpPr>
              <a:spLocks noChangeShapeType="1"/>
            </p:cNvSpPr>
            <p:nvPr/>
          </p:nvSpPr>
          <p:spPr bwMode="auto">
            <a:xfrm flipV="1">
              <a:off x="1050" y="1745"/>
              <a:ext cx="560" cy="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2" name="Rectangle 12">
              <a:extLst>
                <a:ext uri="{FF2B5EF4-FFF2-40B4-BE49-F238E27FC236}">
                  <a16:creationId xmlns:a16="http://schemas.microsoft.com/office/drawing/2014/main" id="{B30C4625-D814-4144-A702-AAD9C57AF92E}"/>
                </a:ext>
              </a:extLst>
            </p:cNvPr>
            <p:cNvSpPr>
              <a:spLocks noChangeArrowheads="1"/>
            </p:cNvSpPr>
            <p:nvPr/>
          </p:nvSpPr>
          <p:spPr bwMode="auto">
            <a:xfrm>
              <a:off x="384" y="1079"/>
              <a:ext cx="666" cy="870"/>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endParaRPr lang="ru-RU" sz="1600" dirty="0"/>
            </a:p>
            <a:p>
              <a:pPr algn="ctr" eaLnBrk="1" hangingPunct="1">
                <a:defRPr/>
              </a:pPr>
              <a:r>
                <a:rPr lang="ru-RU" sz="1600" dirty="0"/>
                <a:t>Test bench</a:t>
              </a:r>
            </a:p>
          </p:txBody>
        </p:sp>
        <p:sp>
          <p:nvSpPr>
            <p:cNvPr id="98329" name="Line 13">
              <a:extLst>
                <a:ext uri="{FF2B5EF4-FFF2-40B4-BE49-F238E27FC236}">
                  <a16:creationId xmlns:a16="http://schemas.microsoft.com/office/drawing/2014/main" id="{1C541200-FE6D-A183-D5B9-4B560F6A2D87}"/>
                </a:ext>
              </a:extLst>
            </p:cNvPr>
            <p:cNvSpPr>
              <a:spLocks noChangeShapeType="1"/>
            </p:cNvSpPr>
            <p:nvPr/>
          </p:nvSpPr>
          <p:spPr bwMode="auto">
            <a:xfrm flipV="1">
              <a:off x="1057" y="1858"/>
              <a:ext cx="560" cy="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grpSp>
      <p:sp>
        <p:nvSpPr>
          <p:cNvPr id="98308" name="Text Box 14">
            <a:extLst>
              <a:ext uri="{FF2B5EF4-FFF2-40B4-BE49-F238E27FC236}">
                <a16:creationId xmlns:a16="http://schemas.microsoft.com/office/drawing/2014/main" id="{271A3476-64EE-8977-6087-B3C9CE317A8C}"/>
              </a:ext>
            </a:extLst>
          </p:cNvPr>
          <p:cNvSpPr txBox="1">
            <a:spLocks noChangeArrowheads="1"/>
          </p:cNvSpPr>
          <p:nvPr/>
        </p:nvSpPr>
        <p:spPr bwMode="auto">
          <a:xfrm>
            <a:off x="2971800" y="3560764"/>
            <a:ext cx="10668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Outputs</a:t>
            </a:r>
          </a:p>
        </p:txBody>
      </p:sp>
      <p:grpSp>
        <p:nvGrpSpPr>
          <p:cNvPr id="98309" name="Group 24">
            <a:extLst>
              <a:ext uri="{FF2B5EF4-FFF2-40B4-BE49-F238E27FC236}">
                <a16:creationId xmlns:a16="http://schemas.microsoft.com/office/drawing/2014/main" id="{34EAC4AE-5660-76E0-D828-5D4DD2DE6824}"/>
              </a:ext>
            </a:extLst>
          </p:cNvPr>
          <p:cNvGrpSpPr>
            <a:grpSpLocks/>
          </p:cNvGrpSpPr>
          <p:nvPr/>
        </p:nvGrpSpPr>
        <p:grpSpPr bwMode="auto">
          <a:xfrm>
            <a:off x="5359400" y="1712913"/>
            <a:ext cx="4648200" cy="3962400"/>
            <a:chOff x="4038600" y="1371600"/>
            <a:chExt cx="4648200" cy="4419600"/>
          </a:xfrm>
        </p:grpSpPr>
        <p:sp>
          <p:nvSpPr>
            <p:cNvPr id="74758" name="Rectangle 20">
              <a:extLst>
                <a:ext uri="{FF2B5EF4-FFF2-40B4-BE49-F238E27FC236}">
                  <a16:creationId xmlns:a16="http://schemas.microsoft.com/office/drawing/2014/main" id="{9018D6BA-5336-466B-8B96-F87EC5B1E0DC}"/>
                </a:ext>
              </a:extLst>
            </p:cNvPr>
            <p:cNvSpPr>
              <a:spLocks noChangeArrowheads="1"/>
            </p:cNvSpPr>
            <p:nvPr/>
          </p:nvSpPr>
          <p:spPr bwMode="auto">
            <a:xfrm>
              <a:off x="4419600" y="2639402"/>
              <a:ext cx="3762375" cy="2007943"/>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dirty="0"/>
                <a:t>Verilog Simulator</a:t>
              </a:r>
            </a:p>
            <a:p>
              <a:pPr eaLnBrk="1" hangingPunct="1">
                <a:defRPr/>
              </a:pPr>
              <a:endParaRPr lang="ru-RU" sz="1600" dirty="0"/>
            </a:p>
          </p:txBody>
        </p:sp>
        <p:sp>
          <p:nvSpPr>
            <p:cNvPr id="74759" name="Rectangle 17">
              <a:extLst>
                <a:ext uri="{FF2B5EF4-FFF2-40B4-BE49-F238E27FC236}">
                  <a16:creationId xmlns:a16="http://schemas.microsoft.com/office/drawing/2014/main" id="{BCB68CFB-1F63-4D0F-95C8-A49F7E267BBC}"/>
                </a:ext>
              </a:extLst>
            </p:cNvPr>
            <p:cNvSpPr>
              <a:spLocks noChangeArrowheads="1"/>
            </p:cNvSpPr>
            <p:nvPr/>
          </p:nvSpPr>
          <p:spPr bwMode="auto">
            <a:xfrm>
              <a:off x="4244975" y="1371600"/>
              <a:ext cx="1497013" cy="660461"/>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en-US" sz="1600" dirty="0"/>
                <a:t>Unit description</a:t>
              </a:r>
              <a:endParaRPr lang="ru-RU" sz="1600" dirty="0"/>
            </a:p>
            <a:p>
              <a:pPr eaLnBrk="1" hangingPunct="1">
                <a:defRPr/>
              </a:pPr>
              <a:endParaRPr lang="ru-RU" sz="1600" dirty="0"/>
            </a:p>
          </p:txBody>
        </p:sp>
        <p:sp>
          <p:nvSpPr>
            <p:cNvPr id="3" name="Rectangle 18">
              <a:extLst>
                <a:ext uri="{FF2B5EF4-FFF2-40B4-BE49-F238E27FC236}">
                  <a16:creationId xmlns:a16="http://schemas.microsoft.com/office/drawing/2014/main" id="{2F3F0EF1-E5F3-4D55-B819-B90854084608}"/>
                </a:ext>
              </a:extLst>
            </p:cNvPr>
            <p:cNvSpPr>
              <a:spLocks noChangeArrowheads="1"/>
            </p:cNvSpPr>
            <p:nvPr/>
          </p:nvSpPr>
          <p:spPr bwMode="auto">
            <a:xfrm>
              <a:off x="7142163" y="1371600"/>
              <a:ext cx="1544637" cy="632130"/>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sz="1400" dirty="0"/>
                <a:t>Test Bench</a:t>
              </a:r>
            </a:p>
          </p:txBody>
        </p:sp>
        <p:sp>
          <p:nvSpPr>
            <p:cNvPr id="98313" name="AutoShape 24">
              <a:extLst>
                <a:ext uri="{FF2B5EF4-FFF2-40B4-BE49-F238E27FC236}">
                  <a16:creationId xmlns:a16="http://schemas.microsoft.com/office/drawing/2014/main" id="{1E2A74AC-9135-3245-EA7D-050A30891E94}"/>
                </a:ext>
              </a:extLst>
            </p:cNvPr>
            <p:cNvSpPr>
              <a:spLocks noChangeArrowheads="1"/>
            </p:cNvSpPr>
            <p:nvPr/>
          </p:nvSpPr>
          <p:spPr bwMode="auto">
            <a:xfrm rot="2700000">
              <a:off x="4926013" y="2259012"/>
              <a:ext cx="673100" cy="180975"/>
            </a:xfrm>
            <a:prstGeom prst="rightArrow">
              <a:avLst>
                <a:gd name="adj1" fmla="val 50000"/>
                <a:gd name="adj2" fmla="val 92982"/>
              </a:avLst>
            </a:prstGeom>
            <a:solidFill>
              <a:srgbClr val="C0C0C0"/>
            </a:solidFill>
            <a:ln w="25400">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98314" name="AutoShape 25">
              <a:extLst>
                <a:ext uri="{FF2B5EF4-FFF2-40B4-BE49-F238E27FC236}">
                  <a16:creationId xmlns:a16="http://schemas.microsoft.com/office/drawing/2014/main" id="{156D4F23-A053-71DA-87E6-DE6EB89270F4}"/>
                </a:ext>
              </a:extLst>
            </p:cNvPr>
            <p:cNvSpPr>
              <a:spLocks noChangeArrowheads="1"/>
            </p:cNvSpPr>
            <p:nvPr/>
          </p:nvSpPr>
          <p:spPr bwMode="auto">
            <a:xfrm rot="8100000">
              <a:off x="7378700" y="2276475"/>
              <a:ext cx="720725" cy="168275"/>
            </a:xfrm>
            <a:prstGeom prst="rightArrow">
              <a:avLst>
                <a:gd name="adj1" fmla="val 50000"/>
                <a:gd name="adj2" fmla="val 107075"/>
              </a:avLst>
            </a:prstGeom>
            <a:solidFill>
              <a:srgbClr val="C0C0C0"/>
            </a:solidFill>
            <a:ln w="25400">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98315" name="Line 26">
              <a:extLst>
                <a:ext uri="{FF2B5EF4-FFF2-40B4-BE49-F238E27FC236}">
                  <a16:creationId xmlns:a16="http://schemas.microsoft.com/office/drawing/2014/main" id="{80AB3C69-87C1-F93D-1624-72BCD8F582D8}"/>
                </a:ext>
              </a:extLst>
            </p:cNvPr>
            <p:cNvSpPr>
              <a:spLocks noChangeShapeType="1"/>
            </p:cNvSpPr>
            <p:nvPr/>
          </p:nvSpPr>
          <p:spPr bwMode="auto">
            <a:xfrm flipH="1">
              <a:off x="5010150" y="4522788"/>
              <a:ext cx="460375" cy="54768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8316" name="Line 27">
              <a:extLst>
                <a:ext uri="{FF2B5EF4-FFF2-40B4-BE49-F238E27FC236}">
                  <a16:creationId xmlns:a16="http://schemas.microsoft.com/office/drawing/2014/main" id="{06E5077C-8FDC-8E28-A7E7-706898919627}"/>
                </a:ext>
              </a:extLst>
            </p:cNvPr>
            <p:cNvSpPr>
              <a:spLocks noChangeShapeType="1"/>
            </p:cNvSpPr>
            <p:nvPr/>
          </p:nvSpPr>
          <p:spPr bwMode="auto">
            <a:xfrm>
              <a:off x="7302500" y="4552950"/>
              <a:ext cx="365125" cy="51752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65" name="Rectangle 28">
              <a:extLst>
                <a:ext uri="{FF2B5EF4-FFF2-40B4-BE49-F238E27FC236}">
                  <a16:creationId xmlns:a16="http://schemas.microsoft.com/office/drawing/2014/main" id="{93886050-FF07-463B-8A84-260F905578F0}"/>
                </a:ext>
              </a:extLst>
            </p:cNvPr>
            <p:cNvSpPr>
              <a:spLocks noChangeArrowheads="1"/>
            </p:cNvSpPr>
            <p:nvPr/>
          </p:nvSpPr>
          <p:spPr bwMode="auto">
            <a:xfrm>
              <a:off x="4038600" y="5070536"/>
              <a:ext cx="1909763" cy="720665"/>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a:t>Graphical results of simulation</a:t>
              </a:r>
            </a:p>
          </p:txBody>
        </p:sp>
        <p:sp>
          <p:nvSpPr>
            <p:cNvPr id="4" name="Rectangle 29">
              <a:extLst>
                <a:ext uri="{FF2B5EF4-FFF2-40B4-BE49-F238E27FC236}">
                  <a16:creationId xmlns:a16="http://schemas.microsoft.com/office/drawing/2014/main" id="{8DDC445A-152A-4F22-893C-5AEA0C7FBB70}"/>
                </a:ext>
              </a:extLst>
            </p:cNvPr>
            <p:cNvSpPr>
              <a:spLocks noChangeArrowheads="1"/>
            </p:cNvSpPr>
            <p:nvPr/>
          </p:nvSpPr>
          <p:spPr bwMode="auto">
            <a:xfrm>
              <a:off x="6537325" y="5086472"/>
              <a:ext cx="1911350" cy="704728"/>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sz="1600" dirty="0"/>
                <a:t>Simulation results as text</a:t>
              </a:r>
              <a:r>
                <a:rPr lang="ru-RU" dirty="0"/>
                <a:t> </a:t>
              </a:r>
            </a:p>
          </p:txBody>
        </p:sp>
        <p:sp>
          <p:nvSpPr>
            <p:cNvPr id="98319" name="Oval 22">
              <a:extLst>
                <a:ext uri="{FF2B5EF4-FFF2-40B4-BE49-F238E27FC236}">
                  <a16:creationId xmlns:a16="http://schemas.microsoft.com/office/drawing/2014/main" id="{B28D22D2-A533-5196-4A20-74FE181BB031}"/>
                </a:ext>
              </a:extLst>
            </p:cNvPr>
            <p:cNvSpPr>
              <a:spLocks noChangeArrowheads="1"/>
            </p:cNvSpPr>
            <p:nvPr/>
          </p:nvSpPr>
          <p:spPr bwMode="auto">
            <a:xfrm>
              <a:off x="4627563" y="3722688"/>
              <a:ext cx="1798637" cy="785812"/>
            </a:xfrm>
            <a:prstGeom prst="ellipse">
              <a:avLst/>
            </a:prstGeom>
            <a:solidFill>
              <a:srgbClr val="FFFFFF"/>
            </a:solidFill>
            <a:ln w="25400">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ru-RU" altLang="en-US" sz="1400"/>
                <a:t>Simulation</a:t>
              </a:r>
              <a:r>
                <a:rPr lang="en-US" altLang="en-US" sz="1400"/>
                <a:t> </a:t>
              </a:r>
              <a:r>
                <a:rPr lang="ru-RU" altLang="en-US" sz="1400"/>
                <a:t>Engine</a:t>
              </a:r>
            </a:p>
          </p:txBody>
        </p:sp>
        <p:sp>
          <p:nvSpPr>
            <p:cNvPr id="98320" name="Oval 23">
              <a:extLst>
                <a:ext uri="{FF2B5EF4-FFF2-40B4-BE49-F238E27FC236}">
                  <a16:creationId xmlns:a16="http://schemas.microsoft.com/office/drawing/2014/main" id="{CBB0D156-E886-8271-DE4D-E47175E81E0C}"/>
                </a:ext>
              </a:extLst>
            </p:cNvPr>
            <p:cNvSpPr>
              <a:spLocks noChangeArrowheads="1"/>
            </p:cNvSpPr>
            <p:nvPr/>
          </p:nvSpPr>
          <p:spPr bwMode="auto">
            <a:xfrm>
              <a:off x="6537325" y="3706813"/>
              <a:ext cx="1511300" cy="815975"/>
            </a:xfrm>
            <a:prstGeom prst="ellipse">
              <a:avLst/>
            </a:prstGeom>
            <a:solidFill>
              <a:srgbClr val="FFFFFF"/>
            </a:solidFill>
            <a:ln w="25400">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ru-RU" altLang="en-US" sz="1600"/>
                <a:t>User Interface</a:t>
              </a:r>
            </a:p>
          </p:txBody>
        </p:sp>
        <p:sp>
          <p:nvSpPr>
            <p:cNvPr id="98321" name="Oval 21">
              <a:extLst>
                <a:ext uri="{FF2B5EF4-FFF2-40B4-BE49-F238E27FC236}">
                  <a16:creationId xmlns:a16="http://schemas.microsoft.com/office/drawing/2014/main" id="{E2348489-98B9-35DD-9D4D-6AA488C86A75}"/>
                </a:ext>
              </a:extLst>
            </p:cNvPr>
            <p:cNvSpPr>
              <a:spLocks noChangeArrowheads="1"/>
            </p:cNvSpPr>
            <p:nvPr/>
          </p:nvSpPr>
          <p:spPr bwMode="auto">
            <a:xfrm>
              <a:off x="5216525" y="3040063"/>
              <a:ext cx="1400175" cy="474662"/>
            </a:xfrm>
            <a:prstGeom prst="ellipse">
              <a:avLst/>
            </a:prstGeom>
            <a:solidFill>
              <a:srgbClr val="FFFFFF"/>
            </a:solidFill>
            <a:ln w="25400">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ru-RU" altLang="en-US" sz="1600"/>
                <a:t>Parser</a:t>
              </a: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4">
            <a:extLst>
              <a:ext uri="{FF2B5EF4-FFF2-40B4-BE49-F238E27FC236}">
                <a16:creationId xmlns:a16="http://schemas.microsoft.com/office/drawing/2014/main" id="{190DA226-6C0E-9117-BE4A-A18EFCDC9365}"/>
              </a:ext>
            </a:extLst>
          </p:cNvPr>
          <p:cNvSpPr>
            <a:spLocks noGrp="1" noChangeArrowheads="1"/>
          </p:cNvSpPr>
          <p:nvPr>
            <p:ph type="title"/>
          </p:nvPr>
        </p:nvSpPr>
        <p:spPr/>
        <p:txBody>
          <a:bodyPr>
            <a:normAutofit/>
          </a:bodyPr>
          <a:lstStyle/>
          <a:p>
            <a:r>
              <a:rPr lang="en-US" altLang="en-US" dirty="0"/>
              <a:t>Writing Testbench</a:t>
            </a:r>
            <a:endParaRPr lang="ru-RU" altLang="en-US" dirty="0"/>
          </a:p>
        </p:txBody>
      </p:sp>
      <p:sp>
        <p:nvSpPr>
          <p:cNvPr id="99331" name="Content Placeholder 5">
            <a:extLst>
              <a:ext uri="{FF2B5EF4-FFF2-40B4-BE49-F238E27FC236}">
                <a16:creationId xmlns:a16="http://schemas.microsoft.com/office/drawing/2014/main" id="{1448D500-0344-9826-36E2-AA7845EE6467}"/>
              </a:ext>
            </a:extLst>
          </p:cNvPr>
          <p:cNvSpPr>
            <a:spLocks noGrp="1" noChangeArrowheads="1"/>
          </p:cNvSpPr>
          <p:nvPr>
            <p:ph type="body" sz="quarter" idx="10"/>
          </p:nvPr>
        </p:nvSpPr>
        <p:spPr/>
        <p:txBody>
          <a:bodyPr/>
          <a:lstStyle/>
          <a:p>
            <a:r>
              <a:rPr lang="en-US" altLang="en-US"/>
              <a:t>A testbench specifies a sequence of inputs to be applied by the simulator to Verilog-based design.</a:t>
            </a:r>
          </a:p>
          <a:p>
            <a:r>
              <a:rPr lang="en-US" altLang="en-US"/>
              <a:t>The testbench uses an initial block and delay statements and procedural statement.</a:t>
            </a:r>
          </a:p>
          <a:p>
            <a:r>
              <a:rPr lang="ru-RU" altLang="en-US"/>
              <a:t>Verilog has advanced “behavioral” commands to facilitate this:</a:t>
            </a:r>
          </a:p>
          <a:p>
            <a:pPr lvl="1"/>
            <a:r>
              <a:rPr lang="ru-RU" altLang="en-US"/>
              <a:t>Delay for n units of time</a:t>
            </a:r>
          </a:p>
          <a:p>
            <a:pPr lvl="1"/>
            <a:r>
              <a:rPr lang="ru-RU" altLang="en-US"/>
              <a:t>Full high-level constructs: if, while, sequential </a:t>
            </a:r>
            <a:r>
              <a:rPr lang="en-US" altLang="en-US"/>
              <a:t> </a:t>
            </a:r>
            <a:r>
              <a:rPr lang="ru-RU" altLang="en-US"/>
              <a:t>assignment</a:t>
            </a:r>
            <a:r>
              <a:rPr lang="en-US" altLang="en-US"/>
              <a:t>.</a:t>
            </a:r>
            <a:endParaRPr lang="ru-RU" altLang="en-US"/>
          </a:p>
          <a:p>
            <a:pPr lvl="1"/>
            <a:r>
              <a:rPr lang="ru-RU" altLang="en-US"/>
              <a:t>Input/output: file I/O, output to display, etc.</a:t>
            </a:r>
          </a:p>
          <a:p>
            <a:endParaRPr lang="ru-RU"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4">
            <a:extLst>
              <a:ext uri="{FF2B5EF4-FFF2-40B4-BE49-F238E27FC236}">
                <a16:creationId xmlns:a16="http://schemas.microsoft.com/office/drawing/2014/main" id="{083C7743-5F49-48F3-082A-188DA85C6D1E}"/>
              </a:ext>
            </a:extLst>
          </p:cNvPr>
          <p:cNvSpPr>
            <a:spLocks noGrp="1" noChangeArrowheads="1"/>
          </p:cNvSpPr>
          <p:nvPr>
            <p:ph type="title"/>
          </p:nvPr>
        </p:nvSpPr>
        <p:spPr/>
        <p:txBody>
          <a:bodyPr>
            <a:normAutofit/>
          </a:bodyPr>
          <a:lstStyle/>
          <a:p>
            <a:r>
              <a:rPr lang="en-US" altLang="en-US" dirty="0"/>
              <a:t>Timing Control</a:t>
            </a:r>
            <a:endParaRPr lang="ru-RU" altLang="en-US" dirty="0"/>
          </a:p>
        </p:txBody>
      </p:sp>
      <p:sp>
        <p:nvSpPr>
          <p:cNvPr id="100355" name="Content Placeholder 5">
            <a:extLst>
              <a:ext uri="{FF2B5EF4-FFF2-40B4-BE49-F238E27FC236}">
                <a16:creationId xmlns:a16="http://schemas.microsoft.com/office/drawing/2014/main" id="{E7792C8A-1F58-731B-1921-D8A39EC2A3B0}"/>
              </a:ext>
            </a:extLst>
          </p:cNvPr>
          <p:cNvSpPr>
            <a:spLocks noGrp="1" noChangeArrowheads="1"/>
          </p:cNvSpPr>
          <p:nvPr>
            <p:ph type="body" sz="quarter" idx="10"/>
          </p:nvPr>
        </p:nvSpPr>
        <p:spPr/>
        <p:txBody>
          <a:bodyPr/>
          <a:lstStyle/>
          <a:p>
            <a:r>
              <a:rPr lang="ru-RU" altLang="en-US" sz="1800" dirty="0"/>
              <a:t>Timing controls specify the simulation time</a:t>
            </a:r>
            <a:r>
              <a:rPr lang="en-US" altLang="en-US" sz="1800" dirty="0"/>
              <a:t>.</a:t>
            </a:r>
            <a:r>
              <a:rPr lang="ru-RU" altLang="en-US" sz="1800" dirty="0"/>
              <a:t> There are three methods </a:t>
            </a:r>
            <a:r>
              <a:rPr lang="en-US" altLang="en-US" sz="1800" dirty="0"/>
              <a:t>for</a:t>
            </a:r>
            <a:r>
              <a:rPr lang="ru-RU" altLang="en-US" sz="1800" dirty="0"/>
              <a:t> timing control: delay-based, event-based, and level-sensitive </a:t>
            </a:r>
            <a:endParaRPr lang="en-US" altLang="en-US" sz="1800" dirty="0"/>
          </a:p>
          <a:p>
            <a:r>
              <a:rPr lang="ru-RU" altLang="en-US" sz="1800" dirty="0"/>
              <a:t>Delay-Based Timing Control</a:t>
            </a:r>
            <a:r>
              <a:rPr lang="en-US" altLang="en-US" sz="1800" dirty="0"/>
              <a:t>:</a:t>
            </a:r>
          </a:p>
          <a:p>
            <a:r>
              <a:rPr lang="en-US" altLang="en-US" sz="1800" dirty="0"/>
              <a:t># </a:t>
            </a:r>
            <a:r>
              <a:rPr lang="en-US" altLang="en-US" sz="1800" dirty="0" err="1"/>
              <a:t>delay_value</a:t>
            </a:r>
            <a:endParaRPr lang="en-US" altLang="en-US" sz="1800" dirty="0"/>
          </a:p>
          <a:p>
            <a:r>
              <a:rPr lang="en-US" altLang="en-US" sz="1800" dirty="0"/>
              <a:t> </a:t>
            </a:r>
            <a:r>
              <a:rPr lang="en-US" altLang="en-US" sz="1800" dirty="0" err="1"/>
              <a:t>delay_value</a:t>
            </a:r>
            <a:r>
              <a:rPr lang="en-US" altLang="en-US" sz="1800" dirty="0"/>
              <a:t>::=&lt;integer&gt;||&lt;variable&gt;||&lt;expression&gt;</a:t>
            </a:r>
          </a:p>
          <a:p>
            <a:r>
              <a:rPr lang="en-US" altLang="en-US" sz="1800" dirty="0"/>
              <a:t>Regular delay control:</a:t>
            </a:r>
          </a:p>
          <a:p>
            <a:r>
              <a:rPr lang="en-US" altLang="en-US" sz="1800" dirty="0"/>
              <a:t>T</a:t>
            </a:r>
            <a:r>
              <a:rPr lang="ru-RU" altLang="en-US" sz="1800" dirty="0"/>
              <a:t>he </a:t>
            </a:r>
            <a:r>
              <a:rPr lang="en-US" altLang="en-US" sz="1800" dirty="0"/>
              <a:t>symbol ”# ” before begin means that block must be executed with the </a:t>
            </a:r>
            <a:r>
              <a:rPr lang="en-US" altLang="en-US" sz="1800" dirty="0" err="1"/>
              <a:t>delay_value</a:t>
            </a:r>
            <a:r>
              <a:rPr lang="en-US" altLang="en-US" sz="1800" dirty="0"/>
              <a:t>.</a:t>
            </a:r>
          </a:p>
          <a:p>
            <a:r>
              <a:rPr lang="en-US" altLang="en-US" sz="1800" dirty="0"/>
              <a:t>If “#...” precedes to the operator it means that this operator executes after the previous later on </a:t>
            </a:r>
            <a:r>
              <a:rPr lang="en-US" altLang="en-US" sz="1800" dirty="0" err="1"/>
              <a:t>delay_value</a:t>
            </a:r>
            <a:endParaRPr lang="en-US" altLang="en-US" sz="1800" dirty="0"/>
          </a:p>
          <a:p>
            <a:r>
              <a:rPr lang="en-US" altLang="en-US" sz="1800" dirty="0"/>
              <a:t>#10  а=b;</a:t>
            </a:r>
          </a:p>
          <a:p>
            <a:r>
              <a:rPr lang="en-US" altLang="en-US" sz="1800" dirty="0"/>
              <a:t>#10; a=b; </a:t>
            </a:r>
          </a:p>
          <a:p>
            <a:r>
              <a:rPr lang="en-US" altLang="en-US" sz="1800" dirty="0"/>
              <a:t>#5; #5 a=b;</a:t>
            </a:r>
          </a:p>
          <a:p>
            <a:r>
              <a:rPr lang="en-US" altLang="en-US" sz="1800" dirty="0"/>
              <a:t>The stop of sequential block on 10 ns takes place.</a:t>
            </a:r>
            <a:endParaRPr lang="ru-RU" altLang="en-US" sz="1800" dirty="0"/>
          </a:p>
          <a:p>
            <a:endParaRPr lang="ru-RU" altLang="en-US" sz="1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97" name="Content Placeholder 8">
            <a:extLst>
              <a:ext uri="{FF2B5EF4-FFF2-40B4-BE49-F238E27FC236}">
                <a16:creationId xmlns:a16="http://schemas.microsoft.com/office/drawing/2014/main" id="{A55E35B2-E6BC-1032-2B82-B437BBF790F1}"/>
              </a:ext>
            </a:extLst>
          </p:cNvPr>
          <p:cNvSpPr>
            <a:spLocks noGrp="1" noChangeArrowheads="1"/>
          </p:cNvSpPr>
          <p:nvPr>
            <p:ph type="body" sz="quarter" idx="10"/>
          </p:nvPr>
        </p:nvSpPr>
        <p:spPr/>
        <p:txBody>
          <a:bodyPr/>
          <a:lstStyle/>
          <a:p>
            <a:r>
              <a:rPr lang="en-US" altLang="en-US" dirty="0"/>
              <a:t>I</a:t>
            </a:r>
            <a:r>
              <a:rPr lang="ru-RU" altLang="en-US" dirty="0"/>
              <a:t>ntra-assignment timing control</a:t>
            </a:r>
            <a:r>
              <a:rPr lang="en-US" altLang="en-US" dirty="0"/>
              <a:t> can be used with blocking and nonblocking assignments.</a:t>
            </a:r>
            <a:endParaRPr lang="ru-RU" altLang="en-US" dirty="0"/>
          </a:p>
          <a:p>
            <a:endParaRPr lang="ru-RU" altLang="en-US" dirty="0"/>
          </a:p>
        </p:txBody>
      </p:sp>
      <p:graphicFrame>
        <p:nvGraphicFramePr>
          <p:cNvPr id="6" name="Table 5">
            <a:extLst>
              <a:ext uri="{FF2B5EF4-FFF2-40B4-BE49-F238E27FC236}">
                <a16:creationId xmlns:a16="http://schemas.microsoft.com/office/drawing/2014/main" id="{B8113955-FAB1-46EE-979A-4004E538FD89}"/>
              </a:ext>
            </a:extLst>
          </p:cNvPr>
          <p:cNvGraphicFramePr>
            <a:graphicFrameLocks noGrp="1"/>
          </p:cNvGraphicFramePr>
          <p:nvPr>
            <p:extLst>
              <p:ext uri="{D42A27DB-BD31-4B8C-83A1-F6EECF244321}">
                <p14:modId xmlns:p14="http://schemas.microsoft.com/office/powerpoint/2010/main" val="934898201"/>
              </p:ext>
            </p:extLst>
          </p:nvPr>
        </p:nvGraphicFramePr>
        <p:xfrm>
          <a:off x="2895600" y="2667000"/>
          <a:ext cx="6096000" cy="210343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96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Type</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27" marB="4572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Assignment</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27" marB="4572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Equivalent</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27" marB="45727" horzOverflow="overflow"/>
                </a:tc>
                <a:extLst>
                  <a:ext uri="{0D108BD9-81ED-4DB2-BD59-A6C34878D82A}">
                    <a16:rowId xmlns:a16="http://schemas.microsoft.com/office/drawing/2014/main" val="10000"/>
                  </a:ext>
                </a:extLst>
              </a:tr>
              <a:tr h="70114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Delay with </a:t>
                      </a:r>
                      <a:br>
                        <a:rPr kumimoji="0" lang="en-US" sz="2000" b="0" i="0" u="none" strike="noStrike" cap="none" normalizeH="0" baseline="0" dirty="0">
                          <a:ln>
                            <a:noFill/>
                          </a:ln>
                          <a:solidFill>
                            <a:schemeClr val="tx1"/>
                          </a:solidFill>
                          <a:effectLst/>
                          <a:latin typeface="Arial" pitchFamily="34" charset="0"/>
                          <a:cs typeface="Arial" pitchFamily="34" charset="0"/>
                        </a:rPr>
                      </a:br>
                      <a:r>
                        <a:rPr kumimoji="0" lang="en-US" sz="2000" b="0" i="0" u="none" strike="noStrike" cap="none" normalizeH="0" baseline="0" dirty="0">
                          <a:ln>
                            <a:noFill/>
                          </a:ln>
                          <a:solidFill>
                            <a:schemeClr val="tx1"/>
                          </a:solidFill>
                          <a:effectLst/>
                          <a:latin typeface="Arial" pitchFamily="34" charset="0"/>
                          <a:cs typeface="Arial" pitchFamily="34" charset="0"/>
                        </a:rPr>
                        <a:t>assignment</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7" marB="4572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#5  a=b;</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#5;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a=b;</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tc>
                <a:extLst>
                  <a:ext uri="{0D108BD9-81ED-4DB2-BD59-A6C34878D82A}">
                    <a16:rowId xmlns:a16="http://schemas.microsoft.com/office/drawing/2014/main" val="10001"/>
                  </a:ext>
                </a:extLst>
              </a:tr>
              <a:tr h="100599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I</a:t>
                      </a:r>
                      <a:r>
                        <a:rPr kumimoji="0" lang="ru-RU" sz="2000" b="0" i="0" u="none" strike="noStrike" cap="none" normalizeH="0" baseline="0">
                          <a:ln>
                            <a:noFill/>
                          </a:ln>
                          <a:solidFill>
                            <a:schemeClr val="tx1"/>
                          </a:solidFill>
                          <a:effectLst/>
                          <a:latin typeface="Arial" pitchFamily="34" charset="0"/>
                          <a:cs typeface="Arial" pitchFamily="34" charset="0"/>
                        </a:rPr>
                        <a:t>ntra-assignment</a:t>
                      </a:r>
                    </a:p>
                  </a:txBody>
                  <a:tcPr marT="45727" marB="45727"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a= #5 b;</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temp = b;</a:t>
                      </a:r>
                      <a:br>
                        <a:rPr kumimoji="0" lang="en-US" sz="2000" b="0" i="0" u="none" strike="noStrike" cap="none" normalizeH="0" baseline="0" dirty="0">
                          <a:ln>
                            <a:noFill/>
                          </a:ln>
                          <a:solidFill>
                            <a:schemeClr val="tx1"/>
                          </a:solidFill>
                          <a:effectLst/>
                          <a:latin typeface="Arial" pitchFamily="34" charset="0"/>
                          <a:cs typeface="Arial" pitchFamily="34" charset="0"/>
                        </a:rPr>
                      </a:br>
                      <a:r>
                        <a:rPr kumimoji="0" lang="en-US" sz="2000" b="0" i="0" u="none" strike="noStrike" cap="none" normalizeH="0" baseline="0" dirty="0">
                          <a:ln>
                            <a:noFill/>
                          </a:ln>
                          <a:solidFill>
                            <a:schemeClr val="tx1"/>
                          </a:solidFill>
                          <a:effectLst/>
                          <a:latin typeface="Arial" pitchFamily="34" charset="0"/>
                          <a:cs typeface="Arial" pitchFamily="34" charset="0"/>
                        </a:rPr>
                        <a:t>#5;</a:t>
                      </a:r>
                      <a:br>
                        <a:rPr kumimoji="0" lang="en-US" sz="2000" b="0" i="0" u="none" strike="noStrike" cap="none" normalizeH="0" baseline="0" dirty="0">
                          <a:ln>
                            <a:noFill/>
                          </a:ln>
                          <a:solidFill>
                            <a:schemeClr val="tx1"/>
                          </a:solidFill>
                          <a:effectLst/>
                          <a:latin typeface="Arial" pitchFamily="34" charset="0"/>
                          <a:cs typeface="Arial" pitchFamily="34" charset="0"/>
                        </a:rPr>
                      </a:br>
                      <a:r>
                        <a:rPr kumimoji="0" lang="en-US" sz="2000" b="0" i="0" u="none" strike="noStrike" cap="none" normalizeH="0" baseline="0" dirty="0">
                          <a:ln>
                            <a:noFill/>
                          </a:ln>
                          <a:solidFill>
                            <a:schemeClr val="tx1"/>
                          </a:solidFill>
                          <a:effectLst/>
                          <a:latin typeface="Arial" pitchFamily="34" charset="0"/>
                          <a:cs typeface="Arial" pitchFamily="34" charset="0"/>
                        </a:rPr>
                        <a:t>a=temp;</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7" marB="45727" horzOverflow="overflow"/>
                </a:tc>
                <a:extLst>
                  <a:ext uri="{0D108BD9-81ED-4DB2-BD59-A6C34878D82A}">
                    <a16:rowId xmlns:a16="http://schemas.microsoft.com/office/drawing/2014/main" val="10002"/>
                  </a:ext>
                </a:extLst>
              </a:tr>
            </a:tbl>
          </a:graphicData>
        </a:graphic>
      </p:graphicFrame>
      <p:sp>
        <p:nvSpPr>
          <p:cNvPr id="101396" name="Title 7">
            <a:extLst>
              <a:ext uri="{FF2B5EF4-FFF2-40B4-BE49-F238E27FC236}">
                <a16:creationId xmlns:a16="http://schemas.microsoft.com/office/drawing/2014/main" id="{EDEAB38D-3771-AFB6-ACE8-5CEA3EE740C8}"/>
              </a:ext>
            </a:extLst>
          </p:cNvPr>
          <p:cNvSpPr>
            <a:spLocks noGrp="1" noChangeArrowheads="1"/>
          </p:cNvSpPr>
          <p:nvPr>
            <p:ph type="title"/>
          </p:nvPr>
        </p:nvSpPr>
        <p:spPr/>
        <p:txBody>
          <a:bodyPr>
            <a:normAutofit/>
          </a:bodyPr>
          <a:lstStyle/>
          <a:p>
            <a:r>
              <a:rPr lang="en-US" altLang="en-US" dirty="0"/>
              <a:t>Intra-Assignment</a:t>
            </a:r>
            <a:endParaRPr lang="ru-RU"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6">
            <a:extLst>
              <a:ext uri="{FF2B5EF4-FFF2-40B4-BE49-F238E27FC236}">
                <a16:creationId xmlns:a16="http://schemas.microsoft.com/office/drawing/2014/main" id="{4860E4BD-24AC-9F1E-B9F4-3AAB99E4F025}"/>
              </a:ext>
            </a:extLst>
          </p:cNvPr>
          <p:cNvSpPr>
            <a:spLocks noGrp="1" noChangeArrowheads="1"/>
          </p:cNvSpPr>
          <p:nvPr>
            <p:ph type="title"/>
          </p:nvPr>
        </p:nvSpPr>
        <p:spPr/>
        <p:txBody>
          <a:bodyPr>
            <a:normAutofit/>
          </a:bodyPr>
          <a:lstStyle/>
          <a:p>
            <a:r>
              <a:rPr lang="en-US" altLang="en-US" dirty="0"/>
              <a:t>Examples</a:t>
            </a:r>
            <a:endParaRPr lang="ru-RU" altLang="en-US" dirty="0"/>
          </a:p>
        </p:txBody>
      </p:sp>
      <p:sp>
        <p:nvSpPr>
          <p:cNvPr id="102403" name="Content Placeholder 7">
            <a:extLst>
              <a:ext uri="{FF2B5EF4-FFF2-40B4-BE49-F238E27FC236}">
                <a16:creationId xmlns:a16="http://schemas.microsoft.com/office/drawing/2014/main" id="{8E39F3B7-617C-1A0B-5854-462B0A87EE92}"/>
              </a:ext>
            </a:extLst>
          </p:cNvPr>
          <p:cNvSpPr>
            <a:spLocks noGrp="1" noChangeArrowheads="1"/>
          </p:cNvSpPr>
          <p:nvPr>
            <p:ph type="body" sz="quarter" idx="13"/>
          </p:nvPr>
        </p:nvSpPr>
        <p:spPr>
          <a:xfrm>
            <a:off x="457199" y="1188720"/>
            <a:ext cx="11158151" cy="5238974"/>
          </a:xfrm>
        </p:spPr>
        <p:txBody>
          <a:bodyPr/>
          <a:lstStyle/>
          <a:p>
            <a:r>
              <a:rPr lang="ru-RU" altLang="en-US" sz="2000" dirty="0"/>
              <a:t>Example 1</a:t>
            </a:r>
          </a:p>
          <a:p>
            <a:pPr lvl="1"/>
            <a:r>
              <a:rPr lang="ru-RU" altLang="en-US" sz="1600" dirty="0"/>
              <a:t>r_out = #10 inputA;</a:t>
            </a:r>
          </a:p>
          <a:p>
            <a:pPr lvl="1"/>
            <a:r>
              <a:rPr lang="ru-RU" altLang="en-US" sz="1600" dirty="0"/>
              <a:t>This is the same as:</a:t>
            </a:r>
          </a:p>
          <a:p>
            <a:pPr lvl="1"/>
            <a:r>
              <a:rPr lang="ru-RU" altLang="en-US" sz="1600" dirty="0"/>
              <a:t>temp = inputA;</a:t>
            </a:r>
          </a:p>
          <a:p>
            <a:pPr lvl="1"/>
            <a:r>
              <a:rPr lang="ru-RU" altLang="en-US" sz="1600" dirty="0"/>
              <a:t>#10;</a:t>
            </a:r>
          </a:p>
          <a:p>
            <a:pPr lvl="1"/>
            <a:r>
              <a:rPr lang="ru-RU" altLang="en-US" sz="1600" dirty="0"/>
              <a:t>r_out = temp;</a:t>
            </a:r>
          </a:p>
          <a:p>
            <a:r>
              <a:rPr lang="ru-RU" altLang="en-US" sz="2000" dirty="0"/>
              <a:t>Example 2</a:t>
            </a:r>
          </a:p>
          <a:p>
            <a:pPr lvl="1"/>
            <a:r>
              <a:rPr lang="ru-RU" altLang="en-US" sz="1600" dirty="0"/>
              <a:t>q = @(posedge clk) d;</a:t>
            </a:r>
          </a:p>
          <a:p>
            <a:pPr lvl="1"/>
            <a:r>
              <a:rPr lang="ru-RU" altLang="en-US" sz="1600" dirty="0"/>
              <a:t>This is the same as:</a:t>
            </a:r>
          </a:p>
          <a:p>
            <a:pPr lvl="1"/>
            <a:r>
              <a:rPr lang="ru-RU" altLang="en-US" sz="1600" dirty="0"/>
              <a:t>temp = d;</a:t>
            </a:r>
          </a:p>
          <a:p>
            <a:pPr lvl="1"/>
            <a:r>
              <a:rPr lang="ru-RU" altLang="en-US" sz="1600" dirty="0"/>
              <a:t>@(posedge clk);</a:t>
            </a:r>
          </a:p>
          <a:p>
            <a:pPr lvl="1"/>
            <a:r>
              <a:rPr lang="ru-RU" altLang="en-US" sz="1600" dirty="0"/>
              <a:t>q = temp;</a:t>
            </a:r>
          </a:p>
          <a:p>
            <a:r>
              <a:rPr lang="en-US" altLang="en-US" sz="2000" dirty="0"/>
              <a:t>Important Notes:</a:t>
            </a:r>
          </a:p>
          <a:p>
            <a:pPr lvl="1"/>
            <a:r>
              <a:rPr lang="en-US" altLang="en-US" sz="1600" dirty="0"/>
              <a:t>If a statement contains intra-assignment timing controls, its right hand side expression is evaluated and its value is assigned after the time specified by the delay control or after an event specified by event control.</a:t>
            </a:r>
          </a:p>
          <a:p>
            <a:endParaRPr lang="en-US" altLang="en-US" dirty="0"/>
          </a:p>
          <a:p>
            <a:endParaRPr lang="ru-RU" altLang="en-US" dirty="0"/>
          </a:p>
        </p:txBody>
      </p:sp>
      <p:sp>
        <p:nvSpPr>
          <p:cNvPr id="102404" name="Content Placeholder 8">
            <a:extLst>
              <a:ext uri="{FF2B5EF4-FFF2-40B4-BE49-F238E27FC236}">
                <a16:creationId xmlns:a16="http://schemas.microsoft.com/office/drawing/2014/main" id="{8148EC3D-50C2-9ABF-7481-0EF62745EE68}"/>
              </a:ext>
            </a:extLst>
          </p:cNvPr>
          <p:cNvSpPr>
            <a:spLocks noGrp="1" noChangeArrowheads="1"/>
          </p:cNvSpPr>
          <p:nvPr>
            <p:ph type="body" sz="quarter" idx="14"/>
          </p:nvPr>
        </p:nvSpPr>
        <p:spPr/>
        <p:txBody>
          <a:bodyPr/>
          <a:lstStyle/>
          <a:p>
            <a:r>
              <a:rPr lang="ru-RU" altLang="en-US" sz="2000" dirty="0"/>
              <a:t>Example 3</a:t>
            </a:r>
          </a:p>
          <a:p>
            <a:pPr lvl="1"/>
            <a:r>
              <a:rPr lang="ru-RU" altLang="en-US" sz="1600" dirty="0"/>
              <a:t>a = repeat (5) @(ready) b &amp; c;</a:t>
            </a:r>
          </a:p>
          <a:p>
            <a:pPr lvl="1"/>
            <a:r>
              <a:rPr lang="ru-RU" altLang="en-US" sz="1600" dirty="0"/>
              <a:t>This is the same as:</a:t>
            </a:r>
          </a:p>
          <a:p>
            <a:pPr lvl="1"/>
            <a:r>
              <a:rPr lang="ru-RU" altLang="en-US" sz="1600" dirty="0"/>
              <a:t>Temp = b &amp; c;</a:t>
            </a:r>
          </a:p>
          <a:p>
            <a:pPr lvl="1"/>
            <a:r>
              <a:rPr lang="ru-RU" altLang="en-US" sz="1600" dirty="0"/>
              <a:t>@(ready);</a:t>
            </a:r>
          </a:p>
          <a:p>
            <a:pPr lvl="1"/>
            <a:r>
              <a:rPr lang="ru-RU" altLang="en-US" sz="1600" dirty="0"/>
              <a:t>@(ready);</a:t>
            </a:r>
          </a:p>
          <a:p>
            <a:pPr lvl="1"/>
            <a:r>
              <a:rPr lang="ru-RU" altLang="en-US" sz="1600" dirty="0"/>
              <a:t>@(ready);</a:t>
            </a:r>
          </a:p>
          <a:p>
            <a:pPr lvl="1"/>
            <a:r>
              <a:rPr lang="ru-RU" altLang="en-US" sz="1600" dirty="0"/>
              <a:t>@(ready);</a:t>
            </a:r>
          </a:p>
          <a:p>
            <a:pPr lvl="1"/>
            <a:r>
              <a:rPr lang="ru-RU" altLang="en-US" sz="1600" dirty="0"/>
              <a:t>@(ready);</a:t>
            </a:r>
          </a:p>
          <a:p>
            <a:pPr lvl="1"/>
            <a:r>
              <a:rPr lang="ru-RU" altLang="en-US" sz="1600" dirty="0"/>
              <a:t>a = temp;</a:t>
            </a:r>
          </a:p>
          <a:p>
            <a:endParaRPr lang="ru-RU"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4">
            <a:extLst>
              <a:ext uri="{FF2B5EF4-FFF2-40B4-BE49-F238E27FC236}">
                <a16:creationId xmlns:a16="http://schemas.microsoft.com/office/drawing/2014/main" id="{E682C2F5-A8DA-20C7-89E8-2FF4CF34144D}"/>
              </a:ext>
            </a:extLst>
          </p:cNvPr>
          <p:cNvSpPr>
            <a:spLocks noGrp="1" noChangeArrowheads="1"/>
          </p:cNvSpPr>
          <p:nvPr>
            <p:ph type="title"/>
          </p:nvPr>
        </p:nvSpPr>
        <p:spPr/>
        <p:txBody>
          <a:bodyPr>
            <a:normAutofit/>
          </a:bodyPr>
          <a:lstStyle/>
          <a:p>
            <a:r>
              <a:rPr lang="ru-RU" altLang="en-US" dirty="0"/>
              <a:t>Event-Based Timing Control </a:t>
            </a:r>
          </a:p>
        </p:txBody>
      </p:sp>
      <p:sp>
        <p:nvSpPr>
          <p:cNvPr id="103427" name="Content Placeholder 5">
            <a:extLst>
              <a:ext uri="{FF2B5EF4-FFF2-40B4-BE49-F238E27FC236}">
                <a16:creationId xmlns:a16="http://schemas.microsoft.com/office/drawing/2014/main" id="{7BE2D320-7725-AEAF-C1C2-27D999020429}"/>
              </a:ext>
            </a:extLst>
          </p:cNvPr>
          <p:cNvSpPr>
            <a:spLocks noGrp="1" noChangeArrowheads="1"/>
          </p:cNvSpPr>
          <p:nvPr>
            <p:ph type="body" sz="quarter" idx="10"/>
          </p:nvPr>
        </p:nvSpPr>
        <p:spPr/>
        <p:txBody>
          <a:bodyPr/>
          <a:lstStyle/>
          <a:p>
            <a:r>
              <a:rPr lang="ru-RU" altLang="en-US" dirty="0"/>
              <a:t>The @ symbol is used to specify an event control.</a:t>
            </a:r>
            <a:endParaRPr lang="en-US" altLang="en-US" dirty="0"/>
          </a:p>
          <a:p>
            <a:r>
              <a:rPr lang="ru-RU" altLang="en-US" dirty="0"/>
              <a:t>@(clock) q = d; //q = d is executed whenever signal clock changes value </a:t>
            </a:r>
            <a:endParaRPr lang="en-US" altLang="en-US" dirty="0"/>
          </a:p>
          <a:p>
            <a:r>
              <a:rPr lang="ru-RU" altLang="en-US" dirty="0"/>
              <a:t>@(posedge clock) q = d; //q = d is executed whenever signal clock does </a:t>
            </a:r>
            <a:endParaRPr lang="en-US" altLang="en-US" dirty="0"/>
          </a:p>
          <a:p>
            <a:pPr marL="0" indent="0">
              <a:buNone/>
            </a:pPr>
            <a:r>
              <a:rPr lang="en-US" altLang="en-US" dirty="0"/>
              <a:t>			 </a:t>
            </a:r>
            <a:r>
              <a:rPr lang="ru-RU" altLang="en-US" dirty="0"/>
              <a:t>//a positive transition ( 0 to 1,</a:t>
            </a:r>
            <a:r>
              <a:rPr lang="en-US" altLang="en-US" dirty="0"/>
              <a:t> </a:t>
            </a:r>
            <a:r>
              <a:rPr lang="ru-RU" altLang="en-US" dirty="0"/>
              <a:t>x or z, x to 1, z t</a:t>
            </a:r>
            <a:r>
              <a:rPr lang="en-US" altLang="en-US" dirty="0"/>
              <a:t>o1) </a:t>
            </a:r>
            <a:r>
              <a:rPr lang="ru-RU" altLang="en-US" dirty="0"/>
              <a:t>@(negedge clock) q = d; //q = d is executed whenever signal clock does </a:t>
            </a:r>
            <a:endParaRPr lang="en-US" altLang="en-US" dirty="0"/>
          </a:p>
          <a:p>
            <a:pPr marL="0" indent="0">
              <a:buNone/>
            </a:pPr>
            <a:r>
              <a:rPr lang="en-US" altLang="en-US" dirty="0"/>
              <a:t>			 </a:t>
            </a:r>
            <a:r>
              <a:rPr lang="ru-RU" altLang="en-US" dirty="0"/>
              <a:t>//a negative transition ( 1 to 0,x or z, x to 0, z to 0)</a:t>
            </a:r>
            <a:endParaRPr lang="en-US" altLang="en-US" dirty="0"/>
          </a:p>
          <a:p>
            <a:r>
              <a:rPr lang="ru-RU" altLang="en-US" dirty="0"/>
              <a:t> q = @(posedge clock) d; //d is evaluated immediately and assigned</a:t>
            </a:r>
            <a:endParaRPr lang="en-US" altLang="en-US" dirty="0"/>
          </a:p>
          <a:p>
            <a:pPr marL="0" indent="0">
              <a:buNone/>
            </a:pPr>
            <a:r>
              <a:rPr lang="en-US" altLang="en-US" dirty="0"/>
              <a:t>			  </a:t>
            </a:r>
            <a:r>
              <a:rPr lang="ru-RU" altLang="en-US" dirty="0"/>
              <a:t>//</a:t>
            </a:r>
            <a:r>
              <a:rPr lang="en-US" altLang="en-US" dirty="0"/>
              <a:t> </a:t>
            </a:r>
            <a:r>
              <a:rPr lang="ru-RU" altLang="en-US" dirty="0"/>
              <a:t>to q at the positive edge of clock  </a:t>
            </a:r>
          </a:p>
          <a:p>
            <a:endParaRPr lang="ru-RU"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4">
            <a:extLst>
              <a:ext uri="{FF2B5EF4-FFF2-40B4-BE49-F238E27FC236}">
                <a16:creationId xmlns:a16="http://schemas.microsoft.com/office/drawing/2014/main" id="{FC2E32D3-3F6F-B103-2FCF-B2CB6CCC566F}"/>
              </a:ext>
            </a:extLst>
          </p:cNvPr>
          <p:cNvSpPr>
            <a:spLocks noGrp="1" noChangeArrowheads="1"/>
          </p:cNvSpPr>
          <p:nvPr>
            <p:ph type="title"/>
          </p:nvPr>
        </p:nvSpPr>
        <p:spPr/>
        <p:txBody>
          <a:bodyPr>
            <a:normAutofit/>
          </a:bodyPr>
          <a:lstStyle/>
          <a:p>
            <a:r>
              <a:rPr lang="en-US" altLang="en-US" dirty="0"/>
              <a:t>Level Sensitive Timing Control</a:t>
            </a:r>
            <a:endParaRPr lang="ru-RU" altLang="en-US" dirty="0"/>
          </a:p>
        </p:txBody>
      </p:sp>
      <p:sp>
        <p:nvSpPr>
          <p:cNvPr id="104451" name="Content Placeholder 5">
            <a:extLst>
              <a:ext uri="{FF2B5EF4-FFF2-40B4-BE49-F238E27FC236}">
                <a16:creationId xmlns:a16="http://schemas.microsoft.com/office/drawing/2014/main" id="{C085712C-F42B-0222-9915-BEB7CFAFDFB6}"/>
              </a:ext>
            </a:extLst>
          </p:cNvPr>
          <p:cNvSpPr>
            <a:spLocks noGrp="1" noChangeArrowheads="1"/>
          </p:cNvSpPr>
          <p:nvPr>
            <p:ph type="body" sz="quarter" idx="10"/>
          </p:nvPr>
        </p:nvSpPr>
        <p:spPr/>
        <p:txBody>
          <a:bodyPr/>
          <a:lstStyle/>
          <a:p>
            <a:r>
              <a:rPr lang="ru-RU" altLang="en-US"/>
              <a:t>Event control waited for the change of a signal value or the</a:t>
            </a:r>
            <a:r>
              <a:rPr lang="en-US" altLang="en-US"/>
              <a:t> </a:t>
            </a:r>
            <a:r>
              <a:rPr lang="ru-RU" altLang="en-US"/>
              <a:t>triggering of an event. </a:t>
            </a:r>
            <a:endParaRPr lang="en-US" altLang="en-US"/>
          </a:p>
          <a:p>
            <a:r>
              <a:rPr lang="ru-RU" altLang="en-US"/>
              <a:t>Verilog also allows level-sensitive timing control, </a:t>
            </a:r>
            <a:r>
              <a:rPr lang="en-US" altLang="en-US"/>
              <a:t>i.e.</a:t>
            </a:r>
            <a:r>
              <a:rPr lang="ru-RU" altLang="en-US"/>
              <a:t> the ability to wait for a certain condition to be true before a statement or a block of statements is executed. </a:t>
            </a:r>
            <a:endParaRPr lang="en-US" altLang="en-US"/>
          </a:p>
          <a:p>
            <a:r>
              <a:rPr lang="ru-RU" altLang="en-US"/>
              <a:t>The keyword wait is used for level-sensitive constructs.</a:t>
            </a:r>
          </a:p>
          <a:p>
            <a:r>
              <a:rPr lang="en-US" altLang="en-US"/>
              <a:t>a</a:t>
            </a:r>
            <a:r>
              <a:rPr lang="ru-RU" altLang="en-US"/>
              <a:t>lways</a:t>
            </a:r>
            <a:endParaRPr lang="en-US" altLang="en-US"/>
          </a:p>
          <a:p>
            <a:r>
              <a:rPr lang="ru-RU" altLang="en-US"/>
              <a:t>wait (count_enable)</a:t>
            </a:r>
            <a:r>
              <a:rPr lang="en-US" altLang="en-US"/>
              <a:t>;</a:t>
            </a:r>
          </a:p>
          <a:p>
            <a:r>
              <a:rPr lang="ru-RU" altLang="en-US"/>
              <a:t>#20 count = count + 1;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18">
            <a:extLst>
              <a:ext uri="{FF2B5EF4-FFF2-40B4-BE49-F238E27FC236}">
                <a16:creationId xmlns:a16="http://schemas.microsoft.com/office/drawing/2014/main" id="{B19B525B-B979-CB47-8156-1DFA62686267}"/>
              </a:ext>
            </a:extLst>
          </p:cNvPr>
          <p:cNvSpPr>
            <a:spLocks noChangeArrowheads="1"/>
          </p:cNvSpPr>
          <p:nvPr/>
        </p:nvSpPr>
        <p:spPr bwMode="auto">
          <a:xfrm>
            <a:off x="6167439" y="2679701"/>
            <a:ext cx="4321175"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aphicFrame>
        <p:nvGraphicFramePr>
          <p:cNvPr id="8" name="Table 7">
            <a:extLst>
              <a:ext uri="{FF2B5EF4-FFF2-40B4-BE49-F238E27FC236}">
                <a16:creationId xmlns:a16="http://schemas.microsoft.com/office/drawing/2014/main" id="{11BBD4BA-FE08-4020-AEAD-94C7D08A5540}"/>
              </a:ext>
            </a:extLst>
          </p:cNvPr>
          <p:cNvGraphicFramePr>
            <a:graphicFrameLocks noGrp="1"/>
          </p:cNvGraphicFramePr>
          <p:nvPr/>
        </p:nvGraphicFramePr>
        <p:xfrm>
          <a:off x="2209800" y="2971801"/>
          <a:ext cx="3810000" cy="2615126"/>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tblGrid>
              <a:tr h="26146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000FF"/>
                          </a:solidFill>
                          <a:effectLst/>
                          <a:latin typeface="Arial" pitchFamily="34" charset="0"/>
                          <a:cs typeface="Arial" pitchFamily="34" charset="0"/>
                        </a:rPr>
                        <a:t>function  </a:t>
                      </a:r>
                      <a:r>
                        <a:rPr kumimoji="0" lang="en-US" sz="1800" b="0" i="0" u="none" strike="noStrike" cap="none" normalizeH="0" baseline="0" dirty="0" err="1">
                          <a:ln>
                            <a:noFill/>
                          </a:ln>
                          <a:solidFill>
                            <a:schemeClr val="tx1"/>
                          </a:solidFill>
                          <a:effectLst/>
                          <a:latin typeface="Arial" pitchFamily="34" charset="0"/>
                          <a:cs typeface="Arial" pitchFamily="34" charset="0"/>
                        </a:rPr>
                        <a:t>function_name</a:t>
                      </a:r>
                      <a:r>
                        <a:rPr kumimoji="0" lang="en-US" sz="18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input declarations;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variable declarations;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parameter declarations;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Arial" pitchFamily="34" charset="0"/>
                          <a:cs typeface="Arial" pitchFamily="34" charset="0"/>
                        </a:rPr>
                        <a:t>procedural_statement</a:t>
                      </a:r>
                      <a:r>
                        <a:rPr kumimoji="0" lang="en-US" sz="18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rgbClr val="0000FF"/>
                          </a:solidFill>
                          <a:effectLst/>
                          <a:latin typeface="Arial" pitchFamily="34" charset="0"/>
                          <a:cs typeface="Arial" pitchFamily="34" charset="0"/>
                        </a:rPr>
                        <a:t>endfunction</a:t>
                      </a:r>
                      <a:endParaRPr kumimoji="0" lang="ru-RU" sz="1800" b="0" i="0" u="none" strike="noStrike" cap="none" normalizeH="0" baseline="0" dirty="0">
                        <a:ln>
                          <a:noFill/>
                        </a:ln>
                        <a:solidFill>
                          <a:srgbClr val="0000FF"/>
                        </a:solidFill>
                        <a:effectLst/>
                        <a:latin typeface="Arial" pitchFamily="34" charset="0"/>
                        <a:cs typeface="Arial" pitchFamily="34" charset="0"/>
                      </a:endParaRPr>
                    </a:p>
                    <a:p>
                      <a:endParaRPr lang="ru-RU" sz="1800" dirty="0"/>
                    </a:p>
                  </a:txBody>
                  <a:tcPr marT="45691" marB="45691">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
        <p:nvSpPr>
          <p:cNvPr id="105481" name="Title 8">
            <a:extLst>
              <a:ext uri="{FF2B5EF4-FFF2-40B4-BE49-F238E27FC236}">
                <a16:creationId xmlns:a16="http://schemas.microsoft.com/office/drawing/2014/main" id="{EBC0F5B3-8EAE-0A7A-AD11-1A75E8F75B5C}"/>
              </a:ext>
            </a:extLst>
          </p:cNvPr>
          <p:cNvSpPr>
            <a:spLocks noGrp="1" noChangeArrowheads="1"/>
          </p:cNvSpPr>
          <p:nvPr>
            <p:ph type="title"/>
          </p:nvPr>
        </p:nvSpPr>
        <p:spPr/>
        <p:txBody>
          <a:bodyPr>
            <a:normAutofit/>
          </a:bodyPr>
          <a:lstStyle/>
          <a:p>
            <a:r>
              <a:rPr lang="en-US" altLang="en-US" dirty="0"/>
              <a:t>Functions and Tasks</a:t>
            </a:r>
            <a:endParaRPr lang="ru-RU" altLang="en-US" dirty="0"/>
          </a:p>
        </p:txBody>
      </p:sp>
      <p:sp>
        <p:nvSpPr>
          <p:cNvPr id="105482" name="Content Placeholder 9">
            <a:extLst>
              <a:ext uri="{FF2B5EF4-FFF2-40B4-BE49-F238E27FC236}">
                <a16:creationId xmlns:a16="http://schemas.microsoft.com/office/drawing/2014/main" id="{3434FA34-1208-012B-EB75-D7F7A8CD4305}"/>
              </a:ext>
            </a:extLst>
          </p:cNvPr>
          <p:cNvSpPr>
            <a:spLocks noGrp="1" noChangeArrowheads="1"/>
          </p:cNvSpPr>
          <p:nvPr>
            <p:ph type="body" sz="quarter" idx="10"/>
          </p:nvPr>
        </p:nvSpPr>
        <p:spPr/>
        <p:txBody>
          <a:bodyPr/>
          <a:lstStyle/>
          <a:p>
            <a:r>
              <a:rPr lang="en-US" altLang="en-US" dirty="0"/>
              <a:t>A function is a procedure used in an expression.</a:t>
            </a:r>
          </a:p>
          <a:p>
            <a:r>
              <a:rPr lang="en-US" altLang="en-US" dirty="0"/>
              <a:t>Keywords: function, </a:t>
            </a:r>
            <a:r>
              <a:rPr lang="en-US" altLang="en-US" dirty="0" err="1"/>
              <a:t>endfunction</a:t>
            </a:r>
            <a:endParaRPr lang="en-US" altLang="en-US" dirty="0"/>
          </a:p>
          <a:p>
            <a:r>
              <a:rPr lang="en-US" altLang="en-US" dirty="0"/>
              <a:t>Syntax of function definition:</a:t>
            </a:r>
            <a:endParaRPr lang="ru-RU" altLang="en-US" dirty="0"/>
          </a:p>
          <a:p>
            <a:endParaRPr lang="en-US" altLang="en-US" dirty="0"/>
          </a:p>
          <a:p>
            <a:endParaRPr lang="ru-RU" altLang="en-US" dirty="0"/>
          </a:p>
        </p:txBody>
      </p:sp>
      <p:sp>
        <p:nvSpPr>
          <p:cNvPr id="3" name="TextBox 2">
            <a:extLst>
              <a:ext uri="{FF2B5EF4-FFF2-40B4-BE49-F238E27FC236}">
                <a16:creationId xmlns:a16="http://schemas.microsoft.com/office/drawing/2014/main" id="{FCD80BCD-C465-51E8-1CA6-2EF84DD76025}"/>
              </a:ext>
            </a:extLst>
          </p:cNvPr>
          <p:cNvSpPr txBox="1"/>
          <p:nvPr/>
        </p:nvSpPr>
        <p:spPr>
          <a:xfrm>
            <a:off x="6520543" y="3080657"/>
            <a:ext cx="5362218" cy="1631216"/>
          </a:xfrm>
          <a:prstGeom prst="rect">
            <a:avLst/>
          </a:prstGeom>
          <a:noFill/>
        </p:spPr>
        <p:txBody>
          <a:bodyPr wrap="square" rtlCol="0">
            <a:spAutoFit/>
          </a:bodyPr>
          <a:lstStyle/>
          <a:p>
            <a:pPr algn="l"/>
            <a:r>
              <a:rPr lang="en-US" sz="2000" dirty="0"/>
              <a:t>The function is called by writing </a:t>
            </a:r>
            <a:r>
              <a:rPr lang="en-US" sz="2000" dirty="0" err="1"/>
              <a:t>function_name</a:t>
            </a:r>
            <a:r>
              <a:rPr lang="en-US" sz="2000" dirty="0"/>
              <a:t> (list of expressions).</a:t>
            </a:r>
          </a:p>
          <a:p>
            <a:pPr algn="l"/>
            <a:r>
              <a:rPr lang="en-US" sz="2000" dirty="0"/>
              <a:t>The expressions are evaluated and assigned to the function’s inputs in the order that they appear in the function definition.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4">
            <a:extLst>
              <a:ext uri="{FF2B5EF4-FFF2-40B4-BE49-F238E27FC236}">
                <a16:creationId xmlns:a16="http://schemas.microsoft.com/office/drawing/2014/main" id="{68B760F0-0641-0A33-2161-C667C5B61F24}"/>
              </a:ext>
            </a:extLst>
          </p:cNvPr>
          <p:cNvSpPr>
            <a:spLocks noGrp="1" noChangeArrowheads="1"/>
          </p:cNvSpPr>
          <p:nvPr>
            <p:ph type="title"/>
          </p:nvPr>
        </p:nvSpPr>
        <p:spPr/>
        <p:txBody>
          <a:bodyPr>
            <a:normAutofit/>
          </a:bodyPr>
          <a:lstStyle/>
          <a:p>
            <a:r>
              <a:rPr lang="en-US" altLang="en-US" dirty="0"/>
              <a:t>Functions: Example</a:t>
            </a:r>
            <a:endParaRPr lang="ru-RU" altLang="en-US" dirty="0"/>
          </a:p>
        </p:txBody>
      </p:sp>
      <p:sp>
        <p:nvSpPr>
          <p:cNvPr id="106499" name="Content Placeholder 5">
            <a:extLst>
              <a:ext uri="{FF2B5EF4-FFF2-40B4-BE49-F238E27FC236}">
                <a16:creationId xmlns:a16="http://schemas.microsoft.com/office/drawing/2014/main" id="{8AAE5F2C-3D8C-8985-66A8-A4658050B971}"/>
              </a:ext>
            </a:extLst>
          </p:cNvPr>
          <p:cNvSpPr>
            <a:spLocks noGrp="1" noChangeArrowheads="1"/>
          </p:cNvSpPr>
          <p:nvPr>
            <p:ph type="body" sz="quarter" idx="10"/>
          </p:nvPr>
        </p:nvSpPr>
        <p:spPr/>
        <p:txBody>
          <a:bodyPr/>
          <a:lstStyle/>
          <a:p>
            <a:r>
              <a:rPr lang="en-US" altLang="en-US" dirty="0"/>
              <a:t>Description in Verilog of comparator (&lt;=) and multiplexor</a:t>
            </a:r>
          </a:p>
          <a:p>
            <a:pPr marL="0" indent="0">
              <a:buNone/>
            </a:pPr>
            <a:r>
              <a:rPr lang="en-US" altLang="en-US" sz="1600" dirty="0"/>
              <a:t>module </a:t>
            </a:r>
            <a:r>
              <a:rPr lang="en-US" altLang="en-US" sz="1600" dirty="0" err="1"/>
              <a:t>comp_min</a:t>
            </a:r>
            <a:r>
              <a:rPr lang="en-US" altLang="en-US" sz="1600" dirty="0"/>
              <a:t> (</a:t>
            </a:r>
            <a:r>
              <a:rPr lang="en-US" altLang="en-US" sz="1600" dirty="0" err="1"/>
              <a:t>a,b,outmin</a:t>
            </a:r>
            <a:r>
              <a:rPr lang="en-US" altLang="en-US" sz="1600" dirty="0"/>
              <a:t>);</a:t>
            </a:r>
          </a:p>
          <a:p>
            <a:pPr marL="0" indent="0">
              <a:buNone/>
            </a:pPr>
            <a:r>
              <a:rPr lang="en-US" altLang="en-US" sz="1600" dirty="0"/>
              <a:t>	input[7:0]  </a:t>
            </a:r>
            <a:r>
              <a:rPr lang="en-US" altLang="en-US" sz="1600" dirty="0" err="1"/>
              <a:t>a,b</a:t>
            </a:r>
            <a:r>
              <a:rPr lang="en-US" altLang="en-US" sz="1600" dirty="0"/>
              <a:t>;</a:t>
            </a:r>
          </a:p>
          <a:p>
            <a:pPr marL="0" indent="0">
              <a:buNone/>
            </a:pPr>
            <a:r>
              <a:rPr lang="en-US" altLang="en-US" sz="1600" dirty="0"/>
              <a:t>	output[7:0] </a:t>
            </a:r>
            <a:r>
              <a:rPr lang="en-US" altLang="en-US" sz="1600" dirty="0" err="1"/>
              <a:t>outmin</a:t>
            </a:r>
            <a:r>
              <a:rPr lang="en-US" altLang="en-US" sz="1600" dirty="0"/>
              <a:t>;</a:t>
            </a:r>
          </a:p>
          <a:p>
            <a:pPr marL="0" indent="0">
              <a:buNone/>
            </a:pPr>
            <a:r>
              <a:rPr lang="en-US" altLang="en-US" sz="1600" dirty="0"/>
              <a:t>function[7:0] compare;</a:t>
            </a:r>
          </a:p>
          <a:p>
            <a:pPr marL="0" indent="0">
              <a:buNone/>
            </a:pPr>
            <a:r>
              <a:rPr lang="en-US" altLang="en-US" sz="1600" dirty="0"/>
              <a:t>	input[7:0] </a:t>
            </a:r>
            <a:r>
              <a:rPr lang="en-US" altLang="en-US" sz="1600" dirty="0" err="1"/>
              <a:t>ina,inb</a:t>
            </a:r>
            <a:r>
              <a:rPr lang="en-US" altLang="en-US" sz="1600" dirty="0"/>
              <a:t>;</a:t>
            </a:r>
          </a:p>
          <a:p>
            <a:pPr marL="0" indent="0">
              <a:buNone/>
            </a:pPr>
            <a:r>
              <a:rPr lang="en-US" altLang="en-US" sz="1600" dirty="0"/>
              <a:t>begin</a:t>
            </a:r>
          </a:p>
          <a:p>
            <a:pPr marL="0" indent="0">
              <a:buNone/>
            </a:pPr>
            <a:r>
              <a:rPr lang="en-US" altLang="en-US" sz="1600" dirty="0"/>
              <a:t>	if(</a:t>
            </a:r>
            <a:r>
              <a:rPr lang="en-US" altLang="en-US" sz="1600" dirty="0" err="1"/>
              <a:t>ina</a:t>
            </a:r>
            <a:r>
              <a:rPr lang="en-US" altLang="en-US" sz="1600" dirty="0"/>
              <a:t>&lt;=</a:t>
            </a:r>
            <a:r>
              <a:rPr lang="en-US" altLang="en-US" sz="1600" dirty="0" err="1"/>
              <a:t>inb</a:t>
            </a:r>
            <a:r>
              <a:rPr lang="en-US" altLang="en-US" sz="1600" dirty="0"/>
              <a:t>)    compare =</a:t>
            </a:r>
            <a:r>
              <a:rPr lang="en-US" altLang="en-US" sz="1600" dirty="0" err="1"/>
              <a:t>ina</a:t>
            </a:r>
            <a:r>
              <a:rPr lang="en-US" altLang="en-US" sz="1600" dirty="0"/>
              <a:t>;</a:t>
            </a:r>
          </a:p>
          <a:p>
            <a:pPr marL="0" indent="0">
              <a:buNone/>
            </a:pPr>
            <a:r>
              <a:rPr lang="en-US" altLang="en-US" sz="1600" dirty="0"/>
              <a:t>	else compare =</a:t>
            </a:r>
            <a:r>
              <a:rPr lang="en-US" altLang="en-US" sz="1600" dirty="0" err="1"/>
              <a:t>inb</a:t>
            </a:r>
            <a:r>
              <a:rPr lang="en-US" altLang="en-US" sz="1600" dirty="0"/>
              <a:t>;</a:t>
            </a:r>
          </a:p>
          <a:p>
            <a:pPr marL="0" indent="0">
              <a:buNone/>
            </a:pPr>
            <a:r>
              <a:rPr lang="en-US" altLang="en-US" sz="1600" dirty="0"/>
              <a:t>end</a:t>
            </a:r>
          </a:p>
          <a:p>
            <a:pPr marL="0" indent="0">
              <a:buNone/>
            </a:pPr>
            <a:r>
              <a:rPr lang="en-US" altLang="en-US" sz="1600" dirty="0" err="1"/>
              <a:t>endfunction</a:t>
            </a:r>
            <a:endParaRPr lang="en-US" altLang="en-US" sz="1600" dirty="0"/>
          </a:p>
          <a:p>
            <a:pPr marL="0" indent="0">
              <a:buNone/>
            </a:pPr>
            <a:r>
              <a:rPr lang="en-US" altLang="en-US" sz="1600" dirty="0"/>
              <a:t>	assign  </a:t>
            </a:r>
            <a:r>
              <a:rPr lang="en-US" altLang="en-US" sz="1600" dirty="0" err="1"/>
              <a:t>outmin</a:t>
            </a:r>
            <a:r>
              <a:rPr lang="en-US" altLang="en-US" sz="1600" dirty="0"/>
              <a:t>=compare(</a:t>
            </a:r>
            <a:r>
              <a:rPr lang="en-US" altLang="en-US" sz="1600" dirty="0" err="1"/>
              <a:t>a,b</a:t>
            </a:r>
            <a:r>
              <a:rPr lang="en-US" altLang="en-US" sz="1600" dirty="0"/>
              <a:t>);</a:t>
            </a:r>
          </a:p>
          <a:p>
            <a:pPr marL="0" indent="0">
              <a:buNone/>
            </a:pPr>
            <a:r>
              <a:rPr lang="en-US" altLang="en-US" sz="1600" dirty="0" err="1"/>
              <a:t>endmodule</a:t>
            </a:r>
            <a:endParaRPr lang="ru-RU" altLang="en-US" sz="1600" dirty="0"/>
          </a:p>
          <a:p>
            <a:endParaRPr lang="ru-RU"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9" name="Title 7">
            <a:extLst>
              <a:ext uri="{FF2B5EF4-FFF2-40B4-BE49-F238E27FC236}">
                <a16:creationId xmlns:a16="http://schemas.microsoft.com/office/drawing/2014/main" id="{BA9EDE86-B076-6F1B-C02B-2A9AFA86F7ED}"/>
              </a:ext>
            </a:extLst>
          </p:cNvPr>
          <p:cNvSpPr>
            <a:spLocks noGrp="1" noChangeArrowheads="1"/>
          </p:cNvSpPr>
          <p:nvPr>
            <p:ph type="title"/>
          </p:nvPr>
        </p:nvSpPr>
        <p:spPr/>
        <p:txBody>
          <a:bodyPr>
            <a:normAutofit/>
          </a:bodyPr>
          <a:lstStyle/>
          <a:p>
            <a:r>
              <a:rPr lang="en-US" altLang="en-US" dirty="0"/>
              <a:t>Tasks</a:t>
            </a:r>
            <a:endParaRPr lang="ru-RU" altLang="en-US" dirty="0"/>
          </a:p>
        </p:txBody>
      </p:sp>
      <p:sp>
        <p:nvSpPr>
          <p:cNvPr id="107522" name="Content Placeholder 8">
            <a:extLst>
              <a:ext uri="{FF2B5EF4-FFF2-40B4-BE49-F238E27FC236}">
                <a16:creationId xmlns:a16="http://schemas.microsoft.com/office/drawing/2014/main" id="{E68AE6C4-C039-3E34-AF56-B6F78F151218}"/>
              </a:ext>
            </a:extLst>
          </p:cNvPr>
          <p:cNvSpPr>
            <a:spLocks noGrp="1" noChangeArrowheads="1"/>
          </p:cNvSpPr>
          <p:nvPr>
            <p:ph type="body" sz="quarter" idx="10"/>
          </p:nvPr>
        </p:nvSpPr>
        <p:spPr/>
        <p:txBody>
          <a:bodyPr/>
          <a:lstStyle/>
          <a:p>
            <a:r>
              <a:rPr lang="en-US" altLang="en-US"/>
              <a:t>A task is a procedure called from another procedure.</a:t>
            </a:r>
          </a:p>
          <a:p>
            <a:r>
              <a:rPr lang="en-US" altLang="en-US"/>
              <a:t>Keyword: task, endtask</a:t>
            </a:r>
            <a:endParaRPr lang="ru-RU" altLang="en-US"/>
          </a:p>
          <a:p>
            <a:endParaRPr lang="ru-RU" altLang="en-US"/>
          </a:p>
        </p:txBody>
      </p:sp>
      <p:graphicFrame>
        <p:nvGraphicFramePr>
          <p:cNvPr id="6" name="Table 5">
            <a:extLst>
              <a:ext uri="{FF2B5EF4-FFF2-40B4-BE49-F238E27FC236}">
                <a16:creationId xmlns:a16="http://schemas.microsoft.com/office/drawing/2014/main" id="{5C479A96-F5DC-4AD3-A0ED-75528D6A3B0A}"/>
              </a:ext>
            </a:extLst>
          </p:cNvPr>
          <p:cNvGraphicFramePr>
            <a:graphicFrameLocks noGrp="1"/>
          </p:cNvGraphicFramePr>
          <p:nvPr/>
        </p:nvGraphicFramePr>
        <p:xfrm>
          <a:off x="4038600" y="2514601"/>
          <a:ext cx="4038600" cy="2919932"/>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20000"/>
                    </a:ext>
                  </a:extLst>
                </a:gridCol>
              </a:tblGrid>
              <a:tr h="29194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00FF"/>
                          </a:solidFill>
                          <a:effectLst/>
                          <a:latin typeface="Arial" pitchFamily="34" charset="0"/>
                          <a:cs typeface="Arial" pitchFamily="34" charset="0"/>
                        </a:rPr>
                        <a:t>task</a:t>
                      </a:r>
                      <a:r>
                        <a:rPr kumimoji="0" lang="en-US" sz="1600" b="0" i="0" u="none" strike="noStrike" cap="none" normalizeH="0" baseline="0" dirty="0">
                          <a:ln>
                            <a:noFill/>
                          </a:ln>
                          <a:solidFill>
                            <a:srgbClr val="0070C0"/>
                          </a:solidFill>
                          <a:effectLst/>
                          <a:latin typeface="Arial" pitchFamily="34" charset="0"/>
                          <a:cs typeface="Arial" pitchFamily="34" charset="0"/>
                        </a:rPr>
                        <a:t> </a:t>
                      </a:r>
                      <a:r>
                        <a:rPr kumimoji="0" lang="en-US" sz="1600" b="0" i="0" u="none" strike="noStrike" cap="none" normalizeH="0" baseline="0" dirty="0" err="1">
                          <a:ln>
                            <a:noFill/>
                          </a:ln>
                          <a:solidFill>
                            <a:schemeClr val="tx1"/>
                          </a:solidFill>
                          <a:effectLst/>
                          <a:latin typeface="Arial" pitchFamily="34" charset="0"/>
                          <a:cs typeface="Arial" pitchFamily="34" charset="0"/>
                        </a:rPr>
                        <a:t>task_name</a:t>
                      </a:r>
                      <a:r>
                        <a:rPr kumimoji="0" lang="en-US" sz="16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input declarations;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pitchFamily="34" charset="0"/>
                          <a:cs typeface="Arial" pitchFamily="34" charset="0"/>
                        </a:rPr>
                        <a:t>inout</a:t>
                      </a:r>
                      <a:r>
                        <a:rPr kumimoji="0" lang="en-US" sz="1600" b="0" i="0" u="none" strike="noStrike" cap="none" normalizeH="0" baseline="0" dirty="0">
                          <a:ln>
                            <a:noFill/>
                          </a:ln>
                          <a:solidFill>
                            <a:schemeClr val="tx1"/>
                          </a:solidFill>
                          <a:effectLst/>
                          <a:latin typeface="Arial" pitchFamily="34" charset="0"/>
                          <a:cs typeface="Arial" pitchFamily="34" charset="0"/>
                        </a:rPr>
                        <a:t> declarations;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output declarations;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variable declarations;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parameter declarations;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pitchFamily="34" charset="0"/>
                          <a:cs typeface="Arial" pitchFamily="34" charset="0"/>
                        </a:rPr>
                        <a:t>procedural_statement</a:t>
                      </a:r>
                      <a:r>
                        <a:rPr kumimoji="0" lang="en-US" sz="16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err="1">
                          <a:ln>
                            <a:noFill/>
                          </a:ln>
                          <a:solidFill>
                            <a:srgbClr val="0000FF"/>
                          </a:solidFill>
                          <a:effectLst/>
                          <a:latin typeface="Arial" pitchFamily="34" charset="0"/>
                          <a:cs typeface="Arial" pitchFamily="34" charset="0"/>
                        </a:rPr>
                        <a:t>endtask</a:t>
                      </a:r>
                      <a:endParaRPr kumimoji="0" lang="ru-RU" sz="1600" b="0" i="0" u="none" strike="noStrike" cap="none" normalizeH="0" baseline="0" dirty="0">
                        <a:ln>
                          <a:noFill/>
                        </a:ln>
                        <a:solidFill>
                          <a:srgbClr val="0000FF"/>
                        </a:solidFill>
                        <a:effectLst/>
                        <a:latin typeface="Arial" pitchFamily="34" charset="0"/>
                        <a:cs typeface="Arial" pitchFamily="34" charset="0"/>
                      </a:endParaRPr>
                    </a:p>
                    <a:p>
                      <a:endParaRPr lang="ru-RU" sz="1600" dirty="0"/>
                    </a:p>
                  </a:txBody>
                  <a:tcPr marT="45694" marB="45694">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5">
            <a:extLst>
              <a:ext uri="{FF2B5EF4-FFF2-40B4-BE49-F238E27FC236}">
                <a16:creationId xmlns:a16="http://schemas.microsoft.com/office/drawing/2014/main" id="{15A5E715-C4E7-600E-DAF1-FE12C396C4F0}"/>
              </a:ext>
            </a:extLst>
          </p:cNvPr>
          <p:cNvSpPr txBox="1">
            <a:spLocks noChangeArrowheads="1"/>
          </p:cNvSpPr>
          <p:nvPr/>
        </p:nvSpPr>
        <p:spPr bwMode="auto">
          <a:xfrm>
            <a:off x="1524000" y="155733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400"/>
          </a:p>
        </p:txBody>
      </p:sp>
      <p:sp>
        <p:nvSpPr>
          <p:cNvPr id="108547" name="Title 5">
            <a:extLst>
              <a:ext uri="{FF2B5EF4-FFF2-40B4-BE49-F238E27FC236}">
                <a16:creationId xmlns:a16="http://schemas.microsoft.com/office/drawing/2014/main" id="{9706F3FD-1724-2D0F-F5E4-B8F5FD2895B1}"/>
              </a:ext>
            </a:extLst>
          </p:cNvPr>
          <p:cNvSpPr>
            <a:spLocks noGrp="1" noChangeArrowheads="1"/>
          </p:cNvSpPr>
          <p:nvPr>
            <p:ph type="title"/>
          </p:nvPr>
        </p:nvSpPr>
        <p:spPr/>
        <p:txBody>
          <a:bodyPr>
            <a:normAutofit/>
          </a:bodyPr>
          <a:lstStyle/>
          <a:p>
            <a:r>
              <a:rPr lang="en-US" altLang="en-US" dirty="0"/>
              <a:t>Example</a:t>
            </a:r>
            <a:endParaRPr lang="ru-RU" altLang="en-US" dirty="0"/>
          </a:p>
        </p:txBody>
      </p:sp>
      <p:sp>
        <p:nvSpPr>
          <p:cNvPr id="108548" name="Content Placeholder 6">
            <a:extLst>
              <a:ext uri="{FF2B5EF4-FFF2-40B4-BE49-F238E27FC236}">
                <a16:creationId xmlns:a16="http://schemas.microsoft.com/office/drawing/2014/main" id="{75C4E101-597A-D1EC-D85A-BBED6EEE7B75}"/>
              </a:ext>
            </a:extLst>
          </p:cNvPr>
          <p:cNvSpPr>
            <a:spLocks noGrp="1" noChangeArrowheads="1"/>
          </p:cNvSpPr>
          <p:nvPr>
            <p:ph type="body" sz="quarter" idx="10"/>
          </p:nvPr>
        </p:nvSpPr>
        <p:spPr/>
        <p:txBody>
          <a:bodyPr/>
          <a:lstStyle/>
          <a:p>
            <a:r>
              <a:rPr lang="en-US" altLang="en-US" sz="2000" dirty="0"/>
              <a:t>module operation (</a:t>
            </a:r>
            <a:r>
              <a:rPr lang="en-US" altLang="en-US" sz="2000" dirty="0" err="1"/>
              <a:t>ina</a:t>
            </a:r>
            <a:r>
              <a:rPr lang="en-US" altLang="en-US" sz="2000" dirty="0"/>
              <a:t>, </a:t>
            </a:r>
            <a:r>
              <a:rPr lang="en-US" altLang="en-US" sz="2000" dirty="0" err="1"/>
              <a:t>inb</a:t>
            </a:r>
            <a:r>
              <a:rPr lang="en-US" altLang="en-US" sz="2000" dirty="0"/>
              <a:t>, </a:t>
            </a:r>
            <a:r>
              <a:rPr lang="en-US" altLang="en-US" sz="2000" dirty="0" err="1"/>
              <a:t>start,C,D,E</a:t>
            </a:r>
            <a:r>
              <a:rPr lang="en-US" altLang="en-US" sz="2000" dirty="0"/>
              <a:t>);</a:t>
            </a:r>
          </a:p>
          <a:p>
            <a:r>
              <a:rPr lang="en-US" altLang="en-US" sz="2000" dirty="0"/>
              <a:t>input[15:0] </a:t>
            </a:r>
            <a:r>
              <a:rPr lang="en-US" altLang="en-US" sz="2000" dirty="0" err="1"/>
              <a:t>ina</a:t>
            </a:r>
            <a:r>
              <a:rPr lang="en-US" altLang="en-US" sz="2000" dirty="0"/>
              <a:t>, </a:t>
            </a:r>
            <a:r>
              <a:rPr lang="en-US" altLang="en-US" sz="2000" dirty="0" err="1"/>
              <a:t>inb</a:t>
            </a:r>
            <a:r>
              <a:rPr lang="en-US" altLang="en-US" sz="2000" dirty="0"/>
              <a:t>;</a:t>
            </a:r>
          </a:p>
          <a:p>
            <a:r>
              <a:rPr lang="en-US" altLang="en-US" sz="2000" dirty="0"/>
              <a:t>input start;</a:t>
            </a:r>
          </a:p>
          <a:p>
            <a:r>
              <a:rPr lang="en-US" altLang="en-US" sz="2000" dirty="0"/>
              <a:t>reg[15:0] A,B;</a:t>
            </a:r>
          </a:p>
          <a:p>
            <a:r>
              <a:rPr lang="en-US" altLang="en-US" sz="2000" dirty="0"/>
              <a:t>output C,D,E;</a:t>
            </a:r>
          </a:p>
          <a:p>
            <a:r>
              <a:rPr lang="en-US" altLang="en-US" sz="2000" dirty="0"/>
              <a:t>reg C,D,E;</a:t>
            </a:r>
          </a:p>
          <a:p>
            <a:r>
              <a:rPr lang="en-US" altLang="en-US" sz="2000" dirty="0"/>
              <a:t>parameter delay=10;</a:t>
            </a:r>
          </a:p>
          <a:p>
            <a:r>
              <a:rPr lang="en-US" altLang="en-US" sz="2000" dirty="0"/>
              <a:t>	always@(</a:t>
            </a:r>
            <a:r>
              <a:rPr lang="en-US" altLang="en-US" sz="2000" dirty="0" err="1"/>
              <a:t>posedge</a:t>
            </a:r>
            <a:r>
              <a:rPr lang="en-US" altLang="en-US" sz="2000" dirty="0"/>
              <a:t> start)</a:t>
            </a:r>
          </a:p>
          <a:p>
            <a:r>
              <a:rPr lang="en-US" altLang="en-US" sz="2000" dirty="0"/>
              <a:t>		begin A=</a:t>
            </a:r>
            <a:r>
              <a:rPr lang="en-US" altLang="en-US" sz="2000" dirty="0" err="1"/>
              <a:t>ina</a:t>
            </a:r>
            <a:r>
              <a:rPr lang="en-US" altLang="en-US" sz="2000" dirty="0"/>
              <a:t>; B=</a:t>
            </a:r>
            <a:r>
              <a:rPr lang="en-US" altLang="en-US" sz="2000" dirty="0" err="1"/>
              <a:t>inb</a:t>
            </a:r>
            <a:r>
              <a:rPr lang="en-US" altLang="en-US" sz="2000" dirty="0"/>
              <a:t>;</a:t>
            </a:r>
          </a:p>
          <a:p>
            <a:r>
              <a:rPr lang="en-US" altLang="en-US" sz="2000" dirty="0"/>
              <a:t>		task </a:t>
            </a:r>
            <a:r>
              <a:rPr lang="en-US" altLang="en-US" sz="2000" dirty="0" err="1"/>
              <a:t>reduction_oper</a:t>
            </a:r>
            <a:r>
              <a:rPr lang="en-US" altLang="en-US" sz="2000" dirty="0"/>
              <a:t> (C,D,E,A,B);//invoke the task</a:t>
            </a:r>
          </a:p>
          <a:p>
            <a:r>
              <a:rPr lang="en-US" altLang="en-US" sz="2000" dirty="0"/>
              <a:t>						   //reduction</a:t>
            </a:r>
          </a:p>
          <a:p>
            <a:r>
              <a:rPr lang="en-US" altLang="en-US" sz="2000" dirty="0"/>
              <a:t>		end</a:t>
            </a:r>
          </a:p>
          <a:p>
            <a:endParaRPr lang="ru-RU"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3">
            <a:extLst>
              <a:ext uri="{FF2B5EF4-FFF2-40B4-BE49-F238E27FC236}">
                <a16:creationId xmlns:a16="http://schemas.microsoft.com/office/drawing/2014/main" id="{6E9E5603-943F-014C-D666-BB4AE99B3CD1}"/>
              </a:ext>
            </a:extLst>
          </p:cNvPr>
          <p:cNvSpPr>
            <a:spLocks noGrp="1" noChangeArrowheads="1"/>
          </p:cNvSpPr>
          <p:nvPr>
            <p:ph type="title"/>
          </p:nvPr>
        </p:nvSpPr>
        <p:spPr/>
        <p:txBody>
          <a:bodyPr>
            <a:normAutofit/>
          </a:bodyPr>
          <a:lstStyle/>
          <a:p>
            <a:r>
              <a:rPr lang="en-US" altLang="en-US" dirty="0"/>
              <a:t>Example (2)</a:t>
            </a:r>
            <a:endParaRPr lang="ru-RU" altLang="en-US" dirty="0"/>
          </a:p>
        </p:txBody>
      </p:sp>
      <p:sp>
        <p:nvSpPr>
          <p:cNvPr id="109571" name="Content Placeholder 5">
            <a:extLst>
              <a:ext uri="{FF2B5EF4-FFF2-40B4-BE49-F238E27FC236}">
                <a16:creationId xmlns:a16="http://schemas.microsoft.com/office/drawing/2014/main" id="{479737B7-AE7F-4D2E-B175-C56BDC72811A}"/>
              </a:ext>
            </a:extLst>
          </p:cNvPr>
          <p:cNvSpPr>
            <a:spLocks noGrp="1" noChangeArrowheads="1"/>
          </p:cNvSpPr>
          <p:nvPr>
            <p:ph type="body" sz="quarter" idx="10"/>
          </p:nvPr>
        </p:nvSpPr>
        <p:spPr/>
        <p:txBody>
          <a:bodyPr/>
          <a:lstStyle/>
          <a:p>
            <a:r>
              <a:rPr lang="en-US" altLang="en-US" sz="2200" dirty="0"/>
              <a:t>//define task </a:t>
            </a:r>
            <a:r>
              <a:rPr lang="en-US" altLang="en-US" sz="2200" dirty="0" err="1"/>
              <a:t>reduction_oper</a:t>
            </a:r>
            <a:endParaRPr lang="en-US" altLang="en-US" sz="2200" dirty="0"/>
          </a:p>
          <a:p>
            <a:r>
              <a:rPr lang="en-US" altLang="en-US" sz="2200" dirty="0"/>
              <a:t>task </a:t>
            </a:r>
            <a:r>
              <a:rPr lang="en-US" altLang="en-US" sz="2200" dirty="0" err="1"/>
              <a:t>reduction_oper</a:t>
            </a:r>
            <a:r>
              <a:rPr lang="en-US" altLang="en-US" sz="2200" dirty="0"/>
              <a:t>;</a:t>
            </a:r>
          </a:p>
          <a:p>
            <a:r>
              <a:rPr lang="en-US" altLang="en-US" sz="2200" dirty="0"/>
              <a:t>input [15:0] </a:t>
            </a:r>
            <a:r>
              <a:rPr lang="en-US" altLang="en-US" sz="2200" dirty="0" err="1"/>
              <a:t>a,b</a:t>
            </a:r>
            <a:r>
              <a:rPr lang="en-US" altLang="en-US" sz="2200" dirty="0"/>
              <a:t>; //inputs to the task</a:t>
            </a:r>
          </a:p>
          <a:p>
            <a:r>
              <a:rPr lang="en-US" altLang="en-US" sz="2200" dirty="0"/>
              <a:t>output </a:t>
            </a:r>
            <a:r>
              <a:rPr lang="en-US" altLang="en-US" sz="2200" dirty="0" err="1"/>
              <a:t>c,d,e</a:t>
            </a:r>
            <a:r>
              <a:rPr lang="en-US" altLang="en-US" sz="2200" dirty="0"/>
              <a:t>;</a:t>
            </a:r>
          </a:p>
          <a:p>
            <a:r>
              <a:rPr lang="en-US" altLang="en-US" sz="2200" dirty="0"/>
              <a:t>reg </a:t>
            </a:r>
            <a:r>
              <a:rPr lang="en-US" altLang="en-US" sz="2200" dirty="0" err="1"/>
              <a:t>c,d,e</a:t>
            </a:r>
            <a:r>
              <a:rPr lang="en-US" altLang="en-US" sz="2200" dirty="0"/>
              <a:t>;</a:t>
            </a:r>
            <a:endParaRPr lang="ru-RU" altLang="en-US" sz="2200" dirty="0"/>
          </a:p>
          <a:p>
            <a:r>
              <a:rPr lang="en-US" altLang="en-US" sz="2200" dirty="0"/>
              <a:t>begin  # delay</a:t>
            </a:r>
          </a:p>
          <a:p>
            <a:r>
              <a:rPr lang="en-US" altLang="en-US" sz="2200" dirty="0"/>
              <a:t>	c = &amp;{A,B};</a:t>
            </a:r>
          </a:p>
          <a:p>
            <a:r>
              <a:rPr lang="en-US" altLang="en-US" sz="2200" dirty="0"/>
              <a:t>	d = |{A,B};</a:t>
            </a:r>
          </a:p>
          <a:p>
            <a:r>
              <a:rPr lang="en-US" altLang="en-US" sz="2200" dirty="0"/>
              <a:t>	e = ^{A,B};</a:t>
            </a:r>
          </a:p>
          <a:p>
            <a:r>
              <a:rPr lang="en-US" altLang="en-US" sz="2200" dirty="0"/>
              <a:t>end</a:t>
            </a:r>
          </a:p>
          <a:p>
            <a:r>
              <a:rPr lang="en-US" altLang="en-US" sz="2200" dirty="0" err="1"/>
              <a:t>endmodule</a:t>
            </a:r>
            <a:endParaRPr lang="ru-RU" altLang="en-US" sz="2200" dirty="0"/>
          </a:p>
          <a:p>
            <a:endParaRPr lang="ru-RU"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50EB49C-1573-4C12-9B87-AB019CA1CCCB}"/>
              </a:ext>
            </a:extLst>
          </p:cNvPr>
          <p:cNvGraphicFramePr>
            <a:graphicFrameLocks noGrp="1"/>
          </p:cNvGraphicFramePr>
          <p:nvPr>
            <p:extLst>
              <p:ext uri="{D42A27DB-BD31-4B8C-83A1-F6EECF244321}">
                <p14:modId xmlns:p14="http://schemas.microsoft.com/office/powerpoint/2010/main" val="1561939709"/>
              </p:ext>
            </p:extLst>
          </p:nvPr>
        </p:nvGraphicFramePr>
        <p:xfrm>
          <a:off x="2349500" y="1820864"/>
          <a:ext cx="7467600" cy="3717925"/>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34486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600" b="0" i="0" u="none" strike="noStrike" cap="none" normalizeH="0" baseline="0" dirty="0">
                          <a:ln>
                            <a:noFill/>
                          </a:ln>
                          <a:solidFill>
                            <a:schemeClr val="bg2"/>
                          </a:solidFill>
                          <a:effectLst/>
                          <a:latin typeface="Arial" pitchFamily="34" charset="0"/>
                          <a:cs typeface="Arial" pitchFamily="34" charset="0"/>
                        </a:rPr>
                        <a:t>Functions</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600" b="0" i="0" u="none" strike="noStrike" cap="none" normalizeH="0" baseline="0" dirty="0">
                          <a:ln>
                            <a:noFill/>
                          </a:ln>
                          <a:solidFill>
                            <a:schemeClr val="bg2"/>
                          </a:solidFill>
                          <a:effectLst/>
                          <a:latin typeface="Arial" pitchFamily="34" charset="0"/>
                          <a:cs typeface="Arial" pitchFamily="34" charset="0"/>
                        </a:rPr>
                        <a:t>Tasks</a:t>
                      </a:r>
                    </a:p>
                  </a:txBody>
                  <a:tcPr marT="45712" marB="45712" horzOverflow="overflow"/>
                </a:tc>
                <a:extLst>
                  <a:ext uri="{0D108BD9-81ED-4DB2-BD59-A6C34878D82A}">
                    <a16:rowId xmlns:a16="http://schemas.microsoft.com/office/drawing/2014/main" val="10000"/>
                  </a:ext>
                </a:extLst>
              </a:tr>
              <a:tr h="5385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a:ln>
                            <a:noFill/>
                          </a:ln>
                          <a:solidFill>
                            <a:schemeClr val="tx1"/>
                          </a:solidFill>
                          <a:effectLst/>
                          <a:latin typeface="Arial" pitchFamily="34" charset="0"/>
                          <a:cs typeface="Arial" pitchFamily="34" charset="0"/>
                        </a:rPr>
                        <a:t>A function can enable another function but not another task.</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dirty="0">
                          <a:ln>
                            <a:noFill/>
                          </a:ln>
                          <a:solidFill>
                            <a:schemeClr val="tx1"/>
                          </a:solidFill>
                          <a:effectLst/>
                          <a:latin typeface="Arial" pitchFamily="34" charset="0"/>
                          <a:cs typeface="Arial" pitchFamily="34" charset="0"/>
                        </a:rPr>
                        <a:t>A task can enable other tasks and functions.</a:t>
                      </a:r>
                    </a:p>
                  </a:txBody>
                  <a:tcPr marT="45712" marB="45712" horzOverflow="overflow"/>
                </a:tc>
                <a:extLst>
                  <a:ext uri="{0D108BD9-81ED-4DB2-BD59-A6C34878D82A}">
                    <a16:rowId xmlns:a16="http://schemas.microsoft.com/office/drawing/2014/main" val="10001"/>
                  </a:ext>
                </a:extLst>
              </a:tr>
              <a:tr h="5385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dirty="0">
                          <a:ln>
                            <a:noFill/>
                          </a:ln>
                          <a:solidFill>
                            <a:schemeClr val="tx1"/>
                          </a:solidFill>
                          <a:effectLst/>
                          <a:latin typeface="Arial" pitchFamily="34" charset="0"/>
                          <a:cs typeface="Arial" pitchFamily="34" charset="0"/>
                        </a:rPr>
                        <a:t>Functions always execute in 0 simulation time.</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a:ln>
                            <a:noFill/>
                          </a:ln>
                          <a:solidFill>
                            <a:schemeClr val="tx1"/>
                          </a:solidFill>
                          <a:effectLst/>
                          <a:latin typeface="Arial" pitchFamily="34" charset="0"/>
                          <a:cs typeface="Arial" pitchFamily="34" charset="0"/>
                        </a:rPr>
                        <a:t>Tasks may execute in non-zero simulation time.</a:t>
                      </a:r>
                    </a:p>
                  </a:txBody>
                  <a:tcPr marT="45712" marB="45712" horzOverflow="overflow"/>
                </a:tc>
                <a:extLst>
                  <a:ext uri="{0D108BD9-81ED-4DB2-BD59-A6C34878D82A}">
                    <a16:rowId xmlns:a16="http://schemas.microsoft.com/office/drawing/2014/main" val="10002"/>
                  </a:ext>
                </a:extLst>
              </a:tr>
              <a:tr h="7653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a:ln>
                            <a:noFill/>
                          </a:ln>
                          <a:solidFill>
                            <a:schemeClr val="tx1"/>
                          </a:solidFill>
                          <a:effectLst/>
                          <a:latin typeface="Arial" pitchFamily="34" charset="0"/>
                          <a:cs typeface="Arial" pitchFamily="34" charset="0"/>
                        </a:rPr>
                        <a:t>Functions must not contain any delay, event, or timing control statements.</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a:ln>
                            <a:noFill/>
                          </a:ln>
                          <a:solidFill>
                            <a:schemeClr val="tx1"/>
                          </a:solidFill>
                          <a:effectLst/>
                          <a:latin typeface="Arial" pitchFamily="34" charset="0"/>
                          <a:cs typeface="Arial" pitchFamily="34" charset="0"/>
                        </a:rPr>
                        <a:t>Tasks may contain delay, event, or timing control statements.</a:t>
                      </a:r>
                    </a:p>
                  </a:txBody>
                  <a:tcPr marT="45712" marB="45712" horzOverflow="overflow"/>
                </a:tc>
                <a:extLst>
                  <a:ext uri="{0D108BD9-81ED-4DB2-BD59-A6C34878D82A}">
                    <a16:rowId xmlns:a16="http://schemas.microsoft.com/office/drawing/2014/main" val="10003"/>
                  </a:ext>
                </a:extLst>
              </a:tr>
              <a:tr h="7653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dirty="0">
                          <a:ln>
                            <a:noFill/>
                          </a:ln>
                          <a:solidFill>
                            <a:schemeClr val="tx1"/>
                          </a:solidFill>
                          <a:effectLst/>
                          <a:latin typeface="Arial" pitchFamily="34" charset="0"/>
                          <a:cs typeface="Arial" pitchFamily="34" charset="0"/>
                        </a:rPr>
                        <a:t>Functions must have at least one input argument. They can have more than one input</a:t>
                      </a:r>
                      <a:r>
                        <a:rPr kumimoji="0" lang="en-US" sz="1400" b="0" i="0" u="none" strike="noStrike" cap="none" normalizeH="0" baseline="0" dirty="0">
                          <a:ln>
                            <a:noFill/>
                          </a:ln>
                          <a:solidFill>
                            <a:schemeClr val="tx1"/>
                          </a:solidFill>
                          <a:effectLst/>
                          <a:latin typeface="Arial" pitchFamily="34" charset="0"/>
                          <a:cs typeface="Arial" pitchFamily="34" charset="0"/>
                        </a:rPr>
                        <a:t>.</a:t>
                      </a:r>
                      <a:r>
                        <a:rPr kumimoji="0" lang="ru-RU" sz="1400" b="0" i="0" u="none" strike="noStrike" cap="none" normalizeH="0" baseline="0" dirty="0">
                          <a:ln>
                            <a:noFill/>
                          </a:ln>
                          <a:solidFill>
                            <a:schemeClr val="tx1"/>
                          </a:solidFill>
                          <a:effectLst/>
                          <a:latin typeface="Arial" pitchFamily="34" charset="0"/>
                          <a:cs typeface="Arial" pitchFamily="34" charset="0"/>
                        </a:rPr>
                        <a:t> </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a:ln>
                            <a:noFill/>
                          </a:ln>
                          <a:solidFill>
                            <a:schemeClr val="tx1"/>
                          </a:solidFill>
                          <a:effectLst/>
                          <a:latin typeface="Arial" pitchFamily="34" charset="0"/>
                          <a:cs typeface="Arial" pitchFamily="34" charset="0"/>
                        </a:rPr>
                        <a:t>Tasks may have zero or more arguments of type input, output, or inout.</a:t>
                      </a:r>
                    </a:p>
                  </a:txBody>
                  <a:tcPr marT="45712" marB="45712" horzOverflow="overflow"/>
                </a:tc>
                <a:extLst>
                  <a:ext uri="{0D108BD9-81ED-4DB2-BD59-A6C34878D82A}">
                    <a16:rowId xmlns:a16="http://schemas.microsoft.com/office/drawing/2014/main" val="10004"/>
                  </a:ext>
                </a:extLst>
              </a:tr>
              <a:tr h="7653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a:ln>
                            <a:noFill/>
                          </a:ln>
                          <a:solidFill>
                            <a:schemeClr val="tx1"/>
                          </a:solidFill>
                          <a:effectLst/>
                          <a:latin typeface="Arial" pitchFamily="34" charset="0"/>
                          <a:cs typeface="Arial" pitchFamily="34" charset="0"/>
                        </a:rPr>
                        <a:t>Functions always return a single value. They cannot have output or inout arguments.</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dirty="0">
                          <a:ln>
                            <a:noFill/>
                          </a:ln>
                          <a:solidFill>
                            <a:schemeClr val="tx1"/>
                          </a:solidFill>
                          <a:effectLst/>
                          <a:latin typeface="Arial" pitchFamily="34" charset="0"/>
                          <a:cs typeface="Arial" pitchFamily="34" charset="0"/>
                        </a:rPr>
                        <a:t>Tasks do not return with a value, but can pass multiple values through output and inout arguments.</a:t>
                      </a:r>
                    </a:p>
                  </a:txBody>
                  <a:tcPr marT="45712" marB="45712" horzOverflow="overflow"/>
                </a:tc>
                <a:extLst>
                  <a:ext uri="{0D108BD9-81ED-4DB2-BD59-A6C34878D82A}">
                    <a16:rowId xmlns:a16="http://schemas.microsoft.com/office/drawing/2014/main" val="10005"/>
                  </a:ext>
                </a:extLst>
              </a:tr>
            </a:tbl>
          </a:graphicData>
        </a:graphic>
      </p:graphicFrame>
      <p:sp>
        <p:nvSpPr>
          <p:cNvPr id="3" name="Title 2">
            <a:extLst>
              <a:ext uri="{FF2B5EF4-FFF2-40B4-BE49-F238E27FC236}">
                <a16:creationId xmlns:a16="http://schemas.microsoft.com/office/drawing/2014/main" id="{E0B7DB57-7297-917A-0AA8-B5153F457D61}"/>
              </a:ext>
            </a:extLst>
          </p:cNvPr>
          <p:cNvSpPr>
            <a:spLocks noGrp="1"/>
          </p:cNvSpPr>
          <p:nvPr>
            <p:ph type="title"/>
          </p:nvPr>
        </p:nvSpPr>
        <p:spPr/>
        <p:txBody>
          <a:bodyPr>
            <a:normAutofit/>
          </a:bodyPr>
          <a:lstStyle/>
          <a:p>
            <a:r>
              <a:rPr lang="en-US" dirty="0"/>
              <a:t>Differences between Tasks and Functions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670DAD93-3CAA-4736-857D-C74059D31A43}"/>
              </a:ext>
            </a:extLst>
          </p:cNvPr>
          <p:cNvSpPr>
            <a:spLocks noChangeArrowheads="1"/>
          </p:cNvSpPr>
          <p:nvPr/>
        </p:nvSpPr>
        <p:spPr bwMode="auto">
          <a:xfrm>
            <a:off x="5867400" y="1495425"/>
            <a:ext cx="4267200" cy="2984500"/>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eaLnBrk="1" hangingPunct="1">
              <a:defRPr/>
            </a:pPr>
            <a:endParaRPr lang="en-GB"/>
          </a:p>
        </p:txBody>
      </p:sp>
      <p:sp>
        <p:nvSpPr>
          <p:cNvPr id="90115" name="Rectangle 6">
            <a:extLst>
              <a:ext uri="{FF2B5EF4-FFF2-40B4-BE49-F238E27FC236}">
                <a16:creationId xmlns:a16="http://schemas.microsoft.com/office/drawing/2014/main" id="{EE5C814E-F533-483C-BF4A-075DB38A3642}"/>
              </a:ext>
            </a:extLst>
          </p:cNvPr>
          <p:cNvSpPr>
            <a:spLocks noChangeArrowheads="1"/>
          </p:cNvSpPr>
          <p:nvPr/>
        </p:nvSpPr>
        <p:spPr bwMode="auto">
          <a:xfrm>
            <a:off x="1905000" y="1508125"/>
            <a:ext cx="3581400" cy="2971800"/>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eaLnBrk="1" hangingPunct="1">
              <a:defRPr/>
            </a:pPr>
            <a:endParaRPr lang="en-GB"/>
          </a:p>
        </p:txBody>
      </p:sp>
      <p:sp>
        <p:nvSpPr>
          <p:cNvPr id="111620" name="Text Box 6">
            <a:extLst>
              <a:ext uri="{FF2B5EF4-FFF2-40B4-BE49-F238E27FC236}">
                <a16:creationId xmlns:a16="http://schemas.microsoft.com/office/drawing/2014/main" id="{7A0DD38D-FC0C-40D0-9F94-2E3DDDBBA5C9}"/>
              </a:ext>
            </a:extLst>
          </p:cNvPr>
          <p:cNvSpPr txBox="1">
            <a:spLocks noChangeArrowheads="1"/>
          </p:cNvSpPr>
          <p:nvPr/>
        </p:nvSpPr>
        <p:spPr bwMode="auto">
          <a:xfrm>
            <a:off x="1981200" y="1552575"/>
            <a:ext cx="3505200" cy="2586038"/>
          </a:xfrm>
          <a:prstGeom prst="rect">
            <a:avLst/>
          </a:prstGeom>
          <a:solidFill>
            <a:schemeClr val="accent1">
              <a:lumMod val="20000"/>
              <a:lumOff val="80000"/>
            </a:schemeClr>
          </a:solidFill>
          <a:ln>
            <a:noFill/>
          </a:ln>
        </p:spPr>
        <p:txBody>
          <a:bodyPr>
            <a:spAutoFit/>
          </a:bodyPr>
          <a:lstStyle>
            <a:lvl1pPr marL="342900" indent="-342900">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buFontTx/>
              <a:buAutoNum type="arabicPeriod"/>
              <a:defRPr/>
            </a:pPr>
            <a:r>
              <a:rPr lang="en-US" altLang="en-US" sz="1800">
                <a:solidFill>
                  <a:srgbClr val="0000FF"/>
                </a:solidFill>
              </a:rPr>
              <a:t>`define</a:t>
            </a:r>
          </a:p>
          <a:p>
            <a:pPr eaLnBrk="1" hangingPunct="1">
              <a:buFontTx/>
              <a:buChar char="•"/>
              <a:defRPr/>
            </a:pPr>
            <a:r>
              <a:rPr lang="ru-RU" altLang="en-US" sz="1800"/>
              <a:t> </a:t>
            </a:r>
            <a:r>
              <a:rPr lang="ru-RU" altLang="en-US" sz="1800" b="1"/>
              <a:t>`</a:t>
            </a:r>
            <a:r>
              <a:rPr lang="en-US" altLang="en-US" sz="1800" b="1"/>
              <a:t>define</a:t>
            </a:r>
            <a:r>
              <a:rPr lang="ru-RU" altLang="en-US" sz="1800" b="1"/>
              <a:t>  </a:t>
            </a:r>
            <a:r>
              <a:rPr lang="en-US" altLang="en-US" sz="1800"/>
              <a:t>gate</a:t>
            </a:r>
            <a:r>
              <a:rPr lang="ru-RU" altLang="en-US" sz="1800"/>
              <a:t>_</a:t>
            </a:r>
            <a:r>
              <a:rPr lang="en-US" altLang="en-US" sz="1800"/>
              <a:t>delay</a:t>
            </a:r>
            <a:r>
              <a:rPr lang="ru-RU" altLang="en-US" sz="1800"/>
              <a:t> = 5 </a:t>
            </a:r>
            <a:endParaRPr lang="en-US" altLang="en-US" sz="1800"/>
          </a:p>
          <a:p>
            <a:pPr eaLnBrk="1" hangingPunct="1">
              <a:defRPr/>
            </a:pPr>
            <a:r>
              <a:rPr lang="en-US" altLang="en-US" sz="1800"/>
              <a:t> 	. . .</a:t>
            </a:r>
          </a:p>
          <a:p>
            <a:pPr eaLnBrk="1" hangingPunct="1">
              <a:defRPr/>
            </a:pPr>
            <a:r>
              <a:rPr lang="en-US" altLang="en-US" sz="1800"/>
              <a:t>     </a:t>
            </a:r>
            <a:r>
              <a:rPr lang="ru-RU" altLang="en-US" sz="1800"/>
              <a:t> </a:t>
            </a:r>
            <a:r>
              <a:rPr lang="en-US" altLang="en-US" sz="1800"/>
              <a:t>y</a:t>
            </a:r>
            <a:r>
              <a:rPr lang="ru-RU" altLang="en-US" sz="1800"/>
              <a:t>= # </a:t>
            </a:r>
            <a:r>
              <a:rPr lang="ru-RU" altLang="en-US" sz="1800" b="1"/>
              <a:t>`</a:t>
            </a:r>
            <a:r>
              <a:rPr lang="en-US" altLang="en-US" sz="1800"/>
              <a:t>gate</a:t>
            </a:r>
            <a:r>
              <a:rPr lang="ru-RU" altLang="en-US" sz="1800"/>
              <a:t>_</a:t>
            </a:r>
            <a:r>
              <a:rPr lang="en-US" altLang="en-US" sz="1800"/>
              <a:t>delay</a:t>
            </a:r>
            <a:r>
              <a:rPr lang="ru-RU" altLang="en-US" sz="1800"/>
              <a:t>   </a:t>
            </a:r>
            <a:r>
              <a:rPr lang="en-US" altLang="en-US" sz="1800"/>
              <a:t>a</a:t>
            </a:r>
            <a:r>
              <a:rPr lang="ru-RU" altLang="en-US" sz="1800"/>
              <a:t> &amp; </a:t>
            </a:r>
            <a:r>
              <a:rPr lang="en-US" altLang="en-US" sz="1800"/>
              <a:t>b;</a:t>
            </a:r>
          </a:p>
          <a:p>
            <a:pPr eaLnBrk="1" hangingPunct="1">
              <a:defRPr/>
            </a:pPr>
            <a:r>
              <a:rPr lang="en-US" altLang="en-US" sz="1800"/>
              <a:t>	. . .</a:t>
            </a:r>
          </a:p>
          <a:p>
            <a:pPr eaLnBrk="1" hangingPunct="1">
              <a:buFontTx/>
              <a:buChar char="•"/>
              <a:defRPr/>
            </a:pPr>
            <a:r>
              <a:rPr lang="en-US" altLang="en-US" sz="1800"/>
              <a:t> </a:t>
            </a:r>
            <a:r>
              <a:rPr lang="ru-RU" altLang="en-US" sz="1800" b="1"/>
              <a:t>`</a:t>
            </a:r>
            <a:r>
              <a:rPr lang="en-US" altLang="en-US" sz="1800" b="1"/>
              <a:t>define</a:t>
            </a:r>
            <a:r>
              <a:rPr lang="en-US" altLang="en-US" sz="1800"/>
              <a:t> width</a:t>
            </a:r>
            <a:r>
              <a:rPr lang="ru-RU" altLang="en-US" sz="1800"/>
              <a:t>=32</a:t>
            </a:r>
          </a:p>
          <a:p>
            <a:pPr eaLnBrk="1" hangingPunct="1">
              <a:defRPr/>
            </a:pPr>
            <a:r>
              <a:rPr lang="en-US" altLang="en-US" sz="1800"/>
              <a:t>	</a:t>
            </a:r>
            <a:r>
              <a:rPr lang="ru-RU" altLang="en-US" sz="1800"/>
              <a:t> .  .  .</a:t>
            </a:r>
            <a:endParaRPr lang="en-US" altLang="en-US" sz="1800" b="1"/>
          </a:p>
          <a:p>
            <a:pPr eaLnBrk="1" hangingPunct="1">
              <a:defRPr/>
            </a:pPr>
            <a:r>
              <a:rPr lang="en-US" altLang="en-US" sz="1800" b="1"/>
              <a:t>	reg</a:t>
            </a:r>
            <a:r>
              <a:rPr lang="ru-RU" altLang="en-US" sz="1800"/>
              <a:t> [</a:t>
            </a:r>
            <a:r>
              <a:rPr lang="ru-RU" altLang="en-US" sz="1800" b="1"/>
              <a:t>`</a:t>
            </a:r>
            <a:r>
              <a:rPr lang="en-US" altLang="en-US" sz="1800"/>
              <a:t>width</a:t>
            </a:r>
            <a:r>
              <a:rPr lang="ru-RU" altLang="en-US" sz="1800"/>
              <a:t>-1:0] </a:t>
            </a:r>
            <a:r>
              <a:rPr lang="en-US" altLang="en-US" sz="1800"/>
              <a:t>data</a:t>
            </a:r>
            <a:r>
              <a:rPr lang="ru-RU" altLang="en-US" sz="1800"/>
              <a:t>; </a:t>
            </a:r>
            <a:endParaRPr lang="en-US" altLang="en-US" sz="1800"/>
          </a:p>
          <a:p>
            <a:pPr eaLnBrk="1" hangingPunct="1">
              <a:defRPr/>
            </a:pPr>
            <a:r>
              <a:rPr lang="en-US" altLang="en-US" sz="1800"/>
              <a:t>	. . .</a:t>
            </a:r>
            <a:r>
              <a:rPr lang="ru-RU" altLang="en-US" sz="1800"/>
              <a:t> </a:t>
            </a:r>
            <a:endParaRPr lang="en-US" altLang="en-US" sz="1800"/>
          </a:p>
        </p:txBody>
      </p:sp>
      <p:sp>
        <p:nvSpPr>
          <p:cNvPr id="90118" name="Text Box 5">
            <a:extLst>
              <a:ext uri="{FF2B5EF4-FFF2-40B4-BE49-F238E27FC236}">
                <a16:creationId xmlns:a16="http://schemas.microsoft.com/office/drawing/2014/main" id="{C5944FEA-24D6-4164-9CCC-9076FA8C5D4A}"/>
              </a:ext>
            </a:extLst>
          </p:cNvPr>
          <p:cNvSpPr txBox="1">
            <a:spLocks noChangeArrowheads="1"/>
          </p:cNvSpPr>
          <p:nvPr/>
        </p:nvSpPr>
        <p:spPr bwMode="auto">
          <a:xfrm>
            <a:off x="5897563" y="1508126"/>
            <a:ext cx="4191000" cy="2585323"/>
          </a:xfrm>
          <a:prstGeom prst="rect">
            <a:avLst/>
          </a:prstGeom>
          <a:solidFill>
            <a:schemeClr val="accent1">
              <a:lumMod val="20000"/>
              <a:lumOff val="80000"/>
            </a:schemeClr>
          </a:solidFill>
          <a:ln w="9525">
            <a:noFill/>
            <a:miter lim="800000"/>
            <a:headEnd/>
            <a:tailEnd/>
          </a:ln>
        </p:spPr>
        <p:txBody>
          <a:bodyPr>
            <a:spAutoFit/>
          </a:bodyPr>
          <a:lstStyle/>
          <a:p>
            <a:pPr eaLnBrk="1" hangingPunct="1">
              <a:defRPr/>
            </a:pPr>
            <a:r>
              <a:rPr lang="en-US" dirty="0">
                <a:solidFill>
                  <a:srgbClr val="0000FF"/>
                </a:solidFill>
              </a:rPr>
              <a:t>2. `include</a:t>
            </a:r>
          </a:p>
          <a:p>
            <a:pPr eaLnBrk="1" hangingPunct="1">
              <a:defRPr/>
            </a:pPr>
            <a:r>
              <a:rPr lang="en-US" b="1" dirty="0">
                <a:solidFill>
                  <a:srgbClr val="0000FF"/>
                </a:solidFill>
              </a:rPr>
              <a:t>`</a:t>
            </a:r>
            <a:r>
              <a:rPr lang="en-US" b="1" dirty="0"/>
              <a:t>include "</a:t>
            </a:r>
            <a:r>
              <a:rPr lang="en-US" i="1" dirty="0"/>
              <a:t>path/file-to-be-included </a:t>
            </a:r>
            <a:r>
              <a:rPr lang="en-US" b="1" dirty="0"/>
              <a:t>"</a:t>
            </a:r>
            <a:endParaRPr lang="en-US" dirty="0"/>
          </a:p>
          <a:p>
            <a:pPr eaLnBrk="1" hangingPunct="1">
              <a:defRPr/>
            </a:pPr>
            <a:r>
              <a:rPr lang="en-US" dirty="0"/>
              <a:t>Including the entire contents of other </a:t>
            </a:r>
            <a:r>
              <a:rPr lang="en-US" dirty="0" err="1"/>
              <a:t>Verilog</a:t>
            </a:r>
            <a:r>
              <a:rPr lang="en-US" dirty="0"/>
              <a:t> source file.</a:t>
            </a:r>
          </a:p>
          <a:p>
            <a:pPr eaLnBrk="1" hangingPunct="1">
              <a:defRPr/>
            </a:pPr>
            <a:r>
              <a:rPr lang="en-US" dirty="0">
                <a:solidFill>
                  <a:srgbClr val="0000FF"/>
                </a:solidFill>
              </a:rPr>
              <a:t>3. </a:t>
            </a:r>
            <a:r>
              <a:rPr lang="ru-RU" dirty="0">
                <a:solidFill>
                  <a:srgbClr val="0000FF"/>
                </a:solidFill>
              </a:rPr>
              <a:t>`timescale</a:t>
            </a:r>
          </a:p>
          <a:p>
            <a:pPr eaLnBrk="1" hangingPunct="1">
              <a:defRPr/>
            </a:pPr>
            <a:r>
              <a:rPr lang="ru-RU" dirty="0">
                <a:solidFill>
                  <a:srgbClr val="0000FF"/>
                </a:solidFill>
              </a:rPr>
              <a:t>`timescale </a:t>
            </a:r>
            <a:r>
              <a:rPr lang="en-US" dirty="0">
                <a:solidFill>
                  <a:srgbClr val="0000FF"/>
                </a:solidFill>
              </a:rPr>
              <a:t> </a:t>
            </a:r>
            <a:r>
              <a:rPr lang="ru-RU" dirty="0"/>
              <a:t>100ns/1ns</a:t>
            </a:r>
          </a:p>
          <a:p>
            <a:pPr eaLnBrk="1" hangingPunct="1">
              <a:defRPr/>
            </a:pPr>
            <a:r>
              <a:rPr lang="ru-RU" dirty="0"/>
              <a:t>Setting the reference time unit and time precision of</a:t>
            </a:r>
            <a:r>
              <a:rPr lang="en-US" dirty="0"/>
              <a:t> simulation.</a:t>
            </a:r>
            <a:endParaRPr lang="ru-RU" dirty="0"/>
          </a:p>
          <a:p>
            <a:pPr eaLnBrk="1" hangingPunct="1">
              <a:defRPr/>
            </a:pPr>
            <a:endParaRPr lang="ru-RU" dirty="0"/>
          </a:p>
        </p:txBody>
      </p:sp>
      <p:sp>
        <p:nvSpPr>
          <p:cNvPr id="111623" name="Text Box 8">
            <a:extLst>
              <a:ext uri="{FF2B5EF4-FFF2-40B4-BE49-F238E27FC236}">
                <a16:creationId xmlns:a16="http://schemas.microsoft.com/office/drawing/2014/main" id="{78A8455B-EC46-C694-67D0-D4065F2442D1}"/>
              </a:ext>
            </a:extLst>
          </p:cNvPr>
          <p:cNvSpPr txBox="1">
            <a:spLocks noChangeArrowheads="1"/>
          </p:cNvSpPr>
          <p:nvPr/>
        </p:nvSpPr>
        <p:spPr bwMode="auto">
          <a:xfrm>
            <a:off x="2057400" y="4708526"/>
            <a:ext cx="472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a:t>`</a:t>
            </a:r>
            <a:r>
              <a:rPr lang="en-US" altLang="en-US" b="1"/>
              <a:t>ifdef</a:t>
            </a:r>
            <a:r>
              <a:rPr lang="ru-RU" altLang="en-US"/>
              <a:t>,  </a:t>
            </a:r>
            <a:r>
              <a:rPr lang="ru-RU" altLang="en-US" b="1"/>
              <a:t>`</a:t>
            </a:r>
            <a:r>
              <a:rPr lang="en-US" altLang="en-US" b="1"/>
              <a:t>else</a:t>
            </a:r>
            <a:r>
              <a:rPr lang="ru-RU" altLang="en-US"/>
              <a:t>, </a:t>
            </a:r>
            <a:r>
              <a:rPr lang="ru-RU" altLang="en-US" b="1"/>
              <a:t>`elsif</a:t>
            </a:r>
            <a:r>
              <a:rPr lang="en-US" altLang="en-US"/>
              <a:t>,</a:t>
            </a:r>
            <a:r>
              <a:rPr lang="ru-RU" altLang="en-US"/>
              <a:t> </a:t>
            </a:r>
            <a:r>
              <a:rPr lang="ru-RU" altLang="en-US" b="1"/>
              <a:t>`</a:t>
            </a:r>
            <a:r>
              <a:rPr lang="en-US" altLang="en-US" b="1"/>
              <a:t>endif</a:t>
            </a:r>
            <a:r>
              <a:rPr lang="ru-RU" altLang="en-US"/>
              <a:t> </a:t>
            </a:r>
          </a:p>
          <a:p>
            <a:pPr eaLnBrk="1" hangingPunct="1"/>
            <a:r>
              <a:rPr lang="ru-RU" altLang="en-US"/>
              <a:t>directive</a:t>
            </a:r>
            <a:r>
              <a:rPr lang="en-US" altLang="en-US"/>
              <a:t>s</a:t>
            </a:r>
            <a:r>
              <a:rPr lang="ru-RU" altLang="en-US"/>
              <a:t> for conditional compilation</a:t>
            </a:r>
          </a:p>
        </p:txBody>
      </p:sp>
      <p:sp>
        <p:nvSpPr>
          <p:cNvPr id="3" name="Title 2">
            <a:extLst>
              <a:ext uri="{FF2B5EF4-FFF2-40B4-BE49-F238E27FC236}">
                <a16:creationId xmlns:a16="http://schemas.microsoft.com/office/drawing/2014/main" id="{E671CDCA-011E-D323-41B6-5D0D0790CC97}"/>
              </a:ext>
            </a:extLst>
          </p:cNvPr>
          <p:cNvSpPr>
            <a:spLocks noGrp="1"/>
          </p:cNvSpPr>
          <p:nvPr>
            <p:ph type="title"/>
          </p:nvPr>
        </p:nvSpPr>
        <p:spPr/>
        <p:txBody>
          <a:bodyPr>
            <a:normAutofit/>
          </a:bodyPr>
          <a:lstStyle/>
          <a:p>
            <a:r>
              <a:rPr lang="en-US" dirty="0"/>
              <a:t>Compiler directives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4">
            <a:extLst>
              <a:ext uri="{FF2B5EF4-FFF2-40B4-BE49-F238E27FC236}">
                <a16:creationId xmlns:a16="http://schemas.microsoft.com/office/drawing/2014/main" id="{A73620DA-F95E-CF88-A28C-70CABF701C60}"/>
              </a:ext>
            </a:extLst>
          </p:cNvPr>
          <p:cNvSpPr>
            <a:spLocks noGrp="1" noChangeArrowheads="1"/>
          </p:cNvSpPr>
          <p:nvPr>
            <p:ph type="title"/>
          </p:nvPr>
        </p:nvSpPr>
        <p:spPr/>
        <p:txBody>
          <a:bodyPr/>
          <a:lstStyle/>
          <a:p>
            <a:r>
              <a:rPr lang="en-US" altLang="en-US"/>
              <a:t>System Tasks</a:t>
            </a:r>
            <a:endParaRPr lang="ru-RU" altLang="en-US"/>
          </a:p>
        </p:txBody>
      </p:sp>
      <p:sp>
        <p:nvSpPr>
          <p:cNvPr id="4" name="Content Placeholder 3">
            <a:extLst>
              <a:ext uri="{FF2B5EF4-FFF2-40B4-BE49-F238E27FC236}">
                <a16:creationId xmlns:a16="http://schemas.microsoft.com/office/drawing/2014/main" id="{BA84B749-3945-4E3D-AD49-1C75413E5885}"/>
              </a:ext>
            </a:extLst>
          </p:cNvPr>
          <p:cNvSpPr>
            <a:spLocks noGrp="1"/>
          </p:cNvSpPr>
          <p:nvPr>
            <p:ph type="body" sz="quarter" idx="10"/>
          </p:nvPr>
        </p:nvSpPr>
        <p:spPr/>
        <p:txBody>
          <a:bodyPr/>
          <a:lstStyle/>
          <a:p>
            <a:r>
              <a:rPr lang="en-US" dirty="0"/>
              <a:t>$display is the main system task for displaying values of variables or strings or expressions. This is one of the most useful tasks in </a:t>
            </a:r>
            <a:r>
              <a:rPr lang="en-US" dirty="0" err="1"/>
              <a:t>Verilog</a:t>
            </a:r>
            <a:r>
              <a:rPr lang="en-US" dirty="0"/>
              <a:t>.</a:t>
            </a:r>
          </a:p>
          <a:p>
            <a:r>
              <a:rPr lang="en-US" dirty="0"/>
              <a:t>Usage: $display(p1, p2, p3,....., </a:t>
            </a:r>
            <a:r>
              <a:rPr lang="en-US" dirty="0" err="1"/>
              <a:t>pn</a:t>
            </a:r>
            <a:r>
              <a:rPr lang="en-US" dirty="0"/>
              <a:t>);</a:t>
            </a:r>
          </a:p>
          <a:p>
            <a:r>
              <a:rPr lang="en-US" dirty="0"/>
              <a:t>p1, p2, p3,..., </a:t>
            </a:r>
            <a:r>
              <a:rPr lang="en-US" dirty="0" err="1"/>
              <a:t>pn</a:t>
            </a:r>
            <a:r>
              <a:rPr lang="en-US" dirty="0"/>
              <a:t> can be quoted strings or variables or expressions.</a:t>
            </a:r>
          </a:p>
          <a:p>
            <a:r>
              <a:rPr lang="en-US" dirty="0"/>
              <a:t> The format of $display similar to </a:t>
            </a:r>
            <a:r>
              <a:rPr lang="en-US" dirty="0" err="1"/>
              <a:t>printf</a:t>
            </a:r>
            <a:r>
              <a:rPr lang="en-US" dirty="0"/>
              <a:t> in C.</a:t>
            </a:r>
          </a:p>
          <a:p>
            <a:r>
              <a:rPr lang="en-US" dirty="0"/>
              <a:t>A $display inserts a newline at the end of the string by default. </a:t>
            </a:r>
          </a:p>
          <a:p>
            <a:r>
              <a:rPr lang="en-US" dirty="0"/>
              <a:t>A $display without any arguments produces a newline.</a:t>
            </a:r>
          </a:p>
          <a:p>
            <a:r>
              <a:rPr lang="en-US" dirty="0"/>
              <a:t>$finish</a:t>
            </a:r>
          </a:p>
          <a:p>
            <a:r>
              <a:rPr lang="en-US" dirty="0"/>
              <a:t>Terminate the simulation.</a:t>
            </a:r>
          </a:p>
          <a:p>
            <a:endParaRPr lang="ru-RU"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55C8A0C-3AF3-4515-BC21-0F6D7C826B19}"/>
              </a:ext>
            </a:extLst>
          </p:cNvPr>
          <p:cNvGraphicFramePr>
            <a:graphicFrameLocks noGrp="1"/>
          </p:cNvGraphicFramePr>
          <p:nvPr>
            <p:extLst>
              <p:ext uri="{D42A27DB-BD31-4B8C-83A1-F6EECF244321}">
                <p14:modId xmlns:p14="http://schemas.microsoft.com/office/powerpoint/2010/main" val="2587939206"/>
              </p:ext>
            </p:extLst>
          </p:nvPr>
        </p:nvGraphicFramePr>
        <p:xfrm>
          <a:off x="2514600" y="1485900"/>
          <a:ext cx="7239000" cy="4191000"/>
        </p:xfrm>
        <a:graphic>
          <a:graphicData uri="http://schemas.openxmlformats.org/drawingml/2006/table">
            <a:tbl>
              <a:tblPr firstRow="1" bandRow="1">
                <a:tableStyleId>{5C22544A-7EE6-4342-B048-85BDC9FD1C3A}</a:tableStyleId>
              </a:tblPr>
              <a:tblGrid>
                <a:gridCol w="1990725">
                  <a:extLst>
                    <a:ext uri="{9D8B030D-6E8A-4147-A177-3AD203B41FA5}">
                      <a16:colId xmlns:a16="http://schemas.microsoft.com/office/drawing/2014/main" val="20000"/>
                    </a:ext>
                  </a:extLst>
                </a:gridCol>
                <a:gridCol w="5248275">
                  <a:extLst>
                    <a:ext uri="{9D8B030D-6E8A-4147-A177-3AD203B41FA5}">
                      <a16:colId xmlns:a16="http://schemas.microsoft.com/office/drawing/2014/main" val="20001"/>
                    </a:ext>
                  </a:extLst>
                </a:gridCol>
              </a:tblGrid>
              <a:tr h="3492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ru-RU" sz="1600" b="0" i="0" u="none" strike="noStrike" cap="none" normalizeH="0" baseline="0" dirty="0">
                          <a:ln>
                            <a:noFill/>
                          </a:ln>
                          <a:solidFill>
                            <a:schemeClr val="bg2"/>
                          </a:solidFill>
                          <a:effectLst/>
                          <a:latin typeface="Arial" pitchFamily="34" charset="0"/>
                          <a:cs typeface="Arial" pitchFamily="34" charset="0"/>
                        </a:rPr>
                        <a:t>Format</a:t>
                      </a:r>
                    </a:p>
                  </a:txBody>
                  <a:tcP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ru-RU" sz="1600" b="0" i="0" u="none" strike="noStrike" cap="none" normalizeH="0" baseline="0" dirty="0">
                          <a:ln>
                            <a:noFill/>
                          </a:ln>
                          <a:solidFill>
                            <a:schemeClr val="bg2"/>
                          </a:solidFill>
                          <a:effectLst/>
                          <a:latin typeface="Arial" pitchFamily="34" charset="0"/>
                          <a:cs typeface="Arial" pitchFamily="34" charset="0"/>
                        </a:rPr>
                        <a:t>Display</a:t>
                      </a:r>
                    </a:p>
                  </a:txBody>
                  <a:tcPr horzOverflow="overflow"/>
                </a:tc>
                <a:extLst>
                  <a:ext uri="{0D108BD9-81ED-4DB2-BD59-A6C34878D82A}">
                    <a16:rowId xmlns:a16="http://schemas.microsoft.com/office/drawing/2014/main" val="10000"/>
                  </a:ext>
                </a:extLst>
              </a:tr>
              <a:tr h="3492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 or %D</a:t>
                      </a:r>
                      <a:endParaRPr kumimoji="0" lang="ru-RU" sz="1600" b="0" i="0" u="none" strike="noStrike" cap="none" normalizeH="0" baseline="0" dirty="0">
                        <a:ln>
                          <a:noFill/>
                        </a:ln>
                        <a:solidFill>
                          <a:srgbClr val="000000"/>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variable in decimal</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1"/>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%h or %H</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variable in hexadecimal</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2"/>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Arial" pitchFamily="34" charset="0"/>
                          <a:cs typeface="Arial" pitchFamily="34" charset="0"/>
                        </a:rPr>
                        <a:t>%o or %O</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variable in octal</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3"/>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Arial" pitchFamily="34" charset="0"/>
                          <a:cs typeface="Arial" pitchFamily="34" charset="0"/>
                        </a:rPr>
                        <a:t>%s or %S</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string</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4"/>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%c or %C</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ASCII character</a:t>
                      </a:r>
                      <a:endParaRPr kumimoji="0" lang="ru-RU" sz="1600" b="0" i="0" u="none" strike="noStrike" cap="none" normalizeH="0" baseline="0" dirty="0">
                        <a:ln>
                          <a:noFill/>
                        </a:ln>
                        <a:solidFill>
                          <a:srgbClr val="000000"/>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5"/>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Arial" pitchFamily="34" charset="0"/>
                          <a:cs typeface="Arial" pitchFamily="34" charset="0"/>
                        </a:rPr>
                        <a:t>%v or %V</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strength</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6"/>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Arial" pitchFamily="34" charset="0"/>
                          <a:cs typeface="Arial" pitchFamily="34" charset="0"/>
                        </a:rPr>
                        <a:t>%t or %T</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in current time format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7"/>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Arial" pitchFamily="34" charset="0"/>
                          <a:cs typeface="Arial" pitchFamily="34" charset="0"/>
                        </a:rPr>
                        <a:t>%e or %E</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real number in scientific  format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8"/>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Arial" pitchFamily="34" charset="0"/>
                          <a:cs typeface="Arial" pitchFamily="34" charset="0"/>
                        </a:rPr>
                        <a:t>%f or %F</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real number in decimal  format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9"/>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Arial" pitchFamily="34" charset="0"/>
                          <a:cs typeface="Arial" pitchFamily="34" charset="0"/>
                        </a:rPr>
                        <a:t>%g or %G</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real number in scientific  or decimal  format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0"/>
                  </a:ext>
                </a:extLst>
              </a:tr>
              <a:tr h="349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Arial" pitchFamily="34" charset="0"/>
                          <a:cs typeface="Arial" pitchFamily="34" charset="0"/>
                        </a:rPr>
                        <a:t>%m or %M</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pitchFamily="34" charset="0"/>
                          <a:cs typeface="Arial" pitchFamily="34" charset="0"/>
                        </a:rPr>
                        <a:t>Display hierarchical name (no argument required)</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1"/>
                  </a:ext>
                </a:extLst>
              </a:tr>
            </a:tbl>
          </a:graphicData>
        </a:graphic>
      </p:graphicFrame>
      <p:sp>
        <p:nvSpPr>
          <p:cNvPr id="6" name="Title 5">
            <a:extLst>
              <a:ext uri="{FF2B5EF4-FFF2-40B4-BE49-F238E27FC236}">
                <a16:creationId xmlns:a16="http://schemas.microsoft.com/office/drawing/2014/main" id="{4C7A27D6-8876-7CE7-3628-E4B59835D7D9}"/>
              </a:ext>
            </a:extLst>
          </p:cNvPr>
          <p:cNvSpPr>
            <a:spLocks noGrp="1"/>
          </p:cNvSpPr>
          <p:nvPr>
            <p:ph type="title"/>
          </p:nvPr>
        </p:nvSpPr>
        <p:spPr/>
        <p:txBody>
          <a:bodyPr>
            <a:normAutofit/>
          </a:bodyPr>
          <a:lstStyle/>
          <a:p>
            <a:r>
              <a:rPr lang="en-US" dirty="0"/>
              <a:t>Format $display and $monitor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4">
            <a:extLst>
              <a:ext uri="{FF2B5EF4-FFF2-40B4-BE49-F238E27FC236}">
                <a16:creationId xmlns:a16="http://schemas.microsoft.com/office/drawing/2014/main" id="{D4323CA4-18FA-2AA1-2AE6-08B50DB340BF}"/>
              </a:ext>
            </a:extLst>
          </p:cNvPr>
          <p:cNvSpPr>
            <a:spLocks noGrp="1" noChangeArrowheads="1"/>
          </p:cNvSpPr>
          <p:nvPr>
            <p:ph type="title"/>
          </p:nvPr>
        </p:nvSpPr>
        <p:spPr/>
        <p:txBody>
          <a:bodyPr>
            <a:normAutofit/>
          </a:bodyPr>
          <a:lstStyle/>
          <a:p>
            <a:r>
              <a:rPr lang="en-US" altLang="en-US" dirty="0"/>
              <a:t>$monitor </a:t>
            </a:r>
            <a:endParaRPr lang="ru-RU" altLang="en-US" dirty="0"/>
          </a:p>
        </p:txBody>
      </p:sp>
      <p:sp>
        <p:nvSpPr>
          <p:cNvPr id="6" name="Content Placeholder 5">
            <a:extLst>
              <a:ext uri="{FF2B5EF4-FFF2-40B4-BE49-F238E27FC236}">
                <a16:creationId xmlns:a16="http://schemas.microsoft.com/office/drawing/2014/main" id="{B4E71B1D-2786-4BB2-8175-F57FF3835503}"/>
              </a:ext>
            </a:extLst>
          </p:cNvPr>
          <p:cNvSpPr>
            <a:spLocks noGrp="1"/>
          </p:cNvSpPr>
          <p:nvPr>
            <p:ph type="body" sz="quarter" idx="10"/>
          </p:nvPr>
        </p:nvSpPr>
        <p:spPr/>
        <p:txBody>
          <a:bodyPr/>
          <a:lstStyle/>
          <a:p>
            <a:r>
              <a:rPr lang="en-US" dirty="0" err="1"/>
              <a:t>Verilog</a:t>
            </a:r>
            <a:r>
              <a:rPr lang="en-US" dirty="0"/>
              <a:t> provides a mechanism to monitor a signal when its value changes. This facility is provided by the $monitor task.</a:t>
            </a:r>
          </a:p>
          <a:p>
            <a:r>
              <a:rPr lang="en-US" dirty="0"/>
              <a:t>Usage: $monitor (p1,p2,p3,....,</a:t>
            </a:r>
            <a:r>
              <a:rPr lang="en-US" dirty="0" err="1"/>
              <a:t>pn</a:t>
            </a:r>
            <a:r>
              <a:rPr lang="en-US" dirty="0"/>
              <a:t>);</a:t>
            </a:r>
          </a:p>
          <a:p>
            <a:r>
              <a:rPr lang="en-US" dirty="0"/>
              <a:t>The parameters p1, p2, ... , </a:t>
            </a:r>
            <a:r>
              <a:rPr lang="en-US" dirty="0" err="1"/>
              <a:t>pn</a:t>
            </a:r>
            <a:r>
              <a:rPr lang="en-US" dirty="0"/>
              <a:t> can be variables, signal names, or quoted strings. </a:t>
            </a:r>
          </a:p>
          <a:p>
            <a:r>
              <a:rPr lang="en-US" dirty="0"/>
              <a:t>A format similar to the $display task is used in the $monitor task. </a:t>
            </a:r>
          </a:p>
          <a:p>
            <a:r>
              <a:rPr lang="en-US" dirty="0"/>
              <a:t>$monitor continuously monitors the values of the variables or signals specified in the parameter list and displays all parameters in the list whenever the value of any one variable or signal changes. Unlike $display, $monitor needs to be invoked only once.</a:t>
            </a:r>
          </a:p>
          <a:p>
            <a:endParaRPr lang="ru-RU" dirty="0"/>
          </a:p>
          <a:p>
            <a:endParaRPr lang="ru-RU"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a:extLst>
              <a:ext uri="{FF2B5EF4-FFF2-40B4-BE49-F238E27FC236}">
                <a16:creationId xmlns:a16="http://schemas.microsoft.com/office/drawing/2014/main" id="{D7966C9C-822D-CAB9-590E-52C9593690E9}"/>
              </a:ext>
            </a:extLst>
          </p:cNvPr>
          <p:cNvSpPr>
            <a:spLocks noGrp="1" noChangeArrowheads="1"/>
          </p:cNvSpPr>
          <p:nvPr>
            <p:ph type="title"/>
          </p:nvPr>
        </p:nvSpPr>
        <p:spPr/>
        <p:txBody>
          <a:bodyPr/>
          <a:lstStyle/>
          <a:p>
            <a:r>
              <a:rPr lang="en-US" altLang="en-US"/>
              <a:t>Synthesis  in  Verilog</a:t>
            </a:r>
          </a:p>
        </p:txBody>
      </p:sp>
      <p:sp>
        <p:nvSpPr>
          <p:cNvPr id="3" name="Rectangle 2">
            <a:extLst>
              <a:ext uri="{FF2B5EF4-FFF2-40B4-BE49-F238E27FC236}">
                <a16:creationId xmlns:a16="http://schemas.microsoft.com/office/drawing/2014/main" id="{22C99DD6-A8B4-4F15-84D0-C3CB732AD249}"/>
              </a:ext>
            </a:extLst>
          </p:cNvPr>
          <p:cNvSpPr/>
          <p:nvPr/>
        </p:nvSpPr>
        <p:spPr bwMode="auto">
          <a:xfrm>
            <a:off x="2286001" y="1828801"/>
            <a:ext cx="2193925" cy="1554163"/>
          </a:xfrm>
          <a:prstGeom prst="rect">
            <a:avLst/>
          </a:prstGeom>
          <a:solidFill>
            <a:schemeClr val="accent1">
              <a:lumMod val="20000"/>
              <a:lumOff val="8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dirty="0">
              <a:latin typeface="Arial" charset="0"/>
              <a:cs typeface="Arial" charset="0"/>
            </a:endParaRPr>
          </a:p>
        </p:txBody>
      </p:sp>
      <p:sp>
        <p:nvSpPr>
          <p:cNvPr id="115716" name="Rectangle 3">
            <a:extLst>
              <a:ext uri="{FF2B5EF4-FFF2-40B4-BE49-F238E27FC236}">
                <a16:creationId xmlns:a16="http://schemas.microsoft.com/office/drawing/2014/main" id="{A0843566-21FA-7E71-5E48-3AFDF121BF9E}"/>
              </a:ext>
            </a:extLst>
          </p:cNvPr>
          <p:cNvSpPr>
            <a:spLocks noChangeArrowheads="1"/>
          </p:cNvSpPr>
          <p:nvPr/>
        </p:nvSpPr>
        <p:spPr bwMode="auto">
          <a:xfrm>
            <a:off x="2552700" y="2638426"/>
            <a:ext cx="1752600" cy="549275"/>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a:p>
            <a:pPr algn="ctr" eaLnBrk="1" hangingPunct="1"/>
            <a:r>
              <a:rPr lang="en-US" altLang="en-US" sz="1800"/>
              <a:t>Hardware</a:t>
            </a:r>
          </a:p>
          <a:p>
            <a:pPr algn="ctr" eaLnBrk="1" hangingPunct="1"/>
            <a:r>
              <a:rPr lang="en-US" altLang="en-US" sz="1800"/>
              <a:t>Description </a:t>
            </a:r>
            <a:br>
              <a:rPr lang="en-US" altLang="en-US" sz="1800"/>
            </a:br>
            <a:r>
              <a:rPr lang="en-US" altLang="en-US" sz="1800"/>
              <a:t> </a:t>
            </a:r>
          </a:p>
        </p:txBody>
      </p:sp>
      <p:sp>
        <p:nvSpPr>
          <p:cNvPr id="115717" name="TextBox 4">
            <a:extLst>
              <a:ext uri="{FF2B5EF4-FFF2-40B4-BE49-F238E27FC236}">
                <a16:creationId xmlns:a16="http://schemas.microsoft.com/office/drawing/2014/main" id="{FA206603-E4C1-D254-D2FA-94A7C0B40496}"/>
              </a:ext>
            </a:extLst>
          </p:cNvPr>
          <p:cNvSpPr txBox="1">
            <a:spLocks noChangeArrowheads="1"/>
          </p:cNvSpPr>
          <p:nvPr/>
        </p:nvSpPr>
        <p:spPr bwMode="auto">
          <a:xfrm>
            <a:off x="2362201" y="1933576"/>
            <a:ext cx="2041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t>Verified Circuit</a:t>
            </a:r>
            <a:br>
              <a:rPr lang="en-US" altLang="en-US" sz="1800"/>
            </a:br>
            <a:r>
              <a:rPr lang="en-US" altLang="en-US" sz="1800"/>
              <a:t>in Verilog </a:t>
            </a:r>
          </a:p>
        </p:txBody>
      </p:sp>
      <p:sp>
        <p:nvSpPr>
          <p:cNvPr id="6" name="Flowchart: Alternate Process 5">
            <a:extLst>
              <a:ext uri="{FF2B5EF4-FFF2-40B4-BE49-F238E27FC236}">
                <a16:creationId xmlns:a16="http://schemas.microsoft.com/office/drawing/2014/main" id="{7BF2E918-DF64-4F27-9DC0-975D35E70A32}"/>
              </a:ext>
            </a:extLst>
          </p:cNvPr>
          <p:cNvSpPr/>
          <p:nvPr/>
        </p:nvSpPr>
        <p:spPr bwMode="auto">
          <a:xfrm>
            <a:off x="2308225" y="3657600"/>
            <a:ext cx="2095500" cy="685800"/>
          </a:xfrm>
          <a:prstGeom prst="flowChartAlternateProcess">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Target Library</a:t>
            </a:r>
          </a:p>
        </p:txBody>
      </p:sp>
      <p:sp>
        <p:nvSpPr>
          <p:cNvPr id="7" name="Rectangle 6">
            <a:extLst>
              <a:ext uri="{FF2B5EF4-FFF2-40B4-BE49-F238E27FC236}">
                <a16:creationId xmlns:a16="http://schemas.microsoft.com/office/drawing/2014/main" id="{41A8AD2A-99C4-4C47-8223-78CFD41F6FE7}"/>
              </a:ext>
            </a:extLst>
          </p:cNvPr>
          <p:cNvSpPr/>
          <p:nvPr/>
        </p:nvSpPr>
        <p:spPr bwMode="auto">
          <a:xfrm>
            <a:off x="5314951" y="2076450"/>
            <a:ext cx="2193925" cy="2190750"/>
          </a:xfrm>
          <a:prstGeom prst="rect">
            <a:avLst/>
          </a:prstGeom>
          <a:solidFill>
            <a:schemeClr val="accent1">
              <a:lumMod val="20000"/>
              <a:lumOff val="8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Verilog Synthesis</a:t>
            </a:r>
          </a:p>
        </p:txBody>
      </p:sp>
      <p:sp>
        <p:nvSpPr>
          <p:cNvPr id="8" name="Flowchart: Alternate Process 7">
            <a:extLst>
              <a:ext uri="{FF2B5EF4-FFF2-40B4-BE49-F238E27FC236}">
                <a16:creationId xmlns:a16="http://schemas.microsoft.com/office/drawing/2014/main" id="{0823107B-0E76-4D98-958B-6902731CD8DF}"/>
              </a:ext>
            </a:extLst>
          </p:cNvPr>
          <p:cNvSpPr/>
          <p:nvPr/>
        </p:nvSpPr>
        <p:spPr bwMode="auto">
          <a:xfrm>
            <a:off x="5260976" y="4705350"/>
            <a:ext cx="3101975" cy="685800"/>
          </a:xfrm>
          <a:prstGeom prst="flowChartAlternateProcess">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Timing files and other hardware details</a:t>
            </a:r>
          </a:p>
        </p:txBody>
      </p:sp>
      <p:sp>
        <p:nvSpPr>
          <p:cNvPr id="115721" name="Right Arrow 8">
            <a:extLst>
              <a:ext uri="{FF2B5EF4-FFF2-40B4-BE49-F238E27FC236}">
                <a16:creationId xmlns:a16="http://schemas.microsoft.com/office/drawing/2014/main" id="{38BEC2C1-819F-046D-B4EC-5850F31DACEB}"/>
              </a:ext>
            </a:extLst>
          </p:cNvPr>
          <p:cNvSpPr>
            <a:spLocks noChangeArrowheads="1"/>
          </p:cNvSpPr>
          <p:nvPr/>
        </p:nvSpPr>
        <p:spPr bwMode="auto">
          <a:xfrm>
            <a:off x="4479926" y="2465389"/>
            <a:ext cx="823913" cy="282575"/>
          </a:xfrm>
          <a:prstGeom prst="rightArrow">
            <a:avLst>
              <a:gd name="adj1" fmla="val 50000"/>
              <a:gd name="adj2" fmla="val 5008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5722" name="Right Arrow 9">
            <a:extLst>
              <a:ext uri="{FF2B5EF4-FFF2-40B4-BE49-F238E27FC236}">
                <a16:creationId xmlns:a16="http://schemas.microsoft.com/office/drawing/2014/main" id="{EC723F2D-6535-7769-530B-5453E7F4A921}"/>
              </a:ext>
            </a:extLst>
          </p:cNvPr>
          <p:cNvSpPr>
            <a:spLocks noChangeArrowheads="1"/>
          </p:cNvSpPr>
          <p:nvPr/>
        </p:nvSpPr>
        <p:spPr bwMode="auto">
          <a:xfrm>
            <a:off x="4419600" y="3805238"/>
            <a:ext cx="914400" cy="284162"/>
          </a:xfrm>
          <a:prstGeom prst="rightArrow">
            <a:avLst>
              <a:gd name="adj1" fmla="val 50000"/>
              <a:gd name="adj2" fmla="val 49743"/>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5723" name="Down Arrow 10">
            <a:extLst>
              <a:ext uri="{FF2B5EF4-FFF2-40B4-BE49-F238E27FC236}">
                <a16:creationId xmlns:a16="http://schemas.microsoft.com/office/drawing/2014/main" id="{9692DD67-1146-330C-72EE-A0A0F0D44A4A}"/>
              </a:ext>
            </a:extLst>
          </p:cNvPr>
          <p:cNvSpPr>
            <a:spLocks noChangeArrowheads="1"/>
          </p:cNvSpPr>
          <p:nvPr/>
        </p:nvSpPr>
        <p:spPr bwMode="auto">
          <a:xfrm>
            <a:off x="6324601" y="4267200"/>
            <a:ext cx="284163" cy="457200"/>
          </a:xfrm>
          <a:prstGeom prst="downArrow">
            <a:avLst>
              <a:gd name="adj1" fmla="val 50000"/>
              <a:gd name="adj2" fmla="val 49877"/>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5724" name="Right Arrow 11">
            <a:extLst>
              <a:ext uri="{FF2B5EF4-FFF2-40B4-BE49-F238E27FC236}">
                <a16:creationId xmlns:a16="http://schemas.microsoft.com/office/drawing/2014/main" id="{2E38270C-4C08-E3A5-D039-4341633ED68B}"/>
              </a:ext>
            </a:extLst>
          </p:cNvPr>
          <p:cNvSpPr>
            <a:spLocks noChangeArrowheads="1"/>
          </p:cNvSpPr>
          <p:nvPr/>
        </p:nvSpPr>
        <p:spPr bwMode="auto">
          <a:xfrm>
            <a:off x="7508876" y="2913064"/>
            <a:ext cx="823913" cy="282575"/>
          </a:xfrm>
          <a:prstGeom prst="rightArrow">
            <a:avLst>
              <a:gd name="adj1" fmla="val 50000"/>
              <a:gd name="adj2" fmla="val 5008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15725" name="Rectangle 12">
            <a:extLst>
              <a:ext uri="{FF2B5EF4-FFF2-40B4-BE49-F238E27FC236}">
                <a16:creationId xmlns:a16="http://schemas.microsoft.com/office/drawing/2014/main" id="{C54C2F43-F0C7-188A-D097-89784B694995}"/>
              </a:ext>
            </a:extLst>
          </p:cNvPr>
          <p:cNvSpPr>
            <a:spLocks noChangeArrowheads="1"/>
          </p:cNvSpPr>
          <p:nvPr/>
        </p:nvSpPr>
        <p:spPr bwMode="auto">
          <a:xfrm>
            <a:off x="8353425" y="1905001"/>
            <a:ext cx="1676400" cy="2468563"/>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lnSpc>
                <a:spcPct val="150000"/>
              </a:lnSpc>
            </a:pPr>
            <a:r>
              <a:rPr lang="en-US" altLang="en-US"/>
              <a:t> A netlist of</a:t>
            </a:r>
          </a:p>
          <a:p>
            <a:pPr algn="ctr" eaLnBrk="1" hangingPunct="1">
              <a:lnSpc>
                <a:spcPct val="150000"/>
              </a:lnSpc>
            </a:pPr>
            <a:r>
              <a:rPr lang="en-US" altLang="en-US"/>
              <a:t>gates and</a:t>
            </a:r>
          </a:p>
          <a:p>
            <a:pPr algn="ctr" eaLnBrk="1" hangingPunct="1">
              <a:lnSpc>
                <a:spcPct val="150000"/>
              </a:lnSpc>
            </a:pPr>
            <a:r>
              <a:rPr lang="en-US" altLang="en-US"/>
              <a:t>flip-flops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D1408A03-FAAC-9C1D-803F-E7FED7D23311}"/>
              </a:ext>
            </a:extLst>
          </p:cNvPr>
          <p:cNvSpPr>
            <a:spLocks noGrp="1" noChangeArrowheads="1"/>
          </p:cNvSpPr>
          <p:nvPr>
            <p:ph type="title"/>
          </p:nvPr>
        </p:nvSpPr>
        <p:spPr/>
        <p:txBody>
          <a:bodyPr/>
          <a:lstStyle/>
          <a:p>
            <a:r>
              <a:rPr lang="en-US" altLang="en-US"/>
              <a:t>Synthesis Flow</a:t>
            </a:r>
            <a:endParaRPr lang="ru-RU" altLang="en-US"/>
          </a:p>
        </p:txBody>
      </p:sp>
      <p:grpSp>
        <p:nvGrpSpPr>
          <p:cNvPr id="116739" name="Group 17">
            <a:extLst>
              <a:ext uri="{FF2B5EF4-FFF2-40B4-BE49-F238E27FC236}">
                <a16:creationId xmlns:a16="http://schemas.microsoft.com/office/drawing/2014/main" id="{E8334951-F0ED-22E4-30FB-62DA9B9BD0F7}"/>
              </a:ext>
            </a:extLst>
          </p:cNvPr>
          <p:cNvGrpSpPr>
            <a:grpSpLocks/>
          </p:cNvGrpSpPr>
          <p:nvPr/>
        </p:nvGrpSpPr>
        <p:grpSpPr bwMode="auto">
          <a:xfrm>
            <a:off x="2138364" y="1219200"/>
            <a:ext cx="7234237" cy="4343400"/>
            <a:chOff x="614745" y="1219200"/>
            <a:chExt cx="7233855" cy="4343400"/>
          </a:xfrm>
        </p:grpSpPr>
        <p:sp>
          <p:nvSpPr>
            <p:cNvPr id="96259" name="Rectangle 4">
              <a:extLst>
                <a:ext uri="{FF2B5EF4-FFF2-40B4-BE49-F238E27FC236}">
                  <a16:creationId xmlns:a16="http://schemas.microsoft.com/office/drawing/2014/main" id="{79EAB460-964A-4CB4-8256-73ADFCD162E4}"/>
                </a:ext>
              </a:extLst>
            </p:cNvPr>
            <p:cNvSpPr>
              <a:spLocks noChangeArrowheads="1"/>
            </p:cNvSpPr>
            <p:nvPr/>
          </p:nvSpPr>
          <p:spPr bwMode="auto">
            <a:xfrm>
              <a:off x="2757757" y="1219200"/>
              <a:ext cx="2285879" cy="609600"/>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b="1"/>
                <a:t>RTL-Description</a:t>
              </a:r>
            </a:p>
          </p:txBody>
        </p:sp>
        <p:sp>
          <p:nvSpPr>
            <p:cNvPr id="96260" name="Rectangle 5">
              <a:extLst>
                <a:ext uri="{FF2B5EF4-FFF2-40B4-BE49-F238E27FC236}">
                  <a16:creationId xmlns:a16="http://schemas.microsoft.com/office/drawing/2014/main" id="{87CD1C5A-6445-4619-B39C-109ECD1D38B9}"/>
                </a:ext>
              </a:extLst>
            </p:cNvPr>
            <p:cNvSpPr>
              <a:spLocks noChangeArrowheads="1"/>
            </p:cNvSpPr>
            <p:nvPr/>
          </p:nvSpPr>
          <p:spPr bwMode="auto">
            <a:xfrm>
              <a:off x="2775218" y="2463800"/>
              <a:ext cx="2389062" cy="609600"/>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b="1" dirty="0"/>
                <a:t>RTL-synthesis and optimization</a:t>
              </a:r>
            </a:p>
          </p:txBody>
        </p:sp>
        <p:sp>
          <p:nvSpPr>
            <p:cNvPr id="96261" name="Rectangle 6">
              <a:extLst>
                <a:ext uri="{FF2B5EF4-FFF2-40B4-BE49-F238E27FC236}">
                  <a16:creationId xmlns:a16="http://schemas.microsoft.com/office/drawing/2014/main" id="{AD1D112F-C935-4607-9B72-268425438EC9}"/>
                </a:ext>
              </a:extLst>
            </p:cNvPr>
            <p:cNvSpPr>
              <a:spLocks noChangeArrowheads="1"/>
            </p:cNvSpPr>
            <p:nvPr/>
          </p:nvSpPr>
          <p:spPr bwMode="auto">
            <a:xfrm>
              <a:off x="2760932" y="3722688"/>
              <a:ext cx="2389061" cy="608012"/>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b="1" dirty="0"/>
                <a:t>Technology Mapping </a:t>
              </a:r>
              <a:br>
                <a:rPr lang="ru-RU" sz="1600" b="1" dirty="0"/>
              </a:br>
              <a:r>
                <a:rPr lang="ru-RU" sz="1600" b="1" dirty="0"/>
                <a:t>and Optimization</a:t>
              </a:r>
            </a:p>
            <a:p>
              <a:pPr eaLnBrk="1" hangingPunct="1">
                <a:defRPr/>
              </a:pPr>
              <a:endParaRPr lang="ru-RU" sz="1600" b="1" dirty="0"/>
            </a:p>
          </p:txBody>
        </p:sp>
        <p:sp>
          <p:nvSpPr>
            <p:cNvPr id="116743" name="Line 7">
              <a:extLst>
                <a:ext uri="{FF2B5EF4-FFF2-40B4-BE49-F238E27FC236}">
                  <a16:creationId xmlns:a16="http://schemas.microsoft.com/office/drawing/2014/main" id="{A0BAF098-1C6D-B925-108C-5948B2CDBFE4}"/>
                </a:ext>
              </a:extLst>
            </p:cNvPr>
            <p:cNvSpPr>
              <a:spLocks noChangeShapeType="1"/>
            </p:cNvSpPr>
            <p:nvPr/>
          </p:nvSpPr>
          <p:spPr bwMode="auto">
            <a:xfrm>
              <a:off x="3929063" y="1828800"/>
              <a:ext cx="0" cy="63023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6744" name="Line 8">
              <a:extLst>
                <a:ext uri="{FF2B5EF4-FFF2-40B4-BE49-F238E27FC236}">
                  <a16:creationId xmlns:a16="http://schemas.microsoft.com/office/drawing/2014/main" id="{FD2110B4-3F93-D23B-F488-3BE1CBB2729C}"/>
                </a:ext>
              </a:extLst>
            </p:cNvPr>
            <p:cNvSpPr>
              <a:spLocks noChangeShapeType="1"/>
            </p:cNvSpPr>
            <p:nvPr/>
          </p:nvSpPr>
          <p:spPr bwMode="auto">
            <a:xfrm>
              <a:off x="3941763" y="3086100"/>
              <a:ext cx="0" cy="63023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64" name="Rectangle 9">
              <a:extLst>
                <a:ext uri="{FF2B5EF4-FFF2-40B4-BE49-F238E27FC236}">
                  <a16:creationId xmlns:a16="http://schemas.microsoft.com/office/drawing/2014/main" id="{FD2E020A-3D8C-4A7D-B92F-3A6995C1C52D}"/>
                </a:ext>
              </a:extLst>
            </p:cNvPr>
            <p:cNvSpPr>
              <a:spLocks noChangeArrowheads="1"/>
            </p:cNvSpPr>
            <p:nvPr/>
          </p:nvSpPr>
          <p:spPr bwMode="auto">
            <a:xfrm>
              <a:off x="2775218" y="4953000"/>
              <a:ext cx="2389062" cy="609600"/>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b="1" dirty="0"/>
                <a:t>Optimized Gate-Level Representation</a:t>
              </a:r>
            </a:p>
            <a:p>
              <a:pPr eaLnBrk="1" hangingPunct="1">
                <a:defRPr/>
              </a:pPr>
              <a:endParaRPr lang="ru-RU" sz="1600" b="1" dirty="0"/>
            </a:p>
          </p:txBody>
        </p:sp>
        <p:sp>
          <p:nvSpPr>
            <p:cNvPr id="116746" name="AutoShape 10">
              <a:extLst>
                <a:ext uri="{FF2B5EF4-FFF2-40B4-BE49-F238E27FC236}">
                  <a16:creationId xmlns:a16="http://schemas.microsoft.com/office/drawing/2014/main" id="{BF961FD6-F9E2-655C-395C-EAE58B283971}"/>
                </a:ext>
              </a:extLst>
            </p:cNvPr>
            <p:cNvSpPr>
              <a:spLocks noChangeArrowheads="1"/>
            </p:cNvSpPr>
            <p:nvPr/>
          </p:nvSpPr>
          <p:spPr bwMode="auto">
            <a:xfrm>
              <a:off x="2465388" y="2238375"/>
              <a:ext cx="2940050" cy="2409825"/>
            </a:xfrm>
            <a:prstGeom prst="roundRect">
              <a:avLst>
                <a:gd name="adj" fmla="val 16667"/>
              </a:avLst>
            </a:prstGeom>
            <a:noFill/>
            <a:ln w="254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16747" name="Line 11">
              <a:extLst>
                <a:ext uri="{FF2B5EF4-FFF2-40B4-BE49-F238E27FC236}">
                  <a16:creationId xmlns:a16="http://schemas.microsoft.com/office/drawing/2014/main" id="{37031C8A-786C-84A0-025C-E5F2B2E7722E}"/>
                </a:ext>
              </a:extLst>
            </p:cNvPr>
            <p:cNvSpPr>
              <a:spLocks noChangeShapeType="1"/>
            </p:cNvSpPr>
            <p:nvPr/>
          </p:nvSpPr>
          <p:spPr bwMode="auto">
            <a:xfrm>
              <a:off x="3941763" y="4330700"/>
              <a:ext cx="0" cy="61118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67" name="Rectangle 12">
              <a:extLst>
                <a:ext uri="{FF2B5EF4-FFF2-40B4-BE49-F238E27FC236}">
                  <a16:creationId xmlns:a16="http://schemas.microsoft.com/office/drawing/2014/main" id="{0806479B-4931-4F50-A631-9B37A2BF0A04}"/>
                </a:ext>
              </a:extLst>
            </p:cNvPr>
            <p:cNvSpPr>
              <a:spLocks noChangeArrowheads="1"/>
            </p:cNvSpPr>
            <p:nvPr/>
          </p:nvSpPr>
          <p:spPr bwMode="auto">
            <a:xfrm>
              <a:off x="614745" y="3727450"/>
              <a:ext cx="1554080" cy="604838"/>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b="1" dirty="0"/>
                <a:t>Design Constrainst</a:t>
              </a:r>
            </a:p>
          </p:txBody>
        </p:sp>
        <p:sp>
          <p:nvSpPr>
            <p:cNvPr id="116749" name="Line 13">
              <a:extLst>
                <a:ext uri="{FF2B5EF4-FFF2-40B4-BE49-F238E27FC236}">
                  <a16:creationId xmlns:a16="http://schemas.microsoft.com/office/drawing/2014/main" id="{51CE1FDA-10B6-2A8B-FB6D-708C81CB7562}"/>
                </a:ext>
              </a:extLst>
            </p:cNvPr>
            <p:cNvSpPr>
              <a:spLocks noChangeShapeType="1"/>
            </p:cNvSpPr>
            <p:nvPr/>
          </p:nvSpPr>
          <p:spPr bwMode="auto">
            <a:xfrm>
              <a:off x="2157413" y="4025900"/>
              <a:ext cx="61436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69" name="Rectangle 14">
              <a:extLst>
                <a:ext uri="{FF2B5EF4-FFF2-40B4-BE49-F238E27FC236}">
                  <a16:creationId xmlns:a16="http://schemas.microsoft.com/office/drawing/2014/main" id="{59818A3A-77DE-4E11-B243-94E2A0631AB0}"/>
                </a:ext>
              </a:extLst>
            </p:cNvPr>
            <p:cNvSpPr>
              <a:spLocks noChangeArrowheads="1"/>
            </p:cNvSpPr>
            <p:nvPr/>
          </p:nvSpPr>
          <p:spPr bwMode="auto">
            <a:xfrm>
              <a:off x="5754799" y="2451100"/>
              <a:ext cx="2093801" cy="614363"/>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b="1" dirty="0"/>
                <a:t>Technology Independed Library</a:t>
              </a:r>
            </a:p>
          </p:txBody>
        </p:sp>
        <p:sp>
          <p:nvSpPr>
            <p:cNvPr id="116751" name="Line 15">
              <a:extLst>
                <a:ext uri="{FF2B5EF4-FFF2-40B4-BE49-F238E27FC236}">
                  <a16:creationId xmlns:a16="http://schemas.microsoft.com/office/drawing/2014/main" id="{DE02E585-2F5E-8065-1196-66557631F77C}"/>
                </a:ext>
              </a:extLst>
            </p:cNvPr>
            <p:cNvSpPr>
              <a:spLocks noChangeShapeType="1"/>
            </p:cNvSpPr>
            <p:nvPr/>
          </p:nvSpPr>
          <p:spPr bwMode="auto">
            <a:xfrm>
              <a:off x="5176838" y="2765425"/>
              <a:ext cx="563562" cy="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96271" name="Rectangle 16">
              <a:extLst>
                <a:ext uri="{FF2B5EF4-FFF2-40B4-BE49-F238E27FC236}">
                  <a16:creationId xmlns:a16="http://schemas.microsoft.com/office/drawing/2014/main" id="{4D0D2AD0-BDE1-464A-9B43-A33457587EA8}"/>
                </a:ext>
              </a:extLst>
            </p:cNvPr>
            <p:cNvSpPr>
              <a:spLocks noChangeArrowheads="1"/>
            </p:cNvSpPr>
            <p:nvPr/>
          </p:nvSpPr>
          <p:spPr bwMode="auto">
            <a:xfrm>
              <a:off x="5740511" y="3695700"/>
              <a:ext cx="2095389" cy="614363"/>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600" b="1" dirty="0"/>
                <a:t>Target Technology Library</a:t>
              </a:r>
            </a:p>
          </p:txBody>
        </p:sp>
        <p:sp>
          <p:nvSpPr>
            <p:cNvPr id="116753" name="Line 17">
              <a:extLst>
                <a:ext uri="{FF2B5EF4-FFF2-40B4-BE49-F238E27FC236}">
                  <a16:creationId xmlns:a16="http://schemas.microsoft.com/office/drawing/2014/main" id="{BD7A998F-73F7-DAFD-26B5-E34D93F8F332}"/>
                </a:ext>
              </a:extLst>
            </p:cNvPr>
            <p:cNvSpPr>
              <a:spLocks noChangeShapeType="1"/>
            </p:cNvSpPr>
            <p:nvPr/>
          </p:nvSpPr>
          <p:spPr bwMode="auto">
            <a:xfrm>
              <a:off x="5149850" y="4010025"/>
              <a:ext cx="563563" cy="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97CB7875-3BA3-7286-E2DE-13AFF7780EA1}"/>
              </a:ext>
            </a:extLst>
          </p:cNvPr>
          <p:cNvSpPr>
            <a:spLocks noGrp="1" noChangeArrowheads="1"/>
          </p:cNvSpPr>
          <p:nvPr>
            <p:ph type="title"/>
          </p:nvPr>
        </p:nvSpPr>
        <p:spPr/>
        <p:txBody>
          <a:bodyPr/>
          <a:lstStyle/>
          <a:p>
            <a:r>
              <a:rPr lang="ru-RU" altLang="en-US"/>
              <a:t>Verilog HDL Constructs for Logic Synthesis </a:t>
            </a:r>
          </a:p>
        </p:txBody>
      </p:sp>
      <p:graphicFrame>
        <p:nvGraphicFramePr>
          <p:cNvPr id="4" name="Table 3">
            <a:extLst>
              <a:ext uri="{FF2B5EF4-FFF2-40B4-BE49-F238E27FC236}">
                <a16:creationId xmlns:a16="http://schemas.microsoft.com/office/drawing/2014/main" id="{AB1DA7F1-02B1-459A-A5AB-B4D6706A9368}"/>
              </a:ext>
            </a:extLst>
          </p:cNvPr>
          <p:cNvGraphicFramePr>
            <a:graphicFrameLocks noGrp="1"/>
          </p:cNvGraphicFramePr>
          <p:nvPr>
            <p:extLst>
              <p:ext uri="{D42A27DB-BD31-4B8C-83A1-F6EECF244321}">
                <p14:modId xmlns:p14="http://schemas.microsoft.com/office/powerpoint/2010/main" val="3567802758"/>
              </p:ext>
            </p:extLst>
          </p:nvPr>
        </p:nvGraphicFramePr>
        <p:xfrm>
          <a:off x="2209800" y="1570038"/>
          <a:ext cx="7924800" cy="3992576"/>
        </p:xfrm>
        <a:graphic>
          <a:graphicData uri="http://schemas.openxmlformats.org/drawingml/2006/table">
            <a:tbl>
              <a:tblPr firstRow="1" lastRow="1" bandRow="1">
                <a:tableStyleId>{5C22544A-7EE6-4342-B048-85BDC9FD1C3A}</a:tableStyleId>
              </a:tblPr>
              <a:tblGrid>
                <a:gridCol w="2278380">
                  <a:extLst>
                    <a:ext uri="{9D8B030D-6E8A-4147-A177-3AD203B41FA5}">
                      <a16:colId xmlns:a16="http://schemas.microsoft.com/office/drawing/2014/main" val="20000"/>
                    </a:ext>
                  </a:extLst>
                </a:gridCol>
                <a:gridCol w="3004820">
                  <a:extLst>
                    <a:ext uri="{9D8B030D-6E8A-4147-A177-3AD203B41FA5}">
                      <a16:colId xmlns:a16="http://schemas.microsoft.com/office/drawing/2014/main" val="20001"/>
                    </a:ext>
                  </a:extLst>
                </a:gridCol>
                <a:gridCol w="2641600">
                  <a:extLst>
                    <a:ext uri="{9D8B030D-6E8A-4147-A177-3AD203B41FA5}">
                      <a16:colId xmlns:a16="http://schemas.microsoft.com/office/drawing/2014/main" val="20002"/>
                    </a:ext>
                  </a:extLst>
                </a:gridCol>
              </a:tblGrid>
              <a:tr h="335276">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bg2"/>
                          </a:solidFill>
                          <a:effectLst/>
                          <a:latin typeface="Arial" pitchFamily="34" charset="0"/>
                          <a:cs typeface="Arial" pitchFamily="34" charset="0"/>
                        </a:rPr>
                        <a:t>Constructs</a:t>
                      </a:r>
                      <a:endParaRPr kumimoji="0" lang="ru-RU" sz="1600" b="0" i="0" u="none" strike="noStrike" cap="none" normalizeH="0" baseline="0" dirty="0">
                        <a:ln>
                          <a:noFill/>
                        </a:ln>
                        <a:solidFill>
                          <a:schemeClr val="bg2"/>
                        </a:solidFill>
                        <a:effectLst/>
                        <a:latin typeface="Arial" pitchFamily="34" charset="0"/>
                        <a:cs typeface="Arial" pitchFamily="34" charset="0"/>
                      </a:endParaRPr>
                    </a:p>
                  </a:txBody>
                  <a:tcPr marT="45719" marB="45719"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bg2"/>
                          </a:solidFill>
                          <a:effectLst/>
                          <a:latin typeface="Arial" pitchFamily="34" charset="0"/>
                          <a:cs typeface="Arial" pitchFamily="34" charset="0"/>
                        </a:rPr>
                        <a:t>Keyword or Description</a:t>
                      </a:r>
                      <a:endParaRPr kumimoji="0" lang="ru-RU" sz="1600" b="0" i="0" u="none" strike="noStrike" cap="none" normalizeH="0" baseline="0" dirty="0">
                        <a:ln>
                          <a:noFill/>
                        </a:ln>
                        <a:solidFill>
                          <a:schemeClr val="bg2"/>
                        </a:solidFill>
                        <a:effectLst/>
                        <a:latin typeface="Arial" pitchFamily="34" charset="0"/>
                        <a:cs typeface="Arial" pitchFamily="34" charset="0"/>
                      </a:endParaRPr>
                    </a:p>
                  </a:txBody>
                  <a:tcPr marT="45719" marB="45719"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bg2"/>
                          </a:solidFill>
                          <a:effectLst/>
                          <a:latin typeface="Arial" pitchFamily="34" charset="0"/>
                          <a:cs typeface="Arial" pitchFamily="34" charset="0"/>
                        </a:rPr>
                        <a:t>Notes</a:t>
                      </a:r>
                      <a:endParaRPr kumimoji="0" lang="ru-RU" sz="1600" b="0" i="0" u="none" strike="noStrike" cap="none" normalizeH="0" baseline="0" dirty="0">
                        <a:ln>
                          <a:noFill/>
                        </a:ln>
                        <a:solidFill>
                          <a:schemeClr val="bg2"/>
                        </a:solidFill>
                        <a:effectLst/>
                        <a:latin typeface="Arial" pitchFamily="34" charset="0"/>
                        <a:cs typeface="Arial" pitchFamily="34" charset="0"/>
                      </a:endParaRPr>
                    </a:p>
                  </a:txBody>
                  <a:tcPr marT="45719" marB="45719" horzOverflow="overflow"/>
                </a:tc>
                <a:extLst>
                  <a:ext uri="{0D108BD9-81ED-4DB2-BD59-A6C34878D82A}">
                    <a16:rowId xmlns:a16="http://schemas.microsoft.com/office/drawing/2014/main" val="10000"/>
                  </a:ext>
                </a:extLst>
              </a:tr>
              <a:tr h="335276">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Ports</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Input, output, </a:t>
                      </a:r>
                      <a:r>
                        <a:rPr kumimoji="0" lang="en-US" sz="1600" b="0" i="0" u="none" strike="noStrike" cap="none" normalizeH="0" baseline="0" dirty="0" err="1">
                          <a:ln>
                            <a:noFill/>
                          </a:ln>
                          <a:solidFill>
                            <a:schemeClr val="tx1"/>
                          </a:solidFill>
                          <a:effectLst/>
                          <a:latin typeface="Arial" pitchFamily="34" charset="0"/>
                          <a:cs typeface="Arial" pitchFamily="34" charset="0"/>
                        </a:rPr>
                        <a:t>inout</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extLst>
                  <a:ext uri="{0D108BD9-81ED-4DB2-BD59-A6C34878D82A}">
                    <a16:rowId xmlns:a16="http://schemas.microsoft.com/office/drawing/2014/main" val="10001"/>
                  </a:ext>
                </a:extLst>
              </a:tr>
              <a:tr h="335276">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Parameters</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parameter</a:t>
                      </a:r>
                      <a:r>
                        <a:rPr kumimoji="0" lang="ru-RU" sz="1600" b="0" i="0" u="none" strike="noStrike" cap="none" normalizeH="0" baseline="0">
                          <a:ln>
                            <a:noFill/>
                          </a:ln>
                          <a:solidFill>
                            <a:schemeClr val="tx1"/>
                          </a:solidFill>
                          <a:effectLst/>
                          <a:latin typeface="Arial" pitchFamily="34" charset="0"/>
                          <a:cs typeface="Arial" pitchFamily="34" charset="0"/>
                        </a:rPr>
                        <a:t> </a:t>
                      </a: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extLst>
                  <a:ext uri="{0D108BD9-81ED-4DB2-BD59-A6C34878D82A}">
                    <a16:rowId xmlns:a16="http://schemas.microsoft.com/office/drawing/2014/main" val="10002"/>
                  </a:ext>
                </a:extLst>
              </a:tr>
              <a:tr h="579115">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600" b="0" i="0" u="none" strike="noStrike" cap="none" normalizeH="0" baseline="0">
                          <a:ln>
                            <a:noFill/>
                          </a:ln>
                          <a:solidFill>
                            <a:schemeClr val="tx1"/>
                          </a:solidFill>
                          <a:effectLst/>
                          <a:latin typeface="Arial" pitchFamily="34" charset="0"/>
                          <a:cs typeface="Arial" pitchFamily="34" charset="0"/>
                        </a:rPr>
                        <a:t>signals and variables</a:t>
                      </a: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wire</a:t>
                      </a:r>
                      <a:r>
                        <a:rPr kumimoji="0" lang="ru-RU" sz="1600" b="0" i="0" u="none" strike="noStrike" cap="none" normalizeH="0" baseline="0">
                          <a:ln>
                            <a:noFill/>
                          </a:ln>
                          <a:solidFill>
                            <a:schemeClr val="tx1"/>
                          </a:solidFill>
                          <a:effectLst/>
                          <a:latin typeface="Arial" pitchFamily="34" charset="0"/>
                          <a:cs typeface="Arial" pitchFamily="34" charset="0"/>
                        </a:rPr>
                        <a:t>, </a:t>
                      </a:r>
                      <a:r>
                        <a:rPr kumimoji="0" lang="en-US" sz="1600" b="0" i="0" u="none" strike="noStrike" cap="none" normalizeH="0" baseline="0">
                          <a:ln>
                            <a:noFill/>
                          </a:ln>
                          <a:solidFill>
                            <a:schemeClr val="tx1"/>
                          </a:solidFill>
                          <a:effectLst/>
                          <a:latin typeface="Arial" pitchFamily="34" charset="0"/>
                          <a:cs typeface="Arial" pitchFamily="34" charset="0"/>
                        </a:rPr>
                        <a:t>reg</a:t>
                      </a:r>
                      <a:r>
                        <a:rPr kumimoji="0" lang="ru-RU" sz="1600" b="0" i="0" u="none" strike="noStrike" cap="none" normalizeH="0" baseline="0">
                          <a:ln>
                            <a:noFill/>
                          </a:ln>
                          <a:solidFill>
                            <a:schemeClr val="tx1"/>
                          </a:solidFill>
                          <a:effectLst/>
                          <a:latin typeface="Arial" pitchFamily="34" charset="0"/>
                          <a:cs typeface="Arial" pitchFamily="34" charset="0"/>
                        </a:rPr>
                        <a:t>, </a:t>
                      </a:r>
                      <a:r>
                        <a:rPr kumimoji="0" lang="en-US" sz="1600" b="0" i="0" u="none" strike="noStrike" cap="none" normalizeH="0" baseline="0">
                          <a:ln>
                            <a:noFill/>
                          </a:ln>
                          <a:solidFill>
                            <a:schemeClr val="tx1"/>
                          </a:solidFill>
                          <a:effectLst/>
                          <a:latin typeface="Arial" pitchFamily="34" charset="0"/>
                          <a:cs typeface="Arial" pitchFamily="34" charset="0"/>
                        </a:rPr>
                        <a:t>tri</a:t>
                      </a:r>
                      <a:r>
                        <a:rPr kumimoji="0" lang="ru-RU" sz="1600" b="0" i="0" u="none" strike="noStrike" cap="none" normalizeH="0" baseline="0">
                          <a:ln>
                            <a:noFill/>
                          </a:ln>
                          <a:solidFill>
                            <a:schemeClr val="tx1"/>
                          </a:solidFill>
                          <a:effectLst/>
                          <a:latin typeface="Arial" pitchFamily="34" charset="0"/>
                          <a:cs typeface="Arial" pitchFamily="34" charset="0"/>
                        </a:rPr>
                        <a:t>,</a:t>
                      </a:r>
                      <a:r>
                        <a:rPr kumimoji="0" lang="en-US" sz="1600" b="0" i="0" u="none" strike="noStrike" cap="none" normalizeH="0" baseline="0">
                          <a:ln>
                            <a:noFill/>
                          </a:ln>
                          <a:solidFill>
                            <a:schemeClr val="tx1"/>
                          </a:solidFill>
                          <a:effectLst/>
                          <a:latin typeface="Arial" pitchFamily="34" charset="0"/>
                          <a:cs typeface="Arial" pitchFamily="34" charset="0"/>
                        </a:rPr>
                        <a:t> integer</a:t>
                      </a:r>
                      <a:r>
                        <a:rPr kumimoji="0" lang="ru-RU" sz="1600" b="0" i="0" u="none" strike="noStrike" cap="none" normalizeH="0" baseline="0">
                          <a:ln>
                            <a:noFill/>
                          </a:ln>
                          <a:solidFill>
                            <a:schemeClr val="tx1"/>
                          </a:solidFill>
                          <a:effectLst/>
                          <a:latin typeface="Arial" pitchFamily="34" charset="0"/>
                          <a:cs typeface="Arial" pitchFamily="34" charset="0"/>
                        </a:rPr>
                        <a:t> </a:t>
                      </a: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Vectors and arrays are</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a:ln>
                            <a:noFill/>
                          </a:ln>
                          <a:solidFill>
                            <a:schemeClr val="tx1"/>
                          </a:solidFill>
                          <a:effectLst/>
                          <a:latin typeface="Arial" pitchFamily="34" charset="0"/>
                          <a:cs typeface="Arial" pitchFamily="34" charset="0"/>
                        </a:rPr>
                        <a:t>allowed</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extLst>
                  <a:ext uri="{0D108BD9-81ED-4DB2-BD59-A6C34878D82A}">
                    <a16:rowId xmlns:a16="http://schemas.microsoft.com/office/drawing/2014/main" val="10003"/>
                  </a:ext>
                </a:extLst>
              </a:tr>
              <a:tr h="579115">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Events</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   )</a:t>
                      </a:r>
                      <a:r>
                        <a:rPr kumimoji="0" lang="ru-RU" sz="1600" b="0" i="0" u="none" strike="noStrike" cap="none" normalizeH="0" baseline="0">
                          <a:ln>
                            <a:noFill/>
                          </a:ln>
                          <a:solidFill>
                            <a:schemeClr val="tx1"/>
                          </a:solidFill>
                          <a:effectLst/>
                          <a:latin typeface="Arial" pitchFamily="34" charset="0"/>
                          <a:cs typeface="Arial" pitchFamily="34" charset="0"/>
                        </a:rPr>
                        <a:t> </a:t>
                      </a: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600" b="0" i="0" u="none" strike="noStrike" cap="none" normalizeH="0" baseline="0" dirty="0">
                          <a:ln>
                            <a:noFill/>
                          </a:ln>
                          <a:solidFill>
                            <a:schemeClr val="tx1"/>
                          </a:solidFill>
                          <a:effectLst/>
                          <a:latin typeface="Arial" pitchFamily="34" charset="0"/>
                          <a:cs typeface="Arial" pitchFamily="34" charset="0"/>
                        </a:rPr>
                        <a:t>Named events are not supported </a:t>
                      </a:r>
                    </a:p>
                  </a:txBody>
                  <a:tcPr marT="45719" marB="45719" horzOverflow="overflow"/>
                </a:tc>
                <a:extLst>
                  <a:ext uri="{0D108BD9-81ED-4DB2-BD59-A6C34878D82A}">
                    <a16:rowId xmlns:a16="http://schemas.microsoft.com/office/drawing/2014/main" val="10004"/>
                  </a:ext>
                </a:extLst>
              </a:tr>
              <a:tr h="672768">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Functions and tasks</a:t>
                      </a:r>
                      <a:r>
                        <a:rPr kumimoji="0" lang="ru-RU" sz="1600" b="0" i="0" u="none" strike="noStrike" cap="none" normalizeH="0" baseline="0">
                          <a:ln>
                            <a:noFill/>
                          </a:ln>
                          <a:solidFill>
                            <a:schemeClr val="tx1"/>
                          </a:solidFill>
                          <a:effectLst/>
                          <a:latin typeface="Arial" pitchFamily="34" charset="0"/>
                          <a:cs typeface="Arial" pitchFamily="34" charset="0"/>
                        </a:rPr>
                        <a:t> </a:t>
                      </a: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Functions, tasks</a:t>
                      </a:r>
                      <a:r>
                        <a:rPr kumimoji="0" lang="ru-RU" sz="1600" b="0" i="0" u="none" strike="noStrike" cap="none" normalizeH="0" baseline="0" dirty="0">
                          <a:ln>
                            <a:noFill/>
                          </a:ln>
                          <a:solidFill>
                            <a:schemeClr val="tx1"/>
                          </a:solidFill>
                          <a:effectLst/>
                          <a:latin typeface="Arial" pitchFamily="34" charset="0"/>
                          <a:cs typeface="Arial" pitchFamily="34" charset="0"/>
                        </a:rPr>
                        <a:t> </a:t>
                      </a: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600" b="0" i="0" u="none" strike="noStrike" cap="none" normalizeH="0" baseline="0" dirty="0">
                          <a:ln>
                            <a:noFill/>
                          </a:ln>
                          <a:solidFill>
                            <a:schemeClr val="tx1"/>
                          </a:solidFill>
                          <a:effectLst/>
                          <a:latin typeface="Arial" pitchFamily="34" charset="0"/>
                          <a:cs typeface="Arial" pitchFamily="34" charset="0"/>
                        </a:rPr>
                        <a:t>Timing constructs ignored</a:t>
                      </a:r>
                    </a:p>
                  </a:txBody>
                  <a:tcPr marT="45719" marB="45719" horzOverflow="overflow"/>
                </a:tc>
                <a:extLst>
                  <a:ext uri="{0D108BD9-81ED-4DB2-BD59-A6C34878D82A}">
                    <a16:rowId xmlns:a16="http://schemas.microsoft.com/office/drawing/2014/main" val="10005"/>
                  </a:ext>
                </a:extLst>
              </a:tr>
              <a:tr h="820460">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600" b="0" i="0" u="none" strike="noStrike" cap="none" normalizeH="0" baseline="0" dirty="0">
                          <a:ln>
                            <a:noFill/>
                          </a:ln>
                          <a:solidFill>
                            <a:schemeClr val="tx1"/>
                          </a:solidFill>
                          <a:effectLst/>
                          <a:latin typeface="Arial" pitchFamily="34" charset="0"/>
                          <a:cs typeface="Arial" pitchFamily="34" charset="0"/>
                        </a:rPr>
                        <a:t>procedural</a:t>
                      </a: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always, if-else, case,</a:t>
                      </a:r>
                      <a:br>
                        <a:rPr kumimoji="0" lang="en-US" sz="1600" b="0" i="0" u="none" strike="noStrike" cap="none" normalizeH="0" baseline="0" dirty="0">
                          <a:ln>
                            <a:noFill/>
                          </a:ln>
                          <a:solidFill>
                            <a:schemeClr val="tx1"/>
                          </a:solidFill>
                          <a:effectLst/>
                          <a:latin typeface="Arial" pitchFamily="34" charset="0"/>
                          <a:cs typeface="Arial" pitchFamily="34" charset="0"/>
                        </a:rPr>
                      </a:br>
                      <a:r>
                        <a:rPr kumimoji="0" lang="en-US" sz="1600" b="0" i="0" u="none" strike="noStrike" cap="none" normalizeH="0" baseline="0" dirty="0" err="1">
                          <a:ln>
                            <a:noFill/>
                          </a:ln>
                          <a:solidFill>
                            <a:schemeClr val="tx1"/>
                          </a:solidFill>
                          <a:effectLst/>
                          <a:latin typeface="Arial" pitchFamily="34" charset="0"/>
                          <a:cs typeface="Arial" pitchFamily="34" charset="0"/>
                        </a:rPr>
                        <a:t>casex</a:t>
                      </a:r>
                      <a:r>
                        <a:rPr kumimoji="0" lang="en-US" sz="1600" b="0" i="0" u="none" strike="noStrike" cap="none" normalizeH="0" baseline="0" dirty="0">
                          <a:ln>
                            <a:noFill/>
                          </a:ln>
                          <a:solidFill>
                            <a:schemeClr val="tx1"/>
                          </a:solidFill>
                          <a:effectLst/>
                          <a:latin typeface="Arial" pitchFamily="34" charset="0"/>
                          <a:cs typeface="Arial" pitchFamily="34" charset="0"/>
                        </a:rPr>
                        <a:t>, </a:t>
                      </a:r>
                      <a:r>
                        <a:rPr kumimoji="0" lang="en-US" sz="1600" b="0" i="0" u="none" strike="noStrike" cap="none" normalizeH="0" baseline="0" dirty="0" err="1">
                          <a:ln>
                            <a:noFill/>
                          </a:ln>
                          <a:solidFill>
                            <a:schemeClr val="tx1"/>
                          </a:solidFill>
                          <a:effectLst/>
                          <a:latin typeface="Arial" pitchFamily="34" charset="0"/>
                          <a:cs typeface="Arial" pitchFamily="34" charset="0"/>
                        </a:rPr>
                        <a:t>casez</a:t>
                      </a:r>
                      <a:r>
                        <a:rPr kumimoji="0" lang="ru-RU" sz="1600" b="0" i="0" u="none" strike="noStrike" cap="none" normalizeH="0" baseline="0" dirty="0">
                          <a:ln>
                            <a:noFill/>
                          </a:ln>
                          <a:solidFill>
                            <a:schemeClr val="tx1"/>
                          </a:solidFill>
                          <a:effectLst/>
                          <a:latin typeface="Arial" pitchFamily="34" charset="0"/>
                          <a:cs typeface="Arial" pitchFamily="34" charset="0"/>
                        </a:rPr>
                        <a:t> </a:t>
                      </a: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initial is not supported</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extLst>
                  <a:ext uri="{0D108BD9-81ED-4DB2-BD59-A6C34878D82A}">
                    <a16:rowId xmlns:a16="http://schemas.microsoft.com/office/drawing/2014/main" val="10006"/>
                  </a:ext>
                </a:extLst>
              </a:tr>
              <a:tr h="335276">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19" marB="45719" horzOverflow="overflow"/>
                </a:tc>
                <a:extLst>
                  <a:ext uri="{0D108BD9-81ED-4DB2-BD59-A6C34878D82A}">
                    <a16:rowId xmlns:a16="http://schemas.microsoft.com/office/drawing/2014/main" val="10007"/>
                  </a:ext>
                </a:extLst>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4">
            <a:extLst>
              <a:ext uri="{FF2B5EF4-FFF2-40B4-BE49-F238E27FC236}">
                <a16:creationId xmlns:a16="http://schemas.microsoft.com/office/drawing/2014/main" id="{1DDA2CD2-3B42-AAAD-4CCE-D6D94DC741F7}"/>
              </a:ext>
            </a:extLst>
          </p:cNvPr>
          <p:cNvSpPr>
            <a:spLocks noGrp="1" noChangeArrowheads="1"/>
          </p:cNvSpPr>
          <p:nvPr>
            <p:ph type="title"/>
          </p:nvPr>
        </p:nvSpPr>
        <p:spPr/>
        <p:txBody>
          <a:bodyPr/>
          <a:lstStyle/>
          <a:p>
            <a:r>
              <a:rPr lang="ru-RU" altLang="en-US"/>
              <a:t>Verilog HDL Constructs for Logic Synthesis </a:t>
            </a:r>
            <a:r>
              <a:rPr lang="en-US" altLang="en-US"/>
              <a:t>(2)</a:t>
            </a:r>
            <a:endParaRPr lang="ru-RU" altLang="en-US"/>
          </a:p>
        </p:txBody>
      </p:sp>
      <p:graphicFrame>
        <p:nvGraphicFramePr>
          <p:cNvPr id="4" name="Table 3">
            <a:extLst>
              <a:ext uri="{FF2B5EF4-FFF2-40B4-BE49-F238E27FC236}">
                <a16:creationId xmlns:a16="http://schemas.microsoft.com/office/drawing/2014/main" id="{8357ABF3-DA12-4F2F-91AB-559C6404C671}"/>
              </a:ext>
            </a:extLst>
          </p:cNvPr>
          <p:cNvGraphicFramePr>
            <a:graphicFrameLocks noGrp="1"/>
          </p:cNvGraphicFramePr>
          <p:nvPr>
            <p:extLst>
              <p:ext uri="{D42A27DB-BD31-4B8C-83A1-F6EECF244321}">
                <p14:modId xmlns:p14="http://schemas.microsoft.com/office/powerpoint/2010/main" val="598231466"/>
              </p:ext>
            </p:extLst>
          </p:nvPr>
        </p:nvGraphicFramePr>
        <p:xfrm>
          <a:off x="2144713" y="1828800"/>
          <a:ext cx="7848600" cy="3392488"/>
        </p:xfrm>
        <a:graphic>
          <a:graphicData uri="http://schemas.openxmlformats.org/drawingml/2006/table">
            <a:tbl>
              <a:tblPr firstRow="1" bandRow="1">
                <a:tableStyleId>{5C22544A-7EE6-4342-B048-85BDC9FD1C3A}</a:tableStyleId>
              </a:tblPr>
              <a:tblGrid>
                <a:gridCol w="1598789">
                  <a:extLst>
                    <a:ext uri="{9D8B030D-6E8A-4147-A177-3AD203B41FA5}">
                      <a16:colId xmlns:a16="http://schemas.microsoft.com/office/drawing/2014/main" val="20000"/>
                    </a:ext>
                  </a:extLst>
                </a:gridCol>
                <a:gridCol w="2906889">
                  <a:extLst>
                    <a:ext uri="{9D8B030D-6E8A-4147-A177-3AD203B41FA5}">
                      <a16:colId xmlns:a16="http://schemas.microsoft.com/office/drawing/2014/main" val="20001"/>
                    </a:ext>
                  </a:extLst>
                </a:gridCol>
                <a:gridCol w="3342922">
                  <a:extLst>
                    <a:ext uri="{9D8B030D-6E8A-4147-A177-3AD203B41FA5}">
                      <a16:colId xmlns:a16="http://schemas.microsoft.com/office/drawing/2014/main" val="20002"/>
                    </a:ext>
                  </a:extLst>
                </a:gridCol>
              </a:tblGrid>
              <a:tr h="365767">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Constructs</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Keyword or Description</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Notes</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21" marB="45721" horzOverflow="overflow"/>
                </a:tc>
                <a:extLst>
                  <a:ext uri="{0D108BD9-81ED-4DB2-BD59-A6C34878D82A}">
                    <a16:rowId xmlns:a16="http://schemas.microsoft.com/office/drawing/2014/main" val="10000"/>
                  </a:ext>
                </a:extLst>
              </a:tr>
              <a:tr h="914417">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Procedural </a:t>
                      </a:r>
                    </a:p>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blocks</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begin – end</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named blocks</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fork</a:t>
                      </a:r>
                      <a:r>
                        <a:rPr kumimoji="0" lang="ru-RU" sz="1800" b="0" i="0" u="none" strike="noStrike" cap="none" normalizeH="0" baseline="0" dirty="0">
                          <a:ln>
                            <a:noFill/>
                          </a:ln>
                          <a:solidFill>
                            <a:schemeClr val="tx1"/>
                          </a:solidFill>
                          <a:effectLst/>
                          <a:latin typeface="Arial" pitchFamily="34" charset="0"/>
                          <a:cs typeface="Arial" pitchFamily="34" charset="0"/>
                        </a:rPr>
                        <a:t> – </a:t>
                      </a:r>
                      <a:r>
                        <a:rPr kumimoji="0" lang="en-US" sz="1800" b="0" i="0" u="none" strike="noStrike" cap="none" normalizeH="0" baseline="0" dirty="0">
                          <a:ln>
                            <a:noFill/>
                          </a:ln>
                          <a:solidFill>
                            <a:schemeClr val="tx1"/>
                          </a:solidFill>
                          <a:effectLst/>
                          <a:latin typeface="Arial" pitchFamily="34" charset="0"/>
                          <a:cs typeface="Arial" pitchFamily="34" charset="0"/>
                        </a:rPr>
                        <a:t>join is not supported</a:t>
                      </a:r>
                      <a:br>
                        <a:rPr kumimoji="0" lang="ru-RU"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disable</a:t>
                      </a:r>
                      <a:r>
                        <a:rPr kumimoji="0" lang="ru-RU" sz="1800" b="0" i="0" u="none" strike="noStrike" cap="none" normalizeH="0" baseline="0" dirty="0">
                          <a:ln>
                            <a:noFill/>
                          </a:ln>
                          <a:solidFill>
                            <a:schemeClr val="tx1"/>
                          </a:solidFill>
                          <a:effectLst/>
                          <a:latin typeface="Arial" pitchFamily="34" charset="0"/>
                          <a:cs typeface="Arial" pitchFamily="34" charset="0"/>
                        </a:rPr>
                        <a:t> – </a:t>
                      </a:r>
                      <a:r>
                        <a:rPr kumimoji="0" lang="en-US" sz="1800" b="0" i="0" u="none" strike="noStrike" cap="none" normalizeH="0" baseline="0" dirty="0">
                          <a:ln>
                            <a:noFill/>
                          </a:ln>
                          <a:solidFill>
                            <a:schemeClr val="tx1"/>
                          </a:solidFill>
                          <a:effectLst/>
                          <a:latin typeface="Arial" pitchFamily="34" charset="0"/>
                          <a:cs typeface="Arial" pitchFamily="34" charset="0"/>
                        </a:rPr>
                        <a:t>for named blocks only</a:t>
                      </a:r>
                      <a:r>
                        <a:rPr kumimoji="0" lang="ru-RU" sz="1800" b="0" i="0" u="none" strike="noStrike" cap="none" normalizeH="0" baseline="0" dirty="0">
                          <a:ln>
                            <a:noFill/>
                          </a:ln>
                          <a:solidFill>
                            <a:schemeClr val="tx1"/>
                          </a:solidFill>
                          <a:effectLst/>
                          <a:latin typeface="Arial" pitchFamily="34" charset="0"/>
                          <a:cs typeface="Arial" pitchFamily="34" charset="0"/>
                        </a:rPr>
                        <a:t> </a:t>
                      </a:r>
                    </a:p>
                  </a:txBody>
                  <a:tcPr marT="45721" marB="45721" horzOverflow="overflow"/>
                </a:tc>
                <a:extLst>
                  <a:ext uri="{0D108BD9-81ED-4DB2-BD59-A6C34878D82A}">
                    <a16:rowId xmlns:a16="http://schemas.microsoft.com/office/drawing/2014/main" val="10001"/>
                  </a:ext>
                </a:extLst>
              </a:tr>
              <a:tr h="365767">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Loops</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tx1"/>
                          </a:solidFill>
                          <a:effectLst/>
                          <a:latin typeface="Arial" pitchFamily="34" charset="0"/>
                          <a:cs typeface="Arial" pitchFamily="34" charset="0"/>
                        </a:rPr>
                        <a:t>for</a:t>
                      </a: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1" marB="45721" horzOverflow="overflow"/>
                </a:tc>
                <a:extLst>
                  <a:ext uri="{0D108BD9-81ED-4DB2-BD59-A6C34878D82A}">
                    <a16:rowId xmlns:a16="http://schemas.microsoft.com/office/drawing/2014/main" val="10002"/>
                  </a:ext>
                </a:extLst>
              </a:tr>
              <a:tr h="365767">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Loops</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tx1"/>
                          </a:solidFill>
                          <a:effectLst/>
                          <a:latin typeface="Arial" pitchFamily="34" charset="0"/>
                          <a:cs typeface="Arial" pitchFamily="34" charset="0"/>
                        </a:rPr>
                        <a:t>while, forever</a:t>
                      </a:r>
                      <a:r>
                        <a:rPr kumimoji="0" lang="en-US" sz="1800" b="0" i="0" u="none" strike="noStrike" cap="none" normalizeH="0" baseline="0" dirty="0">
                          <a:ln>
                            <a:noFill/>
                          </a:ln>
                          <a:solidFill>
                            <a:schemeClr val="tx1"/>
                          </a:solidFill>
                          <a:effectLst/>
                          <a:latin typeface="Arial" pitchFamily="34" charset="0"/>
                          <a:cs typeface="Arial" pitchFamily="34" charset="0"/>
                        </a:rPr>
                        <a:t>,</a:t>
                      </a:r>
                      <a:r>
                        <a:rPr kumimoji="0" lang="ru-RU" sz="1800" b="0" i="0" u="none" strike="noStrike" cap="none" normalizeH="0" baseline="0" dirty="0">
                          <a:ln>
                            <a:noFill/>
                          </a:ln>
                          <a:solidFill>
                            <a:schemeClr val="tx1"/>
                          </a:solidFill>
                          <a:effectLst/>
                          <a:latin typeface="Arial" pitchFamily="34" charset="0"/>
                          <a:cs typeface="Arial" pitchFamily="34" charset="0"/>
                        </a:rPr>
                        <a:t> </a:t>
                      </a:r>
                      <a:r>
                        <a:rPr kumimoji="0" lang="en-US" sz="1800" b="0" i="0" u="none" strike="noStrike" cap="none" normalizeH="0" baseline="0" dirty="0">
                          <a:ln>
                            <a:noFill/>
                          </a:ln>
                          <a:solidFill>
                            <a:schemeClr val="tx1"/>
                          </a:solidFill>
                          <a:effectLst/>
                          <a:latin typeface="Arial" pitchFamily="34" charset="0"/>
                          <a:cs typeface="Arial" pitchFamily="34" charset="0"/>
                        </a:rPr>
                        <a:t>repeat</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1" marB="45721" horzOverflow="overflow"/>
                </a:tc>
                <a:extLst>
                  <a:ext uri="{0D108BD9-81ED-4DB2-BD59-A6C34878D82A}">
                    <a16:rowId xmlns:a16="http://schemas.microsoft.com/office/drawing/2014/main" val="10003"/>
                  </a:ext>
                </a:extLst>
              </a:tr>
              <a:tr h="969282">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2000" b="0" i="0" u="none" strike="noStrike" cap="none" normalizeH="0" baseline="0">
                          <a:ln>
                            <a:noFill/>
                          </a:ln>
                          <a:solidFill>
                            <a:schemeClr val="tx1"/>
                          </a:solidFill>
                          <a:effectLst/>
                          <a:latin typeface="Arial" pitchFamily="34" charset="0"/>
                          <a:cs typeface="Arial" pitchFamily="34" charset="0"/>
                        </a:rPr>
                        <a:t>instantiation</a:t>
                      </a: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tx1"/>
                          </a:solidFill>
                          <a:effectLst/>
                          <a:latin typeface="Arial" pitchFamily="34" charset="0"/>
                          <a:cs typeface="Arial" pitchFamily="34" charset="0"/>
                        </a:rPr>
                        <a:t>module instances, primitive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tx1"/>
                          </a:solidFill>
                          <a:effectLst/>
                          <a:latin typeface="Arial" pitchFamily="34" charset="0"/>
                          <a:cs typeface="Arial" pitchFamily="34" charset="0"/>
                        </a:rPr>
                        <a:t>gate instances</a:t>
                      </a: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E.g. </a:t>
                      </a:r>
                      <a:r>
                        <a:rPr kumimoji="0" lang="ru-RU" sz="1800" b="0" i="0" u="none" strike="noStrike" cap="none" normalizeH="0" baseline="0" dirty="0">
                          <a:ln>
                            <a:noFill/>
                          </a:ln>
                          <a:solidFill>
                            <a:schemeClr val="tx1"/>
                          </a:solidFill>
                          <a:effectLst/>
                          <a:latin typeface="Arial" pitchFamily="34" charset="0"/>
                          <a:cs typeface="Arial" pitchFamily="34" charset="0"/>
                        </a:rPr>
                        <a:t>mymux m1(out, i0, i1, s); E.g., nand (out, a, b);</a:t>
                      </a:r>
                      <a:r>
                        <a:rPr kumimoji="0" lang="ru-RU" sz="2400" b="0" i="0" u="none" strike="noStrike" cap="none" normalizeH="0" baseline="0" dirty="0">
                          <a:ln>
                            <a:noFill/>
                          </a:ln>
                          <a:solidFill>
                            <a:schemeClr val="tx1"/>
                          </a:solidFill>
                          <a:effectLst/>
                          <a:latin typeface="Arial" pitchFamily="34" charset="0"/>
                          <a:cs typeface="Arial" pitchFamily="34" charset="0"/>
                        </a:rPr>
                        <a:t> </a:t>
                      </a:r>
                    </a:p>
                  </a:txBody>
                  <a:tcPr marT="45721" marB="45721" horzOverflow="overflow"/>
                </a:tc>
                <a:extLst>
                  <a:ext uri="{0D108BD9-81ED-4DB2-BD59-A6C34878D82A}">
                    <a16:rowId xmlns:a16="http://schemas.microsoft.com/office/drawing/2014/main" val="10004"/>
                  </a:ext>
                </a:extLst>
              </a:tr>
              <a:tr h="411488">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Data flow</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assign</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1" marB="45721"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a:ln>
                            <a:noFill/>
                          </a:ln>
                          <a:solidFill>
                            <a:schemeClr val="tx1"/>
                          </a:solidFill>
                          <a:effectLst/>
                          <a:latin typeface="Arial" pitchFamily="34" charset="0"/>
                          <a:cs typeface="Arial" pitchFamily="34" charset="0"/>
                        </a:rPr>
                        <a:t>Delay information is ignored</a:t>
                      </a:r>
                    </a:p>
                  </a:txBody>
                  <a:tcPr marT="45721" marB="45721" horzOverflow="overflow"/>
                </a:tc>
                <a:extLst>
                  <a:ext uri="{0D108BD9-81ED-4DB2-BD59-A6C34878D82A}">
                    <a16:rowId xmlns:a16="http://schemas.microsoft.com/office/drawing/2014/main" val="10005"/>
                  </a:ext>
                </a:extLst>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a:extLst>
              <a:ext uri="{FF2B5EF4-FFF2-40B4-BE49-F238E27FC236}">
                <a16:creationId xmlns:a16="http://schemas.microsoft.com/office/drawing/2014/main" id="{F2AFBEBD-2121-CDF3-7912-9440B67877F4}"/>
              </a:ext>
            </a:extLst>
          </p:cNvPr>
          <p:cNvSpPr>
            <a:spLocks noGrp="1" noChangeArrowheads="1"/>
          </p:cNvSpPr>
          <p:nvPr>
            <p:ph type="title"/>
          </p:nvPr>
        </p:nvSpPr>
        <p:spPr/>
        <p:txBody>
          <a:bodyPr/>
          <a:lstStyle/>
          <a:p>
            <a:r>
              <a:rPr lang="en-US" altLang="en-US"/>
              <a:t>Optimization within DC</a:t>
            </a:r>
            <a:endParaRPr lang="ru-RU" altLang="en-US"/>
          </a:p>
        </p:txBody>
      </p:sp>
      <p:sp>
        <p:nvSpPr>
          <p:cNvPr id="119811" name="Content Placeholder 4">
            <a:extLst>
              <a:ext uri="{FF2B5EF4-FFF2-40B4-BE49-F238E27FC236}">
                <a16:creationId xmlns:a16="http://schemas.microsoft.com/office/drawing/2014/main" id="{CD344091-A30B-A19D-B5E6-0AD2010E5FF4}"/>
              </a:ext>
            </a:extLst>
          </p:cNvPr>
          <p:cNvSpPr>
            <a:spLocks noGrp="1" noChangeArrowheads="1"/>
          </p:cNvSpPr>
          <p:nvPr>
            <p:ph type="body" sz="quarter" idx="10"/>
          </p:nvPr>
        </p:nvSpPr>
        <p:spPr/>
        <p:txBody>
          <a:bodyPr/>
          <a:lstStyle/>
          <a:p>
            <a:r>
              <a:rPr lang="en-GB" altLang="en-US"/>
              <a:t>High Level Optimization (Architectural Optimization), Logic Level Optimization, Gate Level Optimization.</a:t>
            </a:r>
          </a:p>
          <a:p>
            <a:r>
              <a:rPr lang="en-US" altLang="en-US"/>
              <a:t>T</a:t>
            </a:r>
            <a:r>
              <a:rPr lang="ru-RU" altLang="en-US"/>
              <a:t>hree types of high-level optimizations: resource sharing, common subexpression</a:t>
            </a:r>
            <a:r>
              <a:rPr lang="en-US" altLang="en-US"/>
              <a:t> </a:t>
            </a:r>
            <a:r>
              <a:rPr lang="ru-RU" altLang="en-US"/>
              <a:t>sharing and implementation selection.</a:t>
            </a:r>
          </a:p>
          <a:p>
            <a:r>
              <a:rPr lang="ru-RU" altLang="en-US"/>
              <a:t>Resource sharing: </a:t>
            </a:r>
            <a:endParaRPr lang="en-US" altLang="en-US"/>
          </a:p>
          <a:p>
            <a:r>
              <a:rPr lang="en-US" altLang="en-US"/>
              <a:t>D</a:t>
            </a:r>
            <a:r>
              <a:rPr lang="ru-RU" altLang="en-US"/>
              <a:t>etermines whether operators listed in separate lines of code can be shared</a:t>
            </a:r>
            <a:r>
              <a:rPr lang="en-US" altLang="en-US"/>
              <a:t>.</a:t>
            </a:r>
          </a:p>
          <a:p>
            <a:r>
              <a:rPr lang="en-US" altLang="en-US"/>
              <a:t>D</a:t>
            </a:r>
            <a:r>
              <a:rPr lang="ru-RU" altLang="en-US"/>
              <a:t>etermines whether it is a good idea to share them</a:t>
            </a:r>
            <a:r>
              <a:rPr lang="en-US" altLang="en-US"/>
              <a:t>,</a:t>
            </a:r>
            <a:r>
              <a:rPr lang="ru-RU" altLang="en-US"/>
              <a:t> i.e. does it improve timing</a:t>
            </a:r>
            <a:r>
              <a:rPr lang="en-US" altLang="en-US"/>
              <a:t>.</a:t>
            </a:r>
          </a:p>
          <a:p>
            <a:r>
              <a:rPr lang="ru-RU" altLang="en-US"/>
              <a:t>Consider the effect of the RTL-description on the optimization, in particular, Resource sharing</a:t>
            </a:r>
            <a:r>
              <a:rPr lang="en-US" altLang="en-US"/>
              <a:t>.</a:t>
            </a:r>
            <a:r>
              <a:rPr lang="ru-RU" altLang="en-US"/>
              <a:t> </a:t>
            </a:r>
          </a:p>
          <a:p>
            <a:endParaRPr lang="en-US" altLang="en-US"/>
          </a:p>
          <a:p>
            <a:endParaRPr lang="ru-RU" altLang="en-US"/>
          </a:p>
          <a:p>
            <a:endParaRPr lang="ru-RU"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4">
            <a:extLst>
              <a:ext uri="{FF2B5EF4-FFF2-40B4-BE49-F238E27FC236}">
                <a16:creationId xmlns:a16="http://schemas.microsoft.com/office/drawing/2014/main" id="{54FB000D-EB89-CCCE-57A9-C2A1329776E9}"/>
              </a:ext>
            </a:extLst>
          </p:cNvPr>
          <p:cNvSpPr>
            <a:spLocks noGrp="1" noChangeArrowheads="1"/>
          </p:cNvSpPr>
          <p:nvPr>
            <p:ph type="title"/>
          </p:nvPr>
        </p:nvSpPr>
        <p:spPr/>
        <p:txBody>
          <a:bodyPr/>
          <a:lstStyle/>
          <a:p>
            <a:r>
              <a:rPr lang="en-US" altLang="en-US"/>
              <a:t>Resource Sharing </a:t>
            </a:r>
            <a:endParaRPr lang="ru-RU" altLang="en-US"/>
          </a:p>
        </p:txBody>
      </p:sp>
      <p:sp>
        <p:nvSpPr>
          <p:cNvPr id="120835" name="Content Placeholder 77">
            <a:extLst>
              <a:ext uri="{FF2B5EF4-FFF2-40B4-BE49-F238E27FC236}">
                <a16:creationId xmlns:a16="http://schemas.microsoft.com/office/drawing/2014/main" id="{95BDB3FB-4CAA-044C-884F-71D5F006EA8E}"/>
              </a:ext>
            </a:extLst>
          </p:cNvPr>
          <p:cNvSpPr>
            <a:spLocks noGrp="1" noChangeArrowheads="1"/>
          </p:cNvSpPr>
          <p:nvPr>
            <p:ph type="body" sz="quarter" idx="10"/>
          </p:nvPr>
        </p:nvSpPr>
        <p:spPr/>
        <p:txBody>
          <a:bodyPr/>
          <a:lstStyle/>
          <a:p>
            <a:r>
              <a:rPr lang="es-ES_tradnl" altLang="en-US"/>
              <a:t> . . .</a:t>
            </a:r>
          </a:p>
          <a:p>
            <a:r>
              <a:rPr lang="es-ES_tradnl" altLang="en-US"/>
              <a:t>y1 =a+b;</a:t>
            </a:r>
            <a:endParaRPr lang="ru-RU" altLang="en-US"/>
          </a:p>
          <a:p>
            <a:r>
              <a:rPr lang="es-ES_tradnl" altLang="en-US"/>
              <a:t>y2=c+d;</a:t>
            </a:r>
            <a:endParaRPr lang="ru-RU" altLang="en-US"/>
          </a:p>
          <a:p>
            <a:r>
              <a:rPr lang="es-ES_tradnl" altLang="en-US"/>
              <a:t>y3=e+f;</a:t>
            </a:r>
            <a:endParaRPr lang="ru-RU" altLang="en-US"/>
          </a:p>
          <a:p>
            <a:r>
              <a:rPr lang="es-ES_tradnl" altLang="en-US"/>
              <a:t>y4=g+h;</a:t>
            </a:r>
            <a:endParaRPr lang="ru-RU" altLang="en-US"/>
          </a:p>
          <a:p>
            <a:r>
              <a:rPr lang="es-ES_tradnl" altLang="en-US"/>
              <a:t>if (sel==2’b00) y=y1;</a:t>
            </a:r>
            <a:endParaRPr lang="ru-RU" altLang="en-US"/>
          </a:p>
          <a:p>
            <a:r>
              <a:rPr lang="es-ES_tradnl" altLang="en-US"/>
              <a:t>else  if (sel==2’b01) y=y2;</a:t>
            </a:r>
            <a:endParaRPr lang="ru-RU" altLang="en-US"/>
          </a:p>
          <a:p>
            <a:r>
              <a:rPr lang="es-ES_tradnl" altLang="en-US"/>
              <a:t> else if (sel==2’b10) y=y3;</a:t>
            </a:r>
            <a:endParaRPr lang="ru-RU" altLang="en-US"/>
          </a:p>
          <a:p>
            <a:r>
              <a:rPr lang="es-ES_tradnl" altLang="en-US"/>
              <a:t> else y=y4;</a:t>
            </a:r>
          </a:p>
          <a:p>
            <a:r>
              <a:rPr lang="es-ES_tradnl" altLang="en-US"/>
              <a:t>. . .</a:t>
            </a:r>
          </a:p>
          <a:p>
            <a:endParaRPr lang="en-US" altLang="en-US"/>
          </a:p>
          <a:p>
            <a:r>
              <a:rPr lang="en-US" altLang="en-US"/>
              <a:t>Resource sharing is impossible  because</a:t>
            </a:r>
            <a:r>
              <a:rPr lang="ru-RU" altLang="en-US"/>
              <a:t> the arithmetic </a:t>
            </a:r>
            <a:r>
              <a:rPr lang="en-US" altLang="en-US"/>
              <a:t>operations</a:t>
            </a:r>
            <a:r>
              <a:rPr lang="ru-RU" altLang="en-US"/>
              <a:t> are outside</a:t>
            </a:r>
            <a:r>
              <a:rPr lang="en-US" altLang="en-US"/>
              <a:t> the if statement. Design may be much larger than necessary.</a:t>
            </a:r>
            <a:endParaRPr lang="ru-RU" altLang="en-US"/>
          </a:p>
          <a:p>
            <a:endParaRPr lang="ru-RU" altLang="en-US"/>
          </a:p>
        </p:txBody>
      </p:sp>
      <p:grpSp>
        <p:nvGrpSpPr>
          <p:cNvPr id="120836" name="Group 76">
            <a:extLst>
              <a:ext uri="{FF2B5EF4-FFF2-40B4-BE49-F238E27FC236}">
                <a16:creationId xmlns:a16="http://schemas.microsoft.com/office/drawing/2014/main" id="{B9046968-600E-EF29-E0BF-C50C5DCC421D}"/>
              </a:ext>
            </a:extLst>
          </p:cNvPr>
          <p:cNvGrpSpPr>
            <a:grpSpLocks/>
          </p:cNvGrpSpPr>
          <p:nvPr/>
        </p:nvGrpSpPr>
        <p:grpSpPr bwMode="auto">
          <a:xfrm>
            <a:off x="5481638" y="1295401"/>
            <a:ext cx="3738562" cy="3438525"/>
            <a:chOff x="3962400" y="1143000"/>
            <a:chExt cx="3962400" cy="3886200"/>
          </a:xfrm>
        </p:grpSpPr>
        <p:sp>
          <p:nvSpPr>
            <p:cNvPr id="120837" name="Line 7">
              <a:extLst>
                <a:ext uri="{FF2B5EF4-FFF2-40B4-BE49-F238E27FC236}">
                  <a16:creationId xmlns:a16="http://schemas.microsoft.com/office/drawing/2014/main" id="{D3F05246-01F7-927B-F849-DF24A758EDE4}"/>
                </a:ext>
              </a:extLst>
            </p:cNvPr>
            <p:cNvSpPr>
              <a:spLocks noChangeShapeType="1"/>
            </p:cNvSpPr>
            <p:nvPr/>
          </p:nvSpPr>
          <p:spPr bwMode="auto">
            <a:xfrm>
              <a:off x="4597400" y="1209675"/>
              <a:ext cx="0" cy="2746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38" name="Line 8">
              <a:extLst>
                <a:ext uri="{FF2B5EF4-FFF2-40B4-BE49-F238E27FC236}">
                  <a16:creationId xmlns:a16="http://schemas.microsoft.com/office/drawing/2014/main" id="{58780050-4877-CAA4-E34B-75DAC10407FB}"/>
                </a:ext>
              </a:extLst>
            </p:cNvPr>
            <p:cNvSpPr>
              <a:spLocks noChangeShapeType="1"/>
            </p:cNvSpPr>
            <p:nvPr/>
          </p:nvSpPr>
          <p:spPr bwMode="auto">
            <a:xfrm>
              <a:off x="4597400" y="1485900"/>
              <a:ext cx="123825" cy="98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39" name="Line 9">
              <a:extLst>
                <a:ext uri="{FF2B5EF4-FFF2-40B4-BE49-F238E27FC236}">
                  <a16:creationId xmlns:a16="http://schemas.microsoft.com/office/drawing/2014/main" id="{A9A3F5A7-6CF0-9B79-C352-64F7E4B5D325}"/>
                </a:ext>
              </a:extLst>
            </p:cNvPr>
            <p:cNvSpPr>
              <a:spLocks noChangeShapeType="1"/>
            </p:cNvSpPr>
            <p:nvPr/>
          </p:nvSpPr>
          <p:spPr bwMode="auto">
            <a:xfrm rot="-5400000">
              <a:off x="4609306" y="1572419"/>
              <a:ext cx="100013" cy="1238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0" name="Line 10">
              <a:extLst>
                <a:ext uri="{FF2B5EF4-FFF2-40B4-BE49-F238E27FC236}">
                  <a16:creationId xmlns:a16="http://schemas.microsoft.com/office/drawing/2014/main" id="{605B81EA-6821-8CC8-7512-461730BA689E}"/>
                </a:ext>
              </a:extLst>
            </p:cNvPr>
            <p:cNvSpPr>
              <a:spLocks noChangeShapeType="1"/>
            </p:cNvSpPr>
            <p:nvPr/>
          </p:nvSpPr>
          <p:spPr bwMode="auto">
            <a:xfrm>
              <a:off x="4597400" y="1682750"/>
              <a:ext cx="0" cy="273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1" name="Line 11">
              <a:extLst>
                <a:ext uri="{FF2B5EF4-FFF2-40B4-BE49-F238E27FC236}">
                  <a16:creationId xmlns:a16="http://schemas.microsoft.com/office/drawing/2014/main" id="{BB8E47F3-2849-3758-3E34-549A54C6C661}"/>
                </a:ext>
              </a:extLst>
            </p:cNvPr>
            <p:cNvSpPr>
              <a:spLocks noChangeShapeType="1"/>
            </p:cNvSpPr>
            <p:nvPr/>
          </p:nvSpPr>
          <p:spPr bwMode="auto">
            <a:xfrm>
              <a:off x="5122863" y="1419225"/>
              <a:ext cx="0" cy="3937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2" name="Line 12">
              <a:extLst>
                <a:ext uri="{FF2B5EF4-FFF2-40B4-BE49-F238E27FC236}">
                  <a16:creationId xmlns:a16="http://schemas.microsoft.com/office/drawing/2014/main" id="{E41A79EC-8B0A-EB2E-9CC9-897C7CE5241D}"/>
                </a:ext>
              </a:extLst>
            </p:cNvPr>
            <p:cNvSpPr>
              <a:spLocks noChangeShapeType="1"/>
            </p:cNvSpPr>
            <p:nvPr/>
          </p:nvSpPr>
          <p:spPr bwMode="auto">
            <a:xfrm>
              <a:off x="4610100" y="1209675"/>
              <a:ext cx="527050" cy="2095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3" name="Line 13">
              <a:extLst>
                <a:ext uri="{FF2B5EF4-FFF2-40B4-BE49-F238E27FC236}">
                  <a16:creationId xmlns:a16="http://schemas.microsoft.com/office/drawing/2014/main" id="{27F397A3-A311-1976-A259-FA92EFA512AE}"/>
                </a:ext>
              </a:extLst>
            </p:cNvPr>
            <p:cNvSpPr>
              <a:spLocks noChangeShapeType="1"/>
            </p:cNvSpPr>
            <p:nvPr/>
          </p:nvSpPr>
          <p:spPr bwMode="auto">
            <a:xfrm flipV="1">
              <a:off x="4610100" y="1808163"/>
              <a:ext cx="512763" cy="1571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4" name="Line 14">
              <a:extLst>
                <a:ext uri="{FF2B5EF4-FFF2-40B4-BE49-F238E27FC236}">
                  <a16:creationId xmlns:a16="http://schemas.microsoft.com/office/drawing/2014/main" id="{54355A2C-9D4C-D95E-4706-DBE6F099A529}"/>
                </a:ext>
              </a:extLst>
            </p:cNvPr>
            <p:cNvSpPr>
              <a:spLocks noChangeShapeType="1"/>
            </p:cNvSpPr>
            <p:nvPr/>
          </p:nvSpPr>
          <p:spPr bwMode="auto">
            <a:xfrm flipV="1">
              <a:off x="4267200" y="1346200"/>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5" name="Line 15">
              <a:extLst>
                <a:ext uri="{FF2B5EF4-FFF2-40B4-BE49-F238E27FC236}">
                  <a16:creationId xmlns:a16="http://schemas.microsoft.com/office/drawing/2014/main" id="{35573A71-82F9-67F5-2DF4-3AA834555481}"/>
                </a:ext>
              </a:extLst>
            </p:cNvPr>
            <p:cNvSpPr>
              <a:spLocks noChangeShapeType="1"/>
            </p:cNvSpPr>
            <p:nvPr/>
          </p:nvSpPr>
          <p:spPr bwMode="auto">
            <a:xfrm flipV="1">
              <a:off x="4267200" y="1819275"/>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6" name="Line 16">
              <a:extLst>
                <a:ext uri="{FF2B5EF4-FFF2-40B4-BE49-F238E27FC236}">
                  <a16:creationId xmlns:a16="http://schemas.microsoft.com/office/drawing/2014/main" id="{4F93373D-89BF-3538-1D19-4725507E82F9}"/>
                </a:ext>
              </a:extLst>
            </p:cNvPr>
            <p:cNvSpPr>
              <a:spLocks noChangeShapeType="1"/>
            </p:cNvSpPr>
            <p:nvPr/>
          </p:nvSpPr>
          <p:spPr bwMode="auto">
            <a:xfrm flipV="1">
              <a:off x="5122863" y="1608138"/>
              <a:ext cx="8715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7" name="Text Box 17">
              <a:extLst>
                <a:ext uri="{FF2B5EF4-FFF2-40B4-BE49-F238E27FC236}">
                  <a16:creationId xmlns:a16="http://schemas.microsoft.com/office/drawing/2014/main" id="{4F409576-0B33-60A3-40B8-8D7DB6B6AF5E}"/>
                </a:ext>
              </a:extLst>
            </p:cNvPr>
            <p:cNvSpPr txBox="1">
              <a:spLocks noChangeArrowheads="1"/>
            </p:cNvSpPr>
            <p:nvPr/>
          </p:nvSpPr>
          <p:spPr bwMode="auto">
            <a:xfrm>
              <a:off x="4002088" y="1593850"/>
              <a:ext cx="53975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b</a:t>
              </a:r>
            </a:p>
          </p:txBody>
        </p:sp>
        <p:sp>
          <p:nvSpPr>
            <p:cNvPr id="120848" name="Text Box 18">
              <a:extLst>
                <a:ext uri="{FF2B5EF4-FFF2-40B4-BE49-F238E27FC236}">
                  <a16:creationId xmlns:a16="http://schemas.microsoft.com/office/drawing/2014/main" id="{A51860ED-072B-AB99-3444-641C95B1C263}"/>
                </a:ext>
              </a:extLst>
            </p:cNvPr>
            <p:cNvSpPr txBox="1">
              <a:spLocks noChangeArrowheads="1"/>
            </p:cNvSpPr>
            <p:nvPr/>
          </p:nvSpPr>
          <p:spPr bwMode="auto">
            <a:xfrm>
              <a:off x="4002088" y="1143000"/>
              <a:ext cx="5397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a:t>
              </a:r>
            </a:p>
          </p:txBody>
        </p:sp>
        <p:grpSp>
          <p:nvGrpSpPr>
            <p:cNvPr id="4" name="Group 19">
              <a:extLst>
                <a:ext uri="{FF2B5EF4-FFF2-40B4-BE49-F238E27FC236}">
                  <a16:creationId xmlns:a16="http://schemas.microsoft.com/office/drawing/2014/main" id="{DCE648CC-72CE-4249-9AA1-89543AFA9372}"/>
                </a:ext>
              </a:extLst>
            </p:cNvPr>
            <p:cNvGrpSpPr>
              <a:grpSpLocks/>
            </p:cNvGrpSpPr>
            <p:nvPr/>
          </p:nvGrpSpPr>
          <p:grpSpPr bwMode="auto">
            <a:xfrm>
              <a:off x="6278563" y="2286000"/>
              <a:ext cx="627062" cy="1376363"/>
              <a:chOff x="4497" y="2689"/>
              <a:chExt cx="714" cy="1871"/>
            </a:xfrm>
            <a:solidFill>
              <a:schemeClr val="accent1"/>
            </a:solidFill>
          </p:grpSpPr>
          <p:sp>
            <p:nvSpPr>
              <p:cNvPr id="98375" name="AutoShape 20">
                <a:extLst>
                  <a:ext uri="{FF2B5EF4-FFF2-40B4-BE49-F238E27FC236}">
                    <a16:creationId xmlns:a16="http://schemas.microsoft.com/office/drawing/2014/main" id="{5545E40B-8434-46BA-B686-C1A260D3A809}"/>
                  </a:ext>
                </a:extLst>
              </p:cNvPr>
              <p:cNvSpPr>
                <a:spLocks noChangeArrowheads="1"/>
              </p:cNvSpPr>
              <p:nvPr/>
            </p:nvSpPr>
            <p:spPr bwMode="auto">
              <a:xfrm rot="-5400000">
                <a:off x="3990" y="3281"/>
                <a:ext cx="1814" cy="629"/>
              </a:xfrm>
              <a:custGeom>
                <a:avLst/>
                <a:gdLst>
                  <a:gd name="T0" fmla="*/ 133 w 21600"/>
                  <a:gd name="T1" fmla="*/ 9 h 21600"/>
                  <a:gd name="T2" fmla="*/ 76 w 21600"/>
                  <a:gd name="T3" fmla="*/ 18 h 21600"/>
                  <a:gd name="T4" fmla="*/ 19 w 21600"/>
                  <a:gd name="T5" fmla="*/ 9 h 21600"/>
                  <a:gd name="T6" fmla="*/ 76 w 21600"/>
                  <a:gd name="T7" fmla="*/ 0 h 21600"/>
                  <a:gd name="T8" fmla="*/ 0 60000 65536"/>
                  <a:gd name="T9" fmla="*/ 0 60000 65536"/>
                  <a:gd name="T10" fmla="*/ 0 60000 65536"/>
                  <a:gd name="T11" fmla="*/ 0 60000 65536"/>
                  <a:gd name="T12" fmla="*/ 4501 w 21600"/>
                  <a:gd name="T13" fmla="*/ 4499 h 21600"/>
                  <a:gd name="T14" fmla="*/ 17099 w 21600"/>
                  <a:gd name="T15" fmla="*/ 1710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lumMod val="60000"/>
                  <a:lumOff val="40000"/>
                </a:schemeClr>
              </a:solidFill>
              <a:ln w="25400">
                <a:solidFill>
                  <a:srgbClr val="000000"/>
                </a:solidFill>
                <a:miter lim="800000"/>
                <a:headEnd/>
                <a:tailEnd/>
              </a:ln>
            </p:spPr>
            <p:txBody>
              <a:bodyPr/>
              <a:lstStyle/>
              <a:p>
                <a:pPr eaLnBrk="1" hangingPunct="1">
                  <a:defRPr/>
                </a:pPr>
                <a:endParaRPr lang="ru-RU"/>
              </a:p>
            </p:txBody>
          </p:sp>
          <p:sp>
            <p:nvSpPr>
              <p:cNvPr id="98376" name="Text Box 21">
                <a:extLst>
                  <a:ext uri="{FF2B5EF4-FFF2-40B4-BE49-F238E27FC236}">
                    <a16:creationId xmlns:a16="http://schemas.microsoft.com/office/drawing/2014/main" id="{596AAB6A-C18C-48ED-A915-379FEDAE4827}"/>
                  </a:ext>
                </a:extLst>
              </p:cNvPr>
              <p:cNvSpPr txBox="1">
                <a:spLocks noChangeArrowheads="1"/>
              </p:cNvSpPr>
              <p:nvPr/>
            </p:nvSpPr>
            <p:spPr bwMode="auto">
              <a:xfrm>
                <a:off x="4512" y="2880"/>
                <a:ext cx="615" cy="645"/>
              </a:xfrm>
              <a:prstGeom prst="rect">
                <a:avLst/>
              </a:prstGeom>
              <a:noFill/>
              <a:ln w="25400">
                <a:noFill/>
                <a:miter lim="800000"/>
                <a:headEnd/>
                <a:tailEnd/>
              </a:ln>
            </p:spPr>
            <p:txBody>
              <a:bodyPr/>
              <a:lstStyle/>
              <a:p>
                <a:pPr eaLnBrk="1" hangingPunct="1">
                  <a:defRPr/>
                </a:pPr>
                <a:r>
                  <a:rPr lang="ru-RU" sz="1600" b="1"/>
                  <a:t>00</a:t>
                </a:r>
              </a:p>
            </p:txBody>
          </p:sp>
          <p:sp>
            <p:nvSpPr>
              <p:cNvPr id="98377" name="Text Box 22">
                <a:extLst>
                  <a:ext uri="{FF2B5EF4-FFF2-40B4-BE49-F238E27FC236}">
                    <a16:creationId xmlns:a16="http://schemas.microsoft.com/office/drawing/2014/main" id="{3686A164-18DF-4704-ABDA-07933CF953EB}"/>
                  </a:ext>
                </a:extLst>
              </p:cNvPr>
              <p:cNvSpPr txBox="1">
                <a:spLocks noChangeArrowheads="1"/>
              </p:cNvSpPr>
              <p:nvPr/>
            </p:nvSpPr>
            <p:spPr bwMode="auto">
              <a:xfrm>
                <a:off x="4512" y="3210"/>
                <a:ext cx="615" cy="645"/>
              </a:xfrm>
              <a:prstGeom prst="rect">
                <a:avLst/>
              </a:prstGeom>
              <a:noFill/>
              <a:ln w="25400">
                <a:noFill/>
                <a:miter lim="800000"/>
                <a:headEnd/>
                <a:tailEnd/>
              </a:ln>
            </p:spPr>
            <p:txBody>
              <a:bodyPr/>
              <a:lstStyle/>
              <a:p>
                <a:pPr eaLnBrk="1" hangingPunct="1">
                  <a:defRPr/>
                </a:pPr>
                <a:r>
                  <a:rPr lang="ru-RU" sz="1600" b="1" dirty="0"/>
                  <a:t>01</a:t>
                </a:r>
              </a:p>
            </p:txBody>
          </p:sp>
          <p:sp>
            <p:nvSpPr>
              <p:cNvPr id="98378" name="Text Box 23">
                <a:extLst>
                  <a:ext uri="{FF2B5EF4-FFF2-40B4-BE49-F238E27FC236}">
                    <a16:creationId xmlns:a16="http://schemas.microsoft.com/office/drawing/2014/main" id="{07B546AA-9146-4863-8701-2E4B7EAA973A}"/>
                  </a:ext>
                </a:extLst>
              </p:cNvPr>
              <p:cNvSpPr txBox="1">
                <a:spLocks noChangeArrowheads="1"/>
              </p:cNvSpPr>
              <p:nvPr/>
            </p:nvSpPr>
            <p:spPr bwMode="auto">
              <a:xfrm>
                <a:off x="4497" y="3540"/>
                <a:ext cx="615" cy="645"/>
              </a:xfrm>
              <a:prstGeom prst="rect">
                <a:avLst/>
              </a:prstGeom>
              <a:noFill/>
              <a:ln w="25400">
                <a:noFill/>
                <a:miter lim="800000"/>
                <a:headEnd/>
                <a:tailEnd/>
              </a:ln>
            </p:spPr>
            <p:txBody>
              <a:bodyPr/>
              <a:lstStyle/>
              <a:p>
                <a:pPr eaLnBrk="1" hangingPunct="1">
                  <a:defRPr/>
                </a:pPr>
                <a:r>
                  <a:rPr lang="ru-RU" sz="1600" b="1"/>
                  <a:t>10</a:t>
                </a:r>
              </a:p>
            </p:txBody>
          </p:sp>
          <p:sp>
            <p:nvSpPr>
              <p:cNvPr id="98379" name="Text Box 24">
                <a:extLst>
                  <a:ext uri="{FF2B5EF4-FFF2-40B4-BE49-F238E27FC236}">
                    <a16:creationId xmlns:a16="http://schemas.microsoft.com/office/drawing/2014/main" id="{5494E892-7F08-4EAA-80E9-797E3372C08F}"/>
                  </a:ext>
                </a:extLst>
              </p:cNvPr>
              <p:cNvSpPr txBox="1">
                <a:spLocks noChangeArrowheads="1"/>
              </p:cNvSpPr>
              <p:nvPr/>
            </p:nvSpPr>
            <p:spPr bwMode="auto">
              <a:xfrm>
                <a:off x="4497" y="3915"/>
                <a:ext cx="615" cy="645"/>
              </a:xfrm>
              <a:prstGeom prst="rect">
                <a:avLst/>
              </a:prstGeom>
              <a:noFill/>
              <a:ln w="25400">
                <a:noFill/>
                <a:miter lim="800000"/>
                <a:headEnd/>
                <a:tailEnd/>
              </a:ln>
            </p:spPr>
            <p:txBody>
              <a:bodyPr/>
              <a:lstStyle/>
              <a:p>
                <a:pPr eaLnBrk="1" hangingPunct="1">
                  <a:defRPr/>
                </a:pPr>
                <a:r>
                  <a:rPr lang="ru-RU" sz="1600" b="1" dirty="0"/>
                  <a:t>11</a:t>
                </a:r>
              </a:p>
            </p:txBody>
          </p:sp>
        </p:grpSp>
        <p:sp>
          <p:nvSpPr>
            <p:cNvPr id="120850" name="Line 25">
              <a:extLst>
                <a:ext uri="{FF2B5EF4-FFF2-40B4-BE49-F238E27FC236}">
                  <a16:creationId xmlns:a16="http://schemas.microsoft.com/office/drawing/2014/main" id="{EF368F88-1773-002E-3B4F-B1222BC09873}"/>
                </a:ext>
              </a:extLst>
            </p:cNvPr>
            <p:cNvSpPr>
              <a:spLocks noChangeShapeType="1"/>
            </p:cNvSpPr>
            <p:nvPr/>
          </p:nvSpPr>
          <p:spPr bwMode="auto">
            <a:xfrm>
              <a:off x="4622800" y="2112963"/>
              <a:ext cx="0" cy="273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1" name="Line 26">
              <a:extLst>
                <a:ext uri="{FF2B5EF4-FFF2-40B4-BE49-F238E27FC236}">
                  <a16:creationId xmlns:a16="http://schemas.microsoft.com/office/drawing/2014/main" id="{864CB2E2-0FCF-4DFF-43B7-28A367DE477A}"/>
                </a:ext>
              </a:extLst>
            </p:cNvPr>
            <p:cNvSpPr>
              <a:spLocks noChangeShapeType="1"/>
            </p:cNvSpPr>
            <p:nvPr/>
          </p:nvSpPr>
          <p:spPr bwMode="auto">
            <a:xfrm>
              <a:off x="4622800" y="2387600"/>
              <a:ext cx="125413" cy="1000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2" name="Line 27">
              <a:extLst>
                <a:ext uri="{FF2B5EF4-FFF2-40B4-BE49-F238E27FC236}">
                  <a16:creationId xmlns:a16="http://schemas.microsoft.com/office/drawing/2014/main" id="{A2BA3164-CB3A-4258-FB87-9EE04CFF242C}"/>
                </a:ext>
              </a:extLst>
            </p:cNvPr>
            <p:cNvSpPr>
              <a:spLocks noChangeShapeType="1"/>
            </p:cNvSpPr>
            <p:nvPr/>
          </p:nvSpPr>
          <p:spPr bwMode="auto">
            <a:xfrm rot="-5400000">
              <a:off x="4635501" y="2474912"/>
              <a:ext cx="100012" cy="1254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3" name="Line 28">
              <a:extLst>
                <a:ext uri="{FF2B5EF4-FFF2-40B4-BE49-F238E27FC236}">
                  <a16:creationId xmlns:a16="http://schemas.microsoft.com/office/drawing/2014/main" id="{D3B377EF-C599-6D2C-9766-DC76C0633DC4}"/>
                </a:ext>
              </a:extLst>
            </p:cNvPr>
            <p:cNvSpPr>
              <a:spLocks noChangeShapeType="1"/>
            </p:cNvSpPr>
            <p:nvPr/>
          </p:nvSpPr>
          <p:spPr bwMode="auto">
            <a:xfrm>
              <a:off x="4622800" y="2584450"/>
              <a:ext cx="0" cy="2746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4" name="Line 29">
              <a:extLst>
                <a:ext uri="{FF2B5EF4-FFF2-40B4-BE49-F238E27FC236}">
                  <a16:creationId xmlns:a16="http://schemas.microsoft.com/office/drawing/2014/main" id="{6BBD27E7-014F-E06B-8F1D-9053B572B1F5}"/>
                </a:ext>
              </a:extLst>
            </p:cNvPr>
            <p:cNvSpPr>
              <a:spLocks noChangeShapeType="1"/>
            </p:cNvSpPr>
            <p:nvPr/>
          </p:nvSpPr>
          <p:spPr bwMode="auto">
            <a:xfrm>
              <a:off x="5149850" y="2322513"/>
              <a:ext cx="0" cy="3921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5" name="Line 30">
              <a:extLst>
                <a:ext uri="{FF2B5EF4-FFF2-40B4-BE49-F238E27FC236}">
                  <a16:creationId xmlns:a16="http://schemas.microsoft.com/office/drawing/2014/main" id="{4736CED1-A4C1-EC27-382F-638A20EF5DDE}"/>
                </a:ext>
              </a:extLst>
            </p:cNvPr>
            <p:cNvSpPr>
              <a:spLocks noChangeShapeType="1"/>
            </p:cNvSpPr>
            <p:nvPr/>
          </p:nvSpPr>
          <p:spPr bwMode="auto">
            <a:xfrm>
              <a:off x="4637088" y="2112963"/>
              <a:ext cx="525462" cy="2095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6" name="Line 31">
              <a:extLst>
                <a:ext uri="{FF2B5EF4-FFF2-40B4-BE49-F238E27FC236}">
                  <a16:creationId xmlns:a16="http://schemas.microsoft.com/office/drawing/2014/main" id="{881873FB-6183-28DA-6252-B92DD9A0A51F}"/>
                </a:ext>
              </a:extLst>
            </p:cNvPr>
            <p:cNvSpPr>
              <a:spLocks noChangeShapeType="1"/>
            </p:cNvSpPr>
            <p:nvPr/>
          </p:nvSpPr>
          <p:spPr bwMode="auto">
            <a:xfrm flipV="1">
              <a:off x="4637088" y="2711450"/>
              <a:ext cx="512762" cy="157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7" name="Line 32">
              <a:extLst>
                <a:ext uri="{FF2B5EF4-FFF2-40B4-BE49-F238E27FC236}">
                  <a16:creationId xmlns:a16="http://schemas.microsoft.com/office/drawing/2014/main" id="{48CB3EE7-8A18-EFB7-8B7C-6168B50B7D89}"/>
                </a:ext>
              </a:extLst>
            </p:cNvPr>
            <p:cNvSpPr>
              <a:spLocks noChangeShapeType="1"/>
            </p:cNvSpPr>
            <p:nvPr/>
          </p:nvSpPr>
          <p:spPr bwMode="auto">
            <a:xfrm flipV="1">
              <a:off x="4294188" y="2249488"/>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8" name="Line 33">
              <a:extLst>
                <a:ext uri="{FF2B5EF4-FFF2-40B4-BE49-F238E27FC236}">
                  <a16:creationId xmlns:a16="http://schemas.microsoft.com/office/drawing/2014/main" id="{94088E2E-9C3F-BFE3-044A-495D7AF8AB59}"/>
                </a:ext>
              </a:extLst>
            </p:cNvPr>
            <p:cNvSpPr>
              <a:spLocks noChangeShapeType="1"/>
            </p:cNvSpPr>
            <p:nvPr/>
          </p:nvSpPr>
          <p:spPr bwMode="auto">
            <a:xfrm flipV="1">
              <a:off x="4294188" y="2720975"/>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9" name="Line 34">
              <a:extLst>
                <a:ext uri="{FF2B5EF4-FFF2-40B4-BE49-F238E27FC236}">
                  <a16:creationId xmlns:a16="http://schemas.microsoft.com/office/drawing/2014/main" id="{C28F203A-F599-FF89-3151-AC8024884DF3}"/>
                </a:ext>
              </a:extLst>
            </p:cNvPr>
            <p:cNvSpPr>
              <a:spLocks noChangeShapeType="1"/>
            </p:cNvSpPr>
            <p:nvPr/>
          </p:nvSpPr>
          <p:spPr bwMode="auto">
            <a:xfrm flipV="1">
              <a:off x="5153025" y="2501900"/>
              <a:ext cx="506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0" name="Text Box 35">
              <a:extLst>
                <a:ext uri="{FF2B5EF4-FFF2-40B4-BE49-F238E27FC236}">
                  <a16:creationId xmlns:a16="http://schemas.microsoft.com/office/drawing/2014/main" id="{3BD3ABE8-6525-CC77-9985-4CADC64BA96B}"/>
                </a:ext>
              </a:extLst>
            </p:cNvPr>
            <p:cNvSpPr txBox="1">
              <a:spLocks noChangeArrowheads="1"/>
            </p:cNvSpPr>
            <p:nvPr/>
          </p:nvSpPr>
          <p:spPr bwMode="auto">
            <a:xfrm>
              <a:off x="4002088" y="2497138"/>
              <a:ext cx="5397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d</a:t>
              </a:r>
            </a:p>
          </p:txBody>
        </p:sp>
        <p:sp>
          <p:nvSpPr>
            <p:cNvPr id="120861" name="Text Box 36">
              <a:extLst>
                <a:ext uri="{FF2B5EF4-FFF2-40B4-BE49-F238E27FC236}">
                  <a16:creationId xmlns:a16="http://schemas.microsoft.com/office/drawing/2014/main" id="{67B8282E-5A80-1826-061A-CC3B7E3F8217}"/>
                </a:ext>
              </a:extLst>
            </p:cNvPr>
            <p:cNvSpPr txBox="1">
              <a:spLocks noChangeArrowheads="1"/>
            </p:cNvSpPr>
            <p:nvPr/>
          </p:nvSpPr>
          <p:spPr bwMode="auto">
            <a:xfrm>
              <a:off x="4027488" y="2046288"/>
              <a:ext cx="5397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c</a:t>
              </a:r>
            </a:p>
          </p:txBody>
        </p:sp>
        <p:sp>
          <p:nvSpPr>
            <p:cNvPr id="120862" name="Line 37">
              <a:extLst>
                <a:ext uri="{FF2B5EF4-FFF2-40B4-BE49-F238E27FC236}">
                  <a16:creationId xmlns:a16="http://schemas.microsoft.com/office/drawing/2014/main" id="{4FD12D83-3D15-97F0-9612-89A7E06F67F3}"/>
                </a:ext>
              </a:extLst>
            </p:cNvPr>
            <p:cNvSpPr>
              <a:spLocks noChangeShapeType="1"/>
            </p:cNvSpPr>
            <p:nvPr/>
          </p:nvSpPr>
          <p:spPr bwMode="auto">
            <a:xfrm>
              <a:off x="4622800" y="3025775"/>
              <a:ext cx="0" cy="273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3" name="Line 38">
              <a:extLst>
                <a:ext uri="{FF2B5EF4-FFF2-40B4-BE49-F238E27FC236}">
                  <a16:creationId xmlns:a16="http://schemas.microsoft.com/office/drawing/2014/main" id="{82013B1D-9989-A1E1-34DB-585B557316E2}"/>
                </a:ext>
              </a:extLst>
            </p:cNvPr>
            <p:cNvSpPr>
              <a:spLocks noChangeShapeType="1"/>
            </p:cNvSpPr>
            <p:nvPr/>
          </p:nvSpPr>
          <p:spPr bwMode="auto">
            <a:xfrm>
              <a:off x="4622800" y="3300413"/>
              <a:ext cx="125413" cy="1000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4" name="Line 39">
              <a:extLst>
                <a:ext uri="{FF2B5EF4-FFF2-40B4-BE49-F238E27FC236}">
                  <a16:creationId xmlns:a16="http://schemas.microsoft.com/office/drawing/2014/main" id="{357A5BEB-E3DE-E6A6-898D-32A8D7029DAA}"/>
                </a:ext>
              </a:extLst>
            </p:cNvPr>
            <p:cNvSpPr>
              <a:spLocks noChangeShapeType="1"/>
            </p:cNvSpPr>
            <p:nvPr/>
          </p:nvSpPr>
          <p:spPr bwMode="auto">
            <a:xfrm rot="-5400000">
              <a:off x="4635500" y="3387725"/>
              <a:ext cx="100013" cy="1254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5" name="Line 40">
              <a:extLst>
                <a:ext uri="{FF2B5EF4-FFF2-40B4-BE49-F238E27FC236}">
                  <a16:creationId xmlns:a16="http://schemas.microsoft.com/office/drawing/2014/main" id="{FB65EB86-2BFD-83BB-EE9D-67799AE0355A}"/>
                </a:ext>
              </a:extLst>
            </p:cNvPr>
            <p:cNvSpPr>
              <a:spLocks noChangeShapeType="1"/>
            </p:cNvSpPr>
            <p:nvPr/>
          </p:nvSpPr>
          <p:spPr bwMode="auto">
            <a:xfrm>
              <a:off x="4622800" y="3498850"/>
              <a:ext cx="0" cy="273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6" name="Line 41">
              <a:extLst>
                <a:ext uri="{FF2B5EF4-FFF2-40B4-BE49-F238E27FC236}">
                  <a16:creationId xmlns:a16="http://schemas.microsoft.com/office/drawing/2014/main" id="{9FB27F00-51A2-2E00-2D58-AF345CA75123}"/>
                </a:ext>
              </a:extLst>
            </p:cNvPr>
            <p:cNvSpPr>
              <a:spLocks noChangeShapeType="1"/>
            </p:cNvSpPr>
            <p:nvPr/>
          </p:nvSpPr>
          <p:spPr bwMode="auto">
            <a:xfrm>
              <a:off x="5149850" y="3235325"/>
              <a:ext cx="0" cy="3937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7" name="Line 42">
              <a:extLst>
                <a:ext uri="{FF2B5EF4-FFF2-40B4-BE49-F238E27FC236}">
                  <a16:creationId xmlns:a16="http://schemas.microsoft.com/office/drawing/2014/main" id="{C571BDA6-19B0-3607-C323-DDC0E375CCD5}"/>
                </a:ext>
              </a:extLst>
            </p:cNvPr>
            <p:cNvSpPr>
              <a:spLocks noChangeShapeType="1"/>
            </p:cNvSpPr>
            <p:nvPr/>
          </p:nvSpPr>
          <p:spPr bwMode="auto">
            <a:xfrm>
              <a:off x="4637088" y="3025775"/>
              <a:ext cx="525462" cy="2095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8" name="Line 43">
              <a:extLst>
                <a:ext uri="{FF2B5EF4-FFF2-40B4-BE49-F238E27FC236}">
                  <a16:creationId xmlns:a16="http://schemas.microsoft.com/office/drawing/2014/main" id="{72077A68-F820-1689-4C82-8F54CA8DEA4F}"/>
                </a:ext>
              </a:extLst>
            </p:cNvPr>
            <p:cNvSpPr>
              <a:spLocks noChangeShapeType="1"/>
            </p:cNvSpPr>
            <p:nvPr/>
          </p:nvSpPr>
          <p:spPr bwMode="auto">
            <a:xfrm flipV="1">
              <a:off x="4637088" y="3624263"/>
              <a:ext cx="512762" cy="1571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9" name="Line 44">
              <a:extLst>
                <a:ext uri="{FF2B5EF4-FFF2-40B4-BE49-F238E27FC236}">
                  <a16:creationId xmlns:a16="http://schemas.microsoft.com/office/drawing/2014/main" id="{394F7263-ED21-947C-FB60-7F9D539857CF}"/>
                </a:ext>
              </a:extLst>
            </p:cNvPr>
            <p:cNvSpPr>
              <a:spLocks noChangeShapeType="1"/>
            </p:cNvSpPr>
            <p:nvPr/>
          </p:nvSpPr>
          <p:spPr bwMode="auto">
            <a:xfrm flipV="1">
              <a:off x="4294188" y="3162300"/>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0" name="Line 45">
              <a:extLst>
                <a:ext uri="{FF2B5EF4-FFF2-40B4-BE49-F238E27FC236}">
                  <a16:creationId xmlns:a16="http://schemas.microsoft.com/office/drawing/2014/main" id="{9E42EEE3-6707-9C43-BE33-4650691FC2BE}"/>
                </a:ext>
              </a:extLst>
            </p:cNvPr>
            <p:cNvSpPr>
              <a:spLocks noChangeShapeType="1"/>
            </p:cNvSpPr>
            <p:nvPr/>
          </p:nvSpPr>
          <p:spPr bwMode="auto">
            <a:xfrm flipV="1">
              <a:off x="4294188" y="3635375"/>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1" name="Line 46">
              <a:extLst>
                <a:ext uri="{FF2B5EF4-FFF2-40B4-BE49-F238E27FC236}">
                  <a16:creationId xmlns:a16="http://schemas.microsoft.com/office/drawing/2014/main" id="{DD046917-2315-7882-F725-87A6C03527DC}"/>
                </a:ext>
              </a:extLst>
            </p:cNvPr>
            <p:cNvSpPr>
              <a:spLocks noChangeShapeType="1"/>
            </p:cNvSpPr>
            <p:nvPr/>
          </p:nvSpPr>
          <p:spPr bwMode="auto">
            <a:xfrm flipV="1">
              <a:off x="5153025" y="3435350"/>
              <a:ext cx="482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2" name="Text Box 47">
              <a:extLst>
                <a:ext uri="{FF2B5EF4-FFF2-40B4-BE49-F238E27FC236}">
                  <a16:creationId xmlns:a16="http://schemas.microsoft.com/office/drawing/2014/main" id="{6704865D-9B0F-CF9A-D3EB-D4351ACED5D9}"/>
                </a:ext>
              </a:extLst>
            </p:cNvPr>
            <p:cNvSpPr txBox="1">
              <a:spLocks noChangeArrowheads="1"/>
            </p:cNvSpPr>
            <p:nvPr/>
          </p:nvSpPr>
          <p:spPr bwMode="auto">
            <a:xfrm>
              <a:off x="4002088" y="3409950"/>
              <a:ext cx="5397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f</a:t>
              </a:r>
            </a:p>
          </p:txBody>
        </p:sp>
        <p:sp>
          <p:nvSpPr>
            <p:cNvPr id="120873" name="Text Box 48">
              <a:extLst>
                <a:ext uri="{FF2B5EF4-FFF2-40B4-BE49-F238E27FC236}">
                  <a16:creationId xmlns:a16="http://schemas.microsoft.com/office/drawing/2014/main" id="{40836D36-DB49-B211-F2DA-14C4DCA679E9}"/>
                </a:ext>
              </a:extLst>
            </p:cNvPr>
            <p:cNvSpPr txBox="1">
              <a:spLocks noChangeArrowheads="1"/>
            </p:cNvSpPr>
            <p:nvPr/>
          </p:nvSpPr>
          <p:spPr bwMode="auto">
            <a:xfrm>
              <a:off x="4027488" y="2959100"/>
              <a:ext cx="5397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e</a:t>
              </a:r>
            </a:p>
          </p:txBody>
        </p:sp>
        <p:sp>
          <p:nvSpPr>
            <p:cNvPr id="120874" name="Line 49">
              <a:extLst>
                <a:ext uri="{FF2B5EF4-FFF2-40B4-BE49-F238E27FC236}">
                  <a16:creationId xmlns:a16="http://schemas.microsoft.com/office/drawing/2014/main" id="{808B55BF-AD1A-05D7-8B63-C1CE22806102}"/>
                </a:ext>
              </a:extLst>
            </p:cNvPr>
            <p:cNvSpPr>
              <a:spLocks noChangeShapeType="1"/>
            </p:cNvSpPr>
            <p:nvPr/>
          </p:nvSpPr>
          <p:spPr bwMode="auto">
            <a:xfrm>
              <a:off x="4637088" y="3929063"/>
              <a:ext cx="0" cy="273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5" name="Line 50">
              <a:extLst>
                <a:ext uri="{FF2B5EF4-FFF2-40B4-BE49-F238E27FC236}">
                  <a16:creationId xmlns:a16="http://schemas.microsoft.com/office/drawing/2014/main" id="{8DAFF945-D18A-2093-DE70-89EE54A64216}"/>
                </a:ext>
              </a:extLst>
            </p:cNvPr>
            <p:cNvSpPr>
              <a:spLocks noChangeShapeType="1"/>
            </p:cNvSpPr>
            <p:nvPr/>
          </p:nvSpPr>
          <p:spPr bwMode="auto">
            <a:xfrm>
              <a:off x="4637088" y="4203700"/>
              <a:ext cx="123825" cy="98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6" name="Line 51">
              <a:extLst>
                <a:ext uri="{FF2B5EF4-FFF2-40B4-BE49-F238E27FC236}">
                  <a16:creationId xmlns:a16="http://schemas.microsoft.com/office/drawing/2014/main" id="{C92B9025-8782-0296-081E-3F887F39C1B5}"/>
                </a:ext>
              </a:extLst>
            </p:cNvPr>
            <p:cNvSpPr>
              <a:spLocks noChangeShapeType="1"/>
            </p:cNvSpPr>
            <p:nvPr/>
          </p:nvSpPr>
          <p:spPr bwMode="auto">
            <a:xfrm rot="-5400000">
              <a:off x="4649788" y="4291013"/>
              <a:ext cx="98425" cy="1238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7" name="Line 52">
              <a:extLst>
                <a:ext uri="{FF2B5EF4-FFF2-40B4-BE49-F238E27FC236}">
                  <a16:creationId xmlns:a16="http://schemas.microsoft.com/office/drawing/2014/main" id="{DB357EB1-6AA0-5BF7-99D9-E2C95003D958}"/>
                </a:ext>
              </a:extLst>
            </p:cNvPr>
            <p:cNvSpPr>
              <a:spLocks noChangeShapeType="1"/>
            </p:cNvSpPr>
            <p:nvPr/>
          </p:nvSpPr>
          <p:spPr bwMode="auto">
            <a:xfrm>
              <a:off x="4637088" y="4400550"/>
              <a:ext cx="0" cy="2746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8" name="Line 53">
              <a:extLst>
                <a:ext uri="{FF2B5EF4-FFF2-40B4-BE49-F238E27FC236}">
                  <a16:creationId xmlns:a16="http://schemas.microsoft.com/office/drawing/2014/main" id="{9E745165-B57E-D0BB-FF40-A5265A5412FC}"/>
                </a:ext>
              </a:extLst>
            </p:cNvPr>
            <p:cNvSpPr>
              <a:spLocks noChangeShapeType="1"/>
            </p:cNvSpPr>
            <p:nvPr/>
          </p:nvSpPr>
          <p:spPr bwMode="auto">
            <a:xfrm>
              <a:off x="5162550" y="4138613"/>
              <a:ext cx="0" cy="3921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9" name="Line 54">
              <a:extLst>
                <a:ext uri="{FF2B5EF4-FFF2-40B4-BE49-F238E27FC236}">
                  <a16:creationId xmlns:a16="http://schemas.microsoft.com/office/drawing/2014/main" id="{6C0206DC-3E16-821C-963B-40DD2CB83FAA}"/>
                </a:ext>
              </a:extLst>
            </p:cNvPr>
            <p:cNvSpPr>
              <a:spLocks noChangeShapeType="1"/>
            </p:cNvSpPr>
            <p:nvPr/>
          </p:nvSpPr>
          <p:spPr bwMode="auto">
            <a:xfrm>
              <a:off x="4649788" y="3929063"/>
              <a:ext cx="527050" cy="2095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0" name="Line 55">
              <a:extLst>
                <a:ext uri="{FF2B5EF4-FFF2-40B4-BE49-F238E27FC236}">
                  <a16:creationId xmlns:a16="http://schemas.microsoft.com/office/drawing/2014/main" id="{2F53A8AF-83CD-D6B1-C922-20B679284F52}"/>
                </a:ext>
              </a:extLst>
            </p:cNvPr>
            <p:cNvSpPr>
              <a:spLocks noChangeShapeType="1"/>
            </p:cNvSpPr>
            <p:nvPr/>
          </p:nvSpPr>
          <p:spPr bwMode="auto">
            <a:xfrm flipV="1">
              <a:off x="4649788" y="4525963"/>
              <a:ext cx="512762" cy="1587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1" name="Line 56">
              <a:extLst>
                <a:ext uri="{FF2B5EF4-FFF2-40B4-BE49-F238E27FC236}">
                  <a16:creationId xmlns:a16="http://schemas.microsoft.com/office/drawing/2014/main" id="{37F6CA9A-52EB-3019-E31C-3D2E6ABF4A5B}"/>
                </a:ext>
              </a:extLst>
            </p:cNvPr>
            <p:cNvSpPr>
              <a:spLocks noChangeShapeType="1"/>
            </p:cNvSpPr>
            <p:nvPr/>
          </p:nvSpPr>
          <p:spPr bwMode="auto">
            <a:xfrm flipV="1">
              <a:off x="4306888" y="4065588"/>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2" name="Line 57">
              <a:extLst>
                <a:ext uri="{FF2B5EF4-FFF2-40B4-BE49-F238E27FC236}">
                  <a16:creationId xmlns:a16="http://schemas.microsoft.com/office/drawing/2014/main" id="{25A9BCB3-B7E5-6B81-C089-8D5862C2768E}"/>
                </a:ext>
              </a:extLst>
            </p:cNvPr>
            <p:cNvSpPr>
              <a:spLocks noChangeShapeType="1"/>
            </p:cNvSpPr>
            <p:nvPr/>
          </p:nvSpPr>
          <p:spPr bwMode="auto">
            <a:xfrm flipV="1">
              <a:off x="4306888" y="4537075"/>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3" name="Line 58">
              <a:extLst>
                <a:ext uri="{FF2B5EF4-FFF2-40B4-BE49-F238E27FC236}">
                  <a16:creationId xmlns:a16="http://schemas.microsoft.com/office/drawing/2014/main" id="{A6012B4B-7C16-033D-9E4A-3050F3DBFC15}"/>
                </a:ext>
              </a:extLst>
            </p:cNvPr>
            <p:cNvSpPr>
              <a:spLocks noChangeShapeType="1"/>
            </p:cNvSpPr>
            <p:nvPr/>
          </p:nvSpPr>
          <p:spPr bwMode="auto">
            <a:xfrm flipV="1">
              <a:off x="5162550" y="4338638"/>
              <a:ext cx="831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4" name="Text Box 59">
              <a:extLst>
                <a:ext uri="{FF2B5EF4-FFF2-40B4-BE49-F238E27FC236}">
                  <a16:creationId xmlns:a16="http://schemas.microsoft.com/office/drawing/2014/main" id="{03FF7952-EF00-BEA5-B74F-A294B26CC9EB}"/>
                </a:ext>
              </a:extLst>
            </p:cNvPr>
            <p:cNvSpPr txBox="1">
              <a:spLocks noChangeArrowheads="1"/>
            </p:cNvSpPr>
            <p:nvPr/>
          </p:nvSpPr>
          <p:spPr bwMode="auto">
            <a:xfrm>
              <a:off x="4014788" y="4313238"/>
              <a:ext cx="5397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h</a:t>
              </a:r>
            </a:p>
          </p:txBody>
        </p:sp>
        <p:sp>
          <p:nvSpPr>
            <p:cNvPr id="120885" name="Text Box 60">
              <a:extLst>
                <a:ext uri="{FF2B5EF4-FFF2-40B4-BE49-F238E27FC236}">
                  <a16:creationId xmlns:a16="http://schemas.microsoft.com/office/drawing/2014/main" id="{E1B98EAC-7507-2E86-7370-57CC57BACC11}"/>
                </a:ext>
              </a:extLst>
            </p:cNvPr>
            <p:cNvSpPr txBox="1">
              <a:spLocks noChangeArrowheads="1"/>
            </p:cNvSpPr>
            <p:nvPr/>
          </p:nvSpPr>
          <p:spPr bwMode="auto">
            <a:xfrm>
              <a:off x="4041775" y="3860800"/>
              <a:ext cx="53975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g</a:t>
              </a:r>
            </a:p>
          </p:txBody>
        </p:sp>
        <p:sp>
          <p:nvSpPr>
            <p:cNvPr id="120886" name="Line 61">
              <a:extLst>
                <a:ext uri="{FF2B5EF4-FFF2-40B4-BE49-F238E27FC236}">
                  <a16:creationId xmlns:a16="http://schemas.microsoft.com/office/drawing/2014/main" id="{ACB85EF9-1412-6668-3578-89AD4B284D19}"/>
                </a:ext>
              </a:extLst>
            </p:cNvPr>
            <p:cNvSpPr>
              <a:spLocks noChangeShapeType="1"/>
            </p:cNvSpPr>
            <p:nvPr/>
          </p:nvSpPr>
          <p:spPr bwMode="auto">
            <a:xfrm flipV="1">
              <a:off x="5992813" y="2595563"/>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7" name="Line 62">
              <a:extLst>
                <a:ext uri="{FF2B5EF4-FFF2-40B4-BE49-F238E27FC236}">
                  <a16:creationId xmlns:a16="http://schemas.microsoft.com/office/drawing/2014/main" id="{06CC527A-7BC6-7267-FE71-9BEA8F3E1AD3}"/>
                </a:ext>
              </a:extLst>
            </p:cNvPr>
            <p:cNvSpPr>
              <a:spLocks noChangeShapeType="1"/>
            </p:cNvSpPr>
            <p:nvPr/>
          </p:nvSpPr>
          <p:spPr bwMode="auto">
            <a:xfrm flipV="1">
              <a:off x="6005513" y="3351213"/>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8" name="Line 63">
              <a:extLst>
                <a:ext uri="{FF2B5EF4-FFF2-40B4-BE49-F238E27FC236}">
                  <a16:creationId xmlns:a16="http://schemas.microsoft.com/office/drawing/2014/main" id="{E5B6F8F5-6275-E9FA-4224-E20F3708803D}"/>
                </a:ext>
              </a:extLst>
            </p:cNvPr>
            <p:cNvSpPr>
              <a:spLocks noChangeShapeType="1"/>
            </p:cNvSpPr>
            <p:nvPr/>
          </p:nvSpPr>
          <p:spPr bwMode="auto">
            <a:xfrm>
              <a:off x="5689600" y="2843213"/>
              <a:ext cx="652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9" name="Line 64">
              <a:extLst>
                <a:ext uri="{FF2B5EF4-FFF2-40B4-BE49-F238E27FC236}">
                  <a16:creationId xmlns:a16="http://schemas.microsoft.com/office/drawing/2014/main" id="{AD88A84F-414B-8B50-630A-9372775F03C6}"/>
                </a:ext>
              </a:extLst>
            </p:cNvPr>
            <p:cNvSpPr>
              <a:spLocks noChangeShapeType="1"/>
            </p:cNvSpPr>
            <p:nvPr/>
          </p:nvSpPr>
          <p:spPr bwMode="auto">
            <a:xfrm>
              <a:off x="5638800" y="3084513"/>
              <a:ext cx="701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0" name="Line 65">
              <a:extLst>
                <a:ext uri="{FF2B5EF4-FFF2-40B4-BE49-F238E27FC236}">
                  <a16:creationId xmlns:a16="http://schemas.microsoft.com/office/drawing/2014/main" id="{B41748C0-79D2-FDBB-99F2-1F97591D42BF}"/>
                </a:ext>
              </a:extLst>
            </p:cNvPr>
            <p:cNvSpPr>
              <a:spLocks noChangeShapeType="1"/>
            </p:cNvSpPr>
            <p:nvPr/>
          </p:nvSpPr>
          <p:spPr bwMode="auto">
            <a:xfrm flipV="1">
              <a:off x="6913563" y="2962275"/>
              <a:ext cx="333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1" name="Line 66">
              <a:extLst>
                <a:ext uri="{FF2B5EF4-FFF2-40B4-BE49-F238E27FC236}">
                  <a16:creationId xmlns:a16="http://schemas.microsoft.com/office/drawing/2014/main" id="{6A5891D8-2B7A-5754-8A71-5D65D3F46C4F}"/>
                </a:ext>
              </a:extLst>
            </p:cNvPr>
            <p:cNvSpPr>
              <a:spLocks noChangeShapeType="1"/>
            </p:cNvSpPr>
            <p:nvPr/>
          </p:nvSpPr>
          <p:spPr bwMode="auto">
            <a:xfrm>
              <a:off x="5992813" y="1614488"/>
              <a:ext cx="0" cy="9810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2" name="Line 67">
              <a:extLst>
                <a:ext uri="{FF2B5EF4-FFF2-40B4-BE49-F238E27FC236}">
                  <a16:creationId xmlns:a16="http://schemas.microsoft.com/office/drawing/2014/main" id="{DC6CC84E-8041-2026-0D24-CAD40F17A433}"/>
                </a:ext>
              </a:extLst>
            </p:cNvPr>
            <p:cNvSpPr>
              <a:spLocks noChangeShapeType="1"/>
            </p:cNvSpPr>
            <p:nvPr/>
          </p:nvSpPr>
          <p:spPr bwMode="auto">
            <a:xfrm>
              <a:off x="5992813" y="3346450"/>
              <a:ext cx="0" cy="9921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3" name="Line 68">
              <a:extLst>
                <a:ext uri="{FF2B5EF4-FFF2-40B4-BE49-F238E27FC236}">
                  <a16:creationId xmlns:a16="http://schemas.microsoft.com/office/drawing/2014/main" id="{3131D1D9-BF66-9D57-283E-49295C2F9817}"/>
                </a:ext>
              </a:extLst>
            </p:cNvPr>
            <p:cNvSpPr>
              <a:spLocks noChangeShapeType="1"/>
            </p:cNvSpPr>
            <p:nvPr/>
          </p:nvSpPr>
          <p:spPr bwMode="auto">
            <a:xfrm>
              <a:off x="5662613" y="2505075"/>
              <a:ext cx="0" cy="3460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4" name="Line 69">
              <a:extLst>
                <a:ext uri="{FF2B5EF4-FFF2-40B4-BE49-F238E27FC236}">
                  <a16:creationId xmlns:a16="http://schemas.microsoft.com/office/drawing/2014/main" id="{C8DE5225-98D0-FBB8-4E3D-3229DBDA7677}"/>
                </a:ext>
              </a:extLst>
            </p:cNvPr>
            <p:cNvSpPr>
              <a:spLocks noChangeShapeType="1"/>
            </p:cNvSpPr>
            <p:nvPr/>
          </p:nvSpPr>
          <p:spPr bwMode="auto">
            <a:xfrm>
              <a:off x="5637213" y="3094038"/>
              <a:ext cx="0" cy="3444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5" name="Text Box 70">
              <a:extLst>
                <a:ext uri="{FF2B5EF4-FFF2-40B4-BE49-F238E27FC236}">
                  <a16:creationId xmlns:a16="http://schemas.microsoft.com/office/drawing/2014/main" id="{77988F31-5619-A4F7-8CC3-0E05DACCF977}"/>
                </a:ext>
              </a:extLst>
            </p:cNvPr>
            <p:cNvSpPr txBox="1">
              <a:spLocks noChangeArrowheads="1"/>
            </p:cNvSpPr>
            <p:nvPr/>
          </p:nvSpPr>
          <p:spPr bwMode="auto">
            <a:xfrm>
              <a:off x="5160963" y="1289050"/>
              <a:ext cx="617537"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y</a:t>
              </a:r>
              <a:r>
                <a:rPr lang="ru-RU" altLang="en-US" sz="1600" b="1"/>
                <a:t>1</a:t>
              </a:r>
            </a:p>
          </p:txBody>
        </p:sp>
        <p:sp>
          <p:nvSpPr>
            <p:cNvPr id="120896" name="Text Box 71">
              <a:extLst>
                <a:ext uri="{FF2B5EF4-FFF2-40B4-BE49-F238E27FC236}">
                  <a16:creationId xmlns:a16="http://schemas.microsoft.com/office/drawing/2014/main" id="{9D785787-97D4-1A11-E456-4C97E90B72BE}"/>
                </a:ext>
              </a:extLst>
            </p:cNvPr>
            <p:cNvSpPr txBox="1">
              <a:spLocks noChangeArrowheads="1"/>
            </p:cNvSpPr>
            <p:nvPr/>
          </p:nvSpPr>
          <p:spPr bwMode="auto">
            <a:xfrm>
              <a:off x="5181600" y="2146300"/>
              <a:ext cx="61912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y</a:t>
              </a:r>
              <a:r>
                <a:rPr lang="ru-RU" altLang="en-US" sz="1600" b="1"/>
                <a:t>2</a:t>
              </a:r>
            </a:p>
          </p:txBody>
        </p:sp>
        <p:sp>
          <p:nvSpPr>
            <p:cNvPr id="120897" name="Text Box 72">
              <a:extLst>
                <a:ext uri="{FF2B5EF4-FFF2-40B4-BE49-F238E27FC236}">
                  <a16:creationId xmlns:a16="http://schemas.microsoft.com/office/drawing/2014/main" id="{CFD74F76-0995-0EA0-09A5-B45673D0368E}"/>
                </a:ext>
              </a:extLst>
            </p:cNvPr>
            <p:cNvSpPr txBox="1">
              <a:spLocks noChangeArrowheads="1"/>
            </p:cNvSpPr>
            <p:nvPr/>
          </p:nvSpPr>
          <p:spPr bwMode="auto">
            <a:xfrm>
              <a:off x="5183188" y="3090863"/>
              <a:ext cx="61912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y</a:t>
              </a:r>
              <a:r>
                <a:rPr lang="ru-RU" altLang="en-US" sz="1600" b="1"/>
                <a:t>3</a:t>
              </a:r>
            </a:p>
          </p:txBody>
        </p:sp>
        <p:sp>
          <p:nvSpPr>
            <p:cNvPr id="120898" name="Text Box 73">
              <a:extLst>
                <a:ext uri="{FF2B5EF4-FFF2-40B4-BE49-F238E27FC236}">
                  <a16:creationId xmlns:a16="http://schemas.microsoft.com/office/drawing/2014/main" id="{1BB957D8-C1F3-F4FE-6C76-31FBF4E66785}"/>
                </a:ext>
              </a:extLst>
            </p:cNvPr>
            <p:cNvSpPr txBox="1">
              <a:spLocks noChangeArrowheads="1"/>
            </p:cNvSpPr>
            <p:nvPr/>
          </p:nvSpPr>
          <p:spPr bwMode="auto">
            <a:xfrm>
              <a:off x="5146675" y="4022725"/>
              <a:ext cx="61912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y</a:t>
              </a:r>
              <a:r>
                <a:rPr lang="ru-RU" altLang="en-US" sz="1600" b="1"/>
                <a:t>4</a:t>
              </a:r>
            </a:p>
          </p:txBody>
        </p:sp>
        <p:sp>
          <p:nvSpPr>
            <p:cNvPr id="120899" name="Text Box 74">
              <a:extLst>
                <a:ext uri="{FF2B5EF4-FFF2-40B4-BE49-F238E27FC236}">
                  <a16:creationId xmlns:a16="http://schemas.microsoft.com/office/drawing/2014/main" id="{FB4E3667-30AB-AFB1-E253-AE9E02410E64}"/>
                </a:ext>
              </a:extLst>
            </p:cNvPr>
            <p:cNvSpPr txBox="1">
              <a:spLocks noChangeArrowheads="1"/>
            </p:cNvSpPr>
            <p:nvPr/>
          </p:nvSpPr>
          <p:spPr bwMode="auto">
            <a:xfrm>
              <a:off x="7305675" y="2801938"/>
              <a:ext cx="6191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y</a:t>
              </a:r>
            </a:p>
          </p:txBody>
        </p:sp>
        <p:sp>
          <p:nvSpPr>
            <p:cNvPr id="120900" name="Line 75">
              <a:extLst>
                <a:ext uri="{FF2B5EF4-FFF2-40B4-BE49-F238E27FC236}">
                  <a16:creationId xmlns:a16="http://schemas.microsoft.com/office/drawing/2014/main" id="{086536CB-C0C8-852A-D03C-4C6262D138C4}"/>
                </a:ext>
              </a:extLst>
            </p:cNvPr>
            <p:cNvSpPr>
              <a:spLocks noChangeShapeType="1"/>
            </p:cNvSpPr>
            <p:nvPr/>
          </p:nvSpPr>
          <p:spPr bwMode="auto">
            <a:xfrm flipV="1">
              <a:off x="4254500" y="4949825"/>
              <a:ext cx="2387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1" name="Line 76">
              <a:extLst>
                <a:ext uri="{FF2B5EF4-FFF2-40B4-BE49-F238E27FC236}">
                  <a16:creationId xmlns:a16="http://schemas.microsoft.com/office/drawing/2014/main" id="{2CD8F3D5-46D5-2E20-6E90-9F994262DBBA}"/>
                </a:ext>
              </a:extLst>
            </p:cNvPr>
            <p:cNvSpPr>
              <a:spLocks noChangeShapeType="1"/>
            </p:cNvSpPr>
            <p:nvPr/>
          </p:nvSpPr>
          <p:spPr bwMode="auto">
            <a:xfrm>
              <a:off x="6650038" y="3446463"/>
              <a:ext cx="0" cy="1511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2" name="Text Box 77">
              <a:extLst>
                <a:ext uri="{FF2B5EF4-FFF2-40B4-BE49-F238E27FC236}">
                  <a16:creationId xmlns:a16="http://schemas.microsoft.com/office/drawing/2014/main" id="{0F0EE8C9-6DD9-F8DC-1756-D864047183A5}"/>
                </a:ext>
              </a:extLst>
            </p:cNvPr>
            <p:cNvSpPr txBox="1">
              <a:spLocks noChangeArrowheads="1"/>
            </p:cNvSpPr>
            <p:nvPr/>
          </p:nvSpPr>
          <p:spPr bwMode="auto">
            <a:xfrm>
              <a:off x="3962400" y="4578350"/>
              <a:ext cx="5397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sel</a:t>
              </a:r>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a:extLst>
              <a:ext uri="{FF2B5EF4-FFF2-40B4-BE49-F238E27FC236}">
                <a16:creationId xmlns:a16="http://schemas.microsoft.com/office/drawing/2014/main" id="{F3B12CA2-03B1-E215-88FF-58CB267234BB}"/>
              </a:ext>
            </a:extLst>
          </p:cNvPr>
          <p:cNvSpPr>
            <a:spLocks noGrp="1" noChangeArrowheads="1"/>
          </p:cNvSpPr>
          <p:nvPr>
            <p:ph type="title"/>
          </p:nvPr>
        </p:nvSpPr>
        <p:spPr/>
        <p:txBody>
          <a:bodyPr/>
          <a:lstStyle/>
          <a:p>
            <a:r>
              <a:rPr lang="en-US" altLang="en-US"/>
              <a:t>Resource Sharing</a:t>
            </a:r>
            <a:endParaRPr lang="ru-RU" altLang="en-US"/>
          </a:p>
        </p:txBody>
      </p:sp>
      <p:grpSp>
        <p:nvGrpSpPr>
          <p:cNvPr id="121859" name="Group 57">
            <a:extLst>
              <a:ext uri="{FF2B5EF4-FFF2-40B4-BE49-F238E27FC236}">
                <a16:creationId xmlns:a16="http://schemas.microsoft.com/office/drawing/2014/main" id="{B3636E5A-8F21-5916-7F15-0554D4E758E6}"/>
              </a:ext>
            </a:extLst>
          </p:cNvPr>
          <p:cNvGrpSpPr>
            <a:grpSpLocks/>
          </p:cNvGrpSpPr>
          <p:nvPr/>
        </p:nvGrpSpPr>
        <p:grpSpPr bwMode="auto">
          <a:xfrm>
            <a:off x="2133600" y="914400"/>
            <a:ext cx="7797800" cy="4343400"/>
            <a:chOff x="660400" y="1203325"/>
            <a:chExt cx="7797800" cy="4473575"/>
          </a:xfrm>
        </p:grpSpPr>
        <p:grpSp>
          <p:nvGrpSpPr>
            <p:cNvPr id="121861" name="Group 8">
              <a:extLst>
                <a:ext uri="{FF2B5EF4-FFF2-40B4-BE49-F238E27FC236}">
                  <a16:creationId xmlns:a16="http://schemas.microsoft.com/office/drawing/2014/main" id="{39499302-2C4A-5055-F5E9-3C745F896CD1}"/>
                </a:ext>
              </a:extLst>
            </p:cNvPr>
            <p:cNvGrpSpPr>
              <a:grpSpLocks/>
            </p:cNvGrpSpPr>
            <p:nvPr/>
          </p:nvGrpSpPr>
          <p:grpSpPr bwMode="auto">
            <a:xfrm>
              <a:off x="660400" y="1676400"/>
              <a:ext cx="2413000" cy="1806575"/>
              <a:chOff x="48" y="864"/>
              <a:chExt cx="1520" cy="1138"/>
            </a:xfrm>
          </p:grpSpPr>
          <p:sp>
            <p:nvSpPr>
              <p:cNvPr id="101431" name="Rectangle 7">
                <a:extLst>
                  <a:ext uri="{FF2B5EF4-FFF2-40B4-BE49-F238E27FC236}">
                    <a16:creationId xmlns:a16="http://schemas.microsoft.com/office/drawing/2014/main" id="{928F930A-3F10-42DD-8EA5-EC046E2F7E2A}"/>
                  </a:ext>
                </a:extLst>
              </p:cNvPr>
              <p:cNvSpPr>
                <a:spLocks noChangeArrowheads="1"/>
              </p:cNvSpPr>
              <p:nvPr/>
            </p:nvSpPr>
            <p:spPr bwMode="auto">
              <a:xfrm>
                <a:off x="48" y="912"/>
                <a:ext cx="1344" cy="1080"/>
              </a:xfrm>
              <a:prstGeom prst="rect">
                <a:avLst/>
              </a:prstGeom>
              <a:solidFill>
                <a:schemeClr val="accent1">
                  <a:lumMod val="40000"/>
                  <a:lumOff val="60000"/>
                </a:schemeClr>
              </a:solidFill>
              <a:ln w="9525">
                <a:noFill/>
                <a:miter lim="800000"/>
                <a:headEnd/>
                <a:tailEnd/>
              </a:ln>
            </p:spPr>
            <p:txBody>
              <a:bodyPr wrap="none" anchor="ctr"/>
              <a:lstStyle/>
              <a:p>
                <a:pPr eaLnBrk="1" hangingPunct="1">
                  <a:defRPr/>
                </a:pPr>
                <a:endParaRPr lang="en-GB"/>
              </a:p>
            </p:txBody>
          </p:sp>
          <p:sp>
            <p:nvSpPr>
              <p:cNvPr id="121914" name="Text Box 5">
                <a:extLst>
                  <a:ext uri="{FF2B5EF4-FFF2-40B4-BE49-F238E27FC236}">
                    <a16:creationId xmlns:a16="http://schemas.microsoft.com/office/drawing/2014/main" id="{7AA3D710-EF24-51FB-6B52-883ED630FFBB}"/>
                  </a:ext>
                </a:extLst>
              </p:cNvPr>
              <p:cNvSpPr txBox="1">
                <a:spLocks noChangeArrowheads="1"/>
              </p:cNvSpPr>
              <p:nvPr/>
            </p:nvSpPr>
            <p:spPr bwMode="auto">
              <a:xfrm>
                <a:off x="176" y="864"/>
                <a:ext cx="1392" cy="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s-ES_tradnl" altLang="en-US" sz="1800" b="1"/>
                  <a:t>case</a:t>
                </a:r>
                <a:r>
                  <a:rPr lang="es-ES_tradnl" altLang="en-US" sz="1800"/>
                  <a:t>(sel)</a:t>
                </a:r>
              </a:p>
              <a:p>
                <a:pPr eaLnBrk="1" hangingPunct="1"/>
                <a:r>
                  <a:rPr lang="es-ES_tradnl" altLang="en-US" sz="1800"/>
                  <a:t>2’b00: y=a+b;</a:t>
                </a:r>
              </a:p>
              <a:p>
                <a:pPr eaLnBrk="1" hangingPunct="1"/>
                <a:r>
                  <a:rPr lang="es-ES_tradnl" altLang="en-US" sz="1800"/>
                  <a:t>2’b01: y=c+d;</a:t>
                </a:r>
              </a:p>
              <a:p>
                <a:pPr eaLnBrk="1" hangingPunct="1"/>
                <a:r>
                  <a:rPr lang="es-ES_tradnl" altLang="en-US" sz="1800"/>
                  <a:t>2’b10: y=e+f;</a:t>
                </a:r>
              </a:p>
              <a:p>
                <a:pPr eaLnBrk="1" hangingPunct="1"/>
                <a:r>
                  <a:rPr lang="es-ES_tradnl" altLang="en-US" sz="1800"/>
                  <a:t>2’b11: y=g+h;</a:t>
                </a:r>
                <a:endParaRPr lang="en-GB" altLang="en-US" sz="1800" b="1"/>
              </a:p>
              <a:p>
                <a:pPr eaLnBrk="1" hangingPunct="1"/>
                <a:r>
                  <a:rPr lang="en-GB" altLang="en-US" sz="1800" b="1"/>
                  <a:t>endcase</a:t>
                </a:r>
                <a:endParaRPr lang="ru-RU" altLang="en-US" sz="1800" b="1"/>
              </a:p>
            </p:txBody>
          </p:sp>
        </p:grpSp>
        <p:grpSp>
          <p:nvGrpSpPr>
            <p:cNvPr id="121862" name="Group 56">
              <a:extLst>
                <a:ext uri="{FF2B5EF4-FFF2-40B4-BE49-F238E27FC236}">
                  <a16:creationId xmlns:a16="http://schemas.microsoft.com/office/drawing/2014/main" id="{ABDA3E7D-4F86-D775-848E-D82BDF755814}"/>
                </a:ext>
              </a:extLst>
            </p:cNvPr>
            <p:cNvGrpSpPr>
              <a:grpSpLocks/>
            </p:cNvGrpSpPr>
            <p:nvPr/>
          </p:nvGrpSpPr>
          <p:grpSpPr bwMode="auto">
            <a:xfrm>
              <a:off x="685800" y="3772034"/>
              <a:ext cx="2743200" cy="1904866"/>
              <a:chOff x="685800" y="3657734"/>
              <a:chExt cx="2743200" cy="1904866"/>
            </a:xfrm>
          </p:grpSpPr>
          <p:sp>
            <p:nvSpPr>
              <p:cNvPr id="101378" name="Rectangle 9">
                <a:extLst>
                  <a:ext uri="{FF2B5EF4-FFF2-40B4-BE49-F238E27FC236}">
                    <a16:creationId xmlns:a16="http://schemas.microsoft.com/office/drawing/2014/main" id="{6185595E-F681-4B48-AF51-6D3280CF4058}"/>
                  </a:ext>
                </a:extLst>
              </p:cNvPr>
              <p:cNvSpPr>
                <a:spLocks noChangeArrowheads="1"/>
              </p:cNvSpPr>
              <p:nvPr/>
            </p:nvSpPr>
            <p:spPr bwMode="auto">
              <a:xfrm>
                <a:off x="685800" y="3657734"/>
                <a:ext cx="2743200" cy="1904866"/>
              </a:xfrm>
              <a:prstGeom prst="rect">
                <a:avLst/>
              </a:prstGeom>
              <a:solidFill>
                <a:schemeClr val="accent1">
                  <a:lumMod val="40000"/>
                  <a:lumOff val="60000"/>
                </a:schemeClr>
              </a:solidFill>
              <a:ln w="9525">
                <a:noFill/>
                <a:miter lim="800000"/>
                <a:headEnd/>
                <a:tailEnd/>
              </a:ln>
            </p:spPr>
            <p:txBody>
              <a:bodyPr wrap="none" anchor="ctr"/>
              <a:lstStyle/>
              <a:p>
                <a:pPr eaLnBrk="1" hangingPunct="1">
                  <a:defRPr/>
                </a:pPr>
                <a:endParaRPr lang="en-GB"/>
              </a:p>
            </p:txBody>
          </p:sp>
          <p:sp>
            <p:nvSpPr>
              <p:cNvPr id="121912" name="Text Box 6">
                <a:extLst>
                  <a:ext uri="{FF2B5EF4-FFF2-40B4-BE49-F238E27FC236}">
                    <a16:creationId xmlns:a16="http://schemas.microsoft.com/office/drawing/2014/main" id="{E4EBAA9E-44B3-79AC-E070-7B55E53442A5}"/>
                  </a:ext>
                </a:extLst>
              </p:cNvPr>
              <p:cNvSpPr txBox="1">
                <a:spLocks noChangeArrowheads="1"/>
              </p:cNvSpPr>
              <p:nvPr/>
            </p:nvSpPr>
            <p:spPr bwMode="auto">
              <a:xfrm>
                <a:off x="762000" y="3733800"/>
                <a:ext cx="2514600" cy="1806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s-ES_tradnl" altLang="en-US" sz="1800" b="1"/>
                  <a:t>if</a:t>
                </a:r>
                <a:r>
                  <a:rPr lang="ru-RU" altLang="en-US" sz="1800" b="1"/>
                  <a:t>(</a:t>
                </a:r>
                <a:r>
                  <a:rPr lang="es-ES_tradnl" altLang="en-US" sz="1800"/>
                  <a:t>sel</a:t>
                </a:r>
                <a:r>
                  <a:rPr lang="ru-RU" altLang="en-US" sz="1800"/>
                  <a:t>==2’</a:t>
                </a:r>
                <a:r>
                  <a:rPr lang="es-ES_tradnl" altLang="en-US" sz="1800"/>
                  <a:t>b</a:t>
                </a:r>
                <a:r>
                  <a:rPr lang="ru-RU" altLang="en-US" sz="1800"/>
                  <a:t>00) </a:t>
                </a:r>
                <a:r>
                  <a:rPr lang="es-ES_tradnl" altLang="en-US" sz="1800"/>
                  <a:t>y</a:t>
                </a:r>
                <a:r>
                  <a:rPr lang="ru-RU" altLang="en-US" sz="1800"/>
                  <a:t>=а+</a:t>
                </a:r>
                <a:r>
                  <a:rPr lang="es-ES_tradnl" altLang="en-US" sz="1800"/>
                  <a:t>b</a:t>
                </a:r>
                <a:r>
                  <a:rPr lang="ru-RU" altLang="en-US" sz="1800"/>
                  <a:t>;</a:t>
                </a:r>
                <a:endParaRPr lang="es-ES_tradnl" altLang="en-US" sz="1800" b="1"/>
              </a:p>
              <a:p>
                <a:pPr eaLnBrk="1" hangingPunct="1"/>
                <a:r>
                  <a:rPr lang="es-ES_tradnl" altLang="en-US" sz="1800" b="1"/>
                  <a:t>else</a:t>
                </a:r>
                <a:r>
                  <a:rPr lang="ru-RU" altLang="en-US" sz="1800" b="1"/>
                  <a:t>  </a:t>
                </a:r>
                <a:r>
                  <a:rPr lang="es-ES_tradnl" altLang="en-US" sz="1800" b="1"/>
                  <a:t>if</a:t>
                </a:r>
                <a:r>
                  <a:rPr lang="ru-RU" altLang="en-US" sz="1800"/>
                  <a:t>(</a:t>
                </a:r>
                <a:r>
                  <a:rPr lang="es-ES_tradnl" altLang="en-US" sz="1800"/>
                  <a:t>sel</a:t>
                </a:r>
                <a:r>
                  <a:rPr lang="ru-RU" altLang="en-US" sz="1800"/>
                  <a:t>==2’</a:t>
                </a:r>
                <a:r>
                  <a:rPr lang="es-ES_tradnl" altLang="en-US" sz="1800"/>
                  <a:t>b</a:t>
                </a:r>
                <a:r>
                  <a:rPr lang="ru-RU" altLang="en-US" sz="1800"/>
                  <a:t>01) </a:t>
                </a:r>
                <a:r>
                  <a:rPr lang="es-ES_tradnl" altLang="en-US" sz="1800"/>
                  <a:t>y</a:t>
                </a:r>
                <a:r>
                  <a:rPr lang="ru-RU" altLang="en-US" sz="1800"/>
                  <a:t>=</a:t>
                </a:r>
                <a:r>
                  <a:rPr lang="es-ES_tradnl" altLang="en-US" sz="1800"/>
                  <a:t>c</a:t>
                </a:r>
                <a:r>
                  <a:rPr lang="ru-RU" altLang="en-US" sz="1800"/>
                  <a:t>+</a:t>
                </a:r>
                <a:r>
                  <a:rPr lang="es-ES_tradnl" altLang="en-US" sz="1800"/>
                  <a:t>d</a:t>
                </a:r>
                <a:r>
                  <a:rPr lang="ru-RU" altLang="en-US" sz="1800"/>
                  <a:t>;</a:t>
                </a:r>
                <a:endParaRPr lang="ru-RU" altLang="en-US" sz="1800" b="1"/>
              </a:p>
              <a:p>
                <a:pPr eaLnBrk="1" hangingPunct="1"/>
                <a:r>
                  <a:rPr lang="ru-RU" altLang="en-US" sz="1800" b="1"/>
                  <a:t> </a:t>
                </a:r>
                <a:r>
                  <a:rPr lang="es-ES_tradnl" altLang="en-US" sz="1800" b="1"/>
                  <a:t>else if</a:t>
                </a:r>
                <a:r>
                  <a:rPr lang="ru-RU" altLang="en-US" sz="1800"/>
                  <a:t> (</a:t>
                </a:r>
                <a:r>
                  <a:rPr lang="es-ES_tradnl" altLang="en-US" sz="1800"/>
                  <a:t>sel</a:t>
                </a:r>
                <a:r>
                  <a:rPr lang="ru-RU" altLang="en-US" sz="1800"/>
                  <a:t>==2’</a:t>
                </a:r>
                <a:r>
                  <a:rPr lang="es-ES_tradnl" altLang="en-US" sz="1800"/>
                  <a:t>b</a:t>
                </a:r>
                <a:r>
                  <a:rPr lang="ru-RU" altLang="en-US" sz="1800"/>
                  <a:t>10) </a:t>
                </a:r>
                <a:r>
                  <a:rPr lang="es-ES_tradnl" altLang="en-US" sz="1800"/>
                  <a:t>y</a:t>
                </a:r>
                <a:r>
                  <a:rPr lang="ru-RU" altLang="en-US" sz="1800"/>
                  <a:t>=</a:t>
                </a:r>
                <a:r>
                  <a:rPr lang="es-ES_tradnl" altLang="en-US" sz="1800"/>
                  <a:t>e</a:t>
                </a:r>
                <a:r>
                  <a:rPr lang="ru-RU" altLang="en-US" sz="1800"/>
                  <a:t>+</a:t>
                </a:r>
                <a:r>
                  <a:rPr lang="es-ES_tradnl" altLang="en-US" sz="1800"/>
                  <a:t>f</a:t>
                </a:r>
                <a:r>
                  <a:rPr lang="ru-RU" altLang="en-US" sz="1800"/>
                  <a:t>;</a:t>
                </a:r>
                <a:endParaRPr lang="ru-RU" altLang="en-US" sz="1800" b="1"/>
              </a:p>
              <a:p>
                <a:pPr eaLnBrk="1" hangingPunct="1"/>
                <a:r>
                  <a:rPr lang="ru-RU" altLang="en-US" sz="1800" b="1"/>
                  <a:t> </a:t>
                </a:r>
                <a:r>
                  <a:rPr lang="es-ES_tradnl" altLang="en-US" sz="1800" b="1"/>
                  <a:t>else</a:t>
                </a:r>
                <a:r>
                  <a:rPr lang="es-ES_tradnl" altLang="en-US" sz="1800"/>
                  <a:t> y</a:t>
                </a:r>
                <a:r>
                  <a:rPr lang="ru-RU" altLang="en-US" sz="1800"/>
                  <a:t>=</a:t>
                </a:r>
                <a:r>
                  <a:rPr lang="es-ES_tradnl" altLang="en-US" sz="1800"/>
                  <a:t>g</a:t>
                </a:r>
                <a:r>
                  <a:rPr lang="ru-RU" altLang="en-US" sz="1800"/>
                  <a:t>+</a:t>
                </a:r>
                <a:r>
                  <a:rPr lang="es-ES_tradnl" altLang="en-US" sz="1800"/>
                  <a:t>h</a:t>
                </a:r>
                <a:r>
                  <a:rPr lang="ru-RU" altLang="en-US" sz="1800"/>
                  <a:t>;</a:t>
                </a:r>
              </a:p>
            </p:txBody>
          </p:sp>
        </p:grpSp>
        <p:grpSp>
          <p:nvGrpSpPr>
            <p:cNvPr id="121863" name="Group 61">
              <a:extLst>
                <a:ext uri="{FF2B5EF4-FFF2-40B4-BE49-F238E27FC236}">
                  <a16:creationId xmlns:a16="http://schemas.microsoft.com/office/drawing/2014/main" id="{BE5E258C-D200-BF2F-B7F5-0CDA1DB2000A}"/>
                </a:ext>
              </a:extLst>
            </p:cNvPr>
            <p:cNvGrpSpPr>
              <a:grpSpLocks/>
            </p:cNvGrpSpPr>
            <p:nvPr/>
          </p:nvGrpSpPr>
          <p:grpSpPr bwMode="auto">
            <a:xfrm>
              <a:off x="4800600" y="1843088"/>
              <a:ext cx="3657600" cy="3383280"/>
              <a:chOff x="3024" y="1057"/>
              <a:chExt cx="2400" cy="2223"/>
            </a:xfrm>
          </p:grpSpPr>
          <p:sp>
            <p:nvSpPr>
              <p:cNvPr id="121866" name="AutoShape 12">
                <a:extLst>
                  <a:ext uri="{FF2B5EF4-FFF2-40B4-BE49-F238E27FC236}">
                    <a16:creationId xmlns:a16="http://schemas.microsoft.com/office/drawing/2014/main" id="{95217ECA-9401-740A-A103-E40583A104D5}"/>
                  </a:ext>
                </a:extLst>
              </p:cNvPr>
              <p:cNvSpPr>
                <a:spLocks noChangeArrowheads="1"/>
              </p:cNvSpPr>
              <p:nvPr/>
            </p:nvSpPr>
            <p:spPr bwMode="auto">
              <a:xfrm rot="-5400000">
                <a:off x="3187" y="1399"/>
                <a:ext cx="1029" cy="34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2 w 21600"/>
                  <a:gd name="T13" fmla="*/ 4508 h 21600"/>
                  <a:gd name="T14" fmla="*/ 17108 w 21600"/>
                  <a:gd name="T15" fmla="*/ 1709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sp>
            <p:nvSpPr>
              <p:cNvPr id="121867" name="Text Box 13">
                <a:extLst>
                  <a:ext uri="{FF2B5EF4-FFF2-40B4-BE49-F238E27FC236}">
                    <a16:creationId xmlns:a16="http://schemas.microsoft.com/office/drawing/2014/main" id="{F131A133-3D60-73CD-95EA-9C9DCFA45945}"/>
                  </a:ext>
                </a:extLst>
              </p:cNvPr>
              <p:cNvSpPr txBox="1">
                <a:spLocks noChangeArrowheads="1"/>
              </p:cNvSpPr>
              <p:nvPr/>
            </p:nvSpPr>
            <p:spPr bwMode="auto">
              <a:xfrm>
                <a:off x="3546" y="1208"/>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00</a:t>
                </a:r>
              </a:p>
            </p:txBody>
          </p:sp>
          <p:sp>
            <p:nvSpPr>
              <p:cNvPr id="121868" name="Text Box 14">
                <a:extLst>
                  <a:ext uri="{FF2B5EF4-FFF2-40B4-BE49-F238E27FC236}">
                    <a16:creationId xmlns:a16="http://schemas.microsoft.com/office/drawing/2014/main" id="{9A16F0AA-1F50-513E-BD8C-66681FD14EA8}"/>
                  </a:ext>
                </a:extLst>
              </p:cNvPr>
              <p:cNvSpPr txBox="1">
                <a:spLocks noChangeArrowheads="1"/>
              </p:cNvSpPr>
              <p:nvPr/>
            </p:nvSpPr>
            <p:spPr bwMode="auto">
              <a:xfrm>
                <a:off x="3546" y="1387"/>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01</a:t>
                </a:r>
              </a:p>
            </p:txBody>
          </p:sp>
          <p:sp>
            <p:nvSpPr>
              <p:cNvPr id="121869" name="Text Box 15">
                <a:extLst>
                  <a:ext uri="{FF2B5EF4-FFF2-40B4-BE49-F238E27FC236}">
                    <a16:creationId xmlns:a16="http://schemas.microsoft.com/office/drawing/2014/main" id="{2A676EBA-2EAE-6F04-B288-7819BE1EF5C8}"/>
                  </a:ext>
                </a:extLst>
              </p:cNvPr>
              <p:cNvSpPr txBox="1">
                <a:spLocks noChangeArrowheads="1"/>
              </p:cNvSpPr>
              <p:nvPr/>
            </p:nvSpPr>
            <p:spPr bwMode="auto">
              <a:xfrm>
                <a:off x="3538" y="1598"/>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10</a:t>
                </a:r>
              </a:p>
            </p:txBody>
          </p:sp>
          <p:sp>
            <p:nvSpPr>
              <p:cNvPr id="121870" name="Text Box 16">
                <a:extLst>
                  <a:ext uri="{FF2B5EF4-FFF2-40B4-BE49-F238E27FC236}">
                    <a16:creationId xmlns:a16="http://schemas.microsoft.com/office/drawing/2014/main" id="{AFAF84C5-4B05-8357-4510-2EC2F987E7C6}"/>
                  </a:ext>
                </a:extLst>
              </p:cNvPr>
              <p:cNvSpPr txBox="1">
                <a:spLocks noChangeArrowheads="1"/>
              </p:cNvSpPr>
              <p:nvPr/>
            </p:nvSpPr>
            <p:spPr bwMode="auto">
              <a:xfrm>
                <a:off x="3538" y="1785"/>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11</a:t>
                </a:r>
              </a:p>
            </p:txBody>
          </p:sp>
          <p:sp>
            <p:nvSpPr>
              <p:cNvPr id="121871" name="AutoShape 18">
                <a:extLst>
                  <a:ext uri="{FF2B5EF4-FFF2-40B4-BE49-F238E27FC236}">
                    <a16:creationId xmlns:a16="http://schemas.microsoft.com/office/drawing/2014/main" id="{A1552422-26D8-DA0F-F5C7-ACC31BA42ECC}"/>
                  </a:ext>
                </a:extLst>
              </p:cNvPr>
              <p:cNvSpPr>
                <a:spLocks noChangeArrowheads="1"/>
              </p:cNvSpPr>
              <p:nvPr/>
            </p:nvSpPr>
            <p:spPr bwMode="auto">
              <a:xfrm rot="-5400000">
                <a:off x="3178" y="2544"/>
                <a:ext cx="1029" cy="34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2 w 21600"/>
                  <a:gd name="T13" fmla="*/ 4508 h 21600"/>
                  <a:gd name="T14" fmla="*/ 17108 w 21600"/>
                  <a:gd name="T15" fmla="*/ 1709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sp>
            <p:nvSpPr>
              <p:cNvPr id="121872" name="Text Box 19">
                <a:extLst>
                  <a:ext uri="{FF2B5EF4-FFF2-40B4-BE49-F238E27FC236}">
                    <a16:creationId xmlns:a16="http://schemas.microsoft.com/office/drawing/2014/main" id="{ECA02874-423E-AFE6-6270-1978BFAD8E65}"/>
                  </a:ext>
                </a:extLst>
              </p:cNvPr>
              <p:cNvSpPr txBox="1">
                <a:spLocks noChangeArrowheads="1"/>
              </p:cNvSpPr>
              <p:nvPr/>
            </p:nvSpPr>
            <p:spPr bwMode="auto">
              <a:xfrm>
                <a:off x="3538" y="2353"/>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00</a:t>
                </a:r>
              </a:p>
            </p:txBody>
          </p:sp>
          <p:sp>
            <p:nvSpPr>
              <p:cNvPr id="121873" name="Text Box 20">
                <a:extLst>
                  <a:ext uri="{FF2B5EF4-FFF2-40B4-BE49-F238E27FC236}">
                    <a16:creationId xmlns:a16="http://schemas.microsoft.com/office/drawing/2014/main" id="{1F1C639B-D3DE-D34F-6125-9B9E479B3BCC}"/>
                  </a:ext>
                </a:extLst>
              </p:cNvPr>
              <p:cNvSpPr txBox="1">
                <a:spLocks noChangeArrowheads="1"/>
              </p:cNvSpPr>
              <p:nvPr/>
            </p:nvSpPr>
            <p:spPr bwMode="auto">
              <a:xfrm>
                <a:off x="3538" y="2532"/>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01</a:t>
                </a:r>
              </a:p>
            </p:txBody>
          </p:sp>
          <p:sp>
            <p:nvSpPr>
              <p:cNvPr id="121874" name="Text Box 21">
                <a:extLst>
                  <a:ext uri="{FF2B5EF4-FFF2-40B4-BE49-F238E27FC236}">
                    <a16:creationId xmlns:a16="http://schemas.microsoft.com/office/drawing/2014/main" id="{66349734-BCE5-5589-6184-910CF934E945}"/>
                  </a:ext>
                </a:extLst>
              </p:cNvPr>
              <p:cNvSpPr txBox="1">
                <a:spLocks noChangeArrowheads="1"/>
              </p:cNvSpPr>
              <p:nvPr/>
            </p:nvSpPr>
            <p:spPr bwMode="auto">
              <a:xfrm>
                <a:off x="3530" y="2751"/>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10</a:t>
                </a:r>
              </a:p>
            </p:txBody>
          </p:sp>
          <p:sp>
            <p:nvSpPr>
              <p:cNvPr id="121875" name="Text Box 22">
                <a:extLst>
                  <a:ext uri="{FF2B5EF4-FFF2-40B4-BE49-F238E27FC236}">
                    <a16:creationId xmlns:a16="http://schemas.microsoft.com/office/drawing/2014/main" id="{4F9E9278-E005-6846-8CAC-C3BC1B7414F0}"/>
                  </a:ext>
                </a:extLst>
              </p:cNvPr>
              <p:cNvSpPr txBox="1">
                <a:spLocks noChangeArrowheads="1"/>
              </p:cNvSpPr>
              <p:nvPr/>
            </p:nvSpPr>
            <p:spPr bwMode="auto">
              <a:xfrm>
                <a:off x="3530" y="2930"/>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11</a:t>
                </a:r>
              </a:p>
            </p:txBody>
          </p:sp>
          <p:sp>
            <p:nvSpPr>
              <p:cNvPr id="121876" name="Line 23">
                <a:extLst>
                  <a:ext uri="{FF2B5EF4-FFF2-40B4-BE49-F238E27FC236}">
                    <a16:creationId xmlns:a16="http://schemas.microsoft.com/office/drawing/2014/main" id="{B1B37D8A-B091-B80B-C66B-3F164D52664E}"/>
                  </a:ext>
                </a:extLst>
              </p:cNvPr>
              <p:cNvSpPr>
                <a:spLocks noChangeShapeType="1"/>
              </p:cNvSpPr>
              <p:nvPr/>
            </p:nvSpPr>
            <p:spPr bwMode="auto">
              <a:xfrm>
                <a:off x="4429" y="1865"/>
                <a:ext cx="0" cy="2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77" name="Line 24">
                <a:extLst>
                  <a:ext uri="{FF2B5EF4-FFF2-40B4-BE49-F238E27FC236}">
                    <a16:creationId xmlns:a16="http://schemas.microsoft.com/office/drawing/2014/main" id="{F8838DD8-1D88-134A-D54A-AD717CEDE5F5}"/>
                  </a:ext>
                </a:extLst>
              </p:cNvPr>
              <p:cNvSpPr>
                <a:spLocks noChangeShapeType="1"/>
              </p:cNvSpPr>
              <p:nvPr/>
            </p:nvSpPr>
            <p:spPr bwMode="auto">
              <a:xfrm>
                <a:off x="4429" y="2094"/>
                <a:ext cx="78" cy="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78" name="Line 25">
                <a:extLst>
                  <a:ext uri="{FF2B5EF4-FFF2-40B4-BE49-F238E27FC236}">
                    <a16:creationId xmlns:a16="http://schemas.microsoft.com/office/drawing/2014/main" id="{52E50FC2-F267-5B3A-55BE-7BEA0736F2BE}"/>
                  </a:ext>
                </a:extLst>
              </p:cNvPr>
              <p:cNvSpPr>
                <a:spLocks noChangeShapeType="1"/>
              </p:cNvSpPr>
              <p:nvPr/>
            </p:nvSpPr>
            <p:spPr bwMode="auto">
              <a:xfrm rot="-5400000">
                <a:off x="4429" y="2172"/>
                <a:ext cx="77" cy="7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79" name="Line 26">
                <a:extLst>
                  <a:ext uri="{FF2B5EF4-FFF2-40B4-BE49-F238E27FC236}">
                    <a16:creationId xmlns:a16="http://schemas.microsoft.com/office/drawing/2014/main" id="{51A86E6D-5D3C-6340-9EB0-C267DC76C397}"/>
                  </a:ext>
                </a:extLst>
              </p:cNvPr>
              <p:cNvSpPr>
                <a:spLocks noChangeShapeType="1"/>
              </p:cNvSpPr>
              <p:nvPr/>
            </p:nvSpPr>
            <p:spPr bwMode="auto">
              <a:xfrm>
                <a:off x="4429" y="2247"/>
                <a:ext cx="0" cy="2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0" name="Line 27">
                <a:extLst>
                  <a:ext uri="{FF2B5EF4-FFF2-40B4-BE49-F238E27FC236}">
                    <a16:creationId xmlns:a16="http://schemas.microsoft.com/office/drawing/2014/main" id="{2E8B6664-64E9-D9C5-8E73-21F996EFE2D2}"/>
                  </a:ext>
                </a:extLst>
              </p:cNvPr>
              <p:cNvSpPr>
                <a:spLocks noChangeShapeType="1"/>
              </p:cNvSpPr>
              <p:nvPr/>
            </p:nvSpPr>
            <p:spPr bwMode="auto">
              <a:xfrm>
                <a:off x="4758" y="2036"/>
                <a:ext cx="0" cy="3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1" name="Line 28">
                <a:extLst>
                  <a:ext uri="{FF2B5EF4-FFF2-40B4-BE49-F238E27FC236}">
                    <a16:creationId xmlns:a16="http://schemas.microsoft.com/office/drawing/2014/main" id="{90776D06-5805-5925-D62A-94A53ECFAE9F}"/>
                  </a:ext>
                </a:extLst>
              </p:cNvPr>
              <p:cNvSpPr>
                <a:spLocks noChangeShapeType="1"/>
              </p:cNvSpPr>
              <p:nvPr/>
            </p:nvSpPr>
            <p:spPr bwMode="auto">
              <a:xfrm>
                <a:off x="4438" y="1873"/>
                <a:ext cx="328" cy="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2" name="Line 29">
                <a:extLst>
                  <a:ext uri="{FF2B5EF4-FFF2-40B4-BE49-F238E27FC236}">
                    <a16:creationId xmlns:a16="http://schemas.microsoft.com/office/drawing/2014/main" id="{336FE782-8834-8A77-70CB-749C2FBF3EDE}"/>
                  </a:ext>
                </a:extLst>
              </p:cNvPr>
              <p:cNvSpPr>
                <a:spLocks noChangeShapeType="1"/>
              </p:cNvSpPr>
              <p:nvPr/>
            </p:nvSpPr>
            <p:spPr bwMode="auto">
              <a:xfrm flipV="1">
                <a:off x="4430" y="2353"/>
                <a:ext cx="320" cy="1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3" name="Line 30">
                <a:extLst>
                  <a:ext uri="{FF2B5EF4-FFF2-40B4-BE49-F238E27FC236}">
                    <a16:creationId xmlns:a16="http://schemas.microsoft.com/office/drawing/2014/main" id="{60CEDB98-1E63-C48F-82FA-5150A00A49CF}"/>
                  </a:ext>
                </a:extLst>
              </p:cNvPr>
              <p:cNvSpPr>
                <a:spLocks noChangeShapeType="1"/>
              </p:cNvSpPr>
              <p:nvPr/>
            </p:nvSpPr>
            <p:spPr bwMode="auto">
              <a:xfrm flipV="1">
                <a:off x="4199" y="1996"/>
                <a:ext cx="23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4" name="Line 31">
                <a:extLst>
                  <a:ext uri="{FF2B5EF4-FFF2-40B4-BE49-F238E27FC236}">
                    <a16:creationId xmlns:a16="http://schemas.microsoft.com/office/drawing/2014/main" id="{B8475A7A-A3DD-092B-A09D-40D48A5F3DAF}"/>
                  </a:ext>
                </a:extLst>
              </p:cNvPr>
              <p:cNvSpPr>
                <a:spLocks noChangeShapeType="1"/>
              </p:cNvSpPr>
              <p:nvPr/>
            </p:nvSpPr>
            <p:spPr bwMode="auto">
              <a:xfrm flipV="1">
                <a:off x="4191" y="2361"/>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5" name="Line 32">
                <a:extLst>
                  <a:ext uri="{FF2B5EF4-FFF2-40B4-BE49-F238E27FC236}">
                    <a16:creationId xmlns:a16="http://schemas.microsoft.com/office/drawing/2014/main" id="{CAE84E35-4ABD-40D8-45AB-3CFAA15D5B68}"/>
                  </a:ext>
                </a:extLst>
              </p:cNvPr>
              <p:cNvSpPr>
                <a:spLocks noChangeShapeType="1"/>
              </p:cNvSpPr>
              <p:nvPr/>
            </p:nvSpPr>
            <p:spPr bwMode="auto">
              <a:xfrm>
                <a:off x="3879" y="1613"/>
                <a:ext cx="3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6" name="Line 33">
                <a:extLst>
                  <a:ext uri="{FF2B5EF4-FFF2-40B4-BE49-F238E27FC236}">
                    <a16:creationId xmlns:a16="http://schemas.microsoft.com/office/drawing/2014/main" id="{D9E9427E-6635-0F23-120F-0B3E154D511D}"/>
                  </a:ext>
                </a:extLst>
              </p:cNvPr>
              <p:cNvSpPr>
                <a:spLocks noChangeShapeType="1"/>
              </p:cNvSpPr>
              <p:nvPr/>
            </p:nvSpPr>
            <p:spPr bwMode="auto">
              <a:xfrm>
                <a:off x="3871" y="2730"/>
                <a:ext cx="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7" name="Line 34">
                <a:extLst>
                  <a:ext uri="{FF2B5EF4-FFF2-40B4-BE49-F238E27FC236}">
                    <a16:creationId xmlns:a16="http://schemas.microsoft.com/office/drawing/2014/main" id="{5702BBCD-FDCC-2C5E-0291-E111776D93CE}"/>
                  </a:ext>
                </a:extLst>
              </p:cNvPr>
              <p:cNvSpPr>
                <a:spLocks noChangeShapeType="1"/>
              </p:cNvSpPr>
              <p:nvPr/>
            </p:nvSpPr>
            <p:spPr bwMode="auto">
              <a:xfrm>
                <a:off x="4199" y="1613"/>
                <a:ext cx="0" cy="3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8" name="Line 35">
                <a:extLst>
                  <a:ext uri="{FF2B5EF4-FFF2-40B4-BE49-F238E27FC236}">
                    <a16:creationId xmlns:a16="http://schemas.microsoft.com/office/drawing/2014/main" id="{FA4935F0-D8DA-A8AE-64E2-28D62FE4B18B}"/>
                  </a:ext>
                </a:extLst>
              </p:cNvPr>
              <p:cNvSpPr>
                <a:spLocks noChangeShapeType="1"/>
              </p:cNvSpPr>
              <p:nvPr/>
            </p:nvSpPr>
            <p:spPr bwMode="auto">
              <a:xfrm>
                <a:off x="4183" y="2346"/>
                <a:ext cx="0" cy="3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9" name="Line 36">
                <a:extLst>
                  <a:ext uri="{FF2B5EF4-FFF2-40B4-BE49-F238E27FC236}">
                    <a16:creationId xmlns:a16="http://schemas.microsoft.com/office/drawing/2014/main" id="{AD3EF227-36A9-C608-A6D8-865937366127}"/>
                  </a:ext>
                </a:extLst>
              </p:cNvPr>
              <p:cNvSpPr>
                <a:spLocks noChangeShapeType="1"/>
              </p:cNvSpPr>
              <p:nvPr/>
            </p:nvSpPr>
            <p:spPr bwMode="auto">
              <a:xfrm flipV="1">
                <a:off x="4758" y="2192"/>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0" name="Line 37">
                <a:extLst>
                  <a:ext uri="{FF2B5EF4-FFF2-40B4-BE49-F238E27FC236}">
                    <a16:creationId xmlns:a16="http://schemas.microsoft.com/office/drawing/2014/main" id="{BC776C66-2227-4C34-F384-6EDC1EEEC30F}"/>
                  </a:ext>
                </a:extLst>
              </p:cNvPr>
              <p:cNvSpPr>
                <a:spLocks noChangeShapeType="1"/>
              </p:cNvSpPr>
              <p:nvPr/>
            </p:nvSpPr>
            <p:spPr bwMode="auto">
              <a:xfrm flipV="1">
                <a:off x="3279" y="1307"/>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1" name="Line 38">
                <a:extLst>
                  <a:ext uri="{FF2B5EF4-FFF2-40B4-BE49-F238E27FC236}">
                    <a16:creationId xmlns:a16="http://schemas.microsoft.com/office/drawing/2014/main" id="{DD194974-3192-C852-6EED-ECCF537B90B7}"/>
                  </a:ext>
                </a:extLst>
              </p:cNvPr>
              <p:cNvSpPr>
                <a:spLocks noChangeShapeType="1"/>
              </p:cNvSpPr>
              <p:nvPr/>
            </p:nvSpPr>
            <p:spPr bwMode="auto">
              <a:xfrm flipV="1">
                <a:off x="3271" y="1495"/>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2" name="Line 39">
                <a:extLst>
                  <a:ext uri="{FF2B5EF4-FFF2-40B4-BE49-F238E27FC236}">
                    <a16:creationId xmlns:a16="http://schemas.microsoft.com/office/drawing/2014/main" id="{E1F33351-ACB1-F00B-8D95-CED8D767EFD1}"/>
                  </a:ext>
                </a:extLst>
              </p:cNvPr>
              <p:cNvSpPr>
                <a:spLocks noChangeShapeType="1"/>
              </p:cNvSpPr>
              <p:nvPr/>
            </p:nvSpPr>
            <p:spPr bwMode="auto">
              <a:xfrm flipV="1">
                <a:off x="3271" y="1691"/>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3" name="Line 40">
                <a:extLst>
                  <a:ext uri="{FF2B5EF4-FFF2-40B4-BE49-F238E27FC236}">
                    <a16:creationId xmlns:a16="http://schemas.microsoft.com/office/drawing/2014/main" id="{BD763448-1DC5-D84A-E572-95BE20ECA738}"/>
                  </a:ext>
                </a:extLst>
              </p:cNvPr>
              <p:cNvSpPr>
                <a:spLocks noChangeShapeType="1"/>
              </p:cNvSpPr>
              <p:nvPr/>
            </p:nvSpPr>
            <p:spPr bwMode="auto">
              <a:xfrm flipV="1">
                <a:off x="3279" y="1879"/>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4" name="Line 41">
                <a:extLst>
                  <a:ext uri="{FF2B5EF4-FFF2-40B4-BE49-F238E27FC236}">
                    <a16:creationId xmlns:a16="http://schemas.microsoft.com/office/drawing/2014/main" id="{930AC5CE-2A55-0674-E9DD-4276DC28C718}"/>
                  </a:ext>
                </a:extLst>
              </p:cNvPr>
              <p:cNvSpPr>
                <a:spLocks noChangeShapeType="1"/>
              </p:cNvSpPr>
              <p:nvPr/>
            </p:nvSpPr>
            <p:spPr bwMode="auto">
              <a:xfrm flipV="1">
                <a:off x="3279" y="2460"/>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5" name="Line 42">
                <a:extLst>
                  <a:ext uri="{FF2B5EF4-FFF2-40B4-BE49-F238E27FC236}">
                    <a16:creationId xmlns:a16="http://schemas.microsoft.com/office/drawing/2014/main" id="{67C18F83-5C6A-8232-73C3-CB91D238F093}"/>
                  </a:ext>
                </a:extLst>
              </p:cNvPr>
              <p:cNvSpPr>
                <a:spLocks noChangeShapeType="1"/>
              </p:cNvSpPr>
              <p:nvPr/>
            </p:nvSpPr>
            <p:spPr bwMode="auto">
              <a:xfrm flipV="1">
                <a:off x="3270" y="2648"/>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6" name="Line 43">
                <a:extLst>
                  <a:ext uri="{FF2B5EF4-FFF2-40B4-BE49-F238E27FC236}">
                    <a16:creationId xmlns:a16="http://schemas.microsoft.com/office/drawing/2014/main" id="{9E3D2ED5-DFA7-DBEE-B39E-C91AD8357AA4}"/>
                  </a:ext>
                </a:extLst>
              </p:cNvPr>
              <p:cNvSpPr>
                <a:spLocks noChangeShapeType="1"/>
              </p:cNvSpPr>
              <p:nvPr/>
            </p:nvSpPr>
            <p:spPr bwMode="auto">
              <a:xfrm flipV="1">
                <a:off x="3270" y="2845"/>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7" name="Line 44">
                <a:extLst>
                  <a:ext uri="{FF2B5EF4-FFF2-40B4-BE49-F238E27FC236}">
                    <a16:creationId xmlns:a16="http://schemas.microsoft.com/office/drawing/2014/main" id="{20DDC8F8-C219-065A-19CE-363362CE3595}"/>
                  </a:ext>
                </a:extLst>
              </p:cNvPr>
              <p:cNvSpPr>
                <a:spLocks noChangeShapeType="1"/>
              </p:cNvSpPr>
              <p:nvPr/>
            </p:nvSpPr>
            <p:spPr bwMode="auto">
              <a:xfrm flipV="1">
                <a:off x="3279" y="3033"/>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8" name="Text Box 45">
                <a:extLst>
                  <a:ext uri="{FF2B5EF4-FFF2-40B4-BE49-F238E27FC236}">
                    <a16:creationId xmlns:a16="http://schemas.microsoft.com/office/drawing/2014/main" id="{F49333B7-4444-7EBF-AE5C-01072A378836}"/>
                  </a:ext>
                </a:extLst>
              </p:cNvPr>
              <p:cNvSpPr txBox="1">
                <a:spLocks noChangeArrowheads="1"/>
              </p:cNvSpPr>
              <p:nvPr/>
            </p:nvSpPr>
            <p:spPr bwMode="auto">
              <a:xfrm>
                <a:off x="3090" y="1165"/>
                <a:ext cx="41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a:t>
                </a:r>
              </a:p>
            </p:txBody>
          </p:sp>
          <p:sp>
            <p:nvSpPr>
              <p:cNvPr id="121899" name="Text Box 46">
                <a:extLst>
                  <a:ext uri="{FF2B5EF4-FFF2-40B4-BE49-F238E27FC236}">
                    <a16:creationId xmlns:a16="http://schemas.microsoft.com/office/drawing/2014/main" id="{C2660D83-BB2C-ADDB-399F-94A5EA6C9BDC}"/>
                  </a:ext>
                </a:extLst>
              </p:cNvPr>
              <p:cNvSpPr txBox="1">
                <a:spLocks noChangeArrowheads="1"/>
              </p:cNvSpPr>
              <p:nvPr/>
            </p:nvSpPr>
            <p:spPr bwMode="auto">
              <a:xfrm>
                <a:off x="3073" y="2319"/>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b</a:t>
                </a:r>
              </a:p>
            </p:txBody>
          </p:sp>
          <p:sp>
            <p:nvSpPr>
              <p:cNvPr id="121900" name="Text Box 47">
                <a:extLst>
                  <a:ext uri="{FF2B5EF4-FFF2-40B4-BE49-F238E27FC236}">
                    <a16:creationId xmlns:a16="http://schemas.microsoft.com/office/drawing/2014/main" id="{6DF7FE53-2E5A-3372-9A50-7539D7AEBE01}"/>
                  </a:ext>
                </a:extLst>
              </p:cNvPr>
              <p:cNvSpPr txBox="1">
                <a:spLocks noChangeArrowheads="1"/>
              </p:cNvSpPr>
              <p:nvPr/>
            </p:nvSpPr>
            <p:spPr bwMode="auto">
              <a:xfrm>
                <a:off x="3090" y="1362"/>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c</a:t>
                </a:r>
              </a:p>
            </p:txBody>
          </p:sp>
          <p:sp>
            <p:nvSpPr>
              <p:cNvPr id="121901" name="Text Box 48">
                <a:extLst>
                  <a:ext uri="{FF2B5EF4-FFF2-40B4-BE49-F238E27FC236}">
                    <a16:creationId xmlns:a16="http://schemas.microsoft.com/office/drawing/2014/main" id="{928F04AF-A7ED-2FE3-16A4-1062C4E7BC24}"/>
                  </a:ext>
                </a:extLst>
              </p:cNvPr>
              <p:cNvSpPr txBox="1">
                <a:spLocks noChangeArrowheads="1"/>
              </p:cNvSpPr>
              <p:nvPr/>
            </p:nvSpPr>
            <p:spPr bwMode="auto">
              <a:xfrm>
                <a:off x="3073" y="2498"/>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d</a:t>
                </a:r>
              </a:p>
            </p:txBody>
          </p:sp>
          <p:sp>
            <p:nvSpPr>
              <p:cNvPr id="121902" name="Text Box 49">
                <a:extLst>
                  <a:ext uri="{FF2B5EF4-FFF2-40B4-BE49-F238E27FC236}">
                    <a16:creationId xmlns:a16="http://schemas.microsoft.com/office/drawing/2014/main" id="{0EA7DC3B-7502-AD35-769A-291505DAAA76}"/>
                  </a:ext>
                </a:extLst>
              </p:cNvPr>
              <p:cNvSpPr txBox="1">
                <a:spLocks noChangeArrowheads="1"/>
              </p:cNvSpPr>
              <p:nvPr/>
            </p:nvSpPr>
            <p:spPr bwMode="auto">
              <a:xfrm>
                <a:off x="3090" y="1550"/>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e</a:t>
                </a:r>
              </a:p>
            </p:txBody>
          </p:sp>
          <p:sp>
            <p:nvSpPr>
              <p:cNvPr id="121903" name="Text Box 50">
                <a:extLst>
                  <a:ext uri="{FF2B5EF4-FFF2-40B4-BE49-F238E27FC236}">
                    <a16:creationId xmlns:a16="http://schemas.microsoft.com/office/drawing/2014/main" id="{420F6D43-E3EC-E9B7-3D85-7F1870F67A80}"/>
                  </a:ext>
                </a:extLst>
              </p:cNvPr>
              <p:cNvSpPr txBox="1">
                <a:spLocks noChangeArrowheads="1"/>
              </p:cNvSpPr>
              <p:nvPr/>
            </p:nvSpPr>
            <p:spPr bwMode="auto">
              <a:xfrm>
                <a:off x="3097" y="2695"/>
                <a:ext cx="327"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f</a:t>
                </a:r>
              </a:p>
            </p:txBody>
          </p:sp>
          <p:sp>
            <p:nvSpPr>
              <p:cNvPr id="121904" name="Text Box 51">
                <a:extLst>
                  <a:ext uri="{FF2B5EF4-FFF2-40B4-BE49-F238E27FC236}">
                    <a16:creationId xmlns:a16="http://schemas.microsoft.com/office/drawing/2014/main" id="{0279BE2C-7F42-32A6-E579-D6C57C6BD9F1}"/>
                  </a:ext>
                </a:extLst>
              </p:cNvPr>
              <p:cNvSpPr txBox="1">
                <a:spLocks noChangeArrowheads="1"/>
              </p:cNvSpPr>
              <p:nvPr/>
            </p:nvSpPr>
            <p:spPr bwMode="auto">
              <a:xfrm>
                <a:off x="3090" y="1747"/>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g</a:t>
                </a:r>
              </a:p>
            </p:txBody>
          </p:sp>
          <p:sp>
            <p:nvSpPr>
              <p:cNvPr id="121905" name="Text Box 52">
                <a:extLst>
                  <a:ext uri="{FF2B5EF4-FFF2-40B4-BE49-F238E27FC236}">
                    <a16:creationId xmlns:a16="http://schemas.microsoft.com/office/drawing/2014/main" id="{241FB867-4C9A-D3C0-8C0D-B3C0FF6ADEDB}"/>
                  </a:ext>
                </a:extLst>
              </p:cNvPr>
              <p:cNvSpPr txBox="1">
                <a:spLocks noChangeArrowheads="1"/>
              </p:cNvSpPr>
              <p:nvPr/>
            </p:nvSpPr>
            <p:spPr bwMode="auto">
              <a:xfrm>
                <a:off x="3098" y="2891"/>
                <a:ext cx="30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h</a:t>
                </a:r>
              </a:p>
            </p:txBody>
          </p:sp>
          <p:sp>
            <p:nvSpPr>
              <p:cNvPr id="121906" name="Text Box 53">
                <a:extLst>
                  <a:ext uri="{FF2B5EF4-FFF2-40B4-BE49-F238E27FC236}">
                    <a16:creationId xmlns:a16="http://schemas.microsoft.com/office/drawing/2014/main" id="{88C9B3D5-743D-2BE5-76B4-39C87F611501}"/>
                  </a:ext>
                </a:extLst>
              </p:cNvPr>
              <p:cNvSpPr txBox="1">
                <a:spLocks noChangeArrowheads="1"/>
              </p:cNvSpPr>
              <p:nvPr/>
            </p:nvSpPr>
            <p:spPr bwMode="auto">
              <a:xfrm>
                <a:off x="5013" y="2042"/>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y</a:t>
                </a:r>
              </a:p>
            </p:txBody>
          </p:sp>
          <p:sp>
            <p:nvSpPr>
              <p:cNvPr id="121907" name="Text Box 54">
                <a:extLst>
                  <a:ext uri="{FF2B5EF4-FFF2-40B4-BE49-F238E27FC236}">
                    <a16:creationId xmlns:a16="http://schemas.microsoft.com/office/drawing/2014/main" id="{B69BBC54-B3EC-F601-8188-67C5B9AA42FA}"/>
                  </a:ext>
                </a:extLst>
              </p:cNvPr>
              <p:cNvSpPr txBox="1">
                <a:spLocks noChangeArrowheads="1"/>
              </p:cNvSpPr>
              <p:nvPr/>
            </p:nvSpPr>
            <p:spPr bwMode="auto">
              <a:xfrm>
                <a:off x="4503" y="2059"/>
                <a:ext cx="22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sp>
            <p:nvSpPr>
              <p:cNvPr id="121908" name="Line 55">
                <a:extLst>
                  <a:ext uri="{FF2B5EF4-FFF2-40B4-BE49-F238E27FC236}">
                    <a16:creationId xmlns:a16="http://schemas.microsoft.com/office/drawing/2014/main" id="{095CDD64-702C-FCE4-B802-51D71F62B541}"/>
                  </a:ext>
                </a:extLst>
              </p:cNvPr>
              <p:cNvSpPr>
                <a:spLocks noChangeShapeType="1"/>
              </p:cNvSpPr>
              <p:nvPr/>
            </p:nvSpPr>
            <p:spPr bwMode="auto">
              <a:xfrm>
                <a:off x="3287" y="2167"/>
                <a:ext cx="438" cy="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21909" name="Line 56">
                <a:extLst>
                  <a:ext uri="{FF2B5EF4-FFF2-40B4-BE49-F238E27FC236}">
                    <a16:creationId xmlns:a16="http://schemas.microsoft.com/office/drawing/2014/main" id="{3C29CA89-6B70-C9D1-5C5C-12BAB9215EAA}"/>
                  </a:ext>
                </a:extLst>
              </p:cNvPr>
              <p:cNvSpPr>
                <a:spLocks noChangeShapeType="1"/>
              </p:cNvSpPr>
              <p:nvPr/>
            </p:nvSpPr>
            <p:spPr bwMode="auto">
              <a:xfrm>
                <a:off x="3723" y="1934"/>
                <a:ext cx="0" cy="4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10" name="Text Box 57">
                <a:extLst>
                  <a:ext uri="{FF2B5EF4-FFF2-40B4-BE49-F238E27FC236}">
                    <a16:creationId xmlns:a16="http://schemas.microsoft.com/office/drawing/2014/main" id="{7BB314E7-1AC6-6FAC-7D3C-475158EB37CF}"/>
                  </a:ext>
                </a:extLst>
              </p:cNvPr>
              <p:cNvSpPr txBox="1">
                <a:spLocks noChangeArrowheads="1"/>
              </p:cNvSpPr>
              <p:nvPr/>
            </p:nvSpPr>
            <p:spPr bwMode="auto">
              <a:xfrm>
                <a:off x="3024" y="2024"/>
                <a:ext cx="4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sel</a:t>
                </a:r>
              </a:p>
            </p:txBody>
          </p:sp>
        </p:grpSp>
        <p:sp>
          <p:nvSpPr>
            <p:cNvPr id="121864" name="Text Box 58">
              <a:extLst>
                <a:ext uri="{FF2B5EF4-FFF2-40B4-BE49-F238E27FC236}">
                  <a16:creationId xmlns:a16="http://schemas.microsoft.com/office/drawing/2014/main" id="{40404CE8-67D4-953B-BD67-433A79C70BBE}"/>
                </a:ext>
              </a:extLst>
            </p:cNvPr>
            <p:cNvSpPr txBox="1">
              <a:spLocks noChangeArrowheads="1"/>
            </p:cNvSpPr>
            <p:nvPr/>
          </p:nvSpPr>
          <p:spPr bwMode="auto">
            <a:xfrm>
              <a:off x="1295400" y="1203325"/>
              <a:ext cx="4572000" cy="41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a:t>Coding to Allow </a:t>
              </a:r>
              <a:r>
                <a:rPr lang="ru-RU" altLang="en-US" i="1"/>
                <a:t>Resource Sharing</a:t>
              </a:r>
            </a:p>
          </p:txBody>
        </p:sp>
        <p:sp>
          <p:nvSpPr>
            <p:cNvPr id="121865" name="Text Box 59">
              <a:extLst>
                <a:ext uri="{FF2B5EF4-FFF2-40B4-BE49-F238E27FC236}">
                  <a16:creationId xmlns:a16="http://schemas.microsoft.com/office/drawing/2014/main" id="{EB03549B-E16C-7566-9AB8-F08F17C6F274}"/>
                </a:ext>
              </a:extLst>
            </p:cNvPr>
            <p:cNvSpPr txBox="1">
              <a:spLocks noChangeArrowheads="1"/>
            </p:cNvSpPr>
            <p:nvPr/>
          </p:nvSpPr>
          <p:spPr bwMode="auto">
            <a:xfrm>
              <a:off x="3124200" y="3276599"/>
              <a:ext cx="762000" cy="41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or</a:t>
              </a:r>
              <a:endParaRPr lang="ru-RU" altLang="en-US"/>
            </a:p>
          </p:txBody>
        </p:sp>
      </p:grpSp>
      <p:sp>
        <p:nvSpPr>
          <p:cNvPr id="121860" name="Text Box 62">
            <a:extLst>
              <a:ext uri="{FF2B5EF4-FFF2-40B4-BE49-F238E27FC236}">
                <a16:creationId xmlns:a16="http://schemas.microsoft.com/office/drawing/2014/main" id="{1C373C29-C072-16E4-ACCF-C874513787C7}"/>
              </a:ext>
            </a:extLst>
          </p:cNvPr>
          <p:cNvSpPr txBox="1">
            <a:spLocks noChangeArrowheads="1"/>
          </p:cNvSpPr>
          <p:nvPr/>
        </p:nvSpPr>
        <p:spPr bwMode="auto">
          <a:xfrm>
            <a:off x="5181600" y="4800601"/>
            <a:ext cx="5029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DC can</a:t>
            </a:r>
            <a:r>
              <a:rPr lang="ru-RU" altLang="en-US"/>
              <a:t> select the smallest architecture that meets timing</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4">
            <a:extLst>
              <a:ext uri="{FF2B5EF4-FFF2-40B4-BE49-F238E27FC236}">
                <a16:creationId xmlns:a16="http://schemas.microsoft.com/office/drawing/2014/main" id="{5432BCD3-3092-65CF-DABB-0786043DA7A9}"/>
              </a:ext>
            </a:extLst>
          </p:cNvPr>
          <p:cNvSpPr>
            <a:spLocks noGrp="1" noChangeArrowheads="1"/>
          </p:cNvSpPr>
          <p:nvPr>
            <p:ph type="title"/>
          </p:nvPr>
        </p:nvSpPr>
        <p:spPr/>
        <p:txBody>
          <a:bodyPr/>
          <a:lstStyle/>
          <a:p>
            <a:r>
              <a:rPr lang="en-US" altLang="en-US"/>
              <a:t>Resource Sharing (3)</a:t>
            </a:r>
            <a:endParaRPr lang="ru-RU" altLang="en-US"/>
          </a:p>
        </p:txBody>
      </p:sp>
      <p:sp>
        <p:nvSpPr>
          <p:cNvPr id="122883" name="Content Placeholder 55">
            <a:extLst>
              <a:ext uri="{FF2B5EF4-FFF2-40B4-BE49-F238E27FC236}">
                <a16:creationId xmlns:a16="http://schemas.microsoft.com/office/drawing/2014/main" id="{F50564DE-CEB0-52FF-16C5-72625D086656}"/>
              </a:ext>
            </a:extLst>
          </p:cNvPr>
          <p:cNvSpPr>
            <a:spLocks noGrp="1" noChangeArrowheads="1"/>
          </p:cNvSpPr>
          <p:nvPr>
            <p:ph type="body" sz="quarter" idx="10"/>
          </p:nvPr>
        </p:nvSpPr>
        <p:spPr/>
        <p:txBody>
          <a:bodyPr/>
          <a:lstStyle/>
          <a:p>
            <a:r>
              <a:rPr lang="en-US" altLang="en-US" dirty="0"/>
              <a:t>Forced Resource sharing</a:t>
            </a:r>
            <a:endParaRPr lang="ru-RU" altLang="en-US" dirty="0"/>
          </a:p>
          <a:p>
            <a:r>
              <a:rPr lang="da-DK" altLang="en-US" dirty="0"/>
              <a:t>case(sel)</a:t>
            </a:r>
          </a:p>
          <a:p>
            <a:r>
              <a:rPr lang="da-DK" altLang="en-US" dirty="0"/>
              <a:t>2’b00: begin op1=a; op2=b; end</a:t>
            </a:r>
          </a:p>
          <a:p>
            <a:r>
              <a:rPr lang="da-DK" altLang="en-US" dirty="0"/>
              <a:t>2’b01: begin op1=c; op2=d; end</a:t>
            </a:r>
          </a:p>
          <a:p>
            <a:r>
              <a:rPr lang="da-DK" altLang="en-US" dirty="0"/>
              <a:t>2’b10: begin op1=e; op2=f; end</a:t>
            </a:r>
          </a:p>
          <a:p>
            <a:r>
              <a:rPr lang="da-DK" altLang="en-US" dirty="0"/>
              <a:t>2’b11: begin op1=g; op2=h; end</a:t>
            </a:r>
            <a:endParaRPr lang="es-ES_tradnl" altLang="en-US" dirty="0"/>
          </a:p>
          <a:p>
            <a:r>
              <a:rPr lang="es-ES_tradnl" altLang="en-US" dirty="0" err="1"/>
              <a:t>endcase</a:t>
            </a:r>
            <a:endParaRPr lang="es-ES_tradnl" altLang="en-US" dirty="0"/>
          </a:p>
          <a:p>
            <a:r>
              <a:rPr lang="es-ES_tradnl" altLang="en-US" dirty="0"/>
              <a:t>y</a:t>
            </a:r>
            <a:r>
              <a:rPr lang="ru-RU" altLang="en-US" dirty="0"/>
              <a:t>=</a:t>
            </a:r>
            <a:r>
              <a:rPr lang="es-ES_tradnl" altLang="en-US" dirty="0" err="1"/>
              <a:t>op</a:t>
            </a:r>
            <a:r>
              <a:rPr lang="ru-RU" altLang="en-US" dirty="0"/>
              <a:t>1+</a:t>
            </a:r>
            <a:r>
              <a:rPr lang="es-ES_tradnl" altLang="en-US" dirty="0" err="1"/>
              <a:t>op</a:t>
            </a:r>
            <a:r>
              <a:rPr lang="ru-RU" altLang="en-US" dirty="0"/>
              <a:t>2;</a:t>
            </a:r>
            <a:endParaRPr lang="en-US" altLang="en-US" dirty="0"/>
          </a:p>
          <a:p>
            <a:r>
              <a:rPr lang="ru-RU" altLang="en-US" dirty="0"/>
              <a:t>Since the arithmetic “resource” is being shared</a:t>
            </a:r>
            <a:r>
              <a:rPr lang="en-US" altLang="en-US" dirty="0"/>
              <a:t> </a:t>
            </a:r>
            <a:r>
              <a:rPr lang="ru-RU" altLang="en-US" dirty="0"/>
              <a:t>outside the if statement DC can</a:t>
            </a:r>
            <a:r>
              <a:rPr lang="en-US" altLang="en-US" dirty="0"/>
              <a:t>not </a:t>
            </a:r>
            <a:r>
              <a:rPr lang="ru-RU" altLang="en-US" dirty="0"/>
              <a:t>“un-share”</a:t>
            </a:r>
            <a:r>
              <a:rPr lang="en-US" altLang="en-US" dirty="0"/>
              <a:t>. </a:t>
            </a:r>
            <a:endParaRPr lang="ru-RU" altLang="en-US" dirty="0"/>
          </a:p>
          <a:p>
            <a:endParaRPr lang="ru-RU" altLang="en-US" dirty="0"/>
          </a:p>
        </p:txBody>
      </p:sp>
      <p:grpSp>
        <p:nvGrpSpPr>
          <p:cNvPr id="122884" name="Group 57">
            <a:extLst>
              <a:ext uri="{FF2B5EF4-FFF2-40B4-BE49-F238E27FC236}">
                <a16:creationId xmlns:a16="http://schemas.microsoft.com/office/drawing/2014/main" id="{06BC921A-B812-D74C-0D93-DB9DB017580B}"/>
              </a:ext>
            </a:extLst>
          </p:cNvPr>
          <p:cNvGrpSpPr>
            <a:grpSpLocks/>
          </p:cNvGrpSpPr>
          <p:nvPr/>
        </p:nvGrpSpPr>
        <p:grpSpPr bwMode="auto">
          <a:xfrm>
            <a:off x="6216650" y="1787526"/>
            <a:ext cx="3613150" cy="3317875"/>
            <a:chOff x="3152" y="1041"/>
            <a:chExt cx="2400" cy="2279"/>
          </a:xfrm>
        </p:grpSpPr>
        <p:sp>
          <p:nvSpPr>
            <p:cNvPr id="122885" name="AutoShape 8">
              <a:extLst>
                <a:ext uri="{FF2B5EF4-FFF2-40B4-BE49-F238E27FC236}">
                  <a16:creationId xmlns:a16="http://schemas.microsoft.com/office/drawing/2014/main" id="{8E54EC0A-5847-50B6-389D-52C90DCBD2BF}"/>
                </a:ext>
              </a:extLst>
            </p:cNvPr>
            <p:cNvSpPr>
              <a:spLocks noChangeArrowheads="1"/>
            </p:cNvSpPr>
            <p:nvPr/>
          </p:nvSpPr>
          <p:spPr bwMode="auto">
            <a:xfrm rot="-5400000">
              <a:off x="3315" y="1383"/>
              <a:ext cx="1029" cy="34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2 w 21600"/>
                <a:gd name="T13" fmla="*/ 4508 h 21600"/>
                <a:gd name="T14" fmla="*/ 17108 w 21600"/>
                <a:gd name="T15" fmla="*/ 1709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rgbClr val="000000"/>
              </a:solidFill>
              <a:miter lim="800000"/>
              <a:headEnd/>
              <a:tailEnd/>
            </a:ln>
          </p:spPr>
          <p:txBody>
            <a:bodyPr/>
            <a:lstStyle/>
            <a:p>
              <a:endParaRPr lang="en-US" dirty="0"/>
            </a:p>
          </p:txBody>
        </p:sp>
        <p:sp>
          <p:nvSpPr>
            <p:cNvPr id="122886" name="Text Box 9">
              <a:extLst>
                <a:ext uri="{FF2B5EF4-FFF2-40B4-BE49-F238E27FC236}">
                  <a16:creationId xmlns:a16="http://schemas.microsoft.com/office/drawing/2014/main" id="{8FDBC985-1E22-FB55-C898-33ECF6DF5674}"/>
                </a:ext>
              </a:extLst>
            </p:cNvPr>
            <p:cNvSpPr txBox="1">
              <a:spLocks noChangeArrowheads="1"/>
            </p:cNvSpPr>
            <p:nvPr/>
          </p:nvSpPr>
          <p:spPr bwMode="auto">
            <a:xfrm>
              <a:off x="3674" y="1192"/>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00</a:t>
              </a:r>
            </a:p>
          </p:txBody>
        </p:sp>
        <p:sp>
          <p:nvSpPr>
            <p:cNvPr id="122887" name="Text Box 10">
              <a:extLst>
                <a:ext uri="{FF2B5EF4-FFF2-40B4-BE49-F238E27FC236}">
                  <a16:creationId xmlns:a16="http://schemas.microsoft.com/office/drawing/2014/main" id="{509CC0F6-C853-9467-21DC-27ED890A91F0}"/>
                </a:ext>
              </a:extLst>
            </p:cNvPr>
            <p:cNvSpPr txBox="1">
              <a:spLocks noChangeArrowheads="1"/>
            </p:cNvSpPr>
            <p:nvPr/>
          </p:nvSpPr>
          <p:spPr bwMode="auto">
            <a:xfrm>
              <a:off x="3674" y="1371"/>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01</a:t>
              </a:r>
            </a:p>
          </p:txBody>
        </p:sp>
        <p:sp>
          <p:nvSpPr>
            <p:cNvPr id="122888" name="Text Box 11">
              <a:extLst>
                <a:ext uri="{FF2B5EF4-FFF2-40B4-BE49-F238E27FC236}">
                  <a16:creationId xmlns:a16="http://schemas.microsoft.com/office/drawing/2014/main" id="{A06F7393-02F3-AEE2-85E7-A2B9731B1521}"/>
                </a:ext>
              </a:extLst>
            </p:cNvPr>
            <p:cNvSpPr txBox="1">
              <a:spLocks noChangeArrowheads="1"/>
            </p:cNvSpPr>
            <p:nvPr/>
          </p:nvSpPr>
          <p:spPr bwMode="auto">
            <a:xfrm>
              <a:off x="3666" y="1582"/>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10</a:t>
              </a:r>
            </a:p>
          </p:txBody>
        </p:sp>
        <p:sp>
          <p:nvSpPr>
            <p:cNvPr id="122889" name="Text Box 12">
              <a:extLst>
                <a:ext uri="{FF2B5EF4-FFF2-40B4-BE49-F238E27FC236}">
                  <a16:creationId xmlns:a16="http://schemas.microsoft.com/office/drawing/2014/main" id="{90CCEC37-F17F-6E9A-8A99-FD457FF14E9C}"/>
                </a:ext>
              </a:extLst>
            </p:cNvPr>
            <p:cNvSpPr txBox="1">
              <a:spLocks noChangeArrowheads="1"/>
            </p:cNvSpPr>
            <p:nvPr/>
          </p:nvSpPr>
          <p:spPr bwMode="auto">
            <a:xfrm>
              <a:off x="3666" y="1769"/>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11</a:t>
              </a:r>
            </a:p>
          </p:txBody>
        </p:sp>
        <p:sp>
          <p:nvSpPr>
            <p:cNvPr id="122890" name="AutoShape 13">
              <a:extLst>
                <a:ext uri="{FF2B5EF4-FFF2-40B4-BE49-F238E27FC236}">
                  <a16:creationId xmlns:a16="http://schemas.microsoft.com/office/drawing/2014/main" id="{E719B3E2-9E9C-E8DF-4A61-27E93AC44BBF}"/>
                </a:ext>
              </a:extLst>
            </p:cNvPr>
            <p:cNvSpPr>
              <a:spLocks noChangeArrowheads="1"/>
            </p:cNvSpPr>
            <p:nvPr/>
          </p:nvSpPr>
          <p:spPr bwMode="auto">
            <a:xfrm rot="-5400000">
              <a:off x="3306" y="2584"/>
              <a:ext cx="1029" cy="34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2 w 21600"/>
                <a:gd name="T13" fmla="*/ 4508 h 21600"/>
                <a:gd name="T14" fmla="*/ 17108 w 21600"/>
                <a:gd name="T15" fmla="*/ 1709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rgbClr val="000000"/>
              </a:solidFill>
              <a:miter lim="800000"/>
              <a:headEnd/>
              <a:tailEnd/>
            </a:ln>
          </p:spPr>
          <p:txBody>
            <a:bodyPr/>
            <a:lstStyle/>
            <a:p>
              <a:endParaRPr lang="en-US"/>
            </a:p>
          </p:txBody>
        </p:sp>
        <p:sp>
          <p:nvSpPr>
            <p:cNvPr id="122891" name="Text Box 14">
              <a:extLst>
                <a:ext uri="{FF2B5EF4-FFF2-40B4-BE49-F238E27FC236}">
                  <a16:creationId xmlns:a16="http://schemas.microsoft.com/office/drawing/2014/main" id="{E0FCEAE7-EDBA-9E54-6958-B7520DC177F1}"/>
                </a:ext>
              </a:extLst>
            </p:cNvPr>
            <p:cNvSpPr txBox="1">
              <a:spLocks noChangeArrowheads="1"/>
            </p:cNvSpPr>
            <p:nvPr/>
          </p:nvSpPr>
          <p:spPr bwMode="auto">
            <a:xfrm>
              <a:off x="3666" y="2393"/>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00</a:t>
              </a:r>
            </a:p>
          </p:txBody>
        </p:sp>
        <p:sp>
          <p:nvSpPr>
            <p:cNvPr id="122892" name="Text Box 15">
              <a:extLst>
                <a:ext uri="{FF2B5EF4-FFF2-40B4-BE49-F238E27FC236}">
                  <a16:creationId xmlns:a16="http://schemas.microsoft.com/office/drawing/2014/main" id="{57748BF8-2AC4-FB63-984A-5B0EA81B856F}"/>
                </a:ext>
              </a:extLst>
            </p:cNvPr>
            <p:cNvSpPr txBox="1">
              <a:spLocks noChangeArrowheads="1"/>
            </p:cNvSpPr>
            <p:nvPr/>
          </p:nvSpPr>
          <p:spPr bwMode="auto">
            <a:xfrm>
              <a:off x="3666" y="2572"/>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01</a:t>
              </a:r>
            </a:p>
          </p:txBody>
        </p:sp>
        <p:sp>
          <p:nvSpPr>
            <p:cNvPr id="122893" name="Text Box 16">
              <a:extLst>
                <a:ext uri="{FF2B5EF4-FFF2-40B4-BE49-F238E27FC236}">
                  <a16:creationId xmlns:a16="http://schemas.microsoft.com/office/drawing/2014/main" id="{ADF5D515-EBB8-A044-99EE-39FA448E9818}"/>
                </a:ext>
              </a:extLst>
            </p:cNvPr>
            <p:cNvSpPr txBox="1">
              <a:spLocks noChangeArrowheads="1"/>
            </p:cNvSpPr>
            <p:nvPr/>
          </p:nvSpPr>
          <p:spPr bwMode="auto">
            <a:xfrm>
              <a:off x="3658" y="2791"/>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10</a:t>
              </a:r>
            </a:p>
          </p:txBody>
        </p:sp>
        <p:sp>
          <p:nvSpPr>
            <p:cNvPr id="122894" name="Text Box 17">
              <a:extLst>
                <a:ext uri="{FF2B5EF4-FFF2-40B4-BE49-F238E27FC236}">
                  <a16:creationId xmlns:a16="http://schemas.microsoft.com/office/drawing/2014/main" id="{35EB5EA0-2BF5-4C1B-ABEF-61C3963AE8EF}"/>
                </a:ext>
              </a:extLst>
            </p:cNvPr>
            <p:cNvSpPr txBox="1">
              <a:spLocks noChangeArrowheads="1"/>
            </p:cNvSpPr>
            <p:nvPr/>
          </p:nvSpPr>
          <p:spPr bwMode="auto">
            <a:xfrm>
              <a:off x="3658" y="2970"/>
              <a:ext cx="33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11</a:t>
              </a:r>
            </a:p>
          </p:txBody>
        </p:sp>
        <p:sp>
          <p:nvSpPr>
            <p:cNvPr id="122895" name="Line 18">
              <a:extLst>
                <a:ext uri="{FF2B5EF4-FFF2-40B4-BE49-F238E27FC236}">
                  <a16:creationId xmlns:a16="http://schemas.microsoft.com/office/drawing/2014/main" id="{F8D7072D-DB38-704F-0FF5-4496FFA1CA9F}"/>
                </a:ext>
              </a:extLst>
            </p:cNvPr>
            <p:cNvSpPr>
              <a:spLocks noChangeShapeType="1"/>
            </p:cNvSpPr>
            <p:nvPr/>
          </p:nvSpPr>
          <p:spPr bwMode="auto">
            <a:xfrm>
              <a:off x="4557" y="1849"/>
              <a:ext cx="0" cy="2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6" name="Line 19">
              <a:extLst>
                <a:ext uri="{FF2B5EF4-FFF2-40B4-BE49-F238E27FC236}">
                  <a16:creationId xmlns:a16="http://schemas.microsoft.com/office/drawing/2014/main" id="{37202492-2D95-2ADD-F644-D110DDDFC5F4}"/>
                </a:ext>
              </a:extLst>
            </p:cNvPr>
            <p:cNvSpPr>
              <a:spLocks noChangeShapeType="1"/>
            </p:cNvSpPr>
            <p:nvPr/>
          </p:nvSpPr>
          <p:spPr bwMode="auto">
            <a:xfrm>
              <a:off x="4557" y="2078"/>
              <a:ext cx="78" cy="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7" name="Line 20">
              <a:extLst>
                <a:ext uri="{FF2B5EF4-FFF2-40B4-BE49-F238E27FC236}">
                  <a16:creationId xmlns:a16="http://schemas.microsoft.com/office/drawing/2014/main" id="{0EFA11D3-7AD8-25B4-DE84-FC525353D364}"/>
                </a:ext>
              </a:extLst>
            </p:cNvPr>
            <p:cNvSpPr>
              <a:spLocks noChangeShapeType="1"/>
            </p:cNvSpPr>
            <p:nvPr/>
          </p:nvSpPr>
          <p:spPr bwMode="auto">
            <a:xfrm rot="-5400000">
              <a:off x="4557" y="2156"/>
              <a:ext cx="77" cy="7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8" name="Line 21">
              <a:extLst>
                <a:ext uri="{FF2B5EF4-FFF2-40B4-BE49-F238E27FC236}">
                  <a16:creationId xmlns:a16="http://schemas.microsoft.com/office/drawing/2014/main" id="{FFD6D9DA-491F-5BB3-3BF5-75D6483A2F6E}"/>
                </a:ext>
              </a:extLst>
            </p:cNvPr>
            <p:cNvSpPr>
              <a:spLocks noChangeShapeType="1"/>
            </p:cNvSpPr>
            <p:nvPr/>
          </p:nvSpPr>
          <p:spPr bwMode="auto">
            <a:xfrm>
              <a:off x="4557" y="2231"/>
              <a:ext cx="0" cy="2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9" name="Line 22">
              <a:extLst>
                <a:ext uri="{FF2B5EF4-FFF2-40B4-BE49-F238E27FC236}">
                  <a16:creationId xmlns:a16="http://schemas.microsoft.com/office/drawing/2014/main" id="{DB984E74-28CC-35A3-E1D0-A19550E1B911}"/>
                </a:ext>
              </a:extLst>
            </p:cNvPr>
            <p:cNvSpPr>
              <a:spLocks noChangeShapeType="1"/>
            </p:cNvSpPr>
            <p:nvPr/>
          </p:nvSpPr>
          <p:spPr bwMode="auto">
            <a:xfrm>
              <a:off x="4886" y="2020"/>
              <a:ext cx="0" cy="3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0" name="Line 23">
              <a:extLst>
                <a:ext uri="{FF2B5EF4-FFF2-40B4-BE49-F238E27FC236}">
                  <a16:creationId xmlns:a16="http://schemas.microsoft.com/office/drawing/2014/main" id="{3736502A-DFED-3293-6E30-DE35FE28ABAF}"/>
                </a:ext>
              </a:extLst>
            </p:cNvPr>
            <p:cNvSpPr>
              <a:spLocks noChangeShapeType="1"/>
            </p:cNvSpPr>
            <p:nvPr/>
          </p:nvSpPr>
          <p:spPr bwMode="auto">
            <a:xfrm>
              <a:off x="4566" y="1857"/>
              <a:ext cx="328" cy="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1" name="Line 24">
              <a:extLst>
                <a:ext uri="{FF2B5EF4-FFF2-40B4-BE49-F238E27FC236}">
                  <a16:creationId xmlns:a16="http://schemas.microsoft.com/office/drawing/2014/main" id="{14B2CB3F-10D4-A2A6-37C7-C2541E70F816}"/>
                </a:ext>
              </a:extLst>
            </p:cNvPr>
            <p:cNvSpPr>
              <a:spLocks noChangeShapeType="1"/>
            </p:cNvSpPr>
            <p:nvPr/>
          </p:nvSpPr>
          <p:spPr bwMode="auto">
            <a:xfrm flipV="1">
              <a:off x="4558" y="2337"/>
              <a:ext cx="320" cy="1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2" name="Line 25">
              <a:extLst>
                <a:ext uri="{FF2B5EF4-FFF2-40B4-BE49-F238E27FC236}">
                  <a16:creationId xmlns:a16="http://schemas.microsoft.com/office/drawing/2014/main" id="{5468FD24-844F-7070-BBD8-6DB4DD1700BB}"/>
                </a:ext>
              </a:extLst>
            </p:cNvPr>
            <p:cNvSpPr>
              <a:spLocks noChangeShapeType="1"/>
            </p:cNvSpPr>
            <p:nvPr/>
          </p:nvSpPr>
          <p:spPr bwMode="auto">
            <a:xfrm flipV="1">
              <a:off x="4327" y="1980"/>
              <a:ext cx="23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3" name="Line 26">
              <a:extLst>
                <a:ext uri="{FF2B5EF4-FFF2-40B4-BE49-F238E27FC236}">
                  <a16:creationId xmlns:a16="http://schemas.microsoft.com/office/drawing/2014/main" id="{52A0D174-1259-38A4-6857-2761F87480B5}"/>
                </a:ext>
              </a:extLst>
            </p:cNvPr>
            <p:cNvSpPr>
              <a:spLocks noChangeShapeType="1"/>
            </p:cNvSpPr>
            <p:nvPr/>
          </p:nvSpPr>
          <p:spPr bwMode="auto">
            <a:xfrm flipV="1">
              <a:off x="4319" y="2337"/>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4" name="Line 27">
              <a:extLst>
                <a:ext uri="{FF2B5EF4-FFF2-40B4-BE49-F238E27FC236}">
                  <a16:creationId xmlns:a16="http://schemas.microsoft.com/office/drawing/2014/main" id="{66D9499D-850A-6E2E-5305-A9CD5EB6CE72}"/>
                </a:ext>
              </a:extLst>
            </p:cNvPr>
            <p:cNvSpPr>
              <a:spLocks noChangeShapeType="1"/>
            </p:cNvSpPr>
            <p:nvPr/>
          </p:nvSpPr>
          <p:spPr bwMode="auto">
            <a:xfrm>
              <a:off x="4007" y="1597"/>
              <a:ext cx="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5" name="Line 28">
              <a:extLst>
                <a:ext uri="{FF2B5EF4-FFF2-40B4-BE49-F238E27FC236}">
                  <a16:creationId xmlns:a16="http://schemas.microsoft.com/office/drawing/2014/main" id="{9F6C8F15-CE3B-DFAB-06DE-D6FC9CA2C2F5}"/>
                </a:ext>
              </a:extLst>
            </p:cNvPr>
            <p:cNvSpPr>
              <a:spLocks noChangeShapeType="1"/>
            </p:cNvSpPr>
            <p:nvPr/>
          </p:nvSpPr>
          <p:spPr bwMode="auto">
            <a:xfrm>
              <a:off x="3999" y="2714"/>
              <a:ext cx="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6" name="Line 29">
              <a:extLst>
                <a:ext uri="{FF2B5EF4-FFF2-40B4-BE49-F238E27FC236}">
                  <a16:creationId xmlns:a16="http://schemas.microsoft.com/office/drawing/2014/main" id="{0493D8FE-6ACB-957E-53D7-E312C7A8A9AC}"/>
                </a:ext>
              </a:extLst>
            </p:cNvPr>
            <p:cNvSpPr>
              <a:spLocks noChangeShapeType="1"/>
            </p:cNvSpPr>
            <p:nvPr/>
          </p:nvSpPr>
          <p:spPr bwMode="auto">
            <a:xfrm>
              <a:off x="4327" y="1597"/>
              <a:ext cx="0" cy="3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7" name="Line 30">
              <a:extLst>
                <a:ext uri="{FF2B5EF4-FFF2-40B4-BE49-F238E27FC236}">
                  <a16:creationId xmlns:a16="http://schemas.microsoft.com/office/drawing/2014/main" id="{F38BE6FB-1357-7AE1-9FFD-F4F8F6D1E6F6}"/>
                </a:ext>
              </a:extLst>
            </p:cNvPr>
            <p:cNvSpPr>
              <a:spLocks noChangeShapeType="1"/>
            </p:cNvSpPr>
            <p:nvPr/>
          </p:nvSpPr>
          <p:spPr bwMode="auto">
            <a:xfrm>
              <a:off x="4311" y="2330"/>
              <a:ext cx="0" cy="3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8" name="Line 31">
              <a:extLst>
                <a:ext uri="{FF2B5EF4-FFF2-40B4-BE49-F238E27FC236}">
                  <a16:creationId xmlns:a16="http://schemas.microsoft.com/office/drawing/2014/main" id="{430F2E44-AA87-56B2-D9AE-7E9CCB8B492A}"/>
                </a:ext>
              </a:extLst>
            </p:cNvPr>
            <p:cNvSpPr>
              <a:spLocks noChangeShapeType="1"/>
            </p:cNvSpPr>
            <p:nvPr/>
          </p:nvSpPr>
          <p:spPr bwMode="auto">
            <a:xfrm flipV="1">
              <a:off x="4886" y="2176"/>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9" name="Line 32">
              <a:extLst>
                <a:ext uri="{FF2B5EF4-FFF2-40B4-BE49-F238E27FC236}">
                  <a16:creationId xmlns:a16="http://schemas.microsoft.com/office/drawing/2014/main" id="{5B0ACA44-E476-EDDF-711D-988730398B1C}"/>
                </a:ext>
              </a:extLst>
            </p:cNvPr>
            <p:cNvSpPr>
              <a:spLocks noChangeShapeType="1"/>
            </p:cNvSpPr>
            <p:nvPr/>
          </p:nvSpPr>
          <p:spPr bwMode="auto">
            <a:xfrm flipV="1">
              <a:off x="3407" y="1291"/>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0" name="Line 33">
              <a:extLst>
                <a:ext uri="{FF2B5EF4-FFF2-40B4-BE49-F238E27FC236}">
                  <a16:creationId xmlns:a16="http://schemas.microsoft.com/office/drawing/2014/main" id="{A510A606-406D-F9F6-297E-492F93582556}"/>
                </a:ext>
              </a:extLst>
            </p:cNvPr>
            <p:cNvSpPr>
              <a:spLocks noChangeShapeType="1"/>
            </p:cNvSpPr>
            <p:nvPr/>
          </p:nvSpPr>
          <p:spPr bwMode="auto">
            <a:xfrm flipV="1">
              <a:off x="3399" y="1479"/>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1" name="Line 34">
              <a:extLst>
                <a:ext uri="{FF2B5EF4-FFF2-40B4-BE49-F238E27FC236}">
                  <a16:creationId xmlns:a16="http://schemas.microsoft.com/office/drawing/2014/main" id="{72D815D1-62D2-C084-E71E-4A1BDEAD75D8}"/>
                </a:ext>
              </a:extLst>
            </p:cNvPr>
            <p:cNvSpPr>
              <a:spLocks noChangeShapeType="1"/>
            </p:cNvSpPr>
            <p:nvPr/>
          </p:nvSpPr>
          <p:spPr bwMode="auto">
            <a:xfrm flipV="1">
              <a:off x="3399" y="1675"/>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2" name="Line 35">
              <a:extLst>
                <a:ext uri="{FF2B5EF4-FFF2-40B4-BE49-F238E27FC236}">
                  <a16:creationId xmlns:a16="http://schemas.microsoft.com/office/drawing/2014/main" id="{C64A3A18-83B2-5FB6-90C4-C0F4550267E2}"/>
                </a:ext>
              </a:extLst>
            </p:cNvPr>
            <p:cNvSpPr>
              <a:spLocks noChangeShapeType="1"/>
            </p:cNvSpPr>
            <p:nvPr/>
          </p:nvSpPr>
          <p:spPr bwMode="auto">
            <a:xfrm flipV="1">
              <a:off x="3407" y="1863"/>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3" name="Line 36">
              <a:extLst>
                <a:ext uri="{FF2B5EF4-FFF2-40B4-BE49-F238E27FC236}">
                  <a16:creationId xmlns:a16="http://schemas.microsoft.com/office/drawing/2014/main" id="{F689C5C7-91EC-F3DE-0085-889CD9A275B9}"/>
                </a:ext>
              </a:extLst>
            </p:cNvPr>
            <p:cNvSpPr>
              <a:spLocks noChangeShapeType="1"/>
            </p:cNvSpPr>
            <p:nvPr/>
          </p:nvSpPr>
          <p:spPr bwMode="auto">
            <a:xfrm flipV="1">
              <a:off x="3399" y="2500"/>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4" name="Line 37">
              <a:extLst>
                <a:ext uri="{FF2B5EF4-FFF2-40B4-BE49-F238E27FC236}">
                  <a16:creationId xmlns:a16="http://schemas.microsoft.com/office/drawing/2014/main" id="{D360F436-9BC5-BF38-F9FF-CB8ECA97B7C1}"/>
                </a:ext>
              </a:extLst>
            </p:cNvPr>
            <p:cNvSpPr>
              <a:spLocks noChangeShapeType="1"/>
            </p:cNvSpPr>
            <p:nvPr/>
          </p:nvSpPr>
          <p:spPr bwMode="auto">
            <a:xfrm flipV="1">
              <a:off x="3390" y="2688"/>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5" name="Line 38">
              <a:extLst>
                <a:ext uri="{FF2B5EF4-FFF2-40B4-BE49-F238E27FC236}">
                  <a16:creationId xmlns:a16="http://schemas.microsoft.com/office/drawing/2014/main" id="{FD33AA53-0FCA-3B91-4911-67400D0AA855}"/>
                </a:ext>
              </a:extLst>
            </p:cNvPr>
            <p:cNvSpPr>
              <a:spLocks noChangeShapeType="1"/>
            </p:cNvSpPr>
            <p:nvPr/>
          </p:nvSpPr>
          <p:spPr bwMode="auto">
            <a:xfrm flipV="1">
              <a:off x="3390" y="2885"/>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6" name="Line 39">
              <a:extLst>
                <a:ext uri="{FF2B5EF4-FFF2-40B4-BE49-F238E27FC236}">
                  <a16:creationId xmlns:a16="http://schemas.microsoft.com/office/drawing/2014/main" id="{87ED7B90-DEDF-62EE-9B75-1009B7328A7A}"/>
                </a:ext>
              </a:extLst>
            </p:cNvPr>
            <p:cNvSpPr>
              <a:spLocks noChangeShapeType="1"/>
            </p:cNvSpPr>
            <p:nvPr/>
          </p:nvSpPr>
          <p:spPr bwMode="auto">
            <a:xfrm flipV="1">
              <a:off x="3399" y="3073"/>
              <a:ext cx="2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7" name="Text Box 40">
              <a:extLst>
                <a:ext uri="{FF2B5EF4-FFF2-40B4-BE49-F238E27FC236}">
                  <a16:creationId xmlns:a16="http://schemas.microsoft.com/office/drawing/2014/main" id="{40A39E88-B490-0B88-82E7-E7AB94911736}"/>
                </a:ext>
              </a:extLst>
            </p:cNvPr>
            <p:cNvSpPr txBox="1">
              <a:spLocks noChangeArrowheads="1"/>
            </p:cNvSpPr>
            <p:nvPr/>
          </p:nvSpPr>
          <p:spPr bwMode="auto">
            <a:xfrm>
              <a:off x="3218" y="1149"/>
              <a:ext cx="41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a:t>
              </a:r>
            </a:p>
          </p:txBody>
        </p:sp>
        <p:sp>
          <p:nvSpPr>
            <p:cNvPr id="122918" name="Text Box 41">
              <a:extLst>
                <a:ext uri="{FF2B5EF4-FFF2-40B4-BE49-F238E27FC236}">
                  <a16:creationId xmlns:a16="http://schemas.microsoft.com/office/drawing/2014/main" id="{F06387F8-5A5A-FFE1-FEC0-F761E5D62FDE}"/>
                </a:ext>
              </a:extLst>
            </p:cNvPr>
            <p:cNvSpPr txBox="1">
              <a:spLocks noChangeArrowheads="1"/>
            </p:cNvSpPr>
            <p:nvPr/>
          </p:nvSpPr>
          <p:spPr bwMode="auto">
            <a:xfrm>
              <a:off x="3201" y="2359"/>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b</a:t>
              </a:r>
            </a:p>
          </p:txBody>
        </p:sp>
        <p:sp>
          <p:nvSpPr>
            <p:cNvPr id="122919" name="Text Box 42">
              <a:extLst>
                <a:ext uri="{FF2B5EF4-FFF2-40B4-BE49-F238E27FC236}">
                  <a16:creationId xmlns:a16="http://schemas.microsoft.com/office/drawing/2014/main" id="{1E4F8967-DCA1-B3F7-68EB-4689077F8B66}"/>
                </a:ext>
              </a:extLst>
            </p:cNvPr>
            <p:cNvSpPr txBox="1">
              <a:spLocks noChangeArrowheads="1"/>
            </p:cNvSpPr>
            <p:nvPr/>
          </p:nvSpPr>
          <p:spPr bwMode="auto">
            <a:xfrm>
              <a:off x="3218" y="1346"/>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c</a:t>
              </a:r>
            </a:p>
          </p:txBody>
        </p:sp>
        <p:sp>
          <p:nvSpPr>
            <p:cNvPr id="122920" name="Text Box 43">
              <a:extLst>
                <a:ext uri="{FF2B5EF4-FFF2-40B4-BE49-F238E27FC236}">
                  <a16:creationId xmlns:a16="http://schemas.microsoft.com/office/drawing/2014/main" id="{12D2995A-533F-BEF8-0246-D2CC12A19DCF}"/>
                </a:ext>
              </a:extLst>
            </p:cNvPr>
            <p:cNvSpPr txBox="1">
              <a:spLocks noChangeArrowheads="1"/>
            </p:cNvSpPr>
            <p:nvPr/>
          </p:nvSpPr>
          <p:spPr bwMode="auto">
            <a:xfrm>
              <a:off x="3201" y="2538"/>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d</a:t>
              </a:r>
            </a:p>
          </p:txBody>
        </p:sp>
        <p:sp>
          <p:nvSpPr>
            <p:cNvPr id="122921" name="Text Box 44">
              <a:extLst>
                <a:ext uri="{FF2B5EF4-FFF2-40B4-BE49-F238E27FC236}">
                  <a16:creationId xmlns:a16="http://schemas.microsoft.com/office/drawing/2014/main" id="{138191CA-C2B5-F925-129F-DE79927CEF9D}"/>
                </a:ext>
              </a:extLst>
            </p:cNvPr>
            <p:cNvSpPr txBox="1">
              <a:spLocks noChangeArrowheads="1"/>
            </p:cNvSpPr>
            <p:nvPr/>
          </p:nvSpPr>
          <p:spPr bwMode="auto">
            <a:xfrm>
              <a:off x="3218" y="1534"/>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e</a:t>
              </a:r>
            </a:p>
          </p:txBody>
        </p:sp>
        <p:sp>
          <p:nvSpPr>
            <p:cNvPr id="122922" name="Text Box 45">
              <a:extLst>
                <a:ext uri="{FF2B5EF4-FFF2-40B4-BE49-F238E27FC236}">
                  <a16:creationId xmlns:a16="http://schemas.microsoft.com/office/drawing/2014/main" id="{829A5AB2-7003-8466-1E5C-98D46D778742}"/>
                </a:ext>
              </a:extLst>
            </p:cNvPr>
            <p:cNvSpPr txBox="1">
              <a:spLocks noChangeArrowheads="1"/>
            </p:cNvSpPr>
            <p:nvPr/>
          </p:nvSpPr>
          <p:spPr bwMode="auto">
            <a:xfrm>
              <a:off x="3225" y="2735"/>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f</a:t>
              </a:r>
            </a:p>
          </p:txBody>
        </p:sp>
        <p:sp>
          <p:nvSpPr>
            <p:cNvPr id="122923" name="Text Box 46">
              <a:extLst>
                <a:ext uri="{FF2B5EF4-FFF2-40B4-BE49-F238E27FC236}">
                  <a16:creationId xmlns:a16="http://schemas.microsoft.com/office/drawing/2014/main" id="{68720537-4A1D-72C5-9E99-B6E95FCA6B81}"/>
                </a:ext>
              </a:extLst>
            </p:cNvPr>
            <p:cNvSpPr txBox="1">
              <a:spLocks noChangeArrowheads="1"/>
            </p:cNvSpPr>
            <p:nvPr/>
          </p:nvSpPr>
          <p:spPr bwMode="auto">
            <a:xfrm>
              <a:off x="3218" y="1731"/>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g</a:t>
              </a:r>
            </a:p>
          </p:txBody>
        </p:sp>
        <p:sp>
          <p:nvSpPr>
            <p:cNvPr id="122924" name="Text Box 47">
              <a:extLst>
                <a:ext uri="{FF2B5EF4-FFF2-40B4-BE49-F238E27FC236}">
                  <a16:creationId xmlns:a16="http://schemas.microsoft.com/office/drawing/2014/main" id="{2B5A62E8-6BDE-AACC-9DF1-A00C8A2B971F}"/>
                </a:ext>
              </a:extLst>
            </p:cNvPr>
            <p:cNvSpPr txBox="1">
              <a:spLocks noChangeArrowheads="1"/>
            </p:cNvSpPr>
            <p:nvPr/>
          </p:nvSpPr>
          <p:spPr bwMode="auto">
            <a:xfrm>
              <a:off x="3217" y="2931"/>
              <a:ext cx="263"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h</a:t>
              </a:r>
            </a:p>
          </p:txBody>
        </p:sp>
        <p:sp>
          <p:nvSpPr>
            <p:cNvPr id="122925" name="Text Box 48">
              <a:extLst>
                <a:ext uri="{FF2B5EF4-FFF2-40B4-BE49-F238E27FC236}">
                  <a16:creationId xmlns:a16="http://schemas.microsoft.com/office/drawing/2014/main" id="{F06FDBC6-BFDC-8B03-D541-47939D4FDA27}"/>
                </a:ext>
              </a:extLst>
            </p:cNvPr>
            <p:cNvSpPr txBox="1">
              <a:spLocks noChangeArrowheads="1"/>
            </p:cNvSpPr>
            <p:nvPr/>
          </p:nvSpPr>
          <p:spPr bwMode="auto">
            <a:xfrm>
              <a:off x="5141" y="2026"/>
              <a:ext cx="411"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y</a:t>
              </a:r>
            </a:p>
          </p:txBody>
        </p:sp>
        <p:sp>
          <p:nvSpPr>
            <p:cNvPr id="122926" name="Text Box 49">
              <a:extLst>
                <a:ext uri="{FF2B5EF4-FFF2-40B4-BE49-F238E27FC236}">
                  <a16:creationId xmlns:a16="http://schemas.microsoft.com/office/drawing/2014/main" id="{31A4C041-0EBB-0EEB-938A-49098208B772}"/>
                </a:ext>
              </a:extLst>
            </p:cNvPr>
            <p:cNvSpPr txBox="1">
              <a:spLocks noChangeArrowheads="1"/>
            </p:cNvSpPr>
            <p:nvPr/>
          </p:nvSpPr>
          <p:spPr bwMode="auto">
            <a:xfrm>
              <a:off x="4631" y="2043"/>
              <a:ext cx="22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sp>
          <p:nvSpPr>
            <p:cNvPr id="122927" name="Line 50">
              <a:extLst>
                <a:ext uri="{FF2B5EF4-FFF2-40B4-BE49-F238E27FC236}">
                  <a16:creationId xmlns:a16="http://schemas.microsoft.com/office/drawing/2014/main" id="{E8ED6B89-044B-368B-2207-D35E7533C3B5}"/>
                </a:ext>
              </a:extLst>
            </p:cNvPr>
            <p:cNvSpPr>
              <a:spLocks noChangeShapeType="1"/>
            </p:cNvSpPr>
            <p:nvPr/>
          </p:nvSpPr>
          <p:spPr bwMode="auto">
            <a:xfrm>
              <a:off x="3415" y="2151"/>
              <a:ext cx="438" cy="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22928" name="Line 51">
              <a:extLst>
                <a:ext uri="{FF2B5EF4-FFF2-40B4-BE49-F238E27FC236}">
                  <a16:creationId xmlns:a16="http://schemas.microsoft.com/office/drawing/2014/main" id="{EAB21DBC-18A6-5B1E-2F4D-EE3607977A96}"/>
                </a:ext>
              </a:extLst>
            </p:cNvPr>
            <p:cNvSpPr>
              <a:spLocks noChangeShapeType="1"/>
            </p:cNvSpPr>
            <p:nvPr/>
          </p:nvSpPr>
          <p:spPr bwMode="auto">
            <a:xfrm>
              <a:off x="3851" y="1918"/>
              <a:ext cx="0" cy="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29" name="Text Box 52">
              <a:extLst>
                <a:ext uri="{FF2B5EF4-FFF2-40B4-BE49-F238E27FC236}">
                  <a16:creationId xmlns:a16="http://schemas.microsoft.com/office/drawing/2014/main" id="{4E152C56-CA66-32C8-8E03-D2DB25C681F7}"/>
                </a:ext>
              </a:extLst>
            </p:cNvPr>
            <p:cNvSpPr txBox="1">
              <a:spLocks noChangeArrowheads="1"/>
            </p:cNvSpPr>
            <p:nvPr/>
          </p:nvSpPr>
          <p:spPr bwMode="auto">
            <a:xfrm>
              <a:off x="3152" y="2008"/>
              <a:ext cx="4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sel</a:t>
              </a:r>
            </a:p>
          </p:txBody>
        </p:sp>
        <p:sp>
          <p:nvSpPr>
            <p:cNvPr id="122930" name="Text Box 53">
              <a:extLst>
                <a:ext uri="{FF2B5EF4-FFF2-40B4-BE49-F238E27FC236}">
                  <a16:creationId xmlns:a16="http://schemas.microsoft.com/office/drawing/2014/main" id="{9C74CEA5-6F86-F0D4-AD72-A7F6FE55A4FB}"/>
                </a:ext>
              </a:extLst>
            </p:cNvPr>
            <p:cNvSpPr txBox="1">
              <a:spLocks noChangeArrowheads="1"/>
            </p:cNvSpPr>
            <p:nvPr/>
          </p:nvSpPr>
          <p:spPr bwMode="auto">
            <a:xfrm>
              <a:off x="4080" y="1336"/>
              <a:ext cx="43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da-DK" altLang="en-US"/>
                <a:t>op1</a:t>
              </a:r>
              <a:endParaRPr lang="ru-RU" altLang="en-US"/>
            </a:p>
          </p:txBody>
        </p:sp>
        <p:sp>
          <p:nvSpPr>
            <p:cNvPr id="122931" name="Text Box 54">
              <a:extLst>
                <a:ext uri="{FF2B5EF4-FFF2-40B4-BE49-F238E27FC236}">
                  <a16:creationId xmlns:a16="http://schemas.microsoft.com/office/drawing/2014/main" id="{5269D427-F6C4-EF0C-7F61-C4E114941D0D}"/>
                </a:ext>
              </a:extLst>
            </p:cNvPr>
            <p:cNvSpPr txBox="1">
              <a:spLocks noChangeArrowheads="1"/>
            </p:cNvSpPr>
            <p:nvPr/>
          </p:nvSpPr>
          <p:spPr bwMode="auto">
            <a:xfrm>
              <a:off x="4088" y="2720"/>
              <a:ext cx="432"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da-DK" altLang="en-US" sz="1800"/>
                <a:t>op2</a:t>
              </a:r>
              <a:endParaRPr lang="ru-RU" altLang="en-US" sz="1800"/>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4">
            <a:extLst>
              <a:ext uri="{FF2B5EF4-FFF2-40B4-BE49-F238E27FC236}">
                <a16:creationId xmlns:a16="http://schemas.microsoft.com/office/drawing/2014/main" id="{88F12AD2-3DE6-53D1-698A-41D743D21352}"/>
              </a:ext>
            </a:extLst>
          </p:cNvPr>
          <p:cNvSpPr>
            <a:spLocks noGrp="1" noChangeArrowheads="1"/>
          </p:cNvSpPr>
          <p:nvPr>
            <p:ph type="title"/>
          </p:nvPr>
        </p:nvSpPr>
        <p:spPr/>
        <p:txBody>
          <a:bodyPr/>
          <a:lstStyle/>
          <a:p>
            <a:r>
              <a:rPr lang="ru-RU" altLang="en-US"/>
              <a:t>Coding to Allow Operator Reordering</a:t>
            </a:r>
          </a:p>
        </p:txBody>
      </p:sp>
      <p:sp>
        <p:nvSpPr>
          <p:cNvPr id="123907" name="Content Placeholder 73">
            <a:extLst>
              <a:ext uri="{FF2B5EF4-FFF2-40B4-BE49-F238E27FC236}">
                <a16:creationId xmlns:a16="http://schemas.microsoft.com/office/drawing/2014/main" id="{27CB73B4-A429-9435-4F94-D3361BABCD4A}"/>
              </a:ext>
            </a:extLst>
          </p:cNvPr>
          <p:cNvSpPr>
            <a:spLocks noGrp="1" noChangeArrowheads="1"/>
          </p:cNvSpPr>
          <p:nvPr>
            <p:ph type="body" sz="quarter" idx="10"/>
          </p:nvPr>
        </p:nvSpPr>
        <p:spPr/>
        <p:txBody>
          <a:bodyPr/>
          <a:lstStyle/>
          <a:p>
            <a:r>
              <a:rPr lang="ru-RU" altLang="en-US" dirty="0"/>
              <a:t>SUM &lt;= A*B + C*D + E + F + G</a:t>
            </a:r>
          </a:p>
          <a:p>
            <a:endParaRPr lang="en-US" altLang="en-US" dirty="0"/>
          </a:p>
          <a:p>
            <a:endParaRPr lang="en-US" altLang="en-US" dirty="0"/>
          </a:p>
          <a:p>
            <a:endParaRPr lang="en-US" altLang="en-US" dirty="0"/>
          </a:p>
          <a:p>
            <a:r>
              <a:rPr lang="en-US" altLang="en-US" dirty="0"/>
              <a:t>A,B – late arriving signals</a:t>
            </a:r>
            <a:endParaRPr lang="ru-RU" altLang="en-US" dirty="0"/>
          </a:p>
          <a:p>
            <a:r>
              <a:rPr lang="ru-RU" altLang="en-US" dirty="0"/>
              <a:t>SUM &lt;= E + F + G + A*B + C*D </a:t>
            </a:r>
          </a:p>
          <a:p>
            <a:endParaRPr lang="en-US" altLang="en-US" dirty="0"/>
          </a:p>
          <a:p>
            <a:endParaRPr lang="en-US" altLang="en-US" dirty="0"/>
          </a:p>
          <a:p>
            <a:pPr marL="0" indent="0">
              <a:buNone/>
            </a:pPr>
            <a:endParaRPr lang="en-US" altLang="en-US" dirty="0"/>
          </a:p>
          <a:p>
            <a:r>
              <a:rPr lang="ru-RU" altLang="en-US" dirty="0"/>
              <a:t>Operators are re-ordered to reduce critical path delays</a:t>
            </a:r>
            <a:r>
              <a:rPr lang="en-US" altLang="en-US" dirty="0"/>
              <a:t>.</a:t>
            </a:r>
            <a:endParaRPr lang="ru-RU" altLang="en-US" dirty="0"/>
          </a:p>
          <a:p>
            <a:endParaRPr lang="ru-RU" altLang="en-US" dirty="0"/>
          </a:p>
        </p:txBody>
      </p:sp>
      <p:grpSp>
        <p:nvGrpSpPr>
          <p:cNvPr id="123908" name="Group 69">
            <a:extLst>
              <a:ext uri="{FF2B5EF4-FFF2-40B4-BE49-F238E27FC236}">
                <a16:creationId xmlns:a16="http://schemas.microsoft.com/office/drawing/2014/main" id="{B6940D9A-1327-BA6F-E1BD-0628F574A9C3}"/>
              </a:ext>
            </a:extLst>
          </p:cNvPr>
          <p:cNvGrpSpPr>
            <a:grpSpLocks/>
          </p:cNvGrpSpPr>
          <p:nvPr/>
        </p:nvGrpSpPr>
        <p:grpSpPr bwMode="auto">
          <a:xfrm>
            <a:off x="3093673" y="4283346"/>
            <a:ext cx="6096000" cy="1554566"/>
            <a:chOff x="136" y="2512"/>
            <a:chExt cx="4343" cy="1325"/>
          </a:xfrm>
        </p:grpSpPr>
        <p:sp>
          <p:nvSpPr>
            <p:cNvPr id="123941" name="Rectangle 27">
              <a:extLst>
                <a:ext uri="{FF2B5EF4-FFF2-40B4-BE49-F238E27FC236}">
                  <a16:creationId xmlns:a16="http://schemas.microsoft.com/office/drawing/2014/main" id="{D9B84CB6-F4C1-7F81-4693-4A18A6E3AB3C}"/>
                </a:ext>
              </a:extLst>
            </p:cNvPr>
            <p:cNvSpPr>
              <a:spLocks noChangeArrowheads="1"/>
            </p:cNvSpPr>
            <p:nvPr/>
          </p:nvSpPr>
          <p:spPr bwMode="auto">
            <a:xfrm>
              <a:off x="632" y="2584"/>
              <a:ext cx="333" cy="24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3942" name="Rectangle 28">
              <a:extLst>
                <a:ext uri="{FF2B5EF4-FFF2-40B4-BE49-F238E27FC236}">
                  <a16:creationId xmlns:a16="http://schemas.microsoft.com/office/drawing/2014/main" id="{ADDB5DB0-BF8E-5343-713D-F47490D26196}"/>
                </a:ext>
              </a:extLst>
            </p:cNvPr>
            <p:cNvSpPr>
              <a:spLocks noChangeArrowheads="1"/>
            </p:cNvSpPr>
            <p:nvPr/>
          </p:nvSpPr>
          <p:spPr bwMode="auto">
            <a:xfrm>
              <a:off x="1384" y="2592"/>
              <a:ext cx="333" cy="24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3943" name="Line 29">
              <a:extLst>
                <a:ext uri="{FF2B5EF4-FFF2-40B4-BE49-F238E27FC236}">
                  <a16:creationId xmlns:a16="http://schemas.microsoft.com/office/drawing/2014/main" id="{96D57CD0-7BF2-FD76-D9EA-D9B8B719989B}"/>
                </a:ext>
              </a:extLst>
            </p:cNvPr>
            <p:cNvSpPr>
              <a:spLocks noChangeShapeType="1"/>
            </p:cNvSpPr>
            <p:nvPr/>
          </p:nvSpPr>
          <p:spPr bwMode="auto">
            <a:xfrm>
              <a:off x="1160" y="2760"/>
              <a:ext cx="21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44" name="Line 30">
              <a:extLst>
                <a:ext uri="{FF2B5EF4-FFF2-40B4-BE49-F238E27FC236}">
                  <a16:creationId xmlns:a16="http://schemas.microsoft.com/office/drawing/2014/main" id="{C06AE9B1-CF64-A948-4E44-2C2717826012}"/>
                </a:ext>
              </a:extLst>
            </p:cNvPr>
            <p:cNvSpPr>
              <a:spLocks noChangeShapeType="1"/>
            </p:cNvSpPr>
            <p:nvPr/>
          </p:nvSpPr>
          <p:spPr bwMode="auto">
            <a:xfrm>
              <a:off x="968" y="2664"/>
              <a:ext cx="406"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1417" name="Rectangle 31">
              <a:extLst>
                <a:ext uri="{FF2B5EF4-FFF2-40B4-BE49-F238E27FC236}">
                  <a16:creationId xmlns:a16="http://schemas.microsoft.com/office/drawing/2014/main" id="{8156A7D5-DF61-4D91-8F0C-4FD86FEA5D69}"/>
                </a:ext>
              </a:extLst>
            </p:cNvPr>
            <p:cNvSpPr>
              <a:spLocks noChangeArrowheads="1"/>
            </p:cNvSpPr>
            <p:nvPr/>
          </p:nvSpPr>
          <p:spPr bwMode="auto">
            <a:xfrm>
              <a:off x="648" y="3023"/>
              <a:ext cx="1054" cy="241"/>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eaLnBrk="1" hangingPunct="1">
                <a:defRPr/>
              </a:pPr>
              <a:r>
                <a:rPr lang="ru-RU" b="1">
                  <a:sym typeface="Symbol" pitchFamily="18" charset="2"/>
                </a:rPr>
                <a:t></a:t>
              </a:r>
            </a:p>
          </p:txBody>
        </p:sp>
        <p:sp>
          <p:nvSpPr>
            <p:cNvPr id="101418" name="Rectangle 32">
              <a:extLst>
                <a:ext uri="{FF2B5EF4-FFF2-40B4-BE49-F238E27FC236}">
                  <a16:creationId xmlns:a16="http://schemas.microsoft.com/office/drawing/2014/main" id="{2AADA110-3873-4E9B-9019-7F1AEBC85414}"/>
                </a:ext>
              </a:extLst>
            </p:cNvPr>
            <p:cNvSpPr>
              <a:spLocks noChangeArrowheads="1"/>
            </p:cNvSpPr>
            <p:nvPr/>
          </p:nvSpPr>
          <p:spPr bwMode="auto">
            <a:xfrm>
              <a:off x="648" y="3408"/>
              <a:ext cx="1054" cy="241"/>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eaLnBrk="1" hangingPunct="1">
                <a:defRPr/>
              </a:pPr>
              <a:r>
                <a:rPr lang="ru-RU" b="1">
                  <a:sym typeface="Symbol" pitchFamily="18" charset="2"/>
                </a:rPr>
                <a:t></a:t>
              </a:r>
            </a:p>
          </p:txBody>
        </p:sp>
        <p:sp>
          <p:nvSpPr>
            <p:cNvPr id="123947" name="Line 37">
              <a:extLst>
                <a:ext uri="{FF2B5EF4-FFF2-40B4-BE49-F238E27FC236}">
                  <a16:creationId xmlns:a16="http://schemas.microsoft.com/office/drawing/2014/main" id="{89753051-A9D4-7D2D-0C5D-D025B44E842D}"/>
                </a:ext>
              </a:extLst>
            </p:cNvPr>
            <p:cNvSpPr>
              <a:spLocks noChangeShapeType="1"/>
            </p:cNvSpPr>
            <p:nvPr/>
          </p:nvSpPr>
          <p:spPr bwMode="auto">
            <a:xfrm>
              <a:off x="384" y="2656"/>
              <a:ext cx="24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48" name="Line 38">
              <a:extLst>
                <a:ext uri="{FF2B5EF4-FFF2-40B4-BE49-F238E27FC236}">
                  <a16:creationId xmlns:a16="http://schemas.microsoft.com/office/drawing/2014/main" id="{AD031C82-F98E-5F7B-2026-6729B9580332}"/>
                </a:ext>
              </a:extLst>
            </p:cNvPr>
            <p:cNvSpPr>
              <a:spLocks noChangeShapeType="1"/>
            </p:cNvSpPr>
            <p:nvPr/>
          </p:nvSpPr>
          <p:spPr bwMode="auto">
            <a:xfrm>
              <a:off x="384" y="2760"/>
              <a:ext cx="24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49" name="Line 39">
              <a:extLst>
                <a:ext uri="{FF2B5EF4-FFF2-40B4-BE49-F238E27FC236}">
                  <a16:creationId xmlns:a16="http://schemas.microsoft.com/office/drawing/2014/main" id="{418D1A86-C8C9-9028-35DA-68FB5CEEC293}"/>
                </a:ext>
              </a:extLst>
            </p:cNvPr>
            <p:cNvSpPr>
              <a:spLocks noChangeShapeType="1"/>
            </p:cNvSpPr>
            <p:nvPr/>
          </p:nvSpPr>
          <p:spPr bwMode="auto">
            <a:xfrm>
              <a:off x="408" y="3088"/>
              <a:ext cx="24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50" name="Line 40">
              <a:extLst>
                <a:ext uri="{FF2B5EF4-FFF2-40B4-BE49-F238E27FC236}">
                  <a16:creationId xmlns:a16="http://schemas.microsoft.com/office/drawing/2014/main" id="{17300F9C-C5BF-A298-430F-98B6AEFCFE6D}"/>
                </a:ext>
              </a:extLst>
            </p:cNvPr>
            <p:cNvSpPr>
              <a:spLocks noChangeShapeType="1"/>
            </p:cNvSpPr>
            <p:nvPr/>
          </p:nvSpPr>
          <p:spPr bwMode="auto">
            <a:xfrm>
              <a:off x="408" y="3192"/>
              <a:ext cx="24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51" name="Line 41">
              <a:extLst>
                <a:ext uri="{FF2B5EF4-FFF2-40B4-BE49-F238E27FC236}">
                  <a16:creationId xmlns:a16="http://schemas.microsoft.com/office/drawing/2014/main" id="{320B0B14-8EF2-449B-3DD1-2AA55D8F5C1B}"/>
                </a:ext>
              </a:extLst>
            </p:cNvPr>
            <p:cNvSpPr>
              <a:spLocks noChangeShapeType="1"/>
            </p:cNvSpPr>
            <p:nvPr/>
          </p:nvSpPr>
          <p:spPr bwMode="auto">
            <a:xfrm>
              <a:off x="408" y="3480"/>
              <a:ext cx="24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52" name="Line 42">
              <a:extLst>
                <a:ext uri="{FF2B5EF4-FFF2-40B4-BE49-F238E27FC236}">
                  <a16:creationId xmlns:a16="http://schemas.microsoft.com/office/drawing/2014/main" id="{112C836D-1316-5B07-3891-4CD06012814B}"/>
                </a:ext>
              </a:extLst>
            </p:cNvPr>
            <p:cNvSpPr>
              <a:spLocks noChangeShapeType="1"/>
            </p:cNvSpPr>
            <p:nvPr/>
          </p:nvSpPr>
          <p:spPr bwMode="auto">
            <a:xfrm>
              <a:off x="408" y="3584"/>
              <a:ext cx="24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53" name="Rectangle 43">
              <a:extLst>
                <a:ext uri="{FF2B5EF4-FFF2-40B4-BE49-F238E27FC236}">
                  <a16:creationId xmlns:a16="http://schemas.microsoft.com/office/drawing/2014/main" id="{BDC588ED-59C8-FA1B-E072-F0994B4AC9E1}"/>
                </a:ext>
              </a:extLst>
            </p:cNvPr>
            <p:cNvSpPr>
              <a:spLocks noChangeArrowheads="1"/>
            </p:cNvSpPr>
            <p:nvPr/>
          </p:nvSpPr>
          <p:spPr bwMode="auto">
            <a:xfrm>
              <a:off x="2136" y="2592"/>
              <a:ext cx="333" cy="24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3954" name="Line 44">
              <a:extLst>
                <a:ext uri="{FF2B5EF4-FFF2-40B4-BE49-F238E27FC236}">
                  <a16:creationId xmlns:a16="http://schemas.microsoft.com/office/drawing/2014/main" id="{E7C75D05-B7CC-2C80-C825-DDB5029B4100}"/>
                </a:ext>
              </a:extLst>
            </p:cNvPr>
            <p:cNvSpPr>
              <a:spLocks noChangeShapeType="1"/>
            </p:cNvSpPr>
            <p:nvPr/>
          </p:nvSpPr>
          <p:spPr bwMode="auto">
            <a:xfrm>
              <a:off x="1912" y="2760"/>
              <a:ext cx="21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55" name="Line 45">
              <a:extLst>
                <a:ext uri="{FF2B5EF4-FFF2-40B4-BE49-F238E27FC236}">
                  <a16:creationId xmlns:a16="http://schemas.microsoft.com/office/drawing/2014/main" id="{23C724FE-AF79-2E31-708C-ACD8597F2907}"/>
                </a:ext>
              </a:extLst>
            </p:cNvPr>
            <p:cNvSpPr>
              <a:spLocks noChangeShapeType="1"/>
            </p:cNvSpPr>
            <p:nvPr/>
          </p:nvSpPr>
          <p:spPr bwMode="auto">
            <a:xfrm>
              <a:off x="1720" y="2664"/>
              <a:ext cx="406"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56" name="Rectangle 46">
              <a:extLst>
                <a:ext uri="{FF2B5EF4-FFF2-40B4-BE49-F238E27FC236}">
                  <a16:creationId xmlns:a16="http://schemas.microsoft.com/office/drawing/2014/main" id="{902A7D95-357C-141F-3DF5-1D0C0F9C7344}"/>
                </a:ext>
              </a:extLst>
            </p:cNvPr>
            <p:cNvSpPr>
              <a:spLocks noChangeArrowheads="1"/>
            </p:cNvSpPr>
            <p:nvPr/>
          </p:nvSpPr>
          <p:spPr bwMode="auto">
            <a:xfrm>
              <a:off x="2904" y="2592"/>
              <a:ext cx="333" cy="24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3957" name="Line 47">
              <a:extLst>
                <a:ext uri="{FF2B5EF4-FFF2-40B4-BE49-F238E27FC236}">
                  <a16:creationId xmlns:a16="http://schemas.microsoft.com/office/drawing/2014/main" id="{4E133D22-9B67-9CD8-6777-908DE8D36D08}"/>
                </a:ext>
              </a:extLst>
            </p:cNvPr>
            <p:cNvSpPr>
              <a:spLocks noChangeShapeType="1"/>
            </p:cNvSpPr>
            <p:nvPr/>
          </p:nvSpPr>
          <p:spPr bwMode="auto">
            <a:xfrm>
              <a:off x="2656" y="2760"/>
              <a:ext cx="238"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58" name="Line 48">
              <a:extLst>
                <a:ext uri="{FF2B5EF4-FFF2-40B4-BE49-F238E27FC236}">
                  <a16:creationId xmlns:a16="http://schemas.microsoft.com/office/drawing/2014/main" id="{1BE14634-2C75-E0D4-8E78-AFA3184A119E}"/>
                </a:ext>
              </a:extLst>
            </p:cNvPr>
            <p:cNvSpPr>
              <a:spLocks noChangeShapeType="1"/>
            </p:cNvSpPr>
            <p:nvPr/>
          </p:nvSpPr>
          <p:spPr bwMode="auto">
            <a:xfrm>
              <a:off x="2480" y="2664"/>
              <a:ext cx="428"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59" name="Line 49">
              <a:extLst>
                <a:ext uri="{FF2B5EF4-FFF2-40B4-BE49-F238E27FC236}">
                  <a16:creationId xmlns:a16="http://schemas.microsoft.com/office/drawing/2014/main" id="{7E30D53E-645F-0F47-EC37-B7F1F1AFCACB}"/>
                </a:ext>
              </a:extLst>
            </p:cNvPr>
            <p:cNvSpPr>
              <a:spLocks noChangeShapeType="1"/>
            </p:cNvSpPr>
            <p:nvPr/>
          </p:nvSpPr>
          <p:spPr bwMode="auto">
            <a:xfrm>
              <a:off x="3232" y="2696"/>
              <a:ext cx="192"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60" name="Line 50">
              <a:extLst>
                <a:ext uri="{FF2B5EF4-FFF2-40B4-BE49-F238E27FC236}">
                  <a16:creationId xmlns:a16="http://schemas.microsoft.com/office/drawing/2014/main" id="{9C731466-61CE-B3A0-F6C0-C706F4B59E7C}"/>
                </a:ext>
              </a:extLst>
            </p:cNvPr>
            <p:cNvSpPr>
              <a:spLocks noChangeShapeType="1"/>
            </p:cNvSpPr>
            <p:nvPr/>
          </p:nvSpPr>
          <p:spPr bwMode="auto">
            <a:xfrm>
              <a:off x="1696" y="3144"/>
              <a:ext cx="2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1" name="Line 51">
              <a:extLst>
                <a:ext uri="{FF2B5EF4-FFF2-40B4-BE49-F238E27FC236}">
                  <a16:creationId xmlns:a16="http://schemas.microsoft.com/office/drawing/2014/main" id="{F0DEA854-2A6F-3376-EC6C-B9E2F44B5B12}"/>
                </a:ext>
              </a:extLst>
            </p:cNvPr>
            <p:cNvSpPr>
              <a:spLocks noChangeShapeType="1"/>
            </p:cNvSpPr>
            <p:nvPr/>
          </p:nvSpPr>
          <p:spPr bwMode="auto">
            <a:xfrm>
              <a:off x="1912" y="276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2" name="Line 52">
              <a:extLst>
                <a:ext uri="{FF2B5EF4-FFF2-40B4-BE49-F238E27FC236}">
                  <a16:creationId xmlns:a16="http://schemas.microsoft.com/office/drawing/2014/main" id="{5D22419C-EF1B-7646-92BC-6E7EFD6869C5}"/>
                </a:ext>
              </a:extLst>
            </p:cNvPr>
            <p:cNvSpPr>
              <a:spLocks noChangeShapeType="1"/>
            </p:cNvSpPr>
            <p:nvPr/>
          </p:nvSpPr>
          <p:spPr bwMode="auto">
            <a:xfrm>
              <a:off x="1696" y="3528"/>
              <a:ext cx="9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3" name="Line 53">
              <a:extLst>
                <a:ext uri="{FF2B5EF4-FFF2-40B4-BE49-F238E27FC236}">
                  <a16:creationId xmlns:a16="http://schemas.microsoft.com/office/drawing/2014/main" id="{9EF8018C-CB58-9E28-941E-E62EC14E5439}"/>
                </a:ext>
              </a:extLst>
            </p:cNvPr>
            <p:cNvSpPr>
              <a:spLocks noChangeShapeType="1"/>
            </p:cNvSpPr>
            <p:nvPr/>
          </p:nvSpPr>
          <p:spPr bwMode="auto">
            <a:xfrm>
              <a:off x="2656" y="2760"/>
              <a:ext cx="0" cy="7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4" name="Text Box 59">
              <a:extLst>
                <a:ext uri="{FF2B5EF4-FFF2-40B4-BE49-F238E27FC236}">
                  <a16:creationId xmlns:a16="http://schemas.microsoft.com/office/drawing/2014/main" id="{588E2B13-1A8C-C359-C48C-100B0F0278B6}"/>
                </a:ext>
              </a:extLst>
            </p:cNvPr>
            <p:cNvSpPr txBox="1">
              <a:spLocks noChangeArrowheads="1"/>
            </p:cNvSpPr>
            <p:nvPr/>
          </p:nvSpPr>
          <p:spPr bwMode="auto">
            <a:xfrm>
              <a:off x="144" y="2944"/>
              <a:ext cx="2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a:t>
              </a:r>
              <a:endParaRPr lang="ru-RU" altLang="en-US"/>
            </a:p>
          </p:txBody>
        </p:sp>
        <p:sp>
          <p:nvSpPr>
            <p:cNvPr id="123965" name="Text Box 60">
              <a:extLst>
                <a:ext uri="{FF2B5EF4-FFF2-40B4-BE49-F238E27FC236}">
                  <a16:creationId xmlns:a16="http://schemas.microsoft.com/office/drawing/2014/main" id="{396F4389-3698-FBF6-9B98-61C7FE23A4D3}"/>
                </a:ext>
              </a:extLst>
            </p:cNvPr>
            <p:cNvSpPr txBox="1">
              <a:spLocks noChangeArrowheads="1"/>
            </p:cNvSpPr>
            <p:nvPr/>
          </p:nvSpPr>
          <p:spPr bwMode="auto">
            <a:xfrm>
              <a:off x="144" y="3120"/>
              <a:ext cx="2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endParaRPr lang="ru-RU" altLang="en-US"/>
            </a:p>
          </p:txBody>
        </p:sp>
        <p:sp>
          <p:nvSpPr>
            <p:cNvPr id="123966" name="Text Box 61">
              <a:extLst>
                <a:ext uri="{FF2B5EF4-FFF2-40B4-BE49-F238E27FC236}">
                  <a16:creationId xmlns:a16="http://schemas.microsoft.com/office/drawing/2014/main" id="{1B6CBB44-38FF-17D9-B44D-B8D95B9F88F6}"/>
                </a:ext>
              </a:extLst>
            </p:cNvPr>
            <p:cNvSpPr txBox="1">
              <a:spLocks noChangeArrowheads="1"/>
            </p:cNvSpPr>
            <p:nvPr/>
          </p:nvSpPr>
          <p:spPr bwMode="auto">
            <a:xfrm>
              <a:off x="152" y="3320"/>
              <a:ext cx="2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a:t>
              </a:r>
              <a:endParaRPr lang="ru-RU" altLang="en-US"/>
            </a:p>
          </p:txBody>
        </p:sp>
        <p:sp>
          <p:nvSpPr>
            <p:cNvPr id="123967" name="Text Box 62">
              <a:extLst>
                <a:ext uri="{FF2B5EF4-FFF2-40B4-BE49-F238E27FC236}">
                  <a16:creationId xmlns:a16="http://schemas.microsoft.com/office/drawing/2014/main" id="{D7D5D790-FFBC-2FC1-C5E8-32F3541FAF7F}"/>
                </a:ext>
              </a:extLst>
            </p:cNvPr>
            <p:cNvSpPr txBox="1">
              <a:spLocks noChangeArrowheads="1"/>
            </p:cNvSpPr>
            <p:nvPr/>
          </p:nvSpPr>
          <p:spPr bwMode="auto">
            <a:xfrm>
              <a:off x="152" y="3496"/>
              <a:ext cx="2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B</a:t>
              </a:r>
              <a:endParaRPr lang="ru-RU" altLang="en-US"/>
            </a:p>
          </p:txBody>
        </p:sp>
        <p:sp>
          <p:nvSpPr>
            <p:cNvPr id="123968" name="Text Box 63">
              <a:extLst>
                <a:ext uri="{FF2B5EF4-FFF2-40B4-BE49-F238E27FC236}">
                  <a16:creationId xmlns:a16="http://schemas.microsoft.com/office/drawing/2014/main" id="{4E991BC8-3E6D-1220-48AA-4730737ED9C4}"/>
                </a:ext>
              </a:extLst>
            </p:cNvPr>
            <p:cNvSpPr txBox="1">
              <a:spLocks noChangeArrowheads="1"/>
            </p:cNvSpPr>
            <p:nvPr/>
          </p:nvSpPr>
          <p:spPr bwMode="auto">
            <a:xfrm>
              <a:off x="136" y="2512"/>
              <a:ext cx="2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a:t>
              </a:r>
              <a:endParaRPr lang="ru-RU" altLang="en-US"/>
            </a:p>
          </p:txBody>
        </p:sp>
        <p:sp>
          <p:nvSpPr>
            <p:cNvPr id="123969" name="Text Box 64">
              <a:extLst>
                <a:ext uri="{FF2B5EF4-FFF2-40B4-BE49-F238E27FC236}">
                  <a16:creationId xmlns:a16="http://schemas.microsoft.com/office/drawing/2014/main" id="{B4524DC7-B057-BF99-77D0-EBE82DCD37CC}"/>
                </a:ext>
              </a:extLst>
            </p:cNvPr>
            <p:cNvSpPr txBox="1">
              <a:spLocks noChangeArrowheads="1"/>
            </p:cNvSpPr>
            <p:nvPr/>
          </p:nvSpPr>
          <p:spPr bwMode="auto">
            <a:xfrm>
              <a:off x="136" y="2688"/>
              <a:ext cx="2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F</a:t>
              </a:r>
              <a:endParaRPr lang="ru-RU" altLang="en-US"/>
            </a:p>
          </p:txBody>
        </p:sp>
        <p:sp>
          <p:nvSpPr>
            <p:cNvPr id="123970" name="Text Box 65">
              <a:extLst>
                <a:ext uri="{FF2B5EF4-FFF2-40B4-BE49-F238E27FC236}">
                  <a16:creationId xmlns:a16="http://schemas.microsoft.com/office/drawing/2014/main" id="{CBDF4BB7-B55C-73B6-5E72-CC7BC8B1BF03}"/>
                </a:ext>
              </a:extLst>
            </p:cNvPr>
            <p:cNvSpPr txBox="1">
              <a:spLocks noChangeArrowheads="1"/>
            </p:cNvSpPr>
            <p:nvPr/>
          </p:nvSpPr>
          <p:spPr bwMode="auto">
            <a:xfrm>
              <a:off x="1008" y="2688"/>
              <a:ext cx="28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G</a:t>
              </a:r>
              <a:endParaRPr lang="ru-RU" altLang="en-US"/>
            </a:p>
          </p:txBody>
        </p:sp>
        <p:sp>
          <p:nvSpPr>
            <p:cNvPr id="123971" name="Text Box 66">
              <a:extLst>
                <a:ext uri="{FF2B5EF4-FFF2-40B4-BE49-F238E27FC236}">
                  <a16:creationId xmlns:a16="http://schemas.microsoft.com/office/drawing/2014/main" id="{4C47E19C-C5F3-C8A3-5F95-7A57A0D91A8E}"/>
                </a:ext>
              </a:extLst>
            </p:cNvPr>
            <p:cNvSpPr txBox="1">
              <a:spLocks noChangeArrowheads="1"/>
            </p:cNvSpPr>
            <p:nvPr/>
          </p:nvSpPr>
          <p:spPr bwMode="auto">
            <a:xfrm>
              <a:off x="3456" y="2592"/>
              <a:ext cx="102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SUM</a:t>
              </a:r>
              <a:endParaRPr lang="ru-RU" altLang="en-US"/>
            </a:p>
          </p:txBody>
        </p:sp>
      </p:grpSp>
      <p:grpSp>
        <p:nvGrpSpPr>
          <p:cNvPr id="123909" name="Group 72">
            <a:extLst>
              <a:ext uri="{FF2B5EF4-FFF2-40B4-BE49-F238E27FC236}">
                <a16:creationId xmlns:a16="http://schemas.microsoft.com/office/drawing/2014/main" id="{304FAF32-2BD1-A8B2-5442-4ECA5D929234}"/>
              </a:ext>
            </a:extLst>
          </p:cNvPr>
          <p:cNvGrpSpPr>
            <a:grpSpLocks/>
          </p:cNvGrpSpPr>
          <p:nvPr/>
        </p:nvGrpSpPr>
        <p:grpSpPr bwMode="auto">
          <a:xfrm>
            <a:off x="2895600" y="1866900"/>
            <a:ext cx="6781800" cy="1327150"/>
            <a:chOff x="228600" y="1600200"/>
            <a:chExt cx="8696661" cy="1327210"/>
          </a:xfrm>
        </p:grpSpPr>
        <p:sp>
          <p:nvSpPr>
            <p:cNvPr id="101382" name="Rectangle 7">
              <a:extLst>
                <a:ext uri="{FF2B5EF4-FFF2-40B4-BE49-F238E27FC236}">
                  <a16:creationId xmlns:a16="http://schemas.microsoft.com/office/drawing/2014/main" id="{A0A0747D-5C87-46BB-A8D9-387C68A13BD3}"/>
                </a:ext>
              </a:extLst>
            </p:cNvPr>
            <p:cNvSpPr>
              <a:spLocks noChangeArrowheads="1"/>
            </p:cNvSpPr>
            <p:nvPr/>
          </p:nvSpPr>
          <p:spPr bwMode="auto">
            <a:xfrm>
              <a:off x="965536" y="1739906"/>
              <a:ext cx="1673374" cy="381017"/>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eaLnBrk="1" hangingPunct="1">
                <a:defRPr/>
              </a:pPr>
              <a:r>
                <a:rPr lang="ru-RU" b="1">
                  <a:sym typeface="Symbol" pitchFamily="18" charset="2"/>
                </a:rPr>
                <a:t></a:t>
              </a:r>
            </a:p>
          </p:txBody>
        </p:sp>
        <p:sp>
          <p:nvSpPr>
            <p:cNvPr id="101383" name="Rectangle 8">
              <a:extLst>
                <a:ext uri="{FF2B5EF4-FFF2-40B4-BE49-F238E27FC236}">
                  <a16:creationId xmlns:a16="http://schemas.microsoft.com/office/drawing/2014/main" id="{E9D0C416-B02A-425D-A873-67E77BDF5746}"/>
                </a:ext>
              </a:extLst>
            </p:cNvPr>
            <p:cNvSpPr>
              <a:spLocks noChangeArrowheads="1"/>
            </p:cNvSpPr>
            <p:nvPr/>
          </p:nvSpPr>
          <p:spPr bwMode="auto">
            <a:xfrm>
              <a:off x="965536" y="2387636"/>
              <a:ext cx="1673374" cy="381017"/>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eaLnBrk="1" hangingPunct="1">
                <a:defRPr/>
              </a:pPr>
              <a:r>
                <a:rPr lang="ru-RU" b="1">
                  <a:sym typeface="Symbol" pitchFamily="18" charset="2"/>
                </a:rPr>
                <a:t></a:t>
              </a:r>
            </a:p>
          </p:txBody>
        </p:sp>
        <p:sp>
          <p:nvSpPr>
            <p:cNvPr id="123912" name="Rectangle 9">
              <a:extLst>
                <a:ext uri="{FF2B5EF4-FFF2-40B4-BE49-F238E27FC236}">
                  <a16:creationId xmlns:a16="http://schemas.microsoft.com/office/drawing/2014/main" id="{285FF94C-6BB7-8AEF-50D2-298CE3AF80AE}"/>
                </a:ext>
              </a:extLst>
            </p:cNvPr>
            <p:cNvSpPr>
              <a:spLocks noChangeArrowheads="1"/>
            </p:cNvSpPr>
            <p:nvPr/>
          </p:nvSpPr>
          <p:spPr bwMode="auto">
            <a:xfrm>
              <a:off x="3327400" y="2070100"/>
              <a:ext cx="528638" cy="38100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3913" name="Rectangle 10">
              <a:extLst>
                <a:ext uri="{FF2B5EF4-FFF2-40B4-BE49-F238E27FC236}">
                  <a16:creationId xmlns:a16="http://schemas.microsoft.com/office/drawing/2014/main" id="{DD0CEE11-7094-8416-14B7-9F3434BFE7EE}"/>
                </a:ext>
              </a:extLst>
            </p:cNvPr>
            <p:cNvSpPr>
              <a:spLocks noChangeArrowheads="1"/>
            </p:cNvSpPr>
            <p:nvPr/>
          </p:nvSpPr>
          <p:spPr bwMode="auto">
            <a:xfrm>
              <a:off x="4521200" y="2082800"/>
              <a:ext cx="528638" cy="38100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3914" name="Rectangle 11">
              <a:extLst>
                <a:ext uri="{FF2B5EF4-FFF2-40B4-BE49-F238E27FC236}">
                  <a16:creationId xmlns:a16="http://schemas.microsoft.com/office/drawing/2014/main" id="{4F45C115-3985-F27A-17CC-58BAD2A37CE1}"/>
                </a:ext>
              </a:extLst>
            </p:cNvPr>
            <p:cNvSpPr>
              <a:spLocks noChangeArrowheads="1"/>
            </p:cNvSpPr>
            <p:nvPr/>
          </p:nvSpPr>
          <p:spPr bwMode="auto">
            <a:xfrm>
              <a:off x="5715000" y="2070100"/>
              <a:ext cx="528638" cy="38100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3915" name="Rectangle 12">
              <a:extLst>
                <a:ext uri="{FF2B5EF4-FFF2-40B4-BE49-F238E27FC236}">
                  <a16:creationId xmlns:a16="http://schemas.microsoft.com/office/drawing/2014/main" id="{31FDB6F6-3ECF-2369-3708-5312573F3190}"/>
                </a:ext>
              </a:extLst>
            </p:cNvPr>
            <p:cNvSpPr>
              <a:spLocks noChangeArrowheads="1"/>
            </p:cNvSpPr>
            <p:nvPr/>
          </p:nvSpPr>
          <p:spPr bwMode="auto">
            <a:xfrm>
              <a:off x="6946900" y="2070100"/>
              <a:ext cx="528638" cy="38100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3916" name="Line 13">
              <a:extLst>
                <a:ext uri="{FF2B5EF4-FFF2-40B4-BE49-F238E27FC236}">
                  <a16:creationId xmlns:a16="http://schemas.microsoft.com/office/drawing/2014/main" id="{47336CCA-26E4-D45B-C654-C5E8E325E9F3}"/>
                </a:ext>
              </a:extLst>
            </p:cNvPr>
            <p:cNvSpPr>
              <a:spLocks noChangeShapeType="1"/>
            </p:cNvSpPr>
            <p:nvPr/>
          </p:nvSpPr>
          <p:spPr bwMode="auto">
            <a:xfrm>
              <a:off x="2628900" y="1943100"/>
              <a:ext cx="349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17" name="Line 14">
              <a:extLst>
                <a:ext uri="{FF2B5EF4-FFF2-40B4-BE49-F238E27FC236}">
                  <a16:creationId xmlns:a16="http://schemas.microsoft.com/office/drawing/2014/main" id="{4C32B267-DB99-8B86-A1EF-BD6AB120ECFB}"/>
                </a:ext>
              </a:extLst>
            </p:cNvPr>
            <p:cNvSpPr>
              <a:spLocks noChangeShapeType="1"/>
            </p:cNvSpPr>
            <p:nvPr/>
          </p:nvSpPr>
          <p:spPr bwMode="auto">
            <a:xfrm>
              <a:off x="2628900" y="2578100"/>
              <a:ext cx="349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18" name="Line 15">
              <a:extLst>
                <a:ext uri="{FF2B5EF4-FFF2-40B4-BE49-F238E27FC236}">
                  <a16:creationId xmlns:a16="http://schemas.microsoft.com/office/drawing/2014/main" id="{BAB94BB9-DAF3-904A-5894-1481D6F33C5A}"/>
                </a:ext>
              </a:extLst>
            </p:cNvPr>
            <p:cNvSpPr>
              <a:spLocks noChangeShapeType="1"/>
            </p:cNvSpPr>
            <p:nvPr/>
          </p:nvSpPr>
          <p:spPr bwMode="auto">
            <a:xfrm>
              <a:off x="2997200" y="19431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19" name="Line 16">
              <a:extLst>
                <a:ext uri="{FF2B5EF4-FFF2-40B4-BE49-F238E27FC236}">
                  <a16:creationId xmlns:a16="http://schemas.microsoft.com/office/drawing/2014/main" id="{A803C3E3-CCCE-68E5-6AFE-F7F0956AB9E7}"/>
                </a:ext>
              </a:extLst>
            </p:cNvPr>
            <p:cNvSpPr>
              <a:spLocks noChangeShapeType="1"/>
            </p:cNvSpPr>
            <p:nvPr/>
          </p:nvSpPr>
          <p:spPr bwMode="auto">
            <a:xfrm>
              <a:off x="2997200" y="23495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20" name="Line 17">
              <a:extLst>
                <a:ext uri="{FF2B5EF4-FFF2-40B4-BE49-F238E27FC236}">
                  <a16:creationId xmlns:a16="http://schemas.microsoft.com/office/drawing/2014/main" id="{51E01E05-903E-0F37-DBA9-1EAAA7AF3480}"/>
                </a:ext>
              </a:extLst>
            </p:cNvPr>
            <p:cNvSpPr>
              <a:spLocks noChangeShapeType="1"/>
            </p:cNvSpPr>
            <p:nvPr/>
          </p:nvSpPr>
          <p:spPr bwMode="auto">
            <a:xfrm>
              <a:off x="2997200" y="2184400"/>
              <a:ext cx="34131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1" name="Line 18">
              <a:extLst>
                <a:ext uri="{FF2B5EF4-FFF2-40B4-BE49-F238E27FC236}">
                  <a16:creationId xmlns:a16="http://schemas.microsoft.com/office/drawing/2014/main" id="{274BB3BC-4837-1D17-26AE-9FDAE307F832}"/>
                </a:ext>
              </a:extLst>
            </p:cNvPr>
            <p:cNvSpPr>
              <a:spLocks noChangeShapeType="1"/>
            </p:cNvSpPr>
            <p:nvPr/>
          </p:nvSpPr>
          <p:spPr bwMode="auto">
            <a:xfrm>
              <a:off x="3022600" y="2349500"/>
              <a:ext cx="34131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2" name="Line 19">
              <a:extLst>
                <a:ext uri="{FF2B5EF4-FFF2-40B4-BE49-F238E27FC236}">
                  <a16:creationId xmlns:a16="http://schemas.microsoft.com/office/drawing/2014/main" id="{ABB14773-200B-3C77-5A90-A5BB191E4418}"/>
                </a:ext>
              </a:extLst>
            </p:cNvPr>
            <p:cNvSpPr>
              <a:spLocks noChangeShapeType="1"/>
            </p:cNvSpPr>
            <p:nvPr/>
          </p:nvSpPr>
          <p:spPr bwMode="auto">
            <a:xfrm>
              <a:off x="4165600" y="2349500"/>
              <a:ext cx="34131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3" name="Line 20">
              <a:extLst>
                <a:ext uri="{FF2B5EF4-FFF2-40B4-BE49-F238E27FC236}">
                  <a16:creationId xmlns:a16="http://schemas.microsoft.com/office/drawing/2014/main" id="{C89A643A-7ECD-5E81-079B-6FC75F3A30F7}"/>
                </a:ext>
              </a:extLst>
            </p:cNvPr>
            <p:cNvSpPr>
              <a:spLocks noChangeShapeType="1"/>
            </p:cNvSpPr>
            <p:nvPr/>
          </p:nvSpPr>
          <p:spPr bwMode="auto">
            <a:xfrm>
              <a:off x="3860800" y="2197100"/>
              <a:ext cx="64452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4" name="Line 21">
              <a:extLst>
                <a:ext uri="{FF2B5EF4-FFF2-40B4-BE49-F238E27FC236}">
                  <a16:creationId xmlns:a16="http://schemas.microsoft.com/office/drawing/2014/main" id="{B573CD76-CD98-700C-AF2E-B4E7164E32FE}"/>
                </a:ext>
              </a:extLst>
            </p:cNvPr>
            <p:cNvSpPr>
              <a:spLocks noChangeShapeType="1"/>
            </p:cNvSpPr>
            <p:nvPr/>
          </p:nvSpPr>
          <p:spPr bwMode="auto">
            <a:xfrm>
              <a:off x="5346700" y="2349500"/>
              <a:ext cx="34131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5" name="Line 22">
              <a:extLst>
                <a:ext uri="{FF2B5EF4-FFF2-40B4-BE49-F238E27FC236}">
                  <a16:creationId xmlns:a16="http://schemas.microsoft.com/office/drawing/2014/main" id="{537537A5-FBE8-73F3-CC84-91394FB9B6AD}"/>
                </a:ext>
              </a:extLst>
            </p:cNvPr>
            <p:cNvSpPr>
              <a:spLocks noChangeShapeType="1"/>
            </p:cNvSpPr>
            <p:nvPr/>
          </p:nvSpPr>
          <p:spPr bwMode="auto">
            <a:xfrm>
              <a:off x="5041900" y="2197100"/>
              <a:ext cx="64452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6" name="Line 23">
              <a:extLst>
                <a:ext uri="{FF2B5EF4-FFF2-40B4-BE49-F238E27FC236}">
                  <a16:creationId xmlns:a16="http://schemas.microsoft.com/office/drawing/2014/main" id="{6C00DEBD-D24E-15B5-11E3-4B3A4DAF5D15}"/>
                </a:ext>
              </a:extLst>
            </p:cNvPr>
            <p:cNvSpPr>
              <a:spLocks noChangeShapeType="1"/>
            </p:cNvSpPr>
            <p:nvPr/>
          </p:nvSpPr>
          <p:spPr bwMode="auto">
            <a:xfrm>
              <a:off x="6565900" y="2349500"/>
              <a:ext cx="34131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7" name="Line 24">
              <a:extLst>
                <a:ext uri="{FF2B5EF4-FFF2-40B4-BE49-F238E27FC236}">
                  <a16:creationId xmlns:a16="http://schemas.microsoft.com/office/drawing/2014/main" id="{7F9AF1E0-3FC3-CC71-B771-EB45BA93AD71}"/>
                </a:ext>
              </a:extLst>
            </p:cNvPr>
            <p:cNvSpPr>
              <a:spLocks noChangeShapeType="1"/>
            </p:cNvSpPr>
            <p:nvPr/>
          </p:nvSpPr>
          <p:spPr bwMode="auto">
            <a:xfrm>
              <a:off x="6261100" y="2197100"/>
              <a:ext cx="64452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8" name="Line 25">
              <a:extLst>
                <a:ext uri="{FF2B5EF4-FFF2-40B4-BE49-F238E27FC236}">
                  <a16:creationId xmlns:a16="http://schemas.microsoft.com/office/drawing/2014/main" id="{FF67977F-54C2-9228-AC5B-E8A804100ABC}"/>
                </a:ext>
              </a:extLst>
            </p:cNvPr>
            <p:cNvSpPr>
              <a:spLocks noChangeShapeType="1"/>
            </p:cNvSpPr>
            <p:nvPr/>
          </p:nvSpPr>
          <p:spPr bwMode="auto">
            <a:xfrm>
              <a:off x="7467600" y="2247900"/>
              <a:ext cx="304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29" name="Line 33">
              <a:extLst>
                <a:ext uri="{FF2B5EF4-FFF2-40B4-BE49-F238E27FC236}">
                  <a16:creationId xmlns:a16="http://schemas.microsoft.com/office/drawing/2014/main" id="{0C173156-DDAA-AE56-962B-80E550ADEE77}"/>
                </a:ext>
              </a:extLst>
            </p:cNvPr>
            <p:cNvSpPr>
              <a:spLocks noChangeShapeType="1"/>
            </p:cNvSpPr>
            <p:nvPr/>
          </p:nvSpPr>
          <p:spPr bwMode="auto">
            <a:xfrm>
              <a:off x="584200" y="18542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30" name="Line 34">
              <a:extLst>
                <a:ext uri="{FF2B5EF4-FFF2-40B4-BE49-F238E27FC236}">
                  <a16:creationId xmlns:a16="http://schemas.microsoft.com/office/drawing/2014/main" id="{E08A5E52-5096-B6EE-427B-0CAAD0EEC219}"/>
                </a:ext>
              </a:extLst>
            </p:cNvPr>
            <p:cNvSpPr>
              <a:spLocks noChangeShapeType="1"/>
            </p:cNvSpPr>
            <p:nvPr/>
          </p:nvSpPr>
          <p:spPr bwMode="auto">
            <a:xfrm>
              <a:off x="584200" y="20193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31" name="Line 35">
              <a:extLst>
                <a:ext uri="{FF2B5EF4-FFF2-40B4-BE49-F238E27FC236}">
                  <a16:creationId xmlns:a16="http://schemas.microsoft.com/office/drawing/2014/main" id="{50C98A92-DCE0-03F5-6EA2-0CEE8D4F44E9}"/>
                </a:ext>
              </a:extLst>
            </p:cNvPr>
            <p:cNvSpPr>
              <a:spLocks noChangeShapeType="1"/>
            </p:cNvSpPr>
            <p:nvPr/>
          </p:nvSpPr>
          <p:spPr bwMode="auto">
            <a:xfrm>
              <a:off x="584200" y="25019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32" name="Line 36">
              <a:extLst>
                <a:ext uri="{FF2B5EF4-FFF2-40B4-BE49-F238E27FC236}">
                  <a16:creationId xmlns:a16="http://schemas.microsoft.com/office/drawing/2014/main" id="{32C73180-C2B0-C5AE-A53C-F69490BAFE89}"/>
                </a:ext>
              </a:extLst>
            </p:cNvPr>
            <p:cNvSpPr>
              <a:spLocks noChangeShapeType="1"/>
            </p:cNvSpPr>
            <p:nvPr/>
          </p:nvSpPr>
          <p:spPr bwMode="auto">
            <a:xfrm>
              <a:off x="584200" y="26670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3933" name="Text Box 55">
              <a:extLst>
                <a:ext uri="{FF2B5EF4-FFF2-40B4-BE49-F238E27FC236}">
                  <a16:creationId xmlns:a16="http://schemas.microsoft.com/office/drawing/2014/main" id="{AA8EA21B-2ABA-DD21-7275-3D75B0161CF2}"/>
                </a:ext>
              </a:extLst>
            </p:cNvPr>
            <p:cNvSpPr txBox="1">
              <a:spLocks noChangeArrowheads="1"/>
            </p:cNvSpPr>
            <p:nvPr/>
          </p:nvSpPr>
          <p:spPr bwMode="auto">
            <a:xfrm>
              <a:off x="228600" y="1600200"/>
              <a:ext cx="45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a:t>
              </a:r>
              <a:endParaRPr lang="ru-RU" altLang="en-US"/>
            </a:p>
          </p:txBody>
        </p:sp>
        <p:sp>
          <p:nvSpPr>
            <p:cNvPr id="123934" name="Text Box 56">
              <a:extLst>
                <a:ext uri="{FF2B5EF4-FFF2-40B4-BE49-F238E27FC236}">
                  <a16:creationId xmlns:a16="http://schemas.microsoft.com/office/drawing/2014/main" id="{036032DE-013F-1DEB-2258-499EDF7C15FA}"/>
                </a:ext>
              </a:extLst>
            </p:cNvPr>
            <p:cNvSpPr txBox="1">
              <a:spLocks noChangeArrowheads="1"/>
            </p:cNvSpPr>
            <p:nvPr/>
          </p:nvSpPr>
          <p:spPr bwMode="auto">
            <a:xfrm>
              <a:off x="228600" y="1879600"/>
              <a:ext cx="45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B</a:t>
              </a:r>
              <a:endParaRPr lang="ru-RU" altLang="en-US"/>
            </a:p>
          </p:txBody>
        </p:sp>
        <p:sp>
          <p:nvSpPr>
            <p:cNvPr id="123935" name="Text Box 57">
              <a:extLst>
                <a:ext uri="{FF2B5EF4-FFF2-40B4-BE49-F238E27FC236}">
                  <a16:creationId xmlns:a16="http://schemas.microsoft.com/office/drawing/2014/main" id="{A37096BD-FB35-570F-C18E-2163DEA7305E}"/>
                </a:ext>
              </a:extLst>
            </p:cNvPr>
            <p:cNvSpPr txBox="1">
              <a:spLocks noChangeArrowheads="1"/>
            </p:cNvSpPr>
            <p:nvPr/>
          </p:nvSpPr>
          <p:spPr bwMode="auto">
            <a:xfrm>
              <a:off x="254000" y="2247900"/>
              <a:ext cx="45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a:t>
              </a:r>
              <a:endParaRPr lang="ru-RU" altLang="en-US"/>
            </a:p>
          </p:txBody>
        </p:sp>
        <p:sp>
          <p:nvSpPr>
            <p:cNvPr id="123936" name="Text Box 58">
              <a:extLst>
                <a:ext uri="{FF2B5EF4-FFF2-40B4-BE49-F238E27FC236}">
                  <a16:creationId xmlns:a16="http://schemas.microsoft.com/office/drawing/2014/main" id="{229553C5-EC1E-6752-060C-45AB50DC68A8}"/>
                </a:ext>
              </a:extLst>
            </p:cNvPr>
            <p:cNvSpPr txBox="1">
              <a:spLocks noChangeArrowheads="1"/>
            </p:cNvSpPr>
            <p:nvPr/>
          </p:nvSpPr>
          <p:spPr bwMode="auto">
            <a:xfrm>
              <a:off x="254000" y="2527300"/>
              <a:ext cx="45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endParaRPr lang="ru-RU" altLang="en-US"/>
            </a:p>
          </p:txBody>
        </p:sp>
        <p:sp>
          <p:nvSpPr>
            <p:cNvPr id="123937" name="Text Box 67">
              <a:extLst>
                <a:ext uri="{FF2B5EF4-FFF2-40B4-BE49-F238E27FC236}">
                  <a16:creationId xmlns:a16="http://schemas.microsoft.com/office/drawing/2014/main" id="{7653E7AD-92A7-CA13-5E21-8A0A406903F6}"/>
                </a:ext>
              </a:extLst>
            </p:cNvPr>
            <p:cNvSpPr txBox="1">
              <a:spLocks noChangeArrowheads="1"/>
            </p:cNvSpPr>
            <p:nvPr/>
          </p:nvSpPr>
          <p:spPr bwMode="auto">
            <a:xfrm>
              <a:off x="7772400" y="2082800"/>
              <a:ext cx="11528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SUM</a:t>
              </a:r>
              <a:endParaRPr lang="ru-RU" altLang="en-US"/>
            </a:p>
          </p:txBody>
        </p:sp>
        <p:sp>
          <p:nvSpPr>
            <p:cNvPr id="123938" name="Text Box 75">
              <a:extLst>
                <a:ext uri="{FF2B5EF4-FFF2-40B4-BE49-F238E27FC236}">
                  <a16:creationId xmlns:a16="http://schemas.microsoft.com/office/drawing/2014/main" id="{67DA3283-BD77-0C18-B795-8E7E9B919E58}"/>
                </a:ext>
              </a:extLst>
            </p:cNvPr>
            <p:cNvSpPr txBox="1">
              <a:spLocks noChangeArrowheads="1"/>
            </p:cNvSpPr>
            <p:nvPr/>
          </p:nvSpPr>
          <p:spPr bwMode="auto">
            <a:xfrm>
              <a:off x="3949700" y="2298700"/>
              <a:ext cx="45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a:t>
              </a:r>
              <a:endParaRPr lang="ru-RU" altLang="en-US"/>
            </a:p>
          </p:txBody>
        </p:sp>
        <p:sp>
          <p:nvSpPr>
            <p:cNvPr id="123939" name="Text Box 76">
              <a:extLst>
                <a:ext uri="{FF2B5EF4-FFF2-40B4-BE49-F238E27FC236}">
                  <a16:creationId xmlns:a16="http://schemas.microsoft.com/office/drawing/2014/main" id="{F9302676-8177-298C-FB89-E77712889AD9}"/>
                </a:ext>
              </a:extLst>
            </p:cNvPr>
            <p:cNvSpPr txBox="1">
              <a:spLocks noChangeArrowheads="1"/>
            </p:cNvSpPr>
            <p:nvPr/>
          </p:nvSpPr>
          <p:spPr bwMode="auto">
            <a:xfrm>
              <a:off x="5130801" y="2298700"/>
              <a:ext cx="45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F</a:t>
              </a:r>
              <a:endParaRPr lang="ru-RU" altLang="en-US"/>
            </a:p>
          </p:txBody>
        </p:sp>
        <p:sp>
          <p:nvSpPr>
            <p:cNvPr id="123940" name="Text Box 77">
              <a:extLst>
                <a:ext uri="{FF2B5EF4-FFF2-40B4-BE49-F238E27FC236}">
                  <a16:creationId xmlns:a16="http://schemas.microsoft.com/office/drawing/2014/main" id="{1A75A506-9F7E-42B2-FE4E-CB9DA0ABF59C}"/>
                </a:ext>
              </a:extLst>
            </p:cNvPr>
            <p:cNvSpPr txBox="1">
              <a:spLocks noChangeArrowheads="1"/>
            </p:cNvSpPr>
            <p:nvPr/>
          </p:nvSpPr>
          <p:spPr bwMode="auto">
            <a:xfrm>
              <a:off x="6362699" y="2298700"/>
              <a:ext cx="45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G</a:t>
              </a:r>
              <a:endParaRPr lang="ru-RU" altLang="en-US"/>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4">
            <a:extLst>
              <a:ext uri="{FF2B5EF4-FFF2-40B4-BE49-F238E27FC236}">
                <a16:creationId xmlns:a16="http://schemas.microsoft.com/office/drawing/2014/main" id="{59CF81E1-EDDB-F509-F876-F6ACE5BAE94C}"/>
              </a:ext>
            </a:extLst>
          </p:cNvPr>
          <p:cNvSpPr>
            <a:spLocks noGrp="1" noChangeArrowheads="1"/>
          </p:cNvSpPr>
          <p:nvPr>
            <p:ph type="title"/>
          </p:nvPr>
        </p:nvSpPr>
        <p:spPr/>
        <p:txBody>
          <a:bodyPr/>
          <a:lstStyle/>
          <a:p>
            <a:r>
              <a:rPr lang="ru-RU" altLang="en-US"/>
              <a:t>Coding to </a:t>
            </a:r>
            <a:r>
              <a:rPr lang="en-US" altLang="en-US"/>
              <a:t>Prevent</a:t>
            </a:r>
            <a:r>
              <a:rPr lang="ru-RU" altLang="en-US"/>
              <a:t> Operator Reordering</a:t>
            </a:r>
          </a:p>
        </p:txBody>
      </p:sp>
      <p:sp>
        <p:nvSpPr>
          <p:cNvPr id="124931" name="Content Placeholder 36">
            <a:extLst>
              <a:ext uri="{FF2B5EF4-FFF2-40B4-BE49-F238E27FC236}">
                <a16:creationId xmlns:a16="http://schemas.microsoft.com/office/drawing/2014/main" id="{CA004785-68B5-F84B-E607-00924359CE06}"/>
              </a:ext>
            </a:extLst>
          </p:cNvPr>
          <p:cNvSpPr>
            <a:spLocks noGrp="1" noChangeArrowheads="1"/>
          </p:cNvSpPr>
          <p:nvPr>
            <p:ph type="body" sz="quarter" idx="10"/>
          </p:nvPr>
        </p:nvSpPr>
        <p:spPr/>
        <p:txBody>
          <a:bodyPr/>
          <a:lstStyle/>
          <a:p>
            <a:r>
              <a:rPr lang="ru-RU" altLang="en-US"/>
              <a:t>SUM &lt;= (A*B) + ( (C*D) + ((E+F) + G) )</a:t>
            </a:r>
          </a:p>
          <a:p>
            <a:endParaRPr lang="en-US" altLang="en-US"/>
          </a:p>
          <a:p>
            <a:endParaRPr lang="en-US" altLang="en-US"/>
          </a:p>
          <a:p>
            <a:endParaRPr lang="en-US" altLang="en-US"/>
          </a:p>
          <a:p>
            <a:endParaRPr lang="en-US" altLang="en-US"/>
          </a:p>
          <a:p>
            <a:endParaRPr lang="en-US" altLang="en-US"/>
          </a:p>
          <a:p>
            <a:r>
              <a:rPr lang="en-US" altLang="en-US"/>
              <a:t>C, D – late arriving signals. </a:t>
            </a:r>
          </a:p>
          <a:p>
            <a:r>
              <a:rPr lang="en-US" altLang="en-US"/>
              <a:t>Poor architecture, if C*D</a:t>
            </a:r>
            <a:r>
              <a:rPr lang="en-US" altLang="en-US">
                <a:sym typeface="Symbol" panose="05050102010706020507" pitchFamily="18" charset="2"/>
              </a:rPr>
              <a:t></a:t>
            </a:r>
            <a:r>
              <a:rPr lang="en-US" altLang="en-US"/>
              <a:t> SUM is timing critical.</a:t>
            </a:r>
            <a:endParaRPr lang="ru-RU" altLang="en-US"/>
          </a:p>
          <a:p>
            <a:endParaRPr lang="ru-RU" altLang="en-US"/>
          </a:p>
        </p:txBody>
      </p:sp>
      <p:grpSp>
        <p:nvGrpSpPr>
          <p:cNvPr id="124932" name="Group 35">
            <a:extLst>
              <a:ext uri="{FF2B5EF4-FFF2-40B4-BE49-F238E27FC236}">
                <a16:creationId xmlns:a16="http://schemas.microsoft.com/office/drawing/2014/main" id="{40403926-61BB-B09B-1214-9DEFEB634F6A}"/>
              </a:ext>
            </a:extLst>
          </p:cNvPr>
          <p:cNvGrpSpPr>
            <a:grpSpLocks/>
          </p:cNvGrpSpPr>
          <p:nvPr/>
        </p:nvGrpSpPr>
        <p:grpSpPr bwMode="auto">
          <a:xfrm>
            <a:off x="3024188" y="2263776"/>
            <a:ext cx="6032500" cy="1958975"/>
            <a:chOff x="444500" y="2057400"/>
            <a:chExt cx="6032500" cy="1958975"/>
          </a:xfrm>
        </p:grpSpPr>
        <p:sp>
          <p:nvSpPr>
            <p:cNvPr id="124933" name="Rectangle 7">
              <a:extLst>
                <a:ext uri="{FF2B5EF4-FFF2-40B4-BE49-F238E27FC236}">
                  <a16:creationId xmlns:a16="http://schemas.microsoft.com/office/drawing/2014/main" id="{1F28C4FE-D821-BF57-1AFF-17FEB9900B91}"/>
                </a:ext>
              </a:extLst>
            </p:cNvPr>
            <p:cNvSpPr>
              <a:spLocks noChangeArrowheads="1"/>
            </p:cNvSpPr>
            <p:nvPr/>
          </p:nvSpPr>
          <p:spPr bwMode="auto">
            <a:xfrm>
              <a:off x="1231900" y="2171700"/>
              <a:ext cx="528638" cy="38100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4934" name="Rectangle 8">
              <a:extLst>
                <a:ext uri="{FF2B5EF4-FFF2-40B4-BE49-F238E27FC236}">
                  <a16:creationId xmlns:a16="http://schemas.microsoft.com/office/drawing/2014/main" id="{B90EFB9B-0573-2A2E-2A00-9C68175D6E31}"/>
                </a:ext>
              </a:extLst>
            </p:cNvPr>
            <p:cNvSpPr>
              <a:spLocks noChangeArrowheads="1"/>
            </p:cNvSpPr>
            <p:nvPr/>
          </p:nvSpPr>
          <p:spPr bwMode="auto">
            <a:xfrm>
              <a:off x="2425700" y="2184400"/>
              <a:ext cx="528638" cy="38100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4935" name="Line 9">
              <a:extLst>
                <a:ext uri="{FF2B5EF4-FFF2-40B4-BE49-F238E27FC236}">
                  <a16:creationId xmlns:a16="http://schemas.microsoft.com/office/drawing/2014/main" id="{D0805468-5F91-CBA4-44A8-F986177A2059}"/>
                </a:ext>
              </a:extLst>
            </p:cNvPr>
            <p:cNvSpPr>
              <a:spLocks noChangeShapeType="1"/>
            </p:cNvSpPr>
            <p:nvPr/>
          </p:nvSpPr>
          <p:spPr bwMode="auto">
            <a:xfrm>
              <a:off x="2070100" y="2451100"/>
              <a:ext cx="34131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36" name="Line 10">
              <a:extLst>
                <a:ext uri="{FF2B5EF4-FFF2-40B4-BE49-F238E27FC236}">
                  <a16:creationId xmlns:a16="http://schemas.microsoft.com/office/drawing/2014/main" id="{A2914D34-CFF3-32FC-9C9B-DF9AC266A222}"/>
                </a:ext>
              </a:extLst>
            </p:cNvPr>
            <p:cNvSpPr>
              <a:spLocks noChangeShapeType="1"/>
            </p:cNvSpPr>
            <p:nvPr/>
          </p:nvSpPr>
          <p:spPr bwMode="auto">
            <a:xfrm>
              <a:off x="1765300" y="2298700"/>
              <a:ext cx="64452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09" name="Rectangle 11">
              <a:extLst>
                <a:ext uri="{FF2B5EF4-FFF2-40B4-BE49-F238E27FC236}">
                  <a16:creationId xmlns:a16="http://schemas.microsoft.com/office/drawing/2014/main" id="{6A138431-D6CB-4009-A091-A30F0BA02D96}"/>
                </a:ext>
              </a:extLst>
            </p:cNvPr>
            <p:cNvSpPr>
              <a:spLocks noChangeArrowheads="1"/>
            </p:cNvSpPr>
            <p:nvPr/>
          </p:nvSpPr>
          <p:spPr bwMode="auto">
            <a:xfrm>
              <a:off x="1257300" y="2870200"/>
              <a:ext cx="1673225" cy="381000"/>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eaLnBrk="1" hangingPunct="1">
                <a:defRPr/>
              </a:pPr>
              <a:r>
                <a:rPr lang="ru-RU" b="1">
                  <a:sym typeface="Symbol" pitchFamily="18" charset="2"/>
                </a:rPr>
                <a:t></a:t>
              </a:r>
            </a:p>
          </p:txBody>
        </p:sp>
        <p:sp>
          <p:nvSpPr>
            <p:cNvPr id="102410" name="Rectangle 12">
              <a:extLst>
                <a:ext uri="{FF2B5EF4-FFF2-40B4-BE49-F238E27FC236}">
                  <a16:creationId xmlns:a16="http://schemas.microsoft.com/office/drawing/2014/main" id="{5E892A0E-23B0-46E9-829D-A3F3BD74DA28}"/>
                </a:ext>
              </a:extLst>
            </p:cNvPr>
            <p:cNvSpPr>
              <a:spLocks noChangeArrowheads="1"/>
            </p:cNvSpPr>
            <p:nvPr/>
          </p:nvSpPr>
          <p:spPr bwMode="auto">
            <a:xfrm>
              <a:off x="1257300" y="3479800"/>
              <a:ext cx="1673225" cy="381000"/>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algn="ctr" eaLnBrk="1" hangingPunct="1">
                <a:defRPr/>
              </a:pPr>
              <a:r>
                <a:rPr lang="ru-RU" b="1">
                  <a:sym typeface="Symbol" pitchFamily="18" charset="2"/>
                </a:rPr>
                <a:t></a:t>
              </a:r>
            </a:p>
          </p:txBody>
        </p:sp>
        <p:sp>
          <p:nvSpPr>
            <p:cNvPr id="124939" name="Line 13">
              <a:extLst>
                <a:ext uri="{FF2B5EF4-FFF2-40B4-BE49-F238E27FC236}">
                  <a16:creationId xmlns:a16="http://schemas.microsoft.com/office/drawing/2014/main" id="{EFB8AAEC-F9D5-8908-BE3E-B4EF43F9408B}"/>
                </a:ext>
              </a:extLst>
            </p:cNvPr>
            <p:cNvSpPr>
              <a:spLocks noChangeShapeType="1"/>
            </p:cNvSpPr>
            <p:nvPr/>
          </p:nvSpPr>
          <p:spPr bwMode="auto">
            <a:xfrm>
              <a:off x="838200" y="22860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40" name="Line 14">
              <a:extLst>
                <a:ext uri="{FF2B5EF4-FFF2-40B4-BE49-F238E27FC236}">
                  <a16:creationId xmlns:a16="http://schemas.microsoft.com/office/drawing/2014/main" id="{47592077-5CF9-1A73-E499-119A733023F0}"/>
                </a:ext>
              </a:extLst>
            </p:cNvPr>
            <p:cNvSpPr>
              <a:spLocks noChangeShapeType="1"/>
            </p:cNvSpPr>
            <p:nvPr/>
          </p:nvSpPr>
          <p:spPr bwMode="auto">
            <a:xfrm>
              <a:off x="838200" y="24511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41" name="Line 15">
              <a:extLst>
                <a:ext uri="{FF2B5EF4-FFF2-40B4-BE49-F238E27FC236}">
                  <a16:creationId xmlns:a16="http://schemas.microsoft.com/office/drawing/2014/main" id="{F310B02C-78CA-CB29-9A5A-05BC3DAE7CD5}"/>
                </a:ext>
              </a:extLst>
            </p:cNvPr>
            <p:cNvSpPr>
              <a:spLocks noChangeShapeType="1"/>
            </p:cNvSpPr>
            <p:nvPr/>
          </p:nvSpPr>
          <p:spPr bwMode="auto">
            <a:xfrm>
              <a:off x="876300" y="29718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42" name="Line 16">
              <a:extLst>
                <a:ext uri="{FF2B5EF4-FFF2-40B4-BE49-F238E27FC236}">
                  <a16:creationId xmlns:a16="http://schemas.microsoft.com/office/drawing/2014/main" id="{104CE3B3-995D-5D7F-3AB9-312B23D8D2E7}"/>
                </a:ext>
              </a:extLst>
            </p:cNvPr>
            <p:cNvSpPr>
              <a:spLocks noChangeShapeType="1"/>
            </p:cNvSpPr>
            <p:nvPr/>
          </p:nvSpPr>
          <p:spPr bwMode="auto">
            <a:xfrm>
              <a:off x="876300" y="31369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43" name="Line 17">
              <a:extLst>
                <a:ext uri="{FF2B5EF4-FFF2-40B4-BE49-F238E27FC236}">
                  <a16:creationId xmlns:a16="http://schemas.microsoft.com/office/drawing/2014/main" id="{31365B11-55AD-6B26-4290-BD4BDF59236B}"/>
                </a:ext>
              </a:extLst>
            </p:cNvPr>
            <p:cNvSpPr>
              <a:spLocks noChangeShapeType="1"/>
            </p:cNvSpPr>
            <p:nvPr/>
          </p:nvSpPr>
          <p:spPr bwMode="auto">
            <a:xfrm>
              <a:off x="876300" y="35941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44" name="Line 18">
              <a:extLst>
                <a:ext uri="{FF2B5EF4-FFF2-40B4-BE49-F238E27FC236}">
                  <a16:creationId xmlns:a16="http://schemas.microsoft.com/office/drawing/2014/main" id="{0888BE1C-51C2-41B2-A97E-BFAE2CCDBE93}"/>
                </a:ext>
              </a:extLst>
            </p:cNvPr>
            <p:cNvSpPr>
              <a:spLocks noChangeShapeType="1"/>
            </p:cNvSpPr>
            <p:nvPr/>
          </p:nvSpPr>
          <p:spPr bwMode="auto">
            <a:xfrm>
              <a:off x="876300" y="3759200"/>
              <a:ext cx="3857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45" name="Rectangle 19">
              <a:extLst>
                <a:ext uri="{FF2B5EF4-FFF2-40B4-BE49-F238E27FC236}">
                  <a16:creationId xmlns:a16="http://schemas.microsoft.com/office/drawing/2014/main" id="{E1D65EFB-8197-8F7D-E1C8-0C94F00444BB}"/>
                </a:ext>
              </a:extLst>
            </p:cNvPr>
            <p:cNvSpPr>
              <a:spLocks noChangeArrowheads="1"/>
            </p:cNvSpPr>
            <p:nvPr/>
          </p:nvSpPr>
          <p:spPr bwMode="auto">
            <a:xfrm>
              <a:off x="3619500" y="2184400"/>
              <a:ext cx="528638" cy="38100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4946" name="Line 20">
              <a:extLst>
                <a:ext uri="{FF2B5EF4-FFF2-40B4-BE49-F238E27FC236}">
                  <a16:creationId xmlns:a16="http://schemas.microsoft.com/office/drawing/2014/main" id="{2112F47D-5C85-A7A4-9811-FB8650796531}"/>
                </a:ext>
              </a:extLst>
            </p:cNvPr>
            <p:cNvSpPr>
              <a:spLocks noChangeShapeType="1"/>
            </p:cNvSpPr>
            <p:nvPr/>
          </p:nvSpPr>
          <p:spPr bwMode="auto">
            <a:xfrm>
              <a:off x="3263900" y="2451100"/>
              <a:ext cx="34131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47" name="Line 21">
              <a:extLst>
                <a:ext uri="{FF2B5EF4-FFF2-40B4-BE49-F238E27FC236}">
                  <a16:creationId xmlns:a16="http://schemas.microsoft.com/office/drawing/2014/main" id="{F782EA12-EB6A-932B-D4BA-03AEE0CE3A19}"/>
                </a:ext>
              </a:extLst>
            </p:cNvPr>
            <p:cNvSpPr>
              <a:spLocks noChangeShapeType="1"/>
            </p:cNvSpPr>
            <p:nvPr/>
          </p:nvSpPr>
          <p:spPr bwMode="auto">
            <a:xfrm>
              <a:off x="2959100" y="2298700"/>
              <a:ext cx="64452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48" name="Rectangle 22">
              <a:extLst>
                <a:ext uri="{FF2B5EF4-FFF2-40B4-BE49-F238E27FC236}">
                  <a16:creationId xmlns:a16="http://schemas.microsoft.com/office/drawing/2014/main" id="{382B6842-044B-3E81-452B-1F679B398794}"/>
                </a:ext>
              </a:extLst>
            </p:cNvPr>
            <p:cNvSpPr>
              <a:spLocks noChangeArrowheads="1"/>
            </p:cNvSpPr>
            <p:nvPr/>
          </p:nvSpPr>
          <p:spPr bwMode="auto">
            <a:xfrm>
              <a:off x="4838700" y="2184400"/>
              <a:ext cx="528638" cy="381000"/>
            </a:xfrm>
            <a:prstGeom prst="rect">
              <a:avLst/>
            </a:prstGeom>
            <a:solidFill>
              <a:srgbClr val="FFFF9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a:t>
              </a:r>
              <a:endParaRPr lang="ru-RU" altLang="en-US"/>
            </a:p>
          </p:txBody>
        </p:sp>
        <p:sp>
          <p:nvSpPr>
            <p:cNvPr id="124949" name="Line 23">
              <a:extLst>
                <a:ext uri="{FF2B5EF4-FFF2-40B4-BE49-F238E27FC236}">
                  <a16:creationId xmlns:a16="http://schemas.microsoft.com/office/drawing/2014/main" id="{7D138EB4-2BC4-BDFC-A177-3EA1939C3AA9}"/>
                </a:ext>
              </a:extLst>
            </p:cNvPr>
            <p:cNvSpPr>
              <a:spLocks noChangeShapeType="1"/>
            </p:cNvSpPr>
            <p:nvPr/>
          </p:nvSpPr>
          <p:spPr bwMode="auto">
            <a:xfrm>
              <a:off x="4445000" y="2451100"/>
              <a:ext cx="37782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50" name="Line 24">
              <a:extLst>
                <a:ext uri="{FF2B5EF4-FFF2-40B4-BE49-F238E27FC236}">
                  <a16:creationId xmlns:a16="http://schemas.microsoft.com/office/drawing/2014/main" id="{03A5707E-ACC3-0C0B-DD1C-5D1637E98F42}"/>
                </a:ext>
              </a:extLst>
            </p:cNvPr>
            <p:cNvSpPr>
              <a:spLocks noChangeShapeType="1"/>
            </p:cNvSpPr>
            <p:nvPr/>
          </p:nvSpPr>
          <p:spPr bwMode="auto">
            <a:xfrm>
              <a:off x="4165600" y="2298700"/>
              <a:ext cx="67945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51" name="Line 25">
              <a:extLst>
                <a:ext uri="{FF2B5EF4-FFF2-40B4-BE49-F238E27FC236}">
                  <a16:creationId xmlns:a16="http://schemas.microsoft.com/office/drawing/2014/main" id="{1D250827-F174-036E-8268-2F5FD600ED3B}"/>
                </a:ext>
              </a:extLst>
            </p:cNvPr>
            <p:cNvSpPr>
              <a:spLocks noChangeShapeType="1"/>
            </p:cNvSpPr>
            <p:nvPr/>
          </p:nvSpPr>
          <p:spPr bwMode="auto">
            <a:xfrm>
              <a:off x="5359400" y="2349500"/>
              <a:ext cx="304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52" name="Line 26">
              <a:extLst>
                <a:ext uri="{FF2B5EF4-FFF2-40B4-BE49-F238E27FC236}">
                  <a16:creationId xmlns:a16="http://schemas.microsoft.com/office/drawing/2014/main" id="{CE8ED01B-3CE8-2239-C705-6F79DCDF562C}"/>
                </a:ext>
              </a:extLst>
            </p:cNvPr>
            <p:cNvSpPr>
              <a:spLocks noChangeShapeType="1"/>
            </p:cNvSpPr>
            <p:nvPr/>
          </p:nvSpPr>
          <p:spPr bwMode="auto">
            <a:xfrm>
              <a:off x="2921000" y="3060700"/>
              <a:ext cx="346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3" name="Line 27">
              <a:extLst>
                <a:ext uri="{FF2B5EF4-FFF2-40B4-BE49-F238E27FC236}">
                  <a16:creationId xmlns:a16="http://schemas.microsoft.com/office/drawing/2014/main" id="{10AD37C4-B6D3-9220-D064-A591B6620B89}"/>
                </a:ext>
              </a:extLst>
            </p:cNvPr>
            <p:cNvSpPr>
              <a:spLocks noChangeShapeType="1"/>
            </p:cNvSpPr>
            <p:nvPr/>
          </p:nvSpPr>
          <p:spPr bwMode="auto">
            <a:xfrm>
              <a:off x="3263900" y="24511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4" name="Line 28">
              <a:extLst>
                <a:ext uri="{FF2B5EF4-FFF2-40B4-BE49-F238E27FC236}">
                  <a16:creationId xmlns:a16="http://schemas.microsoft.com/office/drawing/2014/main" id="{4D218C6F-F12F-D35D-5F6B-EB2ABF79D8E1}"/>
                </a:ext>
              </a:extLst>
            </p:cNvPr>
            <p:cNvSpPr>
              <a:spLocks noChangeShapeType="1"/>
            </p:cNvSpPr>
            <p:nvPr/>
          </p:nvSpPr>
          <p:spPr bwMode="auto">
            <a:xfrm>
              <a:off x="2921000" y="3670300"/>
              <a:ext cx="1533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5" name="Line 29">
              <a:extLst>
                <a:ext uri="{FF2B5EF4-FFF2-40B4-BE49-F238E27FC236}">
                  <a16:creationId xmlns:a16="http://schemas.microsoft.com/office/drawing/2014/main" id="{DF8C0F09-0998-B538-AC47-CEE824E71C9F}"/>
                </a:ext>
              </a:extLst>
            </p:cNvPr>
            <p:cNvSpPr>
              <a:spLocks noChangeShapeType="1"/>
            </p:cNvSpPr>
            <p:nvPr/>
          </p:nvSpPr>
          <p:spPr bwMode="auto">
            <a:xfrm>
              <a:off x="4445000" y="2451100"/>
              <a:ext cx="0" cy="1216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6" name="Text Box 30">
              <a:extLst>
                <a:ext uri="{FF2B5EF4-FFF2-40B4-BE49-F238E27FC236}">
                  <a16:creationId xmlns:a16="http://schemas.microsoft.com/office/drawing/2014/main" id="{C5E7DD7A-AA99-92DB-D32F-D3593DF0D858}"/>
                </a:ext>
              </a:extLst>
            </p:cNvPr>
            <p:cNvSpPr txBox="1">
              <a:spLocks noChangeArrowheads="1"/>
            </p:cNvSpPr>
            <p:nvPr/>
          </p:nvSpPr>
          <p:spPr bwMode="auto">
            <a:xfrm>
              <a:off x="457200" y="27432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a:t>
              </a:r>
              <a:endParaRPr lang="ru-RU" altLang="en-US"/>
            </a:p>
          </p:txBody>
        </p:sp>
        <p:sp>
          <p:nvSpPr>
            <p:cNvPr id="124957" name="Text Box 31">
              <a:extLst>
                <a:ext uri="{FF2B5EF4-FFF2-40B4-BE49-F238E27FC236}">
                  <a16:creationId xmlns:a16="http://schemas.microsoft.com/office/drawing/2014/main" id="{2A937DB0-5377-E511-5A13-A4234C69E9FF}"/>
                </a:ext>
              </a:extLst>
            </p:cNvPr>
            <p:cNvSpPr txBox="1">
              <a:spLocks noChangeArrowheads="1"/>
            </p:cNvSpPr>
            <p:nvPr/>
          </p:nvSpPr>
          <p:spPr bwMode="auto">
            <a:xfrm>
              <a:off x="457200" y="30226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endParaRPr lang="ru-RU" altLang="en-US"/>
            </a:p>
          </p:txBody>
        </p:sp>
        <p:sp>
          <p:nvSpPr>
            <p:cNvPr id="124958" name="Text Box 32">
              <a:extLst>
                <a:ext uri="{FF2B5EF4-FFF2-40B4-BE49-F238E27FC236}">
                  <a16:creationId xmlns:a16="http://schemas.microsoft.com/office/drawing/2014/main" id="{E969F4EF-1AA2-6BDC-4E56-20076A7459F1}"/>
                </a:ext>
              </a:extLst>
            </p:cNvPr>
            <p:cNvSpPr txBox="1">
              <a:spLocks noChangeArrowheads="1"/>
            </p:cNvSpPr>
            <p:nvPr/>
          </p:nvSpPr>
          <p:spPr bwMode="auto">
            <a:xfrm>
              <a:off x="469900" y="33401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A</a:t>
              </a:r>
              <a:endParaRPr lang="ru-RU" altLang="en-US"/>
            </a:p>
          </p:txBody>
        </p:sp>
        <p:sp>
          <p:nvSpPr>
            <p:cNvPr id="124959" name="Text Box 33">
              <a:extLst>
                <a:ext uri="{FF2B5EF4-FFF2-40B4-BE49-F238E27FC236}">
                  <a16:creationId xmlns:a16="http://schemas.microsoft.com/office/drawing/2014/main" id="{D98C3234-D817-5123-BA56-CA16F3420F83}"/>
                </a:ext>
              </a:extLst>
            </p:cNvPr>
            <p:cNvSpPr txBox="1">
              <a:spLocks noChangeArrowheads="1"/>
            </p:cNvSpPr>
            <p:nvPr/>
          </p:nvSpPr>
          <p:spPr bwMode="auto">
            <a:xfrm>
              <a:off x="469900" y="36195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B</a:t>
              </a:r>
              <a:endParaRPr lang="ru-RU" altLang="en-US"/>
            </a:p>
          </p:txBody>
        </p:sp>
        <p:sp>
          <p:nvSpPr>
            <p:cNvPr id="124960" name="Text Box 34">
              <a:extLst>
                <a:ext uri="{FF2B5EF4-FFF2-40B4-BE49-F238E27FC236}">
                  <a16:creationId xmlns:a16="http://schemas.microsoft.com/office/drawing/2014/main" id="{7FA8E85B-89F3-DB9F-9B09-7DB0F37011A3}"/>
                </a:ext>
              </a:extLst>
            </p:cNvPr>
            <p:cNvSpPr txBox="1">
              <a:spLocks noChangeArrowheads="1"/>
            </p:cNvSpPr>
            <p:nvPr/>
          </p:nvSpPr>
          <p:spPr bwMode="auto">
            <a:xfrm>
              <a:off x="444500" y="20574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a:t>
              </a:r>
              <a:endParaRPr lang="ru-RU" altLang="en-US"/>
            </a:p>
          </p:txBody>
        </p:sp>
        <p:sp>
          <p:nvSpPr>
            <p:cNvPr id="124961" name="Text Box 35">
              <a:extLst>
                <a:ext uri="{FF2B5EF4-FFF2-40B4-BE49-F238E27FC236}">
                  <a16:creationId xmlns:a16="http://schemas.microsoft.com/office/drawing/2014/main" id="{8B647F09-EA56-6E8C-D87B-43EB4161F49A}"/>
                </a:ext>
              </a:extLst>
            </p:cNvPr>
            <p:cNvSpPr txBox="1">
              <a:spLocks noChangeArrowheads="1"/>
            </p:cNvSpPr>
            <p:nvPr/>
          </p:nvSpPr>
          <p:spPr bwMode="auto">
            <a:xfrm>
              <a:off x="444500" y="23368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F</a:t>
              </a:r>
              <a:endParaRPr lang="ru-RU" altLang="en-US"/>
            </a:p>
          </p:txBody>
        </p:sp>
        <p:sp>
          <p:nvSpPr>
            <p:cNvPr id="124962" name="Text Box 36">
              <a:extLst>
                <a:ext uri="{FF2B5EF4-FFF2-40B4-BE49-F238E27FC236}">
                  <a16:creationId xmlns:a16="http://schemas.microsoft.com/office/drawing/2014/main" id="{13C027A2-9418-6984-E958-D215DFDC6DB8}"/>
                </a:ext>
              </a:extLst>
            </p:cNvPr>
            <p:cNvSpPr txBox="1">
              <a:spLocks noChangeArrowheads="1"/>
            </p:cNvSpPr>
            <p:nvPr/>
          </p:nvSpPr>
          <p:spPr bwMode="auto">
            <a:xfrm>
              <a:off x="1828800" y="23368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G</a:t>
              </a:r>
              <a:endParaRPr lang="ru-RU" altLang="en-US"/>
            </a:p>
          </p:txBody>
        </p:sp>
        <p:sp>
          <p:nvSpPr>
            <p:cNvPr id="124963" name="Text Box 37">
              <a:extLst>
                <a:ext uri="{FF2B5EF4-FFF2-40B4-BE49-F238E27FC236}">
                  <a16:creationId xmlns:a16="http://schemas.microsoft.com/office/drawing/2014/main" id="{9649738E-A736-6C86-CE89-E32E4338143B}"/>
                </a:ext>
              </a:extLst>
            </p:cNvPr>
            <p:cNvSpPr txBox="1">
              <a:spLocks noChangeArrowheads="1"/>
            </p:cNvSpPr>
            <p:nvPr/>
          </p:nvSpPr>
          <p:spPr bwMode="auto">
            <a:xfrm>
              <a:off x="5715000" y="2184400"/>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SUM</a:t>
              </a:r>
              <a:endParaRPr lang="ru-RU" altLang="en-US"/>
            </a:p>
          </p:txBody>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4">
            <a:extLst>
              <a:ext uri="{FF2B5EF4-FFF2-40B4-BE49-F238E27FC236}">
                <a16:creationId xmlns:a16="http://schemas.microsoft.com/office/drawing/2014/main" id="{307DF1ED-90DB-6C44-7FE7-EC48A546D036}"/>
              </a:ext>
            </a:extLst>
          </p:cNvPr>
          <p:cNvSpPr>
            <a:spLocks noGrp="1" noChangeArrowheads="1"/>
          </p:cNvSpPr>
          <p:nvPr>
            <p:ph type="title"/>
          </p:nvPr>
        </p:nvSpPr>
        <p:spPr/>
        <p:txBody>
          <a:bodyPr>
            <a:normAutofit/>
          </a:bodyPr>
          <a:lstStyle/>
          <a:p>
            <a:r>
              <a:rPr lang="ru-RU" altLang="en-US" dirty="0"/>
              <a:t>Optimization of Arithmetic Expressions </a:t>
            </a:r>
          </a:p>
        </p:txBody>
      </p:sp>
      <p:sp>
        <p:nvSpPr>
          <p:cNvPr id="125955" name="Content Placeholder 5">
            <a:extLst>
              <a:ext uri="{FF2B5EF4-FFF2-40B4-BE49-F238E27FC236}">
                <a16:creationId xmlns:a16="http://schemas.microsoft.com/office/drawing/2014/main" id="{57F51C82-113F-F7F9-C6CC-02A88639FFB8}"/>
              </a:ext>
            </a:extLst>
          </p:cNvPr>
          <p:cNvSpPr>
            <a:spLocks noGrp="1" noChangeArrowheads="1"/>
          </p:cNvSpPr>
          <p:nvPr>
            <p:ph type="body" sz="quarter" idx="10"/>
          </p:nvPr>
        </p:nvSpPr>
        <p:spPr/>
        <p:txBody>
          <a:bodyPr/>
          <a:lstStyle/>
          <a:p>
            <a:r>
              <a:rPr lang="en-US" altLang="en-US"/>
              <a:t>Constant/Operand Folding</a:t>
            </a:r>
          </a:p>
          <a:p>
            <a:r>
              <a:rPr lang="en-US" altLang="en-US"/>
              <a:t>Y= </a:t>
            </a:r>
            <a:r>
              <a:rPr lang="ru-RU" altLang="en-US"/>
              <a:t>A + </a:t>
            </a:r>
            <a:r>
              <a:rPr lang="en-US" altLang="en-US"/>
              <a:t>3</a:t>
            </a:r>
            <a:r>
              <a:rPr lang="ru-RU" altLang="en-US"/>
              <a:t>*B – </a:t>
            </a:r>
            <a:r>
              <a:rPr lang="en-US" altLang="en-US"/>
              <a:t>3 </a:t>
            </a:r>
            <a:r>
              <a:rPr lang="ru-RU" altLang="en-US"/>
              <a:t>+ B – A + </a:t>
            </a:r>
            <a:r>
              <a:rPr lang="en-US" altLang="en-US"/>
              <a:t>8 =</a:t>
            </a:r>
            <a:r>
              <a:rPr lang="ru-RU" altLang="en-US"/>
              <a:t> 3*B + 5</a:t>
            </a:r>
            <a:endParaRPr lang="en-US" altLang="en-US"/>
          </a:p>
          <a:p>
            <a:r>
              <a:rPr lang="ru-RU" altLang="en-US"/>
              <a:t>Common </a:t>
            </a:r>
            <a:r>
              <a:rPr lang="en-US" altLang="en-US"/>
              <a:t>S</a:t>
            </a:r>
            <a:r>
              <a:rPr lang="ru-RU" altLang="en-US"/>
              <a:t>ub-</a:t>
            </a:r>
            <a:r>
              <a:rPr lang="en-US" altLang="en-US"/>
              <a:t>E</a:t>
            </a:r>
            <a:r>
              <a:rPr lang="ru-RU" altLang="en-US"/>
              <a:t>xpression </a:t>
            </a:r>
            <a:r>
              <a:rPr lang="en-US" altLang="en-US"/>
              <a:t>S</a:t>
            </a:r>
            <a:r>
              <a:rPr lang="ru-RU" altLang="en-US"/>
              <a:t>haring</a:t>
            </a:r>
            <a:endParaRPr lang="en-US" altLang="en-US"/>
          </a:p>
          <a:p>
            <a:r>
              <a:rPr lang="en-US" altLang="en-US"/>
              <a:t>Т</a:t>
            </a:r>
            <a:r>
              <a:rPr lang="ru-RU" altLang="en-US"/>
              <a:t>he operands must be in the same order for each expression. </a:t>
            </a:r>
            <a:endParaRPr lang="en-US" altLang="en-US"/>
          </a:p>
          <a:p>
            <a:r>
              <a:rPr lang="ru-RU" altLang="en-US"/>
              <a:t>Parentheses can be used to help the tool recognize common sub-expressions.</a:t>
            </a:r>
            <a:endParaRPr lang="en-US" altLang="en-US"/>
          </a:p>
          <a:p>
            <a:r>
              <a:rPr lang="ru-RU" altLang="en-US"/>
              <a:t>Timing constraints should be specified for the design.</a:t>
            </a:r>
          </a:p>
          <a:p>
            <a:endParaRPr lang="ru-RU"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4">
            <a:extLst>
              <a:ext uri="{FF2B5EF4-FFF2-40B4-BE49-F238E27FC236}">
                <a16:creationId xmlns:a16="http://schemas.microsoft.com/office/drawing/2014/main" id="{172AB1BD-E926-0CB9-5B09-7DEAC538B7B0}"/>
              </a:ext>
            </a:extLst>
          </p:cNvPr>
          <p:cNvSpPr>
            <a:spLocks noGrp="1" noChangeArrowheads="1"/>
          </p:cNvSpPr>
          <p:nvPr>
            <p:ph type="title"/>
          </p:nvPr>
        </p:nvSpPr>
        <p:spPr/>
        <p:txBody>
          <a:bodyPr/>
          <a:lstStyle/>
          <a:p>
            <a:r>
              <a:rPr lang="ru-RU" altLang="en-US"/>
              <a:t>Common </a:t>
            </a:r>
            <a:r>
              <a:rPr lang="en-US" altLang="en-US"/>
              <a:t>S</a:t>
            </a:r>
            <a:r>
              <a:rPr lang="ru-RU" altLang="en-US"/>
              <a:t>ub-</a:t>
            </a:r>
            <a:r>
              <a:rPr lang="en-US" altLang="en-US"/>
              <a:t>E</a:t>
            </a:r>
            <a:r>
              <a:rPr lang="ru-RU" altLang="en-US"/>
              <a:t>xpression </a:t>
            </a:r>
            <a:r>
              <a:rPr lang="en-US" altLang="en-US"/>
              <a:t>S</a:t>
            </a:r>
            <a:r>
              <a:rPr lang="ru-RU" altLang="en-US"/>
              <a:t>haring</a:t>
            </a:r>
          </a:p>
        </p:txBody>
      </p:sp>
      <p:sp>
        <p:nvSpPr>
          <p:cNvPr id="109" name="Content Placeholder 108">
            <a:extLst>
              <a:ext uri="{FF2B5EF4-FFF2-40B4-BE49-F238E27FC236}">
                <a16:creationId xmlns:a16="http://schemas.microsoft.com/office/drawing/2014/main" id="{5B8C4880-5D66-4F8B-A1EE-5AAB95129D64}"/>
              </a:ext>
            </a:extLst>
          </p:cNvPr>
          <p:cNvSpPr>
            <a:spLocks noGrp="1"/>
          </p:cNvSpPr>
          <p:nvPr>
            <p:ph type="body" sz="quarter" idx="13"/>
          </p:nvPr>
        </p:nvSpPr>
        <p:spPr/>
        <p:txBody>
          <a:bodyPr/>
          <a:lstStyle/>
          <a:p>
            <a:r>
              <a:rPr lang="en-US" dirty="0"/>
              <a:t>1.Without Sharing                                                    </a:t>
            </a:r>
          </a:p>
          <a:p>
            <a:r>
              <a:rPr lang="en-US" dirty="0"/>
              <a:t>Z</a:t>
            </a:r>
            <a:r>
              <a:rPr lang="ru-RU" dirty="0"/>
              <a:t>1 = </a:t>
            </a:r>
            <a:r>
              <a:rPr lang="en-US" dirty="0"/>
              <a:t>A</a:t>
            </a:r>
            <a:r>
              <a:rPr lang="ru-RU" dirty="0"/>
              <a:t> + </a:t>
            </a:r>
            <a:r>
              <a:rPr lang="en-US" dirty="0"/>
              <a:t>B</a:t>
            </a:r>
            <a:r>
              <a:rPr lang="ru-RU" dirty="0"/>
              <a:t> + </a:t>
            </a:r>
            <a:r>
              <a:rPr lang="en-US" dirty="0"/>
              <a:t>C</a:t>
            </a:r>
            <a:r>
              <a:rPr lang="ru-RU" dirty="0"/>
              <a:t>;  </a:t>
            </a:r>
            <a:r>
              <a:rPr lang="en-US" dirty="0"/>
              <a:t>Z</a:t>
            </a:r>
            <a:r>
              <a:rPr lang="ru-RU" dirty="0"/>
              <a:t>2 = </a:t>
            </a:r>
            <a:r>
              <a:rPr lang="en-US" dirty="0"/>
              <a:t>B</a:t>
            </a:r>
            <a:r>
              <a:rPr lang="ru-RU" dirty="0"/>
              <a:t> + </a:t>
            </a:r>
            <a:r>
              <a:rPr lang="en-US" dirty="0"/>
              <a:t>C</a:t>
            </a:r>
            <a:r>
              <a:rPr lang="ru-RU" dirty="0"/>
              <a:t> + </a:t>
            </a:r>
            <a:r>
              <a:rPr lang="en-US" dirty="0"/>
              <a:t>D</a:t>
            </a:r>
            <a:r>
              <a:rPr lang="ru-RU" dirty="0"/>
              <a:t>;</a:t>
            </a:r>
            <a:r>
              <a:rPr lang="en-US" dirty="0"/>
              <a:t>                                 </a:t>
            </a:r>
            <a:r>
              <a:rPr lang="fr-FR" dirty="0"/>
              <a:t>T = B + C;  Z1 = A + T;  Z2 = T + D;</a:t>
            </a:r>
            <a:endParaRPr lang="ru-RU" dirty="0"/>
          </a:p>
          <a:p>
            <a:endParaRPr lang="ru-RU" dirty="0"/>
          </a:p>
          <a:p>
            <a:endParaRPr lang="en-US" dirty="0"/>
          </a:p>
          <a:p>
            <a:endParaRPr lang="ru-RU" dirty="0"/>
          </a:p>
          <a:p>
            <a:endParaRPr lang="en-US" dirty="0"/>
          </a:p>
          <a:p>
            <a:endParaRPr lang="en-US" dirty="0"/>
          </a:p>
          <a:p>
            <a:endParaRPr lang="en-US" dirty="0"/>
          </a:p>
          <a:p>
            <a:endParaRPr lang="en-US" dirty="0"/>
          </a:p>
          <a:p>
            <a:endParaRPr lang="en-US" dirty="0"/>
          </a:p>
          <a:p>
            <a:endParaRPr lang="en-US" dirty="0"/>
          </a:p>
          <a:p>
            <a:endParaRPr lang="en-US" dirty="0"/>
          </a:p>
          <a:p>
            <a:r>
              <a:rPr lang="ru-RU" dirty="0"/>
              <a:t>Prize - one adder. </a:t>
            </a:r>
            <a:endParaRPr lang="en-US" dirty="0"/>
          </a:p>
          <a:p>
            <a:r>
              <a:rPr lang="ru-RU" dirty="0"/>
              <a:t>Parentheses can be used to help the tool recognize common sub-expressions</a:t>
            </a:r>
            <a:r>
              <a:rPr lang="en-US" dirty="0"/>
              <a:t>.</a:t>
            </a:r>
            <a:endParaRPr lang="ru-RU" dirty="0"/>
          </a:p>
          <a:p>
            <a:endParaRPr lang="ru-RU" dirty="0"/>
          </a:p>
        </p:txBody>
      </p:sp>
      <p:sp>
        <p:nvSpPr>
          <p:cNvPr id="2" name="Text Placeholder 1">
            <a:extLst>
              <a:ext uri="{FF2B5EF4-FFF2-40B4-BE49-F238E27FC236}">
                <a16:creationId xmlns:a16="http://schemas.microsoft.com/office/drawing/2014/main" id="{062A4D6F-694C-387F-2F2F-2153EC3C317C}"/>
              </a:ext>
            </a:extLst>
          </p:cNvPr>
          <p:cNvSpPr>
            <a:spLocks noGrp="1"/>
          </p:cNvSpPr>
          <p:nvPr>
            <p:ph type="body" sz="quarter" idx="14"/>
          </p:nvPr>
        </p:nvSpPr>
        <p:spPr/>
        <p:txBody>
          <a:bodyPr/>
          <a:lstStyle/>
          <a:p>
            <a:r>
              <a:rPr lang="en-US" dirty="0"/>
              <a:t>2. With Sharing</a:t>
            </a:r>
          </a:p>
          <a:p>
            <a:endParaRPr lang="en-US" dirty="0"/>
          </a:p>
        </p:txBody>
      </p:sp>
      <p:grpSp>
        <p:nvGrpSpPr>
          <p:cNvPr id="126980" name="Group 158">
            <a:extLst>
              <a:ext uri="{FF2B5EF4-FFF2-40B4-BE49-F238E27FC236}">
                <a16:creationId xmlns:a16="http://schemas.microsoft.com/office/drawing/2014/main" id="{2C359C51-EC2B-F615-04EF-C50A106ACDC5}"/>
              </a:ext>
            </a:extLst>
          </p:cNvPr>
          <p:cNvGrpSpPr>
            <a:grpSpLocks/>
          </p:cNvGrpSpPr>
          <p:nvPr/>
        </p:nvGrpSpPr>
        <p:grpSpPr bwMode="auto">
          <a:xfrm>
            <a:off x="2492375" y="2740026"/>
            <a:ext cx="3054350" cy="2111375"/>
            <a:chOff x="264" y="1344"/>
            <a:chExt cx="2028" cy="1748"/>
          </a:xfrm>
        </p:grpSpPr>
        <p:grpSp>
          <p:nvGrpSpPr>
            <p:cNvPr id="127024" name="Group 112">
              <a:extLst>
                <a:ext uri="{FF2B5EF4-FFF2-40B4-BE49-F238E27FC236}">
                  <a16:creationId xmlns:a16="http://schemas.microsoft.com/office/drawing/2014/main" id="{4360283B-0C11-4DF1-8BD6-C356961642E1}"/>
                </a:ext>
              </a:extLst>
            </p:cNvPr>
            <p:cNvGrpSpPr>
              <a:grpSpLocks/>
            </p:cNvGrpSpPr>
            <p:nvPr/>
          </p:nvGrpSpPr>
          <p:grpSpPr bwMode="auto">
            <a:xfrm>
              <a:off x="834" y="1377"/>
              <a:ext cx="301" cy="546"/>
              <a:chOff x="834" y="1377"/>
              <a:chExt cx="301" cy="546"/>
            </a:xfrm>
          </p:grpSpPr>
          <p:sp>
            <p:nvSpPr>
              <p:cNvPr id="127068" name="Line 9">
                <a:extLst>
                  <a:ext uri="{FF2B5EF4-FFF2-40B4-BE49-F238E27FC236}">
                    <a16:creationId xmlns:a16="http://schemas.microsoft.com/office/drawing/2014/main" id="{A5C322F0-0833-6FB3-A9BB-75A383486DD4}"/>
                  </a:ext>
                </a:extLst>
              </p:cNvPr>
              <p:cNvSpPr>
                <a:spLocks noChangeShapeType="1"/>
              </p:cNvSpPr>
              <p:nvPr/>
            </p:nvSpPr>
            <p:spPr bwMode="auto">
              <a:xfrm>
                <a:off x="835" y="1377"/>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69" name="Line 10">
                <a:extLst>
                  <a:ext uri="{FF2B5EF4-FFF2-40B4-BE49-F238E27FC236}">
                    <a16:creationId xmlns:a16="http://schemas.microsoft.com/office/drawing/2014/main" id="{B200DED5-4A34-4BE1-68D8-6C494522892C}"/>
                  </a:ext>
                </a:extLst>
              </p:cNvPr>
              <p:cNvSpPr>
                <a:spLocks noChangeShapeType="1"/>
              </p:cNvSpPr>
              <p:nvPr/>
            </p:nvSpPr>
            <p:spPr bwMode="auto">
              <a:xfrm>
                <a:off x="835" y="1575"/>
                <a:ext cx="69"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70" name="Line 11">
                <a:extLst>
                  <a:ext uri="{FF2B5EF4-FFF2-40B4-BE49-F238E27FC236}">
                    <a16:creationId xmlns:a16="http://schemas.microsoft.com/office/drawing/2014/main" id="{70AA6E68-4105-8BD5-E8D9-B200AE7952EB}"/>
                  </a:ext>
                </a:extLst>
              </p:cNvPr>
              <p:cNvSpPr>
                <a:spLocks noChangeShapeType="1"/>
              </p:cNvSpPr>
              <p:nvPr/>
            </p:nvSpPr>
            <p:spPr bwMode="auto">
              <a:xfrm rot="-5400000">
                <a:off x="834" y="1648"/>
                <a:ext cx="71" cy="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71" name="Line 12">
                <a:extLst>
                  <a:ext uri="{FF2B5EF4-FFF2-40B4-BE49-F238E27FC236}">
                    <a16:creationId xmlns:a16="http://schemas.microsoft.com/office/drawing/2014/main" id="{49CA87B8-2509-7FD7-E81C-8CA3E65BA590}"/>
                  </a:ext>
                </a:extLst>
              </p:cNvPr>
              <p:cNvSpPr>
                <a:spLocks noChangeShapeType="1"/>
              </p:cNvSpPr>
              <p:nvPr/>
            </p:nvSpPr>
            <p:spPr bwMode="auto">
              <a:xfrm>
                <a:off x="835" y="1717"/>
                <a:ext cx="0" cy="2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72" name="Line 13">
                <a:extLst>
                  <a:ext uri="{FF2B5EF4-FFF2-40B4-BE49-F238E27FC236}">
                    <a16:creationId xmlns:a16="http://schemas.microsoft.com/office/drawing/2014/main" id="{39C7CCE3-7492-962E-5B28-C61757402610}"/>
                  </a:ext>
                </a:extLst>
              </p:cNvPr>
              <p:cNvSpPr>
                <a:spLocks noChangeShapeType="1"/>
              </p:cNvSpPr>
              <p:nvPr/>
            </p:nvSpPr>
            <p:spPr bwMode="auto">
              <a:xfrm>
                <a:off x="1128" y="1528"/>
                <a:ext cx="0" cy="2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73" name="Line 14">
                <a:extLst>
                  <a:ext uri="{FF2B5EF4-FFF2-40B4-BE49-F238E27FC236}">
                    <a16:creationId xmlns:a16="http://schemas.microsoft.com/office/drawing/2014/main" id="{299CF71F-D816-5036-6D70-5ABB373CC1E4}"/>
                  </a:ext>
                </a:extLst>
              </p:cNvPr>
              <p:cNvSpPr>
                <a:spLocks noChangeShapeType="1"/>
              </p:cNvSpPr>
              <p:nvPr/>
            </p:nvSpPr>
            <p:spPr bwMode="auto">
              <a:xfrm>
                <a:off x="842" y="1377"/>
                <a:ext cx="293" cy="1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74" name="Line 15">
                <a:extLst>
                  <a:ext uri="{FF2B5EF4-FFF2-40B4-BE49-F238E27FC236}">
                    <a16:creationId xmlns:a16="http://schemas.microsoft.com/office/drawing/2014/main" id="{90B4CED0-226F-FF4E-BAC4-B94856925743}"/>
                  </a:ext>
                </a:extLst>
              </p:cNvPr>
              <p:cNvSpPr>
                <a:spLocks noChangeShapeType="1"/>
              </p:cNvSpPr>
              <p:nvPr/>
            </p:nvSpPr>
            <p:spPr bwMode="auto">
              <a:xfrm flipV="1">
                <a:off x="834" y="1808"/>
                <a:ext cx="286" cy="1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75" name="Text Box 16">
                <a:extLst>
                  <a:ext uri="{FF2B5EF4-FFF2-40B4-BE49-F238E27FC236}">
                    <a16:creationId xmlns:a16="http://schemas.microsoft.com/office/drawing/2014/main" id="{8599F370-F158-BDE2-379B-086DF78292C4}"/>
                  </a:ext>
                </a:extLst>
              </p:cNvPr>
              <p:cNvSpPr txBox="1">
                <a:spLocks noChangeArrowheads="1"/>
              </p:cNvSpPr>
              <p:nvPr/>
            </p:nvSpPr>
            <p:spPr bwMode="auto">
              <a:xfrm>
                <a:off x="879" y="1535"/>
                <a:ext cx="25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grpSp>
        <p:grpSp>
          <p:nvGrpSpPr>
            <p:cNvPr id="127025" name="Group 113">
              <a:extLst>
                <a:ext uri="{FF2B5EF4-FFF2-40B4-BE49-F238E27FC236}">
                  <a16:creationId xmlns:a16="http://schemas.microsoft.com/office/drawing/2014/main" id="{8CBBB6BC-A586-8E16-883A-1670A88B6304}"/>
                </a:ext>
              </a:extLst>
            </p:cNvPr>
            <p:cNvGrpSpPr>
              <a:grpSpLocks/>
            </p:cNvGrpSpPr>
            <p:nvPr/>
          </p:nvGrpSpPr>
          <p:grpSpPr bwMode="auto">
            <a:xfrm>
              <a:off x="1376" y="1585"/>
              <a:ext cx="301" cy="544"/>
              <a:chOff x="1376" y="1585"/>
              <a:chExt cx="301" cy="544"/>
            </a:xfrm>
          </p:grpSpPr>
          <p:sp>
            <p:nvSpPr>
              <p:cNvPr id="127060" name="Line 18">
                <a:extLst>
                  <a:ext uri="{FF2B5EF4-FFF2-40B4-BE49-F238E27FC236}">
                    <a16:creationId xmlns:a16="http://schemas.microsoft.com/office/drawing/2014/main" id="{0A8C4877-9C90-65FE-EF97-9C543D2CE6C9}"/>
                  </a:ext>
                </a:extLst>
              </p:cNvPr>
              <p:cNvSpPr>
                <a:spLocks noChangeShapeType="1"/>
              </p:cNvSpPr>
              <p:nvPr/>
            </p:nvSpPr>
            <p:spPr bwMode="auto">
              <a:xfrm>
                <a:off x="1377" y="1585"/>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61" name="Line 19">
                <a:extLst>
                  <a:ext uri="{FF2B5EF4-FFF2-40B4-BE49-F238E27FC236}">
                    <a16:creationId xmlns:a16="http://schemas.microsoft.com/office/drawing/2014/main" id="{327D8A66-78B7-FA29-8F51-2E6AD0DEC1FC}"/>
                  </a:ext>
                </a:extLst>
              </p:cNvPr>
              <p:cNvSpPr>
                <a:spLocks noChangeShapeType="1"/>
              </p:cNvSpPr>
              <p:nvPr/>
            </p:nvSpPr>
            <p:spPr bwMode="auto">
              <a:xfrm>
                <a:off x="1377" y="1783"/>
                <a:ext cx="69" cy="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62" name="Line 20">
                <a:extLst>
                  <a:ext uri="{FF2B5EF4-FFF2-40B4-BE49-F238E27FC236}">
                    <a16:creationId xmlns:a16="http://schemas.microsoft.com/office/drawing/2014/main" id="{22F8DBDD-4292-1C2B-8B2E-D240845B8D81}"/>
                  </a:ext>
                </a:extLst>
              </p:cNvPr>
              <p:cNvSpPr>
                <a:spLocks noChangeShapeType="1"/>
              </p:cNvSpPr>
              <p:nvPr/>
            </p:nvSpPr>
            <p:spPr bwMode="auto">
              <a:xfrm rot="-5400000">
                <a:off x="1376" y="1856"/>
                <a:ext cx="71" cy="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63" name="Line 21">
                <a:extLst>
                  <a:ext uri="{FF2B5EF4-FFF2-40B4-BE49-F238E27FC236}">
                    <a16:creationId xmlns:a16="http://schemas.microsoft.com/office/drawing/2014/main" id="{1F59666B-757A-6115-B332-CB7025A30770}"/>
                  </a:ext>
                </a:extLst>
              </p:cNvPr>
              <p:cNvSpPr>
                <a:spLocks noChangeShapeType="1"/>
              </p:cNvSpPr>
              <p:nvPr/>
            </p:nvSpPr>
            <p:spPr bwMode="auto">
              <a:xfrm>
                <a:off x="1377" y="1925"/>
                <a:ext cx="0"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64" name="Line 22">
                <a:extLst>
                  <a:ext uri="{FF2B5EF4-FFF2-40B4-BE49-F238E27FC236}">
                    <a16:creationId xmlns:a16="http://schemas.microsoft.com/office/drawing/2014/main" id="{3143337A-9410-8C59-FCF6-C7BB817F3434}"/>
                  </a:ext>
                </a:extLst>
              </p:cNvPr>
              <p:cNvSpPr>
                <a:spLocks noChangeShapeType="1"/>
              </p:cNvSpPr>
              <p:nvPr/>
            </p:nvSpPr>
            <p:spPr bwMode="auto">
              <a:xfrm>
                <a:off x="1670" y="1736"/>
                <a:ext cx="0" cy="2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65" name="Line 23">
                <a:extLst>
                  <a:ext uri="{FF2B5EF4-FFF2-40B4-BE49-F238E27FC236}">
                    <a16:creationId xmlns:a16="http://schemas.microsoft.com/office/drawing/2014/main" id="{38DDD981-5259-B192-ADA4-D6830986DE60}"/>
                  </a:ext>
                </a:extLst>
              </p:cNvPr>
              <p:cNvSpPr>
                <a:spLocks noChangeShapeType="1"/>
              </p:cNvSpPr>
              <p:nvPr/>
            </p:nvSpPr>
            <p:spPr bwMode="auto">
              <a:xfrm>
                <a:off x="1384" y="1585"/>
                <a:ext cx="293" cy="1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66" name="Line 24">
                <a:extLst>
                  <a:ext uri="{FF2B5EF4-FFF2-40B4-BE49-F238E27FC236}">
                    <a16:creationId xmlns:a16="http://schemas.microsoft.com/office/drawing/2014/main" id="{4C5C160B-959F-215D-EEDD-6BAC94EB8643}"/>
                  </a:ext>
                </a:extLst>
              </p:cNvPr>
              <p:cNvSpPr>
                <a:spLocks noChangeShapeType="1"/>
              </p:cNvSpPr>
              <p:nvPr/>
            </p:nvSpPr>
            <p:spPr bwMode="auto">
              <a:xfrm flipV="1">
                <a:off x="1376" y="2015"/>
                <a:ext cx="286" cy="1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67" name="Text Box 25">
                <a:extLst>
                  <a:ext uri="{FF2B5EF4-FFF2-40B4-BE49-F238E27FC236}">
                    <a16:creationId xmlns:a16="http://schemas.microsoft.com/office/drawing/2014/main" id="{A9B7941B-8BE3-B978-F71B-6E0C9822B73D}"/>
                  </a:ext>
                </a:extLst>
              </p:cNvPr>
              <p:cNvSpPr txBox="1">
                <a:spLocks noChangeArrowheads="1"/>
              </p:cNvSpPr>
              <p:nvPr/>
            </p:nvSpPr>
            <p:spPr bwMode="auto">
              <a:xfrm>
                <a:off x="1421" y="1742"/>
                <a:ext cx="25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grpSp>
        <p:sp>
          <p:nvSpPr>
            <p:cNvPr id="127026" name="Line 26">
              <a:extLst>
                <a:ext uri="{FF2B5EF4-FFF2-40B4-BE49-F238E27FC236}">
                  <a16:creationId xmlns:a16="http://schemas.microsoft.com/office/drawing/2014/main" id="{E9892D0D-6F3B-45A4-60D2-C416AEF9651A}"/>
                </a:ext>
              </a:extLst>
            </p:cNvPr>
            <p:cNvSpPr>
              <a:spLocks noChangeShapeType="1"/>
            </p:cNvSpPr>
            <p:nvPr/>
          </p:nvSpPr>
          <p:spPr bwMode="auto">
            <a:xfrm>
              <a:off x="1135" y="1659"/>
              <a:ext cx="2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7" name="Line 27">
              <a:extLst>
                <a:ext uri="{FF2B5EF4-FFF2-40B4-BE49-F238E27FC236}">
                  <a16:creationId xmlns:a16="http://schemas.microsoft.com/office/drawing/2014/main" id="{73CECAA6-9480-60F6-D665-6F6F52D93A38}"/>
                </a:ext>
              </a:extLst>
            </p:cNvPr>
            <p:cNvSpPr>
              <a:spLocks noChangeShapeType="1"/>
            </p:cNvSpPr>
            <p:nvPr/>
          </p:nvSpPr>
          <p:spPr bwMode="auto">
            <a:xfrm>
              <a:off x="505" y="2016"/>
              <a:ext cx="86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8" name="Line 28">
              <a:extLst>
                <a:ext uri="{FF2B5EF4-FFF2-40B4-BE49-F238E27FC236}">
                  <a16:creationId xmlns:a16="http://schemas.microsoft.com/office/drawing/2014/main" id="{C86DAFB8-11D2-6C22-FC91-42CB5EC07D12}"/>
                </a:ext>
              </a:extLst>
            </p:cNvPr>
            <p:cNvSpPr>
              <a:spLocks noChangeShapeType="1"/>
            </p:cNvSpPr>
            <p:nvPr/>
          </p:nvSpPr>
          <p:spPr bwMode="auto">
            <a:xfrm>
              <a:off x="504" y="1468"/>
              <a:ext cx="32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9" name="Line 29">
              <a:extLst>
                <a:ext uri="{FF2B5EF4-FFF2-40B4-BE49-F238E27FC236}">
                  <a16:creationId xmlns:a16="http://schemas.microsoft.com/office/drawing/2014/main" id="{A5F2CF03-EB2F-3DAE-3003-5A0E95760310}"/>
                </a:ext>
              </a:extLst>
            </p:cNvPr>
            <p:cNvSpPr>
              <a:spLocks noChangeShapeType="1"/>
            </p:cNvSpPr>
            <p:nvPr/>
          </p:nvSpPr>
          <p:spPr bwMode="auto">
            <a:xfrm>
              <a:off x="504" y="1809"/>
              <a:ext cx="3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30" name="Line 30">
              <a:extLst>
                <a:ext uri="{FF2B5EF4-FFF2-40B4-BE49-F238E27FC236}">
                  <a16:creationId xmlns:a16="http://schemas.microsoft.com/office/drawing/2014/main" id="{6A30557F-9A35-99AE-9711-E67AA099A950}"/>
                </a:ext>
              </a:extLst>
            </p:cNvPr>
            <p:cNvSpPr>
              <a:spLocks noChangeShapeType="1"/>
            </p:cNvSpPr>
            <p:nvPr/>
          </p:nvSpPr>
          <p:spPr bwMode="auto">
            <a:xfrm>
              <a:off x="1677" y="1867"/>
              <a:ext cx="2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31" name="Text Box 31">
              <a:extLst>
                <a:ext uri="{FF2B5EF4-FFF2-40B4-BE49-F238E27FC236}">
                  <a16:creationId xmlns:a16="http://schemas.microsoft.com/office/drawing/2014/main" id="{E010CE48-1B73-35B0-7FCD-C6167BC0FBA7}"/>
                </a:ext>
              </a:extLst>
            </p:cNvPr>
            <p:cNvSpPr txBox="1">
              <a:spLocks noChangeArrowheads="1"/>
            </p:cNvSpPr>
            <p:nvPr/>
          </p:nvSpPr>
          <p:spPr bwMode="auto">
            <a:xfrm>
              <a:off x="302" y="1344"/>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a:t>
              </a:r>
            </a:p>
          </p:txBody>
        </p:sp>
        <p:sp>
          <p:nvSpPr>
            <p:cNvPr id="127032" name="Text Box 32">
              <a:extLst>
                <a:ext uri="{FF2B5EF4-FFF2-40B4-BE49-F238E27FC236}">
                  <a16:creationId xmlns:a16="http://schemas.microsoft.com/office/drawing/2014/main" id="{C65463B9-D8DE-197E-2EB7-27B2128E41AD}"/>
                </a:ext>
              </a:extLst>
            </p:cNvPr>
            <p:cNvSpPr txBox="1">
              <a:spLocks noChangeArrowheads="1"/>
            </p:cNvSpPr>
            <p:nvPr/>
          </p:nvSpPr>
          <p:spPr bwMode="auto">
            <a:xfrm>
              <a:off x="295" y="1676"/>
              <a:ext cx="28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B</a:t>
              </a:r>
            </a:p>
          </p:txBody>
        </p:sp>
        <p:sp>
          <p:nvSpPr>
            <p:cNvPr id="127033" name="Text Box 33">
              <a:extLst>
                <a:ext uri="{FF2B5EF4-FFF2-40B4-BE49-F238E27FC236}">
                  <a16:creationId xmlns:a16="http://schemas.microsoft.com/office/drawing/2014/main" id="{8ABFC82A-C42C-0B76-E292-20BEAD412078}"/>
                </a:ext>
              </a:extLst>
            </p:cNvPr>
            <p:cNvSpPr txBox="1">
              <a:spLocks noChangeArrowheads="1"/>
            </p:cNvSpPr>
            <p:nvPr/>
          </p:nvSpPr>
          <p:spPr bwMode="auto">
            <a:xfrm>
              <a:off x="264" y="1900"/>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C</a:t>
              </a:r>
            </a:p>
          </p:txBody>
        </p:sp>
        <p:sp>
          <p:nvSpPr>
            <p:cNvPr id="127034" name="Text Box 34">
              <a:extLst>
                <a:ext uri="{FF2B5EF4-FFF2-40B4-BE49-F238E27FC236}">
                  <a16:creationId xmlns:a16="http://schemas.microsoft.com/office/drawing/2014/main" id="{9CA3461A-7C71-7F78-D2D1-A1E205FCF4D3}"/>
                </a:ext>
              </a:extLst>
            </p:cNvPr>
            <p:cNvSpPr txBox="1">
              <a:spLocks noChangeArrowheads="1"/>
            </p:cNvSpPr>
            <p:nvPr/>
          </p:nvSpPr>
          <p:spPr bwMode="auto">
            <a:xfrm>
              <a:off x="1897" y="1751"/>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Z1</a:t>
              </a:r>
            </a:p>
          </p:txBody>
        </p:sp>
        <p:sp>
          <p:nvSpPr>
            <p:cNvPr id="127035" name="Line 37">
              <a:extLst>
                <a:ext uri="{FF2B5EF4-FFF2-40B4-BE49-F238E27FC236}">
                  <a16:creationId xmlns:a16="http://schemas.microsoft.com/office/drawing/2014/main" id="{6EF64C74-436E-8995-914E-A927271A1A93}"/>
                </a:ext>
              </a:extLst>
            </p:cNvPr>
            <p:cNvSpPr>
              <a:spLocks noChangeShapeType="1"/>
            </p:cNvSpPr>
            <p:nvPr/>
          </p:nvSpPr>
          <p:spPr bwMode="auto">
            <a:xfrm>
              <a:off x="864" y="2340"/>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36" name="Line 38">
              <a:extLst>
                <a:ext uri="{FF2B5EF4-FFF2-40B4-BE49-F238E27FC236}">
                  <a16:creationId xmlns:a16="http://schemas.microsoft.com/office/drawing/2014/main" id="{2A22ACEC-97C5-DAAE-508E-030E5CAF0312}"/>
                </a:ext>
              </a:extLst>
            </p:cNvPr>
            <p:cNvSpPr>
              <a:spLocks noChangeShapeType="1"/>
            </p:cNvSpPr>
            <p:nvPr/>
          </p:nvSpPr>
          <p:spPr bwMode="auto">
            <a:xfrm>
              <a:off x="864" y="2538"/>
              <a:ext cx="69"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37" name="Line 39">
              <a:extLst>
                <a:ext uri="{FF2B5EF4-FFF2-40B4-BE49-F238E27FC236}">
                  <a16:creationId xmlns:a16="http://schemas.microsoft.com/office/drawing/2014/main" id="{216E0EA4-4F33-7EB0-0B60-47AA0672F732}"/>
                </a:ext>
              </a:extLst>
            </p:cNvPr>
            <p:cNvSpPr>
              <a:spLocks noChangeShapeType="1"/>
            </p:cNvSpPr>
            <p:nvPr/>
          </p:nvSpPr>
          <p:spPr bwMode="auto">
            <a:xfrm rot="-5400000">
              <a:off x="863" y="2611"/>
              <a:ext cx="71" cy="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38" name="Line 40">
              <a:extLst>
                <a:ext uri="{FF2B5EF4-FFF2-40B4-BE49-F238E27FC236}">
                  <a16:creationId xmlns:a16="http://schemas.microsoft.com/office/drawing/2014/main" id="{A747B3F2-FABF-A5ED-5F97-C1B2DEC0B178}"/>
                </a:ext>
              </a:extLst>
            </p:cNvPr>
            <p:cNvSpPr>
              <a:spLocks noChangeShapeType="1"/>
            </p:cNvSpPr>
            <p:nvPr/>
          </p:nvSpPr>
          <p:spPr bwMode="auto">
            <a:xfrm>
              <a:off x="864" y="2680"/>
              <a:ext cx="0" cy="2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39" name="Line 41">
              <a:extLst>
                <a:ext uri="{FF2B5EF4-FFF2-40B4-BE49-F238E27FC236}">
                  <a16:creationId xmlns:a16="http://schemas.microsoft.com/office/drawing/2014/main" id="{626CC0F7-827B-925C-6087-6FDC73FA11A4}"/>
                </a:ext>
              </a:extLst>
            </p:cNvPr>
            <p:cNvSpPr>
              <a:spLocks noChangeShapeType="1"/>
            </p:cNvSpPr>
            <p:nvPr/>
          </p:nvSpPr>
          <p:spPr bwMode="auto">
            <a:xfrm>
              <a:off x="1157" y="2491"/>
              <a:ext cx="0" cy="2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0" name="Line 42">
              <a:extLst>
                <a:ext uri="{FF2B5EF4-FFF2-40B4-BE49-F238E27FC236}">
                  <a16:creationId xmlns:a16="http://schemas.microsoft.com/office/drawing/2014/main" id="{149FF9D3-8D2C-31BC-7F56-025862D54FDE}"/>
                </a:ext>
              </a:extLst>
            </p:cNvPr>
            <p:cNvSpPr>
              <a:spLocks noChangeShapeType="1"/>
            </p:cNvSpPr>
            <p:nvPr/>
          </p:nvSpPr>
          <p:spPr bwMode="auto">
            <a:xfrm>
              <a:off x="871" y="2340"/>
              <a:ext cx="293" cy="1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1" name="Line 43">
              <a:extLst>
                <a:ext uri="{FF2B5EF4-FFF2-40B4-BE49-F238E27FC236}">
                  <a16:creationId xmlns:a16="http://schemas.microsoft.com/office/drawing/2014/main" id="{52B9BF84-EAAC-FE07-FB2A-5098E3315C27}"/>
                </a:ext>
              </a:extLst>
            </p:cNvPr>
            <p:cNvSpPr>
              <a:spLocks noChangeShapeType="1"/>
            </p:cNvSpPr>
            <p:nvPr/>
          </p:nvSpPr>
          <p:spPr bwMode="auto">
            <a:xfrm flipV="1">
              <a:off x="863" y="2771"/>
              <a:ext cx="286" cy="1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2" name="Text Box 44">
              <a:extLst>
                <a:ext uri="{FF2B5EF4-FFF2-40B4-BE49-F238E27FC236}">
                  <a16:creationId xmlns:a16="http://schemas.microsoft.com/office/drawing/2014/main" id="{C5D7D53C-FFD2-C4D0-B3F0-3F2A5F078110}"/>
                </a:ext>
              </a:extLst>
            </p:cNvPr>
            <p:cNvSpPr txBox="1">
              <a:spLocks noChangeArrowheads="1"/>
            </p:cNvSpPr>
            <p:nvPr/>
          </p:nvSpPr>
          <p:spPr bwMode="auto">
            <a:xfrm>
              <a:off x="908" y="2498"/>
              <a:ext cx="25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sp>
          <p:nvSpPr>
            <p:cNvPr id="127043" name="Line 46">
              <a:extLst>
                <a:ext uri="{FF2B5EF4-FFF2-40B4-BE49-F238E27FC236}">
                  <a16:creationId xmlns:a16="http://schemas.microsoft.com/office/drawing/2014/main" id="{36F04D5F-E1AE-2B44-1174-4DA5403538B3}"/>
                </a:ext>
              </a:extLst>
            </p:cNvPr>
            <p:cNvSpPr>
              <a:spLocks noChangeShapeType="1"/>
            </p:cNvSpPr>
            <p:nvPr/>
          </p:nvSpPr>
          <p:spPr bwMode="auto">
            <a:xfrm>
              <a:off x="1406" y="2548"/>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4" name="Line 47">
              <a:extLst>
                <a:ext uri="{FF2B5EF4-FFF2-40B4-BE49-F238E27FC236}">
                  <a16:creationId xmlns:a16="http://schemas.microsoft.com/office/drawing/2014/main" id="{34EB2513-14AB-9995-A856-4251499C7578}"/>
                </a:ext>
              </a:extLst>
            </p:cNvPr>
            <p:cNvSpPr>
              <a:spLocks noChangeShapeType="1"/>
            </p:cNvSpPr>
            <p:nvPr/>
          </p:nvSpPr>
          <p:spPr bwMode="auto">
            <a:xfrm>
              <a:off x="1406" y="2746"/>
              <a:ext cx="69" cy="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5" name="Line 48">
              <a:extLst>
                <a:ext uri="{FF2B5EF4-FFF2-40B4-BE49-F238E27FC236}">
                  <a16:creationId xmlns:a16="http://schemas.microsoft.com/office/drawing/2014/main" id="{9C70CA7D-E603-F641-6DA4-8F73722673E6}"/>
                </a:ext>
              </a:extLst>
            </p:cNvPr>
            <p:cNvSpPr>
              <a:spLocks noChangeShapeType="1"/>
            </p:cNvSpPr>
            <p:nvPr/>
          </p:nvSpPr>
          <p:spPr bwMode="auto">
            <a:xfrm rot="-5400000">
              <a:off x="1405" y="2819"/>
              <a:ext cx="71" cy="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6" name="Line 49">
              <a:extLst>
                <a:ext uri="{FF2B5EF4-FFF2-40B4-BE49-F238E27FC236}">
                  <a16:creationId xmlns:a16="http://schemas.microsoft.com/office/drawing/2014/main" id="{20157482-F5B7-548F-53B2-1AA599919471}"/>
                </a:ext>
              </a:extLst>
            </p:cNvPr>
            <p:cNvSpPr>
              <a:spLocks noChangeShapeType="1"/>
            </p:cNvSpPr>
            <p:nvPr/>
          </p:nvSpPr>
          <p:spPr bwMode="auto">
            <a:xfrm>
              <a:off x="1406" y="2888"/>
              <a:ext cx="0"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7" name="Line 50">
              <a:extLst>
                <a:ext uri="{FF2B5EF4-FFF2-40B4-BE49-F238E27FC236}">
                  <a16:creationId xmlns:a16="http://schemas.microsoft.com/office/drawing/2014/main" id="{969498F3-1C59-1F0B-CF76-501440563572}"/>
                </a:ext>
              </a:extLst>
            </p:cNvPr>
            <p:cNvSpPr>
              <a:spLocks noChangeShapeType="1"/>
            </p:cNvSpPr>
            <p:nvPr/>
          </p:nvSpPr>
          <p:spPr bwMode="auto">
            <a:xfrm>
              <a:off x="1699" y="2699"/>
              <a:ext cx="0" cy="2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8" name="Line 51">
              <a:extLst>
                <a:ext uri="{FF2B5EF4-FFF2-40B4-BE49-F238E27FC236}">
                  <a16:creationId xmlns:a16="http://schemas.microsoft.com/office/drawing/2014/main" id="{AB413B23-17DE-E871-2955-BDF8D3D0B375}"/>
                </a:ext>
              </a:extLst>
            </p:cNvPr>
            <p:cNvSpPr>
              <a:spLocks noChangeShapeType="1"/>
            </p:cNvSpPr>
            <p:nvPr/>
          </p:nvSpPr>
          <p:spPr bwMode="auto">
            <a:xfrm>
              <a:off x="1413" y="2548"/>
              <a:ext cx="293" cy="1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49" name="Line 52">
              <a:extLst>
                <a:ext uri="{FF2B5EF4-FFF2-40B4-BE49-F238E27FC236}">
                  <a16:creationId xmlns:a16="http://schemas.microsoft.com/office/drawing/2014/main" id="{C0286543-BDDC-31A8-A0F8-CCF405103CAA}"/>
                </a:ext>
              </a:extLst>
            </p:cNvPr>
            <p:cNvSpPr>
              <a:spLocks noChangeShapeType="1"/>
            </p:cNvSpPr>
            <p:nvPr/>
          </p:nvSpPr>
          <p:spPr bwMode="auto">
            <a:xfrm flipV="1">
              <a:off x="1405" y="2978"/>
              <a:ext cx="286" cy="1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50" name="Text Box 53">
              <a:extLst>
                <a:ext uri="{FF2B5EF4-FFF2-40B4-BE49-F238E27FC236}">
                  <a16:creationId xmlns:a16="http://schemas.microsoft.com/office/drawing/2014/main" id="{563D53D3-964D-5454-8299-790E4FFA8B95}"/>
                </a:ext>
              </a:extLst>
            </p:cNvPr>
            <p:cNvSpPr txBox="1">
              <a:spLocks noChangeArrowheads="1"/>
            </p:cNvSpPr>
            <p:nvPr/>
          </p:nvSpPr>
          <p:spPr bwMode="auto">
            <a:xfrm>
              <a:off x="1450" y="2705"/>
              <a:ext cx="25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sp>
          <p:nvSpPr>
            <p:cNvPr id="127051" name="Line 54">
              <a:extLst>
                <a:ext uri="{FF2B5EF4-FFF2-40B4-BE49-F238E27FC236}">
                  <a16:creationId xmlns:a16="http://schemas.microsoft.com/office/drawing/2014/main" id="{58AD7228-24B0-B915-FC4D-106D18843DFD}"/>
                </a:ext>
              </a:extLst>
            </p:cNvPr>
            <p:cNvSpPr>
              <a:spLocks noChangeShapeType="1"/>
            </p:cNvSpPr>
            <p:nvPr/>
          </p:nvSpPr>
          <p:spPr bwMode="auto">
            <a:xfrm>
              <a:off x="1164" y="2622"/>
              <a:ext cx="2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52" name="Line 55">
              <a:extLst>
                <a:ext uri="{FF2B5EF4-FFF2-40B4-BE49-F238E27FC236}">
                  <a16:creationId xmlns:a16="http://schemas.microsoft.com/office/drawing/2014/main" id="{FB412725-9F0D-F4DA-87B8-1ACF05763568}"/>
                </a:ext>
              </a:extLst>
            </p:cNvPr>
            <p:cNvSpPr>
              <a:spLocks noChangeShapeType="1"/>
            </p:cNvSpPr>
            <p:nvPr/>
          </p:nvSpPr>
          <p:spPr bwMode="auto">
            <a:xfrm>
              <a:off x="630" y="3003"/>
              <a:ext cx="7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53" name="Line 56">
              <a:extLst>
                <a:ext uri="{FF2B5EF4-FFF2-40B4-BE49-F238E27FC236}">
                  <a16:creationId xmlns:a16="http://schemas.microsoft.com/office/drawing/2014/main" id="{30A82DB6-EE70-FD07-ADF3-D1D04EB9F890}"/>
                </a:ext>
              </a:extLst>
            </p:cNvPr>
            <p:cNvSpPr>
              <a:spLocks noChangeShapeType="1"/>
            </p:cNvSpPr>
            <p:nvPr/>
          </p:nvSpPr>
          <p:spPr bwMode="auto">
            <a:xfrm>
              <a:off x="733" y="2431"/>
              <a:ext cx="14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54" name="Line 57">
              <a:extLst>
                <a:ext uri="{FF2B5EF4-FFF2-40B4-BE49-F238E27FC236}">
                  <a16:creationId xmlns:a16="http://schemas.microsoft.com/office/drawing/2014/main" id="{137CA74A-B54E-DC5D-0425-6CD48F85A0FF}"/>
                </a:ext>
              </a:extLst>
            </p:cNvPr>
            <p:cNvSpPr>
              <a:spLocks noChangeShapeType="1"/>
            </p:cNvSpPr>
            <p:nvPr/>
          </p:nvSpPr>
          <p:spPr bwMode="auto">
            <a:xfrm>
              <a:off x="493" y="2772"/>
              <a:ext cx="3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55" name="Line 58">
              <a:extLst>
                <a:ext uri="{FF2B5EF4-FFF2-40B4-BE49-F238E27FC236}">
                  <a16:creationId xmlns:a16="http://schemas.microsoft.com/office/drawing/2014/main" id="{18C0D89F-8D33-6854-5198-4937EDFC34CC}"/>
                </a:ext>
              </a:extLst>
            </p:cNvPr>
            <p:cNvSpPr>
              <a:spLocks noChangeShapeType="1"/>
            </p:cNvSpPr>
            <p:nvPr/>
          </p:nvSpPr>
          <p:spPr bwMode="auto">
            <a:xfrm>
              <a:off x="1706" y="2830"/>
              <a:ext cx="2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56" name="Text Box 60">
              <a:extLst>
                <a:ext uri="{FF2B5EF4-FFF2-40B4-BE49-F238E27FC236}">
                  <a16:creationId xmlns:a16="http://schemas.microsoft.com/office/drawing/2014/main" id="{5CE85631-98E8-D316-7E9A-214466125C1E}"/>
                </a:ext>
              </a:extLst>
            </p:cNvPr>
            <p:cNvSpPr txBox="1">
              <a:spLocks noChangeArrowheads="1"/>
            </p:cNvSpPr>
            <p:nvPr/>
          </p:nvSpPr>
          <p:spPr bwMode="auto">
            <a:xfrm>
              <a:off x="268" y="2639"/>
              <a:ext cx="367"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D</a:t>
              </a:r>
            </a:p>
          </p:txBody>
        </p:sp>
        <p:sp>
          <p:nvSpPr>
            <p:cNvPr id="127057" name="Text Box 62">
              <a:extLst>
                <a:ext uri="{FF2B5EF4-FFF2-40B4-BE49-F238E27FC236}">
                  <a16:creationId xmlns:a16="http://schemas.microsoft.com/office/drawing/2014/main" id="{CA94B561-1D31-AF17-68C2-D47AEF531B76}"/>
                </a:ext>
              </a:extLst>
            </p:cNvPr>
            <p:cNvSpPr txBox="1">
              <a:spLocks noChangeArrowheads="1"/>
            </p:cNvSpPr>
            <p:nvPr/>
          </p:nvSpPr>
          <p:spPr bwMode="auto">
            <a:xfrm>
              <a:off x="1926" y="2714"/>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Z2</a:t>
              </a:r>
            </a:p>
          </p:txBody>
        </p:sp>
        <p:sp>
          <p:nvSpPr>
            <p:cNvPr id="127058" name="Line 63">
              <a:extLst>
                <a:ext uri="{FF2B5EF4-FFF2-40B4-BE49-F238E27FC236}">
                  <a16:creationId xmlns:a16="http://schemas.microsoft.com/office/drawing/2014/main" id="{8F35668C-A0E8-9396-B7E2-811FDBB87460}"/>
                </a:ext>
              </a:extLst>
            </p:cNvPr>
            <p:cNvSpPr>
              <a:spLocks noChangeShapeType="1"/>
            </p:cNvSpPr>
            <p:nvPr/>
          </p:nvSpPr>
          <p:spPr bwMode="auto">
            <a:xfrm>
              <a:off x="728" y="2016"/>
              <a:ext cx="0" cy="415"/>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27059" name="Line 64">
              <a:extLst>
                <a:ext uri="{FF2B5EF4-FFF2-40B4-BE49-F238E27FC236}">
                  <a16:creationId xmlns:a16="http://schemas.microsoft.com/office/drawing/2014/main" id="{E653FFFF-825D-C0C8-0B1A-AE1F515CA0AD}"/>
                </a:ext>
              </a:extLst>
            </p:cNvPr>
            <p:cNvSpPr>
              <a:spLocks noChangeShapeType="1"/>
            </p:cNvSpPr>
            <p:nvPr/>
          </p:nvSpPr>
          <p:spPr bwMode="auto">
            <a:xfrm>
              <a:off x="624" y="1808"/>
              <a:ext cx="0" cy="1197"/>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grpSp>
      <p:grpSp>
        <p:nvGrpSpPr>
          <p:cNvPr id="126981" name="Group 156">
            <a:extLst>
              <a:ext uri="{FF2B5EF4-FFF2-40B4-BE49-F238E27FC236}">
                <a16:creationId xmlns:a16="http://schemas.microsoft.com/office/drawing/2014/main" id="{A2809C17-B8CA-EC6B-07BF-0B2EA805274A}"/>
              </a:ext>
            </a:extLst>
          </p:cNvPr>
          <p:cNvGrpSpPr>
            <a:grpSpLocks/>
          </p:cNvGrpSpPr>
          <p:nvPr/>
        </p:nvGrpSpPr>
        <p:grpSpPr bwMode="auto">
          <a:xfrm>
            <a:off x="6350001" y="2733675"/>
            <a:ext cx="3019425" cy="2027238"/>
            <a:chOff x="3191" y="1391"/>
            <a:chExt cx="1971" cy="1506"/>
          </a:xfrm>
        </p:grpSpPr>
        <p:grpSp>
          <p:nvGrpSpPr>
            <p:cNvPr id="126982" name="Group 114">
              <a:extLst>
                <a:ext uri="{FF2B5EF4-FFF2-40B4-BE49-F238E27FC236}">
                  <a16:creationId xmlns:a16="http://schemas.microsoft.com/office/drawing/2014/main" id="{10DF235C-2703-BAE4-9500-B62CB64C0441}"/>
                </a:ext>
              </a:extLst>
            </p:cNvPr>
            <p:cNvGrpSpPr>
              <a:grpSpLocks/>
            </p:cNvGrpSpPr>
            <p:nvPr/>
          </p:nvGrpSpPr>
          <p:grpSpPr bwMode="auto">
            <a:xfrm>
              <a:off x="3730" y="1424"/>
              <a:ext cx="301" cy="546"/>
              <a:chOff x="834" y="1377"/>
              <a:chExt cx="301" cy="546"/>
            </a:xfrm>
          </p:grpSpPr>
          <p:sp>
            <p:nvSpPr>
              <p:cNvPr id="127016" name="Line 115">
                <a:extLst>
                  <a:ext uri="{FF2B5EF4-FFF2-40B4-BE49-F238E27FC236}">
                    <a16:creationId xmlns:a16="http://schemas.microsoft.com/office/drawing/2014/main" id="{116EF832-51D8-395E-85DD-43F712C1CB83}"/>
                  </a:ext>
                </a:extLst>
              </p:cNvPr>
              <p:cNvSpPr>
                <a:spLocks noChangeShapeType="1"/>
              </p:cNvSpPr>
              <p:nvPr/>
            </p:nvSpPr>
            <p:spPr bwMode="auto">
              <a:xfrm>
                <a:off x="835" y="1377"/>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7" name="Line 116">
                <a:extLst>
                  <a:ext uri="{FF2B5EF4-FFF2-40B4-BE49-F238E27FC236}">
                    <a16:creationId xmlns:a16="http://schemas.microsoft.com/office/drawing/2014/main" id="{92DFEA8E-73B9-3F89-B250-714B58C9CC5F}"/>
                  </a:ext>
                </a:extLst>
              </p:cNvPr>
              <p:cNvSpPr>
                <a:spLocks noChangeShapeType="1"/>
              </p:cNvSpPr>
              <p:nvPr/>
            </p:nvSpPr>
            <p:spPr bwMode="auto">
              <a:xfrm>
                <a:off x="835" y="1575"/>
                <a:ext cx="69"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8" name="Line 117">
                <a:extLst>
                  <a:ext uri="{FF2B5EF4-FFF2-40B4-BE49-F238E27FC236}">
                    <a16:creationId xmlns:a16="http://schemas.microsoft.com/office/drawing/2014/main" id="{3603A506-9BDB-D03B-91AE-D86522C0A329}"/>
                  </a:ext>
                </a:extLst>
              </p:cNvPr>
              <p:cNvSpPr>
                <a:spLocks noChangeShapeType="1"/>
              </p:cNvSpPr>
              <p:nvPr/>
            </p:nvSpPr>
            <p:spPr bwMode="auto">
              <a:xfrm rot="-5400000">
                <a:off x="834" y="1648"/>
                <a:ext cx="71" cy="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9" name="Line 118">
                <a:extLst>
                  <a:ext uri="{FF2B5EF4-FFF2-40B4-BE49-F238E27FC236}">
                    <a16:creationId xmlns:a16="http://schemas.microsoft.com/office/drawing/2014/main" id="{C9E97AEF-2B80-2196-310E-596202E9141A}"/>
                  </a:ext>
                </a:extLst>
              </p:cNvPr>
              <p:cNvSpPr>
                <a:spLocks noChangeShapeType="1"/>
              </p:cNvSpPr>
              <p:nvPr/>
            </p:nvSpPr>
            <p:spPr bwMode="auto">
              <a:xfrm>
                <a:off x="835" y="1717"/>
                <a:ext cx="0" cy="2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0" name="Line 119">
                <a:extLst>
                  <a:ext uri="{FF2B5EF4-FFF2-40B4-BE49-F238E27FC236}">
                    <a16:creationId xmlns:a16="http://schemas.microsoft.com/office/drawing/2014/main" id="{D1106898-B4B1-FDD0-580E-79E9F76ED9B1}"/>
                  </a:ext>
                </a:extLst>
              </p:cNvPr>
              <p:cNvSpPr>
                <a:spLocks noChangeShapeType="1"/>
              </p:cNvSpPr>
              <p:nvPr/>
            </p:nvSpPr>
            <p:spPr bwMode="auto">
              <a:xfrm>
                <a:off x="1128" y="1528"/>
                <a:ext cx="0" cy="2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1" name="Line 120">
                <a:extLst>
                  <a:ext uri="{FF2B5EF4-FFF2-40B4-BE49-F238E27FC236}">
                    <a16:creationId xmlns:a16="http://schemas.microsoft.com/office/drawing/2014/main" id="{C9467C12-3613-2E85-AFE2-95EC57E5B28C}"/>
                  </a:ext>
                </a:extLst>
              </p:cNvPr>
              <p:cNvSpPr>
                <a:spLocks noChangeShapeType="1"/>
              </p:cNvSpPr>
              <p:nvPr/>
            </p:nvSpPr>
            <p:spPr bwMode="auto">
              <a:xfrm>
                <a:off x="842" y="1377"/>
                <a:ext cx="293" cy="1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2" name="Line 121">
                <a:extLst>
                  <a:ext uri="{FF2B5EF4-FFF2-40B4-BE49-F238E27FC236}">
                    <a16:creationId xmlns:a16="http://schemas.microsoft.com/office/drawing/2014/main" id="{0D0CF8E1-E76E-ECFC-BFF7-203D781BB386}"/>
                  </a:ext>
                </a:extLst>
              </p:cNvPr>
              <p:cNvSpPr>
                <a:spLocks noChangeShapeType="1"/>
              </p:cNvSpPr>
              <p:nvPr/>
            </p:nvSpPr>
            <p:spPr bwMode="auto">
              <a:xfrm flipV="1">
                <a:off x="834" y="1808"/>
                <a:ext cx="286" cy="1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3" name="Text Box 122">
                <a:extLst>
                  <a:ext uri="{FF2B5EF4-FFF2-40B4-BE49-F238E27FC236}">
                    <a16:creationId xmlns:a16="http://schemas.microsoft.com/office/drawing/2014/main" id="{DF0196BB-530F-D8D2-6F2A-03884BCE478F}"/>
                  </a:ext>
                </a:extLst>
              </p:cNvPr>
              <p:cNvSpPr txBox="1">
                <a:spLocks noChangeArrowheads="1"/>
              </p:cNvSpPr>
              <p:nvPr/>
            </p:nvSpPr>
            <p:spPr bwMode="auto">
              <a:xfrm>
                <a:off x="879" y="1535"/>
                <a:ext cx="25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grpSp>
        <p:grpSp>
          <p:nvGrpSpPr>
            <p:cNvPr id="126983" name="Group 123">
              <a:extLst>
                <a:ext uri="{FF2B5EF4-FFF2-40B4-BE49-F238E27FC236}">
                  <a16:creationId xmlns:a16="http://schemas.microsoft.com/office/drawing/2014/main" id="{70BF6D9E-31DC-A05B-7658-97F8C672CB27}"/>
                </a:ext>
              </a:extLst>
            </p:cNvPr>
            <p:cNvGrpSpPr>
              <a:grpSpLocks/>
            </p:cNvGrpSpPr>
            <p:nvPr/>
          </p:nvGrpSpPr>
          <p:grpSpPr bwMode="auto">
            <a:xfrm>
              <a:off x="4272" y="1632"/>
              <a:ext cx="301" cy="544"/>
              <a:chOff x="1376" y="1585"/>
              <a:chExt cx="301" cy="544"/>
            </a:xfrm>
          </p:grpSpPr>
          <p:sp>
            <p:nvSpPr>
              <p:cNvPr id="127008" name="Line 124">
                <a:extLst>
                  <a:ext uri="{FF2B5EF4-FFF2-40B4-BE49-F238E27FC236}">
                    <a16:creationId xmlns:a16="http://schemas.microsoft.com/office/drawing/2014/main" id="{2AAC86C7-CCC9-D613-3E2B-6EC6FF64CC0A}"/>
                  </a:ext>
                </a:extLst>
              </p:cNvPr>
              <p:cNvSpPr>
                <a:spLocks noChangeShapeType="1"/>
              </p:cNvSpPr>
              <p:nvPr/>
            </p:nvSpPr>
            <p:spPr bwMode="auto">
              <a:xfrm>
                <a:off x="1377" y="1585"/>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09" name="Line 125">
                <a:extLst>
                  <a:ext uri="{FF2B5EF4-FFF2-40B4-BE49-F238E27FC236}">
                    <a16:creationId xmlns:a16="http://schemas.microsoft.com/office/drawing/2014/main" id="{7EF5116C-DE2D-690E-B62F-32AB1EEE185C}"/>
                  </a:ext>
                </a:extLst>
              </p:cNvPr>
              <p:cNvSpPr>
                <a:spLocks noChangeShapeType="1"/>
              </p:cNvSpPr>
              <p:nvPr/>
            </p:nvSpPr>
            <p:spPr bwMode="auto">
              <a:xfrm>
                <a:off x="1377" y="1783"/>
                <a:ext cx="69" cy="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0" name="Line 126">
                <a:extLst>
                  <a:ext uri="{FF2B5EF4-FFF2-40B4-BE49-F238E27FC236}">
                    <a16:creationId xmlns:a16="http://schemas.microsoft.com/office/drawing/2014/main" id="{7845D3DC-FD64-8EA1-23EE-ABF67F65C3AE}"/>
                  </a:ext>
                </a:extLst>
              </p:cNvPr>
              <p:cNvSpPr>
                <a:spLocks noChangeShapeType="1"/>
              </p:cNvSpPr>
              <p:nvPr/>
            </p:nvSpPr>
            <p:spPr bwMode="auto">
              <a:xfrm rot="-5400000">
                <a:off x="1376" y="1856"/>
                <a:ext cx="71" cy="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1" name="Line 127">
                <a:extLst>
                  <a:ext uri="{FF2B5EF4-FFF2-40B4-BE49-F238E27FC236}">
                    <a16:creationId xmlns:a16="http://schemas.microsoft.com/office/drawing/2014/main" id="{0D23A338-462D-DF90-383E-65E713BF8903}"/>
                  </a:ext>
                </a:extLst>
              </p:cNvPr>
              <p:cNvSpPr>
                <a:spLocks noChangeShapeType="1"/>
              </p:cNvSpPr>
              <p:nvPr/>
            </p:nvSpPr>
            <p:spPr bwMode="auto">
              <a:xfrm>
                <a:off x="1377" y="1925"/>
                <a:ext cx="0"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2" name="Line 128">
                <a:extLst>
                  <a:ext uri="{FF2B5EF4-FFF2-40B4-BE49-F238E27FC236}">
                    <a16:creationId xmlns:a16="http://schemas.microsoft.com/office/drawing/2014/main" id="{E52AEE07-BC4F-ADFF-6ABA-2ACDB609C084}"/>
                  </a:ext>
                </a:extLst>
              </p:cNvPr>
              <p:cNvSpPr>
                <a:spLocks noChangeShapeType="1"/>
              </p:cNvSpPr>
              <p:nvPr/>
            </p:nvSpPr>
            <p:spPr bwMode="auto">
              <a:xfrm>
                <a:off x="1670" y="1736"/>
                <a:ext cx="0" cy="2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3" name="Line 129">
                <a:extLst>
                  <a:ext uri="{FF2B5EF4-FFF2-40B4-BE49-F238E27FC236}">
                    <a16:creationId xmlns:a16="http://schemas.microsoft.com/office/drawing/2014/main" id="{D5D9FD28-D9B3-7FD4-5A6F-13E440F4D09C}"/>
                  </a:ext>
                </a:extLst>
              </p:cNvPr>
              <p:cNvSpPr>
                <a:spLocks noChangeShapeType="1"/>
              </p:cNvSpPr>
              <p:nvPr/>
            </p:nvSpPr>
            <p:spPr bwMode="auto">
              <a:xfrm>
                <a:off x="1384" y="1585"/>
                <a:ext cx="293" cy="1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4" name="Line 130">
                <a:extLst>
                  <a:ext uri="{FF2B5EF4-FFF2-40B4-BE49-F238E27FC236}">
                    <a16:creationId xmlns:a16="http://schemas.microsoft.com/office/drawing/2014/main" id="{ED8B5C46-CB2D-0F95-7115-827FBD5B8CC6}"/>
                  </a:ext>
                </a:extLst>
              </p:cNvPr>
              <p:cNvSpPr>
                <a:spLocks noChangeShapeType="1"/>
              </p:cNvSpPr>
              <p:nvPr/>
            </p:nvSpPr>
            <p:spPr bwMode="auto">
              <a:xfrm flipV="1">
                <a:off x="1376" y="2015"/>
                <a:ext cx="286" cy="1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5" name="Text Box 131">
                <a:extLst>
                  <a:ext uri="{FF2B5EF4-FFF2-40B4-BE49-F238E27FC236}">
                    <a16:creationId xmlns:a16="http://schemas.microsoft.com/office/drawing/2014/main" id="{849A1EDC-559C-0508-A71A-13F3DDCB4BD9}"/>
                  </a:ext>
                </a:extLst>
              </p:cNvPr>
              <p:cNvSpPr txBox="1">
                <a:spLocks noChangeArrowheads="1"/>
              </p:cNvSpPr>
              <p:nvPr/>
            </p:nvSpPr>
            <p:spPr bwMode="auto">
              <a:xfrm>
                <a:off x="1421" y="1742"/>
                <a:ext cx="25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grpSp>
        <p:sp>
          <p:nvSpPr>
            <p:cNvPr id="126984" name="Line 132">
              <a:extLst>
                <a:ext uri="{FF2B5EF4-FFF2-40B4-BE49-F238E27FC236}">
                  <a16:creationId xmlns:a16="http://schemas.microsoft.com/office/drawing/2014/main" id="{E3167E95-41F8-3416-F05A-045A57457959}"/>
                </a:ext>
              </a:extLst>
            </p:cNvPr>
            <p:cNvSpPr>
              <a:spLocks noChangeShapeType="1"/>
            </p:cNvSpPr>
            <p:nvPr/>
          </p:nvSpPr>
          <p:spPr bwMode="auto">
            <a:xfrm>
              <a:off x="4031" y="1706"/>
              <a:ext cx="2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85" name="Line 133">
              <a:extLst>
                <a:ext uri="{FF2B5EF4-FFF2-40B4-BE49-F238E27FC236}">
                  <a16:creationId xmlns:a16="http://schemas.microsoft.com/office/drawing/2014/main" id="{60FF6CF6-3E6E-DED6-C2BD-365EBCBCCEC4}"/>
                </a:ext>
              </a:extLst>
            </p:cNvPr>
            <p:cNvSpPr>
              <a:spLocks noChangeShapeType="1"/>
            </p:cNvSpPr>
            <p:nvPr/>
          </p:nvSpPr>
          <p:spPr bwMode="auto">
            <a:xfrm>
              <a:off x="3401" y="2063"/>
              <a:ext cx="86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86" name="Line 134">
              <a:extLst>
                <a:ext uri="{FF2B5EF4-FFF2-40B4-BE49-F238E27FC236}">
                  <a16:creationId xmlns:a16="http://schemas.microsoft.com/office/drawing/2014/main" id="{BA0259E5-91D1-5234-EF06-F232C685552A}"/>
                </a:ext>
              </a:extLst>
            </p:cNvPr>
            <p:cNvSpPr>
              <a:spLocks noChangeShapeType="1"/>
            </p:cNvSpPr>
            <p:nvPr/>
          </p:nvSpPr>
          <p:spPr bwMode="auto">
            <a:xfrm>
              <a:off x="3400" y="1515"/>
              <a:ext cx="32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87" name="Line 135">
              <a:extLst>
                <a:ext uri="{FF2B5EF4-FFF2-40B4-BE49-F238E27FC236}">
                  <a16:creationId xmlns:a16="http://schemas.microsoft.com/office/drawing/2014/main" id="{64FC41C7-32D8-CF87-CB6E-4CC56E2372F7}"/>
                </a:ext>
              </a:extLst>
            </p:cNvPr>
            <p:cNvSpPr>
              <a:spLocks noChangeShapeType="1"/>
            </p:cNvSpPr>
            <p:nvPr/>
          </p:nvSpPr>
          <p:spPr bwMode="auto">
            <a:xfrm>
              <a:off x="3400" y="1856"/>
              <a:ext cx="3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88" name="Line 136">
              <a:extLst>
                <a:ext uri="{FF2B5EF4-FFF2-40B4-BE49-F238E27FC236}">
                  <a16:creationId xmlns:a16="http://schemas.microsoft.com/office/drawing/2014/main" id="{5F3D5C88-BE1E-E5FD-3DEF-0C8B46BBC7A9}"/>
                </a:ext>
              </a:extLst>
            </p:cNvPr>
            <p:cNvSpPr>
              <a:spLocks noChangeShapeType="1"/>
            </p:cNvSpPr>
            <p:nvPr/>
          </p:nvSpPr>
          <p:spPr bwMode="auto">
            <a:xfrm>
              <a:off x="4573" y="1914"/>
              <a:ext cx="2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89" name="Text Box 137">
              <a:extLst>
                <a:ext uri="{FF2B5EF4-FFF2-40B4-BE49-F238E27FC236}">
                  <a16:creationId xmlns:a16="http://schemas.microsoft.com/office/drawing/2014/main" id="{585C9D9E-66F4-C720-8BF2-5E72D38E0981}"/>
                </a:ext>
              </a:extLst>
            </p:cNvPr>
            <p:cNvSpPr txBox="1">
              <a:spLocks noChangeArrowheads="1"/>
            </p:cNvSpPr>
            <p:nvPr/>
          </p:nvSpPr>
          <p:spPr bwMode="auto">
            <a:xfrm>
              <a:off x="3198" y="1391"/>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B</a:t>
              </a:r>
              <a:endParaRPr lang="ru-RU" altLang="en-US" sz="1600" b="1"/>
            </a:p>
          </p:txBody>
        </p:sp>
        <p:sp>
          <p:nvSpPr>
            <p:cNvPr id="126990" name="Text Box 138">
              <a:extLst>
                <a:ext uri="{FF2B5EF4-FFF2-40B4-BE49-F238E27FC236}">
                  <a16:creationId xmlns:a16="http://schemas.microsoft.com/office/drawing/2014/main" id="{F4915922-6F94-2342-AF81-53AEFB329070}"/>
                </a:ext>
              </a:extLst>
            </p:cNvPr>
            <p:cNvSpPr txBox="1">
              <a:spLocks noChangeArrowheads="1"/>
            </p:cNvSpPr>
            <p:nvPr/>
          </p:nvSpPr>
          <p:spPr bwMode="auto">
            <a:xfrm>
              <a:off x="3191" y="1723"/>
              <a:ext cx="28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C</a:t>
              </a:r>
              <a:endParaRPr lang="ru-RU" altLang="en-US" sz="1600" b="1"/>
            </a:p>
          </p:txBody>
        </p:sp>
        <p:sp>
          <p:nvSpPr>
            <p:cNvPr id="126991" name="Text Box 139">
              <a:extLst>
                <a:ext uri="{FF2B5EF4-FFF2-40B4-BE49-F238E27FC236}">
                  <a16:creationId xmlns:a16="http://schemas.microsoft.com/office/drawing/2014/main" id="{11FADA98-B99A-4DFF-2C71-6B57D0109EDF}"/>
                </a:ext>
              </a:extLst>
            </p:cNvPr>
            <p:cNvSpPr txBox="1">
              <a:spLocks noChangeArrowheads="1"/>
            </p:cNvSpPr>
            <p:nvPr/>
          </p:nvSpPr>
          <p:spPr bwMode="auto">
            <a:xfrm>
              <a:off x="3200" y="1947"/>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A</a:t>
              </a:r>
              <a:endParaRPr lang="ru-RU" altLang="en-US" sz="1600" b="1"/>
            </a:p>
          </p:txBody>
        </p:sp>
        <p:sp>
          <p:nvSpPr>
            <p:cNvPr id="126992" name="Text Box 140">
              <a:extLst>
                <a:ext uri="{FF2B5EF4-FFF2-40B4-BE49-F238E27FC236}">
                  <a16:creationId xmlns:a16="http://schemas.microsoft.com/office/drawing/2014/main" id="{CD5CF13E-47EC-2423-6C98-CB9C2FD288A9}"/>
                </a:ext>
              </a:extLst>
            </p:cNvPr>
            <p:cNvSpPr txBox="1">
              <a:spLocks noChangeArrowheads="1"/>
            </p:cNvSpPr>
            <p:nvPr/>
          </p:nvSpPr>
          <p:spPr bwMode="auto">
            <a:xfrm>
              <a:off x="4793" y="1798"/>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Z1</a:t>
              </a:r>
            </a:p>
          </p:txBody>
        </p:sp>
        <p:sp>
          <p:nvSpPr>
            <p:cNvPr id="126993" name="Line 141">
              <a:extLst>
                <a:ext uri="{FF2B5EF4-FFF2-40B4-BE49-F238E27FC236}">
                  <a16:creationId xmlns:a16="http://schemas.microsoft.com/office/drawing/2014/main" id="{CDB12928-2EB6-6462-4BD6-D5907520FF62}"/>
                </a:ext>
              </a:extLst>
            </p:cNvPr>
            <p:cNvSpPr>
              <a:spLocks noChangeShapeType="1"/>
            </p:cNvSpPr>
            <p:nvPr/>
          </p:nvSpPr>
          <p:spPr bwMode="auto">
            <a:xfrm>
              <a:off x="4276" y="2291"/>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94" name="Line 142">
              <a:extLst>
                <a:ext uri="{FF2B5EF4-FFF2-40B4-BE49-F238E27FC236}">
                  <a16:creationId xmlns:a16="http://schemas.microsoft.com/office/drawing/2014/main" id="{0E03D427-5706-F40B-7437-F736BA5E69DB}"/>
                </a:ext>
              </a:extLst>
            </p:cNvPr>
            <p:cNvSpPr>
              <a:spLocks noChangeShapeType="1"/>
            </p:cNvSpPr>
            <p:nvPr/>
          </p:nvSpPr>
          <p:spPr bwMode="auto">
            <a:xfrm>
              <a:off x="4276" y="2489"/>
              <a:ext cx="69" cy="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95" name="Line 143">
              <a:extLst>
                <a:ext uri="{FF2B5EF4-FFF2-40B4-BE49-F238E27FC236}">
                  <a16:creationId xmlns:a16="http://schemas.microsoft.com/office/drawing/2014/main" id="{DD4A491B-6245-7301-50AD-0929B428422D}"/>
                </a:ext>
              </a:extLst>
            </p:cNvPr>
            <p:cNvSpPr>
              <a:spLocks noChangeShapeType="1"/>
            </p:cNvSpPr>
            <p:nvPr/>
          </p:nvSpPr>
          <p:spPr bwMode="auto">
            <a:xfrm rot="-5400000">
              <a:off x="4275" y="2562"/>
              <a:ext cx="71" cy="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96" name="Line 144">
              <a:extLst>
                <a:ext uri="{FF2B5EF4-FFF2-40B4-BE49-F238E27FC236}">
                  <a16:creationId xmlns:a16="http://schemas.microsoft.com/office/drawing/2014/main" id="{0A398FFE-854E-124A-D377-313CAA82EF22}"/>
                </a:ext>
              </a:extLst>
            </p:cNvPr>
            <p:cNvSpPr>
              <a:spLocks noChangeShapeType="1"/>
            </p:cNvSpPr>
            <p:nvPr/>
          </p:nvSpPr>
          <p:spPr bwMode="auto">
            <a:xfrm>
              <a:off x="4276" y="2631"/>
              <a:ext cx="0"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97" name="Line 145">
              <a:extLst>
                <a:ext uri="{FF2B5EF4-FFF2-40B4-BE49-F238E27FC236}">
                  <a16:creationId xmlns:a16="http://schemas.microsoft.com/office/drawing/2014/main" id="{E420172A-6872-51E8-0C55-F4D56A18B13B}"/>
                </a:ext>
              </a:extLst>
            </p:cNvPr>
            <p:cNvSpPr>
              <a:spLocks noChangeShapeType="1"/>
            </p:cNvSpPr>
            <p:nvPr/>
          </p:nvSpPr>
          <p:spPr bwMode="auto">
            <a:xfrm>
              <a:off x="4569" y="2442"/>
              <a:ext cx="0" cy="2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98" name="Line 146">
              <a:extLst>
                <a:ext uri="{FF2B5EF4-FFF2-40B4-BE49-F238E27FC236}">
                  <a16:creationId xmlns:a16="http://schemas.microsoft.com/office/drawing/2014/main" id="{F62B98F6-68F3-AB58-C5BB-AA0A70EBFA1F}"/>
                </a:ext>
              </a:extLst>
            </p:cNvPr>
            <p:cNvSpPr>
              <a:spLocks noChangeShapeType="1"/>
            </p:cNvSpPr>
            <p:nvPr/>
          </p:nvSpPr>
          <p:spPr bwMode="auto">
            <a:xfrm>
              <a:off x="4283" y="2291"/>
              <a:ext cx="293" cy="1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99" name="Line 147">
              <a:extLst>
                <a:ext uri="{FF2B5EF4-FFF2-40B4-BE49-F238E27FC236}">
                  <a16:creationId xmlns:a16="http://schemas.microsoft.com/office/drawing/2014/main" id="{D585CCED-E028-96A3-107B-C77939BCCE16}"/>
                </a:ext>
              </a:extLst>
            </p:cNvPr>
            <p:cNvSpPr>
              <a:spLocks noChangeShapeType="1"/>
            </p:cNvSpPr>
            <p:nvPr/>
          </p:nvSpPr>
          <p:spPr bwMode="auto">
            <a:xfrm flipV="1">
              <a:off x="4275" y="2721"/>
              <a:ext cx="286" cy="1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00" name="Text Box 148">
              <a:extLst>
                <a:ext uri="{FF2B5EF4-FFF2-40B4-BE49-F238E27FC236}">
                  <a16:creationId xmlns:a16="http://schemas.microsoft.com/office/drawing/2014/main" id="{8FC47ADD-7A3C-7CCC-1F9F-64F79CE80647}"/>
                </a:ext>
              </a:extLst>
            </p:cNvPr>
            <p:cNvSpPr txBox="1">
              <a:spLocks noChangeArrowheads="1"/>
            </p:cNvSpPr>
            <p:nvPr/>
          </p:nvSpPr>
          <p:spPr bwMode="auto">
            <a:xfrm>
              <a:off x="4320" y="2448"/>
              <a:ext cx="25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a:t>
              </a:r>
            </a:p>
          </p:txBody>
        </p:sp>
        <p:sp>
          <p:nvSpPr>
            <p:cNvPr id="127001" name="Line 149">
              <a:extLst>
                <a:ext uri="{FF2B5EF4-FFF2-40B4-BE49-F238E27FC236}">
                  <a16:creationId xmlns:a16="http://schemas.microsoft.com/office/drawing/2014/main" id="{99402F8D-2038-AF94-A991-EE32201868A7}"/>
                </a:ext>
              </a:extLst>
            </p:cNvPr>
            <p:cNvSpPr>
              <a:spLocks noChangeShapeType="1"/>
            </p:cNvSpPr>
            <p:nvPr/>
          </p:nvSpPr>
          <p:spPr bwMode="auto">
            <a:xfrm>
              <a:off x="4576" y="2573"/>
              <a:ext cx="2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02" name="Text Box 150">
              <a:extLst>
                <a:ext uri="{FF2B5EF4-FFF2-40B4-BE49-F238E27FC236}">
                  <a16:creationId xmlns:a16="http://schemas.microsoft.com/office/drawing/2014/main" id="{255DE792-C699-5D37-6C6B-30381D618AAB}"/>
                </a:ext>
              </a:extLst>
            </p:cNvPr>
            <p:cNvSpPr txBox="1">
              <a:spLocks noChangeArrowheads="1"/>
            </p:cNvSpPr>
            <p:nvPr/>
          </p:nvSpPr>
          <p:spPr bwMode="auto">
            <a:xfrm>
              <a:off x="4796" y="2457"/>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Z2</a:t>
              </a:r>
            </a:p>
          </p:txBody>
        </p:sp>
        <p:sp>
          <p:nvSpPr>
            <p:cNvPr id="127003" name="Line 151">
              <a:extLst>
                <a:ext uri="{FF2B5EF4-FFF2-40B4-BE49-F238E27FC236}">
                  <a16:creationId xmlns:a16="http://schemas.microsoft.com/office/drawing/2014/main" id="{68780388-D756-A551-07B8-C44EE7B61169}"/>
                </a:ext>
              </a:extLst>
            </p:cNvPr>
            <p:cNvSpPr>
              <a:spLocks noChangeShapeType="1"/>
            </p:cNvSpPr>
            <p:nvPr/>
          </p:nvSpPr>
          <p:spPr bwMode="auto">
            <a:xfrm>
              <a:off x="4128" y="1704"/>
              <a:ext cx="0" cy="698"/>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27004" name="Line 152">
              <a:extLst>
                <a:ext uri="{FF2B5EF4-FFF2-40B4-BE49-F238E27FC236}">
                  <a16:creationId xmlns:a16="http://schemas.microsoft.com/office/drawing/2014/main" id="{B6C48555-0304-49B7-8A2B-0853B010D416}"/>
                </a:ext>
              </a:extLst>
            </p:cNvPr>
            <p:cNvSpPr>
              <a:spLocks noChangeShapeType="1"/>
            </p:cNvSpPr>
            <p:nvPr/>
          </p:nvSpPr>
          <p:spPr bwMode="auto">
            <a:xfrm>
              <a:off x="4128" y="240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05" name="Text Box 153">
              <a:extLst>
                <a:ext uri="{FF2B5EF4-FFF2-40B4-BE49-F238E27FC236}">
                  <a16:creationId xmlns:a16="http://schemas.microsoft.com/office/drawing/2014/main" id="{B4E97AEE-3FA6-6758-7DF1-97694B4D10F0}"/>
                </a:ext>
              </a:extLst>
            </p:cNvPr>
            <p:cNvSpPr txBox="1">
              <a:spLocks noChangeArrowheads="1"/>
            </p:cNvSpPr>
            <p:nvPr/>
          </p:nvSpPr>
          <p:spPr bwMode="auto">
            <a:xfrm>
              <a:off x="3240" y="2640"/>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D</a:t>
              </a:r>
              <a:endParaRPr lang="ru-RU" altLang="en-US" sz="1600" b="1"/>
            </a:p>
          </p:txBody>
        </p:sp>
        <p:sp>
          <p:nvSpPr>
            <p:cNvPr id="127006" name="Line 154">
              <a:extLst>
                <a:ext uri="{FF2B5EF4-FFF2-40B4-BE49-F238E27FC236}">
                  <a16:creationId xmlns:a16="http://schemas.microsoft.com/office/drawing/2014/main" id="{72C5A2D8-8041-EE40-F3BB-798341903819}"/>
                </a:ext>
              </a:extLst>
            </p:cNvPr>
            <p:cNvSpPr>
              <a:spLocks noChangeShapeType="1"/>
            </p:cNvSpPr>
            <p:nvPr/>
          </p:nvSpPr>
          <p:spPr bwMode="auto">
            <a:xfrm>
              <a:off x="3456" y="2736"/>
              <a:ext cx="8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07" name="Text Box 155">
              <a:extLst>
                <a:ext uri="{FF2B5EF4-FFF2-40B4-BE49-F238E27FC236}">
                  <a16:creationId xmlns:a16="http://schemas.microsoft.com/office/drawing/2014/main" id="{08845B42-28AB-70D6-142A-3F3D9C4F24DE}"/>
                </a:ext>
              </a:extLst>
            </p:cNvPr>
            <p:cNvSpPr txBox="1">
              <a:spLocks noChangeArrowheads="1"/>
            </p:cNvSpPr>
            <p:nvPr/>
          </p:nvSpPr>
          <p:spPr bwMode="auto">
            <a:xfrm>
              <a:off x="4024" y="1472"/>
              <a:ext cx="36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T</a:t>
              </a:r>
              <a:endParaRPr lang="ru-RU" altLang="en-US" sz="1600" b="1"/>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4">
            <a:extLst>
              <a:ext uri="{FF2B5EF4-FFF2-40B4-BE49-F238E27FC236}">
                <a16:creationId xmlns:a16="http://schemas.microsoft.com/office/drawing/2014/main" id="{F6D3934B-183F-82ED-9702-DC3DEEF8358D}"/>
              </a:ext>
            </a:extLst>
          </p:cNvPr>
          <p:cNvSpPr>
            <a:spLocks noGrp="1" noChangeArrowheads="1"/>
          </p:cNvSpPr>
          <p:nvPr>
            <p:ph type="title"/>
          </p:nvPr>
        </p:nvSpPr>
        <p:spPr/>
        <p:txBody>
          <a:bodyPr/>
          <a:lstStyle/>
          <a:p>
            <a:r>
              <a:rPr lang="ru-RU" altLang="en-US"/>
              <a:t>Implementation </a:t>
            </a:r>
            <a:r>
              <a:rPr lang="en-US" altLang="en-US"/>
              <a:t>S</a:t>
            </a:r>
            <a:r>
              <a:rPr lang="ru-RU" altLang="en-US"/>
              <a:t>election</a:t>
            </a:r>
          </a:p>
        </p:txBody>
      </p:sp>
      <p:sp>
        <p:nvSpPr>
          <p:cNvPr id="128003" name="Content Placeholder 3">
            <a:extLst>
              <a:ext uri="{FF2B5EF4-FFF2-40B4-BE49-F238E27FC236}">
                <a16:creationId xmlns:a16="http://schemas.microsoft.com/office/drawing/2014/main" id="{D54D492A-547F-AA32-367F-331A50A0A011}"/>
              </a:ext>
            </a:extLst>
          </p:cNvPr>
          <p:cNvSpPr>
            <a:spLocks noGrp="1" noChangeArrowheads="1"/>
          </p:cNvSpPr>
          <p:nvPr>
            <p:ph type="body" sz="quarter" idx="10"/>
          </p:nvPr>
        </p:nvSpPr>
        <p:spPr/>
        <p:txBody>
          <a:bodyPr/>
          <a:lstStyle/>
          <a:p>
            <a:r>
              <a:rPr lang="ru-RU" altLang="en-US"/>
              <a:t>Multiple implementations for arithmetic</a:t>
            </a:r>
            <a:r>
              <a:rPr lang="en-US" altLang="en-US"/>
              <a:t>  </a:t>
            </a:r>
            <a:r>
              <a:rPr lang="ru-RU" altLang="en-US"/>
              <a:t>operators, available in the Standard Library, allow DC to</a:t>
            </a:r>
            <a:r>
              <a:rPr lang="en-US" altLang="en-US"/>
              <a:t> </a:t>
            </a:r>
            <a:r>
              <a:rPr lang="ru-RU" altLang="en-US"/>
              <a:t>evaluate speed/area tradeoffs and choose the best – the</a:t>
            </a:r>
            <a:r>
              <a:rPr lang="en-US" altLang="en-US"/>
              <a:t> </a:t>
            </a:r>
            <a:r>
              <a:rPr lang="ru-RU" altLang="en-US"/>
              <a:t>smallest that meets timing</a:t>
            </a:r>
            <a:r>
              <a:rPr lang="en-US" altLang="en-US"/>
              <a:t>.</a:t>
            </a:r>
          </a:p>
          <a:p>
            <a:r>
              <a:rPr lang="ru-RU" altLang="en-US"/>
              <a:t>Examples are Carry-Look-Ahead adders, Ripple-Carry adders, Booth multipliers, and Wallace</a:t>
            </a:r>
            <a:r>
              <a:rPr lang="en-US" altLang="en-US"/>
              <a:t> </a:t>
            </a:r>
            <a:r>
              <a:rPr lang="ru-RU" altLang="en-US"/>
              <a:t>Tree multipliers.</a:t>
            </a:r>
            <a:endParaRPr lang="en-US" altLang="en-US"/>
          </a:p>
          <a:p>
            <a:r>
              <a:rPr lang="en-US" altLang="en-US"/>
              <a:t>E</a:t>
            </a:r>
            <a:r>
              <a:rPr lang="ru-RU" altLang="en-US"/>
              <a:t>ach implementation is then optimized</a:t>
            </a:r>
            <a:r>
              <a:rPr lang="en-US" altLang="en-US"/>
              <a:t> </a:t>
            </a:r>
            <a:r>
              <a:rPr lang="ru-RU" altLang="en-US"/>
              <a:t>for the target technology library</a:t>
            </a:r>
            <a:r>
              <a:rPr lang="en-US" altLang="en-US"/>
              <a:t>.</a:t>
            </a:r>
            <a:endParaRPr lang="ru-RU" altLang="en-US"/>
          </a:p>
          <a:p>
            <a:endParaRPr lang="ru-RU"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4">
            <a:extLst>
              <a:ext uri="{FF2B5EF4-FFF2-40B4-BE49-F238E27FC236}">
                <a16:creationId xmlns:a16="http://schemas.microsoft.com/office/drawing/2014/main" id="{28874234-C316-F3E3-6E7B-926CDC3AC6FC}"/>
              </a:ext>
            </a:extLst>
          </p:cNvPr>
          <p:cNvSpPr>
            <a:spLocks noGrp="1" noChangeArrowheads="1"/>
          </p:cNvSpPr>
          <p:nvPr>
            <p:ph type="title"/>
          </p:nvPr>
        </p:nvSpPr>
        <p:spPr/>
        <p:txBody>
          <a:bodyPr>
            <a:normAutofit/>
          </a:bodyPr>
          <a:lstStyle/>
          <a:p>
            <a:r>
              <a:rPr lang="ru-RU" altLang="en-US" dirty="0"/>
              <a:t>Logic-level Optimization</a:t>
            </a:r>
            <a:r>
              <a:rPr lang="en-US" altLang="en-US" dirty="0"/>
              <a:t>. Structuring</a:t>
            </a:r>
            <a:endParaRPr lang="ru-RU" altLang="en-US" dirty="0"/>
          </a:p>
        </p:txBody>
      </p:sp>
      <p:sp>
        <p:nvSpPr>
          <p:cNvPr id="129027" name="Content Placeholder 50">
            <a:extLst>
              <a:ext uri="{FF2B5EF4-FFF2-40B4-BE49-F238E27FC236}">
                <a16:creationId xmlns:a16="http://schemas.microsoft.com/office/drawing/2014/main" id="{0FC1C434-6051-DC1E-6996-67599B7D0420}"/>
              </a:ext>
            </a:extLst>
          </p:cNvPr>
          <p:cNvSpPr>
            <a:spLocks noGrp="1" noChangeArrowheads="1"/>
          </p:cNvSpPr>
          <p:nvPr>
            <p:ph type="body" sz="quarter" idx="10"/>
          </p:nvPr>
        </p:nvSpPr>
        <p:spPr/>
        <p:txBody>
          <a:bodyPr/>
          <a:lstStyle/>
          <a:p>
            <a:r>
              <a:rPr lang="ru-RU" altLang="en-US" sz="2200" dirty="0"/>
              <a:t>Logic-level optimizations are performed on GTECH netlist</a:t>
            </a:r>
            <a:r>
              <a:rPr lang="en-US" altLang="en-US" sz="2200" dirty="0"/>
              <a:t>.</a:t>
            </a:r>
          </a:p>
          <a:p>
            <a:r>
              <a:rPr lang="en-US" altLang="en-US" sz="2200" dirty="0"/>
              <a:t>C</a:t>
            </a:r>
            <a:r>
              <a:rPr lang="ru-RU" altLang="en-US" sz="2200" dirty="0"/>
              <a:t>onsist of two processes: structuring and flattening. </a:t>
            </a:r>
          </a:p>
          <a:p>
            <a:r>
              <a:rPr lang="ru-RU" altLang="en-US" sz="2200" dirty="0"/>
              <a:t>Structuring</a:t>
            </a:r>
            <a:r>
              <a:rPr lang="en-US" altLang="en-US" sz="2200" dirty="0"/>
              <a:t> (by default)</a:t>
            </a:r>
            <a:endParaRPr lang="ru-RU" altLang="en-US" sz="2200" dirty="0"/>
          </a:p>
          <a:p>
            <a:pPr lvl="1"/>
            <a:r>
              <a:rPr lang="ru-RU" altLang="en-US" sz="1800" dirty="0"/>
              <a:t>The subexpressions that have been identified</a:t>
            </a:r>
            <a:endParaRPr lang="en-US" altLang="en-US" sz="1800" dirty="0"/>
          </a:p>
          <a:p>
            <a:pPr lvl="1"/>
            <a:r>
              <a:rPr lang="ru-RU" altLang="en-US" sz="1800" dirty="0"/>
              <a:t> and factored out can then be shared between the equations. </a:t>
            </a:r>
            <a:endParaRPr lang="en-US" altLang="en-US" sz="1800" dirty="0"/>
          </a:p>
          <a:p>
            <a:pPr lvl="1"/>
            <a:r>
              <a:rPr lang="ru-RU" altLang="en-US" sz="1800" dirty="0"/>
              <a:t>For example</a:t>
            </a:r>
            <a:r>
              <a:rPr lang="en-US" altLang="en-US" sz="1800" dirty="0"/>
              <a:t>:</a:t>
            </a:r>
          </a:p>
          <a:p>
            <a:pPr lvl="1"/>
            <a:r>
              <a:rPr lang="pt-BR" altLang="en-US" sz="1800" dirty="0"/>
              <a:t>f1= a</a:t>
            </a:r>
            <a:r>
              <a:rPr lang="en-US" altLang="en-US" sz="1800" dirty="0">
                <a:sym typeface="Symbol" panose="05050102010706020507" pitchFamily="18" charset="2"/>
              </a:rPr>
              <a:t></a:t>
            </a:r>
            <a:r>
              <a:rPr lang="pt-BR" altLang="en-US" sz="1800" dirty="0"/>
              <a:t>b + a</a:t>
            </a:r>
            <a:r>
              <a:rPr lang="en-US" altLang="en-US" sz="1800" dirty="0">
                <a:sym typeface="Symbol" panose="05050102010706020507" pitchFamily="18" charset="2"/>
              </a:rPr>
              <a:t></a:t>
            </a:r>
            <a:r>
              <a:rPr lang="pt-BR" altLang="en-US" sz="1800" dirty="0"/>
              <a:t>c + a</a:t>
            </a:r>
            <a:r>
              <a:rPr lang="en-US" altLang="en-US" sz="1800" dirty="0">
                <a:sym typeface="Symbol" panose="05050102010706020507" pitchFamily="18" charset="2"/>
              </a:rPr>
              <a:t></a:t>
            </a:r>
            <a:r>
              <a:rPr lang="pt-BR" altLang="en-US" sz="1800" dirty="0"/>
              <a:t>d </a:t>
            </a:r>
          </a:p>
          <a:p>
            <a:pPr lvl="1"/>
            <a:r>
              <a:rPr lang="pt-BR" altLang="en-US" sz="1800" dirty="0"/>
              <a:t>f</a:t>
            </a:r>
            <a:r>
              <a:rPr lang="ru-RU" altLang="en-US" sz="1800" dirty="0"/>
              <a:t>2= </a:t>
            </a:r>
            <a:r>
              <a:rPr lang="en-US" altLang="en-US" sz="1800" dirty="0">
                <a:sym typeface="Symbol" panose="05050102010706020507" pitchFamily="18" charset="2"/>
              </a:rPr>
              <a:t></a:t>
            </a:r>
            <a:r>
              <a:rPr lang="pt-BR" altLang="en-US" sz="1800" dirty="0"/>
              <a:t>a</a:t>
            </a:r>
            <a:r>
              <a:rPr lang="en-US" altLang="en-US" sz="1800" dirty="0">
                <a:sym typeface="Symbol" panose="05050102010706020507" pitchFamily="18" charset="2"/>
              </a:rPr>
              <a:t></a:t>
            </a:r>
            <a:r>
              <a:rPr lang="pt-BR" altLang="en-US" sz="1800" dirty="0"/>
              <a:t>b</a:t>
            </a:r>
            <a:r>
              <a:rPr lang="ru-RU" altLang="en-US" sz="1800" dirty="0"/>
              <a:t> + </a:t>
            </a:r>
            <a:r>
              <a:rPr lang="en-US" altLang="en-US" sz="1800" dirty="0">
                <a:sym typeface="Symbol" panose="05050102010706020507" pitchFamily="18" charset="2"/>
              </a:rPr>
              <a:t></a:t>
            </a:r>
            <a:r>
              <a:rPr lang="pt-BR" altLang="en-US" sz="1800" dirty="0"/>
              <a:t>a</a:t>
            </a:r>
            <a:r>
              <a:rPr lang="en-US" altLang="en-US" sz="1800" dirty="0">
                <a:sym typeface="Symbol" panose="05050102010706020507" pitchFamily="18" charset="2"/>
              </a:rPr>
              <a:t></a:t>
            </a:r>
            <a:r>
              <a:rPr lang="pt-BR" altLang="en-US" sz="1800" dirty="0"/>
              <a:t>c</a:t>
            </a:r>
            <a:r>
              <a:rPr lang="ru-RU" altLang="en-US" sz="1800" dirty="0"/>
              <a:t> + </a:t>
            </a:r>
            <a:r>
              <a:rPr lang="pt-BR" altLang="en-US" sz="1800" dirty="0"/>
              <a:t>a</a:t>
            </a:r>
            <a:r>
              <a:rPr lang="en-US" altLang="en-US" sz="1800" dirty="0">
                <a:sym typeface="Symbol" panose="05050102010706020507" pitchFamily="18" charset="2"/>
              </a:rPr>
              <a:t></a:t>
            </a:r>
            <a:r>
              <a:rPr lang="pt-BR" altLang="en-US" sz="1800" dirty="0"/>
              <a:t>e</a:t>
            </a:r>
            <a:r>
              <a:rPr lang="ru-RU" altLang="en-US" sz="1800" dirty="0"/>
              <a:t> </a:t>
            </a:r>
            <a:endParaRPr lang="en-US" altLang="en-US" sz="1800" dirty="0"/>
          </a:p>
          <a:p>
            <a:pPr lvl="1"/>
            <a:r>
              <a:rPr lang="en-US" altLang="en-US" sz="1800" dirty="0"/>
              <a:t>After structuring:</a:t>
            </a:r>
          </a:p>
          <a:p>
            <a:pPr lvl="1"/>
            <a:r>
              <a:rPr lang="fr-FR" altLang="en-US" sz="1800" dirty="0"/>
              <a:t>f1 = a</a:t>
            </a:r>
            <a:r>
              <a:rPr lang="en-US" altLang="en-US" sz="1800" dirty="0">
                <a:sym typeface="Symbol" panose="05050102010706020507" pitchFamily="18" charset="2"/>
              </a:rPr>
              <a:t></a:t>
            </a:r>
            <a:r>
              <a:rPr lang="fr-FR" altLang="en-US" sz="1800" dirty="0"/>
              <a:t>t0 + a</a:t>
            </a:r>
            <a:r>
              <a:rPr lang="en-US" altLang="en-US" sz="1800" dirty="0">
                <a:sym typeface="Symbol" panose="05050102010706020507" pitchFamily="18" charset="2"/>
              </a:rPr>
              <a:t></a:t>
            </a:r>
            <a:r>
              <a:rPr lang="fr-FR" altLang="en-US" sz="1800" dirty="0"/>
              <a:t>d;</a:t>
            </a:r>
          </a:p>
          <a:p>
            <a:pPr lvl="1"/>
            <a:r>
              <a:rPr lang="fr-FR" altLang="en-US" sz="1800" dirty="0"/>
              <a:t>f2 = </a:t>
            </a:r>
            <a:r>
              <a:rPr lang="en-US" altLang="en-US" sz="1800" dirty="0">
                <a:sym typeface="Symbol" panose="05050102010706020507" pitchFamily="18" charset="2"/>
              </a:rPr>
              <a:t></a:t>
            </a:r>
            <a:r>
              <a:rPr lang="fr-FR" altLang="en-US" sz="1800" dirty="0"/>
              <a:t>a</a:t>
            </a:r>
            <a:r>
              <a:rPr lang="en-US" altLang="en-US" sz="1800" dirty="0">
                <a:sym typeface="Symbol" panose="05050102010706020507" pitchFamily="18" charset="2"/>
              </a:rPr>
              <a:t></a:t>
            </a:r>
            <a:r>
              <a:rPr lang="fr-FR" altLang="en-US" sz="1800" dirty="0"/>
              <a:t>t0 + a</a:t>
            </a:r>
            <a:r>
              <a:rPr lang="en-US" altLang="en-US" sz="1800" dirty="0">
                <a:sym typeface="Symbol" panose="05050102010706020507" pitchFamily="18" charset="2"/>
              </a:rPr>
              <a:t></a:t>
            </a:r>
            <a:r>
              <a:rPr lang="fr-FR" altLang="en-US" sz="1800" dirty="0"/>
              <a:t>e;</a:t>
            </a:r>
          </a:p>
          <a:p>
            <a:pPr lvl="1"/>
            <a:r>
              <a:rPr lang="fr-FR" altLang="en-US" sz="1800" dirty="0"/>
              <a:t>t0 = </a:t>
            </a:r>
            <a:r>
              <a:rPr lang="fr-FR" altLang="en-US" sz="1800" dirty="0" err="1"/>
              <a:t>b+c</a:t>
            </a:r>
            <a:r>
              <a:rPr lang="fr-FR" altLang="en-US" sz="1800" dirty="0"/>
              <a:t> ;</a:t>
            </a:r>
            <a:endParaRPr lang="ru-RU" altLang="en-US" sz="1800" dirty="0"/>
          </a:p>
          <a:p>
            <a:pPr lvl="1"/>
            <a:r>
              <a:rPr lang="ru-RU" altLang="en-US" sz="1800" dirty="0"/>
              <a:t>Structuring is usually recommended</a:t>
            </a:r>
            <a:endParaRPr lang="en-US" altLang="en-US" sz="1800" dirty="0"/>
          </a:p>
          <a:p>
            <a:pPr lvl="1"/>
            <a:r>
              <a:rPr lang="ru-RU" altLang="en-US" sz="1800" dirty="0"/>
              <a:t> for designs with regular structured</a:t>
            </a:r>
            <a:r>
              <a:rPr lang="en-US" altLang="en-US" sz="1800" dirty="0"/>
              <a:t> </a:t>
            </a:r>
            <a:r>
              <a:rPr lang="ru-RU" altLang="en-US" sz="1800" dirty="0"/>
              <a:t>logic. </a:t>
            </a:r>
          </a:p>
          <a:p>
            <a:endParaRPr lang="ru-RU" altLang="en-US" dirty="0"/>
          </a:p>
        </p:txBody>
      </p:sp>
      <p:grpSp>
        <p:nvGrpSpPr>
          <p:cNvPr id="129028" name="Group 51">
            <a:extLst>
              <a:ext uri="{FF2B5EF4-FFF2-40B4-BE49-F238E27FC236}">
                <a16:creationId xmlns:a16="http://schemas.microsoft.com/office/drawing/2014/main" id="{98CE9977-4350-8407-64AD-A929631BA641}"/>
              </a:ext>
            </a:extLst>
          </p:cNvPr>
          <p:cNvGrpSpPr>
            <a:grpSpLocks/>
          </p:cNvGrpSpPr>
          <p:nvPr/>
        </p:nvGrpSpPr>
        <p:grpSpPr bwMode="auto">
          <a:xfrm>
            <a:off x="6916738" y="3781313"/>
            <a:ext cx="3903662" cy="2368550"/>
            <a:chOff x="2976" y="1842"/>
            <a:chExt cx="2304" cy="1374"/>
          </a:xfrm>
        </p:grpSpPr>
        <p:sp>
          <p:nvSpPr>
            <p:cNvPr id="129029" name="Text Box 7">
              <a:extLst>
                <a:ext uri="{FF2B5EF4-FFF2-40B4-BE49-F238E27FC236}">
                  <a16:creationId xmlns:a16="http://schemas.microsoft.com/office/drawing/2014/main" id="{67600FB4-BA36-96E9-195C-C215CD6B9900}"/>
                </a:ext>
              </a:extLst>
            </p:cNvPr>
            <p:cNvSpPr txBox="1">
              <a:spLocks noChangeArrowheads="1"/>
            </p:cNvSpPr>
            <p:nvPr/>
          </p:nvSpPr>
          <p:spPr bwMode="auto">
            <a:xfrm>
              <a:off x="2976" y="1938"/>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a</a:t>
              </a:r>
            </a:p>
          </p:txBody>
        </p:sp>
        <p:sp>
          <p:nvSpPr>
            <p:cNvPr id="129030" name="Text Box 8">
              <a:extLst>
                <a:ext uri="{FF2B5EF4-FFF2-40B4-BE49-F238E27FC236}">
                  <a16:creationId xmlns:a16="http://schemas.microsoft.com/office/drawing/2014/main" id="{F16A6D30-7DDD-9D1D-BEF4-9490AA346AB0}"/>
                </a:ext>
              </a:extLst>
            </p:cNvPr>
            <p:cNvSpPr txBox="1">
              <a:spLocks noChangeArrowheads="1"/>
            </p:cNvSpPr>
            <p:nvPr/>
          </p:nvSpPr>
          <p:spPr bwMode="auto">
            <a:xfrm>
              <a:off x="2976" y="2172"/>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b</a:t>
              </a:r>
            </a:p>
          </p:txBody>
        </p:sp>
        <p:sp>
          <p:nvSpPr>
            <p:cNvPr id="129031" name="Text Box 9">
              <a:extLst>
                <a:ext uri="{FF2B5EF4-FFF2-40B4-BE49-F238E27FC236}">
                  <a16:creationId xmlns:a16="http://schemas.microsoft.com/office/drawing/2014/main" id="{FA1CE2CF-F9FC-676D-FAE8-B4608046D4CB}"/>
                </a:ext>
              </a:extLst>
            </p:cNvPr>
            <p:cNvSpPr txBox="1">
              <a:spLocks noChangeArrowheads="1"/>
            </p:cNvSpPr>
            <p:nvPr/>
          </p:nvSpPr>
          <p:spPr bwMode="auto">
            <a:xfrm>
              <a:off x="2976" y="2346"/>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c</a:t>
              </a:r>
            </a:p>
          </p:txBody>
        </p:sp>
        <p:sp>
          <p:nvSpPr>
            <p:cNvPr id="129032" name="Text Box 10">
              <a:extLst>
                <a:ext uri="{FF2B5EF4-FFF2-40B4-BE49-F238E27FC236}">
                  <a16:creationId xmlns:a16="http://schemas.microsoft.com/office/drawing/2014/main" id="{A7B85207-C02A-CD72-56E9-B184AFD0CDCA}"/>
                </a:ext>
              </a:extLst>
            </p:cNvPr>
            <p:cNvSpPr txBox="1">
              <a:spLocks noChangeArrowheads="1"/>
            </p:cNvSpPr>
            <p:nvPr/>
          </p:nvSpPr>
          <p:spPr bwMode="auto">
            <a:xfrm>
              <a:off x="2976" y="2622"/>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d</a:t>
              </a:r>
            </a:p>
          </p:txBody>
        </p:sp>
        <p:sp>
          <p:nvSpPr>
            <p:cNvPr id="129033" name="AutoShape 11">
              <a:extLst>
                <a:ext uri="{FF2B5EF4-FFF2-40B4-BE49-F238E27FC236}">
                  <a16:creationId xmlns:a16="http://schemas.microsoft.com/office/drawing/2014/main" id="{7D8587F9-C8DF-DF7A-A429-299A4948C72E}"/>
                </a:ext>
              </a:extLst>
            </p:cNvPr>
            <p:cNvSpPr>
              <a:spLocks noChangeArrowheads="1"/>
            </p:cNvSpPr>
            <p:nvPr/>
          </p:nvSpPr>
          <p:spPr bwMode="auto">
            <a:xfrm flipH="1">
              <a:off x="3330" y="2214"/>
              <a:ext cx="216" cy="240"/>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29034" name="Line 12">
              <a:extLst>
                <a:ext uri="{FF2B5EF4-FFF2-40B4-BE49-F238E27FC236}">
                  <a16:creationId xmlns:a16="http://schemas.microsoft.com/office/drawing/2014/main" id="{C79D2778-A13E-4430-506A-685BB9F7C011}"/>
                </a:ext>
              </a:extLst>
            </p:cNvPr>
            <p:cNvSpPr>
              <a:spLocks noChangeShapeType="1"/>
            </p:cNvSpPr>
            <p:nvPr/>
          </p:nvSpPr>
          <p:spPr bwMode="auto">
            <a:xfrm>
              <a:off x="3138" y="2274"/>
              <a:ext cx="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35" name="Line 13">
              <a:extLst>
                <a:ext uri="{FF2B5EF4-FFF2-40B4-BE49-F238E27FC236}">
                  <a16:creationId xmlns:a16="http://schemas.microsoft.com/office/drawing/2014/main" id="{804A73BB-D2A2-AEAF-63E6-0C3770C20AAF}"/>
                </a:ext>
              </a:extLst>
            </p:cNvPr>
            <p:cNvSpPr>
              <a:spLocks noChangeShapeType="1"/>
            </p:cNvSpPr>
            <p:nvPr/>
          </p:nvSpPr>
          <p:spPr bwMode="auto">
            <a:xfrm>
              <a:off x="3138" y="2388"/>
              <a:ext cx="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9036" name="Group 14">
              <a:extLst>
                <a:ext uri="{FF2B5EF4-FFF2-40B4-BE49-F238E27FC236}">
                  <a16:creationId xmlns:a16="http://schemas.microsoft.com/office/drawing/2014/main" id="{5511119E-22CB-4738-DD31-C7E285111134}"/>
                </a:ext>
              </a:extLst>
            </p:cNvPr>
            <p:cNvGrpSpPr>
              <a:grpSpLocks/>
            </p:cNvGrpSpPr>
            <p:nvPr/>
          </p:nvGrpSpPr>
          <p:grpSpPr bwMode="auto">
            <a:xfrm>
              <a:off x="3336" y="1956"/>
              <a:ext cx="160" cy="162"/>
              <a:chOff x="3082" y="7704"/>
              <a:chExt cx="399" cy="404"/>
            </a:xfrm>
          </p:grpSpPr>
          <p:sp>
            <p:nvSpPr>
              <p:cNvPr id="129070" name="AutoShape 15">
                <a:extLst>
                  <a:ext uri="{FF2B5EF4-FFF2-40B4-BE49-F238E27FC236}">
                    <a16:creationId xmlns:a16="http://schemas.microsoft.com/office/drawing/2014/main" id="{A5B6F603-685F-DD16-DC39-6583EACA2E6F}"/>
                  </a:ext>
                </a:extLst>
              </p:cNvPr>
              <p:cNvSpPr>
                <a:spLocks noChangeArrowheads="1"/>
              </p:cNvSpPr>
              <p:nvPr/>
            </p:nvSpPr>
            <p:spPr bwMode="auto">
              <a:xfrm rot="5435204">
                <a:off x="3012" y="777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29071" name="Oval 16">
                <a:extLst>
                  <a:ext uri="{FF2B5EF4-FFF2-40B4-BE49-F238E27FC236}">
                    <a16:creationId xmlns:a16="http://schemas.microsoft.com/office/drawing/2014/main" id="{3421CDC7-1EA2-18AF-DD72-F9BC07CA4594}"/>
                  </a:ext>
                </a:extLst>
              </p:cNvPr>
              <p:cNvSpPr>
                <a:spLocks noChangeArrowheads="1"/>
              </p:cNvSpPr>
              <p:nvPr/>
            </p:nvSpPr>
            <p:spPr bwMode="auto">
              <a:xfrm>
                <a:off x="3345" y="7828"/>
                <a:ext cx="136" cy="136"/>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29037" name="Line 17">
              <a:extLst>
                <a:ext uri="{FF2B5EF4-FFF2-40B4-BE49-F238E27FC236}">
                  <a16:creationId xmlns:a16="http://schemas.microsoft.com/office/drawing/2014/main" id="{EBB9B237-670F-3EEE-3FC0-B06269ED0826}"/>
                </a:ext>
              </a:extLst>
            </p:cNvPr>
            <p:cNvSpPr>
              <a:spLocks noChangeShapeType="1"/>
            </p:cNvSpPr>
            <p:nvPr/>
          </p:nvSpPr>
          <p:spPr bwMode="auto">
            <a:xfrm>
              <a:off x="3120" y="2034"/>
              <a:ext cx="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38" name="Line 18">
              <a:extLst>
                <a:ext uri="{FF2B5EF4-FFF2-40B4-BE49-F238E27FC236}">
                  <a16:creationId xmlns:a16="http://schemas.microsoft.com/office/drawing/2014/main" id="{643CEF73-6A16-3739-36FD-5EC1F65E33E8}"/>
                </a:ext>
              </a:extLst>
            </p:cNvPr>
            <p:cNvSpPr>
              <a:spLocks noChangeShapeType="1"/>
            </p:cNvSpPr>
            <p:nvPr/>
          </p:nvSpPr>
          <p:spPr bwMode="auto">
            <a:xfrm flipV="1">
              <a:off x="3222" y="1908"/>
              <a:ext cx="0" cy="122"/>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29039" name="Line 19">
              <a:extLst>
                <a:ext uri="{FF2B5EF4-FFF2-40B4-BE49-F238E27FC236}">
                  <a16:creationId xmlns:a16="http://schemas.microsoft.com/office/drawing/2014/main" id="{6ADCD2E7-1416-DC2F-FA74-5D5747E0C354}"/>
                </a:ext>
              </a:extLst>
            </p:cNvPr>
            <p:cNvSpPr>
              <a:spLocks noChangeShapeType="1"/>
            </p:cNvSpPr>
            <p:nvPr/>
          </p:nvSpPr>
          <p:spPr bwMode="auto">
            <a:xfrm>
              <a:off x="3222" y="1907"/>
              <a:ext cx="73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40" name="Line 20">
              <a:extLst>
                <a:ext uri="{FF2B5EF4-FFF2-40B4-BE49-F238E27FC236}">
                  <a16:creationId xmlns:a16="http://schemas.microsoft.com/office/drawing/2014/main" id="{74C4235B-FCE0-7D38-EBAE-158077482AA1}"/>
                </a:ext>
              </a:extLst>
            </p:cNvPr>
            <p:cNvSpPr>
              <a:spLocks noChangeShapeType="1"/>
            </p:cNvSpPr>
            <p:nvPr/>
          </p:nvSpPr>
          <p:spPr bwMode="auto">
            <a:xfrm>
              <a:off x="3498" y="2034"/>
              <a:ext cx="2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41" name="Line 21">
              <a:extLst>
                <a:ext uri="{FF2B5EF4-FFF2-40B4-BE49-F238E27FC236}">
                  <a16:creationId xmlns:a16="http://schemas.microsoft.com/office/drawing/2014/main" id="{2287AFAA-EF73-ED66-DC15-62D53C065856}"/>
                </a:ext>
              </a:extLst>
            </p:cNvPr>
            <p:cNvSpPr>
              <a:spLocks noChangeShapeType="1"/>
            </p:cNvSpPr>
            <p:nvPr/>
          </p:nvSpPr>
          <p:spPr bwMode="auto">
            <a:xfrm>
              <a:off x="3552" y="2328"/>
              <a:ext cx="40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42" name="Line 22">
              <a:extLst>
                <a:ext uri="{FF2B5EF4-FFF2-40B4-BE49-F238E27FC236}">
                  <a16:creationId xmlns:a16="http://schemas.microsoft.com/office/drawing/2014/main" id="{89826416-A509-471B-8B5E-1DBDE2B01DEC}"/>
                </a:ext>
              </a:extLst>
            </p:cNvPr>
            <p:cNvSpPr>
              <a:spLocks noChangeShapeType="1"/>
            </p:cNvSpPr>
            <p:nvPr/>
          </p:nvSpPr>
          <p:spPr bwMode="auto">
            <a:xfrm flipH="1" flipV="1">
              <a:off x="3838" y="2006"/>
              <a:ext cx="2" cy="322"/>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29043" name="Line 23">
              <a:extLst>
                <a:ext uri="{FF2B5EF4-FFF2-40B4-BE49-F238E27FC236}">
                  <a16:creationId xmlns:a16="http://schemas.microsoft.com/office/drawing/2014/main" id="{5F1DAE39-1B81-319F-E395-CBC8F46DCD76}"/>
                </a:ext>
              </a:extLst>
            </p:cNvPr>
            <p:cNvSpPr>
              <a:spLocks noChangeShapeType="1"/>
            </p:cNvSpPr>
            <p:nvPr/>
          </p:nvSpPr>
          <p:spPr bwMode="auto">
            <a:xfrm>
              <a:off x="3840" y="2004"/>
              <a:ext cx="12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44" name="Line 24">
              <a:extLst>
                <a:ext uri="{FF2B5EF4-FFF2-40B4-BE49-F238E27FC236}">
                  <a16:creationId xmlns:a16="http://schemas.microsoft.com/office/drawing/2014/main" id="{3CF6FB1A-FC3A-9B34-CB72-DFE24B2CDA61}"/>
                </a:ext>
              </a:extLst>
            </p:cNvPr>
            <p:cNvSpPr>
              <a:spLocks noChangeShapeType="1"/>
            </p:cNvSpPr>
            <p:nvPr/>
          </p:nvSpPr>
          <p:spPr bwMode="auto">
            <a:xfrm>
              <a:off x="3744" y="2034"/>
              <a:ext cx="0" cy="39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45" name="Line 25">
              <a:extLst>
                <a:ext uri="{FF2B5EF4-FFF2-40B4-BE49-F238E27FC236}">
                  <a16:creationId xmlns:a16="http://schemas.microsoft.com/office/drawing/2014/main" id="{5FD88E5F-0706-F2DF-317D-3EDD30777766}"/>
                </a:ext>
              </a:extLst>
            </p:cNvPr>
            <p:cNvSpPr>
              <a:spLocks noChangeShapeType="1"/>
            </p:cNvSpPr>
            <p:nvPr/>
          </p:nvSpPr>
          <p:spPr bwMode="auto">
            <a:xfrm>
              <a:off x="3744" y="2436"/>
              <a:ext cx="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46" name="Line 26">
              <a:extLst>
                <a:ext uri="{FF2B5EF4-FFF2-40B4-BE49-F238E27FC236}">
                  <a16:creationId xmlns:a16="http://schemas.microsoft.com/office/drawing/2014/main" id="{4BADB961-5FC7-F869-BB92-B28AF207EF35}"/>
                </a:ext>
              </a:extLst>
            </p:cNvPr>
            <p:cNvSpPr>
              <a:spLocks noChangeShapeType="1"/>
            </p:cNvSpPr>
            <p:nvPr/>
          </p:nvSpPr>
          <p:spPr bwMode="auto">
            <a:xfrm>
              <a:off x="3222" y="2034"/>
              <a:ext cx="0" cy="102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47" name="Line 27">
              <a:extLst>
                <a:ext uri="{FF2B5EF4-FFF2-40B4-BE49-F238E27FC236}">
                  <a16:creationId xmlns:a16="http://schemas.microsoft.com/office/drawing/2014/main" id="{B2619250-9AC4-97CA-610E-D0AD8061BE40}"/>
                </a:ext>
              </a:extLst>
            </p:cNvPr>
            <p:cNvSpPr>
              <a:spLocks noChangeShapeType="1"/>
            </p:cNvSpPr>
            <p:nvPr/>
          </p:nvSpPr>
          <p:spPr bwMode="auto">
            <a:xfrm>
              <a:off x="3222" y="2796"/>
              <a:ext cx="753" cy="0"/>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29048" name="Line 28">
              <a:extLst>
                <a:ext uri="{FF2B5EF4-FFF2-40B4-BE49-F238E27FC236}">
                  <a16:creationId xmlns:a16="http://schemas.microsoft.com/office/drawing/2014/main" id="{D2CD979D-EA6D-26F8-A69A-393D65BFA74F}"/>
                </a:ext>
              </a:extLst>
            </p:cNvPr>
            <p:cNvSpPr>
              <a:spLocks noChangeShapeType="1"/>
            </p:cNvSpPr>
            <p:nvPr/>
          </p:nvSpPr>
          <p:spPr bwMode="auto">
            <a:xfrm>
              <a:off x="3137" y="2706"/>
              <a:ext cx="83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49" name="Line 29">
              <a:extLst>
                <a:ext uri="{FF2B5EF4-FFF2-40B4-BE49-F238E27FC236}">
                  <a16:creationId xmlns:a16="http://schemas.microsoft.com/office/drawing/2014/main" id="{B8DAA2B4-3DB5-5DA2-5A07-C07EC3DE9D33}"/>
                </a:ext>
              </a:extLst>
            </p:cNvPr>
            <p:cNvSpPr>
              <a:spLocks noChangeShapeType="1"/>
            </p:cNvSpPr>
            <p:nvPr/>
          </p:nvSpPr>
          <p:spPr bwMode="auto">
            <a:xfrm>
              <a:off x="3222" y="3054"/>
              <a:ext cx="74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50" name="Text Box 30">
              <a:extLst>
                <a:ext uri="{FF2B5EF4-FFF2-40B4-BE49-F238E27FC236}">
                  <a16:creationId xmlns:a16="http://schemas.microsoft.com/office/drawing/2014/main" id="{5614BFF4-0FF3-A8E0-100A-ED9B93CC9053}"/>
                </a:ext>
              </a:extLst>
            </p:cNvPr>
            <p:cNvSpPr txBox="1">
              <a:spLocks noChangeArrowheads="1"/>
            </p:cNvSpPr>
            <p:nvPr/>
          </p:nvSpPr>
          <p:spPr bwMode="auto">
            <a:xfrm>
              <a:off x="2976" y="3066"/>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e</a:t>
              </a:r>
            </a:p>
          </p:txBody>
        </p:sp>
        <p:sp>
          <p:nvSpPr>
            <p:cNvPr id="129051" name="Line 31">
              <a:extLst>
                <a:ext uri="{FF2B5EF4-FFF2-40B4-BE49-F238E27FC236}">
                  <a16:creationId xmlns:a16="http://schemas.microsoft.com/office/drawing/2014/main" id="{5D991472-2D7B-2D56-15BB-7DDCB1953242}"/>
                </a:ext>
              </a:extLst>
            </p:cNvPr>
            <p:cNvSpPr>
              <a:spLocks noChangeShapeType="1"/>
            </p:cNvSpPr>
            <p:nvPr/>
          </p:nvSpPr>
          <p:spPr bwMode="auto">
            <a:xfrm>
              <a:off x="3150" y="3162"/>
              <a:ext cx="81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52" name="AutoShape 32">
              <a:extLst>
                <a:ext uri="{FF2B5EF4-FFF2-40B4-BE49-F238E27FC236}">
                  <a16:creationId xmlns:a16="http://schemas.microsoft.com/office/drawing/2014/main" id="{8461742A-4219-712A-B3CA-27B330B22A72}"/>
                </a:ext>
              </a:extLst>
            </p:cNvPr>
            <p:cNvSpPr>
              <a:spLocks noChangeArrowheads="1"/>
            </p:cNvSpPr>
            <p:nvPr/>
          </p:nvSpPr>
          <p:spPr bwMode="auto">
            <a:xfrm flipH="1">
              <a:off x="4488" y="1890"/>
              <a:ext cx="216" cy="240"/>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29053" name="Line 33">
              <a:extLst>
                <a:ext uri="{FF2B5EF4-FFF2-40B4-BE49-F238E27FC236}">
                  <a16:creationId xmlns:a16="http://schemas.microsoft.com/office/drawing/2014/main" id="{29D1DB79-0411-D877-2F85-E8BBDDC5BDCC}"/>
                </a:ext>
              </a:extLst>
            </p:cNvPr>
            <p:cNvSpPr>
              <a:spLocks noChangeShapeType="1"/>
            </p:cNvSpPr>
            <p:nvPr/>
          </p:nvSpPr>
          <p:spPr bwMode="auto">
            <a:xfrm>
              <a:off x="4177" y="1956"/>
              <a:ext cx="3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54" name="AutoShape 34">
              <a:extLst>
                <a:ext uri="{FF2B5EF4-FFF2-40B4-BE49-F238E27FC236}">
                  <a16:creationId xmlns:a16="http://schemas.microsoft.com/office/drawing/2014/main" id="{2D685BB0-8391-31B4-0541-CCCCC7608213}"/>
                </a:ext>
              </a:extLst>
            </p:cNvPr>
            <p:cNvSpPr>
              <a:spLocks noChangeArrowheads="1"/>
            </p:cNvSpPr>
            <p:nvPr/>
          </p:nvSpPr>
          <p:spPr bwMode="auto">
            <a:xfrm flipH="1">
              <a:off x="4494" y="2304"/>
              <a:ext cx="216" cy="240"/>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29055" name="Line 35">
              <a:extLst>
                <a:ext uri="{FF2B5EF4-FFF2-40B4-BE49-F238E27FC236}">
                  <a16:creationId xmlns:a16="http://schemas.microsoft.com/office/drawing/2014/main" id="{4F0FFD91-C469-DA33-3110-C21F603D2393}"/>
                </a:ext>
              </a:extLst>
            </p:cNvPr>
            <p:cNvSpPr>
              <a:spLocks noChangeShapeType="1"/>
            </p:cNvSpPr>
            <p:nvPr/>
          </p:nvSpPr>
          <p:spPr bwMode="auto">
            <a:xfrm>
              <a:off x="4182" y="2368"/>
              <a:ext cx="3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56" name="Line 36">
              <a:extLst>
                <a:ext uri="{FF2B5EF4-FFF2-40B4-BE49-F238E27FC236}">
                  <a16:creationId xmlns:a16="http://schemas.microsoft.com/office/drawing/2014/main" id="{504B6FF7-31B8-448F-F5E8-161FD86F809F}"/>
                </a:ext>
              </a:extLst>
            </p:cNvPr>
            <p:cNvSpPr>
              <a:spLocks noChangeShapeType="1"/>
            </p:cNvSpPr>
            <p:nvPr/>
          </p:nvSpPr>
          <p:spPr bwMode="auto">
            <a:xfrm>
              <a:off x="4206" y="2754"/>
              <a:ext cx="9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57" name="Line 37">
              <a:extLst>
                <a:ext uri="{FF2B5EF4-FFF2-40B4-BE49-F238E27FC236}">
                  <a16:creationId xmlns:a16="http://schemas.microsoft.com/office/drawing/2014/main" id="{FF248DCD-60AC-5E00-A644-B551104FB60E}"/>
                </a:ext>
              </a:extLst>
            </p:cNvPr>
            <p:cNvSpPr>
              <a:spLocks noChangeShapeType="1"/>
            </p:cNvSpPr>
            <p:nvPr/>
          </p:nvSpPr>
          <p:spPr bwMode="auto">
            <a:xfrm flipV="1">
              <a:off x="4302" y="2082"/>
              <a:ext cx="0" cy="6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58" name="Line 38">
              <a:extLst>
                <a:ext uri="{FF2B5EF4-FFF2-40B4-BE49-F238E27FC236}">
                  <a16:creationId xmlns:a16="http://schemas.microsoft.com/office/drawing/2014/main" id="{5911A7F0-EBBA-0A41-66B2-856ACD4B40C2}"/>
                </a:ext>
              </a:extLst>
            </p:cNvPr>
            <p:cNvSpPr>
              <a:spLocks noChangeShapeType="1"/>
            </p:cNvSpPr>
            <p:nvPr/>
          </p:nvSpPr>
          <p:spPr bwMode="auto">
            <a:xfrm>
              <a:off x="4302" y="2081"/>
              <a:ext cx="2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59" name="Line 39">
              <a:extLst>
                <a:ext uri="{FF2B5EF4-FFF2-40B4-BE49-F238E27FC236}">
                  <a16:creationId xmlns:a16="http://schemas.microsoft.com/office/drawing/2014/main" id="{E01A9FAD-C6B5-5DB7-EA05-46398438D99D}"/>
                </a:ext>
              </a:extLst>
            </p:cNvPr>
            <p:cNvSpPr>
              <a:spLocks noChangeShapeType="1"/>
            </p:cNvSpPr>
            <p:nvPr/>
          </p:nvSpPr>
          <p:spPr bwMode="auto">
            <a:xfrm>
              <a:off x="4704" y="2004"/>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60" name="Text Box 40">
              <a:extLst>
                <a:ext uri="{FF2B5EF4-FFF2-40B4-BE49-F238E27FC236}">
                  <a16:creationId xmlns:a16="http://schemas.microsoft.com/office/drawing/2014/main" id="{191FCB13-9824-814A-6EC7-0E5A96D26252}"/>
                </a:ext>
              </a:extLst>
            </p:cNvPr>
            <p:cNvSpPr txBox="1">
              <a:spLocks noChangeArrowheads="1"/>
            </p:cNvSpPr>
            <p:nvPr/>
          </p:nvSpPr>
          <p:spPr bwMode="auto">
            <a:xfrm>
              <a:off x="4848" y="1944"/>
              <a:ext cx="336"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f</a:t>
              </a:r>
              <a:r>
                <a:rPr lang="ru-RU" altLang="en-US" sz="1600" baseline="-25000"/>
                <a:t>1</a:t>
              </a:r>
            </a:p>
          </p:txBody>
        </p:sp>
        <p:sp>
          <p:nvSpPr>
            <p:cNvPr id="129061" name="Text Box 41">
              <a:extLst>
                <a:ext uri="{FF2B5EF4-FFF2-40B4-BE49-F238E27FC236}">
                  <a16:creationId xmlns:a16="http://schemas.microsoft.com/office/drawing/2014/main" id="{B62D58F4-698B-4C58-9B83-D39D4D79F375}"/>
                </a:ext>
              </a:extLst>
            </p:cNvPr>
            <p:cNvSpPr txBox="1">
              <a:spLocks noChangeArrowheads="1"/>
            </p:cNvSpPr>
            <p:nvPr/>
          </p:nvSpPr>
          <p:spPr bwMode="auto">
            <a:xfrm>
              <a:off x="4866" y="2346"/>
              <a:ext cx="41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f</a:t>
              </a:r>
              <a:r>
                <a:rPr lang="ru-RU" altLang="en-US" sz="1600" baseline="-25000"/>
                <a:t>2</a:t>
              </a:r>
            </a:p>
          </p:txBody>
        </p:sp>
        <p:sp>
          <p:nvSpPr>
            <p:cNvPr id="129062" name="Line 42">
              <a:extLst>
                <a:ext uri="{FF2B5EF4-FFF2-40B4-BE49-F238E27FC236}">
                  <a16:creationId xmlns:a16="http://schemas.microsoft.com/office/drawing/2014/main" id="{632FE828-93E8-83C7-C289-6400D587FF2D}"/>
                </a:ext>
              </a:extLst>
            </p:cNvPr>
            <p:cNvSpPr>
              <a:spLocks noChangeShapeType="1"/>
            </p:cNvSpPr>
            <p:nvPr/>
          </p:nvSpPr>
          <p:spPr bwMode="auto">
            <a:xfrm>
              <a:off x="4716" y="2418"/>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63" name="Line 43">
              <a:extLst>
                <a:ext uri="{FF2B5EF4-FFF2-40B4-BE49-F238E27FC236}">
                  <a16:creationId xmlns:a16="http://schemas.microsoft.com/office/drawing/2014/main" id="{9D34A08F-2834-9B0C-75B4-4F8E69137FDC}"/>
                </a:ext>
              </a:extLst>
            </p:cNvPr>
            <p:cNvSpPr>
              <a:spLocks noChangeShapeType="1"/>
            </p:cNvSpPr>
            <p:nvPr/>
          </p:nvSpPr>
          <p:spPr bwMode="auto">
            <a:xfrm>
              <a:off x="4194" y="3114"/>
              <a:ext cx="20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64" name="Line 44">
              <a:extLst>
                <a:ext uri="{FF2B5EF4-FFF2-40B4-BE49-F238E27FC236}">
                  <a16:creationId xmlns:a16="http://schemas.microsoft.com/office/drawing/2014/main" id="{04A5D225-B0B0-E36C-3D02-B2B030FB4B98}"/>
                </a:ext>
              </a:extLst>
            </p:cNvPr>
            <p:cNvSpPr>
              <a:spLocks noChangeShapeType="1"/>
            </p:cNvSpPr>
            <p:nvPr/>
          </p:nvSpPr>
          <p:spPr bwMode="auto">
            <a:xfrm flipV="1">
              <a:off x="4416" y="2496"/>
              <a:ext cx="0" cy="61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65" name="Line 45">
              <a:extLst>
                <a:ext uri="{FF2B5EF4-FFF2-40B4-BE49-F238E27FC236}">
                  <a16:creationId xmlns:a16="http://schemas.microsoft.com/office/drawing/2014/main" id="{31B3DAC8-1EDA-14B1-B09C-956DE53F1337}"/>
                </a:ext>
              </a:extLst>
            </p:cNvPr>
            <p:cNvSpPr>
              <a:spLocks noChangeShapeType="1"/>
            </p:cNvSpPr>
            <p:nvPr/>
          </p:nvSpPr>
          <p:spPr bwMode="auto">
            <a:xfrm>
              <a:off x="4416" y="2490"/>
              <a:ext cx="9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66" name="AutoShape 46">
              <a:extLst>
                <a:ext uri="{FF2B5EF4-FFF2-40B4-BE49-F238E27FC236}">
                  <a16:creationId xmlns:a16="http://schemas.microsoft.com/office/drawing/2014/main" id="{7B687F90-1C57-342F-EA11-D03AF76CD6C8}"/>
                </a:ext>
              </a:extLst>
            </p:cNvPr>
            <p:cNvSpPr>
              <a:spLocks noChangeArrowheads="1"/>
            </p:cNvSpPr>
            <p:nvPr/>
          </p:nvSpPr>
          <p:spPr bwMode="auto">
            <a:xfrm>
              <a:off x="3966" y="1842"/>
              <a:ext cx="216" cy="215"/>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29067" name="AutoShape 47">
              <a:extLst>
                <a:ext uri="{FF2B5EF4-FFF2-40B4-BE49-F238E27FC236}">
                  <a16:creationId xmlns:a16="http://schemas.microsoft.com/office/drawing/2014/main" id="{AF59CEAE-47B1-ADCD-700B-E18542EDC952}"/>
                </a:ext>
              </a:extLst>
            </p:cNvPr>
            <p:cNvSpPr>
              <a:spLocks noChangeArrowheads="1"/>
            </p:cNvSpPr>
            <p:nvPr/>
          </p:nvSpPr>
          <p:spPr bwMode="auto">
            <a:xfrm>
              <a:off x="3970" y="2264"/>
              <a:ext cx="216" cy="215"/>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29068" name="AutoShape 48">
              <a:extLst>
                <a:ext uri="{FF2B5EF4-FFF2-40B4-BE49-F238E27FC236}">
                  <a16:creationId xmlns:a16="http://schemas.microsoft.com/office/drawing/2014/main" id="{1C600D72-EB69-E9EC-393C-D63C5FB16D84}"/>
                </a:ext>
              </a:extLst>
            </p:cNvPr>
            <p:cNvSpPr>
              <a:spLocks noChangeArrowheads="1"/>
            </p:cNvSpPr>
            <p:nvPr/>
          </p:nvSpPr>
          <p:spPr bwMode="auto">
            <a:xfrm>
              <a:off x="3986" y="2638"/>
              <a:ext cx="216" cy="216"/>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29069" name="AutoShape 49">
              <a:extLst>
                <a:ext uri="{FF2B5EF4-FFF2-40B4-BE49-F238E27FC236}">
                  <a16:creationId xmlns:a16="http://schemas.microsoft.com/office/drawing/2014/main" id="{B52FAAC9-C700-3528-D183-1FA5D8D6BE51}"/>
                </a:ext>
              </a:extLst>
            </p:cNvPr>
            <p:cNvSpPr>
              <a:spLocks noChangeArrowheads="1"/>
            </p:cNvSpPr>
            <p:nvPr/>
          </p:nvSpPr>
          <p:spPr bwMode="auto">
            <a:xfrm>
              <a:off x="3978" y="3001"/>
              <a:ext cx="216" cy="215"/>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4">
            <a:extLst>
              <a:ext uri="{FF2B5EF4-FFF2-40B4-BE49-F238E27FC236}">
                <a16:creationId xmlns:a16="http://schemas.microsoft.com/office/drawing/2014/main" id="{D5B0C6A8-7923-1B0B-C202-8BFD3AFD0AFE}"/>
              </a:ext>
            </a:extLst>
          </p:cNvPr>
          <p:cNvSpPr>
            <a:spLocks noGrp="1" noChangeArrowheads="1"/>
          </p:cNvSpPr>
          <p:nvPr>
            <p:ph type="title"/>
          </p:nvPr>
        </p:nvSpPr>
        <p:spPr/>
        <p:txBody>
          <a:bodyPr/>
          <a:lstStyle/>
          <a:p>
            <a:r>
              <a:rPr lang="ru-RU" altLang="en-US"/>
              <a:t>Logic-level Optimization</a:t>
            </a:r>
            <a:r>
              <a:rPr lang="en-US" altLang="en-US"/>
              <a:t>. Flattening</a:t>
            </a:r>
            <a:endParaRPr lang="ru-RU" altLang="en-US"/>
          </a:p>
        </p:txBody>
      </p:sp>
      <p:sp>
        <p:nvSpPr>
          <p:cNvPr id="130051" name="Content Placeholder 50">
            <a:extLst>
              <a:ext uri="{FF2B5EF4-FFF2-40B4-BE49-F238E27FC236}">
                <a16:creationId xmlns:a16="http://schemas.microsoft.com/office/drawing/2014/main" id="{8FD93AA1-CA54-A0C0-FB82-C3FD47EB2765}"/>
              </a:ext>
            </a:extLst>
          </p:cNvPr>
          <p:cNvSpPr>
            <a:spLocks noGrp="1" noChangeArrowheads="1"/>
          </p:cNvSpPr>
          <p:nvPr>
            <p:ph type="body" sz="quarter" idx="10"/>
          </p:nvPr>
        </p:nvSpPr>
        <p:spPr/>
        <p:txBody>
          <a:bodyPr/>
          <a:lstStyle/>
          <a:p>
            <a:r>
              <a:rPr lang="ru-RU" altLang="en-US"/>
              <a:t>Flattening</a:t>
            </a:r>
          </a:p>
          <a:p>
            <a:pPr lvl="1"/>
            <a:r>
              <a:rPr lang="ru-RU" altLang="en-US"/>
              <a:t>Flattening tries to convert logic into two-level, Sum-of-Products representation. Flattening produces fast logic (by minimizing the levels of logic between the inputs and outputs) at the expense of the area increase. </a:t>
            </a:r>
            <a:endParaRPr lang="en-US" altLang="en-US"/>
          </a:p>
          <a:p>
            <a:pPr lvl="1"/>
            <a:r>
              <a:rPr lang="ru-RU" altLang="en-US"/>
              <a:t>Flattening is recommended for designs containing unstructured or random logic.</a:t>
            </a:r>
          </a:p>
          <a:p>
            <a:endParaRPr lang="ru-RU" altLang="en-US"/>
          </a:p>
        </p:txBody>
      </p:sp>
      <p:grpSp>
        <p:nvGrpSpPr>
          <p:cNvPr id="130052" name="Group 51">
            <a:extLst>
              <a:ext uri="{FF2B5EF4-FFF2-40B4-BE49-F238E27FC236}">
                <a16:creationId xmlns:a16="http://schemas.microsoft.com/office/drawing/2014/main" id="{61470C79-AEF4-2CCE-8E0A-634322A6E40B}"/>
              </a:ext>
            </a:extLst>
          </p:cNvPr>
          <p:cNvGrpSpPr>
            <a:grpSpLocks/>
          </p:cNvGrpSpPr>
          <p:nvPr/>
        </p:nvGrpSpPr>
        <p:grpSpPr bwMode="auto">
          <a:xfrm>
            <a:off x="3611564" y="3276600"/>
            <a:ext cx="4351337" cy="2362200"/>
            <a:chOff x="1387" y="2160"/>
            <a:chExt cx="2741" cy="1488"/>
          </a:xfrm>
        </p:grpSpPr>
        <p:sp>
          <p:nvSpPr>
            <p:cNvPr id="130053" name="AutoShape 7">
              <a:extLst>
                <a:ext uri="{FF2B5EF4-FFF2-40B4-BE49-F238E27FC236}">
                  <a16:creationId xmlns:a16="http://schemas.microsoft.com/office/drawing/2014/main" id="{1AE8AC32-A5CE-0E40-96B0-3CE20A9BBB3A}"/>
                </a:ext>
              </a:extLst>
            </p:cNvPr>
            <p:cNvSpPr>
              <a:spLocks noChangeArrowheads="1"/>
            </p:cNvSpPr>
            <p:nvPr/>
          </p:nvSpPr>
          <p:spPr bwMode="auto">
            <a:xfrm>
              <a:off x="2120" y="2204"/>
              <a:ext cx="243" cy="312"/>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54" name="Oval 8">
              <a:extLst>
                <a:ext uri="{FF2B5EF4-FFF2-40B4-BE49-F238E27FC236}">
                  <a16:creationId xmlns:a16="http://schemas.microsoft.com/office/drawing/2014/main" id="{82C09212-FE62-62AB-7317-092BF8C2D5AD}"/>
                </a:ext>
              </a:extLst>
            </p:cNvPr>
            <p:cNvSpPr>
              <a:spLocks noChangeArrowheads="1"/>
            </p:cNvSpPr>
            <p:nvPr/>
          </p:nvSpPr>
          <p:spPr bwMode="auto">
            <a:xfrm>
              <a:off x="2055" y="2264"/>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55" name="Line 9">
              <a:extLst>
                <a:ext uri="{FF2B5EF4-FFF2-40B4-BE49-F238E27FC236}">
                  <a16:creationId xmlns:a16="http://schemas.microsoft.com/office/drawing/2014/main" id="{4894437B-C455-F194-8A73-F8C807F527B5}"/>
                </a:ext>
              </a:extLst>
            </p:cNvPr>
            <p:cNvSpPr>
              <a:spLocks noChangeShapeType="1"/>
            </p:cNvSpPr>
            <p:nvPr/>
          </p:nvSpPr>
          <p:spPr bwMode="auto">
            <a:xfrm>
              <a:off x="1652" y="2298"/>
              <a:ext cx="38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56" name="Oval 10">
              <a:extLst>
                <a:ext uri="{FF2B5EF4-FFF2-40B4-BE49-F238E27FC236}">
                  <a16:creationId xmlns:a16="http://schemas.microsoft.com/office/drawing/2014/main" id="{F63483AF-9BD2-DB09-4184-F407BF458965}"/>
                </a:ext>
              </a:extLst>
            </p:cNvPr>
            <p:cNvSpPr>
              <a:spLocks noChangeArrowheads="1"/>
            </p:cNvSpPr>
            <p:nvPr/>
          </p:nvSpPr>
          <p:spPr bwMode="auto">
            <a:xfrm>
              <a:off x="2055" y="2404"/>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57" name="Line 11">
              <a:extLst>
                <a:ext uri="{FF2B5EF4-FFF2-40B4-BE49-F238E27FC236}">
                  <a16:creationId xmlns:a16="http://schemas.microsoft.com/office/drawing/2014/main" id="{DBF2082B-7F82-171A-7205-32CEECC93E2B}"/>
                </a:ext>
              </a:extLst>
            </p:cNvPr>
            <p:cNvSpPr>
              <a:spLocks noChangeShapeType="1"/>
            </p:cNvSpPr>
            <p:nvPr/>
          </p:nvSpPr>
          <p:spPr bwMode="auto">
            <a:xfrm>
              <a:off x="1661" y="2439"/>
              <a:ext cx="4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58" name="AutoShape 12">
              <a:extLst>
                <a:ext uri="{FF2B5EF4-FFF2-40B4-BE49-F238E27FC236}">
                  <a16:creationId xmlns:a16="http://schemas.microsoft.com/office/drawing/2014/main" id="{2463CE53-62AC-F592-BC36-B9013977EB20}"/>
                </a:ext>
              </a:extLst>
            </p:cNvPr>
            <p:cNvSpPr>
              <a:spLocks noChangeArrowheads="1"/>
            </p:cNvSpPr>
            <p:nvPr/>
          </p:nvSpPr>
          <p:spPr bwMode="auto">
            <a:xfrm flipH="1">
              <a:off x="2760" y="2256"/>
              <a:ext cx="243" cy="348"/>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59" name="Line 13">
              <a:extLst>
                <a:ext uri="{FF2B5EF4-FFF2-40B4-BE49-F238E27FC236}">
                  <a16:creationId xmlns:a16="http://schemas.microsoft.com/office/drawing/2014/main" id="{AB089292-CE75-384E-BDFD-EB456E40985F}"/>
                </a:ext>
              </a:extLst>
            </p:cNvPr>
            <p:cNvSpPr>
              <a:spLocks noChangeShapeType="1"/>
            </p:cNvSpPr>
            <p:nvPr/>
          </p:nvSpPr>
          <p:spPr bwMode="auto">
            <a:xfrm>
              <a:off x="2366" y="2359"/>
              <a:ext cx="41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0" name="Line 14">
              <a:extLst>
                <a:ext uri="{FF2B5EF4-FFF2-40B4-BE49-F238E27FC236}">
                  <a16:creationId xmlns:a16="http://schemas.microsoft.com/office/drawing/2014/main" id="{D8EAD82A-733C-5855-C7CA-CA49B9E5C9A5}"/>
                </a:ext>
              </a:extLst>
            </p:cNvPr>
            <p:cNvSpPr>
              <a:spLocks noChangeShapeType="1"/>
            </p:cNvSpPr>
            <p:nvPr/>
          </p:nvSpPr>
          <p:spPr bwMode="auto">
            <a:xfrm>
              <a:off x="3000" y="2428"/>
              <a:ext cx="1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1" name="Line 15">
              <a:extLst>
                <a:ext uri="{FF2B5EF4-FFF2-40B4-BE49-F238E27FC236}">
                  <a16:creationId xmlns:a16="http://schemas.microsoft.com/office/drawing/2014/main" id="{FD7A6DBB-1283-E1C4-E7B8-861D8EA54CF1}"/>
                </a:ext>
              </a:extLst>
            </p:cNvPr>
            <p:cNvSpPr>
              <a:spLocks noChangeShapeType="1"/>
            </p:cNvSpPr>
            <p:nvPr/>
          </p:nvSpPr>
          <p:spPr bwMode="auto">
            <a:xfrm>
              <a:off x="3189" y="2437"/>
              <a:ext cx="0" cy="26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2" name="AutoShape 16">
              <a:extLst>
                <a:ext uri="{FF2B5EF4-FFF2-40B4-BE49-F238E27FC236}">
                  <a16:creationId xmlns:a16="http://schemas.microsoft.com/office/drawing/2014/main" id="{E8C23DC7-91B6-9F59-5096-1C7568946A7B}"/>
                </a:ext>
              </a:extLst>
            </p:cNvPr>
            <p:cNvSpPr>
              <a:spLocks noChangeArrowheads="1"/>
            </p:cNvSpPr>
            <p:nvPr/>
          </p:nvSpPr>
          <p:spPr bwMode="auto">
            <a:xfrm>
              <a:off x="3420" y="2622"/>
              <a:ext cx="243" cy="312"/>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63" name="Line 17">
              <a:extLst>
                <a:ext uri="{FF2B5EF4-FFF2-40B4-BE49-F238E27FC236}">
                  <a16:creationId xmlns:a16="http://schemas.microsoft.com/office/drawing/2014/main" id="{0458D9AC-138B-BC01-7EDE-7AFA356075E2}"/>
                </a:ext>
              </a:extLst>
            </p:cNvPr>
            <p:cNvSpPr>
              <a:spLocks noChangeShapeType="1"/>
            </p:cNvSpPr>
            <p:nvPr/>
          </p:nvSpPr>
          <p:spPr bwMode="auto">
            <a:xfrm>
              <a:off x="3189" y="2698"/>
              <a:ext cx="2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4" name="Line 18">
              <a:extLst>
                <a:ext uri="{FF2B5EF4-FFF2-40B4-BE49-F238E27FC236}">
                  <a16:creationId xmlns:a16="http://schemas.microsoft.com/office/drawing/2014/main" id="{793132CF-DF83-7AB5-5CCC-19528DB769E4}"/>
                </a:ext>
              </a:extLst>
            </p:cNvPr>
            <p:cNvSpPr>
              <a:spLocks noChangeShapeType="1"/>
            </p:cNvSpPr>
            <p:nvPr/>
          </p:nvSpPr>
          <p:spPr bwMode="auto">
            <a:xfrm>
              <a:off x="2562" y="2498"/>
              <a:ext cx="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5" name="Line 19">
              <a:extLst>
                <a:ext uri="{FF2B5EF4-FFF2-40B4-BE49-F238E27FC236}">
                  <a16:creationId xmlns:a16="http://schemas.microsoft.com/office/drawing/2014/main" id="{6E1F4C48-E286-D37F-D928-E01076BB7122}"/>
                </a:ext>
              </a:extLst>
            </p:cNvPr>
            <p:cNvSpPr>
              <a:spLocks noChangeShapeType="1"/>
            </p:cNvSpPr>
            <p:nvPr/>
          </p:nvSpPr>
          <p:spPr bwMode="auto">
            <a:xfrm flipH="1">
              <a:off x="2557" y="2498"/>
              <a:ext cx="0" cy="15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6" name="Line 20">
              <a:extLst>
                <a:ext uri="{FF2B5EF4-FFF2-40B4-BE49-F238E27FC236}">
                  <a16:creationId xmlns:a16="http://schemas.microsoft.com/office/drawing/2014/main" id="{7640F5F2-6CD0-BD2D-909B-FF232545AF19}"/>
                </a:ext>
              </a:extLst>
            </p:cNvPr>
            <p:cNvSpPr>
              <a:spLocks noChangeShapeType="1"/>
            </p:cNvSpPr>
            <p:nvPr/>
          </p:nvSpPr>
          <p:spPr bwMode="auto">
            <a:xfrm>
              <a:off x="1672" y="2656"/>
              <a:ext cx="88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7" name="Line 21">
              <a:extLst>
                <a:ext uri="{FF2B5EF4-FFF2-40B4-BE49-F238E27FC236}">
                  <a16:creationId xmlns:a16="http://schemas.microsoft.com/office/drawing/2014/main" id="{D4DC35DD-1DB2-4A09-6AE6-1B7E3C446C10}"/>
                </a:ext>
              </a:extLst>
            </p:cNvPr>
            <p:cNvSpPr>
              <a:spLocks noChangeShapeType="1"/>
            </p:cNvSpPr>
            <p:nvPr/>
          </p:nvSpPr>
          <p:spPr bwMode="auto">
            <a:xfrm>
              <a:off x="1956" y="2855"/>
              <a:ext cx="145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8" name="AutoShape 22">
              <a:extLst>
                <a:ext uri="{FF2B5EF4-FFF2-40B4-BE49-F238E27FC236}">
                  <a16:creationId xmlns:a16="http://schemas.microsoft.com/office/drawing/2014/main" id="{7829A5AF-E3BB-4928-6CD1-53E0A47B6D2F}"/>
                </a:ext>
              </a:extLst>
            </p:cNvPr>
            <p:cNvSpPr>
              <a:spLocks noChangeArrowheads="1"/>
            </p:cNvSpPr>
            <p:nvPr/>
          </p:nvSpPr>
          <p:spPr bwMode="auto">
            <a:xfrm flipH="1">
              <a:off x="2106" y="3299"/>
              <a:ext cx="243" cy="349"/>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69" name="Oval 23">
              <a:extLst>
                <a:ext uri="{FF2B5EF4-FFF2-40B4-BE49-F238E27FC236}">
                  <a16:creationId xmlns:a16="http://schemas.microsoft.com/office/drawing/2014/main" id="{03285006-24B2-A942-0D41-4489FCC83F73}"/>
                </a:ext>
              </a:extLst>
            </p:cNvPr>
            <p:cNvSpPr>
              <a:spLocks noChangeArrowheads="1"/>
            </p:cNvSpPr>
            <p:nvPr/>
          </p:nvSpPr>
          <p:spPr bwMode="auto">
            <a:xfrm>
              <a:off x="2076" y="3351"/>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70" name="Oval 24">
              <a:extLst>
                <a:ext uri="{FF2B5EF4-FFF2-40B4-BE49-F238E27FC236}">
                  <a16:creationId xmlns:a16="http://schemas.microsoft.com/office/drawing/2014/main" id="{C911FF56-C7A9-9327-0F7A-54CD4AEC1D8A}"/>
                </a:ext>
              </a:extLst>
            </p:cNvPr>
            <p:cNvSpPr>
              <a:spLocks noChangeArrowheads="1"/>
            </p:cNvSpPr>
            <p:nvPr/>
          </p:nvSpPr>
          <p:spPr bwMode="auto">
            <a:xfrm>
              <a:off x="2076" y="3508"/>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71" name="Line 25">
              <a:extLst>
                <a:ext uri="{FF2B5EF4-FFF2-40B4-BE49-F238E27FC236}">
                  <a16:creationId xmlns:a16="http://schemas.microsoft.com/office/drawing/2014/main" id="{B11C2089-42BE-EEA5-8241-80A5FC40E846}"/>
                </a:ext>
              </a:extLst>
            </p:cNvPr>
            <p:cNvSpPr>
              <a:spLocks noChangeShapeType="1"/>
            </p:cNvSpPr>
            <p:nvPr/>
          </p:nvSpPr>
          <p:spPr bwMode="auto">
            <a:xfrm>
              <a:off x="1669" y="3385"/>
              <a:ext cx="39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2" name="Line 26">
              <a:extLst>
                <a:ext uri="{FF2B5EF4-FFF2-40B4-BE49-F238E27FC236}">
                  <a16:creationId xmlns:a16="http://schemas.microsoft.com/office/drawing/2014/main" id="{F784650F-36D6-3B19-7C5F-51EB51F81F66}"/>
                </a:ext>
              </a:extLst>
            </p:cNvPr>
            <p:cNvSpPr>
              <a:spLocks noChangeShapeType="1"/>
            </p:cNvSpPr>
            <p:nvPr/>
          </p:nvSpPr>
          <p:spPr bwMode="auto">
            <a:xfrm>
              <a:off x="1677" y="3542"/>
              <a:ext cx="38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3" name="Line 27">
              <a:extLst>
                <a:ext uri="{FF2B5EF4-FFF2-40B4-BE49-F238E27FC236}">
                  <a16:creationId xmlns:a16="http://schemas.microsoft.com/office/drawing/2014/main" id="{5D3C0433-8966-3656-C37F-F8DF0CDE36B7}"/>
                </a:ext>
              </a:extLst>
            </p:cNvPr>
            <p:cNvSpPr>
              <a:spLocks noChangeShapeType="1"/>
            </p:cNvSpPr>
            <p:nvPr/>
          </p:nvSpPr>
          <p:spPr bwMode="auto">
            <a:xfrm>
              <a:off x="1956" y="2855"/>
              <a:ext cx="0" cy="529"/>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30074" name="AutoShape 28">
              <a:extLst>
                <a:ext uri="{FF2B5EF4-FFF2-40B4-BE49-F238E27FC236}">
                  <a16:creationId xmlns:a16="http://schemas.microsoft.com/office/drawing/2014/main" id="{08899400-500C-6BA7-6081-0549E2C2406C}"/>
                </a:ext>
              </a:extLst>
            </p:cNvPr>
            <p:cNvSpPr>
              <a:spLocks noChangeArrowheads="1"/>
            </p:cNvSpPr>
            <p:nvPr/>
          </p:nvSpPr>
          <p:spPr bwMode="auto">
            <a:xfrm>
              <a:off x="2773" y="2978"/>
              <a:ext cx="244" cy="312"/>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75" name="Oval 29">
              <a:extLst>
                <a:ext uri="{FF2B5EF4-FFF2-40B4-BE49-F238E27FC236}">
                  <a16:creationId xmlns:a16="http://schemas.microsoft.com/office/drawing/2014/main" id="{0B10F5C5-FA2C-F3CD-A319-D5EB1775012C}"/>
                </a:ext>
              </a:extLst>
            </p:cNvPr>
            <p:cNvSpPr>
              <a:spLocks noChangeArrowheads="1"/>
            </p:cNvSpPr>
            <p:nvPr/>
          </p:nvSpPr>
          <p:spPr bwMode="auto">
            <a:xfrm>
              <a:off x="2716" y="3039"/>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76" name="Oval 30">
              <a:extLst>
                <a:ext uri="{FF2B5EF4-FFF2-40B4-BE49-F238E27FC236}">
                  <a16:creationId xmlns:a16="http://schemas.microsoft.com/office/drawing/2014/main" id="{E625FF37-C698-6C76-25FF-7B4C02D17DFD}"/>
                </a:ext>
              </a:extLst>
            </p:cNvPr>
            <p:cNvSpPr>
              <a:spLocks noChangeArrowheads="1"/>
            </p:cNvSpPr>
            <p:nvPr/>
          </p:nvSpPr>
          <p:spPr bwMode="auto">
            <a:xfrm>
              <a:off x="2716" y="3178"/>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77" name="Line 31">
              <a:extLst>
                <a:ext uri="{FF2B5EF4-FFF2-40B4-BE49-F238E27FC236}">
                  <a16:creationId xmlns:a16="http://schemas.microsoft.com/office/drawing/2014/main" id="{0F96717A-DC0D-2370-F14D-0C6C7B96E68D}"/>
                </a:ext>
              </a:extLst>
            </p:cNvPr>
            <p:cNvSpPr>
              <a:spLocks noChangeShapeType="1"/>
            </p:cNvSpPr>
            <p:nvPr/>
          </p:nvSpPr>
          <p:spPr bwMode="auto">
            <a:xfrm>
              <a:off x="2568" y="2855"/>
              <a:ext cx="0" cy="214"/>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0078" name="Line 32">
              <a:extLst>
                <a:ext uri="{FF2B5EF4-FFF2-40B4-BE49-F238E27FC236}">
                  <a16:creationId xmlns:a16="http://schemas.microsoft.com/office/drawing/2014/main" id="{6EB2E94C-ACAD-E35C-CECE-2F7DEE6EDB15}"/>
                </a:ext>
              </a:extLst>
            </p:cNvPr>
            <p:cNvSpPr>
              <a:spLocks noChangeShapeType="1"/>
            </p:cNvSpPr>
            <p:nvPr/>
          </p:nvSpPr>
          <p:spPr bwMode="auto">
            <a:xfrm>
              <a:off x="2570" y="3071"/>
              <a:ext cx="1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9" name="Line 33">
              <a:extLst>
                <a:ext uri="{FF2B5EF4-FFF2-40B4-BE49-F238E27FC236}">
                  <a16:creationId xmlns:a16="http://schemas.microsoft.com/office/drawing/2014/main" id="{5A74A46C-E415-1B19-A397-CC46BD2FDEC9}"/>
                </a:ext>
              </a:extLst>
            </p:cNvPr>
            <p:cNvSpPr>
              <a:spLocks noChangeShapeType="1"/>
            </p:cNvSpPr>
            <p:nvPr/>
          </p:nvSpPr>
          <p:spPr bwMode="auto">
            <a:xfrm>
              <a:off x="2347" y="3472"/>
              <a:ext cx="11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0" name="AutoShape 34">
              <a:extLst>
                <a:ext uri="{FF2B5EF4-FFF2-40B4-BE49-F238E27FC236}">
                  <a16:creationId xmlns:a16="http://schemas.microsoft.com/office/drawing/2014/main" id="{878809D1-05CB-2206-7C43-8A4E8D08EBAA}"/>
                </a:ext>
              </a:extLst>
            </p:cNvPr>
            <p:cNvSpPr>
              <a:spLocks noChangeArrowheads="1"/>
            </p:cNvSpPr>
            <p:nvPr/>
          </p:nvSpPr>
          <p:spPr bwMode="auto">
            <a:xfrm flipH="1">
              <a:off x="3427" y="3221"/>
              <a:ext cx="243" cy="349"/>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81" name="Line 35">
              <a:extLst>
                <a:ext uri="{FF2B5EF4-FFF2-40B4-BE49-F238E27FC236}">
                  <a16:creationId xmlns:a16="http://schemas.microsoft.com/office/drawing/2014/main" id="{65B647D9-4219-C4FD-127A-A4C8D82CECF8}"/>
                </a:ext>
              </a:extLst>
            </p:cNvPr>
            <p:cNvSpPr>
              <a:spLocks noChangeShapeType="1"/>
            </p:cNvSpPr>
            <p:nvPr/>
          </p:nvSpPr>
          <p:spPr bwMode="auto">
            <a:xfrm>
              <a:off x="3021" y="3142"/>
              <a:ext cx="1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2" name="Line 36">
              <a:extLst>
                <a:ext uri="{FF2B5EF4-FFF2-40B4-BE49-F238E27FC236}">
                  <a16:creationId xmlns:a16="http://schemas.microsoft.com/office/drawing/2014/main" id="{63431B3C-833F-22F7-E471-ECD86B3DEA78}"/>
                </a:ext>
              </a:extLst>
            </p:cNvPr>
            <p:cNvSpPr>
              <a:spLocks noChangeShapeType="1"/>
            </p:cNvSpPr>
            <p:nvPr/>
          </p:nvSpPr>
          <p:spPr bwMode="auto">
            <a:xfrm>
              <a:off x="3674" y="3385"/>
              <a:ext cx="19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3" name="Line 37">
              <a:extLst>
                <a:ext uri="{FF2B5EF4-FFF2-40B4-BE49-F238E27FC236}">
                  <a16:creationId xmlns:a16="http://schemas.microsoft.com/office/drawing/2014/main" id="{511D41C9-7D68-C058-5BE1-60EA6D7B210D}"/>
                </a:ext>
              </a:extLst>
            </p:cNvPr>
            <p:cNvSpPr>
              <a:spLocks noChangeShapeType="1"/>
            </p:cNvSpPr>
            <p:nvPr/>
          </p:nvSpPr>
          <p:spPr bwMode="auto">
            <a:xfrm>
              <a:off x="3668" y="2776"/>
              <a:ext cx="19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4" name="Oval 38">
              <a:extLst>
                <a:ext uri="{FF2B5EF4-FFF2-40B4-BE49-F238E27FC236}">
                  <a16:creationId xmlns:a16="http://schemas.microsoft.com/office/drawing/2014/main" id="{4723023A-084B-D066-5BB1-C144562D67F8}"/>
                </a:ext>
              </a:extLst>
            </p:cNvPr>
            <p:cNvSpPr>
              <a:spLocks noChangeArrowheads="1"/>
            </p:cNvSpPr>
            <p:nvPr/>
          </p:nvSpPr>
          <p:spPr bwMode="auto">
            <a:xfrm>
              <a:off x="3397" y="3299"/>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0085" name="Line 39">
              <a:extLst>
                <a:ext uri="{FF2B5EF4-FFF2-40B4-BE49-F238E27FC236}">
                  <a16:creationId xmlns:a16="http://schemas.microsoft.com/office/drawing/2014/main" id="{34435107-D6D6-60B1-84A1-9B4C1078A222}"/>
                </a:ext>
              </a:extLst>
            </p:cNvPr>
            <p:cNvSpPr>
              <a:spLocks noChangeShapeType="1"/>
            </p:cNvSpPr>
            <p:nvPr/>
          </p:nvSpPr>
          <p:spPr bwMode="auto">
            <a:xfrm>
              <a:off x="3221" y="3331"/>
              <a:ext cx="17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6" name="Line 40">
              <a:extLst>
                <a:ext uri="{FF2B5EF4-FFF2-40B4-BE49-F238E27FC236}">
                  <a16:creationId xmlns:a16="http://schemas.microsoft.com/office/drawing/2014/main" id="{884870D8-0E94-29EC-FE9E-72DC07198813}"/>
                </a:ext>
              </a:extLst>
            </p:cNvPr>
            <p:cNvSpPr>
              <a:spLocks noChangeShapeType="1"/>
            </p:cNvSpPr>
            <p:nvPr/>
          </p:nvSpPr>
          <p:spPr bwMode="auto">
            <a:xfrm flipV="1">
              <a:off x="3209" y="3142"/>
              <a:ext cx="0" cy="18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7" name="Line 41">
              <a:extLst>
                <a:ext uri="{FF2B5EF4-FFF2-40B4-BE49-F238E27FC236}">
                  <a16:creationId xmlns:a16="http://schemas.microsoft.com/office/drawing/2014/main" id="{FE2D59AA-D457-0BA9-B3FD-E276022AF56F}"/>
                </a:ext>
              </a:extLst>
            </p:cNvPr>
            <p:cNvSpPr>
              <a:spLocks noChangeShapeType="1"/>
            </p:cNvSpPr>
            <p:nvPr/>
          </p:nvSpPr>
          <p:spPr bwMode="auto">
            <a:xfrm>
              <a:off x="2453" y="2359"/>
              <a:ext cx="0" cy="851"/>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0088" name="Line 42">
              <a:extLst>
                <a:ext uri="{FF2B5EF4-FFF2-40B4-BE49-F238E27FC236}">
                  <a16:creationId xmlns:a16="http://schemas.microsoft.com/office/drawing/2014/main" id="{98729F2D-70C3-3B24-CFA8-C2FF82C01B22}"/>
                </a:ext>
              </a:extLst>
            </p:cNvPr>
            <p:cNvSpPr>
              <a:spLocks noChangeShapeType="1"/>
            </p:cNvSpPr>
            <p:nvPr/>
          </p:nvSpPr>
          <p:spPr bwMode="auto">
            <a:xfrm>
              <a:off x="2448" y="3211"/>
              <a:ext cx="25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9" name="Text Box 43">
              <a:extLst>
                <a:ext uri="{FF2B5EF4-FFF2-40B4-BE49-F238E27FC236}">
                  <a16:creationId xmlns:a16="http://schemas.microsoft.com/office/drawing/2014/main" id="{813784F0-2DED-91F7-984B-D2E49516D22F}"/>
                </a:ext>
              </a:extLst>
            </p:cNvPr>
            <p:cNvSpPr txBox="1">
              <a:spLocks noChangeArrowheads="1"/>
            </p:cNvSpPr>
            <p:nvPr/>
          </p:nvSpPr>
          <p:spPr bwMode="auto">
            <a:xfrm>
              <a:off x="1392" y="3265"/>
              <a:ext cx="24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e</a:t>
              </a:r>
            </a:p>
          </p:txBody>
        </p:sp>
        <p:sp>
          <p:nvSpPr>
            <p:cNvPr id="130090" name="Text Box 44">
              <a:extLst>
                <a:ext uri="{FF2B5EF4-FFF2-40B4-BE49-F238E27FC236}">
                  <a16:creationId xmlns:a16="http://schemas.microsoft.com/office/drawing/2014/main" id="{54D6F9DF-9E4F-3A43-E575-8A1E56557779}"/>
                </a:ext>
              </a:extLst>
            </p:cNvPr>
            <p:cNvSpPr txBox="1">
              <a:spLocks noChangeArrowheads="1"/>
            </p:cNvSpPr>
            <p:nvPr/>
          </p:nvSpPr>
          <p:spPr bwMode="auto">
            <a:xfrm>
              <a:off x="1399" y="3439"/>
              <a:ext cx="242"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а</a:t>
              </a:r>
            </a:p>
          </p:txBody>
        </p:sp>
        <p:sp>
          <p:nvSpPr>
            <p:cNvPr id="130091" name="Text Box 45">
              <a:extLst>
                <a:ext uri="{FF2B5EF4-FFF2-40B4-BE49-F238E27FC236}">
                  <a16:creationId xmlns:a16="http://schemas.microsoft.com/office/drawing/2014/main" id="{612B348C-31CF-A506-9BDB-A8D1669B118D}"/>
                </a:ext>
              </a:extLst>
            </p:cNvPr>
            <p:cNvSpPr txBox="1">
              <a:spLocks noChangeArrowheads="1"/>
            </p:cNvSpPr>
            <p:nvPr/>
          </p:nvSpPr>
          <p:spPr bwMode="auto">
            <a:xfrm>
              <a:off x="1405" y="2186"/>
              <a:ext cx="24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b</a:t>
              </a:r>
            </a:p>
          </p:txBody>
        </p:sp>
        <p:sp>
          <p:nvSpPr>
            <p:cNvPr id="130092" name="Text Box 46">
              <a:extLst>
                <a:ext uri="{FF2B5EF4-FFF2-40B4-BE49-F238E27FC236}">
                  <a16:creationId xmlns:a16="http://schemas.microsoft.com/office/drawing/2014/main" id="{BE9A948C-7425-3BBD-6F45-D936A3FEB478}"/>
                </a:ext>
              </a:extLst>
            </p:cNvPr>
            <p:cNvSpPr txBox="1">
              <a:spLocks noChangeArrowheads="1"/>
            </p:cNvSpPr>
            <p:nvPr/>
          </p:nvSpPr>
          <p:spPr bwMode="auto">
            <a:xfrm>
              <a:off x="1405" y="2325"/>
              <a:ext cx="24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c</a:t>
              </a:r>
            </a:p>
          </p:txBody>
        </p:sp>
        <p:sp>
          <p:nvSpPr>
            <p:cNvPr id="130093" name="Text Box 47">
              <a:extLst>
                <a:ext uri="{FF2B5EF4-FFF2-40B4-BE49-F238E27FC236}">
                  <a16:creationId xmlns:a16="http://schemas.microsoft.com/office/drawing/2014/main" id="{7DDD1567-4CB4-7A82-3DF1-5869326F5361}"/>
                </a:ext>
              </a:extLst>
            </p:cNvPr>
            <p:cNvSpPr txBox="1">
              <a:spLocks noChangeArrowheads="1"/>
            </p:cNvSpPr>
            <p:nvPr/>
          </p:nvSpPr>
          <p:spPr bwMode="auto">
            <a:xfrm>
              <a:off x="1387" y="2534"/>
              <a:ext cx="24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d</a:t>
              </a:r>
            </a:p>
          </p:txBody>
        </p:sp>
        <p:sp>
          <p:nvSpPr>
            <p:cNvPr id="130094" name="Text Box 48">
              <a:extLst>
                <a:ext uri="{FF2B5EF4-FFF2-40B4-BE49-F238E27FC236}">
                  <a16:creationId xmlns:a16="http://schemas.microsoft.com/office/drawing/2014/main" id="{278E35C1-532D-C3A2-4DD2-4610F9C5125F}"/>
                </a:ext>
              </a:extLst>
            </p:cNvPr>
            <p:cNvSpPr txBox="1">
              <a:spLocks noChangeArrowheads="1"/>
            </p:cNvSpPr>
            <p:nvPr/>
          </p:nvSpPr>
          <p:spPr bwMode="auto">
            <a:xfrm>
              <a:off x="3885" y="2691"/>
              <a:ext cx="24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f1</a:t>
              </a:r>
            </a:p>
          </p:txBody>
        </p:sp>
        <p:sp>
          <p:nvSpPr>
            <p:cNvPr id="130095" name="Text Box 49">
              <a:extLst>
                <a:ext uri="{FF2B5EF4-FFF2-40B4-BE49-F238E27FC236}">
                  <a16:creationId xmlns:a16="http://schemas.microsoft.com/office/drawing/2014/main" id="{B804530E-5226-CD6F-FD61-E768303785AC}"/>
                </a:ext>
              </a:extLst>
            </p:cNvPr>
            <p:cNvSpPr txBox="1">
              <a:spLocks noChangeArrowheads="1"/>
            </p:cNvSpPr>
            <p:nvPr/>
          </p:nvSpPr>
          <p:spPr bwMode="auto">
            <a:xfrm>
              <a:off x="3872" y="3291"/>
              <a:ext cx="24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t>f2</a:t>
              </a:r>
            </a:p>
          </p:txBody>
        </p:sp>
        <p:sp>
          <p:nvSpPr>
            <p:cNvPr id="130096" name="Text Box 50">
              <a:extLst>
                <a:ext uri="{FF2B5EF4-FFF2-40B4-BE49-F238E27FC236}">
                  <a16:creationId xmlns:a16="http://schemas.microsoft.com/office/drawing/2014/main" id="{7D73E118-D9C3-0598-4CDA-5CD895FFADF7}"/>
                </a:ext>
              </a:extLst>
            </p:cNvPr>
            <p:cNvSpPr txBox="1">
              <a:spLocks noChangeArrowheads="1"/>
            </p:cNvSpPr>
            <p:nvPr/>
          </p:nvSpPr>
          <p:spPr bwMode="auto">
            <a:xfrm>
              <a:off x="2396" y="2160"/>
              <a:ext cx="48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b="1">
                  <a:sym typeface="Symbol" panose="05050102010706020507" pitchFamily="18" charset="2"/>
                </a:rPr>
                <a:t></a:t>
              </a:r>
              <a:r>
                <a:rPr lang="ru-RU" altLang="en-US" sz="1600" b="1"/>
                <a:t>t0</a:t>
              </a:r>
            </a:p>
          </p:txBody>
        </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4">
            <a:extLst>
              <a:ext uri="{FF2B5EF4-FFF2-40B4-BE49-F238E27FC236}">
                <a16:creationId xmlns:a16="http://schemas.microsoft.com/office/drawing/2014/main" id="{E3BC42C0-653E-08EB-FB79-82F93CB6CFAA}"/>
              </a:ext>
            </a:extLst>
          </p:cNvPr>
          <p:cNvSpPr>
            <a:spLocks noGrp="1" noChangeArrowheads="1"/>
          </p:cNvSpPr>
          <p:nvPr>
            <p:ph type="title"/>
          </p:nvPr>
        </p:nvSpPr>
        <p:spPr/>
        <p:txBody>
          <a:bodyPr/>
          <a:lstStyle/>
          <a:p>
            <a:r>
              <a:rPr lang="en-US" altLang="en-US"/>
              <a:t>Example</a:t>
            </a:r>
            <a:endParaRPr lang="ru-RU" altLang="en-US"/>
          </a:p>
        </p:txBody>
      </p:sp>
      <p:sp>
        <p:nvSpPr>
          <p:cNvPr id="131075" name="Content Placeholder 3">
            <a:extLst>
              <a:ext uri="{FF2B5EF4-FFF2-40B4-BE49-F238E27FC236}">
                <a16:creationId xmlns:a16="http://schemas.microsoft.com/office/drawing/2014/main" id="{2724363A-C1DC-D3CB-168A-AC6D1F534803}"/>
              </a:ext>
            </a:extLst>
          </p:cNvPr>
          <p:cNvSpPr>
            <a:spLocks noGrp="1" noChangeArrowheads="1"/>
          </p:cNvSpPr>
          <p:nvPr>
            <p:ph type="body" sz="quarter" idx="10"/>
          </p:nvPr>
        </p:nvSpPr>
        <p:spPr/>
        <p:txBody>
          <a:bodyPr/>
          <a:lstStyle/>
          <a:p>
            <a:r>
              <a:rPr lang="en-GB" altLang="en-US" sz="1800" dirty="0"/>
              <a:t>module selector(d4,d3,d2,d1,s2,s1,y);</a:t>
            </a:r>
          </a:p>
          <a:p>
            <a:r>
              <a:rPr lang="en-GB" altLang="en-US" sz="1800" dirty="0"/>
              <a:t>	input d4,d3,d2,d1,s3,s2,s1;</a:t>
            </a:r>
          </a:p>
          <a:p>
            <a:r>
              <a:rPr lang="en-GB" altLang="en-US" sz="1800" dirty="0"/>
              <a:t>output reg y; </a:t>
            </a:r>
          </a:p>
          <a:p>
            <a:r>
              <a:rPr lang="en-GB" altLang="en-US" sz="1800" dirty="0"/>
              <a:t>	always @(d4,d3,d2,d1,s3,s2,s1)</a:t>
            </a:r>
          </a:p>
          <a:p>
            <a:r>
              <a:rPr lang="en-GB" altLang="en-US" sz="1800" dirty="0"/>
              <a:t>begin</a:t>
            </a:r>
          </a:p>
          <a:p>
            <a:r>
              <a:rPr lang="en-GB" altLang="en-US" sz="1800" dirty="0"/>
              <a:t> if (s1) y=d1; </a:t>
            </a:r>
          </a:p>
          <a:p>
            <a:r>
              <a:rPr lang="en-GB" altLang="en-US" sz="1800" dirty="0"/>
              <a:t>else</a:t>
            </a:r>
          </a:p>
          <a:p>
            <a:r>
              <a:rPr lang="en-GB" altLang="en-US" sz="1800" dirty="0"/>
              <a:t>if (s2) y=d2; </a:t>
            </a:r>
          </a:p>
          <a:p>
            <a:r>
              <a:rPr lang="en-GB" altLang="en-US" sz="1800" dirty="0"/>
              <a:t>else</a:t>
            </a:r>
          </a:p>
          <a:p>
            <a:r>
              <a:rPr lang="en-GB" altLang="en-US" sz="1800" dirty="0"/>
              <a:t>if (s3) y=d3</a:t>
            </a:r>
          </a:p>
          <a:p>
            <a:r>
              <a:rPr lang="en-GB" altLang="en-US" sz="1800" dirty="0"/>
              <a:t>else y=d4;</a:t>
            </a:r>
          </a:p>
          <a:p>
            <a:r>
              <a:rPr lang="en-GB" altLang="en-US" sz="1800" dirty="0"/>
              <a:t>end</a:t>
            </a:r>
            <a:endParaRPr lang="ru-RU" altLang="en-US" sz="1800" dirty="0"/>
          </a:p>
          <a:p>
            <a:endParaRPr lang="ru-RU" altLang="en-US" sz="1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4">
            <a:extLst>
              <a:ext uri="{FF2B5EF4-FFF2-40B4-BE49-F238E27FC236}">
                <a16:creationId xmlns:a16="http://schemas.microsoft.com/office/drawing/2014/main" id="{61E99B75-AF3D-3464-62F9-9B4AA35FF36A}"/>
              </a:ext>
            </a:extLst>
          </p:cNvPr>
          <p:cNvSpPr>
            <a:spLocks noGrp="1" noChangeArrowheads="1"/>
          </p:cNvSpPr>
          <p:nvPr>
            <p:ph type="title"/>
          </p:nvPr>
        </p:nvSpPr>
        <p:spPr/>
        <p:txBody>
          <a:bodyPr/>
          <a:lstStyle/>
          <a:p>
            <a:r>
              <a:rPr lang="en-US" altLang="en-US"/>
              <a:t>Structuring and Flattening</a:t>
            </a:r>
            <a:endParaRPr lang="ru-RU" altLang="en-US"/>
          </a:p>
        </p:txBody>
      </p:sp>
      <p:sp>
        <p:nvSpPr>
          <p:cNvPr id="132099" name="Content Placeholder 92">
            <a:extLst>
              <a:ext uri="{FF2B5EF4-FFF2-40B4-BE49-F238E27FC236}">
                <a16:creationId xmlns:a16="http://schemas.microsoft.com/office/drawing/2014/main" id="{42FE481B-1D3A-B733-EA8E-4741B0838B9B}"/>
              </a:ext>
            </a:extLst>
          </p:cNvPr>
          <p:cNvSpPr>
            <a:spLocks noGrp="1" noChangeArrowheads="1"/>
          </p:cNvSpPr>
          <p:nvPr>
            <p:ph type="body" sz="quarter" idx="13"/>
          </p:nvPr>
        </p:nvSpPr>
        <p:spPr/>
        <p:txBody>
          <a:bodyPr/>
          <a:lstStyle/>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pPr marL="0" indent="0">
              <a:buNone/>
            </a:pPr>
            <a:r>
              <a:rPr lang="en-US" altLang="en-US" dirty="0"/>
              <a:t>         Structuring</a:t>
            </a:r>
            <a:endParaRPr lang="ru-RU" altLang="en-US" dirty="0"/>
          </a:p>
          <a:p>
            <a:endParaRPr lang="ru-RU" altLang="en-US" dirty="0"/>
          </a:p>
        </p:txBody>
      </p:sp>
      <p:sp>
        <p:nvSpPr>
          <p:cNvPr id="132100" name="Content Placeholder 93">
            <a:extLst>
              <a:ext uri="{FF2B5EF4-FFF2-40B4-BE49-F238E27FC236}">
                <a16:creationId xmlns:a16="http://schemas.microsoft.com/office/drawing/2014/main" id="{63CD9594-6288-C2D4-1FD7-788DB0A322A5}"/>
              </a:ext>
            </a:extLst>
          </p:cNvPr>
          <p:cNvSpPr>
            <a:spLocks noGrp="1" noChangeArrowheads="1"/>
          </p:cNvSpPr>
          <p:nvPr>
            <p:ph type="body" sz="quarter" idx="14"/>
          </p:nvPr>
        </p:nvSpPr>
        <p:spPr/>
        <p:txBody>
          <a:bodyPr/>
          <a:lstStyle/>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pPr marL="0" indent="0">
              <a:buNone/>
            </a:pPr>
            <a:r>
              <a:rPr lang="en-US" altLang="en-US" dirty="0"/>
              <a:t>          Flattening</a:t>
            </a:r>
            <a:endParaRPr lang="ru-RU" altLang="en-US" dirty="0"/>
          </a:p>
          <a:p>
            <a:endParaRPr lang="ru-RU" altLang="en-US" dirty="0"/>
          </a:p>
        </p:txBody>
      </p:sp>
      <p:grpSp>
        <p:nvGrpSpPr>
          <p:cNvPr id="132101" name="Group 41">
            <a:extLst>
              <a:ext uri="{FF2B5EF4-FFF2-40B4-BE49-F238E27FC236}">
                <a16:creationId xmlns:a16="http://schemas.microsoft.com/office/drawing/2014/main" id="{FDFB08A4-6C6C-18F1-F4BD-AA06E7FE138A}"/>
              </a:ext>
            </a:extLst>
          </p:cNvPr>
          <p:cNvGrpSpPr>
            <a:grpSpLocks/>
          </p:cNvGrpSpPr>
          <p:nvPr/>
        </p:nvGrpSpPr>
        <p:grpSpPr bwMode="auto">
          <a:xfrm>
            <a:off x="1269042" y="1418431"/>
            <a:ext cx="3403600" cy="2773363"/>
            <a:chOff x="448" y="1373"/>
            <a:chExt cx="2144" cy="1747"/>
          </a:xfrm>
        </p:grpSpPr>
        <p:sp>
          <p:nvSpPr>
            <p:cNvPr id="132151" name="AutoShape 6">
              <a:extLst>
                <a:ext uri="{FF2B5EF4-FFF2-40B4-BE49-F238E27FC236}">
                  <a16:creationId xmlns:a16="http://schemas.microsoft.com/office/drawing/2014/main" id="{72AC3DED-9B37-80E1-3901-70E3CDDCE083}"/>
                </a:ext>
              </a:extLst>
            </p:cNvPr>
            <p:cNvSpPr>
              <a:spLocks noChangeArrowheads="1"/>
            </p:cNvSpPr>
            <p:nvPr/>
          </p:nvSpPr>
          <p:spPr bwMode="auto">
            <a:xfrm rot="-5400000">
              <a:off x="710" y="1528"/>
              <a:ext cx="496" cy="18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5 w 21600"/>
                <a:gd name="T13" fmla="*/ 4529 h 21600"/>
                <a:gd name="T14" fmla="*/ 17115 w 21600"/>
                <a:gd name="T15" fmla="*/ 1707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132152" name="AutoShape 7">
              <a:extLst>
                <a:ext uri="{FF2B5EF4-FFF2-40B4-BE49-F238E27FC236}">
                  <a16:creationId xmlns:a16="http://schemas.microsoft.com/office/drawing/2014/main" id="{5FB76FD5-5D34-5BE7-0E59-4551B9784248}"/>
                </a:ext>
              </a:extLst>
            </p:cNvPr>
            <p:cNvSpPr>
              <a:spLocks noChangeArrowheads="1"/>
            </p:cNvSpPr>
            <p:nvPr/>
          </p:nvSpPr>
          <p:spPr bwMode="auto">
            <a:xfrm rot="-5400000">
              <a:off x="1230" y="2038"/>
              <a:ext cx="497" cy="18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0 w 21600"/>
                <a:gd name="T13" fmla="*/ 4529 h 21600"/>
                <a:gd name="T14" fmla="*/ 17080 w 21600"/>
                <a:gd name="T15" fmla="*/ 1707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132153" name="Line 8">
              <a:extLst>
                <a:ext uri="{FF2B5EF4-FFF2-40B4-BE49-F238E27FC236}">
                  <a16:creationId xmlns:a16="http://schemas.microsoft.com/office/drawing/2014/main" id="{63A27BED-3FD3-EBC0-ECA8-AB95F341C4F9}"/>
                </a:ext>
              </a:extLst>
            </p:cNvPr>
            <p:cNvSpPr>
              <a:spLocks noChangeShapeType="1"/>
            </p:cNvSpPr>
            <p:nvPr/>
          </p:nvSpPr>
          <p:spPr bwMode="auto">
            <a:xfrm>
              <a:off x="686" y="1485"/>
              <a:ext cx="17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54" name="Line 9">
              <a:extLst>
                <a:ext uri="{FF2B5EF4-FFF2-40B4-BE49-F238E27FC236}">
                  <a16:creationId xmlns:a16="http://schemas.microsoft.com/office/drawing/2014/main" id="{8B22942C-4D2D-FBFC-D66E-F14F81DEE005}"/>
                </a:ext>
              </a:extLst>
            </p:cNvPr>
            <p:cNvSpPr>
              <a:spLocks noChangeShapeType="1"/>
            </p:cNvSpPr>
            <p:nvPr/>
          </p:nvSpPr>
          <p:spPr bwMode="auto">
            <a:xfrm>
              <a:off x="1051" y="1611"/>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55" name="Line 10">
              <a:extLst>
                <a:ext uri="{FF2B5EF4-FFF2-40B4-BE49-F238E27FC236}">
                  <a16:creationId xmlns:a16="http://schemas.microsoft.com/office/drawing/2014/main" id="{0F8370D0-88E2-873D-622A-353667D69CAD}"/>
                </a:ext>
              </a:extLst>
            </p:cNvPr>
            <p:cNvSpPr>
              <a:spLocks noChangeShapeType="1"/>
            </p:cNvSpPr>
            <p:nvPr/>
          </p:nvSpPr>
          <p:spPr bwMode="auto">
            <a:xfrm>
              <a:off x="1572" y="2127"/>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56" name="Line 11">
              <a:extLst>
                <a:ext uri="{FF2B5EF4-FFF2-40B4-BE49-F238E27FC236}">
                  <a16:creationId xmlns:a16="http://schemas.microsoft.com/office/drawing/2014/main" id="{3B7103D1-9D01-C261-3547-0F2D7C74BFDD}"/>
                </a:ext>
              </a:extLst>
            </p:cNvPr>
            <p:cNvSpPr>
              <a:spLocks noChangeShapeType="1"/>
            </p:cNvSpPr>
            <p:nvPr/>
          </p:nvSpPr>
          <p:spPr bwMode="auto">
            <a:xfrm>
              <a:off x="686" y="1744"/>
              <a:ext cx="17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57" name="Line 12">
              <a:extLst>
                <a:ext uri="{FF2B5EF4-FFF2-40B4-BE49-F238E27FC236}">
                  <a16:creationId xmlns:a16="http://schemas.microsoft.com/office/drawing/2014/main" id="{A5260E2E-F0E1-2A32-631A-BDF98DA492D7}"/>
                </a:ext>
              </a:extLst>
            </p:cNvPr>
            <p:cNvSpPr>
              <a:spLocks noChangeShapeType="1"/>
            </p:cNvSpPr>
            <p:nvPr/>
          </p:nvSpPr>
          <p:spPr bwMode="auto">
            <a:xfrm>
              <a:off x="1215" y="2008"/>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58" name="Line 13">
              <a:extLst>
                <a:ext uri="{FF2B5EF4-FFF2-40B4-BE49-F238E27FC236}">
                  <a16:creationId xmlns:a16="http://schemas.microsoft.com/office/drawing/2014/main" id="{AC4BF041-8E9B-0336-186C-9B70CD935911}"/>
                </a:ext>
              </a:extLst>
            </p:cNvPr>
            <p:cNvSpPr>
              <a:spLocks noChangeShapeType="1"/>
            </p:cNvSpPr>
            <p:nvPr/>
          </p:nvSpPr>
          <p:spPr bwMode="auto">
            <a:xfrm>
              <a:off x="694" y="2253"/>
              <a:ext cx="6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59" name="Line 14">
              <a:extLst>
                <a:ext uri="{FF2B5EF4-FFF2-40B4-BE49-F238E27FC236}">
                  <a16:creationId xmlns:a16="http://schemas.microsoft.com/office/drawing/2014/main" id="{FAEBE655-17E2-F4D5-EF91-7587FB7E9200}"/>
                </a:ext>
              </a:extLst>
            </p:cNvPr>
            <p:cNvSpPr>
              <a:spLocks noChangeShapeType="1"/>
            </p:cNvSpPr>
            <p:nvPr/>
          </p:nvSpPr>
          <p:spPr bwMode="auto">
            <a:xfrm>
              <a:off x="1215" y="1611"/>
              <a:ext cx="0" cy="39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0" name="Line 15">
              <a:extLst>
                <a:ext uri="{FF2B5EF4-FFF2-40B4-BE49-F238E27FC236}">
                  <a16:creationId xmlns:a16="http://schemas.microsoft.com/office/drawing/2014/main" id="{9F6939EF-D7BC-68CA-2B34-198A8382A696}"/>
                </a:ext>
              </a:extLst>
            </p:cNvPr>
            <p:cNvSpPr>
              <a:spLocks noChangeShapeType="1"/>
            </p:cNvSpPr>
            <p:nvPr/>
          </p:nvSpPr>
          <p:spPr bwMode="auto">
            <a:xfrm>
              <a:off x="1736" y="2127"/>
              <a:ext cx="0" cy="39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1" name="Line 16">
              <a:extLst>
                <a:ext uri="{FF2B5EF4-FFF2-40B4-BE49-F238E27FC236}">
                  <a16:creationId xmlns:a16="http://schemas.microsoft.com/office/drawing/2014/main" id="{6C161227-6F1B-9EF3-E2BE-51E13C497127}"/>
                </a:ext>
              </a:extLst>
            </p:cNvPr>
            <p:cNvSpPr>
              <a:spLocks noChangeShapeType="1"/>
            </p:cNvSpPr>
            <p:nvPr/>
          </p:nvSpPr>
          <p:spPr bwMode="auto">
            <a:xfrm>
              <a:off x="1736" y="2524"/>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2" name="Line 17">
              <a:extLst>
                <a:ext uri="{FF2B5EF4-FFF2-40B4-BE49-F238E27FC236}">
                  <a16:creationId xmlns:a16="http://schemas.microsoft.com/office/drawing/2014/main" id="{07D33256-7EDE-2B17-AA80-35D590A3E4D2}"/>
                </a:ext>
              </a:extLst>
            </p:cNvPr>
            <p:cNvSpPr>
              <a:spLocks noChangeShapeType="1"/>
            </p:cNvSpPr>
            <p:nvPr/>
          </p:nvSpPr>
          <p:spPr bwMode="auto">
            <a:xfrm>
              <a:off x="701" y="2769"/>
              <a:ext cx="12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3" name="Line 18">
              <a:extLst>
                <a:ext uri="{FF2B5EF4-FFF2-40B4-BE49-F238E27FC236}">
                  <a16:creationId xmlns:a16="http://schemas.microsoft.com/office/drawing/2014/main" id="{B806FF16-351B-CACE-0BF9-6CB7F857AE3B}"/>
                </a:ext>
              </a:extLst>
            </p:cNvPr>
            <p:cNvSpPr>
              <a:spLocks noChangeShapeType="1"/>
            </p:cNvSpPr>
            <p:nvPr/>
          </p:nvSpPr>
          <p:spPr bwMode="auto">
            <a:xfrm>
              <a:off x="991" y="1790"/>
              <a:ext cx="0" cy="1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4" name="Line 19">
              <a:extLst>
                <a:ext uri="{FF2B5EF4-FFF2-40B4-BE49-F238E27FC236}">
                  <a16:creationId xmlns:a16="http://schemas.microsoft.com/office/drawing/2014/main" id="{BBE54B80-83ED-C082-DFEA-0552D59423D4}"/>
                </a:ext>
              </a:extLst>
            </p:cNvPr>
            <p:cNvSpPr>
              <a:spLocks noChangeShapeType="1"/>
            </p:cNvSpPr>
            <p:nvPr/>
          </p:nvSpPr>
          <p:spPr bwMode="auto">
            <a:xfrm>
              <a:off x="686" y="1955"/>
              <a:ext cx="3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5" name="Line 20">
              <a:extLst>
                <a:ext uri="{FF2B5EF4-FFF2-40B4-BE49-F238E27FC236}">
                  <a16:creationId xmlns:a16="http://schemas.microsoft.com/office/drawing/2014/main" id="{AE5DF709-7098-FC54-8429-3375802E0B4C}"/>
                </a:ext>
              </a:extLst>
            </p:cNvPr>
            <p:cNvSpPr>
              <a:spLocks noChangeShapeType="1"/>
            </p:cNvSpPr>
            <p:nvPr/>
          </p:nvSpPr>
          <p:spPr bwMode="auto">
            <a:xfrm>
              <a:off x="1483" y="2319"/>
              <a:ext cx="0" cy="1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6" name="Line 21">
              <a:extLst>
                <a:ext uri="{FF2B5EF4-FFF2-40B4-BE49-F238E27FC236}">
                  <a16:creationId xmlns:a16="http://schemas.microsoft.com/office/drawing/2014/main" id="{9C0B005C-F7BC-4743-AE61-50B28A7FBE36}"/>
                </a:ext>
              </a:extLst>
            </p:cNvPr>
            <p:cNvSpPr>
              <a:spLocks noChangeShapeType="1"/>
            </p:cNvSpPr>
            <p:nvPr/>
          </p:nvSpPr>
          <p:spPr bwMode="auto">
            <a:xfrm>
              <a:off x="709" y="2478"/>
              <a:ext cx="77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7" name="Line 22">
              <a:extLst>
                <a:ext uri="{FF2B5EF4-FFF2-40B4-BE49-F238E27FC236}">
                  <a16:creationId xmlns:a16="http://schemas.microsoft.com/office/drawing/2014/main" id="{4300D14A-DBAE-B0D9-90DE-D80CCEE0D20D}"/>
                </a:ext>
              </a:extLst>
            </p:cNvPr>
            <p:cNvSpPr>
              <a:spLocks noChangeShapeType="1"/>
            </p:cNvSpPr>
            <p:nvPr/>
          </p:nvSpPr>
          <p:spPr bwMode="auto">
            <a:xfrm>
              <a:off x="2011" y="2829"/>
              <a:ext cx="0" cy="1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8" name="Line 23">
              <a:extLst>
                <a:ext uri="{FF2B5EF4-FFF2-40B4-BE49-F238E27FC236}">
                  <a16:creationId xmlns:a16="http://schemas.microsoft.com/office/drawing/2014/main" id="{C7BBEE6E-F11A-516E-D8B2-29E41713C0C1}"/>
                </a:ext>
              </a:extLst>
            </p:cNvPr>
            <p:cNvSpPr>
              <a:spLocks noChangeShapeType="1"/>
            </p:cNvSpPr>
            <p:nvPr/>
          </p:nvSpPr>
          <p:spPr bwMode="auto">
            <a:xfrm>
              <a:off x="709" y="2994"/>
              <a:ext cx="13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69" name="Line 24">
              <a:extLst>
                <a:ext uri="{FF2B5EF4-FFF2-40B4-BE49-F238E27FC236}">
                  <a16:creationId xmlns:a16="http://schemas.microsoft.com/office/drawing/2014/main" id="{6E63300E-87A5-7354-EA2D-1CABDBAF9DB6}"/>
                </a:ext>
              </a:extLst>
            </p:cNvPr>
            <p:cNvSpPr>
              <a:spLocks noChangeShapeType="1"/>
            </p:cNvSpPr>
            <p:nvPr/>
          </p:nvSpPr>
          <p:spPr bwMode="auto">
            <a:xfrm>
              <a:off x="2086" y="2637"/>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70" name="Text Box 25">
              <a:extLst>
                <a:ext uri="{FF2B5EF4-FFF2-40B4-BE49-F238E27FC236}">
                  <a16:creationId xmlns:a16="http://schemas.microsoft.com/office/drawing/2014/main" id="{6985C3A7-8380-6FDA-7E07-81C219315FC0}"/>
                </a:ext>
              </a:extLst>
            </p:cNvPr>
            <p:cNvSpPr txBox="1">
              <a:spLocks noChangeArrowheads="1"/>
            </p:cNvSpPr>
            <p:nvPr/>
          </p:nvSpPr>
          <p:spPr bwMode="auto">
            <a:xfrm>
              <a:off x="845" y="1406"/>
              <a:ext cx="28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0</a:t>
              </a:r>
              <a:endParaRPr lang="ru-RU" altLang="en-US" sz="1400" b="1"/>
            </a:p>
          </p:txBody>
        </p:sp>
        <p:sp>
          <p:nvSpPr>
            <p:cNvPr id="132171" name="Text Box 26">
              <a:extLst>
                <a:ext uri="{FF2B5EF4-FFF2-40B4-BE49-F238E27FC236}">
                  <a16:creationId xmlns:a16="http://schemas.microsoft.com/office/drawing/2014/main" id="{B2AAAB01-3978-3F26-91C3-A1DD04AB04AC}"/>
                </a:ext>
              </a:extLst>
            </p:cNvPr>
            <p:cNvSpPr txBox="1">
              <a:spLocks noChangeArrowheads="1"/>
            </p:cNvSpPr>
            <p:nvPr/>
          </p:nvSpPr>
          <p:spPr bwMode="auto">
            <a:xfrm>
              <a:off x="1358" y="2147"/>
              <a:ext cx="28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1</a:t>
              </a:r>
              <a:endParaRPr lang="ru-RU" altLang="en-US" sz="1400" b="1"/>
            </a:p>
          </p:txBody>
        </p:sp>
        <p:sp>
          <p:nvSpPr>
            <p:cNvPr id="132172" name="Text Box 27">
              <a:extLst>
                <a:ext uri="{FF2B5EF4-FFF2-40B4-BE49-F238E27FC236}">
                  <a16:creationId xmlns:a16="http://schemas.microsoft.com/office/drawing/2014/main" id="{E6C761DF-A8F6-4B7C-F3DD-BBE81153BB9F}"/>
                </a:ext>
              </a:extLst>
            </p:cNvPr>
            <p:cNvSpPr txBox="1">
              <a:spLocks noChangeArrowheads="1"/>
            </p:cNvSpPr>
            <p:nvPr/>
          </p:nvSpPr>
          <p:spPr bwMode="auto">
            <a:xfrm>
              <a:off x="1366" y="1929"/>
              <a:ext cx="28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0</a:t>
              </a:r>
              <a:endParaRPr lang="ru-RU" altLang="en-US" sz="1400" b="1"/>
            </a:p>
          </p:txBody>
        </p:sp>
        <p:sp>
          <p:nvSpPr>
            <p:cNvPr id="132173" name="AutoShape 29">
              <a:extLst>
                <a:ext uri="{FF2B5EF4-FFF2-40B4-BE49-F238E27FC236}">
                  <a16:creationId xmlns:a16="http://schemas.microsoft.com/office/drawing/2014/main" id="{178D5F4B-8D38-0EF0-110A-D5116A4FE83E}"/>
                </a:ext>
              </a:extLst>
            </p:cNvPr>
            <p:cNvSpPr>
              <a:spLocks noChangeArrowheads="1"/>
            </p:cNvSpPr>
            <p:nvPr/>
          </p:nvSpPr>
          <p:spPr bwMode="auto">
            <a:xfrm rot="-5400000">
              <a:off x="1752" y="2554"/>
              <a:ext cx="496" cy="18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5 w 21600"/>
                <a:gd name="T13" fmla="*/ 4529 h 21600"/>
                <a:gd name="T14" fmla="*/ 17115 w 21600"/>
                <a:gd name="T15" fmla="*/ 1707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132174" name="Text Box 30">
              <a:extLst>
                <a:ext uri="{FF2B5EF4-FFF2-40B4-BE49-F238E27FC236}">
                  <a16:creationId xmlns:a16="http://schemas.microsoft.com/office/drawing/2014/main" id="{659EABA6-C9C1-241A-69D6-7FB94EAF338C}"/>
                </a:ext>
              </a:extLst>
            </p:cNvPr>
            <p:cNvSpPr txBox="1">
              <a:spLocks noChangeArrowheads="1"/>
            </p:cNvSpPr>
            <p:nvPr/>
          </p:nvSpPr>
          <p:spPr bwMode="auto">
            <a:xfrm>
              <a:off x="1902" y="2676"/>
              <a:ext cx="28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1</a:t>
              </a:r>
              <a:endParaRPr lang="ru-RU" altLang="en-US" sz="1400" b="1"/>
            </a:p>
          </p:txBody>
        </p:sp>
        <p:sp>
          <p:nvSpPr>
            <p:cNvPr id="132175" name="Text Box 31">
              <a:extLst>
                <a:ext uri="{FF2B5EF4-FFF2-40B4-BE49-F238E27FC236}">
                  <a16:creationId xmlns:a16="http://schemas.microsoft.com/office/drawing/2014/main" id="{D3081BB7-660A-BDC6-F3E0-7011F2F2E71E}"/>
                </a:ext>
              </a:extLst>
            </p:cNvPr>
            <p:cNvSpPr txBox="1">
              <a:spLocks noChangeArrowheads="1"/>
            </p:cNvSpPr>
            <p:nvPr/>
          </p:nvSpPr>
          <p:spPr bwMode="auto">
            <a:xfrm>
              <a:off x="1901" y="2438"/>
              <a:ext cx="28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0</a:t>
              </a:r>
              <a:endParaRPr lang="ru-RU" altLang="en-US" sz="1400" b="1"/>
            </a:p>
          </p:txBody>
        </p:sp>
        <p:sp>
          <p:nvSpPr>
            <p:cNvPr id="132176" name="Text Box 32">
              <a:extLst>
                <a:ext uri="{FF2B5EF4-FFF2-40B4-BE49-F238E27FC236}">
                  <a16:creationId xmlns:a16="http://schemas.microsoft.com/office/drawing/2014/main" id="{A333587E-A057-45A9-41C1-6104C4ECFA6B}"/>
                </a:ext>
              </a:extLst>
            </p:cNvPr>
            <p:cNvSpPr txBox="1">
              <a:spLocks noChangeArrowheads="1"/>
            </p:cNvSpPr>
            <p:nvPr/>
          </p:nvSpPr>
          <p:spPr bwMode="auto">
            <a:xfrm>
              <a:off x="837" y="1637"/>
              <a:ext cx="28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1</a:t>
              </a:r>
              <a:endParaRPr lang="ru-RU" altLang="en-US" sz="1400" b="1"/>
            </a:p>
          </p:txBody>
        </p:sp>
        <p:sp>
          <p:nvSpPr>
            <p:cNvPr id="132177" name="Text Box 33">
              <a:extLst>
                <a:ext uri="{FF2B5EF4-FFF2-40B4-BE49-F238E27FC236}">
                  <a16:creationId xmlns:a16="http://schemas.microsoft.com/office/drawing/2014/main" id="{F102A43E-B20A-8C97-3665-2C4681298923}"/>
                </a:ext>
              </a:extLst>
            </p:cNvPr>
            <p:cNvSpPr txBox="1">
              <a:spLocks noChangeArrowheads="1"/>
            </p:cNvSpPr>
            <p:nvPr/>
          </p:nvSpPr>
          <p:spPr bwMode="auto">
            <a:xfrm>
              <a:off x="448" y="1393"/>
              <a:ext cx="28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D4</a:t>
              </a:r>
            </a:p>
          </p:txBody>
        </p:sp>
        <p:sp>
          <p:nvSpPr>
            <p:cNvPr id="132178" name="Text Box 34">
              <a:extLst>
                <a:ext uri="{FF2B5EF4-FFF2-40B4-BE49-F238E27FC236}">
                  <a16:creationId xmlns:a16="http://schemas.microsoft.com/office/drawing/2014/main" id="{07A68550-EA36-653E-5532-767741B8E6DA}"/>
                </a:ext>
              </a:extLst>
            </p:cNvPr>
            <p:cNvSpPr txBox="1">
              <a:spLocks noChangeArrowheads="1"/>
            </p:cNvSpPr>
            <p:nvPr/>
          </p:nvSpPr>
          <p:spPr bwMode="auto">
            <a:xfrm>
              <a:off x="455" y="1637"/>
              <a:ext cx="28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D3</a:t>
              </a:r>
            </a:p>
          </p:txBody>
        </p:sp>
        <p:sp>
          <p:nvSpPr>
            <p:cNvPr id="132179" name="Text Box 35">
              <a:extLst>
                <a:ext uri="{FF2B5EF4-FFF2-40B4-BE49-F238E27FC236}">
                  <a16:creationId xmlns:a16="http://schemas.microsoft.com/office/drawing/2014/main" id="{5AD9F1F4-D65A-C9EF-AD91-3F7E11088267}"/>
                </a:ext>
              </a:extLst>
            </p:cNvPr>
            <p:cNvSpPr txBox="1">
              <a:spLocks noChangeArrowheads="1"/>
            </p:cNvSpPr>
            <p:nvPr/>
          </p:nvSpPr>
          <p:spPr bwMode="auto">
            <a:xfrm>
              <a:off x="470" y="1869"/>
              <a:ext cx="28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S1</a:t>
              </a:r>
            </a:p>
          </p:txBody>
        </p:sp>
        <p:sp>
          <p:nvSpPr>
            <p:cNvPr id="132180" name="Text Box 36">
              <a:extLst>
                <a:ext uri="{FF2B5EF4-FFF2-40B4-BE49-F238E27FC236}">
                  <a16:creationId xmlns:a16="http://schemas.microsoft.com/office/drawing/2014/main" id="{51D25A2E-08F0-F323-FF53-7CCDDD0769A6}"/>
                </a:ext>
              </a:extLst>
            </p:cNvPr>
            <p:cNvSpPr txBox="1">
              <a:spLocks noChangeArrowheads="1"/>
            </p:cNvSpPr>
            <p:nvPr/>
          </p:nvSpPr>
          <p:spPr bwMode="auto">
            <a:xfrm>
              <a:off x="470" y="2379"/>
              <a:ext cx="28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S2</a:t>
              </a:r>
            </a:p>
          </p:txBody>
        </p:sp>
        <p:sp>
          <p:nvSpPr>
            <p:cNvPr id="132181" name="Text Box 37">
              <a:extLst>
                <a:ext uri="{FF2B5EF4-FFF2-40B4-BE49-F238E27FC236}">
                  <a16:creationId xmlns:a16="http://schemas.microsoft.com/office/drawing/2014/main" id="{A3D35DBE-099E-E80B-C897-6F3068E93DB7}"/>
                </a:ext>
              </a:extLst>
            </p:cNvPr>
            <p:cNvSpPr txBox="1">
              <a:spLocks noChangeArrowheads="1"/>
            </p:cNvSpPr>
            <p:nvPr/>
          </p:nvSpPr>
          <p:spPr bwMode="auto">
            <a:xfrm>
              <a:off x="470" y="2167"/>
              <a:ext cx="28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D2</a:t>
              </a:r>
            </a:p>
          </p:txBody>
        </p:sp>
        <p:sp>
          <p:nvSpPr>
            <p:cNvPr id="132182" name="Text Box 38">
              <a:extLst>
                <a:ext uri="{FF2B5EF4-FFF2-40B4-BE49-F238E27FC236}">
                  <a16:creationId xmlns:a16="http://schemas.microsoft.com/office/drawing/2014/main" id="{14020C73-F2C3-D78D-F27A-5FF1660837AE}"/>
                </a:ext>
              </a:extLst>
            </p:cNvPr>
            <p:cNvSpPr txBox="1">
              <a:spLocks noChangeArrowheads="1"/>
            </p:cNvSpPr>
            <p:nvPr/>
          </p:nvSpPr>
          <p:spPr bwMode="auto">
            <a:xfrm>
              <a:off x="470" y="2696"/>
              <a:ext cx="28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D1</a:t>
              </a:r>
              <a:endParaRPr lang="ru-RU" altLang="en-US" sz="1400" b="1"/>
            </a:p>
          </p:txBody>
        </p:sp>
        <p:sp>
          <p:nvSpPr>
            <p:cNvPr id="132183" name="Text Box 39">
              <a:extLst>
                <a:ext uri="{FF2B5EF4-FFF2-40B4-BE49-F238E27FC236}">
                  <a16:creationId xmlns:a16="http://schemas.microsoft.com/office/drawing/2014/main" id="{08630E7A-CA39-F40C-4A59-35C75C2A8F36}"/>
                </a:ext>
              </a:extLst>
            </p:cNvPr>
            <p:cNvSpPr txBox="1">
              <a:spLocks noChangeArrowheads="1"/>
            </p:cNvSpPr>
            <p:nvPr/>
          </p:nvSpPr>
          <p:spPr bwMode="auto">
            <a:xfrm>
              <a:off x="478" y="2901"/>
              <a:ext cx="28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S1</a:t>
              </a:r>
            </a:p>
          </p:txBody>
        </p:sp>
        <p:sp>
          <p:nvSpPr>
            <p:cNvPr id="132184" name="Text Box 40">
              <a:extLst>
                <a:ext uri="{FF2B5EF4-FFF2-40B4-BE49-F238E27FC236}">
                  <a16:creationId xmlns:a16="http://schemas.microsoft.com/office/drawing/2014/main" id="{DEE01B18-D1AE-63EB-8BCC-AB3EF32E2243}"/>
                </a:ext>
              </a:extLst>
            </p:cNvPr>
            <p:cNvSpPr txBox="1">
              <a:spLocks noChangeArrowheads="1"/>
            </p:cNvSpPr>
            <p:nvPr/>
          </p:nvSpPr>
          <p:spPr bwMode="auto">
            <a:xfrm>
              <a:off x="2250" y="2531"/>
              <a:ext cx="342"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Y</a:t>
              </a:r>
              <a:endParaRPr lang="ru-RU" altLang="en-US" sz="1400" b="1"/>
            </a:p>
          </p:txBody>
        </p:sp>
      </p:grpSp>
      <p:grpSp>
        <p:nvGrpSpPr>
          <p:cNvPr id="132102" name="Group 91">
            <a:extLst>
              <a:ext uri="{FF2B5EF4-FFF2-40B4-BE49-F238E27FC236}">
                <a16:creationId xmlns:a16="http://schemas.microsoft.com/office/drawing/2014/main" id="{01F0131A-5F02-AAC3-58F3-1CE5D5DC3AEC}"/>
              </a:ext>
            </a:extLst>
          </p:cNvPr>
          <p:cNvGrpSpPr>
            <a:grpSpLocks/>
          </p:cNvGrpSpPr>
          <p:nvPr/>
        </p:nvGrpSpPr>
        <p:grpSpPr bwMode="auto">
          <a:xfrm>
            <a:off x="6573208" y="1214892"/>
            <a:ext cx="3719512" cy="2971800"/>
            <a:chOff x="2928" y="1392"/>
            <a:chExt cx="2608" cy="1872"/>
          </a:xfrm>
        </p:grpSpPr>
        <p:sp>
          <p:nvSpPr>
            <p:cNvPr id="132103" name="AutoShape 43">
              <a:extLst>
                <a:ext uri="{FF2B5EF4-FFF2-40B4-BE49-F238E27FC236}">
                  <a16:creationId xmlns:a16="http://schemas.microsoft.com/office/drawing/2014/main" id="{42470283-4C01-E834-DCD2-8232AC0A07E4}"/>
                </a:ext>
              </a:extLst>
            </p:cNvPr>
            <p:cNvSpPr>
              <a:spLocks noChangeArrowheads="1"/>
            </p:cNvSpPr>
            <p:nvPr/>
          </p:nvSpPr>
          <p:spPr bwMode="auto">
            <a:xfrm>
              <a:off x="3802" y="1410"/>
              <a:ext cx="326" cy="397"/>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04" name="AutoShape 44">
              <a:extLst>
                <a:ext uri="{FF2B5EF4-FFF2-40B4-BE49-F238E27FC236}">
                  <a16:creationId xmlns:a16="http://schemas.microsoft.com/office/drawing/2014/main" id="{0071933C-7CCB-2202-7F4B-593ADED608BA}"/>
                </a:ext>
              </a:extLst>
            </p:cNvPr>
            <p:cNvSpPr>
              <a:spLocks noChangeArrowheads="1"/>
            </p:cNvSpPr>
            <p:nvPr/>
          </p:nvSpPr>
          <p:spPr bwMode="auto">
            <a:xfrm flipH="1">
              <a:off x="4780" y="2175"/>
              <a:ext cx="326" cy="376"/>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05" name="Oval 45">
              <a:extLst>
                <a:ext uri="{FF2B5EF4-FFF2-40B4-BE49-F238E27FC236}">
                  <a16:creationId xmlns:a16="http://schemas.microsoft.com/office/drawing/2014/main" id="{10EEE13C-A63A-27A6-1F36-25CF282F342A}"/>
                </a:ext>
              </a:extLst>
            </p:cNvPr>
            <p:cNvSpPr>
              <a:spLocks noChangeArrowheads="1"/>
            </p:cNvSpPr>
            <p:nvPr/>
          </p:nvSpPr>
          <p:spPr bwMode="auto">
            <a:xfrm>
              <a:off x="3735" y="1633"/>
              <a:ext cx="64" cy="57"/>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06" name="AutoShape 46">
              <a:extLst>
                <a:ext uri="{FF2B5EF4-FFF2-40B4-BE49-F238E27FC236}">
                  <a16:creationId xmlns:a16="http://schemas.microsoft.com/office/drawing/2014/main" id="{A19D06DB-7C8C-63EC-9314-BE74A1E4658E}"/>
                </a:ext>
              </a:extLst>
            </p:cNvPr>
            <p:cNvSpPr>
              <a:spLocks noChangeArrowheads="1"/>
            </p:cNvSpPr>
            <p:nvPr/>
          </p:nvSpPr>
          <p:spPr bwMode="auto">
            <a:xfrm>
              <a:off x="3809" y="2415"/>
              <a:ext cx="326" cy="377"/>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07" name="AutoShape 47">
              <a:extLst>
                <a:ext uri="{FF2B5EF4-FFF2-40B4-BE49-F238E27FC236}">
                  <a16:creationId xmlns:a16="http://schemas.microsoft.com/office/drawing/2014/main" id="{97AD36A9-EE15-2C39-010C-53095C4C1668}"/>
                </a:ext>
              </a:extLst>
            </p:cNvPr>
            <p:cNvSpPr>
              <a:spLocks noChangeArrowheads="1"/>
            </p:cNvSpPr>
            <p:nvPr/>
          </p:nvSpPr>
          <p:spPr bwMode="auto">
            <a:xfrm>
              <a:off x="3816" y="2890"/>
              <a:ext cx="326" cy="315"/>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08" name="Oval 48">
              <a:extLst>
                <a:ext uri="{FF2B5EF4-FFF2-40B4-BE49-F238E27FC236}">
                  <a16:creationId xmlns:a16="http://schemas.microsoft.com/office/drawing/2014/main" id="{669B2097-529D-76F6-DF79-CC2AB4BD16F4}"/>
                </a:ext>
              </a:extLst>
            </p:cNvPr>
            <p:cNvSpPr>
              <a:spLocks noChangeArrowheads="1"/>
            </p:cNvSpPr>
            <p:nvPr/>
          </p:nvSpPr>
          <p:spPr bwMode="auto">
            <a:xfrm>
              <a:off x="3735" y="1709"/>
              <a:ext cx="64" cy="57"/>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09" name="Oval 49">
              <a:extLst>
                <a:ext uri="{FF2B5EF4-FFF2-40B4-BE49-F238E27FC236}">
                  <a16:creationId xmlns:a16="http://schemas.microsoft.com/office/drawing/2014/main" id="{0E5A2033-34A0-0CFC-8DDE-A64510112A2B}"/>
                </a:ext>
              </a:extLst>
            </p:cNvPr>
            <p:cNvSpPr>
              <a:spLocks noChangeArrowheads="1"/>
            </p:cNvSpPr>
            <p:nvPr/>
          </p:nvSpPr>
          <p:spPr bwMode="auto">
            <a:xfrm>
              <a:off x="3735" y="1551"/>
              <a:ext cx="64" cy="57"/>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10" name="AutoShape 50">
              <a:extLst>
                <a:ext uri="{FF2B5EF4-FFF2-40B4-BE49-F238E27FC236}">
                  <a16:creationId xmlns:a16="http://schemas.microsoft.com/office/drawing/2014/main" id="{25D87561-C6E0-751D-2A2F-486C07528195}"/>
                </a:ext>
              </a:extLst>
            </p:cNvPr>
            <p:cNvSpPr>
              <a:spLocks noChangeArrowheads="1"/>
            </p:cNvSpPr>
            <p:nvPr/>
          </p:nvSpPr>
          <p:spPr bwMode="auto">
            <a:xfrm>
              <a:off x="3802" y="1903"/>
              <a:ext cx="326" cy="397"/>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11" name="Oval 51">
              <a:extLst>
                <a:ext uri="{FF2B5EF4-FFF2-40B4-BE49-F238E27FC236}">
                  <a16:creationId xmlns:a16="http://schemas.microsoft.com/office/drawing/2014/main" id="{2753263C-05C1-4940-1C6D-8E5F6DD99AB0}"/>
                </a:ext>
              </a:extLst>
            </p:cNvPr>
            <p:cNvSpPr>
              <a:spLocks noChangeArrowheads="1"/>
            </p:cNvSpPr>
            <p:nvPr/>
          </p:nvSpPr>
          <p:spPr bwMode="auto">
            <a:xfrm>
              <a:off x="3735" y="2125"/>
              <a:ext cx="64" cy="5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12" name="Oval 52">
              <a:extLst>
                <a:ext uri="{FF2B5EF4-FFF2-40B4-BE49-F238E27FC236}">
                  <a16:creationId xmlns:a16="http://schemas.microsoft.com/office/drawing/2014/main" id="{2A50F967-11FE-B0B6-A176-618FD98EFE22}"/>
                </a:ext>
              </a:extLst>
            </p:cNvPr>
            <p:cNvSpPr>
              <a:spLocks noChangeArrowheads="1"/>
            </p:cNvSpPr>
            <p:nvPr/>
          </p:nvSpPr>
          <p:spPr bwMode="auto">
            <a:xfrm>
              <a:off x="3735" y="2201"/>
              <a:ext cx="64" cy="5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13" name="Line 53">
              <a:extLst>
                <a:ext uri="{FF2B5EF4-FFF2-40B4-BE49-F238E27FC236}">
                  <a16:creationId xmlns:a16="http://schemas.microsoft.com/office/drawing/2014/main" id="{510E304E-8464-3700-9BC2-83375D44215F}"/>
                </a:ext>
              </a:extLst>
            </p:cNvPr>
            <p:cNvSpPr>
              <a:spLocks noChangeShapeType="1"/>
            </p:cNvSpPr>
            <p:nvPr/>
          </p:nvSpPr>
          <p:spPr bwMode="auto">
            <a:xfrm>
              <a:off x="4125" y="1601"/>
              <a:ext cx="4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14" name="Line 54">
              <a:extLst>
                <a:ext uri="{FF2B5EF4-FFF2-40B4-BE49-F238E27FC236}">
                  <a16:creationId xmlns:a16="http://schemas.microsoft.com/office/drawing/2014/main" id="{42B10BD7-E00C-AF21-5F8F-B5B94876B822}"/>
                </a:ext>
              </a:extLst>
            </p:cNvPr>
            <p:cNvSpPr>
              <a:spLocks noChangeShapeType="1"/>
            </p:cNvSpPr>
            <p:nvPr/>
          </p:nvSpPr>
          <p:spPr bwMode="auto">
            <a:xfrm>
              <a:off x="4586" y="1607"/>
              <a:ext cx="0" cy="6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15" name="Line 55">
              <a:extLst>
                <a:ext uri="{FF2B5EF4-FFF2-40B4-BE49-F238E27FC236}">
                  <a16:creationId xmlns:a16="http://schemas.microsoft.com/office/drawing/2014/main" id="{32C8D423-9063-FF3E-F549-E6FA4E8805EB}"/>
                </a:ext>
              </a:extLst>
            </p:cNvPr>
            <p:cNvSpPr>
              <a:spLocks noChangeShapeType="1"/>
            </p:cNvSpPr>
            <p:nvPr/>
          </p:nvSpPr>
          <p:spPr bwMode="auto">
            <a:xfrm flipV="1">
              <a:off x="4586" y="2220"/>
              <a:ext cx="2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16" name="Line 56">
              <a:extLst>
                <a:ext uri="{FF2B5EF4-FFF2-40B4-BE49-F238E27FC236}">
                  <a16:creationId xmlns:a16="http://schemas.microsoft.com/office/drawing/2014/main" id="{49351131-B708-1357-FA68-CA16E641AF42}"/>
                </a:ext>
              </a:extLst>
            </p:cNvPr>
            <p:cNvSpPr>
              <a:spLocks noChangeShapeType="1"/>
            </p:cNvSpPr>
            <p:nvPr/>
          </p:nvSpPr>
          <p:spPr bwMode="auto">
            <a:xfrm>
              <a:off x="4132" y="2094"/>
              <a:ext cx="3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17" name="Line 57">
              <a:extLst>
                <a:ext uri="{FF2B5EF4-FFF2-40B4-BE49-F238E27FC236}">
                  <a16:creationId xmlns:a16="http://schemas.microsoft.com/office/drawing/2014/main" id="{ECDE5646-3AFD-1908-4CCE-99ED2673F1AE}"/>
                </a:ext>
              </a:extLst>
            </p:cNvPr>
            <p:cNvSpPr>
              <a:spLocks noChangeShapeType="1"/>
            </p:cNvSpPr>
            <p:nvPr/>
          </p:nvSpPr>
          <p:spPr bwMode="auto">
            <a:xfrm>
              <a:off x="4132" y="2600"/>
              <a:ext cx="3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18" name="Line 58">
              <a:extLst>
                <a:ext uri="{FF2B5EF4-FFF2-40B4-BE49-F238E27FC236}">
                  <a16:creationId xmlns:a16="http://schemas.microsoft.com/office/drawing/2014/main" id="{81B31184-119A-E86F-F58F-32C858D37D42}"/>
                </a:ext>
              </a:extLst>
            </p:cNvPr>
            <p:cNvSpPr>
              <a:spLocks noChangeShapeType="1"/>
            </p:cNvSpPr>
            <p:nvPr/>
          </p:nvSpPr>
          <p:spPr bwMode="auto">
            <a:xfrm>
              <a:off x="4140" y="3036"/>
              <a:ext cx="4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19" name="Line 59">
              <a:extLst>
                <a:ext uri="{FF2B5EF4-FFF2-40B4-BE49-F238E27FC236}">
                  <a16:creationId xmlns:a16="http://schemas.microsoft.com/office/drawing/2014/main" id="{F3895A38-A895-4653-E5D6-EF711D5AAAB0}"/>
                </a:ext>
              </a:extLst>
            </p:cNvPr>
            <p:cNvSpPr>
              <a:spLocks noChangeShapeType="1"/>
            </p:cNvSpPr>
            <p:nvPr/>
          </p:nvSpPr>
          <p:spPr bwMode="auto">
            <a:xfrm>
              <a:off x="4600" y="2486"/>
              <a:ext cx="0" cy="55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0" name="Line 60">
              <a:extLst>
                <a:ext uri="{FF2B5EF4-FFF2-40B4-BE49-F238E27FC236}">
                  <a16:creationId xmlns:a16="http://schemas.microsoft.com/office/drawing/2014/main" id="{4061D7CD-F622-7E9A-CE3D-B4CA577F70B4}"/>
                </a:ext>
              </a:extLst>
            </p:cNvPr>
            <p:cNvSpPr>
              <a:spLocks noChangeShapeType="1"/>
            </p:cNvSpPr>
            <p:nvPr/>
          </p:nvSpPr>
          <p:spPr bwMode="auto">
            <a:xfrm>
              <a:off x="4444" y="2094"/>
              <a:ext cx="0" cy="2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1" name="Line 61">
              <a:extLst>
                <a:ext uri="{FF2B5EF4-FFF2-40B4-BE49-F238E27FC236}">
                  <a16:creationId xmlns:a16="http://schemas.microsoft.com/office/drawing/2014/main" id="{C7D68031-6B96-58FD-8BBD-135E42DE8B58}"/>
                </a:ext>
              </a:extLst>
            </p:cNvPr>
            <p:cNvSpPr>
              <a:spLocks noChangeShapeType="1"/>
            </p:cNvSpPr>
            <p:nvPr/>
          </p:nvSpPr>
          <p:spPr bwMode="auto">
            <a:xfrm>
              <a:off x="4444" y="2302"/>
              <a:ext cx="3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2" name="Line 62">
              <a:extLst>
                <a:ext uri="{FF2B5EF4-FFF2-40B4-BE49-F238E27FC236}">
                  <a16:creationId xmlns:a16="http://schemas.microsoft.com/office/drawing/2014/main" id="{35DCCC11-3A08-61D7-CF48-6B17415C4834}"/>
                </a:ext>
              </a:extLst>
            </p:cNvPr>
            <p:cNvSpPr>
              <a:spLocks noChangeShapeType="1"/>
            </p:cNvSpPr>
            <p:nvPr/>
          </p:nvSpPr>
          <p:spPr bwMode="auto">
            <a:xfrm>
              <a:off x="4437" y="2398"/>
              <a:ext cx="0" cy="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3" name="Line 63">
              <a:extLst>
                <a:ext uri="{FF2B5EF4-FFF2-40B4-BE49-F238E27FC236}">
                  <a16:creationId xmlns:a16="http://schemas.microsoft.com/office/drawing/2014/main" id="{797E31FA-1E21-000E-E9B2-D412D686E1A1}"/>
                </a:ext>
              </a:extLst>
            </p:cNvPr>
            <p:cNvSpPr>
              <a:spLocks noChangeShapeType="1"/>
            </p:cNvSpPr>
            <p:nvPr/>
          </p:nvSpPr>
          <p:spPr bwMode="auto">
            <a:xfrm>
              <a:off x="4437" y="2398"/>
              <a:ext cx="38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4" name="Line 64">
              <a:extLst>
                <a:ext uri="{FF2B5EF4-FFF2-40B4-BE49-F238E27FC236}">
                  <a16:creationId xmlns:a16="http://schemas.microsoft.com/office/drawing/2014/main" id="{3F043D0E-259C-B85D-FC30-274B22365F1E}"/>
                </a:ext>
              </a:extLst>
            </p:cNvPr>
            <p:cNvSpPr>
              <a:spLocks noChangeShapeType="1"/>
            </p:cNvSpPr>
            <p:nvPr/>
          </p:nvSpPr>
          <p:spPr bwMode="auto">
            <a:xfrm>
              <a:off x="4600" y="2480"/>
              <a:ext cx="21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5" name="Line 65">
              <a:extLst>
                <a:ext uri="{FF2B5EF4-FFF2-40B4-BE49-F238E27FC236}">
                  <a16:creationId xmlns:a16="http://schemas.microsoft.com/office/drawing/2014/main" id="{16B22CFD-35EE-3510-E96E-A1D66DAFED1D}"/>
                </a:ext>
              </a:extLst>
            </p:cNvPr>
            <p:cNvSpPr>
              <a:spLocks noChangeShapeType="1"/>
            </p:cNvSpPr>
            <p:nvPr/>
          </p:nvSpPr>
          <p:spPr bwMode="auto">
            <a:xfrm>
              <a:off x="5110" y="2359"/>
              <a:ext cx="21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6" name="Line 66">
              <a:extLst>
                <a:ext uri="{FF2B5EF4-FFF2-40B4-BE49-F238E27FC236}">
                  <a16:creationId xmlns:a16="http://schemas.microsoft.com/office/drawing/2014/main" id="{16944D98-0DAB-643A-CA50-44CCE401B5BD}"/>
                </a:ext>
              </a:extLst>
            </p:cNvPr>
            <p:cNvSpPr>
              <a:spLocks noChangeShapeType="1"/>
            </p:cNvSpPr>
            <p:nvPr/>
          </p:nvSpPr>
          <p:spPr bwMode="auto">
            <a:xfrm>
              <a:off x="3197" y="1474"/>
              <a:ext cx="6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7" name="Line 67">
              <a:extLst>
                <a:ext uri="{FF2B5EF4-FFF2-40B4-BE49-F238E27FC236}">
                  <a16:creationId xmlns:a16="http://schemas.microsoft.com/office/drawing/2014/main" id="{5C0C042E-524D-0956-2AEA-A0246DECB865}"/>
                </a:ext>
              </a:extLst>
            </p:cNvPr>
            <p:cNvSpPr>
              <a:spLocks noChangeShapeType="1"/>
            </p:cNvSpPr>
            <p:nvPr/>
          </p:nvSpPr>
          <p:spPr bwMode="auto">
            <a:xfrm>
              <a:off x="3197" y="1967"/>
              <a:ext cx="6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8" name="Line 68">
              <a:extLst>
                <a:ext uri="{FF2B5EF4-FFF2-40B4-BE49-F238E27FC236}">
                  <a16:creationId xmlns:a16="http://schemas.microsoft.com/office/drawing/2014/main" id="{DC557241-76F4-20AB-A392-21F5375DD12B}"/>
                </a:ext>
              </a:extLst>
            </p:cNvPr>
            <p:cNvSpPr>
              <a:spLocks noChangeShapeType="1"/>
            </p:cNvSpPr>
            <p:nvPr/>
          </p:nvSpPr>
          <p:spPr bwMode="auto">
            <a:xfrm>
              <a:off x="3190" y="2056"/>
              <a:ext cx="6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29" name="Line 69">
              <a:extLst>
                <a:ext uri="{FF2B5EF4-FFF2-40B4-BE49-F238E27FC236}">
                  <a16:creationId xmlns:a16="http://schemas.microsoft.com/office/drawing/2014/main" id="{B93374C3-3C04-7A7B-8011-1E934D0D41E1}"/>
                </a:ext>
              </a:extLst>
            </p:cNvPr>
            <p:cNvSpPr>
              <a:spLocks noChangeShapeType="1"/>
            </p:cNvSpPr>
            <p:nvPr/>
          </p:nvSpPr>
          <p:spPr bwMode="auto">
            <a:xfrm>
              <a:off x="3204" y="2505"/>
              <a:ext cx="6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30" name="Line 70">
              <a:extLst>
                <a:ext uri="{FF2B5EF4-FFF2-40B4-BE49-F238E27FC236}">
                  <a16:creationId xmlns:a16="http://schemas.microsoft.com/office/drawing/2014/main" id="{DA89F56C-9E2C-F9D1-4D2A-387967832125}"/>
                </a:ext>
              </a:extLst>
            </p:cNvPr>
            <p:cNvSpPr>
              <a:spLocks noChangeShapeType="1"/>
            </p:cNvSpPr>
            <p:nvPr/>
          </p:nvSpPr>
          <p:spPr bwMode="auto">
            <a:xfrm>
              <a:off x="3218" y="2973"/>
              <a:ext cx="6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31" name="Line 71">
              <a:extLst>
                <a:ext uri="{FF2B5EF4-FFF2-40B4-BE49-F238E27FC236}">
                  <a16:creationId xmlns:a16="http://schemas.microsoft.com/office/drawing/2014/main" id="{55FCB951-D38F-E961-5AAD-02EE31281334}"/>
                </a:ext>
              </a:extLst>
            </p:cNvPr>
            <p:cNvSpPr>
              <a:spLocks noChangeShapeType="1"/>
            </p:cNvSpPr>
            <p:nvPr/>
          </p:nvSpPr>
          <p:spPr bwMode="auto">
            <a:xfrm>
              <a:off x="3204" y="2606"/>
              <a:ext cx="6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32" name="Oval 72">
              <a:extLst>
                <a:ext uri="{FF2B5EF4-FFF2-40B4-BE49-F238E27FC236}">
                  <a16:creationId xmlns:a16="http://schemas.microsoft.com/office/drawing/2014/main" id="{E30B7323-A5D4-C008-57EA-03B0E070203E}"/>
                </a:ext>
              </a:extLst>
            </p:cNvPr>
            <p:cNvSpPr>
              <a:spLocks noChangeArrowheads="1"/>
            </p:cNvSpPr>
            <p:nvPr/>
          </p:nvSpPr>
          <p:spPr bwMode="auto">
            <a:xfrm>
              <a:off x="3749" y="2683"/>
              <a:ext cx="64" cy="57"/>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2133" name="Line 73">
              <a:extLst>
                <a:ext uri="{FF2B5EF4-FFF2-40B4-BE49-F238E27FC236}">
                  <a16:creationId xmlns:a16="http://schemas.microsoft.com/office/drawing/2014/main" id="{4AA35682-28A3-C6F1-403F-F04E91853F3A}"/>
                </a:ext>
              </a:extLst>
            </p:cNvPr>
            <p:cNvSpPr>
              <a:spLocks noChangeShapeType="1"/>
            </p:cNvSpPr>
            <p:nvPr/>
          </p:nvSpPr>
          <p:spPr bwMode="auto">
            <a:xfrm>
              <a:off x="3622" y="2707"/>
              <a:ext cx="114" cy="0"/>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32134" name="Line 74">
              <a:extLst>
                <a:ext uri="{FF2B5EF4-FFF2-40B4-BE49-F238E27FC236}">
                  <a16:creationId xmlns:a16="http://schemas.microsoft.com/office/drawing/2014/main" id="{5F1A0C25-FBD5-B6B6-A0D1-F2D54E23B300}"/>
                </a:ext>
              </a:extLst>
            </p:cNvPr>
            <p:cNvSpPr>
              <a:spLocks noChangeShapeType="1"/>
            </p:cNvSpPr>
            <p:nvPr/>
          </p:nvSpPr>
          <p:spPr bwMode="auto">
            <a:xfrm>
              <a:off x="3622" y="1746"/>
              <a:ext cx="0" cy="1233"/>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2135" name="Line 75">
              <a:extLst>
                <a:ext uri="{FF2B5EF4-FFF2-40B4-BE49-F238E27FC236}">
                  <a16:creationId xmlns:a16="http://schemas.microsoft.com/office/drawing/2014/main" id="{6386D979-00BC-528B-C123-3DC44506B37C}"/>
                </a:ext>
              </a:extLst>
            </p:cNvPr>
            <p:cNvSpPr>
              <a:spLocks noChangeShapeType="1"/>
            </p:cNvSpPr>
            <p:nvPr/>
          </p:nvSpPr>
          <p:spPr bwMode="auto">
            <a:xfrm flipV="1">
              <a:off x="3622" y="1740"/>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36" name="Line 76">
              <a:extLst>
                <a:ext uri="{FF2B5EF4-FFF2-40B4-BE49-F238E27FC236}">
                  <a16:creationId xmlns:a16="http://schemas.microsoft.com/office/drawing/2014/main" id="{61E3604A-3D3E-A105-D404-DA9B189F3660}"/>
                </a:ext>
              </a:extLst>
            </p:cNvPr>
            <p:cNvSpPr>
              <a:spLocks noChangeShapeType="1"/>
            </p:cNvSpPr>
            <p:nvPr/>
          </p:nvSpPr>
          <p:spPr bwMode="auto">
            <a:xfrm>
              <a:off x="3622" y="2226"/>
              <a:ext cx="114" cy="0"/>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32137" name="Line 77">
              <a:extLst>
                <a:ext uri="{FF2B5EF4-FFF2-40B4-BE49-F238E27FC236}">
                  <a16:creationId xmlns:a16="http://schemas.microsoft.com/office/drawing/2014/main" id="{03837760-1779-394C-B619-B81675C3658D}"/>
                </a:ext>
              </a:extLst>
            </p:cNvPr>
            <p:cNvSpPr>
              <a:spLocks noChangeShapeType="1"/>
            </p:cNvSpPr>
            <p:nvPr/>
          </p:nvSpPr>
          <p:spPr bwMode="auto">
            <a:xfrm>
              <a:off x="3523" y="1664"/>
              <a:ext cx="0" cy="942"/>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2138" name="Line 78">
              <a:extLst>
                <a:ext uri="{FF2B5EF4-FFF2-40B4-BE49-F238E27FC236}">
                  <a16:creationId xmlns:a16="http://schemas.microsoft.com/office/drawing/2014/main" id="{811B1CCE-63FD-CD60-8536-869AEAB39F0C}"/>
                </a:ext>
              </a:extLst>
            </p:cNvPr>
            <p:cNvSpPr>
              <a:spLocks noChangeShapeType="1"/>
            </p:cNvSpPr>
            <p:nvPr/>
          </p:nvSpPr>
          <p:spPr bwMode="auto">
            <a:xfrm>
              <a:off x="3523" y="2157"/>
              <a:ext cx="213"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2139" name="Line 79">
              <a:extLst>
                <a:ext uri="{FF2B5EF4-FFF2-40B4-BE49-F238E27FC236}">
                  <a16:creationId xmlns:a16="http://schemas.microsoft.com/office/drawing/2014/main" id="{713BD120-D7D2-9B8C-6751-BC0708145E11}"/>
                </a:ext>
              </a:extLst>
            </p:cNvPr>
            <p:cNvSpPr>
              <a:spLocks noChangeShapeType="1"/>
            </p:cNvSpPr>
            <p:nvPr/>
          </p:nvSpPr>
          <p:spPr bwMode="auto">
            <a:xfrm>
              <a:off x="3523" y="1664"/>
              <a:ext cx="213" cy="0"/>
            </a:xfrm>
            <a:prstGeom prst="line">
              <a:avLst/>
            </a:prstGeom>
            <a:noFill/>
            <a:ln w="2222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132140" name="Line 80">
              <a:extLst>
                <a:ext uri="{FF2B5EF4-FFF2-40B4-BE49-F238E27FC236}">
                  <a16:creationId xmlns:a16="http://schemas.microsoft.com/office/drawing/2014/main" id="{92A561F1-82B8-A199-423A-1BEE47C06A42}"/>
                </a:ext>
              </a:extLst>
            </p:cNvPr>
            <p:cNvSpPr>
              <a:spLocks noChangeShapeType="1"/>
            </p:cNvSpPr>
            <p:nvPr/>
          </p:nvSpPr>
          <p:spPr bwMode="auto">
            <a:xfrm flipH="1" flipV="1">
              <a:off x="3403" y="1582"/>
              <a:ext cx="0" cy="473"/>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32141" name="Line 81">
              <a:extLst>
                <a:ext uri="{FF2B5EF4-FFF2-40B4-BE49-F238E27FC236}">
                  <a16:creationId xmlns:a16="http://schemas.microsoft.com/office/drawing/2014/main" id="{DC8EEBA3-C117-7C71-6355-16D71B61257A}"/>
                </a:ext>
              </a:extLst>
            </p:cNvPr>
            <p:cNvSpPr>
              <a:spLocks noChangeShapeType="1"/>
            </p:cNvSpPr>
            <p:nvPr/>
          </p:nvSpPr>
          <p:spPr bwMode="auto">
            <a:xfrm>
              <a:off x="3403" y="1576"/>
              <a:ext cx="3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42" name="Text Box 82">
              <a:extLst>
                <a:ext uri="{FF2B5EF4-FFF2-40B4-BE49-F238E27FC236}">
                  <a16:creationId xmlns:a16="http://schemas.microsoft.com/office/drawing/2014/main" id="{E53607FC-8F39-5A88-DA61-E6DE180BD721}"/>
                </a:ext>
              </a:extLst>
            </p:cNvPr>
            <p:cNvSpPr txBox="1">
              <a:spLocks noChangeArrowheads="1"/>
            </p:cNvSpPr>
            <p:nvPr/>
          </p:nvSpPr>
          <p:spPr bwMode="auto">
            <a:xfrm>
              <a:off x="2928" y="1392"/>
              <a:ext cx="383"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D4</a:t>
              </a:r>
              <a:endParaRPr lang="ru-RU" altLang="en-US" sz="1400" b="1"/>
            </a:p>
          </p:txBody>
        </p:sp>
        <p:sp>
          <p:nvSpPr>
            <p:cNvPr id="132143" name="Text Box 83">
              <a:extLst>
                <a:ext uri="{FF2B5EF4-FFF2-40B4-BE49-F238E27FC236}">
                  <a16:creationId xmlns:a16="http://schemas.microsoft.com/office/drawing/2014/main" id="{5D69705A-380F-4CE5-26D7-C47FF95D5BA6}"/>
                </a:ext>
              </a:extLst>
            </p:cNvPr>
            <p:cNvSpPr txBox="1">
              <a:spLocks noChangeArrowheads="1"/>
            </p:cNvSpPr>
            <p:nvPr/>
          </p:nvSpPr>
          <p:spPr bwMode="auto">
            <a:xfrm>
              <a:off x="2928" y="1967"/>
              <a:ext cx="38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D3</a:t>
              </a:r>
              <a:endParaRPr lang="ru-RU" altLang="en-US" sz="1400" b="1"/>
            </a:p>
          </p:txBody>
        </p:sp>
        <p:sp>
          <p:nvSpPr>
            <p:cNvPr id="132144" name="Text Box 84">
              <a:extLst>
                <a:ext uri="{FF2B5EF4-FFF2-40B4-BE49-F238E27FC236}">
                  <a16:creationId xmlns:a16="http://schemas.microsoft.com/office/drawing/2014/main" id="{73AC9D36-DB2B-D8BB-A4D2-F6769AEE01A2}"/>
                </a:ext>
              </a:extLst>
            </p:cNvPr>
            <p:cNvSpPr txBox="1">
              <a:spLocks noChangeArrowheads="1"/>
            </p:cNvSpPr>
            <p:nvPr/>
          </p:nvSpPr>
          <p:spPr bwMode="auto">
            <a:xfrm>
              <a:off x="2942" y="2518"/>
              <a:ext cx="383"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D2</a:t>
              </a:r>
              <a:endParaRPr lang="ru-RU" altLang="en-US" sz="1400" b="1"/>
            </a:p>
          </p:txBody>
        </p:sp>
        <p:sp>
          <p:nvSpPr>
            <p:cNvPr id="132145" name="Text Box 85">
              <a:extLst>
                <a:ext uri="{FF2B5EF4-FFF2-40B4-BE49-F238E27FC236}">
                  <a16:creationId xmlns:a16="http://schemas.microsoft.com/office/drawing/2014/main" id="{62C01E31-E861-8839-3312-D78170436BDD}"/>
                </a:ext>
              </a:extLst>
            </p:cNvPr>
            <p:cNvSpPr txBox="1">
              <a:spLocks noChangeArrowheads="1"/>
            </p:cNvSpPr>
            <p:nvPr/>
          </p:nvSpPr>
          <p:spPr bwMode="auto">
            <a:xfrm>
              <a:off x="2971" y="2904"/>
              <a:ext cx="38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D1</a:t>
              </a:r>
              <a:endParaRPr lang="ru-RU" altLang="en-US" sz="1400" b="1"/>
            </a:p>
          </p:txBody>
        </p:sp>
        <p:sp>
          <p:nvSpPr>
            <p:cNvPr id="132146" name="Text Box 86">
              <a:extLst>
                <a:ext uri="{FF2B5EF4-FFF2-40B4-BE49-F238E27FC236}">
                  <a16:creationId xmlns:a16="http://schemas.microsoft.com/office/drawing/2014/main" id="{8D8C0E9F-730C-949C-83A1-E9C07DAF08DC}"/>
                </a:ext>
              </a:extLst>
            </p:cNvPr>
            <p:cNvSpPr txBox="1">
              <a:spLocks noChangeArrowheads="1"/>
            </p:cNvSpPr>
            <p:nvPr/>
          </p:nvSpPr>
          <p:spPr bwMode="auto">
            <a:xfrm>
              <a:off x="2935" y="1866"/>
              <a:ext cx="383"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S3</a:t>
              </a:r>
              <a:endParaRPr lang="ru-RU" altLang="en-US" sz="1400" b="1"/>
            </a:p>
          </p:txBody>
        </p:sp>
        <p:sp>
          <p:nvSpPr>
            <p:cNvPr id="132147" name="Text Box 87">
              <a:extLst>
                <a:ext uri="{FF2B5EF4-FFF2-40B4-BE49-F238E27FC236}">
                  <a16:creationId xmlns:a16="http://schemas.microsoft.com/office/drawing/2014/main" id="{CE312C02-D0B8-F037-5AF1-C060A6896037}"/>
                </a:ext>
              </a:extLst>
            </p:cNvPr>
            <p:cNvSpPr txBox="1">
              <a:spLocks noChangeArrowheads="1"/>
            </p:cNvSpPr>
            <p:nvPr/>
          </p:nvSpPr>
          <p:spPr bwMode="auto">
            <a:xfrm>
              <a:off x="2942" y="2404"/>
              <a:ext cx="383"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S2</a:t>
              </a:r>
              <a:endParaRPr lang="ru-RU" altLang="en-US" sz="1400" b="1"/>
            </a:p>
          </p:txBody>
        </p:sp>
        <p:sp>
          <p:nvSpPr>
            <p:cNvPr id="132148" name="Text Box 88">
              <a:extLst>
                <a:ext uri="{FF2B5EF4-FFF2-40B4-BE49-F238E27FC236}">
                  <a16:creationId xmlns:a16="http://schemas.microsoft.com/office/drawing/2014/main" id="{89E20CF0-630C-B280-3132-4264084CD824}"/>
                </a:ext>
              </a:extLst>
            </p:cNvPr>
            <p:cNvSpPr txBox="1">
              <a:spLocks noChangeArrowheads="1"/>
            </p:cNvSpPr>
            <p:nvPr/>
          </p:nvSpPr>
          <p:spPr bwMode="auto">
            <a:xfrm>
              <a:off x="2985" y="3018"/>
              <a:ext cx="38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S1</a:t>
              </a:r>
              <a:endParaRPr lang="ru-RU" altLang="en-US" sz="1400" b="1"/>
            </a:p>
          </p:txBody>
        </p:sp>
        <p:sp>
          <p:nvSpPr>
            <p:cNvPr id="132149" name="Line 89">
              <a:extLst>
                <a:ext uri="{FF2B5EF4-FFF2-40B4-BE49-F238E27FC236}">
                  <a16:creationId xmlns:a16="http://schemas.microsoft.com/office/drawing/2014/main" id="{85D2E533-0825-B8EE-123C-55BA8629310E}"/>
                </a:ext>
              </a:extLst>
            </p:cNvPr>
            <p:cNvSpPr>
              <a:spLocks noChangeShapeType="1"/>
            </p:cNvSpPr>
            <p:nvPr/>
          </p:nvSpPr>
          <p:spPr bwMode="auto">
            <a:xfrm>
              <a:off x="3211" y="3099"/>
              <a:ext cx="6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2150" name="Text Box 90">
              <a:extLst>
                <a:ext uri="{FF2B5EF4-FFF2-40B4-BE49-F238E27FC236}">
                  <a16:creationId xmlns:a16="http://schemas.microsoft.com/office/drawing/2014/main" id="{D5C800E5-DCA4-BFC2-EEF5-FE48FAC78084}"/>
                </a:ext>
              </a:extLst>
            </p:cNvPr>
            <p:cNvSpPr txBox="1">
              <a:spLocks noChangeArrowheads="1"/>
            </p:cNvSpPr>
            <p:nvPr/>
          </p:nvSpPr>
          <p:spPr bwMode="auto">
            <a:xfrm>
              <a:off x="5296" y="2272"/>
              <a:ext cx="24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400" b="1"/>
                <a:t>Y</a:t>
              </a:r>
              <a:endParaRPr lang="ru-RU" altLang="en-US" sz="1400" b="1"/>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4">
            <a:extLst>
              <a:ext uri="{FF2B5EF4-FFF2-40B4-BE49-F238E27FC236}">
                <a16:creationId xmlns:a16="http://schemas.microsoft.com/office/drawing/2014/main" id="{90AB9A9B-145F-5E2C-1A47-7721AD131D8D}"/>
              </a:ext>
            </a:extLst>
          </p:cNvPr>
          <p:cNvSpPr>
            <a:spLocks noGrp="1" noChangeArrowheads="1"/>
          </p:cNvSpPr>
          <p:nvPr>
            <p:ph type="title"/>
          </p:nvPr>
        </p:nvSpPr>
        <p:spPr/>
        <p:txBody>
          <a:bodyPr/>
          <a:lstStyle/>
          <a:p>
            <a:r>
              <a:rPr lang="en-US" altLang="en-US"/>
              <a:t>Gate-Level Optimization</a:t>
            </a:r>
            <a:endParaRPr lang="ru-RU" altLang="en-US"/>
          </a:p>
        </p:txBody>
      </p:sp>
      <p:sp>
        <p:nvSpPr>
          <p:cNvPr id="133123" name="Content Placeholder 6">
            <a:extLst>
              <a:ext uri="{FF2B5EF4-FFF2-40B4-BE49-F238E27FC236}">
                <a16:creationId xmlns:a16="http://schemas.microsoft.com/office/drawing/2014/main" id="{04628010-AD6E-7AC1-AE5E-026EAFFA8C11}"/>
              </a:ext>
            </a:extLst>
          </p:cNvPr>
          <p:cNvSpPr>
            <a:spLocks noGrp="1" noChangeArrowheads="1"/>
          </p:cNvSpPr>
          <p:nvPr>
            <p:ph type="body" sz="quarter" idx="10"/>
          </p:nvPr>
        </p:nvSpPr>
        <p:spPr/>
        <p:txBody>
          <a:bodyPr/>
          <a:lstStyle/>
          <a:p>
            <a:r>
              <a:rPr lang="ru-RU" altLang="en-US" sz="2200" dirty="0"/>
              <a:t>Gate-level optimizations work on the technology-independent netlist and map it to the library cells to produce a technology-specific gate-level netlist.</a:t>
            </a:r>
            <a:endParaRPr lang="en-US" altLang="en-US" sz="2200" dirty="0"/>
          </a:p>
          <a:p>
            <a:r>
              <a:rPr lang="en-US" altLang="en-US" sz="2200" dirty="0"/>
              <a:t>Mapping</a:t>
            </a:r>
          </a:p>
          <a:p>
            <a:pPr lvl="1"/>
            <a:r>
              <a:rPr lang="ru-RU" altLang="en-US" dirty="0"/>
              <a:t>This process maps the cells from technology-independent netlist (GTECH) to the cells in library specified by the</a:t>
            </a:r>
            <a:r>
              <a:rPr lang="en-US" altLang="en-US" dirty="0"/>
              <a:t> </a:t>
            </a:r>
            <a:r>
              <a:rPr lang="ru-RU" altLang="en-US" dirty="0"/>
              <a:t>target_library variable. </a:t>
            </a:r>
            <a:endParaRPr lang="en-US" altLang="en-US" dirty="0"/>
          </a:p>
          <a:p>
            <a:pPr lvl="1"/>
            <a:r>
              <a:rPr lang="ru-RU" altLang="en-US" dirty="0"/>
              <a:t>Mapping optimization tries to meet the following</a:t>
            </a:r>
            <a:r>
              <a:rPr lang="en-US" altLang="en-US" dirty="0"/>
              <a:t> </a:t>
            </a:r>
            <a:r>
              <a:rPr lang="ru-RU" altLang="en-US" dirty="0"/>
              <a:t>constraints:</a:t>
            </a:r>
            <a:endParaRPr lang="en-US" altLang="en-US" dirty="0"/>
          </a:p>
          <a:p>
            <a:r>
              <a:rPr lang="ru-RU" altLang="en-US" sz="2200" dirty="0"/>
              <a:t> Design rule constraints (DRCs)  </a:t>
            </a:r>
            <a:r>
              <a:rPr lang="en-US" altLang="en-US" sz="2200" dirty="0"/>
              <a:t>              </a:t>
            </a:r>
            <a:r>
              <a:rPr lang="ru-RU" altLang="en-US" sz="2200" dirty="0"/>
              <a:t>Highest</a:t>
            </a:r>
            <a:r>
              <a:rPr lang="en-US" altLang="en-US" sz="2200" dirty="0"/>
              <a:t> </a:t>
            </a:r>
            <a:r>
              <a:rPr lang="ru-RU" altLang="en-US" sz="2200" dirty="0"/>
              <a:t> priority</a:t>
            </a:r>
            <a:endParaRPr lang="en-US" altLang="en-US" sz="2200" dirty="0"/>
          </a:p>
          <a:p>
            <a:r>
              <a:rPr lang="en-US" altLang="en-US" sz="2200" dirty="0"/>
              <a:t> Timing constraints</a:t>
            </a:r>
          </a:p>
          <a:p>
            <a:r>
              <a:rPr lang="en-US" altLang="en-US" sz="2200" dirty="0"/>
              <a:t> Area constraints 			Lowest  priority</a:t>
            </a:r>
            <a:endParaRPr lang="ru-RU" altLang="en-US" sz="2200" dirty="0"/>
          </a:p>
          <a:p>
            <a:r>
              <a:rPr lang="en-US" altLang="en-US" sz="2200" dirty="0"/>
              <a:t>P</a:t>
            </a:r>
            <a:r>
              <a:rPr lang="ru-RU" altLang="en-US" sz="2200" dirty="0"/>
              <a:t>rocess of mapping takes many iterations</a:t>
            </a:r>
            <a:r>
              <a:rPr lang="en-US" altLang="en-US" sz="2200" dirty="0"/>
              <a:t>. </a:t>
            </a:r>
          </a:p>
          <a:p>
            <a:r>
              <a:rPr lang="en-US" altLang="en-US" sz="2200" dirty="0"/>
              <a:t>T</a:t>
            </a:r>
            <a:r>
              <a:rPr lang="ru-RU" altLang="en-US" sz="2200" dirty="0"/>
              <a:t>he optimizations </a:t>
            </a:r>
            <a:r>
              <a:rPr lang="en-US" altLang="en-US" sz="2200" dirty="0"/>
              <a:t>DC</a:t>
            </a:r>
            <a:r>
              <a:rPr lang="ru-RU" altLang="en-US" sz="2200" dirty="0"/>
              <a:t> performs (or does not perform) depend on the constraints.</a:t>
            </a:r>
            <a:r>
              <a:rPr lang="en-US" altLang="en-US" sz="2200" dirty="0"/>
              <a:t> </a:t>
            </a:r>
            <a:r>
              <a:rPr lang="ru-RU" altLang="en-US" sz="2200" dirty="0"/>
              <a:t>Therefore, setting realistic constraints is one of the most important synthesis tasks. </a:t>
            </a:r>
          </a:p>
          <a:p>
            <a:endParaRPr lang="ru-RU" altLang="en-US" dirty="0"/>
          </a:p>
        </p:txBody>
      </p:sp>
      <p:sp>
        <p:nvSpPr>
          <p:cNvPr id="133124" name="Text Box 5">
            <a:extLst>
              <a:ext uri="{FF2B5EF4-FFF2-40B4-BE49-F238E27FC236}">
                <a16:creationId xmlns:a16="http://schemas.microsoft.com/office/drawing/2014/main" id="{B86FB5B3-9088-F737-58BB-7FE685DE228A}"/>
              </a:ext>
            </a:extLst>
          </p:cNvPr>
          <p:cNvSpPr txBox="1">
            <a:spLocks noChangeArrowheads="1"/>
          </p:cNvSpPr>
          <p:nvPr/>
        </p:nvSpPr>
        <p:spPr bwMode="auto">
          <a:xfrm>
            <a:off x="1447800" y="73152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4">
            <a:extLst>
              <a:ext uri="{FF2B5EF4-FFF2-40B4-BE49-F238E27FC236}">
                <a16:creationId xmlns:a16="http://schemas.microsoft.com/office/drawing/2014/main" id="{D9157414-2B17-DCDF-5BAD-9C989710C011}"/>
              </a:ext>
            </a:extLst>
          </p:cNvPr>
          <p:cNvSpPr>
            <a:spLocks noGrp="1" noChangeArrowheads="1"/>
          </p:cNvSpPr>
          <p:nvPr>
            <p:ph type="title"/>
          </p:nvPr>
        </p:nvSpPr>
        <p:spPr/>
        <p:txBody>
          <a:bodyPr/>
          <a:lstStyle/>
          <a:p>
            <a:r>
              <a:rPr lang="en-US" altLang="en-US"/>
              <a:t>Library  Elements</a:t>
            </a:r>
            <a:endParaRPr lang="ru-RU" altLang="en-US"/>
          </a:p>
        </p:txBody>
      </p:sp>
      <p:grpSp>
        <p:nvGrpSpPr>
          <p:cNvPr id="134147" name="Group 172">
            <a:extLst>
              <a:ext uri="{FF2B5EF4-FFF2-40B4-BE49-F238E27FC236}">
                <a16:creationId xmlns:a16="http://schemas.microsoft.com/office/drawing/2014/main" id="{45855CFD-8DC3-6DF0-F6F3-7E45A252ACE3}"/>
              </a:ext>
            </a:extLst>
          </p:cNvPr>
          <p:cNvGrpSpPr>
            <a:grpSpLocks/>
          </p:cNvGrpSpPr>
          <p:nvPr/>
        </p:nvGrpSpPr>
        <p:grpSpPr bwMode="auto">
          <a:xfrm>
            <a:off x="2514600" y="1143000"/>
            <a:ext cx="5486400" cy="4572000"/>
            <a:chOff x="288" y="864"/>
            <a:chExt cx="3456" cy="2880"/>
          </a:xfrm>
        </p:grpSpPr>
        <p:grpSp>
          <p:nvGrpSpPr>
            <p:cNvPr id="134148" name="Group 6">
              <a:extLst>
                <a:ext uri="{FF2B5EF4-FFF2-40B4-BE49-F238E27FC236}">
                  <a16:creationId xmlns:a16="http://schemas.microsoft.com/office/drawing/2014/main" id="{DBDCFB32-C254-FA2A-26DF-A5B26499AD2C}"/>
                </a:ext>
              </a:extLst>
            </p:cNvPr>
            <p:cNvGrpSpPr>
              <a:grpSpLocks/>
            </p:cNvGrpSpPr>
            <p:nvPr/>
          </p:nvGrpSpPr>
          <p:grpSpPr bwMode="auto">
            <a:xfrm>
              <a:off x="1212" y="870"/>
              <a:ext cx="170" cy="164"/>
              <a:chOff x="3480" y="6364"/>
              <a:chExt cx="386" cy="404"/>
            </a:xfrm>
          </p:grpSpPr>
          <p:sp>
            <p:nvSpPr>
              <p:cNvPr id="134312" name="Oval 7">
                <a:extLst>
                  <a:ext uri="{FF2B5EF4-FFF2-40B4-BE49-F238E27FC236}">
                    <a16:creationId xmlns:a16="http://schemas.microsoft.com/office/drawing/2014/main" id="{98BD2F08-484B-E02B-2C82-B6AF59E6FB4E}"/>
                  </a:ext>
                </a:extLst>
              </p:cNvPr>
              <p:cNvSpPr>
                <a:spLocks noChangeArrowheads="1"/>
              </p:cNvSpPr>
              <p:nvPr/>
            </p:nvSpPr>
            <p:spPr bwMode="auto">
              <a:xfrm>
                <a:off x="3741" y="6494"/>
                <a:ext cx="125" cy="125"/>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313" name="AutoShape 8">
                <a:extLst>
                  <a:ext uri="{FF2B5EF4-FFF2-40B4-BE49-F238E27FC236}">
                    <a16:creationId xmlns:a16="http://schemas.microsoft.com/office/drawing/2014/main" id="{8FC4E23D-4E26-B9A0-E4DD-0ACC22B2DD57}"/>
                  </a:ext>
                </a:extLst>
              </p:cNvPr>
              <p:cNvSpPr>
                <a:spLocks noChangeArrowheads="1"/>
              </p:cNvSpPr>
              <p:nvPr/>
            </p:nvSpPr>
            <p:spPr bwMode="auto">
              <a:xfrm rot="5435204">
                <a:off x="3410" y="6434"/>
                <a:ext cx="404" cy="264"/>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134149" name="Line 9">
              <a:extLst>
                <a:ext uri="{FF2B5EF4-FFF2-40B4-BE49-F238E27FC236}">
                  <a16:creationId xmlns:a16="http://schemas.microsoft.com/office/drawing/2014/main" id="{78DCA375-B244-298B-5B37-F6958F18E42C}"/>
                </a:ext>
              </a:extLst>
            </p:cNvPr>
            <p:cNvSpPr>
              <a:spLocks noChangeShapeType="1"/>
            </p:cNvSpPr>
            <p:nvPr/>
          </p:nvSpPr>
          <p:spPr bwMode="auto">
            <a:xfrm>
              <a:off x="1040" y="948"/>
              <a:ext cx="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50" name="Line 10">
              <a:extLst>
                <a:ext uri="{FF2B5EF4-FFF2-40B4-BE49-F238E27FC236}">
                  <a16:creationId xmlns:a16="http://schemas.microsoft.com/office/drawing/2014/main" id="{3465906A-755D-50D5-83D4-910BFBDF136E}"/>
                </a:ext>
              </a:extLst>
            </p:cNvPr>
            <p:cNvSpPr>
              <a:spLocks noChangeShapeType="1"/>
            </p:cNvSpPr>
            <p:nvPr/>
          </p:nvSpPr>
          <p:spPr bwMode="auto">
            <a:xfrm>
              <a:off x="1389" y="948"/>
              <a:ext cx="11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51" name="Text Box 11">
              <a:extLst>
                <a:ext uri="{FF2B5EF4-FFF2-40B4-BE49-F238E27FC236}">
                  <a16:creationId xmlns:a16="http://schemas.microsoft.com/office/drawing/2014/main" id="{DC2E6564-E032-2D73-296F-F70FF2748E51}"/>
                </a:ext>
              </a:extLst>
            </p:cNvPr>
            <p:cNvSpPr txBox="1">
              <a:spLocks noChangeArrowheads="1"/>
            </p:cNvSpPr>
            <p:nvPr/>
          </p:nvSpPr>
          <p:spPr bwMode="auto">
            <a:xfrm>
              <a:off x="288" y="864"/>
              <a:ext cx="82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INVERT</a:t>
              </a:r>
              <a:r>
                <a:rPr lang="en-US" altLang="en-US" sz="1400" b="1"/>
                <a:t>O</a:t>
              </a:r>
              <a:r>
                <a:rPr lang="ru-RU" altLang="en-US" sz="1400" b="1"/>
                <a:t>R</a:t>
              </a:r>
            </a:p>
          </p:txBody>
        </p:sp>
        <p:sp>
          <p:nvSpPr>
            <p:cNvPr id="134152" name="AutoShape 12">
              <a:extLst>
                <a:ext uri="{FF2B5EF4-FFF2-40B4-BE49-F238E27FC236}">
                  <a16:creationId xmlns:a16="http://schemas.microsoft.com/office/drawing/2014/main" id="{B4C45B20-5F8D-4DAA-EE33-83BF8C74C77B}"/>
                </a:ext>
              </a:extLst>
            </p:cNvPr>
            <p:cNvSpPr>
              <a:spLocks noChangeArrowheads="1"/>
            </p:cNvSpPr>
            <p:nvPr/>
          </p:nvSpPr>
          <p:spPr bwMode="auto">
            <a:xfrm>
              <a:off x="1146" y="1474"/>
              <a:ext cx="210" cy="217"/>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53" name="Oval 13">
              <a:extLst>
                <a:ext uri="{FF2B5EF4-FFF2-40B4-BE49-F238E27FC236}">
                  <a16:creationId xmlns:a16="http://schemas.microsoft.com/office/drawing/2014/main" id="{926CCDB8-A5D4-6129-4A8F-4950816F7FC9}"/>
                </a:ext>
              </a:extLst>
            </p:cNvPr>
            <p:cNvSpPr>
              <a:spLocks noChangeArrowheads="1"/>
            </p:cNvSpPr>
            <p:nvPr/>
          </p:nvSpPr>
          <p:spPr bwMode="auto">
            <a:xfrm>
              <a:off x="1352" y="1551"/>
              <a:ext cx="55" cy="5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54" name="Line 14">
              <a:extLst>
                <a:ext uri="{FF2B5EF4-FFF2-40B4-BE49-F238E27FC236}">
                  <a16:creationId xmlns:a16="http://schemas.microsoft.com/office/drawing/2014/main" id="{BC47CFE3-7661-05E2-0F9C-D09E7EB048D1}"/>
                </a:ext>
              </a:extLst>
            </p:cNvPr>
            <p:cNvSpPr>
              <a:spLocks noChangeShapeType="1"/>
            </p:cNvSpPr>
            <p:nvPr/>
          </p:nvSpPr>
          <p:spPr bwMode="auto">
            <a:xfrm>
              <a:off x="963" y="1508"/>
              <a:ext cx="17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55" name="Line 15">
              <a:extLst>
                <a:ext uri="{FF2B5EF4-FFF2-40B4-BE49-F238E27FC236}">
                  <a16:creationId xmlns:a16="http://schemas.microsoft.com/office/drawing/2014/main" id="{CE8AF209-F6D1-B084-2E54-C9144809C860}"/>
                </a:ext>
              </a:extLst>
            </p:cNvPr>
            <p:cNvSpPr>
              <a:spLocks noChangeShapeType="1"/>
            </p:cNvSpPr>
            <p:nvPr/>
          </p:nvSpPr>
          <p:spPr bwMode="auto">
            <a:xfrm>
              <a:off x="963" y="1582"/>
              <a:ext cx="17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56" name="Line 16">
              <a:extLst>
                <a:ext uri="{FF2B5EF4-FFF2-40B4-BE49-F238E27FC236}">
                  <a16:creationId xmlns:a16="http://schemas.microsoft.com/office/drawing/2014/main" id="{5463009B-5B27-2516-36FA-176FEBB898A0}"/>
                </a:ext>
              </a:extLst>
            </p:cNvPr>
            <p:cNvSpPr>
              <a:spLocks noChangeShapeType="1"/>
            </p:cNvSpPr>
            <p:nvPr/>
          </p:nvSpPr>
          <p:spPr bwMode="auto">
            <a:xfrm>
              <a:off x="1402" y="1577"/>
              <a:ext cx="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57" name="Text Box 17">
              <a:extLst>
                <a:ext uri="{FF2B5EF4-FFF2-40B4-BE49-F238E27FC236}">
                  <a16:creationId xmlns:a16="http://schemas.microsoft.com/office/drawing/2014/main" id="{E6D53994-DD2C-FDDA-D111-01AB377E6582}"/>
                </a:ext>
              </a:extLst>
            </p:cNvPr>
            <p:cNvSpPr txBox="1">
              <a:spLocks noChangeArrowheads="1"/>
            </p:cNvSpPr>
            <p:nvPr/>
          </p:nvSpPr>
          <p:spPr bwMode="auto">
            <a:xfrm>
              <a:off x="384" y="1479"/>
              <a:ext cx="57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NAND3</a:t>
              </a:r>
            </a:p>
          </p:txBody>
        </p:sp>
        <p:sp>
          <p:nvSpPr>
            <p:cNvPr id="134158" name="Line 18">
              <a:extLst>
                <a:ext uri="{FF2B5EF4-FFF2-40B4-BE49-F238E27FC236}">
                  <a16:creationId xmlns:a16="http://schemas.microsoft.com/office/drawing/2014/main" id="{62921757-7797-419A-52EB-8A918B9D3263}"/>
                </a:ext>
              </a:extLst>
            </p:cNvPr>
            <p:cNvSpPr>
              <a:spLocks noChangeShapeType="1"/>
            </p:cNvSpPr>
            <p:nvPr/>
          </p:nvSpPr>
          <p:spPr bwMode="auto">
            <a:xfrm>
              <a:off x="969" y="1655"/>
              <a:ext cx="1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59" name="AutoShape 19">
              <a:extLst>
                <a:ext uri="{FF2B5EF4-FFF2-40B4-BE49-F238E27FC236}">
                  <a16:creationId xmlns:a16="http://schemas.microsoft.com/office/drawing/2014/main" id="{B7DE8AD5-AF82-1BAF-3748-FE1C9AE5463B}"/>
                </a:ext>
              </a:extLst>
            </p:cNvPr>
            <p:cNvSpPr>
              <a:spLocks noChangeArrowheads="1"/>
            </p:cNvSpPr>
            <p:nvPr/>
          </p:nvSpPr>
          <p:spPr bwMode="auto">
            <a:xfrm>
              <a:off x="2331" y="1424"/>
              <a:ext cx="197"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60" name="Oval 20">
              <a:extLst>
                <a:ext uri="{FF2B5EF4-FFF2-40B4-BE49-F238E27FC236}">
                  <a16:creationId xmlns:a16="http://schemas.microsoft.com/office/drawing/2014/main" id="{6FDF3DB6-3049-7249-1733-4E8D884175E6}"/>
                </a:ext>
              </a:extLst>
            </p:cNvPr>
            <p:cNvSpPr>
              <a:spLocks noChangeArrowheads="1"/>
            </p:cNvSpPr>
            <p:nvPr/>
          </p:nvSpPr>
          <p:spPr bwMode="auto">
            <a:xfrm>
              <a:off x="2522" y="1501"/>
              <a:ext cx="55" cy="5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61" name="Line 21">
              <a:extLst>
                <a:ext uri="{FF2B5EF4-FFF2-40B4-BE49-F238E27FC236}">
                  <a16:creationId xmlns:a16="http://schemas.microsoft.com/office/drawing/2014/main" id="{B2D5C27D-34D1-DD40-A4F4-26AC768E87CD}"/>
                </a:ext>
              </a:extLst>
            </p:cNvPr>
            <p:cNvSpPr>
              <a:spLocks noChangeShapeType="1"/>
            </p:cNvSpPr>
            <p:nvPr/>
          </p:nvSpPr>
          <p:spPr bwMode="auto">
            <a:xfrm>
              <a:off x="2174" y="1491"/>
              <a:ext cx="1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62" name="Line 22">
              <a:extLst>
                <a:ext uri="{FF2B5EF4-FFF2-40B4-BE49-F238E27FC236}">
                  <a16:creationId xmlns:a16="http://schemas.microsoft.com/office/drawing/2014/main" id="{6647277D-0A86-1B38-448F-39F532837E41}"/>
                </a:ext>
              </a:extLst>
            </p:cNvPr>
            <p:cNvSpPr>
              <a:spLocks noChangeShapeType="1"/>
            </p:cNvSpPr>
            <p:nvPr/>
          </p:nvSpPr>
          <p:spPr bwMode="auto">
            <a:xfrm>
              <a:off x="2174" y="1583"/>
              <a:ext cx="1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63" name="Line 23">
              <a:extLst>
                <a:ext uri="{FF2B5EF4-FFF2-40B4-BE49-F238E27FC236}">
                  <a16:creationId xmlns:a16="http://schemas.microsoft.com/office/drawing/2014/main" id="{A465C91F-97D6-4E7C-CEF6-1D06E0F20DDC}"/>
                </a:ext>
              </a:extLst>
            </p:cNvPr>
            <p:cNvSpPr>
              <a:spLocks noChangeShapeType="1"/>
            </p:cNvSpPr>
            <p:nvPr/>
          </p:nvSpPr>
          <p:spPr bwMode="auto">
            <a:xfrm>
              <a:off x="2572" y="1527"/>
              <a:ext cx="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4164" name="Group 24">
              <a:extLst>
                <a:ext uri="{FF2B5EF4-FFF2-40B4-BE49-F238E27FC236}">
                  <a16:creationId xmlns:a16="http://schemas.microsoft.com/office/drawing/2014/main" id="{8F1F90A4-02A9-027D-9BCC-25305A9D519B}"/>
                </a:ext>
              </a:extLst>
            </p:cNvPr>
            <p:cNvGrpSpPr>
              <a:grpSpLocks/>
            </p:cNvGrpSpPr>
            <p:nvPr/>
          </p:nvGrpSpPr>
          <p:grpSpPr bwMode="auto">
            <a:xfrm>
              <a:off x="2691" y="1448"/>
              <a:ext cx="171" cy="165"/>
              <a:chOff x="3480" y="6364"/>
              <a:chExt cx="386" cy="404"/>
            </a:xfrm>
          </p:grpSpPr>
          <p:sp>
            <p:nvSpPr>
              <p:cNvPr id="134310" name="Oval 25">
                <a:extLst>
                  <a:ext uri="{FF2B5EF4-FFF2-40B4-BE49-F238E27FC236}">
                    <a16:creationId xmlns:a16="http://schemas.microsoft.com/office/drawing/2014/main" id="{4FD15011-F4E5-3E65-07D5-57731E5A0D06}"/>
                  </a:ext>
                </a:extLst>
              </p:cNvPr>
              <p:cNvSpPr>
                <a:spLocks noChangeArrowheads="1"/>
              </p:cNvSpPr>
              <p:nvPr/>
            </p:nvSpPr>
            <p:spPr bwMode="auto">
              <a:xfrm>
                <a:off x="3741" y="6494"/>
                <a:ext cx="125" cy="125"/>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311" name="AutoShape 26">
                <a:extLst>
                  <a:ext uri="{FF2B5EF4-FFF2-40B4-BE49-F238E27FC236}">
                    <a16:creationId xmlns:a16="http://schemas.microsoft.com/office/drawing/2014/main" id="{EFF68E06-E74E-D0A3-1AF2-418317493F5A}"/>
                  </a:ext>
                </a:extLst>
              </p:cNvPr>
              <p:cNvSpPr>
                <a:spLocks noChangeArrowheads="1"/>
              </p:cNvSpPr>
              <p:nvPr/>
            </p:nvSpPr>
            <p:spPr bwMode="auto">
              <a:xfrm rot="5435204">
                <a:off x="3410" y="6434"/>
                <a:ext cx="404" cy="264"/>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134165" name="AutoShape 27">
              <a:extLst>
                <a:ext uri="{FF2B5EF4-FFF2-40B4-BE49-F238E27FC236}">
                  <a16:creationId xmlns:a16="http://schemas.microsoft.com/office/drawing/2014/main" id="{4B6D353C-203D-4C3B-9349-310342A30AAF}"/>
                </a:ext>
              </a:extLst>
            </p:cNvPr>
            <p:cNvSpPr>
              <a:spLocks noChangeArrowheads="1"/>
            </p:cNvSpPr>
            <p:nvPr/>
          </p:nvSpPr>
          <p:spPr bwMode="auto">
            <a:xfrm>
              <a:off x="3080" y="1516"/>
              <a:ext cx="213" cy="193"/>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66" name="Oval 28">
              <a:extLst>
                <a:ext uri="{FF2B5EF4-FFF2-40B4-BE49-F238E27FC236}">
                  <a16:creationId xmlns:a16="http://schemas.microsoft.com/office/drawing/2014/main" id="{FA6044D7-7C5E-4BF4-414F-9541748C27B7}"/>
                </a:ext>
              </a:extLst>
            </p:cNvPr>
            <p:cNvSpPr>
              <a:spLocks noChangeArrowheads="1"/>
            </p:cNvSpPr>
            <p:nvPr/>
          </p:nvSpPr>
          <p:spPr bwMode="auto">
            <a:xfrm>
              <a:off x="3293" y="1585"/>
              <a:ext cx="55" cy="5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67" name="Line 29">
              <a:extLst>
                <a:ext uri="{FF2B5EF4-FFF2-40B4-BE49-F238E27FC236}">
                  <a16:creationId xmlns:a16="http://schemas.microsoft.com/office/drawing/2014/main" id="{62F8E74A-DEBA-BBC1-3FCA-2DB099AF07D6}"/>
                </a:ext>
              </a:extLst>
            </p:cNvPr>
            <p:cNvSpPr>
              <a:spLocks noChangeShapeType="1"/>
            </p:cNvSpPr>
            <p:nvPr/>
          </p:nvSpPr>
          <p:spPr bwMode="auto">
            <a:xfrm>
              <a:off x="2864" y="1521"/>
              <a:ext cx="9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68" name="Line 30">
              <a:extLst>
                <a:ext uri="{FF2B5EF4-FFF2-40B4-BE49-F238E27FC236}">
                  <a16:creationId xmlns:a16="http://schemas.microsoft.com/office/drawing/2014/main" id="{024F2F1A-C0BB-7ED3-BD35-A3ED237752C6}"/>
                </a:ext>
              </a:extLst>
            </p:cNvPr>
            <p:cNvSpPr>
              <a:spLocks noChangeShapeType="1"/>
            </p:cNvSpPr>
            <p:nvPr/>
          </p:nvSpPr>
          <p:spPr bwMode="auto">
            <a:xfrm>
              <a:off x="2181" y="1670"/>
              <a:ext cx="89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69" name="Line 31">
              <a:extLst>
                <a:ext uri="{FF2B5EF4-FFF2-40B4-BE49-F238E27FC236}">
                  <a16:creationId xmlns:a16="http://schemas.microsoft.com/office/drawing/2014/main" id="{707B6CA7-6C72-B1F1-2FFD-77C281DF8659}"/>
                </a:ext>
              </a:extLst>
            </p:cNvPr>
            <p:cNvSpPr>
              <a:spLocks noChangeShapeType="1"/>
            </p:cNvSpPr>
            <p:nvPr/>
          </p:nvSpPr>
          <p:spPr bwMode="auto">
            <a:xfrm>
              <a:off x="2969" y="1588"/>
              <a:ext cx="1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70" name="Line 32">
              <a:extLst>
                <a:ext uri="{FF2B5EF4-FFF2-40B4-BE49-F238E27FC236}">
                  <a16:creationId xmlns:a16="http://schemas.microsoft.com/office/drawing/2014/main" id="{BCC62A0F-C57D-EAC1-1DE4-2E6567F6176A}"/>
                </a:ext>
              </a:extLst>
            </p:cNvPr>
            <p:cNvSpPr>
              <a:spLocks noChangeShapeType="1"/>
            </p:cNvSpPr>
            <p:nvPr/>
          </p:nvSpPr>
          <p:spPr bwMode="auto">
            <a:xfrm>
              <a:off x="2963" y="1521"/>
              <a:ext cx="0" cy="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71" name="Line 33">
              <a:extLst>
                <a:ext uri="{FF2B5EF4-FFF2-40B4-BE49-F238E27FC236}">
                  <a16:creationId xmlns:a16="http://schemas.microsoft.com/office/drawing/2014/main" id="{491089BB-A1C3-430A-649E-C53491E24372}"/>
                </a:ext>
              </a:extLst>
            </p:cNvPr>
            <p:cNvSpPr>
              <a:spLocks noChangeShapeType="1"/>
            </p:cNvSpPr>
            <p:nvPr/>
          </p:nvSpPr>
          <p:spPr bwMode="auto">
            <a:xfrm>
              <a:off x="3351" y="1612"/>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4172" name="Group 34">
              <a:extLst>
                <a:ext uri="{FF2B5EF4-FFF2-40B4-BE49-F238E27FC236}">
                  <a16:creationId xmlns:a16="http://schemas.microsoft.com/office/drawing/2014/main" id="{7D466067-E9ED-0650-FA46-BD8D176EB4BA}"/>
                </a:ext>
              </a:extLst>
            </p:cNvPr>
            <p:cNvGrpSpPr>
              <a:grpSpLocks/>
            </p:cNvGrpSpPr>
            <p:nvPr/>
          </p:nvGrpSpPr>
          <p:grpSpPr bwMode="auto">
            <a:xfrm>
              <a:off x="1136" y="1126"/>
              <a:ext cx="243" cy="194"/>
              <a:chOff x="4211" y="6289"/>
              <a:chExt cx="675" cy="540"/>
            </a:xfrm>
          </p:grpSpPr>
          <p:sp>
            <p:nvSpPr>
              <p:cNvPr id="134308" name="AutoShape 35">
                <a:extLst>
                  <a:ext uri="{FF2B5EF4-FFF2-40B4-BE49-F238E27FC236}">
                    <a16:creationId xmlns:a16="http://schemas.microsoft.com/office/drawing/2014/main" id="{688E8CBA-0B25-9D37-A4E1-076A89C11233}"/>
                  </a:ext>
                </a:extLst>
              </p:cNvPr>
              <p:cNvSpPr>
                <a:spLocks noChangeArrowheads="1"/>
              </p:cNvSpPr>
              <p:nvPr/>
            </p:nvSpPr>
            <p:spPr bwMode="auto">
              <a:xfrm>
                <a:off x="4211" y="6289"/>
                <a:ext cx="541" cy="540"/>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309" name="Oval 36">
                <a:extLst>
                  <a:ext uri="{FF2B5EF4-FFF2-40B4-BE49-F238E27FC236}">
                    <a16:creationId xmlns:a16="http://schemas.microsoft.com/office/drawing/2014/main" id="{D82F4F09-5DA4-9196-4C46-DADDE7CCFBCA}"/>
                  </a:ext>
                </a:extLst>
              </p:cNvPr>
              <p:cNvSpPr>
                <a:spLocks noChangeArrowheads="1"/>
              </p:cNvSpPr>
              <p:nvPr/>
            </p:nvSpPr>
            <p:spPr bwMode="auto">
              <a:xfrm>
                <a:off x="4761" y="6494"/>
                <a:ext cx="125" cy="125"/>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134173" name="Line 37">
              <a:extLst>
                <a:ext uri="{FF2B5EF4-FFF2-40B4-BE49-F238E27FC236}">
                  <a16:creationId xmlns:a16="http://schemas.microsoft.com/office/drawing/2014/main" id="{29EC9137-15A5-D701-988E-5E31454888B9}"/>
                </a:ext>
              </a:extLst>
            </p:cNvPr>
            <p:cNvSpPr>
              <a:spLocks noChangeShapeType="1"/>
            </p:cNvSpPr>
            <p:nvPr/>
          </p:nvSpPr>
          <p:spPr bwMode="auto">
            <a:xfrm>
              <a:off x="959" y="1186"/>
              <a:ext cx="1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74" name="Line 38">
              <a:extLst>
                <a:ext uri="{FF2B5EF4-FFF2-40B4-BE49-F238E27FC236}">
                  <a16:creationId xmlns:a16="http://schemas.microsoft.com/office/drawing/2014/main" id="{0D9BDDF6-7A0D-A271-1195-C090347C0158}"/>
                </a:ext>
              </a:extLst>
            </p:cNvPr>
            <p:cNvSpPr>
              <a:spLocks noChangeShapeType="1"/>
            </p:cNvSpPr>
            <p:nvPr/>
          </p:nvSpPr>
          <p:spPr bwMode="auto">
            <a:xfrm>
              <a:off x="952" y="1292"/>
              <a:ext cx="1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75" name="Line 39">
              <a:extLst>
                <a:ext uri="{FF2B5EF4-FFF2-40B4-BE49-F238E27FC236}">
                  <a16:creationId xmlns:a16="http://schemas.microsoft.com/office/drawing/2014/main" id="{BE83BFC4-D4FB-A0B7-7816-DF6E3F4D77B3}"/>
                </a:ext>
              </a:extLst>
            </p:cNvPr>
            <p:cNvSpPr>
              <a:spLocks noChangeShapeType="1"/>
            </p:cNvSpPr>
            <p:nvPr/>
          </p:nvSpPr>
          <p:spPr bwMode="auto">
            <a:xfrm>
              <a:off x="1385" y="1222"/>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76" name="Text Box 40">
              <a:extLst>
                <a:ext uri="{FF2B5EF4-FFF2-40B4-BE49-F238E27FC236}">
                  <a16:creationId xmlns:a16="http://schemas.microsoft.com/office/drawing/2014/main" id="{E38FF7D7-868A-0A2A-98D1-1274979C5D4C}"/>
                </a:ext>
              </a:extLst>
            </p:cNvPr>
            <p:cNvSpPr txBox="1">
              <a:spLocks noChangeArrowheads="1"/>
            </p:cNvSpPr>
            <p:nvPr/>
          </p:nvSpPr>
          <p:spPr bwMode="auto">
            <a:xfrm>
              <a:off x="336" y="1151"/>
              <a:ext cx="60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NAND2 </a:t>
              </a:r>
            </a:p>
          </p:txBody>
        </p:sp>
        <p:sp>
          <p:nvSpPr>
            <p:cNvPr id="134177" name="AutoShape 41">
              <a:extLst>
                <a:ext uri="{FF2B5EF4-FFF2-40B4-BE49-F238E27FC236}">
                  <a16:creationId xmlns:a16="http://schemas.microsoft.com/office/drawing/2014/main" id="{94356C3C-9106-6F72-D246-629D7A961732}"/>
                </a:ext>
              </a:extLst>
            </p:cNvPr>
            <p:cNvSpPr>
              <a:spLocks noChangeArrowheads="1"/>
            </p:cNvSpPr>
            <p:nvPr/>
          </p:nvSpPr>
          <p:spPr bwMode="auto">
            <a:xfrm>
              <a:off x="2317" y="1115"/>
              <a:ext cx="195"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78" name="Oval 42">
              <a:extLst>
                <a:ext uri="{FF2B5EF4-FFF2-40B4-BE49-F238E27FC236}">
                  <a16:creationId xmlns:a16="http://schemas.microsoft.com/office/drawing/2014/main" id="{DBBA737A-B0AC-F45F-64FC-0831EEDBA70C}"/>
                </a:ext>
              </a:extLst>
            </p:cNvPr>
            <p:cNvSpPr>
              <a:spLocks noChangeArrowheads="1"/>
            </p:cNvSpPr>
            <p:nvPr/>
          </p:nvSpPr>
          <p:spPr bwMode="auto">
            <a:xfrm>
              <a:off x="2514" y="1189"/>
              <a:ext cx="55" cy="52"/>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79" name="Line 43">
              <a:extLst>
                <a:ext uri="{FF2B5EF4-FFF2-40B4-BE49-F238E27FC236}">
                  <a16:creationId xmlns:a16="http://schemas.microsoft.com/office/drawing/2014/main" id="{5C21D423-DF8C-CE87-1129-C445F9744A87}"/>
                </a:ext>
              </a:extLst>
            </p:cNvPr>
            <p:cNvSpPr>
              <a:spLocks noChangeShapeType="1"/>
            </p:cNvSpPr>
            <p:nvPr/>
          </p:nvSpPr>
          <p:spPr bwMode="auto">
            <a:xfrm>
              <a:off x="2162" y="1160"/>
              <a:ext cx="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80" name="Line 44">
              <a:extLst>
                <a:ext uri="{FF2B5EF4-FFF2-40B4-BE49-F238E27FC236}">
                  <a16:creationId xmlns:a16="http://schemas.microsoft.com/office/drawing/2014/main" id="{42A3D274-1711-B656-6F56-2BBC9BF07990}"/>
                </a:ext>
              </a:extLst>
            </p:cNvPr>
            <p:cNvSpPr>
              <a:spLocks noChangeShapeType="1"/>
            </p:cNvSpPr>
            <p:nvPr/>
          </p:nvSpPr>
          <p:spPr bwMode="auto">
            <a:xfrm>
              <a:off x="2163" y="1268"/>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81" name="Line 45">
              <a:extLst>
                <a:ext uri="{FF2B5EF4-FFF2-40B4-BE49-F238E27FC236}">
                  <a16:creationId xmlns:a16="http://schemas.microsoft.com/office/drawing/2014/main" id="{FF0581F7-E5C7-7062-DE3C-1E1D648FFF41}"/>
                </a:ext>
              </a:extLst>
            </p:cNvPr>
            <p:cNvSpPr>
              <a:spLocks noChangeShapeType="1"/>
            </p:cNvSpPr>
            <p:nvPr/>
          </p:nvSpPr>
          <p:spPr bwMode="auto">
            <a:xfrm>
              <a:off x="2566" y="1211"/>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4182" name="Group 46">
              <a:extLst>
                <a:ext uri="{FF2B5EF4-FFF2-40B4-BE49-F238E27FC236}">
                  <a16:creationId xmlns:a16="http://schemas.microsoft.com/office/drawing/2014/main" id="{F674EAC6-D687-3E67-38DA-48D89DCD80F4}"/>
                </a:ext>
              </a:extLst>
            </p:cNvPr>
            <p:cNvGrpSpPr>
              <a:grpSpLocks/>
            </p:cNvGrpSpPr>
            <p:nvPr/>
          </p:nvGrpSpPr>
          <p:grpSpPr bwMode="auto">
            <a:xfrm>
              <a:off x="2313" y="870"/>
              <a:ext cx="170" cy="164"/>
              <a:chOff x="3480" y="6364"/>
              <a:chExt cx="386" cy="404"/>
            </a:xfrm>
          </p:grpSpPr>
          <p:sp>
            <p:nvSpPr>
              <p:cNvPr id="134306" name="Oval 47">
                <a:extLst>
                  <a:ext uri="{FF2B5EF4-FFF2-40B4-BE49-F238E27FC236}">
                    <a16:creationId xmlns:a16="http://schemas.microsoft.com/office/drawing/2014/main" id="{97ED5732-3FD5-2BEA-891C-BFCD14778193}"/>
                  </a:ext>
                </a:extLst>
              </p:cNvPr>
              <p:cNvSpPr>
                <a:spLocks noChangeArrowheads="1"/>
              </p:cNvSpPr>
              <p:nvPr/>
            </p:nvSpPr>
            <p:spPr bwMode="auto">
              <a:xfrm>
                <a:off x="3741" y="6494"/>
                <a:ext cx="125" cy="125"/>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307" name="AutoShape 48">
                <a:extLst>
                  <a:ext uri="{FF2B5EF4-FFF2-40B4-BE49-F238E27FC236}">
                    <a16:creationId xmlns:a16="http://schemas.microsoft.com/office/drawing/2014/main" id="{325B6B5D-C9C6-CA81-0E2E-9E1B8387D90A}"/>
                  </a:ext>
                </a:extLst>
              </p:cNvPr>
              <p:cNvSpPr>
                <a:spLocks noChangeArrowheads="1"/>
              </p:cNvSpPr>
              <p:nvPr/>
            </p:nvSpPr>
            <p:spPr bwMode="auto">
              <a:xfrm rot="5435204">
                <a:off x="3410" y="6434"/>
                <a:ext cx="404" cy="264"/>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134183" name="Line 49">
              <a:extLst>
                <a:ext uri="{FF2B5EF4-FFF2-40B4-BE49-F238E27FC236}">
                  <a16:creationId xmlns:a16="http://schemas.microsoft.com/office/drawing/2014/main" id="{8FB8B8DB-6BE4-6927-4FF1-371BD5ECAC5C}"/>
                </a:ext>
              </a:extLst>
            </p:cNvPr>
            <p:cNvSpPr>
              <a:spLocks noChangeShapeType="1"/>
            </p:cNvSpPr>
            <p:nvPr/>
          </p:nvSpPr>
          <p:spPr bwMode="auto">
            <a:xfrm>
              <a:off x="2155" y="948"/>
              <a:ext cx="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84" name="Line 50">
              <a:extLst>
                <a:ext uri="{FF2B5EF4-FFF2-40B4-BE49-F238E27FC236}">
                  <a16:creationId xmlns:a16="http://schemas.microsoft.com/office/drawing/2014/main" id="{85488CDF-C7F2-2E17-5FE0-732927DAE4B8}"/>
                </a:ext>
              </a:extLst>
            </p:cNvPr>
            <p:cNvSpPr>
              <a:spLocks noChangeShapeType="1"/>
            </p:cNvSpPr>
            <p:nvPr/>
          </p:nvSpPr>
          <p:spPr bwMode="auto">
            <a:xfrm>
              <a:off x="2490" y="948"/>
              <a:ext cx="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85" name="Text Box 51">
              <a:extLst>
                <a:ext uri="{FF2B5EF4-FFF2-40B4-BE49-F238E27FC236}">
                  <a16:creationId xmlns:a16="http://schemas.microsoft.com/office/drawing/2014/main" id="{AA63A51B-C500-F507-3490-F1DA511FCF07}"/>
                </a:ext>
              </a:extLst>
            </p:cNvPr>
            <p:cNvSpPr txBox="1">
              <a:spLocks noChangeArrowheads="1"/>
            </p:cNvSpPr>
            <p:nvPr/>
          </p:nvSpPr>
          <p:spPr bwMode="auto">
            <a:xfrm>
              <a:off x="388" y="1851"/>
              <a:ext cx="52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NAND4</a:t>
              </a:r>
            </a:p>
          </p:txBody>
        </p:sp>
        <p:sp>
          <p:nvSpPr>
            <p:cNvPr id="134186" name="AutoShape 52">
              <a:extLst>
                <a:ext uri="{FF2B5EF4-FFF2-40B4-BE49-F238E27FC236}">
                  <a16:creationId xmlns:a16="http://schemas.microsoft.com/office/drawing/2014/main" id="{D72A4417-7C56-E04E-04BD-FF60846C6121}"/>
                </a:ext>
              </a:extLst>
            </p:cNvPr>
            <p:cNvSpPr>
              <a:spLocks noChangeArrowheads="1"/>
            </p:cNvSpPr>
            <p:nvPr/>
          </p:nvSpPr>
          <p:spPr bwMode="auto">
            <a:xfrm>
              <a:off x="1132" y="1843"/>
              <a:ext cx="249" cy="238"/>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87" name="Oval 53">
              <a:extLst>
                <a:ext uri="{FF2B5EF4-FFF2-40B4-BE49-F238E27FC236}">
                  <a16:creationId xmlns:a16="http://schemas.microsoft.com/office/drawing/2014/main" id="{73D5472C-A257-23D2-65B1-3CF110370608}"/>
                </a:ext>
              </a:extLst>
            </p:cNvPr>
            <p:cNvSpPr>
              <a:spLocks noChangeArrowheads="1"/>
            </p:cNvSpPr>
            <p:nvPr/>
          </p:nvSpPr>
          <p:spPr bwMode="auto">
            <a:xfrm>
              <a:off x="1379" y="1936"/>
              <a:ext cx="58" cy="5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88" name="Line 54">
              <a:extLst>
                <a:ext uri="{FF2B5EF4-FFF2-40B4-BE49-F238E27FC236}">
                  <a16:creationId xmlns:a16="http://schemas.microsoft.com/office/drawing/2014/main" id="{39FAF50A-7684-5E77-8EEE-AD6F4B98A3B7}"/>
                </a:ext>
              </a:extLst>
            </p:cNvPr>
            <p:cNvSpPr>
              <a:spLocks noChangeShapeType="1"/>
            </p:cNvSpPr>
            <p:nvPr/>
          </p:nvSpPr>
          <p:spPr bwMode="auto">
            <a:xfrm>
              <a:off x="969" y="1879"/>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89" name="Line 55">
              <a:extLst>
                <a:ext uri="{FF2B5EF4-FFF2-40B4-BE49-F238E27FC236}">
                  <a16:creationId xmlns:a16="http://schemas.microsoft.com/office/drawing/2014/main" id="{466BDD80-45DA-77F0-28FD-31C71EEEFEFD}"/>
                </a:ext>
              </a:extLst>
            </p:cNvPr>
            <p:cNvSpPr>
              <a:spLocks noChangeShapeType="1"/>
            </p:cNvSpPr>
            <p:nvPr/>
          </p:nvSpPr>
          <p:spPr bwMode="auto">
            <a:xfrm>
              <a:off x="969" y="1938"/>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90" name="Line 56">
              <a:extLst>
                <a:ext uri="{FF2B5EF4-FFF2-40B4-BE49-F238E27FC236}">
                  <a16:creationId xmlns:a16="http://schemas.microsoft.com/office/drawing/2014/main" id="{7597B682-D3F3-CAC0-CD29-202841A78D82}"/>
                </a:ext>
              </a:extLst>
            </p:cNvPr>
            <p:cNvSpPr>
              <a:spLocks noChangeShapeType="1"/>
            </p:cNvSpPr>
            <p:nvPr/>
          </p:nvSpPr>
          <p:spPr bwMode="auto">
            <a:xfrm>
              <a:off x="1446" y="1962"/>
              <a:ext cx="11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91" name="Line 57">
              <a:extLst>
                <a:ext uri="{FF2B5EF4-FFF2-40B4-BE49-F238E27FC236}">
                  <a16:creationId xmlns:a16="http://schemas.microsoft.com/office/drawing/2014/main" id="{46D2BEC9-77A8-D52C-030F-3FCCCB746CBE}"/>
                </a:ext>
              </a:extLst>
            </p:cNvPr>
            <p:cNvSpPr>
              <a:spLocks noChangeShapeType="1"/>
            </p:cNvSpPr>
            <p:nvPr/>
          </p:nvSpPr>
          <p:spPr bwMode="auto">
            <a:xfrm>
              <a:off x="962" y="1992"/>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92" name="Line 58">
              <a:extLst>
                <a:ext uri="{FF2B5EF4-FFF2-40B4-BE49-F238E27FC236}">
                  <a16:creationId xmlns:a16="http://schemas.microsoft.com/office/drawing/2014/main" id="{40515490-11E3-5358-DA2F-821CAC3047AB}"/>
                </a:ext>
              </a:extLst>
            </p:cNvPr>
            <p:cNvSpPr>
              <a:spLocks noChangeShapeType="1"/>
            </p:cNvSpPr>
            <p:nvPr/>
          </p:nvSpPr>
          <p:spPr bwMode="auto">
            <a:xfrm>
              <a:off x="969" y="2046"/>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93" name="AutoShape 59">
              <a:extLst>
                <a:ext uri="{FF2B5EF4-FFF2-40B4-BE49-F238E27FC236}">
                  <a16:creationId xmlns:a16="http://schemas.microsoft.com/office/drawing/2014/main" id="{2386305E-A6C7-1A35-662C-B8A2A2C1F497}"/>
                </a:ext>
              </a:extLst>
            </p:cNvPr>
            <p:cNvSpPr>
              <a:spLocks noChangeArrowheads="1"/>
            </p:cNvSpPr>
            <p:nvPr/>
          </p:nvSpPr>
          <p:spPr bwMode="auto">
            <a:xfrm>
              <a:off x="2387" y="1808"/>
              <a:ext cx="218" cy="193"/>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94" name="Oval 60">
              <a:extLst>
                <a:ext uri="{FF2B5EF4-FFF2-40B4-BE49-F238E27FC236}">
                  <a16:creationId xmlns:a16="http://schemas.microsoft.com/office/drawing/2014/main" id="{6E409BB2-D4B9-9C43-97DD-1471067495F2}"/>
                </a:ext>
              </a:extLst>
            </p:cNvPr>
            <p:cNvSpPr>
              <a:spLocks noChangeArrowheads="1"/>
            </p:cNvSpPr>
            <p:nvPr/>
          </p:nvSpPr>
          <p:spPr bwMode="auto">
            <a:xfrm>
              <a:off x="2585" y="1881"/>
              <a:ext cx="55" cy="52"/>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195" name="Line 61">
              <a:extLst>
                <a:ext uri="{FF2B5EF4-FFF2-40B4-BE49-F238E27FC236}">
                  <a16:creationId xmlns:a16="http://schemas.microsoft.com/office/drawing/2014/main" id="{9F0E37E1-FE61-5BB3-263E-D4710445D75C}"/>
                </a:ext>
              </a:extLst>
            </p:cNvPr>
            <p:cNvSpPr>
              <a:spLocks noChangeShapeType="1"/>
            </p:cNvSpPr>
            <p:nvPr/>
          </p:nvSpPr>
          <p:spPr bwMode="auto">
            <a:xfrm>
              <a:off x="2223" y="1868"/>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96" name="Line 62">
              <a:extLst>
                <a:ext uri="{FF2B5EF4-FFF2-40B4-BE49-F238E27FC236}">
                  <a16:creationId xmlns:a16="http://schemas.microsoft.com/office/drawing/2014/main" id="{C1C42ED2-C0DC-78D1-1AF3-7E9E4C45F0FE}"/>
                </a:ext>
              </a:extLst>
            </p:cNvPr>
            <p:cNvSpPr>
              <a:spLocks noChangeShapeType="1"/>
            </p:cNvSpPr>
            <p:nvPr/>
          </p:nvSpPr>
          <p:spPr bwMode="auto">
            <a:xfrm>
              <a:off x="2223" y="1960"/>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97" name="Line 63">
              <a:extLst>
                <a:ext uri="{FF2B5EF4-FFF2-40B4-BE49-F238E27FC236}">
                  <a16:creationId xmlns:a16="http://schemas.microsoft.com/office/drawing/2014/main" id="{1D2F17D8-911E-F6ED-5B17-726F44B904BD}"/>
                </a:ext>
              </a:extLst>
            </p:cNvPr>
            <p:cNvSpPr>
              <a:spLocks noChangeShapeType="1"/>
            </p:cNvSpPr>
            <p:nvPr/>
          </p:nvSpPr>
          <p:spPr bwMode="auto">
            <a:xfrm>
              <a:off x="2645" y="1910"/>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4198" name="Group 64">
              <a:extLst>
                <a:ext uri="{FF2B5EF4-FFF2-40B4-BE49-F238E27FC236}">
                  <a16:creationId xmlns:a16="http://schemas.microsoft.com/office/drawing/2014/main" id="{362EFC0E-67EB-69B6-3DD1-CC26E357EB8E}"/>
                </a:ext>
              </a:extLst>
            </p:cNvPr>
            <p:cNvGrpSpPr>
              <a:grpSpLocks/>
            </p:cNvGrpSpPr>
            <p:nvPr/>
          </p:nvGrpSpPr>
          <p:grpSpPr bwMode="auto">
            <a:xfrm>
              <a:off x="2770" y="1831"/>
              <a:ext cx="179" cy="165"/>
              <a:chOff x="3480" y="6364"/>
              <a:chExt cx="386" cy="404"/>
            </a:xfrm>
          </p:grpSpPr>
          <p:sp>
            <p:nvSpPr>
              <p:cNvPr id="134304" name="Oval 65">
                <a:extLst>
                  <a:ext uri="{FF2B5EF4-FFF2-40B4-BE49-F238E27FC236}">
                    <a16:creationId xmlns:a16="http://schemas.microsoft.com/office/drawing/2014/main" id="{19C6A0D5-7235-0306-2D2A-433E7C10FA36}"/>
                  </a:ext>
                </a:extLst>
              </p:cNvPr>
              <p:cNvSpPr>
                <a:spLocks noChangeArrowheads="1"/>
              </p:cNvSpPr>
              <p:nvPr/>
            </p:nvSpPr>
            <p:spPr bwMode="auto">
              <a:xfrm>
                <a:off x="3741" y="6494"/>
                <a:ext cx="125" cy="125"/>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305" name="AutoShape 66">
                <a:extLst>
                  <a:ext uri="{FF2B5EF4-FFF2-40B4-BE49-F238E27FC236}">
                    <a16:creationId xmlns:a16="http://schemas.microsoft.com/office/drawing/2014/main" id="{C4C83636-AEC6-07F8-5C88-6F1CE4298A50}"/>
                  </a:ext>
                </a:extLst>
              </p:cNvPr>
              <p:cNvSpPr>
                <a:spLocks noChangeArrowheads="1"/>
              </p:cNvSpPr>
              <p:nvPr/>
            </p:nvSpPr>
            <p:spPr bwMode="auto">
              <a:xfrm rot="5435204">
                <a:off x="3410" y="6434"/>
                <a:ext cx="404" cy="264"/>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134199" name="AutoShape 67">
              <a:extLst>
                <a:ext uri="{FF2B5EF4-FFF2-40B4-BE49-F238E27FC236}">
                  <a16:creationId xmlns:a16="http://schemas.microsoft.com/office/drawing/2014/main" id="{C7871EA9-D73A-F030-5E4B-BDCE56870C76}"/>
                </a:ext>
              </a:extLst>
            </p:cNvPr>
            <p:cNvSpPr>
              <a:spLocks noChangeArrowheads="1"/>
            </p:cNvSpPr>
            <p:nvPr/>
          </p:nvSpPr>
          <p:spPr bwMode="auto">
            <a:xfrm>
              <a:off x="3164" y="1934"/>
              <a:ext cx="192"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00" name="Oval 68">
              <a:extLst>
                <a:ext uri="{FF2B5EF4-FFF2-40B4-BE49-F238E27FC236}">
                  <a16:creationId xmlns:a16="http://schemas.microsoft.com/office/drawing/2014/main" id="{BA7DC3F6-9EA9-AD2C-B0A9-BF2D5CB4863C}"/>
                </a:ext>
              </a:extLst>
            </p:cNvPr>
            <p:cNvSpPr>
              <a:spLocks noChangeArrowheads="1"/>
            </p:cNvSpPr>
            <p:nvPr/>
          </p:nvSpPr>
          <p:spPr bwMode="auto">
            <a:xfrm>
              <a:off x="3360" y="2007"/>
              <a:ext cx="55" cy="52"/>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01" name="Line 69">
              <a:extLst>
                <a:ext uri="{FF2B5EF4-FFF2-40B4-BE49-F238E27FC236}">
                  <a16:creationId xmlns:a16="http://schemas.microsoft.com/office/drawing/2014/main" id="{B1A1A335-082D-BC7A-F57A-7267029824CD}"/>
                </a:ext>
              </a:extLst>
            </p:cNvPr>
            <p:cNvSpPr>
              <a:spLocks noChangeShapeType="1"/>
            </p:cNvSpPr>
            <p:nvPr/>
          </p:nvSpPr>
          <p:spPr bwMode="auto">
            <a:xfrm>
              <a:off x="2951" y="1904"/>
              <a:ext cx="1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02" name="Line 70">
              <a:extLst>
                <a:ext uri="{FF2B5EF4-FFF2-40B4-BE49-F238E27FC236}">
                  <a16:creationId xmlns:a16="http://schemas.microsoft.com/office/drawing/2014/main" id="{85EC700F-D284-E541-B0BA-949756D1863F}"/>
                </a:ext>
              </a:extLst>
            </p:cNvPr>
            <p:cNvSpPr>
              <a:spLocks noChangeShapeType="1"/>
            </p:cNvSpPr>
            <p:nvPr/>
          </p:nvSpPr>
          <p:spPr bwMode="auto">
            <a:xfrm>
              <a:off x="3062" y="1982"/>
              <a:ext cx="1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03" name="Line 71">
              <a:extLst>
                <a:ext uri="{FF2B5EF4-FFF2-40B4-BE49-F238E27FC236}">
                  <a16:creationId xmlns:a16="http://schemas.microsoft.com/office/drawing/2014/main" id="{DA7BE420-25CC-78ED-4791-9FD114B261D2}"/>
                </a:ext>
              </a:extLst>
            </p:cNvPr>
            <p:cNvSpPr>
              <a:spLocks noChangeShapeType="1"/>
            </p:cNvSpPr>
            <p:nvPr/>
          </p:nvSpPr>
          <p:spPr bwMode="auto">
            <a:xfrm>
              <a:off x="3055" y="1904"/>
              <a:ext cx="0" cy="6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04" name="Line 72">
              <a:extLst>
                <a:ext uri="{FF2B5EF4-FFF2-40B4-BE49-F238E27FC236}">
                  <a16:creationId xmlns:a16="http://schemas.microsoft.com/office/drawing/2014/main" id="{818FEB46-E5DE-6DDA-5D8A-3D45A87B9054}"/>
                </a:ext>
              </a:extLst>
            </p:cNvPr>
            <p:cNvSpPr>
              <a:spLocks noChangeShapeType="1"/>
            </p:cNvSpPr>
            <p:nvPr/>
          </p:nvSpPr>
          <p:spPr bwMode="auto">
            <a:xfrm>
              <a:off x="3412" y="2031"/>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05" name="Line 73">
              <a:extLst>
                <a:ext uri="{FF2B5EF4-FFF2-40B4-BE49-F238E27FC236}">
                  <a16:creationId xmlns:a16="http://schemas.microsoft.com/office/drawing/2014/main" id="{DC42628F-E98C-0CBC-FD4F-DA7B2E40105F}"/>
                </a:ext>
              </a:extLst>
            </p:cNvPr>
            <p:cNvSpPr>
              <a:spLocks noChangeShapeType="1"/>
            </p:cNvSpPr>
            <p:nvPr/>
          </p:nvSpPr>
          <p:spPr bwMode="auto">
            <a:xfrm>
              <a:off x="2223" y="2121"/>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06" name="Line 74">
              <a:extLst>
                <a:ext uri="{FF2B5EF4-FFF2-40B4-BE49-F238E27FC236}">
                  <a16:creationId xmlns:a16="http://schemas.microsoft.com/office/drawing/2014/main" id="{90AFCC1B-CCAB-CF49-BDCC-DFBC8F0548BE}"/>
                </a:ext>
              </a:extLst>
            </p:cNvPr>
            <p:cNvSpPr>
              <a:spLocks noChangeShapeType="1"/>
            </p:cNvSpPr>
            <p:nvPr/>
          </p:nvSpPr>
          <p:spPr bwMode="auto">
            <a:xfrm>
              <a:off x="2223" y="2213"/>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07" name="Line 75">
              <a:extLst>
                <a:ext uri="{FF2B5EF4-FFF2-40B4-BE49-F238E27FC236}">
                  <a16:creationId xmlns:a16="http://schemas.microsoft.com/office/drawing/2014/main" id="{53668C56-9794-90C6-41D7-C56D7CDE2326}"/>
                </a:ext>
              </a:extLst>
            </p:cNvPr>
            <p:cNvSpPr>
              <a:spLocks noChangeShapeType="1"/>
            </p:cNvSpPr>
            <p:nvPr/>
          </p:nvSpPr>
          <p:spPr bwMode="auto">
            <a:xfrm>
              <a:off x="2645" y="2157"/>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4208" name="Group 76">
              <a:extLst>
                <a:ext uri="{FF2B5EF4-FFF2-40B4-BE49-F238E27FC236}">
                  <a16:creationId xmlns:a16="http://schemas.microsoft.com/office/drawing/2014/main" id="{7F6A48AD-2F5F-ADAA-7E56-3AF27AB57A9A}"/>
                </a:ext>
              </a:extLst>
            </p:cNvPr>
            <p:cNvGrpSpPr>
              <a:grpSpLocks/>
            </p:cNvGrpSpPr>
            <p:nvPr/>
          </p:nvGrpSpPr>
          <p:grpSpPr bwMode="auto">
            <a:xfrm>
              <a:off x="2770" y="2078"/>
              <a:ext cx="179" cy="165"/>
              <a:chOff x="3480" y="6364"/>
              <a:chExt cx="386" cy="404"/>
            </a:xfrm>
          </p:grpSpPr>
          <p:sp>
            <p:nvSpPr>
              <p:cNvPr id="134302" name="Oval 77">
                <a:extLst>
                  <a:ext uri="{FF2B5EF4-FFF2-40B4-BE49-F238E27FC236}">
                    <a16:creationId xmlns:a16="http://schemas.microsoft.com/office/drawing/2014/main" id="{42E35E6C-4FD1-42A8-BE92-AE789363ACB6}"/>
                  </a:ext>
                </a:extLst>
              </p:cNvPr>
              <p:cNvSpPr>
                <a:spLocks noChangeArrowheads="1"/>
              </p:cNvSpPr>
              <p:nvPr/>
            </p:nvSpPr>
            <p:spPr bwMode="auto">
              <a:xfrm>
                <a:off x="3741" y="6494"/>
                <a:ext cx="125" cy="125"/>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303" name="AutoShape 78">
                <a:extLst>
                  <a:ext uri="{FF2B5EF4-FFF2-40B4-BE49-F238E27FC236}">
                    <a16:creationId xmlns:a16="http://schemas.microsoft.com/office/drawing/2014/main" id="{EC5BA370-41C5-DD75-39F7-A212D5F87C3C}"/>
                  </a:ext>
                </a:extLst>
              </p:cNvPr>
              <p:cNvSpPr>
                <a:spLocks noChangeArrowheads="1"/>
              </p:cNvSpPr>
              <p:nvPr/>
            </p:nvSpPr>
            <p:spPr bwMode="auto">
              <a:xfrm rot="5435204">
                <a:off x="3410" y="6434"/>
                <a:ext cx="404" cy="264"/>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134209" name="Line 79">
              <a:extLst>
                <a:ext uri="{FF2B5EF4-FFF2-40B4-BE49-F238E27FC236}">
                  <a16:creationId xmlns:a16="http://schemas.microsoft.com/office/drawing/2014/main" id="{2E9E2F7D-D9B3-AC76-1AAB-4902AF2A3525}"/>
                </a:ext>
              </a:extLst>
            </p:cNvPr>
            <p:cNvSpPr>
              <a:spLocks noChangeShapeType="1"/>
            </p:cNvSpPr>
            <p:nvPr/>
          </p:nvSpPr>
          <p:spPr bwMode="auto">
            <a:xfrm>
              <a:off x="2951" y="2158"/>
              <a:ext cx="1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10" name="Line 80">
              <a:extLst>
                <a:ext uri="{FF2B5EF4-FFF2-40B4-BE49-F238E27FC236}">
                  <a16:creationId xmlns:a16="http://schemas.microsoft.com/office/drawing/2014/main" id="{DF25218C-223E-1C0B-EDA8-ECF33A654F4D}"/>
                </a:ext>
              </a:extLst>
            </p:cNvPr>
            <p:cNvSpPr>
              <a:spLocks noChangeShapeType="1"/>
            </p:cNvSpPr>
            <p:nvPr/>
          </p:nvSpPr>
          <p:spPr bwMode="auto">
            <a:xfrm>
              <a:off x="3055" y="2087"/>
              <a:ext cx="0" cy="6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11" name="Line 81">
              <a:extLst>
                <a:ext uri="{FF2B5EF4-FFF2-40B4-BE49-F238E27FC236}">
                  <a16:creationId xmlns:a16="http://schemas.microsoft.com/office/drawing/2014/main" id="{2D3E644D-19CF-7DD4-43AD-14D1C3669EF6}"/>
                </a:ext>
              </a:extLst>
            </p:cNvPr>
            <p:cNvSpPr>
              <a:spLocks noChangeShapeType="1"/>
            </p:cNvSpPr>
            <p:nvPr/>
          </p:nvSpPr>
          <p:spPr bwMode="auto">
            <a:xfrm>
              <a:off x="3055" y="2087"/>
              <a:ext cx="1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12" name="Text Box 82">
              <a:extLst>
                <a:ext uri="{FF2B5EF4-FFF2-40B4-BE49-F238E27FC236}">
                  <a16:creationId xmlns:a16="http://schemas.microsoft.com/office/drawing/2014/main" id="{FADCAEB3-2E34-134D-5F65-75C4F40D8A39}"/>
                </a:ext>
              </a:extLst>
            </p:cNvPr>
            <p:cNvSpPr txBox="1">
              <a:spLocks noChangeArrowheads="1"/>
            </p:cNvSpPr>
            <p:nvPr/>
          </p:nvSpPr>
          <p:spPr bwMode="auto">
            <a:xfrm>
              <a:off x="471" y="2446"/>
              <a:ext cx="521"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AOI21</a:t>
              </a:r>
            </a:p>
          </p:txBody>
        </p:sp>
        <p:sp>
          <p:nvSpPr>
            <p:cNvPr id="134213" name="Line 83">
              <a:extLst>
                <a:ext uri="{FF2B5EF4-FFF2-40B4-BE49-F238E27FC236}">
                  <a16:creationId xmlns:a16="http://schemas.microsoft.com/office/drawing/2014/main" id="{47012994-EF2D-E480-3415-72216FE33617}"/>
                </a:ext>
              </a:extLst>
            </p:cNvPr>
            <p:cNvSpPr>
              <a:spLocks noChangeShapeType="1"/>
            </p:cNvSpPr>
            <p:nvPr/>
          </p:nvSpPr>
          <p:spPr bwMode="auto">
            <a:xfrm>
              <a:off x="906" y="2426"/>
              <a:ext cx="1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14" name="Line 84">
              <a:extLst>
                <a:ext uri="{FF2B5EF4-FFF2-40B4-BE49-F238E27FC236}">
                  <a16:creationId xmlns:a16="http://schemas.microsoft.com/office/drawing/2014/main" id="{914D4198-89E2-C3D4-9088-D0A79D1BCBCC}"/>
                </a:ext>
              </a:extLst>
            </p:cNvPr>
            <p:cNvSpPr>
              <a:spLocks noChangeShapeType="1"/>
            </p:cNvSpPr>
            <p:nvPr/>
          </p:nvSpPr>
          <p:spPr bwMode="auto">
            <a:xfrm>
              <a:off x="914" y="2530"/>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15" name="Line 85">
              <a:extLst>
                <a:ext uri="{FF2B5EF4-FFF2-40B4-BE49-F238E27FC236}">
                  <a16:creationId xmlns:a16="http://schemas.microsoft.com/office/drawing/2014/main" id="{146681A9-E5CE-8203-B3B1-0510B9A7616F}"/>
                </a:ext>
              </a:extLst>
            </p:cNvPr>
            <p:cNvSpPr>
              <a:spLocks noChangeShapeType="1"/>
            </p:cNvSpPr>
            <p:nvPr/>
          </p:nvSpPr>
          <p:spPr bwMode="auto">
            <a:xfrm>
              <a:off x="914" y="2638"/>
              <a:ext cx="3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16" name="AutoShape 86">
              <a:extLst>
                <a:ext uri="{FF2B5EF4-FFF2-40B4-BE49-F238E27FC236}">
                  <a16:creationId xmlns:a16="http://schemas.microsoft.com/office/drawing/2014/main" id="{FBBFC1D4-F088-9002-994D-C15A01423C50}"/>
                </a:ext>
              </a:extLst>
            </p:cNvPr>
            <p:cNvSpPr>
              <a:spLocks noChangeArrowheads="1"/>
            </p:cNvSpPr>
            <p:nvPr/>
          </p:nvSpPr>
          <p:spPr bwMode="auto">
            <a:xfrm>
              <a:off x="1048" y="2382"/>
              <a:ext cx="241"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17" name="AutoShape 87">
              <a:extLst>
                <a:ext uri="{FF2B5EF4-FFF2-40B4-BE49-F238E27FC236}">
                  <a16:creationId xmlns:a16="http://schemas.microsoft.com/office/drawing/2014/main" id="{CF39BB3F-42D4-7AAC-0D58-B3552F542F1B}"/>
                </a:ext>
              </a:extLst>
            </p:cNvPr>
            <p:cNvSpPr>
              <a:spLocks noChangeArrowheads="1"/>
            </p:cNvSpPr>
            <p:nvPr/>
          </p:nvSpPr>
          <p:spPr bwMode="auto">
            <a:xfrm flipH="1">
              <a:off x="1296" y="2467"/>
              <a:ext cx="250" cy="203"/>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dirty="0"/>
            </a:p>
          </p:txBody>
        </p:sp>
        <p:sp>
          <p:nvSpPr>
            <p:cNvPr id="134218" name="Oval 88">
              <a:extLst>
                <a:ext uri="{FF2B5EF4-FFF2-40B4-BE49-F238E27FC236}">
                  <a16:creationId xmlns:a16="http://schemas.microsoft.com/office/drawing/2014/main" id="{F6CE187A-6C51-0CE8-30F9-0683757AD82F}"/>
                </a:ext>
              </a:extLst>
            </p:cNvPr>
            <p:cNvSpPr>
              <a:spLocks noChangeArrowheads="1"/>
            </p:cNvSpPr>
            <p:nvPr/>
          </p:nvSpPr>
          <p:spPr bwMode="auto">
            <a:xfrm>
              <a:off x="1546" y="2564"/>
              <a:ext cx="63" cy="52"/>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19" name="Line 89">
              <a:extLst>
                <a:ext uri="{FF2B5EF4-FFF2-40B4-BE49-F238E27FC236}">
                  <a16:creationId xmlns:a16="http://schemas.microsoft.com/office/drawing/2014/main" id="{102A1FA5-07D9-570C-B48A-83A70C0B9BBC}"/>
                </a:ext>
              </a:extLst>
            </p:cNvPr>
            <p:cNvSpPr>
              <a:spLocks noChangeShapeType="1"/>
            </p:cNvSpPr>
            <p:nvPr/>
          </p:nvSpPr>
          <p:spPr bwMode="auto">
            <a:xfrm>
              <a:off x="1613" y="2588"/>
              <a:ext cx="11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20" name="AutoShape 90">
              <a:extLst>
                <a:ext uri="{FF2B5EF4-FFF2-40B4-BE49-F238E27FC236}">
                  <a16:creationId xmlns:a16="http://schemas.microsoft.com/office/drawing/2014/main" id="{E601FCCC-7422-E216-F900-9B02FE6F03D5}"/>
                </a:ext>
              </a:extLst>
            </p:cNvPr>
            <p:cNvSpPr>
              <a:spLocks noChangeArrowheads="1"/>
            </p:cNvSpPr>
            <p:nvPr/>
          </p:nvSpPr>
          <p:spPr bwMode="auto">
            <a:xfrm>
              <a:off x="2399" y="2357"/>
              <a:ext cx="241" cy="193"/>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21" name="Oval 91">
              <a:extLst>
                <a:ext uri="{FF2B5EF4-FFF2-40B4-BE49-F238E27FC236}">
                  <a16:creationId xmlns:a16="http://schemas.microsoft.com/office/drawing/2014/main" id="{7D568BC8-5086-132D-F904-38EC68510EC2}"/>
                </a:ext>
              </a:extLst>
            </p:cNvPr>
            <p:cNvSpPr>
              <a:spLocks noChangeArrowheads="1"/>
            </p:cNvSpPr>
            <p:nvPr/>
          </p:nvSpPr>
          <p:spPr bwMode="auto">
            <a:xfrm>
              <a:off x="2624" y="2428"/>
              <a:ext cx="58" cy="48"/>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22" name="Line 92">
              <a:extLst>
                <a:ext uri="{FF2B5EF4-FFF2-40B4-BE49-F238E27FC236}">
                  <a16:creationId xmlns:a16="http://schemas.microsoft.com/office/drawing/2014/main" id="{7FB88CE1-E75D-B1BD-8B22-3F281CA7D7CC}"/>
                </a:ext>
              </a:extLst>
            </p:cNvPr>
            <p:cNvSpPr>
              <a:spLocks noChangeShapeType="1"/>
            </p:cNvSpPr>
            <p:nvPr/>
          </p:nvSpPr>
          <p:spPr bwMode="auto">
            <a:xfrm>
              <a:off x="2234" y="2419"/>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23" name="Line 93">
              <a:extLst>
                <a:ext uri="{FF2B5EF4-FFF2-40B4-BE49-F238E27FC236}">
                  <a16:creationId xmlns:a16="http://schemas.microsoft.com/office/drawing/2014/main" id="{F4D542FD-52E8-9355-2817-1ABCABC4D07F}"/>
                </a:ext>
              </a:extLst>
            </p:cNvPr>
            <p:cNvSpPr>
              <a:spLocks noChangeShapeType="1"/>
            </p:cNvSpPr>
            <p:nvPr/>
          </p:nvSpPr>
          <p:spPr bwMode="auto">
            <a:xfrm>
              <a:off x="2234" y="2505"/>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24" name="Line 94">
              <a:extLst>
                <a:ext uri="{FF2B5EF4-FFF2-40B4-BE49-F238E27FC236}">
                  <a16:creationId xmlns:a16="http://schemas.microsoft.com/office/drawing/2014/main" id="{A8775388-697D-BB80-93A2-3CE9FCF2C19F}"/>
                </a:ext>
              </a:extLst>
            </p:cNvPr>
            <p:cNvSpPr>
              <a:spLocks noChangeShapeType="1"/>
            </p:cNvSpPr>
            <p:nvPr/>
          </p:nvSpPr>
          <p:spPr bwMode="auto">
            <a:xfrm>
              <a:off x="2684" y="2452"/>
              <a:ext cx="1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25" name="AutoShape 95">
              <a:extLst>
                <a:ext uri="{FF2B5EF4-FFF2-40B4-BE49-F238E27FC236}">
                  <a16:creationId xmlns:a16="http://schemas.microsoft.com/office/drawing/2014/main" id="{F7268983-19EC-4375-00BD-72171B3D65D6}"/>
                </a:ext>
              </a:extLst>
            </p:cNvPr>
            <p:cNvSpPr>
              <a:spLocks noChangeArrowheads="1"/>
            </p:cNvSpPr>
            <p:nvPr/>
          </p:nvSpPr>
          <p:spPr bwMode="auto">
            <a:xfrm>
              <a:off x="2939" y="2482"/>
              <a:ext cx="241" cy="193"/>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26" name="Oval 96">
              <a:extLst>
                <a:ext uri="{FF2B5EF4-FFF2-40B4-BE49-F238E27FC236}">
                  <a16:creationId xmlns:a16="http://schemas.microsoft.com/office/drawing/2014/main" id="{123BE6B3-889E-7DCE-53EF-072F63C3677D}"/>
                </a:ext>
              </a:extLst>
            </p:cNvPr>
            <p:cNvSpPr>
              <a:spLocks noChangeArrowheads="1"/>
            </p:cNvSpPr>
            <p:nvPr/>
          </p:nvSpPr>
          <p:spPr bwMode="auto">
            <a:xfrm>
              <a:off x="3172" y="2560"/>
              <a:ext cx="58" cy="47"/>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27" name="Line 97">
              <a:extLst>
                <a:ext uri="{FF2B5EF4-FFF2-40B4-BE49-F238E27FC236}">
                  <a16:creationId xmlns:a16="http://schemas.microsoft.com/office/drawing/2014/main" id="{7D11F5A3-C607-F4D2-A3A4-000F9218D9F1}"/>
                </a:ext>
              </a:extLst>
            </p:cNvPr>
            <p:cNvSpPr>
              <a:spLocks noChangeShapeType="1"/>
            </p:cNvSpPr>
            <p:nvPr/>
          </p:nvSpPr>
          <p:spPr bwMode="auto">
            <a:xfrm>
              <a:off x="2824" y="2533"/>
              <a:ext cx="1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28" name="Line 98">
              <a:extLst>
                <a:ext uri="{FF2B5EF4-FFF2-40B4-BE49-F238E27FC236}">
                  <a16:creationId xmlns:a16="http://schemas.microsoft.com/office/drawing/2014/main" id="{C8642FFB-AA70-882C-D756-7DF40A089C1F}"/>
                </a:ext>
              </a:extLst>
            </p:cNvPr>
            <p:cNvSpPr>
              <a:spLocks noChangeShapeType="1"/>
            </p:cNvSpPr>
            <p:nvPr/>
          </p:nvSpPr>
          <p:spPr bwMode="auto">
            <a:xfrm>
              <a:off x="2824" y="2453"/>
              <a:ext cx="0" cy="7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29" name="Line 99">
              <a:extLst>
                <a:ext uri="{FF2B5EF4-FFF2-40B4-BE49-F238E27FC236}">
                  <a16:creationId xmlns:a16="http://schemas.microsoft.com/office/drawing/2014/main" id="{5BE30F4F-F5E0-1DFC-BFA0-CA6EF8806894}"/>
                </a:ext>
              </a:extLst>
            </p:cNvPr>
            <p:cNvSpPr>
              <a:spLocks noChangeShapeType="1"/>
            </p:cNvSpPr>
            <p:nvPr/>
          </p:nvSpPr>
          <p:spPr bwMode="auto">
            <a:xfrm>
              <a:off x="3232" y="2583"/>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30" name="Line 100">
              <a:extLst>
                <a:ext uri="{FF2B5EF4-FFF2-40B4-BE49-F238E27FC236}">
                  <a16:creationId xmlns:a16="http://schemas.microsoft.com/office/drawing/2014/main" id="{3754D253-C609-42F5-83C5-EF7D197FD5E3}"/>
                </a:ext>
              </a:extLst>
            </p:cNvPr>
            <p:cNvSpPr>
              <a:spLocks noChangeShapeType="1"/>
            </p:cNvSpPr>
            <p:nvPr/>
          </p:nvSpPr>
          <p:spPr bwMode="auto">
            <a:xfrm>
              <a:off x="2234" y="2705"/>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31" name="Line 101">
              <a:extLst>
                <a:ext uri="{FF2B5EF4-FFF2-40B4-BE49-F238E27FC236}">
                  <a16:creationId xmlns:a16="http://schemas.microsoft.com/office/drawing/2014/main" id="{BC828614-D23E-65CD-74D1-D7152D5D7D8C}"/>
                </a:ext>
              </a:extLst>
            </p:cNvPr>
            <p:cNvSpPr>
              <a:spLocks noChangeShapeType="1"/>
            </p:cNvSpPr>
            <p:nvPr/>
          </p:nvSpPr>
          <p:spPr bwMode="auto">
            <a:xfrm>
              <a:off x="3565" y="2589"/>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32" name="Oval 102">
              <a:extLst>
                <a:ext uri="{FF2B5EF4-FFF2-40B4-BE49-F238E27FC236}">
                  <a16:creationId xmlns:a16="http://schemas.microsoft.com/office/drawing/2014/main" id="{14655699-EA5F-5AA5-AC98-B77BA869FC93}"/>
                </a:ext>
              </a:extLst>
            </p:cNvPr>
            <p:cNvSpPr>
              <a:spLocks noChangeArrowheads="1"/>
            </p:cNvSpPr>
            <p:nvPr/>
          </p:nvSpPr>
          <p:spPr bwMode="auto">
            <a:xfrm>
              <a:off x="3506" y="2564"/>
              <a:ext cx="58" cy="48"/>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33" name="AutoShape 103">
              <a:extLst>
                <a:ext uri="{FF2B5EF4-FFF2-40B4-BE49-F238E27FC236}">
                  <a16:creationId xmlns:a16="http://schemas.microsoft.com/office/drawing/2014/main" id="{37B40B0C-236F-CF5E-2360-A78F76507C57}"/>
                </a:ext>
              </a:extLst>
            </p:cNvPr>
            <p:cNvSpPr>
              <a:spLocks noChangeArrowheads="1"/>
            </p:cNvSpPr>
            <p:nvPr/>
          </p:nvSpPr>
          <p:spPr bwMode="auto">
            <a:xfrm rot="5435204">
              <a:off x="3369" y="2531"/>
              <a:ext cx="154" cy="122"/>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34" name="Line 104">
              <a:extLst>
                <a:ext uri="{FF2B5EF4-FFF2-40B4-BE49-F238E27FC236}">
                  <a16:creationId xmlns:a16="http://schemas.microsoft.com/office/drawing/2014/main" id="{F5C9763C-3024-39C4-83F7-6D69F4D0BBA6}"/>
                </a:ext>
              </a:extLst>
            </p:cNvPr>
            <p:cNvSpPr>
              <a:spLocks noChangeShapeType="1"/>
            </p:cNvSpPr>
            <p:nvPr/>
          </p:nvSpPr>
          <p:spPr bwMode="auto">
            <a:xfrm>
              <a:off x="2824" y="2630"/>
              <a:ext cx="0" cy="7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35" name="Line 105">
              <a:extLst>
                <a:ext uri="{FF2B5EF4-FFF2-40B4-BE49-F238E27FC236}">
                  <a16:creationId xmlns:a16="http://schemas.microsoft.com/office/drawing/2014/main" id="{4BEADEF5-2A98-0DE4-0AFA-282C5FEC3F50}"/>
                </a:ext>
              </a:extLst>
            </p:cNvPr>
            <p:cNvSpPr>
              <a:spLocks noChangeShapeType="1"/>
            </p:cNvSpPr>
            <p:nvPr/>
          </p:nvSpPr>
          <p:spPr bwMode="auto">
            <a:xfrm>
              <a:off x="2824" y="2630"/>
              <a:ext cx="1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36" name="Oval 106">
              <a:extLst>
                <a:ext uri="{FF2B5EF4-FFF2-40B4-BE49-F238E27FC236}">
                  <a16:creationId xmlns:a16="http://schemas.microsoft.com/office/drawing/2014/main" id="{8235704C-95EC-9BB4-E195-5808D19B3022}"/>
                </a:ext>
              </a:extLst>
            </p:cNvPr>
            <p:cNvSpPr>
              <a:spLocks noChangeArrowheads="1"/>
            </p:cNvSpPr>
            <p:nvPr/>
          </p:nvSpPr>
          <p:spPr bwMode="auto">
            <a:xfrm>
              <a:off x="2521" y="2680"/>
              <a:ext cx="58" cy="48"/>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37" name="AutoShape 107">
              <a:extLst>
                <a:ext uri="{FF2B5EF4-FFF2-40B4-BE49-F238E27FC236}">
                  <a16:creationId xmlns:a16="http://schemas.microsoft.com/office/drawing/2014/main" id="{878A7318-241B-9A2A-320A-2A251D51D91A}"/>
                </a:ext>
              </a:extLst>
            </p:cNvPr>
            <p:cNvSpPr>
              <a:spLocks noChangeArrowheads="1"/>
            </p:cNvSpPr>
            <p:nvPr/>
          </p:nvSpPr>
          <p:spPr bwMode="auto">
            <a:xfrm rot="5435204">
              <a:off x="2384" y="2647"/>
              <a:ext cx="155" cy="122"/>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38" name="Line 108">
              <a:extLst>
                <a:ext uri="{FF2B5EF4-FFF2-40B4-BE49-F238E27FC236}">
                  <a16:creationId xmlns:a16="http://schemas.microsoft.com/office/drawing/2014/main" id="{DF56A8CA-3D46-BAE6-84E0-C8FAB354BB99}"/>
                </a:ext>
              </a:extLst>
            </p:cNvPr>
            <p:cNvSpPr>
              <a:spLocks noChangeShapeType="1"/>
            </p:cNvSpPr>
            <p:nvPr/>
          </p:nvSpPr>
          <p:spPr bwMode="auto">
            <a:xfrm>
              <a:off x="2582" y="2705"/>
              <a:ext cx="2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39" name="Text Box 109">
              <a:extLst>
                <a:ext uri="{FF2B5EF4-FFF2-40B4-BE49-F238E27FC236}">
                  <a16:creationId xmlns:a16="http://schemas.microsoft.com/office/drawing/2014/main" id="{E659BFDD-46E9-1C10-8948-2937E2E392EC}"/>
                </a:ext>
              </a:extLst>
            </p:cNvPr>
            <p:cNvSpPr txBox="1">
              <a:spLocks noChangeArrowheads="1"/>
            </p:cNvSpPr>
            <p:nvPr/>
          </p:nvSpPr>
          <p:spPr bwMode="auto">
            <a:xfrm>
              <a:off x="476" y="3010"/>
              <a:ext cx="521"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AOI22</a:t>
              </a:r>
            </a:p>
          </p:txBody>
        </p:sp>
        <p:sp>
          <p:nvSpPr>
            <p:cNvPr id="134240" name="Line 110">
              <a:extLst>
                <a:ext uri="{FF2B5EF4-FFF2-40B4-BE49-F238E27FC236}">
                  <a16:creationId xmlns:a16="http://schemas.microsoft.com/office/drawing/2014/main" id="{B8D89DC5-339E-3731-F55B-396C859DFEC7}"/>
                </a:ext>
              </a:extLst>
            </p:cNvPr>
            <p:cNvSpPr>
              <a:spLocks noChangeShapeType="1"/>
            </p:cNvSpPr>
            <p:nvPr/>
          </p:nvSpPr>
          <p:spPr bwMode="auto">
            <a:xfrm>
              <a:off x="924" y="2952"/>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41" name="Line 111">
              <a:extLst>
                <a:ext uri="{FF2B5EF4-FFF2-40B4-BE49-F238E27FC236}">
                  <a16:creationId xmlns:a16="http://schemas.microsoft.com/office/drawing/2014/main" id="{BDC26645-E12A-D70A-F6C1-6D810B108E53}"/>
                </a:ext>
              </a:extLst>
            </p:cNvPr>
            <p:cNvSpPr>
              <a:spLocks noChangeShapeType="1"/>
            </p:cNvSpPr>
            <p:nvPr/>
          </p:nvSpPr>
          <p:spPr bwMode="auto">
            <a:xfrm>
              <a:off x="924" y="3049"/>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42" name="AutoShape 112">
              <a:extLst>
                <a:ext uri="{FF2B5EF4-FFF2-40B4-BE49-F238E27FC236}">
                  <a16:creationId xmlns:a16="http://schemas.microsoft.com/office/drawing/2014/main" id="{B7FFED48-6C58-780E-0686-713CAE11C92B}"/>
                </a:ext>
              </a:extLst>
            </p:cNvPr>
            <p:cNvSpPr>
              <a:spLocks noChangeArrowheads="1"/>
            </p:cNvSpPr>
            <p:nvPr/>
          </p:nvSpPr>
          <p:spPr bwMode="auto">
            <a:xfrm>
              <a:off x="1089" y="2908"/>
              <a:ext cx="241"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43" name="AutoShape 113">
              <a:extLst>
                <a:ext uri="{FF2B5EF4-FFF2-40B4-BE49-F238E27FC236}">
                  <a16:creationId xmlns:a16="http://schemas.microsoft.com/office/drawing/2014/main" id="{C3B4200C-76F6-B070-825F-677040C98875}"/>
                </a:ext>
              </a:extLst>
            </p:cNvPr>
            <p:cNvSpPr>
              <a:spLocks noChangeArrowheads="1"/>
            </p:cNvSpPr>
            <p:nvPr/>
          </p:nvSpPr>
          <p:spPr bwMode="auto">
            <a:xfrm flipH="1">
              <a:off x="1330" y="2996"/>
              <a:ext cx="249" cy="203"/>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44" name="Oval 114">
              <a:extLst>
                <a:ext uri="{FF2B5EF4-FFF2-40B4-BE49-F238E27FC236}">
                  <a16:creationId xmlns:a16="http://schemas.microsoft.com/office/drawing/2014/main" id="{C4AE5FCE-F4F9-D749-7CB4-C76CF5B7B3C6}"/>
                </a:ext>
              </a:extLst>
            </p:cNvPr>
            <p:cNvSpPr>
              <a:spLocks noChangeArrowheads="1"/>
            </p:cNvSpPr>
            <p:nvPr/>
          </p:nvSpPr>
          <p:spPr bwMode="auto">
            <a:xfrm>
              <a:off x="1580" y="3069"/>
              <a:ext cx="63" cy="52"/>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45" name="Line 115">
              <a:extLst>
                <a:ext uri="{FF2B5EF4-FFF2-40B4-BE49-F238E27FC236}">
                  <a16:creationId xmlns:a16="http://schemas.microsoft.com/office/drawing/2014/main" id="{458107CF-1274-9549-1FF2-A6026A541609}"/>
                </a:ext>
              </a:extLst>
            </p:cNvPr>
            <p:cNvSpPr>
              <a:spLocks noChangeShapeType="1"/>
            </p:cNvSpPr>
            <p:nvPr/>
          </p:nvSpPr>
          <p:spPr bwMode="auto">
            <a:xfrm>
              <a:off x="1647" y="3094"/>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46" name="AutoShape 116">
              <a:extLst>
                <a:ext uri="{FF2B5EF4-FFF2-40B4-BE49-F238E27FC236}">
                  <a16:creationId xmlns:a16="http://schemas.microsoft.com/office/drawing/2014/main" id="{425D424F-8DFD-2F5E-2741-744F10008D24}"/>
                </a:ext>
              </a:extLst>
            </p:cNvPr>
            <p:cNvSpPr>
              <a:spLocks noChangeArrowheads="1"/>
            </p:cNvSpPr>
            <p:nvPr/>
          </p:nvSpPr>
          <p:spPr bwMode="auto">
            <a:xfrm>
              <a:off x="1089" y="3100"/>
              <a:ext cx="241" cy="193"/>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47" name="Line 117">
              <a:extLst>
                <a:ext uri="{FF2B5EF4-FFF2-40B4-BE49-F238E27FC236}">
                  <a16:creationId xmlns:a16="http://schemas.microsoft.com/office/drawing/2014/main" id="{E54237D7-3C24-EF2C-DD2F-23F0CD643559}"/>
                </a:ext>
              </a:extLst>
            </p:cNvPr>
            <p:cNvSpPr>
              <a:spLocks noChangeShapeType="1"/>
            </p:cNvSpPr>
            <p:nvPr/>
          </p:nvSpPr>
          <p:spPr bwMode="auto">
            <a:xfrm>
              <a:off x="924" y="3157"/>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48" name="Line 118">
              <a:extLst>
                <a:ext uri="{FF2B5EF4-FFF2-40B4-BE49-F238E27FC236}">
                  <a16:creationId xmlns:a16="http://schemas.microsoft.com/office/drawing/2014/main" id="{4A7E1B01-3059-89A5-EC27-BB18033ED9BC}"/>
                </a:ext>
              </a:extLst>
            </p:cNvPr>
            <p:cNvSpPr>
              <a:spLocks noChangeShapeType="1"/>
            </p:cNvSpPr>
            <p:nvPr/>
          </p:nvSpPr>
          <p:spPr bwMode="auto">
            <a:xfrm>
              <a:off x="918" y="3247"/>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49" name="AutoShape 119">
              <a:extLst>
                <a:ext uri="{FF2B5EF4-FFF2-40B4-BE49-F238E27FC236}">
                  <a16:creationId xmlns:a16="http://schemas.microsoft.com/office/drawing/2014/main" id="{29AEB592-7100-F26C-31A9-25614C8332CD}"/>
                </a:ext>
              </a:extLst>
            </p:cNvPr>
            <p:cNvSpPr>
              <a:spLocks noChangeArrowheads="1"/>
            </p:cNvSpPr>
            <p:nvPr/>
          </p:nvSpPr>
          <p:spPr bwMode="auto">
            <a:xfrm>
              <a:off x="2395" y="2860"/>
              <a:ext cx="241"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50" name="Oval 120">
              <a:extLst>
                <a:ext uri="{FF2B5EF4-FFF2-40B4-BE49-F238E27FC236}">
                  <a16:creationId xmlns:a16="http://schemas.microsoft.com/office/drawing/2014/main" id="{4D8D3F00-07AF-0B43-CCC2-C84332211DC2}"/>
                </a:ext>
              </a:extLst>
            </p:cNvPr>
            <p:cNvSpPr>
              <a:spLocks noChangeArrowheads="1"/>
            </p:cNvSpPr>
            <p:nvPr/>
          </p:nvSpPr>
          <p:spPr bwMode="auto">
            <a:xfrm>
              <a:off x="2621" y="2932"/>
              <a:ext cx="58" cy="48"/>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51" name="Line 121">
              <a:extLst>
                <a:ext uri="{FF2B5EF4-FFF2-40B4-BE49-F238E27FC236}">
                  <a16:creationId xmlns:a16="http://schemas.microsoft.com/office/drawing/2014/main" id="{CA0B1BB3-C45F-0150-70B5-14DAC310FC90}"/>
                </a:ext>
              </a:extLst>
            </p:cNvPr>
            <p:cNvSpPr>
              <a:spLocks noChangeShapeType="1"/>
            </p:cNvSpPr>
            <p:nvPr/>
          </p:nvSpPr>
          <p:spPr bwMode="auto">
            <a:xfrm>
              <a:off x="2231" y="2902"/>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52" name="Line 122">
              <a:extLst>
                <a:ext uri="{FF2B5EF4-FFF2-40B4-BE49-F238E27FC236}">
                  <a16:creationId xmlns:a16="http://schemas.microsoft.com/office/drawing/2014/main" id="{F14B8867-25FB-87D2-E9B9-CD0C04D02D87}"/>
                </a:ext>
              </a:extLst>
            </p:cNvPr>
            <p:cNvSpPr>
              <a:spLocks noChangeShapeType="1"/>
            </p:cNvSpPr>
            <p:nvPr/>
          </p:nvSpPr>
          <p:spPr bwMode="auto">
            <a:xfrm>
              <a:off x="2231" y="3009"/>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53" name="Line 123">
              <a:extLst>
                <a:ext uri="{FF2B5EF4-FFF2-40B4-BE49-F238E27FC236}">
                  <a16:creationId xmlns:a16="http://schemas.microsoft.com/office/drawing/2014/main" id="{BEE9538F-9C2F-2DAD-4233-79A8AF51BB92}"/>
                </a:ext>
              </a:extLst>
            </p:cNvPr>
            <p:cNvSpPr>
              <a:spLocks noChangeShapeType="1"/>
            </p:cNvSpPr>
            <p:nvPr/>
          </p:nvSpPr>
          <p:spPr bwMode="auto">
            <a:xfrm>
              <a:off x="2681" y="2956"/>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54" name="AutoShape 124">
              <a:extLst>
                <a:ext uri="{FF2B5EF4-FFF2-40B4-BE49-F238E27FC236}">
                  <a16:creationId xmlns:a16="http://schemas.microsoft.com/office/drawing/2014/main" id="{C6B70E7C-F305-068C-E731-92DD310484F2}"/>
                </a:ext>
              </a:extLst>
            </p:cNvPr>
            <p:cNvSpPr>
              <a:spLocks noChangeArrowheads="1"/>
            </p:cNvSpPr>
            <p:nvPr/>
          </p:nvSpPr>
          <p:spPr bwMode="auto">
            <a:xfrm>
              <a:off x="2936" y="2985"/>
              <a:ext cx="240"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55" name="Oval 125">
              <a:extLst>
                <a:ext uri="{FF2B5EF4-FFF2-40B4-BE49-F238E27FC236}">
                  <a16:creationId xmlns:a16="http://schemas.microsoft.com/office/drawing/2014/main" id="{1A2BD4E1-8FEE-A629-34C7-0B7491B813E9}"/>
                </a:ext>
              </a:extLst>
            </p:cNvPr>
            <p:cNvSpPr>
              <a:spLocks noChangeArrowheads="1"/>
            </p:cNvSpPr>
            <p:nvPr/>
          </p:nvSpPr>
          <p:spPr bwMode="auto">
            <a:xfrm>
              <a:off x="3169" y="3049"/>
              <a:ext cx="58" cy="48"/>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56" name="Line 126">
              <a:extLst>
                <a:ext uri="{FF2B5EF4-FFF2-40B4-BE49-F238E27FC236}">
                  <a16:creationId xmlns:a16="http://schemas.microsoft.com/office/drawing/2014/main" id="{63791D6E-4FD0-9FCA-4BE3-935A38F50EA1}"/>
                </a:ext>
              </a:extLst>
            </p:cNvPr>
            <p:cNvSpPr>
              <a:spLocks noChangeShapeType="1"/>
            </p:cNvSpPr>
            <p:nvPr/>
          </p:nvSpPr>
          <p:spPr bwMode="auto">
            <a:xfrm>
              <a:off x="2827" y="3037"/>
              <a:ext cx="1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57" name="Line 127">
              <a:extLst>
                <a:ext uri="{FF2B5EF4-FFF2-40B4-BE49-F238E27FC236}">
                  <a16:creationId xmlns:a16="http://schemas.microsoft.com/office/drawing/2014/main" id="{EE182044-1D75-00BF-DADE-30D5255EF6AF}"/>
                </a:ext>
              </a:extLst>
            </p:cNvPr>
            <p:cNvSpPr>
              <a:spLocks noChangeShapeType="1"/>
            </p:cNvSpPr>
            <p:nvPr/>
          </p:nvSpPr>
          <p:spPr bwMode="auto">
            <a:xfrm>
              <a:off x="2820" y="2956"/>
              <a:ext cx="0" cy="7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58" name="Line 128">
              <a:extLst>
                <a:ext uri="{FF2B5EF4-FFF2-40B4-BE49-F238E27FC236}">
                  <a16:creationId xmlns:a16="http://schemas.microsoft.com/office/drawing/2014/main" id="{0EFD356B-EC28-72E3-98D5-6FF2C1BB90CB}"/>
                </a:ext>
              </a:extLst>
            </p:cNvPr>
            <p:cNvSpPr>
              <a:spLocks noChangeShapeType="1"/>
            </p:cNvSpPr>
            <p:nvPr/>
          </p:nvSpPr>
          <p:spPr bwMode="auto">
            <a:xfrm>
              <a:off x="3236" y="3074"/>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59" name="Line 129">
              <a:extLst>
                <a:ext uri="{FF2B5EF4-FFF2-40B4-BE49-F238E27FC236}">
                  <a16:creationId xmlns:a16="http://schemas.microsoft.com/office/drawing/2014/main" id="{E1DE3969-C9BD-9F25-F3FC-06F2EDDCCC49}"/>
                </a:ext>
              </a:extLst>
            </p:cNvPr>
            <p:cNvSpPr>
              <a:spLocks noChangeShapeType="1"/>
            </p:cNvSpPr>
            <p:nvPr/>
          </p:nvSpPr>
          <p:spPr bwMode="auto">
            <a:xfrm>
              <a:off x="3562" y="3067"/>
              <a:ext cx="12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60" name="Oval 130">
              <a:extLst>
                <a:ext uri="{FF2B5EF4-FFF2-40B4-BE49-F238E27FC236}">
                  <a16:creationId xmlns:a16="http://schemas.microsoft.com/office/drawing/2014/main" id="{4460BDEF-AC74-4344-292B-3E8AA3C9BCC0}"/>
                </a:ext>
              </a:extLst>
            </p:cNvPr>
            <p:cNvSpPr>
              <a:spLocks noChangeArrowheads="1"/>
            </p:cNvSpPr>
            <p:nvPr/>
          </p:nvSpPr>
          <p:spPr bwMode="auto">
            <a:xfrm>
              <a:off x="3517" y="3044"/>
              <a:ext cx="58" cy="48"/>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61" name="AutoShape 131">
              <a:extLst>
                <a:ext uri="{FF2B5EF4-FFF2-40B4-BE49-F238E27FC236}">
                  <a16:creationId xmlns:a16="http://schemas.microsoft.com/office/drawing/2014/main" id="{31F4238F-4649-87F1-98EF-D3E5E1BB2126}"/>
                </a:ext>
              </a:extLst>
            </p:cNvPr>
            <p:cNvSpPr>
              <a:spLocks noChangeArrowheads="1"/>
            </p:cNvSpPr>
            <p:nvPr/>
          </p:nvSpPr>
          <p:spPr bwMode="auto">
            <a:xfrm rot="5435204">
              <a:off x="3380" y="3011"/>
              <a:ext cx="154" cy="122"/>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62" name="Line 132">
              <a:extLst>
                <a:ext uri="{FF2B5EF4-FFF2-40B4-BE49-F238E27FC236}">
                  <a16:creationId xmlns:a16="http://schemas.microsoft.com/office/drawing/2014/main" id="{4F5CEBB7-A0A2-2655-E994-40C6F403EB77}"/>
                </a:ext>
              </a:extLst>
            </p:cNvPr>
            <p:cNvSpPr>
              <a:spLocks noChangeShapeType="1"/>
            </p:cNvSpPr>
            <p:nvPr/>
          </p:nvSpPr>
          <p:spPr bwMode="auto">
            <a:xfrm>
              <a:off x="2827" y="3134"/>
              <a:ext cx="0" cy="7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63" name="Line 133">
              <a:extLst>
                <a:ext uri="{FF2B5EF4-FFF2-40B4-BE49-F238E27FC236}">
                  <a16:creationId xmlns:a16="http://schemas.microsoft.com/office/drawing/2014/main" id="{B67D930B-7B01-DD6D-76AC-0A252166768A}"/>
                </a:ext>
              </a:extLst>
            </p:cNvPr>
            <p:cNvSpPr>
              <a:spLocks noChangeShapeType="1"/>
            </p:cNvSpPr>
            <p:nvPr/>
          </p:nvSpPr>
          <p:spPr bwMode="auto">
            <a:xfrm>
              <a:off x="2827" y="3134"/>
              <a:ext cx="1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64" name="AutoShape 134">
              <a:extLst>
                <a:ext uri="{FF2B5EF4-FFF2-40B4-BE49-F238E27FC236}">
                  <a16:creationId xmlns:a16="http://schemas.microsoft.com/office/drawing/2014/main" id="{0294099A-C147-F324-0876-993B3820588B}"/>
                </a:ext>
              </a:extLst>
            </p:cNvPr>
            <p:cNvSpPr>
              <a:spLocks noChangeArrowheads="1"/>
            </p:cNvSpPr>
            <p:nvPr/>
          </p:nvSpPr>
          <p:spPr bwMode="auto">
            <a:xfrm>
              <a:off x="2402" y="3118"/>
              <a:ext cx="241"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65" name="Oval 135">
              <a:extLst>
                <a:ext uri="{FF2B5EF4-FFF2-40B4-BE49-F238E27FC236}">
                  <a16:creationId xmlns:a16="http://schemas.microsoft.com/office/drawing/2014/main" id="{B75312EA-7AE7-173F-90ED-B342CA62EE78}"/>
                </a:ext>
              </a:extLst>
            </p:cNvPr>
            <p:cNvSpPr>
              <a:spLocks noChangeArrowheads="1"/>
            </p:cNvSpPr>
            <p:nvPr/>
          </p:nvSpPr>
          <p:spPr bwMode="auto">
            <a:xfrm>
              <a:off x="2635" y="3190"/>
              <a:ext cx="58" cy="48"/>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66" name="Line 136">
              <a:extLst>
                <a:ext uri="{FF2B5EF4-FFF2-40B4-BE49-F238E27FC236}">
                  <a16:creationId xmlns:a16="http://schemas.microsoft.com/office/drawing/2014/main" id="{C1709968-B601-A7C7-639D-193A47CD5FE4}"/>
                </a:ext>
              </a:extLst>
            </p:cNvPr>
            <p:cNvSpPr>
              <a:spLocks noChangeShapeType="1"/>
            </p:cNvSpPr>
            <p:nvPr/>
          </p:nvSpPr>
          <p:spPr bwMode="auto">
            <a:xfrm>
              <a:off x="2237" y="3181"/>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67" name="Line 137">
              <a:extLst>
                <a:ext uri="{FF2B5EF4-FFF2-40B4-BE49-F238E27FC236}">
                  <a16:creationId xmlns:a16="http://schemas.microsoft.com/office/drawing/2014/main" id="{2C6DA00B-D42F-EAFA-3084-0676C9BBACA9}"/>
                </a:ext>
              </a:extLst>
            </p:cNvPr>
            <p:cNvSpPr>
              <a:spLocks noChangeShapeType="1"/>
            </p:cNvSpPr>
            <p:nvPr/>
          </p:nvSpPr>
          <p:spPr bwMode="auto">
            <a:xfrm>
              <a:off x="2237" y="3267"/>
              <a:ext cx="1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68" name="Line 138">
              <a:extLst>
                <a:ext uri="{FF2B5EF4-FFF2-40B4-BE49-F238E27FC236}">
                  <a16:creationId xmlns:a16="http://schemas.microsoft.com/office/drawing/2014/main" id="{AE299178-A921-AA70-881E-DA355258A750}"/>
                </a:ext>
              </a:extLst>
            </p:cNvPr>
            <p:cNvSpPr>
              <a:spLocks noChangeShapeType="1"/>
            </p:cNvSpPr>
            <p:nvPr/>
          </p:nvSpPr>
          <p:spPr bwMode="auto">
            <a:xfrm>
              <a:off x="2695" y="3215"/>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69" name="AutoShape 139">
              <a:extLst>
                <a:ext uri="{FF2B5EF4-FFF2-40B4-BE49-F238E27FC236}">
                  <a16:creationId xmlns:a16="http://schemas.microsoft.com/office/drawing/2014/main" id="{ED236E95-6D3E-45F1-9CE1-132D797D536F}"/>
                </a:ext>
              </a:extLst>
            </p:cNvPr>
            <p:cNvSpPr>
              <a:spLocks noChangeArrowheads="1"/>
            </p:cNvSpPr>
            <p:nvPr/>
          </p:nvSpPr>
          <p:spPr bwMode="auto">
            <a:xfrm>
              <a:off x="2972" y="3376"/>
              <a:ext cx="251" cy="206"/>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70" name="AutoShape 140">
              <a:extLst>
                <a:ext uri="{FF2B5EF4-FFF2-40B4-BE49-F238E27FC236}">
                  <a16:creationId xmlns:a16="http://schemas.microsoft.com/office/drawing/2014/main" id="{D005C0FF-E2A3-21B1-5982-FDA7F3A71056}"/>
                </a:ext>
              </a:extLst>
            </p:cNvPr>
            <p:cNvSpPr>
              <a:spLocks noChangeArrowheads="1"/>
            </p:cNvSpPr>
            <p:nvPr/>
          </p:nvSpPr>
          <p:spPr bwMode="auto">
            <a:xfrm flipH="1">
              <a:off x="2427" y="3540"/>
              <a:ext cx="251" cy="204"/>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71" name="Oval 141">
              <a:extLst>
                <a:ext uri="{FF2B5EF4-FFF2-40B4-BE49-F238E27FC236}">
                  <a16:creationId xmlns:a16="http://schemas.microsoft.com/office/drawing/2014/main" id="{4011846E-B892-507B-B367-9FE472E7FD79}"/>
                </a:ext>
              </a:extLst>
            </p:cNvPr>
            <p:cNvSpPr>
              <a:spLocks noChangeArrowheads="1"/>
            </p:cNvSpPr>
            <p:nvPr/>
          </p:nvSpPr>
          <p:spPr bwMode="auto">
            <a:xfrm>
              <a:off x="2678" y="3624"/>
              <a:ext cx="63" cy="5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72" name="AutoShape 142">
              <a:extLst>
                <a:ext uri="{FF2B5EF4-FFF2-40B4-BE49-F238E27FC236}">
                  <a16:creationId xmlns:a16="http://schemas.microsoft.com/office/drawing/2014/main" id="{44FC61BB-3000-A241-62FB-66E27D994308}"/>
                </a:ext>
              </a:extLst>
            </p:cNvPr>
            <p:cNvSpPr>
              <a:spLocks noChangeArrowheads="1"/>
            </p:cNvSpPr>
            <p:nvPr/>
          </p:nvSpPr>
          <p:spPr bwMode="auto">
            <a:xfrm flipH="1">
              <a:off x="3310" y="3417"/>
              <a:ext cx="250" cy="204"/>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73" name="Oval 143">
              <a:extLst>
                <a:ext uri="{FF2B5EF4-FFF2-40B4-BE49-F238E27FC236}">
                  <a16:creationId xmlns:a16="http://schemas.microsoft.com/office/drawing/2014/main" id="{29F983F3-9E14-FDE0-892B-0EA6E061D035}"/>
                </a:ext>
              </a:extLst>
            </p:cNvPr>
            <p:cNvSpPr>
              <a:spLocks noChangeArrowheads="1"/>
            </p:cNvSpPr>
            <p:nvPr/>
          </p:nvSpPr>
          <p:spPr bwMode="auto">
            <a:xfrm>
              <a:off x="3560" y="3487"/>
              <a:ext cx="62" cy="52"/>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74" name="Line 144">
              <a:extLst>
                <a:ext uri="{FF2B5EF4-FFF2-40B4-BE49-F238E27FC236}">
                  <a16:creationId xmlns:a16="http://schemas.microsoft.com/office/drawing/2014/main" id="{225B801B-3861-9264-B3FE-0587AFDB0C84}"/>
                </a:ext>
              </a:extLst>
            </p:cNvPr>
            <p:cNvSpPr>
              <a:spLocks noChangeShapeType="1"/>
            </p:cNvSpPr>
            <p:nvPr/>
          </p:nvSpPr>
          <p:spPr bwMode="auto">
            <a:xfrm>
              <a:off x="2299" y="3593"/>
              <a:ext cx="14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75" name="Line 145">
              <a:extLst>
                <a:ext uri="{FF2B5EF4-FFF2-40B4-BE49-F238E27FC236}">
                  <a16:creationId xmlns:a16="http://schemas.microsoft.com/office/drawing/2014/main" id="{AE505FE2-B2A0-F56B-6E78-8238ADA29BEE}"/>
                </a:ext>
              </a:extLst>
            </p:cNvPr>
            <p:cNvSpPr>
              <a:spLocks noChangeShapeType="1"/>
            </p:cNvSpPr>
            <p:nvPr/>
          </p:nvSpPr>
          <p:spPr bwMode="auto">
            <a:xfrm>
              <a:off x="2209" y="3702"/>
              <a:ext cx="23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76" name="Line 146">
              <a:extLst>
                <a:ext uri="{FF2B5EF4-FFF2-40B4-BE49-F238E27FC236}">
                  <a16:creationId xmlns:a16="http://schemas.microsoft.com/office/drawing/2014/main" id="{5DA374AA-C79F-3893-368F-5731B46E3281}"/>
                </a:ext>
              </a:extLst>
            </p:cNvPr>
            <p:cNvSpPr>
              <a:spLocks noChangeShapeType="1"/>
            </p:cNvSpPr>
            <p:nvPr/>
          </p:nvSpPr>
          <p:spPr bwMode="auto">
            <a:xfrm>
              <a:off x="2202" y="3426"/>
              <a:ext cx="75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77" name="Line 147">
              <a:extLst>
                <a:ext uri="{FF2B5EF4-FFF2-40B4-BE49-F238E27FC236}">
                  <a16:creationId xmlns:a16="http://schemas.microsoft.com/office/drawing/2014/main" id="{24F61222-06D6-F8F3-E6A5-EDB885B575B1}"/>
                </a:ext>
              </a:extLst>
            </p:cNvPr>
            <p:cNvSpPr>
              <a:spLocks noChangeShapeType="1"/>
            </p:cNvSpPr>
            <p:nvPr/>
          </p:nvSpPr>
          <p:spPr bwMode="auto">
            <a:xfrm>
              <a:off x="2299" y="3426"/>
              <a:ext cx="0" cy="169"/>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4278" name="Line 148">
              <a:extLst>
                <a:ext uri="{FF2B5EF4-FFF2-40B4-BE49-F238E27FC236}">
                  <a16:creationId xmlns:a16="http://schemas.microsoft.com/office/drawing/2014/main" id="{8B17F0A6-3F0D-D42B-FB1D-63C3D101F6BB}"/>
                </a:ext>
              </a:extLst>
            </p:cNvPr>
            <p:cNvSpPr>
              <a:spLocks noChangeShapeType="1"/>
            </p:cNvSpPr>
            <p:nvPr/>
          </p:nvSpPr>
          <p:spPr bwMode="auto">
            <a:xfrm>
              <a:off x="2738" y="3648"/>
              <a:ext cx="49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79" name="Line 149">
              <a:extLst>
                <a:ext uri="{FF2B5EF4-FFF2-40B4-BE49-F238E27FC236}">
                  <a16:creationId xmlns:a16="http://schemas.microsoft.com/office/drawing/2014/main" id="{95B823B5-3C51-AA43-5CDA-6943B9A18931}"/>
                </a:ext>
              </a:extLst>
            </p:cNvPr>
            <p:cNvSpPr>
              <a:spLocks noChangeShapeType="1"/>
            </p:cNvSpPr>
            <p:nvPr/>
          </p:nvSpPr>
          <p:spPr bwMode="auto">
            <a:xfrm>
              <a:off x="3224" y="3477"/>
              <a:ext cx="1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80" name="Line 150">
              <a:extLst>
                <a:ext uri="{FF2B5EF4-FFF2-40B4-BE49-F238E27FC236}">
                  <a16:creationId xmlns:a16="http://schemas.microsoft.com/office/drawing/2014/main" id="{BFD2C9B5-605F-0CE9-1BB7-EC08AF356C5A}"/>
                </a:ext>
              </a:extLst>
            </p:cNvPr>
            <p:cNvSpPr>
              <a:spLocks noChangeShapeType="1"/>
            </p:cNvSpPr>
            <p:nvPr/>
          </p:nvSpPr>
          <p:spPr bwMode="auto">
            <a:xfrm>
              <a:off x="2369" y="3506"/>
              <a:ext cx="0" cy="199"/>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34281" name="Line 151">
              <a:extLst>
                <a:ext uri="{FF2B5EF4-FFF2-40B4-BE49-F238E27FC236}">
                  <a16:creationId xmlns:a16="http://schemas.microsoft.com/office/drawing/2014/main" id="{CCD19722-AAE1-80E2-29E7-86B2E5B9C0EA}"/>
                </a:ext>
              </a:extLst>
            </p:cNvPr>
            <p:cNvSpPr>
              <a:spLocks noChangeShapeType="1"/>
            </p:cNvSpPr>
            <p:nvPr/>
          </p:nvSpPr>
          <p:spPr bwMode="auto">
            <a:xfrm>
              <a:off x="2369" y="3506"/>
              <a:ext cx="6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82" name="Line 152">
              <a:extLst>
                <a:ext uri="{FF2B5EF4-FFF2-40B4-BE49-F238E27FC236}">
                  <a16:creationId xmlns:a16="http://schemas.microsoft.com/office/drawing/2014/main" id="{AA74939F-560B-00F5-7FE3-6326BD1889DC}"/>
                </a:ext>
              </a:extLst>
            </p:cNvPr>
            <p:cNvSpPr>
              <a:spLocks noChangeShapeType="1"/>
            </p:cNvSpPr>
            <p:nvPr/>
          </p:nvSpPr>
          <p:spPr bwMode="auto">
            <a:xfrm>
              <a:off x="3232" y="3581"/>
              <a:ext cx="0" cy="5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83" name="Line 153">
              <a:extLst>
                <a:ext uri="{FF2B5EF4-FFF2-40B4-BE49-F238E27FC236}">
                  <a16:creationId xmlns:a16="http://schemas.microsoft.com/office/drawing/2014/main" id="{4C952CE9-4D96-FF48-D18D-D4092100BA33}"/>
                </a:ext>
              </a:extLst>
            </p:cNvPr>
            <p:cNvSpPr>
              <a:spLocks noChangeShapeType="1"/>
            </p:cNvSpPr>
            <p:nvPr/>
          </p:nvSpPr>
          <p:spPr bwMode="auto">
            <a:xfrm>
              <a:off x="3232" y="3579"/>
              <a:ext cx="11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84" name="Line 154">
              <a:extLst>
                <a:ext uri="{FF2B5EF4-FFF2-40B4-BE49-F238E27FC236}">
                  <a16:creationId xmlns:a16="http://schemas.microsoft.com/office/drawing/2014/main" id="{9ADE3E44-952D-FB1D-7CED-6EE7622E693F}"/>
                </a:ext>
              </a:extLst>
            </p:cNvPr>
            <p:cNvSpPr>
              <a:spLocks noChangeShapeType="1"/>
            </p:cNvSpPr>
            <p:nvPr/>
          </p:nvSpPr>
          <p:spPr bwMode="auto">
            <a:xfrm>
              <a:off x="3620" y="3512"/>
              <a:ext cx="12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4285" name="Group 155">
              <a:extLst>
                <a:ext uri="{FF2B5EF4-FFF2-40B4-BE49-F238E27FC236}">
                  <a16:creationId xmlns:a16="http://schemas.microsoft.com/office/drawing/2014/main" id="{3C93536C-F7B4-E132-B9D6-6B24FC487FE7}"/>
                </a:ext>
              </a:extLst>
            </p:cNvPr>
            <p:cNvGrpSpPr>
              <a:grpSpLocks/>
            </p:cNvGrpSpPr>
            <p:nvPr/>
          </p:nvGrpSpPr>
          <p:grpSpPr bwMode="auto">
            <a:xfrm>
              <a:off x="1107" y="3410"/>
              <a:ext cx="292" cy="229"/>
              <a:chOff x="9090" y="11934"/>
              <a:chExt cx="630" cy="601"/>
            </a:xfrm>
          </p:grpSpPr>
          <p:sp>
            <p:nvSpPr>
              <p:cNvPr id="134300" name="AutoShape 156">
                <a:extLst>
                  <a:ext uri="{FF2B5EF4-FFF2-40B4-BE49-F238E27FC236}">
                    <a16:creationId xmlns:a16="http://schemas.microsoft.com/office/drawing/2014/main" id="{6A024AEF-14F7-48EE-D67F-29F8FB30C70D}"/>
                  </a:ext>
                </a:extLst>
              </p:cNvPr>
              <p:cNvSpPr>
                <a:spLocks noChangeArrowheads="1"/>
              </p:cNvSpPr>
              <p:nvPr/>
            </p:nvSpPr>
            <p:spPr bwMode="auto">
              <a:xfrm flipH="1">
                <a:off x="9090" y="11934"/>
                <a:ext cx="540" cy="601"/>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301" name="AutoShape 157">
                <a:extLst>
                  <a:ext uri="{FF2B5EF4-FFF2-40B4-BE49-F238E27FC236}">
                    <a16:creationId xmlns:a16="http://schemas.microsoft.com/office/drawing/2014/main" id="{73244EDE-9FC1-E994-27C8-D23CB3801EE5}"/>
                  </a:ext>
                </a:extLst>
              </p:cNvPr>
              <p:cNvSpPr>
                <a:spLocks noChangeArrowheads="1"/>
              </p:cNvSpPr>
              <p:nvPr/>
            </p:nvSpPr>
            <p:spPr bwMode="auto">
              <a:xfrm flipH="1">
                <a:off x="9180" y="11934"/>
                <a:ext cx="540" cy="601"/>
              </a:xfrm>
              <a:prstGeom prst="moon">
                <a:avLst>
                  <a:gd name="adj" fmla="val 84819"/>
                </a:avLst>
              </a:prstGeom>
              <a:solidFill>
                <a:srgbClr val="FFFFFF"/>
              </a:solidFill>
              <a:ln w="22225">
                <a:solidFill>
                  <a:srgbClr val="000000"/>
                </a:solidFill>
                <a:miter lim="800000"/>
                <a:headEnd/>
                <a:tailEnd/>
              </a:ln>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134286" name="Oval 158">
              <a:extLst>
                <a:ext uri="{FF2B5EF4-FFF2-40B4-BE49-F238E27FC236}">
                  <a16:creationId xmlns:a16="http://schemas.microsoft.com/office/drawing/2014/main" id="{459BDA64-D26E-49E6-579F-F629256D5FB1}"/>
                </a:ext>
              </a:extLst>
            </p:cNvPr>
            <p:cNvSpPr>
              <a:spLocks noChangeArrowheads="1"/>
            </p:cNvSpPr>
            <p:nvPr/>
          </p:nvSpPr>
          <p:spPr bwMode="auto">
            <a:xfrm>
              <a:off x="1392" y="3501"/>
              <a:ext cx="60" cy="50"/>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87" name="Line 159">
              <a:extLst>
                <a:ext uri="{FF2B5EF4-FFF2-40B4-BE49-F238E27FC236}">
                  <a16:creationId xmlns:a16="http://schemas.microsoft.com/office/drawing/2014/main" id="{DD1B106D-1346-DFAC-5BBC-1D9BDE5CA9C6}"/>
                </a:ext>
              </a:extLst>
            </p:cNvPr>
            <p:cNvSpPr>
              <a:spLocks noChangeShapeType="1"/>
            </p:cNvSpPr>
            <p:nvPr/>
          </p:nvSpPr>
          <p:spPr bwMode="auto">
            <a:xfrm>
              <a:off x="975" y="3469"/>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88" name="Line 160">
              <a:extLst>
                <a:ext uri="{FF2B5EF4-FFF2-40B4-BE49-F238E27FC236}">
                  <a16:creationId xmlns:a16="http://schemas.microsoft.com/office/drawing/2014/main" id="{CF6EADB3-CC52-64CB-0505-21477816B24D}"/>
                </a:ext>
              </a:extLst>
            </p:cNvPr>
            <p:cNvSpPr>
              <a:spLocks noChangeShapeType="1"/>
            </p:cNvSpPr>
            <p:nvPr/>
          </p:nvSpPr>
          <p:spPr bwMode="auto">
            <a:xfrm>
              <a:off x="968" y="3572"/>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89" name="Line 161">
              <a:extLst>
                <a:ext uri="{FF2B5EF4-FFF2-40B4-BE49-F238E27FC236}">
                  <a16:creationId xmlns:a16="http://schemas.microsoft.com/office/drawing/2014/main" id="{08937014-8583-7C72-C01E-B6E2941486D2}"/>
                </a:ext>
              </a:extLst>
            </p:cNvPr>
            <p:cNvSpPr>
              <a:spLocks noChangeShapeType="1"/>
            </p:cNvSpPr>
            <p:nvPr/>
          </p:nvSpPr>
          <p:spPr bwMode="auto">
            <a:xfrm>
              <a:off x="1448" y="3527"/>
              <a:ext cx="1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290" name="Text Box 162">
              <a:extLst>
                <a:ext uri="{FF2B5EF4-FFF2-40B4-BE49-F238E27FC236}">
                  <a16:creationId xmlns:a16="http://schemas.microsoft.com/office/drawing/2014/main" id="{C801F328-5614-F341-E825-6AD39C9C4362}"/>
                </a:ext>
              </a:extLst>
            </p:cNvPr>
            <p:cNvSpPr txBox="1">
              <a:spLocks noChangeArrowheads="1"/>
            </p:cNvSpPr>
            <p:nvPr/>
          </p:nvSpPr>
          <p:spPr bwMode="auto">
            <a:xfrm>
              <a:off x="516" y="3437"/>
              <a:ext cx="36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XOR</a:t>
              </a:r>
            </a:p>
          </p:txBody>
        </p:sp>
        <p:sp>
          <p:nvSpPr>
            <p:cNvPr id="134291" name="AutoShape 163">
              <a:extLst>
                <a:ext uri="{FF2B5EF4-FFF2-40B4-BE49-F238E27FC236}">
                  <a16:creationId xmlns:a16="http://schemas.microsoft.com/office/drawing/2014/main" id="{A80023AC-E361-88E0-6C16-6FBE09AFBC38}"/>
                </a:ext>
              </a:extLst>
            </p:cNvPr>
            <p:cNvSpPr>
              <a:spLocks noChangeArrowheads="1"/>
            </p:cNvSpPr>
            <p:nvPr/>
          </p:nvSpPr>
          <p:spPr bwMode="auto">
            <a:xfrm>
              <a:off x="2387" y="2065"/>
              <a:ext cx="218" cy="194"/>
            </a:xfrm>
            <a:prstGeom prst="flowChartDelay">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92" name="Oval 164">
              <a:extLst>
                <a:ext uri="{FF2B5EF4-FFF2-40B4-BE49-F238E27FC236}">
                  <a16:creationId xmlns:a16="http://schemas.microsoft.com/office/drawing/2014/main" id="{BDB09B33-560E-5D3F-C93D-5C95C4F2F976}"/>
                </a:ext>
              </a:extLst>
            </p:cNvPr>
            <p:cNvSpPr>
              <a:spLocks noChangeArrowheads="1"/>
            </p:cNvSpPr>
            <p:nvPr/>
          </p:nvSpPr>
          <p:spPr bwMode="auto">
            <a:xfrm>
              <a:off x="2585" y="2138"/>
              <a:ext cx="55" cy="52"/>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34293" name="Line 165">
              <a:extLst>
                <a:ext uri="{FF2B5EF4-FFF2-40B4-BE49-F238E27FC236}">
                  <a16:creationId xmlns:a16="http://schemas.microsoft.com/office/drawing/2014/main" id="{56BBCD29-4474-586D-0049-922F84E64F57}"/>
                </a:ext>
              </a:extLst>
            </p:cNvPr>
            <p:cNvSpPr>
              <a:spLocks noChangeShapeType="1"/>
            </p:cNvSpPr>
            <p:nvPr/>
          </p:nvSpPr>
          <p:spPr bwMode="auto">
            <a:xfrm>
              <a:off x="1720" y="951"/>
              <a:ext cx="264"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34294" name="Line 166">
              <a:extLst>
                <a:ext uri="{FF2B5EF4-FFF2-40B4-BE49-F238E27FC236}">
                  <a16:creationId xmlns:a16="http://schemas.microsoft.com/office/drawing/2014/main" id="{82128538-08FF-9AC0-FF1B-CDD50C156C3F}"/>
                </a:ext>
              </a:extLst>
            </p:cNvPr>
            <p:cNvSpPr>
              <a:spLocks noChangeShapeType="1"/>
            </p:cNvSpPr>
            <p:nvPr/>
          </p:nvSpPr>
          <p:spPr bwMode="auto">
            <a:xfrm>
              <a:off x="1713" y="1228"/>
              <a:ext cx="264"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34295" name="Line 167">
              <a:extLst>
                <a:ext uri="{FF2B5EF4-FFF2-40B4-BE49-F238E27FC236}">
                  <a16:creationId xmlns:a16="http://schemas.microsoft.com/office/drawing/2014/main" id="{A4F7FA8C-A8CE-F9A8-CC63-0356B5456B86}"/>
                </a:ext>
              </a:extLst>
            </p:cNvPr>
            <p:cNvSpPr>
              <a:spLocks noChangeShapeType="1"/>
            </p:cNvSpPr>
            <p:nvPr/>
          </p:nvSpPr>
          <p:spPr bwMode="auto">
            <a:xfrm>
              <a:off x="1720" y="1567"/>
              <a:ext cx="264"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34296" name="Line 168">
              <a:extLst>
                <a:ext uri="{FF2B5EF4-FFF2-40B4-BE49-F238E27FC236}">
                  <a16:creationId xmlns:a16="http://schemas.microsoft.com/office/drawing/2014/main" id="{51276F7E-D304-A1DA-2F0B-726C13D21FB3}"/>
                </a:ext>
              </a:extLst>
            </p:cNvPr>
            <p:cNvSpPr>
              <a:spLocks noChangeShapeType="1"/>
            </p:cNvSpPr>
            <p:nvPr/>
          </p:nvSpPr>
          <p:spPr bwMode="auto">
            <a:xfrm>
              <a:off x="1735" y="1961"/>
              <a:ext cx="264"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34297" name="Line 169">
              <a:extLst>
                <a:ext uri="{FF2B5EF4-FFF2-40B4-BE49-F238E27FC236}">
                  <a16:creationId xmlns:a16="http://schemas.microsoft.com/office/drawing/2014/main" id="{A82DF39B-64B2-F893-8346-42000F17E1EF}"/>
                </a:ext>
              </a:extLst>
            </p:cNvPr>
            <p:cNvSpPr>
              <a:spLocks noChangeShapeType="1"/>
            </p:cNvSpPr>
            <p:nvPr/>
          </p:nvSpPr>
          <p:spPr bwMode="auto">
            <a:xfrm>
              <a:off x="1808" y="2584"/>
              <a:ext cx="264"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34298" name="Line 170">
              <a:extLst>
                <a:ext uri="{FF2B5EF4-FFF2-40B4-BE49-F238E27FC236}">
                  <a16:creationId xmlns:a16="http://schemas.microsoft.com/office/drawing/2014/main" id="{DDFCD712-6483-8A8D-A1C0-44539D799576}"/>
                </a:ext>
              </a:extLst>
            </p:cNvPr>
            <p:cNvSpPr>
              <a:spLocks noChangeShapeType="1"/>
            </p:cNvSpPr>
            <p:nvPr/>
          </p:nvSpPr>
          <p:spPr bwMode="auto">
            <a:xfrm>
              <a:off x="1823" y="3089"/>
              <a:ext cx="264"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34299" name="Line 171">
              <a:extLst>
                <a:ext uri="{FF2B5EF4-FFF2-40B4-BE49-F238E27FC236}">
                  <a16:creationId xmlns:a16="http://schemas.microsoft.com/office/drawing/2014/main" id="{16A56563-2DA3-3118-862B-B1FDC47BA6CB}"/>
                </a:ext>
              </a:extLst>
            </p:cNvPr>
            <p:cNvSpPr>
              <a:spLocks noChangeShapeType="1"/>
            </p:cNvSpPr>
            <p:nvPr/>
          </p:nvSpPr>
          <p:spPr bwMode="auto">
            <a:xfrm>
              <a:off x="1808" y="3524"/>
              <a:ext cx="264"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4">
            <a:extLst>
              <a:ext uri="{FF2B5EF4-FFF2-40B4-BE49-F238E27FC236}">
                <a16:creationId xmlns:a16="http://schemas.microsoft.com/office/drawing/2014/main" id="{3F51F477-39F5-45C1-47C4-54FC5067E0EC}"/>
              </a:ext>
            </a:extLst>
          </p:cNvPr>
          <p:cNvSpPr>
            <a:spLocks noGrp="1" noChangeArrowheads="1"/>
          </p:cNvSpPr>
          <p:nvPr>
            <p:ph type="title"/>
          </p:nvPr>
        </p:nvSpPr>
        <p:spPr/>
        <p:txBody>
          <a:bodyPr/>
          <a:lstStyle/>
          <a:p>
            <a:r>
              <a:rPr lang="en-US" altLang="en-US"/>
              <a:t>Variants of Mapping</a:t>
            </a:r>
            <a:endParaRPr lang="ru-RU" altLang="en-US"/>
          </a:p>
        </p:txBody>
      </p:sp>
      <p:grpSp>
        <p:nvGrpSpPr>
          <p:cNvPr id="135171" name="Group 87">
            <a:extLst>
              <a:ext uri="{FF2B5EF4-FFF2-40B4-BE49-F238E27FC236}">
                <a16:creationId xmlns:a16="http://schemas.microsoft.com/office/drawing/2014/main" id="{61771F43-58B2-3DE4-67FA-438DBF3B7894}"/>
              </a:ext>
            </a:extLst>
          </p:cNvPr>
          <p:cNvGrpSpPr>
            <a:grpSpLocks/>
          </p:cNvGrpSpPr>
          <p:nvPr/>
        </p:nvGrpSpPr>
        <p:grpSpPr bwMode="auto">
          <a:xfrm>
            <a:off x="2895600" y="1689100"/>
            <a:ext cx="5588000" cy="2959100"/>
            <a:chOff x="864" y="1064"/>
            <a:chExt cx="3520" cy="1864"/>
          </a:xfrm>
        </p:grpSpPr>
        <p:sp>
          <p:nvSpPr>
            <p:cNvPr id="135172" name="AutoShape 7">
              <a:extLst>
                <a:ext uri="{FF2B5EF4-FFF2-40B4-BE49-F238E27FC236}">
                  <a16:creationId xmlns:a16="http://schemas.microsoft.com/office/drawing/2014/main" id="{44483BF9-05B6-D3AE-7394-9B923EA8D94B}"/>
                </a:ext>
              </a:extLst>
            </p:cNvPr>
            <p:cNvSpPr>
              <a:spLocks noChangeArrowheads="1"/>
            </p:cNvSpPr>
            <p:nvPr/>
          </p:nvSpPr>
          <p:spPr bwMode="auto">
            <a:xfrm>
              <a:off x="1062" y="1162"/>
              <a:ext cx="216" cy="247"/>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173" name="Oval 8">
              <a:extLst>
                <a:ext uri="{FF2B5EF4-FFF2-40B4-BE49-F238E27FC236}">
                  <a16:creationId xmlns:a16="http://schemas.microsoft.com/office/drawing/2014/main" id="{AAE2A823-CC95-BE48-F296-0870E9290450}"/>
                </a:ext>
              </a:extLst>
            </p:cNvPr>
            <p:cNvSpPr>
              <a:spLocks noChangeArrowheads="1"/>
            </p:cNvSpPr>
            <p:nvPr/>
          </p:nvSpPr>
          <p:spPr bwMode="auto">
            <a:xfrm>
              <a:off x="1282" y="1256"/>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174" name="Line 9">
              <a:extLst>
                <a:ext uri="{FF2B5EF4-FFF2-40B4-BE49-F238E27FC236}">
                  <a16:creationId xmlns:a16="http://schemas.microsoft.com/office/drawing/2014/main" id="{7B72BB0F-F776-79EB-E383-35C4B3D30158}"/>
                </a:ext>
              </a:extLst>
            </p:cNvPr>
            <p:cNvSpPr>
              <a:spLocks noChangeShapeType="1"/>
            </p:cNvSpPr>
            <p:nvPr/>
          </p:nvSpPr>
          <p:spPr bwMode="auto">
            <a:xfrm>
              <a:off x="1895" y="1504"/>
              <a:ext cx="1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5175" name="Group 10">
              <a:extLst>
                <a:ext uri="{FF2B5EF4-FFF2-40B4-BE49-F238E27FC236}">
                  <a16:creationId xmlns:a16="http://schemas.microsoft.com/office/drawing/2014/main" id="{AEDAAD81-833B-6777-2E80-3443AA490080}"/>
                </a:ext>
              </a:extLst>
            </p:cNvPr>
            <p:cNvGrpSpPr>
              <a:grpSpLocks/>
            </p:cNvGrpSpPr>
            <p:nvPr/>
          </p:nvGrpSpPr>
          <p:grpSpPr bwMode="auto">
            <a:xfrm>
              <a:off x="2584" y="1589"/>
              <a:ext cx="205" cy="236"/>
              <a:chOff x="3480" y="6364"/>
              <a:chExt cx="386" cy="404"/>
            </a:xfrm>
          </p:grpSpPr>
          <p:sp>
            <p:nvSpPr>
              <p:cNvPr id="135244" name="Oval 11">
                <a:extLst>
                  <a:ext uri="{FF2B5EF4-FFF2-40B4-BE49-F238E27FC236}">
                    <a16:creationId xmlns:a16="http://schemas.microsoft.com/office/drawing/2014/main" id="{BA717D67-1106-F573-84A3-26AE72F2D672}"/>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45" name="AutoShape 12">
                <a:extLst>
                  <a:ext uri="{FF2B5EF4-FFF2-40B4-BE49-F238E27FC236}">
                    <a16:creationId xmlns:a16="http://schemas.microsoft.com/office/drawing/2014/main" id="{2DAE01B5-F9FA-C0EA-EE89-588AC3E6D585}"/>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5176" name="Line 13">
              <a:extLst>
                <a:ext uri="{FF2B5EF4-FFF2-40B4-BE49-F238E27FC236}">
                  <a16:creationId xmlns:a16="http://schemas.microsoft.com/office/drawing/2014/main" id="{DBE8FB46-D37B-5ADE-E988-B86AE1C1D52B}"/>
                </a:ext>
              </a:extLst>
            </p:cNvPr>
            <p:cNvSpPr>
              <a:spLocks noChangeShapeType="1"/>
            </p:cNvSpPr>
            <p:nvPr/>
          </p:nvSpPr>
          <p:spPr bwMode="auto">
            <a:xfrm>
              <a:off x="904" y="1217"/>
              <a:ext cx="1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77" name="Line 14">
              <a:extLst>
                <a:ext uri="{FF2B5EF4-FFF2-40B4-BE49-F238E27FC236}">
                  <a16:creationId xmlns:a16="http://schemas.microsoft.com/office/drawing/2014/main" id="{07F46EAB-BFA0-A8A7-C900-139D6EFF2C8C}"/>
                </a:ext>
              </a:extLst>
            </p:cNvPr>
            <p:cNvSpPr>
              <a:spLocks noChangeShapeType="1"/>
            </p:cNvSpPr>
            <p:nvPr/>
          </p:nvSpPr>
          <p:spPr bwMode="auto">
            <a:xfrm>
              <a:off x="904" y="1357"/>
              <a:ext cx="1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78" name="Line 15">
              <a:extLst>
                <a:ext uri="{FF2B5EF4-FFF2-40B4-BE49-F238E27FC236}">
                  <a16:creationId xmlns:a16="http://schemas.microsoft.com/office/drawing/2014/main" id="{545E65A4-BEE0-8DF2-8B6C-F362EE69AB5F}"/>
                </a:ext>
              </a:extLst>
            </p:cNvPr>
            <p:cNvSpPr>
              <a:spLocks noChangeShapeType="1"/>
            </p:cNvSpPr>
            <p:nvPr/>
          </p:nvSpPr>
          <p:spPr bwMode="auto">
            <a:xfrm>
              <a:off x="1351" y="1290"/>
              <a:ext cx="1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5179" name="Group 16">
              <a:extLst>
                <a:ext uri="{FF2B5EF4-FFF2-40B4-BE49-F238E27FC236}">
                  <a16:creationId xmlns:a16="http://schemas.microsoft.com/office/drawing/2014/main" id="{4E2FA22C-EE90-071C-0444-AAE53FE791A7}"/>
                </a:ext>
              </a:extLst>
            </p:cNvPr>
            <p:cNvGrpSpPr>
              <a:grpSpLocks/>
            </p:cNvGrpSpPr>
            <p:nvPr/>
          </p:nvGrpSpPr>
          <p:grpSpPr bwMode="auto">
            <a:xfrm>
              <a:off x="1064" y="1607"/>
              <a:ext cx="206" cy="235"/>
              <a:chOff x="3480" y="6364"/>
              <a:chExt cx="386" cy="404"/>
            </a:xfrm>
          </p:grpSpPr>
          <p:sp>
            <p:nvSpPr>
              <p:cNvPr id="135242" name="Oval 17">
                <a:extLst>
                  <a:ext uri="{FF2B5EF4-FFF2-40B4-BE49-F238E27FC236}">
                    <a16:creationId xmlns:a16="http://schemas.microsoft.com/office/drawing/2014/main" id="{C70D0745-AE97-0DFD-67AC-3789569070CE}"/>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43" name="AutoShape 18">
                <a:extLst>
                  <a:ext uri="{FF2B5EF4-FFF2-40B4-BE49-F238E27FC236}">
                    <a16:creationId xmlns:a16="http://schemas.microsoft.com/office/drawing/2014/main" id="{C701F5E5-B7FB-913C-00D4-459C37D43D11}"/>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5180" name="Line 19">
              <a:extLst>
                <a:ext uri="{FF2B5EF4-FFF2-40B4-BE49-F238E27FC236}">
                  <a16:creationId xmlns:a16="http://schemas.microsoft.com/office/drawing/2014/main" id="{254327FB-C73D-CE77-09E4-B9D9C117B6F0}"/>
                </a:ext>
              </a:extLst>
            </p:cNvPr>
            <p:cNvSpPr>
              <a:spLocks noChangeShapeType="1"/>
            </p:cNvSpPr>
            <p:nvPr/>
          </p:nvSpPr>
          <p:spPr bwMode="auto">
            <a:xfrm flipV="1">
              <a:off x="904" y="1723"/>
              <a:ext cx="1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81" name="AutoShape 21">
              <a:extLst>
                <a:ext uri="{FF2B5EF4-FFF2-40B4-BE49-F238E27FC236}">
                  <a16:creationId xmlns:a16="http://schemas.microsoft.com/office/drawing/2014/main" id="{3630B630-0F99-B20E-35BB-00EFF98DF0BE}"/>
                </a:ext>
              </a:extLst>
            </p:cNvPr>
            <p:cNvSpPr>
              <a:spLocks noChangeArrowheads="1"/>
            </p:cNvSpPr>
            <p:nvPr/>
          </p:nvSpPr>
          <p:spPr bwMode="auto">
            <a:xfrm>
              <a:off x="1630" y="1380"/>
              <a:ext cx="216" cy="248"/>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182" name="Oval 22">
              <a:extLst>
                <a:ext uri="{FF2B5EF4-FFF2-40B4-BE49-F238E27FC236}">
                  <a16:creationId xmlns:a16="http://schemas.microsoft.com/office/drawing/2014/main" id="{BEBF1F8D-9C7C-E815-09E7-1EB8AB903256}"/>
                </a:ext>
              </a:extLst>
            </p:cNvPr>
            <p:cNvSpPr>
              <a:spLocks noChangeArrowheads="1"/>
            </p:cNvSpPr>
            <p:nvPr/>
          </p:nvSpPr>
          <p:spPr bwMode="auto">
            <a:xfrm>
              <a:off x="1850" y="1474"/>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183" name="Line 23">
              <a:extLst>
                <a:ext uri="{FF2B5EF4-FFF2-40B4-BE49-F238E27FC236}">
                  <a16:creationId xmlns:a16="http://schemas.microsoft.com/office/drawing/2014/main" id="{F9E92420-AD18-78A1-A045-23A3B84A1218}"/>
                </a:ext>
              </a:extLst>
            </p:cNvPr>
            <p:cNvSpPr>
              <a:spLocks noChangeShapeType="1"/>
            </p:cNvSpPr>
            <p:nvPr/>
          </p:nvSpPr>
          <p:spPr bwMode="auto">
            <a:xfrm flipH="1">
              <a:off x="1464" y="1296"/>
              <a:ext cx="0" cy="1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84" name="Line 24">
              <a:extLst>
                <a:ext uri="{FF2B5EF4-FFF2-40B4-BE49-F238E27FC236}">
                  <a16:creationId xmlns:a16="http://schemas.microsoft.com/office/drawing/2014/main" id="{82A8F03B-D3EF-AA80-601C-1573C0FB49F6}"/>
                </a:ext>
              </a:extLst>
            </p:cNvPr>
            <p:cNvSpPr>
              <a:spLocks noChangeShapeType="1"/>
            </p:cNvSpPr>
            <p:nvPr/>
          </p:nvSpPr>
          <p:spPr bwMode="auto">
            <a:xfrm flipH="1">
              <a:off x="1472" y="1584"/>
              <a:ext cx="0" cy="1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85" name="Line 25">
              <a:extLst>
                <a:ext uri="{FF2B5EF4-FFF2-40B4-BE49-F238E27FC236}">
                  <a16:creationId xmlns:a16="http://schemas.microsoft.com/office/drawing/2014/main" id="{D13D2A02-3B1C-01D6-22B9-D91417E485D0}"/>
                </a:ext>
              </a:extLst>
            </p:cNvPr>
            <p:cNvSpPr>
              <a:spLocks noChangeShapeType="1"/>
            </p:cNvSpPr>
            <p:nvPr/>
          </p:nvSpPr>
          <p:spPr bwMode="auto">
            <a:xfrm>
              <a:off x="1272" y="1723"/>
              <a:ext cx="19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86" name="Line 26">
              <a:extLst>
                <a:ext uri="{FF2B5EF4-FFF2-40B4-BE49-F238E27FC236}">
                  <a16:creationId xmlns:a16="http://schemas.microsoft.com/office/drawing/2014/main" id="{917F171E-29E9-7E96-3EF5-F032A589D5BB}"/>
                </a:ext>
              </a:extLst>
            </p:cNvPr>
            <p:cNvSpPr>
              <a:spLocks noChangeShapeType="1"/>
            </p:cNvSpPr>
            <p:nvPr/>
          </p:nvSpPr>
          <p:spPr bwMode="auto">
            <a:xfrm>
              <a:off x="1472" y="1427"/>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87" name="Line 27">
              <a:extLst>
                <a:ext uri="{FF2B5EF4-FFF2-40B4-BE49-F238E27FC236}">
                  <a16:creationId xmlns:a16="http://schemas.microsoft.com/office/drawing/2014/main" id="{C4EB0701-0509-483D-9B76-E2C6DA9346D9}"/>
                </a:ext>
              </a:extLst>
            </p:cNvPr>
            <p:cNvSpPr>
              <a:spLocks noChangeShapeType="1"/>
            </p:cNvSpPr>
            <p:nvPr/>
          </p:nvSpPr>
          <p:spPr bwMode="auto">
            <a:xfrm>
              <a:off x="1472" y="1584"/>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88" name="AutoShape 29">
              <a:extLst>
                <a:ext uri="{FF2B5EF4-FFF2-40B4-BE49-F238E27FC236}">
                  <a16:creationId xmlns:a16="http://schemas.microsoft.com/office/drawing/2014/main" id="{EB85B814-1B1E-0B23-415B-9307B7991481}"/>
                </a:ext>
              </a:extLst>
            </p:cNvPr>
            <p:cNvSpPr>
              <a:spLocks noChangeArrowheads="1"/>
            </p:cNvSpPr>
            <p:nvPr/>
          </p:nvSpPr>
          <p:spPr bwMode="auto">
            <a:xfrm>
              <a:off x="2166" y="1581"/>
              <a:ext cx="216" cy="248"/>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189" name="Oval 30">
              <a:extLst>
                <a:ext uri="{FF2B5EF4-FFF2-40B4-BE49-F238E27FC236}">
                  <a16:creationId xmlns:a16="http://schemas.microsoft.com/office/drawing/2014/main" id="{F1440769-5C1A-8BCD-B8B0-D64D1595F95C}"/>
                </a:ext>
              </a:extLst>
            </p:cNvPr>
            <p:cNvSpPr>
              <a:spLocks noChangeArrowheads="1"/>
            </p:cNvSpPr>
            <p:nvPr/>
          </p:nvSpPr>
          <p:spPr bwMode="auto">
            <a:xfrm>
              <a:off x="2386" y="1675"/>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190" name="Line 31">
              <a:extLst>
                <a:ext uri="{FF2B5EF4-FFF2-40B4-BE49-F238E27FC236}">
                  <a16:creationId xmlns:a16="http://schemas.microsoft.com/office/drawing/2014/main" id="{34FD156F-CA19-0B61-B8D6-5CD1A364549D}"/>
                </a:ext>
              </a:extLst>
            </p:cNvPr>
            <p:cNvSpPr>
              <a:spLocks noChangeShapeType="1"/>
            </p:cNvSpPr>
            <p:nvPr/>
          </p:nvSpPr>
          <p:spPr bwMode="auto">
            <a:xfrm flipH="1">
              <a:off x="2008" y="1505"/>
              <a:ext cx="0" cy="13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91" name="Line 32">
              <a:extLst>
                <a:ext uri="{FF2B5EF4-FFF2-40B4-BE49-F238E27FC236}">
                  <a16:creationId xmlns:a16="http://schemas.microsoft.com/office/drawing/2014/main" id="{D361B667-7424-427D-9F06-377FAC83EDB1}"/>
                </a:ext>
              </a:extLst>
            </p:cNvPr>
            <p:cNvSpPr>
              <a:spLocks noChangeShapeType="1"/>
            </p:cNvSpPr>
            <p:nvPr/>
          </p:nvSpPr>
          <p:spPr bwMode="auto">
            <a:xfrm>
              <a:off x="2008" y="1644"/>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5192" name="Group 33">
              <a:extLst>
                <a:ext uri="{FF2B5EF4-FFF2-40B4-BE49-F238E27FC236}">
                  <a16:creationId xmlns:a16="http://schemas.microsoft.com/office/drawing/2014/main" id="{6FF47C1E-F8BF-92CE-B631-0FFF8CB176A6}"/>
                </a:ext>
              </a:extLst>
            </p:cNvPr>
            <p:cNvGrpSpPr>
              <a:grpSpLocks/>
            </p:cNvGrpSpPr>
            <p:nvPr/>
          </p:nvGrpSpPr>
          <p:grpSpPr bwMode="auto">
            <a:xfrm>
              <a:off x="1696" y="1808"/>
              <a:ext cx="206" cy="236"/>
              <a:chOff x="3480" y="6364"/>
              <a:chExt cx="386" cy="404"/>
            </a:xfrm>
          </p:grpSpPr>
          <p:sp>
            <p:nvSpPr>
              <p:cNvPr id="135240" name="Oval 34">
                <a:extLst>
                  <a:ext uri="{FF2B5EF4-FFF2-40B4-BE49-F238E27FC236}">
                    <a16:creationId xmlns:a16="http://schemas.microsoft.com/office/drawing/2014/main" id="{1A42D2CD-0DB8-187E-F32B-A387A61BB30D}"/>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41" name="AutoShape 35">
                <a:extLst>
                  <a:ext uri="{FF2B5EF4-FFF2-40B4-BE49-F238E27FC236}">
                    <a16:creationId xmlns:a16="http://schemas.microsoft.com/office/drawing/2014/main" id="{56C1BECC-C78A-BCF1-DBE9-C9003A58290D}"/>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5193" name="Line 36">
              <a:extLst>
                <a:ext uri="{FF2B5EF4-FFF2-40B4-BE49-F238E27FC236}">
                  <a16:creationId xmlns:a16="http://schemas.microsoft.com/office/drawing/2014/main" id="{CB3BED34-6C77-B464-4606-5DD01B4B81A8}"/>
                </a:ext>
              </a:extLst>
            </p:cNvPr>
            <p:cNvSpPr>
              <a:spLocks noChangeShapeType="1"/>
            </p:cNvSpPr>
            <p:nvPr/>
          </p:nvSpPr>
          <p:spPr bwMode="auto">
            <a:xfrm flipV="1">
              <a:off x="872" y="1933"/>
              <a:ext cx="8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94" name="Line 37">
              <a:extLst>
                <a:ext uri="{FF2B5EF4-FFF2-40B4-BE49-F238E27FC236}">
                  <a16:creationId xmlns:a16="http://schemas.microsoft.com/office/drawing/2014/main" id="{FD9A811B-B387-54A3-0C07-9F015D46C8EC}"/>
                </a:ext>
              </a:extLst>
            </p:cNvPr>
            <p:cNvSpPr>
              <a:spLocks noChangeShapeType="1"/>
            </p:cNvSpPr>
            <p:nvPr/>
          </p:nvSpPr>
          <p:spPr bwMode="auto">
            <a:xfrm flipH="1">
              <a:off x="2000" y="1785"/>
              <a:ext cx="0" cy="1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95" name="Line 38">
              <a:extLst>
                <a:ext uri="{FF2B5EF4-FFF2-40B4-BE49-F238E27FC236}">
                  <a16:creationId xmlns:a16="http://schemas.microsoft.com/office/drawing/2014/main" id="{F96D77C1-4379-E330-5127-CCC18BA9881D}"/>
                </a:ext>
              </a:extLst>
            </p:cNvPr>
            <p:cNvSpPr>
              <a:spLocks noChangeShapeType="1"/>
            </p:cNvSpPr>
            <p:nvPr/>
          </p:nvSpPr>
          <p:spPr bwMode="auto">
            <a:xfrm>
              <a:off x="1912" y="1924"/>
              <a:ext cx="7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96" name="Line 39">
              <a:extLst>
                <a:ext uri="{FF2B5EF4-FFF2-40B4-BE49-F238E27FC236}">
                  <a16:creationId xmlns:a16="http://schemas.microsoft.com/office/drawing/2014/main" id="{91C44CCC-E301-6B17-A579-E7836F7FE50F}"/>
                </a:ext>
              </a:extLst>
            </p:cNvPr>
            <p:cNvSpPr>
              <a:spLocks noChangeShapeType="1"/>
            </p:cNvSpPr>
            <p:nvPr/>
          </p:nvSpPr>
          <p:spPr bwMode="auto">
            <a:xfrm>
              <a:off x="2000" y="1785"/>
              <a:ext cx="1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97" name="Line 40">
              <a:extLst>
                <a:ext uri="{FF2B5EF4-FFF2-40B4-BE49-F238E27FC236}">
                  <a16:creationId xmlns:a16="http://schemas.microsoft.com/office/drawing/2014/main" id="{6CC62C38-5FA1-F24B-0F5A-FE20D9A90ADF}"/>
                </a:ext>
              </a:extLst>
            </p:cNvPr>
            <p:cNvSpPr>
              <a:spLocks noChangeShapeType="1"/>
            </p:cNvSpPr>
            <p:nvPr/>
          </p:nvSpPr>
          <p:spPr bwMode="auto">
            <a:xfrm>
              <a:off x="2448" y="1709"/>
              <a:ext cx="1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98" name="Line 41">
              <a:extLst>
                <a:ext uri="{FF2B5EF4-FFF2-40B4-BE49-F238E27FC236}">
                  <a16:creationId xmlns:a16="http://schemas.microsoft.com/office/drawing/2014/main" id="{15786EA2-C454-CF75-1649-837260AC7782}"/>
                </a:ext>
              </a:extLst>
            </p:cNvPr>
            <p:cNvSpPr>
              <a:spLocks noChangeShapeType="1"/>
            </p:cNvSpPr>
            <p:nvPr/>
          </p:nvSpPr>
          <p:spPr bwMode="auto">
            <a:xfrm>
              <a:off x="2802" y="1697"/>
              <a:ext cx="8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99" name="AutoShape 43">
              <a:extLst>
                <a:ext uri="{FF2B5EF4-FFF2-40B4-BE49-F238E27FC236}">
                  <a16:creationId xmlns:a16="http://schemas.microsoft.com/office/drawing/2014/main" id="{715F9ADE-5257-5F1F-2207-5CA44C0AE8AC}"/>
                </a:ext>
              </a:extLst>
            </p:cNvPr>
            <p:cNvSpPr>
              <a:spLocks noChangeArrowheads="1"/>
            </p:cNvSpPr>
            <p:nvPr/>
          </p:nvSpPr>
          <p:spPr bwMode="auto">
            <a:xfrm>
              <a:off x="3045" y="1783"/>
              <a:ext cx="240" cy="248"/>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00" name="Oval 44">
              <a:extLst>
                <a:ext uri="{FF2B5EF4-FFF2-40B4-BE49-F238E27FC236}">
                  <a16:creationId xmlns:a16="http://schemas.microsoft.com/office/drawing/2014/main" id="{A8E5FB44-EE8E-FD8F-37F8-54DBC9332A59}"/>
                </a:ext>
              </a:extLst>
            </p:cNvPr>
            <p:cNvSpPr>
              <a:spLocks noChangeArrowheads="1"/>
            </p:cNvSpPr>
            <p:nvPr/>
          </p:nvSpPr>
          <p:spPr bwMode="auto">
            <a:xfrm>
              <a:off x="3289" y="1877"/>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01" name="Line 45">
              <a:extLst>
                <a:ext uri="{FF2B5EF4-FFF2-40B4-BE49-F238E27FC236}">
                  <a16:creationId xmlns:a16="http://schemas.microsoft.com/office/drawing/2014/main" id="{EAB9B617-1AB4-ABFC-E405-439EAAD611D0}"/>
                </a:ext>
              </a:extLst>
            </p:cNvPr>
            <p:cNvSpPr>
              <a:spLocks noChangeShapeType="1"/>
            </p:cNvSpPr>
            <p:nvPr/>
          </p:nvSpPr>
          <p:spPr bwMode="auto">
            <a:xfrm flipH="1">
              <a:off x="2880" y="1706"/>
              <a:ext cx="0" cy="1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02" name="Line 46">
              <a:extLst>
                <a:ext uri="{FF2B5EF4-FFF2-40B4-BE49-F238E27FC236}">
                  <a16:creationId xmlns:a16="http://schemas.microsoft.com/office/drawing/2014/main" id="{DAD3B805-E224-70A4-25D8-7C7AE86F9E92}"/>
                </a:ext>
              </a:extLst>
            </p:cNvPr>
            <p:cNvSpPr>
              <a:spLocks noChangeShapeType="1"/>
            </p:cNvSpPr>
            <p:nvPr/>
          </p:nvSpPr>
          <p:spPr bwMode="auto">
            <a:xfrm flipH="1">
              <a:off x="2896" y="1996"/>
              <a:ext cx="0" cy="60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03" name="Line 47">
              <a:extLst>
                <a:ext uri="{FF2B5EF4-FFF2-40B4-BE49-F238E27FC236}">
                  <a16:creationId xmlns:a16="http://schemas.microsoft.com/office/drawing/2014/main" id="{C24F5FD8-6277-FA0F-9C19-E33C55B0A18C}"/>
                </a:ext>
              </a:extLst>
            </p:cNvPr>
            <p:cNvSpPr>
              <a:spLocks noChangeShapeType="1"/>
            </p:cNvSpPr>
            <p:nvPr/>
          </p:nvSpPr>
          <p:spPr bwMode="auto">
            <a:xfrm>
              <a:off x="2888" y="1837"/>
              <a:ext cx="1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04" name="Line 48">
              <a:extLst>
                <a:ext uri="{FF2B5EF4-FFF2-40B4-BE49-F238E27FC236}">
                  <a16:creationId xmlns:a16="http://schemas.microsoft.com/office/drawing/2014/main" id="{8A07A58B-2B4E-1F7B-A601-75A4AD2D490A}"/>
                </a:ext>
              </a:extLst>
            </p:cNvPr>
            <p:cNvSpPr>
              <a:spLocks noChangeShapeType="1"/>
            </p:cNvSpPr>
            <p:nvPr/>
          </p:nvSpPr>
          <p:spPr bwMode="auto">
            <a:xfrm>
              <a:off x="2888" y="1994"/>
              <a:ext cx="1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5205" name="Group 49">
              <a:extLst>
                <a:ext uri="{FF2B5EF4-FFF2-40B4-BE49-F238E27FC236}">
                  <a16:creationId xmlns:a16="http://schemas.microsoft.com/office/drawing/2014/main" id="{0A18E9C1-7BD3-F2A7-B48F-8CAA36DE23A6}"/>
                </a:ext>
              </a:extLst>
            </p:cNvPr>
            <p:cNvGrpSpPr>
              <a:grpSpLocks/>
            </p:cNvGrpSpPr>
            <p:nvPr/>
          </p:nvGrpSpPr>
          <p:grpSpPr bwMode="auto">
            <a:xfrm>
              <a:off x="4067" y="1991"/>
              <a:ext cx="205" cy="236"/>
              <a:chOff x="3480" y="6364"/>
              <a:chExt cx="386" cy="404"/>
            </a:xfrm>
          </p:grpSpPr>
          <p:sp>
            <p:nvSpPr>
              <p:cNvPr id="135238" name="Oval 50">
                <a:extLst>
                  <a:ext uri="{FF2B5EF4-FFF2-40B4-BE49-F238E27FC236}">
                    <a16:creationId xmlns:a16="http://schemas.microsoft.com/office/drawing/2014/main" id="{7ABC5584-27D3-959C-2457-D8504CBF0B3D}"/>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39" name="AutoShape 51">
                <a:extLst>
                  <a:ext uri="{FF2B5EF4-FFF2-40B4-BE49-F238E27FC236}">
                    <a16:creationId xmlns:a16="http://schemas.microsoft.com/office/drawing/2014/main" id="{595C2A1D-D18D-813C-A827-3DCC9AEC7CD8}"/>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5206" name="AutoShape 52">
              <a:extLst>
                <a:ext uri="{FF2B5EF4-FFF2-40B4-BE49-F238E27FC236}">
                  <a16:creationId xmlns:a16="http://schemas.microsoft.com/office/drawing/2014/main" id="{D4BB5473-2649-B926-797A-60716422AA40}"/>
                </a:ext>
              </a:extLst>
            </p:cNvPr>
            <p:cNvSpPr>
              <a:spLocks noChangeArrowheads="1"/>
            </p:cNvSpPr>
            <p:nvPr/>
          </p:nvSpPr>
          <p:spPr bwMode="auto">
            <a:xfrm>
              <a:off x="3616" y="1991"/>
              <a:ext cx="239" cy="248"/>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07" name="Oval 53">
              <a:extLst>
                <a:ext uri="{FF2B5EF4-FFF2-40B4-BE49-F238E27FC236}">
                  <a16:creationId xmlns:a16="http://schemas.microsoft.com/office/drawing/2014/main" id="{D2132BC3-C3DE-5940-E7F1-6E20AF711909}"/>
                </a:ext>
              </a:extLst>
            </p:cNvPr>
            <p:cNvSpPr>
              <a:spLocks noChangeArrowheads="1"/>
            </p:cNvSpPr>
            <p:nvPr/>
          </p:nvSpPr>
          <p:spPr bwMode="auto">
            <a:xfrm>
              <a:off x="3860" y="2085"/>
              <a:ext cx="55" cy="5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08" name="Line 54">
              <a:extLst>
                <a:ext uri="{FF2B5EF4-FFF2-40B4-BE49-F238E27FC236}">
                  <a16:creationId xmlns:a16="http://schemas.microsoft.com/office/drawing/2014/main" id="{DC20A55D-FCC7-7F0F-A494-9B751C2B0089}"/>
                </a:ext>
              </a:extLst>
            </p:cNvPr>
            <p:cNvSpPr>
              <a:spLocks noChangeShapeType="1"/>
            </p:cNvSpPr>
            <p:nvPr/>
          </p:nvSpPr>
          <p:spPr bwMode="auto">
            <a:xfrm flipH="1">
              <a:off x="3465" y="1916"/>
              <a:ext cx="0" cy="1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09" name="Line 55">
              <a:extLst>
                <a:ext uri="{FF2B5EF4-FFF2-40B4-BE49-F238E27FC236}">
                  <a16:creationId xmlns:a16="http://schemas.microsoft.com/office/drawing/2014/main" id="{06DE4892-E862-888A-268B-8EA75427F3C5}"/>
                </a:ext>
              </a:extLst>
            </p:cNvPr>
            <p:cNvSpPr>
              <a:spLocks noChangeShapeType="1"/>
            </p:cNvSpPr>
            <p:nvPr/>
          </p:nvSpPr>
          <p:spPr bwMode="auto">
            <a:xfrm>
              <a:off x="3465" y="2055"/>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10" name="Line 56">
              <a:extLst>
                <a:ext uri="{FF2B5EF4-FFF2-40B4-BE49-F238E27FC236}">
                  <a16:creationId xmlns:a16="http://schemas.microsoft.com/office/drawing/2014/main" id="{C78FA424-DA6E-F6F2-225D-6E51FADC4CA2}"/>
                </a:ext>
              </a:extLst>
            </p:cNvPr>
            <p:cNvSpPr>
              <a:spLocks noChangeShapeType="1"/>
            </p:cNvSpPr>
            <p:nvPr/>
          </p:nvSpPr>
          <p:spPr bwMode="auto">
            <a:xfrm flipH="1">
              <a:off x="3471" y="2201"/>
              <a:ext cx="0" cy="72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11" name="Line 57">
              <a:extLst>
                <a:ext uri="{FF2B5EF4-FFF2-40B4-BE49-F238E27FC236}">
                  <a16:creationId xmlns:a16="http://schemas.microsoft.com/office/drawing/2014/main" id="{6C7F78D6-1D3F-016D-A548-9849D3137B69}"/>
                </a:ext>
              </a:extLst>
            </p:cNvPr>
            <p:cNvSpPr>
              <a:spLocks noChangeShapeType="1"/>
            </p:cNvSpPr>
            <p:nvPr/>
          </p:nvSpPr>
          <p:spPr bwMode="auto">
            <a:xfrm>
              <a:off x="3466" y="2196"/>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12" name="Line 58">
              <a:extLst>
                <a:ext uri="{FF2B5EF4-FFF2-40B4-BE49-F238E27FC236}">
                  <a16:creationId xmlns:a16="http://schemas.microsoft.com/office/drawing/2014/main" id="{6EB96DEB-E603-5F8A-58FF-06B211F829A5}"/>
                </a:ext>
              </a:extLst>
            </p:cNvPr>
            <p:cNvSpPr>
              <a:spLocks noChangeShapeType="1"/>
            </p:cNvSpPr>
            <p:nvPr/>
          </p:nvSpPr>
          <p:spPr bwMode="auto">
            <a:xfrm>
              <a:off x="3914" y="2111"/>
              <a:ext cx="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13" name="Line 59">
              <a:extLst>
                <a:ext uri="{FF2B5EF4-FFF2-40B4-BE49-F238E27FC236}">
                  <a16:creationId xmlns:a16="http://schemas.microsoft.com/office/drawing/2014/main" id="{7D1CF0E5-6349-2637-BE71-A090FB4531C2}"/>
                </a:ext>
              </a:extLst>
            </p:cNvPr>
            <p:cNvSpPr>
              <a:spLocks noChangeShapeType="1"/>
            </p:cNvSpPr>
            <p:nvPr/>
          </p:nvSpPr>
          <p:spPr bwMode="auto">
            <a:xfrm>
              <a:off x="3356" y="1915"/>
              <a:ext cx="11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5214" name="Group 60">
              <a:extLst>
                <a:ext uri="{FF2B5EF4-FFF2-40B4-BE49-F238E27FC236}">
                  <a16:creationId xmlns:a16="http://schemas.microsoft.com/office/drawing/2014/main" id="{196C2311-4A8D-CFBF-AD3A-79A8AB80D613}"/>
                </a:ext>
              </a:extLst>
            </p:cNvPr>
            <p:cNvGrpSpPr>
              <a:grpSpLocks/>
            </p:cNvGrpSpPr>
            <p:nvPr/>
          </p:nvGrpSpPr>
          <p:grpSpPr bwMode="auto">
            <a:xfrm>
              <a:off x="1512" y="2307"/>
              <a:ext cx="206" cy="235"/>
              <a:chOff x="3480" y="6364"/>
              <a:chExt cx="386" cy="404"/>
            </a:xfrm>
          </p:grpSpPr>
          <p:sp>
            <p:nvSpPr>
              <p:cNvPr id="135236" name="Oval 61">
                <a:extLst>
                  <a:ext uri="{FF2B5EF4-FFF2-40B4-BE49-F238E27FC236}">
                    <a16:creationId xmlns:a16="http://schemas.microsoft.com/office/drawing/2014/main" id="{8BFE432E-7F48-5BF4-6117-C47312F02BBC}"/>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37" name="AutoShape 62">
                <a:extLst>
                  <a:ext uri="{FF2B5EF4-FFF2-40B4-BE49-F238E27FC236}">
                    <a16:creationId xmlns:a16="http://schemas.microsoft.com/office/drawing/2014/main" id="{DA2FD53F-8B18-1441-AE69-FAFBD622324D}"/>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5215" name="AutoShape 64">
              <a:extLst>
                <a:ext uri="{FF2B5EF4-FFF2-40B4-BE49-F238E27FC236}">
                  <a16:creationId xmlns:a16="http://schemas.microsoft.com/office/drawing/2014/main" id="{D230D818-ADD6-EA6A-E2D3-ABE7A30F9A66}"/>
                </a:ext>
              </a:extLst>
            </p:cNvPr>
            <p:cNvSpPr>
              <a:spLocks noChangeArrowheads="1"/>
            </p:cNvSpPr>
            <p:nvPr/>
          </p:nvSpPr>
          <p:spPr bwMode="auto">
            <a:xfrm>
              <a:off x="1086" y="2307"/>
              <a:ext cx="240" cy="247"/>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16" name="Oval 65">
              <a:extLst>
                <a:ext uri="{FF2B5EF4-FFF2-40B4-BE49-F238E27FC236}">
                  <a16:creationId xmlns:a16="http://schemas.microsoft.com/office/drawing/2014/main" id="{DFD0CD1A-FB19-EAB1-2B42-EA041310877D}"/>
                </a:ext>
              </a:extLst>
            </p:cNvPr>
            <p:cNvSpPr>
              <a:spLocks noChangeArrowheads="1"/>
            </p:cNvSpPr>
            <p:nvPr/>
          </p:nvSpPr>
          <p:spPr bwMode="auto">
            <a:xfrm>
              <a:off x="1330" y="2393"/>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17" name="Line 66">
              <a:extLst>
                <a:ext uri="{FF2B5EF4-FFF2-40B4-BE49-F238E27FC236}">
                  <a16:creationId xmlns:a16="http://schemas.microsoft.com/office/drawing/2014/main" id="{3F506A15-32FA-24B0-D94E-9B1B6BCCD60D}"/>
                </a:ext>
              </a:extLst>
            </p:cNvPr>
            <p:cNvSpPr>
              <a:spLocks noChangeShapeType="1"/>
            </p:cNvSpPr>
            <p:nvPr/>
          </p:nvSpPr>
          <p:spPr bwMode="auto">
            <a:xfrm>
              <a:off x="864" y="2351"/>
              <a:ext cx="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18" name="Line 67">
              <a:extLst>
                <a:ext uri="{FF2B5EF4-FFF2-40B4-BE49-F238E27FC236}">
                  <a16:creationId xmlns:a16="http://schemas.microsoft.com/office/drawing/2014/main" id="{9CFE0E22-B0CF-A118-A148-0EAF2E43B8F8}"/>
                </a:ext>
              </a:extLst>
            </p:cNvPr>
            <p:cNvSpPr>
              <a:spLocks noChangeShapeType="1"/>
            </p:cNvSpPr>
            <p:nvPr/>
          </p:nvSpPr>
          <p:spPr bwMode="auto">
            <a:xfrm>
              <a:off x="1384" y="2426"/>
              <a:ext cx="1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19" name="Line 68">
              <a:extLst>
                <a:ext uri="{FF2B5EF4-FFF2-40B4-BE49-F238E27FC236}">
                  <a16:creationId xmlns:a16="http://schemas.microsoft.com/office/drawing/2014/main" id="{87379BAC-CCA6-A6AD-75A1-F039731B1D02}"/>
                </a:ext>
              </a:extLst>
            </p:cNvPr>
            <p:cNvSpPr>
              <a:spLocks noChangeShapeType="1"/>
            </p:cNvSpPr>
            <p:nvPr/>
          </p:nvSpPr>
          <p:spPr bwMode="auto">
            <a:xfrm>
              <a:off x="1726" y="2420"/>
              <a:ext cx="1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20" name="AutoShape 70">
              <a:extLst>
                <a:ext uri="{FF2B5EF4-FFF2-40B4-BE49-F238E27FC236}">
                  <a16:creationId xmlns:a16="http://schemas.microsoft.com/office/drawing/2014/main" id="{945CDACC-4D50-3E33-17C4-396CCD3DF4DB}"/>
                </a:ext>
              </a:extLst>
            </p:cNvPr>
            <p:cNvSpPr>
              <a:spLocks noChangeArrowheads="1"/>
            </p:cNvSpPr>
            <p:nvPr/>
          </p:nvSpPr>
          <p:spPr bwMode="auto">
            <a:xfrm>
              <a:off x="2030" y="2473"/>
              <a:ext cx="240" cy="248"/>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21" name="Oval 71">
              <a:extLst>
                <a:ext uri="{FF2B5EF4-FFF2-40B4-BE49-F238E27FC236}">
                  <a16:creationId xmlns:a16="http://schemas.microsoft.com/office/drawing/2014/main" id="{AC6C9B86-3ED7-C2CB-91B9-1B6BEDD86ADE}"/>
                </a:ext>
              </a:extLst>
            </p:cNvPr>
            <p:cNvSpPr>
              <a:spLocks noChangeArrowheads="1"/>
            </p:cNvSpPr>
            <p:nvPr/>
          </p:nvSpPr>
          <p:spPr bwMode="auto">
            <a:xfrm>
              <a:off x="2274" y="2567"/>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22" name="Line 72">
              <a:extLst>
                <a:ext uri="{FF2B5EF4-FFF2-40B4-BE49-F238E27FC236}">
                  <a16:creationId xmlns:a16="http://schemas.microsoft.com/office/drawing/2014/main" id="{49505BDE-2CCE-FA6B-D55F-F290004A0619}"/>
                </a:ext>
              </a:extLst>
            </p:cNvPr>
            <p:cNvSpPr>
              <a:spLocks noChangeShapeType="1"/>
            </p:cNvSpPr>
            <p:nvPr/>
          </p:nvSpPr>
          <p:spPr bwMode="auto">
            <a:xfrm flipH="1">
              <a:off x="1864" y="2415"/>
              <a:ext cx="0" cy="13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23" name="Line 73">
              <a:extLst>
                <a:ext uri="{FF2B5EF4-FFF2-40B4-BE49-F238E27FC236}">
                  <a16:creationId xmlns:a16="http://schemas.microsoft.com/office/drawing/2014/main" id="{1321B164-812E-B542-027F-39A72953175B}"/>
                </a:ext>
              </a:extLst>
            </p:cNvPr>
            <p:cNvSpPr>
              <a:spLocks noChangeShapeType="1"/>
            </p:cNvSpPr>
            <p:nvPr/>
          </p:nvSpPr>
          <p:spPr bwMode="auto">
            <a:xfrm>
              <a:off x="1872" y="2546"/>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24" name="Line 74">
              <a:extLst>
                <a:ext uri="{FF2B5EF4-FFF2-40B4-BE49-F238E27FC236}">
                  <a16:creationId xmlns:a16="http://schemas.microsoft.com/office/drawing/2014/main" id="{0DA89D06-EB1D-B488-B140-E652CC11F4F0}"/>
                </a:ext>
              </a:extLst>
            </p:cNvPr>
            <p:cNvSpPr>
              <a:spLocks noChangeShapeType="1"/>
            </p:cNvSpPr>
            <p:nvPr/>
          </p:nvSpPr>
          <p:spPr bwMode="auto">
            <a:xfrm flipV="1">
              <a:off x="881" y="2674"/>
              <a:ext cx="114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25" name="Line 75">
              <a:extLst>
                <a:ext uri="{FF2B5EF4-FFF2-40B4-BE49-F238E27FC236}">
                  <a16:creationId xmlns:a16="http://schemas.microsoft.com/office/drawing/2014/main" id="{B3D52746-466E-A101-8FAA-A177D0064E1B}"/>
                </a:ext>
              </a:extLst>
            </p:cNvPr>
            <p:cNvSpPr>
              <a:spLocks noChangeShapeType="1"/>
            </p:cNvSpPr>
            <p:nvPr/>
          </p:nvSpPr>
          <p:spPr bwMode="auto">
            <a:xfrm>
              <a:off x="864" y="2502"/>
              <a:ext cx="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26" name="Line 76">
              <a:extLst>
                <a:ext uri="{FF2B5EF4-FFF2-40B4-BE49-F238E27FC236}">
                  <a16:creationId xmlns:a16="http://schemas.microsoft.com/office/drawing/2014/main" id="{AB6B277F-747D-5A9C-70F5-EDFE7A9529DB}"/>
                </a:ext>
              </a:extLst>
            </p:cNvPr>
            <p:cNvSpPr>
              <a:spLocks noChangeShapeType="1"/>
            </p:cNvSpPr>
            <p:nvPr/>
          </p:nvSpPr>
          <p:spPr bwMode="auto">
            <a:xfrm>
              <a:off x="2336" y="2603"/>
              <a:ext cx="5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27" name="Line 77">
              <a:extLst>
                <a:ext uri="{FF2B5EF4-FFF2-40B4-BE49-F238E27FC236}">
                  <a16:creationId xmlns:a16="http://schemas.microsoft.com/office/drawing/2014/main" id="{D1D61E69-07D6-7765-0E6D-0CB0EDFEACF4}"/>
                </a:ext>
              </a:extLst>
            </p:cNvPr>
            <p:cNvSpPr>
              <a:spLocks noChangeShapeType="1"/>
            </p:cNvSpPr>
            <p:nvPr/>
          </p:nvSpPr>
          <p:spPr bwMode="auto">
            <a:xfrm>
              <a:off x="882" y="2927"/>
              <a:ext cx="25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28" name="Line 78">
              <a:extLst>
                <a:ext uri="{FF2B5EF4-FFF2-40B4-BE49-F238E27FC236}">
                  <a16:creationId xmlns:a16="http://schemas.microsoft.com/office/drawing/2014/main" id="{0451C2B1-B5D8-85EA-52BB-DEAC1D9B4DE2}"/>
                </a:ext>
              </a:extLst>
            </p:cNvPr>
            <p:cNvSpPr>
              <a:spLocks noChangeShapeType="1"/>
            </p:cNvSpPr>
            <p:nvPr/>
          </p:nvSpPr>
          <p:spPr bwMode="auto">
            <a:xfrm>
              <a:off x="4280" y="2105"/>
              <a:ext cx="8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229" name="Oval 79">
              <a:extLst>
                <a:ext uri="{FF2B5EF4-FFF2-40B4-BE49-F238E27FC236}">
                  <a16:creationId xmlns:a16="http://schemas.microsoft.com/office/drawing/2014/main" id="{8786CB40-0487-8C31-5967-A16826B6DF09}"/>
                </a:ext>
              </a:extLst>
            </p:cNvPr>
            <p:cNvSpPr>
              <a:spLocks noChangeArrowheads="1"/>
            </p:cNvSpPr>
            <p:nvPr/>
          </p:nvSpPr>
          <p:spPr bwMode="auto">
            <a:xfrm>
              <a:off x="920" y="1064"/>
              <a:ext cx="480" cy="437"/>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30" name="Oval 80">
              <a:extLst>
                <a:ext uri="{FF2B5EF4-FFF2-40B4-BE49-F238E27FC236}">
                  <a16:creationId xmlns:a16="http://schemas.microsoft.com/office/drawing/2014/main" id="{FF59D0BB-E171-C162-96D7-B7AB55C087AA}"/>
                </a:ext>
              </a:extLst>
            </p:cNvPr>
            <p:cNvSpPr>
              <a:spLocks noChangeArrowheads="1"/>
            </p:cNvSpPr>
            <p:nvPr/>
          </p:nvSpPr>
          <p:spPr bwMode="auto">
            <a:xfrm>
              <a:off x="960" y="1546"/>
              <a:ext cx="376" cy="336"/>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31" name="Oval 81">
              <a:extLst>
                <a:ext uri="{FF2B5EF4-FFF2-40B4-BE49-F238E27FC236}">
                  <a16:creationId xmlns:a16="http://schemas.microsoft.com/office/drawing/2014/main" id="{4A352F76-4334-9BA7-4AEE-C88AB0BC88EC}"/>
                </a:ext>
              </a:extLst>
            </p:cNvPr>
            <p:cNvSpPr>
              <a:spLocks noChangeArrowheads="1"/>
            </p:cNvSpPr>
            <p:nvPr/>
          </p:nvSpPr>
          <p:spPr bwMode="auto">
            <a:xfrm>
              <a:off x="1359" y="1283"/>
              <a:ext cx="1484" cy="836"/>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32" name="Oval 82">
              <a:extLst>
                <a:ext uri="{FF2B5EF4-FFF2-40B4-BE49-F238E27FC236}">
                  <a16:creationId xmlns:a16="http://schemas.microsoft.com/office/drawing/2014/main" id="{930FA905-F79D-9825-BB25-14F02EC6EC60}"/>
                </a:ext>
              </a:extLst>
            </p:cNvPr>
            <p:cNvSpPr>
              <a:spLocks noChangeArrowheads="1"/>
            </p:cNvSpPr>
            <p:nvPr/>
          </p:nvSpPr>
          <p:spPr bwMode="auto">
            <a:xfrm>
              <a:off x="887" y="2166"/>
              <a:ext cx="1717" cy="667"/>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33" name="Oval 83">
              <a:extLst>
                <a:ext uri="{FF2B5EF4-FFF2-40B4-BE49-F238E27FC236}">
                  <a16:creationId xmlns:a16="http://schemas.microsoft.com/office/drawing/2014/main" id="{E6787595-27CA-D459-8A3D-6B82C65265CB}"/>
                </a:ext>
              </a:extLst>
            </p:cNvPr>
            <p:cNvSpPr>
              <a:spLocks noChangeArrowheads="1"/>
            </p:cNvSpPr>
            <p:nvPr/>
          </p:nvSpPr>
          <p:spPr bwMode="auto">
            <a:xfrm>
              <a:off x="2904" y="1703"/>
              <a:ext cx="480" cy="419"/>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34" name="Oval 84">
              <a:extLst>
                <a:ext uri="{FF2B5EF4-FFF2-40B4-BE49-F238E27FC236}">
                  <a16:creationId xmlns:a16="http://schemas.microsoft.com/office/drawing/2014/main" id="{1C2A64DC-C62C-BF99-CE06-637515949411}"/>
                </a:ext>
              </a:extLst>
            </p:cNvPr>
            <p:cNvSpPr>
              <a:spLocks noChangeArrowheads="1"/>
            </p:cNvSpPr>
            <p:nvPr/>
          </p:nvSpPr>
          <p:spPr bwMode="auto">
            <a:xfrm>
              <a:off x="3985" y="1936"/>
              <a:ext cx="399" cy="337"/>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5235" name="Oval 85">
              <a:extLst>
                <a:ext uri="{FF2B5EF4-FFF2-40B4-BE49-F238E27FC236}">
                  <a16:creationId xmlns:a16="http://schemas.microsoft.com/office/drawing/2014/main" id="{35296E97-D91A-2F4F-1ADB-1580ECBFF9CB}"/>
                </a:ext>
              </a:extLst>
            </p:cNvPr>
            <p:cNvSpPr>
              <a:spLocks noChangeArrowheads="1"/>
            </p:cNvSpPr>
            <p:nvPr/>
          </p:nvSpPr>
          <p:spPr bwMode="auto">
            <a:xfrm>
              <a:off x="3484" y="1922"/>
              <a:ext cx="448" cy="371"/>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4">
            <a:extLst>
              <a:ext uri="{FF2B5EF4-FFF2-40B4-BE49-F238E27FC236}">
                <a16:creationId xmlns:a16="http://schemas.microsoft.com/office/drawing/2014/main" id="{C619338B-C872-2886-503C-64EE0587A62F}"/>
              </a:ext>
            </a:extLst>
          </p:cNvPr>
          <p:cNvSpPr>
            <a:spLocks noGrp="1" noChangeArrowheads="1"/>
          </p:cNvSpPr>
          <p:nvPr>
            <p:ph type="title"/>
          </p:nvPr>
        </p:nvSpPr>
        <p:spPr/>
        <p:txBody>
          <a:bodyPr/>
          <a:lstStyle/>
          <a:p>
            <a:r>
              <a:rPr lang="en-US" altLang="en-US"/>
              <a:t>Better Variant of Mapping</a:t>
            </a:r>
            <a:endParaRPr lang="ru-RU" altLang="en-US"/>
          </a:p>
        </p:txBody>
      </p:sp>
      <p:grpSp>
        <p:nvGrpSpPr>
          <p:cNvPr id="136195" name="Group 86">
            <a:extLst>
              <a:ext uri="{FF2B5EF4-FFF2-40B4-BE49-F238E27FC236}">
                <a16:creationId xmlns:a16="http://schemas.microsoft.com/office/drawing/2014/main" id="{5A22423E-C8E2-FF46-2C36-5991FAF25667}"/>
              </a:ext>
            </a:extLst>
          </p:cNvPr>
          <p:cNvGrpSpPr>
            <a:grpSpLocks/>
          </p:cNvGrpSpPr>
          <p:nvPr/>
        </p:nvGrpSpPr>
        <p:grpSpPr bwMode="auto">
          <a:xfrm>
            <a:off x="2679700" y="1841501"/>
            <a:ext cx="5930900" cy="3057525"/>
            <a:chOff x="728" y="1160"/>
            <a:chExt cx="3736" cy="1926"/>
          </a:xfrm>
        </p:grpSpPr>
        <p:sp>
          <p:nvSpPr>
            <p:cNvPr id="136196" name="AutoShape 7">
              <a:extLst>
                <a:ext uri="{FF2B5EF4-FFF2-40B4-BE49-F238E27FC236}">
                  <a16:creationId xmlns:a16="http://schemas.microsoft.com/office/drawing/2014/main" id="{A1A4F3CD-9A6A-E77C-F67B-FD80E607B813}"/>
                </a:ext>
              </a:extLst>
            </p:cNvPr>
            <p:cNvSpPr>
              <a:spLocks noChangeArrowheads="1"/>
            </p:cNvSpPr>
            <p:nvPr/>
          </p:nvSpPr>
          <p:spPr bwMode="auto">
            <a:xfrm>
              <a:off x="945" y="1268"/>
              <a:ext cx="228" cy="254"/>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197" name="Oval 8">
              <a:extLst>
                <a:ext uri="{FF2B5EF4-FFF2-40B4-BE49-F238E27FC236}">
                  <a16:creationId xmlns:a16="http://schemas.microsoft.com/office/drawing/2014/main" id="{5FDE6A1D-32D4-F233-630B-518E050B3D74}"/>
                </a:ext>
              </a:extLst>
            </p:cNvPr>
            <p:cNvSpPr>
              <a:spLocks noChangeArrowheads="1"/>
            </p:cNvSpPr>
            <p:nvPr/>
          </p:nvSpPr>
          <p:spPr bwMode="auto">
            <a:xfrm>
              <a:off x="1177" y="1364"/>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198" name="Line 9">
              <a:extLst>
                <a:ext uri="{FF2B5EF4-FFF2-40B4-BE49-F238E27FC236}">
                  <a16:creationId xmlns:a16="http://schemas.microsoft.com/office/drawing/2014/main" id="{BAEB3597-24EC-5DEC-7C30-1FD0DD0EA5C1}"/>
                </a:ext>
              </a:extLst>
            </p:cNvPr>
            <p:cNvSpPr>
              <a:spLocks noChangeShapeType="1"/>
            </p:cNvSpPr>
            <p:nvPr/>
          </p:nvSpPr>
          <p:spPr bwMode="auto">
            <a:xfrm>
              <a:off x="1825" y="1619"/>
              <a:ext cx="11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6199" name="Group 10">
              <a:extLst>
                <a:ext uri="{FF2B5EF4-FFF2-40B4-BE49-F238E27FC236}">
                  <a16:creationId xmlns:a16="http://schemas.microsoft.com/office/drawing/2014/main" id="{22D9DC5B-373F-D242-88A8-DE5923E7525D}"/>
                </a:ext>
              </a:extLst>
            </p:cNvPr>
            <p:cNvGrpSpPr>
              <a:grpSpLocks/>
            </p:cNvGrpSpPr>
            <p:nvPr/>
          </p:nvGrpSpPr>
          <p:grpSpPr bwMode="auto">
            <a:xfrm>
              <a:off x="2551" y="1707"/>
              <a:ext cx="217" cy="241"/>
              <a:chOff x="3480" y="6364"/>
              <a:chExt cx="386" cy="404"/>
            </a:xfrm>
          </p:grpSpPr>
          <p:sp>
            <p:nvSpPr>
              <p:cNvPr id="136266" name="Oval 11">
                <a:extLst>
                  <a:ext uri="{FF2B5EF4-FFF2-40B4-BE49-F238E27FC236}">
                    <a16:creationId xmlns:a16="http://schemas.microsoft.com/office/drawing/2014/main" id="{646C762B-0DE4-92E2-4C2D-3C1DD4F5F5B3}"/>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67" name="AutoShape 12">
                <a:extLst>
                  <a:ext uri="{FF2B5EF4-FFF2-40B4-BE49-F238E27FC236}">
                    <a16:creationId xmlns:a16="http://schemas.microsoft.com/office/drawing/2014/main" id="{85D1DD53-2FFE-70E9-1126-F7C8EC72DB84}"/>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6200" name="Line 13">
              <a:extLst>
                <a:ext uri="{FF2B5EF4-FFF2-40B4-BE49-F238E27FC236}">
                  <a16:creationId xmlns:a16="http://schemas.microsoft.com/office/drawing/2014/main" id="{C6A1996F-7725-E9AD-3ABF-CF455C2C3254}"/>
                </a:ext>
              </a:extLst>
            </p:cNvPr>
            <p:cNvSpPr>
              <a:spLocks noChangeShapeType="1"/>
            </p:cNvSpPr>
            <p:nvPr/>
          </p:nvSpPr>
          <p:spPr bwMode="auto">
            <a:xfrm>
              <a:off x="778" y="1325"/>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01" name="Line 14">
              <a:extLst>
                <a:ext uri="{FF2B5EF4-FFF2-40B4-BE49-F238E27FC236}">
                  <a16:creationId xmlns:a16="http://schemas.microsoft.com/office/drawing/2014/main" id="{D71240CF-1EC5-F31F-28B2-5F329EA38AEE}"/>
                </a:ext>
              </a:extLst>
            </p:cNvPr>
            <p:cNvSpPr>
              <a:spLocks noChangeShapeType="1"/>
            </p:cNvSpPr>
            <p:nvPr/>
          </p:nvSpPr>
          <p:spPr bwMode="auto">
            <a:xfrm>
              <a:off x="778" y="1468"/>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02" name="Line 15">
              <a:extLst>
                <a:ext uri="{FF2B5EF4-FFF2-40B4-BE49-F238E27FC236}">
                  <a16:creationId xmlns:a16="http://schemas.microsoft.com/office/drawing/2014/main" id="{81FF730B-3844-032E-12ED-986016C155A3}"/>
                </a:ext>
              </a:extLst>
            </p:cNvPr>
            <p:cNvSpPr>
              <a:spLocks noChangeShapeType="1"/>
            </p:cNvSpPr>
            <p:nvPr/>
          </p:nvSpPr>
          <p:spPr bwMode="auto">
            <a:xfrm>
              <a:off x="1233" y="1400"/>
              <a:ext cx="14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6203" name="Group 16">
              <a:extLst>
                <a:ext uri="{FF2B5EF4-FFF2-40B4-BE49-F238E27FC236}">
                  <a16:creationId xmlns:a16="http://schemas.microsoft.com/office/drawing/2014/main" id="{24D9D33E-EA90-63BA-8D66-67C43B56342A}"/>
                </a:ext>
              </a:extLst>
            </p:cNvPr>
            <p:cNvGrpSpPr>
              <a:grpSpLocks/>
            </p:cNvGrpSpPr>
            <p:nvPr/>
          </p:nvGrpSpPr>
          <p:grpSpPr bwMode="auto">
            <a:xfrm>
              <a:off x="947" y="1725"/>
              <a:ext cx="217" cy="241"/>
              <a:chOff x="3480" y="6364"/>
              <a:chExt cx="386" cy="404"/>
            </a:xfrm>
          </p:grpSpPr>
          <p:sp>
            <p:nvSpPr>
              <p:cNvPr id="136264" name="Oval 17">
                <a:extLst>
                  <a:ext uri="{FF2B5EF4-FFF2-40B4-BE49-F238E27FC236}">
                    <a16:creationId xmlns:a16="http://schemas.microsoft.com/office/drawing/2014/main" id="{52CB8657-14BD-6827-22B7-BC5F588AB745}"/>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65" name="AutoShape 18">
                <a:extLst>
                  <a:ext uri="{FF2B5EF4-FFF2-40B4-BE49-F238E27FC236}">
                    <a16:creationId xmlns:a16="http://schemas.microsoft.com/office/drawing/2014/main" id="{08EB187F-75C1-D0FF-1449-1D4ADF5E1E6B}"/>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6204" name="Line 19">
              <a:extLst>
                <a:ext uri="{FF2B5EF4-FFF2-40B4-BE49-F238E27FC236}">
                  <a16:creationId xmlns:a16="http://schemas.microsoft.com/office/drawing/2014/main" id="{DFBC5FE6-CDC4-EA3D-B204-E1C9EB577254}"/>
                </a:ext>
              </a:extLst>
            </p:cNvPr>
            <p:cNvSpPr>
              <a:spLocks noChangeShapeType="1"/>
            </p:cNvSpPr>
            <p:nvPr/>
          </p:nvSpPr>
          <p:spPr bwMode="auto">
            <a:xfrm flipV="1">
              <a:off x="778" y="1844"/>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05" name="AutoShape 21">
              <a:extLst>
                <a:ext uri="{FF2B5EF4-FFF2-40B4-BE49-F238E27FC236}">
                  <a16:creationId xmlns:a16="http://schemas.microsoft.com/office/drawing/2014/main" id="{CC387C0A-0D3D-15DA-7A0D-F73AB79C4C3F}"/>
                </a:ext>
              </a:extLst>
            </p:cNvPr>
            <p:cNvSpPr>
              <a:spLocks noChangeArrowheads="1"/>
            </p:cNvSpPr>
            <p:nvPr/>
          </p:nvSpPr>
          <p:spPr bwMode="auto">
            <a:xfrm>
              <a:off x="1544" y="1492"/>
              <a:ext cx="228" cy="254"/>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06" name="Oval 22">
              <a:extLst>
                <a:ext uri="{FF2B5EF4-FFF2-40B4-BE49-F238E27FC236}">
                  <a16:creationId xmlns:a16="http://schemas.microsoft.com/office/drawing/2014/main" id="{67B8E949-6FE1-7228-AFDF-02EFD7118D9F}"/>
                </a:ext>
              </a:extLst>
            </p:cNvPr>
            <p:cNvSpPr>
              <a:spLocks noChangeArrowheads="1"/>
            </p:cNvSpPr>
            <p:nvPr/>
          </p:nvSpPr>
          <p:spPr bwMode="auto">
            <a:xfrm>
              <a:off x="1776" y="1588"/>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07" name="Line 23">
              <a:extLst>
                <a:ext uri="{FF2B5EF4-FFF2-40B4-BE49-F238E27FC236}">
                  <a16:creationId xmlns:a16="http://schemas.microsoft.com/office/drawing/2014/main" id="{18DC3F12-8C67-B6E2-A716-9AF463E4C41D}"/>
                </a:ext>
              </a:extLst>
            </p:cNvPr>
            <p:cNvSpPr>
              <a:spLocks noChangeShapeType="1"/>
            </p:cNvSpPr>
            <p:nvPr/>
          </p:nvSpPr>
          <p:spPr bwMode="auto">
            <a:xfrm flipH="1">
              <a:off x="1377" y="1406"/>
              <a:ext cx="0" cy="1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08" name="Line 24">
              <a:extLst>
                <a:ext uri="{FF2B5EF4-FFF2-40B4-BE49-F238E27FC236}">
                  <a16:creationId xmlns:a16="http://schemas.microsoft.com/office/drawing/2014/main" id="{06694756-3DC4-4EDF-B106-B97372C61D9D}"/>
                </a:ext>
              </a:extLst>
            </p:cNvPr>
            <p:cNvSpPr>
              <a:spLocks noChangeShapeType="1"/>
            </p:cNvSpPr>
            <p:nvPr/>
          </p:nvSpPr>
          <p:spPr bwMode="auto">
            <a:xfrm flipH="1">
              <a:off x="1378" y="1701"/>
              <a:ext cx="0" cy="13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09" name="Line 25">
              <a:extLst>
                <a:ext uri="{FF2B5EF4-FFF2-40B4-BE49-F238E27FC236}">
                  <a16:creationId xmlns:a16="http://schemas.microsoft.com/office/drawing/2014/main" id="{3E9D8B2A-810A-2032-76ED-896EC4851F46}"/>
                </a:ext>
              </a:extLst>
            </p:cNvPr>
            <p:cNvSpPr>
              <a:spLocks noChangeShapeType="1"/>
            </p:cNvSpPr>
            <p:nvPr/>
          </p:nvSpPr>
          <p:spPr bwMode="auto">
            <a:xfrm>
              <a:off x="1167" y="1844"/>
              <a:ext cx="21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10" name="Line 26">
              <a:extLst>
                <a:ext uri="{FF2B5EF4-FFF2-40B4-BE49-F238E27FC236}">
                  <a16:creationId xmlns:a16="http://schemas.microsoft.com/office/drawing/2014/main" id="{C7A18C47-4E19-90FA-21B8-4B1E671AC177}"/>
                </a:ext>
              </a:extLst>
            </p:cNvPr>
            <p:cNvSpPr>
              <a:spLocks noChangeShapeType="1"/>
            </p:cNvSpPr>
            <p:nvPr/>
          </p:nvSpPr>
          <p:spPr bwMode="auto">
            <a:xfrm>
              <a:off x="1378" y="1540"/>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11" name="Line 27">
              <a:extLst>
                <a:ext uri="{FF2B5EF4-FFF2-40B4-BE49-F238E27FC236}">
                  <a16:creationId xmlns:a16="http://schemas.microsoft.com/office/drawing/2014/main" id="{297ED37E-1B44-108C-B9FE-B19A8025684F}"/>
                </a:ext>
              </a:extLst>
            </p:cNvPr>
            <p:cNvSpPr>
              <a:spLocks noChangeShapeType="1"/>
            </p:cNvSpPr>
            <p:nvPr/>
          </p:nvSpPr>
          <p:spPr bwMode="auto">
            <a:xfrm>
              <a:off x="1378" y="1701"/>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12" name="AutoShape 29">
              <a:extLst>
                <a:ext uri="{FF2B5EF4-FFF2-40B4-BE49-F238E27FC236}">
                  <a16:creationId xmlns:a16="http://schemas.microsoft.com/office/drawing/2014/main" id="{97410D4B-8695-19B3-1354-1034046D10D0}"/>
                </a:ext>
              </a:extLst>
            </p:cNvPr>
            <p:cNvSpPr>
              <a:spLocks noChangeArrowheads="1"/>
            </p:cNvSpPr>
            <p:nvPr/>
          </p:nvSpPr>
          <p:spPr bwMode="auto">
            <a:xfrm>
              <a:off x="2119" y="1699"/>
              <a:ext cx="227" cy="254"/>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13" name="Oval 30">
              <a:extLst>
                <a:ext uri="{FF2B5EF4-FFF2-40B4-BE49-F238E27FC236}">
                  <a16:creationId xmlns:a16="http://schemas.microsoft.com/office/drawing/2014/main" id="{A4D91C5E-B3E3-B2B0-A174-F2653748F6E9}"/>
                </a:ext>
              </a:extLst>
            </p:cNvPr>
            <p:cNvSpPr>
              <a:spLocks noChangeArrowheads="1"/>
            </p:cNvSpPr>
            <p:nvPr/>
          </p:nvSpPr>
          <p:spPr bwMode="auto">
            <a:xfrm>
              <a:off x="2350" y="1795"/>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14" name="Line 31">
              <a:extLst>
                <a:ext uri="{FF2B5EF4-FFF2-40B4-BE49-F238E27FC236}">
                  <a16:creationId xmlns:a16="http://schemas.microsoft.com/office/drawing/2014/main" id="{731C26DC-3C6E-C702-CDB8-264E26F94428}"/>
                </a:ext>
              </a:extLst>
            </p:cNvPr>
            <p:cNvSpPr>
              <a:spLocks noChangeShapeType="1"/>
            </p:cNvSpPr>
            <p:nvPr/>
          </p:nvSpPr>
          <p:spPr bwMode="auto">
            <a:xfrm flipH="1">
              <a:off x="1944" y="1621"/>
              <a:ext cx="0" cy="13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15" name="Line 32">
              <a:extLst>
                <a:ext uri="{FF2B5EF4-FFF2-40B4-BE49-F238E27FC236}">
                  <a16:creationId xmlns:a16="http://schemas.microsoft.com/office/drawing/2014/main" id="{8FB56AB2-08D4-9659-9974-8219DA69F33D}"/>
                </a:ext>
              </a:extLst>
            </p:cNvPr>
            <p:cNvSpPr>
              <a:spLocks noChangeShapeType="1"/>
            </p:cNvSpPr>
            <p:nvPr/>
          </p:nvSpPr>
          <p:spPr bwMode="auto">
            <a:xfrm>
              <a:off x="1944" y="1764"/>
              <a:ext cx="15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6216" name="Group 33">
              <a:extLst>
                <a:ext uri="{FF2B5EF4-FFF2-40B4-BE49-F238E27FC236}">
                  <a16:creationId xmlns:a16="http://schemas.microsoft.com/office/drawing/2014/main" id="{3EC966F7-0CFE-C2B6-23DA-CA9B0B3FA39C}"/>
                </a:ext>
              </a:extLst>
            </p:cNvPr>
            <p:cNvGrpSpPr>
              <a:grpSpLocks/>
            </p:cNvGrpSpPr>
            <p:nvPr/>
          </p:nvGrpSpPr>
          <p:grpSpPr bwMode="auto">
            <a:xfrm>
              <a:off x="1614" y="1931"/>
              <a:ext cx="218" cy="242"/>
              <a:chOff x="3480" y="6364"/>
              <a:chExt cx="386" cy="404"/>
            </a:xfrm>
          </p:grpSpPr>
          <p:sp>
            <p:nvSpPr>
              <p:cNvPr id="136262" name="Oval 34">
                <a:extLst>
                  <a:ext uri="{FF2B5EF4-FFF2-40B4-BE49-F238E27FC236}">
                    <a16:creationId xmlns:a16="http://schemas.microsoft.com/office/drawing/2014/main" id="{C3242AD7-1B75-21A7-72E8-5BAA7D07A4E8}"/>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63" name="AutoShape 35">
                <a:extLst>
                  <a:ext uri="{FF2B5EF4-FFF2-40B4-BE49-F238E27FC236}">
                    <a16:creationId xmlns:a16="http://schemas.microsoft.com/office/drawing/2014/main" id="{864800E4-C66B-826D-CEF9-828E3B616CB6}"/>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6217" name="Line 36">
              <a:extLst>
                <a:ext uri="{FF2B5EF4-FFF2-40B4-BE49-F238E27FC236}">
                  <a16:creationId xmlns:a16="http://schemas.microsoft.com/office/drawing/2014/main" id="{F7148022-3AFD-ABBD-8927-49E756C3930E}"/>
                </a:ext>
              </a:extLst>
            </p:cNvPr>
            <p:cNvSpPr>
              <a:spLocks noChangeShapeType="1"/>
            </p:cNvSpPr>
            <p:nvPr/>
          </p:nvSpPr>
          <p:spPr bwMode="auto">
            <a:xfrm flipV="1">
              <a:off x="744" y="2060"/>
              <a:ext cx="8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18" name="Line 37">
              <a:extLst>
                <a:ext uri="{FF2B5EF4-FFF2-40B4-BE49-F238E27FC236}">
                  <a16:creationId xmlns:a16="http://schemas.microsoft.com/office/drawing/2014/main" id="{9993C02D-3C26-F5DA-A626-AAB948D477CC}"/>
                </a:ext>
              </a:extLst>
            </p:cNvPr>
            <p:cNvSpPr>
              <a:spLocks noChangeShapeType="1"/>
            </p:cNvSpPr>
            <p:nvPr/>
          </p:nvSpPr>
          <p:spPr bwMode="auto">
            <a:xfrm flipH="1">
              <a:off x="1935" y="1907"/>
              <a:ext cx="0" cy="13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19" name="Line 38">
              <a:extLst>
                <a:ext uri="{FF2B5EF4-FFF2-40B4-BE49-F238E27FC236}">
                  <a16:creationId xmlns:a16="http://schemas.microsoft.com/office/drawing/2014/main" id="{DFC67505-0B0C-A277-0E82-3B3E28581262}"/>
                </a:ext>
              </a:extLst>
            </p:cNvPr>
            <p:cNvSpPr>
              <a:spLocks noChangeShapeType="1"/>
            </p:cNvSpPr>
            <p:nvPr/>
          </p:nvSpPr>
          <p:spPr bwMode="auto">
            <a:xfrm>
              <a:off x="1842" y="2051"/>
              <a:ext cx="9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20" name="Line 39">
              <a:extLst>
                <a:ext uri="{FF2B5EF4-FFF2-40B4-BE49-F238E27FC236}">
                  <a16:creationId xmlns:a16="http://schemas.microsoft.com/office/drawing/2014/main" id="{84DEF268-89D2-1E99-D8CC-B910FD3930B4}"/>
                </a:ext>
              </a:extLst>
            </p:cNvPr>
            <p:cNvSpPr>
              <a:spLocks noChangeShapeType="1"/>
            </p:cNvSpPr>
            <p:nvPr/>
          </p:nvSpPr>
          <p:spPr bwMode="auto">
            <a:xfrm>
              <a:off x="1935" y="1907"/>
              <a:ext cx="17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21" name="Line 40">
              <a:extLst>
                <a:ext uri="{FF2B5EF4-FFF2-40B4-BE49-F238E27FC236}">
                  <a16:creationId xmlns:a16="http://schemas.microsoft.com/office/drawing/2014/main" id="{6A681920-F957-1C62-B2AA-32F765C0DB9E}"/>
                </a:ext>
              </a:extLst>
            </p:cNvPr>
            <p:cNvSpPr>
              <a:spLocks noChangeShapeType="1"/>
            </p:cNvSpPr>
            <p:nvPr/>
          </p:nvSpPr>
          <p:spPr bwMode="auto">
            <a:xfrm>
              <a:off x="2408" y="1821"/>
              <a:ext cx="14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22" name="Line 41">
              <a:extLst>
                <a:ext uri="{FF2B5EF4-FFF2-40B4-BE49-F238E27FC236}">
                  <a16:creationId xmlns:a16="http://schemas.microsoft.com/office/drawing/2014/main" id="{C251DCA1-DCF7-F6E3-F7CE-C4B992343B60}"/>
                </a:ext>
              </a:extLst>
            </p:cNvPr>
            <p:cNvSpPr>
              <a:spLocks noChangeShapeType="1"/>
            </p:cNvSpPr>
            <p:nvPr/>
          </p:nvSpPr>
          <p:spPr bwMode="auto">
            <a:xfrm>
              <a:off x="2781" y="1818"/>
              <a:ext cx="8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23" name="AutoShape 43">
              <a:extLst>
                <a:ext uri="{FF2B5EF4-FFF2-40B4-BE49-F238E27FC236}">
                  <a16:creationId xmlns:a16="http://schemas.microsoft.com/office/drawing/2014/main" id="{9F3A31AC-EBBA-D0AC-2060-F3E31E81EC88}"/>
                </a:ext>
              </a:extLst>
            </p:cNvPr>
            <p:cNvSpPr>
              <a:spLocks noChangeArrowheads="1"/>
            </p:cNvSpPr>
            <p:nvPr/>
          </p:nvSpPr>
          <p:spPr bwMode="auto">
            <a:xfrm>
              <a:off x="3038" y="1906"/>
              <a:ext cx="253" cy="254"/>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24" name="Oval 44">
              <a:extLst>
                <a:ext uri="{FF2B5EF4-FFF2-40B4-BE49-F238E27FC236}">
                  <a16:creationId xmlns:a16="http://schemas.microsoft.com/office/drawing/2014/main" id="{A56C7206-40B9-1E6D-2B0B-06C04873749E}"/>
                </a:ext>
              </a:extLst>
            </p:cNvPr>
            <p:cNvSpPr>
              <a:spLocks noChangeArrowheads="1"/>
            </p:cNvSpPr>
            <p:nvPr/>
          </p:nvSpPr>
          <p:spPr bwMode="auto">
            <a:xfrm>
              <a:off x="3295" y="2002"/>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25" name="Line 45">
              <a:extLst>
                <a:ext uri="{FF2B5EF4-FFF2-40B4-BE49-F238E27FC236}">
                  <a16:creationId xmlns:a16="http://schemas.microsoft.com/office/drawing/2014/main" id="{A3850A93-1E25-5088-02E2-58A2A81EEACB}"/>
                </a:ext>
              </a:extLst>
            </p:cNvPr>
            <p:cNvSpPr>
              <a:spLocks noChangeShapeType="1"/>
            </p:cNvSpPr>
            <p:nvPr/>
          </p:nvSpPr>
          <p:spPr bwMode="auto">
            <a:xfrm flipH="1">
              <a:off x="2863" y="1827"/>
              <a:ext cx="0" cy="1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26" name="Line 46">
              <a:extLst>
                <a:ext uri="{FF2B5EF4-FFF2-40B4-BE49-F238E27FC236}">
                  <a16:creationId xmlns:a16="http://schemas.microsoft.com/office/drawing/2014/main" id="{DD45FB74-A546-F5C0-94F8-3058E9C92F69}"/>
                </a:ext>
              </a:extLst>
            </p:cNvPr>
            <p:cNvSpPr>
              <a:spLocks noChangeShapeType="1"/>
            </p:cNvSpPr>
            <p:nvPr/>
          </p:nvSpPr>
          <p:spPr bwMode="auto">
            <a:xfrm flipH="1">
              <a:off x="2881" y="2124"/>
              <a:ext cx="0" cy="62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27" name="Line 47">
              <a:extLst>
                <a:ext uri="{FF2B5EF4-FFF2-40B4-BE49-F238E27FC236}">
                  <a16:creationId xmlns:a16="http://schemas.microsoft.com/office/drawing/2014/main" id="{1BCFC778-46EF-7536-7215-A87C8A369C9E}"/>
                </a:ext>
              </a:extLst>
            </p:cNvPr>
            <p:cNvSpPr>
              <a:spLocks noChangeShapeType="1"/>
            </p:cNvSpPr>
            <p:nvPr/>
          </p:nvSpPr>
          <p:spPr bwMode="auto">
            <a:xfrm>
              <a:off x="2873" y="1961"/>
              <a:ext cx="15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28" name="Line 48">
              <a:extLst>
                <a:ext uri="{FF2B5EF4-FFF2-40B4-BE49-F238E27FC236}">
                  <a16:creationId xmlns:a16="http://schemas.microsoft.com/office/drawing/2014/main" id="{838ECA1B-9F96-B191-3627-76E353E2384F}"/>
                </a:ext>
              </a:extLst>
            </p:cNvPr>
            <p:cNvSpPr>
              <a:spLocks noChangeShapeType="1"/>
            </p:cNvSpPr>
            <p:nvPr/>
          </p:nvSpPr>
          <p:spPr bwMode="auto">
            <a:xfrm>
              <a:off x="2873" y="2122"/>
              <a:ext cx="15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6229" name="Group 49">
              <a:extLst>
                <a:ext uri="{FF2B5EF4-FFF2-40B4-BE49-F238E27FC236}">
                  <a16:creationId xmlns:a16="http://schemas.microsoft.com/office/drawing/2014/main" id="{BEB40E43-3CC2-8490-D4B8-44CB663478B1}"/>
                </a:ext>
              </a:extLst>
            </p:cNvPr>
            <p:cNvGrpSpPr>
              <a:grpSpLocks/>
            </p:cNvGrpSpPr>
            <p:nvPr/>
          </p:nvGrpSpPr>
          <p:grpSpPr bwMode="auto">
            <a:xfrm>
              <a:off x="4091" y="2119"/>
              <a:ext cx="217" cy="242"/>
              <a:chOff x="3480" y="6364"/>
              <a:chExt cx="386" cy="404"/>
            </a:xfrm>
          </p:grpSpPr>
          <p:sp>
            <p:nvSpPr>
              <p:cNvPr id="136260" name="Oval 50">
                <a:extLst>
                  <a:ext uri="{FF2B5EF4-FFF2-40B4-BE49-F238E27FC236}">
                    <a16:creationId xmlns:a16="http://schemas.microsoft.com/office/drawing/2014/main" id="{652E75D7-4F4F-3B9B-ED50-F2D54BC050D9}"/>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61" name="AutoShape 51">
                <a:extLst>
                  <a:ext uri="{FF2B5EF4-FFF2-40B4-BE49-F238E27FC236}">
                    <a16:creationId xmlns:a16="http://schemas.microsoft.com/office/drawing/2014/main" id="{C8BA8FB0-53A3-E363-A778-FE90DA7070BA}"/>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6230" name="AutoShape 53">
              <a:extLst>
                <a:ext uri="{FF2B5EF4-FFF2-40B4-BE49-F238E27FC236}">
                  <a16:creationId xmlns:a16="http://schemas.microsoft.com/office/drawing/2014/main" id="{4575611D-0612-5058-3C59-1F19E0831BF4}"/>
                </a:ext>
              </a:extLst>
            </p:cNvPr>
            <p:cNvSpPr>
              <a:spLocks noChangeArrowheads="1"/>
            </p:cNvSpPr>
            <p:nvPr/>
          </p:nvSpPr>
          <p:spPr bwMode="auto">
            <a:xfrm>
              <a:off x="3659" y="2119"/>
              <a:ext cx="252" cy="254"/>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31" name="Oval 54">
              <a:extLst>
                <a:ext uri="{FF2B5EF4-FFF2-40B4-BE49-F238E27FC236}">
                  <a16:creationId xmlns:a16="http://schemas.microsoft.com/office/drawing/2014/main" id="{0211F503-7DCA-C2BD-2E50-2D430FFBBB74}"/>
                </a:ext>
              </a:extLst>
            </p:cNvPr>
            <p:cNvSpPr>
              <a:spLocks noChangeArrowheads="1"/>
            </p:cNvSpPr>
            <p:nvPr/>
          </p:nvSpPr>
          <p:spPr bwMode="auto">
            <a:xfrm>
              <a:off x="3916" y="2215"/>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32" name="Line 55">
              <a:extLst>
                <a:ext uri="{FF2B5EF4-FFF2-40B4-BE49-F238E27FC236}">
                  <a16:creationId xmlns:a16="http://schemas.microsoft.com/office/drawing/2014/main" id="{20A6D4A1-9353-9572-5EDC-09E4414DD17E}"/>
                </a:ext>
              </a:extLst>
            </p:cNvPr>
            <p:cNvSpPr>
              <a:spLocks noChangeShapeType="1"/>
            </p:cNvSpPr>
            <p:nvPr/>
          </p:nvSpPr>
          <p:spPr bwMode="auto">
            <a:xfrm flipH="1">
              <a:off x="3485" y="2034"/>
              <a:ext cx="0" cy="14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33" name="Line 56">
              <a:extLst>
                <a:ext uri="{FF2B5EF4-FFF2-40B4-BE49-F238E27FC236}">
                  <a16:creationId xmlns:a16="http://schemas.microsoft.com/office/drawing/2014/main" id="{17B83C8F-864A-E203-D948-6CB5353345FC}"/>
                </a:ext>
              </a:extLst>
            </p:cNvPr>
            <p:cNvSpPr>
              <a:spLocks noChangeShapeType="1"/>
            </p:cNvSpPr>
            <p:nvPr/>
          </p:nvSpPr>
          <p:spPr bwMode="auto">
            <a:xfrm>
              <a:off x="3485" y="2185"/>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34" name="Line 57">
              <a:extLst>
                <a:ext uri="{FF2B5EF4-FFF2-40B4-BE49-F238E27FC236}">
                  <a16:creationId xmlns:a16="http://schemas.microsoft.com/office/drawing/2014/main" id="{447C7D8B-D621-96F0-53ED-5ED841B2F034}"/>
                </a:ext>
              </a:extLst>
            </p:cNvPr>
            <p:cNvSpPr>
              <a:spLocks noChangeShapeType="1"/>
            </p:cNvSpPr>
            <p:nvPr/>
          </p:nvSpPr>
          <p:spPr bwMode="auto">
            <a:xfrm flipH="1">
              <a:off x="3488" y="2327"/>
              <a:ext cx="0" cy="7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35" name="Line 58">
              <a:extLst>
                <a:ext uri="{FF2B5EF4-FFF2-40B4-BE49-F238E27FC236}">
                  <a16:creationId xmlns:a16="http://schemas.microsoft.com/office/drawing/2014/main" id="{B1002AD3-295A-5FE2-062D-41CF249E348F}"/>
                </a:ext>
              </a:extLst>
            </p:cNvPr>
            <p:cNvSpPr>
              <a:spLocks noChangeShapeType="1"/>
            </p:cNvSpPr>
            <p:nvPr/>
          </p:nvSpPr>
          <p:spPr bwMode="auto">
            <a:xfrm>
              <a:off x="3484" y="2329"/>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36" name="Line 59">
              <a:extLst>
                <a:ext uri="{FF2B5EF4-FFF2-40B4-BE49-F238E27FC236}">
                  <a16:creationId xmlns:a16="http://schemas.microsoft.com/office/drawing/2014/main" id="{A286BA04-7B1E-8085-39C6-08D24CA2AEEA}"/>
                </a:ext>
              </a:extLst>
            </p:cNvPr>
            <p:cNvSpPr>
              <a:spLocks noChangeShapeType="1"/>
            </p:cNvSpPr>
            <p:nvPr/>
          </p:nvSpPr>
          <p:spPr bwMode="auto">
            <a:xfrm>
              <a:off x="3973" y="2243"/>
              <a:ext cx="10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37" name="Line 60">
              <a:extLst>
                <a:ext uri="{FF2B5EF4-FFF2-40B4-BE49-F238E27FC236}">
                  <a16:creationId xmlns:a16="http://schemas.microsoft.com/office/drawing/2014/main" id="{6D59B874-0A6F-FDDD-E86A-10582C777700}"/>
                </a:ext>
              </a:extLst>
            </p:cNvPr>
            <p:cNvSpPr>
              <a:spLocks noChangeShapeType="1"/>
            </p:cNvSpPr>
            <p:nvPr/>
          </p:nvSpPr>
          <p:spPr bwMode="auto">
            <a:xfrm>
              <a:off x="3357" y="2041"/>
              <a:ext cx="1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6238" name="Group 61">
              <a:extLst>
                <a:ext uri="{FF2B5EF4-FFF2-40B4-BE49-F238E27FC236}">
                  <a16:creationId xmlns:a16="http://schemas.microsoft.com/office/drawing/2014/main" id="{3614C2A1-B6A2-64CE-1502-9CCB135EC0ED}"/>
                </a:ext>
              </a:extLst>
            </p:cNvPr>
            <p:cNvGrpSpPr>
              <a:grpSpLocks/>
            </p:cNvGrpSpPr>
            <p:nvPr/>
          </p:nvGrpSpPr>
          <p:grpSpPr bwMode="auto">
            <a:xfrm>
              <a:off x="1420" y="2443"/>
              <a:ext cx="217" cy="241"/>
              <a:chOff x="3480" y="6364"/>
              <a:chExt cx="386" cy="404"/>
            </a:xfrm>
          </p:grpSpPr>
          <p:sp>
            <p:nvSpPr>
              <p:cNvPr id="136258" name="Oval 62">
                <a:extLst>
                  <a:ext uri="{FF2B5EF4-FFF2-40B4-BE49-F238E27FC236}">
                    <a16:creationId xmlns:a16="http://schemas.microsoft.com/office/drawing/2014/main" id="{0DA485FF-1E88-A563-ABE8-26942670E552}"/>
                  </a:ext>
                </a:extLst>
              </p:cNvPr>
              <p:cNvSpPr>
                <a:spLocks noChangeArrowheads="1"/>
              </p:cNvSpPr>
              <p:nvPr/>
            </p:nvSpPr>
            <p:spPr bwMode="auto">
              <a:xfrm>
                <a:off x="3741" y="6494"/>
                <a:ext cx="125" cy="125"/>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59" name="AutoShape 63">
                <a:extLst>
                  <a:ext uri="{FF2B5EF4-FFF2-40B4-BE49-F238E27FC236}">
                    <a16:creationId xmlns:a16="http://schemas.microsoft.com/office/drawing/2014/main" id="{9A1D6A08-0DFD-8985-2D46-5300DBE64960}"/>
                  </a:ext>
                </a:extLst>
              </p:cNvPr>
              <p:cNvSpPr>
                <a:spLocks noChangeArrowheads="1"/>
              </p:cNvSpPr>
              <p:nvPr/>
            </p:nvSpPr>
            <p:spPr bwMode="auto">
              <a:xfrm rot="5435204">
                <a:off x="3410" y="643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136239" name="AutoShape 65">
              <a:extLst>
                <a:ext uri="{FF2B5EF4-FFF2-40B4-BE49-F238E27FC236}">
                  <a16:creationId xmlns:a16="http://schemas.microsoft.com/office/drawing/2014/main" id="{B0B2CC0E-9F37-EA90-5D6F-C59D81EC622C}"/>
                </a:ext>
              </a:extLst>
            </p:cNvPr>
            <p:cNvSpPr>
              <a:spLocks noChangeArrowheads="1"/>
            </p:cNvSpPr>
            <p:nvPr/>
          </p:nvSpPr>
          <p:spPr bwMode="auto">
            <a:xfrm>
              <a:off x="971" y="2443"/>
              <a:ext cx="252" cy="254"/>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40" name="Oval 66">
              <a:extLst>
                <a:ext uri="{FF2B5EF4-FFF2-40B4-BE49-F238E27FC236}">
                  <a16:creationId xmlns:a16="http://schemas.microsoft.com/office/drawing/2014/main" id="{36D32587-B190-BDFB-7D8F-DFE44944FE63}"/>
                </a:ext>
              </a:extLst>
            </p:cNvPr>
            <p:cNvSpPr>
              <a:spLocks noChangeArrowheads="1"/>
            </p:cNvSpPr>
            <p:nvPr/>
          </p:nvSpPr>
          <p:spPr bwMode="auto">
            <a:xfrm>
              <a:off x="1228" y="2539"/>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41" name="Line 67">
              <a:extLst>
                <a:ext uri="{FF2B5EF4-FFF2-40B4-BE49-F238E27FC236}">
                  <a16:creationId xmlns:a16="http://schemas.microsoft.com/office/drawing/2014/main" id="{0046FE39-40DC-10F5-CA74-6909F993E9A8}"/>
                </a:ext>
              </a:extLst>
            </p:cNvPr>
            <p:cNvSpPr>
              <a:spLocks noChangeShapeType="1"/>
            </p:cNvSpPr>
            <p:nvPr/>
          </p:nvSpPr>
          <p:spPr bwMode="auto">
            <a:xfrm>
              <a:off x="736" y="2489"/>
              <a:ext cx="2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42" name="Line 68">
              <a:extLst>
                <a:ext uri="{FF2B5EF4-FFF2-40B4-BE49-F238E27FC236}">
                  <a16:creationId xmlns:a16="http://schemas.microsoft.com/office/drawing/2014/main" id="{E916A4F0-C171-AA52-74B3-7359B07F411F}"/>
                </a:ext>
              </a:extLst>
            </p:cNvPr>
            <p:cNvSpPr>
              <a:spLocks noChangeShapeType="1"/>
            </p:cNvSpPr>
            <p:nvPr/>
          </p:nvSpPr>
          <p:spPr bwMode="auto">
            <a:xfrm>
              <a:off x="1285" y="2566"/>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43" name="Line 69">
              <a:extLst>
                <a:ext uri="{FF2B5EF4-FFF2-40B4-BE49-F238E27FC236}">
                  <a16:creationId xmlns:a16="http://schemas.microsoft.com/office/drawing/2014/main" id="{C50AF08F-BB19-D445-6182-23CDB76A730F}"/>
                </a:ext>
              </a:extLst>
            </p:cNvPr>
            <p:cNvSpPr>
              <a:spLocks noChangeShapeType="1"/>
            </p:cNvSpPr>
            <p:nvPr/>
          </p:nvSpPr>
          <p:spPr bwMode="auto">
            <a:xfrm>
              <a:off x="1647" y="2559"/>
              <a:ext cx="14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44" name="AutoShape 71">
              <a:extLst>
                <a:ext uri="{FF2B5EF4-FFF2-40B4-BE49-F238E27FC236}">
                  <a16:creationId xmlns:a16="http://schemas.microsoft.com/office/drawing/2014/main" id="{902DF741-0994-534D-8EA1-1A184B75D56C}"/>
                </a:ext>
              </a:extLst>
            </p:cNvPr>
            <p:cNvSpPr>
              <a:spLocks noChangeArrowheads="1"/>
            </p:cNvSpPr>
            <p:nvPr/>
          </p:nvSpPr>
          <p:spPr bwMode="auto">
            <a:xfrm>
              <a:off x="1966" y="2613"/>
              <a:ext cx="254" cy="254"/>
            </a:xfrm>
            <a:prstGeom prst="flowChartDelay">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45" name="Oval 72">
              <a:extLst>
                <a:ext uri="{FF2B5EF4-FFF2-40B4-BE49-F238E27FC236}">
                  <a16:creationId xmlns:a16="http://schemas.microsoft.com/office/drawing/2014/main" id="{031730A7-57DC-F4FA-BD14-81448BD6152F}"/>
                </a:ext>
              </a:extLst>
            </p:cNvPr>
            <p:cNvSpPr>
              <a:spLocks noChangeArrowheads="1"/>
            </p:cNvSpPr>
            <p:nvPr/>
          </p:nvSpPr>
          <p:spPr bwMode="auto">
            <a:xfrm>
              <a:off x="2224" y="2709"/>
              <a:ext cx="68" cy="68"/>
            </a:xfrm>
            <a:prstGeom prst="ellipse">
              <a:avLst/>
            </a:prstGeom>
            <a:solidFill>
              <a:schemeClr val="accent1"/>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46" name="Line 73">
              <a:extLst>
                <a:ext uri="{FF2B5EF4-FFF2-40B4-BE49-F238E27FC236}">
                  <a16:creationId xmlns:a16="http://schemas.microsoft.com/office/drawing/2014/main" id="{4884C70C-5851-8CC2-F03C-CC473D0B9355}"/>
                </a:ext>
              </a:extLst>
            </p:cNvPr>
            <p:cNvSpPr>
              <a:spLocks noChangeShapeType="1"/>
            </p:cNvSpPr>
            <p:nvPr/>
          </p:nvSpPr>
          <p:spPr bwMode="auto">
            <a:xfrm flipH="1">
              <a:off x="1792" y="2553"/>
              <a:ext cx="0" cy="13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47" name="Line 74">
              <a:extLst>
                <a:ext uri="{FF2B5EF4-FFF2-40B4-BE49-F238E27FC236}">
                  <a16:creationId xmlns:a16="http://schemas.microsoft.com/office/drawing/2014/main" id="{A9240643-463D-CD86-3F73-E40FC5C2BF96}"/>
                </a:ext>
              </a:extLst>
            </p:cNvPr>
            <p:cNvSpPr>
              <a:spLocks noChangeShapeType="1"/>
            </p:cNvSpPr>
            <p:nvPr/>
          </p:nvSpPr>
          <p:spPr bwMode="auto">
            <a:xfrm>
              <a:off x="1800" y="2688"/>
              <a:ext cx="1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48" name="Line 75">
              <a:extLst>
                <a:ext uri="{FF2B5EF4-FFF2-40B4-BE49-F238E27FC236}">
                  <a16:creationId xmlns:a16="http://schemas.microsoft.com/office/drawing/2014/main" id="{52FF879C-BE69-BE8E-8423-9E55EB85656E}"/>
                </a:ext>
              </a:extLst>
            </p:cNvPr>
            <p:cNvSpPr>
              <a:spLocks noChangeShapeType="1"/>
            </p:cNvSpPr>
            <p:nvPr/>
          </p:nvSpPr>
          <p:spPr bwMode="auto">
            <a:xfrm flipV="1">
              <a:off x="754" y="2819"/>
              <a:ext cx="12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49" name="Line 76">
              <a:extLst>
                <a:ext uri="{FF2B5EF4-FFF2-40B4-BE49-F238E27FC236}">
                  <a16:creationId xmlns:a16="http://schemas.microsoft.com/office/drawing/2014/main" id="{3EFEF1C9-1149-85D4-49EE-0427FD5DAAE5}"/>
                </a:ext>
              </a:extLst>
            </p:cNvPr>
            <p:cNvSpPr>
              <a:spLocks noChangeShapeType="1"/>
            </p:cNvSpPr>
            <p:nvPr/>
          </p:nvSpPr>
          <p:spPr bwMode="auto">
            <a:xfrm>
              <a:off x="736" y="2643"/>
              <a:ext cx="2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50" name="Line 77">
              <a:extLst>
                <a:ext uri="{FF2B5EF4-FFF2-40B4-BE49-F238E27FC236}">
                  <a16:creationId xmlns:a16="http://schemas.microsoft.com/office/drawing/2014/main" id="{70C643BF-8A62-FDA0-355A-8C7B367C0C2E}"/>
                </a:ext>
              </a:extLst>
            </p:cNvPr>
            <p:cNvSpPr>
              <a:spLocks noChangeShapeType="1"/>
            </p:cNvSpPr>
            <p:nvPr/>
          </p:nvSpPr>
          <p:spPr bwMode="auto">
            <a:xfrm>
              <a:off x="2282" y="2738"/>
              <a:ext cx="5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51" name="Line 78">
              <a:extLst>
                <a:ext uri="{FF2B5EF4-FFF2-40B4-BE49-F238E27FC236}">
                  <a16:creationId xmlns:a16="http://schemas.microsoft.com/office/drawing/2014/main" id="{E66D66A7-15F6-B51D-21FA-979990952378}"/>
                </a:ext>
              </a:extLst>
            </p:cNvPr>
            <p:cNvSpPr>
              <a:spLocks noChangeShapeType="1"/>
            </p:cNvSpPr>
            <p:nvPr/>
          </p:nvSpPr>
          <p:spPr bwMode="auto">
            <a:xfrm>
              <a:off x="728" y="3079"/>
              <a:ext cx="27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52" name="Line 79">
              <a:extLst>
                <a:ext uri="{FF2B5EF4-FFF2-40B4-BE49-F238E27FC236}">
                  <a16:creationId xmlns:a16="http://schemas.microsoft.com/office/drawing/2014/main" id="{8FC6E5BD-733C-0636-A996-9A299F34C521}"/>
                </a:ext>
              </a:extLst>
            </p:cNvPr>
            <p:cNvSpPr>
              <a:spLocks noChangeShapeType="1"/>
            </p:cNvSpPr>
            <p:nvPr/>
          </p:nvSpPr>
          <p:spPr bwMode="auto">
            <a:xfrm>
              <a:off x="4316" y="2236"/>
              <a:ext cx="8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253" name="Oval 80">
              <a:extLst>
                <a:ext uri="{FF2B5EF4-FFF2-40B4-BE49-F238E27FC236}">
                  <a16:creationId xmlns:a16="http://schemas.microsoft.com/office/drawing/2014/main" id="{8D35C948-4E0A-A009-1679-7FBC158DA33E}"/>
                </a:ext>
              </a:extLst>
            </p:cNvPr>
            <p:cNvSpPr>
              <a:spLocks noChangeArrowheads="1"/>
            </p:cNvSpPr>
            <p:nvPr/>
          </p:nvSpPr>
          <p:spPr bwMode="auto">
            <a:xfrm>
              <a:off x="804" y="1160"/>
              <a:ext cx="507" cy="448"/>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54" name="Oval 81">
              <a:extLst>
                <a:ext uri="{FF2B5EF4-FFF2-40B4-BE49-F238E27FC236}">
                  <a16:creationId xmlns:a16="http://schemas.microsoft.com/office/drawing/2014/main" id="{CC3EEC86-7897-88DE-DF4A-F3B6D1B2A0CA}"/>
                </a:ext>
              </a:extLst>
            </p:cNvPr>
            <p:cNvSpPr>
              <a:spLocks noChangeArrowheads="1"/>
            </p:cNvSpPr>
            <p:nvPr/>
          </p:nvSpPr>
          <p:spPr bwMode="auto">
            <a:xfrm>
              <a:off x="838" y="1662"/>
              <a:ext cx="397" cy="346"/>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55" name="Oval 82">
              <a:extLst>
                <a:ext uri="{FF2B5EF4-FFF2-40B4-BE49-F238E27FC236}">
                  <a16:creationId xmlns:a16="http://schemas.microsoft.com/office/drawing/2014/main" id="{58667A9C-FAC9-B76E-F863-FC4EF5DEB78F}"/>
                </a:ext>
              </a:extLst>
            </p:cNvPr>
            <p:cNvSpPr>
              <a:spLocks noChangeArrowheads="1"/>
            </p:cNvSpPr>
            <p:nvPr/>
          </p:nvSpPr>
          <p:spPr bwMode="auto">
            <a:xfrm>
              <a:off x="1258" y="1393"/>
              <a:ext cx="1566" cy="857"/>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56" name="Oval 83">
              <a:extLst>
                <a:ext uri="{FF2B5EF4-FFF2-40B4-BE49-F238E27FC236}">
                  <a16:creationId xmlns:a16="http://schemas.microsoft.com/office/drawing/2014/main" id="{19EEA4E2-AE18-75E3-D087-530C22AC6AC9}"/>
                </a:ext>
              </a:extLst>
            </p:cNvPr>
            <p:cNvSpPr>
              <a:spLocks noChangeArrowheads="1"/>
            </p:cNvSpPr>
            <p:nvPr/>
          </p:nvSpPr>
          <p:spPr bwMode="auto">
            <a:xfrm>
              <a:off x="760" y="2298"/>
              <a:ext cx="1812" cy="685"/>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36257" name="Oval 84">
              <a:extLst>
                <a:ext uri="{FF2B5EF4-FFF2-40B4-BE49-F238E27FC236}">
                  <a16:creationId xmlns:a16="http://schemas.microsoft.com/office/drawing/2014/main" id="{A920AB9F-6A5F-4E21-A14D-A7A9225FB1F9}"/>
                </a:ext>
              </a:extLst>
            </p:cNvPr>
            <p:cNvSpPr>
              <a:spLocks noChangeArrowheads="1"/>
            </p:cNvSpPr>
            <p:nvPr/>
          </p:nvSpPr>
          <p:spPr bwMode="auto">
            <a:xfrm>
              <a:off x="2897" y="1698"/>
              <a:ext cx="1567" cy="857"/>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4">
            <a:extLst>
              <a:ext uri="{FF2B5EF4-FFF2-40B4-BE49-F238E27FC236}">
                <a16:creationId xmlns:a16="http://schemas.microsoft.com/office/drawing/2014/main" id="{7787EEE6-0335-1DDF-77F3-D8A7B539F9F2}"/>
              </a:ext>
            </a:extLst>
          </p:cNvPr>
          <p:cNvSpPr>
            <a:spLocks noGrp="1" noChangeArrowheads="1"/>
          </p:cNvSpPr>
          <p:nvPr>
            <p:ph type="title"/>
          </p:nvPr>
        </p:nvSpPr>
        <p:spPr/>
        <p:txBody>
          <a:bodyPr/>
          <a:lstStyle/>
          <a:p>
            <a:r>
              <a:rPr lang="ru-RU" altLang="en-US"/>
              <a:t>Sequential Mapping and Optimization</a:t>
            </a:r>
          </a:p>
        </p:txBody>
      </p:sp>
      <p:sp>
        <p:nvSpPr>
          <p:cNvPr id="137219" name="Content Placeholder 38">
            <a:extLst>
              <a:ext uri="{FF2B5EF4-FFF2-40B4-BE49-F238E27FC236}">
                <a16:creationId xmlns:a16="http://schemas.microsoft.com/office/drawing/2014/main" id="{0DD85FC9-B2C0-8C3B-C9CA-8A4F49D2DF5E}"/>
              </a:ext>
            </a:extLst>
          </p:cNvPr>
          <p:cNvSpPr>
            <a:spLocks noGrp="1" noChangeArrowheads="1"/>
          </p:cNvSpPr>
          <p:nvPr>
            <p:ph type="body" sz="quarter" idx="10"/>
          </p:nvPr>
        </p:nvSpPr>
        <p:spPr/>
        <p:txBody>
          <a:bodyPr/>
          <a:lstStyle/>
          <a:p>
            <a:r>
              <a:rPr lang="ru-RU" altLang="en-US"/>
              <a:t>The process by which DC maps to sequential cells</a:t>
            </a:r>
            <a:r>
              <a:rPr lang="en-US" altLang="en-US"/>
              <a:t> </a:t>
            </a:r>
            <a:r>
              <a:rPr lang="ru-RU" altLang="en-US"/>
              <a:t>from the technology library:</a:t>
            </a:r>
          </a:p>
          <a:p>
            <a:r>
              <a:rPr lang="ru-RU" altLang="en-US"/>
              <a:t> Tries to save speed and area by using more complex</a:t>
            </a:r>
            <a:r>
              <a:rPr lang="en-US" altLang="en-US"/>
              <a:t> </a:t>
            </a:r>
            <a:r>
              <a:rPr lang="ru-RU" altLang="en-US"/>
              <a:t>sequential cells (optimization)</a:t>
            </a:r>
            <a:r>
              <a:rPr lang="en-US" altLang="en-US"/>
              <a:t>.</a:t>
            </a:r>
            <a:endParaRPr lang="ru-RU" altLang="en-US"/>
          </a:p>
          <a:p>
            <a:endParaRPr lang="ru-RU" altLang="en-US"/>
          </a:p>
        </p:txBody>
      </p:sp>
      <p:grpSp>
        <p:nvGrpSpPr>
          <p:cNvPr id="137220" name="Group 36">
            <a:extLst>
              <a:ext uri="{FF2B5EF4-FFF2-40B4-BE49-F238E27FC236}">
                <a16:creationId xmlns:a16="http://schemas.microsoft.com/office/drawing/2014/main" id="{CC10F86F-E232-73CA-937C-397EE2E37763}"/>
              </a:ext>
            </a:extLst>
          </p:cNvPr>
          <p:cNvGrpSpPr>
            <a:grpSpLocks/>
          </p:cNvGrpSpPr>
          <p:nvPr/>
        </p:nvGrpSpPr>
        <p:grpSpPr bwMode="auto">
          <a:xfrm>
            <a:off x="2276475" y="3367089"/>
            <a:ext cx="3697288" cy="2116137"/>
            <a:chOff x="762000" y="3048000"/>
            <a:chExt cx="3851275" cy="2286000"/>
          </a:xfrm>
        </p:grpSpPr>
        <p:sp>
          <p:nvSpPr>
            <p:cNvPr id="137233" name="AutoShape 7">
              <a:extLst>
                <a:ext uri="{FF2B5EF4-FFF2-40B4-BE49-F238E27FC236}">
                  <a16:creationId xmlns:a16="http://schemas.microsoft.com/office/drawing/2014/main" id="{175D80E4-7A60-6E12-9196-0C496F7FEC00}"/>
                </a:ext>
              </a:extLst>
            </p:cNvPr>
            <p:cNvSpPr>
              <a:spLocks noChangeArrowheads="1"/>
            </p:cNvSpPr>
            <p:nvPr/>
          </p:nvSpPr>
          <p:spPr bwMode="auto">
            <a:xfrm rot="-5400000">
              <a:off x="1933575" y="3794126"/>
              <a:ext cx="1025525" cy="32385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14 w 21600"/>
                <a:gd name="T13" fmla="*/ 4469 h 21600"/>
                <a:gd name="T14" fmla="*/ 17086 w 21600"/>
                <a:gd name="T15" fmla="*/ 1713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137234" name="Text Box 8">
              <a:extLst>
                <a:ext uri="{FF2B5EF4-FFF2-40B4-BE49-F238E27FC236}">
                  <a16:creationId xmlns:a16="http://schemas.microsoft.com/office/drawing/2014/main" id="{79E80C82-1C57-4A3D-1706-311B806C8623}"/>
                </a:ext>
              </a:extLst>
            </p:cNvPr>
            <p:cNvSpPr txBox="1">
              <a:spLocks noChangeArrowheads="1"/>
            </p:cNvSpPr>
            <p:nvPr/>
          </p:nvSpPr>
          <p:spPr bwMode="auto">
            <a:xfrm>
              <a:off x="2270125" y="4029075"/>
              <a:ext cx="49053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600"/>
                <a:t>1</a:t>
              </a:r>
              <a:endParaRPr lang="ru-RU" altLang="en-US" sz="1600"/>
            </a:p>
          </p:txBody>
        </p:sp>
        <p:sp>
          <p:nvSpPr>
            <p:cNvPr id="137235" name="Text Box 9">
              <a:extLst>
                <a:ext uri="{FF2B5EF4-FFF2-40B4-BE49-F238E27FC236}">
                  <a16:creationId xmlns:a16="http://schemas.microsoft.com/office/drawing/2014/main" id="{B77F0593-00E5-41EE-C194-04D0FD10FECC}"/>
                </a:ext>
              </a:extLst>
            </p:cNvPr>
            <p:cNvSpPr txBox="1">
              <a:spLocks noChangeArrowheads="1"/>
            </p:cNvSpPr>
            <p:nvPr/>
          </p:nvSpPr>
          <p:spPr bwMode="auto">
            <a:xfrm>
              <a:off x="2257425" y="3575050"/>
              <a:ext cx="49053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GB" altLang="en-US" sz="1600"/>
                <a:t>0</a:t>
              </a:r>
              <a:endParaRPr lang="ru-RU" altLang="en-US" sz="1600"/>
            </a:p>
          </p:txBody>
        </p:sp>
        <p:sp>
          <p:nvSpPr>
            <p:cNvPr id="137236" name="Line 10">
              <a:extLst>
                <a:ext uri="{FF2B5EF4-FFF2-40B4-BE49-F238E27FC236}">
                  <a16:creationId xmlns:a16="http://schemas.microsoft.com/office/drawing/2014/main" id="{F14E14A4-7C7E-008E-162D-D711E3785A0B}"/>
                </a:ext>
              </a:extLst>
            </p:cNvPr>
            <p:cNvSpPr>
              <a:spLocks noChangeShapeType="1"/>
            </p:cNvSpPr>
            <p:nvPr/>
          </p:nvSpPr>
          <p:spPr bwMode="auto">
            <a:xfrm>
              <a:off x="1974850" y="3695700"/>
              <a:ext cx="3095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7" name="Line 11">
              <a:extLst>
                <a:ext uri="{FF2B5EF4-FFF2-40B4-BE49-F238E27FC236}">
                  <a16:creationId xmlns:a16="http://schemas.microsoft.com/office/drawing/2014/main" id="{85C5CDAA-7569-A38D-F603-556841ED4969}"/>
                </a:ext>
              </a:extLst>
            </p:cNvPr>
            <p:cNvSpPr>
              <a:spLocks noChangeShapeType="1"/>
            </p:cNvSpPr>
            <p:nvPr/>
          </p:nvSpPr>
          <p:spPr bwMode="auto">
            <a:xfrm>
              <a:off x="2606675" y="3954463"/>
              <a:ext cx="5159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8" name="Text Box 12">
              <a:extLst>
                <a:ext uri="{FF2B5EF4-FFF2-40B4-BE49-F238E27FC236}">
                  <a16:creationId xmlns:a16="http://schemas.microsoft.com/office/drawing/2014/main" id="{590A5014-D435-D884-AF01-617B01EC3977}"/>
                </a:ext>
              </a:extLst>
            </p:cNvPr>
            <p:cNvSpPr txBox="1">
              <a:spLocks noChangeArrowheads="1"/>
            </p:cNvSpPr>
            <p:nvPr/>
          </p:nvSpPr>
          <p:spPr bwMode="auto">
            <a:xfrm>
              <a:off x="3133725" y="3632200"/>
              <a:ext cx="708025" cy="1141413"/>
            </a:xfrm>
            <a:prstGeom prst="rect">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D                 </a:t>
              </a:r>
            </a:p>
            <a:p>
              <a:pPr eaLnBrk="1" hangingPunct="1"/>
              <a:endParaRPr lang="ru-RU" altLang="en-US" sz="1600"/>
            </a:p>
            <a:p>
              <a:pPr eaLnBrk="1" hangingPunct="1"/>
              <a:endParaRPr lang="ru-RU" altLang="en-US" sz="1600"/>
            </a:p>
            <a:p>
              <a:pPr eaLnBrk="1" hangingPunct="1"/>
              <a:r>
                <a:rPr lang="en-US" altLang="en-US" sz="1600"/>
                <a:t>  </a:t>
              </a:r>
              <a:r>
                <a:rPr lang="ru-RU" altLang="en-US" sz="1600"/>
                <a:t>C</a:t>
              </a:r>
            </a:p>
          </p:txBody>
        </p:sp>
        <p:sp>
          <p:nvSpPr>
            <p:cNvPr id="137239" name="Freeform 13">
              <a:extLst>
                <a:ext uri="{FF2B5EF4-FFF2-40B4-BE49-F238E27FC236}">
                  <a16:creationId xmlns:a16="http://schemas.microsoft.com/office/drawing/2014/main" id="{DE6FC51B-E278-9268-7FAF-A41778558DE6}"/>
                </a:ext>
              </a:extLst>
            </p:cNvPr>
            <p:cNvSpPr>
              <a:spLocks/>
            </p:cNvSpPr>
            <p:nvPr/>
          </p:nvSpPr>
          <p:spPr bwMode="auto">
            <a:xfrm>
              <a:off x="3133725" y="4437063"/>
              <a:ext cx="147638" cy="166687"/>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240" name="Line 14">
              <a:extLst>
                <a:ext uri="{FF2B5EF4-FFF2-40B4-BE49-F238E27FC236}">
                  <a16:creationId xmlns:a16="http://schemas.microsoft.com/office/drawing/2014/main" id="{5A533457-D344-C1CB-9165-72B1E2902600}"/>
                </a:ext>
              </a:extLst>
            </p:cNvPr>
            <p:cNvSpPr>
              <a:spLocks noChangeShapeType="1"/>
            </p:cNvSpPr>
            <p:nvPr/>
          </p:nvSpPr>
          <p:spPr bwMode="auto">
            <a:xfrm>
              <a:off x="3846513" y="3954463"/>
              <a:ext cx="7667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1" name="Line 15">
              <a:extLst>
                <a:ext uri="{FF2B5EF4-FFF2-40B4-BE49-F238E27FC236}">
                  <a16:creationId xmlns:a16="http://schemas.microsoft.com/office/drawing/2014/main" id="{3005E4AE-66C6-1C54-067D-E47CF90767B4}"/>
                </a:ext>
              </a:extLst>
            </p:cNvPr>
            <p:cNvSpPr>
              <a:spLocks noChangeShapeType="1"/>
            </p:cNvSpPr>
            <p:nvPr/>
          </p:nvSpPr>
          <p:spPr bwMode="auto">
            <a:xfrm flipV="1">
              <a:off x="1974850" y="3062288"/>
              <a:ext cx="0" cy="6334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2" name="Line 16">
              <a:extLst>
                <a:ext uri="{FF2B5EF4-FFF2-40B4-BE49-F238E27FC236}">
                  <a16:creationId xmlns:a16="http://schemas.microsoft.com/office/drawing/2014/main" id="{98DC3215-59C4-00F0-F3A0-7FEE1857D7BC}"/>
                </a:ext>
              </a:extLst>
            </p:cNvPr>
            <p:cNvSpPr>
              <a:spLocks noChangeShapeType="1"/>
            </p:cNvSpPr>
            <p:nvPr/>
          </p:nvSpPr>
          <p:spPr bwMode="auto">
            <a:xfrm>
              <a:off x="1974850" y="3048000"/>
              <a:ext cx="21955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3" name="Line 17">
              <a:extLst>
                <a:ext uri="{FF2B5EF4-FFF2-40B4-BE49-F238E27FC236}">
                  <a16:creationId xmlns:a16="http://schemas.microsoft.com/office/drawing/2014/main" id="{47DE4272-B93A-D951-4B2E-F8FF641EB0FA}"/>
                </a:ext>
              </a:extLst>
            </p:cNvPr>
            <p:cNvSpPr>
              <a:spLocks noChangeShapeType="1"/>
            </p:cNvSpPr>
            <p:nvPr/>
          </p:nvSpPr>
          <p:spPr bwMode="auto">
            <a:xfrm>
              <a:off x="4168775" y="3048000"/>
              <a:ext cx="0" cy="906463"/>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7244" name="Line 18">
              <a:extLst>
                <a:ext uri="{FF2B5EF4-FFF2-40B4-BE49-F238E27FC236}">
                  <a16:creationId xmlns:a16="http://schemas.microsoft.com/office/drawing/2014/main" id="{C29A62FB-A409-B0C3-1301-772FDBB74716}"/>
                </a:ext>
              </a:extLst>
            </p:cNvPr>
            <p:cNvSpPr>
              <a:spLocks noChangeShapeType="1"/>
            </p:cNvSpPr>
            <p:nvPr/>
          </p:nvSpPr>
          <p:spPr bwMode="auto">
            <a:xfrm>
              <a:off x="2814638" y="4527550"/>
              <a:ext cx="3016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5" name="Line 19">
              <a:extLst>
                <a:ext uri="{FF2B5EF4-FFF2-40B4-BE49-F238E27FC236}">
                  <a16:creationId xmlns:a16="http://schemas.microsoft.com/office/drawing/2014/main" id="{F1DD33BE-0653-85F1-7847-1310F9D213C1}"/>
                </a:ext>
              </a:extLst>
            </p:cNvPr>
            <p:cNvSpPr>
              <a:spLocks noChangeShapeType="1"/>
            </p:cNvSpPr>
            <p:nvPr/>
          </p:nvSpPr>
          <p:spPr bwMode="auto">
            <a:xfrm flipV="1">
              <a:off x="1701800" y="5091113"/>
              <a:ext cx="11414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6" name="Line 20">
              <a:extLst>
                <a:ext uri="{FF2B5EF4-FFF2-40B4-BE49-F238E27FC236}">
                  <a16:creationId xmlns:a16="http://schemas.microsoft.com/office/drawing/2014/main" id="{AACE09D1-7968-C016-55AF-AE3BF6C14C5A}"/>
                </a:ext>
              </a:extLst>
            </p:cNvPr>
            <p:cNvSpPr>
              <a:spLocks noChangeShapeType="1"/>
            </p:cNvSpPr>
            <p:nvPr/>
          </p:nvSpPr>
          <p:spPr bwMode="auto">
            <a:xfrm>
              <a:off x="2827338" y="4529138"/>
              <a:ext cx="0" cy="5603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7" name="Line 21">
              <a:extLst>
                <a:ext uri="{FF2B5EF4-FFF2-40B4-BE49-F238E27FC236}">
                  <a16:creationId xmlns:a16="http://schemas.microsoft.com/office/drawing/2014/main" id="{D1CA7DAB-6AC1-2372-1396-14F0CA8AF98A}"/>
                </a:ext>
              </a:extLst>
            </p:cNvPr>
            <p:cNvSpPr>
              <a:spLocks noChangeShapeType="1"/>
            </p:cNvSpPr>
            <p:nvPr/>
          </p:nvSpPr>
          <p:spPr bwMode="auto">
            <a:xfrm>
              <a:off x="2451100" y="4324350"/>
              <a:ext cx="0" cy="3968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8" name="Line 22">
              <a:extLst>
                <a:ext uri="{FF2B5EF4-FFF2-40B4-BE49-F238E27FC236}">
                  <a16:creationId xmlns:a16="http://schemas.microsoft.com/office/drawing/2014/main" id="{4D6130F0-25BA-70C7-7EA7-B4C298AD8EBA}"/>
                </a:ext>
              </a:extLst>
            </p:cNvPr>
            <p:cNvSpPr>
              <a:spLocks noChangeShapeType="1"/>
            </p:cNvSpPr>
            <p:nvPr/>
          </p:nvSpPr>
          <p:spPr bwMode="auto">
            <a:xfrm>
              <a:off x="1647825" y="4716463"/>
              <a:ext cx="7921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9" name="Line 23">
              <a:extLst>
                <a:ext uri="{FF2B5EF4-FFF2-40B4-BE49-F238E27FC236}">
                  <a16:creationId xmlns:a16="http://schemas.microsoft.com/office/drawing/2014/main" id="{ACC6B14B-FC58-7694-A504-8495FC52861D}"/>
                </a:ext>
              </a:extLst>
            </p:cNvPr>
            <p:cNvSpPr>
              <a:spLocks noChangeShapeType="1"/>
            </p:cNvSpPr>
            <p:nvPr/>
          </p:nvSpPr>
          <p:spPr bwMode="auto">
            <a:xfrm>
              <a:off x="1636713" y="4168775"/>
              <a:ext cx="6254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50" name="Text Box 24">
              <a:extLst>
                <a:ext uri="{FF2B5EF4-FFF2-40B4-BE49-F238E27FC236}">
                  <a16:creationId xmlns:a16="http://schemas.microsoft.com/office/drawing/2014/main" id="{FF6E2301-EEBB-462D-BFBE-EF4E72861113}"/>
                </a:ext>
              </a:extLst>
            </p:cNvPr>
            <p:cNvSpPr txBox="1">
              <a:spLocks noChangeArrowheads="1"/>
            </p:cNvSpPr>
            <p:nvPr/>
          </p:nvSpPr>
          <p:spPr bwMode="auto">
            <a:xfrm>
              <a:off x="1003300" y="3954463"/>
              <a:ext cx="685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data</a:t>
              </a:r>
            </a:p>
          </p:txBody>
        </p:sp>
        <p:sp>
          <p:nvSpPr>
            <p:cNvPr id="137251" name="Text Box 25">
              <a:extLst>
                <a:ext uri="{FF2B5EF4-FFF2-40B4-BE49-F238E27FC236}">
                  <a16:creationId xmlns:a16="http://schemas.microsoft.com/office/drawing/2014/main" id="{71D15B73-438E-BA28-B1C7-791A836EF1C9}"/>
                </a:ext>
              </a:extLst>
            </p:cNvPr>
            <p:cNvSpPr txBox="1">
              <a:spLocks noChangeArrowheads="1"/>
            </p:cNvSpPr>
            <p:nvPr/>
          </p:nvSpPr>
          <p:spPr bwMode="auto">
            <a:xfrm>
              <a:off x="762000" y="4500563"/>
              <a:ext cx="9652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enable</a:t>
              </a:r>
            </a:p>
          </p:txBody>
        </p:sp>
        <p:sp>
          <p:nvSpPr>
            <p:cNvPr id="137252" name="Text Box 26">
              <a:extLst>
                <a:ext uri="{FF2B5EF4-FFF2-40B4-BE49-F238E27FC236}">
                  <a16:creationId xmlns:a16="http://schemas.microsoft.com/office/drawing/2014/main" id="{275B7DF5-A43B-D124-A70B-5E4AA0A9ADE1}"/>
                </a:ext>
              </a:extLst>
            </p:cNvPr>
            <p:cNvSpPr txBox="1">
              <a:spLocks noChangeArrowheads="1"/>
            </p:cNvSpPr>
            <p:nvPr/>
          </p:nvSpPr>
          <p:spPr bwMode="auto">
            <a:xfrm>
              <a:off x="1042988" y="4887913"/>
              <a:ext cx="814387"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clk</a:t>
              </a:r>
            </a:p>
          </p:txBody>
        </p:sp>
      </p:grpSp>
      <p:grpSp>
        <p:nvGrpSpPr>
          <p:cNvPr id="137221" name="Group 37">
            <a:extLst>
              <a:ext uri="{FF2B5EF4-FFF2-40B4-BE49-F238E27FC236}">
                <a16:creationId xmlns:a16="http://schemas.microsoft.com/office/drawing/2014/main" id="{20740DE7-766A-1927-5DD7-78239F4F1BC1}"/>
              </a:ext>
            </a:extLst>
          </p:cNvPr>
          <p:cNvGrpSpPr>
            <a:grpSpLocks/>
          </p:cNvGrpSpPr>
          <p:nvPr/>
        </p:nvGrpSpPr>
        <p:grpSpPr bwMode="auto">
          <a:xfrm>
            <a:off x="7432675" y="3727450"/>
            <a:ext cx="1824038" cy="1195388"/>
            <a:chOff x="5873750" y="3632200"/>
            <a:chExt cx="1822450" cy="1195388"/>
          </a:xfrm>
        </p:grpSpPr>
        <p:sp>
          <p:nvSpPr>
            <p:cNvPr id="137223" name="Text Box 27">
              <a:extLst>
                <a:ext uri="{FF2B5EF4-FFF2-40B4-BE49-F238E27FC236}">
                  <a16:creationId xmlns:a16="http://schemas.microsoft.com/office/drawing/2014/main" id="{7DBDB334-338C-D2EA-7CD1-8E16646E1B68}"/>
                </a:ext>
              </a:extLst>
            </p:cNvPr>
            <p:cNvSpPr txBox="1">
              <a:spLocks noChangeArrowheads="1"/>
            </p:cNvSpPr>
            <p:nvPr/>
          </p:nvSpPr>
          <p:spPr bwMode="auto">
            <a:xfrm>
              <a:off x="6632575" y="3632200"/>
              <a:ext cx="758825" cy="1195388"/>
            </a:xfrm>
            <a:prstGeom prst="rect">
              <a:avLst/>
            </a:prstGeom>
            <a:solidFill>
              <a:schemeClr val="accent1"/>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                </a:t>
              </a:r>
            </a:p>
            <a:p>
              <a:pPr eaLnBrk="1" hangingPunct="1"/>
              <a:endParaRPr lang="ru-RU" altLang="en-US" sz="1600"/>
            </a:p>
            <a:p>
              <a:pPr eaLnBrk="1" hangingPunct="1"/>
              <a:endParaRPr lang="ru-RU" altLang="en-US" sz="1600"/>
            </a:p>
            <a:p>
              <a:pPr eaLnBrk="1" hangingPunct="1"/>
              <a:r>
                <a:rPr lang="ru-RU" altLang="en-US" sz="1600"/>
                <a:t> </a:t>
              </a:r>
            </a:p>
            <a:p>
              <a:pPr eaLnBrk="1" hangingPunct="1"/>
              <a:endParaRPr lang="ru-RU" altLang="en-US" sz="1600"/>
            </a:p>
            <a:p>
              <a:pPr eaLnBrk="1" hangingPunct="1"/>
              <a:endParaRPr lang="ru-RU" altLang="en-US" sz="1600"/>
            </a:p>
          </p:txBody>
        </p:sp>
        <p:sp>
          <p:nvSpPr>
            <p:cNvPr id="137224" name="Freeform 28">
              <a:extLst>
                <a:ext uri="{FF2B5EF4-FFF2-40B4-BE49-F238E27FC236}">
                  <a16:creationId xmlns:a16="http://schemas.microsoft.com/office/drawing/2014/main" id="{A12FDFAD-C0DB-BFA3-518D-151B50B48FEF}"/>
                </a:ext>
              </a:extLst>
            </p:cNvPr>
            <p:cNvSpPr>
              <a:spLocks/>
            </p:cNvSpPr>
            <p:nvPr/>
          </p:nvSpPr>
          <p:spPr bwMode="auto">
            <a:xfrm>
              <a:off x="6632575" y="4437063"/>
              <a:ext cx="150813" cy="166687"/>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7225" name="Line 29">
              <a:extLst>
                <a:ext uri="{FF2B5EF4-FFF2-40B4-BE49-F238E27FC236}">
                  <a16:creationId xmlns:a16="http://schemas.microsoft.com/office/drawing/2014/main" id="{22EEC6F8-35FC-B8C9-8876-B1E2EBD8D5B2}"/>
                </a:ext>
              </a:extLst>
            </p:cNvPr>
            <p:cNvSpPr>
              <a:spLocks noChangeShapeType="1"/>
            </p:cNvSpPr>
            <p:nvPr/>
          </p:nvSpPr>
          <p:spPr bwMode="auto">
            <a:xfrm>
              <a:off x="6315075" y="3852863"/>
              <a:ext cx="3095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6" name="Line 30">
              <a:extLst>
                <a:ext uri="{FF2B5EF4-FFF2-40B4-BE49-F238E27FC236}">
                  <a16:creationId xmlns:a16="http://schemas.microsoft.com/office/drawing/2014/main" id="{92FF44D9-E9FD-BF8E-0034-9A92D86CD474}"/>
                </a:ext>
              </a:extLst>
            </p:cNvPr>
            <p:cNvSpPr>
              <a:spLocks noChangeShapeType="1"/>
            </p:cNvSpPr>
            <p:nvPr/>
          </p:nvSpPr>
          <p:spPr bwMode="auto">
            <a:xfrm>
              <a:off x="6326188" y="4111625"/>
              <a:ext cx="311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7" name="Line 31">
              <a:extLst>
                <a:ext uri="{FF2B5EF4-FFF2-40B4-BE49-F238E27FC236}">
                  <a16:creationId xmlns:a16="http://schemas.microsoft.com/office/drawing/2014/main" id="{7EF7FFF7-DC0A-42FA-42B2-EB6BBC17AE7C}"/>
                </a:ext>
              </a:extLst>
            </p:cNvPr>
            <p:cNvSpPr>
              <a:spLocks noChangeShapeType="1"/>
            </p:cNvSpPr>
            <p:nvPr/>
          </p:nvSpPr>
          <p:spPr bwMode="auto">
            <a:xfrm>
              <a:off x="6300788" y="4514850"/>
              <a:ext cx="3095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8" name="Line 32">
              <a:extLst>
                <a:ext uri="{FF2B5EF4-FFF2-40B4-BE49-F238E27FC236}">
                  <a16:creationId xmlns:a16="http://schemas.microsoft.com/office/drawing/2014/main" id="{0567AE16-C205-CD99-3ABB-B09F1DB20D71}"/>
                </a:ext>
              </a:extLst>
            </p:cNvPr>
            <p:cNvSpPr>
              <a:spLocks noChangeShapeType="1"/>
            </p:cNvSpPr>
            <p:nvPr/>
          </p:nvSpPr>
          <p:spPr bwMode="auto">
            <a:xfrm>
              <a:off x="7386638" y="3968750"/>
              <a:ext cx="3095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9" name="Text Box 33">
              <a:extLst>
                <a:ext uri="{FF2B5EF4-FFF2-40B4-BE49-F238E27FC236}">
                  <a16:creationId xmlns:a16="http://schemas.microsoft.com/office/drawing/2014/main" id="{FA97CE79-B931-4BD1-C92F-F80C35343D2E}"/>
                </a:ext>
              </a:extLst>
            </p:cNvPr>
            <p:cNvSpPr txBox="1">
              <a:spLocks noChangeArrowheads="1"/>
            </p:cNvSpPr>
            <p:nvPr/>
          </p:nvSpPr>
          <p:spPr bwMode="auto">
            <a:xfrm>
              <a:off x="5873750" y="4351338"/>
              <a:ext cx="6286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clk</a:t>
              </a:r>
            </a:p>
          </p:txBody>
        </p:sp>
        <p:sp>
          <p:nvSpPr>
            <p:cNvPr id="137230" name="Text Box 34">
              <a:extLst>
                <a:ext uri="{FF2B5EF4-FFF2-40B4-BE49-F238E27FC236}">
                  <a16:creationId xmlns:a16="http://schemas.microsoft.com/office/drawing/2014/main" id="{05F66AB6-132B-54D5-690C-0A46FD4F8092}"/>
                </a:ext>
              </a:extLst>
            </p:cNvPr>
            <p:cNvSpPr txBox="1">
              <a:spLocks noChangeArrowheads="1"/>
            </p:cNvSpPr>
            <p:nvPr/>
          </p:nvSpPr>
          <p:spPr bwMode="auto">
            <a:xfrm>
              <a:off x="5926138" y="3665538"/>
              <a:ext cx="814387"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D</a:t>
              </a:r>
            </a:p>
          </p:txBody>
        </p:sp>
        <p:sp>
          <p:nvSpPr>
            <p:cNvPr id="137231" name="Text Box 35">
              <a:extLst>
                <a:ext uri="{FF2B5EF4-FFF2-40B4-BE49-F238E27FC236}">
                  <a16:creationId xmlns:a16="http://schemas.microsoft.com/office/drawing/2014/main" id="{E6E83529-CF7B-D43F-E126-4470FA74AAE6}"/>
                </a:ext>
              </a:extLst>
            </p:cNvPr>
            <p:cNvSpPr txBox="1">
              <a:spLocks noChangeArrowheads="1"/>
            </p:cNvSpPr>
            <p:nvPr/>
          </p:nvSpPr>
          <p:spPr bwMode="auto">
            <a:xfrm>
              <a:off x="5913438" y="3954463"/>
              <a:ext cx="814387"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En</a:t>
              </a:r>
            </a:p>
          </p:txBody>
        </p:sp>
        <p:sp>
          <p:nvSpPr>
            <p:cNvPr id="137232" name="Text Box 36">
              <a:extLst>
                <a:ext uri="{FF2B5EF4-FFF2-40B4-BE49-F238E27FC236}">
                  <a16:creationId xmlns:a16="http://schemas.microsoft.com/office/drawing/2014/main" id="{F36943E8-9098-37FD-BDB9-CB1F92AA007A}"/>
                </a:ext>
              </a:extLst>
            </p:cNvPr>
            <p:cNvSpPr txBox="1">
              <a:spLocks noChangeArrowheads="1"/>
            </p:cNvSpPr>
            <p:nvPr/>
          </p:nvSpPr>
          <p:spPr bwMode="auto">
            <a:xfrm>
              <a:off x="6662738" y="3940175"/>
              <a:ext cx="814387"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600"/>
                <a:t>DFF_</a:t>
              </a:r>
              <a:br>
                <a:rPr lang="ru-RU" altLang="en-US" sz="1600"/>
              </a:br>
              <a:r>
                <a:rPr lang="ru-RU" altLang="en-US" sz="1600"/>
                <a:t>ENBL</a:t>
              </a:r>
            </a:p>
          </p:txBody>
        </p:sp>
      </p:grpSp>
      <p:sp>
        <p:nvSpPr>
          <p:cNvPr id="137222" name="AutoShape 37">
            <a:extLst>
              <a:ext uri="{FF2B5EF4-FFF2-40B4-BE49-F238E27FC236}">
                <a16:creationId xmlns:a16="http://schemas.microsoft.com/office/drawing/2014/main" id="{CB60A3BD-CEA6-7C5E-440F-A6E69377FD05}"/>
              </a:ext>
            </a:extLst>
          </p:cNvPr>
          <p:cNvSpPr>
            <a:spLocks noChangeArrowheads="1"/>
          </p:cNvSpPr>
          <p:nvPr/>
        </p:nvSpPr>
        <p:spPr bwMode="auto">
          <a:xfrm>
            <a:off x="6430964" y="4140201"/>
            <a:ext cx="492125" cy="136525"/>
          </a:xfrm>
          <a:prstGeom prst="rightArrow">
            <a:avLst>
              <a:gd name="adj1" fmla="val 50000"/>
              <a:gd name="adj2" fmla="val 90116"/>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3267260B-01A2-223A-0560-1D9585E9586F}"/>
              </a:ext>
            </a:extLst>
          </p:cNvPr>
          <p:cNvSpPr>
            <a:spLocks noGrp="1" noChangeArrowheads="1"/>
          </p:cNvSpPr>
          <p:nvPr>
            <p:ph type="title"/>
          </p:nvPr>
        </p:nvSpPr>
        <p:spPr/>
        <p:txBody>
          <a:bodyPr/>
          <a:lstStyle/>
          <a:p>
            <a:r>
              <a:rPr lang="en-US" altLang="en-US"/>
              <a:t>Synthesis Flow</a:t>
            </a:r>
            <a:endParaRPr lang="ru-RU" altLang="en-US"/>
          </a:p>
        </p:txBody>
      </p:sp>
      <p:grpSp>
        <p:nvGrpSpPr>
          <p:cNvPr id="138243" name="Group 1">
            <a:extLst>
              <a:ext uri="{FF2B5EF4-FFF2-40B4-BE49-F238E27FC236}">
                <a16:creationId xmlns:a16="http://schemas.microsoft.com/office/drawing/2014/main" id="{504B51EF-1B5B-44F0-A743-B0D975E53CB5}"/>
              </a:ext>
            </a:extLst>
          </p:cNvPr>
          <p:cNvGrpSpPr>
            <a:grpSpLocks/>
          </p:cNvGrpSpPr>
          <p:nvPr/>
        </p:nvGrpSpPr>
        <p:grpSpPr bwMode="auto">
          <a:xfrm>
            <a:off x="2879726" y="1219200"/>
            <a:ext cx="5349875" cy="4419600"/>
            <a:chOff x="1355725" y="1524000"/>
            <a:chExt cx="5349875" cy="4419600"/>
          </a:xfrm>
          <a:solidFill>
            <a:schemeClr val="accent1"/>
          </a:solidFill>
        </p:grpSpPr>
        <p:sp>
          <p:nvSpPr>
            <p:cNvPr id="138244" name="Rectangle 3">
              <a:extLst>
                <a:ext uri="{FF2B5EF4-FFF2-40B4-BE49-F238E27FC236}">
                  <a16:creationId xmlns:a16="http://schemas.microsoft.com/office/drawing/2014/main" id="{4DC63CAF-09BE-4E0F-B86D-38008CB2B859}"/>
                </a:ext>
              </a:extLst>
            </p:cNvPr>
            <p:cNvSpPr>
              <a:spLocks noChangeArrowheads="1"/>
            </p:cNvSpPr>
            <p:nvPr/>
          </p:nvSpPr>
          <p:spPr bwMode="auto">
            <a:xfrm>
              <a:off x="4360863" y="1897063"/>
              <a:ext cx="2166937" cy="628650"/>
            </a:xfrm>
            <a:prstGeom prst="rect">
              <a:avLst/>
            </a:prstGeom>
            <a:grp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defRPr/>
              </a:pPr>
              <a:r>
                <a:rPr lang="ru-RU" altLang="en-US" sz="1800">
                  <a:solidFill>
                    <a:schemeClr val="bg2"/>
                  </a:solidFill>
                </a:rPr>
                <a:t>Load designs and</a:t>
              </a:r>
            </a:p>
            <a:p>
              <a:pPr algn="ctr" eaLnBrk="1" hangingPunct="1">
                <a:defRPr/>
              </a:pPr>
              <a:r>
                <a:rPr lang="ru-RU" altLang="en-US" sz="1800">
                  <a:solidFill>
                    <a:schemeClr val="bg2"/>
                  </a:solidFill>
                </a:rPr>
                <a:t>libraries</a:t>
              </a:r>
            </a:p>
          </p:txBody>
        </p:sp>
        <p:sp>
          <p:nvSpPr>
            <p:cNvPr id="138245" name="Rectangle 4">
              <a:extLst>
                <a:ext uri="{FF2B5EF4-FFF2-40B4-BE49-F238E27FC236}">
                  <a16:creationId xmlns:a16="http://schemas.microsoft.com/office/drawing/2014/main" id="{004772CE-0717-4760-9602-C7D7D49DC371}"/>
                </a:ext>
              </a:extLst>
            </p:cNvPr>
            <p:cNvSpPr>
              <a:spLocks noChangeArrowheads="1"/>
            </p:cNvSpPr>
            <p:nvPr/>
          </p:nvSpPr>
          <p:spPr bwMode="auto">
            <a:xfrm>
              <a:off x="4376738" y="3014663"/>
              <a:ext cx="2168525" cy="715962"/>
            </a:xfrm>
            <a:prstGeom prst="rect">
              <a:avLst/>
            </a:prstGeom>
            <a:grp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defRPr/>
              </a:pPr>
              <a:r>
                <a:rPr lang="ru-RU" altLang="en-US" sz="1800">
                  <a:solidFill>
                    <a:schemeClr val="bg2"/>
                  </a:solidFill>
                </a:rPr>
                <a:t>Apply design</a:t>
              </a:r>
            </a:p>
            <a:p>
              <a:pPr algn="ctr" eaLnBrk="1" hangingPunct="1">
                <a:defRPr/>
              </a:pPr>
              <a:r>
                <a:rPr lang="ru-RU" altLang="en-US" sz="1800">
                  <a:solidFill>
                    <a:schemeClr val="bg2"/>
                  </a:solidFill>
                </a:rPr>
                <a:t>constraints</a:t>
              </a:r>
            </a:p>
          </p:txBody>
        </p:sp>
        <p:sp>
          <p:nvSpPr>
            <p:cNvPr id="138246" name="Rectangle 5">
              <a:extLst>
                <a:ext uri="{FF2B5EF4-FFF2-40B4-BE49-F238E27FC236}">
                  <a16:creationId xmlns:a16="http://schemas.microsoft.com/office/drawing/2014/main" id="{00DDFC18-CEB1-4A60-B5A0-62B45A4AB047}"/>
                </a:ext>
              </a:extLst>
            </p:cNvPr>
            <p:cNvSpPr>
              <a:spLocks noChangeArrowheads="1"/>
            </p:cNvSpPr>
            <p:nvPr/>
          </p:nvSpPr>
          <p:spPr bwMode="auto">
            <a:xfrm>
              <a:off x="1628775" y="1524000"/>
              <a:ext cx="2151063" cy="501650"/>
            </a:xfrm>
            <a:prstGeom prst="rect">
              <a:avLst/>
            </a:prstGeom>
            <a:grp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defRPr/>
              </a:pPr>
              <a:r>
                <a:rPr lang="ru-RU" altLang="en-US" sz="1800">
                  <a:solidFill>
                    <a:schemeClr val="bg2"/>
                  </a:solidFill>
                </a:rPr>
                <a:t>RTL-</a:t>
              </a:r>
              <a:r>
                <a:rPr lang="en-US" altLang="en-US" sz="1800">
                  <a:solidFill>
                    <a:schemeClr val="bg2"/>
                  </a:solidFill>
                </a:rPr>
                <a:t>Description</a:t>
              </a:r>
              <a:endParaRPr lang="ru-RU" altLang="en-US" sz="1800">
                <a:solidFill>
                  <a:schemeClr val="bg2"/>
                </a:solidFill>
              </a:endParaRPr>
            </a:p>
          </p:txBody>
        </p:sp>
        <p:sp>
          <p:nvSpPr>
            <p:cNvPr id="138247" name="Rectangle 6">
              <a:extLst>
                <a:ext uri="{FF2B5EF4-FFF2-40B4-BE49-F238E27FC236}">
                  <a16:creationId xmlns:a16="http://schemas.microsoft.com/office/drawing/2014/main" id="{C09A167E-C5D5-4BF1-BEC0-28DFFB168063}"/>
                </a:ext>
              </a:extLst>
            </p:cNvPr>
            <p:cNvSpPr>
              <a:spLocks noChangeArrowheads="1"/>
            </p:cNvSpPr>
            <p:nvPr/>
          </p:nvSpPr>
          <p:spPr bwMode="auto">
            <a:xfrm>
              <a:off x="1646238" y="2297113"/>
              <a:ext cx="2149475" cy="501650"/>
            </a:xfrm>
            <a:prstGeom prst="rect">
              <a:avLst/>
            </a:prstGeom>
            <a:grp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defRPr/>
              </a:pPr>
              <a:r>
                <a:rPr lang="ru-RU" altLang="en-US" sz="1800">
                  <a:solidFill>
                    <a:schemeClr val="bg2"/>
                  </a:solidFill>
                </a:rPr>
                <a:t>Start-up file</a:t>
              </a:r>
            </a:p>
          </p:txBody>
        </p:sp>
        <p:sp>
          <p:nvSpPr>
            <p:cNvPr id="138248" name="Line 7">
              <a:extLst>
                <a:ext uri="{FF2B5EF4-FFF2-40B4-BE49-F238E27FC236}">
                  <a16:creationId xmlns:a16="http://schemas.microsoft.com/office/drawing/2014/main" id="{A2ED629B-677A-473B-B01A-DE34A9B7B9F5}"/>
                </a:ext>
              </a:extLst>
            </p:cNvPr>
            <p:cNvSpPr>
              <a:spLocks noChangeShapeType="1"/>
            </p:cNvSpPr>
            <p:nvPr/>
          </p:nvSpPr>
          <p:spPr bwMode="auto">
            <a:xfrm>
              <a:off x="3795713" y="1795463"/>
              <a:ext cx="547687" cy="287337"/>
            </a:xfrm>
            <a:prstGeom prst="line">
              <a:avLst/>
            </a:prstGeom>
            <a:grpFill/>
            <a:ln w="22225">
              <a:solidFill>
                <a:srgbClr val="000000"/>
              </a:solidFill>
              <a:round/>
              <a:headEnd/>
              <a:tailEnd type="triangle" w="med" len="med"/>
            </a:ln>
          </p:spPr>
          <p:txBody>
            <a:bodyPr/>
            <a:lstStyle/>
            <a:p>
              <a:pPr>
                <a:defRPr/>
              </a:pPr>
              <a:endParaRPr lang="en-US">
                <a:solidFill>
                  <a:schemeClr val="bg2"/>
                </a:solidFill>
              </a:endParaRPr>
            </a:p>
          </p:txBody>
        </p:sp>
        <p:sp>
          <p:nvSpPr>
            <p:cNvPr id="138249" name="Line 8">
              <a:extLst>
                <a:ext uri="{FF2B5EF4-FFF2-40B4-BE49-F238E27FC236}">
                  <a16:creationId xmlns:a16="http://schemas.microsoft.com/office/drawing/2014/main" id="{B09DF030-FB86-48BD-BFEE-1EFF7C28F5D3}"/>
                </a:ext>
              </a:extLst>
            </p:cNvPr>
            <p:cNvSpPr>
              <a:spLocks noChangeShapeType="1"/>
            </p:cNvSpPr>
            <p:nvPr/>
          </p:nvSpPr>
          <p:spPr bwMode="auto">
            <a:xfrm flipV="1">
              <a:off x="3814763" y="2324100"/>
              <a:ext cx="560387" cy="228600"/>
            </a:xfrm>
            <a:prstGeom prst="line">
              <a:avLst/>
            </a:prstGeom>
            <a:grpFill/>
            <a:ln w="22225">
              <a:solidFill>
                <a:srgbClr val="000000"/>
              </a:solidFill>
              <a:round/>
              <a:headEnd/>
              <a:tailEnd type="triangle" w="med" len="med"/>
            </a:ln>
          </p:spPr>
          <p:txBody>
            <a:bodyPr/>
            <a:lstStyle/>
            <a:p>
              <a:pPr>
                <a:defRPr/>
              </a:pPr>
              <a:endParaRPr lang="en-US">
                <a:solidFill>
                  <a:schemeClr val="bg2"/>
                </a:solidFill>
              </a:endParaRPr>
            </a:p>
          </p:txBody>
        </p:sp>
        <p:sp>
          <p:nvSpPr>
            <p:cNvPr id="138250" name="Rectangle 9">
              <a:extLst>
                <a:ext uri="{FF2B5EF4-FFF2-40B4-BE49-F238E27FC236}">
                  <a16:creationId xmlns:a16="http://schemas.microsoft.com/office/drawing/2014/main" id="{665E7FC9-CDBB-4EAA-9B49-87BC9C91A334}"/>
                </a:ext>
              </a:extLst>
            </p:cNvPr>
            <p:cNvSpPr>
              <a:spLocks noChangeArrowheads="1"/>
            </p:cNvSpPr>
            <p:nvPr/>
          </p:nvSpPr>
          <p:spPr bwMode="auto">
            <a:xfrm>
              <a:off x="1628775" y="3198813"/>
              <a:ext cx="2151063" cy="503237"/>
            </a:xfrm>
            <a:prstGeom prst="rect">
              <a:avLst/>
            </a:prstGeom>
            <a:grp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defRPr/>
              </a:pPr>
              <a:r>
                <a:rPr lang="ru-RU" altLang="en-US" sz="1800">
                  <a:solidFill>
                    <a:schemeClr val="bg2"/>
                  </a:solidFill>
                </a:rPr>
                <a:t>Constraints file</a:t>
              </a:r>
            </a:p>
          </p:txBody>
        </p:sp>
        <p:sp>
          <p:nvSpPr>
            <p:cNvPr id="138251" name="Line 10">
              <a:extLst>
                <a:ext uri="{FF2B5EF4-FFF2-40B4-BE49-F238E27FC236}">
                  <a16:creationId xmlns:a16="http://schemas.microsoft.com/office/drawing/2014/main" id="{884DE94A-54FB-4973-9F2E-99E0CEC37246}"/>
                </a:ext>
              </a:extLst>
            </p:cNvPr>
            <p:cNvSpPr>
              <a:spLocks noChangeShapeType="1"/>
            </p:cNvSpPr>
            <p:nvPr/>
          </p:nvSpPr>
          <p:spPr bwMode="auto">
            <a:xfrm>
              <a:off x="3779838" y="3444875"/>
              <a:ext cx="614362" cy="0"/>
            </a:xfrm>
            <a:prstGeom prst="line">
              <a:avLst/>
            </a:prstGeom>
            <a:grpFill/>
            <a:ln w="22225">
              <a:solidFill>
                <a:srgbClr val="000000"/>
              </a:solidFill>
              <a:round/>
              <a:headEnd/>
              <a:tailEnd type="triangle" w="med" len="med"/>
            </a:ln>
          </p:spPr>
          <p:txBody>
            <a:bodyPr/>
            <a:lstStyle/>
            <a:p>
              <a:pPr>
                <a:defRPr/>
              </a:pPr>
              <a:endParaRPr lang="en-US">
                <a:solidFill>
                  <a:schemeClr val="bg2"/>
                </a:solidFill>
              </a:endParaRPr>
            </a:p>
          </p:txBody>
        </p:sp>
        <p:sp>
          <p:nvSpPr>
            <p:cNvPr id="138252" name="Rectangle 11">
              <a:extLst>
                <a:ext uri="{FF2B5EF4-FFF2-40B4-BE49-F238E27FC236}">
                  <a16:creationId xmlns:a16="http://schemas.microsoft.com/office/drawing/2014/main" id="{B1AE62B2-6CFA-4AEF-9325-AD65AB0EAB46}"/>
                </a:ext>
              </a:extLst>
            </p:cNvPr>
            <p:cNvSpPr>
              <a:spLocks noChangeArrowheads="1"/>
            </p:cNvSpPr>
            <p:nvPr/>
          </p:nvSpPr>
          <p:spPr bwMode="auto">
            <a:xfrm>
              <a:off x="4411663" y="4191000"/>
              <a:ext cx="2166937" cy="701675"/>
            </a:xfrm>
            <a:prstGeom prst="rect">
              <a:avLst/>
            </a:prstGeom>
            <a:grp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defRPr/>
              </a:pPr>
              <a:r>
                <a:rPr lang="ru-RU" altLang="en-US" sz="1800">
                  <a:solidFill>
                    <a:schemeClr val="bg2"/>
                  </a:solidFill>
                </a:rPr>
                <a:t>Synthesize</a:t>
              </a:r>
            </a:p>
            <a:p>
              <a:pPr algn="ctr" eaLnBrk="1" hangingPunct="1">
                <a:defRPr/>
              </a:pPr>
              <a:r>
                <a:rPr lang="ru-RU" altLang="en-US" sz="1800">
                  <a:solidFill>
                    <a:schemeClr val="bg2"/>
                  </a:solidFill>
                </a:rPr>
                <a:t>the design</a:t>
              </a:r>
            </a:p>
          </p:txBody>
        </p:sp>
        <p:sp>
          <p:nvSpPr>
            <p:cNvPr id="138253" name="Rectangle 12">
              <a:extLst>
                <a:ext uri="{FF2B5EF4-FFF2-40B4-BE49-F238E27FC236}">
                  <a16:creationId xmlns:a16="http://schemas.microsoft.com/office/drawing/2014/main" id="{15116846-4814-4340-B8E7-1A464FAFD0E0}"/>
                </a:ext>
              </a:extLst>
            </p:cNvPr>
            <p:cNvSpPr>
              <a:spLocks noChangeArrowheads="1"/>
            </p:cNvSpPr>
            <p:nvPr/>
          </p:nvSpPr>
          <p:spPr bwMode="auto">
            <a:xfrm>
              <a:off x="1355725" y="4205288"/>
              <a:ext cx="2444750" cy="673100"/>
            </a:xfrm>
            <a:prstGeom prst="rect">
              <a:avLst/>
            </a:prstGeom>
            <a:grp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defRPr/>
              </a:pPr>
              <a:r>
                <a:rPr lang="ru-RU" altLang="en-US" sz="1800">
                  <a:solidFill>
                    <a:schemeClr val="bg2"/>
                  </a:solidFill>
                </a:rPr>
                <a:t>Select appropriate design flow</a:t>
              </a:r>
            </a:p>
          </p:txBody>
        </p:sp>
        <p:sp>
          <p:nvSpPr>
            <p:cNvPr id="138254" name="Line 13">
              <a:extLst>
                <a:ext uri="{FF2B5EF4-FFF2-40B4-BE49-F238E27FC236}">
                  <a16:creationId xmlns:a16="http://schemas.microsoft.com/office/drawing/2014/main" id="{F04CB317-FAC7-4915-9DB4-5F1EA7E734C8}"/>
                </a:ext>
              </a:extLst>
            </p:cNvPr>
            <p:cNvSpPr>
              <a:spLocks noChangeShapeType="1"/>
            </p:cNvSpPr>
            <p:nvPr/>
          </p:nvSpPr>
          <p:spPr bwMode="auto">
            <a:xfrm>
              <a:off x="3814763" y="4549775"/>
              <a:ext cx="614362" cy="0"/>
            </a:xfrm>
            <a:prstGeom prst="line">
              <a:avLst/>
            </a:prstGeom>
            <a:grpFill/>
            <a:ln w="22225">
              <a:solidFill>
                <a:srgbClr val="000000"/>
              </a:solidFill>
              <a:round/>
              <a:headEnd/>
              <a:tailEnd type="triangle" w="med" len="med"/>
            </a:ln>
          </p:spPr>
          <p:txBody>
            <a:bodyPr/>
            <a:lstStyle/>
            <a:p>
              <a:pPr>
                <a:defRPr/>
              </a:pPr>
              <a:endParaRPr lang="en-US">
                <a:solidFill>
                  <a:schemeClr val="bg2"/>
                </a:solidFill>
              </a:endParaRPr>
            </a:p>
          </p:txBody>
        </p:sp>
        <p:sp>
          <p:nvSpPr>
            <p:cNvPr id="138255" name="Line 14">
              <a:extLst>
                <a:ext uri="{FF2B5EF4-FFF2-40B4-BE49-F238E27FC236}">
                  <a16:creationId xmlns:a16="http://schemas.microsoft.com/office/drawing/2014/main" id="{AE3C3A00-E237-47B5-BDE6-3036C685A296}"/>
                </a:ext>
              </a:extLst>
            </p:cNvPr>
            <p:cNvSpPr>
              <a:spLocks noChangeShapeType="1"/>
            </p:cNvSpPr>
            <p:nvPr/>
          </p:nvSpPr>
          <p:spPr bwMode="auto">
            <a:xfrm>
              <a:off x="5435600" y="2525713"/>
              <a:ext cx="0" cy="488950"/>
            </a:xfrm>
            <a:prstGeom prst="line">
              <a:avLst/>
            </a:prstGeom>
            <a:grpFill/>
            <a:ln w="22225">
              <a:solidFill>
                <a:srgbClr val="000000"/>
              </a:solidFill>
              <a:round/>
              <a:headEnd/>
              <a:tailEnd type="triangle" w="med" len="med"/>
            </a:ln>
          </p:spPr>
          <p:txBody>
            <a:bodyPr/>
            <a:lstStyle/>
            <a:p>
              <a:pPr>
                <a:defRPr/>
              </a:pPr>
              <a:endParaRPr lang="en-US">
                <a:solidFill>
                  <a:schemeClr val="bg2"/>
                </a:solidFill>
              </a:endParaRPr>
            </a:p>
          </p:txBody>
        </p:sp>
        <p:sp>
          <p:nvSpPr>
            <p:cNvPr id="138256" name="Line 15">
              <a:extLst>
                <a:ext uri="{FF2B5EF4-FFF2-40B4-BE49-F238E27FC236}">
                  <a16:creationId xmlns:a16="http://schemas.microsoft.com/office/drawing/2014/main" id="{C7CD422F-9F2C-4E5A-AF5B-9A46AB6ABB2C}"/>
                </a:ext>
              </a:extLst>
            </p:cNvPr>
            <p:cNvSpPr>
              <a:spLocks noChangeShapeType="1"/>
            </p:cNvSpPr>
            <p:nvPr/>
          </p:nvSpPr>
          <p:spPr bwMode="auto">
            <a:xfrm>
              <a:off x="5418138" y="3746500"/>
              <a:ext cx="0" cy="434975"/>
            </a:xfrm>
            <a:prstGeom prst="line">
              <a:avLst/>
            </a:prstGeom>
            <a:grpFill/>
            <a:ln w="22225">
              <a:solidFill>
                <a:srgbClr val="000000"/>
              </a:solidFill>
              <a:round/>
              <a:headEnd/>
              <a:tailEnd type="triangle" w="med" len="med"/>
            </a:ln>
          </p:spPr>
          <p:txBody>
            <a:bodyPr/>
            <a:lstStyle/>
            <a:p>
              <a:pPr>
                <a:defRPr/>
              </a:pPr>
              <a:endParaRPr lang="en-US">
                <a:solidFill>
                  <a:schemeClr val="bg2"/>
                </a:solidFill>
              </a:endParaRPr>
            </a:p>
          </p:txBody>
        </p:sp>
        <p:sp>
          <p:nvSpPr>
            <p:cNvPr id="138257" name="Line 16">
              <a:extLst>
                <a:ext uri="{FF2B5EF4-FFF2-40B4-BE49-F238E27FC236}">
                  <a16:creationId xmlns:a16="http://schemas.microsoft.com/office/drawing/2014/main" id="{54B42D4B-FBBE-48ED-9277-60A6CC03CE5F}"/>
                </a:ext>
              </a:extLst>
            </p:cNvPr>
            <p:cNvSpPr>
              <a:spLocks noChangeShapeType="1"/>
            </p:cNvSpPr>
            <p:nvPr/>
          </p:nvSpPr>
          <p:spPr bwMode="auto">
            <a:xfrm>
              <a:off x="5435600" y="4892675"/>
              <a:ext cx="0" cy="434975"/>
            </a:xfrm>
            <a:prstGeom prst="line">
              <a:avLst/>
            </a:prstGeom>
            <a:grpFill/>
            <a:ln w="22225">
              <a:solidFill>
                <a:srgbClr val="000000"/>
              </a:solidFill>
              <a:round/>
              <a:headEnd/>
              <a:tailEnd type="triangle" w="med" len="med"/>
            </a:ln>
          </p:spPr>
          <p:txBody>
            <a:bodyPr/>
            <a:lstStyle/>
            <a:p>
              <a:pPr>
                <a:defRPr/>
              </a:pPr>
              <a:endParaRPr lang="en-US">
                <a:solidFill>
                  <a:schemeClr val="bg2"/>
                </a:solidFill>
              </a:endParaRPr>
            </a:p>
          </p:txBody>
        </p:sp>
        <p:sp>
          <p:nvSpPr>
            <p:cNvPr id="138258" name="Rectangle 17">
              <a:extLst>
                <a:ext uri="{FF2B5EF4-FFF2-40B4-BE49-F238E27FC236}">
                  <a16:creationId xmlns:a16="http://schemas.microsoft.com/office/drawing/2014/main" id="{1BA4F6F6-C548-45EF-B879-7D51AEE13AE3}"/>
                </a:ext>
              </a:extLst>
            </p:cNvPr>
            <p:cNvSpPr>
              <a:spLocks noChangeArrowheads="1"/>
            </p:cNvSpPr>
            <p:nvPr/>
          </p:nvSpPr>
          <p:spPr bwMode="auto">
            <a:xfrm>
              <a:off x="4189413" y="5337175"/>
              <a:ext cx="2516187" cy="606425"/>
            </a:xfrm>
            <a:prstGeom prst="rect">
              <a:avLst/>
            </a:prstGeom>
            <a:grp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defRPr/>
              </a:pPr>
              <a:r>
                <a:rPr lang="ru-RU" altLang="en-US" sz="1800" dirty="0">
                  <a:solidFill>
                    <a:schemeClr val="bg2"/>
                  </a:solidFill>
                </a:rPr>
                <a:t>Write out design</a:t>
              </a:r>
            </a:p>
            <a:p>
              <a:pPr algn="ctr" eaLnBrk="1" hangingPunct="1">
                <a:defRPr/>
              </a:pPr>
              <a:r>
                <a:rPr lang="ru-RU" altLang="en-US" sz="1800" dirty="0">
                  <a:solidFill>
                    <a:schemeClr val="bg2"/>
                  </a:solidFill>
                </a:rPr>
                <a:t>data</a:t>
              </a:r>
            </a:p>
          </p:txBody>
        </p:sp>
      </p:gr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7B62C87C-3ED4-0CA3-16D7-E03A8CC81273}"/>
              </a:ext>
            </a:extLst>
          </p:cNvPr>
          <p:cNvSpPr>
            <a:spLocks noGrp="1" noChangeArrowheads="1"/>
          </p:cNvSpPr>
          <p:nvPr>
            <p:ph type="title"/>
          </p:nvPr>
        </p:nvSpPr>
        <p:spPr/>
        <p:txBody>
          <a:bodyPr/>
          <a:lstStyle/>
          <a:p>
            <a:r>
              <a:rPr lang="ru-RU" altLang="en-US"/>
              <a:t>Specifying an Area Constraint</a:t>
            </a:r>
          </a:p>
        </p:txBody>
      </p:sp>
      <p:sp>
        <p:nvSpPr>
          <p:cNvPr id="139267" name="Text Box 3">
            <a:extLst>
              <a:ext uri="{FF2B5EF4-FFF2-40B4-BE49-F238E27FC236}">
                <a16:creationId xmlns:a16="http://schemas.microsoft.com/office/drawing/2014/main" id="{4BE09B65-7095-C967-B845-39AED0B18C83}"/>
              </a:ext>
            </a:extLst>
          </p:cNvPr>
          <p:cNvSpPr txBox="1">
            <a:spLocks noChangeArrowheads="1"/>
          </p:cNvSpPr>
          <p:nvPr/>
        </p:nvSpPr>
        <p:spPr bwMode="auto">
          <a:xfrm>
            <a:off x="2057400" y="1676400"/>
            <a:ext cx="8153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2400"/>
              <a:t>dc_shell&gt; read_verilog MY_DESIGN.v</a:t>
            </a:r>
          </a:p>
          <a:p>
            <a:pPr eaLnBrk="1" hangingPunct="1">
              <a:spcBef>
                <a:spcPct val="0"/>
              </a:spcBef>
              <a:buClrTx/>
              <a:buSzTx/>
              <a:buFontTx/>
              <a:buNone/>
            </a:pPr>
            <a:r>
              <a:rPr lang="ru-RU" altLang="en-US" sz="2400"/>
              <a:t>dc_shell&gt; current_design TOP_CHIP_or_BLOCK</a:t>
            </a:r>
          </a:p>
          <a:p>
            <a:pPr eaLnBrk="1" hangingPunct="1">
              <a:spcBef>
                <a:spcPct val="0"/>
              </a:spcBef>
              <a:buClrTx/>
              <a:buSzTx/>
              <a:buFontTx/>
              <a:buNone/>
            </a:pPr>
            <a:r>
              <a:rPr lang="ru-RU" altLang="en-US" sz="2400"/>
              <a:t>dc_shell&gt; link</a:t>
            </a:r>
          </a:p>
          <a:p>
            <a:pPr eaLnBrk="1" hangingPunct="1">
              <a:spcBef>
                <a:spcPct val="0"/>
              </a:spcBef>
              <a:buClrTx/>
              <a:buSzTx/>
              <a:buFontTx/>
              <a:buNone/>
            </a:pPr>
            <a:r>
              <a:rPr lang="ru-RU" altLang="en-US" sz="2400"/>
              <a:t>dc_shell&gt; set_max_area 245000</a:t>
            </a:r>
          </a:p>
        </p:txBody>
      </p:sp>
      <p:sp>
        <p:nvSpPr>
          <p:cNvPr id="139268" name="Text Box 4">
            <a:extLst>
              <a:ext uri="{FF2B5EF4-FFF2-40B4-BE49-F238E27FC236}">
                <a16:creationId xmlns:a16="http://schemas.microsoft.com/office/drawing/2014/main" id="{91F77739-F187-DB39-10EB-EAC2C4A7E939}"/>
              </a:ext>
            </a:extLst>
          </p:cNvPr>
          <p:cNvSpPr txBox="1">
            <a:spLocks noChangeArrowheads="1"/>
          </p:cNvSpPr>
          <p:nvPr/>
        </p:nvSpPr>
        <p:spPr bwMode="auto">
          <a:xfrm>
            <a:off x="2286000" y="4114801"/>
            <a:ext cx="3048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ru-RU" altLang="en-US" sz="2400"/>
              <a:t>set_max_area 0</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9BCAC0EF-0F5D-724F-D5F2-D78768F0383A}"/>
              </a:ext>
            </a:extLst>
          </p:cNvPr>
          <p:cNvSpPr>
            <a:spLocks noGrp="1" noChangeArrowheads="1"/>
          </p:cNvSpPr>
          <p:nvPr>
            <p:ph type="title"/>
          </p:nvPr>
        </p:nvSpPr>
        <p:spPr/>
        <p:txBody>
          <a:bodyPr/>
          <a:lstStyle/>
          <a:p>
            <a:r>
              <a:rPr lang="en-US" altLang="en-US"/>
              <a:t>Default Design Scenario</a:t>
            </a:r>
            <a:endParaRPr lang="ru-RU" altLang="en-US"/>
          </a:p>
        </p:txBody>
      </p:sp>
      <p:grpSp>
        <p:nvGrpSpPr>
          <p:cNvPr id="140291" name="Group 1">
            <a:extLst>
              <a:ext uri="{FF2B5EF4-FFF2-40B4-BE49-F238E27FC236}">
                <a16:creationId xmlns:a16="http://schemas.microsoft.com/office/drawing/2014/main" id="{F7E52A9C-6E19-B19B-7A05-71428F7B885B}"/>
              </a:ext>
            </a:extLst>
          </p:cNvPr>
          <p:cNvGrpSpPr>
            <a:grpSpLocks/>
          </p:cNvGrpSpPr>
          <p:nvPr/>
        </p:nvGrpSpPr>
        <p:grpSpPr bwMode="auto">
          <a:xfrm>
            <a:off x="2743200" y="1422400"/>
            <a:ext cx="6934200" cy="3073400"/>
            <a:chOff x="1219200" y="1499088"/>
            <a:chExt cx="6934200" cy="3072912"/>
          </a:xfrm>
        </p:grpSpPr>
        <p:sp>
          <p:nvSpPr>
            <p:cNvPr id="140293" name="Rectangle 3">
              <a:extLst>
                <a:ext uri="{FF2B5EF4-FFF2-40B4-BE49-F238E27FC236}">
                  <a16:creationId xmlns:a16="http://schemas.microsoft.com/office/drawing/2014/main" id="{435CE9F7-1A05-C21C-8527-7BC9351534C3}"/>
                </a:ext>
              </a:extLst>
            </p:cNvPr>
            <p:cNvSpPr>
              <a:spLocks noChangeArrowheads="1"/>
            </p:cNvSpPr>
            <p:nvPr/>
          </p:nvSpPr>
          <p:spPr bwMode="auto">
            <a:xfrm>
              <a:off x="3390900" y="1953330"/>
              <a:ext cx="3140075" cy="2615496"/>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294" name="Rectangle 4">
              <a:extLst>
                <a:ext uri="{FF2B5EF4-FFF2-40B4-BE49-F238E27FC236}">
                  <a16:creationId xmlns:a16="http://schemas.microsoft.com/office/drawing/2014/main" id="{1A0E5C6E-CC6E-3250-D7A5-E3C41F0352EF}"/>
                </a:ext>
              </a:extLst>
            </p:cNvPr>
            <p:cNvSpPr>
              <a:spLocks noChangeArrowheads="1"/>
            </p:cNvSpPr>
            <p:nvPr/>
          </p:nvSpPr>
          <p:spPr bwMode="auto">
            <a:xfrm>
              <a:off x="2133600" y="2623169"/>
              <a:ext cx="479425" cy="1345582"/>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295" name="Rectangle 5">
              <a:extLst>
                <a:ext uri="{FF2B5EF4-FFF2-40B4-BE49-F238E27FC236}">
                  <a16:creationId xmlns:a16="http://schemas.microsoft.com/office/drawing/2014/main" id="{260E3412-EA03-AAA8-CA01-FA36A442B20F}"/>
                </a:ext>
              </a:extLst>
            </p:cNvPr>
            <p:cNvSpPr>
              <a:spLocks noChangeArrowheads="1"/>
            </p:cNvSpPr>
            <p:nvPr/>
          </p:nvSpPr>
          <p:spPr bwMode="auto">
            <a:xfrm>
              <a:off x="4121150" y="2604119"/>
              <a:ext cx="479425" cy="1345582"/>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296" name="Rectangle 6">
              <a:extLst>
                <a:ext uri="{FF2B5EF4-FFF2-40B4-BE49-F238E27FC236}">
                  <a16:creationId xmlns:a16="http://schemas.microsoft.com/office/drawing/2014/main" id="{B72F89F5-1D05-B1F0-6C58-D56F52735A35}"/>
                </a:ext>
              </a:extLst>
            </p:cNvPr>
            <p:cNvSpPr>
              <a:spLocks noChangeArrowheads="1"/>
            </p:cNvSpPr>
            <p:nvPr/>
          </p:nvSpPr>
          <p:spPr bwMode="auto">
            <a:xfrm>
              <a:off x="5351463" y="2585069"/>
              <a:ext cx="481012" cy="1345582"/>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297" name="Rectangle 7">
              <a:extLst>
                <a:ext uri="{FF2B5EF4-FFF2-40B4-BE49-F238E27FC236}">
                  <a16:creationId xmlns:a16="http://schemas.microsoft.com/office/drawing/2014/main" id="{49766110-9AAA-345B-CCE8-9F1B724103DC}"/>
                </a:ext>
              </a:extLst>
            </p:cNvPr>
            <p:cNvSpPr>
              <a:spLocks noChangeArrowheads="1"/>
            </p:cNvSpPr>
            <p:nvPr/>
          </p:nvSpPr>
          <p:spPr bwMode="auto">
            <a:xfrm>
              <a:off x="7312025" y="2566019"/>
              <a:ext cx="481013" cy="1345582"/>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298" name="Oval 8">
              <a:extLst>
                <a:ext uri="{FF2B5EF4-FFF2-40B4-BE49-F238E27FC236}">
                  <a16:creationId xmlns:a16="http://schemas.microsoft.com/office/drawing/2014/main" id="{A4916D86-B40D-6BA1-A0DA-3EAE4FECB5AF}"/>
                </a:ext>
              </a:extLst>
            </p:cNvPr>
            <p:cNvSpPr>
              <a:spLocks noChangeArrowheads="1"/>
            </p:cNvSpPr>
            <p:nvPr/>
          </p:nvSpPr>
          <p:spPr bwMode="auto">
            <a:xfrm>
              <a:off x="2768600" y="2848564"/>
              <a:ext cx="425450" cy="43756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40299" name="Oval 9">
              <a:extLst>
                <a:ext uri="{FF2B5EF4-FFF2-40B4-BE49-F238E27FC236}">
                  <a16:creationId xmlns:a16="http://schemas.microsoft.com/office/drawing/2014/main" id="{CE74CD84-2C79-65A2-C40C-15C3BFAC3550}"/>
                </a:ext>
              </a:extLst>
            </p:cNvPr>
            <p:cNvSpPr>
              <a:spLocks noChangeArrowheads="1"/>
            </p:cNvSpPr>
            <p:nvPr/>
          </p:nvSpPr>
          <p:spPr bwMode="auto">
            <a:xfrm>
              <a:off x="3524250" y="2848564"/>
              <a:ext cx="425450" cy="43756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300" name="Oval 10">
              <a:extLst>
                <a:ext uri="{FF2B5EF4-FFF2-40B4-BE49-F238E27FC236}">
                  <a16:creationId xmlns:a16="http://schemas.microsoft.com/office/drawing/2014/main" id="{68D39891-EB9E-66AE-2F3B-281FEDAC3BD0}"/>
                </a:ext>
              </a:extLst>
            </p:cNvPr>
            <p:cNvSpPr>
              <a:spLocks noChangeArrowheads="1"/>
            </p:cNvSpPr>
            <p:nvPr/>
          </p:nvSpPr>
          <p:spPr bwMode="auto">
            <a:xfrm>
              <a:off x="4756150" y="2829514"/>
              <a:ext cx="425450" cy="43756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301" name="Oval 11">
              <a:extLst>
                <a:ext uri="{FF2B5EF4-FFF2-40B4-BE49-F238E27FC236}">
                  <a16:creationId xmlns:a16="http://schemas.microsoft.com/office/drawing/2014/main" id="{E39DD273-6AB0-B3FB-0798-809C7B3181DF}"/>
                </a:ext>
              </a:extLst>
            </p:cNvPr>
            <p:cNvSpPr>
              <a:spLocks noChangeArrowheads="1"/>
            </p:cNvSpPr>
            <p:nvPr/>
          </p:nvSpPr>
          <p:spPr bwMode="auto">
            <a:xfrm>
              <a:off x="6000750" y="2848564"/>
              <a:ext cx="425450" cy="43756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302" name="Oval 12">
              <a:extLst>
                <a:ext uri="{FF2B5EF4-FFF2-40B4-BE49-F238E27FC236}">
                  <a16:creationId xmlns:a16="http://schemas.microsoft.com/office/drawing/2014/main" id="{CC2452FD-75B5-3CA7-AD96-F52455B34D76}"/>
                </a:ext>
              </a:extLst>
            </p:cNvPr>
            <p:cNvSpPr>
              <a:spLocks noChangeArrowheads="1"/>
            </p:cNvSpPr>
            <p:nvPr/>
          </p:nvSpPr>
          <p:spPr bwMode="auto">
            <a:xfrm>
              <a:off x="6716713" y="2829514"/>
              <a:ext cx="425450" cy="437561"/>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0303" name="Line 13">
              <a:extLst>
                <a:ext uri="{FF2B5EF4-FFF2-40B4-BE49-F238E27FC236}">
                  <a16:creationId xmlns:a16="http://schemas.microsoft.com/office/drawing/2014/main" id="{E3AEBBC6-846B-DB2A-CE0D-05C000A20C93}"/>
                </a:ext>
              </a:extLst>
            </p:cNvPr>
            <p:cNvSpPr>
              <a:spLocks noChangeShapeType="1"/>
            </p:cNvSpPr>
            <p:nvPr/>
          </p:nvSpPr>
          <p:spPr bwMode="auto">
            <a:xfrm>
              <a:off x="1854200" y="3068638"/>
              <a:ext cx="2667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4" name="Line 14">
              <a:extLst>
                <a:ext uri="{FF2B5EF4-FFF2-40B4-BE49-F238E27FC236}">
                  <a16:creationId xmlns:a16="http://schemas.microsoft.com/office/drawing/2014/main" id="{CAFC25CF-9D7D-634C-9FC4-FC28AF9742FB}"/>
                </a:ext>
              </a:extLst>
            </p:cNvPr>
            <p:cNvSpPr>
              <a:spLocks noChangeShapeType="1"/>
            </p:cNvSpPr>
            <p:nvPr/>
          </p:nvSpPr>
          <p:spPr bwMode="auto">
            <a:xfrm>
              <a:off x="2609850" y="3068638"/>
              <a:ext cx="1651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5" name="Line 15">
              <a:extLst>
                <a:ext uri="{FF2B5EF4-FFF2-40B4-BE49-F238E27FC236}">
                  <a16:creationId xmlns:a16="http://schemas.microsoft.com/office/drawing/2014/main" id="{5F48BE7B-4D00-CDFE-1122-303D652DFFB3}"/>
                </a:ext>
              </a:extLst>
            </p:cNvPr>
            <p:cNvSpPr>
              <a:spLocks noChangeShapeType="1"/>
            </p:cNvSpPr>
            <p:nvPr/>
          </p:nvSpPr>
          <p:spPr bwMode="auto">
            <a:xfrm>
              <a:off x="3960813" y="3049588"/>
              <a:ext cx="1666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6" name="Line 16">
              <a:extLst>
                <a:ext uri="{FF2B5EF4-FFF2-40B4-BE49-F238E27FC236}">
                  <a16:creationId xmlns:a16="http://schemas.microsoft.com/office/drawing/2014/main" id="{2E3B4245-8E99-EB4A-B866-461700AA4443}"/>
                </a:ext>
              </a:extLst>
            </p:cNvPr>
            <p:cNvSpPr>
              <a:spLocks noChangeShapeType="1"/>
            </p:cNvSpPr>
            <p:nvPr/>
          </p:nvSpPr>
          <p:spPr bwMode="auto">
            <a:xfrm>
              <a:off x="4597400" y="3068638"/>
              <a:ext cx="1651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7" name="Line 17">
              <a:extLst>
                <a:ext uri="{FF2B5EF4-FFF2-40B4-BE49-F238E27FC236}">
                  <a16:creationId xmlns:a16="http://schemas.microsoft.com/office/drawing/2014/main" id="{71226683-FCEE-D38C-103C-00ED412F88DB}"/>
                </a:ext>
              </a:extLst>
            </p:cNvPr>
            <p:cNvSpPr>
              <a:spLocks noChangeShapeType="1"/>
            </p:cNvSpPr>
            <p:nvPr/>
          </p:nvSpPr>
          <p:spPr bwMode="auto">
            <a:xfrm>
              <a:off x="5192713" y="3049588"/>
              <a:ext cx="1651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8" name="Line 18">
              <a:extLst>
                <a:ext uri="{FF2B5EF4-FFF2-40B4-BE49-F238E27FC236}">
                  <a16:creationId xmlns:a16="http://schemas.microsoft.com/office/drawing/2014/main" id="{33A13749-5D76-A93B-1B30-275C014E6AE8}"/>
                </a:ext>
              </a:extLst>
            </p:cNvPr>
            <p:cNvSpPr>
              <a:spLocks noChangeShapeType="1"/>
            </p:cNvSpPr>
            <p:nvPr/>
          </p:nvSpPr>
          <p:spPr bwMode="auto">
            <a:xfrm>
              <a:off x="5842000" y="3049588"/>
              <a:ext cx="1651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09" name="Line 19">
              <a:extLst>
                <a:ext uri="{FF2B5EF4-FFF2-40B4-BE49-F238E27FC236}">
                  <a16:creationId xmlns:a16="http://schemas.microsoft.com/office/drawing/2014/main" id="{84ECEFC8-F0F9-6543-8BBE-693648401753}"/>
                </a:ext>
              </a:extLst>
            </p:cNvPr>
            <p:cNvSpPr>
              <a:spLocks noChangeShapeType="1"/>
            </p:cNvSpPr>
            <p:nvPr/>
          </p:nvSpPr>
          <p:spPr bwMode="auto">
            <a:xfrm>
              <a:off x="3219450" y="3087688"/>
              <a:ext cx="2952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10" name="Line 20">
              <a:extLst>
                <a:ext uri="{FF2B5EF4-FFF2-40B4-BE49-F238E27FC236}">
                  <a16:creationId xmlns:a16="http://schemas.microsoft.com/office/drawing/2014/main" id="{C24E2537-2029-8E56-C47F-94D441B21F37}"/>
                </a:ext>
              </a:extLst>
            </p:cNvPr>
            <p:cNvSpPr>
              <a:spLocks noChangeShapeType="1"/>
            </p:cNvSpPr>
            <p:nvPr/>
          </p:nvSpPr>
          <p:spPr bwMode="auto">
            <a:xfrm>
              <a:off x="6424613" y="3049588"/>
              <a:ext cx="2952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11" name="Line 21">
              <a:extLst>
                <a:ext uri="{FF2B5EF4-FFF2-40B4-BE49-F238E27FC236}">
                  <a16:creationId xmlns:a16="http://schemas.microsoft.com/office/drawing/2014/main" id="{A56C5464-278D-564A-5D05-8C80FC0DA6AB}"/>
                </a:ext>
              </a:extLst>
            </p:cNvPr>
            <p:cNvSpPr>
              <a:spLocks noChangeShapeType="1"/>
            </p:cNvSpPr>
            <p:nvPr/>
          </p:nvSpPr>
          <p:spPr bwMode="auto">
            <a:xfrm>
              <a:off x="7153275" y="3049588"/>
              <a:ext cx="1651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12" name="Line 22">
              <a:extLst>
                <a:ext uri="{FF2B5EF4-FFF2-40B4-BE49-F238E27FC236}">
                  <a16:creationId xmlns:a16="http://schemas.microsoft.com/office/drawing/2014/main" id="{B24A7A16-A7E2-EE11-71AF-76D5EFC1F743}"/>
                </a:ext>
              </a:extLst>
            </p:cNvPr>
            <p:cNvSpPr>
              <a:spLocks noChangeShapeType="1"/>
            </p:cNvSpPr>
            <p:nvPr/>
          </p:nvSpPr>
          <p:spPr bwMode="auto">
            <a:xfrm>
              <a:off x="7789863" y="3030538"/>
              <a:ext cx="2651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13" name="Freeform 23">
              <a:extLst>
                <a:ext uri="{FF2B5EF4-FFF2-40B4-BE49-F238E27FC236}">
                  <a16:creationId xmlns:a16="http://schemas.microsoft.com/office/drawing/2014/main" id="{B0A09A5F-F84E-86A7-3CA1-16A61F0D230A}"/>
                </a:ext>
              </a:extLst>
            </p:cNvPr>
            <p:cNvSpPr>
              <a:spLocks/>
            </p:cNvSpPr>
            <p:nvPr/>
          </p:nvSpPr>
          <p:spPr bwMode="auto">
            <a:xfrm>
              <a:off x="4125913" y="3526729"/>
              <a:ext cx="104775" cy="156271"/>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314" name="Freeform 24">
              <a:extLst>
                <a:ext uri="{FF2B5EF4-FFF2-40B4-BE49-F238E27FC236}">
                  <a16:creationId xmlns:a16="http://schemas.microsoft.com/office/drawing/2014/main" id="{0C7037CB-6D75-154E-C131-C4C1A9CB6F65}"/>
                </a:ext>
              </a:extLst>
            </p:cNvPr>
            <p:cNvSpPr>
              <a:spLocks/>
            </p:cNvSpPr>
            <p:nvPr/>
          </p:nvSpPr>
          <p:spPr bwMode="auto">
            <a:xfrm>
              <a:off x="2138363" y="3526729"/>
              <a:ext cx="104775" cy="156271"/>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315" name="Freeform 25">
              <a:extLst>
                <a:ext uri="{FF2B5EF4-FFF2-40B4-BE49-F238E27FC236}">
                  <a16:creationId xmlns:a16="http://schemas.microsoft.com/office/drawing/2014/main" id="{92DD0178-1BF7-DFA4-C8A9-5E2AFC234826}"/>
                </a:ext>
              </a:extLst>
            </p:cNvPr>
            <p:cNvSpPr>
              <a:spLocks/>
            </p:cNvSpPr>
            <p:nvPr/>
          </p:nvSpPr>
          <p:spPr bwMode="auto">
            <a:xfrm>
              <a:off x="5357813" y="3507679"/>
              <a:ext cx="104775" cy="156271"/>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316" name="Freeform 26">
              <a:extLst>
                <a:ext uri="{FF2B5EF4-FFF2-40B4-BE49-F238E27FC236}">
                  <a16:creationId xmlns:a16="http://schemas.microsoft.com/office/drawing/2014/main" id="{6DF9DAB8-D526-5211-11E8-CC6CFF0F14F5}"/>
                </a:ext>
              </a:extLst>
            </p:cNvPr>
            <p:cNvSpPr>
              <a:spLocks/>
            </p:cNvSpPr>
            <p:nvPr/>
          </p:nvSpPr>
          <p:spPr bwMode="auto">
            <a:xfrm>
              <a:off x="7316788" y="3507679"/>
              <a:ext cx="106362" cy="156271"/>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0317" name="Line 27">
              <a:extLst>
                <a:ext uri="{FF2B5EF4-FFF2-40B4-BE49-F238E27FC236}">
                  <a16:creationId xmlns:a16="http://schemas.microsoft.com/office/drawing/2014/main" id="{10975B74-B32E-212B-1632-8FE63C6F4A59}"/>
                </a:ext>
              </a:extLst>
            </p:cNvPr>
            <p:cNvSpPr>
              <a:spLocks noChangeShapeType="1"/>
            </p:cNvSpPr>
            <p:nvPr/>
          </p:nvSpPr>
          <p:spPr bwMode="auto">
            <a:xfrm flipV="1">
              <a:off x="1655763" y="4283075"/>
              <a:ext cx="54054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18" name="Line 28">
              <a:extLst>
                <a:ext uri="{FF2B5EF4-FFF2-40B4-BE49-F238E27FC236}">
                  <a16:creationId xmlns:a16="http://schemas.microsoft.com/office/drawing/2014/main" id="{65F2AA81-EB45-9183-1533-47A6B2F8CCED}"/>
                </a:ext>
              </a:extLst>
            </p:cNvPr>
            <p:cNvSpPr>
              <a:spLocks noChangeShapeType="1"/>
            </p:cNvSpPr>
            <p:nvPr/>
          </p:nvSpPr>
          <p:spPr bwMode="auto">
            <a:xfrm>
              <a:off x="1905000" y="3595480"/>
              <a:ext cx="0" cy="687596"/>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0319" name="Line 29">
              <a:extLst>
                <a:ext uri="{FF2B5EF4-FFF2-40B4-BE49-F238E27FC236}">
                  <a16:creationId xmlns:a16="http://schemas.microsoft.com/office/drawing/2014/main" id="{FA769B4A-54F0-4F10-33C3-1D18828AEC0C}"/>
                </a:ext>
              </a:extLst>
            </p:cNvPr>
            <p:cNvSpPr>
              <a:spLocks noChangeShapeType="1"/>
            </p:cNvSpPr>
            <p:nvPr/>
          </p:nvSpPr>
          <p:spPr bwMode="auto">
            <a:xfrm>
              <a:off x="1895475" y="3600450"/>
              <a:ext cx="25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20" name="Line 30">
              <a:extLst>
                <a:ext uri="{FF2B5EF4-FFF2-40B4-BE49-F238E27FC236}">
                  <a16:creationId xmlns:a16="http://schemas.microsoft.com/office/drawing/2014/main" id="{5C298231-DBD1-B87A-ABA5-62DD93AAE69B}"/>
                </a:ext>
              </a:extLst>
            </p:cNvPr>
            <p:cNvSpPr>
              <a:spLocks noChangeShapeType="1"/>
            </p:cNvSpPr>
            <p:nvPr/>
          </p:nvSpPr>
          <p:spPr bwMode="auto">
            <a:xfrm>
              <a:off x="3865563" y="3575740"/>
              <a:ext cx="0" cy="707335"/>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0321" name="Line 31">
              <a:extLst>
                <a:ext uri="{FF2B5EF4-FFF2-40B4-BE49-F238E27FC236}">
                  <a16:creationId xmlns:a16="http://schemas.microsoft.com/office/drawing/2014/main" id="{298A6F17-522C-9E88-6CE4-CEC82E291E3F}"/>
                </a:ext>
              </a:extLst>
            </p:cNvPr>
            <p:cNvSpPr>
              <a:spLocks noChangeShapeType="1"/>
            </p:cNvSpPr>
            <p:nvPr/>
          </p:nvSpPr>
          <p:spPr bwMode="auto">
            <a:xfrm>
              <a:off x="3854450" y="3600450"/>
              <a:ext cx="2524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22" name="Line 32">
              <a:extLst>
                <a:ext uri="{FF2B5EF4-FFF2-40B4-BE49-F238E27FC236}">
                  <a16:creationId xmlns:a16="http://schemas.microsoft.com/office/drawing/2014/main" id="{92D6921C-91A9-F4A7-F797-192B39DC75E1}"/>
                </a:ext>
              </a:extLst>
            </p:cNvPr>
            <p:cNvSpPr>
              <a:spLocks noChangeShapeType="1"/>
            </p:cNvSpPr>
            <p:nvPr/>
          </p:nvSpPr>
          <p:spPr bwMode="auto">
            <a:xfrm>
              <a:off x="5110163" y="3556230"/>
              <a:ext cx="0" cy="720495"/>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0323" name="Line 33">
              <a:extLst>
                <a:ext uri="{FF2B5EF4-FFF2-40B4-BE49-F238E27FC236}">
                  <a16:creationId xmlns:a16="http://schemas.microsoft.com/office/drawing/2014/main" id="{2A7B051F-9F50-8E61-65B4-5A07324D4A35}"/>
                </a:ext>
              </a:extLst>
            </p:cNvPr>
            <p:cNvSpPr>
              <a:spLocks noChangeShapeType="1"/>
            </p:cNvSpPr>
            <p:nvPr/>
          </p:nvSpPr>
          <p:spPr bwMode="auto">
            <a:xfrm>
              <a:off x="5100638" y="3581400"/>
              <a:ext cx="25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24" name="Line 34">
              <a:extLst>
                <a:ext uri="{FF2B5EF4-FFF2-40B4-BE49-F238E27FC236}">
                  <a16:creationId xmlns:a16="http://schemas.microsoft.com/office/drawing/2014/main" id="{262C501C-B386-94D0-1E80-B8CFBF3CC8EE}"/>
                </a:ext>
              </a:extLst>
            </p:cNvPr>
            <p:cNvSpPr>
              <a:spLocks noChangeShapeType="1"/>
            </p:cNvSpPr>
            <p:nvPr/>
          </p:nvSpPr>
          <p:spPr bwMode="auto">
            <a:xfrm>
              <a:off x="7069138" y="3556230"/>
              <a:ext cx="0" cy="720495"/>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40325" name="Line 35">
              <a:extLst>
                <a:ext uri="{FF2B5EF4-FFF2-40B4-BE49-F238E27FC236}">
                  <a16:creationId xmlns:a16="http://schemas.microsoft.com/office/drawing/2014/main" id="{682F8679-29DB-7F3F-0173-0A3B5D8A796F}"/>
                </a:ext>
              </a:extLst>
            </p:cNvPr>
            <p:cNvSpPr>
              <a:spLocks noChangeShapeType="1"/>
            </p:cNvSpPr>
            <p:nvPr/>
          </p:nvSpPr>
          <p:spPr bwMode="auto">
            <a:xfrm>
              <a:off x="7061200" y="3581400"/>
              <a:ext cx="25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0326" name="Text Box 36">
              <a:extLst>
                <a:ext uri="{FF2B5EF4-FFF2-40B4-BE49-F238E27FC236}">
                  <a16:creationId xmlns:a16="http://schemas.microsoft.com/office/drawing/2014/main" id="{32DACCA9-7DAB-2A09-E46F-D2B2435A54E1}"/>
                </a:ext>
              </a:extLst>
            </p:cNvPr>
            <p:cNvSpPr txBox="1">
              <a:spLocks noChangeArrowheads="1"/>
            </p:cNvSpPr>
            <p:nvPr/>
          </p:nvSpPr>
          <p:spPr bwMode="auto">
            <a:xfrm>
              <a:off x="3721100" y="1499088"/>
              <a:ext cx="2908300" cy="5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2000"/>
                <a:t>Current design</a:t>
              </a:r>
            </a:p>
          </p:txBody>
        </p:sp>
        <p:sp>
          <p:nvSpPr>
            <p:cNvPr id="140327" name="Line 37">
              <a:extLst>
                <a:ext uri="{FF2B5EF4-FFF2-40B4-BE49-F238E27FC236}">
                  <a16:creationId xmlns:a16="http://schemas.microsoft.com/office/drawing/2014/main" id="{9F4A3F8B-E5F3-0A04-43D6-F55ECD5C690C}"/>
                </a:ext>
              </a:extLst>
            </p:cNvPr>
            <p:cNvSpPr>
              <a:spLocks noChangeShapeType="1"/>
            </p:cNvSpPr>
            <p:nvPr/>
          </p:nvSpPr>
          <p:spPr bwMode="auto">
            <a:xfrm>
              <a:off x="1828800" y="2066925"/>
              <a:ext cx="1422400"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0328" name="Line 38">
              <a:extLst>
                <a:ext uri="{FF2B5EF4-FFF2-40B4-BE49-F238E27FC236}">
                  <a16:creationId xmlns:a16="http://schemas.microsoft.com/office/drawing/2014/main" id="{547150BA-3D05-507E-ECE4-5C4228815D55}"/>
                </a:ext>
              </a:extLst>
            </p:cNvPr>
            <p:cNvSpPr>
              <a:spLocks noChangeShapeType="1"/>
            </p:cNvSpPr>
            <p:nvPr/>
          </p:nvSpPr>
          <p:spPr bwMode="auto">
            <a:xfrm>
              <a:off x="1854200" y="4552950"/>
              <a:ext cx="1422400"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0329" name="Line 39">
              <a:extLst>
                <a:ext uri="{FF2B5EF4-FFF2-40B4-BE49-F238E27FC236}">
                  <a16:creationId xmlns:a16="http://schemas.microsoft.com/office/drawing/2014/main" id="{1C24F893-7D8D-947C-7AFD-CD0114428757}"/>
                </a:ext>
              </a:extLst>
            </p:cNvPr>
            <p:cNvSpPr>
              <a:spLocks noChangeShapeType="1"/>
            </p:cNvSpPr>
            <p:nvPr/>
          </p:nvSpPr>
          <p:spPr bwMode="auto">
            <a:xfrm flipV="1">
              <a:off x="3298825" y="1993496"/>
              <a:ext cx="0" cy="255627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0330" name="Line 40">
              <a:extLst>
                <a:ext uri="{FF2B5EF4-FFF2-40B4-BE49-F238E27FC236}">
                  <a16:creationId xmlns:a16="http://schemas.microsoft.com/office/drawing/2014/main" id="{727424BF-3513-ED2F-C8FD-EF6DF194621F}"/>
                </a:ext>
              </a:extLst>
            </p:cNvPr>
            <p:cNvSpPr>
              <a:spLocks noChangeShapeType="1"/>
            </p:cNvSpPr>
            <p:nvPr/>
          </p:nvSpPr>
          <p:spPr bwMode="auto">
            <a:xfrm flipV="1">
              <a:off x="6637338" y="2012546"/>
              <a:ext cx="0" cy="255627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0331" name="Line 41">
              <a:extLst>
                <a:ext uri="{FF2B5EF4-FFF2-40B4-BE49-F238E27FC236}">
                  <a16:creationId xmlns:a16="http://schemas.microsoft.com/office/drawing/2014/main" id="{05BDF3AB-AA82-007C-C8F8-D730B35E2266}"/>
                </a:ext>
              </a:extLst>
            </p:cNvPr>
            <p:cNvSpPr>
              <a:spLocks noChangeShapeType="1"/>
            </p:cNvSpPr>
            <p:nvPr/>
          </p:nvSpPr>
          <p:spPr bwMode="auto">
            <a:xfrm>
              <a:off x="6662738" y="2066925"/>
              <a:ext cx="132238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0332" name="Line 42">
              <a:extLst>
                <a:ext uri="{FF2B5EF4-FFF2-40B4-BE49-F238E27FC236}">
                  <a16:creationId xmlns:a16="http://schemas.microsoft.com/office/drawing/2014/main" id="{C4BB0035-CC36-E524-D226-E14954C5B306}"/>
                </a:ext>
              </a:extLst>
            </p:cNvPr>
            <p:cNvSpPr>
              <a:spLocks noChangeShapeType="1"/>
            </p:cNvSpPr>
            <p:nvPr/>
          </p:nvSpPr>
          <p:spPr bwMode="auto">
            <a:xfrm>
              <a:off x="6650038" y="4572000"/>
              <a:ext cx="132238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0333" name="Text Box 43">
              <a:extLst>
                <a:ext uri="{FF2B5EF4-FFF2-40B4-BE49-F238E27FC236}">
                  <a16:creationId xmlns:a16="http://schemas.microsoft.com/office/drawing/2014/main" id="{4E10FE59-BD0C-F93A-0D52-E842E01388C2}"/>
                </a:ext>
              </a:extLst>
            </p:cNvPr>
            <p:cNvSpPr txBox="1">
              <a:spLocks noChangeArrowheads="1"/>
            </p:cNvSpPr>
            <p:nvPr/>
          </p:nvSpPr>
          <p:spPr bwMode="auto">
            <a:xfrm>
              <a:off x="2066925" y="2216431"/>
              <a:ext cx="823913" cy="49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Reg1</a:t>
              </a:r>
            </a:p>
          </p:txBody>
        </p:sp>
        <p:sp>
          <p:nvSpPr>
            <p:cNvPr id="140334" name="Text Box 44">
              <a:extLst>
                <a:ext uri="{FF2B5EF4-FFF2-40B4-BE49-F238E27FC236}">
                  <a16:creationId xmlns:a16="http://schemas.microsoft.com/office/drawing/2014/main" id="{450D126F-0D71-FA08-BF88-A415BFBFDAED}"/>
                </a:ext>
              </a:extLst>
            </p:cNvPr>
            <p:cNvSpPr txBox="1">
              <a:spLocks noChangeArrowheads="1"/>
            </p:cNvSpPr>
            <p:nvPr/>
          </p:nvSpPr>
          <p:spPr bwMode="auto">
            <a:xfrm>
              <a:off x="4032250" y="2254531"/>
              <a:ext cx="947738" cy="49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Reg2</a:t>
              </a:r>
            </a:p>
          </p:txBody>
        </p:sp>
        <p:sp>
          <p:nvSpPr>
            <p:cNvPr id="140335" name="Text Box 45">
              <a:extLst>
                <a:ext uri="{FF2B5EF4-FFF2-40B4-BE49-F238E27FC236}">
                  <a16:creationId xmlns:a16="http://schemas.microsoft.com/office/drawing/2014/main" id="{D29AB9A7-564A-C47C-CF47-1C8B6690CC23}"/>
                </a:ext>
              </a:extLst>
            </p:cNvPr>
            <p:cNvSpPr txBox="1">
              <a:spLocks noChangeArrowheads="1"/>
            </p:cNvSpPr>
            <p:nvPr/>
          </p:nvSpPr>
          <p:spPr bwMode="auto">
            <a:xfrm>
              <a:off x="5251450" y="2235481"/>
              <a:ext cx="871538" cy="49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Reg3</a:t>
              </a:r>
            </a:p>
          </p:txBody>
        </p:sp>
        <p:sp>
          <p:nvSpPr>
            <p:cNvPr id="140336" name="Text Box 46">
              <a:extLst>
                <a:ext uri="{FF2B5EF4-FFF2-40B4-BE49-F238E27FC236}">
                  <a16:creationId xmlns:a16="http://schemas.microsoft.com/office/drawing/2014/main" id="{2AAE922D-FE11-8056-8CF9-F9443DBA5D2D}"/>
                </a:ext>
              </a:extLst>
            </p:cNvPr>
            <p:cNvSpPr txBox="1">
              <a:spLocks noChangeArrowheads="1"/>
            </p:cNvSpPr>
            <p:nvPr/>
          </p:nvSpPr>
          <p:spPr bwMode="auto">
            <a:xfrm>
              <a:off x="7207250" y="2197381"/>
              <a:ext cx="823913" cy="49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Reg4</a:t>
              </a:r>
            </a:p>
          </p:txBody>
        </p:sp>
        <p:sp>
          <p:nvSpPr>
            <p:cNvPr id="140337" name="Text Box 47">
              <a:extLst>
                <a:ext uri="{FF2B5EF4-FFF2-40B4-BE49-F238E27FC236}">
                  <a16:creationId xmlns:a16="http://schemas.microsoft.com/office/drawing/2014/main" id="{54F0C911-506C-64F3-78D1-9E398F493C1B}"/>
                </a:ext>
              </a:extLst>
            </p:cNvPr>
            <p:cNvSpPr txBox="1">
              <a:spLocks noChangeArrowheads="1"/>
            </p:cNvSpPr>
            <p:nvPr/>
          </p:nvSpPr>
          <p:spPr bwMode="auto">
            <a:xfrm>
              <a:off x="1219200" y="3886481"/>
              <a:ext cx="609600" cy="49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Clk</a:t>
              </a:r>
            </a:p>
          </p:txBody>
        </p:sp>
        <p:sp>
          <p:nvSpPr>
            <p:cNvPr id="140338" name="Text Box 48">
              <a:extLst>
                <a:ext uri="{FF2B5EF4-FFF2-40B4-BE49-F238E27FC236}">
                  <a16:creationId xmlns:a16="http://schemas.microsoft.com/office/drawing/2014/main" id="{DE132284-AE88-98FC-A707-E5EE13EA7A57}"/>
                </a:ext>
              </a:extLst>
            </p:cNvPr>
            <p:cNvSpPr txBox="1">
              <a:spLocks noChangeArrowheads="1"/>
            </p:cNvSpPr>
            <p:nvPr/>
          </p:nvSpPr>
          <p:spPr bwMode="auto">
            <a:xfrm>
              <a:off x="2755900" y="2824443"/>
              <a:ext cx="488950" cy="491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M</a:t>
              </a:r>
            </a:p>
          </p:txBody>
        </p:sp>
        <p:sp>
          <p:nvSpPr>
            <p:cNvPr id="140339" name="Text Box 49">
              <a:extLst>
                <a:ext uri="{FF2B5EF4-FFF2-40B4-BE49-F238E27FC236}">
                  <a16:creationId xmlns:a16="http://schemas.microsoft.com/office/drawing/2014/main" id="{450525C5-82CA-5039-1283-C664189DB9D4}"/>
                </a:ext>
              </a:extLst>
            </p:cNvPr>
            <p:cNvSpPr txBox="1">
              <a:spLocks noChangeArrowheads="1"/>
            </p:cNvSpPr>
            <p:nvPr/>
          </p:nvSpPr>
          <p:spPr bwMode="auto">
            <a:xfrm>
              <a:off x="3536950" y="2824443"/>
              <a:ext cx="490538" cy="491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N</a:t>
              </a:r>
            </a:p>
          </p:txBody>
        </p:sp>
        <p:sp>
          <p:nvSpPr>
            <p:cNvPr id="140340" name="Text Box 50">
              <a:extLst>
                <a:ext uri="{FF2B5EF4-FFF2-40B4-BE49-F238E27FC236}">
                  <a16:creationId xmlns:a16="http://schemas.microsoft.com/office/drawing/2014/main" id="{5EF5093C-C101-E5D0-3A55-23976E1EA4C8}"/>
                </a:ext>
              </a:extLst>
            </p:cNvPr>
            <p:cNvSpPr txBox="1">
              <a:spLocks noChangeArrowheads="1"/>
            </p:cNvSpPr>
            <p:nvPr/>
          </p:nvSpPr>
          <p:spPr bwMode="auto">
            <a:xfrm>
              <a:off x="4768850" y="2805393"/>
              <a:ext cx="490538" cy="491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X</a:t>
              </a:r>
            </a:p>
          </p:txBody>
        </p:sp>
        <p:sp>
          <p:nvSpPr>
            <p:cNvPr id="140341" name="Text Box 51">
              <a:extLst>
                <a:ext uri="{FF2B5EF4-FFF2-40B4-BE49-F238E27FC236}">
                  <a16:creationId xmlns:a16="http://schemas.microsoft.com/office/drawing/2014/main" id="{0CC6C4B5-FDBF-43F2-4579-B54E850426FA}"/>
                </a:ext>
              </a:extLst>
            </p:cNvPr>
            <p:cNvSpPr txBox="1">
              <a:spLocks noChangeArrowheads="1"/>
            </p:cNvSpPr>
            <p:nvPr/>
          </p:nvSpPr>
          <p:spPr bwMode="auto">
            <a:xfrm>
              <a:off x="6015038" y="2805393"/>
              <a:ext cx="488950" cy="491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S</a:t>
              </a:r>
            </a:p>
          </p:txBody>
        </p:sp>
        <p:sp>
          <p:nvSpPr>
            <p:cNvPr id="140342" name="Text Box 52">
              <a:extLst>
                <a:ext uri="{FF2B5EF4-FFF2-40B4-BE49-F238E27FC236}">
                  <a16:creationId xmlns:a16="http://schemas.microsoft.com/office/drawing/2014/main" id="{D551FF59-C70C-2607-6569-A3DC571C3A19}"/>
                </a:ext>
              </a:extLst>
            </p:cNvPr>
            <p:cNvSpPr txBox="1">
              <a:spLocks noChangeArrowheads="1"/>
            </p:cNvSpPr>
            <p:nvPr/>
          </p:nvSpPr>
          <p:spPr bwMode="auto">
            <a:xfrm>
              <a:off x="6729413" y="2824443"/>
              <a:ext cx="490537" cy="491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T</a:t>
              </a:r>
            </a:p>
          </p:txBody>
        </p:sp>
        <p:sp>
          <p:nvSpPr>
            <p:cNvPr id="140343" name="Text Box 53">
              <a:extLst>
                <a:ext uri="{FF2B5EF4-FFF2-40B4-BE49-F238E27FC236}">
                  <a16:creationId xmlns:a16="http://schemas.microsoft.com/office/drawing/2014/main" id="{E3A5A2E7-0F58-0F08-21A7-D381B8CC553B}"/>
                </a:ext>
              </a:extLst>
            </p:cNvPr>
            <p:cNvSpPr txBox="1">
              <a:spLocks noChangeArrowheads="1"/>
            </p:cNvSpPr>
            <p:nvPr/>
          </p:nvSpPr>
          <p:spPr bwMode="auto">
            <a:xfrm>
              <a:off x="6665913" y="1524000"/>
              <a:ext cx="1487487"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Circuit Y</a:t>
              </a:r>
            </a:p>
          </p:txBody>
        </p:sp>
        <p:sp>
          <p:nvSpPr>
            <p:cNvPr id="140344" name="Text Box 54">
              <a:extLst>
                <a:ext uri="{FF2B5EF4-FFF2-40B4-BE49-F238E27FC236}">
                  <a16:creationId xmlns:a16="http://schemas.microsoft.com/office/drawing/2014/main" id="{B23DF465-FC25-72F2-AE92-0553B1E8F478}"/>
                </a:ext>
              </a:extLst>
            </p:cNvPr>
            <p:cNvSpPr txBox="1">
              <a:spLocks noChangeArrowheads="1"/>
            </p:cNvSpPr>
            <p:nvPr/>
          </p:nvSpPr>
          <p:spPr bwMode="auto">
            <a:xfrm>
              <a:off x="1830388" y="1524000"/>
              <a:ext cx="1487487"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Circuit X</a:t>
              </a:r>
            </a:p>
          </p:txBody>
        </p:sp>
      </p:grpSp>
      <p:sp>
        <p:nvSpPr>
          <p:cNvPr id="140292" name="Text Box 55">
            <a:extLst>
              <a:ext uri="{FF2B5EF4-FFF2-40B4-BE49-F238E27FC236}">
                <a16:creationId xmlns:a16="http://schemas.microsoft.com/office/drawing/2014/main" id="{77753B9B-64B2-E217-C912-A2566629078C}"/>
              </a:ext>
            </a:extLst>
          </p:cNvPr>
          <p:cNvSpPr txBox="1">
            <a:spLocks noChangeArrowheads="1"/>
          </p:cNvSpPr>
          <p:nvPr/>
        </p:nvSpPr>
        <p:spPr bwMode="auto">
          <a:xfrm>
            <a:off x="2514600" y="4591050"/>
            <a:ext cx="7467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Design Compiler assumes a “synchronously</a:t>
            </a:r>
            <a:r>
              <a:rPr lang="en-US" altLang="en-US" sz="1800"/>
              <a:t> </a:t>
            </a:r>
            <a:r>
              <a:rPr lang="ru-RU" altLang="en-US" sz="1800"/>
              <a:t>clocked”</a:t>
            </a:r>
          </a:p>
          <a:p>
            <a:pPr eaLnBrk="1" hangingPunct="1">
              <a:spcBef>
                <a:spcPct val="0"/>
              </a:spcBef>
              <a:buClrTx/>
              <a:buSzTx/>
              <a:buFontTx/>
              <a:buNone/>
            </a:pPr>
            <a:r>
              <a:rPr lang="ru-RU" altLang="en-US" sz="1800"/>
              <a:t>environment. By default:</a:t>
            </a:r>
          </a:p>
          <a:p>
            <a:pPr eaLnBrk="1" hangingPunct="1">
              <a:spcBef>
                <a:spcPct val="0"/>
              </a:spcBef>
              <a:buClrTx/>
              <a:buSzTx/>
              <a:buFontTx/>
              <a:buChar char="•"/>
            </a:pPr>
            <a:r>
              <a:rPr lang="ru-RU" altLang="en-US" sz="1800"/>
              <a:t> Input data arrives from a pos-edge clocked device</a:t>
            </a:r>
          </a:p>
          <a:p>
            <a:pPr eaLnBrk="1" hangingPunct="1">
              <a:spcBef>
                <a:spcPct val="0"/>
              </a:spcBef>
              <a:buClrTx/>
              <a:buSzTx/>
              <a:buFontTx/>
              <a:buChar char="•"/>
            </a:pPr>
            <a:r>
              <a:rPr lang="ru-RU" altLang="en-US" sz="1800"/>
              <a:t> Output data goes to a pos-edge clocked device</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A847321A-BEF0-D86E-1732-4F60AFEC7BDD}"/>
              </a:ext>
            </a:extLst>
          </p:cNvPr>
          <p:cNvSpPr>
            <a:spLocks noGrp="1" noChangeArrowheads="1"/>
          </p:cNvSpPr>
          <p:nvPr>
            <p:ph type="title"/>
          </p:nvPr>
        </p:nvSpPr>
        <p:spPr/>
        <p:txBody>
          <a:bodyPr/>
          <a:lstStyle/>
          <a:p>
            <a:r>
              <a:rPr lang="en-US" altLang="en-US"/>
              <a:t>Create Clock </a:t>
            </a:r>
            <a:r>
              <a:rPr lang="ru-RU" altLang="en-US"/>
              <a:t>Constraining Register-to-Register Paths</a:t>
            </a:r>
          </a:p>
        </p:txBody>
      </p:sp>
      <p:grpSp>
        <p:nvGrpSpPr>
          <p:cNvPr id="141315" name="Group 1">
            <a:extLst>
              <a:ext uri="{FF2B5EF4-FFF2-40B4-BE49-F238E27FC236}">
                <a16:creationId xmlns:a16="http://schemas.microsoft.com/office/drawing/2014/main" id="{39E903FD-F9FD-3ED0-3EA5-30532D0DFFE9}"/>
              </a:ext>
            </a:extLst>
          </p:cNvPr>
          <p:cNvGrpSpPr>
            <a:grpSpLocks/>
          </p:cNvGrpSpPr>
          <p:nvPr/>
        </p:nvGrpSpPr>
        <p:grpSpPr bwMode="auto">
          <a:xfrm>
            <a:off x="1697039" y="1593851"/>
            <a:ext cx="8897937" cy="4183063"/>
            <a:chOff x="172719" y="1593850"/>
            <a:chExt cx="8898783" cy="4183063"/>
          </a:xfrm>
        </p:grpSpPr>
        <p:sp>
          <p:nvSpPr>
            <p:cNvPr id="141316" name="Text Box 3">
              <a:extLst>
                <a:ext uri="{FF2B5EF4-FFF2-40B4-BE49-F238E27FC236}">
                  <a16:creationId xmlns:a16="http://schemas.microsoft.com/office/drawing/2014/main" id="{05EEC93E-077C-97A6-3486-E7CA32C4B0C9}"/>
                </a:ext>
              </a:extLst>
            </p:cNvPr>
            <p:cNvSpPr txBox="1">
              <a:spLocks noChangeArrowheads="1"/>
            </p:cNvSpPr>
            <p:nvPr/>
          </p:nvSpPr>
          <p:spPr bwMode="auto">
            <a:xfrm>
              <a:off x="344615" y="3530600"/>
              <a:ext cx="196281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ru-RU" altLang="en-US" sz="1400"/>
                <a:t>Clock Period = 2ns</a:t>
              </a:r>
              <a:endParaRPr lang="en-US" altLang="en-US" sz="1400"/>
            </a:p>
          </p:txBody>
        </p:sp>
        <p:sp>
          <p:nvSpPr>
            <p:cNvPr id="141317" name="Text Box 4">
              <a:extLst>
                <a:ext uri="{FF2B5EF4-FFF2-40B4-BE49-F238E27FC236}">
                  <a16:creationId xmlns:a16="http://schemas.microsoft.com/office/drawing/2014/main" id="{4CC0F524-3C76-FA91-A5F3-B2DB53A3898D}"/>
                </a:ext>
              </a:extLst>
            </p:cNvPr>
            <p:cNvSpPr txBox="1">
              <a:spLocks noChangeArrowheads="1"/>
            </p:cNvSpPr>
            <p:nvPr/>
          </p:nvSpPr>
          <p:spPr bwMode="auto">
            <a:xfrm>
              <a:off x="337471" y="3917951"/>
              <a:ext cx="57649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ru-RU" altLang="en-US" sz="1800"/>
                <a:t>create_clock </a:t>
              </a:r>
              <a:r>
                <a:rPr lang="en-US" altLang="en-US" sz="1800"/>
                <a:t> </a:t>
              </a:r>
              <a:r>
                <a:rPr lang="ru-RU" altLang="en-US" sz="1800"/>
                <a:t>-period 2 [get_ports Clk]</a:t>
              </a:r>
            </a:p>
          </p:txBody>
        </p:sp>
        <p:grpSp>
          <p:nvGrpSpPr>
            <p:cNvPr id="141318" name="Group 5">
              <a:extLst>
                <a:ext uri="{FF2B5EF4-FFF2-40B4-BE49-F238E27FC236}">
                  <a16:creationId xmlns:a16="http://schemas.microsoft.com/office/drawing/2014/main" id="{8AC98782-031F-AC6F-7F9C-1F0907CC67DF}"/>
                </a:ext>
              </a:extLst>
            </p:cNvPr>
            <p:cNvGrpSpPr>
              <a:grpSpLocks/>
            </p:cNvGrpSpPr>
            <p:nvPr/>
          </p:nvGrpSpPr>
          <p:grpSpPr bwMode="auto">
            <a:xfrm>
              <a:off x="1676400" y="1593850"/>
              <a:ext cx="6600825" cy="2674938"/>
              <a:chOff x="1158" y="1004"/>
              <a:chExt cx="4122" cy="1685"/>
            </a:xfrm>
          </p:grpSpPr>
          <p:sp>
            <p:nvSpPr>
              <p:cNvPr id="141321" name="Line 6">
                <a:extLst>
                  <a:ext uri="{FF2B5EF4-FFF2-40B4-BE49-F238E27FC236}">
                    <a16:creationId xmlns:a16="http://schemas.microsoft.com/office/drawing/2014/main" id="{EED89ED7-B588-70F9-2FFC-B6A617A8A828}"/>
                  </a:ext>
                </a:extLst>
              </p:cNvPr>
              <p:cNvSpPr>
                <a:spLocks noChangeShapeType="1"/>
              </p:cNvSpPr>
              <p:nvPr/>
            </p:nvSpPr>
            <p:spPr bwMode="auto">
              <a:xfrm>
                <a:off x="1869" y="2070"/>
                <a:ext cx="0" cy="285"/>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1322" name="Line 7">
                <a:extLst>
                  <a:ext uri="{FF2B5EF4-FFF2-40B4-BE49-F238E27FC236}">
                    <a16:creationId xmlns:a16="http://schemas.microsoft.com/office/drawing/2014/main" id="{9CBAE635-C3A7-08AC-DB9C-838D21A3FCB5}"/>
                  </a:ext>
                </a:extLst>
              </p:cNvPr>
              <p:cNvSpPr>
                <a:spLocks noChangeShapeType="1"/>
              </p:cNvSpPr>
              <p:nvPr/>
            </p:nvSpPr>
            <p:spPr bwMode="auto">
              <a:xfrm>
                <a:off x="1855" y="2266"/>
                <a:ext cx="953" cy="0"/>
              </a:xfrm>
              <a:prstGeom prst="line">
                <a:avLst/>
              </a:prstGeom>
              <a:noFill/>
              <a:ln w="22225">
                <a:solidFill>
                  <a:srgbClr val="000000"/>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41323" name="Rectangle 8">
                <a:extLst>
                  <a:ext uri="{FF2B5EF4-FFF2-40B4-BE49-F238E27FC236}">
                    <a16:creationId xmlns:a16="http://schemas.microsoft.com/office/drawing/2014/main" id="{88488E61-42C4-40B9-7C24-F2C5D84A083D}"/>
                  </a:ext>
                </a:extLst>
              </p:cNvPr>
              <p:cNvSpPr>
                <a:spLocks noChangeArrowheads="1"/>
              </p:cNvSpPr>
              <p:nvPr/>
            </p:nvSpPr>
            <p:spPr bwMode="auto">
              <a:xfrm>
                <a:off x="2070" y="1278"/>
                <a:ext cx="367" cy="642"/>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1324" name="Rectangle 9">
                <a:extLst>
                  <a:ext uri="{FF2B5EF4-FFF2-40B4-BE49-F238E27FC236}">
                    <a16:creationId xmlns:a16="http://schemas.microsoft.com/office/drawing/2014/main" id="{91980861-C4C7-253E-C855-BECA9BAD64CA}"/>
                  </a:ext>
                </a:extLst>
              </p:cNvPr>
              <p:cNvSpPr>
                <a:spLocks noChangeArrowheads="1"/>
              </p:cNvSpPr>
              <p:nvPr/>
            </p:nvSpPr>
            <p:spPr bwMode="auto">
              <a:xfrm>
                <a:off x="3012" y="1269"/>
                <a:ext cx="367" cy="642"/>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1325" name="Oval 10">
                <a:extLst>
                  <a:ext uri="{FF2B5EF4-FFF2-40B4-BE49-F238E27FC236}">
                    <a16:creationId xmlns:a16="http://schemas.microsoft.com/office/drawing/2014/main" id="{76CA7C5A-ED5C-E540-18A6-1B33DFBC9F0D}"/>
                  </a:ext>
                </a:extLst>
              </p:cNvPr>
              <p:cNvSpPr>
                <a:spLocks noChangeArrowheads="1"/>
              </p:cNvSpPr>
              <p:nvPr/>
            </p:nvSpPr>
            <p:spPr bwMode="auto">
              <a:xfrm>
                <a:off x="1614" y="1383"/>
                <a:ext cx="325" cy="209"/>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1326" name="Oval 11">
                <a:extLst>
                  <a:ext uri="{FF2B5EF4-FFF2-40B4-BE49-F238E27FC236}">
                    <a16:creationId xmlns:a16="http://schemas.microsoft.com/office/drawing/2014/main" id="{617427CA-C92F-966F-52A5-490E2B5165E3}"/>
                  </a:ext>
                </a:extLst>
              </p:cNvPr>
              <p:cNvSpPr>
                <a:spLocks noChangeArrowheads="1"/>
              </p:cNvSpPr>
              <p:nvPr/>
            </p:nvSpPr>
            <p:spPr bwMode="auto">
              <a:xfrm>
                <a:off x="2556" y="1374"/>
                <a:ext cx="325" cy="209"/>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1327" name="Oval 12">
                <a:extLst>
                  <a:ext uri="{FF2B5EF4-FFF2-40B4-BE49-F238E27FC236}">
                    <a16:creationId xmlns:a16="http://schemas.microsoft.com/office/drawing/2014/main" id="{5F983365-463A-1F91-1636-EF55A882F032}"/>
                  </a:ext>
                </a:extLst>
              </p:cNvPr>
              <p:cNvSpPr>
                <a:spLocks noChangeArrowheads="1"/>
              </p:cNvSpPr>
              <p:nvPr/>
            </p:nvSpPr>
            <p:spPr bwMode="auto">
              <a:xfrm>
                <a:off x="3508" y="1383"/>
                <a:ext cx="325" cy="209"/>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1328" name="Line 13">
                <a:extLst>
                  <a:ext uri="{FF2B5EF4-FFF2-40B4-BE49-F238E27FC236}">
                    <a16:creationId xmlns:a16="http://schemas.microsoft.com/office/drawing/2014/main" id="{D1264031-AEC9-8F98-A7B9-4053D2BC3E95}"/>
                  </a:ext>
                </a:extLst>
              </p:cNvPr>
              <p:cNvSpPr>
                <a:spLocks noChangeShapeType="1"/>
              </p:cNvSpPr>
              <p:nvPr/>
            </p:nvSpPr>
            <p:spPr bwMode="auto">
              <a:xfrm>
                <a:off x="1948" y="1475"/>
                <a:ext cx="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29" name="Line 14">
                <a:extLst>
                  <a:ext uri="{FF2B5EF4-FFF2-40B4-BE49-F238E27FC236}">
                    <a16:creationId xmlns:a16="http://schemas.microsoft.com/office/drawing/2014/main" id="{343C6478-4ADA-C038-69F8-E4A2A69692A2}"/>
                  </a:ext>
                </a:extLst>
              </p:cNvPr>
              <p:cNvSpPr>
                <a:spLocks noChangeShapeType="1"/>
              </p:cNvSpPr>
              <p:nvPr/>
            </p:nvSpPr>
            <p:spPr bwMode="auto">
              <a:xfrm>
                <a:off x="2434" y="1485"/>
                <a:ext cx="12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0" name="Line 15">
                <a:extLst>
                  <a:ext uri="{FF2B5EF4-FFF2-40B4-BE49-F238E27FC236}">
                    <a16:creationId xmlns:a16="http://schemas.microsoft.com/office/drawing/2014/main" id="{539BC986-2536-32FE-8786-C619AE543888}"/>
                  </a:ext>
                </a:extLst>
              </p:cNvPr>
              <p:cNvSpPr>
                <a:spLocks noChangeShapeType="1"/>
              </p:cNvSpPr>
              <p:nvPr/>
            </p:nvSpPr>
            <p:spPr bwMode="auto">
              <a:xfrm>
                <a:off x="2890" y="1475"/>
                <a:ext cx="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1" name="Line 16">
                <a:extLst>
                  <a:ext uri="{FF2B5EF4-FFF2-40B4-BE49-F238E27FC236}">
                    <a16:creationId xmlns:a16="http://schemas.microsoft.com/office/drawing/2014/main" id="{B0A53348-8F82-D5C2-50A7-45FEEB703EB7}"/>
                  </a:ext>
                </a:extLst>
              </p:cNvPr>
              <p:cNvSpPr>
                <a:spLocks noChangeShapeType="1"/>
              </p:cNvSpPr>
              <p:nvPr/>
            </p:nvSpPr>
            <p:spPr bwMode="auto">
              <a:xfrm>
                <a:off x="3386" y="1475"/>
                <a:ext cx="12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2" name="Freeform 17">
                <a:extLst>
                  <a:ext uri="{FF2B5EF4-FFF2-40B4-BE49-F238E27FC236}">
                    <a16:creationId xmlns:a16="http://schemas.microsoft.com/office/drawing/2014/main" id="{7158CCD1-5AA1-5BB7-184F-4DEA8D6AAD21}"/>
                  </a:ext>
                </a:extLst>
              </p:cNvPr>
              <p:cNvSpPr>
                <a:spLocks/>
              </p:cNvSpPr>
              <p:nvPr/>
            </p:nvSpPr>
            <p:spPr bwMode="auto">
              <a:xfrm>
                <a:off x="2074" y="1714"/>
                <a:ext cx="80" cy="74"/>
              </a:xfrm>
              <a:custGeom>
                <a:avLst/>
                <a:gdLst>
                  <a:gd name="T0" fmla="*/ 0 w 129"/>
                  <a:gd name="T1" fmla="*/ 2 h 133"/>
                  <a:gd name="T2" fmla="*/ 4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333" name="Freeform 18">
                <a:extLst>
                  <a:ext uri="{FF2B5EF4-FFF2-40B4-BE49-F238E27FC236}">
                    <a16:creationId xmlns:a16="http://schemas.microsoft.com/office/drawing/2014/main" id="{7F9F3419-CF7F-326C-122D-A11232A16DAE}"/>
                  </a:ext>
                </a:extLst>
              </p:cNvPr>
              <p:cNvSpPr>
                <a:spLocks/>
              </p:cNvSpPr>
              <p:nvPr/>
            </p:nvSpPr>
            <p:spPr bwMode="auto">
              <a:xfrm>
                <a:off x="3016" y="1704"/>
                <a:ext cx="80" cy="75"/>
              </a:xfrm>
              <a:custGeom>
                <a:avLst/>
                <a:gdLst>
                  <a:gd name="T0" fmla="*/ 0 w 129"/>
                  <a:gd name="T1" fmla="*/ 3 h 133"/>
                  <a:gd name="T2" fmla="*/ 4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334" name="Line 19">
                <a:extLst>
                  <a:ext uri="{FF2B5EF4-FFF2-40B4-BE49-F238E27FC236}">
                    <a16:creationId xmlns:a16="http://schemas.microsoft.com/office/drawing/2014/main" id="{6C1BB252-0885-C456-8343-1E39676B864C}"/>
                  </a:ext>
                </a:extLst>
              </p:cNvPr>
              <p:cNvSpPr>
                <a:spLocks noChangeShapeType="1"/>
              </p:cNvSpPr>
              <p:nvPr/>
            </p:nvSpPr>
            <p:spPr bwMode="auto">
              <a:xfrm>
                <a:off x="1864" y="1738"/>
                <a:ext cx="0" cy="329"/>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1335" name="Line 20">
                <a:extLst>
                  <a:ext uri="{FF2B5EF4-FFF2-40B4-BE49-F238E27FC236}">
                    <a16:creationId xmlns:a16="http://schemas.microsoft.com/office/drawing/2014/main" id="{55DD4CC4-9B86-E3A0-06D1-D0E490AD5255}"/>
                  </a:ext>
                </a:extLst>
              </p:cNvPr>
              <p:cNvSpPr>
                <a:spLocks noChangeShapeType="1"/>
              </p:cNvSpPr>
              <p:nvPr/>
            </p:nvSpPr>
            <p:spPr bwMode="auto">
              <a:xfrm>
                <a:off x="1867" y="1747"/>
                <a:ext cx="19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6" name="Line 21">
                <a:extLst>
                  <a:ext uri="{FF2B5EF4-FFF2-40B4-BE49-F238E27FC236}">
                    <a16:creationId xmlns:a16="http://schemas.microsoft.com/office/drawing/2014/main" id="{C6B7F52A-8534-1AD2-8418-D545526DA3FF}"/>
                  </a:ext>
                </a:extLst>
              </p:cNvPr>
              <p:cNvSpPr>
                <a:spLocks noChangeShapeType="1"/>
              </p:cNvSpPr>
              <p:nvPr/>
            </p:nvSpPr>
            <p:spPr bwMode="auto">
              <a:xfrm>
                <a:off x="2827" y="1747"/>
                <a:ext cx="0" cy="329"/>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41337" name="Line 22">
                <a:extLst>
                  <a:ext uri="{FF2B5EF4-FFF2-40B4-BE49-F238E27FC236}">
                    <a16:creationId xmlns:a16="http://schemas.microsoft.com/office/drawing/2014/main" id="{536B9B09-FC9E-5D29-CA05-06269C4BA955}"/>
                  </a:ext>
                </a:extLst>
              </p:cNvPr>
              <p:cNvSpPr>
                <a:spLocks noChangeShapeType="1"/>
              </p:cNvSpPr>
              <p:nvPr/>
            </p:nvSpPr>
            <p:spPr bwMode="auto">
              <a:xfrm>
                <a:off x="2819" y="1738"/>
                <a:ext cx="1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8" name="Text Box 23">
                <a:extLst>
                  <a:ext uri="{FF2B5EF4-FFF2-40B4-BE49-F238E27FC236}">
                    <a16:creationId xmlns:a16="http://schemas.microsoft.com/office/drawing/2014/main" id="{50A93FAB-C77B-1525-9028-6EC1A755B50D}"/>
                  </a:ext>
                </a:extLst>
              </p:cNvPr>
              <p:cNvSpPr txBox="1">
                <a:spLocks noChangeArrowheads="1"/>
              </p:cNvSpPr>
              <p:nvPr/>
            </p:nvSpPr>
            <p:spPr bwMode="auto">
              <a:xfrm>
                <a:off x="2049" y="1004"/>
                <a:ext cx="547"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Reg2</a:t>
                </a:r>
              </a:p>
            </p:txBody>
          </p:sp>
          <p:sp>
            <p:nvSpPr>
              <p:cNvPr id="141339" name="Text Box 24">
                <a:extLst>
                  <a:ext uri="{FF2B5EF4-FFF2-40B4-BE49-F238E27FC236}">
                    <a16:creationId xmlns:a16="http://schemas.microsoft.com/office/drawing/2014/main" id="{3EA56D08-4879-1F0E-B83C-875E8A61B7F0}"/>
                  </a:ext>
                </a:extLst>
              </p:cNvPr>
              <p:cNvSpPr txBox="1">
                <a:spLocks noChangeArrowheads="1"/>
              </p:cNvSpPr>
              <p:nvPr/>
            </p:nvSpPr>
            <p:spPr bwMode="auto">
              <a:xfrm>
                <a:off x="2971" y="1009"/>
                <a:ext cx="54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Reg3</a:t>
                </a:r>
              </a:p>
            </p:txBody>
          </p:sp>
          <p:sp>
            <p:nvSpPr>
              <p:cNvPr id="141340" name="Line 25">
                <a:extLst>
                  <a:ext uri="{FF2B5EF4-FFF2-40B4-BE49-F238E27FC236}">
                    <a16:creationId xmlns:a16="http://schemas.microsoft.com/office/drawing/2014/main" id="{C53BD270-F1A6-1824-EC46-3BEBEB7F5021}"/>
                  </a:ext>
                </a:extLst>
              </p:cNvPr>
              <p:cNvSpPr>
                <a:spLocks noChangeShapeType="1"/>
              </p:cNvSpPr>
              <p:nvPr/>
            </p:nvSpPr>
            <p:spPr bwMode="auto">
              <a:xfrm flipV="1">
                <a:off x="1502" y="2079"/>
                <a:ext cx="13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41" name="Line 26">
                <a:extLst>
                  <a:ext uri="{FF2B5EF4-FFF2-40B4-BE49-F238E27FC236}">
                    <a16:creationId xmlns:a16="http://schemas.microsoft.com/office/drawing/2014/main" id="{ABFE9F6C-9CB3-45AB-E222-56F6BDD0F47F}"/>
                  </a:ext>
                </a:extLst>
              </p:cNvPr>
              <p:cNvSpPr>
                <a:spLocks noChangeShapeType="1"/>
              </p:cNvSpPr>
              <p:nvPr/>
            </p:nvSpPr>
            <p:spPr bwMode="auto">
              <a:xfrm>
                <a:off x="1452" y="1488"/>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42" name="Line 27">
                <a:extLst>
                  <a:ext uri="{FF2B5EF4-FFF2-40B4-BE49-F238E27FC236}">
                    <a16:creationId xmlns:a16="http://schemas.microsoft.com/office/drawing/2014/main" id="{564F83E0-8580-45F6-E791-3601D2190C43}"/>
                  </a:ext>
                </a:extLst>
              </p:cNvPr>
              <p:cNvSpPr>
                <a:spLocks noChangeShapeType="1"/>
              </p:cNvSpPr>
              <p:nvPr/>
            </p:nvSpPr>
            <p:spPr bwMode="auto">
              <a:xfrm>
                <a:off x="3832" y="1478"/>
                <a:ext cx="1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43" name="Text Box 28">
                <a:extLst>
                  <a:ext uri="{FF2B5EF4-FFF2-40B4-BE49-F238E27FC236}">
                    <a16:creationId xmlns:a16="http://schemas.microsoft.com/office/drawing/2014/main" id="{A1E01C68-FF69-B0B2-0C93-9D0EF6CA5F2A}"/>
                  </a:ext>
                </a:extLst>
              </p:cNvPr>
              <p:cNvSpPr txBox="1">
                <a:spLocks noChangeArrowheads="1"/>
              </p:cNvSpPr>
              <p:nvPr/>
            </p:nvSpPr>
            <p:spPr bwMode="auto">
              <a:xfrm>
                <a:off x="1158" y="1881"/>
                <a:ext cx="6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CLK</a:t>
                </a:r>
              </a:p>
            </p:txBody>
          </p:sp>
          <p:sp>
            <p:nvSpPr>
              <p:cNvPr id="141344" name="Arc 29">
                <a:extLst>
                  <a:ext uri="{FF2B5EF4-FFF2-40B4-BE49-F238E27FC236}">
                    <a16:creationId xmlns:a16="http://schemas.microsoft.com/office/drawing/2014/main" id="{8A82B768-2115-D4E7-70B7-39240179C6A2}"/>
                  </a:ext>
                </a:extLst>
              </p:cNvPr>
              <p:cNvSpPr>
                <a:spLocks/>
              </p:cNvSpPr>
              <p:nvPr/>
            </p:nvSpPr>
            <p:spPr bwMode="auto">
              <a:xfrm rot="12334644" flipV="1">
                <a:off x="2175" y="1350"/>
                <a:ext cx="1172" cy="677"/>
              </a:xfrm>
              <a:custGeom>
                <a:avLst/>
                <a:gdLst>
                  <a:gd name="T0" fmla="*/ 0 w 21600"/>
                  <a:gd name="T1" fmla="*/ 0 h 19829"/>
                  <a:gd name="T2" fmla="*/ 0 w 21600"/>
                  <a:gd name="T3" fmla="*/ 0 h 19829"/>
                  <a:gd name="T4" fmla="*/ 0 w 21600"/>
                  <a:gd name="T5" fmla="*/ 0 h 19829"/>
                  <a:gd name="T6" fmla="*/ 0 60000 65536"/>
                  <a:gd name="T7" fmla="*/ 0 60000 65536"/>
                  <a:gd name="T8" fmla="*/ 0 60000 65536"/>
                  <a:gd name="T9" fmla="*/ 0 w 21600"/>
                  <a:gd name="T10" fmla="*/ 0 h 19829"/>
                  <a:gd name="T11" fmla="*/ 21600 w 21600"/>
                  <a:gd name="T12" fmla="*/ 19829 h 19829"/>
                </a:gdLst>
                <a:ahLst/>
                <a:cxnLst>
                  <a:cxn ang="T6">
                    <a:pos x="T0" y="T1"/>
                  </a:cxn>
                  <a:cxn ang="T7">
                    <a:pos x="T2" y="T3"/>
                  </a:cxn>
                  <a:cxn ang="T8">
                    <a:pos x="T4" y="T5"/>
                  </a:cxn>
                </a:cxnLst>
                <a:rect l="T9" t="T10" r="T11" b="T12"/>
                <a:pathLst>
                  <a:path w="21600" h="19829" fill="none" extrusionOk="0">
                    <a:moveTo>
                      <a:pt x="8565" y="-1"/>
                    </a:moveTo>
                    <a:cubicBezTo>
                      <a:pt x="16476" y="3417"/>
                      <a:pt x="21600" y="11210"/>
                      <a:pt x="21600" y="19829"/>
                    </a:cubicBezTo>
                  </a:path>
                  <a:path w="21600" h="19829" stroke="0" extrusionOk="0">
                    <a:moveTo>
                      <a:pt x="8565" y="-1"/>
                    </a:moveTo>
                    <a:cubicBezTo>
                      <a:pt x="16476" y="3417"/>
                      <a:pt x="21600" y="11210"/>
                      <a:pt x="21600" y="19829"/>
                    </a:cubicBezTo>
                    <a:lnTo>
                      <a:pt x="0" y="19829"/>
                    </a:lnTo>
                    <a:lnTo>
                      <a:pt x="8565" y="-1"/>
                    </a:lnTo>
                    <a:close/>
                  </a:path>
                </a:pathLst>
              </a:custGeom>
              <a:noFill/>
              <a:ln w="22225">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1345" name="Text Box 30">
                <a:extLst>
                  <a:ext uri="{FF2B5EF4-FFF2-40B4-BE49-F238E27FC236}">
                    <a16:creationId xmlns:a16="http://schemas.microsoft.com/office/drawing/2014/main" id="{842573DC-D05A-5B2A-36A0-26EA954C515A}"/>
                  </a:ext>
                </a:extLst>
              </p:cNvPr>
              <p:cNvSpPr txBox="1">
                <a:spLocks noChangeArrowheads="1"/>
              </p:cNvSpPr>
              <p:nvPr/>
            </p:nvSpPr>
            <p:spPr bwMode="auto">
              <a:xfrm>
                <a:off x="1624" y="1372"/>
                <a:ext cx="375"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N</a:t>
                </a:r>
              </a:p>
            </p:txBody>
          </p:sp>
          <p:sp>
            <p:nvSpPr>
              <p:cNvPr id="141346" name="Text Box 31">
                <a:extLst>
                  <a:ext uri="{FF2B5EF4-FFF2-40B4-BE49-F238E27FC236}">
                    <a16:creationId xmlns:a16="http://schemas.microsoft.com/office/drawing/2014/main" id="{5082EB69-1D38-F35A-3661-E4DBB3E1A237}"/>
                  </a:ext>
                </a:extLst>
              </p:cNvPr>
              <p:cNvSpPr txBox="1">
                <a:spLocks noChangeArrowheads="1"/>
              </p:cNvSpPr>
              <p:nvPr/>
            </p:nvSpPr>
            <p:spPr bwMode="auto">
              <a:xfrm>
                <a:off x="2556" y="1381"/>
                <a:ext cx="375"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X</a:t>
                </a:r>
              </a:p>
            </p:txBody>
          </p:sp>
          <p:sp>
            <p:nvSpPr>
              <p:cNvPr id="141347" name="Text Box 32">
                <a:extLst>
                  <a:ext uri="{FF2B5EF4-FFF2-40B4-BE49-F238E27FC236}">
                    <a16:creationId xmlns:a16="http://schemas.microsoft.com/office/drawing/2014/main" id="{208E6E0B-2A48-2F5A-E378-CA12640A0727}"/>
                  </a:ext>
                </a:extLst>
              </p:cNvPr>
              <p:cNvSpPr txBox="1">
                <a:spLocks noChangeArrowheads="1"/>
              </p:cNvSpPr>
              <p:nvPr/>
            </p:nvSpPr>
            <p:spPr bwMode="auto">
              <a:xfrm>
                <a:off x="3528" y="1372"/>
                <a:ext cx="375"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S</a:t>
                </a:r>
              </a:p>
            </p:txBody>
          </p:sp>
          <p:sp>
            <p:nvSpPr>
              <p:cNvPr id="141348" name="Line 33">
                <a:extLst>
                  <a:ext uri="{FF2B5EF4-FFF2-40B4-BE49-F238E27FC236}">
                    <a16:creationId xmlns:a16="http://schemas.microsoft.com/office/drawing/2014/main" id="{16D3D8C3-5FF8-504F-53E0-C5249464C9D3}"/>
                  </a:ext>
                </a:extLst>
              </p:cNvPr>
              <p:cNvSpPr>
                <a:spLocks noChangeShapeType="1"/>
              </p:cNvSpPr>
              <p:nvPr/>
            </p:nvSpPr>
            <p:spPr bwMode="auto">
              <a:xfrm>
                <a:off x="2821" y="2070"/>
                <a:ext cx="0" cy="284"/>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1349" name="Text Box 34">
                <a:extLst>
                  <a:ext uri="{FF2B5EF4-FFF2-40B4-BE49-F238E27FC236}">
                    <a16:creationId xmlns:a16="http://schemas.microsoft.com/office/drawing/2014/main" id="{93C9C819-171B-CA39-27C2-4D43A1C889AF}"/>
                  </a:ext>
                </a:extLst>
              </p:cNvPr>
              <p:cNvSpPr txBox="1">
                <a:spLocks noChangeArrowheads="1"/>
              </p:cNvSpPr>
              <p:nvPr/>
            </p:nvSpPr>
            <p:spPr bwMode="auto">
              <a:xfrm>
                <a:off x="2110" y="2224"/>
                <a:ext cx="6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P</a:t>
                </a:r>
              </a:p>
            </p:txBody>
          </p:sp>
          <p:sp>
            <p:nvSpPr>
              <p:cNvPr id="141350" name="Line 35">
                <a:extLst>
                  <a:ext uri="{FF2B5EF4-FFF2-40B4-BE49-F238E27FC236}">
                    <a16:creationId xmlns:a16="http://schemas.microsoft.com/office/drawing/2014/main" id="{7A0C2343-DE5F-DE59-A364-62C36811638C}"/>
                  </a:ext>
                </a:extLst>
              </p:cNvPr>
              <p:cNvSpPr>
                <a:spLocks noChangeShapeType="1"/>
              </p:cNvSpPr>
              <p:nvPr/>
            </p:nvSpPr>
            <p:spPr bwMode="auto">
              <a:xfrm>
                <a:off x="3744" y="2211"/>
                <a:ext cx="3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1" name="Line 36">
                <a:extLst>
                  <a:ext uri="{FF2B5EF4-FFF2-40B4-BE49-F238E27FC236}">
                    <a16:creationId xmlns:a16="http://schemas.microsoft.com/office/drawing/2014/main" id="{4EB59C67-4C95-3F28-D64C-61BEBF8AC5DA}"/>
                  </a:ext>
                </a:extLst>
              </p:cNvPr>
              <p:cNvSpPr>
                <a:spLocks noChangeShapeType="1"/>
              </p:cNvSpPr>
              <p:nvPr/>
            </p:nvSpPr>
            <p:spPr bwMode="auto">
              <a:xfrm flipV="1">
                <a:off x="4045" y="1920"/>
                <a:ext cx="0" cy="25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2" name="Line 37">
                <a:extLst>
                  <a:ext uri="{FF2B5EF4-FFF2-40B4-BE49-F238E27FC236}">
                    <a16:creationId xmlns:a16="http://schemas.microsoft.com/office/drawing/2014/main" id="{C3F7FE7F-7ED7-4FC1-CD8A-04CC709AC0DD}"/>
                  </a:ext>
                </a:extLst>
              </p:cNvPr>
              <p:cNvSpPr>
                <a:spLocks noChangeShapeType="1"/>
              </p:cNvSpPr>
              <p:nvPr/>
            </p:nvSpPr>
            <p:spPr bwMode="auto">
              <a:xfrm>
                <a:off x="4362" y="2219"/>
                <a:ext cx="3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3" name="Line 38">
                <a:extLst>
                  <a:ext uri="{FF2B5EF4-FFF2-40B4-BE49-F238E27FC236}">
                    <a16:creationId xmlns:a16="http://schemas.microsoft.com/office/drawing/2014/main" id="{301EB2CA-4967-46AC-3189-1FFC31788142}"/>
                  </a:ext>
                </a:extLst>
              </p:cNvPr>
              <p:cNvSpPr>
                <a:spLocks noChangeShapeType="1"/>
              </p:cNvSpPr>
              <p:nvPr/>
            </p:nvSpPr>
            <p:spPr bwMode="auto">
              <a:xfrm flipV="1">
                <a:off x="4671" y="1928"/>
                <a:ext cx="0" cy="2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4" name="Line 39">
                <a:extLst>
                  <a:ext uri="{FF2B5EF4-FFF2-40B4-BE49-F238E27FC236}">
                    <a16:creationId xmlns:a16="http://schemas.microsoft.com/office/drawing/2014/main" id="{A2FE8DD7-FD4D-937A-0761-3E37D17F7133}"/>
                  </a:ext>
                </a:extLst>
              </p:cNvPr>
              <p:cNvSpPr>
                <a:spLocks noChangeShapeType="1"/>
              </p:cNvSpPr>
              <p:nvPr/>
            </p:nvSpPr>
            <p:spPr bwMode="auto">
              <a:xfrm>
                <a:off x="4053" y="1920"/>
                <a:ext cx="3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5" name="Line 40">
                <a:extLst>
                  <a:ext uri="{FF2B5EF4-FFF2-40B4-BE49-F238E27FC236}">
                    <a16:creationId xmlns:a16="http://schemas.microsoft.com/office/drawing/2014/main" id="{2B968A28-F016-FB16-B32C-AEE6D65218EF}"/>
                  </a:ext>
                </a:extLst>
              </p:cNvPr>
              <p:cNvSpPr>
                <a:spLocks noChangeShapeType="1"/>
              </p:cNvSpPr>
              <p:nvPr/>
            </p:nvSpPr>
            <p:spPr bwMode="auto">
              <a:xfrm flipV="1">
                <a:off x="4362" y="1920"/>
                <a:ext cx="0" cy="25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6" name="Line 41">
                <a:extLst>
                  <a:ext uri="{FF2B5EF4-FFF2-40B4-BE49-F238E27FC236}">
                    <a16:creationId xmlns:a16="http://schemas.microsoft.com/office/drawing/2014/main" id="{D7D29650-BD50-8575-114E-AB8A9259511E}"/>
                  </a:ext>
                </a:extLst>
              </p:cNvPr>
              <p:cNvSpPr>
                <a:spLocks noChangeShapeType="1"/>
              </p:cNvSpPr>
              <p:nvPr/>
            </p:nvSpPr>
            <p:spPr bwMode="auto">
              <a:xfrm>
                <a:off x="4671" y="1928"/>
                <a:ext cx="3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7" name="Line 42">
                <a:extLst>
                  <a:ext uri="{FF2B5EF4-FFF2-40B4-BE49-F238E27FC236}">
                    <a16:creationId xmlns:a16="http://schemas.microsoft.com/office/drawing/2014/main" id="{35639419-1C34-936F-521F-D97867E51488}"/>
                  </a:ext>
                </a:extLst>
              </p:cNvPr>
              <p:cNvSpPr>
                <a:spLocks noChangeShapeType="1"/>
              </p:cNvSpPr>
              <p:nvPr/>
            </p:nvSpPr>
            <p:spPr bwMode="auto">
              <a:xfrm flipV="1">
                <a:off x="4972" y="1935"/>
                <a:ext cx="0" cy="25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8" name="Line 43">
                <a:extLst>
                  <a:ext uri="{FF2B5EF4-FFF2-40B4-BE49-F238E27FC236}">
                    <a16:creationId xmlns:a16="http://schemas.microsoft.com/office/drawing/2014/main" id="{B676EC65-1715-9342-CB4D-16C7EA00CF6A}"/>
                  </a:ext>
                </a:extLst>
              </p:cNvPr>
              <p:cNvSpPr>
                <a:spLocks noChangeShapeType="1"/>
              </p:cNvSpPr>
              <p:nvPr/>
            </p:nvSpPr>
            <p:spPr bwMode="auto">
              <a:xfrm>
                <a:off x="4972" y="2186"/>
                <a:ext cx="3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59" name="Line 44">
                <a:extLst>
                  <a:ext uri="{FF2B5EF4-FFF2-40B4-BE49-F238E27FC236}">
                    <a16:creationId xmlns:a16="http://schemas.microsoft.com/office/drawing/2014/main" id="{B3370B08-CCF2-4662-CEC8-11092D1C44A2}"/>
                  </a:ext>
                </a:extLst>
              </p:cNvPr>
              <p:cNvSpPr>
                <a:spLocks noChangeShapeType="1"/>
              </p:cNvSpPr>
              <p:nvPr/>
            </p:nvSpPr>
            <p:spPr bwMode="auto">
              <a:xfrm flipH="1">
                <a:off x="4045" y="2163"/>
                <a:ext cx="0" cy="175"/>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1360" name="Line 45">
                <a:extLst>
                  <a:ext uri="{FF2B5EF4-FFF2-40B4-BE49-F238E27FC236}">
                    <a16:creationId xmlns:a16="http://schemas.microsoft.com/office/drawing/2014/main" id="{48F9E48C-4CC9-7789-6838-1103CD7ADED6}"/>
                  </a:ext>
                </a:extLst>
              </p:cNvPr>
              <p:cNvSpPr>
                <a:spLocks noChangeShapeType="1"/>
              </p:cNvSpPr>
              <p:nvPr/>
            </p:nvSpPr>
            <p:spPr bwMode="auto">
              <a:xfrm flipH="1">
                <a:off x="4364" y="2171"/>
                <a:ext cx="0" cy="175"/>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1361" name="Line 46">
                <a:extLst>
                  <a:ext uri="{FF2B5EF4-FFF2-40B4-BE49-F238E27FC236}">
                    <a16:creationId xmlns:a16="http://schemas.microsoft.com/office/drawing/2014/main" id="{A8CE421A-9505-B306-DDB5-29FB803087CC}"/>
                  </a:ext>
                </a:extLst>
              </p:cNvPr>
              <p:cNvSpPr>
                <a:spLocks noChangeShapeType="1"/>
              </p:cNvSpPr>
              <p:nvPr/>
            </p:nvSpPr>
            <p:spPr bwMode="auto">
              <a:xfrm flipH="1">
                <a:off x="4671" y="2171"/>
                <a:ext cx="0" cy="175"/>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1362" name="Line 47">
                <a:extLst>
                  <a:ext uri="{FF2B5EF4-FFF2-40B4-BE49-F238E27FC236}">
                    <a16:creationId xmlns:a16="http://schemas.microsoft.com/office/drawing/2014/main" id="{35FBA35D-EE3F-C861-4FB4-8995B3464342}"/>
                  </a:ext>
                </a:extLst>
              </p:cNvPr>
              <p:cNvSpPr>
                <a:spLocks noChangeShapeType="1"/>
              </p:cNvSpPr>
              <p:nvPr/>
            </p:nvSpPr>
            <p:spPr bwMode="auto">
              <a:xfrm>
                <a:off x="4045" y="2285"/>
                <a:ext cx="309"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1363" name="Line 48">
                <a:extLst>
                  <a:ext uri="{FF2B5EF4-FFF2-40B4-BE49-F238E27FC236}">
                    <a16:creationId xmlns:a16="http://schemas.microsoft.com/office/drawing/2014/main" id="{1BE8FA4C-825E-D0F9-33B6-7D4231AD32CB}"/>
                  </a:ext>
                </a:extLst>
              </p:cNvPr>
              <p:cNvSpPr>
                <a:spLocks noChangeShapeType="1"/>
              </p:cNvSpPr>
              <p:nvPr/>
            </p:nvSpPr>
            <p:spPr bwMode="auto">
              <a:xfrm>
                <a:off x="4370" y="2285"/>
                <a:ext cx="310"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1364" name="Text Box 49">
                <a:extLst>
                  <a:ext uri="{FF2B5EF4-FFF2-40B4-BE49-F238E27FC236}">
                    <a16:creationId xmlns:a16="http://schemas.microsoft.com/office/drawing/2014/main" id="{D45D6A99-7A34-D0A8-7B0F-741B90A58AC8}"/>
                  </a:ext>
                </a:extLst>
              </p:cNvPr>
              <p:cNvSpPr txBox="1">
                <a:spLocks noChangeArrowheads="1"/>
              </p:cNvSpPr>
              <p:nvPr/>
            </p:nvSpPr>
            <p:spPr bwMode="auto">
              <a:xfrm>
                <a:off x="4012" y="2268"/>
                <a:ext cx="39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400" b="1"/>
                  <a:t>1 ns</a:t>
                </a:r>
              </a:p>
            </p:txBody>
          </p:sp>
          <p:sp>
            <p:nvSpPr>
              <p:cNvPr id="141365" name="Text Box 50">
                <a:extLst>
                  <a:ext uri="{FF2B5EF4-FFF2-40B4-BE49-F238E27FC236}">
                    <a16:creationId xmlns:a16="http://schemas.microsoft.com/office/drawing/2014/main" id="{B98EB80E-3F1E-DF20-7627-B359260523BF}"/>
                  </a:ext>
                </a:extLst>
              </p:cNvPr>
              <p:cNvSpPr txBox="1">
                <a:spLocks noChangeArrowheads="1"/>
              </p:cNvSpPr>
              <p:nvPr/>
            </p:nvSpPr>
            <p:spPr bwMode="auto">
              <a:xfrm>
                <a:off x="4313" y="2283"/>
                <a:ext cx="39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400" b="1"/>
                  <a:t>1 ns</a:t>
                </a:r>
              </a:p>
            </p:txBody>
          </p:sp>
          <p:sp>
            <p:nvSpPr>
              <p:cNvPr id="141366" name="Text Box 51">
                <a:extLst>
                  <a:ext uri="{FF2B5EF4-FFF2-40B4-BE49-F238E27FC236}">
                    <a16:creationId xmlns:a16="http://schemas.microsoft.com/office/drawing/2014/main" id="{EC4A9979-5594-516C-ACB0-F54AE8F488E4}"/>
                  </a:ext>
                </a:extLst>
              </p:cNvPr>
              <p:cNvSpPr txBox="1">
                <a:spLocks noChangeArrowheads="1"/>
              </p:cNvSpPr>
              <p:nvPr/>
            </p:nvSpPr>
            <p:spPr bwMode="auto">
              <a:xfrm>
                <a:off x="4254" y="2417"/>
                <a:ext cx="93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t>CLK</a:t>
                </a:r>
              </a:p>
            </p:txBody>
          </p:sp>
        </p:grpSp>
        <p:sp>
          <p:nvSpPr>
            <p:cNvPr id="141319" name="Text Box 52">
              <a:extLst>
                <a:ext uri="{FF2B5EF4-FFF2-40B4-BE49-F238E27FC236}">
                  <a16:creationId xmlns:a16="http://schemas.microsoft.com/office/drawing/2014/main" id="{315ECAF5-9D51-25EE-EB9A-558AD1C9E134}"/>
                </a:ext>
              </a:extLst>
            </p:cNvPr>
            <p:cNvSpPr txBox="1">
              <a:spLocks noChangeArrowheads="1"/>
            </p:cNvSpPr>
            <p:nvPr/>
          </p:nvSpPr>
          <p:spPr bwMode="auto">
            <a:xfrm>
              <a:off x="231969" y="4364137"/>
              <a:ext cx="883953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The unit of time is defined in the technology library. It is commonly 1 nano-second, as in the example</a:t>
              </a:r>
              <a:r>
                <a:rPr lang="en-US" altLang="en-US" sz="1600"/>
                <a:t> </a:t>
              </a:r>
              <a:r>
                <a:rPr lang="ru-RU" altLang="en-US" sz="1600"/>
                <a:t>above, but it may also be defined differently, for example: 0.1 nano-second, 10 pico-seconds, or 1 picosecond</a:t>
              </a:r>
              <a:r>
                <a:rPr lang="en-US" altLang="en-US" sz="1600"/>
                <a:t>.</a:t>
              </a:r>
            </a:p>
            <a:p>
              <a:pPr eaLnBrk="1" hangingPunct="1">
                <a:spcBef>
                  <a:spcPct val="0"/>
                </a:spcBef>
                <a:buClrTx/>
                <a:buSzTx/>
                <a:buFontTx/>
                <a:buNone/>
              </a:pPr>
              <a:r>
                <a:rPr lang="en-US" altLang="en-US" sz="1600"/>
                <a:t>Assume that setup_time = 0.1 </a:t>
              </a:r>
              <a:endParaRPr lang="ru-RU" altLang="en-US" sz="1600"/>
            </a:p>
          </p:txBody>
        </p:sp>
        <p:sp>
          <p:nvSpPr>
            <p:cNvPr id="141320" name="Text Box 53">
              <a:extLst>
                <a:ext uri="{FF2B5EF4-FFF2-40B4-BE49-F238E27FC236}">
                  <a16:creationId xmlns:a16="http://schemas.microsoft.com/office/drawing/2014/main" id="{2FE979FD-17AC-99BF-365E-6263A5AA5D9F}"/>
                </a:ext>
              </a:extLst>
            </p:cNvPr>
            <p:cNvSpPr txBox="1">
              <a:spLocks noChangeArrowheads="1"/>
            </p:cNvSpPr>
            <p:nvPr/>
          </p:nvSpPr>
          <p:spPr bwMode="auto">
            <a:xfrm>
              <a:off x="172719" y="5410200"/>
              <a:ext cx="868580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ru-RU" altLang="en-US" sz="1800" b="1">
                  <a:solidFill>
                    <a:schemeClr val="accent2"/>
                  </a:solidFill>
                </a:rPr>
                <a:t>Treg-to-reg, max = P – Setup_Time (assuming 0 clock skew) = 2 – 0.</a:t>
              </a:r>
              <a:r>
                <a:rPr lang="en-US" altLang="en-US" sz="1800" b="1">
                  <a:solidFill>
                    <a:schemeClr val="accent2"/>
                  </a:solidFill>
                </a:rPr>
                <a:t>1</a:t>
              </a:r>
              <a:r>
                <a:rPr lang="ru-RU" altLang="en-US" sz="1800" b="1">
                  <a:solidFill>
                    <a:schemeClr val="accent2"/>
                  </a:solidFill>
                </a:rPr>
                <a:t> = 1.</a:t>
              </a:r>
              <a:r>
                <a:rPr lang="en-US" altLang="en-US" sz="1800" b="1">
                  <a:solidFill>
                    <a:schemeClr val="accent2"/>
                  </a:solidFill>
                </a:rPr>
                <a:t>9</a:t>
              </a:r>
              <a:r>
                <a:rPr lang="ru-RU" altLang="en-US" sz="1800" b="1">
                  <a:solidFill>
                    <a:schemeClr val="accent2"/>
                  </a:solidFill>
                </a:rPr>
                <a:t>ns</a:t>
              </a:r>
            </a:p>
          </p:txBody>
        </p:sp>
      </p:gr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4">
            <a:extLst>
              <a:ext uri="{FF2B5EF4-FFF2-40B4-BE49-F238E27FC236}">
                <a16:creationId xmlns:a16="http://schemas.microsoft.com/office/drawing/2014/main" id="{FFF7FDB5-A3A6-73E3-DE49-F53468C1BF14}"/>
              </a:ext>
            </a:extLst>
          </p:cNvPr>
          <p:cNvSpPr>
            <a:spLocks noGrp="1" noChangeArrowheads="1"/>
          </p:cNvSpPr>
          <p:nvPr>
            <p:ph type="title"/>
          </p:nvPr>
        </p:nvSpPr>
        <p:spPr/>
        <p:txBody>
          <a:bodyPr/>
          <a:lstStyle/>
          <a:p>
            <a:r>
              <a:rPr lang="ru-RU" altLang="en-US"/>
              <a:t>Modeling Clock Trees</a:t>
            </a:r>
          </a:p>
        </p:txBody>
      </p:sp>
      <p:sp>
        <p:nvSpPr>
          <p:cNvPr id="142339" name="Text Box 5">
            <a:extLst>
              <a:ext uri="{FF2B5EF4-FFF2-40B4-BE49-F238E27FC236}">
                <a16:creationId xmlns:a16="http://schemas.microsoft.com/office/drawing/2014/main" id="{A7644E12-0D9E-B6E5-523D-CACE82CD6175}"/>
              </a:ext>
            </a:extLst>
          </p:cNvPr>
          <p:cNvSpPr txBox="1">
            <a:spLocks noChangeArrowheads="1"/>
          </p:cNvSpPr>
          <p:nvPr/>
        </p:nvSpPr>
        <p:spPr bwMode="auto">
          <a:xfrm>
            <a:off x="1676400" y="1676401"/>
            <a:ext cx="861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endParaRPr lang="en-US" altLang="en-US" sz="1800"/>
          </a:p>
        </p:txBody>
      </p:sp>
      <p:sp>
        <p:nvSpPr>
          <p:cNvPr id="142340" name="Rectangle 7">
            <a:extLst>
              <a:ext uri="{FF2B5EF4-FFF2-40B4-BE49-F238E27FC236}">
                <a16:creationId xmlns:a16="http://schemas.microsoft.com/office/drawing/2014/main" id="{7299504D-08B9-85F8-FA5C-951CCF8D58E4}"/>
              </a:ext>
            </a:extLst>
          </p:cNvPr>
          <p:cNvSpPr>
            <a:spLocks noChangeArrowheads="1"/>
          </p:cNvSpPr>
          <p:nvPr/>
        </p:nvSpPr>
        <p:spPr bwMode="auto">
          <a:xfrm>
            <a:off x="5621338" y="2230438"/>
            <a:ext cx="768350" cy="1028700"/>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2341" name="Rectangle 8">
            <a:extLst>
              <a:ext uri="{FF2B5EF4-FFF2-40B4-BE49-F238E27FC236}">
                <a16:creationId xmlns:a16="http://schemas.microsoft.com/office/drawing/2014/main" id="{CD807201-EA8F-C718-E797-30A8338067AC}"/>
              </a:ext>
            </a:extLst>
          </p:cNvPr>
          <p:cNvSpPr>
            <a:spLocks noChangeArrowheads="1"/>
          </p:cNvSpPr>
          <p:nvPr/>
        </p:nvSpPr>
        <p:spPr bwMode="auto">
          <a:xfrm>
            <a:off x="7156451" y="2230438"/>
            <a:ext cx="766763" cy="1028700"/>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2342" name="Text Box 9">
            <a:extLst>
              <a:ext uri="{FF2B5EF4-FFF2-40B4-BE49-F238E27FC236}">
                <a16:creationId xmlns:a16="http://schemas.microsoft.com/office/drawing/2014/main" id="{C2F1C892-F31D-49A7-6D29-222D0A5AAB93}"/>
              </a:ext>
            </a:extLst>
          </p:cNvPr>
          <p:cNvSpPr txBox="1">
            <a:spLocks noChangeArrowheads="1"/>
          </p:cNvSpPr>
          <p:nvPr/>
        </p:nvSpPr>
        <p:spPr bwMode="auto">
          <a:xfrm>
            <a:off x="5607050" y="1843088"/>
            <a:ext cx="903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Reg2</a:t>
            </a:r>
          </a:p>
        </p:txBody>
      </p:sp>
      <p:sp>
        <p:nvSpPr>
          <p:cNvPr id="142343" name="Text Box 10">
            <a:extLst>
              <a:ext uri="{FF2B5EF4-FFF2-40B4-BE49-F238E27FC236}">
                <a16:creationId xmlns:a16="http://schemas.microsoft.com/office/drawing/2014/main" id="{E82D4A09-82B5-0E7D-A8C7-545751E48405}"/>
              </a:ext>
            </a:extLst>
          </p:cNvPr>
          <p:cNvSpPr txBox="1">
            <a:spLocks noChangeArrowheads="1"/>
          </p:cNvSpPr>
          <p:nvPr/>
        </p:nvSpPr>
        <p:spPr bwMode="auto">
          <a:xfrm>
            <a:off x="7156451" y="1846264"/>
            <a:ext cx="796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Reg3</a:t>
            </a:r>
          </a:p>
        </p:txBody>
      </p:sp>
      <p:sp>
        <p:nvSpPr>
          <p:cNvPr id="142344" name="Freeform 11">
            <a:extLst>
              <a:ext uri="{FF2B5EF4-FFF2-40B4-BE49-F238E27FC236}">
                <a16:creationId xmlns:a16="http://schemas.microsoft.com/office/drawing/2014/main" id="{6F8CBE8E-4DB9-392F-8276-7892743CA996}"/>
              </a:ext>
            </a:extLst>
          </p:cNvPr>
          <p:cNvSpPr>
            <a:spLocks/>
          </p:cNvSpPr>
          <p:nvPr/>
        </p:nvSpPr>
        <p:spPr bwMode="auto">
          <a:xfrm>
            <a:off x="5627689" y="2878139"/>
            <a:ext cx="149225" cy="13017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345" name="Freeform 12">
            <a:extLst>
              <a:ext uri="{FF2B5EF4-FFF2-40B4-BE49-F238E27FC236}">
                <a16:creationId xmlns:a16="http://schemas.microsoft.com/office/drawing/2014/main" id="{BC3AFF5A-5A90-C364-D70A-497D12E6BB65}"/>
              </a:ext>
            </a:extLst>
          </p:cNvPr>
          <p:cNvSpPr>
            <a:spLocks/>
          </p:cNvSpPr>
          <p:nvPr/>
        </p:nvSpPr>
        <p:spPr bwMode="auto">
          <a:xfrm>
            <a:off x="7173914" y="2874963"/>
            <a:ext cx="149225" cy="13176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2346" name="Line 13">
            <a:extLst>
              <a:ext uri="{FF2B5EF4-FFF2-40B4-BE49-F238E27FC236}">
                <a16:creationId xmlns:a16="http://schemas.microsoft.com/office/drawing/2014/main" id="{A687914E-E0BD-DF81-1B3C-020EB914260A}"/>
              </a:ext>
            </a:extLst>
          </p:cNvPr>
          <p:cNvSpPr>
            <a:spLocks noChangeShapeType="1"/>
          </p:cNvSpPr>
          <p:nvPr/>
        </p:nvSpPr>
        <p:spPr bwMode="auto">
          <a:xfrm>
            <a:off x="5008564" y="2941638"/>
            <a:ext cx="5857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47" name="Line 14">
            <a:extLst>
              <a:ext uri="{FF2B5EF4-FFF2-40B4-BE49-F238E27FC236}">
                <a16:creationId xmlns:a16="http://schemas.microsoft.com/office/drawing/2014/main" id="{410CEE4A-1D34-F52E-6343-8AE1FB1E1EA7}"/>
              </a:ext>
            </a:extLst>
          </p:cNvPr>
          <p:cNvSpPr>
            <a:spLocks noChangeShapeType="1"/>
          </p:cNvSpPr>
          <p:nvPr/>
        </p:nvSpPr>
        <p:spPr bwMode="auto">
          <a:xfrm>
            <a:off x="6813551" y="2952750"/>
            <a:ext cx="3349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48" name="Line 15">
            <a:extLst>
              <a:ext uri="{FF2B5EF4-FFF2-40B4-BE49-F238E27FC236}">
                <a16:creationId xmlns:a16="http://schemas.microsoft.com/office/drawing/2014/main" id="{47AA6F6C-01CD-3157-0E39-118007C90F7F}"/>
              </a:ext>
            </a:extLst>
          </p:cNvPr>
          <p:cNvSpPr>
            <a:spLocks noChangeShapeType="1"/>
          </p:cNvSpPr>
          <p:nvPr/>
        </p:nvSpPr>
        <p:spPr bwMode="auto">
          <a:xfrm>
            <a:off x="4991101" y="3578225"/>
            <a:ext cx="18018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49" name="Line 16">
            <a:extLst>
              <a:ext uri="{FF2B5EF4-FFF2-40B4-BE49-F238E27FC236}">
                <a16:creationId xmlns:a16="http://schemas.microsoft.com/office/drawing/2014/main" id="{45AF56F6-F781-6F08-30CE-6BC11FF1FEDC}"/>
              </a:ext>
            </a:extLst>
          </p:cNvPr>
          <p:cNvSpPr>
            <a:spLocks noChangeShapeType="1"/>
          </p:cNvSpPr>
          <p:nvPr/>
        </p:nvSpPr>
        <p:spPr bwMode="auto">
          <a:xfrm>
            <a:off x="4433888" y="2941638"/>
            <a:ext cx="0" cy="620712"/>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42350" name="Line 17">
            <a:extLst>
              <a:ext uri="{FF2B5EF4-FFF2-40B4-BE49-F238E27FC236}">
                <a16:creationId xmlns:a16="http://schemas.microsoft.com/office/drawing/2014/main" id="{A29AA016-A937-E655-AA6A-399F1F573E0B}"/>
              </a:ext>
            </a:extLst>
          </p:cNvPr>
          <p:cNvSpPr>
            <a:spLocks noChangeShapeType="1"/>
          </p:cNvSpPr>
          <p:nvPr/>
        </p:nvSpPr>
        <p:spPr bwMode="auto">
          <a:xfrm>
            <a:off x="5321301" y="2547938"/>
            <a:ext cx="2968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51" name="Line 18">
            <a:extLst>
              <a:ext uri="{FF2B5EF4-FFF2-40B4-BE49-F238E27FC236}">
                <a16:creationId xmlns:a16="http://schemas.microsoft.com/office/drawing/2014/main" id="{72D12BAF-6797-9B12-2818-FC5AAFC98121}"/>
              </a:ext>
            </a:extLst>
          </p:cNvPr>
          <p:cNvSpPr>
            <a:spLocks noChangeShapeType="1"/>
          </p:cNvSpPr>
          <p:nvPr/>
        </p:nvSpPr>
        <p:spPr bwMode="auto">
          <a:xfrm>
            <a:off x="6403975" y="2527300"/>
            <a:ext cx="184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52" name="Line 19">
            <a:extLst>
              <a:ext uri="{FF2B5EF4-FFF2-40B4-BE49-F238E27FC236}">
                <a16:creationId xmlns:a16="http://schemas.microsoft.com/office/drawing/2014/main" id="{3B5FC2BC-B764-A526-29C8-BC74E6164A18}"/>
              </a:ext>
            </a:extLst>
          </p:cNvPr>
          <p:cNvSpPr>
            <a:spLocks noChangeShapeType="1"/>
          </p:cNvSpPr>
          <p:nvPr/>
        </p:nvSpPr>
        <p:spPr bwMode="auto">
          <a:xfrm>
            <a:off x="7937501" y="2525713"/>
            <a:ext cx="2968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53" name="Text Box 20">
            <a:extLst>
              <a:ext uri="{FF2B5EF4-FFF2-40B4-BE49-F238E27FC236}">
                <a16:creationId xmlns:a16="http://schemas.microsoft.com/office/drawing/2014/main" id="{5DCEBC0A-27B3-4F25-6AA5-CC6C9153E9DD}"/>
              </a:ext>
            </a:extLst>
          </p:cNvPr>
          <p:cNvSpPr txBox="1">
            <a:spLocks noChangeArrowheads="1"/>
          </p:cNvSpPr>
          <p:nvPr/>
        </p:nvSpPr>
        <p:spPr bwMode="auto">
          <a:xfrm>
            <a:off x="3095625" y="2897188"/>
            <a:ext cx="827088"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CLK</a:t>
            </a:r>
          </a:p>
        </p:txBody>
      </p:sp>
      <p:sp>
        <p:nvSpPr>
          <p:cNvPr id="142354" name="AutoShape 21">
            <a:extLst>
              <a:ext uri="{FF2B5EF4-FFF2-40B4-BE49-F238E27FC236}">
                <a16:creationId xmlns:a16="http://schemas.microsoft.com/office/drawing/2014/main" id="{C57DA813-DE87-CF51-889E-3ECD15A1F676}"/>
              </a:ext>
            </a:extLst>
          </p:cNvPr>
          <p:cNvSpPr>
            <a:spLocks noChangeArrowheads="1"/>
          </p:cNvSpPr>
          <p:nvPr/>
        </p:nvSpPr>
        <p:spPr bwMode="auto">
          <a:xfrm rot="5435204">
            <a:off x="4710907" y="2812257"/>
            <a:ext cx="295275" cy="265112"/>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2355" name="Line 22">
            <a:extLst>
              <a:ext uri="{FF2B5EF4-FFF2-40B4-BE49-F238E27FC236}">
                <a16:creationId xmlns:a16="http://schemas.microsoft.com/office/drawing/2014/main" id="{D2DA9582-BE8C-2CF7-51EC-1F0EFD85AD38}"/>
              </a:ext>
            </a:extLst>
          </p:cNvPr>
          <p:cNvSpPr>
            <a:spLocks noChangeShapeType="1"/>
          </p:cNvSpPr>
          <p:nvPr/>
        </p:nvSpPr>
        <p:spPr bwMode="auto">
          <a:xfrm>
            <a:off x="4433889" y="2943225"/>
            <a:ext cx="2555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56" name="AutoShape 23">
            <a:extLst>
              <a:ext uri="{FF2B5EF4-FFF2-40B4-BE49-F238E27FC236}">
                <a16:creationId xmlns:a16="http://schemas.microsoft.com/office/drawing/2014/main" id="{DDD39D7D-E5E7-4691-5178-1E337E22D7B2}"/>
              </a:ext>
            </a:extLst>
          </p:cNvPr>
          <p:cNvSpPr>
            <a:spLocks noChangeArrowheads="1"/>
          </p:cNvSpPr>
          <p:nvPr/>
        </p:nvSpPr>
        <p:spPr bwMode="auto">
          <a:xfrm rot="5435204">
            <a:off x="4695032" y="3436145"/>
            <a:ext cx="295275" cy="265112"/>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2357" name="Line 24">
            <a:extLst>
              <a:ext uri="{FF2B5EF4-FFF2-40B4-BE49-F238E27FC236}">
                <a16:creationId xmlns:a16="http://schemas.microsoft.com/office/drawing/2014/main" id="{7AB64D55-D12E-BCA6-B0CC-F9557C5E737A}"/>
              </a:ext>
            </a:extLst>
          </p:cNvPr>
          <p:cNvSpPr>
            <a:spLocks noChangeShapeType="1"/>
          </p:cNvSpPr>
          <p:nvPr/>
        </p:nvSpPr>
        <p:spPr bwMode="auto">
          <a:xfrm>
            <a:off x="6810375" y="2962275"/>
            <a:ext cx="0" cy="6238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58" name="AutoShape 25">
            <a:extLst>
              <a:ext uri="{FF2B5EF4-FFF2-40B4-BE49-F238E27FC236}">
                <a16:creationId xmlns:a16="http://schemas.microsoft.com/office/drawing/2014/main" id="{0600A1F9-3A9E-2414-B310-18B2958A7E4F}"/>
              </a:ext>
            </a:extLst>
          </p:cNvPr>
          <p:cNvSpPr>
            <a:spLocks noChangeArrowheads="1"/>
          </p:cNvSpPr>
          <p:nvPr/>
        </p:nvSpPr>
        <p:spPr bwMode="auto">
          <a:xfrm rot="5435204">
            <a:off x="6590507" y="2385220"/>
            <a:ext cx="295275" cy="265112"/>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2359" name="Line 26">
            <a:extLst>
              <a:ext uri="{FF2B5EF4-FFF2-40B4-BE49-F238E27FC236}">
                <a16:creationId xmlns:a16="http://schemas.microsoft.com/office/drawing/2014/main" id="{037C5331-AB80-E208-3AFC-DA0470BD28ED}"/>
              </a:ext>
            </a:extLst>
          </p:cNvPr>
          <p:cNvSpPr>
            <a:spLocks noChangeShapeType="1"/>
          </p:cNvSpPr>
          <p:nvPr/>
        </p:nvSpPr>
        <p:spPr bwMode="auto">
          <a:xfrm>
            <a:off x="6886575" y="2509838"/>
            <a:ext cx="2555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60" name="Line 27">
            <a:extLst>
              <a:ext uri="{FF2B5EF4-FFF2-40B4-BE49-F238E27FC236}">
                <a16:creationId xmlns:a16="http://schemas.microsoft.com/office/drawing/2014/main" id="{81B87E5C-23D0-A9F9-6A20-08CF7779D52A}"/>
              </a:ext>
            </a:extLst>
          </p:cNvPr>
          <p:cNvSpPr>
            <a:spLocks noChangeShapeType="1"/>
          </p:cNvSpPr>
          <p:nvPr/>
        </p:nvSpPr>
        <p:spPr bwMode="auto">
          <a:xfrm>
            <a:off x="4433889" y="3568700"/>
            <a:ext cx="2555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61" name="AutoShape 28">
            <a:extLst>
              <a:ext uri="{FF2B5EF4-FFF2-40B4-BE49-F238E27FC236}">
                <a16:creationId xmlns:a16="http://schemas.microsoft.com/office/drawing/2014/main" id="{CAB07015-0023-C9B1-56A7-962DD0FF0F8B}"/>
              </a:ext>
            </a:extLst>
          </p:cNvPr>
          <p:cNvSpPr>
            <a:spLocks noChangeArrowheads="1"/>
          </p:cNvSpPr>
          <p:nvPr/>
        </p:nvSpPr>
        <p:spPr bwMode="auto">
          <a:xfrm rot="5435204">
            <a:off x="3868739" y="3152776"/>
            <a:ext cx="295275" cy="263525"/>
          </a:xfrm>
          <a:prstGeom prst="triangle">
            <a:avLst>
              <a:gd name="adj" fmla="val 50000"/>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2362" name="Line 29">
            <a:extLst>
              <a:ext uri="{FF2B5EF4-FFF2-40B4-BE49-F238E27FC236}">
                <a16:creationId xmlns:a16="http://schemas.microsoft.com/office/drawing/2014/main" id="{A1A1CF28-3136-4371-F4FA-76F636FA5C74}"/>
              </a:ext>
            </a:extLst>
          </p:cNvPr>
          <p:cNvSpPr>
            <a:spLocks noChangeShapeType="1"/>
          </p:cNvSpPr>
          <p:nvPr/>
        </p:nvSpPr>
        <p:spPr bwMode="auto">
          <a:xfrm flipV="1">
            <a:off x="4164014" y="3276600"/>
            <a:ext cx="269875"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2363" name="Line 30">
            <a:extLst>
              <a:ext uri="{FF2B5EF4-FFF2-40B4-BE49-F238E27FC236}">
                <a16:creationId xmlns:a16="http://schemas.microsoft.com/office/drawing/2014/main" id="{FC48DC49-E071-265F-7618-70CBCA4BE9C5}"/>
              </a:ext>
            </a:extLst>
          </p:cNvPr>
          <p:cNvSpPr>
            <a:spLocks noChangeShapeType="1"/>
          </p:cNvSpPr>
          <p:nvPr/>
        </p:nvSpPr>
        <p:spPr bwMode="auto">
          <a:xfrm flipV="1">
            <a:off x="3441700" y="3276600"/>
            <a:ext cx="438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64" name="Line 31">
            <a:extLst>
              <a:ext uri="{FF2B5EF4-FFF2-40B4-BE49-F238E27FC236}">
                <a16:creationId xmlns:a16="http://schemas.microsoft.com/office/drawing/2014/main" id="{A6E98D61-2BC2-A73A-F731-8649B6E8F589}"/>
              </a:ext>
            </a:extLst>
          </p:cNvPr>
          <p:cNvSpPr>
            <a:spLocks noChangeShapeType="1"/>
          </p:cNvSpPr>
          <p:nvPr/>
        </p:nvSpPr>
        <p:spPr bwMode="auto">
          <a:xfrm>
            <a:off x="5230813" y="2938463"/>
            <a:ext cx="0" cy="63500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2365" name="Text Box 32">
            <a:extLst>
              <a:ext uri="{FF2B5EF4-FFF2-40B4-BE49-F238E27FC236}">
                <a16:creationId xmlns:a16="http://schemas.microsoft.com/office/drawing/2014/main" id="{6433205B-D453-D173-F6B0-7E98F4EEE1E0}"/>
              </a:ext>
            </a:extLst>
          </p:cNvPr>
          <p:cNvSpPr txBox="1">
            <a:spLocks noChangeArrowheads="1"/>
          </p:cNvSpPr>
          <p:nvPr/>
        </p:nvSpPr>
        <p:spPr bwMode="auto">
          <a:xfrm>
            <a:off x="5230813" y="3213100"/>
            <a:ext cx="6778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T</a:t>
            </a:r>
            <a:r>
              <a:rPr lang="ru-RU" altLang="en-US" sz="1800" b="1" baseline="-25000"/>
              <a:t>U</a:t>
            </a:r>
            <a:endParaRPr lang="ru-RU" altLang="en-US" sz="1800" b="1"/>
          </a:p>
        </p:txBody>
      </p:sp>
      <p:sp>
        <p:nvSpPr>
          <p:cNvPr id="142366" name="Text Box 33">
            <a:extLst>
              <a:ext uri="{FF2B5EF4-FFF2-40B4-BE49-F238E27FC236}">
                <a16:creationId xmlns:a16="http://schemas.microsoft.com/office/drawing/2014/main" id="{48D61465-8655-192F-E7E5-9C9C5F28A7CE}"/>
              </a:ext>
            </a:extLst>
          </p:cNvPr>
          <p:cNvSpPr txBox="1">
            <a:spLocks noChangeArrowheads="1"/>
          </p:cNvSpPr>
          <p:nvPr/>
        </p:nvSpPr>
        <p:spPr bwMode="auto">
          <a:xfrm>
            <a:off x="5997575" y="3187701"/>
            <a:ext cx="692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T</a:t>
            </a:r>
            <a:r>
              <a:rPr lang="ru-RU" altLang="en-US" sz="1800" b="1" baseline="-25000"/>
              <a:t>T</a:t>
            </a:r>
            <a:endParaRPr lang="ru-RU" altLang="en-US" sz="1800" b="1"/>
          </a:p>
        </p:txBody>
      </p:sp>
      <p:sp>
        <p:nvSpPr>
          <p:cNvPr id="142367" name="Line 34">
            <a:extLst>
              <a:ext uri="{FF2B5EF4-FFF2-40B4-BE49-F238E27FC236}">
                <a16:creationId xmlns:a16="http://schemas.microsoft.com/office/drawing/2014/main" id="{DDD5FB3B-973A-9129-266A-9BC6523AE20C}"/>
              </a:ext>
            </a:extLst>
          </p:cNvPr>
          <p:cNvSpPr>
            <a:spLocks noChangeShapeType="1"/>
          </p:cNvSpPr>
          <p:nvPr/>
        </p:nvSpPr>
        <p:spPr bwMode="auto">
          <a:xfrm>
            <a:off x="5126038" y="3567113"/>
            <a:ext cx="0" cy="37306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2368" name="Line 35">
            <a:extLst>
              <a:ext uri="{FF2B5EF4-FFF2-40B4-BE49-F238E27FC236}">
                <a16:creationId xmlns:a16="http://schemas.microsoft.com/office/drawing/2014/main" id="{5FD4390C-2E42-E463-A5D4-73EB5CF78E8F}"/>
              </a:ext>
            </a:extLst>
          </p:cNvPr>
          <p:cNvSpPr>
            <a:spLocks noChangeShapeType="1"/>
          </p:cNvSpPr>
          <p:nvPr/>
        </p:nvSpPr>
        <p:spPr bwMode="auto">
          <a:xfrm>
            <a:off x="5126038" y="3567113"/>
            <a:ext cx="0" cy="37306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2369" name="Line 36">
            <a:extLst>
              <a:ext uri="{FF2B5EF4-FFF2-40B4-BE49-F238E27FC236}">
                <a16:creationId xmlns:a16="http://schemas.microsoft.com/office/drawing/2014/main" id="{A922BE44-DC1D-F5CE-E965-7D41C910ED7D}"/>
              </a:ext>
            </a:extLst>
          </p:cNvPr>
          <p:cNvSpPr>
            <a:spLocks noChangeShapeType="1"/>
          </p:cNvSpPr>
          <p:nvPr/>
        </p:nvSpPr>
        <p:spPr bwMode="auto">
          <a:xfrm>
            <a:off x="3516313" y="3271839"/>
            <a:ext cx="0" cy="66198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2370" name="Line 37">
            <a:extLst>
              <a:ext uri="{FF2B5EF4-FFF2-40B4-BE49-F238E27FC236}">
                <a16:creationId xmlns:a16="http://schemas.microsoft.com/office/drawing/2014/main" id="{4088E213-3DC0-3EBE-51DB-7D694376BE47}"/>
              </a:ext>
            </a:extLst>
          </p:cNvPr>
          <p:cNvSpPr>
            <a:spLocks noChangeShapeType="1"/>
          </p:cNvSpPr>
          <p:nvPr/>
        </p:nvSpPr>
        <p:spPr bwMode="auto">
          <a:xfrm>
            <a:off x="3546476" y="3832225"/>
            <a:ext cx="1535113"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2371" name="Text Box 38">
            <a:extLst>
              <a:ext uri="{FF2B5EF4-FFF2-40B4-BE49-F238E27FC236}">
                <a16:creationId xmlns:a16="http://schemas.microsoft.com/office/drawing/2014/main" id="{375A9C2A-D3FD-4770-5581-26570C05B229}"/>
              </a:ext>
            </a:extLst>
          </p:cNvPr>
          <p:cNvSpPr txBox="1">
            <a:spLocks noChangeArrowheads="1"/>
          </p:cNvSpPr>
          <p:nvPr/>
        </p:nvSpPr>
        <p:spPr bwMode="auto">
          <a:xfrm>
            <a:off x="3771901" y="3873500"/>
            <a:ext cx="133826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b="1"/>
              <a:t>Latency</a:t>
            </a:r>
          </a:p>
        </p:txBody>
      </p:sp>
      <p:sp>
        <p:nvSpPr>
          <p:cNvPr id="142372" name="Line 39">
            <a:extLst>
              <a:ext uri="{FF2B5EF4-FFF2-40B4-BE49-F238E27FC236}">
                <a16:creationId xmlns:a16="http://schemas.microsoft.com/office/drawing/2014/main" id="{201C54C0-AB5A-86AC-FE6B-105EA64E5D84}"/>
              </a:ext>
            </a:extLst>
          </p:cNvPr>
          <p:cNvSpPr>
            <a:spLocks noChangeShapeType="1"/>
          </p:cNvSpPr>
          <p:nvPr/>
        </p:nvSpPr>
        <p:spPr bwMode="auto">
          <a:xfrm>
            <a:off x="6408738" y="3417888"/>
            <a:ext cx="1254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73" name="Line 40">
            <a:extLst>
              <a:ext uri="{FF2B5EF4-FFF2-40B4-BE49-F238E27FC236}">
                <a16:creationId xmlns:a16="http://schemas.microsoft.com/office/drawing/2014/main" id="{F83E2358-9016-96E8-8905-B80251B292AA}"/>
              </a:ext>
            </a:extLst>
          </p:cNvPr>
          <p:cNvSpPr>
            <a:spLocks noChangeShapeType="1"/>
          </p:cNvSpPr>
          <p:nvPr/>
        </p:nvSpPr>
        <p:spPr bwMode="auto">
          <a:xfrm flipV="1">
            <a:off x="6543676" y="3216275"/>
            <a:ext cx="74613"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74" name="Line 41">
            <a:extLst>
              <a:ext uri="{FF2B5EF4-FFF2-40B4-BE49-F238E27FC236}">
                <a16:creationId xmlns:a16="http://schemas.microsoft.com/office/drawing/2014/main" id="{A71A53F6-CE8D-C88B-6D3C-4653BBD6E1A0}"/>
              </a:ext>
            </a:extLst>
          </p:cNvPr>
          <p:cNvSpPr>
            <a:spLocks noChangeShapeType="1"/>
          </p:cNvSpPr>
          <p:nvPr/>
        </p:nvSpPr>
        <p:spPr bwMode="auto">
          <a:xfrm>
            <a:off x="6618288" y="3217863"/>
            <a:ext cx="1254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2375" name="Text Box 42">
            <a:extLst>
              <a:ext uri="{FF2B5EF4-FFF2-40B4-BE49-F238E27FC236}">
                <a16:creationId xmlns:a16="http://schemas.microsoft.com/office/drawing/2014/main" id="{CC4CCA0B-EFA4-F206-35B1-28549FA2337C}"/>
              </a:ext>
            </a:extLst>
          </p:cNvPr>
          <p:cNvSpPr txBox="1">
            <a:spLocks noChangeArrowheads="1"/>
          </p:cNvSpPr>
          <p:nvPr/>
        </p:nvSpPr>
        <p:spPr bwMode="auto">
          <a:xfrm>
            <a:off x="1981200" y="1143001"/>
            <a:ext cx="510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ru-RU" altLang="en-US" sz="2000"/>
              <a:t>Post-Layout Circuit</a:t>
            </a:r>
          </a:p>
        </p:txBody>
      </p:sp>
      <p:sp>
        <p:nvSpPr>
          <p:cNvPr id="142376" name="Text Box 43">
            <a:extLst>
              <a:ext uri="{FF2B5EF4-FFF2-40B4-BE49-F238E27FC236}">
                <a16:creationId xmlns:a16="http://schemas.microsoft.com/office/drawing/2014/main" id="{3C6C48D8-FF1A-96CD-20D9-48F874A7FD81}"/>
              </a:ext>
            </a:extLst>
          </p:cNvPr>
          <p:cNvSpPr txBox="1">
            <a:spLocks noChangeArrowheads="1"/>
          </p:cNvSpPr>
          <p:nvPr/>
        </p:nvSpPr>
        <p:spPr bwMode="auto">
          <a:xfrm>
            <a:off x="1828800" y="4419601"/>
            <a:ext cx="8458200"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000"/>
              <a:t>Uncertainty appearance of the signal Clock (T</a:t>
            </a:r>
            <a:r>
              <a:rPr lang="en-US" altLang="en-US" sz="2000" baseline="-25000"/>
              <a:t>U</a:t>
            </a:r>
            <a:r>
              <a:rPr lang="en-US" altLang="en-US" sz="2000"/>
              <a:t>) is treated as follows:</a:t>
            </a:r>
            <a:r>
              <a:rPr lang="ru-RU" altLang="en-US" sz="2000"/>
              <a:t> </a:t>
            </a:r>
            <a:endParaRPr lang="en-US" altLang="en-US" sz="2000"/>
          </a:p>
          <a:p>
            <a:pPr eaLnBrk="1" hangingPunct="1">
              <a:spcBef>
                <a:spcPct val="50000"/>
              </a:spcBef>
              <a:buClrTx/>
              <a:buSzTx/>
              <a:buFontTx/>
              <a:buNone/>
            </a:pPr>
            <a:r>
              <a:rPr lang="en-US" altLang="en-US" sz="1800" b="1">
                <a:solidFill>
                  <a:schemeClr val="accent2"/>
                </a:solidFill>
              </a:rPr>
              <a:t>set_clock_uncertainty –setup  T</a:t>
            </a:r>
            <a:r>
              <a:rPr lang="en-US" altLang="en-US" sz="1800" b="1" baseline="-25000">
                <a:solidFill>
                  <a:schemeClr val="accent2"/>
                </a:solidFill>
              </a:rPr>
              <a:t>U</a:t>
            </a:r>
            <a:r>
              <a:rPr lang="en-US" altLang="en-US" sz="1800" b="1">
                <a:solidFill>
                  <a:schemeClr val="accent2"/>
                </a:solidFill>
              </a:rPr>
              <a:t>  [get_clocks CLK]</a:t>
            </a:r>
          </a:p>
          <a:p>
            <a:pPr eaLnBrk="1" hangingPunct="1">
              <a:spcBef>
                <a:spcPct val="50000"/>
              </a:spcBef>
              <a:buClrTx/>
              <a:buSzTx/>
              <a:buFontTx/>
              <a:buNone/>
            </a:pPr>
            <a:r>
              <a:rPr lang="en-US" altLang="en-US" sz="1800" b="1"/>
              <a:t>T</a:t>
            </a:r>
            <a:r>
              <a:rPr lang="en-US" altLang="en-US" sz="1800" b="1" baseline="-25000"/>
              <a:t>U</a:t>
            </a:r>
            <a:r>
              <a:rPr lang="en-US" altLang="en-US" sz="1800" b="1"/>
              <a:t>  = clock skew + jitter + margin</a:t>
            </a:r>
            <a:endParaRPr lang="ru-RU" altLang="en-US" sz="1800" b="1"/>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4">
            <a:extLst>
              <a:ext uri="{FF2B5EF4-FFF2-40B4-BE49-F238E27FC236}">
                <a16:creationId xmlns:a16="http://schemas.microsoft.com/office/drawing/2014/main" id="{87E94DF2-A196-436F-FCB4-68DA45C7ADF4}"/>
              </a:ext>
            </a:extLst>
          </p:cNvPr>
          <p:cNvSpPr>
            <a:spLocks noGrp="1" noChangeArrowheads="1"/>
          </p:cNvSpPr>
          <p:nvPr>
            <p:ph type="title"/>
          </p:nvPr>
        </p:nvSpPr>
        <p:spPr/>
        <p:txBody>
          <a:bodyPr/>
          <a:lstStyle/>
          <a:p>
            <a:r>
              <a:rPr lang="ru-RU" altLang="en-US"/>
              <a:t>Pre/Post Layout Clock</a:t>
            </a:r>
          </a:p>
        </p:txBody>
      </p:sp>
      <p:grpSp>
        <p:nvGrpSpPr>
          <p:cNvPr id="143363" name="Group 57">
            <a:extLst>
              <a:ext uri="{FF2B5EF4-FFF2-40B4-BE49-F238E27FC236}">
                <a16:creationId xmlns:a16="http://schemas.microsoft.com/office/drawing/2014/main" id="{82469CB1-C268-7850-A398-3CE3EBFB5F04}"/>
              </a:ext>
            </a:extLst>
          </p:cNvPr>
          <p:cNvGrpSpPr>
            <a:grpSpLocks/>
          </p:cNvGrpSpPr>
          <p:nvPr/>
        </p:nvGrpSpPr>
        <p:grpSpPr bwMode="auto">
          <a:xfrm>
            <a:off x="2971801" y="1524000"/>
            <a:ext cx="5661025" cy="2103438"/>
            <a:chOff x="1474" y="1322"/>
            <a:chExt cx="3566" cy="1558"/>
          </a:xfrm>
        </p:grpSpPr>
        <p:sp>
          <p:nvSpPr>
            <p:cNvPr id="143366" name="Line 6">
              <a:extLst>
                <a:ext uri="{FF2B5EF4-FFF2-40B4-BE49-F238E27FC236}">
                  <a16:creationId xmlns:a16="http://schemas.microsoft.com/office/drawing/2014/main" id="{F2462696-98C8-5AED-AED2-59C74810C0D8}"/>
                </a:ext>
              </a:extLst>
            </p:cNvPr>
            <p:cNvSpPr>
              <a:spLocks noChangeShapeType="1"/>
            </p:cNvSpPr>
            <p:nvPr/>
          </p:nvSpPr>
          <p:spPr bwMode="auto">
            <a:xfrm>
              <a:off x="1474" y="1681"/>
              <a:ext cx="3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67" name="Line 7">
              <a:extLst>
                <a:ext uri="{FF2B5EF4-FFF2-40B4-BE49-F238E27FC236}">
                  <a16:creationId xmlns:a16="http://schemas.microsoft.com/office/drawing/2014/main" id="{CDB0D5F1-1D7E-1E0A-A78B-FF5A7EA33201}"/>
                </a:ext>
              </a:extLst>
            </p:cNvPr>
            <p:cNvSpPr>
              <a:spLocks noChangeShapeType="1"/>
            </p:cNvSpPr>
            <p:nvPr/>
          </p:nvSpPr>
          <p:spPr bwMode="auto">
            <a:xfrm flipV="1">
              <a:off x="1844" y="1322"/>
              <a:ext cx="0" cy="3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68" name="Line 8">
              <a:extLst>
                <a:ext uri="{FF2B5EF4-FFF2-40B4-BE49-F238E27FC236}">
                  <a16:creationId xmlns:a16="http://schemas.microsoft.com/office/drawing/2014/main" id="{ACD4B97F-1B45-D557-F2EF-9B56D047B3A3}"/>
                </a:ext>
              </a:extLst>
            </p:cNvPr>
            <p:cNvSpPr>
              <a:spLocks noChangeShapeType="1"/>
            </p:cNvSpPr>
            <p:nvPr/>
          </p:nvSpPr>
          <p:spPr bwMode="auto">
            <a:xfrm>
              <a:off x="2332" y="1681"/>
              <a:ext cx="4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69" name="Line 9">
              <a:extLst>
                <a:ext uri="{FF2B5EF4-FFF2-40B4-BE49-F238E27FC236}">
                  <a16:creationId xmlns:a16="http://schemas.microsoft.com/office/drawing/2014/main" id="{7A3FF61A-22E0-0B7F-8F3A-2388FAD6E623}"/>
                </a:ext>
              </a:extLst>
            </p:cNvPr>
            <p:cNvSpPr>
              <a:spLocks noChangeShapeType="1"/>
            </p:cNvSpPr>
            <p:nvPr/>
          </p:nvSpPr>
          <p:spPr bwMode="auto">
            <a:xfrm>
              <a:off x="1854" y="1322"/>
              <a:ext cx="4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0" name="Line 10">
              <a:extLst>
                <a:ext uri="{FF2B5EF4-FFF2-40B4-BE49-F238E27FC236}">
                  <a16:creationId xmlns:a16="http://schemas.microsoft.com/office/drawing/2014/main" id="{885B9980-A777-F14C-9896-0C5EE87F2DA5}"/>
                </a:ext>
              </a:extLst>
            </p:cNvPr>
            <p:cNvSpPr>
              <a:spLocks noChangeShapeType="1"/>
            </p:cNvSpPr>
            <p:nvPr/>
          </p:nvSpPr>
          <p:spPr bwMode="auto">
            <a:xfrm flipV="1">
              <a:off x="2322" y="1322"/>
              <a:ext cx="0" cy="3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1" name="Line 11">
              <a:extLst>
                <a:ext uri="{FF2B5EF4-FFF2-40B4-BE49-F238E27FC236}">
                  <a16:creationId xmlns:a16="http://schemas.microsoft.com/office/drawing/2014/main" id="{C21587DB-CD98-601B-B103-22744ADBD3E6}"/>
                </a:ext>
              </a:extLst>
            </p:cNvPr>
            <p:cNvSpPr>
              <a:spLocks noChangeShapeType="1"/>
            </p:cNvSpPr>
            <p:nvPr/>
          </p:nvSpPr>
          <p:spPr bwMode="auto">
            <a:xfrm flipV="1">
              <a:off x="2820" y="1322"/>
              <a:ext cx="0" cy="3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2" name="Line 12">
              <a:extLst>
                <a:ext uri="{FF2B5EF4-FFF2-40B4-BE49-F238E27FC236}">
                  <a16:creationId xmlns:a16="http://schemas.microsoft.com/office/drawing/2014/main" id="{F85C2444-C61B-D618-B09F-72BFCFD4FB52}"/>
                </a:ext>
              </a:extLst>
            </p:cNvPr>
            <p:cNvSpPr>
              <a:spLocks noChangeShapeType="1"/>
            </p:cNvSpPr>
            <p:nvPr/>
          </p:nvSpPr>
          <p:spPr bwMode="auto">
            <a:xfrm>
              <a:off x="3308" y="1692"/>
              <a:ext cx="4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3" name="Line 13">
              <a:extLst>
                <a:ext uri="{FF2B5EF4-FFF2-40B4-BE49-F238E27FC236}">
                  <a16:creationId xmlns:a16="http://schemas.microsoft.com/office/drawing/2014/main" id="{F063921D-39E8-2339-8F64-2A8E16065CE1}"/>
                </a:ext>
              </a:extLst>
            </p:cNvPr>
            <p:cNvSpPr>
              <a:spLocks noChangeShapeType="1"/>
            </p:cNvSpPr>
            <p:nvPr/>
          </p:nvSpPr>
          <p:spPr bwMode="auto">
            <a:xfrm>
              <a:off x="2830" y="1333"/>
              <a:ext cx="4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4" name="Line 14">
              <a:extLst>
                <a:ext uri="{FF2B5EF4-FFF2-40B4-BE49-F238E27FC236}">
                  <a16:creationId xmlns:a16="http://schemas.microsoft.com/office/drawing/2014/main" id="{203301C2-64C0-984F-2535-5CE1974492BC}"/>
                </a:ext>
              </a:extLst>
            </p:cNvPr>
            <p:cNvSpPr>
              <a:spLocks noChangeShapeType="1"/>
            </p:cNvSpPr>
            <p:nvPr/>
          </p:nvSpPr>
          <p:spPr bwMode="auto">
            <a:xfrm flipV="1">
              <a:off x="3298" y="1333"/>
              <a:ext cx="0" cy="3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5" name="Line 15">
              <a:extLst>
                <a:ext uri="{FF2B5EF4-FFF2-40B4-BE49-F238E27FC236}">
                  <a16:creationId xmlns:a16="http://schemas.microsoft.com/office/drawing/2014/main" id="{8DBDF572-5E34-A108-0121-037DB13230B5}"/>
                </a:ext>
              </a:extLst>
            </p:cNvPr>
            <p:cNvSpPr>
              <a:spLocks noChangeShapeType="1"/>
            </p:cNvSpPr>
            <p:nvPr/>
          </p:nvSpPr>
          <p:spPr bwMode="auto">
            <a:xfrm flipV="1">
              <a:off x="3795" y="1333"/>
              <a:ext cx="0" cy="3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6" name="Line 16">
              <a:extLst>
                <a:ext uri="{FF2B5EF4-FFF2-40B4-BE49-F238E27FC236}">
                  <a16:creationId xmlns:a16="http://schemas.microsoft.com/office/drawing/2014/main" id="{2F922F4B-4401-CB1B-75D6-518757506A34}"/>
                </a:ext>
              </a:extLst>
            </p:cNvPr>
            <p:cNvSpPr>
              <a:spLocks noChangeShapeType="1"/>
            </p:cNvSpPr>
            <p:nvPr/>
          </p:nvSpPr>
          <p:spPr bwMode="auto">
            <a:xfrm>
              <a:off x="4283" y="1703"/>
              <a:ext cx="4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7" name="Line 17">
              <a:extLst>
                <a:ext uri="{FF2B5EF4-FFF2-40B4-BE49-F238E27FC236}">
                  <a16:creationId xmlns:a16="http://schemas.microsoft.com/office/drawing/2014/main" id="{BAE68F48-5339-F063-D6C4-32A1AD44BBFC}"/>
                </a:ext>
              </a:extLst>
            </p:cNvPr>
            <p:cNvSpPr>
              <a:spLocks noChangeShapeType="1"/>
            </p:cNvSpPr>
            <p:nvPr/>
          </p:nvSpPr>
          <p:spPr bwMode="auto">
            <a:xfrm>
              <a:off x="3805" y="1344"/>
              <a:ext cx="4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8" name="Line 18">
              <a:extLst>
                <a:ext uri="{FF2B5EF4-FFF2-40B4-BE49-F238E27FC236}">
                  <a16:creationId xmlns:a16="http://schemas.microsoft.com/office/drawing/2014/main" id="{37EF8FC4-7974-AC02-51B5-1654B60829BE}"/>
                </a:ext>
              </a:extLst>
            </p:cNvPr>
            <p:cNvSpPr>
              <a:spLocks noChangeShapeType="1"/>
            </p:cNvSpPr>
            <p:nvPr/>
          </p:nvSpPr>
          <p:spPr bwMode="auto">
            <a:xfrm flipV="1">
              <a:off x="4273" y="1344"/>
              <a:ext cx="0" cy="3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9" name="Line 19">
              <a:extLst>
                <a:ext uri="{FF2B5EF4-FFF2-40B4-BE49-F238E27FC236}">
                  <a16:creationId xmlns:a16="http://schemas.microsoft.com/office/drawing/2014/main" id="{C9FFDE57-4F67-FFCE-ADE6-D530E48051D1}"/>
                </a:ext>
              </a:extLst>
            </p:cNvPr>
            <p:cNvSpPr>
              <a:spLocks noChangeShapeType="1"/>
            </p:cNvSpPr>
            <p:nvPr/>
          </p:nvSpPr>
          <p:spPr bwMode="auto">
            <a:xfrm flipV="1">
              <a:off x="1952" y="1869"/>
              <a:ext cx="92" cy="3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0" name="Line 20">
              <a:extLst>
                <a:ext uri="{FF2B5EF4-FFF2-40B4-BE49-F238E27FC236}">
                  <a16:creationId xmlns:a16="http://schemas.microsoft.com/office/drawing/2014/main" id="{5946B82E-5652-C370-D03A-4BC23A832E1D}"/>
                </a:ext>
              </a:extLst>
            </p:cNvPr>
            <p:cNvSpPr>
              <a:spLocks noChangeShapeType="1"/>
            </p:cNvSpPr>
            <p:nvPr/>
          </p:nvSpPr>
          <p:spPr bwMode="auto">
            <a:xfrm>
              <a:off x="2537" y="2237"/>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1" name="Line 21">
              <a:extLst>
                <a:ext uri="{FF2B5EF4-FFF2-40B4-BE49-F238E27FC236}">
                  <a16:creationId xmlns:a16="http://schemas.microsoft.com/office/drawing/2014/main" id="{2158BC98-79E7-39CA-D473-303340665C8F}"/>
                </a:ext>
              </a:extLst>
            </p:cNvPr>
            <p:cNvSpPr>
              <a:spLocks noChangeShapeType="1"/>
            </p:cNvSpPr>
            <p:nvPr/>
          </p:nvSpPr>
          <p:spPr bwMode="auto">
            <a:xfrm>
              <a:off x="2040" y="1869"/>
              <a:ext cx="4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2" name="Line 22">
              <a:extLst>
                <a:ext uri="{FF2B5EF4-FFF2-40B4-BE49-F238E27FC236}">
                  <a16:creationId xmlns:a16="http://schemas.microsoft.com/office/drawing/2014/main" id="{A4D557F4-139B-850F-8669-0975A70E4476}"/>
                </a:ext>
              </a:extLst>
            </p:cNvPr>
            <p:cNvSpPr>
              <a:spLocks noChangeShapeType="1"/>
            </p:cNvSpPr>
            <p:nvPr/>
          </p:nvSpPr>
          <p:spPr bwMode="auto">
            <a:xfrm flipH="1" flipV="1">
              <a:off x="2459" y="1869"/>
              <a:ext cx="84" cy="36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3" name="Line 23">
              <a:extLst>
                <a:ext uri="{FF2B5EF4-FFF2-40B4-BE49-F238E27FC236}">
                  <a16:creationId xmlns:a16="http://schemas.microsoft.com/office/drawing/2014/main" id="{87DE15BE-0DB2-A8A6-CB05-14B7996A4376}"/>
                </a:ext>
              </a:extLst>
            </p:cNvPr>
            <p:cNvSpPr>
              <a:spLocks noChangeShapeType="1"/>
            </p:cNvSpPr>
            <p:nvPr/>
          </p:nvSpPr>
          <p:spPr bwMode="auto">
            <a:xfrm>
              <a:off x="1649" y="2237"/>
              <a:ext cx="3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4" name="Line 24">
              <a:extLst>
                <a:ext uri="{FF2B5EF4-FFF2-40B4-BE49-F238E27FC236}">
                  <a16:creationId xmlns:a16="http://schemas.microsoft.com/office/drawing/2014/main" id="{B85DC616-AC54-E67C-A8E5-32F5BAAAD32D}"/>
                </a:ext>
              </a:extLst>
            </p:cNvPr>
            <p:cNvSpPr>
              <a:spLocks noChangeShapeType="1"/>
            </p:cNvSpPr>
            <p:nvPr/>
          </p:nvSpPr>
          <p:spPr bwMode="auto">
            <a:xfrm flipV="1">
              <a:off x="2966" y="1869"/>
              <a:ext cx="93" cy="3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5" name="Line 25">
              <a:extLst>
                <a:ext uri="{FF2B5EF4-FFF2-40B4-BE49-F238E27FC236}">
                  <a16:creationId xmlns:a16="http://schemas.microsoft.com/office/drawing/2014/main" id="{41ACA1B7-CA47-694C-636B-35503047DE70}"/>
                </a:ext>
              </a:extLst>
            </p:cNvPr>
            <p:cNvSpPr>
              <a:spLocks noChangeShapeType="1"/>
            </p:cNvSpPr>
            <p:nvPr/>
          </p:nvSpPr>
          <p:spPr bwMode="auto">
            <a:xfrm>
              <a:off x="3551" y="2237"/>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6" name="Line 26">
              <a:extLst>
                <a:ext uri="{FF2B5EF4-FFF2-40B4-BE49-F238E27FC236}">
                  <a16:creationId xmlns:a16="http://schemas.microsoft.com/office/drawing/2014/main" id="{3CDF4D94-709B-541B-B04B-1DD4B115BFDE}"/>
                </a:ext>
              </a:extLst>
            </p:cNvPr>
            <p:cNvSpPr>
              <a:spLocks noChangeShapeType="1"/>
            </p:cNvSpPr>
            <p:nvPr/>
          </p:nvSpPr>
          <p:spPr bwMode="auto">
            <a:xfrm>
              <a:off x="3054" y="1869"/>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7" name="Line 27">
              <a:extLst>
                <a:ext uri="{FF2B5EF4-FFF2-40B4-BE49-F238E27FC236}">
                  <a16:creationId xmlns:a16="http://schemas.microsoft.com/office/drawing/2014/main" id="{696FF9CA-7E82-B679-779B-0ECB11AA3C3E}"/>
                </a:ext>
              </a:extLst>
            </p:cNvPr>
            <p:cNvSpPr>
              <a:spLocks noChangeShapeType="1"/>
            </p:cNvSpPr>
            <p:nvPr/>
          </p:nvSpPr>
          <p:spPr bwMode="auto">
            <a:xfrm flipH="1" flipV="1">
              <a:off x="3473" y="1869"/>
              <a:ext cx="85" cy="36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8" name="Line 28">
              <a:extLst>
                <a:ext uri="{FF2B5EF4-FFF2-40B4-BE49-F238E27FC236}">
                  <a16:creationId xmlns:a16="http://schemas.microsoft.com/office/drawing/2014/main" id="{A0CD8310-476A-ACF5-77DC-0918AA0409B1}"/>
                </a:ext>
              </a:extLst>
            </p:cNvPr>
            <p:cNvSpPr>
              <a:spLocks noChangeShapeType="1"/>
            </p:cNvSpPr>
            <p:nvPr/>
          </p:nvSpPr>
          <p:spPr bwMode="auto">
            <a:xfrm flipV="1">
              <a:off x="3971" y="1858"/>
              <a:ext cx="92" cy="3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9" name="Line 29">
              <a:extLst>
                <a:ext uri="{FF2B5EF4-FFF2-40B4-BE49-F238E27FC236}">
                  <a16:creationId xmlns:a16="http://schemas.microsoft.com/office/drawing/2014/main" id="{EF737D2E-4FE3-DCB9-2293-14DEB13D3612}"/>
                </a:ext>
              </a:extLst>
            </p:cNvPr>
            <p:cNvSpPr>
              <a:spLocks noChangeShapeType="1"/>
            </p:cNvSpPr>
            <p:nvPr/>
          </p:nvSpPr>
          <p:spPr bwMode="auto">
            <a:xfrm>
              <a:off x="4556" y="2215"/>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0" name="Line 30">
              <a:extLst>
                <a:ext uri="{FF2B5EF4-FFF2-40B4-BE49-F238E27FC236}">
                  <a16:creationId xmlns:a16="http://schemas.microsoft.com/office/drawing/2014/main" id="{89DE9E94-D0AF-4B3E-EC02-9A3C8E635BA7}"/>
                </a:ext>
              </a:extLst>
            </p:cNvPr>
            <p:cNvSpPr>
              <a:spLocks noChangeShapeType="1"/>
            </p:cNvSpPr>
            <p:nvPr/>
          </p:nvSpPr>
          <p:spPr bwMode="auto">
            <a:xfrm>
              <a:off x="4059" y="1858"/>
              <a:ext cx="4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1" name="Line 31">
              <a:extLst>
                <a:ext uri="{FF2B5EF4-FFF2-40B4-BE49-F238E27FC236}">
                  <a16:creationId xmlns:a16="http://schemas.microsoft.com/office/drawing/2014/main" id="{52BC6727-0DA7-4FC4-F778-15969AB825EE}"/>
                </a:ext>
              </a:extLst>
            </p:cNvPr>
            <p:cNvSpPr>
              <a:spLocks noChangeShapeType="1"/>
            </p:cNvSpPr>
            <p:nvPr/>
          </p:nvSpPr>
          <p:spPr bwMode="auto">
            <a:xfrm flipH="1" flipV="1">
              <a:off x="4478" y="1858"/>
              <a:ext cx="85" cy="36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2" name="Line 32">
              <a:extLst>
                <a:ext uri="{FF2B5EF4-FFF2-40B4-BE49-F238E27FC236}">
                  <a16:creationId xmlns:a16="http://schemas.microsoft.com/office/drawing/2014/main" id="{3FB54A15-E750-E5D6-8E16-49D0EE926955}"/>
                </a:ext>
              </a:extLst>
            </p:cNvPr>
            <p:cNvSpPr>
              <a:spLocks noChangeShapeType="1"/>
            </p:cNvSpPr>
            <p:nvPr/>
          </p:nvSpPr>
          <p:spPr bwMode="auto">
            <a:xfrm flipV="1">
              <a:off x="2030" y="1869"/>
              <a:ext cx="92" cy="3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3" name="Line 33">
              <a:extLst>
                <a:ext uri="{FF2B5EF4-FFF2-40B4-BE49-F238E27FC236}">
                  <a16:creationId xmlns:a16="http://schemas.microsoft.com/office/drawing/2014/main" id="{D4CCB35F-BBB2-9318-DDD9-B4410CAE357F}"/>
                </a:ext>
              </a:extLst>
            </p:cNvPr>
            <p:cNvSpPr>
              <a:spLocks noChangeShapeType="1"/>
            </p:cNvSpPr>
            <p:nvPr/>
          </p:nvSpPr>
          <p:spPr bwMode="auto">
            <a:xfrm>
              <a:off x="2615" y="2237"/>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4" name="Line 34">
              <a:extLst>
                <a:ext uri="{FF2B5EF4-FFF2-40B4-BE49-F238E27FC236}">
                  <a16:creationId xmlns:a16="http://schemas.microsoft.com/office/drawing/2014/main" id="{3DC29D74-CAAB-D13F-AA82-A1D6023920E6}"/>
                </a:ext>
              </a:extLst>
            </p:cNvPr>
            <p:cNvSpPr>
              <a:spLocks noChangeShapeType="1"/>
            </p:cNvSpPr>
            <p:nvPr/>
          </p:nvSpPr>
          <p:spPr bwMode="auto">
            <a:xfrm>
              <a:off x="2118" y="1869"/>
              <a:ext cx="4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5" name="Line 35">
              <a:extLst>
                <a:ext uri="{FF2B5EF4-FFF2-40B4-BE49-F238E27FC236}">
                  <a16:creationId xmlns:a16="http://schemas.microsoft.com/office/drawing/2014/main" id="{2FA69AED-2B04-3630-2C28-47973BC28EDF}"/>
                </a:ext>
              </a:extLst>
            </p:cNvPr>
            <p:cNvSpPr>
              <a:spLocks noChangeShapeType="1"/>
            </p:cNvSpPr>
            <p:nvPr/>
          </p:nvSpPr>
          <p:spPr bwMode="auto">
            <a:xfrm flipH="1" flipV="1">
              <a:off x="2537" y="1869"/>
              <a:ext cx="85" cy="36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6" name="Line 36">
              <a:extLst>
                <a:ext uri="{FF2B5EF4-FFF2-40B4-BE49-F238E27FC236}">
                  <a16:creationId xmlns:a16="http://schemas.microsoft.com/office/drawing/2014/main" id="{9AB9E124-DC9E-C29C-2BE9-65E663CD3C12}"/>
                </a:ext>
              </a:extLst>
            </p:cNvPr>
            <p:cNvSpPr>
              <a:spLocks noChangeShapeType="1"/>
            </p:cNvSpPr>
            <p:nvPr/>
          </p:nvSpPr>
          <p:spPr bwMode="auto">
            <a:xfrm flipV="1">
              <a:off x="3044" y="1869"/>
              <a:ext cx="93" cy="3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7" name="Line 37">
              <a:extLst>
                <a:ext uri="{FF2B5EF4-FFF2-40B4-BE49-F238E27FC236}">
                  <a16:creationId xmlns:a16="http://schemas.microsoft.com/office/drawing/2014/main" id="{13DE0979-17E4-970A-30AD-6552B6473C08}"/>
                </a:ext>
              </a:extLst>
            </p:cNvPr>
            <p:cNvSpPr>
              <a:spLocks noChangeShapeType="1"/>
            </p:cNvSpPr>
            <p:nvPr/>
          </p:nvSpPr>
          <p:spPr bwMode="auto">
            <a:xfrm>
              <a:off x="3629" y="2237"/>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8" name="Line 38">
              <a:extLst>
                <a:ext uri="{FF2B5EF4-FFF2-40B4-BE49-F238E27FC236}">
                  <a16:creationId xmlns:a16="http://schemas.microsoft.com/office/drawing/2014/main" id="{5744692F-3240-DFF1-A591-2169A637D143}"/>
                </a:ext>
              </a:extLst>
            </p:cNvPr>
            <p:cNvSpPr>
              <a:spLocks noChangeShapeType="1"/>
            </p:cNvSpPr>
            <p:nvPr/>
          </p:nvSpPr>
          <p:spPr bwMode="auto">
            <a:xfrm>
              <a:off x="3132" y="1869"/>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9" name="Line 39">
              <a:extLst>
                <a:ext uri="{FF2B5EF4-FFF2-40B4-BE49-F238E27FC236}">
                  <a16:creationId xmlns:a16="http://schemas.microsoft.com/office/drawing/2014/main" id="{3F74251C-5D4F-1044-E731-DC4BA7A2995C}"/>
                </a:ext>
              </a:extLst>
            </p:cNvPr>
            <p:cNvSpPr>
              <a:spLocks noChangeShapeType="1"/>
            </p:cNvSpPr>
            <p:nvPr/>
          </p:nvSpPr>
          <p:spPr bwMode="auto">
            <a:xfrm flipH="1" flipV="1">
              <a:off x="3551" y="1869"/>
              <a:ext cx="85" cy="36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0" name="Line 40">
              <a:extLst>
                <a:ext uri="{FF2B5EF4-FFF2-40B4-BE49-F238E27FC236}">
                  <a16:creationId xmlns:a16="http://schemas.microsoft.com/office/drawing/2014/main" id="{464ABCDE-CE3A-5E9A-5C6E-1455F94400AF}"/>
                </a:ext>
              </a:extLst>
            </p:cNvPr>
            <p:cNvSpPr>
              <a:spLocks noChangeShapeType="1"/>
            </p:cNvSpPr>
            <p:nvPr/>
          </p:nvSpPr>
          <p:spPr bwMode="auto">
            <a:xfrm flipV="1">
              <a:off x="4049" y="1858"/>
              <a:ext cx="92" cy="3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1" name="Line 41">
              <a:extLst>
                <a:ext uri="{FF2B5EF4-FFF2-40B4-BE49-F238E27FC236}">
                  <a16:creationId xmlns:a16="http://schemas.microsoft.com/office/drawing/2014/main" id="{3AC1D42F-4F3D-FDB4-A238-6671D4CCA01E}"/>
                </a:ext>
              </a:extLst>
            </p:cNvPr>
            <p:cNvSpPr>
              <a:spLocks noChangeShapeType="1"/>
            </p:cNvSpPr>
            <p:nvPr/>
          </p:nvSpPr>
          <p:spPr bwMode="auto">
            <a:xfrm>
              <a:off x="4634" y="2215"/>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2" name="Line 42">
              <a:extLst>
                <a:ext uri="{FF2B5EF4-FFF2-40B4-BE49-F238E27FC236}">
                  <a16:creationId xmlns:a16="http://schemas.microsoft.com/office/drawing/2014/main" id="{48610F27-BE0D-10A2-1A13-1E6A3094BECF}"/>
                </a:ext>
              </a:extLst>
            </p:cNvPr>
            <p:cNvSpPr>
              <a:spLocks noChangeShapeType="1"/>
            </p:cNvSpPr>
            <p:nvPr/>
          </p:nvSpPr>
          <p:spPr bwMode="auto">
            <a:xfrm>
              <a:off x="4137" y="1858"/>
              <a:ext cx="4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3" name="Line 43">
              <a:extLst>
                <a:ext uri="{FF2B5EF4-FFF2-40B4-BE49-F238E27FC236}">
                  <a16:creationId xmlns:a16="http://schemas.microsoft.com/office/drawing/2014/main" id="{7FCB2A61-2B2F-5558-B31A-B545EF2B582F}"/>
                </a:ext>
              </a:extLst>
            </p:cNvPr>
            <p:cNvSpPr>
              <a:spLocks noChangeShapeType="1"/>
            </p:cNvSpPr>
            <p:nvPr/>
          </p:nvSpPr>
          <p:spPr bwMode="auto">
            <a:xfrm flipH="1" flipV="1">
              <a:off x="4556" y="1858"/>
              <a:ext cx="85" cy="36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4" name="Line 44">
              <a:extLst>
                <a:ext uri="{FF2B5EF4-FFF2-40B4-BE49-F238E27FC236}">
                  <a16:creationId xmlns:a16="http://schemas.microsoft.com/office/drawing/2014/main" id="{BFABFAB8-4A75-D241-29FD-081DBDE1CAE6}"/>
                </a:ext>
              </a:extLst>
            </p:cNvPr>
            <p:cNvSpPr>
              <a:spLocks noChangeShapeType="1"/>
            </p:cNvSpPr>
            <p:nvPr/>
          </p:nvSpPr>
          <p:spPr bwMode="auto">
            <a:xfrm>
              <a:off x="1844" y="1673"/>
              <a:ext cx="0" cy="898"/>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405" name="Line 45">
              <a:extLst>
                <a:ext uri="{FF2B5EF4-FFF2-40B4-BE49-F238E27FC236}">
                  <a16:creationId xmlns:a16="http://schemas.microsoft.com/office/drawing/2014/main" id="{662F9C58-0B6C-9AA2-6714-0433365BC8B5}"/>
                </a:ext>
              </a:extLst>
            </p:cNvPr>
            <p:cNvSpPr>
              <a:spLocks noChangeShapeType="1"/>
            </p:cNvSpPr>
            <p:nvPr/>
          </p:nvSpPr>
          <p:spPr bwMode="auto">
            <a:xfrm>
              <a:off x="2049" y="1891"/>
              <a:ext cx="0" cy="691"/>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406" name="Line 46">
              <a:extLst>
                <a:ext uri="{FF2B5EF4-FFF2-40B4-BE49-F238E27FC236}">
                  <a16:creationId xmlns:a16="http://schemas.microsoft.com/office/drawing/2014/main" id="{68F4CA29-0B80-B5BE-2665-3FBD0DC23A90}"/>
                </a:ext>
              </a:extLst>
            </p:cNvPr>
            <p:cNvSpPr>
              <a:spLocks noChangeShapeType="1"/>
            </p:cNvSpPr>
            <p:nvPr/>
          </p:nvSpPr>
          <p:spPr bwMode="auto">
            <a:xfrm>
              <a:off x="1837" y="2455"/>
              <a:ext cx="204" cy="0"/>
            </a:xfrm>
            <a:prstGeom prst="line">
              <a:avLst/>
            </a:prstGeom>
            <a:noFill/>
            <a:ln w="22225">
              <a:solidFill>
                <a:srgbClr val="000000"/>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43407" name="Text Box 47">
              <a:extLst>
                <a:ext uri="{FF2B5EF4-FFF2-40B4-BE49-F238E27FC236}">
                  <a16:creationId xmlns:a16="http://schemas.microsoft.com/office/drawing/2014/main" id="{C4304306-97F9-6199-B05A-819C6EFF872F}"/>
                </a:ext>
              </a:extLst>
            </p:cNvPr>
            <p:cNvSpPr txBox="1">
              <a:spLocks noChangeArrowheads="1"/>
            </p:cNvSpPr>
            <p:nvPr/>
          </p:nvSpPr>
          <p:spPr bwMode="auto">
            <a:xfrm>
              <a:off x="1505" y="2542"/>
              <a:ext cx="76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Latency</a:t>
              </a:r>
            </a:p>
          </p:txBody>
        </p:sp>
        <p:sp>
          <p:nvSpPr>
            <p:cNvPr id="143408" name="Text Box 48">
              <a:extLst>
                <a:ext uri="{FF2B5EF4-FFF2-40B4-BE49-F238E27FC236}">
                  <a16:creationId xmlns:a16="http://schemas.microsoft.com/office/drawing/2014/main" id="{65C03C6B-000B-E469-20A8-5FF2BE9E3828}"/>
                </a:ext>
              </a:extLst>
            </p:cNvPr>
            <p:cNvSpPr txBox="1">
              <a:spLocks noChangeArrowheads="1"/>
            </p:cNvSpPr>
            <p:nvPr/>
          </p:nvSpPr>
          <p:spPr bwMode="auto">
            <a:xfrm>
              <a:off x="2627" y="2553"/>
              <a:ext cx="10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Uncertainty</a:t>
              </a:r>
            </a:p>
          </p:txBody>
        </p:sp>
        <p:sp>
          <p:nvSpPr>
            <p:cNvPr id="143409" name="Line 49">
              <a:extLst>
                <a:ext uri="{FF2B5EF4-FFF2-40B4-BE49-F238E27FC236}">
                  <a16:creationId xmlns:a16="http://schemas.microsoft.com/office/drawing/2014/main" id="{C8FC66D9-1AEA-9364-3348-C8556DDD9604}"/>
                </a:ext>
              </a:extLst>
            </p:cNvPr>
            <p:cNvSpPr>
              <a:spLocks noChangeShapeType="1"/>
            </p:cNvSpPr>
            <p:nvPr/>
          </p:nvSpPr>
          <p:spPr bwMode="auto">
            <a:xfrm flipH="1">
              <a:off x="2966" y="2085"/>
              <a:ext cx="68" cy="479"/>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10" name="Line 50">
              <a:extLst>
                <a:ext uri="{FF2B5EF4-FFF2-40B4-BE49-F238E27FC236}">
                  <a16:creationId xmlns:a16="http://schemas.microsoft.com/office/drawing/2014/main" id="{D628CE75-F858-61D2-5875-EFAA724F1F07}"/>
                </a:ext>
              </a:extLst>
            </p:cNvPr>
            <p:cNvSpPr>
              <a:spLocks noChangeShapeType="1"/>
            </p:cNvSpPr>
            <p:nvPr/>
          </p:nvSpPr>
          <p:spPr bwMode="auto">
            <a:xfrm>
              <a:off x="3951" y="1869"/>
              <a:ext cx="0" cy="73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411" name="Line 51">
              <a:extLst>
                <a:ext uri="{FF2B5EF4-FFF2-40B4-BE49-F238E27FC236}">
                  <a16:creationId xmlns:a16="http://schemas.microsoft.com/office/drawing/2014/main" id="{3DF6745D-69F6-5174-6AF5-8019B2EF1F1F}"/>
                </a:ext>
              </a:extLst>
            </p:cNvPr>
            <p:cNvSpPr>
              <a:spLocks noChangeShapeType="1"/>
            </p:cNvSpPr>
            <p:nvPr/>
          </p:nvSpPr>
          <p:spPr bwMode="auto">
            <a:xfrm>
              <a:off x="4068" y="1823"/>
              <a:ext cx="0" cy="774"/>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412" name="Line 52">
              <a:extLst>
                <a:ext uri="{FF2B5EF4-FFF2-40B4-BE49-F238E27FC236}">
                  <a16:creationId xmlns:a16="http://schemas.microsoft.com/office/drawing/2014/main" id="{61BDCB61-C6F8-4963-6F57-113502DFDC06}"/>
                </a:ext>
              </a:extLst>
            </p:cNvPr>
            <p:cNvSpPr>
              <a:spLocks noChangeShapeType="1"/>
            </p:cNvSpPr>
            <p:nvPr/>
          </p:nvSpPr>
          <p:spPr bwMode="auto">
            <a:xfrm>
              <a:off x="3766" y="2444"/>
              <a:ext cx="192"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43413" name="Line 53">
              <a:extLst>
                <a:ext uri="{FF2B5EF4-FFF2-40B4-BE49-F238E27FC236}">
                  <a16:creationId xmlns:a16="http://schemas.microsoft.com/office/drawing/2014/main" id="{4FC4F84C-B129-F442-FA62-975CAF052839}"/>
                </a:ext>
              </a:extLst>
            </p:cNvPr>
            <p:cNvSpPr>
              <a:spLocks noChangeShapeType="1"/>
            </p:cNvSpPr>
            <p:nvPr/>
          </p:nvSpPr>
          <p:spPr bwMode="auto">
            <a:xfrm>
              <a:off x="4078" y="2444"/>
              <a:ext cx="192" cy="0"/>
            </a:xfrm>
            <a:prstGeom prst="line">
              <a:avLst/>
            </a:prstGeom>
            <a:noFill/>
            <a:ln w="22225">
              <a:solidFill>
                <a:srgbClr val="000000"/>
              </a:solidFill>
              <a:round/>
              <a:headEnd type="triangle" w="med" len="lg"/>
              <a:tailEnd type="none" w="sm" len="med"/>
            </a:ln>
            <a:extLst>
              <a:ext uri="{909E8E84-426E-40DD-AFC4-6F175D3DCCD1}">
                <a14:hiddenFill xmlns:a14="http://schemas.microsoft.com/office/drawing/2010/main">
                  <a:noFill/>
                </a14:hiddenFill>
              </a:ext>
            </a:extLst>
          </p:spPr>
          <p:txBody>
            <a:bodyPr/>
            <a:lstStyle/>
            <a:p>
              <a:endParaRPr lang="en-US"/>
            </a:p>
          </p:txBody>
        </p:sp>
        <p:sp>
          <p:nvSpPr>
            <p:cNvPr id="143414" name="Text Box 54">
              <a:extLst>
                <a:ext uri="{FF2B5EF4-FFF2-40B4-BE49-F238E27FC236}">
                  <a16:creationId xmlns:a16="http://schemas.microsoft.com/office/drawing/2014/main" id="{CB4DB1B7-6EAD-0A7D-FA3F-2D8FAC9E2E35}"/>
                </a:ext>
              </a:extLst>
            </p:cNvPr>
            <p:cNvSpPr txBox="1">
              <a:spLocks noChangeArrowheads="1"/>
            </p:cNvSpPr>
            <p:nvPr/>
          </p:nvSpPr>
          <p:spPr bwMode="auto">
            <a:xfrm>
              <a:off x="3612" y="2553"/>
              <a:ext cx="9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Transition</a:t>
              </a:r>
            </a:p>
          </p:txBody>
        </p:sp>
      </p:grpSp>
      <p:sp>
        <p:nvSpPr>
          <p:cNvPr id="143364" name="Text Box 58">
            <a:extLst>
              <a:ext uri="{FF2B5EF4-FFF2-40B4-BE49-F238E27FC236}">
                <a16:creationId xmlns:a16="http://schemas.microsoft.com/office/drawing/2014/main" id="{221746F6-AA2F-87F7-130E-1648768E1C0D}"/>
              </a:ext>
            </a:extLst>
          </p:cNvPr>
          <p:cNvSpPr txBox="1">
            <a:spLocks noChangeArrowheads="1"/>
          </p:cNvSpPr>
          <p:nvPr/>
        </p:nvSpPr>
        <p:spPr bwMode="auto">
          <a:xfrm>
            <a:off x="2746375" y="3660776"/>
            <a:ext cx="6019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ru-RU" altLang="en-US" sz="2000"/>
              <a:t>[ jitter 0.05 + skew 0.3 + margin 0.15 ]</a:t>
            </a:r>
          </a:p>
        </p:txBody>
      </p:sp>
      <p:sp>
        <p:nvSpPr>
          <p:cNvPr id="143365" name="Text Box 59">
            <a:extLst>
              <a:ext uri="{FF2B5EF4-FFF2-40B4-BE49-F238E27FC236}">
                <a16:creationId xmlns:a16="http://schemas.microsoft.com/office/drawing/2014/main" id="{7DDC2B6D-2ADC-232E-BB0F-BCC65ADEDC11}"/>
              </a:ext>
            </a:extLst>
          </p:cNvPr>
          <p:cNvSpPr txBox="1">
            <a:spLocks noChangeArrowheads="1"/>
          </p:cNvSpPr>
          <p:nvPr/>
        </p:nvSpPr>
        <p:spPr bwMode="auto">
          <a:xfrm>
            <a:off x="1974850" y="4114800"/>
            <a:ext cx="564515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800">
                <a:solidFill>
                  <a:srgbClr val="0000FF"/>
                </a:solidFill>
              </a:rPr>
              <a:t>reset_design</a:t>
            </a:r>
          </a:p>
          <a:p>
            <a:pPr eaLnBrk="1" hangingPunct="1">
              <a:spcBef>
                <a:spcPct val="0"/>
              </a:spcBef>
              <a:buClrTx/>
              <a:buSzTx/>
              <a:buFontTx/>
              <a:buNone/>
            </a:pPr>
            <a:r>
              <a:rPr lang="ru-RU" altLang="en-US" sz="1800">
                <a:solidFill>
                  <a:srgbClr val="0000FF"/>
                </a:solidFill>
              </a:rPr>
              <a:t>create_clock</a:t>
            </a:r>
            <a:r>
              <a:rPr lang="en-US" altLang="en-US" sz="1800">
                <a:solidFill>
                  <a:srgbClr val="0000FF"/>
                </a:solidFill>
              </a:rPr>
              <a:t> </a:t>
            </a:r>
            <a:r>
              <a:rPr lang="ru-RU" altLang="en-US" sz="1800">
                <a:solidFill>
                  <a:srgbClr val="0000FF"/>
                </a:solidFill>
              </a:rPr>
              <a:t>-p 5 -n MCLK Clk</a:t>
            </a:r>
          </a:p>
          <a:p>
            <a:pPr eaLnBrk="1" hangingPunct="1">
              <a:spcBef>
                <a:spcPct val="0"/>
              </a:spcBef>
              <a:buClrTx/>
              <a:buSzTx/>
              <a:buFontTx/>
              <a:buNone/>
            </a:pPr>
            <a:r>
              <a:rPr lang="ru-RU" altLang="en-US" sz="1800">
                <a:solidFill>
                  <a:srgbClr val="0000FF"/>
                </a:solidFill>
              </a:rPr>
              <a:t>set_clock_uncertainty</a:t>
            </a:r>
            <a:r>
              <a:rPr lang="en-US" altLang="en-US" sz="1800">
                <a:solidFill>
                  <a:srgbClr val="0000FF"/>
                </a:solidFill>
              </a:rPr>
              <a:t> -</a:t>
            </a:r>
            <a:r>
              <a:rPr lang="ru-RU" altLang="en-US" sz="1800">
                <a:solidFill>
                  <a:srgbClr val="0000FF"/>
                </a:solidFill>
              </a:rPr>
              <a:t>setup 0.5 MCLK</a:t>
            </a:r>
          </a:p>
          <a:p>
            <a:pPr eaLnBrk="1" hangingPunct="1">
              <a:spcBef>
                <a:spcPct val="0"/>
              </a:spcBef>
              <a:buClrTx/>
              <a:buSzTx/>
              <a:buFontTx/>
              <a:buNone/>
            </a:pPr>
            <a:r>
              <a:rPr lang="ru-RU" altLang="en-US" sz="1800">
                <a:solidFill>
                  <a:srgbClr val="0000FF"/>
                </a:solidFill>
              </a:rPr>
              <a:t>set_clock_transition</a:t>
            </a:r>
            <a:r>
              <a:rPr lang="en-US" altLang="en-US" sz="1800">
                <a:solidFill>
                  <a:srgbClr val="0000FF"/>
                </a:solidFill>
              </a:rPr>
              <a:t>  </a:t>
            </a:r>
            <a:r>
              <a:rPr lang="ru-RU" altLang="en-US" sz="1800">
                <a:solidFill>
                  <a:srgbClr val="0000FF"/>
                </a:solidFill>
              </a:rPr>
              <a:t>0.08 MCLK</a:t>
            </a:r>
          </a:p>
          <a:p>
            <a:pPr eaLnBrk="1" hangingPunct="1">
              <a:spcBef>
                <a:spcPct val="0"/>
              </a:spcBef>
              <a:buClrTx/>
              <a:buSzTx/>
              <a:buFontTx/>
              <a:buNone/>
            </a:pPr>
            <a:r>
              <a:rPr lang="ru-RU" altLang="en-US" sz="1800">
                <a:solidFill>
                  <a:srgbClr val="0000FF"/>
                </a:solidFill>
              </a:rPr>
              <a:t>set_clock_latency</a:t>
            </a:r>
            <a:r>
              <a:rPr lang="en-US" altLang="en-US" sz="1800">
                <a:solidFill>
                  <a:srgbClr val="0000FF"/>
                </a:solidFill>
              </a:rPr>
              <a:t> </a:t>
            </a:r>
            <a:r>
              <a:rPr lang="ru-RU" altLang="en-US" sz="1800">
                <a:solidFill>
                  <a:srgbClr val="0000FF"/>
                </a:solidFill>
              </a:rPr>
              <a:t>-source </a:t>
            </a:r>
            <a:r>
              <a:rPr lang="en-US" altLang="en-US" sz="1800">
                <a:solidFill>
                  <a:srgbClr val="0000FF"/>
                </a:solidFill>
              </a:rPr>
              <a:t>-</a:t>
            </a:r>
            <a:r>
              <a:rPr lang="ru-RU" altLang="en-US" sz="1800">
                <a:solidFill>
                  <a:srgbClr val="0000FF"/>
                </a:solidFill>
              </a:rPr>
              <a:t>max 4 MCLK</a:t>
            </a:r>
          </a:p>
          <a:p>
            <a:pPr eaLnBrk="1" hangingPunct="1">
              <a:spcBef>
                <a:spcPct val="0"/>
              </a:spcBef>
              <a:buClrTx/>
              <a:buSzTx/>
              <a:buFontTx/>
              <a:buNone/>
            </a:pPr>
            <a:r>
              <a:rPr lang="ru-RU" altLang="en-US" sz="1800">
                <a:solidFill>
                  <a:srgbClr val="0000FF"/>
                </a:solidFill>
              </a:rPr>
              <a:t>set_clock_latency</a:t>
            </a:r>
            <a:r>
              <a:rPr lang="en-US" altLang="en-US" sz="1800">
                <a:solidFill>
                  <a:srgbClr val="0000FF"/>
                </a:solidFill>
              </a:rPr>
              <a:t> -</a:t>
            </a:r>
            <a:r>
              <a:rPr lang="ru-RU" altLang="en-US" sz="1800">
                <a:solidFill>
                  <a:srgbClr val="0000FF"/>
                </a:solidFill>
              </a:rPr>
              <a:t>max </a:t>
            </a:r>
            <a:r>
              <a:rPr lang="en-US" altLang="en-US" sz="1800">
                <a:solidFill>
                  <a:srgbClr val="0000FF"/>
                </a:solidFill>
              </a:rPr>
              <a:t> </a:t>
            </a:r>
            <a:r>
              <a:rPr lang="ru-RU" altLang="en-US" sz="1800">
                <a:solidFill>
                  <a:srgbClr val="0000FF"/>
                </a:solidFill>
              </a:rPr>
              <a:t>2 MCLK</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4">
            <a:extLst>
              <a:ext uri="{FF2B5EF4-FFF2-40B4-BE49-F238E27FC236}">
                <a16:creationId xmlns:a16="http://schemas.microsoft.com/office/drawing/2014/main" id="{89E8F1AC-71DB-1428-C97D-7A62DB8330D5}"/>
              </a:ext>
            </a:extLst>
          </p:cNvPr>
          <p:cNvSpPr>
            <a:spLocks noGrp="1" noChangeArrowheads="1"/>
          </p:cNvSpPr>
          <p:nvPr>
            <p:ph type="title"/>
          </p:nvPr>
        </p:nvSpPr>
        <p:spPr/>
        <p:txBody>
          <a:bodyPr>
            <a:normAutofit/>
          </a:bodyPr>
          <a:lstStyle/>
          <a:p>
            <a:r>
              <a:rPr lang="ru-RU" altLang="en-US" dirty="0"/>
              <a:t>set_clock_uncertainty</a:t>
            </a:r>
            <a:r>
              <a:rPr lang="en-US" altLang="en-US" dirty="0"/>
              <a:t> </a:t>
            </a:r>
            <a:r>
              <a:rPr lang="ru-RU" altLang="en-US" dirty="0"/>
              <a:t>and Setup Timing</a:t>
            </a:r>
          </a:p>
        </p:txBody>
      </p:sp>
      <p:grpSp>
        <p:nvGrpSpPr>
          <p:cNvPr id="144387" name="Group 30">
            <a:extLst>
              <a:ext uri="{FF2B5EF4-FFF2-40B4-BE49-F238E27FC236}">
                <a16:creationId xmlns:a16="http://schemas.microsoft.com/office/drawing/2014/main" id="{6FA65321-97B6-9D1B-1542-362271E4D583}"/>
              </a:ext>
            </a:extLst>
          </p:cNvPr>
          <p:cNvGrpSpPr>
            <a:grpSpLocks/>
          </p:cNvGrpSpPr>
          <p:nvPr/>
        </p:nvGrpSpPr>
        <p:grpSpPr bwMode="auto">
          <a:xfrm>
            <a:off x="2057400" y="1590676"/>
            <a:ext cx="7315200" cy="2295525"/>
            <a:chOff x="533400" y="1590675"/>
            <a:chExt cx="7315200" cy="2295525"/>
          </a:xfrm>
        </p:grpSpPr>
        <p:sp>
          <p:nvSpPr>
            <p:cNvPr id="144390" name="Text Box 7">
              <a:extLst>
                <a:ext uri="{FF2B5EF4-FFF2-40B4-BE49-F238E27FC236}">
                  <a16:creationId xmlns:a16="http://schemas.microsoft.com/office/drawing/2014/main" id="{E10A57C8-6497-F2C1-2FFD-EB11185C948D}"/>
                </a:ext>
              </a:extLst>
            </p:cNvPr>
            <p:cNvSpPr txBox="1">
              <a:spLocks noChangeArrowheads="1"/>
            </p:cNvSpPr>
            <p:nvPr/>
          </p:nvSpPr>
          <p:spPr bwMode="auto">
            <a:xfrm>
              <a:off x="4613275" y="1601788"/>
              <a:ext cx="9175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0.1</a:t>
              </a:r>
            </a:p>
          </p:txBody>
        </p:sp>
        <p:sp>
          <p:nvSpPr>
            <p:cNvPr id="144391" name="Line 8">
              <a:extLst>
                <a:ext uri="{FF2B5EF4-FFF2-40B4-BE49-F238E27FC236}">
                  <a16:creationId xmlns:a16="http://schemas.microsoft.com/office/drawing/2014/main" id="{F61DFBC6-8E4A-9340-BC6C-4035103C510C}"/>
                </a:ext>
              </a:extLst>
            </p:cNvPr>
            <p:cNvSpPr>
              <a:spLocks noChangeShapeType="1"/>
            </p:cNvSpPr>
            <p:nvPr/>
          </p:nvSpPr>
          <p:spPr bwMode="auto">
            <a:xfrm>
              <a:off x="533400" y="2555875"/>
              <a:ext cx="873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2" name="Line 9">
              <a:extLst>
                <a:ext uri="{FF2B5EF4-FFF2-40B4-BE49-F238E27FC236}">
                  <a16:creationId xmlns:a16="http://schemas.microsoft.com/office/drawing/2014/main" id="{B7DD6047-0D1D-4D1A-DC9F-F13959F5A693}"/>
                </a:ext>
              </a:extLst>
            </p:cNvPr>
            <p:cNvSpPr>
              <a:spLocks noChangeShapeType="1"/>
            </p:cNvSpPr>
            <p:nvPr/>
          </p:nvSpPr>
          <p:spPr bwMode="auto">
            <a:xfrm flipV="1">
              <a:off x="1390650" y="1890713"/>
              <a:ext cx="0" cy="665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3" name="Line 10">
              <a:extLst>
                <a:ext uri="{FF2B5EF4-FFF2-40B4-BE49-F238E27FC236}">
                  <a16:creationId xmlns:a16="http://schemas.microsoft.com/office/drawing/2014/main" id="{2C8F563F-A702-0EF3-D193-A7028A59354D}"/>
                </a:ext>
              </a:extLst>
            </p:cNvPr>
            <p:cNvSpPr>
              <a:spLocks noChangeShapeType="1"/>
            </p:cNvSpPr>
            <p:nvPr/>
          </p:nvSpPr>
          <p:spPr bwMode="auto">
            <a:xfrm>
              <a:off x="1403350" y="1874838"/>
              <a:ext cx="17684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4" name="Line 11">
              <a:extLst>
                <a:ext uri="{FF2B5EF4-FFF2-40B4-BE49-F238E27FC236}">
                  <a16:creationId xmlns:a16="http://schemas.microsoft.com/office/drawing/2014/main" id="{6F71EBC2-5F6E-83B9-C9F6-DBE8048FC03A}"/>
                </a:ext>
              </a:extLst>
            </p:cNvPr>
            <p:cNvSpPr>
              <a:spLocks noChangeShapeType="1"/>
            </p:cNvSpPr>
            <p:nvPr/>
          </p:nvSpPr>
          <p:spPr bwMode="auto">
            <a:xfrm flipV="1">
              <a:off x="3176588" y="1874838"/>
              <a:ext cx="0" cy="6619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5" name="Line 12">
              <a:extLst>
                <a:ext uri="{FF2B5EF4-FFF2-40B4-BE49-F238E27FC236}">
                  <a16:creationId xmlns:a16="http://schemas.microsoft.com/office/drawing/2014/main" id="{1B12C473-5084-DAB1-D833-55462F8924D6}"/>
                </a:ext>
              </a:extLst>
            </p:cNvPr>
            <p:cNvSpPr>
              <a:spLocks noChangeShapeType="1"/>
            </p:cNvSpPr>
            <p:nvPr/>
          </p:nvSpPr>
          <p:spPr bwMode="auto">
            <a:xfrm>
              <a:off x="3176588" y="2528888"/>
              <a:ext cx="17700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6" name="Line 13">
              <a:extLst>
                <a:ext uri="{FF2B5EF4-FFF2-40B4-BE49-F238E27FC236}">
                  <a16:creationId xmlns:a16="http://schemas.microsoft.com/office/drawing/2014/main" id="{63FD5C70-6BC9-0136-D586-518715CF2591}"/>
                </a:ext>
              </a:extLst>
            </p:cNvPr>
            <p:cNvSpPr>
              <a:spLocks noChangeShapeType="1"/>
            </p:cNvSpPr>
            <p:nvPr/>
          </p:nvSpPr>
          <p:spPr bwMode="auto">
            <a:xfrm flipV="1">
              <a:off x="4964113" y="1844675"/>
              <a:ext cx="0" cy="6905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7" name="Line 14">
              <a:extLst>
                <a:ext uri="{FF2B5EF4-FFF2-40B4-BE49-F238E27FC236}">
                  <a16:creationId xmlns:a16="http://schemas.microsoft.com/office/drawing/2014/main" id="{2BECD4B7-C5CE-C969-3FC0-7FB09A715812}"/>
                </a:ext>
              </a:extLst>
            </p:cNvPr>
            <p:cNvSpPr>
              <a:spLocks noChangeShapeType="1"/>
            </p:cNvSpPr>
            <p:nvPr/>
          </p:nvSpPr>
          <p:spPr bwMode="auto">
            <a:xfrm>
              <a:off x="4964113" y="1841500"/>
              <a:ext cx="17684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8" name="Line 15">
              <a:extLst>
                <a:ext uri="{FF2B5EF4-FFF2-40B4-BE49-F238E27FC236}">
                  <a16:creationId xmlns:a16="http://schemas.microsoft.com/office/drawing/2014/main" id="{336C5C80-7932-5569-D61A-EB34C12AC605}"/>
                </a:ext>
              </a:extLst>
            </p:cNvPr>
            <p:cNvSpPr>
              <a:spLocks noChangeShapeType="1"/>
            </p:cNvSpPr>
            <p:nvPr/>
          </p:nvSpPr>
          <p:spPr bwMode="auto">
            <a:xfrm flipV="1">
              <a:off x="6735763" y="1828800"/>
              <a:ext cx="0" cy="6794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9" name="Line 16">
              <a:extLst>
                <a:ext uri="{FF2B5EF4-FFF2-40B4-BE49-F238E27FC236}">
                  <a16:creationId xmlns:a16="http://schemas.microsoft.com/office/drawing/2014/main" id="{E4AF7AD0-6220-7511-1D66-EF1448069B24}"/>
                </a:ext>
              </a:extLst>
            </p:cNvPr>
            <p:cNvSpPr>
              <a:spLocks noChangeShapeType="1"/>
            </p:cNvSpPr>
            <p:nvPr/>
          </p:nvSpPr>
          <p:spPr bwMode="auto">
            <a:xfrm flipV="1">
              <a:off x="4632325" y="1828800"/>
              <a:ext cx="0" cy="6969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0" name="Line 17">
              <a:extLst>
                <a:ext uri="{FF2B5EF4-FFF2-40B4-BE49-F238E27FC236}">
                  <a16:creationId xmlns:a16="http://schemas.microsoft.com/office/drawing/2014/main" id="{A5585843-6112-50A4-DF8B-B886C2B0F29F}"/>
                </a:ext>
              </a:extLst>
            </p:cNvPr>
            <p:cNvSpPr>
              <a:spLocks noChangeShapeType="1"/>
            </p:cNvSpPr>
            <p:nvPr/>
          </p:nvSpPr>
          <p:spPr bwMode="auto">
            <a:xfrm flipV="1">
              <a:off x="4252913" y="1860550"/>
              <a:ext cx="0" cy="6651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1" name="Line 18">
              <a:extLst>
                <a:ext uri="{FF2B5EF4-FFF2-40B4-BE49-F238E27FC236}">
                  <a16:creationId xmlns:a16="http://schemas.microsoft.com/office/drawing/2014/main" id="{519126AC-C233-4E28-9B1F-4598DE2862F6}"/>
                </a:ext>
              </a:extLst>
            </p:cNvPr>
            <p:cNvSpPr>
              <a:spLocks noChangeShapeType="1"/>
            </p:cNvSpPr>
            <p:nvPr/>
          </p:nvSpPr>
          <p:spPr bwMode="auto">
            <a:xfrm>
              <a:off x="4237038" y="2101850"/>
              <a:ext cx="393700"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44402" name="Text Box 19">
              <a:extLst>
                <a:ext uri="{FF2B5EF4-FFF2-40B4-BE49-F238E27FC236}">
                  <a16:creationId xmlns:a16="http://schemas.microsoft.com/office/drawing/2014/main" id="{35945041-2370-7FB4-DA78-5CEB463D38BA}"/>
                </a:ext>
              </a:extLst>
            </p:cNvPr>
            <p:cNvSpPr txBox="1">
              <a:spLocks noChangeArrowheads="1"/>
            </p:cNvSpPr>
            <p:nvPr/>
          </p:nvSpPr>
          <p:spPr bwMode="auto">
            <a:xfrm>
              <a:off x="4129088" y="1590675"/>
              <a:ext cx="9175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0.14</a:t>
              </a:r>
            </a:p>
          </p:txBody>
        </p:sp>
        <p:sp>
          <p:nvSpPr>
            <p:cNvPr id="144403" name="Line 20">
              <a:extLst>
                <a:ext uri="{FF2B5EF4-FFF2-40B4-BE49-F238E27FC236}">
                  <a16:creationId xmlns:a16="http://schemas.microsoft.com/office/drawing/2014/main" id="{5AB903EA-DE29-A44A-0DEB-DDBE16B40766}"/>
                </a:ext>
              </a:extLst>
            </p:cNvPr>
            <p:cNvSpPr>
              <a:spLocks noChangeShapeType="1"/>
            </p:cNvSpPr>
            <p:nvPr/>
          </p:nvSpPr>
          <p:spPr bwMode="auto">
            <a:xfrm>
              <a:off x="4632325" y="1993900"/>
              <a:ext cx="333375"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44404" name="Line 21">
              <a:extLst>
                <a:ext uri="{FF2B5EF4-FFF2-40B4-BE49-F238E27FC236}">
                  <a16:creationId xmlns:a16="http://schemas.microsoft.com/office/drawing/2014/main" id="{F2861E0E-657C-0129-575D-A43F3296EA9F}"/>
                </a:ext>
              </a:extLst>
            </p:cNvPr>
            <p:cNvSpPr>
              <a:spLocks noChangeShapeType="1"/>
            </p:cNvSpPr>
            <p:nvPr/>
          </p:nvSpPr>
          <p:spPr bwMode="auto">
            <a:xfrm>
              <a:off x="6748463" y="2509838"/>
              <a:ext cx="873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5" name="Line 22">
              <a:extLst>
                <a:ext uri="{FF2B5EF4-FFF2-40B4-BE49-F238E27FC236}">
                  <a16:creationId xmlns:a16="http://schemas.microsoft.com/office/drawing/2014/main" id="{EF7C520F-FEEA-8DB2-6ACA-9B409925F1C1}"/>
                </a:ext>
              </a:extLst>
            </p:cNvPr>
            <p:cNvSpPr>
              <a:spLocks noChangeShapeType="1"/>
            </p:cNvSpPr>
            <p:nvPr/>
          </p:nvSpPr>
          <p:spPr bwMode="auto">
            <a:xfrm>
              <a:off x="1403350" y="2828925"/>
              <a:ext cx="0" cy="58896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4406" name="Line 23">
              <a:extLst>
                <a:ext uri="{FF2B5EF4-FFF2-40B4-BE49-F238E27FC236}">
                  <a16:creationId xmlns:a16="http://schemas.microsoft.com/office/drawing/2014/main" id="{D0C164DA-6461-7506-91CE-B37CE92BBB25}"/>
                </a:ext>
              </a:extLst>
            </p:cNvPr>
            <p:cNvSpPr>
              <a:spLocks noChangeShapeType="1"/>
            </p:cNvSpPr>
            <p:nvPr/>
          </p:nvSpPr>
          <p:spPr bwMode="auto">
            <a:xfrm>
              <a:off x="4265613" y="2828925"/>
              <a:ext cx="0" cy="58896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4407" name="Line 24">
              <a:extLst>
                <a:ext uri="{FF2B5EF4-FFF2-40B4-BE49-F238E27FC236}">
                  <a16:creationId xmlns:a16="http://schemas.microsoft.com/office/drawing/2014/main" id="{2320840C-4583-53D2-47B3-D2C96CBEFE9E}"/>
                </a:ext>
              </a:extLst>
            </p:cNvPr>
            <p:cNvSpPr>
              <a:spLocks noChangeShapeType="1"/>
            </p:cNvSpPr>
            <p:nvPr/>
          </p:nvSpPr>
          <p:spPr bwMode="auto">
            <a:xfrm flipV="1">
              <a:off x="1403350" y="3092450"/>
              <a:ext cx="2846388"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4408" name="Text Box 25">
              <a:extLst>
                <a:ext uri="{FF2B5EF4-FFF2-40B4-BE49-F238E27FC236}">
                  <a16:creationId xmlns:a16="http://schemas.microsoft.com/office/drawing/2014/main" id="{6E964A81-7938-3F04-0046-57521858EF83}"/>
                </a:ext>
              </a:extLst>
            </p:cNvPr>
            <p:cNvSpPr txBox="1">
              <a:spLocks noChangeArrowheads="1"/>
            </p:cNvSpPr>
            <p:nvPr/>
          </p:nvSpPr>
          <p:spPr bwMode="auto">
            <a:xfrm>
              <a:off x="1187450" y="2519363"/>
              <a:ext cx="6175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a:t>
              </a:r>
            </a:p>
          </p:txBody>
        </p:sp>
        <p:sp>
          <p:nvSpPr>
            <p:cNvPr id="144409" name="Text Box 26">
              <a:extLst>
                <a:ext uri="{FF2B5EF4-FFF2-40B4-BE49-F238E27FC236}">
                  <a16:creationId xmlns:a16="http://schemas.microsoft.com/office/drawing/2014/main" id="{8EB97FD4-8C97-D3ED-2ADA-7F5F24E010DB}"/>
                </a:ext>
              </a:extLst>
            </p:cNvPr>
            <p:cNvSpPr txBox="1">
              <a:spLocks noChangeArrowheads="1"/>
            </p:cNvSpPr>
            <p:nvPr/>
          </p:nvSpPr>
          <p:spPr bwMode="auto">
            <a:xfrm>
              <a:off x="2959100" y="2503488"/>
              <a:ext cx="617538"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a:t>
              </a:r>
            </a:p>
          </p:txBody>
        </p:sp>
        <p:sp>
          <p:nvSpPr>
            <p:cNvPr id="144410" name="Text Box 27">
              <a:extLst>
                <a:ext uri="{FF2B5EF4-FFF2-40B4-BE49-F238E27FC236}">
                  <a16:creationId xmlns:a16="http://schemas.microsoft.com/office/drawing/2014/main" id="{B3A38617-F0ED-C3BC-63C0-5B6F5F628AF4}"/>
                </a:ext>
              </a:extLst>
            </p:cNvPr>
            <p:cNvSpPr txBox="1">
              <a:spLocks noChangeArrowheads="1"/>
            </p:cNvSpPr>
            <p:nvPr/>
          </p:nvSpPr>
          <p:spPr bwMode="auto">
            <a:xfrm>
              <a:off x="3781425" y="2503488"/>
              <a:ext cx="82232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1.76</a:t>
              </a:r>
            </a:p>
          </p:txBody>
        </p:sp>
        <p:sp>
          <p:nvSpPr>
            <p:cNvPr id="144411" name="Text Box 28">
              <a:extLst>
                <a:ext uri="{FF2B5EF4-FFF2-40B4-BE49-F238E27FC236}">
                  <a16:creationId xmlns:a16="http://schemas.microsoft.com/office/drawing/2014/main" id="{84686D24-6E3E-ACB8-25EC-93D45F622ED6}"/>
                </a:ext>
              </a:extLst>
            </p:cNvPr>
            <p:cNvSpPr txBox="1">
              <a:spLocks noChangeArrowheads="1"/>
            </p:cNvSpPr>
            <p:nvPr/>
          </p:nvSpPr>
          <p:spPr bwMode="auto">
            <a:xfrm>
              <a:off x="4303713" y="2503488"/>
              <a:ext cx="82232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1.9</a:t>
              </a:r>
            </a:p>
          </p:txBody>
        </p:sp>
        <p:sp>
          <p:nvSpPr>
            <p:cNvPr id="144412" name="Text Box 29">
              <a:extLst>
                <a:ext uri="{FF2B5EF4-FFF2-40B4-BE49-F238E27FC236}">
                  <a16:creationId xmlns:a16="http://schemas.microsoft.com/office/drawing/2014/main" id="{2BB3D683-CAD5-2DF4-4830-740623943E6E}"/>
                </a:ext>
              </a:extLst>
            </p:cNvPr>
            <p:cNvSpPr txBox="1">
              <a:spLocks noChangeArrowheads="1"/>
            </p:cNvSpPr>
            <p:nvPr/>
          </p:nvSpPr>
          <p:spPr bwMode="auto">
            <a:xfrm>
              <a:off x="4794250" y="2489200"/>
              <a:ext cx="8207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2</a:t>
              </a:r>
            </a:p>
          </p:txBody>
        </p:sp>
        <p:sp>
          <p:nvSpPr>
            <p:cNvPr id="144413" name="Text Box 30">
              <a:extLst>
                <a:ext uri="{FF2B5EF4-FFF2-40B4-BE49-F238E27FC236}">
                  <a16:creationId xmlns:a16="http://schemas.microsoft.com/office/drawing/2014/main" id="{B14ADC49-7A14-3ACD-9483-BDBA633CF1C1}"/>
                </a:ext>
              </a:extLst>
            </p:cNvPr>
            <p:cNvSpPr txBox="1">
              <a:spLocks noChangeArrowheads="1"/>
            </p:cNvSpPr>
            <p:nvPr/>
          </p:nvSpPr>
          <p:spPr bwMode="auto">
            <a:xfrm>
              <a:off x="1820863" y="3154363"/>
              <a:ext cx="233997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Max </a:t>
              </a:r>
              <a:r>
                <a:rPr lang="en-US" altLang="en-US" sz="1600" b="1"/>
                <a:t>allowable </a:t>
              </a:r>
              <a:r>
                <a:rPr lang="ru-RU" altLang="en-US" sz="1600" b="1"/>
                <a:t>delay Reg-to-Reg</a:t>
              </a:r>
            </a:p>
          </p:txBody>
        </p:sp>
        <p:sp>
          <p:nvSpPr>
            <p:cNvPr id="144414" name="Line 31">
              <a:extLst>
                <a:ext uri="{FF2B5EF4-FFF2-40B4-BE49-F238E27FC236}">
                  <a16:creationId xmlns:a16="http://schemas.microsoft.com/office/drawing/2014/main" id="{48761B13-F57F-D046-60DF-D926E0AFF43C}"/>
                </a:ext>
              </a:extLst>
            </p:cNvPr>
            <p:cNvSpPr>
              <a:spLocks noChangeShapeType="1"/>
            </p:cNvSpPr>
            <p:nvPr/>
          </p:nvSpPr>
          <p:spPr bwMode="auto">
            <a:xfrm>
              <a:off x="4827588" y="2049463"/>
              <a:ext cx="776287" cy="8667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5" name="Text Box 32">
              <a:extLst>
                <a:ext uri="{FF2B5EF4-FFF2-40B4-BE49-F238E27FC236}">
                  <a16:creationId xmlns:a16="http://schemas.microsoft.com/office/drawing/2014/main" id="{964289EC-423F-FF3E-2EE3-A922AC86263D}"/>
                </a:ext>
              </a:extLst>
            </p:cNvPr>
            <p:cNvSpPr txBox="1">
              <a:spLocks noChangeArrowheads="1"/>
            </p:cNvSpPr>
            <p:nvPr/>
          </p:nvSpPr>
          <p:spPr bwMode="auto">
            <a:xfrm>
              <a:off x="5270500" y="2900363"/>
              <a:ext cx="25781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Setup_time Reg3=0.1ns</a:t>
              </a:r>
              <a:br>
                <a:rPr lang="ru-RU" altLang="en-US" sz="1600" b="1"/>
              </a:br>
              <a:r>
                <a:rPr lang="ru-RU" altLang="en-US" sz="1600" b="1"/>
                <a:t>(lib setup)</a:t>
              </a:r>
            </a:p>
          </p:txBody>
        </p:sp>
      </p:grpSp>
      <p:sp>
        <p:nvSpPr>
          <p:cNvPr id="144388" name="Text Box 34">
            <a:extLst>
              <a:ext uri="{FF2B5EF4-FFF2-40B4-BE49-F238E27FC236}">
                <a16:creationId xmlns:a16="http://schemas.microsoft.com/office/drawing/2014/main" id="{5AE3547B-B43D-0610-F4FA-5AE983596D37}"/>
              </a:ext>
            </a:extLst>
          </p:cNvPr>
          <p:cNvSpPr txBox="1">
            <a:spLocks noChangeArrowheads="1"/>
          </p:cNvSpPr>
          <p:nvPr/>
        </p:nvSpPr>
        <p:spPr bwMode="auto">
          <a:xfrm>
            <a:off x="2209800" y="4038601"/>
            <a:ext cx="807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000">
                <a:solidFill>
                  <a:srgbClr val="3333CC"/>
                </a:solidFill>
              </a:rPr>
              <a:t>set_clock_uncertainty –setup  0.14   [get_clocks CLK]</a:t>
            </a:r>
            <a:endParaRPr lang="ru-RU" altLang="en-US" sz="2000">
              <a:solidFill>
                <a:srgbClr val="3333CC"/>
              </a:solidFill>
            </a:endParaRPr>
          </a:p>
        </p:txBody>
      </p:sp>
      <p:sp>
        <p:nvSpPr>
          <p:cNvPr id="144389" name="Text Box 35">
            <a:extLst>
              <a:ext uri="{FF2B5EF4-FFF2-40B4-BE49-F238E27FC236}">
                <a16:creationId xmlns:a16="http://schemas.microsoft.com/office/drawing/2014/main" id="{F25AB5D7-0F1C-47FA-6B1A-6071109A344E}"/>
              </a:ext>
            </a:extLst>
          </p:cNvPr>
          <p:cNvSpPr txBox="1">
            <a:spLocks noChangeArrowheads="1"/>
          </p:cNvSpPr>
          <p:nvPr/>
        </p:nvSpPr>
        <p:spPr bwMode="auto">
          <a:xfrm>
            <a:off x="2133600" y="4572001"/>
            <a:ext cx="754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000" dirty="0"/>
              <a:t>Max allowable delay Reg-to-Reg = 2- (0.14+0.1)=1.76 ns. </a:t>
            </a:r>
            <a:endParaRPr lang="ru-RU" altLang="en-US" sz="20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itle 1">
            <a:extLst>
              <a:ext uri="{FF2B5EF4-FFF2-40B4-BE49-F238E27FC236}">
                <a16:creationId xmlns:a16="http://schemas.microsoft.com/office/drawing/2014/main" id="{9E1023D9-0E2D-D2F9-E562-9E409D40299F}"/>
              </a:ext>
            </a:extLst>
          </p:cNvPr>
          <p:cNvSpPr>
            <a:spLocks noGrp="1" noChangeArrowheads="1"/>
          </p:cNvSpPr>
          <p:nvPr>
            <p:ph type="title"/>
          </p:nvPr>
        </p:nvSpPr>
        <p:spPr/>
        <p:txBody>
          <a:bodyPr/>
          <a:lstStyle/>
          <a:p>
            <a:r>
              <a:rPr lang="en-US" altLang="en-US"/>
              <a:t>Setup  and  Hold</a:t>
            </a:r>
            <a:endParaRPr lang="en-GB" altLang="en-US"/>
          </a:p>
        </p:txBody>
      </p:sp>
      <p:sp>
        <p:nvSpPr>
          <p:cNvPr id="3" name="Text Placeholder 2">
            <a:extLst>
              <a:ext uri="{FF2B5EF4-FFF2-40B4-BE49-F238E27FC236}">
                <a16:creationId xmlns:a16="http://schemas.microsoft.com/office/drawing/2014/main" id="{8F0D2954-3152-F728-5B96-7B13132F8986}"/>
              </a:ext>
            </a:extLst>
          </p:cNvPr>
          <p:cNvSpPr>
            <a:spLocks noGrp="1"/>
          </p:cNvSpPr>
          <p:nvPr>
            <p:ph type="body" sz="quarter" idx="10"/>
          </p:nvPr>
        </p:nvSpPr>
        <p:spPr/>
        <p:txBody>
          <a:bodyPr/>
          <a:lstStyle/>
          <a:p>
            <a:r>
              <a:rPr lang="en-US" dirty="0"/>
              <a:t>Setup – the time  before  a clock edge before which  the data should  be stable   on the D  pin of a  flip-flop.</a:t>
            </a:r>
          </a:p>
          <a:p>
            <a:r>
              <a:rPr lang="en-US" dirty="0"/>
              <a:t>Hold – time after  a clock edge for which the data  should be held  stable.</a:t>
            </a:r>
          </a:p>
          <a:p>
            <a:r>
              <a:rPr lang="en-US" dirty="0"/>
              <a:t>Setup slack – data setup </a:t>
            </a:r>
            <a:r>
              <a:rPr lang="en-US" dirty="0" err="1"/>
              <a:t>requierement</a:t>
            </a:r>
            <a:r>
              <a:rPr lang="en-US" dirty="0"/>
              <a:t> – last  arriving  signal</a:t>
            </a:r>
          </a:p>
          <a:p>
            <a:r>
              <a:rPr lang="en-US" dirty="0"/>
              <a:t>Hold slack  - earliest arriving signal  -  data stability requirement</a:t>
            </a:r>
          </a:p>
          <a:p>
            <a:endParaRPr lang="en-US" dirty="0"/>
          </a:p>
        </p:txBody>
      </p:sp>
      <p:grpSp>
        <p:nvGrpSpPr>
          <p:cNvPr id="145412" name="Group 45">
            <a:extLst>
              <a:ext uri="{FF2B5EF4-FFF2-40B4-BE49-F238E27FC236}">
                <a16:creationId xmlns:a16="http://schemas.microsoft.com/office/drawing/2014/main" id="{86B30940-2893-D63F-2D37-D39A74F45010}"/>
              </a:ext>
            </a:extLst>
          </p:cNvPr>
          <p:cNvGrpSpPr>
            <a:grpSpLocks/>
          </p:cNvGrpSpPr>
          <p:nvPr/>
        </p:nvGrpSpPr>
        <p:grpSpPr bwMode="auto">
          <a:xfrm>
            <a:off x="2605088" y="3352800"/>
            <a:ext cx="6538912" cy="2376488"/>
            <a:chOff x="685800" y="3573192"/>
            <a:chExt cx="6539132" cy="2376026"/>
          </a:xfrm>
        </p:grpSpPr>
        <p:cxnSp>
          <p:nvCxnSpPr>
            <p:cNvPr id="145413" name="Straight Connector 4">
              <a:extLst>
                <a:ext uri="{FF2B5EF4-FFF2-40B4-BE49-F238E27FC236}">
                  <a16:creationId xmlns:a16="http://schemas.microsoft.com/office/drawing/2014/main" id="{96151EE1-32E7-408D-7BC2-D99FAD2F73DF}"/>
                </a:ext>
              </a:extLst>
            </p:cNvPr>
            <p:cNvCxnSpPr>
              <a:cxnSpLocks noChangeShapeType="1"/>
            </p:cNvCxnSpPr>
            <p:nvPr/>
          </p:nvCxnSpPr>
          <p:spPr bwMode="auto">
            <a:xfrm>
              <a:off x="685800" y="4953000"/>
              <a:ext cx="990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45414" name="Straight Connector 6">
              <a:extLst>
                <a:ext uri="{FF2B5EF4-FFF2-40B4-BE49-F238E27FC236}">
                  <a16:creationId xmlns:a16="http://schemas.microsoft.com/office/drawing/2014/main" id="{FF30082B-9060-206A-2DCC-7BEAAFA81136}"/>
                </a:ext>
              </a:extLst>
            </p:cNvPr>
            <p:cNvCxnSpPr>
              <a:cxnSpLocks noChangeShapeType="1"/>
            </p:cNvCxnSpPr>
            <p:nvPr/>
          </p:nvCxnSpPr>
          <p:spPr bwMode="auto">
            <a:xfrm rot="5400000">
              <a:off x="1219200" y="4493452"/>
              <a:ext cx="914400" cy="15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145415" name="Straight Connector 7">
              <a:extLst>
                <a:ext uri="{FF2B5EF4-FFF2-40B4-BE49-F238E27FC236}">
                  <a16:creationId xmlns:a16="http://schemas.microsoft.com/office/drawing/2014/main" id="{C48C5CA1-370C-E20A-87E8-5A127EAFDC28}"/>
                </a:ext>
              </a:extLst>
            </p:cNvPr>
            <p:cNvCxnSpPr>
              <a:cxnSpLocks noChangeShapeType="1"/>
            </p:cNvCxnSpPr>
            <p:nvPr/>
          </p:nvCxnSpPr>
          <p:spPr bwMode="auto">
            <a:xfrm>
              <a:off x="1676400" y="4038600"/>
              <a:ext cx="1371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45416" name="Straight Connector 8">
              <a:extLst>
                <a:ext uri="{FF2B5EF4-FFF2-40B4-BE49-F238E27FC236}">
                  <a16:creationId xmlns:a16="http://schemas.microsoft.com/office/drawing/2014/main" id="{3B80D59F-755C-0507-FB79-4041C6C63848}"/>
                </a:ext>
              </a:extLst>
            </p:cNvPr>
            <p:cNvCxnSpPr>
              <a:cxnSpLocks noChangeShapeType="1"/>
            </p:cNvCxnSpPr>
            <p:nvPr/>
          </p:nvCxnSpPr>
          <p:spPr bwMode="auto">
            <a:xfrm rot="5400000">
              <a:off x="2591594" y="4495006"/>
              <a:ext cx="914400" cy="15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145417" name="Straight Connector 9">
              <a:extLst>
                <a:ext uri="{FF2B5EF4-FFF2-40B4-BE49-F238E27FC236}">
                  <a16:creationId xmlns:a16="http://schemas.microsoft.com/office/drawing/2014/main" id="{3757BBD7-DF2B-A3E2-E218-A8C3D55138D1}"/>
                </a:ext>
              </a:extLst>
            </p:cNvPr>
            <p:cNvCxnSpPr>
              <a:cxnSpLocks noChangeShapeType="1"/>
            </p:cNvCxnSpPr>
            <p:nvPr/>
          </p:nvCxnSpPr>
          <p:spPr bwMode="auto">
            <a:xfrm>
              <a:off x="3048000" y="4953000"/>
              <a:ext cx="1828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45418" name="Straight Connector 10">
              <a:extLst>
                <a:ext uri="{FF2B5EF4-FFF2-40B4-BE49-F238E27FC236}">
                  <a16:creationId xmlns:a16="http://schemas.microsoft.com/office/drawing/2014/main" id="{D2428E80-BC45-9C16-D6AA-A865330E5E69}"/>
                </a:ext>
              </a:extLst>
            </p:cNvPr>
            <p:cNvCxnSpPr>
              <a:cxnSpLocks noChangeShapeType="1"/>
            </p:cNvCxnSpPr>
            <p:nvPr/>
          </p:nvCxnSpPr>
          <p:spPr bwMode="auto">
            <a:xfrm rot="5400000">
              <a:off x="4405532" y="4493452"/>
              <a:ext cx="914400" cy="15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145419" name="Straight Connector 11">
              <a:extLst>
                <a:ext uri="{FF2B5EF4-FFF2-40B4-BE49-F238E27FC236}">
                  <a16:creationId xmlns:a16="http://schemas.microsoft.com/office/drawing/2014/main" id="{90D28FF4-5D48-EA80-FFE2-A13694A2F57C}"/>
                </a:ext>
              </a:extLst>
            </p:cNvPr>
            <p:cNvCxnSpPr>
              <a:cxnSpLocks noChangeShapeType="1"/>
            </p:cNvCxnSpPr>
            <p:nvPr/>
          </p:nvCxnSpPr>
          <p:spPr bwMode="auto">
            <a:xfrm>
              <a:off x="4862732" y="4038600"/>
              <a:ext cx="1371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45420" name="Straight Connector 12">
              <a:extLst>
                <a:ext uri="{FF2B5EF4-FFF2-40B4-BE49-F238E27FC236}">
                  <a16:creationId xmlns:a16="http://schemas.microsoft.com/office/drawing/2014/main" id="{AA163A1F-AB4C-5BB2-E642-1B633DB17D5C}"/>
                </a:ext>
              </a:extLst>
            </p:cNvPr>
            <p:cNvCxnSpPr>
              <a:cxnSpLocks noChangeShapeType="1"/>
            </p:cNvCxnSpPr>
            <p:nvPr/>
          </p:nvCxnSpPr>
          <p:spPr bwMode="auto">
            <a:xfrm rot="5400000">
              <a:off x="5784166" y="4488766"/>
              <a:ext cx="914400" cy="1406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145421" name="Straight Connector 13">
              <a:extLst>
                <a:ext uri="{FF2B5EF4-FFF2-40B4-BE49-F238E27FC236}">
                  <a16:creationId xmlns:a16="http://schemas.microsoft.com/office/drawing/2014/main" id="{727CC5B7-424E-39E9-CEBB-7489A30B4BF6}"/>
                </a:ext>
              </a:extLst>
            </p:cNvPr>
            <p:cNvCxnSpPr>
              <a:cxnSpLocks noChangeShapeType="1"/>
            </p:cNvCxnSpPr>
            <p:nvPr/>
          </p:nvCxnSpPr>
          <p:spPr bwMode="auto">
            <a:xfrm>
              <a:off x="6234332" y="4953000"/>
              <a:ext cx="9906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45422" name="Straight Connector 15">
              <a:extLst>
                <a:ext uri="{FF2B5EF4-FFF2-40B4-BE49-F238E27FC236}">
                  <a16:creationId xmlns:a16="http://schemas.microsoft.com/office/drawing/2014/main" id="{B5A29DA0-9058-C464-1E61-D71F14CC121B}"/>
                </a:ext>
              </a:extLst>
            </p:cNvPr>
            <p:cNvCxnSpPr>
              <a:cxnSpLocks noChangeShapeType="1"/>
            </p:cNvCxnSpPr>
            <p:nvPr/>
          </p:nvCxnSpPr>
          <p:spPr bwMode="auto">
            <a:xfrm rot="5400000">
              <a:off x="1021080" y="4541520"/>
              <a:ext cx="1920240" cy="1588"/>
            </a:xfrm>
            <a:prstGeom prst="line">
              <a:avLst/>
            </a:prstGeom>
            <a:noFill/>
            <a:ln w="28575"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5423" name="Straight Connector 16">
              <a:extLst>
                <a:ext uri="{FF2B5EF4-FFF2-40B4-BE49-F238E27FC236}">
                  <a16:creationId xmlns:a16="http://schemas.microsoft.com/office/drawing/2014/main" id="{5EBC1524-F8BD-506C-AAF8-D768B1CA1E86}"/>
                </a:ext>
              </a:extLst>
            </p:cNvPr>
            <p:cNvCxnSpPr>
              <a:cxnSpLocks noChangeShapeType="1"/>
            </p:cNvCxnSpPr>
            <p:nvPr/>
          </p:nvCxnSpPr>
          <p:spPr bwMode="auto">
            <a:xfrm rot="5400000">
              <a:off x="1555274" y="4532518"/>
              <a:ext cx="1920240" cy="1588"/>
            </a:xfrm>
            <a:prstGeom prst="line">
              <a:avLst/>
            </a:prstGeom>
            <a:noFill/>
            <a:ln w="28575"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5424" name="Straight Connector 17">
              <a:extLst>
                <a:ext uri="{FF2B5EF4-FFF2-40B4-BE49-F238E27FC236}">
                  <a16:creationId xmlns:a16="http://schemas.microsoft.com/office/drawing/2014/main" id="{129F5855-C11E-A018-A1C7-381FEAEBCA68}"/>
                </a:ext>
              </a:extLst>
            </p:cNvPr>
            <p:cNvCxnSpPr>
              <a:cxnSpLocks noChangeShapeType="1"/>
            </p:cNvCxnSpPr>
            <p:nvPr/>
          </p:nvCxnSpPr>
          <p:spPr bwMode="auto">
            <a:xfrm rot="5400000">
              <a:off x="3612674" y="4540726"/>
              <a:ext cx="1920240" cy="1588"/>
            </a:xfrm>
            <a:prstGeom prst="line">
              <a:avLst/>
            </a:prstGeom>
            <a:noFill/>
            <a:ln w="28575"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5425" name="Straight Connector 18">
              <a:extLst>
                <a:ext uri="{FF2B5EF4-FFF2-40B4-BE49-F238E27FC236}">
                  <a16:creationId xmlns:a16="http://schemas.microsoft.com/office/drawing/2014/main" id="{190DFA75-C8F9-2F2F-C8CB-6A58137EF25A}"/>
                </a:ext>
              </a:extLst>
            </p:cNvPr>
            <p:cNvCxnSpPr>
              <a:cxnSpLocks noChangeShapeType="1"/>
            </p:cNvCxnSpPr>
            <p:nvPr/>
          </p:nvCxnSpPr>
          <p:spPr bwMode="auto">
            <a:xfrm rot="5400000">
              <a:off x="3231674" y="4540726"/>
              <a:ext cx="1920240" cy="1588"/>
            </a:xfrm>
            <a:prstGeom prst="line">
              <a:avLst/>
            </a:prstGeom>
            <a:noFill/>
            <a:ln w="28575"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5426" name="Straight Arrow Connector 20">
              <a:extLst>
                <a:ext uri="{FF2B5EF4-FFF2-40B4-BE49-F238E27FC236}">
                  <a16:creationId xmlns:a16="http://schemas.microsoft.com/office/drawing/2014/main" id="{056155A1-0727-D60E-C89E-92F07E9F679A}"/>
                </a:ext>
              </a:extLst>
            </p:cNvPr>
            <p:cNvCxnSpPr>
              <a:cxnSpLocks noChangeShapeType="1"/>
            </p:cNvCxnSpPr>
            <p:nvPr/>
          </p:nvCxnSpPr>
          <p:spPr bwMode="auto">
            <a:xfrm>
              <a:off x="4191000" y="5334000"/>
              <a:ext cx="381000"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145427" name="Straight Arrow Connector 21">
              <a:extLst>
                <a:ext uri="{FF2B5EF4-FFF2-40B4-BE49-F238E27FC236}">
                  <a16:creationId xmlns:a16="http://schemas.microsoft.com/office/drawing/2014/main" id="{09080A18-BE14-300D-52CC-A4D9AA72EC89}"/>
                </a:ext>
              </a:extLst>
            </p:cNvPr>
            <p:cNvCxnSpPr>
              <a:cxnSpLocks noChangeShapeType="1"/>
            </p:cNvCxnSpPr>
            <p:nvPr/>
          </p:nvCxnSpPr>
          <p:spPr bwMode="auto">
            <a:xfrm>
              <a:off x="2015196" y="5334000"/>
              <a:ext cx="457200"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145428" name="TextBox 22">
              <a:extLst>
                <a:ext uri="{FF2B5EF4-FFF2-40B4-BE49-F238E27FC236}">
                  <a16:creationId xmlns:a16="http://schemas.microsoft.com/office/drawing/2014/main" id="{B1EA34D3-9866-4239-4430-257C4E6C43B6}"/>
                </a:ext>
              </a:extLst>
            </p:cNvPr>
            <p:cNvSpPr txBox="1">
              <a:spLocks noChangeArrowheads="1"/>
            </p:cNvSpPr>
            <p:nvPr/>
          </p:nvSpPr>
          <p:spPr bwMode="auto">
            <a:xfrm>
              <a:off x="1696328" y="5610664"/>
              <a:ext cx="1600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Hold  Slack</a:t>
              </a:r>
              <a:endParaRPr lang="en-GB" altLang="en-US" sz="1600" b="1"/>
            </a:p>
          </p:txBody>
        </p:sp>
        <p:sp>
          <p:nvSpPr>
            <p:cNvPr id="145429" name="TextBox 23">
              <a:extLst>
                <a:ext uri="{FF2B5EF4-FFF2-40B4-BE49-F238E27FC236}">
                  <a16:creationId xmlns:a16="http://schemas.microsoft.com/office/drawing/2014/main" id="{D61D3D84-FE70-FD59-9D82-445E16772370}"/>
                </a:ext>
              </a:extLst>
            </p:cNvPr>
            <p:cNvSpPr txBox="1">
              <a:spLocks noChangeArrowheads="1"/>
            </p:cNvSpPr>
            <p:nvPr/>
          </p:nvSpPr>
          <p:spPr bwMode="auto">
            <a:xfrm>
              <a:off x="3886200" y="5562600"/>
              <a:ext cx="1600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Setup  Slack</a:t>
              </a:r>
              <a:endParaRPr lang="en-GB" altLang="en-US" sz="1600" b="1"/>
            </a:p>
          </p:txBody>
        </p:sp>
        <p:cxnSp>
          <p:nvCxnSpPr>
            <p:cNvPr id="145430" name="Straight Arrow Connector 24">
              <a:extLst>
                <a:ext uri="{FF2B5EF4-FFF2-40B4-BE49-F238E27FC236}">
                  <a16:creationId xmlns:a16="http://schemas.microsoft.com/office/drawing/2014/main" id="{2889009C-E7AB-5F57-5FF4-81C37E835D36}"/>
                </a:ext>
              </a:extLst>
            </p:cNvPr>
            <p:cNvCxnSpPr>
              <a:cxnSpLocks noChangeShapeType="1"/>
            </p:cNvCxnSpPr>
            <p:nvPr/>
          </p:nvCxnSpPr>
          <p:spPr bwMode="auto">
            <a:xfrm>
              <a:off x="4572000" y="4161700"/>
              <a:ext cx="274320"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145431" name="TextBox 25">
              <a:extLst>
                <a:ext uri="{FF2B5EF4-FFF2-40B4-BE49-F238E27FC236}">
                  <a16:creationId xmlns:a16="http://schemas.microsoft.com/office/drawing/2014/main" id="{BCE04110-B0D6-1C69-E2E1-439D295285E8}"/>
                </a:ext>
              </a:extLst>
            </p:cNvPr>
            <p:cNvSpPr txBox="1">
              <a:spLocks noChangeArrowheads="1"/>
            </p:cNvSpPr>
            <p:nvPr/>
          </p:nvSpPr>
          <p:spPr bwMode="auto">
            <a:xfrm>
              <a:off x="4651712" y="3595468"/>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Setup</a:t>
              </a:r>
              <a:endParaRPr lang="en-GB" altLang="en-US" sz="1600" b="1"/>
            </a:p>
          </p:txBody>
        </p:sp>
        <p:cxnSp>
          <p:nvCxnSpPr>
            <p:cNvPr id="145432" name="Straight Arrow Connector 26">
              <a:extLst>
                <a:ext uri="{FF2B5EF4-FFF2-40B4-BE49-F238E27FC236}">
                  <a16:creationId xmlns:a16="http://schemas.microsoft.com/office/drawing/2014/main" id="{179F38B6-38BB-3862-DDF5-503B47F58D07}"/>
                </a:ext>
              </a:extLst>
            </p:cNvPr>
            <p:cNvCxnSpPr>
              <a:cxnSpLocks noChangeShapeType="1"/>
            </p:cNvCxnSpPr>
            <p:nvPr/>
          </p:nvCxnSpPr>
          <p:spPr bwMode="auto">
            <a:xfrm>
              <a:off x="1696328" y="3906128"/>
              <a:ext cx="274320" cy="1588"/>
            </a:xfrm>
            <a:prstGeom prst="straightConnector1">
              <a:avLst/>
            </a:prstGeom>
            <a:noFill/>
            <a:ln w="9525"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145433" name="TextBox 27">
              <a:extLst>
                <a:ext uri="{FF2B5EF4-FFF2-40B4-BE49-F238E27FC236}">
                  <a16:creationId xmlns:a16="http://schemas.microsoft.com/office/drawing/2014/main" id="{CC78D22B-D573-AFAB-8648-5C75C0751BCE}"/>
                </a:ext>
              </a:extLst>
            </p:cNvPr>
            <p:cNvSpPr txBox="1">
              <a:spLocks noChangeArrowheads="1"/>
            </p:cNvSpPr>
            <p:nvPr/>
          </p:nvSpPr>
          <p:spPr bwMode="auto">
            <a:xfrm>
              <a:off x="914400" y="3810000"/>
              <a:ext cx="838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Hold</a:t>
              </a:r>
              <a:endParaRPr lang="en-GB" altLang="en-US" sz="1600" b="1"/>
            </a:p>
          </p:txBody>
        </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4">
            <a:extLst>
              <a:ext uri="{FF2B5EF4-FFF2-40B4-BE49-F238E27FC236}">
                <a16:creationId xmlns:a16="http://schemas.microsoft.com/office/drawing/2014/main" id="{757D1B05-6483-29E6-9E9C-252CCFB8877D}"/>
              </a:ext>
            </a:extLst>
          </p:cNvPr>
          <p:cNvSpPr>
            <a:spLocks noGrp="1" noChangeArrowheads="1"/>
          </p:cNvSpPr>
          <p:nvPr>
            <p:ph type="title"/>
          </p:nvPr>
        </p:nvSpPr>
        <p:spPr/>
        <p:txBody>
          <a:bodyPr/>
          <a:lstStyle/>
          <a:p>
            <a:r>
              <a:rPr lang="ru-RU" altLang="en-US"/>
              <a:t>Modeling Latency or Insertion Delay</a:t>
            </a:r>
          </a:p>
        </p:txBody>
      </p:sp>
      <p:grpSp>
        <p:nvGrpSpPr>
          <p:cNvPr id="146435" name="Group 23">
            <a:extLst>
              <a:ext uri="{FF2B5EF4-FFF2-40B4-BE49-F238E27FC236}">
                <a16:creationId xmlns:a16="http://schemas.microsoft.com/office/drawing/2014/main" id="{C46C216D-FDE7-AB4F-A49D-D9DC6EDAE3BC}"/>
              </a:ext>
            </a:extLst>
          </p:cNvPr>
          <p:cNvGrpSpPr>
            <a:grpSpLocks/>
          </p:cNvGrpSpPr>
          <p:nvPr/>
        </p:nvGrpSpPr>
        <p:grpSpPr bwMode="auto">
          <a:xfrm>
            <a:off x="2819400" y="1752600"/>
            <a:ext cx="5562600" cy="1905000"/>
            <a:chOff x="816" y="1104"/>
            <a:chExt cx="3504" cy="1200"/>
          </a:xfrm>
        </p:grpSpPr>
        <p:sp>
          <p:nvSpPr>
            <p:cNvPr id="146437" name="Rectangle 6">
              <a:extLst>
                <a:ext uri="{FF2B5EF4-FFF2-40B4-BE49-F238E27FC236}">
                  <a16:creationId xmlns:a16="http://schemas.microsoft.com/office/drawing/2014/main" id="{BB0BEC50-09D5-6D9B-36F8-E3E63B769561}"/>
                </a:ext>
              </a:extLst>
            </p:cNvPr>
            <p:cNvSpPr>
              <a:spLocks noChangeArrowheads="1"/>
            </p:cNvSpPr>
            <p:nvPr/>
          </p:nvSpPr>
          <p:spPr bwMode="auto">
            <a:xfrm>
              <a:off x="2626" y="1104"/>
              <a:ext cx="1694" cy="1200"/>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6438" name="Line 7">
              <a:extLst>
                <a:ext uri="{FF2B5EF4-FFF2-40B4-BE49-F238E27FC236}">
                  <a16:creationId xmlns:a16="http://schemas.microsoft.com/office/drawing/2014/main" id="{3F7FFE34-C1E4-38FA-3D91-BCFB97B7D610}"/>
                </a:ext>
              </a:extLst>
            </p:cNvPr>
            <p:cNvSpPr>
              <a:spLocks noChangeShapeType="1"/>
            </p:cNvSpPr>
            <p:nvPr/>
          </p:nvSpPr>
          <p:spPr bwMode="auto">
            <a:xfrm>
              <a:off x="2055" y="1843"/>
              <a:ext cx="571" cy="0"/>
            </a:xfrm>
            <a:prstGeom prst="line">
              <a:avLst/>
            </a:prstGeom>
            <a:noFill/>
            <a:ln w="22225">
              <a:solidFill>
                <a:srgbClr val="000000"/>
              </a:solidFill>
              <a:round/>
              <a:headEnd/>
              <a:tailEnd type="diamond" w="med" len="med"/>
            </a:ln>
            <a:extLst>
              <a:ext uri="{909E8E84-426E-40DD-AFC4-6F175D3DCCD1}">
                <a14:hiddenFill xmlns:a14="http://schemas.microsoft.com/office/drawing/2010/main">
                  <a:noFill/>
                </a14:hiddenFill>
              </a:ext>
            </a:extLst>
          </p:spPr>
          <p:txBody>
            <a:bodyPr/>
            <a:lstStyle/>
            <a:p>
              <a:endParaRPr lang="en-US"/>
            </a:p>
          </p:txBody>
        </p:sp>
        <p:sp>
          <p:nvSpPr>
            <p:cNvPr id="146439" name="Line 8">
              <a:extLst>
                <a:ext uri="{FF2B5EF4-FFF2-40B4-BE49-F238E27FC236}">
                  <a16:creationId xmlns:a16="http://schemas.microsoft.com/office/drawing/2014/main" id="{D3F132E0-5B7B-6D75-77BC-03BD81293DEE}"/>
                </a:ext>
              </a:extLst>
            </p:cNvPr>
            <p:cNvSpPr>
              <a:spLocks noChangeShapeType="1"/>
            </p:cNvSpPr>
            <p:nvPr/>
          </p:nvSpPr>
          <p:spPr bwMode="auto">
            <a:xfrm>
              <a:off x="2608" y="1843"/>
              <a:ext cx="18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440" name="Oval 9">
              <a:extLst>
                <a:ext uri="{FF2B5EF4-FFF2-40B4-BE49-F238E27FC236}">
                  <a16:creationId xmlns:a16="http://schemas.microsoft.com/office/drawing/2014/main" id="{F2EDBB41-433E-DD9E-22B3-AB06991E56AA}"/>
                </a:ext>
              </a:extLst>
            </p:cNvPr>
            <p:cNvSpPr>
              <a:spLocks noChangeArrowheads="1"/>
            </p:cNvSpPr>
            <p:nvPr/>
          </p:nvSpPr>
          <p:spPr bwMode="auto">
            <a:xfrm>
              <a:off x="1661" y="1725"/>
              <a:ext cx="503" cy="235"/>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6441" name="Line 10">
              <a:extLst>
                <a:ext uri="{FF2B5EF4-FFF2-40B4-BE49-F238E27FC236}">
                  <a16:creationId xmlns:a16="http://schemas.microsoft.com/office/drawing/2014/main" id="{F71D038E-38AD-B18B-3B49-3CADA1A22576}"/>
                </a:ext>
              </a:extLst>
            </p:cNvPr>
            <p:cNvSpPr>
              <a:spLocks noChangeShapeType="1"/>
            </p:cNvSpPr>
            <p:nvPr/>
          </p:nvSpPr>
          <p:spPr bwMode="auto">
            <a:xfrm flipV="1">
              <a:off x="1401" y="1834"/>
              <a:ext cx="23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442" name="Text Box 11">
              <a:extLst>
                <a:ext uri="{FF2B5EF4-FFF2-40B4-BE49-F238E27FC236}">
                  <a16:creationId xmlns:a16="http://schemas.microsoft.com/office/drawing/2014/main" id="{F0D6A734-E0D9-AB28-12D1-0D50A0E63230}"/>
                </a:ext>
              </a:extLst>
            </p:cNvPr>
            <p:cNvSpPr txBox="1">
              <a:spLocks noChangeArrowheads="1"/>
            </p:cNvSpPr>
            <p:nvPr/>
          </p:nvSpPr>
          <p:spPr bwMode="auto">
            <a:xfrm>
              <a:off x="816" y="1612"/>
              <a:ext cx="789"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Origin of Clock</a:t>
              </a:r>
            </a:p>
          </p:txBody>
        </p:sp>
        <p:sp>
          <p:nvSpPr>
            <p:cNvPr id="146443" name="Text Box 12">
              <a:extLst>
                <a:ext uri="{FF2B5EF4-FFF2-40B4-BE49-F238E27FC236}">
                  <a16:creationId xmlns:a16="http://schemas.microsoft.com/office/drawing/2014/main" id="{9EC45114-5D6B-CE53-3D95-B5DAED006273}"/>
                </a:ext>
              </a:extLst>
            </p:cNvPr>
            <p:cNvSpPr txBox="1">
              <a:spLocks noChangeArrowheads="1"/>
            </p:cNvSpPr>
            <p:nvPr/>
          </p:nvSpPr>
          <p:spPr bwMode="auto">
            <a:xfrm>
              <a:off x="1423" y="1231"/>
              <a:ext cx="679"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ru-RU" altLang="en-US" sz="1600" b="1"/>
                <a:t>Source</a:t>
              </a:r>
            </a:p>
            <a:p>
              <a:pPr algn="ctr" eaLnBrk="1" hangingPunct="1">
                <a:spcBef>
                  <a:spcPct val="0"/>
                </a:spcBef>
                <a:buClrTx/>
                <a:buSzTx/>
                <a:buFontTx/>
                <a:buNone/>
              </a:pPr>
              <a:r>
                <a:rPr lang="ru-RU" altLang="en-US" sz="1600" b="1"/>
                <a:t>Latency</a:t>
              </a:r>
            </a:p>
          </p:txBody>
        </p:sp>
        <p:sp>
          <p:nvSpPr>
            <p:cNvPr id="146444" name="Oval 13">
              <a:extLst>
                <a:ext uri="{FF2B5EF4-FFF2-40B4-BE49-F238E27FC236}">
                  <a16:creationId xmlns:a16="http://schemas.microsoft.com/office/drawing/2014/main" id="{5ECA5F05-BB74-AD06-DE8A-379AA2282E0A}"/>
                </a:ext>
              </a:extLst>
            </p:cNvPr>
            <p:cNvSpPr>
              <a:spLocks noChangeArrowheads="1"/>
            </p:cNvSpPr>
            <p:nvPr/>
          </p:nvSpPr>
          <p:spPr bwMode="auto">
            <a:xfrm>
              <a:off x="2793" y="1734"/>
              <a:ext cx="504" cy="235"/>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6445" name="Line 14">
              <a:extLst>
                <a:ext uri="{FF2B5EF4-FFF2-40B4-BE49-F238E27FC236}">
                  <a16:creationId xmlns:a16="http://schemas.microsoft.com/office/drawing/2014/main" id="{B816F2AB-AF97-53FA-37CC-DE6278F59F97}"/>
                </a:ext>
              </a:extLst>
            </p:cNvPr>
            <p:cNvSpPr>
              <a:spLocks noChangeShapeType="1"/>
            </p:cNvSpPr>
            <p:nvPr/>
          </p:nvSpPr>
          <p:spPr bwMode="auto">
            <a:xfrm>
              <a:off x="1753" y="1582"/>
              <a:ext cx="117" cy="135"/>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6446" name="Text Box 15">
              <a:extLst>
                <a:ext uri="{FF2B5EF4-FFF2-40B4-BE49-F238E27FC236}">
                  <a16:creationId xmlns:a16="http://schemas.microsoft.com/office/drawing/2014/main" id="{A93AD908-75E5-950C-D6E9-066C83FCC73D}"/>
                </a:ext>
              </a:extLst>
            </p:cNvPr>
            <p:cNvSpPr txBox="1">
              <a:spLocks noChangeArrowheads="1"/>
            </p:cNvSpPr>
            <p:nvPr/>
          </p:nvSpPr>
          <p:spPr bwMode="auto">
            <a:xfrm>
              <a:off x="2676" y="1257"/>
              <a:ext cx="679"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ru-RU" altLang="en-US" sz="1600" b="1"/>
                <a:t>Network</a:t>
              </a:r>
            </a:p>
            <a:p>
              <a:pPr algn="ctr" eaLnBrk="1" hangingPunct="1">
                <a:spcBef>
                  <a:spcPct val="0"/>
                </a:spcBef>
                <a:buClrTx/>
                <a:buSzTx/>
                <a:buFontTx/>
                <a:buNone/>
              </a:pPr>
              <a:r>
                <a:rPr lang="ru-RU" altLang="en-US" sz="1600" b="1"/>
                <a:t>Latency</a:t>
              </a:r>
            </a:p>
          </p:txBody>
        </p:sp>
        <p:sp>
          <p:nvSpPr>
            <p:cNvPr id="146447" name="Rectangle 16">
              <a:extLst>
                <a:ext uri="{FF2B5EF4-FFF2-40B4-BE49-F238E27FC236}">
                  <a16:creationId xmlns:a16="http://schemas.microsoft.com/office/drawing/2014/main" id="{C2A2801F-7343-1AB4-0380-6D3BD6A6D9D7}"/>
                </a:ext>
              </a:extLst>
            </p:cNvPr>
            <p:cNvSpPr>
              <a:spLocks noChangeArrowheads="1"/>
            </p:cNvSpPr>
            <p:nvPr/>
          </p:nvSpPr>
          <p:spPr bwMode="auto">
            <a:xfrm>
              <a:off x="3615" y="1338"/>
              <a:ext cx="428" cy="738"/>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6448" name="Freeform 17">
              <a:extLst>
                <a:ext uri="{FF2B5EF4-FFF2-40B4-BE49-F238E27FC236}">
                  <a16:creationId xmlns:a16="http://schemas.microsoft.com/office/drawing/2014/main" id="{77B19416-ACD1-0818-225D-F6CD80184E90}"/>
                </a:ext>
              </a:extLst>
            </p:cNvPr>
            <p:cNvSpPr>
              <a:spLocks/>
            </p:cNvSpPr>
            <p:nvPr/>
          </p:nvSpPr>
          <p:spPr bwMode="auto">
            <a:xfrm>
              <a:off x="3627" y="1812"/>
              <a:ext cx="66" cy="67"/>
            </a:xfrm>
            <a:custGeom>
              <a:avLst/>
              <a:gdLst>
                <a:gd name="T0" fmla="*/ 0 w 129"/>
                <a:gd name="T1" fmla="*/ 2 h 133"/>
                <a:gd name="T2" fmla="*/ 2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6449" name="Line 18">
              <a:extLst>
                <a:ext uri="{FF2B5EF4-FFF2-40B4-BE49-F238E27FC236}">
                  <a16:creationId xmlns:a16="http://schemas.microsoft.com/office/drawing/2014/main" id="{A54CA27A-2A66-A3F5-EFFF-C56B2433CBEB}"/>
                </a:ext>
              </a:extLst>
            </p:cNvPr>
            <p:cNvSpPr>
              <a:spLocks noChangeShapeType="1"/>
            </p:cNvSpPr>
            <p:nvPr/>
          </p:nvSpPr>
          <p:spPr bwMode="auto">
            <a:xfrm>
              <a:off x="3298" y="1841"/>
              <a:ext cx="31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450" name="Line 19">
              <a:extLst>
                <a:ext uri="{FF2B5EF4-FFF2-40B4-BE49-F238E27FC236}">
                  <a16:creationId xmlns:a16="http://schemas.microsoft.com/office/drawing/2014/main" id="{2789B8C3-D663-A608-7B27-2AB2EE581E71}"/>
                </a:ext>
              </a:extLst>
            </p:cNvPr>
            <p:cNvSpPr>
              <a:spLocks noChangeShapeType="1"/>
            </p:cNvSpPr>
            <p:nvPr/>
          </p:nvSpPr>
          <p:spPr bwMode="auto">
            <a:xfrm>
              <a:off x="4051" y="1514"/>
              <a:ext cx="16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451" name="Line 20">
              <a:extLst>
                <a:ext uri="{FF2B5EF4-FFF2-40B4-BE49-F238E27FC236}">
                  <a16:creationId xmlns:a16="http://schemas.microsoft.com/office/drawing/2014/main" id="{9804891A-B45F-D986-B09E-032D467C8992}"/>
                </a:ext>
              </a:extLst>
            </p:cNvPr>
            <p:cNvSpPr>
              <a:spLocks noChangeShapeType="1"/>
            </p:cNvSpPr>
            <p:nvPr/>
          </p:nvSpPr>
          <p:spPr bwMode="auto">
            <a:xfrm>
              <a:off x="3464" y="1502"/>
              <a:ext cx="1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452" name="Text Box 21">
              <a:extLst>
                <a:ext uri="{FF2B5EF4-FFF2-40B4-BE49-F238E27FC236}">
                  <a16:creationId xmlns:a16="http://schemas.microsoft.com/office/drawing/2014/main" id="{93F4BFA6-E66F-6577-23D8-CCDF10FD90F0}"/>
                </a:ext>
              </a:extLst>
            </p:cNvPr>
            <p:cNvSpPr txBox="1">
              <a:spLocks noChangeArrowheads="1"/>
            </p:cNvSpPr>
            <p:nvPr/>
          </p:nvSpPr>
          <p:spPr bwMode="auto">
            <a:xfrm>
              <a:off x="1741" y="1721"/>
              <a:ext cx="424"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3ns</a:t>
              </a:r>
            </a:p>
          </p:txBody>
        </p:sp>
        <p:sp>
          <p:nvSpPr>
            <p:cNvPr id="146453" name="Text Box 22">
              <a:extLst>
                <a:ext uri="{FF2B5EF4-FFF2-40B4-BE49-F238E27FC236}">
                  <a16:creationId xmlns:a16="http://schemas.microsoft.com/office/drawing/2014/main" id="{D5A62D77-76CF-0746-3790-751B15A3F885}"/>
                </a:ext>
              </a:extLst>
            </p:cNvPr>
            <p:cNvSpPr txBox="1">
              <a:spLocks noChangeArrowheads="1"/>
            </p:cNvSpPr>
            <p:nvPr/>
          </p:nvSpPr>
          <p:spPr bwMode="auto">
            <a:xfrm>
              <a:off x="2844" y="1731"/>
              <a:ext cx="4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ru-RU" altLang="en-US" sz="1600" b="1"/>
                <a:t>1ns</a:t>
              </a:r>
            </a:p>
          </p:txBody>
        </p:sp>
      </p:grpSp>
      <p:sp>
        <p:nvSpPr>
          <p:cNvPr id="146436" name="Text Box 24">
            <a:extLst>
              <a:ext uri="{FF2B5EF4-FFF2-40B4-BE49-F238E27FC236}">
                <a16:creationId xmlns:a16="http://schemas.microsoft.com/office/drawing/2014/main" id="{9CAF4259-183B-A9FB-94CC-84679E7472C1}"/>
              </a:ext>
            </a:extLst>
          </p:cNvPr>
          <p:cNvSpPr txBox="1">
            <a:spLocks noChangeArrowheads="1"/>
          </p:cNvSpPr>
          <p:nvPr/>
        </p:nvSpPr>
        <p:spPr bwMode="auto">
          <a:xfrm>
            <a:off x="2057400" y="4114801"/>
            <a:ext cx="8077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solidFill>
                  <a:srgbClr val="3333CC"/>
                </a:solidFill>
              </a:rPr>
              <a:t>create_clock -period 10 [get_ports CLK]</a:t>
            </a:r>
          </a:p>
          <a:p>
            <a:pPr eaLnBrk="1" hangingPunct="1">
              <a:spcBef>
                <a:spcPct val="0"/>
              </a:spcBef>
              <a:buClrTx/>
              <a:buSzTx/>
              <a:buFontTx/>
              <a:buNone/>
            </a:pPr>
            <a:r>
              <a:rPr lang="en-US" altLang="en-US" sz="2000">
                <a:solidFill>
                  <a:srgbClr val="3333CC"/>
                </a:solidFill>
              </a:rPr>
              <a:t>set_clock_latency -source -max 3 [get_clocks CLK]</a:t>
            </a:r>
          </a:p>
          <a:p>
            <a:pPr eaLnBrk="1" hangingPunct="1">
              <a:spcBef>
                <a:spcPct val="0"/>
              </a:spcBef>
              <a:buClrTx/>
              <a:buSzTx/>
              <a:buFontTx/>
              <a:buNone/>
            </a:pPr>
            <a:r>
              <a:rPr lang="en-US" altLang="en-US" sz="2000">
                <a:solidFill>
                  <a:srgbClr val="3333CC"/>
                </a:solidFill>
              </a:rPr>
              <a:t>set_clock_latency -max 1 [get_clocks CLK] ;# pre layout</a:t>
            </a:r>
            <a:endParaRPr lang="en-US" altLang="en-US" sz="2000" b="1">
              <a:solidFill>
                <a:srgbClr val="3333CC"/>
              </a:solidFill>
            </a:endParaRPr>
          </a:p>
          <a:p>
            <a:pPr eaLnBrk="1" hangingPunct="1">
              <a:spcBef>
                <a:spcPct val="0"/>
              </a:spcBef>
              <a:buClrTx/>
              <a:buSzTx/>
              <a:buFontTx/>
              <a:buNone/>
            </a:pPr>
            <a:r>
              <a:rPr lang="en-US" altLang="en-US" sz="2000">
                <a:solidFill>
                  <a:srgbClr val="3333CC"/>
                </a:solidFill>
              </a:rPr>
              <a:t>#set_propagated_clock [get_clocks CLK] ; # post layout</a:t>
            </a:r>
            <a:endParaRPr lang="ru-RU" altLang="en-US" sz="2000">
              <a:solidFill>
                <a:srgbClr val="3333CC"/>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4">
            <a:extLst>
              <a:ext uri="{FF2B5EF4-FFF2-40B4-BE49-F238E27FC236}">
                <a16:creationId xmlns:a16="http://schemas.microsoft.com/office/drawing/2014/main" id="{DD0C3E96-90CA-E9BA-3E75-50C38C9FCF55}"/>
              </a:ext>
            </a:extLst>
          </p:cNvPr>
          <p:cNvSpPr>
            <a:spLocks noGrp="1" noChangeArrowheads="1"/>
          </p:cNvSpPr>
          <p:nvPr>
            <p:ph type="title"/>
          </p:nvPr>
        </p:nvSpPr>
        <p:spPr/>
        <p:txBody>
          <a:bodyPr/>
          <a:lstStyle/>
          <a:p>
            <a:r>
              <a:rPr lang="ru-RU" altLang="en-US"/>
              <a:t>Constraining Input Paths</a:t>
            </a:r>
          </a:p>
        </p:txBody>
      </p:sp>
      <p:grpSp>
        <p:nvGrpSpPr>
          <p:cNvPr id="147459" name="Group 1">
            <a:extLst>
              <a:ext uri="{FF2B5EF4-FFF2-40B4-BE49-F238E27FC236}">
                <a16:creationId xmlns:a16="http://schemas.microsoft.com/office/drawing/2014/main" id="{A146C1EA-2CB3-6B9F-6595-4D074DCE8B68}"/>
              </a:ext>
            </a:extLst>
          </p:cNvPr>
          <p:cNvGrpSpPr>
            <a:grpSpLocks/>
          </p:cNvGrpSpPr>
          <p:nvPr/>
        </p:nvGrpSpPr>
        <p:grpSpPr bwMode="auto">
          <a:xfrm>
            <a:off x="2609850" y="1976439"/>
            <a:ext cx="6858000" cy="2651125"/>
            <a:chOff x="1066800" y="1371600"/>
            <a:chExt cx="7086600" cy="3125787"/>
          </a:xfrm>
        </p:grpSpPr>
        <p:sp>
          <p:nvSpPr>
            <p:cNvPr id="147462" name="Text Box 6">
              <a:extLst>
                <a:ext uri="{FF2B5EF4-FFF2-40B4-BE49-F238E27FC236}">
                  <a16:creationId xmlns:a16="http://schemas.microsoft.com/office/drawing/2014/main" id="{585C6706-8CCD-29C5-8CEE-A84220E224AC}"/>
                </a:ext>
              </a:extLst>
            </p:cNvPr>
            <p:cNvSpPr txBox="1">
              <a:spLocks noChangeArrowheads="1"/>
            </p:cNvSpPr>
            <p:nvPr/>
          </p:nvSpPr>
          <p:spPr bwMode="auto">
            <a:xfrm>
              <a:off x="3157538" y="4038600"/>
              <a:ext cx="11176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LOG_M</a:t>
              </a:r>
              <a:endParaRPr lang="ru-RU" altLang="en-US" sz="1600" b="1"/>
            </a:p>
          </p:txBody>
        </p:sp>
        <p:sp>
          <p:nvSpPr>
            <p:cNvPr id="147463" name="Text Box 38">
              <a:extLst>
                <a:ext uri="{FF2B5EF4-FFF2-40B4-BE49-F238E27FC236}">
                  <a16:creationId xmlns:a16="http://schemas.microsoft.com/office/drawing/2014/main" id="{8A39A622-978F-327A-E4EA-9C765D41B58C}"/>
                </a:ext>
              </a:extLst>
            </p:cNvPr>
            <p:cNvSpPr txBox="1">
              <a:spLocks noChangeArrowheads="1"/>
            </p:cNvSpPr>
            <p:nvPr/>
          </p:nvSpPr>
          <p:spPr bwMode="auto">
            <a:xfrm>
              <a:off x="1066800" y="3576638"/>
              <a:ext cx="735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Clk</a:t>
              </a:r>
            </a:p>
          </p:txBody>
        </p:sp>
        <p:grpSp>
          <p:nvGrpSpPr>
            <p:cNvPr id="147464" name="Group 59">
              <a:extLst>
                <a:ext uri="{FF2B5EF4-FFF2-40B4-BE49-F238E27FC236}">
                  <a16:creationId xmlns:a16="http://schemas.microsoft.com/office/drawing/2014/main" id="{A2A90A3F-1B2E-0E08-D015-653AAA46F36F}"/>
                </a:ext>
              </a:extLst>
            </p:cNvPr>
            <p:cNvGrpSpPr>
              <a:grpSpLocks/>
            </p:cNvGrpSpPr>
            <p:nvPr/>
          </p:nvGrpSpPr>
          <p:grpSpPr bwMode="auto">
            <a:xfrm>
              <a:off x="1258888" y="1371600"/>
              <a:ext cx="6894512" cy="3086100"/>
              <a:chOff x="793" y="996"/>
              <a:chExt cx="4343" cy="1944"/>
            </a:xfrm>
          </p:grpSpPr>
          <p:sp>
            <p:nvSpPr>
              <p:cNvPr id="147465" name="Rectangle 7">
                <a:extLst>
                  <a:ext uri="{FF2B5EF4-FFF2-40B4-BE49-F238E27FC236}">
                    <a16:creationId xmlns:a16="http://schemas.microsoft.com/office/drawing/2014/main" id="{CF6F86FE-5807-D5B3-D3D3-07813EAA328E}"/>
                  </a:ext>
                </a:extLst>
              </p:cNvPr>
              <p:cNvSpPr>
                <a:spLocks noChangeArrowheads="1"/>
              </p:cNvSpPr>
              <p:nvPr/>
            </p:nvSpPr>
            <p:spPr bwMode="auto">
              <a:xfrm>
                <a:off x="2554" y="1382"/>
                <a:ext cx="2465" cy="1240"/>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7466" name="Rectangle 8">
                <a:extLst>
                  <a:ext uri="{FF2B5EF4-FFF2-40B4-BE49-F238E27FC236}">
                    <a16:creationId xmlns:a16="http://schemas.microsoft.com/office/drawing/2014/main" id="{94A5FD51-A712-63A1-86A3-FA05248A23A1}"/>
                  </a:ext>
                </a:extLst>
              </p:cNvPr>
              <p:cNvSpPr>
                <a:spLocks noChangeArrowheads="1"/>
              </p:cNvSpPr>
              <p:nvPr/>
            </p:nvSpPr>
            <p:spPr bwMode="auto">
              <a:xfrm>
                <a:off x="1366" y="1661"/>
                <a:ext cx="365" cy="638"/>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7467" name="Rectangle 9">
                <a:extLst>
                  <a:ext uri="{FF2B5EF4-FFF2-40B4-BE49-F238E27FC236}">
                    <a16:creationId xmlns:a16="http://schemas.microsoft.com/office/drawing/2014/main" id="{FABFBEE2-66E4-356A-EBF8-850041E7E37C}"/>
                  </a:ext>
                </a:extLst>
              </p:cNvPr>
              <p:cNvSpPr>
                <a:spLocks noChangeArrowheads="1"/>
              </p:cNvSpPr>
              <p:nvPr/>
            </p:nvSpPr>
            <p:spPr bwMode="auto">
              <a:xfrm>
                <a:off x="3168" y="1652"/>
                <a:ext cx="365" cy="637"/>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7468" name="Rectangle 10">
                <a:extLst>
                  <a:ext uri="{FF2B5EF4-FFF2-40B4-BE49-F238E27FC236}">
                    <a16:creationId xmlns:a16="http://schemas.microsoft.com/office/drawing/2014/main" id="{C9FB1A12-B2B9-D5DF-CB97-54D9F762A734}"/>
                  </a:ext>
                </a:extLst>
              </p:cNvPr>
              <p:cNvSpPr>
                <a:spLocks noChangeArrowheads="1"/>
              </p:cNvSpPr>
              <p:nvPr/>
            </p:nvSpPr>
            <p:spPr bwMode="auto">
              <a:xfrm>
                <a:off x="4104" y="1642"/>
                <a:ext cx="364" cy="638"/>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7469" name="Oval 11">
                <a:extLst>
                  <a:ext uri="{FF2B5EF4-FFF2-40B4-BE49-F238E27FC236}">
                    <a16:creationId xmlns:a16="http://schemas.microsoft.com/office/drawing/2014/main" id="{3052A02C-8F7E-8519-2389-6A971C90EABC}"/>
                  </a:ext>
                </a:extLst>
              </p:cNvPr>
              <p:cNvSpPr>
                <a:spLocks noChangeArrowheads="1"/>
              </p:cNvSpPr>
              <p:nvPr/>
            </p:nvSpPr>
            <p:spPr bwMode="auto">
              <a:xfrm>
                <a:off x="1849" y="1742"/>
                <a:ext cx="324" cy="207"/>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7470" name="Oval 12">
                <a:extLst>
                  <a:ext uri="{FF2B5EF4-FFF2-40B4-BE49-F238E27FC236}">
                    <a16:creationId xmlns:a16="http://schemas.microsoft.com/office/drawing/2014/main" id="{A65B81F0-5559-B7AC-27F0-9B964F25837B}"/>
                  </a:ext>
                </a:extLst>
              </p:cNvPr>
              <p:cNvSpPr>
                <a:spLocks noChangeArrowheads="1"/>
              </p:cNvSpPr>
              <p:nvPr/>
            </p:nvSpPr>
            <p:spPr bwMode="auto">
              <a:xfrm>
                <a:off x="2654" y="1742"/>
                <a:ext cx="324" cy="207"/>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7471" name="Oval 13">
                <a:extLst>
                  <a:ext uri="{FF2B5EF4-FFF2-40B4-BE49-F238E27FC236}">
                    <a16:creationId xmlns:a16="http://schemas.microsoft.com/office/drawing/2014/main" id="{3500F6FF-A013-0800-475F-40F03B7F01DC}"/>
                  </a:ext>
                </a:extLst>
              </p:cNvPr>
              <p:cNvSpPr>
                <a:spLocks noChangeArrowheads="1"/>
              </p:cNvSpPr>
              <p:nvPr/>
            </p:nvSpPr>
            <p:spPr bwMode="auto">
              <a:xfrm>
                <a:off x="3651" y="1747"/>
                <a:ext cx="323" cy="207"/>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7472" name="Oval 14">
                <a:extLst>
                  <a:ext uri="{FF2B5EF4-FFF2-40B4-BE49-F238E27FC236}">
                    <a16:creationId xmlns:a16="http://schemas.microsoft.com/office/drawing/2014/main" id="{015E0814-2B2E-AD73-1344-CFE237E337B6}"/>
                  </a:ext>
                </a:extLst>
              </p:cNvPr>
              <p:cNvSpPr>
                <a:spLocks noChangeArrowheads="1"/>
              </p:cNvSpPr>
              <p:nvPr/>
            </p:nvSpPr>
            <p:spPr bwMode="auto">
              <a:xfrm>
                <a:off x="4597" y="1742"/>
                <a:ext cx="323" cy="207"/>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7473" name="Line 15">
                <a:extLst>
                  <a:ext uri="{FF2B5EF4-FFF2-40B4-BE49-F238E27FC236}">
                    <a16:creationId xmlns:a16="http://schemas.microsoft.com/office/drawing/2014/main" id="{FDF8D335-B128-9EF9-5354-EB82F884C59B}"/>
                  </a:ext>
                </a:extLst>
              </p:cNvPr>
              <p:cNvSpPr>
                <a:spLocks noChangeShapeType="1"/>
              </p:cNvSpPr>
              <p:nvPr/>
            </p:nvSpPr>
            <p:spPr bwMode="auto">
              <a:xfrm>
                <a:off x="1155" y="1842"/>
                <a:ext cx="20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74" name="Line 16">
                <a:extLst>
                  <a:ext uri="{FF2B5EF4-FFF2-40B4-BE49-F238E27FC236}">
                    <a16:creationId xmlns:a16="http://schemas.microsoft.com/office/drawing/2014/main" id="{130C49BF-E6BD-E780-33F9-13A43B064791}"/>
                  </a:ext>
                </a:extLst>
              </p:cNvPr>
              <p:cNvSpPr>
                <a:spLocks noChangeShapeType="1"/>
              </p:cNvSpPr>
              <p:nvPr/>
            </p:nvSpPr>
            <p:spPr bwMode="auto">
              <a:xfrm>
                <a:off x="1729" y="1842"/>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75" name="Line 17">
                <a:extLst>
                  <a:ext uri="{FF2B5EF4-FFF2-40B4-BE49-F238E27FC236}">
                    <a16:creationId xmlns:a16="http://schemas.microsoft.com/office/drawing/2014/main" id="{D72D7D5A-67E9-39DE-445C-6808D6D295BC}"/>
                  </a:ext>
                </a:extLst>
              </p:cNvPr>
              <p:cNvSpPr>
                <a:spLocks noChangeShapeType="1"/>
              </p:cNvSpPr>
              <p:nvPr/>
            </p:nvSpPr>
            <p:spPr bwMode="auto">
              <a:xfrm>
                <a:off x="2966" y="1833"/>
                <a:ext cx="2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76" name="Line 18">
                <a:extLst>
                  <a:ext uri="{FF2B5EF4-FFF2-40B4-BE49-F238E27FC236}">
                    <a16:creationId xmlns:a16="http://schemas.microsoft.com/office/drawing/2014/main" id="{4654037F-4890-9AC2-E104-EEC5EB3669E3}"/>
                  </a:ext>
                </a:extLst>
              </p:cNvPr>
              <p:cNvSpPr>
                <a:spLocks noChangeShapeType="1"/>
              </p:cNvSpPr>
              <p:nvPr/>
            </p:nvSpPr>
            <p:spPr bwMode="auto">
              <a:xfrm>
                <a:off x="3530" y="1842"/>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77" name="Line 19">
                <a:extLst>
                  <a:ext uri="{FF2B5EF4-FFF2-40B4-BE49-F238E27FC236}">
                    <a16:creationId xmlns:a16="http://schemas.microsoft.com/office/drawing/2014/main" id="{840B32A8-2F3B-868B-8F14-A6B575CE43D9}"/>
                  </a:ext>
                </a:extLst>
              </p:cNvPr>
              <p:cNvSpPr>
                <a:spLocks noChangeShapeType="1"/>
              </p:cNvSpPr>
              <p:nvPr/>
            </p:nvSpPr>
            <p:spPr bwMode="auto">
              <a:xfrm>
                <a:off x="3983" y="1833"/>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78" name="Line 20">
                <a:extLst>
                  <a:ext uri="{FF2B5EF4-FFF2-40B4-BE49-F238E27FC236}">
                    <a16:creationId xmlns:a16="http://schemas.microsoft.com/office/drawing/2014/main" id="{FB9B4C5E-C36B-E474-BA7E-EDA51F5B497F}"/>
                  </a:ext>
                </a:extLst>
              </p:cNvPr>
              <p:cNvSpPr>
                <a:spLocks noChangeShapeType="1"/>
              </p:cNvSpPr>
              <p:nvPr/>
            </p:nvSpPr>
            <p:spPr bwMode="auto">
              <a:xfrm>
                <a:off x="4476" y="1833"/>
                <a:ext cx="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79" name="Line 21">
                <a:extLst>
                  <a:ext uri="{FF2B5EF4-FFF2-40B4-BE49-F238E27FC236}">
                    <a16:creationId xmlns:a16="http://schemas.microsoft.com/office/drawing/2014/main" id="{BA891D3F-E2BE-E5EF-0C54-946D9C0680CC}"/>
                  </a:ext>
                </a:extLst>
              </p:cNvPr>
              <p:cNvSpPr>
                <a:spLocks noChangeShapeType="1"/>
              </p:cNvSpPr>
              <p:nvPr/>
            </p:nvSpPr>
            <p:spPr bwMode="auto">
              <a:xfrm>
                <a:off x="2179" y="1852"/>
                <a:ext cx="47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80" name="Freeform 22">
                <a:extLst>
                  <a:ext uri="{FF2B5EF4-FFF2-40B4-BE49-F238E27FC236}">
                    <a16:creationId xmlns:a16="http://schemas.microsoft.com/office/drawing/2014/main" id="{619DE163-AF2A-271E-E45E-E54FD8489498}"/>
                  </a:ext>
                </a:extLst>
              </p:cNvPr>
              <p:cNvSpPr>
                <a:spLocks/>
              </p:cNvSpPr>
              <p:nvPr/>
            </p:nvSpPr>
            <p:spPr bwMode="auto">
              <a:xfrm>
                <a:off x="3172" y="2070"/>
                <a:ext cx="80" cy="74"/>
              </a:xfrm>
              <a:custGeom>
                <a:avLst/>
                <a:gdLst>
                  <a:gd name="T0" fmla="*/ 0 w 129"/>
                  <a:gd name="T1" fmla="*/ 2 h 133"/>
                  <a:gd name="T2" fmla="*/ 4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481" name="Freeform 23">
                <a:extLst>
                  <a:ext uri="{FF2B5EF4-FFF2-40B4-BE49-F238E27FC236}">
                    <a16:creationId xmlns:a16="http://schemas.microsoft.com/office/drawing/2014/main" id="{27043629-B0E8-9C78-01DB-E854D85720F6}"/>
                  </a:ext>
                </a:extLst>
              </p:cNvPr>
              <p:cNvSpPr>
                <a:spLocks/>
              </p:cNvSpPr>
              <p:nvPr/>
            </p:nvSpPr>
            <p:spPr bwMode="auto">
              <a:xfrm>
                <a:off x="1370" y="2070"/>
                <a:ext cx="80" cy="74"/>
              </a:xfrm>
              <a:custGeom>
                <a:avLst/>
                <a:gdLst>
                  <a:gd name="T0" fmla="*/ 0 w 129"/>
                  <a:gd name="T1" fmla="*/ 2 h 133"/>
                  <a:gd name="T2" fmla="*/ 4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482" name="Freeform 24">
                <a:extLst>
                  <a:ext uri="{FF2B5EF4-FFF2-40B4-BE49-F238E27FC236}">
                    <a16:creationId xmlns:a16="http://schemas.microsoft.com/office/drawing/2014/main" id="{A8E1527E-F764-6A97-72B9-2ECCA8036A03}"/>
                  </a:ext>
                </a:extLst>
              </p:cNvPr>
              <p:cNvSpPr>
                <a:spLocks/>
              </p:cNvSpPr>
              <p:nvPr/>
            </p:nvSpPr>
            <p:spPr bwMode="auto">
              <a:xfrm>
                <a:off x="4108" y="2061"/>
                <a:ext cx="79" cy="74"/>
              </a:xfrm>
              <a:custGeom>
                <a:avLst/>
                <a:gdLst>
                  <a:gd name="T0" fmla="*/ 0 w 129"/>
                  <a:gd name="T1" fmla="*/ 2 h 133"/>
                  <a:gd name="T2" fmla="*/ 4 w 129"/>
                  <a:gd name="T3" fmla="*/ 1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483" name="Line 25">
                <a:extLst>
                  <a:ext uri="{FF2B5EF4-FFF2-40B4-BE49-F238E27FC236}">
                    <a16:creationId xmlns:a16="http://schemas.microsoft.com/office/drawing/2014/main" id="{6EB3FF7B-BA5F-3E78-08C3-1C4BDFE5BE4A}"/>
                  </a:ext>
                </a:extLst>
              </p:cNvPr>
              <p:cNvSpPr>
                <a:spLocks noChangeShapeType="1"/>
              </p:cNvSpPr>
              <p:nvPr/>
            </p:nvSpPr>
            <p:spPr bwMode="auto">
              <a:xfrm>
                <a:off x="1193" y="2113"/>
                <a:ext cx="0" cy="326"/>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7484" name="Line 26">
                <a:extLst>
                  <a:ext uri="{FF2B5EF4-FFF2-40B4-BE49-F238E27FC236}">
                    <a16:creationId xmlns:a16="http://schemas.microsoft.com/office/drawing/2014/main" id="{898D315B-2631-95EA-948E-05FB8C822FAA}"/>
                  </a:ext>
                </a:extLst>
              </p:cNvPr>
              <p:cNvSpPr>
                <a:spLocks noChangeShapeType="1"/>
              </p:cNvSpPr>
              <p:nvPr/>
            </p:nvSpPr>
            <p:spPr bwMode="auto">
              <a:xfrm>
                <a:off x="1185" y="2104"/>
                <a:ext cx="19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85" name="Line 27">
                <a:extLst>
                  <a:ext uri="{FF2B5EF4-FFF2-40B4-BE49-F238E27FC236}">
                    <a16:creationId xmlns:a16="http://schemas.microsoft.com/office/drawing/2014/main" id="{CC4C5565-4ACE-B2FB-28D0-FF935415EDF2}"/>
                  </a:ext>
                </a:extLst>
              </p:cNvPr>
              <p:cNvSpPr>
                <a:spLocks noChangeShapeType="1"/>
              </p:cNvSpPr>
              <p:nvPr/>
            </p:nvSpPr>
            <p:spPr bwMode="auto">
              <a:xfrm>
                <a:off x="2964" y="2104"/>
                <a:ext cx="0" cy="335"/>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7486" name="Line 28">
                <a:extLst>
                  <a:ext uri="{FF2B5EF4-FFF2-40B4-BE49-F238E27FC236}">
                    <a16:creationId xmlns:a16="http://schemas.microsoft.com/office/drawing/2014/main" id="{82C6EAD3-67F8-A07C-C957-19D6C3CA4EDB}"/>
                  </a:ext>
                </a:extLst>
              </p:cNvPr>
              <p:cNvSpPr>
                <a:spLocks noChangeShapeType="1"/>
              </p:cNvSpPr>
              <p:nvPr/>
            </p:nvSpPr>
            <p:spPr bwMode="auto">
              <a:xfrm>
                <a:off x="2966" y="2104"/>
                <a:ext cx="19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87" name="Line 29">
                <a:extLst>
                  <a:ext uri="{FF2B5EF4-FFF2-40B4-BE49-F238E27FC236}">
                    <a16:creationId xmlns:a16="http://schemas.microsoft.com/office/drawing/2014/main" id="{C0106E92-D23C-881D-28D9-2BE08A3DF80B}"/>
                  </a:ext>
                </a:extLst>
              </p:cNvPr>
              <p:cNvSpPr>
                <a:spLocks noChangeShapeType="1"/>
              </p:cNvSpPr>
              <p:nvPr/>
            </p:nvSpPr>
            <p:spPr bwMode="auto">
              <a:xfrm>
                <a:off x="3910" y="2094"/>
                <a:ext cx="0" cy="342"/>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7488" name="Line 30">
                <a:extLst>
                  <a:ext uri="{FF2B5EF4-FFF2-40B4-BE49-F238E27FC236}">
                    <a16:creationId xmlns:a16="http://schemas.microsoft.com/office/drawing/2014/main" id="{37432784-B42F-4E94-8FCC-EAC9BD5A7534}"/>
                  </a:ext>
                </a:extLst>
              </p:cNvPr>
              <p:cNvSpPr>
                <a:spLocks noChangeShapeType="1"/>
              </p:cNvSpPr>
              <p:nvPr/>
            </p:nvSpPr>
            <p:spPr bwMode="auto">
              <a:xfrm>
                <a:off x="3912" y="2094"/>
                <a:ext cx="19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489" name="Text Box 31">
                <a:extLst>
                  <a:ext uri="{FF2B5EF4-FFF2-40B4-BE49-F238E27FC236}">
                    <a16:creationId xmlns:a16="http://schemas.microsoft.com/office/drawing/2014/main" id="{B36CC9B0-A32B-7D5B-99D4-11C1992C29E6}"/>
                  </a:ext>
                </a:extLst>
              </p:cNvPr>
              <p:cNvSpPr txBox="1">
                <a:spLocks noChangeArrowheads="1"/>
              </p:cNvSpPr>
              <p:nvPr/>
            </p:nvSpPr>
            <p:spPr bwMode="auto">
              <a:xfrm>
                <a:off x="3984" y="996"/>
                <a:ext cx="6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Design</a:t>
                </a:r>
                <a:endParaRPr lang="ru-RU" altLang="en-US" sz="1600" b="1"/>
              </a:p>
            </p:txBody>
          </p:sp>
          <p:sp>
            <p:nvSpPr>
              <p:cNvPr id="147490" name="Line 32">
                <a:extLst>
                  <a:ext uri="{FF2B5EF4-FFF2-40B4-BE49-F238E27FC236}">
                    <a16:creationId xmlns:a16="http://schemas.microsoft.com/office/drawing/2014/main" id="{361D67ED-22D1-B1F0-98A3-BAB418C33BA8}"/>
                  </a:ext>
                </a:extLst>
              </p:cNvPr>
              <p:cNvSpPr>
                <a:spLocks noChangeShapeType="1"/>
              </p:cNvSpPr>
              <p:nvPr/>
            </p:nvSpPr>
            <p:spPr bwMode="auto">
              <a:xfrm>
                <a:off x="1135" y="1393"/>
                <a:ext cx="1080"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7491" name="Line 33">
                <a:extLst>
                  <a:ext uri="{FF2B5EF4-FFF2-40B4-BE49-F238E27FC236}">
                    <a16:creationId xmlns:a16="http://schemas.microsoft.com/office/drawing/2014/main" id="{D5F72D35-0C66-9307-A39A-62B34C4183E7}"/>
                  </a:ext>
                </a:extLst>
              </p:cNvPr>
              <p:cNvSpPr>
                <a:spLocks noChangeShapeType="1"/>
              </p:cNvSpPr>
              <p:nvPr/>
            </p:nvSpPr>
            <p:spPr bwMode="auto">
              <a:xfrm>
                <a:off x="1155" y="2600"/>
                <a:ext cx="1080"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7492" name="Line 34">
                <a:extLst>
                  <a:ext uri="{FF2B5EF4-FFF2-40B4-BE49-F238E27FC236}">
                    <a16:creationId xmlns:a16="http://schemas.microsoft.com/office/drawing/2014/main" id="{B699BEA1-5BDF-5FA4-B05A-DFF8A5DC023E}"/>
                  </a:ext>
                </a:extLst>
              </p:cNvPr>
              <p:cNvSpPr>
                <a:spLocks noChangeShapeType="1"/>
              </p:cNvSpPr>
              <p:nvPr/>
            </p:nvSpPr>
            <p:spPr bwMode="auto">
              <a:xfrm flipV="1">
                <a:off x="2252" y="1400"/>
                <a:ext cx="0" cy="121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7493" name="Text Box 35">
                <a:extLst>
                  <a:ext uri="{FF2B5EF4-FFF2-40B4-BE49-F238E27FC236}">
                    <a16:creationId xmlns:a16="http://schemas.microsoft.com/office/drawing/2014/main" id="{3DF7A137-1E28-8CFB-FACD-18D2CB4301C3}"/>
                  </a:ext>
                </a:extLst>
              </p:cNvPr>
              <p:cNvSpPr txBox="1">
                <a:spLocks noChangeArrowheads="1"/>
              </p:cNvSpPr>
              <p:nvPr/>
            </p:nvSpPr>
            <p:spPr bwMode="auto">
              <a:xfrm>
                <a:off x="1316" y="1434"/>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Reg1</a:t>
                </a:r>
              </a:p>
            </p:txBody>
          </p:sp>
          <p:sp>
            <p:nvSpPr>
              <p:cNvPr id="147494" name="Text Box 36">
                <a:extLst>
                  <a:ext uri="{FF2B5EF4-FFF2-40B4-BE49-F238E27FC236}">
                    <a16:creationId xmlns:a16="http://schemas.microsoft.com/office/drawing/2014/main" id="{445FF3F4-9106-AE81-D21D-EF1A79D293A5}"/>
                  </a:ext>
                </a:extLst>
              </p:cNvPr>
              <p:cNvSpPr txBox="1">
                <a:spLocks noChangeArrowheads="1"/>
              </p:cNvSpPr>
              <p:nvPr/>
            </p:nvSpPr>
            <p:spPr bwMode="auto">
              <a:xfrm>
                <a:off x="3168" y="1453"/>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Reg2</a:t>
                </a:r>
              </a:p>
            </p:txBody>
          </p:sp>
          <p:sp>
            <p:nvSpPr>
              <p:cNvPr id="147495" name="Text Box 37">
                <a:extLst>
                  <a:ext uri="{FF2B5EF4-FFF2-40B4-BE49-F238E27FC236}">
                    <a16:creationId xmlns:a16="http://schemas.microsoft.com/office/drawing/2014/main" id="{6689D67D-5286-EBF1-7AE4-17DCE84917D4}"/>
                  </a:ext>
                </a:extLst>
              </p:cNvPr>
              <p:cNvSpPr txBox="1">
                <a:spLocks noChangeArrowheads="1"/>
              </p:cNvSpPr>
              <p:nvPr/>
            </p:nvSpPr>
            <p:spPr bwMode="auto">
              <a:xfrm>
                <a:off x="4039" y="1425"/>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Reg3</a:t>
                </a:r>
              </a:p>
            </p:txBody>
          </p:sp>
          <p:sp>
            <p:nvSpPr>
              <p:cNvPr id="147496" name="Text Box 39">
                <a:extLst>
                  <a:ext uri="{FF2B5EF4-FFF2-40B4-BE49-F238E27FC236}">
                    <a16:creationId xmlns:a16="http://schemas.microsoft.com/office/drawing/2014/main" id="{1CEF5896-EA11-2ECC-4BEF-70194912E9CE}"/>
                  </a:ext>
                </a:extLst>
              </p:cNvPr>
              <p:cNvSpPr txBox="1">
                <a:spLocks noChangeArrowheads="1"/>
              </p:cNvSpPr>
              <p:nvPr/>
            </p:nvSpPr>
            <p:spPr bwMode="auto">
              <a:xfrm>
                <a:off x="1839" y="1745"/>
                <a:ext cx="3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M</a:t>
                </a:r>
              </a:p>
            </p:txBody>
          </p:sp>
          <p:sp>
            <p:nvSpPr>
              <p:cNvPr id="147497" name="Text Box 40">
                <a:extLst>
                  <a:ext uri="{FF2B5EF4-FFF2-40B4-BE49-F238E27FC236}">
                    <a16:creationId xmlns:a16="http://schemas.microsoft.com/office/drawing/2014/main" id="{D97C6757-D6A0-8291-F067-A307177C05C0}"/>
                  </a:ext>
                </a:extLst>
              </p:cNvPr>
              <p:cNvSpPr txBox="1">
                <a:spLocks noChangeArrowheads="1"/>
              </p:cNvSpPr>
              <p:nvPr/>
            </p:nvSpPr>
            <p:spPr bwMode="auto">
              <a:xfrm>
                <a:off x="2664" y="1745"/>
                <a:ext cx="3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N</a:t>
                </a:r>
              </a:p>
            </p:txBody>
          </p:sp>
          <p:sp>
            <p:nvSpPr>
              <p:cNvPr id="147498" name="Text Box 41">
                <a:extLst>
                  <a:ext uri="{FF2B5EF4-FFF2-40B4-BE49-F238E27FC236}">
                    <a16:creationId xmlns:a16="http://schemas.microsoft.com/office/drawing/2014/main" id="{6F0B62BF-3472-1342-517F-4A4522FAAA47}"/>
                  </a:ext>
                </a:extLst>
              </p:cNvPr>
              <p:cNvSpPr txBox="1">
                <a:spLocks noChangeArrowheads="1"/>
              </p:cNvSpPr>
              <p:nvPr/>
            </p:nvSpPr>
            <p:spPr bwMode="auto">
              <a:xfrm>
                <a:off x="3661" y="1736"/>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X</a:t>
                </a:r>
              </a:p>
            </p:txBody>
          </p:sp>
          <p:sp>
            <p:nvSpPr>
              <p:cNvPr id="147499" name="Text Box 42">
                <a:extLst>
                  <a:ext uri="{FF2B5EF4-FFF2-40B4-BE49-F238E27FC236}">
                    <a16:creationId xmlns:a16="http://schemas.microsoft.com/office/drawing/2014/main" id="{76A6B4C5-B883-F485-76DC-CD773B05858F}"/>
                  </a:ext>
                </a:extLst>
              </p:cNvPr>
              <p:cNvSpPr txBox="1">
                <a:spLocks noChangeArrowheads="1"/>
              </p:cNvSpPr>
              <p:nvPr/>
            </p:nvSpPr>
            <p:spPr bwMode="auto">
              <a:xfrm>
                <a:off x="4546" y="1736"/>
                <a:ext cx="3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S</a:t>
                </a:r>
              </a:p>
            </p:txBody>
          </p:sp>
          <p:sp>
            <p:nvSpPr>
              <p:cNvPr id="147500" name="Line 43">
                <a:extLst>
                  <a:ext uri="{FF2B5EF4-FFF2-40B4-BE49-F238E27FC236}">
                    <a16:creationId xmlns:a16="http://schemas.microsoft.com/office/drawing/2014/main" id="{EDE3A4C2-5C83-0D76-5E78-FA9DA0D4FE83}"/>
                  </a:ext>
                </a:extLst>
              </p:cNvPr>
              <p:cNvSpPr>
                <a:spLocks noChangeShapeType="1"/>
              </p:cNvSpPr>
              <p:nvPr/>
            </p:nvSpPr>
            <p:spPr bwMode="auto">
              <a:xfrm>
                <a:off x="793" y="2441"/>
                <a:ext cx="43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501" name="AutoShape 44">
                <a:extLst>
                  <a:ext uri="{FF2B5EF4-FFF2-40B4-BE49-F238E27FC236}">
                    <a16:creationId xmlns:a16="http://schemas.microsoft.com/office/drawing/2014/main" id="{EA610B4E-2C4C-9F46-A1BE-B48EDA622C36}"/>
                  </a:ext>
                </a:extLst>
              </p:cNvPr>
              <p:cNvSpPr>
                <a:spLocks noChangeArrowheads="1"/>
              </p:cNvSpPr>
              <p:nvPr/>
            </p:nvSpPr>
            <p:spPr bwMode="auto">
              <a:xfrm>
                <a:off x="2332" y="1813"/>
                <a:ext cx="176" cy="84"/>
              </a:xfrm>
              <a:prstGeom prst="homePlate">
                <a:avLst>
                  <a:gd name="adj" fmla="val 52381"/>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47502" name="Text Box 45">
                <a:extLst>
                  <a:ext uri="{FF2B5EF4-FFF2-40B4-BE49-F238E27FC236}">
                    <a16:creationId xmlns:a16="http://schemas.microsoft.com/office/drawing/2014/main" id="{27591D6A-076B-D3B0-B140-49BB2D5C6B57}"/>
                  </a:ext>
                </a:extLst>
              </p:cNvPr>
              <p:cNvSpPr txBox="1">
                <a:spLocks noChangeArrowheads="1"/>
              </p:cNvSpPr>
              <p:nvPr/>
            </p:nvSpPr>
            <p:spPr bwMode="auto">
              <a:xfrm>
                <a:off x="2232" y="1596"/>
                <a:ext cx="24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A</a:t>
                </a:r>
              </a:p>
            </p:txBody>
          </p:sp>
          <p:sp>
            <p:nvSpPr>
              <p:cNvPr id="147503" name="Arc 46">
                <a:extLst>
                  <a:ext uri="{FF2B5EF4-FFF2-40B4-BE49-F238E27FC236}">
                    <a16:creationId xmlns:a16="http://schemas.microsoft.com/office/drawing/2014/main" id="{FDF18A5E-1D9A-EDFD-EFC1-C898D9EBB0B6}"/>
                  </a:ext>
                </a:extLst>
              </p:cNvPr>
              <p:cNvSpPr>
                <a:spLocks/>
              </p:cNvSpPr>
              <p:nvPr/>
            </p:nvSpPr>
            <p:spPr bwMode="auto">
              <a:xfrm rot="12334644" flipV="1">
                <a:off x="1440" y="1728"/>
                <a:ext cx="1348" cy="708"/>
              </a:xfrm>
              <a:custGeom>
                <a:avLst/>
                <a:gdLst>
                  <a:gd name="T0" fmla="*/ 0 w 21600"/>
                  <a:gd name="T1" fmla="*/ 0 h 19829"/>
                  <a:gd name="T2" fmla="*/ 0 w 21600"/>
                  <a:gd name="T3" fmla="*/ 0 h 19829"/>
                  <a:gd name="T4" fmla="*/ 0 w 21600"/>
                  <a:gd name="T5" fmla="*/ 0 h 19829"/>
                  <a:gd name="T6" fmla="*/ 0 60000 65536"/>
                  <a:gd name="T7" fmla="*/ 0 60000 65536"/>
                  <a:gd name="T8" fmla="*/ 0 60000 65536"/>
                  <a:gd name="T9" fmla="*/ 0 w 21600"/>
                  <a:gd name="T10" fmla="*/ 0 h 19829"/>
                  <a:gd name="T11" fmla="*/ 21600 w 21600"/>
                  <a:gd name="T12" fmla="*/ 19829 h 19829"/>
                </a:gdLst>
                <a:ahLst/>
                <a:cxnLst>
                  <a:cxn ang="T6">
                    <a:pos x="T0" y="T1"/>
                  </a:cxn>
                  <a:cxn ang="T7">
                    <a:pos x="T2" y="T3"/>
                  </a:cxn>
                  <a:cxn ang="T8">
                    <a:pos x="T4" y="T5"/>
                  </a:cxn>
                </a:cxnLst>
                <a:rect l="T9" t="T10" r="T11" b="T12"/>
                <a:pathLst>
                  <a:path w="21600" h="19829" fill="none" extrusionOk="0">
                    <a:moveTo>
                      <a:pt x="8565" y="-1"/>
                    </a:moveTo>
                    <a:cubicBezTo>
                      <a:pt x="16476" y="3417"/>
                      <a:pt x="21600" y="11210"/>
                      <a:pt x="21600" y="19829"/>
                    </a:cubicBezTo>
                  </a:path>
                  <a:path w="21600" h="19829" stroke="0" extrusionOk="0">
                    <a:moveTo>
                      <a:pt x="8565" y="-1"/>
                    </a:moveTo>
                    <a:cubicBezTo>
                      <a:pt x="16476" y="3417"/>
                      <a:pt x="21600" y="11210"/>
                      <a:pt x="21600" y="19829"/>
                    </a:cubicBezTo>
                    <a:lnTo>
                      <a:pt x="0" y="19829"/>
                    </a:lnTo>
                    <a:lnTo>
                      <a:pt x="8565" y="-1"/>
                    </a:lnTo>
                    <a:close/>
                  </a:path>
                </a:pathLst>
              </a:custGeom>
              <a:noFill/>
              <a:ln w="222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504" name="Arc 47">
                <a:extLst>
                  <a:ext uri="{FF2B5EF4-FFF2-40B4-BE49-F238E27FC236}">
                    <a16:creationId xmlns:a16="http://schemas.microsoft.com/office/drawing/2014/main" id="{BCB4CFC1-1591-20AC-20EE-EF9A3935CF12}"/>
                  </a:ext>
                </a:extLst>
              </p:cNvPr>
              <p:cNvSpPr>
                <a:spLocks/>
              </p:cNvSpPr>
              <p:nvPr/>
            </p:nvSpPr>
            <p:spPr bwMode="auto">
              <a:xfrm rot="14582710" flipV="1">
                <a:off x="2305" y="1888"/>
                <a:ext cx="1393" cy="712"/>
              </a:xfrm>
              <a:custGeom>
                <a:avLst/>
                <a:gdLst>
                  <a:gd name="T0" fmla="*/ 0 w 21600"/>
                  <a:gd name="T1" fmla="*/ 0 h 17933"/>
                  <a:gd name="T2" fmla="*/ 0 w 21600"/>
                  <a:gd name="T3" fmla="*/ 0 h 17933"/>
                  <a:gd name="T4" fmla="*/ 0 w 21600"/>
                  <a:gd name="T5" fmla="*/ 0 h 17933"/>
                  <a:gd name="T6" fmla="*/ 0 60000 65536"/>
                  <a:gd name="T7" fmla="*/ 0 60000 65536"/>
                  <a:gd name="T8" fmla="*/ 0 60000 65536"/>
                  <a:gd name="T9" fmla="*/ 0 w 21600"/>
                  <a:gd name="T10" fmla="*/ 0 h 17933"/>
                  <a:gd name="T11" fmla="*/ 21600 w 21600"/>
                  <a:gd name="T12" fmla="*/ 17933 h 17933"/>
                </a:gdLst>
                <a:ahLst/>
                <a:cxnLst>
                  <a:cxn ang="T6">
                    <a:pos x="T0" y="T1"/>
                  </a:cxn>
                  <a:cxn ang="T7">
                    <a:pos x="T2" y="T3"/>
                  </a:cxn>
                  <a:cxn ang="T8">
                    <a:pos x="T4" y="T5"/>
                  </a:cxn>
                </a:cxnLst>
                <a:rect l="T9" t="T10" r="T11" b="T12"/>
                <a:pathLst>
                  <a:path w="21600" h="17933" fill="none" extrusionOk="0">
                    <a:moveTo>
                      <a:pt x="15633" y="-1"/>
                    </a:moveTo>
                    <a:cubicBezTo>
                      <a:pt x="19463" y="4017"/>
                      <a:pt x="21600" y="9354"/>
                      <a:pt x="21600" y="14905"/>
                    </a:cubicBezTo>
                    <a:cubicBezTo>
                      <a:pt x="21600" y="15918"/>
                      <a:pt x="21528" y="16929"/>
                      <a:pt x="21386" y="17932"/>
                    </a:cubicBezTo>
                  </a:path>
                  <a:path w="21600" h="17933" stroke="0" extrusionOk="0">
                    <a:moveTo>
                      <a:pt x="15633" y="-1"/>
                    </a:moveTo>
                    <a:cubicBezTo>
                      <a:pt x="19463" y="4017"/>
                      <a:pt x="21600" y="9354"/>
                      <a:pt x="21600" y="14905"/>
                    </a:cubicBezTo>
                    <a:cubicBezTo>
                      <a:pt x="21600" y="15918"/>
                      <a:pt x="21528" y="16929"/>
                      <a:pt x="21386" y="17932"/>
                    </a:cubicBezTo>
                    <a:lnTo>
                      <a:pt x="0" y="14905"/>
                    </a:lnTo>
                    <a:lnTo>
                      <a:pt x="15633" y="-1"/>
                    </a:lnTo>
                    <a:close/>
                  </a:path>
                </a:pathLst>
              </a:custGeom>
              <a:noFill/>
              <a:ln w="222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505" name="Arc 48">
                <a:extLst>
                  <a:ext uri="{FF2B5EF4-FFF2-40B4-BE49-F238E27FC236}">
                    <a16:creationId xmlns:a16="http://schemas.microsoft.com/office/drawing/2014/main" id="{CD9DA5A1-7AEA-E80F-3B9B-6AFC03600817}"/>
                  </a:ext>
                </a:extLst>
              </p:cNvPr>
              <p:cNvSpPr>
                <a:spLocks/>
              </p:cNvSpPr>
              <p:nvPr/>
            </p:nvSpPr>
            <p:spPr bwMode="auto">
              <a:xfrm flipV="1">
                <a:off x="1366" y="1852"/>
                <a:ext cx="413" cy="28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506" name="Line 49">
                <a:extLst>
                  <a:ext uri="{FF2B5EF4-FFF2-40B4-BE49-F238E27FC236}">
                    <a16:creationId xmlns:a16="http://schemas.microsoft.com/office/drawing/2014/main" id="{9B9E33E4-A00A-C9B4-6361-A21A1875EF54}"/>
                  </a:ext>
                </a:extLst>
              </p:cNvPr>
              <p:cNvSpPr>
                <a:spLocks noChangeShapeType="1"/>
              </p:cNvSpPr>
              <p:nvPr/>
            </p:nvSpPr>
            <p:spPr bwMode="auto">
              <a:xfrm>
                <a:off x="1638" y="2076"/>
                <a:ext cx="81" cy="643"/>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7507" name="Text Box 50">
                <a:extLst>
                  <a:ext uri="{FF2B5EF4-FFF2-40B4-BE49-F238E27FC236}">
                    <a16:creationId xmlns:a16="http://schemas.microsoft.com/office/drawing/2014/main" id="{771C7D5E-FD0B-E87A-CA30-07EA75E3B5B1}"/>
                  </a:ext>
                </a:extLst>
              </p:cNvPr>
              <p:cNvSpPr txBox="1">
                <a:spLocks noChangeArrowheads="1"/>
              </p:cNvSpPr>
              <p:nvPr/>
            </p:nvSpPr>
            <p:spPr bwMode="auto">
              <a:xfrm>
                <a:off x="1427" y="2672"/>
                <a:ext cx="70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CLK-to-Q</a:t>
                </a:r>
                <a:endParaRPr lang="ru-RU" altLang="en-US" sz="1600" b="1"/>
              </a:p>
            </p:txBody>
          </p:sp>
          <p:sp>
            <p:nvSpPr>
              <p:cNvPr id="147508" name="Line 51">
                <a:extLst>
                  <a:ext uri="{FF2B5EF4-FFF2-40B4-BE49-F238E27FC236}">
                    <a16:creationId xmlns:a16="http://schemas.microsoft.com/office/drawing/2014/main" id="{23A3E40A-E7BB-420C-47DD-11A075CAF359}"/>
                  </a:ext>
                </a:extLst>
              </p:cNvPr>
              <p:cNvSpPr>
                <a:spLocks noChangeShapeType="1"/>
              </p:cNvSpPr>
              <p:nvPr/>
            </p:nvSpPr>
            <p:spPr bwMode="auto">
              <a:xfrm>
                <a:off x="2020" y="1908"/>
                <a:ext cx="121" cy="792"/>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7509" name="Arc 52">
                <a:extLst>
                  <a:ext uri="{FF2B5EF4-FFF2-40B4-BE49-F238E27FC236}">
                    <a16:creationId xmlns:a16="http://schemas.microsoft.com/office/drawing/2014/main" id="{CB024896-6040-68AF-E263-E1C6E51D064D}"/>
                  </a:ext>
                </a:extLst>
              </p:cNvPr>
              <p:cNvSpPr>
                <a:spLocks/>
              </p:cNvSpPr>
              <p:nvPr/>
            </p:nvSpPr>
            <p:spPr bwMode="auto">
              <a:xfrm rot="1735372" flipH="1" flipV="1">
                <a:off x="3078" y="1856"/>
                <a:ext cx="267" cy="272"/>
              </a:xfrm>
              <a:custGeom>
                <a:avLst/>
                <a:gdLst>
                  <a:gd name="T0" fmla="*/ 0 w 21600"/>
                  <a:gd name="T1" fmla="*/ 0 h 22596"/>
                  <a:gd name="T2" fmla="*/ 0 w 21600"/>
                  <a:gd name="T3" fmla="*/ 0 h 22596"/>
                  <a:gd name="T4" fmla="*/ 0 w 21600"/>
                  <a:gd name="T5" fmla="*/ 0 h 22596"/>
                  <a:gd name="T6" fmla="*/ 0 60000 65536"/>
                  <a:gd name="T7" fmla="*/ 0 60000 65536"/>
                  <a:gd name="T8" fmla="*/ 0 60000 65536"/>
                  <a:gd name="T9" fmla="*/ 0 w 21600"/>
                  <a:gd name="T10" fmla="*/ 0 h 22596"/>
                  <a:gd name="T11" fmla="*/ 21600 w 21600"/>
                  <a:gd name="T12" fmla="*/ 22596 h 22596"/>
                </a:gdLst>
                <a:ahLst/>
                <a:cxnLst>
                  <a:cxn ang="T6">
                    <a:pos x="T0" y="T1"/>
                  </a:cxn>
                  <a:cxn ang="T7">
                    <a:pos x="T2" y="T3"/>
                  </a:cxn>
                  <a:cxn ang="T8">
                    <a:pos x="T4" y="T5"/>
                  </a:cxn>
                </a:cxnLst>
                <a:rect l="T9" t="T10" r="T11" b="T12"/>
                <a:pathLst>
                  <a:path w="21600" h="22596" fill="none" extrusionOk="0">
                    <a:moveTo>
                      <a:pt x="10240" y="0"/>
                    </a:moveTo>
                    <a:cubicBezTo>
                      <a:pt x="17237" y="3767"/>
                      <a:pt x="21600" y="11071"/>
                      <a:pt x="21600" y="19018"/>
                    </a:cubicBezTo>
                    <a:cubicBezTo>
                      <a:pt x="21600" y="20216"/>
                      <a:pt x="21500" y="21413"/>
                      <a:pt x="21301" y="22595"/>
                    </a:cubicBezTo>
                  </a:path>
                  <a:path w="21600" h="22596" stroke="0" extrusionOk="0">
                    <a:moveTo>
                      <a:pt x="10240" y="0"/>
                    </a:moveTo>
                    <a:cubicBezTo>
                      <a:pt x="17237" y="3767"/>
                      <a:pt x="21600" y="11071"/>
                      <a:pt x="21600" y="19018"/>
                    </a:cubicBezTo>
                    <a:cubicBezTo>
                      <a:pt x="21600" y="20216"/>
                      <a:pt x="21500" y="21413"/>
                      <a:pt x="21301" y="22595"/>
                    </a:cubicBezTo>
                    <a:lnTo>
                      <a:pt x="0" y="19018"/>
                    </a:lnTo>
                    <a:lnTo>
                      <a:pt x="10240" y="0"/>
                    </a:lnTo>
                    <a:close/>
                  </a:path>
                </a:pathLst>
              </a:custGeom>
              <a:noFill/>
              <a:ln w="222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7510" name="Line 53">
                <a:extLst>
                  <a:ext uri="{FF2B5EF4-FFF2-40B4-BE49-F238E27FC236}">
                    <a16:creationId xmlns:a16="http://schemas.microsoft.com/office/drawing/2014/main" id="{7AF53DB6-1806-CDFA-C10C-2358EBBE4D71}"/>
                  </a:ext>
                </a:extLst>
              </p:cNvPr>
              <p:cNvSpPr>
                <a:spLocks noChangeShapeType="1"/>
              </p:cNvSpPr>
              <p:nvPr/>
            </p:nvSpPr>
            <p:spPr bwMode="auto">
              <a:xfrm flipH="1" flipV="1">
                <a:off x="2111" y="1271"/>
                <a:ext cx="97" cy="505"/>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7511" name="Text Box 54">
                <a:extLst>
                  <a:ext uri="{FF2B5EF4-FFF2-40B4-BE49-F238E27FC236}">
                    <a16:creationId xmlns:a16="http://schemas.microsoft.com/office/drawing/2014/main" id="{A83AFC90-3EF0-4587-C41B-ED5910C937DB}"/>
                  </a:ext>
                </a:extLst>
              </p:cNvPr>
              <p:cNvSpPr txBox="1">
                <a:spLocks noChangeArrowheads="1"/>
              </p:cNvSpPr>
              <p:nvPr/>
            </p:nvSpPr>
            <p:spPr bwMode="auto">
              <a:xfrm>
                <a:off x="1819" y="1056"/>
                <a:ext cx="92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INPUT_DELAY</a:t>
                </a:r>
                <a:endParaRPr lang="ru-RU" altLang="en-US" sz="1600" b="1"/>
              </a:p>
            </p:txBody>
          </p:sp>
          <p:sp>
            <p:nvSpPr>
              <p:cNvPr id="147512" name="Line 55">
                <a:extLst>
                  <a:ext uri="{FF2B5EF4-FFF2-40B4-BE49-F238E27FC236}">
                    <a16:creationId xmlns:a16="http://schemas.microsoft.com/office/drawing/2014/main" id="{1411E083-5ADB-8A10-B312-BA275C123184}"/>
                  </a:ext>
                </a:extLst>
              </p:cNvPr>
              <p:cNvSpPr>
                <a:spLocks noChangeShapeType="1"/>
              </p:cNvSpPr>
              <p:nvPr/>
            </p:nvSpPr>
            <p:spPr bwMode="auto">
              <a:xfrm flipV="1">
                <a:off x="2757" y="1220"/>
                <a:ext cx="211" cy="419"/>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7513" name="Text Box 56">
                <a:extLst>
                  <a:ext uri="{FF2B5EF4-FFF2-40B4-BE49-F238E27FC236}">
                    <a16:creationId xmlns:a16="http://schemas.microsoft.com/office/drawing/2014/main" id="{54828240-373A-83B3-A300-9286ECE1C9A2}"/>
                  </a:ext>
                </a:extLst>
              </p:cNvPr>
              <p:cNvSpPr txBox="1">
                <a:spLocks noChangeArrowheads="1"/>
              </p:cNvSpPr>
              <p:nvPr/>
            </p:nvSpPr>
            <p:spPr bwMode="auto">
              <a:xfrm>
                <a:off x="2765" y="1061"/>
                <a:ext cx="110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LOG_N,MAX</a:t>
                </a:r>
                <a:endParaRPr lang="ru-RU" altLang="en-US" sz="1600" b="1"/>
              </a:p>
            </p:txBody>
          </p:sp>
        </p:grpSp>
      </p:grpSp>
      <p:sp>
        <p:nvSpPr>
          <p:cNvPr id="147460" name="Text Box 57">
            <a:extLst>
              <a:ext uri="{FF2B5EF4-FFF2-40B4-BE49-F238E27FC236}">
                <a16:creationId xmlns:a16="http://schemas.microsoft.com/office/drawing/2014/main" id="{468139BB-81FD-5E51-2703-72D21E6C6B35}"/>
              </a:ext>
            </a:extLst>
          </p:cNvPr>
          <p:cNvSpPr txBox="1">
            <a:spLocks noChangeArrowheads="1"/>
          </p:cNvSpPr>
          <p:nvPr/>
        </p:nvSpPr>
        <p:spPr bwMode="auto">
          <a:xfrm>
            <a:off x="2001839" y="5006976"/>
            <a:ext cx="71326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en-US" sz="2000"/>
              <a:t>T </a:t>
            </a:r>
            <a:r>
              <a:rPr lang="fr-FR" altLang="en-US" sz="2000" baseline="-25000"/>
              <a:t>INPUT</a:t>
            </a:r>
            <a:r>
              <a:rPr lang="en-US" altLang="en-US" sz="2000" baseline="-25000"/>
              <a:t>_</a:t>
            </a:r>
            <a:r>
              <a:rPr lang="fr-FR" altLang="en-US" sz="2000" baseline="-25000"/>
              <a:t>DELAY</a:t>
            </a:r>
            <a:r>
              <a:rPr lang="en-US" altLang="en-US" sz="2000" baseline="-25000"/>
              <a:t>,</a:t>
            </a:r>
            <a:r>
              <a:rPr lang="fr-FR" altLang="en-US" sz="2000" baseline="-25000"/>
              <a:t>MAX</a:t>
            </a:r>
            <a:r>
              <a:rPr lang="en-US" altLang="en-US" sz="2000"/>
              <a:t>  + </a:t>
            </a:r>
            <a:r>
              <a:rPr lang="fr-FR" altLang="en-US" sz="2000"/>
              <a:t>T </a:t>
            </a:r>
            <a:r>
              <a:rPr lang="fr-FR" altLang="en-US" sz="2000" baseline="-25000"/>
              <a:t>LOG</a:t>
            </a:r>
            <a:r>
              <a:rPr lang="en-US" altLang="en-US" sz="2000" baseline="-25000"/>
              <a:t>_</a:t>
            </a:r>
            <a:r>
              <a:rPr lang="fr-FR" altLang="en-US" sz="2000" baseline="-25000"/>
              <a:t>N,MAX</a:t>
            </a:r>
            <a:r>
              <a:rPr lang="en-US" altLang="en-US" sz="2000"/>
              <a:t> + </a:t>
            </a:r>
            <a:r>
              <a:rPr lang="fr-FR" altLang="en-US" sz="2000"/>
              <a:t>T</a:t>
            </a:r>
            <a:r>
              <a:rPr lang="fr-FR" altLang="en-US" sz="2000" baseline="-25000"/>
              <a:t>SETUP</a:t>
            </a:r>
            <a:r>
              <a:rPr lang="en-US" altLang="en-US" sz="2000"/>
              <a:t> +</a:t>
            </a:r>
            <a:r>
              <a:rPr lang="fr-FR" altLang="en-US" sz="2000"/>
              <a:t>T</a:t>
            </a:r>
            <a:r>
              <a:rPr lang="fr-FR" altLang="en-US" sz="2000" baseline="-25000"/>
              <a:t>U</a:t>
            </a:r>
            <a:r>
              <a:rPr lang="fr-FR" altLang="en-US" sz="2000"/>
              <a:t> </a:t>
            </a:r>
            <a:r>
              <a:rPr lang="ru-RU" altLang="en-US" sz="2000">
                <a:sym typeface="Symbol" panose="05050102010706020507" pitchFamily="18" charset="2"/>
              </a:rPr>
              <a:t></a:t>
            </a:r>
            <a:r>
              <a:rPr lang="en-US" altLang="en-US" sz="2000"/>
              <a:t> </a:t>
            </a:r>
            <a:r>
              <a:rPr lang="fr-FR" altLang="en-US" sz="2000"/>
              <a:t>P</a:t>
            </a:r>
            <a:r>
              <a:rPr lang="en-US" altLang="en-US" sz="2000"/>
              <a:t> </a:t>
            </a:r>
          </a:p>
          <a:p>
            <a:pPr eaLnBrk="1" hangingPunct="1">
              <a:spcBef>
                <a:spcPct val="0"/>
              </a:spcBef>
              <a:buClrTx/>
              <a:buSzTx/>
              <a:buFontTx/>
              <a:buNone/>
            </a:pPr>
            <a:r>
              <a:rPr lang="en-US" altLang="en-US" sz="2000"/>
              <a:t>T </a:t>
            </a:r>
            <a:r>
              <a:rPr lang="en-US" altLang="en-US" sz="2000" baseline="-25000"/>
              <a:t>LOG_N,MAX</a:t>
            </a:r>
            <a:r>
              <a:rPr lang="en-US" altLang="en-US" sz="2000"/>
              <a:t>  = P – T</a:t>
            </a:r>
            <a:r>
              <a:rPr lang="en-US" altLang="en-US" sz="2000" baseline="-25000"/>
              <a:t>INPUT_DELAY,MAX</a:t>
            </a:r>
            <a:r>
              <a:rPr lang="en-US" altLang="en-US" sz="2000"/>
              <a:t> – T</a:t>
            </a:r>
            <a:r>
              <a:rPr lang="en-US" altLang="en-US" sz="2000" baseline="-25000"/>
              <a:t>U</a:t>
            </a:r>
            <a:r>
              <a:rPr lang="en-US" altLang="en-US" sz="2000"/>
              <a:t> – T</a:t>
            </a:r>
            <a:r>
              <a:rPr lang="en-US" altLang="en-US" sz="2000" baseline="-25000"/>
              <a:t>SETUP</a:t>
            </a:r>
            <a:r>
              <a:rPr lang="en-US" altLang="en-US" sz="2000"/>
              <a:t> 	 </a:t>
            </a:r>
            <a:endParaRPr lang="ru-RU" altLang="en-US" sz="2000"/>
          </a:p>
        </p:txBody>
      </p:sp>
      <p:sp>
        <p:nvSpPr>
          <p:cNvPr id="147461" name="Text Box 58">
            <a:extLst>
              <a:ext uri="{FF2B5EF4-FFF2-40B4-BE49-F238E27FC236}">
                <a16:creationId xmlns:a16="http://schemas.microsoft.com/office/drawing/2014/main" id="{11053969-530D-E27E-90CA-EEFDF9FC097B}"/>
              </a:ext>
            </a:extLst>
          </p:cNvPr>
          <p:cNvSpPr txBox="1">
            <a:spLocks noChangeArrowheads="1"/>
          </p:cNvSpPr>
          <p:nvPr/>
        </p:nvSpPr>
        <p:spPr bwMode="auto">
          <a:xfrm>
            <a:off x="1920875" y="4637089"/>
            <a:ext cx="853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ru-RU" altLang="en-US" sz="1800"/>
              <a:t>What is the maximum delay Tmax</a:t>
            </a:r>
            <a:r>
              <a:rPr lang="en-US" altLang="en-US" sz="1800"/>
              <a:t>  </a:t>
            </a:r>
            <a:r>
              <a:rPr lang="ru-RU" altLang="en-US" sz="1800"/>
              <a:t>for the input path N in </a:t>
            </a:r>
            <a:r>
              <a:rPr lang="en-US" altLang="en-US" sz="1800"/>
              <a:t>design?</a:t>
            </a:r>
            <a:endParaRPr lang="ru-RU" altLang="en-US" sz="180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4">
            <a:extLst>
              <a:ext uri="{FF2B5EF4-FFF2-40B4-BE49-F238E27FC236}">
                <a16:creationId xmlns:a16="http://schemas.microsoft.com/office/drawing/2014/main" id="{F89D4A70-13ED-F9CE-7BDD-B809A61E9CFF}"/>
              </a:ext>
            </a:extLst>
          </p:cNvPr>
          <p:cNvSpPr>
            <a:spLocks noGrp="1" noChangeArrowheads="1"/>
          </p:cNvSpPr>
          <p:nvPr>
            <p:ph type="title"/>
          </p:nvPr>
        </p:nvSpPr>
        <p:spPr/>
        <p:txBody>
          <a:bodyPr/>
          <a:lstStyle/>
          <a:p>
            <a:r>
              <a:rPr lang="en-US" altLang="en-US"/>
              <a:t>Example 1</a:t>
            </a:r>
            <a:endParaRPr lang="ru-RU" altLang="en-US"/>
          </a:p>
        </p:txBody>
      </p:sp>
      <p:grpSp>
        <p:nvGrpSpPr>
          <p:cNvPr id="148483" name="Group 43">
            <a:extLst>
              <a:ext uri="{FF2B5EF4-FFF2-40B4-BE49-F238E27FC236}">
                <a16:creationId xmlns:a16="http://schemas.microsoft.com/office/drawing/2014/main" id="{C751AAC6-DB04-50F7-FCF7-D7B22C387404}"/>
              </a:ext>
            </a:extLst>
          </p:cNvPr>
          <p:cNvGrpSpPr>
            <a:grpSpLocks/>
          </p:cNvGrpSpPr>
          <p:nvPr/>
        </p:nvGrpSpPr>
        <p:grpSpPr bwMode="auto">
          <a:xfrm>
            <a:off x="2209800" y="990600"/>
            <a:ext cx="7315200" cy="2393950"/>
            <a:chOff x="432" y="993"/>
            <a:chExt cx="4704" cy="2223"/>
          </a:xfrm>
        </p:grpSpPr>
        <p:sp>
          <p:nvSpPr>
            <p:cNvPr id="148486" name="Text Box 6">
              <a:extLst>
                <a:ext uri="{FF2B5EF4-FFF2-40B4-BE49-F238E27FC236}">
                  <a16:creationId xmlns:a16="http://schemas.microsoft.com/office/drawing/2014/main" id="{42ACE18C-4198-CC33-D0E3-05256079E79B}"/>
                </a:ext>
              </a:extLst>
            </p:cNvPr>
            <p:cNvSpPr txBox="1">
              <a:spLocks noChangeArrowheads="1"/>
            </p:cNvSpPr>
            <p:nvPr/>
          </p:nvSpPr>
          <p:spPr bwMode="auto">
            <a:xfrm>
              <a:off x="1731" y="2847"/>
              <a:ext cx="74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Period =2</a:t>
              </a:r>
            </a:p>
          </p:txBody>
        </p:sp>
        <p:sp>
          <p:nvSpPr>
            <p:cNvPr id="148487" name="Line 7">
              <a:extLst>
                <a:ext uri="{FF2B5EF4-FFF2-40B4-BE49-F238E27FC236}">
                  <a16:creationId xmlns:a16="http://schemas.microsoft.com/office/drawing/2014/main" id="{00F7B1CA-D955-7B7C-26D2-17AE84172317}"/>
                </a:ext>
              </a:extLst>
            </p:cNvPr>
            <p:cNvSpPr>
              <a:spLocks noChangeShapeType="1"/>
            </p:cNvSpPr>
            <p:nvPr/>
          </p:nvSpPr>
          <p:spPr bwMode="auto">
            <a:xfrm>
              <a:off x="432" y="1952"/>
              <a:ext cx="52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88" name="Line 8">
              <a:extLst>
                <a:ext uri="{FF2B5EF4-FFF2-40B4-BE49-F238E27FC236}">
                  <a16:creationId xmlns:a16="http://schemas.microsoft.com/office/drawing/2014/main" id="{78894206-5AE9-FAD3-DB9C-28C21B654D3F}"/>
                </a:ext>
              </a:extLst>
            </p:cNvPr>
            <p:cNvSpPr>
              <a:spLocks noChangeShapeType="1"/>
            </p:cNvSpPr>
            <p:nvPr/>
          </p:nvSpPr>
          <p:spPr bwMode="auto">
            <a:xfrm flipV="1">
              <a:off x="963" y="1441"/>
              <a:ext cx="0" cy="51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89" name="Line 9">
              <a:extLst>
                <a:ext uri="{FF2B5EF4-FFF2-40B4-BE49-F238E27FC236}">
                  <a16:creationId xmlns:a16="http://schemas.microsoft.com/office/drawing/2014/main" id="{150F9B88-A080-2AD5-E265-0C286AB8C41E}"/>
                </a:ext>
              </a:extLst>
            </p:cNvPr>
            <p:cNvSpPr>
              <a:spLocks noChangeShapeType="1"/>
            </p:cNvSpPr>
            <p:nvPr/>
          </p:nvSpPr>
          <p:spPr bwMode="auto">
            <a:xfrm>
              <a:off x="971" y="1441"/>
              <a:ext cx="10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0" name="Line 10">
              <a:extLst>
                <a:ext uri="{FF2B5EF4-FFF2-40B4-BE49-F238E27FC236}">
                  <a16:creationId xmlns:a16="http://schemas.microsoft.com/office/drawing/2014/main" id="{305F1D8D-936F-96B6-208E-C1A90C33BD17}"/>
                </a:ext>
              </a:extLst>
            </p:cNvPr>
            <p:cNvSpPr>
              <a:spLocks noChangeShapeType="1"/>
            </p:cNvSpPr>
            <p:nvPr/>
          </p:nvSpPr>
          <p:spPr bwMode="auto">
            <a:xfrm flipV="1">
              <a:off x="2022" y="1441"/>
              <a:ext cx="0" cy="51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1" name="Line 11">
              <a:extLst>
                <a:ext uri="{FF2B5EF4-FFF2-40B4-BE49-F238E27FC236}">
                  <a16:creationId xmlns:a16="http://schemas.microsoft.com/office/drawing/2014/main" id="{84CED749-D2C5-577E-F03F-7112A13F75DE}"/>
                </a:ext>
              </a:extLst>
            </p:cNvPr>
            <p:cNvSpPr>
              <a:spLocks noChangeShapeType="1"/>
            </p:cNvSpPr>
            <p:nvPr/>
          </p:nvSpPr>
          <p:spPr bwMode="auto">
            <a:xfrm>
              <a:off x="2022" y="1954"/>
              <a:ext cx="10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2" name="Line 12">
              <a:extLst>
                <a:ext uri="{FF2B5EF4-FFF2-40B4-BE49-F238E27FC236}">
                  <a16:creationId xmlns:a16="http://schemas.microsoft.com/office/drawing/2014/main" id="{BF77697B-61F2-6E5D-1DD8-393A544F6252}"/>
                </a:ext>
              </a:extLst>
            </p:cNvPr>
            <p:cNvSpPr>
              <a:spLocks noChangeShapeType="1"/>
            </p:cNvSpPr>
            <p:nvPr/>
          </p:nvSpPr>
          <p:spPr bwMode="auto">
            <a:xfrm flipV="1">
              <a:off x="3100" y="1417"/>
              <a:ext cx="0" cy="5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3" name="Line 13">
              <a:extLst>
                <a:ext uri="{FF2B5EF4-FFF2-40B4-BE49-F238E27FC236}">
                  <a16:creationId xmlns:a16="http://schemas.microsoft.com/office/drawing/2014/main" id="{5DE70775-1AFA-3788-622B-E66A32D05FE4}"/>
                </a:ext>
              </a:extLst>
            </p:cNvPr>
            <p:cNvSpPr>
              <a:spLocks noChangeShapeType="1"/>
            </p:cNvSpPr>
            <p:nvPr/>
          </p:nvSpPr>
          <p:spPr bwMode="auto">
            <a:xfrm>
              <a:off x="3100" y="1414"/>
              <a:ext cx="10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4" name="Line 14">
              <a:extLst>
                <a:ext uri="{FF2B5EF4-FFF2-40B4-BE49-F238E27FC236}">
                  <a16:creationId xmlns:a16="http://schemas.microsoft.com/office/drawing/2014/main" id="{21D18595-1801-B030-86E1-588C65845BB5}"/>
                </a:ext>
              </a:extLst>
            </p:cNvPr>
            <p:cNvSpPr>
              <a:spLocks noChangeShapeType="1"/>
            </p:cNvSpPr>
            <p:nvPr/>
          </p:nvSpPr>
          <p:spPr bwMode="auto">
            <a:xfrm flipV="1">
              <a:off x="4149" y="1417"/>
              <a:ext cx="0" cy="5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5" name="Line 15">
              <a:extLst>
                <a:ext uri="{FF2B5EF4-FFF2-40B4-BE49-F238E27FC236}">
                  <a16:creationId xmlns:a16="http://schemas.microsoft.com/office/drawing/2014/main" id="{5AAE1E6F-CC77-E01D-513D-BEDCFAF2F851}"/>
                </a:ext>
              </a:extLst>
            </p:cNvPr>
            <p:cNvSpPr>
              <a:spLocks noChangeShapeType="1"/>
            </p:cNvSpPr>
            <p:nvPr/>
          </p:nvSpPr>
          <p:spPr bwMode="auto">
            <a:xfrm flipV="1">
              <a:off x="2899" y="1417"/>
              <a:ext cx="0" cy="5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6" name="Line 16">
              <a:extLst>
                <a:ext uri="{FF2B5EF4-FFF2-40B4-BE49-F238E27FC236}">
                  <a16:creationId xmlns:a16="http://schemas.microsoft.com/office/drawing/2014/main" id="{79DF1AD8-5BC6-3058-845C-C990AB1A9CA7}"/>
                </a:ext>
              </a:extLst>
            </p:cNvPr>
            <p:cNvSpPr>
              <a:spLocks noChangeShapeType="1"/>
            </p:cNvSpPr>
            <p:nvPr/>
          </p:nvSpPr>
          <p:spPr bwMode="auto">
            <a:xfrm flipV="1">
              <a:off x="2674" y="1429"/>
              <a:ext cx="0" cy="5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7" name="Line 17">
              <a:extLst>
                <a:ext uri="{FF2B5EF4-FFF2-40B4-BE49-F238E27FC236}">
                  <a16:creationId xmlns:a16="http://schemas.microsoft.com/office/drawing/2014/main" id="{355CABF5-8450-1411-CBB0-A2E4B24EA4E0}"/>
                </a:ext>
              </a:extLst>
            </p:cNvPr>
            <p:cNvSpPr>
              <a:spLocks noChangeShapeType="1"/>
            </p:cNvSpPr>
            <p:nvPr/>
          </p:nvSpPr>
          <p:spPr bwMode="auto">
            <a:xfrm>
              <a:off x="2665" y="1596"/>
              <a:ext cx="236"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48498" name="Text Box 18">
              <a:extLst>
                <a:ext uri="{FF2B5EF4-FFF2-40B4-BE49-F238E27FC236}">
                  <a16:creationId xmlns:a16="http://schemas.microsoft.com/office/drawing/2014/main" id="{929D77F2-2C81-E854-E14E-62C4420961A0}"/>
                </a:ext>
              </a:extLst>
            </p:cNvPr>
            <p:cNvSpPr txBox="1">
              <a:spLocks noChangeArrowheads="1"/>
            </p:cNvSpPr>
            <p:nvPr/>
          </p:nvSpPr>
          <p:spPr bwMode="auto">
            <a:xfrm>
              <a:off x="2620" y="1281"/>
              <a:ext cx="39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U</a:t>
              </a:r>
              <a:endParaRPr lang="ru-RU" altLang="en-US" sz="1600" b="1"/>
            </a:p>
          </p:txBody>
        </p:sp>
        <p:sp>
          <p:nvSpPr>
            <p:cNvPr id="148499" name="Line 19">
              <a:extLst>
                <a:ext uri="{FF2B5EF4-FFF2-40B4-BE49-F238E27FC236}">
                  <a16:creationId xmlns:a16="http://schemas.microsoft.com/office/drawing/2014/main" id="{4AF0B86B-156C-1905-B169-5D2F678C7AE3}"/>
                </a:ext>
              </a:extLst>
            </p:cNvPr>
            <p:cNvSpPr>
              <a:spLocks noChangeShapeType="1"/>
            </p:cNvSpPr>
            <p:nvPr/>
          </p:nvSpPr>
          <p:spPr bwMode="auto">
            <a:xfrm>
              <a:off x="2901" y="1531"/>
              <a:ext cx="200"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48500" name="Line 20">
              <a:extLst>
                <a:ext uri="{FF2B5EF4-FFF2-40B4-BE49-F238E27FC236}">
                  <a16:creationId xmlns:a16="http://schemas.microsoft.com/office/drawing/2014/main" id="{83DCE165-DB93-8138-1A41-8AE4C8ED3A64}"/>
                </a:ext>
              </a:extLst>
            </p:cNvPr>
            <p:cNvSpPr>
              <a:spLocks noChangeShapeType="1"/>
            </p:cNvSpPr>
            <p:nvPr/>
          </p:nvSpPr>
          <p:spPr bwMode="auto">
            <a:xfrm>
              <a:off x="4147" y="1928"/>
              <a:ext cx="52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01" name="Line 21">
              <a:extLst>
                <a:ext uri="{FF2B5EF4-FFF2-40B4-BE49-F238E27FC236}">
                  <a16:creationId xmlns:a16="http://schemas.microsoft.com/office/drawing/2014/main" id="{55FF5C3C-6E92-1121-94C1-9A24AD8BF988}"/>
                </a:ext>
              </a:extLst>
            </p:cNvPr>
            <p:cNvSpPr>
              <a:spLocks noChangeShapeType="1"/>
            </p:cNvSpPr>
            <p:nvPr/>
          </p:nvSpPr>
          <p:spPr bwMode="auto">
            <a:xfrm>
              <a:off x="971" y="2119"/>
              <a:ext cx="0" cy="949"/>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8502" name="Line 22">
              <a:extLst>
                <a:ext uri="{FF2B5EF4-FFF2-40B4-BE49-F238E27FC236}">
                  <a16:creationId xmlns:a16="http://schemas.microsoft.com/office/drawing/2014/main" id="{A89B61B0-5DC7-5979-F752-992943FD970E}"/>
                </a:ext>
              </a:extLst>
            </p:cNvPr>
            <p:cNvSpPr>
              <a:spLocks noChangeShapeType="1"/>
            </p:cNvSpPr>
            <p:nvPr/>
          </p:nvSpPr>
          <p:spPr bwMode="auto">
            <a:xfrm>
              <a:off x="2682" y="2119"/>
              <a:ext cx="0" cy="45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8503" name="Line 23">
              <a:extLst>
                <a:ext uri="{FF2B5EF4-FFF2-40B4-BE49-F238E27FC236}">
                  <a16:creationId xmlns:a16="http://schemas.microsoft.com/office/drawing/2014/main" id="{BA8D9CA3-919C-5409-0716-A495DC413A05}"/>
                </a:ext>
              </a:extLst>
            </p:cNvPr>
            <p:cNvSpPr>
              <a:spLocks noChangeShapeType="1"/>
            </p:cNvSpPr>
            <p:nvPr/>
          </p:nvSpPr>
          <p:spPr bwMode="auto">
            <a:xfrm flipV="1">
              <a:off x="971" y="2541"/>
              <a:ext cx="1701"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8504" name="Text Box 24">
              <a:extLst>
                <a:ext uri="{FF2B5EF4-FFF2-40B4-BE49-F238E27FC236}">
                  <a16:creationId xmlns:a16="http://schemas.microsoft.com/office/drawing/2014/main" id="{48E9F078-238F-B631-6115-8B048FEE439B}"/>
                </a:ext>
              </a:extLst>
            </p:cNvPr>
            <p:cNvSpPr txBox="1">
              <a:spLocks noChangeArrowheads="1"/>
            </p:cNvSpPr>
            <p:nvPr/>
          </p:nvSpPr>
          <p:spPr bwMode="auto">
            <a:xfrm>
              <a:off x="842" y="1899"/>
              <a:ext cx="36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a:t>
              </a:r>
            </a:p>
          </p:txBody>
        </p:sp>
        <p:sp>
          <p:nvSpPr>
            <p:cNvPr id="148505" name="Text Box 25">
              <a:extLst>
                <a:ext uri="{FF2B5EF4-FFF2-40B4-BE49-F238E27FC236}">
                  <a16:creationId xmlns:a16="http://schemas.microsoft.com/office/drawing/2014/main" id="{37D114A4-3653-836B-5C38-9D5A40526AB8}"/>
                </a:ext>
              </a:extLst>
            </p:cNvPr>
            <p:cNvSpPr txBox="1">
              <a:spLocks noChangeArrowheads="1"/>
            </p:cNvSpPr>
            <p:nvPr/>
          </p:nvSpPr>
          <p:spPr bwMode="auto">
            <a:xfrm>
              <a:off x="1838" y="1896"/>
              <a:ext cx="32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a:t>
              </a:r>
            </a:p>
          </p:txBody>
        </p:sp>
        <p:sp>
          <p:nvSpPr>
            <p:cNvPr id="148506" name="Text Box 26">
              <a:extLst>
                <a:ext uri="{FF2B5EF4-FFF2-40B4-BE49-F238E27FC236}">
                  <a16:creationId xmlns:a16="http://schemas.microsoft.com/office/drawing/2014/main" id="{1C09CC1B-4691-B860-0506-0336CEE21083}"/>
                </a:ext>
              </a:extLst>
            </p:cNvPr>
            <p:cNvSpPr txBox="1">
              <a:spLocks noChangeArrowheads="1"/>
            </p:cNvSpPr>
            <p:nvPr/>
          </p:nvSpPr>
          <p:spPr bwMode="auto">
            <a:xfrm>
              <a:off x="2362" y="1923"/>
              <a:ext cx="44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1.76</a:t>
              </a:r>
            </a:p>
          </p:txBody>
        </p:sp>
        <p:sp>
          <p:nvSpPr>
            <p:cNvPr id="148507" name="Text Box 27">
              <a:extLst>
                <a:ext uri="{FF2B5EF4-FFF2-40B4-BE49-F238E27FC236}">
                  <a16:creationId xmlns:a16="http://schemas.microsoft.com/office/drawing/2014/main" id="{7E2458E5-B255-8FAF-E17D-A92E08A5A6F8}"/>
                </a:ext>
              </a:extLst>
            </p:cNvPr>
            <p:cNvSpPr txBox="1">
              <a:spLocks noChangeArrowheads="1"/>
            </p:cNvSpPr>
            <p:nvPr/>
          </p:nvSpPr>
          <p:spPr bwMode="auto">
            <a:xfrm>
              <a:off x="2643" y="1923"/>
              <a:ext cx="49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1.9</a:t>
              </a:r>
            </a:p>
          </p:txBody>
        </p:sp>
        <p:sp>
          <p:nvSpPr>
            <p:cNvPr id="148508" name="Text Box 28">
              <a:extLst>
                <a:ext uri="{FF2B5EF4-FFF2-40B4-BE49-F238E27FC236}">
                  <a16:creationId xmlns:a16="http://schemas.microsoft.com/office/drawing/2014/main" id="{5CA075D4-185C-5208-19AD-443C56031BCE}"/>
                </a:ext>
              </a:extLst>
            </p:cNvPr>
            <p:cNvSpPr txBox="1">
              <a:spLocks noChangeArrowheads="1"/>
            </p:cNvSpPr>
            <p:nvPr/>
          </p:nvSpPr>
          <p:spPr bwMode="auto">
            <a:xfrm>
              <a:off x="3052" y="1929"/>
              <a:ext cx="49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2</a:t>
              </a:r>
            </a:p>
          </p:txBody>
        </p:sp>
        <p:sp>
          <p:nvSpPr>
            <p:cNvPr id="148509" name="Text Box 29">
              <a:extLst>
                <a:ext uri="{FF2B5EF4-FFF2-40B4-BE49-F238E27FC236}">
                  <a16:creationId xmlns:a16="http://schemas.microsoft.com/office/drawing/2014/main" id="{DD9F4DB8-FD4A-D903-22FE-B0DCC99D4891}"/>
                </a:ext>
              </a:extLst>
            </p:cNvPr>
            <p:cNvSpPr txBox="1">
              <a:spLocks noChangeArrowheads="1"/>
            </p:cNvSpPr>
            <p:nvPr/>
          </p:nvSpPr>
          <p:spPr bwMode="auto">
            <a:xfrm>
              <a:off x="1220" y="2547"/>
              <a:ext cx="191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Max delay Reg-to-Reg =1,76</a:t>
              </a:r>
            </a:p>
          </p:txBody>
        </p:sp>
        <p:sp>
          <p:nvSpPr>
            <p:cNvPr id="148510" name="Line 30">
              <a:extLst>
                <a:ext uri="{FF2B5EF4-FFF2-40B4-BE49-F238E27FC236}">
                  <a16:creationId xmlns:a16="http://schemas.microsoft.com/office/drawing/2014/main" id="{438077D2-C73D-4A87-2FA6-F53DFA105EDB}"/>
                </a:ext>
              </a:extLst>
            </p:cNvPr>
            <p:cNvSpPr>
              <a:spLocks noChangeShapeType="1"/>
            </p:cNvSpPr>
            <p:nvPr/>
          </p:nvSpPr>
          <p:spPr bwMode="auto">
            <a:xfrm flipV="1">
              <a:off x="2996" y="1256"/>
              <a:ext cx="160" cy="22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11" name="Text Box 31">
              <a:extLst>
                <a:ext uri="{FF2B5EF4-FFF2-40B4-BE49-F238E27FC236}">
                  <a16:creationId xmlns:a16="http://schemas.microsoft.com/office/drawing/2014/main" id="{ACD849CF-9A94-07D1-A1DA-CE5D1449F7BF}"/>
                </a:ext>
              </a:extLst>
            </p:cNvPr>
            <p:cNvSpPr txBox="1">
              <a:spLocks noChangeArrowheads="1"/>
            </p:cNvSpPr>
            <p:nvPr/>
          </p:nvSpPr>
          <p:spPr bwMode="auto">
            <a:xfrm>
              <a:off x="2790" y="993"/>
              <a:ext cx="54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SETUP</a:t>
              </a:r>
              <a:endParaRPr lang="ru-RU" altLang="en-US" sz="1600" b="1"/>
            </a:p>
          </p:txBody>
        </p:sp>
        <p:sp>
          <p:nvSpPr>
            <p:cNvPr id="148512" name="Line 32">
              <a:extLst>
                <a:ext uri="{FF2B5EF4-FFF2-40B4-BE49-F238E27FC236}">
                  <a16:creationId xmlns:a16="http://schemas.microsoft.com/office/drawing/2014/main" id="{220968CD-3F89-0CA9-7A60-4903F4C97DD2}"/>
                </a:ext>
              </a:extLst>
            </p:cNvPr>
            <p:cNvSpPr>
              <a:spLocks noChangeShapeType="1"/>
            </p:cNvSpPr>
            <p:nvPr/>
          </p:nvSpPr>
          <p:spPr bwMode="auto">
            <a:xfrm flipH="1">
              <a:off x="1786" y="1304"/>
              <a:ext cx="0" cy="1071"/>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8513" name="Line 33">
              <a:extLst>
                <a:ext uri="{FF2B5EF4-FFF2-40B4-BE49-F238E27FC236}">
                  <a16:creationId xmlns:a16="http://schemas.microsoft.com/office/drawing/2014/main" id="{2A16E38B-D971-66C7-FD3C-C64A7C95769E}"/>
                </a:ext>
              </a:extLst>
            </p:cNvPr>
            <p:cNvSpPr>
              <a:spLocks noChangeShapeType="1"/>
            </p:cNvSpPr>
            <p:nvPr/>
          </p:nvSpPr>
          <p:spPr bwMode="auto">
            <a:xfrm>
              <a:off x="963" y="2165"/>
              <a:ext cx="813"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8514" name="Text Box 34">
              <a:extLst>
                <a:ext uri="{FF2B5EF4-FFF2-40B4-BE49-F238E27FC236}">
                  <a16:creationId xmlns:a16="http://schemas.microsoft.com/office/drawing/2014/main" id="{1B2DB9A9-C769-5506-8D95-30EE6F3BD6FD}"/>
                </a:ext>
              </a:extLst>
            </p:cNvPr>
            <p:cNvSpPr txBox="1">
              <a:spLocks noChangeArrowheads="1"/>
            </p:cNvSpPr>
            <p:nvPr/>
          </p:nvSpPr>
          <p:spPr bwMode="auto">
            <a:xfrm>
              <a:off x="946" y="2137"/>
              <a:ext cx="983"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INPUT_DELAY</a:t>
              </a:r>
              <a:endParaRPr lang="ru-RU" altLang="en-US" sz="1600" b="1"/>
            </a:p>
          </p:txBody>
        </p:sp>
        <p:sp>
          <p:nvSpPr>
            <p:cNvPr id="148515" name="Line 35">
              <a:extLst>
                <a:ext uri="{FF2B5EF4-FFF2-40B4-BE49-F238E27FC236}">
                  <a16:creationId xmlns:a16="http://schemas.microsoft.com/office/drawing/2014/main" id="{69DC44D7-78B5-9F3B-8E36-3016FC062364}"/>
                </a:ext>
              </a:extLst>
            </p:cNvPr>
            <p:cNvSpPr>
              <a:spLocks noChangeShapeType="1"/>
            </p:cNvSpPr>
            <p:nvPr/>
          </p:nvSpPr>
          <p:spPr bwMode="auto">
            <a:xfrm>
              <a:off x="1805" y="2165"/>
              <a:ext cx="850"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8516" name="Text Box 36">
              <a:extLst>
                <a:ext uri="{FF2B5EF4-FFF2-40B4-BE49-F238E27FC236}">
                  <a16:creationId xmlns:a16="http://schemas.microsoft.com/office/drawing/2014/main" id="{2B0AEEE9-B605-9261-CDC9-97375FDB4DC7}"/>
                </a:ext>
              </a:extLst>
            </p:cNvPr>
            <p:cNvSpPr txBox="1">
              <a:spLocks noChangeArrowheads="1"/>
            </p:cNvSpPr>
            <p:nvPr/>
          </p:nvSpPr>
          <p:spPr bwMode="auto">
            <a:xfrm>
              <a:off x="1892" y="2149"/>
              <a:ext cx="728"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LOG_N</a:t>
              </a:r>
              <a:endParaRPr lang="ru-RU" altLang="en-US" sz="1600" b="1"/>
            </a:p>
          </p:txBody>
        </p:sp>
        <p:sp>
          <p:nvSpPr>
            <p:cNvPr id="148517" name="Line 37">
              <a:extLst>
                <a:ext uri="{FF2B5EF4-FFF2-40B4-BE49-F238E27FC236}">
                  <a16:creationId xmlns:a16="http://schemas.microsoft.com/office/drawing/2014/main" id="{45553789-69B5-DACE-8F7D-6B9E4DF2A923}"/>
                </a:ext>
              </a:extLst>
            </p:cNvPr>
            <p:cNvSpPr>
              <a:spLocks noChangeShapeType="1"/>
            </p:cNvSpPr>
            <p:nvPr/>
          </p:nvSpPr>
          <p:spPr bwMode="auto">
            <a:xfrm>
              <a:off x="3109" y="2052"/>
              <a:ext cx="0" cy="106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8518" name="Line 38">
              <a:extLst>
                <a:ext uri="{FF2B5EF4-FFF2-40B4-BE49-F238E27FC236}">
                  <a16:creationId xmlns:a16="http://schemas.microsoft.com/office/drawing/2014/main" id="{9AC40C29-47DA-1612-DA9B-284AC32F318F}"/>
                </a:ext>
              </a:extLst>
            </p:cNvPr>
            <p:cNvSpPr>
              <a:spLocks noChangeShapeType="1"/>
            </p:cNvSpPr>
            <p:nvPr/>
          </p:nvSpPr>
          <p:spPr bwMode="auto">
            <a:xfrm>
              <a:off x="973" y="2875"/>
              <a:ext cx="2108"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8519" name="Text Box 39">
              <a:extLst>
                <a:ext uri="{FF2B5EF4-FFF2-40B4-BE49-F238E27FC236}">
                  <a16:creationId xmlns:a16="http://schemas.microsoft.com/office/drawing/2014/main" id="{49F0B1BE-1B06-8589-5AD3-2D5254858CD3}"/>
                </a:ext>
              </a:extLst>
            </p:cNvPr>
            <p:cNvSpPr txBox="1">
              <a:spLocks noChangeArrowheads="1"/>
            </p:cNvSpPr>
            <p:nvPr/>
          </p:nvSpPr>
          <p:spPr bwMode="auto">
            <a:xfrm>
              <a:off x="1145" y="1964"/>
              <a:ext cx="49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0.6</a:t>
              </a:r>
            </a:p>
          </p:txBody>
        </p:sp>
        <p:sp>
          <p:nvSpPr>
            <p:cNvPr id="148520" name="Line 40">
              <a:extLst>
                <a:ext uri="{FF2B5EF4-FFF2-40B4-BE49-F238E27FC236}">
                  <a16:creationId xmlns:a16="http://schemas.microsoft.com/office/drawing/2014/main" id="{D77DDE7E-808C-EB63-3E34-1979C0CC411F}"/>
                </a:ext>
              </a:extLst>
            </p:cNvPr>
            <p:cNvSpPr>
              <a:spLocks noChangeShapeType="1"/>
            </p:cNvSpPr>
            <p:nvPr/>
          </p:nvSpPr>
          <p:spPr bwMode="auto">
            <a:xfrm>
              <a:off x="2447" y="2174"/>
              <a:ext cx="0" cy="238"/>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8521" name="Line 41">
              <a:extLst>
                <a:ext uri="{FF2B5EF4-FFF2-40B4-BE49-F238E27FC236}">
                  <a16:creationId xmlns:a16="http://schemas.microsoft.com/office/drawing/2014/main" id="{A9507EF6-2725-A6DB-90EF-B9449E14F142}"/>
                </a:ext>
              </a:extLst>
            </p:cNvPr>
            <p:cNvSpPr>
              <a:spLocks noChangeShapeType="1"/>
            </p:cNvSpPr>
            <p:nvPr/>
          </p:nvSpPr>
          <p:spPr bwMode="auto">
            <a:xfrm>
              <a:off x="2457" y="2391"/>
              <a:ext cx="1357" cy="0"/>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8522" name="Text Box 42">
              <a:extLst>
                <a:ext uri="{FF2B5EF4-FFF2-40B4-BE49-F238E27FC236}">
                  <a16:creationId xmlns:a16="http://schemas.microsoft.com/office/drawing/2014/main" id="{79D703C9-5031-C3AC-163E-FC1B6D5E65C1}"/>
                </a:ext>
              </a:extLst>
            </p:cNvPr>
            <p:cNvSpPr txBox="1">
              <a:spLocks noChangeArrowheads="1"/>
            </p:cNvSpPr>
            <p:nvPr/>
          </p:nvSpPr>
          <p:spPr bwMode="auto">
            <a:xfrm>
              <a:off x="3811" y="2183"/>
              <a:ext cx="1325" cy="941"/>
            </a:xfrm>
            <a:prstGeom prst="rect">
              <a:avLst/>
            </a:prstGeom>
            <a:solidFill>
              <a:srgbClr val="FFFFFF"/>
            </a:solidFill>
            <a:ln w="22225">
              <a:solidFill>
                <a:srgbClr val="000000"/>
              </a:solidFill>
              <a:prstDash val="dash"/>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Time</a:t>
              </a:r>
            </a:p>
            <a:p>
              <a:pPr eaLnBrk="1" hangingPunct="1">
                <a:spcBef>
                  <a:spcPct val="0"/>
                </a:spcBef>
                <a:buClrTx/>
                <a:buSzTx/>
                <a:buFontTx/>
                <a:buNone/>
              </a:pPr>
              <a:r>
                <a:rPr lang="en-US" altLang="en-US" sz="1600" b="1"/>
                <a:t>left for internal input logic</a:t>
              </a:r>
              <a:r>
                <a:rPr lang="ru-RU" altLang="en-US" sz="1600" b="1"/>
                <a:t>,  </a:t>
              </a:r>
            </a:p>
            <a:p>
              <a:pPr eaLnBrk="1" hangingPunct="1">
                <a:spcBef>
                  <a:spcPct val="0"/>
                </a:spcBef>
                <a:buClrTx/>
                <a:buSzTx/>
                <a:buFontTx/>
                <a:buNone/>
              </a:pPr>
              <a:r>
                <a:rPr lang="ru-RU" altLang="en-US" sz="1600" b="1"/>
                <a:t>1.76 -</a:t>
              </a:r>
              <a:r>
                <a:rPr lang="en-US" altLang="en-US" sz="1600" b="1"/>
                <a:t> </a:t>
              </a:r>
              <a:r>
                <a:rPr lang="ru-RU" altLang="en-US" sz="1600" b="1"/>
                <a:t>0.6=1.16</a:t>
              </a:r>
            </a:p>
          </p:txBody>
        </p:sp>
      </p:grpSp>
      <p:sp>
        <p:nvSpPr>
          <p:cNvPr id="148484" name="Text Box 44">
            <a:extLst>
              <a:ext uri="{FF2B5EF4-FFF2-40B4-BE49-F238E27FC236}">
                <a16:creationId xmlns:a16="http://schemas.microsoft.com/office/drawing/2014/main" id="{083C9569-3B95-BC01-216D-8E3B2FFFFC6C}"/>
              </a:ext>
            </a:extLst>
          </p:cNvPr>
          <p:cNvSpPr txBox="1">
            <a:spLocks noChangeArrowheads="1"/>
          </p:cNvSpPr>
          <p:nvPr/>
        </p:nvSpPr>
        <p:spPr bwMode="auto">
          <a:xfrm>
            <a:off x="1871664" y="3429001"/>
            <a:ext cx="7500937"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Given Т</a:t>
            </a:r>
            <a:r>
              <a:rPr lang="en-US" altLang="en-US" sz="1800" baseline="-25000"/>
              <a:t>INPUT_DELAY,MAX</a:t>
            </a:r>
            <a:r>
              <a:rPr lang="en-US" altLang="en-US" sz="1800"/>
              <a:t> = 0,6 ns,  Clock frequency = 500 MHz,</a:t>
            </a:r>
          </a:p>
          <a:p>
            <a:pPr eaLnBrk="1" hangingPunct="1">
              <a:spcBef>
                <a:spcPct val="0"/>
              </a:spcBef>
              <a:buClrTx/>
              <a:buSzTx/>
              <a:buFontTx/>
              <a:buNone/>
            </a:pPr>
            <a:r>
              <a:rPr lang="en-US" altLang="en-US" sz="1800"/>
              <a:t>T</a:t>
            </a:r>
            <a:r>
              <a:rPr lang="en-US" altLang="en-US" sz="1800" baseline="-25000"/>
              <a:t>U</a:t>
            </a:r>
            <a:r>
              <a:rPr lang="en-US" altLang="en-US" sz="1800"/>
              <a:t>= 0.14 ns, T</a:t>
            </a:r>
            <a:r>
              <a:rPr lang="en-US" altLang="en-US" sz="1800" baseline="-25000"/>
              <a:t>SETUP_REG2</a:t>
            </a:r>
            <a:r>
              <a:rPr lang="en-US" altLang="en-US" sz="1800"/>
              <a:t>=0.1 ns. P = 2ns</a:t>
            </a:r>
            <a:r>
              <a:rPr lang="ru-RU" altLang="en-US" sz="1800"/>
              <a:t> </a:t>
            </a:r>
            <a:endParaRPr lang="en-US" altLang="en-US" sz="1800"/>
          </a:p>
          <a:p>
            <a:pPr eaLnBrk="1" hangingPunct="1">
              <a:spcBef>
                <a:spcPct val="0"/>
              </a:spcBef>
              <a:buClrTx/>
              <a:buSzTx/>
              <a:buFontTx/>
              <a:buNone/>
            </a:pPr>
            <a:r>
              <a:rPr lang="en-US" altLang="en-US" sz="1800"/>
              <a:t>Maximum delay for path N </a:t>
            </a:r>
          </a:p>
          <a:p>
            <a:pPr eaLnBrk="1" hangingPunct="1">
              <a:spcBef>
                <a:spcPct val="0"/>
              </a:spcBef>
              <a:buClrTx/>
              <a:buSzTx/>
              <a:buFontTx/>
              <a:buNone/>
            </a:pPr>
            <a:r>
              <a:rPr lang="ru-RU" altLang="en-US" sz="1800"/>
              <a:t>T</a:t>
            </a:r>
            <a:r>
              <a:rPr lang="ru-RU" altLang="en-US" sz="1800" baseline="-25000"/>
              <a:t> LOG_N,MAX </a:t>
            </a:r>
            <a:r>
              <a:rPr lang="ru-RU" altLang="en-US" sz="1800"/>
              <a:t> = 2 – 0,6 – 0,14 – 0,1 = 1,16.</a:t>
            </a:r>
            <a:endParaRPr lang="en-US" altLang="en-US" sz="1800"/>
          </a:p>
          <a:p>
            <a:pPr eaLnBrk="1" hangingPunct="1">
              <a:spcBef>
                <a:spcPct val="0"/>
              </a:spcBef>
              <a:buClrTx/>
              <a:buSzTx/>
              <a:buFontTx/>
              <a:buNone/>
            </a:pPr>
            <a:r>
              <a:rPr lang="en-US" altLang="en-US" sz="1800"/>
              <a:t>Command - </a:t>
            </a:r>
            <a:r>
              <a:rPr lang="en-US" altLang="en-US" sz="1800">
                <a:solidFill>
                  <a:srgbClr val="3333CC"/>
                </a:solidFill>
              </a:rPr>
              <a:t>set_input_delay</a:t>
            </a:r>
            <a:endParaRPr lang="ru-RU" altLang="en-US" sz="1800">
              <a:solidFill>
                <a:srgbClr val="3333CC"/>
              </a:solidFill>
            </a:endParaRPr>
          </a:p>
        </p:txBody>
      </p:sp>
      <p:sp>
        <p:nvSpPr>
          <p:cNvPr id="148485" name="Text Box 5">
            <a:extLst>
              <a:ext uri="{FF2B5EF4-FFF2-40B4-BE49-F238E27FC236}">
                <a16:creationId xmlns:a16="http://schemas.microsoft.com/office/drawing/2014/main" id="{7213B50F-C2BC-58D9-FB39-221F9AD66BBF}"/>
              </a:ext>
            </a:extLst>
          </p:cNvPr>
          <p:cNvSpPr txBox="1">
            <a:spLocks noChangeArrowheads="1"/>
          </p:cNvSpPr>
          <p:nvPr/>
        </p:nvSpPr>
        <p:spPr bwMode="auto">
          <a:xfrm>
            <a:off x="1920875" y="4876801"/>
            <a:ext cx="68786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solidFill>
                  <a:srgbClr val="3333CC"/>
                </a:solidFill>
              </a:rPr>
              <a:t>create_clock</a:t>
            </a:r>
            <a:r>
              <a:rPr lang="en-US" altLang="en-US" sz="1800">
                <a:solidFill>
                  <a:srgbClr val="3333CC"/>
                </a:solidFill>
              </a:rPr>
              <a:t>  -period 2 [get_ports CLK]</a:t>
            </a:r>
            <a:endParaRPr lang="en-US" altLang="en-US" sz="1800" b="1">
              <a:solidFill>
                <a:srgbClr val="3333CC"/>
              </a:solidFill>
            </a:endParaRPr>
          </a:p>
          <a:p>
            <a:pPr eaLnBrk="1" hangingPunct="1">
              <a:spcBef>
                <a:spcPct val="0"/>
              </a:spcBef>
              <a:buClrTx/>
              <a:buSzTx/>
              <a:buFontTx/>
              <a:buNone/>
            </a:pPr>
            <a:r>
              <a:rPr lang="en-US" altLang="en-US" sz="1800" b="1">
                <a:solidFill>
                  <a:srgbClr val="3333CC"/>
                </a:solidFill>
              </a:rPr>
              <a:t>set_clock_uncertainty –setup  </a:t>
            </a:r>
            <a:r>
              <a:rPr lang="en-US" altLang="en-US" sz="1800">
                <a:solidFill>
                  <a:srgbClr val="3333CC"/>
                </a:solidFill>
              </a:rPr>
              <a:t>0.14   [get_clocks CLK]</a:t>
            </a:r>
            <a:endParaRPr lang="en-US" altLang="en-US" sz="1800" b="1">
              <a:solidFill>
                <a:srgbClr val="3333CC"/>
              </a:solidFill>
            </a:endParaRPr>
          </a:p>
          <a:p>
            <a:pPr eaLnBrk="1" hangingPunct="1">
              <a:spcBef>
                <a:spcPct val="0"/>
              </a:spcBef>
              <a:buClrTx/>
              <a:buSzTx/>
              <a:buFontTx/>
              <a:buNone/>
            </a:pPr>
            <a:r>
              <a:rPr lang="en-US" altLang="en-US" sz="1800" b="1">
                <a:solidFill>
                  <a:srgbClr val="3333CC"/>
                </a:solidFill>
              </a:rPr>
              <a:t>set_input_delay –max </a:t>
            </a:r>
            <a:r>
              <a:rPr lang="en-US" altLang="en-US" sz="1800">
                <a:solidFill>
                  <a:srgbClr val="3333CC"/>
                </a:solidFill>
              </a:rPr>
              <a:t>0.6</a:t>
            </a:r>
            <a:r>
              <a:rPr lang="en-US" altLang="en-US" sz="1800" b="1">
                <a:solidFill>
                  <a:srgbClr val="3333CC"/>
                </a:solidFill>
              </a:rPr>
              <a:t> –clock </a:t>
            </a:r>
            <a:r>
              <a:rPr lang="en-US" altLang="en-US" sz="1800">
                <a:solidFill>
                  <a:srgbClr val="3333CC"/>
                </a:solidFill>
              </a:rPr>
              <a:t>CLK [get_ports A]</a:t>
            </a:r>
            <a:endParaRPr lang="ru-RU" altLang="en-US" sz="1800">
              <a:solidFill>
                <a:srgbClr val="3333CC"/>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4">
            <a:extLst>
              <a:ext uri="{FF2B5EF4-FFF2-40B4-BE49-F238E27FC236}">
                <a16:creationId xmlns:a16="http://schemas.microsoft.com/office/drawing/2014/main" id="{F062880F-B839-9D2F-B4F1-BB93DA78D1C2}"/>
              </a:ext>
            </a:extLst>
          </p:cNvPr>
          <p:cNvSpPr>
            <a:spLocks noGrp="1" noChangeArrowheads="1"/>
          </p:cNvSpPr>
          <p:nvPr>
            <p:ph type="title"/>
          </p:nvPr>
        </p:nvSpPr>
        <p:spPr/>
        <p:txBody>
          <a:bodyPr/>
          <a:lstStyle/>
          <a:p>
            <a:r>
              <a:rPr lang="en-US" altLang="en-US"/>
              <a:t>Example 2</a:t>
            </a:r>
            <a:endParaRPr lang="ru-RU" altLang="en-US"/>
          </a:p>
        </p:txBody>
      </p:sp>
      <p:sp>
        <p:nvSpPr>
          <p:cNvPr id="149507" name="Text Box 7">
            <a:extLst>
              <a:ext uri="{FF2B5EF4-FFF2-40B4-BE49-F238E27FC236}">
                <a16:creationId xmlns:a16="http://schemas.microsoft.com/office/drawing/2014/main" id="{E32DC7B5-03C5-A657-207F-ACCD35198968}"/>
              </a:ext>
            </a:extLst>
          </p:cNvPr>
          <p:cNvSpPr txBox="1">
            <a:spLocks noChangeArrowheads="1"/>
          </p:cNvSpPr>
          <p:nvPr/>
        </p:nvSpPr>
        <p:spPr bwMode="auto">
          <a:xfrm>
            <a:off x="1828800" y="1447800"/>
            <a:ext cx="8382000"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30000"/>
              </a:spcBef>
              <a:buClrTx/>
              <a:buSzTx/>
              <a:buFontTx/>
              <a:buNone/>
            </a:pPr>
            <a:r>
              <a:rPr lang="en-US" altLang="en-US" sz="2000"/>
              <a:t>Given </a:t>
            </a:r>
            <a:r>
              <a:rPr lang="ru-RU" altLang="en-US" sz="2000"/>
              <a:t>T</a:t>
            </a:r>
            <a:r>
              <a:rPr lang="en-US" altLang="en-US" sz="2000"/>
              <a:t> </a:t>
            </a:r>
            <a:r>
              <a:rPr lang="ru-RU" altLang="en-US" sz="2000" baseline="-25000"/>
              <a:t>LOG_N,MAX</a:t>
            </a:r>
            <a:r>
              <a:rPr lang="ru-RU" altLang="en-US" sz="2000"/>
              <a:t> =1.2 ns. </a:t>
            </a:r>
            <a:endParaRPr lang="en-US" altLang="en-US" sz="2000"/>
          </a:p>
          <a:p>
            <a:pPr eaLnBrk="1" hangingPunct="1">
              <a:spcBef>
                <a:spcPct val="30000"/>
              </a:spcBef>
              <a:buClrTx/>
              <a:buSzTx/>
              <a:buFontTx/>
              <a:buNone/>
            </a:pPr>
            <a:r>
              <a:rPr lang="en-US" altLang="en-US" sz="2000"/>
              <a:t>P= 2,5 ns.   F= 400 MHz. </a:t>
            </a:r>
            <a:r>
              <a:rPr lang="fr-FR" altLang="en-US" sz="2000"/>
              <a:t>T</a:t>
            </a:r>
            <a:r>
              <a:rPr lang="fr-FR" altLang="en-US" sz="2000" baseline="-25000"/>
              <a:t>SETUP</a:t>
            </a:r>
            <a:r>
              <a:rPr lang="en-US" altLang="en-US" sz="2000"/>
              <a:t> = 0.1 </a:t>
            </a:r>
            <a:r>
              <a:rPr lang="fr-FR" altLang="en-US" sz="2000"/>
              <a:t>ns</a:t>
            </a:r>
            <a:r>
              <a:rPr lang="ru-RU" altLang="en-US" sz="2000"/>
              <a:t> </a:t>
            </a:r>
            <a:endParaRPr lang="en-US" altLang="en-US" sz="2000"/>
          </a:p>
          <a:p>
            <a:pPr eaLnBrk="1" hangingPunct="1">
              <a:spcBef>
                <a:spcPct val="30000"/>
              </a:spcBef>
              <a:buClrTx/>
              <a:buSzTx/>
              <a:buFontTx/>
              <a:buNone/>
            </a:pPr>
            <a:r>
              <a:rPr lang="en-US" altLang="en-US" sz="2000"/>
              <a:t>Necessary to write the time constraints so as to report DC the value of T</a:t>
            </a:r>
            <a:r>
              <a:rPr lang="en-US" altLang="en-US" sz="2000" baseline="-25000"/>
              <a:t>LOG_N,MAX.</a:t>
            </a:r>
          </a:p>
          <a:p>
            <a:pPr eaLnBrk="1" hangingPunct="1">
              <a:spcBef>
                <a:spcPct val="30000"/>
              </a:spcBef>
              <a:buClrTx/>
              <a:buSzTx/>
              <a:buFontTx/>
              <a:buNone/>
            </a:pPr>
            <a:r>
              <a:rPr lang="en-US" altLang="en-US" sz="2000"/>
              <a:t> Compute T</a:t>
            </a:r>
            <a:r>
              <a:rPr lang="en-US" altLang="en-US" sz="2000" baseline="-25000"/>
              <a:t>INPUT_DELAY</a:t>
            </a:r>
            <a:r>
              <a:rPr lang="en-US" altLang="en-US" sz="2000"/>
              <a:t> = 2,5 – 1.2 – 0.14 – 0.1 = 1.06 ns.</a:t>
            </a:r>
            <a:endParaRPr lang="ru-RU" altLang="en-US" sz="2000"/>
          </a:p>
        </p:txBody>
      </p:sp>
      <p:sp>
        <p:nvSpPr>
          <p:cNvPr id="149508" name="Text Box 8">
            <a:extLst>
              <a:ext uri="{FF2B5EF4-FFF2-40B4-BE49-F238E27FC236}">
                <a16:creationId xmlns:a16="http://schemas.microsoft.com/office/drawing/2014/main" id="{658F963A-9A5A-D742-F55F-F8F7CEEE566C}"/>
              </a:ext>
            </a:extLst>
          </p:cNvPr>
          <p:cNvSpPr txBox="1">
            <a:spLocks noChangeArrowheads="1"/>
          </p:cNvSpPr>
          <p:nvPr/>
        </p:nvSpPr>
        <p:spPr bwMode="auto">
          <a:xfrm>
            <a:off x="1828800" y="3687764"/>
            <a:ext cx="7848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b="1">
                <a:solidFill>
                  <a:srgbClr val="3333CC"/>
                </a:solidFill>
              </a:rPr>
              <a:t>create_clock</a:t>
            </a:r>
            <a:r>
              <a:rPr lang="en-US" altLang="en-US" sz="2000">
                <a:solidFill>
                  <a:srgbClr val="3333CC"/>
                </a:solidFill>
              </a:rPr>
              <a:t>  -period 2.5 [get_ports CLK]</a:t>
            </a:r>
            <a:endParaRPr lang="en-US" altLang="en-US" sz="2000" b="1">
              <a:solidFill>
                <a:srgbClr val="3333CC"/>
              </a:solidFill>
            </a:endParaRPr>
          </a:p>
          <a:p>
            <a:pPr eaLnBrk="1" hangingPunct="1">
              <a:spcBef>
                <a:spcPct val="0"/>
              </a:spcBef>
              <a:buClrTx/>
              <a:buSzTx/>
              <a:buFontTx/>
              <a:buNone/>
            </a:pPr>
            <a:r>
              <a:rPr lang="en-US" altLang="en-US" sz="2000" b="1">
                <a:solidFill>
                  <a:srgbClr val="3333CC"/>
                </a:solidFill>
              </a:rPr>
              <a:t>set_clock_uncertainty –setup  </a:t>
            </a:r>
            <a:r>
              <a:rPr lang="en-US" altLang="en-US" sz="2000">
                <a:solidFill>
                  <a:srgbClr val="3333CC"/>
                </a:solidFill>
              </a:rPr>
              <a:t>0.14   [get_clocks CLK]</a:t>
            </a:r>
            <a:endParaRPr lang="en-US" altLang="en-US" sz="2000" b="1">
              <a:solidFill>
                <a:srgbClr val="3333CC"/>
              </a:solidFill>
            </a:endParaRPr>
          </a:p>
          <a:p>
            <a:pPr eaLnBrk="1" hangingPunct="1">
              <a:spcBef>
                <a:spcPct val="0"/>
              </a:spcBef>
              <a:buClrTx/>
              <a:buSzTx/>
              <a:buFontTx/>
              <a:buNone/>
            </a:pPr>
            <a:r>
              <a:rPr lang="en-US" altLang="en-US" sz="2000" b="1">
                <a:solidFill>
                  <a:srgbClr val="3333CC"/>
                </a:solidFill>
              </a:rPr>
              <a:t>set_input_delay –max </a:t>
            </a:r>
            <a:r>
              <a:rPr lang="en-US" altLang="en-US" sz="2000">
                <a:solidFill>
                  <a:srgbClr val="3333CC"/>
                </a:solidFill>
              </a:rPr>
              <a:t>1.06</a:t>
            </a:r>
            <a:r>
              <a:rPr lang="en-US" altLang="en-US" sz="2000" b="1">
                <a:solidFill>
                  <a:srgbClr val="3333CC"/>
                </a:solidFill>
              </a:rPr>
              <a:t> –clock </a:t>
            </a:r>
            <a:r>
              <a:rPr lang="en-US" altLang="en-US" sz="2000">
                <a:solidFill>
                  <a:srgbClr val="3333CC"/>
                </a:solidFill>
              </a:rPr>
              <a:t>CLK [get_ports A]</a:t>
            </a:r>
            <a:endParaRPr lang="ru-RU" altLang="en-US" sz="2000">
              <a:solidFill>
                <a:srgbClr val="3333CC"/>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4">
            <a:extLst>
              <a:ext uri="{FF2B5EF4-FFF2-40B4-BE49-F238E27FC236}">
                <a16:creationId xmlns:a16="http://schemas.microsoft.com/office/drawing/2014/main" id="{8C53696A-2190-A40A-0A0F-9B7E3534EF3E}"/>
              </a:ext>
            </a:extLst>
          </p:cNvPr>
          <p:cNvSpPr>
            <a:spLocks noGrp="1" noChangeArrowheads="1"/>
          </p:cNvSpPr>
          <p:nvPr>
            <p:ph type="title"/>
          </p:nvPr>
        </p:nvSpPr>
        <p:spPr/>
        <p:txBody>
          <a:bodyPr/>
          <a:lstStyle/>
          <a:p>
            <a:r>
              <a:rPr lang="ru-RU" altLang="en-US"/>
              <a:t>Constraining Output Paths</a:t>
            </a:r>
          </a:p>
        </p:txBody>
      </p:sp>
      <p:grpSp>
        <p:nvGrpSpPr>
          <p:cNvPr id="150531" name="Group 62">
            <a:extLst>
              <a:ext uri="{FF2B5EF4-FFF2-40B4-BE49-F238E27FC236}">
                <a16:creationId xmlns:a16="http://schemas.microsoft.com/office/drawing/2014/main" id="{2A855F55-E66F-AD11-67C6-5FFEF806EADF}"/>
              </a:ext>
            </a:extLst>
          </p:cNvPr>
          <p:cNvGrpSpPr>
            <a:grpSpLocks/>
          </p:cNvGrpSpPr>
          <p:nvPr/>
        </p:nvGrpSpPr>
        <p:grpSpPr bwMode="auto">
          <a:xfrm>
            <a:off x="2209800" y="1143001"/>
            <a:ext cx="7315200" cy="3108325"/>
            <a:chOff x="432" y="912"/>
            <a:chExt cx="4608" cy="2304"/>
          </a:xfrm>
        </p:grpSpPr>
        <p:sp>
          <p:nvSpPr>
            <p:cNvPr id="150533" name="Text Box 6">
              <a:extLst>
                <a:ext uri="{FF2B5EF4-FFF2-40B4-BE49-F238E27FC236}">
                  <a16:creationId xmlns:a16="http://schemas.microsoft.com/office/drawing/2014/main" id="{7088BD8F-80C6-1612-4025-C2B8ECE2CFC3}"/>
                </a:ext>
              </a:extLst>
            </p:cNvPr>
            <p:cNvSpPr txBox="1">
              <a:spLocks noChangeArrowheads="1"/>
            </p:cNvSpPr>
            <p:nvPr/>
          </p:nvSpPr>
          <p:spPr bwMode="auto">
            <a:xfrm>
              <a:off x="2002" y="2893"/>
              <a:ext cx="84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CLK-to-Q</a:t>
              </a:r>
              <a:endParaRPr lang="ru-RU" altLang="en-US" sz="1600" b="1"/>
            </a:p>
          </p:txBody>
        </p:sp>
        <p:sp>
          <p:nvSpPr>
            <p:cNvPr id="150534" name="Text Box 7">
              <a:extLst>
                <a:ext uri="{FF2B5EF4-FFF2-40B4-BE49-F238E27FC236}">
                  <a16:creationId xmlns:a16="http://schemas.microsoft.com/office/drawing/2014/main" id="{956A55F7-3A35-47EF-FD89-FD6E836B86EB}"/>
                </a:ext>
              </a:extLst>
            </p:cNvPr>
            <p:cNvSpPr txBox="1">
              <a:spLocks noChangeArrowheads="1"/>
            </p:cNvSpPr>
            <p:nvPr/>
          </p:nvSpPr>
          <p:spPr bwMode="auto">
            <a:xfrm>
              <a:off x="2702" y="2903"/>
              <a:ext cx="84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LOG_S</a:t>
              </a:r>
              <a:endParaRPr lang="ru-RU" altLang="en-US" sz="1600" b="1"/>
            </a:p>
          </p:txBody>
        </p:sp>
        <p:sp>
          <p:nvSpPr>
            <p:cNvPr id="150535" name="Text Box 8">
              <a:extLst>
                <a:ext uri="{FF2B5EF4-FFF2-40B4-BE49-F238E27FC236}">
                  <a16:creationId xmlns:a16="http://schemas.microsoft.com/office/drawing/2014/main" id="{BE74ED3D-CD1E-9C9D-D173-9409501774EA}"/>
                </a:ext>
              </a:extLst>
            </p:cNvPr>
            <p:cNvSpPr txBox="1">
              <a:spLocks noChangeArrowheads="1"/>
            </p:cNvSpPr>
            <p:nvPr/>
          </p:nvSpPr>
          <p:spPr bwMode="auto">
            <a:xfrm>
              <a:off x="3628" y="2946"/>
              <a:ext cx="84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LOG_T</a:t>
              </a:r>
              <a:endParaRPr lang="ru-RU" altLang="en-US" sz="1600" b="1"/>
            </a:p>
          </p:txBody>
        </p:sp>
        <p:sp>
          <p:nvSpPr>
            <p:cNvPr id="150536" name="Rectangle 9">
              <a:extLst>
                <a:ext uri="{FF2B5EF4-FFF2-40B4-BE49-F238E27FC236}">
                  <a16:creationId xmlns:a16="http://schemas.microsoft.com/office/drawing/2014/main" id="{5E9D4E98-34AC-E80B-DCDC-A8A2DB151949}"/>
                </a:ext>
              </a:extLst>
            </p:cNvPr>
            <p:cNvSpPr>
              <a:spLocks noChangeArrowheads="1"/>
            </p:cNvSpPr>
            <p:nvPr/>
          </p:nvSpPr>
          <p:spPr bwMode="auto">
            <a:xfrm>
              <a:off x="703" y="1246"/>
              <a:ext cx="2677" cy="1516"/>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37" name="Rectangle 10">
              <a:extLst>
                <a:ext uri="{FF2B5EF4-FFF2-40B4-BE49-F238E27FC236}">
                  <a16:creationId xmlns:a16="http://schemas.microsoft.com/office/drawing/2014/main" id="{679DDB2C-861E-DF60-002C-D7BF0D879F18}"/>
                </a:ext>
              </a:extLst>
            </p:cNvPr>
            <p:cNvSpPr>
              <a:spLocks noChangeArrowheads="1"/>
            </p:cNvSpPr>
            <p:nvPr/>
          </p:nvSpPr>
          <p:spPr bwMode="auto">
            <a:xfrm>
              <a:off x="1324" y="1682"/>
              <a:ext cx="410" cy="737"/>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38" name="Rectangle 11">
              <a:extLst>
                <a:ext uri="{FF2B5EF4-FFF2-40B4-BE49-F238E27FC236}">
                  <a16:creationId xmlns:a16="http://schemas.microsoft.com/office/drawing/2014/main" id="{34880081-B21E-3F5F-C45E-BD5503575C0E}"/>
                </a:ext>
              </a:extLst>
            </p:cNvPr>
            <p:cNvSpPr>
              <a:spLocks noChangeArrowheads="1"/>
            </p:cNvSpPr>
            <p:nvPr/>
          </p:nvSpPr>
          <p:spPr bwMode="auto">
            <a:xfrm>
              <a:off x="2375" y="1671"/>
              <a:ext cx="409" cy="738"/>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39" name="Rectangle 12">
              <a:extLst>
                <a:ext uri="{FF2B5EF4-FFF2-40B4-BE49-F238E27FC236}">
                  <a16:creationId xmlns:a16="http://schemas.microsoft.com/office/drawing/2014/main" id="{53A0400D-42FF-FA90-EC8C-3E64D0D937AA}"/>
                </a:ext>
              </a:extLst>
            </p:cNvPr>
            <p:cNvSpPr>
              <a:spLocks noChangeArrowheads="1"/>
            </p:cNvSpPr>
            <p:nvPr/>
          </p:nvSpPr>
          <p:spPr bwMode="auto">
            <a:xfrm>
              <a:off x="4374" y="1660"/>
              <a:ext cx="409" cy="738"/>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40" name="Oval 13">
              <a:extLst>
                <a:ext uri="{FF2B5EF4-FFF2-40B4-BE49-F238E27FC236}">
                  <a16:creationId xmlns:a16="http://schemas.microsoft.com/office/drawing/2014/main" id="{02271070-CD6A-D267-3668-A4B33F9530CC}"/>
                </a:ext>
              </a:extLst>
            </p:cNvPr>
            <p:cNvSpPr>
              <a:spLocks noChangeArrowheads="1"/>
            </p:cNvSpPr>
            <p:nvPr/>
          </p:nvSpPr>
          <p:spPr bwMode="auto">
            <a:xfrm>
              <a:off x="816" y="1786"/>
              <a:ext cx="363" cy="240"/>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41" name="Oval 14">
              <a:extLst>
                <a:ext uri="{FF2B5EF4-FFF2-40B4-BE49-F238E27FC236}">
                  <a16:creationId xmlns:a16="http://schemas.microsoft.com/office/drawing/2014/main" id="{5B2E6ABC-8C67-B59B-7ADC-450EDEEE48A6}"/>
                </a:ext>
              </a:extLst>
            </p:cNvPr>
            <p:cNvSpPr>
              <a:spLocks noChangeArrowheads="1"/>
            </p:cNvSpPr>
            <p:nvPr/>
          </p:nvSpPr>
          <p:spPr bwMode="auto">
            <a:xfrm>
              <a:off x="1866" y="1775"/>
              <a:ext cx="363" cy="240"/>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42" name="Oval 15">
              <a:extLst>
                <a:ext uri="{FF2B5EF4-FFF2-40B4-BE49-F238E27FC236}">
                  <a16:creationId xmlns:a16="http://schemas.microsoft.com/office/drawing/2014/main" id="{8F35D2E3-EC70-A463-3F74-8DE1F551CA8E}"/>
                </a:ext>
              </a:extLst>
            </p:cNvPr>
            <p:cNvSpPr>
              <a:spLocks noChangeArrowheads="1"/>
            </p:cNvSpPr>
            <p:nvPr/>
          </p:nvSpPr>
          <p:spPr bwMode="auto">
            <a:xfrm>
              <a:off x="2928" y="1775"/>
              <a:ext cx="363" cy="240"/>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43" name="Oval 16">
              <a:extLst>
                <a:ext uri="{FF2B5EF4-FFF2-40B4-BE49-F238E27FC236}">
                  <a16:creationId xmlns:a16="http://schemas.microsoft.com/office/drawing/2014/main" id="{B479891F-62BF-223D-0681-3F844E89F80F}"/>
                </a:ext>
              </a:extLst>
            </p:cNvPr>
            <p:cNvSpPr>
              <a:spLocks noChangeArrowheads="1"/>
            </p:cNvSpPr>
            <p:nvPr/>
          </p:nvSpPr>
          <p:spPr bwMode="auto">
            <a:xfrm>
              <a:off x="3865" y="1775"/>
              <a:ext cx="363" cy="240"/>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44" name="Line 17">
              <a:extLst>
                <a:ext uri="{FF2B5EF4-FFF2-40B4-BE49-F238E27FC236}">
                  <a16:creationId xmlns:a16="http://schemas.microsoft.com/office/drawing/2014/main" id="{AE67F321-A3A9-7C0E-02EC-027D3773C33C}"/>
                </a:ext>
              </a:extLst>
            </p:cNvPr>
            <p:cNvSpPr>
              <a:spLocks noChangeShapeType="1"/>
            </p:cNvSpPr>
            <p:nvPr/>
          </p:nvSpPr>
          <p:spPr bwMode="auto">
            <a:xfrm>
              <a:off x="1189" y="1892"/>
              <a:ext cx="14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5" name="Line 18">
              <a:extLst>
                <a:ext uri="{FF2B5EF4-FFF2-40B4-BE49-F238E27FC236}">
                  <a16:creationId xmlns:a16="http://schemas.microsoft.com/office/drawing/2014/main" id="{AAD0196D-8E13-5B7F-C579-EFB47EDC5EC7}"/>
                </a:ext>
              </a:extLst>
            </p:cNvPr>
            <p:cNvSpPr>
              <a:spLocks noChangeShapeType="1"/>
            </p:cNvSpPr>
            <p:nvPr/>
          </p:nvSpPr>
          <p:spPr bwMode="auto">
            <a:xfrm>
              <a:off x="1731" y="1903"/>
              <a:ext cx="14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6" name="Line 19">
              <a:extLst>
                <a:ext uri="{FF2B5EF4-FFF2-40B4-BE49-F238E27FC236}">
                  <a16:creationId xmlns:a16="http://schemas.microsoft.com/office/drawing/2014/main" id="{27CE6664-9959-6404-A1A3-DD5238D25EE3}"/>
                </a:ext>
              </a:extLst>
            </p:cNvPr>
            <p:cNvSpPr>
              <a:spLocks noChangeShapeType="1"/>
            </p:cNvSpPr>
            <p:nvPr/>
          </p:nvSpPr>
          <p:spPr bwMode="auto">
            <a:xfrm>
              <a:off x="2239" y="1892"/>
              <a:ext cx="14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7" name="Line 20">
              <a:extLst>
                <a:ext uri="{FF2B5EF4-FFF2-40B4-BE49-F238E27FC236}">
                  <a16:creationId xmlns:a16="http://schemas.microsoft.com/office/drawing/2014/main" id="{E17D8154-ABC1-33F0-0A64-6185FBE225E2}"/>
                </a:ext>
              </a:extLst>
            </p:cNvPr>
            <p:cNvSpPr>
              <a:spLocks noChangeShapeType="1"/>
            </p:cNvSpPr>
            <p:nvPr/>
          </p:nvSpPr>
          <p:spPr bwMode="auto">
            <a:xfrm>
              <a:off x="2792" y="1892"/>
              <a:ext cx="14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8" name="Line 21">
              <a:extLst>
                <a:ext uri="{FF2B5EF4-FFF2-40B4-BE49-F238E27FC236}">
                  <a16:creationId xmlns:a16="http://schemas.microsoft.com/office/drawing/2014/main" id="{1B90CA54-F684-479B-2080-A9CC1D5369D1}"/>
                </a:ext>
              </a:extLst>
            </p:cNvPr>
            <p:cNvSpPr>
              <a:spLocks noChangeShapeType="1"/>
            </p:cNvSpPr>
            <p:nvPr/>
          </p:nvSpPr>
          <p:spPr bwMode="auto">
            <a:xfrm>
              <a:off x="3673" y="1892"/>
              <a:ext cx="16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9" name="Line 22">
              <a:extLst>
                <a:ext uri="{FF2B5EF4-FFF2-40B4-BE49-F238E27FC236}">
                  <a16:creationId xmlns:a16="http://schemas.microsoft.com/office/drawing/2014/main" id="{4BAB7F8E-F97B-CDF6-4BFD-7B6E48EF476E}"/>
                </a:ext>
              </a:extLst>
            </p:cNvPr>
            <p:cNvSpPr>
              <a:spLocks noChangeShapeType="1"/>
            </p:cNvSpPr>
            <p:nvPr/>
          </p:nvSpPr>
          <p:spPr bwMode="auto">
            <a:xfrm>
              <a:off x="4238" y="1892"/>
              <a:ext cx="14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50" name="Line 23">
              <a:extLst>
                <a:ext uri="{FF2B5EF4-FFF2-40B4-BE49-F238E27FC236}">
                  <a16:creationId xmlns:a16="http://schemas.microsoft.com/office/drawing/2014/main" id="{8310B4DC-D610-8DC4-B8DB-A97F8FA11E01}"/>
                </a:ext>
              </a:extLst>
            </p:cNvPr>
            <p:cNvSpPr>
              <a:spLocks noChangeShapeType="1"/>
            </p:cNvSpPr>
            <p:nvPr/>
          </p:nvSpPr>
          <p:spPr bwMode="auto">
            <a:xfrm>
              <a:off x="4780" y="1881"/>
              <a:ext cx="2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51" name="Freeform 24">
              <a:extLst>
                <a:ext uri="{FF2B5EF4-FFF2-40B4-BE49-F238E27FC236}">
                  <a16:creationId xmlns:a16="http://schemas.microsoft.com/office/drawing/2014/main" id="{6A90A980-9F63-C034-F3A2-2C7A9C021329}"/>
                </a:ext>
              </a:extLst>
            </p:cNvPr>
            <p:cNvSpPr>
              <a:spLocks/>
            </p:cNvSpPr>
            <p:nvPr/>
          </p:nvSpPr>
          <p:spPr bwMode="auto">
            <a:xfrm>
              <a:off x="1329" y="2154"/>
              <a:ext cx="110" cy="106"/>
            </a:xfrm>
            <a:custGeom>
              <a:avLst/>
              <a:gdLst>
                <a:gd name="T0" fmla="*/ 0 w 129"/>
                <a:gd name="T1" fmla="*/ 26 h 133"/>
                <a:gd name="T2" fmla="*/ 42 w 129"/>
                <a:gd name="T3" fmla="*/ 1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552" name="Freeform 25">
              <a:extLst>
                <a:ext uri="{FF2B5EF4-FFF2-40B4-BE49-F238E27FC236}">
                  <a16:creationId xmlns:a16="http://schemas.microsoft.com/office/drawing/2014/main" id="{3704D7A9-CE64-DD90-4DB0-D9A7F22E1481}"/>
                </a:ext>
              </a:extLst>
            </p:cNvPr>
            <p:cNvSpPr>
              <a:spLocks/>
            </p:cNvSpPr>
            <p:nvPr/>
          </p:nvSpPr>
          <p:spPr bwMode="auto">
            <a:xfrm>
              <a:off x="2379" y="2176"/>
              <a:ext cx="90" cy="85"/>
            </a:xfrm>
            <a:custGeom>
              <a:avLst/>
              <a:gdLst>
                <a:gd name="T0" fmla="*/ 0 w 129"/>
                <a:gd name="T1" fmla="*/ 6 h 133"/>
                <a:gd name="T2" fmla="*/ 1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553" name="Freeform 26">
              <a:extLst>
                <a:ext uri="{FF2B5EF4-FFF2-40B4-BE49-F238E27FC236}">
                  <a16:creationId xmlns:a16="http://schemas.microsoft.com/office/drawing/2014/main" id="{3BFA178E-7124-3A28-56F8-965028C803E5}"/>
                </a:ext>
              </a:extLst>
            </p:cNvPr>
            <p:cNvSpPr>
              <a:spLocks/>
            </p:cNvSpPr>
            <p:nvPr/>
          </p:nvSpPr>
          <p:spPr bwMode="auto">
            <a:xfrm>
              <a:off x="4378" y="2165"/>
              <a:ext cx="90" cy="86"/>
            </a:xfrm>
            <a:custGeom>
              <a:avLst/>
              <a:gdLst>
                <a:gd name="T0" fmla="*/ 0 w 129"/>
                <a:gd name="T1" fmla="*/ 6 h 133"/>
                <a:gd name="T2" fmla="*/ 1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554" name="Line 27">
              <a:extLst>
                <a:ext uri="{FF2B5EF4-FFF2-40B4-BE49-F238E27FC236}">
                  <a16:creationId xmlns:a16="http://schemas.microsoft.com/office/drawing/2014/main" id="{82A0CCC2-1206-9F7E-98F4-F8892A4992A0}"/>
                </a:ext>
              </a:extLst>
            </p:cNvPr>
            <p:cNvSpPr>
              <a:spLocks noChangeShapeType="1"/>
            </p:cNvSpPr>
            <p:nvPr/>
          </p:nvSpPr>
          <p:spPr bwMode="auto">
            <a:xfrm>
              <a:off x="1107" y="2193"/>
              <a:ext cx="0" cy="388"/>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0555" name="Line 28">
              <a:extLst>
                <a:ext uri="{FF2B5EF4-FFF2-40B4-BE49-F238E27FC236}">
                  <a16:creationId xmlns:a16="http://schemas.microsoft.com/office/drawing/2014/main" id="{D6484721-B532-75B4-C47D-5060789ED981}"/>
                </a:ext>
              </a:extLst>
            </p:cNvPr>
            <p:cNvSpPr>
              <a:spLocks noChangeShapeType="1"/>
            </p:cNvSpPr>
            <p:nvPr/>
          </p:nvSpPr>
          <p:spPr bwMode="auto">
            <a:xfrm>
              <a:off x="1098" y="2193"/>
              <a:ext cx="2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56" name="Line 29">
              <a:extLst>
                <a:ext uri="{FF2B5EF4-FFF2-40B4-BE49-F238E27FC236}">
                  <a16:creationId xmlns:a16="http://schemas.microsoft.com/office/drawing/2014/main" id="{178E62F2-6F88-215A-8F02-068D82B298C5}"/>
                </a:ext>
              </a:extLst>
            </p:cNvPr>
            <p:cNvSpPr>
              <a:spLocks noChangeShapeType="1"/>
            </p:cNvSpPr>
            <p:nvPr/>
          </p:nvSpPr>
          <p:spPr bwMode="auto">
            <a:xfrm>
              <a:off x="2146" y="2215"/>
              <a:ext cx="0" cy="378"/>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0557" name="Line 30">
              <a:extLst>
                <a:ext uri="{FF2B5EF4-FFF2-40B4-BE49-F238E27FC236}">
                  <a16:creationId xmlns:a16="http://schemas.microsoft.com/office/drawing/2014/main" id="{AC6C6B8A-F498-3644-2CE8-C9ACF5C174DD}"/>
                </a:ext>
              </a:extLst>
            </p:cNvPr>
            <p:cNvSpPr>
              <a:spLocks noChangeShapeType="1"/>
            </p:cNvSpPr>
            <p:nvPr/>
          </p:nvSpPr>
          <p:spPr bwMode="auto">
            <a:xfrm>
              <a:off x="2160" y="2215"/>
              <a:ext cx="2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58" name="Line 31">
              <a:extLst>
                <a:ext uri="{FF2B5EF4-FFF2-40B4-BE49-F238E27FC236}">
                  <a16:creationId xmlns:a16="http://schemas.microsoft.com/office/drawing/2014/main" id="{EE8200F3-46E5-AB6F-E8E0-563D4DAEE116}"/>
                </a:ext>
              </a:extLst>
            </p:cNvPr>
            <p:cNvSpPr>
              <a:spLocks noChangeShapeType="1"/>
            </p:cNvSpPr>
            <p:nvPr/>
          </p:nvSpPr>
          <p:spPr bwMode="auto">
            <a:xfrm>
              <a:off x="4155" y="2204"/>
              <a:ext cx="0" cy="395"/>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50559" name="Line 32">
              <a:extLst>
                <a:ext uri="{FF2B5EF4-FFF2-40B4-BE49-F238E27FC236}">
                  <a16:creationId xmlns:a16="http://schemas.microsoft.com/office/drawing/2014/main" id="{2D0E98F0-FD95-C0B8-0D6C-633640D9A999}"/>
                </a:ext>
              </a:extLst>
            </p:cNvPr>
            <p:cNvSpPr>
              <a:spLocks noChangeShapeType="1"/>
            </p:cNvSpPr>
            <p:nvPr/>
          </p:nvSpPr>
          <p:spPr bwMode="auto">
            <a:xfrm>
              <a:off x="4159" y="2204"/>
              <a:ext cx="2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60" name="Text Box 33">
              <a:extLst>
                <a:ext uri="{FF2B5EF4-FFF2-40B4-BE49-F238E27FC236}">
                  <a16:creationId xmlns:a16="http://schemas.microsoft.com/office/drawing/2014/main" id="{423CD736-015B-E580-5E76-782AAFCFE276}"/>
                </a:ext>
              </a:extLst>
            </p:cNvPr>
            <p:cNvSpPr txBox="1">
              <a:spLocks noChangeArrowheads="1"/>
            </p:cNvSpPr>
            <p:nvPr/>
          </p:nvSpPr>
          <p:spPr bwMode="auto">
            <a:xfrm>
              <a:off x="703" y="1305"/>
              <a:ext cx="180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Design</a:t>
              </a:r>
              <a:endParaRPr lang="ru-RU" altLang="en-US" sz="1600" b="1"/>
            </a:p>
          </p:txBody>
        </p:sp>
        <p:sp>
          <p:nvSpPr>
            <p:cNvPr id="150561" name="Line 34">
              <a:extLst>
                <a:ext uri="{FF2B5EF4-FFF2-40B4-BE49-F238E27FC236}">
                  <a16:creationId xmlns:a16="http://schemas.microsoft.com/office/drawing/2014/main" id="{C18B26EF-24DE-AA63-8132-1442C7495DF2}"/>
                </a:ext>
              </a:extLst>
            </p:cNvPr>
            <p:cNvSpPr>
              <a:spLocks noChangeShapeType="1"/>
            </p:cNvSpPr>
            <p:nvPr/>
          </p:nvSpPr>
          <p:spPr bwMode="auto">
            <a:xfrm flipV="1">
              <a:off x="3798" y="1246"/>
              <a:ext cx="0" cy="148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0562" name="Line 35">
              <a:extLst>
                <a:ext uri="{FF2B5EF4-FFF2-40B4-BE49-F238E27FC236}">
                  <a16:creationId xmlns:a16="http://schemas.microsoft.com/office/drawing/2014/main" id="{748F588A-8A81-CA6D-05D4-AEBCFFFF6120}"/>
                </a:ext>
              </a:extLst>
            </p:cNvPr>
            <p:cNvSpPr>
              <a:spLocks noChangeShapeType="1"/>
            </p:cNvSpPr>
            <p:nvPr/>
          </p:nvSpPr>
          <p:spPr bwMode="auto">
            <a:xfrm>
              <a:off x="3820" y="1248"/>
              <a:ext cx="112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0563" name="Line 36">
              <a:extLst>
                <a:ext uri="{FF2B5EF4-FFF2-40B4-BE49-F238E27FC236}">
                  <a16:creationId xmlns:a16="http://schemas.microsoft.com/office/drawing/2014/main" id="{16E00631-A319-082A-301D-8DCEDBB99F67}"/>
                </a:ext>
              </a:extLst>
            </p:cNvPr>
            <p:cNvSpPr>
              <a:spLocks noChangeShapeType="1"/>
            </p:cNvSpPr>
            <p:nvPr/>
          </p:nvSpPr>
          <p:spPr bwMode="auto">
            <a:xfrm>
              <a:off x="3809" y="2771"/>
              <a:ext cx="112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0564" name="Text Box 37">
              <a:extLst>
                <a:ext uri="{FF2B5EF4-FFF2-40B4-BE49-F238E27FC236}">
                  <a16:creationId xmlns:a16="http://schemas.microsoft.com/office/drawing/2014/main" id="{8098BFF8-06BA-427E-B63D-7074C80DCDF8}"/>
                </a:ext>
              </a:extLst>
            </p:cNvPr>
            <p:cNvSpPr txBox="1">
              <a:spLocks noChangeArrowheads="1"/>
            </p:cNvSpPr>
            <p:nvPr/>
          </p:nvSpPr>
          <p:spPr bwMode="auto">
            <a:xfrm>
              <a:off x="1302" y="1461"/>
              <a:ext cx="61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Reg2</a:t>
              </a:r>
            </a:p>
          </p:txBody>
        </p:sp>
        <p:sp>
          <p:nvSpPr>
            <p:cNvPr id="150565" name="Text Box 38">
              <a:extLst>
                <a:ext uri="{FF2B5EF4-FFF2-40B4-BE49-F238E27FC236}">
                  <a16:creationId xmlns:a16="http://schemas.microsoft.com/office/drawing/2014/main" id="{C36F0165-3916-7D9B-A14B-AF5E37CCCF78}"/>
                </a:ext>
              </a:extLst>
            </p:cNvPr>
            <p:cNvSpPr txBox="1">
              <a:spLocks noChangeArrowheads="1"/>
            </p:cNvSpPr>
            <p:nvPr/>
          </p:nvSpPr>
          <p:spPr bwMode="auto">
            <a:xfrm>
              <a:off x="2329" y="1450"/>
              <a:ext cx="61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Reg3</a:t>
              </a:r>
            </a:p>
          </p:txBody>
        </p:sp>
        <p:sp>
          <p:nvSpPr>
            <p:cNvPr id="150566" name="Text Box 39">
              <a:extLst>
                <a:ext uri="{FF2B5EF4-FFF2-40B4-BE49-F238E27FC236}">
                  <a16:creationId xmlns:a16="http://schemas.microsoft.com/office/drawing/2014/main" id="{29A4CF06-B15B-A5D4-25E3-7AFDB8218020}"/>
                </a:ext>
              </a:extLst>
            </p:cNvPr>
            <p:cNvSpPr txBox="1">
              <a:spLocks noChangeArrowheads="1"/>
            </p:cNvSpPr>
            <p:nvPr/>
          </p:nvSpPr>
          <p:spPr bwMode="auto">
            <a:xfrm>
              <a:off x="4430" y="1450"/>
              <a:ext cx="61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Reg4</a:t>
              </a:r>
            </a:p>
          </p:txBody>
        </p:sp>
        <p:sp>
          <p:nvSpPr>
            <p:cNvPr id="150567" name="Text Box 40">
              <a:extLst>
                <a:ext uri="{FF2B5EF4-FFF2-40B4-BE49-F238E27FC236}">
                  <a16:creationId xmlns:a16="http://schemas.microsoft.com/office/drawing/2014/main" id="{D7DFC08E-2071-6739-9E9F-8C39868F6702}"/>
                </a:ext>
              </a:extLst>
            </p:cNvPr>
            <p:cNvSpPr txBox="1">
              <a:spLocks noChangeArrowheads="1"/>
            </p:cNvSpPr>
            <p:nvPr/>
          </p:nvSpPr>
          <p:spPr bwMode="auto">
            <a:xfrm>
              <a:off x="827" y="1773"/>
              <a:ext cx="41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N</a:t>
              </a:r>
            </a:p>
          </p:txBody>
        </p:sp>
        <p:sp>
          <p:nvSpPr>
            <p:cNvPr id="150568" name="Text Box 41">
              <a:extLst>
                <a:ext uri="{FF2B5EF4-FFF2-40B4-BE49-F238E27FC236}">
                  <a16:creationId xmlns:a16="http://schemas.microsoft.com/office/drawing/2014/main" id="{65C1D59D-1FF7-D4D4-5D0A-DE5EAAF51ABC}"/>
                </a:ext>
              </a:extLst>
            </p:cNvPr>
            <p:cNvSpPr txBox="1">
              <a:spLocks noChangeArrowheads="1"/>
            </p:cNvSpPr>
            <p:nvPr/>
          </p:nvSpPr>
          <p:spPr bwMode="auto">
            <a:xfrm>
              <a:off x="1878" y="1762"/>
              <a:ext cx="41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X</a:t>
              </a:r>
            </a:p>
          </p:txBody>
        </p:sp>
        <p:sp>
          <p:nvSpPr>
            <p:cNvPr id="150569" name="Text Box 42">
              <a:extLst>
                <a:ext uri="{FF2B5EF4-FFF2-40B4-BE49-F238E27FC236}">
                  <a16:creationId xmlns:a16="http://schemas.microsoft.com/office/drawing/2014/main" id="{4A8FD937-D081-3DF7-8CE6-283B82AB6C41}"/>
                </a:ext>
              </a:extLst>
            </p:cNvPr>
            <p:cNvSpPr txBox="1">
              <a:spLocks noChangeArrowheads="1"/>
            </p:cNvSpPr>
            <p:nvPr/>
          </p:nvSpPr>
          <p:spPr bwMode="auto">
            <a:xfrm>
              <a:off x="2939" y="1773"/>
              <a:ext cx="41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S</a:t>
              </a:r>
            </a:p>
          </p:txBody>
        </p:sp>
        <p:sp>
          <p:nvSpPr>
            <p:cNvPr id="150570" name="Text Box 43">
              <a:extLst>
                <a:ext uri="{FF2B5EF4-FFF2-40B4-BE49-F238E27FC236}">
                  <a16:creationId xmlns:a16="http://schemas.microsoft.com/office/drawing/2014/main" id="{9E71C4A1-5FA6-E300-F78B-888599D8A383}"/>
                </a:ext>
              </a:extLst>
            </p:cNvPr>
            <p:cNvSpPr txBox="1">
              <a:spLocks noChangeArrowheads="1"/>
            </p:cNvSpPr>
            <p:nvPr/>
          </p:nvSpPr>
          <p:spPr bwMode="auto">
            <a:xfrm>
              <a:off x="3877" y="1773"/>
              <a:ext cx="41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p>
          </p:txBody>
        </p:sp>
        <p:sp>
          <p:nvSpPr>
            <p:cNvPr id="150571" name="Line 44">
              <a:extLst>
                <a:ext uri="{FF2B5EF4-FFF2-40B4-BE49-F238E27FC236}">
                  <a16:creationId xmlns:a16="http://schemas.microsoft.com/office/drawing/2014/main" id="{08E1561E-CC42-7A3A-E876-6E464009112E}"/>
                </a:ext>
              </a:extLst>
            </p:cNvPr>
            <p:cNvSpPr>
              <a:spLocks noChangeShapeType="1"/>
            </p:cNvSpPr>
            <p:nvPr/>
          </p:nvSpPr>
          <p:spPr bwMode="auto">
            <a:xfrm flipH="1">
              <a:off x="432" y="2595"/>
              <a:ext cx="371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72" name="Line 45">
              <a:extLst>
                <a:ext uri="{FF2B5EF4-FFF2-40B4-BE49-F238E27FC236}">
                  <a16:creationId xmlns:a16="http://schemas.microsoft.com/office/drawing/2014/main" id="{749778BB-2435-2462-54B0-01E685A8BBA7}"/>
                </a:ext>
              </a:extLst>
            </p:cNvPr>
            <p:cNvSpPr>
              <a:spLocks noChangeShapeType="1"/>
            </p:cNvSpPr>
            <p:nvPr/>
          </p:nvSpPr>
          <p:spPr bwMode="auto">
            <a:xfrm>
              <a:off x="455" y="1895"/>
              <a:ext cx="3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73" name="AutoShape 46">
              <a:extLst>
                <a:ext uri="{FF2B5EF4-FFF2-40B4-BE49-F238E27FC236}">
                  <a16:creationId xmlns:a16="http://schemas.microsoft.com/office/drawing/2014/main" id="{5133B14D-6E84-0BD7-A698-D4EBF099B182}"/>
                </a:ext>
              </a:extLst>
            </p:cNvPr>
            <p:cNvSpPr>
              <a:spLocks noChangeArrowheads="1"/>
            </p:cNvSpPr>
            <p:nvPr/>
          </p:nvSpPr>
          <p:spPr bwMode="auto">
            <a:xfrm>
              <a:off x="3470" y="1850"/>
              <a:ext cx="197" cy="97"/>
            </a:xfrm>
            <a:prstGeom prst="homePlate">
              <a:avLst>
                <a:gd name="adj" fmla="val 50773"/>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0574" name="Line 47">
              <a:extLst>
                <a:ext uri="{FF2B5EF4-FFF2-40B4-BE49-F238E27FC236}">
                  <a16:creationId xmlns:a16="http://schemas.microsoft.com/office/drawing/2014/main" id="{CB9EF02A-780B-59E4-1A81-0439C04B5CEB}"/>
                </a:ext>
              </a:extLst>
            </p:cNvPr>
            <p:cNvSpPr>
              <a:spLocks noChangeShapeType="1"/>
            </p:cNvSpPr>
            <p:nvPr/>
          </p:nvSpPr>
          <p:spPr bwMode="auto">
            <a:xfrm>
              <a:off x="3289" y="1893"/>
              <a:ext cx="1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75" name="Text Box 48">
              <a:extLst>
                <a:ext uri="{FF2B5EF4-FFF2-40B4-BE49-F238E27FC236}">
                  <a16:creationId xmlns:a16="http://schemas.microsoft.com/office/drawing/2014/main" id="{858C069B-4A70-BD2F-3D7C-C26A93EFA55A}"/>
                </a:ext>
              </a:extLst>
            </p:cNvPr>
            <p:cNvSpPr txBox="1">
              <a:spLocks noChangeArrowheads="1"/>
            </p:cNvSpPr>
            <p:nvPr/>
          </p:nvSpPr>
          <p:spPr bwMode="auto">
            <a:xfrm>
              <a:off x="3380" y="1628"/>
              <a:ext cx="406"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B</a:t>
              </a:r>
            </a:p>
          </p:txBody>
        </p:sp>
        <p:sp>
          <p:nvSpPr>
            <p:cNvPr id="150576" name="Arc 49">
              <a:extLst>
                <a:ext uri="{FF2B5EF4-FFF2-40B4-BE49-F238E27FC236}">
                  <a16:creationId xmlns:a16="http://schemas.microsoft.com/office/drawing/2014/main" id="{E604AFAB-B70C-C298-D84C-48E943881BB7}"/>
                </a:ext>
              </a:extLst>
            </p:cNvPr>
            <p:cNvSpPr>
              <a:spLocks/>
            </p:cNvSpPr>
            <p:nvPr/>
          </p:nvSpPr>
          <p:spPr bwMode="auto">
            <a:xfrm flipV="1">
              <a:off x="2386" y="1874"/>
              <a:ext cx="531" cy="33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577" name="Line 50">
              <a:extLst>
                <a:ext uri="{FF2B5EF4-FFF2-40B4-BE49-F238E27FC236}">
                  <a16:creationId xmlns:a16="http://schemas.microsoft.com/office/drawing/2014/main" id="{4BA88ACF-5901-9DAC-BD60-EA11CDD47B09}"/>
                </a:ext>
              </a:extLst>
            </p:cNvPr>
            <p:cNvSpPr>
              <a:spLocks noChangeShapeType="1"/>
            </p:cNvSpPr>
            <p:nvPr/>
          </p:nvSpPr>
          <p:spPr bwMode="auto">
            <a:xfrm flipH="1">
              <a:off x="2476" y="2132"/>
              <a:ext cx="147" cy="852"/>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0578" name="Line 51">
              <a:extLst>
                <a:ext uri="{FF2B5EF4-FFF2-40B4-BE49-F238E27FC236}">
                  <a16:creationId xmlns:a16="http://schemas.microsoft.com/office/drawing/2014/main" id="{B2FB1B31-1740-FE96-AC29-9191FB31C0E8}"/>
                </a:ext>
              </a:extLst>
            </p:cNvPr>
            <p:cNvSpPr>
              <a:spLocks noChangeShapeType="1"/>
            </p:cNvSpPr>
            <p:nvPr/>
          </p:nvSpPr>
          <p:spPr bwMode="auto">
            <a:xfrm flipH="1">
              <a:off x="3018" y="2008"/>
              <a:ext cx="57" cy="992"/>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0579" name="Arc 52">
              <a:extLst>
                <a:ext uri="{FF2B5EF4-FFF2-40B4-BE49-F238E27FC236}">
                  <a16:creationId xmlns:a16="http://schemas.microsoft.com/office/drawing/2014/main" id="{7C7C2A48-13B9-DDC0-BE1A-8C50273EE129}"/>
                </a:ext>
              </a:extLst>
            </p:cNvPr>
            <p:cNvSpPr>
              <a:spLocks/>
            </p:cNvSpPr>
            <p:nvPr/>
          </p:nvSpPr>
          <p:spPr bwMode="auto">
            <a:xfrm rot="5081559" flipH="1" flipV="1">
              <a:off x="2738" y="1507"/>
              <a:ext cx="469" cy="1096"/>
            </a:xfrm>
            <a:custGeom>
              <a:avLst/>
              <a:gdLst>
                <a:gd name="T0" fmla="*/ 0 w 21600"/>
                <a:gd name="T1" fmla="*/ 0 h 30249"/>
                <a:gd name="T2" fmla="*/ 0 w 21600"/>
                <a:gd name="T3" fmla="*/ 0 h 30249"/>
                <a:gd name="T4" fmla="*/ 0 w 21600"/>
                <a:gd name="T5" fmla="*/ 0 h 30249"/>
                <a:gd name="T6" fmla="*/ 0 60000 65536"/>
                <a:gd name="T7" fmla="*/ 0 60000 65536"/>
                <a:gd name="T8" fmla="*/ 0 60000 65536"/>
                <a:gd name="T9" fmla="*/ 0 w 21600"/>
                <a:gd name="T10" fmla="*/ 0 h 30249"/>
                <a:gd name="T11" fmla="*/ 21600 w 21600"/>
                <a:gd name="T12" fmla="*/ 30249 h 30249"/>
              </a:gdLst>
              <a:ahLst/>
              <a:cxnLst>
                <a:cxn ang="T6">
                  <a:pos x="T0" y="T1"/>
                </a:cxn>
                <a:cxn ang="T7">
                  <a:pos x="T2" y="T3"/>
                </a:cxn>
                <a:cxn ang="T8">
                  <a:pos x="T4" y="T5"/>
                </a:cxn>
              </a:cxnLst>
              <a:rect l="T9" t="T10" r="T11" b="T12"/>
              <a:pathLst>
                <a:path w="21600" h="30249" fill="none" extrusionOk="0">
                  <a:moveTo>
                    <a:pt x="8370" y="0"/>
                  </a:moveTo>
                  <a:cubicBezTo>
                    <a:pt x="16386" y="3369"/>
                    <a:pt x="21600" y="11217"/>
                    <a:pt x="21600" y="19912"/>
                  </a:cubicBezTo>
                  <a:cubicBezTo>
                    <a:pt x="21600" y="23523"/>
                    <a:pt x="20694" y="27077"/>
                    <a:pt x="18965" y="30248"/>
                  </a:cubicBezTo>
                </a:path>
                <a:path w="21600" h="30249" stroke="0" extrusionOk="0">
                  <a:moveTo>
                    <a:pt x="8370" y="0"/>
                  </a:moveTo>
                  <a:cubicBezTo>
                    <a:pt x="16386" y="3369"/>
                    <a:pt x="21600" y="11217"/>
                    <a:pt x="21600" y="19912"/>
                  </a:cubicBezTo>
                  <a:cubicBezTo>
                    <a:pt x="21600" y="23523"/>
                    <a:pt x="20694" y="27077"/>
                    <a:pt x="18965" y="30248"/>
                  </a:cubicBezTo>
                  <a:lnTo>
                    <a:pt x="0" y="19912"/>
                  </a:lnTo>
                  <a:lnTo>
                    <a:pt x="8370" y="0"/>
                  </a:lnTo>
                  <a:close/>
                </a:path>
              </a:pathLst>
            </a:custGeom>
            <a:noFill/>
            <a:ln w="28575">
              <a:solidFill>
                <a:srgbClr val="3366FF"/>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580" name="Line 53">
              <a:extLst>
                <a:ext uri="{FF2B5EF4-FFF2-40B4-BE49-F238E27FC236}">
                  <a16:creationId xmlns:a16="http://schemas.microsoft.com/office/drawing/2014/main" id="{C2F8BA3E-863C-C265-0814-F33FB45D7624}"/>
                </a:ext>
              </a:extLst>
            </p:cNvPr>
            <p:cNvSpPr>
              <a:spLocks noChangeShapeType="1"/>
            </p:cNvSpPr>
            <p:nvPr/>
          </p:nvSpPr>
          <p:spPr bwMode="auto">
            <a:xfrm flipH="1">
              <a:off x="3967" y="2008"/>
              <a:ext cx="57" cy="992"/>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0581" name="Arc 54">
              <a:extLst>
                <a:ext uri="{FF2B5EF4-FFF2-40B4-BE49-F238E27FC236}">
                  <a16:creationId xmlns:a16="http://schemas.microsoft.com/office/drawing/2014/main" id="{9705E0DB-F866-3A47-6675-8EA5F0F05E4E}"/>
                </a:ext>
              </a:extLst>
            </p:cNvPr>
            <p:cNvSpPr>
              <a:spLocks/>
            </p:cNvSpPr>
            <p:nvPr/>
          </p:nvSpPr>
          <p:spPr bwMode="auto">
            <a:xfrm rot="1735372" flipH="1" flipV="1">
              <a:off x="4260" y="1909"/>
              <a:ext cx="299" cy="326"/>
            </a:xfrm>
            <a:custGeom>
              <a:avLst/>
              <a:gdLst>
                <a:gd name="T0" fmla="*/ 0 w 21600"/>
                <a:gd name="T1" fmla="*/ 0 h 23366"/>
                <a:gd name="T2" fmla="*/ 0 w 21600"/>
                <a:gd name="T3" fmla="*/ 0 h 23366"/>
                <a:gd name="T4" fmla="*/ 0 w 21600"/>
                <a:gd name="T5" fmla="*/ 0 h 23366"/>
                <a:gd name="T6" fmla="*/ 0 60000 65536"/>
                <a:gd name="T7" fmla="*/ 0 60000 65536"/>
                <a:gd name="T8" fmla="*/ 0 60000 65536"/>
                <a:gd name="T9" fmla="*/ 0 w 21600"/>
                <a:gd name="T10" fmla="*/ 0 h 23366"/>
                <a:gd name="T11" fmla="*/ 21600 w 21600"/>
                <a:gd name="T12" fmla="*/ 23366 h 23366"/>
              </a:gdLst>
              <a:ahLst/>
              <a:cxnLst>
                <a:cxn ang="T6">
                  <a:pos x="T0" y="T1"/>
                </a:cxn>
                <a:cxn ang="T7">
                  <a:pos x="T2" y="T3"/>
                </a:cxn>
                <a:cxn ang="T8">
                  <a:pos x="T4" y="T5"/>
                </a:cxn>
              </a:cxnLst>
              <a:rect l="T9" t="T10" r="T11" b="T12"/>
              <a:pathLst>
                <a:path w="21600" h="23366" fill="none" extrusionOk="0">
                  <a:moveTo>
                    <a:pt x="8659" y="0"/>
                  </a:moveTo>
                  <a:cubicBezTo>
                    <a:pt x="16520" y="3440"/>
                    <a:pt x="21600" y="11207"/>
                    <a:pt x="21600" y="19788"/>
                  </a:cubicBezTo>
                  <a:cubicBezTo>
                    <a:pt x="21600" y="20986"/>
                    <a:pt x="21500" y="22183"/>
                    <a:pt x="21301" y="23365"/>
                  </a:cubicBezTo>
                </a:path>
                <a:path w="21600" h="23366" stroke="0" extrusionOk="0">
                  <a:moveTo>
                    <a:pt x="8659" y="0"/>
                  </a:moveTo>
                  <a:cubicBezTo>
                    <a:pt x="16520" y="3440"/>
                    <a:pt x="21600" y="11207"/>
                    <a:pt x="21600" y="19788"/>
                  </a:cubicBezTo>
                  <a:cubicBezTo>
                    <a:pt x="21600" y="20986"/>
                    <a:pt x="21500" y="22183"/>
                    <a:pt x="21301" y="23365"/>
                  </a:cubicBezTo>
                  <a:lnTo>
                    <a:pt x="0" y="19788"/>
                  </a:lnTo>
                  <a:lnTo>
                    <a:pt x="8659" y="0"/>
                  </a:lnTo>
                  <a:close/>
                </a:path>
              </a:pathLst>
            </a:custGeom>
            <a:noFill/>
            <a:ln w="222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582" name="Line 55">
              <a:extLst>
                <a:ext uri="{FF2B5EF4-FFF2-40B4-BE49-F238E27FC236}">
                  <a16:creationId xmlns:a16="http://schemas.microsoft.com/office/drawing/2014/main" id="{A2CBF308-D587-B2BC-0043-08518A0C5CE7}"/>
                </a:ext>
              </a:extLst>
            </p:cNvPr>
            <p:cNvSpPr>
              <a:spLocks noChangeShapeType="1"/>
            </p:cNvSpPr>
            <p:nvPr/>
          </p:nvSpPr>
          <p:spPr bwMode="auto">
            <a:xfrm flipH="1" flipV="1">
              <a:off x="3617" y="1159"/>
              <a:ext cx="294" cy="560"/>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0583" name="Text Box 56">
              <a:extLst>
                <a:ext uri="{FF2B5EF4-FFF2-40B4-BE49-F238E27FC236}">
                  <a16:creationId xmlns:a16="http://schemas.microsoft.com/office/drawing/2014/main" id="{FC45AB04-C3AB-04B5-1ECA-D6D851B0D198}"/>
                </a:ext>
              </a:extLst>
            </p:cNvPr>
            <p:cNvSpPr txBox="1">
              <a:spLocks noChangeArrowheads="1"/>
            </p:cNvSpPr>
            <p:nvPr/>
          </p:nvSpPr>
          <p:spPr bwMode="auto">
            <a:xfrm>
              <a:off x="3210" y="912"/>
              <a:ext cx="163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OUTPUT_DELAY,MAX</a:t>
              </a:r>
              <a:r>
                <a:rPr lang="ru-RU" altLang="en-US" sz="1600" b="1"/>
                <a:t>=0.8</a:t>
              </a:r>
            </a:p>
          </p:txBody>
        </p:sp>
        <p:sp>
          <p:nvSpPr>
            <p:cNvPr id="150584" name="Line 57">
              <a:extLst>
                <a:ext uri="{FF2B5EF4-FFF2-40B4-BE49-F238E27FC236}">
                  <a16:creationId xmlns:a16="http://schemas.microsoft.com/office/drawing/2014/main" id="{DADC127F-71C6-1621-F8E4-10B6EF15262A}"/>
                </a:ext>
              </a:extLst>
            </p:cNvPr>
            <p:cNvSpPr>
              <a:spLocks noChangeShapeType="1"/>
            </p:cNvSpPr>
            <p:nvPr/>
          </p:nvSpPr>
          <p:spPr bwMode="auto">
            <a:xfrm flipH="1" flipV="1">
              <a:off x="2691" y="1165"/>
              <a:ext cx="192" cy="672"/>
            </a:xfrm>
            <a:prstGeom prst="line">
              <a:avLst/>
            </a:prstGeom>
            <a:noFill/>
            <a:ln w="222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0585" name="Text Box 58">
              <a:extLst>
                <a:ext uri="{FF2B5EF4-FFF2-40B4-BE49-F238E27FC236}">
                  <a16:creationId xmlns:a16="http://schemas.microsoft.com/office/drawing/2014/main" id="{3AFC0372-A92A-ED0E-8663-C41609CA5DAE}"/>
                </a:ext>
              </a:extLst>
            </p:cNvPr>
            <p:cNvSpPr txBox="1">
              <a:spLocks noChangeArrowheads="1"/>
            </p:cNvSpPr>
            <p:nvPr/>
          </p:nvSpPr>
          <p:spPr bwMode="auto">
            <a:xfrm>
              <a:off x="2002" y="912"/>
              <a:ext cx="1197"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OUTPUT_LOGIC</a:t>
              </a:r>
              <a:r>
                <a:rPr lang="ru-RU" altLang="en-US" sz="1600" b="1"/>
                <a:t>=?</a:t>
              </a:r>
            </a:p>
          </p:txBody>
        </p:sp>
        <p:sp>
          <p:nvSpPr>
            <p:cNvPr id="150586" name="Arc 59">
              <a:extLst>
                <a:ext uri="{FF2B5EF4-FFF2-40B4-BE49-F238E27FC236}">
                  <a16:creationId xmlns:a16="http://schemas.microsoft.com/office/drawing/2014/main" id="{60C7D197-B7CC-74BD-2733-6DE20BF491A2}"/>
                </a:ext>
              </a:extLst>
            </p:cNvPr>
            <p:cNvSpPr>
              <a:spLocks/>
            </p:cNvSpPr>
            <p:nvPr/>
          </p:nvSpPr>
          <p:spPr bwMode="auto">
            <a:xfrm rot="-3109792">
              <a:off x="3782" y="1618"/>
              <a:ext cx="467" cy="564"/>
            </a:xfrm>
            <a:custGeom>
              <a:avLst/>
              <a:gdLst>
                <a:gd name="T0" fmla="*/ 0 w 26970"/>
                <a:gd name="T1" fmla="*/ 0 h 27020"/>
                <a:gd name="T2" fmla="*/ 0 w 26970"/>
                <a:gd name="T3" fmla="*/ 0 h 27020"/>
                <a:gd name="T4" fmla="*/ 0 w 26970"/>
                <a:gd name="T5" fmla="*/ 0 h 27020"/>
                <a:gd name="T6" fmla="*/ 0 60000 65536"/>
                <a:gd name="T7" fmla="*/ 0 60000 65536"/>
                <a:gd name="T8" fmla="*/ 0 60000 65536"/>
                <a:gd name="T9" fmla="*/ 0 w 26970"/>
                <a:gd name="T10" fmla="*/ 0 h 27020"/>
                <a:gd name="T11" fmla="*/ 26970 w 26970"/>
                <a:gd name="T12" fmla="*/ 27020 h 27020"/>
              </a:gdLst>
              <a:ahLst/>
              <a:cxnLst>
                <a:cxn ang="T6">
                  <a:pos x="T0" y="T1"/>
                </a:cxn>
                <a:cxn ang="T7">
                  <a:pos x="T2" y="T3"/>
                </a:cxn>
                <a:cxn ang="T8">
                  <a:pos x="T4" y="T5"/>
                </a:cxn>
              </a:cxnLst>
              <a:rect l="T9" t="T10" r="T11" b="T12"/>
              <a:pathLst>
                <a:path w="26970" h="27020" fill="none" extrusionOk="0">
                  <a:moveTo>
                    <a:pt x="0" y="678"/>
                  </a:moveTo>
                  <a:cubicBezTo>
                    <a:pt x="1754" y="227"/>
                    <a:pt x="3558" y="-1"/>
                    <a:pt x="5370" y="0"/>
                  </a:cubicBezTo>
                  <a:cubicBezTo>
                    <a:pt x="17299" y="0"/>
                    <a:pt x="26970" y="9670"/>
                    <a:pt x="26970" y="21600"/>
                  </a:cubicBezTo>
                  <a:cubicBezTo>
                    <a:pt x="26970" y="23428"/>
                    <a:pt x="26737" y="25249"/>
                    <a:pt x="26278" y="27019"/>
                  </a:cubicBezTo>
                </a:path>
                <a:path w="26970" h="27020" stroke="0" extrusionOk="0">
                  <a:moveTo>
                    <a:pt x="0" y="678"/>
                  </a:moveTo>
                  <a:cubicBezTo>
                    <a:pt x="1754" y="227"/>
                    <a:pt x="3558" y="-1"/>
                    <a:pt x="5370" y="0"/>
                  </a:cubicBezTo>
                  <a:cubicBezTo>
                    <a:pt x="17299" y="0"/>
                    <a:pt x="26970" y="9670"/>
                    <a:pt x="26970" y="21600"/>
                  </a:cubicBezTo>
                  <a:cubicBezTo>
                    <a:pt x="26970" y="23428"/>
                    <a:pt x="26737" y="25249"/>
                    <a:pt x="26278" y="27019"/>
                  </a:cubicBezTo>
                  <a:lnTo>
                    <a:pt x="5370" y="21600"/>
                  </a:lnTo>
                  <a:lnTo>
                    <a:pt x="0" y="678"/>
                  </a:lnTo>
                  <a:close/>
                </a:path>
              </a:pathLst>
            </a:custGeom>
            <a:noFill/>
            <a:ln w="22225">
              <a:solidFill>
                <a:srgbClr val="CC66FF"/>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587" name="Text Box 60">
              <a:extLst>
                <a:ext uri="{FF2B5EF4-FFF2-40B4-BE49-F238E27FC236}">
                  <a16:creationId xmlns:a16="http://schemas.microsoft.com/office/drawing/2014/main" id="{2C4578AF-B849-4CBF-EE19-8BC928C2E244}"/>
                </a:ext>
              </a:extLst>
            </p:cNvPr>
            <p:cNvSpPr txBox="1">
              <a:spLocks noChangeArrowheads="1"/>
            </p:cNvSpPr>
            <p:nvPr/>
          </p:nvSpPr>
          <p:spPr bwMode="auto">
            <a:xfrm>
              <a:off x="3752" y="1235"/>
              <a:ext cx="1119"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Т</a:t>
              </a:r>
              <a:r>
                <a:rPr lang="ru-RU" altLang="en-US" sz="1600" b="1" baseline="-25000"/>
                <a:t>SETUP</a:t>
              </a:r>
              <a:r>
                <a:rPr lang="ru-RU" altLang="en-US" sz="1600" b="1"/>
                <a:t>+T</a:t>
              </a:r>
              <a:r>
                <a:rPr lang="ru-RU" altLang="en-US" sz="1600" b="1" baseline="-25000"/>
                <a:t>LOG</a:t>
              </a:r>
              <a:r>
                <a:rPr lang="ru-RU" altLang="en-US" sz="1600" b="1"/>
                <a:t> </a:t>
              </a:r>
              <a:r>
                <a:rPr lang="ru-RU" altLang="en-US" sz="1600" b="1" baseline="-25000"/>
                <a:t>T</a:t>
              </a:r>
              <a:endParaRPr lang="ru-RU" altLang="en-US" sz="1600" b="1"/>
            </a:p>
          </p:txBody>
        </p:sp>
      </p:grpSp>
      <p:sp>
        <p:nvSpPr>
          <p:cNvPr id="150532" name="Text Box 61">
            <a:extLst>
              <a:ext uri="{FF2B5EF4-FFF2-40B4-BE49-F238E27FC236}">
                <a16:creationId xmlns:a16="http://schemas.microsoft.com/office/drawing/2014/main" id="{DDD04BA0-847A-00C6-8CD0-A1E1215D7E0A}"/>
              </a:ext>
            </a:extLst>
          </p:cNvPr>
          <p:cNvSpPr txBox="1">
            <a:spLocks noChangeArrowheads="1"/>
          </p:cNvSpPr>
          <p:nvPr/>
        </p:nvSpPr>
        <p:spPr bwMode="auto">
          <a:xfrm>
            <a:off x="2078038" y="4114800"/>
            <a:ext cx="7827962"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10000"/>
              </a:spcBef>
              <a:buClrTx/>
              <a:buSzTx/>
              <a:buFontTx/>
              <a:buNone/>
            </a:pPr>
            <a:r>
              <a:rPr lang="ru-RU" altLang="en-US" sz="1800"/>
              <a:t>Latest Data Arrival Time at Port</a:t>
            </a:r>
            <a:r>
              <a:rPr lang="en-US" altLang="en-US" sz="1800"/>
              <a:t> B - </a:t>
            </a:r>
            <a:r>
              <a:rPr lang="ru-RU" altLang="en-US" sz="1800"/>
              <a:t> </a:t>
            </a:r>
            <a:r>
              <a:rPr lang="en-US" altLang="en-US" sz="1800"/>
              <a:t>T</a:t>
            </a:r>
            <a:r>
              <a:rPr lang="en-US" altLang="en-US" sz="1800" baseline="-25000"/>
              <a:t>OUTPUT_DELAY,MAX</a:t>
            </a:r>
          </a:p>
          <a:p>
            <a:pPr eaLnBrk="1" hangingPunct="1">
              <a:spcBef>
                <a:spcPct val="10000"/>
              </a:spcBef>
              <a:buClrTx/>
              <a:buSzTx/>
              <a:buFontTx/>
              <a:buNone/>
            </a:pPr>
            <a:r>
              <a:rPr lang="en-US" altLang="en-US" sz="1800"/>
              <a:t>T</a:t>
            </a:r>
            <a:r>
              <a:rPr lang="en-US" altLang="en-US" sz="1800" baseline="-25000"/>
              <a:t>OUTPUT_DELAY,MAX</a:t>
            </a:r>
            <a:r>
              <a:rPr lang="en-US" altLang="en-US" sz="1800"/>
              <a:t> = T</a:t>
            </a:r>
            <a:r>
              <a:rPr lang="en-US" altLang="en-US" sz="1800" baseline="-25000"/>
              <a:t>LOG_T</a:t>
            </a:r>
            <a:r>
              <a:rPr lang="en-US" altLang="en-US" sz="1800"/>
              <a:t>  + T</a:t>
            </a:r>
            <a:r>
              <a:rPr lang="en-US" altLang="en-US" sz="1800" baseline="-25000"/>
              <a:t>SETUP_REG4</a:t>
            </a:r>
          </a:p>
          <a:p>
            <a:pPr eaLnBrk="1" hangingPunct="1">
              <a:spcBef>
                <a:spcPct val="10000"/>
              </a:spcBef>
              <a:buClrTx/>
              <a:buSzTx/>
              <a:buFontTx/>
              <a:buNone/>
            </a:pPr>
            <a:r>
              <a:rPr lang="en-US" altLang="en-US" sz="1800"/>
              <a:t>T</a:t>
            </a:r>
            <a:r>
              <a:rPr lang="en-US" altLang="en-US" sz="1800" baseline="-25000"/>
              <a:t>OUTPUT_LOGIC</a:t>
            </a:r>
            <a:r>
              <a:rPr lang="en-US" altLang="en-US" sz="1800"/>
              <a:t> = T</a:t>
            </a:r>
            <a:r>
              <a:rPr lang="en-US" altLang="en-US" sz="1800" baseline="-25000"/>
              <a:t>CLK-to-Q</a:t>
            </a:r>
            <a:r>
              <a:rPr lang="en-US" altLang="en-US" sz="1800"/>
              <a:t> + T</a:t>
            </a:r>
            <a:r>
              <a:rPr lang="en-US" altLang="en-US" sz="1800" baseline="-25000"/>
              <a:t>LOG_S</a:t>
            </a:r>
            <a:r>
              <a:rPr lang="en-US" altLang="en-US" sz="1800"/>
              <a:t>,</a:t>
            </a:r>
            <a:r>
              <a:rPr lang="ru-RU" altLang="en-US" sz="1800"/>
              <a:t> </a:t>
            </a:r>
            <a:r>
              <a:rPr lang="ru-RU" altLang="en-US" sz="1800" baseline="-25000"/>
              <a:t> </a:t>
            </a:r>
            <a:endParaRPr lang="en-US" altLang="en-US" sz="1800" baseline="-25000"/>
          </a:p>
          <a:p>
            <a:pPr eaLnBrk="1" hangingPunct="1">
              <a:spcBef>
                <a:spcPct val="10000"/>
              </a:spcBef>
              <a:buClrTx/>
              <a:buSzTx/>
              <a:buFontTx/>
              <a:buNone/>
            </a:pPr>
            <a:r>
              <a:rPr lang="fr-FR" altLang="en-US" sz="1800"/>
              <a:t>T</a:t>
            </a:r>
            <a:r>
              <a:rPr lang="fr-FR" altLang="en-US" sz="1800" baseline="-25000"/>
              <a:t>OUTPUT_LOGIC</a:t>
            </a:r>
            <a:r>
              <a:rPr lang="fr-FR" altLang="en-US" sz="1800"/>
              <a:t>  + T</a:t>
            </a:r>
            <a:r>
              <a:rPr lang="fr-FR" altLang="en-US" sz="1800" baseline="-25000"/>
              <a:t>OUTPUT_DELAY,MAX</a:t>
            </a:r>
            <a:r>
              <a:rPr lang="fr-FR" altLang="en-US" sz="1800"/>
              <a:t>  + T</a:t>
            </a:r>
            <a:r>
              <a:rPr lang="fr-FR" altLang="en-US" sz="1800" baseline="-25000"/>
              <a:t>U</a:t>
            </a:r>
            <a:r>
              <a:rPr lang="fr-FR" altLang="en-US" sz="1800"/>
              <a:t>  </a:t>
            </a:r>
            <a:r>
              <a:rPr lang="ru-RU" altLang="en-US" sz="1800">
                <a:sym typeface="Symbol" panose="05050102010706020507" pitchFamily="18" charset="2"/>
              </a:rPr>
              <a:t></a:t>
            </a:r>
            <a:r>
              <a:rPr lang="fr-FR" altLang="en-US" sz="1800"/>
              <a:t> P</a:t>
            </a:r>
          </a:p>
          <a:p>
            <a:pPr eaLnBrk="1" hangingPunct="1">
              <a:spcBef>
                <a:spcPct val="10000"/>
              </a:spcBef>
              <a:buClrTx/>
              <a:buSzTx/>
              <a:buFontTx/>
              <a:buNone/>
            </a:pPr>
            <a:r>
              <a:rPr lang="en-US" altLang="en-US" sz="1800" b="1"/>
              <a:t>  Command -  </a:t>
            </a:r>
            <a:r>
              <a:rPr lang="ru-RU" altLang="en-US" sz="1800" b="1">
                <a:solidFill>
                  <a:srgbClr val="3333CC"/>
                </a:solidFill>
              </a:rPr>
              <a:t>set_output_delay</a:t>
            </a:r>
            <a:r>
              <a:rPr lang="fr-FR" altLang="en-US" sz="1800">
                <a:solidFill>
                  <a:srgbClr val="3333CC"/>
                </a:solidFill>
              </a:rPr>
              <a:t> </a:t>
            </a:r>
            <a:endParaRPr lang="ru-RU" altLang="en-US" sz="1800">
              <a:solidFill>
                <a:srgbClr val="3333CC"/>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4">
            <a:extLst>
              <a:ext uri="{FF2B5EF4-FFF2-40B4-BE49-F238E27FC236}">
                <a16:creationId xmlns:a16="http://schemas.microsoft.com/office/drawing/2014/main" id="{D185DEE6-A3CE-3CE0-EBD8-5EE31720909A}"/>
              </a:ext>
            </a:extLst>
          </p:cNvPr>
          <p:cNvSpPr>
            <a:spLocks noGrp="1" noChangeArrowheads="1"/>
          </p:cNvSpPr>
          <p:nvPr>
            <p:ph type="title"/>
          </p:nvPr>
        </p:nvSpPr>
        <p:spPr/>
        <p:txBody>
          <a:bodyPr/>
          <a:lstStyle/>
          <a:p>
            <a:r>
              <a:rPr lang="en-US" altLang="en-US"/>
              <a:t>Example 3</a:t>
            </a:r>
            <a:endParaRPr lang="ru-RU" altLang="en-US"/>
          </a:p>
        </p:txBody>
      </p:sp>
      <p:sp>
        <p:nvSpPr>
          <p:cNvPr id="151555" name="Text Box 5">
            <a:extLst>
              <a:ext uri="{FF2B5EF4-FFF2-40B4-BE49-F238E27FC236}">
                <a16:creationId xmlns:a16="http://schemas.microsoft.com/office/drawing/2014/main" id="{A817E7A2-2E5A-4DDB-62C1-2D43F6260452}"/>
              </a:ext>
            </a:extLst>
          </p:cNvPr>
          <p:cNvSpPr txBox="1">
            <a:spLocks noChangeArrowheads="1"/>
          </p:cNvSpPr>
          <p:nvPr/>
        </p:nvSpPr>
        <p:spPr bwMode="auto">
          <a:xfrm>
            <a:off x="2057400" y="1676400"/>
            <a:ext cx="8377238"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30000"/>
              </a:spcBef>
              <a:buClrTx/>
              <a:buSzTx/>
              <a:buFontTx/>
              <a:buNone/>
            </a:pPr>
            <a:r>
              <a:rPr lang="en-US" altLang="en-US" sz="1800"/>
              <a:t>For given    T</a:t>
            </a:r>
            <a:r>
              <a:rPr lang="en-US" altLang="en-US" sz="1800" baseline="-25000"/>
              <a:t>SETUP_ REG4</a:t>
            </a:r>
            <a:r>
              <a:rPr lang="en-US" altLang="en-US" sz="1800"/>
              <a:t> =0,1. P=2 ns, T</a:t>
            </a:r>
            <a:r>
              <a:rPr lang="en-US" altLang="en-US" sz="1800" baseline="-25000"/>
              <a:t>U</a:t>
            </a:r>
            <a:r>
              <a:rPr lang="en-US" altLang="en-US" sz="1800"/>
              <a:t> = 0,3.</a:t>
            </a:r>
          </a:p>
          <a:p>
            <a:pPr eaLnBrk="1" hangingPunct="1">
              <a:spcBef>
                <a:spcPct val="30000"/>
              </a:spcBef>
              <a:buClrTx/>
              <a:buSzTx/>
              <a:buFontTx/>
              <a:buNone/>
            </a:pPr>
            <a:r>
              <a:rPr lang="en-US" altLang="en-US" sz="1800"/>
              <a:t>T</a:t>
            </a:r>
            <a:r>
              <a:rPr lang="en-US" altLang="en-US" sz="1800" baseline="-25000"/>
              <a:t>OUTPUT_DELAY_MAX</a:t>
            </a:r>
            <a:r>
              <a:rPr lang="en-US" altLang="en-US" sz="1800"/>
              <a:t> =T </a:t>
            </a:r>
            <a:r>
              <a:rPr lang="en-US" altLang="en-US" sz="1800" baseline="-25000"/>
              <a:t>SETUP REG4</a:t>
            </a:r>
            <a:r>
              <a:rPr lang="en-US" altLang="en-US" sz="1800"/>
              <a:t> + T</a:t>
            </a:r>
            <a:r>
              <a:rPr lang="en-US" altLang="en-US" sz="1800" baseline="-25000"/>
              <a:t>LOG_T</a:t>
            </a:r>
            <a:r>
              <a:rPr lang="en-US" altLang="en-US" sz="1800"/>
              <a:t> = 0,1 +0,7 = 0,8.</a:t>
            </a:r>
          </a:p>
          <a:p>
            <a:pPr eaLnBrk="1" hangingPunct="1">
              <a:spcBef>
                <a:spcPct val="30000"/>
              </a:spcBef>
              <a:buClrTx/>
              <a:buSzTx/>
              <a:buFontTx/>
              <a:buNone/>
            </a:pPr>
            <a:r>
              <a:rPr lang="en-US" altLang="en-US" sz="1800"/>
              <a:t>DC calculates how much time (T</a:t>
            </a:r>
            <a:r>
              <a:rPr lang="en-US" altLang="en-US" sz="1800" baseline="-25000"/>
              <a:t>OUTPUT_LOGIC (MAX)</a:t>
            </a:r>
            <a:r>
              <a:rPr lang="en-US" altLang="en-US" sz="1800"/>
              <a:t>) is left to the internal output logic of the synthesized project.</a:t>
            </a:r>
            <a:r>
              <a:rPr lang="ru-RU" altLang="en-US" sz="1800"/>
              <a:t> </a:t>
            </a:r>
            <a:endParaRPr lang="en-US" altLang="en-US" sz="1800"/>
          </a:p>
          <a:p>
            <a:pPr eaLnBrk="1" hangingPunct="1">
              <a:spcBef>
                <a:spcPct val="30000"/>
              </a:spcBef>
              <a:buClrTx/>
              <a:buSzTx/>
              <a:buFontTx/>
              <a:buNone/>
            </a:pPr>
            <a:r>
              <a:rPr lang="fr-FR" altLang="en-US" sz="1800"/>
              <a:t>T </a:t>
            </a:r>
            <a:r>
              <a:rPr lang="fr-FR" altLang="en-US" sz="1800" baseline="-25000"/>
              <a:t>OUTPUT_LOGIC (MAX)</a:t>
            </a:r>
            <a:r>
              <a:rPr lang="fr-FR" altLang="en-US" sz="1800"/>
              <a:t>   = P - T</a:t>
            </a:r>
            <a:r>
              <a:rPr lang="fr-FR" altLang="en-US" sz="1800" baseline="-25000"/>
              <a:t>U</a:t>
            </a:r>
            <a:r>
              <a:rPr lang="fr-FR" altLang="en-US" sz="1800"/>
              <a:t>  - T </a:t>
            </a:r>
            <a:r>
              <a:rPr lang="fr-FR" altLang="en-US" sz="1800" baseline="-25000"/>
              <a:t>OUTPUT_DELAY_MAX </a:t>
            </a:r>
            <a:r>
              <a:rPr lang="fr-FR" altLang="en-US" sz="1800"/>
              <a:t>=</a:t>
            </a:r>
            <a:r>
              <a:rPr lang="ru-RU" altLang="en-US" sz="1800"/>
              <a:t> 2 - 0.3 - 0.8 = 0.9 ns.</a:t>
            </a:r>
          </a:p>
        </p:txBody>
      </p:sp>
      <p:sp>
        <p:nvSpPr>
          <p:cNvPr id="151556" name="Text Box 6">
            <a:extLst>
              <a:ext uri="{FF2B5EF4-FFF2-40B4-BE49-F238E27FC236}">
                <a16:creationId xmlns:a16="http://schemas.microsoft.com/office/drawing/2014/main" id="{B73DEE26-676F-F8A8-EDB6-30507A0A2599}"/>
              </a:ext>
            </a:extLst>
          </p:cNvPr>
          <p:cNvSpPr txBox="1">
            <a:spLocks noChangeArrowheads="1"/>
          </p:cNvSpPr>
          <p:nvPr/>
        </p:nvSpPr>
        <p:spPr bwMode="auto">
          <a:xfrm>
            <a:off x="2036763" y="3886201"/>
            <a:ext cx="7162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solidFill>
                  <a:srgbClr val="3333CC"/>
                </a:solidFill>
              </a:rPr>
              <a:t>create_clock</a:t>
            </a:r>
            <a:r>
              <a:rPr lang="en-US" altLang="en-US" sz="1800">
                <a:solidFill>
                  <a:srgbClr val="3333CC"/>
                </a:solidFill>
              </a:rPr>
              <a:t>  -period 2 [get_ports CLK]</a:t>
            </a:r>
            <a:endParaRPr lang="en-US" altLang="en-US" sz="1800" b="1">
              <a:solidFill>
                <a:srgbClr val="3333CC"/>
              </a:solidFill>
            </a:endParaRPr>
          </a:p>
          <a:p>
            <a:pPr eaLnBrk="1" hangingPunct="1">
              <a:spcBef>
                <a:spcPct val="0"/>
              </a:spcBef>
              <a:buClrTx/>
              <a:buSzTx/>
              <a:buFontTx/>
              <a:buNone/>
            </a:pPr>
            <a:r>
              <a:rPr lang="en-US" altLang="en-US" sz="1800" b="1">
                <a:solidFill>
                  <a:srgbClr val="3333CC"/>
                </a:solidFill>
              </a:rPr>
              <a:t>set_clock_uncertainty </a:t>
            </a:r>
            <a:r>
              <a:rPr lang="en-US" altLang="en-US" sz="1800">
                <a:solidFill>
                  <a:srgbClr val="3333CC"/>
                </a:solidFill>
              </a:rPr>
              <a:t>–setup </a:t>
            </a:r>
            <a:r>
              <a:rPr lang="en-US" altLang="en-US" sz="1800" b="1">
                <a:solidFill>
                  <a:srgbClr val="3333CC"/>
                </a:solidFill>
              </a:rPr>
              <a:t> </a:t>
            </a:r>
            <a:r>
              <a:rPr lang="en-US" altLang="en-US" sz="1800">
                <a:solidFill>
                  <a:srgbClr val="3333CC"/>
                </a:solidFill>
              </a:rPr>
              <a:t>0.3   [get_clocks CLK]</a:t>
            </a:r>
            <a:endParaRPr lang="en-US" altLang="en-US" sz="1800" b="1">
              <a:solidFill>
                <a:srgbClr val="3333CC"/>
              </a:solidFill>
            </a:endParaRPr>
          </a:p>
          <a:p>
            <a:pPr eaLnBrk="1" hangingPunct="1">
              <a:spcBef>
                <a:spcPct val="0"/>
              </a:spcBef>
              <a:buClrTx/>
              <a:buSzTx/>
              <a:buFontTx/>
              <a:buNone/>
            </a:pPr>
            <a:r>
              <a:rPr lang="en-US" altLang="en-US" sz="1800" b="1">
                <a:solidFill>
                  <a:srgbClr val="3333CC"/>
                </a:solidFill>
              </a:rPr>
              <a:t>set_output_delay </a:t>
            </a:r>
            <a:r>
              <a:rPr lang="en-US" altLang="en-US" sz="1800">
                <a:solidFill>
                  <a:srgbClr val="3333CC"/>
                </a:solidFill>
              </a:rPr>
              <a:t>–max</a:t>
            </a:r>
            <a:r>
              <a:rPr lang="en-US" altLang="en-US" sz="1800" b="1">
                <a:solidFill>
                  <a:srgbClr val="3333CC"/>
                </a:solidFill>
              </a:rPr>
              <a:t> </a:t>
            </a:r>
            <a:r>
              <a:rPr lang="en-US" altLang="en-US" sz="1800">
                <a:solidFill>
                  <a:srgbClr val="3333CC"/>
                </a:solidFill>
              </a:rPr>
              <a:t>0.8</a:t>
            </a:r>
            <a:r>
              <a:rPr lang="en-US" altLang="en-US" sz="1800" b="1">
                <a:solidFill>
                  <a:srgbClr val="3333CC"/>
                </a:solidFill>
              </a:rPr>
              <a:t> </a:t>
            </a:r>
            <a:r>
              <a:rPr lang="en-US" altLang="en-US" sz="1800">
                <a:solidFill>
                  <a:srgbClr val="3333CC"/>
                </a:solidFill>
              </a:rPr>
              <a:t>–clock</a:t>
            </a:r>
            <a:r>
              <a:rPr lang="en-US" altLang="en-US" sz="1800" b="1">
                <a:solidFill>
                  <a:srgbClr val="3333CC"/>
                </a:solidFill>
              </a:rPr>
              <a:t> </a:t>
            </a:r>
            <a:r>
              <a:rPr lang="en-US" altLang="en-US" sz="1800">
                <a:solidFill>
                  <a:srgbClr val="3333CC"/>
                </a:solidFill>
              </a:rPr>
              <a:t>CLK [get_ports B]</a:t>
            </a:r>
            <a:endParaRPr lang="ru-RU" altLang="en-US" sz="1800">
              <a:solidFill>
                <a:srgbClr val="3333CC"/>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4">
            <a:extLst>
              <a:ext uri="{FF2B5EF4-FFF2-40B4-BE49-F238E27FC236}">
                <a16:creationId xmlns:a16="http://schemas.microsoft.com/office/drawing/2014/main" id="{9815429E-6598-A4F1-2F72-442CD1F6268F}"/>
              </a:ext>
            </a:extLst>
          </p:cNvPr>
          <p:cNvSpPr>
            <a:spLocks noGrp="1" noChangeArrowheads="1"/>
          </p:cNvSpPr>
          <p:nvPr>
            <p:ph type="title"/>
          </p:nvPr>
        </p:nvSpPr>
        <p:spPr/>
        <p:txBody>
          <a:bodyPr/>
          <a:lstStyle/>
          <a:p>
            <a:r>
              <a:rPr lang="en-US" altLang="en-US"/>
              <a:t>Timing Diagram for Example 3 </a:t>
            </a:r>
          </a:p>
        </p:txBody>
      </p:sp>
      <p:grpSp>
        <p:nvGrpSpPr>
          <p:cNvPr id="152579" name="Group 51">
            <a:extLst>
              <a:ext uri="{FF2B5EF4-FFF2-40B4-BE49-F238E27FC236}">
                <a16:creationId xmlns:a16="http://schemas.microsoft.com/office/drawing/2014/main" id="{FECD6ABC-8664-50FC-8DB2-6C332FDB6908}"/>
              </a:ext>
            </a:extLst>
          </p:cNvPr>
          <p:cNvGrpSpPr>
            <a:grpSpLocks/>
          </p:cNvGrpSpPr>
          <p:nvPr/>
        </p:nvGrpSpPr>
        <p:grpSpPr bwMode="auto">
          <a:xfrm>
            <a:off x="2438400" y="1752600"/>
            <a:ext cx="7239000" cy="3886200"/>
            <a:chOff x="576" y="1104"/>
            <a:chExt cx="4560" cy="2448"/>
          </a:xfrm>
        </p:grpSpPr>
        <p:sp>
          <p:nvSpPr>
            <p:cNvPr id="152580" name="Text Box 6">
              <a:extLst>
                <a:ext uri="{FF2B5EF4-FFF2-40B4-BE49-F238E27FC236}">
                  <a16:creationId xmlns:a16="http://schemas.microsoft.com/office/drawing/2014/main" id="{8DC98154-07EB-311F-09DF-478F7017AB96}"/>
                </a:ext>
              </a:extLst>
            </p:cNvPr>
            <p:cNvSpPr txBox="1">
              <a:spLocks noChangeArrowheads="1"/>
            </p:cNvSpPr>
            <p:nvPr/>
          </p:nvSpPr>
          <p:spPr bwMode="auto">
            <a:xfrm>
              <a:off x="3401" y="1104"/>
              <a:ext cx="89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SETUP</a:t>
              </a:r>
              <a:r>
                <a:rPr lang="ru-RU" altLang="en-US" sz="1600" b="1"/>
                <a:t> =0.1</a:t>
              </a:r>
            </a:p>
          </p:txBody>
        </p:sp>
        <p:sp>
          <p:nvSpPr>
            <p:cNvPr id="152581" name="Line 7">
              <a:extLst>
                <a:ext uri="{FF2B5EF4-FFF2-40B4-BE49-F238E27FC236}">
                  <a16:creationId xmlns:a16="http://schemas.microsoft.com/office/drawing/2014/main" id="{1D6DB771-3FCD-E237-4857-8C8E4E4CE708}"/>
                </a:ext>
              </a:extLst>
            </p:cNvPr>
            <p:cNvSpPr>
              <a:spLocks noChangeShapeType="1"/>
            </p:cNvSpPr>
            <p:nvPr/>
          </p:nvSpPr>
          <p:spPr bwMode="auto">
            <a:xfrm>
              <a:off x="576" y="1876"/>
              <a:ext cx="5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82" name="Line 8">
              <a:extLst>
                <a:ext uri="{FF2B5EF4-FFF2-40B4-BE49-F238E27FC236}">
                  <a16:creationId xmlns:a16="http://schemas.microsoft.com/office/drawing/2014/main" id="{8985FC54-EEDC-EAD0-EEB2-4619DEE07E21}"/>
                </a:ext>
              </a:extLst>
            </p:cNvPr>
            <p:cNvSpPr>
              <a:spLocks noChangeShapeType="1"/>
            </p:cNvSpPr>
            <p:nvPr/>
          </p:nvSpPr>
          <p:spPr bwMode="auto">
            <a:xfrm flipV="1">
              <a:off x="1116" y="1469"/>
              <a:ext cx="0" cy="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83" name="Line 9">
              <a:extLst>
                <a:ext uri="{FF2B5EF4-FFF2-40B4-BE49-F238E27FC236}">
                  <a16:creationId xmlns:a16="http://schemas.microsoft.com/office/drawing/2014/main" id="{3D0D613F-14F4-00E3-1FF8-5340CC73A302}"/>
                </a:ext>
              </a:extLst>
            </p:cNvPr>
            <p:cNvSpPr>
              <a:spLocks noChangeShapeType="1"/>
            </p:cNvSpPr>
            <p:nvPr/>
          </p:nvSpPr>
          <p:spPr bwMode="auto">
            <a:xfrm flipV="1">
              <a:off x="1393" y="1459"/>
              <a:ext cx="84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84" name="Line 10">
              <a:extLst>
                <a:ext uri="{FF2B5EF4-FFF2-40B4-BE49-F238E27FC236}">
                  <a16:creationId xmlns:a16="http://schemas.microsoft.com/office/drawing/2014/main" id="{F0C466FE-2474-A859-8608-9A996AA556BF}"/>
                </a:ext>
              </a:extLst>
            </p:cNvPr>
            <p:cNvSpPr>
              <a:spLocks noChangeShapeType="1"/>
            </p:cNvSpPr>
            <p:nvPr/>
          </p:nvSpPr>
          <p:spPr bwMode="auto">
            <a:xfrm flipV="1">
              <a:off x="2232" y="1459"/>
              <a:ext cx="0" cy="40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85" name="Line 11">
              <a:extLst>
                <a:ext uri="{FF2B5EF4-FFF2-40B4-BE49-F238E27FC236}">
                  <a16:creationId xmlns:a16="http://schemas.microsoft.com/office/drawing/2014/main" id="{F7CDF268-1AED-CE51-DE87-8D9190FE9699}"/>
                </a:ext>
              </a:extLst>
            </p:cNvPr>
            <p:cNvSpPr>
              <a:spLocks noChangeShapeType="1"/>
            </p:cNvSpPr>
            <p:nvPr/>
          </p:nvSpPr>
          <p:spPr bwMode="auto">
            <a:xfrm>
              <a:off x="2232" y="1868"/>
              <a:ext cx="11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86" name="Line 12">
              <a:extLst>
                <a:ext uri="{FF2B5EF4-FFF2-40B4-BE49-F238E27FC236}">
                  <a16:creationId xmlns:a16="http://schemas.microsoft.com/office/drawing/2014/main" id="{145E0678-93C3-2D39-DCDD-355B08D6A249}"/>
                </a:ext>
              </a:extLst>
            </p:cNvPr>
            <p:cNvSpPr>
              <a:spLocks noChangeShapeType="1"/>
            </p:cNvSpPr>
            <p:nvPr/>
          </p:nvSpPr>
          <p:spPr bwMode="auto">
            <a:xfrm flipV="1">
              <a:off x="3369" y="1454"/>
              <a:ext cx="0" cy="4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87" name="Line 13">
              <a:extLst>
                <a:ext uri="{FF2B5EF4-FFF2-40B4-BE49-F238E27FC236}">
                  <a16:creationId xmlns:a16="http://schemas.microsoft.com/office/drawing/2014/main" id="{A52B2950-E7AD-E191-CF1A-4071DEF0B71E}"/>
                </a:ext>
              </a:extLst>
            </p:cNvPr>
            <p:cNvSpPr>
              <a:spLocks noChangeShapeType="1"/>
            </p:cNvSpPr>
            <p:nvPr/>
          </p:nvSpPr>
          <p:spPr bwMode="auto">
            <a:xfrm>
              <a:off x="3369" y="1440"/>
              <a:ext cx="11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88" name="Line 14">
              <a:extLst>
                <a:ext uri="{FF2B5EF4-FFF2-40B4-BE49-F238E27FC236}">
                  <a16:creationId xmlns:a16="http://schemas.microsoft.com/office/drawing/2014/main" id="{09F3A200-D030-1339-3B93-C5D3500061FB}"/>
                </a:ext>
              </a:extLst>
            </p:cNvPr>
            <p:cNvSpPr>
              <a:spLocks noChangeShapeType="1"/>
            </p:cNvSpPr>
            <p:nvPr/>
          </p:nvSpPr>
          <p:spPr bwMode="auto">
            <a:xfrm flipV="1">
              <a:off x="4485" y="1442"/>
              <a:ext cx="0" cy="40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89" name="Line 15">
              <a:extLst>
                <a:ext uri="{FF2B5EF4-FFF2-40B4-BE49-F238E27FC236}">
                  <a16:creationId xmlns:a16="http://schemas.microsoft.com/office/drawing/2014/main" id="{D8CBEBBF-52B2-7DC3-A866-ADFB1B57988F}"/>
                </a:ext>
              </a:extLst>
            </p:cNvPr>
            <p:cNvSpPr>
              <a:spLocks noChangeShapeType="1"/>
            </p:cNvSpPr>
            <p:nvPr/>
          </p:nvSpPr>
          <p:spPr bwMode="auto">
            <a:xfrm flipV="1">
              <a:off x="1391" y="1459"/>
              <a:ext cx="0" cy="40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90" name="Line 16">
              <a:extLst>
                <a:ext uri="{FF2B5EF4-FFF2-40B4-BE49-F238E27FC236}">
                  <a16:creationId xmlns:a16="http://schemas.microsoft.com/office/drawing/2014/main" id="{5A0CD445-4C2B-B768-D83E-BC4146444004}"/>
                </a:ext>
              </a:extLst>
            </p:cNvPr>
            <p:cNvSpPr>
              <a:spLocks noChangeShapeType="1"/>
            </p:cNvSpPr>
            <p:nvPr/>
          </p:nvSpPr>
          <p:spPr bwMode="auto">
            <a:xfrm>
              <a:off x="1126" y="1882"/>
              <a:ext cx="264" cy="0"/>
            </a:xfrm>
            <a:prstGeom prst="line">
              <a:avLst/>
            </a:prstGeom>
            <a:noFill/>
            <a:ln w="22225">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52591" name="Text Box 17">
              <a:extLst>
                <a:ext uri="{FF2B5EF4-FFF2-40B4-BE49-F238E27FC236}">
                  <a16:creationId xmlns:a16="http://schemas.microsoft.com/office/drawing/2014/main" id="{2CCF8EFF-B7DE-B672-E180-DE9D304FB927}"/>
                </a:ext>
              </a:extLst>
            </p:cNvPr>
            <p:cNvSpPr txBox="1">
              <a:spLocks noChangeArrowheads="1"/>
            </p:cNvSpPr>
            <p:nvPr/>
          </p:nvSpPr>
          <p:spPr bwMode="auto">
            <a:xfrm>
              <a:off x="729" y="1147"/>
              <a:ext cx="658"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U </a:t>
              </a:r>
              <a:r>
                <a:rPr lang="ru-RU" altLang="en-US" sz="1600" b="1"/>
                <a:t>=0.3</a:t>
              </a:r>
            </a:p>
          </p:txBody>
        </p:sp>
        <p:sp>
          <p:nvSpPr>
            <p:cNvPr id="152592" name="Line 18">
              <a:extLst>
                <a:ext uri="{FF2B5EF4-FFF2-40B4-BE49-F238E27FC236}">
                  <a16:creationId xmlns:a16="http://schemas.microsoft.com/office/drawing/2014/main" id="{0D00B849-BACB-47ED-4B9A-52505A39FF78}"/>
                </a:ext>
              </a:extLst>
            </p:cNvPr>
            <p:cNvSpPr>
              <a:spLocks noChangeShapeType="1"/>
            </p:cNvSpPr>
            <p:nvPr/>
          </p:nvSpPr>
          <p:spPr bwMode="auto">
            <a:xfrm>
              <a:off x="3159" y="1536"/>
              <a:ext cx="211"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52593" name="Line 19">
              <a:extLst>
                <a:ext uri="{FF2B5EF4-FFF2-40B4-BE49-F238E27FC236}">
                  <a16:creationId xmlns:a16="http://schemas.microsoft.com/office/drawing/2014/main" id="{25BDF93D-9065-25B3-E90B-0CEB7B4DD66C}"/>
                </a:ext>
              </a:extLst>
            </p:cNvPr>
            <p:cNvSpPr>
              <a:spLocks noChangeShapeType="1"/>
            </p:cNvSpPr>
            <p:nvPr/>
          </p:nvSpPr>
          <p:spPr bwMode="auto">
            <a:xfrm>
              <a:off x="4483" y="1845"/>
              <a:ext cx="5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94" name="Line 20">
              <a:extLst>
                <a:ext uri="{FF2B5EF4-FFF2-40B4-BE49-F238E27FC236}">
                  <a16:creationId xmlns:a16="http://schemas.microsoft.com/office/drawing/2014/main" id="{B2EBB22C-5D54-273C-C5E7-3AA12713B667}"/>
                </a:ext>
              </a:extLst>
            </p:cNvPr>
            <p:cNvSpPr>
              <a:spLocks noChangeShapeType="1"/>
            </p:cNvSpPr>
            <p:nvPr/>
          </p:nvSpPr>
          <p:spPr bwMode="auto">
            <a:xfrm>
              <a:off x="1124" y="2039"/>
              <a:ext cx="0" cy="108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2595" name="Line 21">
              <a:extLst>
                <a:ext uri="{FF2B5EF4-FFF2-40B4-BE49-F238E27FC236}">
                  <a16:creationId xmlns:a16="http://schemas.microsoft.com/office/drawing/2014/main" id="{2955EADD-E7D3-45A3-F4CF-8AA1D2D3CECE}"/>
                </a:ext>
              </a:extLst>
            </p:cNvPr>
            <p:cNvSpPr>
              <a:spLocks noChangeShapeType="1"/>
            </p:cNvSpPr>
            <p:nvPr/>
          </p:nvSpPr>
          <p:spPr bwMode="auto">
            <a:xfrm>
              <a:off x="3147" y="1989"/>
              <a:ext cx="10" cy="824"/>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2596" name="Text Box 22">
              <a:extLst>
                <a:ext uri="{FF2B5EF4-FFF2-40B4-BE49-F238E27FC236}">
                  <a16:creationId xmlns:a16="http://schemas.microsoft.com/office/drawing/2014/main" id="{BA2D20FA-EA4A-3382-84CC-F20849CF5159}"/>
                </a:ext>
              </a:extLst>
            </p:cNvPr>
            <p:cNvSpPr txBox="1">
              <a:spLocks noChangeArrowheads="1"/>
            </p:cNvSpPr>
            <p:nvPr/>
          </p:nvSpPr>
          <p:spPr bwMode="auto">
            <a:xfrm>
              <a:off x="959" y="1862"/>
              <a:ext cx="38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a:t>
              </a:r>
            </a:p>
          </p:txBody>
        </p:sp>
        <p:sp>
          <p:nvSpPr>
            <p:cNvPr id="152597" name="Text Box 23">
              <a:extLst>
                <a:ext uri="{FF2B5EF4-FFF2-40B4-BE49-F238E27FC236}">
                  <a16:creationId xmlns:a16="http://schemas.microsoft.com/office/drawing/2014/main" id="{526A0A0C-2DA2-A752-C1D8-EDEA451942B1}"/>
                </a:ext>
              </a:extLst>
            </p:cNvPr>
            <p:cNvSpPr txBox="1">
              <a:spLocks noChangeArrowheads="1"/>
            </p:cNvSpPr>
            <p:nvPr/>
          </p:nvSpPr>
          <p:spPr bwMode="auto">
            <a:xfrm>
              <a:off x="2105" y="1841"/>
              <a:ext cx="33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a:t>
              </a:r>
            </a:p>
          </p:txBody>
        </p:sp>
        <p:sp>
          <p:nvSpPr>
            <p:cNvPr id="152598" name="Text Box 24">
              <a:extLst>
                <a:ext uri="{FF2B5EF4-FFF2-40B4-BE49-F238E27FC236}">
                  <a16:creationId xmlns:a16="http://schemas.microsoft.com/office/drawing/2014/main" id="{7F9CD353-38C9-53EB-8B61-C167ECFFAC4D}"/>
                </a:ext>
              </a:extLst>
            </p:cNvPr>
            <p:cNvSpPr txBox="1">
              <a:spLocks noChangeArrowheads="1"/>
            </p:cNvSpPr>
            <p:nvPr/>
          </p:nvSpPr>
          <p:spPr bwMode="auto">
            <a:xfrm>
              <a:off x="2962" y="1831"/>
              <a:ext cx="51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1.9</a:t>
              </a:r>
            </a:p>
          </p:txBody>
        </p:sp>
        <p:sp>
          <p:nvSpPr>
            <p:cNvPr id="152599" name="Text Box 25">
              <a:extLst>
                <a:ext uri="{FF2B5EF4-FFF2-40B4-BE49-F238E27FC236}">
                  <a16:creationId xmlns:a16="http://schemas.microsoft.com/office/drawing/2014/main" id="{7810EC41-6AB2-7A79-F7A5-5EBED885246C}"/>
                </a:ext>
              </a:extLst>
            </p:cNvPr>
            <p:cNvSpPr txBox="1">
              <a:spLocks noChangeArrowheads="1"/>
            </p:cNvSpPr>
            <p:nvPr/>
          </p:nvSpPr>
          <p:spPr bwMode="auto">
            <a:xfrm>
              <a:off x="3261" y="1831"/>
              <a:ext cx="51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2</a:t>
              </a:r>
            </a:p>
          </p:txBody>
        </p:sp>
        <p:sp>
          <p:nvSpPr>
            <p:cNvPr id="152600" name="Text Box 26">
              <a:extLst>
                <a:ext uri="{FF2B5EF4-FFF2-40B4-BE49-F238E27FC236}">
                  <a16:creationId xmlns:a16="http://schemas.microsoft.com/office/drawing/2014/main" id="{74687D36-8E37-4035-D16A-321952484023}"/>
                </a:ext>
              </a:extLst>
            </p:cNvPr>
            <p:cNvSpPr txBox="1">
              <a:spLocks noChangeArrowheads="1"/>
            </p:cNvSpPr>
            <p:nvPr/>
          </p:nvSpPr>
          <p:spPr bwMode="auto">
            <a:xfrm>
              <a:off x="1557" y="2680"/>
              <a:ext cx="147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Max delay Reg-to-Reg</a:t>
              </a:r>
            </a:p>
          </p:txBody>
        </p:sp>
        <p:sp>
          <p:nvSpPr>
            <p:cNvPr id="152601" name="Line 27">
              <a:extLst>
                <a:ext uri="{FF2B5EF4-FFF2-40B4-BE49-F238E27FC236}">
                  <a16:creationId xmlns:a16="http://schemas.microsoft.com/office/drawing/2014/main" id="{2592EE33-8D48-84E4-3753-D195BC1B4FED}"/>
                </a:ext>
              </a:extLst>
            </p:cNvPr>
            <p:cNvSpPr>
              <a:spLocks noChangeShapeType="1"/>
            </p:cNvSpPr>
            <p:nvPr/>
          </p:nvSpPr>
          <p:spPr bwMode="auto">
            <a:xfrm flipV="1">
              <a:off x="3259" y="1340"/>
              <a:ext cx="169" cy="19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02" name="Line 28">
              <a:extLst>
                <a:ext uri="{FF2B5EF4-FFF2-40B4-BE49-F238E27FC236}">
                  <a16:creationId xmlns:a16="http://schemas.microsoft.com/office/drawing/2014/main" id="{878D9393-4549-EB4E-02CB-8CB95834B804}"/>
                </a:ext>
              </a:extLst>
            </p:cNvPr>
            <p:cNvSpPr>
              <a:spLocks noChangeShapeType="1"/>
            </p:cNvSpPr>
            <p:nvPr/>
          </p:nvSpPr>
          <p:spPr bwMode="auto">
            <a:xfrm>
              <a:off x="1385" y="2094"/>
              <a:ext cx="972"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2603" name="Line 29">
              <a:extLst>
                <a:ext uri="{FF2B5EF4-FFF2-40B4-BE49-F238E27FC236}">
                  <a16:creationId xmlns:a16="http://schemas.microsoft.com/office/drawing/2014/main" id="{E8D3805D-B5CD-1BA8-64C6-19A176754BE4}"/>
                </a:ext>
              </a:extLst>
            </p:cNvPr>
            <p:cNvSpPr>
              <a:spLocks noChangeShapeType="1"/>
            </p:cNvSpPr>
            <p:nvPr/>
          </p:nvSpPr>
          <p:spPr bwMode="auto">
            <a:xfrm>
              <a:off x="2352" y="2094"/>
              <a:ext cx="783"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2604" name="Line 30">
              <a:extLst>
                <a:ext uri="{FF2B5EF4-FFF2-40B4-BE49-F238E27FC236}">
                  <a16:creationId xmlns:a16="http://schemas.microsoft.com/office/drawing/2014/main" id="{B266043F-18C6-D6BE-F8E9-D0BBDD20FFA8}"/>
                </a:ext>
              </a:extLst>
            </p:cNvPr>
            <p:cNvSpPr>
              <a:spLocks noChangeShapeType="1"/>
            </p:cNvSpPr>
            <p:nvPr/>
          </p:nvSpPr>
          <p:spPr bwMode="auto">
            <a:xfrm>
              <a:off x="3379" y="1982"/>
              <a:ext cx="0" cy="1101"/>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2605" name="Line 31">
              <a:extLst>
                <a:ext uri="{FF2B5EF4-FFF2-40B4-BE49-F238E27FC236}">
                  <a16:creationId xmlns:a16="http://schemas.microsoft.com/office/drawing/2014/main" id="{FBCC26DD-7C47-A513-5546-719E9653D2C2}"/>
                </a:ext>
              </a:extLst>
            </p:cNvPr>
            <p:cNvSpPr>
              <a:spLocks noChangeShapeType="1"/>
            </p:cNvSpPr>
            <p:nvPr/>
          </p:nvSpPr>
          <p:spPr bwMode="auto">
            <a:xfrm>
              <a:off x="1413" y="2676"/>
              <a:ext cx="1729"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2606" name="Text Box 32">
              <a:extLst>
                <a:ext uri="{FF2B5EF4-FFF2-40B4-BE49-F238E27FC236}">
                  <a16:creationId xmlns:a16="http://schemas.microsoft.com/office/drawing/2014/main" id="{7B5082DE-F871-375A-0470-3E896D8C2033}"/>
                </a:ext>
              </a:extLst>
            </p:cNvPr>
            <p:cNvSpPr txBox="1">
              <a:spLocks noChangeArrowheads="1"/>
            </p:cNvSpPr>
            <p:nvPr/>
          </p:nvSpPr>
          <p:spPr bwMode="auto">
            <a:xfrm>
              <a:off x="1975" y="2959"/>
              <a:ext cx="578"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Period</a:t>
              </a:r>
            </a:p>
          </p:txBody>
        </p:sp>
        <p:sp>
          <p:nvSpPr>
            <p:cNvPr id="152607" name="Text Box 33">
              <a:extLst>
                <a:ext uri="{FF2B5EF4-FFF2-40B4-BE49-F238E27FC236}">
                  <a16:creationId xmlns:a16="http://schemas.microsoft.com/office/drawing/2014/main" id="{AEAC5D9F-7969-BBE7-6B95-BDE14691AE57}"/>
                </a:ext>
              </a:extLst>
            </p:cNvPr>
            <p:cNvSpPr txBox="1">
              <a:spLocks noChangeArrowheads="1"/>
            </p:cNvSpPr>
            <p:nvPr/>
          </p:nvSpPr>
          <p:spPr bwMode="auto">
            <a:xfrm>
              <a:off x="1607" y="2080"/>
              <a:ext cx="51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0,9</a:t>
              </a:r>
            </a:p>
          </p:txBody>
        </p:sp>
        <p:sp>
          <p:nvSpPr>
            <p:cNvPr id="152608" name="Line 34">
              <a:extLst>
                <a:ext uri="{FF2B5EF4-FFF2-40B4-BE49-F238E27FC236}">
                  <a16:creationId xmlns:a16="http://schemas.microsoft.com/office/drawing/2014/main" id="{B5A1046B-761B-3EC3-BEE4-0D7E98EE2F30}"/>
                </a:ext>
              </a:extLst>
            </p:cNvPr>
            <p:cNvSpPr>
              <a:spLocks noChangeShapeType="1"/>
            </p:cNvSpPr>
            <p:nvPr/>
          </p:nvSpPr>
          <p:spPr bwMode="auto">
            <a:xfrm>
              <a:off x="1116" y="1584"/>
              <a:ext cx="283"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52609" name="Line 35">
              <a:extLst>
                <a:ext uri="{FF2B5EF4-FFF2-40B4-BE49-F238E27FC236}">
                  <a16:creationId xmlns:a16="http://schemas.microsoft.com/office/drawing/2014/main" id="{9C9A2D11-9BEE-FD8E-A34B-F2BDB4A64E68}"/>
                </a:ext>
              </a:extLst>
            </p:cNvPr>
            <p:cNvSpPr>
              <a:spLocks noChangeShapeType="1"/>
            </p:cNvSpPr>
            <p:nvPr/>
          </p:nvSpPr>
          <p:spPr bwMode="auto">
            <a:xfrm flipV="1">
              <a:off x="3157" y="1454"/>
              <a:ext cx="0" cy="44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10" name="Text Box 36">
              <a:extLst>
                <a:ext uri="{FF2B5EF4-FFF2-40B4-BE49-F238E27FC236}">
                  <a16:creationId xmlns:a16="http://schemas.microsoft.com/office/drawing/2014/main" id="{1726ABC3-B143-1AD5-2C6C-C0E14785A6DF}"/>
                </a:ext>
              </a:extLst>
            </p:cNvPr>
            <p:cNvSpPr txBox="1">
              <a:spLocks noChangeArrowheads="1"/>
            </p:cNvSpPr>
            <p:nvPr/>
          </p:nvSpPr>
          <p:spPr bwMode="auto">
            <a:xfrm>
              <a:off x="2623" y="2050"/>
              <a:ext cx="51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0.7</a:t>
              </a:r>
            </a:p>
          </p:txBody>
        </p:sp>
        <p:sp>
          <p:nvSpPr>
            <p:cNvPr id="152611" name="Line 37">
              <a:extLst>
                <a:ext uri="{FF2B5EF4-FFF2-40B4-BE49-F238E27FC236}">
                  <a16:creationId xmlns:a16="http://schemas.microsoft.com/office/drawing/2014/main" id="{D22A1E79-0136-9868-CC72-507573BDA019}"/>
                </a:ext>
              </a:extLst>
            </p:cNvPr>
            <p:cNvSpPr>
              <a:spLocks noChangeShapeType="1"/>
            </p:cNvSpPr>
            <p:nvPr/>
          </p:nvSpPr>
          <p:spPr bwMode="auto">
            <a:xfrm flipH="1">
              <a:off x="2362" y="1876"/>
              <a:ext cx="0" cy="601"/>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2612" name="Line 38">
              <a:extLst>
                <a:ext uri="{FF2B5EF4-FFF2-40B4-BE49-F238E27FC236}">
                  <a16:creationId xmlns:a16="http://schemas.microsoft.com/office/drawing/2014/main" id="{1EDAAD9F-EF50-DAC5-8E63-27F23F2ABF86}"/>
                </a:ext>
              </a:extLst>
            </p:cNvPr>
            <p:cNvSpPr>
              <a:spLocks noChangeShapeType="1"/>
            </p:cNvSpPr>
            <p:nvPr/>
          </p:nvSpPr>
          <p:spPr bwMode="auto">
            <a:xfrm flipH="1" flipV="1">
              <a:off x="1116" y="1363"/>
              <a:ext cx="100" cy="17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13" name="Line 39">
              <a:extLst>
                <a:ext uri="{FF2B5EF4-FFF2-40B4-BE49-F238E27FC236}">
                  <a16:creationId xmlns:a16="http://schemas.microsoft.com/office/drawing/2014/main" id="{D677B94F-B25A-9C4E-7067-6B948A677A0F}"/>
                </a:ext>
              </a:extLst>
            </p:cNvPr>
            <p:cNvSpPr>
              <a:spLocks noChangeShapeType="1"/>
            </p:cNvSpPr>
            <p:nvPr/>
          </p:nvSpPr>
          <p:spPr bwMode="auto">
            <a:xfrm>
              <a:off x="1393" y="1872"/>
              <a:ext cx="0" cy="104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2614" name="Line 40">
              <a:extLst>
                <a:ext uri="{FF2B5EF4-FFF2-40B4-BE49-F238E27FC236}">
                  <a16:creationId xmlns:a16="http://schemas.microsoft.com/office/drawing/2014/main" id="{B27887F0-17CB-1437-CBB1-6FD67B41EC17}"/>
                </a:ext>
              </a:extLst>
            </p:cNvPr>
            <p:cNvSpPr>
              <a:spLocks noChangeShapeType="1"/>
            </p:cNvSpPr>
            <p:nvPr/>
          </p:nvSpPr>
          <p:spPr bwMode="auto">
            <a:xfrm>
              <a:off x="2950" y="2107"/>
              <a:ext cx="810" cy="277"/>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2615" name="Rectangle 41">
              <a:extLst>
                <a:ext uri="{FF2B5EF4-FFF2-40B4-BE49-F238E27FC236}">
                  <a16:creationId xmlns:a16="http://schemas.microsoft.com/office/drawing/2014/main" id="{76D560D7-7778-5ED6-2117-DB430EE87166}"/>
                </a:ext>
              </a:extLst>
            </p:cNvPr>
            <p:cNvSpPr>
              <a:spLocks noChangeArrowheads="1"/>
            </p:cNvSpPr>
            <p:nvPr/>
          </p:nvSpPr>
          <p:spPr bwMode="auto">
            <a:xfrm>
              <a:off x="3767" y="2240"/>
              <a:ext cx="778" cy="305"/>
            </a:xfrm>
            <a:prstGeom prst="rect">
              <a:avLst/>
            </a:prstGeom>
            <a:solidFill>
              <a:srgbClr val="FFFFFF"/>
            </a:solidFill>
            <a:ln w="22225">
              <a:solidFill>
                <a:srgbClr val="000000"/>
              </a:solidFill>
              <a:prstDash val="dash"/>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a:t>T</a:t>
              </a:r>
              <a:r>
                <a:rPr lang="ru-RU" altLang="en-US" baseline="-25000"/>
                <a:t>LOG_Т</a:t>
              </a:r>
            </a:p>
            <a:p>
              <a:pPr eaLnBrk="1" hangingPunct="1"/>
              <a:endParaRPr lang="ru-RU" altLang="en-US"/>
            </a:p>
          </p:txBody>
        </p:sp>
        <p:sp>
          <p:nvSpPr>
            <p:cNvPr id="152616" name="Rectangle 42">
              <a:extLst>
                <a:ext uri="{FF2B5EF4-FFF2-40B4-BE49-F238E27FC236}">
                  <a16:creationId xmlns:a16="http://schemas.microsoft.com/office/drawing/2014/main" id="{DD133C26-5BAD-9D7B-9DC9-0FE8CE35D69A}"/>
                </a:ext>
              </a:extLst>
            </p:cNvPr>
            <p:cNvSpPr>
              <a:spLocks noChangeArrowheads="1"/>
            </p:cNvSpPr>
            <p:nvPr/>
          </p:nvSpPr>
          <p:spPr bwMode="auto">
            <a:xfrm>
              <a:off x="3757" y="2849"/>
              <a:ext cx="1379" cy="703"/>
            </a:xfrm>
            <a:prstGeom prst="rect">
              <a:avLst/>
            </a:prstGeom>
            <a:solidFill>
              <a:srgbClr val="FFFFFF"/>
            </a:solidFill>
            <a:ln w="9525">
              <a:solidFill>
                <a:srgbClr val="000000"/>
              </a:solidFill>
              <a:prstDash val="dash"/>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a:t>Time  left  for internal output logic </a:t>
              </a:r>
              <a:endParaRPr lang="ru-RU" altLang="en-US"/>
            </a:p>
          </p:txBody>
        </p:sp>
        <p:sp>
          <p:nvSpPr>
            <p:cNvPr id="152617" name="Line 43">
              <a:extLst>
                <a:ext uri="{FF2B5EF4-FFF2-40B4-BE49-F238E27FC236}">
                  <a16:creationId xmlns:a16="http://schemas.microsoft.com/office/drawing/2014/main" id="{7C8C2FA1-9E4E-A106-037C-F4FE1F42A598}"/>
                </a:ext>
              </a:extLst>
            </p:cNvPr>
            <p:cNvSpPr>
              <a:spLocks noChangeShapeType="1"/>
            </p:cNvSpPr>
            <p:nvPr/>
          </p:nvSpPr>
          <p:spPr bwMode="auto">
            <a:xfrm>
              <a:off x="1866" y="2143"/>
              <a:ext cx="1861" cy="892"/>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2618" name="Text Box 44">
              <a:extLst>
                <a:ext uri="{FF2B5EF4-FFF2-40B4-BE49-F238E27FC236}">
                  <a16:creationId xmlns:a16="http://schemas.microsoft.com/office/drawing/2014/main" id="{881C0187-E0CB-24B1-04D4-4C51F7FDB40A}"/>
                </a:ext>
              </a:extLst>
            </p:cNvPr>
            <p:cNvSpPr txBox="1">
              <a:spLocks noChangeArrowheads="1"/>
            </p:cNvSpPr>
            <p:nvPr/>
          </p:nvSpPr>
          <p:spPr bwMode="auto">
            <a:xfrm>
              <a:off x="1327" y="1811"/>
              <a:ext cx="38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0.3</a:t>
              </a:r>
            </a:p>
          </p:txBody>
        </p:sp>
        <p:sp>
          <p:nvSpPr>
            <p:cNvPr id="152619" name="Text Box 45">
              <a:extLst>
                <a:ext uri="{FF2B5EF4-FFF2-40B4-BE49-F238E27FC236}">
                  <a16:creationId xmlns:a16="http://schemas.microsoft.com/office/drawing/2014/main" id="{748B7D65-8AE7-9099-F873-D1390B914143}"/>
                </a:ext>
              </a:extLst>
            </p:cNvPr>
            <p:cNvSpPr txBox="1">
              <a:spLocks noChangeArrowheads="1"/>
            </p:cNvSpPr>
            <p:nvPr/>
          </p:nvSpPr>
          <p:spPr bwMode="auto">
            <a:xfrm>
              <a:off x="2284" y="1831"/>
              <a:ext cx="44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1.2</a:t>
              </a:r>
            </a:p>
          </p:txBody>
        </p:sp>
        <p:sp>
          <p:nvSpPr>
            <p:cNvPr id="152620" name="Line 46">
              <a:extLst>
                <a:ext uri="{FF2B5EF4-FFF2-40B4-BE49-F238E27FC236}">
                  <a16:creationId xmlns:a16="http://schemas.microsoft.com/office/drawing/2014/main" id="{AD2C18F2-AE99-3CF4-0479-2B47FD6ACB79}"/>
                </a:ext>
              </a:extLst>
            </p:cNvPr>
            <p:cNvSpPr>
              <a:spLocks noChangeShapeType="1"/>
            </p:cNvSpPr>
            <p:nvPr/>
          </p:nvSpPr>
          <p:spPr bwMode="auto">
            <a:xfrm flipV="1">
              <a:off x="1116" y="2921"/>
              <a:ext cx="2243"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2621" name="Rectangle 47">
              <a:extLst>
                <a:ext uri="{FF2B5EF4-FFF2-40B4-BE49-F238E27FC236}">
                  <a16:creationId xmlns:a16="http://schemas.microsoft.com/office/drawing/2014/main" id="{09518199-6887-DEE7-C6EA-670A7586CE3E}"/>
                </a:ext>
              </a:extLst>
            </p:cNvPr>
            <p:cNvSpPr>
              <a:spLocks noChangeArrowheads="1"/>
            </p:cNvSpPr>
            <p:nvPr/>
          </p:nvSpPr>
          <p:spPr bwMode="auto">
            <a:xfrm>
              <a:off x="3757" y="2545"/>
              <a:ext cx="1379" cy="305"/>
            </a:xfrm>
            <a:prstGeom prst="rect">
              <a:avLst/>
            </a:prstGeom>
            <a:solidFill>
              <a:srgbClr val="FFFFFF"/>
            </a:solidFill>
            <a:ln w="9525">
              <a:solidFill>
                <a:srgbClr val="000000"/>
              </a:solidFill>
              <a:prstDash val="dash"/>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a:t>T</a:t>
              </a:r>
              <a:r>
                <a:rPr lang="ru-RU" altLang="en-US" baseline="-25000"/>
                <a:t>OUTPUT_DELAY_MAX</a:t>
              </a:r>
            </a:p>
            <a:p>
              <a:pPr eaLnBrk="1" hangingPunct="1"/>
              <a:endParaRPr lang="ru-RU" altLang="en-US"/>
            </a:p>
          </p:txBody>
        </p:sp>
        <p:sp>
          <p:nvSpPr>
            <p:cNvPr id="152622" name="Line 48">
              <a:extLst>
                <a:ext uri="{FF2B5EF4-FFF2-40B4-BE49-F238E27FC236}">
                  <a16:creationId xmlns:a16="http://schemas.microsoft.com/office/drawing/2014/main" id="{4637F2B6-9C40-FA8E-594E-E4B4A23D61AA}"/>
                </a:ext>
              </a:extLst>
            </p:cNvPr>
            <p:cNvSpPr>
              <a:spLocks noChangeShapeType="1"/>
            </p:cNvSpPr>
            <p:nvPr/>
          </p:nvSpPr>
          <p:spPr bwMode="auto">
            <a:xfrm>
              <a:off x="2372" y="2285"/>
              <a:ext cx="983"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2623" name="Text Box 49">
              <a:extLst>
                <a:ext uri="{FF2B5EF4-FFF2-40B4-BE49-F238E27FC236}">
                  <a16:creationId xmlns:a16="http://schemas.microsoft.com/office/drawing/2014/main" id="{EC242648-55DE-0AEF-4DFA-9BC0914E242B}"/>
                </a:ext>
              </a:extLst>
            </p:cNvPr>
            <p:cNvSpPr txBox="1">
              <a:spLocks noChangeArrowheads="1"/>
            </p:cNvSpPr>
            <p:nvPr/>
          </p:nvSpPr>
          <p:spPr bwMode="auto">
            <a:xfrm>
              <a:off x="2603" y="2248"/>
              <a:ext cx="51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0.8</a:t>
              </a:r>
            </a:p>
          </p:txBody>
        </p:sp>
        <p:sp>
          <p:nvSpPr>
            <p:cNvPr id="152624" name="Line 50">
              <a:extLst>
                <a:ext uri="{FF2B5EF4-FFF2-40B4-BE49-F238E27FC236}">
                  <a16:creationId xmlns:a16="http://schemas.microsoft.com/office/drawing/2014/main" id="{BC421841-C605-647F-F2A8-4F7D772FF6BD}"/>
                </a:ext>
              </a:extLst>
            </p:cNvPr>
            <p:cNvSpPr>
              <a:spLocks noChangeShapeType="1"/>
            </p:cNvSpPr>
            <p:nvPr/>
          </p:nvSpPr>
          <p:spPr bwMode="auto">
            <a:xfrm>
              <a:off x="2970" y="2322"/>
              <a:ext cx="776" cy="366"/>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85C9C2C3-15CB-1FC2-2315-1F34B2260152}"/>
              </a:ext>
            </a:extLst>
          </p:cNvPr>
          <p:cNvSpPr>
            <a:spLocks noGrp="1" noChangeArrowheads="1"/>
          </p:cNvSpPr>
          <p:nvPr>
            <p:ph type="title"/>
          </p:nvPr>
        </p:nvSpPr>
        <p:spPr/>
        <p:txBody>
          <a:bodyPr/>
          <a:lstStyle/>
          <a:p>
            <a:r>
              <a:rPr lang="en-US" altLang="en-US"/>
              <a:t>Example 4</a:t>
            </a:r>
            <a:endParaRPr lang="ru-RU" altLang="en-US"/>
          </a:p>
        </p:txBody>
      </p:sp>
      <p:grpSp>
        <p:nvGrpSpPr>
          <p:cNvPr id="153603" name="Group 1">
            <a:extLst>
              <a:ext uri="{FF2B5EF4-FFF2-40B4-BE49-F238E27FC236}">
                <a16:creationId xmlns:a16="http://schemas.microsoft.com/office/drawing/2014/main" id="{E0983E8E-1C78-0DDC-E2A1-B9DD6DE514F6}"/>
              </a:ext>
            </a:extLst>
          </p:cNvPr>
          <p:cNvGrpSpPr>
            <a:grpSpLocks/>
          </p:cNvGrpSpPr>
          <p:nvPr/>
        </p:nvGrpSpPr>
        <p:grpSpPr bwMode="auto">
          <a:xfrm>
            <a:off x="2743200" y="1309689"/>
            <a:ext cx="6675438" cy="2560637"/>
            <a:chOff x="1219200" y="1309688"/>
            <a:chExt cx="6805613" cy="3109912"/>
          </a:xfrm>
        </p:grpSpPr>
        <p:sp>
          <p:nvSpPr>
            <p:cNvPr id="153605" name="Rectangle 3">
              <a:extLst>
                <a:ext uri="{FF2B5EF4-FFF2-40B4-BE49-F238E27FC236}">
                  <a16:creationId xmlns:a16="http://schemas.microsoft.com/office/drawing/2014/main" id="{1AEE10F3-7747-87B2-30AE-21CD08F5CC6A}"/>
                </a:ext>
              </a:extLst>
            </p:cNvPr>
            <p:cNvSpPr>
              <a:spLocks noChangeArrowheads="1"/>
            </p:cNvSpPr>
            <p:nvPr/>
          </p:nvSpPr>
          <p:spPr bwMode="auto">
            <a:xfrm>
              <a:off x="1520825" y="1914525"/>
              <a:ext cx="3244850" cy="2501900"/>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06" name="Rectangle 4">
              <a:extLst>
                <a:ext uri="{FF2B5EF4-FFF2-40B4-BE49-F238E27FC236}">
                  <a16:creationId xmlns:a16="http://schemas.microsoft.com/office/drawing/2014/main" id="{5A1EA2C7-A703-09A8-54D4-E5C53961B5D0}"/>
                </a:ext>
              </a:extLst>
            </p:cNvPr>
            <p:cNvSpPr>
              <a:spLocks noChangeArrowheads="1"/>
            </p:cNvSpPr>
            <p:nvPr/>
          </p:nvSpPr>
          <p:spPr bwMode="auto">
            <a:xfrm>
              <a:off x="2273300" y="2517775"/>
              <a:ext cx="496888" cy="1284288"/>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07" name="Rectangle 5">
              <a:extLst>
                <a:ext uri="{FF2B5EF4-FFF2-40B4-BE49-F238E27FC236}">
                  <a16:creationId xmlns:a16="http://schemas.microsoft.com/office/drawing/2014/main" id="{E2FC61EC-7D61-E365-4B0D-000D674165A7}"/>
                </a:ext>
              </a:extLst>
            </p:cNvPr>
            <p:cNvSpPr>
              <a:spLocks noChangeArrowheads="1"/>
            </p:cNvSpPr>
            <p:nvPr/>
          </p:nvSpPr>
          <p:spPr bwMode="auto">
            <a:xfrm>
              <a:off x="3546475" y="2498725"/>
              <a:ext cx="496888" cy="1285875"/>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08" name="Rectangle 6">
              <a:extLst>
                <a:ext uri="{FF2B5EF4-FFF2-40B4-BE49-F238E27FC236}">
                  <a16:creationId xmlns:a16="http://schemas.microsoft.com/office/drawing/2014/main" id="{97680CF1-64DB-F530-135E-16D04979C6C7}"/>
                </a:ext>
              </a:extLst>
            </p:cNvPr>
            <p:cNvSpPr>
              <a:spLocks noChangeArrowheads="1"/>
            </p:cNvSpPr>
            <p:nvPr/>
          </p:nvSpPr>
          <p:spPr bwMode="auto">
            <a:xfrm>
              <a:off x="5970588" y="2479675"/>
              <a:ext cx="496887" cy="1285875"/>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09" name="Line 7">
              <a:extLst>
                <a:ext uri="{FF2B5EF4-FFF2-40B4-BE49-F238E27FC236}">
                  <a16:creationId xmlns:a16="http://schemas.microsoft.com/office/drawing/2014/main" id="{D4623451-1629-5AF3-749B-0110C98DD672}"/>
                </a:ext>
              </a:extLst>
            </p:cNvPr>
            <p:cNvSpPr>
              <a:spLocks noChangeShapeType="1"/>
            </p:cNvSpPr>
            <p:nvPr/>
          </p:nvSpPr>
          <p:spPr bwMode="auto">
            <a:xfrm>
              <a:off x="6464300" y="2892425"/>
              <a:ext cx="2730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10" name="Freeform 8">
              <a:extLst>
                <a:ext uri="{FF2B5EF4-FFF2-40B4-BE49-F238E27FC236}">
                  <a16:creationId xmlns:a16="http://schemas.microsoft.com/office/drawing/2014/main" id="{3839BEE4-A853-70B6-BB54-DE84A3FA6F47}"/>
                </a:ext>
              </a:extLst>
            </p:cNvPr>
            <p:cNvSpPr>
              <a:spLocks/>
            </p:cNvSpPr>
            <p:nvPr/>
          </p:nvSpPr>
          <p:spPr bwMode="auto">
            <a:xfrm>
              <a:off x="2279650" y="3389313"/>
              <a:ext cx="107950" cy="1492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11" name="Freeform 9">
              <a:extLst>
                <a:ext uri="{FF2B5EF4-FFF2-40B4-BE49-F238E27FC236}">
                  <a16:creationId xmlns:a16="http://schemas.microsoft.com/office/drawing/2014/main" id="{4C1D5BCB-F10F-8AFF-026A-59124C18D0E8}"/>
                </a:ext>
              </a:extLst>
            </p:cNvPr>
            <p:cNvSpPr>
              <a:spLocks/>
            </p:cNvSpPr>
            <p:nvPr/>
          </p:nvSpPr>
          <p:spPr bwMode="auto">
            <a:xfrm>
              <a:off x="5976938" y="3370263"/>
              <a:ext cx="107950" cy="1492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12" name="Line 10">
              <a:extLst>
                <a:ext uri="{FF2B5EF4-FFF2-40B4-BE49-F238E27FC236}">
                  <a16:creationId xmlns:a16="http://schemas.microsoft.com/office/drawing/2014/main" id="{030961DD-C3EA-954F-BB54-A1E16FC5AD40}"/>
                </a:ext>
              </a:extLst>
            </p:cNvPr>
            <p:cNvSpPr>
              <a:spLocks noChangeShapeType="1"/>
            </p:cNvSpPr>
            <p:nvPr/>
          </p:nvSpPr>
          <p:spPr bwMode="auto">
            <a:xfrm>
              <a:off x="2011363" y="3455988"/>
              <a:ext cx="0" cy="676275"/>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3613" name="Line 11">
              <a:extLst>
                <a:ext uri="{FF2B5EF4-FFF2-40B4-BE49-F238E27FC236}">
                  <a16:creationId xmlns:a16="http://schemas.microsoft.com/office/drawing/2014/main" id="{13EB1E1B-712F-34FC-2E28-90A85DB6CC29}"/>
                </a:ext>
              </a:extLst>
            </p:cNvPr>
            <p:cNvSpPr>
              <a:spLocks noChangeShapeType="1"/>
            </p:cNvSpPr>
            <p:nvPr/>
          </p:nvSpPr>
          <p:spPr bwMode="auto">
            <a:xfrm>
              <a:off x="2000250" y="3455988"/>
              <a:ext cx="2603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14" name="Line 12">
              <a:extLst>
                <a:ext uri="{FF2B5EF4-FFF2-40B4-BE49-F238E27FC236}">
                  <a16:creationId xmlns:a16="http://schemas.microsoft.com/office/drawing/2014/main" id="{CFB6C662-5E61-549C-7BF5-654FB919F4E8}"/>
                </a:ext>
              </a:extLst>
            </p:cNvPr>
            <p:cNvSpPr>
              <a:spLocks noChangeShapeType="1"/>
            </p:cNvSpPr>
            <p:nvPr/>
          </p:nvSpPr>
          <p:spPr bwMode="auto">
            <a:xfrm>
              <a:off x="3297238" y="3438525"/>
              <a:ext cx="0" cy="688975"/>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3615" name="Line 13">
              <a:extLst>
                <a:ext uri="{FF2B5EF4-FFF2-40B4-BE49-F238E27FC236}">
                  <a16:creationId xmlns:a16="http://schemas.microsoft.com/office/drawing/2014/main" id="{1A23F030-DFF2-7B5E-E0AE-B49119A4CFE0}"/>
                </a:ext>
              </a:extLst>
            </p:cNvPr>
            <p:cNvSpPr>
              <a:spLocks noChangeShapeType="1"/>
            </p:cNvSpPr>
            <p:nvPr/>
          </p:nvSpPr>
          <p:spPr bwMode="auto">
            <a:xfrm>
              <a:off x="3286125" y="3438525"/>
              <a:ext cx="2603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16" name="Line 14">
              <a:extLst>
                <a:ext uri="{FF2B5EF4-FFF2-40B4-BE49-F238E27FC236}">
                  <a16:creationId xmlns:a16="http://schemas.microsoft.com/office/drawing/2014/main" id="{870500C9-54E1-74EA-9E86-4EB0A9209D08}"/>
                </a:ext>
              </a:extLst>
            </p:cNvPr>
            <p:cNvSpPr>
              <a:spLocks noChangeShapeType="1"/>
            </p:cNvSpPr>
            <p:nvPr/>
          </p:nvSpPr>
          <p:spPr bwMode="auto">
            <a:xfrm>
              <a:off x="5718175" y="3438525"/>
              <a:ext cx="0" cy="688975"/>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53617" name="Line 15">
              <a:extLst>
                <a:ext uri="{FF2B5EF4-FFF2-40B4-BE49-F238E27FC236}">
                  <a16:creationId xmlns:a16="http://schemas.microsoft.com/office/drawing/2014/main" id="{EFA80D4E-540E-53FE-F3E0-6622769FC22C}"/>
                </a:ext>
              </a:extLst>
            </p:cNvPr>
            <p:cNvSpPr>
              <a:spLocks noChangeShapeType="1"/>
            </p:cNvSpPr>
            <p:nvPr/>
          </p:nvSpPr>
          <p:spPr bwMode="auto">
            <a:xfrm>
              <a:off x="5710238" y="3438525"/>
              <a:ext cx="2603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18" name="Text Box 16">
              <a:extLst>
                <a:ext uri="{FF2B5EF4-FFF2-40B4-BE49-F238E27FC236}">
                  <a16:creationId xmlns:a16="http://schemas.microsoft.com/office/drawing/2014/main" id="{22A9AED8-7F67-8E78-B326-55330291342D}"/>
                </a:ext>
              </a:extLst>
            </p:cNvPr>
            <p:cNvSpPr txBox="1">
              <a:spLocks noChangeArrowheads="1"/>
            </p:cNvSpPr>
            <p:nvPr/>
          </p:nvSpPr>
          <p:spPr bwMode="auto">
            <a:xfrm>
              <a:off x="2122488" y="1858963"/>
              <a:ext cx="219075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Design</a:t>
              </a:r>
              <a:endParaRPr lang="ru-RU" altLang="en-US" sz="1600" b="1"/>
            </a:p>
          </p:txBody>
        </p:sp>
        <p:sp>
          <p:nvSpPr>
            <p:cNvPr id="153619" name="Line 17">
              <a:extLst>
                <a:ext uri="{FF2B5EF4-FFF2-40B4-BE49-F238E27FC236}">
                  <a16:creationId xmlns:a16="http://schemas.microsoft.com/office/drawing/2014/main" id="{C969AE58-F61D-B248-7480-F376C03C995D}"/>
                </a:ext>
              </a:extLst>
            </p:cNvPr>
            <p:cNvSpPr>
              <a:spLocks noChangeShapeType="1"/>
            </p:cNvSpPr>
            <p:nvPr/>
          </p:nvSpPr>
          <p:spPr bwMode="auto">
            <a:xfrm flipV="1">
              <a:off x="5272088" y="1971675"/>
              <a:ext cx="0" cy="244475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3620" name="Line 18">
              <a:extLst>
                <a:ext uri="{FF2B5EF4-FFF2-40B4-BE49-F238E27FC236}">
                  <a16:creationId xmlns:a16="http://schemas.microsoft.com/office/drawing/2014/main" id="{3D8CDF16-E618-B8FC-82E7-AA7F0E950CB5}"/>
                </a:ext>
              </a:extLst>
            </p:cNvPr>
            <p:cNvSpPr>
              <a:spLocks noChangeShapeType="1"/>
            </p:cNvSpPr>
            <p:nvPr/>
          </p:nvSpPr>
          <p:spPr bwMode="auto">
            <a:xfrm>
              <a:off x="5299075" y="1936750"/>
              <a:ext cx="1366838"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3621" name="Line 19">
              <a:extLst>
                <a:ext uri="{FF2B5EF4-FFF2-40B4-BE49-F238E27FC236}">
                  <a16:creationId xmlns:a16="http://schemas.microsoft.com/office/drawing/2014/main" id="{96E6B73F-848F-1036-50B3-D1148AB2B08C}"/>
                </a:ext>
              </a:extLst>
            </p:cNvPr>
            <p:cNvSpPr>
              <a:spLocks noChangeShapeType="1"/>
            </p:cNvSpPr>
            <p:nvPr/>
          </p:nvSpPr>
          <p:spPr bwMode="auto">
            <a:xfrm>
              <a:off x="5286375" y="4419600"/>
              <a:ext cx="1366838"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3622" name="Text Box 20">
              <a:extLst>
                <a:ext uri="{FF2B5EF4-FFF2-40B4-BE49-F238E27FC236}">
                  <a16:creationId xmlns:a16="http://schemas.microsoft.com/office/drawing/2014/main" id="{9AAB59CF-E9A7-13D1-31DF-40950A2F218D}"/>
                </a:ext>
              </a:extLst>
            </p:cNvPr>
            <p:cNvSpPr txBox="1">
              <a:spLocks noChangeArrowheads="1"/>
            </p:cNvSpPr>
            <p:nvPr/>
          </p:nvSpPr>
          <p:spPr bwMode="auto">
            <a:xfrm>
              <a:off x="2246313" y="2160588"/>
              <a:ext cx="7397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Reg2</a:t>
              </a:r>
            </a:p>
          </p:txBody>
        </p:sp>
        <p:sp>
          <p:nvSpPr>
            <p:cNvPr id="153623" name="Text Box 21">
              <a:extLst>
                <a:ext uri="{FF2B5EF4-FFF2-40B4-BE49-F238E27FC236}">
                  <a16:creationId xmlns:a16="http://schemas.microsoft.com/office/drawing/2014/main" id="{521250D6-B93F-B8C3-820D-EC6CDB8B592B}"/>
                </a:ext>
              </a:extLst>
            </p:cNvPr>
            <p:cNvSpPr txBox="1">
              <a:spLocks noChangeArrowheads="1"/>
            </p:cNvSpPr>
            <p:nvPr/>
          </p:nvSpPr>
          <p:spPr bwMode="auto">
            <a:xfrm>
              <a:off x="3492500" y="2122488"/>
              <a:ext cx="7397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Reg3</a:t>
              </a:r>
            </a:p>
          </p:txBody>
        </p:sp>
        <p:sp>
          <p:nvSpPr>
            <p:cNvPr id="153624" name="Text Box 22">
              <a:extLst>
                <a:ext uri="{FF2B5EF4-FFF2-40B4-BE49-F238E27FC236}">
                  <a16:creationId xmlns:a16="http://schemas.microsoft.com/office/drawing/2014/main" id="{682B34FD-ADA3-419A-52B5-F64E96919D6E}"/>
                </a:ext>
              </a:extLst>
            </p:cNvPr>
            <p:cNvSpPr txBox="1">
              <a:spLocks noChangeArrowheads="1"/>
            </p:cNvSpPr>
            <p:nvPr/>
          </p:nvSpPr>
          <p:spPr bwMode="auto">
            <a:xfrm>
              <a:off x="5861050" y="2084388"/>
              <a:ext cx="7397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Reg4</a:t>
              </a:r>
            </a:p>
          </p:txBody>
        </p:sp>
        <p:sp>
          <p:nvSpPr>
            <p:cNvPr id="153625" name="Text Box 23">
              <a:extLst>
                <a:ext uri="{FF2B5EF4-FFF2-40B4-BE49-F238E27FC236}">
                  <a16:creationId xmlns:a16="http://schemas.microsoft.com/office/drawing/2014/main" id="{19046CFF-74E2-91AA-A02F-8BF48FB97B05}"/>
                </a:ext>
              </a:extLst>
            </p:cNvPr>
            <p:cNvSpPr txBox="1">
              <a:spLocks noChangeArrowheads="1"/>
            </p:cNvSpPr>
            <p:nvPr/>
          </p:nvSpPr>
          <p:spPr bwMode="auto">
            <a:xfrm>
              <a:off x="1671638" y="2705100"/>
              <a:ext cx="5064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N</a:t>
              </a:r>
            </a:p>
          </p:txBody>
        </p:sp>
        <p:sp>
          <p:nvSpPr>
            <p:cNvPr id="153626" name="Text Box 24">
              <a:extLst>
                <a:ext uri="{FF2B5EF4-FFF2-40B4-BE49-F238E27FC236}">
                  <a16:creationId xmlns:a16="http://schemas.microsoft.com/office/drawing/2014/main" id="{A23FAD57-033B-2F83-8DDF-19CDE9B8119E}"/>
                </a:ext>
              </a:extLst>
            </p:cNvPr>
            <p:cNvSpPr txBox="1">
              <a:spLocks noChangeArrowheads="1"/>
            </p:cNvSpPr>
            <p:nvPr/>
          </p:nvSpPr>
          <p:spPr bwMode="auto">
            <a:xfrm>
              <a:off x="2944813" y="2686050"/>
              <a:ext cx="5064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X</a:t>
              </a:r>
            </a:p>
          </p:txBody>
        </p:sp>
        <p:sp>
          <p:nvSpPr>
            <p:cNvPr id="153627" name="Text Box 25">
              <a:extLst>
                <a:ext uri="{FF2B5EF4-FFF2-40B4-BE49-F238E27FC236}">
                  <a16:creationId xmlns:a16="http://schemas.microsoft.com/office/drawing/2014/main" id="{DF8563F5-FA4A-2B1D-9B39-3D9ECF5E17DE}"/>
                </a:ext>
              </a:extLst>
            </p:cNvPr>
            <p:cNvSpPr txBox="1">
              <a:spLocks noChangeArrowheads="1"/>
            </p:cNvSpPr>
            <p:nvPr/>
          </p:nvSpPr>
          <p:spPr bwMode="auto">
            <a:xfrm>
              <a:off x="4232275" y="2705100"/>
              <a:ext cx="5064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S</a:t>
              </a:r>
            </a:p>
          </p:txBody>
        </p:sp>
        <p:sp>
          <p:nvSpPr>
            <p:cNvPr id="153628" name="Text Box 26">
              <a:extLst>
                <a:ext uri="{FF2B5EF4-FFF2-40B4-BE49-F238E27FC236}">
                  <a16:creationId xmlns:a16="http://schemas.microsoft.com/office/drawing/2014/main" id="{8559C73A-49C4-CD2A-FD7F-9C785CB72907}"/>
                </a:ext>
              </a:extLst>
            </p:cNvPr>
            <p:cNvSpPr txBox="1">
              <a:spLocks noChangeArrowheads="1"/>
            </p:cNvSpPr>
            <p:nvPr/>
          </p:nvSpPr>
          <p:spPr bwMode="auto">
            <a:xfrm>
              <a:off x="5368925" y="2705100"/>
              <a:ext cx="5064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p>
          </p:txBody>
        </p:sp>
        <p:sp>
          <p:nvSpPr>
            <p:cNvPr id="153629" name="Line 27">
              <a:extLst>
                <a:ext uri="{FF2B5EF4-FFF2-40B4-BE49-F238E27FC236}">
                  <a16:creationId xmlns:a16="http://schemas.microsoft.com/office/drawing/2014/main" id="{7A99584C-FA56-36A0-08A1-D3904222DF12}"/>
                </a:ext>
              </a:extLst>
            </p:cNvPr>
            <p:cNvSpPr>
              <a:spLocks noChangeShapeType="1"/>
            </p:cNvSpPr>
            <p:nvPr/>
          </p:nvSpPr>
          <p:spPr bwMode="auto">
            <a:xfrm flipH="1">
              <a:off x="1219200" y="4121150"/>
              <a:ext cx="45085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30" name="Line 28">
              <a:extLst>
                <a:ext uri="{FF2B5EF4-FFF2-40B4-BE49-F238E27FC236}">
                  <a16:creationId xmlns:a16="http://schemas.microsoft.com/office/drawing/2014/main" id="{D8654BAB-9401-0DB1-923D-8464F9D0A105}"/>
                </a:ext>
              </a:extLst>
            </p:cNvPr>
            <p:cNvSpPr>
              <a:spLocks noChangeShapeType="1"/>
            </p:cNvSpPr>
            <p:nvPr/>
          </p:nvSpPr>
          <p:spPr bwMode="auto">
            <a:xfrm>
              <a:off x="1219200" y="2917825"/>
              <a:ext cx="4524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31" name="Text Box 29">
              <a:extLst>
                <a:ext uri="{FF2B5EF4-FFF2-40B4-BE49-F238E27FC236}">
                  <a16:creationId xmlns:a16="http://schemas.microsoft.com/office/drawing/2014/main" id="{2B4B5F0A-D8B5-36D5-A42B-72B94F1F91CF}"/>
                </a:ext>
              </a:extLst>
            </p:cNvPr>
            <p:cNvSpPr txBox="1">
              <a:spLocks noChangeArrowheads="1"/>
            </p:cNvSpPr>
            <p:nvPr/>
          </p:nvSpPr>
          <p:spPr bwMode="auto">
            <a:xfrm>
              <a:off x="4765675" y="2422525"/>
              <a:ext cx="4937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B</a:t>
              </a:r>
            </a:p>
          </p:txBody>
        </p:sp>
        <p:sp>
          <p:nvSpPr>
            <p:cNvPr id="153632" name="Arc 30">
              <a:extLst>
                <a:ext uri="{FF2B5EF4-FFF2-40B4-BE49-F238E27FC236}">
                  <a16:creationId xmlns:a16="http://schemas.microsoft.com/office/drawing/2014/main" id="{DE17A447-D6BC-D6B6-2139-D0B77488F6C6}"/>
                </a:ext>
              </a:extLst>
            </p:cNvPr>
            <p:cNvSpPr>
              <a:spLocks/>
            </p:cNvSpPr>
            <p:nvPr/>
          </p:nvSpPr>
          <p:spPr bwMode="auto">
            <a:xfrm rot="-3109792">
              <a:off x="5130800" y="2541588"/>
              <a:ext cx="812799" cy="685800"/>
            </a:xfrm>
            <a:custGeom>
              <a:avLst/>
              <a:gdLst>
                <a:gd name="T0" fmla="*/ 0 w 26970"/>
                <a:gd name="T1" fmla="*/ 2147483646 h 27020"/>
                <a:gd name="T2" fmla="*/ 2147483646 w 26970"/>
                <a:gd name="T3" fmla="*/ 2147483646 h 27020"/>
                <a:gd name="T4" fmla="*/ 2147483646 w 26970"/>
                <a:gd name="T5" fmla="*/ 2147483646 h 27020"/>
                <a:gd name="T6" fmla="*/ 0 60000 65536"/>
                <a:gd name="T7" fmla="*/ 0 60000 65536"/>
                <a:gd name="T8" fmla="*/ 0 60000 65536"/>
                <a:gd name="T9" fmla="*/ 0 w 26970"/>
                <a:gd name="T10" fmla="*/ 0 h 27020"/>
                <a:gd name="T11" fmla="*/ 26970 w 26970"/>
                <a:gd name="T12" fmla="*/ 27020 h 27020"/>
              </a:gdLst>
              <a:ahLst/>
              <a:cxnLst>
                <a:cxn ang="T6">
                  <a:pos x="T0" y="T1"/>
                </a:cxn>
                <a:cxn ang="T7">
                  <a:pos x="T2" y="T3"/>
                </a:cxn>
                <a:cxn ang="T8">
                  <a:pos x="T4" y="T5"/>
                </a:cxn>
              </a:cxnLst>
              <a:rect l="T9" t="T10" r="T11" b="T12"/>
              <a:pathLst>
                <a:path w="26970" h="27020" fill="none" extrusionOk="0">
                  <a:moveTo>
                    <a:pt x="0" y="678"/>
                  </a:moveTo>
                  <a:cubicBezTo>
                    <a:pt x="1754" y="227"/>
                    <a:pt x="3558" y="-1"/>
                    <a:pt x="5370" y="0"/>
                  </a:cubicBezTo>
                  <a:cubicBezTo>
                    <a:pt x="17299" y="0"/>
                    <a:pt x="26970" y="9670"/>
                    <a:pt x="26970" y="21600"/>
                  </a:cubicBezTo>
                  <a:cubicBezTo>
                    <a:pt x="26970" y="23428"/>
                    <a:pt x="26737" y="25249"/>
                    <a:pt x="26278" y="27019"/>
                  </a:cubicBezTo>
                </a:path>
                <a:path w="26970" h="27020" stroke="0" extrusionOk="0">
                  <a:moveTo>
                    <a:pt x="0" y="678"/>
                  </a:moveTo>
                  <a:cubicBezTo>
                    <a:pt x="1754" y="227"/>
                    <a:pt x="3558" y="-1"/>
                    <a:pt x="5370" y="0"/>
                  </a:cubicBezTo>
                  <a:cubicBezTo>
                    <a:pt x="17299" y="0"/>
                    <a:pt x="26970" y="9670"/>
                    <a:pt x="26970" y="21600"/>
                  </a:cubicBezTo>
                  <a:cubicBezTo>
                    <a:pt x="26970" y="23428"/>
                    <a:pt x="26737" y="25249"/>
                    <a:pt x="26278" y="27019"/>
                  </a:cubicBezTo>
                  <a:lnTo>
                    <a:pt x="5370" y="21600"/>
                  </a:lnTo>
                  <a:lnTo>
                    <a:pt x="0" y="678"/>
                  </a:lnTo>
                  <a:close/>
                </a:path>
              </a:pathLst>
            </a:custGeom>
            <a:noFill/>
            <a:ln w="222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33" name="Text Box 31">
              <a:extLst>
                <a:ext uri="{FF2B5EF4-FFF2-40B4-BE49-F238E27FC236}">
                  <a16:creationId xmlns:a16="http://schemas.microsoft.com/office/drawing/2014/main" id="{DD8AED5E-4385-2AC3-DA8A-ECD924589E7D}"/>
                </a:ext>
              </a:extLst>
            </p:cNvPr>
            <p:cNvSpPr txBox="1">
              <a:spLocks noChangeArrowheads="1"/>
            </p:cNvSpPr>
            <p:nvPr/>
          </p:nvSpPr>
          <p:spPr bwMode="auto">
            <a:xfrm>
              <a:off x="3314700" y="1314450"/>
              <a:ext cx="224472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fr-FR" altLang="en-US" sz="1600" b="1"/>
                <a:t>T</a:t>
              </a:r>
              <a:r>
                <a:rPr lang="fr-FR" altLang="en-US" sz="1600" b="1" baseline="-25000"/>
                <a:t>OUTPUT_LOGIC(MAX)</a:t>
              </a:r>
              <a:r>
                <a:rPr lang="fr-FR" altLang="en-US" sz="1600" b="1"/>
                <a:t>=0.7</a:t>
              </a:r>
              <a:endParaRPr lang="ru-RU" altLang="en-US" sz="1600" b="1"/>
            </a:p>
          </p:txBody>
        </p:sp>
        <p:sp>
          <p:nvSpPr>
            <p:cNvPr id="153634" name="Line 32">
              <a:extLst>
                <a:ext uri="{FF2B5EF4-FFF2-40B4-BE49-F238E27FC236}">
                  <a16:creationId xmlns:a16="http://schemas.microsoft.com/office/drawing/2014/main" id="{9ED5F13B-EB8E-89A6-4610-1ABCC38658AB}"/>
                </a:ext>
              </a:extLst>
            </p:cNvPr>
            <p:cNvSpPr>
              <a:spLocks noChangeShapeType="1"/>
            </p:cNvSpPr>
            <p:nvPr/>
          </p:nvSpPr>
          <p:spPr bwMode="auto">
            <a:xfrm flipV="1">
              <a:off x="5508625" y="1701800"/>
              <a:ext cx="547688" cy="8572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35" name="Text Box 33">
              <a:extLst>
                <a:ext uri="{FF2B5EF4-FFF2-40B4-BE49-F238E27FC236}">
                  <a16:creationId xmlns:a16="http://schemas.microsoft.com/office/drawing/2014/main" id="{257AE2C8-2E60-A8E7-D819-9A836A2579C2}"/>
                </a:ext>
              </a:extLst>
            </p:cNvPr>
            <p:cNvSpPr txBox="1">
              <a:spLocks noChangeArrowheads="1"/>
            </p:cNvSpPr>
            <p:nvPr/>
          </p:nvSpPr>
          <p:spPr bwMode="auto">
            <a:xfrm>
              <a:off x="5614988" y="1309688"/>
              <a:ext cx="24098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ru-RU" altLang="en-US" sz="1600" b="1"/>
                <a:t>T</a:t>
              </a:r>
              <a:r>
                <a:rPr lang="ru-RU" altLang="en-US" sz="1600" b="1" baseline="-25000"/>
                <a:t>OUTPUT_DELAY_MAX</a:t>
              </a:r>
              <a:r>
                <a:rPr lang="ru-RU" altLang="en-US" sz="1600" b="1"/>
                <a:t> = ?</a:t>
              </a:r>
            </a:p>
            <a:p>
              <a:pPr eaLnBrk="1" hangingPunct="1">
                <a:spcBef>
                  <a:spcPct val="0"/>
                </a:spcBef>
                <a:buClrTx/>
                <a:buSzTx/>
                <a:buFontTx/>
                <a:buNone/>
              </a:pPr>
              <a:endParaRPr lang="ru-RU" altLang="en-US" sz="1600" b="1"/>
            </a:p>
          </p:txBody>
        </p:sp>
        <p:sp>
          <p:nvSpPr>
            <p:cNvPr id="153636" name="Oval 34">
              <a:extLst>
                <a:ext uri="{FF2B5EF4-FFF2-40B4-BE49-F238E27FC236}">
                  <a16:creationId xmlns:a16="http://schemas.microsoft.com/office/drawing/2014/main" id="{444244A1-87EF-EAAE-62BF-F81022948ED7}"/>
                </a:ext>
              </a:extLst>
            </p:cNvPr>
            <p:cNvSpPr>
              <a:spLocks noChangeArrowheads="1"/>
            </p:cNvSpPr>
            <p:nvPr/>
          </p:nvSpPr>
          <p:spPr bwMode="auto">
            <a:xfrm>
              <a:off x="1671638" y="2703513"/>
              <a:ext cx="439737" cy="4191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37" name="Line 35">
              <a:extLst>
                <a:ext uri="{FF2B5EF4-FFF2-40B4-BE49-F238E27FC236}">
                  <a16:creationId xmlns:a16="http://schemas.microsoft.com/office/drawing/2014/main" id="{00A6981B-F019-9910-8288-B4A0D5A0E242}"/>
                </a:ext>
              </a:extLst>
            </p:cNvPr>
            <p:cNvSpPr>
              <a:spLocks noChangeShapeType="1"/>
            </p:cNvSpPr>
            <p:nvPr/>
          </p:nvSpPr>
          <p:spPr bwMode="auto">
            <a:xfrm>
              <a:off x="2109788" y="2917825"/>
              <a:ext cx="1635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38" name="Oval 36">
              <a:extLst>
                <a:ext uri="{FF2B5EF4-FFF2-40B4-BE49-F238E27FC236}">
                  <a16:creationId xmlns:a16="http://schemas.microsoft.com/office/drawing/2014/main" id="{BBCC82BB-E4D4-C372-2F0D-452F639B5FDC}"/>
                </a:ext>
              </a:extLst>
            </p:cNvPr>
            <p:cNvSpPr>
              <a:spLocks noChangeArrowheads="1"/>
            </p:cNvSpPr>
            <p:nvPr/>
          </p:nvSpPr>
          <p:spPr bwMode="auto">
            <a:xfrm>
              <a:off x="2944813" y="2705100"/>
              <a:ext cx="439737" cy="4191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39" name="Oval 37">
              <a:extLst>
                <a:ext uri="{FF2B5EF4-FFF2-40B4-BE49-F238E27FC236}">
                  <a16:creationId xmlns:a16="http://schemas.microsoft.com/office/drawing/2014/main" id="{14E61A89-DB95-5312-52BD-729910DAB53C}"/>
                </a:ext>
              </a:extLst>
            </p:cNvPr>
            <p:cNvSpPr>
              <a:spLocks noChangeArrowheads="1"/>
            </p:cNvSpPr>
            <p:nvPr/>
          </p:nvSpPr>
          <p:spPr bwMode="auto">
            <a:xfrm>
              <a:off x="4232275" y="2736850"/>
              <a:ext cx="439738" cy="4191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40" name="Line 38">
              <a:extLst>
                <a:ext uri="{FF2B5EF4-FFF2-40B4-BE49-F238E27FC236}">
                  <a16:creationId xmlns:a16="http://schemas.microsoft.com/office/drawing/2014/main" id="{39A99208-7EB6-2836-C6D3-68E57B756DE6}"/>
                </a:ext>
              </a:extLst>
            </p:cNvPr>
            <p:cNvSpPr>
              <a:spLocks noChangeShapeType="1"/>
            </p:cNvSpPr>
            <p:nvPr/>
          </p:nvSpPr>
          <p:spPr bwMode="auto">
            <a:xfrm>
              <a:off x="2770188" y="2917825"/>
              <a:ext cx="1746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41" name="Line 39">
              <a:extLst>
                <a:ext uri="{FF2B5EF4-FFF2-40B4-BE49-F238E27FC236}">
                  <a16:creationId xmlns:a16="http://schemas.microsoft.com/office/drawing/2014/main" id="{273F475E-C616-FC56-FC41-B12D22C68262}"/>
                </a:ext>
              </a:extLst>
            </p:cNvPr>
            <p:cNvSpPr>
              <a:spLocks noChangeShapeType="1"/>
            </p:cNvSpPr>
            <p:nvPr/>
          </p:nvSpPr>
          <p:spPr bwMode="auto">
            <a:xfrm>
              <a:off x="3390900" y="2914650"/>
              <a:ext cx="1555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42" name="Line 40">
              <a:extLst>
                <a:ext uri="{FF2B5EF4-FFF2-40B4-BE49-F238E27FC236}">
                  <a16:creationId xmlns:a16="http://schemas.microsoft.com/office/drawing/2014/main" id="{996B843F-2D97-8CF3-8EF8-50B6CF55544E}"/>
                </a:ext>
              </a:extLst>
            </p:cNvPr>
            <p:cNvSpPr>
              <a:spLocks noChangeShapeType="1"/>
            </p:cNvSpPr>
            <p:nvPr/>
          </p:nvSpPr>
          <p:spPr bwMode="auto">
            <a:xfrm>
              <a:off x="4043363" y="2917825"/>
              <a:ext cx="1889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43" name="Line 41">
              <a:extLst>
                <a:ext uri="{FF2B5EF4-FFF2-40B4-BE49-F238E27FC236}">
                  <a16:creationId xmlns:a16="http://schemas.microsoft.com/office/drawing/2014/main" id="{73AEA70B-C55A-24AB-5049-EAD2674929BC}"/>
                </a:ext>
              </a:extLst>
            </p:cNvPr>
            <p:cNvSpPr>
              <a:spLocks noChangeShapeType="1"/>
            </p:cNvSpPr>
            <p:nvPr/>
          </p:nvSpPr>
          <p:spPr bwMode="auto">
            <a:xfrm>
              <a:off x="4672013" y="2917825"/>
              <a:ext cx="1936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44" name="Oval 42">
              <a:extLst>
                <a:ext uri="{FF2B5EF4-FFF2-40B4-BE49-F238E27FC236}">
                  <a16:creationId xmlns:a16="http://schemas.microsoft.com/office/drawing/2014/main" id="{B902FE90-A9CD-31E5-644E-351B9C194ED3}"/>
                </a:ext>
              </a:extLst>
            </p:cNvPr>
            <p:cNvSpPr>
              <a:spLocks noChangeArrowheads="1"/>
            </p:cNvSpPr>
            <p:nvPr/>
          </p:nvSpPr>
          <p:spPr bwMode="auto">
            <a:xfrm>
              <a:off x="5362575" y="2722563"/>
              <a:ext cx="439738" cy="4191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45" name="AutoShape 43">
              <a:extLst>
                <a:ext uri="{FF2B5EF4-FFF2-40B4-BE49-F238E27FC236}">
                  <a16:creationId xmlns:a16="http://schemas.microsoft.com/office/drawing/2014/main" id="{12E8E55E-96EE-4A8D-6490-580301ED9DB8}"/>
                </a:ext>
              </a:extLst>
            </p:cNvPr>
            <p:cNvSpPr>
              <a:spLocks noChangeArrowheads="1"/>
            </p:cNvSpPr>
            <p:nvPr/>
          </p:nvSpPr>
          <p:spPr bwMode="auto">
            <a:xfrm>
              <a:off x="4865688" y="2847975"/>
              <a:ext cx="238125" cy="169863"/>
            </a:xfrm>
            <a:prstGeom prst="homePlate">
              <a:avLst>
                <a:gd name="adj" fmla="val 35047"/>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46" name="Line 44">
              <a:extLst>
                <a:ext uri="{FF2B5EF4-FFF2-40B4-BE49-F238E27FC236}">
                  <a16:creationId xmlns:a16="http://schemas.microsoft.com/office/drawing/2014/main" id="{26566FC2-D1C3-60EA-ADEE-DEFC5AA305F8}"/>
                </a:ext>
              </a:extLst>
            </p:cNvPr>
            <p:cNvSpPr>
              <a:spLocks noChangeShapeType="1"/>
            </p:cNvSpPr>
            <p:nvPr/>
          </p:nvSpPr>
          <p:spPr bwMode="auto">
            <a:xfrm>
              <a:off x="5103813" y="2932113"/>
              <a:ext cx="2651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47" name="Arc 45">
              <a:extLst>
                <a:ext uri="{FF2B5EF4-FFF2-40B4-BE49-F238E27FC236}">
                  <a16:creationId xmlns:a16="http://schemas.microsoft.com/office/drawing/2014/main" id="{A11E44AD-7DC7-4F06-CDA1-F9B473B6B3D7}"/>
                </a:ext>
              </a:extLst>
            </p:cNvPr>
            <p:cNvSpPr>
              <a:spLocks/>
            </p:cNvSpPr>
            <p:nvPr/>
          </p:nvSpPr>
          <p:spPr bwMode="auto">
            <a:xfrm rot="1735372" flipH="1" flipV="1">
              <a:off x="5795963" y="2978149"/>
              <a:ext cx="361950" cy="428625"/>
            </a:xfrm>
            <a:custGeom>
              <a:avLst/>
              <a:gdLst>
                <a:gd name="T0" fmla="*/ 2147483646 w 21600"/>
                <a:gd name="T1" fmla="*/ 0 h 31077"/>
                <a:gd name="T2" fmla="*/ 2147483646 w 21600"/>
                <a:gd name="T3" fmla="*/ 2147483646 h 31077"/>
                <a:gd name="T4" fmla="*/ 0 w 21600"/>
                <a:gd name="T5" fmla="*/ 2147483646 h 31077"/>
                <a:gd name="T6" fmla="*/ 0 60000 65536"/>
                <a:gd name="T7" fmla="*/ 0 60000 65536"/>
                <a:gd name="T8" fmla="*/ 0 60000 65536"/>
                <a:gd name="T9" fmla="*/ 0 w 21600"/>
                <a:gd name="T10" fmla="*/ 0 h 31077"/>
                <a:gd name="T11" fmla="*/ 21600 w 21600"/>
                <a:gd name="T12" fmla="*/ 31077 h 31077"/>
              </a:gdLst>
              <a:ahLst/>
              <a:cxnLst>
                <a:cxn ang="T6">
                  <a:pos x="T0" y="T1"/>
                </a:cxn>
                <a:cxn ang="T7">
                  <a:pos x="T2" y="T3"/>
                </a:cxn>
                <a:cxn ang="T8">
                  <a:pos x="T4" y="T5"/>
                </a:cxn>
              </a:cxnLst>
              <a:rect l="T9" t="T10" r="T11" b="T12"/>
              <a:pathLst>
                <a:path w="21600" h="31077" fill="none" extrusionOk="0">
                  <a:moveTo>
                    <a:pt x="8659" y="0"/>
                  </a:moveTo>
                  <a:cubicBezTo>
                    <a:pt x="16520" y="3440"/>
                    <a:pt x="21600" y="11207"/>
                    <a:pt x="21600" y="19788"/>
                  </a:cubicBezTo>
                  <a:cubicBezTo>
                    <a:pt x="21600" y="23772"/>
                    <a:pt x="20497" y="27679"/>
                    <a:pt x="18415" y="31077"/>
                  </a:cubicBezTo>
                </a:path>
                <a:path w="21600" h="31077" stroke="0" extrusionOk="0">
                  <a:moveTo>
                    <a:pt x="8659" y="0"/>
                  </a:moveTo>
                  <a:cubicBezTo>
                    <a:pt x="16520" y="3440"/>
                    <a:pt x="21600" y="11207"/>
                    <a:pt x="21600" y="19788"/>
                  </a:cubicBezTo>
                  <a:cubicBezTo>
                    <a:pt x="21600" y="23772"/>
                    <a:pt x="20497" y="27679"/>
                    <a:pt x="18415" y="31077"/>
                  </a:cubicBezTo>
                  <a:lnTo>
                    <a:pt x="0" y="19788"/>
                  </a:lnTo>
                  <a:lnTo>
                    <a:pt x="8659" y="0"/>
                  </a:lnTo>
                  <a:close/>
                </a:path>
              </a:pathLst>
            </a:custGeom>
            <a:noFill/>
            <a:ln w="222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48" name="Line 46">
              <a:extLst>
                <a:ext uri="{FF2B5EF4-FFF2-40B4-BE49-F238E27FC236}">
                  <a16:creationId xmlns:a16="http://schemas.microsoft.com/office/drawing/2014/main" id="{7305E2BA-C36F-FECE-9F55-036AF5AE25BC}"/>
                </a:ext>
              </a:extLst>
            </p:cNvPr>
            <p:cNvSpPr>
              <a:spLocks noChangeShapeType="1"/>
            </p:cNvSpPr>
            <p:nvPr/>
          </p:nvSpPr>
          <p:spPr bwMode="auto">
            <a:xfrm>
              <a:off x="5807075" y="2913063"/>
              <a:ext cx="1555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49" name="Arc 47">
              <a:extLst>
                <a:ext uri="{FF2B5EF4-FFF2-40B4-BE49-F238E27FC236}">
                  <a16:creationId xmlns:a16="http://schemas.microsoft.com/office/drawing/2014/main" id="{DF1061A9-FA86-1AF0-DAA2-7AC6EE104EED}"/>
                </a:ext>
              </a:extLst>
            </p:cNvPr>
            <p:cNvSpPr>
              <a:spLocks/>
            </p:cNvSpPr>
            <p:nvPr/>
          </p:nvSpPr>
          <p:spPr bwMode="auto">
            <a:xfrm rot="6061214" flipH="1" flipV="1">
              <a:off x="3868738" y="2355850"/>
              <a:ext cx="912812" cy="1481138"/>
            </a:xfrm>
            <a:custGeom>
              <a:avLst/>
              <a:gdLst>
                <a:gd name="T0" fmla="*/ 2147483646 w 21600"/>
                <a:gd name="T1" fmla="*/ 0 h 31346"/>
                <a:gd name="T2" fmla="*/ 2147483646 w 21600"/>
                <a:gd name="T3" fmla="*/ 2147483646 h 31346"/>
                <a:gd name="T4" fmla="*/ 0 w 21600"/>
                <a:gd name="T5" fmla="*/ 2147483646 h 31346"/>
                <a:gd name="T6" fmla="*/ 0 60000 65536"/>
                <a:gd name="T7" fmla="*/ 0 60000 65536"/>
                <a:gd name="T8" fmla="*/ 0 60000 65536"/>
                <a:gd name="T9" fmla="*/ 0 w 21600"/>
                <a:gd name="T10" fmla="*/ 0 h 31346"/>
                <a:gd name="T11" fmla="*/ 21600 w 21600"/>
                <a:gd name="T12" fmla="*/ 31346 h 31346"/>
              </a:gdLst>
              <a:ahLst/>
              <a:cxnLst>
                <a:cxn ang="T6">
                  <a:pos x="T0" y="T1"/>
                </a:cxn>
                <a:cxn ang="T7">
                  <a:pos x="T2" y="T3"/>
                </a:cxn>
                <a:cxn ang="T8">
                  <a:pos x="T4" y="T5"/>
                </a:cxn>
              </a:cxnLst>
              <a:rect l="T9" t="T10" r="T11" b="T12"/>
              <a:pathLst>
                <a:path w="21600" h="31346" fill="none" extrusionOk="0">
                  <a:moveTo>
                    <a:pt x="698" y="0"/>
                  </a:moveTo>
                  <a:cubicBezTo>
                    <a:pt x="12350" y="377"/>
                    <a:pt x="21600" y="9931"/>
                    <a:pt x="21600" y="21589"/>
                  </a:cubicBezTo>
                  <a:cubicBezTo>
                    <a:pt x="21600" y="24979"/>
                    <a:pt x="20802" y="28321"/>
                    <a:pt x="19270" y="31345"/>
                  </a:cubicBezTo>
                </a:path>
                <a:path w="21600" h="31346" stroke="0" extrusionOk="0">
                  <a:moveTo>
                    <a:pt x="698" y="0"/>
                  </a:moveTo>
                  <a:cubicBezTo>
                    <a:pt x="12350" y="377"/>
                    <a:pt x="21600" y="9931"/>
                    <a:pt x="21600" y="21589"/>
                  </a:cubicBezTo>
                  <a:cubicBezTo>
                    <a:pt x="21600" y="24979"/>
                    <a:pt x="20802" y="28321"/>
                    <a:pt x="19270" y="31345"/>
                  </a:cubicBezTo>
                  <a:lnTo>
                    <a:pt x="0" y="21589"/>
                  </a:lnTo>
                  <a:lnTo>
                    <a:pt x="698" y="0"/>
                  </a:lnTo>
                  <a:close/>
                </a:path>
              </a:pathLst>
            </a:custGeom>
            <a:noFill/>
            <a:ln w="22225">
              <a:solidFill>
                <a:srgbClr val="000000"/>
              </a:solidFill>
              <a:round/>
              <a:headEnd/>
              <a:tailEnd type="triangle" w="lg"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50" name="Freeform 48">
              <a:extLst>
                <a:ext uri="{FF2B5EF4-FFF2-40B4-BE49-F238E27FC236}">
                  <a16:creationId xmlns:a16="http://schemas.microsoft.com/office/drawing/2014/main" id="{9A68CD72-4BFD-4A0D-2961-DE7B1263F831}"/>
                </a:ext>
              </a:extLst>
            </p:cNvPr>
            <p:cNvSpPr>
              <a:spLocks/>
            </p:cNvSpPr>
            <p:nvPr/>
          </p:nvSpPr>
          <p:spPr bwMode="auto">
            <a:xfrm>
              <a:off x="3546475" y="3370263"/>
              <a:ext cx="109538" cy="1492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51" name="Line 49">
              <a:extLst>
                <a:ext uri="{FF2B5EF4-FFF2-40B4-BE49-F238E27FC236}">
                  <a16:creationId xmlns:a16="http://schemas.microsoft.com/office/drawing/2014/main" id="{7158A98E-DE88-E1A9-D9BE-CC3EAA4344E6}"/>
                </a:ext>
              </a:extLst>
            </p:cNvPr>
            <p:cNvSpPr>
              <a:spLocks noChangeShapeType="1"/>
            </p:cNvSpPr>
            <p:nvPr/>
          </p:nvSpPr>
          <p:spPr bwMode="auto">
            <a:xfrm flipH="1" flipV="1">
              <a:off x="4313238" y="1763712"/>
              <a:ext cx="133350" cy="8667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604" name="Text Box 50">
            <a:extLst>
              <a:ext uri="{FF2B5EF4-FFF2-40B4-BE49-F238E27FC236}">
                <a16:creationId xmlns:a16="http://schemas.microsoft.com/office/drawing/2014/main" id="{B5532B3E-6B49-FEB5-02C0-27F008707BC7}"/>
              </a:ext>
            </a:extLst>
          </p:cNvPr>
          <p:cNvSpPr txBox="1">
            <a:spLocks noChangeArrowheads="1"/>
          </p:cNvSpPr>
          <p:nvPr/>
        </p:nvSpPr>
        <p:spPr bwMode="auto">
          <a:xfrm>
            <a:off x="1881188" y="4090988"/>
            <a:ext cx="8558212"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Given maximal delay of internal designed</a:t>
            </a:r>
            <a:r>
              <a:rPr lang="en-US" altLang="en-US" sz="1800" b="1"/>
              <a:t>  </a:t>
            </a:r>
            <a:r>
              <a:rPr lang="en-US" altLang="en-US" sz="1800"/>
              <a:t>output logic from  CLK to the port B</a:t>
            </a:r>
            <a:r>
              <a:rPr lang="ru-RU" altLang="en-US" sz="1800" b="1"/>
              <a:t> </a:t>
            </a:r>
            <a:r>
              <a:rPr lang="en-US" altLang="en-US" sz="1800" b="1"/>
              <a:t>(</a:t>
            </a:r>
            <a:r>
              <a:rPr lang="fr-FR" altLang="en-US" sz="1800"/>
              <a:t>T</a:t>
            </a:r>
            <a:r>
              <a:rPr lang="fr-FR" altLang="en-US" sz="1800" baseline="-25000"/>
              <a:t>OUTPUT</a:t>
            </a:r>
            <a:r>
              <a:rPr lang="ru-RU" altLang="en-US" sz="1800" baseline="-25000"/>
              <a:t>_LOGIC(</a:t>
            </a:r>
            <a:r>
              <a:rPr lang="fr-FR" altLang="en-US" sz="1800" baseline="-25000"/>
              <a:t>MAX</a:t>
            </a:r>
            <a:r>
              <a:rPr lang="ru-RU" altLang="en-US" sz="1800"/>
              <a:t>).</a:t>
            </a:r>
            <a:endParaRPr lang="fr-FR" altLang="en-US" sz="1800"/>
          </a:p>
          <a:p>
            <a:pPr eaLnBrk="1" hangingPunct="1">
              <a:spcBef>
                <a:spcPct val="0"/>
              </a:spcBef>
              <a:buClrTx/>
              <a:buSzTx/>
              <a:buFontTx/>
              <a:buNone/>
            </a:pPr>
            <a:r>
              <a:rPr lang="fr-FR" altLang="en-US" sz="1800"/>
              <a:t>P=2 ns, T</a:t>
            </a:r>
            <a:r>
              <a:rPr lang="fr-FR" altLang="en-US" sz="1800" baseline="-25000"/>
              <a:t>U </a:t>
            </a:r>
            <a:r>
              <a:rPr lang="fr-FR" altLang="en-US" sz="1800"/>
              <a:t>= 0,3. T</a:t>
            </a:r>
            <a:r>
              <a:rPr lang="fr-FR" altLang="en-US" sz="1800" baseline="-25000"/>
              <a:t>SETUP</a:t>
            </a:r>
            <a:r>
              <a:rPr lang="fr-FR" altLang="en-US" sz="1800"/>
              <a:t> = 0.1,  T </a:t>
            </a:r>
            <a:r>
              <a:rPr lang="fr-FR" altLang="en-US" sz="1800" baseline="-25000"/>
              <a:t>OUTPUT_LOGIC(MAX)</a:t>
            </a:r>
            <a:r>
              <a:rPr lang="fr-FR" altLang="en-US" sz="1800"/>
              <a:t> = 0,7.</a:t>
            </a:r>
            <a:endParaRPr lang="ru-RU" altLang="en-US" sz="1800"/>
          </a:p>
          <a:p>
            <a:pPr eaLnBrk="1" hangingPunct="1">
              <a:spcBef>
                <a:spcPct val="0"/>
              </a:spcBef>
              <a:buClrTx/>
              <a:buSzTx/>
              <a:buFontTx/>
              <a:buNone/>
            </a:pPr>
            <a:r>
              <a:rPr lang="en-US" altLang="en-US" sz="1800"/>
              <a:t>In order to indicate this time DC, necessary determine </a:t>
            </a:r>
            <a:r>
              <a:rPr lang="ru-RU" altLang="en-US" sz="1800"/>
              <a:t>T</a:t>
            </a:r>
            <a:r>
              <a:rPr lang="ru-RU" altLang="en-US" sz="1800" baseline="-25000"/>
              <a:t>OUTPUT_DELAY_MAX.</a:t>
            </a:r>
            <a:endParaRPr lang="fr-FR" altLang="en-US" sz="1800" baseline="-25000"/>
          </a:p>
          <a:p>
            <a:pPr eaLnBrk="1" hangingPunct="1">
              <a:spcBef>
                <a:spcPct val="0"/>
              </a:spcBef>
              <a:buClrTx/>
              <a:buSzTx/>
              <a:buFontTx/>
              <a:buNone/>
            </a:pPr>
            <a:r>
              <a:rPr lang="fr-FR" altLang="en-US" sz="1800"/>
              <a:t>T</a:t>
            </a:r>
            <a:r>
              <a:rPr lang="fr-FR" altLang="en-US" sz="1800" baseline="-25000"/>
              <a:t>OUTPUT_DELAY_MAX</a:t>
            </a:r>
            <a:r>
              <a:rPr lang="fr-FR" altLang="en-US" sz="1800"/>
              <a:t> = P – T</a:t>
            </a:r>
            <a:r>
              <a:rPr lang="fr-FR" altLang="en-US" sz="1800" baseline="-25000"/>
              <a:t>U</a:t>
            </a:r>
            <a:r>
              <a:rPr lang="fr-FR" altLang="en-US" sz="1800"/>
              <a:t> – T</a:t>
            </a:r>
            <a:r>
              <a:rPr lang="fr-FR" altLang="en-US" sz="1800" baseline="-25000"/>
              <a:t>OUTPUT_LOGIC,MAX</a:t>
            </a:r>
            <a:r>
              <a:rPr lang="fr-FR" altLang="en-US" sz="1800"/>
              <a:t> = 1 ns.</a:t>
            </a:r>
            <a:endParaRPr lang="ru-RU" altLang="en-US" sz="180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4">
            <a:extLst>
              <a:ext uri="{FF2B5EF4-FFF2-40B4-BE49-F238E27FC236}">
                <a16:creationId xmlns:a16="http://schemas.microsoft.com/office/drawing/2014/main" id="{7D954CB1-0532-D1E3-E8B3-B0B89DC9FB67}"/>
              </a:ext>
            </a:extLst>
          </p:cNvPr>
          <p:cNvSpPr>
            <a:spLocks noGrp="1" noChangeArrowheads="1"/>
          </p:cNvSpPr>
          <p:nvPr>
            <p:ph type="title"/>
          </p:nvPr>
        </p:nvSpPr>
        <p:spPr/>
        <p:txBody>
          <a:bodyPr/>
          <a:lstStyle/>
          <a:p>
            <a:r>
              <a:rPr lang="en-US" altLang="en-US"/>
              <a:t>Timing Constraints and Diagram for Example 4</a:t>
            </a:r>
          </a:p>
        </p:txBody>
      </p:sp>
      <p:sp>
        <p:nvSpPr>
          <p:cNvPr id="154627" name="Text Box 5">
            <a:extLst>
              <a:ext uri="{FF2B5EF4-FFF2-40B4-BE49-F238E27FC236}">
                <a16:creationId xmlns:a16="http://schemas.microsoft.com/office/drawing/2014/main" id="{6B355BD7-0EA4-7C5B-FF04-71948D230110}"/>
              </a:ext>
            </a:extLst>
          </p:cNvPr>
          <p:cNvSpPr txBox="1">
            <a:spLocks noChangeArrowheads="1"/>
          </p:cNvSpPr>
          <p:nvPr/>
        </p:nvSpPr>
        <p:spPr bwMode="auto">
          <a:xfrm>
            <a:off x="1828800" y="1600201"/>
            <a:ext cx="7620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solidFill>
                  <a:srgbClr val="3333CC"/>
                </a:solidFill>
              </a:rPr>
              <a:t>create</a:t>
            </a:r>
            <a:r>
              <a:rPr lang="ru-RU" altLang="en-US" sz="1800" b="1">
                <a:solidFill>
                  <a:srgbClr val="3333CC"/>
                </a:solidFill>
              </a:rPr>
              <a:t>_</a:t>
            </a:r>
            <a:r>
              <a:rPr lang="en-US" altLang="en-US" sz="1800" b="1">
                <a:solidFill>
                  <a:srgbClr val="3333CC"/>
                </a:solidFill>
              </a:rPr>
              <a:t>clock</a:t>
            </a:r>
            <a:r>
              <a:rPr lang="ru-RU" altLang="en-US" sz="1800">
                <a:solidFill>
                  <a:srgbClr val="3333CC"/>
                </a:solidFill>
              </a:rPr>
              <a:t>  -</a:t>
            </a:r>
            <a:r>
              <a:rPr lang="en-US" altLang="en-US" sz="1800">
                <a:solidFill>
                  <a:srgbClr val="3333CC"/>
                </a:solidFill>
              </a:rPr>
              <a:t>period</a:t>
            </a:r>
            <a:r>
              <a:rPr lang="ru-RU" altLang="en-US" sz="1800">
                <a:solidFill>
                  <a:srgbClr val="3333CC"/>
                </a:solidFill>
              </a:rPr>
              <a:t> 2 [</a:t>
            </a:r>
            <a:r>
              <a:rPr lang="en-US" altLang="en-US" sz="1800">
                <a:solidFill>
                  <a:srgbClr val="3333CC"/>
                </a:solidFill>
              </a:rPr>
              <a:t>get</a:t>
            </a:r>
            <a:r>
              <a:rPr lang="ru-RU" altLang="en-US" sz="1800">
                <a:solidFill>
                  <a:srgbClr val="3333CC"/>
                </a:solidFill>
              </a:rPr>
              <a:t>_</a:t>
            </a:r>
            <a:r>
              <a:rPr lang="en-US" altLang="en-US" sz="1800">
                <a:solidFill>
                  <a:srgbClr val="3333CC"/>
                </a:solidFill>
              </a:rPr>
              <a:t>ports CLK</a:t>
            </a:r>
            <a:r>
              <a:rPr lang="ru-RU" altLang="en-US" sz="1800">
                <a:solidFill>
                  <a:srgbClr val="3333CC"/>
                </a:solidFill>
              </a:rPr>
              <a:t>]</a:t>
            </a:r>
            <a:endParaRPr lang="en-US" altLang="en-US" sz="1800" b="1">
              <a:solidFill>
                <a:srgbClr val="3333CC"/>
              </a:solidFill>
            </a:endParaRPr>
          </a:p>
          <a:p>
            <a:pPr eaLnBrk="1" hangingPunct="1">
              <a:spcBef>
                <a:spcPct val="0"/>
              </a:spcBef>
              <a:buClrTx/>
              <a:buSzTx/>
              <a:buFontTx/>
              <a:buNone/>
            </a:pPr>
            <a:r>
              <a:rPr lang="en-US" altLang="en-US" sz="1800" b="1">
                <a:solidFill>
                  <a:srgbClr val="3333CC"/>
                </a:solidFill>
              </a:rPr>
              <a:t>set_clock_uncertainty </a:t>
            </a:r>
            <a:r>
              <a:rPr lang="en-US" altLang="en-US" sz="1800">
                <a:solidFill>
                  <a:srgbClr val="3333CC"/>
                </a:solidFill>
              </a:rPr>
              <a:t>–setup </a:t>
            </a:r>
            <a:r>
              <a:rPr lang="en-US" altLang="en-US" sz="1800" b="1">
                <a:solidFill>
                  <a:srgbClr val="3333CC"/>
                </a:solidFill>
              </a:rPr>
              <a:t> </a:t>
            </a:r>
            <a:r>
              <a:rPr lang="en-US" altLang="en-US" sz="1800">
                <a:solidFill>
                  <a:srgbClr val="3333CC"/>
                </a:solidFill>
              </a:rPr>
              <a:t>0.3   [get_clocks CLK]</a:t>
            </a:r>
            <a:endParaRPr lang="en-US" altLang="en-US" sz="1800" b="1">
              <a:solidFill>
                <a:srgbClr val="3333CC"/>
              </a:solidFill>
            </a:endParaRPr>
          </a:p>
          <a:p>
            <a:pPr eaLnBrk="1" hangingPunct="1">
              <a:spcBef>
                <a:spcPct val="0"/>
              </a:spcBef>
              <a:buClrTx/>
              <a:buSzTx/>
              <a:buFontTx/>
              <a:buNone/>
            </a:pPr>
            <a:r>
              <a:rPr lang="en-US" altLang="en-US" sz="1800" b="1">
                <a:solidFill>
                  <a:srgbClr val="3333CC"/>
                </a:solidFill>
              </a:rPr>
              <a:t>set_output_delay </a:t>
            </a:r>
            <a:r>
              <a:rPr lang="en-US" altLang="en-US" sz="1800">
                <a:solidFill>
                  <a:srgbClr val="3333CC"/>
                </a:solidFill>
              </a:rPr>
              <a:t>–max</a:t>
            </a:r>
            <a:r>
              <a:rPr lang="en-US" altLang="en-US" sz="1800" b="1">
                <a:solidFill>
                  <a:srgbClr val="3333CC"/>
                </a:solidFill>
              </a:rPr>
              <a:t> </a:t>
            </a:r>
            <a:r>
              <a:rPr lang="en-US" altLang="en-US" sz="1800">
                <a:solidFill>
                  <a:srgbClr val="3333CC"/>
                </a:solidFill>
              </a:rPr>
              <a:t>1</a:t>
            </a:r>
            <a:r>
              <a:rPr lang="en-US" altLang="en-US" sz="1800" b="1">
                <a:solidFill>
                  <a:srgbClr val="3333CC"/>
                </a:solidFill>
              </a:rPr>
              <a:t> </a:t>
            </a:r>
            <a:r>
              <a:rPr lang="en-US" altLang="en-US" sz="1800">
                <a:solidFill>
                  <a:srgbClr val="3333CC"/>
                </a:solidFill>
              </a:rPr>
              <a:t>–clock</a:t>
            </a:r>
            <a:r>
              <a:rPr lang="en-US" altLang="en-US" sz="1800" b="1">
                <a:solidFill>
                  <a:srgbClr val="3333CC"/>
                </a:solidFill>
              </a:rPr>
              <a:t> </a:t>
            </a:r>
            <a:r>
              <a:rPr lang="en-US" altLang="en-US" sz="1800">
                <a:solidFill>
                  <a:srgbClr val="3333CC"/>
                </a:solidFill>
              </a:rPr>
              <a:t>CLK [get_ports B]</a:t>
            </a:r>
            <a:endParaRPr lang="ru-RU" altLang="en-US" sz="1800">
              <a:solidFill>
                <a:srgbClr val="3333CC"/>
              </a:solidFill>
            </a:endParaRPr>
          </a:p>
        </p:txBody>
      </p:sp>
      <p:grpSp>
        <p:nvGrpSpPr>
          <p:cNvPr id="154628" name="Group 1">
            <a:extLst>
              <a:ext uri="{FF2B5EF4-FFF2-40B4-BE49-F238E27FC236}">
                <a16:creationId xmlns:a16="http://schemas.microsoft.com/office/drawing/2014/main" id="{5398B6CA-772B-8870-7706-2BFCA61CA513}"/>
              </a:ext>
            </a:extLst>
          </p:cNvPr>
          <p:cNvGrpSpPr>
            <a:grpSpLocks/>
          </p:cNvGrpSpPr>
          <p:nvPr/>
        </p:nvGrpSpPr>
        <p:grpSpPr bwMode="auto">
          <a:xfrm>
            <a:off x="2743200" y="2590800"/>
            <a:ext cx="6477000" cy="3086100"/>
            <a:chOff x="1219200" y="3086100"/>
            <a:chExt cx="6477000" cy="3086100"/>
          </a:xfrm>
        </p:grpSpPr>
        <p:sp>
          <p:nvSpPr>
            <p:cNvPr id="154629" name="Line 7">
              <a:extLst>
                <a:ext uri="{FF2B5EF4-FFF2-40B4-BE49-F238E27FC236}">
                  <a16:creationId xmlns:a16="http://schemas.microsoft.com/office/drawing/2014/main" id="{7B2E3274-DBEF-0865-517A-35A568F5ECAE}"/>
                </a:ext>
              </a:extLst>
            </p:cNvPr>
            <p:cNvSpPr>
              <a:spLocks noChangeShapeType="1"/>
            </p:cNvSpPr>
            <p:nvPr/>
          </p:nvSpPr>
          <p:spPr bwMode="auto">
            <a:xfrm>
              <a:off x="1219200" y="4006850"/>
              <a:ext cx="7699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0" name="Line 8">
              <a:extLst>
                <a:ext uri="{FF2B5EF4-FFF2-40B4-BE49-F238E27FC236}">
                  <a16:creationId xmlns:a16="http://schemas.microsoft.com/office/drawing/2014/main" id="{6AF32550-ABC8-B482-62B5-52F4D519D7D7}"/>
                </a:ext>
              </a:extLst>
            </p:cNvPr>
            <p:cNvSpPr>
              <a:spLocks noChangeShapeType="1"/>
            </p:cNvSpPr>
            <p:nvPr/>
          </p:nvSpPr>
          <p:spPr bwMode="auto">
            <a:xfrm flipV="1">
              <a:off x="1974850" y="3460750"/>
              <a:ext cx="0" cy="5461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1" name="Line 9">
              <a:extLst>
                <a:ext uri="{FF2B5EF4-FFF2-40B4-BE49-F238E27FC236}">
                  <a16:creationId xmlns:a16="http://schemas.microsoft.com/office/drawing/2014/main" id="{1948E756-0789-E561-AB62-60C152E0C6BB}"/>
                </a:ext>
              </a:extLst>
            </p:cNvPr>
            <p:cNvSpPr>
              <a:spLocks noChangeShapeType="1"/>
            </p:cNvSpPr>
            <p:nvPr/>
          </p:nvSpPr>
          <p:spPr bwMode="auto">
            <a:xfrm>
              <a:off x="1985963" y="3448050"/>
              <a:ext cx="15621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2" name="Line 10">
              <a:extLst>
                <a:ext uri="{FF2B5EF4-FFF2-40B4-BE49-F238E27FC236}">
                  <a16:creationId xmlns:a16="http://schemas.microsoft.com/office/drawing/2014/main" id="{6194AE82-75B9-D5E9-EAE3-31BEB96BAB7B}"/>
                </a:ext>
              </a:extLst>
            </p:cNvPr>
            <p:cNvSpPr>
              <a:spLocks noChangeShapeType="1"/>
            </p:cNvSpPr>
            <p:nvPr/>
          </p:nvSpPr>
          <p:spPr bwMode="auto">
            <a:xfrm flipV="1">
              <a:off x="3538538" y="3448050"/>
              <a:ext cx="0" cy="5461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3" name="Line 11">
              <a:extLst>
                <a:ext uri="{FF2B5EF4-FFF2-40B4-BE49-F238E27FC236}">
                  <a16:creationId xmlns:a16="http://schemas.microsoft.com/office/drawing/2014/main" id="{8BCEB533-C072-3DC6-18F0-DF6A4E235AEC}"/>
                </a:ext>
              </a:extLst>
            </p:cNvPr>
            <p:cNvSpPr>
              <a:spLocks noChangeShapeType="1"/>
            </p:cNvSpPr>
            <p:nvPr/>
          </p:nvSpPr>
          <p:spPr bwMode="auto">
            <a:xfrm>
              <a:off x="3538538" y="3997325"/>
              <a:ext cx="15922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4" name="Line 12">
              <a:extLst>
                <a:ext uri="{FF2B5EF4-FFF2-40B4-BE49-F238E27FC236}">
                  <a16:creationId xmlns:a16="http://schemas.microsoft.com/office/drawing/2014/main" id="{9036248B-4711-0BD9-883A-E348173B2094}"/>
                </a:ext>
              </a:extLst>
            </p:cNvPr>
            <p:cNvSpPr>
              <a:spLocks noChangeShapeType="1"/>
            </p:cNvSpPr>
            <p:nvPr/>
          </p:nvSpPr>
          <p:spPr bwMode="auto">
            <a:xfrm flipV="1">
              <a:off x="5129213" y="3422650"/>
              <a:ext cx="0" cy="5715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5" name="Line 13">
              <a:extLst>
                <a:ext uri="{FF2B5EF4-FFF2-40B4-BE49-F238E27FC236}">
                  <a16:creationId xmlns:a16="http://schemas.microsoft.com/office/drawing/2014/main" id="{A0FB3F6C-FEB5-995E-55F3-6DABAA16238F}"/>
                </a:ext>
              </a:extLst>
            </p:cNvPr>
            <p:cNvSpPr>
              <a:spLocks noChangeShapeType="1"/>
            </p:cNvSpPr>
            <p:nvPr/>
          </p:nvSpPr>
          <p:spPr bwMode="auto">
            <a:xfrm>
              <a:off x="5129213" y="3419475"/>
              <a:ext cx="15446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6" name="Line 14">
              <a:extLst>
                <a:ext uri="{FF2B5EF4-FFF2-40B4-BE49-F238E27FC236}">
                  <a16:creationId xmlns:a16="http://schemas.microsoft.com/office/drawing/2014/main" id="{27FB9728-97C2-0E05-BDC6-6916B0FBCC7A}"/>
                </a:ext>
              </a:extLst>
            </p:cNvPr>
            <p:cNvSpPr>
              <a:spLocks noChangeShapeType="1"/>
            </p:cNvSpPr>
            <p:nvPr/>
          </p:nvSpPr>
          <p:spPr bwMode="auto">
            <a:xfrm flipV="1">
              <a:off x="6677024" y="3422650"/>
              <a:ext cx="11113" cy="5461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7" name="Line 15">
              <a:extLst>
                <a:ext uri="{FF2B5EF4-FFF2-40B4-BE49-F238E27FC236}">
                  <a16:creationId xmlns:a16="http://schemas.microsoft.com/office/drawing/2014/main" id="{4074F12F-FEDF-3689-75EA-A34C8D885E67}"/>
                </a:ext>
              </a:extLst>
            </p:cNvPr>
            <p:cNvSpPr>
              <a:spLocks noChangeShapeType="1"/>
            </p:cNvSpPr>
            <p:nvPr/>
          </p:nvSpPr>
          <p:spPr bwMode="auto">
            <a:xfrm flipV="1">
              <a:off x="2378075" y="3448050"/>
              <a:ext cx="0" cy="5524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8" name="Line 16">
              <a:extLst>
                <a:ext uri="{FF2B5EF4-FFF2-40B4-BE49-F238E27FC236}">
                  <a16:creationId xmlns:a16="http://schemas.microsoft.com/office/drawing/2014/main" id="{98F41948-4AAB-74B5-B970-9102A49ECEC8}"/>
                </a:ext>
              </a:extLst>
            </p:cNvPr>
            <p:cNvSpPr>
              <a:spLocks noChangeShapeType="1"/>
            </p:cNvSpPr>
            <p:nvPr/>
          </p:nvSpPr>
          <p:spPr bwMode="auto">
            <a:xfrm>
              <a:off x="1989138" y="4002088"/>
              <a:ext cx="369887" cy="0"/>
            </a:xfrm>
            <a:prstGeom prst="line">
              <a:avLst/>
            </a:prstGeom>
            <a:noFill/>
            <a:ln w="22225">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en-US"/>
            </a:p>
          </p:txBody>
        </p:sp>
        <p:sp>
          <p:nvSpPr>
            <p:cNvPr id="154639" name="Text Box 17">
              <a:extLst>
                <a:ext uri="{FF2B5EF4-FFF2-40B4-BE49-F238E27FC236}">
                  <a16:creationId xmlns:a16="http://schemas.microsoft.com/office/drawing/2014/main" id="{0730AC3C-4741-E01D-4B7A-AA8E74933825}"/>
                </a:ext>
              </a:extLst>
            </p:cNvPr>
            <p:cNvSpPr txBox="1">
              <a:spLocks noChangeArrowheads="1"/>
            </p:cNvSpPr>
            <p:nvPr/>
          </p:nvSpPr>
          <p:spPr bwMode="auto">
            <a:xfrm>
              <a:off x="1601788" y="3086100"/>
              <a:ext cx="9207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U </a:t>
              </a:r>
              <a:r>
                <a:rPr lang="ru-RU" altLang="en-US" sz="1600" b="1"/>
                <a:t>=0.3</a:t>
              </a:r>
            </a:p>
          </p:txBody>
        </p:sp>
        <p:sp>
          <p:nvSpPr>
            <p:cNvPr id="154640" name="Line 18">
              <a:extLst>
                <a:ext uri="{FF2B5EF4-FFF2-40B4-BE49-F238E27FC236}">
                  <a16:creationId xmlns:a16="http://schemas.microsoft.com/office/drawing/2014/main" id="{4B2F7DCD-A91B-2FDB-CB41-70F8169A3720}"/>
                </a:ext>
              </a:extLst>
            </p:cNvPr>
            <p:cNvSpPr>
              <a:spLocks noChangeShapeType="1"/>
            </p:cNvSpPr>
            <p:nvPr/>
          </p:nvSpPr>
          <p:spPr bwMode="auto">
            <a:xfrm>
              <a:off x="4835525" y="3543300"/>
              <a:ext cx="295275"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54641" name="Line 19">
              <a:extLst>
                <a:ext uri="{FF2B5EF4-FFF2-40B4-BE49-F238E27FC236}">
                  <a16:creationId xmlns:a16="http://schemas.microsoft.com/office/drawing/2014/main" id="{CDBBE416-3E38-5CA3-9EAB-FD3F81441811}"/>
                </a:ext>
              </a:extLst>
            </p:cNvPr>
            <p:cNvSpPr>
              <a:spLocks noChangeShapeType="1"/>
            </p:cNvSpPr>
            <p:nvPr/>
          </p:nvSpPr>
          <p:spPr bwMode="auto">
            <a:xfrm>
              <a:off x="6688138" y="3968750"/>
              <a:ext cx="7715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42" name="Line 20">
              <a:extLst>
                <a:ext uri="{FF2B5EF4-FFF2-40B4-BE49-F238E27FC236}">
                  <a16:creationId xmlns:a16="http://schemas.microsoft.com/office/drawing/2014/main" id="{13E01B7E-A091-A9D5-F330-EBB60CD1D560}"/>
                </a:ext>
              </a:extLst>
            </p:cNvPr>
            <p:cNvSpPr>
              <a:spLocks noChangeShapeType="1"/>
            </p:cNvSpPr>
            <p:nvPr/>
          </p:nvSpPr>
          <p:spPr bwMode="auto">
            <a:xfrm>
              <a:off x="1985963" y="4227513"/>
              <a:ext cx="0" cy="130333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4643" name="Line 21">
              <a:extLst>
                <a:ext uri="{FF2B5EF4-FFF2-40B4-BE49-F238E27FC236}">
                  <a16:creationId xmlns:a16="http://schemas.microsoft.com/office/drawing/2014/main" id="{2F7AED0C-BCCA-3723-7756-FB5A5FF7F7B0}"/>
                </a:ext>
              </a:extLst>
            </p:cNvPr>
            <p:cNvSpPr>
              <a:spLocks noChangeShapeType="1"/>
            </p:cNvSpPr>
            <p:nvPr/>
          </p:nvSpPr>
          <p:spPr bwMode="auto">
            <a:xfrm>
              <a:off x="4819650" y="4167188"/>
              <a:ext cx="12700" cy="103028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4644" name="Text Box 22">
              <a:extLst>
                <a:ext uri="{FF2B5EF4-FFF2-40B4-BE49-F238E27FC236}">
                  <a16:creationId xmlns:a16="http://schemas.microsoft.com/office/drawing/2014/main" id="{58092776-CEC2-B325-01CE-5F88E668D47C}"/>
                </a:ext>
              </a:extLst>
            </p:cNvPr>
            <p:cNvSpPr txBox="1">
              <a:spLocks noChangeArrowheads="1"/>
            </p:cNvSpPr>
            <p:nvPr/>
          </p:nvSpPr>
          <p:spPr bwMode="auto">
            <a:xfrm>
              <a:off x="1782763" y="3938588"/>
              <a:ext cx="5445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a:t>
              </a:r>
            </a:p>
          </p:txBody>
        </p:sp>
        <p:sp>
          <p:nvSpPr>
            <p:cNvPr id="154645" name="Text Box 23">
              <a:extLst>
                <a:ext uri="{FF2B5EF4-FFF2-40B4-BE49-F238E27FC236}">
                  <a16:creationId xmlns:a16="http://schemas.microsoft.com/office/drawing/2014/main" id="{CC541535-BDB4-DDDD-CBB1-C81C965ECCD3}"/>
                </a:ext>
              </a:extLst>
            </p:cNvPr>
            <p:cNvSpPr txBox="1">
              <a:spLocks noChangeArrowheads="1"/>
            </p:cNvSpPr>
            <p:nvPr/>
          </p:nvSpPr>
          <p:spPr bwMode="auto">
            <a:xfrm>
              <a:off x="3457575" y="3963988"/>
              <a:ext cx="4746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a:t>
              </a:r>
            </a:p>
          </p:txBody>
        </p:sp>
        <p:sp>
          <p:nvSpPr>
            <p:cNvPr id="154646" name="Text Box 24">
              <a:extLst>
                <a:ext uri="{FF2B5EF4-FFF2-40B4-BE49-F238E27FC236}">
                  <a16:creationId xmlns:a16="http://schemas.microsoft.com/office/drawing/2014/main" id="{262CD1BF-6E25-0FFA-E972-B80FCCCD8340}"/>
                </a:ext>
              </a:extLst>
            </p:cNvPr>
            <p:cNvSpPr txBox="1">
              <a:spLocks noChangeArrowheads="1"/>
            </p:cNvSpPr>
            <p:nvPr/>
          </p:nvSpPr>
          <p:spPr bwMode="auto">
            <a:xfrm>
              <a:off x="4559300" y="3951288"/>
              <a:ext cx="7254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1.9</a:t>
              </a:r>
            </a:p>
          </p:txBody>
        </p:sp>
        <p:sp>
          <p:nvSpPr>
            <p:cNvPr id="154647" name="Text Box 25">
              <a:extLst>
                <a:ext uri="{FF2B5EF4-FFF2-40B4-BE49-F238E27FC236}">
                  <a16:creationId xmlns:a16="http://schemas.microsoft.com/office/drawing/2014/main" id="{91B7E690-C60F-414E-4D08-471780EC396E}"/>
                </a:ext>
              </a:extLst>
            </p:cNvPr>
            <p:cNvSpPr txBox="1">
              <a:spLocks noChangeArrowheads="1"/>
            </p:cNvSpPr>
            <p:nvPr/>
          </p:nvSpPr>
          <p:spPr bwMode="auto">
            <a:xfrm>
              <a:off x="4978400" y="3951288"/>
              <a:ext cx="7254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2</a:t>
              </a:r>
            </a:p>
          </p:txBody>
        </p:sp>
        <p:sp>
          <p:nvSpPr>
            <p:cNvPr id="154648" name="Text Box 26">
              <a:extLst>
                <a:ext uri="{FF2B5EF4-FFF2-40B4-BE49-F238E27FC236}">
                  <a16:creationId xmlns:a16="http://schemas.microsoft.com/office/drawing/2014/main" id="{ADAD4523-87E1-ABC9-89FC-7FF55D468ADE}"/>
                </a:ext>
              </a:extLst>
            </p:cNvPr>
            <p:cNvSpPr txBox="1">
              <a:spLocks noChangeArrowheads="1"/>
            </p:cNvSpPr>
            <p:nvPr/>
          </p:nvSpPr>
          <p:spPr bwMode="auto">
            <a:xfrm>
              <a:off x="2286000" y="5070475"/>
              <a:ext cx="23717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Max delay Reg-to-Reg</a:t>
              </a:r>
            </a:p>
          </p:txBody>
        </p:sp>
        <p:sp>
          <p:nvSpPr>
            <p:cNvPr id="154649" name="Line 27">
              <a:extLst>
                <a:ext uri="{FF2B5EF4-FFF2-40B4-BE49-F238E27FC236}">
                  <a16:creationId xmlns:a16="http://schemas.microsoft.com/office/drawing/2014/main" id="{ADDAC4D9-6FA9-7B76-3189-EB3ABD043DCB}"/>
                </a:ext>
              </a:extLst>
            </p:cNvPr>
            <p:cNvSpPr>
              <a:spLocks noChangeShapeType="1"/>
            </p:cNvSpPr>
            <p:nvPr/>
          </p:nvSpPr>
          <p:spPr bwMode="auto">
            <a:xfrm flipH="1" flipV="1">
              <a:off x="4606925" y="3362325"/>
              <a:ext cx="368300" cy="1111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50" name="Text Box 28">
              <a:extLst>
                <a:ext uri="{FF2B5EF4-FFF2-40B4-BE49-F238E27FC236}">
                  <a16:creationId xmlns:a16="http://schemas.microsoft.com/office/drawing/2014/main" id="{F103675A-ADDA-F8AA-F97E-120079292CA6}"/>
                </a:ext>
              </a:extLst>
            </p:cNvPr>
            <p:cNvSpPr txBox="1">
              <a:spLocks noChangeArrowheads="1"/>
            </p:cNvSpPr>
            <p:nvPr/>
          </p:nvSpPr>
          <p:spPr bwMode="auto">
            <a:xfrm>
              <a:off x="3719513" y="3101975"/>
              <a:ext cx="12557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r>
                <a:rPr lang="ru-RU" altLang="en-US" sz="1600" b="1" baseline="-25000"/>
                <a:t>SETUP</a:t>
              </a:r>
              <a:r>
                <a:rPr lang="ru-RU" altLang="en-US" sz="1600" b="1"/>
                <a:t> =0.1</a:t>
              </a:r>
            </a:p>
          </p:txBody>
        </p:sp>
        <p:sp>
          <p:nvSpPr>
            <p:cNvPr id="154651" name="Line 29">
              <a:extLst>
                <a:ext uri="{FF2B5EF4-FFF2-40B4-BE49-F238E27FC236}">
                  <a16:creationId xmlns:a16="http://schemas.microsoft.com/office/drawing/2014/main" id="{250B08D4-60DD-5039-1F31-B56ED38CFA32}"/>
                </a:ext>
              </a:extLst>
            </p:cNvPr>
            <p:cNvSpPr>
              <a:spLocks noChangeShapeType="1"/>
            </p:cNvSpPr>
            <p:nvPr/>
          </p:nvSpPr>
          <p:spPr bwMode="auto">
            <a:xfrm flipH="1">
              <a:off x="3189288" y="3281363"/>
              <a:ext cx="0" cy="114458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4652" name="Line 30">
              <a:extLst>
                <a:ext uri="{FF2B5EF4-FFF2-40B4-BE49-F238E27FC236}">
                  <a16:creationId xmlns:a16="http://schemas.microsoft.com/office/drawing/2014/main" id="{EA7EBA2C-6CCB-2203-E059-D14CBB9A1505}"/>
                </a:ext>
              </a:extLst>
            </p:cNvPr>
            <p:cNvSpPr>
              <a:spLocks noChangeShapeType="1"/>
            </p:cNvSpPr>
            <p:nvPr/>
          </p:nvSpPr>
          <p:spPr bwMode="auto">
            <a:xfrm>
              <a:off x="2349500" y="4298950"/>
              <a:ext cx="1203325"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653" name="Line 31">
              <a:extLst>
                <a:ext uri="{FF2B5EF4-FFF2-40B4-BE49-F238E27FC236}">
                  <a16:creationId xmlns:a16="http://schemas.microsoft.com/office/drawing/2014/main" id="{EDCADF24-2F14-77AB-9B3B-E399A2E9F9CC}"/>
                </a:ext>
              </a:extLst>
            </p:cNvPr>
            <p:cNvSpPr>
              <a:spLocks noChangeShapeType="1"/>
            </p:cNvSpPr>
            <p:nvPr/>
          </p:nvSpPr>
          <p:spPr bwMode="auto">
            <a:xfrm>
              <a:off x="3565525" y="4298950"/>
              <a:ext cx="1255713"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654" name="Line 32">
              <a:extLst>
                <a:ext uri="{FF2B5EF4-FFF2-40B4-BE49-F238E27FC236}">
                  <a16:creationId xmlns:a16="http://schemas.microsoft.com/office/drawing/2014/main" id="{BA9B18EC-A7C6-4451-F31A-76769661169F}"/>
                </a:ext>
              </a:extLst>
            </p:cNvPr>
            <p:cNvSpPr>
              <a:spLocks noChangeShapeType="1"/>
            </p:cNvSpPr>
            <p:nvPr/>
          </p:nvSpPr>
          <p:spPr bwMode="auto">
            <a:xfrm>
              <a:off x="5143500" y="4159250"/>
              <a:ext cx="0" cy="1423988"/>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4655" name="Line 33">
              <a:extLst>
                <a:ext uri="{FF2B5EF4-FFF2-40B4-BE49-F238E27FC236}">
                  <a16:creationId xmlns:a16="http://schemas.microsoft.com/office/drawing/2014/main" id="{9B506704-EA56-2F51-E94F-D5359033EB07}"/>
                </a:ext>
              </a:extLst>
            </p:cNvPr>
            <p:cNvSpPr>
              <a:spLocks noChangeShapeType="1"/>
            </p:cNvSpPr>
            <p:nvPr/>
          </p:nvSpPr>
          <p:spPr bwMode="auto">
            <a:xfrm>
              <a:off x="2390775" y="5103813"/>
              <a:ext cx="2420938"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656" name="Text Box 34">
              <a:extLst>
                <a:ext uri="{FF2B5EF4-FFF2-40B4-BE49-F238E27FC236}">
                  <a16:creationId xmlns:a16="http://schemas.microsoft.com/office/drawing/2014/main" id="{D660158E-D0A7-8645-D330-62BFACC4E179}"/>
                </a:ext>
              </a:extLst>
            </p:cNvPr>
            <p:cNvSpPr txBox="1">
              <a:spLocks noChangeArrowheads="1"/>
            </p:cNvSpPr>
            <p:nvPr/>
          </p:nvSpPr>
          <p:spPr bwMode="auto">
            <a:xfrm>
              <a:off x="3149600" y="5667375"/>
              <a:ext cx="12700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Period</a:t>
              </a:r>
            </a:p>
          </p:txBody>
        </p:sp>
        <p:sp>
          <p:nvSpPr>
            <p:cNvPr id="154657" name="Text Box 35">
              <a:extLst>
                <a:ext uri="{FF2B5EF4-FFF2-40B4-BE49-F238E27FC236}">
                  <a16:creationId xmlns:a16="http://schemas.microsoft.com/office/drawing/2014/main" id="{809D1CD6-F951-28E0-862F-EB1861124B65}"/>
                </a:ext>
              </a:extLst>
            </p:cNvPr>
            <p:cNvSpPr txBox="1">
              <a:spLocks noChangeArrowheads="1"/>
            </p:cNvSpPr>
            <p:nvPr/>
          </p:nvSpPr>
          <p:spPr bwMode="auto">
            <a:xfrm>
              <a:off x="2662238" y="4281488"/>
              <a:ext cx="7254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0.7</a:t>
              </a:r>
            </a:p>
          </p:txBody>
        </p:sp>
        <p:sp>
          <p:nvSpPr>
            <p:cNvPr id="154658" name="Line 36">
              <a:extLst>
                <a:ext uri="{FF2B5EF4-FFF2-40B4-BE49-F238E27FC236}">
                  <a16:creationId xmlns:a16="http://schemas.microsoft.com/office/drawing/2014/main" id="{DCBF6E91-4018-B07D-B7FD-FCD05ABB7892}"/>
                </a:ext>
              </a:extLst>
            </p:cNvPr>
            <p:cNvSpPr>
              <a:spLocks noChangeShapeType="1"/>
            </p:cNvSpPr>
            <p:nvPr/>
          </p:nvSpPr>
          <p:spPr bwMode="auto">
            <a:xfrm>
              <a:off x="1974850" y="3603625"/>
              <a:ext cx="395288" cy="0"/>
            </a:xfrm>
            <a:prstGeom prst="line">
              <a:avLst/>
            </a:prstGeom>
            <a:noFill/>
            <a:ln w="222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54659" name="Line 37">
              <a:extLst>
                <a:ext uri="{FF2B5EF4-FFF2-40B4-BE49-F238E27FC236}">
                  <a16:creationId xmlns:a16="http://schemas.microsoft.com/office/drawing/2014/main" id="{1D49B4A9-0D14-06BB-7B01-EF360D781A10}"/>
                </a:ext>
              </a:extLst>
            </p:cNvPr>
            <p:cNvSpPr>
              <a:spLocks noChangeShapeType="1"/>
            </p:cNvSpPr>
            <p:nvPr/>
          </p:nvSpPr>
          <p:spPr bwMode="auto">
            <a:xfrm flipV="1">
              <a:off x="4832350" y="3422650"/>
              <a:ext cx="0" cy="5524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60" name="Text Box 38">
              <a:extLst>
                <a:ext uri="{FF2B5EF4-FFF2-40B4-BE49-F238E27FC236}">
                  <a16:creationId xmlns:a16="http://schemas.microsoft.com/office/drawing/2014/main" id="{79C20AD8-FB35-E820-8BBD-277CF6FAA2D2}"/>
                </a:ext>
              </a:extLst>
            </p:cNvPr>
            <p:cNvSpPr txBox="1">
              <a:spLocks noChangeArrowheads="1"/>
            </p:cNvSpPr>
            <p:nvPr/>
          </p:nvSpPr>
          <p:spPr bwMode="auto">
            <a:xfrm>
              <a:off x="4084638" y="4243388"/>
              <a:ext cx="7254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0.9</a:t>
              </a:r>
            </a:p>
          </p:txBody>
        </p:sp>
        <p:sp>
          <p:nvSpPr>
            <p:cNvPr id="154661" name="Line 39">
              <a:extLst>
                <a:ext uri="{FF2B5EF4-FFF2-40B4-BE49-F238E27FC236}">
                  <a16:creationId xmlns:a16="http://schemas.microsoft.com/office/drawing/2014/main" id="{7D3C4204-9627-E557-BF34-314860C34148}"/>
                </a:ext>
              </a:extLst>
            </p:cNvPr>
            <p:cNvSpPr>
              <a:spLocks noChangeShapeType="1"/>
            </p:cNvSpPr>
            <p:nvPr/>
          </p:nvSpPr>
          <p:spPr bwMode="auto">
            <a:xfrm flipH="1">
              <a:off x="3538538" y="3613150"/>
              <a:ext cx="0" cy="1144588"/>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4662" name="Line 40">
              <a:extLst>
                <a:ext uri="{FF2B5EF4-FFF2-40B4-BE49-F238E27FC236}">
                  <a16:creationId xmlns:a16="http://schemas.microsoft.com/office/drawing/2014/main" id="{83B700F7-11D6-6F9D-ECDF-18CCD3C873FC}"/>
                </a:ext>
              </a:extLst>
            </p:cNvPr>
            <p:cNvSpPr>
              <a:spLocks noChangeShapeType="1"/>
            </p:cNvSpPr>
            <p:nvPr/>
          </p:nvSpPr>
          <p:spPr bwMode="auto">
            <a:xfrm flipH="1" flipV="1">
              <a:off x="1974850" y="3362325"/>
              <a:ext cx="139700" cy="2159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63" name="Line 41">
              <a:extLst>
                <a:ext uri="{FF2B5EF4-FFF2-40B4-BE49-F238E27FC236}">
                  <a16:creationId xmlns:a16="http://schemas.microsoft.com/office/drawing/2014/main" id="{850531CB-30CA-9569-CC35-F210171ED4EC}"/>
                </a:ext>
              </a:extLst>
            </p:cNvPr>
            <p:cNvSpPr>
              <a:spLocks noChangeShapeType="1"/>
            </p:cNvSpPr>
            <p:nvPr/>
          </p:nvSpPr>
          <p:spPr bwMode="auto">
            <a:xfrm>
              <a:off x="2378075" y="4002088"/>
              <a:ext cx="0" cy="130175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4664" name="Line 42">
              <a:extLst>
                <a:ext uri="{FF2B5EF4-FFF2-40B4-BE49-F238E27FC236}">
                  <a16:creationId xmlns:a16="http://schemas.microsoft.com/office/drawing/2014/main" id="{796DF19F-3854-014F-28B2-7D475B47A807}"/>
                </a:ext>
              </a:extLst>
            </p:cNvPr>
            <p:cNvSpPr>
              <a:spLocks noChangeShapeType="1"/>
            </p:cNvSpPr>
            <p:nvPr/>
          </p:nvSpPr>
          <p:spPr bwMode="auto">
            <a:xfrm>
              <a:off x="4543425" y="4329113"/>
              <a:ext cx="1185863" cy="20320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665" name="Rectangle 43">
              <a:extLst>
                <a:ext uri="{FF2B5EF4-FFF2-40B4-BE49-F238E27FC236}">
                  <a16:creationId xmlns:a16="http://schemas.microsoft.com/office/drawing/2014/main" id="{92A5E653-15B0-1D63-8073-464F7D9E34AF}"/>
                </a:ext>
              </a:extLst>
            </p:cNvPr>
            <p:cNvSpPr>
              <a:spLocks noChangeArrowheads="1"/>
            </p:cNvSpPr>
            <p:nvPr/>
          </p:nvSpPr>
          <p:spPr bwMode="auto">
            <a:xfrm>
              <a:off x="5715000" y="4329113"/>
              <a:ext cx="1087438" cy="381000"/>
            </a:xfrm>
            <a:prstGeom prst="rect">
              <a:avLst/>
            </a:prstGeom>
            <a:solidFill>
              <a:srgbClr val="FFFFFF"/>
            </a:solidFill>
            <a:ln w="22225">
              <a:solidFill>
                <a:srgbClr val="000000"/>
              </a:solidFill>
              <a:prstDash val="dash"/>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T</a:t>
              </a:r>
              <a:r>
                <a:rPr lang="ru-RU" altLang="en-US" sz="1800" baseline="-25000"/>
                <a:t>LOG_Т</a:t>
              </a:r>
            </a:p>
            <a:p>
              <a:pPr eaLnBrk="1" hangingPunct="1"/>
              <a:endParaRPr lang="ru-RU" altLang="en-US" sz="1800"/>
            </a:p>
          </p:txBody>
        </p:sp>
        <p:sp>
          <p:nvSpPr>
            <p:cNvPr id="154666" name="Rectangle 44">
              <a:extLst>
                <a:ext uri="{FF2B5EF4-FFF2-40B4-BE49-F238E27FC236}">
                  <a16:creationId xmlns:a16="http://schemas.microsoft.com/office/drawing/2014/main" id="{C3BC3AF4-3D0C-8CF2-46E4-FA029FAB78B9}"/>
                </a:ext>
              </a:extLst>
            </p:cNvPr>
            <p:cNvSpPr>
              <a:spLocks noChangeArrowheads="1"/>
            </p:cNvSpPr>
            <p:nvPr/>
          </p:nvSpPr>
          <p:spPr bwMode="auto">
            <a:xfrm>
              <a:off x="5603875" y="5256213"/>
              <a:ext cx="2036763" cy="915987"/>
            </a:xfrm>
            <a:prstGeom prst="rect">
              <a:avLst/>
            </a:prstGeom>
            <a:solidFill>
              <a:srgbClr val="FFFFFF"/>
            </a:solidFill>
            <a:ln w="22225">
              <a:solidFill>
                <a:srgbClr val="000000"/>
              </a:solidFill>
              <a:prstDash val="dash"/>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T</a:t>
              </a:r>
              <a:r>
                <a:rPr lang="ru-RU" altLang="en-US" sz="1800" baseline="-25000"/>
                <a:t>OUTPUT_LOGIC(MAX)</a:t>
              </a:r>
            </a:p>
            <a:p>
              <a:pPr eaLnBrk="1" hangingPunct="1"/>
              <a:r>
                <a:rPr lang="ru-RU" altLang="en-US" sz="1800"/>
                <a:t>(</a:t>
              </a:r>
              <a:r>
                <a:rPr lang="en-US" altLang="en-US" sz="1800"/>
                <a:t>given</a:t>
              </a:r>
              <a:r>
                <a:rPr lang="ru-RU" altLang="en-US" sz="1800"/>
                <a:t>)</a:t>
              </a:r>
            </a:p>
          </p:txBody>
        </p:sp>
        <p:sp>
          <p:nvSpPr>
            <p:cNvPr id="154667" name="Line 45">
              <a:extLst>
                <a:ext uri="{FF2B5EF4-FFF2-40B4-BE49-F238E27FC236}">
                  <a16:creationId xmlns:a16="http://schemas.microsoft.com/office/drawing/2014/main" id="{33F3AE58-6B3D-2146-0728-CE62CA584A4A}"/>
                </a:ext>
              </a:extLst>
            </p:cNvPr>
            <p:cNvSpPr>
              <a:spLocks noChangeShapeType="1"/>
            </p:cNvSpPr>
            <p:nvPr/>
          </p:nvSpPr>
          <p:spPr bwMode="auto">
            <a:xfrm>
              <a:off x="3094038" y="4468813"/>
              <a:ext cx="2484437" cy="1109662"/>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668" name="Text Box 46">
              <a:extLst>
                <a:ext uri="{FF2B5EF4-FFF2-40B4-BE49-F238E27FC236}">
                  <a16:creationId xmlns:a16="http://schemas.microsoft.com/office/drawing/2014/main" id="{6E3BFF33-C76B-352C-4287-3368E7C2607D}"/>
                </a:ext>
              </a:extLst>
            </p:cNvPr>
            <p:cNvSpPr txBox="1">
              <a:spLocks noChangeArrowheads="1"/>
            </p:cNvSpPr>
            <p:nvPr/>
          </p:nvSpPr>
          <p:spPr bwMode="auto">
            <a:xfrm>
              <a:off x="2271713" y="3925888"/>
              <a:ext cx="5429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0.3</a:t>
              </a:r>
            </a:p>
          </p:txBody>
        </p:sp>
        <p:sp>
          <p:nvSpPr>
            <p:cNvPr id="154669" name="Line 47">
              <a:extLst>
                <a:ext uri="{FF2B5EF4-FFF2-40B4-BE49-F238E27FC236}">
                  <a16:creationId xmlns:a16="http://schemas.microsoft.com/office/drawing/2014/main" id="{381EC5EB-6A8C-E3CC-8595-020D630BDF4C}"/>
                </a:ext>
              </a:extLst>
            </p:cNvPr>
            <p:cNvSpPr>
              <a:spLocks noChangeShapeType="1"/>
            </p:cNvSpPr>
            <p:nvPr/>
          </p:nvSpPr>
          <p:spPr bwMode="auto">
            <a:xfrm>
              <a:off x="1985963" y="5446713"/>
              <a:ext cx="3159125"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670" name="Line 48">
              <a:extLst>
                <a:ext uri="{FF2B5EF4-FFF2-40B4-BE49-F238E27FC236}">
                  <a16:creationId xmlns:a16="http://schemas.microsoft.com/office/drawing/2014/main" id="{4A460FE3-7719-21B8-F7A7-E9DD25E28F34}"/>
                </a:ext>
              </a:extLst>
            </p:cNvPr>
            <p:cNvSpPr>
              <a:spLocks noChangeShapeType="1"/>
            </p:cNvSpPr>
            <p:nvPr/>
          </p:nvSpPr>
          <p:spPr bwMode="auto">
            <a:xfrm>
              <a:off x="3509963" y="4506913"/>
              <a:ext cx="1592262" cy="0"/>
            </a:xfrm>
            <a:prstGeom prst="line">
              <a:avLst/>
            </a:prstGeom>
            <a:noFill/>
            <a:ln w="222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671" name="Text Box 49">
              <a:extLst>
                <a:ext uri="{FF2B5EF4-FFF2-40B4-BE49-F238E27FC236}">
                  <a16:creationId xmlns:a16="http://schemas.microsoft.com/office/drawing/2014/main" id="{731E03CE-3DB2-AD06-8AF9-FF9E3A9D13C6}"/>
                </a:ext>
              </a:extLst>
            </p:cNvPr>
            <p:cNvSpPr txBox="1">
              <a:spLocks noChangeArrowheads="1"/>
            </p:cNvSpPr>
            <p:nvPr/>
          </p:nvSpPr>
          <p:spPr bwMode="auto">
            <a:xfrm>
              <a:off x="4084638" y="4497388"/>
              <a:ext cx="725487"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1.0</a:t>
              </a:r>
            </a:p>
          </p:txBody>
        </p:sp>
        <p:sp>
          <p:nvSpPr>
            <p:cNvPr id="154672" name="Rectangle 50">
              <a:extLst>
                <a:ext uri="{FF2B5EF4-FFF2-40B4-BE49-F238E27FC236}">
                  <a16:creationId xmlns:a16="http://schemas.microsoft.com/office/drawing/2014/main" id="{9E2C6B27-2535-EC5F-3037-10083F80AF44}"/>
                </a:ext>
              </a:extLst>
            </p:cNvPr>
            <p:cNvSpPr>
              <a:spLocks noChangeArrowheads="1"/>
            </p:cNvSpPr>
            <p:nvPr/>
          </p:nvSpPr>
          <p:spPr bwMode="auto">
            <a:xfrm>
              <a:off x="5715000" y="4710113"/>
              <a:ext cx="1981200" cy="381000"/>
            </a:xfrm>
            <a:prstGeom prst="rect">
              <a:avLst/>
            </a:prstGeom>
            <a:solidFill>
              <a:srgbClr val="FFFFFF"/>
            </a:solidFill>
            <a:ln w="22225">
              <a:solidFill>
                <a:srgbClr val="000000"/>
              </a:solidFill>
              <a:prstDash val="dash"/>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en-US" sz="1800"/>
                <a:t>T</a:t>
              </a:r>
              <a:r>
                <a:rPr lang="ru-RU" altLang="en-US" sz="1800" baseline="-25000"/>
                <a:t>OUTPUT_DELAY_MAX</a:t>
              </a:r>
            </a:p>
            <a:p>
              <a:pPr eaLnBrk="1" hangingPunct="1"/>
              <a:endParaRPr lang="ru-RU" altLang="en-US" sz="1800"/>
            </a:p>
          </p:txBody>
        </p:sp>
        <p:sp>
          <p:nvSpPr>
            <p:cNvPr id="154673" name="Line 51">
              <a:extLst>
                <a:ext uri="{FF2B5EF4-FFF2-40B4-BE49-F238E27FC236}">
                  <a16:creationId xmlns:a16="http://schemas.microsoft.com/office/drawing/2014/main" id="{41DFFA33-4635-8A11-43CA-530999A530EB}"/>
                </a:ext>
              </a:extLst>
            </p:cNvPr>
            <p:cNvSpPr>
              <a:spLocks noChangeShapeType="1"/>
            </p:cNvSpPr>
            <p:nvPr/>
          </p:nvSpPr>
          <p:spPr bwMode="auto">
            <a:xfrm>
              <a:off x="4486275" y="4532313"/>
              <a:ext cx="1173163" cy="34290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4">
            <a:extLst>
              <a:ext uri="{FF2B5EF4-FFF2-40B4-BE49-F238E27FC236}">
                <a16:creationId xmlns:a16="http://schemas.microsoft.com/office/drawing/2014/main" id="{E414A505-4CA8-3247-7139-A6FC2BDFC281}"/>
              </a:ext>
            </a:extLst>
          </p:cNvPr>
          <p:cNvSpPr>
            <a:spLocks noGrp="1" noChangeArrowheads="1"/>
          </p:cNvSpPr>
          <p:nvPr>
            <p:ph type="title"/>
          </p:nvPr>
        </p:nvSpPr>
        <p:spPr/>
        <p:txBody>
          <a:bodyPr/>
          <a:lstStyle/>
          <a:p>
            <a:r>
              <a:rPr lang="ru-RU" altLang="en-US"/>
              <a:t>Constraining Combinational Paths</a:t>
            </a:r>
          </a:p>
        </p:txBody>
      </p:sp>
      <p:grpSp>
        <p:nvGrpSpPr>
          <p:cNvPr id="155651" name="Group 38">
            <a:extLst>
              <a:ext uri="{FF2B5EF4-FFF2-40B4-BE49-F238E27FC236}">
                <a16:creationId xmlns:a16="http://schemas.microsoft.com/office/drawing/2014/main" id="{C6C4C0A2-CADD-4A64-EADE-E450A30E2CB0}"/>
              </a:ext>
            </a:extLst>
          </p:cNvPr>
          <p:cNvGrpSpPr>
            <a:grpSpLocks/>
          </p:cNvGrpSpPr>
          <p:nvPr/>
        </p:nvGrpSpPr>
        <p:grpSpPr bwMode="auto">
          <a:xfrm>
            <a:off x="3048000" y="1343025"/>
            <a:ext cx="5943600" cy="2667000"/>
            <a:chOff x="960" y="1008"/>
            <a:chExt cx="3744" cy="1680"/>
          </a:xfrm>
        </p:grpSpPr>
        <p:sp>
          <p:nvSpPr>
            <p:cNvPr id="155653" name="Rectangle 6">
              <a:extLst>
                <a:ext uri="{FF2B5EF4-FFF2-40B4-BE49-F238E27FC236}">
                  <a16:creationId xmlns:a16="http://schemas.microsoft.com/office/drawing/2014/main" id="{A9FECA08-C1BA-2F65-66E1-344378E15469}"/>
                </a:ext>
              </a:extLst>
            </p:cNvPr>
            <p:cNvSpPr>
              <a:spLocks noChangeArrowheads="1"/>
            </p:cNvSpPr>
            <p:nvPr/>
          </p:nvSpPr>
          <p:spPr bwMode="auto">
            <a:xfrm>
              <a:off x="2174" y="1307"/>
              <a:ext cx="1548" cy="1122"/>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5654" name="Rectangle 7">
              <a:extLst>
                <a:ext uri="{FF2B5EF4-FFF2-40B4-BE49-F238E27FC236}">
                  <a16:creationId xmlns:a16="http://schemas.microsoft.com/office/drawing/2014/main" id="{2508677C-CC32-333A-26B6-54B4D5B3798D}"/>
                </a:ext>
              </a:extLst>
            </p:cNvPr>
            <p:cNvSpPr>
              <a:spLocks noChangeArrowheads="1"/>
            </p:cNvSpPr>
            <p:nvPr/>
          </p:nvSpPr>
          <p:spPr bwMode="auto">
            <a:xfrm>
              <a:off x="1441" y="1636"/>
              <a:ext cx="253" cy="704"/>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5655" name="Rectangle 8">
              <a:extLst>
                <a:ext uri="{FF2B5EF4-FFF2-40B4-BE49-F238E27FC236}">
                  <a16:creationId xmlns:a16="http://schemas.microsoft.com/office/drawing/2014/main" id="{4219BD80-291A-A2C8-D67F-341F3744059C}"/>
                </a:ext>
              </a:extLst>
            </p:cNvPr>
            <p:cNvSpPr>
              <a:spLocks noChangeArrowheads="1"/>
            </p:cNvSpPr>
            <p:nvPr/>
          </p:nvSpPr>
          <p:spPr bwMode="auto">
            <a:xfrm>
              <a:off x="4169" y="1605"/>
              <a:ext cx="253" cy="704"/>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5656" name="Oval 9">
              <a:extLst>
                <a:ext uri="{FF2B5EF4-FFF2-40B4-BE49-F238E27FC236}">
                  <a16:creationId xmlns:a16="http://schemas.microsoft.com/office/drawing/2014/main" id="{7ECAAEB5-8AAD-F7F6-2379-64F739B24897}"/>
                </a:ext>
              </a:extLst>
            </p:cNvPr>
            <p:cNvSpPr>
              <a:spLocks noChangeArrowheads="1"/>
            </p:cNvSpPr>
            <p:nvPr/>
          </p:nvSpPr>
          <p:spPr bwMode="auto">
            <a:xfrm>
              <a:off x="1776" y="1741"/>
              <a:ext cx="224" cy="229"/>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5657" name="Oval 10">
              <a:extLst>
                <a:ext uri="{FF2B5EF4-FFF2-40B4-BE49-F238E27FC236}">
                  <a16:creationId xmlns:a16="http://schemas.microsoft.com/office/drawing/2014/main" id="{987A8528-A139-07E7-73D5-CF5713B25836}"/>
                </a:ext>
              </a:extLst>
            </p:cNvPr>
            <p:cNvSpPr>
              <a:spLocks noChangeArrowheads="1"/>
            </p:cNvSpPr>
            <p:nvPr/>
          </p:nvSpPr>
          <p:spPr bwMode="auto">
            <a:xfrm>
              <a:off x="3855" y="1731"/>
              <a:ext cx="225" cy="229"/>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5658" name="Line 11">
              <a:extLst>
                <a:ext uri="{FF2B5EF4-FFF2-40B4-BE49-F238E27FC236}">
                  <a16:creationId xmlns:a16="http://schemas.microsoft.com/office/drawing/2014/main" id="{A73A7BEF-C01E-9A67-AD0E-C53D0D6AA7EF}"/>
                </a:ext>
              </a:extLst>
            </p:cNvPr>
            <p:cNvSpPr>
              <a:spLocks noChangeShapeType="1"/>
            </p:cNvSpPr>
            <p:nvPr/>
          </p:nvSpPr>
          <p:spPr bwMode="auto">
            <a:xfrm>
              <a:off x="1295" y="1852"/>
              <a:ext cx="14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59" name="Line 12">
              <a:extLst>
                <a:ext uri="{FF2B5EF4-FFF2-40B4-BE49-F238E27FC236}">
                  <a16:creationId xmlns:a16="http://schemas.microsoft.com/office/drawing/2014/main" id="{05B06A23-F2EA-9226-946B-5ED25A395FB6}"/>
                </a:ext>
              </a:extLst>
            </p:cNvPr>
            <p:cNvSpPr>
              <a:spLocks noChangeShapeType="1"/>
            </p:cNvSpPr>
            <p:nvPr/>
          </p:nvSpPr>
          <p:spPr bwMode="auto">
            <a:xfrm>
              <a:off x="1692" y="1852"/>
              <a:ext cx="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60" name="Line 13">
              <a:extLst>
                <a:ext uri="{FF2B5EF4-FFF2-40B4-BE49-F238E27FC236}">
                  <a16:creationId xmlns:a16="http://schemas.microsoft.com/office/drawing/2014/main" id="{837415DB-9D21-A656-D621-23EFD41527F0}"/>
                </a:ext>
              </a:extLst>
            </p:cNvPr>
            <p:cNvSpPr>
              <a:spLocks noChangeShapeType="1"/>
            </p:cNvSpPr>
            <p:nvPr/>
          </p:nvSpPr>
          <p:spPr bwMode="auto">
            <a:xfrm>
              <a:off x="2013" y="1862"/>
              <a:ext cx="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61" name="Line 14">
              <a:extLst>
                <a:ext uri="{FF2B5EF4-FFF2-40B4-BE49-F238E27FC236}">
                  <a16:creationId xmlns:a16="http://schemas.microsoft.com/office/drawing/2014/main" id="{01836805-204C-7A35-4452-C3C56657663C}"/>
                </a:ext>
              </a:extLst>
            </p:cNvPr>
            <p:cNvSpPr>
              <a:spLocks noChangeShapeType="1"/>
            </p:cNvSpPr>
            <p:nvPr/>
          </p:nvSpPr>
          <p:spPr bwMode="auto">
            <a:xfrm>
              <a:off x="3561" y="1852"/>
              <a:ext cx="2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62" name="Line 15">
              <a:extLst>
                <a:ext uri="{FF2B5EF4-FFF2-40B4-BE49-F238E27FC236}">
                  <a16:creationId xmlns:a16="http://schemas.microsoft.com/office/drawing/2014/main" id="{F6E620F3-0E40-61E8-6B89-41D341F998A1}"/>
                </a:ext>
              </a:extLst>
            </p:cNvPr>
            <p:cNvSpPr>
              <a:spLocks noChangeShapeType="1"/>
            </p:cNvSpPr>
            <p:nvPr/>
          </p:nvSpPr>
          <p:spPr bwMode="auto">
            <a:xfrm>
              <a:off x="4085" y="1842"/>
              <a:ext cx="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63" name="Line 16">
              <a:extLst>
                <a:ext uri="{FF2B5EF4-FFF2-40B4-BE49-F238E27FC236}">
                  <a16:creationId xmlns:a16="http://schemas.microsoft.com/office/drawing/2014/main" id="{E94939A7-044E-859D-0494-F033EE2C65A2}"/>
                </a:ext>
              </a:extLst>
            </p:cNvPr>
            <p:cNvSpPr>
              <a:spLocks noChangeShapeType="1"/>
            </p:cNvSpPr>
            <p:nvPr/>
          </p:nvSpPr>
          <p:spPr bwMode="auto">
            <a:xfrm>
              <a:off x="4420" y="1832"/>
              <a:ext cx="14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64" name="Freeform 17">
              <a:extLst>
                <a:ext uri="{FF2B5EF4-FFF2-40B4-BE49-F238E27FC236}">
                  <a16:creationId xmlns:a16="http://schemas.microsoft.com/office/drawing/2014/main" id="{9FA8A515-CCEB-4127-EB99-5E5EDE2D785D}"/>
                </a:ext>
              </a:extLst>
            </p:cNvPr>
            <p:cNvSpPr>
              <a:spLocks/>
            </p:cNvSpPr>
            <p:nvPr/>
          </p:nvSpPr>
          <p:spPr bwMode="auto">
            <a:xfrm>
              <a:off x="1444" y="2103"/>
              <a:ext cx="56" cy="82"/>
            </a:xfrm>
            <a:custGeom>
              <a:avLst/>
              <a:gdLst>
                <a:gd name="T0" fmla="*/ 0 w 129"/>
                <a:gd name="T1" fmla="*/ 4 h 133"/>
                <a:gd name="T2" fmla="*/ 0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5665" name="Freeform 18">
              <a:extLst>
                <a:ext uri="{FF2B5EF4-FFF2-40B4-BE49-F238E27FC236}">
                  <a16:creationId xmlns:a16="http://schemas.microsoft.com/office/drawing/2014/main" id="{CD1E795C-7212-5DD3-6C16-6B594ED14AB9}"/>
                </a:ext>
              </a:extLst>
            </p:cNvPr>
            <p:cNvSpPr>
              <a:spLocks/>
            </p:cNvSpPr>
            <p:nvPr/>
          </p:nvSpPr>
          <p:spPr bwMode="auto">
            <a:xfrm>
              <a:off x="4172" y="2093"/>
              <a:ext cx="56" cy="82"/>
            </a:xfrm>
            <a:custGeom>
              <a:avLst/>
              <a:gdLst>
                <a:gd name="T0" fmla="*/ 0 w 129"/>
                <a:gd name="T1" fmla="*/ 4 h 133"/>
                <a:gd name="T2" fmla="*/ 0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5666" name="Line 19">
              <a:extLst>
                <a:ext uri="{FF2B5EF4-FFF2-40B4-BE49-F238E27FC236}">
                  <a16:creationId xmlns:a16="http://schemas.microsoft.com/office/drawing/2014/main" id="{41E5942A-8E8D-D959-67F7-083771880EEE}"/>
                </a:ext>
              </a:extLst>
            </p:cNvPr>
            <p:cNvSpPr>
              <a:spLocks noChangeShapeType="1"/>
            </p:cNvSpPr>
            <p:nvPr/>
          </p:nvSpPr>
          <p:spPr bwMode="auto">
            <a:xfrm flipV="1">
              <a:off x="1190" y="2573"/>
              <a:ext cx="28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67" name="Line 20">
              <a:extLst>
                <a:ext uri="{FF2B5EF4-FFF2-40B4-BE49-F238E27FC236}">
                  <a16:creationId xmlns:a16="http://schemas.microsoft.com/office/drawing/2014/main" id="{BDEF4E8A-8258-2AE9-52B7-1B3796501245}"/>
                </a:ext>
              </a:extLst>
            </p:cNvPr>
            <p:cNvSpPr>
              <a:spLocks noChangeShapeType="1"/>
            </p:cNvSpPr>
            <p:nvPr/>
          </p:nvSpPr>
          <p:spPr bwMode="auto">
            <a:xfrm>
              <a:off x="1321" y="2140"/>
              <a:ext cx="0" cy="429"/>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5668" name="Line 21">
              <a:extLst>
                <a:ext uri="{FF2B5EF4-FFF2-40B4-BE49-F238E27FC236}">
                  <a16:creationId xmlns:a16="http://schemas.microsoft.com/office/drawing/2014/main" id="{53E6810F-B449-7618-BC34-D69432E8BF0E}"/>
                </a:ext>
              </a:extLst>
            </p:cNvPr>
            <p:cNvSpPr>
              <a:spLocks noChangeShapeType="1"/>
            </p:cNvSpPr>
            <p:nvPr/>
          </p:nvSpPr>
          <p:spPr bwMode="auto">
            <a:xfrm>
              <a:off x="1316" y="2140"/>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69" name="Line 22">
              <a:extLst>
                <a:ext uri="{FF2B5EF4-FFF2-40B4-BE49-F238E27FC236}">
                  <a16:creationId xmlns:a16="http://schemas.microsoft.com/office/drawing/2014/main" id="{62B8805E-9B66-3C7F-AD47-31868089E44B}"/>
                </a:ext>
              </a:extLst>
            </p:cNvPr>
            <p:cNvSpPr>
              <a:spLocks noChangeShapeType="1"/>
            </p:cNvSpPr>
            <p:nvPr/>
          </p:nvSpPr>
          <p:spPr bwMode="auto">
            <a:xfrm>
              <a:off x="4041" y="2130"/>
              <a:ext cx="0" cy="436"/>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55670" name="Line 23">
              <a:extLst>
                <a:ext uri="{FF2B5EF4-FFF2-40B4-BE49-F238E27FC236}">
                  <a16:creationId xmlns:a16="http://schemas.microsoft.com/office/drawing/2014/main" id="{86C0B79B-7776-F2E8-1816-180C2E66E154}"/>
                </a:ext>
              </a:extLst>
            </p:cNvPr>
            <p:cNvSpPr>
              <a:spLocks noChangeShapeType="1"/>
            </p:cNvSpPr>
            <p:nvPr/>
          </p:nvSpPr>
          <p:spPr bwMode="auto">
            <a:xfrm>
              <a:off x="4037" y="2130"/>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71" name="Text Box 24">
              <a:extLst>
                <a:ext uri="{FF2B5EF4-FFF2-40B4-BE49-F238E27FC236}">
                  <a16:creationId xmlns:a16="http://schemas.microsoft.com/office/drawing/2014/main" id="{AD05C821-CA2B-480E-D822-DBD62D158504}"/>
                </a:ext>
              </a:extLst>
            </p:cNvPr>
            <p:cNvSpPr txBox="1">
              <a:spLocks noChangeArrowheads="1"/>
            </p:cNvSpPr>
            <p:nvPr/>
          </p:nvSpPr>
          <p:spPr bwMode="auto">
            <a:xfrm>
              <a:off x="2411" y="1008"/>
              <a:ext cx="111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Design</a:t>
              </a:r>
              <a:endParaRPr lang="ru-RU" altLang="en-US" sz="1600" b="1"/>
            </a:p>
          </p:txBody>
        </p:sp>
        <p:sp>
          <p:nvSpPr>
            <p:cNvPr id="155672" name="Line 25">
              <a:extLst>
                <a:ext uri="{FF2B5EF4-FFF2-40B4-BE49-F238E27FC236}">
                  <a16:creationId xmlns:a16="http://schemas.microsoft.com/office/drawing/2014/main" id="{9460A3A3-988A-96DD-BD10-D3F3919DF694}"/>
                </a:ext>
              </a:extLst>
            </p:cNvPr>
            <p:cNvSpPr>
              <a:spLocks noChangeShapeType="1"/>
            </p:cNvSpPr>
            <p:nvPr/>
          </p:nvSpPr>
          <p:spPr bwMode="auto">
            <a:xfrm>
              <a:off x="1302" y="1319"/>
              <a:ext cx="749"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5673" name="Line 26">
              <a:extLst>
                <a:ext uri="{FF2B5EF4-FFF2-40B4-BE49-F238E27FC236}">
                  <a16:creationId xmlns:a16="http://schemas.microsoft.com/office/drawing/2014/main" id="{EBACBF46-1814-AEF9-3321-AE760EE39107}"/>
                </a:ext>
              </a:extLst>
            </p:cNvPr>
            <p:cNvSpPr>
              <a:spLocks noChangeShapeType="1"/>
            </p:cNvSpPr>
            <p:nvPr/>
          </p:nvSpPr>
          <p:spPr bwMode="auto">
            <a:xfrm>
              <a:off x="1295" y="2688"/>
              <a:ext cx="749"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5674" name="Line 27">
              <a:extLst>
                <a:ext uri="{FF2B5EF4-FFF2-40B4-BE49-F238E27FC236}">
                  <a16:creationId xmlns:a16="http://schemas.microsoft.com/office/drawing/2014/main" id="{F760678D-D343-E2D9-EB5B-60B156F08431}"/>
                </a:ext>
              </a:extLst>
            </p:cNvPr>
            <p:cNvSpPr>
              <a:spLocks noChangeShapeType="1"/>
            </p:cNvSpPr>
            <p:nvPr/>
          </p:nvSpPr>
          <p:spPr bwMode="auto">
            <a:xfrm flipV="1">
              <a:off x="2055" y="1307"/>
              <a:ext cx="0" cy="137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5675" name="Line 28">
              <a:extLst>
                <a:ext uri="{FF2B5EF4-FFF2-40B4-BE49-F238E27FC236}">
                  <a16:creationId xmlns:a16="http://schemas.microsoft.com/office/drawing/2014/main" id="{BABF3003-42F7-974E-875A-DE521615B333}"/>
                </a:ext>
              </a:extLst>
            </p:cNvPr>
            <p:cNvSpPr>
              <a:spLocks noChangeShapeType="1"/>
            </p:cNvSpPr>
            <p:nvPr/>
          </p:nvSpPr>
          <p:spPr bwMode="auto">
            <a:xfrm flipV="1">
              <a:off x="3813" y="1327"/>
              <a:ext cx="0" cy="1338"/>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5676" name="Line 29">
              <a:extLst>
                <a:ext uri="{FF2B5EF4-FFF2-40B4-BE49-F238E27FC236}">
                  <a16:creationId xmlns:a16="http://schemas.microsoft.com/office/drawing/2014/main" id="{10F9C676-46EB-ADEE-4EBE-1D10A91D66E9}"/>
                </a:ext>
              </a:extLst>
            </p:cNvPr>
            <p:cNvSpPr>
              <a:spLocks noChangeShapeType="1"/>
            </p:cNvSpPr>
            <p:nvPr/>
          </p:nvSpPr>
          <p:spPr bwMode="auto">
            <a:xfrm>
              <a:off x="3828" y="1309"/>
              <a:ext cx="696"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5677" name="Line 30">
              <a:extLst>
                <a:ext uri="{FF2B5EF4-FFF2-40B4-BE49-F238E27FC236}">
                  <a16:creationId xmlns:a16="http://schemas.microsoft.com/office/drawing/2014/main" id="{40BF2F49-395E-81A8-33A4-AA956DC17DF4}"/>
                </a:ext>
              </a:extLst>
            </p:cNvPr>
            <p:cNvSpPr>
              <a:spLocks noChangeShapeType="1"/>
            </p:cNvSpPr>
            <p:nvPr/>
          </p:nvSpPr>
          <p:spPr bwMode="auto">
            <a:xfrm>
              <a:off x="3820" y="2678"/>
              <a:ext cx="69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5678" name="Text Box 31">
              <a:extLst>
                <a:ext uri="{FF2B5EF4-FFF2-40B4-BE49-F238E27FC236}">
                  <a16:creationId xmlns:a16="http://schemas.microsoft.com/office/drawing/2014/main" id="{BD4C3417-B687-39CB-21B4-DB83C3206289}"/>
                </a:ext>
              </a:extLst>
            </p:cNvPr>
            <p:cNvSpPr txBox="1">
              <a:spLocks noChangeArrowheads="1"/>
            </p:cNvSpPr>
            <p:nvPr/>
          </p:nvSpPr>
          <p:spPr bwMode="auto">
            <a:xfrm>
              <a:off x="1406" y="1399"/>
              <a:ext cx="46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Reg1</a:t>
              </a:r>
            </a:p>
          </p:txBody>
        </p:sp>
        <p:sp>
          <p:nvSpPr>
            <p:cNvPr id="155679" name="Text Box 32">
              <a:extLst>
                <a:ext uri="{FF2B5EF4-FFF2-40B4-BE49-F238E27FC236}">
                  <a16:creationId xmlns:a16="http://schemas.microsoft.com/office/drawing/2014/main" id="{86458708-4434-A8DD-D9D9-4BD45E6141B4}"/>
                </a:ext>
              </a:extLst>
            </p:cNvPr>
            <p:cNvSpPr txBox="1">
              <a:spLocks noChangeArrowheads="1"/>
            </p:cNvSpPr>
            <p:nvPr/>
          </p:nvSpPr>
          <p:spPr bwMode="auto">
            <a:xfrm>
              <a:off x="4114" y="1389"/>
              <a:ext cx="59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Reg4</a:t>
              </a:r>
            </a:p>
          </p:txBody>
        </p:sp>
        <p:sp>
          <p:nvSpPr>
            <p:cNvPr id="155680" name="Text Box 33">
              <a:extLst>
                <a:ext uri="{FF2B5EF4-FFF2-40B4-BE49-F238E27FC236}">
                  <a16:creationId xmlns:a16="http://schemas.microsoft.com/office/drawing/2014/main" id="{D237D4A2-C1E2-C11E-A5C4-65FC02642D51}"/>
                </a:ext>
              </a:extLst>
            </p:cNvPr>
            <p:cNvSpPr txBox="1">
              <a:spLocks noChangeArrowheads="1"/>
            </p:cNvSpPr>
            <p:nvPr/>
          </p:nvSpPr>
          <p:spPr bwMode="auto">
            <a:xfrm>
              <a:off x="960" y="2377"/>
              <a:ext cx="32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Clk</a:t>
              </a:r>
            </a:p>
          </p:txBody>
        </p:sp>
        <p:sp>
          <p:nvSpPr>
            <p:cNvPr id="155681" name="Text Box 34">
              <a:extLst>
                <a:ext uri="{FF2B5EF4-FFF2-40B4-BE49-F238E27FC236}">
                  <a16:creationId xmlns:a16="http://schemas.microsoft.com/office/drawing/2014/main" id="{31E7510C-E6A8-977F-85A1-6CE99954D477}"/>
                </a:ext>
              </a:extLst>
            </p:cNvPr>
            <p:cNvSpPr txBox="1">
              <a:spLocks noChangeArrowheads="1"/>
            </p:cNvSpPr>
            <p:nvPr/>
          </p:nvSpPr>
          <p:spPr bwMode="auto">
            <a:xfrm>
              <a:off x="1769" y="1729"/>
              <a:ext cx="259"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M</a:t>
              </a:r>
            </a:p>
          </p:txBody>
        </p:sp>
        <p:sp>
          <p:nvSpPr>
            <p:cNvPr id="155682" name="Text Box 35">
              <a:extLst>
                <a:ext uri="{FF2B5EF4-FFF2-40B4-BE49-F238E27FC236}">
                  <a16:creationId xmlns:a16="http://schemas.microsoft.com/office/drawing/2014/main" id="{4950C2C9-EF3C-24A1-7D43-96D163DE09F6}"/>
                </a:ext>
              </a:extLst>
            </p:cNvPr>
            <p:cNvSpPr txBox="1">
              <a:spLocks noChangeArrowheads="1"/>
            </p:cNvSpPr>
            <p:nvPr/>
          </p:nvSpPr>
          <p:spPr bwMode="auto">
            <a:xfrm>
              <a:off x="3862" y="1729"/>
              <a:ext cx="25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p>
          </p:txBody>
        </p:sp>
        <p:sp>
          <p:nvSpPr>
            <p:cNvPr id="155683" name="Oval 36">
              <a:extLst>
                <a:ext uri="{FF2B5EF4-FFF2-40B4-BE49-F238E27FC236}">
                  <a16:creationId xmlns:a16="http://schemas.microsoft.com/office/drawing/2014/main" id="{6ED20B86-100B-7D29-2B84-572701EC4818}"/>
                </a:ext>
              </a:extLst>
            </p:cNvPr>
            <p:cNvSpPr>
              <a:spLocks noChangeArrowheads="1"/>
            </p:cNvSpPr>
            <p:nvPr/>
          </p:nvSpPr>
          <p:spPr bwMode="auto">
            <a:xfrm>
              <a:off x="2307" y="1465"/>
              <a:ext cx="1276" cy="793"/>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Combina-tional </a:t>
              </a:r>
            </a:p>
            <a:p>
              <a:pPr algn="ctr" eaLnBrk="1" hangingPunct="1"/>
              <a:r>
                <a:rPr lang="en-US" altLang="en-US"/>
                <a:t>circuit</a:t>
              </a:r>
            </a:p>
            <a:p>
              <a:pPr algn="ctr" eaLnBrk="1" hangingPunct="1"/>
              <a:endParaRPr lang="ru-RU" altLang="en-US"/>
            </a:p>
          </p:txBody>
        </p:sp>
      </p:grpSp>
      <p:sp>
        <p:nvSpPr>
          <p:cNvPr id="155652" name="Text Box 37">
            <a:extLst>
              <a:ext uri="{FF2B5EF4-FFF2-40B4-BE49-F238E27FC236}">
                <a16:creationId xmlns:a16="http://schemas.microsoft.com/office/drawing/2014/main" id="{7CEFB07F-788C-1393-9CF5-C028FE5D8353}"/>
              </a:ext>
            </a:extLst>
          </p:cNvPr>
          <p:cNvSpPr txBox="1">
            <a:spLocks noChangeArrowheads="1"/>
          </p:cNvSpPr>
          <p:nvPr/>
        </p:nvSpPr>
        <p:spPr bwMode="auto">
          <a:xfrm>
            <a:off x="1752600" y="4395788"/>
            <a:ext cx="822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The syntax of virtual clock</a:t>
            </a:r>
            <a:r>
              <a:rPr lang="ru-RU" altLang="en-US" sz="1800"/>
              <a:t>:</a:t>
            </a:r>
            <a:endParaRPr lang="en-US" altLang="en-US" sz="1800" b="1"/>
          </a:p>
          <a:p>
            <a:pPr eaLnBrk="1" hangingPunct="1">
              <a:spcBef>
                <a:spcPct val="0"/>
              </a:spcBef>
              <a:buClrTx/>
              <a:buSzTx/>
              <a:buFontTx/>
              <a:buNone/>
            </a:pPr>
            <a:r>
              <a:rPr lang="en-US" altLang="en-US" sz="1800" b="1"/>
              <a:t>create_clock  -name  VCLK  -period 2</a:t>
            </a:r>
            <a:endParaRPr lang="en-US" altLang="en-US" sz="1800"/>
          </a:p>
          <a:p>
            <a:pPr eaLnBrk="1" hangingPunct="1">
              <a:spcBef>
                <a:spcPct val="0"/>
              </a:spcBef>
              <a:buClrTx/>
              <a:buSzTx/>
              <a:buFontTx/>
              <a:buNone/>
            </a:pPr>
            <a:r>
              <a:rPr lang="en-US" altLang="en-US" sz="1800"/>
              <a:t>Let the time of arrival to the input port A combinational circuit is T</a:t>
            </a:r>
            <a:r>
              <a:rPr lang="en-US" altLang="en-US" sz="1800" baseline="-25000"/>
              <a:t>M</a:t>
            </a:r>
            <a:r>
              <a:rPr lang="en-US" altLang="en-US" sz="1800"/>
              <a:t> = 0.4ns.   </a:t>
            </a:r>
          </a:p>
          <a:p>
            <a:pPr eaLnBrk="1" hangingPunct="1">
              <a:spcBef>
                <a:spcPct val="0"/>
              </a:spcBef>
              <a:buClrTx/>
              <a:buSzTx/>
              <a:buFontTx/>
              <a:buNone/>
            </a:pPr>
            <a:r>
              <a:rPr lang="en-US" altLang="en-US" sz="1800"/>
              <a:t> T</a:t>
            </a:r>
            <a:r>
              <a:rPr lang="en-US" altLang="en-US" sz="1800" baseline="-25000"/>
              <a:t>T</a:t>
            </a:r>
            <a:r>
              <a:rPr lang="en-US" altLang="en-US" sz="1800"/>
              <a:t> = 0.2ns, T</a:t>
            </a:r>
            <a:r>
              <a:rPr lang="en-US" altLang="en-US" sz="1800" baseline="-25000"/>
              <a:t>Setup</a:t>
            </a:r>
            <a:r>
              <a:rPr lang="en-US" altLang="en-US" sz="1800"/>
              <a:t>=0.1ns,  P=2 ns </a:t>
            </a:r>
            <a:endParaRPr lang="ru-RU" altLang="en-US" sz="180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a:extLst>
              <a:ext uri="{FF2B5EF4-FFF2-40B4-BE49-F238E27FC236}">
                <a16:creationId xmlns:a16="http://schemas.microsoft.com/office/drawing/2014/main" id="{5C989F13-49AB-448C-2140-869FD1C8FF2E}"/>
              </a:ext>
            </a:extLst>
          </p:cNvPr>
          <p:cNvSpPr>
            <a:spLocks noGrp="1" noChangeArrowheads="1"/>
          </p:cNvSpPr>
          <p:nvPr>
            <p:ph type="title"/>
          </p:nvPr>
        </p:nvSpPr>
        <p:spPr/>
        <p:txBody>
          <a:bodyPr/>
          <a:lstStyle/>
          <a:p>
            <a:r>
              <a:rPr lang="en-GB" altLang="en-US"/>
              <a:t>Constraining a Purely Combinational Design</a:t>
            </a:r>
          </a:p>
        </p:txBody>
      </p:sp>
      <p:grpSp>
        <p:nvGrpSpPr>
          <p:cNvPr id="156675" name="Group 38">
            <a:extLst>
              <a:ext uri="{FF2B5EF4-FFF2-40B4-BE49-F238E27FC236}">
                <a16:creationId xmlns:a16="http://schemas.microsoft.com/office/drawing/2014/main" id="{DEACF7FF-640C-BE3E-1E85-AFD9706D48C9}"/>
              </a:ext>
            </a:extLst>
          </p:cNvPr>
          <p:cNvGrpSpPr>
            <a:grpSpLocks/>
          </p:cNvGrpSpPr>
          <p:nvPr/>
        </p:nvGrpSpPr>
        <p:grpSpPr bwMode="auto">
          <a:xfrm>
            <a:off x="2895600" y="1676400"/>
            <a:ext cx="5943600" cy="2667000"/>
            <a:chOff x="960" y="1008"/>
            <a:chExt cx="3744" cy="1680"/>
          </a:xfrm>
        </p:grpSpPr>
        <p:sp>
          <p:nvSpPr>
            <p:cNvPr id="156679" name="Rectangle 6">
              <a:extLst>
                <a:ext uri="{FF2B5EF4-FFF2-40B4-BE49-F238E27FC236}">
                  <a16:creationId xmlns:a16="http://schemas.microsoft.com/office/drawing/2014/main" id="{1C36D50F-3585-E823-7422-69AFE38AE99F}"/>
                </a:ext>
              </a:extLst>
            </p:cNvPr>
            <p:cNvSpPr>
              <a:spLocks noChangeArrowheads="1"/>
            </p:cNvSpPr>
            <p:nvPr/>
          </p:nvSpPr>
          <p:spPr bwMode="auto">
            <a:xfrm>
              <a:off x="2174" y="1307"/>
              <a:ext cx="1548" cy="1122"/>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6680" name="Rectangle 7">
              <a:extLst>
                <a:ext uri="{FF2B5EF4-FFF2-40B4-BE49-F238E27FC236}">
                  <a16:creationId xmlns:a16="http://schemas.microsoft.com/office/drawing/2014/main" id="{2086A5AC-E8DE-A774-2B7E-4672D81CFFAD}"/>
                </a:ext>
              </a:extLst>
            </p:cNvPr>
            <p:cNvSpPr>
              <a:spLocks noChangeArrowheads="1"/>
            </p:cNvSpPr>
            <p:nvPr/>
          </p:nvSpPr>
          <p:spPr bwMode="auto">
            <a:xfrm>
              <a:off x="1441" y="1636"/>
              <a:ext cx="253" cy="704"/>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6681" name="Rectangle 8">
              <a:extLst>
                <a:ext uri="{FF2B5EF4-FFF2-40B4-BE49-F238E27FC236}">
                  <a16:creationId xmlns:a16="http://schemas.microsoft.com/office/drawing/2014/main" id="{FF220FFB-519B-F307-D9EB-76210FEEC52F}"/>
                </a:ext>
              </a:extLst>
            </p:cNvPr>
            <p:cNvSpPr>
              <a:spLocks noChangeArrowheads="1"/>
            </p:cNvSpPr>
            <p:nvPr/>
          </p:nvSpPr>
          <p:spPr bwMode="auto">
            <a:xfrm>
              <a:off x="4169" y="1605"/>
              <a:ext cx="253" cy="704"/>
            </a:xfrm>
            <a:prstGeom prst="rect">
              <a:avLst/>
            </a:prstGeom>
            <a:solidFill>
              <a:srgbClr val="FFFFFF"/>
            </a:solidFill>
            <a:ln w="222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6682" name="Oval 9">
              <a:extLst>
                <a:ext uri="{FF2B5EF4-FFF2-40B4-BE49-F238E27FC236}">
                  <a16:creationId xmlns:a16="http://schemas.microsoft.com/office/drawing/2014/main" id="{105F79BC-C120-388D-B6C2-A4A3D33B640F}"/>
                </a:ext>
              </a:extLst>
            </p:cNvPr>
            <p:cNvSpPr>
              <a:spLocks noChangeArrowheads="1"/>
            </p:cNvSpPr>
            <p:nvPr/>
          </p:nvSpPr>
          <p:spPr bwMode="auto">
            <a:xfrm>
              <a:off x="1776" y="1741"/>
              <a:ext cx="224" cy="229"/>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6683" name="Oval 10">
              <a:extLst>
                <a:ext uri="{FF2B5EF4-FFF2-40B4-BE49-F238E27FC236}">
                  <a16:creationId xmlns:a16="http://schemas.microsoft.com/office/drawing/2014/main" id="{0FC59B7E-F12A-5E88-496F-ED33A524FC0E}"/>
                </a:ext>
              </a:extLst>
            </p:cNvPr>
            <p:cNvSpPr>
              <a:spLocks noChangeArrowheads="1"/>
            </p:cNvSpPr>
            <p:nvPr/>
          </p:nvSpPr>
          <p:spPr bwMode="auto">
            <a:xfrm>
              <a:off x="3855" y="1731"/>
              <a:ext cx="225" cy="229"/>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6684" name="Line 11">
              <a:extLst>
                <a:ext uri="{FF2B5EF4-FFF2-40B4-BE49-F238E27FC236}">
                  <a16:creationId xmlns:a16="http://schemas.microsoft.com/office/drawing/2014/main" id="{E020CE08-2EF9-7281-FBDA-9B19804DCDF4}"/>
                </a:ext>
              </a:extLst>
            </p:cNvPr>
            <p:cNvSpPr>
              <a:spLocks noChangeShapeType="1"/>
            </p:cNvSpPr>
            <p:nvPr/>
          </p:nvSpPr>
          <p:spPr bwMode="auto">
            <a:xfrm>
              <a:off x="1295" y="1852"/>
              <a:ext cx="14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85" name="Line 12">
              <a:extLst>
                <a:ext uri="{FF2B5EF4-FFF2-40B4-BE49-F238E27FC236}">
                  <a16:creationId xmlns:a16="http://schemas.microsoft.com/office/drawing/2014/main" id="{3E9B121D-83F8-9CEE-CE2A-3E5ABEA70916}"/>
                </a:ext>
              </a:extLst>
            </p:cNvPr>
            <p:cNvSpPr>
              <a:spLocks noChangeShapeType="1"/>
            </p:cNvSpPr>
            <p:nvPr/>
          </p:nvSpPr>
          <p:spPr bwMode="auto">
            <a:xfrm>
              <a:off x="1692" y="1852"/>
              <a:ext cx="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86" name="Line 13">
              <a:extLst>
                <a:ext uri="{FF2B5EF4-FFF2-40B4-BE49-F238E27FC236}">
                  <a16:creationId xmlns:a16="http://schemas.microsoft.com/office/drawing/2014/main" id="{43D8E760-0084-129E-C1D4-4EA8C3C2163D}"/>
                </a:ext>
              </a:extLst>
            </p:cNvPr>
            <p:cNvSpPr>
              <a:spLocks noChangeShapeType="1"/>
            </p:cNvSpPr>
            <p:nvPr/>
          </p:nvSpPr>
          <p:spPr bwMode="auto">
            <a:xfrm>
              <a:off x="2013" y="1862"/>
              <a:ext cx="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87" name="Line 14">
              <a:extLst>
                <a:ext uri="{FF2B5EF4-FFF2-40B4-BE49-F238E27FC236}">
                  <a16:creationId xmlns:a16="http://schemas.microsoft.com/office/drawing/2014/main" id="{CB187AC6-7476-35B1-FEEF-E10940A2FBAF}"/>
                </a:ext>
              </a:extLst>
            </p:cNvPr>
            <p:cNvSpPr>
              <a:spLocks noChangeShapeType="1"/>
            </p:cNvSpPr>
            <p:nvPr/>
          </p:nvSpPr>
          <p:spPr bwMode="auto">
            <a:xfrm>
              <a:off x="3561" y="1852"/>
              <a:ext cx="2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88" name="Line 15">
              <a:extLst>
                <a:ext uri="{FF2B5EF4-FFF2-40B4-BE49-F238E27FC236}">
                  <a16:creationId xmlns:a16="http://schemas.microsoft.com/office/drawing/2014/main" id="{F6E48042-7D77-1504-E9D3-AF92CE1DF582}"/>
                </a:ext>
              </a:extLst>
            </p:cNvPr>
            <p:cNvSpPr>
              <a:spLocks noChangeShapeType="1"/>
            </p:cNvSpPr>
            <p:nvPr/>
          </p:nvSpPr>
          <p:spPr bwMode="auto">
            <a:xfrm>
              <a:off x="4085" y="1842"/>
              <a:ext cx="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89" name="Line 16">
              <a:extLst>
                <a:ext uri="{FF2B5EF4-FFF2-40B4-BE49-F238E27FC236}">
                  <a16:creationId xmlns:a16="http://schemas.microsoft.com/office/drawing/2014/main" id="{17C65762-495C-36EB-5810-435A0C13F23C}"/>
                </a:ext>
              </a:extLst>
            </p:cNvPr>
            <p:cNvSpPr>
              <a:spLocks noChangeShapeType="1"/>
            </p:cNvSpPr>
            <p:nvPr/>
          </p:nvSpPr>
          <p:spPr bwMode="auto">
            <a:xfrm>
              <a:off x="4420" y="1832"/>
              <a:ext cx="14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90" name="Freeform 17">
              <a:extLst>
                <a:ext uri="{FF2B5EF4-FFF2-40B4-BE49-F238E27FC236}">
                  <a16:creationId xmlns:a16="http://schemas.microsoft.com/office/drawing/2014/main" id="{183BD06D-37E5-4C74-8A33-9688EDB384DF}"/>
                </a:ext>
              </a:extLst>
            </p:cNvPr>
            <p:cNvSpPr>
              <a:spLocks/>
            </p:cNvSpPr>
            <p:nvPr/>
          </p:nvSpPr>
          <p:spPr bwMode="auto">
            <a:xfrm>
              <a:off x="1444" y="2103"/>
              <a:ext cx="56" cy="82"/>
            </a:xfrm>
            <a:custGeom>
              <a:avLst/>
              <a:gdLst>
                <a:gd name="T0" fmla="*/ 0 w 129"/>
                <a:gd name="T1" fmla="*/ 4 h 133"/>
                <a:gd name="T2" fmla="*/ 0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6691" name="Freeform 18">
              <a:extLst>
                <a:ext uri="{FF2B5EF4-FFF2-40B4-BE49-F238E27FC236}">
                  <a16:creationId xmlns:a16="http://schemas.microsoft.com/office/drawing/2014/main" id="{DCE8C37E-11A6-E12F-59AB-C064E2C1F1A3}"/>
                </a:ext>
              </a:extLst>
            </p:cNvPr>
            <p:cNvSpPr>
              <a:spLocks/>
            </p:cNvSpPr>
            <p:nvPr/>
          </p:nvSpPr>
          <p:spPr bwMode="auto">
            <a:xfrm>
              <a:off x="4172" y="2093"/>
              <a:ext cx="56" cy="82"/>
            </a:xfrm>
            <a:custGeom>
              <a:avLst/>
              <a:gdLst>
                <a:gd name="T0" fmla="*/ 0 w 129"/>
                <a:gd name="T1" fmla="*/ 4 h 133"/>
                <a:gd name="T2" fmla="*/ 0 w 129"/>
                <a:gd name="T3" fmla="*/ 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6692" name="Line 19">
              <a:extLst>
                <a:ext uri="{FF2B5EF4-FFF2-40B4-BE49-F238E27FC236}">
                  <a16:creationId xmlns:a16="http://schemas.microsoft.com/office/drawing/2014/main" id="{4DF18938-E80F-07C7-BA39-92680E058365}"/>
                </a:ext>
              </a:extLst>
            </p:cNvPr>
            <p:cNvSpPr>
              <a:spLocks noChangeShapeType="1"/>
            </p:cNvSpPr>
            <p:nvPr/>
          </p:nvSpPr>
          <p:spPr bwMode="auto">
            <a:xfrm flipV="1">
              <a:off x="1190" y="2573"/>
              <a:ext cx="28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93" name="Line 20">
              <a:extLst>
                <a:ext uri="{FF2B5EF4-FFF2-40B4-BE49-F238E27FC236}">
                  <a16:creationId xmlns:a16="http://schemas.microsoft.com/office/drawing/2014/main" id="{AD7B3D2D-3257-F458-9B61-79D27AE522F7}"/>
                </a:ext>
              </a:extLst>
            </p:cNvPr>
            <p:cNvSpPr>
              <a:spLocks noChangeShapeType="1"/>
            </p:cNvSpPr>
            <p:nvPr/>
          </p:nvSpPr>
          <p:spPr bwMode="auto">
            <a:xfrm>
              <a:off x="1321" y="2140"/>
              <a:ext cx="0" cy="429"/>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6694" name="Line 21">
              <a:extLst>
                <a:ext uri="{FF2B5EF4-FFF2-40B4-BE49-F238E27FC236}">
                  <a16:creationId xmlns:a16="http://schemas.microsoft.com/office/drawing/2014/main" id="{7337908A-7721-90AC-5C61-6590A8A48F79}"/>
                </a:ext>
              </a:extLst>
            </p:cNvPr>
            <p:cNvSpPr>
              <a:spLocks noChangeShapeType="1"/>
            </p:cNvSpPr>
            <p:nvPr/>
          </p:nvSpPr>
          <p:spPr bwMode="auto">
            <a:xfrm>
              <a:off x="1316" y="2140"/>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95" name="Line 22">
              <a:extLst>
                <a:ext uri="{FF2B5EF4-FFF2-40B4-BE49-F238E27FC236}">
                  <a16:creationId xmlns:a16="http://schemas.microsoft.com/office/drawing/2014/main" id="{5934CEC8-B804-8B00-A01D-1D47E0ADA22F}"/>
                </a:ext>
              </a:extLst>
            </p:cNvPr>
            <p:cNvSpPr>
              <a:spLocks noChangeShapeType="1"/>
            </p:cNvSpPr>
            <p:nvPr/>
          </p:nvSpPr>
          <p:spPr bwMode="auto">
            <a:xfrm>
              <a:off x="4041" y="2130"/>
              <a:ext cx="0" cy="436"/>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56696" name="Line 23">
              <a:extLst>
                <a:ext uri="{FF2B5EF4-FFF2-40B4-BE49-F238E27FC236}">
                  <a16:creationId xmlns:a16="http://schemas.microsoft.com/office/drawing/2014/main" id="{2523BFB0-3E1F-6059-25AD-00C2EBBFC2DD}"/>
                </a:ext>
              </a:extLst>
            </p:cNvPr>
            <p:cNvSpPr>
              <a:spLocks noChangeShapeType="1"/>
            </p:cNvSpPr>
            <p:nvPr/>
          </p:nvSpPr>
          <p:spPr bwMode="auto">
            <a:xfrm>
              <a:off x="4037" y="2130"/>
              <a:ext cx="1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697" name="Text Box 24">
              <a:extLst>
                <a:ext uri="{FF2B5EF4-FFF2-40B4-BE49-F238E27FC236}">
                  <a16:creationId xmlns:a16="http://schemas.microsoft.com/office/drawing/2014/main" id="{70989AEE-663F-B021-49A0-DCFB58E2A79C}"/>
                </a:ext>
              </a:extLst>
            </p:cNvPr>
            <p:cNvSpPr txBox="1">
              <a:spLocks noChangeArrowheads="1"/>
            </p:cNvSpPr>
            <p:nvPr/>
          </p:nvSpPr>
          <p:spPr bwMode="auto">
            <a:xfrm>
              <a:off x="2411" y="1008"/>
              <a:ext cx="111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Design</a:t>
              </a:r>
              <a:endParaRPr lang="ru-RU" altLang="en-US" sz="1600" b="1"/>
            </a:p>
          </p:txBody>
        </p:sp>
        <p:sp>
          <p:nvSpPr>
            <p:cNvPr id="156698" name="Line 25">
              <a:extLst>
                <a:ext uri="{FF2B5EF4-FFF2-40B4-BE49-F238E27FC236}">
                  <a16:creationId xmlns:a16="http://schemas.microsoft.com/office/drawing/2014/main" id="{7967556B-C572-EF0A-CE5D-F96FEA5E0ED1}"/>
                </a:ext>
              </a:extLst>
            </p:cNvPr>
            <p:cNvSpPr>
              <a:spLocks noChangeShapeType="1"/>
            </p:cNvSpPr>
            <p:nvPr/>
          </p:nvSpPr>
          <p:spPr bwMode="auto">
            <a:xfrm>
              <a:off x="1302" y="1319"/>
              <a:ext cx="749"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6699" name="Line 26">
              <a:extLst>
                <a:ext uri="{FF2B5EF4-FFF2-40B4-BE49-F238E27FC236}">
                  <a16:creationId xmlns:a16="http://schemas.microsoft.com/office/drawing/2014/main" id="{7D6A7021-1CC2-5ABC-625E-1DA0FED9DD69}"/>
                </a:ext>
              </a:extLst>
            </p:cNvPr>
            <p:cNvSpPr>
              <a:spLocks noChangeShapeType="1"/>
            </p:cNvSpPr>
            <p:nvPr/>
          </p:nvSpPr>
          <p:spPr bwMode="auto">
            <a:xfrm>
              <a:off x="1295" y="2688"/>
              <a:ext cx="749"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6700" name="Line 27">
              <a:extLst>
                <a:ext uri="{FF2B5EF4-FFF2-40B4-BE49-F238E27FC236}">
                  <a16:creationId xmlns:a16="http://schemas.microsoft.com/office/drawing/2014/main" id="{A973FD64-1D9F-B507-BD2B-5A82C734DB62}"/>
                </a:ext>
              </a:extLst>
            </p:cNvPr>
            <p:cNvSpPr>
              <a:spLocks noChangeShapeType="1"/>
            </p:cNvSpPr>
            <p:nvPr/>
          </p:nvSpPr>
          <p:spPr bwMode="auto">
            <a:xfrm flipV="1">
              <a:off x="2055" y="1307"/>
              <a:ext cx="0" cy="137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6701" name="Line 28">
              <a:extLst>
                <a:ext uri="{FF2B5EF4-FFF2-40B4-BE49-F238E27FC236}">
                  <a16:creationId xmlns:a16="http://schemas.microsoft.com/office/drawing/2014/main" id="{08DBA1AC-B6E2-4D6B-AC61-AD969BC721C9}"/>
                </a:ext>
              </a:extLst>
            </p:cNvPr>
            <p:cNvSpPr>
              <a:spLocks noChangeShapeType="1"/>
            </p:cNvSpPr>
            <p:nvPr/>
          </p:nvSpPr>
          <p:spPr bwMode="auto">
            <a:xfrm flipV="1">
              <a:off x="3813" y="1327"/>
              <a:ext cx="0" cy="1338"/>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6702" name="Line 29">
              <a:extLst>
                <a:ext uri="{FF2B5EF4-FFF2-40B4-BE49-F238E27FC236}">
                  <a16:creationId xmlns:a16="http://schemas.microsoft.com/office/drawing/2014/main" id="{7AE7F699-C021-0599-13B7-C386A15BC04A}"/>
                </a:ext>
              </a:extLst>
            </p:cNvPr>
            <p:cNvSpPr>
              <a:spLocks noChangeShapeType="1"/>
            </p:cNvSpPr>
            <p:nvPr/>
          </p:nvSpPr>
          <p:spPr bwMode="auto">
            <a:xfrm>
              <a:off x="3828" y="1309"/>
              <a:ext cx="696"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6703" name="Line 30">
              <a:extLst>
                <a:ext uri="{FF2B5EF4-FFF2-40B4-BE49-F238E27FC236}">
                  <a16:creationId xmlns:a16="http://schemas.microsoft.com/office/drawing/2014/main" id="{CB9EC12C-2E48-9E3A-1D05-4251F53A6F4D}"/>
                </a:ext>
              </a:extLst>
            </p:cNvPr>
            <p:cNvSpPr>
              <a:spLocks noChangeShapeType="1"/>
            </p:cNvSpPr>
            <p:nvPr/>
          </p:nvSpPr>
          <p:spPr bwMode="auto">
            <a:xfrm>
              <a:off x="3820" y="2678"/>
              <a:ext cx="69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6704" name="Text Box 31">
              <a:extLst>
                <a:ext uri="{FF2B5EF4-FFF2-40B4-BE49-F238E27FC236}">
                  <a16:creationId xmlns:a16="http://schemas.microsoft.com/office/drawing/2014/main" id="{1DFEDEE1-D273-8341-E532-F99CD16C16F1}"/>
                </a:ext>
              </a:extLst>
            </p:cNvPr>
            <p:cNvSpPr txBox="1">
              <a:spLocks noChangeArrowheads="1"/>
            </p:cNvSpPr>
            <p:nvPr/>
          </p:nvSpPr>
          <p:spPr bwMode="auto">
            <a:xfrm>
              <a:off x="1406" y="1399"/>
              <a:ext cx="46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Reg1</a:t>
              </a:r>
            </a:p>
          </p:txBody>
        </p:sp>
        <p:sp>
          <p:nvSpPr>
            <p:cNvPr id="156705" name="Text Box 32">
              <a:extLst>
                <a:ext uri="{FF2B5EF4-FFF2-40B4-BE49-F238E27FC236}">
                  <a16:creationId xmlns:a16="http://schemas.microsoft.com/office/drawing/2014/main" id="{12188E39-2EA7-2F1F-1DA6-0E294ADF025A}"/>
                </a:ext>
              </a:extLst>
            </p:cNvPr>
            <p:cNvSpPr txBox="1">
              <a:spLocks noChangeArrowheads="1"/>
            </p:cNvSpPr>
            <p:nvPr/>
          </p:nvSpPr>
          <p:spPr bwMode="auto">
            <a:xfrm>
              <a:off x="4114" y="1389"/>
              <a:ext cx="59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Reg4</a:t>
              </a:r>
            </a:p>
          </p:txBody>
        </p:sp>
        <p:sp>
          <p:nvSpPr>
            <p:cNvPr id="156706" name="Text Box 33">
              <a:extLst>
                <a:ext uri="{FF2B5EF4-FFF2-40B4-BE49-F238E27FC236}">
                  <a16:creationId xmlns:a16="http://schemas.microsoft.com/office/drawing/2014/main" id="{4E746BDE-F780-1DB8-E05B-AC749A8F331B}"/>
                </a:ext>
              </a:extLst>
            </p:cNvPr>
            <p:cNvSpPr txBox="1">
              <a:spLocks noChangeArrowheads="1"/>
            </p:cNvSpPr>
            <p:nvPr/>
          </p:nvSpPr>
          <p:spPr bwMode="auto">
            <a:xfrm>
              <a:off x="960" y="2377"/>
              <a:ext cx="32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Clk</a:t>
              </a:r>
            </a:p>
          </p:txBody>
        </p:sp>
        <p:sp>
          <p:nvSpPr>
            <p:cNvPr id="156707" name="Text Box 34">
              <a:extLst>
                <a:ext uri="{FF2B5EF4-FFF2-40B4-BE49-F238E27FC236}">
                  <a16:creationId xmlns:a16="http://schemas.microsoft.com/office/drawing/2014/main" id="{E015C2E2-60F0-4F52-4B92-2780E8C1B829}"/>
                </a:ext>
              </a:extLst>
            </p:cNvPr>
            <p:cNvSpPr txBox="1">
              <a:spLocks noChangeArrowheads="1"/>
            </p:cNvSpPr>
            <p:nvPr/>
          </p:nvSpPr>
          <p:spPr bwMode="auto">
            <a:xfrm>
              <a:off x="1769" y="1729"/>
              <a:ext cx="259"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M</a:t>
              </a:r>
            </a:p>
          </p:txBody>
        </p:sp>
        <p:sp>
          <p:nvSpPr>
            <p:cNvPr id="156708" name="Text Box 35">
              <a:extLst>
                <a:ext uri="{FF2B5EF4-FFF2-40B4-BE49-F238E27FC236}">
                  <a16:creationId xmlns:a16="http://schemas.microsoft.com/office/drawing/2014/main" id="{A0E8EF79-E39C-4AC4-260C-11799AA57630}"/>
                </a:ext>
              </a:extLst>
            </p:cNvPr>
            <p:cNvSpPr txBox="1">
              <a:spLocks noChangeArrowheads="1"/>
            </p:cNvSpPr>
            <p:nvPr/>
          </p:nvSpPr>
          <p:spPr bwMode="auto">
            <a:xfrm>
              <a:off x="3862" y="1729"/>
              <a:ext cx="25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b="1"/>
                <a:t>T</a:t>
              </a:r>
            </a:p>
          </p:txBody>
        </p:sp>
        <p:sp>
          <p:nvSpPr>
            <p:cNvPr id="156709" name="Oval 36">
              <a:extLst>
                <a:ext uri="{FF2B5EF4-FFF2-40B4-BE49-F238E27FC236}">
                  <a16:creationId xmlns:a16="http://schemas.microsoft.com/office/drawing/2014/main" id="{9EE7602E-0B0D-34C3-741B-141759B30635}"/>
                </a:ext>
              </a:extLst>
            </p:cNvPr>
            <p:cNvSpPr>
              <a:spLocks noChangeArrowheads="1"/>
            </p:cNvSpPr>
            <p:nvPr/>
          </p:nvSpPr>
          <p:spPr bwMode="auto">
            <a:xfrm>
              <a:off x="2307" y="1465"/>
              <a:ext cx="1276" cy="793"/>
            </a:xfrm>
            <a:prstGeom prst="ellipse">
              <a:avLst/>
            </a:prstGeom>
            <a:solidFill>
              <a:srgbClr val="FFFFFF"/>
            </a:solidFill>
            <a:ln w="222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a:t>Combina-tional </a:t>
              </a:r>
            </a:p>
            <a:p>
              <a:pPr algn="ctr" eaLnBrk="1" hangingPunct="1"/>
              <a:r>
                <a:rPr lang="en-US" altLang="en-US"/>
                <a:t>circuit</a:t>
              </a:r>
            </a:p>
            <a:p>
              <a:pPr algn="ctr" eaLnBrk="1" hangingPunct="1"/>
              <a:endParaRPr lang="ru-RU" altLang="en-US"/>
            </a:p>
          </p:txBody>
        </p:sp>
      </p:grpSp>
      <p:sp>
        <p:nvSpPr>
          <p:cNvPr id="156676" name="TextBox 34">
            <a:extLst>
              <a:ext uri="{FF2B5EF4-FFF2-40B4-BE49-F238E27FC236}">
                <a16:creationId xmlns:a16="http://schemas.microsoft.com/office/drawing/2014/main" id="{6C7F6346-BCF5-5B17-FEE0-E09B1F40668A}"/>
              </a:ext>
            </a:extLst>
          </p:cNvPr>
          <p:cNvSpPr txBox="1">
            <a:spLocks noChangeArrowheads="1"/>
          </p:cNvSpPr>
          <p:nvPr/>
        </p:nvSpPr>
        <p:spPr bwMode="auto">
          <a:xfrm>
            <a:off x="1981200" y="1600200"/>
            <a:ext cx="2895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GB" altLang="en-US" sz="1600" b="1">
                <a:solidFill>
                  <a:srgbClr val="FF0000"/>
                </a:solidFill>
              </a:rPr>
              <a:t>External launching circuitry</a:t>
            </a:r>
          </a:p>
        </p:txBody>
      </p:sp>
      <p:sp>
        <p:nvSpPr>
          <p:cNvPr id="156677" name="TextBox 35">
            <a:extLst>
              <a:ext uri="{FF2B5EF4-FFF2-40B4-BE49-F238E27FC236}">
                <a16:creationId xmlns:a16="http://schemas.microsoft.com/office/drawing/2014/main" id="{539A28EE-E212-AC72-72DA-908C5A8E6247}"/>
              </a:ext>
            </a:extLst>
          </p:cNvPr>
          <p:cNvSpPr txBox="1">
            <a:spLocks noChangeArrowheads="1"/>
          </p:cNvSpPr>
          <p:nvPr/>
        </p:nvSpPr>
        <p:spPr bwMode="auto">
          <a:xfrm>
            <a:off x="7315200" y="1600200"/>
            <a:ext cx="2895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GB" altLang="en-US" sz="1600" b="1">
                <a:solidFill>
                  <a:srgbClr val="FF0000"/>
                </a:solidFill>
              </a:rPr>
              <a:t>External capturing circuitry</a:t>
            </a:r>
          </a:p>
        </p:txBody>
      </p:sp>
      <p:sp>
        <p:nvSpPr>
          <p:cNvPr id="156678" name="TextBox 36">
            <a:extLst>
              <a:ext uri="{FF2B5EF4-FFF2-40B4-BE49-F238E27FC236}">
                <a16:creationId xmlns:a16="http://schemas.microsoft.com/office/drawing/2014/main" id="{1E804FB1-DD04-355A-DC38-FBEA5A523119}"/>
              </a:ext>
            </a:extLst>
          </p:cNvPr>
          <p:cNvSpPr txBox="1">
            <a:spLocks noChangeArrowheads="1"/>
          </p:cNvSpPr>
          <p:nvPr/>
        </p:nvSpPr>
        <p:spPr bwMode="auto">
          <a:xfrm>
            <a:off x="2209800" y="4648200"/>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 typeface="Arial" panose="020B0604020202020204" pitchFamily="34" charset="0"/>
              <a:buChar char="•"/>
            </a:pPr>
            <a:r>
              <a:rPr lang="en-GB" altLang="en-US" sz="1800"/>
              <a:t> A clock that is not connected to any port or pin within  the current design</a:t>
            </a:r>
          </a:p>
          <a:p>
            <a:pPr eaLnBrk="1" hangingPunct="1">
              <a:spcBef>
                <a:spcPct val="0"/>
              </a:spcBef>
              <a:buClrTx/>
              <a:buSzTx/>
              <a:buFont typeface="Arial" panose="020B0604020202020204" pitchFamily="34" charset="0"/>
              <a:buChar char="•"/>
            </a:pPr>
            <a:r>
              <a:rPr lang="en-GB" altLang="en-US" sz="1800"/>
              <a:t> Serves as a reference for input or output delays</a:t>
            </a:r>
          </a:p>
          <a:p>
            <a:pPr eaLnBrk="1" hangingPunct="1">
              <a:spcBef>
                <a:spcPct val="0"/>
              </a:spcBef>
              <a:buClrTx/>
              <a:buSzTx/>
              <a:buFontTx/>
              <a:buNone/>
            </a:pPr>
            <a:r>
              <a:rPr lang="en-US" altLang="en-US" sz="1800"/>
              <a:t>Create_clock  -name  VCLK  -period  2 </a:t>
            </a:r>
            <a:endParaRPr lang="en-GB" altLang="en-US" sz="1800"/>
          </a:p>
          <a:p>
            <a:pPr eaLnBrk="1" hangingPunct="1">
              <a:spcBef>
                <a:spcPct val="0"/>
              </a:spcBef>
              <a:buClrTx/>
              <a:buSzTx/>
              <a:buFont typeface="Arial" panose="020B0604020202020204" pitchFamily="34" charset="0"/>
              <a:buChar char="•"/>
            </a:pPr>
            <a:endParaRPr lang="en-GB" altLang="en-US" sz="180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7D75BB-E220-9921-DD44-789B595EE18E}"/>
              </a:ext>
            </a:extLst>
          </p:cNvPr>
          <p:cNvSpPr>
            <a:spLocks noGrp="1"/>
          </p:cNvSpPr>
          <p:nvPr>
            <p:ph type="body" sz="quarter" idx="10"/>
          </p:nvPr>
        </p:nvSpPr>
        <p:spPr/>
        <p:txBody>
          <a:bodyPr/>
          <a:lstStyle/>
          <a:p>
            <a:r>
              <a:rPr lang="en-US" dirty="0"/>
              <a:t>Assume the time of arrival to the input port A combinational circuit is TM=0.4ns.    TT = 0.2ns, </a:t>
            </a:r>
            <a:r>
              <a:rPr lang="en-US" dirty="0" err="1"/>
              <a:t>TSetup</a:t>
            </a:r>
            <a:r>
              <a:rPr lang="en-US" dirty="0"/>
              <a:t>=0.1ns,  P=2 ns </a:t>
            </a:r>
          </a:p>
          <a:p>
            <a:endParaRPr lang="en-US" dirty="0"/>
          </a:p>
        </p:txBody>
      </p:sp>
      <p:sp>
        <p:nvSpPr>
          <p:cNvPr id="157698" name="Text Box 5">
            <a:extLst>
              <a:ext uri="{FF2B5EF4-FFF2-40B4-BE49-F238E27FC236}">
                <a16:creationId xmlns:a16="http://schemas.microsoft.com/office/drawing/2014/main" id="{A9C38237-4593-ED61-42AB-AA6BD5E6EEA3}"/>
              </a:ext>
            </a:extLst>
          </p:cNvPr>
          <p:cNvSpPr txBox="1">
            <a:spLocks noChangeArrowheads="1"/>
          </p:cNvSpPr>
          <p:nvPr/>
        </p:nvSpPr>
        <p:spPr bwMode="auto">
          <a:xfrm>
            <a:off x="2438400" y="2133601"/>
            <a:ext cx="6781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solidFill>
                  <a:srgbClr val="3333CC"/>
                </a:solidFill>
              </a:rPr>
              <a:t>create_clock –name VCLK –period 2</a:t>
            </a:r>
          </a:p>
          <a:p>
            <a:pPr eaLnBrk="1" hangingPunct="1">
              <a:spcBef>
                <a:spcPct val="0"/>
              </a:spcBef>
              <a:buClrTx/>
              <a:buSzTx/>
              <a:buFontTx/>
              <a:buNone/>
            </a:pPr>
            <a:r>
              <a:rPr lang="en-US" altLang="en-US" sz="1800">
                <a:solidFill>
                  <a:srgbClr val="3333CC"/>
                </a:solidFill>
              </a:rPr>
              <a:t>set_input_delay –clock VCLK –max 0.4 [get_ports A]</a:t>
            </a:r>
            <a:br>
              <a:rPr lang="en-US" altLang="en-US" sz="1800">
                <a:solidFill>
                  <a:srgbClr val="3333CC"/>
                </a:solidFill>
              </a:rPr>
            </a:br>
            <a:r>
              <a:rPr lang="en-US" altLang="en-US" sz="1800">
                <a:solidFill>
                  <a:srgbClr val="3333CC"/>
                </a:solidFill>
              </a:rPr>
              <a:t>set_output_delay –clock VCLK –max 0.3 [get_ports B]</a:t>
            </a:r>
            <a:endParaRPr lang="ru-RU" altLang="en-US" sz="1800">
              <a:solidFill>
                <a:srgbClr val="3333CC"/>
              </a:solidFill>
            </a:endParaRPr>
          </a:p>
        </p:txBody>
      </p:sp>
      <p:grpSp>
        <p:nvGrpSpPr>
          <p:cNvPr id="157699" name="Group 46">
            <a:extLst>
              <a:ext uri="{FF2B5EF4-FFF2-40B4-BE49-F238E27FC236}">
                <a16:creationId xmlns:a16="http://schemas.microsoft.com/office/drawing/2014/main" id="{15D69F0C-F563-AC8D-671D-7CDE1AC368B9}"/>
              </a:ext>
            </a:extLst>
          </p:cNvPr>
          <p:cNvGrpSpPr>
            <a:grpSpLocks/>
          </p:cNvGrpSpPr>
          <p:nvPr/>
        </p:nvGrpSpPr>
        <p:grpSpPr bwMode="auto">
          <a:xfrm>
            <a:off x="1914525" y="3289301"/>
            <a:ext cx="7926388" cy="2468563"/>
            <a:chOff x="381000" y="3124200"/>
            <a:chExt cx="7926388" cy="2468465"/>
          </a:xfrm>
        </p:grpSpPr>
        <p:sp>
          <p:nvSpPr>
            <p:cNvPr id="157703" name="Rectangle 7">
              <a:extLst>
                <a:ext uri="{FF2B5EF4-FFF2-40B4-BE49-F238E27FC236}">
                  <a16:creationId xmlns:a16="http://schemas.microsoft.com/office/drawing/2014/main" id="{057C247C-EE89-DD17-E810-F9218CB97EA8}"/>
                </a:ext>
              </a:extLst>
            </p:cNvPr>
            <p:cNvSpPr>
              <a:spLocks noChangeArrowheads="1"/>
            </p:cNvSpPr>
            <p:nvPr/>
          </p:nvSpPr>
          <p:spPr bwMode="auto">
            <a:xfrm>
              <a:off x="2770188" y="3502025"/>
              <a:ext cx="2581275" cy="1416050"/>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7704" name="Rectangle 8">
              <a:extLst>
                <a:ext uri="{FF2B5EF4-FFF2-40B4-BE49-F238E27FC236}">
                  <a16:creationId xmlns:a16="http://schemas.microsoft.com/office/drawing/2014/main" id="{0F71A11C-ADA7-06CD-3768-8803C8A523F0}"/>
                </a:ext>
              </a:extLst>
            </p:cNvPr>
            <p:cNvSpPr>
              <a:spLocks noChangeArrowheads="1"/>
            </p:cNvSpPr>
            <p:nvPr/>
          </p:nvSpPr>
          <p:spPr bwMode="auto">
            <a:xfrm>
              <a:off x="1244600" y="3917950"/>
              <a:ext cx="454025" cy="887413"/>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7705" name="Rectangle 9">
              <a:extLst>
                <a:ext uri="{FF2B5EF4-FFF2-40B4-BE49-F238E27FC236}">
                  <a16:creationId xmlns:a16="http://schemas.microsoft.com/office/drawing/2014/main" id="{990C15F1-D819-E10C-4BF4-61E46EE1644E}"/>
                </a:ext>
              </a:extLst>
            </p:cNvPr>
            <p:cNvSpPr>
              <a:spLocks noChangeArrowheads="1"/>
            </p:cNvSpPr>
            <p:nvPr/>
          </p:nvSpPr>
          <p:spPr bwMode="auto">
            <a:xfrm>
              <a:off x="6348413" y="3878263"/>
              <a:ext cx="454025" cy="889000"/>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7706" name="Oval 10">
              <a:extLst>
                <a:ext uri="{FF2B5EF4-FFF2-40B4-BE49-F238E27FC236}">
                  <a16:creationId xmlns:a16="http://schemas.microsoft.com/office/drawing/2014/main" id="{6181543A-B53A-2814-DEF1-FBCB6A52723E}"/>
                </a:ext>
              </a:extLst>
            </p:cNvPr>
            <p:cNvSpPr>
              <a:spLocks noChangeArrowheads="1"/>
            </p:cNvSpPr>
            <p:nvPr/>
          </p:nvSpPr>
          <p:spPr bwMode="auto">
            <a:xfrm>
              <a:off x="1844675" y="4049713"/>
              <a:ext cx="401638" cy="288925"/>
            </a:xfrm>
            <a:prstGeom prst="ellipse">
              <a:avLst/>
            </a:prstGeom>
            <a:solidFill>
              <a:srgbClr val="FFFFFF"/>
            </a:solidFill>
            <a:ln w="95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7707" name="Oval 11">
              <a:extLst>
                <a:ext uri="{FF2B5EF4-FFF2-40B4-BE49-F238E27FC236}">
                  <a16:creationId xmlns:a16="http://schemas.microsoft.com/office/drawing/2014/main" id="{EB12852D-CF4D-743B-CA70-B14AC797C75E}"/>
                </a:ext>
              </a:extLst>
            </p:cNvPr>
            <p:cNvSpPr>
              <a:spLocks noChangeArrowheads="1"/>
            </p:cNvSpPr>
            <p:nvPr/>
          </p:nvSpPr>
          <p:spPr bwMode="auto">
            <a:xfrm>
              <a:off x="5786438" y="4037013"/>
              <a:ext cx="400050" cy="288925"/>
            </a:xfrm>
            <a:prstGeom prst="ellipse">
              <a:avLst/>
            </a:prstGeom>
            <a:solidFill>
              <a:srgbClr val="FFFFFF"/>
            </a:solidFill>
            <a:ln w="95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7708" name="Line 12">
              <a:extLst>
                <a:ext uri="{FF2B5EF4-FFF2-40B4-BE49-F238E27FC236}">
                  <a16:creationId xmlns:a16="http://schemas.microsoft.com/office/drawing/2014/main" id="{3C9A7DEF-2F3A-41BD-1C1C-B36A492E69FB}"/>
                </a:ext>
              </a:extLst>
            </p:cNvPr>
            <p:cNvSpPr>
              <a:spLocks noChangeShapeType="1"/>
            </p:cNvSpPr>
            <p:nvPr/>
          </p:nvSpPr>
          <p:spPr bwMode="auto">
            <a:xfrm>
              <a:off x="981075" y="4189413"/>
              <a:ext cx="250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09" name="Line 13">
              <a:extLst>
                <a:ext uri="{FF2B5EF4-FFF2-40B4-BE49-F238E27FC236}">
                  <a16:creationId xmlns:a16="http://schemas.microsoft.com/office/drawing/2014/main" id="{75E57C63-D949-E773-562C-1DC9BEDA22A1}"/>
                </a:ext>
              </a:extLst>
            </p:cNvPr>
            <p:cNvSpPr>
              <a:spLocks noChangeShapeType="1"/>
            </p:cNvSpPr>
            <p:nvPr/>
          </p:nvSpPr>
          <p:spPr bwMode="auto">
            <a:xfrm>
              <a:off x="1695450" y="4189413"/>
              <a:ext cx="1539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10" name="Line 14">
              <a:extLst>
                <a:ext uri="{FF2B5EF4-FFF2-40B4-BE49-F238E27FC236}">
                  <a16:creationId xmlns:a16="http://schemas.microsoft.com/office/drawing/2014/main" id="{DA0D4D45-4DD9-A3BF-8EC2-D5067D140ED8}"/>
                </a:ext>
              </a:extLst>
            </p:cNvPr>
            <p:cNvSpPr>
              <a:spLocks noChangeShapeType="1"/>
            </p:cNvSpPr>
            <p:nvPr/>
          </p:nvSpPr>
          <p:spPr bwMode="auto">
            <a:xfrm>
              <a:off x="2235200" y="4203700"/>
              <a:ext cx="6572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11" name="Line 15">
              <a:extLst>
                <a:ext uri="{FF2B5EF4-FFF2-40B4-BE49-F238E27FC236}">
                  <a16:creationId xmlns:a16="http://schemas.microsoft.com/office/drawing/2014/main" id="{9A4F4573-C380-2244-F53F-1DA9110C0947}"/>
                </a:ext>
              </a:extLst>
            </p:cNvPr>
            <p:cNvSpPr>
              <a:spLocks noChangeShapeType="1"/>
            </p:cNvSpPr>
            <p:nvPr/>
          </p:nvSpPr>
          <p:spPr bwMode="auto">
            <a:xfrm>
              <a:off x="5221288" y="4189413"/>
              <a:ext cx="5619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12" name="Line 16">
              <a:extLst>
                <a:ext uri="{FF2B5EF4-FFF2-40B4-BE49-F238E27FC236}">
                  <a16:creationId xmlns:a16="http://schemas.microsoft.com/office/drawing/2014/main" id="{95A1CBAE-C87E-6EC0-4B94-4417EDB19A26}"/>
                </a:ext>
              </a:extLst>
            </p:cNvPr>
            <p:cNvSpPr>
              <a:spLocks noChangeShapeType="1"/>
            </p:cNvSpPr>
            <p:nvPr/>
          </p:nvSpPr>
          <p:spPr bwMode="auto">
            <a:xfrm>
              <a:off x="6199188" y="4176713"/>
              <a:ext cx="1539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13" name="Line 17">
              <a:extLst>
                <a:ext uri="{FF2B5EF4-FFF2-40B4-BE49-F238E27FC236}">
                  <a16:creationId xmlns:a16="http://schemas.microsoft.com/office/drawing/2014/main" id="{611481FA-7DF1-49D4-04B0-A34836218DE3}"/>
                </a:ext>
              </a:extLst>
            </p:cNvPr>
            <p:cNvSpPr>
              <a:spLocks noChangeShapeType="1"/>
            </p:cNvSpPr>
            <p:nvPr/>
          </p:nvSpPr>
          <p:spPr bwMode="auto">
            <a:xfrm>
              <a:off x="6799263" y="4164013"/>
              <a:ext cx="2492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14" name="Freeform 18">
              <a:extLst>
                <a:ext uri="{FF2B5EF4-FFF2-40B4-BE49-F238E27FC236}">
                  <a16:creationId xmlns:a16="http://schemas.microsoft.com/office/drawing/2014/main" id="{6EB882FD-0D95-84CA-96DF-F85FE8994583}"/>
                </a:ext>
              </a:extLst>
            </p:cNvPr>
            <p:cNvSpPr>
              <a:spLocks/>
            </p:cNvSpPr>
            <p:nvPr/>
          </p:nvSpPr>
          <p:spPr bwMode="auto">
            <a:xfrm>
              <a:off x="1249363" y="4506913"/>
              <a:ext cx="98425" cy="103187"/>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7715" name="Freeform 19">
              <a:extLst>
                <a:ext uri="{FF2B5EF4-FFF2-40B4-BE49-F238E27FC236}">
                  <a16:creationId xmlns:a16="http://schemas.microsoft.com/office/drawing/2014/main" id="{211C97FD-B8F3-C78A-0DB8-D2688C1876B7}"/>
                </a:ext>
              </a:extLst>
            </p:cNvPr>
            <p:cNvSpPr>
              <a:spLocks/>
            </p:cNvSpPr>
            <p:nvPr/>
          </p:nvSpPr>
          <p:spPr bwMode="auto">
            <a:xfrm>
              <a:off x="6353175" y="4494213"/>
              <a:ext cx="100013" cy="103187"/>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7716" name="Line 20">
              <a:extLst>
                <a:ext uri="{FF2B5EF4-FFF2-40B4-BE49-F238E27FC236}">
                  <a16:creationId xmlns:a16="http://schemas.microsoft.com/office/drawing/2014/main" id="{5031AB59-279C-F3D6-73BC-FE4DF01E329E}"/>
                </a:ext>
              </a:extLst>
            </p:cNvPr>
            <p:cNvSpPr>
              <a:spLocks noChangeShapeType="1"/>
            </p:cNvSpPr>
            <p:nvPr/>
          </p:nvSpPr>
          <p:spPr bwMode="auto">
            <a:xfrm flipV="1">
              <a:off x="809625" y="5099050"/>
              <a:ext cx="5295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17" name="Line 21">
              <a:extLst>
                <a:ext uri="{FF2B5EF4-FFF2-40B4-BE49-F238E27FC236}">
                  <a16:creationId xmlns:a16="http://schemas.microsoft.com/office/drawing/2014/main" id="{3721A0C3-EEBA-A96A-44B9-CB72066BD39B}"/>
                </a:ext>
              </a:extLst>
            </p:cNvPr>
            <p:cNvSpPr>
              <a:spLocks noChangeShapeType="1"/>
            </p:cNvSpPr>
            <p:nvPr/>
          </p:nvSpPr>
          <p:spPr bwMode="auto">
            <a:xfrm>
              <a:off x="1028700" y="4552950"/>
              <a:ext cx="0" cy="541338"/>
            </a:xfrm>
            <a:prstGeom prst="line">
              <a:avLst/>
            </a:prstGeom>
            <a:noFill/>
            <a:ln w="95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57718" name="Line 22">
              <a:extLst>
                <a:ext uri="{FF2B5EF4-FFF2-40B4-BE49-F238E27FC236}">
                  <a16:creationId xmlns:a16="http://schemas.microsoft.com/office/drawing/2014/main" id="{58ABC107-8D5B-21CE-7555-AE2F2D4E94E2}"/>
                </a:ext>
              </a:extLst>
            </p:cNvPr>
            <p:cNvSpPr>
              <a:spLocks noChangeShapeType="1"/>
            </p:cNvSpPr>
            <p:nvPr/>
          </p:nvSpPr>
          <p:spPr bwMode="auto">
            <a:xfrm>
              <a:off x="1019175" y="4552950"/>
              <a:ext cx="2381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19" name="Line 23">
              <a:extLst>
                <a:ext uri="{FF2B5EF4-FFF2-40B4-BE49-F238E27FC236}">
                  <a16:creationId xmlns:a16="http://schemas.microsoft.com/office/drawing/2014/main" id="{B0E330A6-CA9B-15E5-1BA2-93C962452871}"/>
                </a:ext>
              </a:extLst>
            </p:cNvPr>
            <p:cNvSpPr>
              <a:spLocks noChangeShapeType="1"/>
            </p:cNvSpPr>
            <p:nvPr/>
          </p:nvSpPr>
          <p:spPr bwMode="auto">
            <a:xfrm>
              <a:off x="6118225" y="4541838"/>
              <a:ext cx="0" cy="549275"/>
            </a:xfrm>
            <a:prstGeom prst="line">
              <a:avLst/>
            </a:prstGeom>
            <a:noFill/>
            <a:ln w="95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57720" name="Line 24">
              <a:extLst>
                <a:ext uri="{FF2B5EF4-FFF2-40B4-BE49-F238E27FC236}">
                  <a16:creationId xmlns:a16="http://schemas.microsoft.com/office/drawing/2014/main" id="{29A7F206-6C35-880A-2A91-AC93C711FE31}"/>
                </a:ext>
              </a:extLst>
            </p:cNvPr>
            <p:cNvSpPr>
              <a:spLocks noChangeShapeType="1"/>
            </p:cNvSpPr>
            <p:nvPr/>
          </p:nvSpPr>
          <p:spPr bwMode="auto">
            <a:xfrm>
              <a:off x="6111875" y="4541838"/>
              <a:ext cx="2365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721" name="Text Box 25">
              <a:extLst>
                <a:ext uri="{FF2B5EF4-FFF2-40B4-BE49-F238E27FC236}">
                  <a16:creationId xmlns:a16="http://schemas.microsoft.com/office/drawing/2014/main" id="{1EFCB834-27A1-8636-B699-22C33D75D658}"/>
                </a:ext>
              </a:extLst>
            </p:cNvPr>
            <p:cNvSpPr txBox="1">
              <a:spLocks noChangeArrowheads="1"/>
            </p:cNvSpPr>
            <p:nvPr/>
          </p:nvSpPr>
          <p:spPr bwMode="auto">
            <a:xfrm>
              <a:off x="3157538" y="3124200"/>
              <a:ext cx="2001837"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a:t>Design</a:t>
              </a:r>
              <a:endParaRPr lang="ru-RU" altLang="en-US" sz="1600"/>
            </a:p>
          </p:txBody>
        </p:sp>
        <p:sp>
          <p:nvSpPr>
            <p:cNvPr id="157722" name="Line 26">
              <a:extLst>
                <a:ext uri="{FF2B5EF4-FFF2-40B4-BE49-F238E27FC236}">
                  <a16:creationId xmlns:a16="http://schemas.microsoft.com/office/drawing/2014/main" id="{A8FE190E-C231-7BA0-5997-A0DB61D11810}"/>
                </a:ext>
              </a:extLst>
            </p:cNvPr>
            <p:cNvSpPr>
              <a:spLocks noChangeShapeType="1"/>
            </p:cNvSpPr>
            <p:nvPr/>
          </p:nvSpPr>
          <p:spPr bwMode="auto">
            <a:xfrm>
              <a:off x="993775" y="3517900"/>
              <a:ext cx="13430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7723" name="Line 27">
              <a:extLst>
                <a:ext uri="{FF2B5EF4-FFF2-40B4-BE49-F238E27FC236}">
                  <a16:creationId xmlns:a16="http://schemas.microsoft.com/office/drawing/2014/main" id="{0CBE4D55-FC42-F42D-1F5B-7DC4A0FB0481}"/>
                </a:ext>
              </a:extLst>
            </p:cNvPr>
            <p:cNvSpPr>
              <a:spLocks noChangeShapeType="1"/>
            </p:cNvSpPr>
            <p:nvPr/>
          </p:nvSpPr>
          <p:spPr bwMode="auto">
            <a:xfrm>
              <a:off x="981075" y="5245100"/>
              <a:ext cx="13430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7724" name="Line 28">
              <a:extLst>
                <a:ext uri="{FF2B5EF4-FFF2-40B4-BE49-F238E27FC236}">
                  <a16:creationId xmlns:a16="http://schemas.microsoft.com/office/drawing/2014/main" id="{E751D362-ACA7-8109-8992-F3886A819A1F}"/>
                </a:ext>
              </a:extLst>
            </p:cNvPr>
            <p:cNvSpPr>
              <a:spLocks noChangeShapeType="1"/>
            </p:cNvSpPr>
            <p:nvPr/>
          </p:nvSpPr>
          <p:spPr bwMode="auto">
            <a:xfrm flipV="1">
              <a:off x="2346325" y="3502025"/>
              <a:ext cx="0" cy="173831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7725" name="Line 29">
              <a:extLst>
                <a:ext uri="{FF2B5EF4-FFF2-40B4-BE49-F238E27FC236}">
                  <a16:creationId xmlns:a16="http://schemas.microsoft.com/office/drawing/2014/main" id="{99BD8E21-E2A7-079C-27CB-F0C1DABA1096}"/>
                </a:ext>
              </a:extLst>
            </p:cNvPr>
            <p:cNvSpPr>
              <a:spLocks noChangeShapeType="1"/>
            </p:cNvSpPr>
            <p:nvPr/>
          </p:nvSpPr>
          <p:spPr bwMode="auto">
            <a:xfrm flipV="1">
              <a:off x="5710238" y="3527425"/>
              <a:ext cx="0" cy="16891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7726" name="Line 30">
              <a:extLst>
                <a:ext uri="{FF2B5EF4-FFF2-40B4-BE49-F238E27FC236}">
                  <a16:creationId xmlns:a16="http://schemas.microsoft.com/office/drawing/2014/main" id="{548753A5-3BCD-6B68-6A80-69DAF23CCBC2}"/>
                </a:ext>
              </a:extLst>
            </p:cNvPr>
            <p:cNvSpPr>
              <a:spLocks noChangeShapeType="1"/>
            </p:cNvSpPr>
            <p:nvPr/>
          </p:nvSpPr>
          <p:spPr bwMode="auto">
            <a:xfrm>
              <a:off x="5735638" y="3503613"/>
              <a:ext cx="12493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7727" name="Line 31">
              <a:extLst>
                <a:ext uri="{FF2B5EF4-FFF2-40B4-BE49-F238E27FC236}">
                  <a16:creationId xmlns:a16="http://schemas.microsoft.com/office/drawing/2014/main" id="{488B09C8-5FDC-E288-27AF-7B8B893F3FDC}"/>
                </a:ext>
              </a:extLst>
            </p:cNvPr>
            <p:cNvSpPr>
              <a:spLocks noChangeShapeType="1"/>
            </p:cNvSpPr>
            <p:nvPr/>
          </p:nvSpPr>
          <p:spPr bwMode="auto">
            <a:xfrm>
              <a:off x="5722938" y="5232400"/>
              <a:ext cx="12493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7728" name="Text Box 32">
              <a:extLst>
                <a:ext uri="{FF2B5EF4-FFF2-40B4-BE49-F238E27FC236}">
                  <a16:creationId xmlns:a16="http://schemas.microsoft.com/office/drawing/2014/main" id="{8A349C00-F576-D558-2615-9893B445271A}"/>
                </a:ext>
              </a:extLst>
            </p:cNvPr>
            <p:cNvSpPr txBox="1">
              <a:spLocks noChangeArrowheads="1"/>
            </p:cNvSpPr>
            <p:nvPr/>
          </p:nvSpPr>
          <p:spPr bwMode="auto">
            <a:xfrm>
              <a:off x="1181100" y="3617913"/>
              <a:ext cx="80010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Reg1</a:t>
              </a:r>
            </a:p>
          </p:txBody>
        </p:sp>
        <p:sp>
          <p:nvSpPr>
            <p:cNvPr id="157729" name="Text Box 33">
              <a:extLst>
                <a:ext uri="{FF2B5EF4-FFF2-40B4-BE49-F238E27FC236}">
                  <a16:creationId xmlns:a16="http://schemas.microsoft.com/office/drawing/2014/main" id="{3011486C-69AB-993B-7064-123E90A24AF0}"/>
                </a:ext>
              </a:extLst>
            </p:cNvPr>
            <p:cNvSpPr txBox="1">
              <a:spLocks noChangeArrowheads="1"/>
            </p:cNvSpPr>
            <p:nvPr/>
          </p:nvSpPr>
          <p:spPr bwMode="auto">
            <a:xfrm>
              <a:off x="6291263" y="3933825"/>
              <a:ext cx="676275"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Reg4</a:t>
              </a:r>
            </a:p>
          </p:txBody>
        </p:sp>
        <p:sp>
          <p:nvSpPr>
            <p:cNvPr id="157730" name="Text Box 34">
              <a:extLst>
                <a:ext uri="{FF2B5EF4-FFF2-40B4-BE49-F238E27FC236}">
                  <a16:creationId xmlns:a16="http://schemas.microsoft.com/office/drawing/2014/main" id="{BF288892-EA41-6FFE-55BE-D45B6D5E68DD}"/>
                </a:ext>
              </a:extLst>
            </p:cNvPr>
            <p:cNvSpPr txBox="1">
              <a:spLocks noChangeArrowheads="1"/>
            </p:cNvSpPr>
            <p:nvPr/>
          </p:nvSpPr>
          <p:spPr bwMode="auto">
            <a:xfrm>
              <a:off x="381000" y="4760913"/>
              <a:ext cx="576263"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Clk</a:t>
              </a:r>
            </a:p>
          </p:txBody>
        </p:sp>
        <p:sp>
          <p:nvSpPr>
            <p:cNvPr id="157731" name="Text Box 35">
              <a:extLst>
                <a:ext uri="{FF2B5EF4-FFF2-40B4-BE49-F238E27FC236}">
                  <a16:creationId xmlns:a16="http://schemas.microsoft.com/office/drawing/2014/main" id="{5B78AF9F-72F6-93C4-8980-9DBB042A1285}"/>
                </a:ext>
              </a:extLst>
            </p:cNvPr>
            <p:cNvSpPr txBox="1">
              <a:spLocks noChangeArrowheads="1"/>
            </p:cNvSpPr>
            <p:nvPr/>
          </p:nvSpPr>
          <p:spPr bwMode="auto">
            <a:xfrm>
              <a:off x="1831975" y="4033838"/>
              <a:ext cx="461963"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M</a:t>
              </a:r>
            </a:p>
          </p:txBody>
        </p:sp>
        <p:sp>
          <p:nvSpPr>
            <p:cNvPr id="157732" name="Text Box 36">
              <a:extLst>
                <a:ext uri="{FF2B5EF4-FFF2-40B4-BE49-F238E27FC236}">
                  <a16:creationId xmlns:a16="http://schemas.microsoft.com/office/drawing/2014/main" id="{1AAF1A6B-229D-5F99-E02B-EF8D4EBBEA19}"/>
                </a:ext>
              </a:extLst>
            </p:cNvPr>
            <p:cNvSpPr txBox="1">
              <a:spLocks noChangeArrowheads="1"/>
            </p:cNvSpPr>
            <p:nvPr/>
          </p:nvSpPr>
          <p:spPr bwMode="auto">
            <a:xfrm>
              <a:off x="5797550" y="4033838"/>
              <a:ext cx="46355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T</a:t>
              </a:r>
            </a:p>
          </p:txBody>
        </p:sp>
        <p:sp>
          <p:nvSpPr>
            <p:cNvPr id="157733" name="Oval 37">
              <a:extLst>
                <a:ext uri="{FF2B5EF4-FFF2-40B4-BE49-F238E27FC236}">
                  <a16:creationId xmlns:a16="http://schemas.microsoft.com/office/drawing/2014/main" id="{108D987A-6C1F-6D97-A9C6-9CAC1CAFBBA7}"/>
                </a:ext>
              </a:extLst>
            </p:cNvPr>
            <p:cNvSpPr>
              <a:spLocks noChangeArrowheads="1"/>
            </p:cNvSpPr>
            <p:nvPr/>
          </p:nvSpPr>
          <p:spPr bwMode="auto">
            <a:xfrm>
              <a:off x="2908299" y="3702050"/>
              <a:ext cx="2377440" cy="1000125"/>
            </a:xfrm>
            <a:prstGeom prst="ellipse">
              <a:avLst/>
            </a:prstGeom>
            <a:solidFill>
              <a:srgbClr val="FFFFFF"/>
            </a:solidFill>
            <a:ln w="9525">
              <a:solidFill>
                <a:srgbClr val="000000"/>
              </a:solidFill>
              <a:round/>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t>Combinational</a:t>
              </a:r>
            </a:p>
            <a:p>
              <a:pPr algn="ctr" eaLnBrk="1" hangingPunct="1"/>
              <a:r>
                <a:rPr lang="en-US" altLang="en-US" sz="1800"/>
                <a:t>circuit</a:t>
              </a:r>
              <a:endParaRPr lang="ru-RU" altLang="en-US" sz="1800"/>
            </a:p>
          </p:txBody>
        </p:sp>
        <p:sp>
          <p:nvSpPr>
            <p:cNvPr id="157734" name="AutoShape 38">
              <a:extLst>
                <a:ext uri="{FF2B5EF4-FFF2-40B4-BE49-F238E27FC236}">
                  <a16:creationId xmlns:a16="http://schemas.microsoft.com/office/drawing/2014/main" id="{B2C0DB67-3845-AD6B-79D6-DF48F1866515}"/>
                </a:ext>
              </a:extLst>
            </p:cNvPr>
            <p:cNvSpPr>
              <a:spLocks noChangeArrowheads="1"/>
            </p:cNvSpPr>
            <p:nvPr/>
          </p:nvSpPr>
          <p:spPr bwMode="auto">
            <a:xfrm>
              <a:off x="2470150" y="4143375"/>
              <a:ext cx="217488" cy="117475"/>
            </a:xfrm>
            <a:prstGeom prst="homePlate">
              <a:avLst>
                <a:gd name="adj" fmla="val 46284"/>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7735" name="AutoShape 39">
              <a:extLst>
                <a:ext uri="{FF2B5EF4-FFF2-40B4-BE49-F238E27FC236}">
                  <a16:creationId xmlns:a16="http://schemas.microsoft.com/office/drawing/2014/main" id="{73C8057C-FD2E-40F0-7F6F-18BCA2C1EF5D}"/>
                </a:ext>
              </a:extLst>
            </p:cNvPr>
            <p:cNvSpPr>
              <a:spLocks noChangeArrowheads="1"/>
            </p:cNvSpPr>
            <p:nvPr/>
          </p:nvSpPr>
          <p:spPr bwMode="auto">
            <a:xfrm>
              <a:off x="5448300" y="4130675"/>
              <a:ext cx="217488" cy="117475"/>
            </a:xfrm>
            <a:prstGeom prst="homePlate">
              <a:avLst>
                <a:gd name="adj" fmla="val 46284"/>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7736" name="Text Box 40">
              <a:extLst>
                <a:ext uri="{FF2B5EF4-FFF2-40B4-BE49-F238E27FC236}">
                  <a16:creationId xmlns:a16="http://schemas.microsoft.com/office/drawing/2014/main" id="{18A07E17-F87C-1E6B-8E9A-3DCBAF4C26CC}"/>
                </a:ext>
              </a:extLst>
            </p:cNvPr>
            <p:cNvSpPr txBox="1">
              <a:spLocks noChangeArrowheads="1"/>
            </p:cNvSpPr>
            <p:nvPr/>
          </p:nvSpPr>
          <p:spPr bwMode="auto">
            <a:xfrm>
              <a:off x="2370138" y="3851275"/>
              <a:ext cx="500062"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A</a:t>
              </a:r>
            </a:p>
          </p:txBody>
        </p:sp>
        <p:sp>
          <p:nvSpPr>
            <p:cNvPr id="157737" name="Text Box 41">
              <a:extLst>
                <a:ext uri="{FF2B5EF4-FFF2-40B4-BE49-F238E27FC236}">
                  <a16:creationId xmlns:a16="http://schemas.microsoft.com/office/drawing/2014/main" id="{97DC7845-CC79-AD0B-C209-91C7D23F5645}"/>
                </a:ext>
              </a:extLst>
            </p:cNvPr>
            <p:cNvSpPr txBox="1">
              <a:spLocks noChangeArrowheads="1"/>
            </p:cNvSpPr>
            <p:nvPr/>
          </p:nvSpPr>
          <p:spPr bwMode="auto">
            <a:xfrm>
              <a:off x="5335588" y="3851275"/>
              <a:ext cx="500062"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B</a:t>
              </a:r>
            </a:p>
          </p:txBody>
        </p:sp>
        <p:sp>
          <p:nvSpPr>
            <p:cNvPr id="157738" name="Arc 42">
              <a:extLst>
                <a:ext uri="{FF2B5EF4-FFF2-40B4-BE49-F238E27FC236}">
                  <a16:creationId xmlns:a16="http://schemas.microsoft.com/office/drawing/2014/main" id="{E17AD890-087F-4E61-31AC-2646E27E2D9D}"/>
                </a:ext>
              </a:extLst>
            </p:cNvPr>
            <p:cNvSpPr>
              <a:spLocks/>
            </p:cNvSpPr>
            <p:nvPr/>
          </p:nvSpPr>
          <p:spPr bwMode="auto">
            <a:xfrm rot="11712971" flipV="1">
              <a:off x="1268570" y="4061772"/>
              <a:ext cx="1489075" cy="1530893"/>
            </a:xfrm>
            <a:custGeom>
              <a:avLst/>
              <a:gdLst>
                <a:gd name="T0" fmla="*/ 2147483646 w 18092"/>
                <a:gd name="T1" fmla="*/ 0 h 20864"/>
                <a:gd name="T2" fmla="*/ 2147483646 w 18092"/>
                <a:gd name="T3" fmla="*/ 2147483646 h 20864"/>
                <a:gd name="T4" fmla="*/ 0 w 18092"/>
                <a:gd name="T5" fmla="*/ 2147483646 h 20864"/>
                <a:gd name="T6" fmla="*/ 0 60000 65536"/>
                <a:gd name="T7" fmla="*/ 0 60000 65536"/>
                <a:gd name="T8" fmla="*/ 0 60000 65536"/>
                <a:gd name="T9" fmla="*/ 0 w 18092"/>
                <a:gd name="T10" fmla="*/ 0 h 20864"/>
                <a:gd name="T11" fmla="*/ 18092 w 18092"/>
                <a:gd name="T12" fmla="*/ 20864 h 20864"/>
              </a:gdLst>
              <a:ahLst/>
              <a:cxnLst>
                <a:cxn ang="T6">
                  <a:pos x="T0" y="T1"/>
                </a:cxn>
                <a:cxn ang="T7">
                  <a:pos x="T2" y="T3"/>
                </a:cxn>
                <a:cxn ang="T8">
                  <a:pos x="T4" y="T5"/>
                </a:cxn>
              </a:cxnLst>
              <a:rect l="T9" t="T10" r="T11" b="T12"/>
              <a:pathLst>
                <a:path w="18092" h="20864" fill="none" extrusionOk="0">
                  <a:moveTo>
                    <a:pt x="5591" y="0"/>
                  </a:moveTo>
                  <a:cubicBezTo>
                    <a:pt x="10732" y="1378"/>
                    <a:pt x="15184" y="4605"/>
                    <a:pt x="18091" y="9064"/>
                  </a:cubicBezTo>
                </a:path>
                <a:path w="18092" h="20864" stroke="0" extrusionOk="0">
                  <a:moveTo>
                    <a:pt x="5591" y="0"/>
                  </a:moveTo>
                  <a:cubicBezTo>
                    <a:pt x="10732" y="1378"/>
                    <a:pt x="15184" y="4605"/>
                    <a:pt x="18091" y="9064"/>
                  </a:cubicBezTo>
                  <a:lnTo>
                    <a:pt x="0" y="20864"/>
                  </a:lnTo>
                  <a:lnTo>
                    <a:pt x="5591" y="0"/>
                  </a:lnTo>
                  <a:close/>
                </a:path>
              </a:pathLst>
            </a:custGeom>
            <a:noFill/>
            <a:ln w="95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7739" name="Arc 43">
              <a:extLst>
                <a:ext uri="{FF2B5EF4-FFF2-40B4-BE49-F238E27FC236}">
                  <a16:creationId xmlns:a16="http://schemas.microsoft.com/office/drawing/2014/main" id="{F038F542-4D39-86F7-1A02-8C59E3E8DC8A}"/>
                </a:ext>
              </a:extLst>
            </p:cNvPr>
            <p:cNvSpPr>
              <a:spLocks/>
            </p:cNvSpPr>
            <p:nvPr/>
          </p:nvSpPr>
          <p:spPr bwMode="auto">
            <a:xfrm rot="-2553264">
              <a:off x="5739142" y="3887198"/>
              <a:ext cx="561316" cy="515333"/>
            </a:xfrm>
            <a:custGeom>
              <a:avLst/>
              <a:gdLst>
                <a:gd name="T0" fmla="*/ 0 w 24152"/>
                <a:gd name="T1" fmla="*/ 2147483646 h 25108"/>
                <a:gd name="T2" fmla="*/ 2147483646 w 24152"/>
                <a:gd name="T3" fmla="*/ 2147483646 h 25108"/>
                <a:gd name="T4" fmla="*/ 2147483646 w 24152"/>
                <a:gd name="T5" fmla="*/ 2147483646 h 25108"/>
                <a:gd name="T6" fmla="*/ 0 60000 65536"/>
                <a:gd name="T7" fmla="*/ 0 60000 65536"/>
                <a:gd name="T8" fmla="*/ 0 60000 65536"/>
                <a:gd name="T9" fmla="*/ 0 w 24152"/>
                <a:gd name="T10" fmla="*/ 0 h 25108"/>
                <a:gd name="T11" fmla="*/ 24152 w 24152"/>
                <a:gd name="T12" fmla="*/ 25108 h 25108"/>
              </a:gdLst>
              <a:ahLst/>
              <a:cxnLst>
                <a:cxn ang="T6">
                  <a:pos x="T0" y="T1"/>
                </a:cxn>
                <a:cxn ang="T7">
                  <a:pos x="T2" y="T3"/>
                </a:cxn>
                <a:cxn ang="T8">
                  <a:pos x="T4" y="T5"/>
                </a:cxn>
              </a:cxnLst>
              <a:rect l="T9" t="T10" r="T11" b="T12"/>
              <a:pathLst>
                <a:path w="24152" h="25108" fill="none" extrusionOk="0">
                  <a:moveTo>
                    <a:pt x="0" y="151"/>
                  </a:moveTo>
                  <a:cubicBezTo>
                    <a:pt x="846" y="50"/>
                    <a:pt x="1699" y="-1"/>
                    <a:pt x="2552" y="0"/>
                  </a:cubicBezTo>
                  <a:cubicBezTo>
                    <a:pt x="14481" y="0"/>
                    <a:pt x="24152" y="9670"/>
                    <a:pt x="24152" y="21600"/>
                  </a:cubicBezTo>
                  <a:cubicBezTo>
                    <a:pt x="24152" y="22775"/>
                    <a:pt x="24056" y="23948"/>
                    <a:pt x="23865" y="25108"/>
                  </a:cubicBezTo>
                </a:path>
                <a:path w="24152" h="25108" stroke="0" extrusionOk="0">
                  <a:moveTo>
                    <a:pt x="0" y="151"/>
                  </a:moveTo>
                  <a:cubicBezTo>
                    <a:pt x="846" y="50"/>
                    <a:pt x="1699" y="-1"/>
                    <a:pt x="2552" y="0"/>
                  </a:cubicBezTo>
                  <a:cubicBezTo>
                    <a:pt x="14481" y="0"/>
                    <a:pt x="24152" y="9670"/>
                    <a:pt x="24152" y="21600"/>
                  </a:cubicBezTo>
                  <a:cubicBezTo>
                    <a:pt x="24152" y="22775"/>
                    <a:pt x="24056" y="23948"/>
                    <a:pt x="23865" y="25108"/>
                  </a:cubicBezTo>
                  <a:lnTo>
                    <a:pt x="2552" y="21600"/>
                  </a:lnTo>
                  <a:lnTo>
                    <a:pt x="0" y="151"/>
                  </a:lnTo>
                  <a:close/>
                </a:path>
              </a:pathLst>
            </a:custGeom>
            <a:noFill/>
            <a:ln w="95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7740" name="Arc 44">
              <a:extLst>
                <a:ext uri="{FF2B5EF4-FFF2-40B4-BE49-F238E27FC236}">
                  <a16:creationId xmlns:a16="http://schemas.microsoft.com/office/drawing/2014/main" id="{99A784EA-DCD7-401C-0E0F-8D5FA5710ED3}"/>
                </a:ext>
              </a:extLst>
            </p:cNvPr>
            <p:cNvSpPr>
              <a:spLocks/>
            </p:cNvSpPr>
            <p:nvPr/>
          </p:nvSpPr>
          <p:spPr bwMode="auto">
            <a:xfrm rot="2662395" flipH="1" flipV="1">
              <a:off x="6197600" y="4229100"/>
              <a:ext cx="249238" cy="258763"/>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7741" name="Text Box 45">
              <a:extLst>
                <a:ext uri="{FF2B5EF4-FFF2-40B4-BE49-F238E27FC236}">
                  <a16:creationId xmlns:a16="http://schemas.microsoft.com/office/drawing/2014/main" id="{5A37C01F-BBD2-9DAE-FA33-23B185E00DA0}"/>
                </a:ext>
              </a:extLst>
            </p:cNvPr>
            <p:cNvSpPr txBox="1">
              <a:spLocks noChangeArrowheads="1"/>
            </p:cNvSpPr>
            <p:nvPr/>
          </p:nvSpPr>
          <p:spPr bwMode="auto">
            <a:xfrm>
              <a:off x="5638800" y="3611465"/>
              <a:ext cx="836613"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T</a:t>
              </a:r>
              <a:r>
                <a:rPr lang="ru-RU" altLang="en-US" sz="1600" baseline="-25000"/>
                <a:t>T </a:t>
              </a:r>
              <a:r>
                <a:rPr lang="ru-RU" altLang="en-US" sz="1600"/>
                <a:t>=0.2</a:t>
              </a:r>
            </a:p>
          </p:txBody>
        </p:sp>
        <p:sp>
          <p:nvSpPr>
            <p:cNvPr id="157742" name="Text Box 47">
              <a:extLst>
                <a:ext uri="{FF2B5EF4-FFF2-40B4-BE49-F238E27FC236}">
                  <a16:creationId xmlns:a16="http://schemas.microsoft.com/office/drawing/2014/main" id="{C738B5FF-25EB-E73A-55E3-6F3B73FAA9A6}"/>
                </a:ext>
              </a:extLst>
            </p:cNvPr>
            <p:cNvSpPr txBox="1">
              <a:spLocks noChangeArrowheads="1"/>
            </p:cNvSpPr>
            <p:nvPr/>
          </p:nvSpPr>
          <p:spPr bwMode="auto">
            <a:xfrm>
              <a:off x="6705600" y="3429000"/>
              <a:ext cx="1601788"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T</a:t>
              </a:r>
              <a:r>
                <a:rPr lang="ru-RU" altLang="en-US" sz="1600" baseline="-25000"/>
                <a:t>Setup</a:t>
              </a:r>
              <a:r>
                <a:rPr lang="ru-RU" altLang="en-US" sz="1600"/>
                <a:t>=0.1</a:t>
              </a:r>
            </a:p>
          </p:txBody>
        </p:sp>
        <p:sp>
          <p:nvSpPr>
            <p:cNvPr id="157743" name="Text Box 48">
              <a:extLst>
                <a:ext uri="{FF2B5EF4-FFF2-40B4-BE49-F238E27FC236}">
                  <a16:creationId xmlns:a16="http://schemas.microsoft.com/office/drawing/2014/main" id="{B5750BB0-DC0B-36C4-9F88-F39FB8CD5EAE}"/>
                </a:ext>
              </a:extLst>
            </p:cNvPr>
            <p:cNvSpPr txBox="1">
              <a:spLocks noChangeArrowheads="1"/>
            </p:cNvSpPr>
            <p:nvPr/>
          </p:nvSpPr>
          <p:spPr bwMode="auto">
            <a:xfrm>
              <a:off x="1295400" y="3124200"/>
              <a:ext cx="1601788"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en-US" sz="1600"/>
                <a:t>T</a:t>
              </a:r>
              <a:r>
                <a:rPr lang="en-US" altLang="en-US" sz="1600" baseline="-25000"/>
                <a:t>input</a:t>
              </a:r>
              <a:r>
                <a:rPr lang="ru-RU" altLang="en-US" sz="1600"/>
                <a:t>=0.</a:t>
              </a:r>
              <a:r>
                <a:rPr lang="en-US" altLang="en-US" sz="1600"/>
                <a:t>4</a:t>
              </a:r>
              <a:endParaRPr lang="ru-RU" altLang="en-US" sz="1600"/>
            </a:p>
          </p:txBody>
        </p:sp>
      </p:grpSp>
      <p:sp>
        <p:nvSpPr>
          <p:cNvPr id="157700" name="Text Box 49">
            <a:extLst>
              <a:ext uri="{FF2B5EF4-FFF2-40B4-BE49-F238E27FC236}">
                <a16:creationId xmlns:a16="http://schemas.microsoft.com/office/drawing/2014/main" id="{9A022DEE-95A3-33C8-3A67-A804014F24D6}"/>
              </a:ext>
            </a:extLst>
          </p:cNvPr>
          <p:cNvSpPr txBox="1">
            <a:spLocks noChangeArrowheads="1"/>
          </p:cNvSpPr>
          <p:nvPr/>
        </p:nvSpPr>
        <p:spPr bwMode="auto">
          <a:xfrm>
            <a:off x="2400300" y="5419726"/>
            <a:ext cx="739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ru-RU" altLang="en-US" sz="2000"/>
              <a:t>T</a:t>
            </a:r>
            <a:r>
              <a:rPr lang="ru-RU" altLang="en-US" sz="2000" baseline="-25000"/>
              <a:t>COMB,MAX</a:t>
            </a:r>
            <a:r>
              <a:rPr lang="ru-RU" altLang="en-US" sz="2000"/>
              <a:t> = 2 – 0,4 – 0,3 = 1,3 </a:t>
            </a:r>
          </a:p>
        </p:txBody>
      </p:sp>
      <p:sp>
        <p:nvSpPr>
          <p:cNvPr id="157702" name="Title 1">
            <a:extLst>
              <a:ext uri="{FF2B5EF4-FFF2-40B4-BE49-F238E27FC236}">
                <a16:creationId xmlns:a16="http://schemas.microsoft.com/office/drawing/2014/main" id="{73CA8BFF-E681-599B-6FFD-D963E2CC77B8}"/>
              </a:ext>
            </a:extLst>
          </p:cNvPr>
          <p:cNvSpPr>
            <a:spLocks noGrp="1" noChangeArrowheads="1"/>
          </p:cNvSpPr>
          <p:nvPr>
            <p:ph type="title"/>
          </p:nvPr>
        </p:nvSpPr>
        <p:spPr/>
        <p:txBody>
          <a:bodyPr/>
          <a:lstStyle/>
          <a:p>
            <a:r>
              <a:rPr lang="en-GB" altLang="en-US"/>
              <a:t>Constraining a Purely Combinational Design (2)</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3.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329</TotalTime>
  <Words>13010</Words>
  <Application>Microsoft Office PowerPoint</Application>
  <PresentationFormat>Widescreen</PresentationFormat>
  <Paragraphs>2450</Paragraphs>
  <Slides>146</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146</vt:i4>
      </vt:variant>
    </vt:vector>
  </HeadingPairs>
  <TitlesOfParts>
    <vt:vector size="157" baseType="lpstr">
      <vt:lpstr>.Lucida Grande UI Regular</vt:lpstr>
      <vt:lpstr>Arial</vt:lpstr>
      <vt:lpstr>Calibri</vt:lpstr>
      <vt:lpstr>Calibri Light</vt:lpstr>
      <vt:lpstr>Myriad Roman</vt:lpstr>
      <vt:lpstr>Sylfaen</vt:lpstr>
      <vt:lpstr>System Font Regular</vt:lpstr>
      <vt:lpstr>Times New Roman</vt:lpstr>
      <vt:lpstr>Wingdings</vt:lpstr>
      <vt:lpstr>2_Synopsys_2019</vt:lpstr>
      <vt:lpstr>Custom Design</vt:lpstr>
      <vt:lpstr>Logic Design</vt:lpstr>
      <vt:lpstr>Course Overview</vt:lpstr>
      <vt:lpstr>Introduction to Verilog</vt:lpstr>
      <vt:lpstr>Program Structure</vt:lpstr>
      <vt:lpstr>Module</vt:lpstr>
      <vt:lpstr>Hierarchy Structure of Modules</vt:lpstr>
      <vt:lpstr>Syntax of Module Declaration</vt:lpstr>
      <vt:lpstr>Input/Output Declaration</vt:lpstr>
      <vt:lpstr>Data Types. Nets</vt:lpstr>
      <vt:lpstr>Registers</vt:lpstr>
      <vt:lpstr>Examples</vt:lpstr>
      <vt:lpstr>Memories</vt:lpstr>
      <vt:lpstr>Multi-Dimensional Arrays</vt:lpstr>
      <vt:lpstr>Numbers</vt:lpstr>
      <vt:lpstr>Examples</vt:lpstr>
      <vt:lpstr>Numbers</vt:lpstr>
      <vt:lpstr>Time in Verilog</vt:lpstr>
      <vt:lpstr>Data Types in SystemVerilog</vt:lpstr>
      <vt:lpstr>Verilog and SystemVerilog</vt:lpstr>
      <vt:lpstr>Table of Operations</vt:lpstr>
      <vt:lpstr>Examples</vt:lpstr>
      <vt:lpstr>Table of Operations</vt:lpstr>
      <vt:lpstr>Example (Verilog 2005)</vt:lpstr>
      <vt:lpstr>System  Verilog:   Module   Gates</vt:lpstr>
      <vt:lpstr>Parameter Declaration</vt:lpstr>
      <vt:lpstr>Procedures and Assignments</vt:lpstr>
      <vt:lpstr>Continuous Assignment</vt:lpstr>
      <vt:lpstr>Continuous Assignment</vt:lpstr>
      <vt:lpstr>Example 1</vt:lpstr>
      <vt:lpstr>Example 2</vt:lpstr>
      <vt:lpstr>Delays</vt:lpstr>
      <vt:lpstr>Gate Instantiation</vt:lpstr>
      <vt:lpstr>Verilog Gates Table</vt:lpstr>
      <vt:lpstr>Truth Tables for Gates</vt:lpstr>
      <vt:lpstr>Truth Tables for Gates (2)</vt:lpstr>
      <vt:lpstr>Truth Tables for Gates (3)</vt:lpstr>
      <vt:lpstr>Gate Level Description of Logic Circuits</vt:lpstr>
      <vt:lpstr>Example</vt:lpstr>
      <vt:lpstr>Behavioral Description of Logic Circuits</vt:lpstr>
      <vt:lpstr>Procedural Assignment (Verilog) </vt:lpstr>
      <vt:lpstr>Always Block</vt:lpstr>
      <vt:lpstr>Example </vt:lpstr>
      <vt:lpstr>Example (2)</vt:lpstr>
      <vt:lpstr>Example (3)</vt:lpstr>
      <vt:lpstr>Always  Statements  in System Verilog</vt:lpstr>
      <vt:lpstr>always_ff </vt:lpstr>
      <vt:lpstr>always_latch  (D-Latch)</vt:lpstr>
      <vt:lpstr>always_comb (Full Adder)</vt:lpstr>
      <vt:lpstr>Initial Statement</vt:lpstr>
      <vt:lpstr>Seven-Segment  Display  Decoder</vt:lpstr>
      <vt:lpstr>Seven-Segment Display  Digits and Letters</vt:lpstr>
      <vt:lpstr>Table of Implementing Functions</vt:lpstr>
      <vt:lpstr>Verilog  Description</vt:lpstr>
      <vt:lpstr>Test-Bench</vt:lpstr>
      <vt:lpstr>Blocking and Nonblocking Assignment</vt:lpstr>
      <vt:lpstr>Blocking Assignment</vt:lpstr>
      <vt:lpstr>Nonblocking Assignment</vt:lpstr>
      <vt:lpstr>Example</vt:lpstr>
      <vt:lpstr>Example (2)</vt:lpstr>
      <vt:lpstr>Example (Blocking and Nonblocking Assignment)</vt:lpstr>
      <vt:lpstr>Rules (for  Verilog)</vt:lpstr>
      <vt:lpstr>Concept of Block</vt:lpstr>
      <vt:lpstr>Parallel Block</vt:lpstr>
      <vt:lpstr>If Statement</vt:lpstr>
      <vt:lpstr>If-else Statement, if Statement</vt:lpstr>
      <vt:lpstr>If-else statement, If-statement</vt:lpstr>
      <vt:lpstr>Equality Operators</vt:lpstr>
      <vt:lpstr>Examples </vt:lpstr>
      <vt:lpstr>Case Statement</vt:lpstr>
      <vt:lpstr>Case Statement: Example</vt:lpstr>
      <vt:lpstr>Casex, Casez</vt:lpstr>
      <vt:lpstr>Looping Statements (For Loop, Repeat Loop)</vt:lpstr>
      <vt:lpstr>Forever Loop,  While Loop</vt:lpstr>
      <vt:lpstr>Example 1. For Statement</vt:lpstr>
      <vt:lpstr>Example 3. Repeat Statement</vt:lpstr>
      <vt:lpstr>Example 4. While Statement</vt:lpstr>
      <vt:lpstr>Example 6: Forever Statement</vt:lpstr>
      <vt:lpstr>Disable Statement</vt:lpstr>
      <vt:lpstr>Generate Operator</vt:lpstr>
      <vt:lpstr>Port Connection Rules</vt:lpstr>
      <vt:lpstr>Port  Connection  Rules</vt:lpstr>
      <vt:lpstr>Low-Level Modules</vt:lpstr>
      <vt:lpstr>Example</vt:lpstr>
      <vt:lpstr>Overriding Module Parameters </vt:lpstr>
      <vt:lpstr>Overriding Module Parameters (2)</vt:lpstr>
      <vt:lpstr>Simulation in Verilog</vt:lpstr>
      <vt:lpstr>Test_Bench</vt:lpstr>
      <vt:lpstr>Writing Testbench</vt:lpstr>
      <vt:lpstr>Timing Control</vt:lpstr>
      <vt:lpstr>Intra-Assignment</vt:lpstr>
      <vt:lpstr>Examples</vt:lpstr>
      <vt:lpstr>Event-Based Timing Control </vt:lpstr>
      <vt:lpstr>Level Sensitive Timing Control</vt:lpstr>
      <vt:lpstr>Functions and Tasks</vt:lpstr>
      <vt:lpstr>Functions: Example</vt:lpstr>
      <vt:lpstr>Tasks</vt:lpstr>
      <vt:lpstr>Example</vt:lpstr>
      <vt:lpstr>Example (2)</vt:lpstr>
      <vt:lpstr>Differences between Tasks and Functions </vt:lpstr>
      <vt:lpstr>Compiler directives</vt:lpstr>
      <vt:lpstr>System Tasks</vt:lpstr>
      <vt:lpstr>Format $display and $monitor </vt:lpstr>
      <vt:lpstr>$monitor </vt:lpstr>
      <vt:lpstr>Synthesis  in  Verilog</vt:lpstr>
      <vt:lpstr>Synthesis Flow</vt:lpstr>
      <vt:lpstr>Verilog HDL Constructs for Logic Synthesis </vt:lpstr>
      <vt:lpstr>Verilog HDL Constructs for Logic Synthesis (2)</vt:lpstr>
      <vt:lpstr>Optimization within DC</vt:lpstr>
      <vt:lpstr>Resource Sharing </vt:lpstr>
      <vt:lpstr>Resource Sharing</vt:lpstr>
      <vt:lpstr>Resource Sharing (3)</vt:lpstr>
      <vt:lpstr>Coding to Allow Operator Reordering</vt:lpstr>
      <vt:lpstr>Coding to Prevent Operator Reordering</vt:lpstr>
      <vt:lpstr>Optimization of Arithmetic Expressions </vt:lpstr>
      <vt:lpstr>Common Sub-Expression Sharing</vt:lpstr>
      <vt:lpstr>Implementation Selection</vt:lpstr>
      <vt:lpstr>Logic-level Optimization. Structuring</vt:lpstr>
      <vt:lpstr>Logic-level Optimization. Flattening</vt:lpstr>
      <vt:lpstr>Example</vt:lpstr>
      <vt:lpstr>Structuring and Flattening</vt:lpstr>
      <vt:lpstr>Gate-Level Optimization</vt:lpstr>
      <vt:lpstr>Library  Elements</vt:lpstr>
      <vt:lpstr>Variants of Mapping</vt:lpstr>
      <vt:lpstr>Better Variant of Mapping</vt:lpstr>
      <vt:lpstr>Sequential Mapping and Optimization</vt:lpstr>
      <vt:lpstr>Synthesis Flow</vt:lpstr>
      <vt:lpstr>Specifying an Area Constraint</vt:lpstr>
      <vt:lpstr>Default Design Scenario</vt:lpstr>
      <vt:lpstr>Create Clock Constraining Register-to-Register Paths</vt:lpstr>
      <vt:lpstr>Modeling Clock Trees</vt:lpstr>
      <vt:lpstr>Pre/Post Layout Clock</vt:lpstr>
      <vt:lpstr>set_clock_uncertainty and Setup Timing</vt:lpstr>
      <vt:lpstr>Setup  and  Hold</vt:lpstr>
      <vt:lpstr>Modeling Latency or Insertion Delay</vt:lpstr>
      <vt:lpstr>Constraining Input Paths</vt:lpstr>
      <vt:lpstr>Example 1</vt:lpstr>
      <vt:lpstr>Example 2</vt:lpstr>
      <vt:lpstr>Constraining Output Paths</vt:lpstr>
      <vt:lpstr>Example 3</vt:lpstr>
      <vt:lpstr>Timing Diagram for Example 3 </vt:lpstr>
      <vt:lpstr>Example 4</vt:lpstr>
      <vt:lpstr>Timing Constraints and Diagram for Example 4</vt:lpstr>
      <vt:lpstr>Constraining Combinational Paths</vt:lpstr>
      <vt:lpstr>Constraining a Purely Combinational Design</vt:lpstr>
      <vt:lpstr>Constraining a Purely Combinational Design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2023-12-27T09:21:59Z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