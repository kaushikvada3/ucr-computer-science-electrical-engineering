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 id="2147483757" r:id="rId5"/>
  </p:sldMasterIdLst>
  <p:notesMasterIdLst>
    <p:notesMasterId r:id="rId45"/>
  </p:notesMasterIdLst>
  <p:handoutMasterIdLst>
    <p:handoutMasterId r:id="rId46"/>
  </p:handoutMasterIdLst>
  <p:sldIdLst>
    <p:sldId id="4743" r:id="rId6"/>
    <p:sldId id="537" r:id="rId7"/>
    <p:sldId id="536" r:id="rId8"/>
    <p:sldId id="530" r:id="rId9"/>
    <p:sldId id="531" r:id="rId10"/>
    <p:sldId id="493" r:id="rId11"/>
    <p:sldId id="494" r:id="rId12"/>
    <p:sldId id="552" r:id="rId13"/>
    <p:sldId id="533" r:id="rId14"/>
    <p:sldId id="532" r:id="rId15"/>
    <p:sldId id="497" r:id="rId16"/>
    <p:sldId id="498" r:id="rId17"/>
    <p:sldId id="534" r:id="rId18"/>
    <p:sldId id="500" r:id="rId19"/>
    <p:sldId id="502" r:id="rId20"/>
    <p:sldId id="503" r:id="rId21"/>
    <p:sldId id="535" r:id="rId22"/>
    <p:sldId id="4744" r:id="rId23"/>
    <p:sldId id="4745" r:id="rId24"/>
    <p:sldId id="538" r:id="rId25"/>
    <p:sldId id="508" r:id="rId26"/>
    <p:sldId id="509" r:id="rId27"/>
    <p:sldId id="550" r:id="rId28"/>
    <p:sldId id="551" r:id="rId29"/>
    <p:sldId id="510" r:id="rId30"/>
    <p:sldId id="511" r:id="rId31"/>
    <p:sldId id="539" r:id="rId32"/>
    <p:sldId id="513" r:id="rId33"/>
    <p:sldId id="527" r:id="rId34"/>
    <p:sldId id="515" r:id="rId35"/>
    <p:sldId id="540" r:id="rId36"/>
    <p:sldId id="517" r:id="rId37"/>
    <p:sldId id="518" r:id="rId38"/>
    <p:sldId id="519" r:id="rId39"/>
    <p:sldId id="520" r:id="rId40"/>
    <p:sldId id="548" r:id="rId41"/>
    <p:sldId id="549" r:id="rId42"/>
    <p:sldId id="541" r:id="rId43"/>
    <p:sldId id="4790" r:id="rId44"/>
  </p:sldIdLst>
  <p:sldSz cx="12192000" cy="6858000"/>
  <p:notesSz cx="7315200" cy="9601200"/>
  <p:custDataLst>
    <p:tags r:id="rId4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537"/>
            <p14:sldId id="536"/>
            <p14:sldId id="530"/>
            <p14:sldId id="531"/>
            <p14:sldId id="493"/>
            <p14:sldId id="494"/>
            <p14:sldId id="552"/>
            <p14:sldId id="533"/>
            <p14:sldId id="532"/>
            <p14:sldId id="497"/>
            <p14:sldId id="498"/>
            <p14:sldId id="534"/>
            <p14:sldId id="500"/>
            <p14:sldId id="502"/>
            <p14:sldId id="503"/>
            <p14:sldId id="535"/>
            <p14:sldId id="4744"/>
            <p14:sldId id="4745"/>
            <p14:sldId id="538"/>
            <p14:sldId id="508"/>
            <p14:sldId id="509"/>
            <p14:sldId id="550"/>
            <p14:sldId id="551"/>
            <p14:sldId id="510"/>
            <p14:sldId id="511"/>
            <p14:sldId id="539"/>
            <p14:sldId id="513"/>
            <p14:sldId id="527"/>
            <p14:sldId id="515"/>
            <p14:sldId id="540"/>
            <p14:sldId id="517"/>
            <p14:sldId id="518"/>
            <p14:sldId id="519"/>
            <p14:sldId id="520"/>
            <p14:sldId id="548"/>
            <p14:sldId id="549"/>
            <p14:sldId id="541"/>
            <p14:sldId id="479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D5DB9"/>
    <a:srgbClr val="3366FF"/>
    <a:srgbClr val="D723BD"/>
    <a:srgbClr val="C1C6CC"/>
    <a:srgbClr val="5A84FF"/>
    <a:srgbClr val="BDBDBD"/>
    <a:srgbClr val="5858FF"/>
    <a:srgbClr val="BBCDEC"/>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DAAC6C-FCDC-47F2-98D2-259F41CB7E8E}" v="3" dt="2023-12-27T09:33:39.7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notesMaster" Target="notesMasters/notesMaster1.xml"/><Relationship Id="rId53"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commentAuthors" Target="commentAuthors.xml"/><Relationship Id="rId8" Type="http://schemas.openxmlformats.org/officeDocument/2006/relationships/slide" Target="slides/slide3.xml"/><Relationship Id="rId5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garit Meroyan" userId="630a6349-7c61-463e-804c-816773a1019c" providerId="ADAL" clId="{A8DAAC6C-FCDC-47F2-98D2-259F41CB7E8E}"/>
    <pc:docChg chg="custSel addSld delSld modSld modSection">
      <pc:chgData name="Margarit Meroyan" userId="630a6349-7c61-463e-804c-816773a1019c" providerId="ADAL" clId="{A8DAAC6C-FCDC-47F2-98D2-259F41CB7E8E}" dt="2023-12-27T09:33:45.345" v="12" actId="207"/>
      <pc:docMkLst>
        <pc:docMk/>
      </pc:docMkLst>
      <pc:sldChg chg="modSp mod">
        <pc:chgData name="Margarit Meroyan" userId="630a6349-7c61-463e-804c-816773a1019c" providerId="ADAL" clId="{A8DAAC6C-FCDC-47F2-98D2-259F41CB7E8E}" dt="2023-12-27T09:32:58.560" v="5" actId="207"/>
        <pc:sldMkLst>
          <pc:docMk/>
          <pc:sldMk cId="0" sldId="502"/>
        </pc:sldMkLst>
        <pc:spChg chg="mod">
          <ac:chgData name="Margarit Meroyan" userId="630a6349-7c61-463e-804c-816773a1019c" providerId="ADAL" clId="{A8DAAC6C-FCDC-47F2-98D2-259F41CB7E8E}" dt="2023-12-27T09:32:58.560" v="5" actId="207"/>
          <ac:spMkLst>
            <pc:docMk/>
            <pc:sldMk cId="0" sldId="502"/>
            <ac:spMk id="29702" creationId="{CFC1126D-BEFD-6509-965B-3015D835889C}"/>
          </ac:spMkLst>
        </pc:spChg>
        <pc:spChg chg="mod">
          <ac:chgData name="Margarit Meroyan" userId="630a6349-7c61-463e-804c-816773a1019c" providerId="ADAL" clId="{A8DAAC6C-FCDC-47F2-98D2-259F41CB7E8E}" dt="2023-12-27T09:32:58.560" v="5" actId="207"/>
          <ac:spMkLst>
            <pc:docMk/>
            <pc:sldMk cId="0" sldId="502"/>
            <ac:spMk id="29703" creationId="{4D289DBE-B8C4-C4CB-938F-7F3C60DB7836}"/>
          </ac:spMkLst>
        </pc:spChg>
        <pc:spChg chg="mod">
          <ac:chgData name="Margarit Meroyan" userId="630a6349-7c61-463e-804c-816773a1019c" providerId="ADAL" clId="{A8DAAC6C-FCDC-47F2-98D2-259F41CB7E8E}" dt="2023-12-27T09:32:58.560" v="5" actId="207"/>
          <ac:spMkLst>
            <pc:docMk/>
            <pc:sldMk cId="0" sldId="502"/>
            <ac:spMk id="29704" creationId="{53E92468-31CD-16C4-7D35-A8E46F5C2B2E}"/>
          </ac:spMkLst>
        </pc:spChg>
        <pc:spChg chg="mod">
          <ac:chgData name="Margarit Meroyan" userId="630a6349-7c61-463e-804c-816773a1019c" providerId="ADAL" clId="{A8DAAC6C-FCDC-47F2-98D2-259F41CB7E8E}" dt="2023-12-27T09:32:58.560" v="5" actId="207"/>
          <ac:spMkLst>
            <pc:docMk/>
            <pc:sldMk cId="0" sldId="502"/>
            <ac:spMk id="29705" creationId="{C288FE2F-B7DE-ED80-4F82-196153D235BE}"/>
          </ac:spMkLst>
        </pc:spChg>
        <pc:spChg chg="mod">
          <ac:chgData name="Margarit Meroyan" userId="630a6349-7c61-463e-804c-816773a1019c" providerId="ADAL" clId="{A8DAAC6C-FCDC-47F2-98D2-259F41CB7E8E}" dt="2023-12-27T09:32:58.560" v="5" actId="207"/>
          <ac:spMkLst>
            <pc:docMk/>
            <pc:sldMk cId="0" sldId="502"/>
            <ac:spMk id="29706" creationId="{61B3EA89-271C-CEEF-D37B-92E15E36DBAE}"/>
          </ac:spMkLst>
        </pc:spChg>
      </pc:sldChg>
      <pc:sldChg chg="modSp mod">
        <pc:chgData name="Margarit Meroyan" userId="630a6349-7c61-463e-804c-816773a1019c" providerId="ADAL" clId="{A8DAAC6C-FCDC-47F2-98D2-259F41CB7E8E}" dt="2023-12-27T09:33:12.065" v="7" actId="207"/>
        <pc:sldMkLst>
          <pc:docMk/>
          <pc:sldMk cId="0" sldId="508"/>
        </pc:sldMkLst>
        <pc:spChg chg="mod">
          <ac:chgData name="Margarit Meroyan" userId="630a6349-7c61-463e-804c-816773a1019c" providerId="ADAL" clId="{A8DAAC6C-FCDC-47F2-98D2-259F41CB7E8E}" dt="2023-12-27T09:33:09.783" v="6" actId="207"/>
          <ac:spMkLst>
            <pc:docMk/>
            <pc:sldMk cId="0" sldId="508"/>
            <ac:spMk id="21511" creationId="{2A2EBE35-E3B0-4CE6-A8BF-53CA74661357}"/>
          </ac:spMkLst>
        </pc:spChg>
        <pc:spChg chg="mod">
          <ac:chgData name="Margarit Meroyan" userId="630a6349-7c61-463e-804c-816773a1019c" providerId="ADAL" clId="{A8DAAC6C-FCDC-47F2-98D2-259F41CB7E8E}" dt="2023-12-27T09:33:12.065" v="7" actId="207"/>
          <ac:spMkLst>
            <pc:docMk/>
            <pc:sldMk cId="0" sldId="508"/>
            <ac:spMk id="21512" creationId="{787EAF17-CAA7-4D4D-A946-26A564B3B533}"/>
          </ac:spMkLst>
        </pc:spChg>
      </pc:sldChg>
      <pc:sldChg chg="modSp mod">
        <pc:chgData name="Margarit Meroyan" userId="630a6349-7c61-463e-804c-816773a1019c" providerId="ADAL" clId="{A8DAAC6C-FCDC-47F2-98D2-259F41CB7E8E}" dt="2023-12-27T09:33:24.744" v="9" actId="207"/>
        <pc:sldMkLst>
          <pc:docMk/>
          <pc:sldMk cId="0" sldId="510"/>
        </pc:sldMkLst>
        <pc:spChg chg="mod">
          <ac:chgData name="Margarit Meroyan" userId="630a6349-7c61-463e-804c-816773a1019c" providerId="ADAL" clId="{A8DAAC6C-FCDC-47F2-98D2-259F41CB7E8E}" dt="2023-12-27T09:33:22.614" v="8" actId="207"/>
          <ac:spMkLst>
            <pc:docMk/>
            <pc:sldMk cId="0" sldId="510"/>
            <ac:spMk id="2" creationId="{0C966581-8CF9-4996-951A-3E49E82FA14F}"/>
          </ac:spMkLst>
        </pc:spChg>
        <pc:spChg chg="mod">
          <ac:chgData name="Margarit Meroyan" userId="630a6349-7c61-463e-804c-816773a1019c" providerId="ADAL" clId="{A8DAAC6C-FCDC-47F2-98D2-259F41CB7E8E}" dt="2023-12-27T09:33:24.744" v="9" actId="207"/>
          <ac:spMkLst>
            <pc:docMk/>
            <pc:sldMk cId="0" sldId="510"/>
            <ac:spMk id="44039" creationId="{D573F421-4EA1-0789-CC94-136434E68876}"/>
          </ac:spMkLst>
        </pc:spChg>
      </pc:sldChg>
      <pc:sldChg chg="modSp mod">
        <pc:chgData name="Margarit Meroyan" userId="630a6349-7c61-463e-804c-816773a1019c" providerId="ADAL" clId="{A8DAAC6C-FCDC-47F2-98D2-259F41CB7E8E}" dt="2023-12-27T09:33:45.345" v="12" actId="207"/>
        <pc:sldMkLst>
          <pc:docMk/>
          <pc:sldMk cId="0" sldId="513"/>
        </pc:sldMkLst>
        <pc:spChg chg="mod">
          <ac:chgData name="Margarit Meroyan" userId="630a6349-7c61-463e-804c-816773a1019c" providerId="ADAL" clId="{A8DAAC6C-FCDC-47F2-98D2-259F41CB7E8E}" dt="2023-12-27T09:33:45.345" v="12" actId="207"/>
          <ac:spMkLst>
            <pc:docMk/>
            <pc:sldMk cId="0" sldId="513"/>
            <ac:spMk id="49183" creationId="{D020E4E1-C8C6-2A58-16C5-C83F9A25EE79}"/>
          </ac:spMkLst>
        </pc:spChg>
        <pc:spChg chg="mod">
          <ac:chgData name="Margarit Meroyan" userId="630a6349-7c61-463e-804c-816773a1019c" providerId="ADAL" clId="{A8DAAC6C-FCDC-47F2-98D2-259F41CB7E8E}" dt="2023-12-27T09:33:45.345" v="12" actId="207"/>
          <ac:spMkLst>
            <pc:docMk/>
            <pc:sldMk cId="0" sldId="513"/>
            <ac:spMk id="49184" creationId="{F4B62753-7F06-0536-8C43-C08BC12BF262}"/>
          </ac:spMkLst>
        </pc:spChg>
      </pc:sldChg>
      <pc:sldChg chg="delSp mod">
        <pc:chgData name="Margarit Meroyan" userId="630a6349-7c61-463e-804c-816773a1019c" providerId="ADAL" clId="{A8DAAC6C-FCDC-47F2-98D2-259F41CB7E8E}" dt="2023-12-27T09:32:32.041" v="4" actId="478"/>
        <pc:sldMkLst>
          <pc:docMk/>
          <pc:sldMk cId="0" sldId="536"/>
        </pc:sldMkLst>
        <pc:spChg chg="del">
          <ac:chgData name="Margarit Meroyan" userId="630a6349-7c61-463e-804c-816773a1019c" providerId="ADAL" clId="{A8DAAC6C-FCDC-47F2-98D2-259F41CB7E8E}" dt="2023-12-27T09:32:32.041" v="4" actId="478"/>
          <ac:spMkLst>
            <pc:docMk/>
            <pc:sldMk cId="0" sldId="536"/>
            <ac:spMk id="2" creationId="{C308CF19-6630-C492-B724-302243C015A0}"/>
          </ac:spMkLst>
        </pc:spChg>
      </pc:sldChg>
      <pc:sldChg chg="modSp">
        <pc:chgData name="Margarit Meroyan" userId="630a6349-7c61-463e-804c-816773a1019c" providerId="ADAL" clId="{A8DAAC6C-FCDC-47F2-98D2-259F41CB7E8E}" dt="2023-12-27T09:33:39.700" v="11" actId="1076"/>
        <pc:sldMkLst>
          <pc:docMk/>
          <pc:sldMk cId="0" sldId="539"/>
        </pc:sldMkLst>
        <pc:spChg chg="mod">
          <ac:chgData name="Margarit Meroyan" userId="630a6349-7c61-463e-804c-816773a1019c" providerId="ADAL" clId="{A8DAAC6C-FCDC-47F2-98D2-259F41CB7E8E}" dt="2023-12-27T09:33:36.536" v="10" actId="1076"/>
          <ac:spMkLst>
            <pc:docMk/>
            <pc:sldMk cId="0" sldId="539"/>
            <ac:spMk id="48132" creationId="{E92F54F2-77E5-8E59-D97B-FB1B64C0D917}"/>
          </ac:spMkLst>
        </pc:spChg>
        <pc:spChg chg="mod">
          <ac:chgData name="Margarit Meroyan" userId="630a6349-7c61-463e-804c-816773a1019c" providerId="ADAL" clId="{A8DAAC6C-FCDC-47F2-98D2-259F41CB7E8E}" dt="2023-12-27T09:33:39.700" v="11" actId="1076"/>
          <ac:spMkLst>
            <pc:docMk/>
            <pc:sldMk cId="0" sldId="539"/>
            <ac:spMk id="48133" creationId="{0DD5627D-AD5D-1257-6D5F-62CAB150B62D}"/>
          </ac:spMkLst>
        </pc:spChg>
      </pc:sldChg>
      <pc:sldChg chg="del">
        <pc:chgData name="Margarit Meroyan" userId="630a6349-7c61-463e-804c-816773a1019c" providerId="ADAL" clId="{A8DAAC6C-FCDC-47F2-98D2-259F41CB7E8E}" dt="2023-12-27T09:32:20.846" v="2" actId="47"/>
        <pc:sldMkLst>
          <pc:docMk/>
          <pc:sldMk cId="0" sldId="611"/>
        </pc:sldMkLst>
      </pc:sldChg>
      <pc:sldChg chg="new del">
        <pc:chgData name="Margarit Meroyan" userId="630a6349-7c61-463e-804c-816773a1019c" providerId="ADAL" clId="{A8DAAC6C-FCDC-47F2-98D2-259F41CB7E8E}" dt="2023-12-27T09:32:20.383" v="1" actId="47"/>
        <pc:sldMkLst>
          <pc:docMk/>
          <pc:sldMk cId="4136006131" sldId="4746"/>
        </pc:sldMkLst>
      </pc:sldChg>
      <pc:sldChg chg="add">
        <pc:chgData name="Margarit Meroyan" userId="630a6349-7c61-463e-804c-816773a1019c" providerId="ADAL" clId="{A8DAAC6C-FCDC-47F2-98D2-259F41CB7E8E}" dt="2023-12-27T09:32:22.566" v="3"/>
        <pc:sldMkLst>
          <pc:docMk/>
          <pc:sldMk cId="132580393" sldId="479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12/27/2023</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a:solidFill>
                  <a:schemeClr val="tx1"/>
                </a:solidFill>
                <a:effectLst/>
                <a:latin typeface="Arial" pitchFamily="34" charset="0"/>
                <a:ea typeface="+mn-ea"/>
                <a:cs typeface="Arial" pitchFamily="34" charset="0"/>
              </a:rPr>
              <a:t>©2023 Synopsys, Inc. All Rights Reserved.</a:t>
            </a:r>
            <a:endParaRPr lang="en-US" sz="800" b="1">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9DAA041E-1D52-BF5C-FDB6-18220C64C952}"/>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8B83D5CD-630C-1654-5E08-40F0613B3466}"/>
              </a:ext>
            </a:extLst>
          </p:cNvPr>
          <p:cNvSpPr>
            <a:spLocks noGrp="1" noChangeArrowheads="1"/>
          </p:cNvSpPr>
          <p:nvPr>
            <p:ph type="body" idx="1"/>
          </p:nvPr>
        </p:nvSpPr>
        <p:spPr>
          <a:xfrm>
            <a:off x="947738" y="4306888"/>
            <a:ext cx="5106987" cy="416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
        <p:nvSpPr>
          <p:cNvPr id="9220" name="Slide Number Placeholder 3">
            <a:extLst>
              <a:ext uri="{FF2B5EF4-FFF2-40B4-BE49-F238E27FC236}">
                <a16:creationId xmlns:a16="http://schemas.microsoft.com/office/drawing/2014/main" id="{5288A296-D3E5-C921-2883-126142193E50}"/>
              </a:ext>
            </a:extLst>
          </p:cNvPr>
          <p:cNvSpPr txBox="1">
            <a:spLocks noGrp="1" noChangeArrowheads="1"/>
          </p:cNvSpPr>
          <p:nvPr/>
        </p:nvSpPr>
        <p:spPr bwMode="auto">
          <a:xfrm>
            <a:off x="3948113" y="8801100"/>
            <a:ext cx="30178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43" tIns="46371" rIns="92743" bIns="46371" anchor="b"/>
          <a:lstStyle>
            <a:lvl1pPr defTabSz="927100">
              <a:defRPr sz="2400" b="1">
                <a:solidFill>
                  <a:schemeClr val="tx1"/>
                </a:solidFill>
                <a:latin typeface="Arial" panose="020B0604020202020204" pitchFamily="34" charset="0"/>
                <a:cs typeface="Arial" panose="020B0604020202020204" pitchFamily="34" charset="0"/>
              </a:defRPr>
            </a:lvl1pPr>
            <a:lvl2pPr marL="742950" indent="-285750" defTabSz="927100">
              <a:defRPr sz="2400" b="1">
                <a:solidFill>
                  <a:schemeClr val="tx1"/>
                </a:solidFill>
                <a:latin typeface="Arial" panose="020B0604020202020204" pitchFamily="34" charset="0"/>
                <a:cs typeface="Arial" panose="020B0604020202020204" pitchFamily="34" charset="0"/>
              </a:defRPr>
            </a:lvl2pPr>
            <a:lvl3pPr marL="1143000" indent="-228600" defTabSz="927100">
              <a:defRPr sz="2400" b="1">
                <a:solidFill>
                  <a:schemeClr val="tx1"/>
                </a:solidFill>
                <a:latin typeface="Arial" panose="020B0604020202020204" pitchFamily="34" charset="0"/>
                <a:cs typeface="Arial" panose="020B0604020202020204" pitchFamily="34" charset="0"/>
              </a:defRPr>
            </a:lvl3pPr>
            <a:lvl4pPr marL="1600200" indent="-228600" defTabSz="927100">
              <a:defRPr sz="2400" b="1">
                <a:solidFill>
                  <a:schemeClr val="tx1"/>
                </a:solidFill>
                <a:latin typeface="Arial" panose="020B0604020202020204" pitchFamily="34" charset="0"/>
                <a:cs typeface="Arial" panose="020B0604020202020204" pitchFamily="34" charset="0"/>
              </a:defRPr>
            </a:lvl4pPr>
            <a:lvl5pPr marL="2057400" indent="-228600" defTabSz="927100">
              <a:defRPr sz="2400" b="1">
                <a:solidFill>
                  <a:schemeClr val="tx1"/>
                </a:solidFill>
                <a:latin typeface="Arial" panose="020B0604020202020204" pitchFamily="34" charset="0"/>
                <a:cs typeface="Arial" panose="020B0604020202020204" pitchFamily="34" charset="0"/>
              </a:defRPr>
            </a:lvl5pPr>
            <a:lvl6pPr marL="25146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eaLnBrk="1" hangingPunct="1"/>
            <a:fld id="{86EA1A44-60BD-4A42-A058-CD52E570853A}" type="slidenum">
              <a:rPr lang="en-US" altLang="en-US" sz="1200" b="0"/>
              <a:pPr algn="r" eaLnBrk="1" hangingPunct="1"/>
              <a:t>2</a:t>
            </a:fld>
            <a:endParaRPr lang="en-US" altLang="en-US" sz="1200" b="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F7E9140-D465-9AFC-70D6-2DDD0D1BB352}"/>
              </a:ext>
            </a:extLst>
          </p:cNvPr>
          <p:cNvSpPr>
            <a:spLocks noGrp="1" noRot="1" noChangeAspect="1" noChangeArrowheads="1" noTextEdit="1"/>
          </p:cNvSpPr>
          <p:nvPr>
            <p:ph type="sldImg"/>
          </p:nvPr>
        </p:nvSpPr>
        <p:spPr>
          <a:xfrm>
            <a:off x="398463" y="696913"/>
            <a:ext cx="6188075" cy="3481387"/>
          </a:xfrm>
          <a:ln/>
        </p:spPr>
      </p:sp>
      <p:sp>
        <p:nvSpPr>
          <p:cNvPr id="16387" name="Rectangle 3">
            <a:extLst>
              <a:ext uri="{FF2B5EF4-FFF2-40B4-BE49-F238E27FC236}">
                <a16:creationId xmlns:a16="http://schemas.microsoft.com/office/drawing/2014/main" id="{50372FE3-1BED-8BD0-406B-71610132EA97}"/>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CADEBC57-14B4-F36D-C38E-4B766F3D1867}"/>
              </a:ext>
            </a:extLst>
          </p:cNvPr>
          <p:cNvSpPr>
            <a:spLocks noGrp="1" noRot="1" noChangeAspect="1" noChangeArrowheads="1" noTextEdit="1"/>
          </p:cNvSpPr>
          <p:nvPr>
            <p:ph type="sldImg"/>
          </p:nvPr>
        </p:nvSpPr>
        <p:spPr>
          <a:xfrm>
            <a:off x="398463" y="696913"/>
            <a:ext cx="6188075" cy="3481387"/>
          </a:xfrm>
          <a:ln/>
        </p:spPr>
      </p:sp>
      <p:sp>
        <p:nvSpPr>
          <p:cNvPr id="18435" name="Rectangle 3">
            <a:extLst>
              <a:ext uri="{FF2B5EF4-FFF2-40B4-BE49-F238E27FC236}">
                <a16:creationId xmlns:a16="http://schemas.microsoft.com/office/drawing/2014/main" id="{59BDB03A-D596-310C-D7DA-CC32DB3E2630}"/>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41804CB-A82C-93F9-53EA-0DD8ABB005EC}"/>
              </a:ext>
            </a:extLst>
          </p:cNvPr>
          <p:cNvSpPr>
            <a:spLocks noGrp="1" noRot="1" noChangeAspect="1" noChangeArrowheads="1" noTextEdit="1"/>
          </p:cNvSpPr>
          <p:nvPr>
            <p:ph type="sldImg"/>
          </p:nvPr>
        </p:nvSpPr>
        <p:spPr>
          <a:xfrm>
            <a:off x="398463" y="696913"/>
            <a:ext cx="6188075" cy="3481387"/>
          </a:xfrm>
          <a:ln/>
        </p:spPr>
      </p:sp>
      <p:sp>
        <p:nvSpPr>
          <p:cNvPr id="23555" name="Rectangle 3">
            <a:extLst>
              <a:ext uri="{FF2B5EF4-FFF2-40B4-BE49-F238E27FC236}">
                <a16:creationId xmlns:a16="http://schemas.microsoft.com/office/drawing/2014/main" id="{9C036793-6FCC-B20A-5736-F37747A12989}"/>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B193035B-9E0F-1932-5EFC-39566C3437BC}"/>
              </a:ext>
            </a:extLst>
          </p:cNvPr>
          <p:cNvSpPr>
            <a:spLocks noGrp="1" noRot="1" noChangeAspect="1" noChangeArrowheads="1" noTextEdit="1"/>
          </p:cNvSpPr>
          <p:nvPr>
            <p:ph type="sldImg"/>
          </p:nvPr>
        </p:nvSpPr>
        <p:spPr>
          <a:xfrm>
            <a:off x="398463" y="696913"/>
            <a:ext cx="6188075" cy="3481387"/>
          </a:xfrm>
          <a:ln/>
        </p:spPr>
      </p:sp>
      <p:sp>
        <p:nvSpPr>
          <p:cNvPr id="25603" name="Rectangle 3">
            <a:extLst>
              <a:ext uri="{FF2B5EF4-FFF2-40B4-BE49-F238E27FC236}">
                <a16:creationId xmlns:a16="http://schemas.microsoft.com/office/drawing/2014/main" id="{25425FED-08DE-0AEC-751E-16EEF5D810A2}"/>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37F250FA-6116-0F40-CAA9-0C8B9ECDA00F}"/>
              </a:ext>
            </a:extLst>
          </p:cNvPr>
          <p:cNvSpPr>
            <a:spLocks noGrp="1" noRot="1" noChangeAspect="1" noChangeArrowheads="1" noTextEdit="1"/>
          </p:cNvSpPr>
          <p:nvPr>
            <p:ph type="sldImg"/>
          </p:nvPr>
        </p:nvSpPr>
        <p:spPr>
          <a:xfrm>
            <a:off x="398463" y="696913"/>
            <a:ext cx="6188075" cy="3481387"/>
          </a:xfrm>
          <a:ln/>
        </p:spPr>
      </p:sp>
      <p:sp>
        <p:nvSpPr>
          <p:cNvPr id="28675" name="Rectangle 3">
            <a:extLst>
              <a:ext uri="{FF2B5EF4-FFF2-40B4-BE49-F238E27FC236}">
                <a16:creationId xmlns:a16="http://schemas.microsoft.com/office/drawing/2014/main" id="{3F586F6F-602A-0417-0EB5-9BE251E9C51A}"/>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59569C4C-EF66-4840-49F0-8E85D3F89CBC}"/>
              </a:ext>
            </a:extLst>
          </p:cNvPr>
          <p:cNvSpPr>
            <a:spLocks noGrp="1" noRot="1" noChangeAspect="1" noChangeArrowheads="1" noTextEdit="1"/>
          </p:cNvSpPr>
          <p:nvPr>
            <p:ph type="sldImg"/>
          </p:nvPr>
        </p:nvSpPr>
        <p:spPr>
          <a:xfrm>
            <a:off x="398463" y="696913"/>
            <a:ext cx="6188075" cy="3481387"/>
          </a:xfrm>
          <a:ln/>
        </p:spPr>
      </p:sp>
      <p:sp>
        <p:nvSpPr>
          <p:cNvPr id="30723" name="Rectangle 3">
            <a:extLst>
              <a:ext uri="{FF2B5EF4-FFF2-40B4-BE49-F238E27FC236}">
                <a16:creationId xmlns:a16="http://schemas.microsoft.com/office/drawing/2014/main" id="{E9348AFD-10EF-C321-22E5-1A656617AF6D}"/>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7BDC390C-17FE-BB87-15F2-D3C80DB4A339}"/>
              </a:ext>
            </a:extLst>
          </p:cNvPr>
          <p:cNvSpPr>
            <a:spLocks noGrp="1" noRot="1" noChangeAspect="1" noChangeArrowheads="1" noTextEdit="1"/>
          </p:cNvSpPr>
          <p:nvPr>
            <p:ph type="sldImg"/>
          </p:nvPr>
        </p:nvSpPr>
        <p:spPr>
          <a:xfrm>
            <a:off x="398463" y="696913"/>
            <a:ext cx="6188075" cy="3481387"/>
          </a:xfrm>
          <a:ln/>
        </p:spPr>
      </p:sp>
      <p:sp>
        <p:nvSpPr>
          <p:cNvPr id="32771" name="Rectangle 3">
            <a:extLst>
              <a:ext uri="{FF2B5EF4-FFF2-40B4-BE49-F238E27FC236}">
                <a16:creationId xmlns:a16="http://schemas.microsoft.com/office/drawing/2014/main" id="{8D7701EB-2C63-DD1D-5520-DF980B6B02AE}"/>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A7D39B73-9C23-F017-2987-7617A5B45F2C}"/>
              </a:ext>
            </a:extLst>
          </p:cNvPr>
          <p:cNvSpPr>
            <a:spLocks noGrp="1" noRot="1" noChangeAspect="1" noChangeArrowheads="1" noTextEdit="1"/>
          </p:cNvSpPr>
          <p:nvPr>
            <p:ph type="sldImg"/>
          </p:nvPr>
        </p:nvSpPr>
        <p:spPr>
          <a:xfrm>
            <a:off x="398463" y="696913"/>
            <a:ext cx="6188075" cy="3481387"/>
          </a:xfrm>
          <a:ln/>
        </p:spPr>
      </p:sp>
      <p:sp>
        <p:nvSpPr>
          <p:cNvPr id="38915" name="Rectangle 3">
            <a:extLst>
              <a:ext uri="{FF2B5EF4-FFF2-40B4-BE49-F238E27FC236}">
                <a16:creationId xmlns:a16="http://schemas.microsoft.com/office/drawing/2014/main" id="{EEAE1C52-8DFC-5C60-03EF-8BEFBAFAC056}"/>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92239F69-F558-7BC2-6517-CCAAE179F00B}"/>
              </a:ext>
            </a:extLst>
          </p:cNvPr>
          <p:cNvSpPr>
            <a:spLocks noGrp="1" noRot="1" noChangeAspect="1" noChangeArrowheads="1" noTextEdit="1"/>
          </p:cNvSpPr>
          <p:nvPr>
            <p:ph type="sldImg"/>
          </p:nvPr>
        </p:nvSpPr>
        <p:spPr>
          <a:xfrm>
            <a:off x="398463" y="696913"/>
            <a:ext cx="6188075" cy="3481387"/>
          </a:xfrm>
          <a:ln/>
        </p:spPr>
      </p:sp>
      <p:sp>
        <p:nvSpPr>
          <p:cNvPr id="40963" name="Rectangle 3">
            <a:extLst>
              <a:ext uri="{FF2B5EF4-FFF2-40B4-BE49-F238E27FC236}">
                <a16:creationId xmlns:a16="http://schemas.microsoft.com/office/drawing/2014/main" id="{6E5AD9F9-F091-641E-A21C-77E323B2D1D7}"/>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B063B22C-45FF-B9E9-2EE4-606F471684D7}"/>
              </a:ext>
            </a:extLst>
          </p:cNvPr>
          <p:cNvSpPr>
            <a:spLocks noGrp="1" noRot="1" noChangeAspect="1" noChangeArrowheads="1" noTextEdit="1"/>
          </p:cNvSpPr>
          <p:nvPr>
            <p:ph type="sldImg"/>
          </p:nvPr>
        </p:nvSpPr>
        <p:spPr>
          <a:xfrm>
            <a:off x="398463" y="696913"/>
            <a:ext cx="6188075" cy="3481387"/>
          </a:xfrm>
          <a:ln/>
        </p:spPr>
      </p:sp>
      <p:sp>
        <p:nvSpPr>
          <p:cNvPr id="45059" name="Rectangle 3">
            <a:extLst>
              <a:ext uri="{FF2B5EF4-FFF2-40B4-BE49-F238E27FC236}">
                <a16:creationId xmlns:a16="http://schemas.microsoft.com/office/drawing/2014/main" id="{7811286E-4E44-31A7-EBDE-A796142AEADC}"/>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A0FA57A9-594E-068F-65CC-22A41E7D0898}"/>
              </a:ext>
            </a:extLst>
          </p:cNvPr>
          <p:cNvSpPr>
            <a:spLocks noGrp="1" noRot="1" noChangeAspect="1" noChangeArrowheads="1" noTextEdit="1"/>
          </p:cNvSpPr>
          <p:nvPr>
            <p:ph type="sldImg"/>
          </p:nvPr>
        </p:nvSpPr>
        <p:spPr>
          <a:xfrm>
            <a:off x="398463" y="696913"/>
            <a:ext cx="6188075" cy="3481387"/>
          </a:xfrm>
          <a:ln/>
        </p:spPr>
      </p:sp>
      <p:sp>
        <p:nvSpPr>
          <p:cNvPr id="47107" name="Rectangle 3">
            <a:extLst>
              <a:ext uri="{FF2B5EF4-FFF2-40B4-BE49-F238E27FC236}">
                <a16:creationId xmlns:a16="http://schemas.microsoft.com/office/drawing/2014/main" id="{A75F8068-D700-6D76-E8FD-48914B79401F}"/>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65D1528-D8ED-6499-2C1C-C57A3C5C85FF}"/>
              </a:ext>
            </a:extLst>
          </p:cNvPr>
          <p:cNvSpPr>
            <a:spLocks noGrp="1" noRot="1" noChangeAspect="1" noChangeArrowheads="1" noTextEdit="1"/>
          </p:cNvSpPr>
          <p:nvPr>
            <p:ph type="sldImg"/>
          </p:nvPr>
        </p:nvSpPr>
        <p:spPr>
          <a:xfrm>
            <a:off x="398463" y="696913"/>
            <a:ext cx="6188075" cy="3481387"/>
          </a:xfrm>
          <a:ln/>
        </p:spPr>
      </p:sp>
      <p:sp>
        <p:nvSpPr>
          <p:cNvPr id="50179" name="Rectangle 3">
            <a:extLst>
              <a:ext uri="{FF2B5EF4-FFF2-40B4-BE49-F238E27FC236}">
                <a16:creationId xmlns:a16="http://schemas.microsoft.com/office/drawing/2014/main" id="{81E3D788-7218-A889-E9BF-51B57778A743}"/>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AC9241C1-D197-72DB-E343-29C2E720D844}"/>
              </a:ext>
            </a:extLst>
          </p:cNvPr>
          <p:cNvSpPr>
            <a:spLocks noGrp="1" noRot="1" noChangeAspect="1" noChangeArrowheads="1" noTextEdit="1"/>
          </p:cNvSpPr>
          <p:nvPr>
            <p:ph type="sldImg"/>
          </p:nvPr>
        </p:nvSpPr>
        <p:spPr>
          <a:xfrm>
            <a:off x="398463" y="696913"/>
            <a:ext cx="6188075" cy="3481387"/>
          </a:xfrm>
          <a:ln/>
        </p:spPr>
      </p:sp>
      <p:sp>
        <p:nvSpPr>
          <p:cNvPr id="53251" name="Rectangle 3">
            <a:extLst>
              <a:ext uri="{FF2B5EF4-FFF2-40B4-BE49-F238E27FC236}">
                <a16:creationId xmlns:a16="http://schemas.microsoft.com/office/drawing/2014/main" id="{CE7CBAFF-3936-29DF-44B0-4048C8C98CA7}"/>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B90AFFC5-0EEA-2D8D-E8FE-4DFDDD079C69}"/>
              </a:ext>
            </a:extLst>
          </p:cNvPr>
          <p:cNvSpPr>
            <a:spLocks noGrp="1" noRot="1" noChangeAspect="1" noChangeArrowheads="1" noTextEdit="1"/>
          </p:cNvSpPr>
          <p:nvPr>
            <p:ph type="sldImg"/>
          </p:nvPr>
        </p:nvSpPr>
        <p:spPr>
          <a:xfrm>
            <a:off x="398463" y="696913"/>
            <a:ext cx="6188075" cy="3481387"/>
          </a:xfrm>
          <a:ln/>
        </p:spPr>
      </p:sp>
      <p:sp>
        <p:nvSpPr>
          <p:cNvPr id="56323" name="Rectangle 3">
            <a:extLst>
              <a:ext uri="{FF2B5EF4-FFF2-40B4-BE49-F238E27FC236}">
                <a16:creationId xmlns:a16="http://schemas.microsoft.com/office/drawing/2014/main" id="{1BF3130A-21BE-DE92-A961-2383075A92DD}"/>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185F681F-0132-B29A-6077-4868C87B330A}"/>
              </a:ext>
            </a:extLst>
          </p:cNvPr>
          <p:cNvSpPr>
            <a:spLocks noGrp="1" noRot="1" noChangeAspect="1" noChangeArrowheads="1" noTextEdit="1"/>
          </p:cNvSpPr>
          <p:nvPr>
            <p:ph type="sldImg"/>
          </p:nvPr>
        </p:nvSpPr>
        <p:spPr>
          <a:xfrm>
            <a:off x="398463" y="696913"/>
            <a:ext cx="6188075" cy="3481387"/>
          </a:xfrm>
          <a:ln/>
        </p:spPr>
      </p:sp>
      <p:sp>
        <p:nvSpPr>
          <p:cNvPr id="58371" name="Rectangle 3">
            <a:extLst>
              <a:ext uri="{FF2B5EF4-FFF2-40B4-BE49-F238E27FC236}">
                <a16:creationId xmlns:a16="http://schemas.microsoft.com/office/drawing/2014/main" id="{79D4D3CF-C398-692A-A3AF-F898CB75E01A}"/>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69F4018C-01D4-9FAC-4874-AC7DE391F42D}"/>
              </a:ext>
            </a:extLst>
          </p:cNvPr>
          <p:cNvSpPr>
            <a:spLocks noGrp="1" noRot="1" noChangeAspect="1" noChangeArrowheads="1" noTextEdit="1"/>
          </p:cNvSpPr>
          <p:nvPr>
            <p:ph type="sldImg"/>
          </p:nvPr>
        </p:nvSpPr>
        <p:spPr>
          <a:xfrm>
            <a:off x="398463" y="696913"/>
            <a:ext cx="6188075" cy="3481387"/>
          </a:xfrm>
          <a:ln/>
        </p:spPr>
      </p:sp>
      <p:sp>
        <p:nvSpPr>
          <p:cNvPr id="60419" name="Rectangle 3">
            <a:extLst>
              <a:ext uri="{FF2B5EF4-FFF2-40B4-BE49-F238E27FC236}">
                <a16:creationId xmlns:a16="http://schemas.microsoft.com/office/drawing/2014/main" id="{D10D3179-3FD0-24FD-43D4-D34545C9A666}"/>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1D95451-DEA5-AB1D-F0FC-CC88AB4B2EEB}"/>
              </a:ext>
            </a:extLst>
          </p:cNvPr>
          <p:cNvSpPr>
            <a:spLocks noGrp="1" noRot="1" noChangeAspect="1" noChangeArrowheads="1" noTextEdit="1"/>
          </p:cNvSpPr>
          <p:nvPr>
            <p:ph type="sldImg"/>
          </p:nvPr>
        </p:nvSpPr>
        <p:spPr>
          <a:xfrm>
            <a:off x="398463" y="696913"/>
            <a:ext cx="6188075" cy="3481387"/>
          </a:xfrm>
          <a:ln/>
        </p:spPr>
      </p:sp>
      <p:sp>
        <p:nvSpPr>
          <p:cNvPr id="62467" name="Rectangle 3">
            <a:extLst>
              <a:ext uri="{FF2B5EF4-FFF2-40B4-BE49-F238E27FC236}">
                <a16:creationId xmlns:a16="http://schemas.microsoft.com/office/drawing/2014/main" id="{EC64BA7A-925F-62BF-D777-1AEABB996A78}"/>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custDataLst>
              <p:tags r:id="rId1"/>
            </p:custDataLst>
          </p:nvPr>
        </p:nvSpPr>
        <p:spPr>
          <a:xfrm>
            <a:off x="456555" y="1554480"/>
            <a:ext cx="11278244" cy="4846320"/>
          </a:xfrm>
        </p:spPr>
        <p:txBody>
          <a:bodyPr vert="horz" lIns="91440" tIns="45720" rIns="91440" bIns="45720" rtlCol="0">
            <a:normAutofit/>
          </a:bodyPr>
          <a:lstStyle>
            <a:lvl1pPr>
              <a:defRPr baseline="0"/>
            </a:lvl1pPr>
            <a:lvl2pPr>
              <a:defRPr/>
            </a:lvl2pPr>
            <a:lvl3pPr>
              <a:defRPr/>
            </a:lvl3pPr>
            <a:lvl4pPr>
              <a:defRPr/>
            </a:lvl4pPr>
            <a:lvl5pPr>
              <a:defRPr/>
            </a:lvl5pPr>
            <a:lvl6pPr>
              <a:defRPr/>
            </a:lvl6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4" name="Text Placeholder 6"/>
          <p:cNvSpPr>
            <a:spLocks noGrp="1"/>
          </p:cNvSpPr>
          <p:nvPr>
            <p:ph type="body" sz="quarter" idx="12" hasCustomPrompt="1"/>
            <p:custDataLst>
              <p:tags r:id="rId2"/>
            </p:custDataLst>
          </p:nvPr>
        </p:nvSpPr>
        <p:spPr>
          <a:xfrm>
            <a:off x="456555" y="1005839"/>
            <a:ext cx="11278244" cy="365760"/>
          </a:xfrm>
        </p:spPr>
        <p:txBody>
          <a:bodyPr>
            <a:noAutofit/>
          </a:bodyPr>
          <a:lstStyle>
            <a:lvl1pPr marL="0" indent="0">
              <a:spcBef>
                <a:spcPts val="0"/>
              </a:spcBef>
              <a:buFont typeface="Arial" panose="020B0604020202020204" pitchFamily="34" charset="0"/>
              <a:buNone/>
              <a:defRPr sz="1650" i="0">
                <a:solidFill>
                  <a:schemeClr val="tx1"/>
                </a:solidFill>
              </a:defRPr>
            </a:lvl1pPr>
            <a:lvl2pPr marL="0" indent="0">
              <a:spcBef>
                <a:spcPts val="0"/>
              </a:spcBef>
              <a:buNone/>
              <a:defRPr sz="1800">
                <a:solidFill>
                  <a:schemeClr val="tx1">
                    <a:lumMod val="65000"/>
                    <a:lumOff val="35000"/>
                  </a:schemeClr>
                </a:solidFill>
              </a:defRPr>
            </a:lvl2pPr>
            <a:lvl3pPr marL="0" indent="0">
              <a:spcBef>
                <a:spcPts val="0"/>
              </a:spcBef>
              <a:buNone/>
              <a:defRPr sz="1800">
                <a:solidFill>
                  <a:schemeClr val="tx1">
                    <a:lumMod val="65000"/>
                    <a:lumOff val="35000"/>
                  </a:schemeClr>
                </a:solidFill>
              </a:defRPr>
            </a:lvl3pPr>
            <a:lvl4pPr marL="0" indent="0">
              <a:spcBef>
                <a:spcPts val="0"/>
              </a:spcBef>
              <a:buNone/>
              <a:defRPr sz="1800">
                <a:solidFill>
                  <a:schemeClr val="tx1">
                    <a:lumMod val="65000"/>
                    <a:lumOff val="35000"/>
                  </a:schemeClr>
                </a:solidFill>
              </a:defRPr>
            </a:lvl4pPr>
            <a:lvl5pPr marL="0" indent="0">
              <a:spcBef>
                <a:spcPts val="0"/>
              </a:spcBef>
              <a:buNone/>
              <a:defRPr sz="1800">
                <a:solidFill>
                  <a:schemeClr val="tx1">
                    <a:lumMod val="65000"/>
                    <a:lumOff val="35000"/>
                  </a:schemeClr>
                </a:solidFill>
              </a:defRPr>
            </a:lvl5pPr>
            <a:lvl6pPr marL="0" indent="0">
              <a:spcBef>
                <a:spcPts val="0"/>
              </a:spcBef>
              <a:buNone/>
              <a:defRPr sz="1800">
                <a:solidFill>
                  <a:schemeClr val="tx1">
                    <a:lumMod val="65000"/>
                    <a:lumOff val="35000"/>
                  </a:schemeClr>
                </a:solidFill>
              </a:defRPr>
            </a:lvl6pPr>
            <a:lvl7pPr marL="0" indent="0">
              <a:spcBef>
                <a:spcPts val="0"/>
              </a:spcBef>
              <a:buNone/>
              <a:defRPr sz="1800">
                <a:solidFill>
                  <a:schemeClr val="tx1">
                    <a:lumMod val="65000"/>
                    <a:lumOff val="35000"/>
                  </a:schemeClr>
                </a:solidFill>
              </a:defRPr>
            </a:lvl7pPr>
            <a:lvl8pPr marL="0" indent="0">
              <a:spcBef>
                <a:spcPts val="0"/>
              </a:spcBef>
              <a:buNone/>
              <a:defRPr sz="1800">
                <a:solidFill>
                  <a:schemeClr val="tx1">
                    <a:lumMod val="65000"/>
                    <a:lumOff val="35000"/>
                  </a:schemeClr>
                </a:solidFill>
              </a:defRPr>
            </a:lvl8pPr>
            <a:lvl9pPr marL="0" indent="0">
              <a:spcBef>
                <a:spcPts val="0"/>
              </a:spcBef>
              <a:buNone/>
              <a:defRPr sz="1800">
                <a:solidFill>
                  <a:schemeClr val="tx1">
                    <a:lumMod val="65000"/>
                    <a:lumOff val="35000"/>
                  </a:schemeClr>
                </a:solidFill>
              </a:defRPr>
            </a:lvl9pPr>
          </a:lstStyle>
          <a:p>
            <a:pPr lvl="0"/>
            <a:r>
              <a:t>Click to Add a Subtitle</a:t>
            </a:r>
          </a:p>
        </p:txBody>
      </p:sp>
      <p:sp>
        <p:nvSpPr>
          <p:cNvPr id="5" name="Title 4">
            <a:extLst>
              <a:ext uri="{FF2B5EF4-FFF2-40B4-BE49-F238E27FC236}">
                <a16:creationId xmlns:a16="http://schemas.microsoft.com/office/drawing/2014/main" id="{13AB35E0-AD47-4AD2-A594-DF7D8B2173E4}"/>
              </a:ext>
            </a:extLst>
          </p:cNvPr>
          <p:cNvSpPr>
            <a:spLocks noGrp="1"/>
          </p:cNvSpPr>
          <p:nvPr>
            <p:ph type="title" hasCustomPrompt="1"/>
            <p:custDataLst>
              <p:tags r:id="rId3"/>
            </p:custDataLst>
          </p:nvPr>
        </p:nvSpPr>
        <p:spPr/>
        <p:txBody>
          <a:bodyPr/>
          <a:lstStyle>
            <a:lvl1pPr>
              <a:defRPr/>
            </a:lvl1pPr>
          </a:lstStyle>
          <a:p>
            <a:r>
              <a:t>Click to Add a Title</a:t>
            </a:r>
          </a:p>
        </p:txBody>
      </p:sp>
      <p:sp>
        <p:nvSpPr>
          <p:cNvPr id="6" name="ConStatement"/>
          <p:cNvSpPr txBox="1"/>
          <p:nvPr userDrawn="1">
            <p:custDataLst>
              <p:tags r:id="rId4"/>
            </p:custDataLst>
          </p:nvPr>
        </p:nvSpPr>
        <p:spPr>
          <a:xfrm>
            <a:off x="2921000" y="6590224"/>
            <a:ext cx="6350000" cy="245794"/>
          </a:xfrm>
          <a:prstGeom prst="rect">
            <a:avLst/>
          </a:prstGeom>
          <a:noFill/>
        </p:spPr>
        <p:txBody>
          <a:bodyPr vert="horz" wrap="none" lIns="68580" tIns="34290" rIns="68580" bIns="34290" rtlCol="0" anchor="ctr">
            <a:noAutofit/>
          </a:bodyPr>
          <a:lstStyle/>
          <a:p>
            <a:pPr algn="ctr"/>
            <a:r>
              <a:rPr lang="en-US" sz="600">
                <a:solidFill>
                  <a:srgbClr val="7F7F7F"/>
                </a:solidFill>
                <a:latin typeface="Arial"/>
              </a:rPr>
              <a:t>Synopsys Confidential Information</a:t>
            </a:r>
          </a:p>
        </p:txBody>
      </p:sp>
    </p:spTree>
    <p:extLst>
      <p:ext uri="{BB962C8B-B14F-4D97-AF65-F5344CB8AC3E}">
        <p14:creationId xmlns:p14="http://schemas.microsoft.com/office/powerpoint/2010/main" val="152404997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Arial" pitchFamily="34" charset="0"/>
                <a:cs typeface="Arial" pitchFamily="34"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06051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p>
        </p:txBody>
      </p:sp>
      <p:sp>
        <p:nvSpPr>
          <p:cNvPr id="2" name="Footer Placeholder 4">
            <a:extLst>
              <a:ext uri="{FF2B5EF4-FFF2-40B4-BE49-F238E27FC236}">
                <a16:creationId xmlns:a16="http://schemas.microsoft.com/office/drawing/2014/main" id="{6335CEF0-32BE-8FD2-3A80-D2CD97B9AA22}"/>
              </a:ext>
            </a:extLst>
          </p:cNvPr>
          <p:cNvSpPr>
            <a:spLocks noGrp="1"/>
          </p:cNvSpPr>
          <p:nvPr>
            <p:ph type="ftr" sz="quarter" idx="10"/>
          </p:nvPr>
        </p:nvSpPr>
        <p:spPr>
          <a:xfrm>
            <a:off x="4165600" y="6416676"/>
            <a:ext cx="3860800" cy="365125"/>
          </a:xfrm>
          <a:prstGeom prst="rect">
            <a:avLst/>
          </a:prstGeom>
        </p:spPr>
        <p:txBody>
          <a:bodyPr/>
          <a:lstStyle>
            <a:lvl1pPr algn="ctr" eaLnBrk="0" hangingPunct="0">
              <a:defRPr>
                <a:cs typeface="+mn-cs"/>
              </a:defRPr>
            </a:lvl1pPr>
          </a:lstStyle>
          <a:p>
            <a:pPr>
              <a:defRPr/>
            </a:pPr>
            <a:r>
              <a:rPr lang="en-US"/>
              <a:t>Synopsys Confidential and Proprietary</a:t>
            </a:r>
          </a:p>
        </p:txBody>
      </p:sp>
    </p:spTree>
    <p:extLst>
      <p:ext uri="{BB962C8B-B14F-4D97-AF65-F5344CB8AC3E}">
        <p14:creationId xmlns:p14="http://schemas.microsoft.com/office/powerpoint/2010/main" val="197212139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0906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2794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946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864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43318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08785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76766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86352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Sub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a Title</a:t>
            </a:r>
          </a:p>
        </p:txBody>
      </p:sp>
      <p:sp>
        <p:nvSpPr>
          <p:cNvPr id="3" name="Text Placeholder 6"/>
          <p:cNvSpPr>
            <a:spLocks noGrp="1"/>
          </p:cNvSpPr>
          <p:nvPr>
            <p:ph type="body" sz="quarter" idx="12" hasCustomPrompt="1"/>
          </p:nvPr>
        </p:nvSpPr>
        <p:spPr>
          <a:xfrm>
            <a:off x="609600" y="838200"/>
            <a:ext cx="11582400" cy="457200"/>
          </a:xfrm>
        </p:spPr>
        <p:txBody>
          <a:bodyPr/>
          <a:lstStyle>
            <a:lvl1pPr marL="0" indent="0">
              <a:buNone/>
              <a:defRPr sz="2400" i="1"/>
            </a:lvl1pPr>
          </a:lstStyle>
          <a:p>
            <a:pPr lvl="0"/>
            <a:r>
              <a:rPr lang="en-US"/>
              <a:t>Click to Add a Subtitle</a:t>
            </a:r>
          </a:p>
        </p:txBody>
      </p:sp>
      <p:sp>
        <p:nvSpPr>
          <p:cNvPr id="4" name="Footer Placeholder 3"/>
          <p:cNvSpPr>
            <a:spLocks noGrp="1"/>
          </p:cNvSpPr>
          <p:nvPr>
            <p:ph type="ftr" sz="quarter" idx="13"/>
          </p:nvPr>
        </p:nvSpPr>
        <p:spPr>
          <a:xfrm>
            <a:off x="2895600" y="6475624"/>
            <a:ext cx="6400800" cy="365125"/>
          </a:xfrm>
          <a:prstGeom prst="rect">
            <a:avLst/>
          </a:prstGeom>
        </p:spPr>
        <p:txBody>
          <a:bodyPr/>
          <a:lstStyle/>
          <a:p>
            <a:r>
              <a:rPr lang="en-US"/>
              <a:t>Confidential</a:t>
            </a:r>
          </a:p>
        </p:txBody>
      </p:sp>
    </p:spTree>
    <p:extLst>
      <p:ext uri="{BB962C8B-B14F-4D97-AF65-F5344CB8AC3E}">
        <p14:creationId xmlns:p14="http://schemas.microsoft.com/office/powerpoint/2010/main" val="39252356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24407492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3630210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642071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40573273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002640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C8BA8C8F-8E95-A488-630C-25AF6A7D252E}"/>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3" name="Line 8">
            <a:extLst>
              <a:ext uri="{FF2B5EF4-FFF2-40B4-BE49-F238E27FC236}">
                <a16:creationId xmlns:a16="http://schemas.microsoft.com/office/drawing/2014/main" id="{9C59F1B6-E109-DFB1-4D8A-72AA687849F9}"/>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pic>
        <p:nvPicPr>
          <p:cNvPr id="4" name="Picture 12" descr="Synopsys_color">
            <a:extLst>
              <a:ext uri="{FF2B5EF4-FFF2-40B4-BE49-F238E27FC236}">
                <a16:creationId xmlns:a16="http://schemas.microsoft.com/office/drawing/2014/main" id="{1B76921F-7A8A-1973-1D3E-C0BAD2E579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9167" y="6083300"/>
            <a:ext cx="1856317"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4">
            <a:extLst>
              <a:ext uri="{FF2B5EF4-FFF2-40B4-BE49-F238E27FC236}">
                <a16:creationId xmlns:a16="http://schemas.microsoft.com/office/drawing/2014/main" id="{EA71B6DC-4379-AD95-28BE-38CB8909AB78}"/>
              </a:ext>
            </a:extLst>
          </p:cNvPr>
          <p:cNvSpPr>
            <a:spLocks noChangeArrowheads="1"/>
          </p:cNvSpPr>
          <p:nvPr userDrawn="1"/>
        </p:nvSpPr>
        <p:spPr bwMode="auto">
          <a:xfrm>
            <a:off x="3009900" y="6032501"/>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900">
                <a:latin typeface="Arial" panose="020B0604020202020204" pitchFamily="34" charset="0"/>
              </a:rPr>
              <a:t>Synopsys University Courseware </a:t>
            </a:r>
          </a:p>
          <a:p>
            <a:pPr algn="ctr" eaLnBrk="1" hangingPunct="1"/>
            <a:r>
              <a:rPr lang="en-US" altLang="en-US" sz="900">
                <a:latin typeface="Arial" panose="020B0604020202020204" pitchFamily="34" charset="0"/>
              </a:rPr>
              <a:t>Copyright © 2018 Synopsys, Inc. All rights reserved.</a:t>
            </a:r>
          </a:p>
          <a:p>
            <a:pPr algn="ctr" eaLnBrk="1" hangingPunct="1"/>
            <a:r>
              <a:rPr lang="en-US" altLang="en-US" sz="900">
                <a:latin typeface="Arial" panose="020B0604020202020204" pitchFamily="34" charset="0"/>
              </a:rPr>
              <a:t>Computer Language Engineering</a:t>
            </a:r>
          </a:p>
          <a:p>
            <a:pPr algn="ctr" eaLnBrk="1" hangingPunct="1"/>
            <a:r>
              <a:rPr lang="en-US" altLang="en-US" sz="900">
                <a:latin typeface="Arial" panose="020B0604020202020204" pitchFamily="34" charset="0"/>
              </a:rPr>
              <a:t>Lecture - 1</a:t>
            </a:r>
          </a:p>
          <a:p>
            <a:pPr algn="ctr" eaLnBrk="1" hangingPunct="1"/>
            <a:r>
              <a:rPr lang="en-US" altLang="en-US" sz="900">
                <a:latin typeface="Arial" panose="020B0604020202020204" pitchFamily="34" charset="0"/>
              </a:rPr>
              <a:t>Developed By: Vazgen Melikyan</a:t>
            </a:r>
          </a:p>
        </p:txBody>
      </p:sp>
      <p:sp>
        <p:nvSpPr>
          <p:cNvPr id="6" name="TextBox 5">
            <a:extLst>
              <a:ext uri="{FF2B5EF4-FFF2-40B4-BE49-F238E27FC236}">
                <a16:creationId xmlns:a16="http://schemas.microsoft.com/office/drawing/2014/main" id="{22C1E5BD-2BA2-E38F-0CB3-B096E6757B81}"/>
              </a:ext>
            </a:extLst>
          </p:cNvPr>
          <p:cNvSpPr txBox="1">
            <a:spLocks noChangeArrowheads="1"/>
          </p:cNvSpPr>
          <p:nvPr userDrawn="1"/>
        </p:nvSpPr>
        <p:spPr bwMode="auto">
          <a:xfrm>
            <a:off x="3048000" y="6521450"/>
            <a:ext cx="508000" cy="247650"/>
          </a:xfrm>
          <a:prstGeom prst="rect">
            <a:avLst/>
          </a:prstGeom>
          <a:noFill/>
          <a:ln>
            <a:noFill/>
          </a:ln>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DAD6B06-40C0-4549-A7E6-4DCA97AEFB2E}" type="slidenum">
              <a:rPr lang="en-US" altLang="en-US" sz="1000">
                <a:solidFill>
                  <a:srgbClr val="595959"/>
                </a:solidFill>
                <a:latin typeface="Arial" panose="020B0604020202020204" pitchFamily="34" charset="0"/>
              </a:rPr>
              <a:pPr eaLnBrk="1" hangingPunct="1"/>
              <a:t>‹#›</a:t>
            </a:fld>
            <a:endParaRPr lang="en-US" altLang="en-US" sz="1000">
              <a:solidFill>
                <a:srgbClr val="595959"/>
              </a:solidFill>
              <a:latin typeface="Arial" panose="020B0604020202020204" pitchFamily="34" charset="0"/>
            </a:endParaRPr>
          </a:p>
        </p:txBody>
      </p:sp>
      <p:pic>
        <p:nvPicPr>
          <p:cNvPr id="7" name="Picture 16" descr="D:\Users\User\Desktop\My Documents\AcCouncil\Logo_NPUA\LogoPolytech_1.png">
            <a:extLst>
              <a:ext uri="{FF2B5EF4-FFF2-40B4-BE49-F238E27FC236}">
                <a16:creationId xmlns:a16="http://schemas.microsoft.com/office/drawing/2014/main" id="{F0595EB0-6C60-D943-7E5F-0374C827BCC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atin typeface="Arial" pitchFamily="34" charset="0"/>
                <a:cs typeface="Arial" pitchFamily="34" charset="0"/>
              </a:defRPr>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atin typeface="Arial" pitchFamily="34" charset="0"/>
                <a:cs typeface="Arial" pitchFamily="34" charset="0"/>
              </a:defRPr>
            </a:lvl1pPr>
          </a:lstStyle>
          <a:p>
            <a:endParaRPr lang="en-US" altLang="en-US"/>
          </a:p>
        </p:txBody>
      </p:sp>
    </p:spTree>
    <p:extLst>
      <p:ext uri="{BB962C8B-B14F-4D97-AF65-F5344CB8AC3E}">
        <p14:creationId xmlns:p14="http://schemas.microsoft.com/office/powerpoint/2010/main" val="35178802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08408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a:extLst>
              <a:ext uri="{FF2B5EF4-FFF2-40B4-BE49-F238E27FC236}">
                <a16:creationId xmlns:a16="http://schemas.microsoft.com/office/drawing/2014/main" id="{887662A0-256C-D7CA-68EF-D69458ACB3D0}"/>
              </a:ext>
            </a:extLst>
          </p:cNvPr>
          <p:cNvSpPr>
            <a:spLocks noGrp="1" noChangeArrowheads="1"/>
          </p:cNvSpPr>
          <p:nvPr>
            <p:ph type="ftr" sz="quarter" idx="10"/>
          </p:nvPr>
        </p:nvSpPr>
        <p:spPr>
          <a:xfrm>
            <a:off x="3839634" y="6415088"/>
            <a:ext cx="4906433" cy="442912"/>
          </a:xfrm>
          <a:prstGeom prst="rect">
            <a:avLst/>
          </a:prstGeom>
        </p:spPr>
        <p:txBody>
          <a:bodyPr/>
          <a:lstStyle>
            <a:lvl1pPr algn="ctr" eaLnBrk="1" hangingPunct="1">
              <a:defRPr>
                <a:latin typeface="Arial" pitchFamily="34" charset="0"/>
                <a:cs typeface="Arial" charset="0"/>
              </a:defRPr>
            </a:lvl1pPr>
          </a:lstStyle>
          <a:p>
            <a:pPr>
              <a:defRPr/>
            </a:pPr>
            <a:r>
              <a:rPr lang="en-US" altLang="en-US"/>
              <a:t>Synopsys University Courseware – EE XXX</a:t>
            </a:r>
          </a:p>
          <a:p>
            <a:pPr>
              <a:defRPr/>
            </a:pPr>
            <a:r>
              <a:rPr lang="en-US" altLang="en-US"/>
              <a:t> IC Testing</a:t>
            </a:r>
          </a:p>
          <a:p>
            <a:pPr>
              <a:defRPr/>
            </a:pPr>
            <a:r>
              <a:rPr lang="en-US" altLang="en-US"/>
              <a:t>Topic: IC Testing Process and Equipment</a:t>
            </a:r>
          </a:p>
          <a:p>
            <a:pPr>
              <a:defRPr/>
            </a:pPr>
            <a:r>
              <a:rPr lang="en-US" altLang="en-US"/>
              <a:t>© 2007 Synopsys, Inc.</a:t>
            </a:r>
          </a:p>
          <a:p>
            <a:pPr>
              <a:defRPr/>
            </a:pPr>
            <a:r>
              <a:rPr lang="en-US" altLang="en-US"/>
              <a:t>Developed By: Vazgen Melikyan</a:t>
            </a:r>
          </a:p>
        </p:txBody>
      </p:sp>
    </p:spTree>
    <p:extLst>
      <p:ext uri="{BB962C8B-B14F-4D97-AF65-F5344CB8AC3E}">
        <p14:creationId xmlns:p14="http://schemas.microsoft.com/office/powerpoint/2010/main" val="15550407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F864-5E47-CBE7-BC2B-D8DF0EA753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3CBBC6-6702-8542-F713-8331F35B8B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589DBE-B6C5-EEDF-EE0B-870A19BE50F1}"/>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0C4CC655-528A-B4CD-B231-2CFF5AF1B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85087-E3A0-AACE-58BF-82ACBA8D7610}"/>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1643282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AC29-1205-BF56-2123-7CA231CC36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1CE3DE-0568-1424-72DE-789324F6D4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5EB76-5625-5842-BD96-2502419E37C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7402CFB-EE67-E4D7-335B-E3A2A21BF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AC425-08F2-53BE-11E2-E85528AB938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8166365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BDC2-BDC8-DD13-576A-5AEBF41B89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852A7A-9F5D-C71F-5866-CC450BE765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819F44-6C0F-69B4-BE94-2713E0AEE268}"/>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857E62B-8FE6-F545-248D-2C985B04B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F44CDC-1CB1-C93E-1C69-6EE1112116AE}"/>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1071782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A8C5-0745-D355-9175-0B7390DAC2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AF0E70-3D5F-1D52-ACCD-410B855C4D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3235AB-5800-0D54-A980-11B16A389F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5216A7-8E0F-2E45-5ACE-2F6A118C675A}"/>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9468FA53-E88F-E9BA-D3D3-C5AAA1B1AD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C3C96-A0A7-954D-E717-D844E14C59AD}"/>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4933329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2EAB-2A91-DA52-B898-D2199DA4C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0A1F96-37F5-4177-FB5E-F3BA71A9CE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FCD7C3-9F67-61BE-6079-E6AAE9D62E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16598F-2169-02EF-6EDD-D65DD1B3E2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CC9AD2-BC37-4881-DECC-A2AD3554B8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763B53-BA8E-56A1-7322-D6D07707CB5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8" name="Footer Placeholder 7">
            <a:extLst>
              <a:ext uri="{FF2B5EF4-FFF2-40B4-BE49-F238E27FC236}">
                <a16:creationId xmlns:a16="http://schemas.microsoft.com/office/drawing/2014/main" id="{B5909EB9-3309-D00A-589C-F8E5CCCC9B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C82FCC-91F4-6C0B-507F-52877A136493}"/>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0956132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909FE-8C3F-459B-3A02-F5943828FB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DFAF2D-3FA2-DAB0-256A-07473760DF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4" name="Footer Placeholder 3">
            <a:extLst>
              <a:ext uri="{FF2B5EF4-FFF2-40B4-BE49-F238E27FC236}">
                <a16:creationId xmlns:a16="http://schemas.microsoft.com/office/drawing/2014/main" id="{BD02C9CA-C4A5-0A1E-3094-E11E6C55EE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E9E96D-7309-286B-9469-22C62AAE6A58}"/>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31937128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57B0A3-081B-F016-AB51-CB6179C794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3" name="Footer Placeholder 2">
            <a:extLst>
              <a:ext uri="{FF2B5EF4-FFF2-40B4-BE49-F238E27FC236}">
                <a16:creationId xmlns:a16="http://schemas.microsoft.com/office/drawing/2014/main" id="{CC2DF5CA-A85C-DE18-8321-946BBA06E7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E4F835-4896-E0CA-A28D-E871FB4B998F}"/>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641518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032A4-C094-4A6E-ACCE-11761B06D6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C87A6-43AB-D859-AE9F-D2E73348A7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214E0C-12B6-633B-33A5-F834545CF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11855-81AC-5B7B-0069-6310903A23AF}"/>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38924365-B0DF-E909-5712-ECB7EA74A3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00EADC-AA67-4770-89E6-764FE2835E52}"/>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2372473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F970-9411-32EF-3FB0-2AC469E80A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0AC4E2-A6A2-B622-4247-49D23C9AB4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49E7B4-CB3F-639C-BCAF-A87031E9B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33439-B276-C04F-D0C2-6D76089BA1F2}"/>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51D16CBB-BF67-CA6C-54A5-DA79854F1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C58E6C-10DA-E9AD-5F18-2D095CE0500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361641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3AC8-5EB8-5FF6-87EF-31ED4AD8BE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DD216E-0D54-53D1-58A5-23A116410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54AD10-4017-3EA5-A9FE-BA89B1AE686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10EEF40-4745-FF38-3206-11D79D6EED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7C770-EAB0-4C36-8BEA-6103B764FF7C}"/>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9451626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21AB39-F7C8-F4C7-166E-912656FBC9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0A689-EC2A-E507-74E1-71CD0805A7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033C9-5992-4711-EDBA-A748E2F14FCB}"/>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88DE4844-7F3C-1A50-562A-143A80D4C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13717-791F-3853-A9A4-E2F8F80B2655}"/>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5013335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2.xml"/><Relationship Id="rId50" Type="http://schemas.openxmlformats.org/officeDocument/2006/relationships/tags" Target="../tags/tag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3.xml"/><Relationship Id="rId8" Type="http://schemas.openxmlformats.org/officeDocument/2006/relationships/slideLayout" Target="../slideLayouts/slideLayout8.xml"/><Relationship Id="rId51" Type="http://schemas.openxmlformats.org/officeDocument/2006/relationships/tags" Target="../tags/tag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2.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47"/>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48"/>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t>Edit Master text styles</a:t>
            </a:r>
            <a:endParaRPr lang="en-US"/>
          </a:p>
          <a:p>
            <a:pPr marL="690563" lvl="1" indent="-327025">
              <a:tabLst/>
            </a:pPr>
            <a:r>
              <a:rPr lang="en-US"/>
              <a:t>Second level</a:t>
            </a:r>
          </a:p>
          <a:p>
            <a:pPr marL="914400" lvl="2" indent="-223838">
              <a:tabLst>
                <a:tab pos="736600" algn="l"/>
              </a:tabLst>
            </a:pPr>
            <a:r>
              <a:t>Third level</a:t>
            </a:r>
          </a:p>
          <a:p>
            <a:pPr lvl="3"/>
            <a:r>
              <a:t>Fourth level</a:t>
            </a:r>
          </a:p>
        </p:txBody>
      </p:sp>
      <p:sp>
        <p:nvSpPr>
          <p:cNvPr id="26" name="TaggedShape" hidden="1"/>
          <p:cNvSpPr/>
          <p:nvPr>
            <p:custDataLst>
              <p:tags r:id="rId49"/>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50"/>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63776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53"/>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51"/>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a:solidFill>
                  <a:schemeClr val="bg1">
                    <a:lumMod val="65000"/>
                  </a:schemeClr>
                </a:solidFill>
                <a:latin typeface="Arial"/>
              </a:rPr>
              <a:t>Synopsys </a:t>
            </a:r>
            <a:r>
              <a:rPr lang="en-US" sz="800">
                <a:solidFill>
                  <a:schemeClr val="bg1">
                    <a:lumMod val="65000"/>
                  </a:schemeClr>
                </a:solidFill>
                <a:latin typeface="Arial"/>
              </a:rPr>
              <a:t>University Courseware</a:t>
            </a:r>
            <a:br>
              <a:rPr lang="en-US" sz="800">
                <a:solidFill>
                  <a:schemeClr val="bg1">
                    <a:lumMod val="65000"/>
                  </a:schemeClr>
                </a:solidFill>
                <a:latin typeface="Arial"/>
              </a:rPr>
            </a:br>
            <a:r>
              <a:rPr lang="en-US" sz="800">
                <a:solidFill>
                  <a:schemeClr val="bg1">
                    <a:lumMod val="65000"/>
                  </a:schemeClr>
                </a:solidFill>
                <a:latin typeface="Arial"/>
              </a:rPr>
              <a:t>Developed by: </a:t>
            </a:r>
            <a:r>
              <a:rPr lang="en-US" sz="800" err="1">
                <a:solidFill>
                  <a:schemeClr val="bg1">
                    <a:lumMod val="65000"/>
                  </a:schemeClr>
                </a:solidFill>
                <a:latin typeface="Arial"/>
              </a:rPr>
              <a:t>Vazgen</a:t>
            </a:r>
            <a:r>
              <a:rPr lang="en-US" sz="800">
                <a:solidFill>
                  <a:schemeClr val="bg1">
                    <a:lumMod val="65000"/>
                  </a:schemeClr>
                </a:solidFill>
                <a:latin typeface="Arial"/>
              </a:rPr>
              <a:t> </a:t>
            </a:r>
            <a:r>
              <a:rPr lang="en-US" sz="800" err="1">
                <a:solidFill>
                  <a:schemeClr val="bg1">
                    <a:lumMod val="65000"/>
                  </a:schemeClr>
                </a:solidFill>
                <a:latin typeface="Arial"/>
              </a:rPr>
              <a:t>Melikyan</a:t>
            </a:r>
            <a:endParaRPr sz="80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52"/>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a:solidFill>
                  <a:schemeClr val="bg1">
                    <a:lumMod val="65000"/>
                  </a:schemeClr>
                </a:solidFill>
              </a:rPr>
              <a:t>© 2023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54">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4" r:id="rId25"/>
    <p:sldLayoutId id="2147483756" r:id="rId26"/>
    <p:sldLayoutId id="2147483771" r:id="rId27"/>
    <p:sldLayoutId id="2147483772" r:id="rId28"/>
    <p:sldLayoutId id="2147483773" r:id="rId29"/>
    <p:sldLayoutId id="2147483774" r:id="rId30"/>
    <p:sldLayoutId id="2147483775" r:id="rId31"/>
    <p:sldLayoutId id="2147483776" r:id="rId32"/>
    <p:sldLayoutId id="2147483777" r:id="rId33"/>
    <p:sldLayoutId id="2147483778" r:id="rId34"/>
    <p:sldLayoutId id="2147483779" r:id="rId35"/>
    <p:sldLayoutId id="2147483780" r:id="rId36"/>
    <p:sldLayoutId id="2147483781" r:id="rId37"/>
    <p:sldLayoutId id="2147483784" r:id="rId38"/>
    <p:sldLayoutId id="2147483785" r:id="rId39"/>
    <p:sldLayoutId id="2147483786" r:id="rId40"/>
    <p:sldLayoutId id="2147483787" r:id="rId41"/>
    <p:sldLayoutId id="2147483788" r:id="rId42"/>
    <p:sldLayoutId id="2147483789" r:id="rId43"/>
    <p:sldLayoutId id="2147483790" r:id="rId44"/>
    <p:sldLayoutId id="2147483791" r:id="rId45"/>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046FA1-A20F-2F07-D73A-B69B48D171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291EC3-C41A-E87B-D2E2-393D50812A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559F0-5B42-7FDF-3F10-1A135A5DE3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724034B-01CB-5600-CA84-7B07976A5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D86DB71-E41A-D4BE-A634-C903E7D60D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875563-B00C-4814-AE8E-CF56921A0DE6}" type="slidenum">
              <a:rPr lang="en-US" smtClean="0"/>
              <a:t>‹#›</a:t>
            </a:fld>
            <a:endParaRPr lang="en-US"/>
          </a:p>
        </p:txBody>
      </p:sp>
    </p:spTree>
    <p:extLst>
      <p:ext uri="{BB962C8B-B14F-4D97-AF65-F5344CB8AC3E}">
        <p14:creationId xmlns:p14="http://schemas.microsoft.com/office/powerpoint/2010/main" val="359543214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p:txBody>
          <a:bodyPr/>
          <a:lstStyle/>
          <a:p>
            <a:r>
              <a:rPr lang="en-US"/>
              <a:t>Synopsys Armenia Educational Department</a:t>
            </a:r>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p:txBody>
          <a:bodyPr/>
          <a:lstStyle/>
          <a:p>
            <a:r>
              <a:rPr lang="en-US" altLang="en-US" sz="4700" dirty="0"/>
              <a:t>Logic Design</a:t>
            </a:r>
            <a:endParaRPr lang="en-US" sz="4700" dirty="0"/>
          </a:p>
        </p:txBody>
      </p:sp>
      <p:sp>
        <p:nvSpPr>
          <p:cNvPr id="3" name="Subtitle 2">
            <a:extLst>
              <a:ext uri="{FF2B5EF4-FFF2-40B4-BE49-F238E27FC236}">
                <a16:creationId xmlns:a16="http://schemas.microsoft.com/office/drawing/2014/main" id="{7D6F7999-21FE-8ED6-CF90-D51899D36629}"/>
              </a:ext>
            </a:extLst>
          </p:cNvPr>
          <p:cNvSpPr>
            <a:spLocks noGrp="1"/>
          </p:cNvSpPr>
          <p:nvPr>
            <p:ph type="subTitle" idx="1"/>
          </p:nvPr>
        </p:nvSpPr>
        <p:spPr/>
        <p:txBody>
          <a:bodyPr>
            <a:normAutofit/>
          </a:bodyPr>
          <a:lstStyle/>
          <a:p>
            <a:r>
              <a:rPr lang="nb-NO"/>
              <a:t>Sci.D.Professor Vazgen Melikyan</a:t>
            </a:r>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a:extLst>
              <a:ext uri="{FF2B5EF4-FFF2-40B4-BE49-F238E27FC236}">
                <a16:creationId xmlns:a16="http://schemas.microsoft.com/office/drawing/2014/main" id="{6BC15FEB-FFEE-72B8-2B95-390B2ABA8D75}"/>
              </a:ext>
            </a:extLst>
          </p:cNvPr>
          <p:cNvSpPr>
            <a:spLocks noGrp="1" noChangeArrowheads="1"/>
          </p:cNvSpPr>
          <p:nvPr>
            <p:ph type="title"/>
          </p:nvPr>
        </p:nvSpPr>
        <p:spPr/>
        <p:txBody>
          <a:bodyPr/>
          <a:lstStyle/>
          <a:p>
            <a:r>
              <a:rPr lang="en-US" altLang="en-US"/>
              <a:t>Course Overview</a:t>
            </a:r>
            <a:endParaRPr lang="ru-RU" altLang="en-US"/>
          </a:p>
        </p:txBody>
      </p:sp>
      <p:sp>
        <p:nvSpPr>
          <p:cNvPr id="7" name="Content Placeholder 3">
            <a:extLst>
              <a:ext uri="{FF2B5EF4-FFF2-40B4-BE49-F238E27FC236}">
                <a16:creationId xmlns:a16="http://schemas.microsoft.com/office/drawing/2014/main" id="{C7FE07B7-6903-19C5-FF63-BD2012C32DEC}"/>
              </a:ext>
            </a:extLst>
          </p:cNvPr>
          <p:cNvSpPr txBox="1">
            <a:spLocks noChangeArrowheads="1"/>
          </p:cNvSpPr>
          <p:nvPr/>
        </p:nvSpPr>
        <p:spPr>
          <a:xfrm>
            <a:off x="456876"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Boolean Functions</a:t>
            </a:r>
          </a:p>
          <a:p>
            <a:pPr lvl="1"/>
            <a:r>
              <a:rPr lang="en-US" altLang="en-US" sz="1130" dirty="0"/>
              <a:t>3 lectures</a:t>
            </a:r>
          </a:p>
          <a:p>
            <a:r>
              <a:rPr lang="en-US" altLang="en-US" sz="1400" dirty="0"/>
              <a:t>Boolean Functions Minimization.                         Combinational Logic  Design Principles</a:t>
            </a:r>
          </a:p>
          <a:p>
            <a:pPr lvl="1"/>
            <a:r>
              <a:rPr lang="en-US" altLang="en-US" sz="1130" dirty="0"/>
              <a:t>4 lectures</a:t>
            </a:r>
          </a:p>
          <a:p>
            <a:r>
              <a:rPr lang="en-US" altLang="en-US" sz="1600" dirty="0"/>
              <a:t> </a:t>
            </a:r>
            <a:r>
              <a:rPr lang="en-US" altLang="en-US" sz="1400" dirty="0"/>
              <a:t>Introduction to Verilog</a:t>
            </a:r>
          </a:p>
          <a:p>
            <a:pPr lvl="1"/>
            <a:r>
              <a:rPr lang="en-US" altLang="en-US" sz="1130" dirty="0"/>
              <a:t>3 lectures</a:t>
            </a:r>
          </a:p>
          <a:p>
            <a:r>
              <a:rPr lang="en-US" altLang="en-US" sz="1400" dirty="0"/>
              <a:t>Basic Combinational Circuits</a:t>
            </a:r>
          </a:p>
          <a:p>
            <a:pPr lvl="1"/>
            <a:r>
              <a:rPr lang="en-US" altLang="en-US" sz="1130" dirty="0"/>
              <a:t>4 lectures</a:t>
            </a:r>
          </a:p>
          <a:p>
            <a:r>
              <a:rPr lang="en-US" altLang="en-US" sz="1400" dirty="0">
                <a:solidFill>
                  <a:srgbClr val="0000FF"/>
                </a:solidFill>
              </a:rPr>
              <a:t>Finite States Machines (FSM)</a:t>
            </a:r>
          </a:p>
          <a:p>
            <a:pPr lvl="1"/>
            <a:r>
              <a:rPr lang="en-US" altLang="en-US" sz="1130" dirty="0">
                <a:solidFill>
                  <a:srgbClr val="0000FF"/>
                </a:solidFill>
              </a:rPr>
              <a:t>3 lectures</a:t>
            </a:r>
          </a:p>
          <a:p>
            <a:r>
              <a:rPr lang="en-US" altLang="en-US" sz="1400" dirty="0"/>
              <a:t>Synthesis of Synchronous FSM</a:t>
            </a:r>
          </a:p>
          <a:p>
            <a:pPr lvl="1"/>
            <a:r>
              <a:rPr lang="en-US" altLang="en-US" sz="1130" dirty="0"/>
              <a:t>5 lectures</a:t>
            </a:r>
          </a:p>
          <a:p>
            <a:endParaRPr lang="ru-RU" altLang="en-US" sz="1600" dirty="0"/>
          </a:p>
          <a:p>
            <a:endParaRPr lang="en-US" altLang="en-US" sz="1600" dirty="0"/>
          </a:p>
        </p:txBody>
      </p:sp>
      <p:sp>
        <p:nvSpPr>
          <p:cNvPr id="8" name="Content Placeholder 3">
            <a:extLst>
              <a:ext uri="{FF2B5EF4-FFF2-40B4-BE49-F238E27FC236}">
                <a16:creationId xmlns:a16="http://schemas.microsoft.com/office/drawing/2014/main" id="{CBA6F462-5FC2-D65E-853F-4D46D3E95DE1}"/>
              </a:ext>
            </a:extLst>
          </p:cNvPr>
          <p:cNvSpPr txBox="1">
            <a:spLocks noChangeArrowheads="1"/>
          </p:cNvSpPr>
          <p:nvPr/>
        </p:nvSpPr>
        <p:spPr>
          <a:xfrm>
            <a:off x="6807200"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Basic Sequential Circuits</a:t>
            </a:r>
          </a:p>
          <a:p>
            <a:pPr lvl="1"/>
            <a:r>
              <a:rPr lang="en-US" altLang="en-US" sz="1130" dirty="0"/>
              <a:t>3 lectures</a:t>
            </a:r>
          </a:p>
          <a:p>
            <a:r>
              <a:rPr lang="en-US" altLang="en-US" sz="1400" dirty="0"/>
              <a:t>Problems of Synchronous Design</a:t>
            </a:r>
          </a:p>
          <a:p>
            <a:pPr lvl="1"/>
            <a:r>
              <a:rPr lang="en-US" altLang="en-US" sz="1130" dirty="0"/>
              <a:t>3 lectures</a:t>
            </a:r>
          </a:p>
          <a:p>
            <a:r>
              <a:rPr lang="en-US" altLang="en-US" sz="1600" dirty="0"/>
              <a:t> </a:t>
            </a:r>
            <a:r>
              <a:rPr lang="en-US" altLang="en-US" sz="1400" dirty="0"/>
              <a:t> Asynchronous FSM. Self-Timed Circuits</a:t>
            </a:r>
          </a:p>
          <a:p>
            <a:pPr lvl="1"/>
            <a:r>
              <a:rPr lang="en-US" altLang="en-US" sz="1130" dirty="0"/>
              <a:t>3 lectures</a:t>
            </a:r>
          </a:p>
          <a:p>
            <a:r>
              <a:rPr lang="en-US" altLang="en-US" sz="1400" dirty="0"/>
              <a:t>Arithmetic Units</a:t>
            </a:r>
          </a:p>
          <a:p>
            <a:pPr lvl="1"/>
            <a:r>
              <a:rPr lang="en-US" altLang="en-US" sz="1130" dirty="0"/>
              <a:t>4 lectures</a:t>
            </a:r>
          </a:p>
          <a:p>
            <a:r>
              <a:rPr lang="en-US" altLang="en-US" sz="1400" dirty="0"/>
              <a:t>Programmable Logical Integrated Circuits (PLDs)</a:t>
            </a:r>
          </a:p>
          <a:p>
            <a:pPr lvl="1"/>
            <a:r>
              <a:rPr lang="en-US" altLang="en-US" sz="1130" dirty="0"/>
              <a:t>3 lectures</a:t>
            </a:r>
          </a:p>
          <a:p>
            <a:r>
              <a:rPr lang="en-US" altLang="en-US" sz="1400" dirty="0"/>
              <a:t>Memory Devices</a:t>
            </a:r>
          </a:p>
          <a:p>
            <a:pPr lvl="1"/>
            <a:r>
              <a:rPr lang="en-US" altLang="en-US" sz="1130" dirty="0"/>
              <a:t>3 lectures</a:t>
            </a:r>
          </a:p>
          <a:p>
            <a:endParaRPr lang="ru-RU" altLang="en-US" sz="1600" dirty="0"/>
          </a:p>
          <a:p>
            <a:endParaRPr lang="en-US" altLang="en-US" sz="16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5610F08D-D4C4-ACC4-2A35-D3F2F363AA46}"/>
              </a:ext>
            </a:extLst>
          </p:cNvPr>
          <p:cNvSpPr>
            <a:spLocks noGrp="1" noChangeArrowheads="1"/>
          </p:cNvSpPr>
          <p:nvPr>
            <p:ph type="title"/>
          </p:nvPr>
        </p:nvSpPr>
        <p:spPr/>
        <p:txBody>
          <a:bodyPr/>
          <a:lstStyle/>
          <a:p>
            <a:r>
              <a:rPr lang="en-US" altLang="en-US" dirty="0"/>
              <a:t>Finite States Machines (FSM)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Заголовок 1">
            <a:extLst>
              <a:ext uri="{FF2B5EF4-FFF2-40B4-BE49-F238E27FC236}">
                <a16:creationId xmlns:a16="http://schemas.microsoft.com/office/drawing/2014/main" id="{A0446696-277C-96D7-4191-81E8871706C4}"/>
              </a:ext>
            </a:extLst>
          </p:cNvPr>
          <p:cNvSpPr>
            <a:spLocks noGrp="1" noChangeArrowheads="1"/>
          </p:cNvSpPr>
          <p:nvPr>
            <p:ph type="title"/>
          </p:nvPr>
        </p:nvSpPr>
        <p:spPr>
          <a:xfrm>
            <a:off x="-1" y="183402"/>
            <a:ext cx="11612880" cy="704088"/>
          </a:xfrm>
        </p:spPr>
        <p:txBody>
          <a:bodyPr>
            <a:normAutofit/>
          </a:bodyPr>
          <a:lstStyle/>
          <a:p>
            <a:r>
              <a:rPr lang="en-US" altLang="en-US" dirty="0"/>
              <a:t>Concepts of Abstract Automata </a:t>
            </a:r>
            <a:endParaRPr lang="ru-RU" altLang="en-US" dirty="0"/>
          </a:p>
        </p:txBody>
      </p:sp>
      <p:sp>
        <p:nvSpPr>
          <p:cNvPr id="3" name="Объект 2">
            <a:extLst>
              <a:ext uri="{FF2B5EF4-FFF2-40B4-BE49-F238E27FC236}">
                <a16:creationId xmlns:a16="http://schemas.microsoft.com/office/drawing/2014/main" id="{9EA12BCE-C326-4371-B81C-9772C237C1E3}"/>
              </a:ext>
            </a:extLst>
          </p:cNvPr>
          <p:cNvSpPr>
            <a:spLocks noGrp="1"/>
          </p:cNvSpPr>
          <p:nvPr>
            <p:ph type="body" sz="quarter" idx="10"/>
          </p:nvPr>
        </p:nvSpPr>
        <p:spPr>
          <a:xfrm>
            <a:off x="457200" y="1188720"/>
            <a:ext cx="11277922" cy="5185186"/>
          </a:xfrm>
        </p:spPr>
        <p:txBody>
          <a:bodyPr/>
          <a:lstStyle/>
          <a:p>
            <a:r>
              <a:rPr lang="en-US" dirty="0"/>
              <a:t>The abstract automaton (sequential machine or state machine) is given by means of the following five sets</a:t>
            </a:r>
            <a:r>
              <a:rPr lang="ru-RU" dirty="0"/>
              <a:t>:</a:t>
            </a:r>
            <a:endParaRPr lang="en-US" dirty="0"/>
          </a:p>
          <a:p>
            <a:r>
              <a:rPr lang="ru-RU" dirty="0"/>
              <a:t>А = { </a:t>
            </a:r>
            <a:r>
              <a:rPr lang="en-US" dirty="0"/>
              <a:t>X</a:t>
            </a:r>
            <a:r>
              <a:rPr lang="ru-RU" dirty="0"/>
              <a:t>, </a:t>
            </a:r>
            <a:r>
              <a:rPr lang="en-US" dirty="0"/>
              <a:t>Y</a:t>
            </a:r>
            <a:r>
              <a:rPr lang="ru-RU" dirty="0"/>
              <a:t>, </a:t>
            </a:r>
            <a:r>
              <a:rPr lang="en-US" dirty="0"/>
              <a:t>S</a:t>
            </a:r>
            <a:r>
              <a:rPr lang="ru-RU" dirty="0"/>
              <a:t>, </a:t>
            </a:r>
            <a:r>
              <a:rPr lang="ru-RU" dirty="0">
                <a:sym typeface="Symbol" pitchFamily="18" charset="2"/>
              </a:rPr>
              <a:t></a:t>
            </a:r>
            <a:r>
              <a:rPr lang="ru-RU" dirty="0"/>
              <a:t> , </a:t>
            </a:r>
            <a:r>
              <a:rPr lang="ru-RU" dirty="0">
                <a:sym typeface="Symbol" pitchFamily="18" charset="2"/>
              </a:rPr>
              <a:t></a:t>
            </a:r>
            <a:r>
              <a:rPr lang="ru-RU" dirty="0"/>
              <a:t>},  </a:t>
            </a:r>
            <a:r>
              <a:rPr lang="en-US" dirty="0"/>
              <a:t>where</a:t>
            </a:r>
            <a:r>
              <a:rPr lang="ru-RU" dirty="0"/>
              <a:t> Х = {</a:t>
            </a:r>
            <a:r>
              <a:rPr lang="en-US" dirty="0"/>
              <a:t>X</a:t>
            </a:r>
            <a:r>
              <a:rPr lang="ru-RU" dirty="0"/>
              <a:t>1, X2 .  .  .  X</a:t>
            </a:r>
            <a:r>
              <a:rPr lang="en-US" dirty="0"/>
              <a:t>M</a:t>
            </a:r>
            <a:r>
              <a:rPr lang="ru-RU" dirty="0"/>
              <a:t>} – </a:t>
            </a:r>
            <a:r>
              <a:rPr lang="en-US" dirty="0"/>
              <a:t>the input alphabet of the automata or a set of input symbols</a:t>
            </a:r>
            <a:r>
              <a:rPr lang="ru-RU" dirty="0"/>
              <a:t>; </a:t>
            </a:r>
            <a:endParaRPr lang="en-US" dirty="0"/>
          </a:p>
          <a:p>
            <a:pPr lvl="1"/>
            <a:r>
              <a:rPr lang="en-US" dirty="0"/>
              <a:t>Y = {Y1, Y2 .  .  .  YN</a:t>
            </a:r>
            <a:r>
              <a:rPr lang="ru-RU" dirty="0"/>
              <a:t>} – </a:t>
            </a:r>
            <a:r>
              <a:rPr lang="en-US" dirty="0"/>
              <a:t>the output alphabet of the automata or a set of output symbols</a:t>
            </a:r>
            <a:r>
              <a:rPr lang="ru-RU" dirty="0"/>
              <a:t>;</a:t>
            </a:r>
            <a:endParaRPr lang="en-US" dirty="0"/>
          </a:p>
          <a:p>
            <a:pPr lvl="1"/>
            <a:r>
              <a:rPr lang="en-US" dirty="0"/>
              <a:t>S = {S0, S1 .  .  .  SK</a:t>
            </a:r>
            <a:r>
              <a:rPr lang="ru-RU" dirty="0"/>
              <a:t>-1} – </a:t>
            </a:r>
            <a:r>
              <a:rPr lang="en-US" dirty="0"/>
              <a:t>the alphabet or set of internal states of automata</a:t>
            </a:r>
            <a:r>
              <a:rPr lang="ru-RU" dirty="0"/>
              <a:t>;</a:t>
            </a:r>
            <a:endParaRPr lang="en-US" dirty="0"/>
          </a:p>
          <a:p>
            <a:pPr lvl="1"/>
            <a:r>
              <a:rPr lang="ru-RU" dirty="0">
                <a:sym typeface="Symbol" pitchFamily="18" charset="2"/>
              </a:rPr>
              <a:t></a:t>
            </a:r>
            <a:r>
              <a:rPr lang="ru-RU" dirty="0"/>
              <a:t>  – </a:t>
            </a:r>
            <a:r>
              <a:rPr lang="ru-RU" dirty="0" err="1"/>
              <a:t>next</a:t>
            </a:r>
            <a:r>
              <a:rPr lang="en-US" dirty="0"/>
              <a:t> </a:t>
            </a:r>
            <a:r>
              <a:rPr lang="ru-RU" dirty="0" err="1"/>
              <a:t>state</a:t>
            </a:r>
            <a:r>
              <a:rPr lang="en-US" dirty="0"/>
              <a:t> (transition)</a:t>
            </a:r>
            <a:r>
              <a:rPr lang="ru-RU" dirty="0"/>
              <a:t> </a:t>
            </a:r>
            <a:r>
              <a:rPr lang="ru-RU" dirty="0" err="1"/>
              <a:t>function</a:t>
            </a:r>
            <a:r>
              <a:rPr lang="ru-RU" dirty="0"/>
              <a:t>, </a:t>
            </a:r>
            <a:r>
              <a:rPr lang="ru-RU" dirty="0">
                <a:sym typeface="Symbol" pitchFamily="18" charset="2"/>
              </a:rPr>
              <a:t></a:t>
            </a:r>
            <a:r>
              <a:rPr lang="ru-RU" dirty="0"/>
              <a:t> - </a:t>
            </a:r>
            <a:r>
              <a:rPr lang="en-US" dirty="0"/>
              <a:t>output function</a:t>
            </a:r>
            <a:r>
              <a:rPr lang="ru-RU" dirty="0"/>
              <a:t>.</a:t>
            </a:r>
            <a:endParaRPr lang="en-US" dirty="0"/>
          </a:p>
          <a:p>
            <a:pPr lvl="1"/>
            <a:r>
              <a:rPr lang="en-US" dirty="0"/>
              <a:t>Finite-state machine (FSM) – if X</a:t>
            </a:r>
            <a:r>
              <a:rPr lang="ru-RU" dirty="0"/>
              <a:t>, </a:t>
            </a:r>
            <a:r>
              <a:rPr lang="en-US" dirty="0"/>
              <a:t>Y</a:t>
            </a:r>
            <a:r>
              <a:rPr lang="ru-RU" dirty="0"/>
              <a:t>, </a:t>
            </a:r>
            <a:r>
              <a:rPr lang="en-US" dirty="0"/>
              <a:t>S sets are finite</a:t>
            </a:r>
            <a:r>
              <a:rPr lang="ru-RU" dirty="0"/>
              <a:t> (</a:t>
            </a:r>
            <a:r>
              <a:rPr lang="en-US" dirty="0"/>
              <a:t>or</a:t>
            </a:r>
            <a:r>
              <a:rPr lang="ru-RU" dirty="0"/>
              <a:t> </a:t>
            </a:r>
            <a:r>
              <a:rPr lang="en-US" dirty="0"/>
              <a:t>counting</a:t>
            </a:r>
            <a:r>
              <a:rPr lang="ru-RU" dirty="0"/>
              <a:t>).</a:t>
            </a:r>
            <a:endParaRPr lang="en-US" dirty="0"/>
          </a:p>
          <a:p>
            <a:pPr lvl="1"/>
            <a:r>
              <a:rPr lang="en-US" dirty="0"/>
              <a:t>The automata functions in discrete points of time t</a:t>
            </a:r>
            <a:r>
              <a:rPr lang="ru-RU" dirty="0"/>
              <a:t> = 0, 1, 2 .  . </a:t>
            </a:r>
            <a:r>
              <a:rPr lang="en-US" dirty="0"/>
              <a:t>.n</a:t>
            </a:r>
          </a:p>
          <a:p>
            <a:endParaRPr lang="ru-R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Заголовок 1">
            <a:extLst>
              <a:ext uri="{FF2B5EF4-FFF2-40B4-BE49-F238E27FC236}">
                <a16:creationId xmlns:a16="http://schemas.microsoft.com/office/drawing/2014/main" id="{EEF9912F-530B-1BC8-CA8C-61651E0B148D}"/>
              </a:ext>
            </a:extLst>
          </p:cNvPr>
          <p:cNvSpPr>
            <a:spLocks noGrp="1" noChangeArrowheads="1"/>
          </p:cNvSpPr>
          <p:nvPr>
            <p:ph type="title"/>
          </p:nvPr>
        </p:nvSpPr>
        <p:spPr>
          <a:xfrm>
            <a:off x="-1" y="183402"/>
            <a:ext cx="11612880" cy="704088"/>
          </a:xfrm>
        </p:spPr>
        <p:txBody>
          <a:bodyPr>
            <a:normAutofit/>
          </a:bodyPr>
          <a:lstStyle/>
          <a:p>
            <a:r>
              <a:rPr lang="en-US" altLang="en-US" dirty="0"/>
              <a:t>Concepts of Abstract Automata (2)</a:t>
            </a:r>
            <a:endParaRPr lang="ru-RU" altLang="en-US" dirty="0"/>
          </a:p>
        </p:txBody>
      </p:sp>
      <p:sp>
        <p:nvSpPr>
          <p:cNvPr id="14339" name="Объект 2">
            <a:extLst>
              <a:ext uri="{FF2B5EF4-FFF2-40B4-BE49-F238E27FC236}">
                <a16:creationId xmlns:a16="http://schemas.microsoft.com/office/drawing/2014/main" id="{51631D3E-D959-F246-1A92-E926AE724D7D}"/>
              </a:ext>
            </a:extLst>
          </p:cNvPr>
          <p:cNvSpPr>
            <a:spLocks noGrp="1" noChangeArrowheads="1"/>
          </p:cNvSpPr>
          <p:nvPr>
            <p:ph type="body" sz="quarter" idx="10"/>
          </p:nvPr>
        </p:nvSpPr>
        <p:spPr>
          <a:xfrm>
            <a:off x="457200" y="1188720"/>
            <a:ext cx="11277922" cy="5185186"/>
          </a:xfrm>
        </p:spPr>
        <p:txBody>
          <a:bodyPr/>
          <a:lstStyle/>
          <a:p>
            <a:r>
              <a:rPr lang="en-US" altLang="en-US" dirty="0"/>
              <a:t>In each point of time the automaton stays in one of states belonging to set S</a:t>
            </a:r>
            <a:r>
              <a:rPr lang="ru-RU" altLang="en-US" dirty="0"/>
              <a:t>.</a:t>
            </a:r>
            <a:endParaRPr lang="en-US" altLang="en-US" dirty="0"/>
          </a:p>
          <a:p>
            <a:r>
              <a:rPr lang="en-US" altLang="en-US" dirty="0"/>
              <a:t>S</a:t>
            </a:r>
            <a:r>
              <a:rPr lang="ru-RU" altLang="en-US" dirty="0"/>
              <a:t>0 – </a:t>
            </a:r>
            <a:r>
              <a:rPr lang="en-US" altLang="en-US" dirty="0"/>
              <a:t>initial state of automaton</a:t>
            </a:r>
            <a:r>
              <a:rPr lang="ru-RU" altLang="en-US" dirty="0"/>
              <a:t> (</a:t>
            </a:r>
            <a:r>
              <a:rPr lang="en-US" altLang="en-US" dirty="0"/>
              <a:t>at the time</a:t>
            </a:r>
            <a:r>
              <a:rPr lang="ru-RU" altLang="en-US" dirty="0"/>
              <a:t> </a:t>
            </a:r>
            <a:r>
              <a:rPr lang="en-US" altLang="en-US" dirty="0"/>
              <a:t>t</a:t>
            </a:r>
            <a:r>
              <a:rPr lang="ru-RU" altLang="en-US" dirty="0"/>
              <a:t> = 0).</a:t>
            </a:r>
            <a:endParaRPr lang="en-US" altLang="en-US" dirty="0"/>
          </a:p>
          <a:p>
            <a:r>
              <a:rPr lang="en-US" altLang="en-US" dirty="0"/>
              <a:t>N</a:t>
            </a:r>
            <a:r>
              <a:rPr lang="ru-RU" altLang="en-US" dirty="0"/>
              <a:t>ext</a:t>
            </a:r>
            <a:r>
              <a:rPr lang="en-US" altLang="en-US" dirty="0"/>
              <a:t> </a:t>
            </a:r>
            <a:r>
              <a:rPr lang="ru-RU" altLang="en-US" dirty="0"/>
              <a:t>state function</a:t>
            </a:r>
            <a:r>
              <a:rPr lang="en-US" altLang="en-US" dirty="0"/>
              <a:t> </a:t>
            </a:r>
            <a:r>
              <a:rPr lang="ru-RU" altLang="en-US" dirty="0">
                <a:sym typeface="Symbol" panose="05050102010706020507" pitchFamily="18" charset="2"/>
              </a:rPr>
              <a:t></a:t>
            </a:r>
            <a:r>
              <a:rPr lang="ru-RU" altLang="en-US" dirty="0"/>
              <a:t> </a:t>
            </a:r>
            <a:r>
              <a:rPr lang="en-US" altLang="en-US" dirty="0"/>
              <a:t>can be written as follows</a:t>
            </a:r>
            <a:r>
              <a:rPr lang="ru-RU" altLang="en-US" dirty="0"/>
              <a:t>:  </a:t>
            </a:r>
            <a:endParaRPr lang="en-US" altLang="en-US" dirty="0"/>
          </a:p>
          <a:p>
            <a:pPr lvl="1"/>
            <a:r>
              <a:rPr lang="ru-RU" altLang="en-US" dirty="0"/>
              <a:t> </a:t>
            </a:r>
            <a:r>
              <a:rPr lang="en-US" altLang="en-US" dirty="0"/>
              <a:t>St</a:t>
            </a:r>
            <a:r>
              <a:rPr lang="ru-RU" altLang="en-US" dirty="0"/>
              <a:t>+1 = </a:t>
            </a:r>
            <a:r>
              <a:rPr lang="ru-RU" altLang="en-US" dirty="0">
                <a:sym typeface="Symbol" panose="05050102010706020507" pitchFamily="18" charset="2"/>
              </a:rPr>
              <a:t></a:t>
            </a:r>
            <a:r>
              <a:rPr lang="ru-RU" altLang="en-US" dirty="0"/>
              <a:t>(S</a:t>
            </a:r>
            <a:r>
              <a:rPr lang="en-US" altLang="en-US" dirty="0"/>
              <a:t>t</a:t>
            </a:r>
            <a:r>
              <a:rPr lang="ru-RU" altLang="en-US" dirty="0"/>
              <a:t>, X</a:t>
            </a:r>
            <a:r>
              <a:rPr lang="en-US" altLang="en-US" dirty="0"/>
              <a:t>t</a:t>
            </a:r>
            <a:r>
              <a:rPr lang="ru-RU" altLang="en-US" dirty="0"/>
              <a:t> )</a:t>
            </a:r>
            <a:r>
              <a:rPr lang="en-US" altLang="en-US" dirty="0"/>
              <a:t> </a:t>
            </a:r>
            <a:r>
              <a:rPr lang="en-US" altLang="en-US" dirty="0">
                <a:sym typeface="Symbol" panose="05050102010706020507" pitchFamily="18" charset="2"/>
              </a:rPr>
              <a:t>or  </a:t>
            </a:r>
            <a:r>
              <a:rPr lang="ru-RU" altLang="en-US" dirty="0">
                <a:sym typeface="Symbol" panose="05050102010706020507" pitchFamily="18" charset="2"/>
              </a:rPr>
              <a:t></a:t>
            </a:r>
            <a:r>
              <a:rPr lang="ru-RU" altLang="en-US" dirty="0"/>
              <a:t>: </a:t>
            </a:r>
            <a:r>
              <a:rPr lang="en-US" altLang="en-US" dirty="0"/>
              <a:t>S</a:t>
            </a:r>
            <a:r>
              <a:rPr lang="ru-RU" altLang="en-US" dirty="0">
                <a:sym typeface="Symbol" panose="05050102010706020507" pitchFamily="18" charset="2"/>
              </a:rPr>
              <a:t></a:t>
            </a:r>
            <a:r>
              <a:rPr lang="en-US" altLang="en-US" dirty="0"/>
              <a:t>X</a:t>
            </a:r>
            <a:r>
              <a:rPr lang="ru-RU" altLang="en-US" dirty="0"/>
              <a:t> </a:t>
            </a:r>
            <a:r>
              <a:rPr lang="ru-RU" altLang="en-US" dirty="0">
                <a:sym typeface="Symbol" panose="05050102010706020507" pitchFamily="18" charset="2"/>
              </a:rPr>
              <a:t></a:t>
            </a:r>
            <a:r>
              <a:rPr lang="ru-RU" altLang="en-US" dirty="0"/>
              <a:t> </a:t>
            </a:r>
            <a:r>
              <a:rPr lang="en-US" altLang="en-US" dirty="0"/>
              <a:t>S</a:t>
            </a:r>
            <a:r>
              <a:rPr lang="ru-RU" altLang="en-US" dirty="0"/>
              <a:t>; </a:t>
            </a:r>
            <a:endParaRPr lang="en-US" altLang="en-US" dirty="0"/>
          </a:p>
          <a:p>
            <a:pPr lvl="1"/>
            <a:r>
              <a:rPr lang="ru-RU" altLang="en-US" dirty="0"/>
              <a:t> </a:t>
            </a:r>
            <a:r>
              <a:rPr lang="ru-RU" altLang="en-US" dirty="0">
                <a:sym typeface="Symbol" panose="05050102010706020507" pitchFamily="18" charset="2"/>
              </a:rPr>
              <a:t></a:t>
            </a:r>
            <a:r>
              <a:rPr lang="ru-RU" altLang="en-US" dirty="0"/>
              <a:t> - </a:t>
            </a:r>
            <a:r>
              <a:rPr lang="en-US" altLang="en-US" dirty="0"/>
              <a:t>direct Cartesian products S</a:t>
            </a:r>
            <a:r>
              <a:rPr lang="ru-RU" altLang="en-US" dirty="0">
                <a:sym typeface="Symbol" panose="05050102010706020507" pitchFamily="18" charset="2"/>
              </a:rPr>
              <a:t></a:t>
            </a:r>
            <a:r>
              <a:rPr lang="en-US" altLang="en-US" dirty="0"/>
              <a:t>X</a:t>
            </a:r>
            <a:r>
              <a:rPr lang="ru-RU" altLang="en-US" dirty="0"/>
              <a:t> </a:t>
            </a:r>
            <a:r>
              <a:rPr lang="en-US" altLang="en-US" dirty="0"/>
              <a:t>into S</a:t>
            </a:r>
            <a:r>
              <a:rPr lang="ru-RU" altLang="en-US" dirty="0"/>
              <a:t>.</a:t>
            </a:r>
            <a:endParaRPr lang="en-US" altLang="en-US" dirty="0"/>
          </a:p>
          <a:p>
            <a:r>
              <a:rPr lang="en-US" altLang="en-US" dirty="0"/>
              <a:t>Output function</a:t>
            </a:r>
            <a:r>
              <a:rPr lang="ru-RU" altLang="en-US" dirty="0"/>
              <a:t> </a:t>
            </a:r>
            <a:r>
              <a:rPr lang="ru-RU" altLang="en-US" dirty="0">
                <a:sym typeface="Symbol" panose="05050102010706020507" pitchFamily="18" charset="2"/>
              </a:rPr>
              <a:t></a:t>
            </a:r>
            <a:r>
              <a:rPr lang="ru-RU" altLang="en-US" dirty="0"/>
              <a:t>  </a:t>
            </a:r>
            <a:r>
              <a:rPr lang="en-US" altLang="en-US" dirty="0"/>
              <a:t>defines</a:t>
            </a:r>
            <a:r>
              <a:rPr lang="ru-RU" altLang="en-US" dirty="0"/>
              <a:t> </a:t>
            </a:r>
            <a:r>
              <a:rPr lang="en-US" altLang="en-US" dirty="0"/>
              <a:t>the output of automaton in each point of time</a:t>
            </a:r>
            <a:r>
              <a:rPr lang="ru-RU" altLang="en-US" dirty="0"/>
              <a:t>.</a:t>
            </a:r>
            <a:endParaRPr lang="en-US" altLang="en-US" dirty="0"/>
          </a:p>
          <a:p>
            <a:r>
              <a:rPr lang="en-US" altLang="en-US" dirty="0"/>
              <a:t>There are two models of automaton</a:t>
            </a:r>
            <a:r>
              <a:rPr lang="ru-RU" altLang="en-US" dirty="0"/>
              <a:t> – Mealy </a:t>
            </a:r>
            <a:r>
              <a:rPr lang="en-US" altLang="en-US" dirty="0"/>
              <a:t>and </a:t>
            </a:r>
            <a:r>
              <a:rPr lang="ru-RU" altLang="en-US" dirty="0"/>
              <a:t>Moore </a:t>
            </a:r>
            <a:r>
              <a:rPr lang="en-US" altLang="en-US" dirty="0"/>
              <a:t>models</a:t>
            </a:r>
            <a:r>
              <a:rPr lang="ru-RU" altLang="en-US" dirty="0"/>
              <a:t>. </a:t>
            </a:r>
            <a:r>
              <a:rPr lang="en-US" altLang="en-US" dirty="0"/>
              <a:t>They differ in output function</a:t>
            </a:r>
            <a:r>
              <a:rPr lang="ru-RU" altLang="en-US" dirty="0"/>
              <a:t>, </a:t>
            </a:r>
            <a:r>
              <a:rPr lang="en-US" altLang="en-US" dirty="0"/>
              <a:t>which is defined in the following way: </a:t>
            </a:r>
          </a:p>
          <a:p>
            <a:pPr lvl="1"/>
            <a:r>
              <a:rPr lang="en-US" altLang="en-US" dirty="0" err="1"/>
              <a:t>Yt</a:t>
            </a:r>
            <a:r>
              <a:rPr lang="ru-RU" altLang="en-US" dirty="0"/>
              <a:t> = </a:t>
            </a:r>
            <a:r>
              <a:rPr lang="ru-RU" altLang="en-US" dirty="0">
                <a:sym typeface="Symbol" panose="05050102010706020507" pitchFamily="18" charset="2"/>
              </a:rPr>
              <a:t></a:t>
            </a:r>
            <a:r>
              <a:rPr lang="ru-RU" altLang="en-US" dirty="0"/>
              <a:t> (S</a:t>
            </a:r>
            <a:r>
              <a:rPr lang="en-US" altLang="en-US" dirty="0"/>
              <a:t>t</a:t>
            </a:r>
            <a:r>
              <a:rPr lang="ru-RU" altLang="en-US" dirty="0"/>
              <a:t> , X</a:t>
            </a:r>
            <a:r>
              <a:rPr lang="en-US" altLang="en-US" dirty="0"/>
              <a:t>t</a:t>
            </a:r>
            <a:r>
              <a:rPr lang="ru-RU" altLang="en-US" dirty="0"/>
              <a:t>)  -  </a:t>
            </a:r>
            <a:r>
              <a:rPr lang="en-US" altLang="en-US" dirty="0"/>
              <a:t>for Mealy automaton, or </a:t>
            </a:r>
            <a:r>
              <a:rPr lang="ru-RU" altLang="en-US" dirty="0">
                <a:sym typeface="Symbol" panose="05050102010706020507" pitchFamily="18" charset="2"/>
              </a:rPr>
              <a:t></a:t>
            </a:r>
            <a:r>
              <a:rPr lang="ru-RU" altLang="en-US" dirty="0"/>
              <a:t>: S</a:t>
            </a:r>
            <a:r>
              <a:rPr lang="ru-RU" altLang="en-US" dirty="0">
                <a:sym typeface="Symbol" panose="05050102010706020507" pitchFamily="18" charset="2"/>
              </a:rPr>
              <a:t></a:t>
            </a:r>
            <a:r>
              <a:rPr lang="ru-RU" altLang="en-US" dirty="0"/>
              <a:t>X</a:t>
            </a:r>
            <a:r>
              <a:rPr lang="ru-RU" altLang="en-US" dirty="0">
                <a:sym typeface="Symbol" panose="05050102010706020507" pitchFamily="18" charset="2"/>
              </a:rPr>
              <a:t></a:t>
            </a:r>
            <a:r>
              <a:rPr lang="ru-RU" altLang="en-US" dirty="0"/>
              <a:t>Y.</a:t>
            </a:r>
            <a:endParaRPr lang="en-US" altLang="en-US" dirty="0"/>
          </a:p>
          <a:p>
            <a:pPr lvl="1"/>
            <a:r>
              <a:rPr lang="en-US" altLang="en-US" dirty="0" err="1"/>
              <a:t>Yt</a:t>
            </a:r>
            <a:r>
              <a:rPr lang="ru-RU" altLang="en-US" dirty="0"/>
              <a:t> = </a:t>
            </a:r>
            <a:r>
              <a:rPr lang="ru-RU" altLang="en-US" dirty="0">
                <a:sym typeface="Symbol" panose="05050102010706020507" pitchFamily="18" charset="2"/>
              </a:rPr>
              <a:t></a:t>
            </a:r>
            <a:r>
              <a:rPr lang="ru-RU" altLang="en-US" dirty="0"/>
              <a:t> (S</a:t>
            </a:r>
            <a:r>
              <a:rPr lang="en-US" altLang="en-US" dirty="0"/>
              <a:t>t</a:t>
            </a:r>
            <a:r>
              <a:rPr lang="ru-RU" altLang="en-US" dirty="0"/>
              <a:t>)  -  </a:t>
            </a:r>
            <a:r>
              <a:rPr lang="en-US" altLang="en-US" dirty="0"/>
              <a:t>for Moore automaton</a:t>
            </a:r>
            <a:r>
              <a:rPr lang="ru-RU" altLang="en-US" dirty="0"/>
              <a:t>.</a:t>
            </a:r>
            <a:endParaRPr lang="en-US" altLang="en-US" dirty="0"/>
          </a:p>
          <a:p>
            <a:r>
              <a:rPr lang="en-US" altLang="en-US" dirty="0"/>
              <a:t>The state is a memory of automaton about the previous input actions (history of inputs)</a:t>
            </a:r>
            <a:r>
              <a:rPr lang="ru-RU" altLang="en-US" dirty="0"/>
              <a:t>.</a:t>
            </a:r>
            <a:r>
              <a:rPr lang="en-US" altLang="en-US" dirty="0"/>
              <a:t> </a:t>
            </a:r>
          </a:p>
          <a:p>
            <a:endParaRPr lang="ru-RU"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Заголовок 5">
            <a:extLst>
              <a:ext uri="{FF2B5EF4-FFF2-40B4-BE49-F238E27FC236}">
                <a16:creationId xmlns:a16="http://schemas.microsoft.com/office/drawing/2014/main" id="{909A2925-9A3D-964C-2E0A-15B9A3759040}"/>
              </a:ext>
            </a:extLst>
          </p:cNvPr>
          <p:cNvSpPr>
            <a:spLocks noGrp="1" noChangeArrowheads="1"/>
          </p:cNvSpPr>
          <p:nvPr>
            <p:ph type="title"/>
          </p:nvPr>
        </p:nvSpPr>
        <p:spPr>
          <a:xfrm>
            <a:off x="-1" y="183402"/>
            <a:ext cx="11612880" cy="704088"/>
          </a:xfrm>
        </p:spPr>
        <p:txBody>
          <a:bodyPr>
            <a:normAutofit/>
          </a:bodyPr>
          <a:lstStyle/>
          <a:p>
            <a:r>
              <a:rPr lang="en-US" altLang="en-US" dirty="0"/>
              <a:t>Concepts of Abstract Automata (3)</a:t>
            </a:r>
            <a:endParaRPr lang="ru-RU" altLang="en-US" dirty="0"/>
          </a:p>
        </p:txBody>
      </p:sp>
      <p:sp>
        <p:nvSpPr>
          <p:cNvPr id="3" name="Объект 2">
            <a:extLst>
              <a:ext uri="{FF2B5EF4-FFF2-40B4-BE49-F238E27FC236}">
                <a16:creationId xmlns:a16="http://schemas.microsoft.com/office/drawing/2014/main" id="{05421773-AE02-4BE2-AAEA-302DAD6A398A}"/>
              </a:ext>
            </a:extLst>
          </p:cNvPr>
          <p:cNvSpPr>
            <a:spLocks noGrp="1"/>
          </p:cNvSpPr>
          <p:nvPr>
            <p:ph type="body" sz="quarter" idx="10"/>
          </p:nvPr>
        </p:nvSpPr>
        <p:spPr>
          <a:xfrm>
            <a:off x="457200" y="1188720"/>
            <a:ext cx="11277922" cy="5185186"/>
          </a:xfrm>
        </p:spPr>
        <p:txBody>
          <a:bodyPr/>
          <a:lstStyle/>
          <a:p>
            <a:r>
              <a:rPr lang="en-US" dirty="0"/>
              <a:t>Abstract automaton has 1 input and 1 output. </a:t>
            </a:r>
          </a:p>
          <a:p>
            <a:r>
              <a:rPr lang="en-US" dirty="0"/>
              <a:t>Transforms input sequences into output sequences.</a:t>
            </a:r>
          </a:p>
          <a:p>
            <a:pPr lvl="1"/>
            <a:r>
              <a:rPr lang="en-US" dirty="0"/>
              <a:t>Lengths of input and output words are identical</a:t>
            </a:r>
          </a:p>
          <a:p>
            <a:pPr lvl="1"/>
            <a:r>
              <a:rPr lang="en-US" dirty="0"/>
              <a:t>Identical initial parts of input words correspond to identical  initial parts of output words</a:t>
            </a:r>
          </a:p>
          <a:p>
            <a:r>
              <a:rPr lang="en-US" dirty="0"/>
              <a:t>Automaton example</a:t>
            </a:r>
            <a:r>
              <a:rPr lang="ru-RU" dirty="0"/>
              <a:t>  -  </a:t>
            </a:r>
            <a:r>
              <a:rPr lang="ru-RU" dirty="0" err="1"/>
              <a:t>serial</a:t>
            </a:r>
            <a:r>
              <a:rPr lang="ru-RU" dirty="0"/>
              <a:t> </a:t>
            </a:r>
            <a:r>
              <a:rPr lang="ru-RU" dirty="0" err="1"/>
              <a:t>adder</a:t>
            </a:r>
            <a:r>
              <a:rPr lang="ru-RU" dirty="0"/>
              <a:t>. </a:t>
            </a:r>
            <a:endParaRPr lang="en-US" dirty="0"/>
          </a:p>
          <a:p>
            <a:r>
              <a:rPr lang="ru-RU" dirty="0" err="1"/>
              <a:t>To</a:t>
            </a:r>
            <a:r>
              <a:rPr lang="ru-RU" dirty="0"/>
              <a:t> </a:t>
            </a:r>
            <a:r>
              <a:rPr lang="ru-RU" dirty="0" err="1"/>
              <a:t>the</a:t>
            </a:r>
            <a:r>
              <a:rPr lang="ru-RU" dirty="0"/>
              <a:t> </a:t>
            </a:r>
            <a:r>
              <a:rPr lang="ru-RU" dirty="0" err="1"/>
              <a:t>input</a:t>
            </a:r>
            <a:r>
              <a:rPr lang="ru-RU" dirty="0"/>
              <a:t> </a:t>
            </a:r>
            <a:r>
              <a:rPr lang="ru-RU" dirty="0" err="1"/>
              <a:t>of</a:t>
            </a:r>
            <a:r>
              <a:rPr lang="ru-RU" dirty="0"/>
              <a:t> </a:t>
            </a:r>
            <a:r>
              <a:rPr lang="ru-RU" dirty="0" err="1"/>
              <a:t>the</a:t>
            </a:r>
            <a:r>
              <a:rPr lang="ru-RU" dirty="0"/>
              <a:t> </a:t>
            </a:r>
            <a:r>
              <a:rPr lang="ru-RU" dirty="0" err="1"/>
              <a:t>machine</a:t>
            </a:r>
            <a:r>
              <a:rPr lang="ru-RU" dirty="0"/>
              <a:t> </a:t>
            </a:r>
            <a:r>
              <a:rPr lang="ru-RU" dirty="0" err="1"/>
              <a:t>comes</a:t>
            </a:r>
            <a:r>
              <a:rPr lang="ru-RU" dirty="0"/>
              <a:t> </a:t>
            </a:r>
            <a:r>
              <a:rPr lang="ru-RU" dirty="0" err="1"/>
              <a:t>with</a:t>
            </a:r>
            <a:r>
              <a:rPr lang="ru-RU" dirty="0"/>
              <a:t> </a:t>
            </a:r>
            <a:r>
              <a:rPr lang="ru-RU" dirty="0" err="1"/>
              <a:t>the</a:t>
            </a:r>
            <a:r>
              <a:rPr lang="ru-RU" dirty="0"/>
              <a:t> </a:t>
            </a:r>
            <a:r>
              <a:rPr lang="ru-RU" dirty="0" err="1"/>
              <a:t>same</a:t>
            </a:r>
            <a:r>
              <a:rPr lang="ru-RU" dirty="0"/>
              <a:t> </a:t>
            </a:r>
            <a:r>
              <a:rPr lang="ru-RU" dirty="0" err="1"/>
              <a:t>name</a:t>
            </a:r>
            <a:r>
              <a:rPr lang="ru-RU" dirty="0"/>
              <a:t> </a:t>
            </a:r>
            <a:r>
              <a:rPr lang="ru-RU" dirty="0" err="1"/>
              <a:t>bits</a:t>
            </a:r>
            <a:r>
              <a:rPr lang="ru-RU" dirty="0"/>
              <a:t> </a:t>
            </a:r>
            <a:r>
              <a:rPr lang="ru-RU" dirty="0" err="1"/>
              <a:t>ai</a:t>
            </a:r>
            <a:r>
              <a:rPr lang="ru-RU" dirty="0"/>
              <a:t>  </a:t>
            </a:r>
            <a:r>
              <a:rPr lang="ru-RU" dirty="0" err="1"/>
              <a:t>and</a:t>
            </a:r>
            <a:r>
              <a:rPr lang="ru-RU" dirty="0"/>
              <a:t> </a:t>
            </a:r>
            <a:r>
              <a:rPr lang="ru-RU" dirty="0" err="1"/>
              <a:t>bi</a:t>
            </a:r>
            <a:r>
              <a:rPr lang="ru-RU" dirty="0"/>
              <a:t> </a:t>
            </a:r>
            <a:r>
              <a:rPr lang="ru-RU" dirty="0" err="1"/>
              <a:t>of</a:t>
            </a:r>
            <a:r>
              <a:rPr lang="ru-RU" dirty="0"/>
              <a:t> </a:t>
            </a:r>
            <a:r>
              <a:rPr lang="ru-RU" dirty="0" err="1"/>
              <a:t>both</a:t>
            </a:r>
            <a:r>
              <a:rPr lang="ru-RU" dirty="0"/>
              <a:t> </a:t>
            </a:r>
            <a:r>
              <a:rPr lang="ru-RU" dirty="0" err="1"/>
              <a:t>terms</a:t>
            </a:r>
            <a:r>
              <a:rPr lang="ru-RU" dirty="0"/>
              <a:t> A </a:t>
            </a:r>
            <a:r>
              <a:rPr lang="ru-RU" dirty="0" err="1"/>
              <a:t>and</a:t>
            </a:r>
            <a:r>
              <a:rPr lang="ru-RU" dirty="0"/>
              <a:t> B</a:t>
            </a:r>
            <a:r>
              <a:rPr lang="en-US" dirty="0"/>
              <a:t>,  the bit of sum Si is formed on the output. The serial adder is automaton – it should remember, if there was or there was no carry from i-1 the bit.</a:t>
            </a:r>
          </a:p>
          <a:p>
            <a:endParaRPr lang="en-US" dirty="0"/>
          </a:p>
          <a:p>
            <a:endParaRPr lang="ru-RU"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8">
            <a:extLst>
              <a:ext uri="{FF2B5EF4-FFF2-40B4-BE49-F238E27FC236}">
                <a16:creationId xmlns:a16="http://schemas.microsoft.com/office/drawing/2014/main" id="{ED5A2E3C-AFA4-9EDF-B586-2FC3D3E315C7}"/>
              </a:ext>
            </a:extLst>
          </p:cNvPr>
          <p:cNvSpPr txBox="1">
            <a:spLocks noChangeArrowheads="1"/>
          </p:cNvSpPr>
          <p:nvPr/>
        </p:nvSpPr>
        <p:spPr bwMode="auto">
          <a:xfrm>
            <a:off x="2062163" y="4527551"/>
            <a:ext cx="74676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X = {00, 01, 10, 11};  </a:t>
            </a:r>
          </a:p>
          <a:p>
            <a:pPr eaLnBrk="1" hangingPunct="1"/>
            <a:r>
              <a:rPr lang="en-US" altLang="en-US" sz="2000"/>
              <a:t>Y = {0,1};</a:t>
            </a:r>
          </a:p>
          <a:p>
            <a:pPr eaLnBrk="1" hangingPunct="1"/>
            <a:r>
              <a:rPr lang="en-US" altLang="en-US" sz="2000"/>
              <a:t>S = {0,1};</a:t>
            </a:r>
          </a:p>
          <a:p>
            <a:pPr eaLnBrk="1" hangingPunct="1"/>
            <a:r>
              <a:rPr lang="en-US" altLang="en-US" sz="2000"/>
              <a:t>0 – absence of carry, 1 – presence of carry.</a:t>
            </a:r>
          </a:p>
        </p:txBody>
      </p:sp>
      <p:grpSp>
        <p:nvGrpSpPr>
          <p:cNvPr id="17412" name="Group 55">
            <a:extLst>
              <a:ext uri="{FF2B5EF4-FFF2-40B4-BE49-F238E27FC236}">
                <a16:creationId xmlns:a16="http://schemas.microsoft.com/office/drawing/2014/main" id="{B46185DA-8509-7B66-F7AE-D4EEF50241A5}"/>
              </a:ext>
            </a:extLst>
          </p:cNvPr>
          <p:cNvGrpSpPr>
            <a:grpSpLocks/>
          </p:cNvGrpSpPr>
          <p:nvPr/>
        </p:nvGrpSpPr>
        <p:grpSpPr bwMode="auto">
          <a:xfrm>
            <a:off x="3270251" y="1190625"/>
            <a:ext cx="4164013" cy="890588"/>
            <a:chOff x="400" y="750"/>
            <a:chExt cx="2623" cy="561"/>
          </a:xfrm>
        </p:grpSpPr>
        <p:sp>
          <p:nvSpPr>
            <p:cNvPr id="10264" name="Rectangle 31">
              <a:extLst>
                <a:ext uri="{FF2B5EF4-FFF2-40B4-BE49-F238E27FC236}">
                  <a16:creationId xmlns:a16="http://schemas.microsoft.com/office/drawing/2014/main" id="{6A8401ED-4FA2-4D2A-AF98-8F346920A54F}"/>
                </a:ext>
              </a:extLst>
            </p:cNvPr>
            <p:cNvSpPr>
              <a:spLocks noChangeArrowheads="1"/>
            </p:cNvSpPr>
            <p:nvPr/>
          </p:nvSpPr>
          <p:spPr bwMode="auto">
            <a:xfrm>
              <a:off x="1548" y="750"/>
              <a:ext cx="468" cy="528"/>
            </a:xfrm>
            <a:prstGeom prst="rect">
              <a:avLst/>
            </a:prstGeom>
            <a:solidFill>
              <a:schemeClr val="accent1">
                <a:lumMod val="60000"/>
                <a:lumOff val="40000"/>
              </a:schemeClr>
            </a:solidFill>
            <a:ln w="31750">
              <a:solidFill>
                <a:srgbClr val="000000"/>
              </a:solidFill>
              <a:miter lim="800000"/>
              <a:headEnd/>
              <a:tailEnd/>
            </a:ln>
          </p:spPr>
          <p:txBody>
            <a:bodyPr/>
            <a:lstStyle/>
            <a:p>
              <a:pPr>
                <a:defRPr/>
              </a:pPr>
              <a:r>
                <a:rPr lang="en-US" sz="2000">
                  <a:latin typeface="Arial" charset="0"/>
                  <a:cs typeface="Arial" charset="0"/>
                </a:rPr>
                <a:t>   A</a:t>
              </a:r>
            </a:p>
            <a:p>
              <a:pPr>
                <a:defRPr/>
              </a:pPr>
              <a:r>
                <a:rPr lang="en-US" sz="2000">
                  <a:latin typeface="Arial" charset="0"/>
                  <a:cs typeface="Arial" charset="0"/>
                </a:rPr>
                <a:t>    </a:t>
              </a:r>
            </a:p>
          </p:txBody>
        </p:sp>
        <p:sp>
          <p:nvSpPr>
            <p:cNvPr id="17466" name="Line 32">
              <a:extLst>
                <a:ext uri="{FF2B5EF4-FFF2-40B4-BE49-F238E27FC236}">
                  <a16:creationId xmlns:a16="http://schemas.microsoft.com/office/drawing/2014/main" id="{6158DCAA-0727-000F-B9B0-46B1A835E563}"/>
                </a:ext>
              </a:extLst>
            </p:cNvPr>
            <p:cNvSpPr>
              <a:spLocks noChangeShapeType="1"/>
            </p:cNvSpPr>
            <p:nvPr/>
          </p:nvSpPr>
          <p:spPr bwMode="auto">
            <a:xfrm>
              <a:off x="1264" y="977"/>
              <a:ext cx="284" cy="0"/>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67" name="Line 33">
              <a:extLst>
                <a:ext uri="{FF2B5EF4-FFF2-40B4-BE49-F238E27FC236}">
                  <a16:creationId xmlns:a16="http://schemas.microsoft.com/office/drawing/2014/main" id="{507E56F9-FE15-A3EA-ACE1-0A0C4F2D5E33}"/>
                </a:ext>
              </a:extLst>
            </p:cNvPr>
            <p:cNvSpPr>
              <a:spLocks noChangeShapeType="1"/>
            </p:cNvSpPr>
            <p:nvPr/>
          </p:nvSpPr>
          <p:spPr bwMode="auto">
            <a:xfrm>
              <a:off x="2018" y="980"/>
              <a:ext cx="284" cy="0"/>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68" name="Text Box 34">
              <a:extLst>
                <a:ext uri="{FF2B5EF4-FFF2-40B4-BE49-F238E27FC236}">
                  <a16:creationId xmlns:a16="http://schemas.microsoft.com/office/drawing/2014/main" id="{92C40206-C3A4-1487-E016-0756637E1EAC}"/>
                </a:ext>
              </a:extLst>
            </p:cNvPr>
            <p:cNvSpPr txBox="1">
              <a:spLocks noChangeArrowheads="1"/>
            </p:cNvSpPr>
            <p:nvPr/>
          </p:nvSpPr>
          <p:spPr bwMode="auto">
            <a:xfrm>
              <a:off x="400" y="833"/>
              <a:ext cx="1151"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r>
                <a:rPr lang="en-US" altLang="en-US" sz="2000"/>
                <a:t>      X</a:t>
              </a:r>
            </a:p>
            <a:p>
              <a:pPr algn="ctr"/>
              <a:r>
                <a:rPr lang="en-US" altLang="en-US" sz="2000"/>
                <a:t>{00,01,10,11}</a:t>
              </a:r>
            </a:p>
          </p:txBody>
        </p:sp>
        <p:sp>
          <p:nvSpPr>
            <p:cNvPr id="17469" name="Text Box 35">
              <a:extLst>
                <a:ext uri="{FF2B5EF4-FFF2-40B4-BE49-F238E27FC236}">
                  <a16:creationId xmlns:a16="http://schemas.microsoft.com/office/drawing/2014/main" id="{A8135AD2-8F17-4032-BDE1-B24BFD5CB9F2}"/>
                </a:ext>
              </a:extLst>
            </p:cNvPr>
            <p:cNvSpPr txBox="1">
              <a:spLocks noChangeArrowheads="1"/>
            </p:cNvSpPr>
            <p:nvPr/>
          </p:nvSpPr>
          <p:spPr bwMode="auto">
            <a:xfrm>
              <a:off x="2383" y="828"/>
              <a:ext cx="640"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Y </a:t>
              </a:r>
            </a:p>
            <a:p>
              <a:r>
                <a:rPr lang="en-US" altLang="en-US" sz="2000"/>
                <a:t>{0,1}</a:t>
              </a:r>
            </a:p>
          </p:txBody>
        </p:sp>
      </p:grpSp>
      <p:grpSp>
        <p:nvGrpSpPr>
          <p:cNvPr id="17413" name="Group 54">
            <a:extLst>
              <a:ext uri="{FF2B5EF4-FFF2-40B4-BE49-F238E27FC236}">
                <a16:creationId xmlns:a16="http://schemas.microsoft.com/office/drawing/2014/main" id="{470372E8-D582-16C7-5377-D7A4BF548617}"/>
              </a:ext>
            </a:extLst>
          </p:cNvPr>
          <p:cNvGrpSpPr>
            <a:grpSpLocks/>
          </p:cNvGrpSpPr>
          <p:nvPr/>
        </p:nvGrpSpPr>
        <p:grpSpPr bwMode="auto">
          <a:xfrm>
            <a:off x="2227264" y="2287589"/>
            <a:ext cx="5100637" cy="2244725"/>
            <a:chOff x="254" y="1367"/>
            <a:chExt cx="3304" cy="1488"/>
          </a:xfrm>
        </p:grpSpPr>
        <p:sp>
          <p:nvSpPr>
            <p:cNvPr id="9252" name="Oval 36">
              <a:extLst>
                <a:ext uri="{FF2B5EF4-FFF2-40B4-BE49-F238E27FC236}">
                  <a16:creationId xmlns:a16="http://schemas.microsoft.com/office/drawing/2014/main" id="{8A26BC1E-33A6-4405-A4E6-15159B5FB896}"/>
                </a:ext>
              </a:extLst>
            </p:cNvPr>
            <p:cNvSpPr>
              <a:spLocks noChangeArrowheads="1"/>
            </p:cNvSpPr>
            <p:nvPr/>
          </p:nvSpPr>
          <p:spPr bwMode="auto">
            <a:xfrm>
              <a:off x="931" y="1866"/>
              <a:ext cx="440" cy="440"/>
            </a:xfrm>
            <a:prstGeom prst="ellipse">
              <a:avLst/>
            </a:prstGeom>
            <a:solidFill>
              <a:schemeClr val="accent1">
                <a:lumMod val="60000"/>
                <a:lumOff val="40000"/>
                <a:alpha val="53000"/>
              </a:schemeClr>
            </a:solidFill>
            <a:ln w="28575">
              <a:solidFill>
                <a:schemeClr val="tx1"/>
              </a:solidFill>
              <a:round/>
              <a:headEnd/>
              <a:tailEnd/>
            </a:ln>
            <a:effectLst/>
          </p:spPr>
          <p:txBody>
            <a:bodyPr wrap="none" anchor="ctr"/>
            <a:lstStyle/>
            <a:p>
              <a:pPr algn="ctr" eaLnBrk="1" hangingPunct="1">
                <a:defRPr/>
              </a:pPr>
              <a:r>
                <a:rPr lang="en-US">
                  <a:latin typeface="Arial" charset="0"/>
                  <a:cs typeface="Arial" charset="0"/>
                </a:rPr>
                <a:t>0</a:t>
              </a:r>
              <a:endParaRPr lang="ru-RU">
                <a:latin typeface="Arial" charset="0"/>
                <a:cs typeface="Arial" charset="0"/>
              </a:endParaRPr>
            </a:p>
          </p:txBody>
        </p:sp>
        <p:sp>
          <p:nvSpPr>
            <p:cNvPr id="9253" name="Oval 37">
              <a:extLst>
                <a:ext uri="{FF2B5EF4-FFF2-40B4-BE49-F238E27FC236}">
                  <a16:creationId xmlns:a16="http://schemas.microsoft.com/office/drawing/2014/main" id="{0D96542B-5301-4375-9E56-58C026CB56F2}"/>
                </a:ext>
              </a:extLst>
            </p:cNvPr>
            <p:cNvSpPr>
              <a:spLocks noChangeArrowheads="1"/>
            </p:cNvSpPr>
            <p:nvPr/>
          </p:nvSpPr>
          <p:spPr bwMode="auto">
            <a:xfrm>
              <a:off x="2273" y="1861"/>
              <a:ext cx="440" cy="442"/>
            </a:xfrm>
            <a:prstGeom prst="ellipse">
              <a:avLst/>
            </a:prstGeom>
            <a:solidFill>
              <a:schemeClr val="accent1">
                <a:lumMod val="60000"/>
                <a:lumOff val="40000"/>
                <a:alpha val="53000"/>
              </a:schemeClr>
            </a:solidFill>
            <a:ln w="28575">
              <a:solidFill>
                <a:schemeClr val="tx1"/>
              </a:solidFill>
              <a:round/>
              <a:headEnd/>
              <a:tailEnd/>
            </a:ln>
            <a:effectLst/>
          </p:spPr>
          <p:txBody>
            <a:bodyPr wrap="none" anchor="ctr"/>
            <a:lstStyle/>
            <a:p>
              <a:pPr algn="ctr" eaLnBrk="1" hangingPunct="1">
                <a:defRPr/>
              </a:pPr>
              <a:r>
                <a:rPr lang="en-US">
                  <a:latin typeface="Arial" charset="0"/>
                  <a:cs typeface="Arial" charset="0"/>
                </a:rPr>
                <a:t>1</a:t>
              </a:r>
              <a:endParaRPr lang="ru-RU">
                <a:latin typeface="Arial" charset="0"/>
                <a:cs typeface="Arial" charset="0"/>
              </a:endParaRPr>
            </a:p>
          </p:txBody>
        </p:sp>
        <p:sp>
          <p:nvSpPr>
            <p:cNvPr id="17449" name="Arc 38">
              <a:extLst>
                <a:ext uri="{FF2B5EF4-FFF2-40B4-BE49-F238E27FC236}">
                  <a16:creationId xmlns:a16="http://schemas.microsoft.com/office/drawing/2014/main" id="{91964EAC-E00D-EC11-2D48-3B2229022CCB}"/>
                </a:ext>
              </a:extLst>
            </p:cNvPr>
            <p:cNvSpPr>
              <a:spLocks/>
            </p:cNvSpPr>
            <p:nvPr/>
          </p:nvSpPr>
          <p:spPr bwMode="auto">
            <a:xfrm rot="-161715" flipH="1" flipV="1">
              <a:off x="657" y="1885"/>
              <a:ext cx="393" cy="386"/>
            </a:xfrm>
            <a:custGeom>
              <a:avLst/>
              <a:gdLst>
                <a:gd name="T0" fmla="*/ 0 w 32267"/>
                <a:gd name="T1" fmla="*/ 0 h 43200"/>
                <a:gd name="T2" fmla="*/ 0 w 32267"/>
                <a:gd name="T3" fmla="*/ 0 h 43200"/>
                <a:gd name="T4" fmla="*/ 0 w 32267"/>
                <a:gd name="T5" fmla="*/ 0 h 43200"/>
                <a:gd name="T6" fmla="*/ 0 60000 65536"/>
                <a:gd name="T7" fmla="*/ 0 60000 65536"/>
                <a:gd name="T8" fmla="*/ 0 60000 65536"/>
                <a:gd name="T9" fmla="*/ 0 w 32267"/>
                <a:gd name="T10" fmla="*/ 0 h 43200"/>
                <a:gd name="T11" fmla="*/ 32267 w 32267"/>
                <a:gd name="T12" fmla="*/ 43200 h 43200"/>
              </a:gdLst>
              <a:ahLst/>
              <a:cxnLst>
                <a:cxn ang="T6">
                  <a:pos x="T0" y="T1"/>
                </a:cxn>
                <a:cxn ang="T7">
                  <a:pos x="T2" y="T3"/>
                </a:cxn>
                <a:cxn ang="T8">
                  <a:pos x="T4" y="T5"/>
                </a:cxn>
              </a:cxnLst>
              <a:rect l="T9" t="T10" r="T11" b="T12"/>
              <a:pathLst>
                <a:path w="32267" h="43200" fill="none" extrusionOk="0">
                  <a:moveTo>
                    <a:pt x="4828" y="803"/>
                  </a:moveTo>
                  <a:cubicBezTo>
                    <a:pt x="6729" y="270"/>
                    <a:pt x="8693" y="-1"/>
                    <a:pt x="10667" y="0"/>
                  </a:cubicBezTo>
                  <a:cubicBezTo>
                    <a:pt x="22596" y="0"/>
                    <a:pt x="32267" y="9670"/>
                    <a:pt x="32267" y="21600"/>
                  </a:cubicBezTo>
                  <a:cubicBezTo>
                    <a:pt x="32267" y="33529"/>
                    <a:pt x="22596" y="43200"/>
                    <a:pt x="10667" y="43200"/>
                  </a:cubicBezTo>
                  <a:cubicBezTo>
                    <a:pt x="6927" y="43200"/>
                    <a:pt x="3252" y="42229"/>
                    <a:pt x="0" y="40382"/>
                  </a:cubicBezTo>
                </a:path>
                <a:path w="32267" h="43200" stroke="0" extrusionOk="0">
                  <a:moveTo>
                    <a:pt x="4828" y="803"/>
                  </a:moveTo>
                  <a:cubicBezTo>
                    <a:pt x="6729" y="270"/>
                    <a:pt x="8693" y="-1"/>
                    <a:pt x="10667" y="0"/>
                  </a:cubicBezTo>
                  <a:cubicBezTo>
                    <a:pt x="22596" y="0"/>
                    <a:pt x="32267" y="9670"/>
                    <a:pt x="32267" y="21600"/>
                  </a:cubicBezTo>
                  <a:cubicBezTo>
                    <a:pt x="32267" y="33529"/>
                    <a:pt x="22596" y="43200"/>
                    <a:pt x="10667" y="43200"/>
                  </a:cubicBezTo>
                  <a:cubicBezTo>
                    <a:pt x="6927" y="43200"/>
                    <a:pt x="3252" y="42229"/>
                    <a:pt x="0" y="40382"/>
                  </a:cubicBezTo>
                  <a:lnTo>
                    <a:pt x="10667" y="21600"/>
                  </a:lnTo>
                  <a:lnTo>
                    <a:pt x="4828" y="803"/>
                  </a:lnTo>
                  <a:close/>
                </a:path>
              </a:pathLst>
            </a:custGeom>
            <a:noFill/>
            <a:ln w="2857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50" name="Arc 39">
              <a:extLst>
                <a:ext uri="{FF2B5EF4-FFF2-40B4-BE49-F238E27FC236}">
                  <a16:creationId xmlns:a16="http://schemas.microsoft.com/office/drawing/2014/main" id="{2D750A88-FD2A-B563-A7C2-3A6B838E60F7}"/>
                </a:ext>
              </a:extLst>
            </p:cNvPr>
            <p:cNvSpPr>
              <a:spLocks/>
            </p:cNvSpPr>
            <p:nvPr/>
          </p:nvSpPr>
          <p:spPr bwMode="auto">
            <a:xfrm rot="10551165" flipH="1" flipV="1">
              <a:off x="2609" y="1893"/>
              <a:ext cx="393" cy="386"/>
            </a:xfrm>
            <a:custGeom>
              <a:avLst/>
              <a:gdLst>
                <a:gd name="T0" fmla="*/ 0 w 32267"/>
                <a:gd name="T1" fmla="*/ 0 h 43200"/>
                <a:gd name="T2" fmla="*/ 0 w 32267"/>
                <a:gd name="T3" fmla="*/ 0 h 43200"/>
                <a:gd name="T4" fmla="*/ 0 w 32267"/>
                <a:gd name="T5" fmla="*/ 0 h 43200"/>
                <a:gd name="T6" fmla="*/ 0 60000 65536"/>
                <a:gd name="T7" fmla="*/ 0 60000 65536"/>
                <a:gd name="T8" fmla="*/ 0 60000 65536"/>
                <a:gd name="T9" fmla="*/ 0 w 32267"/>
                <a:gd name="T10" fmla="*/ 0 h 43200"/>
                <a:gd name="T11" fmla="*/ 32267 w 32267"/>
                <a:gd name="T12" fmla="*/ 43200 h 43200"/>
              </a:gdLst>
              <a:ahLst/>
              <a:cxnLst>
                <a:cxn ang="T6">
                  <a:pos x="T0" y="T1"/>
                </a:cxn>
                <a:cxn ang="T7">
                  <a:pos x="T2" y="T3"/>
                </a:cxn>
                <a:cxn ang="T8">
                  <a:pos x="T4" y="T5"/>
                </a:cxn>
              </a:cxnLst>
              <a:rect l="T9" t="T10" r="T11" b="T12"/>
              <a:pathLst>
                <a:path w="32267" h="43200" fill="none" extrusionOk="0">
                  <a:moveTo>
                    <a:pt x="4828" y="803"/>
                  </a:moveTo>
                  <a:cubicBezTo>
                    <a:pt x="6729" y="270"/>
                    <a:pt x="8693" y="-1"/>
                    <a:pt x="10667" y="0"/>
                  </a:cubicBezTo>
                  <a:cubicBezTo>
                    <a:pt x="22596" y="0"/>
                    <a:pt x="32267" y="9670"/>
                    <a:pt x="32267" y="21600"/>
                  </a:cubicBezTo>
                  <a:cubicBezTo>
                    <a:pt x="32267" y="33529"/>
                    <a:pt x="22596" y="43200"/>
                    <a:pt x="10667" y="43200"/>
                  </a:cubicBezTo>
                  <a:cubicBezTo>
                    <a:pt x="6927" y="43200"/>
                    <a:pt x="3252" y="42229"/>
                    <a:pt x="0" y="40382"/>
                  </a:cubicBezTo>
                </a:path>
                <a:path w="32267" h="43200" stroke="0" extrusionOk="0">
                  <a:moveTo>
                    <a:pt x="4828" y="803"/>
                  </a:moveTo>
                  <a:cubicBezTo>
                    <a:pt x="6729" y="270"/>
                    <a:pt x="8693" y="-1"/>
                    <a:pt x="10667" y="0"/>
                  </a:cubicBezTo>
                  <a:cubicBezTo>
                    <a:pt x="22596" y="0"/>
                    <a:pt x="32267" y="9670"/>
                    <a:pt x="32267" y="21600"/>
                  </a:cubicBezTo>
                  <a:cubicBezTo>
                    <a:pt x="32267" y="33529"/>
                    <a:pt x="22596" y="43200"/>
                    <a:pt x="10667" y="43200"/>
                  </a:cubicBezTo>
                  <a:cubicBezTo>
                    <a:pt x="6927" y="43200"/>
                    <a:pt x="3252" y="42229"/>
                    <a:pt x="0" y="40382"/>
                  </a:cubicBezTo>
                  <a:lnTo>
                    <a:pt x="10667" y="21600"/>
                  </a:lnTo>
                  <a:lnTo>
                    <a:pt x="4828" y="803"/>
                  </a:lnTo>
                  <a:close/>
                </a:path>
              </a:pathLst>
            </a:custGeom>
            <a:noFill/>
            <a:ln w="28575">
              <a:solidFill>
                <a:schemeClr val="tx1"/>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51" name="Arc 40">
              <a:extLst>
                <a:ext uri="{FF2B5EF4-FFF2-40B4-BE49-F238E27FC236}">
                  <a16:creationId xmlns:a16="http://schemas.microsoft.com/office/drawing/2014/main" id="{A9D8DB87-5DA5-EDF6-ECBC-5F9B302CF52E}"/>
                </a:ext>
              </a:extLst>
            </p:cNvPr>
            <p:cNvSpPr>
              <a:spLocks/>
            </p:cNvSpPr>
            <p:nvPr/>
          </p:nvSpPr>
          <p:spPr bwMode="auto">
            <a:xfrm rot="5400000" flipH="1" flipV="1">
              <a:off x="1048" y="1610"/>
              <a:ext cx="330" cy="342"/>
            </a:xfrm>
            <a:custGeom>
              <a:avLst/>
              <a:gdLst>
                <a:gd name="T0" fmla="*/ 0 w 37890"/>
                <a:gd name="T1" fmla="*/ 0 h 43200"/>
                <a:gd name="T2" fmla="*/ 0 w 37890"/>
                <a:gd name="T3" fmla="*/ 0 h 43200"/>
                <a:gd name="T4" fmla="*/ 0 w 37890"/>
                <a:gd name="T5" fmla="*/ 0 h 43200"/>
                <a:gd name="T6" fmla="*/ 0 60000 65536"/>
                <a:gd name="T7" fmla="*/ 0 60000 65536"/>
                <a:gd name="T8" fmla="*/ 0 60000 65536"/>
                <a:gd name="T9" fmla="*/ 0 w 37890"/>
                <a:gd name="T10" fmla="*/ 0 h 43200"/>
                <a:gd name="T11" fmla="*/ 37890 w 37890"/>
                <a:gd name="T12" fmla="*/ 43200 h 43200"/>
              </a:gdLst>
              <a:ahLst/>
              <a:cxnLst>
                <a:cxn ang="T6">
                  <a:pos x="T0" y="T1"/>
                </a:cxn>
                <a:cxn ang="T7">
                  <a:pos x="T2" y="T3"/>
                </a:cxn>
                <a:cxn ang="T8">
                  <a:pos x="T4" y="T5"/>
                </a:cxn>
              </a:cxnLst>
              <a:rect l="T9" t="T10" r="T11" b="T12"/>
              <a:pathLst>
                <a:path w="37890" h="43200" fill="none" extrusionOk="0">
                  <a:moveTo>
                    <a:pt x="5525" y="2873"/>
                  </a:moveTo>
                  <a:cubicBezTo>
                    <a:pt x="8800" y="990"/>
                    <a:pt x="12512" y="-1"/>
                    <a:pt x="16290" y="0"/>
                  </a:cubicBezTo>
                  <a:cubicBezTo>
                    <a:pt x="28219" y="0"/>
                    <a:pt x="37890" y="9670"/>
                    <a:pt x="37890" y="21600"/>
                  </a:cubicBezTo>
                  <a:cubicBezTo>
                    <a:pt x="37890" y="33529"/>
                    <a:pt x="28219" y="43200"/>
                    <a:pt x="16290" y="43200"/>
                  </a:cubicBezTo>
                  <a:cubicBezTo>
                    <a:pt x="10043" y="43200"/>
                    <a:pt x="4102" y="40495"/>
                    <a:pt x="-1" y="35784"/>
                  </a:cubicBezTo>
                </a:path>
                <a:path w="37890" h="43200" stroke="0" extrusionOk="0">
                  <a:moveTo>
                    <a:pt x="5525" y="2873"/>
                  </a:moveTo>
                  <a:cubicBezTo>
                    <a:pt x="8800" y="990"/>
                    <a:pt x="12512" y="-1"/>
                    <a:pt x="16290" y="0"/>
                  </a:cubicBezTo>
                  <a:cubicBezTo>
                    <a:pt x="28219" y="0"/>
                    <a:pt x="37890" y="9670"/>
                    <a:pt x="37890" y="21600"/>
                  </a:cubicBezTo>
                  <a:cubicBezTo>
                    <a:pt x="37890" y="33529"/>
                    <a:pt x="28219" y="43200"/>
                    <a:pt x="16290" y="43200"/>
                  </a:cubicBezTo>
                  <a:cubicBezTo>
                    <a:pt x="10043" y="43200"/>
                    <a:pt x="4102" y="40495"/>
                    <a:pt x="-1" y="35784"/>
                  </a:cubicBezTo>
                  <a:lnTo>
                    <a:pt x="16290" y="21600"/>
                  </a:lnTo>
                  <a:lnTo>
                    <a:pt x="5525" y="2873"/>
                  </a:lnTo>
                  <a:close/>
                </a:path>
              </a:pathLst>
            </a:custGeom>
            <a:noFill/>
            <a:ln w="2857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52" name="Arc 41">
              <a:extLst>
                <a:ext uri="{FF2B5EF4-FFF2-40B4-BE49-F238E27FC236}">
                  <a16:creationId xmlns:a16="http://schemas.microsoft.com/office/drawing/2014/main" id="{532E11B8-1149-0D2B-C586-152555D2C405}"/>
                </a:ext>
              </a:extLst>
            </p:cNvPr>
            <p:cNvSpPr>
              <a:spLocks/>
            </p:cNvSpPr>
            <p:nvPr/>
          </p:nvSpPr>
          <p:spPr bwMode="auto">
            <a:xfrm rot="5400000" flipH="1" flipV="1">
              <a:off x="2343" y="1576"/>
              <a:ext cx="317" cy="342"/>
            </a:xfrm>
            <a:custGeom>
              <a:avLst/>
              <a:gdLst>
                <a:gd name="T0" fmla="*/ 0 w 36427"/>
                <a:gd name="T1" fmla="*/ 0 h 43200"/>
                <a:gd name="T2" fmla="*/ 0 w 36427"/>
                <a:gd name="T3" fmla="*/ 0 h 43200"/>
                <a:gd name="T4" fmla="*/ 0 w 36427"/>
                <a:gd name="T5" fmla="*/ 0 h 43200"/>
                <a:gd name="T6" fmla="*/ 0 60000 65536"/>
                <a:gd name="T7" fmla="*/ 0 60000 65536"/>
                <a:gd name="T8" fmla="*/ 0 60000 65536"/>
                <a:gd name="T9" fmla="*/ 0 w 36427"/>
                <a:gd name="T10" fmla="*/ 0 h 43200"/>
                <a:gd name="T11" fmla="*/ 36427 w 36427"/>
                <a:gd name="T12" fmla="*/ 43200 h 43200"/>
              </a:gdLst>
              <a:ahLst/>
              <a:cxnLst>
                <a:cxn ang="T6">
                  <a:pos x="T0" y="T1"/>
                </a:cxn>
                <a:cxn ang="T7">
                  <a:pos x="T2" y="T3"/>
                </a:cxn>
                <a:cxn ang="T8">
                  <a:pos x="T4" y="T5"/>
                </a:cxn>
              </a:cxnLst>
              <a:rect l="T9" t="T10" r="T11" b="T12"/>
              <a:pathLst>
                <a:path w="36427" h="43200" fill="none" extrusionOk="0">
                  <a:moveTo>
                    <a:pt x="-1" y="5892"/>
                  </a:moveTo>
                  <a:cubicBezTo>
                    <a:pt x="4009" y="2108"/>
                    <a:pt x="9313" y="-1"/>
                    <a:pt x="14827" y="0"/>
                  </a:cubicBezTo>
                  <a:cubicBezTo>
                    <a:pt x="26756" y="0"/>
                    <a:pt x="36427" y="9670"/>
                    <a:pt x="36427" y="21600"/>
                  </a:cubicBezTo>
                  <a:cubicBezTo>
                    <a:pt x="36427" y="33529"/>
                    <a:pt x="26756" y="43200"/>
                    <a:pt x="14827" y="43200"/>
                  </a:cubicBezTo>
                  <a:cubicBezTo>
                    <a:pt x="9572" y="43200"/>
                    <a:pt x="4497" y="41284"/>
                    <a:pt x="553" y="37811"/>
                  </a:cubicBezTo>
                </a:path>
                <a:path w="36427" h="43200" stroke="0" extrusionOk="0">
                  <a:moveTo>
                    <a:pt x="-1" y="5892"/>
                  </a:moveTo>
                  <a:cubicBezTo>
                    <a:pt x="4009" y="2108"/>
                    <a:pt x="9313" y="-1"/>
                    <a:pt x="14827" y="0"/>
                  </a:cubicBezTo>
                  <a:cubicBezTo>
                    <a:pt x="26756" y="0"/>
                    <a:pt x="36427" y="9670"/>
                    <a:pt x="36427" y="21600"/>
                  </a:cubicBezTo>
                  <a:cubicBezTo>
                    <a:pt x="36427" y="33529"/>
                    <a:pt x="26756" y="43200"/>
                    <a:pt x="14827" y="43200"/>
                  </a:cubicBezTo>
                  <a:cubicBezTo>
                    <a:pt x="9572" y="43200"/>
                    <a:pt x="4497" y="41284"/>
                    <a:pt x="553" y="37811"/>
                  </a:cubicBezTo>
                  <a:lnTo>
                    <a:pt x="14827" y="21600"/>
                  </a:lnTo>
                  <a:lnTo>
                    <a:pt x="-1" y="5892"/>
                  </a:lnTo>
                  <a:close/>
                </a:path>
              </a:pathLst>
            </a:custGeom>
            <a:noFill/>
            <a:ln w="28575">
              <a:solidFill>
                <a:schemeClr val="tx1"/>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53" name="Arc 42">
              <a:extLst>
                <a:ext uri="{FF2B5EF4-FFF2-40B4-BE49-F238E27FC236}">
                  <a16:creationId xmlns:a16="http://schemas.microsoft.com/office/drawing/2014/main" id="{489F53FD-ACFD-2246-0219-434146DFAA57}"/>
                </a:ext>
              </a:extLst>
            </p:cNvPr>
            <p:cNvSpPr>
              <a:spLocks/>
            </p:cNvSpPr>
            <p:nvPr/>
          </p:nvSpPr>
          <p:spPr bwMode="auto">
            <a:xfrm rot="-5400000" flipH="1" flipV="1">
              <a:off x="2300" y="2253"/>
              <a:ext cx="325" cy="342"/>
            </a:xfrm>
            <a:custGeom>
              <a:avLst/>
              <a:gdLst>
                <a:gd name="T0" fmla="*/ 0 w 37377"/>
                <a:gd name="T1" fmla="*/ 0 h 43200"/>
                <a:gd name="T2" fmla="*/ 0 w 37377"/>
                <a:gd name="T3" fmla="*/ 0 h 43200"/>
                <a:gd name="T4" fmla="*/ 0 w 37377"/>
                <a:gd name="T5" fmla="*/ 0 h 43200"/>
                <a:gd name="T6" fmla="*/ 0 60000 65536"/>
                <a:gd name="T7" fmla="*/ 0 60000 65536"/>
                <a:gd name="T8" fmla="*/ 0 60000 65536"/>
                <a:gd name="T9" fmla="*/ 0 w 37377"/>
                <a:gd name="T10" fmla="*/ 0 h 43200"/>
                <a:gd name="T11" fmla="*/ 37377 w 37377"/>
                <a:gd name="T12" fmla="*/ 43200 h 43200"/>
              </a:gdLst>
              <a:ahLst/>
              <a:cxnLst>
                <a:cxn ang="T6">
                  <a:pos x="T0" y="T1"/>
                </a:cxn>
                <a:cxn ang="T7">
                  <a:pos x="T2" y="T3"/>
                </a:cxn>
                <a:cxn ang="T8">
                  <a:pos x="T4" y="T5"/>
                </a:cxn>
              </a:cxnLst>
              <a:rect l="T9" t="T10" r="T11" b="T12"/>
              <a:pathLst>
                <a:path w="37377" h="43200" fill="none" extrusionOk="0">
                  <a:moveTo>
                    <a:pt x="949" y="5892"/>
                  </a:moveTo>
                  <a:cubicBezTo>
                    <a:pt x="4959" y="2108"/>
                    <a:pt x="10263" y="-1"/>
                    <a:pt x="15777" y="0"/>
                  </a:cubicBezTo>
                  <a:cubicBezTo>
                    <a:pt x="27706" y="0"/>
                    <a:pt x="37377" y="9670"/>
                    <a:pt x="37377" y="21600"/>
                  </a:cubicBezTo>
                  <a:cubicBezTo>
                    <a:pt x="37377" y="33529"/>
                    <a:pt x="27706" y="43200"/>
                    <a:pt x="15777" y="43200"/>
                  </a:cubicBezTo>
                  <a:cubicBezTo>
                    <a:pt x="9796" y="43200"/>
                    <a:pt x="4084" y="40720"/>
                    <a:pt x="-1" y="36352"/>
                  </a:cubicBezTo>
                </a:path>
                <a:path w="37377" h="43200" stroke="0" extrusionOk="0">
                  <a:moveTo>
                    <a:pt x="949" y="5892"/>
                  </a:moveTo>
                  <a:cubicBezTo>
                    <a:pt x="4959" y="2108"/>
                    <a:pt x="10263" y="-1"/>
                    <a:pt x="15777" y="0"/>
                  </a:cubicBezTo>
                  <a:cubicBezTo>
                    <a:pt x="27706" y="0"/>
                    <a:pt x="37377" y="9670"/>
                    <a:pt x="37377" y="21600"/>
                  </a:cubicBezTo>
                  <a:cubicBezTo>
                    <a:pt x="37377" y="33529"/>
                    <a:pt x="27706" y="43200"/>
                    <a:pt x="15777" y="43200"/>
                  </a:cubicBezTo>
                  <a:cubicBezTo>
                    <a:pt x="9796" y="43200"/>
                    <a:pt x="4084" y="40720"/>
                    <a:pt x="-1" y="36352"/>
                  </a:cubicBezTo>
                  <a:lnTo>
                    <a:pt x="15777" y="21600"/>
                  </a:lnTo>
                  <a:lnTo>
                    <a:pt x="949" y="5892"/>
                  </a:lnTo>
                  <a:close/>
                </a:path>
              </a:pathLst>
            </a:custGeom>
            <a:noFill/>
            <a:ln w="28575">
              <a:solidFill>
                <a:schemeClr val="tx1"/>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54" name="Arc 43">
              <a:extLst>
                <a:ext uri="{FF2B5EF4-FFF2-40B4-BE49-F238E27FC236}">
                  <a16:creationId xmlns:a16="http://schemas.microsoft.com/office/drawing/2014/main" id="{06E430DD-E814-293E-B7C8-AD5563652C8F}"/>
                </a:ext>
              </a:extLst>
            </p:cNvPr>
            <p:cNvSpPr>
              <a:spLocks/>
            </p:cNvSpPr>
            <p:nvPr/>
          </p:nvSpPr>
          <p:spPr bwMode="auto">
            <a:xfrm rot="-5400000" flipH="1" flipV="1">
              <a:off x="984" y="2266"/>
              <a:ext cx="325" cy="342"/>
            </a:xfrm>
            <a:custGeom>
              <a:avLst/>
              <a:gdLst>
                <a:gd name="T0" fmla="*/ 0 w 37377"/>
                <a:gd name="T1" fmla="*/ 0 h 43200"/>
                <a:gd name="T2" fmla="*/ 0 w 37377"/>
                <a:gd name="T3" fmla="*/ 0 h 43200"/>
                <a:gd name="T4" fmla="*/ 0 w 37377"/>
                <a:gd name="T5" fmla="*/ 0 h 43200"/>
                <a:gd name="T6" fmla="*/ 0 60000 65536"/>
                <a:gd name="T7" fmla="*/ 0 60000 65536"/>
                <a:gd name="T8" fmla="*/ 0 60000 65536"/>
                <a:gd name="T9" fmla="*/ 0 w 37377"/>
                <a:gd name="T10" fmla="*/ 0 h 43200"/>
                <a:gd name="T11" fmla="*/ 37377 w 37377"/>
                <a:gd name="T12" fmla="*/ 43200 h 43200"/>
              </a:gdLst>
              <a:ahLst/>
              <a:cxnLst>
                <a:cxn ang="T6">
                  <a:pos x="T0" y="T1"/>
                </a:cxn>
                <a:cxn ang="T7">
                  <a:pos x="T2" y="T3"/>
                </a:cxn>
                <a:cxn ang="T8">
                  <a:pos x="T4" y="T5"/>
                </a:cxn>
              </a:cxnLst>
              <a:rect l="T9" t="T10" r="T11" b="T12"/>
              <a:pathLst>
                <a:path w="37377" h="43200" fill="none" extrusionOk="0">
                  <a:moveTo>
                    <a:pt x="949" y="5892"/>
                  </a:moveTo>
                  <a:cubicBezTo>
                    <a:pt x="4959" y="2108"/>
                    <a:pt x="10263" y="-1"/>
                    <a:pt x="15777" y="0"/>
                  </a:cubicBezTo>
                  <a:cubicBezTo>
                    <a:pt x="27706" y="0"/>
                    <a:pt x="37377" y="9670"/>
                    <a:pt x="37377" y="21600"/>
                  </a:cubicBezTo>
                  <a:cubicBezTo>
                    <a:pt x="37377" y="33529"/>
                    <a:pt x="27706" y="43200"/>
                    <a:pt x="15777" y="43200"/>
                  </a:cubicBezTo>
                  <a:cubicBezTo>
                    <a:pt x="9796" y="43200"/>
                    <a:pt x="4084" y="40720"/>
                    <a:pt x="-1" y="36352"/>
                  </a:cubicBezTo>
                </a:path>
                <a:path w="37377" h="43200" stroke="0" extrusionOk="0">
                  <a:moveTo>
                    <a:pt x="949" y="5892"/>
                  </a:moveTo>
                  <a:cubicBezTo>
                    <a:pt x="4959" y="2108"/>
                    <a:pt x="10263" y="-1"/>
                    <a:pt x="15777" y="0"/>
                  </a:cubicBezTo>
                  <a:cubicBezTo>
                    <a:pt x="27706" y="0"/>
                    <a:pt x="37377" y="9670"/>
                    <a:pt x="37377" y="21600"/>
                  </a:cubicBezTo>
                  <a:cubicBezTo>
                    <a:pt x="37377" y="33529"/>
                    <a:pt x="27706" y="43200"/>
                    <a:pt x="15777" y="43200"/>
                  </a:cubicBezTo>
                  <a:cubicBezTo>
                    <a:pt x="9796" y="43200"/>
                    <a:pt x="4084" y="40720"/>
                    <a:pt x="-1" y="36352"/>
                  </a:cubicBezTo>
                  <a:lnTo>
                    <a:pt x="15777" y="21600"/>
                  </a:lnTo>
                  <a:lnTo>
                    <a:pt x="949" y="5892"/>
                  </a:lnTo>
                  <a:close/>
                </a:path>
              </a:pathLst>
            </a:custGeom>
            <a:noFill/>
            <a:ln w="28575">
              <a:solidFill>
                <a:schemeClr val="tx1"/>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55" name="Line 44">
              <a:extLst>
                <a:ext uri="{FF2B5EF4-FFF2-40B4-BE49-F238E27FC236}">
                  <a16:creationId xmlns:a16="http://schemas.microsoft.com/office/drawing/2014/main" id="{950418C2-3BAE-CF73-F5CF-9EB9700772A7}"/>
                </a:ext>
              </a:extLst>
            </p:cNvPr>
            <p:cNvSpPr>
              <a:spLocks noChangeShapeType="1"/>
            </p:cNvSpPr>
            <p:nvPr/>
          </p:nvSpPr>
          <p:spPr bwMode="auto">
            <a:xfrm>
              <a:off x="1339" y="2002"/>
              <a:ext cx="952"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7456" name="Line 45">
              <a:extLst>
                <a:ext uri="{FF2B5EF4-FFF2-40B4-BE49-F238E27FC236}">
                  <a16:creationId xmlns:a16="http://schemas.microsoft.com/office/drawing/2014/main" id="{78ABE360-5381-74B6-9EA6-8E134E08BF87}"/>
                </a:ext>
              </a:extLst>
            </p:cNvPr>
            <p:cNvSpPr>
              <a:spLocks noChangeShapeType="1"/>
            </p:cNvSpPr>
            <p:nvPr/>
          </p:nvSpPr>
          <p:spPr bwMode="auto">
            <a:xfrm>
              <a:off x="1355" y="2210"/>
              <a:ext cx="952" cy="0"/>
            </a:xfrm>
            <a:prstGeom prst="line">
              <a:avLst/>
            </a:prstGeom>
            <a:noFill/>
            <a:ln w="28575">
              <a:solidFill>
                <a:schemeClr val="tx1"/>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en-US"/>
            </a:p>
          </p:txBody>
        </p:sp>
        <p:sp>
          <p:nvSpPr>
            <p:cNvPr id="17457" name="Text Box 46">
              <a:extLst>
                <a:ext uri="{FF2B5EF4-FFF2-40B4-BE49-F238E27FC236}">
                  <a16:creationId xmlns:a16="http://schemas.microsoft.com/office/drawing/2014/main" id="{FE6C27BC-BE4B-DB3E-440E-1213496BF7E5}"/>
                </a:ext>
              </a:extLst>
            </p:cNvPr>
            <p:cNvSpPr txBox="1">
              <a:spLocks noChangeArrowheads="1"/>
            </p:cNvSpPr>
            <p:nvPr/>
          </p:nvSpPr>
          <p:spPr bwMode="auto">
            <a:xfrm>
              <a:off x="1056" y="1367"/>
              <a:ext cx="464"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01/1</a:t>
              </a:r>
              <a:endParaRPr lang="ru-RU" altLang="en-US" sz="2000"/>
            </a:p>
          </p:txBody>
        </p:sp>
        <p:sp>
          <p:nvSpPr>
            <p:cNvPr id="17458" name="Text Box 47">
              <a:extLst>
                <a:ext uri="{FF2B5EF4-FFF2-40B4-BE49-F238E27FC236}">
                  <a16:creationId xmlns:a16="http://schemas.microsoft.com/office/drawing/2014/main" id="{9BD39148-2259-74D3-A1A2-37925F5D89B0}"/>
                </a:ext>
              </a:extLst>
            </p:cNvPr>
            <p:cNvSpPr txBox="1">
              <a:spLocks noChangeArrowheads="1"/>
            </p:cNvSpPr>
            <p:nvPr/>
          </p:nvSpPr>
          <p:spPr bwMode="auto">
            <a:xfrm>
              <a:off x="963" y="2571"/>
              <a:ext cx="541"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10/1</a:t>
              </a:r>
              <a:endParaRPr lang="ru-RU" altLang="en-US" sz="2000"/>
            </a:p>
          </p:txBody>
        </p:sp>
        <p:sp>
          <p:nvSpPr>
            <p:cNvPr id="17459" name="Text Box 48">
              <a:extLst>
                <a:ext uri="{FF2B5EF4-FFF2-40B4-BE49-F238E27FC236}">
                  <a16:creationId xmlns:a16="http://schemas.microsoft.com/office/drawing/2014/main" id="{75905A08-2CBF-267D-17A9-FE224E443643}"/>
                </a:ext>
              </a:extLst>
            </p:cNvPr>
            <p:cNvSpPr txBox="1">
              <a:spLocks noChangeArrowheads="1"/>
            </p:cNvSpPr>
            <p:nvPr/>
          </p:nvSpPr>
          <p:spPr bwMode="auto">
            <a:xfrm>
              <a:off x="1520" y="1776"/>
              <a:ext cx="541"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11/0</a:t>
              </a:r>
              <a:endParaRPr lang="ru-RU" altLang="en-US" sz="2000"/>
            </a:p>
          </p:txBody>
        </p:sp>
        <p:sp>
          <p:nvSpPr>
            <p:cNvPr id="17460" name="Text Box 49">
              <a:extLst>
                <a:ext uri="{FF2B5EF4-FFF2-40B4-BE49-F238E27FC236}">
                  <a16:creationId xmlns:a16="http://schemas.microsoft.com/office/drawing/2014/main" id="{CBF25794-E429-FE69-55CE-2D57712CE86F}"/>
                </a:ext>
              </a:extLst>
            </p:cNvPr>
            <p:cNvSpPr txBox="1">
              <a:spLocks noChangeArrowheads="1"/>
            </p:cNvSpPr>
            <p:nvPr/>
          </p:nvSpPr>
          <p:spPr bwMode="auto">
            <a:xfrm>
              <a:off x="1475" y="2184"/>
              <a:ext cx="541"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00/1</a:t>
              </a:r>
              <a:endParaRPr lang="ru-RU" altLang="en-US" sz="2000"/>
            </a:p>
          </p:txBody>
        </p:sp>
        <p:sp>
          <p:nvSpPr>
            <p:cNvPr id="17461" name="Text Box 50">
              <a:extLst>
                <a:ext uri="{FF2B5EF4-FFF2-40B4-BE49-F238E27FC236}">
                  <a16:creationId xmlns:a16="http://schemas.microsoft.com/office/drawing/2014/main" id="{C64A99F3-F570-303D-F38E-DB428A23EC36}"/>
                </a:ext>
              </a:extLst>
            </p:cNvPr>
            <p:cNvSpPr txBox="1">
              <a:spLocks noChangeArrowheads="1"/>
            </p:cNvSpPr>
            <p:nvPr/>
          </p:nvSpPr>
          <p:spPr bwMode="auto">
            <a:xfrm>
              <a:off x="3017" y="1957"/>
              <a:ext cx="541"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11/1</a:t>
              </a:r>
              <a:endParaRPr lang="ru-RU" altLang="en-US" sz="2000"/>
            </a:p>
          </p:txBody>
        </p:sp>
        <p:sp>
          <p:nvSpPr>
            <p:cNvPr id="17462" name="Text Box 51">
              <a:extLst>
                <a:ext uri="{FF2B5EF4-FFF2-40B4-BE49-F238E27FC236}">
                  <a16:creationId xmlns:a16="http://schemas.microsoft.com/office/drawing/2014/main" id="{989A3D93-A611-ABDF-E5C7-86E88AE529E6}"/>
                </a:ext>
              </a:extLst>
            </p:cNvPr>
            <p:cNvSpPr txBox="1">
              <a:spLocks noChangeArrowheads="1"/>
            </p:cNvSpPr>
            <p:nvPr/>
          </p:nvSpPr>
          <p:spPr bwMode="auto">
            <a:xfrm>
              <a:off x="2201" y="2592"/>
              <a:ext cx="541"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10/0</a:t>
              </a:r>
              <a:endParaRPr lang="ru-RU" altLang="en-US" sz="2000"/>
            </a:p>
          </p:txBody>
        </p:sp>
        <p:sp>
          <p:nvSpPr>
            <p:cNvPr id="17463" name="Text Box 52">
              <a:extLst>
                <a:ext uri="{FF2B5EF4-FFF2-40B4-BE49-F238E27FC236}">
                  <a16:creationId xmlns:a16="http://schemas.microsoft.com/office/drawing/2014/main" id="{0741617D-1E7A-8360-EB4C-9B6FAD154916}"/>
                </a:ext>
              </a:extLst>
            </p:cNvPr>
            <p:cNvSpPr txBox="1">
              <a:spLocks noChangeArrowheads="1"/>
            </p:cNvSpPr>
            <p:nvPr/>
          </p:nvSpPr>
          <p:spPr bwMode="auto">
            <a:xfrm>
              <a:off x="2254" y="1367"/>
              <a:ext cx="541"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01/0</a:t>
              </a:r>
              <a:endParaRPr lang="ru-RU" altLang="en-US" sz="2000"/>
            </a:p>
          </p:txBody>
        </p:sp>
        <p:sp>
          <p:nvSpPr>
            <p:cNvPr id="17464" name="Text Box 53">
              <a:extLst>
                <a:ext uri="{FF2B5EF4-FFF2-40B4-BE49-F238E27FC236}">
                  <a16:creationId xmlns:a16="http://schemas.microsoft.com/office/drawing/2014/main" id="{F76E0385-3C7E-D316-F0DF-CDC296055D40}"/>
                </a:ext>
              </a:extLst>
            </p:cNvPr>
            <p:cNvSpPr txBox="1">
              <a:spLocks noChangeArrowheads="1"/>
            </p:cNvSpPr>
            <p:nvPr/>
          </p:nvSpPr>
          <p:spPr bwMode="auto">
            <a:xfrm>
              <a:off x="254" y="1935"/>
              <a:ext cx="541"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00/0</a:t>
              </a:r>
              <a:endParaRPr lang="ru-RU" altLang="en-US" sz="2000"/>
            </a:p>
          </p:txBody>
        </p:sp>
      </p:grpSp>
      <p:sp>
        <p:nvSpPr>
          <p:cNvPr id="17414" name="TextBox 28">
            <a:extLst>
              <a:ext uri="{FF2B5EF4-FFF2-40B4-BE49-F238E27FC236}">
                <a16:creationId xmlns:a16="http://schemas.microsoft.com/office/drawing/2014/main" id="{C152539D-3E52-613A-1039-F558196F3091}"/>
              </a:ext>
            </a:extLst>
          </p:cNvPr>
          <p:cNvSpPr txBox="1">
            <a:spLocks noChangeArrowheads="1"/>
          </p:cNvSpPr>
          <p:nvPr/>
        </p:nvSpPr>
        <p:spPr bwMode="auto">
          <a:xfrm>
            <a:off x="4760913" y="4532313"/>
            <a:ext cx="20701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a:t>Mealy  FSM</a:t>
            </a:r>
          </a:p>
          <a:p>
            <a:pPr eaLnBrk="1" hangingPunct="1"/>
            <a:endParaRPr lang="en-GB" altLang="en-US"/>
          </a:p>
        </p:txBody>
      </p:sp>
      <p:grpSp>
        <p:nvGrpSpPr>
          <p:cNvPr id="17415" name="Group 1">
            <a:extLst>
              <a:ext uri="{FF2B5EF4-FFF2-40B4-BE49-F238E27FC236}">
                <a16:creationId xmlns:a16="http://schemas.microsoft.com/office/drawing/2014/main" id="{C5F08A56-06C2-CBA5-FCA2-F059B283A6BE}"/>
              </a:ext>
            </a:extLst>
          </p:cNvPr>
          <p:cNvGrpSpPr>
            <a:grpSpLocks/>
          </p:cNvGrpSpPr>
          <p:nvPr/>
        </p:nvGrpSpPr>
        <p:grpSpPr bwMode="auto">
          <a:xfrm>
            <a:off x="7396164" y="2230439"/>
            <a:ext cx="2509837" cy="922337"/>
            <a:chOff x="5496560" y="2229666"/>
            <a:chExt cx="2509203" cy="923330"/>
          </a:xfrm>
        </p:grpSpPr>
        <p:sp>
          <p:nvSpPr>
            <p:cNvPr id="17441" name="TextBox 43">
              <a:extLst>
                <a:ext uri="{FF2B5EF4-FFF2-40B4-BE49-F238E27FC236}">
                  <a16:creationId xmlns:a16="http://schemas.microsoft.com/office/drawing/2014/main" id="{A378223D-993C-9F5D-EFEE-5F71E7F69C3F}"/>
                </a:ext>
              </a:extLst>
            </p:cNvPr>
            <p:cNvSpPr txBox="1">
              <a:spLocks noChangeArrowheads="1"/>
            </p:cNvSpPr>
            <p:nvPr/>
          </p:nvSpPr>
          <p:spPr bwMode="auto">
            <a:xfrm>
              <a:off x="5496560" y="2229666"/>
              <a:ext cx="250920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1800"/>
                <a:t>    </a:t>
              </a:r>
              <a:r>
                <a:rPr lang="ru-RU" altLang="en-US" sz="1800" baseline="-25000"/>
                <a:t>+  </a:t>
              </a:r>
              <a:r>
                <a:rPr lang="ru-RU" altLang="en-US" sz="1800"/>
                <a:t>0 1 1 0 1 1 1 0</a:t>
              </a:r>
            </a:p>
            <a:p>
              <a:pPr eaLnBrk="1" hangingPunct="1"/>
              <a:r>
                <a:rPr lang="ru-RU" altLang="en-US" sz="1800"/>
                <a:t>       </a:t>
              </a:r>
              <a:r>
                <a:rPr lang="ru-RU" altLang="en-US" sz="1800" u="sng"/>
                <a:t>1 0 1 0 0 1 0 1</a:t>
              </a:r>
            </a:p>
            <a:p>
              <a:pPr eaLnBrk="1" hangingPunct="1"/>
              <a:r>
                <a:rPr lang="ru-RU" altLang="en-US" sz="1800"/>
                <a:t>     10 0 0 1 0 0 1 1</a:t>
              </a:r>
              <a:endParaRPr lang="en-GB" altLang="en-US" sz="1800"/>
            </a:p>
          </p:txBody>
        </p:sp>
        <p:sp>
          <p:nvSpPr>
            <p:cNvPr id="45" name="Freeform 44">
              <a:extLst>
                <a:ext uri="{FF2B5EF4-FFF2-40B4-BE49-F238E27FC236}">
                  <a16:creationId xmlns:a16="http://schemas.microsoft.com/office/drawing/2014/main" id="{55E0F26F-2592-4450-BCB4-F97A0135A708}"/>
                </a:ext>
              </a:extLst>
            </p:cNvPr>
            <p:cNvSpPr/>
            <p:nvPr/>
          </p:nvSpPr>
          <p:spPr>
            <a:xfrm>
              <a:off x="6882097" y="2240790"/>
              <a:ext cx="177755" cy="112834"/>
            </a:xfrm>
            <a:custGeom>
              <a:avLst/>
              <a:gdLst>
                <a:gd name="connsiteX0" fmla="*/ 178130 w 178130"/>
                <a:gd name="connsiteY0" fmla="*/ 112816 h 112816"/>
                <a:gd name="connsiteX1" fmla="*/ 95002 w 178130"/>
                <a:gd name="connsiteY1" fmla="*/ 5938 h 112816"/>
                <a:gd name="connsiteX2" fmla="*/ 0 w 178130"/>
                <a:gd name="connsiteY2" fmla="*/ 77190 h 112816"/>
                <a:gd name="connsiteX3" fmla="*/ 0 w 178130"/>
                <a:gd name="connsiteY3" fmla="*/ 77190 h 112816"/>
              </a:gdLst>
              <a:ahLst/>
              <a:cxnLst>
                <a:cxn ang="0">
                  <a:pos x="connsiteX0" y="connsiteY0"/>
                </a:cxn>
                <a:cxn ang="0">
                  <a:pos x="connsiteX1" y="connsiteY1"/>
                </a:cxn>
                <a:cxn ang="0">
                  <a:pos x="connsiteX2" y="connsiteY2"/>
                </a:cxn>
                <a:cxn ang="0">
                  <a:pos x="connsiteX3" y="connsiteY3"/>
                </a:cxn>
              </a:cxnLst>
              <a:rect l="l" t="t" r="r" b="b"/>
              <a:pathLst>
                <a:path w="178130" h="112816">
                  <a:moveTo>
                    <a:pt x="178130" y="112816"/>
                  </a:moveTo>
                  <a:cubicBezTo>
                    <a:pt x="151410" y="62346"/>
                    <a:pt x="124690" y="11876"/>
                    <a:pt x="95002" y="5938"/>
                  </a:cubicBezTo>
                  <a:cubicBezTo>
                    <a:pt x="65314" y="0"/>
                    <a:pt x="0" y="77190"/>
                    <a:pt x="0" y="77190"/>
                  </a:cubicBezTo>
                  <a:lnTo>
                    <a:pt x="0" y="77190"/>
                  </a:lnTo>
                </a:path>
              </a:pathLst>
            </a:cu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46" name="Freeform 45">
              <a:extLst>
                <a:ext uri="{FF2B5EF4-FFF2-40B4-BE49-F238E27FC236}">
                  <a16:creationId xmlns:a16="http://schemas.microsoft.com/office/drawing/2014/main" id="{DA67B29B-F015-4F7E-BC7A-FFD6A78D8314}"/>
                </a:ext>
              </a:extLst>
            </p:cNvPr>
            <p:cNvSpPr/>
            <p:nvPr/>
          </p:nvSpPr>
          <p:spPr>
            <a:xfrm>
              <a:off x="6313915" y="2231255"/>
              <a:ext cx="177755" cy="112834"/>
            </a:xfrm>
            <a:custGeom>
              <a:avLst/>
              <a:gdLst>
                <a:gd name="connsiteX0" fmla="*/ 178130 w 178130"/>
                <a:gd name="connsiteY0" fmla="*/ 112816 h 112816"/>
                <a:gd name="connsiteX1" fmla="*/ 95002 w 178130"/>
                <a:gd name="connsiteY1" fmla="*/ 5938 h 112816"/>
                <a:gd name="connsiteX2" fmla="*/ 0 w 178130"/>
                <a:gd name="connsiteY2" fmla="*/ 77190 h 112816"/>
                <a:gd name="connsiteX3" fmla="*/ 0 w 178130"/>
                <a:gd name="connsiteY3" fmla="*/ 77190 h 112816"/>
              </a:gdLst>
              <a:ahLst/>
              <a:cxnLst>
                <a:cxn ang="0">
                  <a:pos x="connsiteX0" y="connsiteY0"/>
                </a:cxn>
                <a:cxn ang="0">
                  <a:pos x="connsiteX1" y="connsiteY1"/>
                </a:cxn>
                <a:cxn ang="0">
                  <a:pos x="connsiteX2" y="connsiteY2"/>
                </a:cxn>
                <a:cxn ang="0">
                  <a:pos x="connsiteX3" y="connsiteY3"/>
                </a:cxn>
              </a:cxnLst>
              <a:rect l="l" t="t" r="r" b="b"/>
              <a:pathLst>
                <a:path w="178130" h="112816">
                  <a:moveTo>
                    <a:pt x="178130" y="112816"/>
                  </a:moveTo>
                  <a:cubicBezTo>
                    <a:pt x="151410" y="62346"/>
                    <a:pt x="124690" y="11876"/>
                    <a:pt x="95002" y="5938"/>
                  </a:cubicBezTo>
                  <a:cubicBezTo>
                    <a:pt x="65314" y="0"/>
                    <a:pt x="0" y="77190"/>
                    <a:pt x="0" y="77190"/>
                  </a:cubicBezTo>
                  <a:lnTo>
                    <a:pt x="0" y="77190"/>
                  </a:lnTo>
                </a:path>
              </a:pathLst>
            </a:cu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47" name="Freeform 46">
              <a:extLst>
                <a:ext uri="{FF2B5EF4-FFF2-40B4-BE49-F238E27FC236}">
                  <a16:creationId xmlns:a16="http://schemas.microsoft.com/office/drawing/2014/main" id="{F2755D55-08BC-43EC-8BBA-93538027E895}"/>
                </a:ext>
              </a:extLst>
            </p:cNvPr>
            <p:cNvSpPr/>
            <p:nvPr/>
          </p:nvSpPr>
          <p:spPr>
            <a:xfrm>
              <a:off x="6061567" y="2231255"/>
              <a:ext cx="177755" cy="112834"/>
            </a:xfrm>
            <a:custGeom>
              <a:avLst/>
              <a:gdLst>
                <a:gd name="connsiteX0" fmla="*/ 178130 w 178130"/>
                <a:gd name="connsiteY0" fmla="*/ 112816 h 112816"/>
                <a:gd name="connsiteX1" fmla="*/ 95002 w 178130"/>
                <a:gd name="connsiteY1" fmla="*/ 5938 h 112816"/>
                <a:gd name="connsiteX2" fmla="*/ 0 w 178130"/>
                <a:gd name="connsiteY2" fmla="*/ 77190 h 112816"/>
                <a:gd name="connsiteX3" fmla="*/ 0 w 178130"/>
                <a:gd name="connsiteY3" fmla="*/ 77190 h 112816"/>
              </a:gdLst>
              <a:ahLst/>
              <a:cxnLst>
                <a:cxn ang="0">
                  <a:pos x="connsiteX0" y="connsiteY0"/>
                </a:cxn>
                <a:cxn ang="0">
                  <a:pos x="connsiteX1" y="connsiteY1"/>
                </a:cxn>
                <a:cxn ang="0">
                  <a:pos x="connsiteX2" y="connsiteY2"/>
                </a:cxn>
                <a:cxn ang="0">
                  <a:pos x="connsiteX3" y="connsiteY3"/>
                </a:cxn>
              </a:cxnLst>
              <a:rect l="l" t="t" r="r" b="b"/>
              <a:pathLst>
                <a:path w="178130" h="112816">
                  <a:moveTo>
                    <a:pt x="178130" y="112816"/>
                  </a:moveTo>
                  <a:cubicBezTo>
                    <a:pt x="151410" y="62346"/>
                    <a:pt x="124690" y="11876"/>
                    <a:pt x="95002" y="5938"/>
                  </a:cubicBezTo>
                  <a:cubicBezTo>
                    <a:pt x="65314" y="0"/>
                    <a:pt x="0" y="77190"/>
                    <a:pt x="0" y="77190"/>
                  </a:cubicBezTo>
                  <a:lnTo>
                    <a:pt x="0" y="77190"/>
                  </a:lnTo>
                </a:path>
              </a:pathLst>
            </a:cu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48" name="Freeform 47">
              <a:extLst>
                <a:ext uri="{FF2B5EF4-FFF2-40B4-BE49-F238E27FC236}">
                  <a16:creationId xmlns:a16="http://schemas.microsoft.com/office/drawing/2014/main" id="{EB3EDACF-CDF9-4926-A64E-66F26469EEF0}"/>
                </a:ext>
              </a:extLst>
            </p:cNvPr>
            <p:cNvSpPr/>
            <p:nvPr/>
          </p:nvSpPr>
          <p:spPr>
            <a:xfrm>
              <a:off x="5852070" y="2255093"/>
              <a:ext cx="177755" cy="112833"/>
            </a:xfrm>
            <a:custGeom>
              <a:avLst/>
              <a:gdLst>
                <a:gd name="connsiteX0" fmla="*/ 178130 w 178130"/>
                <a:gd name="connsiteY0" fmla="*/ 112816 h 112816"/>
                <a:gd name="connsiteX1" fmla="*/ 95002 w 178130"/>
                <a:gd name="connsiteY1" fmla="*/ 5938 h 112816"/>
                <a:gd name="connsiteX2" fmla="*/ 0 w 178130"/>
                <a:gd name="connsiteY2" fmla="*/ 77190 h 112816"/>
                <a:gd name="connsiteX3" fmla="*/ 0 w 178130"/>
                <a:gd name="connsiteY3" fmla="*/ 77190 h 112816"/>
              </a:gdLst>
              <a:ahLst/>
              <a:cxnLst>
                <a:cxn ang="0">
                  <a:pos x="connsiteX0" y="connsiteY0"/>
                </a:cxn>
                <a:cxn ang="0">
                  <a:pos x="connsiteX1" y="connsiteY1"/>
                </a:cxn>
                <a:cxn ang="0">
                  <a:pos x="connsiteX2" y="connsiteY2"/>
                </a:cxn>
                <a:cxn ang="0">
                  <a:pos x="connsiteX3" y="connsiteY3"/>
                </a:cxn>
              </a:cxnLst>
              <a:rect l="l" t="t" r="r" b="b"/>
              <a:pathLst>
                <a:path w="178130" h="112816">
                  <a:moveTo>
                    <a:pt x="178130" y="112816"/>
                  </a:moveTo>
                  <a:cubicBezTo>
                    <a:pt x="151410" y="62346"/>
                    <a:pt x="124690" y="11876"/>
                    <a:pt x="95002" y="5938"/>
                  </a:cubicBezTo>
                  <a:cubicBezTo>
                    <a:pt x="65314" y="0"/>
                    <a:pt x="0" y="77190"/>
                    <a:pt x="0" y="77190"/>
                  </a:cubicBezTo>
                  <a:lnTo>
                    <a:pt x="0" y="77190"/>
                  </a:lnTo>
                </a:path>
              </a:pathLst>
            </a:cu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49" name="Freeform 48">
              <a:extLst>
                <a:ext uri="{FF2B5EF4-FFF2-40B4-BE49-F238E27FC236}">
                  <a16:creationId xmlns:a16="http://schemas.microsoft.com/office/drawing/2014/main" id="{E0E52243-0452-4BD6-95CE-009402A60658}"/>
                </a:ext>
              </a:extLst>
            </p:cNvPr>
            <p:cNvSpPr/>
            <p:nvPr/>
          </p:nvSpPr>
          <p:spPr>
            <a:xfrm>
              <a:off x="6651968" y="2232844"/>
              <a:ext cx="177755" cy="112833"/>
            </a:xfrm>
            <a:custGeom>
              <a:avLst/>
              <a:gdLst>
                <a:gd name="connsiteX0" fmla="*/ 178130 w 178130"/>
                <a:gd name="connsiteY0" fmla="*/ 112816 h 112816"/>
                <a:gd name="connsiteX1" fmla="*/ 95002 w 178130"/>
                <a:gd name="connsiteY1" fmla="*/ 5938 h 112816"/>
                <a:gd name="connsiteX2" fmla="*/ 0 w 178130"/>
                <a:gd name="connsiteY2" fmla="*/ 77190 h 112816"/>
                <a:gd name="connsiteX3" fmla="*/ 0 w 178130"/>
                <a:gd name="connsiteY3" fmla="*/ 77190 h 112816"/>
              </a:gdLst>
              <a:ahLst/>
              <a:cxnLst>
                <a:cxn ang="0">
                  <a:pos x="connsiteX0" y="connsiteY0"/>
                </a:cxn>
                <a:cxn ang="0">
                  <a:pos x="connsiteX1" y="connsiteY1"/>
                </a:cxn>
                <a:cxn ang="0">
                  <a:pos x="connsiteX2" y="connsiteY2"/>
                </a:cxn>
                <a:cxn ang="0">
                  <a:pos x="connsiteX3" y="connsiteY3"/>
                </a:cxn>
              </a:cxnLst>
              <a:rect l="l" t="t" r="r" b="b"/>
              <a:pathLst>
                <a:path w="178130" h="112816">
                  <a:moveTo>
                    <a:pt x="178130" y="112816"/>
                  </a:moveTo>
                  <a:cubicBezTo>
                    <a:pt x="151410" y="62346"/>
                    <a:pt x="124690" y="11876"/>
                    <a:pt x="95002" y="5938"/>
                  </a:cubicBezTo>
                  <a:cubicBezTo>
                    <a:pt x="65314" y="0"/>
                    <a:pt x="0" y="77190"/>
                    <a:pt x="0" y="77190"/>
                  </a:cubicBezTo>
                  <a:lnTo>
                    <a:pt x="0" y="77190"/>
                  </a:lnTo>
                </a:path>
              </a:pathLst>
            </a:cu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grpSp>
      <p:graphicFrame>
        <p:nvGraphicFramePr>
          <p:cNvPr id="37" name="Table 36">
            <a:extLst>
              <a:ext uri="{FF2B5EF4-FFF2-40B4-BE49-F238E27FC236}">
                <a16:creationId xmlns:a16="http://schemas.microsoft.com/office/drawing/2014/main" id="{0FF24B37-02EB-4401-8102-74444A4310DC}"/>
              </a:ext>
            </a:extLst>
          </p:cNvPr>
          <p:cNvGraphicFramePr>
            <a:graphicFrameLocks noGrp="1"/>
          </p:cNvGraphicFramePr>
          <p:nvPr/>
        </p:nvGraphicFramePr>
        <p:xfrm>
          <a:off x="6899276" y="4151314"/>
          <a:ext cx="3394074" cy="987426"/>
        </p:xfrm>
        <a:graphic>
          <a:graphicData uri="http://schemas.openxmlformats.org/drawingml/2006/table">
            <a:tbl>
              <a:tblPr/>
              <a:tblGrid>
                <a:gridCol w="848519">
                  <a:extLst>
                    <a:ext uri="{9D8B030D-6E8A-4147-A177-3AD203B41FA5}">
                      <a16:colId xmlns:a16="http://schemas.microsoft.com/office/drawing/2014/main" val="20000"/>
                    </a:ext>
                  </a:extLst>
                </a:gridCol>
                <a:gridCol w="669158">
                  <a:extLst>
                    <a:ext uri="{9D8B030D-6E8A-4147-A177-3AD203B41FA5}">
                      <a16:colId xmlns:a16="http://schemas.microsoft.com/office/drawing/2014/main" val="20001"/>
                    </a:ext>
                  </a:extLst>
                </a:gridCol>
                <a:gridCol w="610135">
                  <a:extLst>
                    <a:ext uri="{9D8B030D-6E8A-4147-A177-3AD203B41FA5}">
                      <a16:colId xmlns:a16="http://schemas.microsoft.com/office/drawing/2014/main" val="20002"/>
                    </a:ext>
                  </a:extLst>
                </a:gridCol>
                <a:gridCol w="600938">
                  <a:extLst>
                    <a:ext uri="{9D8B030D-6E8A-4147-A177-3AD203B41FA5}">
                      <a16:colId xmlns:a16="http://schemas.microsoft.com/office/drawing/2014/main" val="20003"/>
                    </a:ext>
                  </a:extLst>
                </a:gridCol>
                <a:gridCol w="665324">
                  <a:extLst>
                    <a:ext uri="{9D8B030D-6E8A-4147-A177-3AD203B41FA5}">
                      <a16:colId xmlns:a16="http://schemas.microsoft.com/office/drawing/2014/main" val="20004"/>
                    </a:ext>
                  </a:extLst>
                </a:gridCol>
              </a:tblGrid>
              <a:tr h="32914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just">
                        <a:spcAft>
                          <a:spcPts val="0"/>
                        </a:spcAft>
                      </a:pPr>
                      <a:r>
                        <a:rPr lang="en-US" sz="1800" dirty="0">
                          <a:latin typeface="Times New Roman"/>
                          <a:ea typeface="Times New Roman"/>
                          <a:cs typeface="Times New Roman"/>
                        </a:rPr>
                        <a:t>S       X</a:t>
                      </a:r>
                      <a:endParaRPr lang="en-GB" sz="1800" dirty="0">
                        <a:latin typeface="Times New Roman"/>
                        <a:ea typeface="Times New Roman"/>
                        <a:cs typeface="Times New Roman"/>
                      </a:endParaRPr>
                    </a:p>
                  </a:txBody>
                  <a:tcPr marL="68565" marR="68565" marT="0" marB="0">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spcAft>
                          <a:spcPts val="0"/>
                        </a:spcAft>
                      </a:pPr>
                      <a:r>
                        <a:rPr lang="en-US" sz="1800" dirty="0">
                          <a:latin typeface="Times New Roman"/>
                          <a:ea typeface="Times New Roman"/>
                          <a:cs typeface="Times New Roman"/>
                        </a:rPr>
                        <a:t>00</a:t>
                      </a:r>
                      <a:endParaRPr lang="en-GB" sz="1800" dirty="0">
                        <a:latin typeface="Times New Roman"/>
                        <a:ea typeface="Times New Roman"/>
                        <a:cs typeface="Times New Roman"/>
                      </a:endParaRPr>
                    </a:p>
                  </a:txBody>
                  <a:tcPr marL="68565" marR="68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spcAft>
                          <a:spcPts val="0"/>
                        </a:spcAft>
                      </a:pPr>
                      <a:r>
                        <a:rPr lang="en-US" sz="1800" dirty="0">
                          <a:latin typeface="Times New Roman"/>
                          <a:ea typeface="Times New Roman"/>
                          <a:cs typeface="Times New Roman"/>
                        </a:rPr>
                        <a:t>01</a:t>
                      </a:r>
                      <a:endParaRPr lang="en-GB" sz="1800" dirty="0">
                        <a:latin typeface="Times New Roman"/>
                        <a:ea typeface="Times New Roman"/>
                        <a:cs typeface="Times New Roman"/>
                      </a:endParaRPr>
                    </a:p>
                  </a:txBody>
                  <a:tcPr marL="68565" marR="68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spcAft>
                          <a:spcPts val="0"/>
                        </a:spcAft>
                      </a:pPr>
                      <a:r>
                        <a:rPr lang="en-US" sz="1800" dirty="0">
                          <a:latin typeface="Times New Roman"/>
                          <a:ea typeface="Times New Roman"/>
                          <a:cs typeface="Times New Roman"/>
                        </a:rPr>
                        <a:t>10</a:t>
                      </a:r>
                      <a:endParaRPr lang="en-GB" sz="1800" dirty="0">
                        <a:latin typeface="Times New Roman"/>
                        <a:ea typeface="Times New Roman"/>
                        <a:cs typeface="Times New Roman"/>
                      </a:endParaRPr>
                    </a:p>
                  </a:txBody>
                  <a:tcPr marL="68565" marR="68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spcAft>
                          <a:spcPts val="0"/>
                        </a:spcAft>
                      </a:pPr>
                      <a:r>
                        <a:rPr lang="en-US" sz="1800" dirty="0">
                          <a:latin typeface="Times New Roman"/>
                          <a:ea typeface="Times New Roman"/>
                          <a:cs typeface="Times New Roman"/>
                        </a:rPr>
                        <a:t>11</a:t>
                      </a:r>
                      <a:endParaRPr lang="en-GB" sz="1800" dirty="0">
                        <a:latin typeface="Times New Roman"/>
                        <a:ea typeface="Times New Roman"/>
                        <a:cs typeface="Times New Roman"/>
                      </a:endParaRPr>
                    </a:p>
                  </a:txBody>
                  <a:tcPr marL="68565" marR="68565" marT="0" marB="0">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2914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indent="274320" algn="just">
                        <a:spcAft>
                          <a:spcPts val="0"/>
                        </a:spcAft>
                      </a:pPr>
                      <a:r>
                        <a:rPr lang="en-US" sz="1800">
                          <a:latin typeface="Times New Roman"/>
                          <a:ea typeface="Times New Roman"/>
                          <a:cs typeface="Times New Roman"/>
                        </a:rPr>
                        <a:t>0</a:t>
                      </a:r>
                      <a:endParaRPr lang="en-GB" sz="1800">
                        <a:latin typeface="Times New Roman"/>
                        <a:ea typeface="Times New Roman"/>
                        <a:cs typeface="Times New Roman"/>
                      </a:endParaRPr>
                    </a:p>
                  </a:txBody>
                  <a:tcPr marL="68565" marR="68565" marT="0" marB="0">
                    <a:lnL>
                      <a:noFill/>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spcAft>
                          <a:spcPts val="0"/>
                        </a:spcAft>
                      </a:pPr>
                      <a:r>
                        <a:rPr lang="en-US" sz="1800">
                          <a:latin typeface="Times New Roman"/>
                          <a:ea typeface="Times New Roman"/>
                          <a:cs typeface="Times New Roman"/>
                        </a:rPr>
                        <a:t>0/0</a:t>
                      </a:r>
                      <a:endParaRPr lang="en-GB" sz="1800">
                        <a:latin typeface="Times New Roman"/>
                        <a:ea typeface="Times New Roman"/>
                        <a:cs typeface="Times New Roman"/>
                      </a:endParaRPr>
                    </a:p>
                  </a:txBody>
                  <a:tcPr marL="68565" marR="68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spcAft>
                          <a:spcPts val="0"/>
                        </a:spcAft>
                      </a:pPr>
                      <a:r>
                        <a:rPr lang="en-US" sz="1800">
                          <a:latin typeface="Times New Roman"/>
                          <a:ea typeface="Times New Roman"/>
                          <a:cs typeface="Times New Roman"/>
                        </a:rPr>
                        <a:t>0/1</a:t>
                      </a:r>
                      <a:endParaRPr lang="en-GB" sz="1800">
                        <a:latin typeface="Times New Roman"/>
                        <a:ea typeface="Times New Roman"/>
                        <a:cs typeface="Times New Roman"/>
                      </a:endParaRPr>
                    </a:p>
                  </a:txBody>
                  <a:tcPr marL="68565" marR="68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spcAft>
                          <a:spcPts val="0"/>
                        </a:spcAft>
                      </a:pPr>
                      <a:r>
                        <a:rPr lang="en-US" sz="1800">
                          <a:latin typeface="Times New Roman"/>
                          <a:ea typeface="Times New Roman"/>
                          <a:cs typeface="Times New Roman"/>
                        </a:rPr>
                        <a:t>0/1</a:t>
                      </a:r>
                      <a:endParaRPr lang="en-GB" sz="1800">
                        <a:latin typeface="Times New Roman"/>
                        <a:ea typeface="Times New Roman"/>
                        <a:cs typeface="Times New Roman"/>
                      </a:endParaRPr>
                    </a:p>
                  </a:txBody>
                  <a:tcPr marL="68565" marR="68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spcAft>
                          <a:spcPts val="0"/>
                        </a:spcAft>
                      </a:pPr>
                      <a:r>
                        <a:rPr lang="en-US" sz="1800" dirty="0">
                          <a:latin typeface="Times New Roman"/>
                          <a:ea typeface="Times New Roman"/>
                          <a:cs typeface="Times New Roman"/>
                        </a:rPr>
                        <a:t>1/0</a:t>
                      </a:r>
                      <a:endParaRPr lang="en-GB" sz="1800" dirty="0">
                        <a:latin typeface="Times New Roman"/>
                        <a:ea typeface="Times New Roman"/>
                        <a:cs typeface="Times New Roman"/>
                      </a:endParaRPr>
                    </a:p>
                  </a:txBody>
                  <a:tcPr marL="68565" marR="68565" marT="0" marB="0">
                    <a:lnL w="12700" cap="flat" cmpd="sng" algn="ctr">
                      <a:solidFill>
                        <a:srgbClr val="000000"/>
                      </a:solidFill>
                      <a:prstDash val="solid"/>
                      <a:round/>
                      <a:headEnd type="none" w="med" len="med"/>
                      <a:tailEnd type="none" w="med" len="med"/>
                    </a:lnL>
                    <a:lnR>
                      <a:noFill/>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2914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indent="271780" algn="just">
                        <a:spcAft>
                          <a:spcPts val="0"/>
                        </a:spcAft>
                      </a:pPr>
                      <a:r>
                        <a:rPr lang="en-US" sz="1800" dirty="0">
                          <a:latin typeface="Times New Roman"/>
                          <a:ea typeface="Times New Roman"/>
                          <a:cs typeface="Times New Roman"/>
                        </a:rPr>
                        <a:t>1</a:t>
                      </a:r>
                      <a:endParaRPr lang="en-GB" sz="1800" dirty="0">
                        <a:latin typeface="Times New Roman"/>
                        <a:ea typeface="Times New Roman"/>
                        <a:cs typeface="Times New Roman"/>
                      </a:endParaRPr>
                    </a:p>
                  </a:txBody>
                  <a:tcPr marL="68565" marR="68565"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just">
                        <a:spcAft>
                          <a:spcPts val="0"/>
                        </a:spcAft>
                      </a:pPr>
                      <a:r>
                        <a:rPr lang="en-US" sz="1800" dirty="0">
                          <a:latin typeface="Times New Roman"/>
                          <a:ea typeface="Times New Roman"/>
                          <a:cs typeface="Times New Roman"/>
                        </a:rPr>
                        <a:t>0/1</a:t>
                      </a:r>
                      <a:endParaRPr lang="en-GB" sz="1800" dirty="0">
                        <a:latin typeface="Times New Roman"/>
                        <a:ea typeface="Times New Roman"/>
                        <a:cs typeface="Times New Roman"/>
                      </a:endParaRPr>
                    </a:p>
                  </a:txBody>
                  <a:tcPr marL="68565" marR="68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spcAft>
                          <a:spcPts val="0"/>
                        </a:spcAft>
                      </a:pPr>
                      <a:r>
                        <a:rPr lang="en-US" sz="1800">
                          <a:latin typeface="Times New Roman"/>
                          <a:ea typeface="Times New Roman"/>
                          <a:cs typeface="Times New Roman"/>
                        </a:rPr>
                        <a:t>1/0</a:t>
                      </a:r>
                      <a:endParaRPr lang="en-GB" sz="1800">
                        <a:latin typeface="Times New Roman"/>
                        <a:ea typeface="Times New Roman"/>
                        <a:cs typeface="Times New Roman"/>
                      </a:endParaRPr>
                    </a:p>
                  </a:txBody>
                  <a:tcPr marL="68565" marR="68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spcAft>
                          <a:spcPts val="0"/>
                        </a:spcAft>
                      </a:pPr>
                      <a:r>
                        <a:rPr lang="en-US" sz="1800">
                          <a:latin typeface="Times New Roman"/>
                          <a:ea typeface="Times New Roman"/>
                          <a:cs typeface="Times New Roman"/>
                        </a:rPr>
                        <a:t>1/0</a:t>
                      </a:r>
                      <a:endParaRPr lang="en-GB" sz="1800">
                        <a:latin typeface="Times New Roman"/>
                        <a:ea typeface="Times New Roman"/>
                        <a:cs typeface="Times New Roman"/>
                      </a:endParaRPr>
                    </a:p>
                  </a:txBody>
                  <a:tcPr marL="68565" marR="68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spcAft>
                          <a:spcPts val="0"/>
                        </a:spcAft>
                      </a:pPr>
                      <a:r>
                        <a:rPr lang="en-US" sz="1800" dirty="0">
                          <a:latin typeface="Times New Roman"/>
                          <a:ea typeface="Times New Roman"/>
                          <a:cs typeface="Times New Roman"/>
                        </a:rPr>
                        <a:t>1/1</a:t>
                      </a:r>
                      <a:endParaRPr lang="en-GB" sz="1800" dirty="0">
                        <a:latin typeface="Times New Roman"/>
                        <a:ea typeface="Times New Roman"/>
                        <a:cs typeface="Times New Roman"/>
                      </a:endParaRPr>
                    </a:p>
                  </a:txBody>
                  <a:tcPr marL="68565" marR="68565"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4" name="Title 3">
            <a:extLst>
              <a:ext uri="{FF2B5EF4-FFF2-40B4-BE49-F238E27FC236}">
                <a16:creationId xmlns:a16="http://schemas.microsoft.com/office/drawing/2014/main" id="{28E67B5C-B8C6-45E6-6AA6-ECF8F1A1D4D6}"/>
              </a:ext>
            </a:extLst>
          </p:cNvPr>
          <p:cNvSpPr>
            <a:spLocks noGrp="1"/>
          </p:cNvSpPr>
          <p:nvPr>
            <p:ph type="title"/>
          </p:nvPr>
        </p:nvSpPr>
        <p:spPr/>
        <p:txBody>
          <a:bodyPr>
            <a:normAutofit/>
          </a:bodyPr>
          <a:lstStyle/>
          <a:p>
            <a:r>
              <a:rPr lang="en-US" dirty="0"/>
              <a:t>Concepts of Abstract Automata (4)</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9C95843D-C198-EDF5-5093-1CA5AF0A83B3}"/>
              </a:ext>
            </a:extLst>
          </p:cNvPr>
          <p:cNvSpPr>
            <a:spLocks noGrp="1" noChangeArrowheads="1"/>
          </p:cNvSpPr>
          <p:nvPr>
            <p:ph type="title"/>
          </p:nvPr>
        </p:nvSpPr>
        <p:spPr>
          <a:xfrm>
            <a:off x="-1" y="183402"/>
            <a:ext cx="11612880" cy="704088"/>
          </a:xfrm>
        </p:spPr>
        <p:txBody>
          <a:bodyPr/>
          <a:lstStyle/>
          <a:p>
            <a:r>
              <a:rPr lang="en-US" altLang="en-US"/>
              <a:t>Serial Adder (Moore   FSM)</a:t>
            </a:r>
            <a:endParaRPr lang="en-GB" altLang="en-US"/>
          </a:p>
        </p:txBody>
      </p:sp>
      <p:grpSp>
        <p:nvGrpSpPr>
          <p:cNvPr id="19459" name="Group 2">
            <a:extLst>
              <a:ext uri="{FF2B5EF4-FFF2-40B4-BE49-F238E27FC236}">
                <a16:creationId xmlns:a16="http://schemas.microsoft.com/office/drawing/2014/main" id="{8726A640-9E61-D3C8-C2EF-D923B301D2B2}"/>
              </a:ext>
            </a:extLst>
          </p:cNvPr>
          <p:cNvGrpSpPr>
            <a:grpSpLocks/>
          </p:cNvGrpSpPr>
          <p:nvPr/>
        </p:nvGrpSpPr>
        <p:grpSpPr bwMode="auto">
          <a:xfrm>
            <a:off x="1806575" y="1206500"/>
            <a:ext cx="4275138" cy="2425700"/>
            <a:chOff x="2475" y="2854"/>
            <a:chExt cx="4278" cy="2351"/>
          </a:xfrm>
        </p:grpSpPr>
        <p:sp>
          <p:nvSpPr>
            <p:cNvPr id="19461" name="Oval 16">
              <a:extLst>
                <a:ext uri="{FF2B5EF4-FFF2-40B4-BE49-F238E27FC236}">
                  <a16:creationId xmlns:a16="http://schemas.microsoft.com/office/drawing/2014/main" id="{5147DA72-04B1-DFCB-C7F7-3E280D9DBB21}"/>
                </a:ext>
              </a:extLst>
            </p:cNvPr>
            <p:cNvSpPr>
              <a:spLocks noChangeArrowheads="1"/>
            </p:cNvSpPr>
            <p:nvPr/>
          </p:nvSpPr>
          <p:spPr bwMode="auto">
            <a:xfrm>
              <a:off x="5190" y="4440"/>
              <a:ext cx="629" cy="629"/>
            </a:xfrm>
            <a:prstGeom prst="ellipse">
              <a:avLst/>
            </a:prstGeom>
            <a:solidFill>
              <a:schemeClr val="accent1">
                <a:lumMod val="60000"/>
                <a:lumOff val="40000"/>
              </a:schemeClr>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US" altLang="en-US" sz="2000"/>
            </a:p>
          </p:txBody>
        </p:sp>
        <p:grpSp>
          <p:nvGrpSpPr>
            <p:cNvPr id="19462" name="Group 3">
              <a:extLst>
                <a:ext uri="{FF2B5EF4-FFF2-40B4-BE49-F238E27FC236}">
                  <a16:creationId xmlns:a16="http://schemas.microsoft.com/office/drawing/2014/main" id="{D3C4F99C-C5E2-A5AF-3773-DF043B0FA537}"/>
                </a:ext>
              </a:extLst>
            </p:cNvPr>
            <p:cNvGrpSpPr>
              <a:grpSpLocks/>
            </p:cNvGrpSpPr>
            <p:nvPr/>
          </p:nvGrpSpPr>
          <p:grpSpPr bwMode="auto">
            <a:xfrm>
              <a:off x="5100" y="2910"/>
              <a:ext cx="819" cy="629"/>
              <a:chOff x="5055" y="2850"/>
              <a:chExt cx="819" cy="629"/>
            </a:xfrm>
          </p:grpSpPr>
          <p:sp>
            <p:nvSpPr>
              <p:cNvPr id="19502" name="Oval 5">
                <a:extLst>
                  <a:ext uri="{FF2B5EF4-FFF2-40B4-BE49-F238E27FC236}">
                    <a16:creationId xmlns:a16="http://schemas.microsoft.com/office/drawing/2014/main" id="{C4F7448F-9F25-B331-9473-041334BE6BD4}"/>
                  </a:ext>
                </a:extLst>
              </p:cNvPr>
              <p:cNvSpPr>
                <a:spLocks noChangeArrowheads="1"/>
              </p:cNvSpPr>
              <p:nvPr/>
            </p:nvSpPr>
            <p:spPr bwMode="auto">
              <a:xfrm>
                <a:off x="5055" y="2850"/>
                <a:ext cx="629" cy="629"/>
              </a:xfrm>
              <a:prstGeom prst="ellipse">
                <a:avLst/>
              </a:prstGeom>
              <a:solidFill>
                <a:schemeClr val="accent1">
                  <a:lumMod val="60000"/>
                  <a:lumOff val="40000"/>
                </a:schemeClr>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US" altLang="en-US" sz="2000"/>
              </a:p>
            </p:txBody>
          </p:sp>
          <p:sp>
            <p:nvSpPr>
              <p:cNvPr id="19503" name="Text Box 4">
                <a:extLst>
                  <a:ext uri="{FF2B5EF4-FFF2-40B4-BE49-F238E27FC236}">
                    <a16:creationId xmlns:a16="http://schemas.microsoft.com/office/drawing/2014/main" id="{7DCB1EDA-4B57-5ADA-200A-3CB36FDB51E1}"/>
                  </a:ext>
                </a:extLst>
              </p:cNvPr>
              <p:cNvSpPr txBox="1">
                <a:spLocks noChangeArrowheads="1"/>
              </p:cNvSpPr>
              <p:nvPr/>
            </p:nvSpPr>
            <p:spPr bwMode="auto">
              <a:xfrm>
                <a:off x="5154" y="2985"/>
                <a:ext cx="720"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Calibri" panose="020F0502020204030204" pitchFamily="34" charset="0"/>
                  </a:rPr>
                  <a:t>S</a:t>
                </a:r>
                <a:r>
                  <a:rPr lang="en-GB" altLang="en-US" sz="2000" baseline="-25000">
                    <a:latin typeface="Calibri" panose="020F0502020204030204" pitchFamily="34" charset="0"/>
                  </a:rPr>
                  <a:t>1</a:t>
                </a:r>
                <a:r>
                  <a:rPr lang="en-GB" altLang="en-US" sz="2000">
                    <a:latin typeface="Calibri" panose="020F0502020204030204" pitchFamily="34" charset="0"/>
                  </a:rPr>
                  <a:t>/0</a:t>
                </a:r>
                <a:endParaRPr lang="en-US" altLang="en-US" sz="2000"/>
              </a:p>
            </p:txBody>
          </p:sp>
        </p:grpSp>
        <p:sp>
          <p:nvSpPr>
            <p:cNvPr id="19463" name="Line 6">
              <a:extLst>
                <a:ext uri="{FF2B5EF4-FFF2-40B4-BE49-F238E27FC236}">
                  <a16:creationId xmlns:a16="http://schemas.microsoft.com/office/drawing/2014/main" id="{3A17A383-3158-6DD8-9CE0-73FEF5A2C4D0}"/>
                </a:ext>
              </a:extLst>
            </p:cNvPr>
            <p:cNvSpPr>
              <a:spLocks noChangeShapeType="1"/>
            </p:cNvSpPr>
            <p:nvPr/>
          </p:nvSpPr>
          <p:spPr bwMode="auto">
            <a:xfrm>
              <a:off x="3945" y="3225"/>
              <a:ext cx="1140"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nvGrpSpPr>
            <p:cNvPr id="19464" name="Group 7">
              <a:extLst>
                <a:ext uri="{FF2B5EF4-FFF2-40B4-BE49-F238E27FC236}">
                  <a16:creationId xmlns:a16="http://schemas.microsoft.com/office/drawing/2014/main" id="{535CE658-8F18-409E-FED3-F016971E970F}"/>
                </a:ext>
              </a:extLst>
            </p:cNvPr>
            <p:cNvGrpSpPr>
              <a:grpSpLocks/>
            </p:cNvGrpSpPr>
            <p:nvPr/>
          </p:nvGrpSpPr>
          <p:grpSpPr bwMode="auto">
            <a:xfrm>
              <a:off x="2906" y="2925"/>
              <a:ext cx="1163" cy="629"/>
              <a:chOff x="2906" y="2925"/>
              <a:chExt cx="1163" cy="629"/>
            </a:xfrm>
          </p:grpSpPr>
          <p:sp>
            <p:nvSpPr>
              <p:cNvPr id="19499" name="Oval 8">
                <a:extLst>
                  <a:ext uri="{FF2B5EF4-FFF2-40B4-BE49-F238E27FC236}">
                    <a16:creationId xmlns:a16="http://schemas.microsoft.com/office/drawing/2014/main" id="{5B531658-3A0A-65A3-8578-98A59BC18561}"/>
                  </a:ext>
                </a:extLst>
              </p:cNvPr>
              <p:cNvSpPr>
                <a:spLocks noChangeArrowheads="1"/>
              </p:cNvSpPr>
              <p:nvPr/>
            </p:nvSpPr>
            <p:spPr bwMode="auto">
              <a:xfrm>
                <a:off x="3300" y="2925"/>
                <a:ext cx="629" cy="629"/>
              </a:xfrm>
              <a:prstGeom prst="ellipse">
                <a:avLst/>
              </a:prstGeom>
              <a:solidFill>
                <a:schemeClr val="accent1">
                  <a:lumMod val="60000"/>
                  <a:lumOff val="40000"/>
                </a:schemeClr>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US" altLang="en-US" sz="2000"/>
              </a:p>
            </p:txBody>
          </p:sp>
          <p:sp>
            <p:nvSpPr>
              <p:cNvPr id="19500" name="Text Box 9">
                <a:extLst>
                  <a:ext uri="{FF2B5EF4-FFF2-40B4-BE49-F238E27FC236}">
                    <a16:creationId xmlns:a16="http://schemas.microsoft.com/office/drawing/2014/main" id="{E273BC4C-E3C1-B766-1BA1-81E5972280A9}"/>
                  </a:ext>
                </a:extLst>
              </p:cNvPr>
              <p:cNvSpPr txBox="1">
                <a:spLocks noChangeArrowheads="1"/>
              </p:cNvSpPr>
              <p:nvPr/>
            </p:nvSpPr>
            <p:spPr bwMode="auto">
              <a:xfrm>
                <a:off x="3349" y="3030"/>
                <a:ext cx="720"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dirty="0">
                    <a:latin typeface="Calibri" panose="020F0502020204030204" pitchFamily="34" charset="0"/>
                  </a:rPr>
                  <a:t>S</a:t>
                </a:r>
                <a:r>
                  <a:rPr lang="en-GB" altLang="en-US" sz="2000" baseline="-25000" dirty="0">
                    <a:latin typeface="Times New Roman" panose="02020603050405020304" pitchFamily="18" charset="0"/>
                  </a:rPr>
                  <a:t>0</a:t>
                </a:r>
                <a:r>
                  <a:rPr lang="en-GB" altLang="en-US" sz="2000" dirty="0">
                    <a:latin typeface="Calibri" panose="020F0502020204030204" pitchFamily="34" charset="0"/>
                  </a:rPr>
                  <a:t>/0</a:t>
                </a:r>
                <a:endParaRPr lang="en-US" altLang="en-US" sz="2000" dirty="0"/>
              </a:p>
            </p:txBody>
          </p:sp>
          <p:sp>
            <p:nvSpPr>
              <p:cNvPr id="19501" name="Arc 10">
                <a:extLst>
                  <a:ext uri="{FF2B5EF4-FFF2-40B4-BE49-F238E27FC236}">
                    <a16:creationId xmlns:a16="http://schemas.microsoft.com/office/drawing/2014/main" id="{48381441-7A9D-B81A-C090-716D55CC4749}"/>
                  </a:ext>
                </a:extLst>
              </p:cNvPr>
              <p:cNvSpPr>
                <a:spLocks/>
              </p:cNvSpPr>
              <p:nvPr/>
            </p:nvSpPr>
            <p:spPr bwMode="auto">
              <a:xfrm rot="10500000" flipV="1">
                <a:off x="2906" y="3012"/>
                <a:ext cx="486" cy="540"/>
              </a:xfrm>
              <a:custGeom>
                <a:avLst/>
                <a:gdLst>
                  <a:gd name="T0" fmla="*/ 1 w 36339"/>
                  <a:gd name="T1" fmla="*/ 0 h 43200"/>
                  <a:gd name="T2" fmla="*/ 0 w 36339"/>
                  <a:gd name="T3" fmla="*/ 6 h 43200"/>
                  <a:gd name="T4" fmla="*/ 3 w 36339"/>
                  <a:gd name="T5" fmla="*/ 3 h 43200"/>
                  <a:gd name="T6" fmla="*/ 0 60000 65536"/>
                  <a:gd name="T7" fmla="*/ 0 60000 65536"/>
                  <a:gd name="T8" fmla="*/ 0 60000 65536"/>
                </a:gdLst>
                <a:ahLst/>
                <a:cxnLst>
                  <a:cxn ang="T6">
                    <a:pos x="T0" y="T1"/>
                  </a:cxn>
                  <a:cxn ang="T7">
                    <a:pos x="T2" y="T3"/>
                  </a:cxn>
                  <a:cxn ang="T8">
                    <a:pos x="T4" y="T5"/>
                  </a:cxn>
                </a:cxnLst>
                <a:rect l="0" t="0" r="r" b="b"/>
                <a:pathLst>
                  <a:path w="36339" h="43200" fill="none" extrusionOk="0">
                    <a:moveTo>
                      <a:pt x="3976" y="2871"/>
                    </a:moveTo>
                    <a:cubicBezTo>
                      <a:pt x="7251" y="990"/>
                      <a:pt x="10962" y="-1"/>
                      <a:pt x="14739" y="0"/>
                    </a:cubicBezTo>
                    <a:cubicBezTo>
                      <a:pt x="26668" y="0"/>
                      <a:pt x="36339" y="9670"/>
                      <a:pt x="36339" y="21600"/>
                    </a:cubicBezTo>
                    <a:cubicBezTo>
                      <a:pt x="36339" y="33529"/>
                      <a:pt x="26668" y="43200"/>
                      <a:pt x="14739" y="43200"/>
                    </a:cubicBezTo>
                    <a:cubicBezTo>
                      <a:pt x="9267" y="43200"/>
                      <a:pt x="3999" y="41123"/>
                      <a:pt x="0" y="37389"/>
                    </a:cubicBezTo>
                  </a:path>
                  <a:path w="36339" h="43200" stroke="0" extrusionOk="0">
                    <a:moveTo>
                      <a:pt x="3976" y="2871"/>
                    </a:moveTo>
                    <a:cubicBezTo>
                      <a:pt x="7251" y="990"/>
                      <a:pt x="10962" y="-1"/>
                      <a:pt x="14739" y="0"/>
                    </a:cubicBezTo>
                    <a:cubicBezTo>
                      <a:pt x="26668" y="0"/>
                      <a:pt x="36339" y="9670"/>
                      <a:pt x="36339" y="21600"/>
                    </a:cubicBezTo>
                    <a:cubicBezTo>
                      <a:pt x="36339" y="33529"/>
                      <a:pt x="26668" y="43200"/>
                      <a:pt x="14739" y="43200"/>
                    </a:cubicBezTo>
                    <a:cubicBezTo>
                      <a:pt x="9267" y="43200"/>
                      <a:pt x="3999" y="41123"/>
                      <a:pt x="0" y="37389"/>
                    </a:cubicBezTo>
                    <a:lnTo>
                      <a:pt x="14739" y="21600"/>
                    </a:lnTo>
                    <a:lnTo>
                      <a:pt x="3976" y="2871"/>
                    </a:lnTo>
                    <a:close/>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9465" name="Arc 11">
              <a:extLst>
                <a:ext uri="{FF2B5EF4-FFF2-40B4-BE49-F238E27FC236}">
                  <a16:creationId xmlns:a16="http://schemas.microsoft.com/office/drawing/2014/main" id="{B7B60A18-54A4-FD9A-9752-DEE006BED129}"/>
                </a:ext>
              </a:extLst>
            </p:cNvPr>
            <p:cNvSpPr>
              <a:spLocks/>
            </p:cNvSpPr>
            <p:nvPr/>
          </p:nvSpPr>
          <p:spPr bwMode="auto">
            <a:xfrm flipV="1">
              <a:off x="5644" y="2922"/>
              <a:ext cx="486" cy="540"/>
            </a:xfrm>
            <a:custGeom>
              <a:avLst/>
              <a:gdLst>
                <a:gd name="T0" fmla="*/ 1 w 36339"/>
                <a:gd name="T1" fmla="*/ 0 h 43200"/>
                <a:gd name="T2" fmla="*/ 0 w 36339"/>
                <a:gd name="T3" fmla="*/ 6 h 43200"/>
                <a:gd name="T4" fmla="*/ 3 w 36339"/>
                <a:gd name="T5" fmla="*/ 3 h 43200"/>
                <a:gd name="T6" fmla="*/ 0 60000 65536"/>
                <a:gd name="T7" fmla="*/ 0 60000 65536"/>
                <a:gd name="T8" fmla="*/ 0 60000 65536"/>
              </a:gdLst>
              <a:ahLst/>
              <a:cxnLst>
                <a:cxn ang="T6">
                  <a:pos x="T0" y="T1"/>
                </a:cxn>
                <a:cxn ang="T7">
                  <a:pos x="T2" y="T3"/>
                </a:cxn>
                <a:cxn ang="T8">
                  <a:pos x="T4" y="T5"/>
                </a:cxn>
              </a:cxnLst>
              <a:rect l="0" t="0" r="r" b="b"/>
              <a:pathLst>
                <a:path w="36339" h="43200" fill="none" extrusionOk="0">
                  <a:moveTo>
                    <a:pt x="3976" y="2871"/>
                  </a:moveTo>
                  <a:cubicBezTo>
                    <a:pt x="7251" y="990"/>
                    <a:pt x="10962" y="-1"/>
                    <a:pt x="14739" y="0"/>
                  </a:cubicBezTo>
                  <a:cubicBezTo>
                    <a:pt x="26668" y="0"/>
                    <a:pt x="36339" y="9670"/>
                    <a:pt x="36339" y="21600"/>
                  </a:cubicBezTo>
                  <a:cubicBezTo>
                    <a:pt x="36339" y="33529"/>
                    <a:pt x="26668" y="43200"/>
                    <a:pt x="14739" y="43200"/>
                  </a:cubicBezTo>
                  <a:cubicBezTo>
                    <a:pt x="9267" y="43200"/>
                    <a:pt x="3999" y="41123"/>
                    <a:pt x="0" y="37389"/>
                  </a:cubicBezTo>
                </a:path>
                <a:path w="36339" h="43200" stroke="0" extrusionOk="0">
                  <a:moveTo>
                    <a:pt x="3976" y="2871"/>
                  </a:moveTo>
                  <a:cubicBezTo>
                    <a:pt x="7251" y="990"/>
                    <a:pt x="10962" y="-1"/>
                    <a:pt x="14739" y="0"/>
                  </a:cubicBezTo>
                  <a:cubicBezTo>
                    <a:pt x="26668" y="0"/>
                    <a:pt x="36339" y="9670"/>
                    <a:pt x="36339" y="21600"/>
                  </a:cubicBezTo>
                  <a:cubicBezTo>
                    <a:pt x="36339" y="33529"/>
                    <a:pt x="26668" y="43200"/>
                    <a:pt x="14739" y="43200"/>
                  </a:cubicBezTo>
                  <a:cubicBezTo>
                    <a:pt x="9267" y="43200"/>
                    <a:pt x="3999" y="41123"/>
                    <a:pt x="0" y="37389"/>
                  </a:cubicBezTo>
                  <a:lnTo>
                    <a:pt x="14739" y="21600"/>
                  </a:lnTo>
                  <a:lnTo>
                    <a:pt x="3976" y="2871"/>
                  </a:lnTo>
                  <a:close/>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9466" name="Group 12">
              <a:extLst>
                <a:ext uri="{FF2B5EF4-FFF2-40B4-BE49-F238E27FC236}">
                  <a16:creationId xmlns:a16="http://schemas.microsoft.com/office/drawing/2014/main" id="{DAB72634-DEB3-8F0C-FE26-44855974E248}"/>
                </a:ext>
              </a:extLst>
            </p:cNvPr>
            <p:cNvGrpSpPr>
              <a:grpSpLocks/>
            </p:cNvGrpSpPr>
            <p:nvPr/>
          </p:nvGrpSpPr>
          <p:grpSpPr bwMode="auto">
            <a:xfrm>
              <a:off x="3390" y="4470"/>
              <a:ext cx="793" cy="629"/>
              <a:chOff x="3390" y="4470"/>
              <a:chExt cx="793" cy="629"/>
            </a:xfrm>
          </p:grpSpPr>
          <p:sp>
            <p:nvSpPr>
              <p:cNvPr id="19497" name="Oval 13">
                <a:extLst>
                  <a:ext uri="{FF2B5EF4-FFF2-40B4-BE49-F238E27FC236}">
                    <a16:creationId xmlns:a16="http://schemas.microsoft.com/office/drawing/2014/main" id="{2302AE8C-C330-69DD-1A15-E4F6A6F21B2E}"/>
                  </a:ext>
                </a:extLst>
              </p:cNvPr>
              <p:cNvSpPr>
                <a:spLocks noChangeArrowheads="1"/>
              </p:cNvSpPr>
              <p:nvPr/>
            </p:nvSpPr>
            <p:spPr bwMode="auto">
              <a:xfrm>
                <a:off x="3390" y="4470"/>
                <a:ext cx="629" cy="629"/>
              </a:xfrm>
              <a:prstGeom prst="ellipse">
                <a:avLst/>
              </a:prstGeom>
              <a:solidFill>
                <a:schemeClr val="accent1">
                  <a:lumMod val="60000"/>
                  <a:lumOff val="40000"/>
                </a:schemeClr>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US" altLang="en-US" sz="2000"/>
              </a:p>
            </p:txBody>
          </p:sp>
          <p:sp>
            <p:nvSpPr>
              <p:cNvPr id="19498" name="Text Box 14">
                <a:extLst>
                  <a:ext uri="{FF2B5EF4-FFF2-40B4-BE49-F238E27FC236}">
                    <a16:creationId xmlns:a16="http://schemas.microsoft.com/office/drawing/2014/main" id="{3CC940FC-C304-8800-C124-95393F03D9BE}"/>
                  </a:ext>
                </a:extLst>
              </p:cNvPr>
              <p:cNvSpPr txBox="1">
                <a:spLocks noChangeArrowheads="1"/>
              </p:cNvSpPr>
              <p:nvPr/>
            </p:nvSpPr>
            <p:spPr bwMode="auto">
              <a:xfrm>
                <a:off x="3463" y="4605"/>
                <a:ext cx="720"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Calibri" panose="020F0502020204030204" pitchFamily="34" charset="0"/>
                  </a:rPr>
                  <a:t>S</a:t>
                </a:r>
                <a:r>
                  <a:rPr lang="en-GB" altLang="en-US" sz="2000" baseline="-25000">
                    <a:latin typeface="Calibri" panose="020F0502020204030204" pitchFamily="34" charset="0"/>
                  </a:rPr>
                  <a:t>2</a:t>
                </a:r>
                <a:r>
                  <a:rPr lang="en-GB" altLang="en-US" sz="2000">
                    <a:latin typeface="Calibri" panose="020F0502020204030204" pitchFamily="34" charset="0"/>
                  </a:rPr>
                  <a:t>/1</a:t>
                </a:r>
                <a:endParaRPr lang="en-US" altLang="en-US" sz="2000"/>
              </a:p>
            </p:txBody>
          </p:sp>
        </p:grpSp>
        <p:sp>
          <p:nvSpPr>
            <p:cNvPr id="19467" name="Text Box 15">
              <a:extLst>
                <a:ext uri="{FF2B5EF4-FFF2-40B4-BE49-F238E27FC236}">
                  <a16:creationId xmlns:a16="http://schemas.microsoft.com/office/drawing/2014/main" id="{8EA9A377-F710-026F-0D67-A6C4894F5DDF}"/>
                </a:ext>
              </a:extLst>
            </p:cNvPr>
            <p:cNvSpPr txBox="1">
              <a:spLocks noChangeArrowheads="1"/>
            </p:cNvSpPr>
            <p:nvPr/>
          </p:nvSpPr>
          <p:spPr bwMode="auto">
            <a:xfrm>
              <a:off x="5252" y="4590"/>
              <a:ext cx="720"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dirty="0">
                  <a:latin typeface="Calibri" panose="020F0502020204030204" pitchFamily="34" charset="0"/>
                </a:rPr>
                <a:t>S</a:t>
              </a:r>
              <a:r>
                <a:rPr lang="en-GB" altLang="en-US" sz="2000" baseline="-25000" dirty="0">
                  <a:latin typeface="Calibri" panose="020F0502020204030204" pitchFamily="34" charset="0"/>
                </a:rPr>
                <a:t>3</a:t>
              </a:r>
              <a:r>
                <a:rPr lang="en-GB" altLang="en-US" sz="2000" dirty="0">
                  <a:latin typeface="Calibri" panose="020F0502020204030204" pitchFamily="34" charset="0"/>
                </a:rPr>
                <a:t>/1</a:t>
              </a:r>
              <a:endParaRPr lang="en-US" altLang="en-US" sz="2000" dirty="0"/>
            </a:p>
          </p:txBody>
        </p:sp>
        <p:sp>
          <p:nvSpPr>
            <p:cNvPr id="19468" name="Line 17">
              <a:extLst>
                <a:ext uri="{FF2B5EF4-FFF2-40B4-BE49-F238E27FC236}">
                  <a16:creationId xmlns:a16="http://schemas.microsoft.com/office/drawing/2014/main" id="{BF0F6B2F-DC50-229A-E303-A5F7EBC96D79}"/>
                </a:ext>
              </a:extLst>
            </p:cNvPr>
            <p:cNvSpPr>
              <a:spLocks noChangeShapeType="1"/>
            </p:cNvSpPr>
            <p:nvPr/>
          </p:nvSpPr>
          <p:spPr bwMode="auto">
            <a:xfrm>
              <a:off x="4035" y="4773"/>
              <a:ext cx="1140" cy="0"/>
            </a:xfrm>
            <a:prstGeom prst="line">
              <a:avLst/>
            </a:prstGeom>
            <a:noFill/>
            <a:ln w="28575">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en-US"/>
            </a:p>
          </p:txBody>
        </p:sp>
        <p:sp>
          <p:nvSpPr>
            <p:cNvPr id="19469" name="Arc 18">
              <a:extLst>
                <a:ext uri="{FF2B5EF4-FFF2-40B4-BE49-F238E27FC236}">
                  <a16:creationId xmlns:a16="http://schemas.microsoft.com/office/drawing/2014/main" id="{57F127E0-B489-99F8-850D-5C43B121A000}"/>
                </a:ext>
              </a:extLst>
            </p:cNvPr>
            <p:cNvSpPr>
              <a:spLocks/>
            </p:cNvSpPr>
            <p:nvPr/>
          </p:nvSpPr>
          <p:spPr bwMode="auto">
            <a:xfrm rot="10500000" flipV="1">
              <a:off x="3019" y="4557"/>
              <a:ext cx="486" cy="540"/>
            </a:xfrm>
            <a:custGeom>
              <a:avLst/>
              <a:gdLst>
                <a:gd name="T0" fmla="*/ 1 w 36339"/>
                <a:gd name="T1" fmla="*/ 0 h 43200"/>
                <a:gd name="T2" fmla="*/ 0 w 36339"/>
                <a:gd name="T3" fmla="*/ 6 h 43200"/>
                <a:gd name="T4" fmla="*/ 3 w 36339"/>
                <a:gd name="T5" fmla="*/ 3 h 43200"/>
                <a:gd name="T6" fmla="*/ 0 60000 65536"/>
                <a:gd name="T7" fmla="*/ 0 60000 65536"/>
                <a:gd name="T8" fmla="*/ 0 60000 65536"/>
              </a:gdLst>
              <a:ahLst/>
              <a:cxnLst>
                <a:cxn ang="T6">
                  <a:pos x="T0" y="T1"/>
                </a:cxn>
                <a:cxn ang="T7">
                  <a:pos x="T2" y="T3"/>
                </a:cxn>
                <a:cxn ang="T8">
                  <a:pos x="T4" y="T5"/>
                </a:cxn>
              </a:cxnLst>
              <a:rect l="0" t="0" r="r" b="b"/>
              <a:pathLst>
                <a:path w="36339" h="43200" fill="none" extrusionOk="0">
                  <a:moveTo>
                    <a:pt x="3976" y="2871"/>
                  </a:moveTo>
                  <a:cubicBezTo>
                    <a:pt x="7251" y="990"/>
                    <a:pt x="10962" y="-1"/>
                    <a:pt x="14739" y="0"/>
                  </a:cubicBezTo>
                  <a:cubicBezTo>
                    <a:pt x="26668" y="0"/>
                    <a:pt x="36339" y="9670"/>
                    <a:pt x="36339" y="21600"/>
                  </a:cubicBezTo>
                  <a:cubicBezTo>
                    <a:pt x="36339" y="33529"/>
                    <a:pt x="26668" y="43200"/>
                    <a:pt x="14739" y="43200"/>
                  </a:cubicBezTo>
                  <a:cubicBezTo>
                    <a:pt x="9267" y="43200"/>
                    <a:pt x="3999" y="41123"/>
                    <a:pt x="0" y="37389"/>
                  </a:cubicBezTo>
                </a:path>
                <a:path w="36339" h="43200" stroke="0" extrusionOk="0">
                  <a:moveTo>
                    <a:pt x="3976" y="2871"/>
                  </a:moveTo>
                  <a:cubicBezTo>
                    <a:pt x="7251" y="990"/>
                    <a:pt x="10962" y="-1"/>
                    <a:pt x="14739" y="0"/>
                  </a:cubicBezTo>
                  <a:cubicBezTo>
                    <a:pt x="26668" y="0"/>
                    <a:pt x="36339" y="9670"/>
                    <a:pt x="36339" y="21600"/>
                  </a:cubicBezTo>
                  <a:cubicBezTo>
                    <a:pt x="36339" y="33529"/>
                    <a:pt x="26668" y="43200"/>
                    <a:pt x="14739" y="43200"/>
                  </a:cubicBezTo>
                  <a:cubicBezTo>
                    <a:pt x="9267" y="43200"/>
                    <a:pt x="3999" y="41123"/>
                    <a:pt x="0" y="37389"/>
                  </a:cubicBezTo>
                  <a:lnTo>
                    <a:pt x="14739" y="21600"/>
                  </a:lnTo>
                  <a:lnTo>
                    <a:pt x="3976" y="2871"/>
                  </a:lnTo>
                  <a:close/>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70" name="Arc 19">
              <a:extLst>
                <a:ext uri="{FF2B5EF4-FFF2-40B4-BE49-F238E27FC236}">
                  <a16:creationId xmlns:a16="http://schemas.microsoft.com/office/drawing/2014/main" id="{B24DAD84-71B2-A799-9781-D3C3827F201E}"/>
                </a:ext>
              </a:extLst>
            </p:cNvPr>
            <p:cNvSpPr>
              <a:spLocks/>
            </p:cNvSpPr>
            <p:nvPr/>
          </p:nvSpPr>
          <p:spPr bwMode="auto">
            <a:xfrm flipV="1">
              <a:off x="5710" y="4467"/>
              <a:ext cx="510" cy="544"/>
            </a:xfrm>
            <a:custGeom>
              <a:avLst/>
              <a:gdLst>
                <a:gd name="T0" fmla="*/ 1 w 36339"/>
                <a:gd name="T1" fmla="*/ 0 h 43200"/>
                <a:gd name="T2" fmla="*/ 0 w 36339"/>
                <a:gd name="T3" fmla="*/ 6 h 43200"/>
                <a:gd name="T4" fmla="*/ 3 w 36339"/>
                <a:gd name="T5" fmla="*/ 3 h 43200"/>
                <a:gd name="T6" fmla="*/ 0 60000 65536"/>
                <a:gd name="T7" fmla="*/ 0 60000 65536"/>
                <a:gd name="T8" fmla="*/ 0 60000 65536"/>
              </a:gdLst>
              <a:ahLst/>
              <a:cxnLst>
                <a:cxn ang="T6">
                  <a:pos x="T0" y="T1"/>
                </a:cxn>
                <a:cxn ang="T7">
                  <a:pos x="T2" y="T3"/>
                </a:cxn>
                <a:cxn ang="T8">
                  <a:pos x="T4" y="T5"/>
                </a:cxn>
              </a:cxnLst>
              <a:rect l="0" t="0" r="r" b="b"/>
              <a:pathLst>
                <a:path w="36339" h="43200" fill="none" extrusionOk="0">
                  <a:moveTo>
                    <a:pt x="3976" y="2871"/>
                  </a:moveTo>
                  <a:cubicBezTo>
                    <a:pt x="7251" y="990"/>
                    <a:pt x="10962" y="-1"/>
                    <a:pt x="14739" y="0"/>
                  </a:cubicBezTo>
                  <a:cubicBezTo>
                    <a:pt x="26668" y="0"/>
                    <a:pt x="36339" y="9670"/>
                    <a:pt x="36339" y="21600"/>
                  </a:cubicBezTo>
                  <a:cubicBezTo>
                    <a:pt x="36339" y="33529"/>
                    <a:pt x="26668" y="43200"/>
                    <a:pt x="14739" y="43200"/>
                  </a:cubicBezTo>
                  <a:cubicBezTo>
                    <a:pt x="9267" y="43200"/>
                    <a:pt x="3999" y="41123"/>
                    <a:pt x="0" y="37389"/>
                  </a:cubicBezTo>
                </a:path>
                <a:path w="36339" h="43200" stroke="0" extrusionOk="0">
                  <a:moveTo>
                    <a:pt x="3976" y="2871"/>
                  </a:moveTo>
                  <a:cubicBezTo>
                    <a:pt x="7251" y="990"/>
                    <a:pt x="10962" y="-1"/>
                    <a:pt x="14739" y="0"/>
                  </a:cubicBezTo>
                  <a:cubicBezTo>
                    <a:pt x="26668" y="0"/>
                    <a:pt x="36339" y="9670"/>
                    <a:pt x="36339" y="21600"/>
                  </a:cubicBezTo>
                  <a:cubicBezTo>
                    <a:pt x="36339" y="33529"/>
                    <a:pt x="26668" y="43200"/>
                    <a:pt x="14739" y="43200"/>
                  </a:cubicBezTo>
                  <a:cubicBezTo>
                    <a:pt x="9267" y="43200"/>
                    <a:pt x="3999" y="41123"/>
                    <a:pt x="0" y="37389"/>
                  </a:cubicBezTo>
                  <a:lnTo>
                    <a:pt x="14739" y="21600"/>
                  </a:lnTo>
                  <a:lnTo>
                    <a:pt x="3976" y="2871"/>
                  </a:lnTo>
                  <a:close/>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71" name="Text Box 20">
              <a:extLst>
                <a:ext uri="{FF2B5EF4-FFF2-40B4-BE49-F238E27FC236}">
                  <a16:creationId xmlns:a16="http://schemas.microsoft.com/office/drawing/2014/main" id="{07B1A6D4-F048-5DEB-61FA-1E3BA297149E}"/>
                </a:ext>
              </a:extLst>
            </p:cNvPr>
            <p:cNvSpPr txBox="1">
              <a:spLocks noChangeArrowheads="1"/>
            </p:cNvSpPr>
            <p:nvPr/>
          </p:nvSpPr>
          <p:spPr bwMode="auto">
            <a:xfrm>
              <a:off x="2475" y="3015"/>
              <a:ext cx="720"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Times New Roman" panose="02020603050405020304" pitchFamily="18" charset="0"/>
                </a:rPr>
                <a:t>00</a:t>
              </a:r>
              <a:endParaRPr lang="en-US" altLang="en-US" sz="2000"/>
            </a:p>
          </p:txBody>
        </p:sp>
        <p:sp>
          <p:nvSpPr>
            <p:cNvPr id="19472" name="Text Box 21">
              <a:extLst>
                <a:ext uri="{FF2B5EF4-FFF2-40B4-BE49-F238E27FC236}">
                  <a16:creationId xmlns:a16="http://schemas.microsoft.com/office/drawing/2014/main" id="{3F96AF46-E01B-0C61-02B2-7585D03FC3EF}"/>
                </a:ext>
              </a:extLst>
            </p:cNvPr>
            <p:cNvSpPr txBox="1">
              <a:spLocks noChangeArrowheads="1"/>
            </p:cNvSpPr>
            <p:nvPr/>
          </p:nvSpPr>
          <p:spPr bwMode="auto">
            <a:xfrm>
              <a:off x="4290" y="2925"/>
              <a:ext cx="720"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Calibri" panose="020F0502020204030204" pitchFamily="34" charset="0"/>
                </a:rPr>
                <a:t>11</a:t>
              </a:r>
              <a:endParaRPr lang="en-US" altLang="en-US" sz="2000"/>
            </a:p>
          </p:txBody>
        </p:sp>
        <p:sp>
          <p:nvSpPr>
            <p:cNvPr id="19473" name="Arc 22">
              <a:extLst>
                <a:ext uri="{FF2B5EF4-FFF2-40B4-BE49-F238E27FC236}">
                  <a16:creationId xmlns:a16="http://schemas.microsoft.com/office/drawing/2014/main" id="{71A27307-738F-DC6A-8BCE-61EA787D907A}"/>
                </a:ext>
              </a:extLst>
            </p:cNvPr>
            <p:cNvSpPr>
              <a:spLocks/>
            </p:cNvSpPr>
            <p:nvPr/>
          </p:nvSpPr>
          <p:spPr bwMode="auto">
            <a:xfrm rot="10800000" flipH="1">
              <a:off x="3705" y="3527"/>
              <a:ext cx="180" cy="937"/>
            </a:xfrm>
            <a:custGeom>
              <a:avLst/>
              <a:gdLst>
                <a:gd name="T0" fmla="*/ 1 w 21600"/>
                <a:gd name="T1" fmla="*/ 0 h 39403"/>
                <a:gd name="T2" fmla="*/ 0 w 21600"/>
                <a:gd name="T3" fmla="*/ 22 h 39403"/>
                <a:gd name="T4" fmla="*/ 0 w 21600"/>
                <a:gd name="T5" fmla="*/ 10 h 39403"/>
                <a:gd name="T6" fmla="*/ 0 60000 65536"/>
                <a:gd name="T7" fmla="*/ 0 60000 65536"/>
                <a:gd name="T8" fmla="*/ 0 60000 65536"/>
              </a:gdLst>
              <a:ahLst/>
              <a:cxnLst>
                <a:cxn ang="T6">
                  <a:pos x="T0" y="T1"/>
                </a:cxn>
                <a:cxn ang="T7">
                  <a:pos x="T2" y="T3"/>
                </a:cxn>
                <a:cxn ang="T8">
                  <a:pos x="T4" y="T5"/>
                </a:cxn>
              </a:cxnLst>
              <a:rect l="0" t="0" r="r" b="b"/>
              <a:pathLst>
                <a:path w="21600" h="39403" fill="none" extrusionOk="0">
                  <a:moveTo>
                    <a:pt x="12183" y="0"/>
                  </a:moveTo>
                  <a:cubicBezTo>
                    <a:pt x="18075" y="4025"/>
                    <a:pt x="21600" y="10700"/>
                    <a:pt x="21600" y="17836"/>
                  </a:cubicBezTo>
                  <a:cubicBezTo>
                    <a:pt x="21600" y="29299"/>
                    <a:pt x="12644" y="38766"/>
                    <a:pt x="1197" y="39402"/>
                  </a:cubicBezTo>
                </a:path>
                <a:path w="21600" h="39403" stroke="0" extrusionOk="0">
                  <a:moveTo>
                    <a:pt x="12183" y="0"/>
                  </a:moveTo>
                  <a:cubicBezTo>
                    <a:pt x="18075" y="4025"/>
                    <a:pt x="21600" y="10700"/>
                    <a:pt x="21600" y="17836"/>
                  </a:cubicBezTo>
                  <a:cubicBezTo>
                    <a:pt x="21600" y="29299"/>
                    <a:pt x="12644" y="38766"/>
                    <a:pt x="1197" y="39402"/>
                  </a:cubicBezTo>
                  <a:lnTo>
                    <a:pt x="0" y="17836"/>
                  </a:lnTo>
                  <a:lnTo>
                    <a:pt x="12183" y="0"/>
                  </a:lnTo>
                  <a:close/>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74" name="Arc 23">
              <a:extLst>
                <a:ext uri="{FF2B5EF4-FFF2-40B4-BE49-F238E27FC236}">
                  <a16:creationId xmlns:a16="http://schemas.microsoft.com/office/drawing/2014/main" id="{F0AF8D29-3734-ABD4-F66F-3A42CC2F6896}"/>
                </a:ext>
              </a:extLst>
            </p:cNvPr>
            <p:cNvSpPr>
              <a:spLocks/>
            </p:cNvSpPr>
            <p:nvPr/>
          </p:nvSpPr>
          <p:spPr bwMode="auto">
            <a:xfrm flipH="1">
              <a:off x="3477" y="3542"/>
              <a:ext cx="180" cy="937"/>
            </a:xfrm>
            <a:custGeom>
              <a:avLst/>
              <a:gdLst>
                <a:gd name="T0" fmla="*/ 1 w 21600"/>
                <a:gd name="T1" fmla="*/ 0 h 39403"/>
                <a:gd name="T2" fmla="*/ 0 w 21600"/>
                <a:gd name="T3" fmla="*/ 22 h 39403"/>
                <a:gd name="T4" fmla="*/ 0 w 21600"/>
                <a:gd name="T5" fmla="*/ 10 h 39403"/>
                <a:gd name="T6" fmla="*/ 0 60000 65536"/>
                <a:gd name="T7" fmla="*/ 0 60000 65536"/>
                <a:gd name="T8" fmla="*/ 0 60000 65536"/>
              </a:gdLst>
              <a:ahLst/>
              <a:cxnLst>
                <a:cxn ang="T6">
                  <a:pos x="T0" y="T1"/>
                </a:cxn>
                <a:cxn ang="T7">
                  <a:pos x="T2" y="T3"/>
                </a:cxn>
                <a:cxn ang="T8">
                  <a:pos x="T4" y="T5"/>
                </a:cxn>
              </a:cxnLst>
              <a:rect l="0" t="0" r="r" b="b"/>
              <a:pathLst>
                <a:path w="21600" h="39403" fill="none" extrusionOk="0">
                  <a:moveTo>
                    <a:pt x="12183" y="0"/>
                  </a:moveTo>
                  <a:cubicBezTo>
                    <a:pt x="18075" y="4025"/>
                    <a:pt x="21600" y="10700"/>
                    <a:pt x="21600" y="17836"/>
                  </a:cubicBezTo>
                  <a:cubicBezTo>
                    <a:pt x="21600" y="29299"/>
                    <a:pt x="12644" y="38766"/>
                    <a:pt x="1197" y="39402"/>
                  </a:cubicBezTo>
                </a:path>
                <a:path w="21600" h="39403" stroke="0" extrusionOk="0">
                  <a:moveTo>
                    <a:pt x="12183" y="0"/>
                  </a:moveTo>
                  <a:cubicBezTo>
                    <a:pt x="18075" y="4025"/>
                    <a:pt x="21600" y="10700"/>
                    <a:pt x="21600" y="17836"/>
                  </a:cubicBezTo>
                  <a:cubicBezTo>
                    <a:pt x="21600" y="29299"/>
                    <a:pt x="12644" y="38766"/>
                    <a:pt x="1197" y="39402"/>
                  </a:cubicBezTo>
                  <a:lnTo>
                    <a:pt x="0" y="17836"/>
                  </a:lnTo>
                  <a:lnTo>
                    <a:pt x="12183" y="0"/>
                  </a:lnTo>
                  <a:close/>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9475" name="Group 24">
              <a:extLst>
                <a:ext uri="{FF2B5EF4-FFF2-40B4-BE49-F238E27FC236}">
                  <a16:creationId xmlns:a16="http://schemas.microsoft.com/office/drawing/2014/main" id="{88230EC6-2156-D173-2219-9B5BDA604063}"/>
                </a:ext>
              </a:extLst>
            </p:cNvPr>
            <p:cNvGrpSpPr>
              <a:grpSpLocks/>
            </p:cNvGrpSpPr>
            <p:nvPr/>
          </p:nvGrpSpPr>
          <p:grpSpPr bwMode="auto">
            <a:xfrm>
              <a:off x="2610" y="4575"/>
              <a:ext cx="630" cy="630"/>
              <a:chOff x="2985" y="3750"/>
              <a:chExt cx="630" cy="630"/>
            </a:xfrm>
          </p:grpSpPr>
          <p:sp>
            <p:nvSpPr>
              <p:cNvPr id="19495" name="Text Box 25">
                <a:extLst>
                  <a:ext uri="{FF2B5EF4-FFF2-40B4-BE49-F238E27FC236}">
                    <a16:creationId xmlns:a16="http://schemas.microsoft.com/office/drawing/2014/main" id="{450CD7BB-BB89-0C69-3BD1-77599949C8B7}"/>
                  </a:ext>
                </a:extLst>
              </p:cNvPr>
              <p:cNvSpPr txBox="1">
                <a:spLocks noChangeArrowheads="1"/>
              </p:cNvSpPr>
              <p:nvPr/>
            </p:nvSpPr>
            <p:spPr bwMode="auto">
              <a:xfrm>
                <a:off x="3000" y="3750"/>
                <a:ext cx="61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Calibri" panose="020F0502020204030204" pitchFamily="34" charset="0"/>
                  </a:rPr>
                  <a:t>01</a:t>
                </a:r>
                <a:endParaRPr lang="en-US" altLang="en-US" sz="2000"/>
              </a:p>
            </p:txBody>
          </p:sp>
          <p:sp>
            <p:nvSpPr>
              <p:cNvPr id="19496" name="Text Box 26">
                <a:extLst>
                  <a:ext uri="{FF2B5EF4-FFF2-40B4-BE49-F238E27FC236}">
                    <a16:creationId xmlns:a16="http://schemas.microsoft.com/office/drawing/2014/main" id="{C2A5964B-212D-A3B6-01D8-5185406DB852}"/>
                  </a:ext>
                </a:extLst>
              </p:cNvPr>
              <p:cNvSpPr txBox="1">
                <a:spLocks noChangeArrowheads="1"/>
              </p:cNvSpPr>
              <p:nvPr/>
            </p:nvSpPr>
            <p:spPr bwMode="auto">
              <a:xfrm>
                <a:off x="2985" y="3945"/>
                <a:ext cx="61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Calibri" panose="020F0502020204030204" pitchFamily="34" charset="0"/>
                  </a:rPr>
                  <a:t>10</a:t>
                </a:r>
                <a:endParaRPr lang="en-US" altLang="en-US" sz="2000"/>
              </a:p>
            </p:txBody>
          </p:sp>
        </p:grpSp>
        <p:sp>
          <p:nvSpPr>
            <p:cNvPr id="19476" name="Arc 27">
              <a:extLst>
                <a:ext uri="{FF2B5EF4-FFF2-40B4-BE49-F238E27FC236}">
                  <a16:creationId xmlns:a16="http://schemas.microsoft.com/office/drawing/2014/main" id="{5F9DE306-C952-10E1-A22B-07FCF0ED9966}"/>
                </a:ext>
              </a:extLst>
            </p:cNvPr>
            <p:cNvSpPr>
              <a:spLocks/>
            </p:cNvSpPr>
            <p:nvPr/>
          </p:nvSpPr>
          <p:spPr bwMode="auto">
            <a:xfrm rot="10800000" flipH="1">
              <a:off x="5475" y="3527"/>
              <a:ext cx="180" cy="937"/>
            </a:xfrm>
            <a:custGeom>
              <a:avLst/>
              <a:gdLst>
                <a:gd name="T0" fmla="*/ 1 w 21600"/>
                <a:gd name="T1" fmla="*/ 0 h 39403"/>
                <a:gd name="T2" fmla="*/ 0 w 21600"/>
                <a:gd name="T3" fmla="*/ 22 h 39403"/>
                <a:gd name="T4" fmla="*/ 0 w 21600"/>
                <a:gd name="T5" fmla="*/ 10 h 39403"/>
                <a:gd name="T6" fmla="*/ 0 60000 65536"/>
                <a:gd name="T7" fmla="*/ 0 60000 65536"/>
                <a:gd name="T8" fmla="*/ 0 60000 65536"/>
              </a:gdLst>
              <a:ahLst/>
              <a:cxnLst>
                <a:cxn ang="T6">
                  <a:pos x="T0" y="T1"/>
                </a:cxn>
                <a:cxn ang="T7">
                  <a:pos x="T2" y="T3"/>
                </a:cxn>
                <a:cxn ang="T8">
                  <a:pos x="T4" y="T5"/>
                </a:cxn>
              </a:cxnLst>
              <a:rect l="0" t="0" r="r" b="b"/>
              <a:pathLst>
                <a:path w="21600" h="39403" fill="none" extrusionOk="0">
                  <a:moveTo>
                    <a:pt x="12183" y="0"/>
                  </a:moveTo>
                  <a:cubicBezTo>
                    <a:pt x="18075" y="4025"/>
                    <a:pt x="21600" y="10700"/>
                    <a:pt x="21600" y="17836"/>
                  </a:cubicBezTo>
                  <a:cubicBezTo>
                    <a:pt x="21600" y="29299"/>
                    <a:pt x="12644" y="38766"/>
                    <a:pt x="1197" y="39402"/>
                  </a:cubicBezTo>
                </a:path>
                <a:path w="21600" h="39403" stroke="0" extrusionOk="0">
                  <a:moveTo>
                    <a:pt x="12183" y="0"/>
                  </a:moveTo>
                  <a:cubicBezTo>
                    <a:pt x="18075" y="4025"/>
                    <a:pt x="21600" y="10700"/>
                    <a:pt x="21600" y="17836"/>
                  </a:cubicBezTo>
                  <a:cubicBezTo>
                    <a:pt x="21600" y="29299"/>
                    <a:pt x="12644" y="38766"/>
                    <a:pt x="1197" y="39402"/>
                  </a:cubicBezTo>
                  <a:lnTo>
                    <a:pt x="0" y="17836"/>
                  </a:lnTo>
                  <a:lnTo>
                    <a:pt x="12183" y="0"/>
                  </a:lnTo>
                  <a:close/>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77" name="Arc 28">
              <a:extLst>
                <a:ext uri="{FF2B5EF4-FFF2-40B4-BE49-F238E27FC236}">
                  <a16:creationId xmlns:a16="http://schemas.microsoft.com/office/drawing/2014/main" id="{68AA3EDD-920A-A50C-13FC-FD0B54D360BA}"/>
                </a:ext>
              </a:extLst>
            </p:cNvPr>
            <p:cNvSpPr>
              <a:spLocks/>
            </p:cNvSpPr>
            <p:nvPr/>
          </p:nvSpPr>
          <p:spPr bwMode="auto">
            <a:xfrm flipH="1">
              <a:off x="5247" y="3527"/>
              <a:ext cx="180" cy="937"/>
            </a:xfrm>
            <a:custGeom>
              <a:avLst/>
              <a:gdLst>
                <a:gd name="T0" fmla="*/ 1 w 21600"/>
                <a:gd name="T1" fmla="*/ 0 h 39403"/>
                <a:gd name="T2" fmla="*/ 0 w 21600"/>
                <a:gd name="T3" fmla="*/ 22 h 39403"/>
                <a:gd name="T4" fmla="*/ 0 w 21600"/>
                <a:gd name="T5" fmla="*/ 10 h 39403"/>
                <a:gd name="T6" fmla="*/ 0 60000 65536"/>
                <a:gd name="T7" fmla="*/ 0 60000 65536"/>
                <a:gd name="T8" fmla="*/ 0 60000 65536"/>
              </a:gdLst>
              <a:ahLst/>
              <a:cxnLst>
                <a:cxn ang="T6">
                  <a:pos x="T0" y="T1"/>
                </a:cxn>
                <a:cxn ang="T7">
                  <a:pos x="T2" y="T3"/>
                </a:cxn>
                <a:cxn ang="T8">
                  <a:pos x="T4" y="T5"/>
                </a:cxn>
              </a:cxnLst>
              <a:rect l="0" t="0" r="r" b="b"/>
              <a:pathLst>
                <a:path w="21600" h="39403" fill="none" extrusionOk="0">
                  <a:moveTo>
                    <a:pt x="12183" y="0"/>
                  </a:moveTo>
                  <a:cubicBezTo>
                    <a:pt x="18075" y="4025"/>
                    <a:pt x="21600" y="10700"/>
                    <a:pt x="21600" y="17836"/>
                  </a:cubicBezTo>
                  <a:cubicBezTo>
                    <a:pt x="21600" y="29299"/>
                    <a:pt x="12644" y="38766"/>
                    <a:pt x="1197" y="39402"/>
                  </a:cubicBezTo>
                </a:path>
                <a:path w="21600" h="39403" stroke="0" extrusionOk="0">
                  <a:moveTo>
                    <a:pt x="12183" y="0"/>
                  </a:moveTo>
                  <a:cubicBezTo>
                    <a:pt x="18075" y="4025"/>
                    <a:pt x="21600" y="10700"/>
                    <a:pt x="21600" y="17836"/>
                  </a:cubicBezTo>
                  <a:cubicBezTo>
                    <a:pt x="21600" y="29299"/>
                    <a:pt x="12644" y="38766"/>
                    <a:pt x="1197" y="39402"/>
                  </a:cubicBezTo>
                  <a:lnTo>
                    <a:pt x="0" y="17836"/>
                  </a:lnTo>
                  <a:lnTo>
                    <a:pt x="12183" y="0"/>
                  </a:lnTo>
                  <a:close/>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9478" name="Group 29">
              <a:extLst>
                <a:ext uri="{FF2B5EF4-FFF2-40B4-BE49-F238E27FC236}">
                  <a16:creationId xmlns:a16="http://schemas.microsoft.com/office/drawing/2014/main" id="{625443A3-16B5-37C3-CCEE-72CD4397062B}"/>
                </a:ext>
              </a:extLst>
            </p:cNvPr>
            <p:cNvGrpSpPr>
              <a:grpSpLocks/>
            </p:cNvGrpSpPr>
            <p:nvPr/>
          </p:nvGrpSpPr>
          <p:grpSpPr bwMode="auto">
            <a:xfrm>
              <a:off x="5595" y="3645"/>
              <a:ext cx="630" cy="630"/>
              <a:chOff x="2985" y="3750"/>
              <a:chExt cx="630" cy="630"/>
            </a:xfrm>
          </p:grpSpPr>
          <p:sp>
            <p:nvSpPr>
              <p:cNvPr id="19493" name="Text Box 30">
                <a:extLst>
                  <a:ext uri="{FF2B5EF4-FFF2-40B4-BE49-F238E27FC236}">
                    <a16:creationId xmlns:a16="http://schemas.microsoft.com/office/drawing/2014/main" id="{E468C6F9-F01D-556D-F17E-86D1958E947C}"/>
                  </a:ext>
                </a:extLst>
              </p:cNvPr>
              <p:cNvSpPr txBox="1">
                <a:spLocks noChangeArrowheads="1"/>
              </p:cNvSpPr>
              <p:nvPr/>
            </p:nvSpPr>
            <p:spPr bwMode="auto">
              <a:xfrm>
                <a:off x="3000" y="3750"/>
                <a:ext cx="61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Calibri" panose="020F0502020204030204" pitchFamily="34" charset="0"/>
                  </a:rPr>
                  <a:t>01</a:t>
                </a:r>
                <a:endParaRPr lang="en-US" altLang="en-US" sz="2000"/>
              </a:p>
            </p:txBody>
          </p:sp>
          <p:sp>
            <p:nvSpPr>
              <p:cNvPr id="19494" name="Text Box 31">
                <a:extLst>
                  <a:ext uri="{FF2B5EF4-FFF2-40B4-BE49-F238E27FC236}">
                    <a16:creationId xmlns:a16="http://schemas.microsoft.com/office/drawing/2014/main" id="{38572CA6-132D-8206-0F15-27777DBF9156}"/>
                  </a:ext>
                </a:extLst>
              </p:cNvPr>
              <p:cNvSpPr txBox="1">
                <a:spLocks noChangeArrowheads="1"/>
              </p:cNvSpPr>
              <p:nvPr/>
            </p:nvSpPr>
            <p:spPr bwMode="auto">
              <a:xfrm>
                <a:off x="2985" y="3945"/>
                <a:ext cx="61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Calibri" panose="020F0502020204030204" pitchFamily="34" charset="0"/>
                  </a:rPr>
                  <a:t>10</a:t>
                </a:r>
                <a:endParaRPr lang="en-US" altLang="en-US" sz="2000"/>
              </a:p>
            </p:txBody>
          </p:sp>
        </p:grpSp>
        <p:sp>
          <p:nvSpPr>
            <p:cNvPr id="19479" name="Text Box 32">
              <a:extLst>
                <a:ext uri="{FF2B5EF4-FFF2-40B4-BE49-F238E27FC236}">
                  <a16:creationId xmlns:a16="http://schemas.microsoft.com/office/drawing/2014/main" id="{EDE8C72F-1B71-3B10-59FC-0B1A86F1E6D5}"/>
                </a:ext>
              </a:extLst>
            </p:cNvPr>
            <p:cNvSpPr txBox="1">
              <a:spLocks noChangeArrowheads="1"/>
            </p:cNvSpPr>
            <p:nvPr/>
          </p:nvSpPr>
          <p:spPr bwMode="auto">
            <a:xfrm>
              <a:off x="4425" y="4725"/>
              <a:ext cx="720"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Times New Roman" panose="02020603050405020304" pitchFamily="18" charset="0"/>
                </a:rPr>
                <a:t>00</a:t>
              </a:r>
              <a:endParaRPr lang="en-US" altLang="en-US" sz="2000"/>
            </a:p>
          </p:txBody>
        </p:sp>
        <p:sp>
          <p:nvSpPr>
            <p:cNvPr id="19480" name="Text Box 33">
              <a:extLst>
                <a:ext uri="{FF2B5EF4-FFF2-40B4-BE49-F238E27FC236}">
                  <a16:creationId xmlns:a16="http://schemas.microsoft.com/office/drawing/2014/main" id="{76973C6A-2256-3A39-6E09-6B9097B4A352}"/>
                </a:ext>
              </a:extLst>
            </p:cNvPr>
            <p:cNvSpPr txBox="1">
              <a:spLocks noChangeArrowheads="1"/>
            </p:cNvSpPr>
            <p:nvPr/>
          </p:nvSpPr>
          <p:spPr bwMode="auto">
            <a:xfrm>
              <a:off x="6164" y="4485"/>
              <a:ext cx="589"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Calibri" panose="020F0502020204030204" pitchFamily="34" charset="0"/>
                </a:rPr>
                <a:t>11</a:t>
              </a:r>
              <a:endParaRPr lang="en-US" altLang="en-US" sz="2000"/>
            </a:p>
          </p:txBody>
        </p:sp>
        <p:sp>
          <p:nvSpPr>
            <p:cNvPr id="19481" name="Arc 34">
              <a:extLst>
                <a:ext uri="{FF2B5EF4-FFF2-40B4-BE49-F238E27FC236}">
                  <a16:creationId xmlns:a16="http://schemas.microsoft.com/office/drawing/2014/main" id="{3D026105-DEA1-4215-AA66-7179079FA8E4}"/>
                </a:ext>
              </a:extLst>
            </p:cNvPr>
            <p:cNvSpPr>
              <a:spLocks/>
            </p:cNvSpPr>
            <p:nvPr/>
          </p:nvSpPr>
          <p:spPr bwMode="auto">
            <a:xfrm rot="399863" flipV="1">
              <a:off x="3299" y="2854"/>
              <a:ext cx="1894" cy="1858"/>
            </a:xfrm>
            <a:custGeom>
              <a:avLst/>
              <a:gdLst>
                <a:gd name="T0" fmla="*/ 73 w 20978"/>
                <a:gd name="T1" fmla="*/ 0 h 19668"/>
                <a:gd name="T2" fmla="*/ 171 w 20978"/>
                <a:gd name="T3" fmla="*/ 130 h 19668"/>
                <a:gd name="T4" fmla="*/ 0 w 20978"/>
                <a:gd name="T5" fmla="*/ 176 h 19668"/>
                <a:gd name="T6" fmla="*/ 0 60000 65536"/>
                <a:gd name="T7" fmla="*/ 0 60000 65536"/>
                <a:gd name="T8" fmla="*/ 0 60000 65536"/>
              </a:gdLst>
              <a:ahLst/>
              <a:cxnLst>
                <a:cxn ang="T6">
                  <a:pos x="T0" y="T1"/>
                </a:cxn>
                <a:cxn ang="T7">
                  <a:pos x="T2" y="T3"/>
                </a:cxn>
                <a:cxn ang="T8">
                  <a:pos x="T4" y="T5"/>
                </a:cxn>
              </a:cxnLst>
              <a:rect l="0" t="0" r="r" b="b"/>
              <a:pathLst>
                <a:path w="20978" h="19668" fill="none" extrusionOk="0">
                  <a:moveTo>
                    <a:pt x="8929" y="-1"/>
                  </a:moveTo>
                  <a:cubicBezTo>
                    <a:pt x="14958" y="2737"/>
                    <a:pt x="19399" y="8089"/>
                    <a:pt x="20977" y="14521"/>
                  </a:cubicBezTo>
                </a:path>
                <a:path w="20978" h="19668" stroke="0" extrusionOk="0">
                  <a:moveTo>
                    <a:pt x="8929" y="-1"/>
                  </a:moveTo>
                  <a:cubicBezTo>
                    <a:pt x="14958" y="2737"/>
                    <a:pt x="19399" y="8089"/>
                    <a:pt x="20977" y="14521"/>
                  </a:cubicBezTo>
                  <a:lnTo>
                    <a:pt x="0" y="19668"/>
                  </a:lnTo>
                  <a:lnTo>
                    <a:pt x="8929" y="-1"/>
                  </a:lnTo>
                  <a:close/>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82" name="Arc 35">
              <a:extLst>
                <a:ext uri="{FF2B5EF4-FFF2-40B4-BE49-F238E27FC236}">
                  <a16:creationId xmlns:a16="http://schemas.microsoft.com/office/drawing/2014/main" id="{2FFEFBA3-5956-E0E3-DEA2-15ADF3CF3357}"/>
                </a:ext>
              </a:extLst>
            </p:cNvPr>
            <p:cNvSpPr>
              <a:spLocks/>
            </p:cNvSpPr>
            <p:nvPr/>
          </p:nvSpPr>
          <p:spPr bwMode="auto">
            <a:xfrm rot="10980000" flipV="1">
              <a:off x="3989" y="3334"/>
              <a:ext cx="1894" cy="1858"/>
            </a:xfrm>
            <a:custGeom>
              <a:avLst/>
              <a:gdLst>
                <a:gd name="T0" fmla="*/ 73 w 20978"/>
                <a:gd name="T1" fmla="*/ 0 h 19668"/>
                <a:gd name="T2" fmla="*/ 171 w 20978"/>
                <a:gd name="T3" fmla="*/ 130 h 19668"/>
                <a:gd name="T4" fmla="*/ 0 w 20978"/>
                <a:gd name="T5" fmla="*/ 176 h 19668"/>
                <a:gd name="T6" fmla="*/ 0 60000 65536"/>
                <a:gd name="T7" fmla="*/ 0 60000 65536"/>
                <a:gd name="T8" fmla="*/ 0 60000 65536"/>
              </a:gdLst>
              <a:ahLst/>
              <a:cxnLst>
                <a:cxn ang="T6">
                  <a:pos x="T0" y="T1"/>
                </a:cxn>
                <a:cxn ang="T7">
                  <a:pos x="T2" y="T3"/>
                </a:cxn>
                <a:cxn ang="T8">
                  <a:pos x="T4" y="T5"/>
                </a:cxn>
              </a:cxnLst>
              <a:rect l="0" t="0" r="r" b="b"/>
              <a:pathLst>
                <a:path w="20978" h="19668" fill="none" extrusionOk="0">
                  <a:moveTo>
                    <a:pt x="8929" y="-1"/>
                  </a:moveTo>
                  <a:cubicBezTo>
                    <a:pt x="14958" y="2737"/>
                    <a:pt x="19399" y="8089"/>
                    <a:pt x="20977" y="14521"/>
                  </a:cubicBezTo>
                </a:path>
                <a:path w="20978" h="19668" stroke="0" extrusionOk="0">
                  <a:moveTo>
                    <a:pt x="8929" y="-1"/>
                  </a:moveTo>
                  <a:cubicBezTo>
                    <a:pt x="14958" y="2737"/>
                    <a:pt x="19399" y="8089"/>
                    <a:pt x="20977" y="14521"/>
                  </a:cubicBezTo>
                  <a:lnTo>
                    <a:pt x="0" y="19668"/>
                  </a:lnTo>
                  <a:lnTo>
                    <a:pt x="8929" y="-1"/>
                  </a:lnTo>
                  <a:close/>
                </a:path>
              </a:pathLst>
            </a:custGeom>
            <a:noFill/>
            <a:ln w="2857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83" name="Text Box 36">
              <a:extLst>
                <a:ext uri="{FF2B5EF4-FFF2-40B4-BE49-F238E27FC236}">
                  <a16:creationId xmlns:a16="http://schemas.microsoft.com/office/drawing/2014/main" id="{95EFCA10-9A79-15E5-D23A-2B00B387D7D0}"/>
                </a:ext>
              </a:extLst>
            </p:cNvPr>
            <p:cNvSpPr txBox="1">
              <a:spLocks noChangeArrowheads="1"/>
            </p:cNvSpPr>
            <p:nvPr/>
          </p:nvSpPr>
          <p:spPr bwMode="auto">
            <a:xfrm>
              <a:off x="3870" y="3785"/>
              <a:ext cx="720"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Times New Roman" panose="02020603050405020304" pitchFamily="18" charset="0"/>
                </a:rPr>
                <a:t>00</a:t>
              </a:r>
              <a:endParaRPr lang="en-US" altLang="en-US" sz="2000"/>
            </a:p>
          </p:txBody>
        </p:sp>
        <p:sp>
          <p:nvSpPr>
            <p:cNvPr id="19484" name="Text Box 37">
              <a:extLst>
                <a:ext uri="{FF2B5EF4-FFF2-40B4-BE49-F238E27FC236}">
                  <a16:creationId xmlns:a16="http://schemas.microsoft.com/office/drawing/2014/main" id="{3EA0847E-014B-25E2-180C-1528BA597329}"/>
                </a:ext>
              </a:extLst>
            </p:cNvPr>
            <p:cNvSpPr txBox="1">
              <a:spLocks noChangeArrowheads="1"/>
            </p:cNvSpPr>
            <p:nvPr/>
          </p:nvSpPr>
          <p:spPr bwMode="auto">
            <a:xfrm>
              <a:off x="4650" y="4110"/>
              <a:ext cx="720"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Calibri" panose="020F0502020204030204" pitchFamily="34" charset="0"/>
                </a:rPr>
                <a:t>11</a:t>
              </a:r>
              <a:endParaRPr lang="en-US" altLang="en-US" sz="2000"/>
            </a:p>
          </p:txBody>
        </p:sp>
        <p:sp>
          <p:nvSpPr>
            <p:cNvPr id="19485" name="Text Box 38">
              <a:extLst>
                <a:ext uri="{FF2B5EF4-FFF2-40B4-BE49-F238E27FC236}">
                  <a16:creationId xmlns:a16="http://schemas.microsoft.com/office/drawing/2014/main" id="{9D28F66D-33F9-053D-50A4-22AB8C9FCBEF}"/>
                </a:ext>
              </a:extLst>
            </p:cNvPr>
            <p:cNvSpPr txBox="1">
              <a:spLocks noChangeArrowheads="1"/>
            </p:cNvSpPr>
            <p:nvPr/>
          </p:nvSpPr>
          <p:spPr bwMode="auto">
            <a:xfrm>
              <a:off x="5202" y="3780"/>
              <a:ext cx="720"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Calibri" panose="020F0502020204030204" pitchFamily="34" charset="0"/>
                </a:rPr>
                <a:t>11</a:t>
              </a:r>
              <a:endParaRPr lang="en-US" altLang="en-US" sz="2000"/>
            </a:p>
          </p:txBody>
        </p:sp>
        <p:grpSp>
          <p:nvGrpSpPr>
            <p:cNvPr id="19486" name="Group 39">
              <a:extLst>
                <a:ext uri="{FF2B5EF4-FFF2-40B4-BE49-F238E27FC236}">
                  <a16:creationId xmlns:a16="http://schemas.microsoft.com/office/drawing/2014/main" id="{7EC5DC57-6E9C-453F-6F5E-ED61565BED1E}"/>
                </a:ext>
              </a:extLst>
            </p:cNvPr>
            <p:cNvGrpSpPr>
              <a:grpSpLocks/>
            </p:cNvGrpSpPr>
            <p:nvPr/>
          </p:nvGrpSpPr>
          <p:grpSpPr bwMode="auto">
            <a:xfrm>
              <a:off x="3060" y="3765"/>
              <a:ext cx="630" cy="630"/>
              <a:chOff x="2985" y="3750"/>
              <a:chExt cx="630" cy="630"/>
            </a:xfrm>
          </p:grpSpPr>
          <p:sp>
            <p:nvSpPr>
              <p:cNvPr id="19491" name="Text Box 40">
                <a:extLst>
                  <a:ext uri="{FF2B5EF4-FFF2-40B4-BE49-F238E27FC236}">
                    <a16:creationId xmlns:a16="http://schemas.microsoft.com/office/drawing/2014/main" id="{50FF858D-52F1-2200-E6F3-66D5FF82A4A6}"/>
                  </a:ext>
                </a:extLst>
              </p:cNvPr>
              <p:cNvSpPr txBox="1">
                <a:spLocks noChangeArrowheads="1"/>
              </p:cNvSpPr>
              <p:nvPr/>
            </p:nvSpPr>
            <p:spPr bwMode="auto">
              <a:xfrm>
                <a:off x="3000" y="3750"/>
                <a:ext cx="61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Calibri" panose="020F0502020204030204" pitchFamily="34" charset="0"/>
                  </a:rPr>
                  <a:t>01</a:t>
                </a:r>
                <a:endParaRPr lang="en-US" altLang="en-US" sz="2000"/>
              </a:p>
            </p:txBody>
          </p:sp>
          <p:sp>
            <p:nvSpPr>
              <p:cNvPr id="19492" name="Text Box 41">
                <a:extLst>
                  <a:ext uri="{FF2B5EF4-FFF2-40B4-BE49-F238E27FC236}">
                    <a16:creationId xmlns:a16="http://schemas.microsoft.com/office/drawing/2014/main" id="{1B75ADB4-5666-77B5-7837-B722A8D91456}"/>
                  </a:ext>
                </a:extLst>
              </p:cNvPr>
              <p:cNvSpPr txBox="1">
                <a:spLocks noChangeArrowheads="1"/>
              </p:cNvSpPr>
              <p:nvPr/>
            </p:nvSpPr>
            <p:spPr bwMode="auto">
              <a:xfrm>
                <a:off x="2985" y="3945"/>
                <a:ext cx="61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Calibri" panose="020F0502020204030204" pitchFamily="34" charset="0"/>
                  </a:rPr>
                  <a:t>10</a:t>
                </a:r>
                <a:endParaRPr lang="en-US" altLang="en-US" sz="2000"/>
              </a:p>
            </p:txBody>
          </p:sp>
        </p:grpSp>
        <p:grpSp>
          <p:nvGrpSpPr>
            <p:cNvPr id="19487" name="Group 42">
              <a:extLst>
                <a:ext uri="{FF2B5EF4-FFF2-40B4-BE49-F238E27FC236}">
                  <a16:creationId xmlns:a16="http://schemas.microsoft.com/office/drawing/2014/main" id="{42A1DEFC-352F-84A4-F306-05427EFB0CA2}"/>
                </a:ext>
              </a:extLst>
            </p:cNvPr>
            <p:cNvGrpSpPr>
              <a:grpSpLocks/>
            </p:cNvGrpSpPr>
            <p:nvPr/>
          </p:nvGrpSpPr>
          <p:grpSpPr bwMode="auto">
            <a:xfrm>
              <a:off x="6060" y="2880"/>
              <a:ext cx="630" cy="630"/>
              <a:chOff x="2985" y="3750"/>
              <a:chExt cx="630" cy="630"/>
            </a:xfrm>
          </p:grpSpPr>
          <p:sp>
            <p:nvSpPr>
              <p:cNvPr id="19489" name="Text Box 43">
                <a:extLst>
                  <a:ext uri="{FF2B5EF4-FFF2-40B4-BE49-F238E27FC236}">
                    <a16:creationId xmlns:a16="http://schemas.microsoft.com/office/drawing/2014/main" id="{BF0B1C1D-D6B6-0E6E-2EBD-A52E978D4364}"/>
                  </a:ext>
                </a:extLst>
              </p:cNvPr>
              <p:cNvSpPr txBox="1">
                <a:spLocks noChangeArrowheads="1"/>
              </p:cNvSpPr>
              <p:nvPr/>
            </p:nvSpPr>
            <p:spPr bwMode="auto">
              <a:xfrm>
                <a:off x="3000" y="3750"/>
                <a:ext cx="61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Calibri" panose="020F0502020204030204" pitchFamily="34" charset="0"/>
                  </a:rPr>
                  <a:t>01</a:t>
                </a:r>
                <a:endParaRPr lang="en-US" altLang="en-US" sz="2000"/>
              </a:p>
            </p:txBody>
          </p:sp>
          <p:sp>
            <p:nvSpPr>
              <p:cNvPr id="19490" name="Text Box 44">
                <a:extLst>
                  <a:ext uri="{FF2B5EF4-FFF2-40B4-BE49-F238E27FC236}">
                    <a16:creationId xmlns:a16="http://schemas.microsoft.com/office/drawing/2014/main" id="{008B5F5E-F386-F0AD-A1BE-5884B920E172}"/>
                  </a:ext>
                </a:extLst>
              </p:cNvPr>
              <p:cNvSpPr txBox="1">
                <a:spLocks noChangeArrowheads="1"/>
              </p:cNvSpPr>
              <p:nvPr/>
            </p:nvSpPr>
            <p:spPr bwMode="auto">
              <a:xfrm>
                <a:off x="2985" y="3945"/>
                <a:ext cx="61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Calibri" panose="020F0502020204030204" pitchFamily="34" charset="0"/>
                  </a:rPr>
                  <a:t>10</a:t>
                </a:r>
                <a:endParaRPr lang="en-US" altLang="en-US" sz="2000"/>
              </a:p>
            </p:txBody>
          </p:sp>
        </p:grpSp>
        <p:sp>
          <p:nvSpPr>
            <p:cNvPr id="19488" name="Text Box 45">
              <a:extLst>
                <a:ext uri="{FF2B5EF4-FFF2-40B4-BE49-F238E27FC236}">
                  <a16:creationId xmlns:a16="http://schemas.microsoft.com/office/drawing/2014/main" id="{D02A0F49-6AE9-E305-2095-9848D17A77DE}"/>
                </a:ext>
              </a:extLst>
            </p:cNvPr>
            <p:cNvSpPr txBox="1">
              <a:spLocks noChangeArrowheads="1"/>
            </p:cNvSpPr>
            <p:nvPr/>
          </p:nvSpPr>
          <p:spPr bwMode="auto">
            <a:xfrm>
              <a:off x="4261" y="3450"/>
              <a:ext cx="720"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Times New Roman" panose="02020603050405020304" pitchFamily="18" charset="0"/>
                </a:rPr>
                <a:t>00</a:t>
              </a:r>
              <a:endParaRPr lang="en-US" altLang="en-US" sz="2000"/>
            </a:p>
          </p:txBody>
        </p:sp>
      </p:grpSp>
      <p:graphicFrame>
        <p:nvGraphicFramePr>
          <p:cNvPr id="48" name="Group 55">
            <a:extLst>
              <a:ext uri="{FF2B5EF4-FFF2-40B4-BE49-F238E27FC236}">
                <a16:creationId xmlns:a16="http://schemas.microsoft.com/office/drawing/2014/main" id="{817F0A82-FAF0-4403-A716-DC7FB2779651}"/>
              </a:ext>
            </a:extLst>
          </p:cNvPr>
          <p:cNvGraphicFramePr>
            <a:graphicFrameLocks noGrp="1"/>
          </p:cNvGraphicFramePr>
          <p:nvPr/>
        </p:nvGraphicFramePr>
        <p:xfrm>
          <a:off x="5893314" y="3491157"/>
          <a:ext cx="4252735" cy="2084646"/>
        </p:xfrm>
        <a:graphic>
          <a:graphicData uri="http://schemas.openxmlformats.org/drawingml/2006/table">
            <a:tbl>
              <a:tblPr>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effectLst>
                  <a:outerShdw blurRad="40000" dist="20000" dir="5400000" rotWithShape="0">
                    <a:srgbClr val="000000">
                      <a:alpha val="38000"/>
                    </a:srgbClr>
                  </a:outerShdw>
                </a:effectLst>
              </a:tblPr>
              <a:tblGrid>
                <a:gridCol w="850797">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707286">
                  <a:extLst>
                    <a:ext uri="{9D8B030D-6E8A-4147-A177-3AD203B41FA5}">
                      <a16:colId xmlns:a16="http://schemas.microsoft.com/office/drawing/2014/main" val="20002"/>
                    </a:ext>
                  </a:extLst>
                </a:gridCol>
                <a:gridCol w="696781">
                  <a:extLst>
                    <a:ext uri="{9D8B030D-6E8A-4147-A177-3AD203B41FA5}">
                      <a16:colId xmlns:a16="http://schemas.microsoft.com/office/drawing/2014/main" val="20003"/>
                    </a:ext>
                  </a:extLst>
                </a:gridCol>
                <a:gridCol w="610073">
                  <a:extLst>
                    <a:ext uri="{9D8B030D-6E8A-4147-A177-3AD203B41FA5}">
                      <a16:colId xmlns:a16="http://schemas.microsoft.com/office/drawing/2014/main" val="20004"/>
                    </a:ext>
                  </a:extLst>
                </a:gridCol>
                <a:gridCol w="549598">
                  <a:extLst>
                    <a:ext uri="{9D8B030D-6E8A-4147-A177-3AD203B41FA5}">
                      <a16:colId xmlns:a16="http://schemas.microsoft.com/office/drawing/2014/main" val="20005"/>
                    </a:ext>
                  </a:extLst>
                </a:gridCol>
              </a:tblGrid>
              <a:tr h="53282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dk1"/>
                          </a:solidFill>
                          <a:effectLst/>
                          <a:latin typeface="+mn-lt"/>
                          <a:cs typeface="+mn-cs"/>
                        </a:rPr>
                        <a:t>Output</a:t>
                      </a:r>
                      <a:endParaRPr kumimoji="0" lang="en-US"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12700" cap="flat" cmpd="sng" algn="ctr">
                      <a:solidFill>
                        <a:sysClr val="windowText" lastClr="000000"/>
                      </a:solidFill>
                      <a:prstDash val="solid"/>
                      <a:round/>
                      <a:headEnd type="none" w="med" len="med"/>
                      <a:tailEnd type="none" w="med" len="me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0" fontAlgn="base" latinLnBrk="0" hangingPunct="0">
                        <a:lnSpc>
                          <a:spcPct val="100000"/>
                        </a:lnSpc>
                        <a:spcBef>
                          <a:spcPct val="0"/>
                        </a:spcBef>
                        <a:spcAft>
                          <a:spcPct val="0"/>
                        </a:spcAft>
                        <a:buClrTx/>
                        <a:buSzTx/>
                        <a:buFont typeface="Arial" charset="0"/>
                        <a:buNone/>
                        <a:tabLst/>
                      </a:pPr>
                      <a:r>
                        <a:rPr kumimoji="0" lang="en-US" sz="1600" u="none" strike="noStrike" cap="none" normalizeH="0" baseline="0" dirty="0">
                          <a:ln>
                            <a:noFill/>
                          </a:ln>
                          <a:effectLst/>
                          <a:latin typeface="+mn-lt"/>
                        </a:rPr>
                        <a:t>       X</a:t>
                      </a:r>
                    </a:p>
                    <a:p>
                      <a:pPr marL="0" marR="0" lvl="0" indent="0" algn="l" defTabSz="914400" rtl="0" eaLnBrk="0" fontAlgn="base" latinLnBrk="0" hangingPunct="0">
                        <a:lnSpc>
                          <a:spcPct val="100000"/>
                        </a:lnSpc>
                        <a:spcBef>
                          <a:spcPct val="0"/>
                        </a:spcBef>
                        <a:spcAft>
                          <a:spcPct val="0"/>
                        </a:spcAft>
                        <a:buClrTx/>
                        <a:buSzTx/>
                        <a:buFont typeface="Arial" charset="0"/>
                        <a:buNone/>
                        <a:tabLst/>
                      </a:pPr>
                      <a:r>
                        <a:rPr kumimoji="0" lang="en-US" sz="1600" u="none" strike="noStrike" cap="none" normalizeH="0" baseline="0" dirty="0">
                          <a:ln>
                            <a:noFill/>
                          </a:ln>
                          <a:effectLst/>
                          <a:latin typeface="+mn-lt"/>
                        </a:rPr>
                        <a:t>S</a:t>
                      </a:r>
                      <a:endParaRPr kumimoji="0" lang="en-US" sz="1600" b="0" i="0" u="none" strike="noStrike" cap="none" normalizeH="0" baseline="0" dirty="0">
                        <a:ln>
                          <a:noFill/>
                        </a:ln>
                        <a:solidFill>
                          <a:schemeClr val="tx1"/>
                        </a:solidFill>
                        <a:effectLst/>
                        <a:latin typeface="+mn-lt"/>
                        <a:cs typeface="Arial" charset="0"/>
                      </a:endParaRP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ap="flat" cmpd="sng" algn="ctr">
                      <a:solidFill>
                        <a:sysClr val="windowText" lastClr="000000"/>
                      </a:solidFill>
                      <a:prstDash val="solid"/>
                      <a:round/>
                      <a:headEnd type="none" w="med" len="med"/>
                      <a:tailEnd type="none" w="med" len="me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u="none" strike="noStrike" cap="none" normalizeH="0" baseline="0" dirty="0">
                          <a:ln>
                            <a:noFill/>
                          </a:ln>
                          <a:effectLst/>
                          <a:latin typeface="+mn-lt"/>
                        </a:rPr>
                        <a:t>00</a:t>
                      </a:r>
                      <a:endParaRPr kumimoji="0" lang="en-US" sz="1600" b="0" i="0" u="none" strike="noStrike" cap="none" normalizeH="0" baseline="0" dirty="0">
                        <a:ln>
                          <a:noFill/>
                        </a:ln>
                        <a:solidFill>
                          <a:schemeClr val="tx1"/>
                        </a:solidFill>
                        <a:effectLst/>
                        <a:latin typeface="+mn-lt"/>
                        <a:cs typeface="Arial" charset="0"/>
                      </a:endParaRPr>
                    </a:p>
                  </a:txBody>
                  <a:tcPr horzOverflow="overflow">
                    <a:lnL w="12700" cap="flat" cmpd="sng" algn="ctr">
                      <a:solidFill>
                        <a:sysClr val="windowText" lastClr="000000"/>
                      </a:solidFill>
                      <a:prstDash val="solid"/>
                      <a:round/>
                      <a:headEnd type="none" w="med" len="med"/>
                      <a:tailEnd type="none" w="med" len="me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u="none" strike="noStrike" cap="none" normalizeH="0" baseline="0" dirty="0">
                          <a:ln>
                            <a:noFill/>
                          </a:ln>
                          <a:effectLst/>
                          <a:latin typeface="+mn-lt"/>
                        </a:rPr>
                        <a:t>01</a:t>
                      </a:r>
                      <a:endParaRPr kumimoji="0" lang="en-US"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u="none" strike="noStrike" cap="none" normalizeH="0" baseline="0" dirty="0">
                          <a:ln>
                            <a:noFill/>
                          </a:ln>
                          <a:effectLst/>
                          <a:latin typeface="+mn-lt"/>
                        </a:rPr>
                        <a:t>10</a:t>
                      </a:r>
                      <a:endParaRPr kumimoji="0" lang="en-US"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mn-lt"/>
                          <a:cs typeface="Arial" charset="0"/>
                        </a:rPr>
                        <a:t>11</a:t>
                      </a: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371475">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u="none" strike="noStrike" cap="none" normalizeH="0" baseline="0" dirty="0">
                          <a:ln>
                            <a:noFill/>
                          </a:ln>
                          <a:effectLst/>
                          <a:latin typeface="+mn-lt"/>
                        </a:rPr>
                        <a:t>0</a:t>
                      </a:r>
                      <a:endParaRPr kumimoji="0" lang="en-US"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u="none" strike="noStrike" cap="none" normalizeH="0" baseline="0" dirty="0">
                          <a:ln>
                            <a:noFill/>
                          </a:ln>
                          <a:effectLst/>
                          <a:latin typeface="+mn-lt"/>
                        </a:rPr>
                        <a:t>S0</a:t>
                      </a:r>
                      <a:endParaRPr kumimoji="0" lang="en-US"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12700" cap="flat" cmpd="sng" algn="ctr">
                      <a:solidFill>
                        <a:sysClr val="windowText" lastClr="000000"/>
                      </a:solidFill>
                      <a:prstDash val="solid"/>
                      <a:round/>
                      <a:headEnd type="none" w="med" len="med"/>
                      <a:tailEnd type="none" w="med" len="me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u="none" strike="noStrike" cap="none" normalizeH="0" baseline="0" dirty="0">
                          <a:ln>
                            <a:noFill/>
                          </a:ln>
                          <a:effectLst/>
                          <a:latin typeface="+mn-lt"/>
                          <a:sym typeface="Symbol" pitchFamily="18" charset="2"/>
                        </a:rPr>
                        <a:t>S0</a:t>
                      </a:r>
                      <a:endParaRPr kumimoji="0" lang="en-US"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dk1"/>
                          </a:solidFill>
                          <a:effectLst/>
                          <a:latin typeface="+mn-lt"/>
                          <a:cs typeface="+mn-cs"/>
                          <a:sym typeface="Symbol" pitchFamily="18" charset="2"/>
                        </a:rPr>
                        <a:t>S2</a:t>
                      </a:r>
                      <a:endParaRPr kumimoji="0" lang="en-US"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mn-lt"/>
                          <a:cs typeface="Arial" charset="0"/>
                        </a:rPr>
                        <a:t>S2</a:t>
                      </a:r>
                      <a:endParaRPr kumimoji="0" lang="ru-RU"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u="none" strike="noStrike" cap="none" normalizeH="0" baseline="0" dirty="0">
                          <a:ln>
                            <a:noFill/>
                          </a:ln>
                          <a:effectLst/>
                          <a:latin typeface="+mn-lt"/>
                        </a:rPr>
                        <a:t>S1 </a:t>
                      </a:r>
                      <a:endParaRPr kumimoji="0" lang="en-US"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1"/>
                  </a:ext>
                </a:extLst>
              </a:tr>
              <a:tr h="39110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u="none" strike="noStrike" cap="none" normalizeH="0" baseline="0" dirty="0">
                          <a:ln>
                            <a:noFill/>
                          </a:ln>
                          <a:effectLst/>
                          <a:latin typeface="+mn-lt"/>
                          <a:sym typeface="Symbol" pitchFamily="18" charset="2"/>
                        </a:rPr>
                        <a:t>0</a:t>
                      </a:r>
                      <a:endParaRPr kumimoji="0" lang="en-US" sz="1600" b="0" i="0" u="none" strike="noStrike" cap="none" normalizeH="0" baseline="0" dirty="0">
                        <a:ln>
                          <a:noFill/>
                        </a:ln>
                        <a:solidFill>
                          <a:schemeClr val="tx1"/>
                        </a:solidFill>
                        <a:effectLst/>
                        <a:latin typeface="+mn-lt"/>
                        <a:cs typeface="Times New Roman" pitchFamily="18"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u="none" strike="noStrike" cap="none" normalizeH="0" baseline="0" dirty="0">
                          <a:ln>
                            <a:noFill/>
                          </a:ln>
                          <a:effectLst/>
                          <a:latin typeface="+mn-lt"/>
                        </a:rPr>
                        <a:t>S1</a:t>
                      </a:r>
                      <a:endParaRPr kumimoji="0" lang="en-US"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u="none" strike="noStrike" cap="none" normalizeH="0" baseline="0" dirty="0">
                          <a:ln>
                            <a:noFill/>
                          </a:ln>
                          <a:effectLst/>
                          <a:latin typeface="+mn-lt"/>
                          <a:sym typeface="Symbol" pitchFamily="18" charset="2"/>
                        </a:rPr>
                        <a:t>S2</a:t>
                      </a:r>
                      <a:endParaRPr kumimoji="0" lang="en-US" sz="1600" b="0" i="0" u="none" strike="noStrike" cap="none" normalizeH="0" baseline="0" dirty="0">
                        <a:ln>
                          <a:noFill/>
                        </a:ln>
                        <a:solidFill>
                          <a:schemeClr val="tx1"/>
                        </a:solidFill>
                        <a:effectLst/>
                        <a:latin typeface="+mn-lt"/>
                        <a:cs typeface="Times New Roman" pitchFamily="18"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u="none" strike="noStrike" cap="none" normalizeH="0" baseline="0" dirty="0">
                          <a:ln>
                            <a:noFill/>
                          </a:ln>
                          <a:effectLst/>
                          <a:latin typeface="+mn-lt"/>
                          <a:sym typeface="Symbol" pitchFamily="18" charset="2"/>
                        </a:rPr>
                        <a:t>S1</a:t>
                      </a:r>
                      <a:endParaRPr kumimoji="0" lang="en-US" sz="1600" b="0" i="0" u="none" strike="noStrike" cap="none" normalizeH="0" baseline="0" dirty="0">
                        <a:ln>
                          <a:noFill/>
                        </a:ln>
                        <a:solidFill>
                          <a:schemeClr val="tx1"/>
                        </a:solidFill>
                        <a:effectLst/>
                        <a:latin typeface="+mn-lt"/>
                        <a:cs typeface="Times New Roman" pitchFamily="18"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mn-lt"/>
                          <a:cs typeface="Arial" charset="0"/>
                        </a:rPr>
                        <a:t>S1</a:t>
                      </a:r>
                      <a:endParaRPr kumimoji="0" lang="ru-RU"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mn-lt"/>
                          <a:cs typeface="Times New Roman" pitchFamily="18" charset="0"/>
                        </a:rPr>
                        <a:t>S3</a:t>
                      </a: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2"/>
                  </a:ext>
                </a:extLst>
              </a:tr>
              <a:tr h="371475">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mn-lt"/>
                          <a:cs typeface="Arial" charset="0"/>
                        </a:rPr>
                        <a:t>1</a:t>
                      </a:r>
                      <a:endParaRPr kumimoji="0" lang="ru-RU"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mn-lt"/>
                          <a:cs typeface="Arial" charset="0"/>
                        </a:rPr>
                        <a:t>S2</a:t>
                      </a:r>
                      <a:endParaRPr kumimoji="0" lang="ru-RU"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mn-lt"/>
                          <a:cs typeface="Arial" charset="0"/>
                        </a:rPr>
                        <a:t>S0</a:t>
                      </a:r>
                      <a:endParaRPr kumimoji="0" lang="ru-RU"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mn-lt"/>
                          <a:cs typeface="Arial" charset="0"/>
                        </a:rPr>
                        <a:t>S0</a:t>
                      </a:r>
                      <a:endParaRPr kumimoji="0" lang="ru-RU"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mn-lt"/>
                          <a:cs typeface="Arial" charset="0"/>
                        </a:rPr>
                        <a:t>S0</a:t>
                      </a:r>
                      <a:endParaRPr kumimoji="0" lang="ru-RU"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mn-lt"/>
                          <a:cs typeface="Arial" charset="0"/>
                        </a:rPr>
                        <a:t>S1</a:t>
                      </a:r>
                      <a:endParaRPr kumimoji="0" lang="ru-RU"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3"/>
                  </a:ext>
                </a:extLst>
              </a:tr>
              <a:tr h="371475">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mn-lt"/>
                          <a:cs typeface="Arial" charset="0"/>
                        </a:rPr>
                        <a:t>1</a:t>
                      </a:r>
                      <a:endParaRPr kumimoji="0" lang="ru-RU"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lnL>
                    <a:lnR w="9525" cap="flat" cmpd="sng" algn="ctr">
                      <a:solidFill>
                        <a:srgbClr val="8064A2">
                          <a:shade val="95000"/>
                          <a:satMod val="105000"/>
                        </a:srgbClr>
                      </a:solidFill>
                      <a:prstDash val="solid"/>
                      <a:round/>
                      <a:headEnd type="none" w="med" len="med"/>
                      <a:tailEnd type="none" w="med" len="me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mn-lt"/>
                          <a:cs typeface="Arial" charset="0"/>
                        </a:rPr>
                        <a:t>S3</a:t>
                      </a:r>
                      <a:endParaRPr kumimoji="0" lang="ru-RU"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round/>
                      <a:headEnd type="none" w="med" len="med"/>
                      <a:tailEnd type="none" w="med" len="med"/>
                    </a:lnL>
                    <a:lnR w="9525" cap="flat" cmpd="sng" algn="ctr">
                      <a:solidFill>
                        <a:srgbClr val="8064A2">
                          <a:shade val="95000"/>
                          <a:satMod val="105000"/>
                        </a:srgbClr>
                      </a:solidFill>
                      <a:prstDash val="solid"/>
                      <a:round/>
                      <a:headEnd type="none" w="med" len="med"/>
                      <a:tailEnd type="none" w="med" len="me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mn-lt"/>
                          <a:cs typeface="Arial" charset="0"/>
                        </a:rPr>
                        <a:t>S2</a:t>
                      </a:r>
                      <a:endParaRPr kumimoji="0" lang="ru-RU"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round/>
                      <a:headEnd type="none" w="med" len="med"/>
                      <a:tailEnd type="none" w="med" len="med"/>
                    </a:lnL>
                    <a:lnR w="9525" cap="flat" cmpd="sng" algn="ctr">
                      <a:solidFill>
                        <a:srgbClr val="8064A2">
                          <a:shade val="95000"/>
                          <a:satMod val="105000"/>
                        </a:srgbClr>
                      </a:solidFill>
                      <a:prstDash val="solid"/>
                      <a:round/>
                      <a:headEnd type="none" w="med" len="med"/>
                      <a:tailEnd type="none" w="med" len="me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mn-lt"/>
                          <a:cs typeface="Arial" charset="0"/>
                        </a:rPr>
                        <a:t>S1</a:t>
                      </a:r>
                      <a:endParaRPr kumimoji="0" lang="ru-RU"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round/>
                      <a:headEnd type="none" w="med" len="med"/>
                      <a:tailEnd type="none" w="med" len="med"/>
                    </a:lnL>
                    <a:lnR w="9525" cap="flat" cmpd="sng" algn="ctr">
                      <a:solidFill>
                        <a:srgbClr val="8064A2">
                          <a:shade val="95000"/>
                          <a:satMod val="105000"/>
                        </a:srgbClr>
                      </a:solidFill>
                      <a:prstDash val="solid"/>
                      <a:round/>
                      <a:headEnd type="none" w="med" len="med"/>
                      <a:tailEnd type="none" w="med" len="me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mn-lt"/>
                          <a:cs typeface="Arial" charset="0"/>
                        </a:rPr>
                        <a:t>S1</a:t>
                      </a:r>
                      <a:endParaRPr kumimoji="0" lang="ru-RU"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round/>
                      <a:headEnd type="none" w="med" len="med"/>
                      <a:tailEnd type="none" w="med" len="med"/>
                    </a:lnL>
                    <a:lnR w="9525" cap="flat" cmpd="sng" algn="ctr">
                      <a:solidFill>
                        <a:srgbClr val="8064A2">
                          <a:shade val="95000"/>
                          <a:satMod val="105000"/>
                        </a:srgbClr>
                      </a:solidFill>
                      <a:prstDash val="solid"/>
                      <a:round/>
                      <a:headEnd type="none" w="med" len="med"/>
                      <a:tailEnd type="none" w="med" len="me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mn-lt"/>
                          <a:cs typeface="Arial" charset="0"/>
                        </a:rPr>
                        <a:t>S3</a:t>
                      </a:r>
                      <a:endParaRPr kumimoji="0" lang="ru-RU" sz="1600" b="0" i="0" u="none" strike="noStrike" cap="none" normalizeH="0" baseline="0" dirty="0">
                        <a:ln>
                          <a:noFill/>
                        </a:ln>
                        <a:solidFill>
                          <a:schemeClr val="tx1"/>
                        </a:solidFill>
                        <a:effectLst/>
                        <a:latin typeface="+mn-lt"/>
                        <a:cs typeface="Arial" charset="0"/>
                      </a:endParaRPr>
                    </a:p>
                  </a:txBody>
                  <a:tcPr horzOverflow="overflow">
                    <a:lnL w="9525" cap="flat" cmpd="sng" algn="ctr">
                      <a:solidFill>
                        <a:srgbClr val="8064A2">
                          <a:shade val="95000"/>
                          <a:satMod val="105000"/>
                        </a:srgbClr>
                      </a:solidFill>
                      <a:prstDash val="solid"/>
                      <a:round/>
                      <a:headEnd type="none" w="med" len="med"/>
                      <a:tailEnd type="none" w="med" len="med"/>
                    </a:lnL>
                    <a:lnR w="9525" cap="flat" cmpd="sng" algn="ctr">
                      <a:solidFill>
                        <a:srgbClr val="8064A2">
                          <a:shade val="95000"/>
                          <a:satMod val="105000"/>
                        </a:srgbClr>
                      </a:solidFill>
                      <a:prstDash val="solid"/>
                    </a:lnR>
                    <a:lnT w="9525" cap="flat" cmpd="sng" algn="ctr">
                      <a:solidFill>
                        <a:srgbClr val="8064A2">
                          <a:shade val="95000"/>
                          <a:satMod val="105000"/>
                        </a:srgbClr>
                      </a:solidFill>
                      <a:prstDash val="solid"/>
                    </a:lnT>
                    <a:lnB w="9525" cap="flat" cmpd="sng" algn="ctr">
                      <a:solidFill>
                        <a:srgbClr val="8064A2">
                          <a:shade val="95000"/>
                          <a:satMod val="105000"/>
                        </a:srgbClr>
                      </a:solidFill>
                      <a:prstDash val="soli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Заголовок 1">
            <a:extLst>
              <a:ext uri="{FF2B5EF4-FFF2-40B4-BE49-F238E27FC236}">
                <a16:creationId xmlns:a16="http://schemas.microsoft.com/office/drawing/2014/main" id="{27452A9D-AFF2-9F81-8C55-315F4B332E10}"/>
              </a:ext>
            </a:extLst>
          </p:cNvPr>
          <p:cNvSpPr>
            <a:spLocks noGrp="1" noChangeArrowheads="1"/>
          </p:cNvSpPr>
          <p:nvPr>
            <p:ph type="title"/>
          </p:nvPr>
        </p:nvSpPr>
        <p:spPr>
          <a:xfrm>
            <a:off x="-1" y="183402"/>
            <a:ext cx="11612880" cy="704088"/>
          </a:xfrm>
        </p:spPr>
        <p:txBody>
          <a:bodyPr>
            <a:normAutofit/>
          </a:bodyPr>
          <a:lstStyle/>
          <a:p>
            <a:r>
              <a:rPr lang="en-US" altLang="en-US" dirty="0"/>
              <a:t>Representation of FSM (2)</a:t>
            </a:r>
            <a:endParaRPr lang="ru-RU" altLang="en-US" dirty="0"/>
          </a:p>
        </p:txBody>
      </p:sp>
      <p:sp>
        <p:nvSpPr>
          <p:cNvPr id="20483" name="Объект 2">
            <a:extLst>
              <a:ext uri="{FF2B5EF4-FFF2-40B4-BE49-F238E27FC236}">
                <a16:creationId xmlns:a16="http://schemas.microsoft.com/office/drawing/2014/main" id="{5E5006C2-AACD-EAA3-992A-7216E657C58D}"/>
              </a:ext>
            </a:extLst>
          </p:cNvPr>
          <p:cNvSpPr>
            <a:spLocks noGrp="1" noChangeArrowheads="1"/>
          </p:cNvSpPr>
          <p:nvPr>
            <p:ph type="body" sz="quarter" idx="10"/>
          </p:nvPr>
        </p:nvSpPr>
        <p:spPr>
          <a:xfrm>
            <a:off x="457200" y="1188720"/>
            <a:ext cx="11277922" cy="5185186"/>
          </a:xfrm>
        </p:spPr>
        <p:txBody>
          <a:bodyPr/>
          <a:lstStyle/>
          <a:p>
            <a:r>
              <a:rPr lang="en-US" altLang="en-US"/>
              <a:t>Moore FSM</a:t>
            </a:r>
          </a:p>
          <a:p>
            <a:endParaRPr lang="ru-RU" altLang="en-US"/>
          </a:p>
        </p:txBody>
      </p:sp>
      <p:graphicFrame>
        <p:nvGraphicFramePr>
          <p:cNvPr id="12343" name="Group 55">
            <a:extLst>
              <a:ext uri="{FF2B5EF4-FFF2-40B4-BE49-F238E27FC236}">
                <a16:creationId xmlns:a16="http://schemas.microsoft.com/office/drawing/2014/main" id="{ACB1607E-8440-4C80-B347-F484D42D7BB2}"/>
              </a:ext>
            </a:extLst>
          </p:cNvPr>
          <p:cNvGraphicFramePr>
            <a:graphicFrameLocks noGrp="1"/>
          </p:cNvGraphicFramePr>
          <p:nvPr>
            <p:extLst>
              <p:ext uri="{D42A27DB-BD31-4B8C-83A1-F6EECF244321}">
                <p14:modId xmlns:p14="http://schemas.microsoft.com/office/powerpoint/2010/main" val="3355134729"/>
              </p:ext>
            </p:extLst>
          </p:nvPr>
        </p:nvGraphicFramePr>
        <p:xfrm>
          <a:off x="3048001" y="2763839"/>
          <a:ext cx="6594475" cy="2065337"/>
        </p:xfrm>
        <a:graphic>
          <a:graphicData uri="http://schemas.openxmlformats.org/drawingml/2006/table">
            <a:tbl>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gridCol w="1287463">
                  <a:extLst>
                    <a:ext uri="{9D8B030D-6E8A-4147-A177-3AD203B41FA5}">
                      <a16:colId xmlns:a16="http://schemas.microsoft.com/office/drawing/2014/main" val="20003"/>
                    </a:ext>
                  </a:extLst>
                </a:gridCol>
                <a:gridCol w="522287">
                  <a:extLst>
                    <a:ext uri="{9D8B030D-6E8A-4147-A177-3AD203B41FA5}">
                      <a16:colId xmlns:a16="http://schemas.microsoft.com/office/drawing/2014/main" val="20004"/>
                    </a:ext>
                  </a:extLst>
                </a:gridCol>
                <a:gridCol w="1514475">
                  <a:extLst>
                    <a:ext uri="{9D8B030D-6E8A-4147-A177-3AD203B41FA5}">
                      <a16:colId xmlns:a16="http://schemas.microsoft.com/office/drawing/2014/main" val="20005"/>
                    </a:ext>
                  </a:extLst>
                </a:gridCol>
              </a:tblGrid>
              <a:tr h="579209">
                <a:tc>
                  <a:txBody>
                    <a:bodyPr/>
                    <a:lstStyle/>
                    <a:p>
                      <a:pPr marL="0" marR="0" lvl="0" indent="0" algn="l"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a:ln>
                            <a:noFill/>
                          </a:ln>
                          <a:solidFill>
                            <a:schemeClr val="bg2"/>
                          </a:solidFill>
                          <a:effectLst/>
                          <a:latin typeface="Arial" charset="0"/>
                          <a:cs typeface="Arial" charset="0"/>
                        </a:rPr>
                        <a:t>Output</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bg2"/>
                          </a:solidFill>
                          <a:effectLst/>
                          <a:latin typeface="Arial" charset="0"/>
                          <a:cs typeface="Arial" charset="0"/>
                        </a:rPr>
                        <a:t>       X</a:t>
                      </a:r>
                    </a:p>
                    <a:p>
                      <a:pPr marL="0" marR="0" lvl="0" indent="0" algn="l"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bg2"/>
                          </a:solidFill>
                          <a:effectLst/>
                          <a:latin typeface="Arial" charset="0"/>
                          <a:cs typeface="Arial" charset="0"/>
                        </a:rPr>
                        <a:t>S</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a:ln>
                            <a:noFill/>
                          </a:ln>
                          <a:solidFill>
                            <a:schemeClr val="bg2"/>
                          </a:solidFill>
                          <a:effectLst/>
                          <a:latin typeface="Arial" charset="0"/>
                          <a:cs typeface="Arial" charset="0"/>
                        </a:rPr>
                        <a:t>X1</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a:ln>
                            <a:noFill/>
                          </a:ln>
                          <a:solidFill>
                            <a:schemeClr val="bg2"/>
                          </a:solidFill>
                          <a:effectLst/>
                          <a:latin typeface="Arial" charset="0"/>
                          <a:cs typeface="Arial" charset="0"/>
                        </a:rPr>
                        <a:t>X2</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a:ln>
                            <a:noFill/>
                          </a:ln>
                          <a:solidFill>
                            <a:schemeClr val="bg2"/>
                          </a:solidFill>
                          <a:effectLst/>
                          <a:latin typeface="Arial" charset="0"/>
                          <a:cs typeface="Arial" charset="0"/>
                        </a:rPr>
                        <a:t> . . .</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bg2"/>
                          </a:solidFill>
                          <a:effectLst/>
                          <a:latin typeface="Arial" charset="0"/>
                          <a:cs typeface="Arial" charset="0"/>
                        </a:rPr>
                        <a:t>XM</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532">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600" b="0" i="0" u="none" strike="noStrike" cap="none" normalizeH="0" baseline="0" dirty="0">
                          <a:ln>
                            <a:noFill/>
                          </a:ln>
                          <a:solidFill>
                            <a:schemeClr val="tx1"/>
                          </a:solidFill>
                          <a:effectLst/>
                          <a:latin typeface="Arial" charset="0"/>
                          <a:cs typeface="Times New Roman" pitchFamily="18" charset="0"/>
                        </a:rPr>
                        <a:t>(S0)</a:t>
                      </a:r>
                      <a:r>
                        <a:rPr kumimoji="0" lang="en-US" sz="1600" b="0" i="0" u="none" strike="noStrike" cap="none" normalizeH="0" baseline="0" dirty="0">
                          <a:ln>
                            <a:noFill/>
                          </a:ln>
                          <a:solidFill>
                            <a:schemeClr val="tx1"/>
                          </a:solidFill>
                          <a:effectLst/>
                          <a:latin typeface="Arial" charset="0"/>
                          <a:cs typeface="Arial" charset="0"/>
                        </a:rPr>
                        <a:t> </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Arial" charset="0"/>
                          <a:cs typeface="Arial" charset="0"/>
                        </a:rPr>
                        <a:t>S0</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600" b="0" i="0" u="none" strike="noStrike" cap="none" normalizeH="0" baseline="0" dirty="0">
                          <a:ln>
                            <a:noFill/>
                          </a:ln>
                          <a:solidFill>
                            <a:schemeClr val="tx1"/>
                          </a:solidFill>
                          <a:effectLst/>
                          <a:latin typeface="Arial" charset="0"/>
                          <a:cs typeface="Times New Roman" pitchFamily="18" charset="0"/>
                        </a:rPr>
                        <a:t>(S0</a:t>
                      </a:r>
                      <a:r>
                        <a:rPr kumimoji="0" lang="en-US" sz="1600" b="0" i="0" u="none" strike="noStrike" cap="none" normalizeH="0" baseline="-30000" dirty="0">
                          <a:ln>
                            <a:noFill/>
                          </a:ln>
                          <a:solidFill>
                            <a:schemeClr val="tx1"/>
                          </a:solidFill>
                          <a:effectLst/>
                          <a:latin typeface="Arial" charset="0"/>
                          <a:cs typeface="Times New Roman" pitchFamily="18" charset="0"/>
                        </a:rPr>
                        <a:t> </a:t>
                      </a:r>
                      <a:r>
                        <a:rPr kumimoji="0" lang="en-US" sz="1600" b="0" i="0" u="none" strike="noStrike" cap="none" normalizeH="0" baseline="0" dirty="0">
                          <a:ln>
                            <a:noFill/>
                          </a:ln>
                          <a:solidFill>
                            <a:schemeClr val="tx1"/>
                          </a:solidFill>
                          <a:effectLst/>
                          <a:latin typeface="Arial" charset="0"/>
                          <a:cs typeface="Times New Roman" pitchFamily="18" charset="0"/>
                        </a:rPr>
                        <a:t>,X1)</a:t>
                      </a:r>
                      <a:r>
                        <a:rPr kumimoji="0" lang="en-US" sz="1600" b="0" i="0" u="none" strike="noStrike" cap="none" normalizeH="0" baseline="0" dirty="0">
                          <a:ln>
                            <a:noFill/>
                          </a:ln>
                          <a:solidFill>
                            <a:schemeClr val="tx1"/>
                          </a:solidFill>
                          <a:effectLst/>
                          <a:latin typeface="Arial" charset="0"/>
                          <a:cs typeface="Arial" charset="0"/>
                        </a:rPr>
                        <a:t> </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600" b="0" i="0" u="none" strike="noStrike" cap="none" normalizeH="0" baseline="0" dirty="0">
                          <a:ln>
                            <a:noFill/>
                          </a:ln>
                          <a:solidFill>
                            <a:schemeClr val="tx1"/>
                          </a:solidFill>
                          <a:effectLst/>
                          <a:latin typeface="Arial" charset="0"/>
                          <a:cs typeface="Times New Roman" pitchFamily="18" charset="0"/>
                        </a:rPr>
                        <a:t>(S0</a:t>
                      </a:r>
                      <a:r>
                        <a:rPr kumimoji="0" lang="en-US" sz="1600" b="0" i="0" u="none" strike="noStrike" cap="none" normalizeH="0" baseline="-30000" dirty="0">
                          <a:ln>
                            <a:noFill/>
                          </a:ln>
                          <a:solidFill>
                            <a:schemeClr val="tx1"/>
                          </a:solidFill>
                          <a:effectLst/>
                          <a:latin typeface="Arial" charset="0"/>
                          <a:cs typeface="Times New Roman" pitchFamily="18" charset="0"/>
                        </a:rPr>
                        <a:t> </a:t>
                      </a:r>
                      <a:r>
                        <a:rPr kumimoji="0" lang="en-US" sz="1600" b="0" i="0" u="none" strike="noStrike" cap="none" normalizeH="0" baseline="0" dirty="0">
                          <a:ln>
                            <a:noFill/>
                          </a:ln>
                          <a:solidFill>
                            <a:schemeClr val="tx1"/>
                          </a:solidFill>
                          <a:effectLst/>
                          <a:latin typeface="Arial" charset="0"/>
                          <a:cs typeface="Times New Roman" pitchFamily="18" charset="0"/>
                        </a:rPr>
                        <a:t>,X1)</a:t>
                      </a:r>
                      <a:r>
                        <a:rPr kumimoji="0" lang="en-US" sz="1600" b="0" i="0" u="none" strike="noStrike" cap="none" normalizeH="0" baseline="0" dirty="0">
                          <a:ln>
                            <a:noFill/>
                          </a:ln>
                          <a:solidFill>
                            <a:schemeClr val="tx1"/>
                          </a:solidFill>
                          <a:effectLst/>
                          <a:latin typeface="Arial" charset="0"/>
                          <a:cs typeface="Arial" charset="0"/>
                        </a:rPr>
                        <a:t> </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endParaRPr kumimoji="0" lang="ru-RU" sz="1600" b="0" i="0" u="none" strike="noStrike" cap="none" normalizeH="0" baseline="0">
                        <a:ln>
                          <a:noFill/>
                        </a:ln>
                        <a:solidFill>
                          <a:schemeClr val="tx1"/>
                        </a:solidFill>
                        <a:effectLst/>
                        <a:latin typeface="Arial" charset="0"/>
                        <a:cs typeface="Arial"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a:ln>
                            <a:noFill/>
                          </a:ln>
                          <a:solidFill>
                            <a:schemeClr val="tx1"/>
                          </a:solidFill>
                          <a:effectLst/>
                          <a:latin typeface="Arial" charset="0"/>
                          <a:cs typeface="Times New Roman" pitchFamily="18" charset="0"/>
                          <a:sym typeface="Symbol" pitchFamily="18" charset="2"/>
                        </a:rPr>
                        <a:t></a:t>
                      </a:r>
                      <a:r>
                        <a:rPr kumimoji="0" lang="en-US" sz="1600" b="0" i="0" u="none" strike="noStrike" cap="none" normalizeH="0" baseline="0">
                          <a:ln>
                            <a:noFill/>
                          </a:ln>
                          <a:solidFill>
                            <a:schemeClr val="tx1"/>
                          </a:solidFill>
                          <a:effectLst/>
                          <a:latin typeface="Arial" charset="0"/>
                          <a:cs typeface="Times New Roman" pitchFamily="18" charset="0"/>
                        </a:rPr>
                        <a:t>(S0,XM)</a:t>
                      </a:r>
                      <a:r>
                        <a:rPr kumimoji="0" lang="en-US" sz="1600" b="0" i="0" u="none" strike="noStrike" cap="none" normalizeH="0" baseline="0">
                          <a:ln>
                            <a:noFill/>
                          </a:ln>
                          <a:solidFill>
                            <a:schemeClr val="tx1"/>
                          </a:solidFill>
                          <a:effectLst/>
                          <a:latin typeface="Arial" charset="0"/>
                          <a:cs typeface="Arial" charset="0"/>
                        </a:rPr>
                        <a:t> </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71532">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a:ln>
                            <a:noFill/>
                          </a:ln>
                          <a:solidFill>
                            <a:schemeClr val="tx1"/>
                          </a:solidFill>
                          <a:effectLst/>
                          <a:latin typeface="Arial" charset="0"/>
                          <a:cs typeface="Times New Roman" pitchFamily="18" charset="0"/>
                          <a:sym typeface="Symbol" pitchFamily="18" charset="2"/>
                        </a:rPr>
                        <a:t></a:t>
                      </a:r>
                      <a:r>
                        <a:rPr kumimoji="0" lang="en-US" sz="1600" b="0" i="0" u="none" strike="noStrike" cap="none" normalizeH="0" baseline="0">
                          <a:ln>
                            <a:noFill/>
                          </a:ln>
                          <a:solidFill>
                            <a:schemeClr val="tx1"/>
                          </a:solidFill>
                          <a:effectLst/>
                          <a:latin typeface="Arial" charset="0"/>
                          <a:cs typeface="Times New Roman" pitchFamily="18" charset="0"/>
                        </a:rPr>
                        <a:t>(S1)</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a:ln>
                            <a:noFill/>
                          </a:ln>
                          <a:solidFill>
                            <a:schemeClr val="tx1"/>
                          </a:solidFill>
                          <a:effectLst/>
                          <a:latin typeface="Arial" charset="0"/>
                          <a:cs typeface="Arial" charset="0"/>
                        </a:rPr>
                        <a:t>S1</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a:ln>
                            <a:noFill/>
                          </a:ln>
                          <a:solidFill>
                            <a:schemeClr val="tx1"/>
                          </a:solidFill>
                          <a:effectLst/>
                          <a:latin typeface="Arial" charset="0"/>
                          <a:cs typeface="Times New Roman" pitchFamily="18" charset="0"/>
                          <a:sym typeface="Symbol" pitchFamily="18" charset="2"/>
                        </a:rPr>
                        <a:t></a:t>
                      </a:r>
                      <a:r>
                        <a:rPr kumimoji="0" lang="en-US" sz="1600" b="0" i="0" u="none" strike="noStrike" cap="none" normalizeH="0" baseline="0">
                          <a:ln>
                            <a:noFill/>
                          </a:ln>
                          <a:solidFill>
                            <a:schemeClr val="tx1"/>
                          </a:solidFill>
                          <a:effectLst/>
                          <a:latin typeface="Arial" charset="0"/>
                          <a:cs typeface="Times New Roman" pitchFamily="18" charset="0"/>
                        </a:rPr>
                        <a:t>(S1</a:t>
                      </a:r>
                      <a:r>
                        <a:rPr kumimoji="0" lang="en-US" sz="1600" b="0" i="0" u="none" strike="noStrike" cap="none" normalizeH="0" baseline="-30000">
                          <a:ln>
                            <a:noFill/>
                          </a:ln>
                          <a:solidFill>
                            <a:schemeClr val="tx1"/>
                          </a:solidFill>
                          <a:effectLst/>
                          <a:latin typeface="Arial" charset="0"/>
                          <a:cs typeface="Times New Roman" pitchFamily="18" charset="0"/>
                        </a:rPr>
                        <a:t> </a:t>
                      </a:r>
                      <a:r>
                        <a:rPr kumimoji="0" lang="en-US" sz="1600" b="0" i="0" u="none" strike="noStrike" cap="none" normalizeH="0" baseline="0">
                          <a:ln>
                            <a:noFill/>
                          </a:ln>
                          <a:solidFill>
                            <a:schemeClr val="tx1"/>
                          </a:solidFill>
                          <a:effectLst/>
                          <a:latin typeface="Arial" charset="0"/>
                          <a:cs typeface="Times New Roman" pitchFamily="18" charset="0"/>
                        </a:rPr>
                        <a:t>,X1)</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a:ln>
                            <a:noFill/>
                          </a:ln>
                          <a:solidFill>
                            <a:schemeClr val="tx1"/>
                          </a:solidFill>
                          <a:effectLst/>
                          <a:latin typeface="Arial" charset="0"/>
                          <a:cs typeface="Times New Roman" pitchFamily="18" charset="0"/>
                          <a:sym typeface="Symbol" pitchFamily="18" charset="2"/>
                        </a:rPr>
                        <a:t></a:t>
                      </a:r>
                      <a:r>
                        <a:rPr kumimoji="0" lang="en-US" sz="1600" b="0" i="0" u="none" strike="noStrike" cap="none" normalizeH="0" baseline="0">
                          <a:ln>
                            <a:noFill/>
                          </a:ln>
                          <a:solidFill>
                            <a:schemeClr val="tx1"/>
                          </a:solidFill>
                          <a:effectLst/>
                          <a:latin typeface="Arial" charset="0"/>
                          <a:cs typeface="Times New Roman" pitchFamily="18" charset="0"/>
                        </a:rPr>
                        <a:t>(S1, X2)</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endParaRPr kumimoji="0" lang="ru-RU" sz="1600" b="0" i="0" u="none" strike="noStrike" cap="none" normalizeH="0" baseline="0">
                        <a:ln>
                          <a:noFill/>
                        </a:ln>
                        <a:solidFill>
                          <a:schemeClr val="tx1"/>
                        </a:solidFill>
                        <a:effectLst/>
                        <a:latin typeface="Arial" charset="0"/>
                        <a:cs typeface="Arial"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600" b="0" i="0" u="none" strike="noStrike" cap="none" normalizeH="0" baseline="0" dirty="0">
                          <a:ln>
                            <a:noFill/>
                          </a:ln>
                          <a:solidFill>
                            <a:schemeClr val="tx1"/>
                          </a:solidFill>
                          <a:effectLst/>
                          <a:latin typeface="Arial" charset="0"/>
                          <a:cs typeface="Times New Roman" pitchFamily="18" charset="0"/>
                        </a:rPr>
                        <a:t>(S1,XM)</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71532">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endParaRPr kumimoji="0" lang="ru-RU" sz="1600" b="0" i="0" u="none" strike="noStrike" cap="none" normalizeH="0" baseline="0">
                        <a:ln>
                          <a:noFill/>
                        </a:ln>
                        <a:solidFill>
                          <a:schemeClr val="tx1"/>
                        </a:solidFill>
                        <a:effectLst/>
                        <a:latin typeface="Arial" charset="0"/>
                        <a:cs typeface="Arial"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endParaRPr kumimoji="0" lang="ru-RU" sz="1600" b="0" i="0" u="none" strike="noStrike" cap="none" normalizeH="0" baseline="0">
                        <a:ln>
                          <a:noFill/>
                        </a:ln>
                        <a:solidFill>
                          <a:schemeClr val="tx1"/>
                        </a:solidFill>
                        <a:effectLst/>
                        <a:latin typeface="Arial" charset="0"/>
                        <a:cs typeface="Arial"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endParaRPr kumimoji="0" lang="ru-RU" sz="1600" b="0" i="0" u="none" strike="noStrike" cap="none" normalizeH="0" baseline="0">
                        <a:ln>
                          <a:noFill/>
                        </a:ln>
                        <a:solidFill>
                          <a:schemeClr val="tx1"/>
                        </a:solidFill>
                        <a:effectLst/>
                        <a:latin typeface="Arial" charset="0"/>
                        <a:cs typeface="Arial"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endParaRPr kumimoji="0" lang="ru-RU" sz="1600" b="0" i="0" u="none" strike="noStrike" cap="none" normalizeH="0" baseline="0">
                        <a:ln>
                          <a:noFill/>
                        </a:ln>
                        <a:solidFill>
                          <a:schemeClr val="tx1"/>
                        </a:solidFill>
                        <a:effectLst/>
                        <a:latin typeface="Arial" charset="0"/>
                        <a:cs typeface="Arial"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endParaRPr kumimoji="0" lang="ru-RU" sz="1600" b="0" i="0" u="none" strike="noStrike" cap="none" normalizeH="0" baseline="0">
                        <a:ln>
                          <a:noFill/>
                        </a:ln>
                        <a:solidFill>
                          <a:schemeClr val="tx1"/>
                        </a:solidFill>
                        <a:effectLst/>
                        <a:latin typeface="Arial" charset="0"/>
                        <a:cs typeface="Arial"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endParaRPr kumimoji="0" lang="ru-RU" sz="1600" b="0" i="0" u="none" strike="noStrike" cap="none" normalizeH="0" baseline="0" dirty="0">
                        <a:ln>
                          <a:noFill/>
                        </a:ln>
                        <a:solidFill>
                          <a:schemeClr val="tx1"/>
                        </a:solidFill>
                        <a:effectLst/>
                        <a:latin typeface="Arial" charset="0"/>
                        <a:cs typeface="Arial"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71532">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a:ln>
                            <a:noFill/>
                          </a:ln>
                          <a:solidFill>
                            <a:schemeClr val="tx1"/>
                          </a:solidFill>
                          <a:effectLst/>
                          <a:latin typeface="Arial" charset="0"/>
                          <a:cs typeface="Times New Roman" pitchFamily="18" charset="0"/>
                          <a:sym typeface="Symbol" pitchFamily="18" charset="2"/>
                        </a:rPr>
                        <a:t></a:t>
                      </a:r>
                      <a:r>
                        <a:rPr kumimoji="0" lang="en-US" sz="1600" b="0" i="0" u="none" strike="noStrike" cap="none" normalizeH="0" baseline="0">
                          <a:ln>
                            <a:noFill/>
                          </a:ln>
                          <a:solidFill>
                            <a:schemeClr val="tx1"/>
                          </a:solidFill>
                          <a:effectLst/>
                          <a:latin typeface="Arial" charset="0"/>
                          <a:cs typeface="Times New Roman" pitchFamily="18" charset="0"/>
                        </a:rPr>
                        <a:t>(SK-1)</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a:ln>
                            <a:noFill/>
                          </a:ln>
                          <a:solidFill>
                            <a:schemeClr val="tx1"/>
                          </a:solidFill>
                          <a:effectLst/>
                          <a:latin typeface="Arial" charset="0"/>
                          <a:cs typeface="Times New Roman" pitchFamily="18" charset="0"/>
                        </a:rPr>
                        <a:t>SK-1</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a:ln>
                            <a:noFill/>
                          </a:ln>
                          <a:solidFill>
                            <a:schemeClr val="tx1"/>
                          </a:solidFill>
                          <a:effectLst/>
                          <a:latin typeface="Arial" charset="0"/>
                          <a:cs typeface="Times New Roman" pitchFamily="18" charset="0"/>
                          <a:sym typeface="Symbol" pitchFamily="18" charset="2"/>
                        </a:rPr>
                        <a:t></a:t>
                      </a:r>
                      <a:r>
                        <a:rPr kumimoji="0" lang="en-US" sz="1600" b="0" i="0" u="none" strike="noStrike" cap="none" normalizeH="0" baseline="0">
                          <a:ln>
                            <a:noFill/>
                          </a:ln>
                          <a:solidFill>
                            <a:schemeClr val="tx1"/>
                          </a:solidFill>
                          <a:effectLst/>
                          <a:latin typeface="Arial" charset="0"/>
                          <a:cs typeface="Times New Roman" pitchFamily="18" charset="0"/>
                        </a:rPr>
                        <a:t>(SK-1,X1)</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a:ln>
                            <a:noFill/>
                          </a:ln>
                          <a:solidFill>
                            <a:schemeClr val="tx1"/>
                          </a:solidFill>
                          <a:effectLst/>
                          <a:latin typeface="Arial" charset="0"/>
                          <a:cs typeface="Times New Roman" pitchFamily="18" charset="0"/>
                          <a:sym typeface="Symbol" pitchFamily="18" charset="2"/>
                        </a:rPr>
                        <a:t></a:t>
                      </a:r>
                      <a:r>
                        <a:rPr kumimoji="0" lang="en-US" sz="1600" b="0" i="0" u="none" strike="noStrike" cap="none" normalizeH="0" baseline="0">
                          <a:ln>
                            <a:noFill/>
                          </a:ln>
                          <a:solidFill>
                            <a:schemeClr val="tx1"/>
                          </a:solidFill>
                          <a:effectLst/>
                          <a:latin typeface="Arial" charset="0"/>
                          <a:cs typeface="Times New Roman" pitchFamily="18" charset="0"/>
                        </a:rPr>
                        <a:t>(SK-1,</a:t>
                      </a:r>
                      <a:r>
                        <a:rPr kumimoji="0" lang="en-US" sz="1600" b="0" i="0" u="none" strike="noStrike" cap="none" normalizeH="0" baseline="-30000">
                          <a:ln>
                            <a:noFill/>
                          </a:ln>
                          <a:solidFill>
                            <a:schemeClr val="tx1"/>
                          </a:solidFill>
                          <a:effectLst/>
                          <a:latin typeface="Arial" charset="0"/>
                          <a:cs typeface="Times New Roman" pitchFamily="18" charset="0"/>
                        </a:rPr>
                        <a:t> </a:t>
                      </a:r>
                      <a:r>
                        <a:rPr kumimoji="0" lang="en-US" sz="1600" b="0" i="0" u="none" strike="noStrike" cap="none" normalizeH="0" baseline="0">
                          <a:ln>
                            <a:noFill/>
                          </a:ln>
                          <a:solidFill>
                            <a:schemeClr val="tx1"/>
                          </a:solidFill>
                          <a:effectLst/>
                          <a:latin typeface="Arial" charset="0"/>
                          <a:cs typeface="Times New Roman" pitchFamily="18" charset="0"/>
                        </a:rPr>
                        <a:t>X2)</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endParaRPr kumimoji="0" lang="ru-RU" sz="1600" b="0" i="0" u="none" strike="noStrike" cap="none" normalizeH="0" baseline="0">
                        <a:ln>
                          <a:noFill/>
                        </a:ln>
                        <a:solidFill>
                          <a:schemeClr val="tx1"/>
                        </a:solidFill>
                        <a:effectLst/>
                        <a:latin typeface="Arial" charset="0"/>
                        <a:cs typeface="Arial"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charset="0"/>
                        <a:buNone/>
                        <a:tabLst/>
                      </a:pPr>
                      <a:r>
                        <a:rPr kumimoji="0" lang="en-US" sz="16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600" b="0" i="0" u="none" strike="noStrike" cap="none" normalizeH="0" baseline="0" dirty="0">
                          <a:ln>
                            <a:noFill/>
                          </a:ln>
                          <a:solidFill>
                            <a:schemeClr val="tx1"/>
                          </a:solidFill>
                          <a:effectLst/>
                          <a:latin typeface="Arial" charset="0"/>
                          <a:cs typeface="Times New Roman" pitchFamily="18" charset="0"/>
                        </a:rPr>
                        <a:t>(SK-1,</a:t>
                      </a:r>
                      <a:r>
                        <a:rPr kumimoji="0" lang="en-US" sz="1600" b="0" i="0" u="none" strike="noStrike" cap="none" normalizeH="0" baseline="-30000" dirty="0">
                          <a:ln>
                            <a:noFill/>
                          </a:ln>
                          <a:solidFill>
                            <a:schemeClr val="tx1"/>
                          </a:solidFill>
                          <a:effectLst/>
                          <a:latin typeface="Arial" charset="0"/>
                          <a:cs typeface="Times New Roman" pitchFamily="18" charset="0"/>
                        </a:rPr>
                        <a:t> </a:t>
                      </a:r>
                      <a:r>
                        <a:rPr kumimoji="0" lang="en-US" sz="1600" b="0" i="0" u="none" strike="noStrike" cap="none" normalizeH="0" baseline="0" dirty="0">
                          <a:ln>
                            <a:noFill/>
                          </a:ln>
                          <a:solidFill>
                            <a:schemeClr val="tx1"/>
                          </a:solidFill>
                          <a:effectLst/>
                          <a:latin typeface="Arial" charset="0"/>
                          <a:cs typeface="Times New Roman" pitchFamily="18" charset="0"/>
                        </a:rPr>
                        <a:t>XM)</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Заголовок 1">
            <a:extLst>
              <a:ext uri="{FF2B5EF4-FFF2-40B4-BE49-F238E27FC236}">
                <a16:creationId xmlns:a16="http://schemas.microsoft.com/office/drawing/2014/main" id="{2AA0BFDC-70AA-7B9A-E805-015CFD7199DA}"/>
              </a:ext>
            </a:extLst>
          </p:cNvPr>
          <p:cNvSpPr>
            <a:spLocks noGrp="1" noChangeArrowheads="1"/>
          </p:cNvSpPr>
          <p:nvPr>
            <p:ph type="title"/>
          </p:nvPr>
        </p:nvSpPr>
        <p:spPr>
          <a:xfrm>
            <a:off x="-1" y="183402"/>
            <a:ext cx="11612880" cy="704088"/>
          </a:xfrm>
        </p:spPr>
        <p:txBody>
          <a:bodyPr>
            <a:normAutofit/>
          </a:bodyPr>
          <a:lstStyle/>
          <a:p>
            <a:r>
              <a:rPr lang="en-US" altLang="en-US" dirty="0"/>
              <a:t>Representation of FSM </a:t>
            </a:r>
            <a:endParaRPr lang="ru-RU" altLang="en-US" dirty="0"/>
          </a:p>
        </p:txBody>
      </p:sp>
      <p:sp>
        <p:nvSpPr>
          <p:cNvPr id="3" name="Объект 2">
            <a:extLst>
              <a:ext uri="{FF2B5EF4-FFF2-40B4-BE49-F238E27FC236}">
                <a16:creationId xmlns:a16="http://schemas.microsoft.com/office/drawing/2014/main" id="{D7469C1E-8207-4F1C-A76E-84CD46266844}"/>
              </a:ext>
            </a:extLst>
          </p:cNvPr>
          <p:cNvSpPr>
            <a:spLocks noGrp="1"/>
          </p:cNvSpPr>
          <p:nvPr>
            <p:ph type="body" sz="quarter" idx="10"/>
          </p:nvPr>
        </p:nvSpPr>
        <p:spPr>
          <a:xfrm>
            <a:off x="457200" y="1188720"/>
            <a:ext cx="11277922" cy="5185186"/>
          </a:xfrm>
        </p:spPr>
        <p:txBody>
          <a:bodyPr/>
          <a:lstStyle/>
          <a:p>
            <a:r>
              <a:rPr lang="en-US" dirty="0"/>
              <a:t>State Transition Table</a:t>
            </a:r>
          </a:p>
          <a:p>
            <a:r>
              <a:rPr lang="en-US" dirty="0"/>
              <a:t>Mealy FSM</a:t>
            </a:r>
          </a:p>
          <a:p>
            <a:endParaRPr lang="ru-RU" dirty="0"/>
          </a:p>
        </p:txBody>
      </p:sp>
      <p:graphicFrame>
        <p:nvGraphicFramePr>
          <p:cNvPr id="6" name="Таблица 5">
            <a:extLst>
              <a:ext uri="{FF2B5EF4-FFF2-40B4-BE49-F238E27FC236}">
                <a16:creationId xmlns:a16="http://schemas.microsoft.com/office/drawing/2014/main" id="{8BEB0C1F-8DE5-47C9-800E-88F092AEBE65}"/>
              </a:ext>
            </a:extLst>
          </p:cNvPr>
          <p:cNvGraphicFramePr>
            <a:graphicFrameLocks noGrp="1"/>
          </p:cNvGraphicFramePr>
          <p:nvPr>
            <p:extLst>
              <p:ext uri="{D42A27DB-BD31-4B8C-83A1-F6EECF244321}">
                <p14:modId xmlns:p14="http://schemas.microsoft.com/office/powerpoint/2010/main" val="2159975293"/>
              </p:ext>
            </p:extLst>
          </p:nvPr>
        </p:nvGraphicFramePr>
        <p:xfrm>
          <a:off x="1879600" y="2374901"/>
          <a:ext cx="8578851" cy="3027372"/>
        </p:xfrm>
        <a:graphic>
          <a:graphicData uri="http://schemas.openxmlformats.org/drawingml/2006/table">
            <a:tbl>
              <a:tblPr firstRow="1" bandRow="1">
                <a:tableStyleId>{5C22544A-7EE6-4342-B048-85BDC9FD1C3A}</a:tableStyleId>
              </a:tblPr>
              <a:tblGrid>
                <a:gridCol w="1382105">
                  <a:extLst>
                    <a:ext uri="{9D8B030D-6E8A-4147-A177-3AD203B41FA5}">
                      <a16:colId xmlns:a16="http://schemas.microsoft.com/office/drawing/2014/main" val="20000"/>
                    </a:ext>
                  </a:extLst>
                </a:gridCol>
                <a:gridCol w="2222707">
                  <a:extLst>
                    <a:ext uri="{9D8B030D-6E8A-4147-A177-3AD203B41FA5}">
                      <a16:colId xmlns:a16="http://schemas.microsoft.com/office/drawing/2014/main" val="20001"/>
                    </a:ext>
                  </a:extLst>
                </a:gridCol>
                <a:gridCol w="1910678">
                  <a:extLst>
                    <a:ext uri="{9D8B030D-6E8A-4147-A177-3AD203B41FA5}">
                      <a16:colId xmlns:a16="http://schemas.microsoft.com/office/drawing/2014/main" val="20002"/>
                    </a:ext>
                  </a:extLst>
                </a:gridCol>
                <a:gridCol w="853436">
                  <a:extLst>
                    <a:ext uri="{9D8B030D-6E8A-4147-A177-3AD203B41FA5}">
                      <a16:colId xmlns:a16="http://schemas.microsoft.com/office/drawing/2014/main" val="20003"/>
                    </a:ext>
                  </a:extLst>
                </a:gridCol>
                <a:gridCol w="2209925">
                  <a:extLst>
                    <a:ext uri="{9D8B030D-6E8A-4147-A177-3AD203B41FA5}">
                      <a16:colId xmlns:a16="http://schemas.microsoft.com/office/drawing/2014/main" val="20004"/>
                    </a:ext>
                  </a:extLst>
                </a:gridCol>
              </a:tblGrid>
              <a:tr h="596826">
                <a:tc>
                  <a:txBody>
                    <a:bodyPr/>
                    <a:lstStyle/>
                    <a:p>
                      <a:r>
                        <a:rPr lang="en-US" sz="1800" b="0" dirty="0">
                          <a:solidFill>
                            <a:schemeClr val="bg2"/>
                          </a:solidFill>
                        </a:rPr>
                        <a:t>S            X</a:t>
                      </a:r>
                      <a:endParaRPr lang="ru-RU" sz="1800" b="0" dirty="0">
                        <a:solidFill>
                          <a:schemeClr val="bg2"/>
                        </a:solidFill>
                      </a:endParaRPr>
                    </a:p>
                  </a:txBody>
                  <a:tcPr marL="91432" marR="91432" marT="45714" marB="45714">
                    <a:lnTlToBr w="12700" cap="flat" cmpd="sng" algn="ctr">
                      <a:solidFill>
                        <a:schemeClr val="tx1"/>
                      </a:solidFill>
                      <a:prstDash val="solid"/>
                      <a:round/>
                      <a:headEnd type="none" w="med" len="med"/>
                      <a:tailEnd type="none" w="med" len="med"/>
                    </a:lnTlToBr>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1800" b="0" i="0" u="none" strike="noStrike" cap="none" normalizeH="0" baseline="0" dirty="0">
                          <a:ln>
                            <a:noFill/>
                          </a:ln>
                          <a:solidFill>
                            <a:schemeClr val="bg2"/>
                          </a:solidFill>
                          <a:effectLst/>
                          <a:latin typeface="Arial" charset="0"/>
                          <a:cs typeface="Times New Roman" pitchFamily="18" charset="0"/>
                        </a:rPr>
                        <a:t> X1</a:t>
                      </a:r>
                      <a:r>
                        <a:rPr kumimoji="0" lang="en-US" sz="1800" b="0" i="0" u="none" strike="noStrike" cap="none" normalizeH="0" baseline="0" dirty="0">
                          <a:ln>
                            <a:noFill/>
                          </a:ln>
                          <a:solidFill>
                            <a:schemeClr val="bg2"/>
                          </a:solidFill>
                          <a:effectLst/>
                          <a:latin typeface="Arial" charset="0"/>
                          <a:cs typeface="Arial" charset="0"/>
                        </a:rPr>
                        <a:t> </a:t>
                      </a: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1800" b="0" i="0" u="none" strike="noStrike" cap="none" normalizeH="0" baseline="0" dirty="0">
                          <a:ln>
                            <a:noFill/>
                          </a:ln>
                          <a:solidFill>
                            <a:schemeClr val="bg2"/>
                          </a:solidFill>
                          <a:effectLst/>
                          <a:latin typeface="Arial" charset="0"/>
                          <a:cs typeface="Arial" charset="0"/>
                        </a:rPr>
                        <a:t>X2</a:t>
                      </a: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1800" b="0" i="0" u="none" strike="noStrike" cap="none" normalizeH="0" baseline="0" dirty="0">
                          <a:ln>
                            <a:noFill/>
                          </a:ln>
                          <a:solidFill>
                            <a:schemeClr val="bg2"/>
                          </a:solidFill>
                          <a:effectLst/>
                          <a:latin typeface="Arial" charset="0"/>
                          <a:cs typeface="Arial" charset="0"/>
                        </a:rPr>
                        <a:t>…</a:t>
                      </a: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1800" b="0" i="0" u="none" strike="noStrike" cap="none" normalizeH="0" baseline="0" dirty="0">
                          <a:ln>
                            <a:noFill/>
                          </a:ln>
                          <a:solidFill>
                            <a:schemeClr val="bg2"/>
                          </a:solidFill>
                          <a:effectLst/>
                          <a:latin typeface="Arial" charset="0"/>
                          <a:cs typeface="Arial" charset="0"/>
                        </a:rPr>
                        <a:t>X</a:t>
                      </a:r>
                      <a:r>
                        <a:rPr kumimoji="0" lang="en-US" sz="1800" b="0" i="0" u="none" strike="noStrike" cap="none" normalizeH="0" baseline="-25000" dirty="0">
                          <a:ln>
                            <a:noFill/>
                          </a:ln>
                          <a:solidFill>
                            <a:schemeClr val="bg2"/>
                          </a:solidFill>
                          <a:effectLst/>
                          <a:latin typeface="Arial" charset="0"/>
                          <a:cs typeface="Arial" charset="0"/>
                        </a:rPr>
                        <a:t>M</a:t>
                      </a:r>
                      <a:endParaRPr kumimoji="0" lang="en-US" sz="1800" b="0" i="0" u="none" strike="noStrike" cap="none" normalizeH="0" baseline="0" dirty="0">
                        <a:ln>
                          <a:noFill/>
                        </a:ln>
                        <a:solidFill>
                          <a:schemeClr val="bg2"/>
                        </a:solidFill>
                        <a:effectLst/>
                        <a:latin typeface="Arial" charset="0"/>
                        <a:cs typeface="Arial" charset="0"/>
                      </a:endParaRPr>
                    </a:p>
                  </a:txBody>
                  <a:tcPr marL="91432" marR="91432" marT="45714" marB="45714" horzOverflow="overflow"/>
                </a:tc>
                <a:extLst>
                  <a:ext uri="{0D108BD9-81ED-4DB2-BD59-A6C34878D82A}">
                    <a16:rowId xmlns:a16="http://schemas.microsoft.com/office/drawing/2014/main" val="10000"/>
                  </a:ext>
                </a:extLst>
              </a:tr>
              <a:tr h="596826">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S</a:t>
                      </a:r>
                      <a:r>
                        <a:rPr kumimoji="0" lang="en-US" sz="1800" b="0" i="0" u="none" strike="noStrike" cap="none" normalizeH="0" baseline="-25000" dirty="0">
                          <a:ln>
                            <a:noFill/>
                          </a:ln>
                          <a:solidFill>
                            <a:schemeClr val="tx1"/>
                          </a:solidFill>
                          <a:effectLst/>
                          <a:latin typeface="Arial" charset="0"/>
                          <a:cs typeface="Arial" charset="0"/>
                        </a:rPr>
                        <a:t>0</a:t>
                      </a:r>
                      <a:endParaRPr kumimoji="0" lang="en-US" sz="1800" b="0" i="0" u="none" strike="noStrike" cap="none" normalizeH="0" baseline="0" dirty="0">
                        <a:ln>
                          <a:noFill/>
                        </a:ln>
                        <a:solidFill>
                          <a:schemeClr val="tx1"/>
                        </a:solidFill>
                        <a:effectLst/>
                        <a:latin typeface="Arial" charset="0"/>
                        <a:cs typeface="Arial" charset="0"/>
                      </a:endParaRP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18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dirty="0">
                          <a:ln>
                            <a:noFill/>
                          </a:ln>
                          <a:solidFill>
                            <a:schemeClr val="tx1"/>
                          </a:solidFill>
                          <a:effectLst/>
                          <a:latin typeface="Arial" charset="0"/>
                          <a:cs typeface="Times New Roman" pitchFamily="18" charset="0"/>
                        </a:rPr>
                        <a:t>(S</a:t>
                      </a:r>
                      <a:r>
                        <a:rPr kumimoji="0" lang="en-US" sz="1800" b="0" i="0" u="none" strike="noStrike" cap="none" normalizeH="0" baseline="-30000" dirty="0">
                          <a:ln>
                            <a:noFill/>
                          </a:ln>
                          <a:solidFill>
                            <a:schemeClr val="tx1"/>
                          </a:solidFill>
                          <a:effectLst/>
                          <a:latin typeface="Arial" charset="0"/>
                          <a:cs typeface="Times New Roman" pitchFamily="18" charset="0"/>
                        </a:rPr>
                        <a:t>0,</a:t>
                      </a:r>
                      <a:r>
                        <a:rPr kumimoji="0" lang="en-US" sz="1800" b="0" i="0" u="none" strike="noStrike" cap="none" normalizeH="0" baseline="0" dirty="0">
                          <a:ln>
                            <a:noFill/>
                          </a:ln>
                          <a:solidFill>
                            <a:schemeClr val="tx1"/>
                          </a:solidFill>
                          <a:effectLst/>
                          <a:latin typeface="Arial" charset="0"/>
                          <a:cs typeface="Times New Roman" pitchFamily="18" charset="0"/>
                        </a:rPr>
                        <a:t>X</a:t>
                      </a:r>
                      <a:r>
                        <a:rPr kumimoji="0" lang="en-US" sz="1800" b="0" i="0" u="none" strike="noStrike" cap="none" normalizeH="0" baseline="-30000" dirty="0">
                          <a:ln>
                            <a:noFill/>
                          </a:ln>
                          <a:solidFill>
                            <a:schemeClr val="tx1"/>
                          </a:solidFill>
                          <a:effectLst/>
                          <a:latin typeface="Arial" charset="0"/>
                          <a:cs typeface="Times New Roman" pitchFamily="18" charset="0"/>
                        </a:rPr>
                        <a:t>1</a:t>
                      </a:r>
                      <a:r>
                        <a:rPr kumimoji="0" lang="en-US" sz="1800" b="0" i="0" u="none" strike="noStrike" cap="none" normalizeH="0" baseline="0" dirty="0">
                          <a:ln>
                            <a:noFill/>
                          </a:ln>
                          <a:solidFill>
                            <a:schemeClr val="tx1"/>
                          </a:solidFill>
                          <a:effectLst/>
                          <a:latin typeface="Arial" charset="0"/>
                          <a:cs typeface="Times New Roman" pitchFamily="18" charset="0"/>
                        </a:rPr>
                        <a:t>)/</a:t>
                      </a:r>
                      <a:r>
                        <a:rPr kumimoji="0" lang="en-US" sz="18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dirty="0">
                          <a:ln>
                            <a:noFill/>
                          </a:ln>
                          <a:solidFill>
                            <a:schemeClr val="tx1"/>
                          </a:solidFill>
                          <a:effectLst/>
                          <a:latin typeface="Arial" charset="0"/>
                          <a:cs typeface="Times New Roman" pitchFamily="18" charset="0"/>
                        </a:rPr>
                        <a:t>(S</a:t>
                      </a:r>
                      <a:r>
                        <a:rPr kumimoji="0" lang="en-US" sz="1800" b="0" i="0" u="none" strike="noStrike" cap="none" normalizeH="0" baseline="-30000" dirty="0">
                          <a:ln>
                            <a:noFill/>
                          </a:ln>
                          <a:solidFill>
                            <a:schemeClr val="tx1"/>
                          </a:solidFill>
                          <a:effectLst/>
                          <a:latin typeface="Arial" charset="0"/>
                          <a:cs typeface="Times New Roman" pitchFamily="18" charset="0"/>
                        </a:rPr>
                        <a:t>0</a:t>
                      </a:r>
                      <a:r>
                        <a:rPr kumimoji="0" lang="en-US" sz="1800" b="0" i="0" u="none" strike="noStrike" cap="none" normalizeH="0" baseline="0" dirty="0">
                          <a:ln>
                            <a:noFill/>
                          </a:ln>
                          <a:solidFill>
                            <a:schemeClr val="tx1"/>
                          </a:solidFill>
                          <a:effectLst/>
                          <a:latin typeface="Arial" charset="0"/>
                          <a:cs typeface="Times New Roman" pitchFamily="18" charset="0"/>
                        </a:rPr>
                        <a:t>,X</a:t>
                      </a:r>
                      <a:r>
                        <a:rPr kumimoji="0" lang="en-US" sz="1800" b="0" i="0" u="none" strike="noStrike" cap="none" normalizeH="0" baseline="-30000" dirty="0">
                          <a:ln>
                            <a:noFill/>
                          </a:ln>
                          <a:solidFill>
                            <a:schemeClr val="tx1"/>
                          </a:solidFill>
                          <a:effectLst/>
                          <a:latin typeface="Arial" charset="0"/>
                          <a:cs typeface="Times New Roman" pitchFamily="18" charset="0"/>
                        </a:rPr>
                        <a:t>1</a:t>
                      </a:r>
                      <a:r>
                        <a:rPr kumimoji="0" lang="en-US" sz="1800" b="0" i="0" u="none" strike="noStrike" cap="none" normalizeH="0" baseline="0" dirty="0">
                          <a:ln>
                            <a:noFill/>
                          </a:ln>
                          <a:solidFill>
                            <a:schemeClr val="tx1"/>
                          </a:solidFill>
                          <a:effectLst/>
                          <a:latin typeface="Arial" charset="0"/>
                          <a:cs typeface="Times New Roman" pitchFamily="18" charset="0"/>
                        </a:rPr>
                        <a:t>) </a:t>
                      </a: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18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dirty="0">
                          <a:ln>
                            <a:noFill/>
                          </a:ln>
                          <a:solidFill>
                            <a:schemeClr val="tx1"/>
                          </a:solidFill>
                          <a:effectLst/>
                          <a:latin typeface="Arial" charset="0"/>
                          <a:cs typeface="Times New Roman" pitchFamily="18" charset="0"/>
                        </a:rPr>
                        <a:t>(S</a:t>
                      </a:r>
                      <a:r>
                        <a:rPr kumimoji="0" lang="en-US" sz="1800" b="0" i="0" u="none" strike="noStrike" cap="none" normalizeH="0" baseline="-30000" dirty="0">
                          <a:ln>
                            <a:noFill/>
                          </a:ln>
                          <a:solidFill>
                            <a:schemeClr val="tx1"/>
                          </a:solidFill>
                          <a:effectLst/>
                          <a:latin typeface="Arial" charset="0"/>
                          <a:cs typeface="Times New Roman" pitchFamily="18" charset="0"/>
                        </a:rPr>
                        <a:t>0,</a:t>
                      </a:r>
                      <a:r>
                        <a:rPr kumimoji="0" lang="en-US" sz="1800" b="0" i="0" u="none" strike="noStrike" cap="none" normalizeH="0" baseline="0" dirty="0">
                          <a:ln>
                            <a:noFill/>
                          </a:ln>
                          <a:solidFill>
                            <a:schemeClr val="tx1"/>
                          </a:solidFill>
                          <a:effectLst/>
                          <a:latin typeface="Arial" charset="0"/>
                          <a:cs typeface="Times New Roman" pitchFamily="18" charset="0"/>
                        </a:rPr>
                        <a:t>X</a:t>
                      </a:r>
                      <a:r>
                        <a:rPr kumimoji="0" lang="en-US" sz="1800" b="0" i="0" u="none" strike="noStrike" cap="none" normalizeH="0" baseline="-30000" dirty="0">
                          <a:ln>
                            <a:noFill/>
                          </a:ln>
                          <a:solidFill>
                            <a:schemeClr val="tx1"/>
                          </a:solidFill>
                          <a:effectLst/>
                          <a:latin typeface="Arial" charset="0"/>
                          <a:cs typeface="Times New Roman" pitchFamily="18" charset="0"/>
                        </a:rPr>
                        <a:t>2</a:t>
                      </a:r>
                      <a:r>
                        <a:rPr kumimoji="0" lang="en-US" sz="1800" b="0" i="0" u="none" strike="noStrike" cap="none" normalizeH="0" baseline="0" dirty="0">
                          <a:ln>
                            <a:noFill/>
                          </a:ln>
                          <a:solidFill>
                            <a:schemeClr val="tx1"/>
                          </a:solidFill>
                          <a:effectLst/>
                          <a:latin typeface="Arial" charset="0"/>
                          <a:cs typeface="Times New Roman" pitchFamily="18" charset="0"/>
                        </a:rPr>
                        <a:t>)/</a:t>
                      </a:r>
                      <a:r>
                        <a:rPr kumimoji="0" lang="en-US" sz="18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dirty="0">
                          <a:ln>
                            <a:noFill/>
                          </a:ln>
                          <a:solidFill>
                            <a:schemeClr val="tx1"/>
                          </a:solidFill>
                          <a:effectLst/>
                          <a:latin typeface="Arial" charset="0"/>
                          <a:cs typeface="Times New Roman" pitchFamily="18" charset="0"/>
                        </a:rPr>
                        <a:t>(S</a:t>
                      </a:r>
                      <a:r>
                        <a:rPr kumimoji="0" lang="en-US" sz="1800" b="0" i="0" u="none" strike="noStrike" cap="none" normalizeH="0" baseline="-30000" dirty="0">
                          <a:ln>
                            <a:noFill/>
                          </a:ln>
                          <a:solidFill>
                            <a:schemeClr val="tx1"/>
                          </a:solidFill>
                          <a:effectLst/>
                          <a:latin typeface="Arial" charset="0"/>
                          <a:cs typeface="Times New Roman" pitchFamily="18" charset="0"/>
                        </a:rPr>
                        <a:t>0</a:t>
                      </a:r>
                      <a:r>
                        <a:rPr kumimoji="0" lang="en-US" sz="1800" b="0" i="0" u="none" strike="noStrike" cap="none" normalizeH="0" baseline="0" dirty="0">
                          <a:ln>
                            <a:noFill/>
                          </a:ln>
                          <a:solidFill>
                            <a:schemeClr val="tx1"/>
                          </a:solidFill>
                          <a:effectLst/>
                          <a:latin typeface="Arial" charset="0"/>
                          <a:cs typeface="Times New Roman" pitchFamily="18" charset="0"/>
                        </a:rPr>
                        <a:t>,X</a:t>
                      </a:r>
                      <a:r>
                        <a:rPr kumimoji="0" lang="en-US" sz="1800" b="0" i="0" u="none" strike="noStrike" cap="none" normalizeH="0" baseline="-30000" dirty="0">
                          <a:ln>
                            <a:noFill/>
                          </a:ln>
                          <a:solidFill>
                            <a:schemeClr val="tx1"/>
                          </a:solidFill>
                          <a:effectLst/>
                          <a:latin typeface="Arial" charset="0"/>
                          <a:cs typeface="Times New Roman" pitchFamily="18" charset="0"/>
                        </a:rPr>
                        <a:t>2</a:t>
                      </a:r>
                      <a:r>
                        <a:rPr kumimoji="0" lang="en-US" sz="1800" b="0" i="0" u="none" strike="noStrike" cap="none" normalizeH="0" baseline="0" dirty="0">
                          <a:ln>
                            <a:noFill/>
                          </a:ln>
                          <a:solidFill>
                            <a:schemeClr val="tx1"/>
                          </a:solidFill>
                          <a:effectLst/>
                          <a:latin typeface="Arial" charset="0"/>
                          <a:cs typeface="Times New Roman" pitchFamily="18" charset="0"/>
                        </a:rPr>
                        <a:t>) </a:t>
                      </a: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ru-RU" sz="1800" b="0" i="0" u="none" strike="noStrike" cap="none" normalizeH="0" baseline="0" dirty="0">
                        <a:ln>
                          <a:noFill/>
                        </a:ln>
                        <a:solidFill>
                          <a:schemeClr val="tx1"/>
                        </a:solidFill>
                        <a:effectLst/>
                        <a:latin typeface="Arial" charset="0"/>
                        <a:cs typeface="Arial" charset="0"/>
                      </a:endParaRP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18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dirty="0">
                          <a:ln>
                            <a:noFill/>
                          </a:ln>
                          <a:solidFill>
                            <a:schemeClr val="tx1"/>
                          </a:solidFill>
                          <a:effectLst/>
                          <a:latin typeface="Arial" charset="0"/>
                          <a:cs typeface="Times New Roman" pitchFamily="18" charset="0"/>
                        </a:rPr>
                        <a:t>(S</a:t>
                      </a:r>
                      <a:r>
                        <a:rPr kumimoji="0" lang="en-US" sz="1800" b="0" i="0" u="none" strike="noStrike" cap="none" normalizeH="0" baseline="-30000" dirty="0">
                          <a:ln>
                            <a:noFill/>
                          </a:ln>
                          <a:solidFill>
                            <a:schemeClr val="tx1"/>
                          </a:solidFill>
                          <a:effectLst/>
                          <a:latin typeface="Arial" charset="0"/>
                          <a:cs typeface="Times New Roman" pitchFamily="18" charset="0"/>
                        </a:rPr>
                        <a:t>0,</a:t>
                      </a:r>
                      <a:r>
                        <a:rPr kumimoji="0" lang="en-US" sz="1800" b="0" i="0" u="none" strike="noStrike" cap="none" normalizeH="0" baseline="0" dirty="0">
                          <a:ln>
                            <a:noFill/>
                          </a:ln>
                          <a:solidFill>
                            <a:schemeClr val="tx1"/>
                          </a:solidFill>
                          <a:effectLst/>
                          <a:latin typeface="Arial" charset="0"/>
                          <a:cs typeface="Times New Roman" pitchFamily="18" charset="0"/>
                        </a:rPr>
                        <a:t>X</a:t>
                      </a:r>
                      <a:r>
                        <a:rPr kumimoji="0" lang="en-US" sz="1800" b="0" i="0" u="none" strike="noStrike" cap="none" normalizeH="0" baseline="-30000" dirty="0">
                          <a:ln>
                            <a:noFill/>
                          </a:ln>
                          <a:solidFill>
                            <a:schemeClr val="tx1"/>
                          </a:solidFill>
                          <a:effectLst/>
                          <a:latin typeface="Arial" charset="0"/>
                          <a:cs typeface="Times New Roman" pitchFamily="18" charset="0"/>
                        </a:rPr>
                        <a:t>M</a:t>
                      </a:r>
                      <a:r>
                        <a:rPr kumimoji="0" lang="en-US" sz="1800" b="0" i="0" u="none" strike="noStrike" cap="none" normalizeH="0" baseline="0" dirty="0">
                          <a:ln>
                            <a:noFill/>
                          </a:ln>
                          <a:solidFill>
                            <a:schemeClr val="tx1"/>
                          </a:solidFill>
                          <a:effectLst/>
                          <a:latin typeface="Arial" charset="0"/>
                          <a:cs typeface="Times New Roman" pitchFamily="18" charset="0"/>
                        </a:rPr>
                        <a:t>)/</a:t>
                      </a:r>
                      <a:r>
                        <a:rPr kumimoji="0" lang="en-US" sz="18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dirty="0">
                          <a:ln>
                            <a:noFill/>
                          </a:ln>
                          <a:solidFill>
                            <a:schemeClr val="tx1"/>
                          </a:solidFill>
                          <a:effectLst/>
                          <a:latin typeface="Arial" charset="0"/>
                          <a:cs typeface="Times New Roman" pitchFamily="18" charset="0"/>
                        </a:rPr>
                        <a:t>(S</a:t>
                      </a:r>
                      <a:r>
                        <a:rPr kumimoji="0" lang="en-US" sz="1800" b="0" i="0" u="none" strike="noStrike" cap="none" normalizeH="0" baseline="-30000" dirty="0">
                          <a:ln>
                            <a:noFill/>
                          </a:ln>
                          <a:solidFill>
                            <a:schemeClr val="tx1"/>
                          </a:solidFill>
                          <a:effectLst/>
                          <a:latin typeface="Arial" charset="0"/>
                          <a:cs typeface="Times New Roman" pitchFamily="18" charset="0"/>
                        </a:rPr>
                        <a:t>0</a:t>
                      </a:r>
                      <a:r>
                        <a:rPr kumimoji="0" lang="en-US" sz="1800" b="0" i="0" u="none" strike="noStrike" cap="none" normalizeH="0" baseline="0" dirty="0">
                          <a:ln>
                            <a:noFill/>
                          </a:ln>
                          <a:solidFill>
                            <a:schemeClr val="tx1"/>
                          </a:solidFill>
                          <a:effectLst/>
                          <a:latin typeface="Arial" charset="0"/>
                          <a:cs typeface="Times New Roman" pitchFamily="18" charset="0"/>
                        </a:rPr>
                        <a:t>,X</a:t>
                      </a:r>
                      <a:r>
                        <a:rPr kumimoji="0" lang="en-US" sz="1800" b="0" i="0" u="none" strike="noStrike" cap="none" normalizeH="0" baseline="-30000" dirty="0">
                          <a:ln>
                            <a:noFill/>
                          </a:ln>
                          <a:solidFill>
                            <a:schemeClr val="tx1"/>
                          </a:solidFill>
                          <a:effectLst/>
                          <a:latin typeface="Arial" charset="0"/>
                          <a:cs typeface="Times New Roman" pitchFamily="18" charset="0"/>
                        </a:rPr>
                        <a:t>M</a:t>
                      </a:r>
                      <a:r>
                        <a:rPr kumimoji="0" lang="en-US" sz="1800" b="0" i="0" u="none" strike="noStrike" cap="none" normalizeH="0" baseline="0" dirty="0">
                          <a:ln>
                            <a:noFill/>
                          </a:ln>
                          <a:solidFill>
                            <a:schemeClr val="tx1"/>
                          </a:solidFill>
                          <a:effectLst/>
                          <a:latin typeface="Arial" charset="0"/>
                          <a:cs typeface="Times New Roman" pitchFamily="18" charset="0"/>
                        </a:rPr>
                        <a:t>) </a:t>
                      </a:r>
                    </a:p>
                  </a:txBody>
                  <a:tcPr marL="91432" marR="91432" marT="45714" marB="45714" horzOverflow="overflow"/>
                </a:tc>
                <a:extLst>
                  <a:ext uri="{0D108BD9-81ED-4DB2-BD59-A6C34878D82A}">
                    <a16:rowId xmlns:a16="http://schemas.microsoft.com/office/drawing/2014/main" val="10001"/>
                  </a:ext>
                </a:extLst>
              </a:tr>
              <a:tr h="596826">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S</a:t>
                      </a:r>
                      <a:r>
                        <a:rPr kumimoji="0" lang="en-US" sz="1800" b="0" i="0" u="none" strike="noStrike" cap="none" normalizeH="0" baseline="-25000" dirty="0">
                          <a:ln>
                            <a:noFill/>
                          </a:ln>
                          <a:solidFill>
                            <a:schemeClr val="tx1"/>
                          </a:solidFill>
                          <a:effectLst/>
                          <a:latin typeface="Arial" charset="0"/>
                          <a:cs typeface="Arial" charset="0"/>
                        </a:rPr>
                        <a:t>1</a:t>
                      </a:r>
                      <a:endParaRPr kumimoji="0" lang="en-US" sz="1800" b="0" i="0" u="none" strike="noStrike" cap="none" normalizeH="0" baseline="0" dirty="0">
                        <a:ln>
                          <a:noFill/>
                        </a:ln>
                        <a:solidFill>
                          <a:schemeClr val="tx1"/>
                        </a:solidFill>
                        <a:effectLst/>
                        <a:latin typeface="Arial" charset="0"/>
                        <a:cs typeface="Arial" charset="0"/>
                      </a:endParaRP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18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dirty="0">
                          <a:ln>
                            <a:noFill/>
                          </a:ln>
                          <a:solidFill>
                            <a:schemeClr val="tx1"/>
                          </a:solidFill>
                          <a:effectLst/>
                          <a:latin typeface="Arial" charset="0"/>
                          <a:cs typeface="Times New Roman" pitchFamily="18" charset="0"/>
                        </a:rPr>
                        <a:t>(S</a:t>
                      </a:r>
                      <a:r>
                        <a:rPr kumimoji="0" lang="en-US" sz="1800" b="0" i="0" u="none" strike="noStrike" cap="none" normalizeH="0" baseline="-30000" dirty="0">
                          <a:ln>
                            <a:noFill/>
                          </a:ln>
                          <a:solidFill>
                            <a:schemeClr val="tx1"/>
                          </a:solidFill>
                          <a:effectLst/>
                          <a:latin typeface="Arial" charset="0"/>
                          <a:cs typeface="Times New Roman" pitchFamily="18" charset="0"/>
                        </a:rPr>
                        <a:t>1,</a:t>
                      </a:r>
                      <a:r>
                        <a:rPr kumimoji="0" lang="en-US" sz="1800" b="0" i="0" u="none" strike="noStrike" cap="none" normalizeH="0" baseline="0" dirty="0">
                          <a:ln>
                            <a:noFill/>
                          </a:ln>
                          <a:solidFill>
                            <a:schemeClr val="tx1"/>
                          </a:solidFill>
                          <a:effectLst/>
                          <a:latin typeface="Arial" charset="0"/>
                          <a:cs typeface="Times New Roman" pitchFamily="18" charset="0"/>
                        </a:rPr>
                        <a:t>X</a:t>
                      </a:r>
                      <a:r>
                        <a:rPr kumimoji="0" lang="en-US" sz="1800" b="0" i="0" u="none" strike="noStrike" cap="none" normalizeH="0" baseline="-30000" dirty="0">
                          <a:ln>
                            <a:noFill/>
                          </a:ln>
                          <a:solidFill>
                            <a:schemeClr val="tx1"/>
                          </a:solidFill>
                          <a:effectLst/>
                          <a:latin typeface="Arial" charset="0"/>
                          <a:cs typeface="Times New Roman" pitchFamily="18" charset="0"/>
                        </a:rPr>
                        <a:t>1</a:t>
                      </a:r>
                      <a:r>
                        <a:rPr kumimoji="0" lang="en-US" sz="1800" b="0" i="0" u="none" strike="noStrike" cap="none" normalizeH="0" baseline="0" dirty="0">
                          <a:ln>
                            <a:noFill/>
                          </a:ln>
                          <a:solidFill>
                            <a:schemeClr val="tx1"/>
                          </a:solidFill>
                          <a:effectLst/>
                          <a:latin typeface="Arial" charset="0"/>
                          <a:cs typeface="Times New Roman" pitchFamily="18" charset="0"/>
                        </a:rPr>
                        <a:t>)/</a:t>
                      </a:r>
                      <a:r>
                        <a:rPr kumimoji="0" lang="en-US" sz="18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dirty="0">
                          <a:ln>
                            <a:noFill/>
                          </a:ln>
                          <a:solidFill>
                            <a:schemeClr val="tx1"/>
                          </a:solidFill>
                          <a:effectLst/>
                          <a:latin typeface="Arial" charset="0"/>
                          <a:cs typeface="Times New Roman" pitchFamily="18" charset="0"/>
                        </a:rPr>
                        <a:t>(S</a:t>
                      </a:r>
                      <a:r>
                        <a:rPr kumimoji="0" lang="en-US" sz="1800" b="0" i="0" u="none" strike="noStrike" cap="none" normalizeH="0" baseline="-30000" dirty="0">
                          <a:ln>
                            <a:noFill/>
                          </a:ln>
                          <a:solidFill>
                            <a:schemeClr val="tx1"/>
                          </a:solidFill>
                          <a:effectLst/>
                          <a:latin typeface="Arial" charset="0"/>
                          <a:cs typeface="Times New Roman" pitchFamily="18" charset="0"/>
                        </a:rPr>
                        <a:t>1</a:t>
                      </a:r>
                      <a:r>
                        <a:rPr kumimoji="0" lang="en-US" sz="1800" b="0" i="0" u="none" strike="noStrike" cap="none" normalizeH="0" baseline="0" dirty="0">
                          <a:ln>
                            <a:noFill/>
                          </a:ln>
                          <a:solidFill>
                            <a:schemeClr val="tx1"/>
                          </a:solidFill>
                          <a:effectLst/>
                          <a:latin typeface="Arial" charset="0"/>
                          <a:cs typeface="Times New Roman" pitchFamily="18" charset="0"/>
                        </a:rPr>
                        <a:t>,X</a:t>
                      </a:r>
                      <a:r>
                        <a:rPr kumimoji="0" lang="en-US" sz="1800" b="0" i="0" u="none" strike="noStrike" cap="none" normalizeH="0" baseline="-30000" dirty="0">
                          <a:ln>
                            <a:noFill/>
                          </a:ln>
                          <a:solidFill>
                            <a:schemeClr val="tx1"/>
                          </a:solidFill>
                          <a:effectLst/>
                          <a:latin typeface="Arial" charset="0"/>
                          <a:cs typeface="Times New Roman" pitchFamily="18" charset="0"/>
                        </a:rPr>
                        <a:t>1</a:t>
                      </a:r>
                      <a:r>
                        <a:rPr kumimoji="0" lang="en-US" sz="1800" b="0" i="0" u="none" strike="noStrike" cap="none" normalizeH="0" baseline="0" dirty="0">
                          <a:ln>
                            <a:noFill/>
                          </a:ln>
                          <a:solidFill>
                            <a:schemeClr val="tx1"/>
                          </a:solidFill>
                          <a:effectLst/>
                          <a:latin typeface="Arial" charset="0"/>
                          <a:cs typeface="Times New Roman" pitchFamily="18" charset="0"/>
                        </a:rPr>
                        <a:t>) </a:t>
                      </a: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18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dirty="0">
                          <a:ln>
                            <a:noFill/>
                          </a:ln>
                          <a:solidFill>
                            <a:schemeClr val="tx1"/>
                          </a:solidFill>
                          <a:effectLst/>
                          <a:latin typeface="Arial" charset="0"/>
                          <a:cs typeface="Times New Roman" pitchFamily="18" charset="0"/>
                        </a:rPr>
                        <a:t>(S</a:t>
                      </a:r>
                      <a:r>
                        <a:rPr kumimoji="0" lang="en-US" sz="1800" b="0" i="0" u="none" strike="noStrike" cap="none" normalizeH="0" baseline="-30000" dirty="0">
                          <a:ln>
                            <a:noFill/>
                          </a:ln>
                          <a:solidFill>
                            <a:schemeClr val="tx1"/>
                          </a:solidFill>
                          <a:effectLst/>
                          <a:latin typeface="Arial" charset="0"/>
                          <a:cs typeface="Times New Roman" pitchFamily="18" charset="0"/>
                        </a:rPr>
                        <a:t>1,</a:t>
                      </a:r>
                      <a:r>
                        <a:rPr kumimoji="0" lang="en-US" sz="1800" b="0" i="0" u="none" strike="noStrike" cap="none" normalizeH="0" baseline="0" dirty="0">
                          <a:ln>
                            <a:noFill/>
                          </a:ln>
                          <a:solidFill>
                            <a:schemeClr val="tx1"/>
                          </a:solidFill>
                          <a:effectLst/>
                          <a:latin typeface="Arial" charset="0"/>
                          <a:cs typeface="Times New Roman" pitchFamily="18" charset="0"/>
                        </a:rPr>
                        <a:t>X</a:t>
                      </a:r>
                      <a:r>
                        <a:rPr kumimoji="0" lang="en-US" sz="1800" b="0" i="0" u="none" strike="noStrike" cap="none" normalizeH="0" baseline="-30000" dirty="0">
                          <a:ln>
                            <a:noFill/>
                          </a:ln>
                          <a:solidFill>
                            <a:schemeClr val="tx1"/>
                          </a:solidFill>
                          <a:effectLst/>
                          <a:latin typeface="Arial" charset="0"/>
                          <a:cs typeface="Times New Roman" pitchFamily="18" charset="0"/>
                        </a:rPr>
                        <a:t>1</a:t>
                      </a:r>
                      <a:r>
                        <a:rPr kumimoji="0" lang="en-US" sz="1800" b="0" i="0" u="none" strike="noStrike" cap="none" normalizeH="0" baseline="0" dirty="0">
                          <a:ln>
                            <a:noFill/>
                          </a:ln>
                          <a:solidFill>
                            <a:schemeClr val="tx1"/>
                          </a:solidFill>
                          <a:effectLst/>
                          <a:latin typeface="Arial" charset="0"/>
                          <a:cs typeface="Times New Roman" pitchFamily="18" charset="0"/>
                        </a:rPr>
                        <a:t>)/</a:t>
                      </a:r>
                      <a:r>
                        <a:rPr kumimoji="0" lang="en-US" sz="18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dirty="0">
                          <a:ln>
                            <a:noFill/>
                          </a:ln>
                          <a:solidFill>
                            <a:schemeClr val="tx1"/>
                          </a:solidFill>
                          <a:effectLst/>
                          <a:latin typeface="Arial" charset="0"/>
                          <a:cs typeface="Times New Roman" pitchFamily="18" charset="0"/>
                        </a:rPr>
                        <a:t>(S</a:t>
                      </a:r>
                      <a:r>
                        <a:rPr kumimoji="0" lang="en-US" sz="1800" b="0" i="0" u="none" strike="noStrike" cap="none" normalizeH="0" baseline="-30000" dirty="0">
                          <a:ln>
                            <a:noFill/>
                          </a:ln>
                          <a:solidFill>
                            <a:schemeClr val="tx1"/>
                          </a:solidFill>
                          <a:effectLst/>
                          <a:latin typeface="Arial" charset="0"/>
                          <a:cs typeface="Times New Roman" pitchFamily="18" charset="0"/>
                        </a:rPr>
                        <a:t>1</a:t>
                      </a:r>
                      <a:r>
                        <a:rPr kumimoji="0" lang="en-US" sz="1800" b="0" i="0" u="none" strike="noStrike" cap="none" normalizeH="0" baseline="0" dirty="0">
                          <a:ln>
                            <a:noFill/>
                          </a:ln>
                          <a:solidFill>
                            <a:schemeClr val="tx1"/>
                          </a:solidFill>
                          <a:effectLst/>
                          <a:latin typeface="Arial" charset="0"/>
                          <a:cs typeface="Times New Roman" pitchFamily="18" charset="0"/>
                        </a:rPr>
                        <a:t>,X</a:t>
                      </a:r>
                      <a:r>
                        <a:rPr kumimoji="0" lang="en-US" sz="1800" b="0" i="0" u="none" strike="noStrike" cap="none" normalizeH="0" baseline="-30000" dirty="0">
                          <a:ln>
                            <a:noFill/>
                          </a:ln>
                          <a:solidFill>
                            <a:schemeClr val="tx1"/>
                          </a:solidFill>
                          <a:effectLst/>
                          <a:latin typeface="Arial" charset="0"/>
                          <a:cs typeface="Times New Roman" pitchFamily="18" charset="0"/>
                        </a:rPr>
                        <a:t>1</a:t>
                      </a:r>
                      <a:r>
                        <a:rPr kumimoji="0" lang="en-US" sz="1800" b="0" i="0" u="none" strike="noStrike" cap="none" normalizeH="0" baseline="0" dirty="0">
                          <a:ln>
                            <a:noFill/>
                          </a:ln>
                          <a:solidFill>
                            <a:schemeClr val="tx1"/>
                          </a:solidFill>
                          <a:effectLst/>
                          <a:latin typeface="Arial" charset="0"/>
                          <a:cs typeface="Times New Roman" pitchFamily="18" charset="0"/>
                        </a:rPr>
                        <a:t>) </a:t>
                      </a: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ru-RU" sz="1800" b="0" i="0" u="none" strike="noStrike" cap="none" normalizeH="0" baseline="0" dirty="0">
                        <a:ln>
                          <a:noFill/>
                        </a:ln>
                        <a:solidFill>
                          <a:schemeClr val="tx1"/>
                        </a:solidFill>
                        <a:effectLst/>
                        <a:latin typeface="Arial" charset="0"/>
                        <a:cs typeface="Arial" charset="0"/>
                      </a:endParaRP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18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dirty="0">
                          <a:ln>
                            <a:noFill/>
                          </a:ln>
                          <a:solidFill>
                            <a:schemeClr val="tx1"/>
                          </a:solidFill>
                          <a:effectLst/>
                          <a:latin typeface="Arial" charset="0"/>
                          <a:cs typeface="Times New Roman" pitchFamily="18" charset="0"/>
                        </a:rPr>
                        <a:t>(S</a:t>
                      </a:r>
                      <a:r>
                        <a:rPr kumimoji="0" lang="en-US" sz="1800" b="0" i="0" u="none" strike="noStrike" cap="none" normalizeH="0" baseline="-30000" dirty="0">
                          <a:ln>
                            <a:noFill/>
                          </a:ln>
                          <a:solidFill>
                            <a:schemeClr val="tx1"/>
                          </a:solidFill>
                          <a:effectLst/>
                          <a:latin typeface="Arial" charset="0"/>
                          <a:cs typeface="Times New Roman" pitchFamily="18" charset="0"/>
                        </a:rPr>
                        <a:t>1,</a:t>
                      </a:r>
                      <a:r>
                        <a:rPr kumimoji="0" lang="en-US" sz="1800" b="0" i="0" u="none" strike="noStrike" cap="none" normalizeH="0" baseline="0" dirty="0">
                          <a:ln>
                            <a:noFill/>
                          </a:ln>
                          <a:solidFill>
                            <a:schemeClr val="tx1"/>
                          </a:solidFill>
                          <a:effectLst/>
                          <a:latin typeface="Arial" charset="0"/>
                          <a:cs typeface="Times New Roman" pitchFamily="18" charset="0"/>
                        </a:rPr>
                        <a:t>X</a:t>
                      </a:r>
                      <a:r>
                        <a:rPr kumimoji="0" lang="en-US" sz="1800" b="0" i="0" u="none" strike="noStrike" cap="none" normalizeH="0" baseline="-30000" dirty="0">
                          <a:ln>
                            <a:noFill/>
                          </a:ln>
                          <a:solidFill>
                            <a:schemeClr val="tx1"/>
                          </a:solidFill>
                          <a:effectLst/>
                          <a:latin typeface="Arial" charset="0"/>
                          <a:cs typeface="Times New Roman" pitchFamily="18" charset="0"/>
                        </a:rPr>
                        <a:t>M</a:t>
                      </a:r>
                      <a:r>
                        <a:rPr kumimoji="0" lang="en-US" sz="1800" b="0" i="0" u="none" strike="noStrike" cap="none" normalizeH="0" baseline="0" dirty="0">
                          <a:ln>
                            <a:noFill/>
                          </a:ln>
                          <a:solidFill>
                            <a:schemeClr val="tx1"/>
                          </a:solidFill>
                          <a:effectLst/>
                          <a:latin typeface="Arial" charset="0"/>
                          <a:cs typeface="Times New Roman" pitchFamily="18" charset="0"/>
                        </a:rPr>
                        <a:t>)/</a:t>
                      </a:r>
                      <a:r>
                        <a:rPr kumimoji="0" lang="en-US" sz="18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dirty="0">
                          <a:ln>
                            <a:noFill/>
                          </a:ln>
                          <a:solidFill>
                            <a:schemeClr val="tx1"/>
                          </a:solidFill>
                          <a:effectLst/>
                          <a:latin typeface="Arial" charset="0"/>
                          <a:cs typeface="Times New Roman" pitchFamily="18" charset="0"/>
                        </a:rPr>
                        <a:t>(S</a:t>
                      </a:r>
                      <a:r>
                        <a:rPr kumimoji="0" lang="en-US" sz="1800" b="0" i="0" u="none" strike="noStrike" cap="none" normalizeH="0" baseline="-30000" dirty="0">
                          <a:ln>
                            <a:noFill/>
                          </a:ln>
                          <a:solidFill>
                            <a:schemeClr val="tx1"/>
                          </a:solidFill>
                          <a:effectLst/>
                          <a:latin typeface="Arial" charset="0"/>
                          <a:cs typeface="Times New Roman" pitchFamily="18" charset="0"/>
                        </a:rPr>
                        <a:t>1</a:t>
                      </a:r>
                      <a:r>
                        <a:rPr kumimoji="0" lang="en-US" sz="1800" b="0" i="0" u="none" strike="noStrike" cap="none" normalizeH="0" baseline="0" dirty="0">
                          <a:ln>
                            <a:noFill/>
                          </a:ln>
                          <a:solidFill>
                            <a:schemeClr val="tx1"/>
                          </a:solidFill>
                          <a:effectLst/>
                          <a:latin typeface="Arial" charset="0"/>
                          <a:cs typeface="Times New Roman" pitchFamily="18" charset="0"/>
                        </a:rPr>
                        <a:t>,X</a:t>
                      </a:r>
                      <a:r>
                        <a:rPr kumimoji="0" lang="en-US" sz="1800" b="0" i="0" u="none" strike="noStrike" cap="none" normalizeH="0" baseline="-30000" dirty="0">
                          <a:ln>
                            <a:noFill/>
                          </a:ln>
                          <a:solidFill>
                            <a:schemeClr val="tx1"/>
                          </a:solidFill>
                          <a:effectLst/>
                          <a:latin typeface="Arial" charset="0"/>
                          <a:cs typeface="Times New Roman" pitchFamily="18" charset="0"/>
                        </a:rPr>
                        <a:t>M</a:t>
                      </a:r>
                      <a:r>
                        <a:rPr kumimoji="0" lang="en-US" sz="1800" b="0" i="0" u="none" strike="noStrike" cap="none" normalizeH="0" baseline="0" dirty="0">
                          <a:ln>
                            <a:noFill/>
                          </a:ln>
                          <a:solidFill>
                            <a:schemeClr val="tx1"/>
                          </a:solidFill>
                          <a:effectLst/>
                          <a:latin typeface="Arial" charset="0"/>
                          <a:cs typeface="Times New Roman" pitchFamily="18" charset="0"/>
                        </a:rPr>
                        <a:t>) </a:t>
                      </a:r>
                    </a:p>
                  </a:txBody>
                  <a:tcPr marL="91432" marR="91432" marT="45714" marB="45714" horzOverflow="overflow"/>
                </a:tc>
                <a:extLst>
                  <a:ext uri="{0D108BD9-81ED-4DB2-BD59-A6C34878D82A}">
                    <a16:rowId xmlns:a16="http://schemas.microsoft.com/office/drawing/2014/main" val="10002"/>
                  </a:ext>
                </a:extLst>
              </a:tr>
              <a:tr h="596826">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a:t>
                      </a: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ru-RU" sz="1800" b="0" i="0" u="none" strike="noStrike" cap="none" normalizeH="0" baseline="0" dirty="0">
                        <a:ln>
                          <a:noFill/>
                        </a:ln>
                        <a:solidFill>
                          <a:schemeClr val="tx1"/>
                        </a:solidFill>
                        <a:effectLst/>
                        <a:latin typeface="Arial" charset="0"/>
                        <a:cs typeface="Arial" charset="0"/>
                      </a:endParaRP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ru-RU" sz="1800" b="0" i="0" u="none" strike="noStrike" cap="none" normalizeH="0" baseline="0" dirty="0">
                        <a:ln>
                          <a:noFill/>
                        </a:ln>
                        <a:solidFill>
                          <a:schemeClr val="tx1"/>
                        </a:solidFill>
                        <a:effectLst/>
                        <a:latin typeface="Arial" charset="0"/>
                        <a:cs typeface="Arial" charset="0"/>
                      </a:endParaRP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ru-RU" sz="1800" b="0" i="0" u="none" strike="noStrike" cap="none" normalizeH="0" baseline="0" dirty="0">
                        <a:ln>
                          <a:noFill/>
                        </a:ln>
                        <a:solidFill>
                          <a:schemeClr val="tx1"/>
                        </a:solidFill>
                        <a:effectLst/>
                        <a:latin typeface="Arial" charset="0"/>
                        <a:cs typeface="Arial" charset="0"/>
                      </a:endParaRP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ru-RU" sz="1800" b="0" i="0" u="none" strike="noStrike" cap="none" normalizeH="0" baseline="0" dirty="0">
                        <a:ln>
                          <a:noFill/>
                        </a:ln>
                        <a:solidFill>
                          <a:schemeClr val="tx1"/>
                        </a:solidFill>
                        <a:effectLst/>
                        <a:latin typeface="Arial" charset="0"/>
                        <a:cs typeface="Arial" charset="0"/>
                      </a:endParaRPr>
                    </a:p>
                  </a:txBody>
                  <a:tcPr marL="91432" marR="91432" marT="45714" marB="45714" horzOverflow="overflow"/>
                </a:tc>
                <a:extLst>
                  <a:ext uri="{0D108BD9-81ED-4DB2-BD59-A6C34878D82A}">
                    <a16:rowId xmlns:a16="http://schemas.microsoft.com/office/drawing/2014/main" val="10003"/>
                  </a:ext>
                </a:extLst>
              </a:tr>
              <a:tr h="640058">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S</a:t>
                      </a:r>
                      <a:r>
                        <a:rPr kumimoji="0" lang="en-US" sz="1800" b="0" i="0" u="none" strike="noStrike" cap="none" normalizeH="0" baseline="-25000" dirty="0">
                          <a:ln>
                            <a:noFill/>
                          </a:ln>
                          <a:solidFill>
                            <a:schemeClr val="tx1"/>
                          </a:solidFill>
                          <a:effectLst/>
                          <a:latin typeface="Arial" charset="0"/>
                          <a:cs typeface="Arial" charset="0"/>
                        </a:rPr>
                        <a:t>K-1</a:t>
                      </a:r>
                      <a:endParaRPr kumimoji="0" lang="en-US" sz="1800" b="0" i="0" u="none" strike="noStrike" cap="none" normalizeH="0" baseline="0" dirty="0">
                        <a:ln>
                          <a:noFill/>
                        </a:ln>
                        <a:solidFill>
                          <a:schemeClr val="tx1"/>
                        </a:solidFill>
                        <a:effectLst/>
                        <a:latin typeface="Arial" charset="0"/>
                        <a:cs typeface="Arial" charset="0"/>
                      </a:endParaRP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1800" b="0" i="0" u="none" strike="noStrike" cap="none" normalizeH="0" baseline="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a:ln>
                            <a:noFill/>
                          </a:ln>
                          <a:solidFill>
                            <a:schemeClr val="tx1"/>
                          </a:solidFill>
                          <a:effectLst/>
                          <a:latin typeface="Arial" charset="0"/>
                          <a:cs typeface="Times New Roman" pitchFamily="18" charset="0"/>
                        </a:rPr>
                        <a:t>(S</a:t>
                      </a:r>
                      <a:r>
                        <a:rPr kumimoji="0" lang="en-US" sz="1800" b="0" i="0" u="none" strike="noStrike" cap="none" normalizeH="0" baseline="-30000">
                          <a:ln>
                            <a:noFill/>
                          </a:ln>
                          <a:solidFill>
                            <a:schemeClr val="tx1"/>
                          </a:solidFill>
                          <a:effectLst/>
                          <a:latin typeface="Arial" charset="0"/>
                          <a:cs typeface="Times New Roman" pitchFamily="18" charset="0"/>
                        </a:rPr>
                        <a:t>K-1,</a:t>
                      </a:r>
                      <a:r>
                        <a:rPr kumimoji="0" lang="en-US" sz="1800" b="0" i="0" u="none" strike="noStrike" cap="none" normalizeH="0" baseline="0">
                          <a:ln>
                            <a:noFill/>
                          </a:ln>
                          <a:solidFill>
                            <a:schemeClr val="tx1"/>
                          </a:solidFill>
                          <a:effectLst/>
                          <a:latin typeface="Arial" charset="0"/>
                          <a:cs typeface="Times New Roman" pitchFamily="18" charset="0"/>
                        </a:rPr>
                        <a:t>X</a:t>
                      </a:r>
                      <a:r>
                        <a:rPr kumimoji="0" lang="en-US" sz="1800" b="0" i="0" u="none" strike="noStrike" cap="none" normalizeH="0" baseline="-30000">
                          <a:ln>
                            <a:noFill/>
                          </a:ln>
                          <a:solidFill>
                            <a:schemeClr val="tx1"/>
                          </a:solidFill>
                          <a:effectLst/>
                          <a:latin typeface="Arial" charset="0"/>
                          <a:cs typeface="Times New Roman" pitchFamily="18" charset="0"/>
                        </a:rPr>
                        <a:t>1</a:t>
                      </a:r>
                      <a:r>
                        <a:rPr kumimoji="0" lang="en-US" sz="1800" b="0" i="0" u="none" strike="noStrike" cap="none" normalizeH="0" baseline="0">
                          <a:ln>
                            <a:noFill/>
                          </a:ln>
                          <a:solidFill>
                            <a:schemeClr val="tx1"/>
                          </a:solidFill>
                          <a:effectLst/>
                          <a:latin typeface="Arial" charset="0"/>
                          <a:cs typeface="Times New Roman" pitchFamily="18" charset="0"/>
                        </a:rPr>
                        <a:t>)/</a:t>
                      </a:r>
                      <a:r>
                        <a:rPr kumimoji="0" lang="en-US" sz="1800" b="0" i="0" u="none" strike="noStrike" cap="none" normalizeH="0" baseline="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a:ln>
                            <a:noFill/>
                          </a:ln>
                          <a:solidFill>
                            <a:schemeClr val="tx1"/>
                          </a:solidFill>
                          <a:effectLst/>
                          <a:latin typeface="Arial" charset="0"/>
                          <a:cs typeface="Times New Roman" pitchFamily="18" charset="0"/>
                        </a:rPr>
                        <a:t>(S</a:t>
                      </a:r>
                      <a:r>
                        <a:rPr kumimoji="0" lang="en-US" sz="1800" b="0" i="0" u="none" strike="noStrike" cap="none" normalizeH="0" baseline="-30000">
                          <a:ln>
                            <a:noFill/>
                          </a:ln>
                          <a:solidFill>
                            <a:schemeClr val="tx1"/>
                          </a:solidFill>
                          <a:effectLst/>
                          <a:latin typeface="Arial" charset="0"/>
                          <a:cs typeface="Times New Roman" pitchFamily="18" charset="0"/>
                        </a:rPr>
                        <a:t>K-1</a:t>
                      </a:r>
                      <a:r>
                        <a:rPr kumimoji="0" lang="en-US" sz="1800" b="0" i="0" u="none" strike="noStrike" cap="none" normalizeH="0" baseline="0">
                          <a:ln>
                            <a:noFill/>
                          </a:ln>
                          <a:solidFill>
                            <a:schemeClr val="tx1"/>
                          </a:solidFill>
                          <a:effectLst/>
                          <a:latin typeface="Arial" charset="0"/>
                          <a:cs typeface="Times New Roman" pitchFamily="18" charset="0"/>
                        </a:rPr>
                        <a:t>,X</a:t>
                      </a:r>
                      <a:r>
                        <a:rPr kumimoji="0" lang="en-US" sz="1800" b="0" i="0" u="none" strike="noStrike" cap="none" normalizeH="0" baseline="-30000">
                          <a:ln>
                            <a:noFill/>
                          </a:ln>
                          <a:solidFill>
                            <a:schemeClr val="tx1"/>
                          </a:solidFill>
                          <a:effectLst/>
                          <a:latin typeface="Arial" charset="0"/>
                          <a:cs typeface="Times New Roman" pitchFamily="18" charset="0"/>
                        </a:rPr>
                        <a:t>1</a:t>
                      </a:r>
                      <a:r>
                        <a:rPr kumimoji="0" lang="en-US" sz="1800" b="0" i="0" u="none" strike="noStrike" cap="none" normalizeH="0" baseline="0">
                          <a:ln>
                            <a:noFill/>
                          </a:ln>
                          <a:solidFill>
                            <a:schemeClr val="tx1"/>
                          </a:solidFill>
                          <a:effectLst/>
                          <a:latin typeface="Arial" charset="0"/>
                          <a:cs typeface="Times New Roman" pitchFamily="18" charset="0"/>
                        </a:rPr>
                        <a:t>)</a:t>
                      </a: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18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dirty="0">
                          <a:ln>
                            <a:noFill/>
                          </a:ln>
                          <a:solidFill>
                            <a:schemeClr val="tx1"/>
                          </a:solidFill>
                          <a:effectLst/>
                          <a:latin typeface="Arial" charset="0"/>
                          <a:cs typeface="Times New Roman" pitchFamily="18" charset="0"/>
                        </a:rPr>
                        <a:t>(S</a:t>
                      </a:r>
                      <a:r>
                        <a:rPr kumimoji="0" lang="en-US" sz="1800" b="0" i="0" u="none" strike="noStrike" cap="none" normalizeH="0" baseline="-30000" dirty="0">
                          <a:ln>
                            <a:noFill/>
                          </a:ln>
                          <a:solidFill>
                            <a:schemeClr val="tx1"/>
                          </a:solidFill>
                          <a:effectLst/>
                          <a:latin typeface="Arial" charset="0"/>
                          <a:cs typeface="Times New Roman" pitchFamily="18" charset="0"/>
                        </a:rPr>
                        <a:t>K-1,</a:t>
                      </a:r>
                      <a:r>
                        <a:rPr kumimoji="0" lang="en-US" sz="1800" b="0" i="0" u="none" strike="noStrike" cap="none" normalizeH="0" baseline="0" dirty="0">
                          <a:ln>
                            <a:noFill/>
                          </a:ln>
                          <a:solidFill>
                            <a:schemeClr val="tx1"/>
                          </a:solidFill>
                          <a:effectLst/>
                          <a:latin typeface="Arial" charset="0"/>
                          <a:cs typeface="Times New Roman" pitchFamily="18" charset="0"/>
                        </a:rPr>
                        <a:t>X</a:t>
                      </a:r>
                      <a:r>
                        <a:rPr kumimoji="0" lang="en-US" sz="1800" b="0" i="0" u="none" strike="noStrike" cap="none" normalizeH="0" baseline="-30000" dirty="0">
                          <a:ln>
                            <a:noFill/>
                          </a:ln>
                          <a:solidFill>
                            <a:schemeClr val="tx1"/>
                          </a:solidFill>
                          <a:effectLst/>
                          <a:latin typeface="Arial" charset="0"/>
                          <a:cs typeface="Times New Roman" pitchFamily="18" charset="0"/>
                        </a:rPr>
                        <a:t>1</a:t>
                      </a:r>
                      <a:r>
                        <a:rPr kumimoji="0" lang="en-US" sz="1800" b="0" i="0" u="none" strike="noStrike" cap="none" normalizeH="0" baseline="0" dirty="0">
                          <a:ln>
                            <a:noFill/>
                          </a:ln>
                          <a:solidFill>
                            <a:schemeClr val="tx1"/>
                          </a:solidFill>
                          <a:effectLst/>
                          <a:latin typeface="Arial" charset="0"/>
                          <a:cs typeface="Times New Roman" pitchFamily="18" charset="0"/>
                        </a:rPr>
                        <a:t>)/</a:t>
                      </a:r>
                      <a:r>
                        <a:rPr kumimoji="0" lang="en-US" sz="18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dirty="0">
                          <a:ln>
                            <a:noFill/>
                          </a:ln>
                          <a:solidFill>
                            <a:schemeClr val="tx1"/>
                          </a:solidFill>
                          <a:effectLst/>
                          <a:latin typeface="Arial" charset="0"/>
                          <a:cs typeface="Times New Roman" pitchFamily="18" charset="0"/>
                        </a:rPr>
                        <a:t>(S</a:t>
                      </a:r>
                      <a:r>
                        <a:rPr kumimoji="0" lang="en-US" sz="1800" b="0" i="0" u="none" strike="noStrike" cap="none" normalizeH="0" baseline="-30000" dirty="0">
                          <a:ln>
                            <a:noFill/>
                          </a:ln>
                          <a:solidFill>
                            <a:schemeClr val="tx1"/>
                          </a:solidFill>
                          <a:effectLst/>
                          <a:latin typeface="Arial" charset="0"/>
                          <a:cs typeface="Times New Roman" pitchFamily="18" charset="0"/>
                        </a:rPr>
                        <a:t>K-1</a:t>
                      </a:r>
                      <a:r>
                        <a:rPr kumimoji="0" lang="en-US" sz="1800" b="0" i="0" u="none" strike="noStrike" cap="none" normalizeH="0" baseline="0" dirty="0">
                          <a:ln>
                            <a:noFill/>
                          </a:ln>
                          <a:solidFill>
                            <a:schemeClr val="tx1"/>
                          </a:solidFill>
                          <a:effectLst/>
                          <a:latin typeface="Arial" charset="0"/>
                          <a:cs typeface="Times New Roman" pitchFamily="18" charset="0"/>
                        </a:rPr>
                        <a:t>,X</a:t>
                      </a:r>
                      <a:r>
                        <a:rPr kumimoji="0" lang="en-US" sz="1800" b="0" i="0" u="none" strike="noStrike" cap="none" normalizeH="0" baseline="-30000" dirty="0">
                          <a:ln>
                            <a:noFill/>
                          </a:ln>
                          <a:solidFill>
                            <a:schemeClr val="tx1"/>
                          </a:solidFill>
                          <a:effectLst/>
                          <a:latin typeface="Arial" charset="0"/>
                          <a:cs typeface="Times New Roman" pitchFamily="18" charset="0"/>
                        </a:rPr>
                        <a:t>1</a:t>
                      </a:r>
                      <a:r>
                        <a:rPr kumimoji="0" lang="en-US" sz="1800" b="0" i="0" u="none" strike="noStrike" cap="none" normalizeH="0" baseline="0" dirty="0">
                          <a:ln>
                            <a:noFill/>
                          </a:ln>
                          <a:solidFill>
                            <a:schemeClr val="tx1"/>
                          </a:solidFill>
                          <a:effectLst/>
                          <a:latin typeface="Arial" charset="0"/>
                          <a:cs typeface="Times New Roman" pitchFamily="18" charset="0"/>
                        </a:rPr>
                        <a:t>)</a:t>
                      </a: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ru-RU" sz="1800" b="0" i="0" u="none" strike="noStrike" cap="none" normalizeH="0" baseline="0" dirty="0">
                        <a:ln>
                          <a:noFill/>
                        </a:ln>
                        <a:solidFill>
                          <a:schemeClr val="tx1"/>
                        </a:solidFill>
                        <a:effectLst/>
                        <a:latin typeface="Arial" charset="0"/>
                        <a:cs typeface="Arial" charset="0"/>
                      </a:endParaRPr>
                    </a:p>
                  </a:txBody>
                  <a:tcPr marL="91432" marR="91432" marT="45714" marB="45714"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18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dirty="0">
                          <a:ln>
                            <a:noFill/>
                          </a:ln>
                          <a:solidFill>
                            <a:schemeClr val="tx1"/>
                          </a:solidFill>
                          <a:effectLst/>
                          <a:latin typeface="Arial" charset="0"/>
                          <a:cs typeface="Times New Roman" pitchFamily="18" charset="0"/>
                        </a:rPr>
                        <a:t>(S</a:t>
                      </a:r>
                      <a:r>
                        <a:rPr kumimoji="0" lang="en-US" sz="1800" b="0" i="0" u="none" strike="noStrike" cap="none" normalizeH="0" baseline="-30000" dirty="0">
                          <a:ln>
                            <a:noFill/>
                          </a:ln>
                          <a:solidFill>
                            <a:schemeClr val="tx1"/>
                          </a:solidFill>
                          <a:effectLst/>
                          <a:latin typeface="Arial" charset="0"/>
                          <a:cs typeface="Times New Roman" pitchFamily="18" charset="0"/>
                        </a:rPr>
                        <a:t>K-1,</a:t>
                      </a:r>
                      <a:r>
                        <a:rPr kumimoji="0" lang="en-US" sz="1800" b="0" i="0" u="none" strike="noStrike" cap="none" normalizeH="0" baseline="0" dirty="0">
                          <a:ln>
                            <a:noFill/>
                          </a:ln>
                          <a:solidFill>
                            <a:schemeClr val="tx1"/>
                          </a:solidFill>
                          <a:effectLst/>
                          <a:latin typeface="Arial" charset="0"/>
                          <a:cs typeface="Times New Roman" pitchFamily="18" charset="0"/>
                        </a:rPr>
                        <a:t>X</a:t>
                      </a:r>
                      <a:r>
                        <a:rPr kumimoji="0" lang="en-US" sz="1800" b="0" i="0" u="none" strike="noStrike" cap="none" normalizeH="0" baseline="-30000" dirty="0">
                          <a:ln>
                            <a:noFill/>
                          </a:ln>
                          <a:solidFill>
                            <a:schemeClr val="tx1"/>
                          </a:solidFill>
                          <a:effectLst/>
                          <a:latin typeface="Arial" charset="0"/>
                          <a:cs typeface="Times New Roman" pitchFamily="18" charset="0"/>
                        </a:rPr>
                        <a:t>1</a:t>
                      </a:r>
                      <a:r>
                        <a:rPr kumimoji="0" lang="en-US" sz="1800" b="0" i="0" u="none" strike="noStrike" cap="none" normalizeH="0" baseline="0" dirty="0">
                          <a:ln>
                            <a:noFill/>
                          </a:ln>
                          <a:solidFill>
                            <a:schemeClr val="tx1"/>
                          </a:solidFill>
                          <a:effectLst/>
                          <a:latin typeface="Arial" charset="0"/>
                          <a:cs typeface="Times New Roman" pitchFamily="18" charset="0"/>
                        </a:rPr>
                        <a:t>)/</a:t>
                      </a:r>
                      <a:r>
                        <a:rPr kumimoji="0" lang="en-US" sz="1800" b="0" i="0" u="none" strike="noStrike" cap="none" normalizeH="0" baseline="0" dirty="0">
                          <a:ln>
                            <a:noFill/>
                          </a:ln>
                          <a:solidFill>
                            <a:schemeClr val="tx1"/>
                          </a:solidFill>
                          <a:effectLst/>
                          <a:latin typeface="Arial" charset="0"/>
                          <a:cs typeface="Times New Roman" pitchFamily="18" charset="0"/>
                          <a:sym typeface="Symbol" pitchFamily="18" charset="2"/>
                        </a:rPr>
                        <a:t></a:t>
                      </a:r>
                      <a:r>
                        <a:rPr kumimoji="0" lang="en-US" sz="1800" b="0" i="0" u="none" strike="noStrike" cap="none" normalizeH="0" baseline="0" dirty="0">
                          <a:ln>
                            <a:noFill/>
                          </a:ln>
                          <a:solidFill>
                            <a:schemeClr val="tx1"/>
                          </a:solidFill>
                          <a:effectLst/>
                          <a:latin typeface="Arial" charset="0"/>
                          <a:cs typeface="Times New Roman" pitchFamily="18" charset="0"/>
                        </a:rPr>
                        <a:t>(S</a:t>
                      </a:r>
                      <a:r>
                        <a:rPr kumimoji="0" lang="en-US" sz="1800" b="0" i="0" u="none" strike="noStrike" cap="none" normalizeH="0" baseline="-30000" dirty="0">
                          <a:ln>
                            <a:noFill/>
                          </a:ln>
                          <a:solidFill>
                            <a:schemeClr val="tx1"/>
                          </a:solidFill>
                          <a:effectLst/>
                          <a:latin typeface="Arial" charset="0"/>
                          <a:cs typeface="Times New Roman" pitchFamily="18" charset="0"/>
                        </a:rPr>
                        <a:t>K-1</a:t>
                      </a:r>
                      <a:r>
                        <a:rPr kumimoji="0" lang="en-US" sz="1800" b="0" i="0" u="none" strike="noStrike" cap="none" normalizeH="0" baseline="0" dirty="0">
                          <a:ln>
                            <a:noFill/>
                          </a:ln>
                          <a:solidFill>
                            <a:schemeClr val="tx1"/>
                          </a:solidFill>
                          <a:effectLst/>
                          <a:latin typeface="Arial" charset="0"/>
                          <a:cs typeface="Times New Roman" pitchFamily="18" charset="0"/>
                        </a:rPr>
                        <a:t>,X</a:t>
                      </a:r>
                      <a:r>
                        <a:rPr kumimoji="0" lang="en-US" sz="1800" b="0" i="0" u="none" strike="noStrike" cap="none" normalizeH="0" baseline="-30000" dirty="0">
                          <a:ln>
                            <a:noFill/>
                          </a:ln>
                          <a:solidFill>
                            <a:schemeClr val="tx1"/>
                          </a:solidFill>
                          <a:effectLst/>
                          <a:latin typeface="Arial" charset="0"/>
                          <a:cs typeface="Times New Roman" pitchFamily="18" charset="0"/>
                        </a:rPr>
                        <a:t>1</a:t>
                      </a:r>
                      <a:r>
                        <a:rPr kumimoji="0" lang="en-US" sz="1800" b="0" i="0" u="none" strike="noStrike" cap="none" normalizeH="0" baseline="0" dirty="0">
                          <a:ln>
                            <a:noFill/>
                          </a:ln>
                          <a:solidFill>
                            <a:schemeClr val="tx1"/>
                          </a:solidFill>
                          <a:effectLst/>
                          <a:latin typeface="Arial" charset="0"/>
                          <a:cs typeface="Times New Roman" pitchFamily="18" charset="0"/>
                        </a:rPr>
                        <a:t>)</a:t>
                      </a:r>
                    </a:p>
                  </a:txBody>
                  <a:tcPr marL="91432" marR="91432" marT="45714" marB="45714" horzOverflow="overflow"/>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A016BEF-016E-4C54-E763-C62BFF973A07}"/>
              </a:ext>
            </a:extLst>
          </p:cNvPr>
          <p:cNvSpPr>
            <a:spLocks noGrp="1"/>
          </p:cNvSpPr>
          <p:nvPr>
            <p:ph type="body" sz="quarter" idx="10"/>
          </p:nvPr>
        </p:nvSpPr>
        <p:spPr/>
        <p:txBody>
          <a:bodyPr/>
          <a:lstStyle/>
          <a:p>
            <a:r>
              <a:rPr lang="en-US" dirty="0"/>
              <a:t>Mealy FSM</a:t>
            </a:r>
          </a:p>
          <a:p>
            <a:endParaRPr lang="en-US" dirty="0"/>
          </a:p>
        </p:txBody>
      </p:sp>
      <p:sp>
        <p:nvSpPr>
          <p:cNvPr id="22530" name="Text Box 3">
            <a:extLst>
              <a:ext uri="{FF2B5EF4-FFF2-40B4-BE49-F238E27FC236}">
                <a16:creationId xmlns:a16="http://schemas.microsoft.com/office/drawing/2014/main" id="{37EB4320-0B2B-9612-CC7F-E3035E28B883}"/>
              </a:ext>
            </a:extLst>
          </p:cNvPr>
          <p:cNvSpPr txBox="1">
            <a:spLocks noChangeArrowheads="1"/>
          </p:cNvSpPr>
          <p:nvPr/>
        </p:nvSpPr>
        <p:spPr bwMode="auto">
          <a:xfrm>
            <a:off x="2092325" y="4811714"/>
            <a:ext cx="8001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 = {X</a:t>
            </a:r>
            <a:r>
              <a:rPr lang="en-US" altLang="en-US" baseline="-30000"/>
              <a:t>1</a:t>
            </a:r>
            <a:r>
              <a:rPr lang="en-US" altLang="en-US"/>
              <a:t>, X </a:t>
            </a:r>
            <a:r>
              <a:rPr lang="en-US" altLang="en-US" baseline="-30000"/>
              <a:t>2</a:t>
            </a:r>
            <a:r>
              <a:rPr lang="en-US" altLang="en-US"/>
              <a:t>, X</a:t>
            </a:r>
            <a:r>
              <a:rPr lang="en-US" altLang="en-US" baseline="-30000"/>
              <a:t>3</a:t>
            </a:r>
            <a:r>
              <a:rPr lang="en-US" altLang="en-US"/>
              <a:t> };	Y = { Y</a:t>
            </a:r>
            <a:r>
              <a:rPr lang="en-US" altLang="en-US" baseline="-30000"/>
              <a:t>1</a:t>
            </a:r>
            <a:r>
              <a:rPr lang="en-US" altLang="en-US"/>
              <a:t>, Y</a:t>
            </a:r>
            <a:r>
              <a:rPr lang="en-US" altLang="en-US" baseline="-30000"/>
              <a:t>2</a:t>
            </a:r>
            <a:r>
              <a:rPr lang="en-US" altLang="en-US"/>
              <a:t>, Y</a:t>
            </a:r>
            <a:r>
              <a:rPr lang="en-US" altLang="en-US" baseline="-30000"/>
              <a:t>3</a:t>
            </a:r>
            <a:r>
              <a:rPr lang="en-US" altLang="en-US"/>
              <a:t>, Y</a:t>
            </a:r>
            <a:r>
              <a:rPr lang="en-US" altLang="en-US" baseline="-30000"/>
              <a:t>4</a:t>
            </a:r>
            <a:r>
              <a:rPr lang="en-US" altLang="en-US"/>
              <a:t> };</a:t>
            </a:r>
          </a:p>
          <a:p>
            <a:pPr eaLnBrk="1" hangingPunct="1">
              <a:spcBef>
                <a:spcPct val="50000"/>
              </a:spcBef>
            </a:pPr>
            <a:r>
              <a:rPr lang="en-US" altLang="en-US"/>
              <a:t>S = {S</a:t>
            </a:r>
            <a:r>
              <a:rPr lang="en-US" altLang="en-US" baseline="-30000"/>
              <a:t>0</a:t>
            </a:r>
            <a:r>
              <a:rPr lang="en-US" altLang="en-US"/>
              <a:t>, S</a:t>
            </a:r>
            <a:r>
              <a:rPr lang="en-US" altLang="en-US" baseline="-30000"/>
              <a:t>1</a:t>
            </a:r>
            <a:r>
              <a:rPr lang="en-US" altLang="en-US"/>
              <a:t>, S</a:t>
            </a:r>
            <a:r>
              <a:rPr lang="en-US" altLang="en-US" baseline="-30000"/>
              <a:t>2</a:t>
            </a:r>
            <a:r>
              <a:rPr lang="en-US" altLang="en-US"/>
              <a:t>, S</a:t>
            </a:r>
            <a:r>
              <a:rPr lang="en-US" altLang="en-US" baseline="-30000"/>
              <a:t>3</a:t>
            </a:r>
            <a:r>
              <a:rPr lang="en-US" altLang="en-US"/>
              <a:t>, S</a:t>
            </a:r>
            <a:r>
              <a:rPr lang="en-US" altLang="en-US" baseline="-30000"/>
              <a:t>4</a:t>
            </a:r>
            <a:r>
              <a:rPr lang="en-US" altLang="en-US"/>
              <a:t>}	 </a:t>
            </a:r>
          </a:p>
        </p:txBody>
      </p:sp>
      <p:grpSp>
        <p:nvGrpSpPr>
          <p:cNvPr id="22531" name="Group 47">
            <a:extLst>
              <a:ext uri="{FF2B5EF4-FFF2-40B4-BE49-F238E27FC236}">
                <a16:creationId xmlns:a16="http://schemas.microsoft.com/office/drawing/2014/main" id="{549C6297-16E7-FBEB-D6E2-741023F4129D}"/>
              </a:ext>
            </a:extLst>
          </p:cNvPr>
          <p:cNvGrpSpPr>
            <a:grpSpLocks/>
          </p:cNvGrpSpPr>
          <p:nvPr/>
        </p:nvGrpSpPr>
        <p:grpSpPr bwMode="auto">
          <a:xfrm>
            <a:off x="2755901" y="2259014"/>
            <a:ext cx="6899275" cy="2681287"/>
            <a:chOff x="873125" y="1709738"/>
            <a:chExt cx="6899275" cy="3700462"/>
          </a:xfrm>
        </p:grpSpPr>
        <p:sp>
          <p:nvSpPr>
            <p:cNvPr id="11269" name="Text Box 6">
              <a:extLst>
                <a:ext uri="{FF2B5EF4-FFF2-40B4-BE49-F238E27FC236}">
                  <a16:creationId xmlns:a16="http://schemas.microsoft.com/office/drawing/2014/main" id="{6D2DD360-F0D9-44CD-9649-9CD7F48356FE}"/>
                </a:ext>
              </a:extLst>
            </p:cNvPr>
            <p:cNvSpPr txBox="1">
              <a:spLocks noChangeArrowheads="1"/>
            </p:cNvSpPr>
            <p:nvPr/>
          </p:nvSpPr>
          <p:spPr bwMode="auto">
            <a:xfrm>
              <a:off x="4064000" y="1753556"/>
              <a:ext cx="920750" cy="466665"/>
            </a:xfrm>
            <a:prstGeom prst="rect">
              <a:avLst/>
            </a:prstGeom>
            <a:noFill/>
            <a:ln w="28575">
              <a:noFill/>
              <a:miter lim="800000"/>
              <a:headEnd/>
              <a:tailEnd/>
            </a:ln>
          </p:spPr>
          <p:txBody>
            <a:bodyPr/>
            <a:lstStyle/>
            <a:p>
              <a:pPr>
                <a:defRPr/>
              </a:pPr>
              <a:endParaRPr lang="ru-RU" sz="1400" b="1"/>
            </a:p>
          </p:txBody>
        </p:sp>
        <p:sp>
          <p:nvSpPr>
            <p:cNvPr id="11270" name="Rectangle 7">
              <a:extLst>
                <a:ext uri="{FF2B5EF4-FFF2-40B4-BE49-F238E27FC236}">
                  <a16:creationId xmlns:a16="http://schemas.microsoft.com/office/drawing/2014/main" id="{A67E07F6-5D99-4550-8BAE-A5950E8B7208}"/>
                </a:ext>
              </a:extLst>
            </p:cNvPr>
            <p:cNvSpPr>
              <a:spLocks noChangeArrowheads="1"/>
            </p:cNvSpPr>
            <p:nvPr/>
          </p:nvSpPr>
          <p:spPr bwMode="auto">
            <a:xfrm>
              <a:off x="1366838" y="2844634"/>
              <a:ext cx="650875" cy="624411"/>
            </a:xfrm>
            <a:prstGeom prst="rect">
              <a:avLst/>
            </a:prstGeom>
            <a:noFill/>
            <a:ln w="28575">
              <a:noFill/>
              <a:miter lim="800000"/>
              <a:headEnd/>
              <a:tailEnd/>
            </a:ln>
          </p:spPr>
          <p:txBody>
            <a:bodyPr/>
            <a:lstStyle/>
            <a:p>
              <a:pPr eaLnBrk="1" hangingPunct="1">
                <a:defRPr/>
              </a:pPr>
              <a:endParaRPr lang="en-US" sz="1400" b="1" dirty="0"/>
            </a:p>
          </p:txBody>
        </p:sp>
        <p:sp>
          <p:nvSpPr>
            <p:cNvPr id="11271" name="Rectangle 8">
              <a:extLst>
                <a:ext uri="{FF2B5EF4-FFF2-40B4-BE49-F238E27FC236}">
                  <a16:creationId xmlns:a16="http://schemas.microsoft.com/office/drawing/2014/main" id="{66D3730F-CB15-4850-866C-5DAEC77FE698}"/>
                </a:ext>
              </a:extLst>
            </p:cNvPr>
            <p:cNvSpPr>
              <a:spLocks noChangeArrowheads="1"/>
            </p:cNvSpPr>
            <p:nvPr/>
          </p:nvSpPr>
          <p:spPr bwMode="auto">
            <a:xfrm>
              <a:off x="5772150" y="2531332"/>
              <a:ext cx="630238" cy="624413"/>
            </a:xfrm>
            <a:prstGeom prst="rect">
              <a:avLst/>
            </a:prstGeom>
            <a:noFill/>
            <a:ln w="28575">
              <a:noFill/>
              <a:miter lim="800000"/>
              <a:headEnd/>
              <a:tailEnd/>
            </a:ln>
          </p:spPr>
          <p:txBody>
            <a:bodyPr/>
            <a:lstStyle/>
            <a:p>
              <a:pPr>
                <a:defRPr/>
              </a:pPr>
              <a:r>
                <a:rPr lang="en-US" sz="1400" b="1" dirty="0"/>
                <a:t>S</a:t>
              </a:r>
              <a:r>
                <a:rPr lang="en-US" sz="1400" b="1" baseline="-25000" dirty="0"/>
                <a:t>3</a:t>
              </a:r>
            </a:p>
          </p:txBody>
        </p:sp>
        <p:sp>
          <p:nvSpPr>
            <p:cNvPr id="11272" name="Rectangle 9">
              <a:extLst>
                <a:ext uri="{FF2B5EF4-FFF2-40B4-BE49-F238E27FC236}">
                  <a16:creationId xmlns:a16="http://schemas.microsoft.com/office/drawing/2014/main" id="{0A32FDFB-0848-43D0-9ACA-76749F22E846}"/>
                </a:ext>
              </a:extLst>
            </p:cNvPr>
            <p:cNvSpPr>
              <a:spLocks noChangeArrowheads="1"/>
            </p:cNvSpPr>
            <p:nvPr/>
          </p:nvSpPr>
          <p:spPr bwMode="auto">
            <a:xfrm>
              <a:off x="5929313" y="3935712"/>
              <a:ext cx="1416050" cy="1402188"/>
            </a:xfrm>
            <a:prstGeom prst="rect">
              <a:avLst/>
            </a:prstGeom>
            <a:noFill/>
            <a:ln w="28575">
              <a:noFill/>
              <a:miter lim="800000"/>
              <a:headEnd/>
              <a:tailEnd/>
            </a:ln>
          </p:spPr>
          <p:txBody>
            <a:bodyPr/>
            <a:lstStyle/>
            <a:p>
              <a:pPr eaLnBrk="1" hangingPunct="1">
                <a:defRPr/>
              </a:pPr>
              <a:endParaRPr lang="en-US" sz="1400" b="1" dirty="0"/>
            </a:p>
          </p:txBody>
        </p:sp>
        <p:sp>
          <p:nvSpPr>
            <p:cNvPr id="11273" name="Line 10">
              <a:extLst>
                <a:ext uri="{FF2B5EF4-FFF2-40B4-BE49-F238E27FC236}">
                  <a16:creationId xmlns:a16="http://schemas.microsoft.com/office/drawing/2014/main" id="{F720C737-4C70-4FE5-94E9-342AAD2C839C}"/>
                </a:ext>
              </a:extLst>
            </p:cNvPr>
            <p:cNvSpPr>
              <a:spLocks noChangeShapeType="1"/>
            </p:cNvSpPr>
            <p:nvPr/>
          </p:nvSpPr>
          <p:spPr bwMode="auto">
            <a:xfrm flipV="1">
              <a:off x="1928813" y="2209268"/>
              <a:ext cx="1576387" cy="655084"/>
            </a:xfrm>
            <a:prstGeom prst="line">
              <a:avLst/>
            </a:prstGeom>
            <a:noFill/>
            <a:ln w="28575">
              <a:solidFill>
                <a:srgbClr val="000000"/>
              </a:solidFill>
              <a:round/>
              <a:headEnd/>
              <a:tailEnd type="triangle" w="lg" len="lg"/>
            </a:ln>
          </p:spPr>
          <p:txBody>
            <a:bodyPr/>
            <a:lstStyle/>
            <a:p>
              <a:pPr eaLnBrk="1" hangingPunct="1">
                <a:defRPr/>
              </a:pPr>
              <a:endParaRPr lang="en-US" sz="1400" b="1" dirty="0"/>
            </a:p>
          </p:txBody>
        </p:sp>
        <p:sp>
          <p:nvSpPr>
            <p:cNvPr id="11274" name="Line 11">
              <a:extLst>
                <a:ext uri="{FF2B5EF4-FFF2-40B4-BE49-F238E27FC236}">
                  <a16:creationId xmlns:a16="http://schemas.microsoft.com/office/drawing/2014/main" id="{9D03E7D6-3B69-4E18-A1B6-15BD58393030}"/>
                </a:ext>
              </a:extLst>
            </p:cNvPr>
            <p:cNvSpPr>
              <a:spLocks noChangeShapeType="1"/>
            </p:cNvSpPr>
            <p:nvPr/>
          </p:nvSpPr>
          <p:spPr bwMode="auto">
            <a:xfrm flipH="1">
              <a:off x="1979613" y="2421786"/>
              <a:ext cx="1655762" cy="720813"/>
            </a:xfrm>
            <a:prstGeom prst="line">
              <a:avLst/>
            </a:prstGeom>
            <a:noFill/>
            <a:ln w="28575">
              <a:solidFill>
                <a:srgbClr val="000000"/>
              </a:solidFill>
              <a:round/>
              <a:headEnd/>
              <a:tailEnd type="triangle" w="lg" len="lg"/>
            </a:ln>
          </p:spPr>
          <p:txBody>
            <a:bodyPr/>
            <a:lstStyle/>
            <a:p>
              <a:pPr eaLnBrk="1" hangingPunct="1">
                <a:defRPr/>
              </a:pPr>
              <a:endParaRPr lang="en-US" sz="1400" b="1" dirty="0"/>
            </a:p>
          </p:txBody>
        </p:sp>
        <p:sp>
          <p:nvSpPr>
            <p:cNvPr id="11275" name="Line 12">
              <a:extLst>
                <a:ext uri="{FF2B5EF4-FFF2-40B4-BE49-F238E27FC236}">
                  <a16:creationId xmlns:a16="http://schemas.microsoft.com/office/drawing/2014/main" id="{9578A5AC-8EA2-43B9-98A0-74A045C0ED23}"/>
                </a:ext>
              </a:extLst>
            </p:cNvPr>
            <p:cNvSpPr>
              <a:spLocks noChangeShapeType="1"/>
            </p:cNvSpPr>
            <p:nvPr/>
          </p:nvSpPr>
          <p:spPr bwMode="auto">
            <a:xfrm flipV="1">
              <a:off x="3568700" y="2439313"/>
              <a:ext cx="241300" cy="1654145"/>
            </a:xfrm>
            <a:prstGeom prst="line">
              <a:avLst/>
            </a:prstGeom>
            <a:noFill/>
            <a:ln w="28575">
              <a:solidFill>
                <a:srgbClr val="000000"/>
              </a:solidFill>
              <a:round/>
              <a:headEnd/>
              <a:tailEnd type="triangle" w="med" len="med"/>
            </a:ln>
          </p:spPr>
          <p:txBody>
            <a:bodyPr/>
            <a:lstStyle/>
            <a:p>
              <a:pPr eaLnBrk="1" hangingPunct="1">
                <a:defRPr/>
              </a:pPr>
              <a:endParaRPr lang="en-US" sz="1400" b="1" dirty="0"/>
            </a:p>
          </p:txBody>
        </p:sp>
        <p:sp>
          <p:nvSpPr>
            <p:cNvPr id="11276" name="Line 13">
              <a:extLst>
                <a:ext uri="{FF2B5EF4-FFF2-40B4-BE49-F238E27FC236}">
                  <a16:creationId xmlns:a16="http://schemas.microsoft.com/office/drawing/2014/main" id="{CBC4B90A-116A-4625-827D-C667E32D18A5}"/>
                </a:ext>
              </a:extLst>
            </p:cNvPr>
            <p:cNvSpPr>
              <a:spLocks noChangeShapeType="1"/>
            </p:cNvSpPr>
            <p:nvPr/>
          </p:nvSpPr>
          <p:spPr bwMode="auto">
            <a:xfrm>
              <a:off x="4157663" y="2220222"/>
              <a:ext cx="1393825" cy="466666"/>
            </a:xfrm>
            <a:prstGeom prst="line">
              <a:avLst/>
            </a:prstGeom>
            <a:noFill/>
            <a:ln w="28575">
              <a:solidFill>
                <a:srgbClr val="000000"/>
              </a:solidFill>
              <a:round/>
              <a:headEnd/>
              <a:tailEnd type="triangle" w="lg" len="lg"/>
            </a:ln>
          </p:spPr>
          <p:txBody>
            <a:bodyPr/>
            <a:lstStyle/>
            <a:p>
              <a:pPr eaLnBrk="1" hangingPunct="1">
                <a:defRPr/>
              </a:pPr>
              <a:endParaRPr lang="en-US" sz="1400" b="1" dirty="0"/>
            </a:p>
          </p:txBody>
        </p:sp>
        <p:sp>
          <p:nvSpPr>
            <p:cNvPr id="11277" name="Line 14">
              <a:extLst>
                <a:ext uri="{FF2B5EF4-FFF2-40B4-BE49-F238E27FC236}">
                  <a16:creationId xmlns:a16="http://schemas.microsoft.com/office/drawing/2014/main" id="{2A0AEAD1-C770-4A69-A7B4-408CDF07D945}"/>
                </a:ext>
              </a:extLst>
            </p:cNvPr>
            <p:cNvSpPr>
              <a:spLocks noChangeShapeType="1"/>
            </p:cNvSpPr>
            <p:nvPr/>
          </p:nvSpPr>
          <p:spPr bwMode="auto">
            <a:xfrm flipH="1" flipV="1">
              <a:off x="6019800" y="2971708"/>
              <a:ext cx="533400" cy="839121"/>
            </a:xfrm>
            <a:prstGeom prst="line">
              <a:avLst/>
            </a:prstGeom>
            <a:noFill/>
            <a:ln w="28575">
              <a:solidFill>
                <a:srgbClr val="000000"/>
              </a:solidFill>
              <a:round/>
              <a:headEnd/>
              <a:tailEnd type="triangle" w="lg" len="lg"/>
            </a:ln>
          </p:spPr>
          <p:txBody>
            <a:bodyPr/>
            <a:lstStyle/>
            <a:p>
              <a:pPr eaLnBrk="1" hangingPunct="1">
                <a:defRPr/>
              </a:pPr>
              <a:endParaRPr lang="en-US" sz="1400" b="1" dirty="0"/>
            </a:p>
          </p:txBody>
        </p:sp>
        <p:sp>
          <p:nvSpPr>
            <p:cNvPr id="11278" name="Text Box 15">
              <a:extLst>
                <a:ext uri="{FF2B5EF4-FFF2-40B4-BE49-F238E27FC236}">
                  <a16:creationId xmlns:a16="http://schemas.microsoft.com/office/drawing/2014/main" id="{A1894AED-BC67-46F1-9EC9-08CDA37A4BF3}"/>
                </a:ext>
              </a:extLst>
            </p:cNvPr>
            <p:cNvSpPr txBox="1">
              <a:spLocks noChangeArrowheads="1"/>
            </p:cNvSpPr>
            <p:nvPr/>
          </p:nvSpPr>
          <p:spPr bwMode="auto">
            <a:xfrm>
              <a:off x="1846263" y="3907229"/>
              <a:ext cx="922337" cy="468857"/>
            </a:xfrm>
            <a:prstGeom prst="rect">
              <a:avLst/>
            </a:prstGeom>
            <a:solidFill>
              <a:srgbClr val="FFFFFF"/>
            </a:solidFill>
            <a:ln w="28575">
              <a:noFill/>
              <a:miter lim="800000"/>
              <a:headEnd/>
              <a:tailEnd/>
            </a:ln>
          </p:spPr>
          <p:txBody>
            <a:bodyPr/>
            <a:lstStyle/>
            <a:p>
              <a:pPr>
                <a:defRPr/>
              </a:pPr>
              <a:r>
                <a:rPr lang="en-US" sz="1400" b="1" dirty="0"/>
                <a:t>X</a:t>
              </a:r>
              <a:r>
                <a:rPr lang="en-US" sz="1400" b="1" baseline="-25000" dirty="0"/>
                <a:t>2</a:t>
              </a:r>
              <a:r>
                <a:rPr lang="en-US" sz="1400" b="1" dirty="0"/>
                <a:t>/Y</a:t>
              </a:r>
              <a:r>
                <a:rPr lang="en-US" sz="1400" b="1" baseline="-25000" dirty="0"/>
                <a:t>4</a:t>
              </a:r>
              <a:endParaRPr lang="en-US" sz="1400" b="1" dirty="0"/>
            </a:p>
          </p:txBody>
        </p:sp>
        <p:sp>
          <p:nvSpPr>
            <p:cNvPr id="11279" name="Text Box 16">
              <a:extLst>
                <a:ext uri="{FF2B5EF4-FFF2-40B4-BE49-F238E27FC236}">
                  <a16:creationId xmlns:a16="http://schemas.microsoft.com/office/drawing/2014/main" id="{873F6126-A267-43FB-B304-B8725906A8A8}"/>
                </a:ext>
              </a:extLst>
            </p:cNvPr>
            <p:cNvSpPr txBox="1">
              <a:spLocks noChangeArrowheads="1"/>
            </p:cNvSpPr>
            <p:nvPr/>
          </p:nvSpPr>
          <p:spPr bwMode="auto">
            <a:xfrm>
              <a:off x="2309813" y="3874366"/>
              <a:ext cx="922337" cy="468857"/>
            </a:xfrm>
            <a:prstGeom prst="rect">
              <a:avLst/>
            </a:prstGeom>
            <a:noFill/>
            <a:ln w="28575">
              <a:noFill/>
              <a:miter lim="800000"/>
              <a:headEnd/>
              <a:tailEnd/>
            </a:ln>
          </p:spPr>
          <p:txBody>
            <a:bodyPr/>
            <a:lstStyle/>
            <a:p>
              <a:pPr>
                <a:defRPr/>
              </a:pPr>
              <a:endParaRPr lang="ru-RU" sz="1400" b="1"/>
            </a:p>
          </p:txBody>
        </p:sp>
        <p:sp>
          <p:nvSpPr>
            <p:cNvPr id="11280" name="Text Box 17">
              <a:extLst>
                <a:ext uri="{FF2B5EF4-FFF2-40B4-BE49-F238E27FC236}">
                  <a16:creationId xmlns:a16="http://schemas.microsoft.com/office/drawing/2014/main" id="{6789EE1E-A556-417A-9439-33F159FCBF7E}"/>
                </a:ext>
              </a:extLst>
            </p:cNvPr>
            <p:cNvSpPr txBox="1">
              <a:spLocks noChangeArrowheads="1"/>
            </p:cNvSpPr>
            <p:nvPr/>
          </p:nvSpPr>
          <p:spPr bwMode="auto">
            <a:xfrm>
              <a:off x="4456113" y="3225854"/>
              <a:ext cx="922337" cy="468857"/>
            </a:xfrm>
            <a:prstGeom prst="rect">
              <a:avLst/>
            </a:prstGeom>
            <a:noFill/>
            <a:ln w="28575">
              <a:noFill/>
              <a:miter lim="800000"/>
              <a:headEnd/>
              <a:tailEnd/>
            </a:ln>
          </p:spPr>
          <p:txBody>
            <a:bodyPr/>
            <a:lstStyle/>
            <a:p>
              <a:pPr>
                <a:defRPr/>
              </a:pPr>
              <a:r>
                <a:rPr lang="en-US" sz="1400" b="1" dirty="0"/>
                <a:t>X</a:t>
              </a:r>
              <a:r>
                <a:rPr lang="en-US" sz="1400" b="1" baseline="-25000" dirty="0"/>
                <a:t>1</a:t>
              </a:r>
              <a:r>
                <a:rPr lang="en-US" sz="1400" b="1" dirty="0"/>
                <a:t>/Y</a:t>
              </a:r>
              <a:r>
                <a:rPr lang="en-US" sz="1400" b="1" baseline="-25000" dirty="0"/>
                <a:t>2</a:t>
              </a:r>
              <a:endParaRPr lang="en-US" sz="1400" b="1" dirty="0"/>
            </a:p>
          </p:txBody>
        </p:sp>
        <p:sp>
          <p:nvSpPr>
            <p:cNvPr id="11281" name="Text Box 18">
              <a:extLst>
                <a:ext uri="{FF2B5EF4-FFF2-40B4-BE49-F238E27FC236}">
                  <a16:creationId xmlns:a16="http://schemas.microsoft.com/office/drawing/2014/main" id="{0F424C55-2982-43AA-938B-0BD718B90BB7}"/>
                </a:ext>
              </a:extLst>
            </p:cNvPr>
            <p:cNvSpPr txBox="1">
              <a:spLocks noChangeArrowheads="1"/>
            </p:cNvSpPr>
            <p:nvPr/>
          </p:nvSpPr>
          <p:spPr bwMode="auto">
            <a:xfrm>
              <a:off x="4011613" y="2686888"/>
              <a:ext cx="922337" cy="506102"/>
            </a:xfrm>
            <a:prstGeom prst="rect">
              <a:avLst/>
            </a:prstGeom>
            <a:noFill/>
            <a:ln w="28575">
              <a:noFill/>
              <a:miter lim="800000"/>
              <a:headEnd/>
              <a:tailEnd/>
            </a:ln>
          </p:spPr>
          <p:txBody>
            <a:bodyPr/>
            <a:lstStyle/>
            <a:p>
              <a:pPr>
                <a:defRPr/>
              </a:pPr>
              <a:r>
                <a:rPr lang="en-US" sz="1400" b="1" dirty="0"/>
                <a:t>X</a:t>
              </a:r>
              <a:r>
                <a:rPr lang="en-US" sz="1400" b="1" baseline="-25000" dirty="0"/>
                <a:t>2</a:t>
              </a:r>
              <a:r>
                <a:rPr lang="en-US" sz="1400" b="1" dirty="0"/>
                <a:t>/Y</a:t>
              </a:r>
              <a:r>
                <a:rPr lang="en-US" sz="1400" b="1" baseline="-25000" dirty="0"/>
                <a:t>3</a:t>
              </a:r>
            </a:p>
          </p:txBody>
        </p:sp>
        <p:sp>
          <p:nvSpPr>
            <p:cNvPr id="11282" name="Text Box 19">
              <a:extLst>
                <a:ext uri="{FF2B5EF4-FFF2-40B4-BE49-F238E27FC236}">
                  <a16:creationId xmlns:a16="http://schemas.microsoft.com/office/drawing/2014/main" id="{CB3E8DE7-FBE5-47D0-AD2B-EE2AAC008D60}"/>
                </a:ext>
              </a:extLst>
            </p:cNvPr>
            <p:cNvSpPr txBox="1">
              <a:spLocks noChangeArrowheads="1"/>
            </p:cNvSpPr>
            <p:nvPr/>
          </p:nvSpPr>
          <p:spPr bwMode="auto">
            <a:xfrm>
              <a:off x="2962275" y="2807388"/>
              <a:ext cx="922338" cy="817214"/>
            </a:xfrm>
            <a:prstGeom prst="rect">
              <a:avLst/>
            </a:prstGeom>
            <a:noFill/>
            <a:ln w="28575">
              <a:noFill/>
              <a:miter lim="800000"/>
              <a:headEnd/>
              <a:tailEnd/>
            </a:ln>
          </p:spPr>
          <p:txBody>
            <a:bodyPr/>
            <a:lstStyle/>
            <a:p>
              <a:pPr>
                <a:defRPr/>
              </a:pPr>
              <a:endParaRPr lang="ru-RU" sz="1400" b="1"/>
            </a:p>
          </p:txBody>
        </p:sp>
        <p:sp>
          <p:nvSpPr>
            <p:cNvPr id="11283" name="Text Box 20">
              <a:extLst>
                <a:ext uri="{FF2B5EF4-FFF2-40B4-BE49-F238E27FC236}">
                  <a16:creationId xmlns:a16="http://schemas.microsoft.com/office/drawing/2014/main" id="{6B5A4B89-7C11-46FF-ABA9-28E8A2C7C303}"/>
                </a:ext>
              </a:extLst>
            </p:cNvPr>
            <p:cNvSpPr txBox="1">
              <a:spLocks noChangeArrowheads="1"/>
            </p:cNvSpPr>
            <p:nvPr/>
          </p:nvSpPr>
          <p:spPr bwMode="auto">
            <a:xfrm>
              <a:off x="2152650" y="2029612"/>
              <a:ext cx="922338" cy="501720"/>
            </a:xfrm>
            <a:prstGeom prst="rect">
              <a:avLst/>
            </a:prstGeom>
            <a:noFill/>
            <a:ln w="28575">
              <a:noFill/>
              <a:miter lim="800000"/>
              <a:headEnd/>
              <a:tailEnd/>
            </a:ln>
          </p:spPr>
          <p:txBody>
            <a:bodyPr/>
            <a:lstStyle/>
            <a:p>
              <a:pPr>
                <a:defRPr/>
              </a:pPr>
              <a:r>
                <a:rPr lang="en-US" sz="1400" b="1" dirty="0"/>
                <a:t>X</a:t>
              </a:r>
              <a:r>
                <a:rPr lang="en-US" sz="1400" b="1" baseline="-25000" dirty="0"/>
                <a:t>1</a:t>
              </a:r>
              <a:r>
                <a:rPr lang="en-US" sz="1400" b="1" dirty="0"/>
                <a:t>/Y</a:t>
              </a:r>
              <a:r>
                <a:rPr lang="en-US" sz="1400" b="1" baseline="-25000" dirty="0"/>
                <a:t>1</a:t>
              </a:r>
              <a:endParaRPr lang="en-US" sz="1400" b="1" dirty="0"/>
            </a:p>
          </p:txBody>
        </p:sp>
        <p:sp>
          <p:nvSpPr>
            <p:cNvPr id="11284" name="Text Box 21">
              <a:extLst>
                <a:ext uri="{FF2B5EF4-FFF2-40B4-BE49-F238E27FC236}">
                  <a16:creationId xmlns:a16="http://schemas.microsoft.com/office/drawing/2014/main" id="{AD8574AE-497F-403E-A833-8E173D2A99CC}"/>
                </a:ext>
              </a:extLst>
            </p:cNvPr>
            <p:cNvSpPr txBox="1">
              <a:spLocks noChangeArrowheads="1"/>
            </p:cNvSpPr>
            <p:nvPr/>
          </p:nvSpPr>
          <p:spPr bwMode="auto">
            <a:xfrm>
              <a:off x="2565400" y="2796434"/>
              <a:ext cx="922338" cy="466665"/>
            </a:xfrm>
            <a:prstGeom prst="rect">
              <a:avLst/>
            </a:prstGeom>
            <a:noFill/>
            <a:ln w="28575">
              <a:noFill/>
              <a:miter lim="800000"/>
              <a:headEnd/>
              <a:tailEnd/>
            </a:ln>
          </p:spPr>
          <p:txBody>
            <a:bodyPr/>
            <a:lstStyle/>
            <a:p>
              <a:pPr>
                <a:defRPr/>
              </a:pPr>
              <a:r>
                <a:rPr lang="en-US" sz="1400" b="1" dirty="0"/>
                <a:t>X</a:t>
              </a:r>
              <a:r>
                <a:rPr lang="en-US" sz="1400" b="1" baseline="-25000" dirty="0"/>
                <a:t>3</a:t>
              </a:r>
              <a:r>
                <a:rPr lang="en-US" sz="1400" b="1" dirty="0"/>
                <a:t>/Y</a:t>
              </a:r>
              <a:r>
                <a:rPr lang="en-US" sz="1400" b="1" baseline="-25000" dirty="0"/>
                <a:t>1</a:t>
              </a:r>
              <a:endParaRPr lang="en-US" sz="1400" b="1" dirty="0"/>
            </a:p>
          </p:txBody>
        </p:sp>
        <p:sp>
          <p:nvSpPr>
            <p:cNvPr id="11285" name="Text Box 22">
              <a:extLst>
                <a:ext uri="{FF2B5EF4-FFF2-40B4-BE49-F238E27FC236}">
                  <a16:creationId xmlns:a16="http://schemas.microsoft.com/office/drawing/2014/main" id="{D2D05173-669C-4D27-8A86-E47D6646E407}"/>
                </a:ext>
              </a:extLst>
            </p:cNvPr>
            <p:cNvSpPr txBox="1">
              <a:spLocks noChangeArrowheads="1"/>
            </p:cNvSpPr>
            <p:nvPr/>
          </p:nvSpPr>
          <p:spPr bwMode="auto">
            <a:xfrm>
              <a:off x="2647950" y="3482191"/>
              <a:ext cx="920750" cy="466666"/>
            </a:xfrm>
            <a:prstGeom prst="rect">
              <a:avLst/>
            </a:prstGeom>
            <a:solidFill>
              <a:srgbClr val="FFFFFF"/>
            </a:solidFill>
            <a:ln w="28575">
              <a:noFill/>
              <a:miter lim="800000"/>
              <a:headEnd/>
              <a:tailEnd/>
            </a:ln>
          </p:spPr>
          <p:txBody>
            <a:bodyPr/>
            <a:lstStyle/>
            <a:p>
              <a:pPr>
                <a:defRPr/>
              </a:pPr>
              <a:r>
                <a:rPr lang="en-US" sz="1400" b="1" dirty="0"/>
                <a:t>X</a:t>
              </a:r>
              <a:r>
                <a:rPr lang="en-US" sz="1400" b="1" baseline="-25000" dirty="0"/>
                <a:t>2</a:t>
              </a:r>
              <a:r>
                <a:rPr lang="en-US" sz="1400" b="1" dirty="0"/>
                <a:t>/Y</a:t>
              </a:r>
              <a:r>
                <a:rPr lang="en-US" sz="1400" b="1" baseline="-25000" dirty="0"/>
                <a:t>2</a:t>
              </a:r>
              <a:endParaRPr lang="en-US" sz="1400" b="1" dirty="0"/>
            </a:p>
          </p:txBody>
        </p:sp>
        <p:sp>
          <p:nvSpPr>
            <p:cNvPr id="11286" name="Line 23">
              <a:extLst>
                <a:ext uri="{FF2B5EF4-FFF2-40B4-BE49-F238E27FC236}">
                  <a16:creationId xmlns:a16="http://schemas.microsoft.com/office/drawing/2014/main" id="{28B5888A-029F-4EDE-BBEF-DB8FE94619D2}"/>
                </a:ext>
              </a:extLst>
            </p:cNvPr>
            <p:cNvSpPr>
              <a:spLocks noChangeShapeType="1"/>
            </p:cNvSpPr>
            <p:nvPr/>
          </p:nvSpPr>
          <p:spPr bwMode="auto">
            <a:xfrm>
              <a:off x="1905000" y="3276245"/>
              <a:ext cx="1450975" cy="968386"/>
            </a:xfrm>
            <a:prstGeom prst="line">
              <a:avLst/>
            </a:prstGeom>
            <a:noFill/>
            <a:ln w="28575">
              <a:solidFill>
                <a:srgbClr val="000000"/>
              </a:solidFill>
              <a:round/>
              <a:headEnd/>
              <a:tailEnd type="triangle" w="lg" len="lg"/>
            </a:ln>
          </p:spPr>
          <p:txBody>
            <a:bodyPr/>
            <a:lstStyle/>
            <a:p>
              <a:pPr eaLnBrk="1" hangingPunct="1">
                <a:defRPr/>
              </a:pPr>
              <a:endParaRPr lang="en-US" sz="1400" b="1" dirty="0"/>
            </a:p>
          </p:txBody>
        </p:sp>
        <p:sp>
          <p:nvSpPr>
            <p:cNvPr id="11287" name="Line 24">
              <a:extLst>
                <a:ext uri="{FF2B5EF4-FFF2-40B4-BE49-F238E27FC236}">
                  <a16:creationId xmlns:a16="http://schemas.microsoft.com/office/drawing/2014/main" id="{1D066523-16D3-4763-BEBE-43A519FDA2F4}"/>
                </a:ext>
              </a:extLst>
            </p:cNvPr>
            <p:cNvSpPr>
              <a:spLocks noChangeShapeType="1"/>
            </p:cNvSpPr>
            <p:nvPr/>
          </p:nvSpPr>
          <p:spPr bwMode="auto">
            <a:xfrm flipH="1" flipV="1">
              <a:off x="1746250" y="3370455"/>
              <a:ext cx="1665288" cy="1161187"/>
            </a:xfrm>
            <a:prstGeom prst="line">
              <a:avLst/>
            </a:prstGeom>
            <a:noFill/>
            <a:ln w="28575">
              <a:solidFill>
                <a:srgbClr val="000000"/>
              </a:solidFill>
              <a:round/>
              <a:headEnd/>
              <a:tailEnd type="triangle" w="lg" len="lg"/>
            </a:ln>
          </p:spPr>
          <p:txBody>
            <a:bodyPr/>
            <a:lstStyle/>
            <a:p>
              <a:pPr eaLnBrk="1" hangingPunct="1">
                <a:defRPr/>
              </a:pPr>
              <a:endParaRPr lang="en-US" sz="1400" b="1" dirty="0"/>
            </a:p>
          </p:txBody>
        </p:sp>
        <p:sp>
          <p:nvSpPr>
            <p:cNvPr id="11288" name="Text Box 26">
              <a:extLst>
                <a:ext uri="{FF2B5EF4-FFF2-40B4-BE49-F238E27FC236}">
                  <a16:creationId xmlns:a16="http://schemas.microsoft.com/office/drawing/2014/main" id="{582FEDDC-9EC9-4750-A45A-50858E250DCD}"/>
                </a:ext>
              </a:extLst>
            </p:cNvPr>
            <p:cNvSpPr txBox="1">
              <a:spLocks noChangeArrowheads="1"/>
            </p:cNvSpPr>
            <p:nvPr/>
          </p:nvSpPr>
          <p:spPr bwMode="auto">
            <a:xfrm>
              <a:off x="1058863" y="2288141"/>
              <a:ext cx="922337" cy="466665"/>
            </a:xfrm>
            <a:prstGeom prst="rect">
              <a:avLst/>
            </a:prstGeom>
            <a:noFill/>
            <a:ln w="28575">
              <a:noFill/>
              <a:miter lim="800000"/>
              <a:headEnd/>
              <a:tailEnd/>
            </a:ln>
          </p:spPr>
          <p:txBody>
            <a:bodyPr/>
            <a:lstStyle/>
            <a:p>
              <a:pPr>
                <a:defRPr/>
              </a:pPr>
              <a:r>
                <a:rPr lang="en-US" sz="1400" b="1" dirty="0"/>
                <a:t>X</a:t>
              </a:r>
              <a:r>
                <a:rPr lang="en-US" sz="1400" b="1" baseline="-25000" dirty="0"/>
                <a:t>3</a:t>
              </a:r>
              <a:r>
                <a:rPr lang="en-US" sz="1400" b="1" dirty="0"/>
                <a:t>/Y</a:t>
              </a:r>
              <a:r>
                <a:rPr lang="en-US" sz="1400" b="1" baseline="-25000" dirty="0"/>
                <a:t>1</a:t>
              </a:r>
              <a:endParaRPr lang="en-US" sz="1400" b="1" dirty="0"/>
            </a:p>
          </p:txBody>
        </p:sp>
        <p:sp>
          <p:nvSpPr>
            <p:cNvPr id="11289" name="Oval 27">
              <a:extLst>
                <a:ext uri="{FF2B5EF4-FFF2-40B4-BE49-F238E27FC236}">
                  <a16:creationId xmlns:a16="http://schemas.microsoft.com/office/drawing/2014/main" id="{6737C41F-7566-4E92-BC7F-44387E63A3C4}"/>
                </a:ext>
              </a:extLst>
            </p:cNvPr>
            <p:cNvSpPr>
              <a:spLocks noChangeArrowheads="1"/>
            </p:cNvSpPr>
            <p:nvPr/>
          </p:nvSpPr>
          <p:spPr bwMode="auto">
            <a:xfrm>
              <a:off x="1330325" y="2754806"/>
              <a:ext cx="650875" cy="624413"/>
            </a:xfrm>
            <a:prstGeom prst="ellipse">
              <a:avLst/>
            </a:prstGeom>
            <a:solidFill>
              <a:schemeClr val="accent1">
                <a:lumMod val="40000"/>
                <a:lumOff val="60000"/>
              </a:schemeClr>
            </a:solidFill>
            <a:ln w="28575">
              <a:solidFill>
                <a:srgbClr val="000000"/>
              </a:solidFill>
              <a:round/>
              <a:headEnd/>
              <a:tailEnd/>
            </a:ln>
          </p:spPr>
          <p:txBody>
            <a:bodyPr/>
            <a:lstStyle/>
            <a:p>
              <a:pPr>
                <a:defRPr/>
              </a:pPr>
              <a:r>
                <a:rPr lang="en-US" sz="1400" b="1" dirty="0"/>
                <a:t>S</a:t>
              </a:r>
              <a:r>
                <a:rPr lang="en-US" sz="1400" b="1" baseline="-25000" dirty="0"/>
                <a:t>0</a:t>
              </a:r>
            </a:p>
            <a:p>
              <a:pPr>
                <a:defRPr/>
              </a:pPr>
              <a:endParaRPr lang="en-US" sz="1400" b="1" dirty="0"/>
            </a:p>
          </p:txBody>
        </p:sp>
        <p:sp>
          <p:nvSpPr>
            <p:cNvPr id="11290" name="Oval 28">
              <a:extLst>
                <a:ext uri="{FF2B5EF4-FFF2-40B4-BE49-F238E27FC236}">
                  <a16:creationId xmlns:a16="http://schemas.microsoft.com/office/drawing/2014/main" id="{4370AC4F-67EA-427E-A9DB-0099761845FA}"/>
                </a:ext>
              </a:extLst>
            </p:cNvPr>
            <p:cNvSpPr>
              <a:spLocks noChangeArrowheads="1"/>
            </p:cNvSpPr>
            <p:nvPr/>
          </p:nvSpPr>
          <p:spPr bwMode="auto">
            <a:xfrm>
              <a:off x="3532188" y="1821474"/>
              <a:ext cx="652462" cy="650704"/>
            </a:xfrm>
            <a:prstGeom prst="ellipse">
              <a:avLst/>
            </a:prstGeom>
            <a:solidFill>
              <a:schemeClr val="accent1">
                <a:lumMod val="40000"/>
                <a:lumOff val="60000"/>
              </a:schemeClr>
            </a:solidFill>
            <a:ln w="28575">
              <a:solidFill>
                <a:srgbClr val="000000"/>
              </a:solidFill>
              <a:round/>
              <a:headEnd/>
              <a:tailEnd/>
            </a:ln>
          </p:spPr>
          <p:txBody>
            <a:bodyPr/>
            <a:lstStyle/>
            <a:p>
              <a:pPr>
                <a:defRPr/>
              </a:pPr>
              <a:r>
                <a:rPr lang="en-US" sz="1400" b="1" dirty="0"/>
                <a:t>S</a:t>
              </a:r>
              <a:r>
                <a:rPr lang="en-US" sz="1400" b="1" baseline="-25000" dirty="0"/>
                <a:t>1</a:t>
              </a:r>
            </a:p>
            <a:p>
              <a:pPr>
                <a:defRPr/>
              </a:pPr>
              <a:endParaRPr lang="en-US" sz="1400" b="1" dirty="0"/>
            </a:p>
          </p:txBody>
        </p:sp>
        <p:sp>
          <p:nvSpPr>
            <p:cNvPr id="11291" name="Oval 29">
              <a:extLst>
                <a:ext uri="{FF2B5EF4-FFF2-40B4-BE49-F238E27FC236}">
                  <a16:creationId xmlns:a16="http://schemas.microsoft.com/office/drawing/2014/main" id="{771F6DE9-5EC6-409F-A160-5A68F282D715}"/>
                </a:ext>
              </a:extLst>
            </p:cNvPr>
            <p:cNvSpPr>
              <a:spLocks noChangeArrowheads="1"/>
            </p:cNvSpPr>
            <p:nvPr/>
          </p:nvSpPr>
          <p:spPr bwMode="auto">
            <a:xfrm>
              <a:off x="5557838" y="2397687"/>
              <a:ext cx="650875" cy="652894"/>
            </a:xfrm>
            <a:prstGeom prst="ellipse">
              <a:avLst/>
            </a:prstGeom>
            <a:solidFill>
              <a:schemeClr val="accent1">
                <a:lumMod val="40000"/>
                <a:lumOff val="60000"/>
              </a:schemeClr>
            </a:solidFill>
            <a:ln w="28575">
              <a:solidFill>
                <a:srgbClr val="000000"/>
              </a:solidFill>
              <a:round/>
              <a:headEnd/>
              <a:tailEnd/>
            </a:ln>
          </p:spPr>
          <p:txBody>
            <a:bodyPr/>
            <a:lstStyle/>
            <a:p>
              <a:pPr>
                <a:defRPr/>
              </a:pPr>
              <a:r>
                <a:rPr lang="en-US" sz="1400" b="1" dirty="0"/>
                <a:t>S</a:t>
              </a:r>
              <a:r>
                <a:rPr lang="en-US" sz="1400" b="1" baseline="-25000" dirty="0"/>
                <a:t>33</a:t>
              </a:r>
            </a:p>
            <a:p>
              <a:pPr>
                <a:defRPr/>
              </a:pPr>
              <a:endParaRPr lang="en-US" sz="1400" b="1" dirty="0"/>
            </a:p>
          </p:txBody>
        </p:sp>
        <p:sp>
          <p:nvSpPr>
            <p:cNvPr id="11292" name="Oval 30">
              <a:extLst>
                <a:ext uri="{FF2B5EF4-FFF2-40B4-BE49-F238E27FC236}">
                  <a16:creationId xmlns:a16="http://schemas.microsoft.com/office/drawing/2014/main" id="{5306F177-4E84-43E8-A1E2-1E5A902D03D2}"/>
                </a:ext>
              </a:extLst>
            </p:cNvPr>
            <p:cNvSpPr>
              <a:spLocks noChangeArrowheads="1"/>
            </p:cNvSpPr>
            <p:nvPr/>
          </p:nvSpPr>
          <p:spPr bwMode="auto">
            <a:xfrm>
              <a:off x="6361113" y="3786729"/>
              <a:ext cx="650875" cy="652894"/>
            </a:xfrm>
            <a:prstGeom prst="ellipse">
              <a:avLst/>
            </a:prstGeom>
            <a:solidFill>
              <a:schemeClr val="accent1">
                <a:lumMod val="40000"/>
                <a:lumOff val="60000"/>
              </a:schemeClr>
            </a:solidFill>
            <a:ln w="28575">
              <a:solidFill>
                <a:srgbClr val="000000"/>
              </a:solidFill>
              <a:round/>
              <a:headEnd/>
              <a:tailEnd/>
            </a:ln>
          </p:spPr>
          <p:txBody>
            <a:bodyPr/>
            <a:lstStyle/>
            <a:p>
              <a:pPr>
                <a:defRPr/>
              </a:pPr>
              <a:r>
                <a:rPr lang="en-US" sz="1400" b="1" dirty="0"/>
                <a:t>S</a:t>
              </a:r>
              <a:r>
                <a:rPr lang="en-US" sz="1400" b="1" baseline="-25000" dirty="0"/>
                <a:t>4</a:t>
              </a:r>
              <a:endParaRPr lang="en-US" sz="1400" b="1" dirty="0"/>
            </a:p>
            <a:p>
              <a:pPr>
                <a:defRPr/>
              </a:pPr>
              <a:endParaRPr lang="en-US" sz="1400" b="1" dirty="0"/>
            </a:p>
          </p:txBody>
        </p:sp>
        <p:sp>
          <p:nvSpPr>
            <p:cNvPr id="11294" name="Line 32">
              <a:extLst>
                <a:ext uri="{FF2B5EF4-FFF2-40B4-BE49-F238E27FC236}">
                  <a16:creationId xmlns:a16="http://schemas.microsoft.com/office/drawing/2014/main" id="{3C930264-C46C-49BB-A5D0-6A1C6DA2A11B}"/>
                </a:ext>
              </a:extLst>
            </p:cNvPr>
            <p:cNvSpPr>
              <a:spLocks noChangeShapeType="1"/>
            </p:cNvSpPr>
            <p:nvPr/>
          </p:nvSpPr>
          <p:spPr bwMode="auto">
            <a:xfrm flipH="1">
              <a:off x="3886200" y="2362632"/>
              <a:ext cx="228600" cy="1676053"/>
            </a:xfrm>
            <a:prstGeom prst="line">
              <a:avLst/>
            </a:prstGeom>
            <a:noFill/>
            <a:ln w="28575">
              <a:solidFill>
                <a:srgbClr val="000000"/>
              </a:solidFill>
              <a:round/>
              <a:headEnd/>
              <a:tailEnd type="triangle" w="med" len="med"/>
            </a:ln>
          </p:spPr>
          <p:txBody>
            <a:bodyPr/>
            <a:lstStyle/>
            <a:p>
              <a:pPr eaLnBrk="1" hangingPunct="1">
                <a:defRPr/>
              </a:pPr>
              <a:endParaRPr lang="en-US" sz="1400" b="1" dirty="0"/>
            </a:p>
          </p:txBody>
        </p:sp>
        <p:sp>
          <p:nvSpPr>
            <p:cNvPr id="11295" name="Line 33">
              <a:extLst>
                <a:ext uri="{FF2B5EF4-FFF2-40B4-BE49-F238E27FC236}">
                  <a16:creationId xmlns:a16="http://schemas.microsoft.com/office/drawing/2014/main" id="{00C7695C-C880-42CC-8955-0B01552B4096}"/>
                </a:ext>
              </a:extLst>
            </p:cNvPr>
            <p:cNvSpPr>
              <a:spLocks noChangeShapeType="1"/>
            </p:cNvSpPr>
            <p:nvPr/>
          </p:nvSpPr>
          <p:spPr bwMode="auto">
            <a:xfrm flipH="1">
              <a:off x="3975100" y="3068108"/>
              <a:ext cx="1760538" cy="1441625"/>
            </a:xfrm>
            <a:prstGeom prst="line">
              <a:avLst/>
            </a:prstGeom>
            <a:noFill/>
            <a:ln w="28575">
              <a:solidFill>
                <a:srgbClr val="000000"/>
              </a:solidFill>
              <a:round/>
              <a:headEnd/>
              <a:tailEnd type="triangle" w="lg" len="lg"/>
            </a:ln>
          </p:spPr>
          <p:txBody>
            <a:bodyPr/>
            <a:lstStyle/>
            <a:p>
              <a:pPr eaLnBrk="1" hangingPunct="1">
                <a:defRPr/>
              </a:pPr>
              <a:endParaRPr lang="en-US" sz="1400" b="1" dirty="0"/>
            </a:p>
          </p:txBody>
        </p:sp>
        <p:sp>
          <p:nvSpPr>
            <p:cNvPr id="11296" name="Line 34">
              <a:extLst>
                <a:ext uri="{FF2B5EF4-FFF2-40B4-BE49-F238E27FC236}">
                  <a16:creationId xmlns:a16="http://schemas.microsoft.com/office/drawing/2014/main" id="{39DA4D0A-1C5E-45F3-A170-7BECA6DF3CE7}"/>
                </a:ext>
              </a:extLst>
            </p:cNvPr>
            <p:cNvSpPr>
              <a:spLocks noChangeShapeType="1"/>
            </p:cNvSpPr>
            <p:nvPr/>
          </p:nvSpPr>
          <p:spPr bwMode="auto">
            <a:xfrm>
              <a:off x="6229350" y="2754806"/>
              <a:ext cx="688975" cy="1075742"/>
            </a:xfrm>
            <a:prstGeom prst="line">
              <a:avLst/>
            </a:prstGeom>
            <a:noFill/>
            <a:ln w="28575">
              <a:solidFill>
                <a:srgbClr val="000000"/>
              </a:solidFill>
              <a:round/>
              <a:headEnd/>
              <a:tailEnd type="triangle" w="lg" len="lg"/>
            </a:ln>
          </p:spPr>
          <p:txBody>
            <a:bodyPr/>
            <a:lstStyle/>
            <a:p>
              <a:pPr eaLnBrk="1" hangingPunct="1">
                <a:defRPr/>
              </a:pPr>
              <a:endParaRPr lang="en-US" sz="1400" b="1" dirty="0"/>
            </a:p>
          </p:txBody>
        </p:sp>
        <p:sp>
          <p:nvSpPr>
            <p:cNvPr id="11297" name="Line 35">
              <a:extLst>
                <a:ext uri="{FF2B5EF4-FFF2-40B4-BE49-F238E27FC236}">
                  <a16:creationId xmlns:a16="http://schemas.microsoft.com/office/drawing/2014/main" id="{E59EC944-A85B-47C2-8D91-717C04D6E828}"/>
                </a:ext>
              </a:extLst>
            </p:cNvPr>
            <p:cNvSpPr>
              <a:spLocks noChangeShapeType="1"/>
            </p:cNvSpPr>
            <p:nvPr/>
          </p:nvSpPr>
          <p:spPr bwMode="auto">
            <a:xfrm flipH="1">
              <a:off x="3962400" y="4343223"/>
              <a:ext cx="2438400" cy="227856"/>
            </a:xfrm>
            <a:prstGeom prst="line">
              <a:avLst/>
            </a:prstGeom>
            <a:noFill/>
            <a:ln w="28575">
              <a:solidFill>
                <a:srgbClr val="000000"/>
              </a:solidFill>
              <a:round/>
              <a:headEnd/>
              <a:tailEnd type="triangle" w="lg" len="lg"/>
            </a:ln>
          </p:spPr>
          <p:txBody>
            <a:bodyPr/>
            <a:lstStyle/>
            <a:p>
              <a:pPr eaLnBrk="1" hangingPunct="1">
                <a:defRPr/>
              </a:pPr>
              <a:endParaRPr lang="en-US" sz="1400" b="1" dirty="0"/>
            </a:p>
          </p:txBody>
        </p:sp>
        <p:sp>
          <p:nvSpPr>
            <p:cNvPr id="11298" name="Text Box 36">
              <a:extLst>
                <a:ext uri="{FF2B5EF4-FFF2-40B4-BE49-F238E27FC236}">
                  <a16:creationId xmlns:a16="http://schemas.microsoft.com/office/drawing/2014/main" id="{3B816801-59B9-41BA-ADF0-58087DD4BA03}"/>
                </a:ext>
              </a:extLst>
            </p:cNvPr>
            <p:cNvSpPr txBox="1">
              <a:spLocks noChangeArrowheads="1"/>
            </p:cNvSpPr>
            <p:nvPr/>
          </p:nvSpPr>
          <p:spPr bwMode="auto">
            <a:xfrm>
              <a:off x="6364288" y="2912552"/>
              <a:ext cx="987425" cy="466666"/>
            </a:xfrm>
            <a:prstGeom prst="rect">
              <a:avLst/>
            </a:prstGeom>
            <a:noFill/>
            <a:ln w="28575">
              <a:noFill/>
              <a:miter lim="800000"/>
              <a:headEnd/>
              <a:tailEnd/>
            </a:ln>
          </p:spPr>
          <p:txBody>
            <a:bodyPr/>
            <a:lstStyle/>
            <a:p>
              <a:pPr>
                <a:defRPr/>
              </a:pPr>
              <a:r>
                <a:rPr lang="en-US" sz="1400" b="1" dirty="0"/>
                <a:t>X</a:t>
              </a:r>
              <a:r>
                <a:rPr lang="en-US" sz="1400" b="1" baseline="-25000" dirty="0"/>
                <a:t>2</a:t>
              </a:r>
              <a:r>
                <a:rPr lang="en-US" sz="1400" b="1" dirty="0"/>
                <a:t>/Y</a:t>
              </a:r>
              <a:r>
                <a:rPr lang="en-US" sz="1400" b="1" baseline="-25000" dirty="0"/>
                <a:t>4</a:t>
              </a:r>
              <a:endParaRPr lang="en-US" sz="1400" b="1" dirty="0"/>
            </a:p>
            <a:p>
              <a:pPr>
                <a:defRPr/>
              </a:pPr>
              <a:endParaRPr lang="en-US" sz="1400" b="1" dirty="0"/>
            </a:p>
          </p:txBody>
        </p:sp>
        <p:sp>
          <p:nvSpPr>
            <p:cNvPr id="11299" name="Text Box 37">
              <a:extLst>
                <a:ext uri="{FF2B5EF4-FFF2-40B4-BE49-F238E27FC236}">
                  <a16:creationId xmlns:a16="http://schemas.microsoft.com/office/drawing/2014/main" id="{1E745165-CB4C-4F49-AF0B-58CE3A60FD68}"/>
                </a:ext>
              </a:extLst>
            </p:cNvPr>
            <p:cNvSpPr txBox="1">
              <a:spLocks noChangeArrowheads="1"/>
            </p:cNvSpPr>
            <p:nvPr/>
          </p:nvSpPr>
          <p:spPr bwMode="auto">
            <a:xfrm>
              <a:off x="6850063" y="4426478"/>
              <a:ext cx="922337" cy="468857"/>
            </a:xfrm>
            <a:prstGeom prst="rect">
              <a:avLst/>
            </a:prstGeom>
            <a:noFill/>
            <a:ln w="28575">
              <a:noFill/>
              <a:miter lim="800000"/>
              <a:headEnd/>
              <a:tailEnd/>
            </a:ln>
          </p:spPr>
          <p:txBody>
            <a:bodyPr/>
            <a:lstStyle/>
            <a:p>
              <a:pPr>
                <a:defRPr/>
              </a:pPr>
              <a:r>
                <a:rPr lang="en-US" sz="1400" b="1" dirty="0"/>
                <a:t>X</a:t>
              </a:r>
              <a:r>
                <a:rPr lang="en-US" sz="1400" b="1" baseline="-25000" dirty="0"/>
                <a:t>1</a:t>
              </a:r>
              <a:r>
                <a:rPr lang="en-US" sz="1400" b="1" dirty="0"/>
                <a:t>/Y</a:t>
              </a:r>
              <a:r>
                <a:rPr lang="en-US" sz="1400" b="1" baseline="-25000" dirty="0"/>
                <a:t>1</a:t>
              </a:r>
            </a:p>
          </p:txBody>
        </p:sp>
        <p:sp>
          <p:nvSpPr>
            <p:cNvPr id="11300" name="Text Box 38">
              <a:extLst>
                <a:ext uri="{FF2B5EF4-FFF2-40B4-BE49-F238E27FC236}">
                  <a16:creationId xmlns:a16="http://schemas.microsoft.com/office/drawing/2014/main" id="{0FCC0688-33B6-4A47-AAC6-C25E7242438F}"/>
                </a:ext>
              </a:extLst>
            </p:cNvPr>
            <p:cNvSpPr txBox="1">
              <a:spLocks noChangeArrowheads="1"/>
            </p:cNvSpPr>
            <p:nvPr/>
          </p:nvSpPr>
          <p:spPr bwMode="auto">
            <a:xfrm>
              <a:off x="4932363" y="4941343"/>
              <a:ext cx="922337" cy="468857"/>
            </a:xfrm>
            <a:prstGeom prst="rect">
              <a:avLst/>
            </a:prstGeom>
            <a:noFill/>
            <a:ln w="9525">
              <a:noFill/>
              <a:miter lim="800000"/>
              <a:headEnd/>
              <a:tailEnd/>
            </a:ln>
          </p:spPr>
          <p:txBody>
            <a:bodyPr/>
            <a:lstStyle/>
            <a:p>
              <a:pPr>
                <a:defRPr/>
              </a:pPr>
              <a:r>
                <a:rPr lang="en-US" sz="1400" b="1" dirty="0"/>
                <a:t>X</a:t>
              </a:r>
              <a:r>
                <a:rPr lang="en-US" sz="1400" b="1" baseline="-25000" dirty="0"/>
                <a:t>3</a:t>
              </a:r>
              <a:r>
                <a:rPr lang="en-US" sz="1400" b="1" dirty="0"/>
                <a:t>/Y</a:t>
              </a:r>
              <a:r>
                <a:rPr lang="en-US" sz="1400" b="1" baseline="-25000" dirty="0"/>
                <a:t>3</a:t>
              </a:r>
            </a:p>
            <a:p>
              <a:pPr>
                <a:defRPr/>
              </a:pPr>
              <a:endParaRPr lang="en-US" sz="1400" b="1" dirty="0"/>
            </a:p>
          </p:txBody>
        </p:sp>
        <p:sp>
          <p:nvSpPr>
            <p:cNvPr id="11301" name="Text Box 39">
              <a:extLst>
                <a:ext uri="{FF2B5EF4-FFF2-40B4-BE49-F238E27FC236}">
                  <a16:creationId xmlns:a16="http://schemas.microsoft.com/office/drawing/2014/main" id="{D0F8E485-A245-4986-8497-3F18848EAA28}"/>
                </a:ext>
              </a:extLst>
            </p:cNvPr>
            <p:cNvSpPr txBox="1">
              <a:spLocks noChangeArrowheads="1"/>
            </p:cNvSpPr>
            <p:nvPr/>
          </p:nvSpPr>
          <p:spPr bwMode="auto">
            <a:xfrm>
              <a:off x="4948238" y="4040876"/>
              <a:ext cx="922337" cy="468857"/>
            </a:xfrm>
            <a:prstGeom prst="rect">
              <a:avLst/>
            </a:prstGeom>
            <a:noFill/>
            <a:ln w="28575">
              <a:noFill/>
              <a:miter lim="800000"/>
              <a:headEnd/>
              <a:tailEnd/>
            </a:ln>
          </p:spPr>
          <p:txBody>
            <a:bodyPr/>
            <a:lstStyle/>
            <a:p>
              <a:pPr>
                <a:defRPr/>
              </a:pPr>
              <a:r>
                <a:rPr lang="en-US" sz="1400" b="1" dirty="0"/>
                <a:t>X</a:t>
              </a:r>
              <a:r>
                <a:rPr lang="en-US" sz="1400" b="1" baseline="-25000" dirty="0"/>
                <a:t>3</a:t>
              </a:r>
              <a:r>
                <a:rPr lang="en-US" sz="1400" b="1" dirty="0"/>
                <a:t>/Y</a:t>
              </a:r>
              <a:r>
                <a:rPr lang="en-US" sz="1400" b="1" baseline="-25000" dirty="0"/>
                <a:t>1</a:t>
              </a:r>
            </a:p>
          </p:txBody>
        </p:sp>
        <p:sp>
          <p:nvSpPr>
            <p:cNvPr id="11302" name="Text Box 40">
              <a:extLst>
                <a:ext uri="{FF2B5EF4-FFF2-40B4-BE49-F238E27FC236}">
                  <a16:creationId xmlns:a16="http://schemas.microsoft.com/office/drawing/2014/main" id="{F7F8D68F-247F-44FB-A1A9-E64A3FA21288}"/>
                </a:ext>
              </a:extLst>
            </p:cNvPr>
            <p:cNvSpPr txBox="1">
              <a:spLocks noChangeArrowheads="1"/>
            </p:cNvSpPr>
            <p:nvPr/>
          </p:nvSpPr>
          <p:spPr bwMode="auto">
            <a:xfrm>
              <a:off x="4656138" y="2097530"/>
              <a:ext cx="922337" cy="501721"/>
            </a:xfrm>
            <a:prstGeom prst="rect">
              <a:avLst/>
            </a:prstGeom>
            <a:noFill/>
            <a:ln w="28575">
              <a:noFill/>
              <a:miter lim="800000"/>
              <a:headEnd/>
              <a:tailEnd/>
            </a:ln>
          </p:spPr>
          <p:txBody>
            <a:bodyPr/>
            <a:lstStyle/>
            <a:p>
              <a:pPr>
                <a:defRPr/>
              </a:pPr>
              <a:r>
                <a:rPr lang="en-US" sz="1400" b="1" dirty="0"/>
                <a:t>X</a:t>
              </a:r>
              <a:r>
                <a:rPr lang="en-US" sz="1400" b="1" baseline="-25000" dirty="0"/>
                <a:t>1</a:t>
              </a:r>
              <a:r>
                <a:rPr lang="en-US" sz="1400" b="1" dirty="0"/>
                <a:t>/Y</a:t>
              </a:r>
              <a:r>
                <a:rPr lang="en-US" sz="1400" b="1" baseline="-25000" dirty="0"/>
                <a:t>2</a:t>
              </a:r>
              <a:endParaRPr lang="en-US" sz="1400" b="1" dirty="0"/>
            </a:p>
            <a:p>
              <a:pPr>
                <a:defRPr/>
              </a:pPr>
              <a:endParaRPr lang="en-US" sz="1400" b="1" dirty="0"/>
            </a:p>
          </p:txBody>
        </p:sp>
        <p:sp>
          <p:nvSpPr>
            <p:cNvPr id="11303" name="Text Box 41">
              <a:extLst>
                <a:ext uri="{FF2B5EF4-FFF2-40B4-BE49-F238E27FC236}">
                  <a16:creationId xmlns:a16="http://schemas.microsoft.com/office/drawing/2014/main" id="{B161820E-7766-4ADB-BA6C-A7C082D7E6EA}"/>
                </a:ext>
              </a:extLst>
            </p:cNvPr>
            <p:cNvSpPr txBox="1">
              <a:spLocks noChangeArrowheads="1"/>
            </p:cNvSpPr>
            <p:nvPr/>
          </p:nvSpPr>
          <p:spPr bwMode="auto">
            <a:xfrm>
              <a:off x="2968625" y="3131644"/>
              <a:ext cx="922338" cy="503911"/>
            </a:xfrm>
            <a:prstGeom prst="rect">
              <a:avLst/>
            </a:prstGeom>
            <a:noFill/>
            <a:ln w="28575">
              <a:noFill/>
              <a:miter lim="800000"/>
              <a:headEnd/>
              <a:tailEnd/>
            </a:ln>
          </p:spPr>
          <p:txBody>
            <a:bodyPr/>
            <a:lstStyle/>
            <a:p>
              <a:pPr>
                <a:defRPr/>
              </a:pPr>
              <a:r>
                <a:rPr lang="en-US" sz="1400" b="1" dirty="0"/>
                <a:t>X</a:t>
              </a:r>
              <a:r>
                <a:rPr lang="en-US" sz="1400" b="1" baseline="-25000" dirty="0"/>
                <a:t>1</a:t>
              </a:r>
              <a:r>
                <a:rPr lang="en-US" sz="1400" b="1" dirty="0"/>
                <a:t>/Y</a:t>
              </a:r>
              <a:r>
                <a:rPr lang="en-US" sz="1400" b="1" baseline="-25000" dirty="0"/>
                <a:t>2</a:t>
              </a:r>
              <a:endParaRPr lang="en-US" sz="1400" b="1" dirty="0"/>
            </a:p>
          </p:txBody>
        </p:sp>
        <p:sp>
          <p:nvSpPr>
            <p:cNvPr id="11304" name="Text Box 42">
              <a:extLst>
                <a:ext uri="{FF2B5EF4-FFF2-40B4-BE49-F238E27FC236}">
                  <a16:creationId xmlns:a16="http://schemas.microsoft.com/office/drawing/2014/main" id="{07A0DFB1-A2C4-4F9A-B890-A9B6AEB9975F}"/>
                </a:ext>
              </a:extLst>
            </p:cNvPr>
            <p:cNvSpPr txBox="1">
              <a:spLocks noChangeArrowheads="1"/>
            </p:cNvSpPr>
            <p:nvPr/>
          </p:nvSpPr>
          <p:spPr bwMode="auto">
            <a:xfrm>
              <a:off x="5578475" y="3320063"/>
              <a:ext cx="922338" cy="466666"/>
            </a:xfrm>
            <a:prstGeom prst="rect">
              <a:avLst/>
            </a:prstGeom>
            <a:noFill/>
            <a:ln w="28575">
              <a:noFill/>
              <a:miter lim="800000"/>
              <a:headEnd/>
              <a:tailEnd/>
            </a:ln>
          </p:spPr>
          <p:txBody>
            <a:bodyPr/>
            <a:lstStyle/>
            <a:p>
              <a:pPr>
                <a:defRPr/>
              </a:pPr>
              <a:r>
                <a:rPr lang="en-US" sz="1400" b="1" dirty="0"/>
                <a:t>X</a:t>
              </a:r>
              <a:r>
                <a:rPr lang="en-US" sz="1400" b="1" baseline="-25000" dirty="0"/>
                <a:t>2</a:t>
              </a:r>
              <a:r>
                <a:rPr lang="en-US" sz="1400" b="1" dirty="0"/>
                <a:t>/Y</a:t>
              </a:r>
              <a:r>
                <a:rPr lang="en-US" sz="1400" b="1" baseline="-25000" dirty="0"/>
                <a:t>4</a:t>
              </a:r>
              <a:endParaRPr lang="en-US" sz="1400" b="1" dirty="0"/>
            </a:p>
            <a:p>
              <a:pPr>
                <a:defRPr/>
              </a:pPr>
              <a:endParaRPr lang="en-US" sz="1400" b="1" dirty="0"/>
            </a:p>
          </p:txBody>
        </p:sp>
        <p:sp>
          <p:nvSpPr>
            <p:cNvPr id="11305" name="Line 43">
              <a:extLst>
                <a:ext uri="{FF2B5EF4-FFF2-40B4-BE49-F238E27FC236}">
                  <a16:creationId xmlns:a16="http://schemas.microsoft.com/office/drawing/2014/main" id="{3DC125AD-278C-46CA-B004-9BC07F59A5C3}"/>
                </a:ext>
              </a:extLst>
            </p:cNvPr>
            <p:cNvSpPr>
              <a:spLocks noChangeShapeType="1"/>
            </p:cNvSpPr>
            <p:nvPr/>
          </p:nvSpPr>
          <p:spPr bwMode="auto">
            <a:xfrm flipH="1" flipV="1">
              <a:off x="4027488" y="1821474"/>
              <a:ext cx="1768475" cy="600312"/>
            </a:xfrm>
            <a:prstGeom prst="line">
              <a:avLst/>
            </a:prstGeom>
            <a:noFill/>
            <a:ln w="28575">
              <a:solidFill>
                <a:srgbClr val="000000"/>
              </a:solidFill>
              <a:round/>
              <a:headEnd/>
              <a:tailEnd type="triangle" w="lg" len="lg"/>
            </a:ln>
          </p:spPr>
          <p:txBody>
            <a:bodyPr/>
            <a:lstStyle/>
            <a:p>
              <a:pPr eaLnBrk="1" hangingPunct="1">
                <a:defRPr/>
              </a:pPr>
              <a:endParaRPr lang="en-US" sz="1400" b="1" dirty="0"/>
            </a:p>
          </p:txBody>
        </p:sp>
        <p:sp>
          <p:nvSpPr>
            <p:cNvPr id="11306" name="Text Box 44">
              <a:extLst>
                <a:ext uri="{FF2B5EF4-FFF2-40B4-BE49-F238E27FC236}">
                  <a16:creationId xmlns:a16="http://schemas.microsoft.com/office/drawing/2014/main" id="{0C9A41D1-C141-4C3D-92EB-4D695006AEE7}"/>
                </a:ext>
              </a:extLst>
            </p:cNvPr>
            <p:cNvSpPr txBox="1">
              <a:spLocks noChangeArrowheads="1"/>
            </p:cNvSpPr>
            <p:nvPr/>
          </p:nvSpPr>
          <p:spPr bwMode="auto">
            <a:xfrm>
              <a:off x="4827588" y="1709738"/>
              <a:ext cx="1101725" cy="468857"/>
            </a:xfrm>
            <a:prstGeom prst="rect">
              <a:avLst/>
            </a:prstGeom>
            <a:noFill/>
            <a:ln w="28575">
              <a:noFill/>
              <a:miter lim="800000"/>
              <a:headEnd/>
              <a:tailEnd/>
            </a:ln>
          </p:spPr>
          <p:txBody>
            <a:bodyPr/>
            <a:lstStyle/>
            <a:p>
              <a:pPr>
                <a:defRPr/>
              </a:pPr>
              <a:r>
                <a:rPr lang="en-US" sz="1400" b="1" dirty="0"/>
                <a:t>X</a:t>
              </a:r>
              <a:r>
                <a:rPr lang="en-US" sz="1400" b="1" baseline="-25000" dirty="0"/>
                <a:t>3</a:t>
              </a:r>
              <a:r>
                <a:rPr lang="en-US" sz="1400" b="1" dirty="0"/>
                <a:t>/Y</a:t>
              </a:r>
              <a:r>
                <a:rPr lang="en-US" sz="1400" b="1" baseline="-25000" dirty="0"/>
                <a:t>2</a:t>
              </a:r>
              <a:endParaRPr lang="en-US" sz="1400" b="1" dirty="0"/>
            </a:p>
            <a:p>
              <a:pPr>
                <a:defRPr/>
              </a:pPr>
              <a:endParaRPr lang="en-US" sz="1400" b="1" dirty="0"/>
            </a:p>
          </p:txBody>
        </p:sp>
        <p:sp>
          <p:nvSpPr>
            <p:cNvPr id="11307" name="Arc 45">
              <a:extLst>
                <a:ext uri="{FF2B5EF4-FFF2-40B4-BE49-F238E27FC236}">
                  <a16:creationId xmlns:a16="http://schemas.microsoft.com/office/drawing/2014/main" id="{BB243B94-1ACD-4755-9713-10032954D86D}"/>
                </a:ext>
              </a:extLst>
            </p:cNvPr>
            <p:cNvSpPr>
              <a:spLocks/>
            </p:cNvSpPr>
            <p:nvPr/>
          </p:nvSpPr>
          <p:spPr bwMode="auto">
            <a:xfrm rot="21438285" flipH="1" flipV="1">
              <a:off x="873125" y="2776715"/>
              <a:ext cx="565150" cy="613457"/>
            </a:xfrm>
            <a:custGeom>
              <a:avLst/>
              <a:gdLst>
                <a:gd name="T0" fmla="*/ 102095136 w 36112"/>
                <a:gd name="T1" fmla="*/ 170391389 h 43200"/>
                <a:gd name="T2" fmla="*/ 0 w 36112"/>
                <a:gd name="T3" fmla="*/ 1522106677 h 43200"/>
                <a:gd name="T4" fmla="*/ 870515167 w 36112"/>
                <a:gd name="T5" fmla="*/ 874426658 h 43200"/>
                <a:gd name="T6" fmla="*/ 0 60000 65536"/>
                <a:gd name="T7" fmla="*/ 0 60000 65536"/>
                <a:gd name="T8" fmla="*/ 0 60000 65536"/>
                <a:gd name="T9" fmla="*/ 0 w 36112"/>
                <a:gd name="T10" fmla="*/ 0 h 43200"/>
                <a:gd name="T11" fmla="*/ 36112 w 36112"/>
                <a:gd name="T12" fmla="*/ 43200 h 43200"/>
              </a:gdLst>
              <a:ahLst/>
              <a:cxnLst>
                <a:cxn ang="T6">
                  <a:pos x="T0" y="T1"/>
                </a:cxn>
                <a:cxn ang="T7">
                  <a:pos x="T2" y="T3"/>
                </a:cxn>
                <a:cxn ang="T8">
                  <a:pos x="T4" y="T5"/>
                </a:cxn>
              </a:cxnLst>
              <a:rect l="T9" t="T10" r="T11" b="T12"/>
              <a:pathLst>
                <a:path w="36112" h="43200" fill="none" extrusionOk="0">
                  <a:moveTo>
                    <a:pt x="1701" y="4208"/>
                  </a:moveTo>
                  <a:cubicBezTo>
                    <a:pt x="5413" y="1474"/>
                    <a:pt x="9902" y="-1"/>
                    <a:pt x="14512" y="0"/>
                  </a:cubicBezTo>
                  <a:cubicBezTo>
                    <a:pt x="26441" y="0"/>
                    <a:pt x="36112" y="9670"/>
                    <a:pt x="36112" y="21600"/>
                  </a:cubicBezTo>
                  <a:cubicBezTo>
                    <a:pt x="36112" y="33529"/>
                    <a:pt x="26441" y="43200"/>
                    <a:pt x="14512" y="43200"/>
                  </a:cubicBezTo>
                  <a:cubicBezTo>
                    <a:pt x="9146" y="43200"/>
                    <a:pt x="3973" y="41203"/>
                    <a:pt x="0" y="37598"/>
                  </a:cubicBezTo>
                </a:path>
                <a:path w="36112" h="43200" stroke="0" extrusionOk="0">
                  <a:moveTo>
                    <a:pt x="1701" y="4208"/>
                  </a:moveTo>
                  <a:cubicBezTo>
                    <a:pt x="5413" y="1474"/>
                    <a:pt x="9902" y="-1"/>
                    <a:pt x="14512" y="0"/>
                  </a:cubicBezTo>
                  <a:cubicBezTo>
                    <a:pt x="26441" y="0"/>
                    <a:pt x="36112" y="9670"/>
                    <a:pt x="36112" y="21600"/>
                  </a:cubicBezTo>
                  <a:cubicBezTo>
                    <a:pt x="36112" y="33529"/>
                    <a:pt x="26441" y="43200"/>
                    <a:pt x="14512" y="43200"/>
                  </a:cubicBezTo>
                  <a:cubicBezTo>
                    <a:pt x="9146" y="43200"/>
                    <a:pt x="3973" y="41203"/>
                    <a:pt x="0" y="37598"/>
                  </a:cubicBezTo>
                  <a:lnTo>
                    <a:pt x="14512" y="21600"/>
                  </a:lnTo>
                  <a:close/>
                </a:path>
              </a:pathLst>
            </a:custGeom>
            <a:noFill/>
            <a:ln w="28575">
              <a:solidFill>
                <a:schemeClr val="tx1"/>
              </a:solidFill>
              <a:round/>
              <a:headEnd/>
              <a:tailEnd type="triangle" w="lg" len="lg"/>
            </a:ln>
          </p:spPr>
          <p:txBody>
            <a:bodyPr wrap="none" anchor="ctr"/>
            <a:lstStyle/>
            <a:p>
              <a:pPr eaLnBrk="1" hangingPunct="1">
                <a:defRPr/>
              </a:pPr>
              <a:endParaRPr lang="en-US" sz="1400" b="1" dirty="0"/>
            </a:p>
          </p:txBody>
        </p:sp>
        <p:sp>
          <p:nvSpPr>
            <p:cNvPr id="11308" name="Arc 46">
              <a:extLst>
                <a:ext uri="{FF2B5EF4-FFF2-40B4-BE49-F238E27FC236}">
                  <a16:creationId xmlns:a16="http://schemas.microsoft.com/office/drawing/2014/main" id="{A6CB11A5-F83E-4906-A40E-D9B9AB6EB317}"/>
                </a:ext>
              </a:extLst>
            </p:cNvPr>
            <p:cNvSpPr>
              <a:spLocks/>
            </p:cNvSpPr>
            <p:nvPr/>
          </p:nvSpPr>
          <p:spPr bwMode="auto">
            <a:xfrm rot="10800000" flipH="1" flipV="1">
              <a:off x="6931025" y="3894084"/>
              <a:ext cx="565150" cy="532394"/>
            </a:xfrm>
            <a:custGeom>
              <a:avLst/>
              <a:gdLst>
                <a:gd name="T0" fmla="*/ 102095136 w 36112"/>
                <a:gd name="T1" fmla="*/ 96667112 h 43200"/>
                <a:gd name="T2" fmla="*/ 0 w 36112"/>
                <a:gd name="T3" fmla="*/ 863522529 h 43200"/>
                <a:gd name="T4" fmla="*/ 870515167 w 36112"/>
                <a:gd name="T5" fmla="*/ 496079372 h 43200"/>
                <a:gd name="T6" fmla="*/ 0 60000 65536"/>
                <a:gd name="T7" fmla="*/ 0 60000 65536"/>
                <a:gd name="T8" fmla="*/ 0 60000 65536"/>
                <a:gd name="T9" fmla="*/ 0 w 36112"/>
                <a:gd name="T10" fmla="*/ 0 h 43200"/>
                <a:gd name="T11" fmla="*/ 36112 w 36112"/>
                <a:gd name="T12" fmla="*/ 43200 h 43200"/>
              </a:gdLst>
              <a:ahLst/>
              <a:cxnLst>
                <a:cxn ang="T6">
                  <a:pos x="T0" y="T1"/>
                </a:cxn>
                <a:cxn ang="T7">
                  <a:pos x="T2" y="T3"/>
                </a:cxn>
                <a:cxn ang="T8">
                  <a:pos x="T4" y="T5"/>
                </a:cxn>
              </a:cxnLst>
              <a:rect l="T9" t="T10" r="T11" b="T12"/>
              <a:pathLst>
                <a:path w="36112" h="43200" fill="none" extrusionOk="0">
                  <a:moveTo>
                    <a:pt x="1701" y="4208"/>
                  </a:moveTo>
                  <a:cubicBezTo>
                    <a:pt x="5413" y="1474"/>
                    <a:pt x="9902" y="-1"/>
                    <a:pt x="14512" y="0"/>
                  </a:cubicBezTo>
                  <a:cubicBezTo>
                    <a:pt x="26441" y="0"/>
                    <a:pt x="36112" y="9670"/>
                    <a:pt x="36112" y="21600"/>
                  </a:cubicBezTo>
                  <a:cubicBezTo>
                    <a:pt x="36112" y="33529"/>
                    <a:pt x="26441" y="43200"/>
                    <a:pt x="14512" y="43200"/>
                  </a:cubicBezTo>
                  <a:cubicBezTo>
                    <a:pt x="9146" y="43200"/>
                    <a:pt x="3973" y="41203"/>
                    <a:pt x="0" y="37598"/>
                  </a:cubicBezTo>
                </a:path>
                <a:path w="36112" h="43200" stroke="0" extrusionOk="0">
                  <a:moveTo>
                    <a:pt x="1701" y="4208"/>
                  </a:moveTo>
                  <a:cubicBezTo>
                    <a:pt x="5413" y="1474"/>
                    <a:pt x="9902" y="-1"/>
                    <a:pt x="14512" y="0"/>
                  </a:cubicBezTo>
                  <a:cubicBezTo>
                    <a:pt x="26441" y="0"/>
                    <a:pt x="36112" y="9670"/>
                    <a:pt x="36112" y="21600"/>
                  </a:cubicBezTo>
                  <a:cubicBezTo>
                    <a:pt x="36112" y="33529"/>
                    <a:pt x="26441" y="43200"/>
                    <a:pt x="14512" y="43200"/>
                  </a:cubicBezTo>
                  <a:cubicBezTo>
                    <a:pt x="9146" y="43200"/>
                    <a:pt x="3973" y="41203"/>
                    <a:pt x="0" y="37598"/>
                  </a:cubicBezTo>
                  <a:lnTo>
                    <a:pt x="14512" y="21600"/>
                  </a:lnTo>
                  <a:close/>
                </a:path>
              </a:pathLst>
            </a:custGeom>
            <a:noFill/>
            <a:ln w="28575">
              <a:solidFill>
                <a:schemeClr val="tx1"/>
              </a:solidFill>
              <a:round/>
              <a:headEnd/>
              <a:tailEnd type="triangle" w="lg" len="lg"/>
            </a:ln>
          </p:spPr>
          <p:txBody>
            <a:bodyPr wrap="none" anchor="ctr"/>
            <a:lstStyle/>
            <a:p>
              <a:pPr eaLnBrk="1" hangingPunct="1">
                <a:defRPr/>
              </a:pPr>
              <a:endParaRPr lang="en-US" sz="1400" b="1" dirty="0"/>
            </a:p>
          </p:txBody>
        </p:sp>
        <p:sp>
          <p:nvSpPr>
            <p:cNvPr id="11309" name="Arc 47">
              <a:extLst>
                <a:ext uri="{FF2B5EF4-FFF2-40B4-BE49-F238E27FC236}">
                  <a16:creationId xmlns:a16="http://schemas.microsoft.com/office/drawing/2014/main" id="{0748B460-3678-44F9-AD36-C6C9D0AD335D}"/>
                </a:ext>
              </a:extLst>
            </p:cNvPr>
            <p:cNvSpPr>
              <a:spLocks/>
            </p:cNvSpPr>
            <p:nvPr/>
          </p:nvSpPr>
          <p:spPr bwMode="auto">
            <a:xfrm rot="369550" flipV="1">
              <a:off x="3879850" y="4146040"/>
              <a:ext cx="2733675" cy="773394"/>
            </a:xfrm>
            <a:custGeom>
              <a:avLst/>
              <a:gdLst>
                <a:gd name="T0" fmla="*/ 0 w 33288"/>
                <a:gd name="T1" fmla="*/ 2147483647 h 21600"/>
                <a:gd name="T2" fmla="*/ 2147483647 w 33288"/>
                <a:gd name="T3" fmla="*/ 2147483647 h 21600"/>
                <a:gd name="T4" fmla="*/ 2147483647 w 33288"/>
                <a:gd name="T5" fmla="*/ 2147483647 h 21600"/>
                <a:gd name="T6" fmla="*/ 0 60000 65536"/>
                <a:gd name="T7" fmla="*/ 0 60000 65536"/>
                <a:gd name="T8" fmla="*/ 0 60000 65536"/>
                <a:gd name="T9" fmla="*/ 0 w 33288"/>
                <a:gd name="T10" fmla="*/ 0 h 21600"/>
                <a:gd name="T11" fmla="*/ 33288 w 33288"/>
                <a:gd name="T12" fmla="*/ 21600 h 21600"/>
              </a:gdLst>
              <a:ahLst/>
              <a:cxnLst>
                <a:cxn ang="T6">
                  <a:pos x="T0" y="T1"/>
                </a:cxn>
                <a:cxn ang="T7">
                  <a:pos x="T2" y="T3"/>
                </a:cxn>
                <a:cxn ang="T8">
                  <a:pos x="T4" y="T5"/>
                </a:cxn>
              </a:cxnLst>
              <a:rect l="T9" t="T10" r="T11" b="T12"/>
              <a:pathLst>
                <a:path w="33288" h="21600" fill="none" extrusionOk="0">
                  <a:moveTo>
                    <a:pt x="-1" y="3822"/>
                  </a:moveTo>
                  <a:cubicBezTo>
                    <a:pt x="3607" y="1333"/>
                    <a:pt x="7886" y="-1"/>
                    <a:pt x="12269" y="0"/>
                  </a:cubicBezTo>
                  <a:cubicBezTo>
                    <a:pt x="22281" y="0"/>
                    <a:pt x="30980" y="6880"/>
                    <a:pt x="33287" y="16623"/>
                  </a:cubicBezTo>
                </a:path>
                <a:path w="33288" h="21600" stroke="0" extrusionOk="0">
                  <a:moveTo>
                    <a:pt x="-1" y="3822"/>
                  </a:moveTo>
                  <a:cubicBezTo>
                    <a:pt x="3607" y="1333"/>
                    <a:pt x="7886" y="-1"/>
                    <a:pt x="12269" y="0"/>
                  </a:cubicBezTo>
                  <a:cubicBezTo>
                    <a:pt x="22281" y="0"/>
                    <a:pt x="30980" y="6880"/>
                    <a:pt x="33287" y="16623"/>
                  </a:cubicBezTo>
                  <a:lnTo>
                    <a:pt x="12269" y="21600"/>
                  </a:lnTo>
                  <a:close/>
                </a:path>
              </a:pathLst>
            </a:custGeom>
            <a:noFill/>
            <a:ln w="28575">
              <a:solidFill>
                <a:schemeClr val="tx1"/>
              </a:solidFill>
              <a:round/>
              <a:headEnd/>
              <a:tailEnd type="triangle" w="lg" len="lg"/>
            </a:ln>
          </p:spPr>
          <p:txBody>
            <a:bodyPr wrap="none" anchor="ctr"/>
            <a:lstStyle/>
            <a:p>
              <a:pPr eaLnBrk="1" hangingPunct="1">
                <a:defRPr/>
              </a:pPr>
              <a:endParaRPr lang="en-US" sz="1400" b="1" dirty="0"/>
            </a:p>
          </p:txBody>
        </p:sp>
        <p:sp>
          <p:nvSpPr>
            <p:cNvPr id="11293" name="Oval 31">
              <a:extLst>
                <a:ext uri="{FF2B5EF4-FFF2-40B4-BE49-F238E27FC236}">
                  <a16:creationId xmlns:a16="http://schemas.microsoft.com/office/drawing/2014/main" id="{B317DEAD-A483-436A-A406-4B6FC9B12DE5}"/>
                </a:ext>
              </a:extLst>
            </p:cNvPr>
            <p:cNvSpPr>
              <a:spLocks noChangeArrowheads="1"/>
            </p:cNvSpPr>
            <p:nvPr/>
          </p:nvSpPr>
          <p:spPr bwMode="auto">
            <a:xfrm>
              <a:off x="3375025" y="4003630"/>
              <a:ext cx="652463" cy="650704"/>
            </a:xfrm>
            <a:prstGeom prst="ellipse">
              <a:avLst/>
            </a:prstGeom>
            <a:solidFill>
              <a:schemeClr val="accent1">
                <a:lumMod val="40000"/>
                <a:lumOff val="60000"/>
              </a:schemeClr>
            </a:solidFill>
            <a:ln w="28575">
              <a:solidFill>
                <a:srgbClr val="000000"/>
              </a:solidFill>
              <a:round/>
              <a:headEnd/>
              <a:tailEnd/>
            </a:ln>
          </p:spPr>
          <p:txBody>
            <a:bodyPr/>
            <a:lstStyle/>
            <a:p>
              <a:pPr>
                <a:defRPr/>
              </a:pPr>
              <a:r>
                <a:rPr lang="en-US" sz="1400" b="1" dirty="0"/>
                <a:t>S</a:t>
              </a:r>
              <a:r>
                <a:rPr lang="en-US" sz="1400" b="1" baseline="-25000" dirty="0"/>
                <a:t>2</a:t>
              </a:r>
            </a:p>
            <a:p>
              <a:pPr>
                <a:defRPr/>
              </a:pPr>
              <a:endParaRPr lang="en-US" sz="1400" b="1" dirty="0"/>
            </a:p>
          </p:txBody>
        </p:sp>
      </p:grpSp>
      <p:sp>
        <p:nvSpPr>
          <p:cNvPr id="4" name="Title 3">
            <a:extLst>
              <a:ext uri="{FF2B5EF4-FFF2-40B4-BE49-F238E27FC236}">
                <a16:creationId xmlns:a16="http://schemas.microsoft.com/office/drawing/2014/main" id="{B3A80477-F9E0-4BAC-FC73-47ECF842B907}"/>
              </a:ext>
            </a:extLst>
          </p:cNvPr>
          <p:cNvSpPr>
            <a:spLocks noGrp="1"/>
          </p:cNvSpPr>
          <p:nvPr>
            <p:ph type="title"/>
          </p:nvPr>
        </p:nvSpPr>
        <p:spPr/>
        <p:txBody>
          <a:bodyPr>
            <a:normAutofit/>
          </a:bodyPr>
          <a:lstStyle/>
          <a:p>
            <a:r>
              <a:rPr lang="en-US" dirty="0"/>
              <a:t>Representation of FSM. State Transition Graph (STG)</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3">
            <a:extLst>
              <a:ext uri="{FF2B5EF4-FFF2-40B4-BE49-F238E27FC236}">
                <a16:creationId xmlns:a16="http://schemas.microsoft.com/office/drawing/2014/main" id="{201452A3-BC18-4229-9A24-90A045CB76B9}"/>
              </a:ext>
            </a:extLst>
          </p:cNvPr>
          <p:cNvSpPr txBox="1">
            <a:spLocks noChangeArrowheads="1"/>
          </p:cNvSpPr>
          <p:nvPr/>
        </p:nvSpPr>
        <p:spPr bwMode="auto">
          <a:xfrm>
            <a:off x="2197101" y="4618039"/>
            <a:ext cx="6416675" cy="646331"/>
          </a:xfrm>
          <a:prstGeom prst="rect">
            <a:avLst/>
          </a:prstGeom>
          <a:noFill/>
          <a:ln w="9525">
            <a:noFill/>
            <a:miter lim="800000"/>
            <a:headEnd/>
            <a:tailEnd/>
          </a:ln>
        </p:spPr>
        <p:txBody>
          <a:bodyPr>
            <a:spAutoFit/>
          </a:bodyPr>
          <a:lstStyle/>
          <a:p>
            <a:pPr eaLnBrk="1" hangingPunct="1">
              <a:defRPr/>
            </a:pPr>
            <a:r>
              <a:rPr lang="en-US" dirty="0"/>
              <a:t>X = {X</a:t>
            </a:r>
            <a:r>
              <a:rPr lang="en-US" baseline="-25000" dirty="0"/>
              <a:t>1</a:t>
            </a:r>
            <a:r>
              <a:rPr lang="en-US" dirty="0"/>
              <a:t>, X</a:t>
            </a:r>
            <a:r>
              <a:rPr lang="en-US" baseline="-25000" dirty="0"/>
              <a:t>2</a:t>
            </a:r>
            <a:r>
              <a:rPr lang="en-US" dirty="0"/>
              <a:t>}; Y = {Y</a:t>
            </a:r>
            <a:r>
              <a:rPr lang="en-US" baseline="-25000" dirty="0"/>
              <a:t>1</a:t>
            </a:r>
            <a:r>
              <a:rPr lang="en-US" dirty="0"/>
              <a:t>,Y</a:t>
            </a:r>
            <a:r>
              <a:rPr lang="en-US" baseline="-25000" dirty="0"/>
              <a:t>2</a:t>
            </a:r>
            <a:r>
              <a:rPr lang="en-US" dirty="0"/>
              <a:t>}; S = {S</a:t>
            </a:r>
            <a:r>
              <a:rPr lang="en-US" baseline="-25000" dirty="0"/>
              <a:t>0</a:t>
            </a:r>
            <a:r>
              <a:rPr lang="en-US" dirty="0"/>
              <a:t>,S</a:t>
            </a:r>
            <a:r>
              <a:rPr lang="en-US" baseline="-25000" dirty="0"/>
              <a:t>1</a:t>
            </a:r>
            <a:r>
              <a:rPr lang="en-US" dirty="0"/>
              <a:t>,S</a:t>
            </a:r>
            <a:r>
              <a:rPr lang="en-US" baseline="-25000" dirty="0"/>
              <a:t>2</a:t>
            </a:r>
            <a:r>
              <a:rPr lang="en-US" dirty="0"/>
              <a:t>}</a:t>
            </a:r>
          </a:p>
          <a:p>
            <a:pPr eaLnBrk="1" hangingPunct="1">
              <a:defRPr/>
            </a:pPr>
            <a:endParaRPr lang="en-US" dirty="0"/>
          </a:p>
        </p:txBody>
      </p:sp>
      <p:sp>
        <p:nvSpPr>
          <p:cNvPr id="12292" name="Text Box 4">
            <a:extLst>
              <a:ext uri="{FF2B5EF4-FFF2-40B4-BE49-F238E27FC236}">
                <a16:creationId xmlns:a16="http://schemas.microsoft.com/office/drawing/2014/main" id="{78B491FB-DA1D-4807-9BA0-2CA14A32F015}"/>
              </a:ext>
            </a:extLst>
          </p:cNvPr>
          <p:cNvSpPr txBox="1">
            <a:spLocks noChangeArrowheads="1"/>
          </p:cNvSpPr>
          <p:nvPr/>
        </p:nvSpPr>
        <p:spPr bwMode="auto">
          <a:xfrm>
            <a:off x="5360989" y="3803650"/>
            <a:ext cx="515937" cy="509588"/>
          </a:xfrm>
          <a:prstGeom prst="rect">
            <a:avLst/>
          </a:prstGeom>
          <a:noFill/>
          <a:ln w="31750">
            <a:noFill/>
            <a:miter lim="800000"/>
            <a:headEnd/>
            <a:tailEnd/>
          </a:ln>
        </p:spPr>
        <p:txBody>
          <a:bodyPr/>
          <a:lstStyle/>
          <a:p>
            <a:pPr>
              <a:defRPr/>
            </a:pPr>
            <a:r>
              <a:rPr lang="en-US" sz="2000" dirty="0"/>
              <a:t>X</a:t>
            </a:r>
            <a:r>
              <a:rPr lang="en-US" sz="2000" baseline="-25000" dirty="0"/>
              <a:t>1</a:t>
            </a:r>
            <a:endParaRPr lang="en-US" sz="2000" dirty="0"/>
          </a:p>
          <a:p>
            <a:pPr>
              <a:defRPr/>
            </a:pPr>
            <a:endParaRPr lang="en-US" sz="2000" dirty="0"/>
          </a:p>
          <a:p>
            <a:pPr>
              <a:defRPr/>
            </a:pPr>
            <a:r>
              <a:rPr lang="en-US" sz="2000" dirty="0"/>
              <a:t>           </a:t>
            </a:r>
          </a:p>
          <a:p>
            <a:pPr>
              <a:defRPr/>
            </a:pPr>
            <a:endParaRPr lang="en-US" sz="2000" dirty="0"/>
          </a:p>
        </p:txBody>
      </p:sp>
      <p:sp>
        <p:nvSpPr>
          <p:cNvPr id="12293" name="Text Box 6">
            <a:extLst>
              <a:ext uri="{FF2B5EF4-FFF2-40B4-BE49-F238E27FC236}">
                <a16:creationId xmlns:a16="http://schemas.microsoft.com/office/drawing/2014/main" id="{2D7102E2-1724-4379-A02D-DFAB4F11CA38}"/>
              </a:ext>
            </a:extLst>
          </p:cNvPr>
          <p:cNvSpPr txBox="1">
            <a:spLocks noChangeArrowheads="1"/>
          </p:cNvSpPr>
          <p:nvPr/>
        </p:nvSpPr>
        <p:spPr bwMode="auto">
          <a:xfrm>
            <a:off x="7356475" y="1581150"/>
            <a:ext cx="623888" cy="546100"/>
          </a:xfrm>
          <a:prstGeom prst="rect">
            <a:avLst/>
          </a:prstGeom>
          <a:noFill/>
          <a:ln w="31750">
            <a:noFill/>
            <a:miter lim="800000"/>
            <a:headEnd/>
            <a:tailEnd/>
          </a:ln>
        </p:spPr>
        <p:txBody>
          <a:bodyPr/>
          <a:lstStyle/>
          <a:p>
            <a:pPr>
              <a:defRPr/>
            </a:pPr>
            <a:r>
              <a:rPr lang="en-US" sz="2000" dirty="0"/>
              <a:t>X</a:t>
            </a:r>
            <a:r>
              <a:rPr lang="en-US" sz="2000" baseline="-25000" dirty="0"/>
              <a:t>2</a:t>
            </a:r>
            <a:endParaRPr lang="en-US" sz="2000" dirty="0"/>
          </a:p>
          <a:p>
            <a:pPr>
              <a:defRPr/>
            </a:pPr>
            <a:endParaRPr lang="en-US" sz="2000" dirty="0"/>
          </a:p>
        </p:txBody>
      </p:sp>
      <p:sp>
        <p:nvSpPr>
          <p:cNvPr id="12294" name="Oval 7">
            <a:extLst>
              <a:ext uri="{FF2B5EF4-FFF2-40B4-BE49-F238E27FC236}">
                <a16:creationId xmlns:a16="http://schemas.microsoft.com/office/drawing/2014/main" id="{187B2DE5-CCC0-478C-AF9F-24A055EAC7D5}"/>
              </a:ext>
            </a:extLst>
          </p:cNvPr>
          <p:cNvSpPr>
            <a:spLocks noChangeArrowheads="1"/>
          </p:cNvSpPr>
          <p:nvPr/>
        </p:nvSpPr>
        <p:spPr bwMode="auto">
          <a:xfrm>
            <a:off x="3424239" y="2406650"/>
            <a:ext cx="720725" cy="655638"/>
          </a:xfrm>
          <a:prstGeom prst="ellipse">
            <a:avLst/>
          </a:prstGeom>
          <a:solidFill>
            <a:schemeClr val="accent1">
              <a:lumMod val="40000"/>
              <a:lumOff val="60000"/>
            </a:schemeClr>
          </a:solidFill>
          <a:ln w="31750">
            <a:solidFill>
              <a:srgbClr val="000000"/>
            </a:solidFill>
            <a:round/>
            <a:headEnd/>
            <a:tailEnd/>
          </a:ln>
        </p:spPr>
        <p:txBody>
          <a:bodyPr/>
          <a:lstStyle/>
          <a:p>
            <a:pPr>
              <a:defRPr/>
            </a:pPr>
            <a:r>
              <a:rPr lang="en-US" sz="2000" dirty="0"/>
              <a:t> </a:t>
            </a:r>
          </a:p>
        </p:txBody>
      </p:sp>
      <p:sp>
        <p:nvSpPr>
          <p:cNvPr id="12295" name="Text Box 8">
            <a:extLst>
              <a:ext uri="{FF2B5EF4-FFF2-40B4-BE49-F238E27FC236}">
                <a16:creationId xmlns:a16="http://schemas.microsoft.com/office/drawing/2014/main" id="{55114D39-C244-49F3-9608-41B4D5B93689}"/>
              </a:ext>
            </a:extLst>
          </p:cNvPr>
          <p:cNvSpPr txBox="1">
            <a:spLocks noChangeArrowheads="1"/>
          </p:cNvSpPr>
          <p:nvPr/>
        </p:nvSpPr>
        <p:spPr bwMode="auto">
          <a:xfrm>
            <a:off x="3424239" y="2536826"/>
            <a:ext cx="865187" cy="525463"/>
          </a:xfrm>
          <a:prstGeom prst="rect">
            <a:avLst/>
          </a:prstGeom>
          <a:noFill/>
          <a:ln w="31750">
            <a:noFill/>
            <a:miter lim="800000"/>
            <a:headEnd/>
            <a:tailEnd/>
          </a:ln>
        </p:spPr>
        <p:txBody>
          <a:bodyPr/>
          <a:lstStyle/>
          <a:p>
            <a:pPr>
              <a:defRPr/>
            </a:pPr>
            <a:r>
              <a:rPr lang="en-US" sz="2000" dirty="0"/>
              <a:t>S</a:t>
            </a:r>
            <a:r>
              <a:rPr lang="en-US" sz="2000" baseline="-25000" dirty="0"/>
              <a:t>0</a:t>
            </a:r>
            <a:r>
              <a:rPr lang="en-US" sz="2000" dirty="0"/>
              <a:t>/Y</a:t>
            </a:r>
            <a:r>
              <a:rPr lang="en-US" sz="2000" baseline="-25000" dirty="0"/>
              <a:t>1</a:t>
            </a:r>
          </a:p>
          <a:p>
            <a:pPr>
              <a:defRPr/>
            </a:pPr>
            <a:endParaRPr lang="en-US" sz="2000" dirty="0"/>
          </a:p>
          <a:p>
            <a:pPr>
              <a:defRPr/>
            </a:pPr>
            <a:endParaRPr lang="en-US" sz="2000" dirty="0"/>
          </a:p>
          <a:p>
            <a:pPr>
              <a:defRPr/>
            </a:pPr>
            <a:endParaRPr lang="en-US" sz="2000" dirty="0"/>
          </a:p>
        </p:txBody>
      </p:sp>
      <p:sp>
        <p:nvSpPr>
          <p:cNvPr id="12296" name="Oval 9">
            <a:extLst>
              <a:ext uri="{FF2B5EF4-FFF2-40B4-BE49-F238E27FC236}">
                <a16:creationId xmlns:a16="http://schemas.microsoft.com/office/drawing/2014/main" id="{13FE6130-BE52-4728-913F-1C6F58A0ABC6}"/>
              </a:ext>
            </a:extLst>
          </p:cNvPr>
          <p:cNvSpPr>
            <a:spLocks noChangeArrowheads="1"/>
          </p:cNvSpPr>
          <p:nvPr/>
        </p:nvSpPr>
        <p:spPr bwMode="auto">
          <a:xfrm>
            <a:off x="5068889" y="2446339"/>
            <a:ext cx="720725" cy="655637"/>
          </a:xfrm>
          <a:prstGeom prst="ellipse">
            <a:avLst/>
          </a:prstGeom>
          <a:solidFill>
            <a:schemeClr val="accent1">
              <a:lumMod val="40000"/>
              <a:lumOff val="60000"/>
            </a:schemeClr>
          </a:solidFill>
          <a:ln w="31750">
            <a:solidFill>
              <a:srgbClr val="000000"/>
            </a:solidFill>
            <a:round/>
            <a:headEnd/>
            <a:tailEnd/>
          </a:ln>
        </p:spPr>
        <p:txBody>
          <a:bodyPr/>
          <a:lstStyle/>
          <a:p>
            <a:pPr>
              <a:defRPr/>
            </a:pPr>
            <a:r>
              <a:rPr lang="en-US" sz="2000" dirty="0"/>
              <a:t> </a:t>
            </a:r>
          </a:p>
        </p:txBody>
      </p:sp>
      <p:sp>
        <p:nvSpPr>
          <p:cNvPr id="12297" name="Text Box 10">
            <a:extLst>
              <a:ext uri="{FF2B5EF4-FFF2-40B4-BE49-F238E27FC236}">
                <a16:creationId xmlns:a16="http://schemas.microsoft.com/office/drawing/2014/main" id="{21059F08-CEF5-4228-9D8D-A2CF1E4DFACE}"/>
              </a:ext>
            </a:extLst>
          </p:cNvPr>
          <p:cNvSpPr txBox="1">
            <a:spLocks noChangeArrowheads="1"/>
          </p:cNvSpPr>
          <p:nvPr/>
        </p:nvSpPr>
        <p:spPr bwMode="auto">
          <a:xfrm>
            <a:off x="5010151" y="2536826"/>
            <a:ext cx="1173163" cy="525463"/>
          </a:xfrm>
          <a:prstGeom prst="rect">
            <a:avLst/>
          </a:prstGeom>
          <a:noFill/>
          <a:ln w="31750">
            <a:noFill/>
            <a:miter lim="800000"/>
            <a:headEnd/>
            <a:tailEnd/>
          </a:ln>
        </p:spPr>
        <p:txBody>
          <a:bodyPr/>
          <a:lstStyle/>
          <a:p>
            <a:pPr>
              <a:defRPr/>
            </a:pPr>
            <a:r>
              <a:rPr lang="en-US" sz="2000" dirty="0"/>
              <a:t>S</a:t>
            </a:r>
            <a:r>
              <a:rPr lang="en-US" sz="2000" baseline="-25000" dirty="0"/>
              <a:t>1</a:t>
            </a:r>
            <a:r>
              <a:rPr lang="en-US" sz="2000" dirty="0"/>
              <a:t>/Y</a:t>
            </a:r>
            <a:r>
              <a:rPr lang="en-US" sz="2000" baseline="-25000" dirty="0"/>
              <a:t>2</a:t>
            </a:r>
            <a:endParaRPr lang="en-US" sz="2000" dirty="0"/>
          </a:p>
          <a:p>
            <a:pPr>
              <a:defRPr/>
            </a:pPr>
            <a:endParaRPr lang="en-US" sz="2000" dirty="0"/>
          </a:p>
        </p:txBody>
      </p:sp>
      <p:sp>
        <p:nvSpPr>
          <p:cNvPr id="12298" name="Oval 11">
            <a:extLst>
              <a:ext uri="{FF2B5EF4-FFF2-40B4-BE49-F238E27FC236}">
                <a16:creationId xmlns:a16="http://schemas.microsoft.com/office/drawing/2014/main" id="{F5C7E5DD-4BA8-4C02-BE03-A7785C9A21BF}"/>
              </a:ext>
            </a:extLst>
          </p:cNvPr>
          <p:cNvSpPr>
            <a:spLocks noChangeArrowheads="1"/>
          </p:cNvSpPr>
          <p:nvPr/>
        </p:nvSpPr>
        <p:spPr bwMode="auto">
          <a:xfrm>
            <a:off x="7172326" y="2406650"/>
            <a:ext cx="722313" cy="655638"/>
          </a:xfrm>
          <a:prstGeom prst="ellipse">
            <a:avLst/>
          </a:prstGeom>
          <a:solidFill>
            <a:schemeClr val="accent1">
              <a:lumMod val="40000"/>
              <a:lumOff val="60000"/>
            </a:schemeClr>
          </a:solidFill>
          <a:ln w="31750">
            <a:solidFill>
              <a:srgbClr val="000000"/>
            </a:solidFill>
            <a:round/>
            <a:headEnd/>
            <a:tailEnd/>
          </a:ln>
        </p:spPr>
        <p:txBody>
          <a:bodyPr/>
          <a:lstStyle/>
          <a:p>
            <a:pPr>
              <a:defRPr/>
            </a:pPr>
            <a:r>
              <a:rPr lang="en-US" sz="2000" dirty="0"/>
              <a:t> </a:t>
            </a:r>
          </a:p>
        </p:txBody>
      </p:sp>
      <p:sp>
        <p:nvSpPr>
          <p:cNvPr id="12299" name="Text Box 12">
            <a:extLst>
              <a:ext uri="{FF2B5EF4-FFF2-40B4-BE49-F238E27FC236}">
                <a16:creationId xmlns:a16="http://schemas.microsoft.com/office/drawing/2014/main" id="{C3BEFCB0-7A20-473A-A5A3-5981D22B4832}"/>
              </a:ext>
            </a:extLst>
          </p:cNvPr>
          <p:cNvSpPr txBox="1">
            <a:spLocks noChangeArrowheads="1"/>
          </p:cNvSpPr>
          <p:nvPr/>
        </p:nvSpPr>
        <p:spPr bwMode="auto">
          <a:xfrm>
            <a:off x="7172325" y="2536826"/>
            <a:ext cx="1174750" cy="525463"/>
          </a:xfrm>
          <a:prstGeom prst="rect">
            <a:avLst/>
          </a:prstGeom>
          <a:noFill/>
          <a:ln w="31750">
            <a:noFill/>
            <a:miter lim="800000"/>
            <a:headEnd/>
            <a:tailEnd/>
          </a:ln>
        </p:spPr>
        <p:txBody>
          <a:bodyPr/>
          <a:lstStyle/>
          <a:p>
            <a:pPr>
              <a:defRPr/>
            </a:pPr>
            <a:r>
              <a:rPr lang="en-US" sz="2000" dirty="0"/>
              <a:t>S</a:t>
            </a:r>
            <a:r>
              <a:rPr lang="en-US" sz="2000" baseline="-25000" dirty="0"/>
              <a:t>2</a:t>
            </a:r>
            <a:r>
              <a:rPr lang="en-US" sz="2000" dirty="0"/>
              <a:t>/Y</a:t>
            </a:r>
            <a:r>
              <a:rPr lang="en-US" sz="2000" baseline="-25000" dirty="0"/>
              <a:t>1</a:t>
            </a:r>
            <a:endParaRPr lang="en-US" sz="2000" dirty="0"/>
          </a:p>
        </p:txBody>
      </p:sp>
      <p:sp>
        <p:nvSpPr>
          <p:cNvPr id="12300" name="Line 13">
            <a:extLst>
              <a:ext uri="{FF2B5EF4-FFF2-40B4-BE49-F238E27FC236}">
                <a16:creationId xmlns:a16="http://schemas.microsoft.com/office/drawing/2014/main" id="{B02C724C-5F33-4425-A2F0-DC2A34D9DC47}"/>
              </a:ext>
            </a:extLst>
          </p:cNvPr>
          <p:cNvSpPr>
            <a:spLocks noChangeShapeType="1"/>
          </p:cNvSpPr>
          <p:nvPr/>
        </p:nvSpPr>
        <p:spPr bwMode="auto">
          <a:xfrm flipV="1">
            <a:off x="5789613" y="2741613"/>
            <a:ext cx="1397000" cy="0"/>
          </a:xfrm>
          <a:prstGeom prst="line">
            <a:avLst/>
          </a:prstGeom>
          <a:noFill/>
          <a:ln w="31750">
            <a:solidFill>
              <a:srgbClr val="000000"/>
            </a:solidFill>
            <a:round/>
            <a:headEnd/>
            <a:tailEnd type="triangle" w="lg" len="lg"/>
          </a:ln>
        </p:spPr>
        <p:txBody>
          <a:bodyPr/>
          <a:lstStyle/>
          <a:p>
            <a:pPr eaLnBrk="1" hangingPunct="1">
              <a:defRPr/>
            </a:pPr>
            <a:endParaRPr lang="en-US" dirty="0"/>
          </a:p>
        </p:txBody>
      </p:sp>
      <p:sp>
        <p:nvSpPr>
          <p:cNvPr id="12301" name="Text Box 14">
            <a:extLst>
              <a:ext uri="{FF2B5EF4-FFF2-40B4-BE49-F238E27FC236}">
                <a16:creationId xmlns:a16="http://schemas.microsoft.com/office/drawing/2014/main" id="{979003B3-34D5-4752-9E92-72561B268B0E}"/>
              </a:ext>
            </a:extLst>
          </p:cNvPr>
          <p:cNvSpPr txBox="1">
            <a:spLocks noChangeArrowheads="1"/>
          </p:cNvSpPr>
          <p:nvPr/>
        </p:nvSpPr>
        <p:spPr bwMode="auto">
          <a:xfrm>
            <a:off x="5303839" y="3106739"/>
            <a:ext cx="515937" cy="509587"/>
          </a:xfrm>
          <a:prstGeom prst="rect">
            <a:avLst/>
          </a:prstGeom>
          <a:noFill/>
          <a:ln w="31750">
            <a:noFill/>
            <a:miter lim="800000"/>
            <a:headEnd/>
            <a:tailEnd/>
          </a:ln>
        </p:spPr>
        <p:txBody>
          <a:bodyPr/>
          <a:lstStyle/>
          <a:p>
            <a:pPr>
              <a:defRPr/>
            </a:pPr>
            <a:r>
              <a:rPr lang="en-US" sz="2000" dirty="0"/>
              <a:t>X</a:t>
            </a:r>
            <a:r>
              <a:rPr lang="en-US" sz="2000" baseline="-25000" dirty="0"/>
              <a:t>2</a:t>
            </a:r>
            <a:endParaRPr lang="en-US" sz="2000" dirty="0"/>
          </a:p>
          <a:p>
            <a:pPr>
              <a:defRPr/>
            </a:pPr>
            <a:endParaRPr lang="en-US" sz="2000" dirty="0"/>
          </a:p>
          <a:p>
            <a:pPr>
              <a:defRPr/>
            </a:pPr>
            <a:r>
              <a:rPr lang="en-US" sz="2000" dirty="0"/>
              <a:t>           </a:t>
            </a:r>
          </a:p>
          <a:p>
            <a:pPr>
              <a:defRPr/>
            </a:pPr>
            <a:endParaRPr lang="en-US" sz="2000" dirty="0"/>
          </a:p>
        </p:txBody>
      </p:sp>
      <p:sp>
        <p:nvSpPr>
          <p:cNvPr id="12302" name="Text Box 15">
            <a:extLst>
              <a:ext uri="{FF2B5EF4-FFF2-40B4-BE49-F238E27FC236}">
                <a16:creationId xmlns:a16="http://schemas.microsoft.com/office/drawing/2014/main" id="{44730C35-74F7-4D7E-AFD7-8B861B9D370F}"/>
              </a:ext>
            </a:extLst>
          </p:cNvPr>
          <p:cNvSpPr txBox="1">
            <a:spLocks noChangeArrowheads="1"/>
          </p:cNvSpPr>
          <p:nvPr/>
        </p:nvSpPr>
        <p:spPr bwMode="auto">
          <a:xfrm>
            <a:off x="6242051" y="2314575"/>
            <a:ext cx="765175" cy="622300"/>
          </a:xfrm>
          <a:prstGeom prst="rect">
            <a:avLst/>
          </a:prstGeom>
          <a:noFill/>
          <a:ln w="31750">
            <a:noFill/>
            <a:miter lim="800000"/>
            <a:headEnd/>
            <a:tailEnd/>
          </a:ln>
        </p:spPr>
        <p:txBody>
          <a:bodyPr/>
          <a:lstStyle/>
          <a:p>
            <a:pPr>
              <a:defRPr/>
            </a:pPr>
            <a:r>
              <a:rPr lang="en-US" sz="2000" dirty="0"/>
              <a:t>X</a:t>
            </a:r>
            <a:r>
              <a:rPr lang="en-US" sz="2000" baseline="-25000" dirty="0"/>
              <a:t>1</a:t>
            </a:r>
            <a:endParaRPr lang="en-US" sz="2000" dirty="0"/>
          </a:p>
        </p:txBody>
      </p:sp>
      <p:sp>
        <p:nvSpPr>
          <p:cNvPr id="12303" name="Text Box 16">
            <a:extLst>
              <a:ext uri="{FF2B5EF4-FFF2-40B4-BE49-F238E27FC236}">
                <a16:creationId xmlns:a16="http://schemas.microsoft.com/office/drawing/2014/main" id="{F64A1392-9600-4797-A01C-6DC0D132ABE9}"/>
              </a:ext>
            </a:extLst>
          </p:cNvPr>
          <p:cNvSpPr txBox="1">
            <a:spLocks noChangeArrowheads="1"/>
          </p:cNvSpPr>
          <p:nvPr/>
        </p:nvSpPr>
        <p:spPr bwMode="auto">
          <a:xfrm>
            <a:off x="4235451" y="2241550"/>
            <a:ext cx="911225" cy="623888"/>
          </a:xfrm>
          <a:prstGeom prst="rect">
            <a:avLst/>
          </a:prstGeom>
          <a:noFill/>
          <a:ln w="31750">
            <a:noFill/>
            <a:miter lim="800000"/>
            <a:headEnd/>
            <a:tailEnd/>
          </a:ln>
        </p:spPr>
        <p:txBody>
          <a:bodyPr/>
          <a:lstStyle/>
          <a:p>
            <a:pPr>
              <a:defRPr/>
            </a:pPr>
            <a:r>
              <a:rPr lang="en-US" sz="2000" dirty="0"/>
              <a:t>X</a:t>
            </a:r>
            <a:r>
              <a:rPr lang="en-US" sz="2000" baseline="-25000" dirty="0"/>
              <a:t>1</a:t>
            </a:r>
            <a:endParaRPr lang="ru-RU" sz="2000"/>
          </a:p>
        </p:txBody>
      </p:sp>
      <p:sp>
        <p:nvSpPr>
          <p:cNvPr id="12304" name="Text Box 17">
            <a:extLst>
              <a:ext uri="{FF2B5EF4-FFF2-40B4-BE49-F238E27FC236}">
                <a16:creationId xmlns:a16="http://schemas.microsoft.com/office/drawing/2014/main" id="{ABB64EAF-F0BA-46A4-ABFE-EE7F8FF39ADD}"/>
              </a:ext>
            </a:extLst>
          </p:cNvPr>
          <p:cNvSpPr txBox="1">
            <a:spLocks noChangeArrowheads="1"/>
          </p:cNvSpPr>
          <p:nvPr/>
        </p:nvSpPr>
        <p:spPr bwMode="auto">
          <a:xfrm>
            <a:off x="5200650" y="1620838"/>
            <a:ext cx="763588" cy="381000"/>
          </a:xfrm>
          <a:prstGeom prst="rect">
            <a:avLst/>
          </a:prstGeom>
          <a:noFill/>
          <a:ln w="31750">
            <a:noFill/>
            <a:miter lim="800000"/>
            <a:headEnd/>
            <a:tailEnd/>
          </a:ln>
        </p:spPr>
        <p:txBody>
          <a:bodyPr/>
          <a:lstStyle/>
          <a:p>
            <a:pPr>
              <a:defRPr/>
            </a:pPr>
            <a:r>
              <a:rPr lang="en-US" sz="2000" dirty="0"/>
              <a:t>X</a:t>
            </a:r>
            <a:r>
              <a:rPr lang="en-US" sz="2000" baseline="-25000" dirty="0"/>
              <a:t>2</a:t>
            </a:r>
            <a:endParaRPr lang="en-US" sz="2000" dirty="0"/>
          </a:p>
          <a:p>
            <a:pPr>
              <a:defRPr/>
            </a:pPr>
            <a:endParaRPr lang="en-US" sz="2000" dirty="0"/>
          </a:p>
        </p:txBody>
      </p:sp>
      <p:sp>
        <p:nvSpPr>
          <p:cNvPr id="12305" name="Line 18">
            <a:extLst>
              <a:ext uri="{FF2B5EF4-FFF2-40B4-BE49-F238E27FC236}">
                <a16:creationId xmlns:a16="http://schemas.microsoft.com/office/drawing/2014/main" id="{B0256D6E-0A74-41D7-B49F-DF29A00FDE60}"/>
              </a:ext>
            </a:extLst>
          </p:cNvPr>
          <p:cNvSpPr>
            <a:spLocks noChangeShapeType="1"/>
          </p:cNvSpPr>
          <p:nvPr/>
        </p:nvSpPr>
        <p:spPr bwMode="auto">
          <a:xfrm>
            <a:off x="4164014" y="2674938"/>
            <a:ext cx="936625" cy="0"/>
          </a:xfrm>
          <a:prstGeom prst="line">
            <a:avLst/>
          </a:prstGeom>
          <a:noFill/>
          <a:ln w="28575">
            <a:solidFill>
              <a:schemeClr val="tx1"/>
            </a:solidFill>
            <a:round/>
            <a:headEnd/>
            <a:tailEnd type="triangle" w="lg" len="lg"/>
          </a:ln>
        </p:spPr>
        <p:txBody>
          <a:bodyPr/>
          <a:lstStyle/>
          <a:p>
            <a:pPr eaLnBrk="1" hangingPunct="1">
              <a:defRPr/>
            </a:pPr>
            <a:endParaRPr lang="en-US" dirty="0"/>
          </a:p>
        </p:txBody>
      </p:sp>
      <p:sp>
        <p:nvSpPr>
          <p:cNvPr id="12306" name="Arc 19">
            <a:extLst>
              <a:ext uri="{FF2B5EF4-FFF2-40B4-BE49-F238E27FC236}">
                <a16:creationId xmlns:a16="http://schemas.microsoft.com/office/drawing/2014/main" id="{5652BE6E-CEC3-4B97-B364-231A6AB5E740}"/>
              </a:ext>
            </a:extLst>
          </p:cNvPr>
          <p:cNvSpPr>
            <a:spLocks/>
          </p:cNvSpPr>
          <p:nvPr/>
        </p:nvSpPr>
        <p:spPr bwMode="auto">
          <a:xfrm rot="10668330">
            <a:off x="3957638" y="2563813"/>
            <a:ext cx="3454400" cy="914400"/>
          </a:xfrm>
          <a:custGeom>
            <a:avLst/>
            <a:gdLst>
              <a:gd name="T0" fmla="*/ 0 w 37075"/>
              <a:gd name="T1" fmla="*/ 2147483647 h 21600"/>
              <a:gd name="T2" fmla="*/ 2147483647 w 37075"/>
              <a:gd name="T3" fmla="*/ 2147483647 h 21600"/>
              <a:gd name="T4" fmla="*/ 2147483647 w 37075"/>
              <a:gd name="T5" fmla="*/ 2147483647 h 21600"/>
              <a:gd name="T6" fmla="*/ 0 60000 65536"/>
              <a:gd name="T7" fmla="*/ 0 60000 65536"/>
              <a:gd name="T8" fmla="*/ 0 60000 65536"/>
              <a:gd name="T9" fmla="*/ 0 w 37075"/>
              <a:gd name="T10" fmla="*/ 0 h 21600"/>
              <a:gd name="T11" fmla="*/ 37075 w 37075"/>
              <a:gd name="T12" fmla="*/ 21600 h 21600"/>
            </a:gdLst>
            <a:ahLst/>
            <a:cxnLst>
              <a:cxn ang="T6">
                <a:pos x="T0" y="T1"/>
              </a:cxn>
              <a:cxn ang="T7">
                <a:pos x="T2" y="T3"/>
              </a:cxn>
              <a:cxn ang="T8">
                <a:pos x="T4" y="T5"/>
              </a:cxn>
            </a:cxnLst>
            <a:rect l="T9" t="T10" r="T11" b="T12"/>
            <a:pathLst>
              <a:path w="37075" h="21600" fill="none" extrusionOk="0">
                <a:moveTo>
                  <a:pt x="-1" y="8816"/>
                </a:moveTo>
                <a:cubicBezTo>
                  <a:pt x="4069" y="3274"/>
                  <a:pt x="10534" y="-1"/>
                  <a:pt x="17411" y="0"/>
                </a:cubicBezTo>
                <a:cubicBezTo>
                  <a:pt x="25881" y="0"/>
                  <a:pt x="33569" y="4950"/>
                  <a:pt x="37074" y="12662"/>
                </a:cubicBezTo>
              </a:path>
              <a:path w="37075" h="21600" stroke="0" extrusionOk="0">
                <a:moveTo>
                  <a:pt x="-1" y="8816"/>
                </a:moveTo>
                <a:cubicBezTo>
                  <a:pt x="4069" y="3274"/>
                  <a:pt x="10534" y="-1"/>
                  <a:pt x="17411" y="0"/>
                </a:cubicBezTo>
                <a:cubicBezTo>
                  <a:pt x="25881" y="0"/>
                  <a:pt x="33569" y="4950"/>
                  <a:pt x="37074" y="12662"/>
                </a:cubicBezTo>
                <a:lnTo>
                  <a:pt x="17411" y="21600"/>
                </a:lnTo>
                <a:close/>
              </a:path>
            </a:pathLst>
          </a:custGeom>
          <a:noFill/>
          <a:ln w="25400">
            <a:solidFill>
              <a:schemeClr val="tx1"/>
            </a:solidFill>
            <a:round/>
            <a:headEnd type="triangle" w="lg" len="lg"/>
            <a:tailEnd/>
          </a:ln>
        </p:spPr>
        <p:txBody>
          <a:bodyPr wrap="none" anchor="ctr"/>
          <a:lstStyle/>
          <a:p>
            <a:pPr eaLnBrk="1" hangingPunct="1">
              <a:defRPr/>
            </a:pPr>
            <a:endParaRPr lang="en-US" dirty="0"/>
          </a:p>
        </p:txBody>
      </p:sp>
      <p:sp>
        <p:nvSpPr>
          <p:cNvPr id="12307" name="Arc 20">
            <a:extLst>
              <a:ext uri="{FF2B5EF4-FFF2-40B4-BE49-F238E27FC236}">
                <a16:creationId xmlns:a16="http://schemas.microsoft.com/office/drawing/2014/main" id="{6045155B-523F-43DA-8DBF-A89663EDFA36}"/>
              </a:ext>
            </a:extLst>
          </p:cNvPr>
          <p:cNvSpPr>
            <a:spLocks/>
          </p:cNvSpPr>
          <p:nvPr/>
        </p:nvSpPr>
        <p:spPr bwMode="auto">
          <a:xfrm rot="10668330">
            <a:off x="3763964" y="2944813"/>
            <a:ext cx="3824287" cy="882650"/>
          </a:xfrm>
          <a:custGeom>
            <a:avLst/>
            <a:gdLst>
              <a:gd name="T0" fmla="*/ 0 w 42709"/>
              <a:gd name="T1" fmla="*/ 2147483647 h 21600"/>
              <a:gd name="T2" fmla="*/ 2147483647 w 42709"/>
              <a:gd name="T3" fmla="*/ 2147483647 h 21600"/>
              <a:gd name="T4" fmla="*/ 2147483647 w 42709"/>
              <a:gd name="T5" fmla="*/ 2147483647 h 21600"/>
              <a:gd name="T6" fmla="*/ 0 60000 65536"/>
              <a:gd name="T7" fmla="*/ 0 60000 65536"/>
              <a:gd name="T8" fmla="*/ 0 60000 65536"/>
              <a:gd name="T9" fmla="*/ 0 w 42709"/>
              <a:gd name="T10" fmla="*/ 0 h 21600"/>
              <a:gd name="T11" fmla="*/ 42709 w 42709"/>
              <a:gd name="T12" fmla="*/ 21600 h 21600"/>
            </a:gdLst>
            <a:ahLst/>
            <a:cxnLst>
              <a:cxn ang="T6">
                <a:pos x="T0" y="T1"/>
              </a:cxn>
              <a:cxn ang="T7">
                <a:pos x="T2" y="T3"/>
              </a:cxn>
              <a:cxn ang="T8">
                <a:pos x="T4" y="T5"/>
              </a:cxn>
            </a:cxnLst>
            <a:rect l="T9" t="T10" r="T11" b="T12"/>
            <a:pathLst>
              <a:path w="42709" h="21600" fill="none" extrusionOk="0">
                <a:moveTo>
                  <a:pt x="0" y="17039"/>
                </a:moveTo>
                <a:cubicBezTo>
                  <a:pt x="2147" y="7096"/>
                  <a:pt x="10941" y="-1"/>
                  <a:pt x="21113" y="0"/>
                </a:cubicBezTo>
                <a:cubicBezTo>
                  <a:pt x="32876" y="0"/>
                  <a:pt x="42477" y="9413"/>
                  <a:pt x="42708" y="21175"/>
                </a:cubicBezTo>
              </a:path>
              <a:path w="42709" h="21600" stroke="0" extrusionOk="0">
                <a:moveTo>
                  <a:pt x="0" y="17039"/>
                </a:moveTo>
                <a:cubicBezTo>
                  <a:pt x="2147" y="7096"/>
                  <a:pt x="10941" y="-1"/>
                  <a:pt x="21113" y="0"/>
                </a:cubicBezTo>
                <a:cubicBezTo>
                  <a:pt x="32876" y="0"/>
                  <a:pt x="42477" y="9413"/>
                  <a:pt x="42708" y="21175"/>
                </a:cubicBezTo>
                <a:lnTo>
                  <a:pt x="21113" y="21600"/>
                </a:lnTo>
                <a:close/>
              </a:path>
            </a:pathLst>
          </a:custGeom>
          <a:noFill/>
          <a:ln w="25400">
            <a:solidFill>
              <a:schemeClr val="tx1"/>
            </a:solidFill>
            <a:round/>
            <a:headEnd type="none" w="lg" len="lg"/>
            <a:tailEnd type="triangle" w="lg" len="lg"/>
          </a:ln>
        </p:spPr>
        <p:txBody>
          <a:bodyPr wrap="none" anchor="ctr"/>
          <a:lstStyle/>
          <a:p>
            <a:pPr eaLnBrk="1" hangingPunct="1">
              <a:defRPr/>
            </a:pPr>
            <a:endParaRPr lang="en-US" dirty="0"/>
          </a:p>
        </p:txBody>
      </p:sp>
      <p:sp>
        <p:nvSpPr>
          <p:cNvPr id="12308" name="Arc 21">
            <a:extLst>
              <a:ext uri="{FF2B5EF4-FFF2-40B4-BE49-F238E27FC236}">
                <a16:creationId xmlns:a16="http://schemas.microsoft.com/office/drawing/2014/main" id="{6B2EE7B5-BBF5-4DB1-86F4-F3B53A8D1ACC}"/>
              </a:ext>
            </a:extLst>
          </p:cNvPr>
          <p:cNvSpPr>
            <a:spLocks/>
          </p:cNvSpPr>
          <p:nvPr/>
        </p:nvSpPr>
        <p:spPr bwMode="auto">
          <a:xfrm>
            <a:off x="5103814" y="2025651"/>
            <a:ext cx="720725" cy="530225"/>
          </a:xfrm>
          <a:custGeom>
            <a:avLst/>
            <a:gdLst>
              <a:gd name="T0" fmla="*/ 2147483647 w 43200"/>
              <a:gd name="T1" fmla="*/ 2147483647 h 37930"/>
              <a:gd name="T2" fmla="*/ 2147483647 w 43200"/>
              <a:gd name="T3" fmla="*/ 2147483647 h 37930"/>
              <a:gd name="T4" fmla="*/ 2147483647 w 43200"/>
              <a:gd name="T5" fmla="*/ 2147483647 h 37930"/>
              <a:gd name="T6" fmla="*/ 0 60000 65536"/>
              <a:gd name="T7" fmla="*/ 0 60000 65536"/>
              <a:gd name="T8" fmla="*/ 0 60000 65536"/>
              <a:gd name="T9" fmla="*/ 0 w 43200"/>
              <a:gd name="T10" fmla="*/ 0 h 37930"/>
              <a:gd name="T11" fmla="*/ 43200 w 43200"/>
              <a:gd name="T12" fmla="*/ 37930 h 37930"/>
            </a:gdLst>
            <a:ahLst/>
            <a:cxnLst>
              <a:cxn ang="T6">
                <a:pos x="T0" y="T1"/>
              </a:cxn>
              <a:cxn ang="T7">
                <a:pos x="T2" y="T3"/>
              </a:cxn>
              <a:cxn ang="T8">
                <a:pos x="T4" y="T5"/>
              </a:cxn>
            </a:cxnLst>
            <a:rect l="T9" t="T10" r="T11" b="T12"/>
            <a:pathLst>
              <a:path w="43200" h="37930" fill="none" extrusionOk="0">
                <a:moveTo>
                  <a:pt x="4764" y="35132"/>
                </a:moveTo>
                <a:cubicBezTo>
                  <a:pt x="1680" y="31296"/>
                  <a:pt x="0" y="26521"/>
                  <a:pt x="0" y="21600"/>
                </a:cubicBezTo>
                <a:cubicBezTo>
                  <a:pt x="0" y="9670"/>
                  <a:pt x="9670" y="0"/>
                  <a:pt x="21600" y="0"/>
                </a:cubicBezTo>
                <a:cubicBezTo>
                  <a:pt x="33529" y="0"/>
                  <a:pt x="43200" y="9670"/>
                  <a:pt x="43200" y="21600"/>
                </a:cubicBezTo>
                <a:cubicBezTo>
                  <a:pt x="43200" y="27868"/>
                  <a:pt x="40477" y="33827"/>
                  <a:pt x="35738" y="37930"/>
                </a:cubicBezTo>
              </a:path>
              <a:path w="43200" h="37930" stroke="0" extrusionOk="0">
                <a:moveTo>
                  <a:pt x="4764" y="35132"/>
                </a:moveTo>
                <a:cubicBezTo>
                  <a:pt x="1680" y="31296"/>
                  <a:pt x="0" y="26521"/>
                  <a:pt x="0" y="21600"/>
                </a:cubicBezTo>
                <a:cubicBezTo>
                  <a:pt x="0" y="9670"/>
                  <a:pt x="9670" y="0"/>
                  <a:pt x="21600" y="0"/>
                </a:cubicBezTo>
                <a:cubicBezTo>
                  <a:pt x="33529" y="0"/>
                  <a:pt x="43200" y="9670"/>
                  <a:pt x="43200" y="21600"/>
                </a:cubicBezTo>
                <a:cubicBezTo>
                  <a:pt x="43200" y="27868"/>
                  <a:pt x="40477" y="33827"/>
                  <a:pt x="35738" y="37930"/>
                </a:cubicBezTo>
                <a:lnTo>
                  <a:pt x="21600" y="21600"/>
                </a:lnTo>
                <a:close/>
              </a:path>
            </a:pathLst>
          </a:custGeom>
          <a:noFill/>
          <a:ln w="28575">
            <a:solidFill>
              <a:schemeClr val="tx1"/>
            </a:solidFill>
            <a:round/>
            <a:headEnd/>
            <a:tailEnd type="triangle" w="lg" len="lg"/>
          </a:ln>
        </p:spPr>
        <p:txBody>
          <a:bodyPr wrap="none" anchor="ctr"/>
          <a:lstStyle/>
          <a:p>
            <a:pPr eaLnBrk="1" hangingPunct="1">
              <a:defRPr/>
            </a:pPr>
            <a:endParaRPr lang="en-US" dirty="0"/>
          </a:p>
        </p:txBody>
      </p:sp>
      <p:sp>
        <p:nvSpPr>
          <p:cNvPr id="12309" name="Arc 22">
            <a:extLst>
              <a:ext uri="{FF2B5EF4-FFF2-40B4-BE49-F238E27FC236}">
                <a16:creationId xmlns:a16="http://schemas.microsoft.com/office/drawing/2014/main" id="{2C4E7DD5-122D-42B0-8CC0-476FDF1995CC}"/>
              </a:ext>
            </a:extLst>
          </p:cNvPr>
          <p:cNvSpPr>
            <a:spLocks/>
          </p:cNvSpPr>
          <p:nvPr/>
        </p:nvSpPr>
        <p:spPr bwMode="auto">
          <a:xfrm>
            <a:off x="7192964" y="1997076"/>
            <a:ext cx="720725" cy="530225"/>
          </a:xfrm>
          <a:custGeom>
            <a:avLst/>
            <a:gdLst>
              <a:gd name="T0" fmla="*/ 369154544 w 43200"/>
              <a:gd name="T1" fmla="*/ 1341566383 h 37930"/>
              <a:gd name="T2" fmla="*/ 2147483647 w 43200"/>
              <a:gd name="T3" fmla="*/ 1448411835 h 37930"/>
              <a:gd name="T4" fmla="*/ 1673390979 w 43200"/>
              <a:gd name="T5" fmla="*/ 824826337 h 37930"/>
              <a:gd name="T6" fmla="*/ 0 60000 65536"/>
              <a:gd name="T7" fmla="*/ 0 60000 65536"/>
              <a:gd name="T8" fmla="*/ 0 60000 65536"/>
              <a:gd name="T9" fmla="*/ 0 w 43200"/>
              <a:gd name="T10" fmla="*/ 0 h 37930"/>
              <a:gd name="T11" fmla="*/ 43200 w 43200"/>
              <a:gd name="T12" fmla="*/ 37930 h 37930"/>
            </a:gdLst>
            <a:ahLst/>
            <a:cxnLst>
              <a:cxn ang="T6">
                <a:pos x="T0" y="T1"/>
              </a:cxn>
              <a:cxn ang="T7">
                <a:pos x="T2" y="T3"/>
              </a:cxn>
              <a:cxn ang="T8">
                <a:pos x="T4" y="T5"/>
              </a:cxn>
            </a:cxnLst>
            <a:rect l="T9" t="T10" r="T11" b="T12"/>
            <a:pathLst>
              <a:path w="43200" h="37930" fill="none" extrusionOk="0">
                <a:moveTo>
                  <a:pt x="4764" y="35132"/>
                </a:moveTo>
                <a:cubicBezTo>
                  <a:pt x="1680" y="31296"/>
                  <a:pt x="0" y="26521"/>
                  <a:pt x="0" y="21600"/>
                </a:cubicBezTo>
                <a:cubicBezTo>
                  <a:pt x="0" y="9670"/>
                  <a:pt x="9670" y="0"/>
                  <a:pt x="21600" y="0"/>
                </a:cubicBezTo>
                <a:cubicBezTo>
                  <a:pt x="33529" y="0"/>
                  <a:pt x="43200" y="9670"/>
                  <a:pt x="43200" y="21600"/>
                </a:cubicBezTo>
                <a:cubicBezTo>
                  <a:pt x="43200" y="27868"/>
                  <a:pt x="40477" y="33827"/>
                  <a:pt x="35738" y="37930"/>
                </a:cubicBezTo>
              </a:path>
              <a:path w="43200" h="37930" stroke="0" extrusionOk="0">
                <a:moveTo>
                  <a:pt x="4764" y="35132"/>
                </a:moveTo>
                <a:cubicBezTo>
                  <a:pt x="1680" y="31296"/>
                  <a:pt x="0" y="26521"/>
                  <a:pt x="0" y="21600"/>
                </a:cubicBezTo>
                <a:cubicBezTo>
                  <a:pt x="0" y="9670"/>
                  <a:pt x="9670" y="0"/>
                  <a:pt x="21600" y="0"/>
                </a:cubicBezTo>
                <a:cubicBezTo>
                  <a:pt x="33529" y="0"/>
                  <a:pt x="43200" y="9670"/>
                  <a:pt x="43200" y="21600"/>
                </a:cubicBezTo>
                <a:cubicBezTo>
                  <a:pt x="43200" y="27868"/>
                  <a:pt x="40477" y="33827"/>
                  <a:pt x="35738" y="37930"/>
                </a:cubicBezTo>
                <a:lnTo>
                  <a:pt x="21600" y="21600"/>
                </a:lnTo>
                <a:close/>
              </a:path>
            </a:pathLst>
          </a:custGeom>
          <a:noFill/>
          <a:ln w="28575">
            <a:solidFill>
              <a:schemeClr val="tx1"/>
            </a:solidFill>
            <a:round/>
            <a:headEnd/>
            <a:tailEnd type="triangle" w="lg" len="lg"/>
          </a:ln>
        </p:spPr>
        <p:txBody>
          <a:bodyPr wrap="none" anchor="ctr"/>
          <a:lstStyle/>
          <a:p>
            <a:pPr eaLnBrk="1" hangingPunct="1">
              <a:defRPr/>
            </a:pPr>
            <a:endParaRPr lang="en-US" dirty="0"/>
          </a:p>
        </p:txBody>
      </p:sp>
      <p:sp>
        <p:nvSpPr>
          <p:cNvPr id="4" name="Title 3">
            <a:extLst>
              <a:ext uri="{FF2B5EF4-FFF2-40B4-BE49-F238E27FC236}">
                <a16:creationId xmlns:a16="http://schemas.microsoft.com/office/drawing/2014/main" id="{81B1FA25-2006-5FDB-9A3D-DE2EFDFE54A3}"/>
              </a:ext>
            </a:extLst>
          </p:cNvPr>
          <p:cNvSpPr>
            <a:spLocks noGrp="1"/>
          </p:cNvSpPr>
          <p:nvPr>
            <p:ph type="title"/>
          </p:nvPr>
        </p:nvSpPr>
        <p:spPr/>
        <p:txBody>
          <a:bodyPr>
            <a:normAutofit/>
          </a:bodyPr>
          <a:lstStyle/>
          <a:p>
            <a:r>
              <a:rPr lang="en-US" dirty="0"/>
              <a:t>Moore FSM</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Заголовок 2">
            <a:extLst>
              <a:ext uri="{FF2B5EF4-FFF2-40B4-BE49-F238E27FC236}">
                <a16:creationId xmlns:a16="http://schemas.microsoft.com/office/drawing/2014/main" id="{3FF5A2DE-DB04-F209-4CF3-5395FF17ABAE}"/>
              </a:ext>
            </a:extLst>
          </p:cNvPr>
          <p:cNvSpPr>
            <a:spLocks noGrp="1" noChangeArrowheads="1"/>
          </p:cNvSpPr>
          <p:nvPr>
            <p:ph type="title"/>
          </p:nvPr>
        </p:nvSpPr>
        <p:spPr>
          <a:xfrm>
            <a:off x="-1" y="183402"/>
            <a:ext cx="11612880" cy="704088"/>
          </a:xfrm>
        </p:spPr>
        <p:txBody>
          <a:bodyPr>
            <a:normAutofit/>
          </a:bodyPr>
          <a:lstStyle/>
          <a:p>
            <a:r>
              <a:rPr lang="en-US" altLang="en-US" dirty="0"/>
              <a:t>Examples of FSM</a:t>
            </a:r>
            <a:endParaRPr lang="ru-RU" altLang="en-US" dirty="0"/>
          </a:p>
        </p:txBody>
      </p:sp>
      <p:sp>
        <p:nvSpPr>
          <p:cNvPr id="26627" name="Объект 3">
            <a:extLst>
              <a:ext uri="{FF2B5EF4-FFF2-40B4-BE49-F238E27FC236}">
                <a16:creationId xmlns:a16="http://schemas.microsoft.com/office/drawing/2014/main" id="{7E8800B9-A14F-44C2-F5D2-A0A8CF174BC5}"/>
              </a:ext>
            </a:extLst>
          </p:cNvPr>
          <p:cNvSpPr>
            <a:spLocks noGrp="1" noChangeArrowheads="1"/>
          </p:cNvSpPr>
          <p:nvPr>
            <p:ph type="body" sz="quarter" idx="10"/>
          </p:nvPr>
        </p:nvSpPr>
        <p:spPr>
          <a:xfrm>
            <a:off x="457200" y="1188720"/>
            <a:ext cx="11277922" cy="5185186"/>
          </a:xfrm>
        </p:spPr>
        <p:txBody>
          <a:bodyPr/>
          <a:lstStyle/>
          <a:p>
            <a:r>
              <a:rPr lang="en-US" altLang="en-US"/>
              <a:t>Example</a:t>
            </a:r>
            <a:r>
              <a:rPr lang="ru-RU" altLang="en-US"/>
              <a:t> 1</a:t>
            </a:r>
            <a:endParaRPr lang="en-US" altLang="en-US"/>
          </a:p>
          <a:p>
            <a:r>
              <a:rPr lang="en-US" altLang="en-US"/>
              <a:t>Design STG of detector of input sequence of zeros and ones. If a sequence from 4 ones is given to the input, “1” appears in the output in FSM. In all other cases, the output equals </a:t>
            </a:r>
            <a:r>
              <a:rPr lang="ru-RU" altLang="en-US"/>
              <a:t>“0”.</a:t>
            </a:r>
            <a:endParaRPr lang="en-US" altLang="en-US"/>
          </a:p>
          <a:p>
            <a:r>
              <a:rPr lang="en-US" altLang="en-US"/>
              <a:t>X</a:t>
            </a:r>
            <a:r>
              <a:rPr lang="ru-RU" altLang="en-US"/>
              <a:t> = {0, 1};   </a:t>
            </a:r>
            <a:r>
              <a:rPr lang="en-US" altLang="en-US"/>
              <a:t>Y</a:t>
            </a:r>
            <a:r>
              <a:rPr lang="ru-RU" altLang="en-US"/>
              <a:t> = {0, 1}.	</a:t>
            </a:r>
            <a:endParaRPr lang="en-US" altLang="en-US"/>
          </a:p>
          <a:p>
            <a:r>
              <a:rPr lang="en-US" altLang="en-US"/>
              <a:t>The set of states, transition function and output function are defined at designing a graph. </a:t>
            </a:r>
          </a:p>
          <a:p>
            <a:endParaRPr lang="ru-RU"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Group 26">
            <a:extLst>
              <a:ext uri="{FF2B5EF4-FFF2-40B4-BE49-F238E27FC236}">
                <a16:creationId xmlns:a16="http://schemas.microsoft.com/office/drawing/2014/main" id="{477EF5C8-F1C3-54F0-7D1A-ED59030B9EC5}"/>
              </a:ext>
            </a:extLst>
          </p:cNvPr>
          <p:cNvGrpSpPr>
            <a:grpSpLocks/>
          </p:cNvGrpSpPr>
          <p:nvPr/>
        </p:nvGrpSpPr>
        <p:grpSpPr bwMode="auto">
          <a:xfrm>
            <a:off x="2001839" y="1293813"/>
            <a:ext cx="8066087" cy="4298950"/>
            <a:chOff x="616" y="793"/>
            <a:chExt cx="5081" cy="2708"/>
          </a:xfrm>
        </p:grpSpPr>
        <p:sp>
          <p:nvSpPr>
            <p:cNvPr id="27652" name="Text Box 2">
              <a:extLst>
                <a:ext uri="{FF2B5EF4-FFF2-40B4-BE49-F238E27FC236}">
                  <a16:creationId xmlns:a16="http://schemas.microsoft.com/office/drawing/2014/main" id="{9861F1DA-A1B1-692E-E079-6BCDEB9B008C}"/>
                </a:ext>
              </a:extLst>
            </p:cNvPr>
            <p:cNvSpPr txBox="1">
              <a:spLocks noChangeArrowheads="1"/>
            </p:cNvSpPr>
            <p:nvPr/>
          </p:nvSpPr>
          <p:spPr bwMode="auto">
            <a:xfrm>
              <a:off x="616" y="2512"/>
              <a:ext cx="5050"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a:t>S</a:t>
              </a:r>
              <a:r>
                <a:rPr lang="en-US" altLang="en-US" baseline="-25000"/>
                <a:t>0</a:t>
              </a:r>
              <a:r>
                <a:rPr lang="en-US" altLang="en-US"/>
                <a:t> – the last input symbol was 0</a:t>
              </a:r>
            </a:p>
            <a:p>
              <a:pPr eaLnBrk="1" hangingPunct="1"/>
              <a:r>
                <a:rPr lang="en-US" altLang="en-US"/>
                <a:t>S</a:t>
              </a:r>
              <a:r>
                <a:rPr lang="en-US" altLang="en-US" baseline="-25000"/>
                <a:t>1</a:t>
              </a:r>
              <a:r>
                <a:rPr lang="en-US" altLang="en-US"/>
                <a:t> – got one 1 </a:t>
              </a:r>
            </a:p>
            <a:p>
              <a:pPr eaLnBrk="1" hangingPunct="1"/>
              <a:r>
                <a:rPr lang="en-US" altLang="en-US"/>
                <a:t>S</a:t>
              </a:r>
              <a:r>
                <a:rPr lang="en-US" altLang="en-US" baseline="-25000"/>
                <a:t>2</a:t>
              </a:r>
              <a:r>
                <a:rPr lang="en-US" altLang="en-US"/>
                <a:t> – got two 1s </a:t>
              </a:r>
            </a:p>
            <a:p>
              <a:pPr eaLnBrk="1" hangingPunct="1"/>
              <a:r>
                <a:rPr lang="en-US" altLang="en-US"/>
                <a:t>S</a:t>
              </a:r>
              <a:r>
                <a:rPr lang="en-US" altLang="en-US" baseline="-25000"/>
                <a:t>3 </a:t>
              </a:r>
              <a:r>
                <a:rPr lang="en-US" altLang="en-US"/>
                <a:t> - got three 1s (repeatedly)</a:t>
              </a:r>
            </a:p>
          </p:txBody>
        </p:sp>
        <p:grpSp>
          <p:nvGrpSpPr>
            <p:cNvPr id="27653" name="Group 25">
              <a:extLst>
                <a:ext uri="{FF2B5EF4-FFF2-40B4-BE49-F238E27FC236}">
                  <a16:creationId xmlns:a16="http://schemas.microsoft.com/office/drawing/2014/main" id="{72557DED-BA6E-AEA0-5CA8-9337ED46B1DA}"/>
                </a:ext>
              </a:extLst>
            </p:cNvPr>
            <p:cNvGrpSpPr>
              <a:grpSpLocks/>
            </p:cNvGrpSpPr>
            <p:nvPr/>
          </p:nvGrpSpPr>
          <p:grpSpPr bwMode="auto">
            <a:xfrm>
              <a:off x="724" y="793"/>
              <a:ext cx="4973" cy="2259"/>
              <a:chOff x="220" y="829"/>
              <a:chExt cx="4973" cy="2259"/>
            </a:xfrm>
          </p:grpSpPr>
          <p:sp>
            <p:nvSpPr>
              <p:cNvPr id="27654" name="Text Box 4">
                <a:extLst>
                  <a:ext uri="{FF2B5EF4-FFF2-40B4-BE49-F238E27FC236}">
                    <a16:creationId xmlns:a16="http://schemas.microsoft.com/office/drawing/2014/main" id="{BF6C064E-E310-2AEF-B0C6-B59B318A2F69}"/>
                  </a:ext>
                </a:extLst>
              </p:cNvPr>
              <p:cNvSpPr txBox="1">
                <a:spLocks noChangeArrowheads="1"/>
              </p:cNvSpPr>
              <p:nvPr/>
            </p:nvSpPr>
            <p:spPr bwMode="auto">
              <a:xfrm>
                <a:off x="4785" y="1530"/>
                <a:ext cx="408"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latin typeface="Times New Roman" panose="02020603050405020304" pitchFamily="18" charset="0"/>
                  </a:rPr>
                  <a:t>1/1</a:t>
                </a:r>
              </a:p>
              <a:p>
                <a:endParaRPr lang="en-US" altLang="en-US" sz="2000">
                  <a:latin typeface="Times New Roman" panose="02020603050405020304" pitchFamily="18" charset="0"/>
                </a:endParaRPr>
              </a:p>
              <a:p>
                <a:endParaRPr lang="en-US" altLang="en-US" sz="2000">
                  <a:latin typeface="Times New Roman" panose="02020603050405020304" pitchFamily="18" charset="0"/>
                </a:endParaRPr>
              </a:p>
              <a:p>
                <a:endParaRPr lang="en-US" altLang="en-US" sz="2000">
                  <a:latin typeface="Times New Roman" panose="02020603050405020304" pitchFamily="18" charset="0"/>
                </a:endParaRPr>
              </a:p>
              <a:p>
                <a:endParaRPr lang="en-US" altLang="en-US" sz="2000">
                  <a:latin typeface="Times New Roman" panose="02020603050405020304" pitchFamily="18" charset="0"/>
                </a:endParaRPr>
              </a:p>
              <a:p>
                <a:endParaRPr lang="en-US" altLang="en-US" sz="2000">
                  <a:latin typeface="Times New Roman" panose="02020603050405020304" pitchFamily="18" charset="0"/>
                </a:endParaRPr>
              </a:p>
              <a:p>
                <a:r>
                  <a:rPr lang="en-US" altLang="en-US" sz="2000">
                    <a:latin typeface="Times New Roman" panose="02020603050405020304" pitchFamily="18" charset="0"/>
                  </a:rPr>
                  <a:t>     </a:t>
                </a:r>
              </a:p>
              <a:p>
                <a:endParaRPr lang="en-US" altLang="en-US" sz="2000">
                  <a:latin typeface="Times New Roman" panose="02020603050405020304" pitchFamily="18" charset="0"/>
                </a:endParaRPr>
              </a:p>
              <a:p>
                <a:endParaRPr lang="en-US" altLang="en-US" sz="2000">
                  <a:latin typeface="Times New Roman" panose="02020603050405020304" pitchFamily="18" charset="0"/>
                </a:endParaRPr>
              </a:p>
            </p:txBody>
          </p:sp>
          <p:sp>
            <p:nvSpPr>
              <p:cNvPr id="27655" name="Line 5">
                <a:extLst>
                  <a:ext uri="{FF2B5EF4-FFF2-40B4-BE49-F238E27FC236}">
                    <a16:creationId xmlns:a16="http://schemas.microsoft.com/office/drawing/2014/main" id="{40C2E43F-6C9C-DC40-0811-F24C4EC8015D}"/>
                  </a:ext>
                </a:extLst>
              </p:cNvPr>
              <p:cNvSpPr>
                <a:spLocks noChangeShapeType="1"/>
              </p:cNvSpPr>
              <p:nvPr/>
            </p:nvSpPr>
            <p:spPr bwMode="auto">
              <a:xfrm>
                <a:off x="1220" y="1678"/>
                <a:ext cx="690" cy="0"/>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656" name="Line 6">
                <a:extLst>
                  <a:ext uri="{FF2B5EF4-FFF2-40B4-BE49-F238E27FC236}">
                    <a16:creationId xmlns:a16="http://schemas.microsoft.com/office/drawing/2014/main" id="{5D011E48-5566-BCAA-9ADD-97702470A2C8}"/>
                  </a:ext>
                </a:extLst>
              </p:cNvPr>
              <p:cNvSpPr>
                <a:spLocks noChangeShapeType="1"/>
              </p:cNvSpPr>
              <p:nvPr/>
            </p:nvSpPr>
            <p:spPr bwMode="auto">
              <a:xfrm>
                <a:off x="2323" y="1687"/>
                <a:ext cx="660" cy="0"/>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657" name="Line 7">
                <a:extLst>
                  <a:ext uri="{FF2B5EF4-FFF2-40B4-BE49-F238E27FC236}">
                    <a16:creationId xmlns:a16="http://schemas.microsoft.com/office/drawing/2014/main" id="{81210E66-C84A-7701-D43F-BFAA25094BAA}"/>
                  </a:ext>
                </a:extLst>
              </p:cNvPr>
              <p:cNvSpPr>
                <a:spLocks noChangeShapeType="1"/>
              </p:cNvSpPr>
              <p:nvPr/>
            </p:nvSpPr>
            <p:spPr bwMode="auto">
              <a:xfrm>
                <a:off x="3406" y="1678"/>
                <a:ext cx="773" cy="0"/>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58" name="Text Box 8">
                <a:extLst>
                  <a:ext uri="{FF2B5EF4-FFF2-40B4-BE49-F238E27FC236}">
                    <a16:creationId xmlns:a16="http://schemas.microsoft.com/office/drawing/2014/main" id="{FEB6CAF2-AB6E-A19F-FF07-7B4681B43221}"/>
                  </a:ext>
                </a:extLst>
              </p:cNvPr>
              <p:cNvSpPr txBox="1">
                <a:spLocks noChangeArrowheads="1"/>
              </p:cNvSpPr>
              <p:nvPr/>
            </p:nvSpPr>
            <p:spPr bwMode="auto">
              <a:xfrm>
                <a:off x="220" y="1613"/>
                <a:ext cx="510"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0/0</a:t>
                </a:r>
              </a:p>
              <a:p>
                <a:endParaRPr lang="en-US" altLang="en-US" sz="2000"/>
              </a:p>
              <a:p>
                <a:endParaRPr lang="en-US" altLang="en-US" sz="2000"/>
              </a:p>
              <a:p>
                <a:endParaRPr lang="en-US" altLang="en-US" sz="2000"/>
              </a:p>
              <a:p>
                <a:endParaRPr lang="en-US" altLang="en-US" sz="2000"/>
              </a:p>
              <a:p>
                <a:endParaRPr lang="en-US" altLang="en-US" sz="2000"/>
              </a:p>
              <a:p>
                <a:r>
                  <a:rPr lang="en-US" altLang="en-US" sz="2000"/>
                  <a:t>     </a:t>
                </a:r>
              </a:p>
              <a:p>
                <a:endParaRPr lang="en-US" altLang="en-US" sz="2000"/>
              </a:p>
            </p:txBody>
          </p:sp>
          <p:sp>
            <p:nvSpPr>
              <p:cNvPr id="27659" name="Text Box 9">
                <a:extLst>
                  <a:ext uri="{FF2B5EF4-FFF2-40B4-BE49-F238E27FC236}">
                    <a16:creationId xmlns:a16="http://schemas.microsoft.com/office/drawing/2014/main" id="{F573F910-B240-C748-0F36-7C82843C02E2}"/>
                  </a:ext>
                </a:extLst>
              </p:cNvPr>
              <p:cNvSpPr txBox="1">
                <a:spLocks noChangeArrowheads="1"/>
              </p:cNvSpPr>
              <p:nvPr/>
            </p:nvSpPr>
            <p:spPr bwMode="auto">
              <a:xfrm>
                <a:off x="1407" y="1883"/>
                <a:ext cx="54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0/0</a:t>
                </a:r>
              </a:p>
              <a:p>
                <a:endParaRPr lang="en-US" altLang="en-US" sz="2000"/>
              </a:p>
              <a:p>
                <a:endParaRPr lang="en-US" altLang="en-US" sz="2000"/>
              </a:p>
              <a:p>
                <a:endParaRPr lang="en-US" altLang="en-US" sz="2000"/>
              </a:p>
              <a:p>
                <a:endParaRPr lang="en-US" altLang="en-US" sz="2000"/>
              </a:p>
              <a:p>
                <a:endParaRPr lang="en-US" altLang="en-US" sz="2000"/>
              </a:p>
              <a:p>
                <a:r>
                  <a:rPr lang="en-US" altLang="en-US" sz="2000"/>
                  <a:t>     </a:t>
                </a:r>
              </a:p>
              <a:p>
                <a:endParaRPr lang="en-US" altLang="en-US" sz="2000"/>
              </a:p>
            </p:txBody>
          </p:sp>
          <p:sp>
            <p:nvSpPr>
              <p:cNvPr id="27660" name="Text Box 10">
                <a:extLst>
                  <a:ext uri="{FF2B5EF4-FFF2-40B4-BE49-F238E27FC236}">
                    <a16:creationId xmlns:a16="http://schemas.microsoft.com/office/drawing/2014/main" id="{159E657D-8A84-EDCE-2AEB-276603DC7D36}"/>
                  </a:ext>
                </a:extLst>
              </p:cNvPr>
              <p:cNvSpPr txBox="1">
                <a:spLocks noChangeArrowheads="1"/>
              </p:cNvSpPr>
              <p:nvPr/>
            </p:nvSpPr>
            <p:spPr bwMode="auto">
              <a:xfrm>
                <a:off x="2267" y="2080"/>
                <a:ext cx="561"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0/0</a:t>
                </a:r>
              </a:p>
              <a:p>
                <a:endParaRPr lang="en-US" altLang="en-US" sz="2000"/>
              </a:p>
              <a:p>
                <a:endParaRPr lang="en-US" altLang="en-US" sz="2000"/>
              </a:p>
              <a:p>
                <a:endParaRPr lang="en-US" altLang="en-US" sz="2000"/>
              </a:p>
              <a:p>
                <a:endParaRPr lang="en-US" altLang="en-US" sz="2000"/>
              </a:p>
              <a:p>
                <a:endParaRPr lang="en-US" altLang="en-US" sz="2000"/>
              </a:p>
              <a:p>
                <a:r>
                  <a:rPr lang="en-US" altLang="en-US" sz="2000"/>
                  <a:t>     </a:t>
                </a:r>
              </a:p>
              <a:p>
                <a:endParaRPr lang="en-US" altLang="en-US" sz="2000"/>
              </a:p>
            </p:txBody>
          </p:sp>
          <p:sp>
            <p:nvSpPr>
              <p:cNvPr id="27661" name="Text Box 11">
                <a:extLst>
                  <a:ext uri="{FF2B5EF4-FFF2-40B4-BE49-F238E27FC236}">
                    <a16:creationId xmlns:a16="http://schemas.microsoft.com/office/drawing/2014/main" id="{EDC47BD9-7689-F52C-E769-B8D9399146E4}"/>
                  </a:ext>
                </a:extLst>
              </p:cNvPr>
              <p:cNvSpPr txBox="1">
                <a:spLocks noChangeArrowheads="1"/>
              </p:cNvSpPr>
              <p:nvPr/>
            </p:nvSpPr>
            <p:spPr bwMode="auto">
              <a:xfrm>
                <a:off x="2796" y="829"/>
                <a:ext cx="500"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0/0</a:t>
                </a:r>
              </a:p>
              <a:p>
                <a:endParaRPr lang="en-US" altLang="en-US" sz="2000"/>
              </a:p>
              <a:p>
                <a:endParaRPr lang="en-US" altLang="en-US" sz="2000"/>
              </a:p>
              <a:p>
                <a:endParaRPr lang="en-US" altLang="en-US" sz="2000"/>
              </a:p>
              <a:p>
                <a:endParaRPr lang="en-US" altLang="en-US" sz="2000"/>
              </a:p>
              <a:p>
                <a:endParaRPr lang="en-US" altLang="en-US" sz="2000"/>
              </a:p>
              <a:p>
                <a:r>
                  <a:rPr lang="en-US" altLang="en-US" sz="2000"/>
                  <a:t>     </a:t>
                </a:r>
              </a:p>
              <a:p>
                <a:endParaRPr lang="en-US" altLang="en-US" sz="2000"/>
              </a:p>
              <a:p>
                <a:endParaRPr lang="en-US" altLang="en-US" sz="2000"/>
              </a:p>
              <a:p>
                <a:endParaRPr lang="en-US" altLang="en-US" sz="2000"/>
              </a:p>
            </p:txBody>
          </p:sp>
          <p:sp>
            <p:nvSpPr>
              <p:cNvPr id="27662" name="Text Box 12">
                <a:extLst>
                  <a:ext uri="{FF2B5EF4-FFF2-40B4-BE49-F238E27FC236}">
                    <a16:creationId xmlns:a16="http://schemas.microsoft.com/office/drawing/2014/main" id="{6C21A66A-5ABC-02F7-9049-0782193F3B85}"/>
                  </a:ext>
                </a:extLst>
              </p:cNvPr>
              <p:cNvSpPr txBox="1">
                <a:spLocks noChangeArrowheads="1"/>
              </p:cNvSpPr>
              <p:nvPr/>
            </p:nvSpPr>
            <p:spPr bwMode="auto">
              <a:xfrm>
                <a:off x="1392" y="1317"/>
                <a:ext cx="484"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1/0</a:t>
                </a:r>
              </a:p>
              <a:p>
                <a:endParaRPr lang="en-US" altLang="en-US" sz="2000"/>
              </a:p>
              <a:p>
                <a:endParaRPr lang="en-US" altLang="en-US" sz="2000"/>
              </a:p>
              <a:p>
                <a:endParaRPr lang="en-US" altLang="en-US" sz="2000"/>
              </a:p>
              <a:p>
                <a:endParaRPr lang="en-US" altLang="en-US" sz="2000"/>
              </a:p>
              <a:p>
                <a:endParaRPr lang="en-US" altLang="en-US" sz="2000"/>
              </a:p>
              <a:p>
                <a:r>
                  <a:rPr lang="en-US" altLang="en-US" sz="2000"/>
                  <a:t>     </a:t>
                </a:r>
              </a:p>
              <a:p>
                <a:endParaRPr lang="en-US" altLang="en-US" sz="2000"/>
              </a:p>
              <a:p>
                <a:endParaRPr lang="en-US" altLang="en-US" sz="2000"/>
              </a:p>
            </p:txBody>
          </p:sp>
          <p:sp>
            <p:nvSpPr>
              <p:cNvPr id="27663" name="Text Box 13">
                <a:extLst>
                  <a:ext uri="{FF2B5EF4-FFF2-40B4-BE49-F238E27FC236}">
                    <a16:creationId xmlns:a16="http://schemas.microsoft.com/office/drawing/2014/main" id="{F082146D-31B8-7CF6-CB0D-055A2C55FB64}"/>
                  </a:ext>
                </a:extLst>
              </p:cNvPr>
              <p:cNvSpPr txBox="1">
                <a:spLocks noChangeArrowheads="1"/>
              </p:cNvSpPr>
              <p:nvPr/>
            </p:nvSpPr>
            <p:spPr bwMode="auto">
              <a:xfrm>
                <a:off x="2451" y="1413"/>
                <a:ext cx="529"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1/0</a:t>
                </a:r>
              </a:p>
              <a:p>
                <a:endParaRPr lang="en-US" altLang="en-US" sz="2000"/>
              </a:p>
              <a:p>
                <a:endParaRPr lang="en-US" altLang="en-US" sz="2000"/>
              </a:p>
              <a:p>
                <a:endParaRPr lang="en-US" altLang="en-US" sz="2000"/>
              </a:p>
              <a:p>
                <a:endParaRPr lang="en-US" altLang="en-US" sz="2000"/>
              </a:p>
              <a:p>
                <a:endParaRPr lang="en-US" altLang="en-US" sz="2000"/>
              </a:p>
              <a:p>
                <a:r>
                  <a:rPr lang="en-US" altLang="en-US" sz="2000"/>
                  <a:t>     </a:t>
                </a:r>
              </a:p>
              <a:p>
                <a:endParaRPr lang="en-US" altLang="en-US" sz="2000"/>
              </a:p>
              <a:p>
                <a:endParaRPr lang="en-US" altLang="en-US" sz="2000"/>
              </a:p>
            </p:txBody>
          </p:sp>
          <p:sp>
            <p:nvSpPr>
              <p:cNvPr id="27664" name="Text Box 14">
                <a:extLst>
                  <a:ext uri="{FF2B5EF4-FFF2-40B4-BE49-F238E27FC236}">
                    <a16:creationId xmlns:a16="http://schemas.microsoft.com/office/drawing/2014/main" id="{4535ADBF-AD95-14FE-C92F-10D758DA35F8}"/>
                  </a:ext>
                </a:extLst>
              </p:cNvPr>
              <p:cNvSpPr txBox="1">
                <a:spLocks noChangeArrowheads="1"/>
              </p:cNvSpPr>
              <p:nvPr/>
            </p:nvSpPr>
            <p:spPr bwMode="auto">
              <a:xfrm>
                <a:off x="3544" y="1408"/>
                <a:ext cx="534"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1/0</a:t>
                </a:r>
              </a:p>
              <a:p>
                <a:endParaRPr lang="en-US" altLang="en-US" sz="2000"/>
              </a:p>
              <a:p>
                <a:endParaRPr lang="en-US" altLang="en-US" sz="2000"/>
              </a:p>
              <a:p>
                <a:endParaRPr lang="en-US" altLang="en-US" sz="2000"/>
              </a:p>
              <a:p>
                <a:endParaRPr lang="en-US" altLang="en-US" sz="2000"/>
              </a:p>
              <a:p>
                <a:endParaRPr lang="en-US" altLang="en-US" sz="2000"/>
              </a:p>
              <a:p>
                <a:r>
                  <a:rPr lang="en-US" altLang="en-US" sz="2000"/>
                  <a:t>     </a:t>
                </a:r>
              </a:p>
              <a:p>
                <a:endParaRPr lang="en-US" altLang="en-US" sz="2000"/>
              </a:p>
              <a:p>
                <a:endParaRPr lang="en-US" altLang="en-US" sz="2000"/>
              </a:p>
            </p:txBody>
          </p:sp>
          <p:sp>
            <p:nvSpPr>
              <p:cNvPr id="27665" name="Arc 15">
                <a:extLst>
                  <a:ext uri="{FF2B5EF4-FFF2-40B4-BE49-F238E27FC236}">
                    <a16:creationId xmlns:a16="http://schemas.microsoft.com/office/drawing/2014/main" id="{FF833A81-8454-41AD-BC67-AB26F974C8E9}"/>
                  </a:ext>
                </a:extLst>
              </p:cNvPr>
              <p:cNvSpPr>
                <a:spLocks/>
              </p:cNvSpPr>
              <p:nvPr/>
            </p:nvSpPr>
            <p:spPr bwMode="auto">
              <a:xfrm rot="10551165" flipH="1" flipV="1">
                <a:off x="4497" y="1494"/>
                <a:ext cx="313" cy="334"/>
              </a:xfrm>
              <a:custGeom>
                <a:avLst/>
                <a:gdLst>
                  <a:gd name="T0" fmla="*/ 0 w 34134"/>
                  <a:gd name="T1" fmla="*/ 0 h 43200"/>
                  <a:gd name="T2" fmla="*/ 0 w 34134"/>
                  <a:gd name="T3" fmla="*/ 0 h 43200"/>
                  <a:gd name="T4" fmla="*/ 0 w 34134"/>
                  <a:gd name="T5" fmla="*/ 0 h 43200"/>
                  <a:gd name="T6" fmla="*/ 0 60000 65536"/>
                  <a:gd name="T7" fmla="*/ 0 60000 65536"/>
                  <a:gd name="T8" fmla="*/ 0 60000 65536"/>
                  <a:gd name="T9" fmla="*/ 0 w 34134"/>
                  <a:gd name="T10" fmla="*/ 0 h 43200"/>
                  <a:gd name="T11" fmla="*/ 34134 w 34134"/>
                  <a:gd name="T12" fmla="*/ 43200 h 43200"/>
                </a:gdLst>
                <a:ahLst/>
                <a:cxnLst>
                  <a:cxn ang="T6">
                    <a:pos x="T0" y="T1"/>
                  </a:cxn>
                  <a:cxn ang="T7">
                    <a:pos x="T2" y="T3"/>
                  </a:cxn>
                  <a:cxn ang="T8">
                    <a:pos x="T4" y="T5"/>
                  </a:cxn>
                </a:cxnLst>
                <a:rect l="T9" t="T10" r="T11" b="T12"/>
                <a:pathLst>
                  <a:path w="34134" h="43200" fill="none" extrusionOk="0">
                    <a:moveTo>
                      <a:pt x="0" y="4008"/>
                    </a:moveTo>
                    <a:cubicBezTo>
                      <a:pt x="3659" y="1401"/>
                      <a:pt x="8040" y="-1"/>
                      <a:pt x="12534" y="0"/>
                    </a:cubicBezTo>
                    <a:cubicBezTo>
                      <a:pt x="24463" y="0"/>
                      <a:pt x="34134" y="9670"/>
                      <a:pt x="34134" y="21600"/>
                    </a:cubicBezTo>
                    <a:cubicBezTo>
                      <a:pt x="34134" y="33529"/>
                      <a:pt x="24463" y="43200"/>
                      <a:pt x="12534" y="43200"/>
                    </a:cubicBezTo>
                    <a:cubicBezTo>
                      <a:pt x="8794" y="43200"/>
                      <a:pt x="5119" y="42229"/>
                      <a:pt x="1867" y="40382"/>
                    </a:cubicBezTo>
                  </a:path>
                  <a:path w="34134" h="43200" stroke="0" extrusionOk="0">
                    <a:moveTo>
                      <a:pt x="0" y="4008"/>
                    </a:moveTo>
                    <a:cubicBezTo>
                      <a:pt x="3659" y="1401"/>
                      <a:pt x="8040" y="-1"/>
                      <a:pt x="12534" y="0"/>
                    </a:cubicBezTo>
                    <a:cubicBezTo>
                      <a:pt x="24463" y="0"/>
                      <a:pt x="34134" y="9670"/>
                      <a:pt x="34134" y="21600"/>
                    </a:cubicBezTo>
                    <a:cubicBezTo>
                      <a:pt x="34134" y="33529"/>
                      <a:pt x="24463" y="43200"/>
                      <a:pt x="12534" y="43200"/>
                    </a:cubicBezTo>
                    <a:cubicBezTo>
                      <a:pt x="8794" y="43200"/>
                      <a:pt x="5119" y="42229"/>
                      <a:pt x="1867" y="40382"/>
                    </a:cubicBezTo>
                    <a:lnTo>
                      <a:pt x="12534" y="21600"/>
                    </a:lnTo>
                    <a:lnTo>
                      <a:pt x="0" y="4008"/>
                    </a:lnTo>
                    <a:close/>
                  </a:path>
                </a:pathLst>
              </a:custGeom>
              <a:noFill/>
              <a:ln w="28575">
                <a:solidFill>
                  <a:schemeClr val="tx1"/>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666" name="Arc 16">
                <a:extLst>
                  <a:ext uri="{FF2B5EF4-FFF2-40B4-BE49-F238E27FC236}">
                    <a16:creationId xmlns:a16="http://schemas.microsoft.com/office/drawing/2014/main" id="{7393A442-8DD5-5137-9542-0188114D4C2A}"/>
                  </a:ext>
                </a:extLst>
              </p:cNvPr>
              <p:cNvSpPr>
                <a:spLocks/>
              </p:cNvSpPr>
              <p:nvPr/>
            </p:nvSpPr>
            <p:spPr bwMode="auto">
              <a:xfrm rot="603931" flipH="1" flipV="1">
                <a:off x="521" y="1537"/>
                <a:ext cx="348" cy="334"/>
              </a:xfrm>
              <a:custGeom>
                <a:avLst/>
                <a:gdLst>
                  <a:gd name="T0" fmla="*/ 0 w 37863"/>
                  <a:gd name="T1" fmla="*/ 0 h 43200"/>
                  <a:gd name="T2" fmla="*/ 0 w 37863"/>
                  <a:gd name="T3" fmla="*/ 0 h 43200"/>
                  <a:gd name="T4" fmla="*/ 0 w 37863"/>
                  <a:gd name="T5" fmla="*/ 0 h 43200"/>
                  <a:gd name="T6" fmla="*/ 0 60000 65536"/>
                  <a:gd name="T7" fmla="*/ 0 60000 65536"/>
                  <a:gd name="T8" fmla="*/ 0 60000 65536"/>
                  <a:gd name="T9" fmla="*/ 0 w 37863"/>
                  <a:gd name="T10" fmla="*/ 0 h 43200"/>
                  <a:gd name="T11" fmla="*/ 37863 w 37863"/>
                  <a:gd name="T12" fmla="*/ 43200 h 43200"/>
                </a:gdLst>
                <a:ahLst/>
                <a:cxnLst>
                  <a:cxn ang="T6">
                    <a:pos x="T0" y="T1"/>
                  </a:cxn>
                  <a:cxn ang="T7">
                    <a:pos x="T2" y="T3"/>
                  </a:cxn>
                  <a:cxn ang="T8">
                    <a:pos x="T4" y="T5"/>
                  </a:cxn>
                </a:cxnLst>
                <a:rect l="T9" t="T10" r="T11" b="T12"/>
                <a:pathLst>
                  <a:path w="37863" h="43200" fill="none" extrusionOk="0">
                    <a:moveTo>
                      <a:pt x="0" y="7384"/>
                    </a:moveTo>
                    <a:cubicBezTo>
                      <a:pt x="4102" y="2691"/>
                      <a:pt x="10030" y="-1"/>
                      <a:pt x="16263" y="0"/>
                    </a:cubicBezTo>
                    <a:cubicBezTo>
                      <a:pt x="28192" y="0"/>
                      <a:pt x="37863" y="9670"/>
                      <a:pt x="37863" y="21600"/>
                    </a:cubicBezTo>
                    <a:cubicBezTo>
                      <a:pt x="37863" y="33529"/>
                      <a:pt x="28192" y="43200"/>
                      <a:pt x="16263" y="43200"/>
                    </a:cubicBezTo>
                    <a:cubicBezTo>
                      <a:pt x="12523" y="43200"/>
                      <a:pt x="8848" y="42229"/>
                      <a:pt x="5596" y="40382"/>
                    </a:cubicBezTo>
                  </a:path>
                  <a:path w="37863" h="43200" stroke="0" extrusionOk="0">
                    <a:moveTo>
                      <a:pt x="0" y="7384"/>
                    </a:moveTo>
                    <a:cubicBezTo>
                      <a:pt x="4102" y="2691"/>
                      <a:pt x="10030" y="-1"/>
                      <a:pt x="16263" y="0"/>
                    </a:cubicBezTo>
                    <a:cubicBezTo>
                      <a:pt x="28192" y="0"/>
                      <a:pt x="37863" y="9670"/>
                      <a:pt x="37863" y="21600"/>
                    </a:cubicBezTo>
                    <a:cubicBezTo>
                      <a:pt x="37863" y="33529"/>
                      <a:pt x="28192" y="43200"/>
                      <a:pt x="16263" y="43200"/>
                    </a:cubicBezTo>
                    <a:cubicBezTo>
                      <a:pt x="12523" y="43200"/>
                      <a:pt x="8848" y="42229"/>
                      <a:pt x="5596" y="40382"/>
                    </a:cubicBezTo>
                    <a:lnTo>
                      <a:pt x="16263" y="21600"/>
                    </a:lnTo>
                    <a:lnTo>
                      <a:pt x="0" y="7384"/>
                    </a:lnTo>
                    <a:close/>
                  </a:path>
                </a:pathLst>
              </a:custGeom>
              <a:noFill/>
              <a:ln w="28575">
                <a:solidFill>
                  <a:schemeClr val="tx1"/>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03" name="Oval 17">
                <a:extLst>
                  <a:ext uri="{FF2B5EF4-FFF2-40B4-BE49-F238E27FC236}">
                    <a16:creationId xmlns:a16="http://schemas.microsoft.com/office/drawing/2014/main" id="{581FC2D7-AB9A-49E9-B0A8-4755FB151E80}"/>
                  </a:ext>
                </a:extLst>
              </p:cNvPr>
              <p:cNvSpPr>
                <a:spLocks noChangeArrowheads="1"/>
              </p:cNvSpPr>
              <p:nvPr/>
            </p:nvSpPr>
            <p:spPr bwMode="auto">
              <a:xfrm>
                <a:off x="793" y="1493"/>
                <a:ext cx="417" cy="417"/>
              </a:xfrm>
              <a:prstGeom prst="ellipse">
                <a:avLst/>
              </a:prstGeom>
              <a:solidFill>
                <a:schemeClr val="accent1">
                  <a:lumMod val="40000"/>
                  <a:lumOff val="60000"/>
                </a:schemeClr>
              </a:solidFill>
              <a:ln w="25400">
                <a:solidFill>
                  <a:schemeClr val="tx1"/>
                </a:solidFill>
                <a:round/>
                <a:headEnd/>
                <a:tailEnd/>
              </a:ln>
            </p:spPr>
            <p:txBody>
              <a:bodyPr wrap="none" anchor="ctr"/>
              <a:lstStyle/>
              <a:p>
                <a:pPr algn="ctr" eaLnBrk="1" hangingPunct="1">
                  <a:defRPr/>
                </a:pPr>
                <a:r>
                  <a:rPr lang="en-US" sz="2000" dirty="0">
                    <a:latin typeface="Arial" charset="0"/>
                    <a:cs typeface="Arial" charset="0"/>
                  </a:rPr>
                  <a:t>S</a:t>
                </a:r>
                <a:r>
                  <a:rPr lang="en-US" sz="2000" baseline="-25000" dirty="0">
                    <a:latin typeface="Arial" charset="0"/>
                    <a:cs typeface="Arial" charset="0"/>
                  </a:rPr>
                  <a:t>0</a:t>
                </a:r>
                <a:endParaRPr lang="ru-RU" sz="2000" dirty="0">
                  <a:latin typeface="Arial" charset="0"/>
                  <a:cs typeface="Arial" charset="0"/>
                </a:endParaRPr>
              </a:p>
            </p:txBody>
          </p:sp>
          <p:sp>
            <p:nvSpPr>
              <p:cNvPr id="16404" name="Oval 18">
                <a:extLst>
                  <a:ext uri="{FF2B5EF4-FFF2-40B4-BE49-F238E27FC236}">
                    <a16:creationId xmlns:a16="http://schemas.microsoft.com/office/drawing/2014/main" id="{40121496-FDC5-4926-AF69-4B3C56DD6E03}"/>
                  </a:ext>
                </a:extLst>
              </p:cNvPr>
              <p:cNvSpPr>
                <a:spLocks noChangeArrowheads="1"/>
              </p:cNvSpPr>
              <p:nvPr/>
            </p:nvSpPr>
            <p:spPr bwMode="auto">
              <a:xfrm>
                <a:off x="1909" y="1493"/>
                <a:ext cx="417" cy="417"/>
              </a:xfrm>
              <a:prstGeom prst="ellipse">
                <a:avLst/>
              </a:prstGeom>
              <a:solidFill>
                <a:schemeClr val="accent1">
                  <a:lumMod val="40000"/>
                  <a:lumOff val="60000"/>
                </a:schemeClr>
              </a:solidFill>
              <a:ln w="25400">
                <a:solidFill>
                  <a:schemeClr val="tx1"/>
                </a:solidFill>
                <a:round/>
                <a:headEnd/>
                <a:tailEnd/>
              </a:ln>
            </p:spPr>
            <p:txBody>
              <a:bodyPr wrap="none" anchor="ctr"/>
              <a:lstStyle/>
              <a:p>
                <a:pPr algn="ctr" eaLnBrk="1" hangingPunct="1">
                  <a:defRPr/>
                </a:pPr>
                <a:r>
                  <a:rPr lang="en-US" sz="2000">
                    <a:latin typeface="Arial" charset="0"/>
                    <a:cs typeface="Arial" charset="0"/>
                  </a:rPr>
                  <a:t>S</a:t>
                </a:r>
                <a:r>
                  <a:rPr lang="en-US" sz="2000" baseline="-25000">
                    <a:latin typeface="Arial" charset="0"/>
                    <a:cs typeface="Arial" charset="0"/>
                  </a:rPr>
                  <a:t>1</a:t>
                </a:r>
                <a:endParaRPr lang="ru-RU" sz="2000">
                  <a:latin typeface="Arial" charset="0"/>
                  <a:cs typeface="Arial" charset="0"/>
                </a:endParaRPr>
              </a:p>
            </p:txBody>
          </p:sp>
          <p:sp>
            <p:nvSpPr>
              <p:cNvPr id="16405" name="Oval 19">
                <a:extLst>
                  <a:ext uri="{FF2B5EF4-FFF2-40B4-BE49-F238E27FC236}">
                    <a16:creationId xmlns:a16="http://schemas.microsoft.com/office/drawing/2014/main" id="{95748B4D-8C81-426F-87BA-CEB0AEC1B45A}"/>
                  </a:ext>
                </a:extLst>
              </p:cNvPr>
              <p:cNvSpPr>
                <a:spLocks noChangeArrowheads="1"/>
              </p:cNvSpPr>
              <p:nvPr/>
            </p:nvSpPr>
            <p:spPr bwMode="auto">
              <a:xfrm>
                <a:off x="2988" y="1466"/>
                <a:ext cx="417" cy="417"/>
              </a:xfrm>
              <a:prstGeom prst="ellipse">
                <a:avLst/>
              </a:prstGeom>
              <a:solidFill>
                <a:schemeClr val="accent1">
                  <a:lumMod val="40000"/>
                  <a:lumOff val="60000"/>
                </a:schemeClr>
              </a:solidFill>
              <a:ln w="25400">
                <a:solidFill>
                  <a:schemeClr val="tx1"/>
                </a:solidFill>
                <a:round/>
                <a:headEnd/>
                <a:tailEnd/>
              </a:ln>
            </p:spPr>
            <p:txBody>
              <a:bodyPr wrap="none" anchor="ctr"/>
              <a:lstStyle/>
              <a:p>
                <a:pPr algn="ctr" eaLnBrk="1" hangingPunct="1">
                  <a:defRPr/>
                </a:pPr>
                <a:r>
                  <a:rPr lang="en-US" sz="2000">
                    <a:latin typeface="Arial" charset="0"/>
                    <a:cs typeface="Arial" charset="0"/>
                  </a:rPr>
                  <a:t>S</a:t>
                </a:r>
                <a:r>
                  <a:rPr lang="en-US" sz="2000" baseline="-25000">
                    <a:latin typeface="Arial" charset="0"/>
                    <a:cs typeface="Arial" charset="0"/>
                  </a:rPr>
                  <a:t>2</a:t>
                </a:r>
                <a:endParaRPr lang="ru-RU" sz="2000">
                  <a:latin typeface="Arial" charset="0"/>
                  <a:cs typeface="Arial" charset="0"/>
                </a:endParaRPr>
              </a:p>
            </p:txBody>
          </p:sp>
          <p:sp>
            <p:nvSpPr>
              <p:cNvPr id="16406" name="Oval 20">
                <a:extLst>
                  <a:ext uri="{FF2B5EF4-FFF2-40B4-BE49-F238E27FC236}">
                    <a16:creationId xmlns:a16="http://schemas.microsoft.com/office/drawing/2014/main" id="{F9B70CC5-56CA-4A3D-A3B6-CC37FEBAEE43}"/>
                  </a:ext>
                </a:extLst>
              </p:cNvPr>
              <p:cNvSpPr>
                <a:spLocks noChangeArrowheads="1"/>
              </p:cNvSpPr>
              <p:nvPr/>
            </p:nvSpPr>
            <p:spPr bwMode="auto">
              <a:xfrm>
                <a:off x="4158" y="1475"/>
                <a:ext cx="417" cy="417"/>
              </a:xfrm>
              <a:prstGeom prst="ellipse">
                <a:avLst/>
              </a:prstGeom>
              <a:solidFill>
                <a:schemeClr val="accent1">
                  <a:lumMod val="40000"/>
                  <a:lumOff val="60000"/>
                </a:schemeClr>
              </a:solidFill>
              <a:ln w="25400">
                <a:solidFill>
                  <a:schemeClr val="tx1"/>
                </a:solidFill>
                <a:round/>
                <a:headEnd/>
                <a:tailEnd/>
              </a:ln>
            </p:spPr>
            <p:txBody>
              <a:bodyPr wrap="none" anchor="ctr"/>
              <a:lstStyle/>
              <a:p>
                <a:pPr algn="ctr" eaLnBrk="1" hangingPunct="1">
                  <a:defRPr/>
                </a:pPr>
                <a:r>
                  <a:rPr lang="en-US" sz="2000" dirty="0">
                    <a:latin typeface="Arial" charset="0"/>
                    <a:cs typeface="Arial" charset="0"/>
                  </a:rPr>
                  <a:t>S</a:t>
                </a:r>
                <a:r>
                  <a:rPr lang="ru-RU" sz="2000" baseline="-25000" dirty="0">
                    <a:latin typeface="Arial" charset="0"/>
                    <a:cs typeface="Arial" charset="0"/>
                  </a:rPr>
                  <a:t>3</a:t>
                </a:r>
                <a:endParaRPr lang="ru-RU" sz="2000" dirty="0">
                  <a:latin typeface="Arial" charset="0"/>
                  <a:cs typeface="Arial" charset="0"/>
                </a:endParaRPr>
              </a:p>
            </p:txBody>
          </p:sp>
          <p:sp>
            <p:nvSpPr>
              <p:cNvPr id="27671" name="Arc 21">
                <a:extLst>
                  <a:ext uri="{FF2B5EF4-FFF2-40B4-BE49-F238E27FC236}">
                    <a16:creationId xmlns:a16="http://schemas.microsoft.com/office/drawing/2014/main" id="{8D3DD600-6A7D-F4FF-5570-F40DBFC3DD97}"/>
                  </a:ext>
                </a:extLst>
              </p:cNvPr>
              <p:cNvSpPr>
                <a:spLocks/>
              </p:cNvSpPr>
              <p:nvPr/>
            </p:nvSpPr>
            <p:spPr bwMode="auto">
              <a:xfrm rot="-3130825">
                <a:off x="2066" y="94"/>
                <a:ext cx="2161" cy="3827"/>
              </a:xfrm>
              <a:custGeom>
                <a:avLst/>
                <a:gdLst>
                  <a:gd name="T0" fmla="*/ 0 w 20206"/>
                  <a:gd name="T1" fmla="*/ 0 h 21502"/>
                  <a:gd name="T2" fmla="*/ 0 w 20206"/>
                  <a:gd name="T3" fmla="*/ 0 h 21502"/>
                  <a:gd name="T4" fmla="*/ 0 w 20206"/>
                  <a:gd name="T5" fmla="*/ 0 h 21502"/>
                  <a:gd name="T6" fmla="*/ 0 60000 65536"/>
                  <a:gd name="T7" fmla="*/ 0 60000 65536"/>
                  <a:gd name="T8" fmla="*/ 0 60000 65536"/>
                  <a:gd name="T9" fmla="*/ 0 w 20206"/>
                  <a:gd name="T10" fmla="*/ 0 h 21502"/>
                  <a:gd name="T11" fmla="*/ 20206 w 20206"/>
                  <a:gd name="T12" fmla="*/ 21502 h 21502"/>
                </a:gdLst>
                <a:ahLst/>
                <a:cxnLst>
                  <a:cxn ang="T6">
                    <a:pos x="T0" y="T1"/>
                  </a:cxn>
                  <a:cxn ang="T7">
                    <a:pos x="T2" y="T3"/>
                  </a:cxn>
                  <a:cxn ang="T8">
                    <a:pos x="T4" y="T5"/>
                  </a:cxn>
                </a:cxnLst>
                <a:rect l="T9" t="T10" r="T11" b="T12"/>
                <a:pathLst>
                  <a:path w="20206" h="21502" fill="none" extrusionOk="0">
                    <a:moveTo>
                      <a:pt x="2057" y="0"/>
                    </a:moveTo>
                    <a:cubicBezTo>
                      <a:pt x="10256" y="784"/>
                      <a:pt x="17295" y="6163"/>
                      <a:pt x="20205" y="13868"/>
                    </a:cubicBezTo>
                  </a:path>
                  <a:path w="20206" h="21502" stroke="0" extrusionOk="0">
                    <a:moveTo>
                      <a:pt x="2057" y="0"/>
                    </a:moveTo>
                    <a:cubicBezTo>
                      <a:pt x="10256" y="784"/>
                      <a:pt x="17295" y="6163"/>
                      <a:pt x="20205" y="13868"/>
                    </a:cubicBezTo>
                    <a:lnTo>
                      <a:pt x="0" y="21502"/>
                    </a:lnTo>
                    <a:lnTo>
                      <a:pt x="2057" y="0"/>
                    </a:lnTo>
                    <a:close/>
                  </a:path>
                </a:pathLst>
              </a:custGeom>
              <a:noFill/>
              <a:ln w="28575">
                <a:solidFill>
                  <a:schemeClr val="tx1"/>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672" name="Arc 22">
                <a:extLst>
                  <a:ext uri="{FF2B5EF4-FFF2-40B4-BE49-F238E27FC236}">
                    <a16:creationId xmlns:a16="http://schemas.microsoft.com/office/drawing/2014/main" id="{19881F16-16B2-6B35-9C00-75315B21D6B9}"/>
                  </a:ext>
                </a:extLst>
              </p:cNvPr>
              <p:cNvSpPr>
                <a:spLocks/>
              </p:cNvSpPr>
              <p:nvPr/>
            </p:nvSpPr>
            <p:spPr bwMode="auto">
              <a:xfrm rot="726295" flipV="1">
                <a:off x="1174" y="1528"/>
                <a:ext cx="825" cy="401"/>
              </a:xfrm>
              <a:custGeom>
                <a:avLst/>
                <a:gdLst>
                  <a:gd name="T0" fmla="*/ 0 w 21362"/>
                  <a:gd name="T1" fmla="*/ 0 h 21600"/>
                  <a:gd name="T2" fmla="*/ 0 w 21362"/>
                  <a:gd name="T3" fmla="*/ 0 h 21600"/>
                  <a:gd name="T4" fmla="*/ 0 w 21362"/>
                  <a:gd name="T5" fmla="*/ 0 h 21600"/>
                  <a:gd name="T6" fmla="*/ 0 60000 65536"/>
                  <a:gd name="T7" fmla="*/ 0 60000 65536"/>
                  <a:gd name="T8" fmla="*/ 0 60000 65536"/>
                  <a:gd name="T9" fmla="*/ 0 w 21362"/>
                  <a:gd name="T10" fmla="*/ 0 h 21600"/>
                  <a:gd name="T11" fmla="*/ 21362 w 21362"/>
                  <a:gd name="T12" fmla="*/ 21600 h 21600"/>
                </a:gdLst>
                <a:ahLst/>
                <a:cxnLst>
                  <a:cxn ang="T6">
                    <a:pos x="T0" y="T1"/>
                  </a:cxn>
                  <a:cxn ang="T7">
                    <a:pos x="T2" y="T3"/>
                  </a:cxn>
                  <a:cxn ang="T8">
                    <a:pos x="T4" y="T5"/>
                  </a:cxn>
                </a:cxnLst>
                <a:rect l="T9" t="T10" r="T11" b="T12"/>
                <a:pathLst>
                  <a:path w="21362" h="21600" fill="none" extrusionOk="0">
                    <a:moveTo>
                      <a:pt x="0" y="485"/>
                    </a:moveTo>
                    <a:cubicBezTo>
                      <a:pt x="1495" y="162"/>
                      <a:pt x="3021" y="-1"/>
                      <a:pt x="4552" y="0"/>
                    </a:cubicBezTo>
                    <a:cubicBezTo>
                      <a:pt x="11081" y="0"/>
                      <a:pt x="17261" y="2954"/>
                      <a:pt x="21362" y="8035"/>
                    </a:cubicBezTo>
                  </a:path>
                  <a:path w="21362" h="21600" stroke="0" extrusionOk="0">
                    <a:moveTo>
                      <a:pt x="0" y="485"/>
                    </a:moveTo>
                    <a:cubicBezTo>
                      <a:pt x="1495" y="162"/>
                      <a:pt x="3021" y="-1"/>
                      <a:pt x="4552" y="0"/>
                    </a:cubicBezTo>
                    <a:cubicBezTo>
                      <a:pt x="11081" y="0"/>
                      <a:pt x="17261" y="2954"/>
                      <a:pt x="21362" y="8035"/>
                    </a:cubicBezTo>
                    <a:lnTo>
                      <a:pt x="4552" y="21600"/>
                    </a:lnTo>
                    <a:lnTo>
                      <a:pt x="0" y="485"/>
                    </a:lnTo>
                    <a:close/>
                  </a:path>
                </a:pathLst>
              </a:custGeom>
              <a:noFill/>
              <a:ln w="28575">
                <a:solidFill>
                  <a:schemeClr val="tx1"/>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673" name="Arc 23">
                <a:extLst>
                  <a:ext uri="{FF2B5EF4-FFF2-40B4-BE49-F238E27FC236}">
                    <a16:creationId xmlns:a16="http://schemas.microsoft.com/office/drawing/2014/main" id="{464EF127-ADD3-0925-91C3-1E23AC68101B}"/>
                  </a:ext>
                </a:extLst>
              </p:cNvPr>
              <p:cNvSpPr>
                <a:spLocks/>
              </p:cNvSpPr>
              <p:nvPr/>
            </p:nvSpPr>
            <p:spPr bwMode="auto">
              <a:xfrm rot="12475226" flipH="1">
                <a:off x="1179" y="1304"/>
                <a:ext cx="1860" cy="1169"/>
              </a:xfrm>
              <a:custGeom>
                <a:avLst/>
                <a:gdLst>
                  <a:gd name="T0" fmla="*/ 0 w 28856"/>
                  <a:gd name="T1" fmla="*/ 0 h 21600"/>
                  <a:gd name="T2" fmla="*/ 0 w 28856"/>
                  <a:gd name="T3" fmla="*/ 0 h 21600"/>
                  <a:gd name="T4" fmla="*/ 0 w 28856"/>
                  <a:gd name="T5" fmla="*/ 0 h 21600"/>
                  <a:gd name="T6" fmla="*/ 0 60000 65536"/>
                  <a:gd name="T7" fmla="*/ 0 60000 65536"/>
                  <a:gd name="T8" fmla="*/ 0 60000 65536"/>
                  <a:gd name="T9" fmla="*/ 0 w 28856"/>
                  <a:gd name="T10" fmla="*/ 0 h 21600"/>
                  <a:gd name="T11" fmla="*/ 28856 w 28856"/>
                  <a:gd name="T12" fmla="*/ 21600 h 21600"/>
                </a:gdLst>
                <a:ahLst/>
                <a:cxnLst>
                  <a:cxn ang="T6">
                    <a:pos x="T0" y="T1"/>
                  </a:cxn>
                  <a:cxn ang="T7">
                    <a:pos x="T2" y="T3"/>
                  </a:cxn>
                  <a:cxn ang="T8">
                    <a:pos x="T4" y="T5"/>
                  </a:cxn>
                </a:cxnLst>
                <a:rect l="T9" t="T10" r="T11" b="T12"/>
                <a:pathLst>
                  <a:path w="28856" h="21600" fill="none" extrusionOk="0">
                    <a:moveTo>
                      <a:pt x="-1" y="1272"/>
                    </a:moveTo>
                    <a:cubicBezTo>
                      <a:pt x="2343" y="430"/>
                      <a:pt x="4814" y="-1"/>
                      <a:pt x="7305" y="0"/>
                    </a:cubicBezTo>
                    <a:cubicBezTo>
                      <a:pt x="18671" y="0"/>
                      <a:pt x="28092" y="8808"/>
                      <a:pt x="28856" y="20148"/>
                    </a:cubicBezTo>
                  </a:path>
                  <a:path w="28856" h="21600" stroke="0" extrusionOk="0">
                    <a:moveTo>
                      <a:pt x="-1" y="1272"/>
                    </a:moveTo>
                    <a:cubicBezTo>
                      <a:pt x="2343" y="430"/>
                      <a:pt x="4814" y="-1"/>
                      <a:pt x="7305" y="0"/>
                    </a:cubicBezTo>
                    <a:cubicBezTo>
                      <a:pt x="18671" y="0"/>
                      <a:pt x="28092" y="8808"/>
                      <a:pt x="28856" y="20148"/>
                    </a:cubicBezTo>
                    <a:lnTo>
                      <a:pt x="7305" y="21600"/>
                    </a:lnTo>
                    <a:lnTo>
                      <a:pt x="-1" y="1272"/>
                    </a:lnTo>
                    <a:close/>
                  </a:path>
                </a:pathLst>
              </a:custGeom>
              <a:noFill/>
              <a:ln w="28575">
                <a:solidFill>
                  <a:schemeClr val="tx1"/>
                </a:solidFill>
                <a:round/>
                <a:headEnd type="triangle" w="lg" len="lg"/>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4" name="Title 3">
            <a:extLst>
              <a:ext uri="{FF2B5EF4-FFF2-40B4-BE49-F238E27FC236}">
                <a16:creationId xmlns:a16="http://schemas.microsoft.com/office/drawing/2014/main" id="{BE1157AD-3D0F-F803-77B8-E99579807F0A}"/>
              </a:ext>
            </a:extLst>
          </p:cNvPr>
          <p:cNvSpPr>
            <a:spLocks noGrp="1"/>
          </p:cNvSpPr>
          <p:nvPr>
            <p:ph type="title"/>
          </p:nvPr>
        </p:nvSpPr>
        <p:spPr/>
        <p:txBody>
          <a:bodyPr/>
          <a:lstStyle/>
          <a:p>
            <a:r>
              <a:rPr lang="en-US" dirty="0"/>
              <a:t>Example</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2BA5AB0-8C77-A354-8E3D-9C9CF2D47749}"/>
              </a:ext>
            </a:extLst>
          </p:cNvPr>
          <p:cNvSpPr>
            <a:spLocks noGrp="1"/>
          </p:cNvSpPr>
          <p:nvPr>
            <p:ph type="body" sz="quarter" idx="10"/>
          </p:nvPr>
        </p:nvSpPr>
        <p:spPr/>
        <p:txBody>
          <a:bodyPr/>
          <a:lstStyle/>
          <a:p>
            <a:r>
              <a:rPr lang="en-US" dirty="0"/>
              <a:t>Develop state diagram of linear (sequential) adder.</a:t>
            </a:r>
          </a:p>
          <a:p>
            <a:r>
              <a:rPr lang="en-US" dirty="0"/>
              <a:t>The same bits of consecutive augends A and addend B </a:t>
            </a:r>
          </a:p>
          <a:p>
            <a:r>
              <a:rPr lang="en-US" dirty="0"/>
              <a:t>come to the input FSM serially: first, for example ai, then bi. </a:t>
            </a:r>
          </a:p>
          <a:p>
            <a:r>
              <a:rPr lang="en-US" dirty="0"/>
              <a:t>Input sequence: a0 b0 a1b1…ai bi …</a:t>
            </a:r>
            <a:r>
              <a:rPr lang="en-US" dirty="0" err="1"/>
              <a:t>anbn</a:t>
            </a:r>
            <a:endParaRPr lang="en-US" dirty="0"/>
          </a:p>
          <a:p>
            <a:r>
              <a:rPr lang="en-US" dirty="0"/>
              <a:t>Output sequence: - c0 – c1 – c2 - … - </a:t>
            </a:r>
            <a:r>
              <a:rPr lang="en-US" dirty="0" err="1"/>
              <a:t>cn</a:t>
            </a:r>
            <a:r>
              <a:rPr lang="en-US" dirty="0"/>
              <a:t> </a:t>
            </a:r>
          </a:p>
          <a:p>
            <a:r>
              <a:rPr lang="en-US" dirty="0"/>
              <a:t>“-” means that output don’t care</a:t>
            </a:r>
          </a:p>
          <a:p>
            <a:endParaRPr lang="en-US" dirty="0"/>
          </a:p>
        </p:txBody>
      </p:sp>
      <p:grpSp>
        <p:nvGrpSpPr>
          <p:cNvPr id="29699" name="Group 27">
            <a:extLst>
              <a:ext uri="{FF2B5EF4-FFF2-40B4-BE49-F238E27FC236}">
                <a16:creationId xmlns:a16="http://schemas.microsoft.com/office/drawing/2014/main" id="{0E76E1D5-3678-2C2C-6323-F062F184E9E9}"/>
              </a:ext>
            </a:extLst>
          </p:cNvPr>
          <p:cNvGrpSpPr>
            <a:grpSpLocks/>
          </p:cNvGrpSpPr>
          <p:nvPr/>
        </p:nvGrpSpPr>
        <p:grpSpPr bwMode="auto">
          <a:xfrm>
            <a:off x="2274888" y="4460968"/>
            <a:ext cx="6994525" cy="1539875"/>
            <a:chOff x="384" y="2460"/>
            <a:chExt cx="4406" cy="970"/>
          </a:xfrm>
        </p:grpSpPr>
        <p:sp>
          <p:nvSpPr>
            <p:cNvPr id="29702" name="Oval 4">
              <a:extLst>
                <a:ext uri="{FF2B5EF4-FFF2-40B4-BE49-F238E27FC236}">
                  <a16:creationId xmlns:a16="http://schemas.microsoft.com/office/drawing/2014/main" id="{CFC1126D-BEFD-6509-965B-3015D835889C}"/>
                </a:ext>
              </a:extLst>
            </p:cNvPr>
            <p:cNvSpPr>
              <a:spLocks noChangeArrowheads="1"/>
            </p:cNvSpPr>
            <p:nvPr/>
          </p:nvSpPr>
          <p:spPr bwMode="auto">
            <a:xfrm>
              <a:off x="384" y="2618"/>
              <a:ext cx="380" cy="384"/>
            </a:xfrm>
            <a:prstGeom prst="ellipse">
              <a:avLst/>
            </a:prstGeom>
            <a:solidFill>
              <a:schemeClr val="accent1"/>
            </a:solidFill>
            <a:ln w="3492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solidFill>
                    <a:schemeClr val="bg1"/>
                  </a:solidFill>
                </a:rPr>
                <a:t>S</a:t>
              </a:r>
              <a:r>
                <a:rPr lang="en-US" altLang="en-US" sz="1800" baseline="-25000">
                  <a:solidFill>
                    <a:schemeClr val="bg1"/>
                  </a:solidFill>
                </a:rPr>
                <a:t>1</a:t>
              </a:r>
              <a:endParaRPr lang="en-US" altLang="en-US" sz="1800">
                <a:solidFill>
                  <a:schemeClr val="bg1"/>
                </a:solidFill>
              </a:endParaRPr>
            </a:p>
            <a:p>
              <a:endParaRPr lang="en-US" altLang="en-US" sz="1800">
                <a:solidFill>
                  <a:schemeClr val="bg1"/>
                </a:solidFill>
              </a:endParaRPr>
            </a:p>
          </p:txBody>
        </p:sp>
        <p:sp>
          <p:nvSpPr>
            <p:cNvPr id="29703" name="Oval 5">
              <a:extLst>
                <a:ext uri="{FF2B5EF4-FFF2-40B4-BE49-F238E27FC236}">
                  <a16:creationId xmlns:a16="http://schemas.microsoft.com/office/drawing/2014/main" id="{4D289DBE-B8C4-C4CB-938F-7F3C60DB7836}"/>
                </a:ext>
              </a:extLst>
            </p:cNvPr>
            <p:cNvSpPr>
              <a:spLocks noChangeArrowheads="1"/>
            </p:cNvSpPr>
            <p:nvPr/>
          </p:nvSpPr>
          <p:spPr bwMode="auto">
            <a:xfrm>
              <a:off x="1351" y="2614"/>
              <a:ext cx="393" cy="384"/>
            </a:xfrm>
            <a:prstGeom prst="ellipse">
              <a:avLst/>
            </a:prstGeom>
            <a:solidFill>
              <a:schemeClr val="accent1"/>
            </a:solidFill>
            <a:ln w="3492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solidFill>
                    <a:schemeClr val="bg1"/>
                  </a:solidFill>
                </a:rPr>
                <a:t>S</a:t>
              </a:r>
              <a:r>
                <a:rPr lang="en-US" altLang="en-US" sz="1800" baseline="-25000">
                  <a:solidFill>
                    <a:schemeClr val="bg1"/>
                  </a:solidFill>
                </a:rPr>
                <a:t>0</a:t>
              </a:r>
              <a:endParaRPr lang="en-US" altLang="en-US" sz="1800">
                <a:solidFill>
                  <a:schemeClr val="bg1"/>
                </a:solidFill>
              </a:endParaRPr>
            </a:p>
            <a:p>
              <a:endParaRPr lang="en-US" altLang="en-US" sz="1800">
                <a:solidFill>
                  <a:schemeClr val="bg1"/>
                </a:solidFill>
              </a:endParaRPr>
            </a:p>
          </p:txBody>
        </p:sp>
        <p:sp>
          <p:nvSpPr>
            <p:cNvPr id="29704" name="Oval 6">
              <a:extLst>
                <a:ext uri="{FF2B5EF4-FFF2-40B4-BE49-F238E27FC236}">
                  <a16:creationId xmlns:a16="http://schemas.microsoft.com/office/drawing/2014/main" id="{53E92468-31CD-16C4-7D35-A8E46F5C2B2E}"/>
                </a:ext>
              </a:extLst>
            </p:cNvPr>
            <p:cNvSpPr>
              <a:spLocks noChangeArrowheads="1"/>
            </p:cNvSpPr>
            <p:nvPr/>
          </p:nvSpPr>
          <p:spPr bwMode="auto">
            <a:xfrm>
              <a:off x="2337" y="2614"/>
              <a:ext cx="402" cy="384"/>
            </a:xfrm>
            <a:prstGeom prst="ellipse">
              <a:avLst/>
            </a:prstGeom>
            <a:solidFill>
              <a:schemeClr val="accent1"/>
            </a:solidFill>
            <a:ln w="3492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solidFill>
                    <a:schemeClr val="bg1"/>
                  </a:solidFill>
                </a:rPr>
                <a:t>S</a:t>
              </a:r>
              <a:r>
                <a:rPr lang="en-US" altLang="en-US" sz="1800" baseline="-25000">
                  <a:solidFill>
                    <a:schemeClr val="bg1"/>
                  </a:solidFill>
                </a:rPr>
                <a:t>2</a:t>
              </a:r>
            </a:p>
            <a:p>
              <a:endParaRPr lang="en-US" altLang="en-US" sz="1800">
                <a:solidFill>
                  <a:schemeClr val="bg1"/>
                </a:solidFill>
              </a:endParaRPr>
            </a:p>
          </p:txBody>
        </p:sp>
        <p:sp>
          <p:nvSpPr>
            <p:cNvPr id="29705" name="Oval 7">
              <a:extLst>
                <a:ext uri="{FF2B5EF4-FFF2-40B4-BE49-F238E27FC236}">
                  <a16:creationId xmlns:a16="http://schemas.microsoft.com/office/drawing/2014/main" id="{C288FE2F-B7DE-ED80-4F82-196153D235BE}"/>
                </a:ext>
              </a:extLst>
            </p:cNvPr>
            <p:cNvSpPr>
              <a:spLocks noChangeArrowheads="1"/>
            </p:cNvSpPr>
            <p:nvPr/>
          </p:nvSpPr>
          <p:spPr bwMode="auto">
            <a:xfrm>
              <a:off x="3402" y="2614"/>
              <a:ext cx="383" cy="384"/>
            </a:xfrm>
            <a:prstGeom prst="ellipse">
              <a:avLst/>
            </a:prstGeom>
            <a:solidFill>
              <a:schemeClr val="accent1"/>
            </a:solidFill>
            <a:ln w="3492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solidFill>
                    <a:schemeClr val="bg1"/>
                  </a:solidFill>
                </a:rPr>
                <a:t>S</a:t>
              </a:r>
              <a:r>
                <a:rPr lang="en-US" altLang="en-US" sz="1800" baseline="-25000">
                  <a:solidFill>
                    <a:schemeClr val="bg1"/>
                  </a:solidFill>
                </a:rPr>
                <a:t>3</a:t>
              </a:r>
              <a:endParaRPr lang="en-US" altLang="en-US" sz="1800">
                <a:solidFill>
                  <a:schemeClr val="bg1"/>
                </a:solidFill>
              </a:endParaRPr>
            </a:p>
            <a:p>
              <a:endParaRPr lang="en-US" altLang="en-US" sz="1800">
                <a:solidFill>
                  <a:schemeClr val="bg1"/>
                </a:solidFill>
              </a:endParaRPr>
            </a:p>
          </p:txBody>
        </p:sp>
        <p:sp>
          <p:nvSpPr>
            <p:cNvPr id="29706" name="Oval 8">
              <a:extLst>
                <a:ext uri="{FF2B5EF4-FFF2-40B4-BE49-F238E27FC236}">
                  <a16:creationId xmlns:a16="http://schemas.microsoft.com/office/drawing/2014/main" id="{61B3EA89-271C-CEEF-D37B-92E15E36DBAE}"/>
                </a:ext>
              </a:extLst>
            </p:cNvPr>
            <p:cNvSpPr>
              <a:spLocks noChangeArrowheads="1"/>
            </p:cNvSpPr>
            <p:nvPr/>
          </p:nvSpPr>
          <p:spPr bwMode="auto">
            <a:xfrm>
              <a:off x="4398" y="2614"/>
              <a:ext cx="392" cy="384"/>
            </a:xfrm>
            <a:prstGeom prst="ellipse">
              <a:avLst/>
            </a:prstGeom>
            <a:solidFill>
              <a:schemeClr val="accent1"/>
            </a:solidFill>
            <a:ln w="3492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solidFill>
                    <a:schemeClr val="bg1"/>
                  </a:solidFill>
                </a:rPr>
                <a:t>S</a:t>
              </a:r>
              <a:r>
                <a:rPr lang="en-US" altLang="en-US" sz="1800" baseline="-25000">
                  <a:solidFill>
                    <a:schemeClr val="bg1"/>
                  </a:solidFill>
                </a:rPr>
                <a:t>4</a:t>
              </a:r>
              <a:endParaRPr lang="en-US" altLang="en-US" sz="1800">
                <a:solidFill>
                  <a:schemeClr val="bg1"/>
                </a:solidFill>
              </a:endParaRPr>
            </a:p>
            <a:p>
              <a:endParaRPr lang="en-US" altLang="en-US" sz="1800">
                <a:solidFill>
                  <a:schemeClr val="bg1"/>
                </a:solidFill>
              </a:endParaRPr>
            </a:p>
          </p:txBody>
        </p:sp>
        <p:sp>
          <p:nvSpPr>
            <p:cNvPr id="29707" name="Line 9">
              <a:extLst>
                <a:ext uri="{FF2B5EF4-FFF2-40B4-BE49-F238E27FC236}">
                  <a16:creationId xmlns:a16="http://schemas.microsoft.com/office/drawing/2014/main" id="{0B1AC7EE-2BA7-B2F0-0C66-7B29616DAB7E}"/>
                </a:ext>
              </a:extLst>
            </p:cNvPr>
            <p:cNvSpPr>
              <a:spLocks noChangeShapeType="1"/>
            </p:cNvSpPr>
            <p:nvPr/>
          </p:nvSpPr>
          <p:spPr bwMode="auto">
            <a:xfrm>
              <a:off x="724" y="2902"/>
              <a:ext cx="653" cy="0"/>
            </a:xfrm>
            <a:prstGeom prst="line">
              <a:avLst/>
            </a:prstGeom>
            <a:noFill/>
            <a:ln w="349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08" name="Line 10">
              <a:extLst>
                <a:ext uri="{FF2B5EF4-FFF2-40B4-BE49-F238E27FC236}">
                  <a16:creationId xmlns:a16="http://schemas.microsoft.com/office/drawing/2014/main" id="{D87F4650-DA1C-B118-6A0A-B98662F2E9F5}"/>
                </a:ext>
              </a:extLst>
            </p:cNvPr>
            <p:cNvSpPr>
              <a:spLocks noChangeShapeType="1"/>
            </p:cNvSpPr>
            <p:nvPr/>
          </p:nvSpPr>
          <p:spPr bwMode="auto">
            <a:xfrm flipH="1">
              <a:off x="724" y="2710"/>
              <a:ext cx="627" cy="0"/>
            </a:xfrm>
            <a:prstGeom prst="line">
              <a:avLst/>
            </a:prstGeom>
            <a:noFill/>
            <a:ln w="349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09" name="Line 11">
              <a:extLst>
                <a:ext uri="{FF2B5EF4-FFF2-40B4-BE49-F238E27FC236}">
                  <a16:creationId xmlns:a16="http://schemas.microsoft.com/office/drawing/2014/main" id="{A42A711F-23D4-4525-C962-8EF5D66FDA96}"/>
                </a:ext>
              </a:extLst>
            </p:cNvPr>
            <p:cNvSpPr>
              <a:spLocks noChangeShapeType="1"/>
            </p:cNvSpPr>
            <p:nvPr/>
          </p:nvSpPr>
          <p:spPr bwMode="auto">
            <a:xfrm>
              <a:off x="1710" y="2710"/>
              <a:ext cx="627" cy="0"/>
            </a:xfrm>
            <a:prstGeom prst="line">
              <a:avLst/>
            </a:prstGeom>
            <a:noFill/>
            <a:ln w="349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10" name="Line 12">
              <a:extLst>
                <a:ext uri="{FF2B5EF4-FFF2-40B4-BE49-F238E27FC236}">
                  <a16:creationId xmlns:a16="http://schemas.microsoft.com/office/drawing/2014/main" id="{3817B454-AECC-3B29-F3DA-95D149599DE0}"/>
                </a:ext>
              </a:extLst>
            </p:cNvPr>
            <p:cNvSpPr>
              <a:spLocks noChangeShapeType="1"/>
            </p:cNvSpPr>
            <p:nvPr/>
          </p:nvSpPr>
          <p:spPr bwMode="auto">
            <a:xfrm flipH="1">
              <a:off x="1710" y="2902"/>
              <a:ext cx="644" cy="0"/>
            </a:xfrm>
            <a:prstGeom prst="line">
              <a:avLst/>
            </a:prstGeom>
            <a:noFill/>
            <a:ln w="349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11" name="Line 13">
              <a:extLst>
                <a:ext uri="{FF2B5EF4-FFF2-40B4-BE49-F238E27FC236}">
                  <a16:creationId xmlns:a16="http://schemas.microsoft.com/office/drawing/2014/main" id="{7668F11A-1B87-A4C7-8B04-5FACC3138B5B}"/>
                </a:ext>
              </a:extLst>
            </p:cNvPr>
            <p:cNvSpPr>
              <a:spLocks noChangeShapeType="1"/>
            </p:cNvSpPr>
            <p:nvPr/>
          </p:nvSpPr>
          <p:spPr bwMode="auto">
            <a:xfrm>
              <a:off x="2695" y="2710"/>
              <a:ext cx="751" cy="0"/>
            </a:xfrm>
            <a:prstGeom prst="line">
              <a:avLst/>
            </a:prstGeom>
            <a:noFill/>
            <a:ln w="349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12" name="Line 14">
              <a:extLst>
                <a:ext uri="{FF2B5EF4-FFF2-40B4-BE49-F238E27FC236}">
                  <a16:creationId xmlns:a16="http://schemas.microsoft.com/office/drawing/2014/main" id="{46C87020-8CD7-DCCF-99FF-BC4C4F635241}"/>
                </a:ext>
              </a:extLst>
            </p:cNvPr>
            <p:cNvSpPr>
              <a:spLocks noChangeShapeType="1"/>
            </p:cNvSpPr>
            <p:nvPr/>
          </p:nvSpPr>
          <p:spPr bwMode="auto">
            <a:xfrm flipH="1">
              <a:off x="2695" y="2902"/>
              <a:ext cx="717" cy="0"/>
            </a:xfrm>
            <a:prstGeom prst="line">
              <a:avLst/>
            </a:prstGeom>
            <a:noFill/>
            <a:ln w="349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13" name="Line 15">
              <a:extLst>
                <a:ext uri="{FF2B5EF4-FFF2-40B4-BE49-F238E27FC236}">
                  <a16:creationId xmlns:a16="http://schemas.microsoft.com/office/drawing/2014/main" id="{8830C4C8-05FA-0C88-BB9D-D523545C0A89}"/>
                </a:ext>
              </a:extLst>
            </p:cNvPr>
            <p:cNvSpPr>
              <a:spLocks noChangeShapeType="1"/>
            </p:cNvSpPr>
            <p:nvPr/>
          </p:nvSpPr>
          <p:spPr bwMode="auto">
            <a:xfrm>
              <a:off x="3770" y="2710"/>
              <a:ext cx="645" cy="0"/>
            </a:xfrm>
            <a:prstGeom prst="line">
              <a:avLst/>
            </a:prstGeom>
            <a:noFill/>
            <a:ln w="349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14" name="Line 16">
              <a:extLst>
                <a:ext uri="{FF2B5EF4-FFF2-40B4-BE49-F238E27FC236}">
                  <a16:creationId xmlns:a16="http://schemas.microsoft.com/office/drawing/2014/main" id="{476C4DCA-DEB1-A7D1-9092-859118B61979}"/>
                </a:ext>
              </a:extLst>
            </p:cNvPr>
            <p:cNvSpPr>
              <a:spLocks noChangeShapeType="1"/>
            </p:cNvSpPr>
            <p:nvPr/>
          </p:nvSpPr>
          <p:spPr bwMode="auto">
            <a:xfrm flipH="1">
              <a:off x="3770" y="2902"/>
              <a:ext cx="628" cy="0"/>
            </a:xfrm>
            <a:prstGeom prst="line">
              <a:avLst/>
            </a:prstGeom>
            <a:noFill/>
            <a:ln w="349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15" name="Text Box 17">
              <a:extLst>
                <a:ext uri="{FF2B5EF4-FFF2-40B4-BE49-F238E27FC236}">
                  <a16:creationId xmlns:a16="http://schemas.microsoft.com/office/drawing/2014/main" id="{17E0FA65-6B47-27FB-5EDF-9A06B471BD1D}"/>
                </a:ext>
              </a:extLst>
            </p:cNvPr>
            <p:cNvSpPr txBox="1">
              <a:spLocks noChangeArrowheads="1"/>
            </p:cNvSpPr>
            <p:nvPr/>
          </p:nvSpPr>
          <p:spPr bwMode="auto">
            <a:xfrm>
              <a:off x="903" y="2460"/>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a:t>
              </a:r>
            </a:p>
          </p:txBody>
        </p:sp>
        <p:sp>
          <p:nvSpPr>
            <p:cNvPr id="29716" name="Text Box 18">
              <a:extLst>
                <a:ext uri="{FF2B5EF4-FFF2-40B4-BE49-F238E27FC236}">
                  <a16:creationId xmlns:a16="http://schemas.microsoft.com/office/drawing/2014/main" id="{5D485469-5A18-8CFC-C866-EFFBF88613F0}"/>
                </a:ext>
              </a:extLst>
            </p:cNvPr>
            <p:cNvSpPr txBox="1">
              <a:spLocks noChangeArrowheads="1"/>
            </p:cNvSpPr>
            <p:nvPr/>
          </p:nvSpPr>
          <p:spPr bwMode="auto">
            <a:xfrm>
              <a:off x="1827" y="2460"/>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29717" name="Text Box 19">
              <a:extLst>
                <a:ext uri="{FF2B5EF4-FFF2-40B4-BE49-F238E27FC236}">
                  <a16:creationId xmlns:a16="http://schemas.microsoft.com/office/drawing/2014/main" id="{FBEA02BB-7BEA-D8E2-0B18-62A2B5FBEDAF}"/>
                </a:ext>
              </a:extLst>
            </p:cNvPr>
            <p:cNvSpPr txBox="1">
              <a:spLocks noChangeArrowheads="1"/>
            </p:cNvSpPr>
            <p:nvPr/>
          </p:nvSpPr>
          <p:spPr bwMode="auto">
            <a:xfrm>
              <a:off x="882" y="2988"/>
              <a:ext cx="48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0/0</a:t>
              </a:r>
            </a:p>
            <a:p>
              <a:pPr eaLnBrk="1" hangingPunct="1"/>
              <a:r>
                <a:rPr lang="en-US" altLang="en-US" sz="2000"/>
                <a:t>1/1</a:t>
              </a:r>
            </a:p>
          </p:txBody>
        </p:sp>
        <p:sp>
          <p:nvSpPr>
            <p:cNvPr id="29718" name="Text Box 20">
              <a:extLst>
                <a:ext uri="{FF2B5EF4-FFF2-40B4-BE49-F238E27FC236}">
                  <a16:creationId xmlns:a16="http://schemas.microsoft.com/office/drawing/2014/main" id="{DB419C8C-523B-A400-1075-3C5AB9D27B63}"/>
                </a:ext>
              </a:extLst>
            </p:cNvPr>
            <p:cNvSpPr txBox="1">
              <a:spLocks noChangeArrowheads="1"/>
            </p:cNvSpPr>
            <p:nvPr/>
          </p:nvSpPr>
          <p:spPr bwMode="auto">
            <a:xfrm>
              <a:off x="1908" y="2979"/>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0/1</a:t>
              </a:r>
            </a:p>
          </p:txBody>
        </p:sp>
        <p:sp>
          <p:nvSpPr>
            <p:cNvPr id="29719" name="Text Box 21">
              <a:extLst>
                <a:ext uri="{FF2B5EF4-FFF2-40B4-BE49-F238E27FC236}">
                  <a16:creationId xmlns:a16="http://schemas.microsoft.com/office/drawing/2014/main" id="{AF5219BA-46C6-CED6-759C-782E559AFF0D}"/>
                </a:ext>
              </a:extLst>
            </p:cNvPr>
            <p:cNvSpPr txBox="1">
              <a:spLocks noChangeArrowheads="1"/>
            </p:cNvSpPr>
            <p:nvPr/>
          </p:nvSpPr>
          <p:spPr bwMode="auto">
            <a:xfrm>
              <a:off x="2873" y="2461"/>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p>
          </p:txBody>
        </p:sp>
        <p:sp>
          <p:nvSpPr>
            <p:cNvPr id="29720" name="Text Box 22">
              <a:extLst>
                <a:ext uri="{FF2B5EF4-FFF2-40B4-BE49-F238E27FC236}">
                  <a16:creationId xmlns:a16="http://schemas.microsoft.com/office/drawing/2014/main" id="{5C2C728F-46C2-AA66-26C8-4DA78A9CC25A}"/>
                </a:ext>
              </a:extLst>
            </p:cNvPr>
            <p:cNvSpPr txBox="1">
              <a:spLocks noChangeArrowheads="1"/>
            </p:cNvSpPr>
            <p:nvPr/>
          </p:nvSpPr>
          <p:spPr bwMode="auto">
            <a:xfrm>
              <a:off x="2877" y="2892"/>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a:t>
              </a:r>
            </a:p>
          </p:txBody>
        </p:sp>
        <p:sp>
          <p:nvSpPr>
            <p:cNvPr id="29721" name="Text Box 23">
              <a:extLst>
                <a:ext uri="{FF2B5EF4-FFF2-40B4-BE49-F238E27FC236}">
                  <a16:creationId xmlns:a16="http://schemas.microsoft.com/office/drawing/2014/main" id="{5C033559-2561-B231-4115-E969088C7236}"/>
                </a:ext>
              </a:extLst>
            </p:cNvPr>
            <p:cNvSpPr txBox="1">
              <a:spLocks noChangeArrowheads="1"/>
            </p:cNvSpPr>
            <p:nvPr/>
          </p:nvSpPr>
          <p:spPr bwMode="auto">
            <a:xfrm>
              <a:off x="3885" y="2460"/>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29722" name="Text Box 24">
              <a:extLst>
                <a:ext uri="{FF2B5EF4-FFF2-40B4-BE49-F238E27FC236}">
                  <a16:creationId xmlns:a16="http://schemas.microsoft.com/office/drawing/2014/main" id="{DB36F5DF-155A-80C1-9992-BE2B31658769}"/>
                </a:ext>
              </a:extLst>
            </p:cNvPr>
            <p:cNvSpPr txBox="1">
              <a:spLocks noChangeArrowheads="1"/>
            </p:cNvSpPr>
            <p:nvPr/>
          </p:nvSpPr>
          <p:spPr bwMode="auto">
            <a:xfrm>
              <a:off x="3910" y="2909"/>
              <a:ext cx="48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0/0</a:t>
              </a:r>
            </a:p>
            <a:p>
              <a:pPr eaLnBrk="1" hangingPunct="1"/>
              <a:r>
                <a:rPr lang="en-US" altLang="en-US" sz="2000"/>
                <a:t>1/1</a:t>
              </a:r>
            </a:p>
          </p:txBody>
        </p:sp>
      </p:grpSp>
      <p:sp>
        <p:nvSpPr>
          <p:cNvPr id="29700" name="Text Box 25">
            <a:extLst>
              <a:ext uri="{FF2B5EF4-FFF2-40B4-BE49-F238E27FC236}">
                <a16:creationId xmlns:a16="http://schemas.microsoft.com/office/drawing/2014/main" id="{F6E19497-2F3D-A0DA-2317-4FFD7A15B1A5}"/>
              </a:ext>
            </a:extLst>
          </p:cNvPr>
          <p:cNvSpPr txBox="1">
            <a:spLocks noChangeArrowheads="1"/>
          </p:cNvSpPr>
          <p:nvPr/>
        </p:nvSpPr>
        <p:spPr bwMode="auto">
          <a:xfrm>
            <a:off x="2320925" y="5911943"/>
            <a:ext cx="7550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a:t>X = {0,1};   Y = {0,1};    S = {S</a:t>
            </a:r>
            <a:r>
              <a:rPr lang="en-US" altLang="en-US" baseline="-25000"/>
              <a:t>0</a:t>
            </a:r>
            <a:r>
              <a:rPr lang="en-US" altLang="en-US"/>
              <a:t>,S</a:t>
            </a:r>
            <a:r>
              <a:rPr lang="en-US" altLang="en-US" baseline="-25000"/>
              <a:t>1</a:t>
            </a:r>
            <a:r>
              <a:rPr lang="en-US" altLang="en-US"/>
              <a:t>,S</a:t>
            </a:r>
            <a:r>
              <a:rPr lang="en-US" altLang="en-US" baseline="-25000"/>
              <a:t>2</a:t>
            </a:r>
            <a:r>
              <a:rPr lang="en-US" altLang="en-US"/>
              <a:t>,S</a:t>
            </a:r>
            <a:r>
              <a:rPr lang="en-US" altLang="en-US" baseline="-25000"/>
              <a:t>3</a:t>
            </a:r>
            <a:r>
              <a:rPr lang="en-US" altLang="en-US"/>
              <a:t>,S</a:t>
            </a:r>
            <a:r>
              <a:rPr lang="en-US" altLang="en-US" baseline="-25000"/>
              <a:t>4</a:t>
            </a:r>
            <a:r>
              <a:rPr lang="en-US" altLang="en-US"/>
              <a:t>}.</a:t>
            </a:r>
          </a:p>
        </p:txBody>
      </p:sp>
      <p:sp>
        <p:nvSpPr>
          <p:cNvPr id="4" name="Title 3">
            <a:extLst>
              <a:ext uri="{FF2B5EF4-FFF2-40B4-BE49-F238E27FC236}">
                <a16:creationId xmlns:a16="http://schemas.microsoft.com/office/drawing/2014/main" id="{AE6C3956-2282-1640-D074-D8D9455EA63A}"/>
              </a:ext>
            </a:extLst>
          </p:cNvPr>
          <p:cNvSpPr>
            <a:spLocks noGrp="1"/>
          </p:cNvSpPr>
          <p:nvPr>
            <p:ph type="title"/>
          </p:nvPr>
        </p:nvSpPr>
        <p:spPr/>
        <p:txBody>
          <a:bodyPr>
            <a:normAutofit/>
          </a:bodyPr>
          <a:lstStyle/>
          <a:p>
            <a:r>
              <a:rPr lang="en-US" dirty="0"/>
              <a:t>Example (2)</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Заголовок 1">
            <a:extLst>
              <a:ext uri="{FF2B5EF4-FFF2-40B4-BE49-F238E27FC236}">
                <a16:creationId xmlns:a16="http://schemas.microsoft.com/office/drawing/2014/main" id="{83C5D553-E200-18C0-BD63-E441FE30ABFC}"/>
              </a:ext>
            </a:extLst>
          </p:cNvPr>
          <p:cNvSpPr>
            <a:spLocks noGrp="1" noChangeArrowheads="1"/>
          </p:cNvSpPr>
          <p:nvPr>
            <p:ph type="title"/>
          </p:nvPr>
        </p:nvSpPr>
        <p:spPr>
          <a:xfrm>
            <a:off x="-1" y="183402"/>
            <a:ext cx="11612880" cy="704088"/>
          </a:xfrm>
        </p:spPr>
        <p:txBody>
          <a:bodyPr/>
          <a:lstStyle/>
          <a:p>
            <a:r>
              <a:rPr lang="en-US" altLang="en-US"/>
              <a:t>Extended Transition and Output Functions</a:t>
            </a:r>
            <a:endParaRPr lang="ru-RU" altLang="en-US"/>
          </a:p>
        </p:txBody>
      </p:sp>
      <p:sp>
        <p:nvSpPr>
          <p:cNvPr id="31747" name="Объект 2">
            <a:extLst>
              <a:ext uri="{FF2B5EF4-FFF2-40B4-BE49-F238E27FC236}">
                <a16:creationId xmlns:a16="http://schemas.microsoft.com/office/drawing/2014/main" id="{AD104B40-BC7D-30A3-31CE-81E46DFA1977}"/>
              </a:ext>
            </a:extLst>
          </p:cNvPr>
          <p:cNvSpPr>
            <a:spLocks noGrp="1" noChangeArrowheads="1"/>
          </p:cNvSpPr>
          <p:nvPr>
            <p:ph type="body" sz="quarter" idx="10"/>
          </p:nvPr>
        </p:nvSpPr>
        <p:spPr>
          <a:xfrm>
            <a:off x="457200" y="1188720"/>
            <a:ext cx="11277922" cy="5185186"/>
          </a:xfrm>
        </p:spPr>
        <p:txBody>
          <a:bodyPr/>
          <a:lstStyle/>
          <a:p>
            <a:r>
              <a:rPr lang="en-US" altLang="en-US"/>
              <a:t>Let  А={X,Y, S, s0, </a:t>
            </a:r>
            <a:r>
              <a:rPr lang="en-US" altLang="en-US">
                <a:sym typeface="Symbol" panose="05050102010706020507" pitchFamily="18" charset="2"/>
              </a:rPr>
              <a:t>, } – FSM</a:t>
            </a:r>
          </a:p>
          <a:p>
            <a:r>
              <a:rPr lang="en-US" altLang="en-US">
                <a:sym typeface="Symbol" panose="05050102010706020507" pitchFamily="18" charset="2"/>
              </a:rPr>
              <a:t>Let X</a:t>
            </a:r>
            <a:r>
              <a:rPr lang="en-US" altLang="en-US"/>
              <a:t> - the alphabet (finite set of symbols)</a:t>
            </a:r>
          </a:p>
          <a:p>
            <a:r>
              <a:rPr lang="en-US" altLang="en-US">
                <a:sym typeface="Symbol" panose="05050102010706020507" pitchFamily="18" charset="2"/>
              </a:rPr>
              <a:t>X* - chain of input symbols (input words) from X.  - empty chain. =xi,x2,.. xpX*</a:t>
            </a:r>
            <a:br>
              <a:rPr lang="en-US" altLang="en-US">
                <a:sym typeface="Symbol" panose="05050102010706020507" pitchFamily="18" charset="2"/>
              </a:rPr>
            </a:br>
            <a:r>
              <a:rPr lang="en-US" altLang="en-US">
                <a:sym typeface="Symbol" panose="05050102010706020507" pitchFamily="18" charset="2"/>
              </a:rPr>
              <a:t>Y* - multitude of chain of input symbols </a:t>
            </a:r>
          </a:p>
          <a:p>
            <a:r>
              <a:rPr lang="en-US" altLang="en-US">
                <a:sym typeface="Symbol" panose="05050102010706020507" pitchFamily="18" charset="2"/>
              </a:rPr>
              <a:t>Extended transition and output functions of FSM are called *: SX* S and *: SX* Y* functions, defined as follows:</a:t>
            </a:r>
          </a:p>
          <a:p>
            <a:r>
              <a:rPr lang="en-US" altLang="en-US">
                <a:sym typeface="Symbol" panose="05050102010706020507" pitchFamily="18" charset="2"/>
              </a:rPr>
              <a:t>*(si , )=si;      *(si ,xmxp)=*((si,xm),xp);</a:t>
            </a:r>
          </a:p>
          <a:p>
            <a:r>
              <a:rPr lang="en-US" altLang="en-US">
                <a:sym typeface="Symbol" panose="05050102010706020507" pitchFamily="18" charset="2"/>
              </a:rPr>
              <a:t>*(si,  )= ;   </a:t>
            </a:r>
            <a:r>
              <a:rPr lang="ru-RU" altLang="en-US">
                <a:sym typeface="Symbol" panose="05050102010706020507" pitchFamily="18" charset="2"/>
              </a:rPr>
              <a:t> </a:t>
            </a:r>
            <a:r>
              <a:rPr lang="en-US" altLang="en-US">
                <a:sym typeface="Symbol" panose="05050102010706020507" pitchFamily="18" charset="2"/>
              </a:rPr>
              <a:t>*(si,xmxn)={*(si,xm), *((si,xm), xn)},</a:t>
            </a:r>
          </a:p>
          <a:p>
            <a:r>
              <a:rPr lang="en-US" altLang="en-US">
                <a:sym typeface="Symbol" panose="05050102010706020507" pitchFamily="18" charset="2"/>
              </a:rPr>
              <a:t>The extended output function is a reaction of FSM under the given input sequence.</a:t>
            </a:r>
            <a:endParaRPr lang="ru-RU" altLang="en-US">
              <a:sym typeface="Symbol" panose="05050102010706020507" pitchFamily="18" charset="2"/>
            </a:endParaRPr>
          </a:p>
          <a:p>
            <a:endParaRPr lang="ru-RU" alt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Заголовок 2">
            <a:extLst>
              <a:ext uri="{FF2B5EF4-FFF2-40B4-BE49-F238E27FC236}">
                <a16:creationId xmlns:a16="http://schemas.microsoft.com/office/drawing/2014/main" id="{0DC456BB-96B2-CEB2-1687-7CB95DBE0130}"/>
              </a:ext>
            </a:extLst>
          </p:cNvPr>
          <p:cNvSpPr>
            <a:spLocks noGrp="1" noChangeArrowheads="1"/>
          </p:cNvSpPr>
          <p:nvPr>
            <p:ph type="title"/>
          </p:nvPr>
        </p:nvSpPr>
        <p:spPr>
          <a:xfrm>
            <a:off x="-1" y="183402"/>
            <a:ext cx="11612880" cy="704088"/>
          </a:xfrm>
        </p:spPr>
        <p:txBody>
          <a:bodyPr>
            <a:normAutofit/>
          </a:bodyPr>
          <a:lstStyle/>
          <a:p>
            <a:r>
              <a:rPr lang="en-US" altLang="en-US" dirty="0"/>
              <a:t>Incompletely specified FSM</a:t>
            </a:r>
            <a:endParaRPr lang="ru-RU" altLang="en-US" dirty="0"/>
          </a:p>
        </p:txBody>
      </p:sp>
      <p:sp>
        <p:nvSpPr>
          <p:cNvPr id="4" name="Объект 3">
            <a:extLst>
              <a:ext uri="{FF2B5EF4-FFF2-40B4-BE49-F238E27FC236}">
                <a16:creationId xmlns:a16="http://schemas.microsoft.com/office/drawing/2014/main" id="{43604A05-4610-41F2-A6C0-354E31E85B50}"/>
              </a:ext>
            </a:extLst>
          </p:cNvPr>
          <p:cNvSpPr>
            <a:spLocks noGrp="1"/>
          </p:cNvSpPr>
          <p:nvPr>
            <p:ph type="body" sz="quarter" idx="10"/>
          </p:nvPr>
        </p:nvSpPr>
        <p:spPr>
          <a:xfrm>
            <a:off x="457200" y="1188720"/>
            <a:ext cx="11277922" cy="5185186"/>
          </a:xfrm>
        </p:spPr>
        <p:txBody>
          <a:bodyPr/>
          <a:lstStyle/>
          <a:p>
            <a:r>
              <a:rPr lang="en-US" sz="2000" dirty="0"/>
              <a:t>Complete specified FSM - if the output function and transition function are completely defined. </a:t>
            </a:r>
          </a:p>
          <a:p>
            <a:pPr lvl="1"/>
            <a:r>
              <a:rPr lang="en-US" dirty="0"/>
              <a:t>For any pair of “state – input symbol” the next state is defined</a:t>
            </a:r>
          </a:p>
          <a:p>
            <a:pPr lvl="1"/>
            <a:r>
              <a:rPr lang="en-US" dirty="0"/>
              <a:t>For any pair of “state - input symbol” the output symbol is defined (Mealy FSM). For every state there is output signal (Moore FSM). </a:t>
            </a:r>
          </a:p>
          <a:p>
            <a:r>
              <a:rPr lang="en-US" sz="2000" dirty="0"/>
              <a:t>Otherwise FSM is called incomplete specified.</a:t>
            </a:r>
          </a:p>
          <a:p>
            <a:r>
              <a:rPr lang="en-US" sz="2000" dirty="0"/>
              <a:t>As a result:</a:t>
            </a:r>
          </a:p>
          <a:p>
            <a:r>
              <a:rPr lang="en-US" sz="2000" dirty="0"/>
              <a:t>Next state functions and output functions have “don’t care” values.</a:t>
            </a:r>
          </a:p>
          <a:p>
            <a:r>
              <a:rPr lang="en-US" sz="2000" dirty="0"/>
              <a:t>Don’t cares arise when some combinations are of no interest: they will not occur or their output will not observe.</a:t>
            </a:r>
          </a:p>
          <a:p>
            <a:r>
              <a:rPr lang="en-US" sz="2000" dirty="0"/>
              <a:t>For these, the next state or output functions may not be specified.</a:t>
            </a:r>
          </a:p>
          <a:p>
            <a:r>
              <a:rPr lang="en-US" sz="2000" dirty="0"/>
              <a:t>At the implementation level, only one of the possible next states and outputs in chosen (complete specification).</a:t>
            </a:r>
            <a:endParaRPr lang="ru-RU" sz="2000" dirty="0"/>
          </a:p>
          <a:p>
            <a:endParaRPr lang="ru-RU"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Заголовок 1">
            <a:extLst>
              <a:ext uri="{FF2B5EF4-FFF2-40B4-BE49-F238E27FC236}">
                <a16:creationId xmlns:a16="http://schemas.microsoft.com/office/drawing/2014/main" id="{ECDA8E87-D46F-591B-52EE-58908E70E47F}"/>
              </a:ext>
            </a:extLst>
          </p:cNvPr>
          <p:cNvSpPr>
            <a:spLocks noGrp="1" noChangeArrowheads="1"/>
          </p:cNvSpPr>
          <p:nvPr>
            <p:ph type="title"/>
          </p:nvPr>
        </p:nvSpPr>
        <p:spPr>
          <a:xfrm>
            <a:off x="-1" y="183402"/>
            <a:ext cx="11612880" cy="704088"/>
          </a:xfrm>
        </p:spPr>
        <p:txBody>
          <a:bodyPr>
            <a:normAutofit/>
          </a:bodyPr>
          <a:lstStyle/>
          <a:p>
            <a:r>
              <a:rPr lang="en-US" altLang="en-US" dirty="0"/>
              <a:t>Non-Determinate FSM</a:t>
            </a:r>
            <a:endParaRPr lang="ru-RU" altLang="en-US" dirty="0"/>
          </a:p>
        </p:txBody>
      </p:sp>
      <p:sp>
        <p:nvSpPr>
          <p:cNvPr id="3" name="Объект 2">
            <a:extLst>
              <a:ext uri="{FF2B5EF4-FFF2-40B4-BE49-F238E27FC236}">
                <a16:creationId xmlns:a16="http://schemas.microsoft.com/office/drawing/2014/main" id="{6F6F43BB-DC6F-4C96-B9F4-8E47CB8DE254}"/>
              </a:ext>
            </a:extLst>
          </p:cNvPr>
          <p:cNvSpPr>
            <a:spLocks noGrp="1"/>
          </p:cNvSpPr>
          <p:nvPr>
            <p:ph type="body" sz="quarter" idx="10"/>
          </p:nvPr>
        </p:nvSpPr>
        <p:spPr>
          <a:xfrm>
            <a:off x="457200" y="1188720"/>
            <a:ext cx="11277922" cy="5185186"/>
          </a:xfrm>
        </p:spPr>
        <p:txBody>
          <a:bodyPr/>
          <a:lstStyle/>
          <a:p>
            <a:r>
              <a:rPr lang="en-US" dirty="0"/>
              <a:t>Non-determinism is associated with many transitions:</a:t>
            </a:r>
          </a:p>
          <a:p>
            <a:pPr lvl="1"/>
            <a:r>
              <a:rPr lang="en-US" dirty="0"/>
              <a:t>From a given current state and under the same input conditions it is possible to go to different states and have different outputs. </a:t>
            </a:r>
            <a:endParaRPr lang="ru-RU" dirty="0"/>
          </a:p>
          <a:p>
            <a:endParaRPr lang="ru-RU" dirty="0"/>
          </a:p>
        </p:txBody>
      </p:sp>
      <p:grpSp>
        <p:nvGrpSpPr>
          <p:cNvPr id="34820" name="Group 12">
            <a:extLst>
              <a:ext uri="{FF2B5EF4-FFF2-40B4-BE49-F238E27FC236}">
                <a16:creationId xmlns:a16="http://schemas.microsoft.com/office/drawing/2014/main" id="{9B56142B-AC82-4035-847A-C896C6658D61}"/>
              </a:ext>
            </a:extLst>
          </p:cNvPr>
          <p:cNvGrpSpPr>
            <a:grpSpLocks/>
          </p:cNvGrpSpPr>
          <p:nvPr/>
        </p:nvGrpSpPr>
        <p:grpSpPr bwMode="auto">
          <a:xfrm>
            <a:off x="4441826" y="3282950"/>
            <a:ext cx="2151063" cy="2120900"/>
            <a:chOff x="875" y="2069"/>
            <a:chExt cx="1355" cy="1336"/>
          </a:xfrm>
        </p:grpSpPr>
        <p:sp>
          <p:nvSpPr>
            <p:cNvPr id="34821" name="Oval 5">
              <a:extLst>
                <a:ext uri="{FF2B5EF4-FFF2-40B4-BE49-F238E27FC236}">
                  <a16:creationId xmlns:a16="http://schemas.microsoft.com/office/drawing/2014/main" id="{4EB8DE74-1054-1323-BDD6-D748D7B41430}"/>
                </a:ext>
              </a:extLst>
            </p:cNvPr>
            <p:cNvSpPr>
              <a:spLocks noChangeArrowheads="1"/>
            </p:cNvSpPr>
            <p:nvPr/>
          </p:nvSpPr>
          <p:spPr bwMode="auto">
            <a:xfrm>
              <a:off x="875" y="2618"/>
              <a:ext cx="394" cy="394"/>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dirty="0">
                  <a:solidFill>
                    <a:schemeClr val="bg2"/>
                  </a:solidFill>
                </a:rPr>
                <a:t>S</a:t>
              </a:r>
              <a:r>
                <a:rPr lang="en-US" altLang="en-US" baseline="-25000" dirty="0">
                  <a:solidFill>
                    <a:schemeClr val="bg2"/>
                  </a:solidFill>
                </a:rPr>
                <a:t>0</a:t>
              </a:r>
              <a:endParaRPr lang="ru-RU" altLang="en-US" dirty="0">
                <a:solidFill>
                  <a:schemeClr val="bg2"/>
                </a:solidFill>
              </a:endParaRPr>
            </a:p>
          </p:txBody>
        </p:sp>
        <p:sp>
          <p:nvSpPr>
            <p:cNvPr id="34822" name="Oval 6">
              <a:extLst>
                <a:ext uri="{FF2B5EF4-FFF2-40B4-BE49-F238E27FC236}">
                  <a16:creationId xmlns:a16="http://schemas.microsoft.com/office/drawing/2014/main" id="{AC763191-F968-E841-8B4B-DE6E46385956}"/>
                </a:ext>
              </a:extLst>
            </p:cNvPr>
            <p:cNvSpPr>
              <a:spLocks noChangeArrowheads="1"/>
            </p:cNvSpPr>
            <p:nvPr/>
          </p:nvSpPr>
          <p:spPr bwMode="auto">
            <a:xfrm>
              <a:off x="1798" y="2069"/>
              <a:ext cx="394" cy="394"/>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dirty="0">
                  <a:solidFill>
                    <a:schemeClr val="bg2"/>
                  </a:solidFill>
                </a:rPr>
                <a:t>S</a:t>
              </a:r>
              <a:r>
                <a:rPr lang="en-US" altLang="en-US" baseline="-25000" dirty="0">
                  <a:solidFill>
                    <a:schemeClr val="bg2"/>
                  </a:solidFill>
                </a:rPr>
                <a:t>1</a:t>
              </a:r>
              <a:endParaRPr lang="ru-RU" altLang="en-US" dirty="0">
                <a:solidFill>
                  <a:schemeClr val="bg2"/>
                </a:solidFill>
              </a:endParaRPr>
            </a:p>
          </p:txBody>
        </p:sp>
        <p:sp>
          <p:nvSpPr>
            <p:cNvPr id="34823" name="Oval 7">
              <a:extLst>
                <a:ext uri="{FF2B5EF4-FFF2-40B4-BE49-F238E27FC236}">
                  <a16:creationId xmlns:a16="http://schemas.microsoft.com/office/drawing/2014/main" id="{C2DE6FDB-A5E5-B508-3A34-E8DAAF4FE2F8}"/>
                </a:ext>
              </a:extLst>
            </p:cNvPr>
            <p:cNvSpPr>
              <a:spLocks noChangeArrowheads="1"/>
            </p:cNvSpPr>
            <p:nvPr/>
          </p:nvSpPr>
          <p:spPr bwMode="auto">
            <a:xfrm>
              <a:off x="1836" y="3011"/>
              <a:ext cx="394" cy="394"/>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dirty="0">
                  <a:solidFill>
                    <a:schemeClr val="bg2"/>
                  </a:solidFill>
                </a:rPr>
                <a:t>S</a:t>
              </a:r>
              <a:r>
                <a:rPr lang="en-US" altLang="en-US" baseline="-25000" dirty="0">
                  <a:solidFill>
                    <a:schemeClr val="bg2"/>
                  </a:solidFill>
                </a:rPr>
                <a:t>2</a:t>
              </a:r>
              <a:endParaRPr lang="ru-RU" altLang="en-US" dirty="0">
                <a:solidFill>
                  <a:schemeClr val="bg2"/>
                </a:solidFill>
              </a:endParaRPr>
            </a:p>
          </p:txBody>
        </p:sp>
        <p:sp>
          <p:nvSpPr>
            <p:cNvPr id="34824" name="Line 8">
              <a:extLst>
                <a:ext uri="{FF2B5EF4-FFF2-40B4-BE49-F238E27FC236}">
                  <a16:creationId xmlns:a16="http://schemas.microsoft.com/office/drawing/2014/main" id="{C4233DF7-1B40-1983-1F8D-9A63BF9A2C56}"/>
                </a:ext>
              </a:extLst>
            </p:cNvPr>
            <p:cNvSpPr>
              <a:spLocks noChangeShapeType="1"/>
            </p:cNvSpPr>
            <p:nvPr/>
          </p:nvSpPr>
          <p:spPr bwMode="auto">
            <a:xfrm flipV="1">
              <a:off x="1202" y="2311"/>
              <a:ext cx="589" cy="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25" name="Line 9">
              <a:extLst>
                <a:ext uri="{FF2B5EF4-FFF2-40B4-BE49-F238E27FC236}">
                  <a16:creationId xmlns:a16="http://schemas.microsoft.com/office/drawing/2014/main" id="{0F64057A-6791-C716-9082-A5DB4527A140}"/>
                </a:ext>
              </a:extLst>
            </p:cNvPr>
            <p:cNvSpPr>
              <a:spLocks noChangeShapeType="1"/>
            </p:cNvSpPr>
            <p:nvPr/>
          </p:nvSpPr>
          <p:spPr bwMode="auto">
            <a:xfrm>
              <a:off x="1238" y="2910"/>
              <a:ext cx="599"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26" name="Text Box 10">
              <a:extLst>
                <a:ext uri="{FF2B5EF4-FFF2-40B4-BE49-F238E27FC236}">
                  <a16:creationId xmlns:a16="http://schemas.microsoft.com/office/drawing/2014/main" id="{AA169438-86FC-2877-E7F6-5E65E1C931BC}"/>
                </a:ext>
              </a:extLst>
            </p:cNvPr>
            <p:cNvSpPr txBox="1">
              <a:spLocks noChangeArrowheads="1"/>
            </p:cNvSpPr>
            <p:nvPr/>
          </p:nvSpPr>
          <p:spPr bwMode="auto">
            <a:xfrm>
              <a:off x="1111" y="2275"/>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x</a:t>
              </a:r>
              <a:r>
                <a:rPr lang="en-US" altLang="en-US" sz="2000" baseline="-25000"/>
                <a:t>i</a:t>
              </a:r>
              <a:r>
                <a:rPr lang="en-US" altLang="en-US" sz="2000"/>
                <a:t>/0</a:t>
              </a:r>
              <a:endParaRPr lang="ru-RU" altLang="en-US" sz="2000"/>
            </a:p>
          </p:txBody>
        </p:sp>
        <p:sp>
          <p:nvSpPr>
            <p:cNvPr id="34827" name="Text Box 11">
              <a:extLst>
                <a:ext uri="{FF2B5EF4-FFF2-40B4-BE49-F238E27FC236}">
                  <a16:creationId xmlns:a16="http://schemas.microsoft.com/office/drawing/2014/main" id="{3B480D92-DA92-EB15-5069-5B5FF49AB53D}"/>
                </a:ext>
              </a:extLst>
            </p:cNvPr>
            <p:cNvSpPr txBox="1">
              <a:spLocks noChangeArrowheads="1"/>
            </p:cNvSpPr>
            <p:nvPr/>
          </p:nvSpPr>
          <p:spPr bwMode="auto">
            <a:xfrm>
              <a:off x="1193" y="3134"/>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x</a:t>
              </a:r>
              <a:r>
                <a:rPr lang="en-US" altLang="en-US" sz="2000" baseline="-25000"/>
                <a:t>i</a:t>
              </a:r>
              <a:r>
                <a:rPr lang="en-US" altLang="en-US" sz="2000"/>
                <a:t>/1</a:t>
              </a:r>
              <a:endParaRPr lang="ru-RU" altLang="en-US" sz="200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Заголовок 1">
            <a:extLst>
              <a:ext uri="{FF2B5EF4-FFF2-40B4-BE49-F238E27FC236}">
                <a16:creationId xmlns:a16="http://schemas.microsoft.com/office/drawing/2014/main" id="{5C262E53-7DA8-96C3-3656-85091F580D00}"/>
              </a:ext>
            </a:extLst>
          </p:cNvPr>
          <p:cNvSpPr>
            <a:spLocks noGrp="1" noChangeArrowheads="1"/>
          </p:cNvSpPr>
          <p:nvPr>
            <p:ph type="title"/>
          </p:nvPr>
        </p:nvSpPr>
        <p:spPr>
          <a:xfrm>
            <a:off x="-1" y="183402"/>
            <a:ext cx="11612880" cy="704088"/>
          </a:xfrm>
        </p:spPr>
        <p:txBody>
          <a:bodyPr>
            <a:normAutofit/>
          </a:bodyPr>
          <a:lstStyle/>
          <a:p>
            <a:r>
              <a:rPr lang="en-US" altLang="en-US" dirty="0"/>
              <a:t>Reaction and Equivalence of FSM</a:t>
            </a:r>
            <a:endParaRPr lang="ru-RU" altLang="en-US" dirty="0"/>
          </a:p>
        </p:txBody>
      </p:sp>
      <p:sp>
        <p:nvSpPr>
          <p:cNvPr id="3" name="Объект 2">
            <a:extLst>
              <a:ext uri="{FF2B5EF4-FFF2-40B4-BE49-F238E27FC236}">
                <a16:creationId xmlns:a16="http://schemas.microsoft.com/office/drawing/2014/main" id="{B0FF05CB-26CC-4E5D-BC3B-92D24F6303EB}"/>
              </a:ext>
            </a:extLst>
          </p:cNvPr>
          <p:cNvSpPr>
            <a:spLocks noGrp="1"/>
          </p:cNvSpPr>
          <p:nvPr>
            <p:ph type="body" sz="quarter" idx="10"/>
          </p:nvPr>
        </p:nvSpPr>
        <p:spPr>
          <a:xfrm>
            <a:off x="457200" y="1188720"/>
            <a:ext cx="11277922" cy="5185186"/>
          </a:xfrm>
        </p:spPr>
        <p:txBody>
          <a:bodyPr/>
          <a:lstStyle/>
          <a:p>
            <a:r>
              <a:rPr lang="en-US" dirty="0"/>
              <a:t>The state Si </a:t>
            </a:r>
            <a:r>
              <a:rPr lang="en-US" dirty="0">
                <a:sym typeface="Symbol" pitchFamily="18" charset="2"/>
              </a:rPr>
              <a:t>S is called reachable if (X*) *(S0, )=Si, and unreachable when (Si)  (X*)*(S0, ) Si.</a:t>
            </a:r>
          </a:p>
          <a:p>
            <a:r>
              <a:rPr lang="en-US" dirty="0"/>
              <a:t>Definition</a:t>
            </a:r>
            <a:r>
              <a:rPr lang="ru-RU" dirty="0"/>
              <a:t>. </a:t>
            </a:r>
            <a:r>
              <a:rPr lang="en-US" dirty="0"/>
              <a:t>Two FSMs</a:t>
            </a:r>
            <a:r>
              <a:rPr lang="ru-RU" dirty="0"/>
              <a:t> А </a:t>
            </a:r>
            <a:r>
              <a:rPr lang="en-US" dirty="0"/>
              <a:t>and</a:t>
            </a:r>
            <a:r>
              <a:rPr lang="ru-RU" dirty="0"/>
              <a:t> В </a:t>
            </a:r>
            <a:r>
              <a:rPr lang="en-US" dirty="0"/>
              <a:t>with identical input alphabets are called equivalent if after setting them into their initial states their reactions to any identical input sequences coincides. </a:t>
            </a:r>
          </a:p>
          <a:p>
            <a:r>
              <a:rPr lang="en-US" dirty="0"/>
              <a:t>Condition of equivalence is the following:</a:t>
            </a:r>
          </a:p>
          <a:p>
            <a:r>
              <a:rPr lang="en-US" dirty="0"/>
              <a:t>Input alphabets of FSM coincide  XA = XB = X</a:t>
            </a:r>
          </a:p>
          <a:p>
            <a:r>
              <a:rPr lang="en-US" dirty="0"/>
              <a:t>I</a:t>
            </a:r>
            <a:r>
              <a:rPr lang="ru-RU" dirty="0"/>
              <a:t>mplemented mapping </a:t>
            </a:r>
            <a:r>
              <a:rPr lang="en-US" dirty="0"/>
              <a:t>coincides:</a:t>
            </a:r>
          </a:p>
          <a:p>
            <a:r>
              <a:rPr lang="en-US" dirty="0"/>
              <a:t> (</a:t>
            </a:r>
            <a:r>
              <a:rPr lang="en-US" dirty="0">
                <a:sym typeface="Symbol" pitchFamily="18" charset="2"/>
              </a:rPr>
              <a:t>X*)  A*(s0A, )= B*(s0B, )</a:t>
            </a:r>
          </a:p>
          <a:p>
            <a:endParaRPr lang="ru-RU" dirty="0"/>
          </a:p>
          <a:p>
            <a:endParaRPr lang="en-US" dirty="0">
              <a:sym typeface="Symbol" pitchFamily="18" charset="2"/>
            </a:endParaRPr>
          </a:p>
          <a:p>
            <a:endParaRPr lang="ru-RU"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Заголовок 2">
            <a:extLst>
              <a:ext uri="{FF2B5EF4-FFF2-40B4-BE49-F238E27FC236}">
                <a16:creationId xmlns:a16="http://schemas.microsoft.com/office/drawing/2014/main" id="{F3B6504A-2214-BC7F-A291-1B0AC107EEFE}"/>
              </a:ext>
            </a:extLst>
          </p:cNvPr>
          <p:cNvSpPr>
            <a:spLocks noGrp="1" noChangeArrowheads="1"/>
          </p:cNvSpPr>
          <p:nvPr>
            <p:ph type="title"/>
          </p:nvPr>
        </p:nvSpPr>
        <p:spPr>
          <a:xfrm>
            <a:off x="-1" y="183402"/>
            <a:ext cx="11612880" cy="704088"/>
          </a:xfrm>
        </p:spPr>
        <p:txBody>
          <a:bodyPr>
            <a:normAutofit/>
          </a:bodyPr>
          <a:lstStyle/>
          <a:p>
            <a:r>
              <a:rPr lang="en-US" altLang="en-US" dirty="0"/>
              <a:t>Direct Product of FSM</a:t>
            </a:r>
            <a:endParaRPr lang="ru-RU" altLang="en-US" dirty="0"/>
          </a:p>
        </p:txBody>
      </p:sp>
      <p:sp>
        <p:nvSpPr>
          <p:cNvPr id="4" name="Объект 3">
            <a:extLst>
              <a:ext uri="{FF2B5EF4-FFF2-40B4-BE49-F238E27FC236}">
                <a16:creationId xmlns:a16="http://schemas.microsoft.com/office/drawing/2014/main" id="{29DA5EDC-CD92-41C1-A74A-C1BAA7296F0C}"/>
              </a:ext>
            </a:extLst>
          </p:cNvPr>
          <p:cNvSpPr>
            <a:spLocks noGrp="1"/>
          </p:cNvSpPr>
          <p:nvPr>
            <p:ph type="body" sz="quarter" idx="10"/>
          </p:nvPr>
        </p:nvSpPr>
        <p:spPr>
          <a:xfrm>
            <a:off x="457200" y="1188720"/>
            <a:ext cx="11277922" cy="5185186"/>
          </a:xfrm>
        </p:spPr>
        <p:txBody>
          <a:bodyPr/>
          <a:lstStyle/>
          <a:p>
            <a:r>
              <a:rPr lang="en-US" dirty="0"/>
              <a:t>A and B FSMs are given.</a:t>
            </a:r>
          </a:p>
          <a:p>
            <a:r>
              <a:rPr lang="en-US" dirty="0"/>
              <a:t>A={X,YA, SA, </a:t>
            </a:r>
            <a:r>
              <a:rPr lang="en-US" dirty="0">
                <a:sym typeface="Symbol" pitchFamily="18" charset="2"/>
              </a:rPr>
              <a:t>A ,A) ,   B={X,YB, SB, B ,  B) .</a:t>
            </a:r>
          </a:p>
          <a:p>
            <a:r>
              <a:rPr lang="en-US" dirty="0">
                <a:sym typeface="Symbol" pitchFamily="18" charset="2"/>
              </a:rPr>
              <a:t>Direct product АB is called the FSM, defined as follows:</a:t>
            </a:r>
          </a:p>
          <a:p>
            <a:r>
              <a:rPr lang="en-US" dirty="0">
                <a:sym typeface="Symbol" pitchFamily="18" charset="2"/>
              </a:rPr>
              <a:t>AB = {X, YAYB,SA SB,(s0A,s0B), AB,AB}, </a:t>
            </a:r>
            <a:br>
              <a:rPr lang="en-US" dirty="0">
                <a:sym typeface="Symbol" pitchFamily="18" charset="2"/>
              </a:rPr>
            </a:br>
            <a:r>
              <a:rPr lang="en-US" dirty="0">
                <a:sym typeface="Symbol" pitchFamily="18" charset="2"/>
              </a:rPr>
              <a:t>where</a:t>
            </a:r>
          </a:p>
          <a:p>
            <a:r>
              <a:rPr lang="en-US" dirty="0">
                <a:sym typeface="Symbol" pitchFamily="18" charset="2"/>
              </a:rPr>
              <a:t>(</a:t>
            </a:r>
            <a:r>
              <a:rPr lang="en-US" dirty="0" err="1">
                <a:sym typeface="Symbol" pitchFamily="18" charset="2"/>
              </a:rPr>
              <a:t>sASA</a:t>
            </a:r>
            <a:r>
              <a:rPr lang="en-US" dirty="0">
                <a:sym typeface="Symbol" pitchFamily="18" charset="2"/>
              </a:rPr>
              <a:t>)(</a:t>
            </a:r>
            <a:r>
              <a:rPr lang="en-US" dirty="0" err="1">
                <a:sym typeface="Symbol" pitchFamily="18" charset="2"/>
              </a:rPr>
              <a:t>sBSB</a:t>
            </a:r>
            <a:r>
              <a:rPr lang="en-US" dirty="0">
                <a:sym typeface="Symbol" pitchFamily="18" charset="2"/>
              </a:rPr>
              <a:t>)(</a:t>
            </a:r>
            <a:r>
              <a:rPr lang="en-US" dirty="0" err="1">
                <a:sym typeface="Symbol" pitchFamily="18" charset="2"/>
              </a:rPr>
              <a:t>xX</a:t>
            </a:r>
            <a:r>
              <a:rPr lang="en-US" dirty="0">
                <a:sym typeface="Symbol" pitchFamily="18" charset="2"/>
              </a:rPr>
              <a:t>) AB((</a:t>
            </a:r>
            <a:r>
              <a:rPr lang="en-US" dirty="0" err="1">
                <a:sym typeface="Symbol" pitchFamily="18" charset="2"/>
              </a:rPr>
              <a:t>sA,sB</a:t>
            </a:r>
            <a:r>
              <a:rPr lang="en-US" dirty="0">
                <a:sym typeface="Symbol" pitchFamily="18" charset="2"/>
              </a:rPr>
              <a:t>),x)=(A(</a:t>
            </a:r>
            <a:r>
              <a:rPr lang="en-US" dirty="0" err="1">
                <a:sym typeface="Symbol" pitchFamily="18" charset="2"/>
              </a:rPr>
              <a:t>sA,x</a:t>
            </a:r>
            <a:r>
              <a:rPr lang="en-US" dirty="0">
                <a:sym typeface="Symbol" pitchFamily="18" charset="2"/>
              </a:rPr>
              <a:t>), B(</a:t>
            </a:r>
            <a:r>
              <a:rPr lang="en-US" dirty="0" err="1">
                <a:sym typeface="Symbol" pitchFamily="18" charset="2"/>
              </a:rPr>
              <a:t>sB,x</a:t>
            </a:r>
            <a:r>
              <a:rPr lang="en-US" dirty="0">
                <a:sym typeface="Symbol" pitchFamily="18" charset="2"/>
              </a:rPr>
              <a:t>))</a:t>
            </a:r>
          </a:p>
          <a:p>
            <a:r>
              <a:rPr lang="en-US" dirty="0">
                <a:sym typeface="Symbol" pitchFamily="18" charset="2"/>
              </a:rPr>
              <a:t>(</a:t>
            </a:r>
            <a:r>
              <a:rPr lang="en-US" dirty="0" err="1">
                <a:sym typeface="Symbol" pitchFamily="18" charset="2"/>
              </a:rPr>
              <a:t>sASA</a:t>
            </a:r>
            <a:r>
              <a:rPr lang="en-US" dirty="0">
                <a:sym typeface="Symbol" pitchFamily="18" charset="2"/>
              </a:rPr>
              <a:t>)(</a:t>
            </a:r>
            <a:r>
              <a:rPr lang="en-US" dirty="0" err="1">
                <a:sym typeface="Symbol" pitchFamily="18" charset="2"/>
              </a:rPr>
              <a:t>sBSB</a:t>
            </a:r>
            <a:r>
              <a:rPr lang="en-US" dirty="0">
                <a:sym typeface="Symbol" pitchFamily="18" charset="2"/>
              </a:rPr>
              <a:t>)(</a:t>
            </a:r>
            <a:r>
              <a:rPr lang="en-US" dirty="0" err="1">
                <a:sym typeface="Symbol" pitchFamily="18" charset="2"/>
              </a:rPr>
              <a:t>xX</a:t>
            </a:r>
            <a:r>
              <a:rPr lang="en-US" dirty="0">
                <a:sym typeface="Symbol" pitchFamily="18" charset="2"/>
              </a:rPr>
              <a:t>) AB((</a:t>
            </a:r>
            <a:r>
              <a:rPr lang="en-US" dirty="0" err="1">
                <a:sym typeface="Symbol" pitchFamily="18" charset="2"/>
              </a:rPr>
              <a:t>sA,sB</a:t>
            </a:r>
            <a:r>
              <a:rPr lang="en-US" dirty="0">
                <a:sym typeface="Symbol" pitchFamily="18" charset="2"/>
              </a:rPr>
              <a:t>),x)=(A(</a:t>
            </a:r>
            <a:r>
              <a:rPr lang="en-US" dirty="0" err="1">
                <a:sym typeface="Symbol" pitchFamily="18" charset="2"/>
              </a:rPr>
              <a:t>sA,x</a:t>
            </a:r>
            <a:r>
              <a:rPr lang="en-US" dirty="0">
                <a:sym typeface="Symbol" pitchFamily="18" charset="2"/>
              </a:rPr>
              <a:t>),B(</a:t>
            </a:r>
            <a:r>
              <a:rPr lang="en-US" dirty="0" err="1">
                <a:sym typeface="Symbol" pitchFamily="18" charset="2"/>
              </a:rPr>
              <a:t>sB,x</a:t>
            </a:r>
            <a:r>
              <a:rPr lang="en-US" dirty="0">
                <a:sym typeface="Symbol" pitchFamily="18" charset="2"/>
              </a:rPr>
              <a:t>))</a:t>
            </a:r>
          </a:p>
          <a:p>
            <a:endParaRPr lang="en-US" dirty="0">
              <a:sym typeface="Symbol" pitchFamily="18" charset="2"/>
            </a:endParaRPr>
          </a:p>
          <a:p>
            <a:endParaRPr lang="ru-RU"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Group 21">
            <a:extLst>
              <a:ext uri="{FF2B5EF4-FFF2-40B4-BE49-F238E27FC236}">
                <a16:creationId xmlns:a16="http://schemas.microsoft.com/office/drawing/2014/main" id="{5FACA84B-5C42-4913-6269-2CDD36B9FFFC}"/>
              </a:ext>
            </a:extLst>
          </p:cNvPr>
          <p:cNvGrpSpPr>
            <a:grpSpLocks/>
          </p:cNvGrpSpPr>
          <p:nvPr/>
        </p:nvGrpSpPr>
        <p:grpSpPr bwMode="auto">
          <a:xfrm>
            <a:off x="2235201" y="1744663"/>
            <a:ext cx="3889375" cy="3384550"/>
            <a:chOff x="448" y="1099"/>
            <a:chExt cx="2450" cy="2132"/>
          </a:xfrm>
        </p:grpSpPr>
        <p:sp>
          <p:nvSpPr>
            <p:cNvPr id="21510" name="Rectangle 4">
              <a:extLst>
                <a:ext uri="{FF2B5EF4-FFF2-40B4-BE49-F238E27FC236}">
                  <a16:creationId xmlns:a16="http://schemas.microsoft.com/office/drawing/2014/main" id="{D5E901AA-093A-4EFC-AD9B-AA1903437705}"/>
                </a:ext>
              </a:extLst>
            </p:cNvPr>
            <p:cNvSpPr>
              <a:spLocks noChangeArrowheads="1"/>
            </p:cNvSpPr>
            <p:nvPr/>
          </p:nvSpPr>
          <p:spPr bwMode="auto">
            <a:xfrm>
              <a:off x="938" y="1099"/>
              <a:ext cx="1270" cy="2132"/>
            </a:xfrm>
            <a:prstGeom prst="rect">
              <a:avLst/>
            </a:prstGeom>
            <a:solidFill>
              <a:schemeClr val="accent1">
                <a:lumMod val="20000"/>
                <a:lumOff val="80000"/>
                <a:alpha val="50999"/>
              </a:schemeClr>
            </a:solidFill>
            <a:ln w="25400">
              <a:solidFill>
                <a:schemeClr val="tx1"/>
              </a:solidFill>
              <a:miter lim="800000"/>
              <a:headEnd/>
              <a:tailEnd/>
            </a:ln>
          </p:spPr>
          <p:txBody>
            <a:bodyPr wrap="none" anchor="ctr"/>
            <a:lstStyle/>
            <a:p>
              <a:pPr algn="ctr" eaLnBrk="1" hangingPunct="1">
                <a:defRPr/>
              </a:pPr>
              <a:endParaRPr lang="ru-RU">
                <a:solidFill>
                  <a:srgbClr val="00CC99"/>
                </a:solidFill>
              </a:endParaRPr>
            </a:p>
          </p:txBody>
        </p:sp>
        <p:sp>
          <p:nvSpPr>
            <p:cNvPr id="21511" name="Rectangle 5">
              <a:extLst>
                <a:ext uri="{FF2B5EF4-FFF2-40B4-BE49-F238E27FC236}">
                  <a16:creationId xmlns:a16="http://schemas.microsoft.com/office/drawing/2014/main" id="{2A2EBE35-E3B0-4CE6-A8BF-53CA74661357}"/>
                </a:ext>
              </a:extLst>
            </p:cNvPr>
            <p:cNvSpPr>
              <a:spLocks noChangeArrowheads="1"/>
            </p:cNvSpPr>
            <p:nvPr/>
          </p:nvSpPr>
          <p:spPr bwMode="auto">
            <a:xfrm>
              <a:off x="1401" y="1281"/>
              <a:ext cx="590" cy="680"/>
            </a:xfrm>
            <a:prstGeom prst="rect">
              <a:avLst/>
            </a:prstGeom>
            <a:solidFill>
              <a:schemeClr val="accent1"/>
            </a:solidFill>
            <a:ln w="25400">
              <a:solidFill>
                <a:schemeClr val="tx1"/>
              </a:solidFill>
              <a:miter lim="800000"/>
              <a:headEnd/>
              <a:tailEnd/>
            </a:ln>
          </p:spPr>
          <p:txBody>
            <a:bodyPr wrap="none" anchor="ctr"/>
            <a:lstStyle/>
            <a:p>
              <a:pPr algn="ctr" eaLnBrk="1" hangingPunct="1">
                <a:defRPr/>
              </a:pPr>
              <a:r>
                <a:rPr lang="en-US" dirty="0">
                  <a:solidFill>
                    <a:schemeClr val="bg1"/>
                  </a:solidFill>
                </a:rPr>
                <a:t>А</a:t>
              </a:r>
              <a:endParaRPr lang="ru-RU" dirty="0">
                <a:solidFill>
                  <a:schemeClr val="bg1"/>
                </a:solidFill>
              </a:endParaRPr>
            </a:p>
          </p:txBody>
        </p:sp>
        <p:sp>
          <p:nvSpPr>
            <p:cNvPr id="21512" name="Rectangle 6">
              <a:extLst>
                <a:ext uri="{FF2B5EF4-FFF2-40B4-BE49-F238E27FC236}">
                  <a16:creationId xmlns:a16="http://schemas.microsoft.com/office/drawing/2014/main" id="{787EAF17-CAA7-4D4D-A946-26A564B3B533}"/>
                </a:ext>
              </a:extLst>
            </p:cNvPr>
            <p:cNvSpPr>
              <a:spLocks noChangeArrowheads="1"/>
            </p:cNvSpPr>
            <p:nvPr/>
          </p:nvSpPr>
          <p:spPr bwMode="auto">
            <a:xfrm>
              <a:off x="1401" y="2224"/>
              <a:ext cx="590" cy="644"/>
            </a:xfrm>
            <a:prstGeom prst="rect">
              <a:avLst/>
            </a:prstGeom>
            <a:solidFill>
              <a:schemeClr val="accent1"/>
            </a:solidFill>
            <a:ln w="25400">
              <a:solidFill>
                <a:schemeClr val="tx1"/>
              </a:solidFill>
              <a:miter lim="800000"/>
              <a:headEnd/>
              <a:tailEnd/>
            </a:ln>
          </p:spPr>
          <p:txBody>
            <a:bodyPr wrap="none" anchor="ctr"/>
            <a:lstStyle/>
            <a:p>
              <a:pPr algn="ctr" eaLnBrk="1" hangingPunct="1">
                <a:defRPr/>
              </a:pPr>
              <a:r>
                <a:rPr lang="en-US" b="1" dirty="0">
                  <a:solidFill>
                    <a:schemeClr val="bg1"/>
                  </a:solidFill>
                </a:rPr>
                <a:t>B</a:t>
              </a:r>
              <a:endParaRPr lang="ru-RU" b="1" dirty="0">
                <a:solidFill>
                  <a:schemeClr val="bg1"/>
                </a:solidFill>
              </a:endParaRPr>
            </a:p>
          </p:txBody>
        </p:sp>
        <p:sp>
          <p:nvSpPr>
            <p:cNvPr id="37897" name="Line 7">
              <a:extLst>
                <a:ext uri="{FF2B5EF4-FFF2-40B4-BE49-F238E27FC236}">
                  <a16:creationId xmlns:a16="http://schemas.microsoft.com/office/drawing/2014/main" id="{6D621EB9-EBBB-54B7-05FF-A67930F95182}"/>
                </a:ext>
              </a:extLst>
            </p:cNvPr>
            <p:cNvSpPr>
              <a:spLocks noChangeShapeType="1"/>
            </p:cNvSpPr>
            <p:nvPr/>
          </p:nvSpPr>
          <p:spPr bwMode="auto">
            <a:xfrm>
              <a:off x="1129" y="1624"/>
              <a:ext cx="272"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7898" name="Line 8">
              <a:extLst>
                <a:ext uri="{FF2B5EF4-FFF2-40B4-BE49-F238E27FC236}">
                  <a16:creationId xmlns:a16="http://schemas.microsoft.com/office/drawing/2014/main" id="{EB8D9AE9-D385-7C1E-EC5B-FDA47ED67D14}"/>
                </a:ext>
              </a:extLst>
            </p:cNvPr>
            <p:cNvSpPr>
              <a:spLocks noChangeShapeType="1"/>
            </p:cNvSpPr>
            <p:nvPr/>
          </p:nvSpPr>
          <p:spPr bwMode="auto">
            <a:xfrm>
              <a:off x="1129" y="2557"/>
              <a:ext cx="272"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7899" name="Line 9">
              <a:extLst>
                <a:ext uri="{FF2B5EF4-FFF2-40B4-BE49-F238E27FC236}">
                  <a16:creationId xmlns:a16="http://schemas.microsoft.com/office/drawing/2014/main" id="{2F58C0DF-DD0B-D8D7-229E-C66CB1FD2E6E}"/>
                </a:ext>
              </a:extLst>
            </p:cNvPr>
            <p:cNvSpPr>
              <a:spLocks noChangeShapeType="1"/>
            </p:cNvSpPr>
            <p:nvPr/>
          </p:nvSpPr>
          <p:spPr bwMode="auto">
            <a:xfrm>
              <a:off x="1129" y="1617"/>
              <a:ext cx="0" cy="9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0" name="Line 10">
              <a:extLst>
                <a:ext uri="{FF2B5EF4-FFF2-40B4-BE49-F238E27FC236}">
                  <a16:creationId xmlns:a16="http://schemas.microsoft.com/office/drawing/2014/main" id="{D8F8FFC2-770E-400B-C712-AE25A0266686}"/>
                </a:ext>
              </a:extLst>
            </p:cNvPr>
            <p:cNvSpPr>
              <a:spLocks noChangeShapeType="1"/>
            </p:cNvSpPr>
            <p:nvPr/>
          </p:nvSpPr>
          <p:spPr bwMode="auto">
            <a:xfrm>
              <a:off x="721" y="2079"/>
              <a:ext cx="408"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7901" name="Line 11">
              <a:extLst>
                <a:ext uri="{FF2B5EF4-FFF2-40B4-BE49-F238E27FC236}">
                  <a16:creationId xmlns:a16="http://schemas.microsoft.com/office/drawing/2014/main" id="{8D8A6C3B-40D8-16A5-2330-B1E0FCC06300}"/>
                </a:ext>
              </a:extLst>
            </p:cNvPr>
            <p:cNvSpPr>
              <a:spLocks noChangeShapeType="1"/>
            </p:cNvSpPr>
            <p:nvPr/>
          </p:nvSpPr>
          <p:spPr bwMode="auto">
            <a:xfrm>
              <a:off x="1991" y="1625"/>
              <a:ext cx="453"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7902" name="Line 12">
              <a:extLst>
                <a:ext uri="{FF2B5EF4-FFF2-40B4-BE49-F238E27FC236}">
                  <a16:creationId xmlns:a16="http://schemas.microsoft.com/office/drawing/2014/main" id="{E136200C-F647-C0FB-ADC9-0E57C9B0DF78}"/>
                </a:ext>
              </a:extLst>
            </p:cNvPr>
            <p:cNvSpPr>
              <a:spLocks noChangeShapeType="1"/>
            </p:cNvSpPr>
            <p:nvPr/>
          </p:nvSpPr>
          <p:spPr bwMode="auto">
            <a:xfrm>
              <a:off x="1991" y="2548"/>
              <a:ext cx="453"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33133" name="Text Box 13">
              <a:extLst>
                <a:ext uri="{FF2B5EF4-FFF2-40B4-BE49-F238E27FC236}">
                  <a16:creationId xmlns:a16="http://schemas.microsoft.com/office/drawing/2014/main" id="{19A79910-F0D8-421C-A4C5-D65D82DCA4E9}"/>
                </a:ext>
              </a:extLst>
            </p:cNvPr>
            <p:cNvSpPr txBox="1">
              <a:spLocks noChangeArrowheads="1"/>
            </p:cNvSpPr>
            <p:nvPr/>
          </p:nvSpPr>
          <p:spPr bwMode="auto">
            <a:xfrm>
              <a:off x="2399" y="1326"/>
              <a:ext cx="363" cy="233"/>
            </a:xfrm>
            <a:prstGeom prst="rect">
              <a:avLst/>
            </a:prstGeom>
            <a:noFill/>
            <a:ln>
              <a:noFill/>
            </a:ln>
          </p:spPr>
          <p:txBody>
            <a:bodyPr>
              <a:spAutoFit/>
            </a:bodyPr>
            <a:lstStyle/>
            <a:p>
              <a:pPr eaLnBrk="1" hangingPunct="1">
                <a:spcBef>
                  <a:spcPct val="50000"/>
                </a:spcBef>
                <a:defRPr/>
              </a:pPr>
              <a:endParaRPr lang="ru-RU" b="1">
                <a:effectLst>
                  <a:outerShdw blurRad="38100" dist="38100" dir="2700000" algn="tl">
                    <a:srgbClr val="C0C0C0"/>
                  </a:outerShdw>
                </a:effectLst>
              </a:endParaRPr>
            </a:p>
          </p:txBody>
        </p:sp>
        <p:sp>
          <p:nvSpPr>
            <p:cNvPr id="21520" name="Text Box 14">
              <a:extLst>
                <a:ext uri="{FF2B5EF4-FFF2-40B4-BE49-F238E27FC236}">
                  <a16:creationId xmlns:a16="http://schemas.microsoft.com/office/drawing/2014/main" id="{1FD9C427-5D97-4B0D-BD05-441E02535D7A}"/>
                </a:ext>
              </a:extLst>
            </p:cNvPr>
            <p:cNvSpPr txBox="1">
              <a:spLocks noChangeArrowheads="1"/>
            </p:cNvSpPr>
            <p:nvPr/>
          </p:nvSpPr>
          <p:spPr bwMode="auto">
            <a:xfrm>
              <a:off x="2444" y="1507"/>
              <a:ext cx="454" cy="233"/>
            </a:xfrm>
            <a:prstGeom prst="rect">
              <a:avLst/>
            </a:prstGeom>
            <a:noFill/>
            <a:ln>
              <a:noFill/>
            </a:ln>
          </p:spPr>
          <p:txBody>
            <a:bodyPr>
              <a:spAutoFit/>
            </a:bodyPr>
            <a:lstStyle/>
            <a:p>
              <a:pPr eaLnBrk="1" hangingPunct="1">
                <a:spcBef>
                  <a:spcPct val="50000"/>
                </a:spcBef>
                <a:defRPr/>
              </a:pPr>
              <a:r>
                <a:rPr lang="en-US" dirty="0"/>
                <a:t>Y</a:t>
              </a:r>
              <a:r>
                <a:rPr lang="en-US" baseline="-25000" dirty="0"/>
                <a:t>A</a:t>
              </a:r>
              <a:endParaRPr lang="ru-RU"/>
            </a:p>
          </p:txBody>
        </p:sp>
        <p:sp>
          <p:nvSpPr>
            <p:cNvPr id="21521" name="Text Box 15">
              <a:extLst>
                <a:ext uri="{FF2B5EF4-FFF2-40B4-BE49-F238E27FC236}">
                  <a16:creationId xmlns:a16="http://schemas.microsoft.com/office/drawing/2014/main" id="{847A22FC-08AD-427B-81B2-1CDF600F6C6B}"/>
                </a:ext>
              </a:extLst>
            </p:cNvPr>
            <p:cNvSpPr txBox="1">
              <a:spLocks noChangeArrowheads="1"/>
            </p:cNvSpPr>
            <p:nvPr/>
          </p:nvSpPr>
          <p:spPr bwMode="auto">
            <a:xfrm>
              <a:off x="2444" y="2415"/>
              <a:ext cx="454" cy="233"/>
            </a:xfrm>
            <a:prstGeom prst="rect">
              <a:avLst/>
            </a:prstGeom>
            <a:noFill/>
            <a:ln>
              <a:noFill/>
            </a:ln>
          </p:spPr>
          <p:txBody>
            <a:bodyPr>
              <a:spAutoFit/>
            </a:bodyPr>
            <a:lstStyle/>
            <a:p>
              <a:pPr eaLnBrk="1" hangingPunct="1">
                <a:spcBef>
                  <a:spcPct val="50000"/>
                </a:spcBef>
                <a:defRPr/>
              </a:pPr>
              <a:r>
                <a:rPr lang="en-US" dirty="0"/>
                <a:t>Y</a:t>
              </a:r>
              <a:r>
                <a:rPr lang="en-US" baseline="-25000" dirty="0"/>
                <a:t>B</a:t>
              </a:r>
              <a:endParaRPr lang="ru-RU" dirty="0"/>
            </a:p>
          </p:txBody>
        </p:sp>
        <p:sp>
          <p:nvSpPr>
            <p:cNvPr id="21522" name="Text Box 16">
              <a:extLst>
                <a:ext uri="{FF2B5EF4-FFF2-40B4-BE49-F238E27FC236}">
                  <a16:creationId xmlns:a16="http://schemas.microsoft.com/office/drawing/2014/main" id="{EB034719-CFA1-4466-AF0B-F3BC8C339209}"/>
                </a:ext>
              </a:extLst>
            </p:cNvPr>
            <p:cNvSpPr txBox="1">
              <a:spLocks noChangeArrowheads="1"/>
            </p:cNvSpPr>
            <p:nvPr/>
          </p:nvSpPr>
          <p:spPr bwMode="auto">
            <a:xfrm>
              <a:off x="448" y="1952"/>
              <a:ext cx="454" cy="233"/>
            </a:xfrm>
            <a:prstGeom prst="rect">
              <a:avLst/>
            </a:prstGeom>
            <a:noFill/>
            <a:ln>
              <a:noFill/>
            </a:ln>
          </p:spPr>
          <p:txBody>
            <a:bodyPr>
              <a:spAutoFit/>
            </a:bodyPr>
            <a:lstStyle/>
            <a:p>
              <a:pPr eaLnBrk="1" hangingPunct="1">
                <a:spcBef>
                  <a:spcPct val="50000"/>
                </a:spcBef>
                <a:defRPr/>
              </a:pPr>
              <a:r>
                <a:rPr lang="en-US" dirty="0"/>
                <a:t>X</a:t>
              </a:r>
              <a:endParaRPr lang="ru-RU" dirty="0"/>
            </a:p>
          </p:txBody>
        </p:sp>
        <p:sp>
          <p:nvSpPr>
            <p:cNvPr id="21523" name="Text Box 17">
              <a:extLst>
                <a:ext uri="{FF2B5EF4-FFF2-40B4-BE49-F238E27FC236}">
                  <a16:creationId xmlns:a16="http://schemas.microsoft.com/office/drawing/2014/main" id="{A54815B6-01DD-4A99-9360-9A3B8E0D7C9A}"/>
                </a:ext>
              </a:extLst>
            </p:cNvPr>
            <p:cNvSpPr txBox="1">
              <a:spLocks noChangeArrowheads="1"/>
            </p:cNvSpPr>
            <p:nvPr/>
          </p:nvSpPr>
          <p:spPr bwMode="auto">
            <a:xfrm>
              <a:off x="937" y="2940"/>
              <a:ext cx="636" cy="233"/>
            </a:xfrm>
            <a:prstGeom prst="rect">
              <a:avLst/>
            </a:prstGeom>
            <a:noFill/>
            <a:ln>
              <a:noFill/>
            </a:ln>
          </p:spPr>
          <p:txBody>
            <a:bodyPr>
              <a:spAutoFit/>
            </a:bodyPr>
            <a:lstStyle/>
            <a:p>
              <a:pPr eaLnBrk="1" hangingPunct="1">
                <a:spcBef>
                  <a:spcPct val="50000"/>
                </a:spcBef>
                <a:defRPr/>
              </a:pPr>
              <a:r>
                <a:rPr lang="en-US" dirty="0"/>
                <a:t>A</a:t>
              </a:r>
              <a:r>
                <a:rPr lang="en-US" dirty="0">
                  <a:sym typeface="Symbol" pitchFamily="18" charset="2"/>
                </a:rPr>
                <a:t>B</a:t>
              </a:r>
            </a:p>
          </p:txBody>
        </p:sp>
      </p:grpSp>
      <p:sp>
        <p:nvSpPr>
          <p:cNvPr id="133138" name="Text Box 18">
            <a:extLst>
              <a:ext uri="{FF2B5EF4-FFF2-40B4-BE49-F238E27FC236}">
                <a16:creationId xmlns:a16="http://schemas.microsoft.com/office/drawing/2014/main" id="{9F5A9C27-C615-4B47-927D-A26CC4C4E5FD}"/>
              </a:ext>
            </a:extLst>
          </p:cNvPr>
          <p:cNvSpPr txBox="1">
            <a:spLocks noChangeArrowheads="1"/>
          </p:cNvSpPr>
          <p:nvPr/>
        </p:nvSpPr>
        <p:spPr bwMode="auto">
          <a:xfrm>
            <a:off x="6311900" y="2133600"/>
            <a:ext cx="3600450" cy="369332"/>
          </a:xfrm>
          <a:prstGeom prst="rect">
            <a:avLst/>
          </a:prstGeom>
          <a:noFill/>
          <a:ln w="9525">
            <a:noFill/>
            <a:miter lim="800000"/>
            <a:headEnd/>
            <a:tailEnd/>
          </a:ln>
          <a:effectLst/>
        </p:spPr>
        <p:txBody>
          <a:bodyPr>
            <a:spAutoFit/>
          </a:bodyPr>
          <a:lstStyle/>
          <a:p>
            <a:pPr eaLnBrk="1" hangingPunct="1">
              <a:spcBef>
                <a:spcPct val="50000"/>
              </a:spcBef>
              <a:defRPr/>
            </a:pPr>
            <a:endParaRPr lang="ru-RU" b="1">
              <a:effectLst>
                <a:outerShdw blurRad="38100" dist="38100" dir="2700000" algn="tl">
                  <a:srgbClr val="C0C0C0"/>
                </a:outerShdw>
              </a:effectLst>
            </a:endParaRPr>
          </a:p>
        </p:txBody>
      </p:sp>
      <p:sp>
        <p:nvSpPr>
          <p:cNvPr id="21509" name="Text Box 19">
            <a:extLst>
              <a:ext uri="{FF2B5EF4-FFF2-40B4-BE49-F238E27FC236}">
                <a16:creationId xmlns:a16="http://schemas.microsoft.com/office/drawing/2014/main" id="{690E805C-000C-49BB-83DC-CBB35D1834BC}"/>
              </a:ext>
            </a:extLst>
          </p:cNvPr>
          <p:cNvSpPr txBox="1">
            <a:spLocks noChangeArrowheads="1"/>
          </p:cNvSpPr>
          <p:nvPr/>
        </p:nvSpPr>
        <p:spPr bwMode="auto">
          <a:xfrm>
            <a:off x="6167438" y="2538413"/>
            <a:ext cx="4032250" cy="923330"/>
          </a:xfrm>
          <a:prstGeom prst="rect">
            <a:avLst/>
          </a:prstGeom>
          <a:noFill/>
          <a:ln w="9525">
            <a:noFill/>
            <a:miter lim="800000"/>
            <a:headEnd/>
            <a:tailEnd/>
          </a:ln>
        </p:spPr>
        <p:txBody>
          <a:bodyPr>
            <a:spAutoFit/>
          </a:bodyPr>
          <a:lstStyle/>
          <a:p>
            <a:pPr eaLnBrk="1" hangingPunct="1">
              <a:spcBef>
                <a:spcPct val="50000"/>
              </a:spcBef>
              <a:defRPr/>
            </a:pPr>
            <a:r>
              <a:rPr lang="en-US" dirty="0"/>
              <a:t>Direct product of FSM – two non-interacting FSMs, operating in the same common input. </a:t>
            </a:r>
            <a:endParaRPr lang="ru-RU" dirty="0"/>
          </a:p>
        </p:txBody>
      </p:sp>
      <p:sp>
        <p:nvSpPr>
          <p:cNvPr id="4" name="Title 3">
            <a:extLst>
              <a:ext uri="{FF2B5EF4-FFF2-40B4-BE49-F238E27FC236}">
                <a16:creationId xmlns:a16="http://schemas.microsoft.com/office/drawing/2014/main" id="{8B16DB60-5740-E057-6F32-546DD9ED37A6}"/>
              </a:ext>
            </a:extLst>
          </p:cNvPr>
          <p:cNvSpPr>
            <a:spLocks noGrp="1"/>
          </p:cNvSpPr>
          <p:nvPr>
            <p:ph type="title"/>
          </p:nvPr>
        </p:nvSpPr>
        <p:spPr/>
        <p:txBody>
          <a:bodyPr>
            <a:normAutofit/>
          </a:bodyPr>
          <a:lstStyle/>
          <a:p>
            <a:r>
              <a:rPr lang="en-US" dirty="0"/>
              <a:t>Product of FSM</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229D996-4809-2263-F513-A6359D74CDA7}"/>
              </a:ext>
            </a:extLst>
          </p:cNvPr>
          <p:cNvSpPr>
            <a:spLocks noGrp="1"/>
          </p:cNvSpPr>
          <p:nvPr>
            <p:ph type="body" sz="quarter" idx="10"/>
          </p:nvPr>
        </p:nvSpPr>
        <p:spPr/>
        <p:txBody>
          <a:bodyPr/>
          <a:lstStyle/>
          <a:p>
            <a:pPr eaLnBrk="1" hangingPunct="1"/>
            <a:r>
              <a:rPr lang="en-US" altLang="en-US" dirty="0"/>
              <a:t>Moore theorem: </a:t>
            </a:r>
          </a:p>
          <a:p>
            <a:pPr eaLnBrk="1" hangingPunct="1"/>
            <a:r>
              <a:rPr lang="en-US" altLang="en-US" dirty="0"/>
              <a:t>Two FSMs A = {X, Y</a:t>
            </a:r>
            <a:r>
              <a:rPr lang="en-US" altLang="en-US" baseline="-25000" dirty="0"/>
              <a:t>A</a:t>
            </a:r>
            <a:r>
              <a:rPr lang="en-US" altLang="en-US" dirty="0"/>
              <a:t>, S</a:t>
            </a:r>
            <a:r>
              <a:rPr lang="en-US" altLang="en-US" baseline="-25000" dirty="0"/>
              <a:t>A</a:t>
            </a:r>
            <a:r>
              <a:rPr lang="en-US" altLang="en-US" dirty="0"/>
              <a:t>, </a:t>
            </a:r>
            <a:r>
              <a:rPr lang="en-US" altLang="en-US" dirty="0">
                <a:sym typeface="Symbol" panose="05050102010706020507" pitchFamily="18" charset="2"/>
              </a:rPr>
              <a:t></a:t>
            </a:r>
            <a:r>
              <a:rPr lang="en-US" altLang="en-US" baseline="-25000" dirty="0">
                <a:sym typeface="Symbol" panose="05050102010706020507" pitchFamily="18" charset="2"/>
              </a:rPr>
              <a:t>A</a:t>
            </a:r>
            <a:r>
              <a:rPr lang="en-US" altLang="en-US" dirty="0">
                <a:sym typeface="Symbol" panose="05050102010706020507" pitchFamily="18" charset="2"/>
              </a:rPr>
              <a:t> ,</a:t>
            </a:r>
            <a:r>
              <a:rPr lang="en-US" altLang="en-US" baseline="-25000" dirty="0">
                <a:sym typeface="Symbol" panose="05050102010706020507" pitchFamily="18" charset="2"/>
              </a:rPr>
              <a:t>A</a:t>
            </a:r>
            <a:r>
              <a:rPr lang="en-US" altLang="en-US" dirty="0">
                <a:sym typeface="Symbol" panose="05050102010706020507" pitchFamily="18" charset="2"/>
              </a:rPr>
              <a:t>} </a:t>
            </a:r>
            <a:r>
              <a:rPr lang="en-US" altLang="en-US" dirty="0"/>
              <a:t> and B = {X, Y</a:t>
            </a:r>
            <a:r>
              <a:rPr lang="en-US" altLang="en-US" baseline="-25000" dirty="0"/>
              <a:t>B</a:t>
            </a:r>
            <a:r>
              <a:rPr lang="en-US" altLang="en-US" dirty="0"/>
              <a:t>, S</a:t>
            </a:r>
            <a:r>
              <a:rPr lang="en-US" altLang="en-US" baseline="-25000" dirty="0"/>
              <a:t>B</a:t>
            </a:r>
            <a:r>
              <a:rPr lang="en-US" altLang="en-US" dirty="0"/>
              <a:t>, </a:t>
            </a:r>
            <a:r>
              <a:rPr lang="en-US" altLang="en-US" dirty="0">
                <a:sym typeface="Symbol" panose="05050102010706020507" pitchFamily="18" charset="2"/>
              </a:rPr>
              <a:t></a:t>
            </a:r>
            <a:r>
              <a:rPr lang="en-US" altLang="en-US" baseline="-25000" dirty="0">
                <a:sym typeface="Symbol" panose="05050102010706020507" pitchFamily="18" charset="2"/>
              </a:rPr>
              <a:t>B</a:t>
            </a:r>
            <a:r>
              <a:rPr lang="en-US" altLang="en-US" dirty="0">
                <a:sym typeface="Symbol" panose="05050102010706020507" pitchFamily="18" charset="2"/>
              </a:rPr>
              <a:t> ,</a:t>
            </a:r>
            <a:r>
              <a:rPr lang="en-US" altLang="en-US" baseline="-25000" dirty="0">
                <a:sym typeface="Symbol" panose="05050102010706020507" pitchFamily="18" charset="2"/>
              </a:rPr>
              <a:t>B</a:t>
            </a:r>
            <a:r>
              <a:rPr lang="en-US" altLang="en-US" dirty="0">
                <a:sym typeface="Symbol" panose="05050102010706020507" pitchFamily="18" charset="2"/>
              </a:rPr>
              <a:t>} </a:t>
            </a:r>
          </a:p>
          <a:p>
            <a:pPr eaLnBrk="1" hangingPunct="1"/>
            <a:r>
              <a:rPr lang="en-US" altLang="en-US" dirty="0">
                <a:sym typeface="Symbol" panose="05050102010706020507" pitchFamily="18" charset="2"/>
              </a:rPr>
              <a:t>with identical input alphabets are equivalent only when for any reachable state (</a:t>
            </a:r>
            <a:r>
              <a:rPr lang="en-US" altLang="en-US" dirty="0" err="1">
                <a:sym typeface="Symbol" panose="05050102010706020507" pitchFamily="18" charset="2"/>
              </a:rPr>
              <a:t>s</a:t>
            </a:r>
            <a:r>
              <a:rPr lang="en-US" altLang="en-US" baseline="-25000" dirty="0" err="1">
                <a:sym typeface="Symbol" panose="05050102010706020507" pitchFamily="18" charset="2"/>
              </a:rPr>
              <a:t>A</a:t>
            </a:r>
            <a:r>
              <a:rPr lang="en-US" altLang="en-US" dirty="0" err="1">
                <a:sym typeface="Symbol" panose="05050102010706020507" pitchFamily="18" charset="2"/>
              </a:rPr>
              <a:t>,s</a:t>
            </a:r>
            <a:r>
              <a:rPr lang="en-US" altLang="en-US" baseline="-25000" dirty="0" err="1">
                <a:sym typeface="Symbol" panose="05050102010706020507" pitchFamily="18" charset="2"/>
              </a:rPr>
              <a:t>B</a:t>
            </a:r>
            <a:r>
              <a:rPr lang="en-US" altLang="en-US" dirty="0">
                <a:sym typeface="Symbol" panose="05050102010706020507" pitchFamily="18" charset="2"/>
              </a:rPr>
              <a:t>) of FSM production АB, the following is carried out:(</a:t>
            </a:r>
            <a:r>
              <a:rPr lang="en-US" altLang="en-US" dirty="0" err="1">
                <a:sym typeface="Symbol" panose="05050102010706020507" pitchFamily="18" charset="2"/>
              </a:rPr>
              <a:t>xX</a:t>
            </a:r>
            <a:r>
              <a:rPr lang="en-US" altLang="en-US" dirty="0">
                <a:sym typeface="Symbol" panose="05050102010706020507" pitchFamily="18" charset="2"/>
              </a:rPr>
              <a:t>)</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dirty="0" err="1">
                <a:sym typeface="Symbol" panose="05050102010706020507" pitchFamily="18" charset="2"/>
              </a:rPr>
              <a:t>s</a:t>
            </a:r>
            <a:r>
              <a:rPr lang="en-US" altLang="en-US" baseline="-25000" dirty="0" err="1">
                <a:sym typeface="Symbol" panose="05050102010706020507" pitchFamily="18" charset="2"/>
              </a:rPr>
              <a:t>A</a:t>
            </a:r>
            <a:r>
              <a:rPr lang="ru-RU" altLang="en-US" dirty="0">
                <a:sym typeface="Symbol" panose="05050102010706020507" pitchFamily="18" charset="2"/>
              </a:rPr>
              <a:t>,</a:t>
            </a:r>
            <a:r>
              <a:rPr lang="en-US" altLang="en-US" dirty="0">
                <a:sym typeface="Symbol" panose="05050102010706020507" pitchFamily="18" charset="2"/>
              </a:rPr>
              <a:t>x)= </a:t>
            </a:r>
            <a:r>
              <a:rPr lang="en-US" altLang="en-US" baseline="-25000" dirty="0">
                <a:sym typeface="Symbol" panose="05050102010706020507" pitchFamily="18" charset="2"/>
              </a:rPr>
              <a:t>B</a:t>
            </a:r>
            <a:r>
              <a:rPr lang="en-US" altLang="en-US" dirty="0">
                <a:sym typeface="Symbol" panose="05050102010706020507" pitchFamily="18" charset="2"/>
              </a:rPr>
              <a:t>(</a:t>
            </a:r>
            <a:r>
              <a:rPr lang="en-US" altLang="en-US" dirty="0" err="1">
                <a:sym typeface="Symbol" panose="05050102010706020507" pitchFamily="18" charset="2"/>
              </a:rPr>
              <a:t>s</a:t>
            </a:r>
            <a:r>
              <a:rPr lang="en-US" altLang="en-US" baseline="-25000" dirty="0" err="1">
                <a:sym typeface="Symbol" panose="05050102010706020507" pitchFamily="18" charset="2"/>
              </a:rPr>
              <a:t>B</a:t>
            </a:r>
            <a:r>
              <a:rPr lang="ru-RU" altLang="en-US" dirty="0">
                <a:sym typeface="Symbol" panose="05050102010706020507" pitchFamily="18" charset="2"/>
              </a:rPr>
              <a:t>,</a:t>
            </a:r>
            <a:r>
              <a:rPr lang="en-US" altLang="en-US" dirty="0">
                <a:sym typeface="Symbol" panose="05050102010706020507" pitchFamily="18" charset="2"/>
              </a:rPr>
              <a:t>x). </a:t>
            </a:r>
          </a:p>
          <a:p>
            <a:pPr eaLnBrk="1" hangingPunct="1"/>
            <a:r>
              <a:rPr lang="en-US" altLang="en-US" dirty="0"/>
              <a:t>For every state in A there is a corresponding equivalent state in B and vice versa.</a:t>
            </a:r>
            <a:endParaRPr lang="en-US" altLang="en-US" dirty="0">
              <a:sym typeface="Symbol" panose="05050102010706020507" pitchFamily="18" charset="2"/>
            </a:endParaRPr>
          </a:p>
          <a:p>
            <a:pPr>
              <a:spcBef>
                <a:spcPct val="20000"/>
              </a:spcBef>
            </a:pPr>
            <a:r>
              <a:rPr lang="en-US" altLang="en-US" dirty="0"/>
              <a:t>Theorem: The equivalence partition is unique.</a:t>
            </a:r>
          </a:p>
          <a:p>
            <a:pPr eaLnBrk="1" hangingPunct="1">
              <a:spcBef>
                <a:spcPct val="50000"/>
              </a:spcBef>
            </a:pPr>
            <a:endParaRPr lang="en-US" altLang="en-US" dirty="0">
              <a:sym typeface="Symbol" panose="05050102010706020507" pitchFamily="18" charset="2"/>
            </a:endParaRPr>
          </a:p>
          <a:p>
            <a:endParaRPr lang="en-US" dirty="0"/>
          </a:p>
        </p:txBody>
      </p:sp>
      <p:sp>
        <p:nvSpPr>
          <p:cNvPr id="5" name="Title 4">
            <a:extLst>
              <a:ext uri="{FF2B5EF4-FFF2-40B4-BE49-F238E27FC236}">
                <a16:creationId xmlns:a16="http://schemas.microsoft.com/office/drawing/2014/main" id="{6E0BEFDE-4944-EACC-C386-3BA597BD8C7B}"/>
              </a:ext>
            </a:extLst>
          </p:cNvPr>
          <p:cNvSpPr>
            <a:spLocks noGrp="1"/>
          </p:cNvSpPr>
          <p:nvPr>
            <p:ph type="title"/>
          </p:nvPr>
        </p:nvSpPr>
        <p:spPr/>
        <p:txBody>
          <a:bodyPr>
            <a:normAutofit/>
          </a:bodyPr>
          <a:lstStyle/>
          <a:p>
            <a:r>
              <a:rPr lang="en-US" dirty="0"/>
              <a:t>Equivalence of FSM  (Production of FSM)</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6D113FC9-5BFE-A3C3-72D8-82FB938C622E}"/>
              </a:ext>
            </a:extLst>
          </p:cNvPr>
          <p:cNvSpPr>
            <a:spLocks noGrp="1" noChangeArrowheads="1"/>
          </p:cNvSpPr>
          <p:nvPr>
            <p:ph type="title"/>
          </p:nvPr>
        </p:nvSpPr>
        <p:spPr>
          <a:xfrm>
            <a:off x="-1" y="183402"/>
            <a:ext cx="11612880" cy="704088"/>
          </a:xfrm>
        </p:spPr>
        <p:txBody>
          <a:bodyPr/>
          <a:lstStyle/>
          <a:p>
            <a:r>
              <a:rPr lang="en-US" altLang="en-US"/>
              <a:t>Example</a:t>
            </a:r>
            <a:endParaRPr lang="en-GB" altLang="en-US"/>
          </a:p>
        </p:txBody>
      </p:sp>
      <p:sp>
        <p:nvSpPr>
          <p:cNvPr id="41987" name="Rectangle 31">
            <a:extLst>
              <a:ext uri="{FF2B5EF4-FFF2-40B4-BE49-F238E27FC236}">
                <a16:creationId xmlns:a16="http://schemas.microsoft.com/office/drawing/2014/main" id="{BA211011-DB81-8517-423F-645B1EC1F26C}"/>
              </a:ext>
            </a:extLst>
          </p:cNvPr>
          <p:cNvSpPr>
            <a:spLocks noChangeArrowheads="1"/>
          </p:cNvSpPr>
          <p:nvPr/>
        </p:nvSpPr>
        <p:spPr bwMode="auto">
          <a:xfrm>
            <a:off x="1524001" y="-22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nvGrpSpPr>
          <p:cNvPr id="41988" name="Group 2">
            <a:extLst>
              <a:ext uri="{FF2B5EF4-FFF2-40B4-BE49-F238E27FC236}">
                <a16:creationId xmlns:a16="http://schemas.microsoft.com/office/drawing/2014/main" id="{04870B43-0669-A3D7-1B74-2AB1BCDD1D81}"/>
              </a:ext>
            </a:extLst>
          </p:cNvPr>
          <p:cNvGrpSpPr>
            <a:grpSpLocks/>
          </p:cNvGrpSpPr>
          <p:nvPr/>
        </p:nvGrpSpPr>
        <p:grpSpPr bwMode="auto">
          <a:xfrm>
            <a:off x="3429000" y="1800225"/>
            <a:ext cx="6210300" cy="3467100"/>
            <a:chOff x="1904998" y="1800860"/>
            <a:chExt cx="6210301" cy="3467098"/>
          </a:xfrm>
        </p:grpSpPr>
        <p:grpSp>
          <p:nvGrpSpPr>
            <p:cNvPr id="41990" name="Group 1">
              <a:extLst>
                <a:ext uri="{FF2B5EF4-FFF2-40B4-BE49-F238E27FC236}">
                  <a16:creationId xmlns:a16="http://schemas.microsoft.com/office/drawing/2014/main" id="{C4107FE1-30A8-4602-BCFE-12A977A8F723}"/>
                </a:ext>
              </a:extLst>
            </p:cNvPr>
            <p:cNvGrpSpPr>
              <a:grpSpLocks/>
            </p:cNvGrpSpPr>
            <p:nvPr/>
          </p:nvGrpSpPr>
          <p:grpSpPr bwMode="auto">
            <a:xfrm>
              <a:off x="1904998" y="2204350"/>
              <a:ext cx="6210301" cy="3063608"/>
              <a:chOff x="4613" y="3946"/>
              <a:chExt cx="6046" cy="3276"/>
            </a:xfrm>
          </p:grpSpPr>
          <p:sp>
            <p:nvSpPr>
              <p:cNvPr id="41993" name="Text Box 30">
                <a:extLst>
                  <a:ext uri="{FF2B5EF4-FFF2-40B4-BE49-F238E27FC236}">
                    <a16:creationId xmlns:a16="http://schemas.microsoft.com/office/drawing/2014/main" id="{D63045B2-2823-F986-7D0E-7170748FC213}"/>
                  </a:ext>
                </a:extLst>
              </p:cNvPr>
              <p:cNvSpPr txBox="1">
                <a:spLocks noChangeArrowheads="1"/>
              </p:cNvSpPr>
              <p:nvPr/>
            </p:nvSpPr>
            <p:spPr bwMode="auto">
              <a:xfrm>
                <a:off x="5441" y="6682"/>
                <a:ext cx="72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(a)</a:t>
                </a:r>
                <a:endParaRPr lang="en-US" altLang="en-US" sz="1600"/>
              </a:p>
            </p:txBody>
          </p:sp>
          <p:sp>
            <p:nvSpPr>
              <p:cNvPr id="41994" name="Text Box 29">
                <a:extLst>
                  <a:ext uri="{FF2B5EF4-FFF2-40B4-BE49-F238E27FC236}">
                    <a16:creationId xmlns:a16="http://schemas.microsoft.com/office/drawing/2014/main" id="{02BC272A-762F-7514-F0C8-654B21E460B8}"/>
                  </a:ext>
                </a:extLst>
              </p:cNvPr>
              <p:cNvSpPr txBox="1">
                <a:spLocks noChangeArrowheads="1"/>
              </p:cNvSpPr>
              <p:nvPr/>
            </p:nvSpPr>
            <p:spPr bwMode="auto">
              <a:xfrm>
                <a:off x="8472" y="6556"/>
                <a:ext cx="72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(б)</a:t>
                </a:r>
                <a:endParaRPr lang="en-US" altLang="en-US" sz="1600"/>
              </a:p>
            </p:txBody>
          </p:sp>
          <p:grpSp>
            <p:nvGrpSpPr>
              <p:cNvPr id="41995" name="Group 13">
                <a:extLst>
                  <a:ext uri="{FF2B5EF4-FFF2-40B4-BE49-F238E27FC236}">
                    <a16:creationId xmlns:a16="http://schemas.microsoft.com/office/drawing/2014/main" id="{5F5761B6-9CDC-77DB-66FE-9BAF63832BA4}"/>
                  </a:ext>
                </a:extLst>
              </p:cNvPr>
              <p:cNvGrpSpPr>
                <a:grpSpLocks/>
              </p:cNvGrpSpPr>
              <p:nvPr/>
            </p:nvGrpSpPr>
            <p:grpSpPr bwMode="auto">
              <a:xfrm>
                <a:off x="4613" y="3998"/>
                <a:ext cx="2910" cy="3013"/>
                <a:chOff x="4613" y="3998"/>
                <a:chExt cx="2910" cy="3013"/>
              </a:xfrm>
            </p:grpSpPr>
            <p:sp>
              <p:nvSpPr>
                <p:cNvPr id="42007" name="Text Box 28">
                  <a:extLst>
                    <a:ext uri="{FF2B5EF4-FFF2-40B4-BE49-F238E27FC236}">
                      <a16:creationId xmlns:a16="http://schemas.microsoft.com/office/drawing/2014/main" id="{08C9CA98-7D19-B94B-A55A-128540470D4A}"/>
                    </a:ext>
                  </a:extLst>
                </p:cNvPr>
                <p:cNvSpPr txBox="1">
                  <a:spLocks noChangeArrowheads="1"/>
                </p:cNvSpPr>
                <p:nvPr/>
              </p:nvSpPr>
              <p:spPr bwMode="auto">
                <a:xfrm>
                  <a:off x="4613" y="6533"/>
                  <a:ext cx="1015"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2</a:t>
                  </a:r>
                  <a:r>
                    <a:rPr lang="en-US" altLang="en-US" sz="1600">
                      <a:cs typeface="Times New Roman" panose="02020603050405020304" pitchFamily="18" charset="0"/>
                    </a:rPr>
                    <a:t>/1</a:t>
                  </a:r>
                  <a:endParaRPr lang="en-US" altLang="en-US" sz="1600"/>
                </a:p>
              </p:txBody>
            </p:sp>
            <p:sp>
              <p:nvSpPr>
                <p:cNvPr id="42008" name="Oval 27">
                  <a:extLst>
                    <a:ext uri="{FF2B5EF4-FFF2-40B4-BE49-F238E27FC236}">
                      <a16:creationId xmlns:a16="http://schemas.microsoft.com/office/drawing/2014/main" id="{24C4FA6B-4718-F41C-601C-27499C130340}"/>
                    </a:ext>
                  </a:extLst>
                </p:cNvPr>
                <p:cNvSpPr>
                  <a:spLocks noChangeArrowheads="1"/>
                </p:cNvSpPr>
                <p:nvPr/>
              </p:nvSpPr>
              <p:spPr bwMode="auto">
                <a:xfrm>
                  <a:off x="5187" y="4542"/>
                  <a:ext cx="599" cy="571"/>
                </a:xfrm>
                <a:prstGeom prst="ellipse">
                  <a:avLst/>
                </a:prstGeom>
                <a:solidFill>
                  <a:schemeClr val="accent1">
                    <a:lumMod val="60000"/>
                    <a:lumOff val="40000"/>
                  </a:schemeClr>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q0</a:t>
                  </a:r>
                  <a:endParaRPr lang="en-US" altLang="en-US" sz="1600"/>
                </a:p>
              </p:txBody>
            </p:sp>
            <p:sp>
              <p:nvSpPr>
                <p:cNvPr id="42009" name="Oval 26">
                  <a:extLst>
                    <a:ext uri="{FF2B5EF4-FFF2-40B4-BE49-F238E27FC236}">
                      <a16:creationId xmlns:a16="http://schemas.microsoft.com/office/drawing/2014/main" id="{6E92A6E7-226D-FD07-70CA-4058DBB165B4}"/>
                    </a:ext>
                  </a:extLst>
                </p:cNvPr>
                <p:cNvSpPr>
                  <a:spLocks noChangeArrowheads="1"/>
                </p:cNvSpPr>
                <p:nvPr/>
              </p:nvSpPr>
              <p:spPr bwMode="auto">
                <a:xfrm>
                  <a:off x="6647" y="4542"/>
                  <a:ext cx="599" cy="571"/>
                </a:xfrm>
                <a:prstGeom prst="ellipse">
                  <a:avLst/>
                </a:prstGeom>
                <a:solidFill>
                  <a:schemeClr val="accent1">
                    <a:lumMod val="60000"/>
                    <a:lumOff val="40000"/>
                  </a:schemeClr>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q1</a:t>
                  </a:r>
                  <a:endParaRPr lang="en-US" altLang="en-US" sz="1600"/>
                </a:p>
              </p:txBody>
            </p:sp>
            <p:sp>
              <p:nvSpPr>
                <p:cNvPr id="42010" name="Oval 25">
                  <a:extLst>
                    <a:ext uri="{FF2B5EF4-FFF2-40B4-BE49-F238E27FC236}">
                      <a16:creationId xmlns:a16="http://schemas.microsoft.com/office/drawing/2014/main" id="{978BDAD8-4EBE-9511-B09F-1A06DF519D06}"/>
                    </a:ext>
                  </a:extLst>
                </p:cNvPr>
                <p:cNvSpPr>
                  <a:spLocks noChangeArrowheads="1"/>
                </p:cNvSpPr>
                <p:nvPr/>
              </p:nvSpPr>
              <p:spPr bwMode="auto">
                <a:xfrm>
                  <a:off x="5187" y="5749"/>
                  <a:ext cx="599" cy="571"/>
                </a:xfrm>
                <a:prstGeom prst="ellipse">
                  <a:avLst/>
                </a:prstGeom>
                <a:solidFill>
                  <a:schemeClr val="accent1">
                    <a:lumMod val="60000"/>
                    <a:lumOff val="40000"/>
                  </a:schemeClr>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q2</a:t>
                  </a:r>
                  <a:endParaRPr lang="en-US" altLang="en-US" sz="1600"/>
                </a:p>
              </p:txBody>
            </p:sp>
            <p:sp>
              <p:nvSpPr>
                <p:cNvPr id="42011" name="Line 24">
                  <a:extLst>
                    <a:ext uri="{FF2B5EF4-FFF2-40B4-BE49-F238E27FC236}">
                      <a16:creationId xmlns:a16="http://schemas.microsoft.com/office/drawing/2014/main" id="{6FDE8734-D6F6-4168-D076-0763EA3BF26F}"/>
                    </a:ext>
                  </a:extLst>
                </p:cNvPr>
                <p:cNvSpPr>
                  <a:spLocks noChangeShapeType="1"/>
                </p:cNvSpPr>
                <p:nvPr/>
              </p:nvSpPr>
              <p:spPr bwMode="auto">
                <a:xfrm>
                  <a:off x="5813" y="4820"/>
                  <a:ext cx="834"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12" name="Text Box 23">
                  <a:extLst>
                    <a:ext uri="{FF2B5EF4-FFF2-40B4-BE49-F238E27FC236}">
                      <a16:creationId xmlns:a16="http://schemas.microsoft.com/office/drawing/2014/main" id="{222A21AA-ED37-7C25-D832-26E2C38D9748}"/>
                    </a:ext>
                  </a:extLst>
                </p:cNvPr>
                <p:cNvSpPr txBox="1">
                  <a:spLocks noChangeArrowheads="1"/>
                </p:cNvSpPr>
                <p:nvPr/>
              </p:nvSpPr>
              <p:spPr bwMode="auto">
                <a:xfrm>
                  <a:off x="6022" y="4462"/>
                  <a:ext cx="667"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1</a:t>
                  </a:r>
                  <a:r>
                    <a:rPr lang="en-US" altLang="en-US" sz="1600">
                      <a:cs typeface="Times New Roman" panose="02020603050405020304" pitchFamily="18" charset="0"/>
                    </a:rPr>
                    <a:t>/1</a:t>
                  </a:r>
                  <a:endParaRPr lang="en-US" altLang="en-US" sz="1600"/>
                </a:p>
              </p:txBody>
            </p:sp>
            <p:sp>
              <p:nvSpPr>
                <p:cNvPr id="42013" name="Line 22">
                  <a:extLst>
                    <a:ext uri="{FF2B5EF4-FFF2-40B4-BE49-F238E27FC236}">
                      <a16:creationId xmlns:a16="http://schemas.microsoft.com/office/drawing/2014/main" id="{11BB4498-2941-6A0D-AA2A-B23B0B390F26}"/>
                    </a:ext>
                  </a:extLst>
                </p:cNvPr>
                <p:cNvSpPr>
                  <a:spLocks noChangeShapeType="1"/>
                </p:cNvSpPr>
                <p:nvPr/>
              </p:nvSpPr>
              <p:spPr bwMode="auto">
                <a:xfrm>
                  <a:off x="5479" y="5112"/>
                  <a:ext cx="0" cy="62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14" name="Text Box 21">
                  <a:extLst>
                    <a:ext uri="{FF2B5EF4-FFF2-40B4-BE49-F238E27FC236}">
                      <a16:creationId xmlns:a16="http://schemas.microsoft.com/office/drawing/2014/main" id="{EB214797-750F-8A13-077A-607AC627BC40}"/>
                    </a:ext>
                  </a:extLst>
                </p:cNvPr>
                <p:cNvSpPr txBox="1">
                  <a:spLocks noChangeArrowheads="1"/>
                </p:cNvSpPr>
                <p:nvPr/>
              </p:nvSpPr>
              <p:spPr bwMode="auto">
                <a:xfrm>
                  <a:off x="4979" y="5179"/>
                  <a:ext cx="834"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2</a:t>
                  </a:r>
                  <a:r>
                    <a:rPr lang="en-US" altLang="en-US" sz="1600">
                      <a:cs typeface="Times New Roman" panose="02020603050405020304" pitchFamily="18" charset="0"/>
                    </a:rPr>
                    <a:t>/0</a:t>
                  </a:r>
                  <a:endParaRPr lang="en-US" altLang="en-US" sz="1600"/>
                </a:p>
              </p:txBody>
            </p:sp>
            <p:sp>
              <p:nvSpPr>
                <p:cNvPr id="42015" name="Arc 20">
                  <a:extLst>
                    <a:ext uri="{FF2B5EF4-FFF2-40B4-BE49-F238E27FC236}">
                      <a16:creationId xmlns:a16="http://schemas.microsoft.com/office/drawing/2014/main" id="{73901B2D-1690-DCE9-2026-1E6AE9FF7B14}"/>
                    </a:ext>
                  </a:extLst>
                </p:cNvPr>
                <p:cNvSpPr>
                  <a:spLocks/>
                </p:cNvSpPr>
                <p:nvPr/>
              </p:nvSpPr>
              <p:spPr bwMode="auto">
                <a:xfrm flipH="1">
                  <a:off x="4934" y="6060"/>
                  <a:ext cx="668" cy="610"/>
                </a:xfrm>
                <a:custGeom>
                  <a:avLst/>
                  <a:gdLst>
                    <a:gd name="T0" fmla="*/ 6 w 43200"/>
                    <a:gd name="T1" fmla="*/ 0 h 42740"/>
                    <a:gd name="T2" fmla="*/ 0 w 43200"/>
                    <a:gd name="T3" fmla="*/ 4 h 42740"/>
                    <a:gd name="T4" fmla="*/ 5 w 43200"/>
                    <a:gd name="T5" fmla="*/ 4 h 42740"/>
                    <a:gd name="T6" fmla="*/ 0 60000 65536"/>
                    <a:gd name="T7" fmla="*/ 0 60000 65536"/>
                    <a:gd name="T8" fmla="*/ 0 60000 65536"/>
                  </a:gdLst>
                  <a:ahLst/>
                  <a:cxnLst>
                    <a:cxn ang="T6">
                      <a:pos x="T0" y="T1"/>
                    </a:cxn>
                    <a:cxn ang="T7">
                      <a:pos x="T2" y="T3"/>
                    </a:cxn>
                    <a:cxn ang="T8">
                      <a:pos x="T4" y="T5"/>
                    </a:cxn>
                  </a:cxnLst>
                  <a:rect l="0" t="0" r="r" b="b"/>
                  <a:pathLst>
                    <a:path w="43200" h="42740" fill="none" extrusionOk="0">
                      <a:moveTo>
                        <a:pt x="26032" y="-1"/>
                      </a:moveTo>
                      <a:cubicBezTo>
                        <a:pt x="36035" y="2096"/>
                        <a:pt x="43200" y="10918"/>
                        <a:pt x="43200" y="21140"/>
                      </a:cubicBezTo>
                      <a:cubicBezTo>
                        <a:pt x="43200" y="33069"/>
                        <a:pt x="33529" y="42740"/>
                        <a:pt x="21600" y="42740"/>
                      </a:cubicBezTo>
                      <a:cubicBezTo>
                        <a:pt x="9670" y="42740"/>
                        <a:pt x="0" y="33069"/>
                        <a:pt x="0" y="21140"/>
                      </a:cubicBezTo>
                      <a:cubicBezTo>
                        <a:pt x="-1" y="19827"/>
                        <a:pt x="119" y="18518"/>
                        <a:pt x="357" y="17228"/>
                      </a:cubicBezTo>
                    </a:path>
                    <a:path w="43200" h="42740" stroke="0" extrusionOk="0">
                      <a:moveTo>
                        <a:pt x="26032" y="-1"/>
                      </a:moveTo>
                      <a:cubicBezTo>
                        <a:pt x="36035" y="2096"/>
                        <a:pt x="43200" y="10918"/>
                        <a:pt x="43200" y="21140"/>
                      </a:cubicBezTo>
                      <a:cubicBezTo>
                        <a:pt x="43200" y="33069"/>
                        <a:pt x="33529" y="42740"/>
                        <a:pt x="21600" y="42740"/>
                      </a:cubicBezTo>
                      <a:cubicBezTo>
                        <a:pt x="9670" y="42740"/>
                        <a:pt x="0" y="33069"/>
                        <a:pt x="0" y="21140"/>
                      </a:cubicBezTo>
                      <a:cubicBezTo>
                        <a:pt x="-1" y="19827"/>
                        <a:pt x="119" y="18518"/>
                        <a:pt x="357" y="17228"/>
                      </a:cubicBezTo>
                      <a:lnTo>
                        <a:pt x="21600" y="21140"/>
                      </a:lnTo>
                      <a:lnTo>
                        <a:pt x="26032" y="-1"/>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16" name="Line 19">
                  <a:extLst>
                    <a:ext uri="{FF2B5EF4-FFF2-40B4-BE49-F238E27FC236}">
                      <a16:creationId xmlns:a16="http://schemas.microsoft.com/office/drawing/2014/main" id="{56441AA5-65CE-2141-7440-4B2C2D769EC9}"/>
                    </a:ext>
                  </a:extLst>
                </p:cNvPr>
                <p:cNvSpPr>
                  <a:spLocks noChangeShapeType="1"/>
                </p:cNvSpPr>
                <p:nvPr/>
              </p:nvSpPr>
              <p:spPr bwMode="auto">
                <a:xfrm flipV="1">
                  <a:off x="5788" y="5078"/>
                  <a:ext cx="1032" cy="851"/>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17" name="Text Box 18">
                  <a:extLst>
                    <a:ext uri="{FF2B5EF4-FFF2-40B4-BE49-F238E27FC236}">
                      <a16:creationId xmlns:a16="http://schemas.microsoft.com/office/drawing/2014/main" id="{774B7B98-6114-F659-99B3-11C8CE51F7A9}"/>
                    </a:ext>
                  </a:extLst>
                </p:cNvPr>
                <p:cNvSpPr txBox="1">
                  <a:spLocks noChangeArrowheads="1"/>
                </p:cNvSpPr>
                <p:nvPr/>
              </p:nvSpPr>
              <p:spPr bwMode="auto">
                <a:xfrm>
                  <a:off x="6022" y="5046"/>
                  <a:ext cx="667"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1</a:t>
                  </a:r>
                  <a:r>
                    <a:rPr lang="en-US" altLang="en-US" sz="1600">
                      <a:cs typeface="Times New Roman" panose="02020603050405020304" pitchFamily="18" charset="0"/>
                    </a:rPr>
                    <a:t>/0</a:t>
                  </a:r>
                  <a:endParaRPr lang="en-US" altLang="en-US" sz="1600"/>
                </a:p>
              </p:txBody>
            </p:sp>
            <p:sp>
              <p:nvSpPr>
                <p:cNvPr id="42018" name="Arc 17">
                  <a:extLst>
                    <a:ext uri="{FF2B5EF4-FFF2-40B4-BE49-F238E27FC236}">
                      <a16:creationId xmlns:a16="http://schemas.microsoft.com/office/drawing/2014/main" id="{40FE07D2-9169-F219-5967-2BA23B57D45F}"/>
                    </a:ext>
                  </a:extLst>
                </p:cNvPr>
                <p:cNvSpPr>
                  <a:spLocks/>
                </p:cNvSpPr>
                <p:nvPr/>
              </p:nvSpPr>
              <p:spPr bwMode="auto">
                <a:xfrm rot="9092494" flipH="1" flipV="1">
                  <a:off x="5750" y="4213"/>
                  <a:ext cx="1266" cy="857"/>
                </a:xfrm>
                <a:custGeom>
                  <a:avLst/>
                  <a:gdLst>
                    <a:gd name="T0" fmla="*/ 0 w 21317"/>
                    <a:gd name="T1" fmla="*/ 0 h 21600"/>
                    <a:gd name="T2" fmla="*/ 75 w 21317"/>
                    <a:gd name="T3" fmla="*/ 29 h 21600"/>
                    <a:gd name="T4" fmla="*/ 0 w 21317"/>
                    <a:gd name="T5" fmla="*/ 34 h 21600"/>
                    <a:gd name="T6" fmla="*/ 0 60000 65536"/>
                    <a:gd name="T7" fmla="*/ 0 60000 65536"/>
                    <a:gd name="T8" fmla="*/ 0 60000 65536"/>
                  </a:gdLst>
                  <a:ahLst/>
                  <a:cxnLst>
                    <a:cxn ang="T6">
                      <a:pos x="T0" y="T1"/>
                    </a:cxn>
                    <a:cxn ang="T7">
                      <a:pos x="T2" y="T3"/>
                    </a:cxn>
                    <a:cxn ang="T8">
                      <a:pos x="T4" y="T5"/>
                    </a:cxn>
                  </a:cxnLst>
                  <a:rect l="0" t="0" r="r" b="b"/>
                  <a:pathLst>
                    <a:path w="21317" h="21600" fill="none" extrusionOk="0">
                      <a:moveTo>
                        <a:pt x="-1" y="0"/>
                      </a:moveTo>
                      <a:cubicBezTo>
                        <a:pt x="10584" y="0"/>
                        <a:pt x="19610" y="7670"/>
                        <a:pt x="21317" y="18116"/>
                      </a:cubicBezTo>
                    </a:path>
                    <a:path w="21317" h="21600" stroke="0" extrusionOk="0">
                      <a:moveTo>
                        <a:pt x="-1" y="0"/>
                      </a:moveTo>
                      <a:cubicBezTo>
                        <a:pt x="10584" y="0"/>
                        <a:pt x="19610" y="7670"/>
                        <a:pt x="21317" y="18116"/>
                      </a:cubicBezTo>
                      <a:lnTo>
                        <a:pt x="0" y="21600"/>
                      </a:lnTo>
                      <a:lnTo>
                        <a:pt x="-1"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19" name="Text Box 16">
                  <a:extLst>
                    <a:ext uri="{FF2B5EF4-FFF2-40B4-BE49-F238E27FC236}">
                      <a16:creationId xmlns:a16="http://schemas.microsoft.com/office/drawing/2014/main" id="{48FF0ED7-A62C-0C63-0B44-2326FF8D01AE}"/>
                    </a:ext>
                  </a:extLst>
                </p:cNvPr>
                <p:cNvSpPr txBox="1">
                  <a:spLocks noChangeArrowheads="1"/>
                </p:cNvSpPr>
                <p:nvPr/>
              </p:nvSpPr>
              <p:spPr bwMode="auto">
                <a:xfrm>
                  <a:off x="5994" y="3998"/>
                  <a:ext cx="695"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2</a:t>
                  </a:r>
                  <a:r>
                    <a:rPr lang="en-US" altLang="en-US" sz="1600">
                      <a:cs typeface="Times New Roman" panose="02020603050405020304" pitchFamily="18" charset="0"/>
                    </a:rPr>
                    <a:t>/0</a:t>
                  </a:r>
                  <a:endParaRPr lang="en-US" altLang="en-US" sz="1600"/>
                </a:p>
              </p:txBody>
            </p:sp>
            <p:sp>
              <p:nvSpPr>
                <p:cNvPr id="42020" name="Arc 15">
                  <a:extLst>
                    <a:ext uri="{FF2B5EF4-FFF2-40B4-BE49-F238E27FC236}">
                      <a16:creationId xmlns:a16="http://schemas.microsoft.com/office/drawing/2014/main" id="{157A72DD-F83E-1848-09EA-781966AB9F90}"/>
                    </a:ext>
                  </a:extLst>
                </p:cNvPr>
                <p:cNvSpPr>
                  <a:spLocks/>
                </p:cNvSpPr>
                <p:nvPr/>
              </p:nvSpPr>
              <p:spPr bwMode="auto">
                <a:xfrm rot="1888943">
                  <a:off x="5933" y="4859"/>
                  <a:ext cx="992" cy="1568"/>
                </a:xfrm>
                <a:custGeom>
                  <a:avLst/>
                  <a:gdLst>
                    <a:gd name="T0" fmla="*/ 35 w 21600"/>
                    <a:gd name="T1" fmla="*/ 0 h 35192"/>
                    <a:gd name="T2" fmla="*/ 9 w 21600"/>
                    <a:gd name="T3" fmla="*/ 70 h 35192"/>
                    <a:gd name="T4" fmla="*/ 0 w 21600"/>
                    <a:gd name="T5" fmla="*/ 28 h 35192"/>
                    <a:gd name="T6" fmla="*/ 0 60000 65536"/>
                    <a:gd name="T7" fmla="*/ 0 60000 65536"/>
                    <a:gd name="T8" fmla="*/ 0 60000 65536"/>
                  </a:gdLst>
                  <a:ahLst/>
                  <a:cxnLst>
                    <a:cxn ang="T6">
                      <a:pos x="T0" y="T1"/>
                    </a:cxn>
                    <a:cxn ang="T7">
                      <a:pos x="T2" y="T3"/>
                    </a:cxn>
                    <a:cxn ang="T8">
                      <a:pos x="T4" y="T5"/>
                    </a:cxn>
                  </a:cxnLst>
                  <a:rect l="0" t="0" r="r" b="b"/>
                  <a:pathLst>
                    <a:path w="21600" h="35192" fill="none" extrusionOk="0">
                      <a:moveTo>
                        <a:pt x="16433" y="-1"/>
                      </a:moveTo>
                      <a:cubicBezTo>
                        <a:pt x="19768" y="3909"/>
                        <a:pt x="21600" y="8879"/>
                        <a:pt x="21600" y="14018"/>
                      </a:cubicBezTo>
                      <a:cubicBezTo>
                        <a:pt x="21600" y="24300"/>
                        <a:pt x="14350" y="33158"/>
                        <a:pt x="4270" y="35191"/>
                      </a:cubicBezTo>
                    </a:path>
                    <a:path w="21600" h="35192" stroke="0" extrusionOk="0">
                      <a:moveTo>
                        <a:pt x="16433" y="-1"/>
                      </a:moveTo>
                      <a:cubicBezTo>
                        <a:pt x="19768" y="3909"/>
                        <a:pt x="21600" y="8879"/>
                        <a:pt x="21600" y="14018"/>
                      </a:cubicBezTo>
                      <a:cubicBezTo>
                        <a:pt x="21600" y="24300"/>
                        <a:pt x="14350" y="33158"/>
                        <a:pt x="4270" y="35191"/>
                      </a:cubicBezTo>
                      <a:lnTo>
                        <a:pt x="0" y="14018"/>
                      </a:lnTo>
                      <a:lnTo>
                        <a:pt x="16433" y="-1"/>
                      </a:lnTo>
                      <a:close/>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21" name="Text Box 14">
                  <a:extLst>
                    <a:ext uri="{FF2B5EF4-FFF2-40B4-BE49-F238E27FC236}">
                      <a16:creationId xmlns:a16="http://schemas.microsoft.com/office/drawing/2014/main" id="{AE808E96-3186-7DDE-B0D2-03E6F1E5FAB3}"/>
                    </a:ext>
                  </a:extLst>
                </p:cNvPr>
                <p:cNvSpPr txBox="1">
                  <a:spLocks noChangeArrowheads="1"/>
                </p:cNvSpPr>
                <p:nvPr/>
              </p:nvSpPr>
              <p:spPr bwMode="auto">
                <a:xfrm>
                  <a:off x="6870" y="5643"/>
                  <a:ext cx="653"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1</a:t>
                  </a:r>
                  <a:r>
                    <a:rPr lang="en-US" altLang="en-US" sz="1600">
                      <a:cs typeface="Times New Roman" panose="02020603050405020304" pitchFamily="18" charset="0"/>
                    </a:rPr>
                    <a:t>/1</a:t>
                  </a:r>
                  <a:endParaRPr lang="en-US" altLang="en-US" sz="1600"/>
                </a:p>
              </p:txBody>
            </p:sp>
          </p:grpSp>
          <p:grpSp>
            <p:nvGrpSpPr>
              <p:cNvPr id="41996" name="Group 3">
                <a:extLst>
                  <a:ext uri="{FF2B5EF4-FFF2-40B4-BE49-F238E27FC236}">
                    <a16:creationId xmlns:a16="http://schemas.microsoft.com/office/drawing/2014/main" id="{822CCD2E-6929-5838-CB33-2CFB1B83E324}"/>
                  </a:ext>
                </a:extLst>
              </p:cNvPr>
              <p:cNvGrpSpPr>
                <a:grpSpLocks/>
              </p:cNvGrpSpPr>
              <p:nvPr/>
            </p:nvGrpSpPr>
            <p:grpSpPr bwMode="auto">
              <a:xfrm>
                <a:off x="8560" y="3946"/>
                <a:ext cx="2099" cy="2706"/>
                <a:chOff x="8560" y="3946"/>
                <a:chExt cx="2099" cy="2706"/>
              </a:xfrm>
            </p:grpSpPr>
            <p:sp>
              <p:nvSpPr>
                <p:cNvPr id="41998" name="Oval 12">
                  <a:extLst>
                    <a:ext uri="{FF2B5EF4-FFF2-40B4-BE49-F238E27FC236}">
                      <a16:creationId xmlns:a16="http://schemas.microsoft.com/office/drawing/2014/main" id="{6393FC89-AC8C-02BD-D05F-5C0AA077A769}"/>
                    </a:ext>
                  </a:extLst>
                </p:cNvPr>
                <p:cNvSpPr>
                  <a:spLocks noChangeArrowheads="1"/>
                </p:cNvSpPr>
                <p:nvPr/>
              </p:nvSpPr>
              <p:spPr bwMode="auto">
                <a:xfrm>
                  <a:off x="9089" y="4389"/>
                  <a:ext cx="569" cy="542"/>
                </a:xfrm>
                <a:prstGeom prst="ellipse">
                  <a:avLst/>
                </a:prstGeom>
                <a:solidFill>
                  <a:schemeClr val="accent1">
                    <a:lumMod val="60000"/>
                    <a:lumOff val="40000"/>
                  </a:schemeClr>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s0</a:t>
                  </a:r>
                  <a:endParaRPr lang="en-US" altLang="en-US" sz="1600"/>
                </a:p>
              </p:txBody>
            </p:sp>
            <p:sp>
              <p:nvSpPr>
                <p:cNvPr id="41999" name="Oval 11">
                  <a:extLst>
                    <a:ext uri="{FF2B5EF4-FFF2-40B4-BE49-F238E27FC236}">
                      <a16:creationId xmlns:a16="http://schemas.microsoft.com/office/drawing/2014/main" id="{D4C73EE9-190F-60BC-28A3-E2902001A3C4}"/>
                    </a:ext>
                  </a:extLst>
                </p:cNvPr>
                <p:cNvSpPr>
                  <a:spLocks noChangeArrowheads="1"/>
                </p:cNvSpPr>
                <p:nvPr/>
              </p:nvSpPr>
              <p:spPr bwMode="auto">
                <a:xfrm>
                  <a:off x="9128" y="5747"/>
                  <a:ext cx="570" cy="542"/>
                </a:xfrm>
                <a:prstGeom prst="ellipse">
                  <a:avLst/>
                </a:prstGeom>
                <a:solidFill>
                  <a:schemeClr val="accent1">
                    <a:lumMod val="60000"/>
                    <a:lumOff val="40000"/>
                  </a:schemeClr>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s1</a:t>
                  </a:r>
                  <a:endParaRPr lang="en-US" altLang="en-US" sz="1600"/>
                </a:p>
              </p:txBody>
            </p:sp>
            <p:sp>
              <p:nvSpPr>
                <p:cNvPr id="42000" name="Arc 10">
                  <a:extLst>
                    <a:ext uri="{FF2B5EF4-FFF2-40B4-BE49-F238E27FC236}">
                      <a16:creationId xmlns:a16="http://schemas.microsoft.com/office/drawing/2014/main" id="{67DAE4A2-EE7F-D76D-6B1D-A85DB001E7DE}"/>
                    </a:ext>
                  </a:extLst>
                </p:cNvPr>
                <p:cNvSpPr>
                  <a:spLocks/>
                </p:cNvSpPr>
                <p:nvPr/>
              </p:nvSpPr>
              <p:spPr bwMode="auto">
                <a:xfrm rot="20801909" flipH="1">
                  <a:off x="9049" y="6103"/>
                  <a:ext cx="635" cy="549"/>
                </a:xfrm>
                <a:custGeom>
                  <a:avLst/>
                  <a:gdLst>
                    <a:gd name="T0" fmla="*/ 7 w 43200"/>
                    <a:gd name="T1" fmla="*/ 0 h 40547"/>
                    <a:gd name="T2" fmla="*/ 0 w 43200"/>
                    <a:gd name="T3" fmla="*/ 2 h 40547"/>
                    <a:gd name="T4" fmla="*/ 5 w 43200"/>
                    <a:gd name="T5" fmla="*/ 3 h 40547"/>
                    <a:gd name="T6" fmla="*/ 0 60000 65536"/>
                    <a:gd name="T7" fmla="*/ 0 60000 65536"/>
                    <a:gd name="T8" fmla="*/ 0 60000 65536"/>
                  </a:gdLst>
                  <a:ahLst/>
                  <a:cxnLst>
                    <a:cxn ang="T6">
                      <a:pos x="T0" y="T1"/>
                    </a:cxn>
                    <a:cxn ang="T7">
                      <a:pos x="T2" y="T3"/>
                    </a:cxn>
                    <a:cxn ang="T8">
                      <a:pos x="T4" y="T5"/>
                    </a:cxn>
                  </a:cxnLst>
                  <a:rect l="0" t="0" r="r" b="b"/>
                  <a:pathLst>
                    <a:path w="43200" h="40547" fill="none" extrusionOk="0">
                      <a:moveTo>
                        <a:pt x="31971" y="-1"/>
                      </a:moveTo>
                      <a:cubicBezTo>
                        <a:pt x="38894" y="3789"/>
                        <a:pt x="43200" y="11054"/>
                        <a:pt x="43200" y="18947"/>
                      </a:cubicBezTo>
                      <a:cubicBezTo>
                        <a:pt x="43200" y="30876"/>
                        <a:pt x="33529" y="40547"/>
                        <a:pt x="21600" y="40547"/>
                      </a:cubicBezTo>
                      <a:cubicBezTo>
                        <a:pt x="9670" y="40547"/>
                        <a:pt x="0" y="30876"/>
                        <a:pt x="0" y="18947"/>
                      </a:cubicBezTo>
                      <a:cubicBezTo>
                        <a:pt x="-1" y="16038"/>
                        <a:pt x="587" y="13159"/>
                        <a:pt x="1727" y="10483"/>
                      </a:cubicBezTo>
                    </a:path>
                    <a:path w="43200" h="40547" stroke="0" extrusionOk="0">
                      <a:moveTo>
                        <a:pt x="31971" y="-1"/>
                      </a:moveTo>
                      <a:cubicBezTo>
                        <a:pt x="38894" y="3789"/>
                        <a:pt x="43200" y="11054"/>
                        <a:pt x="43200" y="18947"/>
                      </a:cubicBezTo>
                      <a:cubicBezTo>
                        <a:pt x="43200" y="30876"/>
                        <a:pt x="33529" y="40547"/>
                        <a:pt x="21600" y="40547"/>
                      </a:cubicBezTo>
                      <a:cubicBezTo>
                        <a:pt x="9670" y="40547"/>
                        <a:pt x="0" y="30876"/>
                        <a:pt x="0" y="18947"/>
                      </a:cubicBezTo>
                      <a:cubicBezTo>
                        <a:pt x="-1" y="16038"/>
                        <a:pt x="587" y="13159"/>
                        <a:pt x="1727" y="10483"/>
                      </a:cubicBezTo>
                      <a:lnTo>
                        <a:pt x="21600" y="18947"/>
                      </a:lnTo>
                      <a:lnTo>
                        <a:pt x="31971" y="-1"/>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01" name="Arc 9">
                  <a:extLst>
                    <a:ext uri="{FF2B5EF4-FFF2-40B4-BE49-F238E27FC236}">
                      <a16:creationId xmlns:a16="http://schemas.microsoft.com/office/drawing/2014/main" id="{D0FB9AE7-2990-6288-E5E4-C6E4B88537D8}"/>
                    </a:ext>
                  </a:extLst>
                </p:cNvPr>
                <p:cNvSpPr>
                  <a:spLocks/>
                </p:cNvSpPr>
                <p:nvPr/>
              </p:nvSpPr>
              <p:spPr bwMode="auto">
                <a:xfrm rot="9674990" flipH="1">
                  <a:off x="9036" y="4023"/>
                  <a:ext cx="634" cy="548"/>
                </a:xfrm>
                <a:custGeom>
                  <a:avLst/>
                  <a:gdLst>
                    <a:gd name="T0" fmla="*/ 7 w 43200"/>
                    <a:gd name="T1" fmla="*/ 0 h 40547"/>
                    <a:gd name="T2" fmla="*/ 0 w 43200"/>
                    <a:gd name="T3" fmla="*/ 2 h 40547"/>
                    <a:gd name="T4" fmla="*/ 5 w 43200"/>
                    <a:gd name="T5" fmla="*/ 3 h 40547"/>
                    <a:gd name="T6" fmla="*/ 0 60000 65536"/>
                    <a:gd name="T7" fmla="*/ 0 60000 65536"/>
                    <a:gd name="T8" fmla="*/ 0 60000 65536"/>
                  </a:gdLst>
                  <a:ahLst/>
                  <a:cxnLst>
                    <a:cxn ang="T6">
                      <a:pos x="T0" y="T1"/>
                    </a:cxn>
                    <a:cxn ang="T7">
                      <a:pos x="T2" y="T3"/>
                    </a:cxn>
                    <a:cxn ang="T8">
                      <a:pos x="T4" y="T5"/>
                    </a:cxn>
                  </a:cxnLst>
                  <a:rect l="0" t="0" r="r" b="b"/>
                  <a:pathLst>
                    <a:path w="43200" h="40547" fill="none" extrusionOk="0">
                      <a:moveTo>
                        <a:pt x="31971" y="-1"/>
                      </a:moveTo>
                      <a:cubicBezTo>
                        <a:pt x="38894" y="3789"/>
                        <a:pt x="43200" y="11054"/>
                        <a:pt x="43200" y="18947"/>
                      </a:cubicBezTo>
                      <a:cubicBezTo>
                        <a:pt x="43200" y="30876"/>
                        <a:pt x="33529" y="40547"/>
                        <a:pt x="21600" y="40547"/>
                      </a:cubicBezTo>
                      <a:cubicBezTo>
                        <a:pt x="9670" y="40547"/>
                        <a:pt x="0" y="30876"/>
                        <a:pt x="0" y="18947"/>
                      </a:cubicBezTo>
                      <a:cubicBezTo>
                        <a:pt x="-1" y="16038"/>
                        <a:pt x="587" y="13159"/>
                        <a:pt x="1727" y="10483"/>
                      </a:cubicBezTo>
                    </a:path>
                    <a:path w="43200" h="40547" stroke="0" extrusionOk="0">
                      <a:moveTo>
                        <a:pt x="31971" y="-1"/>
                      </a:moveTo>
                      <a:cubicBezTo>
                        <a:pt x="38894" y="3789"/>
                        <a:pt x="43200" y="11054"/>
                        <a:pt x="43200" y="18947"/>
                      </a:cubicBezTo>
                      <a:cubicBezTo>
                        <a:pt x="43200" y="30876"/>
                        <a:pt x="33529" y="40547"/>
                        <a:pt x="21600" y="40547"/>
                      </a:cubicBezTo>
                      <a:cubicBezTo>
                        <a:pt x="9670" y="40547"/>
                        <a:pt x="0" y="30876"/>
                        <a:pt x="0" y="18947"/>
                      </a:cubicBezTo>
                      <a:cubicBezTo>
                        <a:pt x="-1" y="16038"/>
                        <a:pt x="587" y="13159"/>
                        <a:pt x="1727" y="10483"/>
                      </a:cubicBezTo>
                      <a:lnTo>
                        <a:pt x="21600" y="18947"/>
                      </a:lnTo>
                      <a:lnTo>
                        <a:pt x="31971" y="-1"/>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02" name="Arc 8">
                  <a:extLst>
                    <a:ext uri="{FF2B5EF4-FFF2-40B4-BE49-F238E27FC236}">
                      <a16:creationId xmlns:a16="http://schemas.microsoft.com/office/drawing/2014/main" id="{3F6A665F-4570-CF34-B6BA-BEF8DB0BEF6F}"/>
                    </a:ext>
                  </a:extLst>
                </p:cNvPr>
                <p:cNvSpPr>
                  <a:spLocks/>
                </p:cNvSpPr>
                <p:nvPr/>
              </p:nvSpPr>
              <p:spPr bwMode="auto">
                <a:xfrm rot="2283803">
                  <a:off x="8724" y="4705"/>
                  <a:ext cx="1171" cy="1075"/>
                </a:xfrm>
                <a:custGeom>
                  <a:avLst/>
                  <a:gdLst>
                    <a:gd name="T0" fmla="*/ 31 w 21142"/>
                    <a:gd name="T1" fmla="*/ 0 h 19095"/>
                    <a:gd name="T2" fmla="*/ 65 w 21142"/>
                    <a:gd name="T3" fmla="*/ 47 h 19095"/>
                    <a:gd name="T4" fmla="*/ 0 w 21142"/>
                    <a:gd name="T5" fmla="*/ 61 h 19095"/>
                    <a:gd name="T6" fmla="*/ 0 60000 65536"/>
                    <a:gd name="T7" fmla="*/ 0 60000 65536"/>
                    <a:gd name="T8" fmla="*/ 0 60000 65536"/>
                  </a:gdLst>
                  <a:ahLst/>
                  <a:cxnLst>
                    <a:cxn ang="T6">
                      <a:pos x="T0" y="T1"/>
                    </a:cxn>
                    <a:cxn ang="T7">
                      <a:pos x="T2" y="T3"/>
                    </a:cxn>
                    <a:cxn ang="T8">
                      <a:pos x="T4" y="T5"/>
                    </a:cxn>
                  </a:cxnLst>
                  <a:rect l="0" t="0" r="r" b="b"/>
                  <a:pathLst>
                    <a:path w="21142" h="19095" fill="none" extrusionOk="0">
                      <a:moveTo>
                        <a:pt x="10096" y="0"/>
                      </a:moveTo>
                      <a:cubicBezTo>
                        <a:pt x="15777" y="3003"/>
                        <a:pt x="19825" y="8380"/>
                        <a:pt x="21141" y="14670"/>
                      </a:cubicBezTo>
                    </a:path>
                    <a:path w="21142" h="19095" stroke="0" extrusionOk="0">
                      <a:moveTo>
                        <a:pt x="10096" y="0"/>
                      </a:moveTo>
                      <a:cubicBezTo>
                        <a:pt x="15777" y="3003"/>
                        <a:pt x="19825" y="8380"/>
                        <a:pt x="21141" y="14670"/>
                      </a:cubicBezTo>
                      <a:lnTo>
                        <a:pt x="0" y="19095"/>
                      </a:lnTo>
                      <a:lnTo>
                        <a:pt x="10096" y="0"/>
                      </a:lnTo>
                      <a:close/>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03" name="Arc 7">
                  <a:extLst>
                    <a:ext uri="{FF2B5EF4-FFF2-40B4-BE49-F238E27FC236}">
                      <a16:creationId xmlns:a16="http://schemas.microsoft.com/office/drawing/2014/main" id="{A9B93C7E-8460-88FD-F508-77426C6F2FD4}"/>
                    </a:ext>
                  </a:extLst>
                </p:cNvPr>
                <p:cNvSpPr>
                  <a:spLocks/>
                </p:cNvSpPr>
                <p:nvPr/>
              </p:nvSpPr>
              <p:spPr bwMode="auto">
                <a:xfrm rot="-8465874">
                  <a:off x="8864" y="4916"/>
                  <a:ext cx="1242" cy="1067"/>
                </a:xfrm>
                <a:custGeom>
                  <a:avLst/>
                  <a:gdLst>
                    <a:gd name="T0" fmla="*/ 35 w 21142"/>
                    <a:gd name="T1" fmla="*/ 0 h 19095"/>
                    <a:gd name="T2" fmla="*/ 73 w 21142"/>
                    <a:gd name="T3" fmla="*/ 46 h 19095"/>
                    <a:gd name="T4" fmla="*/ 0 w 21142"/>
                    <a:gd name="T5" fmla="*/ 60 h 19095"/>
                    <a:gd name="T6" fmla="*/ 0 60000 65536"/>
                    <a:gd name="T7" fmla="*/ 0 60000 65536"/>
                    <a:gd name="T8" fmla="*/ 0 60000 65536"/>
                  </a:gdLst>
                  <a:ahLst/>
                  <a:cxnLst>
                    <a:cxn ang="T6">
                      <a:pos x="T0" y="T1"/>
                    </a:cxn>
                    <a:cxn ang="T7">
                      <a:pos x="T2" y="T3"/>
                    </a:cxn>
                    <a:cxn ang="T8">
                      <a:pos x="T4" y="T5"/>
                    </a:cxn>
                  </a:cxnLst>
                  <a:rect l="0" t="0" r="r" b="b"/>
                  <a:pathLst>
                    <a:path w="21142" h="19095" fill="none" extrusionOk="0">
                      <a:moveTo>
                        <a:pt x="10096" y="0"/>
                      </a:moveTo>
                      <a:cubicBezTo>
                        <a:pt x="15777" y="3003"/>
                        <a:pt x="19825" y="8380"/>
                        <a:pt x="21141" y="14670"/>
                      </a:cubicBezTo>
                    </a:path>
                    <a:path w="21142" h="19095" stroke="0" extrusionOk="0">
                      <a:moveTo>
                        <a:pt x="10096" y="0"/>
                      </a:moveTo>
                      <a:cubicBezTo>
                        <a:pt x="15777" y="3003"/>
                        <a:pt x="19825" y="8380"/>
                        <a:pt x="21141" y="14670"/>
                      </a:cubicBezTo>
                      <a:lnTo>
                        <a:pt x="0" y="19095"/>
                      </a:lnTo>
                      <a:lnTo>
                        <a:pt x="10096" y="0"/>
                      </a:lnTo>
                      <a:close/>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04" name="Text Box 6">
                  <a:extLst>
                    <a:ext uri="{FF2B5EF4-FFF2-40B4-BE49-F238E27FC236}">
                      <a16:creationId xmlns:a16="http://schemas.microsoft.com/office/drawing/2014/main" id="{AFEEC1E0-2CED-72DC-56D2-12B9337E0D94}"/>
                    </a:ext>
                  </a:extLst>
                </p:cNvPr>
                <p:cNvSpPr txBox="1">
                  <a:spLocks noChangeArrowheads="1"/>
                </p:cNvSpPr>
                <p:nvPr/>
              </p:nvSpPr>
              <p:spPr bwMode="auto">
                <a:xfrm>
                  <a:off x="9664" y="3946"/>
                  <a:ext cx="661"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2</a:t>
                  </a:r>
                  <a:r>
                    <a:rPr lang="en-US" altLang="en-US" sz="1600">
                      <a:cs typeface="Times New Roman" panose="02020603050405020304" pitchFamily="18" charset="0"/>
                    </a:rPr>
                    <a:t>/0</a:t>
                  </a:r>
                  <a:endParaRPr lang="en-US" altLang="en-US" sz="1600"/>
                </a:p>
              </p:txBody>
            </p:sp>
            <p:sp>
              <p:nvSpPr>
                <p:cNvPr id="42005" name="Text Box 5">
                  <a:extLst>
                    <a:ext uri="{FF2B5EF4-FFF2-40B4-BE49-F238E27FC236}">
                      <a16:creationId xmlns:a16="http://schemas.microsoft.com/office/drawing/2014/main" id="{32511443-86DE-5707-D7C5-8C0E6B3FF99D}"/>
                    </a:ext>
                  </a:extLst>
                </p:cNvPr>
                <p:cNvSpPr txBox="1">
                  <a:spLocks noChangeArrowheads="1"/>
                </p:cNvSpPr>
                <p:nvPr/>
              </p:nvSpPr>
              <p:spPr bwMode="auto">
                <a:xfrm>
                  <a:off x="9694" y="4993"/>
                  <a:ext cx="965"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1</a:t>
                  </a:r>
                  <a:r>
                    <a:rPr lang="en-US" altLang="en-US" sz="1600">
                      <a:cs typeface="Times New Roman" panose="02020603050405020304" pitchFamily="18" charset="0"/>
                    </a:rPr>
                    <a:t>/1</a:t>
                  </a:r>
                  <a:endParaRPr lang="en-US" altLang="en-US" sz="1600"/>
                </a:p>
              </p:txBody>
            </p:sp>
            <p:sp>
              <p:nvSpPr>
                <p:cNvPr id="42006" name="Text Box 4">
                  <a:extLst>
                    <a:ext uri="{FF2B5EF4-FFF2-40B4-BE49-F238E27FC236}">
                      <a16:creationId xmlns:a16="http://schemas.microsoft.com/office/drawing/2014/main" id="{9DAAF01E-781E-719A-8044-F52F16DE3A26}"/>
                    </a:ext>
                  </a:extLst>
                </p:cNvPr>
                <p:cNvSpPr txBox="1">
                  <a:spLocks noChangeArrowheads="1"/>
                </p:cNvSpPr>
                <p:nvPr/>
              </p:nvSpPr>
              <p:spPr bwMode="auto">
                <a:xfrm>
                  <a:off x="8560" y="4980"/>
                  <a:ext cx="965"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1</a:t>
                  </a:r>
                  <a:r>
                    <a:rPr lang="en-US" altLang="en-US" sz="1600">
                      <a:cs typeface="Times New Roman" panose="02020603050405020304" pitchFamily="18" charset="0"/>
                    </a:rPr>
                    <a:t>/0</a:t>
                  </a:r>
                  <a:endParaRPr lang="en-US" altLang="en-US" sz="1600"/>
                </a:p>
              </p:txBody>
            </p:sp>
          </p:grpSp>
          <p:sp>
            <p:nvSpPr>
              <p:cNvPr id="41997" name="Text Box 2">
                <a:extLst>
                  <a:ext uri="{FF2B5EF4-FFF2-40B4-BE49-F238E27FC236}">
                    <a16:creationId xmlns:a16="http://schemas.microsoft.com/office/drawing/2014/main" id="{C3F1B812-A351-7801-F8EC-7AB05392BCE3}"/>
                  </a:ext>
                </a:extLst>
              </p:cNvPr>
              <p:cNvSpPr txBox="1">
                <a:spLocks noChangeArrowheads="1"/>
              </p:cNvSpPr>
              <p:nvPr/>
            </p:nvSpPr>
            <p:spPr bwMode="auto">
              <a:xfrm>
                <a:off x="9023" y="6627"/>
                <a:ext cx="661"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2</a:t>
                </a:r>
                <a:r>
                  <a:rPr lang="en-US" altLang="en-US" sz="1600">
                    <a:cs typeface="Times New Roman" panose="02020603050405020304" pitchFamily="18" charset="0"/>
                  </a:rPr>
                  <a:t>/1</a:t>
                </a:r>
                <a:endParaRPr lang="en-US" altLang="en-US" sz="1600"/>
              </a:p>
            </p:txBody>
          </p:sp>
        </p:grpSp>
        <p:sp>
          <p:nvSpPr>
            <p:cNvPr id="41991" name="TextBox 33">
              <a:extLst>
                <a:ext uri="{FF2B5EF4-FFF2-40B4-BE49-F238E27FC236}">
                  <a16:creationId xmlns:a16="http://schemas.microsoft.com/office/drawing/2014/main" id="{45742A13-70DA-612C-BBF2-FDE745B5DA60}"/>
                </a:ext>
              </a:extLst>
            </p:cNvPr>
            <p:cNvSpPr txBox="1">
              <a:spLocks noChangeArrowheads="1"/>
            </p:cNvSpPr>
            <p:nvPr/>
          </p:nvSpPr>
          <p:spPr bwMode="auto">
            <a:xfrm>
              <a:off x="2613660" y="1854200"/>
              <a:ext cx="12674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FSM A</a:t>
              </a:r>
              <a:endParaRPr lang="en-GB" altLang="en-US" sz="2000"/>
            </a:p>
          </p:txBody>
        </p:sp>
        <p:sp>
          <p:nvSpPr>
            <p:cNvPr id="41992" name="TextBox 34">
              <a:extLst>
                <a:ext uri="{FF2B5EF4-FFF2-40B4-BE49-F238E27FC236}">
                  <a16:creationId xmlns:a16="http://schemas.microsoft.com/office/drawing/2014/main" id="{9BB6CE9D-FD6D-AC89-899E-3FB55EB33AB6}"/>
                </a:ext>
              </a:extLst>
            </p:cNvPr>
            <p:cNvSpPr txBox="1">
              <a:spLocks noChangeArrowheads="1"/>
            </p:cNvSpPr>
            <p:nvPr/>
          </p:nvSpPr>
          <p:spPr bwMode="auto">
            <a:xfrm>
              <a:off x="6355080" y="1800860"/>
              <a:ext cx="1358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FSM B</a:t>
              </a:r>
              <a:endParaRPr lang="en-GB" altLang="en-US" sz="2000"/>
            </a:p>
          </p:txBody>
        </p:sp>
      </p:grpSp>
      <p:sp>
        <p:nvSpPr>
          <p:cNvPr id="41989" name="TextBox 35">
            <a:extLst>
              <a:ext uri="{FF2B5EF4-FFF2-40B4-BE49-F238E27FC236}">
                <a16:creationId xmlns:a16="http://schemas.microsoft.com/office/drawing/2014/main" id="{FD2CB719-B188-FCF8-04B7-11C6E34F50EA}"/>
              </a:ext>
            </a:extLst>
          </p:cNvPr>
          <p:cNvSpPr txBox="1">
            <a:spLocks noChangeArrowheads="1"/>
          </p:cNvSpPr>
          <p:nvPr/>
        </p:nvSpPr>
        <p:spPr bwMode="auto">
          <a:xfrm>
            <a:off x="1752600" y="1181101"/>
            <a:ext cx="84963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a:t>Given  FSMA  and  FSMB.  Define  direct  product  </a:t>
            </a:r>
            <a:r>
              <a:rPr lang="en-US" altLang="en-US">
                <a:sym typeface="Symbol" panose="05050102010706020507" pitchFamily="18" charset="2"/>
              </a:rPr>
              <a:t>AB.</a:t>
            </a:r>
            <a:r>
              <a:rPr lang="en-US" altLang="en-US"/>
              <a:t> </a:t>
            </a:r>
          </a:p>
          <a:p>
            <a:pPr eaLnBrk="1" hangingPunct="1"/>
            <a:endParaRPr lang="en-GB"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21172218-5BF9-30C3-02E3-67B4264242E5}"/>
              </a:ext>
            </a:extLst>
          </p:cNvPr>
          <p:cNvSpPr>
            <a:spLocks noGrp="1" noChangeArrowheads="1"/>
          </p:cNvSpPr>
          <p:nvPr>
            <p:ph type="title"/>
          </p:nvPr>
        </p:nvSpPr>
        <p:spPr>
          <a:xfrm>
            <a:off x="-1" y="183402"/>
            <a:ext cx="11612880" cy="704088"/>
          </a:xfrm>
        </p:spPr>
        <p:txBody>
          <a:bodyPr/>
          <a:lstStyle/>
          <a:p>
            <a:r>
              <a:rPr lang="en-US" altLang="en-US"/>
              <a:t>Direct production of  FSM: AxB</a:t>
            </a:r>
            <a:endParaRPr lang="en-GB" altLang="en-US"/>
          </a:p>
        </p:txBody>
      </p:sp>
      <p:sp>
        <p:nvSpPr>
          <p:cNvPr id="43011" name="Rectangle 32">
            <a:extLst>
              <a:ext uri="{FF2B5EF4-FFF2-40B4-BE49-F238E27FC236}">
                <a16:creationId xmlns:a16="http://schemas.microsoft.com/office/drawing/2014/main" id="{CB5CFDE8-9057-7F09-BFBD-E3FCB02FE4C7}"/>
              </a:ext>
            </a:extLst>
          </p:cNvPr>
          <p:cNvSpPr>
            <a:spLocks noChangeArrowheads="1"/>
          </p:cNvSpPr>
          <p:nvPr/>
        </p:nvSpPr>
        <p:spPr bwMode="auto">
          <a:xfrm>
            <a:off x="1524001" y="-22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nvGrpSpPr>
          <p:cNvPr id="43012" name="Group 1">
            <a:extLst>
              <a:ext uri="{FF2B5EF4-FFF2-40B4-BE49-F238E27FC236}">
                <a16:creationId xmlns:a16="http://schemas.microsoft.com/office/drawing/2014/main" id="{A4C86E5C-BB45-BFF8-F115-4F60A07C44E1}"/>
              </a:ext>
            </a:extLst>
          </p:cNvPr>
          <p:cNvGrpSpPr>
            <a:grpSpLocks/>
          </p:cNvGrpSpPr>
          <p:nvPr/>
        </p:nvGrpSpPr>
        <p:grpSpPr bwMode="auto">
          <a:xfrm>
            <a:off x="3009901" y="1498600"/>
            <a:ext cx="6765925" cy="3962400"/>
            <a:chOff x="2567" y="9691"/>
            <a:chExt cx="6390" cy="3404"/>
          </a:xfrm>
        </p:grpSpPr>
        <p:sp>
          <p:nvSpPr>
            <p:cNvPr id="43014" name="Oval 31">
              <a:extLst>
                <a:ext uri="{FF2B5EF4-FFF2-40B4-BE49-F238E27FC236}">
                  <a16:creationId xmlns:a16="http://schemas.microsoft.com/office/drawing/2014/main" id="{2CE7A94B-AB9C-FFF0-BE79-CB372C2ACD74}"/>
                </a:ext>
              </a:extLst>
            </p:cNvPr>
            <p:cNvSpPr>
              <a:spLocks noChangeArrowheads="1"/>
            </p:cNvSpPr>
            <p:nvPr/>
          </p:nvSpPr>
          <p:spPr bwMode="auto">
            <a:xfrm>
              <a:off x="4187" y="9691"/>
              <a:ext cx="945" cy="485"/>
            </a:xfrm>
            <a:prstGeom prst="ellipse">
              <a:avLst/>
            </a:prstGeom>
            <a:solidFill>
              <a:schemeClr val="accent1">
                <a:lumMod val="60000"/>
                <a:lumOff val="40000"/>
              </a:schemeClr>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cs typeface="Times New Roman" panose="02020603050405020304" pitchFamily="18" charset="0"/>
                </a:rPr>
                <a:t>q0,s0</a:t>
              </a:r>
              <a:endParaRPr lang="en-US" altLang="en-US" sz="1600" dirty="0"/>
            </a:p>
          </p:txBody>
        </p:sp>
        <p:sp>
          <p:nvSpPr>
            <p:cNvPr id="43015" name="Oval 30">
              <a:extLst>
                <a:ext uri="{FF2B5EF4-FFF2-40B4-BE49-F238E27FC236}">
                  <a16:creationId xmlns:a16="http://schemas.microsoft.com/office/drawing/2014/main" id="{E9647E7C-1CC7-0ADB-DA61-E64BA8749DC7}"/>
                </a:ext>
              </a:extLst>
            </p:cNvPr>
            <p:cNvSpPr>
              <a:spLocks noChangeArrowheads="1"/>
            </p:cNvSpPr>
            <p:nvPr/>
          </p:nvSpPr>
          <p:spPr bwMode="auto">
            <a:xfrm>
              <a:off x="5893" y="10164"/>
              <a:ext cx="945" cy="486"/>
            </a:xfrm>
            <a:prstGeom prst="ellipse">
              <a:avLst/>
            </a:prstGeom>
            <a:solidFill>
              <a:schemeClr val="accent1">
                <a:lumMod val="60000"/>
                <a:lumOff val="40000"/>
              </a:schemeClr>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q1,s1</a:t>
              </a:r>
              <a:endParaRPr lang="en-US" altLang="en-US" sz="1600"/>
            </a:p>
          </p:txBody>
        </p:sp>
        <p:sp>
          <p:nvSpPr>
            <p:cNvPr id="43016" name="Oval 29">
              <a:extLst>
                <a:ext uri="{FF2B5EF4-FFF2-40B4-BE49-F238E27FC236}">
                  <a16:creationId xmlns:a16="http://schemas.microsoft.com/office/drawing/2014/main" id="{0D676579-AFEA-AA37-3DFC-7FDE31DF553F}"/>
                </a:ext>
              </a:extLst>
            </p:cNvPr>
            <p:cNvSpPr>
              <a:spLocks noChangeArrowheads="1"/>
            </p:cNvSpPr>
            <p:nvPr/>
          </p:nvSpPr>
          <p:spPr bwMode="auto">
            <a:xfrm>
              <a:off x="4240" y="11021"/>
              <a:ext cx="945" cy="485"/>
            </a:xfrm>
            <a:prstGeom prst="ellipse">
              <a:avLst/>
            </a:prstGeom>
            <a:solidFill>
              <a:schemeClr val="accent1">
                <a:lumMod val="60000"/>
                <a:lumOff val="40000"/>
              </a:schemeClr>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q2,s0</a:t>
              </a:r>
              <a:endParaRPr lang="en-US" altLang="en-US" sz="1600"/>
            </a:p>
          </p:txBody>
        </p:sp>
        <p:sp>
          <p:nvSpPr>
            <p:cNvPr id="43017" name="Oval 28">
              <a:extLst>
                <a:ext uri="{FF2B5EF4-FFF2-40B4-BE49-F238E27FC236}">
                  <a16:creationId xmlns:a16="http://schemas.microsoft.com/office/drawing/2014/main" id="{9BF51BD7-2DC1-3F87-AA5D-0F964BE93A5E}"/>
                </a:ext>
              </a:extLst>
            </p:cNvPr>
            <p:cNvSpPr>
              <a:spLocks noChangeArrowheads="1"/>
            </p:cNvSpPr>
            <p:nvPr/>
          </p:nvSpPr>
          <p:spPr bwMode="auto">
            <a:xfrm>
              <a:off x="6116" y="11044"/>
              <a:ext cx="945" cy="485"/>
            </a:xfrm>
            <a:prstGeom prst="ellipse">
              <a:avLst/>
            </a:prstGeom>
            <a:solidFill>
              <a:schemeClr val="accent1">
                <a:lumMod val="60000"/>
                <a:lumOff val="40000"/>
              </a:schemeClr>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q0,s1</a:t>
              </a:r>
              <a:endParaRPr lang="en-US" altLang="en-US" sz="1600"/>
            </a:p>
          </p:txBody>
        </p:sp>
        <p:sp>
          <p:nvSpPr>
            <p:cNvPr id="43018" name="Oval 27">
              <a:extLst>
                <a:ext uri="{FF2B5EF4-FFF2-40B4-BE49-F238E27FC236}">
                  <a16:creationId xmlns:a16="http://schemas.microsoft.com/office/drawing/2014/main" id="{36A1C038-3C4E-2158-CF0F-6F6D45B31ED5}"/>
                </a:ext>
              </a:extLst>
            </p:cNvPr>
            <p:cNvSpPr>
              <a:spLocks noChangeArrowheads="1"/>
            </p:cNvSpPr>
            <p:nvPr/>
          </p:nvSpPr>
          <p:spPr bwMode="auto">
            <a:xfrm>
              <a:off x="4358" y="12013"/>
              <a:ext cx="945" cy="485"/>
            </a:xfrm>
            <a:prstGeom prst="ellipse">
              <a:avLst/>
            </a:prstGeom>
            <a:solidFill>
              <a:schemeClr val="accent1">
                <a:lumMod val="60000"/>
                <a:lumOff val="40000"/>
              </a:schemeClr>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q1,s0</a:t>
              </a:r>
              <a:endParaRPr lang="en-US" altLang="en-US" sz="1600"/>
            </a:p>
          </p:txBody>
        </p:sp>
        <p:sp>
          <p:nvSpPr>
            <p:cNvPr id="43019" name="Oval 26">
              <a:extLst>
                <a:ext uri="{FF2B5EF4-FFF2-40B4-BE49-F238E27FC236}">
                  <a16:creationId xmlns:a16="http://schemas.microsoft.com/office/drawing/2014/main" id="{9994AF54-DC60-BCA0-DAA5-F57599E347B9}"/>
                </a:ext>
              </a:extLst>
            </p:cNvPr>
            <p:cNvSpPr>
              <a:spLocks noChangeArrowheads="1"/>
            </p:cNvSpPr>
            <p:nvPr/>
          </p:nvSpPr>
          <p:spPr bwMode="auto">
            <a:xfrm>
              <a:off x="7652" y="10367"/>
              <a:ext cx="945" cy="486"/>
            </a:xfrm>
            <a:prstGeom prst="ellipse">
              <a:avLst/>
            </a:prstGeom>
            <a:solidFill>
              <a:schemeClr val="accent1">
                <a:lumMod val="60000"/>
                <a:lumOff val="40000"/>
              </a:schemeClr>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q2,s1</a:t>
              </a:r>
              <a:endParaRPr lang="en-US" altLang="en-US" sz="1600"/>
            </a:p>
          </p:txBody>
        </p:sp>
        <p:sp>
          <p:nvSpPr>
            <p:cNvPr id="43020" name="Line 25">
              <a:extLst>
                <a:ext uri="{FF2B5EF4-FFF2-40B4-BE49-F238E27FC236}">
                  <a16:creationId xmlns:a16="http://schemas.microsoft.com/office/drawing/2014/main" id="{5D925CD5-8B39-A1B1-F907-D552EF574EC7}"/>
                </a:ext>
              </a:extLst>
            </p:cNvPr>
            <p:cNvSpPr>
              <a:spLocks noChangeShapeType="1"/>
            </p:cNvSpPr>
            <p:nvPr/>
          </p:nvSpPr>
          <p:spPr bwMode="auto">
            <a:xfrm>
              <a:off x="5074" y="10022"/>
              <a:ext cx="846" cy="34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21" name="Text Box 24">
              <a:extLst>
                <a:ext uri="{FF2B5EF4-FFF2-40B4-BE49-F238E27FC236}">
                  <a16:creationId xmlns:a16="http://schemas.microsoft.com/office/drawing/2014/main" id="{11547171-EBA0-8DB8-D80D-0CFB9824B29F}"/>
                </a:ext>
              </a:extLst>
            </p:cNvPr>
            <p:cNvSpPr txBox="1">
              <a:spLocks noChangeArrowheads="1"/>
            </p:cNvSpPr>
            <p:nvPr/>
          </p:nvSpPr>
          <p:spPr bwMode="auto">
            <a:xfrm>
              <a:off x="5224" y="9826"/>
              <a:ext cx="945"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1</a:t>
              </a:r>
              <a:r>
                <a:rPr lang="en-US" altLang="en-US" sz="1600">
                  <a:cs typeface="Times New Roman" panose="02020603050405020304" pitchFamily="18" charset="0"/>
                </a:rPr>
                <a:t>/(1,1)</a:t>
              </a:r>
              <a:endParaRPr lang="en-US" altLang="en-US" sz="1600"/>
            </a:p>
          </p:txBody>
        </p:sp>
        <p:sp>
          <p:nvSpPr>
            <p:cNvPr id="43022" name="Line 23">
              <a:extLst>
                <a:ext uri="{FF2B5EF4-FFF2-40B4-BE49-F238E27FC236}">
                  <a16:creationId xmlns:a16="http://schemas.microsoft.com/office/drawing/2014/main" id="{01E6ED6D-E62F-EBDD-CC0B-2A9334D5EB12}"/>
                </a:ext>
              </a:extLst>
            </p:cNvPr>
            <p:cNvSpPr>
              <a:spLocks noChangeShapeType="1"/>
            </p:cNvSpPr>
            <p:nvPr/>
          </p:nvSpPr>
          <p:spPr bwMode="auto">
            <a:xfrm>
              <a:off x="4660" y="10187"/>
              <a:ext cx="0" cy="8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23" name="Text Box 22">
              <a:extLst>
                <a:ext uri="{FF2B5EF4-FFF2-40B4-BE49-F238E27FC236}">
                  <a16:creationId xmlns:a16="http://schemas.microsoft.com/office/drawing/2014/main" id="{6E6A9F0B-E0F3-2A3E-7FF3-C6B6D60AFA3F}"/>
                </a:ext>
              </a:extLst>
            </p:cNvPr>
            <p:cNvSpPr txBox="1">
              <a:spLocks noChangeArrowheads="1"/>
            </p:cNvSpPr>
            <p:nvPr/>
          </p:nvSpPr>
          <p:spPr bwMode="auto">
            <a:xfrm>
              <a:off x="4600" y="10262"/>
              <a:ext cx="945"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2</a:t>
              </a:r>
              <a:r>
                <a:rPr lang="en-US" altLang="en-US" sz="1600">
                  <a:cs typeface="Times New Roman" panose="02020603050405020304" pitchFamily="18" charset="0"/>
                </a:rPr>
                <a:t>/(0,0)</a:t>
              </a:r>
              <a:endParaRPr lang="en-US" altLang="en-US" sz="1600"/>
            </a:p>
          </p:txBody>
        </p:sp>
        <p:sp>
          <p:nvSpPr>
            <p:cNvPr id="43024" name="Text Box 21">
              <a:extLst>
                <a:ext uri="{FF2B5EF4-FFF2-40B4-BE49-F238E27FC236}">
                  <a16:creationId xmlns:a16="http://schemas.microsoft.com/office/drawing/2014/main" id="{3EE712C4-951F-DBFF-3044-8E55FCAA53D5}"/>
                </a:ext>
              </a:extLst>
            </p:cNvPr>
            <p:cNvSpPr txBox="1">
              <a:spLocks noChangeArrowheads="1"/>
            </p:cNvSpPr>
            <p:nvPr/>
          </p:nvSpPr>
          <p:spPr bwMode="auto">
            <a:xfrm>
              <a:off x="2567" y="11314"/>
              <a:ext cx="945"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2</a:t>
              </a:r>
              <a:r>
                <a:rPr lang="en-US" altLang="en-US" sz="1600">
                  <a:cs typeface="Times New Roman" panose="02020603050405020304" pitchFamily="18" charset="0"/>
                </a:rPr>
                <a:t>/(0,0)</a:t>
              </a:r>
              <a:endParaRPr lang="en-US" altLang="en-US" sz="1600"/>
            </a:p>
          </p:txBody>
        </p:sp>
        <p:sp>
          <p:nvSpPr>
            <p:cNvPr id="43025" name="Line 20">
              <a:extLst>
                <a:ext uri="{FF2B5EF4-FFF2-40B4-BE49-F238E27FC236}">
                  <a16:creationId xmlns:a16="http://schemas.microsoft.com/office/drawing/2014/main" id="{14E28BE4-925A-4027-2867-437EFD678AEE}"/>
                </a:ext>
              </a:extLst>
            </p:cNvPr>
            <p:cNvSpPr>
              <a:spLocks noChangeShapeType="1"/>
            </p:cNvSpPr>
            <p:nvPr/>
          </p:nvSpPr>
          <p:spPr bwMode="auto">
            <a:xfrm>
              <a:off x="6851" y="10401"/>
              <a:ext cx="801" cy="203"/>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26" name="Text Box 19">
              <a:extLst>
                <a:ext uri="{FF2B5EF4-FFF2-40B4-BE49-F238E27FC236}">
                  <a16:creationId xmlns:a16="http://schemas.microsoft.com/office/drawing/2014/main" id="{EDC11EA5-DCEE-42E9-647D-7F6258701C8A}"/>
                </a:ext>
              </a:extLst>
            </p:cNvPr>
            <p:cNvSpPr txBox="1">
              <a:spLocks noChangeArrowheads="1"/>
            </p:cNvSpPr>
            <p:nvPr/>
          </p:nvSpPr>
          <p:spPr bwMode="auto">
            <a:xfrm>
              <a:off x="6983" y="10209"/>
              <a:ext cx="945"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1</a:t>
              </a:r>
              <a:r>
                <a:rPr lang="en-US" altLang="en-US" sz="1600">
                  <a:cs typeface="Times New Roman" panose="02020603050405020304" pitchFamily="18" charset="0"/>
                </a:rPr>
                <a:t>/(1,0)</a:t>
              </a:r>
              <a:endParaRPr lang="en-US" altLang="en-US" sz="1600"/>
            </a:p>
          </p:txBody>
        </p:sp>
        <p:sp>
          <p:nvSpPr>
            <p:cNvPr id="43027" name="Text Box 18">
              <a:extLst>
                <a:ext uri="{FF2B5EF4-FFF2-40B4-BE49-F238E27FC236}">
                  <a16:creationId xmlns:a16="http://schemas.microsoft.com/office/drawing/2014/main" id="{44A2A98F-DCED-61EA-84B0-FE0087A2C05B}"/>
                </a:ext>
              </a:extLst>
            </p:cNvPr>
            <p:cNvSpPr txBox="1">
              <a:spLocks noChangeArrowheads="1"/>
            </p:cNvSpPr>
            <p:nvPr/>
          </p:nvSpPr>
          <p:spPr bwMode="auto">
            <a:xfrm>
              <a:off x="8012" y="9691"/>
              <a:ext cx="945"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2</a:t>
              </a:r>
              <a:r>
                <a:rPr lang="en-US" altLang="en-US" sz="1600">
                  <a:cs typeface="Times New Roman" panose="02020603050405020304" pitchFamily="18" charset="0"/>
                </a:rPr>
                <a:t>/(1,1)</a:t>
              </a:r>
              <a:endParaRPr lang="en-US" altLang="en-US" sz="1600"/>
            </a:p>
          </p:txBody>
        </p:sp>
        <p:sp>
          <p:nvSpPr>
            <p:cNvPr id="43028" name="Line 17">
              <a:extLst>
                <a:ext uri="{FF2B5EF4-FFF2-40B4-BE49-F238E27FC236}">
                  <a16:creationId xmlns:a16="http://schemas.microsoft.com/office/drawing/2014/main" id="{84B0AFD1-04D0-702B-AE24-240673D0E4B9}"/>
                </a:ext>
              </a:extLst>
            </p:cNvPr>
            <p:cNvSpPr>
              <a:spLocks noChangeShapeType="1"/>
            </p:cNvSpPr>
            <p:nvPr/>
          </p:nvSpPr>
          <p:spPr bwMode="auto">
            <a:xfrm flipV="1">
              <a:off x="7022" y="10838"/>
              <a:ext cx="895" cy="341"/>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29" name="Text Box 16">
              <a:extLst>
                <a:ext uri="{FF2B5EF4-FFF2-40B4-BE49-F238E27FC236}">
                  <a16:creationId xmlns:a16="http://schemas.microsoft.com/office/drawing/2014/main" id="{09A9BFD0-18B5-97AE-3BF3-D62CD7E4D723}"/>
                </a:ext>
              </a:extLst>
            </p:cNvPr>
            <p:cNvSpPr txBox="1">
              <a:spLocks noChangeArrowheads="1"/>
            </p:cNvSpPr>
            <p:nvPr/>
          </p:nvSpPr>
          <p:spPr bwMode="auto">
            <a:xfrm>
              <a:off x="7245" y="10942"/>
              <a:ext cx="945"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2</a:t>
              </a:r>
              <a:r>
                <a:rPr lang="en-US" altLang="en-US" sz="1600">
                  <a:cs typeface="Times New Roman" panose="02020603050405020304" pitchFamily="18" charset="0"/>
                </a:rPr>
                <a:t>/(0,1)</a:t>
              </a:r>
              <a:endParaRPr lang="en-US" altLang="en-US" sz="1600"/>
            </a:p>
          </p:txBody>
        </p:sp>
        <p:sp>
          <p:nvSpPr>
            <p:cNvPr id="43030" name="Line 15">
              <a:extLst>
                <a:ext uri="{FF2B5EF4-FFF2-40B4-BE49-F238E27FC236}">
                  <a16:creationId xmlns:a16="http://schemas.microsoft.com/office/drawing/2014/main" id="{D106BBB8-AF98-2880-B378-2D759D9A8793}"/>
                </a:ext>
              </a:extLst>
            </p:cNvPr>
            <p:cNvSpPr>
              <a:spLocks noChangeShapeType="1"/>
            </p:cNvSpPr>
            <p:nvPr/>
          </p:nvSpPr>
          <p:spPr bwMode="auto">
            <a:xfrm flipV="1">
              <a:off x="5132" y="10620"/>
              <a:ext cx="979" cy="559"/>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31" name="Text Box 14">
              <a:extLst>
                <a:ext uri="{FF2B5EF4-FFF2-40B4-BE49-F238E27FC236}">
                  <a16:creationId xmlns:a16="http://schemas.microsoft.com/office/drawing/2014/main" id="{6EB40340-258C-08D3-1227-5CE61C99EE88}"/>
                </a:ext>
              </a:extLst>
            </p:cNvPr>
            <p:cNvSpPr txBox="1">
              <a:spLocks noChangeArrowheads="1"/>
            </p:cNvSpPr>
            <p:nvPr/>
          </p:nvSpPr>
          <p:spPr bwMode="auto">
            <a:xfrm>
              <a:off x="5053" y="10638"/>
              <a:ext cx="945"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1</a:t>
              </a:r>
              <a:r>
                <a:rPr lang="en-US" altLang="en-US" sz="1600">
                  <a:cs typeface="Times New Roman" panose="02020603050405020304" pitchFamily="18" charset="0"/>
                </a:rPr>
                <a:t>/(1,1)</a:t>
              </a:r>
              <a:endParaRPr lang="en-US" altLang="en-US" sz="1600"/>
            </a:p>
          </p:txBody>
        </p:sp>
        <p:sp>
          <p:nvSpPr>
            <p:cNvPr id="43032" name="Arc 13">
              <a:extLst>
                <a:ext uri="{FF2B5EF4-FFF2-40B4-BE49-F238E27FC236}">
                  <a16:creationId xmlns:a16="http://schemas.microsoft.com/office/drawing/2014/main" id="{4DE1FBA3-34A5-744D-B1CB-6387985BE587}"/>
                </a:ext>
              </a:extLst>
            </p:cNvPr>
            <p:cNvSpPr>
              <a:spLocks/>
            </p:cNvSpPr>
            <p:nvPr/>
          </p:nvSpPr>
          <p:spPr bwMode="auto">
            <a:xfrm rot="2309648" flipH="1">
              <a:off x="3846" y="11134"/>
              <a:ext cx="630" cy="517"/>
            </a:xfrm>
            <a:custGeom>
              <a:avLst/>
              <a:gdLst>
                <a:gd name="T0" fmla="*/ 6 w 43200"/>
                <a:gd name="T1" fmla="*/ 0 h 42740"/>
                <a:gd name="T2" fmla="*/ 0 w 43200"/>
                <a:gd name="T3" fmla="*/ 2 h 42740"/>
                <a:gd name="T4" fmla="*/ 5 w 43200"/>
                <a:gd name="T5" fmla="*/ 3 h 42740"/>
                <a:gd name="T6" fmla="*/ 0 60000 65536"/>
                <a:gd name="T7" fmla="*/ 0 60000 65536"/>
                <a:gd name="T8" fmla="*/ 0 60000 65536"/>
              </a:gdLst>
              <a:ahLst/>
              <a:cxnLst>
                <a:cxn ang="T6">
                  <a:pos x="T0" y="T1"/>
                </a:cxn>
                <a:cxn ang="T7">
                  <a:pos x="T2" y="T3"/>
                </a:cxn>
                <a:cxn ang="T8">
                  <a:pos x="T4" y="T5"/>
                </a:cxn>
              </a:cxnLst>
              <a:rect l="0" t="0" r="r" b="b"/>
              <a:pathLst>
                <a:path w="43200" h="42740" fill="none" extrusionOk="0">
                  <a:moveTo>
                    <a:pt x="26032" y="-1"/>
                  </a:moveTo>
                  <a:cubicBezTo>
                    <a:pt x="36035" y="2096"/>
                    <a:pt x="43200" y="10918"/>
                    <a:pt x="43200" y="21140"/>
                  </a:cubicBezTo>
                  <a:cubicBezTo>
                    <a:pt x="43200" y="33069"/>
                    <a:pt x="33529" y="42740"/>
                    <a:pt x="21600" y="42740"/>
                  </a:cubicBezTo>
                  <a:cubicBezTo>
                    <a:pt x="9670" y="42740"/>
                    <a:pt x="0" y="33069"/>
                    <a:pt x="0" y="21140"/>
                  </a:cubicBezTo>
                  <a:cubicBezTo>
                    <a:pt x="-1" y="18059"/>
                    <a:pt x="659" y="15014"/>
                    <a:pt x="1932" y="12208"/>
                  </a:cubicBezTo>
                </a:path>
                <a:path w="43200" h="42740" stroke="0" extrusionOk="0">
                  <a:moveTo>
                    <a:pt x="26032" y="-1"/>
                  </a:moveTo>
                  <a:cubicBezTo>
                    <a:pt x="36035" y="2096"/>
                    <a:pt x="43200" y="10918"/>
                    <a:pt x="43200" y="21140"/>
                  </a:cubicBezTo>
                  <a:cubicBezTo>
                    <a:pt x="43200" y="33069"/>
                    <a:pt x="33529" y="42740"/>
                    <a:pt x="21600" y="42740"/>
                  </a:cubicBezTo>
                  <a:cubicBezTo>
                    <a:pt x="9670" y="42740"/>
                    <a:pt x="0" y="33069"/>
                    <a:pt x="0" y="21140"/>
                  </a:cubicBezTo>
                  <a:cubicBezTo>
                    <a:pt x="-1" y="18059"/>
                    <a:pt x="659" y="15014"/>
                    <a:pt x="1932" y="12208"/>
                  </a:cubicBezTo>
                  <a:lnTo>
                    <a:pt x="21600" y="21140"/>
                  </a:lnTo>
                  <a:lnTo>
                    <a:pt x="26032" y="-1"/>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033" name="Text Box 12">
              <a:extLst>
                <a:ext uri="{FF2B5EF4-FFF2-40B4-BE49-F238E27FC236}">
                  <a16:creationId xmlns:a16="http://schemas.microsoft.com/office/drawing/2014/main" id="{3A2BC21A-EF03-9EC5-74EB-BC621926A3F6}"/>
                </a:ext>
              </a:extLst>
            </p:cNvPr>
            <p:cNvSpPr txBox="1">
              <a:spLocks noChangeArrowheads="1"/>
            </p:cNvSpPr>
            <p:nvPr/>
          </p:nvSpPr>
          <p:spPr bwMode="auto">
            <a:xfrm>
              <a:off x="3557" y="10788"/>
              <a:ext cx="945" cy="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2</a:t>
              </a:r>
              <a:r>
                <a:rPr lang="en-US" altLang="en-US" sz="1600">
                  <a:cs typeface="Times New Roman" panose="02020603050405020304" pitchFamily="18" charset="0"/>
                </a:rPr>
                <a:t>/(1,0)</a:t>
              </a:r>
              <a:endParaRPr lang="en-US" altLang="en-US" sz="1600"/>
            </a:p>
          </p:txBody>
        </p:sp>
        <p:sp>
          <p:nvSpPr>
            <p:cNvPr id="43034" name="Line 11">
              <a:extLst>
                <a:ext uri="{FF2B5EF4-FFF2-40B4-BE49-F238E27FC236}">
                  <a16:creationId xmlns:a16="http://schemas.microsoft.com/office/drawing/2014/main" id="{0AF1097E-EE3F-1588-FCE3-0ACBF101B1D0}"/>
                </a:ext>
              </a:extLst>
            </p:cNvPr>
            <p:cNvSpPr>
              <a:spLocks noChangeShapeType="1"/>
            </p:cNvSpPr>
            <p:nvPr/>
          </p:nvSpPr>
          <p:spPr bwMode="auto">
            <a:xfrm flipH="1">
              <a:off x="4917" y="11443"/>
              <a:ext cx="1286" cy="574"/>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35" name="Text Box 10">
              <a:extLst>
                <a:ext uri="{FF2B5EF4-FFF2-40B4-BE49-F238E27FC236}">
                  <a16:creationId xmlns:a16="http://schemas.microsoft.com/office/drawing/2014/main" id="{3CBAFC58-F191-2A8B-500D-9BA67DEC4789}"/>
                </a:ext>
              </a:extLst>
            </p:cNvPr>
            <p:cNvSpPr txBox="1">
              <a:spLocks noChangeArrowheads="1"/>
            </p:cNvSpPr>
            <p:nvPr/>
          </p:nvSpPr>
          <p:spPr bwMode="auto">
            <a:xfrm>
              <a:off x="5507" y="11640"/>
              <a:ext cx="945"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1</a:t>
              </a:r>
              <a:r>
                <a:rPr lang="en-US" altLang="en-US" sz="1600">
                  <a:cs typeface="Times New Roman" panose="02020603050405020304" pitchFamily="18" charset="0"/>
                </a:rPr>
                <a:t>/(1,0)</a:t>
              </a:r>
              <a:endParaRPr lang="en-US" altLang="en-US" sz="1600"/>
            </a:p>
          </p:txBody>
        </p:sp>
        <p:sp>
          <p:nvSpPr>
            <p:cNvPr id="43036" name="Arc 9">
              <a:extLst>
                <a:ext uri="{FF2B5EF4-FFF2-40B4-BE49-F238E27FC236}">
                  <a16:creationId xmlns:a16="http://schemas.microsoft.com/office/drawing/2014/main" id="{30FB0320-8995-4DFE-6D82-CE50374B347D}"/>
                </a:ext>
              </a:extLst>
            </p:cNvPr>
            <p:cNvSpPr>
              <a:spLocks/>
            </p:cNvSpPr>
            <p:nvPr/>
          </p:nvSpPr>
          <p:spPr bwMode="auto">
            <a:xfrm rot="1888943">
              <a:off x="5494" y="10104"/>
              <a:ext cx="2480" cy="2991"/>
            </a:xfrm>
            <a:custGeom>
              <a:avLst/>
              <a:gdLst>
                <a:gd name="T0" fmla="*/ 255 w 21600"/>
                <a:gd name="T1" fmla="*/ 0 h 30992"/>
                <a:gd name="T2" fmla="*/ 37 w 21600"/>
                <a:gd name="T3" fmla="*/ 289 h 30992"/>
                <a:gd name="T4" fmla="*/ 0 w 21600"/>
                <a:gd name="T5" fmla="*/ 89 h 30992"/>
                <a:gd name="T6" fmla="*/ 0 60000 65536"/>
                <a:gd name="T7" fmla="*/ 0 60000 65536"/>
                <a:gd name="T8" fmla="*/ 0 60000 65536"/>
              </a:gdLst>
              <a:ahLst/>
              <a:cxnLst>
                <a:cxn ang="T6">
                  <a:pos x="T0" y="T1"/>
                </a:cxn>
                <a:cxn ang="T7">
                  <a:pos x="T2" y="T3"/>
                </a:cxn>
                <a:cxn ang="T8">
                  <a:pos x="T4" y="T5"/>
                </a:cxn>
              </a:cxnLst>
              <a:rect l="0" t="0" r="r" b="b"/>
              <a:pathLst>
                <a:path w="21600" h="30992" fill="none" extrusionOk="0">
                  <a:moveTo>
                    <a:pt x="19364" y="-1"/>
                  </a:moveTo>
                  <a:cubicBezTo>
                    <a:pt x="20834" y="2975"/>
                    <a:pt x="21600" y="6250"/>
                    <a:pt x="21600" y="9570"/>
                  </a:cubicBezTo>
                  <a:cubicBezTo>
                    <a:pt x="21600" y="20428"/>
                    <a:pt x="13538" y="29599"/>
                    <a:pt x="2768" y="30991"/>
                  </a:cubicBezTo>
                </a:path>
                <a:path w="21600" h="30992" stroke="0" extrusionOk="0">
                  <a:moveTo>
                    <a:pt x="19364" y="-1"/>
                  </a:moveTo>
                  <a:cubicBezTo>
                    <a:pt x="20834" y="2975"/>
                    <a:pt x="21600" y="6250"/>
                    <a:pt x="21600" y="9570"/>
                  </a:cubicBezTo>
                  <a:cubicBezTo>
                    <a:pt x="21600" y="20428"/>
                    <a:pt x="13538" y="29599"/>
                    <a:pt x="2768" y="30991"/>
                  </a:cubicBezTo>
                  <a:lnTo>
                    <a:pt x="0" y="9570"/>
                  </a:lnTo>
                  <a:lnTo>
                    <a:pt x="19364" y="-1"/>
                  </a:lnTo>
                  <a:close/>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037" name="Text Box 8">
              <a:extLst>
                <a:ext uri="{FF2B5EF4-FFF2-40B4-BE49-F238E27FC236}">
                  <a16:creationId xmlns:a16="http://schemas.microsoft.com/office/drawing/2014/main" id="{646560DE-33CA-B34F-95FC-3A6DB13C1F0D}"/>
                </a:ext>
              </a:extLst>
            </p:cNvPr>
            <p:cNvSpPr txBox="1">
              <a:spLocks noChangeArrowheads="1"/>
            </p:cNvSpPr>
            <p:nvPr/>
          </p:nvSpPr>
          <p:spPr bwMode="auto">
            <a:xfrm>
              <a:off x="7480" y="12246"/>
              <a:ext cx="945"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1</a:t>
              </a:r>
              <a:r>
                <a:rPr lang="en-US" altLang="en-US" sz="1600">
                  <a:cs typeface="Times New Roman" panose="02020603050405020304" pitchFamily="18" charset="0"/>
                </a:rPr>
                <a:t>/(0,0)</a:t>
              </a:r>
              <a:endParaRPr lang="en-US" altLang="en-US" sz="1600"/>
            </a:p>
          </p:txBody>
        </p:sp>
        <p:sp>
          <p:nvSpPr>
            <p:cNvPr id="43038" name="Arc 7">
              <a:extLst>
                <a:ext uri="{FF2B5EF4-FFF2-40B4-BE49-F238E27FC236}">
                  <a16:creationId xmlns:a16="http://schemas.microsoft.com/office/drawing/2014/main" id="{5D65D8B4-6DEB-40F7-3E20-526D4640CB88}"/>
                </a:ext>
              </a:extLst>
            </p:cNvPr>
            <p:cNvSpPr>
              <a:spLocks/>
            </p:cNvSpPr>
            <p:nvPr/>
          </p:nvSpPr>
          <p:spPr bwMode="auto">
            <a:xfrm rot="11019758" flipH="1">
              <a:off x="8111" y="10007"/>
              <a:ext cx="630" cy="491"/>
            </a:xfrm>
            <a:custGeom>
              <a:avLst/>
              <a:gdLst>
                <a:gd name="T0" fmla="*/ 7 w 43200"/>
                <a:gd name="T1" fmla="*/ 0 h 40547"/>
                <a:gd name="T2" fmla="*/ 0 w 43200"/>
                <a:gd name="T3" fmla="*/ 2 h 40547"/>
                <a:gd name="T4" fmla="*/ 5 w 43200"/>
                <a:gd name="T5" fmla="*/ 3 h 40547"/>
                <a:gd name="T6" fmla="*/ 0 60000 65536"/>
                <a:gd name="T7" fmla="*/ 0 60000 65536"/>
                <a:gd name="T8" fmla="*/ 0 60000 65536"/>
              </a:gdLst>
              <a:ahLst/>
              <a:cxnLst>
                <a:cxn ang="T6">
                  <a:pos x="T0" y="T1"/>
                </a:cxn>
                <a:cxn ang="T7">
                  <a:pos x="T2" y="T3"/>
                </a:cxn>
                <a:cxn ang="T8">
                  <a:pos x="T4" y="T5"/>
                </a:cxn>
              </a:cxnLst>
              <a:rect l="0" t="0" r="r" b="b"/>
              <a:pathLst>
                <a:path w="43200" h="40547" fill="none" extrusionOk="0">
                  <a:moveTo>
                    <a:pt x="31971" y="-1"/>
                  </a:moveTo>
                  <a:cubicBezTo>
                    <a:pt x="38894" y="3789"/>
                    <a:pt x="43200" y="11054"/>
                    <a:pt x="43200" y="18947"/>
                  </a:cubicBezTo>
                  <a:cubicBezTo>
                    <a:pt x="43200" y="30876"/>
                    <a:pt x="33529" y="40547"/>
                    <a:pt x="21600" y="40547"/>
                  </a:cubicBezTo>
                  <a:cubicBezTo>
                    <a:pt x="9670" y="40547"/>
                    <a:pt x="0" y="30876"/>
                    <a:pt x="0" y="18947"/>
                  </a:cubicBezTo>
                  <a:cubicBezTo>
                    <a:pt x="-1" y="16038"/>
                    <a:pt x="587" y="13159"/>
                    <a:pt x="1727" y="10483"/>
                  </a:cubicBezTo>
                </a:path>
                <a:path w="43200" h="40547" stroke="0" extrusionOk="0">
                  <a:moveTo>
                    <a:pt x="31971" y="-1"/>
                  </a:moveTo>
                  <a:cubicBezTo>
                    <a:pt x="38894" y="3789"/>
                    <a:pt x="43200" y="11054"/>
                    <a:pt x="43200" y="18947"/>
                  </a:cubicBezTo>
                  <a:cubicBezTo>
                    <a:pt x="43200" y="30876"/>
                    <a:pt x="33529" y="40547"/>
                    <a:pt x="21600" y="40547"/>
                  </a:cubicBezTo>
                  <a:cubicBezTo>
                    <a:pt x="9670" y="40547"/>
                    <a:pt x="0" y="30876"/>
                    <a:pt x="0" y="18947"/>
                  </a:cubicBezTo>
                  <a:cubicBezTo>
                    <a:pt x="-1" y="16038"/>
                    <a:pt x="587" y="13159"/>
                    <a:pt x="1727" y="10483"/>
                  </a:cubicBezTo>
                  <a:lnTo>
                    <a:pt x="21600" y="18947"/>
                  </a:lnTo>
                  <a:lnTo>
                    <a:pt x="31971" y="-1"/>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039" name="Line 6">
              <a:extLst>
                <a:ext uri="{FF2B5EF4-FFF2-40B4-BE49-F238E27FC236}">
                  <a16:creationId xmlns:a16="http://schemas.microsoft.com/office/drawing/2014/main" id="{FC415F9D-8C4C-FA30-578A-C871A4DC3783}"/>
                </a:ext>
              </a:extLst>
            </p:cNvPr>
            <p:cNvSpPr>
              <a:spLocks noChangeShapeType="1"/>
            </p:cNvSpPr>
            <p:nvPr/>
          </p:nvSpPr>
          <p:spPr bwMode="auto">
            <a:xfrm>
              <a:off x="6392" y="10638"/>
              <a:ext cx="158" cy="40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40" name="Text Box 5">
              <a:extLst>
                <a:ext uri="{FF2B5EF4-FFF2-40B4-BE49-F238E27FC236}">
                  <a16:creationId xmlns:a16="http://schemas.microsoft.com/office/drawing/2014/main" id="{7FE3643F-0683-CB86-89F4-3A1CFE84948F}"/>
                </a:ext>
              </a:extLst>
            </p:cNvPr>
            <p:cNvSpPr txBox="1">
              <a:spLocks noChangeArrowheads="1"/>
            </p:cNvSpPr>
            <p:nvPr/>
          </p:nvSpPr>
          <p:spPr bwMode="auto">
            <a:xfrm>
              <a:off x="6441" y="10604"/>
              <a:ext cx="945"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2</a:t>
              </a:r>
              <a:r>
                <a:rPr lang="en-US" altLang="en-US" sz="1600">
                  <a:cs typeface="Times New Roman" panose="02020603050405020304" pitchFamily="18" charset="0"/>
                </a:rPr>
                <a:t>/(0,1)</a:t>
              </a:r>
              <a:endParaRPr lang="en-US" altLang="en-US" sz="1600"/>
            </a:p>
          </p:txBody>
        </p:sp>
        <p:sp>
          <p:nvSpPr>
            <p:cNvPr id="43041" name="Arc 4">
              <a:extLst>
                <a:ext uri="{FF2B5EF4-FFF2-40B4-BE49-F238E27FC236}">
                  <a16:creationId xmlns:a16="http://schemas.microsoft.com/office/drawing/2014/main" id="{5438284B-F070-F725-57F5-D1D059EA502C}"/>
                </a:ext>
              </a:extLst>
            </p:cNvPr>
            <p:cNvSpPr>
              <a:spLocks/>
            </p:cNvSpPr>
            <p:nvPr/>
          </p:nvSpPr>
          <p:spPr bwMode="auto">
            <a:xfrm rot="1270480" flipH="1" flipV="1">
              <a:off x="3050" y="9939"/>
              <a:ext cx="1758" cy="2045"/>
            </a:xfrm>
            <a:custGeom>
              <a:avLst/>
              <a:gdLst>
                <a:gd name="T0" fmla="*/ 0 w 21600"/>
                <a:gd name="T1" fmla="*/ 0 h 38857"/>
                <a:gd name="T2" fmla="*/ 86 w 21600"/>
                <a:gd name="T3" fmla="*/ 108 h 38857"/>
                <a:gd name="T4" fmla="*/ 0 w 21600"/>
                <a:gd name="T5" fmla="*/ 60 h 38857"/>
                <a:gd name="T6" fmla="*/ 0 60000 65536"/>
                <a:gd name="T7" fmla="*/ 0 60000 65536"/>
                <a:gd name="T8" fmla="*/ 0 60000 65536"/>
              </a:gdLst>
              <a:ahLst/>
              <a:cxnLst>
                <a:cxn ang="T6">
                  <a:pos x="T0" y="T1"/>
                </a:cxn>
                <a:cxn ang="T7">
                  <a:pos x="T2" y="T3"/>
                </a:cxn>
                <a:cxn ang="T8">
                  <a:pos x="T4" y="T5"/>
                </a:cxn>
              </a:cxnLst>
              <a:rect l="0" t="0" r="r" b="b"/>
              <a:pathLst>
                <a:path w="21600" h="38857" fill="none" extrusionOk="0">
                  <a:moveTo>
                    <a:pt x="-1" y="0"/>
                  </a:moveTo>
                  <a:cubicBezTo>
                    <a:pt x="11929" y="0"/>
                    <a:pt x="21600" y="9670"/>
                    <a:pt x="21600" y="21600"/>
                  </a:cubicBezTo>
                  <a:cubicBezTo>
                    <a:pt x="21600" y="28385"/>
                    <a:pt x="18411" y="34776"/>
                    <a:pt x="12990" y="38856"/>
                  </a:cubicBezTo>
                </a:path>
                <a:path w="21600" h="38857" stroke="0" extrusionOk="0">
                  <a:moveTo>
                    <a:pt x="-1" y="0"/>
                  </a:moveTo>
                  <a:cubicBezTo>
                    <a:pt x="11929" y="0"/>
                    <a:pt x="21600" y="9670"/>
                    <a:pt x="21600" y="21600"/>
                  </a:cubicBezTo>
                  <a:cubicBezTo>
                    <a:pt x="21600" y="28385"/>
                    <a:pt x="18411" y="34776"/>
                    <a:pt x="12990" y="38856"/>
                  </a:cubicBezTo>
                  <a:lnTo>
                    <a:pt x="0" y="21600"/>
                  </a:lnTo>
                  <a:lnTo>
                    <a:pt x="-1" y="0"/>
                  </a:lnTo>
                  <a:close/>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042" name="Arc 3">
              <a:extLst>
                <a:ext uri="{FF2B5EF4-FFF2-40B4-BE49-F238E27FC236}">
                  <a16:creationId xmlns:a16="http://schemas.microsoft.com/office/drawing/2014/main" id="{241BFDEC-8AEF-7091-97EA-DE9D28280A04}"/>
                </a:ext>
              </a:extLst>
            </p:cNvPr>
            <p:cNvSpPr>
              <a:spLocks/>
            </p:cNvSpPr>
            <p:nvPr/>
          </p:nvSpPr>
          <p:spPr bwMode="auto">
            <a:xfrm flipV="1">
              <a:off x="5290" y="10796"/>
              <a:ext cx="2990" cy="1487"/>
            </a:xfrm>
            <a:custGeom>
              <a:avLst/>
              <a:gdLst>
                <a:gd name="T0" fmla="*/ 0 w 21590"/>
                <a:gd name="T1" fmla="*/ 0 h 21600"/>
                <a:gd name="T2" fmla="*/ 414 w 21590"/>
                <a:gd name="T3" fmla="*/ 99 h 21600"/>
                <a:gd name="T4" fmla="*/ 0 w 21590"/>
                <a:gd name="T5" fmla="*/ 102 h 21600"/>
                <a:gd name="T6" fmla="*/ 0 60000 65536"/>
                <a:gd name="T7" fmla="*/ 0 60000 65536"/>
                <a:gd name="T8" fmla="*/ 0 60000 65536"/>
              </a:gdLst>
              <a:ahLst/>
              <a:cxnLst>
                <a:cxn ang="T6">
                  <a:pos x="T0" y="T1"/>
                </a:cxn>
                <a:cxn ang="T7">
                  <a:pos x="T2" y="T3"/>
                </a:cxn>
                <a:cxn ang="T8">
                  <a:pos x="T4" y="T5"/>
                </a:cxn>
              </a:cxnLst>
              <a:rect l="0" t="0" r="r" b="b"/>
              <a:pathLst>
                <a:path w="21590" h="21600" fill="none" extrusionOk="0">
                  <a:moveTo>
                    <a:pt x="-1" y="0"/>
                  </a:moveTo>
                  <a:cubicBezTo>
                    <a:pt x="11673" y="0"/>
                    <a:pt x="21234" y="9274"/>
                    <a:pt x="21589" y="20942"/>
                  </a:cubicBezTo>
                </a:path>
                <a:path w="21590" h="21600" stroke="0" extrusionOk="0">
                  <a:moveTo>
                    <a:pt x="-1" y="0"/>
                  </a:moveTo>
                  <a:cubicBezTo>
                    <a:pt x="11673" y="0"/>
                    <a:pt x="21234" y="9274"/>
                    <a:pt x="21589" y="20942"/>
                  </a:cubicBezTo>
                  <a:lnTo>
                    <a:pt x="0" y="21600"/>
                  </a:lnTo>
                  <a:lnTo>
                    <a:pt x="-1" y="0"/>
                  </a:lnTo>
                  <a:close/>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043" name="Text Box 2">
              <a:extLst>
                <a:ext uri="{FF2B5EF4-FFF2-40B4-BE49-F238E27FC236}">
                  <a16:creationId xmlns:a16="http://schemas.microsoft.com/office/drawing/2014/main" id="{E61980C4-6975-F0AF-D432-6485A594D4C2}"/>
                </a:ext>
              </a:extLst>
            </p:cNvPr>
            <p:cNvSpPr txBox="1">
              <a:spLocks noChangeArrowheads="1"/>
            </p:cNvSpPr>
            <p:nvPr/>
          </p:nvSpPr>
          <p:spPr bwMode="auto">
            <a:xfrm>
              <a:off x="6803" y="11967"/>
              <a:ext cx="945"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cs typeface="Times New Roman" panose="02020603050405020304" pitchFamily="18" charset="0"/>
                </a:rPr>
                <a:t>x</a:t>
              </a:r>
              <a:r>
                <a:rPr lang="en-US" altLang="en-US" sz="1600" baseline="-30000">
                  <a:cs typeface="Times New Roman" panose="02020603050405020304" pitchFamily="18" charset="0"/>
                </a:rPr>
                <a:t>1</a:t>
              </a:r>
              <a:r>
                <a:rPr lang="en-US" altLang="en-US" sz="1600">
                  <a:cs typeface="Times New Roman" panose="02020603050405020304" pitchFamily="18" charset="0"/>
                </a:rPr>
                <a:t>/(0,1)</a:t>
              </a:r>
              <a:endParaRPr lang="en-US" altLang="en-US" sz="1600"/>
            </a:p>
          </p:txBody>
        </p:sp>
      </p:grpSp>
      <p:sp>
        <p:nvSpPr>
          <p:cNvPr id="43013" name="TextBox 34">
            <a:extLst>
              <a:ext uri="{FF2B5EF4-FFF2-40B4-BE49-F238E27FC236}">
                <a16:creationId xmlns:a16="http://schemas.microsoft.com/office/drawing/2014/main" id="{5684DFA0-CFEB-49EA-CB0A-6D15A361D1D6}"/>
              </a:ext>
            </a:extLst>
          </p:cNvPr>
          <p:cNvSpPr txBox="1">
            <a:spLocks noChangeArrowheads="1"/>
          </p:cNvSpPr>
          <p:nvPr/>
        </p:nvSpPr>
        <p:spPr bwMode="auto">
          <a:xfrm>
            <a:off x="2247900" y="5080001"/>
            <a:ext cx="720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a:t>FSMs  A and B are not  equivalent</a:t>
            </a:r>
            <a:endParaRPr lang="en-GB"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77" name="Text Box 27">
            <a:extLst>
              <a:ext uri="{FF2B5EF4-FFF2-40B4-BE49-F238E27FC236}">
                <a16:creationId xmlns:a16="http://schemas.microsoft.com/office/drawing/2014/main" id="{BAB3B40D-FA5F-47FC-84CC-D7DB25FFE01A}"/>
              </a:ext>
            </a:extLst>
          </p:cNvPr>
          <p:cNvSpPr txBox="1">
            <a:spLocks noChangeArrowheads="1"/>
          </p:cNvSpPr>
          <p:nvPr/>
        </p:nvSpPr>
        <p:spPr bwMode="auto">
          <a:xfrm>
            <a:off x="2154239" y="5040314"/>
            <a:ext cx="7894637" cy="646331"/>
          </a:xfrm>
          <a:prstGeom prst="rect">
            <a:avLst/>
          </a:prstGeom>
          <a:noFill/>
          <a:ln w="9525">
            <a:noFill/>
            <a:miter lim="800000"/>
            <a:headEnd/>
            <a:tailEnd/>
          </a:ln>
        </p:spPr>
        <p:txBody>
          <a:bodyPr>
            <a:spAutoFit/>
          </a:bodyPr>
          <a:lstStyle/>
          <a:p>
            <a:pPr eaLnBrk="1" hangingPunct="1">
              <a:spcBef>
                <a:spcPct val="50000"/>
              </a:spcBef>
              <a:defRPr/>
            </a:pPr>
            <a:r>
              <a:rPr lang="en-US" dirty="0"/>
              <a:t>The FSMs are equivalent if for all inputs their outputs are identical on all reachable state pairs.</a:t>
            </a:r>
            <a:endParaRPr lang="ru-RU" dirty="0"/>
          </a:p>
        </p:txBody>
      </p:sp>
      <p:grpSp>
        <p:nvGrpSpPr>
          <p:cNvPr id="44036" name="Group 30">
            <a:extLst>
              <a:ext uri="{FF2B5EF4-FFF2-40B4-BE49-F238E27FC236}">
                <a16:creationId xmlns:a16="http://schemas.microsoft.com/office/drawing/2014/main" id="{B5CE4368-692C-F7FA-14F3-E9BA457C75A8}"/>
              </a:ext>
            </a:extLst>
          </p:cNvPr>
          <p:cNvGrpSpPr>
            <a:grpSpLocks/>
          </p:cNvGrpSpPr>
          <p:nvPr/>
        </p:nvGrpSpPr>
        <p:grpSpPr bwMode="auto">
          <a:xfrm>
            <a:off x="2286000" y="1776413"/>
            <a:ext cx="4668838" cy="3281362"/>
            <a:chOff x="453" y="1146"/>
            <a:chExt cx="2941" cy="2067"/>
          </a:xfrm>
        </p:grpSpPr>
        <p:sp>
          <p:nvSpPr>
            <p:cNvPr id="23556" name="Rectangle 3">
              <a:extLst>
                <a:ext uri="{FF2B5EF4-FFF2-40B4-BE49-F238E27FC236}">
                  <a16:creationId xmlns:a16="http://schemas.microsoft.com/office/drawing/2014/main" id="{828319BD-346C-4E44-87A4-266A409B6332}"/>
                </a:ext>
              </a:extLst>
            </p:cNvPr>
            <p:cNvSpPr>
              <a:spLocks noChangeArrowheads="1"/>
            </p:cNvSpPr>
            <p:nvPr/>
          </p:nvSpPr>
          <p:spPr bwMode="auto">
            <a:xfrm>
              <a:off x="894" y="1146"/>
              <a:ext cx="1141" cy="2067"/>
            </a:xfrm>
            <a:prstGeom prst="rect">
              <a:avLst/>
            </a:prstGeom>
            <a:solidFill>
              <a:schemeClr val="accent1">
                <a:lumMod val="20000"/>
                <a:lumOff val="80000"/>
                <a:alpha val="67999"/>
              </a:schemeClr>
            </a:solidFill>
            <a:ln w="25400">
              <a:solidFill>
                <a:schemeClr val="tx1"/>
              </a:solidFill>
              <a:miter lim="800000"/>
              <a:headEnd/>
              <a:tailEnd/>
            </a:ln>
          </p:spPr>
          <p:txBody>
            <a:bodyPr wrap="none" anchor="ctr"/>
            <a:lstStyle/>
            <a:p>
              <a:pPr eaLnBrk="1" hangingPunct="1">
                <a:defRPr/>
              </a:pPr>
              <a:endParaRPr lang="en-US" dirty="0"/>
            </a:p>
          </p:txBody>
        </p:sp>
        <p:sp>
          <p:nvSpPr>
            <p:cNvPr id="44039" name="Rectangle 5">
              <a:extLst>
                <a:ext uri="{FF2B5EF4-FFF2-40B4-BE49-F238E27FC236}">
                  <a16:creationId xmlns:a16="http://schemas.microsoft.com/office/drawing/2014/main" id="{D573F421-4EA1-0789-CC94-136434E68876}"/>
                </a:ext>
              </a:extLst>
            </p:cNvPr>
            <p:cNvSpPr>
              <a:spLocks noChangeArrowheads="1"/>
            </p:cNvSpPr>
            <p:nvPr/>
          </p:nvSpPr>
          <p:spPr bwMode="auto">
            <a:xfrm>
              <a:off x="1300" y="1360"/>
              <a:ext cx="530" cy="624"/>
            </a:xfrm>
            <a:prstGeom prst="rect">
              <a:avLst/>
            </a:prstGeom>
            <a:solidFill>
              <a:schemeClr val="accent1"/>
            </a:solidFill>
            <a:ln w="2540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b="1" dirty="0">
                  <a:solidFill>
                    <a:schemeClr val="bg1"/>
                  </a:solidFill>
                </a:rPr>
                <a:t>A</a:t>
              </a:r>
              <a:endParaRPr lang="ru-RU" altLang="en-US" b="1" dirty="0">
                <a:solidFill>
                  <a:schemeClr val="bg1"/>
                </a:solidFill>
              </a:endParaRPr>
            </a:p>
          </p:txBody>
        </p:sp>
        <p:sp>
          <p:nvSpPr>
            <p:cNvPr id="44040" name="Line 6">
              <a:extLst>
                <a:ext uri="{FF2B5EF4-FFF2-40B4-BE49-F238E27FC236}">
                  <a16:creationId xmlns:a16="http://schemas.microsoft.com/office/drawing/2014/main" id="{A97275FB-486F-BDDD-C462-B6EEBB261B61}"/>
                </a:ext>
              </a:extLst>
            </p:cNvPr>
            <p:cNvSpPr>
              <a:spLocks noChangeShapeType="1"/>
            </p:cNvSpPr>
            <p:nvPr/>
          </p:nvSpPr>
          <p:spPr bwMode="auto">
            <a:xfrm>
              <a:off x="1065" y="1655"/>
              <a:ext cx="245"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41" name="Line 7">
              <a:extLst>
                <a:ext uri="{FF2B5EF4-FFF2-40B4-BE49-F238E27FC236}">
                  <a16:creationId xmlns:a16="http://schemas.microsoft.com/office/drawing/2014/main" id="{4B496FEC-C01E-3135-459D-86FEB5B76490}"/>
                </a:ext>
              </a:extLst>
            </p:cNvPr>
            <p:cNvSpPr>
              <a:spLocks noChangeShapeType="1"/>
            </p:cNvSpPr>
            <p:nvPr/>
          </p:nvSpPr>
          <p:spPr bwMode="auto">
            <a:xfrm>
              <a:off x="1065" y="2560"/>
              <a:ext cx="245"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42" name="Line 8">
              <a:extLst>
                <a:ext uri="{FF2B5EF4-FFF2-40B4-BE49-F238E27FC236}">
                  <a16:creationId xmlns:a16="http://schemas.microsoft.com/office/drawing/2014/main" id="{2FB77E2E-7583-811B-5557-9384C6462A68}"/>
                </a:ext>
              </a:extLst>
            </p:cNvPr>
            <p:cNvSpPr>
              <a:spLocks noChangeShapeType="1"/>
            </p:cNvSpPr>
            <p:nvPr/>
          </p:nvSpPr>
          <p:spPr bwMode="auto">
            <a:xfrm>
              <a:off x="1073" y="1648"/>
              <a:ext cx="0" cy="9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3" name="Line 9">
              <a:extLst>
                <a:ext uri="{FF2B5EF4-FFF2-40B4-BE49-F238E27FC236}">
                  <a16:creationId xmlns:a16="http://schemas.microsoft.com/office/drawing/2014/main" id="{778C2E4A-3A91-01D4-4DF0-6EB7624D8A17}"/>
                </a:ext>
              </a:extLst>
            </p:cNvPr>
            <p:cNvSpPr>
              <a:spLocks noChangeShapeType="1"/>
            </p:cNvSpPr>
            <p:nvPr/>
          </p:nvSpPr>
          <p:spPr bwMode="auto">
            <a:xfrm>
              <a:off x="707" y="2096"/>
              <a:ext cx="366"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4044" name="Line 10">
              <a:extLst>
                <a:ext uri="{FF2B5EF4-FFF2-40B4-BE49-F238E27FC236}">
                  <a16:creationId xmlns:a16="http://schemas.microsoft.com/office/drawing/2014/main" id="{72D8DD3A-06CF-DD9E-5CCC-4AF356D02CF8}"/>
                </a:ext>
              </a:extLst>
            </p:cNvPr>
            <p:cNvSpPr>
              <a:spLocks noChangeShapeType="1"/>
            </p:cNvSpPr>
            <p:nvPr/>
          </p:nvSpPr>
          <p:spPr bwMode="auto">
            <a:xfrm>
              <a:off x="1840" y="1656"/>
              <a:ext cx="4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5" name="Line 11">
              <a:extLst>
                <a:ext uri="{FF2B5EF4-FFF2-40B4-BE49-F238E27FC236}">
                  <a16:creationId xmlns:a16="http://schemas.microsoft.com/office/drawing/2014/main" id="{947E915A-68C9-AD35-B279-5088D63069A9}"/>
                </a:ext>
              </a:extLst>
            </p:cNvPr>
            <p:cNvSpPr>
              <a:spLocks noChangeShapeType="1"/>
            </p:cNvSpPr>
            <p:nvPr/>
          </p:nvSpPr>
          <p:spPr bwMode="auto">
            <a:xfrm>
              <a:off x="1840" y="2551"/>
              <a:ext cx="4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28" name="Text Box 12">
              <a:extLst>
                <a:ext uri="{FF2B5EF4-FFF2-40B4-BE49-F238E27FC236}">
                  <a16:creationId xmlns:a16="http://schemas.microsoft.com/office/drawing/2014/main" id="{C31E79D1-EFBD-4E00-B9B2-7D657690902B}"/>
                </a:ext>
              </a:extLst>
            </p:cNvPr>
            <p:cNvSpPr txBox="1">
              <a:spLocks noChangeArrowheads="1"/>
            </p:cNvSpPr>
            <p:nvPr/>
          </p:nvSpPr>
          <p:spPr bwMode="auto">
            <a:xfrm>
              <a:off x="2207" y="1366"/>
              <a:ext cx="326" cy="233"/>
            </a:xfrm>
            <a:prstGeom prst="rect">
              <a:avLst/>
            </a:prstGeom>
            <a:noFill/>
            <a:ln>
              <a:noFill/>
            </a:ln>
          </p:spPr>
          <p:txBody>
            <a:bodyPr>
              <a:spAutoFit/>
            </a:bodyPr>
            <a:lstStyle/>
            <a:p>
              <a:pPr eaLnBrk="1" hangingPunct="1">
                <a:spcBef>
                  <a:spcPct val="50000"/>
                </a:spcBef>
                <a:defRPr/>
              </a:pPr>
              <a:endParaRPr lang="ru-RU" b="1">
                <a:effectLst>
                  <a:outerShdw blurRad="38100" dist="38100" dir="2700000" algn="tl">
                    <a:srgbClr val="C0C0C0"/>
                  </a:outerShdw>
                </a:effectLst>
              </a:endParaRPr>
            </a:p>
          </p:txBody>
        </p:sp>
        <p:sp>
          <p:nvSpPr>
            <p:cNvPr id="23566" name="Text Box 13">
              <a:extLst>
                <a:ext uri="{FF2B5EF4-FFF2-40B4-BE49-F238E27FC236}">
                  <a16:creationId xmlns:a16="http://schemas.microsoft.com/office/drawing/2014/main" id="{78EAFD10-F19B-4200-A2A4-11009560AACF}"/>
                </a:ext>
              </a:extLst>
            </p:cNvPr>
            <p:cNvSpPr txBox="1">
              <a:spLocks noChangeArrowheads="1"/>
            </p:cNvSpPr>
            <p:nvPr/>
          </p:nvSpPr>
          <p:spPr bwMode="auto">
            <a:xfrm>
              <a:off x="2125" y="1146"/>
              <a:ext cx="408" cy="233"/>
            </a:xfrm>
            <a:prstGeom prst="rect">
              <a:avLst/>
            </a:prstGeom>
            <a:noFill/>
            <a:ln>
              <a:noFill/>
            </a:ln>
          </p:spPr>
          <p:txBody>
            <a:bodyPr>
              <a:spAutoFit/>
            </a:bodyPr>
            <a:lstStyle/>
            <a:p>
              <a:pPr eaLnBrk="1" hangingPunct="1">
                <a:spcBef>
                  <a:spcPct val="50000"/>
                </a:spcBef>
                <a:defRPr/>
              </a:pPr>
              <a:r>
                <a:rPr lang="en-US" dirty="0"/>
                <a:t>Y</a:t>
              </a:r>
              <a:r>
                <a:rPr lang="en-US" baseline="-25000" dirty="0"/>
                <a:t>A</a:t>
              </a:r>
              <a:endParaRPr lang="ru-RU"/>
            </a:p>
          </p:txBody>
        </p:sp>
        <p:sp>
          <p:nvSpPr>
            <p:cNvPr id="23567" name="Text Box 14">
              <a:extLst>
                <a:ext uri="{FF2B5EF4-FFF2-40B4-BE49-F238E27FC236}">
                  <a16:creationId xmlns:a16="http://schemas.microsoft.com/office/drawing/2014/main" id="{D07D9E86-E85C-4BD5-85AF-0B370C1D0842}"/>
                </a:ext>
              </a:extLst>
            </p:cNvPr>
            <p:cNvSpPr txBox="1">
              <a:spLocks noChangeArrowheads="1"/>
            </p:cNvSpPr>
            <p:nvPr/>
          </p:nvSpPr>
          <p:spPr bwMode="auto">
            <a:xfrm>
              <a:off x="2207" y="2818"/>
              <a:ext cx="408" cy="233"/>
            </a:xfrm>
            <a:prstGeom prst="rect">
              <a:avLst/>
            </a:prstGeom>
            <a:noFill/>
            <a:ln>
              <a:noFill/>
            </a:ln>
          </p:spPr>
          <p:txBody>
            <a:bodyPr>
              <a:spAutoFit/>
            </a:bodyPr>
            <a:lstStyle/>
            <a:p>
              <a:pPr eaLnBrk="1" hangingPunct="1">
                <a:spcBef>
                  <a:spcPct val="50000"/>
                </a:spcBef>
                <a:defRPr/>
              </a:pPr>
              <a:r>
                <a:rPr lang="en-US" dirty="0"/>
                <a:t>Y</a:t>
              </a:r>
              <a:r>
                <a:rPr lang="en-US" baseline="-25000" dirty="0"/>
                <a:t>B</a:t>
              </a:r>
              <a:endParaRPr lang="ru-RU"/>
            </a:p>
          </p:txBody>
        </p:sp>
        <p:sp>
          <p:nvSpPr>
            <p:cNvPr id="23568" name="Text Box 15">
              <a:extLst>
                <a:ext uri="{FF2B5EF4-FFF2-40B4-BE49-F238E27FC236}">
                  <a16:creationId xmlns:a16="http://schemas.microsoft.com/office/drawing/2014/main" id="{DDC76229-D6FE-439F-A026-0BA3737ECE1C}"/>
                </a:ext>
              </a:extLst>
            </p:cNvPr>
            <p:cNvSpPr txBox="1">
              <a:spLocks noChangeArrowheads="1"/>
            </p:cNvSpPr>
            <p:nvPr/>
          </p:nvSpPr>
          <p:spPr bwMode="auto">
            <a:xfrm>
              <a:off x="453" y="1973"/>
              <a:ext cx="408" cy="233"/>
            </a:xfrm>
            <a:prstGeom prst="rect">
              <a:avLst/>
            </a:prstGeom>
            <a:noFill/>
            <a:ln>
              <a:noFill/>
            </a:ln>
          </p:spPr>
          <p:txBody>
            <a:bodyPr>
              <a:spAutoFit/>
            </a:bodyPr>
            <a:lstStyle/>
            <a:p>
              <a:pPr eaLnBrk="1" hangingPunct="1">
                <a:spcBef>
                  <a:spcPct val="50000"/>
                </a:spcBef>
                <a:defRPr/>
              </a:pPr>
              <a:r>
                <a:rPr lang="en-US" dirty="0"/>
                <a:t>X</a:t>
              </a:r>
              <a:endParaRPr lang="ru-RU"/>
            </a:p>
          </p:txBody>
        </p:sp>
        <p:sp>
          <p:nvSpPr>
            <p:cNvPr id="23569" name="Text Box 16">
              <a:extLst>
                <a:ext uri="{FF2B5EF4-FFF2-40B4-BE49-F238E27FC236}">
                  <a16:creationId xmlns:a16="http://schemas.microsoft.com/office/drawing/2014/main" id="{99C360B7-1398-4E3C-8FD8-01C58F9B39D6}"/>
                </a:ext>
              </a:extLst>
            </p:cNvPr>
            <p:cNvSpPr txBox="1">
              <a:spLocks noChangeArrowheads="1"/>
            </p:cNvSpPr>
            <p:nvPr/>
          </p:nvSpPr>
          <p:spPr bwMode="auto">
            <a:xfrm>
              <a:off x="893" y="2931"/>
              <a:ext cx="571" cy="233"/>
            </a:xfrm>
            <a:prstGeom prst="rect">
              <a:avLst/>
            </a:prstGeom>
            <a:noFill/>
            <a:ln>
              <a:noFill/>
            </a:ln>
          </p:spPr>
          <p:txBody>
            <a:bodyPr>
              <a:spAutoFit/>
            </a:bodyPr>
            <a:lstStyle/>
            <a:p>
              <a:pPr eaLnBrk="1" hangingPunct="1">
                <a:spcBef>
                  <a:spcPct val="50000"/>
                </a:spcBef>
                <a:defRPr/>
              </a:pPr>
              <a:r>
                <a:rPr lang="en-US" dirty="0"/>
                <a:t>A</a:t>
              </a:r>
              <a:r>
                <a:rPr lang="en-US" dirty="0">
                  <a:sym typeface="Symbol" pitchFamily="18" charset="2"/>
                </a:rPr>
                <a:t>B</a:t>
              </a:r>
            </a:p>
          </p:txBody>
        </p:sp>
        <p:sp>
          <p:nvSpPr>
            <p:cNvPr id="44051" name="Line 20">
              <a:extLst>
                <a:ext uri="{FF2B5EF4-FFF2-40B4-BE49-F238E27FC236}">
                  <a16:creationId xmlns:a16="http://schemas.microsoft.com/office/drawing/2014/main" id="{E773E63F-9683-2AFF-9588-3C4A5A5155FE}"/>
                </a:ext>
              </a:extLst>
            </p:cNvPr>
            <p:cNvSpPr>
              <a:spLocks noChangeShapeType="1"/>
            </p:cNvSpPr>
            <p:nvPr/>
          </p:nvSpPr>
          <p:spPr bwMode="auto">
            <a:xfrm>
              <a:off x="2247" y="1656"/>
              <a:ext cx="0" cy="32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52" name="Line 21">
              <a:extLst>
                <a:ext uri="{FF2B5EF4-FFF2-40B4-BE49-F238E27FC236}">
                  <a16:creationId xmlns:a16="http://schemas.microsoft.com/office/drawing/2014/main" id="{8643B9AA-41FF-0B4F-946D-2E7C7BBDCA40}"/>
                </a:ext>
              </a:extLst>
            </p:cNvPr>
            <p:cNvSpPr>
              <a:spLocks noChangeShapeType="1"/>
            </p:cNvSpPr>
            <p:nvPr/>
          </p:nvSpPr>
          <p:spPr bwMode="auto">
            <a:xfrm>
              <a:off x="2247" y="1973"/>
              <a:ext cx="486" cy="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53" name="Line 22">
              <a:extLst>
                <a:ext uri="{FF2B5EF4-FFF2-40B4-BE49-F238E27FC236}">
                  <a16:creationId xmlns:a16="http://schemas.microsoft.com/office/drawing/2014/main" id="{F095F38D-7C99-A3AB-F988-DEADFC30B0A7}"/>
                </a:ext>
              </a:extLst>
            </p:cNvPr>
            <p:cNvSpPr>
              <a:spLocks noChangeShapeType="1"/>
            </p:cNvSpPr>
            <p:nvPr/>
          </p:nvSpPr>
          <p:spPr bwMode="auto">
            <a:xfrm>
              <a:off x="2247" y="2194"/>
              <a:ext cx="5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54" name="Line 23">
              <a:extLst>
                <a:ext uri="{FF2B5EF4-FFF2-40B4-BE49-F238E27FC236}">
                  <a16:creationId xmlns:a16="http://schemas.microsoft.com/office/drawing/2014/main" id="{C20473E3-FC0E-B64A-D2B4-DF82D77F8EC1}"/>
                </a:ext>
              </a:extLst>
            </p:cNvPr>
            <p:cNvSpPr>
              <a:spLocks noChangeShapeType="1"/>
            </p:cNvSpPr>
            <p:nvPr/>
          </p:nvSpPr>
          <p:spPr bwMode="auto">
            <a:xfrm flipV="1">
              <a:off x="2247" y="2192"/>
              <a:ext cx="0" cy="35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55" name="Line 24">
              <a:extLst>
                <a:ext uri="{FF2B5EF4-FFF2-40B4-BE49-F238E27FC236}">
                  <a16:creationId xmlns:a16="http://schemas.microsoft.com/office/drawing/2014/main" id="{AE34654F-8CC3-DDD4-6668-CF3FA1DA8FE4}"/>
                </a:ext>
              </a:extLst>
            </p:cNvPr>
            <p:cNvSpPr>
              <a:spLocks noChangeShapeType="1"/>
            </p:cNvSpPr>
            <p:nvPr/>
          </p:nvSpPr>
          <p:spPr bwMode="auto">
            <a:xfrm>
              <a:off x="3056" y="2070"/>
              <a:ext cx="3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8" name="AutoShape 29">
              <a:extLst>
                <a:ext uri="{FF2B5EF4-FFF2-40B4-BE49-F238E27FC236}">
                  <a16:creationId xmlns:a16="http://schemas.microsoft.com/office/drawing/2014/main" id="{6F894F35-82AF-49E8-855F-113D57B21B94}"/>
                </a:ext>
              </a:extLst>
            </p:cNvPr>
            <p:cNvSpPr>
              <a:spLocks noChangeArrowheads="1"/>
            </p:cNvSpPr>
            <p:nvPr/>
          </p:nvSpPr>
          <p:spPr bwMode="auto">
            <a:xfrm rot="5400000">
              <a:off x="1900" y="1616"/>
              <a:ext cx="552" cy="914"/>
            </a:xfrm>
            <a:custGeom>
              <a:avLst/>
              <a:gdLst>
                <a:gd name="T0" fmla="*/ 2147483647 w 21600"/>
                <a:gd name="T1" fmla="*/ 0 h 21600"/>
                <a:gd name="T2" fmla="*/ 2147483647 w 21600"/>
                <a:gd name="T3" fmla="*/ 2147483647 h 21600"/>
                <a:gd name="T4" fmla="*/ 2147483647 w 21600"/>
                <a:gd name="T5" fmla="*/ 0 h 21600"/>
                <a:gd name="T6" fmla="*/ 2147483647 w 21600"/>
                <a:gd name="T7" fmla="*/ 2147483647 h 21600"/>
                <a:gd name="T8" fmla="*/ 0 60000 65536"/>
                <a:gd name="T9" fmla="*/ 0 60000 65536"/>
                <a:gd name="T10" fmla="*/ 0 60000 65536"/>
                <a:gd name="T11" fmla="*/ 0 60000 65536"/>
                <a:gd name="T12" fmla="*/ 1673 w 21600"/>
                <a:gd name="T13" fmla="*/ 0 h 21600"/>
                <a:gd name="T14" fmla="*/ 19927 w 21600"/>
                <a:gd name="T15" fmla="*/ 5025 h 21600"/>
              </a:gdLst>
              <a:ahLst/>
              <a:cxnLst>
                <a:cxn ang="T8">
                  <a:pos x="T0" y="T1"/>
                </a:cxn>
                <a:cxn ang="T9">
                  <a:pos x="T2" y="T3"/>
                </a:cxn>
                <a:cxn ang="T10">
                  <a:pos x="T4" y="T5"/>
                </a:cxn>
                <a:cxn ang="T11">
                  <a:pos x="T6" y="T7"/>
                </a:cxn>
              </a:cxnLst>
              <a:rect l="T12" t="T13" r="T14" b="T15"/>
              <a:pathLst>
                <a:path w="21600" h="21600">
                  <a:moveTo>
                    <a:pt x="3136" y="3190"/>
                  </a:moveTo>
                  <a:cubicBezTo>
                    <a:pt x="5163" y="1148"/>
                    <a:pt x="7922" y="-1"/>
                    <a:pt x="10800" y="0"/>
                  </a:cubicBezTo>
                  <a:cubicBezTo>
                    <a:pt x="13677" y="0"/>
                    <a:pt x="16436" y="1148"/>
                    <a:pt x="18463" y="3190"/>
                  </a:cubicBezTo>
                  <a:cubicBezTo>
                    <a:pt x="16436" y="1148"/>
                    <a:pt x="13677" y="-1"/>
                    <a:pt x="10799" y="0"/>
                  </a:cubicBezTo>
                  <a:cubicBezTo>
                    <a:pt x="7922" y="0"/>
                    <a:pt x="5163" y="1148"/>
                    <a:pt x="3136" y="3190"/>
                  </a:cubicBezTo>
                  <a:close/>
                </a:path>
              </a:pathLst>
            </a:custGeom>
            <a:solidFill>
              <a:schemeClr val="accent1"/>
            </a:solidFill>
            <a:ln w="25400">
              <a:solidFill>
                <a:schemeClr val="tx1"/>
              </a:solidFill>
              <a:miter lim="800000"/>
              <a:headEnd/>
              <a:tailEnd/>
            </a:ln>
          </p:spPr>
          <p:txBody>
            <a:bodyPr rot="10800000" vert="eaVert" wrap="none" anchor="ctr"/>
            <a:lstStyle/>
            <a:p>
              <a:pPr eaLnBrk="1" hangingPunct="1">
                <a:defRPr/>
              </a:pPr>
              <a:endParaRPr lang="en-US" dirty="0"/>
            </a:p>
          </p:txBody>
        </p:sp>
        <p:sp>
          <p:nvSpPr>
            <p:cNvPr id="23579" name="AutoShape 30">
              <a:extLst>
                <a:ext uri="{FF2B5EF4-FFF2-40B4-BE49-F238E27FC236}">
                  <a16:creationId xmlns:a16="http://schemas.microsoft.com/office/drawing/2014/main" id="{EA9B3B93-B314-495A-89B9-23725C32BADE}"/>
                </a:ext>
              </a:extLst>
            </p:cNvPr>
            <p:cNvSpPr>
              <a:spLocks noChangeArrowheads="1"/>
            </p:cNvSpPr>
            <p:nvPr/>
          </p:nvSpPr>
          <p:spPr bwMode="auto">
            <a:xfrm rot="10800000">
              <a:off x="2568" y="1813"/>
              <a:ext cx="486" cy="501"/>
            </a:xfrm>
            <a:prstGeom prst="moon">
              <a:avLst>
                <a:gd name="adj" fmla="val 70125"/>
              </a:avLst>
            </a:prstGeom>
            <a:solidFill>
              <a:srgbClr val="C0C0C0"/>
            </a:solidFill>
            <a:ln w="25400">
              <a:solidFill>
                <a:schemeClr val="tx1"/>
              </a:solidFill>
              <a:miter lim="800000"/>
              <a:headEnd/>
              <a:tailEnd/>
            </a:ln>
          </p:spPr>
          <p:txBody>
            <a:bodyPr rot="10800000" wrap="none" anchor="ctr"/>
            <a:lstStyle/>
            <a:p>
              <a:pPr eaLnBrk="1" hangingPunct="1">
                <a:defRPr/>
              </a:pPr>
              <a:endParaRPr lang="en-US" dirty="0"/>
            </a:p>
          </p:txBody>
        </p:sp>
        <p:sp>
          <p:nvSpPr>
            <p:cNvPr id="2" name="Rectangle 5">
              <a:extLst>
                <a:ext uri="{FF2B5EF4-FFF2-40B4-BE49-F238E27FC236}">
                  <a16:creationId xmlns:a16="http://schemas.microsoft.com/office/drawing/2014/main" id="{0C966581-8CF9-4996-951A-3E49E82FA14F}"/>
                </a:ext>
              </a:extLst>
            </p:cNvPr>
            <p:cNvSpPr>
              <a:spLocks noChangeArrowheads="1"/>
            </p:cNvSpPr>
            <p:nvPr/>
          </p:nvSpPr>
          <p:spPr bwMode="auto">
            <a:xfrm>
              <a:off x="1314" y="2250"/>
              <a:ext cx="530" cy="624"/>
            </a:xfrm>
            <a:prstGeom prst="rect">
              <a:avLst/>
            </a:prstGeom>
            <a:solidFill>
              <a:schemeClr val="accent1"/>
            </a:solidFill>
            <a:ln w="25400">
              <a:solidFill>
                <a:schemeClr val="tx1"/>
              </a:solidFill>
              <a:miter lim="800000"/>
              <a:headEnd/>
              <a:tailEnd/>
            </a:ln>
          </p:spPr>
          <p:txBody>
            <a:bodyPr wrap="none" anchor="ctr"/>
            <a:lstStyle/>
            <a:p>
              <a:pPr algn="ctr" eaLnBrk="1" hangingPunct="1">
                <a:defRPr/>
              </a:pPr>
              <a:r>
                <a:rPr lang="en-US" b="1" dirty="0">
                  <a:solidFill>
                    <a:schemeClr val="bg1"/>
                  </a:solidFill>
                </a:rPr>
                <a:t>B</a:t>
              </a:r>
              <a:endParaRPr lang="ru-RU" b="1" dirty="0">
                <a:solidFill>
                  <a:schemeClr val="bg1"/>
                </a:solidFill>
              </a:endParaRPr>
            </a:p>
          </p:txBody>
        </p:sp>
      </p:grpSp>
      <p:sp>
        <p:nvSpPr>
          <p:cNvPr id="44037" name="Rectangle 28">
            <a:extLst>
              <a:ext uri="{FF2B5EF4-FFF2-40B4-BE49-F238E27FC236}">
                <a16:creationId xmlns:a16="http://schemas.microsoft.com/office/drawing/2014/main" id="{566AD1D7-2491-F732-6A55-545AC8F387FE}"/>
              </a:ext>
            </a:extLst>
          </p:cNvPr>
          <p:cNvSpPr>
            <a:spLocks noChangeArrowheads="1"/>
          </p:cNvSpPr>
          <p:nvPr/>
        </p:nvSpPr>
        <p:spPr bwMode="auto">
          <a:xfrm>
            <a:off x="6096000" y="1260475"/>
            <a:ext cx="38862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GB" altLang="en-US"/>
              <a:t>If A = B then the output is always zero</a:t>
            </a:r>
          </a:p>
        </p:txBody>
      </p:sp>
      <p:sp>
        <p:nvSpPr>
          <p:cNvPr id="5" name="Title 4">
            <a:extLst>
              <a:ext uri="{FF2B5EF4-FFF2-40B4-BE49-F238E27FC236}">
                <a16:creationId xmlns:a16="http://schemas.microsoft.com/office/drawing/2014/main" id="{B9463A6D-F182-8FBC-1C22-17AB0348FEA9}"/>
              </a:ext>
            </a:extLst>
          </p:cNvPr>
          <p:cNvSpPr>
            <a:spLocks noGrp="1"/>
          </p:cNvSpPr>
          <p:nvPr>
            <p:ph type="title"/>
          </p:nvPr>
        </p:nvSpPr>
        <p:spPr/>
        <p:txBody>
          <a:bodyPr>
            <a:normAutofit/>
          </a:bodyPr>
          <a:lstStyle/>
          <a:p>
            <a:r>
              <a:rPr lang="en-US" dirty="0"/>
              <a:t>FSM Equivalence Checking (Product of FSMs)</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A188CAB-95E7-17C8-B314-FF0BC56C6222}"/>
              </a:ext>
            </a:extLst>
          </p:cNvPr>
          <p:cNvSpPr>
            <a:spLocks noGrp="1"/>
          </p:cNvSpPr>
          <p:nvPr>
            <p:ph type="body" sz="quarter" idx="10"/>
          </p:nvPr>
        </p:nvSpPr>
        <p:spPr/>
        <p:txBody>
          <a:bodyPr/>
          <a:lstStyle/>
          <a:p>
            <a:r>
              <a:rPr lang="en-US" dirty="0"/>
              <a:t>Transformation of Moore FSM to Mealy FSM</a:t>
            </a:r>
          </a:p>
          <a:p>
            <a:endParaRPr lang="en-US" dirty="0"/>
          </a:p>
        </p:txBody>
      </p:sp>
      <p:grpSp>
        <p:nvGrpSpPr>
          <p:cNvPr id="46084" name="Group 60">
            <a:extLst>
              <a:ext uri="{FF2B5EF4-FFF2-40B4-BE49-F238E27FC236}">
                <a16:creationId xmlns:a16="http://schemas.microsoft.com/office/drawing/2014/main" id="{08A0E4D7-0319-340F-367A-A41793457104}"/>
              </a:ext>
            </a:extLst>
          </p:cNvPr>
          <p:cNvGrpSpPr>
            <a:grpSpLocks/>
          </p:cNvGrpSpPr>
          <p:nvPr/>
        </p:nvGrpSpPr>
        <p:grpSpPr bwMode="auto">
          <a:xfrm>
            <a:off x="2311400" y="2349500"/>
            <a:ext cx="7981950" cy="3644900"/>
            <a:chOff x="787400" y="2349500"/>
            <a:chExt cx="7981950" cy="3644900"/>
          </a:xfrm>
        </p:grpSpPr>
        <p:sp>
          <p:nvSpPr>
            <p:cNvPr id="46085" name="Text Box 4">
              <a:extLst>
                <a:ext uri="{FF2B5EF4-FFF2-40B4-BE49-F238E27FC236}">
                  <a16:creationId xmlns:a16="http://schemas.microsoft.com/office/drawing/2014/main" id="{6AE14CC1-7A18-F045-27EA-2F9CD6DDC221}"/>
                </a:ext>
              </a:extLst>
            </p:cNvPr>
            <p:cNvSpPr txBox="1">
              <a:spLocks noChangeArrowheads="1"/>
            </p:cNvSpPr>
            <p:nvPr/>
          </p:nvSpPr>
          <p:spPr bwMode="auto">
            <a:xfrm>
              <a:off x="6746529" y="3436903"/>
              <a:ext cx="2022821" cy="1528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cs typeface="Times New Roman" panose="02020603050405020304" pitchFamily="18" charset="0"/>
                  <a:sym typeface="Symbol" panose="05050102010706020507" pitchFamily="18" charset="2"/>
                </a:rPr>
                <a:t>FSM reaction to the input sequence </a:t>
              </a:r>
              <a:r>
                <a:rPr lang="en-US" altLang="en-US" sz="2000">
                  <a:sym typeface="Symbol" panose="05050102010706020507" pitchFamily="18" charset="2"/>
                </a:rPr>
                <a:t> =</a:t>
              </a:r>
              <a:r>
                <a:rPr lang="ru-RU" altLang="en-US" sz="2000" b="1">
                  <a:cs typeface="Times New Roman" panose="02020603050405020304" pitchFamily="18" charset="0"/>
                </a:rPr>
                <a:t>  </a:t>
              </a:r>
              <a:r>
                <a:rPr lang="en-US" altLang="en-US" sz="2000">
                  <a:cs typeface="Times New Roman" panose="02020603050405020304" pitchFamily="18" charset="0"/>
                </a:rPr>
                <a:t>X</a:t>
              </a:r>
              <a:r>
                <a:rPr lang="ru-RU" altLang="en-US" sz="2000" baseline="-30000">
                  <a:cs typeface="Times New Roman" panose="02020603050405020304" pitchFamily="18" charset="0"/>
                </a:rPr>
                <a:t>1</a:t>
              </a:r>
              <a:r>
                <a:rPr lang="en-US" altLang="en-US" sz="2000">
                  <a:cs typeface="Times New Roman" panose="02020603050405020304" pitchFamily="18" charset="0"/>
                </a:rPr>
                <a:t>X</a:t>
              </a:r>
              <a:r>
                <a:rPr lang="ru-RU" altLang="en-US" sz="2000" baseline="-30000">
                  <a:cs typeface="Times New Roman" panose="02020603050405020304" pitchFamily="18" charset="0"/>
                </a:rPr>
                <a:t>2</a:t>
              </a:r>
              <a:r>
                <a:rPr lang="en-US" altLang="en-US" sz="2000">
                  <a:cs typeface="Times New Roman" panose="02020603050405020304" pitchFamily="18" charset="0"/>
                </a:rPr>
                <a:t>X</a:t>
              </a:r>
              <a:r>
                <a:rPr lang="ru-RU" altLang="en-US" sz="2000" baseline="-30000">
                  <a:cs typeface="Times New Roman" panose="02020603050405020304" pitchFamily="18" charset="0"/>
                </a:rPr>
                <a:t>2</a:t>
              </a:r>
              <a:r>
                <a:rPr lang="en-US" altLang="en-US" sz="2000">
                  <a:cs typeface="Times New Roman" panose="02020603050405020304" pitchFamily="18" charset="0"/>
                </a:rPr>
                <a:t>X</a:t>
              </a:r>
              <a:r>
                <a:rPr lang="ru-RU" altLang="en-US" sz="2000" baseline="-30000">
                  <a:cs typeface="Times New Roman" panose="02020603050405020304" pitchFamily="18" charset="0"/>
                </a:rPr>
                <a:t>1</a:t>
              </a:r>
              <a:r>
                <a:rPr lang="en-US" altLang="en-US" sz="2000">
                  <a:cs typeface="Times New Roman" panose="02020603050405020304" pitchFamily="18" charset="0"/>
                </a:rPr>
                <a:t>X</a:t>
              </a:r>
              <a:r>
                <a:rPr lang="ru-RU" altLang="en-US" sz="2000" baseline="-30000">
                  <a:cs typeface="Times New Roman" panose="02020603050405020304" pitchFamily="18" charset="0"/>
                </a:rPr>
                <a:t>1</a:t>
              </a:r>
              <a:r>
                <a:rPr lang="en-US" altLang="en-US" sz="2000">
                  <a:cs typeface="Times New Roman" panose="02020603050405020304" pitchFamily="18" charset="0"/>
                </a:rPr>
                <a:t>X</a:t>
              </a:r>
              <a:r>
                <a:rPr lang="ru-RU" altLang="en-US" sz="2000" baseline="-30000">
                  <a:cs typeface="Times New Roman" panose="02020603050405020304" pitchFamily="18" charset="0"/>
                </a:rPr>
                <a:t>2</a:t>
              </a:r>
              <a:br>
                <a:rPr lang="en-US" altLang="en-US" sz="2000" baseline="-30000">
                  <a:cs typeface="Times New Roman" panose="02020603050405020304" pitchFamily="18" charset="0"/>
                </a:rPr>
              </a:br>
              <a:endParaRPr lang="en-US" altLang="en-US" sz="2000" baseline="-30000">
                <a:cs typeface="Times New Roman" panose="02020603050405020304" pitchFamily="18" charset="0"/>
              </a:endParaRPr>
            </a:p>
          </p:txBody>
        </p:sp>
        <p:grpSp>
          <p:nvGrpSpPr>
            <p:cNvPr id="46086" name="Группа 1">
              <a:extLst>
                <a:ext uri="{FF2B5EF4-FFF2-40B4-BE49-F238E27FC236}">
                  <a16:creationId xmlns:a16="http://schemas.microsoft.com/office/drawing/2014/main" id="{B75D1D66-6D7A-BEC2-1C06-1B43D494A572}"/>
                </a:ext>
              </a:extLst>
            </p:cNvPr>
            <p:cNvGrpSpPr>
              <a:grpSpLocks/>
            </p:cNvGrpSpPr>
            <p:nvPr/>
          </p:nvGrpSpPr>
          <p:grpSpPr bwMode="auto">
            <a:xfrm>
              <a:off x="787400" y="2349500"/>
              <a:ext cx="6143625" cy="3644900"/>
              <a:chOff x="961614" y="2501900"/>
              <a:chExt cx="5969411" cy="3492990"/>
            </a:xfrm>
          </p:grpSpPr>
          <p:sp>
            <p:nvSpPr>
              <p:cNvPr id="24581" name="Oval 6">
                <a:extLst>
                  <a:ext uri="{FF2B5EF4-FFF2-40B4-BE49-F238E27FC236}">
                    <a16:creationId xmlns:a16="http://schemas.microsoft.com/office/drawing/2014/main" id="{42D82173-1F0E-459A-A711-D39C9D8247D1}"/>
                  </a:ext>
                </a:extLst>
              </p:cNvPr>
              <p:cNvSpPr>
                <a:spLocks noChangeArrowheads="1"/>
              </p:cNvSpPr>
              <p:nvPr/>
            </p:nvSpPr>
            <p:spPr bwMode="auto">
              <a:xfrm>
                <a:off x="1197614" y="2504943"/>
                <a:ext cx="823686" cy="760669"/>
              </a:xfrm>
              <a:prstGeom prst="ellipse">
                <a:avLst/>
              </a:prstGeom>
              <a:solidFill>
                <a:schemeClr val="accent1">
                  <a:lumMod val="20000"/>
                  <a:lumOff val="80000"/>
                </a:schemeClr>
              </a:solidFill>
              <a:ln w="34925">
                <a:solidFill>
                  <a:srgbClr val="000000"/>
                </a:solidFill>
                <a:round/>
                <a:headEnd/>
                <a:tailEnd/>
              </a:ln>
            </p:spPr>
            <p:txBody>
              <a:bodyPr/>
              <a:lstStyle/>
              <a:p>
                <a:pPr>
                  <a:defRPr/>
                </a:pPr>
                <a:r>
                  <a:rPr lang="en-US" sz="1400" b="1">
                    <a:latin typeface="Arial" charset="0"/>
                    <a:cs typeface="Arial" charset="0"/>
                  </a:rPr>
                  <a:t>S</a:t>
                </a:r>
                <a:r>
                  <a:rPr lang="en-US" sz="1400" b="1" baseline="-25000">
                    <a:latin typeface="Arial" charset="0"/>
                    <a:cs typeface="Arial" charset="0"/>
                  </a:rPr>
                  <a:t>i</a:t>
                </a:r>
                <a:r>
                  <a:rPr lang="en-US" sz="1400" b="1">
                    <a:latin typeface="Arial" charset="0"/>
                    <a:cs typeface="Arial" charset="0"/>
                  </a:rPr>
                  <a:t>/Y</a:t>
                </a:r>
                <a:r>
                  <a:rPr lang="en-US" sz="1400" b="1" baseline="-25000">
                    <a:latin typeface="Arial" charset="0"/>
                    <a:cs typeface="Arial" charset="0"/>
                  </a:rPr>
                  <a:t>j</a:t>
                </a:r>
              </a:p>
              <a:p>
                <a:pPr>
                  <a:defRPr/>
                </a:pPr>
                <a:endParaRPr lang="en-US" sz="1400" b="1">
                  <a:latin typeface="Arial" charset="0"/>
                  <a:cs typeface="Arial" charset="0"/>
                </a:endParaRPr>
              </a:p>
            </p:txBody>
          </p:sp>
          <p:sp>
            <p:nvSpPr>
              <p:cNvPr id="24582" name="Oval 7">
                <a:extLst>
                  <a:ext uri="{FF2B5EF4-FFF2-40B4-BE49-F238E27FC236}">
                    <a16:creationId xmlns:a16="http://schemas.microsoft.com/office/drawing/2014/main" id="{B4598365-9779-4AD3-9572-5DE657DF02C8}"/>
                  </a:ext>
                </a:extLst>
              </p:cNvPr>
              <p:cNvSpPr>
                <a:spLocks noChangeArrowheads="1"/>
              </p:cNvSpPr>
              <p:nvPr/>
            </p:nvSpPr>
            <p:spPr bwMode="auto">
              <a:xfrm>
                <a:off x="2709248" y="2521678"/>
                <a:ext cx="820601" cy="759147"/>
              </a:xfrm>
              <a:prstGeom prst="ellipse">
                <a:avLst/>
              </a:prstGeom>
              <a:solidFill>
                <a:schemeClr val="accent1">
                  <a:lumMod val="20000"/>
                  <a:lumOff val="80000"/>
                </a:schemeClr>
              </a:solidFill>
              <a:ln w="34925">
                <a:solidFill>
                  <a:srgbClr val="000000"/>
                </a:solidFill>
                <a:round/>
                <a:headEnd/>
                <a:tailEnd/>
              </a:ln>
            </p:spPr>
            <p:txBody>
              <a:bodyPr/>
              <a:lstStyle/>
              <a:p>
                <a:pPr>
                  <a:defRPr/>
                </a:pPr>
                <a:endParaRPr lang="ru-RU" sz="1600" b="1">
                  <a:latin typeface="Arial" charset="0"/>
                  <a:cs typeface="Arial" charset="0"/>
                </a:endParaRPr>
              </a:p>
            </p:txBody>
          </p:sp>
          <p:sp>
            <p:nvSpPr>
              <p:cNvPr id="24583" name="Line 8">
                <a:extLst>
                  <a:ext uri="{FF2B5EF4-FFF2-40B4-BE49-F238E27FC236}">
                    <a16:creationId xmlns:a16="http://schemas.microsoft.com/office/drawing/2014/main" id="{E7CCF3CC-6147-49FD-8FBC-BCCA53F4E044}"/>
                  </a:ext>
                </a:extLst>
              </p:cNvPr>
              <p:cNvSpPr>
                <a:spLocks noChangeShapeType="1"/>
              </p:cNvSpPr>
              <p:nvPr/>
            </p:nvSpPr>
            <p:spPr bwMode="auto">
              <a:xfrm>
                <a:off x="2029013" y="2886799"/>
                <a:ext cx="638588" cy="0"/>
              </a:xfrm>
              <a:prstGeom prst="line">
                <a:avLst/>
              </a:prstGeom>
              <a:noFill/>
              <a:ln w="34925">
                <a:solidFill>
                  <a:srgbClr val="000000"/>
                </a:solidFill>
                <a:round/>
                <a:headEnd/>
                <a:tailEnd type="triangle" w="med" len="med"/>
              </a:ln>
            </p:spPr>
            <p:txBody>
              <a:bodyPr/>
              <a:lstStyle/>
              <a:p>
                <a:pPr eaLnBrk="1" hangingPunct="1">
                  <a:defRPr/>
                </a:pPr>
                <a:endParaRPr lang="en-US" sz="1400" dirty="0"/>
              </a:p>
            </p:txBody>
          </p:sp>
          <p:sp>
            <p:nvSpPr>
              <p:cNvPr id="46090" name="Text Box 9">
                <a:extLst>
                  <a:ext uri="{FF2B5EF4-FFF2-40B4-BE49-F238E27FC236}">
                    <a16:creationId xmlns:a16="http://schemas.microsoft.com/office/drawing/2014/main" id="{628B0D06-2E01-E7BD-5171-EFC0238D6E00}"/>
                  </a:ext>
                </a:extLst>
              </p:cNvPr>
              <p:cNvSpPr txBox="1">
                <a:spLocks noChangeArrowheads="1"/>
              </p:cNvSpPr>
              <p:nvPr/>
            </p:nvSpPr>
            <p:spPr bwMode="auto">
              <a:xfrm>
                <a:off x="2100263" y="2501900"/>
                <a:ext cx="42545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600" b="1"/>
                  <a:t>X</a:t>
                </a:r>
                <a:r>
                  <a:rPr lang="en-US" altLang="en-US" sz="1600" b="1" baseline="-25000"/>
                  <a:t>s</a:t>
                </a:r>
                <a:endParaRPr lang="en-US" altLang="en-US" sz="1600" b="1"/>
              </a:p>
              <a:p>
                <a:endParaRPr lang="en-US" altLang="en-US" sz="1600" b="1"/>
              </a:p>
            </p:txBody>
          </p:sp>
          <p:sp>
            <p:nvSpPr>
              <p:cNvPr id="24585" name="AutoShape 10">
                <a:extLst>
                  <a:ext uri="{FF2B5EF4-FFF2-40B4-BE49-F238E27FC236}">
                    <a16:creationId xmlns:a16="http://schemas.microsoft.com/office/drawing/2014/main" id="{821E7D02-E00B-43CB-8DCB-2711593C56FE}"/>
                  </a:ext>
                </a:extLst>
              </p:cNvPr>
              <p:cNvSpPr>
                <a:spLocks noChangeArrowheads="1"/>
              </p:cNvSpPr>
              <p:nvPr/>
            </p:nvSpPr>
            <p:spPr bwMode="auto">
              <a:xfrm>
                <a:off x="3776647" y="2792476"/>
                <a:ext cx="633960" cy="231243"/>
              </a:xfrm>
              <a:prstGeom prst="rightArrow">
                <a:avLst>
                  <a:gd name="adj1" fmla="val 49769"/>
                  <a:gd name="adj2" fmla="val 86604"/>
                </a:avLst>
              </a:prstGeom>
              <a:solidFill>
                <a:schemeClr val="accent1">
                  <a:lumMod val="60000"/>
                  <a:lumOff val="40000"/>
                </a:schemeClr>
              </a:solidFill>
              <a:ln w="34925">
                <a:solidFill>
                  <a:srgbClr val="000000"/>
                </a:solidFill>
                <a:miter lim="800000"/>
                <a:headEnd/>
                <a:tailEnd/>
              </a:ln>
            </p:spPr>
            <p:txBody>
              <a:bodyPr/>
              <a:lstStyle/>
              <a:p>
                <a:pPr eaLnBrk="1" hangingPunct="1">
                  <a:defRPr/>
                </a:pPr>
                <a:endParaRPr lang="en-US" sz="1400" dirty="0"/>
              </a:p>
            </p:txBody>
          </p:sp>
          <p:sp>
            <p:nvSpPr>
              <p:cNvPr id="46092" name="Oval 11">
                <a:extLst>
                  <a:ext uri="{FF2B5EF4-FFF2-40B4-BE49-F238E27FC236}">
                    <a16:creationId xmlns:a16="http://schemas.microsoft.com/office/drawing/2014/main" id="{AAD766B8-333C-828C-03B2-5B43266FA74E}"/>
                  </a:ext>
                </a:extLst>
              </p:cNvPr>
              <p:cNvSpPr>
                <a:spLocks noChangeArrowheads="1"/>
              </p:cNvSpPr>
              <p:nvPr/>
            </p:nvSpPr>
            <p:spPr bwMode="auto">
              <a:xfrm>
                <a:off x="4660900" y="2514600"/>
                <a:ext cx="790575" cy="730250"/>
              </a:xfrm>
              <a:prstGeom prst="ellipse">
                <a:avLst/>
              </a:prstGeom>
              <a:solidFill>
                <a:schemeClr val="accent1">
                  <a:lumMod val="60000"/>
                  <a:lumOff val="40000"/>
                </a:schemeClr>
              </a:solidFill>
              <a:ln w="3492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b="1" dirty="0"/>
                  <a:t>S</a:t>
                </a:r>
                <a:r>
                  <a:rPr lang="en-US" altLang="en-US" sz="1800" b="1" baseline="-25000" dirty="0"/>
                  <a:t>i</a:t>
                </a:r>
              </a:p>
              <a:p>
                <a:endParaRPr lang="en-US" altLang="en-US" sz="1800" b="1" dirty="0"/>
              </a:p>
            </p:txBody>
          </p:sp>
          <p:sp>
            <p:nvSpPr>
              <p:cNvPr id="46093" name="Oval 12">
                <a:extLst>
                  <a:ext uri="{FF2B5EF4-FFF2-40B4-BE49-F238E27FC236}">
                    <a16:creationId xmlns:a16="http://schemas.microsoft.com/office/drawing/2014/main" id="{A4A32BEF-3199-1DB8-20AC-1DF5E5E25DD6}"/>
                  </a:ext>
                </a:extLst>
              </p:cNvPr>
              <p:cNvSpPr>
                <a:spLocks noChangeArrowheads="1"/>
              </p:cNvSpPr>
              <p:nvPr/>
            </p:nvSpPr>
            <p:spPr bwMode="auto">
              <a:xfrm>
                <a:off x="6142038" y="2514600"/>
                <a:ext cx="788987" cy="730250"/>
              </a:xfrm>
              <a:prstGeom prst="ellipse">
                <a:avLst/>
              </a:prstGeom>
              <a:solidFill>
                <a:schemeClr val="accent1">
                  <a:lumMod val="60000"/>
                  <a:lumOff val="40000"/>
                </a:schemeClr>
              </a:solidFill>
              <a:ln w="3492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b="1"/>
                  <a:t>S</a:t>
                </a:r>
                <a:r>
                  <a:rPr lang="en-US" altLang="en-US" sz="1800" b="1" baseline="-25000"/>
                  <a:t>k</a:t>
                </a:r>
              </a:p>
              <a:p>
                <a:endParaRPr lang="en-US" altLang="en-US" sz="1800" b="1"/>
              </a:p>
            </p:txBody>
          </p:sp>
          <p:sp>
            <p:nvSpPr>
              <p:cNvPr id="24588" name="Line 13">
                <a:extLst>
                  <a:ext uri="{FF2B5EF4-FFF2-40B4-BE49-F238E27FC236}">
                    <a16:creationId xmlns:a16="http://schemas.microsoft.com/office/drawing/2014/main" id="{4FE462FD-1FBC-4052-B646-6158CB912983}"/>
                  </a:ext>
                </a:extLst>
              </p:cNvPr>
              <p:cNvSpPr>
                <a:spLocks noChangeShapeType="1"/>
              </p:cNvSpPr>
              <p:nvPr/>
            </p:nvSpPr>
            <p:spPr bwMode="auto">
              <a:xfrm>
                <a:off x="5464124" y="2876149"/>
                <a:ext cx="670980" cy="0"/>
              </a:xfrm>
              <a:prstGeom prst="line">
                <a:avLst/>
              </a:prstGeom>
              <a:noFill/>
              <a:ln w="34925">
                <a:solidFill>
                  <a:srgbClr val="000000"/>
                </a:solidFill>
                <a:round/>
                <a:headEnd/>
                <a:tailEnd type="triangle" w="med" len="med"/>
              </a:ln>
            </p:spPr>
            <p:txBody>
              <a:bodyPr/>
              <a:lstStyle/>
              <a:p>
                <a:pPr eaLnBrk="1" hangingPunct="1">
                  <a:defRPr/>
                </a:pPr>
                <a:endParaRPr lang="en-US" sz="1400" dirty="0"/>
              </a:p>
            </p:txBody>
          </p:sp>
          <p:sp>
            <p:nvSpPr>
              <p:cNvPr id="46095" name="Text Box 14">
                <a:extLst>
                  <a:ext uri="{FF2B5EF4-FFF2-40B4-BE49-F238E27FC236}">
                    <a16:creationId xmlns:a16="http://schemas.microsoft.com/office/drawing/2014/main" id="{596999DA-FC4A-F608-AAA1-92A8AD629C97}"/>
                  </a:ext>
                </a:extLst>
              </p:cNvPr>
              <p:cNvSpPr txBox="1">
                <a:spLocks noChangeArrowheads="1"/>
              </p:cNvSpPr>
              <p:nvPr/>
            </p:nvSpPr>
            <p:spPr bwMode="auto">
              <a:xfrm>
                <a:off x="5443538" y="2516188"/>
                <a:ext cx="7429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b="1"/>
                  <a:t>X</a:t>
                </a:r>
                <a:r>
                  <a:rPr lang="en-US" altLang="en-US" sz="1800" b="1" baseline="-25000"/>
                  <a:t>s</a:t>
                </a:r>
                <a:r>
                  <a:rPr lang="en-US" altLang="en-US" sz="1800" b="1"/>
                  <a:t>/Y</a:t>
                </a:r>
                <a:r>
                  <a:rPr lang="en-US" altLang="en-US" sz="1800" b="1" baseline="-25000"/>
                  <a:t>p</a:t>
                </a:r>
              </a:p>
              <a:p>
                <a:endParaRPr lang="en-US" altLang="en-US" sz="1800" b="1" baseline="-25000"/>
              </a:p>
              <a:p>
                <a:endParaRPr lang="en-US" altLang="en-US" sz="1800" b="1"/>
              </a:p>
            </p:txBody>
          </p:sp>
          <p:sp>
            <p:nvSpPr>
              <p:cNvPr id="24590" name="Text Box 26">
                <a:extLst>
                  <a:ext uri="{FF2B5EF4-FFF2-40B4-BE49-F238E27FC236}">
                    <a16:creationId xmlns:a16="http://schemas.microsoft.com/office/drawing/2014/main" id="{26DA9B4B-548E-4EC9-AF36-4990DFB3FF34}"/>
                  </a:ext>
                </a:extLst>
              </p:cNvPr>
              <p:cNvSpPr txBox="1">
                <a:spLocks noChangeArrowheads="1"/>
              </p:cNvSpPr>
              <p:nvPr/>
            </p:nvSpPr>
            <p:spPr bwMode="auto">
              <a:xfrm>
                <a:off x="2049065" y="5544574"/>
                <a:ext cx="564549" cy="450316"/>
              </a:xfrm>
              <a:prstGeom prst="rect">
                <a:avLst/>
              </a:prstGeom>
              <a:noFill/>
              <a:ln w="31750">
                <a:noFill/>
                <a:miter lim="800000"/>
                <a:headEnd/>
                <a:tailEnd/>
              </a:ln>
            </p:spPr>
            <p:txBody>
              <a:bodyPr/>
              <a:lstStyle/>
              <a:p>
                <a:pPr>
                  <a:defRPr/>
                </a:pPr>
                <a:r>
                  <a:rPr lang="en-US" sz="1400" b="1" dirty="0"/>
                  <a:t>X</a:t>
                </a:r>
                <a:r>
                  <a:rPr lang="en-US" sz="1400" b="1" baseline="-25000" dirty="0"/>
                  <a:t>2</a:t>
                </a:r>
                <a:endParaRPr lang="en-US" sz="1400" b="1" dirty="0"/>
              </a:p>
              <a:p>
                <a:pPr>
                  <a:defRPr/>
                </a:pPr>
                <a:endParaRPr lang="en-US" sz="1400" b="1" dirty="0"/>
              </a:p>
            </p:txBody>
          </p:sp>
          <p:sp>
            <p:nvSpPr>
              <p:cNvPr id="24591" name="Arc 36">
                <a:extLst>
                  <a:ext uri="{FF2B5EF4-FFF2-40B4-BE49-F238E27FC236}">
                    <a16:creationId xmlns:a16="http://schemas.microsoft.com/office/drawing/2014/main" id="{BF37E289-D74B-4B6A-AEF4-EA1A4F940479}"/>
                  </a:ext>
                </a:extLst>
              </p:cNvPr>
              <p:cNvSpPr>
                <a:spLocks/>
              </p:cNvSpPr>
              <p:nvPr/>
            </p:nvSpPr>
            <p:spPr bwMode="auto">
              <a:xfrm rot="11134604">
                <a:off x="1683496" y="5110994"/>
                <a:ext cx="1238615" cy="415325"/>
              </a:xfrm>
              <a:custGeom>
                <a:avLst/>
                <a:gdLst>
                  <a:gd name="T0" fmla="*/ 0 w 36519"/>
                  <a:gd name="T1" fmla="*/ 2147483647 h 21600"/>
                  <a:gd name="T2" fmla="*/ 2147483647 w 36519"/>
                  <a:gd name="T3" fmla="*/ 2147483647 h 21600"/>
                  <a:gd name="T4" fmla="*/ 2147483647 w 36519"/>
                  <a:gd name="T5" fmla="*/ 2147483647 h 21600"/>
                  <a:gd name="T6" fmla="*/ 0 60000 65536"/>
                  <a:gd name="T7" fmla="*/ 0 60000 65536"/>
                  <a:gd name="T8" fmla="*/ 0 60000 65536"/>
                  <a:gd name="T9" fmla="*/ 0 w 36519"/>
                  <a:gd name="T10" fmla="*/ 0 h 21600"/>
                  <a:gd name="T11" fmla="*/ 36519 w 36519"/>
                  <a:gd name="T12" fmla="*/ 21600 h 21600"/>
                </a:gdLst>
                <a:ahLst/>
                <a:cxnLst>
                  <a:cxn ang="T6">
                    <a:pos x="T0" y="T1"/>
                  </a:cxn>
                  <a:cxn ang="T7">
                    <a:pos x="T2" y="T3"/>
                  </a:cxn>
                  <a:cxn ang="T8">
                    <a:pos x="T4" y="T5"/>
                  </a:cxn>
                </a:cxnLst>
                <a:rect l="T9" t="T10" r="T11" b="T12"/>
                <a:pathLst>
                  <a:path w="36519" h="21600" fill="none" extrusionOk="0">
                    <a:moveTo>
                      <a:pt x="0" y="12313"/>
                    </a:moveTo>
                    <a:cubicBezTo>
                      <a:pt x="3582" y="4791"/>
                      <a:pt x="11170" y="-1"/>
                      <a:pt x="19502" y="0"/>
                    </a:cubicBezTo>
                    <a:cubicBezTo>
                      <a:pt x="26148" y="0"/>
                      <a:pt x="32425" y="3059"/>
                      <a:pt x="36518" y="8296"/>
                    </a:cubicBezTo>
                  </a:path>
                  <a:path w="36519" h="21600" stroke="0" extrusionOk="0">
                    <a:moveTo>
                      <a:pt x="0" y="12313"/>
                    </a:moveTo>
                    <a:cubicBezTo>
                      <a:pt x="3582" y="4791"/>
                      <a:pt x="11170" y="-1"/>
                      <a:pt x="19502" y="0"/>
                    </a:cubicBezTo>
                    <a:cubicBezTo>
                      <a:pt x="26148" y="0"/>
                      <a:pt x="32425" y="3059"/>
                      <a:pt x="36518" y="8296"/>
                    </a:cubicBezTo>
                    <a:lnTo>
                      <a:pt x="19502" y="21600"/>
                    </a:lnTo>
                    <a:close/>
                  </a:path>
                </a:pathLst>
              </a:custGeom>
              <a:noFill/>
              <a:ln w="28575">
                <a:solidFill>
                  <a:schemeClr val="tx1"/>
                </a:solidFill>
                <a:round/>
                <a:headEnd type="triangle" w="lg" len="lg"/>
                <a:tailEnd/>
              </a:ln>
            </p:spPr>
            <p:txBody>
              <a:bodyPr rot="10800000" wrap="none" anchor="ctr"/>
              <a:lstStyle/>
              <a:p>
                <a:pPr eaLnBrk="1" hangingPunct="1">
                  <a:defRPr/>
                </a:pPr>
                <a:endParaRPr lang="en-US" sz="1400" dirty="0"/>
              </a:p>
            </p:txBody>
          </p:sp>
          <p:grpSp>
            <p:nvGrpSpPr>
              <p:cNvPr id="46098" name="Group 58">
                <a:extLst>
                  <a:ext uri="{FF2B5EF4-FFF2-40B4-BE49-F238E27FC236}">
                    <a16:creationId xmlns:a16="http://schemas.microsoft.com/office/drawing/2014/main" id="{D03D9F38-D981-B931-0D63-29924F571DF7}"/>
                  </a:ext>
                </a:extLst>
              </p:cNvPr>
              <p:cNvGrpSpPr>
                <a:grpSpLocks/>
              </p:cNvGrpSpPr>
              <p:nvPr/>
            </p:nvGrpSpPr>
            <p:grpSpPr bwMode="auto">
              <a:xfrm>
                <a:off x="961614" y="3011272"/>
                <a:ext cx="5884506" cy="2672036"/>
                <a:chOff x="240" y="1979"/>
                <a:chExt cx="4133" cy="2034"/>
              </a:xfrm>
            </p:grpSpPr>
            <p:sp>
              <p:nvSpPr>
                <p:cNvPr id="24593" name="Oval 15">
                  <a:extLst>
                    <a:ext uri="{FF2B5EF4-FFF2-40B4-BE49-F238E27FC236}">
                      <a16:creationId xmlns:a16="http://schemas.microsoft.com/office/drawing/2014/main" id="{48E43946-5C80-48B1-B9E4-B74D8B6B5A15}"/>
                    </a:ext>
                  </a:extLst>
                </p:cNvPr>
                <p:cNvSpPr>
                  <a:spLocks noChangeArrowheads="1"/>
                </p:cNvSpPr>
                <p:nvPr/>
              </p:nvSpPr>
              <p:spPr bwMode="auto">
                <a:xfrm>
                  <a:off x="240" y="2500"/>
                  <a:ext cx="453" cy="453"/>
                </a:xfrm>
                <a:prstGeom prst="ellipse">
                  <a:avLst/>
                </a:prstGeom>
                <a:solidFill>
                  <a:schemeClr val="accent1">
                    <a:lumMod val="20000"/>
                    <a:lumOff val="80000"/>
                  </a:schemeClr>
                </a:solidFill>
                <a:ln w="31750">
                  <a:solidFill>
                    <a:srgbClr val="000000"/>
                  </a:solidFill>
                  <a:round/>
                  <a:headEnd/>
                  <a:tailEnd/>
                </a:ln>
              </p:spPr>
              <p:txBody>
                <a:bodyPr/>
                <a:lstStyle/>
                <a:p>
                  <a:pPr algn="ctr">
                    <a:defRPr/>
                  </a:pPr>
                  <a:r>
                    <a:rPr lang="en-US" sz="1400" b="1" dirty="0"/>
                    <a:t>S</a:t>
                  </a:r>
                  <a:r>
                    <a:rPr lang="en-US" sz="1400" b="1" baseline="-25000" dirty="0"/>
                    <a:t>0</a:t>
                  </a:r>
                  <a:br>
                    <a:rPr lang="en-US" sz="1400" b="1" dirty="0"/>
                  </a:br>
                  <a:r>
                    <a:rPr lang="en-US" sz="1400" b="1" dirty="0"/>
                    <a:t>Y</a:t>
                  </a:r>
                  <a:r>
                    <a:rPr lang="en-US" sz="1400" b="1" baseline="-25000" dirty="0"/>
                    <a:t>1</a:t>
                  </a:r>
                </a:p>
                <a:p>
                  <a:pPr>
                    <a:defRPr/>
                  </a:pPr>
                  <a:endParaRPr lang="en-US" sz="1400" b="1" dirty="0"/>
                </a:p>
              </p:txBody>
            </p:sp>
            <p:sp>
              <p:nvSpPr>
                <p:cNvPr id="24594" name="Oval 16">
                  <a:extLst>
                    <a:ext uri="{FF2B5EF4-FFF2-40B4-BE49-F238E27FC236}">
                      <a16:creationId xmlns:a16="http://schemas.microsoft.com/office/drawing/2014/main" id="{FA54496C-E4A0-4E83-A3FD-F6C5FFD89DB6}"/>
                    </a:ext>
                  </a:extLst>
                </p:cNvPr>
                <p:cNvSpPr>
                  <a:spLocks noChangeArrowheads="1"/>
                </p:cNvSpPr>
                <p:nvPr/>
              </p:nvSpPr>
              <p:spPr bwMode="auto">
                <a:xfrm>
                  <a:off x="1131" y="2500"/>
                  <a:ext cx="455" cy="453"/>
                </a:xfrm>
                <a:prstGeom prst="ellipse">
                  <a:avLst/>
                </a:prstGeom>
                <a:solidFill>
                  <a:schemeClr val="accent1">
                    <a:lumMod val="20000"/>
                    <a:lumOff val="80000"/>
                  </a:schemeClr>
                </a:solidFill>
                <a:ln w="31750">
                  <a:solidFill>
                    <a:srgbClr val="000000"/>
                  </a:solidFill>
                  <a:round/>
                  <a:headEnd/>
                  <a:tailEnd/>
                </a:ln>
              </p:spPr>
              <p:txBody>
                <a:bodyPr/>
                <a:lstStyle/>
                <a:p>
                  <a:pPr algn="ctr">
                    <a:defRPr/>
                  </a:pPr>
                  <a:r>
                    <a:rPr lang="en-US" sz="1400" b="1" dirty="0"/>
                    <a:t>S</a:t>
                  </a:r>
                  <a:r>
                    <a:rPr lang="en-US" sz="1400" b="1" baseline="-25000" dirty="0"/>
                    <a:t>1</a:t>
                  </a:r>
                  <a:br>
                    <a:rPr lang="en-US" sz="1400" b="1" baseline="-25000" dirty="0"/>
                  </a:br>
                  <a:r>
                    <a:rPr lang="en-US" sz="1400" b="1" dirty="0"/>
                    <a:t>Y</a:t>
                  </a:r>
                  <a:r>
                    <a:rPr lang="en-US" sz="1400" b="1" baseline="-25000" dirty="0"/>
                    <a:t>2</a:t>
                  </a:r>
                </a:p>
                <a:p>
                  <a:pPr>
                    <a:defRPr/>
                  </a:pPr>
                  <a:endParaRPr lang="en-US" sz="1400" b="1" dirty="0"/>
                </a:p>
              </p:txBody>
            </p:sp>
            <p:sp>
              <p:nvSpPr>
                <p:cNvPr id="24595" name="Oval 17">
                  <a:extLst>
                    <a:ext uri="{FF2B5EF4-FFF2-40B4-BE49-F238E27FC236}">
                      <a16:creationId xmlns:a16="http://schemas.microsoft.com/office/drawing/2014/main" id="{95973085-D87A-42E3-9092-6E743C84D2E5}"/>
                    </a:ext>
                  </a:extLst>
                </p:cNvPr>
                <p:cNvSpPr>
                  <a:spLocks noChangeArrowheads="1"/>
                </p:cNvSpPr>
                <p:nvPr/>
              </p:nvSpPr>
              <p:spPr bwMode="auto">
                <a:xfrm>
                  <a:off x="1488" y="3292"/>
                  <a:ext cx="449" cy="452"/>
                </a:xfrm>
                <a:prstGeom prst="ellipse">
                  <a:avLst/>
                </a:prstGeom>
                <a:solidFill>
                  <a:schemeClr val="accent1">
                    <a:lumMod val="20000"/>
                    <a:lumOff val="80000"/>
                  </a:schemeClr>
                </a:solidFill>
                <a:ln w="31750">
                  <a:solidFill>
                    <a:srgbClr val="000000"/>
                  </a:solidFill>
                  <a:round/>
                  <a:headEnd/>
                  <a:tailEnd/>
                </a:ln>
              </p:spPr>
              <p:txBody>
                <a:bodyPr/>
                <a:lstStyle/>
                <a:p>
                  <a:pPr algn="ctr">
                    <a:defRPr/>
                  </a:pPr>
                  <a:r>
                    <a:rPr lang="en-US" sz="1400" b="1" dirty="0"/>
                    <a:t> S</a:t>
                  </a:r>
                  <a:r>
                    <a:rPr lang="en-US" sz="1400" b="1" baseline="-25000" dirty="0"/>
                    <a:t>3</a:t>
                  </a:r>
                  <a:br>
                    <a:rPr lang="en-US" sz="1400" b="1" baseline="-25000" dirty="0"/>
                  </a:br>
                  <a:r>
                    <a:rPr lang="en-US" sz="1400" b="1" baseline="-25000" dirty="0"/>
                    <a:t> </a:t>
                  </a:r>
                  <a:r>
                    <a:rPr lang="en-US" sz="1400" b="1" dirty="0"/>
                    <a:t>Y</a:t>
                  </a:r>
                  <a:r>
                    <a:rPr lang="en-US" sz="1400" b="1" baseline="-25000" dirty="0"/>
                    <a:t>3</a:t>
                  </a:r>
                </a:p>
                <a:p>
                  <a:pPr>
                    <a:defRPr/>
                  </a:pPr>
                  <a:endParaRPr lang="en-US" sz="1400" b="1" dirty="0"/>
                </a:p>
              </p:txBody>
            </p:sp>
            <p:sp>
              <p:nvSpPr>
                <p:cNvPr id="24596" name="Line 18">
                  <a:extLst>
                    <a:ext uri="{FF2B5EF4-FFF2-40B4-BE49-F238E27FC236}">
                      <a16:creationId xmlns:a16="http://schemas.microsoft.com/office/drawing/2014/main" id="{998ADC76-C171-43A6-BB2E-C9148EA3360E}"/>
                    </a:ext>
                  </a:extLst>
                </p:cNvPr>
                <p:cNvSpPr>
                  <a:spLocks noChangeShapeType="1"/>
                </p:cNvSpPr>
                <p:nvPr/>
              </p:nvSpPr>
              <p:spPr bwMode="auto">
                <a:xfrm>
                  <a:off x="670" y="2738"/>
                  <a:ext cx="457" cy="0"/>
                </a:xfrm>
                <a:prstGeom prst="line">
                  <a:avLst/>
                </a:prstGeom>
                <a:noFill/>
                <a:ln w="31750">
                  <a:solidFill>
                    <a:srgbClr val="000000"/>
                  </a:solidFill>
                  <a:round/>
                  <a:headEnd/>
                  <a:tailEnd type="triangle" w="med" len="med"/>
                </a:ln>
              </p:spPr>
              <p:txBody>
                <a:bodyPr/>
                <a:lstStyle/>
                <a:p>
                  <a:pPr eaLnBrk="1" hangingPunct="1">
                    <a:defRPr/>
                  </a:pPr>
                  <a:endParaRPr lang="en-US" sz="1400" dirty="0"/>
                </a:p>
              </p:txBody>
            </p:sp>
            <p:sp>
              <p:nvSpPr>
                <p:cNvPr id="24597" name="Line 19">
                  <a:extLst>
                    <a:ext uri="{FF2B5EF4-FFF2-40B4-BE49-F238E27FC236}">
                      <a16:creationId xmlns:a16="http://schemas.microsoft.com/office/drawing/2014/main" id="{62045284-3C5A-4D5E-9FCE-D1DBBF0EAC47}"/>
                    </a:ext>
                  </a:extLst>
                </p:cNvPr>
                <p:cNvSpPr>
                  <a:spLocks noChangeShapeType="1"/>
                </p:cNvSpPr>
                <p:nvPr/>
              </p:nvSpPr>
              <p:spPr bwMode="auto">
                <a:xfrm>
                  <a:off x="1430" y="2933"/>
                  <a:ext cx="212" cy="359"/>
                </a:xfrm>
                <a:prstGeom prst="line">
                  <a:avLst/>
                </a:prstGeom>
                <a:noFill/>
                <a:ln w="31750">
                  <a:solidFill>
                    <a:srgbClr val="000000"/>
                  </a:solidFill>
                  <a:round/>
                  <a:headEnd/>
                  <a:tailEnd type="triangle" w="lg" len="lg"/>
                </a:ln>
              </p:spPr>
              <p:txBody>
                <a:bodyPr/>
                <a:lstStyle/>
                <a:p>
                  <a:pPr eaLnBrk="1" hangingPunct="1">
                    <a:defRPr/>
                  </a:pPr>
                  <a:endParaRPr lang="en-US" sz="1400" dirty="0"/>
                </a:p>
              </p:txBody>
            </p:sp>
            <p:sp>
              <p:nvSpPr>
                <p:cNvPr id="24598" name="Line 20">
                  <a:extLst>
                    <a:ext uri="{FF2B5EF4-FFF2-40B4-BE49-F238E27FC236}">
                      <a16:creationId xmlns:a16="http://schemas.microsoft.com/office/drawing/2014/main" id="{7CEBC6EE-0695-4EE6-B248-CF13DC1E731A}"/>
                    </a:ext>
                  </a:extLst>
                </p:cNvPr>
                <p:cNvSpPr>
                  <a:spLocks noChangeShapeType="1"/>
                </p:cNvSpPr>
                <p:nvPr/>
              </p:nvSpPr>
              <p:spPr bwMode="auto">
                <a:xfrm>
                  <a:off x="600" y="2889"/>
                  <a:ext cx="894" cy="649"/>
                </a:xfrm>
                <a:prstGeom prst="line">
                  <a:avLst/>
                </a:prstGeom>
                <a:noFill/>
                <a:ln w="31750">
                  <a:solidFill>
                    <a:srgbClr val="000000"/>
                  </a:solidFill>
                  <a:round/>
                  <a:headEnd/>
                  <a:tailEnd type="triangle" w="lg" len="lg"/>
                </a:ln>
              </p:spPr>
              <p:txBody>
                <a:bodyPr/>
                <a:lstStyle/>
                <a:p>
                  <a:pPr eaLnBrk="1" hangingPunct="1">
                    <a:defRPr/>
                  </a:pPr>
                  <a:endParaRPr lang="en-US" sz="1400" dirty="0"/>
                </a:p>
              </p:txBody>
            </p:sp>
            <p:sp>
              <p:nvSpPr>
                <p:cNvPr id="24599" name="Line 21">
                  <a:extLst>
                    <a:ext uri="{FF2B5EF4-FFF2-40B4-BE49-F238E27FC236}">
                      <a16:creationId xmlns:a16="http://schemas.microsoft.com/office/drawing/2014/main" id="{6F731379-47A4-4432-87A1-2B526851778E}"/>
                    </a:ext>
                  </a:extLst>
                </p:cNvPr>
                <p:cNvSpPr>
                  <a:spLocks noChangeShapeType="1"/>
                </p:cNvSpPr>
                <p:nvPr/>
              </p:nvSpPr>
              <p:spPr bwMode="auto">
                <a:xfrm flipH="1" flipV="1">
                  <a:off x="745" y="3576"/>
                  <a:ext cx="753" cy="0"/>
                </a:xfrm>
                <a:prstGeom prst="line">
                  <a:avLst/>
                </a:prstGeom>
                <a:noFill/>
                <a:ln w="31750">
                  <a:solidFill>
                    <a:srgbClr val="000000"/>
                  </a:solidFill>
                  <a:round/>
                  <a:headEnd/>
                  <a:tailEnd type="triangle" w="lg" len="lg"/>
                </a:ln>
              </p:spPr>
              <p:txBody>
                <a:bodyPr/>
                <a:lstStyle/>
                <a:p>
                  <a:pPr eaLnBrk="1" hangingPunct="1">
                    <a:defRPr/>
                  </a:pPr>
                  <a:endParaRPr lang="en-US" sz="1400" dirty="0"/>
                </a:p>
              </p:txBody>
            </p:sp>
            <p:sp>
              <p:nvSpPr>
                <p:cNvPr id="24600" name="Line 22">
                  <a:extLst>
                    <a:ext uri="{FF2B5EF4-FFF2-40B4-BE49-F238E27FC236}">
                      <a16:creationId xmlns:a16="http://schemas.microsoft.com/office/drawing/2014/main" id="{B36905BF-33A3-46C7-B9C2-12278B9C1120}"/>
                    </a:ext>
                  </a:extLst>
                </p:cNvPr>
                <p:cNvSpPr>
                  <a:spLocks noChangeShapeType="1"/>
                </p:cNvSpPr>
                <p:nvPr/>
              </p:nvSpPr>
              <p:spPr bwMode="auto">
                <a:xfrm flipH="1" flipV="1">
                  <a:off x="476" y="2936"/>
                  <a:ext cx="86" cy="364"/>
                </a:xfrm>
                <a:prstGeom prst="line">
                  <a:avLst/>
                </a:prstGeom>
                <a:noFill/>
                <a:ln w="31750">
                  <a:solidFill>
                    <a:srgbClr val="000000"/>
                  </a:solidFill>
                  <a:round/>
                  <a:headEnd/>
                  <a:tailEnd type="triangle" w="lg" len="lg"/>
                </a:ln>
              </p:spPr>
              <p:txBody>
                <a:bodyPr/>
                <a:lstStyle/>
                <a:p>
                  <a:pPr eaLnBrk="1" hangingPunct="1">
                    <a:defRPr/>
                  </a:pPr>
                  <a:endParaRPr lang="en-US" sz="1400" dirty="0"/>
                </a:p>
              </p:txBody>
            </p:sp>
            <p:sp>
              <p:nvSpPr>
                <p:cNvPr id="24601" name="Text Box 23">
                  <a:extLst>
                    <a:ext uri="{FF2B5EF4-FFF2-40B4-BE49-F238E27FC236}">
                      <a16:creationId xmlns:a16="http://schemas.microsoft.com/office/drawing/2014/main" id="{C58BA78A-A91D-4B2F-9A6B-DC3A18023C26}"/>
                    </a:ext>
                  </a:extLst>
                </p:cNvPr>
                <p:cNvSpPr txBox="1">
                  <a:spLocks noChangeArrowheads="1"/>
                </p:cNvSpPr>
                <p:nvPr/>
              </p:nvSpPr>
              <p:spPr bwMode="auto">
                <a:xfrm>
                  <a:off x="784" y="2500"/>
                  <a:ext cx="321" cy="316"/>
                </a:xfrm>
                <a:prstGeom prst="rect">
                  <a:avLst/>
                </a:prstGeom>
                <a:noFill/>
                <a:ln w="31750">
                  <a:noFill/>
                  <a:miter lim="800000"/>
                  <a:headEnd/>
                  <a:tailEnd/>
                </a:ln>
              </p:spPr>
              <p:txBody>
                <a:bodyPr/>
                <a:lstStyle/>
                <a:p>
                  <a:pPr>
                    <a:defRPr/>
                  </a:pPr>
                  <a:r>
                    <a:rPr lang="en-US" sz="1400" b="1" dirty="0"/>
                    <a:t>X</a:t>
                  </a:r>
                  <a:r>
                    <a:rPr lang="en-US" sz="1400" b="1" baseline="-25000" dirty="0"/>
                    <a:t>1</a:t>
                  </a:r>
                  <a:endParaRPr lang="en-US" sz="1400" b="1" dirty="0"/>
                </a:p>
                <a:p>
                  <a:pPr>
                    <a:defRPr/>
                  </a:pPr>
                  <a:endParaRPr lang="en-US" sz="1400" b="1" dirty="0"/>
                </a:p>
              </p:txBody>
            </p:sp>
            <p:sp>
              <p:nvSpPr>
                <p:cNvPr id="24602" name="Text Box 24">
                  <a:extLst>
                    <a:ext uri="{FF2B5EF4-FFF2-40B4-BE49-F238E27FC236}">
                      <a16:creationId xmlns:a16="http://schemas.microsoft.com/office/drawing/2014/main" id="{EEADC3B4-5ABD-4356-A2E8-147A7E1CCB40}"/>
                    </a:ext>
                  </a:extLst>
                </p:cNvPr>
                <p:cNvSpPr txBox="1">
                  <a:spLocks noChangeArrowheads="1"/>
                </p:cNvSpPr>
                <p:nvPr/>
              </p:nvSpPr>
              <p:spPr bwMode="auto">
                <a:xfrm>
                  <a:off x="1701" y="2794"/>
                  <a:ext cx="398" cy="250"/>
                </a:xfrm>
                <a:prstGeom prst="rect">
                  <a:avLst/>
                </a:prstGeom>
                <a:noFill/>
                <a:ln w="31750">
                  <a:noFill/>
                  <a:miter lim="800000"/>
                  <a:headEnd/>
                  <a:tailEnd/>
                </a:ln>
              </p:spPr>
              <p:txBody>
                <a:bodyPr/>
                <a:lstStyle/>
                <a:p>
                  <a:pPr>
                    <a:defRPr/>
                  </a:pPr>
                  <a:r>
                    <a:rPr lang="en-US" sz="1400" b="1" dirty="0"/>
                    <a:t>X</a:t>
                  </a:r>
                  <a:r>
                    <a:rPr lang="en-US" sz="1400" b="1" baseline="-25000" dirty="0"/>
                    <a:t>2</a:t>
                  </a:r>
                  <a:endParaRPr lang="en-US" sz="1400" b="1" dirty="0"/>
                </a:p>
                <a:p>
                  <a:pPr>
                    <a:defRPr/>
                  </a:pPr>
                  <a:endParaRPr lang="en-US" sz="1400" b="1" dirty="0"/>
                </a:p>
              </p:txBody>
            </p:sp>
            <p:sp>
              <p:nvSpPr>
                <p:cNvPr id="24603" name="Text Box 25">
                  <a:extLst>
                    <a:ext uri="{FF2B5EF4-FFF2-40B4-BE49-F238E27FC236}">
                      <a16:creationId xmlns:a16="http://schemas.microsoft.com/office/drawing/2014/main" id="{1F9B3E44-9775-4E31-B843-6E74C58DE3B0}"/>
                    </a:ext>
                  </a:extLst>
                </p:cNvPr>
                <p:cNvSpPr txBox="1">
                  <a:spLocks noChangeArrowheads="1"/>
                </p:cNvSpPr>
                <p:nvPr/>
              </p:nvSpPr>
              <p:spPr bwMode="auto">
                <a:xfrm>
                  <a:off x="1261" y="2976"/>
                  <a:ext cx="340" cy="227"/>
                </a:xfrm>
                <a:prstGeom prst="rect">
                  <a:avLst/>
                </a:prstGeom>
                <a:noFill/>
                <a:ln w="31750">
                  <a:noFill/>
                  <a:miter lim="800000"/>
                  <a:headEnd/>
                  <a:tailEnd/>
                </a:ln>
              </p:spPr>
              <p:txBody>
                <a:bodyPr/>
                <a:lstStyle/>
                <a:p>
                  <a:pPr>
                    <a:defRPr/>
                  </a:pPr>
                  <a:r>
                    <a:rPr lang="en-US" sz="1400" b="1" dirty="0"/>
                    <a:t> X</a:t>
                  </a:r>
                  <a:r>
                    <a:rPr lang="en-US" sz="1400" b="1" baseline="-25000" dirty="0"/>
                    <a:t>1</a:t>
                  </a:r>
                  <a:endParaRPr lang="en-US" sz="1400" b="1" dirty="0"/>
                </a:p>
                <a:p>
                  <a:pPr>
                    <a:defRPr/>
                  </a:pPr>
                  <a:endParaRPr lang="en-US" sz="1400" b="1" dirty="0"/>
                </a:p>
              </p:txBody>
            </p:sp>
            <p:sp>
              <p:nvSpPr>
                <p:cNvPr id="24604" name="Text Box 27">
                  <a:extLst>
                    <a:ext uri="{FF2B5EF4-FFF2-40B4-BE49-F238E27FC236}">
                      <a16:creationId xmlns:a16="http://schemas.microsoft.com/office/drawing/2014/main" id="{0CB49E19-F795-4D11-A939-40FF13628F07}"/>
                    </a:ext>
                  </a:extLst>
                </p:cNvPr>
                <p:cNvSpPr txBox="1">
                  <a:spLocks noChangeArrowheads="1"/>
                </p:cNvSpPr>
                <p:nvPr/>
              </p:nvSpPr>
              <p:spPr bwMode="auto">
                <a:xfrm>
                  <a:off x="903" y="2945"/>
                  <a:ext cx="332" cy="318"/>
                </a:xfrm>
                <a:prstGeom prst="rect">
                  <a:avLst/>
                </a:prstGeom>
                <a:noFill/>
                <a:ln w="31750">
                  <a:noFill/>
                  <a:miter lim="800000"/>
                  <a:headEnd/>
                  <a:tailEnd/>
                </a:ln>
              </p:spPr>
              <p:txBody>
                <a:bodyPr/>
                <a:lstStyle/>
                <a:p>
                  <a:pPr>
                    <a:defRPr/>
                  </a:pPr>
                  <a:r>
                    <a:rPr lang="en-US" sz="1400" b="1" dirty="0"/>
                    <a:t>X</a:t>
                  </a:r>
                  <a:r>
                    <a:rPr lang="en-US" sz="1400" b="1" baseline="-25000" dirty="0"/>
                    <a:t>2</a:t>
                  </a:r>
                  <a:endParaRPr lang="en-US" sz="1400" b="1" dirty="0"/>
                </a:p>
                <a:p>
                  <a:pPr>
                    <a:defRPr/>
                  </a:pPr>
                  <a:endParaRPr lang="en-US" sz="1400" b="1" dirty="0"/>
                </a:p>
              </p:txBody>
            </p:sp>
            <p:sp>
              <p:nvSpPr>
                <p:cNvPr id="24605" name="Text Box 28">
                  <a:extLst>
                    <a:ext uri="{FF2B5EF4-FFF2-40B4-BE49-F238E27FC236}">
                      <a16:creationId xmlns:a16="http://schemas.microsoft.com/office/drawing/2014/main" id="{A70B8FC0-C817-4690-A803-5EF04822724D}"/>
                    </a:ext>
                  </a:extLst>
                </p:cNvPr>
                <p:cNvSpPr txBox="1">
                  <a:spLocks noChangeArrowheads="1"/>
                </p:cNvSpPr>
                <p:nvPr/>
              </p:nvSpPr>
              <p:spPr bwMode="auto">
                <a:xfrm>
                  <a:off x="950" y="3350"/>
                  <a:ext cx="264" cy="249"/>
                </a:xfrm>
                <a:prstGeom prst="rect">
                  <a:avLst/>
                </a:prstGeom>
                <a:noFill/>
                <a:ln w="31750">
                  <a:noFill/>
                  <a:miter lim="800000"/>
                  <a:headEnd/>
                  <a:tailEnd/>
                </a:ln>
              </p:spPr>
              <p:txBody>
                <a:bodyPr/>
                <a:lstStyle/>
                <a:p>
                  <a:pPr>
                    <a:defRPr/>
                  </a:pPr>
                  <a:r>
                    <a:rPr lang="en-US" sz="1400" b="1" dirty="0"/>
                    <a:t>X</a:t>
                  </a:r>
                  <a:r>
                    <a:rPr lang="en-US" sz="1400" b="1" baseline="-25000" dirty="0"/>
                    <a:t>1</a:t>
                  </a:r>
                  <a:endParaRPr lang="en-US" sz="1400" b="1" dirty="0"/>
                </a:p>
                <a:p>
                  <a:pPr>
                    <a:defRPr/>
                  </a:pPr>
                  <a:endParaRPr lang="en-US" sz="1400" b="1" dirty="0"/>
                </a:p>
              </p:txBody>
            </p:sp>
            <p:sp>
              <p:nvSpPr>
                <p:cNvPr id="24606" name="Text Box 29">
                  <a:extLst>
                    <a:ext uri="{FF2B5EF4-FFF2-40B4-BE49-F238E27FC236}">
                      <a16:creationId xmlns:a16="http://schemas.microsoft.com/office/drawing/2014/main" id="{502D4656-32D1-4822-B829-9DCC4D080289}"/>
                    </a:ext>
                  </a:extLst>
                </p:cNvPr>
                <p:cNvSpPr txBox="1">
                  <a:spLocks noChangeArrowheads="1"/>
                </p:cNvSpPr>
                <p:nvPr/>
              </p:nvSpPr>
              <p:spPr bwMode="auto">
                <a:xfrm>
                  <a:off x="528" y="2976"/>
                  <a:ext cx="319" cy="241"/>
                </a:xfrm>
                <a:prstGeom prst="rect">
                  <a:avLst/>
                </a:prstGeom>
                <a:noFill/>
                <a:ln w="31750">
                  <a:noFill/>
                  <a:miter lim="800000"/>
                  <a:headEnd/>
                  <a:tailEnd/>
                </a:ln>
              </p:spPr>
              <p:txBody>
                <a:bodyPr/>
                <a:lstStyle/>
                <a:p>
                  <a:pPr>
                    <a:defRPr/>
                  </a:pPr>
                  <a:r>
                    <a:rPr lang="en-US" sz="1400" b="1" dirty="0"/>
                    <a:t>X</a:t>
                  </a:r>
                  <a:r>
                    <a:rPr lang="en-US" sz="1400" b="1" baseline="-25000" dirty="0"/>
                    <a:t>1</a:t>
                  </a:r>
                </a:p>
                <a:p>
                  <a:pPr>
                    <a:defRPr/>
                  </a:pPr>
                  <a:endParaRPr lang="en-US" sz="1400" b="1" dirty="0"/>
                </a:p>
              </p:txBody>
            </p:sp>
            <p:sp>
              <p:nvSpPr>
                <p:cNvPr id="24607" name="Oval 30">
                  <a:extLst>
                    <a:ext uri="{FF2B5EF4-FFF2-40B4-BE49-F238E27FC236}">
                      <a16:creationId xmlns:a16="http://schemas.microsoft.com/office/drawing/2014/main" id="{CB526668-DBA4-4C47-BADB-0122D4AC57B4}"/>
                    </a:ext>
                  </a:extLst>
                </p:cNvPr>
                <p:cNvSpPr>
                  <a:spLocks noChangeArrowheads="1"/>
                </p:cNvSpPr>
                <p:nvPr/>
              </p:nvSpPr>
              <p:spPr bwMode="auto">
                <a:xfrm>
                  <a:off x="366" y="3304"/>
                  <a:ext cx="399" cy="398"/>
                </a:xfrm>
                <a:prstGeom prst="ellipse">
                  <a:avLst/>
                </a:prstGeom>
                <a:solidFill>
                  <a:schemeClr val="accent1">
                    <a:lumMod val="20000"/>
                    <a:lumOff val="80000"/>
                  </a:schemeClr>
                </a:solidFill>
                <a:ln w="31750">
                  <a:solidFill>
                    <a:srgbClr val="000000"/>
                  </a:solidFill>
                  <a:round/>
                  <a:headEnd/>
                  <a:tailEnd/>
                </a:ln>
              </p:spPr>
              <p:txBody>
                <a:bodyPr/>
                <a:lstStyle/>
                <a:p>
                  <a:pPr algn="ctr">
                    <a:defRPr/>
                  </a:pPr>
                  <a:r>
                    <a:rPr lang="en-US" sz="1200" b="1" dirty="0"/>
                    <a:t>S</a:t>
                  </a:r>
                  <a:r>
                    <a:rPr lang="en-US" sz="1200" b="1" baseline="-25000" dirty="0"/>
                    <a:t>2</a:t>
                  </a:r>
                  <a:r>
                    <a:rPr lang="en-US" sz="1200" b="1" dirty="0"/>
                    <a:t>Y</a:t>
                  </a:r>
                  <a:r>
                    <a:rPr lang="en-US" sz="1200" b="1" baseline="-25000" dirty="0"/>
                    <a:t>2</a:t>
                  </a:r>
                </a:p>
                <a:p>
                  <a:pPr>
                    <a:defRPr/>
                  </a:pPr>
                  <a:endParaRPr lang="en-US" sz="1200" b="1" dirty="0"/>
                </a:p>
              </p:txBody>
            </p:sp>
            <p:sp>
              <p:nvSpPr>
                <p:cNvPr id="24608" name="Line 31">
                  <a:extLst>
                    <a:ext uri="{FF2B5EF4-FFF2-40B4-BE49-F238E27FC236}">
                      <a16:creationId xmlns:a16="http://schemas.microsoft.com/office/drawing/2014/main" id="{F40237AD-51CF-4E49-A917-B556B311FB67}"/>
                    </a:ext>
                  </a:extLst>
                </p:cNvPr>
                <p:cNvSpPr>
                  <a:spLocks noChangeShapeType="1"/>
                </p:cNvSpPr>
                <p:nvPr/>
              </p:nvSpPr>
              <p:spPr bwMode="auto">
                <a:xfrm>
                  <a:off x="315" y="2766"/>
                  <a:ext cx="289" cy="0"/>
                </a:xfrm>
                <a:prstGeom prst="line">
                  <a:avLst/>
                </a:prstGeom>
                <a:noFill/>
                <a:ln w="31750">
                  <a:solidFill>
                    <a:schemeClr val="tx1"/>
                  </a:solidFill>
                  <a:round/>
                  <a:headEnd/>
                  <a:tailEnd/>
                </a:ln>
              </p:spPr>
              <p:txBody>
                <a:bodyPr/>
                <a:lstStyle/>
                <a:p>
                  <a:pPr eaLnBrk="1" hangingPunct="1">
                    <a:defRPr/>
                  </a:pPr>
                  <a:endParaRPr lang="en-US" sz="1400" dirty="0"/>
                </a:p>
              </p:txBody>
            </p:sp>
            <p:sp>
              <p:nvSpPr>
                <p:cNvPr id="24609" name="Line 32">
                  <a:extLst>
                    <a:ext uri="{FF2B5EF4-FFF2-40B4-BE49-F238E27FC236}">
                      <a16:creationId xmlns:a16="http://schemas.microsoft.com/office/drawing/2014/main" id="{FC397B25-AACD-4E0E-BE00-2A773BDBDFB4}"/>
                    </a:ext>
                  </a:extLst>
                </p:cNvPr>
                <p:cNvSpPr>
                  <a:spLocks noChangeShapeType="1"/>
                </p:cNvSpPr>
                <p:nvPr/>
              </p:nvSpPr>
              <p:spPr bwMode="auto">
                <a:xfrm>
                  <a:off x="1201" y="2766"/>
                  <a:ext cx="288" cy="0"/>
                </a:xfrm>
                <a:prstGeom prst="line">
                  <a:avLst/>
                </a:prstGeom>
                <a:noFill/>
                <a:ln w="31750">
                  <a:solidFill>
                    <a:schemeClr val="tx1"/>
                  </a:solidFill>
                  <a:round/>
                  <a:headEnd/>
                  <a:tailEnd/>
                </a:ln>
              </p:spPr>
              <p:txBody>
                <a:bodyPr/>
                <a:lstStyle/>
                <a:p>
                  <a:pPr eaLnBrk="1" hangingPunct="1">
                    <a:defRPr/>
                  </a:pPr>
                  <a:endParaRPr lang="en-US" sz="1400" dirty="0"/>
                </a:p>
              </p:txBody>
            </p:sp>
            <p:sp>
              <p:nvSpPr>
                <p:cNvPr id="24610" name="Line 33">
                  <a:extLst>
                    <a:ext uri="{FF2B5EF4-FFF2-40B4-BE49-F238E27FC236}">
                      <a16:creationId xmlns:a16="http://schemas.microsoft.com/office/drawing/2014/main" id="{B4006DF4-4765-44D6-8F73-D342F0DB45A6}"/>
                    </a:ext>
                  </a:extLst>
                </p:cNvPr>
                <p:cNvSpPr>
                  <a:spLocks noChangeShapeType="1"/>
                </p:cNvSpPr>
                <p:nvPr/>
              </p:nvSpPr>
              <p:spPr bwMode="auto">
                <a:xfrm>
                  <a:off x="1561" y="3554"/>
                  <a:ext cx="288" cy="0"/>
                </a:xfrm>
                <a:prstGeom prst="line">
                  <a:avLst/>
                </a:prstGeom>
                <a:noFill/>
                <a:ln w="31750">
                  <a:solidFill>
                    <a:schemeClr val="tx1"/>
                  </a:solidFill>
                  <a:round/>
                  <a:headEnd/>
                  <a:tailEnd/>
                </a:ln>
              </p:spPr>
              <p:txBody>
                <a:bodyPr/>
                <a:lstStyle/>
                <a:p>
                  <a:pPr eaLnBrk="1" hangingPunct="1">
                    <a:defRPr/>
                  </a:pPr>
                  <a:endParaRPr lang="en-US" sz="1400" dirty="0"/>
                </a:p>
              </p:txBody>
            </p:sp>
            <p:sp>
              <p:nvSpPr>
                <p:cNvPr id="24611" name="Line 34">
                  <a:extLst>
                    <a:ext uri="{FF2B5EF4-FFF2-40B4-BE49-F238E27FC236}">
                      <a16:creationId xmlns:a16="http://schemas.microsoft.com/office/drawing/2014/main" id="{55FED259-5723-4A8E-BE15-479BA4F43982}"/>
                    </a:ext>
                  </a:extLst>
                </p:cNvPr>
                <p:cNvSpPr>
                  <a:spLocks noChangeShapeType="1"/>
                </p:cNvSpPr>
                <p:nvPr/>
              </p:nvSpPr>
              <p:spPr bwMode="auto">
                <a:xfrm>
                  <a:off x="418" y="3547"/>
                  <a:ext cx="288" cy="0"/>
                </a:xfrm>
                <a:prstGeom prst="line">
                  <a:avLst/>
                </a:prstGeom>
                <a:noFill/>
                <a:ln w="31750">
                  <a:solidFill>
                    <a:schemeClr val="tx1"/>
                  </a:solidFill>
                  <a:round/>
                  <a:headEnd/>
                  <a:tailEnd/>
                </a:ln>
              </p:spPr>
              <p:txBody>
                <a:bodyPr/>
                <a:lstStyle/>
                <a:p>
                  <a:pPr eaLnBrk="1" hangingPunct="1">
                    <a:defRPr/>
                  </a:pPr>
                  <a:endParaRPr lang="en-US" sz="1400" dirty="0"/>
                </a:p>
              </p:txBody>
            </p:sp>
            <p:sp>
              <p:nvSpPr>
                <p:cNvPr id="24612" name="Arc 35">
                  <a:extLst>
                    <a:ext uri="{FF2B5EF4-FFF2-40B4-BE49-F238E27FC236}">
                      <a16:creationId xmlns:a16="http://schemas.microsoft.com/office/drawing/2014/main" id="{991BFE37-3AB7-4EDB-8E5A-BC5A0068342C}"/>
                    </a:ext>
                  </a:extLst>
                </p:cNvPr>
                <p:cNvSpPr>
                  <a:spLocks/>
                </p:cNvSpPr>
                <p:nvPr/>
              </p:nvSpPr>
              <p:spPr bwMode="auto">
                <a:xfrm rot="18583935" flipV="1">
                  <a:off x="1552" y="2849"/>
                  <a:ext cx="222" cy="484"/>
                </a:xfrm>
                <a:custGeom>
                  <a:avLst/>
                  <a:gdLst>
                    <a:gd name="T0" fmla="*/ 0 w 21600"/>
                    <a:gd name="T1" fmla="*/ 0 h 31264"/>
                    <a:gd name="T2" fmla="*/ 0 w 21600"/>
                    <a:gd name="T3" fmla="*/ 0 h 31264"/>
                    <a:gd name="T4" fmla="*/ 0 w 21600"/>
                    <a:gd name="T5" fmla="*/ 0 h 31264"/>
                    <a:gd name="T6" fmla="*/ 0 60000 65536"/>
                    <a:gd name="T7" fmla="*/ 0 60000 65536"/>
                    <a:gd name="T8" fmla="*/ 0 60000 65536"/>
                    <a:gd name="T9" fmla="*/ 0 w 21600"/>
                    <a:gd name="T10" fmla="*/ 0 h 31264"/>
                    <a:gd name="T11" fmla="*/ 21600 w 21600"/>
                    <a:gd name="T12" fmla="*/ 31264 h 31264"/>
                  </a:gdLst>
                  <a:ahLst/>
                  <a:cxnLst>
                    <a:cxn ang="T6">
                      <a:pos x="T0" y="T1"/>
                    </a:cxn>
                    <a:cxn ang="T7">
                      <a:pos x="T2" y="T3"/>
                    </a:cxn>
                    <a:cxn ang="T8">
                      <a:pos x="T4" y="T5"/>
                    </a:cxn>
                  </a:cxnLst>
                  <a:rect l="T9" t="T10" r="T11" b="T12"/>
                  <a:pathLst>
                    <a:path w="21600" h="31264" fill="none" extrusionOk="0">
                      <a:moveTo>
                        <a:pt x="1769" y="-1"/>
                      </a:moveTo>
                      <a:cubicBezTo>
                        <a:pt x="12974" y="920"/>
                        <a:pt x="21600" y="10283"/>
                        <a:pt x="21600" y="21527"/>
                      </a:cubicBezTo>
                      <a:cubicBezTo>
                        <a:pt x="21600" y="24909"/>
                        <a:pt x="20805" y="28244"/>
                        <a:pt x="19280" y="31263"/>
                      </a:cubicBezTo>
                    </a:path>
                    <a:path w="21600" h="31264" stroke="0" extrusionOk="0">
                      <a:moveTo>
                        <a:pt x="1769" y="-1"/>
                      </a:moveTo>
                      <a:cubicBezTo>
                        <a:pt x="12974" y="920"/>
                        <a:pt x="21600" y="10283"/>
                        <a:pt x="21600" y="21527"/>
                      </a:cubicBezTo>
                      <a:cubicBezTo>
                        <a:pt x="21600" y="24909"/>
                        <a:pt x="20805" y="28244"/>
                        <a:pt x="19280" y="31263"/>
                      </a:cubicBezTo>
                      <a:lnTo>
                        <a:pt x="0" y="21527"/>
                      </a:lnTo>
                      <a:close/>
                    </a:path>
                  </a:pathLst>
                </a:custGeom>
                <a:noFill/>
                <a:ln w="28575">
                  <a:solidFill>
                    <a:schemeClr val="tx1"/>
                  </a:solidFill>
                  <a:round/>
                  <a:headEnd/>
                  <a:tailEnd type="triangle" w="lg" len="lg"/>
                </a:ln>
              </p:spPr>
              <p:txBody>
                <a:bodyPr rot="10800000" vert="eaVert" wrap="none" anchor="ctr"/>
                <a:lstStyle/>
                <a:p>
                  <a:pPr eaLnBrk="1" hangingPunct="1">
                    <a:defRPr/>
                  </a:pPr>
                  <a:endParaRPr lang="en-US" sz="1400" dirty="0"/>
                </a:p>
              </p:txBody>
            </p:sp>
            <p:sp>
              <p:nvSpPr>
                <p:cNvPr id="24613" name="Text Box 38">
                  <a:extLst>
                    <a:ext uri="{FF2B5EF4-FFF2-40B4-BE49-F238E27FC236}">
                      <a16:creationId xmlns:a16="http://schemas.microsoft.com/office/drawing/2014/main" id="{2B8CF80D-35D5-4A93-8412-6FD59856C3F0}"/>
                    </a:ext>
                  </a:extLst>
                </p:cNvPr>
                <p:cNvSpPr txBox="1">
                  <a:spLocks noChangeArrowheads="1"/>
                </p:cNvSpPr>
                <p:nvPr/>
              </p:nvSpPr>
              <p:spPr bwMode="auto">
                <a:xfrm>
                  <a:off x="3544" y="1979"/>
                  <a:ext cx="445" cy="288"/>
                </a:xfrm>
                <a:prstGeom prst="rect">
                  <a:avLst/>
                </a:prstGeom>
                <a:noFill/>
                <a:ln w="31750">
                  <a:noFill/>
                  <a:miter lim="800000"/>
                  <a:headEnd/>
                  <a:tailEnd/>
                </a:ln>
              </p:spPr>
              <p:txBody>
                <a:bodyPr/>
                <a:lstStyle/>
                <a:p>
                  <a:pPr algn="ctr">
                    <a:defRPr/>
                  </a:pPr>
                  <a:r>
                    <a:rPr lang="en-US" sz="1400" b="1" dirty="0"/>
                    <a:t>X</a:t>
                  </a:r>
                  <a:r>
                    <a:rPr lang="en-US" sz="1400" b="1" baseline="-25000" dirty="0"/>
                    <a:t>2</a:t>
                  </a:r>
                  <a:r>
                    <a:rPr lang="en-US" sz="1400" b="1" dirty="0"/>
                    <a:t>/Y</a:t>
                  </a:r>
                  <a:r>
                    <a:rPr lang="en-US" sz="1400" b="1" baseline="-25000" dirty="0"/>
                    <a:t>2</a:t>
                  </a:r>
                  <a:endParaRPr lang="en-US" sz="1400" b="1" dirty="0"/>
                </a:p>
                <a:p>
                  <a:pPr algn="ctr">
                    <a:defRPr/>
                  </a:pPr>
                  <a:endParaRPr lang="en-US" sz="1400" b="1" dirty="0"/>
                </a:p>
              </p:txBody>
            </p:sp>
            <p:sp>
              <p:nvSpPr>
                <p:cNvPr id="24614" name="Oval 39">
                  <a:extLst>
                    <a:ext uri="{FF2B5EF4-FFF2-40B4-BE49-F238E27FC236}">
                      <a16:creationId xmlns:a16="http://schemas.microsoft.com/office/drawing/2014/main" id="{0605DD27-3639-4A93-966F-5B7308377423}"/>
                    </a:ext>
                  </a:extLst>
                </p:cNvPr>
                <p:cNvSpPr>
                  <a:spLocks noChangeArrowheads="1"/>
                </p:cNvSpPr>
                <p:nvPr/>
              </p:nvSpPr>
              <p:spPr bwMode="auto">
                <a:xfrm>
                  <a:off x="2254" y="2431"/>
                  <a:ext cx="447" cy="447"/>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1400" b="1" dirty="0"/>
                    <a:t>S</a:t>
                  </a:r>
                  <a:r>
                    <a:rPr lang="en-US" sz="1400" b="1" baseline="-25000" dirty="0"/>
                    <a:t>0</a:t>
                  </a:r>
                </a:p>
                <a:p>
                  <a:pPr algn="ctr">
                    <a:defRPr/>
                  </a:pPr>
                  <a:endParaRPr lang="en-US" sz="1400" b="1" dirty="0"/>
                </a:p>
              </p:txBody>
            </p:sp>
            <p:sp>
              <p:nvSpPr>
                <p:cNvPr id="24615" name="Oval 40">
                  <a:extLst>
                    <a:ext uri="{FF2B5EF4-FFF2-40B4-BE49-F238E27FC236}">
                      <a16:creationId xmlns:a16="http://schemas.microsoft.com/office/drawing/2014/main" id="{D466D313-E95E-4C35-864E-6DB099434D6C}"/>
                    </a:ext>
                  </a:extLst>
                </p:cNvPr>
                <p:cNvSpPr>
                  <a:spLocks noChangeArrowheads="1"/>
                </p:cNvSpPr>
                <p:nvPr/>
              </p:nvSpPr>
              <p:spPr bwMode="auto">
                <a:xfrm>
                  <a:off x="3392" y="2397"/>
                  <a:ext cx="446" cy="447"/>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1400" b="1" dirty="0"/>
                    <a:t>S</a:t>
                  </a:r>
                  <a:r>
                    <a:rPr lang="en-US" sz="1400" b="1" baseline="-25000" dirty="0"/>
                    <a:t>1</a:t>
                  </a:r>
                </a:p>
                <a:p>
                  <a:pPr algn="ctr">
                    <a:defRPr/>
                  </a:pPr>
                  <a:endParaRPr lang="en-US" sz="1400" b="1" dirty="0"/>
                </a:p>
              </p:txBody>
            </p:sp>
            <p:sp>
              <p:nvSpPr>
                <p:cNvPr id="24616" name="Oval 41">
                  <a:extLst>
                    <a:ext uri="{FF2B5EF4-FFF2-40B4-BE49-F238E27FC236}">
                      <a16:creationId xmlns:a16="http://schemas.microsoft.com/office/drawing/2014/main" id="{E2F42567-5152-4535-91A2-AE6C4B9362CC}"/>
                    </a:ext>
                  </a:extLst>
                </p:cNvPr>
                <p:cNvSpPr>
                  <a:spLocks noChangeArrowheads="1"/>
                </p:cNvSpPr>
                <p:nvPr/>
              </p:nvSpPr>
              <p:spPr bwMode="auto">
                <a:xfrm>
                  <a:off x="2245" y="3379"/>
                  <a:ext cx="445" cy="447"/>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1400" b="1" dirty="0"/>
                    <a:t>S</a:t>
                  </a:r>
                  <a:r>
                    <a:rPr lang="en-US" sz="1400" b="1" baseline="-25000" dirty="0"/>
                    <a:t>2</a:t>
                  </a:r>
                </a:p>
                <a:p>
                  <a:pPr algn="ctr">
                    <a:defRPr/>
                  </a:pPr>
                  <a:endParaRPr lang="en-US" sz="1400" b="1" dirty="0"/>
                </a:p>
              </p:txBody>
            </p:sp>
            <p:sp>
              <p:nvSpPr>
                <p:cNvPr id="24617" name="Oval 42">
                  <a:extLst>
                    <a:ext uri="{FF2B5EF4-FFF2-40B4-BE49-F238E27FC236}">
                      <a16:creationId xmlns:a16="http://schemas.microsoft.com/office/drawing/2014/main" id="{F0AB5812-DC6C-49B3-826F-A31E5551B48F}"/>
                    </a:ext>
                  </a:extLst>
                </p:cNvPr>
                <p:cNvSpPr>
                  <a:spLocks noChangeArrowheads="1"/>
                </p:cNvSpPr>
                <p:nvPr/>
              </p:nvSpPr>
              <p:spPr bwMode="auto">
                <a:xfrm>
                  <a:off x="3517" y="3379"/>
                  <a:ext cx="446" cy="447"/>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1400" b="1" dirty="0"/>
                    <a:t>S</a:t>
                  </a:r>
                  <a:r>
                    <a:rPr lang="en-US" sz="1400" b="1" baseline="-25000" dirty="0"/>
                    <a:t>3</a:t>
                  </a:r>
                </a:p>
                <a:p>
                  <a:pPr algn="ctr">
                    <a:defRPr/>
                  </a:pPr>
                  <a:endParaRPr lang="en-US" sz="1400" b="1" dirty="0"/>
                </a:p>
              </p:txBody>
            </p:sp>
            <p:sp>
              <p:nvSpPr>
                <p:cNvPr id="24618" name="Line 43">
                  <a:extLst>
                    <a:ext uri="{FF2B5EF4-FFF2-40B4-BE49-F238E27FC236}">
                      <a16:creationId xmlns:a16="http://schemas.microsoft.com/office/drawing/2014/main" id="{9E2BD208-459D-4C81-A5F8-060C0F5D9559}"/>
                    </a:ext>
                  </a:extLst>
                </p:cNvPr>
                <p:cNvSpPr>
                  <a:spLocks noChangeShapeType="1"/>
                </p:cNvSpPr>
                <p:nvPr/>
              </p:nvSpPr>
              <p:spPr bwMode="auto">
                <a:xfrm>
                  <a:off x="2694" y="2639"/>
                  <a:ext cx="701" cy="0"/>
                </a:xfrm>
                <a:prstGeom prst="line">
                  <a:avLst/>
                </a:prstGeom>
                <a:noFill/>
                <a:ln w="31750">
                  <a:solidFill>
                    <a:srgbClr val="000000"/>
                  </a:solidFill>
                  <a:round/>
                  <a:headEnd/>
                  <a:tailEnd type="triangle" w="med" len="med"/>
                </a:ln>
              </p:spPr>
              <p:txBody>
                <a:bodyPr/>
                <a:lstStyle/>
                <a:p>
                  <a:pPr eaLnBrk="1" hangingPunct="1">
                    <a:defRPr/>
                  </a:pPr>
                  <a:endParaRPr lang="en-US" sz="1400" dirty="0"/>
                </a:p>
              </p:txBody>
            </p:sp>
            <p:sp>
              <p:nvSpPr>
                <p:cNvPr id="24619" name="Line 44">
                  <a:extLst>
                    <a:ext uri="{FF2B5EF4-FFF2-40B4-BE49-F238E27FC236}">
                      <a16:creationId xmlns:a16="http://schemas.microsoft.com/office/drawing/2014/main" id="{E1AE03EC-CB51-42A0-BA26-D26A1DC298A4}"/>
                    </a:ext>
                  </a:extLst>
                </p:cNvPr>
                <p:cNvSpPr>
                  <a:spLocks noChangeShapeType="1"/>
                </p:cNvSpPr>
                <p:nvPr/>
              </p:nvSpPr>
              <p:spPr bwMode="auto">
                <a:xfrm>
                  <a:off x="3516" y="2814"/>
                  <a:ext cx="130" cy="588"/>
                </a:xfrm>
                <a:prstGeom prst="line">
                  <a:avLst/>
                </a:prstGeom>
                <a:noFill/>
                <a:ln w="31750">
                  <a:solidFill>
                    <a:srgbClr val="000000"/>
                  </a:solidFill>
                  <a:round/>
                  <a:headEnd/>
                  <a:tailEnd type="triangle" w="lg" len="lg"/>
                </a:ln>
              </p:spPr>
              <p:txBody>
                <a:bodyPr/>
                <a:lstStyle/>
                <a:p>
                  <a:pPr eaLnBrk="1" hangingPunct="1">
                    <a:defRPr/>
                  </a:pPr>
                  <a:endParaRPr lang="en-US" sz="1400" dirty="0"/>
                </a:p>
              </p:txBody>
            </p:sp>
            <p:sp>
              <p:nvSpPr>
                <p:cNvPr id="24620" name="Line 45">
                  <a:extLst>
                    <a:ext uri="{FF2B5EF4-FFF2-40B4-BE49-F238E27FC236}">
                      <a16:creationId xmlns:a16="http://schemas.microsoft.com/office/drawing/2014/main" id="{6797FEB2-0EB3-4E1A-A7C7-C77E6A6B369A}"/>
                    </a:ext>
                  </a:extLst>
                </p:cNvPr>
                <p:cNvSpPr>
                  <a:spLocks noChangeShapeType="1"/>
                </p:cNvSpPr>
                <p:nvPr/>
              </p:nvSpPr>
              <p:spPr bwMode="auto">
                <a:xfrm>
                  <a:off x="2632" y="2823"/>
                  <a:ext cx="941" cy="652"/>
                </a:xfrm>
                <a:prstGeom prst="line">
                  <a:avLst/>
                </a:prstGeom>
                <a:noFill/>
                <a:ln w="31750">
                  <a:solidFill>
                    <a:srgbClr val="000000"/>
                  </a:solidFill>
                  <a:round/>
                  <a:headEnd/>
                  <a:tailEnd type="triangle" w="lg" len="lg"/>
                </a:ln>
              </p:spPr>
              <p:txBody>
                <a:bodyPr/>
                <a:lstStyle/>
                <a:p>
                  <a:pPr eaLnBrk="1" hangingPunct="1">
                    <a:defRPr/>
                  </a:pPr>
                  <a:endParaRPr lang="en-US" sz="1400" dirty="0"/>
                </a:p>
              </p:txBody>
            </p:sp>
            <p:sp>
              <p:nvSpPr>
                <p:cNvPr id="24621" name="Line 46">
                  <a:extLst>
                    <a:ext uri="{FF2B5EF4-FFF2-40B4-BE49-F238E27FC236}">
                      <a16:creationId xmlns:a16="http://schemas.microsoft.com/office/drawing/2014/main" id="{C8F94886-66CD-43C4-B3F6-D4618D7D1BCC}"/>
                    </a:ext>
                  </a:extLst>
                </p:cNvPr>
                <p:cNvSpPr>
                  <a:spLocks noChangeShapeType="1"/>
                </p:cNvSpPr>
                <p:nvPr/>
              </p:nvSpPr>
              <p:spPr bwMode="auto">
                <a:xfrm flipH="1" flipV="1">
                  <a:off x="2676" y="3657"/>
                  <a:ext cx="843" cy="0"/>
                </a:xfrm>
                <a:prstGeom prst="line">
                  <a:avLst/>
                </a:prstGeom>
                <a:noFill/>
                <a:ln w="31750">
                  <a:solidFill>
                    <a:srgbClr val="000000"/>
                  </a:solidFill>
                  <a:round/>
                  <a:headEnd/>
                  <a:tailEnd type="triangle" w="lg" len="lg"/>
                </a:ln>
              </p:spPr>
              <p:txBody>
                <a:bodyPr/>
                <a:lstStyle/>
                <a:p>
                  <a:pPr eaLnBrk="1" hangingPunct="1">
                    <a:defRPr/>
                  </a:pPr>
                  <a:endParaRPr lang="en-US" sz="1400" dirty="0"/>
                </a:p>
              </p:txBody>
            </p:sp>
            <p:sp>
              <p:nvSpPr>
                <p:cNvPr id="24622" name="Line 47">
                  <a:extLst>
                    <a:ext uri="{FF2B5EF4-FFF2-40B4-BE49-F238E27FC236}">
                      <a16:creationId xmlns:a16="http://schemas.microsoft.com/office/drawing/2014/main" id="{7777989D-5A32-4A37-81AB-95149ED9B8AF}"/>
                    </a:ext>
                  </a:extLst>
                </p:cNvPr>
                <p:cNvSpPr>
                  <a:spLocks noChangeShapeType="1"/>
                </p:cNvSpPr>
                <p:nvPr/>
              </p:nvSpPr>
              <p:spPr bwMode="auto">
                <a:xfrm flipV="1">
                  <a:off x="2432" y="2869"/>
                  <a:ext cx="0" cy="512"/>
                </a:xfrm>
                <a:prstGeom prst="line">
                  <a:avLst/>
                </a:prstGeom>
                <a:noFill/>
                <a:ln w="31750">
                  <a:solidFill>
                    <a:srgbClr val="000000"/>
                  </a:solidFill>
                  <a:round/>
                  <a:headEnd/>
                  <a:tailEnd type="triangle" w="lg" len="lg"/>
                </a:ln>
              </p:spPr>
              <p:txBody>
                <a:bodyPr/>
                <a:lstStyle/>
                <a:p>
                  <a:pPr eaLnBrk="1" hangingPunct="1">
                    <a:defRPr/>
                  </a:pPr>
                  <a:endParaRPr lang="en-US" sz="1400" dirty="0"/>
                </a:p>
              </p:txBody>
            </p:sp>
            <p:sp>
              <p:nvSpPr>
                <p:cNvPr id="24623" name="Text Box 48">
                  <a:extLst>
                    <a:ext uri="{FF2B5EF4-FFF2-40B4-BE49-F238E27FC236}">
                      <a16:creationId xmlns:a16="http://schemas.microsoft.com/office/drawing/2014/main" id="{7C561693-F9DE-4B18-B28C-7C518D11B3E1}"/>
                    </a:ext>
                  </a:extLst>
                </p:cNvPr>
                <p:cNvSpPr txBox="1">
                  <a:spLocks noChangeArrowheads="1"/>
                </p:cNvSpPr>
                <p:nvPr/>
              </p:nvSpPr>
              <p:spPr bwMode="auto">
                <a:xfrm>
                  <a:off x="2845" y="2408"/>
                  <a:ext cx="494" cy="285"/>
                </a:xfrm>
                <a:prstGeom prst="rect">
                  <a:avLst/>
                </a:prstGeom>
                <a:noFill/>
                <a:ln w="31750">
                  <a:noFill/>
                  <a:miter lim="800000"/>
                  <a:headEnd/>
                  <a:tailEnd/>
                </a:ln>
              </p:spPr>
              <p:txBody>
                <a:bodyPr/>
                <a:lstStyle/>
                <a:p>
                  <a:pPr algn="ctr">
                    <a:defRPr/>
                  </a:pPr>
                  <a:r>
                    <a:rPr lang="en-US" sz="1400" b="1" dirty="0"/>
                    <a:t>X</a:t>
                  </a:r>
                  <a:r>
                    <a:rPr lang="en-US" sz="1400" b="1" baseline="-25000" dirty="0"/>
                    <a:t>1</a:t>
                  </a:r>
                  <a:r>
                    <a:rPr lang="en-US" sz="1400" b="1" dirty="0"/>
                    <a:t>/Y</a:t>
                  </a:r>
                  <a:r>
                    <a:rPr lang="en-US" sz="1400" b="1" baseline="-25000" dirty="0"/>
                    <a:t>2</a:t>
                  </a:r>
                  <a:endParaRPr lang="en-US" sz="1400" b="1" dirty="0"/>
                </a:p>
                <a:p>
                  <a:pPr algn="ctr">
                    <a:defRPr/>
                  </a:pPr>
                  <a:endParaRPr lang="en-US" sz="1400" b="1" dirty="0"/>
                </a:p>
              </p:txBody>
            </p:sp>
            <p:sp>
              <p:nvSpPr>
                <p:cNvPr id="24624" name="Text Box 49">
                  <a:extLst>
                    <a:ext uri="{FF2B5EF4-FFF2-40B4-BE49-F238E27FC236}">
                      <a16:creationId xmlns:a16="http://schemas.microsoft.com/office/drawing/2014/main" id="{1DFCC0DC-DCB7-4307-BB51-66DF31A02D99}"/>
                    </a:ext>
                  </a:extLst>
                </p:cNvPr>
                <p:cNvSpPr txBox="1">
                  <a:spLocks noChangeArrowheads="1"/>
                </p:cNvSpPr>
                <p:nvPr/>
              </p:nvSpPr>
              <p:spPr bwMode="auto">
                <a:xfrm>
                  <a:off x="3544" y="2918"/>
                  <a:ext cx="445" cy="271"/>
                </a:xfrm>
                <a:prstGeom prst="rect">
                  <a:avLst/>
                </a:prstGeom>
                <a:noFill/>
                <a:ln w="31750">
                  <a:noFill/>
                  <a:miter lim="800000"/>
                  <a:headEnd/>
                  <a:tailEnd/>
                </a:ln>
              </p:spPr>
              <p:txBody>
                <a:bodyPr/>
                <a:lstStyle/>
                <a:p>
                  <a:pPr algn="ctr">
                    <a:defRPr/>
                  </a:pPr>
                  <a:r>
                    <a:rPr lang="en-US" sz="1400" b="1" dirty="0"/>
                    <a:t>X</a:t>
                  </a:r>
                  <a:r>
                    <a:rPr lang="en-US" sz="1400" b="1" baseline="-25000" dirty="0"/>
                    <a:t>1</a:t>
                  </a:r>
                  <a:r>
                    <a:rPr lang="en-US" sz="1400" b="1" dirty="0"/>
                    <a:t>/Y</a:t>
                  </a:r>
                  <a:r>
                    <a:rPr lang="en-US" sz="1400" b="1" baseline="-25000" dirty="0"/>
                    <a:t>3</a:t>
                  </a:r>
                  <a:endParaRPr lang="en-US" sz="1400" b="1" dirty="0"/>
                </a:p>
              </p:txBody>
            </p:sp>
            <p:sp>
              <p:nvSpPr>
                <p:cNvPr id="24625" name="Text Box 50">
                  <a:extLst>
                    <a:ext uri="{FF2B5EF4-FFF2-40B4-BE49-F238E27FC236}">
                      <a16:creationId xmlns:a16="http://schemas.microsoft.com/office/drawing/2014/main" id="{E2636A52-9682-4997-8793-D6DBA0BC8BE2}"/>
                    </a:ext>
                  </a:extLst>
                </p:cNvPr>
                <p:cNvSpPr txBox="1">
                  <a:spLocks noChangeArrowheads="1"/>
                </p:cNvSpPr>
                <p:nvPr/>
              </p:nvSpPr>
              <p:spPr bwMode="auto">
                <a:xfrm>
                  <a:off x="2789" y="2840"/>
                  <a:ext cx="554" cy="285"/>
                </a:xfrm>
                <a:prstGeom prst="rect">
                  <a:avLst/>
                </a:prstGeom>
                <a:noFill/>
                <a:ln w="31750">
                  <a:noFill/>
                  <a:miter lim="800000"/>
                  <a:headEnd/>
                  <a:tailEnd/>
                </a:ln>
              </p:spPr>
              <p:txBody>
                <a:bodyPr/>
                <a:lstStyle/>
                <a:p>
                  <a:pPr algn="ctr">
                    <a:defRPr/>
                  </a:pPr>
                  <a:r>
                    <a:rPr lang="en-US" sz="1400" b="1" dirty="0"/>
                    <a:t>X</a:t>
                  </a:r>
                  <a:r>
                    <a:rPr lang="en-US" sz="1400" b="1" baseline="-25000" dirty="0"/>
                    <a:t>2</a:t>
                  </a:r>
                  <a:r>
                    <a:rPr lang="en-US" sz="1400" b="1" dirty="0"/>
                    <a:t>/Y</a:t>
                  </a:r>
                  <a:r>
                    <a:rPr lang="en-US" sz="1400" b="1" baseline="-25000" dirty="0"/>
                    <a:t>3</a:t>
                  </a:r>
                  <a:endParaRPr lang="en-US" sz="1400" b="1" dirty="0"/>
                </a:p>
                <a:p>
                  <a:pPr algn="ctr">
                    <a:defRPr/>
                  </a:pPr>
                  <a:endParaRPr lang="en-US" sz="1400" b="1" dirty="0"/>
                </a:p>
              </p:txBody>
            </p:sp>
            <p:sp>
              <p:nvSpPr>
                <p:cNvPr id="24626" name="Text Box 51">
                  <a:extLst>
                    <a:ext uri="{FF2B5EF4-FFF2-40B4-BE49-F238E27FC236}">
                      <a16:creationId xmlns:a16="http://schemas.microsoft.com/office/drawing/2014/main" id="{9D5E505B-DF1C-44FC-973C-887CAD59D059}"/>
                    </a:ext>
                  </a:extLst>
                </p:cNvPr>
                <p:cNvSpPr txBox="1">
                  <a:spLocks noChangeArrowheads="1"/>
                </p:cNvSpPr>
                <p:nvPr/>
              </p:nvSpPr>
              <p:spPr bwMode="auto">
                <a:xfrm>
                  <a:off x="2856" y="3676"/>
                  <a:ext cx="717" cy="337"/>
                </a:xfrm>
                <a:prstGeom prst="rect">
                  <a:avLst/>
                </a:prstGeom>
                <a:noFill/>
                <a:ln w="31750">
                  <a:noFill/>
                  <a:miter lim="800000"/>
                  <a:headEnd/>
                  <a:tailEnd/>
                </a:ln>
              </p:spPr>
              <p:txBody>
                <a:bodyPr/>
                <a:lstStyle/>
                <a:p>
                  <a:pPr algn="ctr">
                    <a:defRPr/>
                  </a:pPr>
                  <a:r>
                    <a:rPr lang="en-US" sz="1400" b="1" dirty="0"/>
                    <a:t>X</a:t>
                  </a:r>
                  <a:r>
                    <a:rPr lang="en-US" sz="1400" b="1" baseline="-25000" dirty="0"/>
                    <a:t>2</a:t>
                  </a:r>
                  <a:r>
                    <a:rPr lang="en-US" sz="1400" b="1" dirty="0"/>
                    <a:t>/Y</a:t>
                  </a:r>
                  <a:r>
                    <a:rPr lang="en-US" sz="1400" b="1" baseline="-25000" dirty="0"/>
                    <a:t>3</a:t>
                  </a:r>
                </a:p>
              </p:txBody>
            </p:sp>
            <p:sp>
              <p:nvSpPr>
                <p:cNvPr id="24627" name="Text Box 52">
                  <a:extLst>
                    <a:ext uri="{FF2B5EF4-FFF2-40B4-BE49-F238E27FC236}">
                      <a16:creationId xmlns:a16="http://schemas.microsoft.com/office/drawing/2014/main" id="{66F6CD16-3A1A-489A-BE8D-F457B981FE01}"/>
                    </a:ext>
                  </a:extLst>
                </p:cNvPr>
                <p:cNvSpPr txBox="1">
                  <a:spLocks noChangeArrowheads="1"/>
                </p:cNvSpPr>
                <p:nvPr/>
              </p:nvSpPr>
              <p:spPr bwMode="auto">
                <a:xfrm>
                  <a:off x="2831" y="3449"/>
                  <a:ext cx="453" cy="301"/>
                </a:xfrm>
                <a:prstGeom prst="rect">
                  <a:avLst/>
                </a:prstGeom>
                <a:noFill/>
                <a:ln w="31750">
                  <a:noFill/>
                  <a:miter lim="800000"/>
                  <a:headEnd/>
                  <a:tailEnd/>
                </a:ln>
              </p:spPr>
              <p:txBody>
                <a:bodyPr/>
                <a:lstStyle/>
                <a:p>
                  <a:pPr algn="ctr">
                    <a:defRPr/>
                  </a:pPr>
                  <a:r>
                    <a:rPr lang="en-US" sz="1400" b="1" dirty="0"/>
                    <a:t>X</a:t>
                  </a:r>
                  <a:r>
                    <a:rPr lang="en-US" sz="1400" b="1" baseline="-25000" dirty="0"/>
                    <a:t>1</a:t>
                  </a:r>
                  <a:r>
                    <a:rPr lang="en-US" sz="1400" b="1" dirty="0"/>
                    <a:t>/Y</a:t>
                  </a:r>
                  <a:r>
                    <a:rPr lang="en-US" sz="1400" b="1" baseline="-25000" dirty="0"/>
                    <a:t>2</a:t>
                  </a:r>
                  <a:endParaRPr lang="en-US" sz="1400" b="1" dirty="0"/>
                </a:p>
                <a:p>
                  <a:pPr algn="ctr">
                    <a:defRPr/>
                  </a:pPr>
                  <a:endParaRPr lang="en-US" sz="1400" b="1" dirty="0"/>
                </a:p>
              </p:txBody>
            </p:sp>
            <p:sp>
              <p:nvSpPr>
                <p:cNvPr id="24628" name="Text Box 53">
                  <a:extLst>
                    <a:ext uri="{FF2B5EF4-FFF2-40B4-BE49-F238E27FC236}">
                      <a16:creationId xmlns:a16="http://schemas.microsoft.com/office/drawing/2014/main" id="{FF6010A4-7398-4FE0-986D-57F1046BC4CB}"/>
                    </a:ext>
                  </a:extLst>
                </p:cNvPr>
                <p:cNvSpPr txBox="1">
                  <a:spLocks noChangeArrowheads="1"/>
                </p:cNvSpPr>
                <p:nvPr/>
              </p:nvSpPr>
              <p:spPr bwMode="auto">
                <a:xfrm>
                  <a:off x="2336" y="2976"/>
                  <a:ext cx="571" cy="228"/>
                </a:xfrm>
                <a:prstGeom prst="rect">
                  <a:avLst/>
                </a:prstGeom>
                <a:noFill/>
                <a:ln w="31750">
                  <a:noFill/>
                  <a:miter lim="800000"/>
                  <a:headEnd/>
                  <a:tailEnd/>
                </a:ln>
              </p:spPr>
              <p:txBody>
                <a:bodyPr/>
                <a:lstStyle/>
                <a:p>
                  <a:pPr algn="ctr">
                    <a:defRPr/>
                  </a:pPr>
                  <a:r>
                    <a:rPr lang="en-US" sz="1400" b="1" dirty="0"/>
                    <a:t>X</a:t>
                  </a:r>
                  <a:r>
                    <a:rPr lang="en-US" sz="1400" b="1" baseline="-25000" dirty="0"/>
                    <a:t>1</a:t>
                  </a:r>
                  <a:r>
                    <a:rPr lang="en-US" sz="1400" b="1" dirty="0"/>
                    <a:t>/Y</a:t>
                  </a:r>
                  <a:r>
                    <a:rPr lang="en-US" sz="1400" b="1" baseline="-25000" dirty="0"/>
                    <a:t>1</a:t>
                  </a:r>
                  <a:endParaRPr lang="en-US" sz="1400" b="1" dirty="0"/>
                </a:p>
                <a:p>
                  <a:pPr algn="ctr">
                    <a:defRPr/>
                  </a:pPr>
                  <a:endParaRPr lang="en-US" sz="1400" b="1" dirty="0"/>
                </a:p>
              </p:txBody>
            </p:sp>
            <p:sp>
              <p:nvSpPr>
                <p:cNvPr id="24629" name="Text Box 54">
                  <a:extLst>
                    <a:ext uri="{FF2B5EF4-FFF2-40B4-BE49-F238E27FC236}">
                      <a16:creationId xmlns:a16="http://schemas.microsoft.com/office/drawing/2014/main" id="{F5E687D0-2C3D-4A54-9E1A-FDC09FE97157}"/>
                    </a:ext>
                  </a:extLst>
                </p:cNvPr>
                <p:cNvSpPr txBox="1">
                  <a:spLocks noChangeArrowheads="1"/>
                </p:cNvSpPr>
                <p:nvPr/>
              </p:nvSpPr>
              <p:spPr bwMode="auto">
                <a:xfrm>
                  <a:off x="3867" y="3021"/>
                  <a:ext cx="506" cy="285"/>
                </a:xfrm>
                <a:prstGeom prst="rect">
                  <a:avLst/>
                </a:prstGeom>
                <a:noFill/>
                <a:ln w="31750">
                  <a:noFill/>
                  <a:miter lim="800000"/>
                  <a:headEnd/>
                  <a:tailEnd/>
                </a:ln>
              </p:spPr>
              <p:txBody>
                <a:bodyPr/>
                <a:lstStyle/>
                <a:p>
                  <a:pPr algn="ctr">
                    <a:defRPr/>
                  </a:pPr>
                  <a:r>
                    <a:rPr lang="en-US" sz="1400" b="1" dirty="0"/>
                    <a:t>X</a:t>
                  </a:r>
                  <a:r>
                    <a:rPr lang="en-US" sz="1400" b="1" baseline="-25000" dirty="0"/>
                    <a:t>2</a:t>
                  </a:r>
                  <a:r>
                    <a:rPr lang="en-US" sz="1400" b="1" dirty="0"/>
                    <a:t>/Y</a:t>
                  </a:r>
                  <a:r>
                    <a:rPr lang="en-US" sz="1400" b="1" baseline="-25000" dirty="0"/>
                    <a:t>2</a:t>
                  </a:r>
                  <a:endParaRPr lang="en-US" sz="1400" b="1" dirty="0"/>
                </a:p>
                <a:p>
                  <a:pPr algn="ctr">
                    <a:defRPr/>
                  </a:pPr>
                  <a:endParaRPr lang="en-US" sz="1400" b="1" dirty="0"/>
                </a:p>
              </p:txBody>
            </p:sp>
            <p:sp>
              <p:nvSpPr>
                <p:cNvPr id="24630" name="Arc 55">
                  <a:extLst>
                    <a:ext uri="{FF2B5EF4-FFF2-40B4-BE49-F238E27FC236}">
                      <a16:creationId xmlns:a16="http://schemas.microsoft.com/office/drawing/2014/main" id="{2DE7AC13-ACEA-4304-A116-88451C77F613}"/>
                    </a:ext>
                  </a:extLst>
                </p:cNvPr>
                <p:cNvSpPr>
                  <a:spLocks/>
                </p:cNvSpPr>
                <p:nvPr/>
              </p:nvSpPr>
              <p:spPr bwMode="auto">
                <a:xfrm rot="10800000">
                  <a:off x="2653" y="3750"/>
                  <a:ext cx="932" cy="139"/>
                </a:xfrm>
                <a:custGeom>
                  <a:avLst/>
                  <a:gdLst>
                    <a:gd name="T0" fmla="*/ 0 w 42169"/>
                    <a:gd name="T1" fmla="*/ 0 h 21600"/>
                    <a:gd name="T2" fmla="*/ 0 w 42169"/>
                    <a:gd name="T3" fmla="*/ 0 h 21600"/>
                    <a:gd name="T4" fmla="*/ 0 w 42169"/>
                    <a:gd name="T5" fmla="*/ 0 h 21600"/>
                    <a:gd name="T6" fmla="*/ 0 60000 65536"/>
                    <a:gd name="T7" fmla="*/ 0 60000 65536"/>
                    <a:gd name="T8" fmla="*/ 0 60000 65536"/>
                    <a:gd name="T9" fmla="*/ 0 w 42169"/>
                    <a:gd name="T10" fmla="*/ 0 h 21600"/>
                    <a:gd name="T11" fmla="*/ 42169 w 42169"/>
                    <a:gd name="T12" fmla="*/ 21600 h 21600"/>
                  </a:gdLst>
                  <a:ahLst/>
                  <a:cxnLst>
                    <a:cxn ang="T6">
                      <a:pos x="T0" y="T1"/>
                    </a:cxn>
                    <a:cxn ang="T7">
                      <a:pos x="T2" y="T3"/>
                    </a:cxn>
                    <a:cxn ang="T8">
                      <a:pos x="T4" y="T5"/>
                    </a:cxn>
                  </a:cxnLst>
                  <a:rect l="T9" t="T10" r="T11" b="T12"/>
                  <a:pathLst>
                    <a:path w="42169" h="21600" fill="none" extrusionOk="0">
                      <a:moveTo>
                        <a:pt x="-1" y="15007"/>
                      </a:moveTo>
                      <a:cubicBezTo>
                        <a:pt x="2865" y="6066"/>
                        <a:pt x="11179" y="-1"/>
                        <a:pt x="20569" y="0"/>
                      </a:cubicBezTo>
                      <a:cubicBezTo>
                        <a:pt x="32498" y="0"/>
                        <a:pt x="42169" y="9670"/>
                        <a:pt x="42169" y="21600"/>
                      </a:cubicBezTo>
                    </a:path>
                    <a:path w="42169" h="21600" stroke="0" extrusionOk="0">
                      <a:moveTo>
                        <a:pt x="-1" y="15007"/>
                      </a:moveTo>
                      <a:cubicBezTo>
                        <a:pt x="2865" y="6066"/>
                        <a:pt x="11179" y="-1"/>
                        <a:pt x="20569" y="0"/>
                      </a:cubicBezTo>
                      <a:cubicBezTo>
                        <a:pt x="32498" y="0"/>
                        <a:pt x="42169" y="9670"/>
                        <a:pt x="42169" y="21600"/>
                      </a:cubicBezTo>
                      <a:lnTo>
                        <a:pt x="20569" y="21600"/>
                      </a:lnTo>
                      <a:close/>
                    </a:path>
                  </a:pathLst>
                </a:custGeom>
                <a:noFill/>
                <a:ln w="28575">
                  <a:solidFill>
                    <a:schemeClr val="tx1"/>
                  </a:solidFill>
                  <a:round/>
                  <a:headEnd type="triangle" w="lg" len="lg"/>
                  <a:tailEnd type="none" w="lg" len="lg"/>
                </a:ln>
              </p:spPr>
              <p:txBody>
                <a:bodyPr rot="10800000" wrap="none" anchor="ctr"/>
                <a:lstStyle/>
                <a:p>
                  <a:pPr eaLnBrk="1" hangingPunct="1">
                    <a:defRPr/>
                  </a:pPr>
                  <a:endParaRPr lang="en-US" sz="1400" dirty="0"/>
                </a:p>
              </p:txBody>
            </p:sp>
            <p:sp>
              <p:nvSpPr>
                <p:cNvPr id="24631" name="Arc 56">
                  <a:extLst>
                    <a:ext uri="{FF2B5EF4-FFF2-40B4-BE49-F238E27FC236}">
                      <a16:creationId xmlns:a16="http://schemas.microsoft.com/office/drawing/2014/main" id="{1D174AE8-D02F-4427-8300-18321D948310}"/>
                    </a:ext>
                  </a:extLst>
                </p:cNvPr>
                <p:cNvSpPr>
                  <a:spLocks/>
                </p:cNvSpPr>
                <p:nvPr/>
              </p:nvSpPr>
              <p:spPr bwMode="auto">
                <a:xfrm>
                  <a:off x="3447" y="2188"/>
                  <a:ext cx="361" cy="294"/>
                </a:xfrm>
                <a:custGeom>
                  <a:avLst/>
                  <a:gdLst>
                    <a:gd name="T0" fmla="*/ 0 w 43200"/>
                    <a:gd name="T1" fmla="*/ 0 h 37207"/>
                    <a:gd name="T2" fmla="*/ 0 w 43200"/>
                    <a:gd name="T3" fmla="*/ 0 h 37207"/>
                    <a:gd name="T4" fmla="*/ 0 w 43200"/>
                    <a:gd name="T5" fmla="*/ 0 h 37207"/>
                    <a:gd name="T6" fmla="*/ 0 60000 65536"/>
                    <a:gd name="T7" fmla="*/ 0 60000 65536"/>
                    <a:gd name="T8" fmla="*/ 0 60000 65536"/>
                    <a:gd name="T9" fmla="*/ 0 w 43200"/>
                    <a:gd name="T10" fmla="*/ 0 h 37207"/>
                    <a:gd name="T11" fmla="*/ 43200 w 43200"/>
                    <a:gd name="T12" fmla="*/ 37207 h 37207"/>
                  </a:gdLst>
                  <a:ahLst/>
                  <a:cxnLst>
                    <a:cxn ang="T6">
                      <a:pos x="T0" y="T1"/>
                    </a:cxn>
                    <a:cxn ang="T7">
                      <a:pos x="T2" y="T3"/>
                    </a:cxn>
                    <a:cxn ang="T8">
                      <a:pos x="T4" y="T5"/>
                    </a:cxn>
                  </a:cxnLst>
                  <a:rect l="T9" t="T10" r="T11" b="T12"/>
                  <a:pathLst>
                    <a:path w="43200" h="37207" fill="none" extrusionOk="0">
                      <a:moveTo>
                        <a:pt x="3267" y="33021"/>
                      </a:moveTo>
                      <a:cubicBezTo>
                        <a:pt x="1131" y="29594"/>
                        <a:pt x="0" y="25637"/>
                        <a:pt x="0" y="21600"/>
                      </a:cubicBezTo>
                      <a:cubicBezTo>
                        <a:pt x="0" y="9670"/>
                        <a:pt x="9670" y="0"/>
                        <a:pt x="21600" y="0"/>
                      </a:cubicBezTo>
                      <a:cubicBezTo>
                        <a:pt x="33529" y="0"/>
                        <a:pt x="43200" y="9670"/>
                        <a:pt x="43200" y="21600"/>
                      </a:cubicBezTo>
                      <a:cubicBezTo>
                        <a:pt x="43200" y="27494"/>
                        <a:pt x="40791" y="33132"/>
                        <a:pt x="36532" y="37206"/>
                      </a:cubicBezTo>
                    </a:path>
                    <a:path w="43200" h="37207" stroke="0" extrusionOk="0">
                      <a:moveTo>
                        <a:pt x="3267" y="33021"/>
                      </a:moveTo>
                      <a:cubicBezTo>
                        <a:pt x="1131" y="29594"/>
                        <a:pt x="0" y="25637"/>
                        <a:pt x="0" y="21600"/>
                      </a:cubicBezTo>
                      <a:cubicBezTo>
                        <a:pt x="0" y="9670"/>
                        <a:pt x="9670" y="0"/>
                        <a:pt x="21600" y="0"/>
                      </a:cubicBezTo>
                      <a:cubicBezTo>
                        <a:pt x="33529" y="0"/>
                        <a:pt x="43200" y="9670"/>
                        <a:pt x="43200" y="21600"/>
                      </a:cubicBezTo>
                      <a:cubicBezTo>
                        <a:pt x="43200" y="27494"/>
                        <a:pt x="40791" y="33132"/>
                        <a:pt x="36532" y="37206"/>
                      </a:cubicBezTo>
                      <a:lnTo>
                        <a:pt x="21600" y="21600"/>
                      </a:lnTo>
                      <a:close/>
                    </a:path>
                  </a:pathLst>
                </a:custGeom>
                <a:noFill/>
                <a:ln w="28575">
                  <a:solidFill>
                    <a:schemeClr val="tx1"/>
                  </a:solidFill>
                  <a:round/>
                  <a:headEnd/>
                  <a:tailEnd type="triangle" w="lg" len="lg"/>
                </a:ln>
              </p:spPr>
              <p:txBody>
                <a:bodyPr wrap="none" anchor="ctr"/>
                <a:lstStyle/>
                <a:p>
                  <a:pPr eaLnBrk="1" hangingPunct="1">
                    <a:defRPr/>
                  </a:pPr>
                  <a:endParaRPr lang="en-US" sz="1400" dirty="0"/>
                </a:p>
              </p:txBody>
            </p:sp>
            <p:sp>
              <p:nvSpPr>
                <p:cNvPr id="24632" name="Arc 57">
                  <a:extLst>
                    <a:ext uri="{FF2B5EF4-FFF2-40B4-BE49-F238E27FC236}">
                      <a16:creationId xmlns:a16="http://schemas.microsoft.com/office/drawing/2014/main" id="{3307EF8E-334C-4ACB-A87D-7FC00EC1A21F}"/>
                    </a:ext>
                  </a:extLst>
                </p:cNvPr>
                <p:cNvSpPr>
                  <a:spLocks/>
                </p:cNvSpPr>
                <p:nvPr/>
              </p:nvSpPr>
              <p:spPr bwMode="auto">
                <a:xfrm rot="-10045218" flipH="1" flipV="1">
                  <a:off x="3554" y="2733"/>
                  <a:ext cx="456" cy="705"/>
                </a:xfrm>
                <a:custGeom>
                  <a:avLst/>
                  <a:gdLst>
                    <a:gd name="T0" fmla="*/ 0 w 21600"/>
                    <a:gd name="T1" fmla="*/ 0 h 19746"/>
                    <a:gd name="T2" fmla="*/ 0 w 21600"/>
                    <a:gd name="T3" fmla="*/ 0 h 19746"/>
                    <a:gd name="T4" fmla="*/ 0 w 21600"/>
                    <a:gd name="T5" fmla="*/ 0 h 19746"/>
                    <a:gd name="T6" fmla="*/ 0 60000 65536"/>
                    <a:gd name="T7" fmla="*/ 0 60000 65536"/>
                    <a:gd name="T8" fmla="*/ 0 60000 65536"/>
                    <a:gd name="T9" fmla="*/ 0 w 21600"/>
                    <a:gd name="T10" fmla="*/ 0 h 19746"/>
                    <a:gd name="T11" fmla="*/ 21600 w 21600"/>
                    <a:gd name="T12" fmla="*/ 19746 h 19746"/>
                  </a:gdLst>
                  <a:ahLst/>
                  <a:cxnLst>
                    <a:cxn ang="T6">
                      <a:pos x="T0" y="T1"/>
                    </a:cxn>
                    <a:cxn ang="T7">
                      <a:pos x="T2" y="T3"/>
                    </a:cxn>
                    <a:cxn ang="T8">
                      <a:pos x="T4" y="T5"/>
                    </a:cxn>
                  </a:cxnLst>
                  <a:rect l="T9" t="T10" r="T11" b="T12"/>
                  <a:pathLst>
                    <a:path w="21600" h="19746" fill="none" extrusionOk="0">
                      <a:moveTo>
                        <a:pt x="8754" y="-1"/>
                      </a:moveTo>
                      <a:cubicBezTo>
                        <a:pt x="16564" y="3462"/>
                        <a:pt x="21600" y="11202"/>
                        <a:pt x="21600" y="19746"/>
                      </a:cubicBezTo>
                    </a:path>
                    <a:path w="21600" h="19746" stroke="0" extrusionOk="0">
                      <a:moveTo>
                        <a:pt x="8754" y="-1"/>
                      </a:moveTo>
                      <a:cubicBezTo>
                        <a:pt x="16564" y="3462"/>
                        <a:pt x="21600" y="11202"/>
                        <a:pt x="21600" y="19746"/>
                      </a:cubicBezTo>
                      <a:lnTo>
                        <a:pt x="0" y="19746"/>
                      </a:lnTo>
                      <a:close/>
                    </a:path>
                  </a:pathLst>
                </a:custGeom>
                <a:noFill/>
                <a:ln w="28575">
                  <a:solidFill>
                    <a:schemeClr val="tx1"/>
                  </a:solidFill>
                  <a:round/>
                  <a:headEnd type="triangle" w="lg" len="lg"/>
                  <a:tailEnd type="none" w="lg" len="lg"/>
                </a:ln>
              </p:spPr>
              <p:txBody>
                <a:bodyPr wrap="none" anchor="ctr"/>
                <a:lstStyle/>
                <a:p>
                  <a:pPr eaLnBrk="1" hangingPunct="1">
                    <a:defRPr/>
                  </a:pPr>
                  <a:endParaRPr lang="en-US" sz="1400" dirty="0"/>
                </a:p>
              </p:txBody>
            </p:sp>
            <p:sp>
              <p:nvSpPr>
                <p:cNvPr id="59" name="Arc 56">
                  <a:extLst>
                    <a:ext uri="{FF2B5EF4-FFF2-40B4-BE49-F238E27FC236}">
                      <a16:creationId xmlns:a16="http://schemas.microsoft.com/office/drawing/2014/main" id="{0E4CB960-7A9F-45F1-AECB-C030A494AF59}"/>
                    </a:ext>
                  </a:extLst>
                </p:cNvPr>
                <p:cNvSpPr>
                  <a:spLocks/>
                </p:cNvSpPr>
                <p:nvPr/>
              </p:nvSpPr>
              <p:spPr bwMode="auto">
                <a:xfrm>
                  <a:off x="1209" y="2256"/>
                  <a:ext cx="360" cy="294"/>
                </a:xfrm>
                <a:custGeom>
                  <a:avLst/>
                  <a:gdLst>
                    <a:gd name="T0" fmla="*/ 0 w 43200"/>
                    <a:gd name="T1" fmla="*/ 0 h 37207"/>
                    <a:gd name="T2" fmla="*/ 0 w 43200"/>
                    <a:gd name="T3" fmla="*/ 0 h 37207"/>
                    <a:gd name="T4" fmla="*/ 0 w 43200"/>
                    <a:gd name="T5" fmla="*/ 0 h 37207"/>
                    <a:gd name="T6" fmla="*/ 0 60000 65536"/>
                    <a:gd name="T7" fmla="*/ 0 60000 65536"/>
                    <a:gd name="T8" fmla="*/ 0 60000 65536"/>
                    <a:gd name="T9" fmla="*/ 0 w 43200"/>
                    <a:gd name="T10" fmla="*/ 0 h 37207"/>
                    <a:gd name="T11" fmla="*/ 43200 w 43200"/>
                    <a:gd name="T12" fmla="*/ 37207 h 37207"/>
                  </a:gdLst>
                  <a:ahLst/>
                  <a:cxnLst>
                    <a:cxn ang="T6">
                      <a:pos x="T0" y="T1"/>
                    </a:cxn>
                    <a:cxn ang="T7">
                      <a:pos x="T2" y="T3"/>
                    </a:cxn>
                    <a:cxn ang="T8">
                      <a:pos x="T4" y="T5"/>
                    </a:cxn>
                  </a:cxnLst>
                  <a:rect l="T9" t="T10" r="T11" b="T12"/>
                  <a:pathLst>
                    <a:path w="43200" h="37207" fill="none" extrusionOk="0">
                      <a:moveTo>
                        <a:pt x="3267" y="33021"/>
                      </a:moveTo>
                      <a:cubicBezTo>
                        <a:pt x="1131" y="29594"/>
                        <a:pt x="0" y="25637"/>
                        <a:pt x="0" y="21600"/>
                      </a:cubicBezTo>
                      <a:cubicBezTo>
                        <a:pt x="0" y="9670"/>
                        <a:pt x="9670" y="0"/>
                        <a:pt x="21600" y="0"/>
                      </a:cubicBezTo>
                      <a:cubicBezTo>
                        <a:pt x="33529" y="0"/>
                        <a:pt x="43200" y="9670"/>
                        <a:pt x="43200" y="21600"/>
                      </a:cubicBezTo>
                      <a:cubicBezTo>
                        <a:pt x="43200" y="27494"/>
                        <a:pt x="40791" y="33132"/>
                        <a:pt x="36532" y="37206"/>
                      </a:cubicBezTo>
                    </a:path>
                    <a:path w="43200" h="37207" stroke="0" extrusionOk="0">
                      <a:moveTo>
                        <a:pt x="3267" y="33021"/>
                      </a:moveTo>
                      <a:cubicBezTo>
                        <a:pt x="1131" y="29594"/>
                        <a:pt x="0" y="25637"/>
                        <a:pt x="0" y="21600"/>
                      </a:cubicBezTo>
                      <a:cubicBezTo>
                        <a:pt x="0" y="9670"/>
                        <a:pt x="9670" y="0"/>
                        <a:pt x="21600" y="0"/>
                      </a:cubicBezTo>
                      <a:cubicBezTo>
                        <a:pt x="33529" y="0"/>
                        <a:pt x="43200" y="9670"/>
                        <a:pt x="43200" y="21600"/>
                      </a:cubicBezTo>
                      <a:cubicBezTo>
                        <a:pt x="43200" y="27494"/>
                        <a:pt x="40791" y="33132"/>
                        <a:pt x="36532" y="37206"/>
                      </a:cubicBezTo>
                      <a:lnTo>
                        <a:pt x="21600" y="21600"/>
                      </a:lnTo>
                      <a:close/>
                    </a:path>
                  </a:pathLst>
                </a:custGeom>
                <a:noFill/>
                <a:ln w="28575">
                  <a:solidFill>
                    <a:schemeClr val="tx1"/>
                  </a:solidFill>
                  <a:round/>
                  <a:headEnd/>
                  <a:tailEnd type="triangle" w="lg" len="lg"/>
                </a:ln>
              </p:spPr>
              <p:txBody>
                <a:bodyPr wrap="none" anchor="ctr"/>
                <a:lstStyle/>
                <a:p>
                  <a:pPr eaLnBrk="1" hangingPunct="1">
                    <a:defRPr/>
                  </a:pPr>
                  <a:endParaRPr lang="en-US" sz="1400" dirty="0"/>
                </a:p>
              </p:txBody>
            </p:sp>
            <p:sp>
              <p:nvSpPr>
                <p:cNvPr id="60" name="Text Box 24">
                  <a:extLst>
                    <a:ext uri="{FF2B5EF4-FFF2-40B4-BE49-F238E27FC236}">
                      <a16:creationId xmlns:a16="http://schemas.microsoft.com/office/drawing/2014/main" id="{8D42F15A-01D9-4AF1-BA95-FAD2BD1C7ECD}"/>
                    </a:ext>
                  </a:extLst>
                </p:cNvPr>
                <p:cNvSpPr txBox="1">
                  <a:spLocks noChangeArrowheads="1"/>
                </p:cNvSpPr>
                <p:nvPr/>
              </p:nvSpPr>
              <p:spPr bwMode="auto">
                <a:xfrm>
                  <a:off x="1157" y="2051"/>
                  <a:ext cx="400" cy="251"/>
                </a:xfrm>
                <a:prstGeom prst="rect">
                  <a:avLst/>
                </a:prstGeom>
                <a:noFill/>
                <a:ln w="31750">
                  <a:noFill/>
                  <a:miter lim="800000"/>
                  <a:headEnd/>
                  <a:tailEnd/>
                </a:ln>
              </p:spPr>
              <p:txBody>
                <a:bodyPr/>
                <a:lstStyle/>
                <a:p>
                  <a:pPr>
                    <a:defRPr/>
                  </a:pPr>
                  <a:r>
                    <a:rPr lang="en-US" sz="1400" b="1" dirty="0"/>
                    <a:t>X</a:t>
                  </a:r>
                  <a:r>
                    <a:rPr lang="en-US" sz="1400" b="1" baseline="-25000" dirty="0"/>
                    <a:t>2</a:t>
                  </a:r>
                  <a:endParaRPr lang="en-US" sz="1400" b="1" dirty="0"/>
                </a:p>
                <a:p>
                  <a:pPr>
                    <a:defRPr/>
                  </a:pPr>
                  <a:endParaRPr lang="en-US" sz="1400" b="1" dirty="0"/>
                </a:p>
              </p:txBody>
            </p:sp>
          </p:grpSp>
          <p:sp>
            <p:nvSpPr>
              <p:cNvPr id="46099" name="Text Box 59">
                <a:extLst>
                  <a:ext uri="{FF2B5EF4-FFF2-40B4-BE49-F238E27FC236}">
                    <a16:creationId xmlns:a16="http://schemas.microsoft.com/office/drawing/2014/main" id="{AB2C913D-B1CC-F7F4-ADFC-AE4FB5F51E0F}"/>
                  </a:ext>
                </a:extLst>
              </p:cNvPr>
              <p:cNvSpPr txBox="1">
                <a:spLocks noChangeArrowheads="1"/>
              </p:cNvSpPr>
              <p:nvPr/>
            </p:nvSpPr>
            <p:spPr bwMode="auto">
              <a:xfrm>
                <a:off x="2781300" y="2705100"/>
                <a:ext cx="77946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600" b="1"/>
                  <a:t>S</a:t>
                </a:r>
                <a:r>
                  <a:rPr lang="en-US" altLang="en-US" sz="1600" b="1" baseline="-25000"/>
                  <a:t>k</a:t>
                </a:r>
                <a:r>
                  <a:rPr lang="en-US" altLang="en-US" sz="1600" b="1"/>
                  <a:t>/Y</a:t>
                </a:r>
                <a:r>
                  <a:rPr lang="en-US" altLang="en-US" sz="1600" b="1" baseline="-25000"/>
                  <a:t>p</a:t>
                </a:r>
              </a:p>
              <a:p>
                <a:pPr eaLnBrk="1" hangingPunct="1"/>
                <a:endParaRPr lang="ru-RU" altLang="en-US" sz="1600" b="1"/>
              </a:p>
            </p:txBody>
          </p:sp>
        </p:grpSp>
      </p:grpSp>
      <p:sp>
        <p:nvSpPr>
          <p:cNvPr id="4" name="Title 3">
            <a:extLst>
              <a:ext uri="{FF2B5EF4-FFF2-40B4-BE49-F238E27FC236}">
                <a16:creationId xmlns:a16="http://schemas.microsoft.com/office/drawing/2014/main" id="{BDC3F000-238B-91D0-3537-0A2A0598C4B1}"/>
              </a:ext>
            </a:extLst>
          </p:cNvPr>
          <p:cNvSpPr>
            <a:spLocks noGrp="1"/>
          </p:cNvSpPr>
          <p:nvPr>
            <p:ph type="title"/>
          </p:nvPr>
        </p:nvSpPr>
        <p:spPr/>
        <p:txBody>
          <a:bodyPr>
            <a:normAutofit/>
          </a:bodyPr>
          <a:lstStyle/>
          <a:p>
            <a:r>
              <a:rPr lang="en-US" dirty="0"/>
              <a:t>Interrelation between Mealy and Moore Models</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Заголовок 1">
            <a:extLst>
              <a:ext uri="{FF2B5EF4-FFF2-40B4-BE49-F238E27FC236}">
                <a16:creationId xmlns:a16="http://schemas.microsoft.com/office/drawing/2014/main" id="{ACA265F9-5CA0-11E5-DAD8-1C55DF58AD1B}"/>
              </a:ext>
            </a:extLst>
          </p:cNvPr>
          <p:cNvSpPr>
            <a:spLocks noGrp="1" noChangeArrowheads="1"/>
          </p:cNvSpPr>
          <p:nvPr>
            <p:ph type="title"/>
          </p:nvPr>
        </p:nvSpPr>
        <p:spPr>
          <a:xfrm>
            <a:off x="-1" y="183402"/>
            <a:ext cx="11612880" cy="704088"/>
          </a:xfrm>
        </p:spPr>
        <p:txBody>
          <a:bodyPr/>
          <a:lstStyle/>
          <a:p>
            <a:r>
              <a:rPr lang="en-US" altLang="en-US"/>
              <a:t>Transformation of Moore FSM to Mealy FSM</a:t>
            </a:r>
            <a:endParaRPr lang="ru-RU" altLang="en-US"/>
          </a:p>
        </p:txBody>
      </p:sp>
      <p:sp>
        <p:nvSpPr>
          <p:cNvPr id="3" name="Объект 2">
            <a:extLst>
              <a:ext uri="{FF2B5EF4-FFF2-40B4-BE49-F238E27FC236}">
                <a16:creationId xmlns:a16="http://schemas.microsoft.com/office/drawing/2014/main" id="{ACC2916C-C38B-4D7E-8591-BE5DE7F27EEC}"/>
              </a:ext>
            </a:extLst>
          </p:cNvPr>
          <p:cNvSpPr>
            <a:spLocks noGrp="1"/>
          </p:cNvSpPr>
          <p:nvPr>
            <p:ph type="body" sz="quarter" idx="10"/>
          </p:nvPr>
        </p:nvSpPr>
        <p:spPr>
          <a:xfrm>
            <a:off x="457200" y="1188720"/>
            <a:ext cx="11277922" cy="5185186"/>
          </a:xfrm>
        </p:spPr>
        <p:txBody>
          <a:bodyPr/>
          <a:lstStyle/>
          <a:p>
            <a:r>
              <a:rPr lang="en-US" dirty="0"/>
              <a:t>Moore FSM</a:t>
            </a:r>
          </a:p>
          <a:p>
            <a:pPr marL="0" indent="0">
              <a:buNone/>
            </a:pPr>
            <a:r>
              <a:rPr lang="en-US" dirty="0"/>
              <a:t>		X1	X2	X2	X1	X1	X2</a:t>
            </a:r>
          </a:p>
          <a:p>
            <a:pPr marL="0" indent="0">
              <a:buNone/>
            </a:pPr>
            <a:r>
              <a:rPr lang="en-US" dirty="0"/>
              <a:t>		S0	S1	S1	S1	S3	S2	S3</a:t>
            </a:r>
          </a:p>
          <a:p>
            <a:pPr marL="0" indent="0">
              <a:buNone/>
            </a:pPr>
            <a:r>
              <a:rPr lang="en-US" dirty="0"/>
              <a:t>	</a:t>
            </a:r>
            <a:r>
              <a:rPr lang="el-GR" dirty="0"/>
              <a:t>ω</a:t>
            </a:r>
            <a:r>
              <a:rPr lang="en-US" dirty="0"/>
              <a:t>1=	Y1	Y2	Y2	Y2	Y3	Y2	Y3</a:t>
            </a:r>
          </a:p>
          <a:p>
            <a:endParaRPr lang="en-US" dirty="0"/>
          </a:p>
          <a:p>
            <a:r>
              <a:rPr lang="en-US" dirty="0"/>
              <a:t>Mealy FSM</a:t>
            </a:r>
          </a:p>
          <a:p>
            <a:pPr marL="0" indent="0">
              <a:buNone/>
            </a:pPr>
            <a:r>
              <a:rPr lang="en-US" dirty="0"/>
              <a:t>		X1	X2	X2	X1	X1	X2</a:t>
            </a:r>
          </a:p>
          <a:p>
            <a:pPr marL="0" indent="0">
              <a:buNone/>
            </a:pPr>
            <a:r>
              <a:rPr lang="en-US" dirty="0"/>
              <a:t>		S0	S1	S1	S1	S3	S2	S3</a:t>
            </a:r>
          </a:p>
          <a:p>
            <a:pPr marL="0" indent="0">
              <a:buNone/>
            </a:pPr>
            <a:r>
              <a:rPr lang="ru-RU" dirty="0"/>
              <a:t>	</a:t>
            </a:r>
            <a:r>
              <a:rPr lang="el-GR" dirty="0"/>
              <a:t>ω</a:t>
            </a:r>
            <a:r>
              <a:rPr lang="en-US" dirty="0"/>
              <a:t>2</a:t>
            </a:r>
            <a:r>
              <a:rPr lang="ru-RU" dirty="0"/>
              <a:t>  </a:t>
            </a:r>
            <a:r>
              <a:rPr lang="en-US" dirty="0"/>
              <a:t>=	Y2	Y2	Y2	Y3	Y2	Y2</a:t>
            </a:r>
            <a:endParaRPr lang="ru-RU" dirty="0"/>
          </a:p>
        </p:txBody>
      </p:sp>
      <p:sp>
        <p:nvSpPr>
          <p:cNvPr id="48132" name="Right Bracket 3">
            <a:extLst>
              <a:ext uri="{FF2B5EF4-FFF2-40B4-BE49-F238E27FC236}">
                <a16:creationId xmlns:a16="http://schemas.microsoft.com/office/drawing/2014/main" id="{E92F54F2-77E5-8E59-D97B-FB1B64C0D917}"/>
              </a:ext>
            </a:extLst>
          </p:cNvPr>
          <p:cNvSpPr>
            <a:spLocks/>
          </p:cNvSpPr>
          <p:nvPr/>
        </p:nvSpPr>
        <p:spPr bwMode="auto">
          <a:xfrm>
            <a:off x="8398328" y="2344057"/>
            <a:ext cx="533400" cy="698500"/>
          </a:xfrm>
          <a:prstGeom prst="rightBracket">
            <a:avLst>
              <a:gd name="adj" fmla="val 8330"/>
            </a:avLst>
          </a:prstGeom>
          <a:noFill/>
          <a:ln w="2857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sp>
        <p:nvSpPr>
          <p:cNvPr id="48133" name="Right Bracket 4">
            <a:extLst>
              <a:ext uri="{FF2B5EF4-FFF2-40B4-BE49-F238E27FC236}">
                <a16:creationId xmlns:a16="http://schemas.microsoft.com/office/drawing/2014/main" id="{0DD5627D-AD5D-1257-6D5F-62CAB150B62D}"/>
              </a:ext>
            </a:extLst>
          </p:cNvPr>
          <p:cNvSpPr>
            <a:spLocks/>
          </p:cNvSpPr>
          <p:nvPr/>
        </p:nvSpPr>
        <p:spPr bwMode="auto">
          <a:xfrm>
            <a:off x="8133442" y="4849586"/>
            <a:ext cx="533400" cy="419100"/>
          </a:xfrm>
          <a:prstGeom prst="rightBracket">
            <a:avLst>
              <a:gd name="adj" fmla="val 8333"/>
            </a:avLst>
          </a:prstGeom>
          <a:noFill/>
          <a:ln w="2857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51657C4-B8F7-8A07-3DA3-940C40CB7F0A}"/>
              </a:ext>
            </a:extLst>
          </p:cNvPr>
          <p:cNvSpPr>
            <a:spLocks noGrp="1"/>
          </p:cNvSpPr>
          <p:nvPr>
            <p:ph type="body" sz="quarter" idx="10"/>
          </p:nvPr>
        </p:nvSpPr>
        <p:spPr/>
        <p:txBody>
          <a:bodyPr/>
          <a:lstStyle/>
          <a:p>
            <a:pPr algn="just" eaLnBrk="1" hangingPunct="1"/>
            <a:endParaRPr lang="en-US" altLang="en-US" dirty="0">
              <a:cs typeface="Times New Roman" panose="02020603050405020304" pitchFamily="18" charset="0"/>
            </a:endParaRPr>
          </a:p>
          <a:p>
            <a:pPr algn="just" eaLnBrk="1" hangingPunct="1"/>
            <a:endParaRPr lang="en-US" altLang="en-US" dirty="0">
              <a:cs typeface="Times New Roman" panose="02020603050405020304" pitchFamily="18" charset="0"/>
            </a:endParaRPr>
          </a:p>
          <a:p>
            <a:pPr algn="just" eaLnBrk="1" hangingPunct="1"/>
            <a:endParaRPr lang="en-US" altLang="en-US" dirty="0">
              <a:cs typeface="Times New Roman" panose="02020603050405020304" pitchFamily="18" charset="0"/>
            </a:endParaRPr>
          </a:p>
          <a:p>
            <a:pPr algn="just" eaLnBrk="1" hangingPunct="1"/>
            <a:endParaRPr lang="en-US" altLang="en-US" dirty="0">
              <a:cs typeface="Times New Roman" panose="02020603050405020304" pitchFamily="18" charset="0"/>
            </a:endParaRPr>
          </a:p>
          <a:p>
            <a:pPr algn="just" eaLnBrk="1" hangingPunct="1"/>
            <a:endParaRPr lang="en-US" altLang="en-US" dirty="0">
              <a:cs typeface="Times New Roman" panose="02020603050405020304" pitchFamily="18" charset="0"/>
            </a:endParaRPr>
          </a:p>
          <a:p>
            <a:pPr algn="just" eaLnBrk="1" hangingPunct="1"/>
            <a:endParaRPr lang="en-US" altLang="en-US" dirty="0">
              <a:cs typeface="Times New Roman" panose="02020603050405020304" pitchFamily="18" charset="0"/>
            </a:endParaRPr>
          </a:p>
          <a:p>
            <a:pPr algn="just" eaLnBrk="1" hangingPunct="1"/>
            <a:endParaRPr lang="en-US" altLang="en-US" dirty="0">
              <a:cs typeface="Times New Roman" panose="02020603050405020304" pitchFamily="18" charset="0"/>
            </a:endParaRPr>
          </a:p>
          <a:p>
            <a:pPr algn="just" eaLnBrk="1" hangingPunct="1"/>
            <a:r>
              <a:rPr lang="en-US" altLang="en-US" dirty="0">
                <a:cs typeface="Times New Roman" panose="02020603050405020304" pitchFamily="18" charset="0"/>
              </a:rPr>
              <a:t>In the shown fragment S</a:t>
            </a:r>
            <a:r>
              <a:rPr lang="en-US" altLang="en-US" baseline="-30000" dirty="0">
                <a:cs typeface="Times New Roman" panose="02020603050405020304" pitchFamily="18" charset="0"/>
              </a:rPr>
              <a:t>i</a:t>
            </a:r>
            <a:r>
              <a:rPr lang="ru-RU" altLang="en-US" dirty="0">
                <a:cs typeface="Times New Roman" panose="02020603050405020304" pitchFamily="18" charset="0"/>
              </a:rPr>
              <a:t> </a:t>
            </a:r>
            <a:r>
              <a:rPr lang="en-US" altLang="en-US" dirty="0">
                <a:cs typeface="Times New Roman" panose="02020603050405020304" pitchFamily="18" charset="0"/>
              </a:rPr>
              <a:t>state</a:t>
            </a:r>
            <a:r>
              <a:rPr lang="ru-RU" altLang="en-US" dirty="0">
                <a:cs typeface="Times New Roman" panose="02020603050405020304" pitchFamily="18" charset="0"/>
              </a:rPr>
              <a:t> </a:t>
            </a:r>
            <a:r>
              <a:rPr lang="en-US" altLang="en-US" dirty="0">
                <a:cs typeface="Times New Roman" panose="02020603050405020304" pitchFamily="18" charset="0"/>
              </a:rPr>
              <a:t>is split into two states </a:t>
            </a:r>
            <a:r>
              <a:rPr lang="ru-RU" altLang="en-US" dirty="0">
                <a:cs typeface="Times New Roman" panose="02020603050405020304" pitchFamily="18" charset="0"/>
              </a:rPr>
              <a:t> – </a:t>
            </a:r>
            <a:r>
              <a:rPr lang="en-US" altLang="en-US" dirty="0">
                <a:cs typeface="Times New Roman" panose="02020603050405020304" pitchFamily="18" charset="0"/>
              </a:rPr>
              <a:t>S</a:t>
            </a:r>
            <a:r>
              <a:rPr lang="en-US" altLang="en-US" baseline="-30000" dirty="0">
                <a:cs typeface="Times New Roman" panose="02020603050405020304" pitchFamily="18" charset="0"/>
              </a:rPr>
              <a:t>i</a:t>
            </a:r>
            <a:r>
              <a:rPr lang="ru-RU" altLang="en-US" baseline="30000" dirty="0">
                <a:cs typeface="Times New Roman" panose="02020603050405020304" pitchFamily="18" charset="0"/>
              </a:rPr>
              <a:t>1</a:t>
            </a:r>
            <a:r>
              <a:rPr lang="ru-RU" altLang="en-US" dirty="0">
                <a:cs typeface="Times New Roman" panose="02020603050405020304" pitchFamily="18" charset="0"/>
              </a:rPr>
              <a:t> </a:t>
            </a:r>
            <a:r>
              <a:rPr lang="en-US" altLang="en-US" dirty="0">
                <a:cs typeface="Times New Roman" panose="02020603050405020304" pitchFamily="18" charset="0"/>
              </a:rPr>
              <a:t>and</a:t>
            </a:r>
            <a:r>
              <a:rPr lang="ru-RU" altLang="en-US" dirty="0">
                <a:cs typeface="Times New Roman" panose="02020603050405020304" pitchFamily="18" charset="0"/>
              </a:rPr>
              <a:t> S</a:t>
            </a:r>
            <a:r>
              <a:rPr lang="en-US" altLang="en-US" baseline="-30000" dirty="0" err="1">
                <a:cs typeface="Times New Roman" panose="02020603050405020304" pitchFamily="18" charset="0"/>
              </a:rPr>
              <a:t>i</a:t>
            </a:r>
            <a:r>
              <a:rPr lang="ru-RU" altLang="en-US" baseline="30000" dirty="0">
                <a:cs typeface="Times New Roman" panose="02020603050405020304" pitchFamily="18" charset="0"/>
              </a:rPr>
              <a:t>2</a:t>
            </a:r>
            <a:r>
              <a:rPr lang="ru-RU" altLang="en-US" dirty="0">
                <a:cs typeface="Times New Roman" panose="02020603050405020304" pitchFamily="18" charset="0"/>
              </a:rPr>
              <a:t>.  </a:t>
            </a:r>
            <a:r>
              <a:rPr lang="en-US" altLang="en-US" dirty="0">
                <a:cs typeface="Times New Roman" panose="02020603050405020304" pitchFamily="18" charset="0"/>
              </a:rPr>
              <a:t>All the transitions from </a:t>
            </a:r>
            <a:r>
              <a:rPr lang="ru-RU" altLang="en-US" dirty="0">
                <a:cs typeface="Times New Roman" panose="02020603050405020304" pitchFamily="18" charset="0"/>
              </a:rPr>
              <a:t>S</a:t>
            </a:r>
            <a:r>
              <a:rPr lang="en-US" altLang="en-US" baseline="-30000" dirty="0" err="1">
                <a:cs typeface="Times New Roman" panose="02020603050405020304" pitchFamily="18" charset="0"/>
              </a:rPr>
              <a:t>i</a:t>
            </a:r>
            <a:r>
              <a:rPr lang="ru-RU" altLang="en-US" dirty="0">
                <a:cs typeface="Times New Roman" panose="02020603050405020304" pitchFamily="18" charset="0"/>
              </a:rPr>
              <a:t> </a:t>
            </a:r>
            <a:r>
              <a:rPr lang="en-US" altLang="en-US" dirty="0">
                <a:cs typeface="Times New Roman" panose="02020603050405020304" pitchFamily="18" charset="0"/>
              </a:rPr>
              <a:t>state must be saved for </a:t>
            </a:r>
            <a:r>
              <a:rPr lang="ru-RU" altLang="en-US" dirty="0">
                <a:cs typeface="Times New Roman" panose="02020603050405020304" pitchFamily="18" charset="0"/>
              </a:rPr>
              <a:t>S</a:t>
            </a:r>
            <a:r>
              <a:rPr lang="en-US" altLang="en-US" baseline="-30000" dirty="0" err="1">
                <a:cs typeface="Times New Roman" panose="02020603050405020304" pitchFamily="18" charset="0"/>
              </a:rPr>
              <a:t>i</a:t>
            </a:r>
            <a:r>
              <a:rPr lang="ru-RU" altLang="en-US" baseline="30000" dirty="0">
                <a:cs typeface="Times New Roman" panose="02020603050405020304" pitchFamily="18" charset="0"/>
              </a:rPr>
              <a:t>1</a:t>
            </a:r>
            <a:r>
              <a:rPr lang="ru-RU" altLang="en-US" dirty="0">
                <a:cs typeface="Times New Roman" panose="02020603050405020304" pitchFamily="18" charset="0"/>
              </a:rPr>
              <a:t> </a:t>
            </a:r>
            <a:r>
              <a:rPr lang="en-US" altLang="en-US" dirty="0">
                <a:cs typeface="Times New Roman" panose="02020603050405020304" pitchFamily="18" charset="0"/>
              </a:rPr>
              <a:t>and</a:t>
            </a:r>
            <a:r>
              <a:rPr lang="ru-RU" altLang="en-US" dirty="0">
                <a:cs typeface="Times New Roman" panose="02020603050405020304" pitchFamily="18" charset="0"/>
              </a:rPr>
              <a:t> S</a:t>
            </a:r>
            <a:r>
              <a:rPr lang="en-US" altLang="en-US" baseline="-30000" dirty="0" err="1">
                <a:cs typeface="Times New Roman" panose="02020603050405020304" pitchFamily="18" charset="0"/>
              </a:rPr>
              <a:t>i</a:t>
            </a:r>
            <a:r>
              <a:rPr lang="ru-RU" altLang="en-US" baseline="30000" dirty="0">
                <a:cs typeface="Times New Roman" panose="02020603050405020304" pitchFamily="18" charset="0"/>
              </a:rPr>
              <a:t>2 </a:t>
            </a:r>
            <a:r>
              <a:rPr lang="en-US" altLang="en-US" dirty="0">
                <a:cs typeface="Times New Roman" panose="02020603050405020304" pitchFamily="18" charset="0"/>
              </a:rPr>
              <a:t>states</a:t>
            </a:r>
            <a:r>
              <a:rPr lang="ru-RU" altLang="en-US" baseline="30000" dirty="0">
                <a:cs typeface="Times New Roman" panose="02020603050405020304" pitchFamily="18" charset="0"/>
              </a:rPr>
              <a:t> </a:t>
            </a:r>
            <a:r>
              <a:rPr lang="en-US" altLang="en-US" dirty="0">
                <a:cs typeface="Times New Roman" panose="02020603050405020304" pitchFamily="18" charset="0"/>
              </a:rPr>
              <a:t>of equivalent FSM</a:t>
            </a:r>
            <a:r>
              <a:rPr lang="ru-RU" altLang="en-US" dirty="0">
                <a:cs typeface="Times New Roman" panose="02020603050405020304" pitchFamily="18" charset="0"/>
              </a:rPr>
              <a:t>.</a:t>
            </a:r>
            <a:endParaRPr lang="en-US" altLang="en-US" dirty="0">
              <a:cs typeface="Times New Roman" panose="02020603050405020304" pitchFamily="18" charset="0"/>
            </a:endParaRPr>
          </a:p>
          <a:p>
            <a:pPr eaLnBrk="1" hangingPunct="1"/>
            <a:endParaRPr lang="en-US" altLang="en-US" dirty="0"/>
          </a:p>
          <a:p>
            <a:endParaRPr lang="en-US" dirty="0"/>
          </a:p>
        </p:txBody>
      </p:sp>
      <p:grpSp>
        <p:nvGrpSpPr>
          <p:cNvPr id="49155" name="Group 32">
            <a:extLst>
              <a:ext uri="{FF2B5EF4-FFF2-40B4-BE49-F238E27FC236}">
                <a16:creationId xmlns:a16="http://schemas.microsoft.com/office/drawing/2014/main" id="{8933A4ED-E501-CDE3-C42B-9706D9BA3681}"/>
              </a:ext>
            </a:extLst>
          </p:cNvPr>
          <p:cNvGrpSpPr>
            <a:grpSpLocks/>
          </p:cNvGrpSpPr>
          <p:nvPr/>
        </p:nvGrpSpPr>
        <p:grpSpPr bwMode="auto">
          <a:xfrm>
            <a:off x="2336800" y="1539876"/>
            <a:ext cx="7613650" cy="2874963"/>
            <a:chOff x="812800" y="1208088"/>
            <a:chExt cx="7662863" cy="2874962"/>
          </a:xfrm>
        </p:grpSpPr>
        <p:sp>
          <p:nvSpPr>
            <p:cNvPr id="49185" name="Text Box 3">
              <a:extLst>
                <a:ext uri="{FF2B5EF4-FFF2-40B4-BE49-F238E27FC236}">
                  <a16:creationId xmlns:a16="http://schemas.microsoft.com/office/drawing/2014/main" id="{3C1350A0-9853-9F0B-72C6-7E161B4A2ECA}"/>
                </a:ext>
              </a:extLst>
            </p:cNvPr>
            <p:cNvSpPr txBox="1">
              <a:spLocks noChangeArrowheads="1"/>
            </p:cNvSpPr>
            <p:nvPr/>
          </p:nvSpPr>
          <p:spPr bwMode="auto">
            <a:xfrm>
              <a:off x="5181600" y="3194050"/>
              <a:ext cx="56515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a:solidFill>
                    <a:srgbClr val="FF3300"/>
                  </a:solidFill>
                </a:rPr>
                <a:t>X</a:t>
              </a:r>
              <a:r>
                <a:rPr lang="en-US" altLang="en-US" baseline="-25000">
                  <a:solidFill>
                    <a:srgbClr val="FF3300"/>
                  </a:solidFill>
                </a:rPr>
                <a:t>r</a:t>
              </a:r>
            </a:p>
            <a:p>
              <a:endParaRPr lang="en-US" altLang="en-US">
                <a:solidFill>
                  <a:srgbClr val="FF3300"/>
                </a:solidFill>
                <a:latin typeface="Times New Roman" panose="02020603050405020304" pitchFamily="18" charset="0"/>
              </a:endParaRPr>
            </a:p>
          </p:txBody>
        </p:sp>
        <p:sp>
          <p:nvSpPr>
            <p:cNvPr id="49186" name="Oval 4">
              <a:extLst>
                <a:ext uri="{FF2B5EF4-FFF2-40B4-BE49-F238E27FC236}">
                  <a16:creationId xmlns:a16="http://schemas.microsoft.com/office/drawing/2014/main" id="{AC9959CC-B17E-CF09-75AD-263D50F47A2F}"/>
                </a:ext>
              </a:extLst>
            </p:cNvPr>
            <p:cNvSpPr>
              <a:spLocks noChangeArrowheads="1"/>
            </p:cNvSpPr>
            <p:nvPr/>
          </p:nvSpPr>
          <p:spPr bwMode="auto">
            <a:xfrm>
              <a:off x="7623175" y="2439988"/>
              <a:ext cx="852488" cy="792162"/>
            </a:xfrm>
            <a:prstGeom prst="ellipse">
              <a:avLst/>
            </a:prstGeom>
            <a:solidFill>
              <a:srgbClr val="00CC99"/>
            </a:solidFill>
            <a:ln w="34925">
              <a:solidFill>
                <a:schemeClr val="tx1"/>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r>
                <a:rPr lang="en-US" altLang="en-US" sz="2000"/>
                <a:t>S</a:t>
              </a:r>
              <a:r>
                <a:rPr lang="en-US" altLang="en-US" sz="2000" baseline="-25000"/>
                <a:t>j</a:t>
              </a:r>
              <a:endParaRPr lang="en-US" altLang="en-US" sz="2000"/>
            </a:p>
            <a:p>
              <a:pPr algn="ctr"/>
              <a:r>
                <a:rPr lang="en-US" altLang="en-US" sz="2000"/>
                <a:t>Y</a:t>
              </a:r>
              <a:r>
                <a:rPr lang="en-US" altLang="en-US" sz="2000" baseline="-25000"/>
                <a:t>k</a:t>
              </a:r>
            </a:p>
            <a:p>
              <a:endParaRPr lang="en-US" altLang="en-US" sz="2000">
                <a:latin typeface="Times New Roman" panose="02020603050405020304" pitchFamily="18" charset="0"/>
              </a:endParaRPr>
            </a:p>
          </p:txBody>
        </p:sp>
        <p:sp>
          <p:nvSpPr>
            <p:cNvPr id="49187" name="Oval 5">
              <a:extLst>
                <a:ext uri="{FF2B5EF4-FFF2-40B4-BE49-F238E27FC236}">
                  <a16:creationId xmlns:a16="http://schemas.microsoft.com/office/drawing/2014/main" id="{8D677D73-9410-A497-4930-F028AC5FA7EF}"/>
                </a:ext>
              </a:extLst>
            </p:cNvPr>
            <p:cNvSpPr>
              <a:spLocks noChangeArrowheads="1"/>
            </p:cNvSpPr>
            <p:nvPr/>
          </p:nvSpPr>
          <p:spPr bwMode="auto">
            <a:xfrm>
              <a:off x="5895975" y="3290888"/>
              <a:ext cx="815975" cy="792162"/>
            </a:xfrm>
            <a:prstGeom prst="ellipse">
              <a:avLst/>
            </a:prstGeom>
            <a:solidFill>
              <a:srgbClr val="00CC99"/>
            </a:solidFill>
            <a:ln w="34925">
              <a:solidFill>
                <a:schemeClr val="tx1"/>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r>
                <a:rPr lang="en-US" altLang="en-US" sz="2000"/>
                <a:t>S</a:t>
              </a:r>
              <a:r>
                <a:rPr lang="en-US" altLang="en-US" sz="2000" baseline="-25000"/>
                <a:t>i</a:t>
              </a:r>
              <a:r>
                <a:rPr lang="en-US" altLang="en-US" sz="2000" baseline="30000"/>
                <a:t>2</a:t>
              </a:r>
              <a:r>
                <a:rPr lang="en-US" altLang="en-US" sz="2000"/>
                <a:t>Y</a:t>
              </a:r>
              <a:r>
                <a:rPr lang="en-US" altLang="en-US" sz="2000" baseline="-25000"/>
                <a:t>m</a:t>
              </a:r>
              <a:endParaRPr lang="en-US" altLang="en-US" sz="2000"/>
            </a:p>
            <a:p>
              <a:endParaRPr lang="en-US" altLang="en-US" sz="2000">
                <a:latin typeface="Times New Roman" panose="02020603050405020304" pitchFamily="18" charset="0"/>
              </a:endParaRPr>
            </a:p>
          </p:txBody>
        </p:sp>
        <p:sp>
          <p:nvSpPr>
            <p:cNvPr id="49188" name="Oval 6">
              <a:extLst>
                <a:ext uri="{FF2B5EF4-FFF2-40B4-BE49-F238E27FC236}">
                  <a16:creationId xmlns:a16="http://schemas.microsoft.com/office/drawing/2014/main" id="{509C1F72-1F93-02AF-A874-23F3A1F0FA49}"/>
                </a:ext>
              </a:extLst>
            </p:cNvPr>
            <p:cNvSpPr>
              <a:spLocks noChangeArrowheads="1"/>
            </p:cNvSpPr>
            <p:nvPr/>
          </p:nvSpPr>
          <p:spPr bwMode="auto">
            <a:xfrm>
              <a:off x="5884863" y="1746250"/>
              <a:ext cx="792162" cy="792163"/>
            </a:xfrm>
            <a:prstGeom prst="ellipse">
              <a:avLst/>
            </a:prstGeom>
            <a:solidFill>
              <a:srgbClr val="00CC99"/>
            </a:solidFill>
            <a:ln w="34925">
              <a:solidFill>
                <a:schemeClr val="tx1"/>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r>
                <a:rPr lang="en-US" altLang="en-US" sz="2000"/>
                <a:t>S</a:t>
              </a:r>
              <a:r>
                <a:rPr lang="en-US" altLang="en-US" sz="2000" baseline="-25000"/>
                <a:t>i</a:t>
              </a:r>
              <a:r>
                <a:rPr lang="en-US" altLang="en-US" sz="2000" baseline="30000"/>
                <a:t>1</a:t>
              </a:r>
              <a:r>
                <a:rPr lang="en-US" altLang="en-US" sz="2000"/>
                <a:t>Y</a:t>
              </a:r>
              <a:r>
                <a:rPr lang="en-US" altLang="en-US" sz="2000" baseline="-25000"/>
                <a:t>p</a:t>
              </a:r>
            </a:p>
            <a:p>
              <a:endParaRPr lang="en-US" altLang="en-US" sz="2000">
                <a:latin typeface="Times New Roman" panose="02020603050405020304" pitchFamily="18" charset="0"/>
              </a:endParaRPr>
            </a:p>
          </p:txBody>
        </p:sp>
        <p:sp>
          <p:nvSpPr>
            <p:cNvPr id="49189" name="Line 7">
              <a:extLst>
                <a:ext uri="{FF2B5EF4-FFF2-40B4-BE49-F238E27FC236}">
                  <a16:creationId xmlns:a16="http://schemas.microsoft.com/office/drawing/2014/main" id="{88CE42AC-8FA0-4CCF-2F82-13150652941D}"/>
                </a:ext>
              </a:extLst>
            </p:cNvPr>
            <p:cNvSpPr>
              <a:spLocks noChangeShapeType="1"/>
            </p:cNvSpPr>
            <p:nvPr/>
          </p:nvSpPr>
          <p:spPr bwMode="auto">
            <a:xfrm flipV="1">
              <a:off x="5080000" y="2233613"/>
              <a:ext cx="815975" cy="342900"/>
            </a:xfrm>
            <a:prstGeom prst="line">
              <a:avLst/>
            </a:prstGeom>
            <a:noFill/>
            <a:ln w="349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90" name="Line 8">
              <a:extLst>
                <a:ext uri="{FF2B5EF4-FFF2-40B4-BE49-F238E27FC236}">
                  <a16:creationId xmlns:a16="http://schemas.microsoft.com/office/drawing/2014/main" id="{CC9CEF1F-3F71-A8CA-3648-E4C2DDD177C3}"/>
                </a:ext>
              </a:extLst>
            </p:cNvPr>
            <p:cNvSpPr>
              <a:spLocks noChangeShapeType="1"/>
            </p:cNvSpPr>
            <p:nvPr/>
          </p:nvSpPr>
          <p:spPr bwMode="auto">
            <a:xfrm>
              <a:off x="5080000" y="1651000"/>
              <a:ext cx="815975" cy="317500"/>
            </a:xfrm>
            <a:prstGeom prst="line">
              <a:avLst/>
            </a:prstGeom>
            <a:noFill/>
            <a:ln w="349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91" name="Line 9">
              <a:extLst>
                <a:ext uri="{FF2B5EF4-FFF2-40B4-BE49-F238E27FC236}">
                  <a16:creationId xmlns:a16="http://schemas.microsoft.com/office/drawing/2014/main" id="{61954E54-D546-F213-118B-C88DAE3B6056}"/>
                </a:ext>
              </a:extLst>
            </p:cNvPr>
            <p:cNvSpPr>
              <a:spLocks noChangeShapeType="1"/>
            </p:cNvSpPr>
            <p:nvPr/>
          </p:nvSpPr>
          <p:spPr bwMode="auto">
            <a:xfrm>
              <a:off x="6711950" y="2233613"/>
              <a:ext cx="923925" cy="528637"/>
            </a:xfrm>
            <a:prstGeom prst="line">
              <a:avLst/>
            </a:prstGeom>
            <a:noFill/>
            <a:ln w="349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92" name="Line 10">
              <a:extLst>
                <a:ext uri="{FF2B5EF4-FFF2-40B4-BE49-F238E27FC236}">
                  <a16:creationId xmlns:a16="http://schemas.microsoft.com/office/drawing/2014/main" id="{3952BC40-FE73-9C17-52D2-07CBE29D45AD}"/>
                </a:ext>
              </a:extLst>
            </p:cNvPr>
            <p:cNvSpPr>
              <a:spLocks noChangeShapeType="1"/>
            </p:cNvSpPr>
            <p:nvPr/>
          </p:nvSpPr>
          <p:spPr bwMode="auto">
            <a:xfrm flipV="1">
              <a:off x="6711950" y="2971800"/>
              <a:ext cx="923925" cy="714375"/>
            </a:xfrm>
            <a:prstGeom prst="line">
              <a:avLst/>
            </a:prstGeom>
            <a:noFill/>
            <a:ln w="349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93" name="Line 11">
              <a:extLst>
                <a:ext uri="{FF2B5EF4-FFF2-40B4-BE49-F238E27FC236}">
                  <a16:creationId xmlns:a16="http://schemas.microsoft.com/office/drawing/2014/main" id="{64CA3A55-5219-ABDD-E365-92BFAB1E72D2}"/>
                </a:ext>
              </a:extLst>
            </p:cNvPr>
            <p:cNvSpPr>
              <a:spLocks noChangeShapeType="1"/>
            </p:cNvSpPr>
            <p:nvPr/>
          </p:nvSpPr>
          <p:spPr bwMode="auto">
            <a:xfrm>
              <a:off x="5080000" y="3686175"/>
              <a:ext cx="815975" cy="0"/>
            </a:xfrm>
            <a:prstGeom prst="line">
              <a:avLst/>
            </a:prstGeom>
            <a:noFill/>
            <a:ln w="349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94" name="Text Box 12">
              <a:extLst>
                <a:ext uri="{FF2B5EF4-FFF2-40B4-BE49-F238E27FC236}">
                  <a16:creationId xmlns:a16="http://schemas.microsoft.com/office/drawing/2014/main" id="{5312D7E6-4D3D-B2B7-E043-2038EA39632F}"/>
                </a:ext>
              </a:extLst>
            </p:cNvPr>
            <p:cNvSpPr txBox="1">
              <a:spLocks noChangeArrowheads="1"/>
            </p:cNvSpPr>
            <p:nvPr/>
          </p:nvSpPr>
          <p:spPr bwMode="auto">
            <a:xfrm>
              <a:off x="5089525" y="1208088"/>
              <a:ext cx="6572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a:solidFill>
                    <a:srgbClr val="FF3300"/>
                  </a:solidFill>
                </a:rPr>
                <a:t>X</a:t>
              </a:r>
              <a:r>
                <a:rPr lang="en-US" altLang="en-US" baseline="-25000">
                  <a:solidFill>
                    <a:srgbClr val="FF3300"/>
                  </a:solidFill>
                </a:rPr>
                <a:t>k</a:t>
              </a:r>
            </a:p>
            <a:p>
              <a:endParaRPr lang="en-US" altLang="en-US" baseline="-25000">
                <a:solidFill>
                  <a:srgbClr val="FF3300"/>
                </a:solidFill>
                <a:latin typeface="Times New Roman" panose="02020603050405020304" pitchFamily="18" charset="0"/>
              </a:endParaRPr>
            </a:p>
            <a:p>
              <a:endParaRPr lang="en-US" altLang="en-US" baseline="-25000">
                <a:solidFill>
                  <a:schemeClr val="accent2"/>
                </a:solidFill>
                <a:latin typeface="Times New Roman" panose="02020603050405020304" pitchFamily="18" charset="0"/>
              </a:endParaRPr>
            </a:p>
            <a:p>
              <a:endParaRPr lang="en-US" altLang="en-US">
                <a:solidFill>
                  <a:schemeClr val="accent2"/>
                </a:solidFill>
                <a:latin typeface="Times New Roman" panose="02020603050405020304" pitchFamily="18" charset="0"/>
              </a:endParaRPr>
            </a:p>
            <a:p>
              <a:endParaRPr lang="en-US" altLang="en-US" sz="2000">
                <a:solidFill>
                  <a:schemeClr val="accent2"/>
                </a:solidFill>
                <a:latin typeface="Times New Roman" panose="02020603050405020304" pitchFamily="18" charset="0"/>
              </a:endParaRPr>
            </a:p>
          </p:txBody>
        </p:sp>
        <p:sp>
          <p:nvSpPr>
            <p:cNvPr id="49195" name="Text Box 13">
              <a:extLst>
                <a:ext uri="{FF2B5EF4-FFF2-40B4-BE49-F238E27FC236}">
                  <a16:creationId xmlns:a16="http://schemas.microsoft.com/office/drawing/2014/main" id="{A67A3678-DB09-795A-D4CC-CD85C1ACA670}"/>
                </a:ext>
              </a:extLst>
            </p:cNvPr>
            <p:cNvSpPr txBox="1">
              <a:spLocks noChangeArrowheads="1"/>
            </p:cNvSpPr>
            <p:nvPr/>
          </p:nvSpPr>
          <p:spPr bwMode="auto">
            <a:xfrm>
              <a:off x="6883400" y="1974850"/>
              <a:ext cx="596900"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a:solidFill>
                    <a:srgbClr val="FF3300"/>
                  </a:solidFill>
                </a:rPr>
                <a:t>X</a:t>
              </a:r>
              <a:r>
                <a:rPr lang="en-US" altLang="en-US" baseline="-25000">
                  <a:solidFill>
                    <a:srgbClr val="FF3300"/>
                  </a:solidFill>
                </a:rPr>
                <a:t>i</a:t>
              </a:r>
              <a:endParaRPr lang="en-US" altLang="en-US">
                <a:solidFill>
                  <a:srgbClr val="FF3300"/>
                </a:solidFill>
              </a:endParaRPr>
            </a:p>
            <a:p>
              <a:endParaRPr lang="en-US" altLang="en-US">
                <a:solidFill>
                  <a:schemeClr val="accent2"/>
                </a:solidFill>
                <a:latin typeface="Times New Roman" panose="02020603050405020304" pitchFamily="18" charset="0"/>
              </a:endParaRPr>
            </a:p>
            <a:p>
              <a:endParaRPr lang="en-US" altLang="en-US" sz="2000">
                <a:latin typeface="Times New Roman" panose="02020603050405020304" pitchFamily="18" charset="0"/>
              </a:endParaRPr>
            </a:p>
            <a:p>
              <a:endParaRPr lang="en-US" altLang="en-US" sz="2000">
                <a:latin typeface="Times New Roman" panose="02020603050405020304" pitchFamily="18" charset="0"/>
              </a:endParaRPr>
            </a:p>
            <a:p>
              <a:r>
                <a:rPr lang="en-US" altLang="en-US">
                  <a:solidFill>
                    <a:srgbClr val="FF3300"/>
                  </a:solidFill>
                </a:rPr>
                <a:t>X</a:t>
              </a:r>
              <a:r>
                <a:rPr lang="en-US" altLang="en-US" baseline="-25000">
                  <a:solidFill>
                    <a:srgbClr val="FF3300"/>
                  </a:solidFill>
                </a:rPr>
                <a:t>i</a:t>
              </a:r>
            </a:p>
            <a:p>
              <a:endParaRPr lang="en-US" altLang="en-US">
                <a:solidFill>
                  <a:schemeClr val="accent2"/>
                </a:solidFill>
                <a:latin typeface="Times New Roman" panose="02020603050405020304" pitchFamily="18" charset="0"/>
              </a:endParaRPr>
            </a:p>
            <a:p>
              <a:endParaRPr lang="en-US" altLang="en-US" sz="2000">
                <a:latin typeface="Times New Roman" panose="02020603050405020304" pitchFamily="18" charset="0"/>
              </a:endParaRPr>
            </a:p>
          </p:txBody>
        </p:sp>
        <p:sp>
          <p:nvSpPr>
            <p:cNvPr id="49196" name="Line 14">
              <a:extLst>
                <a:ext uri="{FF2B5EF4-FFF2-40B4-BE49-F238E27FC236}">
                  <a16:creationId xmlns:a16="http://schemas.microsoft.com/office/drawing/2014/main" id="{910572FB-0604-5A5F-DB03-55DAB501EB5B}"/>
                </a:ext>
              </a:extLst>
            </p:cNvPr>
            <p:cNvSpPr>
              <a:spLocks noChangeShapeType="1"/>
            </p:cNvSpPr>
            <p:nvPr/>
          </p:nvSpPr>
          <p:spPr bwMode="auto">
            <a:xfrm>
              <a:off x="7866063" y="2932113"/>
              <a:ext cx="381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97" name="Line 15">
              <a:extLst>
                <a:ext uri="{FF2B5EF4-FFF2-40B4-BE49-F238E27FC236}">
                  <a16:creationId xmlns:a16="http://schemas.microsoft.com/office/drawing/2014/main" id="{89A3C644-E0EC-86BA-823A-D92DBCB5A48D}"/>
                </a:ext>
              </a:extLst>
            </p:cNvPr>
            <p:cNvSpPr>
              <a:spLocks noChangeShapeType="1"/>
            </p:cNvSpPr>
            <p:nvPr/>
          </p:nvSpPr>
          <p:spPr bwMode="auto">
            <a:xfrm>
              <a:off x="6064250" y="2249488"/>
              <a:ext cx="381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98" name="Line 16">
              <a:extLst>
                <a:ext uri="{FF2B5EF4-FFF2-40B4-BE49-F238E27FC236}">
                  <a16:creationId xmlns:a16="http://schemas.microsoft.com/office/drawing/2014/main" id="{BBFA6DCA-83FB-DD11-D538-10DCE8065D55}"/>
                </a:ext>
              </a:extLst>
            </p:cNvPr>
            <p:cNvSpPr>
              <a:spLocks noChangeShapeType="1"/>
            </p:cNvSpPr>
            <p:nvPr/>
          </p:nvSpPr>
          <p:spPr bwMode="auto">
            <a:xfrm>
              <a:off x="6064250" y="3776663"/>
              <a:ext cx="381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99" name="Text Box 17">
              <a:extLst>
                <a:ext uri="{FF2B5EF4-FFF2-40B4-BE49-F238E27FC236}">
                  <a16:creationId xmlns:a16="http://schemas.microsoft.com/office/drawing/2014/main" id="{FB7332DF-6BA6-52AA-C64D-797C6D7F438E}"/>
                </a:ext>
              </a:extLst>
            </p:cNvPr>
            <p:cNvSpPr txBox="1">
              <a:spLocks noChangeArrowheads="1"/>
            </p:cNvSpPr>
            <p:nvPr/>
          </p:nvSpPr>
          <p:spPr bwMode="auto">
            <a:xfrm>
              <a:off x="5021263" y="1982788"/>
              <a:ext cx="6572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a:solidFill>
                    <a:srgbClr val="FF3300"/>
                  </a:solidFill>
                </a:rPr>
                <a:t>X</a:t>
              </a:r>
              <a:r>
                <a:rPr lang="en-US" altLang="en-US" baseline="-25000">
                  <a:solidFill>
                    <a:srgbClr val="FF3300"/>
                  </a:solidFill>
                </a:rPr>
                <a:t>S</a:t>
              </a:r>
            </a:p>
            <a:p>
              <a:endParaRPr lang="en-US" altLang="en-US" baseline="-25000">
                <a:solidFill>
                  <a:schemeClr val="accent2"/>
                </a:solidFill>
                <a:latin typeface="Times New Roman" panose="02020603050405020304" pitchFamily="18" charset="0"/>
              </a:endParaRPr>
            </a:p>
            <a:p>
              <a:endParaRPr lang="en-US" altLang="en-US" baseline="-25000">
                <a:solidFill>
                  <a:schemeClr val="accent2"/>
                </a:solidFill>
                <a:latin typeface="Times New Roman" panose="02020603050405020304" pitchFamily="18" charset="0"/>
              </a:endParaRPr>
            </a:p>
            <a:p>
              <a:endParaRPr lang="en-US" altLang="en-US">
                <a:solidFill>
                  <a:schemeClr val="accent2"/>
                </a:solidFill>
                <a:latin typeface="Times New Roman" panose="02020603050405020304" pitchFamily="18" charset="0"/>
              </a:endParaRPr>
            </a:p>
            <a:p>
              <a:endParaRPr lang="en-US" altLang="en-US" sz="2000">
                <a:solidFill>
                  <a:schemeClr val="accent2"/>
                </a:solidFill>
                <a:latin typeface="Times New Roman" panose="02020603050405020304" pitchFamily="18" charset="0"/>
              </a:endParaRPr>
            </a:p>
          </p:txBody>
        </p:sp>
        <p:sp>
          <p:nvSpPr>
            <p:cNvPr id="49200" name="Line 20">
              <a:extLst>
                <a:ext uri="{FF2B5EF4-FFF2-40B4-BE49-F238E27FC236}">
                  <a16:creationId xmlns:a16="http://schemas.microsoft.com/office/drawing/2014/main" id="{1A72FE16-F1E3-FB4F-8883-F92256432B4B}"/>
                </a:ext>
              </a:extLst>
            </p:cNvPr>
            <p:cNvSpPr>
              <a:spLocks noChangeShapeType="1"/>
            </p:cNvSpPr>
            <p:nvPr/>
          </p:nvSpPr>
          <p:spPr bwMode="auto">
            <a:xfrm>
              <a:off x="1230313" y="1751013"/>
              <a:ext cx="673100" cy="660400"/>
            </a:xfrm>
            <a:prstGeom prst="line">
              <a:avLst/>
            </a:prstGeom>
            <a:noFill/>
            <a:ln w="349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201" name="Line 21">
              <a:extLst>
                <a:ext uri="{FF2B5EF4-FFF2-40B4-BE49-F238E27FC236}">
                  <a16:creationId xmlns:a16="http://schemas.microsoft.com/office/drawing/2014/main" id="{018E29BC-422E-AAD9-14FD-48CB18C3660E}"/>
                </a:ext>
              </a:extLst>
            </p:cNvPr>
            <p:cNvSpPr>
              <a:spLocks noChangeShapeType="1"/>
            </p:cNvSpPr>
            <p:nvPr/>
          </p:nvSpPr>
          <p:spPr bwMode="auto">
            <a:xfrm>
              <a:off x="812800" y="2628900"/>
              <a:ext cx="941388" cy="0"/>
            </a:xfrm>
            <a:prstGeom prst="line">
              <a:avLst/>
            </a:prstGeom>
            <a:noFill/>
            <a:ln w="349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202" name="Line 22">
              <a:extLst>
                <a:ext uri="{FF2B5EF4-FFF2-40B4-BE49-F238E27FC236}">
                  <a16:creationId xmlns:a16="http://schemas.microsoft.com/office/drawing/2014/main" id="{F5DB484A-1508-A35D-9CCA-17BE417F41D1}"/>
                </a:ext>
              </a:extLst>
            </p:cNvPr>
            <p:cNvSpPr>
              <a:spLocks noChangeShapeType="1"/>
            </p:cNvSpPr>
            <p:nvPr/>
          </p:nvSpPr>
          <p:spPr bwMode="auto">
            <a:xfrm flipV="1">
              <a:off x="1123950" y="2894013"/>
              <a:ext cx="808038" cy="528637"/>
            </a:xfrm>
            <a:prstGeom prst="line">
              <a:avLst/>
            </a:prstGeom>
            <a:noFill/>
            <a:ln w="349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203" name="Line 23">
              <a:extLst>
                <a:ext uri="{FF2B5EF4-FFF2-40B4-BE49-F238E27FC236}">
                  <a16:creationId xmlns:a16="http://schemas.microsoft.com/office/drawing/2014/main" id="{FD089A2C-3951-A1F1-BDC5-82C8E6F11633}"/>
                </a:ext>
              </a:extLst>
            </p:cNvPr>
            <p:cNvSpPr>
              <a:spLocks noChangeShapeType="1"/>
            </p:cNvSpPr>
            <p:nvPr/>
          </p:nvSpPr>
          <p:spPr bwMode="auto">
            <a:xfrm>
              <a:off x="2533650" y="2628900"/>
              <a:ext cx="857250" cy="0"/>
            </a:xfrm>
            <a:prstGeom prst="line">
              <a:avLst/>
            </a:prstGeom>
            <a:noFill/>
            <a:ln w="349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204" name="Text Box 24">
              <a:extLst>
                <a:ext uri="{FF2B5EF4-FFF2-40B4-BE49-F238E27FC236}">
                  <a16:creationId xmlns:a16="http://schemas.microsoft.com/office/drawing/2014/main" id="{F5D7ABC5-286A-C324-0BF7-D4F0E866B020}"/>
                </a:ext>
              </a:extLst>
            </p:cNvPr>
            <p:cNvSpPr txBox="1">
              <a:spLocks noChangeArrowheads="1"/>
            </p:cNvSpPr>
            <p:nvPr/>
          </p:nvSpPr>
          <p:spPr bwMode="auto">
            <a:xfrm>
              <a:off x="1274763" y="1651000"/>
              <a:ext cx="94138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endParaRPr lang="ru-RU" altLang="en-US">
                <a:latin typeface="Times New Roman" panose="02020603050405020304" pitchFamily="18" charset="0"/>
              </a:endParaRPr>
            </a:p>
          </p:txBody>
        </p:sp>
        <p:sp>
          <p:nvSpPr>
            <p:cNvPr id="49205" name="Text Box 25">
              <a:extLst>
                <a:ext uri="{FF2B5EF4-FFF2-40B4-BE49-F238E27FC236}">
                  <a16:creationId xmlns:a16="http://schemas.microsoft.com/office/drawing/2014/main" id="{50EB388F-6CB2-473E-4D08-D01C73CD0143}"/>
                </a:ext>
              </a:extLst>
            </p:cNvPr>
            <p:cNvSpPr txBox="1">
              <a:spLocks noChangeArrowheads="1"/>
            </p:cNvSpPr>
            <p:nvPr/>
          </p:nvSpPr>
          <p:spPr bwMode="auto">
            <a:xfrm>
              <a:off x="1357313" y="1412875"/>
              <a:ext cx="11747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a:t>X</a:t>
              </a:r>
              <a:r>
                <a:rPr lang="en-US" altLang="en-US" sz="2800" baseline="-25000"/>
                <a:t>k</a:t>
              </a:r>
              <a:r>
                <a:rPr lang="en-US" altLang="en-US"/>
                <a:t>/Y</a:t>
              </a:r>
              <a:r>
                <a:rPr lang="en-US" altLang="en-US" sz="2800" baseline="-25000"/>
                <a:t>p</a:t>
              </a:r>
            </a:p>
            <a:p>
              <a:endParaRPr lang="en-US" altLang="en-US">
                <a:latin typeface="Times New Roman" panose="02020603050405020304" pitchFamily="18" charset="0"/>
              </a:endParaRPr>
            </a:p>
          </p:txBody>
        </p:sp>
        <p:sp>
          <p:nvSpPr>
            <p:cNvPr id="49206" name="Text Box 26">
              <a:extLst>
                <a:ext uri="{FF2B5EF4-FFF2-40B4-BE49-F238E27FC236}">
                  <a16:creationId xmlns:a16="http://schemas.microsoft.com/office/drawing/2014/main" id="{12B383A0-599E-EBC0-6132-FE8FC184B461}"/>
                </a:ext>
              </a:extLst>
            </p:cNvPr>
            <p:cNvSpPr txBox="1">
              <a:spLocks noChangeArrowheads="1"/>
            </p:cNvSpPr>
            <p:nvPr/>
          </p:nvSpPr>
          <p:spPr bwMode="auto">
            <a:xfrm>
              <a:off x="855663" y="2101850"/>
              <a:ext cx="108585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a:t>X</a:t>
              </a:r>
              <a:r>
                <a:rPr lang="en-US" altLang="en-US" sz="2800" baseline="-25000"/>
                <a:t>r</a:t>
              </a:r>
              <a:r>
                <a:rPr lang="en-US" altLang="en-US"/>
                <a:t>/</a:t>
              </a:r>
              <a:r>
                <a:rPr lang="en-US" altLang="en-US" sz="2800"/>
                <a:t>Y</a:t>
              </a:r>
              <a:r>
                <a:rPr lang="en-US" altLang="en-US" sz="2800" baseline="-25000"/>
                <a:t>m</a:t>
              </a:r>
            </a:p>
            <a:p>
              <a:endParaRPr lang="en-US" altLang="en-US" sz="2800">
                <a:latin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
          <p:nvSpPr>
            <p:cNvPr id="49207" name="Text Box 27">
              <a:extLst>
                <a:ext uri="{FF2B5EF4-FFF2-40B4-BE49-F238E27FC236}">
                  <a16:creationId xmlns:a16="http://schemas.microsoft.com/office/drawing/2014/main" id="{889BB091-71CE-223E-FE54-793B6CE91D63}"/>
                </a:ext>
              </a:extLst>
            </p:cNvPr>
            <p:cNvSpPr txBox="1">
              <a:spLocks noChangeArrowheads="1"/>
            </p:cNvSpPr>
            <p:nvPr/>
          </p:nvSpPr>
          <p:spPr bwMode="auto">
            <a:xfrm>
              <a:off x="2419350" y="1870075"/>
              <a:ext cx="94297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a:t>X</a:t>
              </a:r>
              <a:r>
                <a:rPr lang="en-US" altLang="en-US" sz="2800" baseline="-25000"/>
                <a:t>j</a:t>
              </a:r>
              <a:r>
                <a:rPr lang="en-US" altLang="en-US"/>
                <a:t>/Y</a:t>
              </a:r>
              <a:r>
                <a:rPr lang="en-US" altLang="en-US" sz="2800" baseline="-25000"/>
                <a:t>k</a:t>
              </a:r>
              <a:endParaRPr lang="en-US" altLang="en-US" sz="2800"/>
            </a:p>
            <a:p>
              <a:endParaRPr lang="en-US" altLang="en-US">
                <a:latin typeface="Times New Roman" panose="02020603050405020304" pitchFamily="18" charset="0"/>
              </a:endParaRPr>
            </a:p>
          </p:txBody>
        </p:sp>
        <p:sp>
          <p:nvSpPr>
            <p:cNvPr id="49208" name="AutoShape 28">
              <a:extLst>
                <a:ext uri="{FF2B5EF4-FFF2-40B4-BE49-F238E27FC236}">
                  <a16:creationId xmlns:a16="http://schemas.microsoft.com/office/drawing/2014/main" id="{C07A5DB8-FC52-D2C5-67BB-F8FC3BF27340}"/>
                </a:ext>
              </a:extLst>
            </p:cNvPr>
            <p:cNvSpPr>
              <a:spLocks noChangeArrowheads="1"/>
            </p:cNvSpPr>
            <p:nvPr/>
          </p:nvSpPr>
          <p:spPr bwMode="auto">
            <a:xfrm>
              <a:off x="4262438" y="2584450"/>
              <a:ext cx="403225" cy="211138"/>
            </a:xfrm>
            <a:prstGeom prst="rightArrow">
              <a:avLst>
                <a:gd name="adj1" fmla="val 50000"/>
                <a:gd name="adj2" fmla="val 47744"/>
              </a:avLst>
            </a:prstGeom>
            <a:solidFill>
              <a:srgbClr val="C0C0C0"/>
            </a:solidFill>
            <a:ln w="952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209" name="Text Box 29">
              <a:extLst>
                <a:ext uri="{FF2B5EF4-FFF2-40B4-BE49-F238E27FC236}">
                  <a16:creationId xmlns:a16="http://schemas.microsoft.com/office/drawing/2014/main" id="{BAE8B68B-6FAE-0339-3CB8-FF6C2E0DFF17}"/>
                </a:ext>
              </a:extLst>
            </p:cNvPr>
            <p:cNvSpPr txBox="1">
              <a:spLocks noChangeArrowheads="1"/>
            </p:cNvSpPr>
            <p:nvPr/>
          </p:nvSpPr>
          <p:spPr bwMode="auto">
            <a:xfrm>
              <a:off x="1360488" y="3127375"/>
              <a:ext cx="108585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a:t>X</a:t>
              </a:r>
              <a:r>
                <a:rPr lang="en-US" altLang="en-US" baseline="-25000"/>
                <a:t>S</a:t>
              </a:r>
              <a:r>
                <a:rPr lang="en-US" altLang="en-US"/>
                <a:t>/Y</a:t>
              </a:r>
              <a:r>
                <a:rPr lang="en-US" altLang="en-US" baseline="-25000"/>
                <a:t>P</a:t>
              </a:r>
            </a:p>
            <a:p>
              <a:endParaRPr lang="en-US" altLang="en-US">
                <a:latin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
          <p:nvSpPr>
            <p:cNvPr id="49210" name="Oval 30">
              <a:extLst>
                <a:ext uri="{FF2B5EF4-FFF2-40B4-BE49-F238E27FC236}">
                  <a16:creationId xmlns:a16="http://schemas.microsoft.com/office/drawing/2014/main" id="{EDF6B4DF-A1B2-14F0-AE1C-AA045354215E}"/>
                </a:ext>
              </a:extLst>
            </p:cNvPr>
            <p:cNvSpPr>
              <a:spLocks noChangeArrowheads="1"/>
            </p:cNvSpPr>
            <p:nvPr/>
          </p:nvSpPr>
          <p:spPr bwMode="auto">
            <a:xfrm>
              <a:off x="1776413" y="2301875"/>
              <a:ext cx="727075" cy="706438"/>
            </a:xfrm>
            <a:prstGeom prst="ellipse">
              <a:avLst/>
            </a:prstGeom>
            <a:solidFill>
              <a:srgbClr val="FFFF99"/>
            </a:solidFill>
            <a:ln w="95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a:t>Si</a:t>
              </a:r>
              <a:endParaRPr lang="ru-RU" altLang="en-US"/>
            </a:p>
          </p:txBody>
        </p:sp>
        <p:sp>
          <p:nvSpPr>
            <p:cNvPr id="49211" name="Oval 31">
              <a:extLst>
                <a:ext uri="{FF2B5EF4-FFF2-40B4-BE49-F238E27FC236}">
                  <a16:creationId xmlns:a16="http://schemas.microsoft.com/office/drawing/2014/main" id="{59B2E522-F211-E14E-0C3F-382555A03014}"/>
                </a:ext>
              </a:extLst>
            </p:cNvPr>
            <p:cNvSpPr>
              <a:spLocks noChangeArrowheads="1"/>
            </p:cNvSpPr>
            <p:nvPr/>
          </p:nvSpPr>
          <p:spPr bwMode="auto">
            <a:xfrm>
              <a:off x="3373438" y="2273300"/>
              <a:ext cx="727075" cy="706438"/>
            </a:xfrm>
            <a:prstGeom prst="ellipse">
              <a:avLst/>
            </a:prstGeom>
            <a:solidFill>
              <a:srgbClr val="FFFF99"/>
            </a:solidFill>
            <a:ln w="95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a:t>Sj</a:t>
              </a:r>
              <a:endParaRPr lang="ru-RU" altLang="en-US"/>
            </a:p>
          </p:txBody>
        </p:sp>
      </p:grpSp>
      <p:grpSp>
        <p:nvGrpSpPr>
          <p:cNvPr id="49157" name="Group 32">
            <a:extLst>
              <a:ext uri="{FF2B5EF4-FFF2-40B4-BE49-F238E27FC236}">
                <a16:creationId xmlns:a16="http://schemas.microsoft.com/office/drawing/2014/main" id="{EF1E4FAF-E922-1FB3-4887-016BD9FEAD90}"/>
              </a:ext>
            </a:extLst>
          </p:cNvPr>
          <p:cNvGrpSpPr>
            <a:grpSpLocks/>
          </p:cNvGrpSpPr>
          <p:nvPr/>
        </p:nvGrpSpPr>
        <p:grpSpPr bwMode="auto">
          <a:xfrm>
            <a:off x="2336800" y="1539876"/>
            <a:ext cx="7613650" cy="2874963"/>
            <a:chOff x="812800" y="1208088"/>
            <a:chExt cx="7662863" cy="2874962"/>
          </a:xfrm>
        </p:grpSpPr>
        <p:sp>
          <p:nvSpPr>
            <p:cNvPr id="49158" name="Text Box 3">
              <a:extLst>
                <a:ext uri="{FF2B5EF4-FFF2-40B4-BE49-F238E27FC236}">
                  <a16:creationId xmlns:a16="http://schemas.microsoft.com/office/drawing/2014/main" id="{08EC356F-870A-9ABB-45FA-822E0579A3EC}"/>
                </a:ext>
              </a:extLst>
            </p:cNvPr>
            <p:cNvSpPr txBox="1">
              <a:spLocks noChangeArrowheads="1"/>
            </p:cNvSpPr>
            <p:nvPr/>
          </p:nvSpPr>
          <p:spPr bwMode="auto">
            <a:xfrm>
              <a:off x="5181600" y="3194050"/>
              <a:ext cx="56515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a:t>X</a:t>
              </a:r>
              <a:r>
                <a:rPr lang="en-US" altLang="en-US" baseline="-25000"/>
                <a:t>r</a:t>
              </a:r>
            </a:p>
            <a:p>
              <a:endParaRPr lang="en-US" altLang="en-US">
                <a:latin typeface="Times New Roman" panose="02020603050405020304" pitchFamily="18" charset="0"/>
              </a:endParaRPr>
            </a:p>
          </p:txBody>
        </p:sp>
        <p:sp>
          <p:nvSpPr>
            <p:cNvPr id="27683" name="Oval 4">
              <a:extLst>
                <a:ext uri="{FF2B5EF4-FFF2-40B4-BE49-F238E27FC236}">
                  <a16:creationId xmlns:a16="http://schemas.microsoft.com/office/drawing/2014/main" id="{E3A24120-66F4-4EA6-86AC-D9E2A296DD71}"/>
                </a:ext>
              </a:extLst>
            </p:cNvPr>
            <p:cNvSpPr>
              <a:spLocks noChangeArrowheads="1"/>
            </p:cNvSpPr>
            <p:nvPr/>
          </p:nvSpPr>
          <p:spPr bwMode="auto">
            <a:xfrm>
              <a:off x="7622458" y="2439988"/>
              <a:ext cx="853205" cy="792163"/>
            </a:xfrm>
            <a:prstGeom prst="ellipse">
              <a:avLst/>
            </a:prstGeom>
            <a:solidFill>
              <a:schemeClr val="accent1">
                <a:lumMod val="20000"/>
                <a:lumOff val="80000"/>
              </a:schemeClr>
            </a:solidFill>
            <a:ln w="34925">
              <a:solidFill>
                <a:schemeClr val="tx1"/>
              </a:solidFill>
              <a:round/>
              <a:headEnd/>
              <a:tailEnd/>
            </a:ln>
          </p:spPr>
          <p:txBody>
            <a:bodyPr/>
            <a:lstStyle/>
            <a:p>
              <a:pPr algn="ctr">
                <a:defRPr/>
              </a:pPr>
              <a:r>
                <a:rPr lang="en-US" sz="2000">
                  <a:latin typeface="Arial" charset="0"/>
                  <a:cs typeface="Arial" charset="0"/>
                </a:rPr>
                <a:t>S</a:t>
              </a:r>
              <a:r>
                <a:rPr lang="en-US" sz="2000" baseline="-25000">
                  <a:latin typeface="Arial" charset="0"/>
                  <a:cs typeface="Arial" charset="0"/>
                </a:rPr>
                <a:t>j</a:t>
              </a:r>
              <a:endParaRPr lang="en-US" sz="2000">
                <a:latin typeface="Arial" charset="0"/>
                <a:cs typeface="Arial" charset="0"/>
              </a:endParaRPr>
            </a:p>
            <a:p>
              <a:pPr algn="ctr">
                <a:defRPr/>
              </a:pPr>
              <a:r>
                <a:rPr lang="en-US" sz="2000">
                  <a:latin typeface="Arial" charset="0"/>
                  <a:cs typeface="Arial" charset="0"/>
                </a:rPr>
                <a:t>Y</a:t>
              </a:r>
              <a:r>
                <a:rPr lang="en-US" sz="2000" baseline="-25000">
                  <a:latin typeface="Arial" charset="0"/>
                  <a:cs typeface="Arial" charset="0"/>
                </a:rPr>
                <a:t>k</a:t>
              </a:r>
            </a:p>
            <a:p>
              <a:pPr>
                <a:defRPr/>
              </a:pPr>
              <a:endParaRPr lang="en-US" sz="2000">
                <a:latin typeface="Times New Roman" pitchFamily="18" charset="0"/>
                <a:cs typeface="Arial" charset="0"/>
              </a:endParaRPr>
            </a:p>
          </p:txBody>
        </p:sp>
        <p:sp>
          <p:nvSpPr>
            <p:cNvPr id="27684" name="Oval 5">
              <a:extLst>
                <a:ext uri="{FF2B5EF4-FFF2-40B4-BE49-F238E27FC236}">
                  <a16:creationId xmlns:a16="http://schemas.microsoft.com/office/drawing/2014/main" id="{2F8373CB-EDCD-423F-A3B8-BC14F261C1A2}"/>
                </a:ext>
              </a:extLst>
            </p:cNvPr>
            <p:cNvSpPr>
              <a:spLocks noChangeArrowheads="1"/>
            </p:cNvSpPr>
            <p:nvPr/>
          </p:nvSpPr>
          <p:spPr bwMode="auto">
            <a:xfrm>
              <a:off x="5895279" y="3290887"/>
              <a:ext cx="816456" cy="792163"/>
            </a:xfrm>
            <a:prstGeom prst="ellipse">
              <a:avLst/>
            </a:prstGeom>
            <a:solidFill>
              <a:schemeClr val="accent1">
                <a:lumMod val="20000"/>
                <a:lumOff val="80000"/>
              </a:schemeClr>
            </a:solidFill>
            <a:ln w="34925">
              <a:solidFill>
                <a:schemeClr val="tx1"/>
              </a:solidFill>
              <a:round/>
              <a:headEnd/>
              <a:tailEnd/>
            </a:ln>
          </p:spPr>
          <p:txBody>
            <a:bodyPr/>
            <a:lstStyle/>
            <a:p>
              <a:pPr algn="ctr">
                <a:defRPr/>
              </a:pPr>
              <a:r>
                <a:rPr lang="en-US" sz="2000">
                  <a:latin typeface="Arial" charset="0"/>
                  <a:cs typeface="Arial" charset="0"/>
                </a:rPr>
                <a:t>S</a:t>
              </a:r>
              <a:r>
                <a:rPr lang="en-US" sz="2000" baseline="-25000">
                  <a:latin typeface="Arial" charset="0"/>
                  <a:cs typeface="Arial" charset="0"/>
                </a:rPr>
                <a:t>i</a:t>
              </a:r>
              <a:r>
                <a:rPr lang="en-US" sz="2000" baseline="30000">
                  <a:latin typeface="Arial" charset="0"/>
                  <a:cs typeface="Arial" charset="0"/>
                </a:rPr>
                <a:t>2</a:t>
              </a:r>
              <a:r>
                <a:rPr lang="en-US" sz="2000">
                  <a:latin typeface="Arial" charset="0"/>
                  <a:cs typeface="Arial" charset="0"/>
                </a:rPr>
                <a:t>Y</a:t>
              </a:r>
              <a:r>
                <a:rPr lang="en-US" sz="2000" baseline="-25000">
                  <a:latin typeface="Arial" charset="0"/>
                  <a:cs typeface="Arial" charset="0"/>
                </a:rPr>
                <a:t>m</a:t>
              </a:r>
              <a:endParaRPr lang="en-US" sz="2000">
                <a:latin typeface="Arial" charset="0"/>
                <a:cs typeface="Arial" charset="0"/>
              </a:endParaRPr>
            </a:p>
            <a:p>
              <a:pPr>
                <a:defRPr/>
              </a:pPr>
              <a:endParaRPr lang="en-US" sz="2000">
                <a:latin typeface="Times New Roman" pitchFamily="18" charset="0"/>
                <a:cs typeface="Arial" charset="0"/>
              </a:endParaRPr>
            </a:p>
          </p:txBody>
        </p:sp>
        <p:sp>
          <p:nvSpPr>
            <p:cNvPr id="27685" name="Oval 6">
              <a:extLst>
                <a:ext uri="{FF2B5EF4-FFF2-40B4-BE49-F238E27FC236}">
                  <a16:creationId xmlns:a16="http://schemas.microsoft.com/office/drawing/2014/main" id="{B0DF02E3-960B-4CB3-BAE3-3BE5F50FD0F2}"/>
                </a:ext>
              </a:extLst>
            </p:cNvPr>
            <p:cNvSpPr>
              <a:spLocks noChangeArrowheads="1"/>
            </p:cNvSpPr>
            <p:nvPr/>
          </p:nvSpPr>
          <p:spPr bwMode="auto">
            <a:xfrm>
              <a:off x="5884094" y="1746251"/>
              <a:ext cx="792490" cy="792162"/>
            </a:xfrm>
            <a:prstGeom prst="ellipse">
              <a:avLst/>
            </a:prstGeom>
            <a:solidFill>
              <a:schemeClr val="accent1">
                <a:lumMod val="20000"/>
                <a:lumOff val="80000"/>
              </a:schemeClr>
            </a:solidFill>
            <a:ln w="34925">
              <a:solidFill>
                <a:schemeClr val="tx1"/>
              </a:solidFill>
              <a:round/>
              <a:headEnd/>
              <a:tailEnd/>
            </a:ln>
          </p:spPr>
          <p:txBody>
            <a:bodyPr/>
            <a:lstStyle/>
            <a:p>
              <a:pPr algn="ctr">
                <a:defRPr/>
              </a:pPr>
              <a:r>
                <a:rPr lang="en-US" dirty="0">
                  <a:latin typeface="Arial" charset="0"/>
                  <a:cs typeface="Arial" charset="0"/>
                </a:rPr>
                <a:t>S</a:t>
              </a:r>
              <a:r>
                <a:rPr lang="en-US" baseline="-25000" dirty="0">
                  <a:latin typeface="Arial" charset="0"/>
                  <a:cs typeface="Arial" charset="0"/>
                </a:rPr>
                <a:t>i</a:t>
              </a:r>
              <a:r>
                <a:rPr lang="en-US" baseline="30000" dirty="0">
                  <a:latin typeface="Arial" charset="0"/>
                  <a:cs typeface="Arial" charset="0"/>
                </a:rPr>
                <a:t>1</a:t>
              </a:r>
              <a:r>
                <a:rPr lang="en-US" dirty="0">
                  <a:latin typeface="Arial" charset="0"/>
                  <a:cs typeface="Arial" charset="0"/>
                </a:rPr>
                <a:t>Y</a:t>
              </a:r>
              <a:r>
                <a:rPr lang="en-US" baseline="-25000" dirty="0">
                  <a:latin typeface="Arial" charset="0"/>
                  <a:cs typeface="Arial" charset="0"/>
                </a:rPr>
                <a:t>p</a:t>
              </a:r>
            </a:p>
            <a:p>
              <a:pPr>
                <a:defRPr/>
              </a:pPr>
              <a:endParaRPr lang="en-US" dirty="0">
                <a:latin typeface="Times New Roman" pitchFamily="18" charset="0"/>
                <a:cs typeface="Arial" charset="0"/>
              </a:endParaRPr>
            </a:p>
          </p:txBody>
        </p:sp>
        <p:sp>
          <p:nvSpPr>
            <p:cNvPr id="49162" name="Line 7">
              <a:extLst>
                <a:ext uri="{FF2B5EF4-FFF2-40B4-BE49-F238E27FC236}">
                  <a16:creationId xmlns:a16="http://schemas.microsoft.com/office/drawing/2014/main" id="{9F7CE4AB-70C6-8E27-31CC-9742BC81D2AC}"/>
                </a:ext>
              </a:extLst>
            </p:cNvPr>
            <p:cNvSpPr>
              <a:spLocks noChangeShapeType="1"/>
            </p:cNvSpPr>
            <p:nvPr/>
          </p:nvSpPr>
          <p:spPr bwMode="auto">
            <a:xfrm flipV="1">
              <a:off x="5080000" y="2233613"/>
              <a:ext cx="815975" cy="342900"/>
            </a:xfrm>
            <a:prstGeom prst="line">
              <a:avLst/>
            </a:prstGeom>
            <a:noFill/>
            <a:ln w="349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63" name="Line 8">
              <a:extLst>
                <a:ext uri="{FF2B5EF4-FFF2-40B4-BE49-F238E27FC236}">
                  <a16:creationId xmlns:a16="http://schemas.microsoft.com/office/drawing/2014/main" id="{09A7811B-D454-1DF1-D558-5B8DBC4B7063}"/>
                </a:ext>
              </a:extLst>
            </p:cNvPr>
            <p:cNvSpPr>
              <a:spLocks noChangeShapeType="1"/>
            </p:cNvSpPr>
            <p:nvPr/>
          </p:nvSpPr>
          <p:spPr bwMode="auto">
            <a:xfrm>
              <a:off x="5080000" y="1651000"/>
              <a:ext cx="815975" cy="317500"/>
            </a:xfrm>
            <a:prstGeom prst="line">
              <a:avLst/>
            </a:prstGeom>
            <a:noFill/>
            <a:ln w="349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64" name="Line 9">
              <a:extLst>
                <a:ext uri="{FF2B5EF4-FFF2-40B4-BE49-F238E27FC236}">
                  <a16:creationId xmlns:a16="http://schemas.microsoft.com/office/drawing/2014/main" id="{2439E154-421A-0FD3-3679-39F98705E42A}"/>
                </a:ext>
              </a:extLst>
            </p:cNvPr>
            <p:cNvSpPr>
              <a:spLocks noChangeShapeType="1"/>
            </p:cNvSpPr>
            <p:nvPr/>
          </p:nvSpPr>
          <p:spPr bwMode="auto">
            <a:xfrm>
              <a:off x="6711950" y="2233613"/>
              <a:ext cx="923925" cy="528637"/>
            </a:xfrm>
            <a:prstGeom prst="line">
              <a:avLst/>
            </a:prstGeom>
            <a:noFill/>
            <a:ln w="349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65" name="Line 10">
              <a:extLst>
                <a:ext uri="{FF2B5EF4-FFF2-40B4-BE49-F238E27FC236}">
                  <a16:creationId xmlns:a16="http://schemas.microsoft.com/office/drawing/2014/main" id="{FA3C1AE8-D1D9-FC99-FF19-9D15DAA54F83}"/>
                </a:ext>
              </a:extLst>
            </p:cNvPr>
            <p:cNvSpPr>
              <a:spLocks noChangeShapeType="1"/>
            </p:cNvSpPr>
            <p:nvPr/>
          </p:nvSpPr>
          <p:spPr bwMode="auto">
            <a:xfrm flipV="1">
              <a:off x="6711950" y="2971800"/>
              <a:ext cx="923925" cy="714375"/>
            </a:xfrm>
            <a:prstGeom prst="line">
              <a:avLst/>
            </a:prstGeom>
            <a:noFill/>
            <a:ln w="349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66" name="Line 11">
              <a:extLst>
                <a:ext uri="{FF2B5EF4-FFF2-40B4-BE49-F238E27FC236}">
                  <a16:creationId xmlns:a16="http://schemas.microsoft.com/office/drawing/2014/main" id="{D10F23FC-3ECF-CECF-25F3-78727E254796}"/>
                </a:ext>
              </a:extLst>
            </p:cNvPr>
            <p:cNvSpPr>
              <a:spLocks noChangeShapeType="1"/>
            </p:cNvSpPr>
            <p:nvPr/>
          </p:nvSpPr>
          <p:spPr bwMode="auto">
            <a:xfrm>
              <a:off x="5080000" y="3686175"/>
              <a:ext cx="815975" cy="0"/>
            </a:xfrm>
            <a:prstGeom prst="line">
              <a:avLst/>
            </a:prstGeom>
            <a:noFill/>
            <a:ln w="349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67" name="Text Box 12">
              <a:extLst>
                <a:ext uri="{FF2B5EF4-FFF2-40B4-BE49-F238E27FC236}">
                  <a16:creationId xmlns:a16="http://schemas.microsoft.com/office/drawing/2014/main" id="{86567590-C34D-41F4-7982-C69693841563}"/>
                </a:ext>
              </a:extLst>
            </p:cNvPr>
            <p:cNvSpPr txBox="1">
              <a:spLocks noChangeArrowheads="1"/>
            </p:cNvSpPr>
            <p:nvPr/>
          </p:nvSpPr>
          <p:spPr bwMode="auto">
            <a:xfrm>
              <a:off x="5089525" y="1208088"/>
              <a:ext cx="6572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a:t>X</a:t>
              </a:r>
              <a:r>
                <a:rPr lang="en-US" altLang="en-US" baseline="-25000"/>
                <a:t>k</a:t>
              </a:r>
            </a:p>
            <a:p>
              <a:endParaRPr lang="en-US" altLang="en-US" baseline="-25000">
                <a:latin typeface="Times New Roman" panose="02020603050405020304" pitchFamily="18" charset="0"/>
              </a:endParaRPr>
            </a:p>
            <a:p>
              <a:endParaRPr lang="en-US" altLang="en-US" baseline="-25000">
                <a:latin typeface="Times New Roman" panose="02020603050405020304" pitchFamily="18" charset="0"/>
              </a:endParaRPr>
            </a:p>
            <a:p>
              <a:endParaRPr lang="en-US" altLang="en-US">
                <a:latin typeface="Times New Roman" panose="02020603050405020304" pitchFamily="18" charset="0"/>
              </a:endParaRPr>
            </a:p>
            <a:p>
              <a:endParaRPr lang="en-US" altLang="en-US" sz="2000">
                <a:latin typeface="Times New Roman" panose="02020603050405020304" pitchFamily="18" charset="0"/>
              </a:endParaRPr>
            </a:p>
          </p:txBody>
        </p:sp>
        <p:sp>
          <p:nvSpPr>
            <p:cNvPr id="49168" name="Text Box 13">
              <a:extLst>
                <a:ext uri="{FF2B5EF4-FFF2-40B4-BE49-F238E27FC236}">
                  <a16:creationId xmlns:a16="http://schemas.microsoft.com/office/drawing/2014/main" id="{D11D8030-099E-1F96-5066-5BF2ED46B22D}"/>
                </a:ext>
              </a:extLst>
            </p:cNvPr>
            <p:cNvSpPr txBox="1">
              <a:spLocks noChangeArrowheads="1"/>
            </p:cNvSpPr>
            <p:nvPr/>
          </p:nvSpPr>
          <p:spPr bwMode="auto">
            <a:xfrm>
              <a:off x="6883400" y="1974850"/>
              <a:ext cx="596900"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a:t>X</a:t>
              </a:r>
              <a:r>
                <a:rPr lang="en-US" altLang="en-US" baseline="-25000"/>
                <a:t>i</a:t>
              </a:r>
              <a:endParaRPr lang="en-US" altLang="en-US"/>
            </a:p>
            <a:p>
              <a:endParaRPr lang="en-US" altLang="en-US">
                <a:latin typeface="Times New Roman" panose="02020603050405020304" pitchFamily="18" charset="0"/>
              </a:endParaRPr>
            </a:p>
            <a:p>
              <a:endParaRPr lang="en-US" altLang="en-US" sz="2000">
                <a:latin typeface="Times New Roman" panose="02020603050405020304" pitchFamily="18" charset="0"/>
              </a:endParaRPr>
            </a:p>
            <a:p>
              <a:endParaRPr lang="en-US" altLang="en-US" sz="2000">
                <a:latin typeface="Times New Roman" panose="02020603050405020304" pitchFamily="18" charset="0"/>
              </a:endParaRPr>
            </a:p>
            <a:p>
              <a:r>
                <a:rPr lang="en-US" altLang="en-US"/>
                <a:t>X</a:t>
              </a:r>
              <a:r>
                <a:rPr lang="en-US" altLang="en-US" baseline="-25000"/>
                <a:t>i</a:t>
              </a:r>
            </a:p>
            <a:p>
              <a:endParaRPr lang="en-US" altLang="en-US">
                <a:latin typeface="Times New Roman" panose="02020603050405020304" pitchFamily="18" charset="0"/>
              </a:endParaRPr>
            </a:p>
            <a:p>
              <a:endParaRPr lang="en-US" altLang="en-US" sz="2000">
                <a:latin typeface="Times New Roman" panose="02020603050405020304" pitchFamily="18" charset="0"/>
              </a:endParaRPr>
            </a:p>
          </p:txBody>
        </p:sp>
        <p:sp>
          <p:nvSpPr>
            <p:cNvPr id="49169" name="Line 14">
              <a:extLst>
                <a:ext uri="{FF2B5EF4-FFF2-40B4-BE49-F238E27FC236}">
                  <a16:creationId xmlns:a16="http://schemas.microsoft.com/office/drawing/2014/main" id="{147DDC3F-ED5A-6391-7C2D-500B2CEA82AB}"/>
                </a:ext>
              </a:extLst>
            </p:cNvPr>
            <p:cNvSpPr>
              <a:spLocks noChangeShapeType="1"/>
            </p:cNvSpPr>
            <p:nvPr/>
          </p:nvSpPr>
          <p:spPr bwMode="auto">
            <a:xfrm>
              <a:off x="7866063" y="2932113"/>
              <a:ext cx="381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70" name="Line 15">
              <a:extLst>
                <a:ext uri="{FF2B5EF4-FFF2-40B4-BE49-F238E27FC236}">
                  <a16:creationId xmlns:a16="http://schemas.microsoft.com/office/drawing/2014/main" id="{F844964E-CADE-6C02-61FA-44298C8CA049}"/>
                </a:ext>
              </a:extLst>
            </p:cNvPr>
            <p:cNvSpPr>
              <a:spLocks noChangeShapeType="1"/>
            </p:cNvSpPr>
            <p:nvPr/>
          </p:nvSpPr>
          <p:spPr bwMode="auto">
            <a:xfrm>
              <a:off x="6064250" y="2202353"/>
              <a:ext cx="381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71" name="Line 16">
              <a:extLst>
                <a:ext uri="{FF2B5EF4-FFF2-40B4-BE49-F238E27FC236}">
                  <a16:creationId xmlns:a16="http://schemas.microsoft.com/office/drawing/2014/main" id="{0FF31583-D5B0-93A2-3346-9284C93D0224}"/>
                </a:ext>
              </a:extLst>
            </p:cNvPr>
            <p:cNvSpPr>
              <a:spLocks noChangeShapeType="1"/>
            </p:cNvSpPr>
            <p:nvPr/>
          </p:nvSpPr>
          <p:spPr bwMode="auto">
            <a:xfrm>
              <a:off x="6064250" y="3776663"/>
              <a:ext cx="381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72" name="Text Box 17">
              <a:extLst>
                <a:ext uri="{FF2B5EF4-FFF2-40B4-BE49-F238E27FC236}">
                  <a16:creationId xmlns:a16="http://schemas.microsoft.com/office/drawing/2014/main" id="{04F377BB-1867-C227-FD76-DCC46DEF1B81}"/>
                </a:ext>
              </a:extLst>
            </p:cNvPr>
            <p:cNvSpPr txBox="1">
              <a:spLocks noChangeArrowheads="1"/>
            </p:cNvSpPr>
            <p:nvPr/>
          </p:nvSpPr>
          <p:spPr bwMode="auto">
            <a:xfrm>
              <a:off x="5021263" y="1982788"/>
              <a:ext cx="6572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a:t>X</a:t>
              </a:r>
              <a:r>
                <a:rPr lang="en-US" altLang="en-US" baseline="-25000"/>
                <a:t>S</a:t>
              </a:r>
            </a:p>
            <a:p>
              <a:endParaRPr lang="en-US" altLang="en-US" baseline="-25000">
                <a:latin typeface="Times New Roman" panose="02020603050405020304" pitchFamily="18" charset="0"/>
              </a:endParaRPr>
            </a:p>
            <a:p>
              <a:endParaRPr lang="en-US" altLang="en-US" baseline="-25000">
                <a:latin typeface="Times New Roman" panose="02020603050405020304" pitchFamily="18" charset="0"/>
              </a:endParaRPr>
            </a:p>
            <a:p>
              <a:endParaRPr lang="en-US" altLang="en-US">
                <a:latin typeface="Times New Roman" panose="02020603050405020304" pitchFamily="18" charset="0"/>
              </a:endParaRPr>
            </a:p>
            <a:p>
              <a:endParaRPr lang="en-US" altLang="en-US" sz="2000">
                <a:latin typeface="Times New Roman" panose="02020603050405020304" pitchFamily="18" charset="0"/>
              </a:endParaRPr>
            </a:p>
          </p:txBody>
        </p:sp>
        <p:sp>
          <p:nvSpPr>
            <p:cNvPr id="49173" name="Line 20">
              <a:extLst>
                <a:ext uri="{FF2B5EF4-FFF2-40B4-BE49-F238E27FC236}">
                  <a16:creationId xmlns:a16="http://schemas.microsoft.com/office/drawing/2014/main" id="{C73FF3E7-D5F1-E6A5-A5AC-C65D912C5C58}"/>
                </a:ext>
              </a:extLst>
            </p:cNvPr>
            <p:cNvSpPr>
              <a:spLocks noChangeShapeType="1"/>
            </p:cNvSpPr>
            <p:nvPr/>
          </p:nvSpPr>
          <p:spPr bwMode="auto">
            <a:xfrm>
              <a:off x="1230313" y="1751013"/>
              <a:ext cx="673100" cy="660400"/>
            </a:xfrm>
            <a:prstGeom prst="line">
              <a:avLst/>
            </a:prstGeom>
            <a:noFill/>
            <a:ln w="349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74" name="Line 21">
              <a:extLst>
                <a:ext uri="{FF2B5EF4-FFF2-40B4-BE49-F238E27FC236}">
                  <a16:creationId xmlns:a16="http://schemas.microsoft.com/office/drawing/2014/main" id="{CFFEF27D-421C-EE8F-DC5E-A914F4B2DC8F}"/>
                </a:ext>
              </a:extLst>
            </p:cNvPr>
            <p:cNvSpPr>
              <a:spLocks noChangeShapeType="1"/>
            </p:cNvSpPr>
            <p:nvPr/>
          </p:nvSpPr>
          <p:spPr bwMode="auto">
            <a:xfrm>
              <a:off x="812800" y="2628900"/>
              <a:ext cx="941388" cy="0"/>
            </a:xfrm>
            <a:prstGeom prst="line">
              <a:avLst/>
            </a:prstGeom>
            <a:noFill/>
            <a:ln w="349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75" name="Line 22">
              <a:extLst>
                <a:ext uri="{FF2B5EF4-FFF2-40B4-BE49-F238E27FC236}">
                  <a16:creationId xmlns:a16="http://schemas.microsoft.com/office/drawing/2014/main" id="{38B756AD-4828-8299-3EDA-43E78BB2F77E}"/>
                </a:ext>
              </a:extLst>
            </p:cNvPr>
            <p:cNvSpPr>
              <a:spLocks noChangeShapeType="1"/>
            </p:cNvSpPr>
            <p:nvPr/>
          </p:nvSpPr>
          <p:spPr bwMode="auto">
            <a:xfrm flipV="1">
              <a:off x="1123950" y="2894013"/>
              <a:ext cx="808038" cy="528637"/>
            </a:xfrm>
            <a:prstGeom prst="line">
              <a:avLst/>
            </a:prstGeom>
            <a:noFill/>
            <a:ln w="349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76" name="Line 23">
              <a:extLst>
                <a:ext uri="{FF2B5EF4-FFF2-40B4-BE49-F238E27FC236}">
                  <a16:creationId xmlns:a16="http://schemas.microsoft.com/office/drawing/2014/main" id="{FEB43A0D-5760-0553-A9A7-2497A6D5E305}"/>
                </a:ext>
              </a:extLst>
            </p:cNvPr>
            <p:cNvSpPr>
              <a:spLocks noChangeShapeType="1"/>
            </p:cNvSpPr>
            <p:nvPr/>
          </p:nvSpPr>
          <p:spPr bwMode="auto">
            <a:xfrm>
              <a:off x="2533650" y="2628900"/>
              <a:ext cx="857250" cy="0"/>
            </a:xfrm>
            <a:prstGeom prst="line">
              <a:avLst/>
            </a:prstGeom>
            <a:noFill/>
            <a:ln w="349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77" name="Text Box 24">
              <a:extLst>
                <a:ext uri="{FF2B5EF4-FFF2-40B4-BE49-F238E27FC236}">
                  <a16:creationId xmlns:a16="http://schemas.microsoft.com/office/drawing/2014/main" id="{4358A39E-D379-1AF4-6F9B-2C98DE913107}"/>
                </a:ext>
              </a:extLst>
            </p:cNvPr>
            <p:cNvSpPr txBox="1">
              <a:spLocks noChangeArrowheads="1"/>
            </p:cNvSpPr>
            <p:nvPr/>
          </p:nvSpPr>
          <p:spPr bwMode="auto">
            <a:xfrm>
              <a:off x="1274763" y="1651000"/>
              <a:ext cx="94138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endParaRPr lang="ru-RU" altLang="en-US">
                <a:latin typeface="Times New Roman" panose="02020603050405020304" pitchFamily="18" charset="0"/>
              </a:endParaRPr>
            </a:p>
          </p:txBody>
        </p:sp>
        <p:sp>
          <p:nvSpPr>
            <p:cNvPr id="49178" name="Text Box 25">
              <a:extLst>
                <a:ext uri="{FF2B5EF4-FFF2-40B4-BE49-F238E27FC236}">
                  <a16:creationId xmlns:a16="http://schemas.microsoft.com/office/drawing/2014/main" id="{36346E21-3258-36DE-4541-ECA6CBFE1727}"/>
                </a:ext>
              </a:extLst>
            </p:cNvPr>
            <p:cNvSpPr txBox="1">
              <a:spLocks noChangeArrowheads="1"/>
            </p:cNvSpPr>
            <p:nvPr/>
          </p:nvSpPr>
          <p:spPr bwMode="auto">
            <a:xfrm>
              <a:off x="1357313" y="1412875"/>
              <a:ext cx="11747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a:t>X</a:t>
              </a:r>
              <a:r>
                <a:rPr lang="en-US" altLang="en-US" sz="2800" baseline="-25000"/>
                <a:t>k</a:t>
              </a:r>
              <a:r>
                <a:rPr lang="en-US" altLang="en-US"/>
                <a:t>/Y</a:t>
              </a:r>
              <a:r>
                <a:rPr lang="en-US" altLang="en-US" sz="2800" baseline="-25000"/>
                <a:t>p</a:t>
              </a:r>
            </a:p>
            <a:p>
              <a:endParaRPr lang="en-US" altLang="en-US">
                <a:latin typeface="Times New Roman" panose="02020603050405020304" pitchFamily="18" charset="0"/>
              </a:endParaRPr>
            </a:p>
          </p:txBody>
        </p:sp>
        <p:sp>
          <p:nvSpPr>
            <p:cNvPr id="49179" name="Text Box 26">
              <a:extLst>
                <a:ext uri="{FF2B5EF4-FFF2-40B4-BE49-F238E27FC236}">
                  <a16:creationId xmlns:a16="http://schemas.microsoft.com/office/drawing/2014/main" id="{E11F42FE-3F96-A29A-90C2-0D45773065BD}"/>
                </a:ext>
              </a:extLst>
            </p:cNvPr>
            <p:cNvSpPr txBox="1">
              <a:spLocks noChangeArrowheads="1"/>
            </p:cNvSpPr>
            <p:nvPr/>
          </p:nvSpPr>
          <p:spPr bwMode="auto">
            <a:xfrm>
              <a:off x="855663" y="2101850"/>
              <a:ext cx="108585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a:t>X</a:t>
              </a:r>
              <a:r>
                <a:rPr lang="en-US" altLang="en-US" sz="2800" baseline="-25000"/>
                <a:t>r</a:t>
              </a:r>
              <a:r>
                <a:rPr lang="en-US" altLang="en-US"/>
                <a:t>/</a:t>
              </a:r>
              <a:r>
                <a:rPr lang="en-US" altLang="en-US" sz="2800"/>
                <a:t>Y</a:t>
              </a:r>
              <a:r>
                <a:rPr lang="en-US" altLang="en-US" sz="2800" baseline="-25000"/>
                <a:t>m</a:t>
              </a:r>
            </a:p>
            <a:p>
              <a:endParaRPr lang="en-US" altLang="en-US" sz="2800">
                <a:latin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
          <p:nvSpPr>
            <p:cNvPr id="49180" name="Text Box 27">
              <a:extLst>
                <a:ext uri="{FF2B5EF4-FFF2-40B4-BE49-F238E27FC236}">
                  <a16:creationId xmlns:a16="http://schemas.microsoft.com/office/drawing/2014/main" id="{5CC07542-42E2-10B9-C8A9-AC0976AC4DEC}"/>
                </a:ext>
              </a:extLst>
            </p:cNvPr>
            <p:cNvSpPr txBox="1">
              <a:spLocks noChangeArrowheads="1"/>
            </p:cNvSpPr>
            <p:nvPr/>
          </p:nvSpPr>
          <p:spPr bwMode="auto">
            <a:xfrm>
              <a:off x="2419350" y="1870075"/>
              <a:ext cx="94297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a:t>X</a:t>
              </a:r>
              <a:r>
                <a:rPr lang="en-US" altLang="en-US" sz="2800" baseline="-25000"/>
                <a:t>j</a:t>
              </a:r>
              <a:r>
                <a:rPr lang="en-US" altLang="en-US"/>
                <a:t>/Y</a:t>
              </a:r>
              <a:r>
                <a:rPr lang="en-US" altLang="en-US" sz="2800" baseline="-25000"/>
                <a:t>k</a:t>
              </a:r>
              <a:endParaRPr lang="en-US" altLang="en-US" sz="2800"/>
            </a:p>
            <a:p>
              <a:endParaRPr lang="en-US" altLang="en-US">
                <a:latin typeface="Times New Roman" panose="02020603050405020304" pitchFamily="18" charset="0"/>
              </a:endParaRPr>
            </a:p>
          </p:txBody>
        </p:sp>
        <p:sp>
          <p:nvSpPr>
            <p:cNvPr id="49181" name="AutoShape 28">
              <a:extLst>
                <a:ext uri="{FF2B5EF4-FFF2-40B4-BE49-F238E27FC236}">
                  <a16:creationId xmlns:a16="http://schemas.microsoft.com/office/drawing/2014/main" id="{224A4C08-8445-FD38-EC3B-064393AB4C74}"/>
                </a:ext>
              </a:extLst>
            </p:cNvPr>
            <p:cNvSpPr>
              <a:spLocks noChangeArrowheads="1"/>
            </p:cNvSpPr>
            <p:nvPr/>
          </p:nvSpPr>
          <p:spPr bwMode="auto">
            <a:xfrm>
              <a:off x="4262438" y="2584450"/>
              <a:ext cx="403225" cy="211138"/>
            </a:xfrm>
            <a:prstGeom prst="rightArrow">
              <a:avLst>
                <a:gd name="adj1" fmla="val 50000"/>
                <a:gd name="adj2" fmla="val 47744"/>
              </a:avLst>
            </a:prstGeom>
            <a:solidFill>
              <a:srgbClr val="C0C0C0"/>
            </a:solidFill>
            <a:ln w="952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9182" name="Text Box 29">
              <a:extLst>
                <a:ext uri="{FF2B5EF4-FFF2-40B4-BE49-F238E27FC236}">
                  <a16:creationId xmlns:a16="http://schemas.microsoft.com/office/drawing/2014/main" id="{29697935-DDDF-15BB-030A-872CAFEFECC2}"/>
                </a:ext>
              </a:extLst>
            </p:cNvPr>
            <p:cNvSpPr txBox="1">
              <a:spLocks noChangeArrowheads="1"/>
            </p:cNvSpPr>
            <p:nvPr/>
          </p:nvSpPr>
          <p:spPr bwMode="auto">
            <a:xfrm>
              <a:off x="1360488" y="3127375"/>
              <a:ext cx="108585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dirty="0"/>
                <a:t>X</a:t>
              </a:r>
              <a:r>
                <a:rPr lang="en-US" altLang="en-US" baseline="-25000" dirty="0"/>
                <a:t>S</a:t>
              </a:r>
              <a:r>
                <a:rPr lang="en-US" altLang="en-US" dirty="0"/>
                <a:t>/Y</a:t>
              </a:r>
              <a:r>
                <a:rPr lang="en-US" altLang="en-US" baseline="-25000" dirty="0"/>
                <a:t>P</a:t>
              </a: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p:txBody>
        </p:sp>
        <p:sp>
          <p:nvSpPr>
            <p:cNvPr id="49183" name="Oval 30">
              <a:extLst>
                <a:ext uri="{FF2B5EF4-FFF2-40B4-BE49-F238E27FC236}">
                  <a16:creationId xmlns:a16="http://schemas.microsoft.com/office/drawing/2014/main" id="{D020E4E1-C8C6-2A58-16C5-C83F9A25EE79}"/>
                </a:ext>
              </a:extLst>
            </p:cNvPr>
            <p:cNvSpPr>
              <a:spLocks noChangeArrowheads="1"/>
            </p:cNvSpPr>
            <p:nvPr/>
          </p:nvSpPr>
          <p:spPr bwMode="auto">
            <a:xfrm>
              <a:off x="1776413" y="2301875"/>
              <a:ext cx="727075" cy="706438"/>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a:solidFill>
                    <a:schemeClr val="bg1"/>
                  </a:solidFill>
                </a:rPr>
                <a:t>Si</a:t>
              </a:r>
              <a:endParaRPr lang="ru-RU" altLang="en-US">
                <a:solidFill>
                  <a:schemeClr val="bg1"/>
                </a:solidFill>
              </a:endParaRPr>
            </a:p>
          </p:txBody>
        </p:sp>
        <p:sp>
          <p:nvSpPr>
            <p:cNvPr id="49184" name="Oval 31">
              <a:extLst>
                <a:ext uri="{FF2B5EF4-FFF2-40B4-BE49-F238E27FC236}">
                  <a16:creationId xmlns:a16="http://schemas.microsoft.com/office/drawing/2014/main" id="{F4B62753-7F06-0536-8C43-C08BC12BF262}"/>
                </a:ext>
              </a:extLst>
            </p:cNvPr>
            <p:cNvSpPr>
              <a:spLocks noChangeArrowheads="1"/>
            </p:cNvSpPr>
            <p:nvPr/>
          </p:nvSpPr>
          <p:spPr bwMode="auto">
            <a:xfrm>
              <a:off x="3373438" y="2273300"/>
              <a:ext cx="727075" cy="706438"/>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a:solidFill>
                    <a:schemeClr val="bg1"/>
                  </a:solidFill>
                </a:rPr>
                <a:t>Sj</a:t>
              </a:r>
              <a:endParaRPr lang="ru-RU" altLang="en-US">
                <a:solidFill>
                  <a:schemeClr val="bg1"/>
                </a:solidFill>
              </a:endParaRPr>
            </a:p>
          </p:txBody>
        </p:sp>
      </p:grpSp>
      <p:sp>
        <p:nvSpPr>
          <p:cNvPr id="4" name="Title 3">
            <a:extLst>
              <a:ext uri="{FF2B5EF4-FFF2-40B4-BE49-F238E27FC236}">
                <a16:creationId xmlns:a16="http://schemas.microsoft.com/office/drawing/2014/main" id="{2965DEE7-598F-2CEB-4728-C53F5720E748}"/>
              </a:ext>
            </a:extLst>
          </p:cNvPr>
          <p:cNvSpPr>
            <a:spLocks noGrp="1"/>
          </p:cNvSpPr>
          <p:nvPr>
            <p:ph type="title"/>
          </p:nvPr>
        </p:nvSpPr>
        <p:spPr/>
        <p:txBody>
          <a:bodyPr>
            <a:normAutofit/>
          </a:bodyPr>
          <a:lstStyle/>
          <a:p>
            <a:r>
              <a:rPr lang="en-US" dirty="0"/>
              <a:t>Transformation of Mealy FSM to Moore FSM</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a:extLst>
              <a:ext uri="{FF2B5EF4-FFF2-40B4-BE49-F238E27FC236}">
                <a16:creationId xmlns:a16="http://schemas.microsoft.com/office/drawing/2014/main" id="{1C15770D-E166-0CCE-A206-EA3EC8081A2E}"/>
              </a:ext>
            </a:extLst>
          </p:cNvPr>
          <p:cNvSpPr>
            <a:spLocks noGrp="1" noChangeArrowheads="1"/>
          </p:cNvSpPr>
          <p:nvPr>
            <p:ph type="title"/>
          </p:nvPr>
        </p:nvSpPr>
        <p:spPr>
          <a:xfrm>
            <a:off x="-1" y="183402"/>
            <a:ext cx="11612880" cy="704088"/>
          </a:xfrm>
        </p:spPr>
        <p:txBody>
          <a:bodyPr>
            <a:normAutofit/>
          </a:bodyPr>
          <a:lstStyle/>
          <a:p>
            <a:r>
              <a:rPr lang="en-US" altLang="en-US" dirty="0"/>
              <a:t>Example</a:t>
            </a:r>
            <a:endParaRPr lang="ru-RU" altLang="en-US" dirty="0"/>
          </a:p>
        </p:txBody>
      </p:sp>
      <p:sp>
        <p:nvSpPr>
          <p:cNvPr id="4" name="Text Placeholder 3">
            <a:extLst>
              <a:ext uri="{FF2B5EF4-FFF2-40B4-BE49-F238E27FC236}">
                <a16:creationId xmlns:a16="http://schemas.microsoft.com/office/drawing/2014/main" id="{60629703-1089-3E38-1C8E-A381388AFF4B}"/>
              </a:ext>
            </a:extLst>
          </p:cNvPr>
          <p:cNvSpPr>
            <a:spLocks noGrp="1"/>
          </p:cNvSpPr>
          <p:nvPr>
            <p:ph type="body" sz="quarter" idx="10"/>
          </p:nvPr>
        </p:nvSpPr>
        <p:spPr/>
        <p:txBody>
          <a:bodyPr/>
          <a:lstStyle/>
          <a:p>
            <a:r>
              <a:rPr lang="en-US" dirty="0"/>
              <a:t>Transformation of Mealy FSM to Moore FSM</a:t>
            </a:r>
          </a:p>
          <a:p>
            <a:endParaRPr lang="en-US" dirty="0"/>
          </a:p>
          <a:p>
            <a:endParaRPr lang="en-US" dirty="0"/>
          </a:p>
        </p:txBody>
      </p:sp>
      <p:grpSp>
        <p:nvGrpSpPr>
          <p:cNvPr id="51203" name="Group 79">
            <a:extLst>
              <a:ext uri="{FF2B5EF4-FFF2-40B4-BE49-F238E27FC236}">
                <a16:creationId xmlns:a16="http://schemas.microsoft.com/office/drawing/2014/main" id="{29622E9C-69FC-DFC4-56C4-8CC3926338EC}"/>
              </a:ext>
            </a:extLst>
          </p:cNvPr>
          <p:cNvGrpSpPr>
            <a:grpSpLocks/>
          </p:cNvGrpSpPr>
          <p:nvPr/>
        </p:nvGrpSpPr>
        <p:grpSpPr bwMode="auto">
          <a:xfrm>
            <a:off x="1525183" y="2854453"/>
            <a:ext cx="3670300" cy="2767013"/>
            <a:chOff x="74" y="1313"/>
            <a:chExt cx="2312" cy="1743"/>
          </a:xfrm>
        </p:grpSpPr>
        <p:sp>
          <p:nvSpPr>
            <p:cNvPr id="85018" name="Text Box 26">
              <a:extLst>
                <a:ext uri="{FF2B5EF4-FFF2-40B4-BE49-F238E27FC236}">
                  <a16:creationId xmlns:a16="http://schemas.microsoft.com/office/drawing/2014/main" id="{D94659E3-6429-429E-9B1D-290A372F40DF}"/>
                </a:ext>
              </a:extLst>
            </p:cNvPr>
            <p:cNvSpPr txBox="1">
              <a:spLocks noChangeArrowheads="1"/>
            </p:cNvSpPr>
            <p:nvPr/>
          </p:nvSpPr>
          <p:spPr bwMode="auto">
            <a:xfrm>
              <a:off x="1588" y="2769"/>
              <a:ext cx="521" cy="287"/>
            </a:xfrm>
            <a:prstGeom prst="rect">
              <a:avLst/>
            </a:prstGeom>
            <a:noFill/>
            <a:ln>
              <a:noFill/>
            </a:ln>
          </p:spPr>
          <p:txBody>
            <a:bodyPr/>
            <a:lstStyle/>
            <a:p>
              <a:pPr eaLnBrk="1" hangingPunct="1">
                <a:defRPr/>
              </a:pPr>
              <a:r>
                <a:rPr lang="ru-RU" b="1">
                  <a:latin typeface="+mj-lt"/>
                  <a:cs typeface="Arial" charset="0"/>
                </a:rPr>
                <a:t>X</a:t>
              </a:r>
              <a:r>
                <a:rPr lang="en-US" b="1" baseline="-25000">
                  <a:latin typeface="+mj-lt"/>
                  <a:cs typeface="Arial" charset="0"/>
                </a:rPr>
                <a:t>1</a:t>
              </a:r>
              <a:r>
                <a:rPr lang="ru-RU" b="1">
                  <a:latin typeface="+mj-lt"/>
                  <a:cs typeface="Arial" charset="0"/>
                </a:rPr>
                <a:t>/Y</a:t>
              </a:r>
              <a:r>
                <a:rPr lang="en-US" b="1" baseline="-25000">
                  <a:latin typeface="+mj-lt"/>
                  <a:cs typeface="Arial" charset="0"/>
                </a:rPr>
                <a:t>2</a:t>
              </a:r>
              <a:endParaRPr lang="ru-RU" b="1">
                <a:latin typeface="+mj-lt"/>
                <a:cs typeface="Arial" charset="0"/>
              </a:endParaRPr>
            </a:p>
            <a:p>
              <a:pPr eaLnBrk="1" hangingPunct="1">
                <a:defRPr/>
              </a:pPr>
              <a:endParaRPr lang="ru-RU" b="1">
                <a:latin typeface="+mj-lt"/>
                <a:cs typeface="Arial" charset="0"/>
              </a:endParaRPr>
            </a:p>
            <a:p>
              <a:pPr eaLnBrk="1" hangingPunct="1">
                <a:defRPr/>
              </a:pPr>
              <a:endParaRPr lang="ru-RU" b="1">
                <a:effectLst>
                  <a:outerShdw blurRad="38100" dist="38100" dir="2700000" algn="tl">
                    <a:srgbClr val="C0C0C0"/>
                  </a:outerShdw>
                </a:effectLst>
                <a:latin typeface="+mj-lt"/>
                <a:cs typeface="Arial" charset="0"/>
              </a:endParaRPr>
            </a:p>
          </p:txBody>
        </p:sp>
        <p:grpSp>
          <p:nvGrpSpPr>
            <p:cNvPr id="51252" name="Group 78">
              <a:extLst>
                <a:ext uri="{FF2B5EF4-FFF2-40B4-BE49-F238E27FC236}">
                  <a16:creationId xmlns:a16="http://schemas.microsoft.com/office/drawing/2014/main" id="{63BB87AF-182B-2D06-B347-7012CD0B4ECA}"/>
                </a:ext>
              </a:extLst>
            </p:cNvPr>
            <p:cNvGrpSpPr>
              <a:grpSpLocks/>
            </p:cNvGrpSpPr>
            <p:nvPr/>
          </p:nvGrpSpPr>
          <p:grpSpPr bwMode="auto">
            <a:xfrm>
              <a:off x="74" y="1313"/>
              <a:ext cx="2312" cy="1683"/>
              <a:chOff x="119" y="1313"/>
              <a:chExt cx="2312" cy="1683"/>
            </a:xfrm>
          </p:grpSpPr>
          <p:sp>
            <p:nvSpPr>
              <p:cNvPr id="84999" name="Oval 7">
                <a:extLst>
                  <a:ext uri="{FF2B5EF4-FFF2-40B4-BE49-F238E27FC236}">
                    <a16:creationId xmlns:a16="http://schemas.microsoft.com/office/drawing/2014/main" id="{CE92F485-5B5D-463D-B2D7-1AC3D357A8C0}"/>
                  </a:ext>
                </a:extLst>
              </p:cNvPr>
              <p:cNvSpPr>
                <a:spLocks noChangeArrowheads="1"/>
              </p:cNvSpPr>
              <p:nvPr/>
            </p:nvSpPr>
            <p:spPr bwMode="auto">
              <a:xfrm>
                <a:off x="247" y="1948"/>
                <a:ext cx="405" cy="390"/>
              </a:xfrm>
              <a:prstGeom prst="ellipse">
                <a:avLst/>
              </a:prstGeom>
              <a:solidFill>
                <a:schemeClr val="accent1">
                  <a:lumMod val="20000"/>
                  <a:lumOff val="80000"/>
                </a:schemeClr>
              </a:solidFill>
              <a:ln w="25400">
                <a:solidFill>
                  <a:srgbClr val="000000"/>
                </a:solidFill>
                <a:round/>
                <a:headEnd/>
                <a:tailEnd/>
              </a:ln>
            </p:spPr>
            <p:txBody>
              <a:bodyPr/>
              <a:lstStyle/>
              <a:p>
                <a:pPr eaLnBrk="1" hangingPunct="1">
                  <a:defRPr/>
                </a:pPr>
                <a:r>
                  <a:rPr lang="ru-RU" b="1">
                    <a:latin typeface="+mj-lt"/>
                    <a:cs typeface="Arial" charset="0"/>
                  </a:rPr>
                  <a:t>S</a:t>
                </a:r>
                <a:r>
                  <a:rPr lang="ru-RU" b="1" baseline="-25000">
                    <a:latin typeface="+mj-lt"/>
                    <a:cs typeface="Arial" charset="0"/>
                  </a:rPr>
                  <a:t>0</a:t>
                </a:r>
              </a:p>
              <a:p>
                <a:pPr eaLnBrk="1" hangingPunct="1">
                  <a:defRPr/>
                </a:pPr>
                <a:endParaRPr lang="ru-RU" b="1">
                  <a:effectLst>
                    <a:outerShdw blurRad="38100" dist="38100" dir="2700000" algn="tl">
                      <a:srgbClr val="FFFFFF"/>
                    </a:outerShdw>
                  </a:effectLst>
                  <a:latin typeface="+mj-lt"/>
                  <a:cs typeface="Arial" charset="0"/>
                </a:endParaRPr>
              </a:p>
            </p:txBody>
          </p:sp>
          <p:sp>
            <p:nvSpPr>
              <p:cNvPr id="85000" name="Oval 8">
                <a:extLst>
                  <a:ext uri="{FF2B5EF4-FFF2-40B4-BE49-F238E27FC236}">
                    <a16:creationId xmlns:a16="http://schemas.microsoft.com/office/drawing/2014/main" id="{AE283725-5663-409C-A996-9F52F429D58E}"/>
                  </a:ext>
                </a:extLst>
              </p:cNvPr>
              <p:cNvSpPr>
                <a:spLocks noChangeArrowheads="1"/>
              </p:cNvSpPr>
              <p:nvPr/>
            </p:nvSpPr>
            <p:spPr bwMode="auto">
              <a:xfrm>
                <a:off x="966" y="1450"/>
                <a:ext cx="405" cy="389"/>
              </a:xfrm>
              <a:prstGeom prst="ellipse">
                <a:avLst/>
              </a:prstGeom>
              <a:solidFill>
                <a:schemeClr val="accent1">
                  <a:lumMod val="20000"/>
                  <a:lumOff val="80000"/>
                </a:schemeClr>
              </a:solidFill>
              <a:ln w="25400">
                <a:solidFill>
                  <a:srgbClr val="000000"/>
                </a:solidFill>
                <a:round/>
                <a:headEnd/>
                <a:tailEnd/>
              </a:ln>
            </p:spPr>
            <p:txBody>
              <a:bodyPr/>
              <a:lstStyle/>
              <a:p>
                <a:pPr eaLnBrk="1" hangingPunct="1">
                  <a:defRPr/>
                </a:pPr>
                <a:r>
                  <a:rPr lang="ru-RU" b="1">
                    <a:latin typeface="+mj-lt"/>
                    <a:cs typeface="Arial" charset="0"/>
                  </a:rPr>
                  <a:t>S</a:t>
                </a:r>
                <a:r>
                  <a:rPr lang="ru-RU" b="1" baseline="-25000">
                    <a:latin typeface="+mj-lt"/>
                    <a:cs typeface="Arial" charset="0"/>
                  </a:rPr>
                  <a:t>1</a:t>
                </a:r>
              </a:p>
              <a:p>
                <a:pPr eaLnBrk="1" hangingPunct="1">
                  <a:defRPr/>
                </a:pPr>
                <a:endParaRPr lang="ru-RU" b="1">
                  <a:latin typeface="+mj-lt"/>
                  <a:cs typeface="Arial" charset="0"/>
                </a:endParaRPr>
              </a:p>
              <a:p>
                <a:pPr eaLnBrk="1" hangingPunct="1">
                  <a:defRPr/>
                </a:pPr>
                <a:endParaRPr lang="ru-RU" b="1">
                  <a:effectLst>
                    <a:outerShdw blurRad="38100" dist="38100" dir="2700000" algn="tl">
                      <a:srgbClr val="FFFFFF"/>
                    </a:outerShdw>
                  </a:effectLst>
                  <a:latin typeface="+mj-lt"/>
                  <a:cs typeface="Arial" charset="0"/>
                </a:endParaRPr>
              </a:p>
            </p:txBody>
          </p:sp>
          <p:sp>
            <p:nvSpPr>
              <p:cNvPr id="85001" name="Oval 9">
                <a:extLst>
                  <a:ext uri="{FF2B5EF4-FFF2-40B4-BE49-F238E27FC236}">
                    <a16:creationId xmlns:a16="http://schemas.microsoft.com/office/drawing/2014/main" id="{EA2C55BF-A7A6-4CCB-AA9A-499161FC2F69}"/>
                  </a:ext>
                </a:extLst>
              </p:cNvPr>
              <p:cNvSpPr>
                <a:spLocks noChangeArrowheads="1"/>
              </p:cNvSpPr>
              <p:nvPr/>
            </p:nvSpPr>
            <p:spPr bwMode="auto">
              <a:xfrm>
                <a:off x="2025" y="1839"/>
                <a:ext cx="406" cy="389"/>
              </a:xfrm>
              <a:prstGeom prst="ellipse">
                <a:avLst/>
              </a:prstGeom>
              <a:solidFill>
                <a:schemeClr val="accent1">
                  <a:lumMod val="20000"/>
                  <a:lumOff val="80000"/>
                </a:schemeClr>
              </a:solidFill>
              <a:ln w="25400">
                <a:solidFill>
                  <a:srgbClr val="000000"/>
                </a:solidFill>
                <a:round/>
                <a:headEnd/>
                <a:tailEnd/>
              </a:ln>
            </p:spPr>
            <p:txBody>
              <a:bodyPr/>
              <a:lstStyle/>
              <a:p>
                <a:pPr eaLnBrk="1" hangingPunct="1">
                  <a:defRPr/>
                </a:pPr>
                <a:r>
                  <a:rPr lang="ru-RU" b="1">
                    <a:latin typeface="+mj-lt"/>
                    <a:cs typeface="Arial" charset="0"/>
                  </a:rPr>
                  <a:t>S</a:t>
                </a:r>
                <a:r>
                  <a:rPr lang="ru-RU" b="1" baseline="-25000">
                    <a:latin typeface="+mj-lt"/>
                    <a:cs typeface="Arial" charset="0"/>
                  </a:rPr>
                  <a:t>2</a:t>
                </a:r>
              </a:p>
              <a:p>
                <a:pPr eaLnBrk="1" hangingPunct="1">
                  <a:defRPr/>
                </a:pPr>
                <a:endParaRPr lang="ru-RU" b="1">
                  <a:effectLst>
                    <a:outerShdw blurRad="38100" dist="38100" dir="2700000" algn="tl">
                      <a:srgbClr val="FFFFFF"/>
                    </a:outerShdw>
                  </a:effectLst>
                  <a:latin typeface="+mj-lt"/>
                  <a:cs typeface="Arial" charset="0"/>
                </a:endParaRPr>
              </a:p>
            </p:txBody>
          </p:sp>
          <p:sp>
            <p:nvSpPr>
              <p:cNvPr id="85002" name="Oval 10">
                <a:extLst>
                  <a:ext uri="{FF2B5EF4-FFF2-40B4-BE49-F238E27FC236}">
                    <a16:creationId xmlns:a16="http://schemas.microsoft.com/office/drawing/2014/main" id="{4BE1838E-8439-4A7C-BECE-FB1D261296DC}"/>
                  </a:ext>
                </a:extLst>
              </p:cNvPr>
              <p:cNvSpPr>
                <a:spLocks noChangeArrowheads="1"/>
              </p:cNvSpPr>
              <p:nvPr/>
            </p:nvSpPr>
            <p:spPr bwMode="auto">
              <a:xfrm>
                <a:off x="1026" y="2606"/>
                <a:ext cx="406" cy="390"/>
              </a:xfrm>
              <a:prstGeom prst="ellipse">
                <a:avLst/>
              </a:prstGeom>
              <a:solidFill>
                <a:schemeClr val="accent1">
                  <a:lumMod val="20000"/>
                  <a:lumOff val="80000"/>
                </a:schemeClr>
              </a:solidFill>
              <a:ln w="25400">
                <a:solidFill>
                  <a:srgbClr val="000000"/>
                </a:solidFill>
                <a:round/>
                <a:headEnd/>
                <a:tailEnd/>
              </a:ln>
            </p:spPr>
            <p:txBody>
              <a:bodyPr/>
              <a:lstStyle/>
              <a:p>
                <a:pPr eaLnBrk="1" hangingPunct="1">
                  <a:defRPr/>
                </a:pPr>
                <a:r>
                  <a:rPr lang="ru-RU" b="1">
                    <a:latin typeface="+mj-lt"/>
                    <a:cs typeface="Arial" charset="0"/>
                  </a:rPr>
                  <a:t>S</a:t>
                </a:r>
                <a:r>
                  <a:rPr lang="ru-RU" b="1" baseline="-25000">
                    <a:latin typeface="+mj-lt"/>
                    <a:cs typeface="Arial" charset="0"/>
                  </a:rPr>
                  <a:t>3</a:t>
                </a:r>
                <a:endParaRPr lang="ru-RU" b="1">
                  <a:latin typeface="+mj-lt"/>
                  <a:cs typeface="Arial" charset="0"/>
                </a:endParaRPr>
              </a:p>
              <a:p>
                <a:pPr eaLnBrk="1" hangingPunct="1">
                  <a:defRPr/>
                </a:pPr>
                <a:endParaRPr lang="ru-RU" b="1">
                  <a:effectLst>
                    <a:outerShdw blurRad="38100" dist="38100" dir="2700000" algn="tl">
                      <a:srgbClr val="FFFFFF"/>
                    </a:outerShdw>
                  </a:effectLst>
                  <a:latin typeface="+mj-lt"/>
                  <a:cs typeface="Arial" charset="0"/>
                </a:endParaRPr>
              </a:p>
            </p:txBody>
          </p:sp>
          <p:sp>
            <p:nvSpPr>
              <p:cNvPr id="85003" name="Line 11">
                <a:extLst>
                  <a:ext uri="{FF2B5EF4-FFF2-40B4-BE49-F238E27FC236}">
                    <a16:creationId xmlns:a16="http://schemas.microsoft.com/office/drawing/2014/main" id="{999EA49E-8E75-4F1A-8DD2-0871EA94EFDA}"/>
                  </a:ext>
                </a:extLst>
              </p:cNvPr>
              <p:cNvSpPr>
                <a:spLocks noChangeShapeType="1"/>
              </p:cNvSpPr>
              <p:nvPr/>
            </p:nvSpPr>
            <p:spPr bwMode="auto">
              <a:xfrm flipV="1">
                <a:off x="633" y="1781"/>
                <a:ext cx="415" cy="291"/>
              </a:xfrm>
              <a:prstGeom prst="line">
                <a:avLst/>
              </a:prstGeom>
              <a:noFill/>
              <a:ln w="25400">
                <a:solidFill>
                  <a:srgbClr val="000000"/>
                </a:solidFill>
                <a:round/>
                <a:headEnd/>
                <a:tailEnd type="triangle" w="lg" len="lg"/>
              </a:ln>
            </p:spPr>
            <p:txBody>
              <a:bodyPr/>
              <a:lstStyle/>
              <a:p>
                <a:pPr eaLnBrk="1" hangingPunct="1">
                  <a:defRPr/>
                </a:pPr>
                <a:endParaRPr lang="ru-RU">
                  <a:latin typeface="+mj-lt"/>
                  <a:cs typeface="Arial" charset="0"/>
                </a:endParaRPr>
              </a:p>
            </p:txBody>
          </p:sp>
          <p:sp>
            <p:nvSpPr>
              <p:cNvPr id="85004" name="Line 12">
                <a:extLst>
                  <a:ext uri="{FF2B5EF4-FFF2-40B4-BE49-F238E27FC236}">
                    <a16:creationId xmlns:a16="http://schemas.microsoft.com/office/drawing/2014/main" id="{31ADBB10-F80D-4384-AE42-8EC2A9373BDC}"/>
                  </a:ext>
                </a:extLst>
              </p:cNvPr>
              <p:cNvSpPr>
                <a:spLocks noChangeShapeType="1"/>
              </p:cNvSpPr>
              <p:nvPr/>
            </p:nvSpPr>
            <p:spPr bwMode="auto">
              <a:xfrm>
                <a:off x="1355" y="1659"/>
                <a:ext cx="729" cy="253"/>
              </a:xfrm>
              <a:prstGeom prst="line">
                <a:avLst/>
              </a:prstGeom>
              <a:noFill/>
              <a:ln w="25400">
                <a:solidFill>
                  <a:srgbClr val="000000"/>
                </a:solidFill>
                <a:round/>
                <a:headEnd/>
                <a:tailEnd type="triangle" w="lg" len="lg"/>
              </a:ln>
            </p:spPr>
            <p:txBody>
              <a:bodyPr/>
              <a:lstStyle/>
              <a:p>
                <a:pPr eaLnBrk="1" hangingPunct="1">
                  <a:defRPr/>
                </a:pPr>
                <a:endParaRPr lang="ru-RU">
                  <a:latin typeface="+mj-lt"/>
                  <a:cs typeface="Arial" charset="0"/>
                </a:endParaRPr>
              </a:p>
            </p:txBody>
          </p:sp>
          <p:sp>
            <p:nvSpPr>
              <p:cNvPr id="85005" name="Arc 13">
                <a:extLst>
                  <a:ext uri="{FF2B5EF4-FFF2-40B4-BE49-F238E27FC236}">
                    <a16:creationId xmlns:a16="http://schemas.microsoft.com/office/drawing/2014/main" id="{126DE97A-59EA-4B64-A06A-9EA74D7F0EAA}"/>
                  </a:ext>
                </a:extLst>
              </p:cNvPr>
              <p:cNvSpPr>
                <a:spLocks/>
              </p:cNvSpPr>
              <p:nvPr/>
            </p:nvSpPr>
            <p:spPr bwMode="auto">
              <a:xfrm flipH="1" flipV="1">
                <a:off x="1192" y="1840"/>
                <a:ext cx="991" cy="265"/>
              </a:xfrm>
              <a:custGeom>
                <a:avLst/>
                <a:gdLst>
                  <a:gd name="G0" fmla="+- 0 0 0"/>
                  <a:gd name="G1" fmla="+- 21281 0 0"/>
                  <a:gd name="G2" fmla="+- 21600 0 0"/>
                  <a:gd name="T0" fmla="*/ 3700 w 21600"/>
                  <a:gd name="T1" fmla="*/ 0 h 21281"/>
                  <a:gd name="T2" fmla="*/ 21600 w 21600"/>
                  <a:gd name="T3" fmla="*/ 21281 h 21281"/>
                  <a:gd name="T4" fmla="*/ 0 w 21600"/>
                  <a:gd name="T5" fmla="*/ 21281 h 21281"/>
                </a:gdLst>
                <a:ahLst/>
                <a:cxnLst>
                  <a:cxn ang="0">
                    <a:pos x="T0" y="T1"/>
                  </a:cxn>
                  <a:cxn ang="0">
                    <a:pos x="T2" y="T3"/>
                  </a:cxn>
                  <a:cxn ang="0">
                    <a:pos x="T4" y="T5"/>
                  </a:cxn>
                </a:cxnLst>
                <a:rect l="0" t="0" r="r" b="b"/>
                <a:pathLst>
                  <a:path w="21600" h="21281" fill="none" extrusionOk="0">
                    <a:moveTo>
                      <a:pt x="3699" y="0"/>
                    </a:moveTo>
                    <a:cubicBezTo>
                      <a:pt x="14046" y="1799"/>
                      <a:pt x="21600" y="10779"/>
                      <a:pt x="21600" y="21281"/>
                    </a:cubicBezTo>
                  </a:path>
                  <a:path w="21600" h="21281" stroke="0" extrusionOk="0">
                    <a:moveTo>
                      <a:pt x="3699" y="0"/>
                    </a:moveTo>
                    <a:cubicBezTo>
                      <a:pt x="14046" y="1799"/>
                      <a:pt x="21600" y="10779"/>
                      <a:pt x="21600" y="21281"/>
                    </a:cubicBezTo>
                    <a:lnTo>
                      <a:pt x="0" y="21281"/>
                    </a:lnTo>
                    <a:close/>
                  </a:path>
                </a:pathLst>
              </a:custGeom>
              <a:noFill/>
              <a:ln w="25400">
                <a:solidFill>
                  <a:srgbClr val="000000"/>
                </a:solidFill>
                <a:round/>
                <a:headEnd/>
                <a:tailEnd type="triangle" w="lg" len="lg"/>
              </a:ln>
            </p:spPr>
            <p:txBody>
              <a:bodyPr/>
              <a:lstStyle/>
              <a:p>
                <a:pPr eaLnBrk="1" hangingPunct="1">
                  <a:defRPr/>
                </a:pPr>
                <a:endParaRPr lang="ru-RU">
                  <a:latin typeface="+mj-lt"/>
                  <a:cs typeface="Arial" charset="0"/>
                </a:endParaRPr>
              </a:p>
            </p:txBody>
          </p:sp>
          <p:sp>
            <p:nvSpPr>
              <p:cNvPr id="85006" name="Line 14">
                <a:extLst>
                  <a:ext uri="{FF2B5EF4-FFF2-40B4-BE49-F238E27FC236}">
                    <a16:creationId xmlns:a16="http://schemas.microsoft.com/office/drawing/2014/main" id="{549712B0-F705-4A75-9513-491B55C6C612}"/>
                  </a:ext>
                </a:extLst>
              </p:cNvPr>
              <p:cNvSpPr>
                <a:spLocks noChangeShapeType="1"/>
              </p:cNvSpPr>
              <p:nvPr/>
            </p:nvSpPr>
            <p:spPr bwMode="auto">
              <a:xfrm flipH="1">
                <a:off x="1413" y="2197"/>
                <a:ext cx="702" cy="534"/>
              </a:xfrm>
              <a:prstGeom prst="line">
                <a:avLst/>
              </a:prstGeom>
              <a:noFill/>
              <a:ln w="25400">
                <a:solidFill>
                  <a:srgbClr val="000000"/>
                </a:solidFill>
                <a:round/>
                <a:headEnd/>
                <a:tailEnd type="triangle" w="med" len="med"/>
              </a:ln>
            </p:spPr>
            <p:txBody>
              <a:bodyPr/>
              <a:lstStyle/>
              <a:p>
                <a:pPr eaLnBrk="1" hangingPunct="1">
                  <a:defRPr/>
                </a:pPr>
                <a:endParaRPr lang="ru-RU">
                  <a:latin typeface="+mj-lt"/>
                  <a:cs typeface="Arial" charset="0"/>
                </a:endParaRPr>
              </a:p>
            </p:txBody>
          </p:sp>
          <p:sp>
            <p:nvSpPr>
              <p:cNvPr id="85007" name="Arc 15">
                <a:extLst>
                  <a:ext uri="{FF2B5EF4-FFF2-40B4-BE49-F238E27FC236}">
                    <a16:creationId xmlns:a16="http://schemas.microsoft.com/office/drawing/2014/main" id="{AFCE00B7-E0FC-4723-BEC3-5AC0535A7301}"/>
                  </a:ext>
                </a:extLst>
              </p:cNvPr>
              <p:cNvSpPr>
                <a:spLocks/>
              </p:cNvSpPr>
              <p:nvPr/>
            </p:nvSpPr>
            <p:spPr bwMode="auto">
              <a:xfrm flipV="1">
                <a:off x="1413" y="2191"/>
                <a:ext cx="915"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round/>
                <a:headEnd/>
                <a:tailEnd type="triangle" w="med" len="med"/>
              </a:ln>
            </p:spPr>
            <p:txBody>
              <a:bodyPr/>
              <a:lstStyle/>
              <a:p>
                <a:pPr eaLnBrk="1" hangingPunct="1">
                  <a:defRPr/>
                </a:pPr>
                <a:endParaRPr lang="ru-RU">
                  <a:latin typeface="+mj-lt"/>
                  <a:cs typeface="Arial" charset="0"/>
                </a:endParaRPr>
              </a:p>
            </p:txBody>
          </p:sp>
          <p:sp>
            <p:nvSpPr>
              <p:cNvPr id="85008" name="Arc 16">
                <a:extLst>
                  <a:ext uri="{FF2B5EF4-FFF2-40B4-BE49-F238E27FC236}">
                    <a16:creationId xmlns:a16="http://schemas.microsoft.com/office/drawing/2014/main" id="{0C7684B3-7446-4E88-85B8-39C4DA09E7EC}"/>
                  </a:ext>
                </a:extLst>
              </p:cNvPr>
              <p:cNvSpPr>
                <a:spLocks/>
              </p:cNvSpPr>
              <p:nvPr/>
            </p:nvSpPr>
            <p:spPr bwMode="auto">
              <a:xfrm>
                <a:off x="1309" y="1486"/>
                <a:ext cx="979" cy="400"/>
              </a:xfrm>
              <a:custGeom>
                <a:avLst/>
                <a:gdLst>
                  <a:gd name="G0" fmla="+- 0 0 0"/>
                  <a:gd name="G1" fmla="+- 21600 0 0"/>
                  <a:gd name="G2" fmla="+- 21600 0 0"/>
                  <a:gd name="T0" fmla="*/ 1 w 21579"/>
                  <a:gd name="T1" fmla="*/ 0 h 21600"/>
                  <a:gd name="T2" fmla="*/ 21579 w 21579"/>
                  <a:gd name="T3" fmla="*/ 20641 h 21600"/>
                  <a:gd name="T4" fmla="*/ 0 w 21579"/>
                  <a:gd name="T5" fmla="*/ 21600 h 21600"/>
                </a:gdLst>
                <a:ahLst/>
                <a:cxnLst>
                  <a:cxn ang="0">
                    <a:pos x="T0" y="T1"/>
                  </a:cxn>
                  <a:cxn ang="0">
                    <a:pos x="T2" y="T3"/>
                  </a:cxn>
                  <a:cxn ang="0">
                    <a:pos x="T4" y="T5"/>
                  </a:cxn>
                </a:cxnLst>
                <a:rect l="0" t="0" r="r" b="b"/>
                <a:pathLst>
                  <a:path w="21579" h="21600" fill="none" extrusionOk="0">
                    <a:moveTo>
                      <a:pt x="0" y="0"/>
                    </a:moveTo>
                    <a:cubicBezTo>
                      <a:pt x="11557" y="0"/>
                      <a:pt x="21065" y="9096"/>
                      <a:pt x="21578" y="20641"/>
                    </a:cubicBezTo>
                  </a:path>
                  <a:path w="21579" h="21600" stroke="0" extrusionOk="0">
                    <a:moveTo>
                      <a:pt x="0" y="0"/>
                    </a:moveTo>
                    <a:cubicBezTo>
                      <a:pt x="11557" y="0"/>
                      <a:pt x="21065" y="9096"/>
                      <a:pt x="21578" y="20641"/>
                    </a:cubicBezTo>
                    <a:lnTo>
                      <a:pt x="0" y="21600"/>
                    </a:lnTo>
                    <a:close/>
                  </a:path>
                </a:pathLst>
              </a:custGeom>
              <a:noFill/>
              <a:ln w="25400">
                <a:solidFill>
                  <a:srgbClr val="000000"/>
                </a:solidFill>
                <a:round/>
                <a:headEnd/>
                <a:tailEnd type="triangle" w="lg" len="lg"/>
              </a:ln>
            </p:spPr>
            <p:txBody>
              <a:bodyPr/>
              <a:lstStyle/>
              <a:p>
                <a:pPr eaLnBrk="1" hangingPunct="1">
                  <a:defRPr/>
                </a:pPr>
                <a:endParaRPr lang="ru-RU">
                  <a:latin typeface="+mj-lt"/>
                  <a:cs typeface="Arial" charset="0"/>
                </a:endParaRPr>
              </a:p>
            </p:txBody>
          </p:sp>
          <p:sp>
            <p:nvSpPr>
              <p:cNvPr id="85009" name="Arc 17">
                <a:extLst>
                  <a:ext uri="{FF2B5EF4-FFF2-40B4-BE49-F238E27FC236}">
                    <a16:creationId xmlns:a16="http://schemas.microsoft.com/office/drawing/2014/main" id="{DA9AC989-942B-48C5-87E9-DBE3360E2296}"/>
                  </a:ext>
                </a:extLst>
              </p:cNvPr>
              <p:cNvSpPr>
                <a:spLocks/>
              </p:cNvSpPr>
              <p:nvPr/>
            </p:nvSpPr>
            <p:spPr bwMode="auto">
              <a:xfrm rot="794810" flipH="1" flipV="1">
                <a:off x="398" y="2144"/>
                <a:ext cx="709" cy="605"/>
              </a:xfrm>
              <a:custGeom>
                <a:avLst/>
                <a:gdLst>
                  <a:gd name="G0" fmla="+- 0 0 0"/>
                  <a:gd name="G1" fmla="+- 21600 0 0"/>
                  <a:gd name="G2" fmla="+- 21600 0 0"/>
                  <a:gd name="T0" fmla="*/ 0 w 19605"/>
                  <a:gd name="T1" fmla="*/ 0 h 21600"/>
                  <a:gd name="T2" fmla="*/ 19605 w 19605"/>
                  <a:gd name="T3" fmla="*/ 12532 h 21600"/>
                  <a:gd name="T4" fmla="*/ 0 w 19605"/>
                  <a:gd name="T5" fmla="*/ 21600 h 21600"/>
                </a:gdLst>
                <a:ahLst/>
                <a:cxnLst>
                  <a:cxn ang="0">
                    <a:pos x="T0" y="T1"/>
                  </a:cxn>
                  <a:cxn ang="0">
                    <a:pos x="T2" y="T3"/>
                  </a:cxn>
                  <a:cxn ang="0">
                    <a:pos x="T4" y="T5"/>
                  </a:cxn>
                </a:cxnLst>
                <a:rect l="0" t="0" r="r" b="b"/>
                <a:pathLst>
                  <a:path w="19605" h="21600" fill="none" extrusionOk="0">
                    <a:moveTo>
                      <a:pt x="-1" y="0"/>
                    </a:moveTo>
                    <a:cubicBezTo>
                      <a:pt x="8418" y="0"/>
                      <a:pt x="16070" y="4891"/>
                      <a:pt x="19604" y="12532"/>
                    </a:cubicBezTo>
                  </a:path>
                  <a:path w="19605" h="21600" stroke="0" extrusionOk="0">
                    <a:moveTo>
                      <a:pt x="-1" y="0"/>
                    </a:moveTo>
                    <a:cubicBezTo>
                      <a:pt x="8418" y="0"/>
                      <a:pt x="16070" y="4891"/>
                      <a:pt x="19604" y="12532"/>
                    </a:cubicBezTo>
                    <a:lnTo>
                      <a:pt x="0" y="21600"/>
                    </a:lnTo>
                    <a:close/>
                  </a:path>
                </a:pathLst>
              </a:custGeom>
              <a:noFill/>
              <a:ln w="25400">
                <a:solidFill>
                  <a:srgbClr val="000000"/>
                </a:solidFill>
                <a:round/>
                <a:headEnd/>
                <a:tailEnd type="triangle" w="med" len="med"/>
              </a:ln>
            </p:spPr>
            <p:txBody>
              <a:bodyPr/>
              <a:lstStyle/>
              <a:p>
                <a:pPr eaLnBrk="1" hangingPunct="1">
                  <a:defRPr/>
                </a:pPr>
                <a:endParaRPr lang="ru-RU">
                  <a:latin typeface="+mj-lt"/>
                  <a:cs typeface="Arial" charset="0"/>
                </a:endParaRPr>
              </a:p>
            </p:txBody>
          </p:sp>
          <p:sp>
            <p:nvSpPr>
              <p:cNvPr id="85010" name="Text Box 18">
                <a:extLst>
                  <a:ext uri="{FF2B5EF4-FFF2-40B4-BE49-F238E27FC236}">
                    <a16:creationId xmlns:a16="http://schemas.microsoft.com/office/drawing/2014/main" id="{B300989C-9DEB-4D97-945D-EC84D98B8F5B}"/>
                  </a:ext>
                </a:extLst>
              </p:cNvPr>
              <p:cNvSpPr txBox="1">
                <a:spLocks noChangeArrowheads="1"/>
              </p:cNvSpPr>
              <p:nvPr/>
            </p:nvSpPr>
            <p:spPr bwMode="auto">
              <a:xfrm>
                <a:off x="119" y="1474"/>
                <a:ext cx="677" cy="371"/>
              </a:xfrm>
              <a:prstGeom prst="rect">
                <a:avLst/>
              </a:prstGeom>
              <a:noFill/>
              <a:ln>
                <a:noFill/>
              </a:ln>
            </p:spPr>
            <p:txBody>
              <a:bodyPr/>
              <a:lstStyle/>
              <a:p>
                <a:pPr eaLnBrk="1" hangingPunct="1">
                  <a:defRPr/>
                </a:pPr>
                <a:r>
                  <a:rPr lang="ru-RU" b="1">
                    <a:latin typeface="+mj-lt"/>
                    <a:cs typeface="Arial" charset="0"/>
                  </a:rPr>
                  <a:t>X</a:t>
                </a:r>
                <a:r>
                  <a:rPr lang="ru-RU" b="1" baseline="-25000">
                    <a:latin typeface="+mj-lt"/>
                    <a:cs typeface="Arial" charset="0"/>
                  </a:rPr>
                  <a:t>1</a:t>
                </a:r>
                <a:r>
                  <a:rPr lang="ru-RU" b="1">
                    <a:latin typeface="+mj-lt"/>
                    <a:cs typeface="Arial" charset="0"/>
                  </a:rPr>
                  <a:t>/Y</a:t>
                </a:r>
                <a:r>
                  <a:rPr lang="ru-RU" b="1" baseline="-25000">
                    <a:latin typeface="+mj-lt"/>
                    <a:cs typeface="Arial" charset="0"/>
                  </a:rPr>
                  <a:t>1</a:t>
                </a:r>
              </a:p>
              <a:p>
                <a:pPr eaLnBrk="1" hangingPunct="1">
                  <a:defRPr/>
                </a:pPr>
                <a:endParaRPr lang="ru-RU" b="1">
                  <a:effectLst>
                    <a:outerShdw blurRad="38100" dist="38100" dir="2700000" algn="tl">
                      <a:srgbClr val="C0C0C0"/>
                    </a:outerShdw>
                  </a:effectLst>
                  <a:latin typeface="+mj-lt"/>
                  <a:cs typeface="Arial" charset="0"/>
                </a:endParaRPr>
              </a:p>
            </p:txBody>
          </p:sp>
          <p:sp>
            <p:nvSpPr>
              <p:cNvPr id="85011" name="Text Box 19">
                <a:extLst>
                  <a:ext uri="{FF2B5EF4-FFF2-40B4-BE49-F238E27FC236}">
                    <a16:creationId xmlns:a16="http://schemas.microsoft.com/office/drawing/2014/main" id="{838B00E0-F1C2-4312-B77D-607533CDCA1C}"/>
                  </a:ext>
                </a:extLst>
              </p:cNvPr>
              <p:cNvSpPr txBox="1">
                <a:spLocks noChangeArrowheads="1"/>
              </p:cNvSpPr>
              <p:nvPr/>
            </p:nvSpPr>
            <p:spPr bwMode="auto">
              <a:xfrm>
                <a:off x="749" y="1907"/>
                <a:ext cx="540" cy="300"/>
              </a:xfrm>
              <a:prstGeom prst="rect">
                <a:avLst/>
              </a:prstGeom>
              <a:noFill/>
              <a:ln>
                <a:noFill/>
              </a:ln>
            </p:spPr>
            <p:txBody>
              <a:bodyPr/>
              <a:lstStyle/>
              <a:p>
                <a:pPr eaLnBrk="1" hangingPunct="1">
                  <a:defRPr/>
                </a:pPr>
                <a:r>
                  <a:rPr lang="ru-RU" b="1">
                    <a:latin typeface="+mj-lt"/>
                    <a:cs typeface="Arial" charset="0"/>
                  </a:rPr>
                  <a:t>X</a:t>
                </a:r>
                <a:r>
                  <a:rPr lang="ru-RU" b="1" baseline="-25000">
                    <a:latin typeface="+mj-lt"/>
                    <a:cs typeface="Arial" charset="0"/>
                  </a:rPr>
                  <a:t>2</a:t>
                </a:r>
                <a:r>
                  <a:rPr lang="ru-RU" b="1">
                    <a:latin typeface="+mj-lt"/>
                    <a:cs typeface="Arial" charset="0"/>
                  </a:rPr>
                  <a:t>/Y</a:t>
                </a:r>
                <a:r>
                  <a:rPr lang="ru-RU" b="1" baseline="-25000">
                    <a:latin typeface="+mj-lt"/>
                    <a:cs typeface="Arial" charset="0"/>
                  </a:rPr>
                  <a:t>2</a:t>
                </a:r>
              </a:p>
              <a:p>
                <a:pPr eaLnBrk="1" hangingPunct="1">
                  <a:defRPr/>
                </a:pPr>
                <a:endParaRPr lang="ru-RU" b="1">
                  <a:effectLst>
                    <a:outerShdw blurRad="38100" dist="38100" dir="2700000" algn="tl">
                      <a:srgbClr val="C0C0C0"/>
                    </a:outerShdw>
                  </a:effectLst>
                  <a:latin typeface="+mj-lt"/>
                  <a:cs typeface="Arial" charset="0"/>
                </a:endParaRPr>
              </a:p>
            </p:txBody>
          </p:sp>
          <p:sp>
            <p:nvSpPr>
              <p:cNvPr id="85013" name="Text Box 21">
                <a:extLst>
                  <a:ext uri="{FF2B5EF4-FFF2-40B4-BE49-F238E27FC236}">
                    <a16:creationId xmlns:a16="http://schemas.microsoft.com/office/drawing/2014/main" id="{9A3B93A9-E97E-4DEF-9075-0FA503C1BB43}"/>
                  </a:ext>
                </a:extLst>
              </p:cNvPr>
              <p:cNvSpPr txBox="1">
                <a:spLocks noChangeArrowheads="1"/>
              </p:cNvSpPr>
              <p:nvPr/>
            </p:nvSpPr>
            <p:spPr bwMode="auto">
              <a:xfrm>
                <a:off x="668" y="2449"/>
                <a:ext cx="633" cy="269"/>
              </a:xfrm>
              <a:prstGeom prst="rect">
                <a:avLst/>
              </a:prstGeom>
              <a:noFill/>
              <a:ln>
                <a:noFill/>
              </a:ln>
            </p:spPr>
            <p:txBody>
              <a:bodyPr/>
              <a:lstStyle/>
              <a:p>
                <a:pPr eaLnBrk="1" hangingPunct="1">
                  <a:defRPr/>
                </a:pPr>
                <a:r>
                  <a:rPr lang="ru-RU" b="1">
                    <a:latin typeface="+mj-lt"/>
                    <a:cs typeface="Arial" charset="0"/>
                  </a:rPr>
                  <a:t>X</a:t>
                </a:r>
                <a:r>
                  <a:rPr lang="ru-RU" b="1" baseline="-25000">
                    <a:latin typeface="+mj-lt"/>
                    <a:cs typeface="Arial" charset="0"/>
                  </a:rPr>
                  <a:t>2</a:t>
                </a:r>
                <a:r>
                  <a:rPr lang="ru-RU" b="1">
                    <a:latin typeface="+mj-lt"/>
                    <a:cs typeface="Arial" charset="0"/>
                  </a:rPr>
                  <a:t>/Y</a:t>
                </a:r>
                <a:r>
                  <a:rPr lang="ru-RU" b="1" baseline="-25000">
                    <a:latin typeface="+mj-lt"/>
                    <a:cs typeface="Arial" charset="0"/>
                  </a:rPr>
                  <a:t>1</a:t>
                </a:r>
              </a:p>
              <a:p>
                <a:pPr eaLnBrk="1" hangingPunct="1">
                  <a:defRPr/>
                </a:pPr>
                <a:endParaRPr lang="ru-RU" b="1">
                  <a:effectLst>
                    <a:outerShdw blurRad="38100" dist="38100" dir="2700000" algn="tl">
                      <a:srgbClr val="C0C0C0"/>
                    </a:outerShdw>
                  </a:effectLst>
                  <a:latin typeface="+mj-lt"/>
                  <a:cs typeface="Arial" charset="0"/>
                </a:endParaRPr>
              </a:p>
            </p:txBody>
          </p:sp>
          <p:sp>
            <p:nvSpPr>
              <p:cNvPr id="85014" name="Arc 22">
                <a:extLst>
                  <a:ext uri="{FF2B5EF4-FFF2-40B4-BE49-F238E27FC236}">
                    <a16:creationId xmlns:a16="http://schemas.microsoft.com/office/drawing/2014/main" id="{E6D9C148-F64B-45E4-81C0-E487252F249B}"/>
                  </a:ext>
                </a:extLst>
              </p:cNvPr>
              <p:cNvSpPr>
                <a:spLocks/>
              </p:cNvSpPr>
              <p:nvPr/>
            </p:nvSpPr>
            <p:spPr bwMode="auto">
              <a:xfrm>
                <a:off x="259" y="1694"/>
                <a:ext cx="361" cy="306"/>
              </a:xfrm>
              <a:custGeom>
                <a:avLst/>
                <a:gdLst>
                  <a:gd name="G0" fmla="+- 21600 0 0"/>
                  <a:gd name="G1" fmla="+- 21600 0 0"/>
                  <a:gd name="G2" fmla="+- 21600 0 0"/>
                  <a:gd name="T0" fmla="*/ 7522 w 43200"/>
                  <a:gd name="T1" fmla="*/ 37982 h 37982"/>
                  <a:gd name="T2" fmla="*/ 36074 w 43200"/>
                  <a:gd name="T3" fmla="*/ 37634 h 37982"/>
                  <a:gd name="T4" fmla="*/ 21600 w 43200"/>
                  <a:gd name="T5" fmla="*/ 21600 h 37982"/>
                </a:gdLst>
                <a:ahLst/>
                <a:cxnLst>
                  <a:cxn ang="0">
                    <a:pos x="T0" y="T1"/>
                  </a:cxn>
                  <a:cxn ang="0">
                    <a:pos x="T2" y="T3"/>
                  </a:cxn>
                  <a:cxn ang="0">
                    <a:pos x="T4" y="T5"/>
                  </a:cxn>
                </a:cxnLst>
                <a:rect l="0" t="0" r="r" b="b"/>
                <a:pathLst>
                  <a:path w="43200" h="37982" fill="none" extrusionOk="0">
                    <a:moveTo>
                      <a:pt x="7522" y="37981"/>
                    </a:moveTo>
                    <a:cubicBezTo>
                      <a:pt x="2746" y="33878"/>
                      <a:pt x="0" y="27895"/>
                      <a:pt x="0" y="21600"/>
                    </a:cubicBezTo>
                    <a:cubicBezTo>
                      <a:pt x="0" y="9670"/>
                      <a:pt x="9670" y="0"/>
                      <a:pt x="21600" y="0"/>
                    </a:cubicBezTo>
                    <a:cubicBezTo>
                      <a:pt x="33529" y="0"/>
                      <a:pt x="43200" y="9670"/>
                      <a:pt x="43200" y="21600"/>
                    </a:cubicBezTo>
                    <a:cubicBezTo>
                      <a:pt x="43200" y="27712"/>
                      <a:pt x="40610" y="33538"/>
                      <a:pt x="36073" y="37633"/>
                    </a:cubicBezTo>
                  </a:path>
                  <a:path w="43200" h="37982" stroke="0" extrusionOk="0">
                    <a:moveTo>
                      <a:pt x="7522" y="37981"/>
                    </a:moveTo>
                    <a:cubicBezTo>
                      <a:pt x="2746" y="33878"/>
                      <a:pt x="0" y="27895"/>
                      <a:pt x="0" y="21600"/>
                    </a:cubicBezTo>
                    <a:cubicBezTo>
                      <a:pt x="0" y="9670"/>
                      <a:pt x="9670" y="0"/>
                      <a:pt x="21600" y="0"/>
                    </a:cubicBezTo>
                    <a:cubicBezTo>
                      <a:pt x="33529" y="0"/>
                      <a:pt x="43200" y="9670"/>
                      <a:pt x="43200" y="21600"/>
                    </a:cubicBezTo>
                    <a:cubicBezTo>
                      <a:pt x="43200" y="27712"/>
                      <a:pt x="40610" y="33538"/>
                      <a:pt x="36073" y="37633"/>
                    </a:cubicBezTo>
                    <a:lnTo>
                      <a:pt x="21600" y="21600"/>
                    </a:lnTo>
                    <a:close/>
                  </a:path>
                </a:pathLst>
              </a:custGeom>
              <a:noFill/>
              <a:ln w="25400">
                <a:solidFill>
                  <a:srgbClr val="000000"/>
                </a:solidFill>
                <a:round/>
                <a:headEnd type="triangle" w="med" len="med"/>
                <a:tailEnd/>
              </a:ln>
            </p:spPr>
            <p:txBody>
              <a:bodyPr/>
              <a:lstStyle/>
              <a:p>
                <a:pPr eaLnBrk="1" hangingPunct="1">
                  <a:defRPr/>
                </a:pPr>
                <a:endParaRPr lang="ru-RU">
                  <a:latin typeface="+mj-lt"/>
                  <a:cs typeface="Arial" charset="0"/>
                </a:endParaRPr>
              </a:p>
            </p:txBody>
          </p:sp>
          <p:sp>
            <p:nvSpPr>
              <p:cNvPr id="85015" name="Text Box 23">
                <a:extLst>
                  <a:ext uri="{FF2B5EF4-FFF2-40B4-BE49-F238E27FC236}">
                    <a16:creationId xmlns:a16="http://schemas.microsoft.com/office/drawing/2014/main" id="{F2ACB4ED-AC26-4F5D-8879-22CBC44CEFD2}"/>
                  </a:ext>
                </a:extLst>
              </p:cNvPr>
              <p:cNvSpPr txBox="1">
                <a:spLocks noChangeArrowheads="1"/>
              </p:cNvSpPr>
              <p:nvPr/>
            </p:nvSpPr>
            <p:spPr bwMode="auto">
              <a:xfrm>
                <a:off x="1619" y="1313"/>
                <a:ext cx="556" cy="369"/>
              </a:xfrm>
              <a:prstGeom prst="rect">
                <a:avLst/>
              </a:prstGeom>
              <a:noFill/>
              <a:ln>
                <a:noFill/>
              </a:ln>
            </p:spPr>
            <p:txBody>
              <a:bodyPr/>
              <a:lstStyle/>
              <a:p>
                <a:pPr eaLnBrk="1" hangingPunct="1">
                  <a:defRPr/>
                </a:pPr>
                <a:r>
                  <a:rPr lang="ru-RU" b="1">
                    <a:latin typeface="+mj-lt"/>
                    <a:cs typeface="Arial" charset="0"/>
                  </a:rPr>
                  <a:t>X</a:t>
                </a:r>
                <a:r>
                  <a:rPr lang="ru-RU" b="1" baseline="-25000">
                    <a:latin typeface="+mj-lt"/>
                    <a:cs typeface="Arial" charset="0"/>
                  </a:rPr>
                  <a:t>2</a:t>
                </a:r>
                <a:r>
                  <a:rPr lang="ru-RU" b="1">
                    <a:latin typeface="+mj-lt"/>
                    <a:cs typeface="Arial" charset="0"/>
                  </a:rPr>
                  <a:t>/Y</a:t>
                </a:r>
                <a:r>
                  <a:rPr lang="ru-RU" b="1" baseline="-25000">
                    <a:latin typeface="+mj-lt"/>
                    <a:cs typeface="Arial" charset="0"/>
                  </a:rPr>
                  <a:t>4</a:t>
                </a:r>
                <a:endParaRPr lang="ru-RU" b="1">
                  <a:latin typeface="+mj-lt"/>
                  <a:cs typeface="Arial" charset="0"/>
                </a:endParaRPr>
              </a:p>
              <a:p>
                <a:pPr eaLnBrk="1" hangingPunct="1">
                  <a:defRPr/>
                </a:pPr>
                <a:endParaRPr lang="ru-RU" b="1">
                  <a:latin typeface="+mj-lt"/>
                  <a:cs typeface="Arial" charset="0"/>
                </a:endParaRPr>
              </a:p>
              <a:p>
                <a:pPr eaLnBrk="1" hangingPunct="1">
                  <a:defRPr/>
                </a:pPr>
                <a:endParaRPr lang="ru-RU" b="1">
                  <a:effectLst>
                    <a:outerShdw blurRad="38100" dist="38100" dir="2700000" algn="tl">
                      <a:srgbClr val="C0C0C0"/>
                    </a:outerShdw>
                  </a:effectLst>
                  <a:latin typeface="+mj-lt"/>
                  <a:cs typeface="Arial" charset="0"/>
                </a:endParaRPr>
              </a:p>
            </p:txBody>
          </p:sp>
          <p:sp>
            <p:nvSpPr>
              <p:cNvPr id="85017" name="Text Box 25">
                <a:extLst>
                  <a:ext uri="{FF2B5EF4-FFF2-40B4-BE49-F238E27FC236}">
                    <a16:creationId xmlns:a16="http://schemas.microsoft.com/office/drawing/2014/main" id="{B013DFD7-5B3D-47ED-9D95-145A98EC24E3}"/>
                  </a:ext>
                </a:extLst>
              </p:cNvPr>
              <p:cNvSpPr txBox="1">
                <a:spLocks noChangeArrowheads="1"/>
              </p:cNvSpPr>
              <p:nvPr/>
            </p:nvSpPr>
            <p:spPr bwMode="auto">
              <a:xfrm>
                <a:off x="1320" y="2299"/>
                <a:ext cx="585" cy="369"/>
              </a:xfrm>
              <a:prstGeom prst="rect">
                <a:avLst/>
              </a:prstGeom>
              <a:noFill/>
              <a:ln>
                <a:noFill/>
              </a:ln>
            </p:spPr>
            <p:txBody>
              <a:bodyPr/>
              <a:lstStyle/>
              <a:p>
                <a:pPr eaLnBrk="1" hangingPunct="1">
                  <a:defRPr/>
                </a:pPr>
                <a:r>
                  <a:rPr lang="ru-RU" b="1">
                    <a:latin typeface="+mj-lt"/>
                    <a:cs typeface="Arial" charset="0"/>
                  </a:rPr>
                  <a:t>X</a:t>
                </a:r>
                <a:r>
                  <a:rPr lang="ru-RU" b="1" baseline="-25000">
                    <a:latin typeface="+mj-lt"/>
                    <a:cs typeface="Arial" charset="0"/>
                  </a:rPr>
                  <a:t>2</a:t>
                </a:r>
                <a:r>
                  <a:rPr lang="ru-RU" b="1">
                    <a:latin typeface="+mj-lt"/>
                    <a:cs typeface="Arial" charset="0"/>
                  </a:rPr>
                  <a:t>/Y</a:t>
                </a:r>
                <a:r>
                  <a:rPr lang="en-US" b="1" baseline="-25000">
                    <a:latin typeface="+mj-lt"/>
                    <a:cs typeface="Arial" charset="0"/>
                  </a:rPr>
                  <a:t>2</a:t>
                </a:r>
                <a:endParaRPr lang="ru-RU" b="1">
                  <a:latin typeface="+mj-lt"/>
                  <a:cs typeface="Arial" charset="0"/>
                </a:endParaRPr>
              </a:p>
              <a:p>
                <a:pPr eaLnBrk="1" hangingPunct="1">
                  <a:defRPr/>
                </a:pPr>
                <a:endParaRPr lang="ru-RU" b="1">
                  <a:latin typeface="+mj-lt"/>
                  <a:cs typeface="Arial" charset="0"/>
                </a:endParaRPr>
              </a:p>
              <a:p>
                <a:pPr eaLnBrk="1" hangingPunct="1">
                  <a:defRPr/>
                </a:pPr>
                <a:endParaRPr lang="ru-RU" b="1">
                  <a:effectLst>
                    <a:outerShdw blurRad="38100" dist="38100" dir="2700000" algn="tl">
                      <a:srgbClr val="C0C0C0"/>
                    </a:outerShdw>
                  </a:effectLst>
                  <a:latin typeface="+mj-lt"/>
                  <a:cs typeface="Arial" charset="0"/>
                </a:endParaRPr>
              </a:p>
            </p:txBody>
          </p:sp>
          <p:sp>
            <p:nvSpPr>
              <p:cNvPr id="85019" name="Text Box 27">
                <a:extLst>
                  <a:ext uri="{FF2B5EF4-FFF2-40B4-BE49-F238E27FC236}">
                    <a16:creationId xmlns:a16="http://schemas.microsoft.com/office/drawing/2014/main" id="{8B7AD035-5DEB-48D5-8F5B-ED7FAD1F5FAE}"/>
                  </a:ext>
                </a:extLst>
              </p:cNvPr>
              <p:cNvSpPr txBox="1">
                <a:spLocks noChangeArrowheads="1"/>
              </p:cNvSpPr>
              <p:nvPr/>
            </p:nvSpPr>
            <p:spPr bwMode="auto">
              <a:xfrm>
                <a:off x="1473" y="1516"/>
                <a:ext cx="457" cy="278"/>
              </a:xfrm>
              <a:prstGeom prst="rect">
                <a:avLst/>
              </a:prstGeom>
              <a:noFill/>
              <a:ln>
                <a:noFill/>
              </a:ln>
            </p:spPr>
            <p:txBody>
              <a:bodyPr/>
              <a:lstStyle/>
              <a:p>
                <a:pPr eaLnBrk="1" hangingPunct="1">
                  <a:defRPr/>
                </a:pPr>
                <a:r>
                  <a:rPr lang="ru-RU" b="1">
                    <a:latin typeface="+mj-lt"/>
                    <a:cs typeface="Arial" charset="0"/>
                  </a:rPr>
                  <a:t>X</a:t>
                </a:r>
                <a:r>
                  <a:rPr lang="en-US" b="1" baseline="-25000">
                    <a:latin typeface="+mj-lt"/>
                    <a:cs typeface="Arial" charset="0"/>
                  </a:rPr>
                  <a:t>1</a:t>
                </a:r>
                <a:r>
                  <a:rPr lang="ru-RU" b="1">
                    <a:latin typeface="+mj-lt"/>
                    <a:cs typeface="Arial" charset="0"/>
                  </a:rPr>
                  <a:t>/Y</a:t>
                </a:r>
                <a:r>
                  <a:rPr lang="en-US" b="1" baseline="-25000">
                    <a:latin typeface="+mj-lt"/>
                    <a:cs typeface="Arial" charset="0"/>
                  </a:rPr>
                  <a:t>1</a:t>
                </a:r>
                <a:endParaRPr lang="ru-RU" b="1">
                  <a:latin typeface="+mj-lt"/>
                  <a:cs typeface="Arial" charset="0"/>
                </a:endParaRPr>
              </a:p>
              <a:p>
                <a:pPr eaLnBrk="1" hangingPunct="1">
                  <a:defRPr/>
                </a:pPr>
                <a:endParaRPr lang="ru-RU" b="1">
                  <a:latin typeface="+mj-lt"/>
                  <a:cs typeface="Arial" charset="0"/>
                </a:endParaRPr>
              </a:p>
              <a:p>
                <a:pPr eaLnBrk="1" hangingPunct="1">
                  <a:defRPr/>
                </a:pPr>
                <a:endParaRPr lang="ru-RU" b="1">
                  <a:effectLst>
                    <a:outerShdw blurRad="38100" dist="38100" dir="2700000" algn="tl">
                      <a:srgbClr val="C0C0C0"/>
                    </a:outerShdw>
                  </a:effectLst>
                  <a:latin typeface="+mj-lt"/>
                  <a:cs typeface="Arial" charset="0"/>
                </a:endParaRPr>
              </a:p>
            </p:txBody>
          </p:sp>
          <p:sp>
            <p:nvSpPr>
              <p:cNvPr id="85020" name="Text Box 28">
                <a:extLst>
                  <a:ext uri="{FF2B5EF4-FFF2-40B4-BE49-F238E27FC236}">
                    <a16:creationId xmlns:a16="http://schemas.microsoft.com/office/drawing/2014/main" id="{3B772651-AF59-4440-BB54-1786BC0A0D7D}"/>
                  </a:ext>
                </a:extLst>
              </p:cNvPr>
              <p:cNvSpPr txBox="1">
                <a:spLocks noChangeArrowheads="1"/>
              </p:cNvSpPr>
              <p:nvPr/>
            </p:nvSpPr>
            <p:spPr bwMode="auto">
              <a:xfrm>
                <a:off x="1366" y="1835"/>
                <a:ext cx="576" cy="369"/>
              </a:xfrm>
              <a:prstGeom prst="rect">
                <a:avLst/>
              </a:prstGeom>
              <a:noFill/>
              <a:ln>
                <a:noFill/>
              </a:ln>
            </p:spPr>
            <p:txBody>
              <a:bodyPr/>
              <a:lstStyle/>
              <a:p>
                <a:pPr eaLnBrk="1" hangingPunct="1">
                  <a:defRPr/>
                </a:pPr>
                <a:r>
                  <a:rPr lang="ru-RU" b="1">
                    <a:latin typeface="+mj-lt"/>
                    <a:cs typeface="Arial" charset="0"/>
                  </a:rPr>
                  <a:t>X</a:t>
                </a:r>
                <a:r>
                  <a:rPr lang="en-US" b="1" baseline="-25000">
                    <a:latin typeface="+mj-lt"/>
                    <a:cs typeface="Arial" charset="0"/>
                  </a:rPr>
                  <a:t>1</a:t>
                </a:r>
                <a:r>
                  <a:rPr lang="ru-RU" b="1">
                    <a:latin typeface="+mj-lt"/>
                    <a:cs typeface="Arial" charset="0"/>
                  </a:rPr>
                  <a:t>/Y</a:t>
                </a:r>
                <a:r>
                  <a:rPr lang="en-US" b="1" baseline="-25000">
                    <a:latin typeface="+mj-lt"/>
                    <a:cs typeface="Arial" charset="0"/>
                  </a:rPr>
                  <a:t>3</a:t>
                </a:r>
                <a:endParaRPr lang="ru-RU" b="1">
                  <a:latin typeface="+mj-lt"/>
                  <a:cs typeface="Arial" charset="0"/>
                </a:endParaRPr>
              </a:p>
              <a:p>
                <a:pPr eaLnBrk="1" hangingPunct="1">
                  <a:defRPr/>
                </a:pPr>
                <a:endParaRPr lang="ru-RU" b="1">
                  <a:latin typeface="+mj-lt"/>
                  <a:cs typeface="Arial" charset="0"/>
                </a:endParaRPr>
              </a:p>
              <a:p>
                <a:pPr eaLnBrk="1" hangingPunct="1">
                  <a:defRPr/>
                </a:pPr>
                <a:endParaRPr lang="ru-RU" b="1">
                  <a:effectLst>
                    <a:outerShdw blurRad="38100" dist="38100" dir="2700000" algn="tl">
                      <a:srgbClr val="C0C0C0"/>
                    </a:outerShdw>
                  </a:effectLst>
                  <a:latin typeface="+mj-lt"/>
                  <a:cs typeface="Arial" charset="0"/>
                </a:endParaRPr>
              </a:p>
            </p:txBody>
          </p:sp>
        </p:grpSp>
      </p:grpSp>
      <p:grpSp>
        <p:nvGrpSpPr>
          <p:cNvPr id="51204" name="Group 69">
            <a:extLst>
              <a:ext uri="{FF2B5EF4-FFF2-40B4-BE49-F238E27FC236}">
                <a16:creationId xmlns:a16="http://schemas.microsoft.com/office/drawing/2014/main" id="{E32A188C-A42E-7D23-2022-C7F0AE5B859D}"/>
              </a:ext>
            </a:extLst>
          </p:cNvPr>
          <p:cNvGrpSpPr>
            <a:grpSpLocks/>
          </p:cNvGrpSpPr>
          <p:nvPr/>
        </p:nvGrpSpPr>
        <p:grpSpPr bwMode="auto">
          <a:xfrm>
            <a:off x="5870533" y="1429671"/>
            <a:ext cx="4625975" cy="4797425"/>
            <a:chOff x="4264024" y="774700"/>
            <a:chExt cx="4625976" cy="4797425"/>
          </a:xfrm>
        </p:grpSpPr>
        <p:sp>
          <p:nvSpPr>
            <p:cNvPr id="85065" name="AutoShape 73">
              <a:extLst>
                <a:ext uri="{FF2B5EF4-FFF2-40B4-BE49-F238E27FC236}">
                  <a16:creationId xmlns:a16="http://schemas.microsoft.com/office/drawing/2014/main" id="{E9B1E261-8432-4055-B8D1-962797635E62}"/>
                </a:ext>
              </a:extLst>
            </p:cNvPr>
            <p:cNvSpPr>
              <a:spLocks noChangeArrowheads="1"/>
            </p:cNvSpPr>
            <p:nvPr/>
          </p:nvSpPr>
          <p:spPr bwMode="auto">
            <a:xfrm>
              <a:off x="4264024" y="3243263"/>
              <a:ext cx="438150" cy="371475"/>
            </a:xfrm>
            <a:prstGeom prst="rightArrow">
              <a:avLst>
                <a:gd name="adj1" fmla="val 50000"/>
                <a:gd name="adj2" fmla="val 29956"/>
              </a:avLst>
            </a:prstGeom>
            <a:solidFill>
              <a:schemeClr val="accent1">
                <a:lumMod val="60000"/>
                <a:lumOff val="40000"/>
              </a:schemeClr>
            </a:solidFill>
            <a:ln w="9525">
              <a:solidFill>
                <a:schemeClr val="tx1"/>
              </a:solidFill>
              <a:miter lim="800000"/>
              <a:headEnd/>
              <a:tailEnd/>
            </a:ln>
            <a:effectLst/>
          </p:spPr>
          <p:txBody>
            <a:bodyPr wrap="none" anchor="ctr"/>
            <a:lstStyle/>
            <a:p>
              <a:pPr eaLnBrk="1" hangingPunct="1">
                <a:defRPr/>
              </a:pPr>
              <a:endParaRPr lang="ru-RU">
                <a:latin typeface="+mj-lt"/>
                <a:cs typeface="Arial" charset="0"/>
              </a:endParaRPr>
            </a:p>
          </p:txBody>
        </p:sp>
        <p:grpSp>
          <p:nvGrpSpPr>
            <p:cNvPr id="51207" name="Group 81">
              <a:extLst>
                <a:ext uri="{FF2B5EF4-FFF2-40B4-BE49-F238E27FC236}">
                  <a16:creationId xmlns:a16="http://schemas.microsoft.com/office/drawing/2014/main" id="{F48EBB49-8D0E-4F08-0745-92D0EA711010}"/>
                </a:ext>
              </a:extLst>
            </p:cNvPr>
            <p:cNvGrpSpPr>
              <a:grpSpLocks/>
            </p:cNvGrpSpPr>
            <p:nvPr/>
          </p:nvGrpSpPr>
          <p:grpSpPr bwMode="auto">
            <a:xfrm>
              <a:off x="4479925" y="774700"/>
              <a:ext cx="4410075" cy="4797425"/>
              <a:chOff x="2822" y="709"/>
              <a:chExt cx="2734" cy="2927"/>
            </a:xfrm>
          </p:grpSpPr>
          <p:sp>
            <p:nvSpPr>
              <p:cNvPr id="85030" name="Oval 38">
                <a:extLst>
                  <a:ext uri="{FF2B5EF4-FFF2-40B4-BE49-F238E27FC236}">
                    <a16:creationId xmlns:a16="http://schemas.microsoft.com/office/drawing/2014/main" id="{12564F05-AA4F-4BF9-8102-759ABA86F622}"/>
                  </a:ext>
                </a:extLst>
              </p:cNvPr>
              <p:cNvSpPr>
                <a:spLocks noChangeArrowheads="1"/>
              </p:cNvSpPr>
              <p:nvPr/>
            </p:nvSpPr>
            <p:spPr bwMode="auto">
              <a:xfrm>
                <a:off x="5032" y="2335"/>
                <a:ext cx="457" cy="455"/>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1600">
                    <a:latin typeface="+mj-lt"/>
                    <a:cs typeface="Arial" charset="0"/>
                  </a:rPr>
                  <a:t>S</a:t>
                </a:r>
                <a:r>
                  <a:rPr lang="en-US" sz="1600" baseline="-25000">
                    <a:latin typeface="+mj-lt"/>
                    <a:cs typeface="Arial" charset="0"/>
                  </a:rPr>
                  <a:t>2</a:t>
                </a:r>
                <a:r>
                  <a:rPr lang="en-US" sz="1600" baseline="30000">
                    <a:latin typeface="+mj-lt"/>
                    <a:cs typeface="Arial" charset="0"/>
                  </a:rPr>
                  <a:t>2</a:t>
                </a:r>
                <a:r>
                  <a:rPr lang="en-US" sz="1600">
                    <a:latin typeface="+mj-lt"/>
                    <a:cs typeface="Arial" charset="0"/>
                  </a:rPr>
                  <a:t>Y</a:t>
                </a:r>
                <a:r>
                  <a:rPr lang="en-US" sz="1600" baseline="-25000">
                    <a:latin typeface="+mj-lt"/>
                    <a:cs typeface="Arial" charset="0"/>
                  </a:rPr>
                  <a:t>4</a:t>
                </a:r>
                <a:endParaRPr lang="en-US" sz="1600">
                  <a:latin typeface="+mj-lt"/>
                  <a:cs typeface="Arial" charset="0"/>
                </a:endParaRPr>
              </a:p>
              <a:p>
                <a:pPr>
                  <a:defRPr/>
                </a:pPr>
                <a:endParaRPr lang="en-US" sz="1600">
                  <a:latin typeface="+mj-lt"/>
                  <a:cs typeface="Arial" charset="0"/>
                </a:endParaRPr>
              </a:p>
            </p:txBody>
          </p:sp>
          <p:sp>
            <p:nvSpPr>
              <p:cNvPr id="85023" name="Text Box 31">
                <a:extLst>
                  <a:ext uri="{FF2B5EF4-FFF2-40B4-BE49-F238E27FC236}">
                    <a16:creationId xmlns:a16="http://schemas.microsoft.com/office/drawing/2014/main" id="{DDBF7B71-0716-45ED-AD06-01063C0A97F7}"/>
                  </a:ext>
                </a:extLst>
              </p:cNvPr>
              <p:cNvSpPr txBox="1">
                <a:spLocks noChangeArrowheads="1"/>
              </p:cNvSpPr>
              <p:nvPr/>
            </p:nvSpPr>
            <p:spPr bwMode="auto">
              <a:xfrm>
                <a:off x="4891" y="2822"/>
                <a:ext cx="504" cy="222"/>
              </a:xfrm>
              <a:prstGeom prst="rect">
                <a:avLst/>
              </a:prstGeom>
              <a:noFill/>
              <a:ln>
                <a:noFill/>
              </a:ln>
            </p:spPr>
            <p:txBody>
              <a:bodyPr/>
              <a:lstStyle/>
              <a:p>
                <a:pPr>
                  <a:defRPr/>
                </a:pPr>
                <a:endParaRPr lang="ru-RU" sz="1600">
                  <a:latin typeface="+mj-lt"/>
                  <a:cs typeface="Arial" charset="0"/>
                </a:endParaRPr>
              </a:p>
            </p:txBody>
          </p:sp>
          <p:sp>
            <p:nvSpPr>
              <p:cNvPr id="85024" name="Text Box 32">
                <a:extLst>
                  <a:ext uri="{FF2B5EF4-FFF2-40B4-BE49-F238E27FC236}">
                    <a16:creationId xmlns:a16="http://schemas.microsoft.com/office/drawing/2014/main" id="{23F0ACF5-4AE1-43DD-B6DA-BB6245407C78}"/>
                  </a:ext>
                </a:extLst>
              </p:cNvPr>
              <p:cNvSpPr txBox="1">
                <a:spLocks noChangeArrowheads="1"/>
              </p:cNvSpPr>
              <p:nvPr/>
            </p:nvSpPr>
            <p:spPr bwMode="auto">
              <a:xfrm>
                <a:off x="3923" y="3162"/>
                <a:ext cx="347" cy="251"/>
              </a:xfrm>
              <a:prstGeom prst="rect">
                <a:avLst/>
              </a:prstGeom>
              <a:noFill/>
              <a:ln>
                <a:noFill/>
              </a:ln>
            </p:spPr>
            <p:txBody>
              <a:bodyPr/>
              <a:lstStyle/>
              <a:p>
                <a:pPr>
                  <a:defRPr/>
                </a:pPr>
                <a:r>
                  <a:rPr lang="en-US" b="1">
                    <a:latin typeface="+mj-lt"/>
                    <a:cs typeface="Arial" charset="0"/>
                  </a:rPr>
                  <a:t>X</a:t>
                </a:r>
                <a:r>
                  <a:rPr lang="en-US" b="1" baseline="-25000">
                    <a:latin typeface="+mj-lt"/>
                    <a:cs typeface="Arial" charset="0"/>
                  </a:rPr>
                  <a:t>2</a:t>
                </a:r>
              </a:p>
              <a:p>
                <a:pPr>
                  <a:defRPr/>
                </a:pPr>
                <a:endParaRPr lang="en-US" b="1">
                  <a:latin typeface="+mj-lt"/>
                  <a:cs typeface="Arial" charset="0"/>
                </a:endParaRPr>
              </a:p>
            </p:txBody>
          </p:sp>
          <p:sp>
            <p:nvSpPr>
              <p:cNvPr id="85025" name="Oval 33">
                <a:extLst>
                  <a:ext uri="{FF2B5EF4-FFF2-40B4-BE49-F238E27FC236}">
                    <a16:creationId xmlns:a16="http://schemas.microsoft.com/office/drawing/2014/main" id="{E7E2E2CF-BB49-40A6-A9CA-34CD674850BE}"/>
                  </a:ext>
                </a:extLst>
              </p:cNvPr>
              <p:cNvSpPr>
                <a:spLocks noChangeArrowheads="1"/>
              </p:cNvSpPr>
              <p:nvPr/>
            </p:nvSpPr>
            <p:spPr bwMode="auto">
              <a:xfrm>
                <a:off x="2830" y="1368"/>
                <a:ext cx="453" cy="453"/>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1600">
                    <a:latin typeface="+mj-lt"/>
                    <a:cs typeface="Arial" charset="0"/>
                  </a:rPr>
                  <a:t>S</a:t>
                </a:r>
                <a:r>
                  <a:rPr lang="en-US" sz="1600" baseline="-25000">
                    <a:latin typeface="+mj-lt"/>
                    <a:cs typeface="Arial" charset="0"/>
                  </a:rPr>
                  <a:t>0</a:t>
                </a:r>
                <a:br>
                  <a:rPr lang="en-US" sz="1600" baseline="-25000">
                    <a:latin typeface="+mj-lt"/>
                    <a:cs typeface="Arial" charset="0"/>
                  </a:rPr>
                </a:br>
                <a:r>
                  <a:rPr lang="en-US" sz="1600">
                    <a:latin typeface="+mj-lt"/>
                    <a:cs typeface="Arial" charset="0"/>
                  </a:rPr>
                  <a:t>Y</a:t>
                </a:r>
                <a:r>
                  <a:rPr lang="en-US" sz="1600" baseline="-25000">
                    <a:latin typeface="+mj-lt"/>
                    <a:cs typeface="Arial" charset="0"/>
                  </a:rPr>
                  <a:t>1</a:t>
                </a:r>
                <a:endParaRPr lang="en-US" sz="1600">
                  <a:latin typeface="+mj-lt"/>
                  <a:cs typeface="Arial" charset="0"/>
                </a:endParaRPr>
              </a:p>
              <a:p>
                <a:pPr>
                  <a:defRPr/>
                </a:pPr>
                <a:endParaRPr lang="en-US" sz="1600">
                  <a:latin typeface="+mj-lt"/>
                  <a:cs typeface="Arial" charset="0"/>
                </a:endParaRPr>
              </a:p>
            </p:txBody>
          </p:sp>
          <p:sp>
            <p:nvSpPr>
              <p:cNvPr id="85026" name="Oval 34">
                <a:extLst>
                  <a:ext uri="{FF2B5EF4-FFF2-40B4-BE49-F238E27FC236}">
                    <a16:creationId xmlns:a16="http://schemas.microsoft.com/office/drawing/2014/main" id="{5FF59A70-CD1D-4C4D-A79A-140DB749BB6D}"/>
                  </a:ext>
                </a:extLst>
              </p:cNvPr>
              <p:cNvSpPr>
                <a:spLocks noChangeArrowheads="1"/>
              </p:cNvSpPr>
              <p:nvPr/>
            </p:nvSpPr>
            <p:spPr bwMode="auto">
              <a:xfrm>
                <a:off x="3885" y="1920"/>
                <a:ext cx="453" cy="453"/>
              </a:xfrm>
              <a:prstGeom prst="ellipse">
                <a:avLst/>
              </a:prstGeom>
              <a:solidFill>
                <a:schemeClr val="accent1">
                  <a:lumMod val="40000"/>
                  <a:lumOff val="60000"/>
                </a:schemeClr>
              </a:solidFill>
              <a:ln w="31750">
                <a:solidFill>
                  <a:srgbClr val="000000"/>
                </a:solidFill>
                <a:round/>
                <a:headEnd/>
                <a:tailEnd/>
              </a:ln>
            </p:spPr>
            <p:txBody>
              <a:bodyPr/>
              <a:lstStyle/>
              <a:p>
                <a:pPr algn="ctr">
                  <a:defRPr/>
                </a:pPr>
                <a:r>
                  <a:rPr lang="en-US" sz="1600" dirty="0">
                    <a:latin typeface="+mj-lt"/>
                    <a:cs typeface="Arial" charset="0"/>
                  </a:rPr>
                  <a:t>S</a:t>
                </a:r>
                <a:r>
                  <a:rPr lang="en-US" sz="1600" baseline="-25000" dirty="0">
                    <a:latin typeface="+mj-lt"/>
                    <a:cs typeface="Arial" charset="0"/>
                  </a:rPr>
                  <a:t>1</a:t>
                </a:r>
                <a:r>
                  <a:rPr lang="en-US" sz="1600" baseline="30000" dirty="0">
                    <a:latin typeface="+mj-lt"/>
                    <a:cs typeface="Arial" charset="0"/>
                  </a:rPr>
                  <a:t>2</a:t>
                </a:r>
                <a:r>
                  <a:rPr lang="en-US" sz="1600" dirty="0">
                    <a:latin typeface="+mj-lt"/>
                    <a:cs typeface="Arial" charset="0"/>
                  </a:rPr>
                  <a:t>Y</a:t>
                </a:r>
                <a:r>
                  <a:rPr lang="en-US" sz="1600" baseline="-25000" dirty="0">
                    <a:latin typeface="+mj-lt"/>
                    <a:cs typeface="Arial" charset="0"/>
                  </a:rPr>
                  <a:t>3</a:t>
                </a:r>
                <a:endParaRPr lang="en-US" sz="1600" dirty="0">
                  <a:latin typeface="+mj-lt"/>
                  <a:cs typeface="Arial" charset="0"/>
                </a:endParaRPr>
              </a:p>
              <a:p>
                <a:pPr>
                  <a:defRPr/>
                </a:pPr>
                <a:endParaRPr lang="en-US" sz="1600" dirty="0">
                  <a:latin typeface="+mj-lt"/>
                  <a:cs typeface="Arial" charset="0"/>
                </a:endParaRPr>
              </a:p>
            </p:txBody>
          </p:sp>
          <p:sp>
            <p:nvSpPr>
              <p:cNvPr id="85027" name="Oval 35">
                <a:extLst>
                  <a:ext uri="{FF2B5EF4-FFF2-40B4-BE49-F238E27FC236}">
                    <a16:creationId xmlns:a16="http://schemas.microsoft.com/office/drawing/2014/main" id="{369B78DD-694B-49EF-A614-E8027F8195F5}"/>
                  </a:ext>
                </a:extLst>
              </p:cNvPr>
              <p:cNvSpPr>
                <a:spLocks noChangeArrowheads="1"/>
              </p:cNvSpPr>
              <p:nvPr/>
            </p:nvSpPr>
            <p:spPr bwMode="auto">
              <a:xfrm>
                <a:off x="3283" y="2620"/>
                <a:ext cx="455" cy="453"/>
              </a:xfrm>
              <a:prstGeom prst="ellipse">
                <a:avLst/>
              </a:prstGeom>
              <a:solidFill>
                <a:schemeClr val="accent1">
                  <a:lumMod val="40000"/>
                  <a:lumOff val="60000"/>
                </a:schemeClr>
              </a:solidFill>
              <a:ln w="31750">
                <a:solidFill>
                  <a:srgbClr val="000000"/>
                </a:solidFill>
                <a:round/>
                <a:headEnd/>
                <a:tailEnd/>
              </a:ln>
            </p:spPr>
            <p:txBody>
              <a:bodyPr/>
              <a:lstStyle/>
              <a:p>
                <a:pPr algn="ctr">
                  <a:defRPr/>
                </a:pPr>
                <a:r>
                  <a:rPr lang="en-US" sz="1600">
                    <a:latin typeface="+mj-lt"/>
                    <a:cs typeface="Arial" charset="0"/>
                  </a:rPr>
                  <a:t>S</a:t>
                </a:r>
                <a:r>
                  <a:rPr lang="en-US" sz="1600" baseline="-25000">
                    <a:latin typeface="+mj-lt"/>
                    <a:cs typeface="Arial" charset="0"/>
                  </a:rPr>
                  <a:t>3</a:t>
                </a:r>
                <a:br>
                  <a:rPr lang="en-US" sz="1600">
                    <a:latin typeface="+mj-lt"/>
                    <a:cs typeface="Arial" charset="0"/>
                  </a:rPr>
                </a:br>
                <a:r>
                  <a:rPr lang="en-US" sz="1600">
                    <a:latin typeface="+mj-lt"/>
                    <a:cs typeface="Arial" charset="0"/>
                  </a:rPr>
                  <a:t>Y</a:t>
                </a:r>
                <a:r>
                  <a:rPr lang="en-US" sz="1600" baseline="-25000">
                    <a:latin typeface="+mj-lt"/>
                    <a:cs typeface="Arial" charset="0"/>
                  </a:rPr>
                  <a:t>2</a:t>
                </a:r>
                <a:endParaRPr lang="en-US" sz="1600">
                  <a:latin typeface="+mj-lt"/>
                  <a:cs typeface="Arial" charset="0"/>
                </a:endParaRPr>
              </a:p>
              <a:p>
                <a:pPr>
                  <a:defRPr/>
                </a:pPr>
                <a:endParaRPr lang="en-US" sz="1600">
                  <a:latin typeface="+mj-lt"/>
                  <a:cs typeface="Arial" charset="0"/>
                </a:endParaRPr>
              </a:p>
            </p:txBody>
          </p:sp>
          <p:sp>
            <p:nvSpPr>
              <p:cNvPr id="85028" name="Oval 36">
                <a:extLst>
                  <a:ext uri="{FF2B5EF4-FFF2-40B4-BE49-F238E27FC236}">
                    <a16:creationId xmlns:a16="http://schemas.microsoft.com/office/drawing/2014/main" id="{DF80F508-A49F-4A7B-A604-7C96F0AC3A96}"/>
                  </a:ext>
                </a:extLst>
              </p:cNvPr>
              <p:cNvSpPr>
                <a:spLocks noChangeArrowheads="1"/>
              </p:cNvSpPr>
              <p:nvPr/>
            </p:nvSpPr>
            <p:spPr bwMode="auto">
              <a:xfrm>
                <a:off x="3847" y="984"/>
                <a:ext cx="455" cy="453"/>
              </a:xfrm>
              <a:prstGeom prst="ellipse">
                <a:avLst/>
              </a:prstGeom>
              <a:solidFill>
                <a:schemeClr val="accent1">
                  <a:lumMod val="40000"/>
                  <a:lumOff val="60000"/>
                </a:schemeClr>
              </a:solidFill>
              <a:ln w="31750">
                <a:solidFill>
                  <a:srgbClr val="000000"/>
                </a:solidFill>
                <a:round/>
                <a:headEnd/>
                <a:tailEnd/>
              </a:ln>
            </p:spPr>
            <p:txBody>
              <a:bodyPr/>
              <a:lstStyle/>
              <a:p>
                <a:pPr algn="ctr">
                  <a:defRPr/>
                </a:pPr>
                <a:r>
                  <a:rPr lang="en-US" sz="1600">
                    <a:latin typeface="+mj-lt"/>
                    <a:cs typeface="Arial" charset="0"/>
                  </a:rPr>
                  <a:t>S</a:t>
                </a:r>
                <a:r>
                  <a:rPr lang="en-US" sz="1600" baseline="-25000">
                    <a:latin typeface="+mj-lt"/>
                    <a:cs typeface="Arial" charset="0"/>
                  </a:rPr>
                  <a:t>1</a:t>
                </a:r>
                <a:r>
                  <a:rPr lang="en-US" sz="1600" baseline="30000">
                    <a:latin typeface="+mj-lt"/>
                    <a:cs typeface="Arial" charset="0"/>
                  </a:rPr>
                  <a:t>1</a:t>
                </a:r>
                <a:r>
                  <a:rPr lang="en-US" sz="1600">
                    <a:latin typeface="+mj-lt"/>
                    <a:cs typeface="Arial" charset="0"/>
                  </a:rPr>
                  <a:t>Y</a:t>
                </a:r>
                <a:r>
                  <a:rPr lang="en-US" sz="1600" baseline="-25000">
                    <a:latin typeface="+mj-lt"/>
                    <a:cs typeface="Arial" charset="0"/>
                  </a:rPr>
                  <a:t>2</a:t>
                </a:r>
                <a:endParaRPr lang="en-US" sz="1600">
                  <a:latin typeface="+mj-lt"/>
                  <a:cs typeface="Arial" charset="0"/>
                </a:endParaRPr>
              </a:p>
              <a:p>
                <a:pPr>
                  <a:defRPr/>
                </a:pPr>
                <a:endParaRPr lang="en-US" sz="1600">
                  <a:latin typeface="+mj-lt"/>
                  <a:cs typeface="Arial" charset="0"/>
                </a:endParaRPr>
              </a:p>
            </p:txBody>
          </p:sp>
          <p:sp>
            <p:nvSpPr>
              <p:cNvPr id="85029" name="Oval 37">
                <a:extLst>
                  <a:ext uri="{FF2B5EF4-FFF2-40B4-BE49-F238E27FC236}">
                    <a16:creationId xmlns:a16="http://schemas.microsoft.com/office/drawing/2014/main" id="{FAF3EAF7-6D41-444E-97A6-620A218A1DD2}"/>
                  </a:ext>
                </a:extLst>
              </p:cNvPr>
              <p:cNvSpPr>
                <a:spLocks noChangeArrowheads="1"/>
              </p:cNvSpPr>
              <p:nvPr/>
            </p:nvSpPr>
            <p:spPr bwMode="auto">
              <a:xfrm>
                <a:off x="4708" y="1192"/>
                <a:ext cx="455" cy="451"/>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1600" dirty="0">
                    <a:latin typeface="+mj-lt"/>
                    <a:cs typeface="Arial" charset="0"/>
                  </a:rPr>
                  <a:t>S</a:t>
                </a:r>
                <a:r>
                  <a:rPr lang="en-US" sz="1600" baseline="-25000" dirty="0">
                    <a:latin typeface="+mj-lt"/>
                    <a:cs typeface="Arial" charset="0"/>
                  </a:rPr>
                  <a:t>2</a:t>
                </a:r>
                <a:r>
                  <a:rPr lang="en-US" sz="1600" baseline="30000" dirty="0">
                    <a:latin typeface="+mj-lt"/>
                    <a:cs typeface="Arial" charset="0"/>
                  </a:rPr>
                  <a:t>1</a:t>
                </a:r>
                <a:r>
                  <a:rPr lang="en-US" sz="1600" dirty="0">
                    <a:latin typeface="+mj-lt"/>
                    <a:cs typeface="Arial" charset="0"/>
                  </a:rPr>
                  <a:t>Y</a:t>
                </a:r>
                <a:r>
                  <a:rPr lang="en-US" sz="1600" baseline="-25000" dirty="0">
                    <a:latin typeface="+mj-lt"/>
                    <a:cs typeface="Arial" charset="0"/>
                  </a:rPr>
                  <a:t>1</a:t>
                </a:r>
                <a:endParaRPr lang="en-US" sz="1600" dirty="0">
                  <a:latin typeface="+mj-lt"/>
                  <a:cs typeface="Arial" charset="0"/>
                </a:endParaRPr>
              </a:p>
              <a:p>
                <a:pPr>
                  <a:defRPr/>
                </a:pPr>
                <a:endParaRPr lang="en-US" sz="1600" dirty="0">
                  <a:latin typeface="+mj-lt"/>
                  <a:cs typeface="Arial" charset="0"/>
                </a:endParaRPr>
              </a:p>
            </p:txBody>
          </p:sp>
          <p:sp>
            <p:nvSpPr>
              <p:cNvPr id="85031" name="Oval 39">
                <a:extLst>
                  <a:ext uri="{FF2B5EF4-FFF2-40B4-BE49-F238E27FC236}">
                    <a16:creationId xmlns:a16="http://schemas.microsoft.com/office/drawing/2014/main" id="{CB63BDBC-6AEB-49EA-A054-84ECF09639CD}"/>
                  </a:ext>
                </a:extLst>
              </p:cNvPr>
              <p:cNvSpPr>
                <a:spLocks noChangeArrowheads="1"/>
              </p:cNvSpPr>
              <p:nvPr/>
            </p:nvSpPr>
            <p:spPr bwMode="auto">
              <a:xfrm>
                <a:off x="4381" y="3183"/>
                <a:ext cx="453" cy="453"/>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1600">
                    <a:latin typeface="+mj-lt"/>
                    <a:cs typeface="Arial" charset="0"/>
                  </a:rPr>
                  <a:t>S</a:t>
                </a:r>
                <a:r>
                  <a:rPr lang="en-US" sz="1600" baseline="-25000">
                    <a:latin typeface="+mj-lt"/>
                    <a:cs typeface="Arial" charset="0"/>
                  </a:rPr>
                  <a:t>2</a:t>
                </a:r>
                <a:r>
                  <a:rPr lang="en-US" sz="1600" baseline="30000">
                    <a:latin typeface="+mj-lt"/>
                    <a:cs typeface="Arial" charset="0"/>
                  </a:rPr>
                  <a:t>3</a:t>
                </a:r>
                <a:r>
                  <a:rPr lang="en-US" sz="1600">
                    <a:latin typeface="+mj-lt"/>
                    <a:cs typeface="Arial" charset="0"/>
                  </a:rPr>
                  <a:t>Y</a:t>
                </a:r>
                <a:r>
                  <a:rPr lang="en-US" sz="1600" baseline="-25000">
                    <a:latin typeface="+mj-lt"/>
                    <a:cs typeface="Arial" charset="0"/>
                  </a:rPr>
                  <a:t>2</a:t>
                </a:r>
                <a:endParaRPr lang="en-US" sz="1600">
                  <a:latin typeface="+mj-lt"/>
                  <a:cs typeface="Arial" charset="0"/>
                </a:endParaRPr>
              </a:p>
              <a:p>
                <a:pPr>
                  <a:defRPr/>
                </a:pPr>
                <a:endParaRPr lang="en-US" sz="1600">
                  <a:latin typeface="+mj-lt"/>
                  <a:cs typeface="Arial" charset="0"/>
                </a:endParaRPr>
              </a:p>
            </p:txBody>
          </p:sp>
          <p:sp>
            <p:nvSpPr>
              <p:cNvPr id="85032" name="Line 40">
                <a:extLst>
                  <a:ext uri="{FF2B5EF4-FFF2-40B4-BE49-F238E27FC236}">
                    <a16:creationId xmlns:a16="http://schemas.microsoft.com/office/drawing/2014/main" id="{CE2221C8-7562-4026-B503-F53FB6334C01}"/>
                  </a:ext>
                </a:extLst>
              </p:cNvPr>
              <p:cNvSpPr>
                <a:spLocks noChangeShapeType="1"/>
              </p:cNvSpPr>
              <p:nvPr/>
            </p:nvSpPr>
            <p:spPr bwMode="auto">
              <a:xfrm flipV="1">
                <a:off x="3251" y="1296"/>
                <a:ext cx="602" cy="182"/>
              </a:xfrm>
              <a:prstGeom prst="line">
                <a:avLst/>
              </a:prstGeom>
              <a:noFill/>
              <a:ln w="19050">
                <a:solidFill>
                  <a:srgbClr val="000000"/>
                </a:solidFill>
                <a:round/>
                <a:headEnd type="none" w="med" len="med"/>
                <a:tailEnd type="triangle" w="med" len="med"/>
              </a:ln>
            </p:spPr>
            <p:txBody>
              <a:bodyPr/>
              <a:lstStyle/>
              <a:p>
                <a:pPr eaLnBrk="1" hangingPunct="1">
                  <a:defRPr/>
                </a:pPr>
                <a:endParaRPr lang="ru-RU">
                  <a:latin typeface="+mj-lt"/>
                  <a:cs typeface="Arial" charset="0"/>
                </a:endParaRPr>
              </a:p>
            </p:txBody>
          </p:sp>
          <p:sp>
            <p:nvSpPr>
              <p:cNvPr id="85033" name="Line 41">
                <a:extLst>
                  <a:ext uri="{FF2B5EF4-FFF2-40B4-BE49-F238E27FC236}">
                    <a16:creationId xmlns:a16="http://schemas.microsoft.com/office/drawing/2014/main" id="{D6E85638-4B15-44DA-BDC6-4EFDFE2174E5}"/>
                  </a:ext>
                </a:extLst>
              </p:cNvPr>
              <p:cNvSpPr>
                <a:spLocks noChangeShapeType="1"/>
              </p:cNvSpPr>
              <p:nvPr/>
            </p:nvSpPr>
            <p:spPr bwMode="auto">
              <a:xfrm rot="-415313">
                <a:off x="4291" y="1145"/>
                <a:ext cx="415" cy="208"/>
              </a:xfrm>
              <a:prstGeom prst="line">
                <a:avLst/>
              </a:prstGeom>
              <a:noFill/>
              <a:ln w="19050">
                <a:solidFill>
                  <a:srgbClr val="000000"/>
                </a:solidFill>
                <a:round/>
                <a:headEnd type="none" w="med" len="med"/>
                <a:tailEnd type="triangle" w="med" len="med"/>
              </a:ln>
            </p:spPr>
            <p:txBody>
              <a:bodyPr/>
              <a:lstStyle/>
              <a:p>
                <a:pPr eaLnBrk="1" hangingPunct="1">
                  <a:defRPr/>
                </a:pPr>
                <a:endParaRPr lang="ru-RU">
                  <a:latin typeface="+mj-lt"/>
                  <a:cs typeface="Arial" charset="0"/>
                </a:endParaRPr>
              </a:p>
            </p:txBody>
          </p:sp>
          <p:sp>
            <p:nvSpPr>
              <p:cNvPr id="85034" name="Line 42">
                <a:extLst>
                  <a:ext uri="{FF2B5EF4-FFF2-40B4-BE49-F238E27FC236}">
                    <a16:creationId xmlns:a16="http://schemas.microsoft.com/office/drawing/2014/main" id="{62435F83-822F-4503-9C40-37678C494C23}"/>
                  </a:ext>
                </a:extLst>
              </p:cNvPr>
              <p:cNvSpPr>
                <a:spLocks noChangeShapeType="1"/>
              </p:cNvSpPr>
              <p:nvPr/>
            </p:nvSpPr>
            <p:spPr bwMode="auto">
              <a:xfrm flipH="1">
                <a:off x="4324" y="1652"/>
                <a:ext cx="612" cy="414"/>
              </a:xfrm>
              <a:prstGeom prst="line">
                <a:avLst/>
              </a:prstGeom>
              <a:noFill/>
              <a:ln w="19050">
                <a:solidFill>
                  <a:srgbClr val="000000"/>
                </a:solidFill>
                <a:round/>
                <a:headEnd type="none" w="med" len="med"/>
                <a:tailEnd type="triangle" w="med" len="med"/>
              </a:ln>
            </p:spPr>
            <p:txBody>
              <a:bodyPr/>
              <a:lstStyle/>
              <a:p>
                <a:pPr eaLnBrk="1" hangingPunct="1">
                  <a:defRPr/>
                </a:pPr>
                <a:endParaRPr lang="ru-RU">
                  <a:latin typeface="+mj-lt"/>
                  <a:cs typeface="Arial" charset="0"/>
                </a:endParaRPr>
              </a:p>
            </p:txBody>
          </p:sp>
          <p:sp>
            <p:nvSpPr>
              <p:cNvPr id="85035" name="Line 43">
                <a:extLst>
                  <a:ext uri="{FF2B5EF4-FFF2-40B4-BE49-F238E27FC236}">
                    <a16:creationId xmlns:a16="http://schemas.microsoft.com/office/drawing/2014/main" id="{8A0ECF5B-B35D-45ED-8872-1E8459097812}"/>
                  </a:ext>
                </a:extLst>
              </p:cNvPr>
              <p:cNvSpPr>
                <a:spLocks noChangeShapeType="1"/>
              </p:cNvSpPr>
              <p:nvPr/>
            </p:nvSpPr>
            <p:spPr bwMode="auto">
              <a:xfrm flipH="1" flipV="1">
                <a:off x="4231" y="2335"/>
                <a:ext cx="329" cy="833"/>
              </a:xfrm>
              <a:prstGeom prst="line">
                <a:avLst/>
              </a:prstGeom>
              <a:noFill/>
              <a:ln w="19050">
                <a:solidFill>
                  <a:srgbClr val="000000"/>
                </a:solidFill>
                <a:round/>
                <a:headEnd/>
                <a:tailEnd type="triangle" w="med" len="med"/>
              </a:ln>
            </p:spPr>
            <p:txBody>
              <a:bodyPr/>
              <a:lstStyle/>
              <a:p>
                <a:pPr eaLnBrk="1" hangingPunct="1">
                  <a:defRPr/>
                </a:pPr>
                <a:endParaRPr lang="ru-RU">
                  <a:latin typeface="+mj-lt"/>
                  <a:cs typeface="Arial" charset="0"/>
                </a:endParaRPr>
              </a:p>
            </p:txBody>
          </p:sp>
          <p:sp>
            <p:nvSpPr>
              <p:cNvPr id="85036" name="Line 44">
                <a:extLst>
                  <a:ext uri="{FF2B5EF4-FFF2-40B4-BE49-F238E27FC236}">
                    <a16:creationId xmlns:a16="http://schemas.microsoft.com/office/drawing/2014/main" id="{7D156652-F78D-4434-9CF4-BB8BB87F748B}"/>
                  </a:ext>
                </a:extLst>
              </p:cNvPr>
              <p:cNvSpPr>
                <a:spLocks noChangeShapeType="1"/>
              </p:cNvSpPr>
              <p:nvPr/>
            </p:nvSpPr>
            <p:spPr bwMode="auto">
              <a:xfrm flipH="1" flipV="1">
                <a:off x="4298" y="2244"/>
                <a:ext cx="738" cy="299"/>
              </a:xfrm>
              <a:prstGeom prst="line">
                <a:avLst/>
              </a:prstGeom>
              <a:noFill/>
              <a:ln w="19050">
                <a:solidFill>
                  <a:srgbClr val="000000"/>
                </a:solidFill>
                <a:round/>
                <a:headEnd type="none" w="med" len="med"/>
                <a:tailEnd type="triangle" w="med" len="med"/>
              </a:ln>
            </p:spPr>
            <p:txBody>
              <a:bodyPr/>
              <a:lstStyle/>
              <a:p>
                <a:pPr eaLnBrk="1" hangingPunct="1">
                  <a:defRPr/>
                </a:pPr>
                <a:endParaRPr lang="ru-RU">
                  <a:latin typeface="+mj-lt"/>
                  <a:cs typeface="Arial" charset="0"/>
                </a:endParaRPr>
              </a:p>
            </p:txBody>
          </p:sp>
          <p:sp>
            <p:nvSpPr>
              <p:cNvPr id="85037" name="Line 45">
                <a:extLst>
                  <a:ext uri="{FF2B5EF4-FFF2-40B4-BE49-F238E27FC236}">
                    <a16:creationId xmlns:a16="http://schemas.microsoft.com/office/drawing/2014/main" id="{A76151A8-012B-487E-8B8E-4F081A34ECAA}"/>
                  </a:ext>
                </a:extLst>
              </p:cNvPr>
              <p:cNvSpPr>
                <a:spLocks noChangeShapeType="1"/>
              </p:cNvSpPr>
              <p:nvPr/>
            </p:nvSpPr>
            <p:spPr bwMode="auto">
              <a:xfrm flipH="1" flipV="1">
                <a:off x="3091" y="1814"/>
                <a:ext cx="304" cy="824"/>
              </a:xfrm>
              <a:prstGeom prst="line">
                <a:avLst/>
              </a:prstGeom>
              <a:noFill/>
              <a:ln w="19050">
                <a:solidFill>
                  <a:srgbClr val="000000"/>
                </a:solidFill>
                <a:round/>
                <a:headEnd type="none" w="med" len="med"/>
                <a:tailEnd type="triangle" w="med" len="med"/>
              </a:ln>
            </p:spPr>
            <p:txBody>
              <a:bodyPr/>
              <a:lstStyle/>
              <a:p>
                <a:pPr eaLnBrk="1" hangingPunct="1">
                  <a:defRPr/>
                </a:pPr>
                <a:endParaRPr lang="ru-RU">
                  <a:latin typeface="+mj-lt"/>
                  <a:cs typeface="Arial" charset="0"/>
                </a:endParaRPr>
              </a:p>
            </p:txBody>
          </p:sp>
          <p:sp>
            <p:nvSpPr>
              <p:cNvPr id="85038" name="Text Box 46">
                <a:extLst>
                  <a:ext uri="{FF2B5EF4-FFF2-40B4-BE49-F238E27FC236}">
                    <a16:creationId xmlns:a16="http://schemas.microsoft.com/office/drawing/2014/main" id="{4E288428-0E9C-4977-96BD-D645394ED3EA}"/>
                  </a:ext>
                </a:extLst>
              </p:cNvPr>
              <p:cNvSpPr txBox="1">
                <a:spLocks noChangeArrowheads="1"/>
              </p:cNvSpPr>
              <p:nvPr/>
            </p:nvSpPr>
            <p:spPr bwMode="auto">
              <a:xfrm>
                <a:off x="3139" y="965"/>
                <a:ext cx="342" cy="325"/>
              </a:xfrm>
              <a:prstGeom prst="rect">
                <a:avLst/>
              </a:prstGeom>
              <a:noFill/>
              <a:ln>
                <a:noFill/>
              </a:ln>
            </p:spPr>
            <p:txBody>
              <a:bodyPr/>
              <a:lstStyle/>
              <a:p>
                <a:pPr>
                  <a:defRPr/>
                </a:pPr>
                <a:r>
                  <a:rPr lang="en-US" b="1" dirty="0">
                    <a:latin typeface="+mj-lt"/>
                    <a:cs typeface="Arial" charset="0"/>
                  </a:rPr>
                  <a:t>X</a:t>
                </a:r>
                <a:r>
                  <a:rPr lang="en-US" b="1" baseline="-25000" dirty="0">
                    <a:latin typeface="+mj-lt"/>
                    <a:cs typeface="Arial" charset="0"/>
                  </a:rPr>
                  <a:t>1</a:t>
                </a:r>
              </a:p>
              <a:p>
                <a:pPr>
                  <a:defRPr/>
                </a:pPr>
                <a:endParaRPr lang="en-US" b="1" dirty="0">
                  <a:latin typeface="+mj-lt"/>
                  <a:cs typeface="Arial" charset="0"/>
                </a:endParaRPr>
              </a:p>
              <a:p>
                <a:pPr>
                  <a:defRPr/>
                </a:pPr>
                <a:endParaRPr lang="en-US" b="1" dirty="0">
                  <a:latin typeface="+mj-lt"/>
                  <a:cs typeface="Arial" charset="0"/>
                </a:endParaRPr>
              </a:p>
              <a:p>
                <a:pPr>
                  <a:defRPr/>
                </a:pPr>
                <a:r>
                  <a:rPr lang="en-US" b="1" dirty="0">
                    <a:latin typeface="+mj-lt"/>
                    <a:cs typeface="Arial" charset="0"/>
                  </a:rPr>
                  <a:t>  </a:t>
                </a:r>
              </a:p>
              <a:p>
                <a:pPr>
                  <a:defRPr/>
                </a:pPr>
                <a:r>
                  <a:rPr lang="en-US" b="1" dirty="0">
                    <a:latin typeface="+mj-lt"/>
                    <a:cs typeface="Arial" charset="0"/>
                  </a:rPr>
                  <a:t>                    </a:t>
                </a:r>
                <a:endParaRPr lang="en-US" b="1" baseline="-25000" dirty="0">
                  <a:latin typeface="+mj-lt"/>
                  <a:cs typeface="Arial" charset="0"/>
                </a:endParaRPr>
              </a:p>
              <a:p>
                <a:pPr>
                  <a:defRPr/>
                </a:pPr>
                <a:endParaRPr lang="en-US" b="1" dirty="0">
                  <a:latin typeface="+mj-lt"/>
                  <a:cs typeface="Arial" charset="0"/>
                </a:endParaRPr>
              </a:p>
            </p:txBody>
          </p:sp>
          <p:sp>
            <p:nvSpPr>
              <p:cNvPr id="85039" name="Text Box 47">
                <a:extLst>
                  <a:ext uri="{FF2B5EF4-FFF2-40B4-BE49-F238E27FC236}">
                    <a16:creationId xmlns:a16="http://schemas.microsoft.com/office/drawing/2014/main" id="{91F76B85-DB2A-46FE-BDBD-E54E36C5F15E}"/>
                  </a:ext>
                </a:extLst>
              </p:cNvPr>
              <p:cNvSpPr txBox="1">
                <a:spLocks noChangeArrowheads="1"/>
              </p:cNvSpPr>
              <p:nvPr/>
            </p:nvSpPr>
            <p:spPr bwMode="auto">
              <a:xfrm>
                <a:off x="3217" y="1929"/>
                <a:ext cx="318" cy="262"/>
              </a:xfrm>
              <a:prstGeom prst="rect">
                <a:avLst/>
              </a:prstGeom>
              <a:noFill/>
              <a:ln>
                <a:noFill/>
              </a:ln>
            </p:spPr>
            <p:txBody>
              <a:bodyPr/>
              <a:lstStyle/>
              <a:p>
                <a:pPr>
                  <a:defRPr/>
                </a:pPr>
                <a:r>
                  <a:rPr lang="en-US" b="1" dirty="0">
                    <a:latin typeface="+mj-lt"/>
                    <a:cs typeface="Arial" charset="0"/>
                  </a:rPr>
                  <a:t>X</a:t>
                </a:r>
                <a:r>
                  <a:rPr lang="en-US" b="1" baseline="-25000" dirty="0">
                    <a:latin typeface="+mj-lt"/>
                    <a:cs typeface="Arial" charset="0"/>
                  </a:rPr>
                  <a:t>2</a:t>
                </a:r>
              </a:p>
              <a:p>
                <a:pPr>
                  <a:defRPr/>
                </a:pPr>
                <a:endParaRPr lang="en-US" b="1" dirty="0">
                  <a:latin typeface="+mj-lt"/>
                  <a:cs typeface="Arial" charset="0"/>
                </a:endParaRPr>
              </a:p>
            </p:txBody>
          </p:sp>
          <p:sp>
            <p:nvSpPr>
              <p:cNvPr id="85040" name="Text Box 48">
                <a:extLst>
                  <a:ext uri="{FF2B5EF4-FFF2-40B4-BE49-F238E27FC236}">
                    <a16:creationId xmlns:a16="http://schemas.microsoft.com/office/drawing/2014/main" id="{0DB7DCE9-D1EE-4BF0-803F-3AA293CC4062}"/>
                  </a:ext>
                </a:extLst>
              </p:cNvPr>
              <p:cNvSpPr txBox="1">
                <a:spLocks noChangeArrowheads="1"/>
              </p:cNvSpPr>
              <p:nvPr/>
            </p:nvSpPr>
            <p:spPr bwMode="auto">
              <a:xfrm>
                <a:off x="3554" y="3302"/>
                <a:ext cx="366" cy="264"/>
              </a:xfrm>
              <a:prstGeom prst="rect">
                <a:avLst/>
              </a:prstGeom>
              <a:noFill/>
              <a:ln>
                <a:noFill/>
              </a:ln>
            </p:spPr>
            <p:txBody>
              <a:bodyPr/>
              <a:lstStyle/>
              <a:p>
                <a:pPr>
                  <a:defRPr/>
                </a:pPr>
                <a:r>
                  <a:rPr lang="en-US" b="1">
                    <a:latin typeface="+mj-lt"/>
                    <a:cs typeface="Arial" charset="0"/>
                  </a:rPr>
                  <a:t>X</a:t>
                </a:r>
                <a:r>
                  <a:rPr lang="en-US" b="1" baseline="-25000">
                    <a:latin typeface="+mj-lt"/>
                    <a:cs typeface="Arial" charset="0"/>
                  </a:rPr>
                  <a:t>1</a:t>
                </a:r>
              </a:p>
            </p:txBody>
          </p:sp>
          <p:sp>
            <p:nvSpPr>
              <p:cNvPr id="85041" name="Text Box 49">
                <a:extLst>
                  <a:ext uri="{FF2B5EF4-FFF2-40B4-BE49-F238E27FC236}">
                    <a16:creationId xmlns:a16="http://schemas.microsoft.com/office/drawing/2014/main" id="{49EBA091-490A-4877-ABA2-8189BBBD2612}"/>
                  </a:ext>
                </a:extLst>
              </p:cNvPr>
              <p:cNvSpPr txBox="1">
                <a:spLocks noChangeArrowheads="1"/>
              </p:cNvSpPr>
              <p:nvPr/>
            </p:nvSpPr>
            <p:spPr bwMode="auto">
              <a:xfrm>
                <a:off x="4493" y="1562"/>
                <a:ext cx="326" cy="298"/>
              </a:xfrm>
              <a:prstGeom prst="rect">
                <a:avLst/>
              </a:prstGeom>
              <a:noFill/>
              <a:ln>
                <a:noFill/>
              </a:ln>
            </p:spPr>
            <p:txBody>
              <a:bodyPr/>
              <a:lstStyle/>
              <a:p>
                <a:pPr>
                  <a:defRPr/>
                </a:pPr>
                <a:r>
                  <a:rPr lang="en-US" b="1">
                    <a:latin typeface="+mj-lt"/>
                    <a:cs typeface="Arial" charset="0"/>
                  </a:rPr>
                  <a:t>X</a:t>
                </a:r>
                <a:r>
                  <a:rPr lang="en-US" b="1" baseline="-25000">
                    <a:latin typeface="+mj-lt"/>
                    <a:cs typeface="Arial" charset="0"/>
                  </a:rPr>
                  <a:t>2</a:t>
                </a:r>
              </a:p>
              <a:p>
                <a:pPr>
                  <a:defRPr/>
                </a:pPr>
                <a:endParaRPr lang="en-US" b="1">
                  <a:latin typeface="+mj-lt"/>
                  <a:cs typeface="Arial" charset="0"/>
                </a:endParaRPr>
              </a:p>
            </p:txBody>
          </p:sp>
          <p:sp>
            <p:nvSpPr>
              <p:cNvPr id="85042" name="Text Box 50">
                <a:extLst>
                  <a:ext uri="{FF2B5EF4-FFF2-40B4-BE49-F238E27FC236}">
                    <a16:creationId xmlns:a16="http://schemas.microsoft.com/office/drawing/2014/main" id="{7B74A493-BF6F-4FC5-8CBC-B1663D941A37}"/>
                  </a:ext>
                </a:extLst>
              </p:cNvPr>
              <p:cNvSpPr txBox="1">
                <a:spLocks noChangeArrowheads="1"/>
              </p:cNvSpPr>
              <p:nvPr/>
            </p:nvSpPr>
            <p:spPr bwMode="auto">
              <a:xfrm>
                <a:off x="4401" y="2569"/>
                <a:ext cx="363" cy="264"/>
              </a:xfrm>
              <a:prstGeom prst="rect">
                <a:avLst/>
              </a:prstGeom>
              <a:noFill/>
              <a:ln>
                <a:noFill/>
              </a:ln>
            </p:spPr>
            <p:txBody>
              <a:bodyPr/>
              <a:lstStyle/>
              <a:p>
                <a:pPr>
                  <a:defRPr/>
                </a:pPr>
                <a:r>
                  <a:rPr lang="en-US" b="1">
                    <a:latin typeface="+mj-lt"/>
                    <a:cs typeface="Arial" charset="0"/>
                  </a:rPr>
                  <a:t>X</a:t>
                </a:r>
                <a:r>
                  <a:rPr lang="en-US" b="1" baseline="-25000">
                    <a:latin typeface="+mj-lt"/>
                    <a:cs typeface="Arial" charset="0"/>
                  </a:rPr>
                  <a:t>1</a:t>
                </a:r>
                <a:endParaRPr lang="en-US" b="1">
                  <a:latin typeface="+mj-lt"/>
                  <a:cs typeface="Arial" charset="0"/>
                </a:endParaRPr>
              </a:p>
              <a:p>
                <a:pPr>
                  <a:defRPr/>
                </a:pPr>
                <a:endParaRPr lang="en-US" b="1">
                  <a:latin typeface="+mj-lt"/>
                  <a:cs typeface="Arial" charset="0"/>
                </a:endParaRPr>
              </a:p>
            </p:txBody>
          </p:sp>
          <p:sp>
            <p:nvSpPr>
              <p:cNvPr id="85043" name="Text Box 51">
                <a:extLst>
                  <a:ext uri="{FF2B5EF4-FFF2-40B4-BE49-F238E27FC236}">
                    <a16:creationId xmlns:a16="http://schemas.microsoft.com/office/drawing/2014/main" id="{3D3AB8B2-5195-41C6-A80C-7BA0C1D3DB2D}"/>
                  </a:ext>
                </a:extLst>
              </p:cNvPr>
              <p:cNvSpPr txBox="1">
                <a:spLocks noChangeArrowheads="1"/>
              </p:cNvSpPr>
              <p:nvPr/>
            </p:nvSpPr>
            <p:spPr bwMode="auto">
              <a:xfrm>
                <a:off x="4217" y="1395"/>
                <a:ext cx="328" cy="264"/>
              </a:xfrm>
              <a:prstGeom prst="rect">
                <a:avLst/>
              </a:prstGeom>
              <a:noFill/>
              <a:ln>
                <a:noFill/>
              </a:ln>
            </p:spPr>
            <p:txBody>
              <a:bodyPr/>
              <a:lstStyle/>
              <a:p>
                <a:pPr>
                  <a:defRPr/>
                </a:pPr>
                <a:r>
                  <a:rPr lang="en-US" sz="2000">
                    <a:latin typeface="+mj-lt"/>
                    <a:cs typeface="Arial" charset="0"/>
                  </a:rPr>
                  <a:t>X</a:t>
                </a:r>
                <a:r>
                  <a:rPr lang="en-US" sz="2000" baseline="-25000">
                    <a:latin typeface="+mj-lt"/>
                    <a:cs typeface="Arial" charset="0"/>
                  </a:rPr>
                  <a:t>1</a:t>
                </a:r>
              </a:p>
            </p:txBody>
          </p:sp>
          <p:sp>
            <p:nvSpPr>
              <p:cNvPr id="85044" name="Text Box 52">
                <a:extLst>
                  <a:ext uri="{FF2B5EF4-FFF2-40B4-BE49-F238E27FC236}">
                    <a16:creationId xmlns:a16="http://schemas.microsoft.com/office/drawing/2014/main" id="{835519D2-185D-4263-B494-FA57765A1A30}"/>
                  </a:ext>
                </a:extLst>
              </p:cNvPr>
              <p:cNvSpPr txBox="1">
                <a:spLocks noChangeArrowheads="1"/>
              </p:cNvSpPr>
              <p:nvPr/>
            </p:nvSpPr>
            <p:spPr bwMode="auto">
              <a:xfrm>
                <a:off x="4447" y="1888"/>
                <a:ext cx="332" cy="290"/>
              </a:xfrm>
              <a:prstGeom prst="rect">
                <a:avLst/>
              </a:prstGeom>
              <a:noFill/>
              <a:ln>
                <a:noFill/>
              </a:ln>
            </p:spPr>
            <p:txBody>
              <a:bodyPr/>
              <a:lstStyle/>
              <a:p>
                <a:pPr>
                  <a:defRPr/>
                </a:pPr>
                <a:r>
                  <a:rPr lang="en-US" b="1" dirty="0">
                    <a:latin typeface="+mj-lt"/>
                    <a:cs typeface="Arial" charset="0"/>
                  </a:rPr>
                  <a:t>X</a:t>
                </a:r>
                <a:r>
                  <a:rPr lang="en-US" b="1" baseline="-25000" dirty="0">
                    <a:latin typeface="+mj-lt"/>
                    <a:cs typeface="Arial" charset="0"/>
                  </a:rPr>
                  <a:t>2</a:t>
                </a:r>
              </a:p>
              <a:p>
                <a:pPr>
                  <a:defRPr/>
                </a:pPr>
                <a:endParaRPr lang="en-US" b="1" dirty="0">
                  <a:latin typeface="+mj-lt"/>
                  <a:cs typeface="Arial" charset="0"/>
                </a:endParaRPr>
              </a:p>
            </p:txBody>
          </p:sp>
          <p:sp>
            <p:nvSpPr>
              <p:cNvPr id="85045" name="Text Box 53">
                <a:extLst>
                  <a:ext uri="{FF2B5EF4-FFF2-40B4-BE49-F238E27FC236}">
                    <a16:creationId xmlns:a16="http://schemas.microsoft.com/office/drawing/2014/main" id="{1E3FF860-A4FC-473D-A071-55333E7D95B5}"/>
                  </a:ext>
                </a:extLst>
              </p:cNvPr>
              <p:cNvSpPr txBox="1">
                <a:spLocks noChangeArrowheads="1"/>
              </p:cNvSpPr>
              <p:nvPr/>
            </p:nvSpPr>
            <p:spPr bwMode="auto">
              <a:xfrm>
                <a:off x="4715" y="2220"/>
                <a:ext cx="386" cy="245"/>
              </a:xfrm>
              <a:prstGeom prst="rect">
                <a:avLst/>
              </a:prstGeom>
              <a:noFill/>
              <a:ln>
                <a:noFill/>
              </a:ln>
            </p:spPr>
            <p:txBody>
              <a:bodyPr/>
              <a:lstStyle/>
              <a:p>
                <a:pPr>
                  <a:defRPr/>
                </a:pPr>
                <a:r>
                  <a:rPr lang="en-US" b="1" dirty="0">
                    <a:latin typeface="+mj-lt"/>
                    <a:cs typeface="Arial" charset="0"/>
                  </a:rPr>
                  <a:t>X</a:t>
                </a:r>
                <a:r>
                  <a:rPr lang="en-US" b="1" baseline="-25000" dirty="0">
                    <a:latin typeface="+mj-lt"/>
                    <a:cs typeface="Arial" charset="0"/>
                  </a:rPr>
                  <a:t>1</a:t>
                </a:r>
                <a:endParaRPr lang="en-US" b="1" dirty="0">
                  <a:latin typeface="+mj-lt"/>
                  <a:cs typeface="Arial" charset="0"/>
                </a:endParaRPr>
              </a:p>
              <a:p>
                <a:pPr>
                  <a:defRPr/>
                </a:pPr>
                <a:endParaRPr lang="en-US" b="1" dirty="0">
                  <a:latin typeface="+mj-lt"/>
                  <a:cs typeface="Arial" charset="0"/>
                </a:endParaRPr>
              </a:p>
            </p:txBody>
          </p:sp>
          <p:sp>
            <p:nvSpPr>
              <p:cNvPr id="85046" name="Text Box 54">
                <a:extLst>
                  <a:ext uri="{FF2B5EF4-FFF2-40B4-BE49-F238E27FC236}">
                    <a16:creationId xmlns:a16="http://schemas.microsoft.com/office/drawing/2014/main" id="{AA093DF6-1240-44B7-A662-07E5E08172F7}"/>
                  </a:ext>
                </a:extLst>
              </p:cNvPr>
              <p:cNvSpPr txBox="1">
                <a:spLocks noChangeArrowheads="1"/>
              </p:cNvSpPr>
              <p:nvPr/>
            </p:nvSpPr>
            <p:spPr bwMode="auto">
              <a:xfrm>
                <a:off x="4345" y="974"/>
                <a:ext cx="384" cy="451"/>
              </a:xfrm>
              <a:prstGeom prst="rect">
                <a:avLst/>
              </a:prstGeom>
              <a:noFill/>
              <a:ln>
                <a:noFill/>
              </a:ln>
            </p:spPr>
            <p:txBody>
              <a:bodyPr/>
              <a:lstStyle/>
              <a:p>
                <a:pPr>
                  <a:defRPr/>
                </a:pPr>
                <a:r>
                  <a:rPr lang="en-US" b="1" dirty="0">
                    <a:latin typeface="+mj-lt"/>
                    <a:cs typeface="Arial" charset="0"/>
                  </a:rPr>
                  <a:t>X</a:t>
                </a:r>
                <a:r>
                  <a:rPr lang="en-US" b="1" baseline="-25000" dirty="0">
                    <a:latin typeface="+mj-lt"/>
                    <a:cs typeface="Arial" charset="0"/>
                  </a:rPr>
                  <a:t>1</a:t>
                </a:r>
                <a:endParaRPr lang="en-US" b="1" dirty="0">
                  <a:latin typeface="+mj-lt"/>
                  <a:cs typeface="Arial" charset="0"/>
                </a:endParaRPr>
              </a:p>
              <a:p>
                <a:pPr>
                  <a:defRPr/>
                </a:pPr>
                <a:endParaRPr lang="en-US" b="1" dirty="0">
                  <a:latin typeface="+mj-lt"/>
                  <a:cs typeface="Arial" charset="0"/>
                </a:endParaRPr>
              </a:p>
            </p:txBody>
          </p:sp>
          <p:sp>
            <p:nvSpPr>
              <p:cNvPr id="85047" name="Text Box 55">
                <a:extLst>
                  <a:ext uri="{FF2B5EF4-FFF2-40B4-BE49-F238E27FC236}">
                    <a16:creationId xmlns:a16="http://schemas.microsoft.com/office/drawing/2014/main" id="{70744814-CD96-49D1-BAF2-E2D8D389B44F}"/>
                  </a:ext>
                </a:extLst>
              </p:cNvPr>
              <p:cNvSpPr txBox="1">
                <a:spLocks noChangeArrowheads="1"/>
              </p:cNvSpPr>
              <p:nvPr/>
            </p:nvSpPr>
            <p:spPr bwMode="auto">
              <a:xfrm>
                <a:off x="4790" y="2869"/>
                <a:ext cx="322" cy="234"/>
              </a:xfrm>
              <a:prstGeom prst="rect">
                <a:avLst/>
              </a:prstGeom>
              <a:noFill/>
              <a:ln>
                <a:noFill/>
              </a:ln>
            </p:spPr>
            <p:txBody>
              <a:bodyPr/>
              <a:lstStyle/>
              <a:p>
                <a:pPr>
                  <a:defRPr/>
                </a:pPr>
                <a:r>
                  <a:rPr lang="en-US" b="1" dirty="0">
                    <a:latin typeface="+mj-lt"/>
                    <a:cs typeface="Arial" charset="0"/>
                  </a:rPr>
                  <a:t>X</a:t>
                </a:r>
                <a:r>
                  <a:rPr lang="en-US" b="1" baseline="-25000" dirty="0">
                    <a:latin typeface="+mj-lt"/>
                    <a:cs typeface="Arial" charset="0"/>
                  </a:rPr>
                  <a:t>2</a:t>
                </a:r>
              </a:p>
              <a:p>
                <a:pPr>
                  <a:defRPr/>
                </a:pPr>
                <a:endParaRPr lang="en-US" b="1" dirty="0">
                  <a:latin typeface="+mj-lt"/>
                  <a:cs typeface="Arial" charset="0"/>
                </a:endParaRPr>
              </a:p>
            </p:txBody>
          </p:sp>
          <p:sp>
            <p:nvSpPr>
              <p:cNvPr id="85048" name="Text Box 56">
                <a:extLst>
                  <a:ext uri="{FF2B5EF4-FFF2-40B4-BE49-F238E27FC236}">
                    <a16:creationId xmlns:a16="http://schemas.microsoft.com/office/drawing/2014/main" id="{C50E0E12-2D67-4667-99DB-A95BEE9ADC12}"/>
                  </a:ext>
                </a:extLst>
              </p:cNvPr>
              <p:cNvSpPr txBox="1">
                <a:spLocks noChangeArrowheads="1"/>
              </p:cNvSpPr>
              <p:nvPr/>
            </p:nvSpPr>
            <p:spPr bwMode="auto">
              <a:xfrm>
                <a:off x="4945" y="709"/>
                <a:ext cx="359" cy="263"/>
              </a:xfrm>
              <a:prstGeom prst="rect">
                <a:avLst/>
              </a:prstGeom>
              <a:noFill/>
              <a:ln>
                <a:noFill/>
              </a:ln>
            </p:spPr>
            <p:txBody>
              <a:bodyPr/>
              <a:lstStyle/>
              <a:p>
                <a:pPr>
                  <a:defRPr/>
                </a:pPr>
                <a:r>
                  <a:rPr lang="en-US" b="1">
                    <a:latin typeface="+mj-lt"/>
                    <a:cs typeface="Arial" charset="0"/>
                  </a:rPr>
                  <a:t>X</a:t>
                </a:r>
                <a:r>
                  <a:rPr lang="en-US" b="1" baseline="-25000">
                    <a:latin typeface="+mj-lt"/>
                    <a:cs typeface="Arial" charset="0"/>
                  </a:rPr>
                  <a:t>2</a:t>
                </a:r>
              </a:p>
              <a:p>
                <a:pPr>
                  <a:defRPr/>
                </a:pPr>
                <a:endParaRPr lang="en-US" b="1">
                  <a:latin typeface="+mj-lt"/>
                  <a:cs typeface="Arial" charset="0"/>
                </a:endParaRPr>
              </a:p>
            </p:txBody>
          </p:sp>
          <p:sp>
            <p:nvSpPr>
              <p:cNvPr id="85049" name="Line 57">
                <a:extLst>
                  <a:ext uri="{FF2B5EF4-FFF2-40B4-BE49-F238E27FC236}">
                    <a16:creationId xmlns:a16="http://schemas.microsoft.com/office/drawing/2014/main" id="{54ECC239-2F94-443F-89DB-2DBEC81B2F86}"/>
                  </a:ext>
                </a:extLst>
              </p:cNvPr>
              <p:cNvSpPr>
                <a:spLocks noChangeShapeType="1"/>
              </p:cNvSpPr>
              <p:nvPr/>
            </p:nvSpPr>
            <p:spPr bwMode="auto">
              <a:xfrm>
                <a:off x="2914" y="1622"/>
                <a:ext cx="285" cy="0"/>
              </a:xfrm>
              <a:prstGeom prst="line">
                <a:avLst/>
              </a:prstGeom>
              <a:noFill/>
              <a:ln w="19050">
                <a:solidFill>
                  <a:schemeClr val="tx1"/>
                </a:solidFill>
                <a:round/>
                <a:headEnd/>
                <a:tailEnd/>
              </a:ln>
              <a:effectLst/>
            </p:spPr>
            <p:txBody>
              <a:bodyPr/>
              <a:lstStyle/>
              <a:p>
                <a:pPr eaLnBrk="1" hangingPunct="1">
                  <a:defRPr/>
                </a:pPr>
                <a:endParaRPr lang="ru-RU">
                  <a:latin typeface="+mj-lt"/>
                  <a:cs typeface="Arial" charset="0"/>
                </a:endParaRPr>
              </a:p>
            </p:txBody>
          </p:sp>
          <p:sp>
            <p:nvSpPr>
              <p:cNvPr id="85050" name="Line 58">
                <a:extLst>
                  <a:ext uri="{FF2B5EF4-FFF2-40B4-BE49-F238E27FC236}">
                    <a16:creationId xmlns:a16="http://schemas.microsoft.com/office/drawing/2014/main" id="{D56D28B6-4A2C-4D47-8B71-42B770FFC0C9}"/>
                  </a:ext>
                </a:extLst>
              </p:cNvPr>
              <p:cNvSpPr>
                <a:spLocks noChangeShapeType="1"/>
              </p:cNvSpPr>
              <p:nvPr/>
            </p:nvSpPr>
            <p:spPr bwMode="auto">
              <a:xfrm>
                <a:off x="3904" y="1243"/>
                <a:ext cx="285" cy="0"/>
              </a:xfrm>
              <a:prstGeom prst="line">
                <a:avLst/>
              </a:prstGeom>
              <a:noFill/>
              <a:ln w="19050">
                <a:solidFill>
                  <a:schemeClr val="tx1"/>
                </a:solidFill>
                <a:round/>
                <a:headEnd/>
                <a:tailEnd/>
              </a:ln>
              <a:effectLst/>
            </p:spPr>
            <p:txBody>
              <a:bodyPr/>
              <a:lstStyle/>
              <a:p>
                <a:pPr eaLnBrk="1" hangingPunct="1">
                  <a:defRPr/>
                </a:pPr>
                <a:endParaRPr lang="ru-RU">
                  <a:latin typeface="+mj-lt"/>
                  <a:cs typeface="Arial" charset="0"/>
                </a:endParaRPr>
              </a:p>
            </p:txBody>
          </p:sp>
          <p:sp>
            <p:nvSpPr>
              <p:cNvPr id="85051" name="Line 59">
                <a:extLst>
                  <a:ext uri="{FF2B5EF4-FFF2-40B4-BE49-F238E27FC236}">
                    <a16:creationId xmlns:a16="http://schemas.microsoft.com/office/drawing/2014/main" id="{8D71D794-5D53-4F31-9EB1-337C65E20785}"/>
                  </a:ext>
                </a:extLst>
              </p:cNvPr>
              <p:cNvSpPr>
                <a:spLocks noChangeShapeType="1"/>
              </p:cNvSpPr>
              <p:nvPr/>
            </p:nvSpPr>
            <p:spPr bwMode="auto">
              <a:xfrm>
                <a:off x="4773" y="1458"/>
                <a:ext cx="285" cy="0"/>
              </a:xfrm>
              <a:prstGeom prst="line">
                <a:avLst/>
              </a:prstGeom>
              <a:noFill/>
              <a:ln w="19050">
                <a:solidFill>
                  <a:schemeClr val="tx1"/>
                </a:solidFill>
                <a:round/>
                <a:headEnd/>
                <a:tailEnd/>
              </a:ln>
              <a:effectLst/>
            </p:spPr>
            <p:txBody>
              <a:bodyPr/>
              <a:lstStyle/>
              <a:p>
                <a:pPr eaLnBrk="1" hangingPunct="1">
                  <a:defRPr/>
                </a:pPr>
                <a:endParaRPr lang="ru-RU">
                  <a:latin typeface="+mj-lt"/>
                  <a:cs typeface="Arial" charset="0"/>
                </a:endParaRPr>
              </a:p>
            </p:txBody>
          </p:sp>
          <p:sp>
            <p:nvSpPr>
              <p:cNvPr id="85052" name="Line 60">
                <a:extLst>
                  <a:ext uri="{FF2B5EF4-FFF2-40B4-BE49-F238E27FC236}">
                    <a16:creationId xmlns:a16="http://schemas.microsoft.com/office/drawing/2014/main" id="{10C5DFE3-B289-4422-BEDF-2F44B806A305}"/>
                  </a:ext>
                </a:extLst>
              </p:cNvPr>
              <p:cNvSpPr>
                <a:spLocks noChangeShapeType="1"/>
              </p:cNvSpPr>
              <p:nvPr/>
            </p:nvSpPr>
            <p:spPr bwMode="auto">
              <a:xfrm>
                <a:off x="3956" y="2172"/>
                <a:ext cx="263" cy="0"/>
              </a:xfrm>
              <a:prstGeom prst="line">
                <a:avLst/>
              </a:prstGeom>
              <a:noFill/>
              <a:ln w="19050">
                <a:solidFill>
                  <a:schemeClr val="tx1"/>
                </a:solidFill>
                <a:round/>
                <a:headEnd/>
                <a:tailEnd/>
              </a:ln>
              <a:effectLst/>
            </p:spPr>
            <p:txBody>
              <a:bodyPr/>
              <a:lstStyle/>
              <a:p>
                <a:pPr eaLnBrk="1" hangingPunct="1">
                  <a:defRPr/>
                </a:pPr>
                <a:endParaRPr lang="ru-RU">
                  <a:latin typeface="+mj-lt"/>
                  <a:cs typeface="Arial" charset="0"/>
                </a:endParaRPr>
              </a:p>
            </p:txBody>
          </p:sp>
          <p:sp>
            <p:nvSpPr>
              <p:cNvPr id="85054" name="Line 62">
                <a:extLst>
                  <a:ext uri="{FF2B5EF4-FFF2-40B4-BE49-F238E27FC236}">
                    <a16:creationId xmlns:a16="http://schemas.microsoft.com/office/drawing/2014/main" id="{E6811BBA-223D-4CA1-8A7B-902549B0CC91}"/>
                  </a:ext>
                </a:extLst>
              </p:cNvPr>
              <p:cNvSpPr>
                <a:spLocks noChangeShapeType="1"/>
              </p:cNvSpPr>
              <p:nvPr/>
            </p:nvSpPr>
            <p:spPr bwMode="auto">
              <a:xfrm>
                <a:off x="4456" y="3447"/>
                <a:ext cx="267" cy="0"/>
              </a:xfrm>
              <a:prstGeom prst="line">
                <a:avLst/>
              </a:prstGeom>
              <a:noFill/>
              <a:ln w="19050">
                <a:solidFill>
                  <a:schemeClr val="tx1"/>
                </a:solidFill>
                <a:round/>
                <a:headEnd/>
                <a:tailEnd/>
              </a:ln>
              <a:effectLst/>
            </p:spPr>
            <p:txBody>
              <a:bodyPr/>
              <a:lstStyle/>
              <a:p>
                <a:pPr eaLnBrk="1" hangingPunct="1">
                  <a:defRPr/>
                </a:pPr>
                <a:endParaRPr lang="ru-RU">
                  <a:latin typeface="+mj-lt"/>
                  <a:cs typeface="Arial" charset="0"/>
                </a:endParaRPr>
              </a:p>
            </p:txBody>
          </p:sp>
          <p:sp>
            <p:nvSpPr>
              <p:cNvPr id="85055" name="Line 63">
                <a:extLst>
                  <a:ext uri="{FF2B5EF4-FFF2-40B4-BE49-F238E27FC236}">
                    <a16:creationId xmlns:a16="http://schemas.microsoft.com/office/drawing/2014/main" id="{68BBF46E-A747-4C68-80B3-1E5859072E3A}"/>
                  </a:ext>
                </a:extLst>
              </p:cNvPr>
              <p:cNvSpPr>
                <a:spLocks noChangeShapeType="1"/>
              </p:cNvSpPr>
              <p:nvPr/>
            </p:nvSpPr>
            <p:spPr bwMode="auto">
              <a:xfrm>
                <a:off x="3356" y="2876"/>
                <a:ext cx="283" cy="0"/>
              </a:xfrm>
              <a:prstGeom prst="line">
                <a:avLst/>
              </a:prstGeom>
              <a:noFill/>
              <a:ln w="19050">
                <a:solidFill>
                  <a:schemeClr val="tx1"/>
                </a:solidFill>
                <a:round/>
                <a:headEnd/>
                <a:tailEnd/>
              </a:ln>
              <a:effectLst/>
            </p:spPr>
            <p:txBody>
              <a:bodyPr/>
              <a:lstStyle/>
              <a:p>
                <a:pPr eaLnBrk="1" hangingPunct="1">
                  <a:defRPr/>
                </a:pPr>
                <a:endParaRPr lang="ru-RU">
                  <a:latin typeface="+mj-lt"/>
                  <a:cs typeface="Arial" charset="0"/>
                </a:endParaRPr>
              </a:p>
            </p:txBody>
          </p:sp>
          <p:sp>
            <p:nvSpPr>
              <p:cNvPr id="85056" name="Text Box 64">
                <a:extLst>
                  <a:ext uri="{FF2B5EF4-FFF2-40B4-BE49-F238E27FC236}">
                    <a16:creationId xmlns:a16="http://schemas.microsoft.com/office/drawing/2014/main" id="{66D1C86B-5411-4EB3-A9EE-F8E9C761DD37}"/>
                  </a:ext>
                </a:extLst>
              </p:cNvPr>
              <p:cNvSpPr txBox="1">
                <a:spLocks noChangeArrowheads="1"/>
              </p:cNvSpPr>
              <p:nvPr/>
            </p:nvSpPr>
            <p:spPr bwMode="auto">
              <a:xfrm>
                <a:off x="4991" y="1616"/>
                <a:ext cx="361" cy="263"/>
              </a:xfrm>
              <a:prstGeom prst="rect">
                <a:avLst/>
              </a:prstGeom>
              <a:noFill/>
              <a:ln>
                <a:noFill/>
              </a:ln>
            </p:spPr>
            <p:txBody>
              <a:bodyPr/>
              <a:lstStyle/>
              <a:p>
                <a:pPr>
                  <a:defRPr/>
                </a:pPr>
                <a:r>
                  <a:rPr lang="en-US" b="1">
                    <a:latin typeface="+mj-lt"/>
                    <a:cs typeface="Arial" charset="0"/>
                  </a:rPr>
                  <a:t>X</a:t>
                </a:r>
                <a:r>
                  <a:rPr lang="en-US" b="1" baseline="-25000">
                    <a:latin typeface="+mj-lt"/>
                    <a:cs typeface="Arial" charset="0"/>
                  </a:rPr>
                  <a:t>2</a:t>
                </a:r>
              </a:p>
              <a:p>
                <a:pPr>
                  <a:defRPr/>
                </a:pPr>
                <a:endParaRPr lang="en-US" b="1">
                  <a:latin typeface="+mj-lt"/>
                  <a:cs typeface="Arial" charset="0"/>
                </a:endParaRPr>
              </a:p>
            </p:txBody>
          </p:sp>
          <p:sp>
            <p:nvSpPr>
              <p:cNvPr id="85057" name="Arc 65">
                <a:extLst>
                  <a:ext uri="{FF2B5EF4-FFF2-40B4-BE49-F238E27FC236}">
                    <a16:creationId xmlns:a16="http://schemas.microsoft.com/office/drawing/2014/main" id="{260DEC86-3AAF-45BC-81EF-92F4DF8F12C6}"/>
                  </a:ext>
                </a:extLst>
              </p:cNvPr>
              <p:cNvSpPr>
                <a:spLocks/>
              </p:cNvSpPr>
              <p:nvPr/>
            </p:nvSpPr>
            <p:spPr bwMode="auto">
              <a:xfrm>
                <a:off x="2822" y="1164"/>
                <a:ext cx="385" cy="293"/>
              </a:xfrm>
              <a:custGeom>
                <a:avLst/>
                <a:gdLst>
                  <a:gd name="G0" fmla="+- 21600 0 0"/>
                  <a:gd name="G1" fmla="+- 21600 0 0"/>
                  <a:gd name="G2" fmla="+- 21600 0 0"/>
                  <a:gd name="T0" fmla="*/ 3631 w 43200"/>
                  <a:gd name="T1" fmla="*/ 33586 h 33586"/>
                  <a:gd name="T2" fmla="*/ 41701 w 43200"/>
                  <a:gd name="T3" fmla="*/ 29506 h 33586"/>
                  <a:gd name="T4" fmla="*/ 21600 w 43200"/>
                  <a:gd name="T5" fmla="*/ 21600 h 33586"/>
                </a:gdLst>
                <a:ahLst/>
                <a:cxnLst>
                  <a:cxn ang="0">
                    <a:pos x="T0" y="T1"/>
                  </a:cxn>
                  <a:cxn ang="0">
                    <a:pos x="T2" y="T3"/>
                  </a:cxn>
                  <a:cxn ang="0">
                    <a:pos x="T4" y="T5"/>
                  </a:cxn>
                </a:cxnLst>
                <a:rect l="0" t="0" r="r" b="b"/>
                <a:pathLst>
                  <a:path w="43200" h="33586" fill="none" extrusionOk="0">
                    <a:moveTo>
                      <a:pt x="3630" y="33586"/>
                    </a:moveTo>
                    <a:cubicBezTo>
                      <a:pt x="1263" y="30036"/>
                      <a:pt x="0" y="25866"/>
                      <a:pt x="0" y="21600"/>
                    </a:cubicBezTo>
                    <a:cubicBezTo>
                      <a:pt x="0" y="9670"/>
                      <a:pt x="9670" y="0"/>
                      <a:pt x="21600" y="0"/>
                    </a:cubicBezTo>
                    <a:cubicBezTo>
                      <a:pt x="33529" y="0"/>
                      <a:pt x="43200" y="9670"/>
                      <a:pt x="43200" y="21600"/>
                    </a:cubicBezTo>
                    <a:cubicBezTo>
                      <a:pt x="43200" y="24305"/>
                      <a:pt x="42691" y="26987"/>
                      <a:pt x="41701" y="29506"/>
                    </a:cubicBezTo>
                  </a:path>
                  <a:path w="43200" h="33586" stroke="0" extrusionOk="0">
                    <a:moveTo>
                      <a:pt x="3630" y="33586"/>
                    </a:moveTo>
                    <a:cubicBezTo>
                      <a:pt x="1263" y="30036"/>
                      <a:pt x="0" y="25866"/>
                      <a:pt x="0" y="21600"/>
                    </a:cubicBezTo>
                    <a:cubicBezTo>
                      <a:pt x="0" y="9670"/>
                      <a:pt x="9670" y="0"/>
                      <a:pt x="21600" y="0"/>
                    </a:cubicBezTo>
                    <a:cubicBezTo>
                      <a:pt x="33529" y="0"/>
                      <a:pt x="43200" y="9670"/>
                      <a:pt x="43200" y="21600"/>
                    </a:cubicBezTo>
                    <a:cubicBezTo>
                      <a:pt x="43200" y="24305"/>
                      <a:pt x="42691" y="26987"/>
                      <a:pt x="41701" y="29506"/>
                    </a:cubicBezTo>
                    <a:lnTo>
                      <a:pt x="21600" y="21600"/>
                    </a:lnTo>
                    <a:close/>
                  </a:path>
                </a:pathLst>
              </a:custGeom>
              <a:noFill/>
              <a:ln w="28575">
                <a:solidFill>
                  <a:schemeClr val="tx1"/>
                </a:solidFill>
                <a:round/>
                <a:headEnd type="none" w="med" len="med"/>
                <a:tailEnd type="triangle" w="med" len="med"/>
              </a:ln>
              <a:effectLst/>
            </p:spPr>
            <p:txBody>
              <a:bodyPr wrap="none" anchor="ctr"/>
              <a:lstStyle/>
              <a:p>
                <a:pPr eaLnBrk="1" hangingPunct="1">
                  <a:defRPr/>
                </a:pPr>
                <a:endParaRPr lang="ru-RU">
                  <a:latin typeface="+mj-lt"/>
                  <a:cs typeface="Arial" charset="0"/>
                </a:endParaRPr>
              </a:p>
            </p:txBody>
          </p:sp>
          <p:sp>
            <p:nvSpPr>
              <p:cNvPr id="85058" name="Arc 66">
                <a:extLst>
                  <a:ext uri="{FF2B5EF4-FFF2-40B4-BE49-F238E27FC236}">
                    <a16:creationId xmlns:a16="http://schemas.microsoft.com/office/drawing/2014/main" id="{8445FCF7-8993-40AB-A708-F8EC2E88218A}"/>
                  </a:ext>
                </a:extLst>
              </p:cNvPr>
              <p:cNvSpPr>
                <a:spLocks/>
              </p:cNvSpPr>
              <p:nvPr/>
            </p:nvSpPr>
            <p:spPr bwMode="auto">
              <a:xfrm rot="7904980">
                <a:off x="3381" y="1708"/>
                <a:ext cx="1709" cy="730"/>
              </a:xfrm>
              <a:custGeom>
                <a:avLst/>
                <a:gdLst>
                  <a:gd name="G0" fmla="+- 9022 0 0"/>
                  <a:gd name="G1" fmla="+- 21600 0 0"/>
                  <a:gd name="G2" fmla="+- 21600 0 0"/>
                  <a:gd name="T0" fmla="*/ 0 w 26498"/>
                  <a:gd name="T1" fmla="*/ 1974 h 21600"/>
                  <a:gd name="T2" fmla="*/ 26498 w 26498"/>
                  <a:gd name="T3" fmla="*/ 8905 h 21600"/>
                  <a:gd name="T4" fmla="*/ 9022 w 26498"/>
                  <a:gd name="T5" fmla="*/ 21600 h 21600"/>
                </a:gdLst>
                <a:ahLst/>
                <a:cxnLst>
                  <a:cxn ang="0">
                    <a:pos x="T0" y="T1"/>
                  </a:cxn>
                  <a:cxn ang="0">
                    <a:pos x="T2" y="T3"/>
                  </a:cxn>
                  <a:cxn ang="0">
                    <a:pos x="T4" y="T5"/>
                  </a:cxn>
                </a:cxnLst>
                <a:rect l="0" t="0" r="r" b="b"/>
                <a:pathLst>
                  <a:path w="26498" h="21600" fill="none" extrusionOk="0">
                    <a:moveTo>
                      <a:pt x="0" y="1974"/>
                    </a:moveTo>
                    <a:cubicBezTo>
                      <a:pt x="2829" y="673"/>
                      <a:pt x="5907" y="-1"/>
                      <a:pt x="9022" y="0"/>
                    </a:cubicBezTo>
                    <a:cubicBezTo>
                      <a:pt x="15936" y="0"/>
                      <a:pt x="22433" y="3310"/>
                      <a:pt x="26497" y="8905"/>
                    </a:cubicBezTo>
                  </a:path>
                  <a:path w="26498" h="21600" stroke="0" extrusionOk="0">
                    <a:moveTo>
                      <a:pt x="0" y="1974"/>
                    </a:moveTo>
                    <a:cubicBezTo>
                      <a:pt x="2829" y="673"/>
                      <a:pt x="5907" y="-1"/>
                      <a:pt x="9022" y="0"/>
                    </a:cubicBezTo>
                    <a:cubicBezTo>
                      <a:pt x="15936" y="0"/>
                      <a:pt x="22433" y="3310"/>
                      <a:pt x="26497" y="8905"/>
                    </a:cubicBezTo>
                    <a:lnTo>
                      <a:pt x="9022" y="21600"/>
                    </a:lnTo>
                    <a:close/>
                  </a:path>
                </a:pathLst>
              </a:custGeom>
              <a:noFill/>
              <a:ln w="28575">
                <a:solidFill>
                  <a:schemeClr val="tx1"/>
                </a:solidFill>
                <a:round/>
                <a:headEnd type="none" w="med" len="med"/>
                <a:tailEnd type="triangle" w="med" len="med"/>
              </a:ln>
              <a:effectLst/>
            </p:spPr>
            <p:txBody>
              <a:bodyPr wrap="none" anchor="ctr"/>
              <a:lstStyle/>
              <a:p>
                <a:pPr eaLnBrk="1" hangingPunct="1">
                  <a:defRPr/>
                </a:pPr>
                <a:endParaRPr lang="ru-RU">
                  <a:latin typeface="+mj-lt"/>
                  <a:cs typeface="Arial" charset="0"/>
                </a:endParaRPr>
              </a:p>
            </p:txBody>
          </p:sp>
          <p:sp>
            <p:nvSpPr>
              <p:cNvPr id="85059" name="Arc 67">
                <a:extLst>
                  <a:ext uri="{FF2B5EF4-FFF2-40B4-BE49-F238E27FC236}">
                    <a16:creationId xmlns:a16="http://schemas.microsoft.com/office/drawing/2014/main" id="{DF471310-3479-4C73-B18F-E38D9C0B0985}"/>
                  </a:ext>
                </a:extLst>
              </p:cNvPr>
              <p:cNvSpPr>
                <a:spLocks/>
              </p:cNvSpPr>
              <p:nvPr/>
            </p:nvSpPr>
            <p:spPr bwMode="auto">
              <a:xfrm rot="1334812">
                <a:off x="4126" y="963"/>
                <a:ext cx="1430" cy="1169"/>
              </a:xfrm>
              <a:custGeom>
                <a:avLst/>
                <a:gdLst>
                  <a:gd name="G0" fmla="+- 17496 0 0"/>
                  <a:gd name="G1" fmla="+- 21600 0 0"/>
                  <a:gd name="G2" fmla="+- 21600 0 0"/>
                  <a:gd name="T0" fmla="*/ 0 w 39096"/>
                  <a:gd name="T1" fmla="*/ 8932 h 28131"/>
                  <a:gd name="T2" fmla="*/ 38085 w 39096"/>
                  <a:gd name="T3" fmla="*/ 28131 h 28131"/>
                  <a:gd name="T4" fmla="*/ 17496 w 39096"/>
                  <a:gd name="T5" fmla="*/ 21600 h 28131"/>
                </a:gdLst>
                <a:ahLst/>
                <a:cxnLst>
                  <a:cxn ang="0">
                    <a:pos x="T0" y="T1"/>
                  </a:cxn>
                  <a:cxn ang="0">
                    <a:pos x="T2" y="T3"/>
                  </a:cxn>
                  <a:cxn ang="0">
                    <a:pos x="T4" y="T5"/>
                  </a:cxn>
                </a:cxnLst>
                <a:rect l="0" t="0" r="r" b="b"/>
                <a:pathLst>
                  <a:path w="39096" h="28131" fill="none" extrusionOk="0">
                    <a:moveTo>
                      <a:pt x="0" y="8932"/>
                    </a:moveTo>
                    <a:cubicBezTo>
                      <a:pt x="4062" y="3321"/>
                      <a:pt x="10569" y="-1"/>
                      <a:pt x="17496" y="0"/>
                    </a:cubicBezTo>
                    <a:cubicBezTo>
                      <a:pt x="29425" y="0"/>
                      <a:pt x="39096" y="9670"/>
                      <a:pt x="39096" y="21600"/>
                    </a:cubicBezTo>
                    <a:cubicBezTo>
                      <a:pt x="39096" y="23815"/>
                      <a:pt x="38755" y="26018"/>
                      <a:pt x="38084" y="28130"/>
                    </a:cubicBezTo>
                  </a:path>
                  <a:path w="39096" h="28131" stroke="0" extrusionOk="0">
                    <a:moveTo>
                      <a:pt x="0" y="8932"/>
                    </a:moveTo>
                    <a:cubicBezTo>
                      <a:pt x="4062" y="3321"/>
                      <a:pt x="10569" y="-1"/>
                      <a:pt x="17496" y="0"/>
                    </a:cubicBezTo>
                    <a:cubicBezTo>
                      <a:pt x="29425" y="0"/>
                      <a:pt x="39096" y="9670"/>
                      <a:pt x="39096" y="21600"/>
                    </a:cubicBezTo>
                    <a:cubicBezTo>
                      <a:pt x="39096" y="23815"/>
                      <a:pt x="38755" y="26018"/>
                      <a:pt x="38084" y="28130"/>
                    </a:cubicBezTo>
                    <a:lnTo>
                      <a:pt x="17496" y="21600"/>
                    </a:lnTo>
                    <a:close/>
                  </a:path>
                </a:pathLst>
              </a:custGeom>
              <a:noFill/>
              <a:ln w="19050">
                <a:solidFill>
                  <a:schemeClr val="tx1"/>
                </a:solidFill>
                <a:round/>
                <a:headEnd type="none" w="med" len="med"/>
                <a:tailEnd type="triangle" w="med" len="med"/>
              </a:ln>
              <a:effectLst/>
            </p:spPr>
            <p:txBody>
              <a:bodyPr wrap="none" anchor="ctr"/>
              <a:lstStyle/>
              <a:p>
                <a:pPr eaLnBrk="1" hangingPunct="1">
                  <a:defRPr/>
                </a:pPr>
                <a:endParaRPr lang="ru-RU">
                  <a:latin typeface="+mj-lt"/>
                  <a:cs typeface="Arial" charset="0"/>
                </a:endParaRPr>
              </a:p>
            </p:txBody>
          </p:sp>
          <p:sp>
            <p:nvSpPr>
              <p:cNvPr id="85060" name="Arc 68">
                <a:extLst>
                  <a:ext uri="{FF2B5EF4-FFF2-40B4-BE49-F238E27FC236}">
                    <a16:creationId xmlns:a16="http://schemas.microsoft.com/office/drawing/2014/main" id="{1BC3A70B-CD8D-40F7-8667-929EF66B65E7}"/>
                  </a:ext>
                </a:extLst>
              </p:cNvPr>
              <p:cNvSpPr>
                <a:spLocks/>
              </p:cNvSpPr>
              <p:nvPr/>
            </p:nvSpPr>
            <p:spPr bwMode="auto">
              <a:xfrm rot="-299976">
                <a:off x="4337" y="2108"/>
                <a:ext cx="821" cy="336"/>
              </a:xfrm>
              <a:custGeom>
                <a:avLst/>
                <a:gdLst>
                  <a:gd name="G0" fmla="+- 9938 0 0"/>
                  <a:gd name="G1" fmla="+- 21600 0 0"/>
                  <a:gd name="G2" fmla="+- 21600 0 0"/>
                  <a:gd name="T0" fmla="*/ 0 w 31114"/>
                  <a:gd name="T1" fmla="*/ 2422 h 21600"/>
                  <a:gd name="T2" fmla="*/ 31114 w 31114"/>
                  <a:gd name="T3" fmla="*/ 17341 h 21600"/>
                  <a:gd name="T4" fmla="*/ 9938 w 31114"/>
                  <a:gd name="T5" fmla="*/ 21600 h 21600"/>
                </a:gdLst>
                <a:ahLst/>
                <a:cxnLst>
                  <a:cxn ang="0">
                    <a:pos x="T0" y="T1"/>
                  </a:cxn>
                  <a:cxn ang="0">
                    <a:pos x="T2" y="T3"/>
                  </a:cxn>
                  <a:cxn ang="0">
                    <a:pos x="T4" y="T5"/>
                  </a:cxn>
                </a:cxnLst>
                <a:rect l="0" t="0" r="r" b="b"/>
                <a:pathLst>
                  <a:path w="31114" h="21600" fill="none" extrusionOk="0">
                    <a:moveTo>
                      <a:pt x="-1" y="2421"/>
                    </a:moveTo>
                    <a:cubicBezTo>
                      <a:pt x="3070" y="830"/>
                      <a:pt x="6479" y="-1"/>
                      <a:pt x="9938" y="0"/>
                    </a:cubicBezTo>
                    <a:cubicBezTo>
                      <a:pt x="20225" y="0"/>
                      <a:pt x="29085" y="7255"/>
                      <a:pt x="31113" y="17341"/>
                    </a:cubicBezTo>
                  </a:path>
                  <a:path w="31114" h="21600" stroke="0" extrusionOk="0">
                    <a:moveTo>
                      <a:pt x="-1" y="2421"/>
                    </a:moveTo>
                    <a:cubicBezTo>
                      <a:pt x="3070" y="830"/>
                      <a:pt x="6479" y="-1"/>
                      <a:pt x="9938" y="0"/>
                    </a:cubicBezTo>
                    <a:cubicBezTo>
                      <a:pt x="20225" y="0"/>
                      <a:pt x="29085" y="7255"/>
                      <a:pt x="31113" y="17341"/>
                    </a:cubicBezTo>
                    <a:lnTo>
                      <a:pt x="9938" y="21600"/>
                    </a:lnTo>
                    <a:close/>
                  </a:path>
                </a:pathLst>
              </a:custGeom>
              <a:noFill/>
              <a:ln w="28575">
                <a:solidFill>
                  <a:schemeClr val="tx1"/>
                </a:solidFill>
                <a:round/>
                <a:headEnd type="none" w="med" len="med"/>
                <a:tailEnd type="triangle" w="med" len="med"/>
              </a:ln>
              <a:effectLst/>
            </p:spPr>
            <p:txBody>
              <a:bodyPr wrap="none" anchor="ctr"/>
              <a:lstStyle/>
              <a:p>
                <a:pPr eaLnBrk="1" hangingPunct="1">
                  <a:defRPr/>
                </a:pPr>
                <a:endParaRPr lang="ru-RU">
                  <a:latin typeface="+mj-lt"/>
                  <a:cs typeface="Arial" charset="0"/>
                </a:endParaRPr>
              </a:p>
            </p:txBody>
          </p:sp>
          <p:sp>
            <p:nvSpPr>
              <p:cNvPr id="85061" name="Arc 69">
                <a:extLst>
                  <a:ext uri="{FF2B5EF4-FFF2-40B4-BE49-F238E27FC236}">
                    <a16:creationId xmlns:a16="http://schemas.microsoft.com/office/drawing/2014/main" id="{B83232EA-B6B9-4C5F-B18E-8D5600BA0B0C}"/>
                  </a:ext>
                </a:extLst>
              </p:cNvPr>
              <p:cNvSpPr>
                <a:spLocks/>
              </p:cNvSpPr>
              <p:nvPr/>
            </p:nvSpPr>
            <p:spPr bwMode="auto">
              <a:xfrm rot="10800000">
                <a:off x="3729" y="2762"/>
                <a:ext cx="1438" cy="203"/>
              </a:xfrm>
              <a:custGeom>
                <a:avLst/>
                <a:gdLst>
                  <a:gd name="G0" fmla="+- 21600 0 0"/>
                  <a:gd name="G1" fmla="+- 21600 0 0"/>
                  <a:gd name="G2" fmla="+- 21600 0 0"/>
                  <a:gd name="T0" fmla="*/ 71 w 34762"/>
                  <a:gd name="T1" fmla="*/ 23347 h 23347"/>
                  <a:gd name="T2" fmla="*/ 34762 w 34762"/>
                  <a:gd name="T3" fmla="*/ 4474 h 23347"/>
                  <a:gd name="T4" fmla="*/ 21600 w 34762"/>
                  <a:gd name="T5" fmla="*/ 21600 h 23347"/>
                </a:gdLst>
                <a:ahLst/>
                <a:cxnLst>
                  <a:cxn ang="0">
                    <a:pos x="T0" y="T1"/>
                  </a:cxn>
                  <a:cxn ang="0">
                    <a:pos x="T2" y="T3"/>
                  </a:cxn>
                  <a:cxn ang="0">
                    <a:pos x="T4" y="T5"/>
                  </a:cxn>
                </a:cxnLst>
                <a:rect l="0" t="0" r="r" b="b"/>
                <a:pathLst>
                  <a:path w="34762" h="23347" fill="none" extrusionOk="0">
                    <a:moveTo>
                      <a:pt x="70" y="23347"/>
                    </a:moveTo>
                    <a:cubicBezTo>
                      <a:pt x="23" y="22765"/>
                      <a:pt x="0" y="22183"/>
                      <a:pt x="0" y="21600"/>
                    </a:cubicBezTo>
                    <a:cubicBezTo>
                      <a:pt x="0" y="9670"/>
                      <a:pt x="9670" y="0"/>
                      <a:pt x="21600" y="0"/>
                    </a:cubicBezTo>
                    <a:cubicBezTo>
                      <a:pt x="26360" y="-1"/>
                      <a:pt x="30987" y="1572"/>
                      <a:pt x="34762" y="4473"/>
                    </a:cubicBezTo>
                  </a:path>
                  <a:path w="34762" h="23347" stroke="0" extrusionOk="0">
                    <a:moveTo>
                      <a:pt x="70" y="23347"/>
                    </a:moveTo>
                    <a:cubicBezTo>
                      <a:pt x="23" y="22765"/>
                      <a:pt x="0" y="22183"/>
                      <a:pt x="0" y="21600"/>
                    </a:cubicBezTo>
                    <a:cubicBezTo>
                      <a:pt x="0" y="9670"/>
                      <a:pt x="9670" y="0"/>
                      <a:pt x="21600" y="0"/>
                    </a:cubicBezTo>
                    <a:cubicBezTo>
                      <a:pt x="26360" y="-1"/>
                      <a:pt x="30987" y="1572"/>
                      <a:pt x="34762" y="4473"/>
                    </a:cubicBezTo>
                    <a:lnTo>
                      <a:pt x="21600" y="21600"/>
                    </a:lnTo>
                    <a:close/>
                  </a:path>
                </a:pathLst>
              </a:custGeom>
              <a:noFill/>
              <a:ln w="28575">
                <a:solidFill>
                  <a:schemeClr val="tx1"/>
                </a:solidFill>
                <a:round/>
                <a:headEnd type="none" w="med" len="med"/>
                <a:tailEnd type="triangle" w="med" len="med"/>
              </a:ln>
              <a:effectLst/>
            </p:spPr>
            <p:txBody>
              <a:bodyPr wrap="none" anchor="ctr"/>
              <a:lstStyle/>
              <a:p>
                <a:pPr eaLnBrk="1" hangingPunct="1">
                  <a:defRPr/>
                </a:pPr>
                <a:endParaRPr lang="ru-RU">
                  <a:latin typeface="+mj-lt"/>
                  <a:cs typeface="Arial" charset="0"/>
                </a:endParaRPr>
              </a:p>
            </p:txBody>
          </p:sp>
          <p:sp>
            <p:nvSpPr>
              <p:cNvPr id="85063" name="Arc 71">
                <a:extLst>
                  <a:ext uri="{FF2B5EF4-FFF2-40B4-BE49-F238E27FC236}">
                    <a16:creationId xmlns:a16="http://schemas.microsoft.com/office/drawing/2014/main" id="{D6F78A8F-EF2E-43B5-8E46-8A54A1448426}"/>
                  </a:ext>
                </a:extLst>
              </p:cNvPr>
              <p:cNvSpPr>
                <a:spLocks/>
              </p:cNvSpPr>
              <p:nvPr/>
            </p:nvSpPr>
            <p:spPr bwMode="auto">
              <a:xfrm rot="11488531">
                <a:off x="3411" y="2916"/>
                <a:ext cx="1088" cy="542"/>
              </a:xfrm>
              <a:custGeom>
                <a:avLst/>
                <a:gdLst>
                  <a:gd name="G0" fmla="+- 5122 0 0"/>
                  <a:gd name="G1" fmla="+- 21600 0 0"/>
                  <a:gd name="G2" fmla="+- 21600 0 0"/>
                  <a:gd name="T0" fmla="*/ 0 w 24469"/>
                  <a:gd name="T1" fmla="*/ 616 h 21600"/>
                  <a:gd name="T2" fmla="*/ 24469 w 24469"/>
                  <a:gd name="T3" fmla="*/ 11996 h 21600"/>
                  <a:gd name="T4" fmla="*/ 5122 w 24469"/>
                  <a:gd name="T5" fmla="*/ 21600 h 21600"/>
                </a:gdLst>
                <a:ahLst/>
                <a:cxnLst>
                  <a:cxn ang="0">
                    <a:pos x="T0" y="T1"/>
                  </a:cxn>
                  <a:cxn ang="0">
                    <a:pos x="T2" y="T3"/>
                  </a:cxn>
                  <a:cxn ang="0">
                    <a:pos x="T4" y="T5"/>
                  </a:cxn>
                </a:cxnLst>
                <a:rect l="0" t="0" r="r" b="b"/>
                <a:pathLst>
                  <a:path w="24469" h="21600" fill="none" extrusionOk="0">
                    <a:moveTo>
                      <a:pt x="0" y="616"/>
                    </a:moveTo>
                    <a:cubicBezTo>
                      <a:pt x="1676" y="206"/>
                      <a:pt x="3396" y="-1"/>
                      <a:pt x="5122" y="0"/>
                    </a:cubicBezTo>
                    <a:cubicBezTo>
                      <a:pt x="13325" y="0"/>
                      <a:pt x="20821" y="4647"/>
                      <a:pt x="24469" y="11995"/>
                    </a:cubicBezTo>
                  </a:path>
                  <a:path w="24469" h="21600" stroke="0" extrusionOk="0">
                    <a:moveTo>
                      <a:pt x="0" y="616"/>
                    </a:moveTo>
                    <a:cubicBezTo>
                      <a:pt x="1676" y="206"/>
                      <a:pt x="3396" y="-1"/>
                      <a:pt x="5122" y="0"/>
                    </a:cubicBezTo>
                    <a:cubicBezTo>
                      <a:pt x="13325" y="0"/>
                      <a:pt x="20821" y="4647"/>
                      <a:pt x="24469" y="11995"/>
                    </a:cubicBezTo>
                    <a:lnTo>
                      <a:pt x="5122" y="21600"/>
                    </a:lnTo>
                    <a:close/>
                  </a:path>
                </a:pathLst>
              </a:custGeom>
              <a:noFill/>
              <a:ln w="25400">
                <a:solidFill>
                  <a:schemeClr val="tx1"/>
                </a:solidFill>
                <a:round/>
                <a:headEnd type="triangle" w="med" len="med"/>
                <a:tailEnd type="none" w="med" len="med"/>
              </a:ln>
              <a:effectLst/>
            </p:spPr>
            <p:txBody>
              <a:bodyPr wrap="none" anchor="ctr"/>
              <a:lstStyle/>
              <a:p>
                <a:pPr eaLnBrk="1" hangingPunct="1">
                  <a:defRPr/>
                </a:pPr>
                <a:endParaRPr lang="ru-RU">
                  <a:latin typeface="+mj-lt"/>
                  <a:cs typeface="Arial" charset="0"/>
                </a:endParaRPr>
              </a:p>
            </p:txBody>
          </p:sp>
          <p:sp>
            <p:nvSpPr>
              <p:cNvPr id="85064" name="Arc 72">
                <a:extLst>
                  <a:ext uri="{FF2B5EF4-FFF2-40B4-BE49-F238E27FC236}">
                    <a16:creationId xmlns:a16="http://schemas.microsoft.com/office/drawing/2014/main" id="{FE5342F6-89E0-4D7D-B72C-869FAAAE5764}"/>
                  </a:ext>
                </a:extLst>
              </p:cNvPr>
              <p:cNvSpPr>
                <a:spLocks/>
              </p:cNvSpPr>
              <p:nvPr/>
            </p:nvSpPr>
            <p:spPr bwMode="auto">
              <a:xfrm rot="-4083078">
                <a:off x="4207" y="1528"/>
                <a:ext cx="592" cy="493"/>
              </a:xfrm>
              <a:custGeom>
                <a:avLst/>
                <a:gdLst>
                  <a:gd name="G0" fmla="+- 0 0 0"/>
                  <a:gd name="G1" fmla="+- 21585 0 0"/>
                  <a:gd name="G2" fmla="+- 21600 0 0"/>
                  <a:gd name="T0" fmla="*/ 802 w 21122"/>
                  <a:gd name="T1" fmla="*/ 0 h 21585"/>
                  <a:gd name="T2" fmla="*/ 21122 w 21122"/>
                  <a:gd name="T3" fmla="*/ 17067 h 21585"/>
                  <a:gd name="T4" fmla="*/ 0 w 21122"/>
                  <a:gd name="T5" fmla="*/ 21585 h 21585"/>
                </a:gdLst>
                <a:ahLst/>
                <a:cxnLst>
                  <a:cxn ang="0">
                    <a:pos x="T0" y="T1"/>
                  </a:cxn>
                  <a:cxn ang="0">
                    <a:pos x="T2" y="T3"/>
                  </a:cxn>
                  <a:cxn ang="0">
                    <a:pos x="T4" y="T5"/>
                  </a:cxn>
                </a:cxnLst>
                <a:rect l="0" t="0" r="r" b="b"/>
                <a:pathLst>
                  <a:path w="21122" h="21585" fill="none" extrusionOk="0">
                    <a:moveTo>
                      <a:pt x="802" y="-1"/>
                    </a:moveTo>
                    <a:cubicBezTo>
                      <a:pt x="10683" y="367"/>
                      <a:pt x="19053" y="7397"/>
                      <a:pt x="21122" y="17066"/>
                    </a:cubicBezTo>
                  </a:path>
                  <a:path w="21122" h="21585" stroke="0" extrusionOk="0">
                    <a:moveTo>
                      <a:pt x="802" y="-1"/>
                    </a:moveTo>
                    <a:cubicBezTo>
                      <a:pt x="10683" y="367"/>
                      <a:pt x="19053" y="7397"/>
                      <a:pt x="21122" y="17066"/>
                    </a:cubicBezTo>
                    <a:lnTo>
                      <a:pt x="0" y="21585"/>
                    </a:lnTo>
                    <a:close/>
                  </a:path>
                </a:pathLst>
              </a:custGeom>
              <a:noFill/>
              <a:ln w="28575">
                <a:solidFill>
                  <a:schemeClr val="tx1"/>
                </a:solidFill>
                <a:round/>
                <a:headEnd type="none" w="med" len="med"/>
                <a:tailEnd type="triangle" w="med" len="med"/>
              </a:ln>
              <a:effectLst/>
            </p:spPr>
            <p:txBody>
              <a:bodyPr wrap="none" anchor="ctr"/>
              <a:lstStyle/>
              <a:p>
                <a:pPr eaLnBrk="1" hangingPunct="1">
                  <a:defRPr/>
                </a:pPr>
                <a:endParaRPr lang="ru-RU">
                  <a:latin typeface="+mj-lt"/>
                  <a:cs typeface="Arial" charset="0"/>
                </a:endParaRPr>
              </a:p>
            </p:txBody>
          </p:sp>
          <p:sp>
            <p:nvSpPr>
              <p:cNvPr id="85069" name="Line 77">
                <a:extLst>
                  <a:ext uri="{FF2B5EF4-FFF2-40B4-BE49-F238E27FC236}">
                    <a16:creationId xmlns:a16="http://schemas.microsoft.com/office/drawing/2014/main" id="{B4692C83-C383-4D6B-89E0-F39D5B9E7E5A}"/>
                  </a:ext>
                </a:extLst>
              </p:cNvPr>
              <p:cNvSpPr>
                <a:spLocks noChangeShapeType="1"/>
              </p:cNvSpPr>
              <p:nvPr/>
            </p:nvSpPr>
            <p:spPr bwMode="auto">
              <a:xfrm flipH="1" flipV="1">
                <a:off x="3657" y="3026"/>
                <a:ext cx="713" cy="334"/>
              </a:xfrm>
              <a:prstGeom prst="line">
                <a:avLst/>
              </a:prstGeom>
              <a:noFill/>
              <a:ln w="28575">
                <a:solidFill>
                  <a:schemeClr val="tx1"/>
                </a:solidFill>
                <a:round/>
                <a:headEnd type="none" w="med" len="med"/>
                <a:tailEnd type="triangle" w="med" len="med"/>
              </a:ln>
              <a:effectLst/>
            </p:spPr>
            <p:txBody>
              <a:bodyPr/>
              <a:lstStyle/>
              <a:p>
                <a:pPr eaLnBrk="1" hangingPunct="1">
                  <a:defRPr/>
                </a:pPr>
                <a:endParaRPr lang="ru-RU">
                  <a:latin typeface="+mj-lt"/>
                  <a:cs typeface="Arial" charset="0"/>
                </a:endParaRPr>
              </a:p>
            </p:txBody>
          </p:sp>
          <p:sp>
            <p:nvSpPr>
              <p:cNvPr id="85053" name="Line 61">
                <a:extLst>
                  <a:ext uri="{FF2B5EF4-FFF2-40B4-BE49-F238E27FC236}">
                    <a16:creationId xmlns:a16="http://schemas.microsoft.com/office/drawing/2014/main" id="{8C14C5AB-7F62-4127-8DCB-B2F6D0111884}"/>
                  </a:ext>
                </a:extLst>
              </p:cNvPr>
              <p:cNvSpPr>
                <a:spLocks noChangeShapeType="1"/>
              </p:cNvSpPr>
              <p:nvPr/>
            </p:nvSpPr>
            <p:spPr bwMode="auto">
              <a:xfrm>
                <a:off x="5090" y="2602"/>
                <a:ext cx="283" cy="0"/>
              </a:xfrm>
              <a:prstGeom prst="line">
                <a:avLst/>
              </a:prstGeom>
              <a:noFill/>
              <a:ln w="19050">
                <a:solidFill>
                  <a:schemeClr val="tx1"/>
                </a:solidFill>
                <a:round/>
                <a:headEnd/>
                <a:tailEnd/>
              </a:ln>
              <a:effectLst/>
            </p:spPr>
            <p:txBody>
              <a:bodyPr/>
              <a:lstStyle/>
              <a:p>
                <a:pPr eaLnBrk="1" hangingPunct="1">
                  <a:defRPr/>
                </a:pPr>
                <a:endParaRPr lang="ru-RU">
                  <a:latin typeface="+mj-lt"/>
                  <a:cs typeface="Arial" charset="0"/>
                </a:endParaRPr>
              </a:p>
            </p:txBody>
          </p:sp>
          <p:sp>
            <p:nvSpPr>
              <p:cNvPr id="71" name="Text Box 47">
                <a:extLst>
                  <a:ext uri="{FF2B5EF4-FFF2-40B4-BE49-F238E27FC236}">
                    <a16:creationId xmlns:a16="http://schemas.microsoft.com/office/drawing/2014/main" id="{35242890-993D-4466-8E10-39A4B89FAF23}"/>
                  </a:ext>
                </a:extLst>
              </p:cNvPr>
              <p:cNvSpPr txBox="1">
                <a:spLocks noChangeArrowheads="1"/>
              </p:cNvSpPr>
              <p:nvPr/>
            </p:nvSpPr>
            <p:spPr bwMode="auto">
              <a:xfrm>
                <a:off x="3367" y="1201"/>
                <a:ext cx="318" cy="262"/>
              </a:xfrm>
              <a:prstGeom prst="rect">
                <a:avLst/>
              </a:prstGeom>
              <a:noFill/>
              <a:ln>
                <a:noFill/>
              </a:ln>
            </p:spPr>
            <p:txBody>
              <a:bodyPr/>
              <a:lstStyle/>
              <a:p>
                <a:pPr>
                  <a:defRPr/>
                </a:pPr>
                <a:r>
                  <a:rPr lang="en-US" b="1" dirty="0">
                    <a:latin typeface="+mj-lt"/>
                    <a:cs typeface="Arial" charset="0"/>
                  </a:rPr>
                  <a:t>X</a:t>
                </a:r>
                <a:r>
                  <a:rPr lang="en-US" b="1" baseline="-25000" dirty="0">
                    <a:latin typeface="+mj-lt"/>
                    <a:cs typeface="Arial" charset="0"/>
                  </a:rPr>
                  <a:t>2</a:t>
                </a:r>
              </a:p>
              <a:p>
                <a:pPr>
                  <a:defRPr/>
                </a:pPr>
                <a:endParaRPr lang="en-US" b="1" dirty="0">
                  <a:latin typeface="+mj-lt"/>
                  <a:cs typeface="Arial" charset="0"/>
                </a:endParaRPr>
              </a:p>
            </p:txBody>
          </p:sp>
        </p:gr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0B53CE6-2A52-77D7-F656-D9A7BCB6C2C9}"/>
              </a:ext>
            </a:extLst>
          </p:cNvPr>
          <p:cNvSpPr>
            <a:spLocks noGrp="1"/>
          </p:cNvSpPr>
          <p:nvPr>
            <p:ph type="body" sz="quarter" idx="10"/>
          </p:nvPr>
        </p:nvSpPr>
        <p:spPr/>
        <p:txBody>
          <a:bodyPr/>
          <a:lstStyle/>
          <a:p>
            <a:pPr eaLnBrk="1" hangingPunct="1"/>
            <a:r>
              <a:rPr lang="en-US" altLang="en-US" sz="1800" dirty="0"/>
              <a:t>Reaction of both FSMs</a:t>
            </a:r>
            <a:r>
              <a:rPr lang="ru-RU" altLang="en-US" sz="1800" dirty="0"/>
              <a:t>, </a:t>
            </a:r>
            <a:r>
              <a:rPr lang="en-US" altLang="en-US" sz="1800" dirty="0"/>
              <a:t>being in their initial states, to the input sequence</a:t>
            </a:r>
            <a:r>
              <a:rPr lang="ru-RU" altLang="en-US" sz="1800" dirty="0"/>
              <a:t> </a:t>
            </a:r>
            <a:r>
              <a:rPr lang="en-US" altLang="en-US" sz="1800" dirty="0"/>
              <a:t>X</a:t>
            </a:r>
            <a:r>
              <a:rPr lang="ru-RU" altLang="en-US" sz="1800" dirty="0"/>
              <a:t>1 </a:t>
            </a:r>
            <a:r>
              <a:rPr lang="en-US" altLang="en-US" sz="1800" dirty="0"/>
              <a:t>X</a:t>
            </a:r>
            <a:r>
              <a:rPr lang="ru-RU" altLang="en-US" sz="1800" dirty="0"/>
              <a:t>2 </a:t>
            </a:r>
            <a:r>
              <a:rPr lang="en-US" altLang="en-US" sz="1800" dirty="0"/>
              <a:t>X</a:t>
            </a:r>
            <a:r>
              <a:rPr lang="ru-RU" altLang="en-US" sz="1800" dirty="0"/>
              <a:t>1 </a:t>
            </a:r>
            <a:r>
              <a:rPr lang="en-US" altLang="en-US" sz="1800" dirty="0"/>
              <a:t>X</a:t>
            </a:r>
            <a:r>
              <a:rPr lang="ru-RU" altLang="en-US" sz="1800" dirty="0"/>
              <a:t>1 </a:t>
            </a:r>
            <a:r>
              <a:rPr lang="en-US" altLang="en-US" sz="1800" dirty="0"/>
              <a:t>X</a:t>
            </a:r>
            <a:r>
              <a:rPr lang="ru-RU" altLang="en-US" sz="1800" dirty="0"/>
              <a:t>2 </a:t>
            </a:r>
            <a:r>
              <a:rPr lang="en-US" altLang="en-US" sz="1800" dirty="0"/>
              <a:t>X</a:t>
            </a:r>
            <a:r>
              <a:rPr lang="ru-RU" altLang="en-US" sz="1800" dirty="0"/>
              <a:t>2 </a:t>
            </a:r>
            <a:r>
              <a:rPr lang="en-US" altLang="en-US" sz="1800" dirty="0"/>
              <a:t>X</a:t>
            </a:r>
            <a:r>
              <a:rPr lang="ru-RU" altLang="en-US" sz="1800" dirty="0"/>
              <a:t>2 </a:t>
            </a:r>
            <a:r>
              <a:rPr lang="en-US" altLang="en-US" sz="1800" dirty="0"/>
              <a:t>X</a:t>
            </a:r>
            <a:r>
              <a:rPr lang="ru-RU" altLang="en-US" sz="1800" dirty="0"/>
              <a:t>1.</a:t>
            </a:r>
            <a:endParaRPr lang="en-US" altLang="en-US" sz="1800" dirty="0"/>
          </a:p>
          <a:p>
            <a:pPr eaLnBrk="1" hangingPunct="1"/>
            <a:r>
              <a:rPr lang="en-US" altLang="en-US" sz="1800" dirty="0"/>
              <a:t>Mealy</a:t>
            </a:r>
            <a:r>
              <a:rPr lang="ru-RU" altLang="en-US" sz="1800" dirty="0"/>
              <a:t>:			</a:t>
            </a:r>
            <a:endParaRPr lang="en-US" altLang="en-US" sz="1800" dirty="0"/>
          </a:p>
          <a:p>
            <a:pPr marL="0" indent="0" eaLnBrk="1" hangingPunct="1">
              <a:buNone/>
            </a:pPr>
            <a:r>
              <a:rPr lang="ru-RU" altLang="en-US" sz="1800" dirty="0"/>
              <a:t>	</a:t>
            </a:r>
            <a:r>
              <a:rPr lang="en-US" altLang="en-US" sz="1800" dirty="0"/>
              <a:t>X1</a:t>
            </a:r>
            <a:r>
              <a:rPr lang="en-US" altLang="en-US" sz="1800" baseline="-30000" dirty="0"/>
              <a:t>               </a:t>
            </a:r>
            <a:r>
              <a:rPr lang="en-US" altLang="en-US" sz="1800" dirty="0"/>
              <a:t>X</a:t>
            </a:r>
            <a:r>
              <a:rPr lang="ru-RU" altLang="en-US" sz="1800" dirty="0"/>
              <a:t>2	</a:t>
            </a:r>
            <a:r>
              <a:rPr lang="en-US" altLang="en-US" sz="1800" dirty="0"/>
              <a:t>X</a:t>
            </a:r>
            <a:r>
              <a:rPr lang="ru-RU" altLang="en-US" sz="1800" dirty="0"/>
              <a:t>1	</a:t>
            </a:r>
            <a:r>
              <a:rPr lang="en-US" altLang="en-US" sz="1800" dirty="0"/>
              <a:t>X</a:t>
            </a:r>
            <a:r>
              <a:rPr lang="ru-RU" altLang="en-US" sz="1800" dirty="0"/>
              <a:t>1	</a:t>
            </a:r>
            <a:r>
              <a:rPr lang="en-US" altLang="en-US" sz="1800" dirty="0"/>
              <a:t>X</a:t>
            </a:r>
            <a:r>
              <a:rPr lang="ru-RU" altLang="en-US" sz="1800" dirty="0"/>
              <a:t>2	</a:t>
            </a:r>
            <a:r>
              <a:rPr lang="en-US" altLang="en-US" sz="1800" dirty="0"/>
              <a:t>X</a:t>
            </a:r>
            <a:r>
              <a:rPr lang="ru-RU" altLang="en-US" sz="1800" dirty="0"/>
              <a:t>2	</a:t>
            </a:r>
            <a:r>
              <a:rPr lang="en-US" altLang="en-US" sz="1800" dirty="0"/>
              <a:t>X</a:t>
            </a:r>
            <a:r>
              <a:rPr lang="ru-RU" altLang="en-US" sz="1800" dirty="0"/>
              <a:t>2	</a:t>
            </a:r>
            <a:r>
              <a:rPr lang="en-US" altLang="en-US" sz="1800" dirty="0"/>
              <a:t>X</a:t>
            </a:r>
            <a:r>
              <a:rPr lang="ru-RU" altLang="en-US" sz="1800" dirty="0"/>
              <a:t>1</a:t>
            </a:r>
            <a:endParaRPr lang="en-US" altLang="en-US" sz="1800" dirty="0"/>
          </a:p>
          <a:p>
            <a:pPr marL="0" indent="0" eaLnBrk="1" hangingPunct="1">
              <a:buNone/>
            </a:pPr>
            <a:r>
              <a:rPr lang="ru-RU" altLang="en-US" sz="1800" dirty="0"/>
              <a:t>	</a:t>
            </a:r>
            <a:r>
              <a:rPr lang="en-US" altLang="en-US" sz="1800" dirty="0"/>
              <a:t>S0	S0	S1	S2	S1	S2	S3	S0	S0</a:t>
            </a:r>
            <a:br>
              <a:rPr lang="en-US" altLang="en-US" sz="1800" dirty="0"/>
            </a:br>
            <a:r>
              <a:rPr lang="en-US" altLang="en-US" sz="1800" dirty="0">
                <a:sym typeface="Symbol" panose="05050102010706020507" pitchFamily="18" charset="2"/>
              </a:rPr>
              <a:t></a:t>
            </a:r>
            <a:r>
              <a:rPr lang="en-US" altLang="en-US" sz="1800" dirty="0"/>
              <a:t>1 =	Y1	Y2	Y1	Y3	Y4	Y2	Y1	Y1	</a:t>
            </a:r>
          </a:p>
          <a:p>
            <a:pPr eaLnBrk="1" hangingPunct="1"/>
            <a:r>
              <a:rPr lang="en-US" altLang="en-US" sz="1800" dirty="0"/>
              <a:t>Moore</a:t>
            </a:r>
            <a:r>
              <a:rPr lang="ru-RU" altLang="en-US" sz="1800" dirty="0"/>
              <a:t>:</a:t>
            </a:r>
            <a:endParaRPr lang="en-US" altLang="en-US" sz="1800" dirty="0"/>
          </a:p>
          <a:p>
            <a:pPr marL="0" indent="0" eaLnBrk="1" hangingPunct="1">
              <a:buNone/>
            </a:pPr>
            <a:r>
              <a:rPr lang="ru-RU" altLang="en-US" sz="1800" dirty="0"/>
              <a:t>	</a:t>
            </a:r>
            <a:r>
              <a:rPr lang="en-US" altLang="en-US" sz="1800" dirty="0"/>
              <a:t>X</a:t>
            </a:r>
            <a:r>
              <a:rPr lang="ru-RU" altLang="en-US" sz="1800" dirty="0"/>
              <a:t>1	</a:t>
            </a:r>
            <a:r>
              <a:rPr lang="en-US" altLang="en-US" sz="1800" dirty="0"/>
              <a:t>X</a:t>
            </a:r>
            <a:r>
              <a:rPr lang="ru-RU" altLang="en-US" sz="1800" dirty="0"/>
              <a:t>2	</a:t>
            </a:r>
            <a:r>
              <a:rPr lang="en-US" altLang="en-US" sz="1800" dirty="0"/>
              <a:t>X</a:t>
            </a:r>
            <a:r>
              <a:rPr lang="ru-RU" altLang="en-US" sz="1800" dirty="0"/>
              <a:t>1	</a:t>
            </a:r>
            <a:r>
              <a:rPr lang="en-US" altLang="en-US" sz="1800" dirty="0"/>
              <a:t>X</a:t>
            </a:r>
            <a:r>
              <a:rPr lang="ru-RU" altLang="en-US" sz="1800" dirty="0"/>
              <a:t>1	</a:t>
            </a:r>
            <a:r>
              <a:rPr lang="en-US" altLang="en-US" sz="1800" dirty="0"/>
              <a:t>X</a:t>
            </a:r>
            <a:r>
              <a:rPr lang="ru-RU" altLang="en-US" sz="1800" dirty="0"/>
              <a:t>2	</a:t>
            </a:r>
            <a:r>
              <a:rPr lang="en-US" altLang="en-US" sz="1800" dirty="0"/>
              <a:t>X</a:t>
            </a:r>
            <a:r>
              <a:rPr lang="ru-RU" altLang="en-US" sz="1800" dirty="0"/>
              <a:t>2	</a:t>
            </a:r>
            <a:r>
              <a:rPr lang="en-US" altLang="en-US" sz="1800" dirty="0"/>
              <a:t>X</a:t>
            </a:r>
            <a:r>
              <a:rPr lang="ru-RU" altLang="en-US" sz="1800" dirty="0"/>
              <a:t>2	</a:t>
            </a:r>
            <a:r>
              <a:rPr lang="en-US" altLang="en-US" sz="1800" dirty="0"/>
              <a:t>X</a:t>
            </a:r>
            <a:r>
              <a:rPr lang="ru-RU" altLang="en-US" sz="1800" dirty="0"/>
              <a:t>1</a:t>
            </a:r>
            <a:endParaRPr lang="en-US" altLang="en-US" sz="1800" dirty="0"/>
          </a:p>
          <a:p>
            <a:pPr marL="0" indent="0" eaLnBrk="1" hangingPunct="1">
              <a:spcBef>
                <a:spcPct val="20000"/>
              </a:spcBef>
              <a:buNone/>
            </a:pPr>
            <a:r>
              <a:rPr lang="en-US" altLang="en-US" sz="1800" dirty="0"/>
              <a:t>	S0	S0	S1</a:t>
            </a:r>
            <a:r>
              <a:rPr lang="en-US" altLang="en-US" sz="1800" baseline="30000" dirty="0"/>
              <a:t>1</a:t>
            </a:r>
            <a:r>
              <a:rPr lang="en-US" altLang="en-US" sz="1800" dirty="0"/>
              <a:t>	S2</a:t>
            </a:r>
            <a:r>
              <a:rPr lang="en-US" altLang="en-US" sz="1800" baseline="30000" dirty="0"/>
              <a:t>1</a:t>
            </a:r>
            <a:r>
              <a:rPr lang="en-US" altLang="en-US" sz="1800" dirty="0"/>
              <a:t>	S1</a:t>
            </a:r>
            <a:r>
              <a:rPr lang="en-US" altLang="en-US" sz="1800" baseline="30000" dirty="0"/>
              <a:t>2</a:t>
            </a:r>
            <a:r>
              <a:rPr lang="en-US" altLang="en-US" sz="1800" dirty="0"/>
              <a:t>	S2</a:t>
            </a:r>
            <a:r>
              <a:rPr lang="en-US" altLang="en-US" sz="1800" baseline="30000" dirty="0"/>
              <a:t>2</a:t>
            </a:r>
            <a:r>
              <a:rPr lang="en-US" altLang="en-US" sz="1800" dirty="0"/>
              <a:t>	S3	S0	S0</a:t>
            </a:r>
            <a:br>
              <a:rPr lang="en-US" altLang="en-US" sz="1800" dirty="0"/>
            </a:br>
            <a:r>
              <a:rPr lang="en-US" altLang="en-US" sz="1800" dirty="0">
                <a:sym typeface="Symbol" panose="05050102010706020507" pitchFamily="18" charset="2"/>
              </a:rPr>
              <a:t></a:t>
            </a:r>
            <a:r>
              <a:rPr lang="en-US" altLang="en-US" sz="1800" dirty="0"/>
              <a:t>2  =	Y1	Y1	Y2	Y1	Y3	Y4	Y2	Y1	Y1</a:t>
            </a:r>
          </a:p>
          <a:p>
            <a:pPr eaLnBrk="1" hangingPunct="1">
              <a:spcBef>
                <a:spcPct val="40000"/>
              </a:spcBef>
            </a:pPr>
            <a:r>
              <a:rPr lang="en-US" altLang="en-US" sz="1800" dirty="0"/>
              <a:t>Reactions coincide</a:t>
            </a:r>
            <a:r>
              <a:rPr lang="ru-RU" altLang="en-US" sz="1800" dirty="0"/>
              <a:t> </a:t>
            </a:r>
            <a:r>
              <a:rPr lang="en-US" altLang="en-US" sz="1800" dirty="0"/>
              <a:t>(</a:t>
            </a:r>
            <a:r>
              <a:rPr lang="ru-RU" altLang="en-US" sz="1800" dirty="0">
                <a:sym typeface="Symbol" panose="05050102010706020507" pitchFamily="18" charset="2"/>
              </a:rPr>
              <a:t></a:t>
            </a:r>
            <a:r>
              <a:rPr lang="ru-RU" altLang="en-US" sz="1800" dirty="0"/>
              <a:t>1=</a:t>
            </a:r>
            <a:r>
              <a:rPr lang="ru-RU" altLang="en-US" sz="1800" dirty="0">
                <a:sym typeface="Symbol" panose="05050102010706020507" pitchFamily="18" charset="2"/>
              </a:rPr>
              <a:t></a:t>
            </a:r>
            <a:r>
              <a:rPr lang="ru-RU" altLang="en-US" sz="1800" dirty="0"/>
              <a:t>2</a:t>
            </a:r>
            <a:r>
              <a:rPr lang="en-US" altLang="en-US" sz="1800" dirty="0"/>
              <a:t>).</a:t>
            </a:r>
            <a:r>
              <a:rPr lang="ru-RU" altLang="en-US" sz="1800" dirty="0"/>
              <a:t> </a:t>
            </a:r>
            <a:endParaRPr lang="en-US" altLang="en-US" sz="1800" dirty="0"/>
          </a:p>
          <a:p>
            <a:pPr eaLnBrk="1" hangingPunct="1">
              <a:spcBef>
                <a:spcPct val="40000"/>
              </a:spcBef>
            </a:pPr>
            <a:r>
              <a:rPr lang="en-US" altLang="en-US" sz="1800" dirty="0"/>
              <a:t>The output sequence of Moore FSM is late on one clock from output  sequence of Mealy FSM. The number of its states does not change</a:t>
            </a:r>
            <a:r>
              <a:rPr lang="ru-RU" altLang="en-US" sz="1800" dirty="0"/>
              <a:t>,</a:t>
            </a:r>
            <a:r>
              <a:rPr lang="en-US" altLang="en-US" sz="1800" dirty="0"/>
              <a:t> whereas at transition from Mealy FSM to Moore FSM, as a rule, increases. </a:t>
            </a:r>
          </a:p>
          <a:p>
            <a:endParaRPr lang="en-US" sz="1800" dirty="0"/>
          </a:p>
        </p:txBody>
      </p:sp>
      <p:sp>
        <p:nvSpPr>
          <p:cNvPr id="7" name="Title 6">
            <a:extLst>
              <a:ext uri="{FF2B5EF4-FFF2-40B4-BE49-F238E27FC236}">
                <a16:creationId xmlns:a16="http://schemas.microsoft.com/office/drawing/2014/main" id="{BE25EA6D-809C-2198-1509-C137EBA6AF68}"/>
              </a:ext>
            </a:extLst>
          </p:cNvPr>
          <p:cNvSpPr>
            <a:spLocks noGrp="1"/>
          </p:cNvSpPr>
          <p:nvPr>
            <p:ph type="title"/>
          </p:nvPr>
        </p:nvSpPr>
        <p:spPr/>
        <p:txBody>
          <a:bodyPr>
            <a:normAutofit/>
          </a:bodyPr>
          <a:lstStyle/>
          <a:p>
            <a:r>
              <a:rPr lang="en-US" dirty="0"/>
              <a:t>Reaction of FSM</a:t>
            </a:r>
          </a:p>
        </p:txBody>
      </p:sp>
      <p:sp>
        <p:nvSpPr>
          <p:cNvPr id="11" name="AutoShape 3">
            <a:extLst>
              <a:ext uri="{FF2B5EF4-FFF2-40B4-BE49-F238E27FC236}">
                <a16:creationId xmlns:a16="http://schemas.microsoft.com/office/drawing/2014/main" id="{589C39E3-F47D-E6F2-A77F-9C0B3A34D1C0}"/>
              </a:ext>
            </a:extLst>
          </p:cNvPr>
          <p:cNvSpPr>
            <a:spLocks/>
          </p:cNvSpPr>
          <p:nvPr/>
        </p:nvSpPr>
        <p:spPr bwMode="auto">
          <a:xfrm>
            <a:off x="1567543" y="2516101"/>
            <a:ext cx="222250" cy="276264"/>
          </a:xfrm>
          <a:prstGeom prst="rightBracket">
            <a:avLst>
              <a:gd name="adj" fmla="val 11853"/>
            </a:avLst>
          </a:prstGeom>
          <a:noFill/>
          <a:ln w="317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2" name="AutoShape 3">
            <a:extLst>
              <a:ext uri="{FF2B5EF4-FFF2-40B4-BE49-F238E27FC236}">
                <a16:creationId xmlns:a16="http://schemas.microsoft.com/office/drawing/2014/main" id="{69F52A52-CBF3-6BD5-0927-6C84C7269361}"/>
              </a:ext>
            </a:extLst>
          </p:cNvPr>
          <p:cNvSpPr>
            <a:spLocks/>
          </p:cNvSpPr>
          <p:nvPr/>
        </p:nvSpPr>
        <p:spPr bwMode="auto">
          <a:xfrm>
            <a:off x="1672318" y="4059186"/>
            <a:ext cx="177800" cy="523949"/>
          </a:xfrm>
          <a:prstGeom prst="rightBracket">
            <a:avLst>
              <a:gd name="adj" fmla="val 11854"/>
            </a:avLst>
          </a:prstGeom>
          <a:noFill/>
          <a:ln w="317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Заголовок 1">
            <a:extLst>
              <a:ext uri="{FF2B5EF4-FFF2-40B4-BE49-F238E27FC236}">
                <a16:creationId xmlns:a16="http://schemas.microsoft.com/office/drawing/2014/main" id="{39490B24-CFCE-A7CB-EC8E-7322162B9817}"/>
              </a:ext>
            </a:extLst>
          </p:cNvPr>
          <p:cNvSpPr>
            <a:spLocks noGrp="1" noChangeArrowheads="1"/>
          </p:cNvSpPr>
          <p:nvPr>
            <p:ph type="title"/>
          </p:nvPr>
        </p:nvSpPr>
        <p:spPr>
          <a:xfrm>
            <a:off x="-1" y="183402"/>
            <a:ext cx="11612880" cy="704088"/>
          </a:xfrm>
        </p:spPr>
        <p:txBody>
          <a:bodyPr/>
          <a:lstStyle/>
          <a:p>
            <a:r>
              <a:rPr lang="en-US" altLang="en-US"/>
              <a:t>State Minimization: Completely Specified Machine</a:t>
            </a:r>
            <a:endParaRPr lang="ru-RU" altLang="en-US"/>
          </a:p>
        </p:txBody>
      </p:sp>
      <p:sp>
        <p:nvSpPr>
          <p:cNvPr id="54275" name="Объект 2">
            <a:extLst>
              <a:ext uri="{FF2B5EF4-FFF2-40B4-BE49-F238E27FC236}">
                <a16:creationId xmlns:a16="http://schemas.microsoft.com/office/drawing/2014/main" id="{D0082CB2-00A4-15D2-43F1-8EA6F5767896}"/>
              </a:ext>
            </a:extLst>
          </p:cNvPr>
          <p:cNvSpPr>
            <a:spLocks noGrp="1" noChangeArrowheads="1"/>
          </p:cNvSpPr>
          <p:nvPr>
            <p:ph type="body" sz="quarter" idx="10"/>
          </p:nvPr>
        </p:nvSpPr>
        <p:spPr>
          <a:xfrm>
            <a:off x="457200" y="1188720"/>
            <a:ext cx="11277922" cy="5185186"/>
          </a:xfrm>
        </p:spPr>
        <p:txBody>
          <a:bodyPr/>
          <a:lstStyle/>
          <a:p>
            <a:r>
              <a:rPr lang="en-US" altLang="en-US"/>
              <a:t>FSM may contain redundant states, i.e. states whose function can be accomplished by other states.</a:t>
            </a:r>
          </a:p>
          <a:p>
            <a:r>
              <a:rPr lang="en-US" altLang="en-US"/>
              <a:t>State minimization is the transformation of a given machine into an equivalent machine with no redundant states.</a:t>
            </a:r>
          </a:p>
          <a:p>
            <a:r>
              <a:rPr lang="en-US" altLang="en-US"/>
              <a:t>Minimization task is in partitioning of set of states into classes of equivalent states and replace of each class by one state. </a:t>
            </a:r>
          </a:p>
          <a:p>
            <a:r>
              <a:rPr lang="en-US" altLang="en-US"/>
              <a:t>Two states Si and Sj are 1-equivalent if and only if (</a:t>
            </a:r>
            <a:r>
              <a:rPr lang="en-US" altLang="en-US">
                <a:sym typeface="Symbol" panose="05050102010706020507" pitchFamily="18" charset="2"/>
              </a:rPr>
              <a:t>XkX) (Si,Xk)=(Sj,Xk).</a:t>
            </a:r>
          </a:p>
          <a:p>
            <a:r>
              <a:rPr lang="en-US" altLang="en-US">
                <a:sym typeface="Symbol" panose="05050102010706020507" pitchFamily="18" charset="2"/>
              </a:rPr>
              <a:t>Two states Si and Sj are k-equivalent if *(Si,</a:t>
            </a:r>
            <a:r>
              <a:rPr lang="ru-RU" altLang="en-US">
                <a:sym typeface="Symbol" panose="05050102010706020507" pitchFamily="18" charset="2"/>
              </a:rPr>
              <a:t></a:t>
            </a:r>
            <a:r>
              <a:rPr lang="en-US" altLang="en-US"/>
              <a:t>k)= </a:t>
            </a:r>
            <a:r>
              <a:rPr lang="en-US" altLang="en-US">
                <a:sym typeface="Symbol" panose="05050102010706020507" pitchFamily="18" charset="2"/>
              </a:rPr>
              <a:t>*(Sj,</a:t>
            </a:r>
            <a:r>
              <a:rPr lang="ru-RU" altLang="en-US">
                <a:sym typeface="Symbol" panose="05050102010706020507" pitchFamily="18" charset="2"/>
              </a:rPr>
              <a:t></a:t>
            </a:r>
            <a:r>
              <a:rPr lang="en-US" altLang="en-US"/>
              <a:t>k) for any </a:t>
            </a:r>
            <a:r>
              <a:rPr lang="ru-RU" altLang="en-US">
                <a:sym typeface="Symbol" panose="05050102010706020507" pitchFamily="18" charset="2"/>
              </a:rPr>
              <a:t></a:t>
            </a:r>
            <a:r>
              <a:rPr lang="en-US" altLang="en-US"/>
              <a:t>k</a:t>
            </a:r>
            <a:r>
              <a:rPr lang="en-US" altLang="en-US">
                <a:sym typeface="Symbol" panose="05050102010706020507" pitchFamily="18" charset="2"/>
              </a:rPr>
              <a:t>X*.</a:t>
            </a:r>
          </a:p>
          <a:p>
            <a:r>
              <a:rPr lang="en-US" altLang="en-US">
                <a:sym typeface="Symbol" panose="05050102010706020507" pitchFamily="18" charset="2"/>
              </a:rPr>
              <a:t>Two states Si and Sj are equivalent (or  compatible) if </a:t>
            </a:r>
            <a:r>
              <a:rPr lang="ru-RU" altLang="en-US">
                <a:sym typeface="Symbol" panose="05050102010706020507" pitchFamily="18" charset="2"/>
              </a:rPr>
              <a:t></a:t>
            </a:r>
            <a:r>
              <a:rPr lang="en-US" altLang="en-US">
                <a:sym typeface="Symbol" panose="05050102010706020507" pitchFamily="18" charset="2"/>
              </a:rPr>
              <a:t>*</a:t>
            </a:r>
            <a:r>
              <a:rPr lang="ru-RU" altLang="en-US"/>
              <a:t>(S</a:t>
            </a:r>
            <a:r>
              <a:rPr lang="en-US" altLang="en-US"/>
              <a:t>i</a:t>
            </a:r>
            <a:r>
              <a:rPr lang="ru-RU" altLang="en-US"/>
              <a:t>, </a:t>
            </a:r>
            <a:r>
              <a:rPr lang="ru-RU" altLang="en-US">
                <a:sym typeface="Symbol" panose="05050102010706020507" pitchFamily="18" charset="2"/>
              </a:rPr>
              <a:t></a:t>
            </a:r>
            <a:r>
              <a:rPr lang="ru-RU" altLang="en-US"/>
              <a:t>) = </a:t>
            </a:r>
            <a:r>
              <a:rPr lang="ru-RU" altLang="en-US">
                <a:sym typeface="Symbol" panose="05050102010706020507" pitchFamily="18" charset="2"/>
              </a:rPr>
              <a:t></a:t>
            </a:r>
            <a:r>
              <a:rPr lang="en-US" altLang="en-US">
                <a:sym typeface="Symbol" panose="05050102010706020507" pitchFamily="18" charset="2"/>
              </a:rPr>
              <a:t>*</a:t>
            </a:r>
            <a:r>
              <a:rPr lang="ru-RU" altLang="en-US"/>
              <a:t>(</a:t>
            </a:r>
            <a:r>
              <a:rPr lang="en-US" altLang="en-US"/>
              <a:t>Sj</a:t>
            </a:r>
            <a:r>
              <a:rPr lang="ru-RU" altLang="en-US"/>
              <a:t>, </a:t>
            </a:r>
            <a:r>
              <a:rPr lang="ru-RU" altLang="en-US">
                <a:sym typeface="Symbol" panose="05050102010706020507" pitchFamily="18" charset="2"/>
              </a:rPr>
              <a:t></a:t>
            </a:r>
            <a:r>
              <a:rPr lang="ru-RU" altLang="en-US"/>
              <a:t>), </a:t>
            </a:r>
            <a:r>
              <a:rPr lang="en-US" altLang="en-US"/>
              <a:t>for any </a:t>
            </a:r>
            <a:r>
              <a:rPr lang="ru-RU" altLang="en-US">
                <a:sym typeface="Symbol" panose="05050102010706020507" pitchFamily="18" charset="2"/>
              </a:rPr>
              <a:t></a:t>
            </a:r>
            <a:r>
              <a:rPr lang="en-US" altLang="en-US">
                <a:sym typeface="Symbol" panose="05050102010706020507" pitchFamily="18" charset="2"/>
              </a:rPr>
              <a:t>X* ( Si  Sj).</a:t>
            </a:r>
          </a:p>
          <a:p>
            <a:endParaRPr lang="en-US" altLang="en-US"/>
          </a:p>
          <a:p>
            <a:endParaRPr lang="ru-RU"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Заголовок 5">
            <a:extLst>
              <a:ext uri="{FF2B5EF4-FFF2-40B4-BE49-F238E27FC236}">
                <a16:creationId xmlns:a16="http://schemas.microsoft.com/office/drawing/2014/main" id="{1155BA29-835E-5DF2-D9EB-4B02DCF95B26}"/>
              </a:ext>
            </a:extLst>
          </p:cNvPr>
          <p:cNvSpPr>
            <a:spLocks noGrp="1" noChangeArrowheads="1"/>
          </p:cNvSpPr>
          <p:nvPr>
            <p:ph type="title"/>
          </p:nvPr>
        </p:nvSpPr>
        <p:spPr>
          <a:xfrm>
            <a:off x="-1" y="183402"/>
            <a:ext cx="11612880" cy="704088"/>
          </a:xfrm>
        </p:spPr>
        <p:txBody>
          <a:bodyPr/>
          <a:lstStyle/>
          <a:p>
            <a:r>
              <a:rPr lang="en-US" altLang="en-US"/>
              <a:t>State Minimization</a:t>
            </a:r>
            <a:endParaRPr lang="ru-RU" altLang="en-US"/>
          </a:p>
        </p:txBody>
      </p:sp>
      <p:sp>
        <p:nvSpPr>
          <p:cNvPr id="55299" name="Объект 2">
            <a:extLst>
              <a:ext uri="{FF2B5EF4-FFF2-40B4-BE49-F238E27FC236}">
                <a16:creationId xmlns:a16="http://schemas.microsoft.com/office/drawing/2014/main" id="{7A44236A-EB38-A160-DF12-6A99186F4BE1}"/>
              </a:ext>
            </a:extLst>
          </p:cNvPr>
          <p:cNvSpPr>
            <a:spLocks noGrp="1" noChangeArrowheads="1"/>
          </p:cNvSpPr>
          <p:nvPr>
            <p:ph type="body" sz="quarter" idx="10"/>
          </p:nvPr>
        </p:nvSpPr>
        <p:spPr>
          <a:xfrm>
            <a:off x="457200" y="1188720"/>
            <a:ext cx="11277922" cy="5185186"/>
          </a:xfrm>
        </p:spPr>
        <p:txBody>
          <a:bodyPr/>
          <a:lstStyle/>
          <a:p>
            <a:r>
              <a:rPr lang="en-US" altLang="en-US"/>
              <a:t>States Si and Sj are k-equivalent if and only if they are 1-equivalent and (</a:t>
            </a:r>
            <a:r>
              <a:rPr lang="en-US" altLang="en-US">
                <a:sym typeface="Symbol" panose="05050102010706020507" pitchFamily="18" charset="2"/>
              </a:rPr>
              <a:t>XpX) (Si,Xp) and (Sj,Xp) are (k-1) -equivalent. </a:t>
            </a:r>
          </a:p>
          <a:p>
            <a:r>
              <a:rPr lang="en-US" altLang="en-US"/>
              <a:t>Two states, Sk and Sp of FSM are distinguishable if and only if there exists a finite input sequence which when applied to M causes different output sequences depending on whether M started in Sk or Sp.</a:t>
            </a:r>
          </a:p>
          <a:p>
            <a:r>
              <a:rPr lang="en-US" altLang="en-US"/>
              <a:t>States Si and Sj  are said to be equivalent (Si </a:t>
            </a:r>
            <a:r>
              <a:rPr lang="en-US" altLang="en-US">
                <a:sym typeface="Symbol" panose="05050102010706020507" pitchFamily="18" charset="2"/>
              </a:rPr>
              <a:t></a:t>
            </a:r>
            <a:r>
              <a:rPr lang="en-US" altLang="en-US"/>
              <a:t>  Sj) if no distinguishing sequence exists for Si and Sj.</a:t>
            </a:r>
          </a:p>
          <a:p>
            <a:r>
              <a:rPr lang="en-US" altLang="en-US"/>
              <a:t>If any states are k-equivalent so they belong to the same k-1 class of equivalency. </a:t>
            </a:r>
            <a:endParaRPr lang="ru-RU" altLang="en-US"/>
          </a:p>
          <a:p>
            <a:endParaRPr lang="ru-RU" alt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6" name="Group 54">
            <a:extLst>
              <a:ext uri="{FF2B5EF4-FFF2-40B4-BE49-F238E27FC236}">
                <a16:creationId xmlns:a16="http://schemas.microsoft.com/office/drawing/2014/main" id="{928D2A08-94F2-4B63-DED6-60561989A8DD}"/>
              </a:ext>
            </a:extLst>
          </p:cNvPr>
          <p:cNvGrpSpPr>
            <a:grpSpLocks/>
          </p:cNvGrpSpPr>
          <p:nvPr/>
        </p:nvGrpSpPr>
        <p:grpSpPr bwMode="auto">
          <a:xfrm>
            <a:off x="2395539" y="1890713"/>
            <a:ext cx="3146425" cy="2578100"/>
            <a:chOff x="827088" y="1858963"/>
            <a:chExt cx="3146425" cy="2578100"/>
          </a:xfrm>
        </p:grpSpPr>
        <p:sp>
          <p:nvSpPr>
            <p:cNvPr id="153604" name="Oval 4">
              <a:extLst>
                <a:ext uri="{FF2B5EF4-FFF2-40B4-BE49-F238E27FC236}">
                  <a16:creationId xmlns:a16="http://schemas.microsoft.com/office/drawing/2014/main" id="{45AB3DE6-5778-4E4B-9F38-954AF2B2B49B}"/>
                </a:ext>
              </a:extLst>
            </p:cNvPr>
            <p:cNvSpPr>
              <a:spLocks noChangeArrowheads="1"/>
            </p:cNvSpPr>
            <p:nvPr/>
          </p:nvSpPr>
          <p:spPr bwMode="auto">
            <a:xfrm>
              <a:off x="896938" y="2814638"/>
              <a:ext cx="533400" cy="522287"/>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1400" dirty="0"/>
                <a:t>S</a:t>
              </a:r>
              <a:r>
                <a:rPr lang="en-US" sz="1400" baseline="-25000" dirty="0"/>
                <a:t>0</a:t>
              </a:r>
              <a:endParaRPr lang="en-US" sz="1400" dirty="0"/>
            </a:p>
          </p:txBody>
        </p:sp>
        <p:sp>
          <p:nvSpPr>
            <p:cNvPr id="153605" name="Oval 5">
              <a:extLst>
                <a:ext uri="{FF2B5EF4-FFF2-40B4-BE49-F238E27FC236}">
                  <a16:creationId xmlns:a16="http://schemas.microsoft.com/office/drawing/2014/main" id="{5396D187-D21D-446E-A2AA-5C038630E4A7}"/>
                </a:ext>
              </a:extLst>
            </p:cNvPr>
            <p:cNvSpPr>
              <a:spLocks noChangeArrowheads="1"/>
            </p:cNvSpPr>
            <p:nvPr/>
          </p:nvSpPr>
          <p:spPr bwMode="auto">
            <a:xfrm>
              <a:off x="2049463" y="3929063"/>
              <a:ext cx="533400" cy="508000"/>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1400" dirty="0"/>
                <a:t>S</a:t>
              </a:r>
              <a:r>
                <a:rPr lang="en-US" sz="1400" baseline="-25000" dirty="0"/>
                <a:t>2</a:t>
              </a:r>
              <a:endParaRPr lang="en-US" sz="1400" dirty="0"/>
            </a:p>
          </p:txBody>
        </p:sp>
        <p:sp>
          <p:nvSpPr>
            <p:cNvPr id="153606" name="Oval 6">
              <a:extLst>
                <a:ext uri="{FF2B5EF4-FFF2-40B4-BE49-F238E27FC236}">
                  <a16:creationId xmlns:a16="http://schemas.microsoft.com/office/drawing/2014/main" id="{529A4F4D-C25B-4A09-AEB2-610BCD534979}"/>
                </a:ext>
              </a:extLst>
            </p:cNvPr>
            <p:cNvSpPr>
              <a:spLocks noChangeArrowheads="1"/>
            </p:cNvSpPr>
            <p:nvPr/>
          </p:nvSpPr>
          <p:spPr bwMode="auto">
            <a:xfrm>
              <a:off x="2266950" y="2413000"/>
              <a:ext cx="533400" cy="520700"/>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1400" dirty="0"/>
                <a:t>S</a:t>
              </a:r>
              <a:r>
                <a:rPr lang="en-US" sz="1400" baseline="-25000" dirty="0"/>
                <a:t>1</a:t>
              </a:r>
              <a:endParaRPr lang="en-US" sz="1400" dirty="0"/>
            </a:p>
            <a:p>
              <a:pPr>
                <a:defRPr/>
              </a:pPr>
              <a:endParaRPr lang="en-US" sz="1400" dirty="0"/>
            </a:p>
          </p:txBody>
        </p:sp>
        <p:sp>
          <p:nvSpPr>
            <p:cNvPr id="153607" name="Oval 7">
              <a:extLst>
                <a:ext uri="{FF2B5EF4-FFF2-40B4-BE49-F238E27FC236}">
                  <a16:creationId xmlns:a16="http://schemas.microsoft.com/office/drawing/2014/main" id="{6BFFDCE5-4C13-4B28-BC74-BE6422A98D38}"/>
                </a:ext>
              </a:extLst>
            </p:cNvPr>
            <p:cNvSpPr>
              <a:spLocks noChangeArrowheads="1"/>
            </p:cNvSpPr>
            <p:nvPr/>
          </p:nvSpPr>
          <p:spPr bwMode="auto">
            <a:xfrm>
              <a:off x="3440113" y="2933700"/>
              <a:ext cx="533400" cy="520700"/>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1400" dirty="0"/>
                <a:t>S</a:t>
              </a:r>
              <a:r>
                <a:rPr lang="en-US" sz="1400" baseline="-25000" dirty="0"/>
                <a:t>3</a:t>
              </a:r>
              <a:endParaRPr lang="en-US" sz="1400" dirty="0"/>
            </a:p>
          </p:txBody>
        </p:sp>
        <p:sp>
          <p:nvSpPr>
            <p:cNvPr id="31784" name="Line 8">
              <a:extLst>
                <a:ext uri="{FF2B5EF4-FFF2-40B4-BE49-F238E27FC236}">
                  <a16:creationId xmlns:a16="http://schemas.microsoft.com/office/drawing/2014/main" id="{71F3B5DB-4E5C-40E3-A234-6BC41D3A5012}"/>
                </a:ext>
              </a:extLst>
            </p:cNvPr>
            <p:cNvSpPr>
              <a:spLocks noChangeShapeType="1"/>
            </p:cNvSpPr>
            <p:nvPr/>
          </p:nvSpPr>
          <p:spPr bwMode="auto">
            <a:xfrm flipV="1">
              <a:off x="1430338" y="2641600"/>
              <a:ext cx="836612" cy="292100"/>
            </a:xfrm>
            <a:prstGeom prst="line">
              <a:avLst/>
            </a:prstGeom>
            <a:noFill/>
            <a:ln w="31750">
              <a:solidFill>
                <a:srgbClr val="000000"/>
              </a:solidFill>
              <a:round/>
              <a:headEnd type="none" w="med" len="med"/>
              <a:tailEnd type="triangle" w="med" len="med"/>
            </a:ln>
          </p:spPr>
          <p:txBody>
            <a:bodyPr/>
            <a:lstStyle/>
            <a:p>
              <a:pPr eaLnBrk="1" hangingPunct="1">
                <a:defRPr/>
              </a:pPr>
              <a:endParaRPr lang="en-US" dirty="0"/>
            </a:p>
          </p:txBody>
        </p:sp>
        <p:sp>
          <p:nvSpPr>
            <p:cNvPr id="31785" name="Line 9">
              <a:extLst>
                <a:ext uri="{FF2B5EF4-FFF2-40B4-BE49-F238E27FC236}">
                  <a16:creationId xmlns:a16="http://schemas.microsoft.com/office/drawing/2014/main" id="{856678F9-5C93-426E-B966-69E67884EF00}"/>
                </a:ext>
              </a:extLst>
            </p:cNvPr>
            <p:cNvSpPr>
              <a:spLocks noChangeShapeType="1"/>
            </p:cNvSpPr>
            <p:nvPr/>
          </p:nvSpPr>
          <p:spPr bwMode="auto">
            <a:xfrm>
              <a:off x="2800350" y="2755900"/>
              <a:ext cx="639763" cy="457200"/>
            </a:xfrm>
            <a:prstGeom prst="line">
              <a:avLst/>
            </a:prstGeom>
            <a:noFill/>
            <a:ln w="31750">
              <a:solidFill>
                <a:srgbClr val="000000"/>
              </a:solidFill>
              <a:round/>
              <a:headEnd type="none" w="med" len="med"/>
              <a:tailEnd type="triangle" w="med" len="med"/>
            </a:ln>
          </p:spPr>
          <p:txBody>
            <a:bodyPr/>
            <a:lstStyle/>
            <a:p>
              <a:pPr eaLnBrk="1" hangingPunct="1">
                <a:defRPr/>
              </a:pPr>
              <a:endParaRPr lang="en-US" dirty="0"/>
            </a:p>
          </p:txBody>
        </p:sp>
        <p:sp>
          <p:nvSpPr>
            <p:cNvPr id="31786" name="Line 10">
              <a:extLst>
                <a:ext uri="{FF2B5EF4-FFF2-40B4-BE49-F238E27FC236}">
                  <a16:creationId xmlns:a16="http://schemas.microsoft.com/office/drawing/2014/main" id="{FC422652-28D8-4334-8E9C-BA8DCA631D07}"/>
                </a:ext>
              </a:extLst>
            </p:cNvPr>
            <p:cNvSpPr>
              <a:spLocks noChangeShapeType="1"/>
            </p:cNvSpPr>
            <p:nvPr/>
          </p:nvSpPr>
          <p:spPr bwMode="auto">
            <a:xfrm flipH="1">
              <a:off x="2566988" y="3409950"/>
              <a:ext cx="990600" cy="787400"/>
            </a:xfrm>
            <a:prstGeom prst="line">
              <a:avLst/>
            </a:prstGeom>
            <a:noFill/>
            <a:ln w="31750">
              <a:solidFill>
                <a:srgbClr val="000000"/>
              </a:solidFill>
              <a:round/>
              <a:headEnd type="none" w="med" len="med"/>
              <a:tailEnd type="triangle" w="med" len="med"/>
            </a:ln>
          </p:spPr>
          <p:txBody>
            <a:bodyPr/>
            <a:lstStyle/>
            <a:p>
              <a:pPr eaLnBrk="1" hangingPunct="1">
                <a:defRPr/>
              </a:pPr>
              <a:endParaRPr lang="en-US" dirty="0"/>
            </a:p>
          </p:txBody>
        </p:sp>
        <p:sp>
          <p:nvSpPr>
            <p:cNvPr id="31787" name="Line 11">
              <a:extLst>
                <a:ext uri="{FF2B5EF4-FFF2-40B4-BE49-F238E27FC236}">
                  <a16:creationId xmlns:a16="http://schemas.microsoft.com/office/drawing/2014/main" id="{A2C05C00-8DD1-4B91-A734-7531F94F1CEB}"/>
                </a:ext>
              </a:extLst>
            </p:cNvPr>
            <p:cNvSpPr>
              <a:spLocks noChangeShapeType="1"/>
            </p:cNvSpPr>
            <p:nvPr/>
          </p:nvSpPr>
          <p:spPr bwMode="auto">
            <a:xfrm flipV="1">
              <a:off x="2428875" y="2933700"/>
              <a:ext cx="160338" cy="995363"/>
            </a:xfrm>
            <a:prstGeom prst="line">
              <a:avLst/>
            </a:prstGeom>
            <a:noFill/>
            <a:ln w="31750">
              <a:solidFill>
                <a:srgbClr val="000000"/>
              </a:solidFill>
              <a:round/>
              <a:headEnd type="none" w="med" len="med"/>
              <a:tailEnd type="triangle" w="med" len="med"/>
            </a:ln>
          </p:spPr>
          <p:txBody>
            <a:bodyPr/>
            <a:lstStyle/>
            <a:p>
              <a:pPr eaLnBrk="1" hangingPunct="1">
                <a:defRPr/>
              </a:pPr>
              <a:endParaRPr lang="en-US" dirty="0"/>
            </a:p>
          </p:txBody>
        </p:sp>
        <p:sp>
          <p:nvSpPr>
            <p:cNvPr id="31788" name="Line 12">
              <a:extLst>
                <a:ext uri="{FF2B5EF4-FFF2-40B4-BE49-F238E27FC236}">
                  <a16:creationId xmlns:a16="http://schemas.microsoft.com/office/drawing/2014/main" id="{ED4D360D-561C-4D74-8A07-332E026AF980}"/>
                </a:ext>
              </a:extLst>
            </p:cNvPr>
            <p:cNvSpPr>
              <a:spLocks noChangeShapeType="1"/>
            </p:cNvSpPr>
            <p:nvPr/>
          </p:nvSpPr>
          <p:spPr bwMode="auto">
            <a:xfrm flipH="1" flipV="1">
              <a:off x="1338263" y="3265488"/>
              <a:ext cx="711200" cy="858837"/>
            </a:xfrm>
            <a:prstGeom prst="line">
              <a:avLst/>
            </a:prstGeom>
            <a:noFill/>
            <a:ln w="31750">
              <a:solidFill>
                <a:srgbClr val="000000"/>
              </a:solidFill>
              <a:round/>
              <a:headEnd type="none" w="med" len="med"/>
              <a:tailEnd type="triangle" w="med" len="med"/>
            </a:ln>
          </p:spPr>
          <p:txBody>
            <a:bodyPr/>
            <a:lstStyle/>
            <a:p>
              <a:pPr eaLnBrk="1" hangingPunct="1">
                <a:defRPr/>
              </a:pPr>
              <a:endParaRPr lang="en-US" dirty="0"/>
            </a:p>
          </p:txBody>
        </p:sp>
        <p:sp>
          <p:nvSpPr>
            <p:cNvPr id="31789" name="Text Box 13">
              <a:extLst>
                <a:ext uri="{FF2B5EF4-FFF2-40B4-BE49-F238E27FC236}">
                  <a16:creationId xmlns:a16="http://schemas.microsoft.com/office/drawing/2014/main" id="{E516FBDC-2B32-4C4D-8EBD-0B80DA2370AF}"/>
                </a:ext>
              </a:extLst>
            </p:cNvPr>
            <p:cNvSpPr txBox="1">
              <a:spLocks noChangeArrowheads="1"/>
            </p:cNvSpPr>
            <p:nvPr/>
          </p:nvSpPr>
          <p:spPr bwMode="auto">
            <a:xfrm>
              <a:off x="2282825" y="1858963"/>
              <a:ext cx="541338" cy="482600"/>
            </a:xfrm>
            <a:prstGeom prst="rect">
              <a:avLst/>
            </a:prstGeom>
            <a:noFill/>
            <a:ln w="31750">
              <a:noFill/>
              <a:miter lim="800000"/>
              <a:headEnd/>
              <a:tailEnd/>
            </a:ln>
          </p:spPr>
          <p:txBody>
            <a:bodyPr/>
            <a:lstStyle/>
            <a:p>
              <a:pPr>
                <a:defRPr/>
              </a:pPr>
              <a:r>
                <a:rPr lang="en-US" dirty="0"/>
                <a:t>1/0</a:t>
              </a:r>
            </a:p>
          </p:txBody>
        </p:sp>
        <p:sp>
          <p:nvSpPr>
            <p:cNvPr id="31790" name="Text Box 14">
              <a:extLst>
                <a:ext uri="{FF2B5EF4-FFF2-40B4-BE49-F238E27FC236}">
                  <a16:creationId xmlns:a16="http://schemas.microsoft.com/office/drawing/2014/main" id="{F3BF1E43-F507-4AAA-89C0-6D5315E80E2B}"/>
                </a:ext>
              </a:extLst>
            </p:cNvPr>
            <p:cNvSpPr txBox="1">
              <a:spLocks noChangeArrowheads="1"/>
            </p:cNvSpPr>
            <p:nvPr/>
          </p:nvSpPr>
          <p:spPr bwMode="auto">
            <a:xfrm>
              <a:off x="1584325" y="2455863"/>
              <a:ext cx="541338" cy="484187"/>
            </a:xfrm>
            <a:prstGeom prst="rect">
              <a:avLst/>
            </a:prstGeom>
            <a:noFill/>
            <a:ln w="31750">
              <a:noFill/>
              <a:miter lim="800000"/>
              <a:headEnd/>
              <a:tailEnd/>
            </a:ln>
          </p:spPr>
          <p:txBody>
            <a:bodyPr/>
            <a:lstStyle/>
            <a:p>
              <a:pPr>
                <a:defRPr/>
              </a:pPr>
              <a:r>
                <a:rPr lang="en-US" dirty="0"/>
                <a:t>0/1</a:t>
              </a:r>
            </a:p>
          </p:txBody>
        </p:sp>
        <p:sp>
          <p:nvSpPr>
            <p:cNvPr id="31791" name="Text Box 15">
              <a:extLst>
                <a:ext uri="{FF2B5EF4-FFF2-40B4-BE49-F238E27FC236}">
                  <a16:creationId xmlns:a16="http://schemas.microsoft.com/office/drawing/2014/main" id="{F5AF8A12-6B4D-49D4-B6C4-27FBE615D2D6}"/>
                </a:ext>
              </a:extLst>
            </p:cNvPr>
            <p:cNvSpPr txBox="1">
              <a:spLocks noChangeArrowheads="1"/>
            </p:cNvSpPr>
            <p:nvPr/>
          </p:nvSpPr>
          <p:spPr bwMode="auto">
            <a:xfrm>
              <a:off x="827088" y="3925888"/>
              <a:ext cx="541337" cy="482600"/>
            </a:xfrm>
            <a:prstGeom prst="rect">
              <a:avLst/>
            </a:prstGeom>
            <a:noFill/>
            <a:ln w="31750">
              <a:noFill/>
              <a:miter lim="800000"/>
              <a:headEnd/>
              <a:tailEnd/>
            </a:ln>
          </p:spPr>
          <p:txBody>
            <a:bodyPr/>
            <a:lstStyle/>
            <a:p>
              <a:pPr>
                <a:defRPr/>
              </a:pPr>
              <a:r>
                <a:rPr lang="en-US" dirty="0"/>
                <a:t>1/0</a:t>
              </a:r>
            </a:p>
          </p:txBody>
        </p:sp>
        <p:sp>
          <p:nvSpPr>
            <p:cNvPr id="31792" name="Text Box 16">
              <a:extLst>
                <a:ext uri="{FF2B5EF4-FFF2-40B4-BE49-F238E27FC236}">
                  <a16:creationId xmlns:a16="http://schemas.microsoft.com/office/drawing/2014/main" id="{CE16EF6E-2D72-418A-8E23-4AA6B463A012}"/>
                </a:ext>
              </a:extLst>
            </p:cNvPr>
            <p:cNvSpPr txBox="1">
              <a:spLocks noChangeArrowheads="1"/>
            </p:cNvSpPr>
            <p:nvPr/>
          </p:nvSpPr>
          <p:spPr bwMode="auto">
            <a:xfrm>
              <a:off x="1306513" y="3648075"/>
              <a:ext cx="541337" cy="484188"/>
            </a:xfrm>
            <a:prstGeom prst="rect">
              <a:avLst/>
            </a:prstGeom>
            <a:noFill/>
            <a:ln w="31750">
              <a:noFill/>
              <a:miter lim="800000"/>
              <a:headEnd/>
              <a:tailEnd/>
            </a:ln>
          </p:spPr>
          <p:txBody>
            <a:bodyPr/>
            <a:lstStyle/>
            <a:p>
              <a:pPr>
                <a:defRPr/>
              </a:pPr>
              <a:r>
                <a:rPr lang="en-US" dirty="0"/>
                <a:t>1/0</a:t>
              </a:r>
            </a:p>
          </p:txBody>
        </p:sp>
        <p:sp>
          <p:nvSpPr>
            <p:cNvPr id="31793" name="Text Box 17">
              <a:extLst>
                <a:ext uri="{FF2B5EF4-FFF2-40B4-BE49-F238E27FC236}">
                  <a16:creationId xmlns:a16="http://schemas.microsoft.com/office/drawing/2014/main" id="{5481E9E1-0F41-4A04-A9F3-43CF21882ECD}"/>
                </a:ext>
              </a:extLst>
            </p:cNvPr>
            <p:cNvSpPr txBox="1">
              <a:spLocks noChangeArrowheads="1"/>
            </p:cNvSpPr>
            <p:nvPr/>
          </p:nvSpPr>
          <p:spPr bwMode="auto">
            <a:xfrm>
              <a:off x="1687513" y="3097213"/>
              <a:ext cx="541337" cy="484187"/>
            </a:xfrm>
            <a:prstGeom prst="rect">
              <a:avLst/>
            </a:prstGeom>
            <a:noFill/>
            <a:ln w="31750">
              <a:noFill/>
              <a:miter lim="800000"/>
              <a:headEnd/>
              <a:tailEnd/>
            </a:ln>
          </p:spPr>
          <p:txBody>
            <a:bodyPr/>
            <a:lstStyle/>
            <a:p>
              <a:pPr>
                <a:defRPr/>
              </a:pPr>
              <a:r>
                <a:rPr lang="en-US" dirty="0"/>
                <a:t>1/0</a:t>
              </a:r>
            </a:p>
          </p:txBody>
        </p:sp>
        <p:sp>
          <p:nvSpPr>
            <p:cNvPr id="31794" name="Text Box 18">
              <a:extLst>
                <a:ext uri="{FF2B5EF4-FFF2-40B4-BE49-F238E27FC236}">
                  <a16:creationId xmlns:a16="http://schemas.microsoft.com/office/drawing/2014/main" id="{2B252D37-6DA8-413B-A355-3ADB0D8A1896}"/>
                </a:ext>
              </a:extLst>
            </p:cNvPr>
            <p:cNvSpPr txBox="1">
              <a:spLocks noChangeArrowheads="1"/>
            </p:cNvSpPr>
            <p:nvPr/>
          </p:nvSpPr>
          <p:spPr bwMode="auto">
            <a:xfrm>
              <a:off x="2519363" y="3097213"/>
              <a:ext cx="539750" cy="484187"/>
            </a:xfrm>
            <a:prstGeom prst="rect">
              <a:avLst/>
            </a:prstGeom>
            <a:noFill/>
            <a:ln w="31750">
              <a:noFill/>
              <a:miter lim="800000"/>
              <a:headEnd/>
              <a:tailEnd/>
            </a:ln>
          </p:spPr>
          <p:txBody>
            <a:bodyPr/>
            <a:lstStyle/>
            <a:p>
              <a:pPr>
                <a:defRPr/>
              </a:pPr>
              <a:r>
                <a:rPr lang="en-US" dirty="0"/>
                <a:t>0/1</a:t>
              </a:r>
            </a:p>
          </p:txBody>
        </p:sp>
        <p:sp>
          <p:nvSpPr>
            <p:cNvPr id="31795" name="Text Box 19">
              <a:extLst>
                <a:ext uri="{FF2B5EF4-FFF2-40B4-BE49-F238E27FC236}">
                  <a16:creationId xmlns:a16="http://schemas.microsoft.com/office/drawing/2014/main" id="{C8EC8192-5AF0-4586-A6E7-07C7231FB8F6}"/>
                </a:ext>
              </a:extLst>
            </p:cNvPr>
            <p:cNvSpPr txBox="1">
              <a:spLocks noChangeArrowheads="1"/>
            </p:cNvSpPr>
            <p:nvPr/>
          </p:nvSpPr>
          <p:spPr bwMode="auto">
            <a:xfrm>
              <a:off x="2936875" y="2608263"/>
              <a:ext cx="541338" cy="360362"/>
            </a:xfrm>
            <a:prstGeom prst="rect">
              <a:avLst/>
            </a:prstGeom>
            <a:noFill/>
            <a:ln w="31750">
              <a:noFill/>
              <a:miter lim="800000"/>
              <a:headEnd/>
              <a:tailEnd/>
            </a:ln>
          </p:spPr>
          <p:txBody>
            <a:bodyPr/>
            <a:lstStyle/>
            <a:p>
              <a:pPr>
                <a:defRPr/>
              </a:pPr>
              <a:r>
                <a:rPr lang="en-US" dirty="0"/>
                <a:t>0/0</a:t>
              </a:r>
            </a:p>
          </p:txBody>
        </p:sp>
        <p:sp>
          <p:nvSpPr>
            <p:cNvPr id="31796" name="Text Box 20">
              <a:extLst>
                <a:ext uri="{FF2B5EF4-FFF2-40B4-BE49-F238E27FC236}">
                  <a16:creationId xmlns:a16="http://schemas.microsoft.com/office/drawing/2014/main" id="{E6EF61B7-ACD9-43A6-95E8-4B5F297F1FB5}"/>
                </a:ext>
              </a:extLst>
            </p:cNvPr>
            <p:cNvSpPr txBox="1">
              <a:spLocks noChangeArrowheads="1"/>
            </p:cNvSpPr>
            <p:nvPr/>
          </p:nvSpPr>
          <p:spPr bwMode="auto">
            <a:xfrm>
              <a:off x="3287713" y="3573463"/>
              <a:ext cx="541337" cy="482600"/>
            </a:xfrm>
            <a:prstGeom prst="rect">
              <a:avLst/>
            </a:prstGeom>
            <a:noFill/>
            <a:ln w="31750">
              <a:noFill/>
              <a:miter lim="800000"/>
              <a:headEnd/>
              <a:tailEnd/>
            </a:ln>
          </p:spPr>
          <p:txBody>
            <a:bodyPr/>
            <a:lstStyle/>
            <a:p>
              <a:pPr>
                <a:defRPr/>
              </a:pPr>
              <a:r>
                <a:rPr lang="en-US" dirty="0"/>
                <a:t>0/1</a:t>
              </a:r>
            </a:p>
          </p:txBody>
        </p:sp>
        <p:sp>
          <p:nvSpPr>
            <p:cNvPr id="31797" name="Arc 21">
              <a:extLst>
                <a:ext uri="{FF2B5EF4-FFF2-40B4-BE49-F238E27FC236}">
                  <a16:creationId xmlns:a16="http://schemas.microsoft.com/office/drawing/2014/main" id="{2911A749-A001-4344-8B35-D354AE3C3578}"/>
                </a:ext>
              </a:extLst>
            </p:cNvPr>
            <p:cNvSpPr>
              <a:spLocks/>
            </p:cNvSpPr>
            <p:nvPr/>
          </p:nvSpPr>
          <p:spPr bwMode="auto">
            <a:xfrm rot="-2379175">
              <a:off x="1392238" y="1954213"/>
              <a:ext cx="1992312" cy="1849437"/>
            </a:xfrm>
            <a:custGeom>
              <a:avLst/>
              <a:gdLst>
                <a:gd name="T0" fmla="*/ 0 w 25410"/>
                <a:gd name="T1" fmla="*/ 2147483647 h 21766"/>
                <a:gd name="T2" fmla="*/ 2147483647 w 25410"/>
                <a:gd name="T3" fmla="*/ 2147483647 h 21766"/>
                <a:gd name="T4" fmla="*/ 2147483647 w 25410"/>
                <a:gd name="T5" fmla="*/ 2147483647 h 21766"/>
                <a:gd name="T6" fmla="*/ 0 60000 65536"/>
                <a:gd name="T7" fmla="*/ 0 60000 65536"/>
                <a:gd name="T8" fmla="*/ 0 60000 65536"/>
                <a:gd name="T9" fmla="*/ 0 w 25410"/>
                <a:gd name="T10" fmla="*/ 0 h 21766"/>
                <a:gd name="T11" fmla="*/ 25410 w 25410"/>
                <a:gd name="T12" fmla="*/ 21766 h 21766"/>
              </a:gdLst>
              <a:ahLst/>
              <a:cxnLst>
                <a:cxn ang="T6">
                  <a:pos x="T0" y="T1"/>
                </a:cxn>
                <a:cxn ang="T7">
                  <a:pos x="T2" y="T3"/>
                </a:cxn>
                <a:cxn ang="T8">
                  <a:pos x="T4" y="T5"/>
                </a:cxn>
              </a:cxnLst>
              <a:rect l="T9" t="T10" r="T11" b="T12"/>
              <a:pathLst>
                <a:path w="25410" h="21766" fill="none" extrusionOk="0">
                  <a:moveTo>
                    <a:pt x="-1" y="338"/>
                  </a:moveTo>
                  <a:cubicBezTo>
                    <a:pt x="1257" y="113"/>
                    <a:pt x="2532" y="-1"/>
                    <a:pt x="3810" y="0"/>
                  </a:cubicBezTo>
                  <a:cubicBezTo>
                    <a:pt x="15739" y="0"/>
                    <a:pt x="25410" y="9670"/>
                    <a:pt x="25410" y="21600"/>
                  </a:cubicBezTo>
                  <a:cubicBezTo>
                    <a:pt x="25410" y="21655"/>
                    <a:pt x="25409" y="21710"/>
                    <a:pt x="25409" y="21766"/>
                  </a:cubicBezTo>
                </a:path>
                <a:path w="25410" h="21766" stroke="0" extrusionOk="0">
                  <a:moveTo>
                    <a:pt x="-1" y="338"/>
                  </a:moveTo>
                  <a:cubicBezTo>
                    <a:pt x="1257" y="113"/>
                    <a:pt x="2532" y="-1"/>
                    <a:pt x="3810" y="0"/>
                  </a:cubicBezTo>
                  <a:cubicBezTo>
                    <a:pt x="15739" y="0"/>
                    <a:pt x="25410" y="9670"/>
                    <a:pt x="25410" y="21600"/>
                  </a:cubicBezTo>
                  <a:cubicBezTo>
                    <a:pt x="25410" y="21655"/>
                    <a:pt x="25409" y="21710"/>
                    <a:pt x="25409" y="21766"/>
                  </a:cubicBezTo>
                  <a:lnTo>
                    <a:pt x="3810" y="21600"/>
                  </a:lnTo>
                  <a:close/>
                </a:path>
              </a:pathLst>
            </a:custGeom>
            <a:noFill/>
            <a:ln w="28575">
              <a:solidFill>
                <a:schemeClr val="tx1"/>
              </a:solidFill>
              <a:round/>
              <a:headEnd type="triangle" w="med" len="med"/>
              <a:tailEnd type="none" w="med" len="med"/>
            </a:ln>
          </p:spPr>
          <p:txBody>
            <a:bodyPr wrap="none" anchor="ctr"/>
            <a:lstStyle/>
            <a:p>
              <a:pPr eaLnBrk="1" hangingPunct="1">
                <a:defRPr/>
              </a:pPr>
              <a:endParaRPr lang="en-US" dirty="0"/>
            </a:p>
          </p:txBody>
        </p:sp>
        <p:sp>
          <p:nvSpPr>
            <p:cNvPr id="31798" name="Arc 22">
              <a:extLst>
                <a:ext uri="{FF2B5EF4-FFF2-40B4-BE49-F238E27FC236}">
                  <a16:creationId xmlns:a16="http://schemas.microsoft.com/office/drawing/2014/main" id="{5EF72DB7-3FFA-469E-A7E6-855B232CCA4C}"/>
                </a:ext>
              </a:extLst>
            </p:cNvPr>
            <p:cNvSpPr>
              <a:spLocks/>
            </p:cNvSpPr>
            <p:nvPr/>
          </p:nvSpPr>
          <p:spPr bwMode="auto">
            <a:xfrm flipH="1">
              <a:off x="2160588" y="2914650"/>
              <a:ext cx="288925" cy="1062038"/>
            </a:xfrm>
            <a:custGeom>
              <a:avLst/>
              <a:gdLst>
                <a:gd name="T0" fmla="*/ 122514589 w 21600"/>
                <a:gd name="T1" fmla="*/ 0 h 21258"/>
                <a:gd name="T2" fmla="*/ 691478816 w 21600"/>
                <a:gd name="T3" fmla="*/ 2147483647 h 21258"/>
                <a:gd name="T4" fmla="*/ 0 w 21600"/>
                <a:gd name="T5" fmla="*/ 2147483647 h 21258"/>
                <a:gd name="T6" fmla="*/ 0 60000 65536"/>
                <a:gd name="T7" fmla="*/ 0 60000 65536"/>
                <a:gd name="T8" fmla="*/ 0 60000 65536"/>
                <a:gd name="T9" fmla="*/ 0 w 21600"/>
                <a:gd name="T10" fmla="*/ 0 h 21258"/>
                <a:gd name="T11" fmla="*/ 21600 w 21600"/>
                <a:gd name="T12" fmla="*/ 21258 h 21258"/>
              </a:gdLst>
              <a:ahLst/>
              <a:cxnLst>
                <a:cxn ang="T6">
                  <a:pos x="T0" y="T1"/>
                </a:cxn>
                <a:cxn ang="T7">
                  <a:pos x="T2" y="T3"/>
                </a:cxn>
                <a:cxn ang="T8">
                  <a:pos x="T4" y="T5"/>
                </a:cxn>
              </a:cxnLst>
              <a:rect l="T9" t="T10" r="T11" b="T12"/>
              <a:pathLst>
                <a:path w="21600" h="21258" fill="none" extrusionOk="0">
                  <a:moveTo>
                    <a:pt x="3827" y="-1"/>
                  </a:moveTo>
                  <a:cubicBezTo>
                    <a:pt x="14114" y="1851"/>
                    <a:pt x="21600" y="10804"/>
                    <a:pt x="21600" y="21258"/>
                  </a:cubicBezTo>
                </a:path>
                <a:path w="21600" h="21258" stroke="0" extrusionOk="0">
                  <a:moveTo>
                    <a:pt x="3827" y="-1"/>
                  </a:moveTo>
                  <a:cubicBezTo>
                    <a:pt x="14114" y="1851"/>
                    <a:pt x="21600" y="10804"/>
                    <a:pt x="21600" y="21258"/>
                  </a:cubicBezTo>
                  <a:lnTo>
                    <a:pt x="0" y="21258"/>
                  </a:lnTo>
                  <a:close/>
                </a:path>
              </a:pathLst>
            </a:custGeom>
            <a:noFill/>
            <a:ln w="28575">
              <a:solidFill>
                <a:schemeClr val="tx1"/>
              </a:solidFill>
              <a:round/>
              <a:headEnd type="none" w="med" len="med"/>
              <a:tailEnd type="triangle" w="med" len="med"/>
            </a:ln>
          </p:spPr>
          <p:txBody>
            <a:bodyPr wrap="none" anchor="ctr"/>
            <a:lstStyle/>
            <a:p>
              <a:pPr eaLnBrk="1" hangingPunct="1">
                <a:defRPr/>
              </a:pPr>
              <a:endParaRPr lang="en-US" dirty="0"/>
            </a:p>
          </p:txBody>
        </p:sp>
        <p:sp>
          <p:nvSpPr>
            <p:cNvPr id="31799" name="Arc 23">
              <a:extLst>
                <a:ext uri="{FF2B5EF4-FFF2-40B4-BE49-F238E27FC236}">
                  <a16:creationId xmlns:a16="http://schemas.microsoft.com/office/drawing/2014/main" id="{3BB25548-00BF-4480-82B0-6029DAAC60D8}"/>
                </a:ext>
              </a:extLst>
            </p:cNvPr>
            <p:cNvSpPr>
              <a:spLocks/>
            </p:cNvSpPr>
            <p:nvPr/>
          </p:nvSpPr>
          <p:spPr bwMode="auto">
            <a:xfrm rot="17181665" flipH="1">
              <a:off x="1194593" y="3237707"/>
              <a:ext cx="842963" cy="1250950"/>
            </a:xfrm>
            <a:custGeom>
              <a:avLst/>
              <a:gdLst>
                <a:gd name="T0" fmla="*/ 2147483647 w 21600"/>
                <a:gd name="T1" fmla="*/ 0 h 30910"/>
                <a:gd name="T2" fmla="*/ 2147483647 w 21600"/>
                <a:gd name="T3" fmla="*/ 2147483647 h 30910"/>
                <a:gd name="T4" fmla="*/ 0 w 21600"/>
                <a:gd name="T5" fmla="*/ 2147483647 h 30910"/>
                <a:gd name="T6" fmla="*/ 0 60000 65536"/>
                <a:gd name="T7" fmla="*/ 0 60000 65536"/>
                <a:gd name="T8" fmla="*/ 0 60000 65536"/>
                <a:gd name="T9" fmla="*/ 0 w 21600"/>
                <a:gd name="T10" fmla="*/ 0 h 30910"/>
                <a:gd name="T11" fmla="*/ 21600 w 21600"/>
                <a:gd name="T12" fmla="*/ 30910 h 30910"/>
              </a:gdLst>
              <a:ahLst/>
              <a:cxnLst>
                <a:cxn ang="T6">
                  <a:pos x="T0" y="T1"/>
                </a:cxn>
                <a:cxn ang="T7">
                  <a:pos x="T2" y="T3"/>
                </a:cxn>
                <a:cxn ang="T8">
                  <a:pos x="T4" y="T5"/>
                </a:cxn>
              </a:cxnLst>
              <a:rect l="T9" t="T10" r="T11" b="T12"/>
              <a:pathLst>
                <a:path w="21600" h="30910" fill="none" extrusionOk="0">
                  <a:moveTo>
                    <a:pt x="2036" y="0"/>
                  </a:moveTo>
                  <a:cubicBezTo>
                    <a:pt x="13127" y="1050"/>
                    <a:pt x="21600" y="10363"/>
                    <a:pt x="21600" y="21504"/>
                  </a:cubicBezTo>
                  <a:cubicBezTo>
                    <a:pt x="21600" y="24761"/>
                    <a:pt x="20863" y="27977"/>
                    <a:pt x="19444" y="30910"/>
                  </a:cubicBezTo>
                </a:path>
                <a:path w="21600" h="30910" stroke="0" extrusionOk="0">
                  <a:moveTo>
                    <a:pt x="2036" y="0"/>
                  </a:moveTo>
                  <a:cubicBezTo>
                    <a:pt x="13127" y="1050"/>
                    <a:pt x="21600" y="10363"/>
                    <a:pt x="21600" y="21504"/>
                  </a:cubicBezTo>
                  <a:cubicBezTo>
                    <a:pt x="21600" y="24761"/>
                    <a:pt x="20863" y="27977"/>
                    <a:pt x="19444" y="30910"/>
                  </a:cubicBezTo>
                  <a:lnTo>
                    <a:pt x="0" y="21504"/>
                  </a:lnTo>
                  <a:close/>
                </a:path>
              </a:pathLst>
            </a:custGeom>
            <a:noFill/>
            <a:ln w="28575">
              <a:solidFill>
                <a:schemeClr val="tx1"/>
              </a:solidFill>
              <a:round/>
              <a:headEnd type="none" w="med" len="med"/>
              <a:tailEnd type="triangle" w="med" len="med"/>
            </a:ln>
          </p:spPr>
          <p:txBody>
            <a:bodyPr wrap="none" anchor="ctr"/>
            <a:lstStyle/>
            <a:p>
              <a:pPr eaLnBrk="1" hangingPunct="1">
                <a:defRPr/>
              </a:pPr>
              <a:endParaRPr lang="en-US" dirty="0"/>
            </a:p>
          </p:txBody>
        </p:sp>
      </p:grpSp>
      <p:sp>
        <p:nvSpPr>
          <p:cNvPr id="57347" name="Text Box 24">
            <a:extLst>
              <a:ext uri="{FF2B5EF4-FFF2-40B4-BE49-F238E27FC236}">
                <a16:creationId xmlns:a16="http://schemas.microsoft.com/office/drawing/2014/main" id="{A0BF46C5-6484-F9A3-3C70-02D9ADFEACB1}"/>
              </a:ext>
            </a:extLst>
          </p:cNvPr>
          <p:cNvSpPr txBox="1">
            <a:spLocks noChangeArrowheads="1"/>
          </p:cNvSpPr>
          <p:nvPr/>
        </p:nvSpPr>
        <p:spPr bwMode="auto">
          <a:xfrm>
            <a:off x="1992313" y="1533525"/>
            <a:ext cx="381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Given FSM</a:t>
            </a:r>
            <a:endParaRPr lang="ru-RU" altLang="en-US"/>
          </a:p>
        </p:txBody>
      </p:sp>
      <p:sp>
        <p:nvSpPr>
          <p:cNvPr id="31775" name="Text Box 52">
            <a:extLst>
              <a:ext uri="{FF2B5EF4-FFF2-40B4-BE49-F238E27FC236}">
                <a16:creationId xmlns:a16="http://schemas.microsoft.com/office/drawing/2014/main" id="{68EA8B3E-9020-4A39-8DCF-E53DCE25019A}"/>
              </a:ext>
            </a:extLst>
          </p:cNvPr>
          <p:cNvSpPr txBox="1">
            <a:spLocks noChangeArrowheads="1"/>
          </p:cNvSpPr>
          <p:nvPr/>
        </p:nvSpPr>
        <p:spPr bwMode="auto">
          <a:xfrm>
            <a:off x="8939213" y="2535238"/>
            <a:ext cx="762000" cy="369332"/>
          </a:xfrm>
          <a:prstGeom prst="rect">
            <a:avLst/>
          </a:prstGeom>
          <a:noFill/>
          <a:ln w="9525">
            <a:noFill/>
            <a:miter lim="800000"/>
            <a:headEnd/>
            <a:tailEnd/>
          </a:ln>
        </p:spPr>
        <p:txBody>
          <a:bodyPr>
            <a:spAutoFit/>
          </a:bodyPr>
          <a:lstStyle/>
          <a:p>
            <a:pPr eaLnBrk="1" hangingPunct="1">
              <a:defRPr/>
            </a:pPr>
            <a:r>
              <a:rPr lang="en-US" dirty="0"/>
              <a:t>A1</a:t>
            </a:r>
          </a:p>
        </p:txBody>
      </p:sp>
      <p:sp>
        <p:nvSpPr>
          <p:cNvPr id="31776" name="Text Box 53">
            <a:extLst>
              <a:ext uri="{FF2B5EF4-FFF2-40B4-BE49-F238E27FC236}">
                <a16:creationId xmlns:a16="http://schemas.microsoft.com/office/drawing/2014/main" id="{8565A755-CD1D-4681-9CDB-69F6E1DC2E06}"/>
              </a:ext>
            </a:extLst>
          </p:cNvPr>
          <p:cNvSpPr txBox="1">
            <a:spLocks noChangeArrowheads="1"/>
          </p:cNvSpPr>
          <p:nvPr/>
        </p:nvSpPr>
        <p:spPr bwMode="auto">
          <a:xfrm>
            <a:off x="8939213" y="2974975"/>
            <a:ext cx="762000" cy="369332"/>
          </a:xfrm>
          <a:prstGeom prst="rect">
            <a:avLst/>
          </a:prstGeom>
          <a:noFill/>
          <a:ln w="9525">
            <a:noFill/>
            <a:miter lim="800000"/>
            <a:headEnd/>
            <a:tailEnd/>
          </a:ln>
        </p:spPr>
        <p:txBody>
          <a:bodyPr>
            <a:spAutoFit/>
          </a:bodyPr>
          <a:lstStyle/>
          <a:p>
            <a:pPr eaLnBrk="1" hangingPunct="1">
              <a:defRPr/>
            </a:pPr>
            <a:r>
              <a:rPr lang="en-US" dirty="0"/>
              <a:t>B1</a:t>
            </a:r>
          </a:p>
        </p:txBody>
      </p:sp>
      <p:sp>
        <p:nvSpPr>
          <p:cNvPr id="31777" name="Text Box 54">
            <a:extLst>
              <a:ext uri="{FF2B5EF4-FFF2-40B4-BE49-F238E27FC236}">
                <a16:creationId xmlns:a16="http://schemas.microsoft.com/office/drawing/2014/main" id="{605C682F-BD86-47D6-A8CD-1D4B63110AC7}"/>
              </a:ext>
            </a:extLst>
          </p:cNvPr>
          <p:cNvSpPr txBox="1">
            <a:spLocks noChangeArrowheads="1"/>
          </p:cNvSpPr>
          <p:nvPr/>
        </p:nvSpPr>
        <p:spPr bwMode="auto">
          <a:xfrm>
            <a:off x="8939213" y="3338513"/>
            <a:ext cx="762000" cy="369332"/>
          </a:xfrm>
          <a:prstGeom prst="rect">
            <a:avLst/>
          </a:prstGeom>
          <a:noFill/>
          <a:ln w="9525">
            <a:noFill/>
            <a:miter lim="800000"/>
            <a:headEnd/>
            <a:tailEnd/>
          </a:ln>
        </p:spPr>
        <p:txBody>
          <a:bodyPr>
            <a:spAutoFit/>
          </a:bodyPr>
          <a:lstStyle/>
          <a:p>
            <a:pPr eaLnBrk="1" hangingPunct="1">
              <a:defRPr/>
            </a:pPr>
            <a:r>
              <a:rPr lang="en-US" dirty="0"/>
              <a:t>A1</a:t>
            </a:r>
          </a:p>
        </p:txBody>
      </p:sp>
      <p:sp>
        <p:nvSpPr>
          <p:cNvPr id="31778" name="Text Box 55">
            <a:extLst>
              <a:ext uri="{FF2B5EF4-FFF2-40B4-BE49-F238E27FC236}">
                <a16:creationId xmlns:a16="http://schemas.microsoft.com/office/drawing/2014/main" id="{4F41DE0B-11FB-4140-94F1-EC059F942BBE}"/>
              </a:ext>
            </a:extLst>
          </p:cNvPr>
          <p:cNvSpPr txBox="1">
            <a:spLocks noChangeArrowheads="1"/>
          </p:cNvSpPr>
          <p:nvPr/>
        </p:nvSpPr>
        <p:spPr bwMode="auto">
          <a:xfrm>
            <a:off x="8939213" y="3751263"/>
            <a:ext cx="762000" cy="369332"/>
          </a:xfrm>
          <a:prstGeom prst="rect">
            <a:avLst/>
          </a:prstGeom>
          <a:noFill/>
          <a:ln w="9525">
            <a:noFill/>
            <a:miter lim="800000"/>
            <a:headEnd/>
            <a:tailEnd/>
          </a:ln>
        </p:spPr>
        <p:txBody>
          <a:bodyPr>
            <a:spAutoFit/>
          </a:bodyPr>
          <a:lstStyle/>
          <a:p>
            <a:pPr eaLnBrk="1" hangingPunct="1">
              <a:defRPr/>
            </a:pPr>
            <a:r>
              <a:rPr lang="en-US" dirty="0"/>
              <a:t>A1</a:t>
            </a:r>
          </a:p>
        </p:txBody>
      </p:sp>
      <p:graphicFrame>
        <p:nvGraphicFramePr>
          <p:cNvPr id="2" name="Таблица 1">
            <a:extLst>
              <a:ext uri="{FF2B5EF4-FFF2-40B4-BE49-F238E27FC236}">
                <a16:creationId xmlns:a16="http://schemas.microsoft.com/office/drawing/2014/main" id="{FF8AE987-94DC-48EA-8CEF-EB99FD02E149}"/>
              </a:ext>
            </a:extLst>
          </p:cNvPr>
          <p:cNvGraphicFramePr>
            <a:graphicFrameLocks noGrp="1"/>
          </p:cNvGraphicFramePr>
          <p:nvPr>
            <p:extLst>
              <p:ext uri="{D42A27DB-BD31-4B8C-83A1-F6EECF244321}">
                <p14:modId xmlns:p14="http://schemas.microsoft.com/office/powerpoint/2010/main" val="905551665"/>
              </p:ext>
            </p:extLst>
          </p:nvPr>
        </p:nvGraphicFramePr>
        <p:xfrm>
          <a:off x="6070601" y="1905000"/>
          <a:ext cx="2760663" cy="2311428"/>
        </p:xfrm>
        <a:graphic>
          <a:graphicData uri="http://schemas.openxmlformats.org/drawingml/2006/table">
            <a:tbl>
              <a:tblPr firstRow="1" bandRow="1">
                <a:tableStyleId>{5C22544A-7EE6-4342-B048-85BDC9FD1C3A}</a:tableStyleId>
              </a:tblPr>
              <a:tblGrid>
                <a:gridCol w="920221">
                  <a:extLst>
                    <a:ext uri="{9D8B030D-6E8A-4147-A177-3AD203B41FA5}">
                      <a16:colId xmlns:a16="http://schemas.microsoft.com/office/drawing/2014/main" val="20000"/>
                    </a:ext>
                  </a:extLst>
                </a:gridCol>
                <a:gridCol w="920221">
                  <a:extLst>
                    <a:ext uri="{9D8B030D-6E8A-4147-A177-3AD203B41FA5}">
                      <a16:colId xmlns:a16="http://schemas.microsoft.com/office/drawing/2014/main" val="20001"/>
                    </a:ext>
                  </a:extLst>
                </a:gridCol>
                <a:gridCol w="920221">
                  <a:extLst>
                    <a:ext uri="{9D8B030D-6E8A-4147-A177-3AD203B41FA5}">
                      <a16:colId xmlns:a16="http://schemas.microsoft.com/office/drawing/2014/main" val="20002"/>
                    </a:ext>
                  </a:extLst>
                </a:gridCol>
              </a:tblGrid>
              <a:tr h="640022">
                <a:tc>
                  <a:txBody>
                    <a:bodyPr/>
                    <a:lstStyle/>
                    <a:p>
                      <a:r>
                        <a:rPr lang="en-US" sz="1800" b="0" dirty="0">
                          <a:solidFill>
                            <a:schemeClr val="bg2"/>
                          </a:solidFill>
                          <a:latin typeface="+mn-lt"/>
                          <a:cs typeface="+mn-cs"/>
                        </a:rPr>
                        <a:t>         X</a:t>
                      </a:r>
                      <a:br>
                        <a:rPr lang="en-US" sz="1800" b="0" dirty="0">
                          <a:solidFill>
                            <a:schemeClr val="bg2"/>
                          </a:solidFill>
                          <a:latin typeface="+mn-lt"/>
                          <a:cs typeface="+mn-cs"/>
                        </a:rPr>
                      </a:br>
                      <a:r>
                        <a:rPr lang="en-US" sz="1800" b="0" dirty="0">
                          <a:solidFill>
                            <a:schemeClr val="bg2"/>
                          </a:solidFill>
                          <a:latin typeface="+mn-lt"/>
                          <a:cs typeface="+mn-cs"/>
                        </a:rPr>
                        <a:t>S</a:t>
                      </a:r>
                      <a:endParaRPr lang="ru-RU" sz="1800" b="0" dirty="0">
                        <a:solidFill>
                          <a:schemeClr val="bg2"/>
                        </a:solidFill>
                      </a:endParaRPr>
                    </a:p>
                  </a:txBody>
                  <a:tcPr marT="45706" marB="45706">
                    <a:lnTlToBr w="12700" cap="flat" cmpd="sng" algn="ctr">
                      <a:solidFill>
                        <a:schemeClr val="tx1"/>
                      </a:solidFill>
                      <a:prstDash val="solid"/>
                      <a:round/>
                      <a:headEnd type="none" w="med" len="med"/>
                      <a:tailEnd type="none" w="med" len="med"/>
                    </a:lnTlToBr>
                  </a:tcPr>
                </a:tc>
                <a:tc>
                  <a:txBody>
                    <a:bodyPr/>
                    <a:lstStyle/>
                    <a:p>
                      <a:r>
                        <a:rPr lang="en-US" sz="1800" b="0" dirty="0">
                          <a:solidFill>
                            <a:schemeClr val="bg2"/>
                          </a:solidFill>
                        </a:rPr>
                        <a:t>0</a:t>
                      </a:r>
                      <a:endParaRPr lang="ru-RU" sz="1800" b="0" dirty="0">
                        <a:solidFill>
                          <a:schemeClr val="bg2"/>
                        </a:solidFill>
                      </a:endParaRPr>
                    </a:p>
                  </a:txBody>
                  <a:tcPr marT="45706" marB="45706"/>
                </a:tc>
                <a:tc>
                  <a:txBody>
                    <a:bodyPr/>
                    <a:lstStyle/>
                    <a:p>
                      <a:r>
                        <a:rPr lang="en-US" sz="1800" b="0" dirty="0">
                          <a:solidFill>
                            <a:schemeClr val="bg2"/>
                          </a:solidFill>
                        </a:rPr>
                        <a:t>1</a:t>
                      </a:r>
                      <a:endParaRPr lang="ru-RU" sz="1800" b="0" dirty="0">
                        <a:solidFill>
                          <a:schemeClr val="bg2"/>
                        </a:solidFill>
                      </a:endParaRPr>
                    </a:p>
                  </a:txBody>
                  <a:tcPr marT="45706" marB="45706"/>
                </a:tc>
                <a:extLst>
                  <a:ext uri="{0D108BD9-81ED-4DB2-BD59-A6C34878D82A}">
                    <a16:rowId xmlns:a16="http://schemas.microsoft.com/office/drawing/2014/main" val="10000"/>
                  </a:ext>
                </a:extLst>
              </a:tr>
              <a:tr h="4178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0</a:t>
                      </a:r>
                      <a:endParaRPr lang="en-US" sz="1800" b="0" dirty="0">
                        <a:solidFill>
                          <a:schemeClr val="tx1"/>
                        </a:solidFill>
                        <a:latin typeface="+mn-lt"/>
                        <a:cs typeface="+mn-cs"/>
                      </a:endParaRP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1</a:t>
                      </a:r>
                      <a:r>
                        <a:rPr lang="en-US" sz="1800" b="0" dirty="0">
                          <a:solidFill>
                            <a:schemeClr val="tx1"/>
                          </a:solidFill>
                          <a:latin typeface="+mn-lt"/>
                          <a:cs typeface="+mn-cs"/>
                        </a:rPr>
                        <a:t>/1</a:t>
                      </a: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2</a:t>
                      </a:r>
                      <a:r>
                        <a:rPr lang="en-US" sz="1800" b="0" dirty="0">
                          <a:solidFill>
                            <a:schemeClr val="tx1"/>
                          </a:solidFill>
                          <a:latin typeface="+mn-lt"/>
                          <a:cs typeface="+mn-cs"/>
                        </a:rPr>
                        <a:t>/0</a:t>
                      </a:r>
                    </a:p>
                  </a:txBody>
                  <a:tcPr marT="45706" marB="45706"/>
                </a:tc>
                <a:extLst>
                  <a:ext uri="{0D108BD9-81ED-4DB2-BD59-A6C34878D82A}">
                    <a16:rowId xmlns:a16="http://schemas.microsoft.com/office/drawing/2014/main" val="10001"/>
                  </a:ext>
                </a:extLst>
              </a:tr>
              <a:tr h="4178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1</a:t>
                      </a:r>
                      <a:endParaRPr lang="en-US" sz="1800" b="0" dirty="0">
                        <a:solidFill>
                          <a:schemeClr val="tx1"/>
                        </a:solidFill>
                        <a:latin typeface="+mn-lt"/>
                        <a:cs typeface="+mn-cs"/>
                      </a:endParaRP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3</a:t>
                      </a:r>
                      <a:r>
                        <a:rPr lang="en-US" sz="1800" b="0" dirty="0">
                          <a:solidFill>
                            <a:schemeClr val="tx1"/>
                          </a:solidFill>
                          <a:latin typeface="+mn-lt"/>
                          <a:cs typeface="+mn-cs"/>
                        </a:rPr>
                        <a:t>/0</a:t>
                      </a: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2</a:t>
                      </a:r>
                      <a:r>
                        <a:rPr lang="en-US" sz="1800" b="0" dirty="0">
                          <a:solidFill>
                            <a:schemeClr val="tx1"/>
                          </a:solidFill>
                          <a:latin typeface="+mn-lt"/>
                          <a:cs typeface="+mn-cs"/>
                        </a:rPr>
                        <a:t>/0</a:t>
                      </a:r>
                    </a:p>
                  </a:txBody>
                  <a:tcPr marT="45706" marB="45706"/>
                </a:tc>
                <a:extLst>
                  <a:ext uri="{0D108BD9-81ED-4DB2-BD59-A6C34878D82A}">
                    <a16:rowId xmlns:a16="http://schemas.microsoft.com/office/drawing/2014/main" val="10002"/>
                  </a:ext>
                </a:extLst>
              </a:tr>
              <a:tr h="4178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2</a:t>
                      </a:r>
                      <a:endParaRPr lang="en-US" sz="1800" b="0" dirty="0">
                        <a:solidFill>
                          <a:schemeClr val="tx1"/>
                        </a:solidFill>
                        <a:latin typeface="+mn-lt"/>
                        <a:cs typeface="+mn-cs"/>
                      </a:endParaRP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1</a:t>
                      </a:r>
                      <a:r>
                        <a:rPr lang="en-US" sz="1800" b="0" dirty="0">
                          <a:solidFill>
                            <a:schemeClr val="tx1"/>
                          </a:solidFill>
                          <a:latin typeface="+mn-lt"/>
                          <a:cs typeface="+mn-cs"/>
                        </a:rPr>
                        <a:t>/1</a:t>
                      </a: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0</a:t>
                      </a:r>
                      <a:r>
                        <a:rPr lang="en-US" sz="1800" b="0" dirty="0">
                          <a:solidFill>
                            <a:schemeClr val="tx1"/>
                          </a:solidFill>
                          <a:latin typeface="+mn-lt"/>
                          <a:cs typeface="+mn-cs"/>
                        </a:rPr>
                        <a:t>/0</a:t>
                      </a:r>
                    </a:p>
                  </a:txBody>
                  <a:tcPr marT="45706" marB="45706"/>
                </a:tc>
                <a:extLst>
                  <a:ext uri="{0D108BD9-81ED-4DB2-BD59-A6C34878D82A}">
                    <a16:rowId xmlns:a16="http://schemas.microsoft.com/office/drawing/2014/main" val="10003"/>
                  </a:ext>
                </a:extLst>
              </a:tr>
              <a:tr h="4178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3</a:t>
                      </a:r>
                      <a:endParaRPr lang="en-US" sz="1800" b="0" dirty="0">
                        <a:solidFill>
                          <a:schemeClr val="tx1"/>
                        </a:solidFill>
                        <a:latin typeface="+mn-lt"/>
                        <a:cs typeface="+mn-cs"/>
                      </a:endParaRP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2</a:t>
                      </a:r>
                      <a:r>
                        <a:rPr lang="en-US" sz="1800" b="0" dirty="0">
                          <a:solidFill>
                            <a:schemeClr val="tx1"/>
                          </a:solidFill>
                          <a:latin typeface="+mn-lt"/>
                          <a:cs typeface="+mn-cs"/>
                        </a:rPr>
                        <a:t>/1</a:t>
                      </a: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0</a:t>
                      </a:r>
                      <a:r>
                        <a:rPr lang="en-US" sz="1800" b="0" dirty="0">
                          <a:solidFill>
                            <a:schemeClr val="tx1"/>
                          </a:solidFill>
                          <a:latin typeface="+mn-lt"/>
                          <a:cs typeface="+mn-cs"/>
                        </a:rPr>
                        <a:t>/0</a:t>
                      </a:r>
                    </a:p>
                  </a:txBody>
                  <a:tcPr marT="45706" marB="45706"/>
                </a:tc>
                <a:extLst>
                  <a:ext uri="{0D108BD9-81ED-4DB2-BD59-A6C34878D82A}">
                    <a16:rowId xmlns:a16="http://schemas.microsoft.com/office/drawing/2014/main" val="10004"/>
                  </a:ext>
                </a:extLst>
              </a:tr>
            </a:tbl>
          </a:graphicData>
        </a:graphic>
      </p:graphicFrame>
      <p:sp>
        <p:nvSpPr>
          <p:cNvPr id="5" name="Title 4">
            <a:extLst>
              <a:ext uri="{FF2B5EF4-FFF2-40B4-BE49-F238E27FC236}">
                <a16:creationId xmlns:a16="http://schemas.microsoft.com/office/drawing/2014/main" id="{372E7610-F45C-0BFE-B596-04448B4CECF0}"/>
              </a:ext>
            </a:extLst>
          </p:cNvPr>
          <p:cNvSpPr>
            <a:spLocks noGrp="1"/>
          </p:cNvSpPr>
          <p:nvPr>
            <p:ph type="title"/>
          </p:nvPr>
        </p:nvSpPr>
        <p:spPr/>
        <p:txBody>
          <a:bodyPr/>
          <a:lstStyle/>
          <a:p>
            <a:r>
              <a:rPr lang="en-US" dirty="0"/>
              <a:t>Example</a:t>
            </a:r>
          </a:p>
        </p:txBody>
      </p:sp>
      <p:sp>
        <p:nvSpPr>
          <p:cNvPr id="7" name="Text Placeholder 6">
            <a:extLst>
              <a:ext uri="{FF2B5EF4-FFF2-40B4-BE49-F238E27FC236}">
                <a16:creationId xmlns:a16="http://schemas.microsoft.com/office/drawing/2014/main" id="{DBFB668E-339E-F4A3-FB3F-749763BBD467}"/>
              </a:ext>
            </a:extLst>
          </p:cNvPr>
          <p:cNvSpPr>
            <a:spLocks noGrp="1"/>
          </p:cNvSpPr>
          <p:nvPr>
            <p:ph type="body" sz="quarter" idx="10"/>
          </p:nvPr>
        </p:nvSpPr>
        <p:spPr/>
        <p:txBody>
          <a:bodyPr/>
          <a:lstStyle/>
          <a:p>
            <a:endParaRPr lang="en-US" dirty="0"/>
          </a:p>
          <a:p>
            <a:endParaRPr lang="en-US" dirty="0"/>
          </a:p>
          <a:p>
            <a:endParaRPr lang="en-US" dirty="0"/>
          </a:p>
          <a:p>
            <a:endParaRPr lang="en-US" dirty="0"/>
          </a:p>
          <a:p>
            <a:endParaRPr lang="en-US" dirty="0"/>
          </a:p>
          <a:p>
            <a:pPr marL="0" indent="0">
              <a:buNone/>
            </a:pPr>
            <a:endParaRPr lang="en-US" dirty="0"/>
          </a:p>
          <a:p>
            <a:endParaRPr lang="en-US" sz="2200" dirty="0"/>
          </a:p>
          <a:p>
            <a:r>
              <a:rPr lang="en-US" sz="2200" dirty="0"/>
              <a:t>The states of FSM in serial are partitioned into 1-, 2- … k-,(k+1)</a:t>
            </a:r>
          </a:p>
          <a:p>
            <a:r>
              <a:rPr lang="en-US" sz="2200" dirty="0"/>
              <a:t>- classes of state equivalence.</a:t>
            </a:r>
          </a:p>
          <a:p>
            <a:r>
              <a:rPr lang="en-US" sz="2200" dirty="0"/>
              <a:t>Partitions: Po, P1,…, Pk+1.    P0 = {S0,S1,S2,S3}; P1= {A1,B1}.  A1={S0,S2,S3}; B1={S1}.</a:t>
            </a:r>
          </a:p>
          <a:p>
            <a:endParaRPr lang="en-US"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725" name="Text Box 77">
            <a:extLst>
              <a:ext uri="{FF2B5EF4-FFF2-40B4-BE49-F238E27FC236}">
                <a16:creationId xmlns:a16="http://schemas.microsoft.com/office/drawing/2014/main" id="{D405127F-C773-4B04-BA27-B017B4338793}"/>
              </a:ext>
            </a:extLst>
          </p:cNvPr>
          <p:cNvSpPr txBox="1">
            <a:spLocks noChangeArrowheads="1"/>
          </p:cNvSpPr>
          <p:nvPr/>
        </p:nvSpPr>
        <p:spPr bwMode="auto">
          <a:xfrm>
            <a:off x="1847851" y="5949950"/>
            <a:ext cx="8424863" cy="369332"/>
          </a:xfrm>
          <a:prstGeom prst="rect">
            <a:avLst/>
          </a:prstGeom>
          <a:noFill/>
          <a:ln w="9525">
            <a:noFill/>
            <a:miter lim="800000"/>
            <a:headEnd/>
            <a:tailEnd/>
          </a:ln>
          <a:effectLst/>
        </p:spPr>
        <p:txBody>
          <a:bodyPr>
            <a:spAutoFit/>
          </a:bodyPr>
          <a:lstStyle/>
          <a:p>
            <a:pPr eaLnBrk="1" hangingPunct="1">
              <a:spcBef>
                <a:spcPct val="50000"/>
              </a:spcBef>
              <a:defRPr/>
            </a:pPr>
            <a:endParaRPr lang="ru-RU" b="1">
              <a:effectLst>
                <a:outerShdw blurRad="38100" dist="38100" dir="2700000" algn="tl">
                  <a:srgbClr val="C0C0C0"/>
                </a:outerShdw>
              </a:effectLst>
              <a:latin typeface="Times New Roman" pitchFamily="18" charset="0"/>
            </a:endParaRPr>
          </a:p>
        </p:txBody>
      </p:sp>
      <p:sp>
        <p:nvSpPr>
          <p:cNvPr id="59395" name="Line 30">
            <a:extLst>
              <a:ext uri="{FF2B5EF4-FFF2-40B4-BE49-F238E27FC236}">
                <a16:creationId xmlns:a16="http://schemas.microsoft.com/office/drawing/2014/main" id="{5D492795-AD23-36D3-D318-BD0FD264B82B}"/>
              </a:ext>
            </a:extLst>
          </p:cNvPr>
          <p:cNvSpPr>
            <a:spLocks noChangeShapeType="1"/>
          </p:cNvSpPr>
          <p:nvPr/>
        </p:nvSpPr>
        <p:spPr bwMode="auto">
          <a:xfrm>
            <a:off x="2376488" y="2619375"/>
            <a:ext cx="4937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396" name="Text Box 31">
            <a:extLst>
              <a:ext uri="{FF2B5EF4-FFF2-40B4-BE49-F238E27FC236}">
                <a16:creationId xmlns:a16="http://schemas.microsoft.com/office/drawing/2014/main" id="{CACDAD24-EA0F-933E-570F-F850728255D2}"/>
              </a:ext>
            </a:extLst>
          </p:cNvPr>
          <p:cNvSpPr txBox="1">
            <a:spLocks noChangeArrowheads="1"/>
          </p:cNvSpPr>
          <p:nvPr/>
        </p:nvSpPr>
        <p:spPr bwMode="auto">
          <a:xfrm>
            <a:off x="2232025" y="2684464"/>
            <a:ext cx="704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A1</a:t>
            </a:r>
          </a:p>
        </p:txBody>
      </p:sp>
      <p:sp>
        <p:nvSpPr>
          <p:cNvPr id="59397" name="Line 32">
            <a:extLst>
              <a:ext uri="{FF2B5EF4-FFF2-40B4-BE49-F238E27FC236}">
                <a16:creationId xmlns:a16="http://schemas.microsoft.com/office/drawing/2014/main" id="{FD2C4D76-2417-2F25-4B8B-94F0A3E9F1A6}"/>
              </a:ext>
            </a:extLst>
          </p:cNvPr>
          <p:cNvSpPr>
            <a:spLocks noChangeShapeType="1"/>
          </p:cNvSpPr>
          <p:nvPr/>
        </p:nvSpPr>
        <p:spPr bwMode="auto">
          <a:xfrm>
            <a:off x="2374901" y="3840163"/>
            <a:ext cx="4937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398" name="Text Box 33">
            <a:extLst>
              <a:ext uri="{FF2B5EF4-FFF2-40B4-BE49-F238E27FC236}">
                <a16:creationId xmlns:a16="http://schemas.microsoft.com/office/drawing/2014/main" id="{109ABAA2-F456-5012-6ED7-8F117B319294}"/>
              </a:ext>
            </a:extLst>
          </p:cNvPr>
          <p:cNvSpPr txBox="1">
            <a:spLocks noChangeArrowheads="1"/>
          </p:cNvSpPr>
          <p:nvPr/>
        </p:nvSpPr>
        <p:spPr bwMode="auto">
          <a:xfrm>
            <a:off x="2286000" y="3865564"/>
            <a:ext cx="704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B1</a:t>
            </a:r>
          </a:p>
        </p:txBody>
      </p:sp>
      <p:sp>
        <p:nvSpPr>
          <p:cNvPr id="59399" name="Text Box 34">
            <a:extLst>
              <a:ext uri="{FF2B5EF4-FFF2-40B4-BE49-F238E27FC236}">
                <a16:creationId xmlns:a16="http://schemas.microsoft.com/office/drawing/2014/main" id="{077FD42E-C396-AC34-B3A5-FC9738B57C55}"/>
              </a:ext>
            </a:extLst>
          </p:cNvPr>
          <p:cNvSpPr txBox="1">
            <a:spLocks noChangeArrowheads="1"/>
          </p:cNvSpPr>
          <p:nvPr/>
        </p:nvSpPr>
        <p:spPr bwMode="auto">
          <a:xfrm>
            <a:off x="2792413" y="4356101"/>
            <a:ext cx="283051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ym typeface="Symbol" panose="05050102010706020507" pitchFamily="18" charset="2"/>
              </a:rPr>
              <a:t>P2={A2,B2,C2}; </a:t>
            </a:r>
            <a:br>
              <a:rPr lang="en-US" altLang="en-US" sz="2000">
                <a:latin typeface="Times New Roman" panose="02020603050405020304" pitchFamily="18" charset="0"/>
                <a:sym typeface="Symbol" panose="05050102010706020507" pitchFamily="18" charset="2"/>
              </a:rPr>
            </a:br>
            <a:r>
              <a:rPr lang="en-US" altLang="en-US" sz="2000">
                <a:sym typeface="Symbol" panose="05050102010706020507" pitchFamily="18" charset="2"/>
              </a:rPr>
              <a:t>A2={S</a:t>
            </a:r>
            <a:r>
              <a:rPr lang="en-US" altLang="en-US" sz="2000" baseline="-25000">
                <a:sym typeface="Symbol" panose="05050102010706020507" pitchFamily="18" charset="2"/>
              </a:rPr>
              <a:t>0</a:t>
            </a:r>
            <a:r>
              <a:rPr lang="en-US" altLang="en-US" sz="2000">
                <a:sym typeface="Symbol" panose="05050102010706020507" pitchFamily="18" charset="2"/>
              </a:rPr>
              <a:t>,S</a:t>
            </a:r>
            <a:r>
              <a:rPr lang="en-US" altLang="en-US" sz="2000" baseline="-25000">
                <a:sym typeface="Symbol" panose="05050102010706020507" pitchFamily="18" charset="2"/>
              </a:rPr>
              <a:t>2</a:t>
            </a:r>
            <a:r>
              <a:rPr lang="en-US" altLang="en-US" sz="2000">
                <a:sym typeface="Symbol" panose="05050102010706020507" pitchFamily="18" charset="2"/>
              </a:rPr>
              <a:t>};</a:t>
            </a:r>
            <a:br>
              <a:rPr lang="en-US" altLang="en-US" sz="2000">
                <a:latin typeface="Times New Roman" panose="02020603050405020304" pitchFamily="18" charset="0"/>
                <a:sym typeface="Symbol" panose="05050102010706020507" pitchFamily="18" charset="2"/>
              </a:rPr>
            </a:br>
            <a:r>
              <a:rPr lang="en-US" altLang="en-US" sz="2000">
                <a:sym typeface="Symbol" panose="05050102010706020507" pitchFamily="18" charset="2"/>
              </a:rPr>
              <a:t>B2={S</a:t>
            </a:r>
            <a:r>
              <a:rPr lang="en-US" altLang="en-US" sz="2000" baseline="-25000">
                <a:sym typeface="Symbol" panose="05050102010706020507" pitchFamily="18" charset="2"/>
              </a:rPr>
              <a:t>3</a:t>
            </a:r>
            <a:r>
              <a:rPr lang="en-US" altLang="en-US" sz="2000">
                <a:sym typeface="Symbol" panose="05050102010706020507" pitchFamily="18" charset="2"/>
              </a:rPr>
              <a:t>};  C2={S</a:t>
            </a:r>
            <a:r>
              <a:rPr lang="en-US" altLang="en-US" sz="2000" baseline="-25000">
                <a:sym typeface="Symbol" panose="05050102010706020507" pitchFamily="18" charset="2"/>
              </a:rPr>
              <a:t>1</a:t>
            </a:r>
            <a:r>
              <a:rPr lang="en-US" altLang="en-US" sz="2000">
                <a:sym typeface="Symbol" panose="05050102010706020507" pitchFamily="18" charset="2"/>
              </a:rPr>
              <a:t>}.</a:t>
            </a:r>
          </a:p>
        </p:txBody>
      </p:sp>
      <p:sp>
        <p:nvSpPr>
          <p:cNvPr id="59400" name="Line 62">
            <a:extLst>
              <a:ext uri="{FF2B5EF4-FFF2-40B4-BE49-F238E27FC236}">
                <a16:creationId xmlns:a16="http://schemas.microsoft.com/office/drawing/2014/main" id="{15A0B5F1-EA67-AD8B-D17D-83248870EC4E}"/>
              </a:ext>
            </a:extLst>
          </p:cNvPr>
          <p:cNvSpPr>
            <a:spLocks noChangeShapeType="1"/>
          </p:cNvSpPr>
          <p:nvPr/>
        </p:nvSpPr>
        <p:spPr bwMode="auto">
          <a:xfrm>
            <a:off x="6592888" y="2595563"/>
            <a:ext cx="4937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01" name="Text Box 63">
            <a:extLst>
              <a:ext uri="{FF2B5EF4-FFF2-40B4-BE49-F238E27FC236}">
                <a16:creationId xmlns:a16="http://schemas.microsoft.com/office/drawing/2014/main" id="{8BA935AD-1700-93D6-1062-84ED2108290A}"/>
              </a:ext>
            </a:extLst>
          </p:cNvPr>
          <p:cNvSpPr txBox="1">
            <a:spLocks noChangeArrowheads="1"/>
          </p:cNvSpPr>
          <p:nvPr/>
        </p:nvSpPr>
        <p:spPr bwMode="auto">
          <a:xfrm>
            <a:off x="6537325" y="2640014"/>
            <a:ext cx="704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A2</a:t>
            </a:r>
          </a:p>
        </p:txBody>
      </p:sp>
      <p:sp>
        <p:nvSpPr>
          <p:cNvPr id="59402" name="Line 64">
            <a:extLst>
              <a:ext uri="{FF2B5EF4-FFF2-40B4-BE49-F238E27FC236}">
                <a16:creationId xmlns:a16="http://schemas.microsoft.com/office/drawing/2014/main" id="{A04C9CC3-54AC-53BE-0280-E4F8B0FA312E}"/>
              </a:ext>
            </a:extLst>
          </p:cNvPr>
          <p:cNvSpPr>
            <a:spLocks noChangeShapeType="1"/>
          </p:cNvSpPr>
          <p:nvPr/>
        </p:nvSpPr>
        <p:spPr bwMode="auto">
          <a:xfrm>
            <a:off x="6581776" y="3457575"/>
            <a:ext cx="4937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03" name="Text Box 65">
            <a:extLst>
              <a:ext uri="{FF2B5EF4-FFF2-40B4-BE49-F238E27FC236}">
                <a16:creationId xmlns:a16="http://schemas.microsoft.com/office/drawing/2014/main" id="{03880E2E-B5A9-E76D-8348-BF66C1FF8A76}"/>
              </a:ext>
            </a:extLst>
          </p:cNvPr>
          <p:cNvSpPr txBox="1">
            <a:spLocks noChangeArrowheads="1"/>
          </p:cNvSpPr>
          <p:nvPr/>
        </p:nvSpPr>
        <p:spPr bwMode="auto">
          <a:xfrm>
            <a:off x="6516688" y="3927476"/>
            <a:ext cx="704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C2</a:t>
            </a:r>
          </a:p>
        </p:txBody>
      </p:sp>
      <p:sp>
        <p:nvSpPr>
          <p:cNvPr id="59404" name="Text Box 66">
            <a:extLst>
              <a:ext uri="{FF2B5EF4-FFF2-40B4-BE49-F238E27FC236}">
                <a16:creationId xmlns:a16="http://schemas.microsoft.com/office/drawing/2014/main" id="{307E68B0-05A8-BBB0-F89D-4739A45C2847}"/>
              </a:ext>
            </a:extLst>
          </p:cNvPr>
          <p:cNvSpPr txBox="1">
            <a:spLocks noChangeArrowheads="1"/>
          </p:cNvSpPr>
          <p:nvPr/>
        </p:nvSpPr>
        <p:spPr bwMode="auto">
          <a:xfrm>
            <a:off x="5448300" y="2641601"/>
            <a:ext cx="704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A2</a:t>
            </a:r>
          </a:p>
        </p:txBody>
      </p:sp>
      <p:sp>
        <p:nvSpPr>
          <p:cNvPr id="59405" name="Text Box 67">
            <a:extLst>
              <a:ext uri="{FF2B5EF4-FFF2-40B4-BE49-F238E27FC236}">
                <a16:creationId xmlns:a16="http://schemas.microsoft.com/office/drawing/2014/main" id="{AB34444F-312F-136F-60FA-144AA9F89BD8}"/>
              </a:ext>
            </a:extLst>
          </p:cNvPr>
          <p:cNvSpPr txBox="1">
            <a:spLocks noChangeArrowheads="1"/>
          </p:cNvSpPr>
          <p:nvPr/>
        </p:nvSpPr>
        <p:spPr bwMode="auto">
          <a:xfrm>
            <a:off x="5434013" y="3067051"/>
            <a:ext cx="704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A2</a:t>
            </a:r>
          </a:p>
        </p:txBody>
      </p:sp>
      <p:sp>
        <p:nvSpPr>
          <p:cNvPr id="59406" name="Text Box 68">
            <a:extLst>
              <a:ext uri="{FF2B5EF4-FFF2-40B4-BE49-F238E27FC236}">
                <a16:creationId xmlns:a16="http://schemas.microsoft.com/office/drawing/2014/main" id="{06ACEE85-0668-7BE2-9CD9-503300255572}"/>
              </a:ext>
            </a:extLst>
          </p:cNvPr>
          <p:cNvSpPr txBox="1">
            <a:spLocks noChangeArrowheads="1"/>
          </p:cNvSpPr>
          <p:nvPr/>
        </p:nvSpPr>
        <p:spPr bwMode="auto">
          <a:xfrm>
            <a:off x="5430838" y="3478214"/>
            <a:ext cx="704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B2</a:t>
            </a:r>
          </a:p>
        </p:txBody>
      </p:sp>
      <p:sp>
        <p:nvSpPr>
          <p:cNvPr id="59407" name="Text Box 69">
            <a:extLst>
              <a:ext uri="{FF2B5EF4-FFF2-40B4-BE49-F238E27FC236}">
                <a16:creationId xmlns:a16="http://schemas.microsoft.com/office/drawing/2014/main" id="{C52D6EC0-2623-38AC-8347-4B06BCA670FE}"/>
              </a:ext>
            </a:extLst>
          </p:cNvPr>
          <p:cNvSpPr txBox="1">
            <a:spLocks noChangeArrowheads="1"/>
          </p:cNvSpPr>
          <p:nvPr/>
        </p:nvSpPr>
        <p:spPr bwMode="auto">
          <a:xfrm>
            <a:off x="5407025" y="3957639"/>
            <a:ext cx="704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C2</a:t>
            </a:r>
          </a:p>
        </p:txBody>
      </p:sp>
      <p:sp>
        <p:nvSpPr>
          <p:cNvPr id="59408" name="Text Box 70">
            <a:extLst>
              <a:ext uri="{FF2B5EF4-FFF2-40B4-BE49-F238E27FC236}">
                <a16:creationId xmlns:a16="http://schemas.microsoft.com/office/drawing/2014/main" id="{BE12EC88-19F0-1D48-9CF8-B391A6604A15}"/>
              </a:ext>
            </a:extLst>
          </p:cNvPr>
          <p:cNvSpPr txBox="1">
            <a:spLocks noChangeArrowheads="1"/>
          </p:cNvSpPr>
          <p:nvPr/>
        </p:nvSpPr>
        <p:spPr bwMode="auto">
          <a:xfrm>
            <a:off x="9774239" y="2603501"/>
            <a:ext cx="612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A3</a:t>
            </a:r>
          </a:p>
        </p:txBody>
      </p:sp>
      <p:sp>
        <p:nvSpPr>
          <p:cNvPr id="59409" name="Text Box 71">
            <a:extLst>
              <a:ext uri="{FF2B5EF4-FFF2-40B4-BE49-F238E27FC236}">
                <a16:creationId xmlns:a16="http://schemas.microsoft.com/office/drawing/2014/main" id="{F85F8391-C552-BD74-C634-E94659B35169}"/>
              </a:ext>
            </a:extLst>
          </p:cNvPr>
          <p:cNvSpPr txBox="1">
            <a:spLocks noChangeArrowheads="1"/>
          </p:cNvSpPr>
          <p:nvPr/>
        </p:nvSpPr>
        <p:spPr bwMode="auto">
          <a:xfrm>
            <a:off x="9755188" y="3022601"/>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A3</a:t>
            </a:r>
          </a:p>
        </p:txBody>
      </p:sp>
      <p:sp>
        <p:nvSpPr>
          <p:cNvPr id="59410" name="Text Box 72">
            <a:extLst>
              <a:ext uri="{FF2B5EF4-FFF2-40B4-BE49-F238E27FC236}">
                <a16:creationId xmlns:a16="http://schemas.microsoft.com/office/drawing/2014/main" id="{DEE6911B-AE27-0609-33FF-6E7DCF0A4ED8}"/>
              </a:ext>
            </a:extLst>
          </p:cNvPr>
          <p:cNvSpPr txBox="1">
            <a:spLocks noChangeArrowheads="1"/>
          </p:cNvSpPr>
          <p:nvPr/>
        </p:nvSpPr>
        <p:spPr bwMode="auto">
          <a:xfrm>
            <a:off x="9753600" y="3451226"/>
            <a:ext cx="534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B3</a:t>
            </a:r>
          </a:p>
        </p:txBody>
      </p:sp>
      <p:sp>
        <p:nvSpPr>
          <p:cNvPr id="59411" name="Text Box 73">
            <a:extLst>
              <a:ext uri="{FF2B5EF4-FFF2-40B4-BE49-F238E27FC236}">
                <a16:creationId xmlns:a16="http://schemas.microsoft.com/office/drawing/2014/main" id="{E1A43748-18BC-809B-0FB3-0C020646CAEF}"/>
              </a:ext>
            </a:extLst>
          </p:cNvPr>
          <p:cNvSpPr txBox="1">
            <a:spLocks noChangeArrowheads="1"/>
          </p:cNvSpPr>
          <p:nvPr/>
        </p:nvSpPr>
        <p:spPr bwMode="auto">
          <a:xfrm>
            <a:off x="9758364" y="3854451"/>
            <a:ext cx="561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C3</a:t>
            </a:r>
          </a:p>
        </p:txBody>
      </p:sp>
      <p:sp>
        <p:nvSpPr>
          <p:cNvPr id="59412" name="Text Box 74">
            <a:extLst>
              <a:ext uri="{FF2B5EF4-FFF2-40B4-BE49-F238E27FC236}">
                <a16:creationId xmlns:a16="http://schemas.microsoft.com/office/drawing/2014/main" id="{4D2275CA-69EA-F357-8358-F9A62B5994A9}"/>
              </a:ext>
            </a:extLst>
          </p:cNvPr>
          <p:cNvSpPr txBox="1">
            <a:spLocks noChangeArrowheads="1"/>
          </p:cNvSpPr>
          <p:nvPr/>
        </p:nvSpPr>
        <p:spPr bwMode="auto">
          <a:xfrm>
            <a:off x="6496050" y="3448051"/>
            <a:ext cx="704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B2</a:t>
            </a:r>
          </a:p>
        </p:txBody>
      </p:sp>
      <p:sp>
        <p:nvSpPr>
          <p:cNvPr id="59413" name="Line 75">
            <a:extLst>
              <a:ext uri="{FF2B5EF4-FFF2-40B4-BE49-F238E27FC236}">
                <a16:creationId xmlns:a16="http://schemas.microsoft.com/office/drawing/2014/main" id="{7227C192-CB2D-8106-3F9C-3B796E495819}"/>
              </a:ext>
            </a:extLst>
          </p:cNvPr>
          <p:cNvSpPr>
            <a:spLocks noChangeShapeType="1"/>
          </p:cNvSpPr>
          <p:nvPr/>
        </p:nvSpPr>
        <p:spPr bwMode="auto">
          <a:xfrm>
            <a:off x="6578601" y="3857625"/>
            <a:ext cx="4937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724" name="Text Box 76">
            <a:extLst>
              <a:ext uri="{FF2B5EF4-FFF2-40B4-BE49-F238E27FC236}">
                <a16:creationId xmlns:a16="http://schemas.microsoft.com/office/drawing/2014/main" id="{B1089805-715B-407A-81B1-409B36231439}"/>
              </a:ext>
            </a:extLst>
          </p:cNvPr>
          <p:cNvSpPr txBox="1">
            <a:spLocks noChangeArrowheads="1"/>
          </p:cNvSpPr>
          <p:nvPr/>
        </p:nvSpPr>
        <p:spPr bwMode="auto">
          <a:xfrm>
            <a:off x="7051676" y="4332289"/>
            <a:ext cx="2830513" cy="1006475"/>
          </a:xfrm>
          <a:prstGeom prst="rect">
            <a:avLst/>
          </a:prstGeom>
          <a:noFill/>
          <a:ln w="9525">
            <a:noFill/>
            <a:miter lim="800000"/>
            <a:headEnd/>
            <a:tailEnd/>
          </a:ln>
          <a:effectLst/>
        </p:spPr>
        <p:txBody>
          <a:bodyPr>
            <a:spAutoFit/>
          </a:bodyPr>
          <a:lstStyle/>
          <a:p>
            <a:pPr eaLnBrk="1" hangingPunct="1">
              <a:spcBef>
                <a:spcPct val="50000"/>
              </a:spcBef>
              <a:defRPr/>
            </a:pPr>
            <a:r>
              <a:rPr lang="en-US" sz="2000" dirty="0">
                <a:latin typeface="+mj-lt"/>
                <a:sym typeface="Symbol" pitchFamily="18" charset="2"/>
              </a:rPr>
              <a:t>P</a:t>
            </a:r>
            <a:r>
              <a:rPr lang="en-US" sz="2000" baseline="-25000" dirty="0">
                <a:latin typeface="+mj-lt"/>
                <a:sym typeface="Symbol" pitchFamily="18" charset="2"/>
              </a:rPr>
              <a:t>3</a:t>
            </a:r>
            <a:r>
              <a:rPr lang="en-US" sz="2000" dirty="0">
                <a:latin typeface="+mj-lt"/>
                <a:sym typeface="Symbol" pitchFamily="18" charset="2"/>
              </a:rPr>
              <a:t>={A</a:t>
            </a:r>
            <a:r>
              <a:rPr lang="en-US" sz="2000" baseline="-25000" dirty="0">
                <a:latin typeface="Arial" charset="0"/>
                <a:sym typeface="Symbol" pitchFamily="18" charset="2"/>
              </a:rPr>
              <a:t>3</a:t>
            </a:r>
            <a:r>
              <a:rPr lang="en-US" sz="2000" dirty="0">
                <a:latin typeface="+mj-lt"/>
                <a:sym typeface="Symbol" pitchFamily="18" charset="2"/>
              </a:rPr>
              <a:t>,B</a:t>
            </a:r>
            <a:r>
              <a:rPr lang="en-US" sz="2000" baseline="-25000" dirty="0">
                <a:latin typeface="Arial" charset="0"/>
                <a:sym typeface="Symbol" pitchFamily="18" charset="2"/>
              </a:rPr>
              <a:t>3</a:t>
            </a:r>
            <a:r>
              <a:rPr lang="en-US" sz="2000" dirty="0">
                <a:latin typeface="+mj-lt"/>
                <a:sym typeface="Symbol" pitchFamily="18" charset="2"/>
              </a:rPr>
              <a:t>,C</a:t>
            </a:r>
            <a:r>
              <a:rPr lang="en-US" sz="2000" baseline="-25000" dirty="0">
                <a:latin typeface="Arial" charset="0"/>
                <a:sym typeface="Symbol" pitchFamily="18" charset="2"/>
              </a:rPr>
              <a:t>3</a:t>
            </a:r>
            <a:r>
              <a:rPr lang="en-US" sz="2000" dirty="0">
                <a:latin typeface="+mj-lt"/>
                <a:sym typeface="Symbol" pitchFamily="18" charset="2"/>
              </a:rPr>
              <a:t>}; </a:t>
            </a:r>
            <a:br>
              <a:rPr lang="en-US" sz="2000" dirty="0">
                <a:latin typeface="Times New Roman" pitchFamily="18" charset="0"/>
                <a:sym typeface="Symbol" pitchFamily="18" charset="2"/>
              </a:rPr>
            </a:br>
            <a:r>
              <a:rPr lang="en-US" sz="2000" dirty="0">
                <a:latin typeface="+mj-lt"/>
                <a:sym typeface="Symbol" pitchFamily="18" charset="2"/>
              </a:rPr>
              <a:t>A3={S</a:t>
            </a:r>
            <a:r>
              <a:rPr lang="en-US" sz="2000" baseline="-25000" dirty="0">
                <a:latin typeface="+mj-lt"/>
                <a:sym typeface="Symbol" pitchFamily="18" charset="2"/>
              </a:rPr>
              <a:t>0</a:t>
            </a:r>
            <a:r>
              <a:rPr lang="en-US" sz="2000" dirty="0">
                <a:latin typeface="+mj-lt"/>
                <a:sym typeface="Symbol" pitchFamily="18" charset="2"/>
              </a:rPr>
              <a:t>,S</a:t>
            </a:r>
            <a:r>
              <a:rPr lang="en-US" sz="2000" baseline="-25000" dirty="0">
                <a:latin typeface="+mj-lt"/>
                <a:sym typeface="Symbol" pitchFamily="18" charset="2"/>
              </a:rPr>
              <a:t>2</a:t>
            </a:r>
            <a:r>
              <a:rPr lang="en-US" sz="2000" dirty="0">
                <a:latin typeface="+mj-lt"/>
                <a:sym typeface="Symbol" pitchFamily="18" charset="2"/>
              </a:rPr>
              <a:t>};</a:t>
            </a:r>
            <a:br>
              <a:rPr lang="en-US" sz="2000" dirty="0">
                <a:latin typeface="Times New Roman" pitchFamily="18" charset="0"/>
                <a:sym typeface="Symbol" pitchFamily="18" charset="2"/>
              </a:rPr>
            </a:br>
            <a:r>
              <a:rPr lang="en-US" sz="2000" dirty="0">
                <a:latin typeface="+mj-lt"/>
                <a:sym typeface="Symbol" pitchFamily="18" charset="2"/>
              </a:rPr>
              <a:t>B3={S</a:t>
            </a:r>
            <a:r>
              <a:rPr lang="en-US" sz="2000" baseline="-25000" dirty="0">
                <a:latin typeface="+mj-lt"/>
                <a:sym typeface="Symbol" pitchFamily="18" charset="2"/>
              </a:rPr>
              <a:t>3</a:t>
            </a:r>
            <a:r>
              <a:rPr lang="en-US" sz="2000" dirty="0">
                <a:latin typeface="+mj-lt"/>
                <a:sym typeface="Symbol" pitchFamily="18" charset="2"/>
              </a:rPr>
              <a:t>};  C3={S</a:t>
            </a:r>
            <a:r>
              <a:rPr lang="en-US" sz="2000" baseline="-25000" dirty="0">
                <a:latin typeface="+mj-lt"/>
                <a:sym typeface="Symbol" pitchFamily="18" charset="2"/>
              </a:rPr>
              <a:t>1</a:t>
            </a:r>
            <a:r>
              <a:rPr lang="en-US" sz="2000" dirty="0">
                <a:latin typeface="+mj-lt"/>
                <a:sym typeface="Symbol" pitchFamily="18" charset="2"/>
              </a:rPr>
              <a:t>}.</a:t>
            </a:r>
          </a:p>
        </p:txBody>
      </p:sp>
      <p:sp>
        <p:nvSpPr>
          <p:cNvPr id="59415" name="Text Box 78">
            <a:extLst>
              <a:ext uri="{FF2B5EF4-FFF2-40B4-BE49-F238E27FC236}">
                <a16:creationId xmlns:a16="http://schemas.microsoft.com/office/drawing/2014/main" id="{0BC2A583-D5AD-59FC-9483-A6677DDBCAE4}"/>
              </a:ext>
            </a:extLst>
          </p:cNvPr>
          <p:cNvSpPr txBox="1">
            <a:spLocks noChangeArrowheads="1"/>
          </p:cNvSpPr>
          <p:nvPr/>
        </p:nvSpPr>
        <p:spPr bwMode="auto">
          <a:xfrm>
            <a:off x="2855914" y="5445126"/>
            <a:ext cx="7470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P</a:t>
            </a:r>
            <a:r>
              <a:rPr lang="en-US" altLang="en-US" sz="2000" baseline="-25000"/>
              <a:t>2</a:t>
            </a:r>
            <a:r>
              <a:rPr lang="en-US" altLang="en-US" sz="2000"/>
              <a:t>=P</a:t>
            </a:r>
            <a:r>
              <a:rPr lang="en-US" altLang="en-US" sz="2000" baseline="-25000"/>
              <a:t>3</a:t>
            </a:r>
            <a:r>
              <a:rPr lang="en-US" altLang="en-US" sz="2000"/>
              <a:t>=P</a:t>
            </a:r>
            <a:r>
              <a:rPr lang="en-US" altLang="en-US" sz="2000" baseline="-25000"/>
              <a:t>Fin</a:t>
            </a:r>
            <a:r>
              <a:rPr lang="en-US" altLang="en-US" sz="2000"/>
              <a:t>;  S</a:t>
            </a:r>
            <a:r>
              <a:rPr lang="en-US" altLang="en-US" sz="2000" baseline="-25000"/>
              <a:t>0</a:t>
            </a:r>
            <a:r>
              <a:rPr lang="en-US" altLang="en-US" sz="2000">
                <a:sym typeface="Symbol" panose="05050102010706020507" pitchFamily="18" charset="2"/>
              </a:rPr>
              <a:t>S</a:t>
            </a:r>
            <a:r>
              <a:rPr lang="en-US" altLang="en-US" sz="2000" baseline="-25000">
                <a:sym typeface="Symbol" panose="05050102010706020507" pitchFamily="18" charset="2"/>
              </a:rPr>
              <a:t>2</a:t>
            </a:r>
            <a:r>
              <a:rPr lang="en-US" altLang="en-US" sz="2000">
                <a:sym typeface="Symbol" panose="05050102010706020507" pitchFamily="18" charset="2"/>
              </a:rPr>
              <a:t>;  replace S</a:t>
            </a:r>
            <a:r>
              <a:rPr lang="en-US" altLang="en-US" sz="2000" baseline="-25000">
                <a:sym typeface="Symbol" panose="05050102010706020507" pitchFamily="18" charset="2"/>
              </a:rPr>
              <a:t>0</a:t>
            </a:r>
            <a:r>
              <a:rPr lang="en-US" altLang="en-US" sz="2000">
                <a:sym typeface="Symbol" panose="05050102010706020507" pitchFamily="18" charset="2"/>
              </a:rPr>
              <a:t> and S</a:t>
            </a:r>
            <a:r>
              <a:rPr lang="en-US" altLang="en-US" sz="2000" baseline="-25000">
                <a:sym typeface="Symbol" panose="05050102010706020507" pitchFamily="18" charset="2"/>
              </a:rPr>
              <a:t>2</a:t>
            </a:r>
            <a:r>
              <a:rPr lang="en-US" altLang="en-US" sz="2000">
                <a:sym typeface="Symbol" panose="05050102010706020507" pitchFamily="18" charset="2"/>
              </a:rPr>
              <a:t> by S</a:t>
            </a:r>
            <a:r>
              <a:rPr lang="en-US" altLang="en-US" sz="2000" baseline="-25000">
                <a:sym typeface="Symbol" panose="05050102010706020507" pitchFamily="18" charset="2"/>
              </a:rPr>
              <a:t>02</a:t>
            </a:r>
            <a:r>
              <a:rPr lang="en-US" altLang="en-US" sz="2000">
                <a:sym typeface="Symbol" panose="05050102010706020507" pitchFamily="18" charset="2"/>
              </a:rPr>
              <a:t> </a:t>
            </a:r>
          </a:p>
        </p:txBody>
      </p:sp>
      <p:graphicFrame>
        <p:nvGraphicFramePr>
          <p:cNvPr id="78" name="Таблица 77">
            <a:extLst>
              <a:ext uri="{FF2B5EF4-FFF2-40B4-BE49-F238E27FC236}">
                <a16:creationId xmlns:a16="http://schemas.microsoft.com/office/drawing/2014/main" id="{F45D678B-AEEE-498A-BE69-2E5E0B589408}"/>
              </a:ext>
            </a:extLst>
          </p:cNvPr>
          <p:cNvGraphicFramePr>
            <a:graphicFrameLocks noGrp="1"/>
          </p:cNvGraphicFramePr>
          <p:nvPr>
            <p:extLst>
              <p:ext uri="{D42A27DB-BD31-4B8C-83A1-F6EECF244321}">
                <p14:modId xmlns:p14="http://schemas.microsoft.com/office/powerpoint/2010/main" val="4115233370"/>
              </p:ext>
            </p:extLst>
          </p:nvPr>
        </p:nvGraphicFramePr>
        <p:xfrm>
          <a:off x="2686051" y="1962150"/>
          <a:ext cx="2760663" cy="2311428"/>
        </p:xfrm>
        <a:graphic>
          <a:graphicData uri="http://schemas.openxmlformats.org/drawingml/2006/table">
            <a:tbl>
              <a:tblPr firstRow="1" bandRow="1">
                <a:tableStyleId>{5C22544A-7EE6-4342-B048-85BDC9FD1C3A}</a:tableStyleId>
              </a:tblPr>
              <a:tblGrid>
                <a:gridCol w="920221">
                  <a:extLst>
                    <a:ext uri="{9D8B030D-6E8A-4147-A177-3AD203B41FA5}">
                      <a16:colId xmlns:a16="http://schemas.microsoft.com/office/drawing/2014/main" val="20000"/>
                    </a:ext>
                  </a:extLst>
                </a:gridCol>
                <a:gridCol w="920221">
                  <a:extLst>
                    <a:ext uri="{9D8B030D-6E8A-4147-A177-3AD203B41FA5}">
                      <a16:colId xmlns:a16="http://schemas.microsoft.com/office/drawing/2014/main" val="20001"/>
                    </a:ext>
                  </a:extLst>
                </a:gridCol>
                <a:gridCol w="920221">
                  <a:extLst>
                    <a:ext uri="{9D8B030D-6E8A-4147-A177-3AD203B41FA5}">
                      <a16:colId xmlns:a16="http://schemas.microsoft.com/office/drawing/2014/main" val="20002"/>
                    </a:ext>
                  </a:extLst>
                </a:gridCol>
              </a:tblGrid>
              <a:tr h="640022">
                <a:tc>
                  <a:txBody>
                    <a:bodyPr/>
                    <a:lstStyle/>
                    <a:p>
                      <a:r>
                        <a:rPr lang="en-US" sz="1800" b="0" dirty="0">
                          <a:solidFill>
                            <a:schemeClr val="bg2"/>
                          </a:solidFill>
                          <a:latin typeface="+mn-lt"/>
                          <a:cs typeface="+mn-cs"/>
                        </a:rPr>
                        <a:t>         X</a:t>
                      </a:r>
                      <a:br>
                        <a:rPr lang="en-US" sz="1800" b="0" dirty="0">
                          <a:solidFill>
                            <a:schemeClr val="bg2"/>
                          </a:solidFill>
                          <a:latin typeface="+mn-lt"/>
                          <a:cs typeface="+mn-cs"/>
                        </a:rPr>
                      </a:br>
                      <a:r>
                        <a:rPr lang="en-US" sz="1800" b="0" dirty="0">
                          <a:solidFill>
                            <a:schemeClr val="bg2"/>
                          </a:solidFill>
                          <a:latin typeface="+mn-lt"/>
                          <a:cs typeface="+mn-cs"/>
                        </a:rPr>
                        <a:t>S</a:t>
                      </a:r>
                      <a:endParaRPr lang="ru-RU" sz="1800" b="0" dirty="0">
                        <a:solidFill>
                          <a:schemeClr val="bg2"/>
                        </a:solidFill>
                      </a:endParaRPr>
                    </a:p>
                  </a:txBody>
                  <a:tcPr marT="45706" marB="45706">
                    <a:lnTlToBr w="12700" cap="flat" cmpd="sng" algn="ctr">
                      <a:solidFill>
                        <a:schemeClr val="tx1"/>
                      </a:solidFill>
                      <a:prstDash val="solid"/>
                      <a:round/>
                      <a:headEnd type="none" w="med" len="med"/>
                      <a:tailEnd type="none" w="med" len="med"/>
                    </a:lnTlToBr>
                  </a:tcPr>
                </a:tc>
                <a:tc>
                  <a:txBody>
                    <a:bodyPr/>
                    <a:lstStyle/>
                    <a:p>
                      <a:r>
                        <a:rPr lang="en-US" sz="1800" b="0" dirty="0">
                          <a:solidFill>
                            <a:schemeClr val="bg2"/>
                          </a:solidFill>
                        </a:rPr>
                        <a:t>0</a:t>
                      </a:r>
                      <a:endParaRPr lang="ru-RU" sz="1800" b="0" dirty="0">
                        <a:solidFill>
                          <a:schemeClr val="bg2"/>
                        </a:solidFill>
                      </a:endParaRPr>
                    </a:p>
                  </a:txBody>
                  <a:tcPr marT="45706" marB="45706"/>
                </a:tc>
                <a:tc>
                  <a:txBody>
                    <a:bodyPr/>
                    <a:lstStyle/>
                    <a:p>
                      <a:r>
                        <a:rPr lang="en-US" sz="1800" b="0" dirty="0">
                          <a:solidFill>
                            <a:schemeClr val="bg2"/>
                          </a:solidFill>
                        </a:rPr>
                        <a:t>1</a:t>
                      </a:r>
                      <a:endParaRPr lang="ru-RU" sz="1800" b="0" dirty="0">
                        <a:solidFill>
                          <a:schemeClr val="bg2"/>
                        </a:solidFill>
                      </a:endParaRPr>
                    </a:p>
                  </a:txBody>
                  <a:tcPr marT="45706" marB="45706"/>
                </a:tc>
                <a:extLst>
                  <a:ext uri="{0D108BD9-81ED-4DB2-BD59-A6C34878D82A}">
                    <a16:rowId xmlns:a16="http://schemas.microsoft.com/office/drawing/2014/main" val="10000"/>
                  </a:ext>
                </a:extLst>
              </a:tr>
              <a:tr h="4178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0</a:t>
                      </a:r>
                      <a:endParaRPr lang="en-US" sz="1800" b="0" dirty="0">
                        <a:solidFill>
                          <a:schemeClr val="tx1"/>
                        </a:solidFill>
                        <a:latin typeface="+mn-lt"/>
                        <a:cs typeface="+mn-cs"/>
                      </a:endParaRP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B1</a:t>
                      </a: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A1</a:t>
                      </a:r>
                    </a:p>
                  </a:txBody>
                  <a:tcPr marT="45706" marB="45706"/>
                </a:tc>
                <a:extLst>
                  <a:ext uri="{0D108BD9-81ED-4DB2-BD59-A6C34878D82A}">
                    <a16:rowId xmlns:a16="http://schemas.microsoft.com/office/drawing/2014/main" val="10001"/>
                  </a:ext>
                </a:extLst>
              </a:tr>
              <a:tr h="4178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2</a:t>
                      </a:r>
                      <a:endParaRPr lang="en-US" sz="1800" b="0" dirty="0">
                        <a:solidFill>
                          <a:schemeClr val="tx1"/>
                        </a:solidFill>
                        <a:latin typeface="+mn-lt"/>
                        <a:cs typeface="+mn-cs"/>
                      </a:endParaRP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B1</a:t>
                      </a: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A1</a:t>
                      </a:r>
                    </a:p>
                  </a:txBody>
                  <a:tcPr marT="45706" marB="45706"/>
                </a:tc>
                <a:extLst>
                  <a:ext uri="{0D108BD9-81ED-4DB2-BD59-A6C34878D82A}">
                    <a16:rowId xmlns:a16="http://schemas.microsoft.com/office/drawing/2014/main" val="10002"/>
                  </a:ext>
                </a:extLst>
              </a:tr>
              <a:tr h="4178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3</a:t>
                      </a:r>
                      <a:endParaRPr lang="en-US" sz="1800" b="0" dirty="0">
                        <a:solidFill>
                          <a:schemeClr val="tx1"/>
                        </a:solidFill>
                        <a:latin typeface="+mn-lt"/>
                        <a:cs typeface="+mn-cs"/>
                      </a:endParaRP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A1</a:t>
                      </a: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A1</a:t>
                      </a:r>
                    </a:p>
                  </a:txBody>
                  <a:tcPr marT="45706" marB="45706"/>
                </a:tc>
                <a:extLst>
                  <a:ext uri="{0D108BD9-81ED-4DB2-BD59-A6C34878D82A}">
                    <a16:rowId xmlns:a16="http://schemas.microsoft.com/office/drawing/2014/main" val="10003"/>
                  </a:ext>
                </a:extLst>
              </a:tr>
              <a:tr h="4178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1</a:t>
                      </a:r>
                      <a:endParaRPr lang="en-US" sz="1800" b="0" dirty="0">
                        <a:solidFill>
                          <a:schemeClr val="tx1"/>
                        </a:solidFill>
                        <a:latin typeface="+mn-lt"/>
                        <a:cs typeface="+mn-cs"/>
                      </a:endParaRP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a:t>
                      </a: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a:t>
                      </a:r>
                    </a:p>
                  </a:txBody>
                  <a:tcPr marT="45706" marB="45706"/>
                </a:tc>
                <a:extLst>
                  <a:ext uri="{0D108BD9-81ED-4DB2-BD59-A6C34878D82A}">
                    <a16:rowId xmlns:a16="http://schemas.microsoft.com/office/drawing/2014/main" val="10004"/>
                  </a:ext>
                </a:extLst>
              </a:tr>
            </a:tbl>
          </a:graphicData>
        </a:graphic>
      </p:graphicFrame>
      <p:graphicFrame>
        <p:nvGraphicFramePr>
          <p:cNvPr id="79" name="Таблица 78">
            <a:extLst>
              <a:ext uri="{FF2B5EF4-FFF2-40B4-BE49-F238E27FC236}">
                <a16:creationId xmlns:a16="http://schemas.microsoft.com/office/drawing/2014/main" id="{562B2FA8-44D1-4F16-BE1B-03B8AE64D067}"/>
              </a:ext>
            </a:extLst>
          </p:cNvPr>
          <p:cNvGraphicFramePr>
            <a:graphicFrameLocks noGrp="1"/>
          </p:cNvGraphicFramePr>
          <p:nvPr>
            <p:extLst>
              <p:ext uri="{D42A27DB-BD31-4B8C-83A1-F6EECF244321}">
                <p14:modId xmlns:p14="http://schemas.microsoft.com/office/powerpoint/2010/main" val="3775512593"/>
              </p:ext>
            </p:extLst>
          </p:nvPr>
        </p:nvGraphicFramePr>
        <p:xfrm>
          <a:off x="7031038" y="1954213"/>
          <a:ext cx="2760663" cy="2311428"/>
        </p:xfrm>
        <a:graphic>
          <a:graphicData uri="http://schemas.openxmlformats.org/drawingml/2006/table">
            <a:tbl>
              <a:tblPr firstRow="1" bandRow="1">
                <a:tableStyleId>{5C22544A-7EE6-4342-B048-85BDC9FD1C3A}</a:tableStyleId>
              </a:tblPr>
              <a:tblGrid>
                <a:gridCol w="920221">
                  <a:extLst>
                    <a:ext uri="{9D8B030D-6E8A-4147-A177-3AD203B41FA5}">
                      <a16:colId xmlns:a16="http://schemas.microsoft.com/office/drawing/2014/main" val="20000"/>
                    </a:ext>
                  </a:extLst>
                </a:gridCol>
                <a:gridCol w="920221">
                  <a:extLst>
                    <a:ext uri="{9D8B030D-6E8A-4147-A177-3AD203B41FA5}">
                      <a16:colId xmlns:a16="http://schemas.microsoft.com/office/drawing/2014/main" val="20001"/>
                    </a:ext>
                  </a:extLst>
                </a:gridCol>
                <a:gridCol w="920221">
                  <a:extLst>
                    <a:ext uri="{9D8B030D-6E8A-4147-A177-3AD203B41FA5}">
                      <a16:colId xmlns:a16="http://schemas.microsoft.com/office/drawing/2014/main" val="20002"/>
                    </a:ext>
                  </a:extLst>
                </a:gridCol>
              </a:tblGrid>
              <a:tr h="640022">
                <a:tc>
                  <a:txBody>
                    <a:bodyPr/>
                    <a:lstStyle/>
                    <a:p>
                      <a:r>
                        <a:rPr lang="en-US" sz="1800" b="0" dirty="0">
                          <a:solidFill>
                            <a:schemeClr val="bg2"/>
                          </a:solidFill>
                          <a:latin typeface="+mn-lt"/>
                          <a:cs typeface="+mn-cs"/>
                        </a:rPr>
                        <a:t>         X</a:t>
                      </a:r>
                      <a:br>
                        <a:rPr lang="en-US" sz="1800" b="0" dirty="0">
                          <a:solidFill>
                            <a:schemeClr val="bg2"/>
                          </a:solidFill>
                          <a:latin typeface="+mn-lt"/>
                          <a:cs typeface="+mn-cs"/>
                        </a:rPr>
                      </a:br>
                      <a:r>
                        <a:rPr lang="en-US" sz="1800" b="0" dirty="0">
                          <a:solidFill>
                            <a:schemeClr val="bg2"/>
                          </a:solidFill>
                          <a:latin typeface="+mn-lt"/>
                          <a:cs typeface="+mn-cs"/>
                        </a:rPr>
                        <a:t>S</a:t>
                      </a:r>
                      <a:endParaRPr lang="ru-RU" sz="1800" b="0" dirty="0">
                        <a:solidFill>
                          <a:schemeClr val="bg2"/>
                        </a:solidFill>
                      </a:endParaRPr>
                    </a:p>
                  </a:txBody>
                  <a:tcPr marT="45706" marB="45706">
                    <a:lnTlToBr w="12700" cap="flat" cmpd="sng" algn="ctr">
                      <a:solidFill>
                        <a:schemeClr val="tx1"/>
                      </a:solidFill>
                      <a:prstDash val="solid"/>
                      <a:round/>
                      <a:headEnd type="none" w="med" len="med"/>
                      <a:tailEnd type="none" w="med" len="med"/>
                    </a:lnTlToBr>
                  </a:tcPr>
                </a:tc>
                <a:tc>
                  <a:txBody>
                    <a:bodyPr/>
                    <a:lstStyle/>
                    <a:p>
                      <a:r>
                        <a:rPr lang="en-US" sz="1800" b="0" dirty="0">
                          <a:solidFill>
                            <a:schemeClr val="bg2"/>
                          </a:solidFill>
                        </a:rPr>
                        <a:t>0</a:t>
                      </a:r>
                      <a:endParaRPr lang="ru-RU" sz="1800" b="0" dirty="0">
                        <a:solidFill>
                          <a:schemeClr val="bg2"/>
                        </a:solidFill>
                      </a:endParaRPr>
                    </a:p>
                  </a:txBody>
                  <a:tcPr marT="45706" marB="45706"/>
                </a:tc>
                <a:tc>
                  <a:txBody>
                    <a:bodyPr/>
                    <a:lstStyle/>
                    <a:p>
                      <a:r>
                        <a:rPr lang="en-US" sz="1800" b="0" dirty="0">
                          <a:solidFill>
                            <a:schemeClr val="bg2"/>
                          </a:solidFill>
                        </a:rPr>
                        <a:t>1</a:t>
                      </a:r>
                      <a:endParaRPr lang="ru-RU" sz="1800" b="0" dirty="0">
                        <a:solidFill>
                          <a:schemeClr val="bg2"/>
                        </a:solidFill>
                      </a:endParaRPr>
                    </a:p>
                  </a:txBody>
                  <a:tcPr marT="45706" marB="45706"/>
                </a:tc>
                <a:extLst>
                  <a:ext uri="{0D108BD9-81ED-4DB2-BD59-A6C34878D82A}">
                    <a16:rowId xmlns:a16="http://schemas.microsoft.com/office/drawing/2014/main" val="10000"/>
                  </a:ext>
                </a:extLst>
              </a:tr>
              <a:tr h="4178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0</a:t>
                      </a:r>
                      <a:endParaRPr lang="en-US" sz="1800" b="0" dirty="0">
                        <a:solidFill>
                          <a:schemeClr val="tx1"/>
                        </a:solidFill>
                        <a:latin typeface="+mn-lt"/>
                        <a:cs typeface="+mn-cs"/>
                      </a:endParaRP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B2</a:t>
                      </a: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A2</a:t>
                      </a:r>
                    </a:p>
                  </a:txBody>
                  <a:tcPr marT="45706" marB="45706"/>
                </a:tc>
                <a:extLst>
                  <a:ext uri="{0D108BD9-81ED-4DB2-BD59-A6C34878D82A}">
                    <a16:rowId xmlns:a16="http://schemas.microsoft.com/office/drawing/2014/main" val="10001"/>
                  </a:ext>
                </a:extLst>
              </a:tr>
              <a:tr h="4178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2</a:t>
                      </a:r>
                      <a:endParaRPr lang="en-US" sz="1800" b="0" dirty="0">
                        <a:solidFill>
                          <a:schemeClr val="tx1"/>
                        </a:solidFill>
                        <a:latin typeface="+mn-lt"/>
                        <a:cs typeface="+mn-cs"/>
                      </a:endParaRP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B2</a:t>
                      </a: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A2</a:t>
                      </a:r>
                    </a:p>
                  </a:txBody>
                  <a:tcPr marT="45706" marB="45706"/>
                </a:tc>
                <a:extLst>
                  <a:ext uri="{0D108BD9-81ED-4DB2-BD59-A6C34878D82A}">
                    <a16:rowId xmlns:a16="http://schemas.microsoft.com/office/drawing/2014/main" val="10002"/>
                  </a:ext>
                </a:extLst>
              </a:tr>
              <a:tr h="4178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3</a:t>
                      </a:r>
                      <a:endParaRPr lang="en-US" sz="1800" b="0" dirty="0">
                        <a:solidFill>
                          <a:schemeClr val="tx1"/>
                        </a:solidFill>
                        <a:latin typeface="+mn-lt"/>
                        <a:cs typeface="+mn-cs"/>
                      </a:endParaRP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A2</a:t>
                      </a: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A2</a:t>
                      </a:r>
                    </a:p>
                  </a:txBody>
                  <a:tcPr marT="45706" marB="45706"/>
                </a:tc>
                <a:extLst>
                  <a:ext uri="{0D108BD9-81ED-4DB2-BD59-A6C34878D82A}">
                    <a16:rowId xmlns:a16="http://schemas.microsoft.com/office/drawing/2014/main" val="10003"/>
                  </a:ext>
                </a:extLst>
              </a:tr>
              <a:tr h="4178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S</a:t>
                      </a:r>
                      <a:r>
                        <a:rPr lang="en-US" sz="1800" b="0" baseline="-25000" dirty="0">
                          <a:solidFill>
                            <a:schemeClr val="tx1"/>
                          </a:solidFill>
                          <a:latin typeface="+mn-lt"/>
                          <a:cs typeface="+mn-cs"/>
                        </a:rPr>
                        <a:t>1</a:t>
                      </a:r>
                      <a:endParaRPr lang="en-US" sz="1800" b="0" dirty="0">
                        <a:solidFill>
                          <a:schemeClr val="tx1"/>
                        </a:solidFill>
                        <a:latin typeface="+mn-lt"/>
                        <a:cs typeface="+mn-cs"/>
                      </a:endParaRP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a:t>
                      </a:r>
                    </a:p>
                  </a:txBody>
                  <a:tcPr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mn-lt"/>
                          <a:cs typeface="+mn-cs"/>
                        </a:rPr>
                        <a:t>-</a:t>
                      </a:r>
                    </a:p>
                  </a:txBody>
                  <a:tcPr marT="45706" marB="45706"/>
                </a:tc>
                <a:extLst>
                  <a:ext uri="{0D108BD9-81ED-4DB2-BD59-A6C34878D82A}">
                    <a16:rowId xmlns:a16="http://schemas.microsoft.com/office/drawing/2014/main" val="10004"/>
                  </a:ext>
                </a:extLst>
              </a:tr>
            </a:tbl>
          </a:graphicData>
        </a:graphic>
      </p:graphicFrame>
      <p:sp>
        <p:nvSpPr>
          <p:cNvPr id="4" name="Title 3">
            <a:extLst>
              <a:ext uri="{FF2B5EF4-FFF2-40B4-BE49-F238E27FC236}">
                <a16:creationId xmlns:a16="http://schemas.microsoft.com/office/drawing/2014/main" id="{C543894E-3695-45D6-C0D8-DE80A7709122}"/>
              </a:ext>
            </a:extLst>
          </p:cNvPr>
          <p:cNvSpPr>
            <a:spLocks noGrp="1"/>
          </p:cNvSpPr>
          <p:nvPr>
            <p:ph type="title"/>
          </p:nvPr>
        </p:nvSpPr>
        <p:spPr/>
        <p:txBody>
          <a:bodyPr/>
          <a:lstStyle/>
          <a:p>
            <a:r>
              <a:rPr lang="en-US" dirty="0"/>
              <a:t>Example (2)</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42" name="Group 20">
            <a:extLst>
              <a:ext uri="{FF2B5EF4-FFF2-40B4-BE49-F238E27FC236}">
                <a16:creationId xmlns:a16="http://schemas.microsoft.com/office/drawing/2014/main" id="{358C1463-B050-C0F2-03F2-D763C03237DE}"/>
              </a:ext>
            </a:extLst>
          </p:cNvPr>
          <p:cNvGrpSpPr>
            <a:grpSpLocks/>
          </p:cNvGrpSpPr>
          <p:nvPr/>
        </p:nvGrpSpPr>
        <p:grpSpPr bwMode="auto">
          <a:xfrm>
            <a:off x="4156075" y="2222501"/>
            <a:ext cx="3130550" cy="3097213"/>
            <a:chOff x="748" y="1071"/>
            <a:chExt cx="1972" cy="1951"/>
          </a:xfrm>
        </p:grpSpPr>
        <p:sp>
          <p:nvSpPr>
            <p:cNvPr id="35845" name="Oval 4">
              <a:extLst>
                <a:ext uri="{FF2B5EF4-FFF2-40B4-BE49-F238E27FC236}">
                  <a16:creationId xmlns:a16="http://schemas.microsoft.com/office/drawing/2014/main" id="{059AF132-A77A-4A24-89FB-284FEBC09CAC}"/>
                </a:ext>
              </a:extLst>
            </p:cNvPr>
            <p:cNvSpPr>
              <a:spLocks noChangeArrowheads="1"/>
            </p:cNvSpPr>
            <p:nvPr/>
          </p:nvSpPr>
          <p:spPr bwMode="auto">
            <a:xfrm>
              <a:off x="748" y="1560"/>
              <a:ext cx="499" cy="499"/>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2000" dirty="0">
                  <a:latin typeface="Arial" charset="0"/>
                  <a:cs typeface="Arial" charset="0"/>
                </a:rPr>
                <a:t>S</a:t>
              </a:r>
              <a:r>
                <a:rPr lang="en-US" sz="2000" baseline="-25000" dirty="0">
                  <a:latin typeface="Arial" charset="0"/>
                  <a:cs typeface="Arial" charset="0"/>
                </a:rPr>
                <a:t>02</a:t>
              </a:r>
            </a:p>
          </p:txBody>
        </p:sp>
        <p:sp>
          <p:nvSpPr>
            <p:cNvPr id="35846" name="Oval 5">
              <a:extLst>
                <a:ext uri="{FF2B5EF4-FFF2-40B4-BE49-F238E27FC236}">
                  <a16:creationId xmlns:a16="http://schemas.microsoft.com/office/drawing/2014/main" id="{E1BC600E-B5FB-4E84-A501-EA83AB12A1C9}"/>
                </a:ext>
              </a:extLst>
            </p:cNvPr>
            <p:cNvSpPr>
              <a:spLocks noChangeArrowheads="1"/>
            </p:cNvSpPr>
            <p:nvPr/>
          </p:nvSpPr>
          <p:spPr bwMode="auto">
            <a:xfrm>
              <a:off x="2221" y="1571"/>
              <a:ext cx="499" cy="499"/>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2000">
                  <a:latin typeface="Arial" charset="0"/>
                  <a:cs typeface="Arial" charset="0"/>
                </a:rPr>
                <a:t>S</a:t>
              </a:r>
              <a:r>
                <a:rPr lang="en-US" sz="2000" baseline="-25000">
                  <a:latin typeface="Arial" charset="0"/>
                  <a:cs typeface="Arial" charset="0"/>
                </a:rPr>
                <a:t>1</a:t>
              </a:r>
            </a:p>
          </p:txBody>
        </p:sp>
        <p:sp>
          <p:nvSpPr>
            <p:cNvPr id="35847" name="Oval 6">
              <a:extLst>
                <a:ext uri="{FF2B5EF4-FFF2-40B4-BE49-F238E27FC236}">
                  <a16:creationId xmlns:a16="http://schemas.microsoft.com/office/drawing/2014/main" id="{E2674184-AD2F-407B-B682-707AF2171372}"/>
                </a:ext>
              </a:extLst>
            </p:cNvPr>
            <p:cNvSpPr>
              <a:spLocks noChangeArrowheads="1"/>
            </p:cNvSpPr>
            <p:nvPr/>
          </p:nvSpPr>
          <p:spPr bwMode="auto">
            <a:xfrm>
              <a:off x="1662" y="2523"/>
              <a:ext cx="499" cy="499"/>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2000">
                  <a:latin typeface="Arial" charset="0"/>
                  <a:cs typeface="Arial" charset="0"/>
                </a:rPr>
                <a:t>S</a:t>
              </a:r>
              <a:r>
                <a:rPr lang="en-US" sz="2000" baseline="-25000">
                  <a:latin typeface="Arial" charset="0"/>
                  <a:cs typeface="Arial" charset="0"/>
                </a:rPr>
                <a:t>3</a:t>
              </a:r>
            </a:p>
          </p:txBody>
        </p:sp>
        <p:sp>
          <p:nvSpPr>
            <p:cNvPr id="33800" name="Line 7">
              <a:extLst>
                <a:ext uri="{FF2B5EF4-FFF2-40B4-BE49-F238E27FC236}">
                  <a16:creationId xmlns:a16="http://schemas.microsoft.com/office/drawing/2014/main" id="{C592B479-BCAA-4099-9990-26E05AD2591E}"/>
                </a:ext>
              </a:extLst>
            </p:cNvPr>
            <p:cNvSpPr>
              <a:spLocks noChangeShapeType="1"/>
            </p:cNvSpPr>
            <p:nvPr/>
          </p:nvSpPr>
          <p:spPr bwMode="auto">
            <a:xfrm flipH="1">
              <a:off x="1979" y="2060"/>
              <a:ext cx="373" cy="482"/>
            </a:xfrm>
            <a:prstGeom prst="line">
              <a:avLst/>
            </a:prstGeom>
            <a:noFill/>
            <a:ln w="31750">
              <a:solidFill>
                <a:srgbClr val="000000"/>
              </a:solidFill>
              <a:round/>
              <a:headEnd type="none" w="med" len="med"/>
              <a:tailEnd type="triangle" w="med" len="med"/>
            </a:ln>
          </p:spPr>
          <p:txBody>
            <a:bodyPr/>
            <a:lstStyle/>
            <a:p>
              <a:pPr eaLnBrk="1" hangingPunct="1">
                <a:defRPr/>
              </a:pPr>
              <a:endParaRPr lang="en-US" dirty="0"/>
            </a:p>
          </p:txBody>
        </p:sp>
        <p:sp>
          <p:nvSpPr>
            <p:cNvPr id="33801" name="Line 8">
              <a:extLst>
                <a:ext uri="{FF2B5EF4-FFF2-40B4-BE49-F238E27FC236}">
                  <a16:creationId xmlns:a16="http://schemas.microsoft.com/office/drawing/2014/main" id="{C98619B9-E037-42EE-B697-10799F39E9BD}"/>
                </a:ext>
              </a:extLst>
            </p:cNvPr>
            <p:cNvSpPr>
              <a:spLocks noChangeShapeType="1"/>
            </p:cNvSpPr>
            <p:nvPr/>
          </p:nvSpPr>
          <p:spPr bwMode="auto">
            <a:xfrm flipH="1" flipV="1">
              <a:off x="1119" y="2018"/>
              <a:ext cx="555" cy="655"/>
            </a:xfrm>
            <a:prstGeom prst="line">
              <a:avLst/>
            </a:prstGeom>
            <a:noFill/>
            <a:ln w="31750">
              <a:solidFill>
                <a:srgbClr val="000000"/>
              </a:solidFill>
              <a:round/>
              <a:headEnd type="none" w="med" len="med"/>
              <a:tailEnd type="triangle" w="med" len="med"/>
            </a:ln>
          </p:spPr>
          <p:txBody>
            <a:bodyPr/>
            <a:lstStyle/>
            <a:p>
              <a:pPr eaLnBrk="1" hangingPunct="1">
                <a:defRPr/>
              </a:pPr>
              <a:endParaRPr lang="en-US" dirty="0"/>
            </a:p>
          </p:txBody>
        </p:sp>
        <p:sp>
          <p:nvSpPr>
            <p:cNvPr id="61450" name="Text Box 9">
              <a:extLst>
                <a:ext uri="{FF2B5EF4-FFF2-40B4-BE49-F238E27FC236}">
                  <a16:creationId xmlns:a16="http://schemas.microsoft.com/office/drawing/2014/main" id="{47A8452A-DBC9-68FE-619A-657B89B9DBEE}"/>
                </a:ext>
              </a:extLst>
            </p:cNvPr>
            <p:cNvSpPr txBox="1">
              <a:spLocks noChangeArrowheads="1"/>
            </p:cNvSpPr>
            <p:nvPr/>
          </p:nvSpPr>
          <p:spPr bwMode="auto">
            <a:xfrm>
              <a:off x="844" y="2541"/>
              <a:ext cx="564"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1/0</a:t>
              </a:r>
            </a:p>
          </p:txBody>
        </p:sp>
        <p:sp>
          <p:nvSpPr>
            <p:cNvPr id="61451" name="Text Box 10">
              <a:extLst>
                <a:ext uri="{FF2B5EF4-FFF2-40B4-BE49-F238E27FC236}">
                  <a16:creationId xmlns:a16="http://schemas.microsoft.com/office/drawing/2014/main" id="{671FDC48-3B2A-9755-48BA-7889B66474CF}"/>
                </a:ext>
              </a:extLst>
            </p:cNvPr>
            <p:cNvSpPr txBox="1">
              <a:spLocks noChangeArrowheads="1"/>
            </p:cNvSpPr>
            <p:nvPr/>
          </p:nvSpPr>
          <p:spPr bwMode="auto">
            <a:xfrm>
              <a:off x="805" y="1071"/>
              <a:ext cx="45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1/0</a:t>
              </a:r>
            </a:p>
          </p:txBody>
        </p:sp>
        <p:sp>
          <p:nvSpPr>
            <p:cNvPr id="61452" name="Text Box 11">
              <a:extLst>
                <a:ext uri="{FF2B5EF4-FFF2-40B4-BE49-F238E27FC236}">
                  <a16:creationId xmlns:a16="http://schemas.microsoft.com/office/drawing/2014/main" id="{BB9FED45-CD25-9E1D-B62C-A1A99A05FAFF}"/>
                </a:ext>
              </a:extLst>
            </p:cNvPr>
            <p:cNvSpPr txBox="1">
              <a:spLocks noChangeArrowheads="1"/>
            </p:cNvSpPr>
            <p:nvPr/>
          </p:nvSpPr>
          <p:spPr bwMode="auto">
            <a:xfrm>
              <a:off x="1628" y="1358"/>
              <a:ext cx="452"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0/1</a:t>
              </a:r>
            </a:p>
          </p:txBody>
        </p:sp>
        <p:sp>
          <p:nvSpPr>
            <p:cNvPr id="61453" name="Text Box 12">
              <a:extLst>
                <a:ext uri="{FF2B5EF4-FFF2-40B4-BE49-F238E27FC236}">
                  <a16:creationId xmlns:a16="http://schemas.microsoft.com/office/drawing/2014/main" id="{B9F7E7D1-0422-1629-0AB6-DFCADF2D87E7}"/>
                </a:ext>
              </a:extLst>
            </p:cNvPr>
            <p:cNvSpPr txBox="1">
              <a:spLocks noChangeArrowheads="1"/>
            </p:cNvSpPr>
            <p:nvPr/>
          </p:nvSpPr>
          <p:spPr bwMode="auto">
            <a:xfrm>
              <a:off x="2241" y="2130"/>
              <a:ext cx="451"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0/0</a:t>
              </a:r>
            </a:p>
          </p:txBody>
        </p:sp>
        <p:sp>
          <p:nvSpPr>
            <p:cNvPr id="61454" name="Text Box 13">
              <a:extLst>
                <a:ext uri="{FF2B5EF4-FFF2-40B4-BE49-F238E27FC236}">
                  <a16:creationId xmlns:a16="http://schemas.microsoft.com/office/drawing/2014/main" id="{1371B99E-1DFE-A974-D3E6-D8BEFB8DF1EB}"/>
                </a:ext>
              </a:extLst>
            </p:cNvPr>
            <p:cNvSpPr txBox="1">
              <a:spLocks noChangeArrowheads="1"/>
            </p:cNvSpPr>
            <p:nvPr/>
          </p:nvSpPr>
          <p:spPr bwMode="auto">
            <a:xfrm>
              <a:off x="1583" y="1795"/>
              <a:ext cx="565"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1/0</a:t>
              </a:r>
            </a:p>
          </p:txBody>
        </p:sp>
        <p:sp>
          <p:nvSpPr>
            <p:cNvPr id="61455" name="Text Box 14">
              <a:extLst>
                <a:ext uri="{FF2B5EF4-FFF2-40B4-BE49-F238E27FC236}">
                  <a16:creationId xmlns:a16="http://schemas.microsoft.com/office/drawing/2014/main" id="{24CE7BF3-E361-E627-6309-29AC588331CD}"/>
                </a:ext>
              </a:extLst>
            </p:cNvPr>
            <p:cNvSpPr txBox="1">
              <a:spLocks noChangeArrowheads="1"/>
            </p:cNvSpPr>
            <p:nvPr/>
          </p:nvSpPr>
          <p:spPr bwMode="auto">
            <a:xfrm>
              <a:off x="1411" y="2139"/>
              <a:ext cx="452"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0/1</a:t>
              </a:r>
            </a:p>
          </p:txBody>
        </p:sp>
        <p:sp>
          <p:nvSpPr>
            <p:cNvPr id="61456" name="Arc 15">
              <a:extLst>
                <a:ext uri="{FF2B5EF4-FFF2-40B4-BE49-F238E27FC236}">
                  <a16:creationId xmlns:a16="http://schemas.microsoft.com/office/drawing/2014/main" id="{D1CC769A-70DA-12F3-12E8-ABDD3A288097}"/>
                </a:ext>
              </a:extLst>
            </p:cNvPr>
            <p:cNvSpPr>
              <a:spLocks/>
            </p:cNvSpPr>
            <p:nvPr/>
          </p:nvSpPr>
          <p:spPr bwMode="auto">
            <a:xfrm rot="10387635">
              <a:off x="995" y="1995"/>
              <a:ext cx="624" cy="860"/>
            </a:xfrm>
            <a:custGeom>
              <a:avLst/>
              <a:gdLst>
                <a:gd name="T0" fmla="*/ 0 w 24868"/>
                <a:gd name="T1" fmla="*/ 0 h 21600"/>
                <a:gd name="T2" fmla="*/ 0 w 24868"/>
                <a:gd name="T3" fmla="*/ 0 h 21600"/>
                <a:gd name="T4" fmla="*/ 0 w 24868"/>
                <a:gd name="T5" fmla="*/ 0 h 21600"/>
                <a:gd name="T6" fmla="*/ 0 60000 65536"/>
                <a:gd name="T7" fmla="*/ 0 60000 65536"/>
                <a:gd name="T8" fmla="*/ 0 60000 65536"/>
                <a:gd name="T9" fmla="*/ 0 w 24868"/>
                <a:gd name="T10" fmla="*/ 0 h 21600"/>
                <a:gd name="T11" fmla="*/ 24868 w 24868"/>
                <a:gd name="T12" fmla="*/ 21600 h 21600"/>
              </a:gdLst>
              <a:ahLst/>
              <a:cxnLst>
                <a:cxn ang="T6">
                  <a:pos x="T0" y="T1"/>
                </a:cxn>
                <a:cxn ang="T7">
                  <a:pos x="T2" y="T3"/>
                </a:cxn>
                <a:cxn ang="T8">
                  <a:pos x="T4" y="T5"/>
                </a:cxn>
              </a:cxnLst>
              <a:rect l="T9" t="T10" r="T11" b="T12"/>
              <a:pathLst>
                <a:path w="24868" h="21600" fill="none" extrusionOk="0">
                  <a:moveTo>
                    <a:pt x="-1" y="248"/>
                  </a:moveTo>
                  <a:cubicBezTo>
                    <a:pt x="1081" y="83"/>
                    <a:pt x="2173" y="-1"/>
                    <a:pt x="3268" y="0"/>
                  </a:cubicBezTo>
                  <a:cubicBezTo>
                    <a:pt x="15197" y="0"/>
                    <a:pt x="24868" y="9670"/>
                    <a:pt x="24868" y="21600"/>
                  </a:cubicBezTo>
                </a:path>
                <a:path w="24868" h="21600" stroke="0" extrusionOk="0">
                  <a:moveTo>
                    <a:pt x="-1" y="248"/>
                  </a:moveTo>
                  <a:cubicBezTo>
                    <a:pt x="1081" y="83"/>
                    <a:pt x="2173" y="-1"/>
                    <a:pt x="3268" y="0"/>
                  </a:cubicBezTo>
                  <a:cubicBezTo>
                    <a:pt x="15197" y="0"/>
                    <a:pt x="24868" y="9670"/>
                    <a:pt x="24868" y="21600"/>
                  </a:cubicBezTo>
                  <a:lnTo>
                    <a:pt x="3268" y="21600"/>
                  </a:lnTo>
                  <a:lnTo>
                    <a:pt x="-1" y="248"/>
                  </a:lnTo>
                  <a:close/>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61457" name="Arc 16">
              <a:extLst>
                <a:ext uri="{FF2B5EF4-FFF2-40B4-BE49-F238E27FC236}">
                  <a16:creationId xmlns:a16="http://schemas.microsoft.com/office/drawing/2014/main" id="{26B256F9-D56C-8858-8B62-A3E6260D8611}"/>
                </a:ext>
              </a:extLst>
            </p:cNvPr>
            <p:cNvSpPr>
              <a:spLocks/>
            </p:cNvSpPr>
            <p:nvPr/>
          </p:nvSpPr>
          <p:spPr bwMode="auto">
            <a:xfrm rot="7931560">
              <a:off x="1419" y="1439"/>
              <a:ext cx="697" cy="855"/>
            </a:xfrm>
            <a:custGeom>
              <a:avLst/>
              <a:gdLst>
                <a:gd name="T0" fmla="*/ 0 w 21564"/>
                <a:gd name="T1" fmla="*/ 0 h 21475"/>
                <a:gd name="T2" fmla="*/ 0 w 21564"/>
                <a:gd name="T3" fmla="*/ 0 h 21475"/>
                <a:gd name="T4" fmla="*/ 0 w 21564"/>
                <a:gd name="T5" fmla="*/ 0 h 21475"/>
                <a:gd name="T6" fmla="*/ 0 60000 65536"/>
                <a:gd name="T7" fmla="*/ 0 60000 65536"/>
                <a:gd name="T8" fmla="*/ 0 60000 65536"/>
                <a:gd name="T9" fmla="*/ 0 w 21564"/>
                <a:gd name="T10" fmla="*/ 0 h 21475"/>
                <a:gd name="T11" fmla="*/ 21564 w 21564"/>
                <a:gd name="T12" fmla="*/ 21475 h 21475"/>
              </a:gdLst>
              <a:ahLst/>
              <a:cxnLst>
                <a:cxn ang="T6">
                  <a:pos x="T0" y="T1"/>
                </a:cxn>
                <a:cxn ang="T7">
                  <a:pos x="T2" y="T3"/>
                </a:cxn>
                <a:cxn ang="T8">
                  <a:pos x="T4" y="T5"/>
                </a:cxn>
              </a:cxnLst>
              <a:rect l="T9" t="T10" r="T11" b="T12"/>
              <a:pathLst>
                <a:path w="21564" h="21475" fill="none" extrusionOk="0">
                  <a:moveTo>
                    <a:pt x="2321" y="0"/>
                  </a:moveTo>
                  <a:cubicBezTo>
                    <a:pt x="12819" y="1135"/>
                    <a:pt x="20958" y="9693"/>
                    <a:pt x="21564" y="20234"/>
                  </a:cubicBezTo>
                </a:path>
                <a:path w="21564" h="21475" stroke="0" extrusionOk="0">
                  <a:moveTo>
                    <a:pt x="2321" y="0"/>
                  </a:moveTo>
                  <a:cubicBezTo>
                    <a:pt x="12819" y="1135"/>
                    <a:pt x="20958" y="9693"/>
                    <a:pt x="21564" y="20234"/>
                  </a:cubicBezTo>
                  <a:lnTo>
                    <a:pt x="0" y="21475"/>
                  </a:lnTo>
                  <a:lnTo>
                    <a:pt x="2321" y="0"/>
                  </a:lnTo>
                  <a:close/>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61458" name="Arc 17">
              <a:extLst>
                <a:ext uri="{FF2B5EF4-FFF2-40B4-BE49-F238E27FC236}">
                  <a16:creationId xmlns:a16="http://schemas.microsoft.com/office/drawing/2014/main" id="{AF7FE4A8-ED59-6F58-7304-EF5DA90B4C21}"/>
                </a:ext>
              </a:extLst>
            </p:cNvPr>
            <p:cNvSpPr>
              <a:spLocks/>
            </p:cNvSpPr>
            <p:nvPr/>
          </p:nvSpPr>
          <p:spPr bwMode="auto">
            <a:xfrm rot="-484764">
              <a:off x="1257" y="1643"/>
              <a:ext cx="1003" cy="558"/>
            </a:xfrm>
            <a:custGeom>
              <a:avLst/>
              <a:gdLst>
                <a:gd name="T0" fmla="*/ 0 w 18673"/>
                <a:gd name="T1" fmla="*/ 0 h 21600"/>
                <a:gd name="T2" fmla="*/ 0 w 18673"/>
                <a:gd name="T3" fmla="*/ 0 h 21600"/>
                <a:gd name="T4" fmla="*/ 0 w 18673"/>
                <a:gd name="T5" fmla="*/ 0 h 21600"/>
                <a:gd name="T6" fmla="*/ 0 60000 65536"/>
                <a:gd name="T7" fmla="*/ 0 60000 65536"/>
                <a:gd name="T8" fmla="*/ 0 60000 65536"/>
                <a:gd name="T9" fmla="*/ 0 w 18673"/>
                <a:gd name="T10" fmla="*/ 0 h 21600"/>
                <a:gd name="T11" fmla="*/ 18673 w 18673"/>
                <a:gd name="T12" fmla="*/ 21600 h 21600"/>
              </a:gdLst>
              <a:ahLst/>
              <a:cxnLst>
                <a:cxn ang="T6">
                  <a:pos x="T0" y="T1"/>
                </a:cxn>
                <a:cxn ang="T7">
                  <a:pos x="T2" y="T3"/>
                </a:cxn>
                <a:cxn ang="T8">
                  <a:pos x="T4" y="T5"/>
                </a:cxn>
              </a:cxnLst>
              <a:rect l="T9" t="T10" r="T11" b="T12"/>
              <a:pathLst>
                <a:path w="18673" h="21600" fill="none" extrusionOk="0">
                  <a:moveTo>
                    <a:pt x="-1" y="183"/>
                  </a:moveTo>
                  <a:cubicBezTo>
                    <a:pt x="932" y="61"/>
                    <a:pt x="1872" y="-1"/>
                    <a:pt x="2813" y="0"/>
                  </a:cubicBezTo>
                  <a:cubicBezTo>
                    <a:pt x="8835" y="0"/>
                    <a:pt x="14584" y="2514"/>
                    <a:pt x="18672" y="6936"/>
                  </a:cubicBezTo>
                </a:path>
                <a:path w="18673" h="21600" stroke="0" extrusionOk="0">
                  <a:moveTo>
                    <a:pt x="-1" y="183"/>
                  </a:moveTo>
                  <a:cubicBezTo>
                    <a:pt x="932" y="61"/>
                    <a:pt x="1872" y="-1"/>
                    <a:pt x="2813" y="0"/>
                  </a:cubicBezTo>
                  <a:cubicBezTo>
                    <a:pt x="8835" y="0"/>
                    <a:pt x="14584" y="2514"/>
                    <a:pt x="18672" y="6936"/>
                  </a:cubicBezTo>
                  <a:lnTo>
                    <a:pt x="2813" y="21600"/>
                  </a:lnTo>
                  <a:lnTo>
                    <a:pt x="-1" y="183"/>
                  </a:lnTo>
                  <a:close/>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459" name="Arc 18">
              <a:extLst>
                <a:ext uri="{FF2B5EF4-FFF2-40B4-BE49-F238E27FC236}">
                  <a16:creationId xmlns:a16="http://schemas.microsoft.com/office/drawing/2014/main" id="{44205B27-4D69-141F-740F-8DB5E6964FEE}"/>
                </a:ext>
              </a:extLst>
            </p:cNvPr>
            <p:cNvSpPr>
              <a:spLocks/>
            </p:cNvSpPr>
            <p:nvPr/>
          </p:nvSpPr>
          <p:spPr bwMode="auto">
            <a:xfrm>
              <a:off x="767" y="1340"/>
              <a:ext cx="454" cy="346"/>
            </a:xfrm>
            <a:custGeom>
              <a:avLst/>
              <a:gdLst>
                <a:gd name="T0" fmla="*/ 0 w 43200"/>
                <a:gd name="T1" fmla="*/ 0 h 30453"/>
                <a:gd name="T2" fmla="*/ 0 w 43200"/>
                <a:gd name="T3" fmla="*/ 0 h 30453"/>
                <a:gd name="T4" fmla="*/ 0 w 43200"/>
                <a:gd name="T5" fmla="*/ 0 h 30453"/>
                <a:gd name="T6" fmla="*/ 0 60000 65536"/>
                <a:gd name="T7" fmla="*/ 0 60000 65536"/>
                <a:gd name="T8" fmla="*/ 0 60000 65536"/>
                <a:gd name="T9" fmla="*/ 0 w 43200"/>
                <a:gd name="T10" fmla="*/ 0 h 30453"/>
                <a:gd name="T11" fmla="*/ 43200 w 43200"/>
                <a:gd name="T12" fmla="*/ 30453 h 30453"/>
              </a:gdLst>
              <a:ahLst/>
              <a:cxnLst>
                <a:cxn ang="T6">
                  <a:pos x="T0" y="T1"/>
                </a:cxn>
                <a:cxn ang="T7">
                  <a:pos x="T2" y="T3"/>
                </a:cxn>
                <a:cxn ang="T8">
                  <a:pos x="T4" y="T5"/>
                </a:cxn>
              </a:cxnLst>
              <a:rect l="T9" t="T10" r="T11" b="T12"/>
              <a:pathLst>
                <a:path w="43200" h="30453" fill="none" extrusionOk="0">
                  <a:moveTo>
                    <a:pt x="1188" y="28664"/>
                  </a:moveTo>
                  <a:cubicBezTo>
                    <a:pt x="401" y="26392"/>
                    <a:pt x="0" y="24004"/>
                    <a:pt x="0" y="21600"/>
                  </a:cubicBezTo>
                  <a:cubicBezTo>
                    <a:pt x="0" y="9670"/>
                    <a:pt x="9670" y="0"/>
                    <a:pt x="21600" y="0"/>
                  </a:cubicBezTo>
                  <a:cubicBezTo>
                    <a:pt x="33529" y="0"/>
                    <a:pt x="43200" y="9670"/>
                    <a:pt x="43200" y="21600"/>
                  </a:cubicBezTo>
                  <a:cubicBezTo>
                    <a:pt x="43200" y="24651"/>
                    <a:pt x="42553" y="27669"/>
                    <a:pt x="41302" y="30453"/>
                  </a:cubicBezTo>
                </a:path>
                <a:path w="43200" h="30453" stroke="0" extrusionOk="0">
                  <a:moveTo>
                    <a:pt x="1188" y="28664"/>
                  </a:moveTo>
                  <a:cubicBezTo>
                    <a:pt x="401" y="26392"/>
                    <a:pt x="0" y="24004"/>
                    <a:pt x="0" y="21600"/>
                  </a:cubicBezTo>
                  <a:cubicBezTo>
                    <a:pt x="0" y="9670"/>
                    <a:pt x="9670" y="0"/>
                    <a:pt x="21600" y="0"/>
                  </a:cubicBezTo>
                  <a:cubicBezTo>
                    <a:pt x="33529" y="0"/>
                    <a:pt x="43200" y="9670"/>
                    <a:pt x="43200" y="21600"/>
                  </a:cubicBezTo>
                  <a:cubicBezTo>
                    <a:pt x="43200" y="24651"/>
                    <a:pt x="42553" y="27669"/>
                    <a:pt x="41302" y="30453"/>
                  </a:cubicBezTo>
                  <a:lnTo>
                    <a:pt x="21600" y="21600"/>
                  </a:lnTo>
                  <a:lnTo>
                    <a:pt x="1188" y="28664"/>
                  </a:lnTo>
                  <a:close/>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33796" name="Text Box 19">
            <a:extLst>
              <a:ext uri="{FF2B5EF4-FFF2-40B4-BE49-F238E27FC236}">
                <a16:creationId xmlns:a16="http://schemas.microsoft.com/office/drawing/2014/main" id="{7C5DEFF0-576E-4951-8C96-ED25BBADFFEF}"/>
              </a:ext>
            </a:extLst>
          </p:cNvPr>
          <p:cNvSpPr txBox="1">
            <a:spLocks noChangeArrowheads="1"/>
          </p:cNvSpPr>
          <p:nvPr/>
        </p:nvSpPr>
        <p:spPr bwMode="auto">
          <a:xfrm>
            <a:off x="1995488" y="1600200"/>
            <a:ext cx="6985000" cy="369332"/>
          </a:xfrm>
          <a:prstGeom prst="rect">
            <a:avLst/>
          </a:prstGeom>
          <a:noFill/>
          <a:ln w="9525">
            <a:noFill/>
            <a:miter lim="800000"/>
            <a:headEnd/>
            <a:tailEnd/>
          </a:ln>
        </p:spPr>
        <p:txBody>
          <a:bodyPr>
            <a:spAutoFit/>
          </a:bodyPr>
          <a:lstStyle/>
          <a:p>
            <a:pPr eaLnBrk="1" hangingPunct="1">
              <a:spcBef>
                <a:spcPct val="50000"/>
              </a:spcBef>
              <a:defRPr/>
            </a:pPr>
            <a:r>
              <a:rPr lang="en-US" dirty="0"/>
              <a:t>State diagram corresponding to reduced FSM</a:t>
            </a:r>
            <a:endParaRPr lang="ru-RU" dirty="0"/>
          </a:p>
        </p:txBody>
      </p:sp>
      <p:sp>
        <p:nvSpPr>
          <p:cNvPr id="4" name="Title 3">
            <a:extLst>
              <a:ext uri="{FF2B5EF4-FFF2-40B4-BE49-F238E27FC236}">
                <a16:creationId xmlns:a16="http://schemas.microsoft.com/office/drawing/2014/main" id="{FE6750BB-8A03-A37C-5473-3AFC3C77F534}"/>
              </a:ext>
            </a:extLst>
          </p:cNvPr>
          <p:cNvSpPr>
            <a:spLocks noGrp="1"/>
          </p:cNvSpPr>
          <p:nvPr>
            <p:ph type="title"/>
          </p:nvPr>
        </p:nvSpPr>
        <p:spPr/>
        <p:txBody>
          <a:bodyPr/>
          <a:lstStyle/>
          <a:p>
            <a:r>
              <a:rPr lang="en-US" dirty="0"/>
              <a:t>Example (3)</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2629677D-F159-AB24-9C8F-FF295FBF3657}"/>
              </a:ext>
            </a:extLst>
          </p:cNvPr>
          <p:cNvSpPr>
            <a:spLocks noGrp="1" noChangeArrowheads="1"/>
          </p:cNvSpPr>
          <p:nvPr>
            <p:ph type="title"/>
          </p:nvPr>
        </p:nvSpPr>
        <p:spPr>
          <a:xfrm>
            <a:off x="-1" y="183402"/>
            <a:ext cx="11612880" cy="704088"/>
          </a:xfrm>
        </p:spPr>
        <p:txBody>
          <a:bodyPr/>
          <a:lstStyle/>
          <a:p>
            <a:r>
              <a:rPr lang="en-US" altLang="en-US"/>
              <a:t>Equivalence  Checking</a:t>
            </a:r>
            <a:endParaRPr lang="en-GB" altLang="en-US"/>
          </a:p>
        </p:txBody>
      </p:sp>
      <p:grpSp>
        <p:nvGrpSpPr>
          <p:cNvPr id="63491" name="Group 54">
            <a:extLst>
              <a:ext uri="{FF2B5EF4-FFF2-40B4-BE49-F238E27FC236}">
                <a16:creationId xmlns:a16="http://schemas.microsoft.com/office/drawing/2014/main" id="{B51300EF-7E95-1BDA-1DD3-AC4511658140}"/>
              </a:ext>
            </a:extLst>
          </p:cNvPr>
          <p:cNvGrpSpPr>
            <a:grpSpLocks/>
          </p:cNvGrpSpPr>
          <p:nvPr/>
        </p:nvGrpSpPr>
        <p:grpSpPr bwMode="auto">
          <a:xfrm>
            <a:off x="2395539" y="2411413"/>
            <a:ext cx="3146425" cy="2578100"/>
            <a:chOff x="827088" y="1858963"/>
            <a:chExt cx="3146425" cy="2578100"/>
          </a:xfrm>
        </p:grpSpPr>
        <p:sp>
          <p:nvSpPr>
            <p:cNvPr id="4" name="Oval 4">
              <a:extLst>
                <a:ext uri="{FF2B5EF4-FFF2-40B4-BE49-F238E27FC236}">
                  <a16:creationId xmlns:a16="http://schemas.microsoft.com/office/drawing/2014/main" id="{C5616CCD-F7CF-4AD1-BD0A-F6193A4151AE}"/>
                </a:ext>
              </a:extLst>
            </p:cNvPr>
            <p:cNvSpPr>
              <a:spLocks noChangeArrowheads="1"/>
            </p:cNvSpPr>
            <p:nvPr/>
          </p:nvSpPr>
          <p:spPr bwMode="auto">
            <a:xfrm>
              <a:off x="896938" y="2814638"/>
              <a:ext cx="533400" cy="522287"/>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1400" dirty="0"/>
                <a:t>A</a:t>
              </a:r>
              <a:r>
                <a:rPr lang="en-US" sz="1400" baseline="-25000" dirty="0"/>
                <a:t>0</a:t>
              </a:r>
              <a:endParaRPr lang="en-US" sz="1400" dirty="0"/>
            </a:p>
          </p:txBody>
        </p:sp>
        <p:sp>
          <p:nvSpPr>
            <p:cNvPr id="5" name="Oval 5">
              <a:extLst>
                <a:ext uri="{FF2B5EF4-FFF2-40B4-BE49-F238E27FC236}">
                  <a16:creationId xmlns:a16="http://schemas.microsoft.com/office/drawing/2014/main" id="{EDD39684-4448-434F-82FF-4B4B3D3DE65E}"/>
                </a:ext>
              </a:extLst>
            </p:cNvPr>
            <p:cNvSpPr>
              <a:spLocks noChangeArrowheads="1"/>
            </p:cNvSpPr>
            <p:nvPr/>
          </p:nvSpPr>
          <p:spPr bwMode="auto">
            <a:xfrm>
              <a:off x="2049463" y="3929063"/>
              <a:ext cx="533400" cy="508000"/>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1400" dirty="0"/>
                <a:t>A</a:t>
              </a:r>
              <a:r>
                <a:rPr lang="en-US" sz="1400" baseline="-25000" dirty="0"/>
                <a:t>2</a:t>
              </a:r>
              <a:endParaRPr lang="en-US" sz="1400" dirty="0"/>
            </a:p>
          </p:txBody>
        </p:sp>
        <p:sp>
          <p:nvSpPr>
            <p:cNvPr id="6" name="Oval 6">
              <a:extLst>
                <a:ext uri="{FF2B5EF4-FFF2-40B4-BE49-F238E27FC236}">
                  <a16:creationId xmlns:a16="http://schemas.microsoft.com/office/drawing/2014/main" id="{AB84ADB5-F22A-4FB3-9DBE-DD0B476FA919}"/>
                </a:ext>
              </a:extLst>
            </p:cNvPr>
            <p:cNvSpPr>
              <a:spLocks noChangeArrowheads="1"/>
            </p:cNvSpPr>
            <p:nvPr/>
          </p:nvSpPr>
          <p:spPr bwMode="auto">
            <a:xfrm>
              <a:off x="2266950" y="2413000"/>
              <a:ext cx="533400" cy="520700"/>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1400" dirty="0"/>
                <a:t>A</a:t>
              </a:r>
              <a:r>
                <a:rPr lang="en-US" sz="1400" baseline="-25000" dirty="0"/>
                <a:t>1</a:t>
              </a:r>
              <a:endParaRPr lang="en-US" sz="1400" dirty="0"/>
            </a:p>
            <a:p>
              <a:pPr>
                <a:defRPr/>
              </a:pPr>
              <a:endParaRPr lang="en-US" sz="1400" dirty="0"/>
            </a:p>
          </p:txBody>
        </p:sp>
        <p:sp>
          <p:nvSpPr>
            <p:cNvPr id="7" name="Oval 7">
              <a:extLst>
                <a:ext uri="{FF2B5EF4-FFF2-40B4-BE49-F238E27FC236}">
                  <a16:creationId xmlns:a16="http://schemas.microsoft.com/office/drawing/2014/main" id="{A6BFC632-1671-4959-AD5E-03ED4EF6446A}"/>
                </a:ext>
              </a:extLst>
            </p:cNvPr>
            <p:cNvSpPr>
              <a:spLocks noChangeArrowheads="1"/>
            </p:cNvSpPr>
            <p:nvPr/>
          </p:nvSpPr>
          <p:spPr bwMode="auto">
            <a:xfrm>
              <a:off x="3440113" y="2933700"/>
              <a:ext cx="533400" cy="520700"/>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1400" dirty="0"/>
                <a:t>A</a:t>
              </a:r>
              <a:r>
                <a:rPr lang="en-US" sz="1400" baseline="-25000" dirty="0"/>
                <a:t>3</a:t>
              </a:r>
              <a:endParaRPr lang="en-US" sz="1400" dirty="0"/>
            </a:p>
          </p:txBody>
        </p:sp>
        <p:sp>
          <p:nvSpPr>
            <p:cNvPr id="8" name="Line 8">
              <a:extLst>
                <a:ext uri="{FF2B5EF4-FFF2-40B4-BE49-F238E27FC236}">
                  <a16:creationId xmlns:a16="http://schemas.microsoft.com/office/drawing/2014/main" id="{CD74E056-F05D-4228-BA10-C4BA57ECAE48}"/>
                </a:ext>
              </a:extLst>
            </p:cNvPr>
            <p:cNvSpPr>
              <a:spLocks noChangeShapeType="1"/>
            </p:cNvSpPr>
            <p:nvPr/>
          </p:nvSpPr>
          <p:spPr bwMode="auto">
            <a:xfrm flipV="1">
              <a:off x="1430338" y="2641600"/>
              <a:ext cx="836612" cy="292100"/>
            </a:xfrm>
            <a:prstGeom prst="line">
              <a:avLst/>
            </a:prstGeom>
            <a:noFill/>
            <a:ln w="31750">
              <a:solidFill>
                <a:srgbClr val="000000"/>
              </a:solidFill>
              <a:round/>
              <a:headEnd type="none" w="med" len="med"/>
              <a:tailEnd type="triangle" w="med" len="med"/>
            </a:ln>
          </p:spPr>
          <p:txBody>
            <a:bodyPr/>
            <a:lstStyle/>
            <a:p>
              <a:pPr eaLnBrk="1" hangingPunct="1">
                <a:defRPr/>
              </a:pPr>
              <a:endParaRPr lang="en-US" dirty="0"/>
            </a:p>
          </p:txBody>
        </p:sp>
        <p:sp>
          <p:nvSpPr>
            <p:cNvPr id="9" name="Line 9">
              <a:extLst>
                <a:ext uri="{FF2B5EF4-FFF2-40B4-BE49-F238E27FC236}">
                  <a16:creationId xmlns:a16="http://schemas.microsoft.com/office/drawing/2014/main" id="{CC95EEB9-3DFB-4381-BB9A-00F026F8E3F1}"/>
                </a:ext>
              </a:extLst>
            </p:cNvPr>
            <p:cNvSpPr>
              <a:spLocks noChangeShapeType="1"/>
            </p:cNvSpPr>
            <p:nvPr/>
          </p:nvSpPr>
          <p:spPr bwMode="auto">
            <a:xfrm>
              <a:off x="2800350" y="2755900"/>
              <a:ext cx="635000" cy="361950"/>
            </a:xfrm>
            <a:prstGeom prst="line">
              <a:avLst/>
            </a:prstGeom>
            <a:noFill/>
            <a:ln w="31750">
              <a:solidFill>
                <a:srgbClr val="000000"/>
              </a:solidFill>
              <a:round/>
              <a:headEnd type="none" w="med" len="med"/>
              <a:tailEnd type="triangle" w="med" len="med"/>
            </a:ln>
          </p:spPr>
          <p:txBody>
            <a:bodyPr/>
            <a:lstStyle/>
            <a:p>
              <a:pPr eaLnBrk="1" hangingPunct="1">
                <a:defRPr/>
              </a:pPr>
              <a:endParaRPr lang="en-US" dirty="0"/>
            </a:p>
          </p:txBody>
        </p:sp>
        <p:sp>
          <p:nvSpPr>
            <p:cNvPr id="10" name="Line 10">
              <a:extLst>
                <a:ext uri="{FF2B5EF4-FFF2-40B4-BE49-F238E27FC236}">
                  <a16:creationId xmlns:a16="http://schemas.microsoft.com/office/drawing/2014/main" id="{2AC3AD6A-8AF7-420C-9BC7-59EFF3097FF0}"/>
                </a:ext>
              </a:extLst>
            </p:cNvPr>
            <p:cNvSpPr>
              <a:spLocks noChangeShapeType="1"/>
            </p:cNvSpPr>
            <p:nvPr/>
          </p:nvSpPr>
          <p:spPr bwMode="auto">
            <a:xfrm flipH="1">
              <a:off x="2566988" y="3409950"/>
              <a:ext cx="990600" cy="787400"/>
            </a:xfrm>
            <a:prstGeom prst="line">
              <a:avLst/>
            </a:prstGeom>
            <a:noFill/>
            <a:ln w="31750">
              <a:solidFill>
                <a:srgbClr val="000000"/>
              </a:solidFill>
              <a:round/>
              <a:headEnd type="none" w="med" len="med"/>
              <a:tailEnd type="triangle" w="med" len="med"/>
            </a:ln>
          </p:spPr>
          <p:txBody>
            <a:bodyPr/>
            <a:lstStyle/>
            <a:p>
              <a:pPr eaLnBrk="1" hangingPunct="1">
                <a:defRPr/>
              </a:pPr>
              <a:endParaRPr lang="en-US" dirty="0"/>
            </a:p>
          </p:txBody>
        </p:sp>
        <p:sp>
          <p:nvSpPr>
            <p:cNvPr id="11" name="Line 11">
              <a:extLst>
                <a:ext uri="{FF2B5EF4-FFF2-40B4-BE49-F238E27FC236}">
                  <a16:creationId xmlns:a16="http://schemas.microsoft.com/office/drawing/2014/main" id="{8865F1AF-16FD-43F8-9FE7-413D374F387B}"/>
                </a:ext>
              </a:extLst>
            </p:cNvPr>
            <p:cNvSpPr>
              <a:spLocks noChangeShapeType="1"/>
            </p:cNvSpPr>
            <p:nvPr/>
          </p:nvSpPr>
          <p:spPr bwMode="auto">
            <a:xfrm flipV="1">
              <a:off x="2428875" y="2933700"/>
              <a:ext cx="160338" cy="995363"/>
            </a:xfrm>
            <a:prstGeom prst="line">
              <a:avLst/>
            </a:prstGeom>
            <a:noFill/>
            <a:ln w="31750">
              <a:solidFill>
                <a:srgbClr val="000000"/>
              </a:solidFill>
              <a:round/>
              <a:headEnd type="none" w="med" len="med"/>
              <a:tailEnd type="triangle" w="med" len="med"/>
            </a:ln>
          </p:spPr>
          <p:txBody>
            <a:bodyPr/>
            <a:lstStyle/>
            <a:p>
              <a:pPr eaLnBrk="1" hangingPunct="1">
                <a:defRPr/>
              </a:pPr>
              <a:endParaRPr lang="en-US" dirty="0"/>
            </a:p>
          </p:txBody>
        </p:sp>
        <p:sp>
          <p:nvSpPr>
            <p:cNvPr id="12" name="Line 12">
              <a:extLst>
                <a:ext uri="{FF2B5EF4-FFF2-40B4-BE49-F238E27FC236}">
                  <a16:creationId xmlns:a16="http://schemas.microsoft.com/office/drawing/2014/main" id="{C47B59AD-8897-4896-8862-08054A0146F6}"/>
                </a:ext>
              </a:extLst>
            </p:cNvPr>
            <p:cNvSpPr>
              <a:spLocks noChangeShapeType="1"/>
            </p:cNvSpPr>
            <p:nvPr/>
          </p:nvSpPr>
          <p:spPr bwMode="auto">
            <a:xfrm flipH="1" flipV="1">
              <a:off x="1338263" y="3265488"/>
              <a:ext cx="711200" cy="858837"/>
            </a:xfrm>
            <a:prstGeom prst="line">
              <a:avLst/>
            </a:prstGeom>
            <a:noFill/>
            <a:ln w="31750">
              <a:solidFill>
                <a:srgbClr val="000000"/>
              </a:solidFill>
              <a:round/>
              <a:headEnd type="none" w="med" len="med"/>
              <a:tailEnd type="triangle" w="med" len="med"/>
            </a:ln>
          </p:spPr>
          <p:txBody>
            <a:bodyPr/>
            <a:lstStyle/>
            <a:p>
              <a:pPr eaLnBrk="1" hangingPunct="1">
                <a:defRPr/>
              </a:pPr>
              <a:endParaRPr lang="en-US" dirty="0"/>
            </a:p>
          </p:txBody>
        </p:sp>
        <p:sp>
          <p:nvSpPr>
            <p:cNvPr id="13" name="Text Box 13">
              <a:extLst>
                <a:ext uri="{FF2B5EF4-FFF2-40B4-BE49-F238E27FC236}">
                  <a16:creationId xmlns:a16="http://schemas.microsoft.com/office/drawing/2014/main" id="{F51E0C77-D942-424A-B26A-19EF2E7E70A2}"/>
                </a:ext>
              </a:extLst>
            </p:cNvPr>
            <p:cNvSpPr txBox="1">
              <a:spLocks noChangeArrowheads="1"/>
            </p:cNvSpPr>
            <p:nvPr/>
          </p:nvSpPr>
          <p:spPr bwMode="auto">
            <a:xfrm>
              <a:off x="2282825" y="1858963"/>
              <a:ext cx="541338" cy="482600"/>
            </a:xfrm>
            <a:prstGeom prst="rect">
              <a:avLst/>
            </a:prstGeom>
            <a:noFill/>
            <a:ln w="31750">
              <a:noFill/>
              <a:miter lim="800000"/>
              <a:headEnd/>
              <a:tailEnd/>
            </a:ln>
          </p:spPr>
          <p:txBody>
            <a:bodyPr/>
            <a:lstStyle/>
            <a:p>
              <a:pPr>
                <a:defRPr/>
              </a:pPr>
              <a:r>
                <a:rPr lang="en-US" dirty="0"/>
                <a:t>1/0</a:t>
              </a:r>
            </a:p>
          </p:txBody>
        </p:sp>
        <p:sp>
          <p:nvSpPr>
            <p:cNvPr id="14" name="Text Box 14">
              <a:extLst>
                <a:ext uri="{FF2B5EF4-FFF2-40B4-BE49-F238E27FC236}">
                  <a16:creationId xmlns:a16="http://schemas.microsoft.com/office/drawing/2014/main" id="{79DF4008-BC55-44DF-A475-8833BD7E41C1}"/>
                </a:ext>
              </a:extLst>
            </p:cNvPr>
            <p:cNvSpPr txBox="1">
              <a:spLocks noChangeArrowheads="1"/>
            </p:cNvSpPr>
            <p:nvPr/>
          </p:nvSpPr>
          <p:spPr bwMode="auto">
            <a:xfrm>
              <a:off x="1584325" y="2455863"/>
              <a:ext cx="541338" cy="484187"/>
            </a:xfrm>
            <a:prstGeom prst="rect">
              <a:avLst/>
            </a:prstGeom>
            <a:noFill/>
            <a:ln w="31750">
              <a:noFill/>
              <a:miter lim="800000"/>
              <a:headEnd/>
              <a:tailEnd/>
            </a:ln>
          </p:spPr>
          <p:txBody>
            <a:bodyPr/>
            <a:lstStyle/>
            <a:p>
              <a:pPr>
                <a:defRPr/>
              </a:pPr>
              <a:r>
                <a:rPr lang="en-US" dirty="0"/>
                <a:t>0/1</a:t>
              </a:r>
            </a:p>
          </p:txBody>
        </p:sp>
        <p:sp>
          <p:nvSpPr>
            <p:cNvPr id="15" name="Text Box 15">
              <a:extLst>
                <a:ext uri="{FF2B5EF4-FFF2-40B4-BE49-F238E27FC236}">
                  <a16:creationId xmlns:a16="http://schemas.microsoft.com/office/drawing/2014/main" id="{0E3DEAFE-F339-4F1D-B3C8-E0B34824E38E}"/>
                </a:ext>
              </a:extLst>
            </p:cNvPr>
            <p:cNvSpPr txBox="1">
              <a:spLocks noChangeArrowheads="1"/>
            </p:cNvSpPr>
            <p:nvPr/>
          </p:nvSpPr>
          <p:spPr bwMode="auto">
            <a:xfrm>
              <a:off x="827088" y="3925888"/>
              <a:ext cx="541337" cy="482600"/>
            </a:xfrm>
            <a:prstGeom prst="rect">
              <a:avLst/>
            </a:prstGeom>
            <a:noFill/>
            <a:ln w="31750">
              <a:noFill/>
              <a:miter lim="800000"/>
              <a:headEnd/>
              <a:tailEnd/>
            </a:ln>
          </p:spPr>
          <p:txBody>
            <a:bodyPr/>
            <a:lstStyle/>
            <a:p>
              <a:pPr>
                <a:defRPr/>
              </a:pPr>
              <a:r>
                <a:rPr lang="en-US" dirty="0"/>
                <a:t>1/0</a:t>
              </a:r>
            </a:p>
          </p:txBody>
        </p:sp>
        <p:sp>
          <p:nvSpPr>
            <p:cNvPr id="16" name="Text Box 16">
              <a:extLst>
                <a:ext uri="{FF2B5EF4-FFF2-40B4-BE49-F238E27FC236}">
                  <a16:creationId xmlns:a16="http://schemas.microsoft.com/office/drawing/2014/main" id="{F08AEE54-113E-4FEC-8381-BC4FECE700E4}"/>
                </a:ext>
              </a:extLst>
            </p:cNvPr>
            <p:cNvSpPr txBox="1">
              <a:spLocks noChangeArrowheads="1"/>
            </p:cNvSpPr>
            <p:nvPr/>
          </p:nvSpPr>
          <p:spPr bwMode="auto">
            <a:xfrm>
              <a:off x="1306513" y="3648075"/>
              <a:ext cx="541337" cy="484188"/>
            </a:xfrm>
            <a:prstGeom prst="rect">
              <a:avLst/>
            </a:prstGeom>
            <a:noFill/>
            <a:ln w="31750">
              <a:noFill/>
              <a:miter lim="800000"/>
              <a:headEnd/>
              <a:tailEnd/>
            </a:ln>
          </p:spPr>
          <p:txBody>
            <a:bodyPr/>
            <a:lstStyle/>
            <a:p>
              <a:pPr>
                <a:defRPr/>
              </a:pPr>
              <a:r>
                <a:rPr lang="en-US" dirty="0"/>
                <a:t>1/0</a:t>
              </a:r>
            </a:p>
          </p:txBody>
        </p:sp>
        <p:sp>
          <p:nvSpPr>
            <p:cNvPr id="17" name="Text Box 17">
              <a:extLst>
                <a:ext uri="{FF2B5EF4-FFF2-40B4-BE49-F238E27FC236}">
                  <a16:creationId xmlns:a16="http://schemas.microsoft.com/office/drawing/2014/main" id="{3FF6F95F-459B-46FE-AB7B-BC8C0D4DDCD7}"/>
                </a:ext>
              </a:extLst>
            </p:cNvPr>
            <p:cNvSpPr txBox="1">
              <a:spLocks noChangeArrowheads="1"/>
            </p:cNvSpPr>
            <p:nvPr/>
          </p:nvSpPr>
          <p:spPr bwMode="auto">
            <a:xfrm>
              <a:off x="1687513" y="3097213"/>
              <a:ext cx="541337" cy="484187"/>
            </a:xfrm>
            <a:prstGeom prst="rect">
              <a:avLst/>
            </a:prstGeom>
            <a:noFill/>
            <a:ln w="31750">
              <a:noFill/>
              <a:miter lim="800000"/>
              <a:headEnd/>
              <a:tailEnd/>
            </a:ln>
          </p:spPr>
          <p:txBody>
            <a:bodyPr/>
            <a:lstStyle/>
            <a:p>
              <a:pPr>
                <a:defRPr/>
              </a:pPr>
              <a:r>
                <a:rPr lang="en-US" dirty="0"/>
                <a:t>1/0</a:t>
              </a:r>
            </a:p>
          </p:txBody>
        </p:sp>
        <p:sp>
          <p:nvSpPr>
            <p:cNvPr id="18" name="Text Box 18">
              <a:extLst>
                <a:ext uri="{FF2B5EF4-FFF2-40B4-BE49-F238E27FC236}">
                  <a16:creationId xmlns:a16="http://schemas.microsoft.com/office/drawing/2014/main" id="{5183B86B-9F85-416E-AD37-3B0A0EB1E2FC}"/>
                </a:ext>
              </a:extLst>
            </p:cNvPr>
            <p:cNvSpPr txBox="1">
              <a:spLocks noChangeArrowheads="1"/>
            </p:cNvSpPr>
            <p:nvPr/>
          </p:nvSpPr>
          <p:spPr bwMode="auto">
            <a:xfrm>
              <a:off x="2519363" y="3097213"/>
              <a:ext cx="539750" cy="484187"/>
            </a:xfrm>
            <a:prstGeom prst="rect">
              <a:avLst/>
            </a:prstGeom>
            <a:noFill/>
            <a:ln w="31750">
              <a:noFill/>
              <a:miter lim="800000"/>
              <a:headEnd/>
              <a:tailEnd/>
            </a:ln>
          </p:spPr>
          <p:txBody>
            <a:bodyPr/>
            <a:lstStyle/>
            <a:p>
              <a:pPr>
                <a:defRPr/>
              </a:pPr>
              <a:r>
                <a:rPr lang="en-US" dirty="0"/>
                <a:t>0/1</a:t>
              </a:r>
            </a:p>
          </p:txBody>
        </p:sp>
        <p:sp>
          <p:nvSpPr>
            <p:cNvPr id="19" name="Text Box 19">
              <a:extLst>
                <a:ext uri="{FF2B5EF4-FFF2-40B4-BE49-F238E27FC236}">
                  <a16:creationId xmlns:a16="http://schemas.microsoft.com/office/drawing/2014/main" id="{76DA064E-3241-4356-88EA-B35A6A1F4654}"/>
                </a:ext>
              </a:extLst>
            </p:cNvPr>
            <p:cNvSpPr txBox="1">
              <a:spLocks noChangeArrowheads="1"/>
            </p:cNvSpPr>
            <p:nvPr/>
          </p:nvSpPr>
          <p:spPr bwMode="auto">
            <a:xfrm>
              <a:off x="2936875" y="2608263"/>
              <a:ext cx="541338" cy="360362"/>
            </a:xfrm>
            <a:prstGeom prst="rect">
              <a:avLst/>
            </a:prstGeom>
            <a:noFill/>
            <a:ln w="31750">
              <a:noFill/>
              <a:miter lim="800000"/>
              <a:headEnd/>
              <a:tailEnd/>
            </a:ln>
          </p:spPr>
          <p:txBody>
            <a:bodyPr/>
            <a:lstStyle/>
            <a:p>
              <a:pPr>
                <a:defRPr/>
              </a:pPr>
              <a:r>
                <a:rPr lang="en-US" dirty="0"/>
                <a:t>0/0</a:t>
              </a:r>
            </a:p>
          </p:txBody>
        </p:sp>
        <p:sp>
          <p:nvSpPr>
            <p:cNvPr id="20" name="Text Box 20">
              <a:extLst>
                <a:ext uri="{FF2B5EF4-FFF2-40B4-BE49-F238E27FC236}">
                  <a16:creationId xmlns:a16="http://schemas.microsoft.com/office/drawing/2014/main" id="{87009861-0775-4D07-AFA1-16FAF118EC82}"/>
                </a:ext>
              </a:extLst>
            </p:cNvPr>
            <p:cNvSpPr txBox="1">
              <a:spLocks noChangeArrowheads="1"/>
            </p:cNvSpPr>
            <p:nvPr/>
          </p:nvSpPr>
          <p:spPr bwMode="auto">
            <a:xfrm>
              <a:off x="3287713" y="3573463"/>
              <a:ext cx="541337" cy="482600"/>
            </a:xfrm>
            <a:prstGeom prst="rect">
              <a:avLst/>
            </a:prstGeom>
            <a:noFill/>
            <a:ln w="31750">
              <a:noFill/>
              <a:miter lim="800000"/>
              <a:headEnd/>
              <a:tailEnd/>
            </a:ln>
          </p:spPr>
          <p:txBody>
            <a:bodyPr/>
            <a:lstStyle/>
            <a:p>
              <a:pPr>
                <a:defRPr/>
              </a:pPr>
              <a:r>
                <a:rPr lang="en-US" dirty="0"/>
                <a:t>0/1</a:t>
              </a:r>
            </a:p>
          </p:txBody>
        </p:sp>
        <p:sp>
          <p:nvSpPr>
            <p:cNvPr id="21" name="Arc 21">
              <a:extLst>
                <a:ext uri="{FF2B5EF4-FFF2-40B4-BE49-F238E27FC236}">
                  <a16:creationId xmlns:a16="http://schemas.microsoft.com/office/drawing/2014/main" id="{A2C09BD9-500A-4BF1-BDE4-8575C9E0897A}"/>
                </a:ext>
              </a:extLst>
            </p:cNvPr>
            <p:cNvSpPr>
              <a:spLocks/>
            </p:cNvSpPr>
            <p:nvPr/>
          </p:nvSpPr>
          <p:spPr bwMode="auto">
            <a:xfrm rot="-2379175">
              <a:off x="1392238" y="1954213"/>
              <a:ext cx="1992312" cy="1849437"/>
            </a:xfrm>
            <a:custGeom>
              <a:avLst/>
              <a:gdLst>
                <a:gd name="T0" fmla="*/ 0 w 25410"/>
                <a:gd name="T1" fmla="*/ 2147483647 h 21766"/>
                <a:gd name="T2" fmla="*/ 2147483647 w 25410"/>
                <a:gd name="T3" fmla="*/ 2147483647 h 21766"/>
                <a:gd name="T4" fmla="*/ 2147483647 w 25410"/>
                <a:gd name="T5" fmla="*/ 2147483647 h 21766"/>
                <a:gd name="T6" fmla="*/ 0 60000 65536"/>
                <a:gd name="T7" fmla="*/ 0 60000 65536"/>
                <a:gd name="T8" fmla="*/ 0 60000 65536"/>
                <a:gd name="T9" fmla="*/ 0 w 25410"/>
                <a:gd name="T10" fmla="*/ 0 h 21766"/>
                <a:gd name="T11" fmla="*/ 25410 w 25410"/>
                <a:gd name="T12" fmla="*/ 21766 h 21766"/>
              </a:gdLst>
              <a:ahLst/>
              <a:cxnLst>
                <a:cxn ang="T6">
                  <a:pos x="T0" y="T1"/>
                </a:cxn>
                <a:cxn ang="T7">
                  <a:pos x="T2" y="T3"/>
                </a:cxn>
                <a:cxn ang="T8">
                  <a:pos x="T4" y="T5"/>
                </a:cxn>
              </a:cxnLst>
              <a:rect l="T9" t="T10" r="T11" b="T12"/>
              <a:pathLst>
                <a:path w="25410" h="21766" fill="none" extrusionOk="0">
                  <a:moveTo>
                    <a:pt x="-1" y="338"/>
                  </a:moveTo>
                  <a:cubicBezTo>
                    <a:pt x="1257" y="113"/>
                    <a:pt x="2532" y="-1"/>
                    <a:pt x="3810" y="0"/>
                  </a:cubicBezTo>
                  <a:cubicBezTo>
                    <a:pt x="15739" y="0"/>
                    <a:pt x="25410" y="9670"/>
                    <a:pt x="25410" y="21600"/>
                  </a:cubicBezTo>
                  <a:cubicBezTo>
                    <a:pt x="25410" y="21655"/>
                    <a:pt x="25409" y="21710"/>
                    <a:pt x="25409" y="21766"/>
                  </a:cubicBezTo>
                </a:path>
                <a:path w="25410" h="21766" stroke="0" extrusionOk="0">
                  <a:moveTo>
                    <a:pt x="-1" y="338"/>
                  </a:moveTo>
                  <a:cubicBezTo>
                    <a:pt x="1257" y="113"/>
                    <a:pt x="2532" y="-1"/>
                    <a:pt x="3810" y="0"/>
                  </a:cubicBezTo>
                  <a:cubicBezTo>
                    <a:pt x="15739" y="0"/>
                    <a:pt x="25410" y="9670"/>
                    <a:pt x="25410" y="21600"/>
                  </a:cubicBezTo>
                  <a:cubicBezTo>
                    <a:pt x="25410" y="21655"/>
                    <a:pt x="25409" y="21710"/>
                    <a:pt x="25409" y="21766"/>
                  </a:cubicBezTo>
                  <a:lnTo>
                    <a:pt x="3810" y="21600"/>
                  </a:lnTo>
                  <a:close/>
                </a:path>
              </a:pathLst>
            </a:custGeom>
            <a:noFill/>
            <a:ln w="28575">
              <a:solidFill>
                <a:schemeClr val="tx1"/>
              </a:solidFill>
              <a:round/>
              <a:headEnd type="triangle" w="med" len="med"/>
              <a:tailEnd type="none" w="med" len="med"/>
            </a:ln>
          </p:spPr>
          <p:txBody>
            <a:bodyPr wrap="none" anchor="ctr"/>
            <a:lstStyle/>
            <a:p>
              <a:pPr eaLnBrk="1" hangingPunct="1">
                <a:defRPr/>
              </a:pPr>
              <a:endParaRPr lang="en-US" dirty="0"/>
            </a:p>
          </p:txBody>
        </p:sp>
        <p:sp>
          <p:nvSpPr>
            <p:cNvPr id="22" name="Arc 22">
              <a:extLst>
                <a:ext uri="{FF2B5EF4-FFF2-40B4-BE49-F238E27FC236}">
                  <a16:creationId xmlns:a16="http://schemas.microsoft.com/office/drawing/2014/main" id="{65D988C3-AC01-47A0-8575-5827B18C7FD9}"/>
                </a:ext>
              </a:extLst>
            </p:cNvPr>
            <p:cNvSpPr>
              <a:spLocks/>
            </p:cNvSpPr>
            <p:nvPr/>
          </p:nvSpPr>
          <p:spPr bwMode="auto">
            <a:xfrm flipH="1">
              <a:off x="2160588" y="2914650"/>
              <a:ext cx="288925" cy="1062038"/>
            </a:xfrm>
            <a:custGeom>
              <a:avLst/>
              <a:gdLst>
                <a:gd name="T0" fmla="*/ 122514589 w 21600"/>
                <a:gd name="T1" fmla="*/ 0 h 21258"/>
                <a:gd name="T2" fmla="*/ 691478816 w 21600"/>
                <a:gd name="T3" fmla="*/ 2147483647 h 21258"/>
                <a:gd name="T4" fmla="*/ 0 w 21600"/>
                <a:gd name="T5" fmla="*/ 2147483647 h 21258"/>
                <a:gd name="T6" fmla="*/ 0 60000 65536"/>
                <a:gd name="T7" fmla="*/ 0 60000 65536"/>
                <a:gd name="T8" fmla="*/ 0 60000 65536"/>
                <a:gd name="T9" fmla="*/ 0 w 21600"/>
                <a:gd name="T10" fmla="*/ 0 h 21258"/>
                <a:gd name="T11" fmla="*/ 21600 w 21600"/>
                <a:gd name="T12" fmla="*/ 21258 h 21258"/>
              </a:gdLst>
              <a:ahLst/>
              <a:cxnLst>
                <a:cxn ang="T6">
                  <a:pos x="T0" y="T1"/>
                </a:cxn>
                <a:cxn ang="T7">
                  <a:pos x="T2" y="T3"/>
                </a:cxn>
                <a:cxn ang="T8">
                  <a:pos x="T4" y="T5"/>
                </a:cxn>
              </a:cxnLst>
              <a:rect l="T9" t="T10" r="T11" b="T12"/>
              <a:pathLst>
                <a:path w="21600" h="21258" fill="none" extrusionOk="0">
                  <a:moveTo>
                    <a:pt x="3827" y="-1"/>
                  </a:moveTo>
                  <a:cubicBezTo>
                    <a:pt x="14114" y="1851"/>
                    <a:pt x="21600" y="10804"/>
                    <a:pt x="21600" y="21258"/>
                  </a:cubicBezTo>
                </a:path>
                <a:path w="21600" h="21258" stroke="0" extrusionOk="0">
                  <a:moveTo>
                    <a:pt x="3827" y="-1"/>
                  </a:moveTo>
                  <a:cubicBezTo>
                    <a:pt x="14114" y="1851"/>
                    <a:pt x="21600" y="10804"/>
                    <a:pt x="21600" y="21258"/>
                  </a:cubicBezTo>
                  <a:lnTo>
                    <a:pt x="0" y="21258"/>
                  </a:lnTo>
                  <a:close/>
                </a:path>
              </a:pathLst>
            </a:custGeom>
            <a:noFill/>
            <a:ln w="28575">
              <a:solidFill>
                <a:schemeClr val="tx1"/>
              </a:solidFill>
              <a:round/>
              <a:headEnd type="none" w="med" len="med"/>
              <a:tailEnd type="triangle" w="med" len="med"/>
            </a:ln>
          </p:spPr>
          <p:txBody>
            <a:bodyPr wrap="none" anchor="ctr"/>
            <a:lstStyle/>
            <a:p>
              <a:pPr eaLnBrk="1" hangingPunct="1">
                <a:defRPr/>
              </a:pPr>
              <a:endParaRPr lang="en-US" dirty="0"/>
            </a:p>
          </p:txBody>
        </p:sp>
        <p:sp>
          <p:nvSpPr>
            <p:cNvPr id="23" name="Arc 23">
              <a:extLst>
                <a:ext uri="{FF2B5EF4-FFF2-40B4-BE49-F238E27FC236}">
                  <a16:creationId xmlns:a16="http://schemas.microsoft.com/office/drawing/2014/main" id="{D6D7FE33-0FB3-4406-85FB-306567F918BF}"/>
                </a:ext>
              </a:extLst>
            </p:cNvPr>
            <p:cNvSpPr>
              <a:spLocks/>
            </p:cNvSpPr>
            <p:nvPr/>
          </p:nvSpPr>
          <p:spPr bwMode="auto">
            <a:xfrm rot="17181665" flipH="1">
              <a:off x="1194593" y="3237707"/>
              <a:ext cx="842963" cy="1250950"/>
            </a:xfrm>
            <a:custGeom>
              <a:avLst/>
              <a:gdLst>
                <a:gd name="T0" fmla="*/ 2147483647 w 21600"/>
                <a:gd name="T1" fmla="*/ 0 h 30910"/>
                <a:gd name="T2" fmla="*/ 2147483647 w 21600"/>
                <a:gd name="T3" fmla="*/ 2147483647 h 30910"/>
                <a:gd name="T4" fmla="*/ 0 w 21600"/>
                <a:gd name="T5" fmla="*/ 2147483647 h 30910"/>
                <a:gd name="T6" fmla="*/ 0 60000 65536"/>
                <a:gd name="T7" fmla="*/ 0 60000 65536"/>
                <a:gd name="T8" fmla="*/ 0 60000 65536"/>
                <a:gd name="T9" fmla="*/ 0 w 21600"/>
                <a:gd name="T10" fmla="*/ 0 h 30910"/>
                <a:gd name="T11" fmla="*/ 21600 w 21600"/>
                <a:gd name="T12" fmla="*/ 30910 h 30910"/>
              </a:gdLst>
              <a:ahLst/>
              <a:cxnLst>
                <a:cxn ang="T6">
                  <a:pos x="T0" y="T1"/>
                </a:cxn>
                <a:cxn ang="T7">
                  <a:pos x="T2" y="T3"/>
                </a:cxn>
                <a:cxn ang="T8">
                  <a:pos x="T4" y="T5"/>
                </a:cxn>
              </a:cxnLst>
              <a:rect l="T9" t="T10" r="T11" b="T12"/>
              <a:pathLst>
                <a:path w="21600" h="30910" fill="none" extrusionOk="0">
                  <a:moveTo>
                    <a:pt x="2036" y="0"/>
                  </a:moveTo>
                  <a:cubicBezTo>
                    <a:pt x="13127" y="1050"/>
                    <a:pt x="21600" y="10363"/>
                    <a:pt x="21600" y="21504"/>
                  </a:cubicBezTo>
                  <a:cubicBezTo>
                    <a:pt x="21600" y="24761"/>
                    <a:pt x="20863" y="27977"/>
                    <a:pt x="19444" y="30910"/>
                  </a:cubicBezTo>
                </a:path>
                <a:path w="21600" h="30910" stroke="0" extrusionOk="0">
                  <a:moveTo>
                    <a:pt x="2036" y="0"/>
                  </a:moveTo>
                  <a:cubicBezTo>
                    <a:pt x="13127" y="1050"/>
                    <a:pt x="21600" y="10363"/>
                    <a:pt x="21600" y="21504"/>
                  </a:cubicBezTo>
                  <a:cubicBezTo>
                    <a:pt x="21600" y="24761"/>
                    <a:pt x="20863" y="27977"/>
                    <a:pt x="19444" y="30910"/>
                  </a:cubicBezTo>
                  <a:lnTo>
                    <a:pt x="0" y="21504"/>
                  </a:lnTo>
                  <a:close/>
                </a:path>
              </a:pathLst>
            </a:custGeom>
            <a:noFill/>
            <a:ln w="28575">
              <a:solidFill>
                <a:schemeClr val="tx1"/>
              </a:solidFill>
              <a:round/>
              <a:headEnd type="none" w="med" len="med"/>
              <a:tailEnd type="triangle" w="med" len="med"/>
            </a:ln>
          </p:spPr>
          <p:txBody>
            <a:bodyPr wrap="none" anchor="ctr"/>
            <a:lstStyle/>
            <a:p>
              <a:pPr eaLnBrk="1" hangingPunct="1">
                <a:defRPr/>
              </a:pPr>
              <a:endParaRPr lang="en-US" dirty="0"/>
            </a:p>
          </p:txBody>
        </p:sp>
      </p:grpSp>
      <p:grpSp>
        <p:nvGrpSpPr>
          <p:cNvPr id="63492" name="Group 41">
            <a:extLst>
              <a:ext uri="{FF2B5EF4-FFF2-40B4-BE49-F238E27FC236}">
                <a16:creationId xmlns:a16="http://schemas.microsoft.com/office/drawing/2014/main" id="{C174425B-6248-DB38-C47C-98A4794E6324}"/>
              </a:ext>
            </a:extLst>
          </p:cNvPr>
          <p:cNvGrpSpPr>
            <a:grpSpLocks/>
          </p:cNvGrpSpPr>
          <p:nvPr/>
        </p:nvGrpSpPr>
        <p:grpSpPr bwMode="auto">
          <a:xfrm>
            <a:off x="6784976" y="2628900"/>
            <a:ext cx="2403475" cy="2286000"/>
            <a:chOff x="4689475" y="2032000"/>
            <a:chExt cx="2402840" cy="2286000"/>
          </a:xfrm>
        </p:grpSpPr>
        <p:sp>
          <p:nvSpPr>
            <p:cNvPr id="25" name="Oval 4">
              <a:extLst>
                <a:ext uri="{FF2B5EF4-FFF2-40B4-BE49-F238E27FC236}">
                  <a16:creationId xmlns:a16="http://schemas.microsoft.com/office/drawing/2014/main" id="{6B67FB1F-6B8E-44ED-8F4C-FEA219EEDF2A}"/>
                </a:ext>
              </a:extLst>
            </p:cNvPr>
            <p:cNvSpPr>
              <a:spLocks noChangeArrowheads="1"/>
            </p:cNvSpPr>
            <p:nvPr/>
          </p:nvSpPr>
          <p:spPr bwMode="auto">
            <a:xfrm>
              <a:off x="4689475" y="2605088"/>
              <a:ext cx="601504" cy="584200"/>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1400" dirty="0">
                  <a:latin typeface="+mj-lt"/>
                  <a:cs typeface="Arial" charset="0"/>
                </a:rPr>
                <a:t>B</a:t>
              </a:r>
              <a:r>
                <a:rPr lang="en-US" sz="1400" baseline="-25000" dirty="0">
                  <a:latin typeface="+mj-lt"/>
                  <a:cs typeface="Arial" charset="0"/>
                </a:rPr>
                <a:t>0</a:t>
              </a:r>
            </a:p>
          </p:txBody>
        </p:sp>
        <p:grpSp>
          <p:nvGrpSpPr>
            <p:cNvPr id="63497" name="Group 40">
              <a:extLst>
                <a:ext uri="{FF2B5EF4-FFF2-40B4-BE49-F238E27FC236}">
                  <a16:creationId xmlns:a16="http://schemas.microsoft.com/office/drawing/2014/main" id="{7EBD5F81-473D-3D65-68A3-FD5B2AF1F64B}"/>
                </a:ext>
              </a:extLst>
            </p:cNvPr>
            <p:cNvGrpSpPr>
              <a:grpSpLocks/>
            </p:cNvGrpSpPr>
            <p:nvPr/>
          </p:nvGrpSpPr>
          <p:grpSpPr bwMode="auto">
            <a:xfrm>
              <a:off x="4737781" y="2032000"/>
              <a:ext cx="2354534" cy="2286000"/>
              <a:chOff x="4648881" y="2032000"/>
              <a:chExt cx="2354534" cy="2286000"/>
            </a:xfrm>
          </p:grpSpPr>
          <p:sp>
            <p:nvSpPr>
              <p:cNvPr id="26" name="Oval 5">
                <a:extLst>
                  <a:ext uri="{FF2B5EF4-FFF2-40B4-BE49-F238E27FC236}">
                    <a16:creationId xmlns:a16="http://schemas.microsoft.com/office/drawing/2014/main" id="{2C7969B1-6D62-4B3A-87AF-D35765F78390}"/>
                  </a:ext>
                </a:extLst>
              </p:cNvPr>
              <p:cNvSpPr>
                <a:spLocks noChangeArrowheads="1"/>
              </p:cNvSpPr>
              <p:nvPr/>
            </p:nvSpPr>
            <p:spPr bwMode="auto">
              <a:xfrm>
                <a:off x="6401912" y="2617788"/>
                <a:ext cx="601503" cy="584200"/>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1400" dirty="0">
                    <a:latin typeface="+mj-lt"/>
                    <a:cs typeface="Arial" charset="0"/>
                  </a:rPr>
                  <a:t>B</a:t>
                </a:r>
                <a:r>
                  <a:rPr lang="en-US" sz="1400" baseline="-25000" dirty="0">
                    <a:latin typeface="+mj-lt"/>
                    <a:cs typeface="Arial" charset="0"/>
                  </a:rPr>
                  <a:t>1</a:t>
                </a:r>
              </a:p>
            </p:txBody>
          </p:sp>
          <p:sp>
            <p:nvSpPr>
              <p:cNvPr id="27" name="Oval 6">
                <a:extLst>
                  <a:ext uri="{FF2B5EF4-FFF2-40B4-BE49-F238E27FC236}">
                    <a16:creationId xmlns:a16="http://schemas.microsoft.com/office/drawing/2014/main" id="{E7F9EE16-9B4B-4783-84B5-39803F55C667}"/>
                  </a:ext>
                </a:extLst>
              </p:cNvPr>
              <p:cNvSpPr>
                <a:spLocks noChangeArrowheads="1"/>
              </p:cNvSpPr>
              <p:nvPr/>
            </p:nvSpPr>
            <p:spPr bwMode="auto">
              <a:xfrm>
                <a:off x="5727402" y="3733800"/>
                <a:ext cx="601504" cy="584200"/>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1400" dirty="0">
                    <a:latin typeface="+mj-lt"/>
                    <a:cs typeface="Arial" charset="0"/>
                  </a:rPr>
                  <a:t>B</a:t>
                </a:r>
                <a:r>
                  <a:rPr lang="en-US" sz="1400" baseline="-25000" dirty="0">
                    <a:latin typeface="+mj-lt"/>
                    <a:cs typeface="Arial" charset="0"/>
                  </a:rPr>
                  <a:t>2</a:t>
                </a:r>
              </a:p>
            </p:txBody>
          </p:sp>
          <p:sp>
            <p:nvSpPr>
              <p:cNvPr id="28" name="Line 7">
                <a:extLst>
                  <a:ext uri="{FF2B5EF4-FFF2-40B4-BE49-F238E27FC236}">
                    <a16:creationId xmlns:a16="http://schemas.microsoft.com/office/drawing/2014/main" id="{B7758A33-07E1-4370-9A0D-88D7B21EE95B}"/>
                  </a:ext>
                </a:extLst>
              </p:cNvPr>
              <p:cNvSpPr>
                <a:spLocks noChangeShapeType="1"/>
              </p:cNvSpPr>
              <p:nvPr/>
            </p:nvSpPr>
            <p:spPr bwMode="auto">
              <a:xfrm flipH="1">
                <a:off x="6109889" y="3190875"/>
                <a:ext cx="449143" cy="565150"/>
              </a:xfrm>
              <a:prstGeom prst="line">
                <a:avLst/>
              </a:prstGeom>
              <a:noFill/>
              <a:ln w="31750">
                <a:solidFill>
                  <a:srgbClr val="000000"/>
                </a:solidFill>
                <a:round/>
                <a:headEnd type="none" w="med" len="med"/>
                <a:tailEnd type="triangle" w="med" len="med"/>
              </a:ln>
            </p:spPr>
            <p:txBody>
              <a:bodyPr/>
              <a:lstStyle/>
              <a:p>
                <a:pPr eaLnBrk="1" hangingPunct="1">
                  <a:defRPr/>
                </a:pPr>
                <a:endParaRPr lang="en-US" dirty="0">
                  <a:latin typeface="+mj-lt"/>
                </a:endParaRPr>
              </a:p>
            </p:txBody>
          </p:sp>
          <p:sp>
            <p:nvSpPr>
              <p:cNvPr id="29" name="Line 8">
                <a:extLst>
                  <a:ext uri="{FF2B5EF4-FFF2-40B4-BE49-F238E27FC236}">
                    <a16:creationId xmlns:a16="http://schemas.microsoft.com/office/drawing/2014/main" id="{68744CEF-3959-4037-A83D-17E4213230CE}"/>
                  </a:ext>
                </a:extLst>
              </p:cNvPr>
              <p:cNvSpPr>
                <a:spLocks noChangeShapeType="1"/>
              </p:cNvSpPr>
              <p:nvPr/>
            </p:nvSpPr>
            <p:spPr bwMode="auto">
              <a:xfrm flipH="1" flipV="1">
                <a:off x="5071938" y="3141663"/>
                <a:ext cx="669748" cy="766762"/>
              </a:xfrm>
              <a:prstGeom prst="line">
                <a:avLst/>
              </a:prstGeom>
              <a:noFill/>
              <a:ln w="31750">
                <a:solidFill>
                  <a:srgbClr val="000000"/>
                </a:solidFill>
                <a:round/>
                <a:headEnd type="none" w="med" len="med"/>
                <a:tailEnd type="triangle" w="med" len="med"/>
              </a:ln>
            </p:spPr>
            <p:txBody>
              <a:bodyPr/>
              <a:lstStyle/>
              <a:p>
                <a:pPr eaLnBrk="1" hangingPunct="1">
                  <a:defRPr/>
                </a:pPr>
                <a:endParaRPr lang="en-US" dirty="0">
                  <a:latin typeface="+mj-lt"/>
                </a:endParaRPr>
              </a:p>
            </p:txBody>
          </p:sp>
          <p:sp>
            <p:nvSpPr>
              <p:cNvPr id="30" name="Text Box 9">
                <a:extLst>
                  <a:ext uri="{FF2B5EF4-FFF2-40B4-BE49-F238E27FC236}">
                    <a16:creationId xmlns:a16="http://schemas.microsoft.com/office/drawing/2014/main" id="{2F0218AE-B81B-46E0-857D-334D12FB014A}"/>
                  </a:ext>
                </a:extLst>
              </p:cNvPr>
              <p:cNvSpPr txBox="1">
                <a:spLocks noChangeArrowheads="1"/>
              </p:cNvSpPr>
              <p:nvPr/>
            </p:nvSpPr>
            <p:spPr bwMode="auto">
              <a:xfrm>
                <a:off x="4741825" y="3754438"/>
                <a:ext cx="679271" cy="434975"/>
              </a:xfrm>
              <a:prstGeom prst="rect">
                <a:avLst/>
              </a:prstGeom>
              <a:noFill/>
              <a:ln w="31750">
                <a:noFill/>
                <a:miter lim="800000"/>
                <a:headEnd/>
                <a:tailEnd/>
              </a:ln>
            </p:spPr>
            <p:txBody>
              <a:bodyPr/>
              <a:lstStyle/>
              <a:p>
                <a:pPr>
                  <a:defRPr/>
                </a:pPr>
                <a:r>
                  <a:rPr lang="en-US">
                    <a:latin typeface="+mj-lt"/>
                    <a:cs typeface="Arial" charset="0"/>
                  </a:rPr>
                  <a:t>1/0</a:t>
                </a:r>
              </a:p>
            </p:txBody>
          </p:sp>
          <p:sp>
            <p:nvSpPr>
              <p:cNvPr id="31" name="Text Box 10">
                <a:extLst>
                  <a:ext uri="{FF2B5EF4-FFF2-40B4-BE49-F238E27FC236}">
                    <a16:creationId xmlns:a16="http://schemas.microsoft.com/office/drawing/2014/main" id="{3DC7563C-D691-4D7F-A261-392F43A2FCAC}"/>
                  </a:ext>
                </a:extLst>
              </p:cNvPr>
              <p:cNvSpPr txBox="1">
                <a:spLocks noChangeArrowheads="1"/>
              </p:cNvSpPr>
              <p:nvPr/>
            </p:nvSpPr>
            <p:spPr bwMode="auto">
              <a:xfrm>
                <a:off x="4694213" y="2032000"/>
                <a:ext cx="544368" cy="333375"/>
              </a:xfrm>
              <a:prstGeom prst="rect">
                <a:avLst/>
              </a:prstGeom>
              <a:noFill/>
              <a:ln w="31750">
                <a:noFill/>
                <a:miter lim="800000"/>
                <a:headEnd/>
                <a:tailEnd/>
              </a:ln>
            </p:spPr>
            <p:txBody>
              <a:bodyPr/>
              <a:lstStyle/>
              <a:p>
                <a:pPr>
                  <a:defRPr/>
                </a:pPr>
                <a:r>
                  <a:rPr lang="en-US">
                    <a:latin typeface="+mj-lt"/>
                    <a:cs typeface="Arial" charset="0"/>
                  </a:rPr>
                  <a:t>1/0</a:t>
                </a:r>
              </a:p>
            </p:txBody>
          </p:sp>
          <p:sp>
            <p:nvSpPr>
              <p:cNvPr id="32" name="Text Box 11">
                <a:extLst>
                  <a:ext uri="{FF2B5EF4-FFF2-40B4-BE49-F238E27FC236}">
                    <a16:creationId xmlns:a16="http://schemas.microsoft.com/office/drawing/2014/main" id="{11AABA74-D3F6-449A-88F7-E7717F54FDEF}"/>
                  </a:ext>
                </a:extLst>
              </p:cNvPr>
              <p:cNvSpPr txBox="1">
                <a:spLocks noChangeArrowheads="1"/>
              </p:cNvSpPr>
              <p:nvPr/>
            </p:nvSpPr>
            <p:spPr bwMode="auto">
              <a:xfrm>
                <a:off x="5686138" y="2368550"/>
                <a:ext cx="545956" cy="350838"/>
              </a:xfrm>
              <a:prstGeom prst="rect">
                <a:avLst/>
              </a:prstGeom>
              <a:noFill/>
              <a:ln w="31750">
                <a:noFill/>
                <a:miter lim="800000"/>
                <a:headEnd/>
                <a:tailEnd/>
              </a:ln>
            </p:spPr>
            <p:txBody>
              <a:bodyPr/>
              <a:lstStyle/>
              <a:p>
                <a:pPr>
                  <a:defRPr/>
                </a:pPr>
                <a:r>
                  <a:rPr lang="en-US">
                    <a:latin typeface="+mj-lt"/>
                    <a:cs typeface="Arial" charset="0"/>
                  </a:rPr>
                  <a:t>0/1</a:t>
                </a:r>
              </a:p>
            </p:txBody>
          </p:sp>
          <p:sp>
            <p:nvSpPr>
              <p:cNvPr id="33" name="Text Box 12">
                <a:extLst>
                  <a:ext uri="{FF2B5EF4-FFF2-40B4-BE49-F238E27FC236}">
                    <a16:creationId xmlns:a16="http://schemas.microsoft.com/office/drawing/2014/main" id="{853739A5-EF91-4869-A3E2-D3C41C1737A1}"/>
                  </a:ext>
                </a:extLst>
              </p:cNvPr>
              <p:cNvSpPr txBox="1">
                <a:spLocks noChangeArrowheads="1"/>
              </p:cNvSpPr>
              <p:nvPr/>
            </p:nvSpPr>
            <p:spPr bwMode="auto">
              <a:xfrm>
                <a:off x="6425718" y="3273425"/>
                <a:ext cx="544369" cy="350838"/>
              </a:xfrm>
              <a:prstGeom prst="rect">
                <a:avLst/>
              </a:prstGeom>
              <a:noFill/>
              <a:ln w="31750">
                <a:noFill/>
                <a:miter lim="800000"/>
                <a:headEnd/>
                <a:tailEnd/>
              </a:ln>
            </p:spPr>
            <p:txBody>
              <a:bodyPr/>
              <a:lstStyle/>
              <a:p>
                <a:pPr>
                  <a:defRPr/>
                </a:pPr>
                <a:r>
                  <a:rPr lang="en-US">
                    <a:latin typeface="+mj-lt"/>
                    <a:cs typeface="Arial" charset="0"/>
                  </a:rPr>
                  <a:t>0/0</a:t>
                </a:r>
              </a:p>
            </p:txBody>
          </p:sp>
          <p:sp>
            <p:nvSpPr>
              <p:cNvPr id="34" name="Text Box 13">
                <a:extLst>
                  <a:ext uri="{FF2B5EF4-FFF2-40B4-BE49-F238E27FC236}">
                    <a16:creationId xmlns:a16="http://schemas.microsoft.com/office/drawing/2014/main" id="{AF998A1B-E762-495F-ACB8-9449625B8E1D}"/>
                  </a:ext>
                </a:extLst>
              </p:cNvPr>
              <p:cNvSpPr txBox="1">
                <a:spLocks noChangeArrowheads="1"/>
              </p:cNvSpPr>
              <p:nvPr/>
            </p:nvSpPr>
            <p:spPr bwMode="auto">
              <a:xfrm>
                <a:off x="5632177" y="2879725"/>
                <a:ext cx="680858" cy="434975"/>
              </a:xfrm>
              <a:prstGeom prst="rect">
                <a:avLst/>
              </a:prstGeom>
              <a:noFill/>
              <a:ln w="31750">
                <a:noFill/>
                <a:miter lim="800000"/>
                <a:headEnd/>
                <a:tailEnd/>
              </a:ln>
            </p:spPr>
            <p:txBody>
              <a:bodyPr/>
              <a:lstStyle/>
              <a:p>
                <a:pPr>
                  <a:defRPr/>
                </a:pPr>
                <a:r>
                  <a:rPr lang="en-US" dirty="0">
                    <a:latin typeface="+mj-lt"/>
                    <a:cs typeface="Arial" charset="0"/>
                  </a:rPr>
                  <a:t>1/0</a:t>
                </a:r>
              </a:p>
            </p:txBody>
          </p:sp>
          <p:sp>
            <p:nvSpPr>
              <p:cNvPr id="35" name="Text Box 14">
                <a:extLst>
                  <a:ext uri="{FF2B5EF4-FFF2-40B4-BE49-F238E27FC236}">
                    <a16:creationId xmlns:a16="http://schemas.microsoft.com/office/drawing/2014/main" id="{E314AB7F-8FDE-4BE6-891C-B190EDF0192B}"/>
                  </a:ext>
                </a:extLst>
              </p:cNvPr>
              <p:cNvSpPr txBox="1">
                <a:spLocks noChangeArrowheads="1"/>
              </p:cNvSpPr>
              <p:nvPr/>
            </p:nvSpPr>
            <p:spPr bwMode="auto">
              <a:xfrm>
                <a:off x="5424270" y="3282950"/>
                <a:ext cx="545956" cy="350838"/>
              </a:xfrm>
              <a:prstGeom prst="rect">
                <a:avLst/>
              </a:prstGeom>
              <a:noFill/>
              <a:ln w="31750">
                <a:noFill/>
                <a:miter lim="800000"/>
                <a:headEnd/>
                <a:tailEnd/>
              </a:ln>
            </p:spPr>
            <p:txBody>
              <a:bodyPr/>
              <a:lstStyle/>
              <a:p>
                <a:pPr>
                  <a:defRPr/>
                </a:pPr>
                <a:r>
                  <a:rPr lang="en-US">
                    <a:latin typeface="+mj-lt"/>
                    <a:cs typeface="Arial" charset="0"/>
                  </a:rPr>
                  <a:t>0/1</a:t>
                </a:r>
              </a:p>
            </p:txBody>
          </p:sp>
          <p:sp>
            <p:nvSpPr>
              <p:cNvPr id="36" name="Arc 15">
                <a:extLst>
                  <a:ext uri="{FF2B5EF4-FFF2-40B4-BE49-F238E27FC236}">
                    <a16:creationId xmlns:a16="http://schemas.microsoft.com/office/drawing/2014/main" id="{5579C1C6-496E-4B57-808A-E6FE5D7D9A21}"/>
                  </a:ext>
                </a:extLst>
              </p:cNvPr>
              <p:cNvSpPr>
                <a:spLocks/>
              </p:cNvSpPr>
              <p:nvPr/>
            </p:nvSpPr>
            <p:spPr bwMode="auto">
              <a:xfrm rot="10387635">
                <a:off x="4922753" y="3114675"/>
                <a:ext cx="752276" cy="1008063"/>
              </a:xfrm>
              <a:custGeom>
                <a:avLst/>
                <a:gdLst>
                  <a:gd name="T0" fmla="*/ 0 w 24868"/>
                  <a:gd name="T1" fmla="*/ 0 h 21600"/>
                  <a:gd name="T2" fmla="*/ 0 w 24868"/>
                  <a:gd name="T3" fmla="*/ 0 h 21600"/>
                  <a:gd name="T4" fmla="*/ 0 w 24868"/>
                  <a:gd name="T5" fmla="*/ 0 h 21600"/>
                  <a:gd name="T6" fmla="*/ 0 60000 65536"/>
                  <a:gd name="T7" fmla="*/ 0 60000 65536"/>
                  <a:gd name="T8" fmla="*/ 0 60000 65536"/>
                  <a:gd name="T9" fmla="*/ 0 w 24868"/>
                  <a:gd name="T10" fmla="*/ 0 h 21600"/>
                  <a:gd name="T11" fmla="*/ 24868 w 24868"/>
                  <a:gd name="T12" fmla="*/ 21600 h 21600"/>
                </a:gdLst>
                <a:ahLst/>
                <a:cxnLst>
                  <a:cxn ang="T6">
                    <a:pos x="T0" y="T1"/>
                  </a:cxn>
                  <a:cxn ang="T7">
                    <a:pos x="T2" y="T3"/>
                  </a:cxn>
                  <a:cxn ang="T8">
                    <a:pos x="T4" y="T5"/>
                  </a:cxn>
                </a:cxnLst>
                <a:rect l="T9" t="T10" r="T11" b="T12"/>
                <a:pathLst>
                  <a:path w="24868" h="21600" fill="none" extrusionOk="0">
                    <a:moveTo>
                      <a:pt x="-1" y="248"/>
                    </a:moveTo>
                    <a:cubicBezTo>
                      <a:pt x="1081" y="83"/>
                      <a:pt x="2173" y="-1"/>
                      <a:pt x="3268" y="0"/>
                    </a:cubicBezTo>
                    <a:cubicBezTo>
                      <a:pt x="15197" y="0"/>
                      <a:pt x="24868" y="9670"/>
                      <a:pt x="24868" y="21600"/>
                    </a:cubicBezTo>
                  </a:path>
                  <a:path w="24868" h="21600" stroke="0" extrusionOk="0">
                    <a:moveTo>
                      <a:pt x="-1" y="248"/>
                    </a:moveTo>
                    <a:cubicBezTo>
                      <a:pt x="1081" y="83"/>
                      <a:pt x="2173" y="-1"/>
                      <a:pt x="3268" y="0"/>
                    </a:cubicBezTo>
                    <a:cubicBezTo>
                      <a:pt x="15197" y="0"/>
                      <a:pt x="24868" y="9670"/>
                      <a:pt x="24868" y="21600"/>
                    </a:cubicBezTo>
                    <a:lnTo>
                      <a:pt x="3268" y="21600"/>
                    </a:lnTo>
                    <a:lnTo>
                      <a:pt x="-1" y="248"/>
                    </a:lnTo>
                    <a:close/>
                  </a:path>
                </a:pathLst>
              </a:custGeom>
              <a:noFill/>
              <a:ln w="28575">
                <a:solidFill>
                  <a:schemeClr val="tx1"/>
                </a:solidFill>
                <a:round/>
                <a:headEnd/>
                <a:tailEnd type="triangle" w="med" len="med"/>
              </a:ln>
            </p:spPr>
            <p:txBody>
              <a:bodyPr rot="10800000" wrap="none" anchor="ctr"/>
              <a:lstStyle/>
              <a:p>
                <a:pPr eaLnBrk="1" hangingPunct="1">
                  <a:defRPr/>
                </a:pPr>
                <a:endParaRPr lang="en-GB">
                  <a:latin typeface="+mj-lt"/>
                  <a:cs typeface="Arial" charset="0"/>
                </a:endParaRPr>
              </a:p>
            </p:txBody>
          </p:sp>
          <p:sp>
            <p:nvSpPr>
              <p:cNvPr id="37" name="Arc 16">
                <a:extLst>
                  <a:ext uri="{FF2B5EF4-FFF2-40B4-BE49-F238E27FC236}">
                    <a16:creationId xmlns:a16="http://schemas.microsoft.com/office/drawing/2014/main" id="{B4812A4B-441A-4A03-B268-E444A1753571}"/>
                  </a:ext>
                </a:extLst>
              </p:cNvPr>
              <p:cNvSpPr>
                <a:spLocks/>
              </p:cNvSpPr>
              <p:nvPr/>
            </p:nvSpPr>
            <p:spPr bwMode="auto">
              <a:xfrm rot="7931560">
                <a:off x="5446382" y="2448061"/>
                <a:ext cx="815975" cy="1031602"/>
              </a:xfrm>
              <a:custGeom>
                <a:avLst/>
                <a:gdLst>
                  <a:gd name="T0" fmla="*/ 0 w 21564"/>
                  <a:gd name="T1" fmla="*/ 0 h 21475"/>
                  <a:gd name="T2" fmla="*/ 0 w 21564"/>
                  <a:gd name="T3" fmla="*/ 0 h 21475"/>
                  <a:gd name="T4" fmla="*/ 0 w 21564"/>
                  <a:gd name="T5" fmla="*/ 0 h 21475"/>
                  <a:gd name="T6" fmla="*/ 0 60000 65536"/>
                  <a:gd name="T7" fmla="*/ 0 60000 65536"/>
                  <a:gd name="T8" fmla="*/ 0 60000 65536"/>
                  <a:gd name="T9" fmla="*/ 0 w 21564"/>
                  <a:gd name="T10" fmla="*/ 0 h 21475"/>
                  <a:gd name="T11" fmla="*/ 21564 w 21564"/>
                  <a:gd name="T12" fmla="*/ 21475 h 21475"/>
                </a:gdLst>
                <a:ahLst/>
                <a:cxnLst>
                  <a:cxn ang="T6">
                    <a:pos x="T0" y="T1"/>
                  </a:cxn>
                  <a:cxn ang="T7">
                    <a:pos x="T2" y="T3"/>
                  </a:cxn>
                  <a:cxn ang="T8">
                    <a:pos x="T4" y="T5"/>
                  </a:cxn>
                </a:cxnLst>
                <a:rect l="T9" t="T10" r="T11" b="T12"/>
                <a:pathLst>
                  <a:path w="21564" h="21475" fill="none" extrusionOk="0">
                    <a:moveTo>
                      <a:pt x="2321" y="0"/>
                    </a:moveTo>
                    <a:cubicBezTo>
                      <a:pt x="12819" y="1135"/>
                      <a:pt x="20958" y="9693"/>
                      <a:pt x="21564" y="20234"/>
                    </a:cubicBezTo>
                  </a:path>
                  <a:path w="21564" h="21475" stroke="0" extrusionOk="0">
                    <a:moveTo>
                      <a:pt x="2321" y="0"/>
                    </a:moveTo>
                    <a:cubicBezTo>
                      <a:pt x="12819" y="1135"/>
                      <a:pt x="20958" y="9693"/>
                      <a:pt x="21564" y="20234"/>
                    </a:cubicBezTo>
                    <a:lnTo>
                      <a:pt x="0" y="21475"/>
                    </a:lnTo>
                    <a:lnTo>
                      <a:pt x="2321" y="0"/>
                    </a:lnTo>
                    <a:close/>
                  </a:path>
                </a:pathLst>
              </a:custGeom>
              <a:noFill/>
              <a:ln w="28575">
                <a:solidFill>
                  <a:schemeClr val="tx1"/>
                </a:solidFill>
                <a:round/>
                <a:headEnd/>
                <a:tailEnd type="triangle" w="med" len="med"/>
              </a:ln>
            </p:spPr>
            <p:txBody>
              <a:bodyPr rot="10800000" vert="eaVert" wrap="none" anchor="ctr"/>
              <a:lstStyle/>
              <a:p>
                <a:pPr eaLnBrk="1" hangingPunct="1">
                  <a:defRPr/>
                </a:pPr>
                <a:endParaRPr lang="en-GB">
                  <a:latin typeface="+mj-lt"/>
                  <a:cs typeface="Arial" charset="0"/>
                </a:endParaRPr>
              </a:p>
            </p:txBody>
          </p:sp>
          <p:sp>
            <p:nvSpPr>
              <p:cNvPr id="38" name="Arc 17">
                <a:extLst>
                  <a:ext uri="{FF2B5EF4-FFF2-40B4-BE49-F238E27FC236}">
                    <a16:creationId xmlns:a16="http://schemas.microsoft.com/office/drawing/2014/main" id="{5504EF4F-D038-431D-B5F4-3AF5B140FAE2}"/>
                  </a:ext>
                </a:extLst>
              </p:cNvPr>
              <p:cNvSpPr>
                <a:spLocks/>
              </p:cNvSpPr>
              <p:nvPr/>
            </p:nvSpPr>
            <p:spPr bwMode="auto">
              <a:xfrm rot="21115236">
                <a:off x="5238581" y="2701925"/>
                <a:ext cx="1209356" cy="654050"/>
              </a:xfrm>
              <a:custGeom>
                <a:avLst/>
                <a:gdLst>
                  <a:gd name="T0" fmla="*/ 0 w 18673"/>
                  <a:gd name="T1" fmla="*/ 0 h 21600"/>
                  <a:gd name="T2" fmla="*/ 0 w 18673"/>
                  <a:gd name="T3" fmla="*/ 0 h 21600"/>
                  <a:gd name="T4" fmla="*/ 0 w 18673"/>
                  <a:gd name="T5" fmla="*/ 0 h 21600"/>
                  <a:gd name="T6" fmla="*/ 0 60000 65536"/>
                  <a:gd name="T7" fmla="*/ 0 60000 65536"/>
                  <a:gd name="T8" fmla="*/ 0 60000 65536"/>
                  <a:gd name="T9" fmla="*/ 0 w 18673"/>
                  <a:gd name="T10" fmla="*/ 0 h 21600"/>
                  <a:gd name="T11" fmla="*/ 18673 w 18673"/>
                  <a:gd name="T12" fmla="*/ 21600 h 21600"/>
                </a:gdLst>
                <a:ahLst/>
                <a:cxnLst>
                  <a:cxn ang="T6">
                    <a:pos x="T0" y="T1"/>
                  </a:cxn>
                  <a:cxn ang="T7">
                    <a:pos x="T2" y="T3"/>
                  </a:cxn>
                  <a:cxn ang="T8">
                    <a:pos x="T4" y="T5"/>
                  </a:cxn>
                </a:cxnLst>
                <a:rect l="T9" t="T10" r="T11" b="T12"/>
                <a:pathLst>
                  <a:path w="18673" h="21600" fill="none" extrusionOk="0">
                    <a:moveTo>
                      <a:pt x="-1" y="183"/>
                    </a:moveTo>
                    <a:cubicBezTo>
                      <a:pt x="932" y="61"/>
                      <a:pt x="1872" y="-1"/>
                      <a:pt x="2813" y="0"/>
                    </a:cubicBezTo>
                    <a:cubicBezTo>
                      <a:pt x="8835" y="0"/>
                      <a:pt x="14584" y="2514"/>
                      <a:pt x="18672" y="6936"/>
                    </a:cubicBezTo>
                  </a:path>
                  <a:path w="18673" h="21600" stroke="0" extrusionOk="0">
                    <a:moveTo>
                      <a:pt x="-1" y="183"/>
                    </a:moveTo>
                    <a:cubicBezTo>
                      <a:pt x="932" y="61"/>
                      <a:pt x="1872" y="-1"/>
                      <a:pt x="2813" y="0"/>
                    </a:cubicBezTo>
                    <a:cubicBezTo>
                      <a:pt x="8835" y="0"/>
                      <a:pt x="14584" y="2514"/>
                      <a:pt x="18672" y="6936"/>
                    </a:cubicBezTo>
                    <a:lnTo>
                      <a:pt x="2813" y="21600"/>
                    </a:lnTo>
                    <a:lnTo>
                      <a:pt x="-1" y="183"/>
                    </a:lnTo>
                    <a:close/>
                  </a:path>
                </a:pathLst>
              </a:custGeom>
              <a:noFill/>
              <a:ln w="28575">
                <a:solidFill>
                  <a:schemeClr val="tx1"/>
                </a:solidFill>
                <a:round/>
                <a:headEnd/>
                <a:tailEnd type="triangle" w="med" len="med"/>
              </a:ln>
            </p:spPr>
            <p:txBody>
              <a:bodyPr wrap="none" anchor="ctr"/>
              <a:lstStyle/>
              <a:p>
                <a:pPr eaLnBrk="1" hangingPunct="1">
                  <a:defRPr/>
                </a:pPr>
                <a:endParaRPr lang="en-GB">
                  <a:latin typeface="+mj-lt"/>
                  <a:cs typeface="Arial" charset="0"/>
                </a:endParaRPr>
              </a:p>
            </p:txBody>
          </p:sp>
          <p:sp>
            <p:nvSpPr>
              <p:cNvPr id="39" name="Arc 18">
                <a:extLst>
                  <a:ext uri="{FF2B5EF4-FFF2-40B4-BE49-F238E27FC236}">
                    <a16:creationId xmlns:a16="http://schemas.microsoft.com/office/drawing/2014/main" id="{E0A7BF77-DC50-420E-B9DF-FB0B88AB4FDC}"/>
                  </a:ext>
                </a:extLst>
              </p:cNvPr>
              <p:cNvSpPr>
                <a:spLocks/>
              </p:cNvSpPr>
              <p:nvPr/>
            </p:nvSpPr>
            <p:spPr bwMode="auto">
              <a:xfrm>
                <a:off x="4648187" y="2347913"/>
                <a:ext cx="547543" cy="404812"/>
              </a:xfrm>
              <a:custGeom>
                <a:avLst/>
                <a:gdLst>
                  <a:gd name="T0" fmla="*/ 0 w 43200"/>
                  <a:gd name="T1" fmla="*/ 0 h 30453"/>
                  <a:gd name="T2" fmla="*/ 0 w 43200"/>
                  <a:gd name="T3" fmla="*/ 0 h 30453"/>
                  <a:gd name="T4" fmla="*/ 0 w 43200"/>
                  <a:gd name="T5" fmla="*/ 0 h 30453"/>
                  <a:gd name="T6" fmla="*/ 0 60000 65536"/>
                  <a:gd name="T7" fmla="*/ 0 60000 65536"/>
                  <a:gd name="T8" fmla="*/ 0 60000 65536"/>
                  <a:gd name="T9" fmla="*/ 0 w 43200"/>
                  <a:gd name="T10" fmla="*/ 0 h 30453"/>
                  <a:gd name="T11" fmla="*/ 43200 w 43200"/>
                  <a:gd name="T12" fmla="*/ 30453 h 30453"/>
                </a:gdLst>
                <a:ahLst/>
                <a:cxnLst>
                  <a:cxn ang="T6">
                    <a:pos x="T0" y="T1"/>
                  </a:cxn>
                  <a:cxn ang="T7">
                    <a:pos x="T2" y="T3"/>
                  </a:cxn>
                  <a:cxn ang="T8">
                    <a:pos x="T4" y="T5"/>
                  </a:cxn>
                </a:cxnLst>
                <a:rect l="T9" t="T10" r="T11" b="T12"/>
                <a:pathLst>
                  <a:path w="43200" h="30453" fill="none" extrusionOk="0">
                    <a:moveTo>
                      <a:pt x="1188" y="28664"/>
                    </a:moveTo>
                    <a:cubicBezTo>
                      <a:pt x="401" y="26392"/>
                      <a:pt x="0" y="24004"/>
                      <a:pt x="0" y="21600"/>
                    </a:cubicBezTo>
                    <a:cubicBezTo>
                      <a:pt x="0" y="9670"/>
                      <a:pt x="9670" y="0"/>
                      <a:pt x="21600" y="0"/>
                    </a:cubicBezTo>
                    <a:cubicBezTo>
                      <a:pt x="33529" y="0"/>
                      <a:pt x="43200" y="9670"/>
                      <a:pt x="43200" y="21600"/>
                    </a:cubicBezTo>
                    <a:cubicBezTo>
                      <a:pt x="43200" y="24651"/>
                      <a:pt x="42553" y="27669"/>
                      <a:pt x="41302" y="30453"/>
                    </a:cubicBezTo>
                  </a:path>
                  <a:path w="43200" h="30453" stroke="0" extrusionOk="0">
                    <a:moveTo>
                      <a:pt x="1188" y="28664"/>
                    </a:moveTo>
                    <a:cubicBezTo>
                      <a:pt x="401" y="26392"/>
                      <a:pt x="0" y="24004"/>
                      <a:pt x="0" y="21600"/>
                    </a:cubicBezTo>
                    <a:cubicBezTo>
                      <a:pt x="0" y="9670"/>
                      <a:pt x="9670" y="0"/>
                      <a:pt x="21600" y="0"/>
                    </a:cubicBezTo>
                    <a:cubicBezTo>
                      <a:pt x="33529" y="0"/>
                      <a:pt x="43200" y="9670"/>
                      <a:pt x="43200" y="21600"/>
                    </a:cubicBezTo>
                    <a:cubicBezTo>
                      <a:pt x="43200" y="24651"/>
                      <a:pt x="42553" y="27669"/>
                      <a:pt x="41302" y="30453"/>
                    </a:cubicBezTo>
                    <a:lnTo>
                      <a:pt x="21600" y="21600"/>
                    </a:lnTo>
                    <a:lnTo>
                      <a:pt x="1188" y="28664"/>
                    </a:lnTo>
                    <a:close/>
                  </a:path>
                </a:pathLst>
              </a:custGeom>
              <a:noFill/>
              <a:ln w="28575">
                <a:solidFill>
                  <a:schemeClr val="tx1"/>
                </a:solidFill>
                <a:round/>
                <a:headEnd/>
                <a:tailEnd type="triangle" w="med" len="med"/>
              </a:ln>
            </p:spPr>
            <p:txBody>
              <a:bodyPr wrap="none" anchor="ctr"/>
              <a:lstStyle/>
              <a:p>
                <a:pPr eaLnBrk="1" hangingPunct="1">
                  <a:defRPr/>
                </a:pPr>
                <a:endParaRPr lang="en-GB">
                  <a:latin typeface="+mj-lt"/>
                  <a:cs typeface="Arial" charset="0"/>
                </a:endParaRPr>
              </a:p>
            </p:txBody>
          </p:sp>
        </p:grpSp>
      </p:grpSp>
      <p:sp>
        <p:nvSpPr>
          <p:cNvPr id="63493" name="TextBox 39">
            <a:extLst>
              <a:ext uri="{FF2B5EF4-FFF2-40B4-BE49-F238E27FC236}">
                <a16:creationId xmlns:a16="http://schemas.microsoft.com/office/drawing/2014/main" id="{2DBFB097-E50F-B0F9-58DD-91883DA4E934}"/>
              </a:ext>
            </a:extLst>
          </p:cNvPr>
          <p:cNvSpPr txBox="1">
            <a:spLocks noChangeArrowheads="1"/>
          </p:cNvSpPr>
          <p:nvPr/>
        </p:nvSpPr>
        <p:spPr bwMode="auto">
          <a:xfrm>
            <a:off x="1727200" y="1092201"/>
            <a:ext cx="8394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a:t>Determine  A</a:t>
            </a:r>
            <a:r>
              <a:rPr lang="en-US" altLang="en-US">
                <a:sym typeface="Symbol" panose="05050102010706020507" pitchFamily="18" charset="2"/>
              </a:rPr>
              <a:t>B</a:t>
            </a:r>
            <a:endParaRPr lang="en-GB" altLang="en-US"/>
          </a:p>
        </p:txBody>
      </p:sp>
      <p:sp>
        <p:nvSpPr>
          <p:cNvPr id="63494" name="TextBox 42">
            <a:extLst>
              <a:ext uri="{FF2B5EF4-FFF2-40B4-BE49-F238E27FC236}">
                <a16:creationId xmlns:a16="http://schemas.microsoft.com/office/drawing/2014/main" id="{40D8AB39-CA45-2A62-350E-BE48F7FB79C6}"/>
              </a:ext>
            </a:extLst>
          </p:cNvPr>
          <p:cNvSpPr txBox="1">
            <a:spLocks noChangeArrowheads="1"/>
          </p:cNvSpPr>
          <p:nvPr/>
        </p:nvSpPr>
        <p:spPr bwMode="auto">
          <a:xfrm>
            <a:off x="1727200" y="1549401"/>
            <a:ext cx="3797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a:t>FSM A – original  FSM </a:t>
            </a:r>
            <a:endParaRPr lang="en-GB" altLang="en-US"/>
          </a:p>
        </p:txBody>
      </p:sp>
      <p:sp>
        <p:nvSpPr>
          <p:cNvPr id="63495" name="TextBox 43">
            <a:extLst>
              <a:ext uri="{FF2B5EF4-FFF2-40B4-BE49-F238E27FC236}">
                <a16:creationId xmlns:a16="http://schemas.microsoft.com/office/drawing/2014/main" id="{1449FF40-6D53-9DA5-F7D2-A0EC1ED89B12}"/>
              </a:ext>
            </a:extLst>
          </p:cNvPr>
          <p:cNvSpPr txBox="1">
            <a:spLocks noChangeArrowheads="1"/>
          </p:cNvSpPr>
          <p:nvPr/>
        </p:nvSpPr>
        <p:spPr bwMode="auto">
          <a:xfrm>
            <a:off x="6362700" y="1549401"/>
            <a:ext cx="3797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a:t>FSM B – reduced   FSM </a:t>
            </a:r>
            <a:endParaRPr lang="en-GB"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9D18C045-F379-F8FD-50BB-B46AEB27AAAE}"/>
              </a:ext>
            </a:extLst>
          </p:cNvPr>
          <p:cNvSpPr>
            <a:spLocks noGrp="1" noChangeArrowheads="1"/>
          </p:cNvSpPr>
          <p:nvPr>
            <p:ph type="title"/>
          </p:nvPr>
        </p:nvSpPr>
        <p:spPr>
          <a:xfrm>
            <a:off x="-1" y="183402"/>
            <a:ext cx="11612880" cy="704088"/>
          </a:xfrm>
        </p:spPr>
        <p:txBody>
          <a:bodyPr/>
          <a:lstStyle/>
          <a:p>
            <a:r>
              <a:rPr lang="en-US" altLang="en-US"/>
              <a:t>Production of FSM</a:t>
            </a:r>
            <a:endParaRPr lang="en-GB" altLang="en-US"/>
          </a:p>
        </p:txBody>
      </p:sp>
      <p:sp>
        <p:nvSpPr>
          <p:cNvPr id="5" name="Text Placeholder 4">
            <a:extLst>
              <a:ext uri="{FF2B5EF4-FFF2-40B4-BE49-F238E27FC236}">
                <a16:creationId xmlns:a16="http://schemas.microsoft.com/office/drawing/2014/main" id="{F6AC431A-64CE-B902-6986-3AC27BF89D93}"/>
              </a:ext>
            </a:extLst>
          </p:cNvPr>
          <p:cNvSpPr>
            <a:spLocks noGrp="1"/>
          </p:cNvSpPr>
          <p:nvPr>
            <p:ph type="body" sz="quarter" idx="10"/>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FSMs are equivalent, since for any transitions under the action  of the same inputs their outputs are identical</a:t>
            </a:r>
          </a:p>
          <a:p>
            <a:endParaRPr lang="en-US" dirty="0"/>
          </a:p>
        </p:txBody>
      </p:sp>
      <p:grpSp>
        <p:nvGrpSpPr>
          <p:cNvPr id="64515" name="Group 40">
            <a:extLst>
              <a:ext uri="{FF2B5EF4-FFF2-40B4-BE49-F238E27FC236}">
                <a16:creationId xmlns:a16="http://schemas.microsoft.com/office/drawing/2014/main" id="{ABB325F4-4B27-3D36-410D-26BAA37125B1}"/>
              </a:ext>
            </a:extLst>
          </p:cNvPr>
          <p:cNvGrpSpPr>
            <a:grpSpLocks/>
          </p:cNvGrpSpPr>
          <p:nvPr/>
        </p:nvGrpSpPr>
        <p:grpSpPr bwMode="auto">
          <a:xfrm>
            <a:off x="2565400" y="598489"/>
            <a:ext cx="5105400" cy="4048125"/>
            <a:chOff x="1041400" y="700114"/>
            <a:chExt cx="5106035" cy="4048017"/>
          </a:xfrm>
        </p:grpSpPr>
        <p:sp>
          <p:nvSpPr>
            <p:cNvPr id="31" name="Arc 30">
              <a:extLst>
                <a:ext uri="{FF2B5EF4-FFF2-40B4-BE49-F238E27FC236}">
                  <a16:creationId xmlns:a16="http://schemas.microsoft.com/office/drawing/2014/main" id="{CF0E2EEF-5E89-4097-AA87-EAE291C55605}"/>
                </a:ext>
              </a:extLst>
            </p:cNvPr>
            <p:cNvSpPr/>
            <p:nvPr/>
          </p:nvSpPr>
          <p:spPr bwMode="auto">
            <a:xfrm rot="2568055">
              <a:off x="2036887" y="700114"/>
              <a:ext cx="3230964" cy="4048017"/>
            </a:xfrm>
            <a:prstGeom prst="arc">
              <a:avLst>
                <a:gd name="adj1" fmla="val 18935912"/>
                <a:gd name="adj2" fmla="val 5647402"/>
              </a:avLst>
            </a:prstGeom>
            <a:noFill/>
            <a:ln w="9525" cap="flat" cmpd="sng" algn="ctr">
              <a:solidFill>
                <a:schemeClr val="tx1"/>
              </a:solidFill>
              <a:prstDash val="solid"/>
              <a:round/>
              <a:headEnd type="none" w="med" len="med"/>
              <a:tailEnd type="triangle" w="lg" len="lg"/>
            </a:ln>
            <a:effectLst/>
          </p:spPr>
          <p:txBody>
            <a:bodyPr anchor="ctr"/>
            <a:lstStyle/>
            <a:p>
              <a:pPr eaLnBrk="1" hangingPunct="1">
                <a:defRPr/>
              </a:pPr>
              <a:endParaRPr lang="en-GB">
                <a:latin typeface="Arial" charset="0"/>
                <a:cs typeface="Arial" charset="0"/>
              </a:endParaRPr>
            </a:p>
          </p:txBody>
        </p:sp>
        <p:sp>
          <p:nvSpPr>
            <p:cNvPr id="3" name="Oval 4">
              <a:extLst>
                <a:ext uri="{FF2B5EF4-FFF2-40B4-BE49-F238E27FC236}">
                  <a16:creationId xmlns:a16="http://schemas.microsoft.com/office/drawing/2014/main" id="{3304096F-856A-477D-849C-44DD57468343}"/>
                </a:ext>
              </a:extLst>
            </p:cNvPr>
            <p:cNvSpPr>
              <a:spLocks noChangeArrowheads="1"/>
            </p:cNvSpPr>
            <p:nvPr/>
          </p:nvSpPr>
          <p:spPr bwMode="auto">
            <a:xfrm>
              <a:off x="1324010" y="2287572"/>
              <a:ext cx="822427" cy="639745"/>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1400" dirty="0">
                  <a:latin typeface="+mj-lt"/>
                  <a:cs typeface="Arial" charset="0"/>
                </a:rPr>
                <a:t>A</a:t>
              </a:r>
              <a:r>
                <a:rPr lang="en-US" sz="1400" baseline="-25000" dirty="0">
                  <a:latin typeface="+mj-lt"/>
                  <a:cs typeface="Arial" charset="0"/>
                </a:rPr>
                <a:t>0</a:t>
              </a:r>
              <a:r>
                <a:rPr lang="en-US" sz="1400" dirty="0">
                  <a:latin typeface="+mj-lt"/>
                  <a:cs typeface="Arial" charset="0"/>
                </a:rPr>
                <a:t>B</a:t>
              </a:r>
              <a:r>
                <a:rPr lang="en-US" sz="1400" baseline="-25000" dirty="0">
                  <a:latin typeface="+mj-lt"/>
                  <a:cs typeface="Arial" charset="0"/>
                </a:rPr>
                <a:t>0</a:t>
              </a:r>
            </a:p>
          </p:txBody>
        </p:sp>
        <p:cxnSp>
          <p:nvCxnSpPr>
            <p:cNvPr id="64519" name="Straight Arrow Connector 4">
              <a:extLst>
                <a:ext uri="{FF2B5EF4-FFF2-40B4-BE49-F238E27FC236}">
                  <a16:creationId xmlns:a16="http://schemas.microsoft.com/office/drawing/2014/main" id="{9EE65303-C060-D768-31DA-DE9A52D7CDCF}"/>
                </a:ext>
              </a:extLst>
            </p:cNvPr>
            <p:cNvCxnSpPr>
              <a:cxnSpLocks noChangeShapeType="1"/>
              <a:stCxn id="3" idx="6"/>
            </p:cNvCxnSpPr>
            <p:nvPr/>
          </p:nvCxnSpPr>
          <p:spPr bwMode="auto">
            <a:xfrm flipV="1">
              <a:off x="2146935" y="2501900"/>
              <a:ext cx="1180465" cy="105605"/>
            </a:xfrm>
            <a:prstGeom prst="straightConnector1">
              <a:avLst/>
            </a:prstGeom>
            <a:noFill/>
            <a:ln w="9525"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64520" name="TextBox 5">
              <a:extLst>
                <a:ext uri="{FF2B5EF4-FFF2-40B4-BE49-F238E27FC236}">
                  <a16:creationId xmlns:a16="http://schemas.microsoft.com/office/drawing/2014/main" id="{AF4AA76B-3DD4-B9C5-B698-2BF1ED9599F9}"/>
                </a:ext>
              </a:extLst>
            </p:cNvPr>
            <p:cNvSpPr txBox="1">
              <a:spLocks noChangeArrowheads="1"/>
            </p:cNvSpPr>
            <p:nvPr/>
          </p:nvSpPr>
          <p:spPr bwMode="auto">
            <a:xfrm>
              <a:off x="2298700" y="2159000"/>
              <a:ext cx="9271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0/(1,1)</a:t>
              </a:r>
              <a:endParaRPr lang="en-GB" altLang="en-US" sz="1800"/>
            </a:p>
          </p:txBody>
        </p:sp>
        <p:sp>
          <p:nvSpPr>
            <p:cNvPr id="7" name="Oval 4">
              <a:extLst>
                <a:ext uri="{FF2B5EF4-FFF2-40B4-BE49-F238E27FC236}">
                  <a16:creationId xmlns:a16="http://schemas.microsoft.com/office/drawing/2014/main" id="{8B7BADCD-8CB0-417D-881B-84AA2431C86B}"/>
                </a:ext>
              </a:extLst>
            </p:cNvPr>
            <p:cNvSpPr>
              <a:spLocks noChangeArrowheads="1"/>
            </p:cNvSpPr>
            <p:nvPr/>
          </p:nvSpPr>
          <p:spPr bwMode="auto">
            <a:xfrm>
              <a:off x="3343561" y="2198674"/>
              <a:ext cx="822427" cy="639745"/>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1400" dirty="0">
                  <a:latin typeface="+mj-lt"/>
                  <a:cs typeface="Arial" charset="0"/>
                </a:rPr>
                <a:t>A</a:t>
              </a:r>
              <a:r>
                <a:rPr lang="en-US" sz="1400" baseline="-25000" dirty="0">
                  <a:latin typeface="+mj-lt"/>
                  <a:cs typeface="Arial" charset="0"/>
                </a:rPr>
                <a:t>1</a:t>
              </a:r>
              <a:r>
                <a:rPr lang="en-US" sz="1400" dirty="0">
                  <a:latin typeface="+mj-lt"/>
                  <a:cs typeface="Arial" charset="0"/>
                </a:rPr>
                <a:t>B</a:t>
              </a:r>
              <a:r>
                <a:rPr lang="en-US" sz="1400" baseline="-25000" dirty="0">
                  <a:latin typeface="+mj-lt"/>
                  <a:cs typeface="Arial" charset="0"/>
                </a:rPr>
                <a:t>1</a:t>
              </a:r>
            </a:p>
          </p:txBody>
        </p:sp>
        <p:sp>
          <p:nvSpPr>
            <p:cNvPr id="8" name="Oval 4">
              <a:extLst>
                <a:ext uri="{FF2B5EF4-FFF2-40B4-BE49-F238E27FC236}">
                  <a16:creationId xmlns:a16="http://schemas.microsoft.com/office/drawing/2014/main" id="{8B8D8128-057D-4D48-92AF-2106568136CB}"/>
                </a:ext>
              </a:extLst>
            </p:cNvPr>
            <p:cNvSpPr>
              <a:spLocks noChangeArrowheads="1"/>
            </p:cNvSpPr>
            <p:nvPr/>
          </p:nvSpPr>
          <p:spPr bwMode="auto">
            <a:xfrm>
              <a:off x="1717759" y="3455940"/>
              <a:ext cx="822427" cy="639745"/>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1400" dirty="0">
                  <a:latin typeface="+mj-lt"/>
                  <a:cs typeface="Arial" charset="0"/>
                </a:rPr>
                <a:t>A</a:t>
              </a:r>
              <a:r>
                <a:rPr lang="en-US" sz="1400" baseline="-25000" dirty="0">
                  <a:latin typeface="+mj-lt"/>
                  <a:cs typeface="Arial" charset="0"/>
                </a:rPr>
                <a:t>2</a:t>
              </a:r>
              <a:r>
                <a:rPr lang="en-US" sz="1400" dirty="0">
                  <a:latin typeface="+mj-lt"/>
                  <a:cs typeface="Arial" charset="0"/>
                </a:rPr>
                <a:t>B</a:t>
              </a:r>
              <a:r>
                <a:rPr lang="en-US" sz="1400" baseline="-25000" dirty="0">
                  <a:latin typeface="+mj-lt"/>
                  <a:cs typeface="Arial" charset="0"/>
                </a:rPr>
                <a:t>0</a:t>
              </a:r>
            </a:p>
          </p:txBody>
        </p:sp>
        <p:cxnSp>
          <p:nvCxnSpPr>
            <p:cNvPr id="64523" name="Straight Arrow Connector 9">
              <a:extLst>
                <a:ext uri="{FF2B5EF4-FFF2-40B4-BE49-F238E27FC236}">
                  <a16:creationId xmlns:a16="http://schemas.microsoft.com/office/drawing/2014/main" id="{0F66C42F-1BFF-AE30-1922-1C302A65CAC6}"/>
                </a:ext>
              </a:extLst>
            </p:cNvPr>
            <p:cNvCxnSpPr>
              <a:cxnSpLocks noChangeShapeType="1"/>
              <a:stCxn id="3" idx="4"/>
              <a:endCxn id="8" idx="0"/>
            </p:cNvCxnSpPr>
            <p:nvPr/>
          </p:nvCxnSpPr>
          <p:spPr bwMode="auto">
            <a:xfrm rot="16200000" flipH="1">
              <a:off x="1668145" y="2994855"/>
              <a:ext cx="528320" cy="393700"/>
            </a:xfrm>
            <a:prstGeom prst="straightConnector1">
              <a:avLst/>
            </a:prstGeom>
            <a:noFill/>
            <a:ln w="9525"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64524" name="TextBox 10">
              <a:extLst>
                <a:ext uri="{FF2B5EF4-FFF2-40B4-BE49-F238E27FC236}">
                  <a16:creationId xmlns:a16="http://schemas.microsoft.com/office/drawing/2014/main" id="{C3339C8E-EDEA-A934-1AAD-94859D0E4AA6}"/>
                </a:ext>
              </a:extLst>
            </p:cNvPr>
            <p:cNvSpPr txBox="1">
              <a:spLocks noChangeArrowheads="1"/>
            </p:cNvSpPr>
            <p:nvPr/>
          </p:nvSpPr>
          <p:spPr bwMode="auto">
            <a:xfrm>
              <a:off x="1854200" y="2882900"/>
              <a:ext cx="9271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1/(0,0)</a:t>
              </a:r>
              <a:endParaRPr lang="en-GB" altLang="en-US" sz="1800"/>
            </a:p>
          </p:txBody>
        </p:sp>
        <p:sp>
          <p:nvSpPr>
            <p:cNvPr id="12" name="Oval 4">
              <a:extLst>
                <a:ext uri="{FF2B5EF4-FFF2-40B4-BE49-F238E27FC236}">
                  <a16:creationId xmlns:a16="http://schemas.microsoft.com/office/drawing/2014/main" id="{2B08CB25-C9D3-4F18-BC3F-D3D07058CB5B}"/>
                </a:ext>
              </a:extLst>
            </p:cNvPr>
            <p:cNvSpPr>
              <a:spLocks noChangeArrowheads="1"/>
            </p:cNvSpPr>
            <p:nvPr/>
          </p:nvSpPr>
          <p:spPr bwMode="auto">
            <a:xfrm>
              <a:off x="5325008" y="2084377"/>
              <a:ext cx="822427" cy="639745"/>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1400" dirty="0">
                  <a:latin typeface="+mj-lt"/>
                  <a:cs typeface="Arial" charset="0"/>
                </a:rPr>
                <a:t>A</a:t>
              </a:r>
              <a:r>
                <a:rPr lang="en-US" sz="1400" baseline="-25000" dirty="0">
                  <a:latin typeface="+mj-lt"/>
                  <a:cs typeface="Arial" charset="0"/>
                </a:rPr>
                <a:t>3</a:t>
              </a:r>
              <a:r>
                <a:rPr lang="en-US" sz="1400" dirty="0">
                  <a:latin typeface="+mj-lt"/>
                  <a:cs typeface="Arial" charset="0"/>
                </a:rPr>
                <a:t>B</a:t>
              </a:r>
              <a:r>
                <a:rPr lang="en-US" sz="1400" baseline="-25000" dirty="0">
                  <a:latin typeface="+mj-lt"/>
                  <a:cs typeface="Arial" charset="0"/>
                </a:rPr>
                <a:t>2</a:t>
              </a:r>
            </a:p>
          </p:txBody>
        </p:sp>
        <p:cxnSp>
          <p:nvCxnSpPr>
            <p:cNvPr id="64526" name="Straight Arrow Connector 12">
              <a:extLst>
                <a:ext uri="{FF2B5EF4-FFF2-40B4-BE49-F238E27FC236}">
                  <a16:creationId xmlns:a16="http://schemas.microsoft.com/office/drawing/2014/main" id="{3967610F-F8EA-CE83-8B43-570A8CBBE6EE}"/>
                </a:ext>
              </a:extLst>
            </p:cNvPr>
            <p:cNvCxnSpPr>
              <a:cxnSpLocks noChangeShapeType="1"/>
            </p:cNvCxnSpPr>
            <p:nvPr/>
          </p:nvCxnSpPr>
          <p:spPr bwMode="auto">
            <a:xfrm flipV="1">
              <a:off x="4153535" y="2387600"/>
              <a:ext cx="1180465" cy="105605"/>
            </a:xfrm>
            <a:prstGeom prst="straightConnector1">
              <a:avLst/>
            </a:prstGeom>
            <a:noFill/>
            <a:ln w="9525"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64527" name="TextBox 13">
              <a:extLst>
                <a:ext uri="{FF2B5EF4-FFF2-40B4-BE49-F238E27FC236}">
                  <a16:creationId xmlns:a16="http://schemas.microsoft.com/office/drawing/2014/main" id="{A9A90C5A-7D1A-B1C0-DB82-403A1C48C3BD}"/>
                </a:ext>
              </a:extLst>
            </p:cNvPr>
            <p:cNvSpPr txBox="1">
              <a:spLocks noChangeArrowheads="1"/>
            </p:cNvSpPr>
            <p:nvPr/>
          </p:nvSpPr>
          <p:spPr bwMode="auto">
            <a:xfrm>
              <a:off x="4241800" y="2057400"/>
              <a:ext cx="9271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0/(1,1)</a:t>
              </a:r>
              <a:endParaRPr lang="en-GB" altLang="en-US" sz="1800"/>
            </a:p>
          </p:txBody>
        </p:sp>
        <p:cxnSp>
          <p:nvCxnSpPr>
            <p:cNvPr id="64528" name="Straight Arrow Connector 16">
              <a:extLst>
                <a:ext uri="{FF2B5EF4-FFF2-40B4-BE49-F238E27FC236}">
                  <a16:creationId xmlns:a16="http://schemas.microsoft.com/office/drawing/2014/main" id="{C9B2FD11-A3DE-A479-B0F5-0294558D1D0B}"/>
                </a:ext>
              </a:extLst>
            </p:cNvPr>
            <p:cNvCxnSpPr>
              <a:cxnSpLocks noChangeShapeType="1"/>
              <a:stCxn id="7" idx="3"/>
            </p:cNvCxnSpPr>
            <p:nvPr/>
          </p:nvCxnSpPr>
          <p:spPr bwMode="auto">
            <a:xfrm rot="5400000">
              <a:off x="2549395" y="2653468"/>
              <a:ext cx="822960" cy="1005840"/>
            </a:xfrm>
            <a:prstGeom prst="straightConnector1">
              <a:avLst/>
            </a:prstGeom>
            <a:noFill/>
            <a:ln w="9525"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64529" name="TextBox 21">
              <a:extLst>
                <a:ext uri="{FF2B5EF4-FFF2-40B4-BE49-F238E27FC236}">
                  <a16:creationId xmlns:a16="http://schemas.microsoft.com/office/drawing/2014/main" id="{D0797F62-E9D4-F2F0-3534-293E897D7E03}"/>
                </a:ext>
              </a:extLst>
            </p:cNvPr>
            <p:cNvSpPr txBox="1">
              <a:spLocks noChangeArrowheads="1"/>
            </p:cNvSpPr>
            <p:nvPr/>
          </p:nvSpPr>
          <p:spPr bwMode="auto">
            <a:xfrm>
              <a:off x="3009900" y="2946400"/>
              <a:ext cx="9271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1/(0,0)</a:t>
              </a:r>
              <a:endParaRPr lang="en-GB" altLang="en-US" sz="1800"/>
            </a:p>
          </p:txBody>
        </p:sp>
        <p:sp>
          <p:nvSpPr>
            <p:cNvPr id="27" name="Arc 26">
              <a:extLst>
                <a:ext uri="{FF2B5EF4-FFF2-40B4-BE49-F238E27FC236}">
                  <a16:creationId xmlns:a16="http://schemas.microsoft.com/office/drawing/2014/main" id="{B3A6DB23-8614-475A-A3F3-D28256DE214D}"/>
                </a:ext>
              </a:extLst>
            </p:cNvPr>
            <p:cNvSpPr/>
            <p:nvPr/>
          </p:nvSpPr>
          <p:spPr bwMode="auto">
            <a:xfrm rot="4554713">
              <a:off x="1066111" y="2586707"/>
              <a:ext cx="1350927" cy="1333666"/>
            </a:xfrm>
            <a:prstGeom prst="arc">
              <a:avLst>
                <a:gd name="adj1" fmla="val 851982"/>
                <a:gd name="adj2" fmla="val 9546779"/>
              </a:avLst>
            </a:prstGeom>
            <a:noFill/>
            <a:ln w="9525" cap="flat" cmpd="sng" algn="ctr">
              <a:solidFill>
                <a:schemeClr val="tx1"/>
              </a:solidFill>
              <a:prstDash val="solid"/>
              <a:round/>
              <a:headEnd type="none" w="lg" len="lg"/>
              <a:tailEnd type="triangle" w="lg" len="lg"/>
            </a:ln>
            <a:effectLst/>
          </p:spPr>
          <p:txBody>
            <a:bodyPr anchor="ctr"/>
            <a:lstStyle/>
            <a:p>
              <a:pPr eaLnBrk="1" hangingPunct="1">
                <a:defRPr/>
              </a:pPr>
              <a:endParaRPr lang="en-GB">
                <a:latin typeface="Arial" charset="0"/>
                <a:cs typeface="Arial" charset="0"/>
              </a:endParaRPr>
            </a:p>
          </p:txBody>
        </p:sp>
        <p:sp>
          <p:nvSpPr>
            <p:cNvPr id="64531" name="TextBox 27">
              <a:extLst>
                <a:ext uri="{FF2B5EF4-FFF2-40B4-BE49-F238E27FC236}">
                  <a16:creationId xmlns:a16="http://schemas.microsoft.com/office/drawing/2014/main" id="{866DEB08-EFD7-B9C7-5816-75DC6E7EBAF9}"/>
                </a:ext>
              </a:extLst>
            </p:cNvPr>
            <p:cNvSpPr txBox="1">
              <a:spLocks noChangeArrowheads="1"/>
            </p:cNvSpPr>
            <p:nvPr/>
          </p:nvSpPr>
          <p:spPr bwMode="auto">
            <a:xfrm>
              <a:off x="2628900" y="3556000"/>
              <a:ext cx="9271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0/(1,1)</a:t>
              </a:r>
              <a:endParaRPr lang="en-GB" altLang="en-US" sz="1800"/>
            </a:p>
          </p:txBody>
        </p:sp>
        <p:sp>
          <p:nvSpPr>
            <p:cNvPr id="64532" name="TextBox 39">
              <a:extLst>
                <a:ext uri="{FF2B5EF4-FFF2-40B4-BE49-F238E27FC236}">
                  <a16:creationId xmlns:a16="http://schemas.microsoft.com/office/drawing/2014/main" id="{97E86AE4-A37E-DB59-A21A-51A27AF44258}"/>
                </a:ext>
              </a:extLst>
            </p:cNvPr>
            <p:cNvSpPr txBox="1">
              <a:spLocks noChangeArrowheads="1"/>
            </p:cNvSpPr>
            <p:nvPr/>
          </p:nvSpPr>
          <p:spPr bwMode="auto">
            <a:xfrm>
              <a:off x="1041400" y="3187700"/>
              <a:ext cx="9271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1/(0,0)</a:t>
              </a:r>
              <a:endParaRPr lang="en-GB" altLang="en-US" sz="1800"/>
            </a:p>
          </p:txBody>
        </p:sp>
        <p:sp>
          <p:nvSpPr>
            <p:cNvPr id="29" name="Arc 28">
              <a:extLst>
                <a:ext uri="{FF2B5EF4-FFF2-40B4-BE49-F238E27FC236}">
                  <a16:creationId xmlns:a16="http://schemas.microsoft.com/office/drawing/2014/main" id="{F78BEF8E-6739-41A6-9F05-4965D380F267}"/>
                </a:ext>
              </a:extLst>
            </p:cNvPr>
            <p:cNvSpPr/>
            <p:nvPr/>
          </p:nvSpPr>
          <p:spPr bwMode="auto">
            <a:xfrm rot="8901730" flipV="1">
              <a:off x="2124210" y="2909855"/>
              <a:ext cx="2037016" cy="1028673"/>
            </a:xfrm>
            <a:prstGeom prst="arc">
              <a:avLst>
                <a:gd name="adj1" fmla="val 421726"/>
                <a:gd name="adj2" fmla="val 11134934"/>
              </a:avLst>
            </a:prstGeom>
            <a:noFill/>
            <a:ln w="9525" cap="flat" cmpd="sng" algn="ctr">
              <a:solidFill>
                <a:schemeClr val="tx1"/>
              </a:solidFill>
              <a:prstDash val="solid"/>
              <a:round/>
              <a:headEnd type="none" w="lg" len="lg"/>
              <a:tailEnd type="triangle" w="lg" len="lg"/>
            </a:ln>
            <a:effectLst/>
          </p:spPr>
          <p:txBody>
            <a:bodyPr anchor="ctr"/>
            <a:lstStyle/>
            <a:p>
              <a:pPr eaLnBrk="1" hangingPunct="1">
                <a:defRPr/>
              </a:pPr>
              <a:endParaRPr lang="en-GB">
                <a:latin typeface="Arial" charset="0"/>
                <a:cs typeface="Arial" charset="0"/>
              </a:endParaRPr>
            </a:p>
          </p:txBody>
        </p:sp>
        <p:sp>
          <p:nvSpPr>
            <p:cNvPr id="64534" name="TextBox 33">
              <a:extLst>
                <a:ext uri="{FF2B5EF4-FFF2-40B4-BE49-F238E27FC236}">
                  <a16:creationId xmlns:a16="http://schemas.microsoft.com/office/drawing/2014/main" id="{ED69927B-A8E2-3E8F-8181-989B44AE8E0C}"/>
                </a:ext>
              </a:extLst>
            </p:cNvPr>
            <p:cNvSpPr txBox="1">
              <a:spLocks noChangeArrowheads="1"/>
            </p:cNvSpPr>
            <p:nvPr/>
          </p:nvSpPr>
          <p:spPr bwMode="auto">
            <a:xfrm>
              <a:off x="4406900" y="3111500"/>
              <a:ext cx="9271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0/(1,1)</a:t>
              </a:r>
              <a:endParaRPr lang="en-GB" altLang="en-US" sz="1800"/>
            </a:p>
          </p:txBody>
        </p:sp>
        <p:sp>
          <p:nvSpPr>
            <p:cNvPr id="35" name="Arc 34">
              <a:extLst>
                <a:ext uri="{FF2B5EF4-FFF2-40B4-BE49-F238E27FC236}">
                  <a16:creationId xmlns:a16="http://schemas.microsoft.com/office/drawing/2014/main" id="{B3078964-AE03-4C92-B9FB-55851E779AE9}"/>
                </a:ext>
              </a:extLst>
            </p:cNvPr>
            <p:cNvSpPr/>
            <p:nvPr/>
          </p:nvSpPr>
          <p:spPr bwMode="auto">
            <a:xfrm>
              <a:off x="1790793" y="1879595"/>
              <a:ext cx="3797772" cy="774679"/>
            </a:xfrm>
            <a:prstGeom prst="arc">
              <a:avLst>
                <a:gd name="adj1" fmla="val 10773537"/>
                <a:gd name="adj2" fmla="val 21404217"/>
              </a:avLst>
            </a:prstGeom>
            <a:noFill/>
            <a:ln w="9525" cap="flat" cmpd="sng" algn="ctr">
              <a:solidFill>
                <a:schemeClr val="tx1"/>
              </a:solidFill>
              <a:prstDash val="solid"/>
              <a:round/>
              <a:headEnd type="triangle" w="lg" len="lg"/>
              <a:tailEnd type="none" w="lg" len="lg"/>
            </a:ln>
            <a:effectLst/>
          </p:spPr>
          <p:txBody>
            <a:bodyPr anchor="ctr"/>
            <a:lstStyle/>
            <a:p>
              <a:pPr eaLnBrk="1" hangingPunct="1">
                <a:defRPr/>
              </a:pPr>
              <a:endParaRPr lang="en-GB">
                <a:latin typeface="Arial" charset="0"/>
                <a:cs typeface="Arial" charset="0"/>
              </a:endParaRPr>
            </a:p>
          </p:txBody>
        </p:sp>
        <p:sp>
          <p:nvSpPr>
            <p:cNvPr id="64536" name="TextBox 37">
              <a:extLst>
                <a:ext uri="{FF2B5EF4-FFF2-40B4-BE49-F238E27FC236}">
                  <a16:creationId xmlns:a16="http://schemas.microsoft.com/office/drawing/2014/main" id="{BD5F6363-6619-BFD5-CB8D-589E89E0CB6F}"/>
                </a:ext>
              </a:extLst>
            </p:cNvPr>
            <p:cNvSpPr txBox="1">
              <a:spLocks noChangeArrowheads="1"/>
            </p:cNvSpPr>
            <p:nvPr/>
          </p:nvSpPr>
          <p:spPr bwMode="auto">
            <a:xfrm>
              <a:off x="3048000" y="1600200"/>
              <a:ext cx="9271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1/(0,0)</a:t>
              </a:r>
              <a:endParaRPr lang="en-GB" altLang="en-US" sz="1800"/>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Заголовок 2">
            <a:extLst>
              <a:ext uri="{FF2B5EF4-FFF2-40B4-BE49-F238E27FC236}">
                <a16:creationId xmlns:a16="http://schemas.microsoft.com/office/drawing/2014/main" id="{7DCDFF74-27AB-2011-0E94-395E0C8CD8F5}"/>
              </a:ext>
            </a:extLst>
          </p:cNvPr>
          <p:cNvSpPr>
            <a:spLocks noGrp="1" noChangeArrowheads="1"/>
          </p:cNvSpPr>
          <p:nvPr>
            <p:ph type="title"/>
          </p:nvPr>
        </p:nvSpPr>
        <p:spPr>
          <a:xfrm>
            <a:off x="-1" y="183402"/>
            <a:ext cx="11612880" cy="704088"/>
          </a:xfrm>
        </p:spPr>
        <p:txBody>
          <a:bodyPr>
            <a:normAutofit/>
          </a:bodyPr>
          <a:lstStyle/>
          <a:p>
            <a:r>
              <a:rPr lang="en-US" altLang="en-US" dirty="0"/>
              <a:t>Design of FSM</a:t>
            </a:r>
            <a:endParaRPr lang="ru-RU" altLang="en-US" dirty="0"/>
          </a:p>
        </p:txBody>
      </p:sp>
      <p:sp>
        <p:nvSpPr>
          <p:cNvPr id="65539" name="Объект 3">
            <a:extLst>
              <a:ext uri="{FF2B5EF4-FFF2-40B4-BE49-F238E27FC236}">
                <a16:creationId xmlns:a16="http://schemas.microsoft.com/office/drawing/2014/main" id="{C28BFD34-332F-3C0F-287F-454AEFED8B52}"/>
              </a:ext>
            </a:extLst>
          </p:cNvPr>
          <p:cNvSpPr>
            <a:spLocks noGrp="1" noChangeArrowheads="1"/>
          </p:cNvSpPr>
          <p:nvPr>
            <p:ph type="body" sz="quarter" idx="10"/>
          </p:nvPr>
        </p:nvSpPr>
        <p:spPr>
          <a:xfrm>
            <a:off x="457200" y="1188720"/>
            <a:ext cx="11277922" cy="5185186"/>
          </a:xfrm>
        </p:spPr>
        <p:txBody>
          <a:bodyPr/>
          <a:lstStyle/>
          <a:p>
            <a:r>
              <a:rPr lang="en-US" altLang="en-US"/>
              <a:t>Understand the problem</a:t>
            </a:r>
          </a:p>
          <a:p>
            <a:r>
              <a:rPr lang="en-US" altLang="en-US"/>
              <a:t>Create formal definition as state diagram or state table</a:t>
            </a:r>
          </a:p>
          <a:p>
            <a:r>
              <a:rPr lang="en-US" altLang="en-US"/>
              <a:t>Simplify the design by state minimization</a:t>
            </a:r>
          </a:p>
          <a:p>
            <a:r>
              <a:rPr lang="en-US" altLang="en-US"/>
              <a:t>Make structural synthesis.</a:t>
            </a:r>
            <a:endParaRPr lang="ru-RU" altLang="en-US"/>
          </a:p>
          <a:p>
            <a:endParaRPr lang="ru-RU"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803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ags/tag56.xml><?xml version="1.0" encoding="utf-8"?>
<p:tagLst xmlns:a="http://schemas.openxmlformats.org/drawingml/2006/main" xmlns:r="http://schemas.openxmlformats.org/officeDocument/2006/relationships" xmlns:p="http://schemas.openxmlformats.org/presentationml/2006/main">
  <p:tag name="SYNOPSYS-SHAPE" val="Y"/>
</p:tagLst>
</file>

<file path=ppt/tags/tag57.xml><?xml version="1.0" encoding="utf-8"?>
<p:tagLst xmlns:a="http://schemas.openxmlformats.org/drawingml/2006/main" xmlns:r="http://schemas.openxmlformats.org/officeDocument/2006/relationships" xmlns:p="http://schemas.openxmlformats.org/presentationml/2006/main">
  <p:tag name="SYNOPSYS-SHAPE" val="Y"/>
</p:tagLst>
</file>

<file path=ppt/tags/tag58.xml><?xml version="1.0" encoding="utf-8"?>
<p:tagLst xmlns:a="http://schemas.openxmlformats.org/drawingml/2006/main" xmlns:r="http://schemas.openxmlformats.org/officeDocument/2006/relationships" xmlns:p="http://schemas.openxmlformats.org/presentationml/2006/main">
  <p:tag name="SYNOPSYS-SHAPE" val="Y"/>
</p:tagLst>
</file>

<file path=ppt/tags/tag59.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11BE162-346D-48E0-9B29-CB08309D4C2E}">
  <ds:schemaRefs>
    <ds:schemaRef ds:uri="9d6f540b-f5ab-4529-997d-b1c359473666"/>
    <ds:schemaRef ds:uri="c4e338ac-e2c9-4a09-90bc-aa78cddd6f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B5A6964-B842-4343-98F0-22A6DEF09411}">
  <ds:schemaRefs>
    <ds:schemaRef ds:uri="http://schemas.microsoft.com/sharepoint/v3/contenttype/forms"/>
  </ds:schemaRefs>
</ds:datastoreItem>
</file>

<file path=customXml/itemProps3.xml><?xml version="1.0" encoding="utf-8"?>
<ds:datastoreItem xmlns:ds="http://schemas.openxmlformats.org/officeDocument/2006/customXml" ds:itemID="{FB2DC2BB-B596-4C3A-A9DC-0B51540F8820}">
  <ds:schemaRefs>
    <ds:schemaRef ds:uri="9d6f540b-f5ab-4529-997d-b1c359473666"/>
    <ds:schemaRef ds:uri="c4e338ac-e2c9-4a09-90bc-aa78cddd6f1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c33c9f88-1eb7-4099-9700-16013fd9e8aa}" enabled="0" method="" siteId="{c33c9f88-1eb7-4099-9700-16013fd9e8aa}" removed="1"/>
</clbl:labelList>
</file>

<file path=docProps/app.xml><?xml version="1.0" encoding="utf-8"?>
<Properties xmlns="http://schemas.openxmlformats.org/officeDocument/2006/extended-properties" xmlns:vt="http://schemas.openxmlformats.org/officeDocument/2006/docPropsVTypes">
  <Template/>
  <TotalTime>397</TotalTime>
  <Words>3489</Words>
  <Application>Microsoft Office PowerPoint</Application>
  <PresentationFormat>Widescreen</PresentationFormat>
  <Paragraphs>757</Paragraphs>
  <Slides>39</Slides>
  <Notes>19</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39</vt:i4>
      </vt:variant>
    </vt:vector>
  </HeadingPairs>
  <TitlesOfParts>
    <vt:vector size="48" baseType="lpstr">
      <vt:lpstr>.Lucida Grande UI Regular</vt:lpstr>
      <vt:lpstr>Arial</vt:lpstr>
      <vt:lpstr>Calibri</vt:lpstr>
      <vt:lpstr>Calibri Light</vt:lpstr>
      <vt:lpstr>System Font Regular</vt:lpstr>
      <vt:lpstr>Times New Roman</vt:lpstr>
      <vt:lpstr>Wingdings</vt:lpstr>
      <vt:lpstr>2_Synopsys_2019</vt:lpstr>
      <vt:lpstr>Custom Design</vt:lpstr>
      <vt:lpstr>Logic Design</vt:lpstr>
      <vt:lpstr>Course Overview</vt:lpstr>
      <vt:lpstr>Finite States Machines (FSM)</vt:lpstr>
      <vt:lpstr>Concepts of Abstract Automata </vt:lpstr>
      <vt:lpstr>Concepts of Abstract Automata (2)</vt:lpstr>
      <vt:lpstr>Concepts of Abstract Automata (3)</vt:lpstr>
      <vt:lpstr>Concepts of Abstract Automata (4)</vt:lpstr>
      <vt:lpstr>Serial Adder (Moore   FSM)</vt:lpstr>
      <vt:lpstr>Representation of FSM (2)</vt:lpstr>
      <vt:lpstr>Representation of FSM </vt:lpstr>
      <vt:lpstr>Representation of FSM. State Transition Graph (STG)</vt:lpstr>
      <vt:lpstr>Moore FSM</vt:lpstr>
      <vt:lpstr>Examples of FSM</vt:lpstr>
      <vt:lpstr>Example</vt:lpstr>
      <vt:lpstr>Example (2)</vt:lpstr>
      <vt:lpstr>Extended Transition and Output Functions</vt:lpstr>
      <vt:lpstr>Incompletely specified FSM</vt:lpstr>
      <vt:lpstr>Non-Determinate FSM</vt:lpstr>
      <vt:lpstr>Reaction and Equivalence of FSM</vt:lpstr>
      <vt:lpstr>Direct Product of FSM</vt:lpstr>
      <vt:lpstr>Product of FSM</vt:lpstr>
      <vt:lpstr>Equivalence of FSM  (Production of FSM)</vt:lpstr>
      <vt:lpstr>Example</vt:lpstr>
      <vt:lpstr>Direct production of  FSM: AxB</vt:lpstr>
      <vt:lpstr>FSM Equivalence Checking (Product of FSMs)</vt:lpstr>
      <vt:lpstr>Interrelation between Mealy and Moore Models</vt:lpstr>
      <vt:lpstr>Transformation of Moore FSM to Mealy FSM</vt:lpstr>
      <vt:lpstr>Transformation of Mealy FSM to Moore FSM</vt:lpstr>
      <vt:lpstr>Example</vt:lpstr>
      <vt:lpstr>Reaction of FSM</vt:lpstr>
      <vt:lpstr>State Minimization: Completely Specified Machine</vt:lpstr>
      <vt:lpstr>State Minimization</vt:lpstr>
      <vt:lpstr>Example</vt:lpstr>
      <vt:lpstr>Example (2)</vt:lpstr>
      <vt:lpstr>Example (3)</vt:lpstr>
      <vt:lpstr>Equivalence  Checking</vt:lpstr>
      <vt:lpstr>Production of FSM</vt:lpstr>
      <vt:lpstr>Design of FSM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Margarit Meroyan</cp:lastModifiedBy>
  <cp:revision>3</cp:revision>
  <dcterms:created xsi:type="dcterms:W3CDTF">2020-07-20T16:18:49Z</dcterms:created>
  <dcterms:modified xsi:type="dcterms:W3CDTF">2023-12-27T09:33:46Z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