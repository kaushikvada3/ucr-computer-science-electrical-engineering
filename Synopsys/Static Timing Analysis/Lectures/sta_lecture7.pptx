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Lst>
  <p:notesMasterIdLst>
    <p:notesMasterId r:id="rId32"/>
  </p:notesMasterIdLst>
  <p:handoutMasterIdLst>
    <p:handoutMasterId r:id="rId33"/>
  </p:handoutMasterIdLst>
  <p:sldIdLst>
    <p:sldId id="4743" r:id="rId5"/>
    <p:sldId id="4785" r:id="rId6"/>
    <p:sldId id="367" r:id="rId7"/>
    <p:sldId id="331" r:id="rId8"/>
    <p:sldId id="346" r:id="rId9"/>
    <p:sldId id="362" r:id="rId10"/>
    <p:sldId id="363" r:id="rId11"/>
    <p:sldId id="335" r:id="rId12"/>
    <p:sldId id="364" r:id="rId13"/>
    <p:sldId id="336" r:id="rId14"/>
    <p:sldId id="337" r:id="rId15"/>
    <p:sldId id="338" r:id="rId16"/>
    <p:sldId id="341" r:id="rId17"/>
    <p:sldId id="342" r:id="rId18"/>
    <p:sldId id="343" r:id="rId19"/>
    <p:sldId id="344" r:id="rId20"/>
    <p:sldId id="345" r:id="rId21"/>
    <p:sldId id="347" r:id="rId22"/>
    <p:sldId id="356" r:id="rId23"/>
    <p:sldId id="355" r:id="rId24"/>
    <p:sldId id="353" r:id="rId25"/>
    <p:sldId id="352" r:id="rId26"/>
    <p:sldId id="357" r:id="rId27"/>
    <p:sldId id="351" r:id="rId28"/>
    <p:sldId id="348" r:id="rId29"/>
    <p:sldId id="359" r:id="rId30"/>
    <p:sldId id="4788" r:id="rId31"/>
  </p:sldIdLst>
  <p:sldSz cx="12192000" cy="6858000"/>
  <p:notesSz cx="7315200" cy="96012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4785"/>
            <p14:sldId id="367"/>
            <p14:sldId id="331"/>
            <p14:sldId id="346"/>
            <p14:sldId id="362"/>
            <p14:sldId id="363"/>
            <p14:sldId id="335"/>
            <p14:sldId id="364"/>
            <p14:sldId id="336"/>
            <p14:sldId id="337"/>
            <p14:sldId id="338"/>
            <p14:sldId id="341"/>
            <p14:sldId id="342"/>
            <p14:sldId id="343"/>
            <p14:sldId id="344"/>
            <p14:sldId id="345"/>
            <p14:sldId id="347"/>
            <p14:sldId id="356"/>
            <p14:sldId id="355"/>
            <p14:sldId id="353"/>
            <p14:sldId id="352"/>
            <p14:sldId id="357"/>
            <p14:sldId id="351"/>
            <p14:sldId id="348"/>
            <p14:sldId id="359"/>
            <p14:sldId id="478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FF"/>
    <a:srgbClr val="D723BD"/>
    <a:srgbClr val="C1C6CC"/>
    <a:srgbClr val="5A84FF"/>
    <a:srgbClr val="BDBDBD"/>
    <a:srgbClr val="5858FF"/>
    <a:srgbClr val="BBCDEC"/>
    <a:srgbClr val="000066"/>
    <a:srgbClr val="FFFFFF"/>
    <a:srgbClr val="95D6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6F9F7C-0156-498A-8E92-8BB53ADA53FF}" v="4" dt="2025-07-31T12:32:14.7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4" autoAdjust="0"/>
    <p:restoredTop sz="92009" autoAdjust="0"/>
  </p:normalViewPr>
  <p:slideViewPr>
    <p:cSldViewPr snapToGrid="0">
      <p:cViewPr varScale="1">
        <p:scale>
          <a:sx n="107" d="100"/>
          <a:sy n="107" d="100"/>
        </p:scale>
        <p:origin x="528" y="84"/>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e Lazaryan" userId="edf0a458-438d-4fc2-9f33-24202edc9cc9" providerId="ADAL" clId="{206F9F7C-0156-498A-8E92-8BB53ADA53FF}"/>
    <pc:docChg chg="undo custSel modSld">
      <pc:chgData name="Nane Lazaryan" userId="edf0a458-438d-4fc2-9f33-24202edc9cc9" providerId="ADAL" clId="{206F9F7C-0156-498A-8E92-8BB53ADA53FF}" dt="2025-07-31T12:32:27.858" v="20" actId="404"/>
      <pc:docMkLst>
        <pc:docMk/>
      </pc:docMkLst>
      <pc:sldChg chg="modSp mod">
        <pc:chgData name="Nane Lazaryan" userId="edf0a458-438d-4fc2-9f33-24202edc9cc9" providerId="ADAL" clId="{206F9F7C-0156-498A-8E92-8BB53ADA53FF}" dt="2025-07-31T12:31:50.627" v="2" actId="1076"/>
        <pc:sldMkLst>
          <pc:docMk/>
          <pc:sldMk cId="0" sldId="342"/>
        </pc:sldMkLst>
        <pc:spChg chg="mod">
          <ac:chgData name="Nane Lazaryan" userId="edf0a458-438d-4fc2-9f33-24202edc9cc9" providerId="ADAL" clId="{206F9F7C-0156-498A-8E92-8BB53ADA53FF}" dt="2025-07-31T12:31:50.627" v="2" actId="1076"/>
          <ac:spMkLst>
            <pc:docMk/>
            <pc:sldMk cId="0" sldId="342"/>
            <ac:spMk id="12" creationId="{62E7012C-AA0A-49A8-8430-E390822F2F15}"/>
          </ac:spMkLst>
        </pc:spChg>
        <pc:spChg chg="mod">
          <ac:chgData name="Nane Lazaryan" userId="edf0a458-438d-4fc2-9f33-24202edc9cc9" providerId="ADAL" clId="{206F9F7C-0156-498A-8E92-8BB53ADA53FF}" dt="2025-07-31T12:31:50.627" v="2" actId="1076"/>
          <ac:spMkLst>
            <pc:docMk/>
            <pc:sldMk cId="0" sldId="342"/>
            <ac:spMk id="18" creationId="{217EF559-E702-4725-A5B3-DE56FEC81130}"/>
          </ac:spMkLst>
        </pc:spChg>
        <pc:spChg chg="mod">
          <ac:chgData name="Nane Lazaryan" userId="edf0a458-438d-4fc2-9f33-24202edc9cc9" providerId="ADAL" clId="{206F9F7C-0156-498A-8E92-8BB53ADA53FF}" dt="2025-07-31T12:31:50.627" v="2" actId="1076"/>
          <ac:spMkLst>
            <pc:docMk/>
            <pc:sldMk cId="0" sldId="342"/>
            <ac:spMk id="31" creationId="{3249D08A-AFF4-4F2F-8220-708195F47C2B}"/>
          </ac:spMkLst>
        </pc:spChg>
        <pc:spChg chg="mod">
          <ac:chgData name="Nane Lazaryan" userId="edf0a458-438d-4fc2-9f33-24202edc9cc9" providerId="ADAL" clId="{206F9F7C-0156-498A-8E92-8BB53ADA53FF}" dt="2025-07-31T12:31:50.627" v="2" actId="1076"/>
          <ac:spMkLst>
            <pc:docMk/>
            <pc:sldMk cId="0" sldId="342"/>
            <ac:spMk id="34" creationId="{3ACB83CC-B97C-4BFD-B50D-6EB3E516CC99}"/>
          </ac:spMkLst>
        </pc:spChg>
        <pc:spChg chg="mod">
          <ac:chgData name="Nane Lazaryan" userId="edf0a458-438d-4fc2-9f33-24202edc9cc9" providerId="ADAL" clId="{206F9F7C-0156-498A-8E92-8BB53ADA53FF}" dt="2025-07-31T12:31:46.389" v="1" actId="1076"/>
          <ac:spMkLst>
            <pc:docMk/>
            <pc:sldMk cId="0" sldId="342"/>
            <ac:spMk id="22531" creationId="{9F8CDE1D-08D7-4EB3-BD51-A37E77B3053C}"/>
          </ac:spMkLst>
        </pc:spChg>
        <pc:spChg chg="mod">
          <ac:chgData name="Nane Lazaryan" userId="edf0a458-438d-4fc2-9f33-24202edc9cc9" providerId="ADAL" clId="{206F9F7C-0156-498A-8E92-8BB53ADA53FF}" dt="2025-07-31T12:31:50.627" v="2" actId="1076"/>
          <ac:spMkLst>
            <pc:docMk/>
            <pc:sldMk cId="0" sldId="342"/>
            <ac:spMk id="22532" creationId="{F7BDFC4E-45A5-461A-8274-CF113DAB81AB}"/>
          </ac:spMkLst>
        </pc:spChg>
        <pc:spChg chg="mod">
          <ac:chgData name="Nane Lazaryan" userId="edf0a458-438d-4fc2-9f33-24202edc9cc9" providerId="ADAL" clId="{206F9F7C-0156-498A-8E92-8BB53ADA53FF}" dt="2025-07-31T12:31:50.627" v="2" actId="1076"/>
          <ac:spMkLst>
            <pc:docMk/>
            <pc:sldMk cId="0" sldId="342"/>
            <ac:spMk id="22545" creationId="{40809223-D756-4166-BD27-7E46B31BC929}"/>
          </ac:spMkLst>
        </pc:spChg>
        <pc:spChg chg="mod">
          <ac:chgData name="Nane Lazaryan" userId="edf0a458-438d-4fc2-9f33-24202edc9cc9" providerId="ADAL" clId="{206F9F7C-0156-498A-8E92-8BB53ADA53FF}" dt="2025-07-31T12:31:50.627" v="2" actId="1076"/>
          <ac:spMkLst>
            <pc:docMk/>
            <pc:sldMk cId="0" sldId="342"/>
            <ac:spMk id="22555" creationId="{6821404A-5CCE-4F3B-9601-DB66722ADEA3}"/>
          </ac:spMkLst>
        </pc:spChg>
        <pc:spChg chg="mod">
          <ac:chgData name="Nane Lazaryan" userId="edf0a458-438d-4fc2-9f33-24202edc9cc9" providerId="ADAL" clId="{206F9F7C-0156-498A-8E92-8BB53ADA53FF}" dt="2025-07-31T12:31:50.627" v="2" actId="1076"/>
          <ac:spMkLst>
            <pc:docMk/>
            <pc:sldMk cId="0" sldId="342"/>
            <ac:spMk id="22556" creationId="{7275C141-EFD2-4A8E-88A5-A68C8C41D4A6}"/>
          </ac:spMkLst>
        </pc:spChg>
        <pc:spChg chg="mod">
          <ac:chgData name="Nane Lazaryan" userId="edf0a458-438d-4fc2-9f33-24202edc9cc9" providerId="ADAL" clId="{206F9F7C-0156-498A-8E92-8BB53ADA53FF}" dt="2025-07-31T12:31:50.627" v="2" actId="1076"/>
          <ac:spMkLst>
            <pc:docMk/>
            <pc:sldMk cId="0" sldId="342"/>
            <ac:spMk id="22558" creationId="{0A870B3B-409F-44A5-8256-0FF639AA4DCF}"/>
          </ac:spMkLst>
        </pc:spChg>
        <pc:spChg chg="mod">
          <ac:chgData name="Nane Lazaryan" userId="edf0a458-438d-4fc2-9f33-24202edc9cc9" providerId="ADAL" clId="{206F9F7C-0156-498A-8E92-8BB53ADA53FF}" dt="2025-07-31T12:31:50.627" v="2" actId="1076"/>
          <ac:spMkLst>
            <pc:docMk/>
            <pc:sldMk cId="0" sldId="342"/>
            <ac:spMk id="22559" creationId="{3FF88452-8FA9-4DBA-914C-4C0063D04FFA}"/>
          </ac:spMkLst>
        </pc:spChg>
      </pc:sldChg>
      <pc:sldChg chg="modSp mod">
        <pc:chgData name="Nane Lazaryan" userId="edf0a458-438d-4fc2-9f33-24202edc9cc9" providerId="ADAL" clId="{206F9F7C-0156-498A-8E92-8BB53ADA53FF}" dt="2025-07-31T12:32:27.858" v="20" actId="404"/>
        <pc:sldMkLst>
          <pc:docMk/>
          <pc:sldMk cId="0" sldId="351"/>
        </pc:sldMkLst>
        <pc:spChg chg="mod">
          <ac:chgData name="Nane Lazaryan" userId="edf0a458-438d-4fc2-9f33-24202edc9cc9" providerId="ADAL" clId="{206F9F7C-0156-498A-8E92-8BB53ADA53FF}" dt="2025-07-31T12:32:27.858" v="20" actId="404"/>
          <ac:spMkLst>
            <pc:docMk/>
            <pc:sldMk cId="0" sldId="351"/>
            <ac:spMk id="32771" creationId="{ACF679E7-A78C-417A-9418-7093C130D140}"/>
          </ac:spMkLst>
        </pc:spChg>
      </pc:sldChg>
      <pc:sldChg chg="modSp">
        <pc:chgData name="Nane Lazaryan" userId="edf0a458-438d-4fc2-9f33-24202edc9cc9" providerId="ADAL" clId="{206F9F7C-0156-498A-8E92-8BB53ADA53FF}" dt="2025-07-31T12:32:14.783" v="5" actId="1076"/>
        <pc:sldMkLst>
          <pc:docMk/>
          <pc:sldMk cId="0" sldId="352"/>
        </pc:sldMkLst>
        <pc:spChg chg="mod">
          <ac:chgData name="Nane Lazaryan" userId="edf0a458-438d-4fc2-9f33-24202edc9cc9" providerId="ADAL" clId="{206F9F7C-0156-498A-8E92-8BB53ADA53FF}" dt="2025-07-31T12:32:14.783" v="5" actId="1076"/>
          <ac:spMkLst>
            <pc:docMk/>
            <pc:sldMk cId="0" sldId="352"/>
            <ac:spMk id="33" creationId="{40B4B613-5335-4696-8A28-B0508C73ECDB}"/>
          </ac:spMkLst>
        </pc:spChg>
        <pc:spChg chg="mod">
          <ac:chgData name="Nane Lazaryan" userId="edf0a458-438d-4fc2-9f33-24202edc9cc9" providerId="ADAL" clId="{206F9F7C-0156-498A-8E92-8BB53ADA53FF}" dt="2025-07-31T12:32:14.783" v="5" actId="1076"/>
          <ac:spMkLst>
            <pc:docMk/>
            <pc:sldMk cId="0" sldId="352"/>
            <ac:spMk id="45" creationId="{89AD6909-EDD1-4361-959D-41BFE09D4E03}"/>
          </ac:spMkLst>
        </pc:spChg>
        <pc:spChg chg="mod">
          <ac:chgData name="Nane Lazaryan" userId="edf0a458-438d-4fc2-9f33-24202edc9cc9" providerId="ADAL" clId="{206F9F7C-0156-498A-8E92-8BB53ADA53FF}" dt="2025-07-31T12:32:14.783" v="5" actId="1076"/>
          <ac:spMkLst>
            <pc:docMk/>
            <pc:sldMk cId="0" sldId="352"/>
            <ac:spMk id="49" creationId="{057CCBD4-45DF-42E6-8181-AE521A611CDF}"/>
          </ac:spMkLst>
        </pc:spChg>
        <pc:spChg chg="mod">
          <ac:chgData name="Nane Lazaryan" userId="edf0a458-438d-4fc2-9f33-24202edc9cc9" providerId="ADAL" clId="{206F9F7C-0156-498A-8E92-8BB53ADA53FF}" dt="2025-07-31T12:32:14.783" v="5" actId="1076"/>
          <ac:spMkLst>
            <pc:docMk/>
            <pc:sldMk cId="0" sldId="352"/>
            <ac:spMk id="30726" creationId="{23FFF098-3EC3-4690-B14F-112985C7EF9E}"/>
          </ac:spMkLst>
        </pc:spChg>
        <pc:spChg chg="mod">
          <ac:chgData name="Nane Lazaryan" userId="edf0a458-438d-4fc2-9f33-24202edc9cc9" providerId="ADAL" clId="{206F9F7C-0156-498A-8E92-8BB53ADA53FF}" dt="2025-07-31T12:32:14.783" v="5" actId="1076"/>
          <ac:spMkLst>
            <pc:docMk/>
            <pc:sldMk cId="0" sldId="352"/>
            <ac:spMk id="30730" creationId="{C2926718-1161-4980-ACD0-72B00628951E}"/>
          </ac:spMkLst>
        </pc:spChg>
        <pc:spChg chg="mod">
          <ac:chgData name="Nane Lazaryan" userId="edf0a458-438d-4fc2-9f33-24202edc9cc9" providerId="ADAL" clId="{206F9F7C-0156-498A-8E92-8BB53ADA53FF}" dt="2025-07-31T12:32:14.783" v="5" actId="1076"/>
          <ac:spMkLst>
            <pc:docMk/>
            <pc:sldMk cId="0" sldId="352"/>
            <ac:spMk id="30739" creationId="{22E5213D-2A31-467F-891A-1294A9E91CBC}"/>
          </ac:spMkLst>
        </pc:spChg>
        <pc:spChg chg="mod">
          <ac:chgData name="Nane Lazaryan" userId="edf0a458-438d-4fc2-9f33-24202edc9cc9" providerId="ADAL" clId="{206F9F7C-0156-498A-8E92-8BB53ADA53FF}" dt="2025-07-31T12:32:14.783" v="5" actId="1076"/>
          <ac:spMkLst>
            <pc:docMk/>
            <pc:sldMk cId="0" sldId="352"/>
            <ac:spMk id="30746" creationId="{1F87E21B-8C3B-49D3-A475-3084A55D78FE}"/>
          </ac:spMkLst>
        </pc:spChg>
        <pc:spChg chg="mod">
          <ac:chgData name="Nane Lazaryan" userId="edf0a458-438d-4fc2-9f33-24202edc9cc9" providerId="ADAL" clId="{206F9F7C-0156-498A-8E92-8BB53ADA53FF}" dt="2025-07-31T12:32:14.783" v="5" actId="1076"/>
          <ac:spMkLst>
            <pc:docMk/>
            <pc:sldMk cId="0" sldId="352"/>
            <ac:spMk id="30747" creationId="{F4C77AC2-12E9-48BD-93D3-E9E6AA449DD5}"/>
          </ac:spMkLst>
        </pc:spChg>
        <pc:spChg chg="mod">
          <ac:chgData name="Nane Lazaryan" userId="edf0a458-438d-4fc2-9f33-24202edc9cc9" providerId="ADAL" clId="{206F9F7C-0156-498A-8E92-8BB53ADA53FF}" dt="2025-07-31T12:32:14.783" v="5" actId="1076"/>
          <ac:spMkLst>
            <pc:docMk/>
            <pc:sldMk cId="0" sldId="352"/>
            <ac:spMk id="30755" creationId="{4B189A44-2FC3-43F0-8C5E-FE7527FD00B2}"/>
          </ac:spMkLst>
        </pc:spChg>
        <pc:spChg chg="mod">
          <ac:chgData name="Nane Lazaryan" userId="edf0a458-438d-4fc2-9f33-24202edc9cc9" providerId="ADAL" clId="{206F9F7C-0156-498A-8E92-8BB53ADA53FF}" dt="2025-07-31T12:32:14.783" v="5" actId="1076"/>
          <ac:spMkLst>
            <pc:docMk/>
            <pc:sldMk cId="0" sldId="352"/>
            <ac:spMk id="30756" creationId="{2D1056A1-99C4-40A0-9B4B-4E6B26AA46A2}"/>
          </ac:spMkLst>
        </pc:spChg>
      </pc:sldChg>
      <pc:sldChg chg="modSp">
        <pc:chgData name="Nane Lazaryan" userId="edf0a458-438d-4fc2-9f33-24202edc9cc9" providerId="ADAL" clId="{206F9F7C-0156-498A-8E92-8BB53ADA53FF}" dt="2025-07-31T12:32:08.695" v="4" actId="1076"/>
        <pc:sldMkLst>
          <pc:docMk/>
          <pc:sldMk cId="0" sldId="353"/>
        </pc:sldMkLst>
        <pc:spChg chg="mod">
          <ac:chgData name="Nane Lazaryan" userId="edf0a458-438d-4fc2-9f33-24202edc9cc9" providerId="ADAL" clId="{206F9F7C-0156-498A-8E92-8BB53ADA53FF}" dt="2025-07-31T12:32:08.695" v="4" actId="1076"/>
          <ac:spMkLst>
            <pc:docMk/>
            <pc:sldMk cId="0" sldId="353"/>
            <ac:spMk id="29703" creationId="{C7387622-221E-4071-AA51-C9821FAA5D06}"/>
          </ac:spMkLst>
        </pc:spChg>
        <pc:spChg chg="mod">
          <ac:chgData name="Nane Lazaryan" userId="edf0a458-438d-4fc2-9f33-24202edc9cc9" providerId="ADAL" clId="{206F9F7C-0156-498A-8E92-8BB53ADA53FF}" dt="2025-07-31T12:32:08.695" v="4" actId="1076"/>
          <ac:spMkLst>
            <pc:docMk/>
            <pc:sldMk cId="0" sldId="353"/>
            <ac:spMk id="29704" creationId="{26F5CBEA-1FF5-4866-B320-3773A5002F88}"/>
          </ac:spMkLst>
        </pc:spChg>
        <pc:spChg chg="mod">
          <ac:chgData name="Nane Lazaryan" userId="edf0a458-438d-4fc2-9f33-24202edc9cc9" providerId="ADAL" clId="{206F9F7C-0156-498A-8E92-8BB53ADA53FF}" dt="2025-07-31T12:32:08.695" v="4" actId="1076"/>
          <ac:spMkLst>
            <pc:docMk/>
            <pc:sldMk cId="0" sldId="353"/>
            <ac:spMk id="29709" creationId="{777D75B7-1A1E-4A6A-A315-F3C3585FB609}"/>
          </ac:spMkLst>
        </pc:spChg>
        <pc:spChg chg="mod">
          <ac:chgData name="Nane Lazaryan" userId="edf0a458-438d-4fc2-9f33-24202edc9cc9" providerId="ADAL" clId="{206F9F7C-0156-498A-8E92-8BB53ADA53FF}" dt="2025-07-31T12:32:08.695" v="4" actId="1076"/>
          <ac:spMkLst>
            <pc:docMk/>
            <pc:sldMk cId="0" sldId="353"/>
            <ac:spMk id="29719" creationId="{120E5489-D813-4FD1-AB0B-BA93FDD317A6}"/>
          </ac:spMkLst>
        </pc:spChg>
        <pc:spChg chg="mod">
          <ac:chgData name="Nane Lazaryan" userId="edf0a458-438d-4fc2-9f33-24202edc9cc9" providerId="ADAL" clId="{206F9F7C-0156-498A-8E92-8BB53ADA53FF}" dt="2025-07-31T12:32:08.695" v="4" actId="1076"/>
          <ac:spMkLst>
            <pc:docMk/>
            <pc:sldMk cId="0" sldId="353"/>
            <ac:spMk id="29722" creationId="{2583C0AF-7704-4892-8F06-61920000320B}"/>
          </ac:spMkLst>
        </pc:spChg>
        <pc:spChg chg="mod">
          <ac:chgData name="Nane Lazaryan" userId="edf0a458-438d-4fc2-9f33-24202edc9cc9" providerId="ADAL" clId="{206F9F7C-0156-498A-8E92-8BB53ADA53FF}" dt="2025-07-31T12:32:08.695" v="4" actId="1076"/>
          <ac:spMkLst>
            <pc:docMk/>
            <pc:sldMk cId="0" sldId="353"/>
            <ac:spMk id="29726" creationId="{59E877B2-2737-4254-B49F-9F16BCE974B1}"/>
          </ac:spMkLst>
        </pc:spChg>
        <pc:spChg chg="mod">
          <ac:chgData name="Nane Lazaryan" userId="edf0a458-438d-4fc2-9f33-24202edc9cc9" providerId="ADAL" clId="{206F9F7C-0156-498A-8E92-8BB53ADA53FF}" dt="2025-07-31T12:32:08.695" v="4" actId="1076"/>
          <ac:spMkLst>
            <pc:docMk/>
            <pc:sldMk cId="0" sldId="353"/>
            <ac:spMk id="29728" creationId="{9E479D25-9579-4035-8E65-20ED5FA72B26}"/>
          </ac:spMkLst>
        </pc:spChg>
        <pc:spChg chg="mod">
          <ac:chgData name="Nane Lazaryan" userId="edf0a458-438d-4fc2-9f33-24202edc9cc9" providerId="ADAL" clId="{206F9F7C-0156-498A-8E92-8BB53ADA53FF}" dt="2025-07-31T12:32:08.695" v="4" actId="1076"/>
          <ac:spMkLst>
            <pc:docMk/>
            <pc:sldMk cId="0" sldId="353"/>
            <ac:spMk id="29738" creationId="{3B453123-175D-4404-8E22-49ACB28E423E}"/>
          </ac:spMkLst>
        </pc:spChg>
        <pc:spChg chg="mod">
          <ac:chgData name="Nane Lazaryan" userId="edf0a458-438d-4fc2-9f33-24202edc9cc9" providerId="ADAL" clId="{206F9F7C-0156-498A-8E92-8BB53ADA53FF}" dt="2025-07-31T12:32:08.695" v="4" actId="1076"/>
          <ac:spMkLst>
            <pc:docMk/>
            <pc:sldMk cId="0" sldId="353"/>
            <ac:spMk id="29739" creationId="{0198FA8A-5762-4748-897D-CDC02FD23549}"/>
          </ac:spMkLst>
        </pc:spChg>
        <pc:spChg chg="mod">
          <ac:chgData name="Nane Lazaryan" userId="edf0a458-438d-4fc2-9f33-24202edc9cc9" providerId="ADAL" clId="{206F9F7C-0156-498A-8E92-8BB53ADA53FF}" dt="2025-07-31T12:32:08.695" v="4" actId="1076"/>
          <ac:spMkLst>
            <pc:docMk/>
            <pc:sldMk cId="0" sldId="353"/>
            <ac:spMk id="29746" creationId="{989A589C-DC76-41D5-A8FC-72CBD5A16438}"/>
          </ac:spMkLst>
        </pc:spChg>
      </pc:sldChg>
      <pc:sldChg chg="modSp">
        <pc:chgData name="Nane Lazaryan" userId="edf0a458-438d-4fc2-9f33-24202edc9cc9" providerId="ADAL" clId="{206F9F7C-0156-498A-8E92-8BB53ADA53FF}" dt="2025-07-31T12:32:00.665" v="3" actId="1076"/>
        <pc:sldMkLst>
          <pc:docMk/>
          <pc:sldMk cId="0" sldId="356"/>
        </pc:sldMkLst>
        <pc:spChg chg="mod">
          <ac:chgData name="Nane Lazaryan" userId="edf0a458-438d-4fc2-9f33-24202edc9cc9" providerId="ADAL" clId="{206F9F7C-0156-498A-8E92-8BB53ADA53FF}" dt="2025-07-31T12:32:00.665" v="3" actId="1076"/>
          <ac:spMkLst>
            <pc:docMk/>
            <pc:sldMk cId="0" sldId="356"/>
            <ac:spMk id="25" creationId="{100F2167-9F34-489B-850A-969D0D0E92DE}"/>
          </ac:spMkLst>
        </pc:spChg>
        <pc:spChg chg="mod">
          <ac:chgData name="Nane Lazaryan" userId="edf0a458-438d-4fc2-9f33-24202edc9cc9" providerId="ADAL" clId="{206F9F7C-0156-498A-8E92-8BB53ADA53FF}" dt="2025-07-31T12:32:00.665" v="3" actId="1076"/>
          <ac:spMkLst>
            <pc:docMk/>
            <pc:sldMk cId="0" sldId="356"/>
            <ac:spMk id="26" creationId="{47EC4A74-567E-491B-A4F8-65F1F7FB6F9C}"/>
          </ac:spMkLst>
        </pc:spChg>
        <pc:spChg chg="mod">
          <ac:chgData name="Nane Lazaryan" userId="edf0a458-438d-4fc2-9f33-24202edc9cc9" providerId="ADAL" clId="{206F9F7C-0156-498A-8E92-8BB53ADA53FF}" dt="2025-07-31T12:32:00.665" v="3" actId="1076"/>
          <ac:spMkLst>
            <pc:docMk/>
            <pc:sldMk cId="0" sldId="356"/>
            <ac:spMk id="27654" creationId="{F654689E-5E8C-4BC4-A597-B12F241D37C6}"/>
          </ac:spMkLst>
        </pc:spChg>
        <pc:spChg chg="mod">
          <ac:chgData name="Nane Lazaryan" userId="edf0a458-438d-4fc2-9f33-24202edc9cc9" providerId="ADAL" clId="{206F9F7C-0156-498A-8E92-8BB53ADA53FF}" dt="2025-07-31T12:32:00.665" v="3" actId="1076"/>
          <ac:spMkLst>
            <pc:docMk/>
            <pc:sldMk cId="0" sldId="356"/>
            <ac:spMk id="27656" creationId="{1FBF36AE-C016-410B-9E58-3145F22F1CB1}"/>
          </ac:spMkLst>
        </pc:spChg>
        <pc:spChg chg="mod">
          <ac:chgData name="Nane Lazaryan" userId="edf0a458-438d-4fc2-9f33-24202edc9cc9" providerId="ADAL" clId="{206F9F7C-0156-498A-8E92-8BB53ADA53FF}" dt="2025-07-31T12:32:00.665" v="3" actId="1076"/>
          <ac:spMkLst>
            <pc:docMk/>
            <pc:sldMk cId="0" sldId="356"/>
            <ac:spMk id="27658" creationId="{10B30258-18A4-48F1-A966-037A21A7DD2D}"/>
          </ac:spMkLst>
        </pc:spChg>
        <pc:spChg chg="mod">
          <ac:chgData name="Nane Lazaryan" userId="edf0a458-438d-4fc2-9f33-24202edc9cc9" providerId="ADAL" clId="{206F9F7C-0156-498A-8E92-8BB53ADA53FF}" dt="2025-07-31T12:32:00.665" v="3" actId="1076"/>
          <ac:spMkLst>
            <pc:docMk/>
            <pc:sldMk cId="0" sldId="356"/>
            <ac:spMk id="27659" creationId="{DC4EB223-FA56-406D-8516-8816611CA85F}"/>
          </ac:spMkLst>
        </pc:spChg>
        <pc:spChg chg="mod">
          <ac:chgData name="Nane Lazaryan" userId="edf0a458-438d-4fc2-9f33-24202edc9cc9" providerId="ADAL" clId="{206F9F7C-0156-498A-8E92-8BB53ADA53FF}" dt="2025-07-31T12:32:00.665" v="3" actId="1076"/>
          <ac:spMkLst>
            <pc:docMk/>
            <pc:sldMk cId="0" sldId="356"/>
            <ac:spMk id="27668" creationId="{6D2BF410-7987-4DE6-BCB9-C18D030F400D}"/>
          </ac:spMkLst>
        </pc:spChg>
        <pc:spChg chg="mod">
          <ac:chgData name="Nane Lazaryan" userId="edf0a458-438d-4fc2-9f33-24202edc9cc9" providerId="ADAL" clId="{206F9F7C-0156-498A-8E92-8BB53ADA53FF}" dt="2025-07-31T12:32:00.665" v="3" actId="1076"/>
          <ac:spMkLst>
            <pc:docMk/>
            <pc:sldMk cId="0" sldId="356"/>
            <ac:spMk id="27671" creationId="{5C4BD8F9-6338-4BF9-9B25-C0A83CBF7750}"/>
          </ac:spMkLst>
        </pc:spChg>
        <pc:spChg chg="mod">
          <ac:chgData name="Nane Lazaryan" userId="edf0a458-438d-4fc2-9f33-24202edc9cc9" providerId="ADAL" clId="{206F9F7C-0156-498A-8E92-8BB53ADA53FF}" dt="2025-07-31T12:32:00.665" v="3" actId="1076"/>
          <ac:spMkLst>
            <pc:docMk/>
            <pc:sldMk cId="0" sldId="356"/>
            <ac:spMk id="27672" creationId="{DBF4B400-A425-422A-A07F-F2B16277F53A}"/>
          </ac:spMkLst>
        </pc:spChg>
        <pc:spChg chg="mod">
          <ac:chgData name="Nane Lazaryan" userId="edf0a458-438d-4fc2-9f33-24202edc9cc9" providerId="ADAL" clId="{206F9F7C-0156-498A-8E92-8BB53ADA53FF}" dt="2025-07-31T12:32:00.665" v="3" actId="1076"/>
          <ac:spMkLst>
            <pc:docMk/>
            <pc:sldMk cId="0" sldId="356"/>
            <ac:spMk id="27684" creationId="{08BD5097-9236-4F01-AB25-42C8A67C869E}"/>
          </ac:spMkLst>
        </pc:spChg>
      </pc:sldChg>
    </pc:docChg>
  </pc:docChgLst>
  <pc:docChgLst>
    <pc:chgData name="Nane Lazaryan" userId="edf0a458-438d-4fc2-9f33-24202edc9cc9" providerId="ADAL" clId="{2BCBC6AE-FA50-4CCA-8BED-3C583027730E}"/>
    <pc:docChg chg="modMainMaster modNotesMaster">
      <pc:chgData name="Nane Lazaryan" userId="edf0a458-438d-4fc2-9f33-24202edc9cc9" providerId="ADAL" clId="{2BCBC6AE-FA50-4CCA-8BED-3C583027730E}" dt="2025-05-23T10:18:45.794" v="0"/>
      <pc:docMkLst>
        <pc:docMk/>
      </pc:docMkLst>
      <pc:sldMasterChg chg="modSp">
        <pc:chgData name="Nane Lazaryan" userId="edf0a458-438d-4fc2-9f33-24202edc9cc9" providerId="ADAL" clId="{2BCBC6AE-FA50-4CCA-8BED-3C583027730E}" dt="2025-05-23T10:18:45.794" v="0"/>
        <pc:sldMasterMkLst>
          <pc:docMk/>
          <pc:sldMasterMk cId="1599936984" sldId="2147483728"/>
        </pc:sldMasterMkLst>
        <pc:spChg chg="mod">
          <ac:chgData name="Nane Lazaryan" userId="edf0a458-438d-4fc2-9f33-24202edc9cc9" providerId="ADAL" clId="{2BCBC6AE-FA50-4CCA-8BED-3C583027730E}" dt="2025-05-23T10:18:45.794" v="0"/>
          <ac:spMkLst>
            <pc:docMk/>
            <pc:sldMasterMk cId="1599936984" sldId="2147483728"/>
            <ac:spMk id="10" creationId="{0E3FE523-B587-4715-8B86-1BEC0FA2C87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7/31/2025</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dirty="0">
                <a:solidFill>
                  <a:schemeClr val="tx1"/>
                </a:solidFill>
                <a:effectLst/>
                <a:latin typeface="Arial" pitchFamily="34" charset="0"/>
                <a:ea typeface="+mn-ea"/>
                <a:cs typeface="Arial" pitchFamily="34" charset="0"/>
              </a:rPr>
              <a:t>©2025 Synopsys, Inc. All Rights Reserved.</a:t>
            </a:r>
            <a:endParaRPr lang="en-US" sz="800" b="1" dirty="0">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896DD3C-67A1-4A31-91BE-5E11DF4FE84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fld id="{D2CC7BE1-00F0-45B2-B25C-496549CC6298}" type="slidenum">
              <a:rPr lang="en-US" altLang="en-US" sz="1200"/>
              <a:pPr/>
              <a:t>4</a:t>
            </a:fld>
            <a:endParaRPr lang="en-US" altLang="en-US" sz="1200"/>
          </a:p>
        </p:txBody>
      </p:sp>
      <p:sp>
        <p:nvSpPr>
          <p:cNvPr id="9219" name="Rectangle 2">
            <a:extLst>
              <a:ext uri="{FF2B5EF4-FFF2-40B4-BE49-F238E27FC236}">
                <a16:creationId xmlns:a16="http://schemas.microsoft.com/office/drawing/2014/main" id="{63843271-B920-4DC3-BB2A-B0915AF88B30}"/>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C54279D7-7A60-4735-B477-65955FC458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3727490D-A4D1-41CC-893E-D0067FBA5661}"/>
              </a:ext>
            </a:extLst>
          </p:cNvPr>
          <p:cNvSpPr txBox="1">
            <a:spLocks noGrp="1"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46" tIns="46223" rIns="92446" bIns="46223"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0972FC48-364C-4D07-9FFA-09CA4FF24DBB}" type="slidenum">
              <a:rPr lang="en-US" altLang="en-US"/>
              <a:pPr algn="r" eaLnBrk="1" hangingPunct="1">
                <a:spcBef>
                  <a:spcPct val="0"/>
                </a:spcBef>
              </a:pPr>
              <a:t>6</a:t>
            </a:fld>
            <a:endParaRPr lang="en-US" altLang="en-US"/>
          </a:p>
        </p:txBody>
      </p:sp>
      <p:sp>
        <p:nvSpPr>
          <p:cNvPr id="12291" name="Rectangle 2">
            <a:extLst>
              <a:ext uri="{FF2B5EF4-FFF2-40B4-BE49-F238E27FC236}">
                <a16:creationId xmlns:a16="http://schemas.microsoft.com/office/drawing/2014/main" id="{F69E1651-085F-42CE-85CA-42A06337E8FB}"/>
              </a:ext>
            </a:extLst>
          </p:cNvPr>
          <p:cNvSpPr txBox="1">
            <a:spLocks noGrp="1" noChangeArrowheads="1"/>
          </p:cNvSpPr>
          <p:nvPr/>
        </p:nvSpPr>
        <p:spPr bwMode="auto">
          <a:xfrm>
            <a:off x="2068513" y="257175"/>
            <a:ext cx="4813300"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39" tIns="46220" rIns="92439" bIns="46220"/>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eaLnBrk="1" hangingPunct="1">
              <a:spcBef>
                <a:spcPct val="0"/>
              </a:spcBef>
            </a:pPr>
            <a:r>
              <a:rPr lang="en-US" altLang="en-US">
                <a:latin typeface="Calibri" panose="020F0502020204030204" pitchFamily="34" charset="0"/>
              </a:rPr>
              <a:t>IDESA - IC Design Skills for Advanced DSM Technologies</a:t>
            </a:r>
          </a:p>
        </p:txBody>
      </p:sp>
      <p:sp>
        <p:nvSpPr>
          <p:cNvPr id="12292" name="Rectangle 2">
            <a:extLst>
              <a:ext uri="{FF2B5EF4-FFF2-40B4-BE49-F238E27FC236}">
                <a16:creationId xmlns:a16="http://schemas.microsoft.com/office/drawing/2014/main" id="{4C9ADCDB-8CED-4A19-9CFD-94FF32819DC2}"/>
              </a:ext>
            </a:extLst>
          </p:cNvPr>
          <p:cNvSpPr>
            <a:spLocks noGrp="1" noRot="1" noChangeAspect="1" noChangeArrowheads="1" noTextEdit="1"/>
          </p:cNvSpPr>
          <p:nvPr>
            <p:ph type="sldImg"/>
          </p:nvPr>
        </p:nvSpPr>
        <p:spPr>
          <a:xfrm>
            <a:off x="-793750" y="155575"/>
            <a:ext cx="8469313" cy="4764088"/>
          </a:xfrm>
          <a:ln/>
        </p:spPr>
      </p:sp>
      <p:sp>
        <p:nvSpPr>
          <p:cNvPr id="12293" name="Rectangle 3">
            <a:extLst>
              <a:ext uri="{FF2B5EF4-FFF2-40B4-BE49-F238E27FC236}">
                <a16:creationId xmlns:a16="http://schemas.microsoft.com/office/drawing/2014/main" id="{65EEA20B-9600-4BF3-96EC-57E456D3DFCE}"/>
              </a:ext>
            </a:extLst>
          </p:cNvPr>
          <p:cNvSpPr>
            <a:spLocks noGrp="1" noChangeArrowheads="1"/>
          </p:cNvSpPr>
          <p:nvPr>
            <p:ph type="body" idx="1"/>
          </p:nvPr>
        </p:nvSpPr>
        <p:spPr>
          <a:xfrm>
            <a:off x="306388" y="5078413"/>
            <a:ext cx="6269037" cy="38735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a:latin typeface="Arial" panose="020B0604020202020204" pitchFamily="34" charset="0"/>
                <a:cs typeface="Times New Roman" panose="02020603050405020304" pitchFamily="18" charset="0"/>
              </a:rPr>
              <a:t>Crosstalk is the most common SI problem. The crosstalk is electrical interaction between two long nets. The causes of the crosstalk are: long parallel nets, coupling capacitance or inductance and high frequency switching. If signals in two neighboring parallel nets change in the same direction, then speed-up occurs, and if in the opposite direction, slow-down occurs. Coupling not only changes the delay on a wire but can also induce coupling noise. The concept of crosstalk requires to define a “victim” and “aggressor” net. </a:t>
            </a:r>
          </a:p>
          <a:p>
            <a:pPr eaLnBrk="1" hangingPunct="1">
              <a:spcBef>
                <a:spcPct val="0"/>
              </a:spcBef>
            </a:pPr>
            <a:r>
              <a:rPr lang="en-US" altLang="en-US">
                <a:solidFill>
                  <a:srgbClr val="000000"/>
                </a:solidFill>
                <a:latin typeface="Arial" panose="020B0604020202020204" pitchFamily="34" charset="0"/>
                <a:cs typeface="Arial" panose="020B0604020202020204" pitchFamily="34" charset="0"/>
              </a:rPr>
              <a:t>Mutual capacitance is one of the two mechanisms that cause crosstalk</a:t>
            </a:r>
            <a:endParaRPr lang="en-US" altLang="en-US">
              <a:latin typeface="Arial" panose="020B0604020202020204" pitchFamily="34" charset="0"/>
              <a:cs typeface="Times New Roman" panose="02020603050405020304" pitchFamily="18" charset="0"/>
            </a:endParaRPr>
          </a:p>
          <a:p>
            <a:pPr eaLnBrk="1" hangingPunct="1">
              <a:spcBef>
                <a:spcPct val="0"/>
              </a:spcBef>
              <a:buFontTx/>
              <a:buChar char="•"/>
            </a:pPr>
            <a:r>
              <a:rPr lang="en-US" altLang="en-US">
                <a:solidFill>
                  <a:srgbClr val="000000"/>
                </a:solidFill>
                <a:latin typeface="Arial" panose="020B0604020202020204" pitchFamily="34" charset="0"/>
                <a:cs typeface="Arial" panose="020B0604020202020204" pitchFamily="34" charset="0"/>
              </a:rPr>
              <a:t>Mutual capacitance is the coupling of two conductors via the electric field. Mutual capacitance will inject a current onto the victim line proportional to the rate of change of voltage on the driven line. </a:t>
            </a:r>
            <a:r>
              <a:rPr lang="en-US" altLang="en-US">
                <a:solidFill>
                  <a:srgbClr val="320064"/>
                </a:solidFill>
                <a:latin typeface="Arial" panose="020B0604020202020204" pitchFamily="34" charset="0"/>
                <a:cs typeface="Arial" panose="020B0604020202020204" pitchFamily="34" charset="0"/>
              </a:rPr>
              <a:t>Since the induced noise is proportional to the rate of change, mutual capacitance becomes very significant in high-speed digital applications.</a:t>
            </a:r>
            <a:endParaRPr lang="en-US" altLang="en-US">
              <a:latin typeface="Arial" panose="020B0604020202020204" pitchFamily="34" charset="0"/>
              <a:cs typeface="Arial" panose="020B0604020202020204" pitchFamily="34" charset="0"/>
            </a:endParaRPr>
          </a:p>
          <a:p>
            <a:pPr eaLnBrk="1" hangingPunct="1">
              <a:spcBef>
                <a:spcPct val="0"/>
              </a:spcBef>
            </a:pPr>
            <a:r>
              <a:rPr lang="en-US" altLang="en-US">
                <a:solidFill>
                  <a:srgbClr val="000000"/>
                </a:solidFill>
                <a:latin typeface="Arial" panose="020B0604020202020204" pitchFamily="34" charset="0"/>
                <a:cs typeface="Arial" panose="020B0604020202020204" pitchFamily="34" charset="0"/>
              </a:rPr>
              <a:t>Mutual inductance is another mechanism that causes crosstalk. </a:t>
            </a:r>
          </a:p>
          <a:p>
            <a:pPr eaLnBrk="1" hangingPunct="1">
              <a:spcBef>
                <a:spcPct val="0"/>
              </a:spcBef>
              <a:buFontTx/>
              <a:buChar char="•"/>
            </a:pPr>
            <a:r>
              <a:rPr lang="en-US" altLang="en-US">
                <a:solidFill>
                  <a:srgbClr val="000000"/>
                </a:solidFill>
                <a:latin typeface="Arial" panose="020B0604020202020204" pitchFamily="34" charset="0"/>
                <a:cs typeface="Arial" panose="020B0604020202020204" pitchFamily="34" charset="0"/>
              </a:rPr>
              <a:t>Mutual inductance induces current from a driven line onto a quiet line by means of the magnetic field. The mutual inductance will inject a voltage noise onto the victim proportional to the rate of change of the current on the driver line. </a:t>
            </a:r>
            <a:r>
              <a:rPr lang="en-US" altLang="en-US">
                <a:solidFill>
                  <a:srgbClr val="320064"/>
                </a:solidFill>
                <a:latin typeface="Arial" panose="020B0604020202020204" pitchFamily="34" charset="0"/>
                <a:cs typeface="Arial" panose="020B0604020202020204" pitchFamily="34" charset="0"/>
              </a:rPr>
              <a:t>Since the induced noise is proportional to the rate of change, mutual inductance becomes very significant in high-speed digital applications.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a:extLst>
              <a:ext uri="{FF2B5EF4-FFF2-40B4-BE49-F238E27FC236}">
                <a16:creationId xmlns:a16="http://schemas.microsoft.com/office/drawing/2014/main" id="{A0F87D9A-9A94-4C3F-BF72-7875651CA76F}"/>
              </a:ext>
            </a:extLst>
          </p:cNvPr>
          <p:cNvSpPr>
            <a:spLocks noGrp="1" noRot="1" noChangeAspect="1" noTextEdit="1"/>
          </p:cNvSpPr>
          <p:nvPr>
            <p:ph type="sldImg"/>
          </p:nvPr>
        </p:nvSpPr>
        <p:spPr>
          <a:ln/>
        </p:spPr>
      </p:sp>
      <p:sp>
        <p:nvSpPr>
          <p:cNvPr id="14339" name="Notes Placeholder 2">
            <a:extLst>
              <a:ext uri="{FF2B5EF4-FFF2-40B4-BE49-F238E27FC236}">
                <a16:creationId xmlns:a16="http://schemas.microsoft.com/office/drawing/2014/main" id="{868E3306-E50E-42B8-B5D2-1C17F1F42A0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z="1000">
                <a:latin typeface="Arial" panose="020B0604020202020204" pitchFamily="34" charset="0"/>
                <a:cs typeface="Times New Roman" panose="02020603050405020304" pitchFamily="18" charset="0"/>
              </a:rPr>
              <a:t>The main reason of SI problems is the parasitic capacitive coupling between parallel interconnects located near each other. With the scaling to deep sub-micron processes capacitive coupling has become a major concern because in case of submicrometer designs routing complexity has increased dramatically and as a result more metal layers are being added to silicon. The width of the metal is continuously being decreased whereas to keep the metal resistance low, the height of the metal wires is being increased. Furthermore, metal wire lengths are now longer than ever. All this leads to considerable increase of capacitive coupling.</a:t>
            </a:r>
          </a:p>
          <a:p>
            <a:pPr eaLnBrk="1" hangingPunct="1">
              <a:spcBef>
                <a:spcPct val="0"/>
              </a:spcBef>
            </a:pPr>
            <a:endParaRPr lang="en-US" altLang="en-US" sz="1000">
              <a:latin typeface="Arial" panose="020B0604020202020204" pitchFamily="34" charset="0"/>
              <a:cs typeface="Times New Roman" panose="02020603050405020304" pitchFamily="18" charset="0"/>
            </a:endParaRPr>
          </a:p>
          <a:p>
            <a:pPr eaLnBrk="1" hangingPunct="1">
              <a:spcBef>
                <a:spcPct val="0"/>
              </a:spcBef>
            </a:pPr>
            <a:endParaRPr lang="en-US" altLang="en-US" sz="1000">
              <a:latin typeface="Arial" panose="020B0604020202020204" pitchFamily="34"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6C516BED-315C-4AEC-B1F1-C7CAA29D6F34}"/>
              </a:ext>
            </a:extLst>
          </p:cNvPr>
          <p:cNvSpPr txBox="1">
            <a:spLocks noGrp="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46" tIns="46223" rIns="92446" bIns="46223"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6A4741BA-3432-4B1D-8C4A-000023EB0375}" type="slidenum">
              <a:rPr lang="en-US" altLang="en-US"/>
              <a:pPr algn="r" eaLnBrk="1" hangingPunct="1">
                <a:spcBef>
                  <a:spcPct val="0"/>
                </a:spcBef>
              </a:pPr>
              <a:t>7</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D6B849F1-FAB1-41D3-9B5D-16447125B3E9}"/>
              </a:ext>
            </a:extLst>
          </p:cNvPr>
          <p:cNvSpPr txBox="1">
            <a:spLocks noGrp="1" noChangeArrowheads="1"/>
          </p:cNvSpPr>
          <p:nvPr/>
        </p:nvSpPr>
        <p:spPr bwMode="auto">
          <a:xfrm>
            <a:off x="3897313" y="8829675"/>
            <a:ext cx="2982912"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46" tIns="46223" rIns="92446" bIns="46223"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E00E7D5C-1521-4335-A1A5-443410761F54}" type="slidenum">
              <a:rPr lang="en-US" altLang="en-US"/>
              <a:pPr algn="r" eaLnBrk="1" hangingPunct="1">
                <a:spcBef>
                  <a:spcPct val="0"/>
                </a:spcBef>
              </a:pPr>
              <a:t>9</a:t>
            </a:fld>
            <a:endParaRPr lang="en-US" altLang="en-US"/>
          </a:p>
        </p:txBody>
      </p:sp>
      <p:sp>
        <p:nvSpPr>
          <p:cNvPr id="17411" name="Rectangle 2">
            <a:extLst>
              <a:ext uri="{FF2B5EF4-FFF2-40B4-BE49-F238E27FC236}">
                <a16:creationId xmlns:a16="http://schemas.microsoft.com/office/drawing/2014/main" id="{3D893E33-94A3-4D23-B8A8-6FECA8F30DB2}"/>
              </a:ext>
            </a:extLst>
          </p:cNvPr>
          <p:cNvSpPr>
            <a:spLocks noGrp="1" noRot="1" noChangeAspect="1" noChangeArrowheads="1" noTextEdit="1"/>
          </p:cNvSpPr>
          <p:nvPr>
            <p:ph type="sldImg"/>
          </p:nvPr>
        </p:nvSpPr>
        <p:spPr>
          <a:xfrm>
            <a:off x="344488" y="696913"/>
            <a:ext cx="6192837" cy="3484562"/>
          </a:xfrm>
          <a:ln/>
        </p:spPr>
      </p:sp>
      <p:sp>
        <p:nvSpPr>
          <p:cNvPr id="17412" name="Rectangle 3">
            <a:extLst>
              <a:ext uri="{FF2B5EF4-FFF2-40B4-BE49-F238E27FC236}">
                <a16:creationId xmlns:a16="http://schemas.microsoft.com/office/drawing/2014/main" id="{2BF7FFA5-5E66-4AB2-A8E7-2E44366D1D9E}"/>
              </a:ext>
            </a:extLst>
          </p:cNvPr>
          <p:cNvSpPr>
            <a:spLocks noGrp="1" noChangeArrowheads="1"/>
          </p:cNvSpPr>
          <p:nvPr>
            <p:ph type="body" idx="1"/>
          </p:nvPr>
        </p:nvSpPr>
        <p:spPr>
          <a:xfrm>
            <a:off x="917575" y="4418013"/>
            <a:ext cx="5046663"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sz="1000">
                <a:latin typeface="Arial" panose="020B0604020202020204" pitchFamily="34" charset="0"/>
                <a:cs typeface="Times New Roman" panose="02020603050405020304" pitchFamily="18" charset="0"/>
              </a:rPr>
              <a:t>SI issues result in two primary failure modes: timing and functional.</a:t>
            </a:r>
          </a:p>
          <a:p>
            <a:pPr eaLnBrk="1" hangingPunct="1">
              <a:spcBef>
                <a:spcPct val="0"/>
              </a:spcBef>
            </a:pPr>
            <a:r>
              <a:rPr lang="en-US" altLang="en-US" sz="1000">
                <a:latin typeface="Arial" panose="020B0604020202020204" pitchFamily="34" charset="0"/>
                <a:cs typeface="Times New Roman" panose="02020603050405020304" pitchFamily="18" charset="0"/>
              </a:rPr>
              <a:t>The first problem that crosstalk created, is in Crosstalk Delta Delay. It occurs in case when both aggressor and victim nets are switching. In that case crosstalk delay changes the signal propagation on some of the nets, reducing achievable clock speed. Crosstalk can decrease or increase the delay depending on whether the victim and aggressor are switching in the same or different direction.</a:t>
            </a:r>
          </a:p>
          <a:p>
            <a:pPr eaLnBrk="1" hangingPunct="1">
              <a:spcBef>
                <a:spcPct val="0"/>
              </a:spcBef>
            </a:pPr>
            <a:r>
              <a:rPr lang="en-US" altLang="en-US" sz="1000">
                <a:latin typeface="Arial" panose="020B0604020202020204" pitchFamily="34" charset="0"/>
                <a:cs typeface="Times New Roman" panose="02020603050405020304" pitchFamily="18" charset="0"/>
              </a:rPr>
              <a:t>In case of passing into submicrometer technologies, timing problems become stricter because each new generation brings shrinking feature sizes, wire width, and wire spacing. The reduction in wire width means a decrease in total wire capacitance. However, it also means a dramatic increase in the fraction of wire capacitance resulting from lateral coupling. Improved performance translates to higher clock frequencies, with much faster switching signal slew rates. As signal slew rates increase, more noise couples onto neighboring nets. </a:t>
            </a: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84A1CC3-95D3-4FEB-A962-6508F5208D7C}"/>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5" name="Line 8">
            <a:extLst>
              <a:ext uri="{FF2B5EF4-FFF2-40B4-BE49-F238E27FC236}">
                <a16:creationId xmlns:a16="http://schemas.microsoft.com/office/drawing/2014/main" id="{FAA244FE-70F8-4576-B76F-50AA3D69912D}"/>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 name="TextBox 5">
            <a:extLst>
              <a:ext uri="{FF2B5EF4-FFF2-40B4-BE49-F238E27FC236}">
                <a16:creationId xmlns:a16="http://schemas.microsoft.com/office/drawing/2014/main" id="{EE7587D9-0DE4-4C69-A80A-301C646195FC}"/>
              </a:ext>
            </a:extLst>
          </p:cNvPr>
          <p:cNvSpPr txBox="1">
            <a:spLocks noChangeArrowheads="1"/>
          </p:cNvSpPr>
          <p:nvPr userDrawn="1"/>
        </p:nvSpPr>
        <p:spPr bwMode="auto">
          <a:xfrm>
            <a:off x="3048000" y="6521451"/>
            <a:ext cx="508000" cy="244475"/>
          </a:xfrm>
          <a:prstGeom prst="rect">
            <a:avLst/>
          </a:prstGeom>
          <a:noFill/>
          <a:ln>
            <a:noFill/>
          </a:ln>
        </p:spPr>
        <p:txBody>
          <a:bodyPr>
            <a:spAutoFit/>
          </a:bodyPr>
          <a:lstStyle>
            <a:lvl1pPr>
              <a:defRPr sz="1400">
                <a:solidFill>
                  <a:schemeClr val="tx1"/>
                </a:solidFill>
                <a:latin typeface="Times New Roman" panose="02020603050405020304" pitchFamily="18" charset="0"/>
                <a:cs typeface="Arial" panose="020B0604020202020204" pitchFamily="34" charset="0"/>
              </a:defRPr>
            </a:lvl1pPr>
            <a:lvl2pPr marL="742950" indent="-285750">
              <a:defRPr sz="1400">
                <a:solidFill>
                  <a:schemeClr val="tx1"/>
                </a:solidFill>
                <a:latin typeface="Times New Roman" panose="02020603050405020304" pitchFamily="18" charset="0"/>
                <a:cs typeface="Arial" panose="020B0604020202020204" pitchFamily="34" charset="0"/>
              </a:defRPr>
            </a:lvl2pPr>
            <a:lvl3pPr marL="1143000" indent="-228600">
              <a:defRPr sz="1400">
                <a:solidFill>
                  <a:schemeClr val="tx1"/>
                </a:solidFill>
                <a:latin typeface="Times New Roman" panose="02020603050405020304" pitchFamily="18" charset="0"/>
                <a:cs typeface="Arial" panose="020B0604020202020204" pitchFamily="34" charset="0"/>
              </a:defRPr>
            </a:lvl3pPr>
            <a:lvl4pPr marL="1600200" indent="-228600">
              <a:defRPr sz="1400">
                <a:solidFill>
                  <a:schemeClr val="tx1"/>
                </a:solidFill>
                <a:latin typeface="Times New Roman" panose="02020603050405020304" pitchFamily="18" charset="0"/>
                <a:cs typeface="Arial" panose="020B0604020202020204" pitchFamily="34" charset="0"/>
              </a:defRPr>
            </a:lvl4pPr>
            <a:lvl5pPr marL="2057400" indent="-228600">
              <a:defRPr sz="1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fld id="{1FC11AB6-A325-4092-8B78-EFDCDE2E0C77}" type="slidenum">
              <a:rPr lang="en-US" altLang="en-US" sz="1000">
                <a:solidFill>
                  <a:srgbClr val="595959"/>
                </a:solidFill>
                <a:latin typeface="Arial" panose="020B0604020202020204" pitchFamily="34" charset="0"/>
              </a:rPr>
              <a:pPr algn="ctr" eaLnBrk="1" hangingPunct="1"/>
              <a:t>‹#›</a:t>
            </a:fld>
            <a:endParaRPr lang="en-US" altLang="en-US" sz="1000">
              <a:solidFill>
                <a:srgbClr val="595959"/>
              </a:solidFill>
              <a:latin typeface="Arial" panose="020B0604020202020204" pitchFamily="34" charset="0"/>
            </a:endParaRPr>
          </a:p>
        </p:txBody>
      </p:sp>
      <p:sp>
        <p:nvSpPr>
          <p:cNvPr id="7" name="Rectangle 6">
            <a:extLst>
              <a:ext uri="{FF2B5EF4-FFF2-40B4-BE49-F238E27FC236}">
                <a16:creationId xmlns:a16="http://schemas.microsoft.com/office/drawing/2014/main" id="{E68267EF-0567-454E-8850-53A7734CC145}"/>
              </a:ext>
            </a:extLst>
          </p:cNvPr>
          <p:cNvSpPr>
            <a:spLocks noChangeArrowheads="1"/>
          </p:cNvSpPr>
          <p:nvPr userDrawn="1"/>
        </p:nvSpPr>
        <p:spPr bwMode="auto">
          <a:xfrm>
            <a:off x="3009900" y="5897564"/>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1400">
                <a:solidFill>
                  <a:schemeClr val="tx1"/>
                </a:solidFill>
                <a:latin typeface="Times New Roman" panose="02020603050405020304" pitchFamily="18" charset="0"/>
                <a:cs typeface="Arial" panose="020B0604020202020204" pitchFamily="34" charset="0"/>
              </a:defRPr>
            </a:lvl1pPr>
            <a:lvl2pPr marL="742950" indent="-285750" eaLnBrk="0" hangingPunct="0">
              <a:defRPr sz="1400">
                <a:solidFill>
                  <a:schemeClr val="tx1"/>
                </a:solidFill>
                <a:latin typeface="Times New Roman" panose="02020603050405020304" pitchFamily="18" charset="0"/>
                <a:cs typeface="Arial" panose="020B0604020202020204" pitchFamily="34" charset="0"/>
              </a:defRPr>
            </a:lvl2pPr>
            <a:lvl3pPr marL="1143000" indent="-228600" eaLnBrk="0" hangingPunct="0">
              <a:defRPr sz="1400">
                <a:solidFill>
                  <a:schemeClr val="tx1"/>
                </a:solidFill>
                <a:latin typeface="Times New Roman" panose="02020603050405020304" pitchFamily="18" charset="0"/>
                <a:cs typeface="Arial" panose="020B0604020202020204" pitchFamily="34" charset="0"/>
              </a:defRPr>
            </a:lvl3pPr>
            <a:lvl4pPr marL="1600200" indent="-228600" eaLnBrk="0" hangingPunct="0">
              <a:defRPr sz="1400">
                <a:solidFill>
                  <a:schemeClr val="tx1"/>
                </a:solidFill>
                <a:latin typeface="Times New Roman" panose="02020603050405020304" pitchFamily="18" charset="0"/>
                <a:cs typeface="Arial" panose="020B0604020202020204" pitchFamily="34" charset="0"/>
              </a:defRPr>
            </a:lvl4pPr>
            <a:lvl5pPr marL="2057400" indent="-228600" eaLnBrk="0" hangingPunct="0">
              <a:defRPr sz="1400">
                <a:solidFill>
                  <a:schemeClr val="tx1"/>
                </a:solidFill>
                <a:latin typeface="Times New Roman" panose="02020603050405020304" pitchFamily="18" charset="0"/>
                <a:cs typeface="Arial" panose="020B0604020202020204" pitchFamily="34" charset="0"/>
              </a:defRPr>
            </a:lvl5pPr>
            <a:lvl6pPr marL="25146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6pPr>
            <a:lvl7pPr marL="29718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7pPr>
            <a:lvl8pPr marL="34290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8pPr>
            <a:lvl9pPr marL="3886200" indent="-228600" algn="ctr" eaLnBrk="0" fontAlgn="base" hangingPunct="0">
              <a:spcBef>
                <a:spcPct val="0"/>
              </a:spcBef>
              <a:spcAft>
                <a:spcPct val="0"/>
              </a:spcAft>
              <a:defRPr sz="1400">
                <a:solidFill>
                  <a:schemeClr val="tx1"/>
                </a:solidFill>
                <a:latin typeface="Times New Roman" panose="02020603050405020304" pitchFamily="18" charset="0"/>
                <a:cs typeface="Arial" panose="020B0604020202020204" pitchFamily="34" charset="0"/>
              </a:defRPr>
            </a:lvl9pPr>
          </a:lstStyle>
          <a:p>
            <a:pPr algn="ctr" eaLnBrk="1" hangingPunct="1">
              <a:defRPr/>
            </a:pPr>
            <a:r>
              <a:rPr lang="en-US" altLang="en-US" sz="900" dirty="0">
                <a:latin typeface="Arial" panose="020B0604020202020204" pitchFamily="34" charset="0"/>
              </a:rPr>
              <a:t>Synopsys University Courseware </a:t>
            </a:r>
          </a:p>
          <a:p>
            <a:pPr algn="ctr" eaLnBrk="1" hangingPunct="1">
              <a:defRPr/>
            </a:pPr>
            <a:r>
              <a:rPr lang="en-US" altLang="en-US" sz="900" dirty="0">
                <a:latin typeface="Arial" panose="020B0604020202020204" pitchFamily="34" charset="0"/>
              </a:rPr>
              <a:t>Copyright © 2017 Synopsys, Inc. All rights reserved.</a:t>
            </a:r>
          </a:p>
          <a:p>
            <a:pPr algn="ctr" eaLnBrk="1" hangingPunct="1">
              <a:defRPr/>
            </a:pPr>
            <a:r>
              <a:rPr lang="en-US" altLang="en-US" sz="900" dirty="0">
                <a:latin typeface="Arial" panose="020B0604020202020204" pitchFamily="34" charset="0"/>
              </a:rPr>
              <a:t>Object-Oriented Programming</a:t>
            </a:r>
          </a:p>
          <a:p>
            <a:pPr algn="ctr" eaLnBrk="1" hangingPunct="1">
              <a:defRPr/>
            </a:pPr>
            <a:r>
              <a:rPr lang="en-US" altLang="en-US" sz="900" dirty="0">
                <a:latin typeface="Arial" panose="020B0604020202020204" pitchFamily="34" charset="0"/>
              </a:rPr>
              <a:t>Lecture - 1</a:t>
            </a:r>
          </a:p>
          <a:p>
            <a:pPr algn="ctr" eaLnBrk="1" hangingPunct="1">
              <a:defRPr/>
            </a:pPr>
            <a:r>
              <a:rPr lang="en-US" altLang="en-US" sz="900" dirty="0">
                <a:latin typeface="Arial" panose="020B0604020202020204" pitchFamily="34" charset="0"/>
              </a:rPr>
              <a:t>Developed By: Vazgen Melikyan</a:t>
            </a:r>
          </a:p>
        </p:txBody>
      </p:sp>
      <p:pic>
        <p:nvPicPr>
          <p:cNvPr id="8" name="Picture 11" descr="Synopsys_color">
            <a:extLst>
              <a:ext uri="{FF2B5EF4-FFF2-40B4-BE49-F238E27FC236}">
                <a16:creationId xmlns:a16="http://schemas.microsoft.com/office/drawing/2014/main" id="{FA7C1882-0B01-4AFB-B264-DE81F0D4763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67267" y="5932489"/>
            <a:ext cx="1856317"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6" descr="D:\Users\User\Desktop\My Documents\AcCouncil\Logo_NPUA\LogoPolytech_1.png">
            <a:extLst>
              <a:ext uri="{FF2B5EF4-FFF2-40B4-BE49-F238E27FC236}">
                <a16:creationId xmlns:a16="http://schemas.microsoft.com/office/drawing/2014/main" id="{4F0C6F6B-E20A-4231-B9BD-BA525FE1B174}"/>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endParaRPr lang="en-US" altLang="en-US"/>
          </a:p>
        </p:txBody>
      </p:sp>
    </p:spTree>
    <p:extLst>
      <p:ext uri="{BB962C8B-B14F-4D97-AF65-F5344CB8AC3E}">
        <p14:creationId xmlns:p14="http://schemas.microsoft.com/office/powerpoint/2010/main" val="8864740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46012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ags" Target="../tags/tag7.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3.xml"/><Relationship Id="rId3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29"/>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30"/>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rPr dirty="0"/>
              <a:t>Edit Master text styles</a:t>
            </a:r>
            <a:endParaRPr lang="en-US" dirty="0"/>
          </a:p>
          <a:p>
            <a:pPr marL="690563" lvl="1" indent="-327025">
              <a:tabLst/>
            </a:pPr>
            <a:r>
              <a:rPr lang="en-US" dirty="0"/>
              <a:t>Second level</a:t>
            </a:r>
          </a:p>
          <a:p>
            <a:pPr marL="914400" lvl="2" indent="-223838">
              <a:tabLst>
                <a:tab pos="736600" algn="l"/>
              </a:tabLst>
            </a:pPr>
            <a:r>
              <a:rPr dirty="0"/>
              <a:t>Third level</a:t>
            </a:r>
          </a:p>
          <a:p>
            <a:pPr lvl="3"/>
            <a:r>
              <a:rPr dirty="0"/>
              <a:t>Fourth level</a:t>
            </a:r>
          </a:p>
        </p:txBody>
      </p:sp>
      <p:sp>
        <p:nvSpPr>
          <p:cNvPr id="26" name="TaggedShape" hidden="1"/>
          <p:cNvSpPr/>
          <p:nvPr>
            <p:custDataLst>
              <p:tags r:id="rId31"/>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32"/>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41473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sp>
        <p:nvSpPr>
          <p:cNvPr id="27" name="unit_number">
            <a:extLst>
              <a:ext uri="{FF2B5EF4-FFF2-40B4-BE49-F238E27FC236}">
                <a16:creationId xmlns:a16="http://schemas.microsoft.com/office/drawing/2014/main" id="{8B6FE5BD-1FF4-4341-83E6-71D5015C748C}"/>
              </a:ext>
            </a:extLst>
          </p:cNvPr>
          <p:cNvSpPr txBox="1"/>
          <p:nvPr userDrawn="1"/>
        </p:nvSpPr>
        <p:spPr>
          <a:xfrm>
            <a:off x="11320060" y="6546025"/>
            <a:ext cx="414739" cy="252862"/>
          </a:xfrm>
          <a:prstGeom prst="rect">
            <a:avLst/>
          </a:prstGeom>
          <a:noFill/>
        </p:spPr>
        <p:txBody>
          <a:bodyPr wrap="square" rIns="45720" bIns="0" rtlCol="0" anchor="b" anchorCtr="0">
            <a:no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tx1">
                    <a:lumMod val="50000"/>
                    <a:lumOff val="50000"/>
                  </a:schemeClr>
                </a:solidFill>
                <a:effectLst/>
                <a:uLnTx/>
                <a:uFillTx/>
              </a:rPr>
              <a:t>1-</a:t>
            </a: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35"/>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33"/>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dirty="0">
                <a:solidFill>
                  <a:schemeClr val="bg1">
                    <a:lumMod val="65000"/>
                  </a:schemeClr>
                </a:solidFill>
                <a:latin typeface="Arial"/>
              </a:rPr>
              <a:t>Synopsys </a:t>
            </a:r>
            <a:r>
              <a:rPr lang="en-US" sz="800" dirty="0">
                <a:solidFill>
                  <a:schemeClr val="bg1">
                    <a:lumMod val="65000"/>
                  </a:schemeClr>
                </a:solidFill>
                <a:latin typeface="Arial"/>
              </a:rPr>
              <a:t>University Courseware</a:t>
            </a:r>
            <a:br>
              <a:rPr lang="en-US" sz="800" dirty="0">
                <a:solidFill>
                  <a:schemeClr val="bg1">
                    <a:lumMod val="65000"/>
                  </a:schemeClr>
                </a:solidFill>
                <a:latin typeface="Arial"/>
              </a:rPr>
            </a:br>
            <a:r>
              <a:rPr lang="en-US" sz="800" dirty="0">
                <a:solidFill>
                  <a:schemeClr val="bg1">
                    <a:lumMod val="65000"/>
                  </a:schemeClr>
                </a:solidFill>
                <a:latin typeface="Arial"/>
              </a:rPr>
              <a:t>Developed by: </a:t>
            </a:r>
            <a:r>
              <a:rPr lang="en-US" sz="800" dirty="0" err="1">
                <a:solidFill>
                  <a:schemeClr val="bg1">
                    <a:lumMod val="65000"/>
                  </a:schemeClr>
                </a:solidFill>
                <a:latin typeface="Arial"/>
              </a:rPr>
              <a:t>Vazgen</a:t>
            </a:r>
            <a:r>
              <a:rPr lang="en-US" sz="800" dirty="0">
                <a:solidFill>
                  <a:schemeClr val="bg1">
                    <a:lumMod val="65000"/>
                  </a:schemeClr>
                </a:solidFill>
                <a:latin typeface="Arial"/>
              </a:rPr>
              <a:t> </a:t>
            </a:r>
            <a:r>
              <a:rPr lang="en-US" sz="800" dirty="0" err="1">
                <a:solidFill>
                  <a:schemeClr val="bg1">
                    <a:lumMod val="65000"/>
                  </a:schemeClr>
                </a:solidFill>
                <a:latin typeface="Arial"/>
              </a:rPr>
              <a:t>Melikyan</a:t>
            </a:r>
            <a:endParaRPr sz="800" dirty="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34"/>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dirty="0">
                <a:solidFill>
                  <a:schemeClr val="bg1">
                    <a:lumMod val="65000"/>
                  </a:schemeClr>
                </a:solidFill>
              </a:rPr>
              <a:t>© 2025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36">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9.wmf"/><Relationship Id="rId5" Type="http://schemas.openxmlformats.org/officeDocument/2006/relationships/oleObject" Target="../embeddings/oleObject2.bin"/><Relationship Id="rId4" Type="http://schemas.openxmlformats.org/officeDocument/2006/relationships/image" Target="../media/image18.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a:xfrm>
            <a:off x="456698" y="4526198"/>
            <a:ext cx="8141202" cy="731520"/>
          </a:xfrm>
        </p:spPr>
        <p:txBody>
          <a:bodyPr>
            <a:normAutofit/>
          </a:bodyPr>
          <a:lstStyle/>
          <a:p>
            <a:r>
              <a:rPr lang="en-US"/>
              <a:t>Synopsys Armenia Educational Department</a:t>
            </a:r>
          </a:p>
        </p:txBody>
      </p:sp>
      <p:sp>
        <p:nvSpPr>
          <p:cNvPr id="5" name="Subtitle 4">
            <a:extLst>
              <a:ext uri="{FF2B5EF4-FFF2-40B4-BE49-F238E27FC236}">
                <a16:creationId xmlns:a16="http://schemas.microsoft.com/office/drawing/2014/main" id="{488BA55B-F5DA-D946-B7EA-D63B6269A4F9}"/>
              </a:ext>
            </a:extLst>
          </p:cNvPr>
          <p:cNvSpPr>
            <a:spLocks noGrp="1"/>
          </p:cNvSpPr>
          <p:nvPr>
            <p:ph type="subTitle" idx="1"/>
          </p:nvPr>
        </p:nvSpPr>
        <p:spPr>
          <a:xfrm>
            <a:off x="456557" y="3522681"/>
            <a:ext cx="10417770" cy="990600"/>
          </a:xfrm>
        </p:spPr>
        <p:txBody>
          <a:bodyPr>
            <a:normAutofit/>
          </a:bodyPr>
          <a:lstStyle/>
          <a:p>
            <a:r>
              <a:rPr lang="en-US" altLang="en-US" err="1"/>
              <a:t>Sci.D.Professor</a:t>
            </a:r>
            <a:r>
              <a:rPr lang="en-US" altLang="en-US"/>
              <a:t> Vazgen Melikyan</a:t>
            </a:r>
            <a:endParaRPr lang="ru-RU" altLang="en-US"/>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a:xfrm>
            <a:off x="456555" y="1687591"/>
            <a:ext cx="10763895" cy="1828800"/>
          </a:xfrm>
        </p:spPr>
        <p:txBody>
          <a:bodyPr/>
          <a:lstStyle/>
          <a:p>
            <a:r>
              <a:rPr lang="en-US" altLang="en-US" dirty="0"/>
              <a:t>Static Timing Analysis</a:t>
            </a:r>
            <a:endParaRPr lang="en-US" dirty="0"/>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81221D-E48E-4913-A5BD-72DF685EE9EA}"/>
              </a:ext>
            </a:extLst>
          </p:cNvPr>
          <p:cNvSpPr>
            <a:spLocks noGrp="1"/>
          </p:cNvSpPr>
          <p:nvPr>
            <p:ph sz="quarter" idx="4294967295"/>
          </p:nvPr>
        </p:nvSpPr>
        <p:spPr>
          <a:xfrm>
            <a:off x="660400" y="661988"/>
            <a:ext cx="11531600" cy="5534025"/>
          </a:xfrm>
        </p:spPr>
        <p:txBody>
          <a:bodyPr/>
          <a:lstStyle/>
          <a:p>
            <a:pPr marL="0" indent="0">
              <a:spcAft>
                <a:spcPts val="0"/>
              </a:spcAft>
              <a:buNone/>
            </a:pPr>
            <a:r>
              <a:rPr lang="en-US" sz="3200" b="1"/>
              <a:t>CONFIDENTIAL INFORMATION</a:t>
            </a:r>
          </a:p>
          <a:p>
            <a:pPr marL="0" indent="0">
              <a:buNone/>
            </a:pPr>
            <a:r>
              <a:rPr lang="en-US"/>
              <a:t>The information contained in this presentation is the confidential and proprietary information of Synopsys. You are not permitted to disseminate or use any of </a:t>
            </a:r>
            <a:br>
              <a:rPr lang="en-US"/>
            </a:br>
            <a:r>
              <a:rPr lang="en-US"/>
              <a:t>the information provided to you in this presentation outside of Synopsys without prior written authorization. </a:t>
            </a:r>
          </a:p>
          <a:p>
            <a:pPr marL="0" indent="0">
              <a:spcAft>
                <a:spcPts val="600"/>
              </a:spcAft>
              <a:buNone/>
            </a:pPr>
            <a:endParaRPr lang="en-US" sz="100"/>
          </a:p>
          <a:p>
            <a:pPr marL="0" indent="0">
              <a:spcAft>
                <a:spcPts val="0"/>
              </a:spcAft>
              <a:buNone/>
            </a:pPr>
            <a:r>
              <a:rPr lang="en-US" sz="3200" b="1"/>
              <a:t>IMPORTANT NOTICE</a:t>
            </a:r>
          </a:p>
          <a:p>
            <a:pPr marL="0" indent="0">
              <a:buNone/>
            </a:pPr>
            <a:r>
              <a:rPr lang="en-US"/>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10860520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BD8098F3-95E6-420C-8C1D-1B45085FF0D5}"/>
              </a:ext>
            </a:extLst>
          </p:cNvPr>
          <p:cNvSpPr>
            <a:spLocks noGrp="1"/>
          </p:cNvSpPr>
          <p:nvPr>
            <p:ph type="title"/>
          </p:nvPr>
        </p:nvSpPr>
        <p:spPr/>
        <p:txBody>
          <a:bodyPr/>
          <a:lstStyle/>
          <a:p>
            <a:r>
              <a:rPr lang="en-US" altLang="en-US"/>
              <a:t>Course Overview</a:t>
            </a:r>
          </a:p>
        </p:txBody>
      </p:sp>
      <p:sp>
        <p:nvSpPr>
          <p:cNvPr id="7171" name="Content Placeholder 2">
            <a:extLst>
              <a:ext uri="{FF2B5EF4-FFF2-40B4-BE49-F238E27FC236}">
                <a16:creationId xmlns:a16="http://schemas.microsoft.com/office/drawing/2014/main" id="{6271EEFB-D2B4-440F-B0BC-77DD98B136E0}"/>
              </a:ext>
            </a:extLst>
          </p:cNvPr>
          <p:cNvSpPr>
            <a:spLocks noGrp="1"/>
          </p:cNvSpPr>
          <p:nvPr>
            <p:ph type="body" sz="quarter" idx="10"/>
          </p:nvPr>
        </p:nvSpPr>
        <p:spPr/>
        <p:txBody>
          <a:bodyPr/>
          <a:lstStyle/>
          <a:p>
            <a:r>
              <a:rPr lang="en-US" altLang="en-US" sz="1600" dirty="0"/>
              <a:t>STA Concepts </a:t>
            </a:r>
          </a:p>
          <a:p>
            <a:pPr lvl="1"/>
            <a:r>
              <a:rPr lang="en-US" altLang="en-US" sz="1200" dirty="0"/>
              <a:t>1 lecture</a:t>
            </a:r>
          </a:p>
          <a:p>
            <a:r>
              <a:rPr lang="en-US" altLang="en-US" sz="1600" dirty="0"/>
              <a:t>Delay Modeling</a:t>
            </a:r>
          </a:p>
          <a:p>
            <a:pPr lvl="1"/>
            <a:r>
              <a:rPr lang="en-US" altLang="en-US" sz="1200" dirty="0"/>
              <a:t>1 lecture</a:t>
            </a:r>
          </a:p>
          <a:p>
            <a:r>
              <a:rPr lang="en-US" altLang="en-US" sz="1600" dirty="0"/>
              <a:t>Interconnect </a:t>
            </a:r>
            <a:r>
              <a:rPr lang="en-US" altLang="en-US" sz="1600" dirty="0" err="1"/>
              <a:t>Parasitics</a:t>
            </a:r>
            <a:endParaRPr lang="en-US" altLang="en-US" sz="1600" dirty="0"/>
          </a:p>
          <a:p>
            <a:pPr lvl="1"/>
            <a:r>
              <a:rPr lang="en-US" altLang="en-US" sz="1200" dirty="0"/>
              <a:t>1 lecture</a:t>
            </a:r>
          </a:p>
          <a:p>
            <a:r>
              <a:rPr lang="en-US" altLang="en-US" sz="1600" dirty="0"/>
              <a:t>Delay Calculation</a:t>
            </a:r>
          </a:p>
          <a:p>
            <a:pPr lvl="1"/>
            <a:r>
              <a:rPr lang="en-US" altLang="en-US" sz="1200" dirty="0"/>
              <a:t>1 lecture</a:t>
            </a:r>
          </a:p>
          <a:p>
            <a:r>
              <a:rPr lang="en-US" altLang="en-US" sz="1600" dirty="0"/>
              <a:t>Configuring the STA Environment</a:t>
            </a:r>
          </a:p>
          <a:p>
            <a:pPr lvl="1"/>
            <a:r>
              <a:rPr lang="en-US" altLang="en-US" sz="1200" dirty="0"/>
              <a:t>1 lecture</a:t>
            </a:r>
          </a:p>
          <a:p>
            <a:r>
              <a:rPr lang="en-US" altLang="en-US" sz="1600" dirty="0"/>
              <a:t>Timing Checks</a:t>
            </a:r>
          </a:p>
          <a:p>
            <a:pPr lvl="1"/>
            <a:r>
              <a:rPr lang="en-US" altLang="en-US" sz="1200" dirty="0"/>
              <a:t>1 lecture</a:t>
            </a:r>
          </a:p>
          <a:p>
            <a:r>
              <a:rPr lang="en-US" altLang="en-US" sz="1600" dirty="0">
                <a:solidFill>
                  <a:srgbClr val="0000FF"/>
                </a:solidFill>
              </a:rPr>
              <a:t>Crosstalk and Noise</a:t>
            </a:r>
          </a:p>
          <a:p>
            <a:pPr lvl="1"/>
            <a:r>
              <a:rPr lang="en-US" altLang="en-US" sz="1200" dirty="0">
                <a:solidFill>
                  <a:srgbClr val="0000FF"/>
                </a:solidFill>
              </a:rPr>
              <a:t>1 lecture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2">
            <a:extLst>
              <a:ext uri="{FF2B5EF4-FFF2-40B4-BE49-F238E27FC236}">
                <a16:creationId xmlns:a16="http://schemas.microsoft.com/office/drawing/2014/main" id="{C52AB10F-0852-4988-A1A1-97AABF0CA507}"/>
              </a:ext>
            </a:extLst>
          </p:cNvPr>
          <p:cNvSpPr>
            <a:spLocks noGrp="1"/>
          </p:cNvSpPr>
          <p:nvPr>
            <p:ph type="title"/>
          </p:nvPr>
        </p:nvSpPr>
        <p:spPr/>
        <p:txBody>
          <a:bodyPr>
            <a:normAutofit fontScale="90000"/>
          </a:bodyPr>
          <a:lstStyle/>
          <a:p>
            <a:br>
              <a:rPr lang="en-US" altLang="en-US" dirty="0"/>
            </a:br>
            <a:br>
              <a:rPr lang="en-US" altLang="en-US" dirty="0"/>
            </a:br>
            <a:endParaRPr lang="en-US" altLang="en-US" dirty="0"/>
          </a:p>
        </p:txBody>
      </p:sp>
      <p:sp>
        <p:nvSpPr>
          <p:cNvPr id="3" name="Text Placeholder 2">
            <a:extLst>
              <a:ext uri="{FF2B5EF4-FFF2-40B4-BE49-F238E27FC236}">
                <a16:creationId xmlns:a16="http://schemas.microsoft.com/office/drawing/2014/main" id="{AA330290-2FE0-4F0F-91FF-B1699BD7FB6F}"/>
              </a:ext>
            </a:extLst>
          </p:cNvPr>
          <p:cNvSpPr>
            <a:spLocks noGrp="1"/>
          </p:cNvSpPr>
          <p:nvPr>
            <p:ph type="body" sz="quarter" idx="10"/>
          </p:nvPr>
        </p:nvSpPr>
        <p:spPr/>
        <p:txBody>
          <a:bodyPr/>
          <a:lstStyle/>
          <a:p>
            <a:pPr>
              <a:buFont typeface="+mj-lt"/>
              <a:buAutoNum type="arabicPeriod" startAt="7"/>
            </a:pPr>
            <a:r>
              <a:rPr lang="en-US" altLang="en-US" dirty="0"/>
              <a:t>Crosstalk and Noise</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8D41341-7F63-438F-AF31-457DA9A85755}"/>
              </a:ext>
            </a:extLst>
          </p:cNvPr>
          <p:cNvSpPr>
            <a:spLocks noGrp="1"/>
          </p:cNvSpPr>
          <p:nvPr>
            <p:ph type="title"/>
          </p:nvPr>
        </p:nvSpPr>
        <p:spPr/>
        <p:txBody>
          <a:bodyPr/>
          <a:lstStyle/>
          <a:p>
            <a:r>
              <a:rPr lang="en-US" altLang="en-US"/>
              <a:t>Crosstalk</a:t>
            </a:r>
          </a:p>
        </p:txBody>
      </p:sp>
      <p:sp>
        <p:nvSpPr>
          <p:cNvPr id="2" name="Text Placeholder 1">
            <a:extLst>
              <a:ext uri="{FF2B5EF4-FFF2-40B4-BE49-F238E27FC236}">
                <a16:creationId xmlns:a16="http://schemas.microsoft.com/office/drawing/2014/main" id="{0CE83A9C-C3B3-40A0-BB54-6986E2D74C69}"/>
              </a:ext>
            </a:extLst>
          </p:cNvPr>
          <p:cNvSpPr>
            <a:spLocks noGrp="1"/>
          </p:cNvSpPr>
          <p:nvPr>
            <p:ph type="body" sz="quarter" idx="10"/>
          </p:nvPr>
        </p:nvSpPr>
        <p:spPr/>
        <p:txBody>
          <a:bodyPr/>
          <a:lstStyle/>
          <a:p>
            <a:endParaRPr lang="en-US"/>
          </a:p>
        </p:txBody>
      </p:sp>
      <p:grpSp>
        <p:nvGrpSpPr>
          <p:cNvPr id="10243" name="Group 2">
            <a:extLst>
              <a:ext uri="{FF2B5EF4-FFF2-40B4-BE49-F238E27FC236}">
                <a16:creationId xmlns:a16="http://schemas.microsoft.com/office/drawing/2014/main" id="{306B123E-9E46-4296-BE57-F838A3CAF6C5}"/>
              </a:ext>
            </a:extLst>
          </p:cNvPr>
          <p:cNvGrpSpPr>
            <a:grpSpLocks/>
          </p:cNvGrpSpPr>
          <p:nvPr/>
        </p:nvGrpSpPr>
        <p:grpSpPr bwMode="auto">
          <a:xfrm>
            <a:off x="2551113" y="1916114"/>
            <a:ext cx="6350000" cy="3138487"/>
            <a:chOff x="2114484" y="2036083"/>
            <a:chExt cx="4362516" cy="2154926"/>
          </a:xfrm>
        </p:grpSpPr>
        <p:cxnSp>
          <p:nvCxnSpPr>
            <p:cNvPr id="10252" name="Straight Connector 9">
              <a:extLst>
                <a:ext uri="{FF2B5EF4-FFF2-40B4-BE49-F238E27FC236}">
                  <a16:creationId xmlns:a16="http://schemas.microsoft.com/office/drawing/2014/main" id="{87DF4B62-0F02-47EF-9B91-3FAF55FEF0E1}"/>
                </a:ext>
              </a:extLst>
            </p:cNvPr>
            <p:cNvCxnSpPr>
              <a:cxnSpLocks noChangeShapeType="1"/>
              <a:stCxn id="10316" idx="3"/>
            </p:cNvCxnSpPr>
            <p:nvPr/>
          </p:nvCxnSpPr>
          <p:spPr bwMode="auto">
            <a:xfrm>
              <a:off x="3105140" y="2285992"/>
              <a:ext cx="298991" cy="0"/>
            </a:xfrm>
            <a:prstGeom prst="line">
              <a:avLst/>
            </a:prstGeom>
            <a:noFill/>
            <a:ln w="9525" algn="ctr">
              <a:solidFill>
                <a:schemeClr val="tx1"/>
              </a:solidFill>
              <a:round/>
              <a:headEnd/>
              <a:tailEnd/>
            </a:ln>
          </p:spPr>
        </p:cxnSp>
        <p:sp>
          <p:nvSpPr>
            <p:cNvPr id="10253" name="Isosceles Triangle 10">
              <a:extLst>
                <a:ext uri="{FF2B5EF4-FFF2-40B4-BE49-F238E27FC236}">
                  <a16:creationId xmlns:a16="http://schemas.microsoft.com/office/drawing/2014/main" id="{41FE3678-C414-4E62-9420-97AB2A62D256}"/>
                </a:ext>
              </a:extLst>
            </p:cNvPr>
            <p:cNvSpPr>
              <a:spLocks noChangeArrowheads="1"/>
            </p:cNvSpPr>
            <p:nvPr/>
          </p:nvSpPr>
          <p:spPr bwMode="auto">
            <a:xfrm rot="5400000">
              <a:off x="5995127" y="2208993"/>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254" name="Straight Connector 11">
              <a:extLst>
                <a:ext uri="{FF2B5EF4-FFF2-40B4-BE49-F238E27FC236}">
                  <a16:creationId xmlns:a16="http://schemas.microsoft.com/office/drawing/2014/main" id="{C239F274-B9A8-4870-854F-87013424EFBF}"/>
                </a:ext>
              </a:extLst>
            </p:cNvPr>
            <p:cNvCxnSpPr>
              <a:cxnSpLocks noChangeShapeType="1"/>
            </p:cNvCxnSpPr>
            <p:nvPr/>
          </p:nvCxnSpPr>
          <p:spPr bwMode="auto">
            <a:xfrm>
              <a:off x="6250924" y="2335814"/>
              <a:ext cx="224835" cy="0"/>
            </a:xfrm>
            <a:prstGeom prst="line">
              <a:avLst/>
            </a:prstGeom>
            <a:noFill/>
            <a:ln w="9525" algn="ctr">
              <a:solidFill>
                <a:schemeClr val="tx1"/>
              </a:solidFill>
              <a:round/>
              <a:headEnd/>
              <a:tailEnd/>
            </a:ln>
          </p:spPr>
        </p:cxnSp>
        <p:sp>
          <p:nvSpPr>
            <p:cNvPr id="10255" name="Isosceles Triangle 12">
              <a:extLst>
                <a:ext uri="{FF2B5EF4-FFF2-40B4-BE49-F238E27FC236}">
                  <a16:creationId xmlns:a16="http://schemas.microsoft.com/office/drawing/2014/main" id="{70F20603-1C6C-4974-A08A-3E9496D7A81D}"/>
                </a:ext>
              </a:extLst>
            </p:cNvPr>
            <p:cNvSpPr>
              <a:spLocks noChangeArrowheads="1"/>
            </p:cNvSpPr>
            <p:nvPr/>
          </p:nvSpPr>
          <p:spPr bwMode="auto">
            <a:xfrm rot="10800000">
              <a:off x="3210485" y="2714249"/>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0256" name="Straight Connector 13">
              <a:extLst>
                <a:ext uri="{FF2B5EF4-FFF2-40B4-BE49-F238E27FC236}">
                  <a16:creationId xmlns:a16="http://schemas.microsoft.com/office/drawing/2014/main" id="{6CA3DF74-8CBC-49C6-8679-5956FEE1D86C}"/>
                </a:ext>
              </a:extLst>
            </p:cNvPr>
            <p:cNvCxnSpPr>
              <a:cxnSpLocks noChangeShapeType="1"/>
            </p:cNvCxnSpPr>
            <p:nvPr/>
          </p:nvCxnSpPr>
          <p:spPr bwMode="auto">
            <a:xfrm>
              <a:off x="3175000" y="2453564"/>
              <a:ext cx="170329" cy="0"/>
            </a:xfrm>
            <a:prstGeom prst="line">
              <a:avLst/>
            </a:prstGeom>
            <a:noFill/>
            <a:ln w="9525" algn="ctr">
              <a:solidFill>
                <a:schemeClr val="tx1"/>
              </a:solidFill>
              <a:round/>
              <a:headEnd/>
              <a:tailEnd/>
            </a:ln>
          </p:spPr>
        </p:cxnSp>
        <p:cxnSp>
          <p:nvCxnSpPr>
            <p:cNvPr id="10257" name="Straight Connector 14">
              <a:extLst>
                <a:ext uri="{FF2B5EF4-FFF2-40B4-BE49-F238E27FC236}">
                  <a16:creationId xmlns:a16="http://schemas.microsoft.com/office/drawing/2014/main" id="{D6EC8FCD-F275-4659-956A-4B97CB41BBA4}"/>
                </a:ext>
              </a:extLst>
            </p:cNvPr>
            <p:cNvCxnSpPr>
              <a:cxnSpLocks noChangeShapeType="1"/>
            </p:cNvCxnSpPr>
            <p:nvPr/>
          </p:nvCxnSpPr>
          <p:spPr bwMode="auto">
            <a:xfrm>
              <a:off x="3175000" y="2506362"/>
              <a:ext cx="170329" cy="0"/>
            </a:xfrm>
            <a:prstGeom prst="line">
              <a:avLst/>
            </a:prstGeom>
            <a:noFill/>
            <a:ln w="9525" algn="ctr">
              <a:solidFill>
                <a:schemeClr val="tx1"/>
              </a:solidFill>
              <a:round/>
              <a:headEnd/>
              <a:tailEnd/>
            </a:ln>
          </p:spPr>
        </p:cxnSp>
        <p:cxnSp>
          <p:nvCxnSpPr>
            <p:cNvPr id="10258" name="Straight Connector 15">
              <a:extLst>
                <a:ext uri="{FF2B5EF4-FFF2-40B4-BE49-F238E27FC236}">
                  <a16:creationId xmlns:a16="http://schemas.microsoft.com/office/drawing/2014/main" id="{CD1397AE-0D40-4E6D-9743-DFEA12B1078B}"/>
                </a:ext>
              </a:extLst>
            </p:cNvPr>
            <p:cNvCxnSpPr>
              <a:cxnSpLocks noChangeShapeType="1"/>
            </p:cNvCxnSpPr>
            <p:nvPr/>
          </p:nvCxnSpPr>
          <p:spPr bwMode="auto">
            <a:xfrm rot="5400000">
              <a:off x="3154567" y="2617282"/>
              <a:ext cx="211196" cy="0"/>
            </a:xfrm>
            <a:prstGeom prst="line">
              <a:avLst/>
            </a:prstGeom>
            <a:noFill/>
            <a:ln w="9525" algn="ctr">
              <a:solidFill>
                <a:schemeClr val="tx1"/>
              </a:solidFill>
              <a:round/>
              <a:headEnd/>
              <a:tailEnd/>
            </a:ln>
          </p:spPr>
        </p:cxnSp>
        <p:cxnSp>
          <p:nvCxnSpPr>
            <p:cNvPr id="10259" name="Straight Connector 16">
              <a:extLst>
                <a:ext uri="{FF2B5EF4-FFF2-40B4-BE49-F238E27FC236}">
                  <a16:creationId xmlns:a16="http://schemas.microsoft.com/office/drawing/2014/main" id="{B5BB18A5-F73F-4133-B6E7-B4C1ACF53E9E}"/>
                </a:ext>
              </a:extLst>
            </p:cNvPr>
            <p:cNvCxnSpPr>
              <a:cxnSpLocks noChangeShapeType="1"/>
            </p:cNvCxnSpPr>
            <p:nvPr/>
          </p:nvCxnSpPr>
          <p:spPr bwMode="auto">
            <a:xfrm rot="5400000">
              <a:off x="3175256" y="2372162"/>
              <a:ext cx="171592" cy="0"/>
            </a:xfrm>
            <a:prstGeom prst="line">
              <a:avLst/>
            </a:prstGeom>
            <a:noFill/>
            <a:ln w="9525" algn="ctr">
              <a:solidFill>
                <a:schemeClr val="tx1"/>
              </a:solidFill>
              <a:round/>
              <a:headEnd/>
              <a:tailEnd/>
            </a:ln>
          </p:spPr>
        </p:cxnSp>
        <p:sp>
          <p:nvSpPr>
            <p:cNvPr id="10260" name="Isosceles Triangle 17">
              <a:extLst>
                <a:ext uri="{FF2B5EF4-FFF2-40B4-BE49-F238E27FC236}">
                  <a16:creationId xmlns:a16="http://schemas.microsoft.com/office/drawing/2014/main" id="{27977A8A-CB6B-4BA1-B66E-927BAFC0D70D}"/>
                </a:ext>
              </a:extLst>
            </p:cNvPr>
            <p:cNvSpPr>
              <a:spLocks noChangeArrowheads="1"/>
            </p:cNvSpPr>
            <p:nvPr/>
          </p:nvSpPr>
          <p:spPr bwMode="auto">
            <a:xfrm rot="5400000">
              <a:off x="2272093" y="2167718"/>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261" name="Straight Connector 18">
              <a:extLst>
                <a:ext uri="{FF2B5EF4-FFF2-40B4-BE49-F238E27FC236}">
                  <a16:creationId xmlns:a16="http://schemas.microsoft.com/office/drawing/2014/main" id="{1605CE94-BB4B-4EEF-B047-920AEEDD6069}"/>
                </a:ext>
              </a:extLst>
            </p:cNvPr>
            <p:cNvCxnSpPr>
              <a:cxnSpLocks noChangeShapeType="1"/>
            </p:cNvCxnSpPr>
            <p:nvPr/>
          </p:nvCxnSpPr>
          <p:spPr bwMode="auto">
            <a:xfrm>
              <a:off x="2527890" y="2297316"/>
              <a:ext cx="224835" cy="0"/>
            </a:xfrm>
            <a:prstGeom prst="line">
              <a:avLst/>
            </a:prstGeom>
            <a:noFill/>
            <a:ln w="9525" algn="ctr">
              <a:solidFill>
                <a:schemeClr val="tx1"/>
              </a:solidFill>
              <a:round/>
              <a:headEnd/>
              <a:tailEnd/>
            </a:ln>
          </p:spPr>
        </p:cxnSp>
        <p:cxnSp>
          <p:nvCxnSpPr>
            <p:cNvPr id="10262" name="Straight Connector 19">
              <a:extLst>
                <a:ext uri="{FF2B5EF4-FFF2-40B4-BE49-F238E27FC236}">
                  <a16:creationId xmlns:a16="http://schemas.microsoft.com/office/drawing/2014/main" id="{6CC9586D-32DC-4C4E-A67C-FBE674F2B1DD}"/>
                </a:ext>
              </a:extLst>
            </p:cNvPr>
            <p:cNvCxnSpPr>
              <a:cxnSpLocks noChangeShapeType="1"/>
            </p:cNvCxnSpPr>
            <p:nvPr/>
          </p:nvCxnSpPr>
          <p:spPr bwMode="auto">
            <a:xfrm>
              <a:off x="2114484" y="2295461"/>
              <a:ext cx="170329" cy="0"/>
            </a:xfrm>
            <a:prstGeom prst="line">
              <a:avLst/>
            </a:prstGeom>
            <a:noFill/>
            <a:ln w="9525" algn="ctr">
              <a:solidFill>
                <a:schemeClr val="tx1"/>
              </a:solidFill>
              <a:round/>
              <a:headEnd/>
              <a:tailEnd/>
            </a:ln>
          </p:spPr>
        </p:cxnSp>
        <p:grpSp>
          <p:nvGrpSpPr>
            <p:cNvPr id="10263" name="Group 307">
              <a:extLst>
                <a:ext uri="{FF2B5EF4-FFF2-40B4-BE49-F238E27FC236}">
                  <a16:creationId xmlns:a16="http://schemas.microsoft.com/office/drawing/2014/main" id="{9C8FEAC3-FC97-4D36-B8D4-D25ED07D9D9E}"/>
                </a:ext>
              </a:extLst>
            </p:cNvPr>
            <p:cNvGrpSpPr>
              <a:grpSpLocks/>
            </p:cNvGrpSpPr>
            <p:nvPr/>
          </p:nvGrpSpPr>
          <p:grpSpPr bwMode="auto">
            <a:xfrm>
              <a:off x="3763945" y="2298589"/>
              <a:ext cx="273050" cy="641345"/>
              <a:chOff x="3379321" y="3168650"/>
              <a:chExt cx="170329" cy="427888"/>
            </a:xfrm>
          </p:grpSpPr>
          <p:cxnSp>
            <p:nvCxnSpPr>
              <p:cNvPr id="10342" name="Straight Connector 209">
                <a:extLst>
                  <a:ext uri="{FF2B5EF4-FFF2-40B4-BE49-F238E27FC236}">
                    <a16:creationId xmlns:a16="http://schemas.microsoft.com/office/drawing/2014/main" id="{2C4B1BEE-DAB6-4006-A3CE-A7E22DC36F86}"/>
                  </a:ext>
                </a:extLst>
              </p:cNvPr>
              <p:cNvCxnSpPr>
                <a:cxnSpLocks noChangeShapeType="1"/>
              </p:cNvCxnSpPr>
              <p:nvPr/>
            </p:nvCxnSpPr>
            <p:spPr bwMode="auto">
              <a:xfrm>
                <a:off x="3379321" y="3335848"/>
                <a:ext cx="170329" cy="0"/>
              </a:xfrm>
              <a:prstGeom prst="line">
                <a:avLst/>
              </a:prstGeom>
              <a:noFill/>
              <a:ln w="9525" algn="ctr">
                <a:solidFill>
                  <a:schemeClr val="tx1"/>
                </a:solidFill>
                <a:round/>
                <a:headEnd/>
                <a:tailEnd/>
              </a:ln>
            </p:spPr>
          </p:cxnSp>
          <p:cxnSp>
            <p:nvCxnSpPr>
              <p:cNvPr id="10343" name="Straight Connector 210">
                <a:extLst>
                  <a:ext uri="{FF2B5EF4-FFF2-40B4-BE49-F238E27FC236}">
                    <a16:creationId xmlns:a16="http://schemas.microsoft.com/office/drawing/2014/main" id="{434BB40D-C370-4266-BC11-AC935458FA71}"/>
                  </a:ext>
                </a:extLst>
              </p:cNvPr>
              <p:cNvCxnSpPr>
                <a:cxnSpLocks noChangeShapeType="1"/>
              </p:cNvCxnSpPr>
              <p:nvPr/>
            </p:nvCxnSpPr>
            <p:spPr bwMode="auto">
              <a:xfrm>
                <a:off x="3379321" y="3388645"/>
                <a:ext cx="170329" cy="0"/>
              </a:xfrm>
              <a:prstGeom prst="line">
                <a:avLst/>
              </a:prstGeom>
              <a:noFill/>
              <a:ln w="9525" algn="ctr">
                <a:solidFill>
                  <a:schemeClr val="tx1"/>
                </a:solidFill>
                <a:round/>
                <a:headEnd/>
                <a:tailEnd/>
              </a:ln>
            </p:spPr>
          </p:cxnSp>
          <p:cxnSp>
            <p:nvCxnSpPr>
              <p:cNvPr id="10344" name="Straight Connector 211">
                <a:extLst>
                  <a:ext uri="{FF2B5EF4-FFF2-40B4-BE49-F238E27FC236}">
                    <a16:creationId xmlns:a16="http://schemas.microsoft.com/office/drawing/2014/main" id="{2700F2DB-3A50-496E-B2C8-CD12B6D5976E}"/>
                  </a:ext>
                </a:extLst>
              </p:cNvPr>
              <p:cNvCxnSpPr>
                <a:cxnSpLocks noChangeShapeType="1"/>
              </p:cNvCxnSpPr>
              <p:nvPr/>
            </p:nvCxnSpPr>
            <p:spPr bwMode="auto">
              <a:xfrm rot="5400000">
                <a:off x="3358888" y="3490940"/>
                <a:ext cx="211196" cy="0"/>
              </a:xfrm>
              <a:prstGeom prst="line">
                <a:avLst/>
              </a:prstGeom>
              <a:noFill/>
              <a:ln w="9525" algn="ctr">
                <a:solidFill>
                  <a:schemeClr val="tx1"/>
                </a:solidFill>
                <a:round/>
                <a:headEnd/>
                <a:tailEnd/>
              </a:ln>
            </p:spPr>
          </p:cxnSp>
          <p:cxnSp>
            <p:nvCxnSpPr>
              <p:cNvPr id="10345" name="Straight Connector 212">
                <a:extLst>
                  <a:ext uri="{FF2B5EF4-FFF2-40B4-BE49-F238E27FC236}">
                    <a16:creationId xmlns:a16="http://schemas.microsoft.com/office/drawing/2014/main" id="{80166F6C-5717-4EF2-9597-93DB0E062F6E}"/>
                  </a:ext>
                </a:extLst>
              </p:cNvPr>
              <p:cNvCxnSpPr>
                <a:cxnSpLocks noChangeShapeType="1"/>
              </p:cNvCxnSpPr>
              <p:nvPr/>
            </p:nvCxnSpPr>
            <p:spPr bwMode="auto">
              <a:xfrm rot="5400000">
                <a:off x="3379577" y="3254446"/>
                <a:ext cx="171592" cy="0"/>
              </a:xfrm>
              <a:prstGeom prst="line">
                <a:avLst/>
              </a:prstGeom>
              <a:noFill/>
              <a:ln w="9525" algn="ctr">
                <a:solidFill>
                  <a:schemeClr val="tx1"/>
                </a:solidFill>
                <a:round/>
                <a:headEnd/>
                <a:tailEnd/>
              </a:ln>
            </p:spPr>
          </p:cxnSp>
        </p:grpSp>
        <p:cxnSp>
          <p:nvCxnSpPr>
            <p:cNvPr id="10264" name="Straight Connector 22">
              <a:extLst>
                <a:ext uri="{FF2B5EF4-FFF2-40B4-BE49-F238E27FC236}">
                  <a16:creationId xmlns:a16="http://schemas.microsoft.com/office/drawing/2014/main" id="{654D9936-27DD-4DA4-A53B-56DFC5B1F480}"/>
                </a:ext>
              </a:extLst>
            </p:cNvPr>
            <p:cNvCxnSpPr>
              <a:cxnSpLocks noChangeShapeType="1"/>
            </p:cNvCxnSpPr>
            <p:nvPr/>
          </p:nvCxnSpPr>
          <p:spPr bwMode="auto">
            <a:xfrm>
              <a:off x="3778250" y="2298620"/>
              <a:ext cx="276249" cy="0"/>
            </a:xfrm>
            <a:prstGeom prst="line">
              <a:avLst/>
            </a:prstGeom>
            <a:noFill/>
            <a:ln w="9525" algn="ctr">
              <a:solidFill>
                <a:schemeClr val="tx1"/>
              </a:solidFill>
              <a:round/>
              <a:headEnd/>
              <a:tailEnd/>
            </a:ln>
          </p:spPr>
        </p:cxnSp>
        <p:cxnSp>
          <p:nvCxnSpPr>
            <p:cNvPr id="10265" name="Straight Connector 24">
              <a:extLst>
                <a:ext uri="{FF2B5EF4-FFF2-40B4-BE49-F238E27FC236}">
                  <a16:creationId xmlns:a16="http://schemas.microsoft.com/office/drawing/2014/main" id="{F5A3C876-911C-4B8B-A0CA-44A4A7771C90}"/>
                </a:ext>
              </a:extLst>
            </p:cNvPr>
            <p:cNvCxnSpPr>
              <a:cxnSpLocks noChangeShapeType="1"/>
            </p:cNvCxnSpPr>
            <p:nvPr/>
          </p:nvCxnSpPr>
          <p:spPr bwMode="auto">
            <a:xfrm>
              <a:off x="4433257" y="2555031"/>
              <a:ext cx="266700" cy="0"/>
            </a:xfrm>
            <a:prstGeom prst="line">
              <a:avLst/>
            </a:prstGeom>
            <a:noFill/>
            <a:ln w="9525" algn="ctr">
              <a:solidFill>
                <a:schemeClr val="tx1"/>
              </a:solidFill>
              <a:round/>
              <a:headEnd/>
              <a:tailEnd/>
            </a:ln>
          </p:spPr>
        </p:cxnSp>
        <p:cxnSp>
          <p:nvCxnSpPr>
            <p:cNvPr id="10266" name="Straight Connector 25">
              <a:extLst>
                <a:ext uri="{FF2B5EF4-FFF2-40B4-BE49-F238E27FC236}">
                  <a16:creationId xmlns:a16="http://schemas.microsoft.com/office/drawing/2014/main" id="{67A08205-3D53-40A6-B40B-2332C4584F0A}"/>
                </a:ext>
              </a:extLst>
            </p:cNvPr>
            <p:cNvCxnSpPr>
              <a:cxnSpLocks noChangeShapeType="1"/>
            </p:cNvCxnSpPr>
            <p:nvPr/>
          </p:nvCxnSpPr>
          <p:spPr bwMode="auto">
            <a:xfrm>
              <a:off x="4433257" y="2632993"/>
              <a:ext cx="266700" cy="0"/>
            </a:xfrm>
            <a:prstGeom prst="line">
              <a:avLst/>
            </a:prstGeom>
            <a:noFill/>
            <a:ln w="9525" algn="ctr">
              <a:solidFill>
                <a:schemeClr val="tx1"/>
              </a:solidFill>
              <a:round/>
              <a:headEnd/>
              <a:tailEnd/>
            </a:ln>
          </p:spPr>
        </p:cxnSp>
        <p:cxnSp>
          <p:nvCxnSpPr>
            <p:cNvPr id="10267" name="Straight Connector 26">
              <a:extLst>
                <a:ext uri="{FF2B5EF4-FFF2-40B4-BE49-F238E27FC236}">
                  <a16:creationId xmlns:a16="http://schemas.microsoft.com/office/drawing/2014/main" id="{5D533732-2AE1-4234-83F8-FF0A06748C6F}"/>
                </a:ext>
              </a:extLst>
            </p:cNvPr>
            <p:cNvCxnSpPr>
              <a:cxnSpLocks noChangeShapeType="1"/>
            </p:cNvCxnSpPr>
            <p:nvPr/>
          </p:nvCxnSpPr>
          <p:spPr bwMode="auto">
            <a:xfrm rot="5400000">
              <a:off x="4066887" y="3126943"/>
              <a:ext cx="997658" cy="0"/>
            </a:xfrm>
            <a:prstGeom prst="line">
              <a:avLst/>
            </a:prstGeom>
            <a:noFill/>
            <a:ln w="9525" algn="ctr">
              <a:solidFill>
                <a:schemeClr val="tx1"/>
              </a:solidFill>
              <a:round/>
              <a:headEnd/>
              <a:tailEnd/>
            </a:ln>
          </p:spPr>
        </p:cxnSp>
        <p:cxnSp>
          <p:nvCxnSpPr>
            <p:cNvPr id="10268" name="Straight Connector 27">
              <a:extLst>
                <a:ext uri="{FF2B5EF4-FFF2-40B4-BE49-F238E27FC236}">
                  <a16:creationId xmlns:a16="http://schemas.microsoft.com/office/drawing/2014/main" id="{9C66EC6A-A2E7-4384-84FC-F92BE4EC9FCF}"/>
                </a:ext>
              </a:extLst>
            </p:cNvPr>
            <p:cNvCxnSpPr>
              <a:cxnSpLocks noChangeShapeType="1"/>
            </p:cNvCxnSpPr>
            <p:nvPr/>
          </p:nvCxnSpPr>
          <p:spPr bwMode="auto">
            <a:xfrm rot="16200000" flipH="1">
              <a:off x="4419580" y="2423755"/>
              <a:ext cx="275525" cy="0"/>
            </a:xfrm>
            <a:prstGeom prst="line">
              <a:avLst/>
            </a:prstGeom>
            <a:noFill/>
            <a:ln w="9525" algn="ctr">
              <a:solidFill>
                <a:schemeClr val="tx1"/>
              </a:solidFill>
              <a:round/>
              <a:headEnd/>
              <a:tailEnd/>
            </a:ln>
          </p:spPr>
        </p:cxnSp>
        <p:cxnSp>
          <p:nvCxnSpPr>
            <p:cNvPr id="10269" name="Straight Connector 28">
              <a:extLst>
                <a:ext uri="{FF2B5EF4-FFF2-40B4-BE49-F238E27FC236}">
                  <a16:creationId xmlns:a16="http://schemas.microsoft.com/office/drawing/2014/main" id="{0D876FF5-7362-4A79-BDAE-4AFFAE03BAED}"/>
                </a:ext>
              </a:extLst>
            </p:cNvPr>
            <p:cNvCxnSpPr>
              <a:cxnSpLocks noChangeShapeType="1"/>
              <a:stCxn id="10325" idx="3"/>
            </p:cNvCxnSpPr>
            <p:nvPr/>
          </p:nvCxnSpPr>
          <p:spPr bwMode="auto">
            <a:xfrm>
              <a:off x="4403246" y="2285992"/>
              <a:ext cx="353860" cy="0"/>
            </a:xfrm>
            <a:prstGeom prst="line">
              <a:avLst/>
            </a:prstGeom>
            <a:noFill/>
            <a:ln w="9525" algn="ctr">
              <a:solidFill>
                <a:schemeClr val="tx1"/>
              </a:solidFill>
              <a:round/>
              <a:headEnd/>
              <a:tailEnd/>
            </a:ln>
          </p:spPr>
        </p:cxnSp>
        <p:grpSp>
          <p:nvGrpSpPr>
            <p:cNvPr id="10270" name="Group 309">
              <a:extLst>
                <a:ext uri="{FF2B5EF4-FFF2-40B4-BE49-F238E27FC236}">
                  <a16:creationId xmlns:a16="http://schemas.microsoft.com/office/drawing/2014/main" id="{1B6EF268-A857-4CB9-9522-7886382C5224}"/>
                </a:ext>
              </a:extLst>
            </p:cNvPr>
            <p:cNvGrpSpPr>
              <a:grpSpLocks/>
            </p:cNvGrpSpPr>
            <p:nvPr/>
          </p:nvGrpSpPr>
          <p:grpSpPr bwMode="auto">
            <a:xfrm>
              <a:off x="5029200" y="2295465"/>
              <a:ext cx="269851" cy="648522"/>
              <a:chOff x="4671522" y="3169585"/>
              <a:chExt cx="170329" cy="445924"/>
            </a:xfrm>
          </p:grpSpPr>
          <p:cxnSp>
            <p:nvCxnSpPr>
              <p:cNvPr id="10338" name="Straight Connector 189">
                <a:extLst>
                  <a:ext uri="{FF2B5EF4-FFF2-40B4-BE49-F238E27FC236}">
                    <a16:creationId xmlns:a16="http://schemas.microsoft.com/office/drawing/2014/main" id="{C504919A-1469-4D23-AD41-E23F9248D539}"/>
                  </a:ext>
                </a:extLst>
              </p:cNvPr>
              <p:cNvCxnSpPr>
                <a:cxnSpLocks noChangeShapeType="1"/>
              </p:cNvCxnSpPr>
              <p:nvPr/>
            </p:nvCxnSpPr>
            <p:spPr bwMode="auto">
              <a:xfrm>
                <a:off x="4671522" y="3354818"/>
                <a:ext cx="170329" cy="0"/>
              </a:xfrm>
              <a:prstGeom prst="line">
                <a:avLst/>
              </a:prstGeom>
              <a:noFill/>
              <a:ln w="9525" algn="ctr">
                <a:solidFill>
                  <a:schemeClr val="tx1"/>
                </a:solidFill>
                <a:round/>
                <a:headEnd/>
                <a:tailEnd/>
              </a:ln>
            </p:spPr>
          </p:cxnSp>
          <p:cxnSp>
            <p:nvCxnSpPr>
              <p:cNvPr id="10339" name="Straight Connector 190">
                <a:extLst>
                  <a:ext uri="{FF2B5EF4-FFF2-40B4-BE49-F238E27FC236}">
                    <a16:creationId xmlns:a16="http://schemas.microsoft.com/office/drawing/2014/main" id="{FB4162DA-2F38-48C0-A80A-5A8AD3431232}"/>
                  </a:ext>
                </a:extLst>
              </p:cNvPr>
              <p:cNvCxnSpPr>
                <a:cxnSpLocks noChangeShapeType="1"/>
              </p:cNvCxnSpPr>
              <p:nvPr/>
            </p:nvCxnSpPr>
            <p:spPr bwMode="auto">
              <a:xfrm>
                <a:off x="4671522" y="3407616"/>
                <a:ext cx="170329" cy="0"/>
              </a:xfrm>
              <a:prstGeom prst="line">
                <a:avLst/>
              </a:prstGeom>
              <a:noFill/>
              <a:ln w="9525" algn="ctr">
                <a:solidFill>
                  <a:schemeClr val="tx1"/>
                </a:solidFill>
                <a:round/>
                <a:headEnd/>
                <a:tailEnd/>
              </a:ln>
            </p:spPr>
          </p:cxnSp>
          <p:cxnSp>
            <p:nvCxnSpPr>
              <p:cNvPr id="10340" name="Straight Connector 191">
                <a:extLst>
                  <a:ext uri="{FF2B5EF4-FFF2-40B4-BE49-F238E27FC236}">
                    <a16:creationId xmlns:a16="http://schemas.microsoft.com/office/drawing/2014/main" id="{EA3A7A32-7AA0-4220-92DA-9769A34D69C2}"/>
                  </a:ext>
                </a:extLst>
              </p:cNvPr>
              <p:cNvCxnSpPr>
                <a:cxnSpLocks noChangeShapeType="1"/>
              </p:cNvCxnSpPr>
              <p:nvPr/>
            </p:nvCxnSpPr>
            <p:spPr bwMode="auto">
              <a:xfrm rot="5400000">
                <a:off x="4651089" y="3509911"/>
                <a:ext cx="211196" cy="0"/>
              </a:xfrm>
              <a:prstGeom prst="line">
                <a:avLst/>
              </a:prstGeom>
              <a:noFill/>
              <a:ln w="9525" algn="ctr">
                <a:solidFill>
                  <a:schemeClr val="tx1"/>
                </a:solidFill>
                <a:round/>
                <a:headEnd/>
                <a:tailEnd/>
              </a:ln>
            </p:spPr>
          </p:cxnSp>
          <p:cxnSp>
            <p:nvCxnSpPr>
              <p:cNvPr id="10341" name="Straight Connector 192">
                <a:extLst>
                  <a:ext uri="{FF2B5EF4-FFF2-40B4-BE49-F238E27FC236}">
                    <a16:creationId xmlns:a16="http://schemas.microsoft.com/office/drawing/2014/main" id="{9B32ED20-17D7-484B-AF5C-2BABCA5FF769}"/>
                  </a:ext>
                </a:extLst>
              </p:cNvPr>
              <p:cNvCxnSpPr>
                <a:cxnSpLocks noChangeShapeType="1"/>
              </p:cNvCxnSpPr>
              <p:nvPr/>
            </p:nvCxnSpPr>
            <p:spPr bwMode="auto">
              <a:xfrm flipH="1">
                <a:off x="4757574" y="3169585"/>
                <a:ext cx="0" cy="189627"/>
              </a:xfrm>
              <a:prstGeom prst="line">
                <a:avLst/>
              </a:prstGeom>
              <a:noFill/>
              <a:ln w="9525" algn="ctr">
                <a:solidFill>
                  <a:schemeClr val="tx1"/>
                </a:solidFill>
                <a:round/>
                <a:headEnd/>
                <a:tailEnd/>
              </a:ln>
            </p:spPr>
          </p:cxnSp>
        </p:grpSp>
        <p:cxnSp>
          <p:nvCxnSpPr>
            <p:cNvPr id="10271" name="Straight Connector 31">
              <a:extLst>
                <a:ext uri="{FF2B5EF4-FFF2-40B4-BE49-F238E27FC236}">
                  <a16:creationId xmlns:a16="http://schemas.microsoft.com/office/drawing/2014/main" id="{CA189B1A-E424-4CD6-ADDE-0845F2B474DF}"/>
                </a:ext>
              </a:extLst>
            </p:cNvPr>
            <p:cNvCxnSpPr>
              <a:cxnSpLocks noChangeShapeType="1"/>
              <a:stCxn id="10328" idx="3"/>
              <a:endCxn id="10322" idx="1"/>
            </p:cNvCxnSpPr>
            <p:nvPr/>
          </p:nvCxnSpPr>
          <p:spPr bwMode="auto">
            <a:xfrm flipV="1">
              <a:off x="5054814" y="2293719"/>
              <a:ext cx="285752" cy="0"/>
            </a:xfrm>
            <a:prstGeom prst="line">
              <a:avLst/>
            </a:prstGeom>
            <a:noFill/>
            <a:ln w="9525" algn="ctr">
              <a:solidFill>
                <a:schemeClr val="tx1"/>
              </a:solidFill>
              <a:round/>
              <a:headEnd/>
              <a:tailEnd/>
            </a:ln>
          </p:spPr>
        </p:cxnSp>
        <p:grpSp>
          <p:nvGrpSpPr>
            <p:cNvPr id="34" name="Group 492">
              <a:extLst>
                <a:ext uri="{FF2B5EF4-FFF2-40B4-BE49-F238E27FC236}">
                  <a16:creationId xmlns:a16="http://schemas.microsoft.com/office/drawing/2014/main" id="{537B98AD-CECE-40F1-B8B8-303FF2E31A50}"/>
                </a:ext>
              </a:extLst>
            </p:cNvPr>
            <p:cNvGrpSpPr/>
            <p:nvPr/>
          </p:nvGrpSpPr>
          <p:grpSpPr>
            <a:xfrm>
              <a:off x="5776459" y="2298622"/>
              <a:ext cx="170330" cy="533482"/>
              <a:chOff x="5645149" y="2205831"/>
              <a:chExt cx="152400" cy="384967"/>
            </a:xfrm>
            <a:solidFill>
              <a:schemeClr val="accent1"/>
            </a:solidFill>
          </p:grpSpPr>
          <p:sp>
            <p:nvSpPr>
              <p:cNvPr id="177" name="Isosceles Triangle 176">
                <a:extLst>
                  <a:ext uri="{FF2B5EF4-FFF2-40B4-BE49-F238E27FC236}">
                    <a16:creationId xmlns:a16="http://schemas.microsoft.com/office/drawing/2014/main" id="{F4B3EEDB-A728-4418-98E9-B2C60A61E4AA}"/>
                  </a:ext>
                </a:extLst>
              </p:cNvPr>
              <p:cNvSpPr/>
              <p:nvPr/>
            </p:nvSpPr>
            <p:spPr bwMode="auto">
              <a:xfrm rot="10800000">
                <a:off x="5676899" y="2514598"/>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178" name="Straight Connector 177">
                <a:extLst>
                  <a:ext uri="{FF2B5EF4-FFF2-40B4-BE49-F238E27FC236}">
                    <a16:creationId xmlns:a16="http://schemas.microsoft.com/office/drawing/2014/main" id="{5CF21211-B2C0-48A0-901D-9F79322720F2}"/>
                  </a:ext>
                </a:extLst>
              </p:cNvPr>
              <p:cNvCxnSpPr/>
              <p:nvPr/>
            </p:nvCxnSpPr>
            <p:spPr bwMode="auto">
              <a:xfrm>
                <a:off x="5645149" y="2326486"/>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179" name="Straight Connector 178">
                <a:extLst>
                  <a:ext uri="{FF2B5EF4-FFF2-40B4-BE49-F238E27FC236}">
                    <a16:creationId xmlns:a16="http://schemas.microsoft.com/office/drawing/2014/main" id="{A3CA9DF2-00DA-4B59-B0AB-52C478EBD75C}"/>
                  </a:ext>
                </a:extLst>
              </p:cNvPr>
              <p:cNvCxnSpPr/>
              <p:nvPr/>
            </p:nvCxnSpPr>
            <p:spPr bwMode="auto">
              <a:xfrm>
                <a:off x="5645149" y="2364586"/>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180" name="Straight Connector 179">
                <a:extLst>
                  <a:ext uri="{FF2B5EF4-FFF2-40B4-BE49-F238E27FC236}">
                    <a16:creationId xmlns:a16="http://schemas.microsoft.com/office/drawing/2014/main" id="{ED5F2777-B05F-4E0C-91BC-4394800B7E37}"/>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181" name="Straight Connector 180">
                <a:extLst>
                  <a:ext uri="{FF2B5EF4-FFF2-40B4-BE49-F238E27FC236}">
                    <a16:creationId xmlns:a16="http://schemas.microsoft.com/office/drawing/2014/main" id="{8CF3CEFA-AF40-4F3B-BCE7-063134EFDACF}"/>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cxnSp>
          <p:nvCxnSpPr>
            <p:cNvPr id="10273" name="Straight Connector 34">
              <a:extLst>
                <a:ext uri="{FF2B5EF4-FFF2-40B4-BE49-F238E27FC236}">
                  <a16:creationId xmlns:a16="http://schemas.microsoft.com/office/drawing/2014/main" id="{8F100ED6-46FE-4D3F-AD69-CEE22F333F6B}"/>
                </a:ext>
              </a:extLst>
            </p:cNvPr>
            <p:cNvCxnSpPr>
              <a:cxnSpLocks noChangeShapeType="1"/>
              <a:stCxn id="10322" idx="3"/>
            </p:cNvCxnSpPr>
            <p:nvPr/>
          </p:nvCxnSpPr>
          <p:spPr bwMode="auto">
            <a:xfrm>
              <a:off x="5697756" y="2293719"/>
              <a:ext cx="296644" cy="0"/>
            </a:xfrm>
            <a:prstGeom prst="line">
              <a:avLst/>
            </a:prstGeom>
            <a:noFill/>
            <a:ln w="9525" algn="ctr">
              <a:solidFill>
                <a:schemeClr val="tx1"/>
              </a:solidFill>
              <a:round/>
              <a:headEnd/>
              <a:tailEnd/>
            </a:ln>
          </p:spPr>
        </p:cxnSp>
        <p:cxnSp>
          <p:nvCxnSpPr>
            <p:cNvPr id="10274" name="Straight Connector 36">
              <a:extLst>
                <a:ext uri="{FF2B5EF4-FFF2-40B4-BE49-F238E27FC236}">
                  <a16:creationId xmlns:a16="http://schemas.microsoft.com/office/drawing/2014/main" id="{98B4B71B-A8D8-4213-B986-04DBAD7ABDC9}"/>
                </a:ext>
              </a:extLst>
            </p:cNvPr>
            <p:cNvCxnSpPr>
              <a:cxnSpLocks noChangeShapeType="1"/>
              <a:stCxn id="10317" idx="3"/>
              <a:endCxn id="10320" idx="1"/>
            </p:cNvCxnSpPr>
            <p:nvPr/>
          </p:nvCxnSpPr>
          <p:spPr bwMode="auto">
            <a:xfrm>
              <a:off x="3086089" y="2928934"/>
              <a:ext cx="334277" cy="0"/>
            </a:xfrm>
            <a:prstGeom prst="line">
              <a:avLst/>
            </a:prstGeom>
            <a:noFill/>
            <a:ln w="9525" algn="ctr">
              <a:solidFill>
                <a:schemeClr val="tx1"/>
              </a:solidFill>
              <a:round/>
              <a:headEnd/>
              <a:tailEnd/>
            </a:ln>
          </p:spPr>
        </p:cxnSp>
        <p:sp>
          <p:nvSpPr>
            <p:cNvPr id="10275" name="Isosceles Triangle 37">
              <a:extLst>
                <a:ext uri="{FF2B5EF4-FFF2-40B4-BE49-F238E27FC236}">
                  <a16:creationId xmlns:a16="http://schemas.microsoft.com/office/drawing/2014/main" id="{92035B89-6696-4407-BB81-7E3937CB73E6}"/>
                </a:ext>
              </a:extLst>
            </p:cNvPr>
            <p:cNvSpPr>
              <a:spLocks noChangeArrowheads="1"/>
            </p:cNvSpPr>
            <p:nvPr/>
          </p:nvSpPr>
          <p:spPr bwMode="auto">
            <a:xfrm rot="5400000">
              <a:off x="5996368" y="2799463"/>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276" name="Straight Connector 38">
              <a:extLst>
                <a:ext uri="{FF2B5EF4-FFF2-40B4-BE49-F238E27FC236}">
                  <a16:creationId xmlns:a16="http://schemas.microsoft.com/office/drawing/2014/main" id="{2B0F3A98-191D-42A3-9130-6ACD74BC40E5}"/>
                </a:ext>
              </a:extLst>
            </p:cNvPr>
            <p:cNvCxnSpPr>
              <a:cxnSpLocks noChangeShapeType="1"/>
            </p:cNvCxnSpPr>
            <p:nvPr/>
          </p:nvCxnSpPr>
          <p:spPr bwMode="auto">
            <a:xfrm>
              <a:off x="6252165" y="2926284"/>
              <a:ext cx="224835" cy="0"/>
            </a:xfrm>
            <a:prstGeom prst="line">
              <a:avLst/>
            </a:prstGeom>
            <a:noFill/>
            <a:ln w="9525" algn="ctr">
              <a:solidFill>
                <a:schemeClr val="tx1"/>
              </a:solidFill>
              <a:round/>
              <a:headEnd/>
              <a:tailEnd/>
            </a:ln>
          </p:spPr>
        </p:cxnSp>
        <p:sp>
          <p:nvSpPr>
            <p:cNvPr id="10277" name="Isosceles Triangle 39">
              <a:extLst>
                <a:ext uri="{FF2B5EF4-FFF2-40B4-BE49-F238E27FC236}">
                  <a16:creationId xmlns:a16="http://schemas.microsoft.com/office/drawing/2014/main" id="{697F9351-7FE6-4A5B-A5BD-E6026F31CC98}"/>
                </a:ext>
              </a:extLst>
            </p:cNvPr>
            <p:cNvSpPr>
              <a:spLocks noChangeArrowheads="1"/>
            </p:cNvSpPr>
            <p:nvPr/>
          </p:nvSpPr>
          <p:spPr bwMode="auto">
            <a:xfrm rot="10800000">
              <a:off x="3211726" y="3352344"/>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0278" name="Straight Connector 40">
              <a:extLst>
                <a:ext uri="{FF2B5EF4-FFF2-40B4-BE49-F238E27FC236}">
                  <a16:creationId xmlns:a16="http://schemas.microsoft.com/office/drawing/2014/main" id="{BCAD5015-7BBC-4F9C-A9E2-46414662427A}"/>
                </a:ext>
              </a:extLst>
            </p:cNvPr>
            <p:cNvCxnSpPr>
              <a:cxnSpLocks noChangeShapeType="1"/>
            </p:cNvCxnSpPr>
            <p:nvPr/>
          </p:nvCxnSpPr>
          <p:spPr bwMode="auto">
            <a:xfrm>
              <a:off x="3176241" y="3091659"/>
              <a:ext cx="170329" cy="0"/>
            </a:xfrm>
            <a:prstGeom prst="line">
              <a:avLst/>
            </a:prstGeom>
            <a:noFill/>
            <a:ln w="9525" algn="ctr">
              <a:solidFill>
                <a:schemeClr val="tx1"/>
              </a:solidFill>
              <a:round/>
              <a:headEnd/>
              <a:tailEnd/>
            </a:ln>
          </p:spPr>
        </p:cxnSp>
        <p:cxnSp>
          <p:nvCxnSpPr>
            <p:cNvPr id="10279" name="Straight Connector 41">
              <a:extLst>
                <a:ext uri="{FF2B5EF4-FFF2-40B4-BE49-F238E27FC236}">
                  <a16:creationId xmlns:a16="http://schemas.microsoft.com/office/drawing/2014/main" id="{15F1D768-5E32-4E9D-8A67-7AD6C9C99EB1}"/>
                </a:ext>
              </a:extLst>
            </p:cNvPr>
            <p:cNvCxnSpPr>
              <a:cxnSpLocks noChangeShapeType="1"/>
            </p:cNvCxnSpPr>
            <p:nvPr/>
          </p:nvCxnSpPr>
          <p:spPr bwMode="auto">
            <a:xfrm>
              <a:off x="3176241" y="3144457"/>
              <a:ext cx="170329" cy="0"/>
            </a:xfrm>
            <a:prstGeom prst="line">
              <a:avLst/>
            </a:prstGeom>
            <a:noFill/>
            <a:ln w="9525" algn="ctr">
              <a:solidFill>
                <a:schemeClr val="tx1"/>
              </a:solidFill>
              <a:round/>
              <a:headEnd/>
              <a:tailEnd/>
            </a:ln>
          </p:spPr>
        </p:cxnSp>
        <p:cxnSp>
          <p:nvCxnSpPr>
            <p:cNvPr id="10280" name="Straight Connector 42">
              <a:extLst>
                <a:ext uri="{FF2B5EF4-FFF2-40B4-BE49-F238E27FC236}">
                  <a16:creationId xmlns:a16="http://schemas.microsoft.com/office/drawing/2014/main" id="{8A1CE9C8-F194-4CBE-A46D-A7437C9E8A7E}"/>
                </a:ext>
              </a:extLst>
            </p:cNvPr>
            <p:cNvCxnSpPr>
              <a:cxnSpLocks noChangeShapeType="1"/>
            </p:cNvCxnSpPr>
            <p:nvPr/>
          </p:nvCxnSpPr>
          <p:spPr bwMode="auto">
            <a:xfrm rot="5400000">
              <a:off x="3155808" y="3246751"/>
              <a:ext cx="211196" cy="0"/>
            </a:xfrm>
            <a:prstGeom prst="line">
              <a:avLst/>
            </a:prstGeom>
            <a:noFill/>
            <a:ln w="9525" algn="ctr">
              <a:solidFill>
                <a:schemeClr val="tx1"/>
              </a:solidFill>
              <a:round/>
              <a:headEnd/>
              <a:tailEnd/>
            </a:ln>
          </p:spPr>
        </p:cxnSp>
        <p:cxnSp>
          <p:nvCxnSpPr>
            <p:cNvPr id="10281" name="Straight Connector 43">
              <a:extLst>
                <a:ext uri="{FF2B5EF4-FFF2-40B4-BE49-F238E27FC236}">
                  <a16:creationId xmlns:a16="http://schemas.microsoft.com/office/drawing/2014/main" id="{4163C0E1-57AE-4C74-8D00-E595D650BD7F}"/>
                </a:ext>
              </a:extLst>
            </p:cNvPr>
            <p:cNvCxnSpPr>
              <a:cxnSpLocks noChangeShapeType="1"/>
            </p:cNvCxnSpPr>
            <p:nvPr/>
          </p:nvCxnSpPr>
          <p:spPr bwMode="auto">
            <a:xfrm rot="5400000">
              <a:off x="3176497" y="3010257"/>
              <a:ext cx="171592" cy="0"/>
            </a:xfrm>
            <a:prstGeom prst="line">
              <a:avLst/>
            </a:prstGeom>
            <a:noFill/>
            <a:ln w="9525" algn="ctr">
              <a:solidFill>
                <a:schemeClr val="tx1"/>
              </a:solidFill>
              <a:round/>
              <a:headEnd/>
              <a:tailEnd/>
            </a:ln>
          </p:spPr>
        </p:cxnSp>
        <p:sp>
          <p:nvSpPr>
            <p:cNvPr id="10282" name="Isosceles Triangle 44">
              <a:extLst>
                <a:ext uri="{FF2B5EF4-FFF2-40B4-BE49-F238E27FC236}">
                  <a16:creationId xmlns:a16="http://schemas.microsoft.com/office/drawing/2014/main" id="{4C94394D-8E06-42FF-B44B-27FE1B074D12}"/>
                </a:ext>
              </a:extLst>
            </p:cNvPr>
            <p:cNvSpPr>
              <a:spLocks noChangeArrowheads="1"/>
            </p:cNvSpPr>
            <p:nvPr/>
          </p:nvSpPr>
          <p:spPr bwMode="auto">
            <a:xfrm rot="5400000">
              <a:off x="2273334" y="2805813"/>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283" name="Straight Connector 45">
              <a:extLst>
                <a:ext uri="{FF2B5EF4-FFF2-40B4-BE49-F238E27FC236}">
                  <a16:creationId xmlns:a16="http://schemas.microsoft.com/office/drawing/2014/main" id="{127125DA-8D59-4F3C-BBFD-B5F9128503E4}"/>
                </a:ext>
              </a:extLst>
            </p:cNvPr>
            <p:cNvCxnSpPr>
              <a:cxnSpLocks noChangeShapeType="1"/>
            </p:cNvCxnSpPr>
            <p:nvPr/>
          </p:nvCxnSpPr>
          <p:spPr bwMode="auto">
            <a:xfrm>
              <a:off x="2529131" y="2935411"/>
              <a:ext cx="224835" cy="0"/>
            </a:xfrm>
            <a:prstGeom prst="line">
              <a:avLst/>
            </a:prstGeom>
            <a:noFill/>
            <a:ln w="9525" algn="ctr">
              <a:solidFill>
                <a:schemeClr val="tx1"/>
              </a:solidFill>
              <a:round/>
              <a:headEnd/>
              <a:tailEnd/>
            </a:ln>
          </p:spPr>
        </p:cxnSp>
        <p:cxnSp>
          <p:nvCxnSpPr>
            <p:cNvPr id="10284" name="Straight Connector 46">
              <a:extLst>
                <a:ext uri="{FF2B5EF4-FFF2-40B4-BE49-F238E27FC236}">
                  <a16:creationId xmlns:a16="http://schemas.microsoft.com/office/drawing/2014/main" id="{C537DDAE-A800-4CE4-902A-423BAF888FC5}"/>
                </a:ext>
              </a:extLst>
            </p:cNvPr>
            <p:cNvCxnSpPr>
              <a:cxnSpLocks noChangeShapeType="1"/>
            </p:cNvCxnSpPr>
            <p:nvPr/>
          </p:nvCxnSpPr>
          <p:spPr bwMode="auto">
            <a:xfrm>
              <a:off x="2115725" y="2933556"/>
              <a:ext cx="170329" cy="0"/>
            </a:xfrm>
            <a:prstGeom prst="line">
              <a:avLst/>
            </a:prstGeom>
            <a:noFill/>
            <a:ln w="9525" algn="ctr">
              <a:solidFill>
                <a:schemeClr val="tx1"/>
              </a:solidFill>
              <a:round/>
              <a:headEnd/>
              <a:tailEnd/>
            </a:ln>
          </p:spPr>
        </p:cxnSp>
        <p:grpSp>
          <p:nvGrpSpPr>
            <p:cNvPr id="10285" name="Group 312">
              <a:extLst>
                <a:ext uri="{FF2B5EF4-FFF2-40B4-BE49-F238E27FC236}">
                  <a16:creationId xmlns:a16="http://schemas.microsoft.com/office/drawing/2014/main" id="{6566D9AD-20A1-48EC-8B45-61AC278DD49F}"/>
                </a:ext>
              </a:extLst>
            </p:cNvPr>
            <p:cNvGrpSpPr>
              <a:grpSpLocks/>
            </p:cNvGrpSpPr>
            <p:nvPr/>
          </p:nvGrpSpPr>
          <p:grpSpPr bwMode="auto">
            <a:xfrm>
              <a:off x="3763944" y="2936001"/>
              <a:ext cx="274291" cy="688972"/>
              <a:chOff x="3380562" y="3806746"/>
              <a:chExt cx="170329" cy="427887"/>
            </a:xfrm>
          </p:grpSpPr>
          <p:cxnSp>
            <p:nvCxnSpPr>
              <p:cNvPr id="10334" name="Straight Connector 156">
                <a:extLst>
                  <a:ext uri="{FF2B5EF4-FFF2-40B4-BE49-F238E27FC236}">
                    <a16:creationId xmlns:a16="http://schemas.microsoft.com/office/drawing/2014/main" id="{C35F65EC-F55C-4CF9-96A0-49DEB91AC428}"/>
                  </a:ext>
                </a:extLst>
              </p:cNvPr>
              <p:cNvCxnSpPr>
                <a:cxnSpLocks noChangeShapeType="1"/>
              </p:cNvCxnSpPr>
              <p:nvPr/>
            </p:nvCxnSpPr>
            <p:spPr bwMode="auto">
              <a:xfrm>
                <a:off x="3380562" y="3973947"/>
                <a:ext cx="170329" cy="0"/>
              </a:xfrm>
              <a:prstGeom prst="line">
                <a:avLst/>
              </a:prstGeom>
              <a:noFill/>
              <a:ln w="9525" algn="ctr">
                <a:solidFill>
                  <a:schemeClr val="tx1"/>
                </a:solidFill>
                <a:round/>
                <a:headEnd/>
                <a:tailEnd/>
              </a:ln>
            </p:spPr>
          </p:cxnSp>
          <p:cxnSp>
            <p:nvCxnSpPr>
              <p:cNvPr id="10335" name="Straight Connector 157">
                <a:extLst>
                  <a:ext uri="{FF2B5EF4-FFF2-40B4-BE49-F238E27FC236}">
                    <a16:creationId xmlns:a16="http://schemas.microsoft.com/office/drawing/2014/main" id="{A61A8F6E-0F19-4A95-8820-60940F00BC1C}"/>
                  </a:ext>
                </a:extLst>
              </p:cNvPr>
              <p:cNvCxnSpPr>
                <a:cxnSpLocks noChangeShapeType="1"/>
              </p:cNvCxnSpPr>
              <p:nvPr/>
            </p:nvCxnSpPr>
            <p:spPr bwMode="auto">
              <a:xfrm>
                <a:off x="3380562" y="4026745"/>
                <a:ext cx="170329" cy="0"/>
              </a:xfrm>
              <a:prstGeom prst="line">
                <a:avLst/>
              </a:prstGeom>
              <a:noFill/>
              <a:ln w="9525" algn="ctr">
                <a:solidFill>
                  <a:schemeClr val="tx1"/>
                </a:solidFill>
                <a:round/>
                <a:headEnd/>
                <a:tailEnd/>
              </a:ln>
            </p:spPr>
          </p:cxnSp>
          <p:cxnSp>
            <p:nvCxnSpPr>
              <p:cNvPr id="10336" name="Straight Connector 158">
                <a:extLst>
                  <a:ext uri="{FF2B5EF4-FFF2-40B4-BE49-F238E27FC236}">
                    <a16:creationId xmlns:a16="http://schemas.microsoft.com/office/drawing/2014/main" id="{02B82313-FDF6-43DD-A7CD-EB93E2163EBC}"/>
                  </a:ext>
                </a:extLst>
              </p:cNvPr>
              <p:cNvCxnSpPr>
                <a:cxnSpLocks noChangeShapeType="1"/>
              </p:cNvCxnSpPr>
              <p:nvPr/>
            </p:nvCxnSpPr>
            <p:spPr bwMode="auto">
              <a:xfrm rot="5400000">
                <a:off x="3360130" y="4129035"/>
                <a:ext cx="211196" cy="0"/>
              </a:xfrm>
              <a:prstGeom prst="line">
                <a:avLst/>
              </a:prstGeom>
              <a:noFill/>
              <a:ln w="9525" algn="ctr">
                <a:solidFill>
                  <a:schemeClr val="tx1"/>
                </a:solidFill>
                <a:round/>
                <a:headEnd/>
                <a:tailEnd/>
              </a:ln>
            </p:spPr>
          </p:cxnSp>
          <p:cxnSp>
            <p:nvCxnSpPr>
              <p:cNvPr id="10337" name="Straight Connector 159">
                <a:extLst>
                  <a:ext uri="{FF2B5EF4-FFF2-40B4-BE49-F238E27FC236}">
                    <a16:creationId xmlns:a16="http://schemas.microsoft.com/office/drawing/2014/main" id="{0ADBE220-AE55-479B-9EB7-E51CD9D57466}"/>
                  </a:ext>
                </a:extLst>
              </p:cNvPr>
              <p:cNvCxnSpPr>
                <a:cxnSpLocks noChangeShapeType="1"/>
              </p:cNvCxnSpPr>
              <p:nvPr/>
            </p:nvCxnSpPr>
            <p:spPr bwMode="auto">
              <a:xfrm rot="5400000">
                <a:off x="3379411" y="3892542"/>
                <a:ext cx="171592" cy="0"/>
              </a:xfrm>
              <a:prstGeom prst="line">
                <a:avLst/>
              </a:prstGeom>
              <a:noFill/>
              <a:ln w="9525" algn="ctr">
                <a:solidFill>
                  <a:schemeClr val="tx1"/>
                </a:solidFill>
                <a:round/>
                <a:headEnd/>
                <a:tailEnd/>
              </a:ln>
            </p:spPr>
          </p:cxnSp>
        </p:grpSp>
        <p:cxnSp>
          <p:nvCxnSpPr>
            <p:cNvPr id="10286" name="Straight Connector 49">
              <a:extLst>
                <a:ext uri="{FF2B5EF4-FFF2-40B4-BE49-F238E27FC236}">
                  <a16:creationId xmlns:a16="http://schemas.microsoft.com/office/drawing/2014/main" id="{6F01129B-6298-4B2F-8387-388C75FBE4E1}"/>
                </a:ext>
              </a:extLst>
            </p:cNvPr>
            <p:cNvCxnSpPr>
              <a:cxnSpLocks noChangeShapeType="1"/>
            </p:cNvCxnSpPr>
            <p:nvPr/>
          </p:nvCxnSpPr>
          <p:spPr bwMode="auto">
            <a:xfrm>
              <a:off x="3779491" y="2936715"/>
              <a:ext cx="276249" cy="0"/>
            </a:xfrm>
            <a:prstGeom prst="line">
              <a:avLst/>
            </a:prstGeom>
            <a:noFill/>
            <a:ln w="9525" algn="ctr">
              <a:solidFill>
                <a:schemeClr val="tx1"/>
              </a:solidFill>
              <a:round/>
              <a:headEnd/>
              <a:tailEnd/>
            </a:ln>
          </p:spPr>
        </p:cxnSp>
        <p:cxnSp>
          <p:nvCxnSpPr>
            <p:cNvPr id="10287" name="Straight Connector 51">
              <a:extLst>
                <a:ext uri="{FF2B5EF4-FFF2-40B4-BE49-F238E27FC236}">
                  <a16:creationId xmlns:a16="http://schemas.microsoft.com/office/drawing/2014/main" id="{F54AE109-5262-4985-B983-6FE4266552B9}"/>
                </a:ext>
              </a:extLst>
            </p:cNvPr>
            <p:cNvCxnSpPr>
              <a:cxnSpLocks noChangeShapeType="1"/>
              <a:endCxn id="10323" idx="1"/>
            </p:cNvCxnSpPr>
            <p:nvPr/>
          </p:nvCxnSpPr>
          <p:spPr bwMode="auto">
            <a:xfrm>
              <a:off x="4430342" y="2920362"/>
              <a:ext cx="918850" cy="0"/>
            </a:xfrm>
            <a:prstGeom prst="line">
              <a:avLst/>
            </a:prstGeom>
            <a:noFill/>
            <a:ln w="9525" algn="ctr">
              <a:solidFill>
                <a:schemeClr val="tx1"/>
              </a:solidFill>
              <a:round/>
              <a:headEnd/>
              <a:tailEnd/>
            </a:ln>
          </p:spPr>
        </p:cxnSp>
        <p:grpSp>
          <p:nvGrpSpPr>
            <p:cNvPr id="10288" name="Group 314">
              <a:extLst>
                <a:ext uri="{FF2B5EF4-FFF2-40B4-BE49-F238E27FC236}">
                  <a16:creationId xmlns:a16="http://schemas.microsoft.com/office/drawing/2014/main" id="{B68C0D86-AAE2-4A9A-B098-EFA077CF0949}"/>
                </a:ext>
              </a:extLst>
            </p:cNvPr>
            <p:cNvGrpSpPr>
              <a:grpSpLocks/>
            </p:cNvGrpSpPr>
            <p:nvPr/>
          </p:nvGrpSpPr>
          <p:grpSpPr bwMode="auto">
            <a:xfrm>
              <a:off x="5034225" y="2928936"/>
              <a:ext cx="271092" cy="697143"/>
              <a:chOff x="4672763" y="3808455"/>
              <a:chExt cx="170329" cy="445146"/>
            </a:xfrm>
          </p:grpSpPr>
          <p:cxnSp>
            <p:nvCxnSpPr>
              <p:cNvPr id="10330" name="Straight Connector 144">
                <a:extLst>
                  <a:ext uri="{FF2B5EF4-FFF2-40B4-BE49-F238E27FC236}">
                    <a16:creationId xmlns:a16="http://schemas.microsoft.com/office/drawing/2014/main" id="{E38D0B8C-D0ED-4339-8973-8506B04EEE0F}"/>
                  </a:ext>
                </a:extLst>
              </p:cNvPr>
              <p:cNvCxnSpPr>
                <a:cxnSpLocks noChangeShapeType="1"/>
              </p:cNvCxnSpPr>
              <p:nvPr/>
            </p:nvCxnSpPr>
            <p:spPr bwMode="auto">
              <a:xfrm>
                <a:off x="4672763" y="3992913"/>
                <a:ext cx="170329" cy="0"/>
              </a:xfrm>
              <a:prstGeom prst="line">
                <a:avLst/>
              </a:prstGeom>
              <a:noFill/>
              <a:ln w="9525" algn="ctr">
                <a:solidFill>
                  <a:schemeClr val="tx1"/>
                </a:solidFill>
                <a:round/>
                <a:headEnd/>
                <a:tailEnd/>
              </a:ln>
            </p:spPr>
          </p:cxnSp>
          <p:cxnSp>
            <p:nvCxnSpPr>
              <p:cNvPr id="10331" name="Straight Connector 145">
                <a:extLst>
                  <a:ext uri="{FF2B5EF4-FFF2-40B4-BE49-F238E27FC236}">
                    <a16:creationId xmlns:a16="http://schemas.microsoft.com/office/drawing/2014/main" id="{934D54B2-0A29-4535-8C5F-DB38D7842ECE}"/>
                  </a:ext>
                </a:extLst>
              </p:cNvPr>
              <p:cNvCxnSpPr>
                <a:cxnSpLocks noChangeShapeType="1"/>
              </p:cNvCxnSpPr>
              <p:nvPr/>
            </p:nvCxnSpPr>
            <p:spPr bwMode="auto">
              <a:xfrm>
                <a:off x="4672763" y="4045711"/>
                <a:ext cx="170329" cy="0"/>
              </a:xfrm>
              <a:prstGeom prst="line">
                <a:avLst/>
              </a:prstGeom>
              <a:noFill/>
              <a:ln w="9525" algn="ctr">
                <a:solidFill>
                  <a:schemeClr val="tx1"/>
                </a:solidFill>
                <a:round/>
                <a:headEnd/>
                <a:tailEnd/>
              </a:ln>
            </p:spPr>
          </p:cxnSp>
          <p:cxnSp>
            <p:nvCxnSpPr>
              <p:cNvPr id="10332" name="Straight Connector 146">
                <a:extLst>
                  <a:ext uri="{FF2B5EF4-FFF2-40B4-BE49-F238E27FC236}">
                    <a16:creationId xmlns:a16="http://schemas.microsoft.com/office/drawing/2014/main" id="{AB4E4E70-A40C-4830-BE1B-315DEDEEDA43}"/>
                  </a:ext>
                </a:extLst>
              </p:cNvPr>
              <p:cNvCxnSpPr>
                <a:cxnSpLocks noChangeShapeType="1"/>
              </p:cNvCxnSpPr>
              <p:nvPr/>
            </p:nvCxnSpPr>
            <p:spPr bwMode="auto">
              <a:xfrm rot="5400000">
                <a:off x="4652330" y="4148003"/>
                <a:ext cx="211196" cy="0"/>
              </a:xfrm>
              <a:prstGeom prst="line">
                <a:avLst/>
              </a:prstGeom>
              <a:noFill/>
              <a:ln w="9525" algn="ctr">
                <a:solidFill>
                  <a:schemeClr val="tx1"/>
                </a:solidFill>
                <a:round/>
                <a:headEnd/>
                <a:tailEnd/>
              </a:ln>
            </p:spPr>
          </p:cxnSp>
          <p:cxnSp>
            <p:nvCxnSpPr>
              <p:cNvPr id="10333" name="Straight Connector 147">
                <a:extLst>
                  <a:ext uri="{FF2B5EF4-FFF2-40B4-BE49-F238E27FC236}">
                    <a16:creationId xmlns:a16="http://schemas.microsoft.com/office/drawing/2014/main" id="{A260FF04-E0BB-4049-94A3-CFEB06730EB3}"/>
                  </a:ext>
                </a:extLst>
              </p:cNvPr>
              <p:cNvCxnSpPr>
                <a:cxnSpLocks noChangeShapeType="1"/>
              </p:cNvCxnSpPr>
              <p:nvPr/>
            </p:nvCxnSpPr>
            <p:spPr bwMode="auto">
              <a:xfrm rot="16200000" flipH="1">
                <a:off x="4661555" y="3902882"/>
                <a:ext cx="188853" cy="0"/>
              </a:xfrm>
              <a:prstGeom prst="line">
                <a:avLst/>
              </a:prstGeom>
              <a:noFill/>
              <a:ln w="9525" algn="ctr">
                <a:solidFill>
                  <a:schemeClr val="tx1"/>
                </a:solidFill>
                <a:round/>
                <a:headEnd/>
                <a:tailEnd/>
              </a:ln>
            </p:spPr>
          </p:cxnSp>
        </p:grpSp>
        <p:grpSp>
          <p:nvGrpSpPr>
            <p:cNvPr id="56" name="Group 492">
              <a:extLst>
                <a:ext uri="{FF2B5EF4-FFF2-40B4-BE49-F238E27FC236}">
                  <a16:creationId xmlns:a16="http://schemas.microsoft.com/office/drawing/2014/main" id="{2AFFF052-9079-41EA-AA8D-31B89DCDBC31}"/>
                </a:ext>
              </a:extLst>
            </p:cNvPr>
            <p:cNvGrpSpPr/>
            <p:nvPr/>
          </p:nvGrpSpPr>
          <p:grpSpPr>
            <a:xfrm>
              <a:off x="5777700" y="2936720"/>
              <a:ext cx="170330" cy="533484"/>
              <a:chOff x="5645149" y="2205831"/>
              <a:chExt cx="152400" cy="384968"/>
            </a:xfrm>
            <a:solidFill>
              <a:schemeClr val="accent1"/>
            </a:solidFill>
          </p:grpSpPr>
          <p:sp>
            <p:nvSpPr>
              <p:cNvPr id="132" name="Isosceles Triangle 131">
                <a:extLst>
                  <a:ext uri="{FF2B5EF4-FFF2-40B4-BE49-F238E27FC236}">
                    <a16:creationId xmlns:a16="http://schemas.microsoft.com/office/drawing/2014/main" id="{F8898AEF-3DF4-49B0-AFE5-FCB170C13082}"/>
                  </a:ext>
                </a:extLst>
              </p:cNvPr>
              <p:cNvSpPr/>
              <p:nvPr/>
            </p:nvSpPr>
            <p:spPr bwMode="auto">
              <a:xfrm rot="10800000">
                <a:off x="5693943" y="2514599"/>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133" name="Straight Connector 132">
                <a:extLst>
                  <a:ext uri="{FF2B5EF4-FFF2-40B4-BE49-F238E27FC236}">
                    <a16:creationId xmlns:a16="http://schemas.microsoft.com/office/drawing/2014/main" id="{6D4270BD-31D1-4B79-BE77-DE50CF7FE3B3}"/>
                  </a:ext>
                </a:extLst>
              </p:cNvPr>
              <p:cNvCxnSpPr/>
              <p:nvPr/>
            </p:nvCxnSpPr>
            <p:spPr bwMode="auto">
              <a:xfrm>
                <a:off x="5645149" y="2326484"/>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134" name="Straight Connector 133">
                <a:extLst>
                  <a:ext uri="{FF2B5EF4-FFF2-40B4-BE49-F238E27FC236}">
                    <a16:creationId xmlns:a16="http://schemas.microsoft.com/office/drawing/2014/main" id="{E34C59CF-1765-4A75-8D73-007D3AE28BC1}"/>
                  </a:ext>
                </a:extLst>
              </p:cNvPr>
              <p:cNvCxnSpPr/>
              <p:nvPr/>
            </p:nvCxnSpPr>
            <p:spPr bwMode="auto">
              <a:xfrm>
                <a:off x="5645149" y="2364584"/>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135" name="Straight Connector 134">
                <a:extLst>
                  <a:ext uri="{FF2B5EF4-FFF2-40B4-BE49-F238E27FC236}">
                    <a16:creationId xmlns:a16="http://schemas.microsoft.com/office/drawing/2014/main" id="{59CCFCA6-5762-478B-8522-2DA856406F3E}"/>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136" name="Straight Connector 135">
                <a:extLst>
                  <a:ext uri="{FF2B5EF4-FFF2-40B4-BE49-F238E27FC236}">
                    <a16:creationId xmlns:a16="http://schemas.microsoft.com/office/drawing/2014/main" id="{076DF28D-94EB-4259-A0C8-0B4EE820B4AE}"/>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cxnSp>
          <p:nvCxnSpPr>
            <p:cNvPr id="10290" name="Straight Connector 56">
              <a:extLst>
                <a:ext uri="{FF2B5EF4-FFF2-40B4-BE49-F238E27FC236}">
                  <a16:creationId xmlns:a16="http://schemas.microsoft.com/office/drawing/2014/main" id="{452C4B8F-E7E0-48C6-8700-D7F2B4B1DE64}"/>
                </a:ext>
              </a:extLst>
            </p:cNvPr>
            <p:cNvCxnSpPr>
              <a:cxnSpLocks noChangeShapeType="1"/>
            </p:cNvCxnSpPr>
            <p:nvPr/>
          </p:nvCxnSpPr>
          <p:spPr bwMode="auto">
            <a:xfrm>
              <a:off x="5643570" y="2928934"/>
              <a:ext cx="358421" cy="0"/>
            </a:xfrm>
            <a:prstGeom prst="line">
              <a:avLst/>
            </a:prstGeom>
            <a:noFill/>
            <a:ln w="9525" algn="ctr">
              <a:solidFill>
                <a:schemeClr val="tx1"/>
              </a:solidFill>
              <a:round/>
              <a:headEnd/>
              <a:tailEnd/>
            </a:ln>
          </p:spPr>
        </p:cxnSp>
        <p:cxnSp>
          <p:nvCxnSpPr>
            <p:cNvPr id="10291" name="Straight Connector 58">
              <a:extLst>
                <a:ext uri="{FF2B5EF4-FFF2-40B4-BE49-F238E27FC236}">
                  <a16:creationId xmlns:a16="http://schemas.microsoft.com/office/drawing/2014/main" id="{13430F6D-46A4-446F-9AEE-1943785E89B0}"/>
                </a:ext>
              </a:extLst>
            </p:cNvPr>
            <p:cNvCxnSpPr>
              <a:cxnSpLocks noChangeShapeType="1"/>
              <a:endCxn id="10321" idx="1"/>
            </p:cNvCxnSpPr>
            <p:nvPr/>
          </p:nvCxnSpPr>
          <p:spPr bwMode="auto">
            <a:xfrm>
              <a:off x="3127956" y="3622463"/>
              <a:ext cx="301036" cy="0"/>
            </a:xfrm>
            <a:prstGeom prst="line">
              <a:avLst/>
            </a:prstGeom>
            <a:noFill/>
            <a:ln w="9525" algn="ctr">
              <a:solidFill>
                <a:schemeClr val="tx1"/>
              </a:solidFill>
              <a:round/>
              <a:headEnd/>
              <a:tailEnd/>
            </a:ln>
          </p:spPr>
        </p:cxnSp>
        <p:sp>
          <p:nvSpPr>
            <p:cNvPr id="10292" name="Isosceles Triangle 59">
              <a:extLst>
                <a:ext uri="{FF2B5EF4-FFF2-40B4-BE49-F238E27FC236}">
                  <a16:creationId xmlns:a16="http://schemas.microsoft.com/office/drawing/2014/main" id="{573CAE56-5DE5-47E6-B82D-4D7F156D8E1D}"/>
                </a:ext>
              </a:extLst>
            </p:cNvPr>
            <p:cNvSpPr>
              <a:spLocks noChangeArrowheads="1"/>
            </p:cNvSpPr>
            <p:nvPr/>
          </p:nvSpPr>
          <p:spPr bwMode="auto">
            <a:xfrm rot="5400000">
              <a:off x="5996368" y="3529792"/>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293" name="Straight Connector 60">
              <a:extLst>
                <a:ext uri="{FF2B5EF4-FFF2-40B4-BE49-F238E27FC236}">
                  <a16:creationId xmlns:a16="http://schemas.microsoft.com/office/drawing/2014/main" id="{423E89D3-580C-4042-A5AD-10A160BD3EC8}"/>
                </a:ext>
              </a:extLst>
            </p:cNvPr>
            <p:cNvCxnSpPr>
              <a:cxnSpLocks noChangeShapeType="1"/>
            </p:cNvCxnSpPr>
            <p:nvPr/>
          </p:nvCxnSpPr>
          <p:spPr bwMode="auto">
            <a:xfrm>
              <a:off x="6252165" y="3659390"/>
              <a:ext cx="224835" cy="0"/>
            </a:xfrm>
            <a:prstGeom prst="line">
              <a:avLst/>
            </a:prstGeom>
            <a:noFill/>
            <a:ln w="9525" algn="ctr">
              <a:solidFill>
                <a:schemeClr val="tx1"/>
              </a:solidFill>
              <a:round/>
              <a:headEnd/>
              <a:tailEnd/>
            </a:ln>
          </p:spPr>
        </p:cxnSp>
        <p:sp>
          <p:nvSpPr>
            <p:cNvPr id="10294" name="Isosceles Triangle 61">
              <a:extLst>
                <a:ext uri="{FF2B5EF4-FFF2-40B4-BE49-F238E27FC236}">
                  <a16:creationId xmlns:a16="http://schemas.microsoft.com/office/drawing/2014/main" id="{87052348-48DE-4BFD-AEB3-569F84DB8660}"/>
                </a:ext>
              </a:extLst>
            </p:cNvPr>
            <p:cNvSpPr>
              <a:spLocks noChangeArrowheads="1"/>
            </p:cNvSpPr>
            <p:nvPr/>
          </p:nvSpPr>
          <p:spPr bwMode="auto">
            <a:xfrm rot="10800000">
              <a:off x="3211726" y="4044574"/>
              <a:ext cx="85165" cy="10559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cxnSp>
          <p:nvCxnSpPr>
            <p:cNvPr id="10295" name="Straight Connector 62">
              <a:extLst>
                <a:ext uri="{FF2B5EF4-FFF2-40B4-BE49-F238E27FC236}">
                  <a16:creationId xmlns:a16="http://schemas.microsoft.com/office/drawing/2014/main" id="{6823D161-F55E-454C-B3CB-53C443CB1DF5}"/>
                </a:ext>
              </a:extLst>
            </p:cNvPr>
            <p:cNvCxnSpPr>
              <a:cxnSpLocks noChangeShapeType="1"/>
            </p:cNvCxnSpPr>
            <p:nvPr/>
          </p:nvCxnSpPr>
          <p:spPr bwMode="auto">
            <a:xfrm>
              <a:off x="3176241" y="3783889"/>
              <a:ext cx="170329" cy="0"/>
            </a:xfrm>
            <a:prstGeom prst="line">
              <a:avLst/>
            </a:prstGeom>
            <a:noFill/>
            <a:ln w="9525" algn="ctr">
              <a:solidFill>
                <a:schemeClr val="tx1"/>
              </a:solidFill>
              <a:round/>
              <a:headEnd/>
              <a:tailEnd/>
            </a:ln>
          </p:spPr>
        </p:cxnSp>
        <p:cxnSp>
          <p:nvCxnSpPr>
            <p:cNvPr id="10296" name="Straight Connector 63">
              <a:extLst>
                <a:ext uri="{FF2B5EF4-FFF2-40B4-BE49-F238E27FC236}">
                  <a16:creationId xmlns:a16="http://schemas.microsoft.com/office/drawing/2014/main" id="{B28204BD-4107-4394-9ED7-ABD9A3E1BCC8}"/>
                </a:ext>
              </a:extLst>
            </p:cNvPr>
            <p:cNvCxnSpPr>
              <a:cxnSpLocks noChangeShapeType="1"/>
            </p:cNvCxnSpPr>
            <p:nvPr/>
          </p:nvCxnSpPr>
          <p:spPr bwMode="auto">
            <a:xfrm>
              <a:off x="3176241" y="3836687"/>
              <a:ext cx="170329" cy="0"/>
            </a:xfrm>
            <a:prstGeom prst="line">
              <a:avLst/>
            </a:prstGeom>
            <a:noFill/>
            <a:ln w="9525" algn="ctr">
              <a:solidFill>
                <a:schemeClr val="tx1"/>
              </a:solidFill>
              <a:round/>
              <a:headEnd/>
              <a:tailEnd/>
            </a:ln>
          </p:spPr>
        </p:cxnSp>
        <p:cxnSp>
          <p:nvCxnSpPr>
            <p:cNvPr id="10297" name="Straight Connector 64">
              <a:extLst>
                <a:ext uri="{FF2B5EF4-FFF2-40B4-BE49-F238E27FC236}">
                  <a16:creationId xmlns:a16="http://schemas.microsoft.com/office/drawing/2014/main" id="{22D08AD4-E6C6-43C0-9370-7162D86781FE}"/>
                </a:ext>
              </a:extLst>
            </p:cNvPr>
            <p:cNvCxnSpPr>
              <a:cxnSpLocks noChangeShapeType="1"/>
            </p:cNvCxnSpPr>
            <p:nvPr/>
          </p:nvCxnSpPr>
          <p:spPr bwMode="auto">
            <a:xfrm rot="5400000">
              <a:off x="3155808" y="3938981"/>
              <a:ext cx="211196" cy="0"/>
            </a:xfrm>
            <a:prstGeom prst="line">
              <a:avLst/>
            </a:prstGeom>
            <a:noFill/>
            <a:ln w="9525" algn="ctr">
              <a:solidFill>
                <a:schemeClr val="tx1"/>
              </a:solidFill>
              <a:round/>
              <a:headEnd/>
              <a:tailEnd/>
            </a:ln>
          </p:spPr>
        </p:cxnSp>
        <p:cxnSp>
          <p:nvCxnSpPr>
            <p:cNvPr id="10298" name="Straight Connector 65">
              <a:extLst>
                <a:ext uri="{FF2B5EF4-FFF2-40B4-BE49-F238E27FC236}">
                  <a16:creationId xmlns:a16="http://schemas.microsoft.com/office/drawing/2014/main" id="{A2213516-6D72-476F-84B6-6E05B9C1A30D}"/>
                </a:ext>
              </a:extLst>
            </p:cNvPr>
            <p:cNvCxnSpPr>
              <a:cxnSpLocks noChangeShapeType="1"/>
            </p:cNvCxnSpPr>
            <p:nvPr/>
          </p:nvCxnSpPr>
          <p:spPr bwMode="auto">
            <a:xfrm rot="5400000">
              <a:off x="3172868" y="3702487"/>
              <a:ext cx="171592" cy="0"/>
            </a:xfrm>
            <a:prstGeom prst="line">
              <a:avLst/>
            </a:prstGeom>
            <a:noFill/>
            <a:ln w="9525" algn="ctr">
              <a:solidFill>
                <a:schemeClr val="tx1"/>
              </a:solidFill>
              <a:round/>
              <a:headEnd/>
              <a:tailEnd/>
            </a:ln>
          </p:spPr>
        </p:cxnSp>
        <p:sp>
          <p:nvSpPr>
            <p:cNvPr id="10299" name="Isosceles Triangle 66">
              <a:extLst>
                <a:ext uri="{FF2B5EF4-FFF2-40B4-BE49-F238E27FC236}">
                  <a16:creationId xmlns:a16="http://schemas.microsoft.com/office/drawing/2014/main" id="{2A89EAC0-AF1B-48C0-9578-E2805544A0B0}"/>
                </a:ext>
              </a:extLst>
            </p:cNvPr>
            <p:cNvSpPr>
              <a:spLocks noChangeArrowheads="1"/>
            </p:cNvSpPr>
            <p:nvPr/>
          </p:nvSpPr>
          <p:spPr bwMode="auto">
            <a:xfrm rot="5400000">
              <a:off x="2273334" y="3498043"/>
              <a:ext cx="266740" cy="25549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0300" name="Straight Connector 67">
              <a:extLst>
                <a:ext uri="{FF2B5EF4-FFF2-40B4-BE49-F238E27FC236}">
                  <a16:creationId xmlns:a16="http://schemas.microsoft.com/office/drawing/2014/main" id="{11F3D639-7772-46E9-B4A5-B6C68FE97984}"/>
                </a:ext>
              </a:extLst>
            </p:cNvPr>
            <p:cNvCxnSpPr>
              <a:cxnSpLocks noChangeShapeType="1"/>
            </p:cNvCxnSpPr>
            <p:nvPr/>
          </p:nvCxnSpPr>
          <p:spPr bwMode="auto">
            <a:xfrm>
              <a:off x="2529131" y="3625790"/>
              <a:ext cx="224835" cy="0"/>
            </a:xfrm>
            <a:prstGeom prst="line">
              <a:avLst/>
            </a:prstGeom>
            <a:noFill/>
            <a:ln w="9525" algn="ctr">
              <a:solidFill>
                <a:schemeClr val="tx1"/>
              </a:solidFill>
              <a:round/>
              <a:headEnd/>
              <a:tailEnd/>
            </a:ln>
          </p:spPr>
        </p:cxnSp>
        <p:cxnSp>
          <p:nvCxnSpPr>
            <p:cNvPr id="10301" name="Straight Connector 68">
              <a:extLst>
                <a:ext uri="{FF2B5EF4-FFF2-40B4-BE49-F238E27FC236}">
                  <a16:creationId xmlns:a16="http://schemas.microsoft.com/office/drawing/2014/main" id="{6F46B61B-88F6-4BDE-A924-FE0B594DD267}"/>
                </a:ext>
              </a:extLst>
            </p:cNvPr>
            <p:cNvCxnSpPr>
              <a:cxnSpLocks noChangeShapeType="1"/>
            </p:cNvCxnSpPr>
            <p:nvPr/>
          </p:nvCxnSpPr>
          <p:spPr bwMode="auto">
            <a:xfrm>
              <a:off x="2115725" y="3625786"/>
              <a:ext cx="170329" cy="0"/>
            </a:xfrm>
            <a:prstGeom prst="line">
              <a:avLst/>
            </a:prstGeom>
            <a:noFill/>
            <a:ln w="9525" algn="ctr">
              <a:solidFill>
                <a:schemeClr val="tx1"/>
              </a:solidFill>
              <a:round/>
              <a:headEnd/>
              <a:tailEnd/>
            </a:ln>
          </p:spPr>
        </p:cxnSp>
        <p:cxnSp>
          <p:nvCxnSpPr>
            <p:cNvPr id="10302" name="Straight Connector 70">
              <a:extLst>
                <a:ext uri="{FF2B5EF4-FFF2-40B4-BE49-F238E27FC236}">
                  <a16:creationId xmlns:a16="http://schemas.microsoft.com/office/drawing/2014/main" id="{D177EE28-86E8-4607-8B46-1E1F203581DB}"/>
                </a:ext>
              </a:extLst>
            </p:cNvPr>
            <p:cNvCxnSpPr>
              <a:cxnSpLocks noChangeShapeType="1"/>
              <a:endCxn id="10327" idx="1"/>
            </p:cNvCxnSpPr>
            <p:nvPr/>
          </p:nvCxnSpPr>
          <p:spPr bwMode="auto">
            <a:xfrm>
              <a:off x="3774728" y="3622595"/>
              <a:ext cx="288580" cy="0"/>
            </a:xfrm>
            <a:prstGeom prst="line">
              <a:avLst/>
            </a:prstGeom>
            <a:noFill/>
            <a:ln w="9525" algn="ctr">
              <a:solidFill>
                <a:schemeClr val="tx1"/>
              </a:solidFill>
              <a:round/>
              <a:headEnd/>
              <a:tailEnd/>
            </a:ln>
          </p:spPr>
        </p:cxnSp>
        <p:cxnSp>
          <p:nvCxnSpPr>
            <p:cNvPr id="10303" name="Straight Connector 72">
              <a:extLst>
                <a:ext uri="{FF2B5EF4-FFF2-40B4-BE49-F238E27FC236}">
                  <a16:creationId xmlns:a16="http://schemas.microsoft.com/office/drawing/2014/main" id="{A70C4586-98BB-4BC9-AF13-A1E32FD2682F}"/>
                </a:ext>
              </a:extLst>
            </p:cNvPr>
            <p:cNvCxnSpPr>
              <a:cxnSpLocks noChangeShapeType="1"/>
              <a:stCxn id="10327" idx="3"/>
            </p:cNvCxnSpPr>
            <p:nvPr/>
          </p:nvCxnSpPr>
          <p:spPr bwMode="auto">
            <a:xfrm>
              <a:off x="4420498" y="3626062"/>
              <a:ext cx="333086" cy="0"/>
            </a:xfrm>
            <a:prstGeom prst="line">
              <a:avLst/>
            </a:prstGeom>
            <a:noFill/>
            <a:ln w="9525" algn="ctr">
              <a:solidFill>
                <a:schemeClr val="tx1"/>
              </a:solidFill>
              <a:round/>
              <a:headEnd/>
              <a:tailEnd/>
            </a:ln>
          </p:spPr>
        </p:cxnSp>
        <p:cxnSp>
          <p:nvCxnSpPr>
            <p:cNvPr id="10304" name="Straight Connector 74">
              <a:extLst>
                <a:ext uri="{FF2B5EF4-FFF2-40B4-BE49-F238E27FC236}">
                  <a16:creationId xmlns:a16="http://schemas.microsoft.com/office/drawing/2014/main" id="{2BA54B62-37F2-4CC0-8E6B-B9B53E52A18D}"/>
                </a:ext>
              </a:extLst>
            </p:cNvPr>
            <p:cNvCxnSpPr>
              <a:cxnSpLocks noChangeShapeType="1"/>
              <a:endCxn id="10324" idx="1"/>
            </p:cNvCxnSpPr>
            <p:nvPr/>
          </p:nvCxnSpPr>
          <p:spPr bwMode="auto">
            <a:xfrm>
              <a:off x="5066929" y="3619550"/>
              <a:ext cx="290889" cy="0"/>
            </a:xfrm>
            <a:prstGeom prst="line">
              <a:avLst/>
            </a:prstGeom>
            <a:noFill/>
            <a:ln w="9525" algn="ctr">
              <a:solidFill>
                <a:schemeClr val="tx1"/>
              </a:solidFill>
              <a:round/>
              <a:headEnd/>
              <a:tailEnd/>
            </a:ln>
          </p:spPr>
        </p:cxnSp>
        <p:grpSp>
          <p:nvGrpSpPr>
            <p:cNvPr id="77" name="Group 492">
              <a:extLst>
                <a:ext uri="{FF2B5EF4-FFF2-40B4-BE49-F238E27FC236}">
                  <a16:creationId xmlns:a16="http://schemas.microsoft.com/office/drawing/2014/main" id="{FCCB7C12-04AE-4AD6-B8F9-08F7C86B5BF7}"/>
                </a:ext>
              </a:extLst>
            </p:cNvPr>
            <p:cNvGrpSpPr/>
            <p:nvPr/>
          </p:nvGrpSpPr>
          <p:grpSpPr>
            <a:xfrm>
              <a:off x="5777700" y="3657525"/>
              <a:ext cx="170330" cy="533484"/>
              <a:chOff x="5645149" y="2205831"/>
              <a:chExt cx="152400" cy="384968"/>
            </a:xfrm>
            <a:solidFill>
              <a:schemeClr val="accent1"/>
            </a:solidFill>
          </p:grpSpPr>
          <p:sp>
            <p:nvSpPr>
              <p:cNvPr id="87" name="Isosceles Triangle 86">
                <a:extLst>
                  <a:ext uri="{FF2B5EF4-FFF2-40B4-BE49-F238E27FC236}">
                    <a16:creationId xmlns:a16="http://schemas.microsoft.com/office/drawing/2014/main" id="{63462438-455D-4E44-9300-696B1DB272B1}"/>
                  </a:ext>
                </a:extLst>
              </p:cNvPr>
              <p:cNvSpPr/>
              <p:nvPr/>
            </p:nvSpPr>
            <p:spPr bwMode="auto">
              <a:xfrm rot="10800000">
                <a:off x="5693943" y="2514599"/>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88" name="Straight Connector 87">
                <a:extLst>
                  <a:ext uri="{FF2B5EF4-FFF2-40B4-BE49-F238E27FC236}">
                    <a16:creationId xmlns:a16="http://schemas.microsoft.com/office/drawing/2014/main" id="{30F55098-85DA-4A65-B1A4-FBD16BA8667B}"/>
                  </a:ext>
                </a:extLst>
              </p:cNvPr>
              <p:cNvCxnSpPr/>
              <p:nvPr/>
            </p:nvCxnSpPr>
            <p:spPr bwMode="auto">
              <a:xfrm>
                <a:off x="5645149" y="2326484"/>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89" name="Straight Connector 88">
                <a:extLst>
                  <a:ext uri="{FF2B5EF4-FFF2-40B4-BE49-F238E27FC236}">
                    <a16:creationId xmlns:a16="http://schemas.microsoft.com/office/drawing/2014/main" id="{EEC3C91C-EE08-4E40-821D-4D400176F907}"/>
                  </a:ext>
                </a:extLst>
              </p:cNvPr>
              <p:cNvCxnSpPr/>
              <p:nvPr/>
            </p:nvCxnSpPr>
            <p:spPr bwMode="auto">
              <a:xfrm>
                <a:off x="5645149" y="2364584"/>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90" name="Straight Connector 89">
                <a:extLst>
                  <a:ext uri="{FF2B5EF4-FFF2-40B4-BE49-F238E27FC236}">
                    <a16:creationId xmlns:a16="http://schemas.microsoft.com/office/drawing/2014/main" id="{5187F9F2-1C8A-4D21-A37B-C02C584B20A5}"/>
                  </a:ext>
                </a:extLst>
              </p:cNvPr>
              <p:cNvCxnSpPr/>
              <p:nvPr/>
            </p:nvCxnSpPr>
            <p:spPr bwMode="auto">
              <a:xfrm rot="5400000">
                <a:off x="5645148" y="2438401"/>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91" name="Straight Connector 90">
                <a:extLst>
                  <a:ext uri="{FF2B5EF4-FFF2-40B4-BE49-F238E27FC236}">
                    <a16:creationId xmlns:a16="http://schemas.microsoft.com/office/drawing/2014/main" id="{B28454AF-14F2-40AE-A04F-BFEA95CE6490}"/>
                  </a:ext>
                </a:extLst>
              </p:cNvPr>
              <p:cNvCxnSpPr/>
              <p:nvPr/>
            </p:nvCxnSpPr>
            <p:spPr bwMode="auto">
              <a:xfrm rot="5400000">
                <a:off x="5660231" y="2267743"/>
                <a:ext cx="123823" cy="0"/>
              </a:xfrm>
              <a:prstGeom prst="line">
                <a:avLst/>
              </a:prstGeom>
              <a:grpFill/>
              <a:ln w="9525" cap="flat" cmpd="sng" algn="ctr">
                <a:solidFill>
                  <a:schemeClr val="tx1"/>
                </a:solidFill>
                <a:prstDash val="solid"/>
                <a:round/>
                <a:headEnd type="none" w="med" len="med"/>
                <a:tailEnd type="none" w="med" len="med"/>
              </a:ln>
              <a:effectLst/>
            </p:spPr>
          </p:cxnSp>
        </p:grpSp>
        <p:cxnSp>
          <p:nvCxnSpPr>
            <p:cNvPr id="10306" name="Straight Connector 77">
              <a:extLst>
                <a:ext uri="{FF2B5EF4-FFF2-40B4-BE49-F238E27FC236}">
                  <a16:creationId xmlns:a16="http://schemas.microsoft.com/office/drawing/2014/main" id="{A4A83C84-2AD0-416C-889B-B9A269F518C2}"/>
                </a:ext>
              </a:extLst>
            </p:cNvPr>
            <p:cNvCxnSpPr>
              <a:cxnSpLocks noChangeShapeType="1"/>
            </p:cNvCxnSpPr>
            <p:nvPr/>
          </p:nvCxnSpPr>
          <p:spPr bwMode="auto">
            <a:xfrm>
              <a:off x="5714629" y="3648076"/>
              <a:ext cx="276249" cy="0"/>
            </a:xfrm>
            <a:prstGeom prst="line">
              <a:avLst/>
            </a:prstGeom>
            <a:noFill/>
            <a:ln w="9525" algn="ctr">
              <a:solidFill>
                <a:schemeClr val="tx1"/>
              </a:solidFill>
              <a:round/>
              <a:headEnd/>
              <a:tailEnd/>
            </a:ln>
          </p:spPr>
        </p:cxnSp>
        <p:sp>
          <p:nvSpPr>
            <p:cNvPr id="10307" name="TextBox 78">
              <a:extLst>
                <a:ext uri="{FF2B5EF4-FFF2-40B4-BE49-F238E27FC236}">
                  <a16:creationId xmlns:a16="http://schemas.microsoft.com/office/drawing/2014/main" id="{F9C761E8-717C-4749-AB38-1FF3AC599160}"/>
                </a:ext>
              </a:extLst>
            </p:cNvPr>
            <p:cNvSpPr txBox="1">
              <a:spLocks noChangeArrowheads="1"/>
            </p:cNvSpPr>
            <p:nvPr/>
          </p:nvSpPr>
          <p:spPr bwMode="auto">
            <a:xfrm>
              <a:off x="4791710" y="2586627"/>
              <a:ext cx="267831" cy="19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r>
                <a:rPr lang="en-US" altLang="en-US" sz="700"/>
                <a:t>c4</a:t>
              </a:r>
              <a:endParaRPr lang="en-US" altLang="en-US"/>
            </a:p>
          </p:txBody>
        </p:sp>
        <p:sp>
          <p:nvSpPr>
            <p:cNvPr id="10308" name="TextBox 79">
              <a:extLst>
                <a:ext uri="{FF2B5EF4-FFF2-40B4-BE49-F238E27FC236}">
                  <a16:creationId xmlns:a16="http://schemas.microsoft.com/office/drawing/2014/main" id="{D6CF851E-A6A0-4B4B-8651-3A0FCE9C7544}"/>
                </a:ext>
              </a:extLst>
            </p:cNvPr>
            <p:cNvSpPr txBox="1">
              <a:spLocks noChangeArrowheads="1"/>
            </p:cNvSpPr>
            <p:nvPr/>
          </p:nvSpPr>
          <p:spPr bwMode="auto">
            <a:xfrm>
              <a:off x="4191000" y="2574210"/>
              <a:ext cx="267831" cy="19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r>
                <a:rPr lang="en-US" altLang="en-US" sz="700"/>
                <a:t>c3</a:t>
              </a:r>
              <a:endParaRPr lang="en-US" altLang="en-US"/>
            </a:p>
          </p:txBody>
        </p:sp>
        <p:sp>
          <p:nvSpPr>
            <p:cNvPr id="10309" name="TextBox 80">
              <a:extLst>
                <a:ext uri="{FF2B5EF4-FFF2-40B4-BE49-F238E27FC236}">
                  <a16:creationId xmlns:a16="http://schemas.microsoft.com/office/drawing/2014/main" id="{F3FECD02-9A63-41B6-BAFE-45AFD3FFE7DA}"/>
                </a:ext>
              </a:extLst>
            </p:cNvPr>
            <p:cNvSpPr txBox="1">
              <a:spLocks noChangeArrowheads="1"/>
            </p:cNvSpPr>
            <p:nvPr/>
          </p:nvSpPr>
          <p:spPr bwMode="auto">
            <a:xfrm>
              <a:off x="3535680" y="2566590"/>
              <a:ext cx="267831" cy="19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r>
                <a:rPr lang="en-US" altLang="en-US" sz="700"/>
                <a:t>c1</a:t>
              </a:r>
              <a:endParaRPr lang="en-US" altLang="en-US"/>
            </a:p>
          </p:txBody>
        </p:sp>
        <p:sp>
          <p:nvSpPr>
            <p:cNvPr id="10310" name="TextBox 81">
              <a:extLst>
                <a:ext uri="{FF2B5EF4-FFF2-40B4-BE49-F238E27FC236}">
                  <a16:creationId xmlns:a16="http://schemas.microsoft.com/office/drawing/2014/main" id="{6BDCCCCB-CAB6-4CA4-82B7-88056297407E}"/>
                </a:ext>
              </a:extLst>
            </p:cNvPr>
            <p:cNvSpPr txBox="1">
              <a:spLocks noChangeArrowheads="1"/>
            </p:cNvSpPr>
            <p:nvPr/>
          </p:nvSpPr>
          <p:spPr bwMode="auto">
            <a:xfrm>
              <a:off x="3520440" y="3219231"/>
              <a:ext cx="267831" cy="19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dirty="0"/>
                <a:t>C</a:t>
              </a:r>
              <a:r>
                <a:rPr lang="en-US" altLang="en-US" sz="700" dirty="0"/>
                <a:t>c2</a:t>
              </a:r>
              <a:endParaRPr lang="en-US" altLang="en-US" dirty="0"/>
            </a:p>
          </p:txBody>
        </p:sp>
        <p:sp>
          <p:nvSpPr>
            <p:cNvPr id="10311" name="TextBox 82">
              <a:extLst>
                <a:ext uri="{FF2B5EF4-FFF2-40B4-BE49-F238E27FC236}">
                  <a16:creationId xmlns:a16="http://schemas.microsoft.com/office/drawing/2014/main" id="{9E8C1A0C-4693-4982-8E64-3D407047D71A}"/>
                </a:ext>
              </a:extLst>
            </p:cNvPr>
            <p:cNvSpPr txBox="1">
              <a:spLocks noChangeArrowheads="1"/>
            </p:cNvSpPr>
            <p:nvPr/>
          </p:nvSpPr>
          <p:spPr bwMode="auto">
            <a:xfrm>
              <a:off x="4786940" y="3211611"/>
              <a:ext cx="267831" cy="19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a:t>
              </a:r>
              <a:r>
                <a:rPr lang="en-US" altLang="en-US" sz="700"/>
                <a:t>c5</a:t>
              </a:r>
              <a:endParaRPr lang="en-US" altLang="en-US"/>
            </a:p>
          </p:txBody>
        </p:sp>
        <p:sp>
          <p:nvSpPr>
            <p:cNvPr id="10312" name="TextBox 83">
              <a:extLst>
                <a:ext uri="{FF2B5EF4-FFF2-40B4-BE49-F238E27FC236}">
                  <a16:creationId xmlns:a16="http://schemas.microsoft.com/office/drawing/2014/main" id="{3AB59D7C-ECC0-4842-8194-AA71AABBA285}"/>
                </a:ext>
              </a:extLst>
            </p:cNvPr>
            <p:cNvSpPr txBox="1">
              <a:spLocks noChangeArrowheads="1"/>
            </p:cNvSpPr>
            <p:nvPr/>
          </p:nvSpPr>
          <p:spPr bwMode="auto">
            <a:xfrm>
              <a:off x="4429124" y="2036083"/>
              <a:ext cx="228185" cy="15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N1</a:t>
              </a:r>
            </a:p>
          </p:txBody>
        </p:sp>
        <p:sp>
          <p:nvSpPr>
            <p:cNvPr id="10313" name="TextBox 84">
              <a:extLst>
                <a:ext uri="{FF2B5EF4-FFF2-40B4-BE49-F238E27FC236}">
                  <a16:creationId xmlns:a16="http://schemas.microsoft.com/office/drawing/2014/main" id="{2B7B6145-9F6D-458E-9AA1-028DEA35F0F1}"/>
                </a:ext>
              </a:extLst>
            </p:cNvPr>
            <p:cNvSpPr txBox="1">
              <a:spLocks noChangeArrowheads="1"/>
            </p:cNvSpPr>
            <p:nvPr/>
          </p:nvSpPr>
          <p:spPr bwMode="auto">
            <a:xfrm>
              <a:off x="4525610" y="2714620"/>
              <a:ext cx="228185" cy="15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N2</a:t>
              </a:r>
            </a:p>
          </p:txBody>
        </p:sp>
        <p:sp>
          <p:nvSpPr>
            <p:cNvPr id="10314" name="TextBox 85">
              <a:extLst>
                <a:ext uri="{FF2B5EF4-FFF2-40B4-BE49-F238E27FC236}">
                  <a16:creationId xmlns:a16="http://schemas.microsoft.com/office/drawing/2014/main" id="{A3FAE456-930C-491E-B63F-BD17F428C011}"/>
                </a:ext>
              </a:extLst>
            </p:cNvPr>
            <p:cNvSpPr txBox="1">
              <a:spLocks noChangeArrowheads="1"/>
            </p:cNvSpPr>
            <p:nvPr/>
          </p:nvSpPr>
          <p:spPr bwMode="auto">
            <a:xfrm>
              <a:off x="4448496" y="3698234"/>
              <a:ext cx="228185" cy="158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N3</a:t>
              </a:r>
            </a:p>
          </p:txBody>
        </p:sp>
        <p:sp>
          <p:nvSpPr>
            <p:cNvPr id="10315" name="Oval 229">
              <a:extLst>
                <a:ext uri="{FF2B5EF4-FFF2-40B4-BE49-F238E27FC236}">
                  <a16:creationId xmlns:a16="http://schemas.microsoft.com/office/drawing/2014/main" id="{6EF3A517-0A92-46DC-996C-0A83A25F073B}"/>
                </a:ext>
              </a:extLst>
            </p:cNvPr>
            <p:cNvSpPr>
              <a:spLocks noChangeArrowheads="1"/>
            </p:cNvSpPr>
            <p:nvPr/>
          </p:nvSpPr>
          <p:spPr bwMode="auto">
            <a:xfrm>
              <a:off x="4539408" y="3612251"/>
              <a:ext cx="45719" cy="45719"/>
            </a:xfrm>
            <a:prstGeom prst="ellipse">
              <a:avLst/>
            </a:prstGeom>
            <a:solidFill>
              <a:schemeClr val="tx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10316" name="Прямоугольник 230">
              <a:extLst>
                <a:ext uri="{FF2B5EF4-FFF2-40B4-BE49-F238E27FC236}">
                  <a16:creationId xmlns:a16="http://schemas.microsoft.com/office/drawing/2014/main" id="{A86D1EB3-AEFF-4D67-83A4-01047C94FFA5}"/>
                </a:ext>
              </a:extLst>
            </p:cNvPr>
            <p:cNvSpPr>
              <a:spLocks noChangeArrowheads="1"/>
            </p:cNvSpPr>
            <p:nvPr/>
          </p:nvSpPr>
          <p:spPr bwMode="auto">
            <a:xfrm>
              <a:off x="2747950" y="221455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17" name="Прямоугольник 232">
              <a:extLst>
                <a:ext uri="{FF2B5EF4-FFF2-40B4-BE49-F238E27FC236}">
                  <a16:creationId xmlns:a16="http://schemas.microsoft.com/office/drawing/2014/main" id="{D136D34F-4BBD-4CB0-B6AF-973F6E1CC205}"/>
                </a:ext>
              </a:extLst>
            </p:cNvPr>
            <p:cNvSpPr>
              <a:spLocks noChangeArrowheads="1"/>
            </p:cNvSpPr>
            <p:nvPr/>
          </p:nvSpPr>
          <p:spPr bwMode="auto">
            <a:xfrm>
              <a:off x="2728899" y="2857496"/>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18" name="Прямоугольник 233">
              <a:extLst>
                <a:ext uri="{FF2B5EF4-FFF2-40B4-BE49-F238E27FC236}">
                  <a16:creationId xmlns:a16="http://schemas.microsoft.com/office/drawing/2014/main" id="{7E2E148F-76BB-4F63-AF3F-E622F1C220AF}"/>
                </a:ext>
              </a:extLst>
            </p:cNvPr>
            <p:cNvSpPr>
              <a:spLocks noChangeArrowheads="1"/>
            </p:cNvSpPr>
            <p:nvPr/>
          </p:nvSpPr>
          <p:spPr bwMode="auto">
            <a:xfrm>
              <a:off x="2768798" y="355462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19" name="Прямоугольник 236">
              <a:extLst>
                <a:ext uri="{FF2B5EF4-FFF2-40B4-BE49-F238E27FC236}">
                  <a16:creationId xmlns:a16="http://schemas.microsoft.com/office/drawing/2014/main" id="{595645E6-DFD7-4177-A41B-D2D622E2A9A8}"/>
                </a:ext>
              </a:extLst>
            </p:cNvPr>
            <p:cNvSpPr>
              <a:spLocks noChangeArrowheads="1"/>
            </p:cNvSpPr>
            <p:nvPr/>
          </p:nvSpPr>
          <p:spPr bwMode="auto">
            <a:xfrm>
              <a:off x="3411740" y="221455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0" name="Прямоугольник 237">
              <a:extLst>
                <a:ext uri="{FF2B5EF4-FFF2-40B4-BE49-F238E27FC236}">
                  <a16:creationId xmlns:a16="http://schemas.microsoft.com/office/drawing/2014/main" id="{F1A28FE0-F299-495D-914C-9E2AB4C9A7D8}"/>
                </a:ext>
              </a:extLst>
            </p:cNvPr>
            <p:cNvSpPr>
              <a:spLocks noChangeArrowheads="1"/>
            </p:cNvSpPr>
            <p:nvPr/>
          </p:nvSpPr>
          <p:spPr bwMode="auto">
            <a:xfrm>
              <a:off x="3420366" y="2857496"/>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1" name="Прямоугольник 238">
              <a:extLst>
                <a:ext uri="{FF2B5EF4-FFF2-40B4-BE49-F238E27FC236}">
                  <a16:creationId xmlns:a16="http://schemas.microsoft.com/office/drawing/2014/main" id="{8DE76C62-5E4C-4C66-8AF7-F88CF318F9FE}"/>
                </a:ext>
              </a:extLst>
            </p:cNvPr>
            <p:cNvSpPr>
              <a:spLocks noChangeArrowheads="1"/>
            </p:cNvSpPr>
            <p:nvPr/>
          </p:nvSpPr>
          <p:spPr bwMode="auto">
            <a:xfrm>
              <a:off x="3428992" y="355462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2" name="Прямоугольник 241">
              <a:extLst>
                <a:ext uri="{FF2B5EF4-FFF2-40B4-BE49-F238E27FC236}">
                  <a16:creationId xmlns:a16="http://schemas.microsoft.com/office/drawing/2014/main" id="{C8FDEB79-2372-453E-9C4F-F9623DEE274B}"/>
                </a:ext>
              </a:extLst>
            </p:cNvPr>
            <p:cNvSpPr>
              <a:spLocks noChangeArrowheads="1"/>
            </p:cNvSpPr>
            <p:nvPr/>
          </p:nvSpPr>
          <p:spPr bwMode="auto">
            <a:xfrm>
              <a:off x="5340566" y="2222281"/>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3" name="Прямоугольник 242">
              <a:extLst>
                <a:ext uri="{FF2B5EF4-FFF2-40B4-BE49-F238E27FC236}">
                  <a16:creationId xmlns:a16="http://schemas.microsoft.com/office/drawing/2014/main" id="{D3DD9B46-AADC-4DD4-974A-020BDDA26351}"/>
                </a:ext>
              </a:extLst>
            </p:cNvPr>
            <p:cNvSpPr>
              <a:spLocks noChangeArrowheads="1"/>
            </p:cNvSpPr>
            <p:nvPr/>
          </p:nvSpPr>
          <p:spPr bwMode="auto">
            <a:xfrm>
              <a:off x="5349192" y="2857496"/>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4" name="Прямоугольник 243">
              <a:extLst>
                <a:ext uri="{FF2B5EF4-FFF2-40B4-BE49-F238E27FC236}">
                  <a16:creationId xmlns:a16="http://schemas.microsoft.com/office/drawing/2014/main" id="{B142B6D8-B861-45EB-89F6-31279E2023E7}"/>
                </a:ext>
              </a:extLst>
            </p:cNvPr>
            <p:cNvSpPr>
              <a:spLocks noChangeArrowheads="1"/>
            </p:cNvSpPr>
            <p:nvPr/>
          </p:nvSpPr>
          <p:spPr bwMode="auto">
            <a:xfrm>
              <a:off x="5357818" y="3563250"/>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5" name="Прямоугольник 246">
              <a:extLst>
                <a:ext uri="{FF2B5EF4-FFF2-40B4-BE49-F238E27FC236}">
                  <a16:creationId xmlns:a16="http://schemas.microsoft.com/office/drawing/2014/main" id="{9CCDB122-7C79-4F8A-85B4-B2C5ED1A5A0A}"/>
                </a:ext>
              </a:extLst>
            </p:cNvPr>
            <p:cNvSpPr>
              <a:spLocks noChangeArrowheads="1"/>
            </p:cNvSpPr>
            <p:nvPr/>
          </p:nvSpPr>
          <p:spPr bwMode="auto">
            <a:xfrm>
              <a:off x="4046056" y="221455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6" name="Прямоугольник 247">
              <a:extLst>
                <a:ext uri="{FF2B5EF4-FFF2-40B4-BE49-F238E27FC236}">
                  <a16:creationId xmlns:a16="http://schemas.microsoft.com/office/drawing/2014/main" id="{21DC4878-18F9-4DCB-A398-1FB6B7B55FC4}"/>
                </a:ext>
              </a:extLst>
            </p:cNvPr>
            <p:cNvSpPr>
              <a:spLocks noChangeArrowheads="1"/>
            </p:cNvSpPr>
            <p:nvPr/>
          </p:nvSpPr>
          <p:spPr bwMode="auto">
            <a:xfrm>
              <a:off x="4054682" y="2857496"/>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7" name="Прямоугольник 248">
              <a:extLst>
                <a:ext uri="{FF2B5EF4-FFF2-40B4-BE49-F238E27FC236}">
                  <a16:creationId xmlns:a16="http://schemas.microsoft.com/office/drawing/2014/main" id="{27A12978-31BB-419F-B3E3-861CAB68A264}"/>
                </a:ext>
              </a:extLst>
            </p:cNvPr>
            <p:cNvSpPr>
              <a:spLocks noChangeArrowheads="1"/>
            </p:cNvSpPr>
            <p:nvPr/>
          </p:nvSpPr>
          <p:spPr bwMode="auto">
            <a:xfrm>
              <a:off x="4063308" y="3554624"/>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8" name="Прямоугольник 249">
              <a:extLst>
                <a:ext uri="{FF2B5EF4-FFF2-40B4-BE49-F238E27FC236}">
                  <a16:creationId xmlns:a16="http://schemas.microsoft.com/office/drawing/2014/main" id="{2D8816BB-5B21-4105-8FEA-1F35A947006C}"/>
                </a:ext>
              </a:extLst>
            </p:cNvPr>
            <p:cNvSpPr>
              <a:spLocks noChangeArrowheads="1"/>
            </p:cNvSpPr>
            <p:nvPr/>
          </p:nvSpPr>
          <p:spPr bwMode="auto">
            <a:xfrm>
              <a:off x="4697624" y="2223180"/>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10329" name="Прямоугольник 251">
              <a:extLst>
                <a:ext uri="{FF2B5EF4-FFF2-40B4-BE49-F238E27FC236}">
                  <a16:creationId xmlns:a16="http://schemas.microsoft.com/office/drawing/2014/main" id="{C601A94B-D73E-4795-83D2-1D2C7EDEC24F}"/>
                </a:ext>
              </a:extLst>
            </p:cNvPr>
            <p:cNvSpPr>
              <a:spLocks noChangeArrowheads="1"/>
            </p:cNvSpPr>
            <p:nvPr/>
          </p:nvSpPr>
          <p:spPr bwMode="auto">
            <a:xfrm>
              <a:off x="4706250" y="3563250"/>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nvGrpSpPr>
          <p:cNvPr id="10244" name="Group 448">
            <a:extLst>
              <a:ext uri="{FF2B5EF4-FFF2-40B4-BE49-F238E27FC236}">
                <a16:creationId xmlns:a16="http://schemas.microsoft.com/office/drawing/2014/main" id="{7E673D80-87CF-43B2-9CF2-9EEECD009D66}"/>
              </a:ext>
            </a:extLst>
          </p:cNvPr>
          <p:cNvGrpSpPr>
            <a:grpSpLocks/>
          </p:cNvGrpSpPr>
          <p:nvPr/>
        </p:nvGrpSpPr>
        <p:grpSpPr bwMode="auto">
          <a:xfrm>
            <a:off x="4937124" y="1589087"/>
            <a:ext cx="776456" cy="582057"/>
            <a:chOff x="2514600" y="2530475"/>
            <a:chExt cx="775964" cy="582905"/>
          </a:xfrm>
        </p:grpSpPr>
        <p:cxnSp>
          <p:nvCxnSpPr>
            <p:cNvPr id="116" name="Straight Connector 115">
              <a:extLst>
                <a:ext uri="{FF2B5EF4-FFF2-40B4-BE49-F238E27FC236}">
                  <a16:creationId xmlns:a16="http://schemas.microsoft.com/office/drawing/2014/main" id="{6F9A12CE-7B7B-4887-92B3-B04641137391}"/>
                </a:ext>
              </a:extLst>
            </p:cNvPr>
            <p:cNvCxnSpPr/>
            <p:nvPr/>
          </p:nvCxnSpPr>
          <p:spPr bwMode="auto">
            <a:xfrm>
              <a:off x="2590752" y="2972443"/>
              <a:ext cx="228455"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F67D0CFA-626C-42A6-8EEA-0E1C8A605B42}"/>
                </a:ext>
              </a:extLst>
            </p:cNvPr>
            <p:cNvCxnSpPr/>
            <p:nvPr/>
          </p:nvCxnSpPr>
          <p:spPr bwMode="auto">
            <a:xfrm rot="5400000" flipH="1" flipV="1">
              <a:off x="2780892" y="2781825"/>
              <a:ext cx="228933" cy="15230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9226858D-A6B1-4427-98CB-D26449100DAE}"/>
                </a:ext>
              </a:extLst>
            </p:cNvPr>
            <p:cNvCxnSpPr/>
            <p:nvPr/>
          </p:nvCxnSpPr>
          <p:spPr bwMode="auto">
            <a:xfrm>
              <a:off x="2971510" y="2743510"/>
              <a:ext cx="228455"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19" name="TextBox 118">
              <a:extLst>
                <a:ext uri="{FF2B5EF4-FFF2-40B4-BE49-F238E27FC236}">
                  <a16:creationId xmlns:a16="http://schemas.microsoft.com/office/drawing/2014/main" id="{CFA34B51-44F7-4C0B-8737-05FE7EFA4F4D}"/>
                </a:ext>
              </a:extLst>
            </p:cNvPr>
            <p:cNvSpPr txBox="1"/>
            <p:nvPr/>
          </p:nvSpPr>
          <p:spPr>
            <a:xfrm>
              <a:off x="2977856" y="2530475"/>
              <a:ext cx="312708" cy="369870"/>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1</a:t>
              </a:r>
            </a:p>
          </p:txBody>
        </p:sp>
        <p:sp>
          <p:nvSpPr>
            <p:cNvPr id="120" name="TextBox 119">
              <a:extLst>
                <a:ext uri="{FF2B5EF4-FFF2-40B4-BE49-F238E27FC236}">
                  <a16:creationId xmlns:a16="http://schemas.microsoft.com/office/drawing/2014/main" id="{584244AF-A14D-4C93-A0D2-49928BC0C424}"/>
                </a:ext>
              </a:extLst>
            </p:cNvPr>
            <p:cNvSpPr txBox="1"/>
            <p:nvPr/>
          </p:nvSpPr>
          <p:spPr>
            <a:xfrm>
              <a:off x="2514600" y="2743510"/>
              <a:ext cx="312708" cy="369870"/>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0</a:t>
              </a:r>
            </a:p>
          </p:txBody>
        </p:sp>
      </p:grpSp>
      <p:sp>
        <p:nvSpPr>
          <p:cNvPr id="121" name="Freeform 120">
            <a:extLst>
              <a:ext uri="{FF2B5EF4-FFF2-40B4-BE49-F238E27FC236}">
                <a16:creationId xmlns:a16="http://schemas.microsoft.com/office/drawing/2014/main" id="{FDB5E523-08EE-42B9-86C5-C5D1FA98DADE}"/>
              </a:ext>
            </a:extLst>
          </p:cNvPr>
          <p:cNvSpPr/>
          <p:nvPr/>
        </p:nvSpPr>
        <p:spPr bwMode="auto">
          <a:xfrm>
            <a:off x="5272088" y="2624139"/>
            <a:ext cx="520700" cy="428625"/>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0246" name="TextBox 121">
            <a:extLst>
              <a:ext uri="{FF2B5EF4-FFF2-40B4-BE49-F238E27FC236}">
                <a16:creationId xmlns:a16="http://schemas.microsoft.com/office/drawing/2014/main" id="{82DB2539-4AD6-4B60-98F1-56137C547B97}"/>
              </a:ext>
            </a:extLst>
          </p:cNvPr>
          <p:cNvSpPr txBox="1">
            <a:spLocks noChangeArrowheads="1"/>
          </p:cNvSpPr>
          <p:nvPr/>
        </p:nvSpPr>
        <p:spPr bwMode="auto">
          <a:xfrm>
            <a:off x="5464176" y="2493964"/>
            <a:ext cx="454025"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Gitch</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Title 44">
            <a:extLst>
              <a:ext uri="{FF2B5EF4-FFF2-40B4-BE49-F238E27FC236}">
                <a16:creationId xmlns:a16="http://schemas.microsoft.com/office/drawing/2014/main" id="{3F85F2BD-D2B1-4FB9-8121-BEA346335DA6}"/>
              </a:ext>
            </a:extLst>
          </p:cNvPr>
          <p:cNvSpPr>
            <a:spLocks noGrp="1"/>
          </p:cNvSpPr>
          <p:nvPr>
            <p:ph type="title"/>
          </p:nvPr>
        </p:nvSpPr>
        <p:spPr/>
        <p:txBody>
          <a:bodyPr/>
          <a:lstStyle/>
          <a:p>
            <a:r>
              <a:rPr lang="en-US" altLang="en-US"/>
              <a:t>Crosstalk Definition</a:t>
            </a:r>
          </a:p>
        </p:txBody>
      </p:sp>
      <p:sp>
        <p:nvSpPr>
          <p:cNvPr id="7174" name="Content Placeholder 45">
            <a:extLst>
              <a:ext uri="{FF2B5EF4-FFF2-40B4-BE49-F238E27FC236}">
                <a16:creationId xmlns:a16="http://schemas.microsoft.com/office/drawing/2014/main" id="{FA29A531-ACCD-41FB-B2C3-7A3299ECD833}"/>
              </a:ext>
            </a:extLst>
          </p:cNvPr>
          <p:cNvSpPr>
            <a:spLocks noGrp="1"/>
          </p:cNvSpPr>
          <p:nvPr>
            <p:ph type="body" sz="quarter" idx="10"/>
          </p:nvPr>
        </p:nvSpPr>
        <p:spPr/>
        <p:txBody>
          <a:bodyPr/>
          <a:lstStyle/>
          <a:p>
            <a:pPr>
              <a:defRPr/>
            </a:pPr>
            <a:r>
              <a:rPr lang="en-US" sz="1600" dirty="0"/>
              <a:t>Mechanisms that cause crosstalk</a:t>
            </a:r>
          </a:p>
          <a:p>
            <a:pPr>
              <a:defRPr/>
            </a:pPr>
            <a:r>
              <a:rPr lang="en-US" sz="1600" dirty="0"/>
              <a:t> Mutual capacitance</a:t>
            </a:r>
          </a:p>
          <a:p>
            <a:pPr>
              <a:defRPr/>
            </a:pPr>
            <a:r>
              <a:rPr lang="en-US" sz="1600" dirty="0"/>
              <a:t> Mutual inductance</a:t>
            </a:r>
          </a:p>
          <a:p>
            <a:pPr>
              <a:defRPr/>
            </a:pPr>
            <a:endParaRPr lang="en-US" sz="1600" dirty="0"/>
          </a:p>
          <a:p>
            <a:pPr>
              <a:defRPr/>
            </a:pPr>
            <a:endParaRPr lang="en-US" sz="1600" dirty="0"/>
          </a:p>
          <a:p>
            <a:pPr>
              <a:defRPr/>
            </a:pPr>
            <a:endParaRPr lang="en-US" sz="1600" dirty="0"/>
          </a:p>
          <a:p>
            <a:pPr>
              <a:defRPr/>
            </a:pPr>
            <a:endParaRPr lang="en-US" sz="1600" dirty="0"/>
          </a:p>
          <a:p>
            <a:pPr>
              <a:defRPr/>
            </a:pPr>
            <a:endParaRPr lang="en-US" sz="1600" dirty="0"/>
          </a:p>
          <a:p>
            <a:pPr>
              <a:defRPr/>
            </a:pPr>
            <a:endParaRPr lang="en-US" sz="1600" dirty="0"/>
          </a:p>
          <a:p>
            <a:pPr marL="0" indent="0">
              <a:buNone/>
              <a:defRPr/>
            </a:pPr>
            <a:endParaRPr lang="en-US" sz="1600" dirty="0"/>
          </a:p>
          <a:p>
            <a:pPr>
              <a:defRPr/>
            </a:pPr>
            <a:endParaRPr lang="en-US" sz="1600" dirty="0"/>
          </a:p>
          <a:p>
            <a:pPr marL="0" indent="0">
              <a:buNone/>
              <a:defRPr/>
            </a:pPr>
            <a:r>
              <a:rPr lang="en-US" sz="1600" dirty="0"/>
              <a:t>            Mutual Capacitance, Cm                                     Mutual Inductance, Lm </a:t>
            </a:r>
          </a:p>
          <a:p>
            <a:pPr>
              <a:defRPr/>
            </a:pPr>
            <a:endParaRPr lang="en-US" sz="1600" dirty="0"/>
          </a:p>
        </p:txBody>
      </p:sp>
      <p:grpSp>
        <p:nvGrpSpPr>
          <p:cNvPr id="11267" name="Group 12">
            <a:extLst>
              <a:ext uri="{FF2B5EF4-FFF2-40B4-BE49-F238E27FC236}">
                <a16:creationId xmlns:a16="http://schemas.microsoft.com/office/drawing/2014/main" id="{3694BBA9-F17D-4FBA-B41F-12DBA127B0FB}"/>
              </a:ext>
            </a:extLst>
          </p:cNvPr>
          <p:cNvGrpSpPr>
            <a:grpSpLocks/>
          </p:cNvGrpSpPr>
          <p:nvPr/>
        </p:nvGrpSpPr>
        <p:grpSpPr bwMode="auto">
          <a:xfrm>
            <a:off x="2228851" y="2784476"/>
            <a:ext cx="3540125" cy="1774825"/>
            <a:chOff x="-3130" y="436"/>
            <a:chExt cx="1891" cy="948"/>
          </a:xfrm>
        </p:grpSpPr>
        <p:sp>
          <p:nvSpPr>
            <p:cNvPr id="1058" name="AutoShape 13">
              <a:extLst>
                <a:ext uri="{FF2B5EF4-FFF2-40B4-BE49-F238E27FC236}">
                  <a16:creationId xmlns:a16="http://schemas.microsoft.com/office/drawing/2014/main" id="{A72727CE-822D-4725-9291-18C299F27EFD}"/>
                </a:ext>
              </a:extLst>
            </p:cNvPr>
            <p:cNvSpPr>
              <a:spLocks noChangeArrowheads="1"/>
            </p:cNvSpPr>
            <p:nvPr/>
          </p:nvSpPr>
          <p:spPr bwMode="auto">
            <a:xfrm>
              <a:off x="-2979" y="436"/>
              <a:ext cx="1058" cy="948"/>
            </a:xfrm>
            <a:prstGeom prst="cube">
              <a:avLst>
                <a:gd name="adj" fmla="val 92449"/>
              </a:avLst>
            </a:prstGeom>
            <a:solidFill>
              <a:schemeClr val="accent1">
                <a:lumMod val="20000"/>
                <a:lumOff val="8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defRPr/>
              </a:pPr>
              <a:endParaRPr lang="ru-RU"/>
            </a:p>
          </p:txBody>
        </p:sp>
        <p:sp>
          <p:nvSpPr>
            <p:cNvPr id="11295" name="Line 14">
              <a:extLst>
                <a:ext uri="{FF2B5EF4-FFF2-40B4-BE49-F238E27FC236}">
                  <a16:creationId xmlns:a16="http://schemas.microsoft.com/office/drawing/2014/main" id="{A442B1E1-1C88-4CF3-86C5-D57C328DD025}"/>
                </a:ext>
              </a:extLst>
            </p:cNvPr>
            <p:cNvSpPr>
              <a:spLocks noChangeShapeType="1"/>
            </p:cNvSpPr>
            <p:nvPr/>
          </p:nvSpPr>
          <p:spPr bwMode="auto">
            <a:xfrm>
              <a:off x="-2415" y="975"/>
              <a:ext cx="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96" name="Line 15">
              <a:extLst>
                <a:ext uri="{FF2B5EF4-FFF2-40B4-BE49-F238E27FC236}">
                  <a16:creationId xmlns:a16="http://schemas.microsoft.com/office/drawing/2014/main" id="{F239974D-7C18-4F03-A6A9-F6E3B418446E}"/>
                </a:ext>
              </a:extLst>
            </p:cNvPr>
            <p:cNvSpPr>
              <a:spLocks noChangeShapeType="1"/>
            </p:cNvSpPr>
            <p:nvPr/>
          </p:nvSpPr>
          <p:spPr bwMode="auto">
            <a:xfrm flipV="1">
              <a:off x="-2345" y="883"/>
              <a:ext cx="170"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97" name="Line 16">
              <a:extLst>
                <a:ext uri="{FF2B5EF4-FFF2-40B4-BE49-F238E27FC236}">
                  <a16:creationId xmlns:a16="http://schemas.microsoft.com/office/drawing/2014/main" id="{DDEE9B5C-B8F6-42CF-8E9D-E3E93DDC1459}"/>
                </a:ext>
              </a:extLst>
            </p:cNvPr>
            <p:cNvSpPr>
              <a:spLocks noChangeShapeType="1"/>
            </p:cNvSpPr>
            <p:nvPr/>
          </p:nvSpPr>
          <p:spPr bwMode="auto">
            <a:xfrm flipV="1">
              <a:off x="-2253" y="884"/>
              <a:ext cx="170" cy="1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98" name="Text Box 17">
              <a:extLst>
                <a:ext uri="{FF2B5EF4-FFF2-40B4-BE49-F238E27FC236}">
                  <a16:creationId xmlns:a16="http://schemas.microsoft.com/office/drawing/2014/main" id="{EE3314B3-AB5F-430F-8236-90E68AAF5DE9}"/>
                </a:ext>
              </a:extLst>
            </p:cNvPr>
            <p:cNvSpPr txBox="1">
              <a:spLocks noChangeArrowheads="1"/>
            </p:cNvSpPr>
            <p:nvPr/>
          </p:nvSpPr>
          <p:spPr bwMode="auto">
            <a:xfrm>
              <a:off x="-2196" y="703"/>
              <a:ext cx="23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nSpc>
                  <a:spcPct val="90000"/>
                </a:lnSpc>
                <a:spcBef>
                  <a:spcPct val="0"/>
                </a:spcBef>
                <a:buClrTx/>
                <a:buSzTx/>
                <a:buFontTx/>
                <a:buNone/>
              </a:pPr>
              <a:r>
                <a:rPr lang="en-US" altLang="en-US" sz="1600"/>
                <a:t>C</a:t>
              </a:r>
              <a:r>
                <a:rPr lang="en-US" altLang="en-US" sz="1600" baseline="-25000"/>
                <a:t>m</a:t>
              </a:r>
              <a:endParaRPr lang="en-US" altLang="en-US" sz="1600"/>
            </a:p>
          </p:txBody>
        </p:sp>
        <p:sp>
          <p:nvSpPr>
            <p:cNvPr id="11299" name="Text Box 18">
              <a:extLst>
                <a:ext uri="{FF2B5EF4-FFF2-40B4-BE49-F238E27FC236}">
                  <a16:creationId xmlns:a16="http://schemas.microsoft.com/office/drawing/2014/main" id="{7E164AEF-A936-42BA-9F95-2E61F2B0A79D}"/>
                </a:ext>
              </a:extLst>
            </p:cNvPr>
            <p:cNvSpPr txBox="1">
              <a:spLocks noChangeArrowheads="1"/>
            </p:cNvSpPr>
            <p:nvPr/>
          </p:nvSpPr>
          <p:spPr bwMode="auto">
            <a:xfrm>
              <a:off x="-3130" y="572"/>
              <a:ext cx="723"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t>Aggressor</a:t>
              </a:r>
            </a:p>
          </p:txBody>
        </p:sp>
        <p:sp>
          <p:nvSpPr>
            <p:cNvPr id="11300" name="Text Box 19">
              <a:extLst>
                <a:ext uri="{FF2B5EF4-FFF2-40B4-BE49-F238E27FC236}">
                  <a16:creationId xmlns:a16="http://schemas.microsoft.com/office/drawing/2014/main" id="{B7DFE8B5-7D15-402C-81EC-D8842D280C8C}"/>
                </a:ext>
              </a:extLst>
            </p:cNvPr>
            <p:cNvSpPr txBox="1">
              <a:spLocks noChangeArrowheads="1"/>
            </p:cNvSpPr>
            <p:nvPr/>
          </p:nvSpPr>
          <p:spPr bwMode="auto">
            <a:xfrm>
              <a:off x="-1709" y="916"/>
              <a:ext cx="470"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t>Victim</a:t>
              </a:r>
            </a:p>
          </p:txBody>
        </p:sp>
        <p:sp>
          <p:nvSpPr>
            <p:cNvPr id="11301" name="Line 20">
              <a:extLst>
                <a:ext uri="{FF2B5EF4-FFF2-40B4-BE49-F238E27FC236}">
                  <a16:creationId xmlns:a16="http://schemas.microsoft.com/office/drawing/2014/main" id="{C4481D15-6659-495F-B870-450486E85060}"/>
                </a:ext>
              </a:extLst>
            </p:cNvPr>
            <p:cNvSpPr>
              <a:spLocks noChangeShapeType="1"/>
            </p:cNvSpPr>
            <p:nvPr/>
          </p:nvSpPr>
          <p:spPr bwMode="auto">
            <a:xfrm>
              <a:off x="-2171" y="979"/>
              <a:ext cx="14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066" name="AutoShape 21">
              <a:extLst>
                <a:ext uri="{FF2B5EF4-FFF2-40B4-BE49-F238E27FC236}">
                  <a16:creationId xmlns:a16="http://schemas.microsoft.com/office/drawing/2014/main" id="{C9A0FD50-E683-4EFA-9CE6-3F40AC71CE38}"/>
                </a:ext>
              </a:extLst>
            </p:cNvPr>
            <p:cNvSpPr>
              <a:spLocks noChangeArrowheads="1"/>
            </p:cNvSpPr>
            <p:nvPr/>
          </p:nvSpPr>
          <p:spPr bwMode="auto">
            <a:xfrm>
              <a:off x="-2397" y="436"/>
              <a:ext cx="1058" cy="948"/>
            </a:xfrm>
            <a:prstGeom prst="cube">
              <a:avLst>
                <a:gd name="adj" fmla="val 92449"/>
              </a:avLst>
            </a:prstGeom>
            <a:solidFill>
              <a:schemeClr val="accent1">
                <a:lumMod val="20000"/>
                <a:lumOff val="8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defRPr/>
              </a:pPr>
              <a:endParaRPr lang="ru-RU"/>
            </a:p>
          </p:txBody>
        </p:sp>
      </p:grpSp>
      <p:grpSp>
        <p:nvGrpSpPr>
          <p:cNvPr id="11268" name="Group 45">
            <a:extLst>
              <a:ext uri="{FF2B5EF4-FFF2-40B4-BE49-F238E27FC236}">
                <a16:creationId xmlns:a16="http://schemas.microsoft.com/office/drawing/2014/main" id="{79DAE7C9-95C6-45F0-B939-662CBC383395}"/>
              </a:ext>
            </a:extLst>
          </p:cNvPr>
          <p:cNvGrpSpPr>
            <a:grpSpLocks/>
          </p:cNvGrpSpPr>
          <p:nvPr/>
        </p:nvGrpSpPr>
        <p:grpSpPr bwMode="auto">
          <a:xfrm>
            <a:off x="6340475" y="2760664"/>
            <a:ext cx="3735388" cy="1792287"/>
            <a:chOff x="5108575" y="2922573"/>
            <a:chExt cx="3735388" cy="1792287"/>
          </a:xfrm>
        </p:grpSpPr>
        <p:sp>
          <p:nvSpPr>
            <p:cNvPr id="1036" name="AutoShape 25">
              <a:extLst>
                <a:ext uri="{FF2B5EF4-FFF2-40B4-BE49-F238E27FC236}">
                  <a16:creationId xmlns:a16="http://schemas.microsoft.com/office/drawing/2014/main" id="{2C75185D-7C6C-437D-B116-D53A8675CE80}"/>
                </a:ext>
              </a:extLst>
            </p:cNvPr>
            <p:cNvSpPr>
              <a:spLocks noChangeArrowheads="1"/>
            </p:cNvSpPr>
            <p:nvPr/>
          </p:nvSpPr>
          <p:spPr bwMode="auto">
            <a:xfrm>
              <a:off x="5394325" y="2922573"/>
              <a:ext cx="2001838" cy="1792287"/>
            </a:xfrm>
            <a:prstGeom prst="cube">
              <a:avLst>
                <a:gd name="adj" fmla="val 92449"/>
              </a:avLst>
            </a:prstGeom>
            <a:solidFill>
              <a:schemeClr val="accent1">
                <a:lumMod val="20000"/>
                <a:lumOff val="8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defRPr/>
              </a:pPr>
              <a:endParaRPr lang="ru-RU"/>
            </a:p>
          </p:txBody>
        </p:sp>
        <p:sp>
          <p:nvSpPr>
            <p:cNvPr id="11273" name="Line 26">
              <a:extLst>
                <a:ext uri="{FF2B5EF4-FFF2-40B4-BE49-F238E27FC236}">
                  <a16:creationId xmlns:a16="http://schemas.microsoft.com/office/drawing/2014/main" id="{22F7EE7E-D0DC-400B-B2E7-53EC48F19F4F}"/>
                </a:ext>
              </a:extLst>
            </p:cNvPr>
            <p:cNvSpPr>
              <a:spLocks noChangeShapeType="1"/>
            </p:cNvSpPr>
            <p:nvPr/>
          </p:nvSpPr>
          <p:spPr bwMode="auto">
            <a:xfrm>
              <a:off x="6551591" y="3824273"/>
              <a:ext cx="715952" cy="0"/>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4" name="Text Box 27">
              <a:extLst>
                <a:ext uri="{FF2B5EF4-FFF2-40B4-BE49-F238E27FC236}">
                  <a16:creationId xmlns:a16="http://schemas.microsoft.com/office/drawing/2014/main" id="{F568A559-14DD-4B54-BE45-FF03C6C869B7}"/>
                </a:ext>
              </a:extLst>
            </p:cNvPr>
            <p:cNvSpPr txBox="1">
              <a:spLocks noChangeArrowheads="1"/>
            </p:cNvSpPr>
            <p:nvPr/>
          </p:nvSpPr>
          <p:spPr bwMode="auto">
            <a:xfrm>
              <a:off x="6743676" y="3533760"/>
              <a:ext cx="412744"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lnSpc>
                  <a:spcPct val="90000"/>
                </a:lnSpc>
                <a:spcBef>
                  <a:spcPct val="0"/>
                </a:spcBef>
                <a:buClrTx/>
                <a:buSzTx/>
                <a:buFontTx/>
                <a:buNone/>
              </a:pPr>
              <a:r>
                <a:rPr lang="en-US" altLang="en-US" sz="1600"/>
                <a:t>L</a:t>
              </a:r>
              <a:r>
                <a:rPr lang="en-US" altLang="en-US" sz="1600" baseline="-25000"/>
                <a:t>m</a:t>
              </a:r>
              <a:endParaRPr lang="en-US" altLang="en-US" sz="1600"/>
            </a:p>
          </p:txBody>
        </p:sp>
        <p:sp>
          <p:nvSpPr>
            <p:cNvPr id="11275" name="Text Box 28">
              <a:extLst>
                <a:ext uri="{FF2B5EF4-FFF2-40B4-BE49-F238E27FC236}">
                  <a16:creationId xmlns:a16="http://schemas.microsoft.com/office/drawing/2014/main" id="{7BF3E71E-806E-4580-98F3-E697645C8E8C}"/>
                </a:ext>
              </a:extLst>
            </p:cNvPr>
            <p:cNvSpPr txBox="1">
              <a:spLocks noChangeArrowheads="1"/>
            </p:cNvSpPr>
            <p:nvPr/>
          </p:nvSpPr>
          <p:spPr bwMode="auto">
            <a:xfrm>
              <a:off x="5108575" y="3179748"/>
              <a:ext cx="1352531"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t>Aggressor</a:t>
              </a:r>
            </a:p>
          </p:txBody>
        </p:sp>
        <p:sp>
          <p:nvSpPr>
            <p:cNvPr id="11276" name="Text Box 29">
              <a:extLst>
                <a:ext uri="{FF2B5EF4-FFF2-40B4-BE49-F238E27FC236}">
                  <a16:creationId xmlns:a16="http://schemas.microsoft.com/office/drawing/2014/main" id="{7D2B72B6-E971-4951-8094-5C2FEFBAC5BB}"/>
                </a:ext>
              </a:extLst>
            </p:cNvPr>
            <p:cNvSpPr txBox="1">
              <a:spLocks noChangeArrowheads="1"/>
            </p:cNvSpPr>
            <p:nvPr/>
          </p:nvSpPr>
          <p:spPr bwMode="auto">
            <a:xfrm>
              <a:off x="7964501" y="3452700"/>
              <a:ext cx="8794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000"/>
                <a:t>Victim</a:t>
              </a:r>
            </a:p>
          </p:txBody>
        </p:sp>
        <p:sp>
          <p:nvSpPr>
            <p:cNvPr id="1041" name="AutoShape 30">
              <a:extLst>
                <a:ext uri="{FF2B5EF4-FFF2-40B4-BE49-F238E27FC236}">
                  <a16:creationId xmlns:a16="http://schemas.microsoft.com/office/drawing/2014/main" id="{77C0DCB7-2378-4C4B-A15C-DD23BFB44259}"/>
                </a:ext>
              </a:extLst>
            </p:cNvPr>
            <p:cNvSpPr>
              <a:spLocks noChangeArrowheads="1"/>
            </p:cNvSpPr>
            <p:nvPr/>
          </p:nvSpPr>
          <p:spPr bwMode="auto">
            <a:xfrm>
              <a:off x="6507163" y="2922573"/>
              <a:ext cx="2000250" cy="1792287"/>
            </a:xfrm>
            <a:prstGeom prst="cube">
              <a:avLst>
                <a:gd name="adj" fmla="val 92449"/>
              </a:avLst>
            </a:prstGeom>
            <a:solidFill>
              <a:schemeClr val="accent1">
                <a:lumMod val="20000"/>
                <a:lumOff val="80000"/>
              </a:schemeClr>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spAutoFit/>
            </a:bodyPr>
            <a:lstStyle/>
            <a:p>
              <a:pPr eaLnBrk="1" hangingPunct="1">
                <a:defRPr/>
              </a:pPr>
              <a:endParaRPr lang="ru-RU"/>
            </a:p>
          </p:txBody>
        </p:sp>
        <p:grpSp>
          <p:nvGrpSpPr>
            <p:cNvPr id="11278" name="Group 31">
              <a:extLst>
                <a:ext uri="{FF2B5EF4-FFF2-40B4-BE49-F238E27FC236}">
                  <a16:creationId xmlns:a16="http://schemas.microsoft.com/office/drawing/2014/main" id="{24A17692-3E3B-42BF-ABAD-8E50B777B818}"/>
                </a:ext>
              </a:extLst>
            </p:cNvPr>
            <p:cNvGrpSpPr>
              <a:grpSpLocks/>
            </p:cNvGrpSpPr>
            <p:nvPr/>
          </p:nvGrpSpPr>
          <p:grpSpPr bwMode="auto">
            <a:xfrm rot="-2727253">
              <a:off x="5915053" y="3667013"/>
              <a:ext cx="963612" cy="161923"/>
              <a:chOff x="-1429" y="1842"/>
              <a:chExt cx="839" cy="102"/>
            </a:xfrm>
          </p:grpSpPr>
          <p:sp>
            <p:nvSpPr>
              <p:cNvPr id="11287" name="Line 32">
                <a:extLst>
                  <a:ext uri="{FF2B5EF4-FFF2-40B4-BE49-F238E27FC236}">
                    <a16:creationId xmlns:a16="http://schemas.microsoft.com/office/drawing/2014/main" id="{F12DE20D-16A5-4BBA-9659-0578EA1CC1E1}"/>
                  </a:ext>
                </a:extLst>
              </p:cNvPr>
              <p:cNvSpPr>
                <a:spLocks noChangeShapeType="1"/>
              </p:cNvSpPr>
              <p:nvPr/>
            </p:nvSpPr>
            <p:spPr bwMode="auto">
              <a:xfrm>
                <a:off x="-1429" y="1944"/>
                <a:ext cx="1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288" name="Group 33">
                <a:extLst>
                  <a:ext uri="{FF2B5EF4-FFF2-40B4-BE49-F238E27FC236}">
                    <a16:creationId xmlns:a16="http://schemas.microsoft.com/office/drawing/2014/main" id="{34A7E93D-B015-4F09-BA9E-02158DE8B38C}"/>
                  </a:ext>
                </a:extLst>
              </p:cNvPr>
              <p:cNvGrpSpPr>
                <a:grpSpLocks/>
              </p:cNvGrpSpPr>
              <p:nvPr/>
            </p:nvGrpSpPr>
            <p:grpSpPr bwMode="auto">
              <a:xfrm>
                <a:off x="-1270" y="1842"/>
                <a:ext cx="520" cy="102"/>
                <a:chOff x="-1021" y="1581"/>
                <a:chExt cx="2358" cy="432"/>
              </a:xfrm>
            </p:grpSpPr>
            <p:sp>
              <p:nvSpPr>
                <p:cNvPr id="11290" name="AutoShape 34">
                  <a:extLst>
                    <a:ext uri="{FF2B5EF4-FFF2-40B4-BE49-F238E27FC236}">
                      <a16:creationId xmlns:a16="http://schemas.microsoft.com/office/drawing/2014/main" id="{2C05AF51-0C73-4879-AEA5-1F9BA4B84C2F}"/>
                    </a:ext>
                  </a:extLst>
                </p:cNvPr>
                <p:cNvSpPr>
                  <a:spLocks/>
                </p:cNvSpPr>
                <p:nvPr/>
              </p:nvSpPr>
              <p:spPr bwMode="auto">
                <a:xfrm rot="5400000">
                  <a:off x="-942" y="1502"/>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91" name="AutoShape 35">
                  <a:extLst>
                    <a:ext uri="{FF2B5EF4-FFF2-40B4-BE49-F238E27FC236}">
                      <a16:creationId xmlns:a16="http://schemas.microsoft.com/office/drawing/2014/main" id="{6DD696CD-F8E0-4F55-982F-371BDB934EE9}"/>
                    </a:ext>
                  </a:extLst>
                </p:cNvPr>
                <p:cNvSpPr>
                  <a:spLocks/>
                </p:cNvSpPr>
                <p:nvPr/>
              </p:nvSpPr>
              <p:spPr bwMode="auto">
                <a:xfrm rot="5400000">
                  <a:off x="-352" y="1502"/>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92" name="AutoShape 36">
                  <a:extLst>
                    <a:ext uri="{FF2B5EF4-FFF2-40B4-BE49-F238E27FC236}">
                      <a16:creationId xmlns:a16="http://schemas.microsoft.com/office/drawing/2014/main" id="{2E9BB2AE-5B0F-4886-BB79-2F19BA800699}"/>
                    </a:ext>
                  </a:extLst>
                </p:cNvPr>
                <p:cNvSpPr>
                  <a:spLocks/>
                </p:cNvSpPr>
                <p:nvPr/>
              </p:nvSpPr>
              <p:spPr bwMode="auto">
                <a:xfrm rot="5400000">
                  <a:off x="237" y="1503"/>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93" name="AutoShape 37">
                  <a:extLst>
                    <a:ext uri="{FF2B5EF4-FFF2-40B4-BE49-F238E27FC236}">
                      <a16:creationId xmlns:a16="http://schemas.microsoft.com/office/drawing/2014/main" id="{E5A96383-EF79-4096-8A8F-5EE2F00B72FB}"/>
                    </a:ext>
                  </a:extLst>
                </p:cNvPr>
                <p:cNvSpPr>
                  <a:spLocks/>
                </p:cNvSpPr>
                <p:nvPr/>
              </p:nvSpPr>
              <p:spPr bwMode="auto">
                <a:xfrm rot="5400000">
                  <a:off x="827" y="1503"/>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1289" name="Line 38">
                <a:extLst>
                  <a:ext uri="{FF2B5EF4-FFF2-40B4-BE49-F238E27FC236}">
                    <a16:creationId xmlns:a16="http://schemas.microsoft.com/office/drawing/2014/main" id="{FB90822C-0310-4444-8548-06D3B71C5F14}"/>
                  </a:ext>
                </a:extLst>
              </p:cNvPr>
              <p:cNvSpPr>
                <a:spLocks noChangeShapeType="1"/>
              </p:cNvSpPr>
              <p:nvPr/>
            </p:nvSpPr>
            <p:spPr bwMode="auto">
              <a:xfrm>
                <a:off x="-749" y="1944"/>
                <a:ext cx="1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79" name="Group 39">
              <a:extLst>
                <a:ext uri="{FF2B5EF4-FFF2-40B4-BE49-F238E27FC236}">
                  <a16:creationId xmlns:a16="http://schemas.microsoft.com/office/drawing/2014/main" id="{572105B7-F86F-4C5D-B7C3-11968F9BA953}"/>
                </a:ext>
              </a:extLst>
            </p:cNvPr>
            <p:cNvGrpSpPr>
              <a:grpSpLocks/>
            </p:cNvGrpSpPr>
            <p:nvPr/>
          </p:nvGrpSpPr>
          <p:grpSpPr bwMode="auto">
            <a:xfrm rot="-2727253">
              <a:off x="7010657" y="3654407"/>
              <a:ext cx="971861" cy="161923"/>
              <a:chOff x="-1436" y="1842"/>
              <a:chExt cx="846" cy="102"/>
            </a:xfrm>
          </p:grpSpPr>
          <p:sp>
            <p:nvSpPr>
              <p:cNvPr id="11280" name="Line 40">
                <a:extLst>
                  <a:ext uri="{FF2B5EF4-FFF2-40B4-BE49-F238E27FC236}">
                    <a16:creationId xmlns:a16="http://schemas.microsoft.com/office/drawing/2014/main" id="{35DC8DE4-FB75-42F7-8AF1-A10D50614184}"/>
                  </a:ext>
                </a:extLst>
              </p:cNvPr>
              <p:cNvSpPr>
                <a:spLocks noChangeShapeType="1"/>
              </p:cNvSpPr>
              <p:nvPr/>
            </p:nvSpPr>
            <p:spPr bwMode="auto">
              <a:xfrm>
                <a:off x="-1436" y="1940"/>
                <a:ext cx="1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281" name="Group 41">
                <a:extLst>
                  <a:ext uri="{FF2B5EF4-FFF2-40B4-BE49-F238E27FC236}">
                    <a16:creationId xmlns:a16="http://schemas.microsoft.com/office/drawing/2014/main" id="{90EC6A72-EF7A-4952-BD5D-47B7B9D97986}"/>
                  </a:ext>
                </a:extLst>
              </p:cNvPr>
              <p:cNvGrpSpPr>
                <a:grpSpLocks/>
              </p:cNvGrpSpPr>
              <p:nvPr/>
            </p:nvGrpSpPr>
            <p:grpSpPr bwMode="auto">
              <a:xfrm>
                <a:off x="-1270" y="1842"/>
                <a:ext cx="520" cy="102"/>
                <a:chOff x="-1021" y="1581"/>
                <a:chExt cx="2358" cy="432"/>
              </a:xfrm>
            </p:grpSpPr>
            <p:sp>
              <p:nvSpPr>
                <p:cNvPr id="11283" name="AutoShape 42">
                  <a:extLst>
                    <a:ext uri="{FF2B5EF4-FFF2-40B4-BE49-F238E27FC236}">
                      <a16:creationId xmlns:a16="http://schemas.microsoft.com/office/drawing/2014/main" id="{6BAD895A-F730-4A59-B5F0-4089D1D6C3D3}"/>
                    </a:ext>
                  </a:extLst>
                </p:cNvPr>
                <p:cNvSpPr>
                  <a:spLocks/>
                </p:cNvSpPr>
                <p:nvPr/>
              </p:nvSpPr>
              <p:spPr bwMode="auto">
                <a:xfrm rot="5400000">
                  <a:off x="-942" y="1502"/>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84" name="AutoShape 43">
                  <a:extLst>
                    <a:ext uri="{FF2B5EF4-FFF2-40B4-BE49-F238E27FC236}">
                      <a16:creationId xmlns:a16="http://schemas.microsoft.com/office/drawing/2014/main" id="{EE927A89-67FA-44F3-A41F-9FFF6C92F7BE}"/>
                    </a:ext>
                  </a:extLst>
                </p:cNvPr>
                <p:cNvSpPr>
                  <a:spLocks/>
                </p:cNvSpPr>
                <p:nvPr/>
              </p:nvSpPr>
              <p:spPr bwMode="auto">
                <a:xfrm rot="5400000">
                  <a:off x="-352" y="1502"/>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85" name="AutoShape 44">
                  <a:extLst>
                    <a:ext uri="{FF2B5EF4-FFF2-40B4-BE49-F238E27FC236}">
                      <a16:creationId xmlns:a16="http://schemas.microsoft.com/office/drawing/2014/main" id="{4BBF6AEC-A84A-49FE-88DE-FDFC2EE16B84}"/>
                    </a:ext>
                  </a:extLst>
                </p:cNvPr>
                <p:cNvSpPr>
                  <a:spLocks/>
                </p:cNvSpPr>
                <p:nvPr/>
              </p:nvSpPr>
              <p:spPr bwMode="auto">
                <a:xfrm rot="5400000">
                  <a:off x="237" y="1503"/>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286" name="AutoShape 45">
                  <a:extLst>
                    <a:ext uri="{FF2B5EF4-FFF2-40B4-BE49-F238E27FC236}">
                      <a16:creationId xmlns:a16="http://schemas.microsoft.com/office/drawing/2014/main" id="{33DB2DC1-7532-436C-A8AC-BC99793AE1C1}"/>
                    </a:ext>
                  </a:extLst>
                </p:cNvPr>
                <p:cNvSpPr>
                  <a:spLocks/>
                </p:cNvSpPr>
                <p:nvPr/>
              </p:nvSpPr>
              <p:spPr bwMode="auto">
                <a:xfrm rot="5400000">
                  <a:off x="827" y="1503"/>
                  <a:ext cx="431" cy="589"/>
                </a:xfrm>
                <a:prstGeom prst="leftBracket">
                  <a:avLst>
                    <a:gd name="adj" fmla="val 68329"/>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grpSp>
          <p:sp>
            <p:nvSpPr>
              <p:cNvPr id="11282" name="Line 46">
                <a:extLst>
                  <a:ext uri="{FF2B5EF4-FFF2-40B4-BE49-F238E27FC236}">
                    <a16:creationId xmlns:a16="http://schemas.microsoft.com/office/drawing/2014/main" id="{3A82183F-6FC7-4104-831E-93B3B359EE25}"/>
                  </a:ext>
                </a:extLst>
              </p:cNvPr>
              <p:cNvSpPr>
                <a:spLocks noChangeShapeType="1"/>
              </p:cNvSpPr>
              <p:nvPr/>
            </p:nvSpPr>
            <p:spPr bwMode="auto">
              <a:xfrm>
                <a:off x="-749" y="1944"/>
                <a:ext cx="15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aphicFrame>
        <p:nvGraphicFramePr>
          <p:cNvPr id="11270" name="Object 10">
            <a:extLst>
              <a:ext uri="{FF2B5EF4-FFF2-40B4-BE49-F238E27FC236}">
                <a16:creationId xmlns:a16="http://schemas.microsoft.com/office/drawing/2014/main" id="{6A6BA438-2312-4D84-A86E-60392C39C6A7}"/>
              </a:ext>
            </a:extLst>
          </p:cNvPr>
          <p:cNvGraphicFramePr>
            <a:graphicFrameLocks noChangeAspect="1"/>
          </p:cNvGraphicFramePr>
          <p:nvPr/>
        </p:nvGraphicFramePr>
        <p:xfrm>
          <a:off x="2782889" y="4652964"/>
          <a:ext cx="2352675" cy="750887"/>
        </p:xfrm>
        <a:graphic>
          <a:graphicData uri="http://schemas.openxmlformats.org/presentationml/2006/ole">
            <mc:AlternateContent xmlns:mc="http://schemas.openxmlformats.org/markup-compatibility/2006">
              <mc:Choice xmlns:v="urn:schemas-microsoft-com:vml" Requires="v">
                <p:oleObj name="Equation" r:id="rId3" imgW="1256755" imgH="393529" progId="Equation.3">
                  <p:embed/>
                </p:oleObj>
              </mc:Choice>
              <mc:Fallback>
                <p:oleObj name="Equation" r:id="rId3" imgW="1256755" imgH="393529" progId="Equation.3">
                  <p:embed/>
                  <p:pic>
                    <p:nvPicPr>
                      <p:cNvPr id="11270" name="Object 10">
                        <a:extLst>
                          <a:ext uri="{FF2B5EF4-FFF2-40B4-BE49-F238E27FC236}">
                            <a16:creationId xmlns:a16="http://schemas.microsoft.com/office/drawing/2014/main" id="{6A6BA438-2312-4D84-A86E-60392C39C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2889" y="4652964"/>
                        <a:ext cx="2352675"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1" name="Object 9">
            <a:extLst>
              <a:ext uri="{FF2B5EF4-FFF2-40B4-BE49-F238E27FC236}">
                <a16:creationId xmlns:a16="http://schemas.microsoft.com/office/drawing/2014/main" id="{51C39DC9-696B-47B7-8CA2-F86FEEBD9329}"/>
              </a:ext>
            </a:extLst>
          </p:cNvPr>
          <p:cNvGraphicFramePr>
            <a:graphicFrameLocks noChangeAspect="1"/>
          </p:cNvGraphicFramePr>
          <p:nvPr/>
        </p:nvGraphicFramePr>
        <p:xfrm>
          <a:off x="7126289" y="4652964"/>
          <a:ext cx="2352675" cy="750887"/>
        </p:xfrm>
        <a:graphic>
          <a:graphicData uri="http://schemas.openxmlformats.org/presentationml/2006/ole">
            <mc:AlternateContent xmlns:mc="http://schemas.openxmlformats.org/markup-compatibility/2006">
              <mc:Choice xmlns:v="urn:schemas-microsoft-com:vml" Requires="v">
                <p:oleObj name="Equation" r:id="rId5" imgW="1256755" imgH="393529" progId="Equation.3">
                  <p:embed/>
                </p:oleObj>
              </mc:Choice>
              <mc:Fallback>
                <p:oleObj name="Equation" r:id="rId5" imgW="1256755" imgH="393529" progId="Equation.3">
                  <p:embed/>
                  <p:pic>
                    <p:nvPicPr>
                      <p:cNvPr id="11271" name="Object 9">
                        <a:extLst>
                          <a:ext uri="{FF2B5EF4-FFF2-40B4-BE49-F238E27FC236}">
                            <a16:creationId xmlns:a16="http://schemas.microsoft.com/office/drawing/2014/main" id="{51C39DC9-696B-47B7-8CA2-F86FEEBD93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26289" y="4652964"/>
                        <a:ext cx="2352675" cy="75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Cube 31">
            <a:extLst>
              <a:ext uri="{FF2B5EF4-FFF2-40B4-BE49-F238E27FC236}">
                <a16:creationId xmlns:a16="http://schemas.microsoft.com/office/drawing/2014/main" id="{A9B5F5BE-387D-4318-B1CF-8C0686C11E40}"/>
              </a:ext>
            </a:extLst>
          </p:cNvPr>
          <p:cNvSpPr/>
          <p:nvPr/>
        </p:nvSpPr>
        <p:spPr>
          <a:xfrm>
            <a:off x="5399088" y="2743200"/>
            <a:ext cx="2667000" cy="457200"/>
          </a:xfrm>
          <a:prstGeom prst="cube">
            <a:avLst/>
          </a:prstGeom>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2400" dirty="0"/>
          </a:p>
        </p:txBody>
      </p:sp>
      <p:grpSp>
        <p:nvGrpSpPr>
          <p:cNvPr id="2" name="Group 25">
            <a:extLst>
              <a:ext uri="{FF2B5EF4-FFF2-40B4-BE49-F238E27FC236}">
                <a16:creationId xmlns:a16="http://schemas.microsoft.com/office/drawing/2014/main" id="{0DE91CDB-DA60-4245-8C3B-CE1B75B90B69}"/>
              </a:ext>
            </a:extLst>
          </p:cNvPr>
          <p:cNvGrpSpPr/>
          <p:nvPr/>
        </p:nvGrpSpPr>
        <p:grpSpPr>
          <a:xfrm>
            <a:off x="3948388" y="2221666"/>
            <a:ext cx="2267342" cy="2274497"/>
            <a:chOff x="2359152" y="2221992"/>
            <a:chExt cx="2267712" cy="2273808"/>
          </a:xfrm>
          <a:solidFill>
            <a:schemeClr val="accent1">
              <a:lumMod val="40000"/>
              <a:lumOff val="60000"/>
            </a:schemeClr>
          </a:solidFill>
        </p:grpSpPr>
        <p:sp>
          <p:nvSpPr>
            <p:cNvPr id="34" name="Freeform 15">
              <a:extLst>
                <a:ext uri="{FF2B5EF4-FFF2-40B4-BE49-F238E27FC236}">
                  <a16:creationId xmlns:a16="http://schemas.microsoft.com/office/drawing/2014/main" id="{7D57377F-6777-4FD4-8404-1BD1B55DD80F}"/>
                </a:ext>
              </a:extLst>
            </p:cNvPr>
            <p:cNvSpPr/>
            <p:nvPr/>
          </p:nvSpPr>
          <p:spPr>
            <a:xfrm>
              <a:off x="2359152" y="2221992"/>
              <a:ext cx="2267712" cy="2267712"/>
            </a:xfrm>
            <a:custGeom>
              <a:avLst/>
              <a:gdLst>
                <a:gd name="connsiteX0" fmla="*/ 0 w 2267712"/>
                <a:gd name="connsiteY0" fmla="*/ 1947672 h 2267712"/>
                <a:gd name="connsiteX1" fmla="*/ 1956816 w 2267712"/>
                <a:gd name="connsiteY1" fmla="*/ 0 h 2267712"/>
                <a:gd name="connsiteX2" fmla="*/ 2267712 w 2267712"/>
                <a:gd name="connsiteY2" fmla="*/ 18288 h 2267712"/>
                <a:gd name="connsiteX3" fmla="*/ 2267712 w 2267712"/>
                <a:gd name="connsiteY3" fmla="*/ 347472 h 2267712"/>
                <a:gd name="connsiteX4" fmla="*/ 320040 w 2267712"/>
                <a:gd name="connsiteY4" fmla="*/ 2267712 h 2267712"/>
                <a:gd name="connsiteX5" fmla="*/ 0 w 2267712"/>
                <a:gd name="connsiteY5" fmla="*/ 2267712 h 2267712"/>
                <a:gd name="connsiteX6" fmla="*/ 0 w 2267712"/>
                <a:gd name="connsiteY6" fmla="*/ 1947672 h 2267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67712" h="2267712">
                  <a:moveTo>
                    <a:pt x="0" y="1947672"/>
                  </a:moveTo>
                  <a:lnTo>
                    <a:pt x="1956816" y="0"/>
                  </a:lnTo>
                  <a:lnTo>
                    <a:pt x="2267712" y="18288"/>
                  </a:lnTo>
                  <a:lnTo>
                    <a:pt x="2267712" y="347472"/>
                  </a:lnTo>
                  <a:lnTo>
                    <a:pt x="320040" y="2267712"/>
                  </a:lnTo>
                  <a:lnTo>
                    <a:pt x="0" y="2267712"/>
                  </a:lnTo>
                  <a:lnTo>
                    <a:pt x="0" y="1947672"/>
                  </a:lnTo>
                  <a:close/>
                </a:path>
              </a:pathLst>
            </a:custGeom>
            <a:grp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2400" dirty="0"/>
            </a:p>
          </p:txBody>
        </p:sp>
        <p:sp>
          <p:nvSpPr>
            <p:cNvPr id="35" name="Rectangle 34">
              <a:extLst>
                <a:ext uri="{FF2B5EF4-FFF2-40B4-BE49-F238E27FC236}">
                  <a16:creationId xmlns:a16="http://schemas.microsoft.com/office/drawing/2014/main" id="{5654FE4A-1A8E-4DD2-8736-9FE688572018}"/>
                </a:ext>
              </a:extLst>
            </p:cNvPr>
            <p:cNvSpPr/>
            <p:nvPr/>
          </p:nvSpPr>
          <p:spPr>
            <a:xfrm>
              <a:off x="2362200" y="4191000"/>
              <a:ext cx="304800" cy="304800"/>
            </a:xfrm>
            <a:prstGeom prst="rect">
              <a:avLst/>
            </a:prstGeom>
            <a:grp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2400" dirty="0"/>
            </a:p>
          </p:txBody>
        </p:sp>
        <p:cxnSp>
          <p:nvCxnSpPr>
            <p:cNvPr id="36" name="Straight Connector 35">
              <a:extLst>
                <a:ext uri="{FF2B5EF4-FFF2-40B4-BE49-F238E27FC236}">
                  <a16:creationId xmlns:a16="http://schemas.microsoft.com/office/drawing/2014/main" id="{D8DE8835-1978-439E-85D5-1F87ED47C508}"/>
                </a:ext>
              </a:extLst>
            </p:cNvPr>
            <p:cNvCxnSpPr/>
            <p:nvPr/>
          </p:nvCxnSpPr>
          <p:spPr>
            <a:xfrm flipH="1">
              <a:off x="2668588" y="2240280"/>
              <a:ext cx="1958276" cy="1950720"/>
            </a:xfrm>
            <a:prstGeom prst="line">
              <a:avLst/>
            </a:prstGeom>
            <a:grpFill/>
            <a:ln/>
          </p:spPr>
          <p:style>
            <a:lnRef idx="2">
              <a:schemeClr val="accent1">
                <a:shade val="50000"/>
              </a:schemeClr>
            </a:lnRef>
            <a:fillRef idx="1">
              <a:schemeClr val="accent1"/>
            </a:fillRef>
            <a:effectRef idx="0">
              <a:schemeClr val="accent1"/>
            </a:effectRef>
            <a:fontRef idx="minor">
              <a:schemeClr val="lt1"/>
            </a:fontRef>
          </p:style>
        </p:cxnSp>
      </p:grpSp>
      <p:grpSp>
        <p:nvGrpSpPr>
          <p:cNvPr id="3" name="Group 31">
            <a:extLst>
              <a:ext uri="{FF2B5EF4-FFF2-40B4-BE49-F238E27FC236}">
                <a16:creationId xmlns:a16="http://schemas.microsoft.com/office/drawing/2014/main" id="{A3419826-C27A-4BC3-A3BC-F0D76E4E30C1}"/>
              </a:ext>
            </a:extLst>
          </p:cNvPr>
          <p:cNvGrpSpPr/>
          <p:nvPr/>
        </p:nvGrpSpPr>
        <p:grpSpPr>
          <a:xfrm>
            <a:off x="4697682" y="1572038"/>
            <a:ext cx="2918047" cy="2924123"/>
            <a:chOff x="3108960" y="1572768"/>
            <a:chExt cx="2916936" cy="2923032"/>
          </a:xfrm>
          <a:solidFill>
            <a:schemeClr val="accent1">
              <a:lumMod val="75000"/>
            </a:schemeClr>
          </a:solidFill>
        </p:grpSpPr>
        <p:grpSp>
          <p:nvGrpSpPr>
            <p:cNvPr id="4" name="Group 30">
              <a:extLst>
                <a:ext uri="{FF2B5EF4-FFF2-40B4-BE49-F238E27FC236}">
                  <a16:creationId xmlns:a16="http://schemas.microsoft.com/office/drawing/2014/main" id="{742C3605-83E3-48D0-9003-9F2461787ABA}"/>
                </a:ext>
              </a:extLst>
            </p:cNvPr>
            <p:cNvGrpSpPr/>
            <p:nvPr/>
          </p:nvGrpSpPr>
          <p:grpSpPr>
            <a:xfrm>
              <a:off x="3108960" y="1572768"/>
              <a:ext cx="2916936" cy="2923032"/>
              <a:chOff x="3108960" y="1572768"/>
              <a:chExt cx="2916936" cy="2923032"/>
            </a:xfrm>
            <a:grpFill/>
          </p:grpSpPr>
          <p:sp>
            <p:nvSpPr>
              <p:cNvPr id="40" name="Freeform 39">
                <a:extLst>
                  <a:ext uri="{FF2B5EF4-FFF2-40B4-BE49-F238E27FC236}">
                    <a16:creationId xmlns:a16="http://schemas.microsoft.com/office/drawing/2014/main" id="{09F6D2A5-4B72-4AD8-AF58-980888EDED08}"/>
                  </a:ext>
                </a:extLst>
              </p:cNvPr>
              <p:cNvSpPr/>
              <p:nvPr/>
            </p:nvSpPr>
            <p:spPr>
              <a:xfrm>
                <a:off x="3108960" y="1572768"/>
                <a:ext cx="2916936" cy="2916936"/>
              </a:xfrm>
              <a:custGeom>
                <a:avLst/>
                <a:gdLst>
                  <a:gd name="connsiteX0" fmla="*/ 0 w 2916936"/>
                  <a:gd name="connsiteY0" fmla="*/ 2916936 h 2916936"/>
                  <a:gd name="connsiteX1" fmla="*/ 0 w 2916936"/>
                  <a:gd name="connsiteY1" fmla="*/ 2606040 h 2916936"/>
                  <a:gd name="connsiteX2" fmla="*/ 2624328 w 2916936"/>
                  <a:gd name="connsiteY2" fmla="*/ 0 h 2916936"/>
                  <a:gd name="connsiteX3" fmla="*/ 2907792 w 2916936"/>
                  <a:gd name="connsiteY3" fmla="*/ 0 h 2916936"/>
                  <a:gd name="connsiteX4" fmla="*/ 2916936 w 2916936"/>
                  <a:gd name="connsiteY4" fmla="*/ 320040 h 2916936"/>
                  <a:gd name="connsiteX5" fmla="*/ 301752 w 2916936"/>
                  <a:gd name="connsiteY5" fmla="*/ 2916936 h 2916936"/>
                  <a:gd name="connsiteX6" fmla="*/ 0 w 2916936"/>
                  <a:gd name="connsiteY6" fmla="*/ 2916936 h 2916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16936" h="2916936">
                    <a:moveTo>
                      <a:pt x="0" y="2916936"/>
                    </a:moveTo>
                    <a:lnTo>
                      <a:pt x="0" y="2606040"/>
                    </a:lnTo>
                    <a:lnTo>
                      <a:pt x="2624328" y="0"/>
                    </a:lnTo>
                    <a:lnTo>
                      <a:pt x="2907792" y="0"/>
                    </a:lnTo>
                    <a:lnTo>
                      <a:pt x="2916936" y="320040"/>
                    </a:lnTo>
                    <a:lnTo>
                      <a:pt x="301752" y="2916936"/>
                    </a:lnTo>
                    <a:lnTo>
                      <a:pt x="0" y="2916936"/>
                    </a:lnTo>
                    <a:close/>
                  </a:path>
                </a:pathLst>
              </a:custGeom>
              <a:gr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2400" dirty="0"/>
              </a:p>
            </p:txBody>
          </p:sp>
          <p:sp>
            <p:nvSpPr>
              <p:cNvPr id="41" name="Rectangle 40">
                <a:extLst>
                  <a:ext uri="{FF2B5EF4-FFF2-40B4-BE49-F238E27FC236}">
                    <a16:creationId xmlns:a16="http://schemas.microsoft.com/office/drawing/2014/main" id="{8742D347-9E65-4748-BC57-79C2CFB2FB3A}"/>
                  </a:ext>
                </a:extLst>
              </p:cNvPr>
              <p:cNvSpPr/>
              <p:nvPr/>
            </p:nvSpPr>
            <p:spPr>
              <a:xfrm>
                <a:off x="3115056" y="4191000"/>
                <a:ext cx="304800" cy="304800"/>
              </a:xfrm>
              <a:prstGeom prst="rect">
                <a:avLst/>
              </a:prstGeom>
              <a:gr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sz="2400" dirty="0"/>
              </a:p>
            </p:txBody>
          </p:sp>
        </p:grpSp>
        <p:cxnSp>
          <p:nvCxnSpPr>
            <p:cNvPr id="39" name="Straight Connector 38">
              <a:extLst>
                <a:ext uri="{FF2B5EF4-FFF2-40B4-BE49-F238E27FC236}">
                  <a16:creationId xmlns:a16="http://schemas.microsoft.com/office/drawing/2014/main" id="{CCC5710C-0F74-4BBC-ADE9-E8140E2B0036}"/>
                </a:ext>
              </a:extLst>
            </p:cNvPr>
            <p:cNvCxnSpPr/>
            <p:nvPr/>
          </p:nvCxnSpPr>
          <p:spPr>
            <a:xfrm rot="5400000">
              <a:off x="3415297" y="1589519"/>
              <a:ext cx="2609063" cy="2593848"/>
            </a:xfrm>
            <a:prstGeom prst="line">
              <a:avLst/>
            </a:prstGeom>
            <a:grp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grpSp>
      <p:sp>
        <p:nvSpPr>
          <p:cNvPr id="13317" name="TextBox 7">
            <a:extLst>
              <a:ext uri="{FF2B5EF4-FFF2-40B4-BE49-F238E27FC236}">
                <a16:creationId xmlns:a16="http://schemas.microsoft.com/office/drawing/2014/main" id="{D46280B4-7112-4772-967A-BF7C1922835F}"/>
              </a:ext>
            </a:extLst>
          </p:cNvPr>
          <p:cNvSpPr txBox="1">
            <a:spLocks noChangeArrowheads="1"/>
          </p:cNvSpPr>
          <p:nvPr/>
        </p:nvSpPr>
        <p:spPr bwMode="auto">
          <a:xfrm>
            <a:off x="3656013" y="251301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Wire A</a:t>
            </a:r>
          </a:p>
        </p:txBody>
      </p:sp>
      <p:sp>
        <p:nvSpPr>
          <p:cNvPr id="13318" name="TextBox 8">
            <a:extLst>
              <a:ext uri="{FF2B5EF4-FFF2-40B4-BE49-F238E27FC236}">
                <a16:creationId xmlns:a16="http://schemas.microsoft.com/office/drawing/2014/main" id="{775759C5-4831-4CEA-A489-DE3E40EE0B79}"/>
              </a:ext>
            </a:extLst>
          </p:cNvPr>
          <p:cNvSpPr txBox="1">
            <a:spLocks noChangeArrowheads="1"/>
          </p:cNvSpPr>
          <p:nvPr/>
        </p:nvSpPr>
        <p:spPr bwMode="auto">
          <a:xfrm>
            <a:off x="6256338" y="3897313"/>
            <a:ext cx="1098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Wire B</a:t>
            </a:r>
          </a:p>
        </p:txBody>
      </p:sp>
      <p:sp>
        <p:nvSpPr>
          <p:cNvPr id="13319" name="TextBox 9">
            <a:extLst>
              <a:ext uri="{FF2B5EF4-FFF2-40B4-BE49-F238E27FC236}">
                <a16:creationId xmlns:a16="http://schemas.microsoft.com/office/drawing/2014/main" id="{28D1D7D9-ED9F-4694-A0A4-4C46D8452EBA}"/>
              </a:ext>
            </a:extLst>
          </p:cNvPr>
          <p:cNvSpPr txBox="1">
            <a:spLocks noChangeArrowheads="1"/>
          </p:cNvSpPr>
          <p:nvPr/>
        </p:nvSpPr>
        <p:spPr bwMode="auto">
          <a:xfrm>
            <a:off x="5246688" y="4572000"/>
            <a:ext cx="290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eaLnBrk="1" hangingPunct="1">
              <a:spcBef>
                <a:spcPct val="0"/>
              </a:spcBef>
              <a:buClrTx/>
              <a:buSzTx/>
              <a:buFontTx/>
              <a:buNone/>
            </a:pPr>
            <a:r>
              <a:rPr lang="en-US" altLang="en-US" sz="2400"/>
              <a:t>Capacitive Coupling</a:t>
            </a:r>
          </a:p>
        </p:txBody>
      </p:sp>
      <p:cxnSp>
        <p:nvCxnSpPr>
          <p:cNvPr id="45" name="Straight Arrow Connector 44">
            <a:extLst>
              <a:ext uri="{FF2B5EF4-FFF2-40B4-BE49-F238E27FC236}">
                <a16:creationId xmlns:a16="http://schemas.microsoft.com/office/drawing/2014/main" id="{9366679A-2430-4147-804F-CABC064A848B}"/>
              </a:ext>
            </a:extLst>
          </p:cNvPr>
          <p:cNvCxnSpPr/>
          <p:nvPr/>
        </p:nvCxnSpPr>
        <p:spPr>
          <a:xfrm rot="10800000">
            <a:off x="6237288" y="3581400"/>
            <a:ext cx="381000" cy="30480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EBC9825-C305-4313-BBC4-77C15FB33331}"/>
              </a:ext>
            </a:extLst>
          </p:cNvPr>
          <p:cNvCxnSpPr>
            <a:stCxn id="13317" idx="2"/>
          </p:cNvCxnSpPr>
          <p:nvPr/>
        </p:nvCxnSpPr>
        <p:spPr>
          <a:xfrm rot="16200000" flipH="1">
            <a:off x="4157664" y="3017839"/>
            <a:ext cx="471487" cy="376237"/>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1DF1EEE9-CC53-4196-BCB2-5C1B2192D034}"/>
              </a:ext>
            </a:extLst>
          </p:cNvPr>
          <p:cNvCxnSpPr/>
          <p:nvPr/>
        </p:nvCxnSpPr>
        <p:spPr>
          <a:xfrm rot="10800000" flipV="1">
            <a:off x="4713288" y="4800600"/>
            <a:ext cx="533400" cy="152400"/>
          </a:xfrm>
          <a:prstGeom prst="straightConnector1">
            <a:avLst/>
          </a:prstGeom>
          <a:ln w="952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2D34D9B-4FCA-41B1-96DF-BDD44AF54EBF}"/>
              </a:ext>
            </a:extLst>
          </p:cNvPr>
          <p:cNvCxnSpPr/>
          <p:nvPr/>
        </p:nvCxnSpPr>
        <p:spPr>
          <a:xfrm rot="5400000">
            <a:off x="4149725" y="4800600"/>
            <a:ext cx="45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15B8DBA-E8E5-441F-A623-D2EAA038E9C3}"/>
              </a:ext>
            </a:extLst>
          </p:cNvPr>
          <p:cNvCxnSpPr/>
          <p:nvPr/>
        </p:nvCxnSpPr>
        <p:spPr>
          <a:xfrm rot="5400000">
            <a:off x="4265613" y="4800600"/>
            <a:ext cx="45720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Freeform 49">
            <a:extLst>
              <a:ext uri="{FF2B5EF4-FFF2-40B4-BE49-F238E27FC236}">
                <a16:creationId xmlns:a16="http://schemas.microsoft.com/office/drawing/2014/main" id="{0376F3EB-4836-4E71-BD6C-9B3C111B6510}"/>
              </a:ext>
            </a:extLst>
          </p:cNvPr>
          <p:cNvSpPr/>
          <p:nvPr/>
        </p:nvSpPr>
        <p:spPr>
          <a:xfrm>
            <a:off x="4505325" y="4476751"/>
            <a:ext cx="357188" cy="341313"/>
          </a:xfrm>
          <a:custGeom>
            <a:avLst/>
            <a:gdLst>
              <a:gd name="connsiteX0" fmla="*/ 0 w 356616"/>
              <a:gd name="connsiteY0" fmla="*/ 350520 h 359664"/>
              <a:gd name="connsiteX1" fmla="*/ 54864 w 356616"/>
              <a:gd name="connsiteY1" fmla="*/ 341376 h 359664"/>
              <a:gd name="connsiteX2" fmla="*/ 237744 w 356616"/>
              <a:gd name="connsiteY2" fmla="*/ 240792 h 359664"/>
              <a:gd name="connsiteX3" fmla="*/ 329184 w 356616"/>
              <a:gd name="connsiteY3" fmla="*/ 103632 h 359664"/>
              <a:gd name="connsiteX4" fmla="*/ 356616 w 356616"/>
              <a:gd name="connsiteY4" fmla="*/ 21336 h 3596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616" h="359664">
                <a:moveTo>
                  <a:pt x="0" y="350520"/>
                </a:moveTo>
                <a:cubicBezTo>
                  <a:pt x="7620" y="355092"/>
                  <a:pt x="15240" y="359664"/>
                  <a:pt x="54864" y="341376"/>
                </a:cubicBezTo>
                <a:cubicBezTo>
                  <a:pt x="94488" y="323088"/>
                  <a:pt x="192024" y="280416"/>
                  <a:pt x="237744" y="240792"/>
                </a:cubicBezTo>
                <a:cubicBezTo>
                  <a:pt x="283464" y="201168"/>
                  <a:pt x="309372" y="140208"/>
                  <a:pt x="329184" y="103632"/>
                </a:cubicBezTo>
                <a:cubicBezTo>
                  <a:pt x="348996" y="67056"/>
                  <a:pt x="335280" y="0"/>
                  <a:pt x="356616" y="21336"/>
                </a:cubicBezTo>
              </a:path>
            </a:pathLst>
          </a:custGeom>
          <a:ln w="95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sz="2400" dirty="0"/>
          </a:p>
        </p:txBody>
      </p:sp>
      <p:sp>
        <p:nvSpPr>
          <p:cNvPr id="51" name="Freeform 50">
            <a:extLst>
              <a:ext uri="{FF2B5EF4-FFF2-40B4-BE49-F238E27FC236}">
                <a16:creationId xmlns:a16="http://schemas.microsoft.com/office/drawing/2014/main" id="{02F1131F-BC9F-403F-A14B-7468BD299D06}"/>
              </a:ext>
            </a:extLst>
          </p:cNvPr>
          <p:cNvSpPr/>
          <p:nvPr/>
        </p:nvSpPr>
        <p:spPr>
          <a:xfrm>
            <a:off x="4103688" y="4498976"/>
            <a:ext cx="271462" cy="328613"/>
          </a:xfrm>
          <a:custGeom>
            <a:avLst/>
            <a:gdLst>
              <a:gd name="connsiteX0" fmla="*/ 0 w 271272"/>
              <a:gd name="connsiteY0" fmla="*/ 0 h 329184"/>
              <a:gd name="connsiteX1" fmla="*/ 54864 w 271272"/>
              <a:gd name="connsiteY1" fmla="*/ 210312 h 329184"/>
              <a:gd name="connsiteX2" fmla="*/ 118872 w 271272"/>
              <a:gd name="connsiteY2" fmla="*/ 310896 h 329184"/>
              <a:gd name="connsiteX3" fmla="*/ 246888 w 271272"/>
              <a:gd name="connsiteY3" fmla="*/ 320040 h 329184"/>
              <a:gd name="connsiteX4" fmla="*/ 265176 w 271272"/>
              <a:gd name="connsiteY4" fmla="*/ 310896 h 3291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1272" h="329184">
                <a:moveTo>
                  <a:pt x="0" y="0"/>
                </a:moveTo>
                <a:cubicBezTo>
                  <a:pt x="17526" y="79248"/>
                  <a:pt x="35052" y="158496"/>
                  <a:pt x="54864" y="210312"/>
                </a:cubicBezTo>
                <a:cubicBezTo>
                  <a:pt x="74676" y="262128"/>
                  <a:pt x="86868" y="292608"/>
                  <a:pt x="118872" y="310896"/>
                </a:cubicBezTo>
                <a:cubicBezTo>
                  <a:pt x="150876" y="329184"/>
                  <a:pt x="222504" y="320040"/>
                  <a:pt x="246888" y="320040"/>
                </a:cubicBezTo>
                <a:cubicBezTo>
                  <a:pt x="271272" y="320040"/>
                  <a:pt x="268224" y="315468"/>
                  <a:pt x="265176" y="310896"/>
                </a:cubicBezTo>
              </a:path>
            </a:pathLst>
          </a:custGeom>
          <a:ln w="95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sz="2400" dirty="0"/>
          </a:p>
        </p:txBody>
      </p:sp>
      <p:sp>
        <p:nvSpPr>
          <p:cNvPr id="13327" name="Title 23">
            <a:extLst>
              <a:ext uri="{FF2B5EF4-FFF2-40B4-BE49-F238E27FC236}">
                <a16:creationId xmlns:a16="http://schemas.microsoft.com/office/drawing/2014/main" id="{BAB06077-3DC5-4861-B075-A2507BD1B33E}"/>
              </a:ext>
            </a:extLst>
          </p:cNvPr>
          <p:cNvSpPr>
            <a:spLocks noGrp="1"/>
          </p:cNvSpPr>
          <p:nvPr>
            <p:ph type="title"/>
          </p:nvPr>
        </p:nvSpPr>
        <p:spPr/>
        <p:txBody>
          <a:bodyPr/>
          <a:lstStyle/>
          <a:p>
            <a:r>
              <a:rPr lang="en-US" altLang="en-US"/>
              <a:t>Capacitive Coupling</a:t>
            </a:r>
          </a:p>
        </p:txBody>
      </p:sp>
      <p:sp>
        <p:nvSpPr>
          <p:cNvPr id="5" name="Text Placeholder 4">
            <a:extLst>
              <a:ext uri="{FF2B5EF4-FFF2-40B4-BE49-F238E27FC236}">
                <a16:creationId xmlns:a16="http://schemas.microsoft.com/office/drawing/2014/main" id="{CFFE53B3-F4D0-4499-B0B3-AD2A881E3854}"/>
              </a:ext>
            </a:extLst>
          </p:cNvPr>
          <p:cNvSpPr>
            <a:spLocks noGrp="1"/>
          </p:cNvSpPr>
          <p:nvPr>
            <p:ph type="body" sz="quarter" idx="10"/>
          </p:nvPr>
        </p:nvSpPr>
        <p:spPr/>
        <p:txBody>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75234EC0-AC30-4320-A802-7029430BAB8D}"/>
              </a:ext>
            </a:extLst>
          </p:cNvPr>
          <p:cNvSpPr>
            <a:spLocks noGrp="1"/>
          </p:cNvSpPr>
          <p:nvPr>
            <p:ph type="title"/>
          </p:nvPr>
        </p:nvSpPr>
        <p:spPr/>
        <p:txBody>
          <a:bodyPr/>
          <a:lstStyle/>
          <a:p>
            <a:r>
              <a:rPr lang="en-US" altLang="en-US"/>
              <a:t>Noise Effects Types</a:t>
            </a:r>
          </a:p>
        </p:txBody>
      </p:sp>
      <p:sp>
        <p:nvSpPr>
          <p:cNvPr id="15363" name="Content Placeholder 2">
            <a:extLst>
              <a:ext uri="{FF2B5EF4-FFF2-40B4-BE49-F238E27FC236}">
                <a16:creationId xmlns:a16="http://schemas.microsoft.com/office/drawing/2014/main" id="{6FDB15E4-B160-4490-8DC1-02EC31239E71}"/>
              </a:ext>
            </a:extLst>
          </p:cNvPr>
          <p:cNvSpPr>
            <a:spLocks noGrp="1"/>
          </p:cNvSpPr>
          <p:nvPr>
            <p:ph type="body" sz="quarter" idx="10"/>
          </p:nvPr>
        </p:nvSpPr>
        <p:spPr/>
        <p:txBody>
          <a:bodyPr/>
          <a:lstStyle/>
          <a:p>
            <a:r>
              <a:rPr lang="en-US" altLang="en-US">
                <a:solidFill>
                  <a:srgbClr val="0000FF"/>
                </a:solidFill>
              </a:rPr>
              <a:t>Delay</a:t>
            </a:r>
          </a:p>
          <a:p>
            <a:pPr lvl="1"/>
            <a:r>
              <a:rPr lang="en-US" altLang="en-US"/>
              <a:t>Coupling of switching activity of the victim with the switching activity of the aggressors</a:t>
            </a:r>
          </a:p>
          <a:p>
            <a:r>
              <a:rPr lang="en-US" altLang="en-US">
                <a:solidFill>
                  <a:srgbClr val="0000FF"/>
                </a:solidFill>
              </a:rPr>
              <a:t>Glitch </a:t>
            </a:r>
          </a:p>
          <a:p>
            <a:pPr lvl="1"/>
            <a:r>
              <a:rPr lang="en-US" altLang="en-US"/>
              <a:t>Noise caused on a steady victim signal</a:t>
            </a:r>
          </a:p>
          <a:p>
            <a:endParaRPr lang="en-US" altLang="en-US"/>
          </a:p>
          <a:p>
            <a:endParaRPr lang="en-US" altLang="en-US"/>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53">
            <a:extLst>
              <a:ext uri="{FF2B5EF4-FFF2-40B4-BE49-F238E27FC236}">
                <a16:creationId xmlns:a16="http://schemas.microsoft.com/office/drawing/2014/main" id="{C7A9BC95-F605-4123-A230-B4E1C7510A25}"/>
              </a:ext>
            </a:extLst>
          </p:cNvPr>
          <p:cNvGrpSpPr>
            <a:grpSpLocks/>
          </p:cNvGrpSpPr>
          <p:nvPr/>
        </p:nvGrpSpPr>
        <p:grpSpPr bwMode="auto">
          <a:xfrm>
            <a:off x="2695576" y="2073276"/>
            <a:ext cx="6240463" cy="2498725"/>
            <a:chOff x="760" y="1167"/>
            <a:chExt cx="4184" cy="1811"/>
          </a:xfrm>
        </p:grpSpPr>
        <p:sp>
          <p:nvSpPr>
            <p:cNvPr id="16388" name="Isosceles Triangle 5">
              <a:extLst>
                <a:ext uri="{FF2B5EF4-FFF2-40B4-BE49-F238E27FC236}">
                  <a16:creationId xmlns:a16="http://schemas.microsoft.com/office/drawing/2014/main" id="{AC8EEFA0-C556-4A26-8CD4-3C39AE45E9C4}"/>
                </a:ext>
              </a:extLst>
            </p:cNvPr>
            <p:cNvSpPr>
              <a:spLocks noChangeArrowheads="1"/>
            </p:cNvSpPr>
            <p:nvPr/>
          </p:nvSpPr>
          <p:spPr bwMode="auto">
            <a:xfrm rot="5400000">
              <a:off x="1082" y="2275"/>
              <a:ext cx="493" cy="333"/>
            </a:xfrm>
            <a:prstGeom prst="triangle">
              <a:avLst>
                <a:gd name="adj" fmla="val 50000"/>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sp>
          <p:nvSpPr>
            <p:cNvPr id="16389" name="Oval 6">
              <a:extLst>
                <a:ext uri="{FF2B5EF4-FFF2-40B4-BE49-F238E27FC236}">
                  <a16:creationId xmlns:a16="http://schemas.microsoft.com/office/drawing/2014/main" id="{4E14BB43-2817-4795-85C0-4A195C17B024}"/>
                </a:ext>
              </a:extLst>
            </p:cNvPr>
            <p:cNvSpPr>
              <a:spLocks noChangeArrowheads="1"/>
            </p:cNvSpPr>
            <p:nvPr/>
          </p:nvSpPr>
          <p:spPr bwMode="auto">
            <a:xfrm>
              <a:off x="1490" y="2398"/>
              <a:ext cx="96" cy="96"/>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cxnSp>
          <p:nvCxnSpPr>
            <p:cNvPr id="8" name="Straight Connector 7">
              <a:extLst>
                <a:ext uri="{FF2B5EF4-FFF2-40B4-BE49-F238E27FC236}">
                  <a16:creationId xmlns:a16="http://schemas.microsoft.com/office/drawing/2014/main" id="{98AE59D9-1B65-4405-9350-1B56081C202C}"/>
                </a:ext>
              </a:extLst>
            </p:cNvPr>
            <p:cNvCxnSpPr/>
            <p:nvPr/>
          </p:nvCxnSpPr>
          <p:spPr>
            <a:xfrm rot="10800000" flipV="1">
              <a:off x="760" y="2450"/>
              <a:ext cx="394"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6B4E59-F461-4B03-8DF6-93079B6D0C52}"/>
                </a:ext>
              </a:extLst>
            </p:cNvPr>
            <p:cNvCxnSpPr/>
            <p:nvPr/>
          </p:nvCxnSpPr>
          <p:spPr>
            <a:xfrm rot="10800000">
              <a:off x="1588" y="2440"/>
              <a:ext cx="270"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7AFA3F0-1A3B-4CEA-A057-78C66C066A8C}"/>
                </a:ext>
              </a:extLst>
            </p:cNvPr>
            <p:cNvCxnSpPr/>
            <p:nvPr/>
          </p:nvCxnSpPr>
          <p:spPr>
            <a:xfrm rot="10800000" flipV="1">
              <a:off x="1373" y="2446"/>
              <a:ext cx="11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2C74BFB-5BCD-4A9D-ADCC-2623E38F6D54}"/>
                </a:ext>
              </a:extLst>
            </p:cNvPr>
            <p:cNvCxnSpPr/>
            <p:nvPr/>
          </p:nvCxnSpPr>
          <p:spPr>
            <a:xfrm rot="10800000">
              <a:off x="2085" y="2700"/>
              <a:ext cx="23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B3FCAD3-C95D-4A57-BD54-8E83A13CFDF2}"/>
                </a:ext>
              </a:extLst>
            </p:cNvPr>
            <p:cNvCxnSpPr/>
            <p:nvPr/>
          </p:nvCxnSpPr>
          <p:spPr>
            <a:xfrm rot="10800000">
              <a:off x="2083" y="2621"/>
              <a:ext cx="231"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6395" name="Oval 12">
              <a:extLst>
                <a:ext uri="{FF2B5EF4-FFF2-40B4-BE49-F238E27FC236}">
                  <a16:creationId xmlns:a16="http://schemas.microsoft.com/office/drawing/2014/main" id="{A3C9651B-6819-4E00-84E3-9242958C24CE}"/>
                </a:ext>
              </a:extLst>
            </p:cNvPr>
            <p:cNvSpPr>
              <a:spLocks noChangeArrowheads="1"/>
            </p:cNvSpPr>
            <p:nvPr/>
          </p:nvSpPr>
          <p:spPr bwMode="auto">
            <a:xfrm>
              <a:off x="1582" y="1803"/>
              <a:ext cx="86" cy="86"/>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cxnSp>
          <p:nvCxnSpPr>
            <p:cNvPr id="14" name="Straight Connector 13">
              <a:extLst>
                <a:ext uri="{FF2B5EF4-FFF2-40B4-BE49-F238E27FC236}">
                  <a16:creationId xmlns:a16="http://schemas.microsoft.com/office/drawing/2014/main" id="{95621C66-1A3D-4BC4-A358-AA59F3DFD26D}"/>
                </a:ext>
              </a:extLst>
            </p:cNvPr>
            <p:cNvCxnSpPr>
              <a:stCxn id="16395" idx="6"/>
            </p:cNvCxnSpPr>
            <p:nvPr/>
          </p:nvCxnSpPr>
          <p:spPr>
            <a:xfrm flipV="1">
              <a:off x="1668" y="1844"/>
              <a:ext cx="21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397" name="Flowchart: Delay 14">
              <a:extLst>
                <a:ext uri="{FF2B5EF4-FFF2-40B4-BE49-F238E27FC236}">
                  <a16:creationId xmlns:a16="http://schemas.microsoft.com/office/drawing/2014/main" id="{91D3CFE5-1EC7-4366-B838-04BAEE0819D0}"/>
                </a:ext>
              </a:extLst>
            </p:cNvPr>
            <p:cNvSpPr>
              <a:spLocks noChangeArrowheads="1"/>
            </p:cNvSpPr>
            <p:nvPr/>
          </p:nvSpPr>
          <p:spPr bwMode="auto">
            <a:xfrm>
              <a:off x="1151" y="1599"/>
              <a:ext cx="429" cy="480"/>
            </a:xfrm>
            <a:prstGeom prst="flowChartDelay">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cxnSp>
          <p:nvCxnSpPr>
            <p:cNvPr id="16" name="Straight Connector 15">
              <a:extLst>
                <a:ext uri="{FF2B5EF4-FFF2-40B4-BE49-F238E27FC236}">
                  <a16:creationId xmlns:a16="http://schemas.microsoft.com/office/drawing/2014/main" id="{F42B2E0E-C292-4771-8405-10D5353D97F6}"/>
                </a:ext>
              </a:extLst>
            </p:cNvPr>
            <p:cNvCxnSpPr/>
            <p:nvPr/>
          </p:nvCxnSpPr>
          <p:spPr>
            <a:xfrm rot="10800000">
              <a:off x="864" y="1696"/>
              <a:ext cx="28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87A1B3F-C6CC-4E9C-9F37-84B80442BA9A}"/>
                </a:ext>
              </a:extLst>
            </p:cNvPr>
            <p:cNvCxnSpPr/>
            <p:nvPr/>
          </p:nvCxnSpPr>
          <p:spPr>
            <a:xfrm rot="10800000">
              <a:off x="864" y="1947"/>
              <a:ext cx="284"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Freeform 17">
              <a:extLst>
                <a:ext uri="{FF2B5EF4-FFF2-40B4-BE49-F238E27FC236}">
                  <a16:creationId xmlns:a16="http://schemas.microsoft.com/office/drawing/2014/main" id="{B9491DFE-3A34-4BB8-8E95-19B771A55451}"/>
                </a:ext>
              </a:extLst>
            </p:cNvPr>
            <p:cNvSpPr/>
            <p:nvPr/>
          </p:nvSpPr>
          <p:spPr>
            <a:xfrm>
              <a:off x="2097" y="2148"/>
              <a:ext cx="243" cy="227"/>
            </a:xfrm>
            <a:custGeom>
              <a:avLst/>
              <a:gdLst>
                <a:gd name="connsiteX0" fmla="*/ 0 w 384048"/>
                <a:gd name="connsiteY0" fmla="*/ 0 h 356616"/>
                <a:gd name="connsiteX1" fmla="*/ 146304 w 384048"/>
                <a:gd name="connsiteY1" fmla="*/ 0 h 356616"/>
                <a:gd name="connsiteX2" fmla="*/ 219456 w 384048"/>
                <a:gd name="connsiteY2" fmla="*/ 347472 h 356616"/>
                <a:gd name="connsiteX3" fmla="*/ 384048 w 384048"/>
                <a:gd name="connsiteY3" fmla="*/ 356616 h 356616"/>
              </a:gdLst>
              <a:ahLst/>
              <a:cxnLst>
                <a:cxn ang="0">
                  <a:pos x="connsiteX0" y="connsiteY0"/>
                </a:cxn>
                <a:cxn ang="0">
                  <a:pos x="connsiteX1" y="connsiteY1"/>
                </a:cxn>
                <a:cxn ang="0">
                  <a:pos x="connsiteX2" y="connsiteY2"/>
                </a:cxn>
                <a:cxn ang="0">
                  <a:pos x="connsiteX3" y="connsiteY3"/>
                </a:cxn>
              </a:cxnLst>
              <a:rect l="l" t="t" r="r" b="b"/>
              <a:pathLst>
                <a:path w="384048" h="356616">
                  <a:moveTo>
                    <a:pt x="0" y="0"/>
                  </a:moveTo>
                  <a:lnTo>
                    <a:pt x="146304" y="0"/>
                  </a:lnTo>
                  <a:lnTo>
                    <a:pt x="219456" y="347472"/>
                  </a:lnTo>
                  <a:lnTo>
                    <a:pt x="384048" y="356616"/>
                  </a:lnTo>
                </a:path>
              </a:pathLst>
            </a:custGeom>
            <a:ln w="381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19" name="Freeform 18">
              <a:extLst>
                <a:ext uri="{FF2B5EF4-FFF2-40B4-BE49-F238E27FC236}">
                  <a16:creationId xmlns:a16="http://schemas.microsoft.com/office/drawing/2014/main" id="{E042A9C7-1F92-424A-8CBE-273082718D2F}"/>
                </a:ext>
              </a:extLst>
            </p:cNvPr>
            <p:cNvSpPr>
              <a:spLocks noChangeArrowheads="1"/>
            </p:cNvSpPr>
            <p:nvPr/>
          </p:nvSpPr>
          <p:spPr bwMode="auto">
            <a:xfrm flipV="1">
              <a:off x="2135" y="1570"/>
              <a:ext cx="242" cy="228"/>
            </a:xfrm>
            <a:custGeom>
              <a:avLst/>
              <a:gdLst>
                <a:gd name="T0" fmla="*/ 0 w 384048"/>
                <a:gd name="T1" fmla="*/ 0 h 356616"/>
                <a:gd name="T2" fmla="*/ 146352 w 384048"/>
                <a:gd name="T3" fmla="*/ 0 h 356616"/>
                <a:gd name="T4" fmla="*/ 219529 w 384048"/>
                <a:gd name="T5" fmla="*/ 348029 h 356616"/>
                <a:gd name="T6" fmla="*/ 384175 w 384048"/>
                <a:gd name="T7" fmla="*/ 357188 h 356616"/>
                <a:gd name="T8" fmla="*/ 0 60000 65536"/>
                <a:gd name="T9" fmla="*/ 0 60000 65536"/>
                <a:gd name="T10" fmla="*/ 0 60000 65536"/>
                <a:gd name="T11" fmla="*/ 0 60000 65536"/>
                <a:gd name="T12" fmla="*/ 0 w 384048"/>
                <a:gd name="T13" fmla="*/ 0 h 356616"/>
                <a:gd name="T14" fmla="*/ 384048 w 384048"/>
                <a:gd name="T15" fmla="*/ 356616 h 356616"/>
              </a:gdLst>
              <a:ahLst/>
              <a:cxnLst>
                <a:cxn ang="T8">
                  <a:pos x="T0" y="T1"/>
                </a:cxn>
                <a:cxn ang="T9">
                  <a:pos x="T2" y="T3"/>
                </a:cxn>
                <a:cxn ang="T10">
                  <a:pos x="T4" y="T5"/>
                </a:cxn>
                <a:cxn ang="T11">
                  <a:pos x="T6" y="T7"/>
                </a:cxn>
              </a:cxnLst>
              <a:rect l="T12" t="T13" r="T14" b="T15"/>
              <a:pathLst>
                <a:path w="384048" h="356616">
                  <a:moveTo>
                    <a:pt x="0" y="0"/>
                  </a:moveTo>
                  <a:lnTo>
                    <a:pt x="146304" y="0"/>
                  </a:lnTo>
                  <a:lnTo>
                    <a:pt x="219456" y="347472"/>
                  </a:lnTo>
                  <a:lnTo>
                    <a:pt x="384048" y="356616"/>
                  </a:lnTo>
                </a:path>
              </a:pathLst>
            </a:custGeom>
            <a:noFill/>
            <a:ln w="38100" algn="ctr">
              <a:solidFill>
                <a:schemeClr val="accent1">
                  <a:lumMod val="20000"/>
                  <a:lumOff val="80000"/>
                </a:schemeClr>
              </a:solidFill>
              <a:miter lim="800000"/>
              <a:headEnd/>
              <a:tailEnd/>
            </a:ln>
          </p:spPr>
          <p:txBody>
            <a:bodyPr rot="10800000" anchor="ctr"/>
            <a:lstStyle/>
            <a:p>
              <a:pPr>
                <a:defRPr/>
              </a:pPr>
              <a:endParaRPr lang="en-US" dirty="0">
                <a:latin typeface="+mj-lt"/>
                <a:cs typeface="Arial" charset="0"/>
              </a:endParaRPr>
            </a:p>
          </p:txBody>
        </p:sp>
        <p:sp>
          <p:nvSpPr>
            <p:cNvPr id="16402" name="Oval 19">
              <a:extLst>
                <a:ext uri="{FF2B5EF4-FFF2-40B4-BE49-F238E27FC236}">
                  <a16:creationId xmlns:a16="http://schemas.microsoft.com/office/drawing/2014/main" id="{19684DC7-8EB9-4C48-B238-A316E9889DD6}"/>
                </a:ext>
              </a:extLst>
            </p:cNvPr>
            <p:cNvSpPr>
              <a:spLocks noChangeArrowheads="1"/>
            </p:cNvSpPr>
            <p:nvPr/>
          </p:nvSpPr>
          <p:spPr bwMode="auto">
            <a:xfrm>
              <a:off x="4077" y="2541"/>
              <a:ext cx="86" cy="88"/>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cxnSp>
          <p:nvCxnSpPr>
            <p:cNvPr id="21" name="Straight Connector 20">
              <a:extLst>
                <a:ext uri="{FF2B5EF4-FFF2-40B4-BE49-F238E27FC236}">
                  <a16:creationId xmlns:a16="http://schemas.microsoft.com/office/drawing/2014/main" id="{7AC4B09D-3075-4BE3-B659-B327969FA865}"/>
                </a:ext>
              </a:extLst>
            </p:cNvPr>
            <p:cNvCxnSpPr/>
            <p:nvPr/>
          </p:nvCxnSpPr>
          <p:spPr>
            <a:xfrm>
              <a:off x="4165" y="2585"/>
              <a:ext cx="16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6404" name="Flowchart: Delay 21">
              <a:extLst>
                <a:ext uri="{FF2B5EF4-FFF2-40B4-BE49-F238E27FC236}">
                  <a16:creationId xmlns:a16="http://schemas.microsoft.com/office/drawing/2014/main" id="{F41ED2EB-700E-4146-85AF-611C5F00B8C5}"/>
                </a:ext>
              </a:extLst>
            </p:cNvPr>
            <p:cNvSpPr>
              <a:spLocks noChangeArrowheads="1"/>
            </p:cNvSpPr>
            <p:nvPr/>
          </p:nvSpPr>
          <p:spPr bwMode="auto">
            <a:xfrm>
              <a:off x="3645" y="2338"/>
              <a:ext cx="430" cy="480"/>
            </a:xfrm>
            <a:prstGeom prst="flowChartDelay">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400" baseline="-25000"/>
            </a:p>
          </p:txBody>
        </p:sp>
        <p:cxnSp>
          <p:nvCxnSpPr>
            <p:cNvPr id="23" name="Straight Connector 22">
              <a:extLst>
                <a:ext uri="{FF2B5EF4-FFF2-40B4-BE49-F238E27FC236}">
                  <a16:creationId xmlns:a16="http://schemas.microsoft.com/office/drawing/2014/main" id="{C3064D9A-51C8-4825-A56C-7B9DCA4891BE}"/>
                </a:ext>
              </a:extLst>
            </p:cNvPr>
            <p:cNvCxnSpPr/>
            <p:nvPr/>
          </p:nvCxnSpPr>
          <p:spPr>
            <a:xfrm rot="10800000" flipV="1">
              <a:off x="2120" y="2436"/>
              <a:ext cx="152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3CCD351-50DF-4400-9610-11AF2D224CE6}"/>
                </a:ext>
              </a:extLst>
            </p:cNvPr>
            <p:cNvCxnSpPr/>
            <p:nvPr/>
          </p:nvCxnSpPr>
          <p:spPr>
            <a:xfrm rot="10800000">
              <a:off x="3301" y="2685"/>
              <a:ext cx="345"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DE1D20F-F94B-410B-AFE6-888B34117D4F}"/>
                </a:ext>
              </a:extLst>
            </p:cNvPr>
            <p:cNvCxnSpPr/>
            <p:nvPr/>
          </p:nvCxnSpPr>
          <p:spPr>
            <a:xfrm flipV="1">
              <a:off x="2199" y="2433"/>
              <a:ext cx="0" cy="18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E0C721D-4D77-4581-A33E-FA4BF2F93FC1}"/>
                </a:ext>
              </a:extLst>
            </p:cNvPr>
            <p:cNvCxnSpPr/>
            <p:nvPr/>
          </p:nvCxnSpPr>
          <p:spPr>
            <a:xfrm rot="5400000">
              <a:off x="2075" y="2826"/>
              <a:ext cx="231" cy="0"/>
            </a:xfrm>
            <a:prstGeom prst="line">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Freeform 26">
              <a:extLst>
                <a:ext uri="{FF2B5EF4-FFF2-40B4-BE49-F238E27FC236}">
                  <a16:creationId xmlns:a16="http://schemas.microsoft.com/office/drawing/2014/main" id="{15C66C38-002A-4A79-B335-E1EEF4A9DA67}"/>
                </a:ext>
              </a:extLst>
            </p:cNvPr>
            <p:cNvSpPr/>
            <p:nvPr/>
          </p:nvSpPr>
          <p:spPr>
            <a:xfrm>
              <a:off x="1849" y="2370"/>
              <a:ext cx="270" cy="123"/>
            </a:xfrm>
            <a:custGeom>
              <a:avLst/>
              <a:gdLst>
                <a:gd name="connsiteX0" fmla="*/ 0 w 429768"/>
                <a:gd name="connsiteY0" fmla="*/ 105317 h 196757"/>
                <a:gd name="connsiteX1" fmla="*/ 73152 w 429768"/>
                <a:gd name="connsiteY1" fmla="*/ 196757 h 196757"/>
                <a:gd name="connsiteX2" fmla="*/ 137160 w 429768"/>
                <a:gd name="connsiteY2" fmla="*/ 59597 h 196757"/>
                <a:gd name="connsiteX3" fmla="*/ 201168 w 429768"/>
                <a:gd name="connsiteY3" fmla="*/ 196757 h 196757"/>
                <a:gd name="connsiteX4" fmla="*/ 256032 w 429768"/>
                <a:gd name="connsiteY4" fmla="*/ 59597 h 196757"/>
                <a:gd name="connsiteX5" fmla="*/ 320040 w 429768"/>
                <a:gd name="connsiteY5" fmla="*/ 187613 h 196757"/>
                <a:gd name="connsiteX6" fmla="*/ 384048 w 429768"/>
                <a:gd name="connsiteY6" fmla="*/ 59597 h 196757"/>
                <a:gd name="connsiteX7" fmla="*/ 429768 w 429768"/>
                <a:gd name="connsiteY7" fmla="*/ 105317 h 196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768" h="196757">
                  <a:moveTo>
                    <a:pt x="0" y="105317"/>
                  </a:moveTo>
                  <a:lnTo>
                    <a:pt x="73152" y="196757"/>
                  </a:lnTo>
                  <a:lnTo>
                    <a:pt x="137160" y="59597"/>
                  </a:lnTo>
                  <a:lnTo>
                    <a:pt x="201168" y="196757"/>
                  </a:lnTo>
                  <a:lnTo>
                    <a:pt x="256032" y="59597"/>
                  </a:lnTo>
                  <a:lnTo>
                    <a:pt x="320040" y="187613"/>
                  </a:lnTo>
                  <a:cubicBezTo>
                    <a:pt x="385337" y="47691"/>
                    <a:pt x="384048" y="0"/>
                    <a:pt x="384048" y="59597"/>
                  </a:cubicBezTo>
                  <a:lnTo>
                    <a:pt x="429768" y="105317"/>
                  </a:lnTo>
                </a:path>
              </a:pathLst>
            </a:custGeom>
            <a:ln w="3810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28" name="Freeform 27">
              <a:extLst>
                <a:ext uri="{FF2B5EF4-FFF2-40B4-BE49-F238E27FC236}">
                  <a16:creationId xmlns:a16="http://schemas.microsoft.com/office/drawing/2014/main" id="{C67FFF1A-712B-4BE5-A637-E76F7E41C581}"/>
                </a:ext>
              </a:extLst>
            </p:cNvPr>
            <p:cNvSpPr>
              <a:spLocks noChangeArrowheads="1"/>
            </p:cNvSpPr>
            <p:nvPr/>
          </p:nvSpPr>
          <p:spPr bwMode="auto">
            <a:xfrm rot="5400000">
              <a:off x="1227" y="2537"/>
              <a:ext cx="307" cy="131"/>
            </a:xfrm>
            <a:custGeom>
              <a:avLst/>
              <a:gdLst>
                <a:gd name="T0" fmla="*/ 0 w 429768"/>
                <a:gd name="T1" fmla="*/ 105367 h 196757"/>
                <a:gd name="T2" fmla="*/ 72957 w 429768"/>
                <a:gd name="T3" fmla="*/ 196850 h 196757"/>
                <a:gd name="T4" fmla="*/ 136795 w 429768"/>
                <a:gd name="T5" fmla="*/ 59625 h 196757"/>
                <a:gd name="T6" fmla="*/ 200633 w 429768"/>
                <a:gd name="T7" fmla="*/ 196850 h 196757"/>
                <a:gd name="T8" fmla="*/ 255351 w 429768"/>
                <a:gd name="T9" fmla="*/ 59625 h 196757"/>
                <a:gd name="T10" fmla="*/ 319189 w 429768"/>
                <a:gd name="T11" fmla="*/ 187702 h 196757"/>
                <a:gd name="T12" fmla="*/ 383027 w 429768"/>
                <a:gd name="T13" fmla="*/ 59625 h 196757"/>
                <a:gd name="T14" fmla="*/ 428625 w 429768"/>
                <a:gd name="T15" fmla="*/ 105367 h 196757"/>
                <a:gd name="T16" fmla="*/ 0 60000 65536"/>
                <a:gd name="T17" fmla="*/ 0 60000 65536"/>
                <a:gd name="T18" fmla="*/ 0 60000 65536"/>
                <a:gd name="T19" fmla="*/ 0 60000 65536"/>
                <a:gd name="T20" fmla="*/ 0 60000 65536"/>
                <a:gd name="T21" fmla="*/ 0 60000 65536"/>
                <a:gd name="T22" fmla="*/ 0 60000 65536"/>
                <a:gd name="T23" fmla="*/ 0 60000 65536"/>
                <a:gd name="T24" fmla="*/ 0 w 429768"/>
                <a:gd name="T25" fmla="*/ 0 h 196757"/>
                <a:gd name="T26" fmla="*/ 429768 w 429768"/>
                <a:gd name="T27" fmla="*/ 196757 h 1967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9768" h="196757">
                  <a:moveTo>
                    <a:pt x="0" y="105317"/>
                  </a:moveTo>
                  <a:lnTo>
                    <a:pt x="73152" y="196757"/>
                  </a:lnTo>
                  <a:lnTo>
                    <a:pt x="137160" y="59597"/>
                  </a:lnTo>
                  <a:lnTo>
                    <a:pt x="201168" y="196757"/>
                  </a:lnTo>
                  <a:lnTo>
                    <a:pt x="256032" y="59597"/>
                  </a:lnTo>
                  <a:lnTo>
                    <a:pt x="320040" y="187613"/>
                  </a:lnTo>
                  <a:cubicBezTo>
                    <a:pt x="385337" y="47691"/>
                    <a:pt x="384048" y="0"/>
                    <a:pt x="384048" y="59597"/>
                  </a:cubicBezTo>
                  <a:lnTo>
                    <a:pt x="429768" y="105317"/>
                  </a:lnTo>
                </a:path>
              </a:pathLst>
            </a:custGeom>
            <a:noFill/>
            <a:ln w="38100" algn="ctr">
              <a:solidFill>
                <a:schemeClr val="accent1">
                  <a:lumMod val="50000"/>
                </a:schemeClr>
              </a:solidFill>
              <a:miter lim="800000"/>
              <a:headEnd/>
              <a:tailEnd/>
            </a:ln>
          </p:spPr>
          <p:txBody>
            <a:bodyPr rot="10800000" vert="eaVert" anchor="ctr"/>
            <a:lstStyle/>
            <a:p>
              <a:pPr>
                <a:defRPr/>
              </a:pPr>
              <a:endParaRPr lang="en-US" dirty="0">
                <a:latin typeface="+mj-lt"/>
                <a:cs typeface="Arial" charset="0"/>
              </a:endParaRPr>
            </a:p>
          </p:txBody>
        </p:sp>
        <p:cxnSp>
          <p:nvCxnSpPr>
            <p:cNvPr id="29" name="Straight Connector 28">
              <a:extLst>
                <a:ext uri="{FF2B5EF4-FFF2-40B4-BE49-F238E27FC236}">
                  <a16:creationId xmlns:a16="http://schemas.microsoft.com/office/drawing/2014/main" id="{6B42E680-661F-421F-B358-F49CA72A1B63}"/>
                </a:ext>
              </a:extLst>
            </p:cNvPr>
            <p:cNvCxnSpPr/>
            <p:nvPr/>
          </p:nvCxnSpPr>
          <p:spPr>
            <a:xfrm rot="5400000">
              <a:off x="1265" y="2862"/>
              <a:ext cx="231" cy="0"/>
            </a:xfrm>
            <a:prstGeom prst="line">
              <a:avLst/>
            </a:prstGeom>
            <a:ln w="381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45" name="TextBox 29">
              <a:extLst>
                <a:ext uri="{FF2B5EF4-FFF2-40B4-BE49-F238E27FC236}">
                  <a16:creationId xmlns:a16="http://schemas.microsoft.com/office/drawing/2014/main" id="{A7ADE522-F8AB-4802-8DA9-168C51F8D2D2}"/>
                </a:ext>
              </a:extLst>
            </p:cNvPr>
            <p:cNvSpPr txBox="1">
              <a:spLocks noChangeArrowheads="1"/>
            </p:cNvSpPr>
            <p:nvPr/>
          </p:nvSpPr>
          <p:spPr bwMode="auto">
            <a:xfrm>
              <a:off x="2211" y="2703"/>
              <a:ext cx="392"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Cload</a:t>
              </a:r>
            </a:p>
          </p:txBody>
        </p:sp>
        <p:sp>
          <p:nvSpPr>
            <p:cNvPr id="10270" name="TextBox 30">
              <a:extLst>
                <a:ext uri="{FF2B5EF4-FFF2-40B4-BE49-F238E27FC236}">
                  <a16:creationId xmlns:a16="http://schemas.microsoft.com/office/drawing/2014/main" id="{8B36A11B-C0C6-4C41-8B80-B9E4AE32BE65}"/>
                </a:ext>
              </a:extLst>
            </p:cNvPr>
            <p:cNvSpPr txBox="1">
              <a:spLocks noChangeArrowheads="1"/>
            </p:cNvSpPr>
            <p:nvPr/>
          </p:nvSpPr>
          <p:spPr bwMode="auto">
            <a:xfrm>
              <a:off x="4051" y="2367"/>
              <a:ext cx="893" cy="201"/>
            </a:xfrm>
            <a:prstGeom prst="rect">
              <a:avLst/>
            </a:prstGeom>
            <a:noFill/>
            <a:ln w="9525">
              <a:noFill/>
              <a:miter lim="800000"/>
              <a:headEnd/>
              <a:tailEnd/>
            </a:ln>
          </p:spPr>
          <p:txBody>
            <a:bodyPr>
              <a:spAutoFit/>
            </a:bodyPr>
            <a:lstStyle/>
            <a:p>
              <a:pPr eaLnBrk="1" hangingPunct="1">
                <a:defRPr/>
              </a:pPr>
              <a:r>
                <a:rPr lang="en-US" sz="1200" dirty="0">
                  <a:solidFill>
                    <a:srgbClr val="0000FF"/>
                  </a:solidFill>
                  <a:latin typeface="+mj-lt"/>
                  <a:cs typeface="Arial" charset="0"/>
                </a:rPr>
                <a:t>Timing Error</a:t>
              </a:r>
            </a:p>
          </p:txBody>
        </p:sp>
        <p:sp>
          <p:nvSpPr>
            <p:cNvPr id="9247" name="TextBox 31">
              <a:extLst>
                <a:ext uri="{FF2B5EF4-FFF2-40B4-BE49-F238E27FC236}">
                  <a16:creationId xmlns:a16="http://schemas.microsoft.com/office/drawing/2014/main" id="{35C424AC-21C8-46E9-A4A8-10FDF8A4475F}"/>
                </a:ext>
              </a:extLst>
            </p:cNvPr>
            <p:cNvSpPr txBox="1">
              <a:spLocks noChangeArrowheads="1"/>
            </p:cNvSpPr>
            <p:nvPr/>
          </p:nvSpPr>
          <p:spPr bwMode="auto">
            <a:xfrm>
              <a:off x="2328" y="1488"/>
              <a:ext cx="336"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1.5V</a:t>
              </a:r>
            </a:p>
          </p:txBody>
        </p:sp>
        <p:sp>
          <p:nvSpPr>
            <p:cNvPr id="9248" name="TextBox 32">
              <a:extLst>
                <a:ext uri="{FF2B5EF4-FFF2-40B4-BE49-F238E27FC236}">
                  <a16:creationId xmlns:a16="http://schemas.microsoft.com/office/drawing/2014/main" id="{EB9B193F-5541-44F7-9404-25E453245C37}"/>
                </a:ext>
              </a:extLst>
            </p:cNvPr>
            <p:cNvSpPr txBox="1">
              <a:spLocks noChangeArrowheads="1"/>
            </p:cNvSpPr>
            <p:nvPr/>
          </p:nvSpPr>
          <p:spPr bwMode="auto">
            <a:xfrm>
              <a:off x="1875" y="1970"/>
              <a:ext cx="335"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1.5V</a:t>
              </a:r>
            </a:p>
          </p:txBody>
        </p:sp>
        <p:sp>
          <p:nvSpPr>
            <p:cNvPr id="9249" name="TextBox 33">
              <a:extLst>
                <a:ext uri="{FF2B5EF4-FFF2-40B4-BE49-F238E27FC236}">
                  <a16:creationId xmlns:a16="http://schemas.microsoft.com/office/drawing/2014/main" id="{30F1539B-F33F-425E-A432-8282E609C0F2}"/>
                </a:ext>
              </a:extLst>
            </p:cNvPr>
            <p:cNvSpPr txBox="1">
              <a:spLocks noChangeArrowheads="1"/>
            </p:cNvSpPr>
            <p:nvPr/>
          </p:nvSpPr>
          <p:spPr bwMode="auto">
            <a:xfrm>
              <a:off x="2230" y="2265"/>
              <a:ext cx="25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dirty="0">
                  <a:latin typeface="+mj-lt"/>
                </a:rPr>
                <a:t>0V</a:t>
              </a:r>
            </a:p>
          </p:txBody>
        </p:sp>
        <p:sp>
          <p:nvSpPr>
            <p:cNvPr id="9250" name="TextBox 34">
              <a:extLst>
                <a:ext uri="{FF2B5EF4-FFF2-40B4-BE49-F238E27FC236}">
                  <a16:creationId xmlns:a16="http://schemas.microsoft.com/office/drawing/2014/main" id="{0AF73AB8-8C77-4D15-8FA4-93F12B642A14}"/>
                </a:ext>
              </a:extLst>
            </p:cNvPr>
            <p:cNvSpPr txBox="1">
              <a:spLocks noChangeArrowheads="1"/>
            </p:cNvSpPr>
            <p:nvPr/>
          </p:nvSpPr>
          <p:spPr bwMode="auto">
            <a:xfrm>
              <a:off x="1907" y="1661"/>
              <a:ext cx="25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0V</a:t>
              </a:r>
            </a:p>
          </p:txBody>
        </p:sp>
        <p:sp>
          <p:nvSpPr>
            <p:cNvPr id="36" name="Freeform 35">
              <a:extLst>
                <a:ext uri="{FF2B5EF4-FFF2-40B4-BE49-F238E27FC236}">
                  <a16:creationId xmlns:a16="http://schemas.microsoft.com/office/drawing/2014/main" id="{9E2778D0-B67E-4902-B41A-495035553DD7}"/>
                </a:ext>
              </a:extLst>
            </p:cNvPr>
            <p:cNvSpPr/>
            <p:nvPr/>
          </p:nvSpPr>
          <p:spPr>
            <a:xfrm>
              <a:off x="2351" y="2223"/>
              <a:ext cx="658" cy="392"/>
            </a:xfrm>
            <a:custGeom>
              <a:avLst/>
              <a:gdLst>
                <a:gd name="connsiteX0" fmla="*/ 0 w 1042416"/>
                <a:gd name="connsiteY0" fmla="*/ 0 h 621792"/>
                <a:gd name="connsiteX1" fmla="*/ 146304 w 1042416"/>
                <a:gd name="connsiteY1" fmla="*/ 9144 h 621792"/>
                <a:gd name="connsiteX2" fmla="*/ 182880 w 1042416"/>
                <a:gd name="connsiteY2" fmla="*/ 54864 h 621792"/>
                <a:gd name="connsiteX3" fmla="*/ 274320 w 1042416"/>
                <a:gd name="connsiteY3" fmla="*/ 621792 h 621792"/>
                <a:gd name="connsiteX4" fmla="*/ 914400 w 1042416"/>
                <a:gd name="connsiteY4" fmla="*/ 612648 h 621792"/>
                <a:gd name="connsiteX5" fmla="*/ 941832 w 1042416"/>
                <a:gd name="connsiteY5" fmla="*/ 566928 h 621792"/>
                <a:gd name="connsiteX6" fmla="*/ 987552 w 1042416"/>
                <a:gd name="connsiteY6" fmla="*/ 219456 h 621792"/>
                <a:gd name="connsiteX7" fmla="*/ 1042416 w 1042416"/>
                <a:gd name="connsiteY7" fmla="*/ 173736 h 621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2416" h="621792">
                  <a:moveTo>
                    <a:pt x="0" y="0"/>
                  </a:moveTo>
                  <a:lnTo>
                    <a:pt x="146304" y="9144"/>
                  </a:lnTo>
                  <a:cubicBezTo>
                    <a:pt x="185035" y="47875"/>
                    <a:pt x="182880" y="28478"/>
                    <a:pt x="182880" y="54864"/>
                  </a:cubicBezTo>
                  <a:lnTo>
                    <a:pt x="274320" y="621792"/>
                  </a:lnTo>
                  <a:lnTo>
                    <a:pt x="914400" y="612648"/>
                  </a:lnTo>
                  <a:lnTo>
                    <a:pt x="941832" y="566928"/>
                  </a:lnTo>
                  <a:lnTo>
                    <a:pt x="987552" y="219456"/>
                  </a:lnTo>
                  <a:lnTo>
                    <a:pt x="1042416" y="173736"/>
                  </a:lnTo>
                </a:path>
              </a:pathLst>
            </a:custGeom>
            <a:ln w="28575">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37" name="Freeform 36">
              <a:extLst>
                <a:ext uri="{FF2B5EF4-FFF2-40B4-BE49-F238E27FC236}">
                  <a16:creationId xmlns:a16="http://schemas.microsoft.com/office/drawing/2014/main" id="{95346317-0926-432E-B902-84E8DAF26978}"/>
                </a:ext>
              </a:extLst>
            </p:cNvPr>
            <p:cNvSpPr/>
            <p:nvPr/>
          </p:nvSpPr>
          <p:spPr>
            <a:xfrm>
              <a:off x="2344" y="1728"/>
              <a:ext cx="807" cy="590"/>
            </a:xfrm>
            <a:custGeom>
              <a:avLst/>
              <a:gdLst>
                <a:gd name="connsiteX0" fmla="*/ 0 w 1280160"/>
                <a:gd name="connsiteY0" fmla="*/ 0 h 936346"/>
                <a:gd name="connsiteX1" fmla="*/ 118872 w 1280160"/>
                <a:gd name="connsiteY1" fmla="*/ 0 h 936346"/>
                <a:gd name="connsiteX2" fmla="*/ 685800 w 1280160"/>
                <a:gd name="connsiteY2" fmla="*/ 0 h 936346"/>
                <a:gd name="connsiteX3" fmla="*/ 777240 w 1280160"/>
                <a:gd name="connsiteY3" fmla="*/ 18288 h 936346"/>
                <a:gd name="connsiteX4" fmla="*/ 795528 w 1280160"/>
                <a:gd name="connsiteY4" fmla="*/ 45720 h 936346"/>
                <a:gd name="connsiteX5" fmla="*/ 795528 w 1280160"/>
                <a:gd name="connsiteY5" fmla="*/ 45720 h 936346"/>
                <a:gd name="connsiteX6" fmla="*/ 859536 w 1280160"/>
                <a:gd name="connsiteY6" fmla="*/ 118872 h 936346"/>
                <a:gd name="connsiteX7" fmla="*/ 996696 w 1280160"/>
                <a:gd name="connsiteY7" fmla="*/ 877824 h 936346"/>
                <a:gd name="connsiteX8" fmla="*/ 1088136 w 1280160"/>
                <a:gd name="connsiteY8" fmla="*/ 932688 h 936346"/>
                <a:gd name="connsiteX9" fmla="*/ 1280160 w 1280160"/>
                <a:gd name="connsiteY9" fmla="*/ 932688 h 93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80160" h="936346">
                  <a:moveTo>
                    <a:pt x="0" y="0"/>
                  </a:moveTo>
                  <a:lnTo>
                    <a:pt x="118872" y="0"/>
                  </a:lnTo>
                  <a:lnTo>
                    <a:pt x="685800" y="0"/>
                  </a:lnTo>
                  <a:cubicBezTo>
                    <a:pt x="716280" y="6096"/>
                    <a:pt x="748547" y="6333"/>
                    <a:pt x="777240" y="18288"/>
                  </a:cubicBezTo>
                  <a:cubicBezTo>
                    <a:pt x="787384" y="22515"/>
                    <a:pt x="795528" y="45720"/>
                    <a:pt x="795528" y="45720"/>
                  </a:cubicBezTo>
                  <a:lnTo>
                    <a:pt x="795528" y="45720"/>
                  </a:lnTo>
                  <a:lnTo>
                    <a:pt x="859536" y="118872"/>
                  </a:lnTo>
                  <a:cubicBezTo>
                    <a:pt x="906348" y="371656"/>
                    <a:pt x="996696" y="620742"/>
                    <a:pt x="996696" y="877824"/>
                  </a:cubicBezTo>
                  <a:cubicBezTo>
                    <a:pt x="1074725" y="936346"/>
                    <a:pt x="1039368" y="932688"/>
                    <a:pt x="1088136" y="932688"/>
                  </a:cubicBezTo>
                  <a:lnTo>
                    <a:pt x="1280160" y="932688"/>
                  </a:lnTo>
                </a:path>
              </a:pathLst>
            </a:custGeom>
            <a:ln w="28575">
              <a:solidFill>
                <a:schemeClr val="accent1">
                  <a:lumMod val="50000"/>
                </a:schemeClr>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cxnSp>
          <p:nvCxnSpPr>
            <p:cNvPr id="38" name="Straight Connector 37">
              <a:extLst>
                <a:ext uri="{FF2B5EF4-FFF2-40B4-BE49-F238E27FC236}">
                  <a16:creationId xmlns:a16="http://schemas.microsoft.com/office/drawing/2014/main" id="{1DECC350-7807-4174-BA75-3003F66287CB}"/>
                </a:ext>
              </a:extLst>
            </p:cNvPr>
            <p:cNvCxnSpPr/>
            <p:nvPr/>
          </p:nvCxnSpPr>
          <p:spPr>
            <a:xfrm rot="10800000">
              <a:off x="2628" y="2096"/>
              <a:ext cx="171" cy="2"/>
            </a:xfrm>
            <a:prstGeom prst="lin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AB1A68EB-A2FC-4A55-B104-01BDCDC8655D}"/>
                </a:ext>
              </a:extLst>
            </p:cNvPr>
            <p:cNvCxnSpPr/>
            <p:nvPr/>
          </p:nvCxnSpPr>
          <p:spPr>
            <a:xfrm rot="10800000">
              <a:off x="2627" y="2175"/>
              <a:ext cx="170" cy="1"/>
            </a:xfrm>
            <a:prstGeom prst="line">
              <a:avLst/>
            </a:pr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0" name="Freeform 39">
              <a:extLst>
                <a:ext uri="{FF2B5EF4-FFF2-40B4-BE49-F238E27FC236}">
                  <a16:creationId xmlns:a16="http://schemas.microsoft.com/office/drawing/2014/main" id="{13A24754-AB8A-44B3-B126-5150872175F8}"/>
                </a:ext>
              </a:extLst>
            </p:cNvPr>
            <p:cNvSpPr/>
            <p:nvPr/>
          </p:nvSpPr>
          <p:spPr>
            <a:xfrm>
              <a:off x="2511" y="1849"/>
              <a:ext cx="197" cy="243"/>
            </a:xfrm>
            <a:custGeom>
              <a:avLst/>
              <a:gdLst>
                <a:gd name="connsiteX0" fmla="*/ 301752 w 312420"/>
                <a:gd name="connsiteY0" fmla="*/ 384048 h 384048"/>
                <a:gd name="connsiteX1" fmla="*/ 301752 w 312420"/>
                <a:gd name="connsiteY1" fmla="*/ 182880 h 384048"/>
                <a:gd name="connsiteX2" fmla="*/ 237744 w 312420"/>
                <a:gd name="connsiteY2" fmla="*/ 73152 h 384048"/>
                <a:gd name="connsiteX3" fmla="*/ 109728 w 312420"/>
                <a:gd name="connsiteY3" fmla="*/ 18288 h 384048"/>
                <a:gd name="connsiteX4" fmla="*/ 0 w 312420"/>
                <a:gd name="connsiteY4" fmla="*/ 0 h 3840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420" h="384048">
                  <a:moveTo>
                    <a:pt x="301752" y="384048"/>
                  </a:moveTo>
                  <a:cubicBezTo>
                    <a:pt x="307086" y="309372"/>
                    <a:pt x="312420" y="234696"/>
                    <a:pt x="301752" y="182880"/>
                  </a:cubicBezTo>
                  <a:cubicBezTo>
                    <a:pt x="291084" y="131064"/>
                    <a:pt x="269748" y="100584"/>
                    <a:pt x="237744" y="73152"/>
                  </a:cubicBezTo>
                  <a:cubicBezTo>
                    <a:pt x="205740" y="45720"/>
                    <a:pt x="149352" y="30480"/>
                    <a:pt x="109728" y="18288"/>
                  </a:cubicBezTo>
                  <a:cubicBezTo>
                    <a:pt x="70104" y="6096"/>
                    <a:pt x="35052" y="3048"/>
                    <a:pt x="0" y="0"/>
                  </a:cubicBez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41" name="Freeform 40">
              <a:extLst>
                <a:ext uri="{FF2B5EF4-FFF2-40B4-BE49-F238E27FC236}">
                  <a16:creationId xmlns:a16="http://schemas.microsoft.com/office/drawing/2014/main" id="{B84EC1ED-92E8-4090-AAB6-AE2024996A15}"/>
                </a:ext>
              </a:extLst>
            </p:cNvPr>
            <p:cNvSpPr/>
            <p:nvPr/>
          </p:nvSpPr>
          <p:spPr>
            <a:xfrm>
              <a:off x="2699" y="2177"/>
              <a:ext cx="68" cy="259"/>
            </a:xfrm>
            <a:custGeom>
              <a:avLst/>
              <a:gdLst>
                <a:gd name="connsiteX0" fmla="*/ 4572 w 114300"/>
                <a:gd name="connsiteY0" fmla="*/ 0 h 411480"/>
                <a:gd name="connsiteX1" fmla="*/ 4572 w 114300"/>
                <a:gd name="connsiteY1" fmla="*/ 182880 h 411480"/>
                <a:gd name="connsiteX2" fmla="*/ 32004 w 114300"/>
                <a:gd name="connsiteY2" fmla="*/ 292608 h 411480"/>
                <a:gd name="connsiteX3" fmla="*/ 86868 w 114300"/>
                <a:gd name="connsiteY3" fmla="*/ 384048 h 411480"/>
                <a:gd name="connsiteX4" fmla="*/ 114300 w 114300"/>
                <a:gd name="connsiteY4" fmla="*/ 411480 h 411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300" h="411480">
                  <a:moveTo>
                    <a:pt x="4572" y="0"/>
                  </a:moveTo>
                  <a:cubicBezTo>
                    <a:pt x="2286" y="67056"/>
                    <a:pt x="0" y="134112"/>
                    <a:pt x="4572" y="182880"/>
                  </a:cubicBezTo>
                  <a:cubicBezTo>
                    <a:pt x="9144" y="231648"/>
                    <a:pt x="18288" y="259080"/>
                    <a:pt x="32004" y="292608"/>
                  </a:cubicBezTo>
                  <a:cubicBezTo>
                    <a:pt x="45720" y="326136"/>
                    <a:pt x="73152" y="364236"/>
                    <a:pt x="86868" y="384048"/>
                  </a:cubicBezTo>
                  <a:cubicBezTo>
                    <a:pt x="100584" y="403860"/>
                    <a:pt x="107442" y="407670"/>
                    <a:pt x="114300" y="411480"/>
                  </a:cubicBezTo>
                </a:path>
              </a:pathLst>
            </a:custGeom>
            <a:ln w="28575">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42" name="Oval 41">
              <a:extLst>
                <a:ext uri="{FF2B5EF4-FFF2-40B4-BE49-F238E27FC236}">
                  <a16:creationId xmlns:a16="http://schemas.microsoft.com/office/drawing/2014/main" id="{6CE2FCD7-9C96-4119-BAC8-AE5DD1C730EA}"/>
                </a:ext>
              </a:extLst>
            </p:cNvPr>
            <p:cNvSpPr/>
            <p:nvPr/>
          </p:nvSpPr>
          <p:spPr>
            <a:xfrm>
              <a:off x="3839" y="1167"/>
              <a:ext cx="1006" cy="1105"/>
            </a:xfrm>
            <a:prstGeom prst="ellipse">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dirty="0">
                <a:latin typeface="+mj-lt"/>
              </a:endParaRPr>
            </a:p>
          </p:txBody>
        </p:sp>
        <p:cxnSp>
          <p:nvCxnSpPr>
            <p:cNvPr id="43" name="Straight Connector 42">
              <a:extLst>
                <a:ext uri="{FF2B5EF4-FFF2-40B4-BE49-F238E27FC236}">
                  <a16:creationId xmlns:a16="http://schemas.microsoft.com/office/drawing/2014/main" id="{3F0A092B-3396-4438-93A4-36B7B5AD565C}"/>
                </a:ext>
              </a:extLst>
            </p:cNvPr>
            <p:cNvCxnSpPr/>
            <p:nvPr/>
          </p:nvCxnSpPr>
          <p:spPr>
            <a:xfrm flipV="1">
              <a:off x="3505" y="2031"/>
              <a:ext cx="334" cy="145"/>
            </a:xfrm>
            <a:prstGeom prst="line">
              <a:avLst/>
            </a:prstGeom>
            <a:ln w="28575">
              <a:solidFill>
                <a:schemeClr val="accent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reeform 43">
              <a:extLst>
                <a:ext uri="{FF2B5EF4-FFF2-40B4-BE49-F238E27FC236}">
                  <a16:creationId xmlns:a16="http://schemas.microsoft.com/office/drawing/2014/main" id="{A41B77C1-7BBD-4B06-9BEE-42B89FE20E9C}"/>
                </a:ext>
              </a:extLst>
            </p:cNvPr>
            <p:cNvSpPr/>
            <p:nvPr/>
          </p:nvSpPr>
          <p:spPr>
            <a:xfrm>
              <a:off x="3951" y="1508"/>
              <a:ext cx="820" cy="430"/>
            </a:xfrm>
            <a:custGeom>
              <a:avLst/>
              <a:gdLst>
                <a:gd name="connsiteX0" fmla="*/ 0 w 1298448"/>
                <a:gd name="connsiteY0" fmla="*/ 3048 h 684276"/>
                <a:gd name="connsiteX1" fmla="*/ 73152 w 1298448"/>
                <a:gd name="connsiteY1" fmla="*/ 12192 h 684276"/>
                <a:gd name="connsiteX2" fmla="*/ 283464 w 1298448"/>
                <a:gd name="connsiteY2" fmla="*/ 3048 h 684276"/>
                <a:gd name="connsiteX3" fmla="*/ 329184 w 1298448"/>
                <a:gd name="connsiteY3" fmla="*/ 30480 h 684276"/>
                <a:gd name="connsiteX4" fmla="*/ 356616 w 1298448"/>
                <a:gd name="connsiteY4" fmla="*/ 85344 h 684276"/>
                <a:gd name="connsiteX5" fmla="*/ 384048 w 1298448"/>
                <a:gd name="connsiteY5" fmla="*/ 222504 h 684276"/>
                <a:gd name="connsiteX6" fmla="*/ 411480 w 1298448"/>
                <a:gd name="connsiteY6" fmla="*/ 286512 h 684276"/>
                <a:gd name="connsiteX7" fmla="*/ 438912 w 1298448"/>
                <a:gd name="connsiteY7" fmla="*/ 295656 h 684276"/>
                <a:gd name="connsiteX8" fmla="*/ 493776 w 1298448"/>
                <a:gd name="connsiteY8" fmla="*/ 240792 h 684276"/>
                <a:gd name="connsiteX9" fmla="*/ 521208 w 1298448"/>
                <a:gd name="connsiteY9" fmla="*/ 149352 h 684276"/>
                <a:gd name="connsiteX10" fmla="*/ 557784 w 1298448"/>
                <a:gd name="connsiteY10" fmla="*/ 94488 h 684276"/>
                <a:gd name="connsiteX11" fmla="*/ 603504 w 1298448"/>
                <a:gd name="connsiteY11" fmla="*/ 149352 h 684276"/>
                <a:gd name="connsiteX12" fmla="*/ 640080 w 1298448"/>
                <a:gd name="connsiteY12" fmla="*/ 240792 h 684276"/>
                <a:gd name="connsiteX13" fmla="*/ 676656 w 1298448"/>
                <a:gd name="connsiteY13" fmla="*/ 341376 h 684276"/>
                <a:gd name="connsiteX14" fmla="*/ 722376 w 1298448"/>
                <a:gd name="connsiteY14" fmla="*/ 441960 h 684276"/>
                <a:gd name="connsiteX15" fmla="*/ 859536 w 1298448"/>
                <a:gd name="connsiteY15" fmla="*/ 615696 h 684276"/>
                <a:gd name="connsiteX16" fmla="*/ 969264 w 1298448"/>
                <a:gd name="connsiteY16" fmla="*/ 652272 h 684276"/>
                <a:gd name="connsiteX17" fmla="*/ 1188720 w 1298448"/>
                <a:gd name="connsiteY17" fmla="*/ 679704 h 684276"/>
                <a:gd name="connsiteX18" fmla="*/ 1298448 w 1298448"/>
                <a:gd name="connsiteY18" fmla="*/ 679704 h 6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98448" h="684276">
                  <a:moveTo>
                    <a:pt x="0" y="3048"/>
                  </a:moveTo>
                  <a:cubicBezTo>
                    <a:pt x="12954" y="7620"/>
                    <a:pt x="25908" y="12192"/>
                    <a:pt x="73152" y="12192"/>
                  </a:cubicBezTo>
                  <a:cubicBezTo>
                    <a:pt x="120396" y="12192"/>
                    <a:pt x="240792" y="0"/>
                    <a:pt x="283464" y="3048"/>
                  </a:cubicBezTo>
                  <a:cubicBezTo>
                    <a:pt x="326136" y="6096"/>
                    <a:pt x="316992" y="16764"/>
                    <a:pt x="329184" y="30480"/>
                  </a:cubicBezTo>
                  <a:cubicBezTo>
                    <a:pt x="341376" y="44196"/>
                    <a:pt x="347472" y="53340"/>
                    <a:pt x="356616" y="85344"/>
                  </a:cubicBezTo>
                  <a:cubicBezTo>
                    <a:pt x="365760" y="117348"/>
                    <a:pt x="374904" y="188976"/>
                    <a:pt x="384048" y="222504"/>
                  </a:cubicBezTo>
                  <a:cubicBezTo>
                    <a:pt x="393192" y="256032"/>
                    <a:pt x="402336" y="274320"/>
                    <a:pt x="411480" y="286512"/>
                  </a:cubicBezTo>
                  <a:cubicBezTo>
                    <a:pt x="420624" y="298704"/>
                    <a:pt x="425196" y="303276"/>
                    <a:pt x="438912" y="295656"/>
                  </a:cubicBezTo>
                  <a:cubicBezTo>
                    <a:pt x="452628" y="288036"/>
                    <a:pt x="480060" y="265176"/>
                    <a:pt x="493776" y="240792"/>
                  </a:cubicBezTo>
                  <a:cubicBezTo>
                    <a:pt x="507492" y="216408"/>
                    <a:pt x="510540" y="173736"/>
                    <a:pt x="521208" y="149352"/>
                  </a:cubicBezTo>
                  <a:cubicBezTo>
                    <a:pt x="531876" y="124968"/>
                    <a:pt x="544068" y="94488"/>
                    <a:pt x="557784" y="94488"/>
                  </a:cubicBezTo>
                  <a:cubicBezTo>
                    <a:pt x="571500" y="94488"/>
                    <a:pt x="589788" y="124968"/>
                    <a:pt x="603504" y="149352"/>
                  </a:cubicBezTo>
                  <a:cubicBezTo>
                    <a:pt x="617220" y="173736"/>
                    <a:pt x="627888" y="208788"/>
                    <a:pt x="640080" y="240792"/>
                  </a:cubicBezTo>
                  <a:cubicBezTo>
                    <a:pt x="652272" y="272796"/>
                    <a:pt x="662940" y="307848"/>
                    <a:pt x="676656" y="341376"/>
                  </a:cubicBezTo>
                  <a:cubicBezTo>
                    <a:pt x="690372" y="374904"/>
                    <a:pt x="691896" y="396240"/>
                    <a:pt x="722376" y="441960"/>
                  </a:cubicBezTo>
                  <a:cubicBezTo>
                    <a:pt x="752856" y="487680"/>
                    <a:pt x="818388" y="580644"/>
                    <a:pt x="859536" y="615696"/>
                  </a:cubicBezTo>
                  <a:cubicBezTo>
                    <a:pt x="900684" y="650748"/>
                    <a:pt x="914400" y="641604"/>
                    <a:pt x="969264" y="652272"/>
                  </a:cubicBezTo>
                  <a:cubicBezTo>
                    <a:pt x="1024128" y="662940"/>
                    <a:pt x="1133856" y="675132"/>
                    <a:pt x="1188720" y="679704"/>
                  </a:cubicBezTo>
                  <a:cubicBezTo>
                    <a:pt x="1243584" y="684276"/>
                    <a:pt x="1271016" y="681990"/>
                    <a:pt x="1298448" y="679704"/>
                  </a:cubicBezTo>
                </a:path>
              </a:pathLst>
            </a:cu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45" name="Freeform 44">
              <a:extLst>
                <a:ext uri="{FF2B5EF4-FFF2-40B4-BE49-F238E27FC236}">
                  <a16:creationId xmlns:a16="http://schemas.microsoft.com/office/drawing/2014/main" id="{D3ED4108-90B0-49DB-A86C-6A1A16CA40C0}"/>
                </a:ext>
              </a:extLst>
            </p:cNvPr>
            <p:cNvSpPr/>
            <p:nvPr/>
          </p:nvSpPr>
          <p:spPr>
            <a:xfrm>
              <a:off x="4048" y="1514"/>
              <a:ext cx="449" cy="420"/>
            </a:xfrm>
            <a:custGeom>
              <a:avLst/>
              <a:gdLst>
                <a:gd name="connsiteX0" fmla="*/ 0 w 713232"/>
                <a:gd name="connsiteY0" fmla="*/ 0 h 731520"/>
                <a:gd name="connsiteX1" fmla="*/ 201168 w 713232"/>
                <a:gd name="connsiteY1" fmla="*/ 731520 h 731520"/>
                <a:gd name="connsiteX2" fmla="*/ 713232 w 713232"/>
                <a:gd name="connsiteY2" fmla="*/ 731520 h 731520"/>
              </a:gdLst>
              <a:ahLst/>
              <a:cxnLst>
                <a:cxn ang="0">
                  <a:pos x="connsiteX0" y="connsiteY0"/>
                </a:cxn>
                <a:cxn ang="0">
                  <a:pos x="connsiteX1" y="connsiteY1"/>
                </a:cxn>
                <a:cxn ang="0">
                  <a:pos x="connsiteX2" y="connsiteY2"/>
                </a:cxn>
              </a:cxnLst>
              <a:rect l="l" t="t" r="r" b="b"/>
              <a:pathLst>
                <a:path w="713232" h="731520">
                  <a:moveTo>
                    <a:pt x="0" y="0"/>
                  </a:moveTo>
                  <a:lnTo>
                    <a:pt x="201168" y="731520"/>
                  </a:lnTo>
                  <a:lnTo>
                    <a:pt x="713232" y="731520"/>
                  </a:lnTo>
                </a:path>
              </a:pathLst>
            </a:custGeom>
            <a:ln w="3810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46" name="Freeform 45">
              <a:extLst>
                <a:ext uri="{FF2B5EF4-FFF2-40B4-BE49-F238E27FC236}">
                  <a16:creationId xmlns:a16="http://schemas.microsoft.com/office/drawing/2014/main" id="{FB4E693B-2D69-4DC4-B993-A89D9469374D}"/>
                </a:ext>
              </a:extLst>
            </p:cNvPr>
            <p:cNvSpPr/>
            <p:nvPr/>
          </p:nvSpPr>
          <p:spPr>
            <a:xfrm>
              <a:off x="3168" y="2125"/>
              <a:ext cx="384" cy="192"/>
            </a:xfrm>
            <a:custGeom>
              <a:avLst/>
              <a:gdLst>
                <a:gd name="connsiteX0" fmla="*/ 0 w 1298448"/>
                <a:gd name="connsiteY0" fmla="*/ 3048 h 684276"/>
                <a:gd name="connsiteX1" fmla="*/ 73152 w 1298448"/>
                <a:gd name="connsiteY1" fmla="*/ 12192 h 684276"/>
                <a:gd name="connsiteX2" fmla="*/ 283464 w 1298448"/>
                <a:gd name="connsiteY2" fmla="*/ 3048 h 684276"/>
                <a:gd name="connsiteX3" fmla="*/ 329184 w 1298448"/>
                <a:gd name="connsiteY3" fmla="*/ 30480 h 684276"/>
                <a:gd name="connsiteX4" fmla="*/ 356616 w 1298448"/>
                <a:gd name="connsiteY4" fmla="*/ 85344 h 684276"/>
                <a:gd name="connsiteX5" fmla="*/ 384048 w 1298448"/>
                <a:gd name="connsiteY5" fmla="*/ 222504 h 684276"/>
                <a:gd name="connsiteX6" fmla="*/ 411480 w 1298448"/>
                <a:gd name="connsiteY6" fmla="*/ 286512 h 684276"/>
                <a:gd name="connsiteX7" fmla="*/ 438912 w 1298448"/>
                <a:gd name="connsiteY7" fmla="*/ 295656 h 684276"/>
                <a:gd name="connsiteX8" fmla="*/ 493776 w 1298448"/>
                <a:gd name="connsiteY8" fmla="*/ 240792 h 684276"/>
                <a:gd name="connsiteX9" fmla="*/ 521208 w 1298448"/>
                <a:gd name="connsiteY9" fmla="*/ 149352 h 684276"/>
                <a:gd name="connsiteX10" fmla="*/ 557784 w 1298448"/>
                <a:gd name="connsiteY10" fmla="*/ 94488 h 684276"/>
                <a:gd name="connsiteX11" fmla="*/ 603504 w 1298448"/>
                <a:gd name="connsiteY11" fmla="*/ 149352 h 684276"/>
                <a:gd name="connsiteX12" fmla="*/ 640080 w 1298448"/>
                <a:gd name="connsiteY12" fmla="*/ 240792 h 684276"/>
                <a:gd name="connsiteX13" fmla="*/ 676656 w 1298448"/>
                <a:gd name="connsiteY13" fmla="*/ 341376 h 684276"/>
                <a:gd name="connsiteX14" fmla="*/ 722376 w 1298448"/>
                <a:gd name="connsiteY14" fmla="*/ 441960 h 684276"/>
                <a:gd name="connsiteX15" fmla="*/ 859536 w 1298448"/>
                <a:gd name="connsiteY15" fmla="*/ 615696 h 684276"/>
                <a:gd name="connsiteX16" fmla="*/ 969264 w 1298448"/>
                <a:gd name="connsiteY16" fmla="*/ 652272 h 684276"/>
                <a:gd name="connsiteX17" fmla="*/ 1188720 w 1298448"/>
                <a:gd name="connsiteY17" fmla="*/ 679704 h 684276"/>
                <a:gd name="connsiteX18" fmla="*/ 1298448 w 1298448"/>
                <a:gd name="connsiteY18" fmla="*/ 679704 h 684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98448" h="684276">
                  <a:moveTo>
                    <a:pt x="0" y="3048"/>
                  </a:moveTo>
                  <a:cubicBezTo>
                    <a:pt x="12954" y="7620"/>
                    <a:pt x="25908" y="12192"/>
                    <a:pt x="73152" y="12192"/>
                  </a:cubicBezTo>
                  <a:cubicBezTo>
                    <a:pt x="120396" y="12192"/>
                    <a:pt x="240792" y="0"/>
                    <a:pt x="283464" y="3048"/>
                  </a:cubicBezTo>
                  <a:cubicBezTo>
                    <a:pt x="326136" y="6096"/>
                    <a:pt x="316992" y="16764"/>
                    <a:pt x="329184" y="30480"/>
                  </a:cubicBezTo>
                  <a:cubicBezTo>
                    <a:pt x="341376" y="44196"/>
                    <a:pt x="347472" y="53340"/>
                    <a:pt x="356616" y="85344"/>
                  </a:cubicBezTo>
                  <a:cubicBezTo>
                    <a:pt x="365760" y="117348"/>
                    <a:pt x="374904" y="188976"/>
                    <a:pt x="384048" y="222504"/>
                  </a:cubicBezTo>
                  <a:cubicBezTo>
                    <a:pt x="393192" y="256032"/>
                    <a:pt x="402336" y="274320"/>
                    <a:pt x="411480" y="286512"/>
                  </a:cubicBezTo>
                  <a:cubicBezTo>
                    <a:pt x="420624" y="298704"/>
                    <a:pt x="425196" y="303276"/>
                    <a:pt x="438912" y="295656"/>
                  </a:cubicBezTo>
                  <a:cubicBezTo>
                    <a:pt x="452628" y="288036"/>
                    <a:pt x="480060" y="265176"/>
                    <a:pt x="493776" y="240792"/>
                  </a:cubicBezTo>
                  <a:cubicBezTo>
                    <a:pt x="507492" y="216408"/>
                    <a:pt x="510540" y="173736"/>
                    <a:pt x="521208" y="149352"/>
                  </a:cubicBezTo>
                  <a:cubicBezTo>
                    <a:pt x="531876" y="124968"/>
                    <a:pt x="544068" y="94488"/>
                    <a:pt x="557784" y="94488"/>
                  </a:cubicBezTo>
                  <a:cubicBezTo>
                    <a:pt x="571500" y="94488"/>
                    <a:pt x="589788" y="124968"/>
                    <a:pt x="603504" y="149352"/>
                  </a:cubicBezTo>
                  <a:cubicBezTo>
                    <a:pt x="617220" y="173736"/>
                    <a:pt x="627888" y="208788"/>
                    <a:pt x="640080" y="240792"/>
                  </a:cubicBezTo>
                  <a:cubicBezTo>
                    <a:pt x="652272" y="272796"/>
                    <a:pt x="662940" y="307848"/>
                    <a:pt x="676656" y="341376"/>
                  </a:cubicBezTo>
                  <a:cubicBezTo>
                    <a:pt x="690372" y="374904"/>
                    <a:pt x="691896" y="396240"/>
                    <a:pt x="722376" y="441960"/>
                  </a:cubicBezTo>
                  <a:cubicBezTo>
                    <a:pt x="752856" y="487680"/>
                    <a:pt x="818388" y="580644"/>
                    <a:pt x="859536" y="615696"/>
                  </a:cubicBezTo>
                  <a:cubicBezTo>
                    <a:pt x="900684" y="650748"/>
                    <a:pt x="914400" y="641604"/>
                    <a:pt x="969264" y="652272"/>
                  </a:cubicBezTo>
                  <a:cubicBezTo>
                    <a:pt x="1024128" y="662940"/>
                    <a:pt x="1133856" y="675132"/>
                    <a:pt x="1188720" y="679704"/>
                  </a:cubicBezTo>
                  <a:cubicBezTo>
                    <a:pt x="1243584" y="684276"/>
                    <a:pt x="1271016" y="681990"/>
                    <a:pt x="1298448" y="679704"/>
                  </a:cubicBezTo>
                </a:path>
              </a:pathLst>
            </a:custGeom>
            <a:ln w="285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47" name="Freeform 46">
              <a:extLst>
                <a:ext uri="{FF2B5EF4-FFF2-40B4-BE49-F238E27FC236}">
                  <a16:creationId xmlns:a16="http://schemas.microsoft.com/office/drawing/2014/main" id="{102CF1D9-61BE-4FF8-BADF-54409C3F58A9}"/>
                </a:ext>
              </a:extLst>
            </p:cNvPr>
            <p:cNvSpPr/>
            <p:nvPr/>
          </p:nvSpPr>
          <p:spPr>
            <a:xfrm>
              <a:off x="3264" y="2127"/>
              <a:ext cx="213" cy="192"/>
            </a:xfrm>
            <a:custGeom>
              <a:avLst/>
              <a:gdLst>
                <a:gd name="connsiteX0" fmla="*/ 0 w 713232"/>
                <a:gd name="connsiteY0" fmla="*/ 0 h 731520"/>
                <a:gd name="connsiteX1" fmla="*/ 201168 w 713232"/>
                <a:gd name="connsiteY1" fmla="*/ 731520 h 731520"/>
                <a:gd name="connsiteX2" fmla="*/ 713232 w 713232"/>
                <a:gd name="connsiteY2" fmla="*/ 731520 h 731520"/>
              </a:gdLst>
              <a:ahLst/>
              <a:cxnLst>
                <a:cxn ang="0">
                  <a:pos x="connsiteX0" y="connsiteY0"/>
                </a:cxn>
                <a:cxn ang="0">
                  <a:pos x="connsiteX1" y="connsiteY1"/>
                </a:cxn>
                <a:cxn ang="0">
                  <a:pos x="connsiteX2" y="connsiteY2"/>
                </a:cxn>
              </a:cxnLst>
              <a:rect l="l" t="t" r="r" b="b"/>
              <a:pathLst>
                <a:path w="713232" h="731520">
                  <a:moveTo>
                    <a:pt x="0" y="0"/>
                  </a:moveTo>
                  <a:lnTo>
                    <a:pt x="201168" y="731520"/>
                  </a:lnTo>
                  <a:lnTo>
                    <a:pt x="713232" y="731520"/>
                  </a:lnTo>
                </a:path>
              </a:pathLst>
            </a:custGeom>
            <a:ln w="38100">
              <a:solidFill>
                <a:schemeClr val="accent1">
                  <a:lumMod val="20000"/>
                  <a:lumOff val="80000"/>
                </a:schemeClr>
              </a:solidFill>
              <a:prstDash val="dash"/>
            </a:ln>
          </p:spPr>
          <p:style>
            <a:lnRef idx="1">
              <a:schemeClr val="accent1"/>
            </a:lnRef>
            <a:fillRef idx="0">
              <a:schemeClr val="accent1"/>
            </a:fillRef>
            <a:effectRef idx="0">
              <a:schemeClr val="accent1"/>
            </a:effectRef>
            <a:fontRef idx="minor">
              <a:schemeClr val="tx1"/>
            </a:fontRef>
          </p:style>
          <p:txBody>
            <a:bodyPr anchor="ctr"/>
            <a:lstStyle/>
            <a:p>
              <a:pPr>
                <a:defRPr/>
              </a:pPr>
              <a:endParaRPr lang="en-US" dirty="0">
                <a:latin typeface="+mj-lt"/>
              </a:endParaRPr>
            </a:p>
          </p:txBody>
        </p:sp>
        <p:sp>
          <p:nvSpPr>
            <p:cNvPr id="10287" name="TextBox 47">
              <a:extLst>
                <a:ext uri="{FF2B5EF4-FFF2-40B4-BE49-F238E27FC236}">
                  <a16:creationId xmlns:a16="http://schemas.microsoft.com/office/drawing/2014/main" id="{77E8D8CE-162B-48F6-9BF9-4D3FF03DD504}"/>
                </a:ext>
              </a:extLst>
            </p:cNvPr>
            <p:cNvSpPr txBox="1">
              <a:spLocks noChangeArrowheads="1"/>
            </p:cNvSpPr>
            <p:nvPr/>
          </p:nvSpPr>
          <p:spPr bwMode="auto">
            <a:xfrm>
              <a:off x="3883" y="1937"/>
              <a:ext cx="931" cy="201"/>
            </a:xfrm>
            <a:prstGeom prst="rect">
              <a:avLst/>
            </a:prstGeom>
            <a:noFill/>
            <a:ln w="9525">
              <a:noFill/>
              <a:miter lim="800000"/>
              <a:headEnd/>
              <a:tailEnd/>
            </a:ln>
          </p:spPr>
          <p:txBody>
            <a:bodyPr>
              <a:spAutoFit/>
            </a:bodyPr>
            <a:lstStyle/>
            <a:p>
              <a:pPr eaLnBrk="1" hangingPunct="1">
                <a:defRPr/>
              </a:pPr>
              <a:r>
                <a:rPr lang="en-US" sz="1200" dirty="0">
                  <a:solidFill>
                    <a:srgbClr val="0000FF"/>
                  </a:solidFill>
                  <a:latin typeface="+mj-lt"/>
                  <a:cs typeface="Arial" charset="0"/>
                </a:rPr>
                <a:t>Crosstalk Delay</a:t>
              </a:r>
            </a:p>
          </p:txBody>
        </p:sp>
        <p:sp>
          <p:nvSpPr>
            <p:cNvPr id="9264" name="TextBox 48">
              <a:extLst>
                <a:ext uri="{FF2B5EF4-FFF2-40B4-BE49-F238E27FC236}">
                  <a16:creationId xmlns:a16="http://schemas.microsoft.com/office/drawing/2014/main" id="{27F2A18D-7771-4A68-A508-8E201588DAB2}"/>
                </a:ext>
              </a:extLst>
            </p:cNvPr>
            <p:cNvSpPr txBox="1">
              <a:spLocks noChangeArrowheads="1"/>
            </p:cNvSpPr>
            <p:nvPr/>
          </p:nvSpPr>
          <p:spPr bwMode="auto">
            <a:xfrm>
              <a:off x="3845" y="1329"/>
              <a:ext cx="33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1.5V</a:t>
              </a:r>
            </a:p>
          </p:txBody>
        </p:sp>
        <p:sp>
          <p:nvSpPr>
            <p:cNvPr id="9265" name="TextBox 49">
              <a:extLst>
                <a:ext uri="{FF2B5EF4-FFF2-40B4-BE49-F238E27FC236}">
                  <a16:creationId xmlns:a16="http://schemas.microsoft.com/office/drawing/2014/main" id="{691646BB-2F39-4DC2-B520-AB33F6F428A7}"/>
                </a:ext>
              </a:extLst>
            </p:cNvPr>
            <p:cNvSpPr txBox="1">
              <a:spLocks noChangeArrowheads="1"/>
            </p:cNvSpPr>
            <p:nvPr/>
          </p:nvSpPr>
          <p:spPr bwMode="auto">
            <a:xfrm>
              <a:off x="4583" y="1757"/>
              <a:ext cx="250"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400">
                  <a:solidFill>
                    <a:schemeClr val="tx1"/>
                  </a:solidFill>
                  <a:latin typeface="Times New Roman" pitchFamily="18" charset="0"/>
                  <a:cs typeface="Arial" charset="0"/>
                </a:defRPr>
              </a:lvl1pPr>
              <a:lvl2pPr marL="742950" indent="-285750" eaLnBrk="0" hangingPunct="0">
                <a:defRPr sz="1400">
                  <a:solidFill>
                    <a:schemeClr val="tx1"/>
                  </a:solidFill>
                  <a:latin typeface="Times New Roman" pitchFamily="18" charset="0"/>
                  <a:cs typeface="Arial" charset="0"/>
                </a:defRPr>
              </a:lvl2pPr>
              <a:lvl3pPr marL="1143000" indent="-228600" eaLnBrk="0" hangingPunct="0">
                <a:defRPr sz="1400">
                  <a:solidFill>
                    <a:schemeClr val="tx1"/>
                  </a:solidFill>
                  <a:latin typeface="Times New Roman" pitchFamily="18" charset="0"/>
                  <a:cs typeface="Arial" charset="0"/>
                </a:defRPr>
              </a:lvl3pPr>
              <a:lvl4pPr marL="1600200" indent="-228600" eaLnBrk="0" hangingPunct="0">
                <a:defRPr sz="1400">
                  <a:solidFill>
                    <a:schemeClr val="tx1"/>
                  </a:solidFill>
                  <a:latin typeface="Times New Roman" pitchFamily="18" charset="0"/>
                  <a:cs typeface="Arial" charset="0"/>
                </a:defRPr>
              </a:lvl4pPr>
              <a:lvl5pPr marL="2057400" indent="-228600" eaLnBrk="0" hangingPunct="0">
                <a:defRPr sz="1400">
                  <a:solidFill>
                    <a:schemeClr val="tx1"/>
                  </a:solidFill>
                  <a:latin typeface="Times New Roman" pitchFamily="18" charset="0"/>
                  <a:cs typeface="Arial" charset="0"/>
                </a:defRPr>
              </a:lvl5pPr>
              <a:lvl6pPr marL="2514600" indent="-228600" algn="ctr" eaLnBrk="0" fontAlgn="base" hangingPunct="0">
                <a:spcBef>
                  <a:spcPct val="0"/>
                </a:spcBef>
                <a:spcAft>
                  <a:spcPct val="0"/>
                </a:spcAft>
                <a:defRPr sz="1400">
                  <a:solidFill>
                    <a:schemeClr val="tx1"/>
                  </a:solidFill>
                  <a:latin typeface="Times New Roman" pitchFamily="18" charset="0"/>
                  <a:cs typeface="Arial" charset="0"/>
                </a:defRPr>
              </a:lvl6pPr>
              <a:lvl7pPr marL="2971800" indent="-228600" algn="ctr" eaLnBrk="0" fontAlgn="base" hangingPunct="0">
                <a:spcBef>
                  <a:spcPct val="0"/>
                </a:spcBef>
                <a:spcAft>
                  <a:spcPct val="0"/>
                </a:spcAft>
                <a:defRPr sz="1400">
                  <a:solidFill>
                    <a:schemeClr val="tx1"/>
                  </a:solidFill>
                  <a:latin typeface="Times New Roman" pitchFamily="18" charset="0"/>
                  <a:cs typeface="Arial" charset="0"/>
                </a:defRPr>
              </a:lvl7pPr>
              <a:lvl8pPr marL="3429000" indent="-228600" algn="ctr" eaLnBrk="0" fontAlgn="base" hangingPunct="0">
                <a:spcBef>
                  <a:spcPct val="0"/>
                </a:spcBef>
                <a:spcAft>
                  <a:spcPct val="0"/>
                </a:spcAft>
                <a:defRPr sz="1400">
                  <a:solidFill>
                    <a:schemeClr val="tx1"/>
                  </a:solidFill>
                  <a:latin typeface="Times New Roman" pitchFamily="18" charset="0"/>
                  <a:cs typeface="Arial" charset="0"/>
                </a:defRPr>
              </a:lvl8pPr>
              <a:lvl9pPr marL="3886200" indent="-228600" algn="ctr" eaLnBrk="0" fontAlgn="base" hangingPunct="0">
                <a:spcBef>
                  <a:spcPct val="0"/>
                </a:spcBef>
                <a:spcAft>
                  <a:spcPct val="0"/>
                </a:spcAft>
                <a:defRPr sz="1400">
                  <a:solidFill>
                    <a:schemeClr val="tx1"/>
                  </a:solidFill>
                  <a:latin typeface="Times New Roman" pitchFamily="18" charset="0"/>
                  <a:cs typeface="Arial" charset="0"/>
                </a:defRPr>
              </a:lvl9pPr>
            </a:lstStyle>
            <a:p>
              <a:pPr eaLnBrk="1" hangingPunct="1">
                <a:defRPr/>
              </a:pPr>
              <a:r>
                <a:rPr lang="en-US" sz="1200">
                  <a:latin typeface="+mj-lt"/>
                </a:rPr>
                <a:t>0V</a:t>
              </a:r>
            </a:p>
          </p:txBody>
        </p:sp>
        <p:cxnSp>
          <p:nvCxnSpPr>
            <p:cNvPr id="51" name="Straight Connector 50">
              <a:extLst>
                <a:ext uri="{FF2B5EF4-FFF2-40B4-BE49-F238E27FC236}">
                  <a16:creationId xmlns:a16="http://schemas.microsoft.com/office/drawing/2014/main" id="{7395139E-7DED-4AF9-BC65-E22B6700EDFD}"/>
                </a:ext>
              </a:extLst>
            </p:cNvPr>
            <p:cNvCxnSpPr/>
            <p:nvPr/>
          </p:nvCxnSpPr>
          <p:spPr>
            <a:xfrm>
              <a:off x="4130" y="1803"/>
              <a:ext cx="281" cy="0"/>
            </a:xfrm>
            <a:prstGeom prst="line">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6387" name="Title 51">
            <a:extLst>
              <a:ext uri="{FF2B5EF4-FFF2-40B4-BE49-F238E27FC236}">
                <a16:creationId xmlns:a16="http://schemas.microsoft.com/office/drawing/2014/main" id="{E38D52AF-A5DE-4DF8-829B-708E9A0E2A56}"/>
              </a:ext>
            </a:extLst>
          </p:cNvPr>
          <p:cNvSpPr>
            <a:spLocks noGrp="1"/>
          </p:cNvSpPr>
          <p:nvPr>
            <p:ph type="title"/>
          </p:nvPr>
        </p:nvSpPr>
        <p:spPr/>
        <p:txBody>
          <a:bodyPr/>
          <a:lstStyle/>
          <a:p>
            <a:r>
              <a:rPr lang="en-US" altLang="en-US"/>
              <a:t>Crosstalk Delay</a:t>
            </a:r>
          </a:p>
        </p:txBody>
      </p:sp>
      <p:sp>
        <p:nvSpPr>
          <p:cNvPr id="2" name="Text Placeholder 1">
            <a:extLst>
              <a:ext uri="{FF2B5EF4-FFF2-40B4-BE49-F238E27FC236}">
                <a16:creationId xmlns:a16="http://schemas.microsoft.com/office/drawing/2014/main" id="{D45ABB78-907E-4116-97CA-13240DBC2C28}"/>
              </a:ext>
            </a:extLst>
          </p:cNvPr>
          <p:cNvSpPr>
            <a:spLocks noGrp="1"/>
          </p:cNvSpPr>
          <p:nvPr>
            <p:ph type="body" sz="quarter" idx="10"/>
          </p:nvPr>
        </p:nvSpPr>
        <p:spPr/>
        <p:txBody>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8A205641-5907-4646-97FA-13704810B805}"/>
              </a:ext>
            </a:extLst>
          </p:cNvPr>
          <p:cNvSpPr>
            <a:spLocks noGrp="1"/>
          </p:cNvSpPr>
          <p:nvPr>
            <p:ph type="title"/>
          </p:nvPr>
        </p:nvSpPr>
        <p:spPr/>
        <p:txBody>
          <a:bodyPr>
            <a:normAutofit/>
          </a:bodyPr>
          <a:lstStyle/>
          <a:p>
            <a:r>
              <a:rPr lang="en-US" altLang="en-US" dirty="0"/>
              <a:t>Crosstalk Glitch</a:t>
            </a:r>
          </a:p>
        </p:txBody>
      </p:sp>
      <p:sp>
        <p:nvSpPr>
          <p:cNvPr id="18435" name="Content Placeholder 7">
            <a:extLst>
              <a:ext uri="{FF2B5EF4-FFF2-40B4-BE49-F238E27FC236}">
                <a16:creationId xmlns:a16="http://schemas.microsoft.com/office/drawing/2014/main" id="{4BAEF52C-50B6-45D6-AADA-60E7B1290138}"/>
              </a:ext>
            </a:extLst>
          </p:cNvPr>
          <p:cNvSpPr>
            <a:spLocks noGrp="1"/>
          </p:cNvSpPr>
          <p:nvPr>
            <p:ph type="body" sz="quarter" idx="10"/>
          </p:nvPr>
        </p:nvSpPr>
        <p:spPr/>
        <p:txBody>
          <a:bodyPr/>
          <a:lstStyle/>
          <a:p>
            <a:r>
              <a:rPr lang="en-US" altLang="en-US" sz="2000" dirty="0"/>
              <a:t>A steady signal net can have a glitch due to charge transferred by the switching aggressors through the coupling capacitances</a:t>
            </a:r>
          </a:p>
        </p:txBody>
      </p:sp>
      <p:sp>
        <p:nvSpPr>
          <p:cNvPr id="18436" name="Content Placeholder 7">
            <a:extLst>
              <a:ext uri="{FF2B5EF4-FFF2-40B4-BE49-F238E27FC236}">
                <a16:creationId xmlns:a16="http://schemas.microsoft.com/office/drawing/2014/main" id="{496D6535-E594-4E0F-B3F0-F58CA2141435}"/>
              </a:ext>
            </a:extLst>
          </p:cNvPr>
          <p:cNvSpPr txBox="1">
            <a:spLocks/>
          </p:cNvSpPr>
          <p:nvPr/>
        </p:nvSpPr>
        <p:spPr bwMode="auto">
          <a:xfrm>
            <a:off x="1941513" y="4760914"/>
            <a:ext cx="82296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669925" indent="-32543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339850" indent="-315913">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Font typeface="Wingdings" panose="05000000000000000000" pitchFamily="2" charset="2"/>
              <a:buNone/>
            </a:pPr>
            <a:endParaRPr lang="en-US" altLang="en-US" sz="1600"/>
          </a:p>
        </p:txBody>
      </p:sp>
      <p:grpSp>
        <p:nvGrpSpPr>
          <p:cNvPr id="18437" name="Group 2">
            <a:extLst>
              <a:ext uri="{FF2B5EF4-FFF2-40B4-BE49-F238E27FC236}">
                <a16:creationId xmlns:a16="http://schemas.microsoft.com/office/drawing/2014/main" id="{13947CE3-E347-4B03-99AE-C970CE19EDD1}"/>
              </a:ext>
            </a:extLst>
          </p:cNvPr>
          <p:cNvGrpSpPr>
            <a:grpSpLocks/>
          </p:cNvGrpSpPr>
          <p:nvPr/>
        </p:nvGrpSpPr>
        <p:grpSpPr bwMode="auto">
          <a:xfrm>
            <a:off x="2589214" y="2592389"/>
            <a:ext cx="6453187" cy="2486025"/>
            <a:chOff x="1797050" y="2743200"/>
            <a:chExt cx="4298950" cy="1655760"/>
          </a:xfrm>
        </p:grpSpPr>
        <p:sp>
          <p:nvSpPr>
            <p:cNvPr id="18438" name="Flowchart: Delay 6">
              <a:extLst>
                <a:ext uri="{FF2B5EF4-FFF2-40B4-BE49-F238E27FC236}">
                  <a16:creationId xmlns:a16="http://schemas.microsoft.com/office/drawing/2014/main" id="{9CDA4BAB-78B7-4CBD-ACC3-AB48375CC4AF}"/>
                </a:ext>
              </a:extLst>
            </p:cNvPr>
            <p:cNvSpPr>
              <a:spLocks noChangeArrowheads="1"/>
            </p:cNvSpPr>
            <p:nvPr/>
          </p:nvSpPr>
          <p:spPr bwMode="auto">
            <a:xfrm>
              <a:off x="2070465" y="3148015"/>
              <a:ext cx="367935" cy="281354"/>
            </a:xfrm>
            <a:prstGeom prst="flowChartDelay">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baseline="-25000"/>
            </a:p>
          </p:txBody>
        </p:sp>
        <p:sp>
          <p:nvSpPr>
            <p:cNvPr id="18439" name="Isosceles Triangle 8">
              <a:extLst>
                <a:ext uri="{FF2B5EF4-FFF2-40B4-BE49-F238E27FC236}">
                  <a16:creationId xmlns:a16="http://schemas.microsoft.com/office/drawing/2014/main" id="{D4BA7E51-E09A-46AB-91D9-5AC204BC1A68}"/>
                </a:ext>
              </a:extLst>
            </p:cNvPr>
            <p:cNvSpPr>
              <a:spLocks noChangeArrowheads="1"/>
            </p:cNvSpPr>
            <p:nvPr/>
          </p:nvSpPr>
          <p:spPr bwMode="auto">
            <a:xfrm rot="5400000">
              <a:off x="1959319" y="3826950"/>
              <a:ext cx="281354" cy="294348"/>
            </a:xfrm>
            <a:prstGeom prst="triangle">
              <a:avLst>
                <a:gd name="adj" fmla="val 50000"/>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sp>
          <p:nvSpPr>
            <p:cNvPr id="18440" name="Oval 9">
              <a:extLst>
                <a:ext uri="{FF2B5EF4-FFF2-40B4-BE49-F238E27FC236}">
                  <a16:creationId xmlns:a16="http://schemas.microsoft.com/office/drawing/2014/main" id="{B1444896-41CE-403D-B57A-5640D4856CD8}"/>
                </a:ext>
              </a:extLst>
            </p:cNvPr>
            <p:cNvSpPr>
              <a:spLocks noChangeArrowheads="1"/>
            </p:cNvSpPr>
            <p:nvPr/>
          </p:nvSpPr>
          <p:spPr bwMode="auto">
            <a:xfrm>
              <a:off x="2242571" y="3938958"/>
              <a:ext cx="73587" cy="70339"/>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41" name="Straight Connector 10">
              <a:extLst>
                <a:ext uri="{FF2B5EF4-FFF2-40B4-BE49-F238E27FC236}">
                  <a16:creationId xmlns:a16="http://schemas.microsoft.com/office/drawing/2014/main" id="{5C7C043B-F245-44FD-B98B-39DD6C7C05FB}"/>
                </a:ext>
              </a:extLst>
            </p:cNvPr>
            <p:cNvCxnSpPr>
              <a:cxnSpLocks noChangeShapeType="1"/>
            </p:cNvCxnSpPr>
            <p:nvPr/>
          </p:nvCxnSpPr>
          <p:spPr bwMode="auto">
            <a:xfrm>
              <a:off x="2512219" y="3283743"/>
              <a:ext cx="1981200" cy="0"/>
            </a:xfrm>
            <a:prstGeom prst="line">
              <a:avLst/>
            </a:prstGeom>
            <a:noFill/>
            <a:ln w="12700" algn="ctr">
              <a:solidFill>
                <a:schemeClr val="tx1"/>
              </a:solidFill>
              <a:round/>
              <a:headEnd/>
              <a:tailEnd/>
            </a:ln>
          </p:spPr>
        </p:cxnSp>
        <p:cxnSp>
          <p:nvCxnSpPr>
            <p:cNvPr id="18442" name="Straight Connector 11">
              <a:extLst>
                <a:ext uri="{FF2B5EF4-FFF2-40B4-BE49-F238E27FC236}">
                  <a16:creationId xmlns:a16="http://schemas.microsoft.com/office/drawing/2014/main" id="{6140405D-D898-4C7B-96DF-611BFBC286CE}"/>
                </a:ext>
              </a:extLst>
            </p:cNvPr>
            <p:cNvCxnSpPr>
              <a:cxnSpLocks noChangeShapeType="1"/>
            </p:cNvCxnSpPr>
            <p:nvPr/>
          </p:nvCxnSpPr>
          <p:spPr bwMode="auto">
            <a:xfrm flipV="1">
              <a:off x="2844800" y="3975100"/>
              <a:ext cx="838200" cy="4"/>
            </a:xfrm>
            <a:prstGeom prst="line">
              <a:avLst/>
            </a:prstGeom>
            <a:noFill/>
            <a:ln w="12700" algn="ctr">
              <a:solidFill>
                <a:schemeClr val="tx1"/>
              </a:solidFill>
              <a:round/>
              <a:headEnd/>
              <a:tailEnd/>
            </a:ln>
          </p:spPr>
        </p:cxnSp>
        <p:grpSp>
          <p:nvGrpSpPr>
            <p:cNvPr id="18443" name="Group 411">
              <a:extLst>
                <a:ext uri="{FF2B5EF4-FFF2-40B4-BE49-F238E27FC236}">
                  <a16:creationId xmlns:a16="http://schemas.microsoft.com/office/drawing/2014/main" id="{5AAB23CA-E429-4120-B49B-8E815CFDDA3C}"/>
                </a:ext>
              </a:extLst>
            </p:cNvPr>
            <p:cNvGrpSpPr>
              <a:grpSpLocks/>
            </p:cNvGrpSpPr>
            <p:nvPr/>
          </p:nvGrpSpPr>
          <p:grpSpPr bwMode="auto">
            <a:xfrm>
              <a:off x="3206748" y="3284804"/>
              <a:ext cx="222252" cy="692010"/>
              <a:chOff x="2825748" y="4489598"/>
              <a:chExt cx="152400" cy="308770"/>
            </a:xfrm>
          </p:grpSpPr>
          <p:cxnSp>
            <p:nvCxnSpPr>
              <p:cNvPr id="18481" name="Straight Connector 82">
                <a:extLst>
                  <a:ext uri="{FF2B5EF4-FFF2-40B4-BE49-F238E27FC236}">
                    <a16:creationId xmlns:a16="http://schemas.microsoft.com/office/drawing/2014/main" id="{D4A4804F-9E58-4DB4-9521-9C3EF8DA6364}"/>
                  </a:ext>
                </a:extLst>
              </p:cNvPr>
              <p:cNvCxnSpPr>
                <a:cxnSpLocks noChangeShapeType="1"/>
              </p:cNvCxnSpPr>
              <p:nvPr/>
            </p:nvCxnSpPr>
            <p:spPr bwMode="auto">
              <a:xfrm>
                <a:off x="2825748" y="4610250"/>
                <a:ext cx="152400" cy="0"/>
              </a:xfrm>
              <a:prstGeom prst="line">
                <a:avLst/>
              </a:prstGeom>
              <a:noFill/>
              <a:ln w="12700" algn="ctr">
                <a:solidFill>
                  <a:schemeClr val="tx1"/>
                </a:solidFill>
                <a:round/>
                <a:headEnd/>
                <a:tailEnd/>
              </a:ln>
            </p:spPr>
          </p:cxnSp>
          <p:cxnSp>
            <p:nvCxnSpPr>
              <p:cNvPr id="18482" name="Straight Connector 83">
                <a:extLst>
                  <a:ext uri="{FF2B5EF4-FFF2-40B4-BE49-F238E27FC236}">
                    <a16:creationId xmlns:a16="http://schemas.microsoft.com/office/drawing/2014/main" id="{9F4D1B91-CFE2-4F91-BEBB-6AB89000DB6B}"/>
                  </a:ext>
                </a:extLst>
              </p:cNvPr>
              <p:cNvCxnSpPr>
                <a:cxnSpLocks noChangeShapeType="1"/>
              </p:cNvCxnSpPr>
              <p:nvPr/>
            </p:nvCxnSpPr>
            <p:spPr bwMode="auto">
              <a:xfrm>
                <a:off x="2825748" y="4648350"/>
                <a:ext cx="152400" cy="0"/>
              </a:xfrm>
              <a:prstGeom prst="line">
                <a:avLst/>
              </a:prstGeom>
              <a:noFill/>
              <a:ln w="12700" algn="ctr">
                <a:solidFill>
                  <a:schemeClr val="tx1"/>
                </a:solidFill>
                <a:round/>
                <a:headEnd/>
                <a:tailEnd/>
              </a:ln>
            </p:spPr>
          </p:cxnSp>
          <p:cxnSp>
            <p:nvCxnSpPr>
              <p:cNvPr id="18483" name="Straight Connector 84">
                <a:extLst>
                  <a:ext uri="{FF2B5EF4-FFF2-40B4-BE49-F238E27FC236}">
                    <a16:creationId xmlns:a16="http://schemas.microsoft.com/office/drawing/2014/main" id="{34783BBE-B2E7-4EB1-8F72-4291E060C68B}"/>
                  </a:ext>
                </a:extLst>
              </p:cNvPr>
              <p:cNvCxnSpPr>
                <a:cxnSpLocks noChangeShapeType="1"/>
              </p:cNvCxnSpPr>
              <p:nvPr/>
            </p:nvCxnSpPr>
            <p:spPr bwMode="auto">
              <a:xfrm rot="5400000">
                <a:off x="2825748" y="4722167"/>
                <a:ext cx="152402" cy="0"/>
              </a:xfrm>
              <a:prstGeom prst="line">
                <a:avLst/>
              </a:prstGeom>
              <a:noFill/>
              <a:ln w="12700" algn="ctr">
                <a:solidFill>
                  <a:schemeClr val="tx1"/>
                </a:solidFill>
                <a:round/>
                <a:headEnd/>
                <a:tailEnd/>
              </a:ln>
            </p:spPr>
          </p:cxnSp>
          <p:cxnSp>
            <p:nvCxnSpPr>
              <p:cNvPr id="18484" name="Straight Connector 85">
                <a:extLst>
                  <a:ext uri="{FF2B5EF4-FFF2-40B4-BE49-F238E27FC236}">
                    <a16:creationId xmlns:a16="http://schemas.microsoft.com/office/drawing/2014/main" id="{B4596E9E-7FF4-4F80-BAC1-D66C4BBA835E}"/>
                  </a:ext>
                </a:extLst>
              </p:cNvPr>
              <p:cNvCxnSpPr>
                <a:cxnSpLocks noChangeShapeType="1"/>
              </p:cNvCxnSpPr>
              <p:nvPr/>
            </p:nvCxnSpPr>
            <p:spPr bwMode="auto">
              <a:xfrm rot="5400000">
                <a:off x="2840831" y="4551510"/>
                <a:ext cx="123823" cy="0"/>
              </a:xfrm>
              <a:prstGeom prst="line">
                <a:avLst/>
              </a:prstGeom>
              <a:noFill/>
              <a:ln w="12700" algn="ctr">
                <a:solidFill>
                  <a:schemeClr val="tx1"/>
                </a:solidFill>
                <a:round/>
                <a:headEnd/>
                <a:tailEnd/>
              </a:ln>
            </p:spPr>
          </p:cxnSp>
        </p:grpSp>
        <p:grpSp>
          <p:nvGrpSpPr>
            <p:cNvPr id="15" name="Group 397">
              <a:extLst>
                <a:ext uri="{FF2B5EF4-FFF2-40B4-BE49-F238E27FC236}">
                  <a16:creationId xmlns:a16="http://schemas.microsoft.com/office/drawing/2014/main" id="{ED571042-386B-4262-8865-31726D2ECF8F}"/>
                </a:ext>
              </a:extLst>
            </p:cNvPr>
            <p:cNvGrpSpPr/>
            <p:nvPr/>
          </p:nvGrpSpPr>
          <p:grpSpPr>
            <a:xfrm>
              <a:off x="2895600" y="3972866"/>
              <a:ext cx="152400" cy="384966"/>
              <a:chOff x="3505200" y="5192066"/>
              <a:chExt cx="152400" cy="384966"/>
            </a:xfrm>
            <a:solidFill>
              <a:schemeClr val="accent1"/>
            </a:solidFill>
          </p:grpSpPr>
          <p:sp>
            <p:nvSpPr>
              <p:cNvPr id="78" name="Isosceles Triangle 77">
                <a:extLst>
                  <a:ext uri="{FF2B5EF4-FFF2-40B4-BE49-F238E27FC236}">
                    <a16:creationId xmlns:a16="http://schemas.microsoft.com/office/drawing/2014/main" id="{0EE57E4A-A891-4E1D-B240-339646FE2CBD}"/>
                  </a:ext>
                </a:extLst>
              </p:cNvPr>
              <p:cNvSpPr/>
              <p:nvPr/>
            </p:nvSpPr>
            <p:spPr bwMode="auto">
              <a:xfrm rot="10800000">
                <a:off x="3536950" y="5500832"/>
                <a:ext cx="76200" cy="76200"/>
              </a:xfrm>
              <a:prstGeom prst="triangle">
                <a:avLst/>
              </a:prstGeom>
              <a:grpFill/>
              <a:ln w="12700" cap="flat" cmpd="sng" algn="ctr">
                <a:solidFill>
                  <a:schemeClr val="tx1"/>
                </a:solidFill>
                <a:prstDash val="solid"/>
                <a:round/>
                <a:headEnd type="none" w="med" len="med"/>
                <a:tailEnd type="none" w="med" len="med"/>
              </a:ln>
              <a:effectLst/>
            </p:spPr>
            <p:txBody>
              <a:bodyPr anchor="ctr"/>
              <a:lstStyle/>
              <a:p>
                <a:pPr eaLnBrk="1" hangingPunct="1">
                  <a:defRPr/>
                </a:pPr>
                <a:endParaRPr lang="en-US" sz="2400">
                  <a:latin typeface="Arial" charset="0"/>
                  <a:cs typeface="Arial" charset="0"/>
                </a:endParaRPr>
              </a:p>
            </p:txBody>
          </p:sp>
          <p:cxnSp>
            <p:nvCxnSpPr>
              <p:cNvPr id="79" name="Straight Connector 78">
                <a:extLst>
                  <a:ext uri="{FF2B5EF4-FFF2-40B4-BE49-F238E27FC236}">
                    <a16:creationId xmlns:a16="http://schemas.microsoft.com/office/drawing/2014/main" id="{5FDAA6C3-855F-47C1-81A5-6F0B0EE58103}"/>
                  </a:ext>
                </a:extLst>
              </p:cNvPr>
              <p:cNvCxnSpPr/>
              <p:nvPr/>
            </p:nvCxnSpPr>
            <p:spPr bwMode="auto">
              <a:xfrm>
                <a:off x="3505200" y="5312718"/>
                <a:ext cx="152400" cy="0"/>
              </a:xfrm>
              <a:prstGeom prst="line">
                <a:avLst/>
              </a:prstGeom>
              <a:grpFill/>
              <a:ln w="12700" cap="flat" cmpd="sng" algn="ctr">
                <a:solidFill>
                  <a:schemeClr val="tx1"/>
                </a:solidFill>
                <a:prstDash val="solid"/>
                <a:round/>
                <a:headEnd type="none" w="med" len="med"/>
                <a:tailEnd type="none" w="med" len="med"/>
              </a:ln>
              <a:effectLst/>
            </p:spPr>
          </p:cxnSp>
          <p:cxnSp>
            <p:nvCxnSpPr>
              <p:cNvPr id="80" name="Straight Connector 79">
                <a:extLst>
                  <a:ext uri="{FF2B5EF4-FFF2-40B4-BE49-F238E27FC236}">
                    <a16:creationId xmlns:a16="http://schemas.microsoft.com/office/drawing/2014/main" id="{48F8F85A-C300-4CF5-B92B-929AA5359BA8}"/>
                  </a:ext>
                </a:extLst>
              </p:cNvPr>
              <p:cNvCxnSpPr/>
              <p:nvPr/>
            </p:nvCxnSpPr>
            <p:spPr bwMode="auto">
              <a:xfrm>
                <a:off x="3505200" y="5350818"/>
                <a:ext cx="152400" cy="0"/>
              </a:xfrm>
              <a:prstGeom prst="line">
                <a:avLst/>
              </a:prstGeom>
              <a:grpFill/>
              <a:ln w="12700" cap="flat" cmpd="sng" algn="ctr">
                <a:solidFill>
                  <a:schemeClr val="tx1"/>
                </a:solidFill>
                <a:prstDash val="solid"/>
                <a:round/>
                <a:headEnd type="none" w="med" len="med"/>
                <a:tailEnd type="none" w="med" len="med"/>
              </a:ln>
              <a:effectLst/>
            </p:spPr>
          </p:cxnSp>
          <p:cxnSp>
            <p:nvCxnSpPr>
              <p:cNvPr id="81" name="Straight Connector 80">
                <a:extLst>
                  <a:ext uri="{FF2B5EF4-FFF2-40B4-BE49-F238E27FC236}">
                    <a16:creationId xmlns:a16="http://schemas.microsoft.com/office/drawing/2014/main" id="{9549EB8C-DFFE-4DDE-AAD9-3C638FA69BAC}"/>
                  </a:ext>
                </a:extLst>
              </p:cNvPr>
              <p:cNvCxnSpPr/>
              <p:nvPr/>
            </p:nvCxnSpPr>
            <p:spPr bwMode="auto">
              <a:xfrm rot="5400000">
                <a:off x="3505200" y="5424635"/>
                <a:ext cx="152402" cy="0"/>
              </a:xfrm>
              <a:prstGeom prst="line">
                <a:avLst/>
              </a:prstGeom>
              <a:grpFill/>
              <a:ln w="12700" cap="flat" cmpd="sng" algn="ctr">
                <a:solidFill>
                  <a:schemeClr val="tx1"/>
                </a:solidFill>
                <a:prstDash val="solid"/>
                <a:round/>
                <a:headEnd type="none" w="med" len="med"/>
                <a:tailEnd type="none" w="med" len="med"/>
              </a:ln>
              <a:effectLst/>
            </p:spPr>
          </p:cxnSp>
          <p:cxnSp>
            <p:nvCxnSpPr>
              <p:cNvPr id="82" name="Straight Connector 81">
                <a:extLst>
                  <a:ext uri="{FF2B5EF4-FFF2-40B4-BE49-F238E27FC236}">
                    <a16:creationId xmlns:a16="http://schemas.microsoft.com/office/drawing/2014/main" id="{D46319E3-E668-402C-861D-81E0ECBB3220}"/>
                  </a:ext>
                </a:extLst>
              </p:cNvPr>
              <p:cNvCxnSpPr/>
              <p:nvPr/>
            </p:nvCxnSpPr>
            <p:spPr bwMode="auto">
              <a:xfrm rot="5400000">
                <a:off x="3520283" y="5253978"/>
                <a:ext cx="123823" cy="0"/>
              </a:xfrm>
              <a:prstGeom prst="line">
                <a:avLst/>
              </a:prstGeom>
              <a:grpFill/>
              <a:ln w="12700" cap="flat" cmpd="sng" algn="ctr">
                <a:solidFill>
                  <a:schemeClr val="tx1"/>
                </a:solidFill>
                <a:prstDash val="solid"/>
                <a:round/>
                <a:headEnd type="none" w="med" len="med"/>
                <a:tailEnd type="none" w="med" len="med"/>
              </a:ln>
              <a:effectLst/>
            </p:spPr>
          </p:cxnSp>
        </p:grpSp>
        <p:sp>
          <p:nvSpPr>
            <p:cNvPr id="18445" name="Isosceles Triangle 15">
              <a:extLst>
                <a:ext uri="{FF2B5EF4-FFF2-40B4-BE49-F238E27FC236}">
                  <a16:creationId xmlns:a16="http://schemas.microsoft.com/office/drawing/2014/main" id="{3AE034C0-432F-4101-9C5C-BD0A0E92D04A}"/>
                </a:ext>
              </a:extLst>
            </p:cNvPr>
            <p:cNvSpPr>
              <a:spLocks noChangeArrowheads="1"/>
            </p:cNvSpPr>
            <p:nvPr/>
          </p:nvSpPr>
          <p:spPr bwMode="auto">
            <a:xfrm rot="10800000">
              <a:off x="4298950" y="4319588"/>
              <a:ext cx="76200" cy="76200"/>
            </a:xfrm>
            <a:prstGeom prst="triangle">
              <a:avLst>
                <a:gd name="adj" fmla="val 50000"/>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46" name="Straight Connector 16">
              <a:extLst>
                <a:ext uri="{FF2B5EF4-FFF2-40B4-BE49-F238E27FC236}">
                  <a16:creationId xmlns:a16="http://schemas.microsoft.com/office/drawing/2014/main" id="{17DC7FBB-A7EC-4FBF-A22B-802B9F2B4B88}"/>
                </a:ext>
              </a:extLst>
            </p:cNvPr>
            <p:cNvCxnSpPr>
              <a:cxnSpLocks noChangeShapeType="1"/>
            </p:cNvCxnSpPr>
            <p:nvPr/>
          </p:nvCxnSpPr>
          <p:spPr bwMode="auto">
            <a:xfrm>
              <a:off x="4267200" y="4131474"/>
              <a:ext cx="152400" cy="0"/>
            </a:xfrm>
            <a:prstGeom prst="line">
              <a:avLst/>
            </a:prstGeom>
            <a:noFill/>
            <a:ln w="12700" algn="ctr">
              <a:solidFill>
                <a:schemeClr val="tx1"/>
              </a:solidFill>
              <a:round/>
              <a:headEnd/>
              <a:tailEnd/>
            </a:ln>
          </p:spPr>
        </p:cxnSp>
        <p:cxnSp>
          <p:nvCxnSpPr>
            <p:cNvPr id="18447" name="Straight Connector 17">
              <a:extLst>
                <a:ext uri="{FF2B5EF4-FFF2-40B4-BE49-F238E27FC236}">
                  <a16:creationId xmlns:a16="http://schemas.microsoft.com/office/drawing/2014/main" id="{2799849A-E13E-44E1-8375-B408D9251253}"/>
                </a:ext>
              </a:extLst>
            </p:cNvPr>
            <p:cNvCxnSpPr>
              <a:cxnSpLocks noChangeShapeType="1"/>
            </p:cNvCxnSpPr>
            <p:nvPr/>
          </p:nvCxnSpPr>
          <p:spPr bwMode="auto">
            <a:xfrm>
              <a:off x="4267200" y="4169574"/>
              <a:ext cx="152400" cy="0"/>
            </a:xfrm>
            <a:prstGeom prst="line">
              <a:avLst/>
            </a:prstGeom>
            <a:noFill/>
            <a:ln w="12700" algn="ctr">
              <a:solidFill>
                <a:schemeClr val="tx1"/>
              </a:solidFill>
              <a:round/>
              <a:headEnd/>
              <a:tailEnd/>
            </a:ln>
          </p:spPr>
        </p:cxnSp>
        <p:cxnSp>
          <p:nvCxnSpPr>
            <p:cNvPr id="18448" name="Straight Connector 18">
              <a:extLst>
                <a:ext uri="{FF2B5EF4-FFF2-40B4-BE49-F238E27FC236}">
                  <a16:creationId xmlns:a16="http://schemas.microsoft.com/office/drawing/2014/main" id="{FAB5904F-2ECF-40AE-8192-DF15BB687D5D}"/>
                </a:ext>
              </a:extLst>
            </p:cNvPr>
            <p:cNvCxnSpPr>
              <a:cxnSpLocks noChangeShapeType="1"/>
            </p:cNvCxnSpPr>
            <p:nvPr/>
          </p:nvCxnSpPr>
          <p:spPr bwMode="auto">
            <a:xfrm rot="5400000">
              <a:off x="4267200" y="4243391"/>
              <a:ext cx="152402" cy="0"/>
            </a:xfrm>
            <a:prstGeom prst="line">
              <a:avLst/>
            </a:prstGeom>
            <a:noFill/>
            <a:ln w="12700" algn="ctr">
              <a:solidFill>
                <a:schemeClr val="tx1"/>
              </a:solidFill>
              <a:round/>
              <a:headEnd/>
              <a:tailEnd/>
            </a:ln>
          </p:spPr>
        </p:cxnSp>
        <p:cxnSp>
          <p:nvCxnSpPr>
            <p:cNvPr id="18449" name="Straight Connector 19">
              <a:extLst>
                <a:ext uri="{FF2B5EF4-FFF2-40B4-BE49-F238E27FC236}">
                  <a16:creationId xmlns:a16="http://schemas.microsoft.com/office/drawing/2014/main" id="{6BDC90AC-0AFD-4AA4-A65D-8EB915F4352C}"/>
                </a:ext>
              </a:extLst>
            </p:cNvPr>
            <p:cNvCxnSpPr>
              <a:cxnSpLocks noChangeShapeType="1"/>
            </p:cNvCxnSpPr>
            <p:nvPr/>
          </p:nvCxnSpPr>
          <p:spPr bwMode="auto">
            <a:xfrm rot="5400000">
              <a:off x="4266731" y="4057975"/>
              <a:ext cx="152548" cy="792"/>
            </a:xfrm>
            <a:prstGeom prst="line">
              <a:avLst/>
            </a:prstGeom>
            <a:noFill/>
            <a:ln w="12700" algn="ctr">
              <a:solidFill>
                <a:schemeClr val="tx1"/>
              </a:solidFill>
              <a:round/>
              <a:headEnd/>
              <a:tailEnd/>
            </a:ln>
          </p:spPr>
        </p:cxnSp>
        <p:cxnSp>
          <p:nvCxnSpPr>
            <p:cNvPr id="18450" name="Straight Connector 20">
              <a:extLst>
                <a:ext uri="{FF2B5EF4-FFF2-40B4-BE49-F238E27FC236}">
                  <a16:creationId xmlns:a16="http://schemas.microsoft.com/office/drawing/2014/main" id="{8CF4788F-6D5D-4C38-823C-4DB4B9A94087}"/>
                </a:ext>
              </a:extLst>
            </p:cNvPr>
            <p:cNvCxnSpPr>
              <a:cxnSpLocks noChangeShapeType="1"/>
            </p:cNvCxnSpPr>
            <p:nvPr/>
          </p:nvCxnSpPr>
          <p:spPr bwMode="auto">
            <a:xfrm>
              <a:off x="1797050" y="3967162"/>
              <a:ext cx="152400" cy="0"/>
            </a:xfrm>
            <a:prstGeom prst="line">
              <a:avLst/>
            </a:prstGeom>
            <a:noFill/>
            <a:ln w="12700" algn="ctr">
              <a:solidFill>
                <a:schemeClr val="tx1"/>
              </a:solidFill>
              <a:round/>
              <a:headEnd/>
              <a:tailEnd/>
            </a:ln>
          </p:spPr>
        </p:cxnSp>
        <p:cxnSp>
          <p:nvCxnSpPr>
            <p:cNvPr id="18451" name="Straight Connector 21">
              <a:extLst>
                <a:ext uri="{FF2B5EF4-FFF2-40B4-BE49-F238E27FC236}">
                  <a16:creationId xmlns:a16="http://schemas.microsoft.com/office/drawing/2014/main" id="{7950E45A-495E-45FB-969E-8DFC31C78271}"/>
                </a:ext>
              </a:extLst>
            </p:cNvPr>
            <p:cNvCxnSpPr>
              <a:cxnSpLocks noChangeShapeType="1"/>
              <a:endCxn id="18473" idx="1"/>
            </p:cNvCxnSpPr>
            <p:nvPr/>
          </p:nvCxnSpPr>
          <p:spPr bwMode="auto">
            <a:xfrm flipV="1">
              <a:off x="2317750" y="3967166"/>
              <a:ext cx="163498" cy="0"/>
            </a:xfrm>
            <a:prstGeom prst="line">
              <a:avLst/>
            </a:prstGeom>
            <a:noFill/>
            <a:ln w="12700" algn="ctr">
              <a:solidFill>
                <a:schemeClr val="tx1"/>
              </a:solidFill>
              <a:round/>
              <a:headEnd/>
              <a:tailEnd/>
            </a:ln>
          </p:spPr>
        </p:cxnSp>
        <p:sp>
          <p:nvSpPr>
            <p:cNvPr id="18452" name="Oval 24">
              <a:extLst>
                <a:ext uri="{FF2B5EF4-FFF2-40B4-BE49-F238E27FC236}">
                  <a16:creationId xmlns:a16="http://schemas.microsoft.com/office/drawing/2014/main" id="{9B549342-25EB-429F-8EBA-CE9DE3424D23}"/>
                </a:ext>
              </a:extLst>
            </p:cNvPr>
            <p:cNvSpPr>
              <a:spLocks noChangeArrowheads="1"/>
            </p:cNvSpPr>
            <p:nvPr/>
          </p:nvSpPr>
          <p:spPr bwMode="auto">
            <a:xfrm>
              <a:off x="2438400" y="3248027"/>
              <a:ext cx="76200" cy="76200"/>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53" name="Straight Connector 25">
              <a:extLst>
                <a:ext uri="{FF2B5EF4-FFF2-40B4-BE49-F238E27FC236}">
                  <a16:creationId xmlns:a16="http://schemas.microsoft.com/office/drawing/2014/main" id="{F63CAED4-B930-4DD7-B1A7-369A065F155F}"/>
                </a:ext>
              </a:extLst>
            </p:cNvPr>
            <p:cNvCxnSpPr>
              <a:cxnSpLocks noChangeShapeType="1"/>
            </p:cNvCxnSpPr>
            <p:nvPr/>
          </p:nvCxnSpPr>
          <p:spPr bwMode="auto">
            <a:xfrm flipV="1">
              <a:off x="4051934" y="3974779"/>
              <a:ext cx="533400" cy="4"/>
            </a:xfrm>
            <a:prstGeom prst="line">
              <a:avLst/>
            </a:prstGeom>
            <a:noFill/>
            <a:ln w="12700" algn="ctr">
              <a:solidFill>
                <a:schemeClr val="tx1"/>
              </a:solidFill>
              <a:round/>
              <a:headEnd/>
              <a:tailEnd/>
            </a:ln>
          </p:spPr>
        </p:cxnSp>
        <p:sp>
          <p:nvSpPr>
            <p:cNvPr id="18454" name="Isosceles Triangle 27">
              <a:extLst>
                <a:ext uri="{FF2B5EF4-FFF2-40B4-BE49-F238E27FC236}">
                  <a16:creationId xmlns:a16="http://schemas.microsoft.com/office/drawing/2014/main" id="{13E96238-923F-4379-B439-61E6BF575EEE}"/>
                </a:ext>
              </a:extLst>
            </p:cNvPr>
            <p:cNvSpPr>
              <a:spLocks noChangeArrowheads="1"/>
            </p:cNvSpPr>
            <p:nvPr/>
          </p:nvSpPr>
          <p:spPr bwMode="auto">
            <a:xfrm rot="10800000">
              <a:off x="5137150" y="4322760"/>
              <a:ext cx="76200" cy="76200"/>
            </a:xfrm>
            <a:prstGeom prst="triangle">
              <a:avLst>
                <a:gd name="adj" fmla="val 50000"/>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55" name="Straight Connector 28">
              <a:extLst>
                <a:ext uri="{FF2B5EF4-FFF2-40B4-BE49-F238E27FC236}">
                  <a16:creationId xmlns:a16="http://schemas.microsoft.com/office/drawing/2014/main" id="{30169A6A-60E9-48E3-9B6E-6657F5B582C5}"/>
                </a:ext>
              </a:extLst>
            </p:cNvPr>
            <p:cNvCxnSpPr>
              <a:cxnSpLocks noChangeShapeType="1"/>
            </p:cNvCxnSpPr>
            <p:nvPr/>
          </p:nvCxnSpPr>
          <p:spPr bwMode="auto">
            <a:xfrm>
              <a:off x="5105400" y="4134646"/>
              <a:ext cx="152400" cy="0"/>
            </a:xfrm>
            <a:prstGeom prst="line">
              <a:avLst/>
            </a:prstGeom>
            <a:noFill/>
            <a:ln w="12700" algn="ctr">
              <a:solidFill>
                <a:schemeClr val="tx1"/>
              </a:solidFill>
              <a:round/>
              <a:headEnd/>
              <a:tailEnd/>
            </a:ln>
          </p:spPr>
        </p:cxnSp>
        <p:cxnSp>
          <p:nvCxnSpPr>
            <p:cNvPr id="18456" name="Straight Connector 29">
              <a:extLst>
                <a:ext uri="{FF2B5EF4-FFF2-40B4-BE49-F238E27FC236}">
                  <a16:creationId xmlns:a16="http://schemas.microsoft.com/office/drawing/2014/main" id="{93061D6D-666C-47FC-AAF9-D9F0EF4618E0}"/>
                </a:ext>
              </a:extLst>
            </p:cNvPr>
            <p:cNvCxnSpPr>
              <a:cxnSpLocks noChangeShapeType="1"/>
            </p:cNvCxnSpPr>
            <p:nvPr/>
          </p:nvCxnSpPr>
          <p:spPr bwMode="auto">
            <a:xfrm>
              <a:off x="5105400" y="4172746"/>
              <a:ext cx="152400" cy="0"/>
            </a:xfrm>
            <a:prstGeom prst="line">
              <a:avLst/>
            </a:prstGeom>
            <a:noFill/>
            <a:ln w="12700" algn="ctr">
              <a:solidFill>
                <a:schemeClr val="tx1"/>
              </a:solidFill>
              <a:round/>
              <a:headEnd/>
              <a:tailEnd/>
            </a:ln>
          </p:spPr>
        </p:cxnSp>
        <p:cxnSp>
          <p:nvCxnSpPr>
            <p:cNvPr id="18457" name="Straight Connector 30">
              <a:extLst>
                <a:ext uri="{FF2B5EF4-FFF2-40B4-BE49-F238E27FC236}">
                  <a16:creationId xmlns:a16="http://schemas.microsoft.com/office/drawing/2014/main" id="{334A4D97-9A2D-4170-8B81-38A558B5FE33}"/>
                </a:ext>
              </a:extLst>
            </p:cNvPr>
            <p:cNvCxnSpPr>
              <a:cxnSpLocks noChangeShapeType="1"/>
            </p:cNvCxnSpPr>
            <p:nvPr/>
          </p:nvCxnSpPr>
          <p:spPr bwMode="auto">
            <a:xfrm rot="5400000">
              <a:off x="5105400" y="4246563"/>
              <a:ext cx="152402" cy="0"/>
            </a:xfrm>
            <a:prstGeom prst="line">
              <a:avLst/>
            </a:prstGeom>
            <a:noFill/>
            <a:ln w="12700" algn="ctr">
              <a:solidFill>
                <a:schemeClr val="tx1"/>
              </a:solidFill>
              <a:round/>
              <a:headEnd/>
              <a:tailEnd/>
            </a:ln>
          </p:spPr>
        </p:cxnSp>
        <p:cxnSp>
          <p:nvCxnSpPr>
            <p:cNvPr id="18458" name="Straight Connector 31">
              <a:extLst>
                <a:ext uri="{FF2B5EF4-FFF2-40B4-BE49-F238E27FC236}">
                  <a16:creationId xmlns:a16="http://schemas.microsoft.com/office/drawing/2014/main" id="{22C8B100-0C45-40F3-BFD2-AFF5D4D976CB}"/>
                </a:ext>
              </a:extLst>
            </p:cNvPr>
            <p:cNvCxnSpPr>
              <a:cxnSpLocks noChangeShapeType="1"/>
            </p:cNvCxnSpPr>
            <p:nvPr/>
          </p:nvCxnSpPr>
          <p:spPr bwMode="auto">
            <a:xfrm rot="5400000">
              <a:off x="5105327" y="4061543"/>
              <a:ext cx="152548" cy="0"/>
            </a:xfrm>
            <a:prstGeom prst="line">
              <a:avLst/>
            </a:prstGeom>
            <a:noFill/>
            <a:ln w="12700" algn="ctr">
              <a:solidFill>
                <a:schemeClr val="tx1"/>
              </a:solidFill>
              <a:round/>
              <a:headEnd/>
              <a:tailEnd/>
            </a:ln>
          </p:spPr>
        </p:cxnSp>
        <p:cxnSp>
          <p:nvCxnSpPr>
            <p:cNvPr id="18459" name="Straight Connector 32">
              <a:extLst>
                <a:ext uri="{FF2B5EF4-FFF2-40B4-BE49-F238E27FC236}">
                  <a16:creationId xmlns:a16="http://schemas.microsoft.com/office/drawing/2014/main" id="{E5433BCF-852B-4C2E-9967-CB5E4BF50EFA}"/>
                </a:ext>
              </a:extLst>
            </p:cNvPr>
            <p:cNvCxnSpPr>
              <a:cxnSpLocks noChangeShapeType="1"/>
            </p:cNvCxnSpPr>
            <p:nvPr/>
          </p:nvCxnSpPr>
          <p:spPr bwMode="auto">
            <a:xfrm flipV="1">
              <a:off x="4957771" y="3979853"/>
              <a:ext cx="533400" cy="4"/>
            </a:xfrm>
            <a:prstGeom prst="line">
              <a:avLst/>
            </a:prstGeom>
            <a:noFill/>
            <a:ln w="12700" algn="ctr">
              <a:solidFill>
                <a:schemeClr val="tx1"/>
              </a:solidFill>
              <a:round/>
              <a:headEnd/>
              <a:tailEnd/>
            </a:ln>
          </p:spPr>
        </p:cxnSp>
        <p:sp>
          <p:nvSpPr>
            <p:cNvPr id="18460" name="Flowchart: Delay 33">
              <a:extLst>
                <a:ext uri="{FF2B5EF4-FFF2-40B4-BE49-F238E27FC236}">
                  <a16:creationId xmlns:a16="http://schemas.microsoft.com/office/drawing/2014/main" id="{8C307D59-88AA-4E5E-B07F-B78E7EFBCD85}"/>
                </a:ext>
              </a:extLst>
            </p:cNvPr>
            <p:cNvSpPr>
              <a:spLocks noChangeArrowheads="1"/>
            </p:cNvSpPr>
            <p:nvPr/>
          </p:nvSpPr>
          <p:spPr bwMode="auto">
            <a:xfrm>
              <a:off x="5497084" y="3895360"/>
              <a:ext cx="367935" cy="281354"/>
            </a:xfrm>
            <a:prstGeom prst="flowChartDelay">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baseline="-25000"/>
            </a:p>
          </p:txBody>
        </p:sp>
        <p:sp>
          <p:nvSpPr>
            <p:cNvPr id="18461" name="Oval 34">
              <a:extLst>
                <a:ext uri="{FF2B5EF4-FFF2-40B4-BE49-F238E27FC236}">
                  <a16:creationId xmlns:a16="http://schemas.microsoft.com/office/drawing/2014/main" id="{432A2B6C-5789-499A-BDB8-13218044E060}"/>
                </a:ext>
              </a:extLst>
            </p:cNvPr>
            <p:cNvSpPr>
              <a:spLocks noChangeArrowheads="1"/>
            </p:cNvSpPr>
            <p:nvPr/>
          </p:nvSpPr>
          <p:spPr bwMode="auto">
            <a:xfrm>
              <a:off x="5865019" y="3995372"/>
              <a:ext cx="76200" cy="76200"/>
            </a:xfrm>
            <a:prstGeom prst="ellipse">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2400"/>
            </a:p>
          </p:txBody>
        </p:sp>
        <p:cxnSp>
          <p:nvCxnSpPr>
            <p:cNvPr id="18462" name="Straight Connector 35">
              <a:extLst>
                <a:ext uri="{FF2B5EF4-FFF2-40B4-BE49-F238E27FC236}">
                  <a16:creationId xmlns:a16="http://schemas.microsoft.com/office/drawing/2014/main" id="{C95C4FCC-72D9-4E99-900F-892E87E9A321}"/>
                </a:ext>
              </a:extLst>
            </p:cNvPr>
            <p:cNvCxnSpPr>
              <a:cxnSpLocks noChangeShapeType="1"/>
            </p:cNvCxnSpPr>
            <p:nvPr/>
          </p:nvCxnSpPr>
          <p:spPr bwMode="auto">
            <a:xfrm>
              <a:off x="5343525" y="4098923"/>
              <a:ext cx="152400" cy="0"/>
            </a:xfrm>
            <a:prstGeom prst="line">
              <a:avLst/>
            </a:prstGeom>
            <a:noFill/>
            <a:ln w="12700" algn="ctr">
              <a:solidFill>
                <a:schemeClr val="tx1"/>
              </a:solidFill>
              <a:round/>
              <a:headEnd/>
              <a:tailEnd/>
            </a:ln>
          </p:spPr>
        </p:cxnSp>
        <p:cxnSp>
          <p:nvCxnSpPr>
            <p:cNvPr id="18463" name="Straight Connector 36">
              <a:extLst>
                <a:ext uri="{FF2B5EF4-FFF2-40B4-BE49-F238E27FC236}">
                  <a16:creationId xmlns:a16="http://schemas.microsoft.com/office/drawing/2014/main" id="{B210405F-30F1-45C6-8208-EDFD604576FD}"/>
                </a:ext>
              </a:extLst>
            </p:cNvPr>
            <p:cNvCxnSpPr>
              <a:cxnSpLocks noChangeShapeType="1"/>
            </p:cNvCxnSpPr>
            <p:nvPr/>
          </p:nvCxnSpPr>
          <p:spPr bwMode="auto">
            <a:xfrm>
              <a:off x="1917700" y="3225800"/>
              <a:ext cx="152400" cy="0"/>
            </a:xfrm>
            <a:prstGeom prst="line">
              <a:avLst/>
            </a:prstGeom>
            <a:noFill/>
            <a:ln w="12700" algn="ctr">
              <a:solidFill>
                <a:schemeClr val="tx1"/>
              </a:solidFill>
              <a:round/>
              <a:headEnd/>
              <a:tailEnd/>
            </a:ln>
          </p:spPr>
        </p:cxnSp>
        <p:cxnSp>
          <p:nvCxnSpPr>
            <p:cNvPr id="18464" name="Straight Connector 37">
              <a:extLst>
                <a:ext uri="{FF2B5EF4-FFF2-40B4-BE49-F238E27FC236}">
                  <a16:creationId xmlns:a16="http://schemas.microsoft.com/office/drawing/2014/main" id="{957929C6-1A46-4547-904E-616AAC426BBA}"/>
                </a:ext>
              </a:extLst>
            </p:cNvPr>
            <p:cNvCxnSpPr>
              <a:cxnSpLocks noChangeShapeType="1"/>
            </p:cNvCxnSpPr>
            <p:nvPr/>
          </p:nvCxnSpPr>
          <p:spPr bwMode="auto">
            <a:xfrm>
              <a:off x="1911350" y="3351212"/>
              <a:ext cx="152400" cy="0"/>
            </a:xfrm>
            <a:prstGeom prst="line">
              <a:avLst/>
            </a:prstGeom>
            <a:noFill/>
            <a:ln w="12700" algn="ctr">
              <a:solidFill>
                <a:schemeClr val="tx1"/>
              </a:solidFill>
              <a:round/>
              <a:headEnd/>
              <a:tailEnd/>
            </a:ln>
          </p:spPr>
        </p:cxnSp>
        <p:grpSp>
          <p:nvGrpSpPr>
            <p:cNvPr id="18465" name="Group 448">
              <a:extLst>
                <a:ext uri="{FF2B5EF4-FFF2-40B4-BE49-F238E27FC236}">
                  <a16:creationId xmlns:a16="http://schemas.microsoft.com/office/drawing/2014/main" id="{FC867CFD-F458-4381-8317-462991A0D83C}"/>
                </a:ext>
              </a:extLst>
            </p:cNvPr>
            <p:cNvGrpSpPr>
              <a:grpSpLocks/>
            </p:cNvGrpSpPr>
            <p:nvPr/>
          </p:nvGrpSpPr>
          <p:grpSpPr bwMode="auto">
            <a:xfrm>
              <a:off x="2895600" y="2743200"/>
              <a:ext cx="685800" cy="442913"/>
              <a:chOff x="2514600" y="2530475"/>
              <a:chExt cx="685800" cy="442913"/>
            </a:xfrm>
          </p:grpSpPr>
          <p:cxnSp>
            <p:nvCxnSpPr>
              <p:cNvPr id="49" name="Straight Connector 48">
                <a:extLst>
                  <a:ext uri="{FF2B5EF4-FFF2-40B4-BE49-F238E27FC236}">
                    <a16:creationId xmlns:a16="http://schemas.microsoft.com/office/drawing/2014/main" id="{49EF942B-3890-45CA-9161-84804C0173A8}"/>
                  </a:ext>
                </a:extLst>
              </p:cNvPr>
              <p:cNvCxnSpPr/>
              <p:nvPr/>
            </p:nvCxnSpPr>
            <p:spPr bwMode="auto">
              <a:xfrm>
                <a:off x="2590990" y="2971377"/>
                <a:ext cx="228431" cy="211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0" name="Straight Connector 49">
                <a:extLst>
                  <a:ext uri="{FF2B5EF4-FFF2-40B4-BE49-F238E27FC236}">
                    <a16:creationId xmlns:a16="http://schemas.microsoft.com/office/drawing/2014/main" id="{9A88E06B-6A79-422E-8217-8E48F5E5A1B2}"/>
                  </a:ext>
                </a:extLst>
              </p:cNvPr>
              <p:cNvCxnSpPr/>
              <p:nvPr/>
            </p:nvCxnSpPr>
            <p:spPr bwMode="auto">
              <a:xfrm rot="5400000" flipH="1" flipV="1">
                <a:off x="2781375" y="2781042"/>
                <a:ext cx="228381" cy="1522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0450F6D-BEF7-48A8-B606-A8B533E4E9A5}"/>
                  </a:ext>
                </a:extLst>
              </p:cNvPr>
              <p:cNvCxnSpPr/>
              <p:nvPr/>
            </p:nvCxnSpPr>
            <p:spPr bwMode="auto">
              <a:xfrm>
                <a:off x="2971709" y="2742996"/>
                <a:ext cx="228431" cy="211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8D38704F-759B-4DD5-852F-EA558B0B1218}"/>
                  </a:ext>
                </a:extLst>
              </p:cNvPr>
              <p:cNvSpPr txBox="1"/>
              <p:nvPr/>
            </p:nvSpPr>
            <p:spPr>
              <a:xfrm>
                <a:off x="2978054" y="2530475"/>
                <a:ext cx="173439" cy="169171"/>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sz="1050" dirty="0"/>
                  <a:t>1</a:t>
                </a:r>
              </a:p>
            </p:txBody>
          </p:sp>
          <p:sp>
            <p:nvSpPr>
              <p:cNvPr id="53" name="TextBox 52">
                <a:extLst>
                  <a:ext uri="{FF2B5EF4-FFF2-40B4-BE49-F238E27FC236}">
                    <a16:creationId xmlns:a16="http://schemas.microsoft.com/office/drawing/2014/main" id="{B73A7E6B-2C9F-4EC3-AD87-017F20C41561}"/>
                  </a:ext>
                </a:extLst>
              </p:cNvPr>
              <p:cNvSpPr txBox="1"/>
              <p:nvPr/>
            </p:nvSpPr>
            <p:spPr>
              <a:xfrm>
                <a:off x="2514846" y="2742996"/>
                <a:ext cx="173439" cy="169171"/>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sz="1050" dirty="0"/>
                  <a:t>0</a:t>
                </a:r>
              </a:p>
            </p:txBody>
          </p:sp>
        </p:grpSp>
        <p:sp>
          <p:nvSpPr>
            <p:cNvPr id="18466" name="Freeform 39">
              <a:extLst>
                <a:ext uri="{FF2B5EF4-FFF2-40B4-BE49-F238E27FC236}">
                  <a16:creationId xmlns:a16="http://schemas.microsoft.com/office/drawing/2014/main" id="{DE8E535E-50BE-4D93-BD4F-B814D80AA1A3}"/>
                </a:ext>
              </a:extLst>
            </p:cNvPr>
            <p:cNvSpPr>
              <a:spLocks/>
            </p:cNvSpPr>
            <p:nvPr/>
          </p:nvSpPr>
          <p:spPr bwMode="auto">
            <a:xfrm>
              <a:off x="3429000" y="3124200"/>
              <a:ext cx="698500" cy="692150"/>
            </a:xfrm>
            <a:custGeom>
              <a:avLst/>
              <a:gdLst>
                <a:gd name="T0" fmla="*/ 0 w 698500"/>
                <a:gd name="T1" fmla="*/ 0 h 692150"/>
                <a:gd name="T2" fmla="*/ 95250 w 698500"/>
                <a:gd name="T3" fmla="*/ 50800 h 692150"/>
                <a:gd name="T4" fmla="*/ 152400 w 698500"/>
                <a:gd name="T5" fmla="*/ 203200 h 692150"/>
                <a:gd name="T6" fmla="*/ 158750 w 698500"/>
                <a:gd name="T7" fmla="*/ 381000 h 692150"/>
                <a:gd name="T8" fmla="*/ 215900 w 698500"/>
                <a:gd name="T9" fmla="*/ 596900 h 692150"/>
                <a:gd name="T10" fmla="*/ 438150 w 698500"/>
                <a:gd name="T11" fmla="*/ 673100 h 692150"/>
                <a:gd name="T12" fmla="*/ 698500 w 698500"/>
                <a:gd name="T13" fmla="*/ 692150 h 6921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8500" h="692150">
                  <a:moveTo>
                    <a:pt x="0" y="0"/>
                  </a:moveTo>
                  <a:cubicBezTo>
                    <a:pt x="34925" y="8466"/>
                    <a:pt x="69850" y="16933"/>
                    <a:pt x="95250" y="50800"/>
                  </a:cubicBezTo>
                  <a:cubicBezTo>
                    <a:pt x="120650" y="84667"/>
                    <a:pt x="141817" y="148167"/>
                    <a:pt x="152400" y="203200"/>
                  </a:cubicBezTo>
                  <a:cubicBezTo>
                    <a:pt x="162983" y="258233"/>
                    <a:pt x="148167" y="315383"/>
                    <a:pt x="158750" y="381000"/>
                  </a:cubicBezTo>
                  <a:cubicBezTo>
                    <a:pt x="169333" y="446617"/>
                    <a:pt x="169333" y="548217"/>
                    <a:pt x="215900" y="596900"/>
                  </a:cubicBezTo>
                  <a:cubicBezTo>
                    <a:pt x="262467" y="645583"/>
                    <a:pt x="357717" y="657225"/>
                    <a:pt x="438150" y="673100"/>
                  </a:cubicBezTo>
                  <a:cubicBezTo>
                    <a:pt x="518583" y="688975"/>
                    <a:pt x="608541" y="690562"/>
                    <a:pt x="698500" y="692150"/>
                  </a:cubicBezTo>
                </a:path>
              </a:pathLst>
            </a:custGeom>
            <a:noFill/>
            <a:ln w="9525" algn="ctr">
              <a:solidFill>
                <a:srgbClr val="0000FF"/>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1" name="Freeform 40">
              <a:extLst>
                <a:ext uri="{FF2B5EF4-FFF2-40B4-BE49-F238E27FC236}">
                  <a16:creationId xmlns:a16="http://schemas.microsoft.com/office/drawing/2014/main" id="{40C72E34-4B8E-4299-9A48-CBCD7838EEAA}"/>
                </a:ext>
              </a:extLst>
            </p:cNvPr>
            <p:cNvSpPr/>
            <p:nvPr/>
          </p:nvSpPr>
          <p:spPr bwMode="auto">
            <a:xfrm>
              <a:off x="4039061" y="3343757"/>
              <a:ext cx="520316" cy="428213"/>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sz="2400"/>
            </a:p>
          </p:txBody>
        </p:sp>
        <p:cxnSp>
          <p:nvCxnSpPr>
            <p:cNvPr id="18468" name="Straight Connector 41">
              <a:extLst>
                <a:ext uri="{FF2B5EF4-FFF2-40B4-BE49-F238E27FC236}">
                  <a16:creationId xmlns:a16="http://schemas.microsoft.com/office/drawing/2014/main" id="{E84CE4A6-CB9D-48DE-9BD0-F0F4BC13D4AF}"/>
                </a:ext>
              </a:extLst>
            </p:cNvPr>
            <p:cNvCxnSpPr>
              <a:cxnSpLocks noChangeShapeType="1"/>
            </p:cNvCxnSpPr>
            <p:nvPr/>
          </p:nvCxnSpPr>
          <p:spPr bwMode="auto">
            <a:xfrm>
              <a:off x="5943600" y="4032250"/>
              <a:ext cx="152400" cy="0"/>
            </a:xfrm>
            <a:prstGeom prst="line">
              <a:avLst/>
            </a:prstGeom>
            <a:noFill/>
            <a:ln w="12700" algn="ctr">
              <a:solidFill>
                <a:schemeClr val="tx1"/>
              </a:solidFill>
              <a:round/>
              <a:headEnd/>
              <a:tailEnd/>
            </a:ln>
          </p:spPr>
        </p:cxnSp>
        <p:sp>
          <p:nvSpPr>
            <p:cNvPr id="45" name="TextBox 44">
              <a:extLst>
                <a:ext uri="{FF2B5EF4-FFF2-40B4-BE49-F238E27FC236}">
                  <a16:creationId xmlns:a16="http://schemas.microsoft.com/office/drawing/2014/main" id="{719BC504-49A8-43F5-ADA0-73AD5DF9C520}"/>
                </a:ext>
              </a:extLst>
            </p:cNvPr>
            <p:cNvSpPr txBox="1"/>
            <p:nvPr/>
          </p:nvSpPr>
          <p:spPr>
            <a:xfrm>
              <a:off x="4039061" y="3070969"/>
              <a:ext cx="682121" cy="169171"/>
            </a:xfrm>
            <a:prstGeom prst="rect">
              <a:avLst/>
            </a:prstGeom>
            <a:noFill/>
          </p:spPr>
          <p:txBody>
            <a:bodyPr wrap="none">
              <a:spAutoFit/>
            </a:bodyPr>
            <a:lstStyle/>
            <a:p>
              <a:pPr eaLnBrk="1" hangingPunct="1">
                <a:defRPr/>
              </a:pPr>
              <a:r>
                <a:rPr lang="en-US" sz="1050" dirty="0">
                  <a:latin typeface="Arial" charset="0"/>
                  <a:cs typeface="Arial" charset="0"/>
                </a:rPr>
                <a:t>Aggressor net</a:t>
              </a:r>
            </a:p>
          </p:txBody>
        </p:sp>
        <p:sp>
          <p:nvSpPr>
            <p:cNvPr id="46" name="TextBox 45">
              <a:extLst>
                <a:ext uri="{FF2B5EF4-FFF2-40B4-BE49-F238E27FC236}">
                  <a16:creationId xmlns:a16="http://schemas.microsoft.com/office/drawing/2014/main" id="{F01E0649-73D8-4B6C-B722-F2D5D0BCE92F}"/>
                </a:ext>
              </a:extLst>
            </p:cNvPr>
            <p:cNvSpPr txBox="1"/>
            <p:nvPr/>
          </p:nvSpPr>
          <p:spPr>
            <a:xfrm>
              <a:off x="4355269" y="3503411"/>
              <a:ext cx="352165" cy="169171"/>
            </a:xfrm>
            <a:prstGeom prst="rect">
              <a:avLst/>
            </a:prstGeom>
            <a:noFill/>
          </p:spPr>
          <p:txBody>
            <a:bodyPr wrap="none">
              <a:spAutoFit/>
            </a:bodyPr>
            <a:lstStyle/>
            <a:p>
              <a:pPr eaLnBrk="1" hangingPunct="1">
                <a:defRPr/>
              </a:pPr>
              <a:r>
                <a:rPr lang="en-US" sz="1050" dirty="0">
                  <a:latin typeface="Arial" charset="0"/>
                  <a:cs typeface="Arial" charset="0"/>
                </a:rPr>
                <a:t>Glitch</a:t>
              </a:r>
            </a:p>
          </p:txBody>
        </p:sp>
        <p:sp>
          <p:nvSpPr>
            <p:cNvPr id="47" name="TextBox 46">
              <a:extLst>
                <a:ext uri="{FF2B5EF4-FFF2-40B4-BE49-F238E27FC236}">
                  <a16:creationId xmlns:a16="http://schemas.microsoft.com/office/drawing/2014/main" id="{26CC60C9-8991-47B2-8D06-33A7D6B68A1F}"/>
                </a:ext>
              </a:extLst>
            </p:cNvPr>
            <p:cNvSpPr txBox="1"/>
            <p:nvPr/>
          </p:nvSpPr>
          <p:spPr>
            <a:xfrm>
              <a:off x="3000545" y="4000351"/>
              <a:ext cx="517143" cy="169171"/>
            </a:xfrm>
            <a:prstGeom prst="rect">
              <a:avLst/>
            </a:prstGeom>
            <a:noFill/>
          </p:spPr>
          <p:txBody>
            <a:bodyPr wrap="none">
              <a:spAutoFit/>
            </a:bodyPr>
            <a:lstStyle/>
            <a:p>
              <a:pPr eaLnBrk="1" hangingPunct="1">
                <a:defRPr/>
              </a:pPr>
              <a:r>
                <a:rPr lang="en-US" sz="1050" dirty="0">
                  <a:latin typeface="Arial" charset="0"/>
                  <a:cs typeface="Arial" charset="0"/>
                </a:rPr>
                <a:t>Victim net</a:t>
              </a:r>
            </a:p>
          </p:txBody>
        </p:sp>
        <p:sp>
          <p:nvSpPr>
            <p:cNvPr id="48" name="TextBox 47">
              <a:extLst>
                <a:ext uri="{FF2B5EF4-FFF2-40B4-BE49-F238E27FC236}">
                  <a16:creationId xmlns:a16="http://schemas.microsoft.com/office/drawing/2014/main" id="{F92D12C6-CD2D-476C-86A1-59F7F766C47C}"/>
                </a:ext>
              </a:extLst>
            </p:cNvPr>
            <p:cNvSpPr txBox="1"/>
            <p:nvPr/>
          </p:nvSpPr>
          <p:spPr>
            <a:xfrm>
              <a:off x="2967760" y="3478036"/>
              <a:ext cx="232662" cy="169171"/>
            </a:xfrm>
            <a:prstGeom prst="rect">
              <a:avLst/>
            </a:prstGeom>
            <a:noFill/>
          </p:spPr>
          <p:txBody>
            <a:bodyPr wrap="none">
              <a:spAutoFit/>
            </a:bodyPr>
            <a:lstStyle/>
            <a:p>
              <a:pPr eaLnBrk="1" hangingPunct="1">
                <a:defRPr/>
              </a:pPr>
              <a:r>
                <a:rPr lang="en-US" sz="1050" dirty="0">
                  <a:latin typeface="Arial" charset="0"/>
                  <a:cs typeface="Arial" charset="0"/>
                </a:rPr>
                <a:t>Cc</a:t>
              </a:r>
            </a:p>
          </p:txBody>
        </p:sp>
        <p:sp>
          <p:nvSpPr>
            <p:cNvPr id="18473" name="Прямоугольник 86">
              <a:extLst>
                <a:ext uri="{FF2B5EF4-FFF2-40B4-BE49-F238E27FC236}">
                  <a16:creationId xmlns:a16="http://schemas.microsoft.com/office/drawing/2014/main" id="{245A202C-6609-4339-9E3F-5F98625DEF7D}"/>
                </a:ext>
              </a:extLst>
            </p:cNvPr>
            <p:cNvSpPr>
              <a:spLocks noChangeArrowheads="1"/>
            </p:cNvSpPr>
            <p:nvPr/>
          </p:nvSpPr>
          <p:spPr bwMode="auto">
            <a:xfrm>
              <a:off x="2481248" y="3895728"/>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sp>
          <p:nvSpPr>
            <p:cNvPr id="18474" name="Прямоугольник 87">
              <a:extLst>
                <a:ext uri="{FF2B5EF4-FFF2-40B4-BE49-F238E27FC236}">
                  <a16:creationId xmlns:a16="http://schemas.microsoft.com/office/drawing/2014/main" id="{7A9BEACB-A9C5-49A6-8DA3-EE8A6710D58D}"/>
                </a:ext>
              </a:extLst>
            </p:cNvPr>
            <p:cNvSpPr>
              <a:spLocks noChangeArrowheads="1"/>
            </p:cNvSpPr>
            <p:nvPr/>
          </p:nvSpPr>
          <p:spPr bwMode="auto">
            <a:xfrm>
              <a:off x="4591050" y="3910016"/>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sp>
          <p:nvSpPr>
            <p:cNvPr id="18475" name="Прямоугольник 88">
              <a:extLst>
                <a:ext uri="{FF2B5EF4-FFF2-40B4-BE49-F238E27FC236}">
                  <a16:creationId xmlns:a16="http://schemas.microsoft.com/office/drawing/2014/main" id="{83C580E4-07A3-40EE-8194-61507008F51B}"/>
                </a:ext>
              </a:extLst>
            </p:cNvPr>
            <p:cNvSpPr>
              <a:spLocks noChangeArrowheads="1"/>
            </p:cNvSpPr>
            <p:nvPr/>
          </p:nvSpPr>
          <p:spPr bwMode="auto">
            <a:xfrm>
              <a:off x="3690931" y="3900491"/>
              <a:ext cx="357190" cy="142876"/>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5A43073-703C-4CFF-A915-3B2730B1B218}"/>
              </a:ext>
            </a:extLst>
          </p:cNvPr>
          <p:cNvSpPr>
            <a:spLocks noGrp="1"/>
          </p:cNvSpPr>
          <p:nvPr>
            <p:ph type="title"/>
          </p:nvPr>
        </p:nvSpPr>
        <p:spPr/>
        <p:txBody>
          <a:bodyPr/>
          <a:lstStyle/>
          <a:p>
            <a:r>
              <a:rPr lang="en-US" altLang="en-US"/>
              <a:t>Factors Affecting Glitch</a:t>
            </a:r>
          </a:p>
        </p:txBody>
      </p:sp>
      <p:sp>
        <p:nvSpPr>
          <p:cNvPr id="19459" name="Content Placeholder 4">
            <a:extLst>
              <a:ext uri="{FF2B5EF4-FFF2-40B4-BE49-F238E27FC236}">
                <a16:creationId xmlns:a16="http://schemas.microsoft.com/office/drawing/2014/main" id="{B127EA71-2EA2-44B4-97AA-EE3C17194D84}"/>
              </a:ext>
            </a:extLst>
          </p:cNvPr>
          <p:cNvSpPr>
            <a:spLocks noGrp="1"/>
          </p:cNvSpPr>
          <p:nvPr>
            <p:ph type="body" sz="quarter" idx="10"/>
          </p:nvPr>
        </p:nvSpPr>
        <p:spPr/>
        <p:txBody>
          <a:bodyPr/>
          <a:lstStyle/>
          <a:p>
            <a:r>
              <a:rPr lang="en-US" altLang="en-US"/>
              <a:t>Factors for large magnitude of glitch:</a:t>
            </a:r>
          </a:p>
          <a:p>
            <a:pPr lvl="1"/>
            <a:r>
              <a:rPr lang="en-US" altLang="en-US"/>
              <a:t>Large coupling capacitance </a:t>
            </a:r>
          </a:p>
          <a:p>
            <a:pPr lvl="1"/>
            <a:r>
              <a:rPr lang="en-US" altLang="en-US"/>
              <a:t>Fast slew time on the aggressor</a:t>
            </a:r>
          </a:p>
          <a:p>
            <a:pPr lvl="1"/>
            <a:r>
              <a:rPr lang="en-US" altLang="en-US"/>
              <a:t>Smaller victim net grounded capacitance</a:t>
            </a:r>
          </a:p>
          <a:p>
            <a:pPr lvl="1"/>
            <a:r>
              <a:rPr lang="en-US" altLang="en-US"/>
              <a:t>Smaller victim net driving strength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89DDC49-01CB-4374-98BE-0EEE37A3B3D0}"/>
              </a:ext>
            </a:extLst>
          </p:cNvPr>
          <p:cNvSpPr>
            <a:spLocks noGrp="1"/>
          </p:cNvSpPr>
          <p:nvPr>
            <p:ph type="title"/>
          </p:nvPr>
        </p:nvSpPr>
        <p:spPr/>
        <p:txBody>
          <a:bodyPr/>
          <a:lstStyle/>
          <a:p>
            <a:r>
              <a:rPr lang="en-US" altLang="en-US"/>
              <a:t>Types of Glitches</a:t>
            </a:r>
          </a:p>
        </p:txBody>
      </p:sp>
      <p:sp>
        <p:nvSpPr>
          <p:cNvPr id="20483" name="Content Placeholder 6">
            <a:extLst>
              <a:ext uri="{FF2B5EF4-FFF2-40B4-BE49-F238E27FC236}">
                <a16:creationId xmlns:a16="http://schemas.microsoft.com/office/drawing/2014/main" id="{C43DFDE0-13C4-4FA3-B5BD-BD9916A24866}"/>
              </a:ext>
            </a:extLst>
          </p:cNvPr>
          <p:cNvSpPr>
            <a:spLocks noGrp="1"/>
          </p:cNvSpPr>
          <p:nvPr>
            <p:ph type="body" sz="quarter" idx="10"/>
          </p:nvPr>
        </p:nvSpPr>
        <p:spPr/>
        <p:txBody>
          <a:bodyPr/>
          <a:lstStyle/>
          <a:p>
            <a:r>
              <a:rPr lang="en-US" altLang="en-US"/>
              <a:t>Rise and fall glitches</a:t>
            </a:r>
          </a:p>
          <a:p>
            <a:r>
              <a:rPr lang="en-US" altLang="en-US"/>
              <a:t>Overshoot and undershoot glitches  </a:t>
            </a:r>
          </a:p>
          <a:p>
            <a:endParaRPr lang="en-US" altLang="en-US"/>
          </a:p>
        </p:txBody>
      </p:sp>
      <p:grpSp>
        <p:nvGrpSpPr>
          <p:cNvPr id="20484" name="Группа 28">
            <a:extLst>
              <a:ext uri="{FF2B5EF4-FFF2-40B4-BE49-F238E27FC236}">
                <a16:creationId xmlns:a16="http://schemas.microsoft.com/office/drawing/2014/main" id="{46C99F04-EB99-4F78-B35C-D8B3D3898688}"/>
              </a:ext>
            </a:extLst>
          </p:cNvPr>
          <p:cNvGrpSpPr>
            <a:grpSpLocks/>
          </p:cNvGrpSpPr>
          <p:nvPr/>
        </p:nvGrpSpPr>
        <p:grpSpPr bwMode="auto">
          <a:xfrm>
            <a:off x="2676526" y="2581275"/>
            <a:ext cx="6391275" cy="3151188"/>
            <a:chOff x="1153160" y="2181255"/>
            <a:chExt cx="6390640" cy="3152745"/>
          </a:xfrm>
        </p:grpSpPr>
        <p:cxnSp>
          <p:nvCxnSpPr>
            <p:cNvPr id="9" name="Straight Connector 8">
              <a:extLst>
                <a:ext uri="{FF2B5EF4-FFF2-40B4-BE49-F238E27FC236}">
                  <a16:creationId xmlns:a16="http://schemas.microsoft.com/office/drawing/2014/main" id="{48615036-5CCB-4E72-89D6-9DA84B5216EA}"/>
                </a:ext>
              </a:extLst>
            </p:cNvPr>
            <p:cNvCxnSpPr/>
            <p:nvPr/>
          </p:nvCxnSpPr>
          <p:spPr bwMode="auto">
            <a:xfrm>
              <a:off x="1619839" y="3126285"/>
              <a:ext cx="1295271"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D3DB5311-0019-4624-A09D-BEB411159BBC}"/>
                </a:ext>
              </a:extLst>
            </p:cNvPr>
            <p:cNvCxnSpPr/>
            <p:nvPr/>
          </p:nvCxnSpPr>
          <p:spPr bwMode="auto">
            <a:xfrm>
              <a:off x="3378614" y="3124696"/>
              <a:ext cx="838117"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379A078-E59C-4F5F-BA9E-8EA1668BEAE4}"/>
                </a:ext>
              </a:extLst>
            </p:cNvPr>
            <p:cNvCxnSpPr/>
            <p:nvPr/>
          </p:nvCxnSpPr>
          <p:spPr bwMode="auto">
            <a:xfrm>
              <a:off x="4692933" y="3127872"/>
              <a:ext cx="533347"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 name="Freeform 11">
              <a:extLst>
                <a:ext uri="{FF2B5EF4-FFF2-40B4-BE49-F238E27FC236}">
                  <a16:creationId xmlns:a16="http://schemas.microsoft.com/office/drawing/2014/main" id="{F61EBDD4-71AA-4934-8F29-F9EAC40DD306}"/>
                </a:ext>
              </a:extLst>
            </p:cNvPr>
            <p:cNvSpPr/>
            <p:nvPr/>
          </p:nvSpPr>
          <p:spPr bwMode="auto">
            <a:xfrm>
              <a:off x="2915110" y="2408380"/>
              <a:ext cx="487315" cy="725845"/>
            </a:xfrm>
            <a:custGeom>
              <a:avLst/>
              <a:gdLst>
                <a:gd name="connsiteX0" fmla="*/ 0 w 487680"/>
                <a:gd name="connsiteY0" fmla="*/ 725170 h 725170"/>
                <a:gd name="connsiteX1" fmla="*/ 99060 w 487680"/>
                <a:gd name="connsiteY1" fmla="*/ 557530 h 725170"/>
                <a:gd name="connsiteX2" fmla="*/ 114300 w 487680"/>
                <a:gd name="connsiteY2" fmla="*/ 344170 h 725170"/>
                <a:gd name="connsiteX3" fmla="*/ 137160 w 487680"/>
                <a:gd name="connsiteY3" fmla="*/ 153670 h 725170"/>
                <a:gd name="connsiteX4" fmla="*/ 213360 w 487680"/>
                <a:gd name="connsiteY4" fmla="*/ 24130 h 725170"/>
                <a:gd name="connsiteX5" fmla="*/ 243840 w 487680"/>
                <a:gd name="connsiteY5" fmla="*/ 8890 h 725170"/>
                <a:gd name="connsiteX6" fmla="*/ 304800 w 487680"/>
                <a:gd name="connsiteY6" fmla="*/ 62230 h 725170"/>
                <a:gd name="connsiteX7" fmla="*/ 350520 w 487680"/>
                <a:gd name="connsiteY7" fmla="*/ 222250 h 725170"/>
                <a:gd name="connsiteX8" fmla="*/ 365760 w 487680"/>
                <a:gd name="connsiteY8" fmla="*/ 466090 h 725170"/>
                <a:gd name="connsiteX9" fmla="*/ 396240 w 487680"/>
                <a:gd name="connsiteY9" fmla="*/ 610870 h 725170"/>
                <a:gd name="connsiteX10" fmla="*/ 441960 w 487680"/>
                <a:gd name="connsiteY10" fmla="*/ 702310 h 725170"/>
                <a:gd name="connsiteX11" fmla="*/ 487680 w 487680"/>
                <a:gd name="connsiteY11" fmla="*/ 717550 h 725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7680" h="725170">
                  <a:moveTo>
                    <a:pt x="0" y="725170"/>
                  </a:moveTo>
                  <a:cubicBezTo>
                    <a:pt x="40005" y="673100"/>
                    <a:pt x="80010" y="621030"/>
                    <a:pt x="99060" y="557530"/>
                  </a:cubicBezTo>
                  <a:cubicBezTo>
                    <a:pt x="118110" y="494030"/>
                    <a:pt x="107950" y="411480"/>
                    <a:pt x="114300" y="344170"/>
                  </a:cubicBezTo>
                  <a:cubicBezTo>
                    <a:pt x="120650" y="276860"/>
                    <a:pt x="120650" y="207010"/>
                    <a:pt x="137160" y="153670"/>
                  </a:cubicBezTo>
                  <a:cubicBezTo>
                    <a:pt x="153670" y="100330"/>
                    <a:pt x="195580" y="48260"/>
                    <a:pt x="213360" y="24130"/>
                  </a:cubicBezTo>
                  <a:cubicBezTo>
                    <a:pt x="231140" y="0"/>
                    <a:pt x="228600" y="2540"/>
                    <a:pt x="243840" y="8890"/>
                  </a:cubicBezTo>
                  <a:cubicBezTo>
                    <a:pt x="259080" y="15240"/>
                    <a:pt x="287020" y="26670"/>
                    <a:pt x="304800" y="62230"/>
                  </a:cubicBezTo>
                  <a:cubicBezTo>
                    <a:pt x="322580" y="97790"/>
                    <a:pt x="340360" y="154940"/>
                    <a:pt x="350520" y="222250"/>
                  </a:cubicBezTo>
                  <a:cubicBezTo>
                    <a:pt x="360680" y="289560"/>
                    <a:pt x="358140" y="401320"/>
                    <a:pt x="365760" y="466090"/>
                  </a:cubicBezTo>
                  <a:cubicBezTo>
                    <a:pt x="373380" y="530860"/>
                    <a:pt x="383540" y="571500"/>
                    <a:pt x="396240" y="610870"/>
                  </a:cubicBezTo>
                  <a:cubicBezTo>
                    <a:pt x="408940" y="650240"/>
                    <a:pt x="426720" y="684530"/>
                    <a:pt x="441960" y="702310"/>
                  </a:cubicBezTo>
                  <a:cubicBezTo>
                    <a:pt x="457200" y="720090"/>
                    <a:pt x="472440" y="718820"/>
                    <a:pt x="487680" y="71755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3" name="Freeform 12">
              <a:extLst>
                <a:ext uri="{FF2B5EF4-FFF2-40B4-BE49-F238E27FC236}">
                  <a16:creationId xmlns:a16="http://schemas.microsoft.com/office/drawing/2014/main" id="{EC364CD8-73C5-4B3C-A948-23F55153817F}"/>
                </a:ext>
              </a:extLst>
            </p:cNvPr>
            <p:cNvSpPr/>
            <p:nvPr/>
          </p:nvSpPr>
          <p:spPr bwMode="auto">
            <a:xfrm>
              <a:off x="4204032" y="3118343"/>
              <a:ext cx="525411" cy="733787"/>
            </a:xfrm>
            <a:custGeom>
              <a:avLst/>
              <a:gdLst>
                <a:gd name="connsiteX0" fmla="*/ 0 w 525780"/>
                <a:gd name="connsiteY0" fmla="*/ 0 h 734060"/>
                <a:gd name="connsiteX1" fmla="*/ 76200 w 525780"/>
                <a:gd name="connsiteY1" fmla="*/ 45720 h 734060"/>
                <a:gd name="connsiteX2" fmla="*/ 106680 w 525780"/>
                <a:gd name="connsiteY2" fmla="*/ 144780 h 734060"/>
                <a:gd name="connsiteX3" fmla="*/ 144780 w 525780"/>
                <a:gd name="connsiteY3" fmla="*/ 327660 h 734060"/>
                <a:gd name="connsiteX4" fmla="*/ 152400 w 525780"/>
                <a:gd name="connsiteY4" fmla="*/ 495300 h 734060"/>
                <a:gd name="connsiteX5" fmla="*/ 190500 w 525780"/>
                <a:gd name="connsiteY5" fmla="*/ 647700 h 734060"/>
                <a:gd name="connsiteX6" fmla="*/ 251460 w 525780"/>
                <a:gd name="connsiteY6" fmla="*/ 723900 h 734060"/>
                <a:gd name="connsiteX7" fmla="*/ 297180 w 525780"/>
                <a:gd name="connsiteY7" fmla="*/ 708660 h 734060"/>
                <a:gd name="connsiteX8" fmla="*/ 358140 w 525780"/>
                <a:gd name="connsiteY8" fmla="*/ 571500 h 734060"/>
                <a:gd name="connsiteX9" fmla="*/ 381000 w 525780"/>
                <a:gd name="connsiteY9" fmla="*/ 358140 h 734060"/>
                <a:gd name="connsiteX10" fmla="*/ 411480 w 525780"/>
                <a:gd name="connsiteY10" fmla="*/ 144780 h 734060"/>
                <a:gd name="connsiteX11" fmla="*/ 464820 w 525780"/>
                <a:gd name="connsiteY11" fmla="*/ 30480 h 734060"/>
                <a:gd name="connsiteX12" fmla="*/ 525780 w 525780"/>
                <a:gd name="connsiteY12" fmla="*/ 7620 h 73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5780" h="734060">
                  <a:moveTo>
                    <a:pt x="0" y="0"/>
                  </a:moveTo>
                  <a:cubicBezTo>
                    <a:pt x="29210" y="10795"/>
                    <a:pt x="58420" y="21590"/>
                    <a:pt x="76200" y="45720"/>
                  </a:cubicBezTo>
                  <a:cubicBezTo>
                    <a:pt x="93980" y="69850"/>
                    <a:pt x="95250" y="97790"/>
                    <a:pt x="106680" y="144780"/>
                  </a:cubicBezTo>
                  <a:cubicBezTo>
                    <a:pt x="118110" y="191770"/>
                    <a:pt x="137160" y="269240"/>
                    <a:pt x="144780" y="327660"/>
                  </a:cubicBezTo>
                  <a:cubicBezTo>
                    <a:pt x="152400" y="386080"/>
                    <a:pt x="144780" y="441960"/>
                    <a:pt x="152400" y="495300"/>
                  </a:cubicBezTo>
                  <a:cubicBezTo>
                    <a:pt x="160020" y="548640"/>
                    <a:pt x="173990" y="609600"/>
                    <a:pt x="190500" y="647700"/>
                  </a:cubicBezTo>
                  <a:cubicBezTo>
                    <a:pt x="207010" y="685800"/>
                    <a:pt x="233680" y="713740"/>
                    <a:pt x="251460" y="723900"/>
                  </a:cubicBezTo>
                  <a:cubicBezTo>
                    <a:pt x="269240" y="734060"/>
                    <a:pt x="279400" y="734060"/>
                    <a:pt x="297180" y="708660"/>
                  </a:cubicBezTo>
                  <a:cubicBezTo>
                    <a:pt x="314960" y="683260"/>
                    <a:pt x="344170" y="629920"/>
                    <a:pt x="358140" y="571500"/>
                  </a:cubicBezTo>
                  <a:cubicBezTo>
                    <a:pt x="372110" y="513080"/>
                    <a:pt x="372110" y="429260"/>
                    <a:pt x="381000" y="358140"/>
                  </a:cubicBezTo>
                  <a:cubicBezTo>
                    <a:pt x="389890" y="287020"/>
                    <a:pt x="397510" y="199390"/>
                    <a:pt x="411480" y="144780"/>
                  </a:cubicBezTo>
                  <a:cubicBezTo>
                    <a:pt x="425450" y="90170"/>
                    <a:pt x="445770" y="53340"/>
                    <a:pt x="464820" y="30480"/>
                  </a:cubicBezTo>
                  <a:cubicBezTo>
                    <a:pt x="483870" y="7620"/>
                    <a:pt x="504825" y="7620"/>
                    <a:pt x="525780" y="762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14" name="Straight Connector 13">
              <a:extLst>
                <a:ext uri="{FF2B5EF4-FFF2-40B4-BE49-F238E27FC236}">
                  <a16:creationId xmlns:a16="http://schemas.microsoft.com/office/drawing/2014/main" id="{C246A97D-46EE-4FB7-ADA4-E79414E880C4}"/>
                </a:ext>
              </a:extLst>
            </p:cNvPr>
            <p:cNvCxnSpPr/>
            <p:nvPr/>
          </p:nvCxnSpPr>
          <p:spPr bwMode="auto">
            <a:xfrm>
              <a:off x="4507215" y="4398500"/>
              <a:ext cx="990502"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A80C1A1-756A-4C34-B0AA-28C3BB081FDF}"/>
                </a:ext>
              </a:extLst>
            </p:cNvPr>
            <p:cNvCxnSpPr/>
            <p:nvPr/>
          </p:nvCxnSpPr>
          <p:spPr bwMode="auto">
            <a:xfrm>
              <a:off x="5962807" y="4398500"/>
              <a:ext cx="761924"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D000362-D2FF-4640-BD40-FD2AFBD3D6AC}"/>
                </a:ext>
              </a:extLst>
            </p:cNvPr>
            <p:cNvCxnSpPr/>
            <p:nvPr/>
          </p:nvCxnSpPr>
          <p:spPr bwMode="auto">
            <a:xfrm>
              <a:off x="7239030" y="4395323"/>
              <a:ext cx="304770"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7" name="Freeform 16">
              <a:extLst>
                <a:ext uri="{FF2B5EF4-FFF2-40B4-BE49-F238E27FC236}">
                  <a16:creationId xmlns:a16="http://schemas.microsoft.com/office/drawing/2014/main" id="{E8DC282E-DA64-41EA-AFFE-E279397BAAB4}"/>
                </a:ext>
              </a:extLst>
            </p:cNvPr>
            <p:cNvSpPr/>
            <p:nvPr/>
          </p:nvSpPr>
          <p:spPr bwMode="auto">
            <a:xfrm>
              <a:off x="5453271" y="3677419"/>
              <a:ext cx="525410" cy="729023"/>
            </a:xfrm>
            <a:custGeom>
              <a:avLst/>
              <a:gdLst>
                <a:gd name="connsiteX0" fmla="*/ 0 w 525780"/>
                <a:gd name="connsiteY0" fmla="*/ 721360 h 728980"/>
                <a:gd name="connsiteX1" fmla="*/ 99060 w 525780"/>
                <a:gd name="connsiteY1" fmla="*/ 645160 h 728980"/>
                <a:gd name="connsiteX2" fmla="*/ 144780 w 525780"/>
                <a:gd name="connsiteY2" fmla="*/ 340360 h 728980"/>
                <a:gd name="connsiteX3" fmla="*/ 175260 w 525780"/>
                <a:gd name="connsiteY3" fmla="*/ 111760 h 728980"/>
                <a:gd name="connsiteX4" fmla="*/ 243840 w 525780"/>
                <a:gd name="connsiteY4" fmla="*/ 12700 h 728980"/>
                <a:gd name="connsiteX5" fmla="*/ 297180 w 525780"/>
                <a:gd name="connsiteY5" fmla="*/ 35560 h 728980"/>
                <a:gd name="connsiteX6" fmla="*/ 358140 w 525780"/>
                <a:gd name="connsiteY6" fmla="*/ 165100 h 728980"/>
                <a:gd name="connsiteX7" fmla="*/ 388620 w 525780"/>
                <a:gd name="connsiteY7" fmla="*/ 447040 h 728980"/>
                <a:gd name="connsiteX8" fmla="*/ 426720 w 525780"/>
                <a:gd name="connsiteY8" fmla="*/ 645160 h 728980"/>
                <a:gd name="connsiteX9" fmla="*/ 525780 w 525780"/>
                <a:gd name="connsiteY9" fmla="*/ 728980 h 728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5780" h="728980">
                  <a:moveTo>
                    <a:pt x="0" y="721360"/>
                  </a:moveTo>
                  <a:cubicBezTo>
                    <a:pt x="37465" y="715010"/>
                    <a:pt x="74930" y="708660"/>
                    <a:pt x="99060" y="645160"/>
                  </a:cubicBezTo>
                  <a:cubicBezTo>
                    <a:pt x="123190" y="581660"/>
                    <a:pt x="132080" y="429260"/>
                    <a:pt x="144780" y="340360"/>
                  </a:cubicBezTo>
                  <a:cubicBezTo>
                    <a:pt x="157480" y="251460"/>
                    <a:pt x="158750" y="166370"/>
                    <a:pt x="175260" y="111760"/>
                  </a:cubicBezTo>
                  <a:cubicBezTo>
                    <a:pt x="191770" y="57150"/>
                    <a:pt x="223520" y="25400"/>
                    <a:pt x="243840" y="12700"/>
                  </a:cubicBezTo>
                  <a:cubicBezTo>
                    <a:pt x="264160" y="0"/>
                    <a:pt x="278130" y="10160"/>
                    <a:pt x="297180" y="35560"/>
                  </a:cubicBezTo>
                  <a:cubicBezTo>
                    <a:pt x="316230" y="60960"/>
                    <a:pt x="342900" y="96520"/>
                    <a:pt x="358140" y="165100"/>
                  </a:cubicBezTo>
                  <a:cubicBezTo>
                    <a:pt x="373380" y="233680"/>
                    <a:pt x="377190" y="367030"/>
                    <a:pt x="388620" y="447040"/>
                  </a:cubicBezTo>
                  <a:cubicBezTo>
                    <a:pt x="400050" y="527050"/>
                    <a:pt x="403860" y="598170"/>
                    <a:pt x="426720" y="645160"/>
                  </a:cubicBezTo>
                  <a:cubicBezTo>
                    <a:pt x="449580" y="692150"/>
                    <a:pt x="487680" y="710565"/>
                    <a:pt x="525780" y="72898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8" name="Freeform 17">
              <a:extLst>
                <a:ext uri="{FF2B5EF4-FFF2-40B4-BE49-F238E27FC236}">
                  <a16:creationId xmlns:a16="http://schemas.microsoft.com/office/drawing/2014/main" id="{430D0D40-382A-40BA-B365-46DC5C5514EF}"/>
                </a:ext>
              </a:extLst>
            </p:cNvPr>
            <p:cNvSpPr/>
            <p:nvPr/>
          </p:nvSpPr>
          <p:spPr bwMode="auto">
            <a:xfrm>
              <a:off x="6710446" y="4385794"/>
              <a:ext cx="541283" cy="727434"/>
            </a:xfrm>
            <a:custGeom>
              <a:avLst/>
              <a:gdLst>
                <a:gd name="connsiteX0" fmla="*/ 0 w 541020"/>
                <a:gd name="connsiteY0" fmla="*/ 13970 h 727710"/>
                <a:gd name="connsiteX1" fmla="*/ 106680 w 541020"/>
                <a:gd name="connsiteY1" fmla="*/ 59690 h 727710"/>
                <a:gd name="connsiteX2" fmla="*/ 160020 w 541020"/>
                <a:gd name="connsiteY2" fmla="*/ 227330 h 727710"/>
                <a:gd name="connsiteX3" fmla="*/ 175260 w 541020"/>
                <a:gd name="connsiteY3" fmla="*/ 478790 h 727710"/>
                <a:gd name="connsiteX4" fmla="*/ 205740 w 541020"/>
                <a:gd name="connsiteY4" fmla="*/ 608330 h 727710"/>
                <a:gd name="connsiteX5" fmla="*/ 274320 w 541020"/>
                <a:gd name="connsiteY5" fmla="*/ 715010 h 727710"/>
                <a:gd name="connsiteX6" fmla="*/ 335280 w 541020"/>
                <a:gd name="connsiteY6" fmla="*/ 684530 h 727710"/>
                <a:gd name="connsiteX7" fmla="*/ 396240 w 541020"/>
                <a:gd name="connsiteY7" fmla="*/ 486410 h 727710"/>
                <a:gd name="connsiteX8" fmla="*/ 411480 w 541020"/>
                <a:gd name="connsiteY8" fmla="*/ 250190 h 727710"/>
                <a:gd name="connsiteX9" fmla="*/ 457200 w 541020"/>
                <a:gd name="connsiteY9" fmla="*/ 97790 h 727710"/>
                <a:gd name="connsiteX10" fmla="*/ 525780 w 541020"/>
                <a:gd name="connsiteY10" fmla="*/ 13970 h 727710"/>
                <a:gd name="connsiteX11" fmla="*/ 541020 w 541020"/>
                <a:gd name="connsiteY11" fmla="*/ 13970 h 727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1020" h="727710">
                  <a:moveTo>
                    <a:pt x="0" y="13970"/>
                  </a:moveTo>
                  <a:cubicBezTo>
                    <a:pt x="40005" y="19050"/>
                    <a:pt x="80010" y="24130"/>
                    <a:pt x="106680" y="59690"/>
                  </a:cubicBezTo>
                  <a:cubicBezTo>
                    <a:pt x="133350" y="95250"/>
                    <a:pt x="148590" y="157480"/>
                    <a:pt x="160020" y="227330"/>
                  </a:cubicBezTo>
                  <a:cubicBezTo>
                    <a:pt x="171450" y="297180"/>
                    <a:pt x="167640" y="415290"/>
                    <a:pt x="175260" y="478790"/>
                  </a:cubicBezTo>
                  <a:cubicBezTo>
                    <a:pt x="182880" y="542290"/>
                    <a:pt x="189230" y="568960"/>
                    <a:pt x="205740" y="608330"/>
                  </a:cubicBezTo>
                  <a:cubicBezTo>
                    <a:pt x="222250" y="647700"/>
                    <a:pt x="252730" y="702310"/>
                    <a:pt x="274320" y="715010"/>
                  </a:cubicBezTo>
                  <a:cubicBezTo>
                    <a:pt x="295910" y="727710"/>
                    <a:pt x="314960" y="722630"/>
                    <a:pt x="335280" y="684530"/>
                  </a:cubicBezTo>
                  <a:cubicBezTo>
                    <a:pt x="355600" y="646430"/>
                    <a:pt x="383540" y="558800"/>
                    <a:pt x="396240" y="486410"/>
                  </a:cubicBezTo>
                  <a:cubicBezTo>
                    <a:pt x="408940" y="414020"/>
                    <a:pt x="401320" y="314960"/>
                    <a:pt x="411480" y="250190"/>
                  </a:cubicBezTo>
                  <a:cubicBezTo>
                    <a:pt x="421640" y="185420"/>
                    <a:pt x="438150" y="137160"/>
                    <a:pt x="457200" y="97790"/>
                  </a:cubicBezTo>
                  <a:cubicBezTo>
                    <a:pt x="476250" y="58420"/>
                    <a:pt x="511810" y="27940"/>
                    <a:pt x="525780" y="13970"/>
                  </a:cubicBezTo>
                  <a:cubicBezTo>
                    <a:pt x="539750" y="0"/>
                    <a:pt x="540385" y="6985"/>
                    <a:pt x="541020" y="1397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20495" name="Elbow Connector 18">
              <a:extLst>
                <a:ext uri="{FF2B5EF4-FFF2-40B4-BE49-F238E27FC236}">
                  <a16:creationId xmlns:a16="http://schemas.microsoft.com/office/drawing/2014/main" id="{406DDEB5-68EB-4A29-8591-DE44A4CA50DB}"/>
                </a:ext>
              </a:extLst>
            </p:cNvPr>
            <p:cNvCxnSpPr>
              <a:cxnSpLocks noChangeShapeType="1"/>
            </p:cNvCxnSpPr>
            <p:nvPr/>
          </p:nvCxnSpPr>
          <p:spPr bwMode="auto">
            <a:xfrm flipV="1">
              <a:off x="1619885" y="3171855"/>
              <a:ext cx="2590800" cy="1295400"/>
            </a:xfrm>
            <a:prstGeom prst="bentConnector3">
              <a:avLst>
                <a:gd name="adj1" fmla="val 50000"/>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496" name="Elbow Connector 19">
              <a:extLst>
                <a:ext uri="{FF2B5EF4-FFF2-40B4-BE49-F238E27FC236}">
                  <a16:creationId xmlns:a16="http://schemas.microsoft.com/office/drawing/2014/main" id="{22DB67B7-B019-4D55-8CA2-9FECC05CCC87}"/>
                </a:ext>
              </a:extLst>
            </p:cNvPr>
            <p:cNvCxnSpPr>
              <a:cxnSpLocks noChangeShapeType="1"/>
            </p:cNvCxnSpPr>
            <p:nvPr/>
          </p:nvCxnSpPr>
          <p:spPr bwMode="auto">
            <a:xfrm>
              <a:off x="4134485" y="3171855"/>
              <a:ext cx="1371600" cy="1295400"/>
            </a:xfrm>
            <a:prstGeom prst="bentConnector3">
              <a:avLst>
                <a:gd name="adj1" fmla="val 3333"/>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497" name="Elbow Connector 20">
              <a:extLst>
                <a:ext uri="{FF2B5EF4-FFF2-40B4-BE49-F238E27FC236}">
                  <a16:creationId xmlns:a16="http://schemas.microsoft.com/office/drawing/2014/main" id="{3AC5741E-8094-40CE-A834-F3B7B27B17BD}"/>
                </a:ext>
              </a:extLst>
            </p:cNvPr>
            <p:cNvCxnSpPr>
              <a:cxnSpLocks noChangeShapeType="1"/>
            </p:cNvCxnSpPr>
            <p:nvPr/>
          </p:nvCxnSpPr>
          <p:spPr bwMode="auto">
            <a:xfrm flipV="1">
              <a:off x="5478145" y="3171855"/>
              <a:ext cx="1272540" cy="1226820"/>
            </a:xfrm>
            <a:prstGeom prst="bentConnector3">
              <a:avLst>
                <a:gd name="adj1" fmla="val 898"/>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0498" name="Elbow Connector 21">
              <a:extLst>
                <a:ext uri="{FF2B5EF4-FFF2-40B4-BE49-F238E27FC236}">
                  <a16:creationId xmlns:a16="http://schemas.microsoft.com/office/drawing/2014/main" id="{8BB5AD9E-A50B-483F-81AB-7010BBB2E00D}"/>
                </a:ext>
              </a:extLst>
            </p:cNvPr>
            <p:cNvCxnSpPr>
              <a:cxnSpLocks noChangeShapeType="1"/>
            </p:cNvCxnSpPr>
            <p:nvPr/>
          </p:nvCxnSpPr>
          <p:spPr bwMode="auto">
            <a:xfrm rot="16200000" flipH="1">
              <a:off x="6445885" y="3476655"/>
              <a:ext cx="1295400" cy="685800"/>
            </a:xfrm>
            <a:prstGeom prst="bentConnector3">
              <a:avLst>
                <a:gd name="adj1" fmla="val 100051"/>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sp>
          <p:nvSpPr>
            <p:cNvPr id="20499" name="Freeform 22">
              <a:extLst>
                <a:ext uri="{FF2B5EF4-FFF2-40B4-BE49-F238E27FC236}">
                  <a16:creationId xmlns:a16="http://schemas.microsoft.com/office/drawing/2014/main" id="{735F3F87-EB4C-4409-8629-29402B1BFB0C}"/>
                </a:ext>
              </a:extLst>
            </p:cNvPr>
            <p:cNvSpPr>
              <a:spLocks/>
            </p:cNvSpPr>
            <p:nvPr/>
          </p:nvSpPr>
          <p:spPr bwMode="auto">
            <a:xfrm>
              <a:off x="1833245" y="3225195"/>
              <a:ext cx="419100" cy="396240"/>
            </a:xfrm>
            <a:custGeom>
              <a:avLst/>
              <a:gdLst>
                <a:gd name="T0" fmla="*/ 0 w 419100"/>
                <a:gd name="T1" fmla="*/ 396240 h 396240"/>
                <a:gd name="T2" fmla="*/ 243840 w 419100"/>
                <a:gd name="T3" fmla="*/ 266700 h 396240"/>
                <a:gd name="T4" fmla="*/ 381000 w 419100"/>
                <a:gd name="T5" fmla="*/ 114300 h 396240"/>
                <a:gd name="T6" fmla="*/ 419100 w 419100"/>
                <a:gd name="T7" fmla="*/ 0 h 396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19100" h="396240">
                  <a:moveTo>
                    <a:pt x="0" y="396240"/>
                  </a:moveTo>
                  <a:cubicBezTo>
                    <a:pt x="90170" y="354965"/>
                    <a:pt x="180340" y="313690"/>
                    <a:pt x="243840" y="266700"/>
                  </a:cubicBezTo>
                  <a:cubicBezTo>
                    <a:pt x="307340" y="219710"/>
                    <a:pt x="351790" y="158750"/>
                    <a:pt x="381000" y="114300"/>
                  </a:cubicBezTo>
                  <a:cubicBezTo>
                    <a:pt x="410210" y="69850"/>
                    <a:pt x="414655" y="34925"/>
                    <a:pt x="41910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0500" name="Freeform 23">
              <a:extLst>
                <a:ext uri="{FF2B5EF4-FFF2-40B4-BE49-F238E27FC236}">
                  <a16:creationId xmlns:a16="http://schemas.microsoft.com/office/drawing/2014/main" id="{2B4963FF-10E3-4830-A303-D4CE41C3CD36}"/>
                </a:ext>
              </a:extLst>
            </p:cNvPr>
            <p:cNvSpPr>
              <a:spLocks/>
            </p:cNvSpPr>
            <p:nvPr/>
          </p:nvSpPr>
          <p:spPr bwMode="auto">
            <a:xfrm>
              <a:off x="2298065" y="4505355"/>
              <a:ext cx="160020" cy="450850"/>
            </a:xfrm>
            <a:custGeom>
              <a:avLst/>
              <a:gdLst>
                <a:gd name="T0" fmla="*/ 0 w 160020"/>
                <a:gd name="T1" fmla="*/ 449580 h 450850"/>
                <a:gd name="T2" fmla="*/ 91440 w 160020"/>
                <a:gd name="T3" fmla="*/ 403860 h 450850"/>
                <a:gd name="T4" fmla="*/ 106680 w 160020"/>
                <a:gd name="T5" fmla="*/ 167640 h 450850"/>
                <a:gd name="T6" fmla="*/ 160020 w 160020"/>
                <a:gd name="T7" fmla="*/ 0 h 45085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0020" h="450850">
                  <a:moveTo>
                    <a:pt x="0" y="449580"/>
                  </a:moveTo>
                  <a:cubicBezTo>
                    <a:pt x="36830" y="450215"/>
                    <a:pt x="73660" y="450850"/>
                    <a:pt x="91440" y="403860"/>
                  </a:cubicBezTo>
                  <a:cubicBezTo>
                    <a:pt x="109220" y="356870"/>
                    <a:pt x="95250" y="234950"/>
                    <a:pt x="106680" y="167640"/>
                  </a:cubicBezTo>
                  <a:cubicBezTo>
                    <a:pt x="118110" y="100330"/>
                    <a:pt x="139065" y="50165"/>
                    <a:pt x="16002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0501" name="Freeform 24">
              <a:extLst>
                <a:ext uri="{FF2B5EF4-FFF2-40B4-BE49-F238E27FC236}">
                  <a16:creationId xmlns:a16="http://schemas.microsoft.com/office/drawing/2014/main" id="{0D439388-01B8-4C99-A829-735BB4DE7A1C}"/>
                </a:ext>
              </a:extLst>
            </p:cNvPr>
            <p:cNvSpPr>
              <a:spLocks/>
            </p:cNvSpPr>
            <p:nvPr/>
          </p:nvSpPr>
          <p:spPr bwMode="auto">
            <a:xfrm>
              <a:off x="1810385" y="3834795"/>
              <a:ext cx="2758440" cy="495300"/>
            </a:xfrm>
            <a:custGeom>
              <a:avLst/>
              <a:gdLst>
                <a:gd name="T0" fmla="*/ 0 w 2758440"/>
                <a:gd name="T1" fmla="*/ 0 h 495300"/>
                <a:gd name="T2" fmla="*/ 1211580 w 2758440"/>
                <a:gd name="T3" fmla="*/ 152400 h 495300"/>
                <a:gd name="T4" fmla="*/ 1935480 w 2758440"/>
                <a:gd name="T5" fmla="*/ 365760 h 495300"/>
                <a:gd name="T6" fmla="*/ 2758440 w 2758440"/>
                <a:gd name="T7" fmla="*/ 495300 h 4953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58440" h="495300">
                  <a:moveTo>
                    <a:pt x="0" y="0"/>
                  </a:moveTo>
                  <a:cubicBezTo>
                    <a:pt x="444500" y="45720"/>
                    <a:pt x="889000" y="91440"/>
                    <a:pt x="1211580" y="152400"/>
                  </a:cubicBezTo>
                  <a:cubicBezTo>
                    <a:pt x="1534160" y="213360"/>
                    <a:pt x="1677670" y="308610"/>
                    <a:pt x="1935480" y="365760"/>
                  </a:cubicBezTo>
                  <a:cubicBezTo>
                    <a:pt x="2193290" y="422910"/>
                    <a:pt x="2475865" y="459105"/>
                    <a:pt x="2758440" y="4953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0502" name="TextBox 25">
              <a:extLst>
                <a:ext uri="{FF2B5EF4-FFF2-40B4-BE49-F238E27FC236}">
                  <a16:creationId xmlns:a16="http://schemas.microsoft.com/office/drawing/2014/main" id="{89B40294-B76F-467E-A574-C3E06614303C}"/>
                </a:ext>
              </a:extLst>
            </p:cNvPr>
            <p:cNvSpPr txBox="1">
              <a:spLocks noChangeArrowheads="1"/>
            </p:cNvSpPr>
            <p:nvPr/>
          </p:nvSpPr>
          <p:spPr bwMode="auto">
            <a:xfrm>
              <a:off x="1153160" y="3571905"/>
              <a:ext cx="6772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Victims</a:t>
              </a:r>
              <a:endParaRPr lang="en-US" altLang="en-US"/>
            </a:p>
          </p:txBody>
        </p:sp>
        <p:sp>
          <p:nvSpPr>
            <p:cNvPr id="20503" name="TextBox 26">
              <a:extLst>
                <a:ext uri="{FF2B5EF4-FFF2-40B4-BE49-F238E27FC236}">
                  <a16:creationId xmlns:a16="http://schemas.microsoft.com/office/drawing/2014/main" id="{BF792ECB-58DD-41A4-BC8D-136AC787F75C}"/>
                </a:ext>
              </a:extLst>
            </p:cNvPr>
            <p:cNvSpPr txBox="1">
              <a:spLocks noChangeArrowheads="1"/>
            </p:cNvSpPr>
            <p:nvPr/>
          </p:nvSpPr>
          <p:spPr bwMode="auto">
            <a:xfrm>
              <a:off x="1391285" y="4799856"/>
              <a:ext cx="8835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Aggressor</a:t>
              </a:r>
              <a:endParaRPr lang="en-US" altLang="en-US"/>
            </a:p>
          </p:txBody>
        </p:sp>
        <p:sp>
          <p:nvSpPr>
            <p:cNvPr id="20504" name="TextBox 27">
              <a:extLst>
                <a:ext uri="{FF2B5EF4-FFF2-40B4-BE49-F238E27FC236}">
                  <a16:creationId xmlns:a16="http://schemas.microsoft.com/office/drawing/2014/main" id="{534EB913-618E-4EA5-932A-7AA7144EC866}"/>
                </a:ext>
              </a:extLst>
            </p:cNvPr>
            <p:cNvSpPr txBox="1">
              <a:spLocks noChangeArrowheads="1"/>
            </p:cNvSpPr>
            <p:nvPr/>
          </p:nvSpPr>
          <p:spPr bwMode="auto">
            <a:xfrm>
              <a:off x="4172580" y="3800505"/>
              <a:ext cx="5421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Fall</a:t>
              </a:r>
            </a:p>
            <a:p>
              <a:pPr eaLnBrk="1" hangingPunct="1"/>
              <a:r>
                <a:rPr lang="en-US" altLang="en-US" sz="1200"/>
                <a:t>glitch</a:t>
              </a:r>
              <a:endParaRPr lang="en-US" altLang="en-US"/>
            </a:p>
          </p:txBody>
        </p:sp>
        <p:sp>
          <p:nvSpPr>
            <p:cNvPr id="20505" name="TextBox 28">
              <a:extLst>
                <a:ext uri="{FF2B5EF4-FFF2-40B4-BE49-F238E27FC236}">
                  <a16:creationId xmlns:a16="http://schemas.microsoft.com/office/drawing/2014/main" id="{F16DE392-D8C9-454E-9313-59323DA6817B}"/>
                </a:ext>
              </a:extLst>
            </p:cNvPr>
            <p:cNvSpPr txBox="1">
              <a:spLocks noChangeArrowheads="1"/>
            </p:cNvSpPr>
            <p:nvPr/>
          </p:nvSpPr>
          <p:spPr bwMode="auto">
            <a:xfrm>
              <a:off x="5519047" y="3171855"/>
              <a:ext cx="5421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Rise</a:t>
              </a:r>
            </a:p>
            <a:p>
              <a:pPr eaLnBrk="1" hangingPunct="1"/>
              <a:r>
                <a:rPr lang="en-US" altLang="en-US" sz="1200"/>
                <a:t>glitch</a:t>
              </a:r>
              <a:endParaRPr lang="en-US" altLang="en-US"/>
            </a:p>
          </p:txBody>
        </p:sp>
        <p:sp>
          <p:nvSpPr>
            <p:cNvPr id="20506" name="TextBox 29">
              <a:extLst>
                <a:ext uri="{FF2B5EF4-FFF2-40B4-BE49-F238E27FC236}">
                  <a16:creationId xmlns:a16="http://schemas.microsoft.com/office/drawing/2014/main" id="{3ED85CA2-CC5B-4EDA-8B7C-19C889798E8F}"/>
                </a:ext>
              </a:extLst>
            </p:cNvPr>
            <p:cNvSpPr txBox="1">
              <a:spLocks noChangeArrowheads="1"/>
            </p:cNvSpPr>
            <p:nvPr/>
          </p:nvSpPr>
          <p:spPr bwMode="auto">
            <a:xfrm>
              <a:off x="6496685" y="5072390"/>
              <a:ext cx="91403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Undershoot</a:t>
              </a:r>
              <a:endParaRPr lang="en-US" altLang="en-US"/>
            </a:p>
          </p:txBody>
        </p:sp>
        <p:sp>
          <p:nvSpPr>
            <p:cNvPr id="20507" name="TextBox 30">
              <a:extLst>
                <a:ext uri="{FF2B5EF4-FFF2-40B4-BE49-F238E27FC236}">
                  <a16:creationId xmlns:a16="http://schemas.microsoft.com/office/drawing/2014/main" id="{43746448-DD6D-47CC-AD9C-903AF928222A}"/>
                </a:ext>
              </a:extLst>
            </p:cNvPr>
            <p:cNvSpPr txBox="1">
              <a:spLocks noChangeArrowheads="1"/>
            </p:cNvSpPr>
            <p:nvPr/>
          </p:nvSpPr>
          <p:spPr bwMode="auto">
            <a:xfrm>
              <a:off x="2699132" y="2181255"/>
              <a:ext cx="83388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Overshoot</a:t>
              </a:r>
              <a:endParaRPr lang="en-US"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AB4C2176-971B-4CDD-BBE8-DDAF6D22C313}"/>
              </a:ext>
            </a:extLst>
          </p:cNvPr>
          <p:cNvSpPr>
            <a:spLocks noGrp="1"/>
          </p:cNvSpPr>
          <p:nvPr>
            <p:ph type="title"/>
          </p:nvPr>
        </p:nvSpPr>
        <p:spPr/>
        <p:txBody>
          <a:bodyPr/>
          <a:lstStyle/>
          <a:p>
            <a:r>
              <a:rPr lang="en-US" altLang="en-US"/>
              <a:t>DC Noise Margins</a:t>
            </a:r>
          </a:p>
        </p:txBody>
      </p:sp>
      <p:sp>
        <p:nvSpPr>
          <p:cNvPr id="21507" name="Content Placeholder 2">
            <a:extLst>
              <a:ext uri="{FF2B5EF4-FFF2-40B4-BE49-F238E27FC236}">
                <a16:creationId xmlns:a16="http://schemas.microsoft.com/office/drawing/2014/main" id="{7576EA7B-7F3A-4253-B783-6693427240B4}"/>
              </a:ext>
            </a:extLst>
          </p:cNvPr>
          <p:cNvSpPr>
            <a:spLocks noGrp="1"/>
          </p:cNvSpPr>
          <p:nvPr>
            <p:ph type="body" sz="quarter" idx="10"/>
          </p:nvPr>
        </p:nvSpPr>
        <p:spPr/>
        <p:txBody>
          <a:bodyPr/>
          <a:lstStyle/>
          <a:p>
            <a:r>
              <a:rPr lang="en-US" altLang="en-US"/>
              <a:t>DC noise limits on the input of a cell while ensuring proper logic functionality</a:t>
            </a:r>
          </a:p>
          <a:p>
            <a:r>
              <a:rPr lang="en-US" altLang="en-US"/>
              <a:t>VIH and VIL are steady state noise limits</a:t>
            </a:r>
          </a:p>
          <a:p>
            <a:pPr lvl="1"/>
            <a:r>
              <a:rPr lang="en-US" altLang="en-US" sz="1800"/>
              <a:t>Whether a glitch will propagate through cell</a:t>
            </a:r>
          </a:p>
          <a:p>
            <a:endParaRPr lang="en-US" altLang="en-US" sz="2800"/>
          </a:p>
        </p:txBody>
      </p:sp>
      <p:sp>
        <p:nvSpPr>
          <p:cNvPr id="21508" name="Content Placeholder 2">
            <a:extLst>
              <a:ext uri="{FF2B5EF4-FFF2-40B4-BE49-F238E27FC236}">
                <a16:creationId xmlns:a16="http://schemas.microsoft.com/office/drawing/2014/main" id="{6BB8F5F8-CA7C-46BE-AC5A-E35CD3416EB2}"/>
              </a:ext>
            </a:extLst>
          </p:cNvPr>
          <p:cNvSpPr txBox="1">
            <a:spLocks/>
          </p:cNvSpPr>
          <p:nvPr/>
        </p:nvSpPr>
        <p:spPr bwMode="auto">
          <a:xfrm>
            <a:off x="2039938" y="4760913"/>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cs typeface="Arial" panose="020B0604020202020204" pitchFamily="34" charset="0"/>
              </a:defRPr>
            </a:lvl1pPr>
            <a:lvl2pPr marL="669925" indent="-325438">
              <a:spcBef>
                <a:spcPct val="20000"/>
              </a:spcBef>
              <a:buClr>
                <a:srgbClr val="000099"/>
              </a:buClr>
              <a:buSzPct val="60000"/>
              <a:buFont typeface="Wingdings" panose="05000000000000000000" pitchFamily="2" charset="2"/>
              <a:buChar char="q"/>
              <a:defRPr sz="2400">
                <a:solidFill>
                  <a:schemeClr val="tx1"/>
                </a:solidFill>
                <a:latin typeface="Arial" panose="020B0604020202020204" pitchFamily="34" charset="0"/>
                <a:cs typeface="Arial" panose="020B0604020202020204" pitchFamily="34" charset="0"/>
              </a:defRPr>
            </a:lvl2pPr>
            <a:lvl3pPr marL="1022350" indent="-350838">
              <a:spcBef>
                <a:spcPct val="20000"/>
              </a:spcBef>
              <a:buClr>
                <a:schemeClr val="accent1"/>
              </a:buClr>
              <a:buSzPct val="65000"/>
              <a:buFont typeface="Wingdings" panose="05000000000000000000" pitchFamily="2" charset="2"/>
              <a:buChar char="n"/>
              <a:defRPr sz="2000">
                <a:solidFill>
                  <a:schemeClr val="tx1"/>
                </a:solidFill>
                <a:latin typeface="Arial" panose="020B0604020202020204" pitchFamily="34" charset="0"/>
                <a:cs typeface="Arial" panose="020B0604020202020204" pitchFamily="34" charset="0"/>
              </a:defRPr>
            </a:lvl3pPr>
            <a:lvl4pPr marL="1339850" indent="-315913">
              <a:spcBef>
                <a:spcPct val="20000"/>
              </a:spcBef>
              <a:buClr>
                <a:srgbClr val="000099"/>
              </a:buClr>
              <a:buSzPct val="70000"/>
              <a:buFont typeface="Wingdings" panose="05000000000000000000" pitchFamily="2" charset="2"/>
              <a:buChar char="q"/>
              <a:defRPr sz="1600">
                <a:solidFill>
                  <a:schemeClr val="tx1"/>
                </a:solidFill>
                <a:latin typeface="Arial" panose="020B0604020202020204" pitchFamily="34" charset="0"/>
                <a:cs typeface="Arial" panose="020B0604020202020204" pitchFamily="34" charset="0"/>
              </a:defRPr>
            </a:lvl4pPr>
            <a:lvl5pPr marL="1681163" indent="-339725">
              <a:spcBef>
                <a:spcPct val="20000"/>
              </a:spcBef>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5pPr>
            <a:lvl6pPr marL="21383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6pPr>
            <a:lvl7pPr marL="25955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7pPr>
            <a:lvl8pPr marL="30527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8pPr>
            <a:lvl9pPr marL="3509963" indent="-339725" eaLnBrk="0" fontAlgn="base" hangingPunct="0">
              <a:spcBef>
                <a:spcPct val="20000"/>
              </a:spcBef>
              <a:spcAft>
                <a:spcPct val="0"/>
              </a:spcAft>
              <a:buClr>
                <a:schemeClr val="accent1"/>
              </a:buClr>
              <a:buSzPct val="75000"/>
              <a:buFont typeface="Wingdings" panose="05000000000000000000" pitchFamily="2" charset="2"/>
              <a:buChar char="§"/>
              <a:defRPr sz="1400">
                <a:solidFill>
                  <a:schemeClr val="tx1"/>
                </a:solidFill>
                <a:latin typeface="Arial" panose="020B0604020202020204" pitchFamily="34" charset="0"/>
                <a:cs typeface="Arial" panose="020B0604020202020204" pitchFamily="34" charset="0"/>
              </a:defRPr>
            </a:lvl9pPr>
          </a:lstStyle>
          <a:p>
            <a:pPr>
              <a:buFont typeface="Wingdings" panose="05000000000000000000" pitchFamily="2" charset="2"/>
              <a:buNone/>
            </a:pPr>
            <a:endParaRPr lang="en-US" altLang="en-US" sz="1400"/>
          </a:p>
        </p:txBody>
      </p:sp>
      <p:grpSp>
        <p:nvGrpSpPr>
          <p:cNvPr id="21509" name="Группа 28">
            <a:extLst>
              <a:ext uri="{FF2B5EF4-FFF2-40B4-BE49-F238E27FC236}">
                <a16:creationId xmlns:a16="http://schemas.microsoft.com/office/drawing/2014/main" id="{28F51DA1-94A5-4233-9DD7-8406FD72E195}"/>
              </a:ext>
            </a:extLst>
          </p:cNvPr>
          <p:cNvGrpSpPr>
            <a:grpSpLocks/>
          </p:cNvGrpSpPr>
          <p:nvPr/>
        </p:nvGrpSpPr>
        <p:grpSpPr bwMode="auto">
          <a:xfrm>
            <a:off x="3368675" y="3429001"/>
            <a:ext cx="3944938" cy="2238375"/>
            <a:chOff x="1844807" y="2332915"/>
            <a:chExt cx="3944537" cy="2239085"/>
          </a:xfrm>
        </p:grpSpPr>
        <p:cxnSp>
          <p:nvCxnSpPr>
            <p:cNvPr id="21511" name="Straight Arrow Connector 7">
              <a:extLst>
                <a:ext uri="{FF2B5EF4-FFF2-40B4-BE49-F238E27FC236}">
                  <a16:creationId xmlns:a16="http://schemas.microsoft.com/office/drawing/2014/main" id="{0B3A6449-691C-4576-AC82-3E7941BB75AB}"/>
                </a:ext>
              </a:extLst>
            </p:cNvPr>
            <p:cNvCxnSpPr>
              <a:cxnSpLocks noChangeShapeType="1"/>
            </p:cNvCxnSpPr>
            <p:nvPr/>
          </p:nvCxnSpPr>
          <p:spPr bwMode="auto">
            <a:xfrm rot="5400000" flipH="1" flipV="1">
              <a:off x="1705772" y="3323515"/>
              <a:ext cx="1981200" cy="0"/>
            </a:xfrm>
            <a:prstGeom prst="straightConnector1">
              <a:avLst/>
            </a:prstGeom>
            <a:noFill/>
            <a:ln w="25400" algn="ctr">
              <a:solidFill>
                <a:schemeClr val="tx1"/>
              </a:solidFill>
              <a:round/>
              <a:headEnd/>
              <a:tailEnd type="triangle" w="med" len="med"/>
            </a:ln>
          </p:spPr>
        </p:cxnSp>
        <p:cxnSp>
          <p:nvCxnSpPr>
            <p:cNvPr id="21512" name="Straight Arrow Connector 8">
              <a:extLst>
                <a:ext uri="{FF2B5EF4-FFF2-40B4-BE49-F238E27FC236}">
                  <a16:creationId xmlns:a16="http://schemas.microsoft.com/office/drawing/2014/main" id="{910376E3-19F5-40E6-B350-6C27AAE4B8DA}"/>
                </a:ext>
              </a:extLst>
            </p:cNvPr>
            <p:cNvCxnSpPr>
              <a:cxnSpLocks noChangeShapeType="1"/>
            </p:cNvCxnSpPr>
            <p:nvPr/>
          </p:nvCxnSpPr>
          <p:spPr bwMode="auto">
            <a:xfrm>
              <a:off x="2695578" y="4319671"/>
              <a:ext cx="2514600" cy="0"/>
            </a:xfrm>
            <a:prstGeom prst="straightConnector1">
              <a:avLst/>
            </a:prstGeom>
            <a:noFill/>
            <a:ln w="25400" algn="ctr">
              <a:solidFill>
                <a:schemeClr val="tx1"/>
              </a:solidFill>
              <a:round/>
              <a:headEnd/>
              <a:tailEnd type="triangle" w="med" len="med"/>
            </a:ln>
          </p:spPr>
        </p:cxnSp>
        <p:cxnSp>
          <p:nvCxnSpPr>
            <p:cNvPr id="21513" name="Straight Connector 9">
              <a:extLst>
                <a:ext uri="{FF2B5EF4-FFF2-40B4-BE49-F238E27FC236}">
                  <a16:creationId xmlns:a16="http://schemas.microsoft.com/office/drawing/2014/main" id="{1E53DE8B-6170-4BDB-9C8E-0517D5B2572E}"/>
                </a:ext>
              </a:extLst>
            </p:cNvPr>
            <p:cNvCxnSpPr>
              <a:cxnSpLocks noChangeShapeType="1"/>
            </p:cNvCxnSpPr>
            <p:nvPr/>
          </p:nvCxnSpPr>
          <p:spPr bwMode="auto">
            <a:xfrm rot="5400000">
              <a:off x="2563022" y="3526715"/>
              <a:ext cx="16002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514" name="Straight Connector 10">
              <a:extLst>
                <a:ext uri="{FF2B5EF4-FFF2-40B4-BE49-F238E27FC236}">
                  <a16:creationId xmlns:a16="http://schemas.microsoft.com/office/drawing/2014/main" id="{8ADA03A8-D22B-4984-AB89-EA6680106E40}"/>
                </a:ext>
              </a:extLst>
            </p:cNvPr>
            <p:cNvCxnSpPr>
              <a:cxnSpLocks noChangeShapeType="1"/>
            </p:cNvCxnSpPr>
            <p:nvPr/>
          </p:nvCxnSpPr>
          <p:spPr bwMode="auto">
            <a:xfrm>
              <a:off x="2593978" y="2840121"/>
              <a:ext cx="8382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515" name="Straight Connector 11">
              <a:extLst>
                <a:ext uri="{FF2B5EF4-FFF2-40B4-BE49-F238E27FC236}">
                  <a16:creationId xmlns:a16="http://schemas.microsoft.com/office/drawing/2014/main" id="{3AA8C0AF-8399-4473-B660-0F9D8B06ADBF}"/>
                </a:ext>
              </a:extLst>
            </p:cNvPr>
            <p:cNvCxnSpPr>
              <a:cxnSpLocks noChangeShapeType="1"/>
            </p:cNvCxnSpPr>
            <p:nvPr/>
          </p:nvCxnSpPr>
          <p:spPr bwMode="auto">
            <a:xfrm>
              <a:off x="2593978" y="4027571"/>
              <a:ext cx="12954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516" name="Straight Connector 12">
              <a:extLst>
                <a:ext uri="{FF2B5EF4-FFF2-40B4-BE49-F238E27FC236}">
                  <a16:creationId xmlns:a16="http://schemas.microsoft.com/office/drawing/2014/main" id="{A7214C6F-437F-4841-A020-0EF3841958F8}"/>
                </a:ext>
              </a:extLst>
            </p:cNvPr>
            <p:cNvCxnSpPr>
              <a:cxnSpLocks noChangeShapeType="1"/>
            </p:cNvCxnSpPr>
            <p:nvPr/>
          </p:nvCxnSpPr>
          <p:spPr bwMode="auto">
            <a:xfrm rot="5400000">
              <a:off x="3660778" y="4141871"/>
              <a:ext cx="3810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517" name="Straight Connector 13">
              <a:extLst>
                <a:ext uri="{FF2B5EF4-FFF2-40B4-BE49-F238E27FC236}">
                  <a16:creationId xmlns:a16="http://schemas.microsoft.com/office/drawing/2014/main" id="{B69D02DC-DA7F-4BDF-80ED-779414E77DBC}"/>
                </a:ext>
              </a:extLst>
            </p:cNvPr>
            <p:cNvCxnSpPr>
              <a:cxnSpLocks noChangeShapeType="1"/>
            </p:cNvCxnSpPr>
            <p:nvPr/>
          </p:nvCxnSpPr>
          <p:spPr bwMode="auto">
            <a:xfrm rot="5400000" flipH="1" flipV="1">
              <a:off x="2695578" y="3398921"/>
              <a:ext cx="914400" cy="9144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1518" name="Straight Connector 14">
              <a:extLst>
                <a:ext uri="{FF2B5EF4-FFF2-40B4-BE49-F238E27FC236}">
                  <a16:creationId xmlns:a16="http://schemas.microsoft.com/office/drawing/2014/main" id="{1E918D1B-458B-43DF-9359-8FF474B1010B}"/>
                </a:ext>
              </a:extLst>
            </p:cNvPr>
            <p:cNvCxnSpPr>
              <a:cxnSpLocks noChangeShapeType="1"/>
            </p:cNvCxnSpPr>
            <p:nvPr/>
          </p:nvCxnSpPr>
          <p:spPr bwMode="auto">
            <a:xfrm rot="16200000" flipH="1">
              <a:off x="3108328" y="2592471"/>
              <a:ext cx="533400" cy="533400"/>
            </a:xfrm>
            <a:prstGeom prst="line">
              <a:avLst/>
            </a:prstGeom>
            <a:noFill/>
            <a:ln w="9525" algn="ctr">
              <a:solidFill>
                <a:srgbClr val="0000FF"/>
              </a:solidFill>
              <a:round/>
              <a:headEnd/>
              <a:tailEnd/>
            </a:ln>
            <a:extLst>
              <a:ext uri="{909E8E84-426E-40DD-AFC4-6F175D3DCCD1}">
                <a14:hiddenFill xmlns:a14="http://schemas.microsoft.com/office/drawing/2010/main">
                  <a:noFill/>
                </a14:hiddenFill>
              </a:ext>
            </a:extLst>
          </p:spPr>
        </p:cxnSp>
        <p:cxnSp>
          <p:nvCxnSpPr>
            <p:cNvPr id="21519" name="Straight Connector 15">
              <a:extLst>
                <a:ext uri="{FF2B5EF4-FFF2-40B4-BE49-F238E27FC236}">
                  <a16:creationId xmlns:a16="http://schemas.microsoft.com/office/drawing/2014/main" id="{89F3CAF7-F149-48B9-8C5E-D1104F19FAAA}"/>
                </a:ext>
              </a:extLst>
            </p:cNvPr>
            <p:cNvCxnSpPr>
              <a:cxnSpLocks noChangeShapeType="1"/>
            </p:cNvCxnSpPr>
            <p:nvPr/>
          </p:nvCxnSpPr>
          <p:spPr bwMode="auto">
            <a:xfrm rot="16200000" flipH="1">
              <a:off x="3584578" y="3767221"/>
              <a:ext cx="533400" cy="533400"/>
            </a:xfrm>
            <a:prstGeom prst="line">
              <a:avLst/>
            </a:prstGeom>
            <a:noFill/>
            <a:ln w="9525" algn="ctr">
              <a:solidFill>
                <a:srgbClr val="0000FF"/>
              </a:solidFill>
              <a:round/>
              <a:headEnd/>
              <a:tailEnd/>
            </a:ln>
            <a:extLst>
              <a:ext uri="{909E8E84-426E-40DD-AFC4-6F175D3DCCD1}">
                <a14:hiddenFill xmlns:a14="http://schemas.microsoft.com/office/drawing/2010/main">
                  <a:noFill/>
                </a14:hiddenFill>
              </a:ext>
            </a:extLst>
          </p:spPr>
        </p:cxnSp>
        <p:sp>
          <p:nvSpPr>
            <p:cNvPr id="17" name="Freeform 16">
              <a:extLst>
                <a:ext uri="{FF2B5EF4-FFF2-40B4-BE49-F238E27FC236}">
                  <a16:creationId xmlns:a16="http://schemas.microsoft.com/office/drawing/2014/main" id="{64A7C35A-1DFB-46D6-A0D3-C851B8A86389}"/>
                </a:ext>
              </a:extLst>
            </p:cNvPr>
            <p:cNvSpPr/>
            <p:nvPr/>
          </p:nvSpPr>
          <p:spPr bwMode="auto">
            <a:xfrm>
              <a:off x="2695621" y="2642576"/>
              <a:ext cx="2063540" cy="1594356"/>
            </a:xfrm>
            <a:custGeom>
              <a:avLst/>
              <a:gdLst>
                <a:gd name="connsiteX0" fmla="*/ 0 w 2063750"/>
                <a:gd name="connsiteY0" fmla="*/ 26458 h 1594908"/>
                <a:gd name="connsiteX1" fmla="*/ 152400 w 2063750"/>
                <a:gd name="connsiteY1" fmla="*/ 1058 h 1594908"/>
                <a:gd name="connsiteX2" fmla="*/ 393700 w 2063750"/>
                <a:gd name="connsiteY2" fmla="*/ 32808 h 1594908"/>
                <a:gd name="connsiteX3" fmla="*/ 577850 w 2063750"/>
                <a:gd name="connsiteY3" fmla="*/ 134408 h 1594908"/>
                <a:gd name="connsiteX4" fmla="*/ 660400 w 2063750"/>
                <a:gd name="connsiteY4" fmla="*/ 191558 h 1594908"/>
                <a:gd name="connsiteX5" fmla="*/ 755650 w 2063750"/>
                <a:gd name="connsiteY5" fmla="*/ 318558 h 1594908"/>
                <a:gd name="connsiteX6" fmla="*/ 844550 w 2063750"/>
                <a:gd name="connsiteY6" fmla="*/ 502708 h 1594908"/>
                <a:gd name="connsiteX7" fmla="*/ 876300 w 2063750"/>
                <a:gd name="connsiteY7" fmla="*/ 686858 h 1594908"/>
                <a:gd name="connsiteX8" fmla="*/ 889000 w 2063750"/>
                <a:gd name="connsiteY8" fmla="*/ 877358 h 1594908"/>
                <a:gd name="connsiteX9" fmla="*/ 946150 w 2063750"/>
                <a:gd name="connsiteY9" fmla="*/ 1074208 h 1594908"/>
                <a:gd name="connsiteX10" fmla="*/ 1054100 w 2063750"/>
                <a:gd name="connsiteY10" fmla="*/ 1258358 h 1594908"/>
                <a:gd name="connsiteX11" fmla="*/ 1149350 w 2063750"/>
                <a:gd name="connsiteY11" fmla="*/ 1385358 h 1594908"/>
                <a:gd name="connsiteX12" fmla="*/ 1308100 w 2063750"/>
                <a:gd name="connsiteY12" fmla="*/ 1486958 h 1594908"/>
                <a:gd name="connsiteX13" fmla="*/ 1504950 w 2063750"/>
                <a:gd name="connsiteY13" fmla="*/ 1563158 h 1594908"/>
                <a:gd name="connsiteX14" fmla="*/ 1758950 w 2063750"/>
                <a:gd name="connsiteY14" fmla="*/ 1588558 h 1594908"/>
                <a:gd name="connsiteX15" fmla="*/ 2063750 w 2063750"/>
                <a:gd name="connsiteY15" fmla="*/ 1594908 h 159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063750" h="1594908">
                  <a:moveTo>
                    <a:pt x="0" y="26458"/>
                  </a:moveTo>
                  <a:cubicBezTo>
                    <a:pt x="43391" y="13229"/>
                    <a:pt x="86783" y="0"/>
                    <a:pt x="152400" y="1058"/>
                  </a:cubicBezTo>
                  <a:cubicBezTo>
                    <a:pt x="218017" y="2116"/>
                    <a:pt x="322792" y="10583"/>
                    <a:pt x="393700" y="32808"/>
                  </a:cubicBezTo>
                  <a:cubicBezTo>
                    <a:pt x="464608" y="55033"/>
                    <a:pt x="533400" y="107950"/>
                    <a:pt x="577850" y="134408"/>
                  </a:cubicBezTo>
                  <a:cubicBezTo>
                    <a:pt x="622300" y="160866"/>
                    <a:pt x="630767" y="160866"/>
                    <a:pt x="660400" y="191558"/>
                  </a:cubicBezTo>
                  <a:cubicBezTo>
                    <a:pt x="690033" y="222250"/>
                    <a:pt x="724958" y="266700"/>
                    <a:pt x="755650" y="318558"/>
                  </a:cubicBezTo>
                  <a:cubicBezTo>
                    <a:pt x="786342" y="370416"/>
                    <a:pt x="824442" y="441325"/>
                    <a:pt x="844550" y="502708"/>
                  </a:cubicBezTo>
                  <a:cubicBezTo>
                    <a:pt x="864658" y="564091"/>
                    <a:pt x="868892" y="624417"/>
                    <a:pt x="876300" y="686858"/>
                  </a:cubicBezTo>
                  <a:cubicBezTo>
                    <a:pt x="883708" y="749299"/>
                    <a:pt x="877358" y="812800"/>
                    <a:pt x="889000" y="877358"/>
                  </a:cubicBezTo>
                  <a:cubicBezTo>
                    <a:pt x="900642" y="941916"/>
                    <a:pt x="918633" y="1010708"/>
                    <a:pt x="946150" y="1074208"/>
                  </a:cubicBezTo>
                  <a:cubicBezTo>
                    <a:pt x="973667" y="1137708"/>
                    <a:pt x="1020233" y="1206500"/>
                    <a:pt x="1054100" y="1258358"/>
                  </a:cubicBezTo>
                  <a:cubicBezTo>
                    <a:pt x="1087967" y="1310216"/>
                    <a:pt x="1107017" y="1347258"/>
                    <a:pt x="1149350" y="1385358"/>
                  </a:cubicBezTo>
                  <a:cubicBezTo>
                    <a:pt x="1191683" y="1423458"/>
                    <a:pt x="1248833" y="1457325"/>
                    <a:pt x="1308100" y="1486958"/>
                  </a:cubicBezTo>
                  <a:cubicBezTo>
                    <a:pt x="1367367" y="1516591"/>
                    <a:pt x="1429808" y="1546225"/>
                    <a:pt x="1504950" y="1563158"/>
                  </a:cubicBezTo>
                  <a:cubicBezTo>
                    <a:pt x="1580092" y="1580091"/>
                    <a:pt x="1665817" y="1583266"/>
                    <a:pt x="1758950" y="1588558"/>
                  </a:cubicBezTo>
                  <a:cubicBezTo>
                    <a:pt x="1852083" y="1593850"/>
                    <a:pt x="1957916" y="1594379"/>
                    <a:pt x="2063750" y="1594908"/>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1521" name="Freeform 17">
              <a:extLst>
                <a:ext uri="{FF2B5EF4-FFF2-40B4-BE49-F238E27FC236}">
                  <a16:creationId xmlns:a16="http://schemas.microsoft.com/office/drawing/2014/main" id="{57A1E4E4-4F7A-4403-B01F-5F943B85EA8B}"/>
                </a:ext>
              </a:extLst>
            </p:cNvPr>
            <p:cNvSpPr>
              <a:spLocks/>
            </p:cNvSpPr>
            <p:nvPr/>
          </p:nvSpPr>
          <p:spPr bwMode="auto">
            <a:xfrm>
              <a:off x="3470278" y="2802021"/>
              <a:ext cx="1073150" cy="19050"/>
            </a:xfrm>
            <a:custGeom>
              <a:avLst/>
              <a:gdLst>
                <a:gd name="T0" fmla="*/ 1073150 w 1073150"/>
                <a:gd name="T1" fmla="*/ 19050 h 19050"/>
                <a:gd name="T2" fmla="*/ 730250 w 1073150"/>
                <a:gd name="T3" fmla="*/ 0 h 19050"/>
                <a:gd name="T4" fmla="*/ 0 w 1073150"/>
                <a:gd name="T5" fmla="*/ 6350 h 19050"/>
                <a:gd name="T6" fmla="*/ 0 60000 65536"/>
                <a:gd name="T7" fmla="*/ 0 60000 65536"/>
                <a:gd name="T8" fmla="*/ 0 60000 65536"/>
              </a:gdLst>
              <a:ahLst/>
              <a:cxnLst>
                <a:cxn ang="T6">
                  <a:pos x="T0" y="T1"/>
                </a:cxn>
                <a:cxn ang="T7">
                  <a:pos x="T2" y="T3"/>
                </a:cxn>
                <a:cxn ang="T8">
                  <a:pos x="T4" y="T5"/>
                </a:cxn>
              </a:cxnLst>
              <a:rect l="0" t="0" r="r" b="b"/>
              <a:pathLst>
                <a:path w="1073150" h="19050">
                  <a:moveTo>
                    <a:pt x="1073150" y="19050"/>
                  </a:moveTo>
                  <a:cubicBezTo>
                    <a:pt x="991129" y="10583"/>
                    <a:pt x="730250" y="0"/>
                    <a:pt x="730250" y="0"/>
                  </a:cubicBezTo>
                  <a:lnTo>
                    <a:pt x="0" y="6350"/>
                  </a:ln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1522" name="Freeform 18">
              <a:extLst>
                <a:ext uri="{FF2B5EF4-FFF2-40B4-BE49-F238E27FC236}">
                  <a16:creationId xmlns:a16="http://schemas.microsoft.com/office/drawing/2014/main" id="{048C4A15-7CC6-44DE-A481-E7EC9112646B}"/>
                </a:ext>
              </a:extLst>
            </p:cNvPr>
            <p:cNvSpPr>
              <a:spLocks/>
            </p:cNvSpPr>
            <p:nvPr/>
          </p:nvSpPr>
          <p:spPr bwMode="auto">
            <a:xfrm>
              <a:off x="3908428" y="3011571"/>
              <a:ext cx="967317" cy="958850"/>
            </a:xfrm>
            <a:custGeom>
              <a:avLst/>
              <a:gdLst>
                <a:gd name="T0" fmla="*/ 901700 w 967317"/>
                <a:gd name="T1" fmla="*/ 0 h 958850"/>
                <a:gd name="T2" fmla="*/ 927100 w 967317"/>
                <a:gd name="T3" fmla="*/ 95250 h 958850"/>
                <a:gd name="T4" fmla="*/ 927100 w 967317"/>
                <a:gd name="T5" fmla="*/ 254000 h 958850"/>
                <a:gd name="T6" fmla="*/ 812800 w 967317"/>
                <a:gd name="T7" fmla="*/ 476250 h 958850"/>
                <a:gd name="T8" fmla="*/ 0 w 967317"/>
                <a:gd name="T9" fmla="*/ 958850 h 958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7317" h="958850">
                  <a:moveTo>
                    <a:pt x="901700" y="0"/>
                  </a:moveTo>
                  <a:cubicBezTo>
                    <a:pt x="912283" y="26458"/>
                    <a:pt x="922867" y="52917"/>
                    <a:pt x="927100" y="95250"/>
                  </a:cubicBezTo>
                  <a:cubicBezTo>
                    <a:pt x="931333" y="137583"/>
                    <a:pt x="931863" y="190500"/>
                    <a:pt x="927100" y="254000"/>
                  </a:cubicBezTo>
                  <a:cubicBezTo>
                    <a:pt x="915194" y="300831"/>
                    <a:pt x="967317" y="358775"/>
                    <a:pt x="812800" y="476250"/>
                  </a:cubicBezTo>
                  <a:cubicBezTo>
                    <a:pt x="658283" y="593725"/>
                    <a:pt x="329141" y="776287"/>
                    <a:pt x="0" y="9588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1523" name="Freeform 19">
              <a:extLst>
                <a:ext uri="{FF2B5EF4-FFF2-40B4-BE49-F238E27FC236}">
                  <a16:creationId xmlns:a16="http://schemas.microsoft.com/office/drawing/2014/main" id="{A826A5DD-2CFA-4985-901C-46C49C8D66FE}"/>
                </a:ext>
              </a:extLst>
            </p:cNvPr>
            <p:cNvSpPr>
              <a:spLocks/>
            </p:cNvSpPr>
            <p:nvPr/>
          </p:nvSpPr>
          <p:spPr bwMode="auto">
            <a:xfrm>
              <a:off x="3648078" y="3392571"/>
              <a:ext cx="260350" cy="76200"/>
            </a:xfrm>
            <a:custGeom>
              <a:avLst/>
              <a:gdLst>
                <a:gd name="T0" fmla="*/ 260350 w 260350"/>
                <a:gd name="T1" fmla="*/ 0 h 76200"/>
                <a:gd name="T2" fmla="*/ 158750 w 260350"/>
                <a:gd name="T3" fmla="*/ 38100 h 76200"/>
                <a:gd name="T4" fmla="*/ 88900 w 260350"/>
                <a:gd name="T5" fmla="*/ 69850 h 76200"/>
                <a:gd name="T6" fmla="*/ 0 w 260350"/>
                <a:gd name="T7" fmla="*/ 76200 h 762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0350" h="76200">
                  <a:moveTo>
                    <a:pt x="260350" y="0"/>
                  </a:moveTo>
                  <a:cubicBezTo>
                    <a:pt x="224366" y="13229"/>
                    <a:pt x="187325" y="26458"/>
                    <a:pt x="158750" y="38100"/>
                  </a:cubicBezTo>
                  <a:cubicBezTo>
                    <a:pt x="130175" y="49742"/>
                    <a:pt x="115358" y="63500"/>
                    <a:pt x="88900" y="69850"/>
                  </a:cubicBezTo>
                  <a:cubicBezTo>
                    <a:pt x="62442" y="76200"/>
                    <a:pt x="31221" y="76200"/>
                    <a:pt x="0" y="762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1" name="TextBox 20">
              <a:extLst>
                <a:ext uri="{FF2B5EF4-FFF2-40B4-BE49-F238E27FC236}">
                  <a16:creationId xmlns:a16="http://schemas.microsoft.com/office/drawing/2014/main" id="{656354C5-15D1-4A48-B9A3-550E908FD7FB}"/>
                </a:ext>
              </a:extLst>
            </p:cNvPr>
            <p:cNvSpPr txBox="1"/>
            <p:nvPr/>
          </p:nvSpPr>
          <p:spPr>
            <a:xfrm>
              <a:off x="1844807" y="2694980"/>
              <a:ext cx="715890" cy="254081"/>
            </a:xfrm>
            <a:prstGeom prst="rect">
              <a:avLst/>
            </a:prstGeom>
            <a:noFill/>
          </p:spPr>
          <p:txBody>
            <a:bodyPr wrap="none">
              <a:spAutoFit/>
            </a:bodyPr>
            <a:lstStyle/>
            <a:p>
              <a:pPr eaLnBrk="1" hangingPunct="1">
                <a:defRPr/>
              </a:pPr>
              <a:r>
                <a:rPr lang="en-US" sz="1050" dirty="0" err="1">
                  <a:latin typeface="Arial" charset="0"/>
                  <a:cs typeface="Arial" charset="0"/>
                </a:rPr>
                <a:t>VOHmin</a:t>
              </a:r>
              <a:endParaRPr lang="en-US" sz="1050" dirty="0">
                <a:latin typeface="Arial" charset="0"/>
                <a:cs typeface="Arial" charset="0"/>
              </a:endParaRPr>
            </a:p>
          </p:txBody>
        </p:sp>
        <p:sp>
          <p:nvSpPr>
            <p:cNvPr id="22" name="TextBox 21">
              <a:extLst>
                <a:ext uri="{FF2B5EF4-FFF2-40B4-BE49-F238E27FC236}">
                  <a16:creationId xmlns:a16="http://schemas.microsoft.com/office/drawing/2014/main" id="{C04A24CC-2E50-456A-9560-482DB4A6F59D}"/>
                </a:ext>
              </a:extLst>
            </p:cNvPr>
            <p:cNvSpPr txBox="1"/>
            <p:nvPr/>
          </p:nvSpPr>
          <p:spPr>
            <a:xfrm>
              <a:off x="1849570" y="3906627"/>
              <a:ext cx="731763" cy="254081"/>
            </a:xfrm>
            <a:prstGeom prst="rect">
              <a:avLst/>
            </a:prstGeom>
            <a:noFill/>
          </p:spPr>
          <p:txBody>
            <a:bodyPr wrap="none">
              <a:spAutoFit/>
            </a:bodyPr>
            <a:lstStyle/>
            <a:p>
              <a:pPr eaLnBrk="1" hangingPunct="1">
                <a:defRPr/>
              </a:pPr>
              <a:r>
                <a:rPr lang="en-US" sz="1050" dirty="0" err="1">
                  <a:latin typeface="Arial" charset="0"/>
                  <a:cs typeface="Arial" charset="0"/>
                </a:rPr>
                <a:t>VOLmax</a:t>
              </a:r>
              <a:endParaRPr lang="en-US" sz="1050" dirty="0">
                <a:latin typeface="Arial" charset="0"/>
                <a:cs typeface="Arial" charset="0"/>
              </a:endParaRPr>
            </a:p>
          </p:txBody>
        </p:sp>
        <p:sp>
          <p:nvSpPr>
            <p:cNvPr id="23" name="TextBox 22">
              <a:extLst>
                <a:ext uri="{FF2B5EF4-FFF2-40B4-BE49-F238E27FC236}">
                  <a16:creationId xmlns:a16="http://schemas.microsoft.com/office/drawing/2014/main" id="{B1DC372E-53D8-43B1-A816-FA36A0278D89}"/>
                </a:ext>
              </a:extLst>
            </p:cNvPr>
            <p:cNvSpPr txBox="1"/>
            <p:nvPr/>
          </p:nvSpPr>
          <p:spPr>
            <a:xfrm>
              <a:off x="2890864" y="4297276"/>
              <a:ext cx="663508" cy="254081"/>
            </a:xfrm>
            <a:prstGeom prst="rect">
              <a:avLst/>
            </a:prstGeom>
            <a:noFill/>
          </p:spPr>
          <p:txBody>
            <a:bodyPr wrap="none">
              <a:spAutoFit/>
            </a:bodyPr>
            <a:lstStyle/>
            <a:p>
              <a:pPr eaLnBrk="1" hangingPunct="1">
                <a:defRPr/>
              </a:pPr>
              <a:r>
                <a:rPr lang="en-US" sz="1050" dirty="0" err="1">
                  <a:latin typeface="Arial" charset="0"/>
                  <a:cs typeface="Arial" charset="0"/>
                </a:rPr>
                <a:t>VILmax</a:t>
              </a:r>
              <a:endParaRPr lang="en-US" sz="1050" dirty="0">
                <a:latin typeface="Arial" charset="0"/>
                <a:cs typeface="Arial" charset="0"/>
              </a:endParaRPr>
            </a:p>
          </p:txBody>
        </p:sp>
        <p:sp>
          <p:nvSpPr>
            <p:cNvPr id="24" name="TextBox 23">
              <a:extLst>
                <a:ext uri="{FF2B5EF4-FFF2-40B4-BE49-F238E27FC236}">
                  <a16:creationId xmlns:a16="http://schemas.microsoft.com/office/drawing/2014/main" id="{1A501E1D-990B-45C7-9E60-7B98CF06D8CD}"/>
                </a:ext>
              </a:extLst>
            </p:cNvPr>
            <p:cNvSpPr txBox="1"/>
            <p:nvPr/>
          </p:nvSpPr>
          <p:spPr>
            <a:xfrm>
              <a:off x="3578181" y="4306804"/>
              <a:ext cx="647634" cy="254081"/>
            </a:xfrm>
            <a:prstGeom prst="rect">
              <a:avLst/>
            </a:prstGeom>
            <a:noFill/>
          </p:spPr>
          <p:txBody>
            <a:bodyPr wrap="none">
              <a:spAutoFit/>
            </a:bodyPr>
            <a:lstStyle/>
            <a:p>
              <a:pPr eaLnBrk="1" hangingPunct="1">
                <a:defRPr/>
              </a:pPr>
              <a:r>
                <a:rPr lang="en-US" sz="1050" dirty="0" err="1">
                  <a:latin typeface="Arial" charset="0"/>
                  <a:cs typeface="Arial" charset="0"/>
                </a:rPr>
                <a:t>VIHmin</a:t>
              </a:r>
              <a:endParaRPr lang="en-US" sz="1050" dirty="0">
                <a:latin typeface="Arial" charset="0"/>
                <a:cs typeface="Arial" charset="0"/>
              </a:endParaRPr>
            </a:p>
          </p:txBody>
        </p:sp>
        <p:sp>
          <p:nvSpPr>
            <p:cNvPr id="25" name="TextBox 24">
              <a:extLst>
                <a:ext uri="{FF2B5EF4-FFF2-40B4-BE49-F238E27FC236}">
                  <a16:creationId xmlns:a16="http://schemas.microsoft.com/office/drawing/2014/main" id="{955B8660-43C2-4569-A2B2-C6EB60CF77BA}"/>
                </a:ext>
              </a:extLst>
            </p:cNvPr>
            <p:cNvSpPr txBox="1"/>
            <p:nvPr/>
          </p:nvSpPr>
          <p:spPr>
            <a:xfrm>
              <a:off x="4944880" y="4317919"/>
              <a:ext cx="393660" cy="254081"/>
            </a:xfrm>
            <a:prstGeom prst="rect">
              <a:avLst/>
            </a:prstGeom>
            <a:noFill/>
          </p:spPr>
          <p:txBody>
            <a:bodyPr wrap="none">
              <a:spAutoFit/>
            </a:bodyPr>
            <a:lstStyle/>
            <a:p>
              <a:pPr eaLnBrk="1" hangingPunct="1">
                <a:defRPr/>
              </a:pPr>
              <a:r>
                <a:rPr lang="en-US" sz="1050" dirty="0">
                  <a:latin typeface="Arial" charset="0"/>
                  <a:cs typeface="Arial" charset="0"/>
                </a:rPr>
                <a:t>Vin</a:t>
              </a:r>
            </a:p>
          </p:txBody>
        </p:sp>
        <p:sp>
          <p:nvSpPr>
            <p:cNvPr id="26" name="TextBox 25">
              <a:extLst>
                <a:ext uri="{FF2B5EF4-FFF2-40B4-BE49-F238E27FC236}">
                  <a16:creationId xmlns:a16="http://schemas.microsoft.com/office/drawing/2014/main" id="{443F100C-15D8-409A-9A47-8EEAEF4C3ADB}"/>
                </a:ext>
              </a:extLst>
            </p:cNvPr>
            <p:cNvSpPr txBox="1"/>
            <p:nvPr/>
          </p:nvSpPr>
          <p:spPr>
            <a:xfrm>
              <a:off x="2209895" y="2355147"/>
              <a:ext cx="461916" cy="254081"/>
            </a:xfrm>
            <a:prstGeom prst="rect">
              <a:avLst/>
            </a:prstGeom>
            <a:noFill/>
          </p:spPr>
          <p:txBody>
            <a:bodyPr wrap="none">
              <a:spAutoFit/>
            </a:bodyPr>
            <a:lstStyle/>
            <a:p>
              <a:pPr eaLnBrk="1" hangingPunct="1">
                <a:defRPr/>
              </a:pPr>
              <a:r>
                <a:rPr lang="en-US" sz="1050" dirty="0" err="1">
                  <a:latin typeface="Arial" charset="0"/>
                  <a:cs typeface="Arial" charset="0"/>
                </a:rPr>
                <a:t>Vout</a:t>
              </a:r>
              <a:endParaRPr lang="en-US" sz="1050" dirty="0">
                <a:latin typeface="Arial" charset="0"/>
                <a:cs typeface="Arial" charset="0"/>
              </a:endParaRPr>
            </a:p>
          </p:txBody>
        </p:sp>
        <p:sp>
          <p:nvSpPr>
            <p:cNvPr id="27" name="TextBox 26">
              <a:extLst>
                <a:ext uri="{FF2B5EF4-FFF2-40B4-BE49-F238E27FC236}">
                  <a16:creationId xmlns:a16="http://schemas.microsoft.com/office/drawing/2014/main" id="{0EFC4D36-36E1-4C07-B603-57ED1815FCC9}"/>
                </a:ext>
              </a:extLst>
            </p:cNvPr>
            <p:cNvSpPr txBox="1"/>
            <p:nvPr/>
          </p:nvSpPr>
          <p:spPr>
            <a:xfrm>
              <a:off x="3724216" y="3045929"/>
              <a:ext cx="785733" cy="414468"/>
            </a:xfrm>
            <a:prstGeom prst="rect">
              <a:avLst/>
            </a:prstGeom>
            <a:noFill/>
          </p:spPr>
          <p:txBody>
            <a:bodyPr wrap="none">
              <a:spAutoFit/>
            </a:bodyPr>
            <a:lstStyle/>
            <a:p>
              <a:pPr eaLnBrk="1" hangingPunct="1">
                <a:defRPr/>
              </a:pPr>
              <a:r>
                <a:rPr lang="en-US" sz="1050" dirty="0">
                  <a:latin typeface="Arial" charset="0"/>
                  <a:cs typeface="Arial" charset="0"/>
                </a:rPr>
                <a:t>Unity gain</a:t>
              </a:r>
            </a:p>
            <a:p>
              <a:pPr eaLnBrk="1" hangingPunct="1">
                <a:defRPr/>
              </a:pPr>
              <a:r>
                <a:rPr lang="en-US" sz="1050" dirty="0">
                  <a:latin typeface="Arial" charset="0"/>
                  <a:cs typeface="Arial" charset="0"/>
                </a:rPr>
                <a:t>     point</a:t>
              </a:r>
            </a:p>
          </p:txBody>
        </p:sp>
        <p:sp>
          <p:nvSpPr>
            <p:cNvPr id="28" name="TextBox 27">
              <a:extLst>
                <a:ext uri="{FF2B5EF4-FFF2-40B4-BE49-F238E27FC236}">
                  <a16:creationId xmlns:a16="http://schemas.microsoft.com/office/drawing/2014/main" id="{5E682E38-103C-42C9-872E-F49FB7F9393D}"/>
                </a:ext>
              </a:extLst>
            </p:cNvPr>
            <p:cNvSpPr txBox="1"/>
            <p:nvPr/>
          </p:nvSpPr>
          <p:spPr>
            <a:xfrm>
              <a:off x="4538521" y="2739444"/>
              <a:ext cx="1250823" cy="254081"/>
            </a:xfrm>
            <a:prstGeom prst="rect">
              <a:avLst/>
            </a:prstGeom>
            <a:noFill/>
          </p:spPr>
          <p:txBody>
            <a:bodyPr wrap="none">
              <a:spAutoFit/>
            </a:bodyPr>
            <a:lstStyle/>
            <a:p>
              <a:pPr eaLnBrk="1" hangingPunct="1">
                <a:defRPr/>
              </a:pPr>
              <a:r>
                <a:rPr lang="en-US" sz="1050" dirty="0">
                  <a:latin typeface="Arial" charset="0"/>
                  <a:cs typeface="Arial" charset="0"/>
                </a:rPr>
                <a:t>Unity slope points</a:t>
              </a:r>
            </a:p>
          </p:txBody>
        </p:sp>
      </p:grpSp>
      <p:sp>
        <p:nvSpPr>
          <p:cNvPr id="21510" name="Rectangle 29">
            <a:extLst>
              <a:ext uri="{FF2B5EF4-FFF2-40B4-BE49-F238E27FC236}">
                <a16:creationId xmlns:a16="http://schemas.microsoft.com/office/drawing/2014/main" id="{0B9FC231-38AF-4C23-B4C9-48C0221837F1}"/>
              </a:ext>
            </a:extLst>
          </p:cNvPr>
          <p:cNvSpPr>
            <a:spLocks noChangeArrowheads="1"/>
          </p:cNvSpPr>
          <p:nvPr/>
        </p:nvSpPr>
        <p:spPr bwMode="auto">
          <a:xfrm>
            <a:off x="7391400" y="4556125"/>
            <a:ext cx="2732088"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DC characteristics of an inverter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8AECF354-F209-4599-AD24-DBE847B4E079}"/>
              </a:ext>
            </a:extLst>
          </p:cNvPr>
          <p:cNvSpPr>
            <a:spLocks noGrp="1"/>
          </p:cNvSpPr>
          <p:nvPr>
            <p:ph type="title"/>
          </p:nvPr>
        </p:nvSpPr>
        <p:spPr/>
        <p:txBody>
          <a:bodyPr/>
          <a:lstStyle/>
          <a:p>
            <a:r>
              <a:rPr lang="en-US" altLang="en-US"/>
              <a:t>DC Margin Limits</a:t>
            </a:r>
          </a:p>
        </p:txBody>
      </p:sp>
      <p:sp>
        <p:nvSpPr>
          <p:cNvPr id="22531" name="Content Placeholder 2">
            <a:extLst>
              <a:ext uri="{FF2B5EF4-FFF2-40B4-BE49-F238E27FC236}">
                <a16:creationId xmlns:a16="http://schemas.microsoft.com/office/drawing/2014/main" id="{9F8CDE1D-08D7-4EB3-BD51-A37E77B3053C}"/>
              </a:ext>
            </a:extLst>
          </p:cNvPr>
          <p:cNvSpPr>
            <a:spLocks noGrp="1"/>
          </p:cNvSpPr>
          <p:nvPr>
            <p:ph type="body" sz="quarter" idx="10"/>
          </p:nvPr>
        </p:nvSpPr>
        <p:spPr/>
        <p:txBody>
          <a:bodyPr/>
          <a:lstStyle/>
          <a:p>
            <a:r>
              <a:rPr lang="en-US" altLang="en-US"/>
              <a:t>DC noise margin can be fixed to the same limit for all nets in the design</a:t>
            </a:r>
          </a:p>
          <a:p>
            <a:pPr lvl="1"/>
            <a:r>
              <a:rPr lang="en-US" altLang="en-US"/>
              <a:t>Glitch level is less than V</a:t>
            </a:r>
            <a:r>
              <a:rPr lang="en-US" altLang="en-US" baseline="-25000"/>
              <a:t>ILmax</a:t>
            </a:r>
            <a:r>
              <a:rPr lang="en-US" altLang="en-US"/>
              <a:t> and greater than V</a:t>
            </a:r>
            <a:r>
              <a:rPr lang="en-US" altLang="en-US" baseline="-25000"/>
              <a:t>IHmin</a:t>
            </a:r>
          </a:p>
        </p:txBody>
      </p:sp>
      <p:sp>
        <p:nvSpPr>
          <p:cNvPr id="22532" name="Flowchart: Delay 34">
            <a:extLst>
              <a:ext uri="{FF2B5EF4-FFF2-40B4-BE49-F238E27FC236}">
                <a16:creationId xmlns:a16="http://schemas.microsoft.com/office/drawing/2014/main" id="{F7BDFC4E-45A5-461A-8274-CF113DAB81AB}"/>
              </a:ext>
            </a:extLst>
          </p:cNvPr>
          <p:cNvSpPr>
            <a:spLocks noChangeArrowheads="1"/>
          </p:cNvSpPr>
          <p:nvPr/>
        </p:nvSpPr>
        <p:spPr bwMode="auto">
          <a:xfrm>
            <a:off x="3351214" y="4165228"/>
            <a:ext cx="530225" cy="320675"/>
          </a:xfrm>
          <a:prstGeom prst="flowChartDelay">
            <a:avLst/>
          </a:prstGeom>
          <a:solidFill>
            <a:schemeClr val="accent1"/>
          </a:solidFill>
          <a:ln w="12700"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cxnSp>
        <p:nvCxnSpPr>
          <p:cNvPr id="22533" name="Straight Connector 35">
            <a:extLst>
              <a:ext uri="{FF2B5EF4-FFF2-40B4-BE49-F238E27FC236}">
                <a16:creationId xmlns:a16="http://schemas.microsoft.com/office/drawing/2014/main" id="{3D6CB2BB-B265-48E3-AEB5-39743E9AB8AA}"/>
              </a:ext>
            </a:extLst>
          </p:cNvPr>
          <p:cNvCxnSpPr>
            <a:cxnSpLocks noChangeShapeType="1"/>
          </p:cNvCxnSpPr>
          <p:nvPr/>
        </p:nvCxnSpPr>
        <p:spPr bwMode="auto">
          <a:xfrm>
            <a:off x="3143251" y="4250952"/>
            <a:ext cx="207963" cy="0"/>
          </a:xfrm>
          <a:prstGeom prst="line">
            <a:avLst/>
          </a:prstGeom>
          <a:noFill/>
          <a:ln w="12700" algn="ctr">
            <a:solidFill>
              <a:schemeClr val="tx1"/>
            </a:solidFill>
            <a:round/>
            <a:headEnd/>
            <a:tailEnd/>
          </a:ln>
        </p:spPr>
      </p:cxnSp>
      <p:cxnSp>
        <p:nvCxnSpPr>
          <p:cNvPr id="22534" name="Straight Connector 36">
            <a:extLst>
              <a:ext uri="{FF2B5EF4-FFF2-40B4-BE49-F238E27FC236}">
                <a16:creationId xmlns:a16="http://schemas.microsoft.com/office/drawing/2014/main" id="{47675AC1-065C-4332-82D4-295110AA7433}"/>
              </a:ext>
            </a:extLst>
          </p:cNvPr>
          <p:cNvCxnSpPr>
            <a:cxnSpLocks noChangeShapeType="1"/>
          </p:cNvCxnSpPr>
          <p:nvPr/>
        </p:nvCxnSpPr>
        <p:spPr bwMode="auto">
          <a:xfrm>
            <a:off x="3868738" y="4309690"/>
            <a:ext cx="207962" cy="0"/>
          </a:xfrm>
          <a:prstGeom prst="line">
            <a:avLst/>
          </a:prstGeom>
          <a:noFill/>
          <a:ln w="12700" algn="ctr">
            <a:solidFill>
              <a:schemeClr val="tx1"/>
            </a:solidFill>
            <a:round/>
            <a:headEnd/>
            <a:tailEnd/>
          </a:ln>
        </p:spPr>
      </p:cxnSp>
      <p:cxnSp>
        <p:nvCxnSpPr>
          <p:cNvPr id="22535" name="Straight Connector 37">
            <a:extLst>
              <a:ext uri="{FF2B5EF4-FFF2-40B4-BE49-F238E27FC236}">
                <a16:creationId xmlns:a16="http://schemas.microsoft.com/office/drawing/2014/main" id="{F8461036-DB01-4D5E-9BF4-EA2EB120FE4C}"/>
              </a:ext>
            </a:extLst>
          </p:cNvPr>
          <p:cNvCxnSpPr>
            <a:cxnSpLocks noChangeShapeType="1"/>
          </p:cNvCxnSpPr>
          <p:nvPr/>
        </p:nvCxnSpPr>
        <p:spPr bwMode="auto">
          <a:xfrm flipV="1">
            <a:off x="2632076" y="4414465"/>
            <a:ext cx="727075" cy="0"/>
          </a:xfrm>
          <a:prstGeom prst="line">
            <a:avLst/>
          </a:prstGeom>
          <a:noFill/>
          <a:ln w="12700" algn="ctr">
            <a:solidFill>
              <a:schemeClr val="tx1"/>
            </a:solidFill>
            <a:round/>
            <a:headEnd/>
            <a:tailEnd/>
          </a:ln>
        </p:spPr>
      </p:cxnSp>
      <p:grpSp>
        <p:nvGrpSpPr>
          <p:cNvPr id="22536" name="Group 44">
            <a:extLst>
              <a:ext uri="{FF2B5EF4-FFF2-40B4-BE49-F238E27FC236}">
                <a16:creationId xmlns:a16="http://schemas.microsoft.com/office/drawing/2014/main" id="{2333E29D-646D-48B3-A55A-1336DC81ABCE}"/>
              </a:ext>
            </a:extLst>
          </p:cNvPr>
          <p:cNvGrpSpPr>
            <a:grpSpLocks/>
          </p:cNvGrpSpPr>
          <p:nvPr/>
        </p:nvGrpSpPr>
        <p:grpSpPr bwMode="auto">
          <a:xfrm>
            <a:off x="4800601" y="3100015"/>
            <a:ext cx="5324475" cy="1651000"/>
            <a:chOff x="1866900" y="4058920"/>
            <a:chExt cx="5324786" cy="1651000"/>
          </a:xfrm>
        </p:grpSpPr>
        <p:sp>
          <p:nvSpPr>
            <p:cNvPr id="22544" name="Rectangle 40">
              <a:extLst>
                <a:ext uri="{FF2B5EF4-FFF2-40B4-BE49-F238E27FC236}">
                  <a16:creationId xmlns:a16="http://schemas.microsoft.com/office/drawing/2014/main" id="{D5FC8B85-0933-4404-A5D3-FF91106EEB7E}"/>
                </a:ext>
              </a:extLst>
            </p:cNvPr>
            <p:cNvSpPr>
              <a:spLocks noChangeArrowheads="1"/>
            </p:cNvSpPr>
            <p:nvPr/>
          </p:nvSpPr>
          <p:spPr bwMode="auto">
            <a:xfrm>
              <a:off x="2839720" y="5228909"/>
              <a:ext cx="3581400" cy="373061"/>
            </a:xfrm>
            <a:prstGeom prst="rect">
              <a:avLst/>
            </a:prstGeom>
            <a:pattFill prst="ltDnDiag">
              <a:fgClr>
                <a:schemeClr val="tx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2545" name="Rectangle 38">
              <a:extLst>
                <a:ext uri="{FF2B5EF4-FFF2-40B4-BE49-F238E27FC236}">
                  <a16:creationId xmlns:a16="http://schemas.microsoft.com/office/drawing/2014/main" id="{40809223-D756-4166-BD27-7E46B31BC929}"/>
                </a:ext>
              </a:extLst>
            </p:cNvPr>
            <p:cNvSpPr>
              <a:spLocks noChangeArrowheads="1"/>
            </p:cNvSpPr>
            <p:nvPr/>
          </p:nvSpPr>
          <p:spPr bwMode="auto">
            <a:xfrm>
              <a:off x="2876550" y="4231958"/>
              <a:ext cx="3581400" cy="373061"/>
            </a:xfrm>
            <a:prstGeom prst="rect">
              <a:avLst/>
            </a:prstGeom>
            <a:pattFill prst="ltDnDiag">
              <a:fgClr>
                <a:schemeClr val="tx2"/>
              </a:fgClr>
              <a:bgClr>
                <a:schemeClr val="bg1"/>
              </a:bgClr>
            </a:pattFill>
            <a:ln>
              <a:noFill/>
            </a:ln>
            <a:extLst>
              <a:ext uri="{91240B29-F687-4F45-9708-019B960494DF}">
                <a14:hiddenLine xmlns:a14="http://schemas.microsoft.com/office/drawing/2010/main" w="9525" algn="ctr">
                  <a:solidFill>
                    <a:srgbClr val="000000"/>
                  </a:solidFill>
                  <a:round/>
                  <a:headEnd/>
                  <a:tailEnd/>
                </a14:hiddenLine>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22546" name="Group 43">
              <a:extLst>
                <a:ext uri="{FF2B5EF4-FFF2-40B4-BE49-F238E27FC236}">
                  <a16:creationId xmlns:a16="http://schemas.microsoft.com/office/drawing/2014/main" id="{E96A2E0F-E567-4B56-A136-871C36D71506}"/>
                </a:ext>
              </a:extLst>
            </p:cNvPr>
            <p:cNvGrpSpPr>
              <a:grpSpLocks/>
            </p:cNvGrpSpPr>
            <p:nvPr/>
          </p:nvGrpSpPr>
          <p:grpSpPr bwMode="auto">
            <a:xfrm>
              <a:off x="2601845" y="4230370"/>
              <a:ext cx="3856105" cy="1370012"/>
              <a:chOff x="2857500" y="4230370"/>
              <a:chExt cx="3600450" cy="1370012"/>
            </a:xfrm>
          </p:grpSpPr>
          <p:cxnSp>
            <p:nvCxnSpPr>
              <p:cNvPr id="22561" name="Straight Connector 12">
                <a:extLst>
                  <a:ext uri="{FF2B5EF4-FFF2-40B4-BE49-F238E27FC236}">
                    <a16:creationId xmlns:a16="http://schemas.microsoft.com/office/drawing/2014/main" id="{075C16D1-870D-4984-91D6-CAF84E6BC4ED}"/>
                  </a:ext>
                </a:extLst>
              </p:cNvPr>
              <p:cNvCxnSpPr>
                <a:cxnSpLocks noChangeShapeType="1"/>
              </p:cNvCxnSpPr>
              <p:nvPr/>
            </p:nvCxnSpPr>
            <p:spPr bwMode="auto">
              <a:xfrm>
                <a:off x="2870200" y="4230370"/>
                <a:ext cx="35814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562" name="Straight Connector 13">
                <a:extLst>
                  <a:ext uri="{FF2B5EF4-FFF2-40B4-BE49-F238E27FC236}">
                    <a16:creationId xmlns:a16="http://schemas.microsoft.com/office/drawing/2014/main" id="{2F9D06FF-85E3-43A9-BD1C-433A55DF36A8}"/>
                  </a:ext>
                </a:extLst>
              </p:cNvPr>
              <p:cNvCxnSpPr>
                <a:cxnSpLocks noChangeShapeType="1"/>
              </p:cNvCxnSpPr>
              <p:nvPr/>
            </p:nvCxnSpPr>
            <p:spPr bwMode="auto">
              <a:xfrm>
                <a:off x="2876550" y="4603432"/>
                <a:ext cx="35814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563" name="Straight Connector 14">
                <a:extLst>
                  <a:ext uri="{FF2B5EF4-FFF2-40B4-BE49-F238E27FC236}">
                    <a16:creationId xmlns:a16="http://schemas.microsoft.com/office/drawing/2014/main" id="{EE322D11-4BBC-4195-A866-025153E74600}"/>
                  </a:ext>
                </a:extLst>
              </p:cNvPr>
              <p:cNvCxnSpPr>
                <a:cxnSpLocks noChangeShapeType="1"/>
              </p:cNvCxnSpPr>
              <p:nvPr/>
            </p:nvCxnSpPr>
            <p:spPr bwMode="auto">
              <a:xfrm>
                <a:off x="2857500" y="5206682"/>
                <a:ext cx="35814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2564" name="Straight Connector 15">
                <a:extLst>
                  <a:ext uri="{FF2B5EF4-FFF2-40B4-BE49-F238E27FC236}">
                    <a16:creationId xmlns:a16="http://schemas.microsoft.com/office/drawing/2014/main" id="{B08F7D52-7FD7-4333-BEC2-4E256A8453E3}"/>
                  </a:ext>
                </a:extLst>
              </p:cNvPr>
              <p:cNvCxnSpPr>
                <a:cxnSpLocks noChangeShapeType="1"/>
              </p:cNvCxnSpPr>
              <p:nvPr/>
            </p:nvCxnSpPr>
            <p:spPr bwMode="auto">
              <a:xfrm>
                <a:off x="2863850" y="5600382"/>
                <a:ext cx="3581400" cy="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grpSp>
        <p:sp>
          <p:nvSpPr>
            <p:cNvPr id="17" name="Freeform 16">
              <a:extLst>
                <a:ext uri="{FF2B5EF4-FFF2-40B4-BE49-F238E27FC236}">
                  <a16:creationId xmlns:a16="http://schemas.microsoft.com/office/drawing/2014/main" id="{D0FE3EF1-7E7A-4E09-8E45-471F95361FFA}"/>
                </a:ext>
              </a:extLst>
            </p:cNvPr>
            <p:cNvSpPr/>
            <p:nvPr/>
          </p:nvSpPr>
          <p:spPr bwMode="auto">
            <a:xfrm>
              <a:off x="3232230" y="4224020"/>
              <a:ext cx="258778" cy="315912"/>
            </a:xfrm>
            <a:custGeom>
              <a:avLst/>
              <a:gdLst>
                <a:gd name="connsiteX0" fmla="*/ 0 w 258233"/>
                <a:gd name="connsiteY0" fmla="*/ 0 h 315383"/>
                <a:gd name="connsiteX1" fmla="*/ 12700 w 258233"/>
                <a:gd name="connsiteY1" fmla="*/ 114300 h 315383"/>
                <a:gd name="connsiteX2" fmla="*/ 63500 w 258233"/>
                <a:gd name="connsiteY2" fmla="*/ 254000 h 315383"/>
                <a:gd name="connsiteX3" fmla="*/ 107950 w 258233"/>
                <a:gd name="connsiteY3" fmla="*/ 304800 h 315383"/>
                <a:gd name="connsiteX4" fmla="*/ 133350 w 258233"/>
                <a:gd name="connsiteY4" fmla="*/ 304800 h 315383"/>
                <a:gd name="connsiteX5" fmla="*/ 177800 w 258233"/>
                <a:gd name="connsiteY5" fmla="*/ 241300 h 315383"/>
                <a:gd name="connsiteX6" fmla="*/ 203200 w 258233"/>
                <a:gd name="connsiteY6" fmla="*/ 165100 h 315383"/>
                <a:gd name="connsiteX7" fmla="*/ 222250 w 258233"/>
                <a:gd name="connsiteY7" fmla="*/ 133350 h 315383"/>
                <a:gd name="connsiteX8" fmla="*/ 254000 w 258233"/>
                <a:gd name="connsiteY8" fmla="*/ 82550 h 315383"/>
                <a:gd name="connsiteX9" fmla="*/ 247650 w 258233"/>
                <a:gd name="connsiteY9" fmla="*/ 6350 h 315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8233" h="315383">
                  <a:moveTo>
                    <a:pt x="0" y="0"/>
                  </a:moveTo>
                  <a:cubicBezTo>
                    <a:pt x="1058" y="35983"/>
                    <a:pt x="2117" y="71967"/>
                    <a:pt x="12700" y="114300"/>
                  </a:cubicBezTo>
                  <a:cubicBezTo>
                    <a:pt x="23283" y="156633"/>
                    <a:pt x="47625" y="222250"/>
                    <a:pt x="63500" y="254000"/>
                  </a:cubicBezTo>
                  <a:cubicBezTo>
                    <a:pt x="79375" y="285750"/>
                    <a:pt x="96308" y="296333"/>
                    <a:pt x="107950" y="304800"/>
                  </a:cubicBezTo>
                  <a:cubicBezTo>
                    <a:pt x="119592" y="313267"/>
                    <a:pt x="121708" y="315383"/>
                    <a:pt x="133350" y="304800"/>
                  </a:cubicBezTo>
                  <a:cubicBezTo>
                    <a:pt x="144992" y="294217"/>
                    <a:pt x="166158" y="264583"/>
                    <a:pt x="177800" y="241300"/>
                  </a:cubicBezTo>
                  <a:cubicBezTo>
                    <a:pt x="189442" y="218017"/>
                    <a:pt x="195792" y="183092"/>
                    <a:pt x="203200" y="165100"/>
                  </a:cubicBezTo>
                  <a:cubicBezTo>
                    <a:pt x="210608" y="147108"/>
                    <a:pt x="213783" y="147108"/>
                    <a:pt x="222250" y="133350"/>
                  </a:cubicBezTo>
                  <a:cubicBezTo>
                    <a:pt x="230717" y="119592"/>
                    <a:pt x="249767" y="103717"/>
                    <a:pt x="254000" y="82550"/>
                  </a:cubicBezTo>
                  <a:cubicBezTo>
                    <a:pt x="258233" y="61383"/>
                    <a:pt x="252941" y="33866"/>
                    <a:pt x="247650" y="635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18" name="Freeform 17">
              <a:extLst>
                <a:ext uri="{FF2B5EF4-FFF2-40B4-BE49-F238E27FC236}">
                  <a16:creationId xmlns:a16="http://schemas.microsoft.com/office/drawing/2014/main" id="{217EF559-E702-4725-A5B3-DE56FEC81130}"/>
                </a:ext>
              </a:extLst>
            </p:cNvPr>
            <p:cNvSpPr/>
            <p:nvPr/>
          </p:nvSpPr>
          <p:spPr bwMode="auto">
            <a:xfrm>
              <a:off x="5175443" y="4224020"/>
              <a:ext cx="679490" cy="681037"/>
            </a:xfrm>
            <a:custGeom>
              <a:avLst/>
              <a:gdLst>
                <a:gd name="connsiteX0" fmla="*/ 0 w 679450"/>
                <a:gd name="connsiteY0" fmla="*/ 12700 h 680508"/>
                <a:gd name="connsiteX1" fmla="*/ 95250 w 679450"/>
                <a:gd name="connsiteY1" fmla="*/ 69850 h 680508"/>
                <a:gd name="connsiteX2" fmla="*/ 171450 w 679450"/>
                <a:gd name="connsiteY2" fmla="*/ 165100 h 680508"/>
                <a:gd name="connsiteX3" fmla="*/ 247650 w 679450"/>
                <a:gd name="connsiteY3" fmla="*/ 336550 h 680508"/>
                <a:gd name="connsiteX4" fmla="*/ 311150 w 679450"/>
                <a:gd name="connsiteY4" fmla="*/ 539750 h 680508"/>
                <a:gd name="connsiteX5" fmla="*/ 368300 w 679450"/>
                <a:gd name="connsiteY5" fmla="*/ 641350 h 680508"/>
                <a:gd name="connsiteX6" fmla="*/ 400050 w 679450"/>
                <a:gd name="connsiteY6" fmla="*/ 666750 h 680508"/>
                <a:gd name="connsiteX7" fmla="*/ 450850 w 679450"/>
                <a:gd name="connsiteY7" fmla="*/ 660400 h 680508"/>
                <a:gd name="connsiteX8" fmla="*/ 495300 w 679450"/>
                <a:gd name="connsiteY8" fmla="*/ 546100 h 680508"/>
                <a:gd name="connsiteX9" fmla="*/ 527050 w 679450"/>
                <a:gd name="connsiteY9" fmla="*/ 336550 h 680508"/>
                <a:gd name="connsiteX10" fmla="*/ 565150 w 679450"/>
                <a:gd name="connsiteY10" fmla="*/ 165100 h 680508"/>
                <a:gd name="connsiteX11" fmla="*/ 622300 w 679450"/>
                <a:gd name="connsiteY11" fmla="*/ 50800 h 680508"/>
                <a:gd name="connsiteX12" fmla="*/ 679450 w 679450"/>
                <a:gd name="connsiteY12" fmla="*/ 0 h 680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9450" h="680508">
                  <a:moveTo>
                    <a:pt x="0" y="12700"/>
                  </a:moveTo>
                  <a:cubicBezTo>
                    <a:pt x="33337" y="28575"/>
                    <a:pt x="66675" y="44450"/>
                    <a:pt x="95250" y="69850"/>
                  </a:cubicBezTo>
                  <a:cubicBezTo>
                    <a:pt x="123825" y="95250"/>
                    <a:pt x="146050" y="120650"/>
                    <a:pt x="171450" y="165100"/>
                  </a:cubicBezTo>
                  <a:cubicBezTo>
                    <a:pt x="196850" y="209550"/>
                    <a:pt x="224367" y="274108"/>
                    <a:pt x="247650" y="336550"/>
                  </a:cubicBezTo>
                  <a:cubicBezTo>
                    <a:pt x="270933" y="398992"/>
                    <a:pt x="291042" y="488950"/>
                    <a:pt x="311150" y="539750"/>
                  </a:cubicBezTo>
                  <a:cubicBezTo>
                    <a:pt x="331258" y="590550"/>
                    <a:pt x="353483" y="620183"/>
                    <a:pt x="368300" y="641350"/>
                  </a:cubicBezTo>
                  <a:cubicBezTo>
                    <a:pt x="383117" y="662517"/>
                    <a:pt x="386292" y="663575"/>
                    <a:pt x="400050" y="666750"/>
                  </a:cubicBezTo>
                  <a:cubicBezTo>
                    <a:pt x="413808" y="669925"/>
                    <a:pt x="434975" y="680508"/>
                    <a:pt x="450850" y="660400"/>
                  </a:cubicBezTo>
                  <a:cubicBezTo>
                    <a:pt x="466725" y="640292"/>
                    <a:pt x="482600" y="600075"/>
                    <a:pt x="495300" y="546100"/>
                  </a:cubicBezTo>
                  <a:cubicBezTo>
                    <a:pt x="508000" y="492125"/>
                    <a:pt x="515408" y="400050"/>
                    <a:pt x="527050" y="336550"/>
                  </a:cubicBezTo>
                  <a:cubicBezTo>
                    <a:pt x="538692" y="273050"/>
                    <a:pt x="549275" y="212725"/>
                    <a:pt x="565150" y="165100"/>
                  </a:cubicBezTo>
                  <a:cubicBezTo>
                    <a:pt x="581025" y="117475"/>
                    <a:pt x="603250" y="78317"/>
                    <a:pt x="622300" y="50800"/>
                  </a:cubicBezTo>
                  <a:cubicBezTo>
                    <a:pt x="641350" y="23283"/>
                    <a:pt x="660400" y="11641"/>
                    <a:pt x="679450" y="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2549" name="Freeform 18">
              <a:extLst>
                <a:ext uri="{FF2B5EF4-FFF2-40B4-BE49-F238E27FC236}">
                  <a16:creationId xmlns:a16="http://schemas.microsoft.com/office/drawing/2014/main" id="{95AC2AE0-F9E5-4730-9143-6A3A71D320E5}"/>
                </a:ext>
              </a:extLst>
            </p:cNvPr>
            <p:cNvSpPr>
              <a:spLocks/>
            </p:cNvSpPr>
            <p:nvPr/>
          </p:nvSpPr>
          <p:spPr bwMode="auto">
            <a:xfrm>
              <a:off x="3581400" y="4973320"/>
              <a:ext cx="165100" cy="431800"/>
            </a:xfrm>
            <a:custGeom>
              <a:avLst/>
              <a:gdLst>
                <a:gd name="T0" fmla="*/ 120650 w 165100"/>
                <a:gd name="T1" fmla="*/ 0 h 431800"/>
                <a:gd name="T2" fmla="*/ 158750 w 165100"/>
                <a:gd name="T3" fmla="*/ 127000 h 431800"/>
                <a:gd name="T4" fmla="*/ 158750 w 165100"/>
                <a:gd name="T5" fmla="*/ 279400 h 431800"/>
                <a:gd name="T6" fmla="*/ 120650 w 165100"/>
                <a:gd name="T7" fmla="*/ 368300 h 431800"/>
                <a:gd name="T8" fmla="*/ 0 w 165100"/>
                <a:gd name="T9" fmla="*/ 431800 h 4318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65100" h="431800">
                  <a:moveTo>
                    <a:pt x="120650" y="0"/>
                  </a:moveTo>
                  <a:cubicBezTo>
                    <a:pt x="136525" y="40216"/>
                    <a:pt x="152400" y="80433"/>
                    <a:pt x="158750" y="127000"/>
                  </a:cubicBezTo>
                  <a:cubicBezTo>
                    <a:pt x="165100" y="173567"/>
                    <a:pt x="165100" y="239183"/>
                    <a:pt x="158750" y="279400"/>
                  </a:cubicBezTo>
                  <a:cubicBezTo>
                    <a:pt x="152400" y="319617"/>
                    <a:pt x="147108" y="342900"/>
                    <a:pt x="120650" y="368300"/>
                  </a:cubicBezTo>
                  <a:cubicBezTo>
                    <a:pt x="94192" y="393700"/>
                    <a:pt x="47096" y="412750"/>
                    <a:pt x="0" y="4318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2550" name="Freeform 19">
              <a:extLst>
                <a:ext uri="{FF2B5EF4-FFF2-40B4-BE49-F238E27FC236}">
                  <a16:creationId xmlns:a16="http://schemas.microsoft.com/office/drawing/2014/main" id="{FAF9029B-4C02-4B74-BF1F-70237045CC0F}"/>
                </a:ext>
              </a:extLst>
            </p:cNvPr>
            <p:cNvSpPr>
              <a:spLocks/>
            </p:cNvSpPr>
            <p:nvPr/>
          </p:nvSpPr>
          <p:spPr bwMode="auto">
            <a:xfrm>
              <a:off x="3651250" y="4433570"/>
              <a:ext cx="104775" cy="292100"/>
            </a:xfrm>
            <a:custGeom>
              <a:avLst/>
              <a:gdLst>
                <a:gd name="T0" fmla="*/ 88900 w 104775"/>
                <a:gd name="T1" fmla="*/ 292100 h 292100"/>
                <a:gd name="T2" fmla="*/ 95250 w 104775"/>
                <a:gd name="T3" fmla="*/ 139700 h 292100"/>
                <a:gd name="T4" fmla="*/ 88900 w 104775"/>
                <a:gd name="T5" fmla="*/ 63500 h 292100"/>
                <a:gd name="T6" fmla="*/ 0 w 104775"/>
                <a:gd name="T7" fmla="*/ 0 h 2921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4775" h="292100">
                  <a:moveTo>
                    <a:pt x="88900" y="292100"/>
                  </a:moveTo>
                  <a:cubicBezTo>
                    <a:pt x="92075" y="234950"/>
                    <a:pt x="95250" y="177800"/>
                    <a:pt x="95250" y="139700"/>
                  </a:cubicBezTo>
                  <a:cubicBezTo>
                    <a:pt x="95250" y="101600"/>
                    <a:pt x="104775" y="86783"/>
                    <a:pt x="88900" y="63500"/>
                  </a:cubicBezTo>
                  <a:cubicBezTo>
                    <a:pt x="73025" y="40217"/>
                    <a:pt x="36512" y="20108"/>
                    <a:pt x="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1" name="Freeform 20">
              <a:extLst>
                <a:ext uri="{FF2B5EF4-FFF2-40B4-BE49-F238E27FC236}">
                  <a16:creationId xmlns:a16="http://schemas.microsoft.com/office/drawing/2014/main" id="{F2058479-C870-415A-8CF8-1E49C14A7C97}"/>
                </a:ext>
              </a:extLst>
            </p:cNvPr>
            <p:cNvSpPr/>
            <p:nvPr/>
          </p:nvSpPr>
          <p:spPr bwMode="auto">
            <a:xfrm>
              <a:off x="3156025" y="5301932"/>
              <a:ext cx="520730" cy="293688"/>
            </a:xfrm>
            <a:custGeom>
              <a:avLst/>
              <a:gdLst>
                <a:gd name="connsiteX0" fmla="*/ 0 w 520700"/>
                <a:gd name="connsiteY0" fmla="*/ 294217 h 294217"/>
                <a:gd name="connsiteX1" fmla="*/ 88900 w 520700"/>
                <a:gd name="connsiteY1" fmla="*/ 281517 h 294217"/>
                <a:gd name="connsiteX2" fmla="*/ 127000 w 520700"/>
                <a:gd name="connsiteY2" fmla="*/ 224367 h 294217"/>
                <a:gd name="connsiteX3" fmla="*/ 146050 w 520700"/>
                <a:gd name="connsiteY3" fmla="*/ 110067 h 294217"/>
                <a:gd name="connsiteX4" fmla="*/ 171450 w 520700"/>
                <a:gd name="connsiteY4" fmla="*/ 27517 h 294217"/>
                <a:gd name="connsiteX5" fmla="*/ 215900 w 520700"/>
                <a:gd name="connsiteY5" fmla="*/ 2117 h 294217"/>
                <a:gd name="connsiteX6" fmla="*/ 266700 w 520700"/>
                <a:gd name="connsiteY6" fmla="*/ 14817 h 294217"/>
                <a:gd name="connsiteX7" fmla="*/ 279400 w 520700"/>
                <a:gd name="connsiteY7" fmla="*/ 46567 h 294217"/>
                <a:gd name="connsiteX8" fmla="*/ 285750 w 520700"/>
                <a:gd name="connsiteY8" fmla="*/ 173567 h 294217"/>
                <a:gd name="connsiteX9" fmla="*/ 311150 w 520700"/>
                <a:gd name="connsiteY9" fmla="*/ 237067 h 294217"/>
                <a:gd name="connsiteX10" fmla="*/ 393700 w 520700"/>
                <a:gd name="connsiteY10" fmla="*/ 262467 h 294217"/>
                <a:gd name="connsiteX11" fmla="*/ 482600 w 520700"/>
                <a:gd name="connsiteY11" fmla="*/ 268817 h 294217"/>
                <a:gd name="connsiteX12" fmla="*/ 520700 w 520700"/>
                <a:gd name="connsiteY12" fmla="*/ 275167 h 2942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0700" h="294217">
                  <a:moveTo>
                    <a:pt x="0" y="294217"/>
                  </a:moveTo>
                  <a:cubicBezTo>
                    <a:pt x="33866" y="293688"/>
                    <a:pt x="67733" y="293159"/>
                    <a:pt x="88900" y="281517"/>
                  </a:cubicBezTo>
                  <a:cubicBezTo>
                    <a:pt x="110067" y="269875"/>
                    <a:pt x="117475" y="252942"/>
                    <a:pt x="127000" y="224367"/>
                  </a:cubicBezTo>
                  <a:cubicBezTo>
                    <a:pt x="136525" y="195792"/>
                    <a:pt x="138642" y="142875"/>
                    <a:pt x="146050" y="110067"/>
                  </a:cubicBezTo>
                  <a:cubicBezTo>
                    <a:pt x="153458" y="77259"/>
                    <a:pt x="159808" y="45509"/>
                    <a:pt x="171450" y="27517"/>
                  </a:cubicBezTo>
                  <a:cubicBezTo>
                    <a:pt x="183092" y="9525"/>
                    <a:pt x="200025" y="4234"/>
                    <a:pt x="215900" y="2117"/>
                  </a:cubicBezTo>
                  <a:cubicBezTo>
                    <a:pt x="231775" y="0"/>
                    <a:pt x="256117" y="7409"/>
                    <a:pt x="266700" y="14817"/>
                  </a:cubicBezTo>
                  <a:cubicBezTo>
                    <a:pt x="277283" y="22225"/>
                    <a:pt x="276225" y="20109"/>
                    <a:pt x="279400" y="46567"/>
                  </a:cubicBezTo>
                  <a:cubicBezTo>
                    <a:pt x="282575" y="73025"/>
                    <a:pt x="280458" y="141817"/>
                    <a:pt x="285750" y="173567"/>
                  </a:cubicBezTo>
                  <a:cubicBezTo>
                    <a:pt x="291042" y="205317"/>
                    <a:pt x="293158" y="222250"/>
                    <a:pt x="311150" y="237067"/>
                  </a:cubicBezTo>
                  <a:cubicBezTo>
                    <a:pt x="329142" y="251884"/>
                    <a:pt x="365125" y="257175"/>
                    <a:pt x="393700" y="262467"/>
                  </a:cubicBezTo>
                  <a:cubicBezTo>
                    <a:pt x="422275" y="267759"/>
                    <a:pt x="461433" y="266700"/>
                    <a:pt x="482600" y="268817"/>
                  </a:cubicBezTo>
                  <a:cubicBezTo>
                    <a:pt x="503767" y="270934"/>
                    <a:pt x="512233" y="273050"/>
                    <a:pt x="520700" y="275167"/>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2" name="Freeform 21">
              <a:extLst>
                <a:ext uri="{FF2B5EF4-FFF2-40B4-BE49-F238E27FC236}">
                  <a16:creationId xmlns:a16="http://schemas.microsoft.com/office/drawing/2014/main" id="{84768F55-5834-4978-AF9A-07DB701D0E18}"/>
                </a:ext>
              </a:extLst>
            </p:cNvPr>
            <p:cNvSpPr/>
            <p:nvPr/>
          </p:nvSpPr>
          <p:spPr bwMode="auto">
            <a:xfrm>
              <a:off x="4597559" y="4965382"/>
              <a:ext cx="444526" cy="630238"/>
            </a:xfrm>
            <a:custGeom>
              <a:avLst/>
              <a:gdLst>
                <a:gd name="connsiteX0" fmla="*/ 0 w 444500"/>
                <a:gd name="connsiteY0" fmla="*/ 618067 h 630767"/>
                <a:gd name="connsiteX1" fmla="*/ 69850 w 444500"/>
                <a:gd name="connsiteY1" fmla="*/ 599017 h 630767"/>
                <a:gd name="connsiteX2" fmla="*/ 127000 w 444500"/>
                <a:gd name="connsiteY2" fmla="*/ 503767 h 630767"/>
                <a:gd name="connsiteX3" fmla="*/ 171450 w 444500"/>
                <a:gd name="connsiteY3" fmla="*/ 319617 h 630767"/>
                <a:gd name="connsiteX4" fmla="*/ 203200 w 444500"/>
                <a:gd name="connsiteY4" fmla="*/ 135467 h 630767"/>
                <a:gd name="connsiteX5" fmla="*/ 228600 w 444500"/>
                <a:gd name="connsiteY5" fmla="*/ 21167 h 630767"/>
                <a:gd name="connsiteX6" fmla="*/ 273050 w 444500"/>
                <a:gd name="connsiteY6" fmla="*/ 8467 h 630767"/>
                <a:gd name="connsiteX7" fmla="*/ 317500 w 444500"/>
                <a:gd name="connsiteY7" fmla="*/ 52917 h 630767"/>
                <a:gd name="connsiteX8" fmla="*/ 349250 w 444500"/>
                <a:gd name="connsiteY8" fmla="*/ 167217 h 630767"/>
                <a:gd name="connsiteX9" fmla="*/ 374650 w 444500"/>
                <a:gd name="connsiteY9" fmla="*/ 319617 h 630767"/>
                <a:gd name="connsiteX10" fmla="*/ 387350 w 444500"/>
                <a:gd name="connsiteY10" fmla="*/ 484717 h 630767"/>
                <a:gd name="connsiteX11" fmla="*/ 412750 w 444500"/>
                <a:gd name="connsiteY11" fmla="*/ 567267 h 630767"/>
                <a:gd name="connsiteX12" fmla="*/ 444500 w 444500"/>
                <a:gd name="connsiteY12" fmla="*/ 630767 h 630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4500" h="630767">
                  <a:moveTo>
                    <a:pt x="0" y="618067"/>
                  </a:moveTo>
                  <a:cubicBezTo>
                    <a:pt x="24342" y="618067"/>
                    <a:pt x="48684" y="618067"/>
                    <a:pt x="69850" y="599017"/>
                  </a:cubicBezTo>
                  <a:cubicBezTo>
                    <a:pt x="91016" y="579967"/>
                    <a:pt x="110067" y="550334"/>
                    <a:pt x="127000" y="503767"/>
                  </a:cubicBezTo>
                  <a:cubicBezTo>
                    <a:pt x="143933" y="457200"/>
                    <a:pt x="158750" y="381000"/>
                    <a:pt x="171450" y="319617"/>
                  </a:cubicBezTo>
                  <a:cubicBezTo>
                    <a:pt x="184150" y="258234"/>
                    <a:pt x="193675" y="185209"/>
                    <a:pt x="203200" y="135467"/>
                  </a:cubicBezTo>
                  <a:cubicBezTo>
                    <a:pt x="212725" y="85725"/>
                    <a:pt x="216958" y="42334"/>
                    <a:pt x="228600" y="21167"/>
                  </a:cubicBezTo>
                  <a:cubicBezTo>
                    <a:pt x="240242" y="0"/>
                    <a:pt x="258233" y="3175"/>
                    <a:pt x="273050" y="8467"/>
                  </a:cubicBezTo>
                  <a:cubicBezTo>
                    <a:pt x="287867" y="13759"/>
                    <a:pt x="304800" y="26459"/>
                    <a:pt x="317500" y="52917"/>
                  </a:cubicBezTo>
                  <a:cubicBezTo>
                    <a:pt x="330200" y="79375"/>
                    <a:pt x="339725" y="122767"/>
                    <a:pt x="349250" y="167217"/>
                  </a:cubicBezTo>
                  <a:cubicBezTo>
                    <a:pt x="358775" y="211667"/>
                    <a:pt x="368300" y="266700"/>
                    <a:pt x="374650" y="319617"/>
                  </a:cubicBezTo>
                  <a:cubicBezTo>
                    <a:pt x="381000" y="372534"/>
                    <a:pt x="381000" y="443442"/>
                    <a:pt x="387350" y="484717"/>
                  </a:cubicBezTo>
                  <a:cubicBezTo>
                    <a:pt x="393700" y="525992"/>
                    <a:pt x="403225" y="542925"/>
                    <a:pt x="412750" y="567267"/>
                  </a:cubicBezTo>
                  <a:cubicBezTo>
                    <a:pt x="422275" y="591609"/>
                    <a:pt x="433387" y="611188"/>
                    <a:pt x="444500" y="630767"/>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2553" name="Freeform 22">
              <a:extLst>
                <a:ext uri="{FF2B5EF4-FFF2-40B4-BE49-F238E27FC236}">
                  <a16:creationId xmlns:a16="http://schemas.microsoft.com/office/drawing/2014/main" id="{C475EEA1-EBCF-4402-8B1E-BF55BCF142B1}"/>
                </a:ext>
              </a:extLst>
            </p:cNvPr>
            <p:cNvSpPr>
              <a:spLocks/>
            </p:cNvSpPr>
            <p:nvPr/>
          </p:nvSpPr>
          <p:spPr bwMode="auto">
            <a:xfrm>
              <a:off x="5765800" y="4681220"/>
              <a:ext cx="819150" cy="152400"/>
            </a:xfrm>
            <a:custGeom>
              <a:avLst/>
              <a:gdLst>
                <a:gd name="T0" fmla="*/ 819150 w 819150"/>
                <a:gd name="T1" fmla="*/ 152400 h 152400"/>
                <a:gd name="T2" fmla="*/ 673100 w 819150"/>
                <a:gd name="T3" fmla="*/ 101600 h 152400"/>
                <a:gd name="T4" fmla="*/ 381000 w 819150"/>
                <a:gd name="T5" fmla="*/ 44450 h 152400"/>
                <a:gd name="T6" fmla="*/ 0 w 819150"/>
                <a:gd name="T7" fmla="*/ 0 h 1524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19150" h="152400">
                  <a:moveTo>
                    <a:pt x="819150" y="152400"/>
                  </a:moveTo>
                  <a:cubicBezTo>
                    <a:pt x="782637" y="135996"/>
                    <a:pt x="746125" y="119592"/>
                    <a:pt x="673100" y="101600"/>
                  </a:cubicBezTo>
                  <a:cubicBezTo>
                    <a:pt x="600075" y="83608"/>
                    <a:pt x="493183" y="61383"/>
                    <a:pt x="381000" y="44450"/>
                  </a:cubicBezTo>
                  <a:cubicBezTo>
                    <a:pt x="268817" y="27517"/>
                    <a:pt x="134408" y="13758"/>
                    <a:pt x="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2554" name="Freeform 23">
              <a:extLst>
                <a:ext uri="{FF2B5EF4-FFF2-40B4-BE49-F238E27FC236}">
                  <a16:creationId xmlns:a16="http://schemas.microsoft.com/office/drawing/2014/main" id="{9B1FE3FB-94E9-4C19-9270-5BFF29AAB0F6}"/>
                </a:ext>
              </a:extLst>
            </p:cNvPr>
            <p:cNvSpPr>
              <a:spLocks/>
            </p:cNvSpPr>
            <p:nvPr/>
          </p:nvSpPr>
          <p:spPr bwMode="auto">
            <a:xfrm>
              <a:off x="5086350" y="5100320"/>
              <a:ext cx="1035050" cy="44450"/>
            </a:xfrm>
            <a:custGeom>
              <a:avLst/>
              <a:gdLst>
                <a:gd name="T0" fmla="*/ 1035050 w 1035050"/>
                <a:gd name="T1" fmla="*/ 0 h 44450"/>
                <a:gd name="T2" fmla="*/ 838200 w 1035050"/>
                <a:gd name="T3" fmla="*/ 31750 h 44450"/>
                <a:gd name="T4" fmla="*/ 0 w 1035050"/>
                <a:gd name="T5" fmla="*/ 44450 h 44450"/>
                <a:gd name="T6" fmla="*/ 0 60000 65536"/>
                <a:gd name="T7" fmla="*/ 0 60000 65536"/>
                <a:gd name="T8" fmla="*/ 0 60000 65536"/>
              </a:gdLst>
              <a:ahLst/>
              <a:cxnLst>
                <a:cxn ang="T6">
                  <a:pos x="T0" y="T1"/>
                </a:cxn>
                <a:cxn ang="T7">
                  <a:pos x="T2" y="T3"/>
                </a:cxn>
                <a:cxn ang="T8">
                  <a:pos x="T4" y="T5"/>
                </a:cxn>
              </a:cxnLst>
              <a:rect l="0" t="0" r="r" b="b"/>
              <a:pathLst>
                <a:path w="1035050" h="44450">
                  <a:moveTo>
                    <a:pt x="1035050" y="0"/>
                  </a:moveTo>
                  <a:cubicBezTo>
                    <a:pt x="1022879" y="12171"/>
                    <a:pt x="1010708" y="24342"/>
                    <a:pt x="838200" y="31750"/>
                  </a:cubicBezTo>
                  <a:cubicBezTo>
                    <a:pt x="665692" y="39158"/>
                    <a:pt x="332846" y="41804"/>
                    <a:pt x="0" y="444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2555" name="TextBox 24">
              <a:extLst>
                <a:ext uri="{FF2B5EF4-FFF2-40B4-BE49-F238E27FC236}">
                  <a16:creationId xmlns:a16="http://schemas.microsoft.com/office/drawing/2014/main" id="{6821404A-5CCE-4F3B-9601-DB66722ADEA3}"/>
                </a:ext>
              </a:extLst>
            </p:cNvPr>
            <p:cNvSpPr txBox="1">
              <a:spLocks noChangeArrowheads="1"/>
            </p:cNvSpPr>
            <p:nvPr/>
          </p:nvSpPr>
          <p:spPr bwMode="auto">
            <a:xfrm>
              <a:off x="1873250" y="4058920"/>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Vdd</a:t>
              </a:r>
              <a:endParaRPr lang="en-US" altLang="en-US"/>
            </a:p>
          </p:txBody>
        </p:sp>
        <p:sp>
          <p:nvSpPr>
            <p:cNvPr id="22556" name="TextBox 25">
              <a:extLst>
                <a:ext uri="{FF2B5EF4-FFF2-40B4-BE49-F238E27FC236}">
                  <a16:creationId xmlns:a16="http://schemas.microsoft.com/office/drawing/2014/main" id="{7275C141-EFD2-4A8E-88A5-A68C8C41D4A6}"/>
                </a:ext>
              </a:extLst>
            </p:cNvPr>
            <p:cNvSpPr txBox="1">
              <a:spLocks noChangeArrowheads="1"/>
            </p:cNvSpPr>
            <p:nvPr/>
          </p:nvSpPr>
          <p:spPr bwMode="auto">
            <a:xfrm>
              <a:off x="1866900" y="4480421"/>
              <a:ext cx="7349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Vih_min</a:t>
              </a:r>
              <a:endParaRPr lang="en-US" altLang="en-US"/>
            </a:p>
          </p:txBody>
        </p:sp>
        <p:sp>
          <p:nvSpPr>
            <p:cNvPr id="22557" name="TextBox 26">
              <a:extLst>
                <a:ext uri="{FF2B5EF4-FFF2-40B4-BE49-F238E27FC236}">
                  <a16:creationId xmlns:a16="http://schemas.microsoft.com/office/drawing/2014/main" id="{83C5E1A7-DE65-4277-8973-5363B7252A9F}"/>
                </a:ext>
              </a:extLst>
            </p:cNvPr>
            <p:cNvSpPr txBox="1">
              <a:spLocks noChangeArrowheads="1"/>
            </p:cNvSpPr>
            <p:nvPr/>
          </p:nvSpPr>
          <p:spPr bwMode="auto">
            <a:xfrm>
              <a:off x="1898650" y="5045571"/>
              <a:ext cx="72693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Vil_max</a:t>
              </a:r>
              <a:endParaRPr lang="en-US" altLang="en-US"/>
            </a:p>
          </p:txBody>
        </p:sp>
        <p:sp>
          <p:nvSpPr>
            <p:cNvPr id="22558" name="TextBox 27">
              <a:extLst>
                <a:ext uri="{FF2B5EF4-FFF2-40B4-BE49-F238E27FC236}">
                  <a16:creationId xmlns:a16="http://schemas.microsoft.com/office/drawing/2014/main" id="{0A870B3B-409F-44A5-8256-0FF639AA4DCF}"/>
                </a:ext>
              </a:extLst>
            </p:cNvPr>
            <p:cNvSpPr txBox="1">
              <a:spLocks noChangeArrowheads="1"/>
            </p:cNvSpPr>
            <p:nvPr/>
          </p:nvSpPr>
          <p:spPr bwMode="auto">
            <a:xfrm>
              <a:off x="1892300" y="5432921"/>
              <a:ext cx="4571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Vss</a:t>
              </a:r>
              <a:endParaRPr lang="en-US" altLang="en-US"/>
            </a:p>
          </p:txBody>
        </p:sp>
        <p:sp>
          <p:nvSpPr>
            <p:cNvPr id="22559" name="TextBox 28">
              <a:extLst>
                <a:ext uri="{FF2B5EF4-FFF2-40B4-BE49-F238E27FC236}">
                  <a16:creationId xmlns:a16="http://schemas.microsoft.com/office/drawing/2014/main" id="{3FF88452-8FA9-4DBA-914C-4C0063D04FFA}"/>
                </a:ext>
              </a:extLst>
            </p:cNvPr>
            <p:cNvSpPr txBox="1">
              <a:spLocks noChangeArrowheads="1"/>
            </p:cNvSpPr>
            <p:nvPr/>
          </p:nvSpPr>
          <p:spPr bwMode="auto">
            <a:xfrm>
              <a:off x="2851174" y="4725670"/>
              <a:ext cx="106311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Safe glitches</a:t>
              </a:r>
              <a:endParaRPr lang="en-US" altLang="en-US"/>
            </a:p>
          </p:txBody>
        </p:sp>
        <p:sp>
          <p:nvSpPr>
            <p:cNvPr id="31" name="TextBox 30">
              <a:extLst>
                <a:ext uri="{FF2B5EF4-FFF2-40B4-BE49-F238E27FC236}">
                  <a16:creationId xmlns:a16="http://schemas.microsoft.com/office/drawing/2014/main" id="{3249D08A-AFF4-4F2F-8220-708195F47C2B}"/>
                </a:ext>
              </a:extLst>
            </p:cNvPr>
            <p:cNvSpPr txBox="1"/>
            <p:nvPr/>
          </p:nvSpPr>
          <p:spPr>
            <a:xfrm>
              <a:off x="5715225" y="4773295"/>
              <a:ext cx="1476461" cy="415925"/>
            </a:xfrm>
            <a:prstGeom prst="rect">
              <a:avLst/>
            </a:prstGeom>
            <a:noFill/>
          </p:spPr>
          <p:txBody>
            <a:bodyPr wrap="none">
              <a:spAutoFit/>
            </a:bodyPr>
            <a:lstStyle/>
            <a:p>
              <a:pPr eaLnBrk="1" hangingPunct="1">
                <a:defRPr/>
              </a:pPr>
              <a:r>
                <a:rPr lang="en-US" sz="1050" dirty="0">
                  <a:latin typeface="Arial" charset="0"/>
                  <a:cs typeface="Arial" charset="0"/>
                </a:rPr>
                <a:t>Potentially hazardous</a:t>
              </a:r>
            </a:p>
            <a:p>
              <a:pPr eaLnBrk="1" hangingPunct="1">
                <a:defRPr/>
              </a:pPr>
              <a:r>
                <a:rPr lang="en-US" sz="1050" dirty="0">
                  <a:latin typeface="Arial" charset="0"/>
                  <a:cs typeface="Arial" charset="0"/>
                </a:rPr>
                <a:t>            glitches</a:t>
              </a:r>
            </a:p>
          </p:txBody>
        </p:sp>
      </p:grpSp>
      <p:grpSp>
        <p:nvGrpSpPr>
          <p:cNvPr id="22537" name="Group 45">
            <a:extLst>
              <a:ext uri="{FF2B5EF4-FFF2-40B4-BE49-F238E27FC236}">
                <a16:creationId xmlns:a16="http://schemas.microsoft.com/office/drawing/2014/main" id="{FF0A8119-51E9-442F-A147-634B6419A214}"/>
              </a:ext>
            </a:extLst>
          </p:cNvPr>
          <p:cNvGrpSpPr>
            <a:grpSpLocks/>
          </p:cNvGrpSpPr>
          <p:nvPr/>
        </p:nvGrpSpPr>
        <p:grpSpPr bwMode="auto">
          <a:xfrm>
            <a:off x="2279651" y="4073153"/>
            <a:ext cx="766763" cy="239713"/>
            <a:chOff x="519813" y="5018123"/>
            <a:chExt cx="1612900" cy="503767"/>
          </a:xfrm>
        </p:grpSpPr>
        <p:cxnSp>
          <p:nvCxnSpPr>
            <p:cNvPr id="22539" name="Straight Connector 8">
              <a:extLst>
                <a:ext uri="{FF2B5EF4-FFF2-40B4-BE49-F238E27FC236}">
                  <a16:creationId xmlns:a16="http://schemas.microsoft.com/office/drawing/2014/main" id="{2638454D-2F06-4B5A-A425-FB3363618DC7}"/>
                </a:ext>
              </a:extLst>
            </p:cNvPr>
            <p:cNvCxnSpPr>
              <a:cxnSpLocks noChangeShapeType="1"/>
            </p:cNvCxnSpPr>
            <p:nvPr/>
          </p:nvCxnSpPr>
          <p:spPr bwMode="auto">
            <a:xfrm>
              <a:off x="519813" y="5128190"/>
              <a:ext cx="533399" cy="0"/>
            </a:xfrm>
            <a:prstGeom prst="line">
              <a:avLst/>
            </a:prstGeom>
            <a:noFill/>
            <a:ln w="9525" algn="ctr">
              <a:solidFill>
                <a:schemeClr val="tx1"/>
              </a:solidFill>
              <a:round/>
              <a:headEnd/>
              <a:tailEnd/>
            </a:ln>
          </p:spPr>
        </p:cxnSp>
        <p:cxnSp>
          <p:nvCxnSpPr>
            <p:cNvPr id="10" name="Straight Connector 9">
              <a:extLst>
                <a:ext uri="{FF2B5EF4-FFF2-40B4-BE49-F238E27FC236}">
                  <a16:creationId xmlns:a16="http://schemas.microsoft.com/office/drawing/2014/main" id="{2EC04D50-7A15-4E16-BCE1-09E932271554}"/>
                </a:ext>
              </a:extLst>
            </p:cNvPr>
            <p:cNvCxnSpPr/>
            <p:nvPr/>
          </p:nvCxnSpPr>
          <p:spPr bwMode="auto">
            <a:xfrm>
              <a:off x="817015" y="5518553"/>
              <a:ext cx="307219" cy="333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6BB6B4A-9D92-4B37-90AA-D5FE0DDF314D}"/>
                </a:ext>
              </a:extLst>
            </p:cNvPr>
            <p:cNvCxnSpPr/>
            <p:nvPr/>
          </p:nvCxnSpPr>
          <p:spPr bwMode="auto">
            <a:xfrm>
              <a:off x="1752029" y="5515218"/>
              <a:ext cx="380684" cy="333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2" name="Freeform 11">
              <a:extLst>
                <a:ext uri="{FF2B5EF4-FFF2-40B4-BE49-F238E27FC236}">
                  <a16:creationId xmlns:a16="http://schemas.microsoft.com/office/drawing/2014/main" id="{62E7012C-AA0A-49A8-8430-E390822F2F15}"/>
                </a:ext>
              </a:extLst>
            </p:cNvPr>
            <p:cNvSpPr/>
            <p:nvPr/>
          </p:nvSpPr>
          <p:spPr bwMode="auto">
            <a:xfrm>
              <a:off x="1124234" y="5018123"/>
              <a:ext cx="627795" cy="503767"/>
            </a:xfrm>
            <a:custGeom>
              <a:avLst/>
              <a:gdLst>
                <a:gd name="connsiteX0" fmla="*/ 0 w 628650"/>
                <a:gd name="connsiteY0" fmla="*/ 503767 h 503767"/>
                <a:gd name="connsiteX1" fmla="*/ 63500 w 628650"/>
                <a:gd name="connsiteY1" fmla="*/ 472017 h 503767"/>
                <a:gd name="connsiteX2" fmla="*/ 120650 w 628650"/>
                <a:gd name="connsiteY2" fmla="*/ 421217 h 503767"/>
                <a:gd name="connsiteX3" fmla="*/ 196850 w 628650"/>
                <a:gd name="connsiteY3" fmla="*/ 262467 h 503767"/>
                <a:gd name="connsiteX4" fmla="*/ 254000 w 628650"/>
                <a:gd name="connsiteY4" fmla="*/ 103717 h 503767"/>
                <a:gd name="connsiteX5" fmla="*/ 298450 w 628650"/>
                <a:gd name="connsiteY5" fmla="*/ 14817 h 503767"/>
                <a:gd name="connsiteX6" fmla="*/ 355600 w 628650"/>
                <a:gd name="connsiteY6" fmla="*/ 14817 h 503767"/>
                <a:gd name="connsiteX7" fmla="*/ 412750 w 628650"/>
                <a:gd name="connsiteY7" fmla="*/ 97367 h 503767"/>
                <a:gd name="connsiteX8" fmla="*/ 457200 w 628650"/>
                <a:gd name="connsiteY8" fmla="*/ 198967 h 503767"/>
                <a:gd name="connsiteX9" fmla="*/ 508000 w 628650"/>
                <a:gd name="connsiteY9" fmla="*/ 332317 h 503767"/>
                <a:gd name="connsiteX10" fmla="*/ 558800 w 628650"/>
                <a:gd name="connsiteY10" fmla="*/ 421217 h 503767"/>
                <a:gd name="connsiteX11" fmla="*/ 628650 w 628650"/>
                <a:gd name="connsiteY11" fmla="*/ 497417 h 503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28650" h="503767">
                  <a:moveTo>
                    <a:pt x="0" y="503767"/>
                  </a:moveTo>
                  <a:cubicBezTo>
                    <a:pt x="21696" y="494771"/>
                    <a:pt x="43392" y="485775"/>
                    <a:pt x="63500" y="472017"/>
                  </a:cubicBezTo>
                  <a:cubicBezTo>
                    <a:pt x="83608" y="458259"/>
                    <a:pt x="98425" y="456142"/>
                    <a:pt x="120650" y="421217"/>
                  </a:cubicBezTo>
                  <a:cubicBezTo>
                    <a:pt x="142875" y="386292"/>
                    <a:pt x="174625" y="315384"/>
                    <a:pt x="196850" y="262467"/>
                  </a:cubicBezTo>
                  <a:cubicBezTo>
                    <a:pt x="219075" y="209550"/>
                    <a:pt x="237067" y="144992"/>
                    <a:pt x="254000" y="103717"/>
                  </a:cubicBezTo>
                  <a:cubicBezTo>
                    <a:pt x="270933" y="62442"/>
                    <a:pt x="281517" y="29634"/>
                    <a:pt x="298450" y="14817"/>
                  </a:cubicBezTo>
                  <a:cubicBezTo>
                    <a:pt x="315383" y="0"/>
                    <a:pt x="336550" y="1059"/>
                    <a:pt x="355600" y="14817"/>
                  </a:cubicBezTo>
                  <a:cubicBezTo>
                    <a:pt x="374650" y="28575"/>
                    <a:pt x="395817" y="66675"/>
                    <a:pt x="412750" y="97367"/>
                  </a:cubicBezTo>
                  <a:cubicBezTo>
                    <a:pt x="429683" y="128059"/>
                    <a:pt x="441325" y="159809"/>
                    <a:pt x="457200" y="198967"/>
                  </a:cubicBezTo>
                  <a:cubicBezTo>
                    <a:pt x="473075" y="238125"/>
                    <a:pt x="491067" y="295275"/>
                    <a:pt x="508000" y="332317"/>
                  </a:cubicBezTo>
                  <a:cubicBezTo>
                    <a:pt x="524933" y="369359"/>
                    <a:pt x="538692" y="393700"/>
                    <a:pt x="558800" y="421217"/>
                  </a:cubicBezTo>
                  <a:cubicBezTo>
                    <a:pt x="578908" y="448734"/>
                    <a:pt x="603779" y="473075"/>
                    <a:pt x="628650" y="497417"/>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22543" name="Straight Arrow Connector 31">
              <a:extLst>
                <a:ext uri="{FF2B5EF4-FFF2-40B4-BE49-F238E27FC236}">
                  <a16:creationId xmlns:a16="http://schemas.microsoft.com/office/drawing/2014/main" id="{4A86AD2C-0094-424A-8DF8-422CEDB61FDD}"/>
                </a:ext>
              </a:extLst>
            </p:cNvPr>
            <p:cNvCxnSpPr>
              <a:cxnSpLocks noChangeShapeType="1"/>
            </p:cNvCxnSpPr>
            <p:nvPr/>
          </p:nvCxnSpPr>
          <p:spPr bwMode="auto">
            <a:xfrm rot="5400000">
              <a:off x="735713" y="5321865"/>
              <a:ext cx="381000" cy="1588"/>
            </a:xfrm>
            <a:prstGeom prst="straightConnector1">
              <a:avLst/>
            </a:prstGeom>
            <a:noFill/>
            <a:ln w="9525" algn="ctr">
              <a:solidFill>
                <a:srgbClr val="0000FF"/>
              </a:solidFill>
              <a:round/>
              <a:headEnd type="triangle" w="med" len="med"/>
              <a:tailEnd type="triangle" w="med" len="med"/>
            </a:ln>
          </p:spPr>
        </p:cxnSp>
      </p:grpSp>
      <p:sp>
        <p:nvSpPr>
          <p:cNvPr id="34" name="TextBox 33">
            <a:extLst>
              <a:ext uri="{FF2B5EF4-FFF2-40B4-BE49-F238E27FC236}">
                <a16:creationId xmlns:a16="http://schemas.microsoft.com/office/drawing/2014/main" id="{3ACB83CC-B97C-4BFD-B50D-6EB3E516CC99}"/>
              </a:ext>
            </a:extLst>
          </p:cNvPr>
          <p:cNvSpPr txBox="1"/>
          <p:nvPr/>
        </p:nvSpPr>
        <p:spPr>
          <a:xfrm>
            <a:off x="2279651" y="3728665"/>
            <a:ext cx="1941513" cy="254000"/>
          </a:xfrm>
          <a:prstGeom prst="rect">
            <a:avLst/>
          </a:prstGeom>
          <a:noFill/>
        </p:spPr>
        <p:txBody>
          <a:bodyPr wrap="none">
            <a:spAutoFit/>
          </a:bodyPr>
          <a:lstStyle/>
          <a:p>
            <a:pPr eaLnBrk="1" hangingPunct="1">
              <a:defRPr/>
            </a:pPr>
            <a:r>
              <a:rPr lang="en-US" sz="1050" dirty="0">
                <a:latin typeface="Arial" charset="0"/>
                <a:cs typeface="Arial" charset="0"/>
              </a:rPr>
              <a:t>Glitch propagation possibility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7982A078-3440-4AFF-8991-77F6C94EC46C}"/>
              </a:ext>
            </a:extLst>
          </p:cNvPr>
          <p:cNvSpPr>
            <a:spLocks noGrp="1"/>
          </p:cNvSpPr>
          <p:nvPr>
            <p:ph type="title"/>
          </p:nvPr>
        </p:nvSpPr>
        <p:spPr/>
        <p:txBody>
          <a:bodyPr/>
          <a:lstStyle/>
          <a:p>
            <a:r>
              <a:rPr lang="en-US" altLang="en-US"/>
              <a:t>DC Margin Limits (2)</a:t>
            </a:r>
          </a:p>
        </p:txBody>
      </p:sp>
      <p:sp>
        <p:nvSpPr>
          <p:cNvPr id="23555" name="Content Placeholder 2">
            <a:extLst>
              <a:ext uri="{FF2B5EF4-FFF2-40B4-BE49-F238E27FC236}">
                <a16:creationId xmlns:a16="http://schemas.microsoft.com/office/drawing/2014/main" id="{DCFE7EC0-5FE9-4495-8627-8E2B4AF888A6}"/>
              </a:ext>
            </a:extLst>
          </p:cNvPr>
          <p:cNvSpPr>
            <a:spLocks noGrp="1"/>
          </p:cNvSpPr>
          <p:nvPr>
            <p:ph type="body" sz="quarter" idx="10"/>
          </p:nvPr>
        </p:nvSpPr>
        <p:spPr/>
        <p:txBody>
          <a:bodyPr/>
          <a:lstStyle/>
          <a:p>
            <a:r>
              <a:rPr lang="en-US" altLang="en-US" sz="2000"/>
              <a:t>Glitches magnitude is not enough to affect output of a cell</a:t>
            </a:r>
          </a:p>
          <a:p>
            <a:pPr lvl="1"/>
            <a:r>
              <a:rPr lang="en-US" altLang="en-US" sz="1600"/>
              <a:t>narrow width glitch </a:t>
            </a:r>
            <a:r>
              <a:rPr lang="en-US" altLang="en-US" sz="1600">
                <a:sym typeface="Wingdings" panose="05000000000000000000" pitchFamily="2" charset="2"/>
              </a:rPr>
              <a:t> no effect</a:t>
            </a:r>
          </a:p>
          <a:p>
            <a:r>
              <a:rPr lang="en-US" altLang="en-US" sz="2200">
                <a:sym typeface="Wingdings" panose="05000000000000000000" pitchFamily="2" charset="2"/>
              </a:rPr>
              <a:t>DC margin checks only noise rejection level is used typically</a:t>
            </a:r>
            <a:endParaRPr lang="en-US" altLang="en-US" sz="2200"/>
          </a:p>
        </p:txBody>
      </p:sp>
      <p:grpSp>
        <p:nvGrpSpPr>
          <p:cNvPr id="23556" name="Группа 15">
            <a:extLst>
              <a:ext uri="{FF2B5EF4-FFF2-40B4-BE49-F238E27FC236}">
                <a16:creationId xmlns:a16="http://schemas.microsoft.com/office/drawing/2014/main" id="{DF4F6948-D59F-4946-96B1-BEE018C67A17}"/>
              </a:ext>
            </a:extLst>
          </p:cNvPr>
          <p:cNvGrpSpPr>
            <a:grpSpLocks/>
          </p:cNvGrpSpPr>
          <p:nvPr/>
        </p:nvGrpSpPr>
        <p:grpSpPr bwMode="auto">
          <a:xfrm>
            <a:off x="2603501" y="3397250"/>
            <a:ext cx="5889625" cy="2408238"/>
            <a:chOff x="1079500" y="2971800"/>
            <a:chExt cx="5889586" cy="2408051"/>
          </a:xfrm>
        </p:grpSpPr>
        <p:cxnSp>
          <p:nvCxnSpPr>
            <p:cNvPr id="23558" name="Straight Arrow Connector 5">
              <a:extLst>
                <a:ext uri="{FF2B5EF4-FFF2-40B4-BE49-F238E27FC236}">
                  <a16:creationId xmlns:a16="http://schemas.microsoft.com/office/drawing/2014/main" id="{2915D255-D298-481F-BBA1-095F09FEFFB6}"/>
                </a:ext>
              </a:extLst>
            </p:cNvPr>
            <p:cNvCxnSpPr>
              <a:cxnSpLocks noChangeShapeType="1"/>
            </p:cNvCxnSpPr>
            <p:nvPr/>
          </p:nvCxnSpPr>
          <p:spPr bwMode="auto">
            <a:xfrm rot="5400000" flipH="1" flipV="1">
              <a:off x="1333500" y="4019550"/>
              <a:ext cx="2057400" cy="1588"/>
            </a:xfrm>
            <a:prstGeom prst="straightConnector1">
              <a:avLst/>
            </a:prstGeom>
            <a:noFill/>
            <a:ln w="25400" algn="ctr">
              <a:solidFill>
                <a:schemeClr val="tx1"/>
              </a:solidFill>
              <a:round/>
              <a:headEnd/>
              <a:tailEnd type="triangle" w="med" len="med"/>
            </a:ln>
          </p:spPr>
        </p:cxnSp>
        <p:cxnSp>
          <p:nvCxnSpPr>
            <p:cNvPr id="23559" name="Straight Arrow Connector 6">
              <a:extLst>
                <a:ext uri="{FF2B5EF4-FFF2-40B4-BE49-F238E27FC236}">
                  <a16:creationId xmlns:a16="http://schemas.microsoft.com/office/drawing/2014/main" id="{C8CF4E77-C497-4866-B054-DA27F537B16A}"/>
                </a:ext>
              </a:extLst>
            </p:cNvPr>
            <p:cNvCxnSpPr>
              <a:cxnSpLocks noChangeShapeType="1"/>
            </p:cNvCxnSpPr>
            <p:nvPr/>
          </p:nvCxnSpPr>
          <p:spPr bwMode="auto">
            <a:xfrm>
              <a:off x="2362200" y="5048250"/>
              <a:ext cx="4267200" cy="1588"/>
            </a:xfrm>
            <a:prstGeom prst="straightConnector1">
              <a:avLst/>
            </a:prstGeom>
            <a:noFill/>
            <a:ln w="25400" algn="ctr">
              <a:solidFill>
                <a:schemeClr val="tx1"/>
              </a:solidFill>
              <a:round/>
              <a:headEnd/>
              <a:tailEnd type="triangle" w="med" len="med"/>
            </a:ln>
          </p:spPr>
        </p:cxnSp>
        <p:cxnSp>
          <p:nvCxnSpPr>
            <p:cNvPr id="23560" name="Straight Connector 7">
              <a:extLst>
                <a:ext uri="{FF2B5EF4-FFF2-40B4-BE49-F238E27FC236}">
                  <a16:creationId xmlns:a16="http://schemas.microsoft.com/office/drawing/2014/main" id="{7615583E-C68B-4682-B87C-EEBF1F9953F7}"/>
                </a:ext>
              </a:extLst>
            </p:cNvPr>
            <p:cNvCxnSpPr>
              <a:cxnSpLocks noChangeShapeType="1"/>
            </p:cNvCxnSpPr>
            <p:nvPr/>
          </p:nvCxnSpPr>
          <p:spPr bwMode="auto">
            <a:xfrm>
              <a:off x="2362200" y="4357694"/>
              <a:ext cx="3505200" cy="0"/>
            </a:xfrm>
            <a:prstGeom prst="line">
              <a:avLst/>
            </a:prstGeom>
            <a:noFill/>
            <a:ln w="9525" algn="ctr">
              <a:solidFill>
                <a:srgbClr val="0000FF"/>
              </a:solidFill>
              <a:round/>
              <a:headEnd/>
              <a:tailEnd/>
            </a:ln>
          </p:spPr>
        </p:cxnSp>
        <p:sp>
          <p:nvSpPr>
            <p:cNvPr id="23561" name="Freeform 8">
              <a:extLst>
                <a:ext uri="{FF2B5EF4-FFF2-40B4-BE49-F238E27FC236}">
                  <a16:creationId xmlns:a16="http://schemas.microsoft.com/office/drawing/2014/main" id="{3031B055-5455-4BEF-BB35-AEC3A24CBE2D}"/>
                </a:ext>
              </a:extLst>
            </p:cNvPr>
            <p:cNvSpPr>
              <a:spLocks/>
            </p:cNvSpPr>
            <p:nvPr/>
          </p:nvSpPr>
          <p:spPr bwMode="auto">
            <a:xfrm>
              <a:off x="4552950" y="4197350"/>
              <a:ext cx="1771650" cy="577850"/>
            </a:xfrm>
            <a:custGeom>
              <a:avLst/>
              <a:gdLst>
                <a:gd name="T0" fmla="*/ 1771650 w 1771650"/>
                <a:gd name="T1" fmla="*/ 0 h 577850"/>
                <a:gd name="T2" fmla="*/ 1631950 w 1771650"/>
                <a:gd name="T3" fmla="*/ 171450 h 577850"/>
                <a:gd name="T4" fmla="*/ 1416050 w 1771650"/>
                <a:gd name="T5" fmla="*/ 336550 h 577850"/>
                <a:gd name="T6" fmla="*/ 863600 w 1771650"/>
                <a:gd name="T7" fmla="*/ 527050 h 577850"/>
                <a:gd name="T8" fmla="*/ 0 w 1771650"/>
                <a:gd name="T9" fmla="*/ 577850 h 5778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71650" h="577850">
                  <a:moveTo>
                    <a:pt x="1771650" y="0"/>
                  </a:moveTo>
                  <a:cubicBezTo>
                    <a:pt x="1731433" y="57679"/>
                    <a:pt x="1691217" y="115358"/>
                    <a:pt x="1631950" y="171450"/>
                  </a:cubicBezTo>
                  <a:cubicBezTo>
                    <a:pt x="1572683" y="227542"/>
                    <a:pt x="1544108" y="277283"/>
                    <a:pt x="1416050" y="336550"/>
                  </a:cubicBezTo>
                  <a:cubicBezTo>
                    <a:pt x="1287992" y="395817"/>
                    <a:pt x="1099608" y="486833"/>
                    <a:pt x="863600" y="527050"/>
                  </a:cubicBezTo>
                  <a:cubicBezTo>
                    <a:pt x="627592" y="567267"/>
                    <a:pt x="313796" y="572558"/>
                    <a:pt x="0" y="5778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3562" name="TextBox 9">
              <a:extLst>
                <a:ext uri="{FF2B5EF4-FFF2-40B4-BE49-F238E27FC236}">
                  <a16:creationId xmlns:a16="http://schemas.microsoft.com/office/drawing/2014/main" id="{C378DFCE-8C6D-441F-BCA9-43CACBD8959B}"/>
                </a:ext>
              </a:extLst>
            </p:cNvPr>
            <p:cNvSpPr txBox="1">
              <a:spLocks noChangeArrowheads="1"/>
            </p:cNvSpPr>
            <p:nvPr/>
          </p:nvSpPr>
          <p:spPr bwMode="auto">
            <a:xfrm>
              <a:off x="1079500" y="2971800"/>
              <a:ext cx="118013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Noise height</a:t>
              </a:r>
            </a:p>
          </p:txBody>
        </p:sp>
        <p:sp>
          <p:nvSpPr>
            <p:cNvPr id="23563" name="TextBox 10">
              <a:extLst>
                <a:ext uri="{FF2B5EF4-FFF2-40B4-BE49-F238E27FC236}">
                  <a16:creationId xmlns:a16="http://schemas.microsoft.com/office/drawing/2014/main" id="{084EEF64-8F1E-4BBA-A962-8758B464DE9A}"/>
                </a:ext>
              </a:extLst>
            </p:cNvPr>
            <p:cNvSpPr txBox="1">
              <a:spLocks noChangeArrowheads="1"/>
            </p:cNvSpPr>
            <p:nvPr/>
          </p:nvSpPr>
          <p:spPr bwMode="auto">
            <a:xfrm>
              <a:off x="2374900" y="3604280"/>
              <a:ext cx="190629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    DC noise margin</a:t>
              </a:r>
            </a:p>
            <a:p>
              <a:pPr eaLnBrk="1" hangingPunct="1"/>
              <a:r>
                <a:rPr lang="en-US" altLang="en-US" sz="1400"/>
                <a:t>(Noise rejection level)</a:t>
              </a:r>
            </a:p>
          </p:txBody>
        </p:sp>
        <p:sp>
          <p:nvSpPr>
            <p:cNvPr id="23564" name="TextBox 11">
              <a:extLst>
                <a:ext uri="{FF2B5EF4-FFF2-40B4-BE49-F238E27FC236}">
                  <a16:creationId xmlns:a16="http://schemas.microsoft.com/office/drawing/2014/main" id="{DD11E77E-3026-401C-9E65-6FD0DC68A655}"/>
                </a:ext>
              </a:extLst>
            </p:cNvPr>
            <p:cNvSpPr txBox="1">
              <a:spLocks noChangeArrowheads="1"/>
            </p:cNvSpPr>
            <p:nvPr/>
          </p:nvSpPr>
          <p:spPr bwMode="auto">
            <a:xfrm>
              <a:off x="4760756" y="3864173"/>
              <a:ext cx="21355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Safe glitches in this area</a:t>
              </a:r>
            </a:p>
          </p:txBody>
        </p:sp>
        <p:sp>
          <p:nvSpPr>
            <p:cNvPr id="23565" name="TextBox 12">
              <a:extLst>
                <a:ext uri="{FF2B5EF4-FFF2-40B4-BE49-F238E27FC236}">
                  <a16:creationId xmlns:a16="http://schemas.microsoft.com/office/drawing/2014/main" id="{AC2753DA-0EED-4F34-891C-18ED011B61E7}"/>
                </a:ext>
              </a:extLst>
            </p:cNvPr>
            <p:cNvSpPr txBox="1">
              <a:spLocks noChangeArrowheads="1"/>
            </p:cNvSpPr>
            <p:nvPr/>
          </p:nvSpPr>
          <p:spPr bwMode="auto">
            <a:xfrm>
              <a:off x="5857884" y="5072074"/>
              <a:ext cx="1111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400"/>
                <a:t>Noise width</a:t>
              </a:r>
            </a:p>
          </p:txBody>
        </p:sp>
        <p:sp>
          <p:nvSpPr>
            <p:cNvPr id="23566" name="Freeform 13">
              <a:extLst>
                <a:ext uri="{FF2B5EF4-FFF2-40B4-BE49-F238E27FC236}">
                  <a16:creationId xmlns:a16="http://schemas.microsoft.com/office/drawing/2014/main" id="{709F2D9E-0C12-4BD8-99A9-DD81F80CEEC6}"/>
                </a:ext>
              </a:extLst>
            </p:cNvPr>
            <p:cNvSpPr>
              <a:spLocks/>
            </p:cNvSpPr>
            <p:nvPr/>
          </p:nvSpPr>
          <p:spPr bwMode="auto">
            <a:xfrm>
              <a:off x="3149600" y="4108450"/>
              <a:ext cx="50800" cy="215900"/>
            </a:xfrm>
            <a:custGeom>
              <a:avLst/>
              <a:gdLst>
                <a:gd name="T0" fmla="*/ 12700 w 50800"/>
                <a:gd name="T1" fmla="*/ 0 h 215900"/>
                <a:gd name="T2" fmla="*/ 6350 w 50800"/>
                <a:gd name="T3" fmla="*/ 107950 h 215900"/>
                <a:gd name="T4" fmla="*/ 50800 w 50800"/>
                <a:gd name="T5" fmla="*/ 215900 h 215900"/>
                <a:gd name="T6" fmla="*/ 0 60000 65536"/>
                <a:gd name="T7" fmla="*/ 0 60000 65536"/>
                <a:gd name="T8" fmla="*/ 0 60000 65536"/>
              </a:gdLst>
              <a:ahLst/>
              <a:cxnLst>
                <a:cxn ang="T6">
                  <a:pos x="T0" y="T1"/>
                </a:cxn>
                <a:cxn ang="T7">
                  <a:pos x="T2" y="T3"/>
                </a:cxn>
                <a:cxn ang="T8">
                  <a:pos x="T4" y="T5"/>
                </a:cxn>
              </a:cxnLst>
              <a:rect l="0" t="0" r="r" b="b"/>
              <a:pathLst>
                <a:path w="50800" h="215900">
                  <a:moveTo>
                    <a:pt x="12700" y="0"/>
                  </a:moveTo>
                  <a:cubicBezTo>
                    <a:pt x="6350" y="35983"/>
                    <a:pt x="0" y="71967"/>
                    <a:pt x="6350" y="107950"/>
                  </a:cubicBezTo>
                  <a:cubicBezTo>
                    <a:pt x="12700" y="143933"/>
                    <a:pt x="31750" y="179916"/>
                    <a:pt x="50800" y="2159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3567" name="Rectangle 14">
              <a:extLst>
                <a:ext uri="{FF2B5EF4-FFF2-40B4-BE49-F238E27FC236}">
                  <a16:creationId xmlns:a16="http://schemas.microsoft.com/office/drawing/2014/main" id="{52C058B5-207D-4198-84F4-19EE8BD32A46}"/>
                </a:ext>
              </a:extLst>
            </p:cNvPr>
            <p:cNvSpPr>
              <a:spLocks noChangeArrowheads="1"/>
            </p:cNvSpPr>
            <p:nvPr/>
          </p:nvSpPr>
          <p:spPr bwMode="auto">
            <a:xfrm>
              <a:off x="2362200" y="4349750"/>
              <a:ext cx="3505200" cy="685800"/>
            </a:xfrm>
            <a:prstGeom prst="rect">
              <a:avLst/>
            </a:prstGeom>
            <a:noFill/>
            <a:ln w="9525" algn="ctr">
              <a:solidFill>
                <a:srgbClr val="0000FF"/>
              </a:solidFill>
              <a:prstDash val="dash"/>
              <a:round/>
              <a:headEnd/>
              <a:tailEnd/>
            </a:ln>
            <a:extLst>
              <a:ext uri="{909E8E84-426E-40DD-AFC4-6F175D3DCCD1}">
                <a14:hiddenFill xmlns:a14="http://schemas.microsoft.com/office/drawing/2010/main">
                  <a:solidFill>
                    <a:srgbClr val="FFFFFF"/>
                  </a:solidFill>
                </a14:hiddenFill>
              </a:ext>
            </a:extLst>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sp>
        <p:nvSpPr>
          <p:cNvPr id="21" name="Rectangle 20">
            <a:extLst>
              <a:ext uri="{FF2B5EF4-FFF2-40B4-BE49-F238E27FC236}">
                <a16:creationId xmlns:a16="http://schemas.microsoft.com/office/drawing/2014/main" id="{0E273669-C686-4B60-AEF6-7CA44A4AB497}"/>
              </a:ext>
            </a:extLst>
          </p:cNvPr>
          <p:cNvSpPr/>
          <p:nvPr/>
        </p:nvSpPr>
        <p:spPr>
          <a:xfrm>
            <a:off x="4970464" y="3197225"/>
            <a:ext cx="1482725" cy="400050"/>
          </a:xfrm>
          <a:prstGeom prst="rect">
            <a:avLst/>
          </a:prstGeom>
          <a:solidFill>
            <a:schemeClr val="accent1"/>
          </a:solidFill>
          <a:ln w="952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wrap="none">
            <a:spAutoFit/>
          </a:bodyPr>
          <a:lstStyle/>
          <a:p>
            <a:pPr eaLnBrk="1" hangingPunct="1">
              <a:defRPr/>
            </a:pPr>
            <a:r>
              <a:rPr lang="en-US" sz="2000" dirty="0">
                <a:solidFill>
                  <a:schemeClr val="bg1"/>
                </a:solidFill>
              </a:rPr>
              <a:t>DC Margin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reeform 24">
            <a:extLst>
              <a:ext uri="{FF2B5EF4-FFF2-40B4-BE49-F238E27FC236}">
                <a16:creationId xmlns:a16="http://schemas.microsoft.com/office/drawing/2014/main" id="{8047A5F9-9DBD-46D3-9111-14ED52588920}"/>
              </a:ext>
            </a:extLst>
          </p:cNvPr>
          <p:cNvSpPr>
            <a:spLocks/>
          </p:cNvSpPr>
          <p:nvPr/>
        </p:nvSpPr>
        <p:spPr bwMode="auto">
          <a:xfrm>
            <a:off x="4716463" y="3533775"/>
            <a:ext cx="2533650" cy="1538288"/>
          </a:xfrm>
          <a:custGeom>
            <a:avLst/>
            <a:gdLst>
              <a:gd name="T0" fmla="*/ 21238 w 2533493"/>
              <a:gd name="T1" fmla="*/ 0 h 1538670"/>
              <a:gd name="T2" fmla="*/ 46638 w 2533493"/>
              <a:gd name="T3" fmla="*/ 241300 h 1538670"/>
              <a:gd name="T4" fmla="*/ 141888 w 2533493"/>
              <a:gd name="T5" fmla="*/ 501650 h 1538670"/>
              <a:gd name="T6" fmla="*/ 300638 w 2533493"/>
              <a:gd name="T7" fmla="*/ 736600 h 1538670"/>
              <a:gd name="T8" fmla="*/ 630838 w 2533493"/>
              <a:gd name="T9" fmla="*/ 1041400 h 1538670"/>
              <a:gd name="T10" fmla="*/ 935638 w 2533493"/>
              <a:gd name="T11" fmla="*/ 1219200 h 1538670"/>
              <a:gd name="T12" fmla="*/ 1259488 w 2533493"/>
              <a:gd name="T13" fmla="*/ 1352550 h 1538670"/>
              <a:gd name="T14" fmla="*/ 1672238 w 2533493"/>
              <a:gd name="T15" fmla="*/ 1466850 h 1538670"/>
              <a:gd name="T16" fmla="*/ 2123088 w 2533493"/>
              <a:gd name="T17" fmla="*/ 1530350 h 1538670"/>
              <a:gd name="T18" fmla="*/ 2384708 w 2533493"/>
              <a:gd name="T19" fmla="*/ 1538172 h 1538670"/>
              <a:gd name="T20" fmla="*/ 0 w 2533493"/>
              <a:gd name="T21" fmla="*/ 1525207 h 153867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533493" h="1538670">
                <a:moveTo>
                  <a:pt x="21238" y="0"/>
                </a:moveTo>
                <a:cubicBezTo>
                  <a:pt x="23884" y="78846"/>
                  <a:pt x="26530" y="157692"/>
                  <a:pt x="46638" y="241300"/>
                </a:cubicBezTo>
                <a:cubicBezTo>
                  <a:pt x="66746" y="324908"/>
                  <a:pt x="99555" y="419100"/>
                  <a:pt x="141888" y="501650"/>
                </a:cubicBezTo>
                <a:cubicBezTo>
                  <a:pt x="184221" y="584200"/>
                  <a:pt x="219146" y="646642"/>
                  <a:pt x="300638" y="736600"/>
                </a:cubicBezTo>
                <a:cubicBezTo>
                  <a:pt x="382130" y="826558"/>
                  <a:pt x="525005" y="960967"/>
                  <a:pt x="630838" y="1041400"/>
                </a:cubicBezTo>
                <a:cubicBezTo>
                  <a:pt x="736671" y="1121833"/>
                  <a:pt x="830863" y="1167342"/>
                  <a:pt x="935638" y="1219200"/>
                </a:cubicBezTo>
                <a:cubicBezTo>
                  <a:pt x="1040413" y="1271058"/>
                  <a:pt x="1136721" y="1311275"/>
                  <a:pt x="1259488" y="1352550"/>
                </a:cubicBezTo>
                <a:cubicBezTo>
                  <a:pt x="1382255" y="1393825"/>
                  <a:pt x="1528305" y="1437217"/>
                  <a:pt x="1672238" y="1466850"/>
                </a:cubicBezTo>
                <a:cubicBezTo>
                  <a:pt x="1816171" y="1496483"/>
                  <a:pt x="2004343" y="1518463"/>
                  <a:pt x="2123088" y="1530350"/>
                </a:cubicBezTo>
                <a:cubicBezTo>
                  <a:pt x="2241833" y="1542237"/>
                  <a:pt x="2793974" y="1537770"/>
                  <a:pt x="2384708" y="1538172"/>
                </a:cubicBezTo>
                <a:lnTo>
                  <a:pt x="0" y="1525207"/>
                </a:lnTo>
              </a:path>
            </a:pathLst>
          </a:custGeom>
          <a:pattFill prst="ltDnDiag">
            <a:fgClr>
              <a:schemeClr val="tx2"/>
            </a:fgClr>
            <a:bgClr>
              <a:schemeClr val="bg1"/>
            </a:bgClr>
          </a:patt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nchor="ctr"/>
          <a:lstStyle/>
          <a:p>
            <a:endParaRPr lang="en-US"/>
          </a:p>
        </p:txBody>
      </p:sp>
      <p:sp>
        <p:nvSpPr>
          <p:cNvPr id="24579" name="Freeform 22">
            <a:extLst>
              <a:ext uri="{FF2B5EF4-FFF2-40B4-BE49-F238E27FC236}">
                <a16:creationId xmlns:a16="http://schemas.microsoft.com/office/drawing/2014/main" id="{40E31DD6-349F-4708-A016-BA90F12926FF}"/>
              </a:ext>
            </a:extLst>
          </p:cNvPr>
          <p:cNvSpPr>
            <a:spLocks/>
          </p:cNvSpPr>
          <p:nvPr/>
        </p:nvSpPr>
        <p:spPr bwMode="auto">
          <a:xfrm>
            <a:off x="4746625" y="3467101"/>
            <a:ext cx="2381250" cy="1541463"/>
          </a:xfrm>
          <a:custGeom>
            <a:avLst/>
            <a:gdLst>
              <a:gd name="T0" fmla="*/ 0 w 2381250"/>
              <a:gd name="T1" fmla="*/ 0 h 1541992"/>
              <a:gd name="T2" fmla="*/ 25400 w 2381250"/>
              <a:gd name="T3" fmla="*/ 241300 h 1541992"/>
              <a:gd name="T4" fmla="*/ 120650 w 2381250"/>
              <a:gd name="T5" fmla="*/ 501650 h 1541992"/>
              <a:gd name="T6" fmla="*/ 279400 w 2381250"/>
              <a:gd name="T7" fmla="*/ 736600 h 1541992"/>
              <a:gd name="T8" fmla="*/ 609600 w 2381250"/>
              <a:gd name="T9" fmla="*/ 1041400 h 1541992"/>
              <a:gd name="T10" fmla="*/ 914400 w 2381250"/>
              <a:gd name="T11" fmla="*/ 1219200 h 1541992"/>
              <a:gd name="T12" fmla="*/ 1238250 w 2381250"/>
              <a:gd name="T13" fmla="*/ 1352550 h 1541992"/>
              <a:gd name="T14" fmla="*/ 1651000 w 2381250"/>
              <a:gd name="T15" fmla="*/ 1466850 h 1541992"/>
              <a:gd name="T16" fmla="*/ 2101850 w 2381250"/>
              <a:gd name="T17" fmla="*/ 1530350 h 1541992"/>
              <a:gd name="T18" fmla="*/ 2381250 w 2381250"/>
              <a:gd name="T19" fmla="*/ 1536700 h 154199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81250" h="1541992">
                <a:moveTo>
                  <a:pt x="0" y="0"/>
                </a:moveTo>
                <a:cubicBezTo>
                  <a:pt x="2646" y="78846"/>
                  <a:pt x="5292" y="157692"/>
                  <a:pt x="25400" y="241300"/>
                </a:cubicBezTo>
                <a:cubicBezTo>
                  <a:pt x="45508" y="324908"/>
                  <a:pt x="78317" y="419100"/>
                  <a:pt x="120650" y="501650"/>
                </a:cubicBezTo>
                <a:cubicBezTo>
                  <a:pt x="162983" y="584200"/>
                  <a:pt x="197908" y="646642"/>
                  <a:pt x="279400" y="736600"/>
                </a:cubicBezTo>
                <a:cubicBezTo>
                  <a:pt x="360892" y="826558"/>
                  <a:pt x="503767" y="960967"/>
                  <a:pt x="609600" y="1041400"/>
                </a:cubicBezTo>
                <a:cubicBezTo>
                  <a:pt x="715433" y="1121833"/>
                  <a:pt x="809625" y="1167342"/>
                  <a:pt x="914400" y="1219200"/>
                </a:cubicBezTo>
                <a:cubicBezTo>
                  <a:pt x="1019175" y="1271058"/>
                  <a:pt x="1115483" y="1311275"/>
                  <a:pt x="1238250" y="1352550"/>
                </a:cubicBezTo>
                <a:cubicBezTo>
                  <a:pt x="1361017" y="1393825"/>
                  <a:pt x="1507067" y="1437217"/>
                  <a:pt x="1651000" y="1466850"/>
                </a:cubicBezTo>
                <a:cubicBezTo>
                  <a:pt x="1794933" y="1496483"/>
                  <a:pt x="1980142" y="1518708"/>
                  <a:pt x="2101850" y="1530350"/>
                </a:cubicBezTo>
                <a:cubicBezTo>
                  <a:pt x="2223558" y="1541992"/>
                  <a:pt x="2302404" y="1539346"/>
                  <a:pt x="2381250" y="1536700"/>
                </a:cubicBezTo>
              </a:path>
            </a:pathLst>
          </a:custGeom>
          <a:pattFill prst="ltDnDiag">
            <a:fgClr>
              <a:srgbClr val="FF0000"/>
            </a:fgClr>
            <a:bgClr>
              <a:schemeClr val="bg1"/>
            </a:bgClr>
          </a:patt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nchor="ctr"/>
          <a:lstStyle/>
          <a:p>
            <a:endParaRPr lang="en-US"/>
          </a:p>
        </p:txBody>
      </p:sp>
      <p:sp>
        <p:nvSpPr>
          <p:cNvPr id="24580" name="Title 1">
            <a:extLst>
              <a:ext uri="{FF2B5EF4-FFF2-40B4-BE49-F238E27FC236}">
                <a16:creationId xmlns:a16="http://schemas.microsoft.com/office/drawing/2014/main" id="{037211C6-224C-4C7D-8E39-AC90937843B3}"/>
              </a:ext>
            </a:extLst>
          </p:cNvPr>
          <p:cNvSpPr>
            <a:spLocks noGrp="1"/>
          </p:cNvSpPr>
          <p:nvPr>
            <p:ph type="title"/>
          </p:nvPr>
        </p:nvSpPr>
        <p:spPr/>
        <p:txBody>
          <a:bodyPr/>
          <a:lstStyle/>
          <a:p>
            <a:r>
              <a:rPr lang="en-US" altLang="en-US"/>
              <a:t>AC Noise Limits</a:t>
            </a:r>
          </a:p>
        </p:txBody>
      </p:sp>
      <p:sp>
        <p:nvSpPr>
          <p:cNvPr id="24581" name="Content Placeholder 2">
            <a:extLst>
              <a:ext uri="{FF2B5EF4-FFF2-40B4-BE49-F238E27FC236}">
                <a16:creationId xmlns:a16="http://schemas.microsoft.com/office/drawing/2014/main" id="{F993C173-5496-47A6-A8CF-99C700E94EA0}"/>
              </a:ext>
            </a:extLst>
          </p:cNvPr>
          <p:cNvSpPr>
            <a:spLocks noGrp="1"/>
          </p:cNvSpPr>
          <p:nvPr>
            <p:ph type="body" sz="quarter" idx="10"/>
          </p:nvPr>
        </p:nvSpPr>
        <p:spPr/>
        <p:txBody>
          <a:bodyPr/>
          <a:lstStyle/>
          <a:p>
            <a:r>
              <a:rPr lang="en-US" altLang="en-US"/>
              <a:t>Too narrow or too short glitches are safe</a:t>
            </a:r>
          </a:p>
          <a:p>
            <a:r>
              <a:rPr lang="en-US" altLang="en-US"/>
              <a:t>AC noise rejection region can be specified</a:t>
            </a:r>
          </a:p>
        </p:txBody>
      </p:sp>
      <p:cxnSp>
        <p:nvCxnSpPr>
          <p:cNvPr id="24582" name="Straight Arrow Connector 7">
            <a:extLst>
              <a:ext uri="{FF2B5EF4-FFF2-40B4-BE49-F238E27FC236}">
                <a16:creationId xmlns:a16="http://schemas.microsoft.com/office/drawing/2014/main" id="{82545FD2-1820-4F24-BC26-3D6F10F636AB}"/>
              </a:ext>
            </a:extLst>
          </p:cNvPr>
          <p:cNvCxnSpPr>
            <a:cxnSpLocks noChangeShapeType="1"/>
          </p:cNvCxnSpPr>
          <p:nvPr/>
        </p:nvCxnSpPr>
        <p:spPr bwMode="auto">
          <a:xfrm rot="5400000" flipH="1" flipV="1">
            <a:off x="3544888" y="4210050"/>
            <a:ext cx="2362200" cy="0"/>
          </a:xfrm>
          <a:prstGeom prst="straightConnector1">
            <a:avLst/>
          </a:prstGeom>
          <a:noFill/>
          <a:ln w="12700" algn="ctr">
            <a:solidFill>
              <a:schemeClr val="tx1"/>
            </a:solidFill>
            <a:round/>
            <a:headEnd/>
            <a:tailEnd type="triangle" w="med" len="med"/>
          </a:ln>
        </p:spPr>
      </p:cxnSp>
      <p:cxnSp>
        <p:nvCxnSpPr>
          <p:cNvPr id="24583" name="Straight Arrow Connector 8">
            <a:extLst>
              <a:ext uri="{FF2B5EF4-FFF2-40B4-BE49-F238E27FC236}">
                <a16:creationId xmlns:a16="http://schemas.microsoft.com/office/drawing/2014/main" id="{BE8647A7-66D3-4366-AD0E-119D38700D03}"/>
              </a:ext>
            </a:extLst>
          </p:cNvPr>
          <p:cNvCxnSpPr>
            <a:cxnSpLocks noChangeShapeType="1"/>
          </p:cNvCxnSpPr>
          <p:nvPr/>
        </p:nvCxnSpPr>
        <p:spPr bwMode="auto">
          <a:xfrm>
            <a:off x="4724400" y="5389563"/>
            <a:ext cx="3733800" cy="0"/>
          </a:xfrm>
          <a:prstGeom prst="straightConnector1">
            <a:avLst/>
          </a:prstGeom>
          <a:noFill/>
          <a:ln w="12700" algn="ctr">
            <a:solidFill>
              <a:schemeClr val="tx1"/>
            </a:solidFill>
            <a:round/>
            <a:headEnd/>
            <a:tailEnd type="triangle" w="med" len="med"/>
          </a:ln>
        </p:spPr>
      </p:cxnSp>
      <p:sp>
        <p:nvSpPr>
          <p:cNvPr id="24584" name="TextBox 9">
            <a:extLst>
              <a:ext uri="{FF2B5EF4-FFF2-40B4-BE49-F238E27FC236}">
                <a16:creationId xmlns:a16="http://schemas.microsoft.com/office/drawing/2014/main" id="{9990B991-22CD-4E32-B2C1-2A6E796157B8}"/>
              </a:ext>
            </a:extLst>
          </p:cNvPr>
          <p:cNvSpPr txBox="1">
            <a:spLocks noChangeArrowheads="1"/>
          </p:cNvSpPr>
          <p:nvPr/>
        </p:nvSpPr>
        <p:spPr bwMode="auto">
          <a:xfrm>
            <a:off x="3603625" y="3141663"/>
            <a:ext cx="10366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Glitch height</a:t>
            </a:r>
            <a:endParaRPr lang="en-US" altLang="en-US"/>
          </a:p>
        </p:txBody>
      </p:sp>
      <p:sp>
        <p:nvSpPr>
          <p:cNvPr id="24585" name="TextBox 10">
            <a:extLst>
              <a:ext uri="{FF2B5EF4-FFF2-40B4-BE49-F238E27FC236}">
                <a16:creationId xmlns:a16="http://schemas.microsoft.com/office/drawing/2014/main" id="{3FBFF58F-C1CD-4E12-BD4D-80DAEBDE3754}"/>
              </a:ext>
            </a:extLst>
          </p:cNvPr>
          <p:cNvSpPr txBox="1">
            <a:spLocks noChangeArrowheads="1"/>
          </p:cNvSpPr>
          <p:nvPr/>
        </p:nvSpPr>
        <p:spPr bwMode="auto">
          <a:xfrm>
            <a:off x="4000501" y="3967163"/>
            <a:ext cx="542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Safe</a:t>
            </a:r>
          </a:p>
          <a:p>
            <a:pPr eaLnBrk="1" hangingPunct="1"/>
            <a:r>
              <a:rPr lang="en-US" altLang="en-US" sz="1200"/>
              <a:t>glitch</a:t>
            </a:r>
          </a:p>
        </p:txBody>
      </p:sp>
      <p:sp>
        <p:nvSpPr>
          <p:cNvPr id="24586" name="TextBox 11">
            <a:extLst>
              <a:ext uri="{FF2B5EF4-FFF2-40B4-BE49-F238E27FC236}">
                <a16:creationId xmlns:a16="http://schemas.microsoft.com/office/drawing/2014/main" id="{5407DD09-368C-4F15-AE3C-09B402F5F5A8}"/>
              </a:ext>
            </a:extLst>
          </p:cNvPr>
          <p:cNvSpPr txBox="1">
            <a:spLocks noChangeArrowheads="1"/>
          </p:cNvSpPr>
          <p:nvPr/>
        </p:nvSpPr>
        <p:spPr bwMode="auto">
          <a:xfrm>
            <a:off x="3289301" y="4932363"/>
            <a:ext cx="11207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DC noise </a:t>
            </a:r>
          </a:p>
          <a:p>
            <a:pPr eaLnBrk="1" hangingPunct="1"/>
            <a:r>
              <a:rPr lang="en-US" altLang="en-US" sz="1200"/>
              <a:t>rejection level</a:t>
            </a:r>
            <a:endParaRPr lang="en-US" altLang="en-US"/>
          </a:p>
        </p:txBody>
      </p:sp>
      <p:sp>
        <p:nvSpPr>
          <p:cNvPr id="24587" name="TextBox 12">
            <a:extLst>
              <a:ext uri="{FF2B5EF4-FFF2-40B4-BE49-F238E27FC236}">
                <a16:creationId xmlns:a16="http://schemas.microsoft.com/office/drawing/2014/main" id="{8A2AAD93-BD43-4E0B-AD0A-6A27FF1DA15C}"/>
              </a:ext>
            </a:extLst>
          </p:cNvPr>
          <p:cNvSpPr txBox="1">
            <a:spLocks noChangeArrowheads="1"/>
          </p:cNvSpPr>
          <p:nvPr/>
        </p:nvSpPr>
        <p:spPr bwMode="auto">
          <a:xfrm>
            <a:off x="7448550" y="5376864"/>
            <a:ext cx="9144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Glitch width</a:t>
            </a:r>
            <a:endParaRPr lang="en-US" altLang="en-US"/>
          </a:p>
        </p:txBody>
      </p:sp>
      <p:sp>
        <p:nvSpPr>
          <p:cNvPr id="24588" name="TextBox 13">
            <a:extLst>
              <a:ext uri="{FF2B5EF4-FFF2-40B4-BE49-F238E27FC236}">
                <a16:creationId xmlns:a16="http://schemas.microsoft.com/office/drawing/2014/main" id="{389FF898-2D2B-4B31-B6FD-71E9840FC6B0}"/>
              </a:ext>
            </a:extLst>
          </p:cNvPr>
          <p:cNvSpPr txBox="1">
            <a:spLocks noChangeArrowheads="1"/>
          </p:cNvSpPr>
          <p:nvPr/>
        </p:nvSpPr>
        <p:spPr bwMode="auto">
          <a:xfrm>
            <a:off x="6070601" y="3640138"/>
            <a:ext cx="8667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Hazardous</a:t>
            </a:r>
          </a:p>
          <a:p>
            <a:pPr eaLnBrk="1" hangingPunct="1"/>
            <a:r>
              <a:rPr lang="en-US" altLang="en-US" sz="1100"/>
              <a:t>   glitches</a:t>
            </a:r>
          </a:p>
        </p:txBody>
      </p:sp>
      <p:sp>
        <p:nvSpPr>
          <p:cNvPr id="24589" name="TextBox 14">
            <a:extLst>
              <a:ext uri="{FF2B5EF4-FFF2-40B4-BE49-F238E27FC236}">
                <a16:creationId xmlns:a16="http://schemas.microsoft.com/office/drawing/2014/main" id="{C971DB2E-BAEF-4CF9-A66E-B072B2034814}"/>
              </a:ext>
            </a:extLst>
          </p:cNvPr>
          <p:cNvSpPr txBox="1">
            <a:spLocks noChangeArrowheads="1"/>
          </p:cNvSpPr>
          <p:nvPr/>
        </p:nvSpPr>
        <p:spPr bwMode="auto">
          <a:xfrm>
            <a:off x="4953000" y="3071813"/>
            <a:ext cx="17859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AC noise rejection level</a:t>
            </a:r>
          </a:p>
        </p:txBody>
      </p:sp>
      <p:sp>
        <p:nvSpPr>
          <p:cNvPr id="24590" name="Freeform 15">
            <a:extLst>
              <a:ext uri="{FF2B5EF4-FFF2-40B4-BE49-F238E27FC236}">
                <a16:creationId xmlns:a16="http://schemas.microsoft.com/office/drawing/2014/main" id="{CE5BDD06-1866-476C-8E00-BB8528E3882A}"/>
              </a:ext>
            </a:extLst>
          </p:cNvPr>
          <p:cNvSpPr>
            <a:spLocks/>
          </p:cNvSpPr>
          <p:nvPr/>
        </p:nvSpPr>
        <p:spPr bwMode="auto">
          <a:xfrm>
            <a:off x="5394325" y="3259138"/>
            <a:ext cx="501650" cy="1168400"/>
          </a:xfrm>
          <a:custGeom>
            <a:avLst/>
            <a:gdLst>
              <a:gd name="T0" fmla="*/ 450850 w 501650"/>
              <a:gd name="T1" fmla="*/ 0 h 1168400"/>
              <a:gd name="T2" fmla="*/ 495300 w 501650"/>
              <a:gd name="T3" fmla="*/ 203200 h 1168400"/>
              <a:gd name="T4" fmla="*/ 488950 w 501650"/>
              <a:gd name="T5" fmla="*/ 450850 h 1168400"/>
              <a:gd name="T6" fmla="*/ 425450 w 501650"/>
              <a:gd name="T7" fmla="*/ 692150 h 1168400"/>
              <a:gd name="T8" fmla="*/ 292100 w 501650"/>
              <a:gd name="T9" fmla="*/ 914400 h 1168400"/>
              <a:gd name="T10" fmla="*/ 0 w 501650"/>
              <a:gd name="T11" fmla="*/ 1168400 h 11684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01650" h="1168400">
                <a:moveTo>
                  <a:pt x="450850" y="0"/>
                </a:moveTo>
                <a:cubicBezTo>
                  <a:pt x="469900" y="64029"/>
                  <a:pt x="488950" y="128058"/>
                  <a:pt x="495300" y="203200"/>
                </a:cubicBezTo>
                <a:cubicBezTo>
                  <a:pt x="501650" y="278342"/>
                  <a:pt x="500592" y="369358"/>
                  <a:pt x="488950" y="450850"/>
                </a:cubicBezTo>
                <a:cubicBezTo>
                  <a:pt x="477308" y="532342"/>
                  <a:pt x="458258" y="614892"/>
                  <a:pt x="425450" y="692150"/>
                </a:cubicBezTo>
                <a:cubicBezTo>
                  <a:pt x="392642" y="769408"/>
                  <a:pt x="363008" y="835025"/>
                  <a:pt x="292100" y="914400"/>
                </a:cubicBezTo>
                <a:cubicBezTo>
                  <a:pt x="221192" y="993775"/>
                  <a:pt x="110596" y="1081087"/>
                  <a:pt x="0" y="11684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4591" name="Freeform 16">
            <a:extLst>
              <a:ext uri="{FF2B5EF4-FFF2-40B4-BE49-F238E27FC236}">
                <a16:creationId xmlns:a16="http://schemas.microsoft.com/office/drawing/2014/main" id="{50DCBADC-2E94-418F-BA1F-D64D2D2644E0}"/>
              </a:ext>
            </a:extLst>
          </p:cNvPr>
          <p:cNvSpPr>
            <a:spLocks/>
          </p:cNvSpPr>
          <p:nvPr/>
        </p:nvSpPr>
        <p:spPr bwMode="auto">
          <a:xfrm>
            <a:off x="4425950" y="4449763"/>
            <a:ext cx="673100" cy="101600"/>
          </a:xfrm>
          <a:custGeom>
            <a:avLst/>
            <a:gdLst>
              <a:gd name="T0" fmla="*/ 0 w 673100"/>
              <a:gd name="T1" fmla="*/ 0 h 101600"/>
              <a:gd name="T2" fmla="*/ 184150 w 673100"/>
              <a:gd name="T3" fmla="*/ 76200 h 101600"/>
              <a:gd name="T4" fmla="*/ 406400 w 673100"/>
              <a:gd name="T5" fmla="*/ 95250 h 101600"/>
              <a:gd name="T6" fmla="*/ 673100 w 673100"/>
              <a:gd name="T7" fmla="*/ 101600 h 10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3100" h="101600">
                <a:moveTo>
                  <a:pt x="0" y="0"/>
                </a:moveTo>
                <a:cubicBezTo>
                  <a:pt x="58208" y="30162"/>
                  <a:pt x="116417" y="60325"/>
                  <a:pt x="184150" y="76200"/>
                </a:cubicBezTo>
                <a:cubicBezTo>
                  <a:pt x="251883" y="92075"/>
                  <a:pt x="324908" y="91017"/>
                  <a:pt x="406400" y="95250"/>
                </a:cubicBezTo>
                <a:cubicBezTo>
                  <a:pt x="487892" y="99483"/>
                  <a:pt x="580496" y="100541"/>
                  <a:pt x="673100" y="1016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4592" name="Freeform 17">
            <a:extLst>
              <a:ext uri="{FF2B5EF4-FFF2-40B4-BE49-F238E27FC236}">
                <a16:creationId xmlns:a16="http://schemas.microsoft.com/office/drawing/2014/main" id="{E50033BB-77AB-40F4-B789-7ACB41D8A580}"/>
              </a:ext>
            </a:extLst>
          </p:cNvPr>
          <p:cNvSpPr>
            <a:spLocks/>
          </p:cNvSpPr>
          <p:nvPr/>
        </p:nvSpPr>
        <p:spPr bwMode="auto">
          <a:xfrm>
            <a:off x="4044950" y="4767263"/>
            <a:ext cx="1079500" cy="241300"/>
          </a:xfrm>
          <a:custGeom>
            <a:avLst/>
            <a:gdLst>
              <a:gd name="T0" fmla="*/ 0 w 1079500"/>
              <a:gd name="T1" fmla="*/ 241300 h 241300"/>
              <a:gd name="T2" fmla="*/ 152400 w 1079500"/>
              <a:gd name="T3" fmla="*/ 133350 h 241300"/>
              <a:gd name="T4" fmla="*/ 349250 w 1079500"/>
              <a:gd name="T5" fmla="*/ 38100 h 241300"/>
              <a:gd name="T6" fmla="*/ 571500 w 1079500"/>
              <a:gd name="T7" fmla="*/ 6350 h 241300"/>
              <a:gd name="T8" fmla="*/ 762000 w 1079500"/>
              <a:gd name="T9" fmla="*/ 12700 h 241300"/>
              <a:gd name="T10" fmla="*/ 946150 w 1079500"/>
              <a:gd name="T11" fmla="*/ 82550 h 241300"/>
              <a:gd name="T12" fmla="*/ 1079500 w 1079500"/>
              <a:gd name="T13" fmla="*/ 222250 h 2413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079500" h="241300">
                <a:moveTo>
                  <a:pt x="0" y="241300"/>
                </a:moveTo>
                <a:cubicBezTo>
                  <a:pt x="47096" y="204258"/>
                  <a:pt x="94192" y="167217"/>
                  <a:pt x="152400" y="133350"/>
                </a:cubicBezTo>
                <a:cubicBezTo>
                  <a:pt x="210608" y="99483"/>
                  <a:pt x="279400" y="59267"/>
                  <a:pt x="349250" y="38100"/>
                </a:cubicBezTo>
                <a:cubicBezTo>
                  <a:pt x="419100" y="16933"/>
                  <a:pt x="502708" y="10583"/>
                  <a:pt x="571500" y="6350"/>
                </a:cubicBezTo>
                <a:cubicBezTo>
                  <a:pt x="640292" y="2117"/>
                  <a:pt x="699558" y="0"/>
                  <a:pt x="762000" y="12700"/>
                </a:cubicBezTo>
                <a:cubicBezTo>
                  <a:pt x="824442" y="25400"/>
                  <a:pt x="893233" y="47625"/>
                  <a:pt x="946150" y="82550"/>
                </a:cubicBezTo>
                <a:cubicBezTo>
                  <a:pt x="999067" y="117475"/>
                  <a:pt x="1039283" y="169862"/>
                  <a:pt x="1079500" y="22225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19" name="Straight Connector 18">
            <a:extLst>
              <a:ext uri="{FF2B5EF4-FFF2-40B4-BE49-F238E27FC236}">
                <a16:creationId xmlns:a16="http://schemas.microsoft.com/office/drawing/2014/main" id="{6FBB6167-4A2F-412C-8FC7-50F17542AA8B}"/>
              </a:ext>
            </a:extLst>
          </p:cNvPr>
          <p:cNvCxnSpPr/>
          <p:nvPr/>
        </p:nvCxnSpPr>
        <p:spPr bwMode="auto">
          <a:xfrm>
            <a:off x="4718050" y="5075239"/>
            <a:ext cx="2667000" cy="1587"/>
          </a:xfrm>
          <a:prstGeom prst="line">
            <a:avLst/>
          </a:prstGeom>
          <a:ln>
            <a:headEnd type="none" w="med" len="med"/>
            <a:tailEnd type="none" w="med" len="med"/>
          </a:ln>
          <a:effectLst/>
        </p:spPr>
        <p:style>
          <a:lnRef idx="3">
            <a:schemeClr val="accent2"/>
          </a:lnRef>
          <a:fillRef idx="0">
            <a:schemeClr val="accent2"/>
          </a:fillRef>
          <a:effectRef idx="2">
            <a:schemeClr val="accent2"/>
          </a:effectRef>
          <a:fontRef idx="minor">
            <a:schemeClr val="tx1"/>
          </a:fontRef>
        </p:style>
      </p:cxnSp>
      <p:sp>
        <p:nvSpPr>
          <p:cNvPr id="20" name="Freeform 19">
            <a:extLst>
              <a:ext uri="{FF2B5EF4-FFF2-40B4-BE49-F238E27FC236}">
                <a16:creationId xmlns:a16="http://schemas.microsoft.com/office/drawing/2014/main" id="{E2EF8C05-CF68-4F2F-ADF9-29FC35470FA4}"/>
              </a:ext>
            </a:extLst>
          </p:cNvPr>
          <p:cNvSpPr/>
          <p:nvPr/>
        </p:nvSpPr>
        <p:spPr bwMode="auto">
          <a:xfrm>
            <a:off x="4745038" y="3478214"/>
            <a:ext cx="2381250" cy="1557337"/>
          </a:xfrm>
          <a:custGeom>
            <a:avLst/>
            <a:gdLst>
              <a:gd name="connsiteX0" fmla="*/ 0 w 2381250"/>
              <a:gd name="connsiteY0" fmla="*/ 0 h 1541992"/>
              <a:gd name="connsiteX1" fmla="*/ 25400 w 2381250"/>
              <a:gd name="connsiteY1" fmla="*/ 241300 h 1541992"/>
              <a:gd name="connsiteX2" fmla="*/ 120650 w 2381250"/>
              <a:gd name="connsiteY2" fmla="*/ 501650 h 1541992"/>
              <a:gd name="connsiteX3" fmla="*/ 279400 w 2381250"/>
              <a:gd name="connsiteY3" fmla="*/ 736600 h 1541992"/>
              <a:gd name="connsiteX4" fmla="*/ 609600 w 2381250"/>
              <a:gd name="connsiteY4" fmla="*/ 1041400 h 1541992"/>
              <a:gd name="connsiteX5" fmla="*/ 914400 w 2381250"/>
              <a:gd name="connsiteY5" fmla="*/ 1219200 h 1541992"/>
              <a:gd name="connsiteX6" fmla="*/ 1238250 w 2381250"/>
              <a:gd name="connsiteY6" fmla="*/ 1352550 h 1541992"/>
              <a:gd name="connsiteX7" fmla="*/ 1651000 w 2381250"/>
              <a:gd name="connsiteY7" fmla="*/ 1466850 h 1541992"/>
              <a:gd name="connsiteX8" fmla="*/ 2101850 w 2381250"/>
              <a:gd name="connsiteY8" fmla="*/ 1530350 h 1541992"/>
              <a:gd name="connsiteX9" fmla="*/ 2381250 w 2381250"/>
              <a:gd name="connsiteY9" fmla="*/ 1536700 h 1541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81250" h="1541992">
                <a:moveTo>
                  <a:pt x="0" y="0"/>
                </a:moveTo>
                <a:cubicBezTo>
                  <a:pt x="2646" y="78846"/>
                  <a:pt x="5292" y="157692"/>
                  <a:pt x="25400" y="241300"/>
                </a:cubicBezTo>
                <a:cubicBezTo>
                  <a:pt x="45508" y="324908"/>
                  <a:pt x="78317" y="419100"/>
                  <a:pt x="120650" y="501650"/>
                </a:cubicBezTo>
                <a:cubicBezTo>
                  <a:pt x="162983" y="584200"/>
                  <a:pt x="197908" y="646642"/>
                  <a:pt x="279400" y="736600"/>
                </a:cubicBezTo>
                <a:cubicBezTo>
                  <a:pt x="360892" y="826558"/>
                  <a:pt x="503767" y="960967"/>
                  <a:pt x="609600" y="1041400"/>
                </a:cubicBezTo>
                <a:cubicBezTo>
                  <a:pt x="715433" y="1121833"/>
                  <a:pt x="809625" y="1167342"/>
                  <a:pt x="914400" y="1219200"/>
                </a:cubicBezTo>
                <a:cubicBezTo>
                  <a:pt x="1019175" y="1271058"/>
                  <a:pt x="1115483" y="1311275"/>
                  <a:pt x="1238250" y="1352550"/>
                </a:cubicBezTo>
                <a:cubicBezTo>
                  <a:pt x="1361017" y="1393825"/>
                  <a:pt x="1507067" y="1437217"/>
                  <a:pt x="1651000" y="1466850"/>
                </a:cubicBezTo>
                <a:cubicBezTo>
                  <a:pt x="1794933" y="1496483"/>
                  <a:pt x="1980142" y="1518708"/>
                  <a:pt x="2101850" y="1530350"/>
                </a:cubicBezTo>
                <a:cubicBezTo>
                  <a:pt x="2223558" y="1541992"/>
                  <a:pt x="2302404" y="1539346"/>
                  <a:pt x="2381250" y="1536700"/>
                </a:cubicBezTo>
              </a:path>
            </a:pathLst>
          </a:custGeom>
          <a:ln>
            <a:headEnd type="none" w="med" len="med"/>
            <a:tailEnd type="none" w="med" len="med"/>
          </a:ln>
        </p:spPr>
        <p:style>
          <a:lnRef idx="3">
            <a:schemeClr val="accent2"/>
          </a:lnRef>
          <a:fillRef idx="0">
            <a:schemeClr val="accent2"/>
          </a:fillRef>
          <a:effectRef idx="2">
            <a:schemeClr val="accent2"/>
          </a:effectRef>
          <a:fontRef idx="minor">
            <a:schemeClr val="tx1"/>
          </a:fontRef>
        </p:style>
        <p:txBody>
          <a:bodyPr anchor="ctr"/>
          <a:lstStyle/>
          <a:p>
            <a:pPr eaLnBrk="1" hangingPunct="1">
              <a:defRPr/>
            </a:pPr>
            <a:endParaRPr lang="en-US"/>
          </a:p>
        </p:txBody>
      </p:sp>
      <p:sp>
        <p:nvSpPr>
          <p:cNvPr id="24595" name="Freeform 25">
            <a:extLst>
              <a:ext uri="{FF2B5EF4-FFF2-40B4-BE49-F238E27FC236}">
                <a16:creationId xmlns:a16="http://schemas.microsoft.com/office/drawing/2014/main" id="{C41F1F2F-FA0B-4C12-8C5C-E169C5D8F30A}"/>
              </a:ext>
            </a:extLst>
          </p:cNvPr>
          <p:cNvSpPr>
            <a:spLocks/>
          </p:cNvSpPr>
          <p:nvPr/>
        </p:nvSpPr>
        <p:spPr bwMode="auto">
          <a:xfrm rot="6811634">
            <a:off x="6054725" y="4398963"/>
            <a:ext cx="673100" cy="101600"/>
          </a:xfrm>
          <a:custGeom>
            <a:avLst/>
            <a:gdLst>
              <a:gd name="T0" fmla="*/ 0 w 673100"/>
              <a:gd name="T1" fmla="*/ 0 h 101600"/>
              <a:gd name="T2" fmla="*/ 184150 w 673100"/>
              <a:gd name="T3" fmla="*/ 76200 h 101600"/>
              <a:gd name="T4" fmla="*/ 406400 w 673100"/>
              <a:gd name="T5" fmla="*/ 95250 h 101600"/>
              <a:gd name="T6" fmla="*/ 673100 w 673100"/>
              <a:gd name="T7" fmla="*/ 101600 h 10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73100" h="101600">
                <a:moveTo>
                  <a:pt x="0" y="0"/>
                </a:moveTo>
                <a:cubicBezTo>
                  <a:pt x="58208" y="30162"/>
                  <a:pt x="116417" y="60325"/>
                  <a:pt x="184150" y="76200"/>
                </a:cubicBezTo>
                <a:cubicBezTo>
                  <a:pt x="251883" y="92075"/>
                  <a:pt x="324908" y="91017"/>
                  <a:pt x="406400" y="95250"/>
                </a:cubicBezTo>
                <a:cubicBezTo>
                  <a:pt x="487892" y="99483"/>
                  <a:pt x="580496" y="100541"/>
                  <a:pt x="673100" y="10160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2F25592-ECAF-4D10-B006-60F85B9C5137}"/>
              </a:ext>
            </a:extLst>
          </p:cNvPr>
          <p:cNvSpPr>
            <a:spLocks noGrp="1"/>
          </p:cNvSpPr>
          <p:nvPr>
            <p:ph type="title"/>
          </p:nvPr>
        </p:nvSpPr>
        <p:spPr/>
        <p:txBody>
          <a:bodyPr/>
          <a:lstStyle/>
          <a:p>
            <a:r>
              <a:rPr lang="en-US" altLang="en-US"/>
              <a:t>Basic Glitch Removal</a:t>
            </a:r>
          </a:p>
        </p:txBody>
      </p:sp>
      <p:grpSp>
        <p:nvGrpSpPr>
          <p:cNvPr id="25603" name="Группа 68">
            <a:extLst>
              <a:ext uri="{FF2B5EF4-FFF2-40B4-BE49-F238E27FC236}">
                <a16:creationId xmlns:a16="http://schemas.microsoft.com/office/drawing/2014/main" id="{19F28430-C015-4B86-B78A-B9BE559A1BEB}"/>
              </a:ext>
            </a:extLst>
          </p:cNvPr>
          <p:cNvGrpSpPr>
            <a:grpSpLocks/>
          </p:cNvGrpSpPr>
          <p:nvPr/>
        </p:nvGrpSpPr>
        <p:grpSpPr bwMode="auto">
          <a:xfrm>
            <a:off x="3001963" y="1685925"/>
            <a:ext cx="3040062" cy="3733800"/>
            <a:chOff x="2971800" y="1676400"/>
            <a:chExt cx="3040012" cy="3733800"/>
          </a:xfrm>
        </p:grpSpPr>
        <p:sp>
          <p:nvSpPr>
            <p:cNvPr id="23" name="Freeform 22">
              <a:extLst>
                <a:ext uri="{FF2B5EF4-FFF2-40B4-BE49-F238E27FC236}">
                  <a16:creationId xmlns:a16="http://schemas.microsoft.com/office/drawing/2014/main" id="{FCAEB8EB-F3A6-4238-87E1-DB18B0F50F64}"/>
                </a:ext>
              </a:extLst>
            </p:cNvPr>
            <p:cNvSpPr/>
            <p:nvPr/>
          </p:nvSpPr>
          <p:spPr bwMode="auto">
            <a:xfrm rot="10800000">
              <a:off x="4952967" y="1676400"/>
              <a:ext cx="520691" cy="428625"/>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grpSp>
          <p:nvGrpSpPr>
            <p:cNvPr id="25608" name="Группа 67">
              <a:extLst>
                <a:ext uri="{FF2B5EF4-FFF2-40B4-BE49-F238E27FC236}">
                  <a16:creationId xmlns:a16="http://schemas.microsoft.com/office/drawing/2014/main" id="{BDFC739C-4BCF-49B8-87B3-FC2E1809F181}"/>
                </a:ext>
              </a:extLst>
            </p:cNvPr>
            <p:cNvGrpSpPr>
              <a:grpSpLocks/>
            </p:cNvGrpSpPr>
            <p:nvPr/>
          </p:nvGrpSpPr>
          <p:grpSpPr bwMode="auto">
            <a:xfrm>
              <a:off x="3124200" y="1676400"/>
              <a:ext cx="2438400" cy="806450"/>
              <a:chOff x="3124200" y="1676400"/>
              <a:chExt cx="2438400" cy="806450"/>
            </a:xfrm>
          </p:grpSpPr>
          <p:sp>
            <p:nvSpPr>
              <p:cNvPr id="25643" name="Isosceles Triangle 17">
                <a:extLst>
                  <a:ext uri="{FF2B5EF4-FFF2-40B4-BE49-F238E27FC236}">
                    <a16:creationId xmlns:a16="http://schemas.microsoft.com/office/drawing/2014/main" id="{06D88A1F-30CE-4347-A6E7-2A69FCFC9FA4}"/>
                  </a:ext>
                </a:extLst>
              </p:cNvPr>
              <p:cNvSpPr>
                <a:spLocks noChangeArrowheads="1"/>
              </p:cNvSpPr>
              <p:nvPr/>
            </p:nvSpPr>
            <p:spPr bwMode="auto">
              <a:xfrm rot="5400000">
                <a:off x="4197497" y="1895328"/>
                <a:ext cx="281354" cy="29434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5644" name="Oval 18">
                <a:extLst>
                  <a:ext uri="{FF2B5EF4-FFF2-40B4-BE49-F238E27FC236}">
                    <a16:creationId xmlns:a16="http://schemas.microsoft.com/office/drawing/2014/main" id="{E0B406D5-AB16-4067-847D-6AFCCA552600}"/>
                  </a:ext>
                </a:extLst>
              </p:cNvPr>
              <p:cNvSpPr>
                <a:spLocks noChangeArrowheads="1"/>
              </p:cNvSpPr>
              <p:nvPr/>
            </p:nvSpPr>
            <p:spPr bwMode="auto">
              <a:xfrm>
                <a:off x="4480749" y="2007336"/>
                <a:ext cx="73587" cy="70339"/>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5645" name="Straight Connector 19">
                <a:extLst>
                  <a:ext uri="{FF2B5EF4-FFF2-40B4-BE49-F238E27FC236}">
                    <a16:creationId xmlns:a16="http://schemas.microsoft.com/office/drawing/2014/main" id="{509FD949-383D-4B20-8B5B-F782AA8DD8A1}"/>
                  </a:ext>
                </a:extLst>
              </p:cNvPr>
              <p:cNvCxnSpPr>
                <a:cxnSpLocks noChangeShapeType="1"/>
              </p:cNvCxnSpPr>
              <p:nvPr/>
            </p:nvCxnSpPr>
            <p:spPr bwMode="auto">
              <a:xfrm>
                <a:off x="4035228" y="2035540"/>
                <a:ext cx="152400" cy="0"/>
              </a:xfrm>
              <a:prstGeom prst="line">
                <a:avLst/>
              </a:prstGeom>
              <a:noFill/>
              <a:ln w="9525" algn="ctr">
                <a:solidFill>
                  <a:schemeClr val="tx1"/>
                </a:solidFill>
                <a:round/>
                <a:headEnd/>
                <a:tailEnd/>
              </a:ln>
            </p:spPr>
          </p:cxnSp>
          <p:cxnSp>
            <p:nvCxnSpPr>
              <p:cNvPr id="25646" name="Straight Connector 20">
                <a:extLst>
                  <a:ext uri="{FF2B5EF4-FFF2-40B4-BE49-F238E27FC236}">
                    <a16:creationId xmlns:a16="http://schemas.microsoft.com/office/drawing/2014/main" id="{66FE3A40-BE72-4DFF-A029-F43ADA8F06C3}"/>
                  </a:ext>
                </a:extLst>
              </p:cNvPr>
              <p:cNvCxnSpPr>
                <a:cxnSpLocks noChangeShapeType="1"/>
              </p:cNvCxnSpPr>
              <p:nvPr/>
            </p:nvCxnSpPr>
            <p:spPr bwMode="auto">
              <a:xfrm>
                <a:off x="4555928" y="2043478"/>
                <a:ext cx="152400" cy="0"/>
              </a:xfrm>
              <a:prstGeom prst="line">
                <a:avLst/>
              </a:prstGeom>
              <a:noFill/>
              <a:ln w="9525" algn="ctr">
                <a:solidFill>
                  <a:schemeClr val="tx1"/>
                </a:solidFill>
                <a:round/>
                <a:headEnd/>
                <a:tailEnd/>
              </a:ln>
            </p:spPr>
          </p:cxnSp>
          <p:sp>
            <p:nvSpPr>
              <p:cNvPr id="22" name="Freeform 21">
                <a:extLst>
                  <a:ext uri="{FF2B5EF4-FFF2-40B4-BE49-F238E27FC236}">
                    <a16:creationId xmlns:a16="http://schemas.microsoft.com/office/drawing/2014/main" id="{D36DACCD-4603-48C5-870B-698A6D9855BC}"/>
                  </a:ext>
                </a:extLst>
              </p:cNvPr>
              <p:cNvSpPr/>
              <p:nvPr/>
            </p:nvSpPr>
            <p:spPr bwMode="auto">
              <a:xfrm>
                <a:off x="3124197" y="2054225"/>
                <a:ext cx="520691" cy="428625"/>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24" name="Straight Connector 23">
                <a:extLst>
                  <a:ext uri="{FF2B5EF4-FFF2-40B4-BE49-F238E27FC236}">
                    <a16:creationId xmlns:a16="http://schemas.microsoft.com/office/drawing/2014/main" id="{0B127A3A-5163-4C9B-8194-B2A5C94FB078}"/>
                  </a:ext>
                </a:extLst>
              </p:cNvPr>
              <p:cNvCxnSpPr/>
              <p:nvPr/>
            </p:nvCxnSpPr>
            <p:spPr bwMode="auto">
              <a:xfrm>
                <a:off x="4778345" y="1684338"/>
                <a:ext cx="228596"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5A49424A-4E45-4C1A-8269-A138CECF7BC8}"/>
                  </a:ext>
                </a:extLst>
              </p:cNvPr>
              <p:cNvCxnSpPr/>
              <p:nvPr/>
            </p:nvCxnSpPr>
            <p:spPr bwMode="auto">
              <a:xfrm>
                <a:off x="5333961" y="1676400"/>
                <a:ext cx="228596"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30" name="Freeform 29">
              <a:extLst>
                <a:ext uri="{FF2B5EF4-FFF2-40B4-BE49-F238E27FC236}">
                  <a16:creationId xmlns:a16="http://schemas.microsoft.com/office/drawing/2014/main" id="{537DBFBC-CB2F-44C0-8FFB-E5AED0034D31}"/>
                </a:ext>
              </a:extLst>
            </p:cNvPr>
            <p:cNvSpPr/>
            <p:nvPr/>
          </p:nvSpPr>
          <p:spPr bwMode="auto">
            <a:xfrm>
              <a:off x="3109910" y="3200400"/>
              <a:ext cx="520691" cy="428625"/>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5610" name="Isosceles Triangle 30">
              <a:extLst>
                <a:ext uri="{FF2B5EF4-FFF2-40B4-BE49-F238E27FC236}">
                  <a16:creationId xmlns:a16="http://schemas.microsoft.com/office/drawing/2014/main" id="{D180C971-2E00-4313-A080-6792B890D4FF}"/>
                </a:ext>
              </a:extLst>
            </p:cNvPr>
            <p:cNvSpPr>
              <a:spLocks noChangeArrowheads="1"/>
            </p:cNvSpPr>
            <p:nvPr/>
          </p:nvSpPr>
          <p:spPr bwMode="auto">
            <a:xfrm rot="5400000">
              <a:off x="3878522" y="3193903"/>
              <a:ext cx="281354" cy="29434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5611" name="Oval 31">
              <a:extLst>
                <a:ext uri="{FF2B5EF4-FFF2-40B4-BE49-F238E27FC236}">
                  <a16:creationId xmlns:a16="http://schemas.microsoft.com/office/drawing/2014/main" id="{F69EB637-4154-4509-9069-694EC7D350DB}"/>
                </a:ext>
              </a:extLst>
            </p:cNvPr>
            <p:cNvSpPr>
              <a:spLocks noChangeArrowheads="1"/>
            </p:cNvSpPr>
            <p:nvPr/>
          </p:nvSpPr>
          <p:spPr bwMode="auto">
            <a:xfrm>
              <a:off x="4161774" y="3305911"/>
              <a:ext cx="73587" cy="70339"/>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5612" name="Straight Connector 32">
              <a:extLst>
                <a:ext uri="{FF2B5EF4-FFF2-40B4-BE49-F238E27FC236}">
                  <a16:creationId xmlns:a16="http://schemas.microsoft.com/office/drawing/2014/main" id="{C6580979-D3BC-4D27-948C-25FEF9B6949E}"/>
                </a:ext>
              </a:extLst>
            </p:cNvPr>
            <p:cNvCxnSpPr>
              <a:cxnSpLocks noChangeShapeType="1"/>
            </p:cNvCxnSpPr>
            <p:nvPr/>
          </p:nvCxnSpPr>
          <p:spPr bwMode="auto">
            <a:xfrm>
              <a:off x="3716253" y="3334115"/>
              <a:ext cx="152400" cy="0"/>
            </a:xfrm>
            <a:prstGeom prst="line">
              <a:avLst/>
            </a:prstGeom>
            <a:noFill/>
            <a:ln w="9525" algn="ctr">
              <a:solidFill>
                <a:schemeClr val="tx1"/>
              </a:solidFill>
              <a:round/>
              <a:headEnd/>
              <a:tailEnd/>
            </a:ln>
          </p:spPr>
        </p:cxnSp>
        <p:cxnSp>
          <p:nvCxnSpPr>
            <p:cNvPr id="25613" name="Straight Connector 33">
              <a:extLst>
                <a:ext uri="{FF2B5EF4-FFF2-40B4-BE49-F238E27FC236}">
                  <a16:creationId xmlns:a16="http://schemas.microsoft.com/office/drawing/2014/main" id="{F7913DD2-4038-494B-902B-41F77EA0908D}"/>
                </a:ext>
              </a:extLst>
            </p:cNvPr>
            <p:cNvCxnSpPr>
              <a:cxnSpLocks noChangeShapeType="1"/>
            </p:cNvCxnSpPr>
            <p:nvPr/>
          </p:nvCxnSpPr>
          <p:spPr bwMode="auto">
            <a:xfrm flipV="1">
              <a:off x="4236953" y="3341080"/>
              <a:ext cx="306483" cy="0"/>
            </a:xfrm>
            <a:prstGeom prst="line">
              <a:avLst/>
            </a:prstGeom>
            <a:noFill/>
            <a:ln w="9525" algn="ctr">
              <a:solidFill>
                <a:schemeClr val="tx1"/>
              </a:solidFill>
              <a:round/>
              <a:headEnd/>
              <a:tailEnd/>
            </a:ln>
          </p:spPr>
        </p:cxnSp>
        <p:grpSp>
          <p:nvGrpSpPr>
            <p:cNvPr id="25614" name="Group 397">
              <a:extLst>
                <a:ext uri="{FF2B5EF4-FFF2-40B4-BE49-F238E27FC236}">
                  <a16:creationId xmlns:a16="http://schemas.microsoft.com/office/drawing/2014/main" id="{5DF3A183-0ADF-4B52-AA6F-3CF3DC5F3976}"/>
                </a:ext>
              </a:extLst>
            </p:cNvPr>
            <p:cNvGrpSpPr>
              <a:grpSpLocks/>
            </p:cNvGrpSpPr>
            <p:nvPr/>
          </p:nvGrpSpPr>
          <p:grpSpPr bwMode="auto">
            <a:xfrm>
              <a:off x="4313985" y="3345180"/>
              <a:ext cx="152400" cy="384966"/>
              <a:chOff x="3505200" y="5192066"/>
              <a:chExt cx="152400" cy="384966"/>
            </a:xfrm>
          </p:grpSpPr>
          <p:sp>
            <p:nvSpPr>
              <p:cNvPr id="25638" name="Isosceles Triangle 41">
                <a:extLst>
                  <a:ext uri="{FF2B5EF4-FFF2-40B4-BE49-F238E27FC236}">
                    <a16:creationId xmlns:a16="http://schemas.microsoft.com/office/drawing/2014/main" id="{B6DC4F15-57AF-4F26-983F-675B15896036}"/>
                  </a:ext>
                </a:extLst>
              </p:cNvPr>
              <p:cNvSpPr>
                <a:spLocks noChangeArrowheads="1"/>
              </p:cNvSpPr>
              <p:nvPr/>
            </p:nvSpPr>
            <p:spPr bwMode="auto">
              <a:xfrm rot="10800000">
                <a:off x="3546475" y="5500832"/>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5639" name="Straight Connector 42">
                <a:extLst>
                  <a:ext uri="{FF2B5EF4-FFF2-40B4-BE49-F238E27FC236}">
                    <a16:creationId xmlns:a16="http://schemas.microsoft.com/office/drawing/2014/main" id="{4DAD95A2-2D9D-40FA-820A-C1E0CDB21307}"/>
                  </a:ext>
                </a:extLst>
              </p:cNvPr>
              <p:cNvCxnSpPr>
                <a:cxnSpLocks noChangeShapeType="1"/>
              </p:cNvCxnSpPr>
              <p:nvPr/>
            </p:nvCxnSpPr>
            <p:spPr bwMode="auto">
              <a:xfrm>
                <a:off x="3505200" y="5312718"/>
                <a:ext cx="152400" cy="1588"/>
              </a:xfrm>
              <a:prstGeom prst="line">
                <a:avLst/>
              </a:prstGeom>
              <a:noFill/>
              <a:ln w="9525" algn="ctr">
                <a:solidFill>
                  <a:schemeClr val="tx1"/>
                </a:solidFill>
                <a:round/>
                <a:headEnd/>
                <a:tailEnd/>
              </a:ln>
            </p:spPr>
          </p:cxnSp>
          <p:cxnSp>
            <p:nvCxnSpPr>
              <p:cNvPr id="25640" name="Straight Connector 43">
                <a:extLst>
                  <a:ext uri="{FF2B5EF4-FFF2-40B4-BE49-F238E27FC236}">
                    <a16:creationId xmlns:a16="http://schemas.microsoft.com/office/drawing/2014/main" id="{476A0AD3-C9D6-4826-B453-4A7A64750E81}"/>
                  </a:ext>
                </a:extLst>
              </p:cNvPr>
              <p:cNvCxnSpPr>
                <a:cxnSpLocks noChangeShapeType="1"/>
              </p:cNvCxnSpPr>
              <p:nvPr/>
            </p:nvCxnSpPr>
            <p:spPr bwMode="auto">
              <a:xfrm>
                <a:off x="3505200" y="5350818"/>
                <a:ext cx="152400" cy="1588"/>
              </a:xfrm>
              <a:prstGeom prst="line">
                <a:avLst/>
              </a:prstGeom>
              <a:noFill/>
              <a:ln w="9525" algn="ctr">
                <a:solidFill>
                  <a:schemeClr val="tx1"/>
                </a:solidFill>
                <a:round/>
                <a:headEnd/>
                <a:tailEnd/>
              </a:ln>
            </p:spPr>
          </p:cxnSp>
          <p:cxnSp>
            <p:nvCxnSpPr>
              <p:cNvPr id="25641" name="Straight Connector 44">
                <a:extLst>
                  <a:ext uri="{FF2B5EF4-FFF2-40B4-BE49-F238E27FC236}">
                    <a16:creationId xmlns:a16="http://schemas.microsoft.com/office/drawing/2014/main" id="{593DF3E8-E26D-4044-AE87-97C018B0F9EC}"/>
                  </a:ext>
                </a:extLst>
              </p:cNvPr>
              <p:cNvCxnSpPr>
                <a:cxnSpLocks noChangeShapeType="1"/>
              </p:cNvCxnSpPr>
              <p:nvPr/>
            </p:nvCxnSpPr>
            <p:spPr bwMode="auto">
              <a:xfrm rot="5400000">
                <a:off x="3505200" y="5424635"/>
                <a:ext cx="152402" cy="0"/>
              </a:xfrm>
              <a:prstGeom prst="line">
                <a:avLst/>
              </a:prstGeom>
              <a:noFill/>
              <a:ln w="9525" algn="ctr">
                <a:solidFill>
                  <a:schemeClr val="tx1"/>
                </a:solidFill>
                <a:round/>
                <a:headEnd/>
                <a:tailEnd/>
              </a:ln>
            </p:spPr>
          </p:cxnSp>
          <p:cxnSp>
            <p:nvCxnSpPr>
              <p:cNvPr id="25642" name="Straight Connector 45">
                <a:extLst>
                  <a:ext uri="{FF2B5EF4-FFF2-40B4-BE49-F238E27FC236}">
                    <a16:creationId xmlns:a16="http://schemas.microsoft.com/office/drawing/2014/main" id="{E0FE23A0-6D02-4ED8-8261-ADF6E5FE008F}"/>
                  </a:ext>
                </a:extLst>
              </p:cNvPr>
              <p:cNvCxnSpPr>
                <a:cxnSpLocks noChangeShapeType="1"/>
              </p:cNvCxnSpPr>
              <p:nvPr/>
            </p:nvCxnSpPr>
            <p:spPr bwMode="auto">
              <a:xfrm rot="5400000">
                <a:off x="3519489" y="5253184"/>
                <a:ext cx="123823" cy="1588"/>
              </a:xfrm>
              <a:prstGeom prst="line">
                <a:avLst/>
              </a:prstGeom>
              <a:noFill/>
              <a:ln w="9525" algn="ctr">
                <a:solidFill>
                  <a:schemeClr val="tx1"/>
                </a:solidFill>
                <a:round/>
                <a:headEnd/>
                <a:tailEnd/>
              </a:ln>
            </p:spPr>
          </p:cxnSp>
        </p:grpSp>
        <p:cxnSp>
          <p:nvCxnSpPr>
            <p:cNvPr id="37" name="Straight Connector 36">
              <a:extLst>
                <a:ext uri="{FF2B5EF4-FFF2-40B4-BE49-F238E27FC236}">
                  <a16:creationId xmlns:a16="http://schemas.microsoft.com/office/drawing/2014/main" id="{3F785838-57A8-455C-AEB6-19E4EA7EE16B}"/>
                </a:ext>
              </a:extLst>
            </p:cNvPr>
            <p:cNvCxnSpPr/>
            <p:nvPr/>
          </p:nvCxnSpPr>
          <p:spPr bwMode="auto">
            <a:xfrm>
              <a:off x="4781520" y="3278188"/>
              <a:ext cx="228596"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0501A224-B68D-4865-A489-02E204BF27BB}"/>
                </a:ext>
              </a:extLst>
            </p:cNvPr>
            <p:cNvCxnSpPr/>
            <p:nvPr/>
          </p:nvCxnSpPr>
          <p:spPr bwMode="auto">
            <a:xfrm>
              <a:off x="5133939" y="3278188"/>
              <a:ext cx="152397"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9" name="Freeform 38">
              <a:extLst>
                <a:ext uri="{FF2B5EF4-FFF2-40B4-BE49-F238E27FC236}">
                  <a16:creationId xmlns:a16="http://schemas.microsoft.com/office/drawing/2014/main" id="{2431AC37-FC47-4EBB-8F05-C38A0FE07F2C}"/>
                </a:ext>
              </a:extLst>
            </p:cNvPr>
            <p:cNvSpPr/>
            <p:nvPr/>
          </p:nvSpPr>
          <p:spPr bwMode="auto">
            <a:xfrm>
              <a:off x="5003767" y="3276600"/>
              <a:ext cx="134935" cy="149225"/>
            </a:xfrm>
            <a:custGeom>
              <a:avLst/>
              <a:gdLst>
                <a:gd name="connsiteX0" fmla="*/ 0 w 134937"/>
                <a:gd name="connsiteY0" fmla="*/ 396 h 149225"/>
                <a:gd name="connsiteX1" fmla="*/ 33337 w 134937"/>
                <a:gd name="connsiteY1" fmla="*/ 57546 h 149225"/>
                <a:gd name="connsiteX2" fmla="*/ 38100 w 134937"/>
                <a:gd name="connsiteY2" fmla="*/ 114696 h 149225"/>
                <a:gd name="connsiteX3" fmla="*/ 64293 w 134937"/>
                <a:gd name="connsiteY3" fmla="*/ 145653 h 149225"/>
                <a:gd name="connsiteX4" fmla="*/ 95250 w 134937"/>
                <a:gd name="connsiteY4" fmla="*/ 93265 h 149225"/>
                <a:gd name="connsiteX5" fmla="*/ 100012 w 134937"/>
                <a:gd name="connsiteY5" fmla="*/ 36115 h 149225"/>
                <a:gd name="connsiteX6" fmla="*/ 109537 w 134937"/>
                <a:gd name="connsiteY6" fmla="*/ 17065 h 149225"/>
                <a:gd name="connsiteX7" fmla="*/ 130968 w 134937"/>
                <a:gd name="connsiteY7" fmla="*/ 2778 h 149225"/>
                <a:gd name="connsiteX8" fmla="*/ 133350 w 134937"/>
                <a:gd name="connsiteY8" fmla="*/ 396 h 149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37" h="149225">
                  <a:moveTo>
                    <a:pt x="0" y="396"/>
                  </a:moveTo>
                  <a:cubicBezTo>
                    <a:pt x="13493" y="19446"/>
                    <a:pt x="26987" y="38496"/>
                    <a:pt x="33337" y="57546"/>
                  </a:cubicBezTo>
                  <a:cubicBezTo>
                    <a:pt x="39687" y="76596"/>
                    <a:pt x="32941" y="100012"/>
                    <a:pt x="38100" y="114696"/>
                  </a:cubicBezTo>
                  <a:cubicBezTo>
                    <a:pt x="43259" y="129381"/>
                    <a:pt x="54768" y="149225"/>
                    <a:pt x="64293" y="145653"/>
                  </a:cubicBezTo>
                  <a:cubicBezTo>
                    <a:pt x="73818" y="142081"/>
                    <a:pt x="89297" y="111521"/>
                    <a:pt x="95250" y="93265"/>
                  </a:cubicBezTo>
                  <a:cubicBezTo>
                    <a:pt x="101203" y="75009"/>
                    <a:pt x="97631" y="48815"/>
                    <a:pt x="100012" y="36115"/>
                  </a:cubicBezTo>
                  <a:cubicBezTo>
                    <a:pt x="102393" y="23415"/>
                    <a:pt x="104378" y="22621"/>
                    <a:pt x="109537" y="17065"/>
                  </a:cubicBezTo>
                  <a:cubicBezTo>
                    <a:pt x="114696" y="11509"/>
                    <a:pt x="126999" y="5556"/>
                    <a:pt x="130968" y="2778"/>
                  </a:cubicBezTo>
                  <a:cubicBezTo>
                    <a:pt x="134937" y="0"/>
                    <a:pt x="134143" y="198"/>
                    <a:pt x="133350" y="396"/>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5618" name="TextBox 39">
              <a:extLst>
                <a:ext uri="{FF2B5EF4-FFF2-40B4-BE49-F238E27FC236}">
                  <a16:creationId xmlns:a16="http://schemas.microsoft.com/office/drawing/2014/main" id="{D70E7231-C90F-4EEC-9BEA-15CF6DCC1D43}"/>
                </a:ext>
              </a:extLst>
            </p:cNvPr>
            <p:cNvSpPr txBox="1">
              <a:spLocks noChangeArrowheads="1"/>
            </p:cNvSpPr>
            <p:nvPr/>
          </p:nvSpPr>
          <p:spPr bwMode="auto">
            <a:xfrm>
              <a:off x="5015025" y="3395666"/>
              <a:ext cx="77617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t>Smaller glitch</a:t>
              </a:r>
              <a:endParaRPr lang="en-US" altLang="en-US" b="1"/>
            </a:p>
          </p:txBody>
        </p:sp>
        <p:sp>
          <p:nvSpPr>
            <p:cNvPr id="25619" name="TextBox 40">
              <a:extLst>
                <a:ext uri="{FF2B5EF4-FFF2-40B4-BE49-F238E27FC236}">
                  <a16:creationId xmlns:a16="http://schemas.microsoft.com/office/drawing/2014/main" id="{782089A9-68E6-4D6C-8292-29B4F0FDC188}"/>
                </a:ext>
              </a:extLst>
            </p:cNvPr>
            <p:cNvSpPr txBox="1">
              <a:spLocks noChangeArrowheads="1"/>
            </p:cNvSpPr>
            <p:nvPr/>
          </p:nvSpPr>
          <p:spPr bwMode="auto">
            <a:xfrm>
              <a:off x="4429124" y="3357562"/>
              <a:ext cx="59343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t>Cmedium</a:t>
              </a:r>
              <a:endParaRPr lang="en-US" altLang="en-US" b="1"/>
            </a:p>
          </p:txBody>
        </p:sp>
        <p:cxnSp>
          <p:nvCxnSpPr>
            <p:cNvPr id="48" name="Straight Connector 47">
              <a:extLst>
                <a:ext uri="{FF2B5EF4-FFF2-40B4-BE49-F238E27FC236}">
                  <a16:creationId xmlns:a16="http://schemas.microsoft.com/office/drawing/2014/main" id="{96E03CA8-E2FF-4F6E-9DA0-CBE35AE4B221}"/>
                </a:ext>
              </a:extLst>
            </p:cNvPr>
            <p:cNvCxnSpPr/>
            <p:nvPr/>
          </p:nvCxnSpPr>
          <p:spPr bwMode="auto">
            <a:xfrm>
              <a:off x="2995612" y="3629025"/>
              <a:ext cx="152397"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88FEF663-23F8-406D-85F2-3195EA653245}"/>
                </a:ext>
              </a:extLst>
            </p:cNvPr>
            <p:cNvCxnSpPr/>
            <p:nvPr/>
          </p:nvCxnSpPr>
          <p:spPr bwMode="auto">
            <a:xfrm>
              <a:off x="2971800" y="2484438"/>
              <a:ext cx="152397"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51" name="Freeform 50">
              <a:extLst>
                <a:ext uri="{FF2B5EF4-FFF2-40B4-BE49-F238E27FC236}">
                  <a16:creationId xmlns:a16="http://schemas.microsoft.com/office/drawing/2014/main" id="{22F7EA72-A280-4DB4-A357-66ACF57BC569}"/>
                </a:ext>
              </a:extLst>
            </p:cNvPr>
            <p:cNvSpPr/>
            <p:nvPr/>
          </p:nvSpPr>
          <p:spPr bwMode="auto">
            <a:xfrm>
              <a:off x="3127372" y="4879975"/>
              <a:ext cx="520691" cy="428625"/>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sp>
          <p:nvSpPr>
            <p:cNvPr id="25623" name="Isosceles Triangle 51">
              <a:extLst>
                <a:ext uri="{FF2B5EF4-FFF2-40B4-BE49-F238E27FC236}">
                  <a16:creationId xmlns:a16="http://schemas.microsoft.com/office/drawing/2014/main" id="{D6311469-701D-455C-89EB-3E20B9FA0E55}"/>
                </a:ext>
              </a:extLst>
            </p:cNvPr>
            <p:cNvSpPr>
              <a:spLocks noChangeArrowheads="1"/>
            </p:cNvSpPr>
            <p:nvPr/>
          </p:nvSpPr>
          <p:spPr bwMode="auto">
            <a:xfrm rot="5400000">
              <a:off x="3895554" y="4873957"/>
              <a:ext cx="281354" cy="29434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5624" name="Oval 52">
              <a:extLst>
                <a:ext uri="{FF2B5EF4-FFF2-40B4-BE49-F238E27FC236}">
                  <a16:creationId xmlns:a16="http://schemas.microsoft.com/office/drawing/2014/main" id="{87F5E272-2D60-40C3-8A0B-0C284030B75A}"/>
                </a:ext>
              </a:extLst>
            </p:cNvPr>
            <p:cNvSpPr>
              <a:spLocks noChangeArrowheads="1"/>
            </p:cNvSpPr>
            <p:nvPr/>
          </p:nvSpPr>
          <p:spPr bwMode="auto">
            <a:xfrm>
              <a:off x="4178806" y="4985965"/>
              <a:ext cx="73587" cy="70339"/>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5625" name="Straight Connector 53">
              <a:extLst>
                <a:ext uri="{FF2B5EF4-FFF2-40B4-BE49-F238E27FC236}">
                  <a16:creationId xmlns:a16="http://schemas.microsoft.com/office/drawing/2014/main" id="{14CA185F-D455-4320-8306-B8F01F6DF472}"/>
                </a:ext>
              </a:extLst>
            </p:cNvPr>
            <p:cNvCxnSpPr>
              <a:cxnSpLocks noChangeShapeType="1"/>
            </p:cNvCxnSpPr>
            <p:nvPr/>
          </p:nvCxnSpPr>
          <p:spPr bwMode="auto">
            <a:xfrm>
              <a:off x="3733285" y="5014169"/>
              <a:ext cx="152400" cy="0"/>
            </a:xfrm>
            <a:prstGeom prst="line">
              <a:avLst/>
            </a:prstGeom>
            <a:noFill/>
            <a:ln w="9525" algn="ctr">
              <a:solidFill>
                <a:schemeClr val="tx1"/>
              </a:solidFill>
              <a:round/>
              <a:headEnd/>
              <a:tailEnd/>
            </a:ln>
          </p:spPr>
        </p:cxnSp>
        <p:cxnSp>
          <p:nvCxnSpPr>
            <p:cNvPr id="25626" name="Straight Connector 54">
              <a:extLst>
                <a:ext uri="{FF2B5EF4-FFF2-40B4-BE49-F238E27FC236}">
                  <a16:creationId xmlns:a16="http://schemas.microsoft.com/office/drawing/2014/main" id="{EAE00402-C12A-4AD8-8144-4B98F8FDD0E3}"/>
                </a:ext>
              </a:extLst>
            </p:cNvPr>
            <p:cNvCxnSpPr>
              <a:cxnSpLocks noChangeShapeType="1"/>
            </p:cNvCxnSpPr>
            <p:nvPr/>
          </p:nvCxnSpPr>
          <p:spPr bwMode="auto">
            <a:xfrm>
              <a:off x="4253985" y="5022107"/>
              <a:ext cx="152400" cy="0"/>
            </a:xfrm>
            <a:prstGeom prst="line">
              <a:avLst/>
            </a:prstGeom>
            <a:noFill/>
            <a:ln w="9525" algn="ctr">
              <a:solidFill>
                <a:schemeClr val="tx1"/>
              </a:solidFill>
              <a:round/>
              <a:headEnd/>
              <a:tailEnd/>
            </a:ln>
          </p:spPr>
        </p:cxnSp>
        <p:grpSp>
          <p:nvGrpSpPr>
            <p:cNvPr id="25627" name="Group 397">
              <a:extLst>
                <a:ext uri="{FF2B5EF4-FFF2-40B4-BE49-F238E27FC236}">
                  <a16:creationId xmlns:a16="http://schemas.microsoft.com/office/drawing/2014/main" id="{003063FD-3241-4C4F-BF3B-701ADA569524}"/>
                </a:ext>
              </a:extLst>
            </p:cNvPr>
            <p:cNvGrpSpPr>
              <a:grpSpLocks/>
            </p:cNvGrpSpPr>
            <p:nvPr/>
          </p:nvGrpSpPr>
          <p:grpSpPr bwMode="auto">
            <a:xfrm>
              <a:off x="4331017" y="5025234"/>
              <a:ext cx="152400" cy="384966"/>
              <a:chOff x="3505200" y="5192066"/>
              <a:chExt cx="152400" cy="384966"/>
            </a:xfrm>
          </p:grpSpPr>
          <p:sp>
            <p:nvSpPr>
              <p:cNvPr id="25633" name="Isosceles Triangle 61">
                <a:extLst>
                  <a:ext uri="{FF2B5EF4-FFF2-40B4-BE49-F238E27FC236}">
                    <a16:creationId xmlns:a16="http://schemas.microsoft.com/office/drawing/2014/main" id="{687A361C-8115-4730-89E3-A993B4164CE0}"/>
                  </a:ext>
                </a:extLst>
              </p:cNvPr>
              <p:cNvSpPr>
                <a:spLocks noChangeArrowheads="1"/>
              </p:cNvSpPr>
              <p:nvPr/>
            </p:nvSpPr>
            <p:spPr bwMode="auto">
              <a:xfrm rot="10800000">
                <a:off x="3546475" y="5500832"/>
                <a:ext cx="76200" cy="76200"/>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5634" name="Straight Connector 62">
                <a:extLst>
                  <a:ext uri="{FF2B5EF4-FFF2-40B4-BE49-F238E27FC236}">
                    <a16:creationId xmlns:a16="http://schemas.microsoft.com/office/drawing/2014/main" id="{3F5ABFCB-669A-4117-915A-88C858390C7F}"/>
                  </a:ext>
                </a:extLst>
              </p:cNvPr>
              <p:cNvCxnSpPr>
                <a:cxnSpLocks noChangeShapeType="1"/>
              </p:cNvCxnSpPr>
              <p:nvPr/>
            </p:nvCxnSpPr>
            <p:spPr bwMode="auto">
              <a:xfrm>
                <a:off x="3505200" y="5312718"/>
                <a:ext cx="152400" cy="1588"/>
              </a:xfrm>
              <a:prstGeom prst="line">
                <a:avLst/>
              </a:prstGeom>
              <a:noFill/>
              <a:ln w="9525" algn="ctr">
                <a:solidFill>
                  <a:schemeClr val="tx1"/>
                </a:solidFill>
                <a:round/>
                <a:headEnd/>
                <a:tailEnd/>
              </a:ln>
            </p:spPr>
          </p:cxnSp>
          <p:cxnSp>
            <p:nvCxnSpPr>
              <p:cNvPr id="25635" name="Straight Connector 63">
                <a:extLst>
                  <a:ext uri="{FF2B5EF4-FFF2-40B4-BE49-F238E27FC236}">
                    <a16:creationId xmlns:a16="http://schemas.microsoft.com/office/drawing/2014/main" id="{CD77A979-54E5-49EF-92A8-6E91763C3A09}"/>
                  </a:ext>
                </a:extLst>
              </p:cNvPr>
              <p:cNvCxnSpPr>
                <a:cxnSpLocks noChangeShapeType="1"/>
              </p:cNvCxnSpPr>
              <p:nvPr/>
            </p:nvCxnSpPr>
            <p:spPr bwMode="auto">
              <a:xfrm>
                <a:off x="3505200" y="5350818"/>
                <a:ext cx="152400" cy="1588"/>
              </a:xfrm>
              <a:prstGeom prst="line">
                <a:avLst/>
              </a:prstGeom>
              <a:noFill/>
              <a:ln w="9525" algn="ctr">
                <a:solidFill>
                  <a:schemeClr val="tx1"/>
                </a:solidFill>
                <a:round/>
                <a:headEnd/>
                <a:tailEnd/>
              </a:ln>
            </p:spPr>
          </p:cxnSp>
          <p:cxnSp>
            <p:nvCxnSpPr>
              <p:cNvPr id="25636" name="Straight Connector 64">
                <a:extLst>
                  <a:ext uri="{FF2B5EF4-FFF2-40B4-BE49-F238E27FC236}">
                    <a16:creationId xmlns:a16="http://schemas.microsoft.com/office/drawing/2014/main" id="{13D569B5-4DF4-40F7-9358-A933920266A3}"/>
                  </a:ext>
                </a:extLst>
              </p:cNvPr>
              <p:cNvCxnSpPr>
                <a:cxnSpLocks noChangeShapeType="1"/>
              </p:cNvCxnSpPr>
              <p:nvPr/>
            </p:nvCxnSpPr>
            <p:spPr bwMode="auto">
              <a:xfrm rot="5400000">
                <a:off x="3505200" y="5424635"/>
                <a:ext cx="152402" cy="0"/>
              </a:xfrm>
              <a:prstGeom prst="line">
                <a:avLst/>
              </a:prstGeom>
              <a:noFill/>
              <a:ln w="9525" algn="ctr">
                <a:solidFill>
                  <a:schemeClr val="tx1"/>
                </a:solidFill>
                <a:round/>
                <a:headEnd/>
                <a:tailEnd/>
              </a:ln>
            </p:spPr>
          </p:cxnSp>
          <p:cxnSp>
            <p:nvCxnSpPr>
              <p:cNvPr id="25637" name="Straight Connector 65">
                <a:extLst>
                  <a:ext uri="{FF2B5EF4-FFF2-40B4-BE49-F238E27FC236}">
                    <a16:creationId xmlns:a16="http://schemas.microsoft.com/office/drawing/2014/main" id="{F83CAA3F-1485-484D-80D3-2C355264D70B}"/>
                  </a:ext>
                </a:extLst>
              </p:cNvPr>
              <p:cNvCxnSpPr>
                <a:cxnSpLocks noChangeShapeType="1"/>
              </p:cNvCxnSpPr>
              <p:nvPr/>
            </p:nvCxnSpPr>
            <p:spPr bwMode="auto">
              <a:xfrm rot="5400000">
                <a:off x="3519489" y="5253184"/>
                <a:ext cx="123823" cy="1588"/>
              </a:xfrm>
              <a:prstGeom prst="line">
                <a:avLst/>
              </a:prstGeom>
              <a:noFill/>
              <a:ln w="9525" algn="ctr">
                <a:solidFill>
                  <a:schemeClr val="tx1"/>
                </a:solidFill>
                <a:round/>
                <a:headEnd/>
                <a:tailEnd/>
              </a:ln>
            </p:spPr>
          </p:cxnSp>
        </p:grpSp>
        <p:cxnSp>
          <p:nvCxnSpPr>
            <p:cNvPr id="25628" name="Straight Connector 56">
              <a:extLst>
                <a:ext uri="{FF2B5EF4-FFF2-40B4-BE49-F238E27FC236}">
                  <a16:creationId xmlns:a16="http://schemas.microsoft.com/office/drawing/2014/main" id="{BBC50106-0E50-4D7D-9A02-496083C95DB1}"/>
                </a:ext>
              </a:extLst>
            </p:cNvPr>
            <p:cNvCxnSpPr>
              <a:cxnSpLocks noChangeShapeType="1"/>
            </p:cNvCxnSpPr>
            <p:nvPr/>
          </p:nvCxnSpPr>
          <p:spPr bwMode="auto">
            <a:xfrm>
              <a:off x="4404995" y="5024123"/>
              <a:ext cx="152400" cy="0"/>
            </a:xfrm>
            <a:prstGeom prst="line">
              <a:avLst/>
            </a:prstGeom>
            <a:noFill/>
            <a:ln w="9525" algn="ctr">
              <a:solidFill>
                <a:schemeClr val="tx1"/>
              </a:solidFill>
              <a:round/>
              <a:headEnd/>
              <a:tailEnd/>
            </a:ln>
          </p:spPr>
        </p:cxnSp>
        <p:cxnSp>
          <p:nvCxnSpPr>
            <p:cNvPr id="58" name="Straight Connector 57">
              <a:extLst>
                <a:ext uri="{FF2B5EF4-FFF2-40B4-BE49-F238E27FC236}">
                  <a16:creationId xmlns:a16="http://schemas.microsoft.com/office/drawing/2014/main" id="{E77E5BC7-4CA5-40FB-936E-98417F46F431}"/>
                </a:ext>
              </a:extLst>
            </p:cNvPr>
            <p:cNvCxnSpPr/>
            <p:nvPr/>
          </p:nvCxnSpPr>
          <p:spPr bwMode="auto">
            <a:xfrm>
              <a:off x="4956142" y="4956175"/>
              <a:ext cx="652451" cy="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630" name="TextBox 58">
              <a:extLst>
                <a:ext uri="{FF2B5EF4-FFF2-40B4-BE49-F238E27FC236}">
                  <a16:creationId xmlns:a16="http://schemas.microsoft.com/office/drawing/2014/main" id="{CF13ACD4-6DBF-44FB-95BA-4BEDBE4D4567}"/>
                </a:ext>
              </a:extLst>
            </p:cNvPr>
            <p:cNvSpPr txBox="1">
              <a:spLocks noChangeArrowheads="1"/>
            </p:cNvSpPr>
            <p:nvPr/>
          </p:nvSpPr>
          <p:spPr bwMode="auto">
            <a:xfrm>
              <a:off x="5032057" y="4985232"/>
              <a:ext cx="979755"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t>No glitch at output</a:t>
              </a:r>
              <a:endParaRPr lang="en-US" altLang="en-US" b="1"/>
            </a:p>
          </p:txBody>
        </p:sp>
        <p:sp>
          <p:nvSpPr>
            <p:cNvPr id="25631" name="TextBox 59">
              <a:extLst>
                <a:ext uri="{FF2B5EF4-FFF2-40B4-BE49-F238E27FC236}">
                  <a16:creationId xmlns:a16="http://schemas.microsoft.com/office/drawing/2014/main" id="{CCB0343F-8E2B-4856-B503-A11DBF2D2013}"/>
                </a:ext>
              </a:extLst>
            </p:cNvPr>
            <p:cNvSpPr txBox="1">
              <a:spLocks noChangeArrowheads="1"/>
            </p:cNvSpPr>
            <p:nvPr/>
          </p:nvSpPr>
          <p:spPr bwMode="auto">
            <a:xfrm>
              <a:off x="4500562" y="5072074"/>
              <a:ext cx="437940"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700" b="1"/>
                <a:t>Chigh</a:t>
              </a:r>
              <a:endParaRPr lang="en-US" altLang="en-US" b="1"/>
            </a:p>
          </p:txBody>
        </p:sp>
        <p:cxnSp>
          <p:nvCxnSpPr>
            <p:cNvPr id="61" name="Straight Connector 60">
              <a:extLst>
                <a:ext uri="{FF2B5EF4-FFF2-40B4-BE49-F238E27FC236}">
                  <a16:creationId xmlns:a16="http://schemas.microsoft.com/office/drawing/2014/main" id="{E0954163-EF6E-4249-99BA-F1B5C688DAD4}"/>
                </a:ext>
              </a:extLst>
            </p:cNvPr>
            <p:cNvCxnSpPr/>
            <p:nvPr/>
          </p:nvCxnSpPr>
          <p:spPr bwMode="auto">
            <a:xfrm>
              <a:off x="2971800" y="5310188"/>
              <a:ext cx="228596" cy="1587"/>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
        <p:nvSpPr>
          <p:cNvPr id="25604" name="TextBox 5">
            <a:extLst>
              <a:ext uri="{FF2B5EF4-FFF2-40B4-BE49-F238E27FC236}">
                <a16:creationId xmlns:a16="http://schemas.microsoft.com/office/drawing/2014/main" id="{32C1B8AC-E6BF-45A6-8BFF-09EE4B0BC241}"/>
              </a:ext>
            </a:extLst>
          </p:cNvPr>
          <p:cNvSpPr txBox="1">
            <a:spLocks noChangeArrowheads="1"/>
          </p:cNvSpPr>
          <p:nvPr/>
        </p:nvSpPr>
        <p:spPr bwMode="auto">
          <a:xfrm>
            <a:off x="6669088" y="2008189"/>
            <a:ext cx="20701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No capacitive load</a:t>
            </a:r>
          </a:p>
        </p:txBody>
      </p:sp>
      <p:sp>
        <p:nvSpPr>
          <p:cNvPr id="25605" name="TextBox 66">
            <a:extLst>
              <a:ext uri="{FF2B5EF4-FFF2-40B4-BE49-F238E27FC236}">
                <a16:creationId xmlns:a16="http://schemas.microsoft.com/office/drawing/2014/main" id="{DA3AF9E7-65BC-4E7C-9517-8BCF48845CC8}"/>
              </a:ext>
            </a:extLst>
          </p:cNvPr>
          <p:cNvSpPr txBox="1">
            <a:spLocks noChangeArrowheads="1"/>
          </p:cNvSpPr>
          <p:nvPr/>
        </p:nvSpPr>
        <p:spPr bwMode="auto">
          <a:xfrm>
            <a:off x="6669088" y="3262314"/>
            <a:ext cx="25955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Medium capacitive load</a:t>
            </a:r>
          </a:p>
        </p:txBody>
      </p:sp>
      <p:sp>
        <p:nvSpPr>
          <p:cNvPr id="25606" name="TextBox 69">
            <a:extLst>
              <a:ext uri="{FF2B5EF4-FFF2-40B4-BE49-F238E27FC236}">
                <a16:creationId xmlns:a16="http://schemas.microsoft.com/office/drawing/2014/main" id="{721A8805-A7F8-4E8C-A28A-91A9DD085398}"/>
              </a:ext>
            </a:extLst>
          </p:cNvPr>
          <p:cNvSpPr txBox="1">
            <a:spLocks noChangeArrowheads="1"/>
          </p:cNvSpPr>
          <p:nvPr/>
        </p:nvSpPr>
        <p:spPr bwMode="auto">
          <a:xfrm>
            <a:off x="6669089" y="4735514"/>
            <a:ext cx="23637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800"/>
              <a:t>Large capacitive load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0B66F76E-2206-464D-9CA1-75545617AE34}"/>
              </a:ext>
            </a:extLst>
          </p:cNvPr>
          <p:cNvSpPr>
            <a:spLocks noGrp="1"/>
          </p:cNvSpPr>
          <p:nvPr>
            <p:ph type="title"/>
          </p:nvPr>
        </p:nvSpPr>
        <p:spPr/>
        <p:txBody>
          <a:bodyPr/>
          <a:lstStyle/>
          <a:p>
            <a:r>
              <a:rPr lang="en-US" altLang="en-US"/>
              <a:t>Multiple Aggressors</a:t>
            </a:r>
          </a:p>
        </p:txBody>
      </p:sp>
      <p:sp>
        <p:nvSpPr>
          <p:cNvPr id="26627" name="Content Placeholder 2">
            <a:extLst>
              <a:ext uri="{FF2B5EF4-FFF2-40B4-BE49-F238E27FC236}">
                <a16:creationId xmlns:a16="http://schemas.microsoft.com/office/drawing/2014/main" id="{B4522772-B28B-47A6-92AC-2F73D60A676F}"/>
              </a:ext>
            </a:extLst>
          </p:cNvPr>
          <p:cNvSpPr>
            <a:spLocks noGrp="1"/>
          </p:cNvSpPr>
          <p:nvPr>
            <p:ph type="body" sz="quarter" idx="10"/>
          </p:nvPr>
        </p:nvSpPr>
        <p:spPr/>
        <p:txBody>
          <a:bodyPr/>
          <a:lstStyle/>
          <a:p>
            <a:r>
              <a:rPr lang="en-US" altLang="en-US" sz="1800"/>
              <a:t>Victim net may be capacitive-coupled to many nets</a:t>
            </a:r>
          </a:p>
          <a:p>
            <a:r>
              <a:rPr lang="en-US" altLang="en-US" sz="1800"/>
              <a:t>The crosstalk coupling noise effect is accumulated due to multiple aggressors  </a:t>
            </a:r>
          </a:p>
          <a:p>
            <a:r>
              <a:rPr lang="en-US" altLang="en-US" sz="1800"/>
              <a:t>STA includes the timing correlation of the aggressor nets and determine multiple aggressors exist </a:t>
            </a:r>
          </a:p>
          <a:p>
            <a:endParaRPr lang="en-US" altLang="en-US" sz="1800"/>
          </a:p>
        </p:txBody>
      </p:sp>
      <p:grpSp>
        <p:nvGrpSpPr>
          <p:cNvPr id="26628" name="Группа 87">
            <a:extLst>
              <a:ext uri="{FF2B5EF4-FFF2-40B4-BE49-F238E27FC236}">
                <a16:creationId xmlns:a16="http://schemas.microsoft.com/office/drawing/2014/main" id="{513D8172-CAF4-4BA9-B2D7-FF2954ED6F5E}"/>
              </a:ext>
            </a:extLst>
          </p:cNvPr>
          <p:cNvGrpSpPr>
            <a:grpSpLocks/>
          </p:cNvGrpSpPr>
          <p:nvPr/>
        </p:nvGrpSpPr>
        <p:grpSpPr bwMode="auto">
          <a:xfrm>
            <a:off x="3124200" y="2819400"/>
            <a:ext cx="5715000" cy="2590800"/>
            <a:chOff x="1600200" y="2819400"/>
            <a:chExt cx="5714999" cy="2590800"/>
          </a:xfrm>
        </p:grpSpPr>
        <p:sp>
          <p:nvSpPr>
            <p:cNvPr id="26632" name="Flowchart: Delay 5">
              <a:extLst>
                <a:ext uri="{FF2B5EF4-FFF2-40B4-BE49-F238E27FC236}">
                  <a16:creationId xmlns:a16="http://schemas.microsoft.com/office/drawing/2014/main" id="{1E7D2969-8C6A-46FE-A9A1-2244219C1825}"/>
                </a:ext>
              </a:extLst>
            </p:cNvPr>
            <p:cNvSpPr>
              <a:spLocks noChangeArrowheads="1"/>
            </p:cNvSpPr>
            <p:nvPr/>
          </p:nvSpPr>
          <p:spPr bwMode="auto">
            <a:xfrm>
              <a:off x="1963676" y="3452822"/>
              <a:ext cx="489131" cy="44024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26633" name="Isosceles Triangle 6">
              <a:extLst>
                <a:ext uri="{FF2B5EF4-FFF2-40B4-BE49-F238E27FC236}">
                  <a16:creationId xmlns:a16="http://schemas.microsoft.com/office/drawing/2014/main" id="{E57787A2-5E0C-4742-93A4-35E91227621E}"/>
                </a:ext>
              </a:extLst>
            </p:cNvPr>
            <p:cNvSpPr>
              <a:spLocks noChangeArrowheads="1"/>
            </p:cNvSpPr>
            <p:nvPr/>
          </p:nvSpPr>
          <p:spPr bwMode="auto">
            <a:xfrm rot="5400000">
              <a:off x="1782815" y="4549799"/>
              <a:ext cx="440240" cy="39130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6634" name="Oval 7">
              <a:extLst>
                <a:ext uri="{FF2B5EF4-FFF2-40B4-BE49-F238E27FC236}">
                  <a16:creationId xmlns:a16="http://schemas.microsoft.com/office/drawing/2014/main" id="{5C6AD516-A89E-47AD-BAF1-5EAA3405FC73}"/>
                </a:ext>
              </a:extLst>
            </p:cNvPr>
            <p:cNvSpPr>
              <a:spLocks noChangeArrowheads="1"/>
            </p:cNvSpPr>
            <p:nvPr/>
          </p:nvSpPr>
          <p:spPr bwMode="auto">
            <a:xfrm>
              <a:off x="2192473" y="4690426"/>
              <a:ext cx="97826" cy="110061"/>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6635" name="Straight Connector 8">
              <a:extLst>
                <a:ext uri="{FF2B5EF4-FFF2-40B4-BE49-F238E27FC236}">
                  <a16:creationId xmlns:a16="http://schemas.microsoft.com/office/drawing/2014/main" id="{1AF297E3-16AA-4885-9634-6B65B312EA0B}"/>
                </a:ext>
              </a:extLst>
            </p:cNvPr>
            <p:cNvCxnSpPr>
              <a:cxnSpLocks noChangeShapeType="1"/>
            </p:cNvCxnSpPr>
            <p:nvPr/>
          </p:nvCxnSpPr>
          <p:spPr bwMode="auto">
            <a:xfrm>
              <a:off x="2550941" y="3665198"/>
              <a:ext cx="2633796" cy="0"/>
            </a:xfrm>
            <a:prstGeom prst="line">
              <a:avLst/>
            </a:prstGeom>
            <a:noFill/>
            <a:ln w="9525" algn="ctr">
              <a:solidFill>
                <a:schemeClr val="tx1"/>
              </a:solidFill>
              <a:round/>
              <a:headEnd/>
              <a:tailEnd/>
            </a:ln>
          </p:spPr>
        </p:cxnSp>
        <p:cxnSp>
          <p:nvCxnSpPr>
            <p:cNvPr id="26636" name="Straight Connector 9">
              <a:extLst>
                <a:ext uri="{FF2B5EF4-FFF2-40B4-BE49-F238E27FC236}">
                  <a16:creationId xmlns:a16="http://schemas.microsoft.com/office/drawing/2014/main" id="{EF6290E3-75EF-4EB4-9D13-29799AB2736F}"/>
                </a:ext>
              </a:extLst>
            </p:cNvPr>
            <p:cNvCxnSpPr>
              <a:cxnSpLocks noChangeShapeType="1"/>
            </p:cNvCxnSpPr>
            <p:nvPr/>
          </p:nvCxnSpPr>
          <p:spPr bwMode="auto">
            <a:xfrm flipV="1">
              <a:off x="2993073" y="4746978"/>
              <a:ext cx="1114298" cy="6"/>
            </a:xfrm>
            <a:prstGeom prst="line">
              <a:avLst/>
            </a:prstGeom>
            <a:noFill/>
            <a:ln w="9525" algn="ctr">
              <a:solidFill>
                <a:schemeClr val="tx1"/>
              </a:solidFill>
              <a:round/>
              <a:headEnd/>
              <a:tailEnd/>
            </a:ln>
          </p:spPr>
        </p:cxnSp>
        <p:grpSp>
          <p:nvGrpSpPr>
            <p:cNvPr id="26637" name="Group 411">
              <a:extLst>
                <a:ext uri="{FF2B5EF4-FFF2-40B4-BE49-F238E27FC236}">
                  <a16:creationId xmlns:a16="http://schemas.microsoft.com/office/drawing/2014/main" id="{D0FB9462-5343-46E5-BF70-9B4000804571}"/>
                </a:ext>
              </a:extLst>
            </p:cNvPr>
            <p:cNvGrpSpPr>
              <a:grpSpLocks/>
            </p:cNvGrpSpPr>
            <p:nvPr/>
          </p:nvGrpSpPr>
          <p:grpSpPr bwMode="auto">
            <a:xfrm>
              <a:off x="3474244" y="3666858"/>
              <a:ext cx="295461" cy="1082802"/>
              <a:chOff x="2825748" y="4489598"/>
              <a:chExt cx="152400" cy="308770"/>
            </a:xfrm>
          </p:grpSpPr>
          <p:cxnSp>
            <p:nvCxnSpPr>
              <p:cNvPr id="26671" name="Straight Connector 79">
                <a:extLst>
                  <a:ext uri="{FF2B5EF4-FFF2-40B4-BE49-F238E27FC236}">
                    <a16:creationId xmlns:a16="http://schemas.microsoft.com/office/drawing/2014/main" id="{C7F6AAE3-9776-47AC-A009-60D9B3B10EB9}"/>
                  </a:ext>
                </a:extLst>
              </p:cNvPr>
              <p:cNvCxnSpPr>
                <a:cxnSpLocks noChangeShapeType="1"/>
              </p:cNvCxnSpPr>
              <p:nvPr/>
            </p:nvCxnSpPr>
            <p:spPr bwMode="auto">
              <a:xfrm>
                <a:off x="2825748" y="4610250"/>
                <a:ext cx="152400" cy="0"/>
              </a:xfrm>
              <a:prstGeom prst="line">
                <a:avLst/>
              </a:prstGeom>
              <a:noFill/>
              <a:ln w="9525" algn="ctr">
                <a:solidFill>
                  <a:schemeClr val="tx1"/>
                </a:solidFill>
                <a:round/>
                <a:headEnd/>
                <a:tailEnd/>
              </a:ln>
            </p:spPr>
          </p:cxnSp>
          <p:cxnSp>
            <p:nvCxnSpPr>
              <p:cNvPr id="26672" name="Straight Connector 80">
                <a:extLst>
                  <a:ext uri="{FF2B5EF4-FFF2-40B4-BE49-F238E27FC236}">
                    <a16:creationId xmlns:a16="http://schemas.microsoft.com/office/drawing/2014/main" id="{D1CF53EC-73BE-4BAA-A974-C98FD0D595DF}"/>
                  </a:ext>
                </a:extLst>
              </p:cNvPr>
              <p:cNvCxnSpPr>
                <a:cxnSpLocks noChangeShapeType="1"/>
              </p:cNvCxnSpPr>
              <p:nvPr/>
            </p:nvCxnSpPr>
            <p:spPr bwMode="auto">
              <a:xfrm>
                <a:off x="2825748" y="4648350"/>
                <a:ext cx="152400" cy="0"/>
              </a:xfrm>
              <a:prstGeom prst="line">
                <a:avLst/>
              </a:prstGeom>
              <a:noFill/>
              <a:ln w="9525" algn="ctr">
                <a:solidFill>
                  <a:schemeClr val="tx1"/>
                </a:solidFill>
                <a:round/>
                <a:headEnd/>
                <a:tailEnd/>
              </a:ln>
            </p:spPr>
          </p:cxnSp>
          <p:cxnSp>
            <p:nvCxnSpPr>
              <p:cNvPr id="26673" name="Straight Connector 81">
                <a:extLst>
                  <a:ext uri="{FF2B5EF4-FFF2-40B4-BE49-F238E27FC236}">
                    <a16:creationId xmlns:a16="http://schemas.microsoft.com/office/drawing/2014/main" id="{7F638BE8-C8F9-427C-8AB4-5B264678144F}"/>
                  </a:ext>
                </a:extLst>
              </p:cNvPr>
              <p:cNvCxnSpPr>
                <a:cxnSpLocks noChangeShapeType="1"/>
              </p:cNvCxnSpPr>
              <p:nvPr/>
            </p:nvCxnSpPr>
            <p:spPr bwMode="auto">
              <a:xfrm rot="5400000">
                <a:off x="2825748" y="4722167"/>
                <a:ext cx="152402" cy="0"/>
              </a:xfrm>
              <a:prstGeom prst="line">
                <a:avLst/>
              </a:prstGeom>
              <a:noFill/>
              <a:ln w="9525" algn="ctr">
                <a:solidFill>
                  <a:schemeClr val="tx1"/>
                </a:solidFill>
                <a:round/>
                <a:headEnd/>
                <a:tailEnd/>
              </a:ln>
            </p:spPr>
          </p:cxnSp>
          <p:cxnSp>
            <p:nvCxnSpPr>
              <p:cNvPr id="26674" name="Straight Connector 82">
                <a:extLst>
                  <a:ext uri="{FF2B5EF4-FFF2-40B4-BE49-F238E27FC236}">
                    <a16:creationId xmlns:a16="http://schemas.microsoft.com/office/drawing/2014/main" id="{4C0FEAA0-A3D5-4B3D-A699-0B70E4A08DCB}"/>
                  </a:ext>
                </a:extLst>
              </p:cNvPr>
              <p:cNvCxnSpPr>
                <a:cxnSpLocks noChangeShapeType="1"/>
              </p:cNvCxnSpPr>
              <p:nvPr/>
            </p:nvCxnSpPr>
            <p:spPr bwMode="auto">
              <a:xfrm rot="5400000">
                <a:off x="2840831" y="4551510"/>
                <a:ext cx="123823" cy="0"/>
              </a:xfrm>
              <a:prstGeom prst="line">
                <a:avLst/>
              </a:prstGeom>
              <a:noFill/>
              <a:ln w="9525" algn="ctr">
                <a:solidFill>
                  <a:schemeClr val="tx1"/>
                </a:solidFill>
                <a:round/>
                <a:headEnd/>
                <a:tailEnd/>
              </a:ln>
            </p:spPr>
          </p:cxnSp>
        </p:grpSp>
        <p:grpSp>
          <p:nvGrpSpPr>
            <p:cNvPr id="12" name="Group 397">
              <a:extLst>
                <a:ext uri="{FF2B5EF4-FFF2-40B4-BE49-F238E27FC236}">
                  <a16:creationId xmlns:a16="http://schemas.microsoft.com/office/drawing/2014/main" id="{E461237C-D9AC-4A4F-929F-7DCD72C95B34}"/>
                </a:ext>
              </a:extLst>
            </p:cNvPr>
            <p:cNvGrpSpPr/>
            <p:nvPr/>
          </p:nvGrpSpPr>
          <p:grpSpPr>
            <a:xfrm>
              <a:off x="3060606" y="4743482"/>
              <a:ext cx="202600" cy="602364"/>
              <a:chOff x="3505200" y="5192066"/>
              <a:chExt cx="152400" cy="384966"/>
            </a:xfrm>
            <a:solidFill>
              <a:schemeClr val="accent1"/>
            </a:solidFill>
          </p:grpSpPr>
          <p:sp>
            <p:nvSpPr>
              <p:cNvPr id="75" name="Isosceles Triangle 74">
                <a:extLst>
                  <a:ext uri="{FF2B5EF4-FFF2-40B4-BE49-F238E27FC236}">
                    <a16:creationId xmlns:a16="http://schemas.microsoft.com/office/drawing/2014/main" id="{48FF5E65-8955-4944-BCFA-17C9C0378E5B}"/>
                  </a:ext>
                </a:extLst>
              </p:cNvPr>
              <p:cNvSpPr/>
              <p:nvPr/>
            </p:nvSpPr>
            <p:spPr bwMode="auto">
              <a:xfrm rot="10800000">
                <a:off x="3536950" y="5500832"/>
                <a:ext cx="76200" cy="76200"/>
              </a:xfrm>
              <a:prstGeom prst="triangle">
                <a:avLst/>
              </a:prstGeom>
              <a:grpFill/>
              <a:ln w="9525" cap="flat" cmpd="sng" algn="ctr">
                <a:solidFill>
                  <a:schemeClr val="tx1"/>
                </a:solidFill>
                <a:prstDash val="solid"/>
                <a:round/>
                <a:headEnd type="none" w="med" len="med"/>
                <a:tailEnd type="none" w="med" len="med"/>
              </a:ln>
              <a:effectLst/>
            </p:spPr>
            <p:txBody>
              <a:bodyPr anchor="ctr"/>
              <a:lstStyle/>
              <a:p>
                <a:pPr eaLnBrk="1" hangingPunct="1">
                  <a:defRPr/>
                </a:pPr>
                <a:endParaRPr lang="en-US">
                  <a:latin typeface="Arial" charset="0"/>
                  <a:cs typeface="Arial" charset="0"/>
                </a:endParaRPr>
              </a:p>
            </p:txBody>
          </p:sp>
          <p:cxnSp>
            <p:nvCxnSpPr>
              <p:cNvPr id="76" name="Straight Connector 75">
                <a:extLst>
                  <a:ext uri="{FF2B5EF4-FFF2-40B4-BE49-F238E27FC236}">
                    <a16:creationId xmlns:a16="http://schemas.microsoft.com/office/drawing/2014/main" id="{1C717E1B-AB53-48E1-9845-5D9EE699DC7B}"/>
                  </a:ext>
                </a:extLst>
              </p:cNvPr>
              <p:cNvCxnSpPr/>
              <p:nvPr/>
            </p:nvCxnSpPr>
            <p:spPr bwMode="auto">
              <a:xfrm>
                <a:off x="3505200" y="5312718"/>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77" name="Straight Connector 76">
                <a:extLst>
                  <a:ext uri="{FF2B5EF4-FFF2-40B4-BE49-F238E27FC236}">
                    <a16:creationId xmlns:a16="http://schemas.microsoft.com/office/drawing/2014/main" id="{799DDBE8-5C6C-436B-B699-DAF23B3E4FAD}"/>
                  </a:ext>
                </a:extLst>
              </p:cNvPr>
              <p:cNvCxnSpPr/>
              <p:nvPr/>
            </p:nvCxnSpPr>
            <p:spPr bwMode="auto">
              <a:xfrm>
                <a:off x="3505200" y="5350818"/>
                <a:ext cx="152400" cy="0"/>
              </a:xfrm>
              <a:prstGeom prst="line">
                <a:avLst/>
              </a:prstGeom>
              <a:grpFill/>
              <a:ln w="9525" cap="flat" cmpd="sng" algn="ctr">
                <a:solidFill>
                  <a:schemeClr val="tx1"/>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8E27FAE2-E796-4738-9A92-04513D92B585}"/>
                  </a:ext>
                </a:extLst>
              </p:cNvPr>
              <p:cNvCxnSpPr/>
              <p:nvPr/>
            </p:nvCxnSpPr>
            <p:spPr bwMode="auto">
              <a:xfrm rot="5400000">
                <a:off x="3505200" y="5424635"/>
                <a:ext cx="152402" cy="0"/>
              </a:xfrm>
              <a:prstGeom prst="line">
                <a:avLst/>
              </a:prstGeom>
              <a:grpFill/>
              <a:ln w="9525" cap="flat" cmpd="sng" algn="ctr">
                <a:solidFill>
                  <a:schemeClr val="tx1"/>
                </a:solidFill>
                <a:prstDash val="solid"/>
                <a:round/>
                <a:headEnd type="none" w="med" len="med"/>
                <a:tailEnd type="none" w="med" len="med"/>
              </a:ln>
              <a:effectLst/>
            </p:spPr>
          </p:cxnSp>
          <p:cxnSp>
            <p:nvCxnSpPr>
              <p:cNvPr id="79" name="Straight Connector 78">
                <a:extLst>
                  <a:ext uri="{FF2B5EF4-FFF2-40B4-BE49-F238E27FC236}">
                    <a16:creationId xmlns:a16="http://schemas.microsoft.com/office/drawing/2014/main" id="{FC6CBAC0-BD21-4F6D-B3E5-94B1C3131CD2}"/>
                  </a:ext>
                </a:extLst>
              </p:cNvPr>
              <p:cNvCxnSpPr/>
              <p:nvPr/>
            </p:nvCxnSpPr>
            <p:spPr bwMode="auto">
              <a:xfrm rot="5400000">
                <a:off x="3519489" y="5253184"/>
                <a:ext cx="123823" cy="1588"/>
              </a:xfrm>
              <a:prstGeom prst="line">
                <a:avLst/>
              </a:prstGeom>
              <a:grpFill/>
              <a:ln w="9525" cap="flat" cmpd="sng" algn="ctr">
                <a:solidFill>
                  <a:schemeClr val="tx1"/>
                </a:solidFill>
                <a:prstDash val="solid"/>
                <a:round/>
                <a:headEnd type="none" w="med" len="med"/>
                <a:tailEnd type="none" w="med" len="med"/>
              </a:ln>
              <a:effectLst/>
            </p:spPr>
          </p:cxnSp>
        </p:grpSp>
        <p:sp>
          <p:nvSpPr>
            <p:cNvPr id="26639" name="Isosceles Triangle 12">
              <a:extLst>
                <a:ext uri="{FF2B5EF4-FFF2-40B4-BE49-F238E27FC236}">
                  <a16:creationId xmlns:a16="http://schemas.microsoft.com/office/drawing/2014/main" id="{30F6B2F4-AE23-423F-A500-F03560B06CC3}"/>
                </a:ext>
              </a:extLst>
            </p:cNvPr>
            <p:cNvSpPr>
              <a:spLocks noChangeArrowheads="1"/>
            </p:cNvSpPr>
            <p:nvPr/>
          </p:nvSpPr>
          <p:spPr bwMode="auto">
            <a:xfrm rot="10800000">
              <a:off x="4926211" y="5286005"/>
              <a:ext cx="101300" cy="119232"/>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6640" name="Straight Connector 13">
              <a:extLst>
                <a:ext uri="{FF2B5EF4-FFF2-40B4-BE49-F238E27FC236}">
                  <a16:creationId xmlns:a16="http://schemas.microsoft.com/office/drawing/2014/main" id="{9B1D25BF-8BA6-4348-9AD7-C7C852933FBC}"/>
                </a:ext>
              </a:extLst>
            </p:cNvPr>
            <p:cNvCxnSpPr>
              <a:cxnSpLocks noChangeShapeType="1"/>
            </p:cNvCxnSpPr>
            <p:nvPr/>
          </p:nvCxnSpPr>
          <p:spPr bwMode="auto">
            <a:xfrm>
              <a:off x="4884003" y="4991659"/>
              <a:ext cx="202600" cy="0"/>
            </a:xfrm>
            <a:prstGeom prst="line">
              <a:avLst/>
            </a:prstGeom>
            <a:noFill/>
            <a:ln w="9525" algn="ctr">
              <a:solidFill>
                <a:schemeClr val="tx1"/>
              </a:solidFill>
              <a:round/>
              <a:headEnd/>
              <a:tailEnd/>
            </a:ln>
          </p:spPr>
        </p:cxnSp>
        <p:cxnSp>
          <p:nvCxnSpPr>
            <p:cNvPr id="26641" name="Straight Connector 14">
              <a:extLst>
                <a:ext uri="{FF2B5EF4-FFF2-40B4-BE49-F238E27FC236}">
                  <a16:creationId xmlns:a16="http://schemas.microsoft.com/office/drawing/2014/main" id="{40AAD7A4-F1C1-497A-A49B-34D10C61EDB1}"/>
                </a:ext>
              </a:extLst>
            </p:cNvPr>
            <p:cNvCxnSpPr>
              <a:cxnSpLocks noChangeShapeType="1"/>
            </p:cNvCxnSpPr>
            <p:nvPr/>
          </p:nvCxnSpPr>
          <p:spPr bwMode="auto">
            <a:xfrm>
              <a:off x="4884003" y="5051275"/>
              <a:ext cx="202600" cy="0"/>
            </a:xfrm>
            <a:prstGeom prst="line">
              <a:avLst/>
            </a:prstGeom>
            <a:noFill/>
            <a:ln w="9525" algn="ctr">
              <a:solidFill>
                <a:schemeClr val="tx1"/>
              </a:solidFill>
              <a:round/>
              <a:headEnd/>
              <a:tailEnd/>
            </a:ln>
          </p:spPr>
        </p:cxnSp>
        <p:cxnSp>
          <p:nvCxnSpPr>
            <p:cNvPr id="26642" name="Straight Connector 15">
              <a:extLst>
                <a:ext uri="{FF2B5EF4-FFF2-40B4-BE49-F238E27FC236}">
                  <a16:creationId xmlns:a16="http://schemas.microsoft.com/office/drawing/2014/main" id="{CF76263F-0384-4F91-B263-8F695C145502}"/>
                </a:ext>
              </a:extLst>
            </p:cNvPr>
            <p:cNvCxnSpPr>
              <a:cxnSpLocks noChangeShapeType="1"/>
            </p:cNvCxnSpPr>
            <p:nvPr/>
          </p:nvCxnSpPr>
          <p:spPr bwMode="auto">
            <a:xfrm rot="5400000">
              <a:off x="4866071" y="5166778"/>
              <a:ext cx="238466" cy="0"/>
            </a:xfrm>
            <a:prstGeom prst="line">
              <a:avLst/>
            </a:prstGeom>
            <a:noFill/>
            <a:ln w="9525" algn="ctr">
              <a:solidFill>
                <a:schemeClr val="tx1"/>
              </a:solidFill>
              <a:round/>
              <a:headEnd/>
              <a:tailEnd/>
            </a:ln>
          </p:spPr>
        </p:cxnSp>
        <p:cxnSp>
          <p:nvCxnSpPr>
            <p:cNvPr id="26643" name="Straight Connector 16">
              <a:extLst>
                <a:ext uri="{FF2B5EF4-FFF2-40B4-BE49-F238E27FC236}">
                  <a16:creationId xmlns:a16="http://schemas.microsoft.com/office/drawing/2014/main" id="{102D968B-7122-45D4-89B1-FBA00C990EA0}"/>
                </a:ext>
              </a:extLst>
            </p:cNvPr>
            <p:cNvCxnSpPr>
              <a:cxnSpLocks noChangeShapeType="1"/>
            </p:cNvCxnSpPr>
            <p:nvPr/>
          </p:nvCxnSpPr>
          <p:spPr bwMode="auto">
            <a:xfrm rot="5400000">
              <a:off x="4865430" y="4876747"/>
              <a:ext cx="238695" cy="1053"/>
            </a:xfrm>
            <a:prstGeom prst="line">
              <a:avLst/>
            </a:prstGeom>
            <a:noFill/>
            <a:ln w="9525" algn="ctr">
              <a:solidFill>
                <a:schemeClr val="tx1"/>
              </a:solidFill>
              <a:round/>
              <a:headEnd/>
              <a:tailEnd/>
            </a:ln>
          </p:spPr>
        </p:cxnSp>
        <p:cxnSp>
          <p:nvCxnSpPr>
            <p:cNvPr id="26644" name="Straight Connector 17">
              <a:extLst>
                <a:ext uri="{FF2B5EF4-FFF2-40B4-BE49-F238E27FC236}">
                  <a16:creationId xmlns:a16="http://schemas.microsoft.com/office/drawing/2014/main" id="{F676FD16-667F-482C-BC7C-6AE5AA9C2560}"/>
                </a:ext>
              </a:extLst>
            </p:cNvPr>
            <p:cNvCxnSpPr>
              <a:cxnSpLocks noChangeShapeType="1"/>
            </p:cNvCxnSpPr>
            <p:nvPr/>
          </p:nvCxnSpPr>
          <p:spPr bwMode="auto">
            <a:xfrm>
              <a:off x="1600200" y="4734557"/>
              <a:ext cx="202600" cy="0"/>
            </a:xfrm>
            <a:prstGeom prst="line">
              <a:avLst/>
            </a:prstGeom>
            <a:noFill/>
            <a:ln w="9525" algn="ctr">
              <a:solidFill>
                <a:schemeClr val="tx1"/>
              </a:solidFill>
              <a:round/>
              <a:headEnd/>
              <a:tailEnd/>
            </a:ln>
          </p:spPr>
        </p:cxnSp>
        <p:cxnSp>
          <p:nvCxnSpPr>
            <p:cNvPr id="26645" name="Straight Connector 18">
              <a:extLst>
                <a:ext uri="{FF2B5EF4-FFF2-40B4-BE49-F238E27FC236}">
                  <a16:creationId xmlns:a16="http://schemas.microsoft.com/office/drawing/2014/main" id="{5CEA05BF-230B-4AEB-864B-8EBB05C83A73}"/>
                </a:ext>
              </a:extLst>
            </p:cNvPr>
            <p:cNvCxnSpPr>
              <a:cxnSpLocks noChangeShapeType="1"/>
            </p:cNvCxnSpPr>
            <p:nvPr/>
          </p:nvCxnSpPr>
          <p:spPr bwMode="auto">
            <a:xfrm>
              <a:off x="2292416" y="4746978"/>
              <a:ext cx="202600" cy="0"/>
            </a:xfrm>
            <a:prstGeom prst="line">
              <a:avLst/>
            </a:prstGeom>
            <a:noFill/>
            <a:ln w="9525" algn="ctr">
              <a:solidFill>
                <a:schemeClr val="tx1"/>
              </a:solidFill>
              <a:round/>
              <a:headEnd/>
              <a:tailEnd/>
            </a:ln>
          </p:spPr>
        </p:cxnSp>
        <p:sp>
          <p:nvSpPr>
            <p:cNvPr id="26646" name="Oval 21">
              <a:extLst>
                <a:ext uri="{FF2B5EF4-FFF2-40B4-BE49-F238E27FC236}">
                  <a16:creationId xmlns:a16="http://schemas.microsoft.com/office/drawing/2014/main" id="{155E74D9-49CF-4AC3-921E-B12C9065C31E}"/>
                </a:ext>
              </a:extLst>
            </p:cNvPr>
            <p:cNvSpPr>
              <a:spLocks noChangeArrowheads="1"/>
            </p:cNvSpPr>
            <p:nvPr/>
          </p:nvSpPr>
          <p:spPr bwMode="auto">
            <a:xfrm>
              <a:off x="2452807" y="3609313"/>
              <a:ext cx="101300" cy="119232"/>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6647" name="Straight Connector 22">
              <a:extLst>
                <a:ext uri="{FF2B5EF4-FFF2-40B4-BE49-F238E27FC236}">
                  <a16:creationId xmlns:a16="http://schemas.microsoft.com/office/drawing/2014/main" id="{37BAE24E-64D3-4A9B-9AF2-6E0D0BCE8299}"/>
                </a:ext>
              </a:extLst>
            </p:cNvPr>
            <p:cNvCxnSpPr>
              <a:cxnSpLocks noChangeShapeType="1"/>
            </p:cNvCxnSpPr>
            <p:nvPr/>
          </p:nvCxnSpPr>
          <p:spPr bwMode="auto">
            <a:xfrm flipV="1">
              <a:off x="4597830" y="4746476"/>
              <a:ext cx="709099" cy="6"/>
            </a:xfrm>
            <a:prstGeom prst="line">
              <a:avLst/>
            </a:prstGeom>
            <a:noFill/>
            <a:ln w="9525" algn="ctr">
              <a:solidFill>
                <a:schemeClr val="tx1"/>
              </a:solidFill>
              <a:round/>
              <a:headEnd/>
              <a:tailEnd/>
            </a:ln>
          </p:spPr>
        </p:cxnSp>
        <p:sp>
          <p:nvSpPr>
            <p:cNvPr id="26648" name="Isosceles Triangle 24">
              <a:extLst>
                <a:ext uri="{FF2B5EF4-FFF2-40B4-BE49-F238E27FC236}">
                  <a16:creationId xmlns:a16="http://schemas.microsoft.com/office/drawing/2014/main" id="{B693E9A3-9418-4D30-8E5D-6FD76425B62F}"/>
                </a:ext>
              </a:extLst>
            </p:cNvPr>
            <p:cNvSpPr>
              <a:spLocks noChangeArrowheads="1"/>
            </p:cNvSpPr>
            <p:nvPr/>
          </p:nvSpPr>
          <p:spPr bwMode="auto">
            <a:xfrm rot="10800000">
              <a:off x="6040509" y="5290968"/>
              <a:ext cx="101300" cy="119232"/>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6649" name="Straight Connector 25">
              <a:extLst>
                <a:ext uri="{FF2B5EF4-FFF2-40B4-BE49-F238E27FC236}">
                  <a16:creationId xmlns:a16="http://schemas.microsoft.com/office/drawing/2014/main" id="{681DC3DC-ABCF-47FB-B8EA-5605954D667C}"/>
                </a:ext>
              </a:extLst>
            </p:cNvPr>
            <p:cNvCxnSpPr>
              <a:cxnSpLocks noChangeShapeType="1"/>
            </p:cNvCxnSpPr>
            <p:nvPr/>
          </p:nvCxnSpPr>
          <p:spPr bwMode="auto">
            <a:xfrm>
              <a:off x="5998301" y="4996623"/>
              <a:ext cx="202600" cy="0"/>
            </a:xfrm>
            <a:prstGeom prst="line">
              <a:avLst/>
            </a:prstGeom>
            <a:noFill/>
            <a:ln w="9525" algn="ctr">
              <a:solidFill>
                <a:schemeClr val="tx1"/>
              </a:solidFill>
              <a:round/>
              <a:headEnd/>
              <a:tailEnd/>
            </a:ln>
          </p:spPr>
        </p:cxnSp>
        <p:cxnSp>
          <p:nvCxnSpPr>
            <p:cNvPr id="26650" name="Straight Connector 26">
              <a:extLst>
                <a:ext uri="{FF2B5EF4-FFF2-40B4-BE49-F238E27FC236}">
                  <a16:creationId xmlns:a16="http://schemas.microsoft.com/office/drawing/2014/main" id="{CCACFF78-09E5-4652-B03E-4C55C90B218E}"/>
                </a:ext>
              </a:extLst>
            </p:cNvPr>
            <p:cNvCxnSpPr>
              <a:cxnSpLocks noChangeShapeType="1"/>
            </p:cNvCxnSpPr>
            <p:nvPr/>
          </p:nvCxnSpPr>
          <p:spPr bwMode="auto">
            <a:xfrm>
              <a:off x="5998301" y="5056239"/>
              <a:ext cx="202600" cy="0"/>
            </a:xfrm>
            <a:prstGeom prst="line">
              <a:avLst/>
            </a:prstGeom>
            <a:noFill/>
            <a:ln w="9525" algn="ctr">
              <a:solidFill>
                <a:schemeClr val="tx1"/>
              </a:solidFill>
              <a:round/>
              <a:headEnd/>
              <a:tailEnd/>
            </a:ln>
          </p:spPr>
        </p:cxnSp>
        <p:cxnSp>
          <p:nvCxnSpPr>
            <p:cNvPr id="26651" name="Straight Connector 27">
              <a:extLst>
                <a:ext uri="{FF2B5EF4-FFF2-40B4-BE49-F238E27FC236}">
                  <a16:creationId xmlns:a16="http://schemas.microsoft.com/office/drawing/2014/main" id="{F4990217-853E-4BEA-B1A1-96D0A718DC10}"/>
                </a:ext>
              </a:extLst>
            </p:cNvPr>
            <p:cNvCxnSpPr>
              <a:cxnSpLocks noChangeShapeType="1"/>
            </p:cNvCxnSpPr>
            <p:nvPr/>
          </p:nvCxnSpPr>
          <p:spPr bwMode="auto">
            <a:xfrm rot="5400000">
              <a:off x="5980369" y="5171742"/>
              <a:ext cx="238466" cy="0"/>
            </a:xfrm>
            <a:prstGeom prst="line">
              <a:avLst/>
            </a:prstGeom>
            <a:noFill/>
            <a:ln w="9525" algn="ctr">
              <a:solidFill>
                <a:schemeClr val="tx1"/>
              </a:solidFill>
              <a:round/>
              <a:headEnd/>
              <a:tailEnd/>
            </a:ln>
          </p:spPr>
        </p:cxnSp>
        <p:cxnSp>
          <p:nvCxnSpPr>
            <p:cNvPr id="26652" name="Straight Connector 28">
              <a:extLst>
                <a:ext uri="{FF2B5EF4-FFF2-40B4-BE49-F238E27FC236}">
                  <a16:creationId xmlns:a16="http://schemas.microsoft.com/office/drawing/2014/main" id="{7075D265-FD72-4244-AFE5-313E7C6940D9}"/>
                </a:ext>
              </a:extLst>
            </p:cNvPr>
            <p:cNvCxnSpPr>
              <a:cxnSpLocks noChangeShapeType="1"/>
            </p:cNvCxnSpPr>
            <p:nvPr/>
          </p:nvCxnSpPr>
          <p:spPr bwMode="auto">
            <a:xfrm rot="5400000">
              <a:off x="5979728" y="4881711"/>
              <a:ext cx="238695" cy="1053"/>
            </a:xfrm>
            <a:prstGeom prst="line">
              <a:avLst/>
            </a:prstGeom>
            <a:noFill/>
            <a:ln w="9525" algn="ctr">
              <a:solidFill>
                <a:schemeClr val="tx1"/>
              </a:solidFill>
              <a:round/>
              <a:headEnd/>
              <a:tailEnd/>
            </a:ln>
          </p:spPr>
        </p:cxnSp>
        <p:cxnSp>
          <p:nvCxnSpPr>
            <p:cNvPr id="26653" name="Straight Connector 29">
              <a:extLst>
                <a:ext uri="{FF2B5EF4-FFF2-40B4-BE49-F238E27FC236}">
                  <a16:creationId xmlns:a16="http://schemas.microsoft.com/office/drawing/2014/main" id="{AD00142A-A24D-47D3-A13E-EAE3D4C58B42}"/>
                </a:ext>
              </a:extLst>
            </p:cNvPr>
            <p:cNvCxnSpPr>
              <a:cxnSpLocks noChangeShapeType="1"/>
            </p:cNvCxnSpPr>
            <p:nvPr/>
          </p:nvCxnSpPr>
          <p:spPr bwMode="auto">
            <a:xfrm flipV="1">
              <a:off x="5802044" y="4754415"/>
              <a:ext cx="709099" cy="6"/>
            </a:xfrm>
            <a:prstGeom prst="line">
              <a:avLst/>
            </a:prstGeom>
            <a:noFill/>
            <a:ln w="9525" algn="ctr">
              <a:solidFill>
                <a:schemeClr val="tx1"/>
              </a:solidFill>
              <a:round/>
              <a:headEnd/>
              <a:tailEnd/>
            </a:ln>
          </p:spPr>
        </p:cxnSp>
        <p:sp>
          <p:nvSpPr>
            <p:cNvPr id="26654" name="Flowchart: Delay 30">
              <a:extLst>
                <a:ext uri="{FF2B5EF4-FFF2-40B4-BE49-F238E27FC236}">
                  <a16:creationId xmlns:a16="http://schemas.microsoft.com/office/drawing/2014/main" id="{BE81B8AC-B12F-4F0E-ABB6-CD8120DB6B5C}"/>
                </a:ext>
              </a:extLst>
            </p:cNvPr>
            <p:cNvSpPr>
              <a:spLocks noChangeArrowheads="1"/>
            </p:cNvSpPr>
            <p:nvPr/>
          </p:nvSpPr>
          <p:spPr bwMode="auto">
            <a:xfrm>
              <a:off x="6519004" y="4622207"/>
              <a:ext cx="489131" cy="440240"/>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26655" name="Oval 31">
              <a:extLst>
                <a:ext uri="{FF2B5EF4-FFF2-40B4-BE49-F238E27FC236}">
                  <a16:creationId xmlns:a16="http://schemas.microsoft.com/office/drawing/2014/main" id="{52C99F58-46F1-417F-A3F9-ECB89A7292B5}"/>
                </a:ext>
              </a:extLst>
            </p:cNvPr>
            <p:cNvSpPr>
              <a:spLocks noChangeArrowheads="1"/>
            </p:cNvSpPr>
            <p:nvPr/>
          </p:nvSpPr>
          <p:spPr bwMode="auto">
            <a:xfrm>
              <a:off x="7008134" y="4778698"/>
              <a:ext cx="101300" cy="119232"/>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6656" name="Straight Connector 32">
              <a:extLst>
                <a:ext uri="{FF2B5EF4-FFF2-40B4-BE49-F238E27FC236}">
                  <a16:creationId xmlns:a16="http://schemas.microsoft.com/office/drawing/2014/main" id="{833063F3-3B7C-453B-919E-5382A958FFF3}"/>
                </a:ext>
              </a:extLst>
            </p:cNvPr>
            <p:cNvCxnSpPr>
              <a:cxnSpLocks noChangeShapeType="1"/>
            </p:cNvCxnSpPr>
            <p:nvPr/>
          </p:nvCxnSpPr>
          <p:spPr bwMode="auto">
            <a:xfrm>
              <a:off x="6314863" y="4940726"/>
              <a:ext cx="202600" cy="0"/>
            </a:xfrm>
            <a:prstGeom prst="line">
              <a:avLst/>
            </a:prstGeom>
            <a:noFill/>
            <a:ln w="9525" algn="ctr">
              <a:solidFill>
                <a:schemeClr val="tx1"/>
              </a:solidFill>
              <a:round/>
              <a:headEnd/>
              <a:tailEnd/>
            </a:ln>
          </p:spPr>
        </p:cxnSp>
        <p:cxnSp>
          <p:nvCxnSpPr>
            <p:cNvPr id="26657" name="Straight Connector 33">
              <a:extLst>
                <a:ext uri="{FF2B5EF4-FFF2-40B4-BE49-F238E27FC236}">
                  <a16:creationId xmlns:a16="http://schemas.microsoft.com/office/drawing/2014/main" id="{05DA7A5F-DE3F-45C1-9CC5-5C24E2A77848}"/>
                </a:ext>
              </a:extLst>
            </p:cNvPr>
            <p:cNvCxnSpPr>
              <a:cxnSpLocks noChangeShapeType="1"/>
            </p:cNvCxnSpPr>
            <p:nvPr/>
          </p:nvCxnSpPr>
          <p:spPr bwMode="auto">
            <a:xfrm>
              <a:off x="1760591" y="3574534"/>
              <a:ext cx="202600" cy="0"/>
            </a:xfrm>
            <a:prstGeom prst="line">
              <a:avLst/>
            </a:prstGeom>
            <a:noFill/>
            <a:ln w="9525" algn="ctr">
              <a:solidFill>
                <a:schemeClr val="tx1"/>
              </a:solidFill>
              <a:round/>
              <a:headEnd/>
              <a:tailEnd/>
            </a:ln>
          </p:spPr>
        </p:cxnSp>
        <p:cxnSp>
          <p:nvCxnSpPr>
            <p:cNvPr id="26658" name="Straight Connector 34">
              <a:extLst>
                <a:ext uri="{FF2B5EF4-FFF2-40B4-BE49-F238E27FC236}">
                  <a16:creationId xmlns:a16="http://schemas.microsoft.com/office/drawing/2014/main" id="{D620903D-D85C-4ECC-98BA-B4A1D3A76DCA}"/>
                </a:ext>
              </a:extLst>
            </p:cNvPr>
            <p:cNvCxnSpPr>
              <a:cxnSpLocks noChangeShapeType="1"/>
            </p:cNvCxnSpPr>
            <p:nvPr/>
          </p:nvCxnSpPr>
          <p:spPr bwMode="auto">
            <a:xfrm>
              <a:off x="1752150" y="3770768"/>
              <a:ext cx="202600" cy="0"/>
            </a:xfrm>
            <a:prstGeom prst="line">
              <a:avLst/>
            </a:prstGeom>
            <a:noFill/>
            <a:ln w="9525" algn="ctr">
              <a:solidFill>
                <a:schemeClr val="tx1"/>
              </a:solidFill>
              <a:round/>
              <a:headEnd/>
              <a:tailEnd/>
            </a:ln>
          </p:spPr>
        </p:cxnSp>
        <p:cxnSp>
          <p:nvCxnSpPr>
            <p:cNvPr id="46" name="Straight Connector 45">
              <a:extLst>
                <a:ext uri="{FF2B5EF4-FFF2-40B4-BE49-F238E27FC236}">
                  <a16:creationId xmlns:a16="http://schemas.microsoft.com/office/drawing/2014/main" id="{8586EAAF-E4AA-4100-B6E0-6D1A4B2BA3CC}"/>
                </a:ext>
              </a:extLst>
            </p:cNvPr>
            <p:cNvCxnSpPr/>
            <p:nvPr/>
          </p:nvCxnSpPr>
          <p:spPr bwMode="auto">
            <a:xfrm>
              <a:off x="3162300" y="3509963"/>
              <a:ext cx="303213" cy="317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8F74E816-B493-4B1F-A094-E347DF798395}"/>
                </a:ext>
              </a:extLst>
            </p:cNvPr>
            <p:cNvCxnSpPr/>
            <p:nvPr/>
          </p:nvCxnSpPr>
          <p:spPr bwMode="auto">
            <a:xfrm rot="5400000" flipH="1" flipV="1">
              <a:off x="3388519" y="3229769"/>
              <a:ext cx="357188" cy="20320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E09B2CA9-AD9B-4D4E-998B-B00CCA7D89A6}"/>
                </a:ext>
              </a:extLst>
            </p:cNvPr>
            <p:cNvCxnSpPr/>
            <p:nvPr/>
          </p:nvCxnSpPr>
          <p:spPr bwMode="auto">
            <a:xfrm>
              <a:off x="3668713" y="3152775"/>
              <a:ext cx="303212" cy="1588"/>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662" name="TextBox 48">
              <a:extLst>
                <a:ext uri="{FF2B5EF4-FFF2-40B4-BE49-F238E27FC236}">
                  <a16:creationId xmlns:a16="http://schemas.microsoft.com/office/drawing/2014/main" id="{34AD1776-F4CB-4F3F-A4A6-07FCE3B8451A}"/>
                </a:ext>
              </a:extLst>
            </p:cNvPr>
            <p:cNvSpPr txBox="1">
              <a:spLocks noChangeArrowheads="1"/>
            </p:cNvSpPr>
            <p:nvPr/>
          </p:nvSpPr>
          <p:spPr bwMode="auto">
            <a:xfrm>
              <a:off x="3676846" y="281940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a:t>
              </a:r>
            </a:p>
          </p:txBody>
        </p:sp>
        <p:sp>
          <p:nvSpPr>
            <p:cNvPr id="26663" name="TextBox 49">
              <a:extLst>
                <a:ext uri="{FF2B5EF4-FFF2-40B4-BE49-F238E27FC236}">
                  <a16:creationId xmlns:a16="http://schemas.microsoft.com/office/drawing/2014/main" id="{BDA53B31-D023-4384-8767-906F52071F0E}"/>
                </a:ext>
              </a:extLst>
            </p:cNvPr>
            <p:cNvSpPr txBox="1">
              <a:spLocks noChangeArrowheads="1"/>
            </p:cNvSpPr>
            <p:nvPr/>
          </p:nvSpPr>
          <p:spPr bwMode="auto">
            <a:xfrm>
              <a:off x="3060606" y="3152255"/>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sp>
          <p:nvSpPr>
            <p:cNvPr id="26664" name="Freeform 36">
              <a:extLst>
                <a:ext uri="{FF2B5EF4-FFF2-40B4-BE49-F238E27FC236}">
                  <a16:creationId xmlns:a16="http://schemas.microsoft.com/office/drawing/2014/main" id="{B78F7057-580B-4EF0-A091-D8795AAB5815}"/>
                </a:ext>
              </a:extLst>
            </p:cNvPr>
            <p:cNvSpPr>
              <a:spLocks/>
            </p:cNvSpPr>
            <p:nvPr/>
          </p:nvSpPr>
          <p:spPr bwMode="auto">
            <a:xfrm>
              <a:off x="3769705" y="3415558"/>
              <a:ext cx="928582" cy="1083021"/>
            </a:xfrm>
            <a:custGeom>
              <a:avLst/>
              <a:gdLst>
                <a:gd name="T0" fmla="*/ 0 w 698500"/>
                <a:gd name="T1" fmla="*/ 0 h 692150"/>
                <a:gd name="T2" fmla="*/ 126625 w 698500"/>
                <a:gd name="T3" fmla="*/ 79488 h 692150"/>
                <a:gd name="T4" fmla="*/ 202600 w 698500"/>
                <a:gd name="T5" fmla="*/ 317951 h 692150"/>
                <a:gd name="T6" fmla="*/ 211041 w 698500"/>
                <a:gd name="T7" fmla="*/ 596158 h 692150"/>
                <a:gd name="T8" fmla="*/ 287016 w 698500"/>
                <a:gd name="T9" fmla="*/ 933981 h 692150"/>
                <a:gd name="T10" fmla="*/ 582474 w 698500"/>
                <a:gd name="T11" fmla="*/ 1053213 h 692150"/>
                <a:gd name="T12" fmla="*/ 928582 w 698500"/>
                <a:gd name="T13" fmla="*/ 1083021 h 69215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98500" h="692150">
                  <a:moveTo>
                    <a:pt x="0" y="0"/>
                  </a:moveTo>
                  <a:cubicBezTo>
                    <a:pt x="34925" y="8466"/>
                    <a:pt x="69850" y="16933"/>
                    <a:pt x="95250" y="50800"/>
                  </a:cubicBezTo>
                  <a:cubicBezTo>
                    <a:pt x="120650" y="84667"/>
                    <a:pt x="141817" y="148167"/>
                    <a:pt x="152400" y="203200"/>
                  </a:cubicBezTo>
                  <a:cubicBezTo>
                    <a:pt x="162983" y="258233"/>
                    <a:pt x="148167" y="315383"/>
                    <a:pt x="158750" y="381000"/>
                  </a:cubicBezTo>
                  <a:cubicBezTo>
                    <a:pt x="169333" y="446617"/>
                    <a:pt x="169333" y="548217"/>
                    <a:pt x="215900" y="596900"/>
                  </a:cubicBezTo>
                  <a:cubicBezTo>
                    <a:pt x="262467" y="645583"/>
                    <a:pt x="357717" y="657225"/>
                    <a:pt x="438150" y="673100"/>
                  </a:cubicBezTo>
                  <a:cubicBezTo>
                    <a:pt x="518583" y="688975"/>
                    <a:pt x="608541" y="690562"/>
                    <a:pt x="698500" y="692150"/>
                  </a:cubicBezTo>
                </a:path>
              </a:pathLst>
            </a:custGeom>
            <a:noFill/>
            <a:ln w="9525" algn="ctr">
              <a:solidFill>
                <a:srgbClr val="0000FF"/>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8" name="Freeform 37">
              <a:extLst>
                <a:ext uri="{FF2B5EF4-FFF2-40B4-BE49-F238E27FC236}">
                  <a16:creationId xmlns:a16="http://schemas.microsoft.com/office/drawing/2014/main" id="{932FC8E4-BAF1-4C18-9F6B-99EE124B5A1D}"/>
                </a:ext>
              </a:extLst>
            </p:cNvPr>
            <p:cNvSpPr/>
            <p:nvPr/>
          </p:nvSpPr>
          <p:spPr bwMode="auto">
            <a:xfrm>
              <a:off x="4579937" y="3757613"/>
              <a:ext cx="692150" cy="671512"/>
            </a:xfrm>
            <a:custGeom>
              <a:avLst/>
              <a:gdLst>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36033"/>
                <a:gd name="connsiteX1" fmla="*/ 114300 w 520700"/>
                <a:gd name="connsiteY1" fmla="*/ 428625 h 436033"/>
                <a:gd name="connsiteX2" fmla="*/ 158750 w 520700"/>
                <a:gd name="connsiteY2" fmla="*/ 377825 h 436033"/>
                <a:gd name="connsiteX3" fmla="*/ 184150 w 520700"/>
                <a:gd name="connsiteY3" fmla="*/ 269875 h 436033"/>
                <a:gd name="connsiteX4" fmla="*/ 241300 w 520700"/>
                <a:gd name="connsiteY4" fmla="*/ 41275 h 436033"/>
                <a:gd name="connsiteX5" fmla="*/ 247650 w 520700"/>
                <a:gd name="connsiteY5" fmla="*/ 22225 h 436033"/>
                <a:gd name="connsiteX6" fmla="*/ 273050 w 520700"/>
                <a:gd name="connsiteY6" fmla="*/ 22225 h 436033"/>
                <a:gd name="connsiteX7" fmla="*/ 292100 w 520700"/>
                <a:gd name="connsiteY7" fmla="*/ 98425 h 436033"/>
                <a:gd name="connsiteX8" fmla="*/ 323850 w 520700"/>
                <a:gd name="connsiteY8" fmla="*/ 225425 h 436033"/>
                <a:gd name="connsiteX9" fmla="*/ 342900 w 520700"/>
                <a:gd name="connsiteY9" fmla="*/ 333375 h 436033"/>
                <a:gd name="connsiteX10" fmla="*/ 374650 w 520700"/>
                <a:gd name="connsiteY10" fmla="*/ 415925 h 436033"/>
                <a:gd name="connsiteX11" fmla="*/ 520700 w 520700"/>
                <a:gd name="connsiteY11" fmla="*/ 415925 h 436033"/>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 name="connsiteX0" fmla="*/ 0 w 520700"/>
                <a:gd name="connsiteY0" fmla="*/ 422275 h 428625"/>
                <a:gd name="connsiteX1" fmla="*/ 114300 w 520700"/>
                <a:gd name="connsiteY1" fmla="*/ 428625 h 428625"/>
                <a:gd name="connsiteX2" fmla="*/ 158750 w 520700"/>
                <a:gd name="connsiteY2" fmla="*/ 377825 h 428625"/>
                <a:gd name="connsiteX3" fmla="*/ 184150 w 520700"/>
                <a:gd name="connsiteY3" fmla="*/ 269875 h 428625"/>
                <a:gd name="connsiteX4" fmla="*/ 241300 w 520700"/>
                <a:gd name="connsiteY4" fmla="*/ 41275 h 428625"/>
                <a:gd name="connsiteX5" fmla="*/ 247650 w 520700"/>
                <a:gd name="connsiteY5" fmla="*/ 22225 h 428625"/>
                <a:gd name="connsiteX6" fmla="*/ 273050 w 520700"/>
                <a:gd name="connsiteY6" fmla="*/ 22225 h 428625"/>
                <a:gd name="connsiteX7" fmla="*/ 292100 w 520700"/>
                <a:gd name="connsiteY7" fmla="*/ 98425 h 428625"/>
                <a:gd name="connsiteX8" fmla="*/ 323850 w 520700"/>
                <a:gd name="connsiteY8" fmla="*/ 225425 h 428625"/>
                <a:gd name="connsiteX9" fmla="*/ 342900 w 520700"/>
                <a:gd name="connsiteY9" fmla="*/ 333375 h 428625"/>
                <a:gd name="connsiteX10" fmla="*/ 374650 w 520700"/>
                <a:gd name="connsiteY10" fmla="*/ 415925 h 428625"/>
                <a:gd name="connsiteX11" fmla="*/ 520700 w 520700"/>
                <a:gd name="connsiteY11" fmla="*/ 4159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700" h="428625">
                  <a:moveTo>
                    <a:pt x="0" y="422275"/>
                  </a:moveTo>
                  <a:cubicBezTo>
                    <a:pt x="34396" y="426773"/>
                    <a:pt x="54505" y="426508"/>
                    <a:pt x="114300" y="428625"/>
                  </a:cubicBezTo>
                  <a:cubicBezTo>
                    <a:pt x="140758" y="421217"/>
                    <a:pt x="147108" y="404283"/>
                    <a:pt x="158750" y="377825"/>
                  </a:cubicBezTo>
                  <a:cubicBezTo>
                    <a:pt x="170392" y="351367"/>
                    <a:pt x="170392" y="325967"/>
                    <a:pt x="184150" y="269875"/>
                  </a:cubicBezTo>
                  <a:cubicBezTo>
                    <a:pt x="197908" y="213783"/>
                    <a:pt x="230717" y="82550"/>
                    <a:pt x="241300" y="41275"/>
                  </a:cubicBezTo>
                  <a:cubicBezTo>
                    <a:pt x="251883" y="0"/>
                    <a:pt x="242358" y="25400"/>
                    <a:pt x="247650" y="22225"/>
                  </a:cubicBezTo>
                  <a:cubicBezTo>
                    <a:pt x="252942" y="19050"/>
                    <a:pt x="265642" y="9525"/>
                    <a:pt x="273050" y="22225"/>
                  </a:cubicBezTo>
                  <a:cubicBezTo>
                    <a:pt x="280458" y="34925"/>
                    <a:pt x="292100" y="98425"/>
                    <a:pt x="292100" y="98425"/>
                  </a:cubicBezTo>
                  <a:cubicBezTo>
                    <a:pt x="300567" y="132292"/>
                    <a:pt x="315383" y="186267"/>
                    <a:pt x="323850" y="225425"/>
                  </a:cubicBezTo>
                  <a:cubicBezTo>
                    <a:pt x="332317" y="264583"/>
                    <a:pt x="334433" y="301625"/>
                    <a:pt x="342900" y="333375"/>
                  </a:cubicBezTo>
                  <a:cubicBezTo>
                    <a:pt x="351367" y="365125"/>
                    <a:pt x="345017" y="402167"/>
                    <a:pt x="374650" y="415925"/>
                  </a:cubicBezTo>
                  <a:cubicBezTo>
                    <a:pt x="442383" y="413014"/>
                    <a:pt x="462491" y="422804"/>
                    <a:pt x="520700" y="415925"/>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26666" name="Straight Connector 38">
              <a:extLst>
                <a:ext uri="{FF2B5EF4-FFF2-40B4-BE49-F238E27FC236}">
                  <a16:creationId xmlns:a16="http://schemas.microsoft.com/office/drawing/2014/main" id="{B6CC1428-C596-4DA6-975F-8E7153E01303}"/>
                </a:ext>
              </a:extLst>
            </p:cNvPr>
            <p:cNvCxnSpPr>
              <a:cxnSpLocks noChangeShapeType="1"/>
            </p:cNvCxnSpPr>
            <p:nvPr/>
          </p:nvCxnSpPr>
          <p:spPr bwMode="auto">
            <a:xfrm>
              <a:off x="7112599" y="4836402"/>
              <a:ext cx="202600" cy="0"/>
            </a:xfrm>
            <a:prstGeom prst="line">
              <a:avLst/>
            </a:prstGeom>
            <a:noFill/>
            <a:ln w="9525" algn="ctr">
              <a:solidFill>
                <a:schemeClr val="tx1"/>
              </a:solidFill>
              <a:round/>
              <a:headEnd/>
              <a:tailEnd/>
            </a:ln>
          </p:spPr>
        </p:cxnSp>
        <p:sp>
          <p:nvSpPr>
            <p:cNvPr id="26667" name="TextBox 41">
              <a:extLst>
                <a:ext uri="{FF2B5EF4-FFF2-40B4-BE49-F238E27FC236}">
                  <a16:creationId xmlns:a16="http://schemas.microsoft.com/office/drawing/2014/main" id="{14693DF6-1CC9-4C0A-B743-04D0BE26212E}"/>
                </a:ext>
              </a:extLst>
            </p:cNvPr>
            <p:cNvSpPr txBox="1">
              <a:spLocks noChangeArrowheads="1"/>
            </p:cNvSpPr>
            <p:nvPr/>
          </p:nvSpPr>
          <p:spPr bwMode="auto">
            <a:xfrm>
              <a:off x="4580103" y="3332096"/>
              <a:ext cx="90281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Aggressor net</a:t>
              </a:r>
            </a:p>
          </p:txBody>
        </p:sp>
        <p:sp>
          <p:nvSpPr>
            <p:cNvPr id="26668" name="TextBox 42">
              <a:extLst>
                <a:ext uri="{FF2B5EF4-FFF2-40B4-BE49-F238E27FC236}">
                  <a16:creationId xmlns:a16="http://schemas.microsoft.com/office/drawing/2014/main" id="{DEE22269-645D-42EC-BF0B-174B37314C19}"/>
                </a:ext>
              </a:extLst>
            </p:cNvPr>
            <p:cNvSpPr txBox="1">
              <a:spLocks noChangeArrowheads="1"/>
            </p:cNvSpPr>
            <p:nvPr/>
          </p:nvSpPr>
          <p:spPr bwMode="auto">
            <a:xfrm>
              <a:off x="5000709" y="4008224"/>
              <a:ext cx="47961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Glitch</a:t>
              </a:r>
            </a:p>
          </p:txBody>
        </p:sp>
        <p:sp>
          <p:nvSpPr>
            <p:cNvPr id="26669" name="TextBox 43">
              <a:extLst>
                <a:ext uri="{FF2B5EF4-FFF2-40B4-BE49-F238E27FC236}">
                  <a16:creationId xmlns:a16="http://schemas.microsoft.com/office/drawing/2014/main" id="{4681C2AA-C0FF-4F59-9308-C9D2D603B126}"/>
                </a:ext>
              </a:extLst>
            </p:cNvPr>
            <p:cNvSpPr txBox="1">
              <a:spLocks noChangeArrowheads="1"/>
            </p:cNvSpPr>
            <p:nvPr/>
          </p:nvSpPr>
          <p:spPr bwMode="auto">
            <a:xfrm>
              <a:off x="3161906" y="4727106"/>
              <a:ext cx="691215"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Victim net</a:t>
              </a:r>
            </a:p>
          </p:txBody>
        </p:sp>
        <p:sp>
          <p:nvSpPr>
            <p:cNvPr id="26670" name="TextBox 44">
              <a:extLst>
                <a:ext uri="{FF2B5EF4-FFF2-40B4-BE49-F238E27FC236}">
                  <a16:creationId xmlns:a16="http://schemas.microsoft.com/office/drawing/2014/main" id="{98520FFD-6C98-4034-B9DC-3419A7D79A2D}"/>
                </a:ext>
              </a:extLst>
            </p:cNvPr>
            <p:cNvSpPr txBox="1">
              <a:spLocks noChangeArrowheads="1"/>
            </p:cNvSpPr>
            <p:nvPr/>
          </p:nvSpPr>
          <p:spPr bwMode="auto">
            <a:xfrm>
              <a:off x="2180556" y="4246687"/>
              <a:ext cx="1063112"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Coupling cap, Cc</a:t>
              </a:r>
            </a:p>
          </p:txBody>
        </p:sp>
      </p:grpSp>
      <p:sp>
        <p:nvSpPr>
          <p:cNvPr id="26629" name="Прямоугольник 84">
            <a:extLst>
              <a:ext uri="{FF2B5EF4-FFF2-40B4-BE49-F238E27FC236}">
                <a16:creationId xmlns:a16="http://schemas.microsoft.com/office/drawing/2014/main" id="{43D7976B-E63C-4424-9E84-4C0E416118CA}"/>
              </a:ext>
            </a:extLst>
          </p:cNvPr>
          <p:cNvSpPr>
            <a:spLocks noChangeArrowheads="1"/>
          </p:cNvSpPr>
          <p:nvPr/>
        </p:nvSpPr>
        <p:spPr bwMode="auto">
          <a:xfrm>
            <a:off x="4024314" y="4643438"/>
            <a:ext cx="534987" cy="2143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26630" name="Прямоугольник 85">
            <a:extLst>
              <a:ext uri="{FF2B5EF4-FFF2-40B4-BE49-F238E27FC236}">
                <a16:creationId xmlns:a16="http://schemas.microsoft.com/office/drawing/2014/main" id="{8EDF5563-B0EF-41DC-B80E-AE64160FDB30}"/>
              </a:ext>
            </a:extLst>
          </p:cNvPr>
          <p:cNvSpPr>
            <a:spLocks noChangeArrowheads="1"/>
          </p:cNvSpPr>
          <p:nvPr/>
        </p:nvSpPr>
        <p:spPr bwMode="auto">
          <a:xfrm>
            <a:off x="6810376" y="4643438"/>
            <a:ext cx="536575" cy="2143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26631" name="Прямоугольник 86">
            <a:extLst>
              <a:ext uri="{FF2B5EF4-FFF2-40B4-BE49-F238E27FC236}">
                <a16:creationId xmlns:a16="http://schemas.microsoft.com/office/drawing/2014/main" id="{B1610899-C257-412B-8408-AE2258D17664}"/>
              </a:ext>
            </a:extLst>
          </p:cNvPr>
          <p:cNvSpPr>
            <a:spLocks noChangeArrowheads="1"/>
          </p:cNvSpPr>
          <p:nvPr/>
        </p:nvSpPr>
        <p:spPr bwMode="auto">
          <a:xfrm>
            <a:off x="5595939" y="4643438"/>
            <a:ext cx="536575" cy="214312"/>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1F623F0C-F580-466F-950A-ED9869C61B6E}"/>
              </a:ext>
            </a:extLst>
          </p:cNvPr>
          <p:cNvSpPr>
            <a:spLocks noGrp="1"/>
          </p:cNvSpPr>
          <p:nvPr>
            <p:ph type="title"/>
          </p:nvPr>
        </p:nvSpPr>
        <p:spPr/>
        <p:txBody>
          <a:bodyPr/>
          <a:lstStyle/>
          <a:p>
            <a:r>
              <a:rPr lang="en-US" altLang="en-US"/>
              <a:t>Crosstalk Delay Analysis</a:t>
            </a:r>
          </a:p>
        </p:txBody>
      </p:sp>
      <p:sp>
        <p:nvSpPr>
          <p:cNvPr id="27651" name="Content Placeholder 2">
            <a:extLst>
              <a:ext uri="{FF2B5EF4-FFF2-40B4-BE49-F238E27FC236}">
                <a16:creationId xmlns:a16="http://schemas.microsoft.com/office/drawing/2014/main" id="{DA1ECF47-DE78-44A8-BCDB-936A5526D586}"/>
              </a:ext>
            </a:extLst>
          </p:cNvPr>
          <p:cNvSpPr>
            <a:spLocks noGrp="1"/>
          </p:cNvSpPr>
          <p:nvPr>
            <p:ph type="body" sz="quarter" idx="10"/>
          </p:nvPr>
        </p:nvSpPr>
        <p:spPr/>
        <p:txBody>
          <a:bodyPr/>
          <a:lstStyle/>
          <a:p>
            <a:r>
              <a:rPr lang="en-US" altLang="en-US"/>
              <a:t>Capacitance extraction for a net consists of different capacitances </a:t>
            </a:r>
          </a:p>
          <a:p>
            <a:pPr lvl="1"/>
            <a:r>
              <a:rPr lang="en-US" altLang="en-US"/>
              <a:t>Capacitance Cg to ground </a:t>
            </a:r>
          </a:p>
          <a:p>
            <a:pPr lvl="1"/>
            <a:r>
              <a:rPr lang="en-US" altLang="en-US"/>
              <a:t>Coupling capacitance Cc to a neighboring net </a:t>
            </a:r>
          </a:p>
        </p:txBody>
      </p:sp>
      <p:grpSp>
        <p:nvGrpSpPr>
          <p:cNvPr id="27652" name="Group 113">
            <a:extLst>
              <a:ext uri="{FF2B5EF4-FFF2-40B4-BE49-F238E27FC236}">
                <a16:creationId xmlns:a16="http://schemas.microsoft.com/office/drawing/2014/main" id="{8851CD51-F63C-4F42-B1EA-BEEDA37D8982}"/>
              </a:ext>
            </a:extLst>
          </p:cNvPr>
          <p:cNvGrpSpPr>
            <a:grpSpLocks/>
          </p:cNvGrpSpPr>
          <p:nvPr/>
        </p:nvGrpSpPr>
        <p:grpSpPr bwMode="auto">
          <a:xfrm>
            <a:off x="7427633" y="4119564"/>
            <a:ext cx="361950" cy="409575"/>
            <a:chOff x="1092198" y="4066402"/>
            <a:chExt cx="450852" cy="563807"/>
          </a:xfrm>
        </p:grpSpPr>
        <p:cxnSp>
          <p:nvCxnSpPr>
            <p:cNvPr id="27688" name="Straight Connector 29">
              <a:extLst>
                <a:ext uri="{FF2B5EF4-FFF2-40B4-BE49-F238E27FC236}">
                  <a16:creationId xmlns:a16="http://schemas.microsoft.com/office/drawing/2014/main" id="{6E5E4433-BFAC-455F-AA05-EF4A2C50E46A}"/>
                </a:ext>
              </a:extLst>
            </p:cNvPr>
            <p:cNvCxnSpPr>
              <a:cxnSpLocks noChangeShapeType="1"/>
            </p:cNvCxnSpPr>
            <p:nvPr/>
          </p:nvCxnSpPr>
          <p:spPr bwMode="auto">
            <a:xfrm>
              <a:off x="1092198" y="4066402"/>
              <a:ext cx="450852" cy="0"/>
            </a:xfrm>
            <a:prstGeom prst="line">
              <a:avLst/>
            </a:prstGeom>
            <a:noFill/>
            <a:ln w="9525" algn="ctr">
              <a:solidFill>
                <a:schemeClr val="tx1"/>
              </a:solidFill>
              <a:round/>
              <a:headEnd/>
              <a:tailEnd/>
            </a:ln>
          </p:spPr>
        </p:cxnSp>
        <p:cxnSp>
          <p:nvCxnSpPr>
            <p:cNvPr id="27689" name="Straight Connector 30">
              <a:extLst>
                <a:ext uri="{FF2B5EF4-FFF2-40B4-BE49-F238E27FC236}">
                  <a16:creationId xmlns:a16="http://schemas.microsoft.com/office/drawing/2014/main" id="{16DFBC29-81EC-446E-BC9F-B8454EC1D475}"/>
                </a:ext>
              </a:extLst>
            </p:cNvPr>
            <p:cNvCxnSpPr>
              <a:cxnSpLocks noChangeShapeType="1"/>
            </p:cNvCxnSpPr>
            <p:nvPr/>
          </p:nvCxnSpPr>
          <p:spPr bwMode="auto">
            <a:xfrm rot="5400000">
              <a:off x="1037897" y="4350480"/>
              <a:ext cx="559458" cy="0"/>
            </a:xfrm>
            <a:prstGeom prst="line">
              <a:avLst/>
            </a:prstGeom>
            <a:noFill/>
            <a:ln w="9525" algn="ctr">
              <a:solidFill>
                <a:schemeClr val="tx1"/>
              </a:solidFill>
              <a:round/>
              <a:headEnd/>
              <a:tailEnd/>
            </a:ln>
          </p:spPr>
        </p:cxnSp>
      </p:grpSp>
      <p:sp>
        <p:nvSpPr>
          <p:cNvPr id="27653" name="Isosceles Triangle 28">
            <a:extLst>
              <a:ext uri="{FF2B5EF4-FFF2-40B4-BE49-F238E27FC236}">
                <a16:creationId xmlns:a16="http://schemas.microsoft.com/office/drawing/2014/main" id="{EEFA5FF6-FD45-4DE7-A436-515B0DDC2544}"/>
              </a:ext>
            </a:extLst>
          </p:cNvPr>
          <p:cNvSpPr>
            <a:spLocks noChangeArrowheads="1"/>
          </p:cNvSpPr>
          <p:nvPr/>
        </p:nvSpPr>
        <p:spPr bwMode="auto">
          <a:xfrm rot="10800000">
            <a:off x="7541933" y="4532313"/>
            <a:ext cx="146050" cy="93662"/>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7654" name="TextBox 20">
            <a:extLst>
              <a:ext uri="{FF2B5EF4-FFF2-40B4-BE49-F238E27FC236}">
                <a16:creationId xmlns:a16="http://schemas.microsoft.com/office/drawing/2014/main" id="{F654689E-5E8C-4BC4-A597-B12F241D37C6}"/>
              </a:ext>
            </a:extLst>
          </p:cNvPr>
          <p:cNvSpPr txBox="1">
            <a:spLocks noChangeArrowheads="1"/>
          </p:cNvSpPr>
          <p:nvPr/>
        </p:nvSpPr>
        <p:spPr bwMode="auto">
          <a:xfrm>
            <a:off x="7640358" y="4179889"/>
            <a:ext cx="10493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 Distributed</a:t>
            </a:r>
          </a:p>
          <a:p>
            <a:pPr eaLnBrk="1" hangingPunct="1"/>
            <a:r>
              <a:rPr lang="en-US" altLang="en-US" sz="1200"/>
              <a:t>           RC</a:t>
            </a:r>
            <a:endParaRPr lang="en-US" altLang="en-US"/>
          </a:p>
        </p:txBody>
      </p:sp>
      <p:grpSp>
        <p:nvGrpSpPr>
          <p:cNvPr id="27655" name="Group 32">
            <a:extLst>
              <a:ext uri="{FF2B5EF4-FFF2-40B4-BE49-F238E27FC236}">
                <a16:creationId xmlns:a16="http://schemas.microsoft.com/office/drawing/2014/main" id="{DC028D48-14BE-4321-B2DF-7C6950E03873}"/>
              </a:ext>
            </a:extLst>
          </p:cNvPr>
          <p:cNvGrpSpPr>
            <a:grpSpLocks/>
          </p:cNvGrpSpPr>
          <p:nvPr/>
        </p:nvGrpSpPr>
        <p:grpSpPr bwMode="auto">
          <a:xfrm>
            <a:off x="3643033" y="3429000"/>
            <a:ext cx="2946400" cy="1366838"/>
            <a:chOff x="2190754" y="3933056"/>
            <a:chExt cx="2945727" cy="1368151"/>
          </a:xfrm>
        </p:grpSpPr>
        <p:grpSp>
          <p:nvGrpSpPr>
            <p:cNvPr id="27657" name="Group 87">
              <a:extLst>
                <a:ext uri="{FF2B5EF4-FFF2-40B4-BE49-F238E27FC236}">
                  <a16:creationId xmlns:a16="http://schemas.microsoft.com/office/drawing/2014/main" id="{D56441DE-41EC-440F-902D-7E7E5EC18277}"/>
                </a:ext>
              </a:extLst>
            </p:cNvPr>
            <p:cNvGrpSpPr>
              <a:grpSpLocks/>
            </p:cNvGrpSpPr>
            <p:nvPr/>
          </p:nvGrpSpPr>
          <p:grpSpPr bwMode="auto">
            <a:xfrm>
              <a:off x="2190754" y="4666459"/>
              <a:ext cx="904876" cy="433754"/>
              <a:chOff x="2279285" y="4572000"/>
              <a:chExt cx="603250" cy="281354"/>
            </a:xfrm>
          </p:grpSpPr>
          <p:sp>
            <p:nvSpPr>
              <p:cNvPr id="27684" name="Flowchart: Delay 56">
                <a:extLst>
                  <a:ext uri="{FF2B5EF4-FFF2-40B4-BE49-F238E27FC236}">
                    <a16:creationId xmlns:a16="http://schemas.microsoft.com/office/drawing/2014/main" id="{08BD5097-9236-4F01-AB25-42C8A67C869E}"/>
                  </a:ext>
                </a:extLst>
              </p:cNvPr>
              <p:cNvSpPr>
                <a:spLocks noChangeArrowheads="1"/>
              </p:cNvSpPr>
              <p:nvPr/>
            </p:nvSpPr>
            <p:spPr bwMode="auto">
              <a:xfrm>
                <a:off x="2438400" y="4572000"/>
                <a:ext cx="367935" cy="281354"/>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27685" name="Oval 57">
                <a:extLst>
                  <a:ext uri="{FF2B5EF4-FFF2-40B4-BE49-F238E27FC236}">
                    <a16:creationId xmlns:a16="http://schemas.microsoft.com/office/drawing/2014/main" id="{6A648820-5514-424F-BBAD-8C1330595A61}"/>
                  </a:ext>
                </a:extLst>
              </p:cNvPr>
              <p:cNvSpPr>
                <a:spLocks noChangeArrowheads="1"/>
              </p:cNvSpPr>
              <p:nvPr/>
            </p:nvSpPr>
            <p:spPr bwMode="auto">
              <a:xfrm>
                <a:off x="2806335" y="4672012"/>
                <a:ext cx="76200" cy="7620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7686" name="Straight Connector 58">
                <a:extLst>
                  <a:ext uri="{FF2B5EF4-FFF2-40B4-BE49-F238E27FC236}">
                    <a16:creationId xmlns:a16="http://schemas.microsoft.com/office/drawing/2014/main" id="{F823187E-CC0A-4249-AA3B-3BEC8E7A553F}"/>
                  </a:ext>
                </a:extLst>
              </p:cNvPr>
              <p:cNvCxnSpPr>
                <a:cxnSpLocks noChangeShapeType="1"/>
              </p:cNvCxnSpPr>
              <p:nvPr/>
            </p:nvCxnSpPr>
            <p:spPr bwMode="auto">
              <a:xfrm>
                <a:off x="2285635" y="4649785"/>
                <a:ext cx="152400" cy="0"/>
              </a:xfrm>
              <a:prstGeom prst="line">
                <a:avLst/>
              </a:prstGeom>
              <a:noFill/>
              <a:ln w="9525" algn="ctr">
                <a:solidFill>
                  <a:schemeClr val="tx1"/>
                </a:solidFill>
                <a:round/>
                <a:headEnd/>
                <a:tailEnd/>
              </a:ln>
            </p:spPr>
          </p:cxnSp>
          <p:cxnSp>
            <p:nvCxnSpPr>
              <p:cNvPr id="27687" name="Straight Connector 59">
                <a:extLst>
                  <a:ext uri="{FF2B5EF4-FFF2-40B4-BE49-F238E27FC236}">
                    <a16:creationId xmlns:a16="http://schemas.microsoft.com/office/drawing/2014/main" id="{9B0A5C7E-7717-4637-94FB-8247CB00B291}"/>
                  </a:ext>
                </a:extLst>
              </p:cNvPr>
              <p:cNvCxnSpPr>
                <a:cxnSpLocks noChangeShapeType="1"/>
              </p:cNvCxnSpPr>
              <p:nvPr/>
            </p:nvCxnSpPr>
            <p:spPr bwMode="auto">
              <a:xfrm>
                <a:off x="2279285" y="4775197"/>
                <a:ext cx="152400" cy="0"/>
              </a:xfrm>
              <a:prstGeom prst="line">
                <a:avLst/>
              </a:prstGeom>
              <a:noFill/>
              <a:ln w="9525" algn="ctr">
                <a:solidFill>
                  <a:schemeClr val="tx1"/>
                </a:solidFill>
                <a:round/>
                <a:headEnd/>
                <a:tailEnd/>
              </a:ln>
            </p:spPr>
          </p:cxnSp>
        </p:grpSp>
        <p:sp>
          <p:nvSpPr>
            <p:cNvPr id="27658" name="Isosceles Triangle 6">
              <a:extLst>
                <a:ext uri="{FF2B5EF4-FFF2-40B4-BE49-F238E27FC236}">
                  <a16:creationId xmlns:a16="http://schemas.microsoft.com/office/drawing/2014/main" id="{10B30258-18A4-48F1-A966-037A21A7DD2D}"/>
                </a:ext>
              </a:extLst>
            </p:cNvPr>
            <p:cNvSpPr>
              <a:spLocks noChangeArrowheads="1"/>
            </p:cNvSpPr>
            <p:nvPr/>
          </p:nvSpPr>
          <p:spPr bwMode="auto">
            <a:xfrm rot="5400000">
              <a:off x="2675049" y="4065676"/>
              <a:ext cx="395654" cy="37806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7659" name="Oval 7">
              <a:extLst>
                <a:ext uri="{FF2B5EF4-FFF2-40B4-BE49-F238E27FC236}">
                  <a16:creationId xmlns:a16="http://schemas.microsoft.com/office/drawing/2014/main" id="{DC4EB223-FA56-406D-8516-8816611CA85F}"/>
                </a:ext>
              </a:extLst>
            </p:cNvPr>
            <p:cNvSpPr>
              <a:spLocks noChangeArrowheads="1"/>
            </p:cNvSpPr>
            <p:nvPr/>
          </p:nvSpPr>
          <p:spPr bwMode="auto">
            <a:xfrm>
              <a:off x="3060765" y="4205256"/>
              <a:ext cx="94516" cy="98914"/>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7660" name="Straight Connector 8">
              <a:extLst>
                <a:ext uri="{FF2B5EF4-FFF2-40B4-BE49-F238E27FC236}">
                  <a16:creationId xmlns:a16="http://schemas.microsoft.com/office/drawing/2014/main" id="{FB6E4E80-DF03-4D62-B15D-CFF04642BCEF}"/>
                </a:ext>
              </a:extLst>
            </p:cNvPr>
            <p:cNvCxnSpPr>
              <a:cxnSpLocks noChangeShapeType="1"/>
            </p:cNvCxnSpPr>
            <p:nvPr/>
          </p:nvCxnSpPr>
          <p:spPr bwMode="auto">
            <a:xfrm>
              <a:off x="2483768" y="4244918"/>
              <a:ext cx="195745" cy="0"/>
            </a:xfrm>
            <a:prstGeom prst="line">
              <a:avLst/>
            </a:prstGeom>
            <a:noFill/>
            <a:ln w="9525" algn="ctr">
              <a:solidFill>
                <a:schemeClr val="tx1"/>
              </a:solidFill>
              <a:round/>
              <a:headEnd/>
              <a:tailEnd/>
            </a:ln>
          </p:spPr>
        </p:cxnSp>
        <p:cxnSp>
          <p:nvCxnSpPr>
            <p:cNvPr id="27661" name="Straight Connector 9">
              <a:extLst>
                <a:ext uri="{FF2B5EF4-FFF2-40B4-BE49-F238E27FC236}">
                  <a16:creationId xmlns:a16="http://schemas.microsoft.com/office/drawing/2014/main" id="{0112B89E-45C2-4CB9-8374-DF4A2E63312E}"/>
                </a:ext>
              </a:extLst>
            </p:cNvPr>
            <p:cNvCxnSpPr>
              <a:cxnSpLocks noChangeShapeType="1"/>
            </p:cNvCxnSpPr>
            <p:nvPr/>
          </p:nvCxnSpPr>
          <p:spPr bwMode="auto">
            <a:xfrm>
              <a:off x="3155281" y="4252143"/>
              <a:ext cx="1981200" cy="0"/>
            </a:xfrm>
            <a:prstGeom prst="line">
              <a:avLst/>
            </a:prstGeom>
            <a:noFill/>
            <a:ln w="9525" algn="ctr">
              <a:solidFill>
                <a:schemeClr val="tx1"/>
              </a:solidFill>
              <a:round/>
              <a:headEnd/>
              <a:tailEnd/>
            </a:ln>
          </p:spPr>
        </p:cxnSp>
        <p:grpSp>
          <p:nvGrpSpPr>
            <p:cNvPr id="27662" name="Group 411">
              <a:extLst>
                <a:ext uri="{FF2B5EF4-FFF2-40B4-BE49-F238E27FC236}">
                  <a16:creationId xmlns:a16="http://schemas.microsoft.com/office/drawing/2014/main" id="{5D5E0145-8C25-4BD3-B57B-72B7F9073FC5}"/>
                </a:ext>
              </a:extLst>
            </p:cNvPr>
            <p:cNvGrpSpPr>
              <a:grpSpLocks/>
            </p:cNvGrpSpPr>
            <p:nvPr/>
          </p:nvGrpSpPr>
          <p:grpSpPr bwMode="auto">
            <a:xfrm>
              <a:off x="4549773" y="4277839"/>
              <a:ext cx="244427" cy="612786"/>
              <a:chOff x="2825748" y="4490377"/>
              <a:chExt cx="152400" cy="307929"/>
            </a:xfrm>
          </p:grpSpPr>
          <p:cxnSp>
            <p:nvCxnSpPr>
              <p:cNvPr id="27680" name="Straight Connector 52">
                <a:extLst>
                  <a:ext uri="{FF2B5EF4-FFF2-40B4-BE49-F238E27FC236}">
                    <a16:creationId xmlns:a16="http://schemas.microsoft.com/office/drawing/2014/main" id="{F3904D7A-2205-43F3-84AB-F8C960073D41}"/>
                  </a:ext>
                </a:extLst>
              </p:cNvPr>
              <p:cNvCxnSpPr>
                <a:cxnSpLocks noChangeShapeType="1"/>
              </p:cNvCxnSpPr>
              <p:nvPr/>
            </p:nvCxnSpPr>
            <p:spPr bwMode="auto">
              <a:xfrm>
                <a:off x="2825748" y="4610250"/>
                <a:ext cx="152400" cy="0"/>
              </a:xfrm>
              <a:prstGeom prst="line">
                <a:avLst/>
              </a:prstGeom>
              <a:noFill/>
              <a:ln w="9525" algn="ctr">
                <a:solidFill>
                  <a:schemeClr val="tx1"/>
                </a:solidFill>
                <a:round/>
                <a:headEnd/>
                <a:tailEnd/>
              </a:ln>
            </p:spPr>
          </p:cxnSp>
          <p:cxnSp>
            <p:nvCxnSpPr>
              <p:cNvPr id="27681" name="Straight Connector 53">
                <a:extLst>
                  <a:ext uri="{FF2B5EF4-FFF2-40B4-BE49-F238E27FC236}">
                    <a16:creationId xmlns:a16="http://schemas.microsoft.com/office/drawing/2014/main" id="{6AE66B51-7E96-42BE-BC17-FE9D14551C7D}"/>
                  </a:ext>
                </a:extLst>
              </p:cNvPr>
              <p:cNvCxnSpPr>
                <a:cxnSpLocks noChangeShapeType="1"/>
              </p:cNvCxnSpPr>
              <p:nvPr/>
            </p:nvCxnSpPr>
            <p:spPr bwMode="auto">
              <a:xfrm>
                <a:off x="2825748" y="4648350"/>
                <a:ext cx="152400" cy="0"/>
              </a:xfrm>
              <a:prstGeom prst="line">
                <a:avLst/>
              </a:prstGeom>
              <a:noFill/>
              <a:ln w="9525" algn="ctr">
                <a:solidFill>
                  <a:schemeClr val="tx1"/>
                </a:solidFill>
                <a:round/>
                <a:headEnd/>
                <a:tailEnd/>
              </a:ln>
            </p:spPr>
          </p:cxnSp>
          <p:cxnSp>
            <p:nvCxnSpPr>
              <p:cNvPr id="27682" name="Straight Connector 54">
                <a:extLst>
                  <a:ext uri="{FF2B5EF4-FFF2-40B4-BE49-F238E27FC236}">
                    <a16:creationId xmlns:a16="http://schemas.microsoft.com/office/drawing/2014/main" id="{A7FEB5E1-1321-498F-8512-4ADD8542C840}"/>
                  </a:ext>
                </a:extLst>
              </p:cNvPr>
              <p:cNvCxnSpPr>
                <a:cxnSpLocks noChangeShapeType="1"/>
              </p:cNvCxnSpPr>
              <p:nvPr/>
            </p:nvCxnSpPr>
            <p:spPr bwMode="auto">
              <a:xfrm rot="5400000">
                <a:off x="2823805" y="4723382"/>
                <a:ext cx="148775" cy="1073"/>
              </a:xfrm>
              <a:prstGeom prst="line">
                <a:avLst/>
              </a:prstGeom>
              <a:noFill/>
              <a:ln w="9525" algn="ctr">
                <a:solidFill>
                  <a:schemeClr val="tx1"/>
                </a:solidFill>
                <a:round/>
                <a:headEnd/>
                <a:tailEnd/>
              </a:ln>
            </p:spPr>
          </p:cxnSp>
          <p:cxnSp>
            <p:nvCxnSpPr>
              <p:cNvPr id="27683" name="Straight Connector 55">
                <a:extLst>
                  <a:ext uri="{FF2B5EF4-FFF2-40B4-BE49-F238E27FC236}">
                    <a16:creationId xmlns:a16="http://schemas.microsoft.com/office/drawing/2014/main" id="{EB4C29E7-0EF4-4593-B707-A5BAB9186207}"/>
                  </a:ext>
                </a:extLst>
              </p:cNvPr>
              <p:cNvCxnSpPr>
                <a:cxnSpLocks noChangeShapeType="1"/>
              </p:cNvCxnSpPr>
              <p:nvPr/>
            </p:nvCxnSpPr>
            <p:spPr bwMode="auto">
              <a:xfrm rot="5400000">
                <a:off x="2839974" y="4549928"/>
                <a:ext cx="120452" cy="1349"/>
              </a:xfrm>
              <a:prstGeom prst="line">
                <a:avLst/>
              </a:prstGeom>
              <a:noFill/>
              <a:ln w="9525" algn="ctr">
                <a:solidFill>
                  <a:schemeClr val="tx1"/>
                </a:solidFill>
                <a:round/>
                <a:headEnd/>
                <a:tailEnd/>
              </a:ln>
            </p:spPr>
          </p:cxnSp>
        </p:grpSp>
        <p:grpSp>
          <p:nvGrpSpPr>
            <p:cNvPr id="27663" name="Group 113">
              <a:extLst>
                <a:ext uri="{FF2B5EF4-FFF2-40B4-BE49-F238E27FC236}">
                  <a16:creationId xmlns:a16="http://schemas.microsoft.com/office/drawing/2014/main" id="{9B3A73BF-5D37-4923-A36A-50BCDEA01004}"/>
                </a:ext>
              </a:extLst>
            </p:cNvPr>
            <p:cNvGrpSpPr>
              <a:grpSpLocks/>
            </p:cNvGrpSpPr>
            <p:nvPr/>
          </p:nvGrpSpPr>
          <p:grpSpPr bwMode="auto">
            <a:xfrm>
              <a:off x="3606795" y="5020795"/>
              <a:ext cx="355602" cy="147059"/>
              <a:chOff x="1092198" y="4066401"/>
              <a:chExt cx="450852" cy="142228"/>
            </a:xfrm>
          </p:grpSpPr>
          <p:cxnSp>
            <p:nvCxnSpPr>
              <p:cNvPr id="27678" name="Straight Connector 42">
                <a:extLst>
                  <a:ext uri="{FF2B5EF4-FFF2-40B4-BE49-F238E27FC236}">
                    <a16:creationId xmlns:a16="http://schemas.microsoft.com/office/drawing/2014/main" id="{6AB6C972-320C-4DAD-A5E7-11A5F91FE430}"/>
                  </a:ext>
                </a:extLst>
              </p:cNvPr>
              <p:cNvCxnSpPr>
                <a:cxnSpLocks noChangeShapeType="1"/>
              </p:cNvCxnSpPr>
              <p:nvPr/>
            </p:nvCxnSpPr>
            <p:spPr bwMode="auto">
              <a:xfrm>
                <a:off x="1092198" y="4066401"/>
                <a:ext cx="450852" cy="0"/>
              </a:xfrm>
              <a:prstGeom prst="line">
                <a:avLst/>
              </a:prstGeom>
              <a:noFill/>
              <a:ln w="9525" algn="ctr">
                <a:solidFill>
                  <a:schemeClr val="tx1"/>
                </a:solidFill>
                <a:round/>
                <a:headEnd/>
                <a:tailEnd/>
              </a:ln>
            </p:spPr>
          </p:cxnSp>
          <p:cxnSp>
            <p:nvCxnSpPr>
              <p:cNvPr id="27679" name="Straight Connector 43">
                <a:extLst>
                  <a:ext uri="{FF2B5EF4-FFF2-40B4-BE49-F238E27FC236}">
                    <a16:creationId xmlns:a16="http://schemas.microsoft.com/office/drawing/2014/main" id="{7574D02C-CC7F-4958-AC8D-2826FDFF5A52}"/>
                  </a:ext>
                </a:extLst>
              </p:cNvPr>
              <p:cNvCxnSpPr>
                <a:cxnSpLocks noChangeShapeType="1"/>
                <a:endCxn id="27664" idx="3"/>
              </p:cNvCxnSpPr>
              <p:nvPr/>
            </p:nvCxnSpPr>
            <p:spPr bwMode="auto">
              <a:xfrm>
                <a:off x="1317627" y="4076132"/>
                <a:ext cx="513" cy="132497"/>
              </a:xfrm>
              <a:prstGeom prst="line">
                <a:avLst/>
              </a:prstGeom>
              <a:noFill/>
              <a:ln w="9525" algn="ctr">
                <a:solidFill>
                  <a:schemeClr val="tx1"/>
                </a:solidFill>
                <a:round/>
                <a:headEnd/>
                <a:tailEnd/>
              </a:ln>
            </p:spPr>
          </p:cxnSp>
        </p:grpSp>
        <p:sp>
          <p:nvSpPr>
            <p:cNvPr id="27664" name="Isosceles Triangle 41">
              <a:extLst>
                <a:ext uri="{FF2B5EF4-FFF2-40B4-BE49-F238E27FC236}">
                  <a16:creationId xmlns:a16="http://schemas.microsoft.com/office/drawing/2014/main" id="{643B1BDC-CCCD-463E-B1D3-B2B40CA11ACC}"/>
                </a:ext>
              </a:extLst>
            </p:cNvPr>
            <p:cNvSpPr>
              <a:spLocks noChangeArrowheads="1"/>
            </p:cNvSpPr>
            <p:nvPr/>
          </p:nvSpPr>
          <p:spPr bwMode="auto">
            <a:xfrm rot="10800000">
              <a:off x="3713566" y="5167859"/>
              <a:ext cx="142874" cy="13334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7665" name="Straight Connector 12">
              <a:extLst>
                <a:ext uri="{FF2B5EF4-FFF2-40B4-BE49-F238E27FC236}">
                  <a16:creationId xmlns:a16="http://schemas.microsoft.com/office/drawing/2014/main" id="{D9B75FE0-1979-46FE-8E17-F231E0FDD47E}"/>
                </a:ext>
              </a:extLst>
            </p:cNvPr>
            <p:cNvCxnSpPr>
              <a:cxnSpLocks noChangeShapeType="1"/>
            </p:cNvCxnSpPr>
            <p:nvPr/>
          </p:nvCxnSpPr>
          <p:spPr bwMode="auto">
            <a:xfrm>
              <a:off x="3100385" y="4879182"/>
              <a:ext cx="533400" cy="0"/>
            </a:xfrm>
            <a:prstGeom prst="line">
              <a:avLst/>
            </a:prstGeom>
            <a:noFill/>
            <a:ln w="9525" algn="ctr">
              <a:solidFill>
                <a:schemeClr val="tx1"/>
              </a:solidFill>
              <a:round/>
              <a:headEnd/>
              <a:tailEnd/>
            </a:ln>
          </p:spPr>
        </p:cxnSp>
        <p:cxnSp>
          <p:nvCxnSpPr>
            <p:cNvPr id="27666" name="Straight Connector 13">
              <a:extLst>
                <a:ext uri="{FF2B5EF4-FFF2-40B4-BE49-F238E27FC236}">
                  <a16:creationId xmlns:a16="http://schemas.microsoft.com/office/drawing/2014/main" id="{065AAC98-9708-4F63-A1C9-43AAFDCE7779}"/>
                </a:ext>
              </a:extLst>
            </p:cNvPr>
            <p:cNvCxnSpPr>
              <a:cxnSpLocks noChangeShapeType="1"/>
            </p:cNvCxnSpPr>
            <p:nvPr/>
          </p:nvCxnSpPr>
          <p:spPr bwMode="auto">
            <a:xfrm flipV="1">
              <a:off x="4002877" y="4880770"/>
              <a:ext cx="1103825" cy="0"/>
            </a:xfrm>
            <a:prstGeom prst="line">
              <a:avLst/>
            </a:prstGeom>
            <a:noFill/>
            <a:ln w="9525" algn="ctr">
              <a:solidFill>
                <a:schemeClr val="tx1"/>
              </a:solidFill>
              <a:round/>
              <a:headEnd/>
              <a:tailEnd/>
            </a:ln>
          </p:spPr>
        </p:cxnSp>
        <p:grpSp>
          <p:nvGrpSpPr>
            <p:cNvPr id="27667" name="Group 146">
              <a:extLst>
                <a:ext uri="{FF2B5EF4-FFF2-40B4-BE49-F238E27FC236}">
                  <a16:creationId xmlns:a16="http://schemas.microsoft.com/office/drawing/2014/main" id="{66BC33F8-319A-46A8-8FB6-635428B53F78}"/>
                </a:ext>
              </a:extLst>
            </p:cNvPr>
            <p:cNvGrpSpPr>
              <a:grpSpLocks/>
            </p:cNvGrpSpPr>
            <p:nvPr/>
          </p:nvGrpSpPr>
          <p:grpSpPr bwMode="auto">
            <a:xfrm>
              <a:off x="2895443" y="4277875"/>
              <a:ext cx="1122449" cy="582616"/>
              <a:chOff x="761843" y="3810036"/>
              <a:chExt cx="1122449" cy="582616"/>
            </a:xfrm>
          </p:grpSpPr>
          <p:cxnSp>
            <p:nvCxnSpPr>
              <p:cNvPr id="22" name="Straight Connector 21">
                <a:extLst>
                  <a:ext uri="{FF2B5EF4-FFF2-40B4-BE49-F238E27FC236}">
                    <a16:creationId xmlns:a16="http://schemas.microsoft.com/office/drawing/2014/main" id="{04CB8ECE-B40E-43B4-A32E-051745056A55}"/>
                  </a:ext>
                </a:extLst>
              </p:cNvPr>
              <p:cNvCxnSpPr/>
              <p:nvPr/>
            </p:nvCxnSpPr>
            <p:spPr bwMode="auto">
              <a:xfrm>
                <a:off x="838026" y="4251785"/>
                <a:ext cx="228548"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5FCF634-C006-4B52-8242-1F2068CFDB8E}"/>
                  </a:ext>
                </a:extLst>
              </p:cNvPr>
              <p:cNvCxnSpPr/>
              <p:nvPr/>
            </p:nvCxnSpPr>
            <p:spPr bwMode="auto">
              <a:xfrm rot="5400000" flipH="1" flipV="1">
                <a:off x="1028346" y="4061193"/>
                <a:ext cx="228820" cy="15236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F911467-AB45-4BF9-B3B1-70EC9B463839}"/>
                  </a:ext>
                </a:extLst>
              </p:cNvPr>
              <p:cNvCxnSpPr/>
              <p:nvPr/>
            </p:nvCxnSpPr>
            <p:spPr bwMode="auto">
              <a:xfrm>
                <a:off x="1218939" y="4022966"/>
                <a:ext cx="228548" cy="158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00F2167-9F34-489B-850A-969D0D0E92DE}"/>
                  </a:ext>
                </a:extLst>
              </p:cNvPr>
              <p:cNvSpPr txBox="1"/>
              <p:nvPr/>
            </p:nvSpPr>
            <p:spPr>
              <a:xfrm>
                <a:off x="1225287" y="3810036"/>
                <a:ext cx="659005" cy="369687"/>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1.2V</a:t>
                </a:r>
              </a:p>
            </p:txBody>
          </p:sp>
          <p:sp>
            <p:nvSpPr>
              <p:cNvPr id="26" name="TextBox 25">
                <a:extLst>
                  <a:ext uri="{FF2B5EF4-FFF2-40B4-BE49-F238E27FC236}">
                    <a16:creationId xmlns:a16="http://schemas.microsoft.com/office/drawing/2014/main" id="{47EC4A74-567E-491B-A4F8-65F1F7FB6F9C}"/>
                  </a:ext>
                </a:extLst>
              </p:cNvPr>
              <p:cNvSpPr txBox="1"/>
              <p:nvPr/>
            </p:nvSpPr>
            <p:spPr>
              <a:xfrm>
                <a:off x="761843" y="4022966"/>
                <a:ext cx="312835" cy="369686"/>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0</a:t>
                </a:r>
              </a:p>
            </p:txBody>
          </p:sp>
        </p:grpSp>
        <p:sp>
          <p:nvSpPr>
            <p:cNvPr id="27668" name="TextBox 16">
              <a:extLst>
                <a:ext uri="{FF2B5EF4-FFF2-40B4-BE49-F238E27FC236}">
                  <a16:creationId xmlns:a16="http://schemas.microsoft.com/office/drawing/2014/main" id="{6D2BF410-7987-4DE6-BCB9-C18D030F400D}"/>
                </a:ext>
              </a:extLst>
            </p:cNvPr>
            <p:cNvSpPr txBox="1">
              <a:spLocks noChangeArrowheads="1"/>
            </p:cNvSpPr>
            <p:nvPr/>
          </p:nvSpPr>
          <p:spPr bwMode="auto">
            <a:xfrm>
              <a:off x="4279231" y="3933056"/>
              <a:ext cx="82747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Aggressor</a:t>
              </a:r>
              <a:endParaRPr lang="en-US" altLang="en-US"/>
            </a:p>
          </p:txBody>
        </p:sp>
        <p:sp>
          <p:nvSpPr>
            <p:cNvPr id="27669" name="TextBox 17">
              <a:extLst>
                <a:ext uri="{FF2B5EF4-FFF2-40B4-BE49-F238E27FC236}">
                  <a16:creationId xmlns:a16="http://schemas.microsoft.com/office/drawing/2014/main" id="{F9F7F6CD-9049-4EAA-9242-39D545ACBA23}"/>
                </a:ext>
              </a:extLst>
            </p:cNvPr>
            <p:cNvSpPr txBox="1">
              <a:spLocks noChangeArrowheads="1"/>
            </p:cNvSpPr>
            <p:nvPr/>
          </p:nvSpPr>
          <p:spPr bwMode="auto">
            <a:xfrm>
              <a:off x="3857620" y="5025561"/>
              <a:ext cx="37382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Cg</a:t>
              </a:r>
              <a:endParaRPr lang="en-US" altLang="en-US"/>
            </a:p>
          </p:txBody>
        </p:sp>
        <p:sp>
          <p:nvSpPr>
            <p:cNvPr id="27670" name="TextBox 18">
              <a:extLst>
                <a:ext uri="{FF2B5EF4-FFF2-40B4-BE49-F238E27FC236}">
                  <a16:creationId xmlns:a16="http://schemas.microsoft.com/office/drawing/2014/main" id="{3F6C28DA-B99C-4045-A352-2F589920A876}"/>
                </a:ext>
              </a:extLst>
            </p:cNvPr>
            <p:cNvSpPr txBox="1">
              <a:spLocks noChangeArrowheads="1"/>
            </p:cNvSpPr>
            <p:nvPr/>
          </p:nvSpPr>
          <p:spPr bwMode="auto">
            <a:xfrm>
              <a:off x="4364955" y="4938119"/>
              <a:ext cx="60029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Victim</a:t>
              </a:r>
              <a:endParaRPr lang="en-US" altLang="en-US"/>
            </a:p>
          </p:txBody>
        </p:sp>
        <p:sp>
          <p:nvSpPr>
            <p:cNvPr id="27671" name="TextBox 19">
              <a:extLst>
                <a:ext uri="{FF2B5EF4-FFF2-40B4-BE49-F238E27FC236}">
                  <a16:creationId xmlns:a16="http://schemas.microsoft.com/office/drawing/2014/main" id="{5C4BD8F9-6338-4BF9-9B25-C0A83CBF7750}"/>
                </a:ext>
              </a:extLst>
            </p:cNvPr>
            <p:cNvSpPr txBox="1">
              <a:spLocks noChangeArrowheads="1"/>
            </p:cNvSpPr>
            <p:nvPr/>
          </p:nvSpPr>
          <p:spPr bwMode="auto">
            <a:xfrm>
              <a:off x="4724399" y="4450385"/>
              <a:ext cx="41208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Cc</a:t>
              </a:r>
              <a:endParaRPr lang="en-US" altLang="en-US"/>
            </a:p>
          </p:txBody>
        </p:sp>
        <p:sp>
          <p:nvSpPr>
            <p:cNvPr id="27672" name="Прямоугольник 60">
              <a:extLst>
                <a:ext uri="{FF2B5EF4-FFF2-40B4-BE49-F238E27FC236}">
                  <a16:creationId xmlns:a16="http://schemas.microsoft.com/office/drawing/2014/main" id="{DBF4B400-A425-422A-A07F-F2B16277F53A}"/>
                </a:ext>
              </a:extLst>
            </p:cNvPr>
            <p:cNvSpPr>
              <a:spLocks noChangeArrowheads="1"/>
            </p:cNvSpPr>
            <p:nvPr/>
          </p:nvSpPr>
          <p:spPr bwMode="auto">
            <a:xfrm>
              <a:off x="3562344" y="4801722"/>
              <a:ext cx="428628" cy="171451"/>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27656" name="Прямоугольник 61">
            <a:extLst>
              <a:ext uri="{FF2B5EF4-FFF2-40B4-BE49-F238E27FC236}">
                <a16:creationId xmlns:a16="http://schemas.microsoft.com/office/drawing/2014/main" id="{1FBF36AE-C016-410B-9E58-3145F22F1CB1}"/>
              </a:ext>
            </a:extLst>
          </p:cNvPr>
          <p:cNvSpPr>
            <a:spLocks noChangeArrowheads="1"/>
          </p:cNvSpPr>
          <p:nvPr/>
        </p:nvSpPr>
        <p:spPr bwMode="auto">
          <a:xfrm>
            <a:off x="7392709" y="3898900"/>
            <a:ext cx="428625" cy="171450"/>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9B62FEB3-1450-48FC-982B-D6D0B1021130}"/>
              </a:ext>
            </a:extLst>
          </p:cNvPr>
          <p:cNvSpPr>
            <a:spLocks noGrp="1"/>
          </p:cNvSpPr>
          <p:nvPr>
            <p:ph type="title"/>
          </p:nvPr>
        </p:nvSpPr>
        <p:spPr/>
        <p:txBody>
          <a:bodyPr/>
          <a:lstStyle/>
          <a:p>
            <a:r>
              <a:rPr lang="en-US" altLang="en-US"/>
              <a:t>Crosstalk Scenarios</a:t>
            </a:r>
          </a:p>
        </p:txBody>
      </p:sp>
      <p:sp>
        <p:nvSpPr>
          <p:cNvPr id="28675" name="Content Placeholder 2">
            <a:extLst>
              <a:ext uri="{FF2B5EF4-FFF2-40B4-BE49-F238E27FC236}">
                <a16:creationId xmlns:a16="http://schemas.microsoft.com/office/drawing/2014/main" id="{6871D239-0F8F-4A04-800B-2E8FBAB99855}"/>
              </a:ext>
            </a:extLst>
          </p:cNvPr>
          <p:cNvSpPr>
            <a:spLocks noGrp="1"/>
          </p:cNvSpPr>
          <p:nvPr>
            <p:ph type="body" sz="quarter" idx="10"/>
          </p:nvPr>
        </p:nvSpPr>
        <p:spPr/>
        <p:txBody>
          <a:bodyPr/>
          <a:lstStyle/>
          <a:p>
            <a:r>
              <a:rPr lang="en-US" altLang="en-US" sz="2000"/>
              <a:t>Aggressor net stable </a:t>
            </a:r>
          </a:p>
          <a:p>
            <a:pPr lvl="1"/>
            <a:r>
              <a:rPr lang="en-US" altLang="en-US" sz="1600"/>
              <a:t>Victim net provides the charge for Cg and Cc to be charged to Vdd </a:t>
            </a:r>
          </a:p>
          <a:p>
            <a:pPr lvl="1"/>
            <a:r>
              <a:rPr lang="en-US" altLang="en-US" sz="1600"/>
              <a:t>Total charge= (Cg + Cc) * Vdd</a:t>
            </a:r>
          </a:p>
          <a:p>
            <a:r>
              <a:rPr lang="en-US" altLang="en-US" sz="2000"/>
              <a:t>Aggressor switching in same direction</a:t>
            </a:r>
          </a:p>
          <a:p>
            <a:pPr lvl="1"/>
            <a:r>
              <a:rPr lang="en-US" altLang="en-US" sz="1600"/>
              <a:t>If aggressor slew is similar </a:t>
            </a:r>
            <a:r>
              <a:rPr lang="en-US" altLang="en-US" sz="1600">
                <a:sym typeface="Wingdings" panose="05000000000000000000" pitchFamily="2" charset="2"/>
              </a:rPr>
              <a:t> </a:t>
            </a:r>
            <a:r>
              <a:rPr lang="en-US" altLang="en-US" sz="1600"/>
              <a:t>total charge by the driving cell is (Cg * Vdd)</a:t>
            </a:r>
          </a:p>
          <a:p>
            <a:pPr lvl="1"/>
            <a:r>
              <a:rPr lang="en-US" altLang="en-US" sz="1600"/>
              <a:t>If aggressor slew is faster </a:t>
            </a:r>
            <a:r>
              <a:rPr lang="en-US" altLang="en-US" sz="1600">
                <a:sym typeface="Wingdings" panose="05000000000000000000" pitchFamily="2" charset="2"/>
              </a:rPr>
              <a:t> </a:t>
            </a:r>
            <a:r>
              <a:rPr lang="en-US" altLang="en-US" sz="1600"/>
              <a:t>charge smaller than (Cg * Vdd)</a:t>
            </a:r>
          </a:p>
          <a:p>
            <a:r>
              <a:rPr lang="en-US" altLang="en-US" sz="2000"/>
              <a:t>Aggressor switching in opposite direction</a:t>
            </a:r>
          </a:p>
          <a:p>
            <a:pPr lvl="1"/>
            <a:r>
              <a:rPr lang="en-US" altLang="en-US" sz="1600"/>
              <a:t>Cc is charged from -Vdd to Vdd</a:t>
            </a:r>
          </a:p>
          <a:p>
            <a:pPr lvl="1"/>
            <a:r>
              <a:rPr lang="en-US" altLang="en-US" sz="1600"/>
              <a:t>Charge on Cc changes by (2 * Cc * Vdd) before and after transitions</a:t>
            </a:r>
          </a:p>
          <a:p>
            <a:endParaRPr lang="en-US" altLang="en-US" sz="2000"/>
          </a:p>
        </p:txBody>
      </p:sp>
      <p:grpSp>
        <p:nvGrpSpPr>
          <p:cNvPr id="28676" name="Group 5">
            <a:extLst>
              <a:ext uri="{FF2B5EF4-FFF2-40B4-BE49-F238E27FC236}">
                <a16:creationId xmlns:a16="http://schemas.microsoft.com/office/drawing/2014/main" id="{C03A0AA8-9D7E-41AF-A10E-8105E3956872}"/>
              </a:ext>
            </a:extLst>
          </p:cNvPr>
          <p:cNvGrpSpPr>
            <a:grpSpLocks/>
          </p:cNvGrpSpPr>
          <p:nvPr/>
        </p:nvGrpSpPr>
        <p:grpSpPr bwMode="auto">
          <a:xfrm>
            <a:off x="4295775" y="4508501"/>
            <a:ext cx="2946400" cy="1223963"/>
            <a:chOff x="2190754" y="4014359"/>
            <a:chExt cx="2945727" cy="1286848"/>
          </a:xfrm>
        </p:grpSpPr>
        <p:grpSp>
          <p:nvGrpSpPr>
            <p:cNvPr id="28677" name="Group 87">
              <a:extLst>
                <a:ext uri="{FF2B5EF4-FFF2-40B4-BE49-F238E27FC236}">
                  <a16:creationId xmlns:a16="http://schemas.microsoft.com/office/drawing/2014/main" id="{80A52DD4-0783-4535-8A2C-C3ADBA849ED5}"/>
                </a:ext>
              </a:extLst>
            </p:cNvPr>
            <p:cNvGrpSpPr>
              <a:grpSpLocks/>
            </p:cNvGrpSpPr>
            <p:nvPr/>
          </p:nvGrpSpPr>
          <p:grpSpPr bwMode="auto">
            <a:xfrm>
              <a:off x="2190754" y="4666459"/>
              <a:ext cx="904876" cy="433754"/>
              <a:chOff x="2279285" y="4572000"/>
              <a:chExt cx="603250" cy="281354"/>
            </a:xfrm>
          </p:grpSpPr>
          <p:sp>
            <p:nvSpPr>
              <p:cNvPr id="28704" name="Flowchart: Delay 33">
                <a:extLst>
                  <a:ext uri="{FF2B5EF4-FFF2-40B4-BE49-F238E27FC236}">
                    <a16:creationId xmlns:a16="http://schemas.microsoft.com/office/drawing/2014/main" id="{71891F5D-E232-4648-9FB0-1EC565DB5186}"/>
                  </a:ext>
                </a:extLst>
              </p:cNvPr>
              <p:cNvSpPr>
                <a:spLocks noChangeArrowheads="1"/>
              </p:cNvSpPr>
              <p:nvPr/>
            </p:nvSpPr>
            <p:spPr bwMode="auto">
              <a:xfrm>
                <a:off x="2438400" y="4572000"/>
                <a:ext cx="367935" cy="281354"/>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28705" name="Oval 34">
                <a:extLst>
                  <a:ext uri="{FF2B5EF4-FFF2-40B4-BE49-F238E27FC236}">
                    <a16:creationId xmlns:a16="http://schemas.microsoft.com/office/drawing/2014/main" id="{E89D15C8-8FF5-4538-A908-2A66CD35C79A}"/>
                  </a:ext>
                </a:extLst>
              </p:cNvPr>
              <p:cNvSpPr>
                <a:spLocks noChangeArrowheads="1"/>
              </p:cNvSpPr>
              <p:nvPr/>
            </p:nvSpPr>
            <p:spPr bwMode="auto">
              <a:xfrm>
                <a:off x="2806335" y="4672012"/>
                <a:ext cx="76200" cy="7620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706" name="Straight Connector 35">
                <a:extLst>
                  <a:ext uri="{FF2B5EF4-FFF2-40B4-BE49-F238E27FC236}">
                    <a16:creationId xmlns:a16="http://schemas.microsoft.com/office/drawing/2014/main" id="{9040616C-6481-48A9-811B-58B0AAAC4FFB}"/>
                  </a:ext>
                </a:extLst>
              </p:cNvPr>
              <p:cNvCxnSpPr>
                <a:cxnSpLocks noChangeShapeType="1"/>
              </p:cNvCxnSpPr>
              <p:nvPr/>
            </p:nvCxnSpPr>
            <p:spPr bwMode="auto">
              <a:xfrm>
                <a:off x="2285635" y="4649785"/>
                <a:ext cx="152400" cy="0"/>
              </a:xfrm>
              <a:prstGeom prst="line">
                <a:avLst/>
              </a:prstGeom>
              <a:noFill/>
              <a:ln w="9525" algn="ctr">
                <a:solidFill>
                  <a:schemeClr val="tx1"/>
                </a:solidFill>
                <a:round/>
                <a:headEnd/>
                <a:tailEnd/>
              </a:ln>
            </p:spPr>
          </p:cxnSp>
          <p:cxnSp>
            <p:nvCxnSpPr>
              <p:cNvPr id="28707" name="Straight Connector 36">
                <a:extLst>
                  <a:ext uri="{FF2B5EF4-FFF2-40B4-BE49-F238E27FC236}">
                    <a16:creationId xmlns:a16="http://schemas.microsoft.com/office/drawing/2014/main" id="{ADFECEEA-2FB8-4519-9601-DE2F4584CBBA}"/>
                  </a:ext>
                </a:extLst>
              </p:cNvPr>
              <p:cNvCxnSpPr>
                <a:cxnSpLocks noChangeShapeType="1"/>
              </p:cNvCxnSpPr>
              <p:nvPr/>
            </p:nvCxnSpPr>
            <p:spPr bwMode="auto">
              <a:xfrm>
                <a:off x="2279285" y="4775197"/>
                <a:ext cx="152400" cy="0"/>
              </a:xfrm>
              <a:prstGeom prst="line">
                <a:avLst/>
              </a:prstGeom>
              <a:noFill/>
              <a:ln w="9525" algn="ctr">
                <a:solidFill>
                  <a:schemeClr val="tx1"/>
                </a:solidFill>
                <a:round/>
                <a:headEnd/>
                <a:tailEnd/>
              </a:ln>
            </p:spPr>
          </p:cxnSp>
        </p:grpSp>
        <p:sp>
          <p:nvSpPr>
            <p:cNvPr id="28678" name="Isosceles Triangle 7">
              <a:extLst>
                <a:ext uri="{FF2B5EF4-FFF2-40B4-BE49-F238E27FC236}">
                  <a16:creationId xmlns:a16="http://schemas.microsoft.com/office/drawing/2014/main" id="{0097CAF2-3D6E-4A7C-AD82-FA54ACA4A359}"/>
                </a:ext>
              </a:extLst>
            </p:cNvPr>
            <p:cNvSpPr>
              <a:spLocks noChangeArrowheads="1"/>
            </p:cNvSpPr>
            <p:nvPr/>
          </p:nvSpPr>
          <p:spPr bwMode="auto">
            <a:xfrm rot="5400000">
              <a:off x="2675049" y="4065676"/>
              <a:ext cx="395654" cy="378065"/>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8679" name="Oval 8">
              <a:extLst>
                <a:ext uri="{FF2B5EF4-FFF2-40B4-BE49-F238E27FC236}">
                  <a16:creationId xmlns:a16="http://schemas.microsoft.com/office/drawing/2014/main" id="{3C738B11-0072-499E-BD06-9DB736B30D7C}"/>
                </a:ext>
              </a:extLst>
            </p:cNvPr>
            <p:cNvSpPr>
              <a:spLocks noChangeArrowheads="1"/>
            </p:cNvSpPr>
            <p:nvPr/>
          </p:nvSpPr>
          <p:spPr bwMode="auto">
            <a:xfrm>
              <a:off x="3060765" y="4205256"/>
              <a:ext cx="94516" cy="98914"/>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680" name="Straight Connector 9">
              <a:extLst>
                <a:ext uri="{FF2B5EF4-FFF2-40B4-BE49-F238E27FC236}">
                  <a16:creationId xmlns:a16="http://schemas.microsoft.com/office/drawing/2014/main" id="{DAF3355C-E12C-42F5-8092-EA3896AA388D}"/>
                </a:ext>
              </a:extLst>
            </p:cNvPr>
            <p:cNvCxnSpPr>
              <a:cxnSpLocks noChangeShapeType="1"/>
            </p:cNvCxnSpPr>
            <p:nvPr/>
          </p:nvCxnSpPr>
          <p:spPr bwMode="auto">
            <a:xfrm>
              <a:off x="2483768" y="4244918"/>
              <a:ext cx="195745" cy="0"/>
            </a:xfrm>
            <a:prstGeom prst="line">
              <a:avLst/>
            </a:prstGeom>
            <a:noFill/>
            <a:ln w="9525" algn="ctr">
              <a:solidFill>
                <a:schemeClr val="tx1"/>
              </a:solidFill>
              <a:round/>
              <a:headEnd/>
              <a:tailEnd/>
            </a:ln>
          </p:spPr>
        </p:cxnSp>
        <p:cxnSp>
          <p:nvCxnSpPr>
            <p:cNvPr id="28681" name="Straight Connector 10">
              <a:extLst>
                <a:ext uri="{FF2B5EF4-FFF2-40B4-BE49-F238E27FC236}">
                  <a16:creationId xmlns:a16="http://schemas.microsoft.com/office/drawing/2014/main" id="{4371F55A-3021-4A73-A291-96C1E2A6F107}"/>
                </a:ext>
              </a:extLst>
            </p:cNvPr>
            <p:cNvCxnSpPr>
              <a:cxnSpLocks noChangeShapeType="1"/>
            </p:cNvCxnSpPr>
            <p:nvPr/>
          </p:nvCxnSpPr>
          <p:spPr bwMode="auto">
            <a:xfrm>
              <a:off x="3155281" y="4252143"/>
              <a:ext cx="1981200" cy="0"/>
            </a:xfrm>
            <a:prstGeom prst="line">
              <a:avLst/>
            </a:prstGeom>
            <a:noFill/>
            <a:ln w="9525" algn="ctr">
              <a:solidFill>
                <a:schemeClr val="tx1"/>
              </a:solidFill>
              <a:round/>
              <a:headEnd/>
              <a:tailEnd/>
            </a:ln>
          </p:spPr>
        </p:cxnSp>
        <p:grpSp>
          <p:nvGrpSpPr>
            <p:cNvPr id="28682" name="Group 411">
              <a:extLst>
                <a:ext uri="{FF2B5EF4-FFF2-40B4-BE49-F238E27FC236}">
                  <a16:creationId xmlns:a16="http://schemas.microsoft.com/office/drawing/2014/main" id="{8F8C2496-4732-462A-BCB8-AE2AB2DA6BA1}"/>
                </a:ext>
              </a:extLst>
            </p:cNvPr>
            <p:cNvGrpSpPr>
              <a:grpSpLocks/>
            </p:cNvGrpSpPr>
            <p:nvPr/>
          </p:nvGrpSpPr>
          <p:grpSpPr bwMode="auto">
            <a:xfrm>
              <a:off x="4549773" y="4277839"/>
              <a:ext cx="244427" cy="612784"/>
              <a:chOff x="2825748" y="4490377"/>
              <a:chExt cx="152400" cy="307928"/>
            </a:xfrm>
          </p:grpSpPr>
          <p:cxnSp>
            <p:nvCxnSpPr>
              <p:cNvPr id="28700" name="Straight Connector 29">
                <a:extLst>
                  <a:ext uri="{FF2B5EF4-FFF2-40B4-BE49-F238E27FC236}">
                    <a16:creationId xmlns:a16="http://schemas.microsoft.com/office/drawing/2014/main" id="{B99635C2-D522-4B2A-9005-20B756E8AE0C}"/>
                  </a:ext>
                </a:extLst>
              </p:cNvPr>
              <p:cNvCxnSpPr>
                <a:cxnSpLocks noChangeShapeType="1"/>
              </p:cNvCxnSpPr>
              <p:nvPr/>
            </p:nvCxnSpPr>
            <p:spPr bwMode="auto">
              <a:xfrm>
                <a:off x="2825748" y="4610250"/>
                <a:ext cx="152400" cy="0"/>
              </a:xfrm>
              <a:prstGeom prst="line">
                <a:avLst/>
              </a:prstGeom>
              <a:noFill/>
              <a:ln w="9525" algn="ctr">
                <a:solidFill>
                  <a:schemeClr val="tx1"/>
                </a:solidFill>
                <a:round/>
                <a:headEnd/>
                <a:tailEnd/>
              </a:ln>
            </p:spPr>
          </p:cxnSp>
          <p:cxnSp>
            <p:nvCxnSpPr>
              <p:cNvPr id="28701" name="Straight Connector 30">
                <a:extLst>
                  <a:ext uri="{FF2B5EF4-FFF2-40B4-BE49-F238E27FC236}">
                    <a16:creationId xmlns:a16="http://schemas.microsoft.com/office/drawing/2014/main" id="{B0430669-90EB-4573-8352-C05085CC9CBD}"/>
                  </a:ext>
                </a:extLst>
              </p:cNvPr>
              <p:cNvCxnSpPr>
                <a:cxnSpLocks noChangeShapeType="1"/>
              </p:cNvCxnSpPr>
              <p:nvPr/>
            </p:nvCxnSpPr>
            <p:spPr bwMode="auto">
              <a:xfrm>
                <a:off x="2825748" y="4648350"/>
                <a:ext cx="152400" cy="0"/>
              </a:xfrm>
              <a:prstGeom prst="line">
                <a:avLst/>
              </a:prstGeom>
              <a:noFill/>
              <a:ln w="9525" algn="ctr">
                <a:solidFill>
                  <a:schemeClr val="tx1"/>
                </a:solidFill>
                <a:round/>
                <a:headEnd/>
                <a:tailEnd/>
              </a:ln>
            </p:spPr>
          </p:cxnSp>
          <p:cxnSp>
            <p:nvCxnSpPr>
              <p:cNvPr id="28702" name="Straight Connector 31">
                <a:extLst>
                  <a:ext uri="{FF2B5EF4-FFF2-40B4-BE49-F238E27FC236}">
                    <a16:creationId xmlns:a16="http://schemas.microsoft.com/office/drawing/2014/main" id="{2795E54B-A928-46FD-9DC3-C41AC561534E}"/>
                  </a:ext>
                </a:extLst>
              </p:cNvPr>
              <p:cNvCxnSpPr>
                <a:cxnSpLocks noChangeShapeType="1"/>
              </p:cNvCxnSpPr>
              <p:nvPr/>
            </p:nvCxnSpPr>
            <p:spPr bwMode="auto">
              <a:xfrm rot="5400000">
                <a:off x="2824341" y="4723918"/>
                <a:ext cx="148775" cy="0"/>
              </a:xfrm>
              <a:prstGeom prst="line">
                <a:avLst/>
              </a:prstGeom>
              <a:noFill/>
              <a:ln w="9525" algn="ctr">
                <a:solidFill>
                  <a:schemeClr val="tx1"/>
                </a:solidFill>
                <a:round/>
                <a:headEnd/>
                <a:tailEnd/>
              </a:ln>
            </p:spPr>
          </p:cxnSp>
          <p:cxnSp>
            <p:nvCxnSpPr>
              <p:cNvPr id="28703" name="Straight Connector 32">
                <a:extLst>
                  <a:ext uri="{FF2B5EF4-FFF2-40B4-BE49-F238E27FC236}">
                    <a16:creationId xmlns:a16="http://schemas.microsoft.com/office/drawing/2014/main" id="{176A227C-946B-4F59-AA3D-C2799CBEBB2F}"/>
                  </a:ext>
                </a:extLst>
              </p:cNvPr>
              <p:cNvCxnSpPr>
                <a:cxnSpLocks noChangeShapeType="1"/>
              </p:cNvCxnSpPr>
              <p:nvPr/>
            </p:nvCxnSpPr>
            <p:spPr bwMode="auto">
              <a:xfrm rot="5400000">
                <a:off x="2840649" y="4550603"/>
                <a:ext cx="120452" cy="0"/>
              </a:xfrm>
              <a:prstGeom prst="line">
                <a:avLst/>
              </a:prstGeom>
              <a:noFill/>
              <a:ln w="9525" algn="ctr">
                <a:solidFill>
                  <a:schemeClr val="tx1"/>
                </a:solidFill>
                <a:round/>
                <a:headEnd/>
                <a:tailEnd/>
              </a:ln>
            </p:spPr>
          </p:cxnSp>
        </p:grpSp>
        <p:grpSp>
          <p:nvGrpSpPr>
            <p:cNvPr id="28683" name="Group 113">
              <a:extLst>
                <a:ext uri="{FF2B5EF4-FFF2-40B4-BE49-F238E27FC236}">
                  <a16:creationId xmlns:a16="http://schemas.microsoft.com/office/drawing/2014/main" id="{32D3DC3C-CDEE-450C-82C1-A1CDA798E918}"/>
                </a:ext>
              </a:extLst>
            </p:cNvPr>
            <p:cNvGrpSpPr>
              <a:grpSpLocks/>
            </p:cNvGrpSpPr>
            <p:nvPr/>
          </p:nvGrpSpPr>
          <p:grpSpPr bwMode="auto">
            <a:xfrm>
              <a:off x="3606795" y="5020795"/>
              <a:ext cx="355602" cy="147059"/>
              <a:chOff x="1092198" y="4066401"/>
              <a:chExt cx="450852" cy="142228"/>
            </a:xfrm>
          </p:grpSpPr>
          <p:cxnSp>
            <p:nvCxnSpPr>
              <p:cNvPr id="28698" name="Straight Connector 27">
                <a:extLst>
                  <a:ext uri="{FF2B5EF4-FFF2-40B4-BE49-F238E27FC236}">
                    <a16:creationId xmlns:a16="http://schemas.microsoft.com/office/drawing/2014/main" id="{7EF9FCA6-12A3-4A97-AAD2-28BB95217013}"/>
                  </a:ext>
                </a:extLst>
              </p:cNvPr>
              <p:cNvCxnSpPr>
                <a:cxnSpLocks noChangeShapeType="1"/>
              </p:cNvCxnSpPr>
              <p:nvPr/>
            </p:nvCxnSpPr>
            <p:spPr bwMode="auto">
              <a:xfrm>
                <a:off x="1092198" y="4066401"/>
                <a:ext cx="450852" cy="0"/>
              </a:xfrm>
              <a:prstGeom prst="line">
                <a:avLst/>
              </a:prstGeom>
              <a:noFill/>
              <a:ln w="9525" algn="ctr">
                <a:solidFill>
                  <a:schemeClr val="tx1"/>
                </a:solidFill>
                <a:round/>
                <a:headEnd/>
                <a:tailEnd/>
              </a:ln>
            </p:spPr>
          </p:cxnSp>
          <p:cxnSp>
            <p:nvCxnSpPr>
              <p:cNvPr id="28699" name="Straight Connector 28">
                <a:extLst>
                  <a:ext uri="{FF2B5EF4-FFF2-40B4-BE49-F238E27FC236}">
                    <a16:creationId xmlns:a16="http://schemas.microsoft.com/office/drawing/2014/main" id="{CAD93BB3-99C5-4D83-B498-D990DD9587AE}"/>
                  </a:ext>
                </a:extLst>
              </p:cNvPr>
              <p:cNvCxnSpPr>
                <a:cxnSpLocks noChangeShapeType="1"/>
                <a:endCxn id="28684" idx="3"/>
              </p:cNvCxnSpPr>
              <p:nvPr/>
            </p:nvCxnSpPr>
            <p:spPr bwMode="auto">
              <a:xfrm>
                <a:off x="1317627" y="4076132"/>
                <a:ext cx="513" cy="132497"/>
              </a:xfrm>
              <a:prstGeom prst="line">
                <a:avLst/>
              </a:prstGeom>
              <a:noFill/>
              <a:ln w="9525" algn="ctr">
                <a:solidFill>
                  <a:schemeClr val="tx1"/>
                </a:solidFill>
                <a:round/>
                <a:headEnd/>
                <a:tailEnd/>
              </a:ln>
            </p:spPr>
          </p:cxnSp>
        </p:grpSp>
        <p:sp>
          <p:nvSpPr>
            <p:cNvPr id="28684" name="Isosceles Triangle 13">
              <a:extLst>
                <a:ext uri="{FF2B5EF4-FFF2-40B4-BE49-F238E27FC236}">
                  <a16:creationId xmlns:a16="http://schemas.microsoft.com/office/drawing/2014/main" id="{1A5D741C-1966-4657-918A-73271E1213EA}"/>
                </a:ext>
              </a:extLst>
            </p:cNvPr>
            <p:cNvSpPr>
              <a:spLocks noChangeArrowheads="1"/>
            </p:cNvSpPr>
            <p:nvPr/>
          </p:nvSpPr>
          <p:spPr bwMode="auto">
            <a:xfrm rot="10800000">
              <a:off x="3713566" y="5167859"/>
              <a:ext cx="142874" cy="13334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8685" name="Straight Connector 14">
              <a:extLst>
                <a:ext uri="{FF2B5EF4-FFF2-40B4-BE49-F238E27FC236}">
                  <a16:creationId xmlns:a16="http://schemas.microsoft.com/office/drawing/2014/main" id="{0D09B248-EAE8-4D60-8A8E-25A2A006580B}"/>
                </a:ext>
              </a:extLst>
            </p:cNvPr>
            <p:cNvCxnSpPr>
              <a:cxnSpLocks noChangeShapeType="1"/>
            </p:cNvCxnSpPr>
            <p:nvPr/>
          </p:nvCxnSpPr>
          <p:spPr bwMode="auto">
            <a:xfrm>
              <a:off x="3100385" y="4879183"/>
              <a:ext cx="533400" cy="0"/>
            </a:xfrm>
            <a:prstGeom prst="line">
              <a:avLst/>
            </a:prstGeom>
            <a:noFill/>
            <a:ln w="9525" algn="ctr">
              <a:solidFill>
                <a:schemeClr val="tx1"/>
              </a:solidFill>
              <a:round/>
              <a:headEnd/>
              <a:tailEnd/>
            </a:ln>
          </p:spPr>
        </p:cxnSp>
        <p:cxnSp>
          <p:nvCxnSpPr>
            <p:cNvPr id="28686" name="Straight Connector 15">
              <a:extLst>
                <a:ext uri="{FF2B5EF4-FFF2-40B4-BE49-F238E27FC236}">
                  <a16:creationId xmlns:a16="http://schemas.microsoft.com/office/drawing/2014/main" id="{98EC15E4-F59B-4065-9CC8-3B0588E98BAE}"/>
                </a:ext>
              </a:extLst>
            </p:cNvPr>
            <p:cNvCxnSpPr>
              <a:cxnSpLocks noChangeShapeType="1"/>
            </p:cNvCxnSpPr>
            <p:nvPr/>
          </p:nvCxnSpPr>
          <p:spPr bwMode="auto">
            <a:xfrm flipV="1">
              <a:off x="4002877" y="4880770"/>
              <a:ext cx="1103825" cy="0"/>
            </a:xfrm>
            <a:prstGeom prst="line">
              <a:avLst/>
            </a:prstGeom>
            <a:noFill/>
            <a:ln w="9525" algn="ctr">
              <a:solidFill>
                <a:schemeClr val="tx1"/>
              </a:solidFill>
              <a:round/>
              <a:headEnd/>
              <a:tailEnd/>
            </a:ln>
          </p:spPr>
        </p:cxnSp>
        <p:grpSp>
          <p:nvGrpSpPr>
            <p:cNvPr id="28687" name="Group 146">
              <a:extLst>
                <a:ext uri="{FF2B5EF4-FFF2-40B4-BE49-F238E27FC236}">
                  <a16:creationId xmlns:a16="http://schemas.microsoft.com/office/drawing/2014/main" id="{D331A3D3-14D7-4CA6-ACB4-0620488DB690}"/>
                </a:ext>
              </a:extLst>
            </p:cNvPr>
            <p:cNvGrpSpPr>
              <a:grpSpLocks/>
            </p:cNvGrpSpPr>
            <p:nvPr/>
          </p:nvGrpSpPr>
          <p:grpSpPr bwMode="auto">
            <a:xfrm>
              <a:off x="2895443" y="4278071"/>
              <a:ext cx="1122449" cy="601949"/>
              <a:chOff x="761843" y="3810232"/>
              <a:chExt cx="1122449" cy="601949"/>
            </a:xfrm>
          </p:grpSpPr>
          <p:cxnSp>
            <p:nvCxnSpPr>
              <p:cNvPr id="23" name="Straight Connector 22">
                <a:extLst>
                  <a:ext uri="{FF2B5EF4-FFF2-40B4-BE49-F238E27FC236}">
                    <a16:creationId xmlns:a16="http://schemas.microsoft.com/office/drawing/2014/main" id="{9AD9356D-9DD8-4EAB-861D-9948C6F79F96}"/>
                  </a:ext>
                </a:extLst>
              </p:cNvPr>
              <p:cNvCxnSpPr/>
              <p:nvPr/>
            </p:nvCxnSpPr>
            <p:spPr bwMode="auto">
              <a:xfrm>
                <a:off x="838026" y="4252535"/>
                <a:ext cx="228548" cy="166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145BC5A6-FF83-4A26-AB24-541EE82EC100}"/>
                  </a:ext>
                </a:extLst>
              </p:cNvPr>
              <p:cNvCxnSpPr/>
              <p:nvPr/>
            </p:nvCxnSpPr>
            <p:spPr bwMode="auto">
              <a:xfrm rot="5400000" flipH="1" flipV="1">
                <a:off x="1028425" y="4062021"/>
                <a:ext cx="228662" cy="15236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290ACD2-B8E5-450E-95A4-F7B97F534FD9}"/>
                  </a:ext>
                </a:extLst>
              </p:cNvPr>
              <p:cNvCxnSpPr/>
              <p:nvPr/>
            </p:nvCxnSpPr>
            <p:spPr bwMode="auto">
              <a:xfrm>
                <a:off x="1218939" y="4023873"/>
                <a:ext cx="228548" cy="1670"/>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B0DBCD36-1BE7-4780-A840-A0329BA0B920}"/>
                  </a:ext>
                </a:extLst>
              </p:cNvPr>
              <p:cNvSpPr txBox="1"/>
              <p:nvPr/>
            </p:nvSpPr>
            <p:spPr>
              <a:xfrm>
                <a:off x="1225287" y="3810232"/>
                <a:ext cx="659005" cy="388308"/>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1.2V</a:t>
                </a:r>
              </a:p>
            </p:txBody>
          </p:sp>
          <p:sp>
            <p:nvSpPr>
              <p:cNvPr id="27" name="TextBox 26">
                <a:extLst>
                  <a:ext uri="{FF2B5EF4-FFF2-40B4-BE49-F238E27FC236}">
                    <a16:creationId xmlns:a16="http://schemas.microsoft.com/office/drawing/2014/main" id="{4CB5314F-638F-4953-BAB9-C63862B77939}"/>
                  </a:ext>
                </a:extLst>
              </p:cNvPr>
              <p:cNvSpPr txBox="1"/>
              <p:nvPr/>
            </p:nvSpPr>
            <p:spPr>
              <a:xfrm>
                <a:off x="761843" y="4023873"/>
                <a:ext cx="312835" cy="388308"/>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0</a:t>
                </a:r>
              </a:p>
            </p:txBody>
          </p:sp>
        </p:grpSp>
        <p:sp>
          <p:nvSpPr>
            <p:cNvPr id="28688" name="TextBox 17">
              <a:extLst>
                <a:ext uri="{FF2B5EF4-FFF2-40B4-BE49-F238E27FC236}">
                  <a16:creationId xmlns:a16="http://schemas.microsoft.com/office/drawing/2014/main" id="{877E5436-4677-4969-A67C-16F12E38208B}"/>
                </a:ext>
              </a:extLst>
            </p:cNvPr>
            <p:cNvSpPr txBox="1">
              <a:spLocks noChangeArrowheads="1"/>
            </p:cNvSpPr>
            <p:nvPr/>
          </p:nvSpPr>
          <p:spPr bwMode="auto">
            <a:xfrm>
              <a:off x="4279231" y="4014359"/>
              <a:ext cx="827282" cy="27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Aggressor</a:t>
              </a:r>
              <a:endParaRPr lang="en-US" altLang="en-US"/>
            </a:p>
          </p:txBody>
        </p:sp>
        <p:sp>
          <p:nvSpPr>
            <p:cNvPr id="28689" name="TextBox 18">
              <a:extLst>
                <a:ext uri="{FF2B5EF4-FFF2-40B4-BE49-F238E27FC236}">
                  <a16:creationId xmlns:a16="http://schemas.microsoft.com/office/drawing/2014/main" id="{22FCF5A6-B4C2-4D33-839F-70ECDE06ED10}"/>
                </a:ext>
              </a:extLst>
            </p:cNvPr>
            <p:cNvSpPr txBox="1">
              <a:spLocks noChangeArrowheads="1"/>
            </p:cNvSpPr>
            <p:nvPr/>
          </p:nvSpPr>
          <p:spPr bwMode="auto">
            <a:xfrm>
              <a:off x="3857620" y="5025561"/>
              <a:ext cx="365722" cy="275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Cg</a:t>
              </a:r>
              <a:endParaRPr lang="en-US" altLang="en-US"/>
            </a:p>
          </p:txBody>
        </p:sp>
        <p:sp>
          <p:nvSpPr>
            <p:cNvPr id="28690" name="TextBox 19">
              <a:extLst>
                <a:ext uri="{FF2B5EF4-FFF2-40B4-BE49-F238E27FC236}">
                  <a16:creationId xmlns:a16="http://schemas.microsoft.com/office/drawing/2014/main" id="{09388C1C-A16C-4D6F-8F19-18AB1B350217}"/>
                </a:ext>
              </a:extLst>
            </p:cNvPr>
            <p:cNvSpPr txBox="1">
              <a:spLocks noChangeArrowheads="1"/>
            </p:cNvSpPr>
            <p:nvPr/>
          </p:nvSpPr>
          <p:spPr bwMode="auto">
            <a:xfrm>
              <a:off x="4364955" y="4938119"/>
              <a:ext cx="600156" cy="291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Victim</a:t>
              </a:r>
              <a:endParaRPr lang="en-US" altLang="en-US"/>
            </a:p>
          </p:txBody>
        </p:sp>
        <p:sp>
          <p:nvSpPr>
            <p:cNvPr id="28691" name="TextBox 20">
              <a:extLst>
                <a:ext uri="{FF2B5EF4-FFF2-40B4-BE49-F238E27FC236}">
                  <a16:creationId xmlns:a16="http://schemas.microsoft.com/office/drawing/2014/main" id="{059C8032-1F4F-4FC5-A007-F5F72678865F}"/>
                </a:ext>
              </a:extLst>
            </p:cNvPr>
            <p:cNvSpPr txBox="1">
              <a:spLocks noChangeArrowheads="1"/>
            </p:cNvSpPr>
            <p:nvPr/>
          </p:nvSpPr>
          <p:spPr bwMode="auto">
            <a:xfrm>
              <a:off x="4724399" y="4450386"/>
              <a:ext cx="412081" cy="291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Cc</a:t>
              </a:r>
              <a:endParaRPr lang="en-US" altLang="en-US"/>
            </a:p>
          </p:txBody>
        </p:sp>
        <p:sp>
          <p:nvSpPr>
            <p:cNvPr id="28692" name="Прямоугольник 60">
              <a:extLst>
                <a:ext uri="{FF2B5EF4-FFF2-40B4-BE49-F238E27FC236}">
                  <a16:creationId xmlns:a16="http://schemas.microsoft.com/office/drawing/2014/main" id="{B72DCF69-E2B5-400F-9B23-860F0DBDC8CA}"/>
                </a:ext>
              </a:extLst>
            </p:cNvPr>
            <p:cNvSpPr>
              <a:spLocks noChangeArrowheads="1"/>
            </p:cNvSpPr>
            <p:nvPr/>
          </p:nvSpPr>
          <p:spPr bwMode="auto">
            <a:xfrm>
              <a:off x="3562344" y="4801722"/>
              <a:ext cx="428628" cy="171451"/>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a:extLst>
              <a:ext uri="{FF2B5EF4-FFF2-40B4-BE49-F238E27FC236}">
                <a16:creationId xmlns:a16="http://schemas.microsoft.com/office/drawing/2014/main" id="{3456607B-4824-4CA8-AD37-3B0A136B81CA}"/>
              </a:ext>
            </a:extLst>
          </p:cNvPr>
          <p:cNvSpPr>
            <a:spLocks noGrp="1"/>
          </p:cNvSpPr>
          <p:nvPr>
            <p:ph type="title"/>
          </p:nvPr>
        </p:nvSpPr>
        <p:spPr/>
        <p:txBody>
          <a:bodyPr>
            <a:normAutofit/>
          </a:bodyPr>
          <a:lstStyle/>
          <a:p>
            <a:r>
              <a:rPr lang="en-US" altLang="en-US" dirty="0"/>
              <a:t>Positive Crosstalk</a:t>
            </a:r>
          </a:p>
        </p:txBody>
      </p:sp>
      <p:sp>
        <p:nvSpPr>
          <p:cNvPr id="29699" name="Content Placeholder 2">
            <a:extLst>
              <a:ext uri="{FF2B5EF4-FFF2-40B4-BE49-F238E27FC236}">
                <a16:creationId xmlns:a16="http://schemas.microsoft.com/office/drawing/2014/main" id="{E4D67C6A-7462-4C6A-82C3-CD98021593CA}"/>
              </a:ext>
            </a:extLst>
          </p:cNvPr>
          <p:cNvSpPr>
            <a:spLocks noGrp="1"/>
          </p:cNvSpPr>
          <p:nvPr>
            <p:ph type="body" sz="quarter" idx="10"/>
          </p:nvPr>
        </p:nvSpPr>
        <p:spPr/>
        <p:txBody>
          <a:bodyPr/>
          <a:lstStyle/>
          <a:p>
            <a:r>
              <a:rPr lang="en-US" altLang="en-US" sz="2800" dirty="0"/>
              <a:t>Aggressor and victim are switching in opposite directions</a:t>
            </a:r>
          </a:p>
          <a:p>
            <a:pPr lvl="1"/>
            <a:r>
              <a:rPr lang="en-US" altLang="en-US" dirty="0"/>
              <a:t>Increases the amount of charge required from victim driver</a:t>
            </a:r>
          </a:p>
          <a:p>
            <a:pPr lvl="1"/>
            <a:r>
              <a:rPr lang="en-US" altLang="en-US" dirty="0"/>
              <a:t>Victim delay increases</a:t>
            </a:r>
          </a:p>
        </p:txBody>
      </p:sp>
      <p:grpSp>
        <p:nvGrpSpPr>
          <p:cNvPr id="29700" name="Группа 84">
            <a:extLst>
              <a:ext uri="{FF2B5EF4-FFF2-40B4-BE49-F238E27FC236}">
                <a16:creationId xmlns:a16="http://schemas.microsoft.com/office/drawing/2014/main" id="{763D5664-EB93-468E-9141-3EF73F524F42}"/>
              </a:ext>
            </a:extLst>
          </p:cNvPr>
          <p:cNvGrpSpPr>
            <a:grpSpLocks/>
          </p:cNvGrpSpPr>
          <p:nvPr/>
        </p:nvGrpSpPr>
        <p:grpSpPr bwMode="auto">
          <a:xfrm>
            <a:off x="3828116" y="3355041"/>
            <a:ext cx="4262438" cy="1893888"/>
            <a:chOff x="2514600" y="2870592"/>
            <a:chExt cx="4263020" cy="1893960"/>
          </a:xfrm>
        </p:grpSpPr>
        <p:sp>
          <p:nvSpPr>
            <p:cNvPr id="29705" name="Flowchart: Delay 6">
              <a:extLst>
                <a:ext uri="{FF2B5EF4-FFF2-40B4-BE49-F238E27FC236}">
                  <a16:creationId xmlns:a16="http://schemas.microsoft.com/office/drawing/2014/main" id="{23D07F5F-1238-45DE-9DC8-A2C1FBE2F8AF}"/>
                </a:ext>
              </a:extLst>
            </p:cNvPr>
            <p:cNvSpPr>
              <a:spLocks noChangeArrowheads="1"/>
            </p:cNvSpPr>
            <p:nvPr/>
          </p:nvSpPr>
          <p:spPr bwMode="auto">
            <a:xfrm>
              <a:off x="2679904" y="3961312"/>
              <a:ext cx="382246" cy="321759"/>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29706" name="Oval 7">
              <a:extLst>
                <a:ext uri="{FF2B5EF4-FFF2-40B4-BE49-F238E27FC236}">
                  <a16:creationId xmlns:a16="http://schemas.microsoft.com/office/drawing/2014/main" id="{30D15738-4741-447B-BEB5-6324239D6B8F}"/>
                </a:ext>
              </a:extLst>
            </p:cNvPr>
            <p:cNvSpPr>
              <a:spLocks noChangeArrowheads="1"/>
            </p:cNvSpPr>
            <p:nvPr/>
          </p:nvSpPr>
          <p:spPr bwMode="auto">
            <a:xfrm>
              <a:off x="3062150" y="4075687"/>
              <a:ext cx="79164" cy="87143"/>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9707" name="Straight Connector 8">
              <a:extLst>
                <a:ext uri="{FF2B5EF4-FFF2-40B4-BE49-F238E27FC236}">
                  <a16:creationId xmlns:a16="http://schemas.microsoft.com/office/drawing/2014/main" id="{F5030E36-99B9-42C7-BBB2-D2BF74A92EF7}"/>
                </a:ext>
              </a:extLst>
            </p:cNvPr>
            <p:cNvCxnSpPr>
              <a:cxnSpLocks noChangeShapeType="1"/>
            </p:cNvCxnSpPr>
            <p:nvPr/>
          </p:nvCxnSpPr>
          <p:spPr bwMode="auto">
            <a:xfrm>
              <a:off x="2521197" y="4050268"/>
              <a:ext cx="158328" cy="0"/>
            </a:xfrm>
            <a:prstGeom prst="line">
              <a:avLst/>
            </a:prstGeom>
            <a:noFill/>
            <a:ln w="9525" algn="ctr">
              <a:solidFill>
                <a:schemeClr val="tx1"/>
              </a:solidFill>
              <a:round/>
              <a:headEnd/>
              <a:tailEnd/>
            </a:ln>
          </p:spPr>
        </p:cxnSp>
        <p:cxnSp>
          <p:nvCxnSpPr>
            <p:cNvPr id="29708" name="Straight Connector 9">
              <a:extLst>
                <a:ext uri="{FF2B5EF4-FFF2-40B4-BE49-F238E27FC236}">
                  <a16:creationId xmlns:a16="http://schemas.microsoft.com/office/drawing/2014/main" id="{0E55621D-3499-4967-9926-7E7B9B9989A6}"/>
                </a:ext>
              </a:extLst>
            </p:cNvPr>
            <p:cNvCxnSpPr>
              <a:cxnSpLocks noChangeShapeType="1"/>
            </p:cNvCxnSpPr>
            <p:nvPr/>
          </p:nvCxnSpPr>
          <p:spPr bwMode="auto">
            <a:xfrm>
              <a:off x="2514600" y="4193690"/>
              <a:ext cx="158328" cy="0"/>
            </a:xfrm>
            <a:prstGeom prst="line">
              <a:avLst/>
            </a:prstGeom>
            <a:noFill/>
            <a:ln w="9525" algn="ctr">
              <a:solidFill>
                <a:schemeClr val="tx1"/>
              </a:solidFill>
              <a:round/>
              <a:headEnd/>
              <a:tailEnd/>
            </a:ln>
          </p:spPr>
        </p:cxnSp>
        <p:sp>
          <p:nvSpPr>
            <p:cNvPr id="29709" name="Isosceles Triangle 10">
              <a:extLst>
                <a:ext uri="{FF2B5EF4-FFF2-40B4-BE49-F238E27FC236}">
                  <a16:creationId xmlns:a16="http://schemas.microsoft.com/office/drawing/2014/main" id="{777D75B7-1A1E-4A6A-A315-F3C3585FB609}"/>
                </a:ext>
              </a:extLst>
            </p:cNvPr>
            <p:cNvSpPr>
              <a:spLocks noChangeArrowheads="1"/>
            </p:cNvSpPr>
            <p:nvPr/>
          </p:nvSpPr>
          <p:spPr bwMode="auto">
            <a:xfrm rot="5400000">
              <a:off x="3095837" y="3158934"/>
              <a:ext cx="293497" cy="261847"/>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29710" name="Oval 11">
              <a:extLst>
                <a:ext uri="{FF2B5EF4-FFF2-40B4-BE49-F238E27FC236}">
                  <a16:creationId xmlns:a16="http://schemas.microsoft.com/office/drawing/2014/main" id="{023EEDCB-A7B5-4524-888A-423589961118}"/>
                </a:ext>
              </a:extLst>
            </p:cNvPr>
            <p:cNvSpPr>
              <a:spLocks noChangeArrowheads="1"/>
            </p:cNvSpPr>
            <p:nvPr/>
          </p:nvSpPr>
          <p:spPr bwMode="auto">
            <a:xfrm>
              <a:off x="3372717" y="3253174"/>
              <a:ext cx="65462" cy="73375"/>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9711" name="Straight Connector 12">
              <a:extLst>
                <a:ext uri="{FF2B5EF4-FFF2-40B4-BE49-F238E27FC236}">
                  <a16:creationId xmlns:a16="http://schemas.microsoft.com/office/drawing/2014/main" id="{C13ECC76-04E5-495C-8040-7403D3105632}"/>
                </a:ext>
              </a:extLst>
            </p:cNvPr>
            <p:cNvCxnSpPr>
              <a:cxnSpLocks noChangeShapeType="1"/>
            </p:cNvCxnSpPr>
            <p:nvPr/>
          </p:nvCxnSpPr>
          <p:spPr bwMode="auto">
            <a:xfrm>
              <a:off x="2973090" y="3282595"/>
              <a:ext cx="135572" cy="0"/>
            </a:xfrm>
            <a:prstGeom prst="line">
              <a:avLst/>
            </a:prstGeom>
            <a:noFill/>
            <a:ln w="9525" algn="ctr">
              <a:solidFill>
                <a:schemeClr val="tx1"/>
              </a:solidFill>
              <a:round/>
              <a:headEnd/>
              <a:tailEnd/>
            </a:ln>
          </p:spPr>
        </p:cxnSp>
        <p:cxnSp>
          <p:nvCxnSpPr>
            <p:cNvPr id="29712" name="Straight Connector 13">
              <a:extLst>
                <a:ext uri="{FF2B5EF4-FFF2-40B4-BE49-F238E27FC236}">
                  <a16:creationId xmlns:a16="http://schemas.microsoft.com/office/drawing/2014/main" id="{D1274445-C67E-4453-86DB-1241EF231F12}"/>
                </a:ext>
              </a:extLst>
            </p:cNvPr>
            <p:cNvCxnSpPr>
              <a:cxnSpLocks noChangeShapeType="1"/>
            </p:cNvCxnSpPr>
            <p:nvPr/>
          </p:nvCxnSpPr>
          <p:spPr bwMode="auto">
            <a:xfrm>
              <a:off x="3438178" y="3287955"/>
              <a:ext cx="1372174" cy="0"/>
            </a:xfrm>
            <a:prstGeom prst="line">
              <a:avLst/>
            </a:prstGeom>
            <a:noFill/>
            <a:ln w="9525" algn="ctr">
              <a:solidFill>
                <a:schemeClr val="tx1"/>
              </a:solidFill>
              <a:round/>
              <a:headEnd/>
              <a:tailEnd/>
            </a:ln>
          </p:spPr>
        </p:cxnSp>
        <p:grpSp>
          <p:nvGrpSpPr>
            <p:cNvPr id="29713" name="Group 411">
              <a:extLst>
                <a:ext uri="{FF2B5EF4-FFF2-40B4-BE49-F238E27FC236}">
                  <a16:creationId xmlns:a16="http://schemas.microsoft.com/office/drawing/2014/main" id="{2F8418C3-8770-4F79-B166-AC43A3E5FFED}"/>
                </a:ext>
              </a:extLst>
            </p:cNvPr>
            <p:cNvGrpSpPr>
              <a:grpSpLocks/>
            </p:cNvGrpSpPr>
            <p:nvPr/>
          </p:nvGrpSpPr>
          <p:grpSpPr bwMode="auto">
            <a:xfrm>
              <a:off x="4148453" y="3287097"/>
              <a:ext cx="312259" cy="840754"/>
              <a:chOff x="2825748" y="4489598"/>
              <a:chExt cx="152400" cy="308770"/>
            </a:xfrm>
          </p:grpSpPr>
          <p:cxnSp>
            <p:nvCxnSpPr>
              <p:cNvPr id="29749" name="Straight Connector 60">
                <a:extLst>
                  <a:ext uri="{FF2B5EF4-FFF2-40B4-BE49-F238E27FC236}">
                    <a16:creationId xmlns:a16="http://schemas.microsoft.com/office/drawing/2014/main" id="{347C3FEF-C380-464F-A002-7E6A925A60A9}"/>
                  </a:ext>
                </a:extLst>
              </p:cNvPr>
              <p:cNvCxnSpPr>
                <a:cxnSpLocks noChangeShapeType="1"/>
              </p:cNvCxnSpPr>
              <p:nvPr/>
            </p:nvCxnSpPr>
            <p:spPr bwMode="auto">
              <a:xfrm>
                <a:off x="2825748" y="4610250"/>
                <a:ext cx="152400" cy="0"/>
              </a:xfrm>
              <a:prstGeom prst="line">
                <a:avLst/>
              </a:prstGeom>
              <a:noFill/>
              <a:ln w="9525" algn="ctr">
                <a:solidFill>
                  <a:schemeClr val="tx1"/>
                </a:solidFill>
                <a:round/>
                <a:headEnd/>
                <a:tailEnd/>
              </a:ln>
            </p:spPr>
          </p:cxnSp>
          <p:cxnSp>
            <p:nvCxnSpPr>
              <p:cNvPr id="29750" name="Straight Connector 61">
                <a:extLst>
                  <a:ext uri="{FF2B5EF4-FFF2-40B4-BE49-F238E27FC236}">
                    <a16:creationId xmlns:a16="http://schemas.microsoft.com/office/drawing/2014/main" id="{9CD3CDFC-76A5-450E-A2FA-F3D3B8B3BF90}"/>
                  </a:ext>
                </a:extLst>
              </p:cNvPr>
              <p:cNvCxnSpPr>
                <a:cxnSpLocks noChangeShapeType="1"/>
              </p:cNvCxnSpPr>
              <p:nvPr/>
            </p:nvCxnSpPr>
            <p:spPr bwMode="auto">
              <a:xfrm>
                <a:off x="2825748" y="4648350"/>
                <a:ext cx="152400" cy="0"/>
              </a:xfrm>
              <a:prstGeom prst="line">
                <a:avLst/>
              </a:prstGeom>
              <a:noFill/>
              <a:ln w="9525" algn="ctr">
                <a:solidFill>
                  <a:schemeClr val="tx1"/>
                </a:solidFill>
                <a:round/>
                <a:headEnd/>
                <a:tailEnd/>
              </a:ln>
            </p:spPr>
          </p:cxnSp>
          <p:cxnSp>
            <p:nvCxnSpPr>
              <p:cNvPr id="29751" name="Straight Connector 62">
                <a:extLst>
                  <a:ext uri="{FF2B5EF4-FFF2-40B4-BE49-F238E27FC236}">
                    <a16:creationId xmlns:a16="http://schemas.microsoft.com/office/drawing/2014/main" id="{20096879-E6B6-4847-AB23-B10F65933D99}"/>
                  </a:ext>
                </a:extLst>
              </p:cNvPr>
              <p:cNvCxnSpPr>
                <a:cxnSpLocks noChangeShapeType="1"/>
              </p:cNvCxnSpPr>
              <p:nvPr/>
            </p:nvCxnSpPr>
            <p:spPr bwMode="auto">
              <a:xfrm rot="5400000">
                <a:off x="2822430" y="4722167"/>
                <a:ext cx="152402" cy="0"/>
              </a:xfrm>
              <a:prstGeom prst="line">
                <a:avLst/>
              </a:prstGeom>
              <a:noFill/>
              <a:ln w="9525" algn="ctr">
                <a:solidFill>
                  <a:schemeClr val="tx1"/>
                </a:solidFill>
                <a:round/>
                <a:headEnd/>
                <a:tailEnd/>
              </a:ln>
            </p:spPr>
          </p:cxnSp>
          <p:cxnSp>
            <p:nvCxnSpPr>
              <p:cNvPr id="29752" name="Straight Connector 63">
                <a:extLst>
                  <a:ext uri="{FF2B5EF4-FFF2-40B4-BE49-F238E27FC236}">
                    <a16:creationId xmlns:a16="http://schemas.microsoft.com/office/drawing/2014/main" id="{FE94A666-5529-4325-ADB9-5BE7308348B9}"/>
                  </a:ext>
                </a:extLst>
              </p:cNvPr>
              <p:cNvCxnSpPr>
                <a:cxnSpLocks noChangeShapeType="1"/>
              </p:cNvCxnSpPr>
              <p:nvPr/>
            </p:nvCxnSpPr>
            <p:spPr bwMode="auto">
              <a:xfrm rot="16200000" flipH="1">
                <a:off x="2836755" y="4550609"/>
                <a:ext cx="122337" cy="315"/>
              </a:xfrm>
              <a:prstGeom prst="line">
                <a:avLst/>
              </a:prstGeom>
              <a:noFill/>
              <a:ln w="9525" algn="ctr">
                <a:solidFill>
                  <a:schemeClr val="tx1"/>
                </a:solidFill>
                <a:round/>
                <a:headEnd/>
                <a:tailEnd/>
              </a:ln>
            </p:spPr>
          </p:cxnSp>
        </p:grpSp>
        <p:grpSp>
          <p:nvGrpSpPr>
            <p:cNvPr id="29714" name="Группа 80">
              <a:extLst>
                <a:ext uri="{FF2B5EF4-FFF2-40B4-BE49-F238E27FC236}">
                  <a16:creationId xmlns:a16="http://schemas.microsoft.com/office/drawing/2014/main" id="{223E0D6B-3AC3-41F5-9A27-FDB3F73113A9}"/>
                </a:ext>
              </a:extLst>
            </p:cNvPr>
            <p:cNvGrpSpPr>
              <a:grpSpLocks/>
            </p:cNvGrpSpPr>
            <p:nvPr/>
          </p:nvGrpSpPr>
          <p:grpSpPr bwMode="auto">
            <a:xfrm>
              <a:off x="3476617" y="4248156"/>
              <a:ext cx="246288" cy="516396"/>
              <a:chOff x="3476617" y="4248156"/>
              <a:chExt cx="246288" cy="516396"/>
            </a:xfrm>
          </p:grpSpPr>
          <p:grpSp>
            <p:nvGrpSpPr>
              <p:cNvPr id="29745" name="Group 113">
                <a:extLst>
                  <a:ext uri="{FF2B5EF4-FFF2-40B4-BE49-F238E27FC236}">
                    <a16:creationId xmlns:a16="http://schemas.microsoft.com/office/drawing/2014/main" id="{BE630796-81AF-4E75-9C5C-D641B3C3AEC2}"/>
                  </a:ext>
                </a:extLst>
              </p:cNvPr>
              <p:cNvGrpSpPr>
                <a:grpSpLocks/>
              </p:cNvGrpSpPr>
              <p:nvPr/>
            </p:nvGrpSpPr>
            <p:grpSpPr bwMode="auto">
              <a:xfrm>
                <a:off x="3476617" y="4248156"/>
                <a:ext cx="246288" cy="431918"/>
                <a:chOff x="1092198" y="4066401"/>
                <a:chExt cx="450852" cy="563127"/>
              </a:xfrm>
            </p:grpSpPr>
            <p:cxnSp>
              <p:nvCxnSpPr>
                <p:cNvPr id="29747" name="Straight Connector 50">
                  <a:extLst>
                    <a:ext uri="{FF2B5EF4-FFF2-40B4-BE49-F238E27FC236}">
                      <a16:creationId xmlns:a16="http://schemas.microsoft.com/office/drawing/2014/main" id="{122466EF-0DD5-442C-81B1-C4FEFBB738AD}"/>
                    </a:ext>
                  </a:extLst>
                </p:cNvPr>
                <p:cNvCxnSpPr>
                  <a:cxnSpLocks noChangeShapeType="1"/>
                </p:cNvCxnSpPr>
                <p:nvPr/>
              </p:nvCxnSpPr>
              <p:spPr bwMode="auto">
                <a:xfrm>
                  <a:off x="1092198" y="4066401"/>
                  <a:ext cx="450852" cy="0"/>
                </a:xfrm>
                <a:prstGeom prst="line">
                  <a:avLst/>
                </a:prstGeom>
                <a:noFill/>
                <a:ln w="9525" algn="ctr">
                  <a:solidFill>
                    <a:schemeClr val="tx1"/>
                  </a:solidFill>
                  <a:round/>
                  <a:headEnd/>
                  <a:tailEnd/>
                </a:ln>
              </p:spPr>
            </p:cxnSp>
            <p:cxnSp>
              <p:nvCxnSpPr>
                <p:cNvPr id="29748" name="Straight Connector 51">
                  <a:extLst>
                    <a:ext uri="{FF2B5EF4-FFF2-40B4-BE49-F238E27FC236}">
                      <a16:creationId xmlns:a16="http://schemas.microsoft.com/office/drawing/2014/main" id="{909F1D93-0DBE-45C3-AF5E-F792550741BB}"/>
                    </a:ext>
                  </a:extLst>
                </p:cNvPr>
                <p:cNvCxnSpPr>
                  <a:cxnSpLocks noChangeShapeType="1"/>
                </p:cNvCxnSpPr>
                <p:nvPr/>
              </p:nvCxnSpPr>
              <p:spPr bwMode="auto">
                <a:xfrm rot="5400000">
                  <a:off x="1037899" y="4349799"/>
                  <a:ext cx="559458" cy="0"/>
                </a:xfrm>
                <a:prstGeom prst="line">
                  <a:avLst/>
                </a:prstGeom>
                <a:noFill/>
                <a:ln w="9525" algn="ctr">
                  <a:solidFill>
                    <a:schemeClr val="tx1"/>
                  </a:solidFill>
                  <a:round/>
                  <a:headEnd/>
                  <a:tailEnd/>
                </a:ln>
              </p:spPr>
            </p:cxnSp>
          </p:grpSp>
          <p:sp>
            <p:nvSpPr>
              <p:cNvPr id="29746" name="Isosceles Triangle 49">
                <a:extLst>
                  <a:ext uri="{FF2B5EF4-FFF2-40B4-BE49-F238E27FC236}">
                    <a16:creationId xmlns:a16="http://schemas.microsoft.com/office/drawing/2014/main" id="{989A589C-DC76-41D5-A8FC-72CBD5A16438}"/>
                  </a:ext>
                </a:extLst>
              </p:cNvPr>
              <p:cNvSpPr>
                <a:spLocks noChangeArrowheads="1"/>
              </p:cNvSpPr>
              <p:nvPr/>
            </p:nvSpPr>
            <p:spPr bwMode="auto">
              <a:xfrm rot="10800000">
                <a:off x="3553281" y="4665634"/>
                <a:ext cx="98954" cy="9891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cxnSp>
          <p:nvCxnSpPr>
            <p:cNvPr id="29715" name="Straight Connector 16">
              <a:extLst>
                <a:ext uri="{FF2B5EF4-FFF2-40B4-BE49-F238E27FC236}">
                  <a16:creationId xmlns:a16="http://schemas.microsoft.com/office/drawing/2014/main" id="{A3CF245A-1A08-44D5-AFF9-91142D36A314}"/>
                </a:ext>
              </a:extLst>
            </p:cNvPr>
            <p:cNvCxnSpPr>
              <a:cxnSpLocks noChangeShapeType="1"/>
            </p:cNvCxnSpPr>
            <p:nvPr/>
          </p:nvCxnSpPr>
          <p:spPr bwMode="auto">
            <a:xfrm>
              <a:off x="3144610" y="4119110"/>
              <a:ext cx="369431" cy="0"/>
            </a:xfrm>
            <a:prstGeom prst="line">
              <a:avLst/>
            </a:prstGeom>
            <a:noFill/>
            <a:ln w="9525" algn="ctr">
              <a:solidFill>
                <a:schemeClr val="tx1"/>
              </a:solidFill>
              <a:round/>
              <a:headEnd/>
              <a:tailEnd/>
            </a:ln>
          </p:spPr>
        </p:cxnSp>
        <p:cxnSp>
          <p:nvCxnSpPr>
            <p:cNvPr id="29716" name="Straight Connector 17">
              <a:extLst>
                <a:ext uri="{FF2B5EF4-FFF2-40B4-BE49-F238E27FC236}">
                  <a16:creationId xmlns:a16="http://schemas.microsoft.com/office/drawing/2014/main" id="{C104895D-7925-4363-88E3-2BBCFA541CDB}"/>
                </a:ext>
              </a:extLst>
            </p:cNvPr>
            <p:cNvCxnSpPr>
              <a:cxnSpLocks noChangeShapeType="1"/>
              <a:endCxn id="29719" idx="3"/>
            </p:cNvCxnSpPr>
            <p:nvPr/>
          </p:nvCxnSpPr>
          <p:spPr bwMode="auto">
            <a:xfrm>
              <a:off x="3769674" y="4123828"/>
              <a:ext cx="1840551" cy="0"/>
            </a:xfrm>
            <a:prstGeom prst="line">
              <a:avLst/>
            </a:prstGeom>
            <a:noFill/>
            <a:ln w="9525" algn="ctr">
              <a:solidFill>
                <a:schemeClr val="tx1"/>
              </a:solidFill>
              <a:round/>
              <a:headEnd/>
              <a:tailEnd/>
            </a:ln>
          </p:spPr>
        </p:cxnSp>
        <p:sp>
          <p:nvSpPr>
            <p:cNvPr id="29717" name="TextBox 18">
              <a:extLst>
                <a:ext uri="{FF2B5EF4-FFF2-40B4-BE49-F238E27FC236}">
                  <a16:creationId xmlns:a16="http://schemas.microsoft.com/office/drawing/2014/main" id="{988A1527-2254-4241-B9EC-483EA308D3CD}"/>
                </a:ext>
              </a:extLst>
            </p:cNvPr>
            <p:cNvSpPr txBox="1">
              <a:spLocks noChangeArrowheads="1"/>
            </p:cNvSpPr>
            <p:nvPr/>
          </p:nvSpPr>
          <p:spPr bwMode="auto">
            <a:xfrm>
              <a:off x="3571868" y="4214818"/>
              <a:ext cx="365806"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Cg</a:t>
              </a:r>
              <a:endParaRPr lang="en-US" altLang="en-US"/>
            </a:p>
          </p:txBody>
        </p:sp>
        <p:sp>
          <p:nvSpPr>
            <p:cNvPr id="29718" name="TextBox 19">
              <a:extLst>
                <a:ext uri="{FF2B5EF4-FFF2-40B4-BE49-F238E27FC236}">
                  <a16:creationId xmlns:a16="http://schemas.microsoft.com/office/drawing/2014/main" id="{D838B8F3-8326-4B88-961D-34C58F59BEF5}"/>
                </a:ext>
              </a:extLst>
            </p:cNvPr>
            <p:cNvSpPr txBox="1">
              <a:spLocks noChangeArrowheads="1"/>
            </p:cNvSpPr>
            <p:nvPr/>
          </p:nvSpPr>
          <p:spPr bwMode="auto">
            <a:xfrm>
              <a:off x="4269399" y="3706948"/>
              <a:ext cx="37221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Cc</a:t>
              </a:r>
              <a:endParaRPr lang="en-US" altLang="en-US"/>
            </a:p>
          </p:txBody>
        </p:sp>
        <p:sp>
          <p:nvSpPr>
            <p:cNvPr id="29719" name="Moon 20">
              <a:extLst>
                <a:ext uri="{FF2B5EF4-FFF2-40B4-BE49-F238E27FC236}">
                  <a16:creationId xmlns:a16="http://schemas.microsoft.com/office/drawing/2014/main" id="{120E5489-D813-4FD1-AB0B-BA93FDD317A6}"/>
                </a:ext>
              </a:extLst>
            </p:cNvPr>
            <p:cNvSpPr>
              <a:spLocks noChangeArrowheads="1"/>
            </p:cNvSpPr>
            <p:nvPr/>
          </p:nvSpPr>
          <p:spPr bwMode="auto">
            <a:xfrm rot="10800000">
              <a:off x="5562600" y="4038297"/>
              <a:ext cx="381000" cy="304800"/>
            </a:xfrm>
            <a:prstGeom prst="moon">
              <a:avLst>
                <a:gd name="adj" fmla="val 875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29720" name="Straight Connector 22">
              <a:extLst>
                <a:ext uri="{FF2B5EF4-FFF2-40B4-BE49-F238E27FC236}">
                  <a16:creationId xmlns:a16="http://schemas.microsoft.com/office/drawing/2014/main" id="{599B4C2B-9C67-4C47-BC1D-A9E0FC80500F}"/>
                </a:ext>
              </a:extLst>
            </p:cNvPr>
            <p:cNvCxnSpPr>
              <a:cxnSpLocks noChangeShapeType="1"/>
            </p:cNvCxnSpPr>
            <p:nvPr/>
          </p:nvCxnSpPr>
          <p:spPr bwMode="auto">
            <a:xfrm>
              <a:off x="5440680" y="4266897"/>
              <a:ext cx="158328" cy="0"/>
            </a:xfrm>
            <a:prstGeom prst="line">
              <a:avLst/>
            </a:prstGeom>
            <a:noFill/>
            <a:ln w="9525" algn="ctr">
              <a:solidFill>
                <a:schemeClr val="tx1"/>
              </a:solidFill>
              <a:round/>
              <a:headEnd/>
              <a:tailEnd/>
            </a:ln>
          </p:spPr>
        </p:cxnSp>
        <p:cxnSp>
          <p:nvCxnSpPr>
            <p:cNvPr id="29721" name="Straight Connector 23">
              <a:extLst>
                <a:ext uri="{FF2B5EF4-FFF2-40B4-BE49-F238E27FC236}">
                  <a16:creationId xmlns:a16="http://schemas.microsoft.com/office/drawing/2014/main" id="{BD290A3B-76C3-4DE9-A5DF-C56D2356221A}"/>
                </a:ext>
              </a:extLst>
            </p:cNvPr>
            <p:cNvCxnSpPr>
              <a:cxnSpLocks noChangeShapeType="1"/>
            </p:cNvCxnSpPr>
            <p:nvPr/>
          </p:nvCxnSpPr>
          <p:spPr bwMode="auto">
            <a:xfrm>
              <a:off x="5951220" y="4188881"/>
              <a:ext cx="158328" cy="0"/>
            </a:xfrm>
            <a:prstGeom prst="line">
              <a:avLst/>
            </a:prstGeom>
            <a:noFill/>
            <a:ln w="9525" algn="ctr">
              <a:solidFill>
                <a:schemeClr val="tx1"/>
              </a:solidFill>
              <a:round/>
              <a:headEnd/>
              <a:tailEnd/>
            </a:ln>
          </p:spPr>
        </p:cxnSp>
        <p:sp>
          <p:nvSpPr>
            <p:cNvPr id="29722" name="TextBox 24">
              <a:extLst>
                <a:ext uri="{FF2B5EF4-FFF2-40B4-BE49-F238E27FC236}">
                  <a16:creationId xmlns:a16="http://schemas.microsoft.com/office/drawing/2014/main" id="{2583C0AF-7704-4892-8F06-61920000320B}"/>
                </a:ext>
              </a:extLst>
            </p:cNvPr>
            <p:cNvSpPr txBox="1">
              <a:spLocks noChangeArrowheads="1"/>
            </p:cNvSpPr>
            <p:nvPr/>
          </p:nvSpPr>
          <p:spPr bwMode="auto">
            <a:xfrm>
              <a:off x="5778629" y="4244037"/>
              <a:ext cx="998991"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Timing Error!</a:t>
              </a:r>
              <a:endParaRPr lang="en-US" altLang="en-US"/>
            </a:p>
          </p:txBody>
        </p:sp>
        <p:grpSp>
          <p:nvGrpSpPr>
            <p:cNvPr id="29723" name="Группа 81">
              <a:extLst>
                <a:ext uri="{FF2B5EF4-FFF2-40B4-BE49-F238E27FC236}">
                  <a16:creationId xmlns:a16="http://schemas.microsoft.com/office/drawing/2014/main" id="{83742445-63DD-4A04-B666-3B7A137F607B}"/>
                </a:ext>
              </a:extLst>
            </p:cNvPr>
            <p:cNvGrpSpPr>
              <a:grpSpLocks/>
            </p:cNvGrpSpPr>
            <p:nvPr/>
          </p:nvGrpSpPr>
          <p:grpSpPr bwMode="auto">
            <a:xfrm>
              <a:off x="3429000" y="2870592"/>
              <a:ext cx="742964" cy="388635"/>
              <a:chOff x="3429000" y="2870592"/>
              <a:chExt cx="742964" cy="388635"/>
            </a:xfrm>
          </p:grpSpPr>
          <p:cxnSp>
            <p:nvCxnSpPr>
              <p:cNvPr id="43" name="Straight Connector 42">
                <a:extLst>
                  <a:ext uri="{FF2B5EF4-FFF2-40B4-BE49-F238E27FC236}">
                    <a16:creationId xmlns:a16="http://schemas.microsoft.com/office/drawing/2014/main" id="{35C55EB7-00FA-43F4-8DE0-E68F7F77D775}"/>
                  </a:ext>
                </a:extLst>
              </p:cNvPr>
              <p:cNvCxnSpPr/>
              <p:nvPr/>
            </p:nvCxnSpPr>
            <p:spPr bwMode="auto">
              <a:xfrm>
                <a:off x="3481520" y="3197630"/>
                <a:ext cx="158772" cy="1588"/>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CC15F1E0-753D-4055-A6CA-CD098EA44470}"/>
                  </a:ext>
                </a:extLst>
              </p:cNvPr>
              <p:cNvCxnSpPr/>
              <p:nvPr/>
            </p:nvCxnSpPr>
            <p:spPr bwMode="auto">
              <a:xfrm rot="5400000" flipH="1" flipV="1">
                <a:off x="3607753" y="3060300"/>
                <a:ext cx="169869" cy="104789"/>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EEE011B-7409-40EF-9FCE-DFE3DE819310}"/>
                  </a:ext>
                </a:extLst>
              </p:cNvPr>
              <p:cNvCxnSpPr/>
              <p:nvPr/>
            </p:nvCxnSpPr>
            <p:spPr bwMode="auto">
              <a:xfrm>
                <a:off x="3745081" y="3027761"/>
                <a:ext cx="158772" cy="1587"/>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9743" name="TextBox 45">
                <a:extLst>
                  <a:ext uri="{FF2B5EF4-FFF2-40B4-BE49-F238E27FC236}">
                    <a16:creationId xmlns:a16="http://schemas.microsoft.com/office/drawing/2014/main" id="{0A692D2B-36B9-46AA-9CA8-2B7083B9FA75}"/>
                  </a:ext>
                </a:extLst>
              </p:cNvPr>
              <p:cNvSpPr txBox="1">
                <a:spLocks noChangeArrowheads="1"/>
              </p:cNvSpPr>
              <p:nvPr/>
            </p:nvSpPr>
            <p:spPr bwMode="auto">
              <a:xfrm>
                <a:off x="3750054" y="2870592"/>
                <a:ext cx="4219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1.2V</a:t>
                </a:r>
              </a:p>
            </p:txBody>
          </p:sp>
          <p:sp>
            <p:nvSpPr>
              <p:cNvPr id="29744" name="TextBox 46">
                <a:extLst>
                  <a:ext uri="{FF2B5EF4-FFF2-40B4-BE49-F238E27FC236}">
                    <a16:creationId xmlns:a16="http://schemas.microsoft.com/office/drawing/2014/main" id="{5A80D3E0-98B2-4ECB-8DEA-4E345CC3A36C}"/>
                  </a:ext>
                </a:extLst>
              </p:cNvPr>
              <p:cNvSpPr txBox="1">
                <a:spLocks noChangeArrowheads="1"/>
              </p:cNvSpPr>
              <p:nvPr/>
            </p:nvSpPr>
            <p:spPr bwMode="auto">
              <a:xfrm>
                <a:off x="3429000" y="3028395"/>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grpSp>
          <p:nvGrpSpPr>
            <p:cNvPr id="29724" name="Группа 82">
              <a:extLst>
                <a:ext uri="{FF2B5EF4-FFF2-40B4-BE49-F238E27FC236}">
                  <a16:creationId xmlns:a16="http://schemas.microsoft.com/office/drawing/2014/main" id="{13BFA47B-1C96-47D2-8D29-861B1D857820}"/>
                </a:ext>
              </a:extLst>
            </p:cNvPr>
            <p:cNvGrpSpPr>
              <a:grpSpLocks/>
            </p:cNvGrpSpPr>
            <p:nvPr/>
          </p:nvGrpSpPr>
          <p:grpSpPr bwMode="auto">
            <a:xfrm>
              <a:off x="2928926" y="3643314"/>
              <a:ext cx="605976" cy="373708"/>
              <a:chOff x="2928926" y="3643314"/>
              <a:chExt cx="605976" cy="373708"/>
            </a:xfrm>
          </p:grpSpPr>
          <p:cxnSp>
            <p:nvCxnSpPr>
              <p:cNvPr id="38" name="Straight Connector 37">
                <a:extLst>
                  <a:ext uri="{FF2B5EF4-FFF2-40B4-BE49-F238E27FC236}">
                    <a16:creationId xmlns:a16="http://schemas.microsoft.com/office/drawing/2014/main" id="{6FD63316-C65D-40FD-838F-D12C6283D24D}"/>
                  </a:ext>
                </a:extLst>
              </p:cNvPr>
              <p:cNvCxnSpPr/>
              <p:nvPr/>
            </p:nvCxnSpPr>
            <p:spPr bwMode="auto">
              <a:xfrm>
                <a:off x="3279880" y="3997759"/>
                <a:ext cx="158772" cy="1588"/>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3F9A20F-397E-4BCF-9F17-1CC644A2D460}"/>
                  </a:ext>
                </a:extLst>
              </p:cNvPr>
              <p:cNvCxnSpPr/>
              <p:nvPr/>
            </p:nvCxnSpPr>
            <p:spPr bwMode="auto">
              <a:xfrm rot="16200000" flipV="1">
                <a:off x="3179067" y="3893771"/>
                <a:ext cx="142880" cy="71447"/>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89ADE7A3-8F30-4ECA-BE2E-7F9F6F3B393C}"/>
                  </a:ext>
                </a:extLst>
              </p:cNvPr>
              <p:cNvCxnSpPr/>
              <p:nvPr/>
            </p:nvCxnSpPr>
            <p:spPr bwMode="auto">
              <a:xfrm>
                <a:off x="3056012" y="3856467"/>
                <a:ext cx="158772" cy="1587"/>
              </a:xfrm>
              <a:prstGeom prst="line">
                <a:avLst/>
              </a:prstGeom>
              <a:ln>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9738" name="TextBox 40">
                <a:extLst>
                  <a:ext uri="{FF2B5EF4-FFF2-40B4-BE49-F238E27FC236}">
                    <a16:creationId xmlns:a16="http://schemas.microsoft.com/office/drawing/2014/main" id="{3B453123-175D-4404-8E22-49ACB28E423E}"/>
                  </a:ext>
                </a:extLst>
              </p:cNvPr>
              <p:cNvSpPr txBox="1">
                <a:spLocks noChangeArrowheads="1"/>
              </p:cNvSpPr>
              <p:nvPr/>
            </p:nvSpPr>
            <p:spPr bwMode="auto">
              <a:xfrm>
                <a:off x="2928926" y="3643314"/>
                <a:ext cx="4219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1.2V</a:t>
                </a:r>
              </a:p>
            </p:txBody>
          </p:sp>
          <p:sp>
            <p:nvSpPr>
              <p:cNvPr id="29739" name="TextBox 41">
                <a:extLst>
                  <a:ext uri="{FF2B5EF4-FFF2-40B4-BE49-F238E27FC236}">
                    <a16:creationId xmlns:a16="http://schemas.microsoft.com/office/drawing/2014/main" id="{0198FA8A-5762-4748-897D-CDC02FD23549}"/>
                  </a:ext>
                </a:extLst>
              </p:cNvPr>
              <p:cNvSpPr txBox="1">
                <a:spLocks noChangeArrowheads="1"/>
              </p:cNvSpPr>
              <p:nvPr/>
            </p:nvSpPr>
            <p:spPr bwMode="auto">
              <a:xfrm>
                <a:off x="3286116" y="3786190"/>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grpSp>
          <p:nvGrpSpPr>
            <p:cNvPr id="29725" name="Группа 83">
              <a:extLst>
                <a:ext uri="{FF2B5EF4-FFF2-40B4-BE49-F238E27FC236}">
                  <a16:creationId xmlns:a16="http://schemas.microsoft.com/office/drawing/2014/main" id="{6AA9207C-664D-49D8-A493-2E376441A809}"/>
                </a:ext>
              </a:extLst>
            </p:cNvPr>
            <p:cNvGrpSpPr>
              <a:grpSpLocks/>
            </p:cNvGrpSpPr>
            <p:nvPr/>
          </p:nvGrpSpPr>
          <p:grpSpPr bwMode="auto">
            <a:xfrm>
              <a:off x="5181600" y="3099132"/>
              <a:ext cx="1493520" cy="650005"/>
              <a:chOff x="5181600" y="3099132"/>
              <a:chExt cx="1493520" cy="650005"/>
            </a:xfrm>
          </p:grpSpPr>
          <p:sp>
            <p:nvSpPr>
              <p:cNvPr id="33" name="Freeform 32">
                <a:extLst>
                  <a:ext uri="{FF2B5EF4-FFF2-40B4-BE49-F238E27FC236}">
                    <a16:creationId xmlns:a16="http://schemas.microsoft.com/office/drawing/2014/main" id="{7373D233-AC3F-4595-9A4A-1C3F5742F853}"/>
                  </a:ext>
                </a:extLst>
              </p:cNvPr>
              <p:cNvSpPr/>
              <p:nvPr/>
            </p:nvSpPr>
            <p:spPr bwMode="auto">
              <a:xfrm>
                <a:off x="5181964" y="3099201"/>
                <a:ext cx="1492454" cy="619149"/>
              </a:xfrm>
              <a:custGeom>
                <a:avLst/>
                <a:gdLst>
                  <a:gd name="connsiteX0" fmla="*/ 0 w 1493520"/>
                  <a:gd name="connsiteY0" fmla="*/ 10160 h 619760"/>
                  <a:gd name="connsiteX1" fmla="*/ 236220 w 1493520"/>
                  <a:gd name="connsiteY1" fmla="*/ 10160 h 619760"/>
                  <a:gd name="connsiteX2" fmla="*/ 487680 w 1493520"/>
                  <a:gd name="connsiteY2" fmla="*/ 10160 h 619760"/>
                  <a:gd name="connsiteX3" fmla="*/ 670560 w 1493520"/>
                  <a:gd name="connsiteY3" fmla="*/ 71120 h 619760"/>
                  <a:gd name="connsiteX4" fmla="*/ 853440 w 1493520"/>
                  <a:gd name="connsiteY4" fmla="*/ 208280 h 619760"/>
                  <a:gd name="connsiteX5" fmla="*/ 1059180 w 1493520"/>
                  <a:gd name="connsiteY5" fmla="*/ 414020 h 619760"/>
                  <a:gd name="connsiteX6" fmla="*/ 1211580 w 1493520"/>
                  <a:gd name="connsiteY6" fmla="*/ 543560 h 619760"/>
                  <a:gd name="connsiteX7" fmla="*/ 1356360 w 1493520"/>
                  <a:gd name="connsiteY7" fmla="*/ 604520 h 619760"/>
                  <a:gd name="connsiteX8" fmla="*/ 1493520 w 1493520"/>
                  <a:gd name="connsiteY8" fmla="*/ 619760 h 61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3520" h="619760">
                    <a:moveTo>
                      <a:pt x="0" y="10160"/>
                    </a:moveTo>
                    <a:lnTo>
                      <a:pt x="236220" y="10160"/>
                    </a:lnTo>
                    <a:cubicBezTo>
                      <a:pt x="317500" y="10160"/>
                      <a:pt x="415290" y="0"/>
                      <a:pt x="487680" y="10160"/>
                    </a:cubicBezTo>
                    <a:cubicBezTo>
                      <a:pt x="560070" y="20320"/>
                      <a:pt x="609600" y="38100"/>
                      <a:pt x="670560" y="71120"/>
                    </a:cubicBezTo>
                    <a:cubicBezTo>
                      <a:pt x="731520" y="104140"/>
                      <a:pt x="788670" y="151130"/>
                      <a:pt x="853440" y="208280"/>
                    </a:cubicBezTo>
                    <a:cubicBezTo>
                      <a:pt x="918210" y="265430"/>
                      <a:pt x="999490" y="358140"/>
                      <a:pt x="1059180" y="414020"/>
                    </a:cubicBezTo>
                    <a:cubicBezTo>
                      <a:pt x="1118870" y="469900"/>
                      <a:pt x="1162050" y="511810"/>
                      <a:pt x="1211580" y="543560"/>
                    </a:cubicBezTo>
                    <a:cubicBezTo>
                      <a:pt x="1261110" y="575310"/>
                      <a:pt x="1309370" y="591820"/>
                      <a:pt x="1356360" y="604520"/>
                    </a:cubicBezTo>
                    <a:cubicBezTo>
                      <a:pt x="1403350" y="617220"/>
                      <a:pt x="1448435" y="618490"/>
                      <a:pt x="1493520" y="61976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29731" name="Straight Connector 33">
                <a:extLst>
                  <a:ext uri="{FF2B5EF4-FFF2-40B4-BE49-F238E27FC236}">
                    <a16:creationId xmlns:a16="http://schemas.microsoft.com/office/drawing/2014/main" id="{FA524C08-0602-441C-A4D5-7223D37504B3}"/>
                  </a:ext>
                </a:extLst>
              </p:cNvPr>
              <p:cNvCxnSpPr>
                <a:cxnSpLocks noChangeShapeType="1"/>
                <a:endCxn id="33" idx="2"/>
              </p:cNvCxnSpPr>
              <p:nvPr/>
            </p:nvCxnSpPr>
            <p:spPr bwMode="auto">
              <a:xfrm>
                <a:off x="5181600" y="3101672"/>
                <a:ext cx="487680" cy="762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9732" name="Straight Connector 34">
                <a:extLst>
                  <a:ext uri="{FF2B5EF4-FFF2-40B4-BE49-F238E27FC236}">
                    <a16:creationId xmlns:a16="http://schemas.microsoft.com/office/drawing/2014/main" id="{0CAD2F32-CA51-49D1-826F-A513485AF581}"/>
                  </a:ext>
                </a:extLst>
              </p:cNvPr>
              <p:cNvCxnSpPr>
                <a:cxnSpLocks noChangeShapeType="1"/>
              </p:cNvCxnSpPr>
              <p:nvPr/>
            </p:nvCxnSpPr>
            <p:spPr bwMode="auto">
              <a:xfrm rot="-540000">
                <a:off x="5657020" y="3109057"/>
                <a:ext cx="198120" cy="64008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9733" name="Straight Connector 35">
                <a:extLst>
                  <a:ext uri="{FF2B5EF4-FFF2-40B4-BE49-F238E27FC236}">
                    <a16:creationId xmlns:a16="http://schemas.microsoft.com/office/drawing/2014/main" id="{411FC53B-FBBE-4DCB-8A71-7C2DC0F70964}"/>
                  </a:ext>
                </a:extLst>
              </p:cNvPr>
              <p:cNvCxnSpPr>
                <a:cxnSpLocks noChangeShapeType="1"/>
              </p:cNvCxnSpPr>
              <p:nvPr/>
            </p:nvCxnSpPr>
            <p:spPr bwMode="auto">
              <a:xfrm>
                <a:off x="5897880" y="3734132"/>
                <a:ext cx="6858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29734" name="Straight Arrow Connector 36">
                <a:extLst>
                  <a:ext uri="{FF2B5EF4-FFF2-40B4-BE49-F238E27FC236}">
                    <a16:creationId xmlns:a16="http://schemas.microsoft.com/office/drawing/2014/main" id="{DE2A6DDC-3ACB-49EF-8AC5-F505992E0550}"/>
                  </a:ext>
                </a:extLst>
              </p:cNvPr>
              <p:cNvCxnSpPr>
                <a:cxnSpLocks noChangeShapeType="1"/>
              </p:cNvCxnSpPr>
              <p:nvPr/>
            </p:nvCxnSpPr>
            <p:spPr bwMode="auto">
              <a:xfrm>
                <a:off x="5821680" y="3558872"/>
                <a:ext cx="457200" cy="1588"/>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29726" name="TextBox 28">
              <a:extLst>
                <a:ext uri="{FF2B5EF4-FFF2-40B4-BE49-F238E27FC236}">
                  <a16:creationId xmlns:a16="http://schemas.microsoft.com/office/drawing/2014/main" id="{59E877B2-2737-4254-B49F-9F16BCE974B1}"/>
                </a:ext>
              </a:extLst>
            </p:cNvPr>
            <p:cNvSpPr txBox="1">
              <a:spLocks noChangeArrowheads="1"/>
            </p:cNvSpPr>
            <p:nvPr/>
          </p:nvSpPr>
          <p:spPr bwMode="auto">
            <a:xfrm>
              <a:off x="5791200" y="3708732"/>
              <a:ext cx="973343"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Crosstalk delay</a:t>
              </a:r>
            </a:p>
          </p:txBody>
        </p:sp>
        <p:cxnSp>
          <p:nvCxnSpPr>
            <p:cNvPr id="29727" name="Straight Arrow Connector 29">
              <a:extLst>
                <a:ext uri="{FF2B5EF4-FFF2-40B4-BE49-F238E27FC236}">
                  <a16:creationId xmlns:a16="http://schemas.microsoft.com/office/drawing/2014/main" id="{885425C4-948E-41BC-B89B-5B2C2E2813A5}"/>
                </a:ext>
              </a:extLst>
            </p:cNvPr>
            <p:cNvCxnSpPr>
              <a:cxnSpLocks noChangeShapeType="1"/>
            </p:cNvCxnSpPr>
            <p:nvPr/>
          </p:nvCxnSpPr>
          <p:spPr bwMode="auto">
            <a:xfrm rot="5400000">
              <a:off x="5067300" y="3594432"/>
              <a:ext cx="609600" cy="381000"/>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29728" name="Freeform 30">
              <a:extLst>
                <a:ext uri="{FF2B5EF4-FFF2-40B4-BE49-F238E27FC236}">
                  <a16:creationId xmlns:a16="http://schemas.microsoft.com/office/drawing/2014/main" id="{9E479D25-9579-4035-8E65-20ED5FA72B26}"/>
                </a:ext>
              </a:extLst>
            </p:cNvPr>
            <p:cNvSpPr>
              <a:spLocks/>
            </p:cNvSpPr>
            <p:nvPr/>
          </p:nvSpPr>
          <p:spPr bwMode="auto">
            <a:xfrm>
              <a:off x="3886200" y="3152472"/>
              <a:ext cx="1226820" cy="807720"/>
            </a:xfrm>
            <a:custGeom>
              <a:avLst/>
              <a:gdLst>
                <a:gd name="T0" fmla="*/ 0 w 1226820"/>
                <a:gd name="T1" fmla="*/ 0 h 807720"/>
                <a:gd name="T2" fmla="*/ 571500 w 1226820"/>
                <a:gd name="T3" fmla="*/ 91440 h 807720"/>
                <a:gd name="T4" fmla="*/ 624840 w 1226820"/>
                <a:gd name="T5" fmla="*/ 228600 h 807720"/>
                <a:gd name="T6" fmla="*/ 647700 w 1226820"/>
                <a:gd name="T7" fmla="*/ 533400 h 807720"/>
                <a:gd name="T8" fmla="*/ 708660 w 1226820"/>
                <a:gd name="T9" fmla="*/ 723900 h 807720"/>
                <a:gd name="T10" fmla="*/ 899160 w 1226820"/>
                <a:gd name="T11" fmla="*/ 784860 h 807720"/>
                <a:gd name="T12" fmla="*/ 1226820 w 1226820"/>
                <a:gd name="T13" fmla="*/ 807720 h 8077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6820" h="807720">
                  <a:moveTo>
                    <a:pt x="0" y="0"/>
                  </a:moveTo>
                  <a:cubicBezTo>
                    <a:pt x="43180" y="26670"/>
                    <a:pt x="467360" y="53340"/>
                    <a:pt x="571500" y="91440"/>
                  </a:cubicBezTo>
                  <a:cubicBezTo>
                    <a:pt x="675640" y="129540"/>
                    <a:pt x="612140" y="154940"/>
                    <a:pt x="624840" y="228600"/>
                  </a:cubicBezTo>
                  <a:cubicBezTo>
                    <a:pt x="637540" y="302260"/>
                    <a:pt x="633730" y="450850"/>
                    <a:pt x="647700" y="533400"/>
                  </a:cubicBezTo>
                  <a:cubicBezTo>
                    <a:pt x="661670" y="615950"/>
                    <a:pt x="666750" y="681990"/>
                    <a:pt x="708660" y="723900"/>
                  </a:cubicBezTo>
                  <a:cubicBezTo>
                    <a:pt x="750570" y="765810"/>
                    <a:pt x="812800" y="770890"/>
                    <a:pt x="899160" y="784860"/>
                  </a:cubicBezTo>
                  <a:cubicBezTo>
                    <a:pt x="985520" y="798830"/>
                    <a:pt x="1106170" y="803275"/>
                    <a:pt x="1226820" y="80772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29729" name="Freeform 31">
              <a:extLst>
                <a:ext uri="{FF2B5EF4-FFF2-40B4-BE49-F238E27FC236}">
                  <a16:creationId xmlns:a16="http://schemas.microsoft.com/office/drawing/2014/main" id="{091C5B43-CA3D-4B10-9D67-C301C7955700}"/>
                </a:ext>
              </a:extLst>
            </p:cNvPr>
            <p:cNvSpPr>
              <a:spLocks/>
            </p:cNvSpPr>
            <p:nvPr/>
          </p:nvSpPr>
          <p:spPr bwMode="auto">
            <a:xfrm>
              <a:off x="3886200" y="4013532"/>
              <a:ext cx="1234440" cy="195580"/>
            </a:xfrm>
            <a:custGeom>
              <a:avLst/>
              <a:gdLst>
                <a:gd name="T0" fmla="*/ 0 w 1234440"/>
                <a:gd name="T1" fmla="*/ 83820 h 195580"/>
                <a:gd name="T2" fmla="*/ 121920 w 1234440"/>
                <a:gd name="T3" fmla="*/ 60960 h 195580"/>
                <a:gd name="T4" fmla="*/ 281940 w 1234440"/>
                <a:gd name="T5" fmla="*/ 129540 h 195580"/>
                <a:gd name="T6" fmla="*/ 449580 w 1234440"/>
                <a:gd name="T7" fmla="*/ 175260 h 195580"/>
                <a:gd name="T8" fmla="*/ 754380 w 1234440"/>
                <a:gd name="T9" fmla="*/ 182880 h 195580"/>
                <a:gd name="T10" fmla="*/ 922020 w 1234440"/>
                <a:gd name="T11" fmla="*/ 99060 h 195580"/>
                <a:gd name="T12" fmla="*/ 1013460 w 1234440"/>
                <a:gd name="T13" fmla="*/ 30480 h 195580"/>
                <a:gd name="T14" fmla="*/ 1234440 w 1234440"/>
                <a:gd name="T15" fmla="*/ 0 h 1955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34440" h="195580">
                  <a:moveTo>
                    <a:pt x="0" y="83820"/>
                  </a:moveTo>
                  <a:cubicBezTo>
                    <a:pt x="37465" y="68580"/>
                    <a:pt x="74930" y="53340"/>
                    <a:pt x="121920" y="60960"/>
                  </a:cubicBezTo>
                  <a:cubicBezTo>
                    <a:pt x="168910" y="68580"/>
                    <a:pt x="227330" y="110490"/>
                    <a:pt x="281940" y="129540"/>
                  </a:cubicBezTo>
                  <a:cubicBezTo>
                    <a:pt x="336550" y="148590"/>
                    <a:pt x="370840" y="166370"/>
                    <a:pt x="449580" y="175260"/>
                  </a:cubicBezTo>
                  <a:cubicBezTo>
                    <a:pt x="528320" y="184150"/>
                    <a:pt x="675640" y="195580"/>
                    <a:pt x="754380" y="182880"/>
                  </a:cubicBezTo>
                  <a:cubicBezTo>
                    <a:pt x="833120" y="170180"/>
                    <a:pt x="878840" y="124460"/>
                    <a:pt x="922020" y="99060"/>
                  </a:cubicBezTo>
                  <a:cubicBezTo>
                    <a:pt x="965200" y="73660"/>
                    <a:pt x="961390" y="46990"/>
                    <a:pt x="1013460" y="30480"/>
                  </a:cubicBezTo>
                  <a:cubicBezTo>
                    <a:pt x="1065530" y="13970"/>
                    <a:pt x="1149985" y="6985"/>
                    <a:pt x="123444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grpSp>
        <p:nvGrpSpPr>
          <p:cNvPr id="29701" name="Группа 85">
            <a:extLst>
              <a:ext uri="{FF2B5EF4-FFF2-40B4-BE49-F238E27FC236}">
                <a16:creationId xmlns:a16="http://schemas.microsoft.com/office/drawing/2014/main" id="{8F23BDBF-20E8-4300-843D-2319F07F4735}"/>
              </a:ext>
            </a:extLst>
          </p:cNvPr>
          <p:cNvGrpSpPr>
            <a:grpSpLocks/>
          </p:cNvGrpSpPr>
          <p:nvPr/>
        </p:nvGrpSpPr>
        <p:grpSpPr bwMode="auto">
          <a:xfrm>
            <a:off x="6528455" y="3197880"/>
            <a:ext cx="1546225" cy="1050925"/>
            <a:chOff x="5214942" y="2714620"/>
            <a:chExt cx="1546134" cy="1049990"/>
          </a:xfrm>
        </p:grpSpPr>
        <p:sp>
          <p:nvSpPr>
            <p:cNvPr id="29703" name="TextBox 64">
              <a:extLst>
                <a:ext uri="{FF2B5EF4-FFF2-40B4-BE49-F238E27FC236}">
                  <a16:creationId xmlns:a16="http://schemas.microsoft.com/office/drawing/2014/main" id="{C7387622-221E-4071-AA51-C9821FAA5D06}"/>
                </a:ext>
              </a:extLst>
            </p:cNvPr>
            <p:cNvSpPr txBox="1">
              <a:spLocks noChangeArrowheads="1"/>
            </p:cNvSpPr>
            <p:nvPr/>
          </p:nvSpPr>
          <p:spPr bwMode="auto">
            <a:xfrm>
              <a:off x="5214942" y="2714620"/>
              <a:ext cx="42191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1.2V</a:t>
              </a:r>
            </a:p>
          </p:txBody>
        </p:sp>
        <p:sp>
          <p:nvSpPr>
            <p:cNvPr id="29704" name="TextBox 65">
              <a:extLst>
                <a:ext uri="{FF2B5EF4-FFF2-40B4-BE49-F238E27FC236}">
                  <a16:creationId xmlns:a16="http://schemas.microsoft.com/office/drawing/2014/main" id="{26F5CBEA-1FF5-4866-B320-3773A5002F88}"/>
                </a:ext>
              </a:extLst>
            </p:cNvPr>
            <p:cNvSpPr txBox="1">
              <a:spLocks noChangeArrowheads="1"/>
            </p:cNvSpPr>
            <p:nvPr/>
          </p:nvSpPr>
          <p:spPr bwMode="auto">
            <a:xfrm>
              <a:off x="6512290" y="3533778"/>
              <a:ext cx="248786"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0</a:t>
              </a:r>
            </a:p>
          </p:txBody>
        </p:sp>
      </p:grpSp>
      <p:sp>
        <p:nvSpPr>
          <p:cNvPr id="29702" name="Прямоугольник 67">
            <a:extLst>
              <a:ext uri="{FF2B5EF4-FFF2-40B4-BE49-F238E27FC236}">
                <a16:creationId xmlns:a16="http://schemas.microsoft.com/office/drawing/2014/main" id="{606C49BD-13B8-47D9-9660-07732F1165A4}"/>
              </a:ext>
            </a:extLst>
          </p:cNvPr>
          <p:cNvSpPr>
            <a:spLocks noChangeArrowheads="1"/>
          </p:cNvSpPr>
          <p:nvPr/>
        </p:nvSpPr>
        <p:spPr bwMode="auto">
          <a:xfrm>
            <a:off x="4732991" y="4536142"/>
            <a:ext cx="357188" cy="142875"/>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0AC545B5-EBA9-47B7-A90A-4B472931E2CE}"/>
              </a:ext>
            </a:extLst>
          </p:cNvPr>
          <p:cNvSpPr>
            <a:spLocks noGrp="1"/>
          </p:cNvSpPr>
          <p:nvPr>
            <p:ph type="title"/>
          </p:nvPr>
        </p:nvSpPr>
        <p:spPr/>
        <p:txBody>
          <a:bodyPr/>
          <a:lstStyle/>
          <a:p>
            <a:r>
              <a:rPr lang="en-US" altLang="en-US"/>
              <a:t>Negative Crosstalk</a:t>
            </a:r>
          </a:p>
        </p:txBody>
      </p:sp>
      <p:sp>
        <p:nvSpPr>
          <p:cNvPr id="30723" name="Content Placeholder 2">
            <a:extLst>
              <a:ext uri="{FF2B5EF4-FFF2-40B4-BE49-F238E27FC236}">
                <a16:creationId xmlns:a16="http://schemas.microsoft.com/office/drawing/2014/main" id="{D20F5596-8B5C-4150-B107-54222A95123D}"/>
              </a:ext>
            </a:extLst>
          </p:cNvPr>
          <p:cNvSpPr>
            <a:spLocks noGrp="1"/>
          </p:cNvSpPr>
          <p:nvPr>
            <p:ph type="body" sz="quarter" idx="10"/>
          </p:nvPr>
        </p:nvSpPr>
        <p:spPr/>
        <p:txBody>
          <a:bodyPr/>
          <a:lstStyle/>
          <a:p>
            <a:r>
              <a:rPr lang="en-US" altLang="en-US" sz="2800"/>
              <a:t>Aggressor and victim are switching in the same directions</a:t>
            </a:r>
          </a:p>
          <a:p>
            <a:pPr lvl="1"/>
            <a:r>
              <a:rPr lang="en-US" altLang="en-US"/>
              <a:t>Charge on Cc remains the same before and after transitions </a:t>
            </a:r>
          </a:p>
          <a:p>
            <a:pPr lvl="1"/>
            <a:r>
              <a:rPr lang="en-US" altLang="en-US"/>
              <a:t>Victim delay reduced</a:t>
            </a:r>
          </a:p>
        </p:txBody>
      </p:sp>
      <p:grpSp>
        <p:nvGrpSpPr>
          <p:cNvPr id="30724" name="Группа 70">
            <a:extLst>
              <a:ext uri="{FF2B5EF4-FFF2-40B4-BE49-F238E27FC236}">
                <a16:creationId xmlns:a16="http://schemas.microsoft.com/office/drawing/2014/main" id="{D985B6C9-09DC-4A5F-BB07-62A7655F40A2}"/>
              </a:ext>
            </a:extLst>
          </p:cNvPr>
          <p:cNvGrpSpPr>
            <a:grpSpLocks/>
          </p:cNvGrpSpPr>
          <p:nvPr/>
        </p:nvGrpSpPr>
        <p:grpSpPr bwMode="auto">
          <a:xfrm>
            <a:off x="3306270" y="3252511"/>
            <a:ext cx="5000338" cy="1882953"/>
            <a:chOff x="1752600" y="2056437"/>
            <a:chExt cx="5771830" cy="2174786"/>
          </a:xfrm>
        </p:grpSpPr>
        <p:sp>
          <p:nvSpPr>
            <p:cNvPr id="30725" name="Flowchart: Delay 7">
              <a:extLst>
                <a:ext uri="{FF2B5EF4-FFF2-40B4-BE49-F238E27FC236}">
                  <a16:creationId xmlns:a16="http://schemas.microsoft.com/office/drawing/2014/main" id="{A750E78E-41D3-4967-B26D-B52DD6ECC22A}"/>
                </a:ext>
              </a:extLst>
            </p:cNvPr>
            <p:cNvSpPr>
              <a:spLocks noChangeArrowheads="1"/>
            </p:cNvSpPr>
            <p:nvPr/>
          </p:nvSpPr>
          <p:spPr bwMode="auto">
            <a:xfrm>
              <a:off x="1967375" y="3492107"/>
              <a:ext cx="496642" cy="423211"/>
            </a:xfrm>
            <a:prstGeom prst="flowChartDelay">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baseline="-25000"/>
            </a:p>
          </p:txBody>
        </p:sp>
        <p:sp>
          <p:nvSpPr>
            <p:cNvPr id="30726" name="Oval 8">
              <a:extLst>
                <a:ext uri="{FF2B5EF4-FFF2-40B4-BE49-F238E27FC236}">
                  <a16:creationId xmlns:a16="http://schemas.microsoft.com/office/drawing/2014/main" id="{23FFF098-3EC3-4690-B14F-112985C7EF9E}"/>
                </a:ext>
              </a:extLst>
            </p:cNvPr>
            <p:cNvSpPr>
              <a:spLocks noChangeArrowheads="1"/>
            </p:cNvSpPr>
            <p:nvPr/>
          </p:nvSpPr>
          <p:spPr bwMode="auto">
            <a:xfrm>
              <a:off x="2464017" y="3642545"/>
              <a:ext cx="102856" cy="11462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0727" name="Straight Connector 9">
              <a:extLst>
                <a:ext uri="{FF2B5EF4-FFF2-40B4-BE49-F238E27FC236}">
                  <a16:creationId xmlns:a16="http://schemas.microsoft.com/office/drawing/2014/main" id="{2E798581-FAF6-4424-AAC0-6D548E269460}"/>
                </a:ext>
              </a:extLst>
            </p:cNvPr>
            <p:cNvCxnSpPr>
              <a:cxnSpLocks noChangeShapeType="1"/>
            </p:cNvCxnSpPr>
            <p:nvPr/>
          </p:nvCxnSpPr>
          <p:spPr bwMode="auto">
            <a:xfrm>
              <a:off x="1761172" y="3609111"/>
              <a:ext cx="205711" cy="0"/>
            </a:xfrm>
            <a:prstGeom prst="line">
              <a:avLst/>
            </a:prstGeom>
            <a:noFill/>
            <a:ln w="9525" algn="ctr">
              <a:solidFill>
                <a:schemeClr val="tx1"/>
              </a:solidFill>
              <a:round/>
              <a:headEnd/>
              <a:tailEnd/>
            </a:ln>
          </p:spPr>
        </p:cxnSp>
        <p:cxnSp>
          <p:nvCxnSpPr>
            <p:cNvPr id="30728" name="Straight Connector 10">
              <a:extLst>
                <a:ext uri="{FF2B5EF4-FFF2-40B4-BE49-F238E27FC236}">
                  <a16:creationId xmlns:a16="http://schemas.microsoft.com/office/drawing/2014/main" id="{AE982BD2-C766-47EF-8D15-AC24C10AF1D1}"/>
                </a:ext>
              </a:extLst>
            </p:cNvPr>
            <p:cNvCxnSpPr>
              <a:cxnSpLocks noChangeShapeType="1"/>
            </p:cNvCxnSpPr>
            <p:nvPr/>
          </p:nvCxnSpPr>
          <p:spPr bwMode="auto">
            <a:xfrm>
              <a:off x="1752600" y="3797755"/>
              <a:ext cx="205711" cy="0"/>
            </a:xfrm>
            <a:prstGeom prst="line">
              <a:avLst/>
            </a:prstGeom>
            <a:noFill/>
            <a:ln w="9525" algn="ctr">
              <a:solidFill>
                <a:schemeClr val="tx1"/>
              </a:solidFill>
              <a:round/>
              <a:headEnd/>
              <a:tailEnd/>
            </a:ln>
          </p:spPr>
        </p:cxnSp>
        <p:sp>
          <p:nvSpPr>
            <p:cNvPr id="30729" name="Isosceles Triangle 11">
              <a:extLst>
                <a:ext uri="{FF2B5EF4-FFF2-40B4-BE49-F238E27FC236}">
                  <a16:creationId xmlns:a16="http://schemas.microsoft.com/office/drawing/2014/main" id="{2FF02D62-99EA-4B77-AE26-3F594A731C5A}"/>
                </a:ext>
              </a:extLst>
            </p:cNvPr>
            <p:cNvSpPr>
              <a:spLocks noChangeArrowheads="1"/>
            </p:cNvSpPr>
            <p:nvPr/>
          </p:nvSpPr>
          <p:spPr bwMode="auto">
            <a:xfrm rot="5400000">
              <a:off x="2505433" y="2438835"/>
              <a:ext cx="386038" cy="340211"/>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0730" name="Oval 12">
              <a:extLst>
                <a:ext uri="{FF2B5EF4-FFF2-40B4-BE49-F238E27FC236}">
                  <a16:creationId xmlns:a16="http://schemas.microsoft.com/office/drawing/2014/main" id="{C2926718-1161-4980-ACD0-72B00628951E}"/>
                </a:ext>
              </a:extLst>
            </p:cNvPr>
            <p:cNvSpPr>
              <a:spLocks noChangeArrowheads="1"/>
            </p:cNvSpPr>
            <p:nvPr/>
          </p:nvSpPr>
          <p:spPr bwMode="auto">
            <a:xfrm>
              <a:off x="2867528" y="2560691"/>
              <a:ext cx="85053" cy="96510"/>
            </a:xfrm>
            <a:prstGeom prst="ellipse">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0731" name="Straight Connector 13">
              <a:extLst>
                <a:ext uri="{FF2B5EF4-FFF2-40B4-BE49-F238E27FC236}">
                  <a16:creationId xmlns:a16="http://schemas.microsoft.com/office/drawing/2014/main" id="{938B374E-A2D1-4827-82EE-9FC5441127D8}"/>
                </a:ext>
              </a:extLst>
            </p:cNvPr>
            <p:cNvCxnSpPr>
              <a:cxnSpLocks noChangeShapeType="1"/>
            </p:cNvCxnSpPr>
            <p:nvPr/>
          </p:nvCxnSpPr>
          <p:spPr bwMode="auto">
            <a:xfrm>
              <a:off x="2348304" y="2599388"/>
              <a:ext cx="176145" cy="0"/>
            </a:xfrm>
            <a:prstGeom prst="line">
              <a:avLst/>
            </a:prstGeom>
            <a:noFill/>
            <a:ln w="9525" algn="ctr">
              <a:solidFill>
                <a:schemeClr val="tx1"/>
              </a:solidFill>
              <a:round/>
              <a:headEnd/>
              <a:tailEnd/>
            </a:ln>
          </p:spPr>
        </p:cxnSp>
        <p:cxnSp>
          <p:nvCxnSpPr>
            <p:cNvPr id="30732" name="Straight Connector 14">
              <a:extLst>
                <a:ext uri="{FF2B5EF4-FFF2-40B4-BE49-F238E27FC236}">
                  <a16:creationId xmlns:a16="http://schemas.microsoft.com/office/drawing/2014/main" id="{BEFE1B78-4C72-4D66-BB2A-F622D78F38A1}"/>
                </a:ext>
              </a:extLst>
            </p:cNvPr>
            <p:cNvCxnSpPr>
              <a:cxnSpLocks noChangeShapeType="1"/>
            </p:cNvCxnSpPr>
            <p:nvPr/>
          </p:nvCxnSpPr>
          <p:spPr bwMode="auto">
            <a:xfrm>
              <a:off x="2952580" y="2606438"/>
              <a:ext cx="1782829" cy="0"/>
            </a:xfrm>
            <a:prstGeom prst="line">
              <a:avLst/>
            </a:prstGeom>
            <a:noFill/>
            <a:ln w="9525" algn="ctr">
              <a:solidFill>
                <a:schemeClr val="tx1"/>
              </a:solidFill>
              <a:round/>
              <a:headEnd/>
              <a:tailEnd/>
            </a:ln>
          </p:spPr>
        </p:cxnSp>
        <p:grpSp>
          <p:nvGrpSpPr>
            <p:cNvPr id="30733" name="Group 411">
              <a:extLst>
                <a:ext uri="{FF2B5EF4-FFF2-40B4-BE49-F238E27FC236}">
                  <a16:creationId xmlns:a16="http://schemas.microsoft.com/office/drawing/2014/main" id="{ECD0D804-35B2-42ED-8B0B-14886B6D3CEB}"/>
                </a:ext>
              </a:extLst>
            </p:cNvPr>
            <p:cNvGrpSpPr>
              <a:grpSpLocks/>
            </p:cNvGrpSpPr>
            <p:nvPr/>
          </p:nvGrpSpPr>
          <p:grpSpPr bwMode="auto">
            <a:xfrm>
              <a:off x="3875421" y="2607121"/>
              <a:ext cx="405710" cy="1105972"/>
              <a:chOff x="2825748" y="4489598"/>
              <a:chExt cx="152400" cy="308770"/>
            </a:xfrm>
          </p:grpSpPr>
          <p:cxnSp>
            <p:nvCxnSpPr>
              <p:cNvPr id="30770" name="Straight Connector 63">
                <a:extLst>
                  <a:ext uri="{FF2B5EF4-FFF2-40B4-BE49-F238E27FC236}">
                    <a16:creationId xmlns:a16="http://schemas.microsoft.com/office/drawing/2014/main" id="{A605FD57-74DC-4AA0-BEAE-EF50885D2CC8}"/>
                  </a:ext>
                </a:extLst>
              </p:cNvPr>
              <p:cNvCxnSpPr>
                <a:cxnSpLocks noChangeShapeType="1"/>
              </p:cNvCxnSpPr>
              <p:nvPr/>
            </p:nvCxnSpPr>
            <p:spPr bwMode="auto">
              <a:xfrm>
                <a:off x="2825748" y="4610250"/>
                <a:ext cx="152400" cy="0"/>
              </a:xfrm>
              <a:prstGeom prst="line">
                <a:avLst/>
              </a:prstGeom>
              <a:noFill/>
              <a:ln w="9525" algn="ctr">
                <a:solidFill>
                  <a:schemeClr val="tx1"/>
                </a:solidFill>
                <a:round/>
                <a:headEnd/>
                <a:tailEnd/>
              </a:ln>
            </p:spPr>
          </p:cxnSp>
          <p:cxnSp>
            <p:nvCxnSpPr>
              <p:cNvPr id="30771" name="Straight Connector 64">
                <a:extLst>
                  <a:ext uri="{FF2B5EF4-FFF2-40B4-BE49-F238E27FC236}">
                    <a16:creationId xmlns:a16="http://schemas.microsoft.com/office/drawing/2014/main" id="{F9CD83F4-E199-44B2-82BC-F0EF5BFC952C}"/>
                  </a:ext>
                </a:extLst>
              </p:cNvPr>
              <p:cNvCxnSpPr>
                <a:cxnSpLocks noChangeShapeType="1"/>
              </p:cNvCxnSpPr>
              <p:nvPr/>
            </p:nvCxnSpPr>
            <p:spPr bwMode="auto">
              <a:xfrm>
                <a:off x="2825748" y="4648350"/>
                <a:ext cx="152400" cy="0"/>
              </a:xfrm>
              <a:prstGeom prst="line">
                <a:avLst/>
              </a:prstGeom>
              <a:noFill/>
              <a:ln w="9525" algn="ctr">
                <a:solidFill>
                  <a:schemeClr val="tx1"/>
                </a:solidFill>
                <a:round/>
                <a:headEnd/>
                <a:tailEnd/>
              </a:ln>
            </p:spPr>
          </p:cxnSp>
          <p:cxnSp>
            <p:nvCxnSpPr>
              <p:cNvPr id="30772" name="Straight Connector 65">
                <a:extLst>
                  <a:ext uri="{FF2B5EF4-FFF2-40B4-BE49-F238E27FC236}">
                    <a16:creationId xmlns:a16="http://schemas.microsoft.com/office/drawing/2014/main" id="{576E8843-55C2-4B62-963D-0689AA23B37F}"/>
                  </a:ext>
                </a:extLst>
              </p:cNvPr>
              <p:cNvCxnSpPr>
                <a:cxnSpLocks noChangeShapeType="1"/>
              </p:cNvCxnSpPr>
              <p:nvPr/>
            </p:nvCxnSpPr>
            <p:spPr bwMode="auto">
              <a:xfrm rot="5400000">
                <a:off x="2825748" y="4722167"/>
                <a:ext cx="152402" cy="0"/>
              </a:xfrm>
              <a:prstGeom prst="line">
                <a:avLst/>
              </a:prstGeom>
              <a:noFill/>
              <a:ln w="9525" algn="ctr">
                <a:solidFill>
                  <a:schemeClr val="tx1"/>
                </a:solidFill>
                <a:round/>
                <a:headEnd/>
                <a:tailEnd/>
              </a:ln>
            </p:spPr>
          </p:cxnSp>
          <p:cxnSp>
            <p:nvCxnSpPr>
              <p:cNvPr id="30773" name="Straight Connector 66">
                <a:extLst>
                  <a:ext uri="{FF2B5EF4-FFF2-40B4-BE49-F238E27FC236}">
                    <a16:creationId xmlns:a16="http://schemas.microsoft.com/office/drawing/2014/main" id="{3379636B-9E59-413D-8672-63252792D0AC}"/>
                  </a:ext>
                </a:extLst>
              </p:cNvPr>
              <p:cNvCxnSpPr>
                <a:cxnSpLocks noChangeShapeType="1"/>
              </p:cNvCxnSpPr>
              <p:nvPr/>
            </p:nvCxnSpPr>
            <p:spPr bwMode="auto">
              <a:xfrm rot="5400000">
                <a:off x="2842224" y="4549635"/>
                <a:ext cx="120556" cy="482"/>
              </a:xfrm>
              <a:prstGeom prst="line">
                <a:avLst/>
              </a:prstGeom>
              <a:noFill/>
              <a:ln w="9525" algn="ctr">
                <a:solidFill>
                  <a:schemeClr val="tx1"/>
                </a:solidFill>
                <a:round/>
                <a:headEnd/>
                <a:tailEnd/>
              </a:ln>
            </p:spPr>
          </p:cxnSp>
        </p:grpSp>
        <p:grpSp>
          <p:nvGrpSpPr>
            <p:cNvPr id="30734" name="Group 113">
              <a:extLst>
                <a:ext uri="{FF2B5EF4-FFF2-40B4-BE49-F238E27FC236}">
                  <a16:creationId xmlns:a16="http://schemas.microsoft.com/office/drawing/2014/main" id="{08378A40-6F6B-42DE-B88F-3D879F4764AF}"/>
                </a:ext>
              </a:extLst>
            </p:cNvPr>
            <p:cNvGrpSpPr>
              <a:grpSpLocks/>
            </p:cNvGrpSpPr>
            <p:nvPr/>
          </p:nvGrpSpPr>
          <p:grpSpPr bwMode="auto">
            <a:xfrm>
              <a:off x="3019414" y="3864724"/>
              <a:ext cx="319999" cy="195814"/>
              <a:chOff x="1092198" y="4057650"/>
              <a:chExt cx="450852" cy="194099"/>
            </a:xfrm>
          </p:grpSpPr>
          <p:cxnSp>
            <p:nvCxnSpPr>
              <p:cNvPr id="30768" name="Straight Connector 53">
                <a:extLst>
                  <a:ext uri="{FF2B5EF4-FFF2-40B4-BE49-F238E27FC236}">
                    <a16:creationId xmlns:a16="http://schemas.microsoft.com/office/drawing/2014/main" id="{B8B738CD-AF57-4DF8-9323-AA7A3987D5FD}"/>
                  </a:ext>
                </a:extLst>
              </p:cNvPr>
              <p:cNvCxnSpPr>
                <a:cxnSpLocks noChangeShapeType="1"/>
              </p:cNvCxnSpPr>
              <p:nvPr/>
            </p:nvCxnSpPr>
            <p:spPr bwMode="auto">
              <a:xfrm>
                <a:off x="1092198" y="4066401"/>
                <a:ext cx="450852" cy="0"/>
              </a:xfrm>
              <a:prstGeom prst="line">
                <a:avLst/>
              </a:prstGeom>
              <a:noFill/>
              <a:ln w="9525" algn="ctr">
                <a:solidFill>
                  <a:schemeClr val="tx1"/>
                </a:solidFill>
                <a:round/>
                <a:headEnd/>
                <a:tailEnd/>
              </a:ln>
            </p:spPr>
          </p:cxnSp>
          <p:cxnSp>
            <p:nvCxnSpPr>
              <p:cNvPr id="30769" name="Straight Connector 54">
                <a:extLst>
                  <a:ext uri="{FF2B5EF4-FFF2-40B4-BE49-F238E27FC236}">
                    <a16:creationId xmlns:a16="http://schemas.microsoft.com/office/drawing/2014/main" id="{25652EC3-2CC1-484F-B125-8CFC68F08827}"/>
                  </a:ext>
                </a:extLst>
              </p:cNvPr>
              <p:cNvCxnSpPr>
                <a:cxnSpLocks noChangeShapeType="1"/>
                <a:endCxn id="30735" idx="3"/>
              </p:cNvCxnSpPr>
              <p:nvPr/>
            </p:nvCxnSpPr>
            <p:spPr bwMode="auto">
              <a:xfrm>
                <a:off x="1317629" y="4057650"/>
                <a:ext cx="2571" cy="194099"/>
              </a:xfrm>
              <a:prstGeom prst="line">
                <a:avLst/>
              </a:prstGeom>
              <a:noFill/>
              <a:ln w="9525" algn="ctr">
                <a:solidFill>
                  <a:schemeClr val="tx1"/>
                </a:solidFill>
                <a:round/>
                <a:headEnd/>
                <a:tailEnd/>
              </a:ln>
            </p:spPr>
          </p:cxnSp>
        </p:grpSp>
        <p:sp>
          <p:nvSpPr>
            <p:cNvPr id="30735" name="Isosceles Triangle 52">
              <a:extLst>
                <a:ext uri="{FF2B5EF4-FFF2-40B4-BE49-F238E27FC236}">
                  <a16:creationId xmlns:a16="http://schemas.microsoft.com/office/drawing/2014/main" id="{2E8F80C0-B653-466D-9C03-A7DD81C051A9}"/>
                </a:ext>
              </a:extLst>
            </p:cNvPr>
            <p:cNvSpPr>
              <a:spLocks noChangeArrowheads="1"/>
            </p:cNvSpPr>
            <p:nvPr/>
          </p:nvSpPr>
          <p:spPr bwMode="auto">
            <a:xfrm rot="10800000">
              <a:off x="3116958" y="4060542"/>
              <a:ext cx="128570" cy="130108"/>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0736" name="Straight Connector 17">
              <a:extLst>
                <a:ext uri="{FF2B5EF4-FFF2-40B4-BE49-F238E27FC236}">
                  <a16:creationId xmlns:a16="http://schemas.microsoft.com/office/drawing/2014/main" id="{022C3154-9567-4284-BCA5-D56ABF27537E}"/>
                </a:ext>
              </a:extLst>
            </p:cNvPr>
            <p:cNvCxnSpPr>
              <a:cxnSpLocks noChangeShapeType="1"/>
            </p:cNvCxnSpPr>
            <p:nvPr/>
          </p:nvCxnSpPr>
          <p:spPr bwMode="auto">
            <a:xfrm>
              <a:off x="2571155" y="3699660"/>
              <a:ext cx="479992" cy="0"/>
            </a:xfrm>
            <a:prstGeom prst="line">
              <a:avLst/>
            </a:prstGeom>
            <a:noFill/>
            <a:ln w="9525" algn="ctr">
              <a:solidFill>
                <a:schemeClr val="tx1"/>
              </a:solidFill>
              <a:round/>
              <a:headEnd/>
              <a:tailEnd/>
            </a:ln>
          </p:spPr>
        </p:cxnSp>
        <p:cxnSp>
          <p:nvCxnSpPr>
            <p:cNvPr id="30737" name="Straight Connector 18">
              <a:extLst>
                <a:ext uri="{FF2B5EF4-FFF2-40B4-BE49-F238E27FC236}">
                  <a16:creationId xmlns:a16="http://schemas.microsoft.com/office/drawing/2014/main" id="{A23BBDDE-B970-4859-85F6-9C8B688F63DC}"/>
                </a:ext>
              </a:extLst>
            </p:cNvPr>
            <p:cNvCxnSpPr>
              <a:cxnSpLocks noChangeShapeType="1"/>
              <a:endCxn id="30740" idx="3"/>
            </p:cNvCxnSpPr>
            <p:nvPr/>
          </p:nvCxnSpPr>
          <p:spPr bwMode="auto">
            <a:xfrm>
              <a:off x="3383284" y="3705865"/>
              <a:ext cx="2391379" cy="0"/>
            </a:xfrm>
            <a:prstGeom prst="line">
              <a:avLst/>
            </a:prstGeom>
            <a:noFill/>
            <a:ln w="9525" algn="ctr">
              <a:solidFill>
                <a:schemeClr val="tx1"/>
              </a:solidFill>
              <a:round/>
              <a:headEnd/>
              <a:tailEnd/>
            </a:ln>
          </p:spPr>
        </p:cxnSp>
        <p:sp>
          <p:nvSpPr>
            <p:cNvPr id="30738" name="TextBox 19">
              <a:extLst>
                <a:ext uri="{FF2B5EF4-FFF2-40B4-BE49-F238E27FC236}">
                  <a16:creationId xmlns:a16="http://schemas.microsoft.com/office/drawing/2014/main" id="{AF0DC16F-CE73-41A6-997E-002E2AC47205}"/>
                </a:ext>
              </a:extLst>
            </p:cNvPr>
            <p:cNvSpPr txBox="1">
              <a:spLocks noChangeArrowheads="1"/>
            </p:cNvSpPr>
            <p:nvPr/>
          </p:nvSpPr>
          <p:spPr bwMode="auto">
            <a:xfrm>
              <a:off x="3311267" y="3929067"/>
              <a:ext cx="422245" cy="302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Cg</a:t>
              </a:r>
              <a:endParaRPr lang="en-US" altLang="en-US"/>
            </a:p>
          </p:txBody>
        </p:sp>
        <p:sp>
          <p:nvSpPr>
            <p:cNvPr id="30739" name="TextBox 20">
              <a:extLst>
                <a:ext uri="{FF2B5EF4-FFF2-40B4-BE49-F238E27FC236}">
                  <a16:creationId xmlns:a16="http://schemas.microsoft.com/office/drawing/2014/main" id="{22E5213D-2A31-467F-891A-1294A9E91CBC}"/>
                </a:ext>
              </a:extLst>
            </p:cNvPr>
            <p:cNvSpPr txBox="1">
              <a:spLocks noChangeArrowheads="1"/>
            </p:cNvSpPr>
            <p:nvPr/>
          </p:nvSpPr>
          <p:spPr bwMode="auto">
            <a:xfrm>
              <a:off x="4032563" y="3157541"/>
              <a:ext cx="429647" cy="31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Cc</a:t>
              </a:r>
              <a:endParaRPr lang="en-US" altLang="en-US"/>
            </a:p>
          </p:txBody>
        </p:sp>
        <p:sp>
          <p:nvSpPr>
            <p:cNvPr id="30740" name="Moon 21">
              <a:extLst>
                <a:ext uri="{FF2B5EF4-FFF2-40B4-BE49-F238E27FC236}">
                  <a16:creationId xmlns:a16="http://schemas.microsoft.com/office/drawing/2014/main" id="{971BB320-8C1B-41E8-A865-B55ED8A876E8}"/>
                </a:ext>
              </a:extLst>
            </p:cNvPr>
            <p:cNvSpPr>
              <a:spLocks noChangeArrowheads="1"/>
            </p:cNvSpPr>
            <p:nvPr/>
          </p:nvSpPr>
          <p:spPr bwMode="auto">
            <a:xfrm rot="10800000">
              <a:off x="5712785" y="3593366"/>
              <a:ext cx="495023" cy="400905"/>
            </a:xfrm>
            <a:prstGeom prst="moon">
              <a:avLst>
                <a:gd name="adj" fmla="val 875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0741" name="Straight Connector 23">
              <a:extLst>
                <a:ext uri="{FF2B5EF4-FFF2-40B4-BE49-F238E27FC236}">
                  <a16:creationId xmlns:a16="http://schemas.microsoft.com/office/drawing/2014/main" id="{AC07B488-08F7-432D-8907-2B502B112FA2}"/>
                </a:ext>
              </a:extLst>
            </p:cNvPr>
            <p:cNvCxnSpPr>
              <a:cxnSpLocks noChangeShapeType="1"/>
            </p:cNvCxnSpPr>
            <p:nvPr/>
          </p:nvCxnSpPr>
          <p:spPr bwMode="auto">
            <a:xfrm>
              <a:off x="5554377" y="3894044"/>
              <a:ext cx="205711" cy="0"/>
            </a:xfrm>
            <a:prstGeom prst="line">
              <a:avLst/>
            </a:prstGeom>
            <a:noFill/>
            <a:ln w="9525" algn="ctr">
              <a:solidFill>
                <a:schemeClr val="tx1"/>
              </a:solidFill>
              <a:round/>
              <a:headEnd/>
              <a:tailEnd/>
            </a:ln>
          </p:spPr>
        </p:cxnSp>
        <p:cxnSp>
          <p:nvCxnSpPr>
            <p:cNvPr id="30742" name="Straight Connector 24">
              <a:extLst>
                <a:ext uri="{FF2B5EF4-FFF2-40B4-BE49-F238E27FC236}">
                  <a16:creationId xmlns:a16="http://schemas.microsoft.com/office/drawing/2014/main" id="{CA72FC7F-26FC-4E19-86AD-E7570D8B7E6B}"/>
                </a:ext>
              </a:extLst>
            </p:cNvPr>
            <p:cNvCxnSpPr>
              <a:cxnSpLocks noChangeShapeType="1"/>
            </p:cNvCxnSpPr>
            <p:nvPr/>
          </p:nvCxnSpPr>
          <p:spPr bwMode="auto">
            <a:xfrm>
              <a:off x="6217709" y="3791430"/>
              <a:ext cx="205711" cy="0"/>
            </a:xfrm>
            <a:prstGeom prst="line">
              <a:avLst/>
            </a:prstGeom>
            <a:noFill/>
            <a:ln w="9525" algn="ctr">
              <a:solidFill>
                <a:schemeClr val="tx1"/>
              </a:solidFill>
              <a:round/>
              <a:headEnd/>
              <a:tailEnd/>
            </a:ln>
          </p:spPr>
        </p:cxnSp>
        <p:sp>
          <p:nvSpPr>
            <p:cNvPr id="30743" name="TextBox 25">
              <a:extLst>
                <a:ext uri="{FF2B5EF4-FFF2-40B4-BE49-F238E27FC236}">
                  <a16:creationId xmlns:a16="http://schemas.microsoft.com/office/drawing/2014/main" id="{6ADC26C2-4B3D-42B9-BBC9-993FB0BC837A}"/>
                </a:ext>
              </a:extLst>
            </p:cNvPr>
            <p:cNvSpPr txBox="1">
              <a:spLocks noChangeArrowheads="1"/>
            </p:cNvSpPr>
            <p:nvPr/>
          </p:nvSpPr>
          <p:spPr bwMode="auto">
            <a:xfrm>
              <a:off x="5993465" y="3863977"/>
              <a:ext cx="1153123" cy="302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100"/>
                <a:t>Timing Error!</a:t>
              </a:r>
              <a:endParaRPr lang="en-US" altLang="en-US"/>
            </a:p>
          </p:txBody>
        </p:sp>
        <p:grpSp>
          <p:nvGrpSpPr>
            <p:cNvPr id="30744" name="Group 160">
              <a:extLst>
                <a:ext uri="{FF2B5EF4-FFF2-40B4-BE49-F238E27FC236}">
                  <a16:creationId xmlns:a16="http://schemas.microsoft.com/office/drawing/2014/main" id="{4FF8076C-7E5A-403A-A772-544E9549D5E4}"/>
                </a:ext>
              </a:extLst>
            </p:cNvPr>
            <p:cNvGrpSpPr>
              <a:grpSpLocks/>
            </p:cNvGrpSpPr>
            <p:nvPr/>
          </p:nvGrpSpPr>
          <p:grpSpPr bwMode="auto">
            <a:xfrm>
              <a:off x="3090275" y="2056437"/>
              <a:ext cx="1176817" cy="633764"/>
              <a:chOff x="762977" y="3810000"/>
              <a:chExt cx="1307758" cy="649720"/>
            </a:xfrm>
          </p:grpSpPr>
          <p:cxnSp>
            <p:nvCxnSpPr>
              <p:cNvPr id="46" name="Straight Connector 45">
                <a:extLst>
                  <a:ext uri="{FF2B5EF4-FFF2-40B4-BE49-F238E27FC236}">
                    <a16:creationId xmlns:a16="http://schemas.microsoft.com/office/drawing/2014/main" id="{FB276FB8-6419-4D5B-AE46-1BE3E57262D2}"/>
                  </a:ext>
                </a:extLst>
              </p:cNvPr>
              <p:cNvCxnSpPr/>
              <p:nvPr/>
            </p:nvCxnSpPr>
            <p:spPr bwMode="auto">
              <a:xfrm>
                <a:off x="838322" y="4251732"/>
                <a:ext cx="228068" cy="187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2D21C70F-B67A-47B1-A1D3-208BCB2852C6}"/>
                  </a:ext>
                </a:extLst>
              </p:cNvPr>
              <p:cNvCxnSpPr/>
              <p:nvPr/>
            </p:nvCxnSpPr>
            <p:spPr bwMode="auto">
              <a:xfrm rot="5400000" flipH="1" flipV="1">
                <a:off x="1028089" y="4060709"/>
                <a:ext cx="229324" cy="152723"/>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65AA68CF-D970-4C81-8949-DC41C2A40963}"/>
                  </a:ext>
                </a:extLst>
              </p:cNvPr>
              <p:cNvCxnSpPr/>
              <p:nvPr/>
            </p:nvCxnSpPr>
            <p:spPr bwMode="auto">
              <a:xfrm>
                <a:off x="1219113" y="4022407"/>
                <a:ext cx="228068" cy="187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057CCBD4-45DF-42E6-8181-AE521A611CDF}"/>
                  </a:ext>
                </a:extLst>
              </p:cNvPr>
              <p:cNvSpPr txBox="1"/>
              <p:nvPr/>
            </p:nvSpPr>
            <p:spPr>
              <a:xfrm>
                <a:off x="1225223" y="3810000"/>
                <a:ext cx="845512" cy="437314"/>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1.2V</a:t>
                </a:r>
              </a:p>
            </p:txBody>
          </p:sp>
          <p:sp>
            <p:nvSpPr>
              <p:cNvPr id="50" name="TextBox 49">
                <a:extLst>
                  <a:ext uri="{FF2B5EF4-FFF2-40B4-BE49-F238E27FC236}">
                    <a16:creationId xmlns:a16="http://schemas.microsoft.com/office/drawing/2014/main" id="{4E77FA59-E7B7-4B7E-905E-C628754817D5}"/>
                  </a:ext>
                </a:extLst>
              </p:cNvPr>
              <p:cNvSpPr txBox="1"/>
              <p:nvPr/>
            </p:nvSpPr>
            <p:spPr>
              <a:xfrm>
                <a:off x="762977" y="4022407"/>
                <a:ext cx="401371" cy="437313"/>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0</a:t>
                </a:r>
              </a:p>
            </p:txBody>
          </p:sp>
        </p:grpSp>
        <p:cxnSp>
          <p:nvCxnSpPr>
            <p:cNvPr id="30745" name="Straight Arrow Connector 27">
              <a:extLst>
                <a:ext uri="{FF2B5EF4-FFF2-40B4-BE49-F238E27FC236}">
                  <a16:creationId xmlns:a16="http://schemas.microsoft.com/office/drawing/2014/main" id="{9E7DBB3D-7A4D-423E-8888-193F4F8D335C}"/>
                </a:ext>
              </a:extLst>
            </p:cNvPr>
            <p:cNvCxnSpPr>
              <a:cxnSpLocks noChangeShapeType="1"/>
            </p:cNvCxnSpPr>
            <p:nvPr/>
          </p:nvCxnSpPr>
          <p:spPr bwMode="auto">
            <a:xfrm rot="5400000">
              <a:off x="5159872" y="3410690"/>
              <a:ext cx="308218" cy="192438"/>
            </a:xfrm>
            <a:prstGeom prst="straightConnector1">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0746" name="Freeform 28">
              <a:extLst>
                <a:ext uri="{FF2B5EF4-FFF2-40B4-BE49-F238E27FC236}">
                  <a16:creationId xmlns:a16="http://schemas.microsoft.com/office/drawing/2014/main" id="{1F87E21B-8C3B-49D3-A475-3084A55D78FE}"/>
                </a:ext>
              </a:extLst>
            </p:cNvPr>
            <p:cNvSpPr>
              <a:spLocks/>
            </p:cNvSpPr>
            <p:nvPr/>
          </p:nvSpPr>
          <p:spPr bwMode="auto">
            <a:xfrm>
              <a:off x="3534683" y="2428237"/>
              <a:ext cx="1593974" cy="1062397"/>
            </a:xfrm>
            <a:custGeom>
              <a:avLst/>
              <a:gdLst>
                <a:gd name="T0" fmla="*/ 0 w 1226820"/>
                <a:gd name="T1" fmla="*/ 0 h 807720"/>
                <a:gd name="T2" fmla="*/ 742534 w 1226820"/>
                <a:gd name="T3" fmla="*/ 120271 h 807720"/>
                <a:gd name="T4" fmla="*/ 811838 w 1226820"/>
                <a:gd name="T5" fmla="*/ 300678 h 807720"/>
                <a:gd name="T6" fmla="*/ 841539 w 1226820"/>
                <a:gd name="T7" fmla="*/ 701583 h 807720"/>
                <a:gd name="T8" fmla="*/ 920743 w 1226820"/>
                <a:gd name="T9" fmla="*/ 952148 h 807720"/>
                <a:gd name="T10" fmla="*/ 1168254 w 1226820"/>
                <a:gd name="T11" fmla="*/ 1032329 h 807720"/>
                <a:gd name="T12" fmla="*/ 1593974 w 1226820"/>
                <a:gd name="T13" fmla="*/ 1062397 h 80772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6820" h="807720">
                  <a:moveTo>
                    <a:pt x="0" y="0"/>
                  </a:moveTo>
                  <a:cubicBezTo>
                    <a:pt x="43180" y="26670"/>
                    <a:pt x="467360" y="53340"/>
                    <a:pt x="571500" y="91440"/>
                  </a:cubicBezTo>
                  <a:cubicBezTo>
                    <a:pt x="675640" y="129540"/>
                    <a:pt x="612140" y="154940"/>
                    <a:pt x="624840" y="228600"/>
                  </a:cubicBezTo>
                  <a:cubicBezTo>
                    <a:pt x="637540" y="302260"/>
                    <a:pt x="633730" y="450850"/>
                    <a:pt x="647700" y="533400"/>
                  </a:cubicBezTo>
                  <a:cubicBezTo>
                    <a:pt x="661670" y="615950"/>
                    <a:pt x="666750" y="681990"/>
                    <a:pt x="708660" y="723900"/>
                  </a:cubicBezTo>
                  <a:cubicBezTo>
                    <a:pt x="750570" y="765810"/>
                    <a:pt x="812800" y="770890"/>
                    <a:pt x="899160" y="784860"/>
                  </a:cubicBezTo>
                  <a:cubicBezTo>
                    <a:pt x="985520" y="798830"/>
                    <a:pt x="1106170" y="803275"/>
                    <a:pt x="1226820" y="80772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0747" name="Freeform 29">
              <a:extLst>
                <a:ext uri="{FF2B5EF4-FFF2-40B4-BE49-F238E27FC236}">
                  <a16:creationId xmlns:a16="http://schemas.microsoft.com/office/drawing/2014/main" id="{F4C77AC2-12E9-48BD-93D3-E9E6AA449DD5}"/>
                </a:ext>
              </a:extLst>
            </p:cNvPr>
            <p:cNvSpPr>
              <a:spLocks/>
            </p:cNvSpPr>
            <p:nvPr/>
          </p:nvSpPr>
          <p:spPr bwMode="auto">
            <a:xfrm>
              <a:off x="3534683" y="3560792"/>
              <a:ext cx="1603875" cy="257247"/>
            </a:xfrm>
            <a:custGeom>
              <a:avLst/>
              <a:gdLst>
                <a:gd name="T0" fmla="*/ 0 w 1234440"/>
                <a:gd name="T1" fmla="*/ 110249 h 195580"/>
                <a:gd name="T2" fmla="*/ 158407 w 1234440"/>
                <a:gd name="T3" fmla="*/ 80181 h 195580"/>
                <a:gd name="T4" fmla="*/ 366317 w 1234440"/>
                <a:gd name="T5" fmla="*/ 170384 h 195580"/>
                <a:gd name="T6" fmla="*/ 584127 w 1234440"/>
                <a:gd name="T7" fmla="*/ 230520 h 195580"/>
                <a:gd name="T8" fmla="*/ 980146 w 1234440"/>
                <a:gd name="T9" fmla="*/ 240543 h 195580"/>
                <a:gd name="T10" fmla="*/ 1197956 w 1234440"/>
                <a:gd name="T11" fmla="*/ 130294 h 195580"/>
                <a:gd name="T12" fmla="*/ 1316762 w 1234440"/>
                <a:gd name="T13" fmla="*/ 40090 h 195580"/>
                <a:gd name="T14" fmla="*/ 1603875 w 1234440"/>
                <a:gd name="T15" fmla="*/ 0 h 1955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234440" h="195580">
                  <a:moveTo>
                    <a:pt x="0" y="83820"/>
                  </a:moveTo>
                  <a:cubicBezTo>
                    <a:pt x="37465" y="68580"/>
                    <a:pt x="74930" y="53340"/>
                    <a:pt x="121920" y="60960"/>
                  </a:cubicBezTo>
                  <a:cubicBezTo>
                    <a:pt x="168910" y="68580"/>
                    <a:pt x="227330" y="110490"/>
                    <a:pt x="281940" y="129540"/>
                  </a:cubicBezTo>
                  <a:cubicBezTo>
                    <a:pt x="336550" y="148590"/>
                    <a:pt x="370840" y="166370"/>
                    <a:pt x="449580" y="175260"/>
                  </a:cubicBezTo>
                  <a:cubicBezTo>
                    <a:pt x="528320" y="184150"/>
                    <a:pt x="675640" y="195580"/>
                    <a:pt x="754380" y="182880"/>
                  </a:cubicBezTo>
                  <a:cubicBezTo>
                    <a:pt x="833120" y="170180"/>
                    <a:pt x="878840" y="124460"/>
                    <a:pt x="922020" y="99060"/>
                  </a:cubicBezTo>
                  <a:cubicBezTo>
                    <a:pt x="965200" y="73660"/>
                    <a:pt x="961390" y="46990"/>
                    <a:pt x="1013460" y="30480"/>
                  </a:cubicBezTo>
                  <a:cubicBezTo>
                    <a:pt x="1065530" y="13970"/>
                    <a:pt x="1149985" y="6985"/>
                    <a:pt x="123444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30748" name="Group 197">
              <a:extLst>
                <a:ext uri="{FF2B5EF4-FFF2-40B4-BE49-F238E27FC236}">
                  <a16:creationId xmlns:a16="http://schemas.microsoft.com/office/drawing/2014/main" id="{B77B29C3-8164-475E-B894-0741A1AD22F1}"/>
                </a:ext>
              </a:extLst>
            </p:cNvPr>
            <p:cNvGrpSpPr>
              <a:grpSpLocks/>
            </p:cNvGrpSpPr>
            <p:nvPr/>
          </p:nvGrpSpPr>
          <p:grpSpPr bwMode="auto">
            <a:xfrm>
              <a:off x="2437929" y="3123558"/>
              <a:ext cx="1178649" cy="633765"/>
              <a:chOff x="761478" y="3810329"/>
              <a:chExt cx="1309793" cy="649721"/>
            </a:xfrm>
          </p:grpSpPr>
          <p:cxnSp>
            <p:nvCxnSpPr>
              <p:cNvPr id="41" name="Straight Connector 40">
                <a:extLst>
                  <a:ext uri="{FF2B5EF4-FFF2-40B4-BE49-F238E27FC236}">
                    <a16:creationId xmlns:a16="http://schemas.microsoft.com/office/drawing/2014/main" id="{D4BE9E75-9DDD-4331-BB6C-6A1926BE6562}"/>
                  </a:ext>
                </a:extLst>
              </p:cNvPr>
              <p:cNvCxnSpPr/>
              <p:nvPr/>
            </p:nvCxnSpPr>
            <p:spPr bwMode="auto">
              <a:xfrm>
                <a:off x="836822" y="4252061"/>
                <a:ext cx="230104" cy="187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7851B68B-AFFB-4329-9C36-4CF1ED08E153}"/>
                  </a:ext>
                </a:extLst>
              </p:cNvPr>
              <p:cNvCxnSpPr/>
              <p:nvPr/>
            </p:nvCxnSpPr>
            <p:spPr bwMode="auto">
              <a:xfrm rot="5400000" flipH="1" flipV="1">
                <a:off x="1028626" y="4061036"/>
                <a:ext cx="229324" cy="152725"/>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72C3BA7-AEF8-4434-B106-8D60A0BA832F}"/>
                  </a:ext>
                </a:extLst>
              </p:cNvPr>
              <p:cNvCxnSpPr/>
              <p:nvPr/>
            </p:nvCxnSpPr>
            <p:spPr bwMode="auto">
              <a:xfrm>
                <a:off x="1219651" y="4022737"/>
                <a:ext cx="228068" cy="1879"/>
              </a:xfrm>
              <a:prstGeom prst="line">
                <a:avLst/>
              </a:pr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E8F52B81-6E95-46AF-98AF-223A4ABB2BBD}"/>
                  </a:ext>
                </a:extLst>
              </p:cNvPr>
              <p:cNvSpPr txBox="1"/>
              <p:nvPr/>
            </p:nvSpPr>
            <p:spPr>
              <a:xfrm>
                <a:off x="1225759" y="3810329"/>
                <a:ext cx="845512" cy="437314"/>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1.2V</a:t>
                </a:r>
              </a:p>
            </p:txBody>
          </p:sp>
          <p:sp>
            <p:nvSpPr>
              <p:cNvPr id="45" name="TextBox 44">
                <a:extLst>
                  <a:ext uri="{FF2B5EF4-FFF2-40B4-BE49-F238E27FC236}">
                    <a16:creationId xmlns:a16="http://schemas.microsoft.com/office/drawing/2014/main" id="{89AD6909-EDD1-4361-959D-41BFE09D4E03}"/>
                  </a:ext>
                </a:extLst>
              </p:cNvPr>
              <p:cNvSpPr txBox="1"/>
              <p:nvPr/>
            </p:nvSpPr>
            <p:spPr>
              <a:xfrm>
                <a:off x="761478" y="4022737"/>
                <a:ext cx="401371" cy="437313"/>
              </a:xfrm>
              <a:prstGeom prst="rect">
                <a:avLst/>
              </a:prstGeom>
              <a:ln>
                <a:no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wrap="none">
                <a:spAutoFit/>
              </a:bodyPr>
              <a:lstStyle/>
              <a:p>
                <a:pPr eaLnBrk="1" hangingPunct="1">
                  <a:defRPr/>
                </a:pPr>
                <a:r>
                  <a:rPr lang="en-US" dirty="0"/>
                  <a:t>0</a:t>
                </a:r>
              </a:p>
            </p:txBody>
          </p:sp>
        </p:grpSp>
        <p:sp>
          <p:nvSpPr>
            <p:cNvPr id="33" name="Freeform 32">
              <a:extLst>
                <a:ext uri="{FF2B5EF4-FFF2-40B4-BE49-F238E27FC236}">
                  <a16:creationId xmlns:a16="http://schemas.microsoft.com/office/drawing/2014/main" id="{40B4B613-5335-4696-8A28-B0508C73ECDB}"/>
                </a:ext>
              </a:extLst>
            </p:cNvPr>
            <p:cNvSpPr/>
            <p:nvPr/>
          </p:nvSpPr>
          <p:spPr bwMode="auto">
            <a:xfrm>
              <a:off x="5199405" y="2483650"/>
              <a:ext cx="1962534" cy="806758"/>
            </a:xfrm>
            <a:custGeom>
              <a:avLst/>
              <a:gdLst>
                <a:gd name="connsiteX0" fmla="*/ 0 w 1962150"/>
                <a:gd name="connsiteY0" fmla="*/ 787400 h 807508"/>
                <a:gd name="connsiteX1" fmla="*/ 133350 w 1962150"/>
                <a:gd name="connsiteY1" fmla="*/ 800100 h 807508"/>
                <a:gd name="connsiteX2" fmla="*/ 349250 w 1962150"/>
                <a:gd name="connsiteY2" fmla="*/ 742950 h 807508"/>
                <a:gd name="connsiteX3" fmla="*/ 457200 w 1962150"/>
                <a:gd name="connsiteY3" fmla="*/ 584200 h 807508"/>
                <a:gd name="connsiteX4" fmla="*/ 533400 w 1962150"/>
                <a:gd name="connsiteY4" fmla="*/ 387350 h 807508"/>
                <a:gd name="connsiteX5" fmla="*/ 654050 w 1962150"/>
                <a:gd name="connsiteY5" fmla="*/ 234950 h 807508"/>
                <a:gd name="connsiteX6" fmla="*/ 863600 w 1962150"/>
                <a:gd name="connsiteY6" fmla="*/ 101600 h 807508"/>
                <a:gd name="connsiteX7" fmla="*/ 1111250 w 1962150"/>
                <a:gd name="connsiteY7" fmla="*/ 25400 h 807508"/>
                <a:gd name="connsiteX8" fmla="*/ 1289050 w 1962150"/>
                <a:gd name="connsiteY8" fmla="*/ 6350 h 807508"/>
                <a:gd name="connsiteX9" fmla="*/ 1530350 w 1962150"/>
                <a:gd name="connsiteY9" fmla="*/ 0 h 807508"/>
                <a:gd name="connsiteX10" fmla="*/ 1962150 w 1962150"/>
                <a:gd name="connsiteY10" fmla="*/ 6350 h 807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62150" h="807508">
                  <a:moveTo>
                    <a:pt x="0" y="787400"/>
                  </a:moveTo>
                  <a:cubicBezTo>
                    <a:pt x="37571" y="797454"/>
                    <a:pt x="75142" y="807508"/>
                    <a:pt x="133350" y="800100"/>
                  </a:cubicBezTo>
                  <a:cubicBezTo>
                    <a:pt x="191558" y="792692"/>
                    <a:pt x="295275" y="778933"/>
                    <a:pt x="349250" y="742950"/>
                  </a:cubicBezTo>
                  <a:cubicBezTo>
                    <a:pt x="403225" y="706967"/>
                    <a:pt x="426508" y="643467"/>
                    <a:pt x="457200" y="584200"/>
                  </a:cubicBezTo>
                  <a:cubicBezTo>
                    <a:pt x="487892" y="524933"/>
                    <a:pt x="500592" y="445558"/>
                    <a:pt x="533400" y="387350"/>
                  </a:cubicBezTo>
                  <a:cubicBezTo>
                    <a:pt x="566208" y="329142"/>
                    <a:pt x="599017" y="282575"/>
                    <a:pt x="654050" y="234950"/>
                  </a:cubicBezTo>
                  <a:cubicBezTo>
                    <a:pt x="709083" y="187325"/>
                    <a:pt x="787400" y="136525"/>
                    <a:pt x="863600" y="101600"/>
                  </a:cubicBezTo>
                  <a:cubicBezTo>
                    <a:pt x="939800" y="66675"/>
                    <a:pt x="1040342" y="41275"/>
                    <a:pt x="1111250" y="25400"/>
                  </a:cubicBezTo>
                  <a:cubicBezTo>
                    <a:pt x="1182158" y="9525"/>
                    <a:pt x="1219200" y="10583"/>
                    <a:pt x="1289050" y="6350"/>
                  </a:cubicBezTo>
                  <a:cubicBezTo>
                    <a:pt x="1358900" y="2117"/>
                    <a:pt x="1418167" y="0"/>
                    <a:pt x="1530350" y="0"/>
                  </a:cubicBezTo>
                  <a:cubicBezTo>
                    <a:pt x="1642533" y="0"/>
                    <a:pt x="1802341" y="3175"/>
                    <a:pt x="1962150" y="6350"/>
                  </a:cubicBezTo>
                </a:path>
              </a:pathLst>
            </a:custGeom>
            <a:ln>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anchor="ctr"/>
            <a:lstStyle/>
            <a:p>
              <a:pPr eaLnBrk="1" hangingPunct="1">
                <a:defRPr/>
              </a:pPr>
              <a:endParaRPr lang="en-US"/>
            </a:p>
          </p:txBody>
        </p:sp>
        <p:cxnSp>
          <p:nvCxnSpPr>
            <p:cNvPr id="30750" name="Straight Connector 33">
              <a:extLst>
                <a:ext uri="{FF2B5EF4-FFF2-40B4-BE49-F238E27FC236}">
                  <a16:creationId xmlns:a16="http://schemas.microsoft.com/office/drawing/2014/main" id="{CFEDF0FD-DE53-492F-BC07-CAE52EDC8F6B}"/>
                </a:ext>
              </a:extLst>
            </p:cNvPr>
            <p:cNvCxnSpPr>
              <a:cxnSpLocks noChangeShapeType="1"/>
            </p:cNvCxnSpPr>
            <p:nvPr/>
          </p:nvCxnSpPr>
          <p:spPr bwMode="auto">
            <a:xfrm>
              <a:off x="5180408" y="3282950"/>
              <a:ext cx="762000" cy="1588"/>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0751" name="Straight Connector 34">
              <a:extLst>
                <a:ext uri="{FF2B5EF4-FFF2-40B4-BE49-F238E27FC236}">
                  <a16:creationId xmlns:a16="http://schemas.microsoft.com/office/drawing/2014/main" id="{35282E5C-0EA0-47E4-8420-71C8242C16B0}"/>
                </a:ext>
              </a:extLst>
            </p:cNvPr>
            <p:cNvCxnSpPr>
              <a:cxnSpLocks noChangeShapeType="1"/>
            </p:cNvCxnSpPr>
            <p:nvPr/>
          </p:nvCxnSpPr>
          <p:spPr bwMode="auto">
            <a:xfrm rot="5580000" flipH="1" flipV="1">
              <a:off x="5748733" y="2708275"/>
              <a:ext cx="806450" cy="3683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0752" name="Straight Connector 35">
              <a:extLst>
                <a:ext uri="{FF2B5EF4-FFF2-40B4-BE49-F238E27FC236}">
                  <a16:creationId xmlns:a16="http://schemas.microsoft.com/office/drawing/2014/main" id="{2DE86AF9-6930-4400-A95F-E7EA60866FCE}"/>
                </a:ext>
              </a:extLst>
            </p:cNvPr>
            <p:cNvCxnSpPr>
              <a:cxnSpLocks noChangeShapeType="1"/>
              <a:stCxn id="33" idx="8"/>
            </p:cNvCxnSpPr>
            <p:nvPr/>
          </p:nvCxnSpPr>
          <p:spPr bwMode="auto">
            <a:xfrm flipV="1">
              <a:off x="6488508" y="2476500"/>
              <a:ext cx="673100" cy="12700"/>
            </a:xfrm>
            <a:prstGeom prst="line">
              <a:avLst/>
            </a:prstGeom>
            <a:noFill/>
            <a:ln w="9525" algn="ctr">
              <a:solidFill>
                <a:srgbClr val="0000FF"/>
              </a:solidFill>
              <a:prstDash val="dash"/>
              <a:round/>
              <a:headEnd/>
              <a:tailEnd/>
            </a:ln>
            <a:extLst>
              <a:ext uri="{909E8E84-426E-40DD-AFC4-6F175D3DCCD1}">
                <a14:hiddenFill xmlns:a14="http://schemas.microsoft.com/office/drawing/2010/main">
                  <a:noFill/>
                </a14:hiddenFill>
              </a:ext>
            </a:extLst>
          </p:spPr>
        </p:cxnSp>
        <p:cxnSp>
          <p:nvCxnSpPr>
            <p:cNvPr id="30753" name="Straight Arrow Connector 36">
              <a:extLst>
                <a:ext uri="{FF2B5EF4-FFF2-40B4-BE49-F238E27FC236}">
                  <a16:creationId xmlns:a16="http://schemas.microsoft.com/office/drawing/2014/main" id="{A707F453-1AA4-4107-92CC-CF1ED9CDDECC}"/>
                </a:ext>
              </a:extLst>
            </p:cNvPr>
            <p:cNvCxnSpPr>
              <a:cxnSpLocks noChangeShapeType="1"/>
            </p:cNvCxnSpPr>
            <p:nvPr/>
          </p:nvCxnSpPr>
          <p:spPr bwMode="auto">
            <a:xfrm>
              <a:off x="5732858" y="2933700"/>
              <a:ext cx="365760" cy="1588"/>
            </a:xfrm>
            <a:prstGeom prst="straightConnector1">
              <a:avLst/>
            </a:prstGeom>
            <a:noFill/>
            <a:ln w="9525" algn="ctr">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30754" name="TextBox 37">
              <a:extLst>
                <a:ext uri="{FF2B5EF4-FFF2-40B4-BE49-F238E27FC236}">
                  <a16:creationId xmlns:a16="http://schemas.microsoft.com/office/drawing/2014/main" id="{8C18F983-616C-4401-995E-29467EC3C8A8}"/>
                </a:ext>
              </a:extLst>
            </p:cNvPr>
            <p:cNvSpPr txBox="1">
              <a:spLocks noChangeArrowheads="1"/>
            </p:cNvSpPr>
            <p:nvPr/>
          </p:nvSpPr>
          <p:spPr bwMode="auto">
            <a:xfrm>
              <a:off x="6101158" y="2838450"/>
              <a:ext cx="1423272" cy="31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Crosstalk delay</a:t>
              </a:r>
            </a:p>
          </p:txBody>
        </p:sp>
        <p:sp>
          <p:nvSpPr>
            <p:cNvPr id="30755" name="TextBox 38">
              <a:extLst>
                <a:ext uri="{FF2B5EF4-FFF2-40B4-BE49-F238E27FC236}">
                  <a16:creationId xmlns:a16="http://schemas.microsoft.com/office/drawing/2014/main" id="{4B189A44-2FC3-43F0-8C5E-FE7527FD00B2}"/>
                </a:ext>
              </a:extLst>
            </p:cNvPr>
            <p:cNvSpPr txBox="1">
              <a:spLocks noChangeArrowheads="1"/>
            </p:cNvSpPr>
            <p:nvPr/>
          </p:nvSpPr>
          <p:spPr bwMode="auto">
            <a:xfrm>
              <a:off x="6215458" y="2209800"/>
              <a:ext cx="577673" cy="31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1.2V</a:t>
              </a:r>
              <a:endParaRPr lang="en-US" altLang="en-US"/>
            </a:p>
          </p:txBody>
        </p:sp>
        <p:sp>
          <p:nvSpPr>
            <p:cNvPr id="30756" name="TextBox 39">
              <a:extLst>
                <a:ext uri="{FF2B5EF4-FFF2-40B4-BE49-F238E27FC236}">
                  <a16:creationId xmlns:a16="http://schemas.microsoft.com/office/drawing/2014/main" id="{2D1056A1-99C4-40A0-9B4B-4E6B26AA46A2}"/>
                </a:ext>
              </a:extLst>
            </p:cNvPr>
            <p:cNvSpPr txBox="1">
              <a:spLocks noChangeArrowheads="1"/>
            </p:cNvSpPr>
            <p:nvPr/>
          </p:nvSpPr>
          <p:spPr bwMode="auto">
            <a:xfrm>
              <a:off x="5105400" y="2967851"/>
              <a:ext cx="311226" cy="319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1200"/>
                <a:t>0</a:t>
              </a:r>
              <a:endParaRPr lang="en-US" altLang="en-US"/>
            </a:p>
          </p:txBody>
        </p:sp>
        <p:sp>
          <p:nvSpPr>
            <p:cNvPr id="30757" name="Прямоугольник 68">
              <a:extLst>
                <a:ext uri="{FF2B5EF4-FFF2-40B4-BE49-F238E27FC236}">
                  <a16:creationId xmlns:a16="http://schemas.microsoft.com/office/drawing/2014/main" id="{09A83B7E-40C5-4F50-9549-3BB1C8C5A879}"/>
                </a:ext>
              </a:extLst>
            </p:cNvPr>
            <p:cNvSpPr>
              <a:spLocks noChangeArrowheads="1"/>
            </p:cNvSpPr>
            <p:nvPr/>
          </p:nvSpPr>
          <p:spPr bwMode="auto">
            <a:xfrm>
              <a:off x="2976552" y="3614739"/>
              <a:ext cx="428628" cy="171451"/>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3AEABF48-AD00-473D-89AE-3898B25B5769}"/>
              </a:ext>
            </a:extLst>
          </p:cNvPr>
          <p:cNvSpPr>
            <a:spLocks noGrp="1"/>
          </p:cNvSpPr>
          <p:nvPr>
            <p:ph type="title"/>
          </p:nvPr>
        </p:nvSpPr>
        <p:spPr/>
        <p:txBody>
          <a:bodyPr/>
          <a:lstStyle/>
          <a:p>
            <a:r>
              <a:rPr lang="en-US" altLang="en-US"/>
              <a:t>Crosstalk Timing Verification</a:t>
            </a:r>
          </a:p>
        </p:txBody>
      </p:sp>
      <p:sp>
        <p:nvSpPr>
          <p:cNvPr id="31747" name="Content Placeholder 2">
            <a:extLst>
              <a:ext uri="{FF2B5EF4-FFF2-40B4-BE49-F238E27FC236}">
                <a16:creationId xmlns:a16="http://schemas.microsoft.com/office/drawing/2014/main" id="{C78CB451-12F0-4A1F-9E26-B1C9EF403210}"/>
              </a:ext>
            </a:extLst>
          </p:cNvPr>
          <p:cNvSpPr>
            <a:spLocks noGrp="1"/>
          </p:cNvSpPr>
          <p:nvPr>
            <p:ph type="body" sz="quarter" idx="10"/>
          </p:nvPr>
        </p:nvSpPr>
        <p:spPr/>
        <p:txBody>
          <a:bodyPr/>
          <a:lstStyle/>
          <a:p>
            <a:r>
              <a:rPr lang="en-US" altLang="en-US"/>
              <a:t>Positive rise delay </a:t>
            </a:r>
          </a:p>
          <a:p>
            <a:pPr lvl="1"/>
            <a:r>
              <a:rPr lang="en-US" altLang="en-US"/>
              <a:t>Rise edge moves forward in time</a:t>
            </a:r>
          </a:p>
          <a:p>
            <a:r>
              <a:rPr lang="en-US" altLang="en-US"/>
              <a:t>Negative rise delay </a:t>
            </a:r>
          </a:p>
          <a:p>
            <a:pPr lvl="1"/>
            <a:r>
              <a:rPr lang="en-US" altLang="en-US"/>
              <a:t>Rise edge moves backward in time</a:t>
            </a:r>
          </a:p>
          <a:p>
            <a:r>
              <a:rPr lang="en-US" altLang="en-US"/>
              <a:t>Positive fall delay </a:t>
            </a:r>
          </a:p>
          <a:p>
            <a:pPr lvl="1"/>
            <a:r>
              <a:rPr lang="en-US" altLang="en-US"/>
              <a:t>Fall edge moves forward in time</a:t>
            </a:r>
          </a:p>
          <a:p>
            <a:r>
              <a:rPr lang="en-US" altLang="en-US"/>
              <a:t>Negative fall delay </a:t>
            </a:r>
          </a:p>
          <a:p>
            <a:pPr lvl="1"/>
            <a:r>
              <a:rPr lang="en-US" altLang="en-US"/>
              <a:t>Fall edge moves backward in time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9E7502AF-4B6A-4148-A6C0-EBBF9BC04E42}"/>
              </a:ext>
            </a:extLst>
          </p:cNvPr>
          <p:cNvSpPr>
            <a:spLocks noGrp="1"/>
          </p:cNvSpPr>
          <p:nvPr>
            <p:ph type="title"/>
          </p:nvPr>
        </p:nvSpPr>
        <p:spPr/>
        <p:txBody>
          <a:bodyPr/>
          <a:lstStyle/>
          <a:p>
            <a:r>
              <a:rPr lang="en-US" altLang="en-US"/>
              <a:t>Setup Analysis</a:t>
            </a:r>
          </a:p>
        </p:txBody>
      </p:sp>
      <p:sp>
        <p:nvSpPr>
          <p:cNvPr id="32771" name="Content Placeholder 2">
            <a:extLst>
              <a:ext uri="{FF2B5EF4-FFF2-40B4-BE49-F238E27FC236}">
                <a16:creationId xmlns:a16="http://schemas.microsoft.com/office/drawing/2014/main" id="{ACF679E7-A78C-417A-9418-7093C130D140}"/>
              </a:ext>
            </a:extLst>
          </p:cNvPr>
          <p:cNvSpPr>
            <a:spLocks noGrp="1"/>
          </p:cNvSpPr>
          <p:nvPr>
            <p:ph type="body" sz="quarter" idx="10"/>
          </p:nvPr>
        </p:nvSpPr>
        <p:spPr/>
        <p:txBody>
          <a:bodyPr/>
          <a:lstStyle/>
          <a:p>
            <a:r>
              <a:rPr lang="en-US" altLang="en-US" sz="1600" dirty="0"/>
              <a:t>Consider the logic shown below where crosstalk can occur at various nets along the data path and along the clock paths.</a:t>
            </a:r>
          </a:p>
          <a:p>
            <a:endParaRPr lang="en-US" altLang="en-US" sz="1600" dirty="0"/>
          </a:p>
          <a:p>
            <a:endParaRPr lang="en-US" altLang="en-US" sz="1600" dirty="0"/>
          </a:p>
          <a:p>
            <a:endParaRPr lang="en-US" altLang="en-US" sz="1600" dirty="0"/>
          </a:p>
          <a:p>
            <a:endParaRPr lang="en-US" altLang="en-US" sz="1600" dirty="0"/>
          </a:p>
          <a:p>
            <a:endParaRPr lang="en-US" altLang="en-US" sz="1600" dirty="0"/>
          </a:p>
          <a:p>
            <a:pPr marL="0" indent="0">
              <a:buNone/>
            </a:pPr>
            <a:endParaRPr lang="en-US" altLang="en-US" sz="1600" dirty="0"/>
          </a:p>
          <a:p>
            <a:pPr marL="0" indent="0">
              <a:buNone/>
            </a:pPr>
            <a:endParaRPr lang="en-US" altLang="en-US" sz="1400"/>
          </a:p>
          <a:p>
            <a:endParaRPr lang="en-US" altLang="en-US" sz="1000" dirty="0"/>
          </a:p>
          <a:p>
            <a:r>
              <a:rPr lang="en-US" altLang="en-US" sz="1600" dirty="0"/>
              <a:t>The setup (or max path) analysis assumes that:</a:t>
            </a:r>
          </a:p>
          <a:p>
            <a:pPr lvl="1"/>
            <a:r>
              <a:rPr lang="en-US" altLang="en-US" sz="1200" dirty="0"/>
              <a:t>Launch clock path sees positive crosstalk delay so that the data is launched late.</a:t>
            </a:r>
          </a:p>
          <a:p>
            <a:pPr lvl="1"/>
            <a:r>
              <a:rPr lang="en-US" altLang="en-US" sz="1200" dirty="0"/>
              <a:t>Data path sees positive crosstalk delay so that it takes longer for the data to reach the destination.</a:t>
            </a:r>
          </a:p>
          <a:p>
            <a:pPr lvl="1"/>
            <a:r>
              <a:rPr lang="en-US" altLang="en-US" sz="1200" dirty="0"/>
              <a:t>Capture clock path sees negative crosstalk delay so that the </a:t>
            </a:r>
            <a:r>
              <a:rPr lang="en-US" altLang="en-US" sz="1200" dirty="0" err="1"/>
              <a:t>datails</a:t>
            </a:r>
            <a:r>
              <a:rPr lang="en-US" altLang="en-US" sz="1200" dirty="0"/>
              <a:t> captured by the capture flip-flop early.</a:t>
            </a:r>
          </a:p>
          <a:p>
            <a:endParaRPr lang="en-US" altLang="en-US" sz="1600" dirty="0"/>
          </a:p>
        </p:txBody>
      </p:sp>
      <p:grpSp>
        <p:nvGrpSpPr>
          <p:cNvPr id="32772" name="Group 46">
            <a:extLst>
              <a:ext uri="{FF2B5EF4-FFF2-40B4-BE49-F238E27FC236}">
                <a16:creationId xmlns:a16="http://schemas.microsoft.com/office/drawing/2014/main" id="{8B3DB3EC-D0EF-4219-AD83-F5B4B0153022}"/>
              </a:ext>
            </a:extLst>
          </p:cNvPr>
          <p:cNvGrpSpPr>
            <a:grpSpLocks/>
          </p:cNvGrpSpPr>
          <p:nvPr/>
        </p:nvGrpSpPr>
        <p:grpSpPr bwMode="auto">
          <a:xfrm>
            <a:off x="3648075" y="2362200"/>
            <a:ext cx="3894248" cy="2264792"/>
            <a:chOff x="2123728" y="2361922"/>
            <a:chExt cx="3894193" cy="2265238"/>
          </a:xfrm>
        </p:grpSpPr>
        <p:sp>
          <p:nvSpPr>
            <p:cNvPr id="32773" name="TextBox 43">
              <a:extLst>
                <a:ext uri="{FF2B5EF4-FFF2-40B4-BE49-F238E27FC236}">
                  <a16:creationId xmlns:a16="http://schemas.microsoft.com/office/drawing/2014/main" id="{D8327B98-2006-4B81-AF2C-CD24C8F76DB3}"/>
                </a:ext>
              </a:extLst>
            </p:cNvPr>
            <p:cNvSpPr txBox="1">
              <a:spLocks noChangeArrowheads="1"/>
            </p:cNvSpPr>
            <p:nvPr/>
          </p:nvSpPr>
          <p:spPr bwMode="auto">
            <a:xfrm>
              <a:off x="4757296" y="2361922"/>
              <a:ext cx="684793"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Data path</a:t>
              </a:r>
            </a:p>
          </p:txBody>
        </p:sp>
        <p:grpSp>
          <p:nvGrpSpPr>
            <p:cNvPr id="32774" name="Группа 47">
              <a:extLst>
                <a:ext uri="{FF2B5EF4-FFF2-40B4-BE49-F238E27FC236}">
                  <a16:creationId xmlns:a16="http://schemas.microsoft.com/office/drawing/2014/main" id="{1A82056F-0540-4423-90BF-767B74E3E2A7}"/>
                </a:ext>
              </a:extLst>
            </p:cNvPr>
            <p:cNvGrpSpPr>
              <a:grpSpLocks/>
            </p:cNvGrpSpPr>
            <p:nvPr/>
          </p:nvGrpSpPr>
          <p:grpSpPr bwMode="auto">
            <a:xfrm>
              <a:off x="2123728" y="2566234"/>
              <a:ext cx="3894193" cy="2060926"/>
              <a:chOff x="2536880" y="2256498"/>
              <a:chExt cx="3894193" cy="2060926"/>
            </a:xfrm>
          </p:grpSpPr>
          <p:sp>
            <p:nvSpPr>
              <p:cNvPr id="32775" name="Isosceles Triangle 6">
                <a:extLst>
                  <a:ext uri="{FF2B5EF4-FFF2-40B4-BE49-F238E27FC236}">
                    <a16:creationId xmlns:a16="http://schemas.microsoft.com/office/drawing/2014/main" id="{4C9160EB-09A6-4203-8780-C351EC4651A8}"/>
                  </a:ext>
                </a:extLst>
              </p:cNvPr>
              <p:cNvSpPr>
                <a:spLocks noChangeArrowheads="1"/>
              </p:cNvSpPr>
              <p:nvPr/>
            </p:nvSpPr>
            <p:spPr bwMode="auto">
              <a:xfrm rot="5400000">
                <a:off x="2797770" y="3243508"/>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76" name="Isosceles Triangle 7">
                <a:extLst>
                  <a:ext uri="{FF2B5EF4-FFF2-40B4-BE49-F238E27FC236}">
                    <a16:creationId xmlns:a16="http://schemas.microsoft.com/office/drawing/2014/main" id="{8F64B85E-3EB9-4DA3-A337-8681EB8C9F72}"/>
                  </a:ext>
                </a:extLst>
              </p:cNvPr>
              <p:cNvSpPr>
                <a:spLocks noChangeArrowheads="1"/>
              </p:cNvSpPr>
              <p:nvPr/>
            </p:nvSpPr>
            <p:spPr bwMode="auto">
              <a:xfrm rot="5400000">
                <a:off x="3295972" y="3243509"/>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77" name="Isosceles Triangle 8">
                <a:extLst>
                  <a:ext uri="{FF2B5EF4-FFF2-40B4-BE49-F238E27FC236}">
                    <a16:creationId xmlns:a16="http://schemas.microsoft.com/office/drawing/2014/main" id="{01CD96C2-B89A-40E3-A65D-E8A610357590}"/>
                  </a:ext>
                </a:extLst>
              </p:cNvPr>
              <p:cNvSpPr>
                <a:spLocks noChangeArrowheads="1"/>
              </p:cNvSpPr>
              <p:nvPr/>
            </p:nvSpPr>
            <p:spPr bwMode="auto">
              <a:xfrm rot="5400000">
                <a:off x="3689288" y="2877850"/>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78" name="Isosceles Triangle 9">
                <a:extLst>
                  <a:ext uri="{FF2B5EF4-FFF2-40B4-BE49-F238E27FC236}">
                    <a16:creationId xmlns:a16="http://schemas.microsoft.com/office/drawing/2014/main" id="{5D7F6936-8F33-41B1-B643-552261272372}"/>
                  </a:ext>
                </a:extLst>
              </p:cNvPr>
              <p:cNvSpPr>
                <a:spLocks noChangeArrowheads="1"/>
              </p:cNvSpPr>
              <p:nvPr/>
            </p:nvSpPr>
            <p:spPr bwMode="auto">
              <a:xfrm rot="5400000">
                <a:off x="4135052" y="2877850"/>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79" name="Isosceles Triangle 10">
                <a:extLst>
                  <a:ext uri="{FF2B5EF4-FFF2-40B4-BE49-F238E27FC236}">
                    <a16:creationId xmlns:a16="http://schemas.microsoft.com/office/drawing/2014/main" id="{7483AE01-4519-4D9B-AF17-BF6851FF605C}"/>
                  </a:ext>
                </a:extLst>
              </p:cNvPr>
              <p:cNvSpPr>
                <a:spLocks noChangeArrowheads="1"/>
              </p:cNvSpPr>
              <p:nvPr/>
            </p:nvSpPr>
            <p:spPr bwMode="auto">
              <a:xfrm rot="5400000">
                <a:off x="4879735" y="3243509"/>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80" name="Isosceles Triangle 11">
                <a:extLst>
                  <a:ext uri="{FF2B5EF4-FFF2-40B4-BE49-F238E27FC236}">
                    <a16:creationId xmlns:a16="http://schemas.microsoft.com/office/drawing/2014/main" id="{50615A7F-D703-4BF0-9CDA-6C1FC60C69ED}"/>
                  </a:ext>
                </a:extLst>
              </p:cNvPr>
              <p:cNvSpPr>
                <a:spLocks noChangeArrowheads="1"/>
              </p:cNvSpPr>
              <p:nvPr/>
            </p:nvSpPr>
            <p:spPr bwMode="auto">
              <a:xfrm rot="5400000">
                <a:off x="5330743" y="3238209"/>
                <a:ext cx="254370" cy="251724"/>
              </a:xfrm>
              <a:prstGeom prst="triangle">
                <a:avLst>
                  <a:gd name="adj" fmla="val 50000"/>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81" name="Rectangle 12">
                <a:extLst>
                  <a:ext uri="{FF2B5EF4-FFF2-40B4-BE49-F238E27FC236}">
                    <a16:creationId xmlns:a16="http://schemas.microsoft.com/office/drawing/2014/main" id="{B184A382-5B1C-4AF0-B940-4823C7EC68E8}"/>
                  </a:ext>
                </a:extLst>
              </p:cNvPr>
              <p:cNvSpPr>
                <a:spLocks noChangeArrowheads="1"/>
              </p:cNvSpPr>
              <p:nvPr/>
            </p:nvSpPr>
            <p:spPr bwMode="auto">
              <a:xfrm>
                <a:off x="4639823" y="2505568"/>
                <a:ext cx="335632" cy="59352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82" name="Rectangle 13">
                <a:extLst>
                  <a:ext uri="{FF2B5EF4-FFF2-40B4-BE49-F238E27FC236}">
                    <a16:creationId xmlns:a16="http://schemas.microsoft.com/office/drawing/2014/main" id="{915FEC7A-2D7E-4E38-8F40-8AC1F0E85C28}"/>
                  </a:ext>
                </a:extLst>
              </p:cNvPr>
              <p:cNvSpPr>
                <a:spLocks noChangeArrowheads="1"/>
              </p:cNvSpPr>
              <p:nvPr/>
            </p:nvSpPr>
            <p:spPr bwMode="auto">
              <a:xfrm>
                <a:off x="6063636" y="2473777"/>
                <a:ext cx="335632" cy="593529"/>
              </a:xfrm>
              <a:prstGeom prst="rect">
                <a:avLst/>
              </a:prstGeom>
              <a:solidFill>
                <a:schemeClr val="accent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83" name="Freeform 15">
                <a:extLst>
                  <a:ext uri="{FF2B5EF4-FFF2-40B4-BE49-F238E27FC236}">
                    <a16:creationId xmlns:a16="http://schemas.microsoft.com/office/drawing/2014/main" id="{71B03665-D089-4808-B55C-BB6FCEE1C8A8}"/>
                  </a:ext>
                </a:extLst>
              </p:cNvPr>
              <p:cNvSpPr>
                <a:spLocks/>
              </p:cNvSpPr>
              <p:nvPr/>
            </p:nvSpPr>
            <p:spPr bwMode="auto">
              <a:xfrm>
                <a:off x="2903978" y="2770529"/>
                <a:ext cx="1646695" cy="314429"/>
              </a:xfrm>
              <a:custGeom>
                <a:avLst/>
                <a:gdLst>
                  <a:gd name="T0" fmla="*/ 0 w 1495425"/>
                  <a:gd name="T1" fmla="*/ 307363 h 282575"/>
                  <a:gd name="T2" fmla="*/ 125862 w 1495425"/>
                  <a:gd name="T3" fmla="*/ 302064 h 282575"/>
                  <a:gd name="T4" fmla="*/ 256969 w 1495425"/>
                  <a:gd name="T5" fmla="*/ 233172 h 282575"/>
                  <a:gd name="T6" fmla="*/ 361854 w 1495425"/>
                  <a:gd name="T7" fmla="*/ 132485 h 282575"/>
                  <a:gd name="T8" fmla="*/ 492960 w 1495425"/>
                  <a:gd name="T9" fmla="*/ 37096 h 282575"/>
                  <a:gd name="T10" fmla="*/ 650287 w 1495425"/>
                  <a:gd name="T11" fmla="*/ 10599 h 282575"/>
                  <a:gd name="T12" fmla="*/ 1646695 w 1495425"/>
                  <a:gd name="T13" fmla="*/ 0 h 28257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95425" h="282575">
                    <a:moveTo>
                      <a:pt x="0" y="276225"/>
                    </a:moveTo>
                    <a:cubicBezTo>
                      <a:pt x="37703" y="279400"/>
                      <a:pt x="75406" y="282575"/>
                      <a:pt x="114300" y="271463"/>
                    </a:cubicBezTo>
                    <a:cubicBezTo>
                      <a:pt x="153194" y="260351"/>
                      <a:pt x="197644" y="234950"/>
                      <a:pt x="233363" y="209550"/>
                    </a:cubicBezTo>
                    <a:cubicBezTo>
                      <a:pt x="269082" y="184150"/>
                      <a:pt x="292894" y="148432"/>
                      <a:pt x="328613" y="119063"/>
                    </a:cubicBezTo>
                    <a:cubicBezTo>
                      <a:pt x="364332" y="89694"/>
                      <a:pt x="404019" y="51594"/>
                      <a:pt x="447675" y="33338"/>
                    </a:cubicBezTo>
                    <a:cubicBezTo>
                      <a:pt x="491331" y="15082"/>
                      <a:pt x="415925" y="15081"/>
                      <a:pt x="590550" y="9525"/>
                    </a:cubicBezTo>
                    <a:cubicBezTo>
                      <a:pt x="765175" y="3969"/>
                      <a:pt x="1130300" y="1984"/>
                      <a:pt x="1495425"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784" name="Freeform 16">
                <a:extLst>
                  <a:ext uri="{FF2B5EF4-FFF2-40B4-BE49-F238E27FC236}">
                    <a16:creationId xmlns:a16="http://schemas.microsoft.com/office/drawing/2014/main" id="{A7A73379-C2A4-41A2-A34F-DAE55242090B}"/>
                  </a:ext>
                </a:extLst>
              </p:cNvPr>
              <p:cNvSpPr>
                <a:spLocks/>
              </p:cNvSpPr>
              <p:nvPr/>
            </p:nvSpPr>
            <p:spPr bwMode="auto">
              <a:xfrm>
                <a:off x="2741406" y="3401166"/>
                <a:ext cx="3251436" cy="741912"/>
              </a:xfrm>
              <a:custGeom>
                <a:avLst/>
                <a:gdLst>
                  <a:gd name="T0" fmla="*/ 0 w 2952750"/>
                  <a:gd name="T1" fmla="*/ 662422 h 666750"/>
                  <a:gd name="T2" fmla="*/ 178305 w 2952750"/>
                  <a:gd name="T3" fmla="*/ 614727 h 666750"/>
                  <a:gd name="T4" fmla="*/ 461494 w 2952750"/>
                  <a:gd name="T5" fmla="*/ 609428 h 666750"/>
                  <a:gd name="T6" fmla="*/ 797126 w 2952750"/>
                  <a:gd name="T7" fmla="*/ 625326 h 666750"/>
                  <a:gd name="T8" fmla="*/ 1227155 w 2952750"/>
                  <a:gd name="T9" fmla="*/ 662422 h 666750"/>
                  <a:gd name="T10" fmla="*/ 1630962 w 2952750"/>
                  <a:gd name="T11" fmla="*/ 715416 h 666750"/>
                  <a:gd name="T12" fmla="*/ 1882686 w 2952750"/>
                  <a:gd name="T13" fmla="*/ 731313 h 666750"/>
                  <a:gd name="T14" fmla="*/ 2113433 w 2952750"/>
                  <a:gd name="T15" fmla="*/ 736613 h 666750"/>
                  <a:gd name="T16" fmla="*/ 2428088 w 2952750"/>
                  <a:gd name="T17" fmla="*/ 699517 h 666750"/>
                  <a:gd name="T18" fmla="*/ 2721766 w 2952750"/>
                  <a:gd name="T19" fmla="*/ 614727 h 666750"/>
                  <a:gd name="T20" fmla="*/ 2957758 w 2952750"/>
                  <a:gd name="T21" fmla="*/ 471645 h 666750"/>
                  <a:gd name="T22" fmla="*/ 3141306 w 2952750"/>
                  <a:gd name="T23" fmla="*/ 238472 h 666750"/>
                  <a:gd name="T24" fmla="*/ 3251436 w 2952750"/>
                  <a:gd name="T25" fmla="*/ 0 h 6667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52750" h="666750">
                    <a:moveTo>
                      <a:pt x="0" y="595313"/>
                    </a:moveTo>
                    <a:cubicBezTo>
                      <a:pt x="46037" y="577850"/>
                      <a:pt x="92075" y="560387"/>
                      <a:pt x="161925" y="552450"/>
                    </a:cubicBezTo>
                    <a:cubicBezTo>
                      <a:pt x="231775" y="544513"/>
                      <a:pt x="325438" y="546101"/>
                      <a:pt x="419100" y="547688"/>
                    </a:cubicBezTo>
                    <a:cubicBezTo>
                      <a:pt x="512762" y="549275"/>
                      <a:pt x="608013" y="554038"/>
                      <a:pt x="723900" y="561975"/>
                    </a:cubicBezTo>
                    <a:cubicBezTo>
                      <a:pt x="839787" y="569912"/>
                      <a:pt x="988219" y="581819"/>
                      <a:pt x="1114425" y="595313"/>
                    </a:cubicBezTo>
                    <a:cubicBezTo>
                      <a:pt x="1240631" y="608807"/>
                      <a:pt x="1381918" y="632619"/>
                      <a:pt x="1481137" y="642938"/>
                    </a:cubicBezTo>
                    <a:cubicBezTo>
                      <a:pt x="1580356" y="653257"/>
                      <a:pt x="1636712" y="654050"/>
                      <a:pt x="1709737" y="657225"/>
                    </a:cubicBezTo>
                    <a:cubicBezTo>
                      <a:pt x="1782762" y="660400"/>
                      <a:pt x="1836737" y="666750"/>
                      <a:pt x="1919287" y="661988"/>
                    </a:cubicBezTo>
                    <a:cubicBezTo>
                      <a:pt x="2001837" y="657226"/>
                      <a:pt x="2112962" y="646906"/>
                      <a:pt x="2205037" y="628650"/>
                    </a:cubicBezTo>
                    <a:cubicBezTo>
                      <a:pt x="2297112" y="610394"/>
                      <a:pt x="2391568" y="586581"/>
                      <a:pt x="2471737" y="552450"/>
                    </a:cubicBezTo>
                    <a:cubicBezTo>
                      <a:pt x="2551906" y="518319"/>
                      <a:pt x="2622550" y="480219"/>
                      <a:pt x="2686050" y="423863"/>
                    </a:cubicBezTo>
                    <a:cubicBezTo>
                      <a:pt x="2749550" y="367507"/>
                      <a:pt x="2808287" y="284957"/>
                      <a:pt x="2852737" y="214313"/>
                    </a:cubicBezTo>
                    <a:cubicBezTo>
                      <a:pt x="2897187" y="143669"/>
                      <a:pt x="2924968" y="71834"/>
                      <a:pt x="295275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32785" name="Freeform 17">
                <a:extLst>
                  <a:ext uri="{FF2B5EF4-FFF2-40B4-BE49-F238E27FC236}">
                    <a16:creationId xmlns:a16="http://schemas.microsoft.com/office/drawing/2014/main" id="{56EE3051-4219-46F8-86AB-C9573E38DC9E}"/>
                  </a:ext>
                </a:extLst>
              </p:cNvPr>
              <p:cNvSpPr>
                <a:spLocks/>
              </p:cNvSpPr>
              <p:nvPr/>
            </p:nvSpPr>
            <p:spPr bwMode="auto">
              <a:xfrm>
                <a:off x="3549021" y="3429000"/>
                <a:ext cx="298922" cy="317962"/>
              </a:xfrm>
              <a:custGeom>
                <a:avLst/>
                <a:gdLst>
                  <a:gd name="T0" fmla="*/ 298922 w 271462"/>
                  <a:gd name="T1" fmla="*/ 317962 h 285750"/>
                  <a:gd name="T2" fmla="*/ 220259 w 271462"/>
                  <a:gd name="T3" fmla="*/ 249071 h 285750"/>
                  <a:gd name="T4" fmla="*/ 125862 w 271462"/>
                  <a:gd name="T5" fmla="*/ 190777 h 285750"/>
                  <a:gd name="T6" fmla="*/ 36709 w 271462"/>
                  <a:gd name="T7" fmla="*/ 111287 h 285750"/>
                  <a:gd name="T8" fmla="*/ 0 w 271462"/>
                  <a:gd name="T9" fmla="*/ 0 h 2857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1462" h="285750">
                    <a:moveTo>
                      <a:pt x="271462" y="285750"/>
                    </a:moveTo>
                    <a:cubicBezTo>
                      <a:pt x="248840" y="264319"/>
                      <a:pt x="226219" y="242888"/>
                      <a:pt x="200025" y="223838"/>
                    </a:cubicBezTo>
                    <a:cubicBezTo>
                      <a:pt x="173831" y="204788"/>
                      <a:pt x="142081" y="192088"/>
                      <a:pt x="114300" y="171450"/>
                    </a:cubicBezTo>
                    <a:cubicBezTo>
                      <a:pt x="86519" y="150813"/>
                      <a:pt x="52387" y="128588"/>
                      <a:pt x="33337" y="100013"/>
                    </a:cubicBezTo>
                    <a:cubicBezTo>
                      <a:pt x="14287" y="71438"/>
                      <a:pt x="7143" y="35719"/>
                      <a:pt x="0" y="0"/>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2786" name="Straight Connector 18">
                <a:extLst>
                  <a:ext uri="{FF2B5EF4-FFF2-40B4-BE49-F238E27FC236}">
                    <a16:creationId xmlns:a16="http://schemas.microsoft.com/office/drawing/2014/main" id="{52C8ABB2-6E31-4551-AC4A-911C4611A583}"/>
                  </a:ext>
                </a:extLst>
              </p:cNvPr>
              <p:cNvCxnSpPr>
                <a:cxnSpLocks noChangeShapeType="1"/>
              </p:cNvCxnSpPr>
              <p:nvPr/>
            </p:nvCxnSpPr>
            <p:spPr bwMode="auto">
              <a:xfrm>
                <a:off x="2641765" y="3570746"/>
                <a:ext cx="839080" cy="0"/>
              </a:xfrm>
              <a:prstGeom prst="line">
                <a:avLst/>
              </a:prstGeom>
              <a:noFill/>
              <a:ln w="9525" algn="ctr">
                <a:solidFill>
                  <a:srgbClr val="0000FF"/>
                </a:solidFill>
                <a:round/>
                <a:headEnd/>
                <a:tailEnd type="triangle" w="med" len="med"/>
              </a:ln>
              <a:extLst>
                <a:ext uri="{909E8E84-426E-40DD-AFC4-6F175D3DCCD1}">
                  <a14:hiddenFill xmlns:a14="http://schemas.microsoft.com/office/drawing/2010/main">
                    <a:noFill/>
                  </a14:hiddenFill>
                </a:ext>
              </a:extLst>
            </p:spPr>
          </p:cxnSp>
          <p:sp>
            <p:nvSpPr>
              <p:cNvPr id="32787" name="Freeform 19">
                <a:extLst>
                  <a:ext uri="{FF2B5EF4-FFF2-40B4-BE49-F238E27FC236}">
                    <a16:creationId xmlns:a16="http://schemas.microsoft.com/office/drawing/2014/main" id="{2EA379CE-F6DE-4772-B632-26316DD66ADC}"/>
                  </a:ext>
                </a:extLst>
              </p:cNvPr>
              <p:cNvSpPr>
                <a:spLocks/>
              </p:cNvSpPr>
              <p:nvPr/>
            </p:nvSpPr>
            <p:spPr bwMode="auto">
              <a:xfrm>
                <a:off x="4785790" y="2323624"/>
                <a:ext cx="1214919" cy="574098"/>
              </a:xfrm>
              <a:custGeom>
                <a:avLst/>
                <a:gdLst>
                  <a:gd name="T0" fmla="*/ 21851 w 1103313"/>
                  <a:gd name="T1" fmla="*/ 574098 h 515937"/>
                  <a:gd name="T2" fmla="*/ 6118 w 1103313"/>
                  <a:gd name="T3" fmla="*/ 415117 h 515937"/>
                  <a:gd name="T4" fmla="*/ 58561 w 1103313"/>
                  <a:gd name="T5" fmla="*/ 234938 h 515937"/>
                  <a:gd name="T6" fmla="*/ 231621 w 1103313"/>
                  <a:gd name="T7" fmla="*/ 75957 h 515937"/>
                  <a:gd name="T8" fmla="*/ 656405 w 1103313"/>
                  <a:gd name="T9" fmla="*/ 1766 h 515937"/>
                  <a:gd name="T10" fmla="*/ 1123144 w 1103313"/>
                  <a:gd name="T11" fmla="*/ 65358 h 515937"/>
                  <a:gd name="T12" fmla="*/ 1207052 w 1103313"/>
                  <a:gd name="T13" fmla="*/ 176645 h 5159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03313" h="515937">
                    <a:moveTo>
                      <a:pt x="19844" y="515937"/>
                    </a:moveTo>
                    <a:cubicBezTo>
                      <a:pt x="9922" y="469899"/>
                      <a:pt x="0" y="423862"/>
                      <a:pt x="5556" y="373062"/>
                    </a:cubicBezTo>
                    <a:cubicBezTo>
                      <a:pt x="11112" y="322262"/>
                      <a:pt x="19050" y="261937"/>
                      <a:pt x="53181" y="211137"/>
                    </a:cubicBezTo>
                    <a:cubicBezTo>
                      <a:pt x="87312" y="160337"/>
                      <a:pt x="119857" y="103187"/>
                      <a:pt x="210344" y="68262"/>
                    </a:cubicBezTo>
                    <a:cubicBezTo>
                      <a:pt x="300831" y="33337"/>
                      <a:pt x="461169" y="3174"/>
                      <a:pt x="596106" y="1587"/>
                    </a:cubicBezTo>
                    <a:cubicBezTo>
                      <a:pt x="731043" y="0"/>
                      <a:pt x="936625" y="32543"/>
                      <a:pt x="1019969" y="58737"/>
                    </a:cubicBezTo>
                    <a:cubicBezTo>
                      <a:pt x="1103313" y="84931"/>
                      <a:pt x="1099741" y="121840"/>
                      <a:pt x="1096169" y="158749"/>
                    </a:cubicBezTo>
                  </a:path>
                </a:pathLst>
              </a:custGeom>
              <a:noFill/>
              <a:ln w="9525" cap="flat" cmpd="sng" algn="ctr">
                <a:solidFill>
                  <a:srgbClr val="0000FF"/>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nchor="ctr"/>
              <a:lstStyle/>
              <a:p>
                <a:endParaRPr lang="en-US"/>
              </a:p>
            </p:txBody>
          </p:sp>
          <p:cxnSp>
            <p:nvCxnSpPr>
              <p:cNvPr id="32788" name="Straight Connector 20">
                <a:extLst>
                  <a:ext uri="{FF2B5EF4-FFF2-40B4-BE49-F238E27FC236}">
                    <a16:creationId xmlns:a16="http://schemas.microsoft.com/office/drawing/2014/main" id="{DF574FB5-48B5-4359-BBA0-63E50156EA2E}"/>
                  </a:ext>
                </a:extLst>
              </p:cNvPr>
              <p:cNvCxnSpPr>
                <a:cxnSpLocks noChangeShapeType="1"/>
              </p:cNvCxnSpPr>
              <p:nvPr/>
            </p:nvCxnSpPr>
            <p:spPr bwMode="auto">
              <a:xfrm>
                <a:off x="2633374" y="3365483"/>
                <a:ext cx="167816" cy="0"/>
              </a:xfrm>
              <a:prstGeom prst="line">
                <a:avLst/>
              </a:prstGeom>
              <a:noFill/>
              <a:ln w="9525" algn="ctr">
                <a:solidFill>
                  <a:schemeClr val="tx1"/>
                </a:solidFill>
                <a:round/>
                <a:headEnd/>
                <a:tailEnd/>
              </a:ln>
            </p:spPr>
          </p:cxnSp>
          <p:cxnSp>
            <p:nvCxnSpPr>
              <p:cNvPr id="32789" name="Straight Connector 21">
                <a:extLst>
                  <a:ext uri="{FF2B5EF4-FFF2-40B4-BE49-F238E27FC236}">
                    <a16:creationId xmlns:a16="http://schemas.microsoft.com/office/drawing/2014/main" id="{5B638CA8-08F7-48DC-ADF3-37D73B51B7EB}"/>
                  </a:ext>
                </a:extLst>
              </p:cNvPr>
              <p:cNvCxnSpPr>
                <a:cxnSpLocks noChangeShapeType="1"/>
              </p:cNvCxnSpPr>
              <p:nvPr/>
            </p:nvCxnSpPr>
            <p:spPr bwMode="auto">
              <a:xfrm>
                <a:off x="3040335" y="3369366"/>
                <a:ext cx="251724" cy="0"/>
              </a:xfrm>
              <a:prstGeom prst="line">
                <a:avLst/>
              </a:prstGeom>
              <a:noFill/>
              <a:ln w="9525" algn="ctr">
                <a:solidFill>
                  <a:schemeClr val="tx1"/>
                </a:solidFill>
                <a:round/>
                <a:headEnd/>
                <a:tailEnd/>
              </a:ln>
            </p:spPr>
          </p:cxnSp>
          <p:cxnSp>
            <p:nvCxnSpPr>
              <p:cNvPr id="32790" name="Straight Connector 22">
                <a:extLst>
                  <a:ext uri="{FF2B5EF4-FFF2-40B4-BE49-F238E27FC236}">
                    <a16:creationId xmlns:a16="http://schemas.microsoft.com/office/drawing/2014/main" id="{C7A1DCA9-8748-4FD9-AFE8-00ABC0B0E134}"/>
                  </a:ext>
                </a:extLst>
              </p:cNvPr>
              <p:cNvCxnSpPr>
                <a:cxnSpLocks noChangeShapeType="1"/>
                <a:stCxn id="32776" idx="0"/>
                <a:endCxn id="32779" idx="3"/>
              </p:cNvCxnSpPr>
              <p:nvPr/>
            </p:nvCxnSpPr>
            <p:spPr bwMode="auto">
              <a:xfrm>
                <a:off x="3549019" y="3369371"/>
                <a:ext cx="1332039" cy="0"/>
              </a:xfrm>
              <a:prstGeom prst="line">
                <a:avLst/>
              </a:prstGeom>
              <a:noFill/>
              <a:ln w="9525" algn="ctr">
                <a:solidFill>
                  <a:schemeClr val="tx1"/>
                </a:solidFill>
                <a:round/>
                <a:headEnd/>
                <a:tailEnd/>
              </a:ln>
            </p:spPr>
          </p:cxnSp>
          <p:cxnSp>
            <p:nvCxnSpPr>
              <p:cNvPr id="32791" name="Straight Connector 23">
                <a:extLst>
                  <a:ext uri="{FF2B5EF4-FFF2-40B4-BE49-F238E27FC236}">
                    <a16:creationId xmlns:a16="http://schemas.microsoft.com/office/drawing/2014/main" id="{2857ED5D-DFA4-409E-A0B7-1C0BAAA0E4A4}"/>
                  </a:ext>
                </a:extLst>
              </p:cNvPr>
              <p:cNvCxnSpPr>
                <a:cxnSpLocks noChangeShapeType="1"/>
                <a:stCxn id="32779" idx="0"/>
                <a:endCxn id="32780" idx="3"/>
              </p:cNvCxnSpPr>
              <p:nvPr/>
            </p:nvCxnSpPr>
            <p:spPr bwMode="auto">
              <a:xfrm flipV="1">
                <a:off x="5132781" y="3364071"/>
                <a:ext cx="199285" cy="0"/>
              </a:xfrm>
              <a:prstGeom prst="line">
                <a:avLst/>
              </a:prstGeom>
              <a:noFill/>
              <a:ln w="9525" algn="ctr">
                <a:solidFill>
                  <a:schemeClr val="tx1"/>
                </a:solidFill>
                <a:round/>
                <a:headEnd/>
                <a:tailEnd/>
              </a:ln>
            </p:spPr>
          </p:cxnSp>
          <p:sp>
            <p:nvSpPr>
              <p:cNvPr id="32792" name="Isosceles Triangle 24">
                <a:extLst>
                  <a:ext uri="{FF2B5EF4-FFF2-40B4-BE49-F238E27FC236}">
                    <a16:creationId xmlns:a16="http://schemas.microsoft.com/office/drawing/2014/main" id="{80C6B710-E602-4C1E-929A-D557CD5CD6E8}"/>
                  </a:ext>
                </a:extLst>
              </p:cNvPr>
              <p:cNvSpPr>
                <a:spLocks noChangeArrowheads="1"/>
              </p:cNvSpPr>
              <p:nvPr/>
            </p:nvSpPr>
            <p:spPr bwMode="auto">
              <a:xfrm rot="5400000">
                <a:off x="4639382" y="2961758"/>
                <a:ext cx="84790" cy="83908"/>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32793" name="Isosceles Triangle 25">
                <a:extLst>
                  <a:ext uri="{FF2B5EF4-FFF2-40B4-BE49-F238E27FC236}">
                    <a16:creationId xmlns:a16="http://schemas.microsoft.com/office/drawing/2014/main" id="{542829A5-2540-4DF6-B7B6-98A428AD4102}"/>
                  </a:ext>
                </a:extLst>
              </p:cNvPr>
              <p:cNvSpPr>
                <a:spLocks noChangeArrowheads="1"/>
              </p:cNvSpPr>
              <p:nvPr/>
            </p:nvSpPr>
            <p:spPr bwMode="auto">
              <a:xfrm rot="5400000">
                <a:off x="6063195" y="2935258"/>
                <a:ext cx="84790" cy="83908"/>
              </a:xfrm>
              <a:prstGeom prst="triangle">
                <a:avLst>
                  <a:gd name="adj" fmla="val 50000"/>
                </a:avLst>
              </a:prstGeom>
              <a:solidFill>
                <a:schemeClr val="bg1"/>
              </a:solidFill>
              <a:ln w="9525" algn="ctr">
                <a:solidFill>
                  <a:schemeClr val="tx1"/>
                </a:solidFill>
                <a:round/>
                <a:headEnd/>
                <a:tailEnd/>
              </a:ln>
            </p:spPr>
            <p:txBody>
              <a:bodyPr anchor="ct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32794" name="Shape 26">
                <a:extLst>
                  <a:ext uri="{FF2B5EF4-FFF2-40B4-BE49-F238E27FC236}">
                    <a16:creationId xmlns:a16="http://schemas.microsoft.com/office/drawing/2014/main" id="{6099B1B1-DACE-455C-A584-BCCF68708245}"/>
                  </a:ext>
                </a:extLst>
              </p:cNvPr>
              <p:cNvCxnSpPr>
                <a:cxnSpLocks noChangeShapeType="1"/>
                <a:endCxn id="32777" idx="3"/>
              </p:cNvCxnSpPr>
              <p:nvPr/>
            </p:nvCxnSpPr>
            <p:spPr bwMode="auto">
              <a:xfrm rot="5400000" flipH="1" flipV="1">
                <a:off x="3484159" y="3168214"/>
                <a:ext cx="370955" cy="41950"/>
              </a:xfrm>
              <a:prstGeom prst="bentConnector2">
                <a:avLst/>
              </a:prstGeom>
              <a:noFill/>
              <a:ln w="9525" algn="ctr">
                <a:solidFill>
                  <a:schemeClr val="tx1"/>
                </a:solidFill>
                <a:round/>
                <a:headEnd/>
                <a:tailEnd/>
              </a:ln>
            </p:spPr>
          </p:cxnSp>
          <p:cxnSp>
            <p:nvCxnSpPr>
              <p:cNvPr id="32795" name="Straight Connector 27">
                <a:extLst>
                  <a:ext uri="{FF2B5EF4-FFF2-40B4-BE49-F238E27FC236}">
                    <a16:creationId xmlns:a16="http://schemas.microsoft.com/office/drawing/2014/main" id="{245EE9A3-0C68-4908-A1AF-1C7F96E94F54}"/>
                  </a:ext>
                </a:extLst>
              </p:cNvPr>
              <p:cNvCxnSpPr>
                <a:cxnSpLocks noChangeShapeType="1"/>
                <a:stCxn id="32777" idx="0"/>
                <a:endCxn id="32778" idx="3"/>
              </p:cNvCxnSpPr>
              <p:nvPr/>
            </p:nvCxnSpPr>
            <p:spPr bwMode="auto">
              <a:xfrm>
                <a:off x="3942335" y="3003712"/>
                <a:ext cx="194040" cy="1767"/>
              </a:xfrm>
              <a:prstGeom prst="line">
                <a:avLst/>
              </a:prstGeom>
              <a:noFill/>
              <a:ln w="9525" algn="ctr">
                <a:solidFill>
                  <a:schemeClr val="tx1"/>
                </a:solidFill>
                <a:round/>
                <a:headEnd/>
                <a:tailEnd/>
              </a:ln>
            </p:spPr>
          </p:cxnSp>
          <p:cxnSp>
            <p:nvCxnSpPr>
              <p:cNvPr id="32796" name="Straight Connector 28">
                <a:extLst>
                  <a:ext uri="{FF2B5EF4-FFF2-40B4-BE49-F238E27FC236}">
                    <a16:creationId xmlns:a16="http://schemas.microsoft.com/office/drawing/2014/main" id="{990E62C1-65DC-468D-BE49-0EB54EB83B6A}"/>
                  </a:ext>
                </a:extLst>
              </p:cNvPr>
              <p:cNvCxnSpPr>
                <a:cxnSpLocks noChangeShapeType="1"/>
                <a:stCxn id="32778" idx="0"/>
                <a:endCxn id="32792" idx="3"/>
              </p:cNvCxnSpPr>
              <p:nvPr/>
            </p:nvCxnSpPr>
            <p:spPr bwMode="auto">
              <a:xfrm>
                <a:off x="4388099" y="3003712"/>
                <a:ext cx="251724" cy="0"/>
              </a:xfrm>
              <a:prstGeom prst="line">
                <a:avLst/>
              </a:prstGeom>
              <a:noFill/>
              <a:ln w="9525" algn="ctr">
                <a:solidFill>
                  <a:schemeClr val="tx1"/>
                </a:solidFill>
                <a:round/>
                <a:headEnd/>
                <a:tailEnd/>
              </a:ln>
            </p:spPr>
          </p:cxnSp>
          <p:cxnSp>
            <p:nvCxnSpPr>
              <p:cNvPr id="32797" name="Elbow Connector 29">
                <a:extLst>
                  <a:ext uri="{FF2B5EF4-FFF2-40B4-BE49-F238E27FC236}">
                    <a16:creationId xmlns:a16="http://schemas.microsoft.com/office/drawing/2014/main" id="{5635EDC6-08B8-4E8D-9DCA-967373E611A4}"/>
                  </a:ext>
                </a:extLst>
              </p:cNvPr>
              <p:cNvCxnSpPr>
                <a:cxnSpLocks noChangeShapeType="1"/>
                <a:stCxn id="32780" idx="0"/>
                <a:endCxn id="32793" idx="3"/>
              </p:cNvCxnSpPr>
              <p:nvPr/>
            </p:nvCxnSpPr>
            <p:spPr bwMode="auto">
              <a:xfrm flipV="1">
                <a:off x="5583790" y="2977212"/>
                <a:ext cx="479846" cy="386859"/>
              </a:xfrm>
              <a:prstGeom prst="bentConnector3">
                <a:avLst>
                  <a:gd name="adj1" fmla="val 50000"/>
                </a:avLst>
              </a:prstGeom>
              <a:noFill/>
              <a:ln w="9525" algn="ctr">
                <a:solidFill>
                  <a:schemeClr val="tx1"/>
                </a:solidFill>
                <a:round/>
                <a:headEnd/>
                <a:tailEnd/>
              </a:ln>
            </p:spPr>
          </p:cxnSp>
          <p:sp>
            <p:nvSpPr>
              <p:cNvPr id="32798" name="TextBox 30">
                <a:extLst>
                  <a:ext uri="{FF2B5EF4-FFF2-40B4-BE49-F238E27FC236}">
                    <a16:creationId xmlns:a16="http://schemas.microsoft.com/office/drawing/2014/main" id="{AD0B3F71-D60B-4229-89E6-4C29A3ED85F0}"/>
                  </a:ext>
                </a:extLst>
              </p:cNvPr>
              <p:cNvSpPr txBox="1">
                <a:spLocks noChangeArrowheads="1"/>
              </p:cNvSpPr>
              <p:nvPr/>
            </p:nvSpPr>
            <p:spPr bwMode="auto">
              <a:xfrm>
                <a:off x="4572175" y="2510868"/>
                <a:ext cx="453964" cy="21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dirty="0">
                    <a:solidFill>
                      <a:schemeClr val="bg1"/>
                    </a:solidFill>
                  </a:rPr>
                  <a:t>D    Q</a:t>
                </a:r>
                <a:endParaRPr lang="en-US" altLang="en-US" b="1" dirty="0">
                  <a:solidFill>
                    <a:schemeClr val="bg1"/>
                  </a:solidFill>
                </a:endParaRPr>
              </a:p>
            </p:txBody>
          </p:sp>
          <p:cxnSp>
            <p:nvCxnSpPr>
              <p:cNvPr id="32799" name="Straight Connector 31">
                <a:extLst>
                  <a:ext uri="{FF2B5EF4-FFF2-40B4-BE49-F238E27FC236}">
                    <a16:creationId xmlns:a16="http://schemas.microsoft.com/office/drawing/2014/main" id="{73A8FDC2-39DA-4AD0-B24D-EDCCE6E2353B}"/>
                  </a:ext>
                </a:extLst>
              </p:cNvPr>
              <p:cNvCxnSpPr>
                <a:cxnSpLocks noChangeShapeType="1"/>
              </p:cNvCxnSpPr>
              <p:nvPr/>
            </p:nvCxnSpPr>
            <p:spPr bwMode="auto">
              <a:xfrm>
                <a:off x="4477252" y="2632757"/>
                <a:ext cx="167816" cy="0"/>
              </a:xfrm>
              <a:prstGeom prst="line">
                <a:avLst/>
              </a:prstGeom>
              <a:noFill/>
              <a:ln w="9525" algn="ctr">
                <a:solidFill>
                  <a:schemeClr val="tx1"/>
                </a:solidFill>
                <a:round/>
                <a:headEnd/>
                <a:tailEnd/>
              </a:ln>
            </p:spPr>
          </p:cxnSp>
          <p:cxnSp>
            <p:nvCxnSpPr>
              <p:cNvPr id="32800" name="Straight Connector 32">
                <a:extLst>
                  <a:ext uri="{FF2B5EF4-FFF2-40B4-BE49-F238E27FC236}">
                    <a16:creationId xmlns:a16="http://schemas.microsoft.com/office/drawing/2014/main" id="{783310CC-D22C-4637-9724-D603CB50705D}"/>
                  </a:ext>
                </a:extLst>
              </p:cNvPr>
              <p:cNvCxnSpPr>
                <a:cxnSpLocks noChangeShapeType="1"/>
                <a:endCxn id="45" idx="2"/>
              </p:cNvCxnSpPr>
              <p:nvPr/>
            </p:nvCxnSpPr>
            <p:spPr bwMode="auto">
              <a:xfrm flipV="1">
                <a:off x="4975455" y="2592688"/>
                <a:ext cx="241260" cy="0"/>
              </a:xfrm>
              <a:prstGeom prst="line">
                <a:avLst/>
              </a:prstGeom>
              <a:noFill/>
              <a:ln w="9525" algn="ctr">
                <a:solidFill>
                  <a:schemeClr val="tx1"/>
                </a:solidFill>
                <a:round/>
                <a:headEnd/>
                <a:tailEnd/>
              </a:ln>
            </p:spPr>
          </p:cxnSp>
          <p:cxnSp>
            <p:nvCxnSpPr>
              <p:cNvPr id="32801" name="Straight Connector 33">
                <a:extLst>
                  <a:ext uri="{FF2B5EF4-FFF2-40B4-BE49-F238E27FC236}">
                    <a16:creationId xmlns:a16="http://schemas.microsoft.com/office/drawing/2014/main" id="{796F4E4B-16FF-451F-8128-6600C88FEC9C}"/>
                  </a:ext>
                </a:extLst>
              </p:cNvPr>
              <p:cNvCxnSpPr>
                <a:cxnSpLocks noChangeShapeType="1"/>
                <a:stCxn id="45" idx="0"/>
              </p:cNvCxnSpPr>
              <p:nvPr/>
            </p:nvCxnSpPr>
            <p:spPr bwMode="auto">
              <a:xfrm>
                <a:off x="5785970" y="2592688"/>
                <a:ext cx="282914" cy="0"/>
              </a:xfrm>
              <a:prstGeom prst="line">
                <a:avLst/>
              </a:prstGeom>
              <a:noFill/>
              <a:ln w="9525" algn="ctr">
                <a:solidFill>
                  <a:schemeClr val="tx1"/>
                </a:solidFill>
                <a:round/>
                <a:headEnd/>
                <a:tailEnd/>
              </a:ln>
            </p:spPr>
          </p:cxnSp>
          <p:sp>
            <p:nvSpPr>
              <p:cNvPr id="32802" name="TextBox 34">
                <a:extLst>
                  <a:ext uri="{FF2B5EF4-FFF2-40B4-BE49-F238E27FC236}">
                    <a16:creationId xmlns:a16="http://schemas.microsoft.com/office/drawing/2014/main" id="{57D857CB-01CE-4596-AAD7-F3FA01F306CF}"/>
                  </a:ext>
                </a:extLst>
              </p:cNvPr>
              <p:cNvSpPr txBox="1">
                <a:spLocks noChangeArrowheads="1"/>
              </p:cNvSpPr>
              <p:nvPr/>
            </p:nvSpPr>
            <p:spPr bwMode="auto">
              <a:xfrm>
                <a:off x="5977109" y="2496736"/>
                <a:ext cx="453964" cy="215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sz="800" b="1" dirty="0">
                    <a:solidFill>
                      <a:schemeClr val="bg1"/>
                    </a:solidFill>
                  </a:rPr>
                  <a:t>D    Q</a:t>
                </a:r>
                <a:endParaRPr lang="en-US" altLang="en-US" b="1" dirty="0">
                  <a:solidFill>
                    <a:schemeClr val="bg1"/>
                  </a:solidFill>
                </a:endParaRPr>
              </a:p>
            </p:txBody>
          </p:sp>
          <p:sp>
            <p:nvSpPr>
              <p:cNvPr id="32803" name="TextBox 35">
                <a:extLst>
                  <a:ext uri="{FF2B5EF4-FFF2-40B4-BE49-F238E27FC236}">
                    <a16:creationId xmlns:a16="http://schemas.microsoft.com/office/drawing/2014/main" id="{1738450E-A826-4DA1-81A5-B6F7902C76B7}"/>
                  </a:ext>
                </a:extLst>
              </p:cNvPr>
              <p:cNvSpPr txBox="1">
                <a:spLocks noChangeArrowheads="1"/>
              </p:cNvSpPr>
              <p:nvPr/>
            </p:nvSpPr>
            <p:spPr bwMode="auto">
              <a:xfrm>
                <a:off x="4643438" y="2857496"/>
                <a:ext cx="344961"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CK</a:t>
                </a:r>
              </a:p>
            </p:txBody>
          </p:sp>
          <p:sp>
            <p:nvSpPr>
              <p:cNvPr id="32804" name="TextBox 36">
                <a:extLst>
                  <a:ext uri="{FF2B5EF4-FFF2-40B4-BE49-F238E27FC236}">
                    <a16:creationId xmlns:a16="http://schemas.microsoft.com/office/drawing/2014/main" id="{2EC82349-0672-4795-B6D5-0C3E340D968B}"/>
                  </a:ext>
                </a:extLst>
              </p:cNvPr>
              <p:cNvSpPr txBox="1">
                <a:spLocks noChangeArrowheads="1"/>
              </p:cNvSpPr>
              <p:nvPr/>
            </p:nvSpPr>
            <p:spPr bwMode="auto">
              <a:xfrm>
                <a:off x="6072198" y="2814957"/>
                <a:ext cx="344961"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chemeClr val="bg1"/>
                    </a:solidFill>
                  </a:rPr>
                  <a:t>CK</a:t>
                </a:r>
              </a:p>
            </p:txBody>
          </p:sp>
          <p:sp>
            <p:nvSpPr>
              <p:cNvPr id="32805" name="TextBox 37">
                <a:extLst>
                  <a:ext uri="{FF2B5EF4-FFF2-40B4-BE49-F238E27FC236}">
                    <a16:creationId xmlns:a16="http://schemas.microsoft.com/office/drawing/2014/main" id="{EE5C1E49-1E20-485C-ABF5-79796203A98A}"/>
                  </a:ext>
                </a:extLst>
              </p:cNvPr>
              <p:cNvSpPr txBox="1">
                <a:spLocks noChangeArrowheads="1"/>
              </p:cNvSpPr>
              <p:nvPr/>
            </p:nvSpPr>
            <p:spPr bwMode="auto">
              <a:xfrm>
                <a:off x="4152109" y="4086547"/>
                <a:ext cx="1146452"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Capture clock path</a:t>
                </a:r>
              </a:p>
            </p:txBody>
          </p:sp>
          <p:sp>
            <p:nvSpPr>
              <p:cNvPr id="32806" name="TextBox 38">
                <a:extLst>
                  <a:ext uri="{FF2B5EF4-FFF2-40B4-BE49-F238E27FC236}">
                    <a16:creationId xmlns:a16="http://schemas.microsoft.com/office/drawing/2014/main" id="{0379D33F-F977-4C5A-9972-73EFA48FEDE3}"/>
                  </a:ext>
                </a:extLst>
              </p:cNvPr>
              <p:cNvSpPr txBox="1">
                <a:spLocks noChangeArrowheads="1"/>
              </p:cNvSpPr>
              <p:nvPr/>
            </p:nvSpPr>
            <p:spPr bwMode="auto">
              <a:xfrm>
                <a:off x="2536880" y="3551312"/>
                <a:ext cx="947682" cy="369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Common clock</a:t>
                </a:r>
              </a:p>
              <a:p>
                <a:pPr eaLnBrk="1" hangingPunct="1"/>
                <a:r>
                  <a:rPr lang="en-US" altLang="en-US"/>
                  <a:t>        path</a:t>
                </a:r>
              </a:p>
            </p:txBody>
          </p:sp>
          <p:sp>
            <p:nvSpPr>
              <p:cNvPr id="32807" name="TextBox 39">
                <a:extLst>
                  <a:ext uri="{FF2B5EF4-FFF2-40B4-BE49-F238E27FC236}">
                    <a16:creationId xmlns:a16="http://schemas.microsoft.com/office/drawing/2014/main" id="{74EC81E1-A468-4A68-A322-47CFC94D6010}"/>
                  </a:ext>
                </a:extLst>
              </p:cNvPr>
              <p:cNvSpPr txBox="1">
                <a:spLocks noChangeArrowheads="1"/>
              </p:cNvSpPr>
              <p:nvPr/>
            </p:nvSpPr>
            <p:spPr bwMode="auto">
              <a:xfrm>
                <a:off x="3459868" y="3712058"/>
                <a:ext cx="934858"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Common point</a:t>
                </a:r>
              </a:p>
            </p:txBody>
          </p:sp>
          <p:sp>
            <p:nvSpPr>
              <p:cNvPr id="32808" name="TextBox 40">
                <a:extLst>
                  <a:ext uri="{FF2B5EF4-FFF2-40B4-BE49-F238E27FC236}">
                    <a16:creationId xmlns:a16="http://schemas.microsoft.com/office/drawing/2014/main" id="{8CC87925-0F53-4B25-8321-2F41AFACB360}"/>
                  </a:ext>
                </a:extLst>
              </p:cNvPr>
              <p:cNvSpPr txBox="1">
                <a:spLocks noChangeArrowheads="1"/>
              </p:cNvSpPr>
              <p:nvPr/>
            </p:nvSpPr>
            <p:spPr bwMode="auto">
              <a:xfrm>
                <a:off x="2725673" y="2529581"/>
                <a:ext cx="1114408"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Launch clock path</a:t>
                </a:r>
              </a:p>
            </p:txBody>
          </p:sp>
          <p:sp>
            <p:nvSpPr>
              <p:cNvPr id="32809" name="TextBox 41">
                <a:extLst>
                  <a:ext uri="{FF2B5EF4-FFF2-40B4-BE49-F238E27FC236}">
                    <a16:creationId xmlns:a16="http://schemas.microsoft.com/office/drawing/2014/main" id="{B384B252-6431-4E2D-B3B1-AF5993532FC2}"/>
                  </a:ext>
                </a:extLst>
              </p:cNvPr>
              <p:cNvSpPr txBox="1">
                <a:spLocks noChangeArrowheads="1"/>
              </p:cNvSpPr>
              <p:nvPr/>
            </p:nvSpPr>
            <p:spPr bwMode="auto">
              <a:xfrm>
                <a:off x="4480749" y="2298893"/>
                <a:ext cx="473199"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UFF0</a:t>
                </a:r>
              </a:p>
            </p:txBody>
          </p:sp>
          <p:sp>
            <p:nvSpPr>
              <p:cNvPr id="32810" name="TextBox 42">
                <a:extLst>
                  <a:ext uri="{FF2B5EF4-FFF2-40B4-BE49-F238E27FC236}">
                    <a16:creationId xmlns:a16="http://schemas.microsoft.com/office/drawing/2014/main" id="{CCDFC087-39D1-43C9-BD53-2840828C0E75}"/>
                  </a:ext>
                </a:extLst>
              </p:cNvPr>
              <p:cNvSpPr txBox="1">
                <a:spLocks noChangeArrowheads="1"/>
              </p:cNvSpPr>
              <p:nvPr/>
            </p:nvSpPr>
            <p:spPr bwMode="auto">
              <a:xfrm>
                <a:off x="5924522" y="2256498"/>
                <a:ext cx="473199" cy="230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900">
                    <a:solidFill>
                      <a:schemeClr val="tx1"/>
                    </a:solidFill>
                    <a:latin typeface="Arial" panose="020B0604020202020204" pitchFamily="34" charset="0"/>
                    <a:cs typeface="Arial" panose="020B0604020202020204" pitchFamily="34" charset="0"/>
                  </a:defRPr>
                </a:lvl1pPr>
                <a:lvl2pPr marL="742950" indent="-285750">
                  <a:defRPr sz="900">
                    <a:solidFill>
                      <a:schemeClr val="tx1"/>
                    </a:solidFill>
                    <a:latin typeface="Arial" panose="020B0604020202020204" pitchFamily="34" charset="0"/>
                    <a:cs typeface="Arial" panose="020B0604020202020204" pitchFamily="34" charset="0"/>
                  </a:defRPr>
                </a:lvl2pPr>
                <a:lvl3pPr marL="1143000" indent="-228600">
                  <a:defRPr sz="900">
                    <a:solidFill>
                      <a:schemeClr val="tx1"/>
                    </a:solidFill>
                    <a:latin typeface="Arial" panose="020B0604020202020204" pitchFamily="34" charset="0"/>
                    <a:cs typeface="Arial" panose="020B0604020202020204" pitchFamily="34" charset="0"/>
                  </a:defRPr>
                </a:lvl3pPr>
                <a:lvl4pPr marL="1600200" indent="-228600">
                  <a:defRPr sz="900">
                    <a:solidFill>
                      <a:schemeClr val="tx1"/>
                    </a:solidFill>
                    <a:latin typeface="Arial" panose="020B0604020202020204" pitchFamily="34" charset="0"/>
                    <a:cs typeface="Arial" panose="020B0604020202020204" pitchFamily="34" charset="0"/>
                  </a:defRPr>
                </a:lvl4pPr>
                <a:lvl5pPr marL="2057400" indent="-228600">
                  <a:defRPr sz="9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900">
                    <a:solidFill>
                      <a:schemeClr val="tx1"/>
                    </a:solidFill>
                    <a:latin typeface="Arial" panose="020B0604020202020204" pitchFamily="34" charset="0"/>
                    <a:cs typeface="Arial" panose="020B0604020202020204" pitchFamily="34" charset="0"/>
                  </a:defRPr>
                </a:lvl9pPr>
              </a:lstStyle>
              <a:p>
                <a:pPr eaLnBrk="1" hangingPunct="1"/>
                <a:r>
                  <a:rPr lang="en-US" altLang="en-US"/>
                  <a:t>UFF1</a:t>
                </a:r>
              </a:p>
            </p:txBody>
          </p:sp>
          <p:sp>
            <p:nvSpPr>
              <p:cNvPr id="45" name="Cloud 4">
                <a:extLst>
                  <a:ext uri="{FF2B5EF4-FFF2-40B4-BE49-F238E27FC236}">
                    <a16:creationId xmlns:a16="http://schemas.microsoft.com/office/drawing/2014/main" id="{7585233A-4632-4494-B09F-AF503B47346B}"/>
                  </a:ext>
                </a:extLst>
              </p:cNvPr>
              <p:cNvSpPr/>
              <p:nvPr/>
            </p:nvSpPr>
            <p:spPr bwMode="auto">
              <a:xfrm>
                <a:off x="5214956" y="2399917"/>
                <a:ext cx="571492" cy="385838"/>
              </a:xfrm>
              <a:prstGeom prst="cloud">
                <a:avLst/>
              </a:prstGeom>
              <a:solidFill>
                <a:schemeClr val="accent1"/>
              </a:solidFill>
              <a:ln w="9525" cap="flat" cmpd="sng" algn="ctr">
                <a:solidFill>
                  <a:schemeClr val="tx1"/>
                </a:solidFill>
                <a:prstDash val="solid"/>
                <a:round/>
                <a:headEnd type="none" w="med" len="med"/>
                <a:tailEnd type="none" w="med" len="med"/>
              </a:ln>
              <a:effectLst/>
            </p:spPr>
            <p:txBody>
              <a:bodyPr anchor="ctr"/>
              <a:lstStyle/>
              <a:p>
                <a:pPr algn="ctr" eaLnBrk="1" hangingPunct="1">
                  <a:defRPr/>
                </a:pPr>
                <a:endParaRPr lang="en-US" sz="1000" dirty="0">
                  <a:latin typeface="Arial" charset="0"/>
                  <a:cs typeface="Arial" charset="0"/>
                </a:endParaRPr>
              </a:p>
              <a:p>
                <a:pPr algn="ctr" eaLnBrk="1" hangingPunct="1">
                  <a:defRPr/>
                </a:pPr>
                <a:endParaRPr lang="en-US" sz="1000" dirty="0">
                  <a:latin typeface="Arial" charset="0"/>
                  <a:cs typeface="Arial" charset="0"/>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a:extLst>
              <a:ext uri="{FF2B5EF4-FFF2-40B4-BE49-F238E27FC236}">
                <a16:creationId xmlns:a16="http://schemas.microsoft.com/office/drawing/2014/main" id="{A314A872-C175-47A3-A8C7-9A045BDC5850}"/>
              </a:ext>
            </a:extLst>
          </p:cNvPr>
          <p:cNvSpPr>
            <a:spLocks noGrp="1"/>
          </p:cNvSpPr>
          <p:nvPr>
            <p:ph type="title"/>
          </p:nvPr>
        </p:nvSpPr>
        <p:spPr/>
        <p:txBody>
          <a:bodyPr/>
          <a:lstStyle/>
          <a:p>
            <a:r>
              <a:rPr lang="en-US" altLang="en-US"/>
              <a:t>Hold Analysis</a:t>
            </a:r>
          </a:p>
        </p:txBody>
      </p:sp>
      <p:sp>
        <p:nvSpPr>
          <p:cNvPr id="33795" name="Content Placeholder 2">
            <a:extLst>
              <a:ext uri="{FF2B5EF4-FFF2-40B4-BE49-F238E27FC236}">
                <a16:creationId xmlns:a16="http://schemas.microsoft.com/office/drawing/2014/main" id="{7CB395DC-A2B3-4FB5-874D-8A669B6619ED}"/>
              </a:ext>
            </a:extLst>
          </p:cNvPr>
          <p:cNvSpPr>
            <a:spLocks noGrp="1"/>
          </p:cNvSpPr>
          <p:nvPr>
            <p:ph type="body" sz="quarter" idx="10"/>
          </p:nvPr>
        </p:nvSpPr>
        <p:spPr/>
        <p:txBody>
          <a:bodyPr/>
          <a:lstStyle/>
          <a:p>
            <a:r>
              <a:rPr lang="en-US" altLang="en-US" sz="2000"/>
              <a:t>The worst condition for hold check occurs when both the launch clock path and the data path have negative crosstalk and the capture clock path has positive crosstalk. There is one important difference between the hold and setup analyses related to crosstalk on the common portion of the clock path.</a:t>
            </a:r>
          </a:p>
          <a:p>
            <a:r>
              <a:rPr lang="en-US" altLang="en-US" sz="2000"/>
              <a:t>The worst-case hold (or min path) analysis for STA with crosstalk assumes:</a:t>
            </a:r>
          </a:p>
          <a:p>
            <a:pPr lvl="1"/>
            <a:r>
              <a:rPr lang="en-US" altLang="en-US" sz="1600"/>
              <a:t>Launch clock (not including the common path) sees negative crosstalk delay so that the data is launched early.</a:t>
            </a:r>
          </a:p>
          <a:p>
            <a:pPr lvl="1"/>
            <a:r>
              <a:rPr lang="en-US" altLang="en-US" sz="1600"/>
              <a:t>Data path sees negative crosstalk delay so that it reaches the destination early.</a:t>
            </a:r>
          </a:p>
          <a:p>
            <a:pPr lvl="1"/>
            <a:r>
              <a:rPr lang="en-US" altLang="en-US" sz="1600"/>
              <a:t>Capture clock (not including the common path) sees positive crosstalk delay so that the data is captured by the capture flipflop late.</a:t>
            </a:r>
          </a:p>
          <a:p>
            <a:pPr lvl="1"/>
            <a:endParaRPr lang="en-US" altLang="en-US" sz="1600"/>
          </a:p>
          <a:p>
            <a:endParaRPr lang="en-US" altLang="en-US" sz="2000"/>
          </a:p>
          <a:p>
            <a:endParaRPr lang="en-US" altLang="en-US" sz="2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402E534A-E52D-440F-8DFE-B6B14605289C}"/>
              </a:ext>
            </a:extLst>
          </p:cNvPr>
          <p:cNvSpPr>
            <a:spLocks noGrp="1"/>
          </p:cNvSpPr>
          <p:nvPr>
            <p:ph type="title"/>
          </p:nvPr>
        </p:nvSpPr>
        <p:spPr/>
        <p:txBody>
          <a:bodyPr/>
          <a:lstStyle/>
          <a:p>
            <a:r>
              <a:rPr lang="en-US" altLang="en-US"/>
              <a:t>Crosstalk Analysis for Complex ICs</a:t>
            </a:r>
          </a:p>
        </p:txBody>
      </p:sp>
      <p:sp>
        <p:nvSpPr>
          <p:cNvPr id="34819" name="Content Placeholder 2">
            <a:extLst>
              <a:ext uri="{FF2B5EF4-FFF2-40B4-BE49-F238E27FC236}">
                <a16:creationId xmlns:a16="http://schemas.microsoft.com/office/drawing/2014/main" id="{7C690E35-7A25-4458-8D92-77A5952F12F7}"/>
              </a:ext>
            </a:extLst>
          </p:cNvPr>
          <p:cNvSpPr>
            <a:spLocks noGrp="1"/>
          </p:cNvSpPr>
          <p:nvPr>
            <p:ph type="body" sz="quarter" idx="10"/>
          </p:nvPr>
        </p:nvSpPr>
        <p:spPr/>
        <p:txBody>
          <a:bodyPr/>
          <a:lstStyle/>
          <a:p>
            <a:r>
              <a:rPr lang="en-US" altLang="en-US" sz="2800">
                <a:solidFill>
                  <a:srgbClr val="0000FF"/>
                </a:solidFill>
              </a:rPr>
              <a:t>Hierarchical Design and Analysis </a:t>
            </a:r>
          </a:p>
          <a:p>
            <a:pPr lvl="1"/>
            <a:r>
              <a:rPr lang="en-US" altLang="en-US"/>
              <a:t>Checks that there be no coupling between signals inside the hierarchical block</a:t>
            </a:r>
          </a:p>
          <a:p>
            <a:pPr lvl="1"/>
            <a:r>
              <a:rPr lang="en-US" altLang="en-US"/>
              <a:t>Nets routed near boundary of the block should be shielded or avoided </a:t>
            </a:r>
          </a:p>
          <a:p>
            <a:r>
              <a:rPr lang="en-US" altLang="en-US" sz="2800">
                <a:solidFill>
                  <a:srgbClr val="0000FF"/>
                </a:solidFill>
              </a:rPr>
              <a:t>Filtering of Coupling Capacitances</a:t>
            </a:r>
          </a:p>
          <a:p>
            <a:pPr lvl="1"/>
            <a:r>
              <a:rPr lang="en-US" altLang="en-US"/>
              <a:t>Small value (below 1fF)</a:t>
            </a:r>
          </a:p>
          <a:p>
            <a:pPr lvl="1"/>
            <a:r>
              <a:rPr lang="en-US" altLang="en-US"/>
              <a:t>Coupling ratio (below 0.001)</a:t>
            </a:r>
          </a:p>
          <a:p>
            <a:pPr lvl="1"/>
            <a:r>
              <a:rPr lang="en-US" altLang="en-US"/>
              <a:t>Lumping small aggressors together (multiple aggressors with very small contributions)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28135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B2DC2BB-B596-4C3A-A9DC-0B51540F8820}">
  <ds:schemaRefs>
    <ds:schemaRef ds:uri="http://schemas.microsoft.com/office/2006/metadata/properties"/>
    <ds:schemaRef ds:uri="c4e338ac-e2c9-4a09-90bc-aa78cddd6f1f"/>
    <ds:schemaRef ds:uri="http://purl.org/dc/terms/"/>
    <ds:schemaRef ds:uri="http://schemas.openxmlformats.org/package/2006/metadata/core-properties"/>
    <ds:schemaRef ds:uri="http://schemas.microsoft.com/office/infopath/2007/PartnerControls"/>
    <ds:schemaRef ds:uri="http://schemas.microsoft.com/office/2006/documentManagement/types"/>
    <ds:schemaRef ds:uri="http://purl.org/dc/elements/1.1/"/>
    <ds:schemaRef ds:uri="9d6f540b-f5ab-4529-997d-b1c359473666"/>
    <ds:schemaRef ds:uri="http://www.w3.org/XML/1998/namespace"/>
    <ds:schemaRef ds:uri="http://purl.org/dc/dcmitype/"/>
  </ds:schemaRefs>
</ds:datastoreItem>
</file>

<file path=customXml/itemProps2.xml><?xml version="1.0" encoding="utf-8"?>
<ds:datastoreItem xmlns:ds="http://schemas.openxmlformats.org/officeDocument/2006/customXml" ds:itemID="{911BE162-346D-48E0-9B29-CB08309D4C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e338ac-e2c9-4a09-90bc-aa78cddd6f1f"/>
    <ds:schemaRef ds:uri="9d6f540b-f5ab-4529-997d-b1c359473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B5A6964-B842-4343-98F0-22A6DEF0941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3343</TotalTime>
  <Words>1669</Words>
  <Application>Microsoft Office PowerPoint</Application>
  <PresentationFormat>Widescreen</PresentationFormat>
  <Paragraphs>286</Paragraphs>
  <Slides>27</Slides>
  <Notes>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.Lucida Grande UI Regular</vt:lpstr>
      <vt:lpstr>Arial</vt:lpstr>
      <vt:lpstr>Calibri</vt:lpstr>
      <vt:lpstr>System Font Regular</vt:lpstr>
      <vt:lpstr>Wingdings</vt:lpstr>
      <vt:lpstr>2_Synopsys_2019</vt:lpstr>
      <vt:lpstr>Equation</vt:lpstr>
      <vt:lpstr>Static Timing Analysis</vt:lpstr>
      <vt:lpstr>PowerPoint Presentation</vt:lpstr>
      <vt:lpstr>Course Overview</vt:lpstr>
      <vt:lpstr>  </vt:lpstr>
      <vt:lpstr>Crosstalk</vt:lpstr>
      <vt:lpstr>Crosstalk Definition</vt:lpstr>
      <vt:lpstr>Capacitive Coupling</vt:lpstr>
      <vt:lpstr>Noise Effects Types</vt:lpstr>
      <vt:lpstr>Crosstalk Delay</vt:lpstr>
      <vt:lpstr>Crosstalk Glitch</vt:lpstr>
      <vt:lpstr>Factors Affecting Glitch</vt:lpstr>
      <vt:lpstr>Types of Glitches</vt:lpstr>
      <vt:lpstr>DC Noise Margins</vt:lpstr>
      <vt:lpstr>DC Margin Limits</vt:lpstr>
      <vt:lpstr>DC Margin Limits (2)</vt:lpstr>
      <vt:lpstr>AC Noise Limits</vt:lpstr>
      <vt:lpstr>Basic Glitch Removal</vt:lpstr>
      <vt:lpstr>Multiple Aggressors</vt:lpstr>
      <vt:lpstr>Crosstalk Delay Analysis</vt:lpstr>
      <vt:lpstr>Crosstalk Scenarios</vt:lpstr>
      <vt:lpstr>Positive Crosstalk</vt:lpstr>
      <vt:lpstr>Negative Crosstalk</vt:lpstr>
      <vt:lpstr>Crosstalk Timing Verification</vt:lpstr>
      <vt:lpstr>Setup Analysis</vt:lpstr>
      <vt:lpstr>Hold Analysis</vt:lpstr>
      <vt:lpstr>Crosstalk Analysis for Complex ICs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Nane Lazaryan</cp:lastModifiedBy>
  <cp:revision>328</cp:revision>
  <dcterms:created xsi:type="dcterms:W3CDTF">2020-07-20T16:18:49Z</dcterms:created>
  <dcterms:modified xsi:type="dcterms:W3CDTF">2025-07-31T12:32:32Z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